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</p:sldIdLst>
  <p:notesMasterIdLst>
    <p:notesMasterId r:id="rId16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notesMaster" Target="notesMasters/notesMaster1.xml"/><Relationship Id="rId17" Type="http://schemas.openxmlformats.org/officeDocument/2006/relationships/presProps" Target="presProps.xml"/><Relationship Id="rId18" Type="http://schemas.openxmlformats.org/officeDocument/2006/relationships/viewProps" Target="viewProps.xml"/><Relationship Id="rId19" Type="http://schemas.openxmlformats.org/officeDocument/2006/relationships/theme" Target="theme/theme1.xml"/><Relationship Id="rId2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- I Motors FY2027 sales plan: supplied imotors_sales.docx / sales-plan image.
- KPI Master File.xlsx, Parts Handling sheet.
- ISZE 2023-2025 commercial and fleet context files, as of 19 September 2026.
[/Sources]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- Supplied I Motors FY2027 sales-plan image / imotors_sales.docx.
- KPI Master File.xlsx, Parts Handling sheet, through Aug 2026.
- 01_parts_billed_vs_target_by_market.csv and 07_fleet_trucks_in_service.csv, calendar 2025.
- Supplied Individual Fill Rate chart.
[/Sources]
The 2025 fleet base is an estimate in the current fleet workbook. The target-spend ceiling is modelled, not measured competitor spend.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- Supplied I Motors FY2027 sales-plan image / imotors_sales.docx.
[/Sources]
Monthly values read from the supplied report. YTD comparisons use Apr–Sep only; the report total percentage against the full-year budget is not used as a YTD variance.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- Supplied I Motors FY2027 sales-plan image / imotors_sales.docx.
[/Sources]
Required second-half billing is arithmetic to reach the unchanged full-year target; it is not a forecast.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- KPI Master File.xlsx, Parts Handling sheet, row “Parts Sales DB to DLR in €”.
[/Sources]
Sales to dealer measures distributor-to-dealer activity. It is not ISZE billing and should not be compared as a margin bridge without price-stage reconciliation. September 2026 was not reported in the workbook.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- Supplied Individual Fill Rate chart image.
- ISZE FY2027 Review deck, fill-rate standard: 95%.
[/Sources]
This slide uses the supplied “Individual Fill Rate” series. The KPI Master workbook also contains a separate “First Fill Rate” series with different values; the two are not mixed.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- KPI Master File.xlsx, Parts Handling: Days of Parts in Stock and Back Order Lines.
- Supplied Individual Fill Rate chart.
[/Sources]
MOS is derived from days of stock divided by 30. The slide shows correlation in KPI movement, not proof that lower MOS caused fill-rate misses.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- 01_parts_billed_vs_target_by_market.csv, PORTUGAL rows 2023–2025.
- 07_fleet_trucks_in_service.csv, Portugal CV/LCV rows 2023–2025.
[/Sources]
2025 fleet is marked estimate. Do not use 2026 onward fleet forecasts.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- 01_parts_billed_vs_target_by_market.csv, PORTUGAL 2023–2025.
- 02_NUMBERS_AND_HOW_THEY_ARE_BUILT.md, target-spend model definition and caveats.
[/Sources]
Target spend is modelled. Parts billed are measured. The gap is not a verified amount spent with competitors.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- 03_service_capture_by_market_family.csv, PORTUGAL, total lines, 2023–2025.
[/Sources]
Service-demand cover is measured actual units against a modelled expectation. The historical trend uses the model’s fixed service-demand denominator; it is not measured market share.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- 03_service_capture_by_market_family.csv, PORTUGAL, total lines, 2023–2025.
[/Sources]
Service-demand cover is measured actual units against a modelled expectation. Wear-factor assumptions remain part of the denominator.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- 04_original_vs_value_parts_mix.csv, PORTUGAL 2023–2025.
- 04_GLOSSARY_AND_HOW_TO_WRITE.md: BVP = Best Value Parts.
[/Sources]
The mix is within the parts sold by Isuzu; it is not market share. Family totals are measured billed value in the selected file population.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- Supplied I Motors FY2027 sales-plan report.
- KPI Master File.xlsx.
- 03_service_capture_by_market_family.csv.
- 04_original_vs_value_parts_mix.csv.
[/Sources]
Actions are proposed discussion priorities, not conclusions that price, stock or dealer execution is the proven cause.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- Synthesis of the preceding slides and user-requested KPI focus.
[/Sources]
Owners are roles, not commitments already agreed with I Motors.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02-1.png"/><Relationship Id="rId2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ISUZU_BASE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" cy="6858000"/>
          </a:xfrm>
          <a:prstGeom prst="rect">
            <a:avLst/>
          </a:prstGeom>
          <a:solidFill>
            <a:srgbClr val="D71920"/>
          </a:solidFill>
          <a:ln w="12700">
            <a:solidFill>
              <a:srgbClr val="D7192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91440" y="6711696"/>
            <a:ext cx="12097512" cy="0"/>
          </a:xfrm>
          <a:prstGeom prst="line">
            <a:avLst/>
          </a:prstGeom>
          <a:noFill/>
          <a:ln w="22860">
            <a:solidFill>
              <a:srgbClr val="D71920"/>
            </a:solidFill>
            <a:prstDash val="solid"/>
          </a:ln>
        </p:spPr>
      </p:sp>
      <p:pic>
        <p:nvPicPr>
          <p:cNvPr id="4" name="Image 0" descr="/mnt/data/imotors_review_work/media/image1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56032" y="6272784"/>
            <a:ext cx="1005840" cy="237744"/>
          </a:xfrm>
          <a:prstGeom prst="rect">
            <a:avLst/>
          </a:prstGeom>
        </p:spPr>
      </p:pic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475720" y="6464808"/>
            <a:ext cx="457200" cy="13716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650">
                <a:solidFill>
                  <a:srgbClr val="777777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1002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475720" y="6464808"/>
            <a:ext cx="457200" cy="13716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650">
                <a:solidFill>
                  <a:srgbClr val="777777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" cy="6858000"/>
          </a:xfrm>
          <a:prstGeom prst="rect">
            <a:avLst/>
          </a:prstGeom>
          <a:solidFill>
            <a:srgbClr val="D71920"/>
          </a:solidFill>
          <a:ln w="12700">
            <a:solidFill>
              <a:srgbClr val="D7192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91440" y="6711696"/>
            <a:ext cx="12097512" cy="0"/>
          </a:xfrm>
          <a:prstGeom prst="line">
            <a:avLst/>
          </a:prstGeom>
          <a:noFill/>
          <a:ln w="22860">
            <a:solidFill>
              <a:srgbClr val="D7192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10896" y="292608"/>
            <a:ext cx="33832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70" b="1" dirty="0">
                <a:solidFill>
                  <a:srgbClr val="D719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ISZE  ·  VEHICLE PARTS &amp; ACCESSORIES</a:t>
            </a:r>
            <a:endParaRPr lang="en-US" sz="670" dirty="0"/>
          </a:p>
        </p:txBody>
      </p:sp>
      <p:sp>
        <p:nvSpPr>
          <p:cNvPr id="5" name="Text 3"/>
          <p:cNvSpPr/>
          <p:nvPr/>
        </p:nvSpPr>
        <p:spPr>
          <a:xfrm>
            <a:off x="310896" y="1920240"/>
            <a:ext cx="777240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 Motors</a:t>
            </a:r>
            <a:endParaRPr lang="en-US" sz="2400" dirty="0"/>
          </a:p>
          <a:p>
            <a:pPr indent="0" marL="0">
              <a:buNone/>
            </a:pPr>
            <a:r>
              <a:rPr lang="en-US" sz="2400" b="1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FY2027 Business Performance Review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310896" y="3182112"/>
            <a:ext cx="8138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2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FY27 plan  ·  Sales to dealer  ·  Fill rate  ·  MOS  ·  Commercial opportunity</a:t>
            </a:r>
            <a:endParaRPr lang="en-US" sz="920" dirty="0"/>
          </a:p>
        </p:txBody>
      </p:sp>
      <p:sp>
        <p:nvSpPr>
          <p:cNvPr id="7" name="Text 5"/>
          <p:cNvSpPr/>
          <p:nvPr/>
        </p:nvSpPr>
        <p:spPr>
          <a:xfrm>
            <a:off x="310896" y="3657600"/>
            <a:ext cx="78638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80" dirty="0">
                <a:solidFill>
                  <a:srgbClr val="7777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through September 2026 where available  |  Review draft, 23 September 2026</a:t>
            </a:r>
            <a:endParaRPr lang="en-US" sz="780" dirty="0"/>
          </a:p>
        </p:txBody>
      </p:sp>
      <p:pic>
        <p:nvPicPr>
          <p:cNvPr id="8" name="Image 0" descr="/mnt/data/imotors_review_work/media/image1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10896" y="6099048"/>
            <a:ext cx="1298448" cy="310896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10896" y="182880"/>
            <a:ext cx="34747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60" b="1" spc="70" kern="0" dirty="0">
                <a:solidFill>
                  <a:srgbClr val="D719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EXECUTIVE VIEW</a:t>
            </a:r>
            <a:endParaRPr lang="en-US" sz="660" dirty="0"/>
          </a:p>
        </p:txBody>
      </p:sp>
      <p:sp>
        <p:nvSpPr>
          <p:cNvPr id="3" name="Text 1"/>
          <p:cNvSpPr/>
          <p:nvPr/>
        </p:nvSpPr>
        <p:spPr>
          <a:xfrm>
            <a:off x="310896" y="420624"/>
            <a:ext cx="113842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800" b="1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network is selling, but I Motors is behind ISZE plan and service availability remains below target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310896" y="886968"/>
            <a:ext cx="11430000" cy="0"/>
          </a:xfrm>
          <a:prstGeom prst="line">
            <a:avLst/>
          </a:prstGeom>
          <a:noFill/>
          <a:ln w="15875">
            <a:solidFill>
              <a:srgbClr val="D7192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310896" y="923544"/>
            <a:ext cx="11292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3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Periods differ by KPI: ISZE sales Apr–Sep 2026; sales-to-dealer/MOS through Aug 2026; commercial potential calendar 2025.</a:t>
            </a:r>
            <a:endParaRPr lang="en-US" sz="830" dirty="0"/>
          </a:p>
        </p:txBody>
      </p:sp>
      <p:sp>
        <p:nvSpPr>
          <p:cNvPr id="6" name="Shape 4"/>
          <p:cNvSpPr/>
          <p:nvPr/>
        </p:nvSpPr>
        <p:spPr>
          <a:xfrm>
            <a:off x="384048" y="1353312"/>
            <a:ext cx="1947672" cy="1417320"/>
          </a:xfrm>
          <a:prstGeom prst="rect">
            <a:avLst/>
          </a:prstGeom>
          <a:solidFill>
            <a:srgbClr val="FFFFFF"/>
          </a:solidFill>
          <a:ln w="8890">
            <a:solidFill>
              <a:srgbClr val="D9D9D9"/>
            </a:solidFill>
            <a:prstDash val="solid"/>
          </a:ln>
          <a:effectLst>
            <a:outerShdw sx="100000" sy="100000" kx="0" ky="0" algn="bl" rotWithShape="0" blurRad="13970" dist="5080" dir="2700000">
              <a:srgbClr val="000000">
                <a:alpha val="10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48640" y="1499616"/>
            <a:ext cx="1618488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" b="1" spc="40" kern="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ISZE SALES VS PLAN</a:t>
            </a:r>
            <a:endParaRPr lang="en-US" sz="650" dirty="0"/>
          </a:p>
        </p:txBody>
      </p:sp>
      <p:sp>
        <p:nvSpPr>
          <p:cNvPr id="8" name="Text 6"/>
          <p:cNvSpPr/>
          <p:nvPr/>
        </p:nvSpPr>
        <p:spPr>
          <a:xfrm>
            <a:off x="548640" y="1719072"/>
            <a:ext cx="161848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200" b="1" dirty="0">
                <a:solidFill>
                  <a:srgbClr val="D719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€774K</a:t>
            </a:r>
            <a:endParaRPr lang="en-US" sz="2200" dirty="0"/>
          </a:p>
        </p:txBody>
      </p:sp>
      <p:sp>
        <p:nvSpPr>
          <p:cNvPr id="9" name="Text 7"/>
          <p:cNvSpPr/>
          <p:nvPr/>
        </p:nvSpPr>
        <p:spPr>
          <a:xfrm>
            <a:off x="548640" y="2176272"/>
            <a:ext cx="1618488" cy="46634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74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Apr–Sep sales vs €924K current budget</a:t>
            </a:r>
            <a:endParaRPr lang="en-US" sz="740" dirty="0"/>
          </a:p>
          <a:p>
            <a:pPr indent="0" marL="0">
              <a:buNone/>
            </a:pPr>
            <a:r>
              <a:rPr lang="en-US" sz="74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= €150K below plan (-16.2%)</a:t>
            </a:r>
            <a:endParaRPr lang="en-US" sz="740" dirty="0"/>
          </a:p>
        </p:txBody>
      </p:sp>
      <p:sp>
        <p:nvSpPr>
          <p:cNvPr id="10" name="Shape 8"/>
          <p:cNvSpPr/>
          <p:nvPr/>
        </p:nvSpPr>
        <p:spPr>
          <a:xfrm>
            <a:off x="2487168" y="1353312"/>
            <a:ext cx="1947672" cy="1417320"/>
          </a:xfrm>
          <a:prstGeom prst="rect">
            <a:avLst/>
          </a:prstGeom>
          <a:solidFill>
            <a:srgbClr val="FFFFFF"/>
          </a:solidFill>
          <a:ln w="8890">
            <a:solidFill>
              <a:srgbClr val="D9D9D9"/>
            </a:solidFill>
            <a:prstDash val="solid"/>
          </a:ln>
          <a:effectLst>
            <a:outerShdw sx="100000" sy="100000" kx="0" ky="0" algn="bl" rotWithShape="0" blurRad="13970" dist="5080" dir="2700000">
              <a:srgbClr val="000000">
                <a:alpha val="10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2651760" y="1499616"/>
            <a:ext cx="1618488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" b="1" spc="40" kern="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ORDERS</a:t>
            </a:r>
            <a:endParaRPr lang="en-US" sz="650" dirty="0"/>
          </a:p>
        </p:txBody>
      </p:sp>
      <p:sp>
        <p:nvSpPr>
          <p:cNvPr id="12" name="Text 10"/>
          <p:cNvSpPr/>
          <p:nvPr/>
        </p:nvSpPr>
        <p:spPr>
          <a:xfrm>
            <a:off x="2651760" y="1719072"/>
            <a:ext cx="161848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200" b="1" dirty="0">
                <a:solidFill>
                  <a:srgbClr val="D719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€790K</a:t>
            </a:r>
            <a:endParaRPr lang="en-US" sz="2200" dirty="0"/>
          </a:p>
        </p:txBody>
      </p:sp>
      <p:sp>
        <p:nvSpPr>
          <p:cNvPr id="13" name="Text 11"/>
          <p:cNvSpPr/>
          <p:nvPr/>
        </p:nvSpPr>
        <p:spPr>
          <a:xfrm>
            <a:off x="2651760" y="2176272"/>
            <a:ext cx="1618488" cy="46634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74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Apr–Sep orders vs €924K current budget</a:t>
            </a:r>
            <a:endParaRPr lang="en-US" sz="740" dirty="0"/>
          </a:p>
          <a:p>
            <a:pPr indent="0" marL="0">
              <a:buNone/>
            </a:pPr>
            <a:r>
              <a:rPr lang="en-US" sz="74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= €134K below plan (-14.5%)</a:t>
            </a:r>
            <a:endParaRPr lang="en-US" sz="740" dirty="0"/>
          </a:p>
        </p:txBody>
      </p:sp>
      <p:sp>
        <p:nvSpPr>
          <p:cNvPr id="14" name="Shape 12"/>
          <p:cNvSpPr/>
          <p:nvPr/>
        </p:nvSpPr>
        <p:spPr>
          <a:xfrm>
            <a:off x="4590288" y="1353312"/>
            <a:ext cx="1947672" cy="1417320"/>
          </a:xfrm>
          <a:prstGeom prst="rect">
            <a:avLst/>
          </a:prstGeom>
          <a:solidFill>
            <a:srgbClr val="FFFFFF"/>
          </a:solidFill>
          <a:ln w="8890">
            <a:solidFill>
              <a:srgbClr val="D9D9D9"/>
            </a:solidFill>
            <a:prstDash val="solid"/>
          </a:ln>
          <a:effectLst>
            <a:outerShdw sx="100000" sy="100000" kx="0" ky="0" algn="bl" rotWithShape="0" blurRad="13970" dist="5080" dir="2700000">
              <a:srgbClr val="000000">
                <a:alpha val="10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4754880" y="1499616"/>
            <a:ext cx="1618488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" b="1" spc="40" kern="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SALES TO DEALER</a:t>
            </a:r>
            <a:endParaRPr lang="en-US" sz="650" dirty="0"/>
          </a:p>
        </p:txBody>
      </p:sp>
      <p:sp>
        <p:nvSpPr>
          <p:cNvPr id="16" name="Text 14"/>
          <p:cNvSpPr/>
          <p:nvPr/>
        </p:nvSpPr>
        <p:spPr>
          <a:xfrm>
            <a:off x="4754880" y="1719072"/>
            <a:ext cx="161848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200" b="1" dirty="0">
                <a:solidFill>
                  <a:srgbClr val="55A8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€1.864M</a:t>
            </a:r>
            <a:endParaRPr lang="en-US" sz="2200" dirty="0"/>
          </a:p>
        </p:txBody>
      </p:sp>
      <p:sp>
        <p:nvSpPr>
          <p:cNvPr id="17" name="Text 15"/>
          <p:cNvSpPr/>
          <p:nvPr/>
        </p:nvSpPr>
        <p:spPr>
          <a:xfrm>
            <a:off x="4754880" y="2176272"/>
            <a:ext cx="1618488" cy="46634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74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Apr–Aug 2026 vs €1.491M Apr–Aug 2025</a:t>
            </a:r>
            <a:endParaRPr lang="en-US" sz="740" dirty="0"/>
          </a:p>
          <a:p>
            <a:pPr indent="0" marL="0">
              <a:buNone/>
            </a:pPr>
            <a:r>
              <a:rPr lang="en-US" sz="74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= +25.0% year on year</a:t>
            </a:r>
            <a:endParaRPr lang="en-US" sz="740" dirty="0"/>
          </a:p>
        </p:txBody>
      </p:sp>
      <p:sp>
        <p:nvSpPr>
          <p:cNvPr id="18" name="Shape 16"/>
          <p:cNvSpPr/>
          <p:nvPr/>
        </p:nvSpPr>
        <p:spPr>
          <a:xfrm>
            <a:off x="6693408" y="1353312"/>
            <a:ext cx="1947672" cy="1417320"/>
          </a:xfrm>
          <a:prstGeom prst="rect">
            <a:avLst/>
          </a:prstGeom>
          <a:solidFill>
            <a:srgbClr val="FFFFFF"/>
          </a:solidFill>
          <a:ln w="8890">
            <a:solidFill>
              <a:srgbClr val="D9D9D9"/>
            </a:solidFill>
            <a:prstDash val="solid"/>
          </a:ln>
          <a:effectLst>
            <a:outerShdw sx="100000" sy="100000" kx="0" ky="0" algn="bl" rotWithShape="0" blurRad="13970" dist="5080" dir="2700000">
              <a:srgbClr val="000000">
                <a:alpha val="10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6858000" y="1499616"/>
            <a:ext cx="1618488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" b="1" spc="40" kern="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INDIVIDUAL FILL RATE</a:t>
            </a:r>
            <a:endParaRPr lang="en-US" sz="650" dirty="0"/>
          </a:p>
        </p:txBody>
      </p:sp>
      <p:sp>
        <p:nvSpPr>
          <p:cNvPr id="20" name="Text 18"/>
          <p:cNvSpPr/>
          <p:nvPr/>
        </p:nvSpPr>
        <p:spPr>
          <a:xfrm>
            <a:off x="6858000" y="1719072"/>
            <a:ext cx="161848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200" b="1" dirty="0">
                <a:solidFill>
                  <a:srgbClr val="D719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87%</a:t>
            </a:r>
            <a:endParaRPr lang="en-US" sz="2200" dirty="0"/>
          </a:p>
        </p:txBody>
      </p:sp>
      <p:sp>
        <p:nvSpPr>
          <p:cNvPr id="21" name="Text 19"/>
          <p:cNvSpPr/>
          <p:nvPr/>
        </p:nvSpPr>
        <p:spPr>
          <a:xfrm>
            <a:off x="6858000" y="2176272"/>
            <a:ext cx="1618488" cy="46634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74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Latest point in supplied fill-rate chart</a:t>
            </a:r>
            <a:endParaRPr lang="en-US" sz="740" dirty="0"/>
          </a:p>
          <a:p>
            <a:pPr indent="0" marL="0">
              <a:buNone/>
            </a:pPr>
            <a:r>
              <a:rPr lang="en-US" sz="74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vs 95% target</a:t>
            </a:r>
            <a:endParaRPr lang="en-US" sz="740" dirty="0"/>
          </a:p>
        </p:txBody>
      </p:sp>
      <p:sp>
        <p:nvSpPr>
          <p:cNvPr id="22" name="Shape 20"/>
          <p:cNvSpPr/>
          <p:nvPr/>
        </p:nvSpPr>
        <p:spPr>
          <a:xfrm>
            <a:off x="384048" y="3035808"/>
            <a:ext cx="1947672" cy="1417320"/>
          </a:xfrm>
          <a:prstGeom prst="rect">
            <a:avLst/>
          </a:prstGeom>
          <a:solidFill>
            <a:srgbClr val="FFFFFF"/>
          </a:solidFill>
          <a:ln w="8890">
            <a:solidFill>
              <a:srgbClr val="D9D9D9"/>
            </a:solidFill>
            <a:prstDash val="solid"/>
          </a:ln>
          <a:effectLst>
            <a:outerShdw sx="100000" sy="100000" kx="0" ky="0" algn="bl" rotWithShape="0" blurRad="13970" dist="5080" dir="2700000">
              <a:srgbClr val="000000">
                <a:alpha val="10000"/>
              </a:srgbClr>
            </a:outerShdw>
          </a:effectLst>
        </p:spPr>
      </p:sp>
      <p:sp>
        <p:nvSpPr>
          <p:cNvPr id="23" name="Text 21"/>
          <p:cNvSpPr/>
          <p:nvPr/>
        </p:nvSpPr>
        <p:spPr>
          <a:xfrm>
            <a:off x="548640" y="3182112"/>
            <a:ext cx="1618488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" b="1" spc="40" kern="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MOS</a:t>
            </a:r>
            <a:endParaRPr lang="en-US" sz="650" dirty="0"/>
          </a:p>
        </p:txBody>
      </p:sp>
      <p:sp>
        <p:nvSpPr>
          <p:cNvPr id="24" name="Text 22"/>
          <p:cNvSpPr/>
          <p:nvPr/>
        </p:nvSpPr>
        <p:spPr>
          <a:xfrm>
            <a:off x="548640" y="3401568"/>
            <a:ext cx="161848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200" b="1" dirty="0">
                <a:solidFill>
                  <a:srgbClr val="E5A8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2.2</a:t>
            </a:r>
            <a:endParaRPr lang="en-US" sz="2200" dirty="0"/>
          </a:p>
        </p:txBody>
      </p:sp>
      <p:sp>
        <p:nvSpPr>
          <p:cNvPr id="25" name="Text 23"/>
          <p:cNvSpPr/>
          <p:nvPr/>
        </p:nvSpPr>
        <p:spPr>
          <a:xfrm>
            <a:off x="548640" y="3858768"/>
            <a:ext cx="1618488" cy="46634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74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Aug 2026, derived from 67 days of stock</a:t>
            </a:r>
            <a:endParaRPr lang="en-US" sz="740" dirty="0"/>
          </a:p>
          <a:p>
            <a:pPr indent="0" marL="0">
              <a:buNone/>
            </a:pPr>
            <a:r>
              <a:rPr lang="en-US" sz="74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vs 3.7 MOS in Sep 2025</a:t>
            </a:r>
            <a:endParaRPr lang="en-US" sz="740" dirty="0"/>
          </a:p>
        </p:txBody>
      </p:sp>
      <p:sp>
        <p:nvSpPr>
          <p:cNvPr id="26" name="Shape 24"/>
          <p:cNvSpPr/>
          <p:nvPr/>
        </p:nvSpPr>
        <p:spPr>
          <a:xfrm>
            <a:off x="2487168" y="3035808"/>
            <a:ext cx="1947672" cy="1417320"/>
          </a:xfrm>
          <a:prstGeom prst="rect">
            <a:avLst/>
          </a:prstGeom>
          <a:solidFill>
            <a:srgbClr val="FFFFFF"/>
          </a:solidFill>
          <a:ln w="8890">
            <a:solidFill>
              <a:srgbClr val="D9D9D9"/>
            </a:solidFill>
            <a:prstDash val="solid"/>
          </a:ln>
          <a:effectLst>
            <a:outerShdw sx="100000" sy="100000" kx="0" ky="0" algn="bl" rotWithShape="0" blurRad="13970" dist="5080" dir="2700000">
              <a:srgbClr val="000000">
                <a:alpha val="10000"/>
              </a:srgbClr>
            </a:outerShdw>
          </a:effectLst>
        </p:spPr>
      </p:sp>
      <p:sp>
        <p:nvSpPr>
          <p:cNvPr id="27" name="Text 25"/>
          <p:cNvSpPr/>
          <p:nvPr/>
        </p:nvSpPr>
        <p:spPr>
          <a:xfrm>
            <a:off x="2651760" y="3182112"/>
            <a:ext cx="1618488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" b="1" spc="40" kern="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BACK-ORDER LINES</a:t>
            </a:r>
            <a:endParaRPr lang="en-US" sz="650" dirty="0"/>
          </a:p>
        </p:txBody>
      </p:sp>
      <p:sp>
        <p:nvSpPr>
          <p:cNvPr id="28" name="Text 26"/>
          <p:cNvSpPr/>
          <p:nvPr/>
        </p:nvSpPr>
        <p:spPr>
          <a:xfrm>
            <a:off x="2651760" y="3401568"/>
            <a:ext cx="161848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200" b="1" dirty="0">
                <a:solidFill>
                  <a:srgbClr val="55A8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282</a:t>
            </a:r>
            <a:endParaRPr lang="en-US" sz="2200" dirty="0"/>
          </a:p>
        </p:txBody>
      </p:sp>
      <p:sp>
        <p:nvSpPr>
          <p:cNvPr id="29" name="Text 27"/>
          <p:cNvSpPr/>
          <p:nvPr/>
        </p:nvSpPr>
        <p:spPr>
          <a:xfrm>
            <a:off x="2651760" y="3858768"/>
            <a:ext cx="1618488" cy="46634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74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Aug 2026, down from 430 in Apr 2026</a:t>
            </a:r>
            <a:endParaRPr lang="en-US" sz="740" dirty="0"/>
          </a:p>
        </p:txBody>
      </p:sp>
      <p:sp>
        <p:nvSpPr>
          <p:cNvPr id="30" name="Shape 28"/>
          <p:cNvSpPr/>
          <p:nvPr/>
        </p:nvSpPr>
        <p:spPr>
          <a:xfrm>
            <a:off x="4590288" y="3035808"/>
            <a:ext cx="1947672" cy="1417320"/>
          </a:xfrm>
          <a:prstGeom prst="rect">
            <a:avLst/>
          </a:prstGeom>
          <a:solidFill>
            <a:srgbClr val="FFFFFF"/>
          </a:solidFill>
          <a:ln w="8890">
            <a:solidFill>
              <a:srgbClr val="D9D9D9"/>
            </a:solidFill>
            <a:prstDash val="solid"/>
          </a:ln>
          <a:effectLst>
            <a:outerShdw sx="100000" sy="100000" kx="0" ky="0" algn="bl" rotWithShape="0" blurRad="13970" dist="5080" dir="2700000">
              <a:srgbClr val="000000">
                <a:alpha val="10000"/>
              </a:srgbClr>
            </a:outerShdw>
          </a:effectLst>
        </p:spPr>
      </p:sp>
      <p:sp>
        <p:nvSpPr>
          <p:cNvPr id="31" name="Text 29"/>
          <p:cNvSpPr/>
          <p:nvPr/>
        </p:nvSpPr>
        <p:spPr>
          <a:xfrm>
            <a:off x="4754880" y="3182112"/>
            <a:ext cx="1618488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" b="1" spc="40" kern="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TARGET-SPEND COVER</a:t>
            </a:r>
            <a:endParaRPr lang="en-US" sz="650" dirty="0"/>
          </a:p>
        </p:txBody>
      </p:sp>
      <p:sp>
        <p:nvSpPr>
          <p:cNvPr id="32" name="Text 30"/>
          <p:cNvSpPr/>
          <p:nvPr/>
        </p:nvSpPr>
        <p:spPr>
          <a:xfrm>
            <a:off x="4754880" y="3401568"/>
            <a:ext cx="161848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200" b="1" dirty="0">
                <a:solidFill>
                  <a:srgbClr val="E5A8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56.0%</a:t>
            </a:r>
            <a:endParaRPr lang="en-US" sz="2200" dirty="0"/>
          </a:p>
        </p:txBody>
      </p:sp>
      <p:sp>
        <p:nvSpPr>
          <p:cNvPr id="33" name="Text 31"/>
          <p:cNvSpPr/>
          <p:nvPr/>
        </p:nvSpPr>
        <p:spPr>
          <a:xfrm>
            <a:off x="4754880" y="3858768"/>
            <a:ext cx="1618488" cy="46634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74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CY2025 parts billed against modelled target spend</a:t>
            </a:r>
            <a:endParaRPr lang="en-US" sz="740" dirty="0"/>
          </a:p>
          <a:p>
            <a:pPr indent="0" marL="0">
              <a:buNone/>
            </a:pPr>
            <a:r>
              <a:rPr lang="en-US" sz="74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€1.710M / €3.052M</a:t>
            </a:r>
            <a:endParaRPr lang="en-US" sz="740" dirty="0"/>
          </a:p>
        </p:txBody>
      </p:sp>
      <p:sp>
        <p:nvSpPr>
          <p:cNvPr id="34" name="Shape 32"/>
          <p:cNvSpPr/>
          <p:nvPr/>
        </p:nvSpPr>
        <p:spPr>
          <a:xfrm>
            <a:off x="6693408" y="3035808"/>
            <a:ext cx="1947672" cy="1417320"/>
          </a:xfrm>
          <a:prstGeom prst="rect">
            <a:avLst/>
          </a:prstGeom>
          <a:solidFill>
            <a:srgbClr val="FFFFFF"/>
          </a:solidFill>
          <a:ln w="8890">
            <a:solidFill>
              <a:srgbClr val="D9D9D9"/>
            </a:solidFill>
            <a:prstDash val="solid"/>
          </a:ln>
          <a:effectLst>
            <a:outerShdw sx="100000" sy="100000" kx="0" ky="0" algn="bl" rotWithShape="0" blurRad="13970" dist="5080" dir="2700000">
              <a:srgbClr val="000000">
                <a:alpha val="10000"/>
              </a:srgbClr>
            </a:outerShdw>
          </a:effectLst>
        </p:spPr>
      </p:sp>
      <p:sp>
        <p:nvSpPr>
          <p:cNvPr id="35" name="Text 33"/>
          <p:cNvSpPr/>
          <p:nvPr/>
        </p:nvSpPr>
        <p:spPr>
          <a:xfrm>
            <a:off x="6858000" y="3182112"/>
            <a:ext cx="1618488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" b="1" spc="40" kern="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2025 FLEET BASE</a:t>
            </a:r>
            <a:endParaRPr lang="en-US" sz="650" dirty="0"/>
          </a:p>
        </p:txBody>
      </p:sp>
      <p:sp>
        <p:nvSpPr>
          <p:cNvPr id="36" name="Text 34"/>
          <p:cNvSpPr/>
          <p:nvPr/>
        </p:nvSpPr>
        <p:spPr>
          <a:xfrm>
            <a:off x="6858000" y="3401568"/>
            <a:ext cx="161848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200" b="1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7,208</a:t>
            </a:r>
            <a:endParaRPr lang="en-US" sz="2200" dirty="0"/>
          </a:p>
        </p:txBody>
      </p:sp>
      <p:sp>
        <p:nvSpPr>
          <p:cNvPr id="37" name="Text 35"/>
          <p:cNvSpPr/>
          <p:nvPr/>
        </p:nvSpPr>
        <p:spPr>
          <a:xfrm>
            <a:off x="6858000" y="3858768"/>
            <a:ext cx="1618488" cy="46634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74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Current fleet workbook: 2025 estimate</a:t>
            </a:r>
            <a:endParaRPr lang="en-US" sz="740" dirty="0"/>
          </a:p>
          <a:p>
            <a:pPr indent="0" marL="0">
              <a:buNone/>
            </a:pPr>
            <a:r>
              <a:rPr lang="en-US" sz="74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2024 actual was 6,903</a:t>
            </a:r>
            <a:endParaRPr lang="en-US" sz="740" dirty="0"/>
          </a:p>
        </p:txBody>
      </p:sp>
      <p:sp>
        <p:nvSpPr>
          <p:cNvPr id="38" name="Shape 36"/>
          <p:cNvSpPr/>
          <p:nvPr/>
        </p:nvSpPr>
        <p:spPr>
          <a:xfrm>
            <a:off x="384048" y="4754880"/>
            <a:ext cx="8257032" cy="969264"/>
          </a:xfrm>
          <a:prstGeom prst="rect">
            <a:avLst/>
          </a:prstGeom>
          <a:solidFill>
            <a:srgbClr val="F6F6F6"/>
          </a:solidFill>
          <a:ln w="6350">
            <a:solidFill>
              <a:srgbClr val="E0E0E0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566928" y="4956048"/>
            <a:ext cx="1143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D719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Management read</a:t>
            </a:r>
            <a:endParaRPr lang="en-US" sz="800" dirty="0"/>
          </a:p>
        </p:txBody>
      </p:sp>
      <p:sp>
        <p:nvSpPr>
          <p:cNvPr id="40" name="Text 38"/>
          <p:cNvSpPr/>
          <p:nvPr/>
        </p:nvSpPr>
        <p:spPr>
          <a:xfrm>
            <a:off x="1627632" y="4846320"/>
            <a:ext cx="676656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Demand inside the dealer network is not the immediate problem: reported sales to dealer are up. The discussion should focus on the ISZE plan gap, availability, stock mix and the categories where service-demand cover has fallen or remains structurally low.</a:t>
            </a:r>
            <a:endParaRPr lang="en-US" sz="900" dirty="0"/>
          </a:p>
        </p:txBody>
      </p:sp>
      <p:sp>
        <p:nvSpPr>
          <p:cNvPr id="41" name="Text 39"/>
          <p:cNvSpPr/>
          <p:nvPr/>
        </p:nvSpPr>
        <p:spPr>
          <a:xfrm>
            <a:off x="8915400" y="1280160"/>
            <a:ext cx="257860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" b="1" dirty="0">
                <a:solidFill>
                  <a:srgbClr val="D719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TAKEAWAYS</a:t>
            </a:r>
            <a:endParaRPr lang="en-US" sz="650" dirty="0"/>
          </a:p>
        </p:txBody>
      </p:sp>
      <p:sp>
        <p:nvSpPr>
          <p:cNvPr id="42" name="Shape 40"/>
          <p:cNvSpPr/>
          <p:nvPr/>
        </p:nvSpPr>
        <p:spPr>
          <a:xfrm>
            <a:off x="8769096" y="1234440"/>
            <a:ext cx="0" cy="5138928"/>
          </a:xfrm>
          <a:prstGeom prst="line">
            <a:avLst/>
          </a:prstGeom>
          <a:noFill/>
          <a:ln w="12700">
            <a:solidFill>
              <a:srgbClr val="D0D0D0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8915400" y="1591056"/>
            <a:ext cx="146304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D719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</a:t>
            </a:r>
            <a:endParaRPr lang="en-US" sz="900" dirty="0"/>
          </a:p>
        </p:txBody>
      </p:sp>
      <p:sp>
        <p:nvSpPr>
          <p:cNvPr id="44" name="Text 42"/>
          <p:cNvSpPr/>
          <p:nvPr/>
        </p:nvSpPr>
        <p:spPr>
          <a:xfrm>
            <a:off x="9079992" y="1591056"/>
            <a:ext cx="2414016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82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full-year target is still €1.858M; after six months, €1.084M remains to be billed in Oct–Mar.</a:t>
            </a:r>
            <a:endParaRPr lang="en-US" sz="820" dirty="0"/>
          </a:p>
        </p:txBody>
      </p:sp>
      <p:sp>
        <p:nvSpPr>
          <p:cNvPr id="45" name="Text 43"/>
          <p:cNvSpPr/>
          <p:nvPr/>
        </p:nvSpPr>
        <p:spPr>
          <a:xfrm>
            <a:off x="8915400" y="2322576"/>
            <a:ext cx="146304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D719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</a:t>
            </a:r>
            <a:endParaRPr lang="en-US" sz="900" dirty="0"/>
          </a:p>
        </p:txBody>
      </p:sp>
      <p:sp>
        <p:nvSpPr>
          <p:cNvPr id="46" name="Text 44"/>
          <p:cNvSpPr/>
          <p:nvPr/>
        </p:nvSpPr>
        <p:spPr>
          <a:xfrm>
            <a:off x="9079992" y="2322576"/>
            <a:ext cx="2414016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82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Sales to dealer is growing strongly on the latest comparable five-month basis, so distributor purchasing and dealer demand are currently telling different stories.</a:t>
            </a:r>
            <a:endParaRPr lang="en-US" sz="820" dirty="0"/>
          </a:p>
        </p:txBody>
      </p:sp>
      <p:sp>
        <p:nvSpPr>
          <p:cNvPr id="47" name="Text 45"/>
          <p:cNvSpPr/>
          <p:nvPr/>
        </p:nvSpPr>
        <p:spPr>
          <a:xfrm>
            <a:off x="8915400" y="3054096"/>
            <a:ext cx="146304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D719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</a:t>
            </a:r>
            <a:endParaRPr lang="en-US" sz="900" dirty="0"/>
          </a:p>
        </p:txBody>
      </p:sp>
      <p:sp>
        <p:nvSpPr>
          <p:cNvPr id="48" name="Text 46"/>
          <p:cNvSpPr/>
          <p:nvPr/>
        </p:nvSpPr>
        <p:spPr>
          <a:xfrm>
            <a:off x="9079992" y="3054096"/>
            <a:ext cx="2414016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82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Fill rate and MOS need to be reviewed together: lower stock depth has not yet produced a fill-rate level close to the 95% target.</a:t>
            </a:r>
            <a:endParaRPr lang="en-US" sz="820" dirty="0"/>
          </a:p>
        </p:txBody>
      </p:sp>
      <p:sp>
        <p:nvSpPr>
          <p:cNvPr id="49" name="Text 47"/>
          <p:cNvSpPr/>
          <p:nvPr/>
        </p:nvSpPr>
        <p:spPr>
          <a:xfrm>
            <a:off x="8915400" y="3785616"/>
            <a:ext cx="146304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D719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</a:t>
            </a:r>
            <a:endParaRPr lang="en-US" sz="900" dirty="0"/>
          </a:p>
        </p:txBody>
      </p:sp>
      <p:sp>
        <p:nvSpPr>
          <p:cNvPr id="50" name="Text 48"/>
          <p:cNvSpPr/>
          <p:nvPr/>
        </p:nvSpPr>
        <p:spPr>
          <a:xfrm>
            <a:off x="9079992" y="3785616"/>
            <a:ext cx="2414016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82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strongest commercial leakage signal is category-specific: oil and fuel filters lost 2024 momentum, while air filter continued to improve.</a:t>
            </a:r>
            <a:endParaRPr lang="en-US" sz="820" dirty="0"/>
          </a:p>
        </p:txBody>
      </p:sp>
      <p:sp>
        <p:nvSpPr>
          <p:cNvPr id="51" name="Text 49"/>
          <p:cNvSpPr/>
          <p:nvPr/>
        </p:nvSpPr>
        <p:spPr>
          <a:xfrm>
            <a:off x="1325880" y="6483096"/>
            <a:ext cx="978408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570" dirty="0">
                <a:solidFill>
                  <a:srgbClr val="7777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Sources: I Motors sales plan; KPI Master File; ISZE derived commercial/fleet files.</a:t>
            </a:r>
            <a:endParaRPr lang="en-US" sz="57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475720" y="6464808"/>
            <a:ext cx="457200" cy="13716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650">
                <a:solidFill>
                  <a:srgbClr val="777777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10896" y="182880"/>
            <a:ext cx="34747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60" b="1" spc="70" kern="0" dirty="0">
                <a:solidFill>
                  <a:srgbClr val="D719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FY2027 PLAN</a:t>
            </a:r>
            <a:endParaRPr lang="en-US" sz="660" dirty="0"/>
          </a:p>
        </p:txBody>
      </p:sp>
      <p:sp>
        <p:nvSpPr>
          <p:cNvPr id="3" name="Text 1"/>
          <p:cNvSpPr/>
          <p:nvPr/>
        </p:nvSpPr>
        <p:spPr>
          <a:xfrm>
            <a:off x="310896" y="420624"/>
            <a:ext cx="113842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800" b="1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first four months held plan; August and September created the YTD gap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310896" y="886968"/>
            <a:ext cx="11430000" cy="0"/>
          </a:xfrm>
          <a:prstGeom prst="line">
            <a:avLst/>
          </a:prstGeom>
          <a:noFill/>
          <a:ln w="15875">
            <a:solidFill>
              <a:srgbClr val="D7192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310896" y="923544"/>
            <a:ext cx="11292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3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 Motors | Apr–Sep 2026 | EUR K</a:t>
            </a:r>
            <a:endParaRPr lang="en-US" sz="830" dirty="0"/>
          </a:p>
        </p:txBody>
      </p:sp>
      <p:sp>
        <p:nvSpPr>
          <p:cNvPr id="6" name="Shape 4"/>
          <p:cNvSpPr/>
          <p:nvPr/>
        </p:nvSpPr>
        <p:spPr>
          <a:xfrm>
            <a:off x="658368" y="5029200"/>
            <a:ext cx="7543800" cy="0"/>
          </a:xfrm>
          <a:prstGeom prst="line">
            <a:avLst/>
          </a:prstGeom>
          <a:noFill/>
          <a:ln w="7620">
            <a:solidFill>
              <a:srgbClr val="D9D9D9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219456" y="4956048"/>
            <a:ext cx="384048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630" dirty="0">
                <a:solidFill>
                  <a:srgbClr val="7777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€0K</a:t>
            </a:r>
            <a:endParaRPr lang="en-US" sz="630" dirty="0"/>
          </a:p>
        </p:txBody>
      </p:sp>
      <p:sp>
        <p:nvSpPr>
          <p:cNvPr id="8" name="Shape 6"/>
          <p:cNvSpPr/>
          <p:nvPr/>
        </p:nvSpPr>
        <p:spPr>
          <a:xfrm>
            <a:off x="658368" y="4137660"/>
            <a:ext cx="7543800" cy="0"/>
          </a:xfrm>
          <a:prstGeom prst="line">
            <a:avLst/>
          </a:prstGeom>
          <a:noFill/>
          <a:ln w="7620">
            <a:solidFill>
              <a:srgbClr val="D9D9D9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219456" y="4064508"/>
            <a:ext cx="384048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630" dirty="0">
                <a:solidFill>
                  <a:srgbClr val="7777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€50K</a:t>
            </a:r>
            <a:endParaRPr lang="en-US" sz="630" dirty="0"/>
          </a:p>
        </p:txBody>
      </p:sp>
      <p:sp>
        <p:nvSpPr>
          <p:cNvPr id="10" name="Shape 8"/>
          <p:cNvSpPr/>
          <p:nvPr/>
        </p:nvSpPr>
        <p:spPr>
          <a:xfrm>
            <a:off x="658368" y="3246120"/>
            <a:ext cx="7543800" cy="0"/>
          </a:xfrm>
          <a:prstGeom prst="line">
            <a:avLst/>
          </a:prstGeom>
          <a:noFill/>
          <a:ln w="7620">
            <a:solidFill>
              <a:srgbClr val="D9D9D9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219456" y="3172968"/>
            <a:ext cx="384048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630" dirty="0">
                <a:solidFill>
                  <a:srgbClr val="7777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€100K</a:t>
            </a:r>
            <a:endParaRPr lang="en-US" sz="630" dirty="0"/>
          </a:p>
        </p:txBody>
      </p:sp>
      <p:sp>
        <p:nvSpPr>
          <p:cNvPr id="12" name="Shape 10"/>
          <p:cNvSpPr/>
          <p:nvPr/>
        </p:nvSpPr>
        <p:spPr>
          <a:xfrm>
            <a:off x="658368" y="2354580"/>
            <a:ext cx="7543800" cy="0"/>
          </a:xfrm>
          <a:prstGeom prst="line">
            <a:avLst/>
          </a:prstGeom>
          <a:noFill/>
          <a:ln w="7620">
            <a:solidFill>
              <a:srgbClr val="D9D9D9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219456" y="2281428"/>
            <a:ext cx="384048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630" dirty="0">
                <a:solidFill>
                  <a:srgbClr val="7777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€150K</a:t>
            </a:r>
            <a:endParaRPr lang="en-US" sz="630" dirty="0"/>
          </a:p>
        </p:txBody>
      </p:sp>
      <p:sp>
        <p:nvSpPr>
          <p:cNvPr id="14" name="Shape 12"/>
          <p:cNvSpPr/>
          <p:nvPr/>
        </p:nvSpPr>
        <p:spPr>
          <a:xfrm>
            <a:off x="658368" y="1463040"/>
            <a:ext cx="7543800" cy="0"/>
          </a:xfrm>
          <a:prstGeom prst="line">
            <a:avLst/>
          </a:prstGeom>
          <a:noFill/>
          <a:ln w="7620">
            <a:solidFill>
              <a:srgbClr val="D9D9D9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219456" y="1389888"/>
            <a:ext cx="384048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630" dirty="0">
                <a:solidFill>
                  <a:srgbClr val="7777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€200K</a:t>
            </a:r>
            <a:endParaRPr lang="en-US" sz="630" dirty="0"/>
          </a:p>
        </p:txBody>
      </p:sp>
      <p:sp>
        <p:nvSpPr>
          <p:cNvPr id="16" name="Shape 14"/>
          <p:cNvSpPr/>
          <p:nvPr/>
        </p:nvSpPr>
        <p:spPr>
          <a:xfrm>
            <a:off x="820674" y="2532888"/>
            <a:ext cx="274320" cy="2496312"/>
          </a:xfrm>
          <a:prstGeom prst="rect">
            <a:avLst/>
          </a:prstGeom>
          <a:solidFill>
            <a:srgbClr val="D71920"/>
          </a:solidFill>
          <a:ln w="12700">
            <a:solidFill>
              <a:srgbClr val="D71920">
                <a:alpha val="0"/>
              </a:srgbClr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83514" y="2359152"/>
            <a:ext cx="54864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630" b="1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140</a:t>
            </a:r>
            <a:endParaRPr lang="en-US" sz="630" dirty="0"/>
          </a:p>
        </p:txBody>
      </p:sp>
      <p:sp>
        <p:nvSpPr>
          <p:cNvPr id="18" name="Shape 16"/>
          <p:cNvSpPr/>
          <p:nvPr/>
        </p:nvSpPr>
        <p:spPr>
          <a:xfrm>
            <a:off x="1149858" y="2568550"/>
            <a:ext cx="274320" cy="2460650"/>
          </a:xfrm>
          <a:prstGeom prst="rect">
            <a:avLst/>
          </a:prstGeom>
          <a:solidFill>
            <a:srgbClr val="222222"/>
          </a:solidFill>
          <a:ln w="12700">
            <a:solidFill>
              <a:srgbClr val="222222">
                <a:alpha val="0"/>
              </a:srgbClr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1012698" y="2394814"/>
            <a:ext cx="54864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630" b="1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138</a:t>
            </a:r>
            <a:endParaRPr lang="en-US" sz="630" dirty="0"/>
          </a:p>
        </p:txBody>
      </p:sp>
      <p:sp>
        <p:nvSpPr>
          <p:cNvPr id="20" name="Shape 18"/>
          <p:cNvSpPr/>
          <p:nvPr/>
        </p:nvSpPr>
        <p:spPr>
          <a:xfrm>
            <a:off x="1479042" y="2639873"/>
            <a:ext cx="274320" cy="2389327"/>
          </a:xfrm>
          <a:prstGeom prst="rect">
            <a:avLst/>
          </a:prstGeom>
          <a:solidFill>
            <a:srgbClr val="A7A7A7"/>
          </a:solidFill>
          <a:ln w="12700">
            <a:solidFill>
              <a:srgbClr val="A7A7A7">
                <a:alpha val="0"/>
              </a:srgbClr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1341882" y="2466137"/>
            <a:ext cx="54864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630" b="1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134</a:t>
            </a:r>
            <a:endParaRPr lang="en-US" sz="630" dirty="0"/>
          </a:p>
        </p:txBody>
      </p:sp>
      <p:sp>
        <p:nvSpPr>
          <p:cNvPr id="22" name="Text 20"/>
          <p:cNvSpPr/>
          <p:nvPr/>
        </p:nvSpPr>
        <p:spPr>
          <a:xfrm>
            <a:off x="658368" y="5120640"/>
            <a:ext cx="12573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63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Apr</a:t>
            </a:r>
            <a:endParaRPr lang="en-US" sz="630" dirty="0"/>
          </a:p>
        </p:txBody>
      </p:sp>
      <p:sp>
        <p:nvSpPr>
          <p:cNvPr id="23" name="Shape 21"/>
          <p:cNvSpPr/>
          <p:nvPr/>
        </p:nvSpPr>
        <p:spPr>
          <a:xfrm>
            <a:off x="2077974" y="2336749"/>
            <a:ext cx="274320" cy="2692451"/>
          </a:xfrm>
          <a:prstGeom prst="rect">
            <a:avLst/>
          </a:prstGeom>
          <a:solidFill>
            <a:srgbClr val="D71920"/>
          </a:solidFill>
          <a:ln w="12700">
            <a:solidFill>
              <a:srgbClr val="D71920">
                <a:alpha val="0"/>
              </a:srgbClr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1940814" y="2163013"/>
            <a:ext cx="54864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630" b="1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151</a:t>
            </a:r>
            <a:endParaRPr lang="en-US" sz="630" dirty="0"/>
          </a:p>
        </p:txBody>
      </p:sp>
      <p:sp>
        <p:nvSpPr>
          <p:cNvPr id="25" name="Shape 23"/>
          <p:cNvSpPr/>
          <p:nvPr/>
        </p:nvSpPr>
        <p:spPr>
          <a:xfrm>
            <a:off x="2407158" y="2354580"/>
            <a:ext cx="274320" cy="2674620"/>
          </a:xfrm>
          <a:prstGeom prst="rect">
            <a:avLst/>
          </a:prstGeom>
          <a:solidFill>
            <a:srgbClr val="222222"/>
          </a:solidFill>
          <a:ln w="12700">
            <a:solidFill>
              <a:srgbClr val="222222">
                <a:alpha val="0"/>
              </a:srgbClr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2269998" y="2180844"/>
            <a:ext cx="54864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630" b="1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150</a:t>
            </a:r>
            <a:endParaRPr lang="en-US" sz="630" dirty="0"/>
          </a:p>
        </p:txBody>
      </p:sp>
      <p:sp>
        <p:nvSpPr>
          <p:cNvPr id="27" name="Shape 25"/>
          <p:cNvSpPr/>
          <p:nvPr/>
        </p:nvSpPr>
        <p:spPr>
          <a:xfrm>
            <a:off x="2736342" y="2194103"/>
            <a:ext cx="274320" cy="2835097"/>
          </a:xfrm>
          <a:prstGeom prst="rect">
            <a:avLst/>
          </a:prstGeom>
          <a:solidFill>
            <a:srgbClr val="A7A7A7"/>
          </a:solidFill>
          <a:ln w="12700">
            <a:solidFill>
              <a:srgbClr val="A7A7A7">
                <a:alpha val="0"/>
              </a:srgbClr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2599182" y="2020367"/>
            <a:ext cx="54864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630" b="1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159</a:t>
            </a:r>
            <a:endParaRPr lang="en-US" sz="630" dirty="0"/>
          </a:p>
        </p:txBody>
      </p:sp>
      <p:sp>
        <p:nvSpPr>
          <p:cNvPr id="29" name="Text 27"/>
          <p:cNvSpPr/>
          <p:nvPr/>
        </p:nvSpPr>
        <p:spPr>
          <a:xfrm>
            <a:off x="1915668" y="5120640"/>
            <a:ext cx="12573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63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May</a:t>
            </a:r>
            <a:endParaRPr lang="en-US" sz="630" dirty="0"/>
          </a:p>
        </p:txBody>
      </p:sp>
      <p:sp>
        <p:nvSpPr>
          <p:cNvPr id="30" name="Shape 28"/>
          <p:cNvSpPr/>
          <p:nvPr/>
        </p:nvSpPr>
        <p:spPr>
          <a:xfrm>
            <a:off x="3335274" y="2301088"/>
            <a:ext cx="274320" cy="2728112"/>
          </a:xfrm>
          <a:prstGeom prst="rect">
            <a:avLst/>
          </a:prstGeom>
          <a:solidFill>
            <a:srgbClr val="D71920"/>
          </a:solidFill>
          <a:ln w="12700">
            <a:solidFill>
              <a:srgbClr val="D71920">
                <a:alpha val="0"/>
              </a:srgbClr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3198114" y="2127352"/>
            <a:ext cx="54864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630" b="1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153</a:t>
            </a:r>
            <a:endParaRPr lang="en-US" sz="630" dirty="0"/>
          </a:p>
        </p:txBody>
      </p:sp>
      <p:sp>
        <p:nvSpPr>
          <p:cNvPr id="32" name="Shape 30"/>
          <p:cNvSpPr/>
          <p:nvPr/>
        </p:nvSpPr>
        <p:spPr>
          <a:xfrm>
            <a:off x="3664458" y="2336749"/>
            <a:ext cx="274320" cy="2692451"/>
          </a:xfrm>
          <a:prstGeom prst="rect">
            <a:avLst/>
          </a:prstGeom>
          <a:solidFill>
            <a:srgbClr val="222222"/>
          </a:solidFill>
          <a:ln w="12700">
            <a:solidFill>
              <a:srgbClr val="222222">
                <a:alpha val="0"/>
              </a:srgbClr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3527298" y="2163013"/>
            <a:ext cx="54864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630" b="1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151</a:t>
            </a:r>
            <a:endParaRPr lang="en-US" sz="630" dirty="0"/>
          </a:p>
        </p:txBody>
      </p:sp>
      <p:sp>
        <p:nvSpPr>
          <p:cNvPr id="34" name="Shape 32"/>
          <p:cNvSpPr/>
          <p:nvPr/>
        </p:nvSpPr>
        <p:spPr>
          <a:xfrm>
            <a:off x="3993642" y="2408072"/>
            <a:ext cx="274320" cy="2621128"/>
          </a:xfrm>
          <a:prstGeom prst="rect">
            <a:avLst/>
          </a:prstGeom>
          <a:solidFill>
            <a:srgbClr val="A7A7A7"/>
          </a:solidFill>
          <a:ln w="12700">
            <a:solidFill>
              <a:srgbClr val="A7A7A7">
                <a:alpha val="0"/>
              </a:srgbClr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3856482" y="2234336"/>
            <a:ext cx="54864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630" b="1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147</a:t>
            </a:r>
            <a:endParaRPr lang="en-US" sz="630" dirty="0"/>
          </a:p>
        </p:txBody>
      </p:sp>
      <p:sp>
        <p:nvSpPr>
          <p:cNvPr id="36" name="Text 34"/>
          <p:cNvSpPr/>
          <p:nvPr/>
        </p:nvSpPr>
        <p:spPr>
          <a:xfrm>
            <a:off x="3172968" y="5120640"/>
            <a:ext cx="12573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63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Jun</a:t>
            </a:r>
            <a:endParaRPr lang="en-US" sz="630" dirty="0"/>
          </a:p>
        </p:txBody>
      </p:sp>
      <p:sp>
        <p:nvSpPr>
          <p:cNvPr id="37" name="Shape 35"/>
          <p:cNvSpPr/>
          <p:nvPr/>
        </p:nvSpPr>
        <p:spPr>
          <a:xfrm>
            <a:off x="4592574" y="2408072"/>
            <a:ext cx="274320" cy="2621128"/>
          </a:xfrm>
          <a:prstGeom prst="rect">
            <a:avLst/>
          </a:prstGeom>
          <a:solidFill>
            <a:srgbClr val="D71920"/>
          </a:solidFill>
          <a:ln w="12700">
            <a:solidFill>
              <a:srgbClr val="D71920">
                <a:alpha val="0"/>
              </a:srgbClr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4455414" y="2234336"/>
            <a:ext cx="54864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630" b="1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147</a:t>
            </a:r>
            <a:endParaRPr lang="en-US" sz="630" dirty="0"/>
          </a:p>
        </p:txBody>
      </p:sp>
      <p:sp>
        <p:nvSpPr>
          <p:cNvPr id="39" name="Shape 37"/>
          <p:cNvSpPr/>
          <p:nvPr/>
        </p:nvSpPr>
        <p:spPr>
          <a:xfrm>
            <a:off x="4921758" y="2443734"/>
            <a:ext cx="274320" cy="2585466"/>
          </a:xfrm>
          <a:prstGeom prst="rect">
            <a:avLst/>
          </a:prstGeom>
          <a:solidFill>
            <a:srgbClr val="222222"/>
          </a:solidFill>
          <a:ln w="12700">
            <a:solidFill>
              <a:srgbClr val="222222">
                <a:alpha val="0"/>
              </a:srgbClr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4784598" y="2269998"/>
            <a:ext cx="54864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630" b="1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145</a:t>
            </a:r>
            <a:endParaRPr lang="en-US" sz="630" dirty="0"/>
          </a:p>
        </p:txBody>
      </p:sp>
      <p:sp>
        <p:nvSpPr>
          <p:cNvPr id="41" name="Shape 39"/>
          <p:cNvSpPr/>
          <p:nvPr/>
        </p:nvSpPr>
        <p:spPr>
          <a:xfrm>
            <a:off x="5250942" y="2301088"/>
            <a:ext cx="274320" cy="2728112"/>
          </a:xfrm>
          <a:prstGeom prst="rect">
            <a:avLst/>
          </a:prstGeom>
          <a:solidFill>
            <a:srgbClr val="A7A7A7"/>
          </a:solidFill>
          <a:ln w="12700">
            <a:solidFill>
              <a:srgbClr val="A7A7A7">
                <a:alpha val="0"/>
              </a:srgbClr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5113782" y="2127352"/>
            <a:ext cx="54864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630" b="1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153</a:t>
            </a:r>
            <a:endParaRPr lang="en-US" sz="630" dirty="0"/>
          </a:p>
        </p:txBody>
      </p:sp>
      <p:sp>
        <p:nvSpPr>
          <p:cNvPr id="43" name="Text 41"/>
          <p:cNvSpPr/>
          <p:nvPr/>
        </p:nvSpPr>
        <p:spPr>
          <a:xfrm>
            <a:off x="4430268" y="5120640"/>
            <a:ext cx="12573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63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Jul</a:t>
            </a:r>
            <a:endParaRPr lang="en-US" sz="630" dirty="0"/>
          </a:p>
        </p:txBody>
      </p:sp>
      <p:sp>
        <p:nvSpPr>
          <p:cNvPr id="44" name="Shape 42"/>
          <p:cNvSpPr/>
          <p:nvPr/>
        </p:nvSpPr>
        <p:spPr>
          <a:xfrm>
            <a:off x="5849874" y="3085643"/>
            <a:ext cx="274320" cy="1943557"/>
          </a:xfrm>
          <a:prstGeom prst="rect">
            <a:avLst/>
          </a:prstGeom>
          <a:solidFill>
            <a:srgbClr val="D71920"/>
          </a:solidFill>
          <a:ln w="12700">
            <a:solidFill>
              <a:srgbClr val="D71920">
                <a:alpha val="0"/>
              </a:srgbClr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5712714" y="2911907"/>
            <a:ext cx="54864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630" b="1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109</a:t>
            </a:r>
            <a:endParaRPr lang="en-US" sz="630" dirty="0"/>
          </a:p>
        </p:txBody>
      </p:sp>
      <p:sp>
        <p:nvSpPr>
          <p:cNvPr id="46" name="Shape 44"/>
          <p:cNvSpPr/>
          <p:nvPr/>
        </p:nvSpPr>
        <p:spPr>
          <a:xfrm>
            <a:off x="6179058" y="2140610"/>
            <a:ext cx="274320" cy="2888590"/>
          </a:xfrm>
          <a:prstGeom prst="rect">
            <a:avLst/>
          </a:prstGeom>
          <a:solidFill>
            <a:srgbClr val="222222"/>
          </a:solidFill>
          <a:ln w="12700">
            <a:solidFill>
              <a:srgbClr val="222222">
                <a:alpha val="0"/>
              </a:srgbClr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6041898" y="1966874"/>
            <a:ext cx="54864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630" b="1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162</a:t>
            </a:r>
            <a:endParaRPr lang="en-US" sz="630" dirty="0"/>
          </a:p>
        </p:txBody>
      </p:sp>
      <p:sp>
        <p:nvSpPr>
          <p:cNvPr id="48" name="Shape 46"/>
          <p:cNvSpPr/>
          <p:nvPr/>
        </p:nvSpPr>
        <p:spPr>
          <a:xfrm>
            <a:off x="6508242" y="3228289"/>
            <a:ext cx="274320" cy="1800911"/>
          </a:xfrm>
          <a:prstGeom prst="rect">
            <a:avLst/>
          </a:prstGeom>
          <a:solidFill>
            <a:srgbClr val="A7A7A7"/>
          </a:solidFill>
          <a:ln w="12700">
            <a:solidFill>
              <a:srgbClr val="A7A7A7">
                <a:alpha val="0"/>
              </a:srgbClr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6371082" y="3054553"/>
            <a:ext cx="54864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630" b="1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101</a:t>
            </a:r>
            <a:endParaRPr lang="en-US" sz="630" dirty="0"/>
          </a:p>
        </p:txBody>
      </p:sp>
      <p:sp>
        <p:nvSpPr>
          <p:cNvPr id="50" name="Text 48"/>
          <p:cNvSpPr/>
          <p:nvPr/>
        </p:nvSpPr>
        <p:spPr>
          <a:xfrm>
            <a:off x="5687568" y="5120640"/>
            <a:ext cx="12573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63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Aug</a:t>
            </a:r>
            <a:endParaRPr lang="en-US" sz="630" dirty="0"/>
          </a:p>
        </p:txBody>
      </p:sp>
      <p:sp>
        <p:nvSpPr>
          <p:cNvPr id="51" name="Shape 49"/>
          <p:cNvSpPr/>
          <p:nvPr/>
        </p:nvSpPr>
        <p:spPr>
          <a:xfrm>
            <a:off x="7107174" y="3727552"/>
            <a:ext cx="274320" cy="1301648"/>
          </a:xfrm>
          <a:prstGeom prst="rect">
            <a:avLst/>
          </a:prstGeom>
          <a:solidFill>
            <a:srgbClr val="D71920"/>
          </a:solidFill>
          <a:ln w="12700">
            <a:solidFill>
              <a:srgbClr val="D71920">
                <a:alpha val="0"/>
              </a:srgbClr>
            </a:solidFill>
            <a:prstDash val="solid"/>
          </a:ln>
        </p:spPr>
      </p:sp>
      <p:sp>
        <p:nvSpPr>
          <p:cNvPr id="52" name="Text 50"/>
          <p:cNvSpPr/>
          <p:nvPr/>
        </p:nvSpPr>
        <p:spPr>
          <a:xfrm>
            <a:off x="6970014" y="3553816"/>
            <a:ext cx="54864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630" b="1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73</a:t>
            </a:r>
            <a:endParaRPr lang="en-US" sz="630" dirty="0"/>
          </a:p>
        </p:txBody>
      </p:sp>
      <p:sp>
        <p:nvSpPr>
          <p:cNvPr id="53" name="Shape 51"/>
          <p:cNvSpPr/>
          <p:nvPr/>
        </p:nvSpPr>
        <p:spPr>
          <a:xfrm>
            <a:off x="7436358" y="1855318"/>
            <a:ext cx="274320" cy="3173882"/>
          </a:xfrm>
          <a:prstGeom prst="rect">
            <a:avLst/>
          </a:prstGeom>
          <a:solidFill>
            <a:srgbClr val="222222"/>
          </a:solidFill>
          <a:ln w="12700">
            <a:solidFill>
              <a:srgbClr val="222222">
                <a:alpha val="0"/>
              </a:srgbClr>
            </a:solidFill>
            <a:prstDash val="solid"/>
          </a:ln>
        </p:spPr>
      </p:sp>
      <p:sp>
        <p:nvSpPr>
          <p:cNvPr id="54" name="Text 52"/>
          <p:cNvSpPr/>
          <p:nvPr/>
        </p:nvSpPr>
        <p:spPr>
          <a:xfrm>
            <a:off x="7299198" y="1681582"/>
            <a:ext cx="54864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630" b="1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178</a:t>
            </a:r>
            <a:endParaRPr lang="en-US" sz="630" dirty="0"/>
          </a:p>
        </p:txBody>
      </p:sp>
      <p:sp>
        <p:nvSpPr>
          <p:cNvPr id="55" name="Shape 53"/>
          <p:cNvSpPr/>
          <p:nvPr/>
        </p:nvSpPr>
        <p:spPr>
          <a:xfrm>
            <a:off x="7765542" y="3317443"/>
            <a:ext cx="274320" cy="1711757"/>
          </a:xfrm>
          <a:prstGeom prst="rect">
            <a:avLst/>
          </a:prstGeom>
          <a:solidFill>
            <a:srgbClr val="A7A7A7"/>
          </a:solidFill>
          <a:ln w="12700">
            <a:solidFill>
              <a:srgbClr val="A7A7A7">
                <a:alpha val="0"/>
              </a:srgbClr>
            </a:solidFill>
            <a:prstDash val="solid"/>
          </a:ln>
        </p:spPr>
      </p:sp>
      <p:sp>
        <p:nvSpPr>
          <p:cNvPr id="56" name="Text 54"/>
          <p:cNvSpPr/>
          <p:nvPr/>
        </p:nvSpPr>
        <p:spPr>
          <a:xfrm>
            <a:off x="7628382" y="3143707"/>
            <a:ext cx="54864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630" b="1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96</a:t>
            </a:r>
            <a:endParaRPr lang="en-US" sz="630" dirty="0"/>
          </a:p>
        </p:txBody>
      </p:sp>
      <p:sp>
        <p:nvSpPr>
          <p:cNvPr id="57" name="Text 55"/>
          <p:cNvSpPr/>
          <p:nvPr/>
        </p:nvSpPr>
        <p:spPr>
          <a:xfrm>
            <a:off x="6944868" y="5120640"/>
            <a:ext cx="12573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63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Sep</a:t>
            </a:r>
            <a:endParaRPr lang="en-US" sz="630" dirty="0"/>
          </a:p>
        </p:txBody>
      </p:sp>
      <p:sp>
        <p:nvSpPr>
          <p:cNvPr id="58" name="Shape 56"/>
          <p:cNvSpPr/>
          <p:nvPr/>
        </p:nvSpPr>
        <p:spPr>
          <a:xfrm>
            <a:off x="658368" y="5449824"/>
            <a:ext cx="109728" cy="73152"/>
          </a:xfrm>
          <a:prstGeom prst="rect">
            <a:avLst/>
          </a:prstGeom>
          <a:solidFill>
            <a:srgbClr val="D71920"/>
          </a:solidFill>
          <a:ln w="12700">
            <a:solidFill>
              <a:srgbClr val="D71920"/>
            </a:solidFill>
            <a:prstDash val="solid"/>
          </a:ln>
        </p:spPr>
      </p:sp>
      <p:sp>
        <p:nvSpPr>
          <p:cNvPr id="59" name="Text 57"/>
          <p:cNvSpPr/>
          <p:nvPr/>
        </p:nvSpPr>
        <p:spPr>
          <a:xfrm>
            <a:off x="813816" y="5422392"/>
            <a:ext cx="105156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2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Sales</a:t>
            </a:r>
            <a:endParaRPr lang="en-US" sz="620" dirty="0"/>
          </a:p>
        </p:txBody>
      </p:sp>
      <p:sp>
        <p:nvSpPr>
          <p:cNvPr id="60" name="Shape 58"/>
          <p:cNvSpPr/>
          <p:nvPr/>
        </p:nvSpPr>
        <p:spPr>
          <a:xfrm>
            <a:off x="1938528" y="5449824"/>
            <a:ext cx="109728" cy="73152"/>
          </a:xfrm>
          <a:prstGeom prst="rect">
            <a:avLst/>
          </a:prstGeom>
          <a:solidFill>
            <a:srgbClr val="222222"/>
          </a:solidFill>
          <a:ln w="12700">
            <a:solidFill>
              <a:srgbClr val="222222"/>
            </a:solidFill>
            <a:prstDash val="solid"/>
          </a:ln>
        </p:spPr>
      </p:sp>
      <p:sp>
        <p:nvSpPr>
          <p:cNvPr id="61" name="Text 59"/>
          <p:cNvSpPr/>
          <p:nvPr/>
        </p:nvSpPr>
        <p:spPr>
          <a:xfrm>
            <a:off x="2093976" y="5422392"/>
            <a:ext cx="105156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2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Current budget</a:t>
            </a:r>
            <a:endParaRPr lang="en-US" sz="620" dirty="0"/>
          </a:p>
        </p:txBody>
      </p:sp>
      <p:sp>
        <p:nvSpPr>
          <p:cNvPr id="62" name="Shape 60"/>
          <p:cNvSpPr/>
          <p:nvPr/>
        </p:nvSpPr>
        <p:spPr>
          <a:xfrm>
            <a:off x="3218688" y="5449824"/>
            <a:ext cx="109728" cy="73152"/>
          </a:xfrm>
          <a:prstGeom prst="rect">
            <a:avLst/>
          </a:prstGeom>
          <a:solidFill>
            <a:srgbClr val="A7A7A7"/>
          </a:solidFill>
          <a:ln w="12700">
            <a:solidFill>
              <a:srgbClr val="A7A7A7"/>
            </a:solidFill>
            <a:prstDash val="solid"/>
          </a:ln>
        </p:spPr>
      </p:sp>
      <p:sp>
        <p:nvSpPr>
          <p:cNvPr id="63" name="Text 61"/>
          <p:cNvSpPr/>
          <p:nvPr/>
        </p:nvSpPr>
        <p:spPr>
          <a:xfrm>
            <a:off x="3374136" y="5422392"/>
            <a:ext cx="105156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2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Orders</a:t>
            </a:r>
            <a:endParaRPr lang="en-US" sz="620" dirty="0"/>
          </a:p>
        </p:txBody>
      </p:sp>
      <p:sp>
        <p:nvSpPr>
          <p:cNvPr id="64" name="Shape 62"/>
          <p:cNvSpPr/>
          <p:nvPr/>
        </p:nvSpPr>
        <p:spPr>
          <a:xfrm>
            <a:off x="685800" y="5504688"/>
            <a:ext cx="7406640" cy="566928"/>
          </a:xfrm>
          <a:prstGeom prst="rect">
            <a:avLst/>
          </a:prstGeom>
          <a:solidFill>
            <a:srgbClr val="F6F6F6"/>
          </a:solidFill>
          <a:ln w="6350">
            <a:solidFill>
              <a:srgbClr val="E0E0E0"/>
            </a:solidFill>
            <a:prstDash val="solid"/>
          </a:ln>
        </p:spPr>
      </p:sp>
      <p:sp>
        <p:nvSpPr>
          <p:cNvPr id="65" name="Text 63"/>
          <p:cNvSpPr/>
          <p:nvPr/>
        </p:nvSpPr>
        <p:spPr>
          <a:xfrm>
            <a:off x="868680" y="5669280"/>
            <a:ext cx="32461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20" b="1" dirty="0">
                <a:solidFill>
                  <a:srgbClr val="55A8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Apr–Jul sales: €591K vs €584K budget (+1.2%)</a:t>
            </a:r>
            <a:endParaRPr lang="en-US" sz="820" dirty="0"/>
          </a:p>
        </p:txBody>
      </p:sp>
      <p:sp>
        <p:nvSpPr>
          <p:cNvPr id="66" name="Text 64"/>
          <p:cNvSpPr/>
          <p:nvPr/>
        </p:nvSpPr>
        <p:spPr>
          <a:xfrm>
            <a:off x="4352544" y="5669280"/>
            <a:ext cx="32918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20" b="1" dirty="0">
                <a:solidFill>
                  <a:srgbClr val="D719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Aug–Sep sales: €182K vs €340K budget (-46.5%)</a:t>
            </a:r>
            <a:endParaRPr lang="en-US" sz="820" dirty="0"/>
          </a:p>
        </p:txBody>
      </p:sp>
      <p:sp>
        <p:nvSpPr>
          <p:cNvPr id="67" name="Text 65"/>
          <p:cNvSpPr/>
          <p:nvPr/>
        </p:nvSpPr>
        <p:spPr>
          <a:xfrm>
            <a:off x="8915400" y="1280160"/>
            <a:ext cx="257860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" b="1" dirty="0">
                <a:solidFill>
                  <a:srgbClr val="D719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TAKEAWAYS</a:t>
            </a:r>
            <a:endParaRPr lang="en-US" sz="650" dirty="0"/>
          </a:p>
        </p:txBody>
      </p:sp>
      <p:sp>
        <p:nvSpPr>
          <p:cNvPr id="68" name="Shape 66"/>
          <p:cNvSpPr/>
          <p:nvPr/>
        </p:nvSpPr>
        <p:spPr>
          <a:xfrm>
            <a:off x="8769096" y="1234440"/>
            <a:ext cx="0" cy="5138928"/>
          </a:xfrm>
          <a:prstGeom prst="line">
            <a:avLst/>
          </a:prstGeom>
          <a:noFill/>
          <a:ln w="12700">
            <a:solidFill>
              <a:srgbClr val="D0D0D0"/>
            </a:solidFill>
            <a:prstDash val="solid"/>
          </a:ln>
        </p:spPr>
      </p:sp>
      <p:sp>
        <p:nvSpPr>
          <p:cNvPr id="69" name="Text 67"/>
          <p:cNvSpPr/>
          <p:nvPr/>
        </p:nvSpPr>
        <p:spPr>
          <a:xfrm>
            <a:off x="8915400" y="1591056"/>
            <a:ext cx="146304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D719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</a:t>
            </a:r>
            <a:endParaRPr lang="en-US" sz="900" dirty="0"/>
          </a:p>
        </p:txBody>
      </p:sp>
      <p:sp>
        <p:nvSpPr>
          <p:cNvPr id="70" name="Text 68"/>
          <p:cNvSpPr/>
          <p:nvPr/>
        </p:nvSpPr>
        <p:spPr>
          <a:xfrm>
            <a:off x="9079992" y="1591056"/>
            <a:ext cx="2414016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82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YTD sales are €774K against €924K current budget: €150K below plan (-16.2%).</a:t>
            </a:r>
            <a:endParaRPr lang="en-US" sz="820" dirty="0"/>
          </a:p>
        </p:txBody>
      </p:sp>
      <p:sp>
        <p:nvSpPr>
          <p:cNvPr id="71" name="Text 69"/>
          <p:cNvSpPr/>
          <p:nvPr/>
        </p:nvSpPr>
        <p:spPr>
          <a:xfrm>
            <a:off x="8915400" y="2322576"/>
            <a:ext cx="146304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D719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</a:t>
            </a:r>
            <a:endParaRPr lang="en-US" sz="900" dirty="0"/>
          </a:p>
        </p:txBody>
      </p:sp>
      <p:sp>
        <p:nvSpPr>
          <p:cNvPr id="72" name="Text 70"/>
          <p:cNvSpPr/>
          <p:nvPr/>
        </p:nvSpPr>
        <p:spPr>
          <a:xfrm>
            <a:off x="9079992" y="2322576"/>
            <a:ext cx="2414016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82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Orders are €790K YTD, €134K below the same budget phasing (-14.5%); the order pipeline does not yet close the sales gap.</a:t>
            </a:r>
            <a:endParaRPr lang="en-US" sz="820" dirty="0"/>
          </a:p>
        </p:txBody>
      </p:sp>
      <p:sp>
        <p:nvSpPr>
          <p:cNvPr id="73" name="Text 71"/>
          <p:cNvSpPr/>
          <p:nvPr/>
        </p:nvSpPr>
        <p:spPr>
          <a:xfrm>
            <a:off x="8915400" y="3054096"/>
            <a:ext cx="146304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D719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</a:t>
            </a:r>
            <a:endParaRPr lang="en-US" sz="900" dirty="0"/>
          </a:p>
        </p:txBody>
      </p:sp>
      <p:sp>
        <p:nvSpPr>
          <p:cNvPr id="74" name="Text 72"/>
          <p:cNvSpPr/>
          <p:nvPr/>
        </p:nvSpPr>
        <p:spPr>
          <a:xfrm>
            <a:off x="9079992" y="3054096"/>
            <a:ext cx="2414016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82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issue is concentrated in the last two reported months rather than a weak start to FY27.</a:t>
            </a:r>
            <a:endParaRPr lang="en-US" sz="820" dirty="0"/>
          </a:p>
        </p:txBody>
      </p:sp>
      <p:sp>
        <p:nvSpPr>
          <p:cNvPr id="75" name="Text 73"/>
          <p:cNvSpPr/>
          <p:nvPr/>
        </p:nvSpPr>
        <p:spPr>
          <a:xfrm>
            <a:off x="8915400" y="3785616"/>
            <a:ext cx="146304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D719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</a:t>
            </a:r>
            <a:endParaRPr lang="en-US" sz="900" dirty="0"/>
          </a:p>
        </p:txBody>
      </p:sp>
      <p:sp>
        <p:nvSpPr>
          <p:cNvPr id="76" name="Text 74"/>
          <p:cNvSpPr/>
          <p:nvPr/>
        </p:nvSpPr>
        <p:spPr>
          <a:xfrm>
            <a:off x="9079992" y="3785616"/>
            <a:ext cx="2414016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82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original BP and the current budget both total €1.858M for the year; the current budget is the relevant monthly phasing for this review.</a:t>
            </a:r>
            <a:endParaRPr lang="en-US" sz="820" dirty="0"/>
          </a:p>
        </p:txBody>
      </p:sp>
      <p:sp>
        <p:nvSpPr>
          <p:cNvPr id="77" name="Text 75"/>
          <p:cNvSpPr/>
          <p:nvPr/>
        </p:nvSpPr>
        <p:spPr>
          <a:xfrm>
            <a:off x="1325880" y="6483096"/>
            <a:ext cx="978408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570" dirty="0">
                <a:solidFill>
                  <a:srgbClr val="7777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Source: supplied I Motors FY2027 sales-plan report.</a:t>
            </a:r>
            <a:endParaRPr lang="en-US" sz="57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475720" y="6464808"/>
            <a:ext cx="457200" cy="13716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650">
                <a:solidFill>
                  <a:srgbClr val="777777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10896" y="182880"/>
            <a:ext cx="34747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60" b="1" spc="70" kern="0" dirty="0">
                <a:solidFill>
                  <a:srgbClr val="D719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FY2027 PLAN</a:t>
            </a:r>
            <a:endParaRPr lang="en-US" sz="660" dirty="0"/>
          </a:p>
        </p:txBody>
      </p:sp>
      <p:sp>
        <p:nvSpPr>
          <p:cNvPr id="3" name="Text 1"/>
          <p:cNvSpPr/>
          <p:nvPr/>
        </p:nvSpPr>
        <p:spPr>
          <a:xfrm>
            <a:off x="310896" y="420624"/>
            <a:ext cx="113842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800" b="1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second half now has to run above the original monthly pace to recover the full-year target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310896" y="886968"/>
            <a:ext cx="11430000" cy="0"/>
          </a:xfrm>
          <a:prstGeom prst="line">
            <a:avLst/>
          </a:prstGeom>
          <a:noFill/>
          <a:ln w="15875">
            <a:solidFill>
              <a:srgbClr val="D7192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310896" y="923544"/>
            <a:ext cx="11292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3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Full-year target remains €1.858M</a:t>
            </a:r>
            <a:endParaRPr lang="en-US" sz="830" dirty="0"/>
          </a:p>
        </p:txBody>
      </p:sp>
      <p:sp>
        <p:nvSpPr>
          <p:cNvPr id="6" name="Text 4"/>
          <p:cNvSpPr/>
          <p:nvPr/>
        </p:nvSpPr>
        <p:spPr>
          <a:xfrm>
            <a:off x="749808" y="1417320"/>
            <a:ext cx="10972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FY27 target</a:t>
            </a:r>
            <a:endParaRPr lang="en-US" sz="800" dirty="0"/>
          </a:p>
        </p:txBody>
      </p:sp>
      <p:sp>
        <p:nvSpPr>
          <p:cNvPr id="7" name="Shape 5"/>
          <p:cNvSpPr/>
          <p:nvPr/>
        </p:nvSpPr>
        <p:spPr>
          <a:xfrm>
            <a:off x="749808" y="1920240"/>
            <a:ext cx="7406640" cy="658368"/>
          </a:xfrm>
          <a:prstGeom prst="rect">
            <a:avLst/>
          </a:prstGeom>
          <a:solidFill>
            <a:srgbClr val="EAEAEA"/>
          </a:solidFill>
          <a:ln w="12700">
            <a:solidFill>
              <a:srgbClr val="EAEAEA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749808" y="1920240"/>
            <a:ext cx="3085436" cy="658368"/>
          </a:xfrm>
          <a:prstGeom prst="rect">
            <a:avLst/>
          </a:prstGeom>
          <a:solidFill>
            <a:srgbClr val="D71920"/>
          </a:solidFill>
          <a:ln w="12700">
            <a:solidFill>
              <a:srgbClr val="D7192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932688" y="2093976"/>
            <a:ext cx="1371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€774K billed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3972404" y="2093976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€1.084M remaining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7470648" y="1609344"/>
            <a:ext cx="685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€1.858M</a:t>
            </a:r>
            <a:endParaRPr lang="en-US" sz="800" dirty="0"/>
          </a:p>
        </p:txBody>
      </p:sp>
      <p:sp>
        <p:nvSpPr>
          <p:cNvPr id="12" name="Shape 10"/>
          <p:cNvSpPr/>
          <p:nvPr/>
        </p:nvSpPr>
        <p:spPr>
          <a:xfrm>
            <a:off x="749808" y="3035808"/>
            <a:ext cx="2240280" cy="1417320"/>
          </a:xfrm>
          <a:prstGeom prst="rect">
            <a:avLst/>
          </a:prstGeom>
          <a:solidFill>
            <a:srgbClr val="FFFFFF"/>
          </a:solidFill>
          <a:ln w="8890">
            <a:solidFill>
              <a:srgbClr val="D9D9D9"/>
            </a:solidFill>
            <a:prstDash val="solid"/>
          </a:ln>
          <a:effectLst>
            <a:outerShdw sx="100000" sy="100000" kx="0" ky="0" algn="bl" rotWithShape="0" blurRad="13970" dist="5080" dir="2700000">
              <a:srgbClr val="000000">
                <a:alpha val="10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914400" y="3182112"/>
            <a:ext cx="191109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" b="1" spc="40" kern="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CURRENT H2 PLAN</a:t>
            </a:r>
            <a:endParaRPr lang="en-US" sz="650" dirty="0"/>
          </a:p>
        </p:txBody>
      </p:sp>
      <p:sp>
        <p:nvSpPr>
          <p:cNvPr id="14" name="Text 12"/>
          <p:cNvSpPr/>
          <p:nvPr/>
        </p:nvSpPr>
        <p:spPr>
          <a:xfrm>
            <a:off x="914400" y="3401568"/>
            <a:ext cx="191109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200" b="1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€934K</a:t>
            </a:r>
            <a:endParaRPr lang="en-US" sz="2200" dirty="0"/>
          </a:p>
        </p:txBody>
      </p:sp>
      <p:sp>
        <p:nvSpPr>
          <p:cNvPr id="15" name="Text 13"/>
          <p:cNvSpPr/>
          <p:nvPr/>
        </p:nvSpPr>
        <p:spPr>
          <a:xfrm>
            <a:off x="914400" y="3858768"/>
            <a:ext cx="1911096" cy="46634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74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Oct–Mar current budget</a:t>
            </a:r>
            <a:endParaRPr lang="en-US" sz="740" dirty="0"/>
          </a:p>
          <a:p>
            <a:pPr indent="0" marL="0">
              <a:buNone/>
            </a:pPr>
            <a:r>
              <a:rPr lang="en-US" sz="74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Average €156K/month</a:t>
            </a:r>
            <a:endParaRPr lang="en-US" sz="740" dirty="0"/>
          </a:p>
        </p:txBody>
      </p:sp>
      <p:sp>
        <p:nvSpPr>
          <p:cNvPr id="16" name="Shape 14"/>
          <p:cNvSpPr/>
          <p:nvPr/>
        </p:nvSpPr>
        <p:spPr>
          <a:xfrm>
            <a:off x="3182112" y="3035808"/>
            <a:ext cx="2240280" cy="1417320"/>
          </a:xfrm>
          <a:prstGeom prst="rect">
            <a:avLst/>
          </a:prstGeom>
          <a:solidFill>
            <a:srgbClr val="FFFFFF"/>
          </a:solidFill>
          <a:ln w="8890">
            <a:solidFill>
              <a:srgbClr val="D9D9D9"/>
            </a:solidFill>
            <a:prstDash val="solid"/>
          </a:ln>
          <a:effectLst>
            <a:outerShdw sx="100000" sy="100000" kx="0" ky="0" algn="bl" rotWithShape="0" blurRad="13970" dist="5080" dir="2700000">
              <a:srgbClr val="000000">
                <a:alpha val="10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3346704" y="3182112"/>
            <a:ext cx="191109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" b="1" spc="40" kern="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REQUIRED H2 BILLING</a:t>
            </a:r>
            <a:endParaRPr lang="en-US" sz="650" dirty="0"/>
          </a:p>
        </p:txBody>
      </p:sp>
      <p:sp>
        <p:nvSpPr>
          <p:cNvPr id="18" name="Text 16"/>
          <p:cNvSpPr/>
          <p:nvPr/>
        </p:nvSpPr>
        <p:spPr>
          <a:xfrm>
            <a:off x="3346704" y="3401568"/>
            <a:ext cx="191109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200" b="1" dirty="0">
                <a:solidFill>
                  <a:srgbClr val="D719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€1.084M</a:t>
            </a:r>
            <a:endParaRPr lang="en-US" sz="2200" dirty="0"/>
          </a:p>
        </p:txBody>
      </p:sp>
      <p:sp>
        <p:nvSpPr>
          <p:cNvPr id="19" name="Text 17"/>
          <p:cNvSpPr/>
          <p:nvPr/>
        </p:nvSpPr>
        <p:spPr>
          <a:xfrm>
            <a:off x="3346704" y="3858768"/>
            <a:ext cx="1911096" cy="46634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74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 still reach the FY27 target</a:t>
            </a:r>
            <a:endParaRPr lang="en-US" sz="740" dirty="0"/>
          </a:p>
          <a:p>
            <a:pPr indent="0" marL="0">
              <a:buNone/>
            </a:pPr>
            <a:r>
              <a:rPr lang="en-US" sz="74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Average €181K/month</a:t>
            </a:r>
            <a:endParaRPr lang="en-US" sz="740" dirty="0"/>
          </a:p>
        </p:txBody>
      </p:sp>
      <p:sp>
        <p:nvSpPr>
          <p:cNvPr id="20" name="Shape 18"/>
          <p:cNvSpPr/>
          <p:nvPr/>
        </p:nvSpPr>
        <p:spPr>
          <a:xfrm>
            <a:off x="5614416" y="3035808"/>
            <a:ext cx="2240280" cy="1417320"/>
          </a:xfrm>
          <a:prstGeom prst="rect">
            <a:avLst/>
          </a:prstGeom>
          <a:solidFill>
            <a:srgbClr val="FFFFFF"/>
          </a:solidFill>
          <a:ln w="8890">
            <a:solidFill>
              <a:srgbClr val="D9D9D9"/>
            </a:solidFill>
            <a:prstDash val="solid"/>
          </a:ln>
          <a:effectLst>
            <a:outerShdw sx="100000" sy="100000" kx="0" ky="0" algn="bl" rotWithShape="0" blurRad="13970" dist="5080" dir="2700000">
              <a:srgbClr val="000000">
                <a:alpha val="10000"/>
              </a:srgbClr>
            </a:outerShdw>
          </a:effectLst>
        </p:spPr>
      </p:sp>
      <p:sp>
        <p:nvSpPr>
          <p:cNvPr id="21" name="Text 19"/>
          <p:cNvSpPr/>
          <p:nvPr/>
        </p:nvSpPr>
        <p:spPr>
          <a:xfrm>
            <a:off x="5779008" y="3182112"/>
            <a:ext cx="191109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" b="1" spc="40" kern="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RECOVERY ABOVE PLAN</a:t>
            </a:r>
            <a:endParaRPr lang="en-US" sz="650" dirty="0"/>
          </a:p>
        </p:txBody>
      </p:sp>
      <p:sp>
        <p:nvSpPr>
          <p:cNvPr id="22" name="Text 20"/>
          <p:cNvSpPr/>
          <p:nvPr/>
        </p:nvSpPr>
        <p:spPr>
          <a:xfrm>
            <a:off x="5779008" y="3401568"/>
            <a:ext cx="191109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200" b="1" dirty="0">
                <a:solidFill>
                  <a:srgbClr val="D719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+€150K</a:t>
            </a:r>
            <a:endParaRPr lang="en-US" sz="2200" dirty="0"/>
          </a:p>
        </p:txBody>
      </p:sp>
      <p:sp>
        <p:nvSpPr>
          <p:cNvPr id="23" name="Text 21"/>
          <p:cNvSpPr/>
          <p:nvPr/>
        </p:nvSpPr>
        <p:spPr>
          <a:xfrm>
            <a:off x="5779008" y="3858768"/>
            <a:ext cx="1911096" cy="46634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74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Equivalent to +16.1% versus the existing Oct–Mar budget</a:t>
            </a:r>
            <a:endParaRPr lang="en-US" sz="740" dirty="0"/>
          </a:p>
        </p:txBody>
      </p:sp>
      <p:sp>
        <p:nvSpPr>
          <p:cNvPr id="24" name="Text 22"/>
          <p:cNvSpPr/>
          <p:nvPr/>
        </p:nvSpPr>
        <p:spPr>
          <a:xfrm>
            <a:off x="749808" y="4846320"/>
            <a:ext cx="7086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i="1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is a recovery requirement, not a forecast. It assumes the full-year target is held unchanged.</a:t>
            </a:r>
            <a:endParaRPr lang="en-US" sz="850" dirty="0"/>
          </a:p>
        </p:txBody>
      </p:sp>
      <p:sp>
        <p:nvSpPr>
          <p:cNvPr id="25" name="Text 23"/>
          <p:cNvSpPr/>
          <p:nvPr/>
        </p:nvSpPr>
        <p:spPr>
          <a:xfrm>
            <a:off x="8915400" y="1280160"/>
            <a:ext cx="257860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" b="1" dirty="0">
                <a:solidFill>
                  <a:srgbClr val="D719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TAKEAWAYS</a:t>
            </a:r>
            <a:endParaRPr lang="en-US" sz="650" dirty="0"/>
          </a:p>
        </p:txBody>
      </p:sp>
      <p:sp>
        <p:nvSpPr>
          <p:cNvPr id="26" name="Shape 24"/>
          <p:cNvSpPr/>
          <p:nvPr/>
        </p:nvSpPr>
        <p:spPr>
          <a:xfrm>
            <a:off x="8769096" y="1234440"/>
            <a:ext cx="0" cy="5138928"/>
          </a:xfrm>
          <a:prstGeom prst="line">
            <a:avLst/>
          </a:prstGeom>
          <a:noFill/>
          <a:ln w="12700">
            <a:solidFill>
              <a:srgbClr val="D0D0D0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8915400" y="1591056"/>
            <a:ext cx="146304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D719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9079992" y="1591056"/>
            <a:ext cx="2414016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82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remaining plan is materially harder than the first-half phasing: €181K/month is required versus a planned €156K/month.</a:t>
            </a:r>
            <a:endParaRPr lang="en-US" sz="820" dirty="0"/>
          </a:p>
        </p:txBody>
      </p:sp>
      <p:sp>
        <p:nvSpPr>
          <p:cNvPr id="29" name="Text 27"/>
          <p:cNvSpPr/>
          <p:nvPr/>
        </p:nvSpPr>
        <p:spPr>
          <a:xfrm>
            <a:off x="8915400" y="2322576"/>
            <a:ext cx="146304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D719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</a:t>
            </a:r>
            <a:endParaRPr lang="en-US" sz="900" dirty="0"/>
          </a:p>
        </p:txBody>
      </p:sp>
      <p:sp>
        <p:nvSpPr>
          <p:cNvPr id="30" name="Text 28"/>
          <p:cNvSpPr/>
          <p:nvPr/>
        </p:nvSpPr>
        <p:spPr>
          <a:xfrm>
            <a:off x="9079992" y="2322576"/>
            <a:ext cx="2414016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82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recovery discussion therefore needs both demand actions and execution actions; simply waiting for normal seasonality is not enough evidence.</a:t>
            </a:r>
            <a:endParaRPr lang="en-US" sz="820" dirty="0"/>
          </a:p>
        </p:txBody>
      </p:sp>
      <p:sp>
        <p:nvSpPr>
          <p:cNvPr id="31" name="Text 29"/>
          <p:cNvSpPr/>
          <p:nvPr/>
        </p:nvSpPr>
        <p:spPr>
          <a:xfrm>
            <a:off x="8915400" y="3054096"/>
            <a:ext cx="146304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D719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</a:t>
            </a:r>
            <a:endParaRPr lang="en-US" sz="900" dirty="0"/>
          </a:p>
        </p:txBody>
      </p:sp>
      <p:sp>
        <p:nvSpPr>
          <p:cNvPr id="32" name="Text 30"/>
          <p:cNvSpPr/>
          <p:nvPr/>
        </p:nvSpPr>
        <p:spPr>
          <a:xfrm>
            <a:off x="9079992" y="3054096"/>
            <a:ext cx="2414016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82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Sales to dealer is already showing stronger network demand, so the first question is whether I Motors can translate that movement into replenishment from ISZE.</a:t>
            </a:r>
            <a:endParaRPr lang="en-US" sz="820" dirty="0"/>
          </a:p>
        </p:txBody>
      </p:sp>
      <p:sp>
        <p:nvSpPr>
          <p:cNvPr id="33" name="Text 31"/>
          <p:cNvSpPr/>
          <p:nvPr/>
        </p:nvSpPr>
        <p:spPr>
          <a:xfrm>
            <a:off x="8915400" y="3785616"/>
            <a:ext cx="146304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D719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</a:t>
            </a:r>
            <a:endParaRPr lang="en-US" sz="900" dirty="0"/>
          </a:p>
        </p:txBody>
      </p:sp>
      <p:sp>
        <p:nvSpPr>
          <p:cNvPr id="34" name="Text 32"/>
          <p:cNvSpPr/>
          <p:nvPr/>
        </p:nvSpPr>
        <p:spPr>
          <a:xfrm>
            <a:off x="9079992" y="3785616"/>
            <a:ext cx="2414016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82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recovery plan should be built by category and dealer demand, not by applying a flat percentage uplift to every part family.</a:t>
            </a:r>
            <a:endParaRPr lang="en-US" sz="820" dirty="0"/>
          </a:p>
        </p:txBody>
      </p:sp>
      <p:sp>
        <p:nvSpPr>
          <p:cNvPr id="35" name="Text 33"/>
          <p:cNvSpPr/>
          <p:nvPr/>
        </p:nvSpPr>
        <p:spPr>
          <a:xfrm>
            <a:off x="1325880" y="6483096"/>
            <a:ext cx="978408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570" dirty="0">
                <a:solidFill>
                  <a:srgbClr val="7777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Source: supplied FY2027 sales plan; arithmetic from reported Apr–Sep sales and full-year target.</a:t>
            </a:r>
            <a:endParaRPr lang="en-US" sz="57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475720" y="6464808"/>
            <a:ext cx="457200" cy="13716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650">
                <a:solidFill>
                  <a:srgbClr val="777777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10896" y="182880"/>
            <a:ext cx="34747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60" b="1" spc="70" kern="0" dirty="0">
                <a:solidFill>
                  <a:srgbClr val="D719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SALES TO DEALER</a:t>
            </a:r>
            <a:endParaRPr lang="en-US" sz="660" dirty="0"/>
          </a:p>
        </p:txBody>
      </p:sp>
      <p:sp>
        <p:nvSpPr>
          <p:cNvPr id="3" name="Text 1"/>
          <p:cNvSpPr/>
          <p:nvPr/>
        </p:nvSpPr>
        <p:spPr>
          <a:xfrm>
            <a:off x="310896" y="420624"/>
            <a:ext cx="113842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800" b="1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Dealer-network sales are running ahead of last year, while ISZE billing is behind plan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310896" y="886968"/>
            <a:ext cx="11430000" cy="0"/>
          </a:xfrm>
          <a:prstGeom prst="line">
            <a:avLst/>
          </a:prstGeom>
          <a:noFill/>
          <a:ln w="15875">
            <a:solidFill>
              <a:srgbClr val="D7192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310896" y="923544"/>
            <a:ext cx="11292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3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 Motors reported sales to dealer | Comparable Apr–Aug periods</a:t>
            </a:r>
            <a:endParaRPr lang="en-US" sz="830" dirty="0"/>
          </a:p>
        </p:txBody>
      </p:sp>
      <p:sp>
        <p:nvSpPr>
          <p:cNvPr id="6" name="Shape 4"/>
          <p:cNvSpPr/>
          <p:nvPr/>
        </p:nvSpPr>
        <p:spPr>
          <a:xfrm>
            <a:off x="658368" y="5038344"/>
            <a:ext cx="7452360" cy="0"/>
          </a:xfrm>
          <a:prstGeom prst="line">
            <a:avLst/>
          </a:prstGeom>
          <a:noFill/>
          <a:ln w="7620">
            <a:solidFill>
              <a:srgbClr val="D9D9D9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219456" y="4965192"/>
            <a:ext cx="384048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630" dirty="0">
                <a:solidFill>
                  <a:srgbClr val="7777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€0K</a:t>
            </a:r>
            <a:endParaRPr lang="en-US" sz="630" dirty="0"/>
          </a:p>
        </p:txBody>
      </p:sp>
      <p:sp>
        <p:nvSpPr>
          <p:cNvPr id="8" name="Shape 6"/>
          <p:cNvSpPr/>
          <p:nvPr/>
        </p:nvSpPr>
        <p:spPr>
          <a:xfrm>
            <a:off x="658368" y="4398264"/>
            <a:ext cx="7452360" cy="0"/>
          </a:xfrm>
          <a:prstGeom prst="line">
            <a:avLst/>
          </a:prstGeom>
          <a:noFill/>
          <a:ln w="7620">
            <a:solidFill>
              <a:srgbClr val="D9D9D9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219456" y="4325112"/>
            <a:ext cx="384048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630" dirty="0">
                <a:solidFill>
                  <a:srgbClr val="7777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€100K</a:t>
            </a:r>
            <a:endParaRPr lang="en-US" sz="630" dirty="0"/>
          </a:p>
        </p:txBody>
      </p:sp>
      <p:sp>
        <p:nvSpPr>
          <p:cNvPr id="10" name="Shape 8"/>
          <p:cNvSpPr/>
          <p:nvPr/>
        </p:nvSpPr>
        <p:spPr>
          <a:xfrm>
            <a:off x="658368" y="3758184"/>
            <a:ext cx="7452360" cy="0"/>
          </a:xfrm>
          <a:prstGeom prst="line">
            <a:avLst/>
          </a:prstGeom>
          <a:noFill/>
          <a:ln w="7620">
            <a:solidFill>
              <a:srgbClr val="D9D9D9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219456" y="3685032"/>
            <a:ext cx="384048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630" dirty="0">
                <a:solidFill>
                  <a:srgbClr val="7777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€200K</a:t>
            </a:r>
            <a:endParaRPr lang="en-US" sz="630" dirty="0"/>
          </a:p>
        </p:txBody>
      </p:sp>
      <p:sp>
        <p:nvSpPr>
          <p:cNvPr id="12" name="Shape 10"/>
          <p:cNvSpPr/>
          <p:nvPr/>
        </p:nvSpPr>
        <p:spPr>
          <a:xfrm>
            <a:off x="658368" y="3118104"/>
            <a:ext cx="7452360" cy="0"/>
          </a:xfrm>
          <a:prstGeom prst="line">
            <a:avLst/>
          </a:prstGeom>
          <a:noFill/>
          <a:ln w="7620">
            <a:solidFill>
              <a:srgbClr val="D9D9D9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219456" y="3044952"/>
            <a:ext cx="384048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630" dirty="0">
                <a:solidFill>
                  <a:srgbClr val="7777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€300K</a:t>
            </a:r>
            <a:endParaRPr lang="en-US" sz="630" dirty="0"/>
          </a:p>
        </p:txBody>
      </p:sp>
      <p:sp>
        <p:nvSpPr>
          <p:cNvPr id="14" name="Shape 12"/>
          <p:cNvSpPr/>
          <p:nvPr/>
        </p:nvSpPr>
        <p:spPr>
          <a:xfrm>
            <a:off x="658368" y="2478024"/>
            <a:ext cx="7452360" cy="0"/>
          </a:xfrm>
          <a:prstGeom prst="line">
            <a:avLst/>
          </a:prstGeom>
          <a:noFill/>
          <a:ln w="7620">
            <a:solidFill>
              <a:srgbClr val="D9D9D9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219456" y="2404872"/>
            <a:ext cx="384048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630" dirty="0">
                <a:solidFill>
                  <a:srgbClr val="7777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€400K</a:t>
            </a:r>
            <a:endParaRPr lang="en-US" sz="630" dirty="0"/>
          </a:p>
        </p:txBody>
      </p:sp>
      <p:sp>
        <p:nvSpPr>
          <p:cNvPr id="16" name="Shape 14"/>
          <p:cNvSpPr/>
          <p:nvPr/>
        </p:nvSpPr>
        <p:spPr>
          <a:xfrm>
            <a:off x="658368" y="1837944"/>
            <a:ext cx="7452360" cy="0"/>
          </a:xfrm>
          <a:prstGeom prst="line">
            <a:avLst/>
          </a:prstGeom>
          <a:noFill/>
          <a:ln w="7620">
            <a:solidFill>
              <a:srgbClr val="D9D9D9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219456" y="1764792"/>
            <a:ext cx="384048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630" dirty="0">
                <a:solidFill>
                  <a:srgbClr val="7777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€500K</a:t>
            </a:r>
            <a:endParaRPr lang="en-US" sz="630" dirty="0"/>
          </a:p>
        </p:txBody>
      </p:sp>
      <p:sp>
        <p:nvSpPr>
          <p:cNvPr id="18" name="Shape 16"/>
          <p:cNvSpPr/>
          <p:nvPr/>
        </p:nvSpPr>
        <p:spPr>
          <a:xfrm>
            <a:off x="1101852" y="3118104"/>
            <a:ext cx="274320" cy="1920240"/>
          </a:xfrm>
          <a:prstGeom prst="rect">
            <a:avLst/>
          </a:prstGeom>
          <a:solidFill>
            <a:srgbClr val="222222"/>
          </a:solidFill>
          <a:ln w="12700">
            <a:solidFill>
              <a:srgbClr val="222222">
                <a:alpha val="0"/>
              </a:srgbClr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964692" y="2944368"/>
            <a:ext cx="54864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630" b="1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300</a:t>
            </a:r>
            <a:endParaRPr lang="en-US" sz="630" dirty="0"/>
          </a:p>
        </p:txBody>
      </p:sp>
      <p:sp>
        <p:nvSpPr>
          <p:cNvPr id="20" name="Shape 18"/>
          <p:cNvSpPr/>
          <p:nvPr/>
        </p:nvSpPr>
        <p:spPr>
          <a:xfrm>
            <a:off x="1431036" y="3137306"/>
            <a:ext cx="274320" cy="1901038"/>
          </a:xfrm>
          <a:prstGeom prst="rect">
            <a:avLst/>
          </a:prstGeom>
          <a:solidFill>
            <a:srgbClr val="D71920"/>
          </a:solidFill>
          <a:ln w="12700">
            <a:solidFill>
              <a:srgbClr val="D71920">
                <a:alpha val="0"/>
              </a:srgbClr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1293876" y="2963570"/>
            <a:ext cx="54864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630" b="1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297</a:t>
            </a:r>
            <a:endParaRPr lang="en-US" sz="630" dirty="0"/>
          </a:p>
        </p:txBody>
      </p:sp>
      <p:sp>
        <p:nvSpPr>
          <p:cNvPr id="22" name="Text 20"/>
          <p:cNvSpPr/>
          <p:nvPr/>
        </p:nvSpPr>
        <p:spPr>
          <a:xfrm>
            <a:off x="658368" y="5129784"/>
            <a:ext cx="149047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63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Apr</a:t>
            </a:r>
            <a:endParaRPr lang="en-US" sz="630" dirty="0"/>
          </a:p>
        </p:txBody>
      </p:sp>
      <p:sp>
        <p:nvSpPr>
          <p:cNvPr id="23" name="Shape 21"/>
          <p:cNvSpPr/>
          <p:nvPr/>
        </p:nvSpPr>
        <p:spPr>
          <a:xfrm>
            <a:off x="2592324" y="3150108"/>
            <a:ext cx="274320" cy="1888236"/>
          </a:xfrm>
          <a:prstGeom prst="rect">
            <a:avLst/>
          </a:prstGeom>
          <a:solidFill>
            <a:srgbClr val="222222"/>
          </a:solidFill>
          <a:ln w="12700">
            <a:solidFill>
              <a:srgbClr val="222222">
                <a:alpha val="0"/>
              </a:srgbClr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2455164" y="2976372"/>
            <a:ext cx="54864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630" b="1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295</a:t>
            </a:r>
            <a:endParaRPr lang="en-US" sz="630" dirty="0"/>
          </a:p>
        </p:txBody>
      </p:sp>
      <p:sp>
        <p:nvSpPr>
          <p:cNvPr id="25" name="Shape 23"/>
          <p:cNvSpPr/>
          <p:nvPr/>
        </p:nvSpPr>
        <p:spPr>
          <a:xfrm>
            <a:off x="2921508" y="1901952"/>
            <a:ext cx="274320" cy="3136392"/>
          </a:xfrm>
          <a:prstGeom prst="rect">
            <a:avLst/>
          </a:prstGeom>
          <a:solidFill>
            <a:srgbClr val="D71920"/>
          </a:solidFill>
          <a:ln w="12700">
            <a:solidFill>
              <a:srgbClr val="D71920">
                <a:alpha val="0"/>
              </a:srgbClr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2784348" y="1728216"/>
            <a:ext cx="54864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630" b="1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490</a:t>
            </a:r>
            <a:endParaRPr lang="en-US" sz="630" dirty="0"/>
          </a:p>
        </p:txBody>
      </p:sp>
      <p:sp>
        <p:nvSpPr>
          <p:cNvPr id="27" name="Text 25"/>
          <p:cNvSpPr/>
          <p:nvPr/>
        </p:nvSpPr>
        <p:spPr>
          <a:xfrm>
            <a:off x="2148840" y="5129784"/>
            <a:ext cx="149047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63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May</a:t>
            </a:r>
            <a:endParaRPr lang="en-US" sz="630" dirty="0"/>
          </a:p>
        </p:txBody>
      </p:sp>
      <p:sp>
        <p:nvSpPr>
          <p:cNvPr id="28" name="Shape 26"/>
          <p:cNvSpPr/>
          <p:nvPr/>
        </p:nvSpPr>
        <p:spPr>
          <a:xfrm>
            <a:off x="4082796" y="3124505"/>
            <a:ext cx="274320" cy="1913839"/>
          </a:xfrm>
          <a:prstGeom prst="rect">
            <a:avLst/>
          </a:prstGeom>
          <a:solidFill>
            <a:srgbClr val="222222"/>
          </a:solidFill>
          <a:ln w="12700">
            <a:solidFill>
              <a:srgbClr val="222222">
                <a:alpha val="0"/>
              </a:srgbClr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3945636" y="2950769"/>
            <a:ext cx="54864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630" b="1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299</a:t>
            </a:r>
            <a:endParaRPr lang="en-US" sz="630" dirty="0"/>
          </a:p>
        </p:txBody>
      </p:sp>
      <p:sp>
        <p:nvSpPr>
          <p:cNvPr id="30" name="Shape 28"/>
          <p:cNvSpPr/>
          <p:nvPr/>
        </p:nvSpPr>
        <p:spPr>
          <a:xfrm>
            <a:off x="4411980" y="2606040"/>
            <a:ext cx="274320" cy="2432304"/>
          </a:xfrm>
          <a:prstGeom prst="rect">
            <a:avLst/>
          </a:prstGeom>
          <a:solidFill>
            <a:srgbClr val="D71920"/>
          </a:solidFill>
          <a:ln w="12700">
            <a:solidFill>
              <a:srgbClr val="D71920">
                <a:alpha val="0"/>
              </a:srgbClr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4274820" y="2432304"/>
            <a:ext cx="54864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630" b="1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380</a:t>
            </a:r>
            <a:endParaRPr lang="en-US" sz="630" dirty="0"/>
          </a:p>
        </p:txBody>
      </p:sp>
      <p:sp>
        <p:nvSpPr>
          <p:cNvPr id="32" name="Text 30"/>
          <p:cNvSpPr/>
          <p:nvPr/>
        </p:nvSpPr>
        <p:spPr>
          <a:xfrm>
            <a:off x="3639312" y="5129784"/>
            <a:ext cx="149047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63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Jun</a:t>
            </a:r>
            <a:endParaRPr lang="en-US" sz="630" dirty="0"/>
          </a:p>
        </p:txBody>
      </p:sp>
      <p:sp>
        <p:nvSpPr>
          <p:cNvPr id="33" name="Shape 31"/>
          <p:cNvSpPr/>
          <p:nvPr/>
        </p:nvSpPr>
        <p:spPr>
          <a:xfrm>
            <a:off x="5573268" y="3066898"/>
            <a:ext cx="274320" cy="1971446"/>
          </a:xfrm>
          <a:prstGeom prst="rect">
            <a:avLst/>
          </a:prstGeom>
          <a:solidFill>
            <a:srgbClr val="222222"/>
          </a:solidFill>
          <a:ln w="12700">
            <a:solidFill>
              <a:srgbClr val="222222">
                <a:alpha val="0"/>
              </a:srgbClr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5436108" y="2893162"/>
            <a:ext cx="54864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630" b="1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308</a:t>
            </a:r>
            <a:endParaRPr lang="en-US" sz="630" dirty="0"/>
          </a:p>
        </p:txBody>
      </p:sp>
      <p:sp>
        <p:nvSpPr>
          <p:cNvPr id="35" name="Shape 33"/>
          <p:cNvSpPr/>
          <p:nvPr/>
        </p:nvSpPr>
        <p:spPr>
          <a:xfrm>
            <a:off x="5902452" y="2522830"/>
            <a:ext cx="274320" cy="2515514"/>
          </a:xfrm>
          <a:prstGeom prst="rect">
            <a:avLst/>
          </a:prstGeom>
          <a:solidFill>
            <a:srgbClr val="D71920"/>
          </a:solidFill>
          <a:ln w="12700">
            <a:solidFill>
              <a:srgbClr val="D71920">
                <a:alpha val="0"/>
              </a:srgbClr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5765292" y="2349094"/>
            <a:ext cx="54864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630" b="1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393</a:t>
            </a:r>
            <a:endParaRPr lang="en-US" sz="630" dirty="0"/>
          </a:p>
        </p:txBody>
      </p:sp>
      <p:sp>
        <p:nvSpPr>
          <p:cNvPr id="37" name="Text 35"/>
          <p:cNvSpPr/>
          <p:nvPr/>
        </p:nvSpPr>
        <p:spPr>
          <a:xfrm>
            <a:off x="5129784" y="5129784"/>
            <a:ext cx="149047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63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Jul</a:t>
            </a:r>
            <a:endParaRPr lang="en-US" sz="630" dirty="0"/>
          </a:p>
        </p:txBody>
      </p:sp>
      <p:sp>
        <p:nvSpPr>
          <p:cNvPr id="38" name="Shape 36"/>
          <p:cNvSpPr/>
          <p:nvPr/>
        </p:nvSpPr>
        <p:spPr>
          <a:xfrm>
            <a:off x="7063740" y="3188513"/>
            <a:ext cx="274320" cy="1849831"/>
          </a:xfrm>
          <a:prstGeom prst="rect">
            <a:avLst/>
          </a:prstGeom>
          <a:solidFill>
            <a:srgbClr val="222222"/>
          </a:solidFill>
          <a:ln w="12700">
            <a:solidFill>
              <a:srgbClr val="222222">
                <a:alpha val="0"/>
              </a:srgbClr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6926580" y="3014777"/>
            <a:ext cx="54864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630" b="1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289</a:t>
            </a:r>
            <a:endParaRPr lang="en-US" sz="630" dirty="0"/>
          </a:p>
        </p:txBody>
      </p:sp>
      <p:sp>
        <p:nvSpPr>
          <p:cNvPr id="40" name="Shape 38"/>
          <p:cNvSpPr/>
          <p:nvPr/>
        </p:nvSpPr>
        <p:spPr>
          <a:xfrm>
            <a:off x="7392924" y="3092501"/>
            <a:ext cx="274320" cy="1945843"/>
          </a:xfrm>
          <a:prstGeom prst="rect">
            <a:avLst/>
          </a:prstGeom>
          <a:solidFill>
            <a:srgbClr val="D71920"/>
          </a:solidFill>
          <a:ln w="12700">
            <a:solidFill>
              <a:srgbClr val="D71920">
                <a:alpha val="0"/>
              </a:srgbClr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7255764" y="2918765"/>
            <a:ext cx="54864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630" b="1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304</a:t>
            </a:r>
            <a:endParaRPr lang="en-US" sz="630" dirty="0"/>
          </a:p>
        </p:txBody>
      </p:sp>
      <p:sp>
        <p:nvSpPr>
          <p:cNvPr id="42" name="Text 40"/>
          <p:cNvSpPr/>
          <p:nvPr/>
        </p:nvSpPr>
        <p:spPr>
          <a:xfrm>
            <a:off x="6620256" y="5129784"/>
            <a:ext cx="149047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63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Aug</a:t>
            </a:r>
            <a:endParaRPr lang="en-US" sz="630" dirty="0"/>
          </a:p>
        </p:txBody>
      </p:sp>
      <p:sp>
        <p:nvSpPr>
          <p:cNvPr id="43" name="Shape 41"/>
          <p:cNvSpPr/>
          <p:nvPr/>
        </p:nvSpPr>
        <p:spPr>
          <a:xfrm>
            <a:off x="658368" y="5458968"/>
            <a:ext cx="109728" cy="73152"/>
          </a:xfrm>
          <a:prstGeom prst="rect">
            <a:avLst/>
          </a:prstGeom>
          <a:solidFill>
            <a:srgbClr val="222222"/>
          </a:solidFill>
          <a:ln w="12700">
            <a:solidFill>
              <a:srgbClr val="222222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813816" y="5431536"/>
            <a:ext cx="105156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2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2025</a:t>
            </a:r>
            <a:endParaRPr lang="en-US" sz="620" dirty="0"/>
          </a:p>
        </p:txBody>
      </p:sp>
      <p:sp>
        <p:nvSpPr>
          <p:cNvPr id="45" name="Shape 43"/>
          <p:cNvSpPr/>
          <p:nvPr/>
        </p:nvSpPr>
        <p:spPr>
          <a:xfrm>
            <a:off x="1938528" y="5458968"/>
            <a:ext cx="109728" cy="73152"/>
          </a:xfrm>
          <a:prstGeom prst="rect">
            <a:avLst/>
          </a:prstGeom>
          <a:solidFill>
            <a:srgbClr val="D71920"/>
          </a:solidFill>
          <a:ln w="12700">
            <a:solidFill>
              <a:srgbClr val="D71920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2093976" y="5431536"/>
            <a:ext cx="105156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2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</a:t>
            </a:r>
            <a:endParaRPr lang="en-US" sz="620" dirty="0"/>
          </a:p>
        </p:txBody>
      </p:sp>
      <p:sp>
        <p:nvSpPr>
          <p:cNvPr id="47" name="Shape 45"/>
          <p:cNvSpPr/>
          <p:nvPr/>
        </p:nvSpPr>
        <p:spPr>
          <a:xfrm>
            <a:off x="731520" y="5422392"/>
            <a:ext cx="2148840" cy="713232"/>
          </a:xfrm>
          <a:prstGeom prst="rect">
            <a:avLst/>
          </a:prstGeom>
          <a:solidFill>
            <a:srgbClr val="FFFFFF"/>
          </a:solidFill>
          <a:ln w="8890">
            <a:solidFill>
              <a:srgbClr val="D9D9D9"/>
            </a:solidFill>
            <a:prstDash val="solid"/>
          </a:ln>
          <a:effectLst>
            <a:outerShdw sx="100000" sy="100000" kx="0" ky="0" algn="bl" rotWithShape="0" blurRad="13970" dist="5080" dir="2700000">
              <a:srgbClr val="000000">
                <a:alpha val="10000"/>
              </a:srgbClr>
            </a:outerShdw>
          </a:effectLst>
        </p:spPr>
      </p:sp>
      <p:sp>
        <p:nvSpPr>
          <p:cNvPr id="48" name="Text 46"/>
          <p:cNvSpPr/>
          <p:nvPr/>
        </p:nvSpPr>
        <p:spPr>
          <a:xfrm>
            <a:off x="896112" y="5568696"/>
            <a:ext cx="181965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" b="1" spc="40" kern="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APR–AUG 2025</a:t>
            </a:r>
            <a:endParaRPr lang="en-US" sz="650" dirty="0"/>
          </a:p>
        </p:txBody>
      </p:sp>
      <p:sp>
        <p:nvSpPr>
          <p:cNvPr id="49" name="Text 47"/>
          <p:cNvSpPr/>
          <p:nvPr/>
        </p:nvSpPr>
        <p:spPr>
          <a:xfrm>
            <a:off x="896112" y="5788152"/>
            <a:ext cx="181965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200" b="1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€1.491M</a:t>
            </a:r>
            <a:endParaRPr lang="en-US" sz="2200" dirty="0"/>
          </a:p>
        </p:txBody>
      </p:sp>
      <p:sp>
        <p:nvSpPr>
          <p:cNvPr id="50" name="Text 48"/>
          <p:cNvSpPr/>
          <p:nvPr/>
        </p:nvSpPr>
        <p:spPr>
          <a:xfrm>
            <a:off x="896112" y="6245352"/>
            <a:ext cx="1819656" cy="-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74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Reported sales to dealer</a:t>
            </a:r>
            <a:endParaRPr lang="en-US" sz="740" dirty="0"/>
          </a:p>
        </p:txBody>
      </p:sp>
      <p:sp>
        <p:nvSpPr>
          <p:cNvPr id="51" name="Shape 49"/>
          <p:cNvSpPr/>
          <p:nvPr/>
        </p:nvSpPr>
        <p:spPr>
          <a:xfrm>
            <a:off x="3090672" y="5422392"/>
            <a:ext cx="2148840" cy="713232"/>
          </a:xfrm>
          <a:prstGeom prst="rect">
            <a:avLst/>
          </a:prstGeom>
          <a:solidFill>
            <a:srgbClr val="FFFFFF"/>
          </a:solidFill>
          <a:ln w="8890">
            <a:solidFill>
              <a:srgbClr val="D9D9D9"/>
            </a:solidFill>
            <a:prstDash val="solid"/>
          </a:ln>
          <a:effectLst>
            <a:outerShdw sx="100000" sy="100000" kx="0" ky="0" algn="bl" rotWithShape="0" blurRad="13970" dist="5080" dir="2700000">
              <a:srgbClr val="000000">
                <a:alpha val="10000"/>
              </a:srgbClr>
            </a:outerShdw>
          </a:effectLst>
        </p:spPr>
      </p:sp>
      <p:sp>
        <p:nvSpPr>
          <p:cNvPr id="52" name="Text 50"/>
          <p:cNvSpPr/>
          <p:nvPr/>
        </p:nvSpPr>
        <p:spPr>
          <a:xfrm>
            <a:off x="3255264" y="5568696"/>
            <a:ext cx="181965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" b="1" spc="40" kern="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APR–AUG 2026</a:t>
            </a:r>
            <a:endParaRPr lang="en-US" sz="650" dirty="0"/>
          </a:p>
        </p:txBody>
      </p:sp>
      <p:sp>
        <p:nvSpPr>
          <p:cNvPr id="53" name="Text 51"/>
          <p:cNvSpPr/>
          <p:nvPr/>
        </p:nvSpPr>
        <p:spPr>
          <a:xfrm>
            <a:off x="3255264" y="5788152"/>
            <a:ext cx="181965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200" b="1" dirty="0">
                <a:solidFill>
                  <a:srgbClr val="55A8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€1.864M</a:t>
            </a:r>
            <a:endParaRPr lang="en-US" sz="2200" dirty="0"/>
          </a:p>
        </p:txBody>
      </p:sp>
      <p:sp>
        <p:nvSpPr>
          <p:cNvPr id="54" name="Text 52"/>
          <p:cNvSpPr/>
          <p:nvPr/>
        </p:nvSpPr>
        <p:spPr>
          <a:xfrm>
            <a:off x="3255264" y="6245352"/>
            <a:ext cx="1819656" cy="-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74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+25.0% vs comparable period</a:t>
            </a:r>
            <a:endParaRPr lang="en-US" sz="740" dirty="0"/>
          </a:p>
        </p:txBody>
      </p:sp>
      <p:sp>
        <p:nvSpPr>
          <p:cNvPr id="55" name="Shape 53"/>
          <p:cNvSpPr/>
          <p:nvPr/>
        </p:nvSpPr>
        <p:spPr>
          <a:xfrm>
            <a:off x="5449824" y="5422392"/>
            <a:ext cx="2148840" cy="713232"/>
          </a:xfrm>
          <a:prstGeom prst="rect">
            <a:avLst/>
          </a:prstGeom>
          <a:solidFill>
            <a:srgbClr val="FFFFFF"/>
          </a:solidFill>
          <a:ln w="8890">
            <a:solidFill>
              <a:srgbClr val="D9D9D9"/>
            </a:solidFill>
            <a:prstDash val="solid"/>
          </a:ln>
          <a:effectLst>
            <a:outerShdw sx="100000" sy="100000" kx="0" ky="0" algn="bl" rotWithShape="0" blurRad="13970" dist="5080" dir="2700000">
              <a:srgbClr val="000000">
                <a:alpha val="10000"/>
              </a:srgbClr>
            </a:outerShdw>
          </a:effectLst>
        </p:spPr>
      </p:sp>
      <p:sp>
        <p:nvSpPr>
          <p:cNvPr id="56" name="Text 54"/>
          <p:cNvSpPr/>
          <p:nvPr/>
        </p:nvSpPr>
        <p:spPr>
          <a:xfrm>
            <a:off x="5614416" y="5568696"/>
            <a:ext cx="181965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" b="1" spc="40" kern="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LARGEST MONTH</a:t>
            </a:r>
            <a:endParaRPr lang="en-US" sz="650" dirty="0"/>
          </a:p>
        </p:txBody>
      </p:sp>
      <p:sp>
        <p:nvSpPr>
          <p:cNvPr id="57" name="Text 55"/>
          <p:cNvSpPr/>
          <p:nvPr/>
        </p:nvSpPr>
        <p:spPr>
          <a:xfrm>
            <a:off x="5614416" y="5788152"/>
            <a:ext cx="181965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200" b="1" dirty="0">
                <a:solidFill>
                  <a:srgbClr val="D719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€490K</a:t>
            </a:r>
            <a:endParaRPr lang="en-US" sz="2200" dirty="0"/>
          </a:p>
        </p:txBody>
      </p:sp>
      <p:sp>
        <p:nvSpPr>
          <p:cNvPr id="58" name="Text 56"/>
          <p:cNvSpPr/>
          <p:nvPr/>
        </p:nvSpPr>
        <p:spPr>
          <a:xfrm>
            <a:off x="5614416" y="6245352"/>
            <a:ext cx="1819656" cy="-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74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May 2026</a:t>
            </a:r>
            <a:endParaRPr lang="en-US" sz="740" dirty="0"/>
          </a:p>
        </p:txBody>
      </p:sp>
      <p:sp>
        <p:nvSpPr>
          <p:cNvPr id="59" name="Text 57"/>
          <p:cNvSpPr/>
          <p:nvPr/>
        </p:nvSpPr>
        <p:spPr>
          <a:xfrm>
            <a:off x="8915400" y="1280160"/>
            <a:ext cx="257860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" b="1" dirty="0">
                <a:solidFill>
                  <a:srgbClr val="D719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TAKEAWAYS</a:t>
            </a:r>
            <a:endParaRPr lang="en-US" sz="650" dirty="0"/>
          </a:p>
        </p:txBody>
      </p:sp>
      <p:sp>
        <p:nvSpPr>
          <p:cNvPr id="60" name="Shape 58"/>
          <p:cNvSpPr/>
          <p:nvPr/>
        </p:nvSpPr>
        <p:spPr>
          <a:xfrm>
            <a:off x="8769096" y="1234440"/>
            <a:ext cx="0" cy="5138928"/>
          </a:xfrm>
          <a:prstGeom prst="line">
            <a:avLst/>
          </a:prstGeom>
          <a:noFill/>
          <a:ln w="12700">
            <a:solidFill>
              <a:srgbClr val="D0D0D0"/>
            </a:solidFill>
            <a:prstDash val="solid"/>
          </a:ln>
        </p:spPr>
      </p:sp>
      <p:sp>
        <p:nvSpPr>
          <p:cNvPr id="61" name="Text 59"/>
          <p:cNvSpPr/>
          <p:nvPr/>
        </p:nvSpPr>
        <p:spPr>
          <a:xfrm>
            <a:off x="8915400" y="1591056"/>
            <a:ext cx="146304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D719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</a:t>
            </a:r>
            <a:endParaRPr lang="en-US" sz="900" dirty="0"/>
          </a:p>
        </p:txBody>
      </p:sp>
      <p:sp>
        <p:nvSpPr>
          <p:cNvPr id="62" name="Text 60"/>
          <p:cNvSpPr/>
          <p:nvPr/>
        </p:nvSpPr>
        <p:spPr>
          <a:xfrm>
            <a:off x="9079992" y="1591056"/>
            <a:ext cx="2414016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82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Sales to dealer rose by €372K on the comparable five-month period, despite ISZE sales to I Motors being below FY27 plan.</a:t>
            </a:r>
            <a:endParaRPr lang="en-US" sz="820" dirty="0"/>
          </a:p>
        </p:txBody>
      </p:sp>
      <p:sp>
        <p:nvSpPr>
          <p:cNvPr id="63" name="Text 61"/>
          <p:cNvSpPr/>
          <p:nvPr/>
        </p:nvSpPr>
        <p:spPr>
          <a:xfrm>
            <a:off x="8915400" y="2322576"/>
            <a:ext cx="146304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D719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</a:t>
            </a:r>
            <a:endParaRPr lang="en-US" sz="900" dirty="0"/>
          </a:p>
        </p:txBody>
      </p:sp>
      <p:sp>
        <p:nvSpPr>
          <p:cNvPr id="64" name="Text 62"/>
          <p:cNvSpPr/>
          <p:nvPr/>
        </p:nvSpPr>
        <p:spPr>
          <a:xfrm>
            <a:off x="9079992" y="2322576"/>
            <a:ext cx="2414016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82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is the most important disconnect in the review: distributor-to-dealer demand is stronger than the distributor’s replenishment from ISZE.</a:t>
            </a:r>
            <a:endParaRPr lang="en-US" sz="820" dirty="0"/>
          </a:p>
        </p:txBody>
      </p:sp>
      <p:sp>
        <p:nvSpPr>
          <p:cNvPr id="65" name="Text 63"/>
          <p:cNvSpPr/>
          <p:nvPr/>
        </p:nvSpPr>
        <p:spPr>
          <a:xfrm>
            <a:off x="8915400" y="3054096"/>
            <a:ext cx="146304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D719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</a:t>
            </a:r>
            <a:endParaRPr lang="en-US" sz="900" dirty="0"/>
          </a:p>
        </p:txBody>
      </p:sp>
      <p:sp>
        <p:nvSpPr>
          <p:cNvPr id="66" name="Text 64"/>
          <p:cNvSpPr/>
          <p:nvPr/>
        </p:nvSpPr>
        <p:spPr>
          <a:xfrm>
            <a:off x="9079992" y="3054096"/>
            <a:ext cx="2414016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82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 not read the two euro levels as like-for-like margin: they are different sales stages and pricing bases.</a:t>
            </a:r>
            <a:endParaRPr lang="en-US" sz="820" dirty="0"/>
          </a:p>
        </p:txBody>
      </p:sp>
      <p:sp>
        <p:nvSpPr>
          <p:cNvPr id="67" name="Text 65"/>
          <p:cNvSpPr/>
          <p:nvPr/>
        </p:nvSpPr>
        <p:spPr>
          <a:xfrm>
            <a:off x="8915400" y="3785616"/>
            <a:ext cx="146304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D719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</a:t>
            </a:r>
            <a:endParaRPr lang="en-US" sz="900" dirty="0"/>
          </a:p>
        </p:txBody>
      </p:sp>
      <p:sp>
        <p:nvSpPr>
          <p:cNvPr id="68" name="Text 66"/>
          <p:cNvSpPr/>
          <p:nvPr/>
        </p:nvSpPr>
        <p:spPr>
          <a:xfrm>
            <a:off x="9079992" y="3785616"/>
            <a:ext cx="2414016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82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next cut should identify which product families and dealers drove the May–July 2026 step-up, then test whether I Motors stock and replenishment followed.</a:t>
            </a:r>
            <a:endParaRPr lang="en-US" sz="820" dirty="0"/>
          </a:p>
        </p:txBody>
      </p:sp>
      <p:sp>
        <p:nvSpPr>
          <p:cNvPr id="69" name="Text 67"/>
          <p:cNvSpPr/>
          <p:nvPr/>
        </p:nvSpPr>
        <p:spPr>
          <a:xfrm>
            <a:off x="1325880" y="6483096"/>
            <a:ext cx="978408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570" dirty="0">
                <a:solidFill>
                  <a:srgbClr val="7777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Source: KPI Master File.xlsx, Parts Handling – Parts Sales DB to DLR in EUR; latest reported month Aug 2026.</a:t>
            </a:r>
            <a:endParaRPr lang="en-US" sz="57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475720" y="6464808"/>
            <a:ext cx="457200" cy="13716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650">
                <a:solidFill>
                  <a:srgbClr val="777777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10896" y="182880"/>
            <a:ext cx="34747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60" b="1" spc="70" kern="0" dirty="0">
                <a:solidFill>
                  <a:srgbClr val="D719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FILL RATE</a:t>
            </a:r>
            <a:endParaRPr lang="en-US" sz="660" dirty="0"/>
          </a:p>
        </p:txBody>
      </p:sp>
      <p:sp>
        <p:nvSpPr>
          <p:cNvPr id="3" name="Text 1"/>
          <p:cNvSpPr/>
          <p:nvPr/>
        </p:nvSpPr>
        <p:spPr>
          <a:xfrm>
            <a:off x="310896" y="420624"/>
            <a:ext cx="113842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800" b="1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Individual fill rate remains materially below the 95% target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310896" y="886968"/>
            <a:ext cx="11430000" cy="0"/>
          </a:xfrm>
          <a:prstGeom prst="line">
            <a:avLst/>
          </a:prstGeom>
          <a:noFill/>
          <a:ln w="15875">
            <a:solidFill>
              <a:srgbClr val="D7192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310896" y="923544"/>
            <a:ext cx="11292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3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Supplied I Motors KPI chart | latest point 87%</a:t>
            </a:r>
            <a:endParaRPr lang="en-US" sz="830" dirty="0"/>
          </a:p>
        </p:txBody>
      </p:sp>
      <p:sp>
        <p:nvSpPr>
          <p:cNvPr id="6" name="Shape 4"/>
          <p:cNvSpPr/>
          <p:nvPr/>
        </p:nvSpPr>
        <p:spPr>
          <a:xfrm>
            <a:off x="749808" y="5184648"/>
            <a:ext cx="7406640" cy="0"/>
          </a:xfrm>
          <a:prstGeom prst="line">
            <a:avLst/>
          </a:prstGeom>
          <a:noFill/>
          <a:ln w="7620">
            <a:solidFill>
              <a:srgbClr val="D9D9D9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10896" y="5111496"/>
            <a:ext cx="384048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630" dirty="0">
                <a:solidFill>
                  <a:srgbClr val="7777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80%</a:t>
            </a:r>
            <a:endParaRPr lang="en-US" sz="630" dirty="0"/>
          </a:p>
        </p:txBody>
      </p:sp>
      <p:sp>
        <p:nvSpPr>
          <p:cNvPr id="8" name="Shape 6"/>
          <p:cNvSpPr/>
          <p:nvPr/>
        </p:nvSpPr>
        <p:spPr>
          <a:xfrm>
            <a:off x="749808" y="4281678"/>
            <a:ext cx="7406640" cy="0"/>
          </a:xfrm>
          <a:prstGeom prst="line">
            <a:avLst/>
          </a:prstGeom>
          <a:noFill/>
          <a:ln w="7620">
            <a:solidFill>
              <a:srgbClr val="D9D9D9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10896" y="4208526"/>
            <a:ext cx="384048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630" dirty="0">
                <a:solidFill>
                  <a:srgbClr val="7777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85%</a:t>
            </a:r>
            <a:endParaRPr lang="en-US" sz="630" dirty="0"/>
          </a:p>
        </p:txBody>
      </p:sp>
      <p:sp>
        <p:nvSpPr>
          <p:cNvPr id="10" name="Shape 8"/>
          <p:cNvSpPr/>
          <p:nvPr/>
        </p:nvSpPr>
        <p:spPr>
          <a:xfrm>
            <a:off x="749808" y="3378708"/>
            <a:ext cx="7406640" cy="0"/>
          </a:xfrm>
          <a:prstGeom prst="line">
            <a:avLst/>
          </a:prstGeom>
          <a:noFill/>
          <a:ln w="7620">
            <a:solidFill>
              <a:srgbClr val="D9D9D9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10896" y="3305556"/>
            <a:ext cx="384048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630" dirty="0">
                <a:solidFill>
                  <a:srgbClr val="7777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90%</a:t>
            </a:r>
            <a:endParaRPr lang="en-US" sz="630" dirty="0"/>
          </a:p>
        </p:txBody>
      </p:sp>
      <p:sp>
        <p:nvSpPr>
          <p:cNvPr id="12" name="Shape 10"/>
          <p:cNvSpPr/>
          <p:nvPr/>
        </p:nvSpPr>
        <p:spPr>
          <a:xfrm>
            <a:off x="749808" y="2475738"/>
            <a:ext cx="7406640" cy="0"/>
          </a:xfrm>
          <a:prstGeom prst="line">
            <a:avLst/>
          </a:prstGeom>
          <a:noFill/>
          <a:ln w="7620">
            <a:solidFill>
              <a:srgbClr val="D9D9D9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10896" y="2402586"/>
            <a:ext cx="384048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630" dirty="0">
                <a:solidFill>
                  <a:srgbClr val="7777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95%</a:t>
            </a:r>
            <a:endParaRPr lang="en-US" sz="630" dirty="0"/>
          </a:p>
        </p:txBody>
      </p:sp>
      <p:sp>
        <p:nvSpPr>
          <p:cNvPr id="14" name="Shape 12"/>
          <p:cNvSpPr/>
          <p:nvPr/>
        </p:nvSpPr>
        <p:spPr>
          <a:xfrm>
            <a:off x="749808" y="1572768"/>
            <a:ext cx="7406640" cy="0"/>
          </a:xfrm>
          <a:prstGeom prst="line">
            <a:avLst/>
          </a:prstGeom>
          <a:noFill/>
          <a:ln w="7620">
            <a:solidFill>
              <a:srgbClr val="D9D9D9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10896" y="1499616"/>
            <a:ext cx="384048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630" dirty="0">
                <a:solidFill>
                  <a:srgbClr val="7777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100%</a:t>
            </a:r>
            <a:endParaRPr lang="en-US" sz="630" dirty="0"/>
          </a:p>
        </p:txBody>
      </p:sp>
      <p:sp>
        <p:nvSpPr>
          <p:cNvPr id="16" name="Shape 14"/>
          <p:cNvSpPr/>
          <p:nvPr/>
        </p:nvSpPr>
        <p:spPr>
          <a:xfrm>
            <a:off x="749808" y="2475738"/>
            <a:ext cx="7406640" cy="0"/>
          </a:xfrm>
          <a:prstGeom prst="line">
            <a:avLst/>
          </a:prstGeom>
          <a:noFill/>
          <a:ln w="12700">
            <a:solidFill>
              <a:srgbClr val="999999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7379208" y="2311146"/>
            <a:ext cx="77724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600" dirty="0">
                <a:solidFill>
                  <a:srgbClr val="7777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Target 95%</a:t>
            </a:r>
            <a:endParaRPr lang="en-US" sz="600" dirty="0"/>
          </a:p>
        </p:txBody>
      </p:sp>
      <p:sp>
        <p:nvSpPr>
          <p:cNvPr id="18" name="Shape 16"/>
          <p:cNvSpPr/>
          <p:nvPr/>
        </p:nvSpPr>
        <p:spPr>
          <a:xfrm>
            <a:off x="708660" y="3518154"/>
            <a:ext cx="82296" cy="82296"/>
          </a:xfrm>
          <a:prstGeom prst="ellipse">
            <a:avLst/>
          </a:prstGeom>
          <a:solidFill>
            <a:srgbClr val="111111"/>
          </a:solidFill>
          <a:ln w="12700">
            <a:solidFill>
              <a:srgbClr val="111111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502920" y="3330702"/>
            <a:ext cx="49377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20" b="1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89%</a:t>
            </a:r>
            <a:endParaRPr lang="en-US" sz="620" dirty="0"/>
          </a:p>
        </p:txBody>
      </p:sp>
      <p:sp>
        <p:nvSpPr>
          <p:cNvPr id="20" name="Shape 18"/>
          <p:cNvSpPr/>
          <p:nvPr/>
        </p:nvSpPr>
        <p:spPr>
          <a:xfrm>
            <a:off x="749808" y="3559302"/>
            <a:ext cx="617220" cy="-180594"/>
          </a:xfrm>
          <a:prstGeom prst="line">
            <a:avLst/>
          </a:prstGeom>
          <a:noFill/>
          <a:ln w="17780">
            <a:solidFill>
              <a:srgbClr val="111111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1325880" y="3337560"/>
            <a:ext cx="82296" cy="82296"/>
          </a:xfrm>
          <a:prstGeom prst="ellipse">
            <a:avLst/>
          </a:prstGeom>
          <a:solidFill>
            <a:srgbClr val="111111"/>
          </a:solidFill>
          <a:ln w="12700">
            <a:solidFill>
              <a:srgbClr val="111111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1120140" y="3150108"/>
            <a:ext cx="49377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20" b="1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90%</a:t>
            </a:r>
            <a:endParaRPr lang="en-US" sz="620" dirty="0"/>
          </a:p>
        </p:txBody>
      </p:sp>
      <p:sp>
        <p:nvSpPr>
          <p:cNvPr id="23" name="Shape 21"/>
          <p:cNvSpPr/>
          <p:nvPr/>
        </p:nvSpPr>
        <p:spPr>
          <a:xfrm>
            <a:off x="1367028" y="3378708"/>
            <a:ext cx="617220" cy="722376"/>
          </a:xfrm>
          <a:prstGeom prst="line">
            <a:avLst/>
          </a:prstGeom>
          <a:noFill/>
          <a:ln w="17780">
            <a:solidFill>
              <a:srgbClr val="111111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1943100" y="4059936"/>
            <a:ext cx="82296" cy="82296"/>
          </a:xfrm>
          <a:prstGeom prst="ellipse">
            <a:avLst/>
          </a:prstGeom>
          <a:solidFill>
            <a:srgbClr val="111111"/>
          </a:solidFill>
          <a:ln w="12700">
            <a:solidFill>
              <a:srgbClr val="111111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1737360" y="3872484"/>
            <a:ext cx="49377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20" b="1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86%</a:t>
            </a:r>
            <a:endParaRPr lang="en-US" sz="620" dirty="0"/>
          </a:p>
        </p:txBody>
      </p:sp>
      <p:sp>
        <p:nvSpPr>
          <p:cNvPr id="26" name="Shape 24"/>
          <p:cNvSpPr/>
          <p:nvPr/>
        </p:nvSpPr>
        <p:spPr>
          <a:xfrm>
            <a:off x="1984248" y="4101084"/>
            <a:ext cx="617220" cy="180594"/>
          </a:xfrm>
          <a:prstGeom prst="line">
            <a:avLst/>
          </a:prstGeom>
          <a:noFill/>
          <a:ln w="17780">
            <a:solidFill>
              <a:srgbClr val="111111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2560320" y="4240530"/>
            <a:ext cx="82296" cy="82296"/>
          </a:xfrm>
          <a:prstGeom prst="ellipse">
            <a:avLst/>
          </a:prstGeom>
          <a:solidFill>
            <a:srgbClr val="111111"/>
          </a:solidFill>
          <a:ln w="12700">
            <a:solidFill>
              <a:srgbClr val="111111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2354580" y="4053078"/>
            <a:ext cx="49377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20" b="1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85%</a:t>
            </a:r>
            <a:endParaRPr lang="en-US" sz="620" dirty="0"/>
          </a:p>
        </p:txBody>
      </p:sp>
      <p:sp>
        <p:nvSpPr>
          <p:cNvPr id="29" name="Shape 27"/>
          <p:cNvSpPr/>
          <p:nvPr/>
        </p:nvSpPr>
        <p:spPr>
          <a:xfrm>
            <a:off x="2601468" y="4281678"/>
            <a:ext cx="617220" cy="-902970"/>
          </a:xfrm>
          <a:prstGeom prst="line">
            <a:avLst/>
          </a:prstGeom>
          <a:noFill/>
          <a:ln w="17780">
            <a:solidFill>
              <a:srgbClr val="111111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3177540" y="3337560"/>
            <a:ext cx="82296" cy="82296"/>
          </a:xfrm>
          <a:prstGeom prst="ellipse">
            <a:avLst/>
          </a:prstGeom>
          <a:solidFill>
            <a:srgbClr val="111111"/>
          </a:solidFill>
          <a:ln w="12700">
            <a:solidFill>
              <a:srgbClr val="111111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2971800" y="3150108"/>
            <a:ext cx="49377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20" b="1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90%</a:t>
            </a:r>
            <a:endParaRPr lang="en-US" sz="620" dirty="0"/>
          </a:p>
        </p:txBody>
      </p:sp>
      <p:sp>
        <p:nvSpPr>
          <p:cNvPr id="32" name="Shape 30"/>
          <p:cNvSpPr/>
          <p:nvPr/>
        </p:nvSpPr>
        <p:spPr>
          <a:xfrm>
            <a:off x="3218688" y="3378708"/>
            <a:ext cx="617220" cy="-180594"/>
          </a:xfrm>
          <a:prstGeom prst="line">
            <a:avLst/>
          </a:prstGeom>
          <a:noFill/>
          <a:ln w="17780">
            <a:solidFill>
              <a:srgbClr val="111111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3794760" y="3156966"/>
            <a:ext cx="82296" cy="82296"/>
          </a:xfrm>
          <a:prstGeom prst="ellipse">
            <a:avLst/>
          </a:prstGeom>
          <a:solidFill>
            <a:srgbClr val="111111"/>
          </a:solidFill>
          <a:ln w="12700">
            <a:solidFill>
              <a:srgbClr val="111111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3589020" y="2969514"/>
            <a:ext cx="49377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20" b="1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91%</a:t>
            </a:r>
            <a:endParaRPr lang="en-US" sz="620" dirty="0"/>
          </a:p>
        </p:txBody>
      </p:sp>
      <p:sp>
        <p:nvSpPr>
          <p:cNvPr id="35" name="Shape 33"/>
          <p:cNvSpPr/>
          <p:nvPr/>
        </p:nvSpPr>
        <p:spPr>
          <a:xfrm>
            <a:off x="3835908" y="3198114"/>
            <a:ext cx="617220" cy="902970"/>
          </a:xfrm>
          <a:prstGeom prst="line">
            <a:avLst/>
          </a:prstGeom>
          <a:noFill/>
          <a:ln w="17780">
            <a:solidFill>
              <a:srgbClr val="111111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4411980" y="4059936"/>
            <a:ext cx="82296" cy="82296"/>
          </a:xfrm>
          <a:prstGeom prst="ellipse">
            <a:avLst/>
          </a:prstGeom>
          <a:solidFill>
            <a:srgbClr val="111111"/>
          </a:solidFill>
          <a:ln w="12700">
            <a:solidFill>
              <a:srgbClr val="111111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4206240" y="3872484"/>
            <a:ext cx="49377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20" b="1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86%</a:t>
            </a:r>
            <a:endParaRPr lang="en-US" sz="620" dirty="0"/>
          </a:p>
        </p:txBody>
      </p:sp>
      <p:sp>
        <p:nvSpPr>
          <p:cNvPr id="38" name="Shape 36"/>
          <p:cNvSpPr/>
          <p:nvPr/>
        </p:nvSpPr>
        <p:spPr>
          <a:xfrm>
            <a:off x="4453128" y="4101084"/>
            <a:ext cx="617220" cy="361188"/>
          </a:xfrm>
          <a:prstGeom prst="line">
            <a:avLst/>
          </a:prstGeom>
          <a:noFill/>
          <a:ln w="17780">
            <a:solidFill>
              <a:srgbClr val="111111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5029200" y="4421124"/>
            <a:ext cx="82296" cy="82296"/>
          </a:xfrm>
          <a:prstGeom prst="ellipse">
            <a:avLst/>
          </a:prstGeom>
          <a:solidFill>
            <a:srgbClr val="111111"/>
          </a:solidFill>
          <a:ln w="12700">
            <a:solidFill>
              <a:srgbClr val="111111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4823460" y="4233672"/>
            <a:ext cx="49377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20" b="1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84%</a:t>
            </a:r>
            <a:endParaRPr lang="en-US" sz="620" dirty="0"/>
          </a:p>
        </p:txBody>
      </p:sp>
      <p:sp>
        <p:nvSpPr>
          <p:cNvPr id="41" name="Shape 39"/>
          <p:cNvSpPr/>
          <p:nvPr/>
        </p:nvSpPr>
        <p:spPr>
          <a:xfrm>
            <a:off x="5070348" y="4462272"/>
            <a:ext cx="617220" cy="-180594"/>
          </a:xfrm>
          <a:prstGeom prst="line">
            <a:avLst/>
          </a:prstGeom>
          <a:noFill/>
          <a:ln w="17780">
            <a:solidFill>
              <a:srgbClr val="111111"/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>
            <a:off x="5646420" y="4240530"/>
            <a:ext cx="82296" cy="82296"/>
          </a:xfrm>
          <a:prstGeom prst="ellipse">
            <a:avLst/>
          </a:prstGeom>
          <a:solidFill>
            <a:srgbClr val="111111"/>
          </a:solidFill>
          <a:ln w="12700">
            <a:solidFill>
              <a:srgbClr val="111111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5440680" y="4053078"/>
            <a:ext cx="49377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20" b="1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85%</a:t>
            </a:r>
            <a:endParaRPr lang="en-US" sz="620" dirty="0"/>
          </a:p>
        </p:txBody>
      </p:sp>
      <p:sp>
        <p:nvSpPr>
          <p:cNvPr id="44" name="Shape 42"/>
          <p:cNvSpPr/>
          <p:nvPr/>
        </p:nvSpPr>
        <p:spPr>
          <a:xfrm>
            <a:off x="5687568" y="4281678"/>
            <a:ext cx="617220" cy="-180594"/>
          </a:xfrm>
          <a:prstGeom prst="line">
            <a:avLst/>
          </a:prstGeom>
          <a:noFill/>
          <a:ln w="17780">
            <a:solidFill>
              <a:srgbClr val="111111"/>
            </a:solidFill>
            <a:prstDash val="solid"/>
          </a:ln>
        </p:spPr>
      </p:sp>
      <p:sp>
        <p:nvSpPr>
          <p:cNvPr id="45" name="Shape 43"/>
          <p:cNvSpPr/>
          <p:nvPr/>
        </p:nvSpPr>
        <p:spPr>
          <a:xfrm>
            <a:off x="6263640" y="4059936"/>
            <a:ext cx="82296" cy="82296"/>
          </a:xfrm>
          <a:prstGeom prst="ellipse">
            <a:avLst/>
          </a:prstGeom>
          <a:solidFill>
            <a:srgbClr val="111111"/>
          </a:solidFill>
          <a:ln w="12700">
            <a:solidFill>
              <a:srgbClr val="111111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6057900" y="3872484"/>
            <a:ext cx="49377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20" b="1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86%</a:t>
            </a:r>
            <a:endParaRPr lang="en-US" sz="620" dirty="0"/>
          </a:p>
        </p:txBody>
      </p:sp>
      <p:sp>
        <p:nvSpPr>
          <p:cNvPr id="47" name="Shape 45"/>
          <p:cNvSpPr/>
          <p:nvPr/>
        </p:nvSpPr>
        <p:spPr>
          <a:xfrm>
            <a:off x="6304788" y="4101084"/>
            <a:ext cx="617220" cy="722376"/>
          </a:xfrm>
          <a:prstGeom prst="line">
            <a:avLst/>
          </a:prstGeom>
          <a:noFill/>
          <a:ln w="17780">
            <a:solidFill>
              <a:srgbClr val="111111"/>
            </a:solidFill>
            <a:prstDash val="solid"/>
          </a:ln>
        </p:spPr>
      </p:sp>
      <p:sp>
        <p:nvSpPr>
          <p:cNvPr id="48" name="Shape 46"/>
          <p:cNvSpPr/>
          <p:nvPr/>
        </p:nvSpPr>
        <p:spPr>
          <a:xfrm>
            <a:off x="6880860" y="4782312"/>
            <a:ext cx="82296" cy="82296"/>
          </a:xfrm>
          <a:prstGeom prst="ellipse">
            <a:avLst/>
          </a:prstGeom>
          <a:solidFill>
            <a:srgbClr val="111111"/>
          </a:solidFill>
          <a:ln w="12700">
            <a:solidFill>
              <a:srgbClr val="111111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6675120" y="4594860"/>
            <a:ext cx="49377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20" b="1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82%</a:t>
            </a:r>
            <a:endParaRPr lang="en-US" sz="620" dirty="0"/>
          </a:p>
        </p:txBody>
      </p:sp>
      <p:sp>
        <p:nvSpPr>
          <p:cNvPr id="50" name="Shape 48"/>
          <p:cNvSpPr/>
          <p:nvPr/>
        </p:nvSpPr>
        <p:spPr>
          <a:xfrm>
            <a:off x="6922008" y="4823460"/>
            <a:ext cx="617220" cy="-1264158"/>
          </a:xfrm>
          <a:prstGeom prst="line">
            <a:avLst/>
          </a:prstGeom>
          <a:noFill/>
          <a:ln w="17780">
            <a:solidFill>
              <a:srgbClr val="111111"/>
            </a:solidFill>
            <a:prstDash val="solid"/>
          </a:ln>
        </p:spPr>
      </p:sp>
      <p:sp>
        <p:nvSpPr>
          <p:cNvPr id="51" name="Shape 49"/>
          <p:cNvSpPr/>
          <p:nvPr/>
        </p:nvSpPr>
        <p:spPr>
          <a:xfrm>
            <a:off x="7498080" y="3518154"/>
            <a:ext cx="82296" cy="82296"/>
          </a:xfrm>
          <a:prstGeom prst="ellipse">
            <a:avLst/>
          </a:prstGeom>
          <a:solidFill>
            <a:srgbClr val="111111"/>
          </a:solidFill>
          <a:ln w="12700">
            <a:solidFill>
              <a:srgbClr val="111111"/>
            </a:solidFill>
            <a:prstDash val="solid"/>
          </a:ln>
        </p:spPr>
      </p:sp>
      <p:sp>
        <p:nvSpPr>
          <p:cNvPr id="52" name="Text 50"/>
          <p:cNvSpPr/>
          <p:nvPr/>
        </p:nvSpPr>
        <p:spPr>
          <a:xfrm>
            <a:off x="7292340" y="3330702"/>
            <a:ext cx="49377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20" b="1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89%</a:t>
            </a:r>
            <a:endParaRPr lang="en-US" sz="620" dirty="0"/>
          </a:p>
        </p:txBody>
      </p:sp>
      <p:sp>
        <p:nvSpPr>
          <p:cNvPr id="53" name="Shape 51"/>
          <p:cNvSpPr/>
          <p:nvPr/>
        </p:nvSpPr>
        <p:spPr>
          <a:xfrm>
            <a:off x="7539228" y="3559302"/>
            <a:ext cx="617220" cy="361188"/>
          </a:xfrm>
          <a:prstGeom prst="line">
            <a:avLst/>
          </a:prstGeom>
          <a:noFill/>
          <a:ln w="17780">
            <a:solidFill>
              <a:srgbClr val="111111"/>
            </a:solidFill>
            <a:prstDash val="solid"/>
          </a:ln>
        </p:spPr>
      </p:sp>
      <p:sp>
        <p:nvSpPr>
          <p:cNvPr id="54" name="Shape 52"/>
          <p:cNvSpPr/>
          <p:nvPr/>
        </p:nvSpPr>
        <p:spPr>
          <a:xfrm>
            <a:off x="8115300" y="3879342"/>
            <a:ext cx="82296" cy="82296"/>
          </a:xfrm>
          <a:prstGeom prst="ellipse">
            <a:avLst/>
          </a:prstGeom>
          <a:solidFill>
            <a:srgbClr val="111111"/>
          </a:solidFill>
          <a:ln w="12700">
            <a:solidFill>
              <a:srgbClr val="111111"/>
            </a:solidFill>
            <a:prstDash val="solid"/>
          </a:ln>
        </p:spPr>
      </p:sp>
      <p:sp>
        <p:nvSpPr>
          <p:cNvPr id="55" name="Text 53"/>
          <p:cNvSpPr/>
          <p:nvPr/>
        </p:nvSpPr>
        <p:spPr>
          <a:xfrm>
            <a:off x="7909560" y="3691890"/>
            <a:ext cx="49377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20" b="1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87%</a:t>
            </a:r>
            <a:endParaRPr lang="en-US" sz="620" dirty="0"/>
          </a:p>
        </p:txBody>
      </p:sp>
      <p:sp>
        <p:nvSpPr>
          <p:cNvPr id="56" name="Text 54"/>
          <p:cNvSpPr/>
          <p:nvPr/>
        </p:nvSpPr>
        <p:spPr>
          <a:xfrm>
            <a:off x="457200" y="5276088"/>
            <a:ext cx="58521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6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Aug</a:t>
            </a:r>
            <a:endParaRPr lang="en-US" sz="600" dirty="0"/>
          </a:p>
          <a:p>
            <a:pPr algn="ctr" indent="0" marL="0">
              <a:buNone/>
            </a:pPr>
            <a:r>
              <a:rPr lang="en-US" sz="6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25</a:t>
            </a:r>
            <a:endParaRPr lang="en-US" sz="600" dirty="0"/>
          </a:p>
        </p:txBody>
      </p:sp>
      <p:sp>
        <p:nvSpPr>
          <p:cNvPr id="57" name="Text 55"/>
          <p:cNvSpPr/>
          <p:nvPr/>
        </p:nvSpPr>
        <p:spPr>
          <a:xfrm>
            <a:off x="1074420" y="5276088"/>
            <a:ext cx="58521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6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Sep</a:t>
            </a:r>
            <a:endParaRPr lang="en-US" sz="600" dirty="0"/>
          </a:p>
        </p:txBody>
      </p:sp>
      <p:sp>
        <p:nvSpPr>
          <p:cNvPr id="58" name="Text 56"/>
          <p:cNvSpPr/>
          <p:nvPr/>
        </p:nvSpPr>
        <p:spPr>
          <a:xfrm>
            <a:off x="1691640" y="5276088"/>
            <a:ext cx="58521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6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Oct</a:t>
            </a:r>
            <a:endParaRPr lang="en-US" sz="600" dirty="0"/>
          </a:p>
        </p:txBody>
      </p:sp>
      <p:sp>
        <p:nvSpPr>
          <p:cNvPr id="59" name="Text 57"/>
          <p:cNvSpPr/>
          <p:nvPr/>
        </p:nvSpPr>
        <p:spPr>
          <a:xfrm>
            <a:off x="2308860" y="5276088"/>
            <a:ext cx="58521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6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Nov</a:t>
            </a:r>
            <a:endParaRPr lang="en-US" sz="600" dirty="0"/>
          </a:p>
        </p:txBody>
      </p:sp>
      <p:sp>
        <p:nvSpPr>
          <p:cNvPr id="60" name="Text 58"/>
          <p:cNvSpPr/>
          <p:nvPr/>
        </p:nvSpPr>
        <p:spPr>
          <a:xfrm>
            <a:off x="2926080" y="5276088"/>
            <a:ext cx="58521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6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</a:t>
            </a:r>
            <a:endParaRPr lang="en-US" sz="600" dirty="0"/>
          </a:p>
        </p:txBody>
      </p:sp>
      <p:sp>
        <p:nvSpPr>
          <p:cNvPr id="61" name="Text 59"/>
          <p:cNvSpPr/>
          <p:nvPr/>
        </p:nvSpPr>
        <p:spPr>
          <a:xfrm>
            <a:off x="3543300" y="5276088"/>
            <a:ext cx="58521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6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Jan</a:t>
            </a:r>
            <a:endParaRPr lang="en-US" sz="600" dirty="0"/>
          </a:p>
          <a:p>
            <a:pPr algn="ctr" indent="0" marL="0">
              <a:buNone/>
            </a:pPr>
            <a:r>
              <a:rPr lang="en-US" sz="6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26</a:t>
            </a:r>
            <a:endParaRPr lang="en-US" sz="600" dirty="0"/>
          </a:p>
        </p:txBody>
      </p:sp>
      <p:sp>
        <p:nvSpPr>
          <p:cNvPr id="62" name="Text 60"/>
          <p:cNvSpPr/>
          <p:nvPr/>
        </p:nvSpPr>
        <p:spPr>
          <a:xfrm>
            <a:off x="4160520" y="5276088"/>
            <a:ext cx="58521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6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Feb</a:t>
            </a:r>
            <a:endParaRPr lang="en-US" sz="600" dirty="0"/>
          </a:p>
        </p:txBody>
      </p:sp>
      <p:sp>
        <p:nvSpPr>
          <p:cNvPr id="63" name="Text 61"/>
          <p:cNvSpPr/>
          <p:nvPr/>
        </p:nvSpPr>
        <p:spPr>
          <a:xfrm>
            <a:off x="4777740" y="5276088"/>
            <a:ext cx="58521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6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</a:t>
            </a:r>
            <a:endParaRPr lang="en-US" sz="600" dirty="0"/>
          </a:p>
        </p:txBody>
      </p:sp>
      <p:sp>
        <p:nvSpPr>
          <p:cNvPr id="64" name="Text 62"/>
          <p:cNvSpPr/>
          <p:nvPr/>
        </p:nvSpPr>
        <p:spPr>
          <a:xfrm>
            <a:off x="5394960" y="5276088"/>
            <a:ext cx="58521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6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Apr</a:t>
            </a:r>
            <a:endParaRPr lang="en-US" sz="600" dirty="0"/>
          </a:p>
        </p:txBody>
      </p:sp>
      <p:sp>
        <p:nvSpPr>
          <p:cNvPr id="65" name="Text 63"/>
          <p:cNvSpPr/>
          <p:nvPr/>
        </p:nvSpPr>
        <p:spPr>
          <a:xfrm>
            <a:off x="6012180" y="5276088"/>
            <a:ext cx="58521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6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May</a:t>
            </a:r>
            <a:endParaRPr lang="en-US" sz="600" dirty="0"/>
          </a:p>
        </p:txBody>
      </p:sp>
      <p:sp>
        <p:nvSpPr>
          <p:cNvPr id="66" name="Text 64"/>
          <p:cNvSpPr/>
          <p:nvPr/>
        </p:nvSpPr>
        <p:spPr>
          <a:xfrm>
            <a:off x="6629400" y="5276088"/>
            <a:ext cx="58521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6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Jun</a:t>
            </a:r>
            <a:endParaRPr lang="en-US" sz="600" dirty="0"/>
          </a:p>
        </p:txBody>
      </p:sp>
      <p:sp>
        <p:nvSpPr>
          <p:cNvPr id="67" name="Text 65"/>
          <p:cNvSpPr/>
          <p:nvPr/>
        </p:nvSpPr>
        <p:spPr>
          <a:xfrm>
            <a:off x="7246620" y="5276088"/>
            <a:ext cx="58521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6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Jul</a:t>
            </a:r>
            <a:endParaRPr lang="en-US" sz="600" dirty="0"/>
          </a:p>
        </p:txBody>
      </p:sp>
      <p:sp>
        <p:nvSpPr>
          <p:cNvPr id="68" name="Text 66"/>
          <p:cNvSpPr/>
          <p:nvPr/>
        </p:nvSpPr>
        <p:spPr>
          <a:xfrm>
            <a:off x="7863840" y="5276088"/>
            <a:ext cx="58521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6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Aug</a:t>
            </a:r>
            <a:endParaRPr lang="en-US" sz="600" dirty="0"/>
          </a:p>
        </p:txBody>
      </p:sp>
      <p:sp>
        <p:nvSpPr>
          <p:cNvPr id="69" name="Shape 67"/>
          <p:cNvSpPr/>
          <p:nvPr/>
        </p:nvSpPr>
        <p:spPr>
          <a:xfrm>
            <a:off x="804672" y="5477256"/>
            <a:ext cx="3383280" cy="566928"/>
          </a:xfrm>
          <a:prstGeom prst="rect">
            <a:avLst/>
          </a:prstGeom>
          <a:solidFill>
            <a:srgbClr val="F6F6F6"/>
          </a:solidFill>
          <a:ln w="6350">
            <a:solidFill>
              <a:srgbClr val="E0E0E0"/>
            </a:solidFill>
            <a:prstDash val="solid"/>
          </a:ln>
        </p:spPr>
      </p:sp>
      <p:sp>
        <p:nvSpPr>
          <p:cNvPr id="70" name="Text 68"/>
          <p:cNvSpPr/>
          <p:nvPr/>
        </p:nvSpPr>
        <p:spPr>
          <a:xfrm>
            <a:off x="987552" y="5650992"/>
            <a:ext cx="30175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D719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Latest: 87%  |  Low: 82%  |  Target: 95%</a:t>
            </a:r>
            <a:endParaRPr lang="en-US" sz="900" dirty="0"/>
          </a:p>
        </p:txBody>
      </p:sp>
      <p:sp>
        <p:nvSpPr>
          <p:cNvPr id="71" name="Text 69"/>
          <p:cNvSpPr/>
          <p:nvPr/>
        </p:nvSpPr>
        <p:spPr>
          <a:xfrm>
            <a:off x="8915400" y="1280160"/>
            <a:ext cx="257860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" b="1" dirty="0">
                <a:solidFill>
                  <a:srgbClr val="D719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TAKEAWAYS</a:t>
            </a:r>
            <a:endParaRPr lang="en-US" sz="650" dirty="0"/>
          </a:p>
        </p:txBody>
      </p:sp>
      <p:sp>
        <p:nvSpPr>
          <p:cNvPr id="72" name="Shape 70"/>
          <p:cNvSpPr/>
          <p:nvPr/>
        </p:nvSpPr>
        <p:spPr>
          <a:xfrm>
            <a:off x="8769096" y="1234440"/>
            <a:ext cx="0" cy="5138928"/>
          </a:xfrm>
          <a:prstGeom prst="line">
            <a:avLst/>
          </a:prstGeom>
          <a:noFill/>
          <a:ln w="12700">
            <a:solidFill>
              <a:srgbClr val="D0D0D0"/>
            </a:solidFill>
            <a:prstDash val="solid"/>
          </a:ln>
        </p:spPr>
      </p:sp>
      <p:sp>
        <p:nvSpPr>
          <p:cNvPr id="73" name="Text 71"/>
          <p:cNvSpPr/>
          <p:nvPr/>
        </p:nvSpPr>
        <p:spPr>
          <a:xfrm>
            <a:off x="8915400" y="1591056"/>
            <a:ext cx="146304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D719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</a:t>
            </a:r>
            <a:endParaRPr lang="en-US" sz="900" dirty="0"/>
          </a:p>
        </p:txBody>
      </p:sp>
      <p:sp>
        <p:nvSpPr>
          <p:cNvPr id="74" name="Text 72"/>
          <p:cNvSpPr/>
          <p:nvPr/>
        </p:nvSpPr>
        <p:spPr>
          <a:xfrm>
            <a:off x="9079992" y="1591056"/>
            <a:ext cx="2414016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82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KPI never reaches the 95% target in the supplied 13-month series; the latest point is 87%.</a:t>
            </a:r>
            <a:endParaRPr lang="en-US" sz="820" dirty="0"/>
          </a:p>
        </p:txBody>
      </p:sp>
      <p:sp>
        <p:nvSpPr>
          <p:cNvPr id="75" name="Text 73"/>
          <p:cNvSpPr/>
          <p:nvPr/>
        </p:nvSpPr>
        <p:spPr>
          <a:xfrm>
            <a:off x="8915400" y="2322576"/>
            <a:ext cx="146304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D719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</a:t>
            </a:r>
            <a:endParaRPr lang="en-US" sz="900" dirty="0"/>
          </a:p>
        </p:txBody>
      </p:sp>
      <p:sp>
        <p:nvSpPr>
          <p:cNvPr id="76" name="Text 74"/>
          <p:cNvSpPr/>
          <p:nvPr/>
        </p:nvSpPr>
        <p:spPr>
          <a:xfrm>
            <a:off x="9079992" y="2322576"/>
            <a:ext cx="2414016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82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low point is 82%, followed by a partial recovery to 89% and then 87% — improvement, but not yet a stable recovery.</a:t>
            </a:r>
            <a:endParaRPr lang="en-US" sz="820" dirty="0"/>
          </a:p>
        </p:txBody>
      </p:sp>
      <p:sp>
        <p:nvSpPr>
          <p:cNvPr id="77" name="Text 75"/>
          <p:cNvSpPr/>
          <p:nvPr/>
        </p:nvSpPr>
        <p:spPr>
          <a:xfrm>
            <a:off x="8915400" y="3054096"/>
            <a:ext cx="146304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D719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</a:t>
            </a:r>
            <a:endParaRPr lang="en-US" sz="900" dirty="0"/>
          </a:p>
        </p:txBody>
      </p:sp>
      <p:sp>
        <p:nvSpPr>
          <p:cNvPr id="78" name="Text 76"/>
          <p:cNvSpPr/>
          <p:nvPr/>
        </p:nvSpPr>
        <p:spPr>
          <a:xfrm>
            <a:off x="9079992" y="3054096"/>
            <a:ext cx="2414016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82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should be discussed with MOS and back-order lines: availability can improve only if the right stock is held, not simply more stock overall.</a:t>
            </a:r>
            <a:endParaRPr lang="en-US" sz="820" dirty="0"/>
          </a:p>
        </p:txBody>
      </p:sp>
      <p:sp>
        <p:nvSpPr>
          <p:cNvPr id="79" name="Text 77"/>
          <p:cNvSpPr/>
          <p:nvPr/>
        </p:nvSpPr>
        <p:spPr>
          <a:xfrm>
            <a:off x="8915400" y="3785616"/>
            <a:ext cx="146304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D719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</a:t>
            </a:r>
            <a:endParaRPr lang="en-US" sz="900" dirty="0"/>
          </a:p>
        </p:txBody>
      </p:sp>
      <p:sp>
        <p:nvSpPr>
          <p:cNvPr id="80" name="Text 78"/>
          <p:cNvSpPr/>
          <p:nvPr/>
        </p:nvSpPr>
        <p:spPr>
          <a:xfrm>
            <a:off x="9079992" y="3785616"/>
            <a:ext cx="2414016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82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part-family fill-rate cut would be more actionable than the total alone, especially for the filter and wear-part families highlighted later.</a:t>
            </a:r>
            <a:endParaRPr lang="en-US" sz="820" dirty="0"/>
          </a:p>
        </p:txBody>
      </p:sp>
      <p:sp>
        <p:nvSpPr>
          <p:cNvPr id="81" name="Text 79"/>
          <p:cNvSpPr/>
          <p:nvPr/>
        </p:nvSpPr>
        <p:spPr>
          <a:xfrm>
            <a:off x="1325880" y="6483096"/>
            <a:ext cx="978408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570" dirty="0">
                <a:solidFill>
                  <a:srgbClr val="7777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Source: supplied “INDIVIDUAL FILL RATE” chart. Target reference: 95% network standard used in FY27 review.</a:t>
            </a:r>
            <a:endParaRPr lang="en-US" sz="57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475720" y="6464808"/>
            <a:ext cx="457200" cy="13716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650">
                <a:solidFill>
                  <a:srgbClr val="777777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10896" y="182880"/>
            <a:ext cx="34747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60" b="1" spc="70" kern="0" dirty="0">
                <a:solidFill>
                  <a:srgbClr val="D719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STOCK &amp; AVAILABILITY</a:t>
            </a:r>
            <a:endParaRPr lang="en-US" sz="660" dirty="0"/>
          </a:p>
        </p:txBody>
      </p:sp>
      <p:sp>
        <p:nvSpPr>
          <p:cNvPr id="3" name="Text 1"/>
          <p:cNvSpPr/>
          <p:nvPr/>
        </p:nvSpPr>
        <p:spPr>
          <a:xfrm>
            <a:off x="310896" y="420624"/>
            <a:ext cx="113842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800" b="1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Stock depth has fallen while back orders improved; fill rate still needs a stock-mix explanation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310896" y="886968"/>
            <a:ext cx="11430000" cy="0"/>
          </a:xfrm>
          <a:prstGeom prst="line">
            <a:avLst/>
          </a:prstGeom>
          <a:noFill/>
          <a:ln w="15875">
            <a:solidFill>
              <a:srgbClr val="D7192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310896" y="923544"/>
            <a:ext cx="11292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3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 Motors | KPI Master File | Apr–Aug 2026</a:t>
            </a:r>
            <a:endParaRPr lang="en-US" sz="830" dirty="0"/>
          </a:p>
        </p:txBody>
      </p:sp>
      <p:sp>
        <p:nvSpPr>
          <p:cNvPr id="6" name="Text 4"/>
          <p:cNvSpPr/>
          <p:nvPr/>
        </p:nvSpPr>
        <p:spPr>
          <a:xfrm>
            <a:off x="749808" y="1353312"/>
            <a:ext cx="29260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b="1" dirty="0">
                <a:solidFill>
                  <a:srgbClr val="D719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MONTHS OF STOCK (MOS)</a:t>
            </a:r>
            <a:endParaRPr lang="en-US" sz="700" dirty="0"/>
          </a:p>
        </p:txBody>
      </p:sp>
      <p:sp>
        <p:nvSpPr>
          <p:cNvPr id="7" name="Shape 5"/>
          <p:cNvSpPr/>
          <p:nvPr/>
        </p:nvSpPr>
        <p:spPr>
          <a:xfrm>
            <a:off x="749808" y="4727448"/>
            <a:ext cx="3337560" cy="0"/>
          </a:xfrm>
          <a:prstGeom prst="line">
            <a:avLst/>
          </a:prstGeom>
          <a:noFill/>
          <a:ln w="7620">
            <a:solidFill>
              <a:srgbClr val="D9D9D9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10896" y="4654296"/>
            <a:ext cx="384048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630" dirty="0">
                <a:solidFill>
                  <a:srgbClr val="7777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2.0x</a:t>
            </a:r>
            <a:endParaRPr lang="en-US" sz="630" dirty="0"/>
          </a:p>
        </p:txBody>
      </p:sp>
      <p:sp>
        <p:nvSpPr>
          <p:cNvPr id="9" name="Shape 7"/>
          <p:cNvSpPr/>
          <p:nvPr/>
        </p:nvSpPr>
        <p:spPr>
          <a:xfrm>
            <a:off x="749808" y="3736848"/>
            <a:ext cx="3337560" cy="0"/>
          </a:xfrm>
          <a:prstGeom prst="line">
            <a:avLst/>
          </a:prstGeom>
          <a:noFill/>
          <a:ln w="7620">
            <a:solidFill>
              <a:srgbClr val="D9D9D9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10896" y="3663696"/>
            <a:ext cx="384048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630" dirty="0">
                <a:solidFill>
                  <a:srgbClr val="7777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2.4x</a:t>
            </a:r>
            <a:endParaRPr lang="en-US" sz="630" dirty="0"/>
          </a:p>
        </p:txBody>
      </p:sp>
      <p:sp>
        <p:nvSpPr>
          <p:cNvPr id="11" name="Shape 9"/>
          <p:cNvSpPr/>
          <p:nvPr/>
        </p:nvSpPr>
        <p:spPr>
          <a:xfrm>
            <a:off x="749808" y="2746248"/>
            <a:ext cx="3337560" cy="0"/>
          </a:xfrm>
          <a:prstGeom prst="line">
            <a:avLst/>
          </a:prstGeom>
          <a:noFill/>
          <a:ln w="7620">
            <a:solidFill>
              <a:srgbClr val="D9D9D9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10896" y="2673096"/>
            <a:ext cx="384048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630" dirty="0">
                <a:solidFill>
                  <a:srgbClr val="7777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2.8x</a:t>
            </a:r>
            <a:endParaRPr lang="en-US" sz="630" dirty="0"/>
          </a:p>
        </p:txBody>
      </p:sp>
      <p:sp>
        <p:nvSpPr>
          <p:cNvPr id="13" name="Shape 11"/>
          <p:cNvSpPr/>
          <p:nvPr/>
        </p:nvSpPr>
        <p:spPr>
          <a:xfrm>
            <a:off x="749808" y="1755648"/>
            <a:ext cx="3337560" cy="0"/>
          </a:xfrm>
          <a:prstGeom prst="line">
            <a:avLst/>
          </a:prstGeom>
          <a:noFill/>
          <a:ln w="7620">
            <a:solidFill>
              <a:srgbClr val="D9D9D9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10896" y="1682496"/>
            <a:ext cx="384048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630" dirty="0">
                <a:solidFill>
                  <a:srgbClr val="7777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3.2x</a:t>
            </a:r>
            <a:endParaRPr lang="en-US" sz="630" dirty="0"/>
          </a:p>
        </p:txBody>
      </p:sp>
      <p:sp>
        <p:nvSpPr>
          <p:cNvPr id="15" name="Shape 13"/>
          <p:cNvSpPr/>
          <p:nvPr/>
        </p:nvSpPr>
        <p:spPr>
          <a:xfrm>
            <a:off x="708660" y="2374900"/>
            <a:ext cx="82296" cy="82296"/>
          </a:xfrm>
          <a:prstGeom prst="ellipse">
            <a:avLst/>
          </a:prstGeom>
          <a:solidFill>
            <a:srgbClr val="D71920"/>
          </a:solidFill>
          <a:ln w="12700">
            <a:solidFill>
              <a:srgbClr val="D71920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02920" y="2187448"/>
            <a:ext cx="49377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20" b="1" dirty="0">
                <a:solidFill>
                  <a:srgbClr val="D719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2.9</a:t>
            </a:r>
            <a:endParaRPr lang="en-US" sz="620" dirty="0"/>
          </a:p>
        </p:txBody>
      </p:sp>
      <p:sp>
        <p:nvSpPr>
          <p:cNvPr id="17" name="Shape 15"/>
          <p:cNvSpPr/>
          <p:nvPr/>
        </p:nvSpPr>
        <p:spPr>
          <a:xfrm>
            <a:off x="749808" y="2416048"/>
            <a:ext cx="834390" cy="247650"/>
          </a:xfrm>
          <a:prstGeom prst="line">
            <a:avLst/>
          </a:prstGeom>
          <a:noFill/>
          <a:ln w="25400">
            <a:solidFill>
              <a:srgbClr val="D71920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1543050" y="2622550"/>
            <a:ext cx="82296" cy="82296"/>
          </a:xfrm>
          <a:prstGeom prst="ellipse">
            <a:avLst/>
          </a:prstGeom>
          <a:solidFill>
            <a:srgbClr val="D71920"/>
          </a:solidFill>
          <a:ln w="12700">
            <a:solidFill>
              <a:srgbClr val="D7192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1337310" y="2435098"/>
            <a:ext cx="49377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20" b="1" dirty="0">
                <a:solidFill>
                  <a:srgbClr val="D719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2.8</a:t>
            </a:r>
            <a:endParaRPr lang="en-US" sz="620" dirty="0"/>
          </a:p>
        </p:txBody>
      </p:sp>
      <p:sp>
        <p:nvSpPr>
          <p:cNvPr id="20" name="Shape 18"/>
          <p:cNvSpPr/>
          <p:nvPr/>
        </p:nvSpPr>
        <p:spPr>
          <a:xfrm>
            <a:off x="1584198" y="2663698"/>
            <a:ext cx="834390" cy="0"/>
          </a:xfrm>
          <a:prstGeom prst="line">
            <a:avLst/>
          </a:prstGeom>
          <a:noFill/>
          <a:ln w="25400">
            <a:solidFill>
              <a:srgbClr val="D71920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2377440" y="2622550"/>
            <a:ext cx="82296" cy="82296"/>
          </a:xfrm>
          <a:prstGeom prst="ellipse">
            <a:avLst/>
          </a:prstGeom>
          <a:solidFill>
            <a:srgbClr val="D71920"/>
          </a:solidFill>
          <a:ln w="12700">
            <a:solidFill>
              <a:srgbClr val="D71920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2171700" y="2435098"/>
            <a:ext cx="49377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20" b="1" dirty="0">
                <a:solidFill>
                  <a:srgbClr val="D719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2.8</a:t>
            </a:r>
            <a:endParaRPr lang="en-US" sz="620" dirty="0"/>
          </a:p>
        </p:txBody>
      </p:sp>
      <p:sp>
        <p:nvSpPr>
          <p:cNvPr id="23" name="Shape 21"/>
          <p:cNvSpPr/>
          <p:nvPr/>
        </p:nvSpPr>
        <p:spPr>
          <a:xfrm>
            <a:off x="2418588" y="2663698"/>
            <a:ext cx="834390" cy="495300"/>
          </a:xfrm>
          <a:prstGeom prst="line">
            <a:avLst/>
          </a:prstGeom>
          <a:noFill/>
          <a:ln w="25400">
            <a:solidFill>
              <a:srgbClr val="D71920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3211830" y="3117850"/>
            <a:ext cx="82296" cy="82296"/>
          </a:xfrm>
          <a:prstGeom prst="ellipse">
            <a:avLst/>
          </a:prstGeom>
          <a:solidFill>
            <a:srgbClr val="D71920"/>
          </a:solidFill>
          <a:ln w="12700">
            <a:solidFill>
              <a:srgbClr val="D71920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3006090" y="2930398"/>
            <a:ext cx="49377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20" b="1" dirty="0">
                <a:solidFill>
                  <a:srgbClr val="D719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2.6</a:t>
            </a:r>
            <a:endParaRPr lang="en-US" sz="620" dirty="0"/>
          </a:p>
        </p:txBody>
      </p:sp>
      <p:sp>
        <p:nvSpPr>
          <p:cNvPr id="26" name="Shape 24"/>
          <p:cNvSpPr/>
          <p:nvPr/>
        </p:nvSpPr>
        <p:spPr>
          <a:xfrm>
            <a:off x="3252978" y="3158998"/>
            <a:ext cx="834390" cy="990600"/>
          </a:xfrm>
          <a:prstGeom prst="line">
            <a:avLst/>
          </a:prstGeom>
          <a:noFill/>
          <a:ln w="25400">
            <a:solidFill>
              <a:srgbClr val="D71920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4046220" y="4108450"/>
            <a:ext cx="82296" cy="82296"/>
          </a:xfrm>
          <a:prstGeom prst="ellipse">
            <a:avLst/>
          </a:prstGeom>
          <a:solidFill>
            <a:srgbClr val="D71920"/>
          </a:solidFill>
          <a:ln w="12700">
            <a:solidFill>
              <a:srgbClr val="D71920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3840480" y="3920998"/>
            <a:ext cx="49377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20" b="1" dirty="0">
                <a:solidFill>
                  <a:srgbClr val="D719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2.2</a:t>
            </a:r>
            <a:endParaRPr lang="en-US" sz="620" dirty="0"/>
          </a:p>
        </p:txBody>
      </p:sp>
      <p:sp>
        <p:nvSpPr>
          <p:cNvPr id="29" name="Text 27"/>
          <p:cNvSpPr/>
          <p:nvPr/>
        </p:nvSpPr>
        <p:spPr>
          <a:xfrm>
            <a:off x="457200" y="4818888"/>
            <a:ext cx="58521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6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Apr</a:t>
            </a:r>
            <a:endParaRPr lang="en-US" sz="600" dirty="0"/>
          </a:p>
        </p:txBody>
      </p:sp>
      <p:sp>
        <p:nvSpPr>
          <p:cNvPr id="30" name="Text 28"/>
          <p:cNvSpPr/>
          <p:nvPr/>
        </p:nvSpPr>
        <p:spPr>
          <a:xfrm>
            <a:off x="1291590" y="4818888"/>
            <a:ext cx="58521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6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May</a:t>
            </a:r>
            <a:endParaRPr lang="en-US" sz="600" dirty="0"/>
          </a:p>
        </p:txBody>
      </p:sp>
      <p:sp>
        <p:nvSpPr>
          <p:cNvPr id="31" name="Text 29"/>
          <p:cNvSpPr/>
          <p:nvPr/>
        </p:nvSpPr>
        <p:spPr>
          <a:xfrm>
            <a:off x="2125980" y="4818888"/>
            <a:ext cx="58521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6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Jun</a:t>
            </a:r>
            <a:endParaRPr lang="en-US" sz="600" dirty="0"/>
          </a:p>
        </p:txBody>
      </p:sp>
      <p:sp>
        <p:nvSpPr>
          <p:cNvPr id="32" name="Text 30"/>
          <p:cNvSpPr/>
          <p:nvPr/>
        </p:nvSpPr>
        <p:spPr>
          <a:xfrm>
            <a:off x="2960370" y="4818888"/>
            <a:ext cx="58521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6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Jul</a:t>
            </a:r>
            <a:endParaRPr lang="en-US" sz="600" dirty="0"/>
          </a:p>
        </p:txBody>
      </p:sp>
      <p:sp>
        <p:nvSpPr>
          <p:cNvPr id="33" name="Text 31"/>
          <p:cNvSpPr/>
          <p:nvPr/>
        </p:nvSpPr>
        <p:spPr>
          <a:xfrm>
            <a:off x="3794760" y="4818888"/>
            <a:ext cx="58521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6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Aug</a:t>
            </a:r>
            <a:endParaRPr lang="en-US" sz="600" dirty="0"/>
          </a:p>
        </p:txBody>
      </p:sp>
      <p:sp>
        <p:nvSpPr>
          <p:cNvPr id="34" name="Text 32"/>
          <p:cNvSpPr/>
          <p:nvPr/>
        </p:nvSpPr>
        <p:spPr>
          <a:xfrm>
            <a:off x="749808" y="5074920"/>
            <a:ext cx="33375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60" i="1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Derived as days of parts in stock ÷ 30</a:t>
            </a:r>
            <a:endParaRPr lang="en-US" sz="660" dirty="0"/>
          </a:p>
        </p:txBody>
      </p:sp>
      <p:sp>
        <p:nvSpPr>
          <p:cNvPr id="35" name="Text 33"/>
          <p:cNvSpPr/>
          <p:nvPr/>
        </p:nvSpPr>
        <p:spPr>
          <a:xfrm>
            <a:off x="4553712" y="1353312"/>
            <a:ext cx="29260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b="1" dirty="0">
                <a:solidFill>
                  <a:srgbClr val="D719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BACK-ORDER LINES</a:t>
            </a:r>
            <a:endParaRPr lang="en-US" sz="700" dirty="0"/>
          </a:p>
        </p:txBody>
      </p:sp>
      <p:sp>
        <p:nvSpPr>
          <p:cNvPr id="36" name="Shape 34"/>
          <p:cNvSpPr/>
          <p:nvPr/>
        </p:nvSpPr>
        <p:spPr>
          <a:xfrm>
            <a:off x="4617720" y="4727448"/>
            <a:ext cx="3337560" cy="0"/>
          </a:xfrm>
          <a:prstGeom prst="line">
            <a:avLst/>
          </a:prstGeom>
          <a:noFill/>
          <a:ln w="7620">
            <a:solidFill>
              <a:srgbClr val="D9D9D9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4178808" y="4654296"/>
            <a:ext cx="384048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630" dirty="0">
                <a:solidFill>
                  <a:srgbClr val="7777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</a:t>
            </a:r>
            <a:endParaRPr lang="en-US" sz="630" dirty="0"/>
          </a:p>
        </p:txBody>
      </p:sp>
      <p:sp>
        <p:nvSpPr>
          <p:cNvPr id="38" name="Shape 36"/>
          <p:cNvSpPr/>
          <p:nvPr/>
        </p:nvSpPr>
        <p:spPr>
          <a:xfrm>
            <a:off x="4617720" y="4187121"/>
            <a:ext cx="3337560" cy="0"/>
          </a:xfrm>
          <a:prstGeom prst="line">
            <a:avLst/>
          </a:prstGeom>
          <a:noFill/>
          <a:ln w="7620">
            <a:solidFill>
              <a:srgbClr val="D9D9D9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4178808" y="4113969"/>
            <a:ext cx="384048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630" dirty="0">
                <a:solidFill>
                  <a:srgbClr val="7777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100</a:t>
            </a:r>
            <a:endParaRPr lang="en-US" sz="630" dirty="0"/>
          </a:p>
        </p:txBody>
      </p:sp>
      <p:sp>
        <p:nvSpPr>
          <p:cNvPr id="40" name="Shape 38"/>
          <p:cNvSpPr/>
          <p:nvPr/>
        </p:nvSpPr>
        <p:spPr>
          <a:xfrm>
            <a:off x="4617720" y="3646793"/>
            <a:ext cx="3337560" cy="0"/>
          </a:xfrm>
          <a:prstGeom prst="line">
            <a:avLst/>
          </a:prstGeom>
          <a:noFill/>
          <a:ln w="7620">
            <a:solidFill>
              <a:srgbClr val="D9D9D9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4178808" y="3573641"/>
            <a:ext cx="384048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630" dirty="0">
                <a:solidFill>
                  <a:srgbClr val="7777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200</a:t>
            </a:r>
            <a:endParaRPr lang="en-US" sz="630" dirty="0"/>
          </a:p>
        </p:txBody>
      </p:sp>
      <p:sp>
        <p:nvSpPr>
          <p:cNvPr id="42" name="Shape 40"/>
          <p:cNvSpPr/>
          <p:nvPr/>
        </p:nvSpPr>
        <p:spPr>
          <a:xfrm>
            <a:off x="4617720" y="3106466"/>
            <a:ext cx="3337560" cy="0"/>
          </a:xfrm>
          <a:prstGeom prst="line">
            <a:avLst/>
          </a:prstGeom>
          <a:noFill/>
          <a:ln w="7620">
            <a:solidFill>
              <a:srgbClr val="D9D9D9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4178808" y="3033314"/>
            <a:ext cx="384048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630" dirty="0">
                <a:solidFill>
                  <a:srgbClr val="7777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300</a:t>
            </a:r>
            <a:endParaRPr lang="en-US" sz="630" dirty="0"/>
          </a:p>
        </p:txBody>
      </p:sp>
      <p:sp>
        <p:nvSpPr>
          <p:cNvPr id="44" name="Shape 42"/>
          <p:cNvSpPr/>
          <p:nvPr/>
        </p:nvSpPr>
        <p:spPr>
          <a:xfrm>
            <a:off x="4617720" y="2566139"/>
            <a:ext cx="3337560" cy="0"/>
          </a:xfrm>
          <a:prstGeom prst="line">
            <a:avLst/>
          </a:prstGeom>
          <a:noFill/>
          <a:ln w="7620">
            <a:solidFill>
              <a:srgbClr val="D9D9D9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4178808" y="2492987"/>
            <a:ext cx="384048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630" dirty="0">
                <a:solidFill>
                  <a:srgbClr val="7777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400</a:t>
            </a:r>
            <a:endParaRPr lang="en-US" sz="630" dirty="0"/>
          </a:p>
        </p:txBody>
      </p:sp>
      <p:sp>
        <p:nvSpPr>
          <p:cNvPr id="46" name="Shape 44"/>
          <p:cNvSpPr/>
          <p:nvPr/>
        </p:nvSpPr>
        <p:spPr>
          <a:xfrm>
            <a:off x="4617720" y="2025812"/>
            <a:ext cx="3337560" cy="0"/>
          </a:xfrm>
          <a:prstGeom prst="line">
            <a:avLst/>
          </a:prstGeom>
          <a:noFill/>
          <a:ln w="7620">
            <a:solidFill>
              <a:srgbClr val="D9D9D9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4178808" y="1952660"/>
            <a:ext cx="384048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630" dirty="0">
                <a:solidFill>
                  <a:srgbClr val="7777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500</a:t>
            </a:r>
            <a:endParaRPr lang="en-US" sz="630" dirty="0"/>
          </a:p>
        </p:txBody>
      </p:sp>
      <p:sp>
        <p:nvSpPr>
          <p:cNvPr id="48" name="Shape 46"/>
          <p:cNvSpPr/>
          <p:nvPr/>
        </p:nvSpPr>
        <p:spPr>
          <a:xfrm>
            <a:off x="4814316" y="2404041"/>
            <a:ext cx="274320" cy="2323407"/>
          </a:xfrm>
          <a:prstGeom prst="rect">
            <a:avLst/>
          </a:prstGeom>
          <a:solidFill>
            <a:srgbClr val="333333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4677156" y="2230305"/>
            <a:ext cx="54864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630" b="1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430</a:t>
            </a:r>
            <a:endParaRPr lang="en-US" sz="630" dirty="0"/>
          </a:p>
        </p:txBody>
      </p:sp>
      <p:sp>
        <p:nvSpPr>
          <p:cNvPr id="50" name="Text 48"/>
          <p:cNvSpPr/>
          <p:nvPr/>
        </p:nvSpPr>
        <p:spPr>
          <a:xfrm>
            <a:off x="4617720" y="4818888"/>
            <a:ext cx="66751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63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Apr</a:t>
            </a:r>
            <a:endParaRPr lang="en-US" sz="630" dirty="0"/>
          </a:p>
        </p:txBody>
      </p:sp>
      <p:sp>
        <p:nvSpPr>
          <p:cNvPr id="51" name="Shape 49"/>
          <p:cNvSpPr/>
          <p:nvPr/>
        </p:nvSpPr>
        <p:spPr>
          <a:xfrm>
            <a:off x="5481828" y="2096054"/>
            <a:ext cx="274320" cy="2631394"/>
          </a:xfrm>
          <a:prstGeom prst="rect">
            <a:avLst/>
          </a:prstGeom>
          <a:solidFill>
            <a:srgbClr val="333333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52" name="Text 50"/>
          <p:cNvSpPr/>
          <p:nvPr/>
        </p:nvSpPr>
        <p:spPr>
          <a:xfrm>
            <a:off x="5344668" y="1922318"/>
            <a:ext cx="54864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630" b="1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487</a:t>
            </a:r>
            <a:endParaRPr lang="en-US" sz="630" dirty="0"/>
          </a:p>
        </p:txBody>
      </p:sp>
      <p:sp>
        <p:nvSpPr>
          <p:cNvPr id="53" name="Text 51"/>
          <p:cNvSpPr/>
          <p:nvPr/>
        </p:nvSpPr>
        <p:spPr>
          <a:xfrm>
            <a:off x="5285232" y="4818888"/>
            <a:ext cx="66751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63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May</a:t>
            </a:r>
            <a:endParaRPr lang="en-US" sz="630" dirty="0"/>
          </a:p>
        </p:txBody>
      </p:sp>
      <p:sp>
        <p:nvSpPr>
          <p:cNvPr id="54" name="Shape 52"/>
          <p:cNvSpPr/>
          <p:nvPr/>
        </p:nvSpPr>
        <p:spPr>
          <a:xfrm>
            <a:off x="6149340" y="2647188"/>
            <a:ext cx="274320" cy="2080260"/>
          </a:xfrm>
          <a:prstGeom prst="rect">
            <a:avLst/>
          </a:prstGeom>
          <a:solidFill>
            <a:srgbClr val="333333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55" name="Text 53"/>
          <p:cNvSpPr/>
          <p:nvPr/>
        </p:nvSpPr>
        <p:spPr>
          <a:xfrm>
            <a:off x="6012180" y="2473452"/>
            <a:ext cx="54864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630" b="1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385</a:t>
            </a:r>
            <a:endParaRPr lang="en-US" sz="630" dirty="0"/>
          </a:p>
        </p:txBody>
      </p:sp>
      <p:sp>
        <p:nvSpPr>
          <p:cNvPr id="56" name="Text 54"/>
          <p:cNvSpPr/>
          <p:nvPr/>
        </p:nvSpPr>
        <p:spPr>
          <a:xfrm>
            <a:off x="5952744" y="4818888"/>
            <a:ext cx="66751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63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Jun</a:t>
            </a:r>
            <a:endParaRPr lang="en-US" sz="630" dirty="0"/>
          </a:p>
        </p:txBody>
      </p:sp>
      <p:sp>
        <p:nvSpPr>
          <p:cNvPr id="57" name="Shape 55"/>
          <p:cNvSpPr/>
          <p:nvPr/>
        </p:nvSpPr>
        <p:spPr>
          <a:xfrm>
            <a:off x="6816852" y="3219935"/>
            <a:ext cx="274320" cy="1507513"/>
          </a:xfrm>
          <a:prstGeom prst="rect">
            <a:avLst/>
          </a:prstGeom>
          <a:solidFill>
            <a:srgbClr val="333333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58" name="Text 56"/>
          <p:cNvSpPr/>
          <p:nvPr/>
        </p:nvSpPr>
        <p:spPr>
          <a:xfrm>
            <a:off x="6679692" y="3046199"/>
            <a:ext cx="54864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630" b="1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279</a:t>
            </a:r>
            <a:endParaRPr lang="en-US" sz="630" dirty="0"/>
          </a:p>
        </p:txBody>
      </p:sp>
      <p:sp>
        <p:nvSpPr>
          <p:cNvPr id="59" name="Text 57"/>
          <p:cNvSpPr/>
          <p:nvPr/>
        </p:nvSpPr>
        <p:spPr>
          <a:xfrm>
            <a:off x="6620256" y="4818888"/>
            <a:ext cx="66751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63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Jul</a:t>
            </a:r>
            <a:endParaRPr lang="en-US" sz="630" dirty="0"/>
          </a:p>
        </p:txBody>
      </p:sp>
      <p:sp>
        <p:nvSpPr>
          <p:cNvPr id="60" name="Shape 58"/>
          <p:cNvSpPr/>
          <p:nvPr/>
        </p:nvSpPr>
        <p:spPr>
          <a:xfrm>
            <a:off x="7484364" y="3203725"/>
            <a:ext cx="274320" cy="1523723"/>
          </a:xfrm>
          <a:prstGeom prst="rect">
            <a:avLst/>
          </a:prstGeom>
          <a:solidFill>
            <a:srgbClr val="333333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61" name="Text 59"/>
          <p:cNvSpPr/>
          <p:nvPr/>
        </p:nvSpPr>
        <p:spPr>
          <a:xfrm>
            <a:off x="7347204" y="3029989"/>
            <a:ext cx="54864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630" b="1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282</a:t>
            </a:r>
            <a:endParaRPr lang="en-US" sz="630" dirty="0"/>
          </a:p>
        </p:txBody>
      </p:sp>
      <p:sp>
        <p:nvSpPr>
          <p:cNvPr id="62" name="Text 60"/>
          <p:cNvSpPr/>
          <p:nvPr/>
        </p:nvSpPr>
        <p:spPr>
          <a:xfrm>
            <a:off x="7287768" y="4818888"/>
            <a:ext cx="66751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63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Aug</a:t>
            </a:r>
            <a:endParaRPr lang="en-US" sz="630" dirty="0"/>
          </a:p>
        </p:txBody>
      </p:sp>
      <p:sp>
        <p:nvSpPr>
          <p:cNvPr id="63" name="Shape 61"/>
          <p:cNvSpPr/>
          <p:nvPr/>
        </p:nvSpPr>
        <p:spPr>
          <a:xfrm>
            <a:off x="749808" y="5513832"/>
            <a:ext cx="7205472" cy="530352"/>
          </a:xfrm>
          <a:prstGeom prst="rect">
            <a:avLst/>
          </a:prstGeom>
          <a:solidFill>
            <a:srgbClr val="F6F6F6"/>
          </a:solidFill>
          <a:ln w="6350">
            <a:solidFill>
              <a:srgbClr val="E0E0E0"/>
            </a:solidFill>
            <a:prstDash val="solid"/>
          </a:ln>
        </p:spPr>
      </p:sp>
      <p:sp>
        <p:nvSpPr>
          <p:cNvPr id="64" name="Text 62"/>
          <p:cNvSpPr/>
          <p:nvPr/>
        </p:nvSpPr>
        <p:spPr>
          <a:xfrm>
            <a:off x="969264" y="5678424"/>
            <a:ext cx="67665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60" b="1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Apr → Aug 2026: MOS 2.9 → 2.2  |  back-order lines 430 → 282  |  individual fill rate remains below 95%</a:t>
            </a:r>
            <a:endParaRPr lang="en-US" sz="860" dirty="0"/>
          </a:p>
        </p:txBody>
      </p:sp>
      <p:sp>
        <p:nvSpPr>
          <p:cNvPr id="65" name="Text 63"/>
          <p:cNvSpPr/>
          <p:nvPr/>
        </p:nvSpPr>
        <p:spPr>
          <a:xfrm>
            <a:off x="8915400" y="1280160"/>
            <a:ext cx="257860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" b="1" dirty="0">
                <a:solidFill>
                  <a:srgbClr val="D719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TAKEAWAYS</a:t>
            </a:r>
            <a:endParaRPr lang="en-US" sz="650" dirty="0"/>
          </a:p>
        </p:txBody>
      </p:sp>
      <p:sp>
        <p:nvSpPr>
          <p:cNvPr id="66" name="Shape 64"/>
          <p:cNvSpPr/>
          <p:nvPr/>
        </p:nvSpPr>
        <p:spPr>
          <a:xfrm>
            <a:off x="8769096" y="1234440"/>
            <a:ext cx="0" cy="5138928"/>
          </a:xfrm>
          <a:prstGeom prst="line">
            <a:avLst/>
          </a:prstGeom>
          <a:noFill/>
          <a:ln w="12700">
            <a:solidFill>
              <a:srgbClr val="D0D0D0"/>
            </a:solidFill>
            <a:prstDash val="solid"/>
          </a:ln>
        </p:spPr>
      </p:sp>
      <p:sp>
        <p:nvSpPr>
          <p:cNvPr id="67" name="Text 65"/>
          <p:cNvSpPr/>
          <p:nvPr/>
        </p:nvSpPr>
        <p:spPr>
          <a:xfrm>
            <a:off x="8915400" y="1591056"/>
            <a:ext cx="146304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D719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</a:t>
            </a:r>
            <a:endParaRPr lang="en-US" sz="900" dirty="0"/>
          </a:p>
        </p:txBody>
      </p:sp>
      <p:sp>
        <p:nvSpPr>
          <p:cNvPr id="68" name="Text 66"/>
          <p:cNvSpPr/>
          <p:nvPr/>
        </p:nvSpPr>
        <p:spPr>
          <a:xfrm>
            <a:off x="9079992" y="1591056"/>
            <a:ext cx="2414016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82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Stock depth reduced from 2.9 to 2.2 months in five months; that is a deliberate or consequential inventory change worth understanding.</a:t>
            </a:r>
            <a:endParaRPr lang="en-US" sz="820" dirty="0"/>
          </a:p>
        </p:txBody>
      </p:sp>
      <p:sp>
        <p:nvSpPr>
          <p:cNvPr id="69" name="Text 67"/>
          <p:cNvSpPr/>
          <p:nvPr/>
        </p:nvSpPr>
        <p:spPr>
          <a:xfrm>
            <a:off x="8915400" y="2322576"/>
            <a:ext cx="146304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D719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</a:t>
            </a:r>
            <a:endParaRPr lang="en-US" sz="900" dirty="0"/>
          </a:p>
        </p:txBody>
      </p:sp>
      <p:sp>
        <p:nvSpPr>
          <p:cNvPr id="70" name="Text 68"/>
          <p:cNvSpPr/>
          <p:nvPr/>
        </p:nvSpPr>
        <p:spPr>
          <a:xfrm>
            <a:off x="9079992" y="2322576"/>
            <a:ext cx="2414016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82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Back-order lines improved by 34% from April to August, so the availability issue is not simply “more back orders”.</a:t>
            </a:r>
            <a:endParaRPr lang="en-US" sz="820" dirty="0"/>
          </a:p>
        </p:txBody>
      </p:sp>
      <p:sp>
        <p:nvSpPr>
          <p:cNvPr id="71" name="Text 69"/>
          <p:cNvSpPr/>
          <p:nvPr/>
        </p:nvSpPr>
        <p:spPr>
          <a:xfrm>
            <a:off x="8915400" y="3054096"/>
            <a:ext cx="146304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D719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</a:t>
            </a:r>
            <a:endParaRPr lang="en-US" sz="900" dirty="0"/>
          </a:p>
        </p:txBody>
      </p:sp>
      <p:sp>
        <p:nvSpPr>
          <p:cNvPr id="72" name="Text 70"/>
          <p:cNvSpPr/>
          <p:nvPr/>
        </p:nvSpPr>
        <p:spPr>
          <a:xfrm>
            <a:off x="9079992" y="3054096"/>
            <a:ext cx="2414016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82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Because fill rate remains below target, the likely discussion is stock composition, replenishment discipline and fast-moving availability — not only total stock volume.</a:t>
            </a:r>
            <a:endParaRPr lang="en-US" sz="820" dirty="0"/>
          </a:p>
        </p:txBody>
      </p:sp>
      <p:sp>
        <p:nvSpPr>
          <p:cNvPr id="73" name="Text 71"/>
          <p:cNvSpPr/>
          <p:nvPr/>
        </p:nvSpPr>
        <p:spPr>
          <a:xfrm>
            <a:off x="8915400" y="3785616"/>
            <a:ext cx="146304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D719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</a:t>
            </a:r>
            <a:endParaRPr lang="en-US" sz="900" dirty="0"/>
          </a:p>
        </p:txBody>
      </p:sp>
      <p:sp>
        <p:nvSpPr>
          <p:cNvPr id="74" name="Text 72"/>
          <p:cNvSpPr/>
          <p:nvPr/>
        </p:nvSpPr>
        <p:spPr>
          <a:xfrm>
            <a:off x="9079992" y="3785616"/>
            <a:ext cx="2414016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82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causal conclusion is made from the KPI trends alone; I Motors should confirm which categories and references are driving the misses.</a:t>
            </a:r>
            <a:endParaRPr lang="en-US" sz="820" dirty="0"/>
          </a:p>
        </p:txBody>
      </p:sp>
      <p:sp>
        <p:nvSpPr>
          <p:cNvPr id="75" name="Text 73"/>
          <p:cNvSpPr/>
          <p:nvPr/>
        </p:nvSpPr>
        <p:spPr>
          <a:xfrm>
            <a:off x="1325880" y="6483096"/>
            <a:ext cx="978408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570" dirty="0">
                <a:solidFill>
                  <a:srgbClr val="7777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Source: KPI Master File.xlsx, Parts Handling. Latest reported month Aug 2026.</a:t>
            </a:r>
            <a:endParaRPr lang="en-US" sz="57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475720" y="6464808"/>
            <a:ext cx="457200" cy="13716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650">
                <a:solidFill>
                  <a:srgbClr val="777777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10896" y="182880"/>
            <a:ext cx="34747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60" b="1" spc="70" kern="0" dirty="0">
                <a:solidFill>
                  <a:srgbClr val="D719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FLEET CONTEXT</a:t>
            </a:r>
            <a:endParaRPr lang="en-US" sz="660" dirty="0"/>
          </a:p>
        </p:txBody>
      </p:sp>
      <p:sp>
        <p:nvSpPr>
          <p:cNvPr id="3" name="Text 1"/>
          <p:cNvSpPr/>
          <p:nvPr/>
        </p:nvSpPr>
        <p:spPr>
          <a:xfrm>
            <a:off x="310896" y="420624"/>
            <a:ext cx="113842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800" b="1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vehicle base is larger and parts billed have grown, but 2025 fleet is still an estimate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310896" y="886968"/>
            <a:ext cx="11430000" cy="0"/>
          </a:xfrm>
          <a:prstGeom prst="line">
            <a:avLst/>
          </a:prstGeom>
          <a:noFill/>
          <a:ln w="15875">
            <a:solidFill>
              <a:srgbClr val="D7192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310896" y="923544"/>
            <a:ext cx="11292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3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Portugal | Calendar 2023–2025</a:t>
            </a:r>
            <a:endParaRPr lang="en-US" sz="830" dirty="0"/>
          </a:p>
        </p:txBody>
      </p:sp>
      <p:sp>
        <p:nvSpPr>
          <p:cNvPr id="6" name="Shape 4"/>
          <p:cNvSpPr/>
          <p:nvPr/>
        </p:nvSpPr>
        <p:spPr>
          <a:xfrm>
            <a:off x="749808" y="5093208"/>
            <a:ext cx="4892040" cy="0"/>
          </a:xfrm>
          <a:prstGeom prst="line">
            <a:avLst/>
          </a:prstGeom>
          <a:noFill/>
          <a:ln w="7620">
            <a:solidFill>
              <a:srgbClr val="D9D9D9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10896" y="5020056"/>
            <a:ext cx="384048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630" dirty="0">
                <a:solidFill>
                  <a:srgbClr val="7777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€0.0M</a:t>
            </a:r>
            <a:endParaRPr lang="en-US" sz="630" dirty="0"/>
          </a:p>
        </p:txBody>
      </p:sp>
      <p:sp>
        <p:nvSpPr>
          <p:cNvPr id="8" name="Shape 6"/>
          <p:cNvSpPr/>
          <p:nvPr/>
        </p:nvSpPr>
        <p:spPr>
          <a:xfrm>
            <a:off x="749808" y="4213098"/>
            <a:ext cx="4892040" cy="0"/>
          </a:xfrm>
          <a:prstGeom prst="line">
            <a:avLst/>
          </a:prstGeom>
          <a:noFill/>
          <a:ln w="7620">
            <a:solidFill>
              <a:srgbClr val="D9D9D9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10896" y="4139946"/>
            <a:ext cx="384048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630" dirty="0">
                <a:solidFill>
                  <a:srgbClr val="7777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€0.5M</a:t>
            </a:r>
            <a:endParaRPr lang="en-US" sz="630" dirty="0"/>
          </a:p>
        </p:txBody>
      </p:sp>
      <p:sp>
        <p:nvSpPr>
          <p:cNvPr id="10" name="Shape 8"/>
          <p:cNvSpPr/>
          <p:nvPr/>
        </p:nvSpPr>
        <p:spPr>
          <a:xfrm>
            <a:off x="749808" y="3332988"/>
            <a:ext cx="4892040" cy="0"/>
          </a:xfrm>
          <a:prstGeom prst="line">
            <a:avLst/>
          </a:prstGeom>
          <a:noFill/>
          <a:ln w="7620">
            <a:solidFill>
              <a:srgbClr val="D9D9D9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10896" y="3259836"/>
            <a:ext cx="384048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630" dirty="0">
                <a:solidFill>
                  <a:srgbClr val="7777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€1.0M</a:t>
            </a:r>
            <a:endParaRPr lang="en-US" sz="630" dirty="0"/>
          </a:p>
        </p:txBody>
      </p:sp>
      <p:sp>
        <p:nvSpPr>
          <p:cNvPr id="12" name="Shape 10"/>
          <p:cNvSpPr/>
          <p:nvPr/>
        </p:nvSpPr>
        <p:spPr>
          <a:xfrm>
            <a:off x="749808" y="2452878"/>
            <a:ext cx="4892040" cy="0"/>
          </a:xfrm>
          <a:prstGeom prst="line">
            <a:avLst/>
          </a:prstGeom>
          <a:noFill/>
          <a:ln w="7620">
            <a:solidFill>
              <a:srgbClr val="D9D9D9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10896" y="2379726"/>
            <a:ext cx="384048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630" dirty="0">
                <a:solidFill>
                  <a:srgbClr val="7777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€1.5M</a:t>
            </a:r>
            <a:endParaRPr lang="en-US" sz="630" dirty="0"/>
          </a:p>
        </p:txBody>
      </p:sp>
      <p:sp>
        <p:nvSpPr>
          <p:cNvPr id="14" name="Shape 12"/>
          <p:cNvSpPr/>
          <p:nvPr/>
        </p:nvSpPr>
        <p:spPr>
          <a:xfrm>
            <a:off x="749808" y="1572768"/>
            <a:ext cx="4892040" cy="0"/>
          </a:xfrm>
          <a:prstGeom prst="line">
            <a:avLst/>
          </a:prstGeom>
          <a:noFill/>
          <a:ln w="7620">
            <a:solidFill>
              <a:srgbClr val="D9D9D9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10896" y="1499616"/>
            <a:ext cx="384048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630" dirty="0">
                <a:solidFill>
                  <a:srgbClr val="7777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€2.0M</a:t>
            </a:r>
            <a:endParaRPr lang="en-US" sz="630" dirty="0"/>
          </a:p>
        </p:txBody>
      </p:sp>
      <p:sp>
        <p:nvSpPr>
          <p:cNvPr id="16" name="Shape 14"/>
          <p:cNvSpPr/>
          <p:nvPr/>
        </p:nvSpPr>
        <p:spPr>
          <a:xfrm>
            <a:off x="1427988" y="2692268"/>
            <a:ext cx="274320" cy="2400940"/>
          </a:xfrm>
          <a:prstGeom prst="rect">
            <a:avLst/>
          </a:prstGeom>
          <a:solidFill>
            <a:srgbClr val="D71920"/>
          </a:solidFill>
          <a:ln w="12700">
            <a:solidFill>
              <a:srgbClr val="D71920">
                <a:alpha val="0"/>
              </a:srgbClr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290828" y="2518532"/>
            <a:ext cx="54864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630" b="1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€1.36M</a:t>
            </a:r>
            <a:endParaRPr lang="en-US" sz="630" dirty="0"/>
          </a:p>
        </p:txBody>
      </p:sp>
      <p:sp>
        <p:nvSpPr>
          <p:cNvPr id="18" name="Text 16"/>
          <p:cNvSpPr/>
          <p:nvPr/>
        </p:nvSpPr>
        <p:spPr>
          <a:xfrm>
            <a:off x="749808" y="5184648"/>
            <a:ext cx="16306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63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2023</a:t>
            </a:r>
            <a:endParaRPr lang="en-US" sz="630" dirty="0"/>
          </a:p>
        </p:txBody>
      </p:sp>
      <p:sp>
        <p:nvSpPr>
          <p:cNvPr id="19" name="Shape 17"/>
          <p:cNvSpPr/>
          <p:nvPr/>
        </p:nvSpPr>
        <p:spPr>
          <a:xfrm>
            <a:off x="3058668" y="2387750"/>
            <a:ext cx="274320" cy="2705458"/>
          </a:xfrm>
          <a:prstGeom prst="rect">
            <a:avLst/>
          </a:prstGeom>
          <a:solidFill>
            <a:srgbClr val="D71920"/>
          </a:solidFill>
          <a:ln w="12700">
            <a:solidFill>
              <a:srgbClr val="D71920">
                <a:alpha val="0"/>
              </a:srgbClr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2921508" y="2214014"/>
            <a:ext cx="54864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630" b="1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€1.54M</a:t>
            </a:r>
            <a:endParaRPr lang="en-US" sz="630" dirty="0"/>
          </a:p>
        </p:txBody>
      </p:sp>
      <p:sp>
        <p:nvSpPr>
          <p:cNvPr id="21" name="Text 19"/>
          <p:cNvSpPr/>
          <p:nvPr/>
        </p:nvSpPr>
        <p:spPr>
          <a:xfrm>
            <a:off x="2380488" y="5184648"/>
            <a:ext cx="16306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63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2024</a:t>
            </a:r>
            <a:endParaRPr lang="en-US" sz="630" dirty="0"/>
          </a:p>
        </p:txBody>
      </p:sp>
      <p:sp>
        <p:nvSpPr>
          <p:cNvPr id="22" name="Shape 20"/>
          <p:cNvSpPr/>
          <p:nvPr/>
        </p:nvSpPr>
        <p:spPr>
          <a:xfrm>
            <a:off x="4689348" y="2083232"/>
            <a:ext cx="274320" cy="3009976"/>
          </a:xfrm>
          <a:prstGeom prst="rect">
            <a:avLst/>
          </a:prstGeom>
          <a:solidFill>
            <a:srgbClr val="D71920"/>
          </a:solidFill>
          <a:ln w="12700">
            <a:solidFill>
              <a:srgbClr val="D71920">
                <a:alpha val="0"/>
              </a:srgbClr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552188" y="1909496"/>
            <a:ext cx="54864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630" b="1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€1.71M</a:t>
            </a:r>
            <a:endParaRPr lang="en-US" sz="630" dirty="0"/>
          </a:p>
        </p:txBody>
      </p:sp>
      <p:sp>
        <p:nvSpPr>
          <p:cNvPr id="24" name="Text 22"/>
          <p:cNvSpPr/>
          <p:nvPr/>
        </p:nvSpPr>
        <p:spPr>
          <a:xfrm>
            <a:off x="4011168" y="5184648"/>
            <a:ext cx="16306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63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2025</a:t>
            </a:r>
            <a:endParaRPr lang="en-US" sz="630" dirty="0"/>
          </a:p>
        </p:txBody>
      </p:sp>
      <p:sp>
        <p:nvSpPr>
          <p:cNvPr id="25" name="Text 23"/>
          <p:cNvSpPr/>
          <p:nvPr/>
        </p:nvSpPr>
        <p:spPr>
          <a:xfrm>
            <a:off x="749808" y="1335024"/>
            <a:ext cx="29260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b="1" dirty="0">
                <a:solidFill>
                  <a:srgbClr val="D719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PARTS BILLED TO I MOTORS</a:t>
            </a:r>
            <a:endParaRPr lang="en-US" sz="700" dirty="0"/>
          </a:p>
        </p:txBody>
      </p:sp>
      <p:sp>
        <p:nvSpPr>
          <p:cNvPr id="26" name="Text 24"/>
          <p:cNvSpPr/>
          <p:nvPr/>
        </p:nvSpPr>
        <p:spPr>
          <a:xfrm>
            <a:off x="5989320" y="1335024"/>
            <a:ext cx="25603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b="1" dirty="0">
                <a:solidFill>
                  <a:srgbClr val="D719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VEHICLES IN SERVICE</a:t>
            </a:r>
            <a:endParaRPr lang="en-US" sz="700" dirty="0"/>
          </a:p>
        </p:txBody>
      </p:sp>
      <p:sp>
        <p:nvSpPr>
          <p:cNvPr id="27" name="Shape 25"/>
          <p:cNvSpPr/>
          <p:nvPr/>
        </p:nvSpPr>
        <p:spPr>
          <a:xfrm>
            <a:off x="6126480" y="5093208"/>
            <a:ext cx="2011680" cy="0"/>
          </a:xfrm>
          <a:prstGeom prst="line">
            <a:avLst/>
          </a:prstGeom>
          <a:noFill/>
          <a:ln w="7620">
            <a:solidFill>
              <a:srgbClr val="D9D9D9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5687568" y="5020056"/>
            <a:ext cx="384048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630" dirty="0">
                <a:solidFill>
                  <a:srgbClr val="7777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5.5K</a:t>
            </a:r>
            <a:endParaRPr lang="en-US" sz="630" dirty="0"/>
          </a:p>
        </p:txBody>
      </p:sp>
      <p:sp>
        <p:nvSpPr>
          <p:cNvPr id="29" name="Shape 27"/>
          <p:cNvSpPr/>
          <p:nvPr/>
        </p:nvSpPr>
        <p:spPr>
          <a:xfrm>
            <a:off x="6126480" y="4213098"/>
            <a:ext cx="2011680" cy="0"/>
          </a:xfrm>
          <a:prstGeom prst="line">
            <a:avLst/>
          </a:prstGeom>
          <a:noFill/>
          <a:ln w="7620">
            <a:solidFill>
              <a:srgbClr val="D9D9D9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5687568" y="4139946"/>
            <a:ext cx="384048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630" dirty="0">
                <a:solidFill>
                  <a:srgbClr val="7777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6.0K</a:t>
            </a:r>
            <a:endParaRPr lang="en-US" sz="630" dirty="0"/>
          </a:p>
        </p:txBody>
      </p:sp>
      <p:sp>
        <p:nvSpPr>
          <p:cNvPr id="31" name="Shape 29"/>
          <p:cNvSpPr/>
          <p:nvPr/>
        </p:nvSpPr>
        <p:spPr>
          <a:xfrm>
            <a:off x="6126480" y="3332988"/>
            <a:ext cx="2011680" cy="0"/>
          </a:xfrm>
          <a:prstGeom prst="line">
            <a:avLst/>
          </a:prstGeom>
          <a:noFill/>
          <a:ln w="7620">
            <a:solidFill>
              <a:srgbClr val="D9D9D9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5687568" y="3259836"/>
            <a:ext cx="384048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630" dirty="0">
                <a:solidFill>
                  <a:srgbClr val="7777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6.5K</a:t>
            </a:r>
            <a:endParaRPr lang="en-US" sz="630" dirty="0"/>
          </a:p>
        </p:txBody>
      </p:sp>
      <p:sp>
        <p:nvSpPr>
          <p:cNvPr id="33" name="Shape 31"/>
          <p:cNvSpPr/>
          <p:nvPr/>
        </p:nvSpPr>
        <p:spPr>
          <a:xfrm>
            <a:off x="6126480" y="2452878"/>
            <a:ext cx="2011680" cy="0"/>
          </a:xfrm>
          <a:prstGeom prst="line">
            <a:avLst/>
          </a:prstGeom>
          <a:noFill/>
          <a:ln w="7620">
            <a:solidFill>
              <a:srgbClr val="D9D9D9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5687568" y="2379726"/>
            <a:ext cx="384048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630" dirty="0">
                <a:solidFill>
                  <a:srgbClr val="7777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7.0K</a:t>
            </a:r>
            <a:endParaRPr lang="en-US" sz="630" dirty="0"/>
          </a:p>
        </p:txBody>
      </p:sp>
      <p:sp>
        <p:nvSpPr>
          <p:cNvPr id="35" name="Shape 33"/>
          <p:cNvSpPr/>
          <p:nvPr/>
        </p:nvSpPr>
        <p:spPr>
          <a:xfrm>
            <a:off x="6126480" y="1572768"/>
            <a:ext cx="2011680" cy="0"/>
          </a:xfrm>
          <a:prstGeom prst="line">
            <a:avLst/>
          </a:prstGeom>
          <a:noFill/>
          <a:ln w="7620">
            <a:solidFill>
              <a:srgbClr val="D9D9D9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5687568" y="1499616"/>
            <a:ext cx="384048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630" dirty="0">
                <a:solidFill>
                  <a:srgbClr val="7777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7.5K</a:t>
            </a:r>
            <a:endParaRPr lang="en-US" sz="630" dirty="0"/>
          </a:p>
        </p:txBody>
      </p:sp>
      <p:sp>
        <p:nvSpPr>
          <p:cNvPr id="37" name="Shape 35"/>
          <p:cNvSpPr/>
          <p:nvPr/>
        </p:nvSpPr>
        <p:spPr>
          <a:xfrm>
            <a:off x="6085332" y="4011770"/>
            <a:ext cx="82296" cy="82296"/>
          </a:xfrm>
          <a:prstGeom prst="ellipse">
            <a:avLst/>
          </a:prstGeom>
          <a:solidFill>
            <a:srgbClr val="222222"/>
          </a:solidFill>
          <a:ln w="12700">
            <a:solidFill>
              <a:srgbClr val="222222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5879592" y="3824318"/>
            <a:ext cx="49377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20" b="1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6,091</a:t>
            </a:r>
            <a:endParaRPr lang="en-US" sz="620" dirty="0"/>
          </a:p>
        </p:txBody>
      </p:sp>
      <p:sp>
        <p:nvSpPr>
          <p:cNvPr id="39" name="Shape 37"/>
          <p:cNvSpPr/>
          <p:nvPr/>
        </p:nvSpPr>
        <p:spPr>
          <a:xfrm>
            <a:off x="6126480" y="4052918"/>
            <a:ext cx="1005840" cy="-1429299"/>
          </a:xfrm>
          <a:prstGeom prst="line">
            <a:avLst/>
          </a:prstGeom>
          <a:noFill/>
          <a:ln w="25400">
            <a:solidFill>
              <a:srgbClr val="222222"/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7091172" y="2582471"/>
            <a:ext cx="82296" cy="82296"/>
          </a:xfrm>
          <a:prstGeom prst="ellipse">
            <a:avLst/>
          </a:prstGeom>
          <a:solidFill>
            <a:srgbClr val="222222"/>
          </a:solidFill>
          <a:ln w="12700">
            <a:solidFill>
              <a:srgbClr val="222222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6885432" y="2395019"/>
            <a:ext cx="49377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20" b="1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6,903</a:t>
            </a:r>
            <a:endParaRPr lang="en-US" sz="620" dirty="0"/>
          </a:p>
        </p:txBody>
      </p:sp>
      <p:sp>
        <p:nvSpPr>
          <p:cNvPr id="42" name="Shape 40"/>
          <p:cNvSpPr/>
          <p:nvPr/>
        </p:nvSpPr>
        <p:spPr>
          <a:xfrm>
            <a:off x="7132320" y="2623619"/>
            <a:ext cx="1005840" cy="-536867"/>
          </a:xfrm>
          <a:prstGeom prst="line">
            <a:avLst/>
          </a:prstGeom>
          <a:noFill/>
          <a:ln w="25400">
            <a:solidFill>
              <a:srgbClr val="222222"/>
            </a:solidFill>
            <a:prstDash val="solid"/>
          </a:ln>
        </p:spPr>
      </p:sp>
      <p:sp>
        <p:nvSpPr>
          <p:cNvPr id="43" name="Shape 41"/>
          <p:cNvSpPr/>
          <p:nvPr/>
        </p:nvSpPr>
        <p:spPr>
          <a:xfrm>
            <a:off x="8097012" y="2045604"/>
            <a:ext cx="82296" cy="82296"/>
          </a:xfrm>
          <a:prstGeom prst="ellipse">
            <a:avLst/>
          </a:prstGeom>
          <a:solidFill>
            <a:srgbClr val="222222"/>
          </a:solidFill>
          <a:ln w="12700">
            <a:solidFill>
              <a:srgbClr val="222222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7891272" y="1858152"/>
            <a:ext cx="49377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20" b="1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7,208</a:t>
            </a:r>
            <a:endParaRPr lang="en-US" sz="620" dirty="0"/>
          </a:p>
        </p:txBody>
      </p:sp>
      <p:sp>
        <p:nvSpPr>
          <p:cNvPr id="45" name="Text 43"/>
          <p:cNvSpPr/>
          <p:nvPr/>
        </p:nvSpPr>
        <p:spPr>
          <a:xfrm>
            <a:off x="5833872" y="5184648"/>
            <a:ext cx="58521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6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2023</a:t>
            </a:r>
            <a:endParaRPr lang="en-US" sz="600" dirty="0"/>
          </a:p>
        </p:txBody>
      </p:sp>
      <p:sp>
        <p:nvSpPr>
          <p:cNvPr id="46" name="Text 44"/>
          <p:cNvSpPr/>
          <p:nvPr/>
        </p:nvSpPr>
        <p:spPr>
          <a:xfrm>
            <a:off x="6839712" y="5184648"/>
            <a:ext cx="58521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6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2024</a:t>
            </a:r>
            <a:endParaRPr lang="en-US" sz="600" dirty="0"/>
          </a:p>
        </p:txBody>
      </p:sp>
      <p:sp>
        <p:nvSpPr>
          <p:cNvPr id="47" name="Text 45"/>
          <p:cNvSpPr/>
          <p:nvPr/>
        </p:nvSpPr>
        <p:spPr>
          <a:xfrm>
            <a:off x="7845552" y="5184648"/>
            <a:ext cx="58521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6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2025</a:t>
            </a:r>
            <a:endParaRPr lang="en-US" sz="600" dirty="0"/>
          </a:p>
        </p:txBody>
      </p:sp>
      <p:sp>
        <p:nvSpPr>
          <p:cNvPr id="48" name="Shape 46"/>
          <p:cNvSpPr/>
          <p:nvPr/>
        </p:nvSpPr>
        <p:spPr>
          <a:xfrm>
            <a:off x="749808" y="5504688"/>
            <a:ext cx="7388352" cy="548640"/>
          </a:xfrm>
          <a:prstGeom prst="rect">
            <a:avLst/>
          </a:prstGeom>
          <a:solidFill>
            <a:srgbClr val="F6F6F6"/>
          </a:solidFill>
          <a:ln w="6350">
            <a:solidFill>
              <a:srgbClr val="E0E0E0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960120" y="5669280"/>
            <a:ext cx="696772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40" b="1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2023–2025: parts billed +25.4%  |  fleet base +18.3%  |  2025 fleet = estimate, not actual registration count</a:t>
            </a:r>
            <a:endParaRPr lang="en-US" sz="840" dirty="0"/>
          </a:p>
        </p:txBody>
      </p:sp>
      <p:sp>
        <p:nvSpPr>
          <p:cNvPr id="50" name="Text 48"/>
          <p:cNvSpPr/>
          <p:nvPr/>
        </p:nvSpPr>
        <p:spPr>
          <a:xfrm>
            <a:off x="8915400" y="1280160"/>
            <a:ext cx="257860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" b="1" dirty="0">
                <a:solidFill>
                  <a:srgbClr val="D719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TAKEAWAYS</a:t>
            </a:r>
            <a:endParaRPr lang="en-US" sz="650" dirty="0"/>
          </a:p>
        </p:txBody>
      </p:sp>
      <p:sp>
        <p:nvSpPr>
          <p:cNvPr id="51" name="Shape 49"/>
          <p:cNvSpPr/>
          <p:nvPr/>
        </p:nvSpPr>
        <p:spPr>
          <a:xfrm>
            <a:off x="8769096" y="1234440"/>
            <a:ext cx="0" cy="5138928"/>
          </a:xfrm>
          <a:prstGeom prst="line">
            <a:avLst/>
          </a:prstGeom>
          <a:noFill/>
          <a:ln w="12700">
            <a:solidFill>
              <a:srgbClr val="D0D0D0"/>
            </a:solidFill>
            <a:prstDash val="solid"/>
          </a:ln>
        </p:spPr>
      </p:sp>
      <p:sp>
        <p:nvSpPr>
          <p:cNvPr id="52" name="Text 50"/>
          <p:cNvSpPr/>
          <p:nvPr/>
        </p:nvSpPr>
        <p:spPr>
          <a:xfrm>
            <a:off x="8915400" y="1591056"/>
            <a:ext cx="146304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D719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</a:t>
            </a:r>
            <a:endParaRPr lang="en-US" sz="900" dirty="0"/>
          </a:p>
        </p:txBody>
      </p:sp>
      <p:sp>
        <p:nvSpPr>
          <p:cNvPr id="53" name="Text 51"/>
          <p:cNvSpPr/>
          <p:nvPr/>
        </p:nvSpPr>
        <p:spPr>
          <a:xfrm>
            <a:off x="9079992" y="1591056"/>
            <a:ext cx="2414016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82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Parts billed rose from €1.364M to €1.710M over 2023–2025, while the fleet base used by the current model rose from 6,091 to 7,208.</a:t>
            </a:r>
            <a:endParaRPr lang="en-US" sz="820" dirty="0"/>
          </a:p>
        </p:txBody>
      </p:sp>
      <p:sp>
        <p:nvSpPr>
          <p:cNvPr id="54" name="Text 52"/>
          <p:cNvSpPr/>
          <p:nvPr/>
        </p:nvSpPr>
        <p:spPr>
          <a:xfrm>
            <a:off x="8915400" y="2322576"/>
            <a:ext cx="146304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D719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</a:t>
            </a:r>
            <a:endParaRPr lang="en-US" sz="900" dirty="0"/>
          </a:p>
        </p:txBody>
      </p:sp>
      <p:sp>
        <p:nvSpPr>
          <p:cNvPr id="55" name="Text 53"/>
          <p:cNvSpPr/>
          <p:nvPr/>
        </p:nvSpPr>
        <p:spPr>
          <a:xfrm>
            <a:off x="9079992" y="2322576"/>
            <a:ext cx="2414016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82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2023 and 2024 are actual fleet years; 2025 is an estimate in the current fleet workbook. The 2026 forecast is not used.</a:t>
            </a:r>
            <a:endParaRPr lang="en-US" sz="820" dirty="0"/>
          </a:p>
        </p:txBody>
      </p:sp>
      <p:sp>
        <p:nvSpPr>
          <p:cNvPr id="56" name="Text 54"/>
          <p:cNvSpPr/>
          <p:nvPr/>
        </p:nvSpPr>
        <p:spPr>
          <a:xfrm>
            <a:off x="8915400" y="3054096"/>
            <a:ext cx="146304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D719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</a:t>
            </a:r>
            <a:endParaRPr lang="en-US" sz="900" dirty="0"/>
          </a:p>
        </p:txBody>
      </p:sp>
      <p:sp>
        <p:nvSpPr>
          <p:cNvPr id="57" name="Text 55"/>
          <p:cNvSpPr/>
          <p:nvPr/>
        </p:nvSpPr>
        <p:spPr>
          <a:xfrm>
            <a:off x="9079992" y="3054096"/>
            <a:ext cx="2414016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82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supports using the fleet as context for opportunity, but not claiming that every euro of growth is penetration improvement.</a:t>
            </a:r>
            <a:endParaRPr lang="en-US" sz="820" dirty="0"/>
          </a:p>
        </p:txBody>
      </p:sp>
      <p:sp>
        <p:nvSpPr>
          <p:cNvPr id="58" name="Text 56"/>
          <p:cNvSpPr/>
          <p:nvPr/>
        </p:nvSpPr>
        <p:spPr>
          <a:xfrm>
            <a:off x="8915400" y="3785616"/>
            <a:ext cx="146304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D719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</a:t>
            </a:r>
            <a:endParaRPr lang="en-US" sz="900" dirty="0"/>
          </a:p>
        </p:txBody>
      </p:sp>
      <p:sp>
        <p:nvSpPr>
          <p:cNvPr id="59" name="Text 57"/>
          <p:cNvSpPr/>
          <p:nvPr/>
        </p:nvSpPr>
        <p:spPr>
          <a:xfrm>
            <a:off x="9079992" y="3785616"/>
            <a:ext cx="2414016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82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next slide therefore separates measured billing from the modelled target-spend ceiling.</a:t>
            </a:r>
            <a:endParaRPr lang="en-US" sz="820" dirty="0"/>
          </a:p>
        </p:txBody>
      </p:sp>
      <p:sp>
        <p:nvSpPr>
          <p:cNvPr id="60" name="Text 58"/>
          <p:cNvSpPr/>
          <p:nvPr/>
        </p:nvSpPr>
        <p:spPr>
          <a:xfrm>
            <a:off x="1325880" y="6483096"/>
            <a:ext cx="978408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570" dirty="0">
                <a:solidFill>
                  <a:srgbClr val="7777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Sources: 01_parts_billed_vs_target_by_market.csv; 07_fleet_trucks_in_service.csv.</a:t>
            </a:r>
            <a:endParaRPr lang="en-US" sz="57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475720" y="6464808"/>
            <a:ext cx="457200" cy="13716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650">
                <a:solidFill>
                  <a:srgbClr val="777777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10896" y="182880"/>
            <a:ext cx="34747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60" b="1" spc="70" kern="0" dirty="0">
                <a:solidFill>
                  <a:srgbClr val="D719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COMMERCIAL POTENTIAL</a:t>
            </a:r>
            <a:endParaRPr lang="en-US" sz="660" dirty="0"/>
          </a:p>
        </p:txBody>
      </p:sp>
      <p:sp>
        <p:nvSpPr>
          <p:cNvPr id="3" name="Text 1"/>
          <p:cNvSpPr/>
          <p:nvPr/>
        </p:nvSpPr>
        <p:spPr>
          <a:xfrm>
            <a:off x="310896" y="420624"/>
            <a:ext cx="113842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800" b="1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Progress against the modelled fleet potential improved in 2025, but a large gap remains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310896" y="886968"/>
            <a:ext cx="11430000" cy="0"/>
          </a:xfrm>
          <a:prstGeom prst="line">
            <a:avLst/>
          </a:prstGeom>
          <a:noFill/>
          <a:ln w="15875">
            <a:solidFill>
              <a:srgbClr val="D7192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310896" y="923544"/>
            <a:ext cx="11292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3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Portugal | Calendar 2023–2025 | target spend is a ceiling, not a forecast</a:t>
            </a:r>
            <a:endParaRPr lang="en-US" sz="830" dirty="0"/>
          </a:p>
        </p:txBody>
      </p:sp>
      <p:sp>
        <p:nvSpPr>
          <p:cNvPr id="6" name="Shape 4"/>
          <p:cNvSpPr/>
          <p:nvPr/>
        </p:nvSpPr>
        <p:spPr>
          <a:xfrm>
            <a:off x="694944" y="5148072"/>
            <a:ext cx="4983480" cy="0"/>
          </a:xfrm>
          <a:prstGeom prst="line">
            <a:avLst/>
          </a:prstGeom>
          <a:noFill/>
          <a:ln w="7620">
            <a:solidFill>
              <a:srgbClr val="D9D9D9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256032" y="5074920"/>
            <a:ext cx="384048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630" dirty="0">
                <a:solidFill>
                  <a:srgbClr val="7777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€0M</a:t>
            </a:r>
            <a:endParaRPr lang="en-US" sz="630" dirty="0"/>
          </a:p>
        </p:txBody>
      </p:sp>
      <p:sp>
        <p:nvSpPr>
          <p:cNvPr id="8" name="Shape 6"/>
          <p:cNvSpPr/>
          <p:nvPr/>
        </p:nvSpPr>
        <p:spPr>
          <a:xfrm>
            <a:off x="694944" y="4085754"/>
            <a:ext cx="4983480" cy="0"/>
          </a:xfrm>
          <a:prstGeom prst="line">
            <a:avLst/>
          </a:prstGeom>
          <a:noFill/>
          <a:ln w="7620">
            <a:solidFill>
              <a:srgbClr val="D9D9D9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256032" y="4012602"/>
            <a:ext cx="384048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630" dirty="0">
                <a:solidFill>
                  <a:srgbClr val="7777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€1M</a:t>
            </a:r>
            <a:endParaRPr lang="en-US" sz="630" dirty="0"/>
          </a:p>
        </p:txBody>
      </p:sp>
      <p:sp>
        <p:nvSpPr>
          <p:cNvPr id="10" name="Shape 8"/>
          <p:cNvSpPr/>
          <p:nvPr/>
        </p:nvSpPr>
        <p:spPr>
          <a:xfrm>
            <a:off x="694944" y="3023437"/>
            <a:ext cx="4983480" cy="0"/>
          </a:xfrm>
          <a:prstGeom prst="line">
            <a:avLst/>
          </a:prstGeom>
          <a:noFill/>
          <a:ln w="7620">
            <a:solidFill>
              <a:srgbClr val="D9D9D9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256032" y="2950285"/>
            <a:ext cx="384048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630" dirty="0">
                <a:solidFill>
                  <a:srgbClr val="7777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€2M</a:t>
            </a:r>
            <a:endParaRPr lang="en-US" sz="630" dirty="0"/>
          </a:p>
        </p:txBody>
      </p:sp>
      <p:sp>
        <p:nvSpPr>
          <p:cNvPr id="12" name="Shape 10"/>
          <p:cNvSpPr/>
          <p:nvPr/>
        </p:nvSpPr>
        <p:spPr>
          <a:xfrm>
            <a:off x="694944" y="1961119"/>
            <a:ext cx="4983480" cy="0"/>
          </a:xfrm>
          <a:prstGeom prst="line">
            <a:avLst/>
          </a:prstGeom>
          <a:noFill/>
          <a:ln w="7620">
            <a:solidFill>
              <a:srgbClr val="D9D9D9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256032" y="1887967"/>
            <a:ext cx="384048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630" dirty="0">
                <a:solidFill>
                  <a:srgbClr val="7777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€3M</a:t>
            </a:r>
            <a:endParaRPr lang="en-US" sz="630" dirty="0"/>
          </a:p>
        </p:txBody>
      </p:sp>
      <p:sp>
        <p:nvSpPr>
          <p:cNvPr id="14" name="Shape 12"/>
          <p:cNvSpPr/>
          <p:nvPr/>
        </p:nvSpPr>
        <p:spPr>
          <a:xfrm>
            <a:off x="1223772" y="3699071"/>
            <a:ext cx="274320" cy="1449001"/>
          </a:xfrm>
          <a:prstGeom prst="rect">
            <a:avLst/>
          </a:prstGeom>
          <a:solidFill>
            <a:srgbClr val="D71920"/>
          </a:solidFill>
          <a:ln w="12700">
            <a:solidFill>
              <a:srgbClr val="D71920">
                <a:alpha val="0"/>
              </a:srgbClr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1086612" y="3525335"/>
            <a:ext cx="54864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630" b="1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€1.36M</a:t>
            </a:r>
            <a:endParaRPr lang="en-US" sz="630" dirty="0"/>
          </a:p>
        </p:txBody>
      </p:sp>
      <p:sp>
        <p:nvSpPr>
          <p:cNvPr id="16" name="Shape 14"/>
          <p:cNvSpPr/>
          <p:nvPr/>
        </p:nvSpPr>
        <p:spPr>
          <a:xfrm>
            <a:off x="1552956" y="2291500"/>
            <a:ext cx="274320" cy="2856572"/>
          </a:xfrm>
          <a:prstGeom prst="rect">
            <a:avLst/>
          </a:prstGeom>
          <a:solidFill>
            <a:srgbClr val="2D2D2D"/>
          </a:solidFill>
          <a:ln w="12700">
            <a:solidFill>
              <a:srgbClr val="2D2D2D">
                <a:alpha val="0"/>
              </a:srgbClr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415796" y="2117764"/>
            <a:ext cx="54864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630" b="1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€2.69M</a:t>
            </a:r>
            <a:endParaRPr lang="en-US" sz="630" dirty="0"/>
          </a:p>
        </p:txBody>
      </p:sp>
      <p:sp>
        <p:nvSpPr>
          <p:cNvPr id="18" name="Text 16"/>
          <p:cNvSpPr/>
          <p:nvPr/>
        </p:nvSpPr>
        <p:spPr>
          <a:xfrm>
            <a:off x="694944" y="5239512"/>
            <a:ext cx="16611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63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2023</a:t>
            </a:r>
            <a:endParaRPr lang="en-US" sz="630" dirty="0"/>
          </a:p>
        </p:txBody>
      </p:sp>
      <p:sp>
        <p:nvSpPr>
          <p:cNvPr id="19" name="Shape 17"/>
          <p:cNvSpPr/>
          <p:nvPr/>
        </p:nvSpPr>
        <p:spPr>
          <a:xfrm>
            <a:off x="2884932" y="3515290"/>
            <a:ext cx="274320" cy="1632782"/>
          </a:xfrm>
          <a:prstGeom prst="rect">
            <a:avLst/>
          </a:prstGeom>
          <a:solidFill>
            <a:srgbClr val="D71920"/>
          </a:solidFill>
          <a:ln w="12700">
            <a:solidFill>
              <a:srgbClr val="D71920">
                <a:alpha val="0"/>
              </a:srgbClr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2747772" y="3341554"/>
            <a:ext cx="54864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630" b="1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€1.54M</a:t>
            </a:r>
            <a:endParaRPr lang="en-US" sz="630" dirty="0"/>
          </a:p>
        </p:txBody>
      </p:sp>
      <p:sp>
        <p:nvSpPr>
          <p:cNvPr id="21" name="Shape 19"/>
          <p:cNvSpPr/>
          <p:nvPr/>
        </p:nvSpPr>
        <p:spPr>
          <a:xfrm>
            <a:off x="3214116" y="1980241"/>
            <a:ext cx="274320" cy="3167831"/>
          </a:xfrm>
          <a:prstGeom prst="rect">
            <a:avLst/>
          </a:prstGeom>
          <a:solidFill>
            <a:srgbClr val="2D2D2D"/>
          </a:solidFill>
          <a:ln w="12700">
            <a:solidFill>
              <a:srgbClr val="2D2D2D">
                <a:alpha val="0"/>
              </a:srgbClr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3076956" y="1806505"/>
            <a:ext cx="54864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630" b="1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€2.98M</a:t>
            </a:r>
            <a:endParaRPr lang="en-US" sz="630" dirty="0"/>
          </a:p>
        </p:txBody>
      </p:sp>
      <p:sp>
        <p:nvSpPr>
          <p:cNvPr id="23" name="Text 21"/>
          <p:cNvSpPr/>
          <p:nvPr/>
        </p:nvSpPr>
        <p:spPr>
          <a:xfrm>
            <a:off x="2356104" y="5239512"/>
            <a:ext cx="16611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63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2024</a:t>
            </a:r>
            <a:endParaRPr lang="en-US" sz="630" dirty="0"/>
          </a:p>
        </p:txBody>
      </p:sp>
      <p:sp>
        <p:nvSpPr>
          <p:cNvPr id="24" name="Shape 22"/>
          <p:cNvSpPr/>
          <p:nvPr/>
        </p:nvSpPr>
        <p:spPr>
          <a:xfrm>
            <a:off x="4546092" y="3331509"/>
            <a:ext cx="274320" cy="1816563"/>
          </a:xfrm>
          <a:prstGeom prst="rect">
            <a:avLst/>
          </a:prstGeom>
          <a:solidFill>
            <a:srgbClr val="D71920"/>
          </a:solidFill>
          <a:ln w="12700">
            <a:solidFill>
              <a:srgbClr val="D71920">
                <a:alpha val="0"/>
              </a:srgbClr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4408932" y="3157773"/>
            <a:ext cx="54864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630" b="1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€1.71M</a:t>
            </a:r>
            <a:endParaRPr lang="en-US" sz="630" dirty="0"/>
          </a:p>
        </p:txBody>
      </p:sp>
      <p:sp>
        <p:nvSpPr>
          <p:cNvPr id="26" name="Shape 24"/>
          <p:cNvSpPr/>
          <p:nvPr/>
        </p:nvSpPr>
        <p:spPr>
          <a:xfrm>
            <a:off x="4875276" y="1905879"/>
            <a:ext cx="274320" cy="3242193"/>
          </a:xfrm>
          <a:prstGeom prst="rect">
            <a:avLst/>
          </a:prstGeom>
          <a:solidFill>
            <a:srgbClr val="2D2D2D"/>
          </a:solidFill>
          <a:ln w="12700">
            <a:solidFill>
              <a:srgbClr val="2D2D2D">
                <a:alpha val="0"/>
              </a:srgbClr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4738116" y="1732143"/>
            <a:ext cx="54864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630" b="1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€3.05M</a:t>
            </a:r>
            <a:endParaRPr lang="en-US" sz="630" dirty="0"/>
          </a:p>
        </p:txBody>
      </p:sp>
      <p:sp>
        <p:nvSpPr>
          <p:cNvPr id="28" name="Text 26"/>
          <p:cNvSpPr/>
          <p:nvPr/>
        </p:nvSpPr>
        <p:spPr>
          <a:xfrm>
            <a:off x="4017264" y="5239512"/>
            <a:ext cx="16611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63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2025</a:t>
            </a:r>
            <a:endParaRPr lang="en-US" sz="630" dirty="0"/>
          </a:p>
        </p:txBody>
      </p:sp>
      <p:sp>
        <p:nvSpPr>
          <p:cNvPr id="29" name="Shape 27"/>
          <p:cNvSpPr/>
          <p:nvPr/>
        </p:nvSpPr>
        <p:spPr>
          <a:xfrm>
            <a:off x="694944" y="5568696"/>
            <a:ext cx="109728" cy="73152"/>
          </a:xfrm>
          <a:prstGeom prst="rect">
            <a:avLst/>
          </a:prstGeom>
          <a:solidFill>
            <a:srgbClr val="D71920"/>
          </a:solidFill>
          <a:ln w="12700">
            <a:solidFill>
              <a:srgbClr val="D71920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850392" y="5541264"/>
            <a:ext cx="105156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2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Parts billed</a:t>
            </a:r>
            <a:endParaRPr lang="en-US" sz="620" dirty="0"/>
          </a:p>
        </p:txBody>
      </p:sp>
      <p:sp>
        <p:nvSpPr>
          <p:cNvPr id="31" name="Shape 29"/>
          <p:cNvSpPr/>
          <p:nvPr/>
        </p:nvSpPr>
        <p:spPr>
          <a:xfrm>
            <a:off x="1975104" y="5568696"/>
            <a:ext cx="109728" cy="73152"/>
          </a:xfrm>
          <a:prstGeom prst="rect">
            <a:avLst/>
          </a:prstGeom>
          <a:solidFill>
            <a:srgbClr val="2D2D2D"/>
          </a:solidFill>
          <a:ln w="12700">
            <a:solidFill>
              <a:srgbClr val="2D2D2D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2130552" y="5541264"/>
            <a:ext cx="105156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2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Modelled target spend</a:t>
            </a:r>
            <a:endParaRPr lang="en-US" sz="620" dirty="0"/>
          </a:p>
        </p:txBody>
      </p:sp>
      <p:sp>
        <p:nvSpPr>
          <p:cNvPr id="33" name="Shape 31"/>
          <p:cNvSpPr/>
          <p:nvPr/>
        </p:nvSpPr>
        <p:spPr>
          <a:xfrm>
            <a:off x="6016752" y="1627632"/>
            <a:ext cx="1938528" cy="1115568"/>
          </a:xfrm>
          <a:prstGeom prst="rect">
            <a:avLst/>
          </a:prstGeom>
          <a:solidFill>
            <a:srgbClr val="FFFFFF"/>
          </a:solidFill>
          <a:ln w="8890">
            <a:solidFill>
              <a:srgbClr val="D9D9D9"/>
            </a:solidFill>
            <a:prstDash val="solid"/>
          </a:ln>
          <a:effectLst>
            <a:outerShdw sx="100000" sy="100000" kx="0" ky="0" algn="bl" rotWithShape="0" blurRad="13970" dist="5080" dir="2700000">
              <a:srgbClr val="000000">
                <a:alpha val="10000"/>
              </a:srgbClr>
            </a:outerShdw>
          </a:effectLst>
        </p:spPr>
      </p:sp>
      <p:sp>
        <p:nvSpPr>
          <p:cNvPr id="34" name="Text 32"/>
          <p:cNvSpPr/>
          <p:nvPr/>
        </p:nvSpPr>
        <p:spPr>
          <a:xfrm>
            <a:off x="6181344" y="1773936"/>
            <a:ext cx="1609344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" b="1" spc="40" kern="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2023 COVER</a:t>
            </a:r>
            <a:endParaRPr lang="en-US" sz="650" dirty="0"/>
          </a:p>
        </p:txBody>
      </p:sp>
      <p:sp>
        <p:nvSpPr>
          <p:cNvPr id="35" name="Text 33"/>
          <p:cNvSpPr/>
          <p:nvPr/>
        </p:nvSpPr>
        <p:spPr>
          <a:xfrm>
            <a:off x="6181344" y="1993392"/>
            <a:ext cx="160934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200" b="1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50.7%</a:t>
            </a:r>
            <a:endParaRPr lang="en-US" sz="2200" dirty="0"/>
          </a:p>
        </p:txBody>
      </p:sp>
      <p:sp>
        <p:nvSpPr>
          <p:cNvPr id="36" name="Text 34"/>
          <p:cNvSpPr/>
          <p:nvPr/>
        </p:nvSpPr>
        <p:spPr>
          <a:xfrm>
            <a:off x="6181344" y="2450592"/>
            <a:ext cx="160934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74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€1.364M / €2.689M</a:t>
            </a:r>
            <a:endParaRPr lang="en-US" sz="740" dirty="0"/>
          </a:p>
        </p:txBody>
      </p:sp>
      <p:sp>
        <p:nvSpPr>
          <p:cNvPr id="37" name="Shape 35"/>
          <p:cNvSpPr/>
          <p:nvPr/>
        </p:nvSpPr>
        <p:spPr>
          <a:xfrm>
            <a:off x="6016752" y="2898648"/>
            <a:ext cx="1938528" cy="1115568"/>
          </a:xfrm>
          <a:prstGeom prst="rect">
            <a:avLst/>
          </a:prstGeom>
          <a:solidFill>
            <a:srgbClr val="FFFFFF"/>
          </a:solidFill>
          <a:ln w="8890">
            <a:solidFill>
              <a:srgbClr val="D9D9D9"/>
            </a:solidFill>
            <a:prstDash val="solid"/>
          </a:ln>
          <a:effectLst>
            <a:outerShdw sx="100000" sy="100000" kx="0" ky="0" algn="bl" rotWithShape="0" blurRad="13970" dist="5080" dir="2700000">
              <a:srgbClr val="000000">
                <a:alpha val="10000"/>
              </a:srgbClr>
            </a:outerShdw>
          </a:effectLst>
        </p:spPr>
      </p:sp>
      <p:sp>
        <p:nvSpPr>
          <p:cNvPr id="38" name="Text 36"/>
          <p:cNvSpPr/>
          <p:nvPr/>
        </p:nvSpPr>
        <p:spPr>
          <a:xfrm>
            <a:off x="6181344" y="3044952"/>
            <a:ext cx="1609344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" b="1" spc="40" kern="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2024 COVER</a:t>
            </a:r>
            <a:endParaRPr lang="en-US" sz="650" dirty="0"/>
          </a:p>
        </p:txBody>
      </p:sp>
      <p:sp>
        <p:nvSpPr>
          <p:cNvPr id="39" name="Text 37"/>
          <p:cNvSpPr/>
          <p:nvPr/>
        </p:nvSpPr>
        <p:spPr>
          <a:xfrm>
            <a:off x="6181344" y="3264408"/>
            <a:ext cx="160934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200" b="1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51.5%</a:t>
            </a:r>
            <a:endParaRPr lang="en-US" sz="2200" dirty="0"/>
          </a:p>
        </p:txBody>
      </p:sp>
      <p:sp>
        <p:nvSpPr>
          <p:cNvPr id="40" name="Text 38"/>
          <p:cNvSpPr/>
          <p:nvPr/>
        </p:nvSpPr>
        <p:spPr>
          <a:xfrm>
            <a:off x="6181344" y="3721608"/>
            <a:ext cx="160934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74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€1.537M / €2.982M</a:t>
            </a:r>
            <a:endParaRPr lang="en-US" sz="740" dirty="0"/>
          </a:p>
        </p:txBody>
      </p:sp>
      <p:sp>
        <p:nvSpPr>
          <p:cNvPr id="41" name="Shape 39"/>
          <p:cNvSpPr/>
          <p:nvPr/>
        </p:nvSpPr>
        <p:spPr>
          <a:xfrm>
            <a:off x="6016752" y="4169664"/>
            <a:ext cx="1938528" cy="1115568"/>
          </a:xfrm>
          <a:prstGeom prst="rect">
            <a:avLst/>
          </a:prstGeom>
          <a:solidFill>
            <a:srgbClr val="FFFFFF"/>
          </a:solidFill>
          <a:ln w="8890">
            <a:solidFill>
              <a:srgbClr val="D9D9D9"/>
            </a:solidFill>
            <a:prstDash val="solid"/>
          </a:ln>
          <a:effectLst>
            <a:outerShdw sx="100000" sy="100000" kx="0" ky="0" algn="bl" rotWithShape="0" blurRad="13970" dist="5080" dir="2700000">
              <a:srgbClr val="000000">
                <a:alpha val="10000"/>
              </a:srgbClr>
            </a:outerShdw>
          </a:effectLst>
        </p:spPr>
      </p:sp>
      <p:sp>
        <p:nvSpPr>
          <p:cNvPr id="42" name="Text 40"/>
          <p:cNvSpPr/>
          <p:nvPr/>
        </p:nvSpPr>
        <p:spPr>
          <a:xfrm>
            <a:off x="6181344" y="4315968"/>
            <a:ext cx="1609344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" b="1" spc="40" kern="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2025 COVER</a:t>
            </a:r>
            <a:endParaRPr lang="en-US" sz="650" dirty="0"/>
          </a:p>
        </p:txBody>
      </p:sp>
      <p:sp>
        <p:nvSpPr>
          <p:cNvPr id="43" name="Text 41"/>
          <p:cNvSpPr/>
          <p:nvPr/>
        </p:nvSpPr>
        <p:spPr>
          <a:xfrm>
            <a:off x="6181344" y="4535424"/>
            <a:ext cx="160934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200" b="1" dirty="0">
                <a:solidFill>
                  <a:srgbClr val="55A8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56.0%</a:t>
            </a:r>
            <a:endParaRPr lang="en-US" sz="2200" dirty="0"/>
          </a:p>
        </p:txBody>
      </p:sp>
      <p:sp>
        <p:nvSpPr>
          <p:cNvPr id="44" name="Text 42"/>
          <p:cNvSpPr/>
          <p:nvPr/>
        </p:nvSpPr>
        <p:spPr>
          <a:xfrm>
            <a:off x="6181344" y="4992624"/>
            <a:ext cx="160934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74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€1.710M / €3.052M</a:t>
            </a:r>
            <a:endParaRPr lang="en-US" sz="740" dirty="0"/>
          </a:p>
        </p:txBody>
      </p:sp>
      <p:sp>
        <p:nvSpPr>
          <p:cNvPr id="45" name="Text 43"/>
          <p:cNvSpPr/>
          <p:nvPr/>
        </p:nvSpPr>
        <p:spPr>
          <a:xfrm>
            <a:off x="749808" y="5586984"/>
            <a:ext cx="7269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D719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2025 modelled gap: €1.342M  |  €186 per vehicle in the model fleet</a:t>
            </a:r>
            <a:endParaRPr lang="en-US" sz="1000" dirty="0"/>
          </a:p>
        </p:txBody>
      </p:sp>
      <p:sp>
        <p:nvSpPr>
          <p:cNvPr id="46" name="Text 44"/>
          <p:cNvSpPr/>
          <p:nvPr/>
        </p:nvSpPr>
        <p:spPr>
          <a:xfrm>
            <a:off x="8915400" y="1280160"/>
            <a:ext cx="257860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" b="1" dirty="0">
                <a:solidFill>
                  <a:srgbClr val="D719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TAKEAWAYS</a:t>
            </a:r>
            <a:endParaRPr lang="en-US" sz="650" dirty="0"/>
          </a:p>
        </p:txBody>
      </p:sp>
      <p:sp>
        <p:nvSpPr>
          <p:cNvPr id="47" name="Shape 45"/>
          <p:cNvSpPr/>
          <p:nvPr/>
        </p:nvSpPr>
        <p:spPr>
          <a:xfrm>
            <a:off x="8769096" y="1234440"/>
            <a:ext cx="0" cy="5138928"/>
          </a:xfrm>
          <a:prstGeom prst="line">
            <a:avLst/>
          </a:prstGeom>
          <a:noFill/>
          <a:ln w="12700">
            <a:solidFill>
              <a:srgbClr val="D0D0D0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8915400" y="1591056"/>
            <a:ext cx="146304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D719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</a:t>
            </a:r>
            <a:endParaRPr lang="en-US" sz="900" dirty="0"/>
          </a:p>
        </p:txBody>
      </p:sp>
      <p:sp>
        <p:nvSpPr>
          <p:cNvPr id="49" name="Text 47"/>
          <p:cNvSpPr/>
          <p:nvPr/>
        </p:nvSpPr>
        <p:spPr>
          <a:xfrm>
            <a:off x="9079992" y="1591056"/>
            <a:ext cx="2414016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82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 Motors improved from 50.7% to 56.0% of the modelled target spend between 2023 and 2025.</a:t>
            </a:r>
            <a:endParaRPr lang="en-US" sz="820" dirty="0"/>
          </a:p>
        </p:txBody>
      </p:sp>
      <p:sp>
        <p:nvSpPr>
          <p:cNvPr id="50" name="Text 48"/>
          <p:cNvSpPr/>
          <p:nvPr/>
        </p:nvSpPr>
        <p:spPr>
          <a:xfrm>
            <a:off x="8915400" y="2322576"/>
            <a:ext cx="146304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D719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</a:t>
            </a:r>
            <a:endParaRPr lang="en-US" sz="900" dirty="0"/>
          </a:p>
        </p:txBody>
      </p:sp>
      <p:sp>
        <p:nvSpPr>
          <p:cNvPr id="51" name="Text 49"/>
          <p:cNvSpPr/>
          <p:nvPr/>
        </p:nvSpPr>
        <p:spPr>
          <a:xfrm>
            <a:off x="9079992" y="2322576"/>
            <a:ext cx="2414016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82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2025 gap is €1.342M across the 7,208-vehicle model fleet, equivalent to €186 per vehicle.</a:t>
            </a:r>
            <a:endParaRPr lang="en-US" sz="820" dirty="0"/>
          </a:p>
        </p:txBody>
      </p:sp>
      <p:sp>
        <p:nvSpPr>
          <p:cNvPr id="52" name="Text 50"/>
          <p:cNvSpPr/>
          <p:nvPr/>
        </p:nvSpPr>
        <p:spPr>
          <a:xfrm>
            <a:off x="8915400" y="3054096"/>
            <a:ext cx="146304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D719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</a:t>
            </a:r>
            <a:endParaRPr lang="en-US" sz="900" dirty="0"/>
          </a:p>
        </p:txBody>
      </p:sp>
      <p:sp>
        <p:nvSpPr>
          <p:cNvPr id="53" name="Text 51"/>
          <p:cNvSpPr/>
          <p:nvPr/>
        </p:nvSpPr>
        <p:spPr>
          <a:xfrm>
            <a:off x="9079992" y="3054096"/>
            <a:ext cx="2414016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82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is not measured competitor spend. The target is a modelled ceiling and partly rests on flat per-vehicle assumptions.</a:t>
            </a:r>
            <a:endParaRPr lang="en-US" sz="820" dirty="0"/>
          </a:p>
        </p:txBody>
      </p:sp>
      <p:sp>
        <p:nvSpPr>
          <p:cNvPr id="54" name="Text 52"/>
          <p:cNvSpPr/>
          <p:nvPr/>
        </p:nvSpPr>
        <p:spPr>
          <a:xfrm>
            <a:off x="8915400" y="3785616"/>
            <a:ext cx="146304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D719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</a:t>
            </a:r>
            <a:endParaRPr lang="en-US" sz="900" dirty="0"/>
          </a:p>
        </p:txBody>
      </p:sp>
      <p:sp>
        <p:nvSpPr>
          <p:cNvPr id="55" name="Text 53"/>
          <p:cNvSpPr/>
          <p:nvPr/>
        </p:nvSpPr>
        <p:spPr>
          <a:xfrm>
            <a:off x="9079992" y="3785616"/>
            <a:ext cx="2414016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82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the category trends on the next slides to decide where the gap is most credible and commercially actionable.</a:t>
            </a:r>
            <a:endParaRPr lang="en-US" sz="820" dirty="0"/>
          </a:p>
        </p:txBody>
      </p:sp>
      <p:sp>
        <p:nvSpPr>
          <p:cNvPr id="56" name="Text 54"/>
          <p:cNvSpPr/>
          <p:nvPr/>
        </p:nvSpPr>
        <p:spPr>
          <a:xfrm>
            <a:off x="1325880" y="6483096"/>
            <a:ext cx="978408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570" dirty="0">
                <a:solidFill>
                  <a:srgbClr val="7777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Source: 01_parts_billed_vs_target_by_market.csv. Modelled target spend; measured parts billed.</a:t>
            </a:r>
            <a:endParaRPr lang="en-US" sz="57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475720" y="6464808"/>
            <a:ext cx="457200" cy="13716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650">
                <a:solidFill>
                  <a:srgbClr val="777777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10896" y="182880"/>
            <a:ext cx="34747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60" b="1" spc="70" kern="0" dirty="0">
                <a:solidFill>
                  <a:srgbClr val="D719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PMS EVOLUTION – FILTERS</a:t>
            </a:r>
            <a:endParaRPr lang="en-US" sz="660" dirty="0"/>
          </a:p>
        </p:txBody>
      </p:sp>
      <p:sp>
        <p:nvSpPr>
          <p:cNvPr id="3" name="Text 1"/>
          <p:cNvSpPr/>
          <p:nvPr/>
        </p:nvSpPr>
        <p:spPr>
          <a:xfrm>
            <a:off x="310896" y="420624"/>
            <a:ext cx="113842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800" b="1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Air filter keeps improving; oil and fuel filters lost the 2024 gain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310896" y="886968"/>
            <a:ext cx="11430000" cy="0"/>
          </a:xfrm>
          <a:prstGeom prst="line">
            <a:avLst/>
          </a:prstGeom>
          <a:noFill/>
          <a:ln w="15875">
            <a:solidFill>
              <a:srgbClr val="D7192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310896" y="923544"/>
            <a:ext cx="11292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3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Service-demand cover = actual units supplied / modelled expected replacement units</a:t>
            </a:r>
            <a:endParaRPr lang="en-US" sz="830" dirty="0"/>
          </a:p>
        </p:txBody>
      </p:sp>
      <p:sp>
        <p:nvSpPr>
          <p:cNvPr id="6" name="Shape 4"/>
          <p:cNvSpPr/>
          <p:nvPr/>
        </p:nvSpPr>
        <p:spPr>
          <a:xfrm>
            <a:off x="694944" y="5148072"/>
            <a:ext cx="7360920" cy="0"/>
          </a:xfrm>
          <a:prstGeom prst="line">
            <a:avLst/>
          </a:prstGeom>
          <a:noFill/>
          <a:ln w="7620">
            <a:solidFill>
              <a:srgbClr val="D9D9D9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256032" y="5074920"/>
            <a:ext cx="384048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630" dirty="0">
                <a:solidFill>
                  <a:srgbClr val="7777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0%</a:t>
            </a:r>
            <a:endParaRPr lang="en-US" sz="630" dirty="0"/>
          </a:p>
        </p:txBody>
      </p:sp>
      <p:sp>
        <p:nvSpPr>
          <p:cNvPr id="8" name="Shape 6"/>
          <p:cNvSpPr/>
          <p:nvPr/>
        </p:nvSpPr>
        <p:spPr>
          <a:xfrm>
            <a:off x="694944" y="4245102"/>
            <a:ext cx="7360920" cy="0"/>
          </a:xfrm>
          <a:prstGeom prst="line">
            <a:avLst/>
          </a:prstGeom>
          <a:noFill/>
          <a:ln w="7620">
            <a:solidFill>
              <a:srgbClr val="D9D9D9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256032" y="4171950"/>
            <a:ext cx="384048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630" dirty="0">
                <a:solidFill>
                  <a:srgbClr val="7777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20%</a:t>
            </a:r>
            <a:endParaRPr lang="en-US" sz="630" dirty="0"/>
          </a:p>
        </p:txBody>
      </p:sp>
      <p:sp>
        <p:nvSpPr>
          <p:cNvPr id="10" name="Shape 8"/>
          <p:cNvSpPr/>
          <p:nvPr/>
        </p:nvSpPr>
        <p:spPr>
          <a:xfrm>
            <a:off x="694944" y="3342132"/>
            <a:ext cx="7360920" cy="0"/>
          </a:xfrm>
          <a:prstGeom prst="line">
            <a:avLst/>
          </a:prstGeom>
          <a:noFill/>
          <a:ln w="7620">
            <a:solidFill>
              <a:srgbClr val="D9D9D9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256032" y="3268980"/>
            <a:ext cx="384048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630" dirty="0">
                <a:solidFill>
                  <a:srgbClr val="7777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40%</a:t>
            </a:r>
            <a:endParaRPr lang="en-US" sz="630" dirty="0"/>
          </a:p>
        </p:txBody>
      </p:sp>
      <p:sp>
        <p:nvSpPr>
          <p:cNvPr id="12" name="Shape 10"/>
          <p:cNvSpPr/>
          <p:nvPr/>
        </p:nvSpPr>
        <p:spPr>
          <a:xfrm>
            <a:off x="694944" y="2439162"/>
            <a:ext cx="7360920" cy="0"/>
          </a:xfrm>
          <a:prstGeom prst="line">
            <a:avLst/>
          </a:prstGeom>
          <a:noFill/>
          <a:ln w="7620">
            <a:solidFill>
              <a:srgbClr val="D9D9D9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256032" y="2366010"/>
            <a:ext cx="384048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630" dirty="0">
                <a:solidFill>
                  <a:srgbClr val="7777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60%</a:t>
            </a:r>
            <a:endParaRPr lang="en-US" sz="630" dirty="0"/>
          </a:p>
        </p:txBody>
      </p:sp>
      <p:sp>
        <p:nvSpPr>
          <p:cNvPr id="14" name="Shape 12"/>
          <p:cNvSpPr/>
          <p:nvPr/>
        </p:nvSpPr>
        <p:spPr>
          <a:xfrm>
            <a:off x="694944" y="1536192"/>
            <a:ext cx="7360920" cy="0"/>
          </a:xfrm>
          <a:prstGeom prst="line">
            <a:avLst/>
          </a:prstGeom>
          <a:noFill/>
          <a:ln w="7620">
            <a:solidFill>
              <a:srgbClr val="D9D9D9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256032" y="1463040"/>
            <a:ext cx="384048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630" dirty="0">
                <a:solidFill>
                  <a:srgbClr val="7777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80%</a:t>
            </a:r>
            <a:endParaRPr lang="en-US" sz="630" dirty="0"/>
          </a:p>
        </p:txBody>
      </p:sp>
      <p:sp>
        <p:nvSpPr>
          <p:cNvPr id="16" name="Shape 14"/>
          <p:cNvSpPr/>
          <p:nvPr/>
        </p:nvSpPr>
        <p:spPr>
          <a:xfrm>
            <a:off x="1455420" y="3075756"/>
            <a:ext cx="274320" cy="2072316"/>
          </a:xfrm>
          <a:prstGeom prst="rect">
            <a:avLst/>
          </a:prstGeom>
          <a:solidFill>
            <a:srgbClr val="B7B7B7"/>
          </a:solidFill>
          <a:ln w="12700">
            <a:solidFill>
              <a:srgbClr val="B7B7B7">
                <a:alpha val="0"/>
              </a:srgbClr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318260" y="2902020"/>
            <a:ext cx="54864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630" b="1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46%</a:t>
            </a:r>
            <a:endParaRPr lang="en-US" sz="630" dirty="0"/>
          </a:p>
        </p:txBody>
      </p:sp>
      <p:sp>
        <p:nvSpPr>
          <p:cNvPr id="18" name="Shape 16"/>
          <p:cNvSpPr/>
          <p:nvPr/>
        </p:nvSpPr>
        <p:spPr>
          <a:xfrm>
            <a:off x="1784604" y="1956073"/>
            <a:ext cx="274320" cy="3191999"/>
          </a:xfrm>
          <a:prstGeom prst="rect">
            <a:avLst/>
          </a:prstGeom>
          <a:solidFill>
            <a:srgbClr val="333333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1647444" y="1782337"/>
            <a:ext cx="54864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630" b="1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71%</a:t>
            </a:r>
            <a:endParaRPr lang="en-US" sz="630" dirty="0"/>
          </a:p>
        </p:txBody>
      </p:sp>
      <p:sp>
        <p:nvSpPr>
          <p:cNvPr id="20" name="Shape 18"/>
          <p:cNvSpPr/>
          <p:nvPr/>
        </p:nvSpPr>
        <p:spPr>
          <a:xfrm>
            <a:off x="2113788" y="3057696"/>
            <a:ext cx="274320" cy="2090376"/>
          </a:xfrm>
          <a:prstGeom prst="rect">
            <a:avLst/>
          </a:prstGeom>
          <a:solidFill>
            <a:srgbClr val="D71920"/>
          </a:solidFill>
          <a:ln w="12700">
            <a:solidFill>
              <a:srgbClr val="D71920">
                <a:alpha val="0"/>
              </a:srgbClr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1976628" y="2883960"/>
            <a:ext cx="54864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630" b="1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46%</a:t>
            </a:r>
            <a:endParaRPr lang="en-US" sz="630" dirty="0"/>
          </a:p>
        </p:txBody>
      </p:sp>
      <p:sp>
        <p:nvSpPr>
          <p:cNvPr id="22" name="Text 20"/>
          <p:cNvSpPr/>
          <p:nvPr/>
        </p:nvSpPr>
        <p:spPr>
          <a:xfrm>
            <a:off x="694944" y="5239512"/>
            <a:ext cx="24536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63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Oil filter</a:t>
            </a:r>
            <a:endParaRPr lang="en-US" sz="630" dirty="0"/>
          </a:p>
        </p:txBody>
      </p:sp>
      <p:sp>
        <p:nvSpPr>
          <p:cNvPr id="23" name="Shape 21"/>
          <p:cNvSpPr/>
          <p:nvPr/>
        </p:nvSpPr>
        <p:spPr>
          <a:xfrm>
            <a:off x="3909060" y="3527241"/>
            <a:ext cx="274320" cy="1620831"/>
          </a:xfrm>
          <a:prstGeom prst="rect">
            <a:avLst/>
          </a:prstGeom>
          <a:solidFill>
            <a:srgbClr val="B7B7B7"/>
          </a:solidFill>
          <a:ln w="12700">
            <a:solidFill>
              <a:srgbClr val="B7B7B7">
                <a:alpha val="0"/>
              </a:srgbClr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3771900" y="3353505"/>
            <a:ext cx="54864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630" b="1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36%</a:t>
            </a:r>
            <a:endParaRPr lang="en-US" sz="630" dirty="0"/>
          </a:p>
        </p:txBody>
      </p:sp>
      <p:sp>
        <p:nvSpPr>
          <p:cNvPr id="25" name="Shape 23"/>
          <p:cNvSpPr/>
          <p:nvPr/>
        </p:nvSpPr>
        <p:spPr>
          <a:xfrm>
            <a:off x="4238244" y="2461736"/>
            <a:ext cx="274320" cy="2686336"/>
          </a:xfrm>
          <a:prstGeom prst="rect">
            <a:avLst/>
          </a:prstGeom>
          <a:solidFill>
            <a:srgbClr val="333333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4101084" y="2288000"/>
            <a:ext cx="54864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630" b="1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60%</a:t>
            </a:r>
            <a:endParaRPr lang="en-US" sz="630" dirty="0"/>
          </a:p>
        </p:txBody>
      </p:sp>
      <p:sp>
        <p:nvSpPr>
          <p:cNvPr id="27" name="Shape 25"/>
          <p:cNvSpPr/>
          <p:nvPr/>
        </p:nvSpPr>
        <p:spPr>
          <a:xfrm>
            <a:off x="4567428" y="3351162"/>
            <a:ext cx="274320" cy="1796910"/>
          </a:xfrm>
          <a:prstGeom prst="rect">
            <a:avLst/>
          </a:prstGeom>
          <a:solidFill>
            <a:srgbClr val="D71920"/>
          </a:solidFill>
          <a:ln w="12700">
            <a:solidFill>
              <a:srgbClr val="D71920">
                <a:alpha val="0"/>
              </a:srgbClr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4430268" y="3177426"/>
            <a:ext cx="54864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630" b="1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40%</a:t>
            </a:r>
            <a:endParaRPr lang="en-US" sz="630" dirty="0"/>
          </a:p>
        </p:txBody>
      </p:sp>
      <p:sp>
        <p:nvSpPr>
          <p:cNvPr id="29" name="Text 27"/>
          <p:cNvSpPr/>
          <p:nvPr/>
        </p:nvSpPr>
        <p:spPr>
          <a:xfrm>
            <a:off x="3148584" y="5239512"/>
            <a:ext cx="24536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63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Fuel filter</a:t>
            </a:r>
            <a:endParaRPr lang="en-US" sz="630" dirty="0"/>
          </a:p>
        </p:txBody>
      </p:sp>
      <p:sp>
        <p:nvSpPr>
          <p:cNvPr id="30" name="Shape 28"/>
          <p:cNvSpPr/>
          <p:nvPr/>
        </p:nvSpPr>
        <p:spPr>
          <a:xfrm>
            <a:off x="6362700" y="3929063"/>
            <a:ext cx="274320" cy="1219010"/>
          </a:xfrm>
          <a:prstGeom prst="rect">
            <a:avLst/>
          </a:prstGeom>
          <a:solidFill>
            <a:srgbClr val="B7B7B7"/>
          </a:solidFill>
          <a:ln w="12700">
            <a:solidFill>
              <a:srgbClr val="B7B7B7">
                <a:alpha val="0"/>
              </a:srgbClr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6225540" y="3755326"/>
            <a:ext cx="54864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630" b="1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27%</a:t>
            </a:r>
            <a:endParaRPr lang="en-US" sz="630" dirty="0"/>
          </a:p>
        </p:txBody>
      </p:sp>
      <p:sp>
        <p:nvSpPr>
          <p:cNvPr id="32" name="Shape 30"/>
          <p:cNvSpPr/>
          <p:nvPr/>
        </p:nvSpPr>
        <p:spPr>
          <a:xfrm>
            <a:off x="6691884" y="2985459"/>
            <a:ext cx="274320" cy="2162613"/>
          </a:xfrm>
          <a:prstGeom prst="rect">
            <a:avLst/>
          </a:prstGeom>
          <a:solidFill>
            <a:srgbClr val="333333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6554724" y="2811723"/>
            <a:ext cx="54864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630" b="1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48%</a:t>
            </a:r>
            <a:endParaRPr lang="en-US" sz="630" dirty="0"/>
          </a:p>
        </p:txBody>
      </p:sp>
      <p:sp>
        <p:nvSpPr>
          <p:cNvPr id="34" name="Shape 32"/>
          <p:cNvSpPr/>
          <p:nvPr/>
        </p:nvSpPr>
        <p:spPr>
          <a:xfrm>
            <a:off x="7021068" y="2601697"/>
            <a:ext cx="274320" cy="2546375"/>
          </a:xfrm>
          <a:prstGeom prst="rect">
            <a:avLst/>
          </a:prstGeom>
          <a:solidFill>
            <a:srgbClr val="D71920"/>
          </a:solidFill>
          <a:ln w="12700">
            <a:solidFill>
              <a:srgbClr val="D71920">
                <a:alpha val="0"/>
              </a:srgbClr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6883908" y="2427961"/>
            <a:ext cx="54864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630" b="1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56%</a:t>
            </a:r>
            <a:endParaRPr lang="en-US" sz="630" dirty="0"/>
          </a:p>
        </p:txBody>
      </p:sp>
      <p:sp>
        <p:nvSpPr>
          <p:cNvPr id="36" name="Text 34"/>
          <p:cNvSpPr/>
          <p:nvPr/>
        </p:nvSpPr>
        <p:spPr>
          <a:xfrm>
            <a:off x="5602224" y="5239512"/>
            <a:ext cx="24536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63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Air filter</a:t>
            </a:r>
            <a:endParaRPr lang="en-US" sz="630" dirty="0"/>
          </a:p>
        </p:txBody>
      </p:sp>
      <p:sp>
        <p:nvSpPr>
          <p:cNvPr id="37" name="Shape 35"/>
          <p:cNvSpPr/>
          <p:nvPr/>
        </p:nvSpPr>
        <p:spPr>
          <a:xfrm>
            <a:off x="694944" y="5568696"/>
            <a:ext cx="109728" cy="73152"/>
          </a:xfrm>
          <a:prstGeom prst="rect">
            <a:avLst/>
          </a:prstGeom>
          <a:solidFill>
            <a:srgbClr val="B7B7B7"/>
          </a:solidFill>
          <a:ln w="12700">
            <a:solidFill>
              <a:srgbClr val="B7B7B7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850392" y="5541264"/>
            <a:ext cx="105156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2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2023</a:t>
            </a:r>
            <a:endParaRPr lang="en-US" sz="620" dirty="0"/>
          </a:p>
        </p:txBody>
      </p:sp>
      <p:sp>
        <p:nvSpPr>
          <p:cNvPr id="39" name="Shape 37"/>
          <p:cNvSpPr/>
          <p:nvPr/>
        </p:nvSpPr>
        <p:spPr>
          <a:xfrm>
            <a:off x="1975104" y="5568696"/>
            <a:ext cx="109728" cy="73152"/>
          </a:xfrm>
          <a:prstGeom prst="rect">
            <a:avLst/>
          </a:prstGeom>
          <a:solidFill>
            <a:srgbClr val="333333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2130552" y="5541264"/>
            <a:ext cx="105156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2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2024</a:t>
            </a:r>
            <a:endParaRPr lang="en-US" sz="620" dirty="0"/>
          </a:p>
        </p:txBody>
      </p:sp>
      <p:sp>
        <p:nvSpPr>
          <p:cNvPr id="41" name="Shape 39"/>
          <p:cNvSpPr/>
          <p:nvPr/>
        </p:nvSpPr>
        <p:spPr>
          <a:xfrm>
            <a:off x="3255264" y="5568696"/>
            <a:ext cx="109728" cy="73152"/>
          </a:xfrm>
          <a:prstGeom prst="rect">
            <a:avLst/>
          </a:prstGeom>
          <a:solidFill>
            <a:srgbClr val="D71920"/>
          </a:solidFill>
          <a:ln w="12700">
            <a:solidFill>
              <a:srgbClr val="D71920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3410712" y="5541264"/>
            <a:ext cx="105156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2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2025</a:t>
            </a:r>
            <a:endParaRPr lang="en-US" sz="620" dirty="0"/>
          </a:p>
        </p:txBody>
      </p:sp>
      <p:sp>
        <p:nvSpPr>
          <p:cNvPr id="43" name="Shape 41"/>
          <p:cNvSpPr/>
          <p:nvPr/>
        </p:nvSpPr>
        <p:spPr>
          <a:xfrm>
            <a:off x="749808" y="5486400"/>
            <a:ext cx="7223760" cy="566928"/>
          </a:xfrm>
          <a:prstGeom prst="rect">
            <a:avLst/>
          </a:prstGeom>
          <a:solidFill>
            <a:srgbClr val="F6F6F6"/>
          </a:solidFill>
          <a:ln w="6350">
            <a:solidFill>
              <a:srgbClr val="E0E0E0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941832" y="5650992"/>
            <a:ext cx="68122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90" b="1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Actual units: oil 3,108 → 4,789 → 3,135  |  fuel 2,434 → 4,031 → 2,698  |  air 916 → 1,622 → 1,910</a:t>
            </a:r>
            <a:endParaRPr lang="en-US" sz="790" dirty="0"/>
          </a:p>
        </p:txBody>
      </p:sp>
      <p:sp>
        <p:nvSpPr>
          <p:cNvPr id="45" name="Text 43"/>
          <p:cNvSpPr/>
          <p:nvPr/>
        </p:nvSpPr>
        <p:spPr>
          <a:xfrm>
            <a:off x="8915400" y="1280160"/>
            <a:ext cx="257860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" b="1" dirty="0">
                <a:solidFill>
                  <a:srgbClr val="D719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TAKEAWAYS</a:t>
            </a:r>
            <a:endParaRPr lang="en-US" sz="650" dirty="0"/>
          </a:p>
        </p:txBody>
      </p:sp>
      <p:sp>
        <p:nvSpPr>
          <p:cNvPr id="46" name="Shape 44"/>
          <p:cNvSpPr/>
          <p:nvPr/>
        </p:nvSpPr>
        <p:spPr>
          <a:xfrm>
            <a:off x="8769096" y="1234440"/>
            <a:ext cx="0" cy="5138928"/>
          </a:xfrm>
          <a:prstGeom prst="line">
            <a:avLst/>
          </a:prstGeom>
          <a:noFill/>
          <a:ln w="12700">
            <a:solidFill>
              <a:srgbClr val="D0D0D0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8915400" y="1591056"/>
            <a:ext cx="146304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D719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</a:t>
            </a:r>
            <a:endParaRPr lang="en-US" sz="900" dirty="0"/>
          </a:p>
        </p:txBody>
      </p:sp>
      <p:sp>
        <p:nvSpPr>
          <p:cNvPr id="48" name="Text 46"/>
          <p:cNvSpPr/>
          <p:nvPr/>
        </p:nvSpPr>
        <p:spPr>
          <a:xfrm>
            <a:off x="9079992" y="1591056"/>
            <a:ext cx="2414016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82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Oil-filter cover rose to 70.7% in 2024, then fell back to 46.3% in 2025; actual units followed the same pattern.</a:t>
            </a:r>
            <a:endParaRPr lang="en-US" sz="820" dirty="0"/>
          </a:p>
        </p:txBody>
      </p:sp>
      <p:sp>
        <p:nvSpPr>
          <p:cNvPr id="49" name="Text 47"/>
          <p:cNvSpPr/>
          <p:nvPr/>
        </p:nvSpPr>
        <p:spPr>
          <a:xfrm>
            <a:off x="8915400" y="2322576"/>
            <a:ext cx="146304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D719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</a:t>
            </a:r>
            <a:endParaRPr lang="en-US" sz="900" dirty="0"/>
          </a:p>
        </p:txBody>
      </p:sp>
      <p:sp>
        <p:nvSpPr>
          <p:cNvPr id="50" name="Text 48"/>
          <p:cNvSpPr/>
          <p:nvPr/>
        </p:nvSpPr>
        <p:spPr>
          <a:xfrm>
            <a:off x="9079992" y="2322576"/>
            <a:ext cx="2414016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82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Fuel filter shows the same reversal: 59.5% to 39.8%, with units falling from 4,031 to 2,698.</a:t>
            </a:r>
            <a:endParaRPr lang="en-US" sz="820" dirty="0"/>
          </a:p>
        </p:txBody>
      </p:sp>
      <p:sp>
        <p:nvSpPr>
          <p:cNvPr id="51" name="Text 49"/>
          <p:cNvSpPr/>
          <p:nvPr/>
        </p:nvSpPr>
        <p:spPr>
          <a:xfrm>
            <a:off x="8915400" y="3054096"/>
            <a:ext cx="146304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D719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</a:t>
            </a:r>
            <a:endParaRPr lang="en-US" sz="900" dirty="0"/>
          </a:p>
        </p:txBody>
      </p:sp>
      <p:sp>
        <p:nvSpPr>
          <p:cNvPr id="52" name="Text 50"/>
          <p:cNvSpPr/>
          <p:nvPr/>
        </p:nvSpPr>
        <p:spPr>
          <a:xfrm>
            <a:off x="9079992" y="3054096"/>
            <a:ext cx="2414016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82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Air filter is the counterexample: cover rose every year, from 27.0% to 56.4%, and units more than doubled.</a:t>
            </a:r>
            <a:endParaRPr lang="en-US" sz="820" dirty="0"/>
          </a:p>
        </p:txBody>
      </p:sp>
      <p:sp>
        <p:nvSpPr>
          <p:cNvPr id="53" name="Text 51"/>
          <p:cNvSpPr/>
          <p:nvPr/>
        </p:nvSpPr>
        <p:spPr>
          <a:xfrm>
            <a:off x="8915400" y="3785616"/>
            <a:ext cx="146304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D719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</a:t>
            </a:r>
            <a:endParaRPr lang="en-US" sz="900" dirty="0"/>
          </a:p>
        </p:txBody>
      </p:sp>
      <p:sp>
        <p:nvSpPr>
          <p:cNvPr id="54" name="Text 52"/>
          <p:cNvSpPr/>
          <p:nvPr/>
        </p:nvSpPr>
        <p:spPr>
          <a:xfrm>
            <a:off x="9079992" y="3785616"/>
            <a:ext cx="2414016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82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commercial question is therefore specific: what changed in oil and fuel filters in 2025 that did not affect air filter?</a:t>
            </a:r>
            <a:endParaRPr lang="en-US" sz="820" dirty="0"/>
          </a:p>
        </p:txBody>
      </p:sp>
      <p:sp>
        <p:nvSpPr>
          <p:cNvPr id="55" name="Text 53"/>
          <p:cNvSpPr/>
          <p:nvPr/>
        </p:nvSpPr>
        <p:spPr>
          <a:xfrm>
            <a:off x="1325880" y="6483096"/>
            <a:ext cx="978408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570" dirty="0">
                <a:solidFill>
                  <a:srgbClr val="7777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Source: 03_service_capture_by_market_family.csv, Portugal total line, calendar 2023–2025.</a:t>
            </a:r>
            <a:endParaRPr lang="en-US" sz="57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475720" y="6464808"/>
            <a:ext cx="457200" cy="13716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650">
                <a:solidFill>
                  <a:srgbClr val="777777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10</a:t>
            </a:fld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10896" y="182880"/>
            <a:ext cx="34747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60" b="1" spc="70" kern="0" dirty="0">
                <a:solidFill>
                  <a:srgbClr val="D719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PMS EVOLUTION – WEAR PARTS</a:t>
            </a:r>
            <a:endParaRPr lang="en-US" sz="660" dirty="0"/>
          </a:p>
        </p:txBody>
      </p:sp>
      <p:sp>
        <p:nvSpPr>
          <p:cNvPr id="3" name="Text 1"/>
          <p:cNvSpPr/>
          <p:nvPr/>
        </p:nvSpPr>
        <p:spPr>
          <a:xfrm>
            <a:off x="310896" y="420624"/>
            <a:ext cx="113842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800" b="1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Brake pads recovered strongly; clutch and brake shoes remain structurally underdeveloped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310896" y="886968"/>
            <a:ext cx="11430000" cy="0"/>
          </a:xfrm>
          <a:prstGeom prst="line">
            <a:avLst/>
          </a:prstGeom>
          <a:noFill/>
          <a:ln w="15875">
            <a:solidFill>
              <a:srgbClr val="D7192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310896" y="923544"/>
            <a:ext cx="11292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3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Portugal | Calendar 2023–2025</a:t>
            </a:r>
            <a:endParaRPr lang="en-US" sz="830" dirty="0"/>
          </a:p>
        </p:txBody>
      </p:sp>
      <p:sp>
        <p:nvSpPr>
          <p:cNvPr id="6" name="Shape 4"/>
          <p:cNvSpPr/>
          <p:nvPr/>
        </p:nvSpPr>
        <p:spPr>
          <a:xfrm>
            <a:off x="640080" y="5148072"/>
            <a:ext cx="7452360" cy="0"/>
          </a:xfrm>
          <a:prstGeom prst="line">
            <a:avLst/>
          </a:prstGeom>
          <a:noFill/>
          <a:ln w="7620">
            <a:solidFill>
              <a:srgbClr val="D9D9D9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201168" y="5074920"/>
            <a:ext cx="384048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630" dirty="0">
                <a:solidFill>
                  <a:srgbClr val="7777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0%</a:t>
            </a:r>
            <a:endParaRPr lang="en-US" sz="630" dirty="0"/>
          </a:p>
        </p:txBody>
      </p:sp>
      <p:sp>
        <p:nvSpPr>
          <p:cNvPr id="8" name="Shape 6"/>
          <p:cNvSpPr/>
          <p:nvPr/>
        </p:nvSpPr>
        <p:spPr>
          <a:xfrm>
            <a:off x="640080" y="4036724"/>
            <a:ext cx="7452360" cy="0"/>
          </a:xfrm>
          <a:prstGeom prst="line">
            <a:avLst/>
          </a:prstGeom>
          <a:noFill/>
          <a:ln w="7620">
            <a:solidFill>
              <a:srgbClr val="D9D9D9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201168" y="3963572"/>
            <a:ext cx="384048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630" dirty="0">
                <a:solidFill>
                  <a:srgbClr val="7777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20%</a:t>
            </a:r>
            <a:endParaRPr lang="en-US" sz="630" dirty="0"/>
          </a:p>
        </p:txBody>
      </p:sp>
      <p:sp>
        <p:nvSpPr>
          <p:cNvPr id="10" name="Shape 8"/>
          <p:cNvSpPr/>
          <p:nvPr/>
        </p:nvSpPr>
        <p:spPr>
          <a:xfrm>
            <a:off x="640080" y="2925377"/>
            <a:ext cx="7452360" cy="0"/>
          </a:xfrm>
          <a:prstGeom prst="line">
            <a:avLst/>
          </a:prstGeom>
          <a:noFill/>
          <a:ln w="7620">
            <a:solidFill>
              <a:srgbClr val="D9D9D9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201168" y="2852225"/>
            <a:ext cx="384048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630" dirty="0">
                <a:solidFill>
                  <a:srgbClr val="7777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40%</a:t>
            </a:r>
            <a:endParaRPr lang="en-US" sz="630" dirty="0"/>
          </a:p>
        </p:txBody>
      </p:sp>
      <p:sp>
        <p:nvSpPr>
          <p:cNvPr id="12" name="Shape 10"/>
          <p:cNvSpPr/>
          <p:nvPr/>
        </p:nvSpPr>
        <p:spPr>
          <a:xfrm>
            <a:off x="640080" y="1814029"/>
            <a:ext cx="7452360" cy="0"/>
          </a:xfrm>
          <a:prstGeom prst="line">
            <a:avLst/>
          </a:prstGeom>
          <a:noFill/>
          <a:ln w="7620">
            <a:solidFill>
              <a:srgbClr val="D9D9D9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201168" y="1740877"/>
            <a:ext cx="384048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630" dirty="0">
                <a:solidFill>
                  <a:srgbClr val="7777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60%</a:t>
            </a:r>
            <a:endParaRPr lang="en-US" sz="630" dirty="0"/>
          </a:p>
        </p:txBody>
      </p:sp>
      <p:sp>
        <p:nvSpPr>
          <p:cNvPr id="14" name="Shape 12"/>
          <p:cNvSpPr/>
          <p:nvPr/>
        </p:nvSpPr>
        <p:spPr>
          <a:xfrm>
            <a:off x="1105281" y="2291908"/>
            <a:ext cx="274320" cy="2856164"/>
          </a:xfrm>
          <a:prstGeom prst="rect">
            <a:avLst/>
          </a:prstGeom>
          <a:solidFill>
            <a:srgbClr val="B7B7B7"/>
          </a:solidFill>
          <a:ln w="12700">
            <a:solidFill>
              <a:srgbClr val="B7B7B7">
                <a:alpha val="0"/>
              </a:srgbClr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968121" y="2118172"/>
            <a:ext cx="54864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630" b="1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51%</a:t>
            </a:r>
            <a:endParaRPr lang="en-US" sz="630" dirty="0"/>
          </a:p>
        </p:txBody>
      </p:sp>
      <p:sp>
        <p:nvSpPr>
          <p:cNvPr id="16" name="Shape 14"/>
          <p:cNvSpPr/>
          <p:nvPr/>
        </p:nvSpPr>
        <p:spPr>
          <a:xfrm>
            <a:off x="1434465" y="4036724"/>
            <a:ext cx="274320" cy="1111348"/>
          </a:xfrm>
          <a:prstGeom prst="rect">
            <a:avLst/>
          </a:prstGeom>
          <a:solidFill>
            <a:srgbClr val="333333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297305" y="3862988"/>
            <a:ext cx="54864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630" b="1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20%</a:t>
            </a:r>
            <a:endParaRPr lang="en-US" sz="630" dirty="0"/>
          </a:p>
        </p:txBody>
      </p:sp>
      <p:sp>
        <p:nvSpPr>
          <p:cNvPr id="18" name="Shape 16"/>
          <p:cNvSpPr/>
          <p:nvPr/>
        </p:nvSpPr>
        <p:spPr>
          <a:xfrm>
            <a:off x="1763649" y="2075196"/>
            <a:ext cx="274320" cy="3072876"/>
          </a:xfrm>
          <a:prstGeom prst="rect">
            <a:avLst/>
          </a:prstGeom>
          <a:solidFill>
            <a:srgbClr val="D71920"/>
          </a:solidFill>
          <a:ln w="12700">
            <a:solidFill>
              <a:srgbClr val="D71920">
                <a:alpha val="0"/>
              </a:srgbClr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1626489" y="1901460"/>
            <a:ext cx="54864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630" b="1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55%</a:t>
            </a:r>
            <a:endParaRPr lang="en-US" sz="630" dirty="0"/>
          </a:p>
        </p:txBody>
      </p:sp>
      <p:sp>
        <p:nvSpPr>
          <p:cNvPr id="20" name="Text 18"/>
          <p:cNvSpPr/>
          <p:nvPr/>
        </p:nvSpPr>
        <p:spPr>
          <a:xfrm>
            <a:off x="640080" y="5239512"/>
            <a:ext cx="186309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63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Brake pad</a:t>
            </a:r>
            <a:endParaRPr lang="en-US" sz="630" dirty="0"/>
          </a:p>
        </p:txBody>
      </p:sp>
      <p:sp>
        <p:nvSpPr>
          <p:cNvPr id="21" name="Shape 19"/>
          <p:cNvSpPr/>
          <p:nvPr/>
        </p:nvSpPr>
        <p:spPr>
          <a:xfrm>
            <a:off x="2968371" y="3619969"/>
            <a:ext cx="274320" cy="1528103"/>
          </a:xfrm>
          <a:prstGeom prst="rect">
            <a:avLst/>
          </a:prstGeom>
          <a:solidFill>
            <a:srgbClr val="B7B7B7"/>
          </a:solidFill>
          <a:ln w="12700">
            <a:solidFill>
              <a:srgbClr val="B7B7B7">
                <a:alpha val="0"/>
              </a:srgbClr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2831211" y="3446233"/>
            <a:ext cx="54864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630" b="1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28%</a:t>
            </a:r>
            <a:endParaRPr lang="en-US" sz="630" dirty="0"/>
          </a:p>
        </p:txBody>
      </p:sp>
      <p:sp>
        <p:nvSpPr>
          <p:cNvPr id="23" name="Shape 21"/>
          <p:cNvSpPr/>
          <p:nvPr/>
        </p:nvSpPr>
        <p:spPr>
          <a:xfrm>
            <a:off x="3297555" y="2830912"/>
            <a:ext cx="274320" cy="2317160"/>
          </a:xfrm>
          <a:prstGeom prst="rect">
            <a:avLst/>
          </a:prstGeom>
          <a:solidFill>
            <a:srgbClr val="333333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3160395" y="2657176"/>
            <a:ext cx="54864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630" b="1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42%</a:t>
            </a:r>
            <a:endParaRPr lang="en-US" sz="630" dirty="0"/>
          </a:p>
        </p:txBody>
      </p:sp>
      <p:sp>
        <p:nvSpPr>
          <p:cNvPr id="25" name="Shape 23"/>
          <p:cNvSpPr/>
          <p:nvPr/>
        </p:nvSpPr>
        <p:spPr>
          <a:xfrm>
            <a:off x="3626739" y="2608643"/>
            <a:ext cx="274320" cy="2539429"/>
          </a:xfrm>
          <a:prstGeom prst="rect">
            <a:avLst/>
          </a:prstGeom>
          <a:solidFill>
            <a:srgbClr val="D71920"/>
          </a:solidFill>
          <a:ln w="12700">
            <a:solidFill>
              <a:srgbClr val="D71920">
                <a:alpha val="0"/>
              </a:srgbClr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3489579" y="2434907"/>
            <a:ext cx="54864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630" b="1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46%</a:t>
            </a:r>
            <a:endParaRPr lang="en-US" sz="630" dirty="0"/>
          </a:p>
        </p:txBody>
      </p:sp>
      <p:sp>
        <p:nvSpPr>
          <p:cNvPr id="27" name="Text 25"/>
          <p:cNvSpPr/>
          <p:nvPr/>
        </p:nvSpPr>
        <p:spPr>
          <a:xfrm>
            <a:off x="2503170" y="5239512"/>
            <a:ext cx="186309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63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Brake rotor</a:t>
            </a:r>
            <a:endParaRPr lang="en-US" sz="630" dirty="0"/>
          </a:p>
        </p:txBody>
      </p:sp>
      <p:sp>
        <p:nvSpPr>
          <p:cNvPr id="28" name="Shape 26"/>
          <p:cNvSpPr/>
          <p:nvPr/>
        </p:nvSpPr>
        <p:spPr>
          <a:xfrm>
            <a:off x="4831461" y="3681093"/>
            <a:ext cx="274320" cy="1466979"/>
          </a:xfrm>
          <a:prstGeom prst="rect">
            <a:avLst/>
          </a:prstGeom>
          <a:solidFill>
            <a:srgbClr val="B7B7B7"/>
          </a:solidFill>
          <a:ln w="12700">
            <a:solidFill>
              <a:srgbClr val="B7B7B7">
                <a:alpha val="0"/>
              </a:srgbClr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4694301" y="3507357"/>
            <a:ext cx="54864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630" b="1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26%</a:t>
            </a:r>
            <a:endParaRPr lang="en-US" sz="630" dirty="0"/>
          </a:p>
        </p:txBody>
      </p:sp>
      <p:sp>
        <p:nvSpPr>
          <p:cNvPr id="30" name="Shape 28"/>
          <p:cNvSpPr/>
          <p:nvPr/>
        </p:nvSpPr>
        <p:spPr>
          <a:xfrm>
            <a:off x="5160645" y="3547731"/>
            <a:ext cx="274320" cy="1600341"/>
          </a:xfrm>
          <a:prstGeom prst="rect">
            <a:avLst/>
          </a:prstGeom>
          <a:solidFill>
            <a:srgbClr val="333333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5023485" y="3373995"/>
            <a:ext cx="54864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630" b="1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29%</a:t>
            </a:r>
            <a:endParaRPr lang="en-US" sz="630" dirty="0"/>
          </a:p>
        </p:txBody>
      </p:sp>
      <p:sp>
        <p:nvSpPr>
          <p:cNvPr id="32" name="Shape 30"/>
          <p:cNvSpPr/>
          <p:nvPr/>
        </p:nvSpPr>
        <p:spPr>
          <a:xfrm>
            <a:off x="5489829" y="3458824"/>
            <a:ext cx="274320" cy="1689248"/>
          </a:xfrm>
          <a:prstGeom prst="rect">
            <a:avLst/>
          </a:prstGeom>
          <a:solidFill>
            <a:srgbClr val="D71920"/>
          </a:solidFill>
          <a:ln w="12700">
            <a:solidFill>
              <a:srgbClr val="D71920">
                <a:alpha val="0"/>
              </a:srgbClr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5352669" y="3285088"/>
            <a:ext cx="54864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630" b="1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30%</a:t>
            </a:r>
            <a:endParaRPr lang="en-US" sz="630" dirty="0"/>
          </a:p>
        </p:txBody>
      </p:sp>
      <p:sp>
        <p:nvSpPr>
          <p:cNvPr id="34" name="Text 32"/>
          <p:cNvSpPr/>
          <p:nvPr/>
        </p:nvSpPr>
        <p:spPr>
          <a:xfrm>
            <a:off x="4366260" y="5239512"/>
            <a:ext cx="186309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63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Clutch kit</a:t>
            </a:r>
            <a:endParaRPr lang="en-US" sz="630" dirty="0"/>
          </a:p>
        </p:txBody>
      </p:sp>
      <p:sp>
        <p:nvSpPr>
          <p:cNvPr id="35" name="Shape 33"/>
          <p:cNvSpPr/>
          <p:nvPr/>
        </p:nvSpPr>
        <p:spPr>
          <a:xfrm>
            <a:off x="6694551" y="4725760"/>
            <a:ext cx="274320" cy="422312"/>
          </a:xfrm>
          <a:prstGeom prst="rect">
            <a:avLst/>
          </a:prstGeom>
          <a:solidFill>
            <a:srgbClr val="B7B7B7"/>
          </a:solidFill>
          <a:ln w="12700">
            <a:solidFill>
              <a:srgbClr val="B7B7B7">
                <a:alpha val="0"/>
              </a:srgbClr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6557391" y="4552024"/>
            <a:ext cx="54864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630" b="1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8%</a:t>
            </a:r>
            <a:endParaRPr lang="en-US" sz="630" dirty="0"/>
          </a:p>
        </p:txBody>
      </p:sp>
      <p:sp>
        <p:nvSpPr>
          <p:cNvPr id="37" name="Shape 35"/>
          <p:cNvSpPr/>
          <p:nvPr/>
        </p:nvSpPr>
        <p:spPr>
          <a:xfrm>
            <a:off x="7023735" y="4731317"/>
            <a:ext cx="274320" cy="416755"/>
          </a:xfrm>
          <a:prstGeom prst="rect">
            <a:avLst/>
          </a:prstGeom>
          <a:solidFill>
            <a:srgbClr val="333333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6886575" y="4557581"/>
            <a:ext cx="54864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630" b="1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8%</a:t>
            </a:r>
            <a:endParaRPr lang="en-US" sz="630" dirty="0"/>
          </a:p>
        </p:txBody>
      </p:sp>
      <p:sp>
        <p:nvSpPr>
          <p:cNvPr id="39" name="Shape 37"/>
          <p:cNvSpPr/>
          <p:nvPr/>
        </p:nvSpPr>
        <p:spPr>
          <a:xfrm>
            <a:off x="7352919" y="4564614"/>
            <a:ext cx="274320" cy="583458"/>
          </a:xfrm>
          <a:prstGeom prst="rect">
            <a:avLst/>
          </a:prstGeom>
          <a:solidFill>
            <a:srgbClr val="D71920"/>
          </a:solidFill>
          <a:ln w="12700">
            <a:solidFill>
              <a:srgbClr val="D71920">
                <a:alpha val="0"/>
              </a:srgbClr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7215759" y="4390878"/>
            <a:ext cx="54864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630" b="1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11%</a:t>
            </a:r>
            <a:endParaRPr lang="en-US" sz="630" dirty="0"/>
          </a:p>
        </p:txBody>
      </p:sp>
      <p:sp>
        <p:nvSpPr>
          <p:cNvPr id="41" name="Text 39"/>
          <p:cNvSpPr/>
          <p:nvPr/>
        </p:nvSpPr>
        <p:spPr>
          <a:xfrm>
            <a:off x="6229350" y="5239512"/>
            <a:ext cx="186309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63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Brake shoe</a:t>
            </a:r>
            <a:endParaRPr lang="en-US" sz="630" dirty="0"/>
          </a:p>
        </p:txBody>
      </p:sp>
      <p:sp>
        <p:nvSpPr>
          <p:cNvPr id="42" name="Shape 40"/>
          <p:cNvSpPr/>
          <p:nvPr/>
        </p:nvSpPr>
        <p:spPr>
          <a:xfrm>
            <a:off x="640080" y="5568696"/>
            <a:ext cx="109728" cy="73152"/>
          </a:xfrm>
          <a:prstGeom prst="rect">
            <a:avLst/>
          </a:prstGeom>
          <a:solidFill>
            <a:srgbClr val="B7B7B7"/>
          </a:solidFill>
          <a:ln w="12700">
            <a:solidFill>
              <a:srgbClr val="B7B7B7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795528" y="5541264"/>
            <a:ext cx="105156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2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2023</a:t>
            </a:r>
            <a:endParaRPr lang="en-US" sz="620" dirty="0"/>
          </a:p>
        </p:txBody>
      </p:sp>
      <p:sp>
        <p:nvSpPr>
          <p:cNvPr id="44" name="Shape 42"/>
          <p:cNvSpPr/>
          <p:nvPr/>
        </p:nvSpPr>
        <p:spPr>
          <a:xfrm>
            <a:off x="1920240" y="5568696"/>
            <a:ext cx="109728" cy="73152"/>
          </a:xfrm>
          <a:prstGeom prst="rect">
            <a:avLst/>
          </a:prstGeom>
          <a:solidFill>
            <a:srgbClr val="333333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2075688" y="5541264"/>
            <a:ext cx="105156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2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2024</a:t>
            </a:r>
            <a:endParaRPr lang="en-US" sz="620" dirty="0"/>
          </a:p>
        </p:txBody>
      </p:sp>
      <p:sp>
        <p:nvSpPr>
          <p:cNvPr id="46" name="Shape 44"/>
          <p:cNvSpPr/>
          <p:nvPr/>
        </p:nvSpPr>
        <p:spPr>
          <a:xfrm>
            <a:off x="3200400" y="5568696"/>
            <a:ext cx="109728" cy="73152"/>
          </a:xfrm>
          <a:prstGeom prst="rect">
            <a:avLst/>
          </a:prstGeom>
          <a:solidFill>
            <a:srgbClr val="D71920"/>
          </a:solidFill>
          <a:ln w="12700">
            <a:solidFill>
              <a:srgbClr val="D71920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3355848" y="5541264"/>
            <a:ext cx="105156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2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2025</a:t>
            </a:r>
            <a:endParaRPr lang="en-US" sz="620" dirty="0"/>
          </a:p>
        </p:txBody>
      </p:sp>
      <p:sp>
        <p:nvSpPr>
          <p:cNvPr id="48" name="Shape 46"/>
          <p:cNvSpPr/>
          <p:nvPr/>
        </p:nvSpPr>
        <p:spPr>
          <a:xfrm>
            <a:off x="749808" y="5486400"/>
            <a:ext cx="7223760" cy="566928"/>
          </a:xfrm>
          <a:prstGeom prst="rect">
            <a:avLst/>
          </a:prstGeom>
          <a:solidFill>
            <a:srgbClr val="F6F6F6"/>
          </a:solidFill>
          <a:ln w="6350">
            <a:solidFill>
              <a:srgbClr val="E0E0E0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987552" y="5650992"/>
            <a:ext cx="67208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20" b="1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2025 actual units: brake pad 1,611  |  rotor 774  |  clutch kit 309  |  brake shoe 355</a:t>
            </a:r>
            <a:endParaRPr lang="en-US" sz="820" dirty="0"/>
          </a:p>
        </p:txBody>
      </p:sp>
      <p:sp>
        <p:nvSpPr>
          <p:cNvPr id="50" name="Text 48"/>
          <p:cNvSpPr/>
          <p:nvPr/>
        </p:nvSpPr>
        <p:spPr>
          <a:xfrm>
            <a:off x="8915400" y="1280160"/>
            <a:ext cx="257860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" b="1" dirty="0">
                <a:solidFill>
                  <a:srgbClr val="D719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TAKEAWAYS</a:t>
            </a:r>
            <a:endParaRPr lang="en-US" sz="650" dirty="0"/>
          </a:p>
        </p:txBody>
      </p:sp>
      <p:sp>
        <p:nvSpPr>
          <p:cNvPr id="51" name="Shape 49"/>
          <p:cNvSpPr/>
          <p:nvPr/>
        </p:nvSpPr>
        <p:spPr>
          <a:xfrm>
            <a:off x="8769096" y="1234440"/>
            <a:ext cx="0" cy="5138928"/>
          </a:xfrm>
          <a:prstGeom prst="line">
            <a:avLst/>
          </a:prstGeom>
          <a:noFill/>
          <a:ln w="12700">
            <a:solidFill>
              <a:srgbClr val="D0D0D0"/>
            </a:solidFill>
            <a:prstDash val="solid"/>
          </a:ln>
        </p:spPr>
      </p:sp>
      <p:sp>
        <p:nvSpPr>
          <p:cNvPr id="52" name="Text 50"/>
          <p:cNvSpPr/>
          <p:nvPr/>
        </p:nvSpPr>
        <p:spPr>
          <a:xfrm>
            <a:off x="8915400" y="1591056"/>
            <a:ext cx="146304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D719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</a:t>
            </a:r>
            <a:endParaRPr lang="en-US" sz="900" dirty="0"/>
          </a:p>
        </p:txBody>
      </p:sp>
      <p:sp>
        <p:nvSpPr>
          <p:cNvPr id="53" name="Text 51"/>
          <p:cNvSpPr/>
          <p:nvPr/>
        </p:nvSpPr>
        <p:spPr>
          <a:xfrm>
            <a:off x="9079992" y="1591056"/>
            <a:ext cx="2414016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82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Brake pad is volatile but recovered to 55.3% cover in 2025 after a weak 2024; first understand the cause before treating it as a stable win.</a:t>
            </a:r>
            <a:endParaRPr lang="en-US" sz="820" dirty="0"/>
          </a:p>
        </p:txBody>
      </p:sp>
      <p:sp>
        <p:nvSpPr>
          <p:cNvPr id="54" name="Text 52"/>
          <p:cNvSpPr/>
          <p:nvPr/>
        </p:nvSpPr>
        <p:spPr>
          <a:xfrm>
            <a:off x="8915400" y="2322576"/>
            <a:ext cx="146304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D719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</a:t>
            </a:r>
            <a:endParaRPr lang="en-US" sz="900" dirty="0"/>
          </a:p>
        </p:txBody>
      </p:sp>
      <p:sp>
        <p:nvSpPr>
          <p:cNvPr id="55" name="Text 53"/>
          <p:cNvSpPr/>
          <p:nvPr/>
        </p:nvSpPr>
        <p:spPr>
          <a:xfrm>
            <a:off x="9079992" y="2322576"/>
            <a:ext cx="2414016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82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Brake rotor improved consistently from 27.5% to 45.7% — a useful positive benchmark.</a:t>
            </a:r>
            <a:endParaRPr lang="en-US" sz="820" dirty="0"/>
          </a:p>
        </p:txBody>
      </p:sp>
      <p:sp>
        <p:nvSpPr>
          <p:cNvPr id="56" name="Text 54"/>
          <p:cNvSpPr/>
          <p:nvPr/>
        </p:nvSpPr>
        <p:spPr>
          <a:xfrm>
            <a:off x="8915400" y="3054096"/>
            <a:ext cx="146304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D719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</a:t>
            </a:r>
            <a:endParaRPr lang="en-US" sz="900" dirty="0"/>
          </a:p>
        </p:txBody>
      </p:sp>
      <p:sp>
        <p:nvSpPr>
          <p:cNvPr id="57" name="Text 55"/>
          <p:cNvSpPr/>
          <p:nvPr/>
        </p:nvSpPr>
        <p:spPr>
          <a:xfrm>
            <a:off x="9079992" y="3054096"/>
            <a:ext cx="2414016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82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Clutch kit improved only slowly to 30.4%; roughly seven in ten modelled replacement jobs remain outside the supplied volume.</a:t>
            </a:r>
            <a:endParaRPr lang="en-US" sz="820" dirty="0"/>
          </a:p>
        </p:txBody>
      </p:sp>
      <p:sp>
        <p:nvSpPr>
          <p:cNvPr id="58" name="Text 56"/>
          <p:cNvSpPr/>
          <p:nvPr/>
        </p:nvSpPr>
        <p:spPr>
          <a:xfrm>
            <a:off x="8915400" y="3785616"/>
            <a:ext cx="146304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D719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</a:t>
            </a:r>
            <a:endParaRPr lang="en-US" sz="900" dirty="0"/>
          </a:p>
        </p:txBody>
      </p:sp>
      <p:sp>
        <p:nvSpPr>
          <p:cNvPr id="59" name="Text 57"/>
          <p:cNvSpPr/>
          <p:nvPr/>
        </p:nvSpPr>
        <p:spPr>
          <a:xfrm>
            <a:off x="9079992" y="3785616"/>
            <a:ext cx="2414016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82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Brake shoe is still only 10.5% covered. Persistent low cover is a stronger development case than a one-year fluctuation.</a:t>
            </a:r>
            <a:endParaRPr lang="en-US" sz="820" dirty="0"/>
          </a:p>
        </p:txBody>
      </p:sp>
      <p:sp>
        <p:nvSpPr>
          <p:cNvPr id="60" name="Text 58"/>
          <p:cNvSpPr/>
          <p:nvPr/>
        </p:nvSpPr>
        <p:spPr>
          <a:xfrm>
            <a:off x="1325880" y="6483096"/>
            <a:ext cx="978408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570" dirty="0">
                <a:solidFill>
                  <a:srgbClr val="7777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Source: 03_service_capture_by_market_family.csv, Portugal total line, calendar 2023–2025.</a:t>
            </a:r>
            <a:endParaRPr lang="en-US" sz="57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475720" y="6464808"/>
            <a:ext cx="457200" cy="13716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650">
                <a:solidFill>
                  <a:srgbClr val="777777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11</a:t>
            </a:fld>
            <a:endParaRPr 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10896" y="182880"/>
            <a:ext cx="34747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60" b="1" spc="70" kern="0" dirty="0">
                <a:solidFill>
                  <a:srgbClr val="D719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GENUINE &amp; BVP EVOLUTION</a:t>
            </a:r>
            <a:endParaRPr lang="en-US" sz="660" dirty="0"/>
          </a:p>
        </p:txBody>
      </p:sp>
      <p:sp>
        <p:nvSpPr>
          <p:cNvPr id="3" name="Text 1"/>
          <p:cNvSpPr/>
          <p:nvPr/>
        </p:nvSpPr>
        <p:spPr>
          <a:xfrm>
            <a:off x="310896" y="420624"/>
            <a:ext cx="113842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800" b="1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Combined business is growing, but the mix and family trends show where momentum is being lost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310896" y="886968"/>
            <a:ext cx="11430000" cy="0"/>
          </a:xfrm>
          <a:prstGeom prst="line">
            <a:avLst/>
          </a:prstGeom>
          <a:noFill/>
          <a:ln w="15875">
            <a:solidFill>
              <a:srgbClr val="D7192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310896" y="923544"/>
            <a:ext cx="11292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3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Selected covered product families | Calendar 2023–2025</a:t>
            </a:r>
            <a:endParaRPr lang="en-US" sz="830" dirty="0"/>
          </a:p>
        </p:txBody>
      </p:sp>
      <p:sp>
        <p:nvSpPr>
          <p:cNvPr id="6" name="Shape 4"/>
          <p:cNvSpPr/>
          <p:nvPr/>
        </p:nvSpPr>
        <p:spPr>
          <a:xfrm>
            <a:off x="658368" y="4937760"/>
            <a:ext cx="4160520" cy="0"/>
          </a:xfrm>
          <a:prstGeom prst="line">
            <a:avLst/>
          </a:prstGeom>
          <a:noFill/>
          <a:ln w="7620">
            <a:solidFill>
              <a:srgbClr val="D9D9D9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219456" y="4864608"/>
            <a:ext cx="384048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630" dirty="0">
                <a:solidFill>
                  <a:srgbClr val="7777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€0K</a:t>
            </a:r>
            <a:endParaRPr lang="en-US" sz="630" dirty="0"/>
          </a:p>
        </p:txBody>
      </p:sp>
      <p:sp>
        <p:nvSpPr>
          <p:cNvPr id="8" name="Shape 6"/>
          <p:cNvSpPr/>
          <p:nvPr/>
        </p:nvSpPr>
        <p:spPr>
          <a:xfrm>
            <a:off x="658368" y="3803904"/>
            <a:ext cx="4160520" cy="0"/>
          </a:xfrm>
          <a:prstGeom prst="line">
            <a:avLst/>
          </a:prstGeom>
          <a:noFill/>
          <a:ln w="7620">
            <a:solidFill>
              <a:srgbClr val="D9D9D9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219456" y="3730752"/>
            <a:ext cx="384048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630" dirty="0">
                <a:solidFill>
                  <a:srgbClr val="7777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€50K</a:t>
            </a:r>
            <a:endParaRPr lang="en-US" sz="630" dirty="0"/>
          </a:p>
        </p:txBody>
      </p:sp>
      <p:sp>
        <p:nvSpPr>
          <p:cNvPr id="10" name="Shape 8"/>
          <p:cNvSpPr/>
          <p:nvPr/>
        </p:nvSpPr>
        <p:spPr>
          <a:xfrm>
            <a:off x="658368" y="2670048"/>
            <a:ext cx="4160520" cy="0"/>
          </a:xfrm>
          <a:prstGeom prst="line">
            <a:avLst/>
          </a:prstGeom>
          <a:noFill/>
          <a:ln w="7620">
            <a:solidFill>
              <a:srgbClr val="D9D9D9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219456" y="2596896"/>
            <a:ext cx="384048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630" dirty="0">
                <a:solidFill>
                  <a:srgbClr val="7777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€100K</a:t>
            </a:r>
            <a:endParaRPr lang="en-US" sz="630" dirty="0"/>
          </a:p>
        </p:txBody>
      </p:sp>
      <p:sp>
        <p:nvSpPr>
          <p:cNvPr id="12" name="Shape 10"/>
          <p:cNvSpPr/>
          <p:nvPr/>
        </p:nvSpPr>
        <p:spPr>
          <a:xfrm>
            <a:off x="658368" y="1536192"/>
            <a:ext cx="4160520" cy="0"/>
          </a:xfrm>
          <a:prstGeom prst="line">
            <a:avLst/>
          </a:prstGeom>
          <a:noFill/>
          <a:ln w="7620">
            <a:solidFill>
              <a:srgbClr val="D9D9D9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219456" y="1463040"/>
            <a:ext cx="384048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630" dirty="0">
                <a:solidFill>
                  <a:srgbClr val="7777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€150K</a:t>
            </a:r>
            <a:endParaRPr lang="en-US" sz="630" dirty="0"/>
          </a:p>
        </p:txBody>
      </p:sp>
      <p:sp>
        <p:nvSpPr>
          <p:cNvPr id="14" name="Shape 12"/>
          <p:cNvSpPr/>
          <p:nvPr/>
        </p:nvSpPr>
        <p:spPr>
          <a:xfrm>
            <a:off x="1050036" y="3246047"/>
            <a:ext cx="274320" cy="1691713"/>
          </a:xfrm>
          <a:prstGeom prst="rect">
            <a:avLst/>
          </a:prstGeom>
          <a:solidFill>
            <a:srgbClr val="333333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912876" y="3072311"/>
            <a:ext cx="54864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630" b="1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75</a:t>
            </a:r>
            <a:endParaRPr lang="en-US" sz="630" dirty="0"/>
          </a:p>
        </p:txBody>
      </p:sp>
      <p:sp>
        <p:nvSpPr>
          <p:cNvPr id="16" name="Shape 14"/>
          <p:cNvSpPr/>
          <p:nvPr/>
        </p:nvSpPr>
        <p:spPr>
          <a:xfrm>
            <a:off x="1379220" y="2241450"/>
            <a:ext cx="274320" cy="2696310"/>
          </a:xfrm>
          <a:prstGeom prst="rect">
            <a:avLst/>
          </a:prstGeom>
          <a:solidFill>
            <a:srgbClr val="D71920"/>
          </a:solidFill>
          <a:ln w="12700">
            <a:solidFill>
              <a:srgbClr val="D71920">
                <a:alpha val="0"/>
              </a:srgbClr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242060" y="2067714"/>
            <a:ext cx="54864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630" b="1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119</a:t>
            </a:r>
            <a:endParaRPr lang="en-US" sz="630" dirty="0"/>
          </a:p>
        </p:txBody>
      </p:sp>
      <p:sp>
        <p:nvSpPr>
          <p:cNvPr id="18" name="Text 16"/>
          <p:cNvSpPr/>
          <p:nvPr/>
        </p:nvSpPr>
        <p:spPr>
          <a:xfrm>
            <a:off x="658368" y="5029200"/>
            <a:ext cx="13868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63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2023</a:t>
            </a:r>
            <a:endParaRPr lang="en-US" sz="630" dirty="0"/>
          </a:p>
        </p:txBody>
      </p:sp>
      <p:sp>
        <p:nvSpPr>
          <p:cNvPr id="19" name="Shape 17"/>
          <p:cNvSpPr/>
          <p:nvPr/>
        </p:nvSpPr>
        <p:spPr>
          <a:xfrm>
            <a:off x="2436876" y="3259653"/>
            <a:ext cx="274320" cy="1678107"/>
          </a:xfrm>
          <a:prstGeom prst="rect">
            <a:avLst/>
          </a:prstGeom>
          <a:solidFill>
            <a:srgbClr val="333333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2299716" y="3085917"/>
            <a:ext cx="54864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630" b="1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74</a:t>
            </a:r>
            <a:endParaRPr lang="en-US" sz="630" dirty="0"/>
          </a:p>
        </p:txBody>
      </p:sp>
      <p:sp>
        <p:nvSpPr>
          <p:cNvPr id="21" name="Shape 19"/>
          <p:cNvSpPr/>
          <p:nvPr/>
        </p:nvSpPr>
        <p:spPr>
          <a:xfrm>
            <a:off x="2766060" y="2032821"/>
            <a:ext cx="274320" cy="2904939"/>
          </a:xfrm>
          <a:prstGeom prst="rect">
            <a:avLst/>
          </a:prstGeom>
          <a:solidFill>
            <a:srgbClr val="D71920"/>
          </a:solidFill>
          <a:ln w="12700">
            <a:solidFill>
              <a:srgbClr val="D71920">
                <a:alpha val="0"/>
              </a:srgbClr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2628900" y="1859085"/>
            <a:ext cx="54864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630" b="1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128</a:t>
            </a:r>
            <a:endParaRPr lang="en-US" sz="630" dirty="0"/>
          </a:p>
        </p:txBody>
      </p:sp>
      <p:sp>
        <p:nvSpPr>
          <p:cNvPr id="23" name="Text 21"/>
          <p:cNvSpPr/>
          <p:nvPr/>
        </p:nvSpPr>
        <p:spPr>
          <a:xfrm>
            <a:off x="2045208" y="5029200"/>
            <a:ext cx="13868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63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2024</a:t>
            </a:r>
            <a:endParaRPr lang="en-US" sz="630" dirty="0"/>
          </a:p>
        </p:txBody>
      </p:sp>
      <p:sp>
        <p:nvSpPr>
          <p:cNvPr id="24" name="Shape 22"/>
          <p:cNvSpPr/>
          <p:nvPr/>
        </p:nvSpPr>
        <p:spPr>
          <a:xfrm>
            <a:off x="3823716" y="2930835"/>
            <a:ext cx="274320" cy="2006925"/>
          </a:xfrm>
          <a:prstGeom prst="rect">
            <a:avLst/>
          </a:prstGeom>
          <a:solidFill>
            <a:srgbClr val="333333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3686556" y="2757099"/>
            <a:ext cx="54864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630" b="1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89</a:t>
            </a:r>
            <a:endParaRPr lang="en-US" sz="630" dirty="0"/>
          </a:p>
        </p:txBody>
      </p:sp>
      <p:sp>
        <p:nvSpPr>
          <p:cNvPr id="26" name="Shape 24"/>
          <p:cNvSpPr/>
          <p:nvPr/>
        </p:nvSpPr>
        <p:spPr>
          <a:xfrm>
            <a:off x="4152900" y="2155277"/>
            <a:ext cx="274320" cy="2782483"/>
          </a:xfrm>
          <a:prstGeom prst="rect">
            <a:avLst/>
          </a:prstGeom>
          <a:solidFill>
            <a:srgbClr val="D71920"/>
          </a:solidFill>
          <a:ln w="12700">
            <a:solidFill>
              <a:srgbClr val="D71920">
                <a:alpha val="0"/>
              </a:srgbClr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4015740" y="1981541"/>
            <a:ext cx="54864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630" b="1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123</a:t>
            </a:r>
            <a:endParaRPr lang="en-US" sz="630" dirty="0"/>
          </a:p>
        </p:txBody>
      </p:sp>
      <p:sp>
        <p:nvSpPr>
          <p:cNvPr id="28" name="Text 26"/>
          <p:cNvSpPr/>
          <p:nvPr/>
        </p:nvSpPr>
        <p:spPr>
          <a:xfrm>
            <a:off x="3432048" y="5029200"/>
            <a:ext cx="13868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63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2025</a:t>
            </a:r>
            <a:endParaRPr lang="en-US" sz="630" dirty="0"/>
          </a:p>
        </p:txBody>
      </p:sp>
      <p:sp>
        <p:nvSpPr>
          <p:cNvPr id="29" name="Shape 27"/>
          <p:cNvSpPr/>
          <p:nvPr/>
        </p:nvSpPr>
        <p:spPr>
          <a:xfrm>
            <a:off x="658368" y="5358384"/>
            <a:ext cx="109728" cy="73152"/>
          </a:xfrm>
          <a:prstGeom prst="rect">
            <a:avLst/>
          </a:prstGeom>
          <a:solidFill>
            <a:srgbClr val="333333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813816" y="5330952"/>
            <a:ext cx="105156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2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Genuine</a:t>
            </a:r>
            <a:endParaRPr lang="en-US" sz="620" dirty="0"/>
          </a:p>
        </p:txBody>
      </p:sp>
      <p:sp>
        <p:nvSpPr>
          <p:cNvPr id="31" name="Shape 29"/>
          <p:cNvSpPr/>
          <p:nvPr/>
        </p:nvSpPr>
        <p:spPr>
          <a:xfrm>
            <a:off x="1938528" y="5358384"/>
            <a:ext cx="109728" cy="73152"/>
          </a:xfrm>
          <a:prstGeom prst="rect">
            <a:avLst/>
          </a:prstGeom>
          <a:solidFill>
            <a:srgbClr val="D71920"/>
          </a:solidFill>
          <a:ln w="12700">
            <a:solidFill>
              <a:srgbClr val="D71920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2093976" y="5330952"/>
            <a:ext cx="105156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2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BVP</a:t>
            </a:r>
            <a:endParaRPr lang="en-US" sz="620" dirty="0"/>
          </a:p>
        </p:txBody>
      </p:sp>
      <p:sp>
        <p:nvSpPr>
          <p:cNvPr id="33" name="Text 31"/>
          <p:cNvSpPr/>
          <p:nvPr/>
        </p:nvSpPr>
        <p:spPr>
          <a:xfrm>
            <a:off x="749808" y="5184648"/>
            <a:ext cx="3977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20" b="1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BVP share of combined billing: 61.4%  →  63.4%  →  58.1%</a:t>
            </a:r>
            <a:endParaRPr lang="en-US" sz="920" dirty="0"/>
          </a:p>
        </p:txBody>
      </p:sp>
      <p:sp>
        <p:nvSpPr>
          <p:cNvPr id="34" name="Text 32"/>
          <p:cNvSpPr/>
          <p:nvPr/>
        </p:nvSpPr>
        <p:spPr>
          <a:xfrm>
            <a:off x="5230368" y="1389888"/>
            <a:ext cx="18288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b="1" dirty="0">
                <a:solidFill>
                  <a:srgbClr val="D719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FAMILY TREND</a:t>
            </a:r>
            <a:endParaRPr lang="en-US" sz="700" dirty="0"/>
          </a:p>
        </p:txBody>
      </p:sp>
      <p:sp>
        <p:nvSpPr>
          <p:cNvPr id="35" name="Shape 33"/>
          <p:cNvSpPr/>
          <p:nvPr/>
        </p:nvSpPr>
        <p:spPr>
          <a:xfrm>
            <a:off x="5230368" y="1755648"/>
            <a:ext cx="1005840" cy="347472"/>
          </a:xfrm>
          <a:prstGeom prst="rect">
            <a:avLst/>
          </a:prstGeom>
          <a:solidFill>
            <a:srgbClr val="F0F0F0"/>
          </a:solidFill>
          <a:ln w="6350">
            <a:solidFill>
              <a:srgbClr val="D8D8D8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5285232" y="1856232"/>
            <a:ext cx="896112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650" b="1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Family</a:t>
            </a:r>
            <a:endParaRPr lang="en-US" sz="650" dirty="0"/>
          </a:p>
        </p:txBody>
      </p:sp>
      <p:sp>
        <p:nvSpPr>
          <p:cNvPr id="37" name="Shape 35"/>
          <p:cNvSpPr/>
          <p:nvPr/>
        </p:nvSpPr>
        <p:spPr>
          <a:xfrm>
            <a:off x="6236208" y="1755648"/>
            <a:ext cx="749808" cy="347472"/>
          </a:xfrm>
          <a:prstGeom prst="rect">
            <a:avLst/>
          </a:prstGeom>
          <a:solidFill>
            <a:srgbClr val="F0F0F0"/>
          </a:solidFill>
          <a:ln w="6350">
            <a:solidFill>
              <a:srgbClr val="D8D8D8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6291072" y="1856232"/>
            <a:ext cx="64008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2023</a:t>
            </a:r>
            <a:endParaRPr lang="en-US" sz="650" dirty="0"/>
          </a:p>
        </p:txBody>
      </p:sp>
      <p:sp>
        <p:nvSpPr>
          <p:cNvPr id="39" name="Shape 37"/>
          <p:cNvSpPr/>
          <p:nvPr/>
        </p:nvSpPr>
        <p:spPr>
          <a:xfrm>
            <a:off x="6986016" y="1755648"/>
            <a:ext cx="749808" cy="347472"/>
          </a:xfrm>
          <a:prstGeom prst="rect">
            <a:avLst/>
          </a:prstGeom>
          <a:solidFill>
            <a:srgbClr val="F0F0F0"/>
          </a:solidFill>
          <a:ln w="6350">
            <a:solidFill>
              <a:srgbClr val="D8D8D8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7040880" y="1856232"/>
            <a:ext cx="64008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2024</a:t>
            </a:r>
            <a:endParaRPr lang="en-US" sz="650" dirty="0"/>
          </a:p>
        </p:txBody>
      </p:sp>
      <p:sp>
        <p:nvSpPr>
          <p:cNvPr id="41" name="Shape 39"/>
          <p:cNvSpPr/>
          <p:nvPr/>
        </p:nvSpPr>
        <p:spPr>
          <a:xfrm>
            <a:off x="7735824" y="1755648"/>
            <a:ext cx="749808" cy="347472"/>
          </a:xfrm>
          <a:prstGeom prst="rect">
            <a:avLst/>
          </a:prstGeom>
          <a:solidFill>
            <a:srgbClr val="F0F0F0"/>
          </a:solidFill>
          <a:ln w="6350">
            <a:solidFill>
              <a:srgbClr val="D8D8D8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7790688" y="1856232"/>
            <a:ext cx="64008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2025</a:t>
            </a:r>
            <a:endParaRPr lang="en-US" sz="650" dirty="0"/>
          </a:p>
        </p:txBody>
      </p:sp>
      <p:sp>
        <p:nvSpPr>
          <p:cNvPr id="43" name="Shape 41"/>
          <p:cNvSpPr/>
          <p:nvPr/>
        </p:nvSpPr>
        <p:spPr>
          <a:xfrm>
            <a:off x="8485632" y="1755648"/>
            <a:ext cx="1188720" cy="347472"/>
          </a:xfrm>
          <a:prstGeom prst="rect">
            <a:avLst/>
          </a:prstGeom>
          <a:solidFill>
            <a:srgbClr val="F0F0F0"/>
          </a:solidFill>
          <a:ln w="6350">
            <a:solidFill>
              <a:srgbClr val="D8D8D8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8540496" y="1856232"/>
            <a:ext cx="1078992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BVP share 23→25</a:t>
            </a:r>
            <a:endParaRPr lang="en-US" sz="650" dirty="0"/>
          </a:p>
        </p:txBody>
      </p:sp>
      <p:sp>
        <p:nvSpPr>
          <p:cNvPr id="45" name="Shape 43"/>
          <p:cNvSpPr/>
          <p:nvPr/>
        </p:nvSpPr>
        <p:spPr>
          <a:xfrm>
            <a:off x="5230368" y="2103120"/>
            <a:ext cx="1005840" cy="566928"/>
          </a:xfrm>
          <a:prstGeom prst="rect">
            <a:avLst/>
          </a:prstGeom>
          <a:solidFill>
            <a:srgbClr val="FBFBFB"/>
          </a:solidFill>
          <a:ln w="5080">
            <a:solidFill>
              <a:srgbClr val="E0E0E0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5285232" y="2286000"/>
            <a:ext cx="89611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750" b="1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Filters</a:t>
            </a:r>
            <a:endParaRPr lang="en-US" sz="750" dirty="0"/>
          </a:p>
        </p:txBody>
      </p:sp>
      <p:sp>
        <p:nvSpPr>
          <p:cNvPr id="47" name="Shape 45"/>
          <p:cNvSpPr/>
          <p:nvPr/>
        </p:nvSpPr>
        <p:spPr>
          <a:xfrm>
            <a:off x="6236208" y="2103120"/>
            <a:ext cx="749808" cy="566928"/>
          </a:xfrm>
          <a:prstGeom prst="rect">
            <a:avLst/>
          </a:prstGeom>
          <a:solidFill>
            <a:srgbClr val="FBFBFB"/>
          </a:solidFill>
          <a:ln w="5080">
            <a:solidFill>
              <a:srgbClr val="E0E0E0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6291072" y="2286000"/>
            <a:ext cx="6400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€67.1K</a:t>
            </a:r>
            <a:endParaRPr lang="en-US" sz="750" dirty="0"/>
          </a:p>
        </p:txBody>
      </p:sp>
      <p:sp>
        <p:nvSpPr>
          <p:cNvPr id="49" name="Shape 47"/>
          <p:cNvSpPr/>
          <p:nvPr/>
        </p:nvSpPr>
        <p:spPr>
          <a:xfrm>
            <a:off x="6986016" y="2103120"/>
            <a:ext cx="749808" cy="566928"/>
          </a:xfrm>
          <a:prstGeom prst="rect">
            <a:avLst/>
          </a:prstGeom>
          <a:solidFill>
            <a:srgbClr val="FBFBFB"/>
          </a:solidFill>
          <a:ln w="5080">
            <a:solidFill>
              <a:srgbClr val="E0E0E0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7040880" y="2286000"/>
            <a:ext cx="6400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€107.6K</a:t>
            </a:r>
            <a:endParaRPr lang="en-US" sz="750" dirty="0"/>
          </a:p>
        </p:txBody>
      </p:sp>
      <p:sp>
        <p:nvSpPr>
          <p:cNvPr id="51" name="Shape 49"/>
          <p:cNvSpPr/>
          <p:nvPr/>
        </p:nvSpPr>
        <p:spPr>
          <a:xfrm>
            <a:off x="7735824" y="2103120"/>
            <a:ext cx="749808" cy="566928"/>
          </a:xfrm>
          <a:prstGeom prst="rect">
            <a:avLst/>
          </a:prstGeom>
          <a:solidFill>
            <a:srgbClr val="FBFBFB"/>
          </a:solidFill>
          <a:ln w="5080">
            <a:solidFill>
              <a:srgbClr val="E0E0E0"/>
            </a:solidFill>
            <a:prstDash val="solid"/>
          </a:ln>
        </p:spPr>
      </p:sp>
      <p:sp>
        <p:nvSpPr>
          <p:cNvPr id="52" name="Text 50"/>
          <p:cNvSpPr/>
          <p:nvPr/>
        </p:nvSpPr>
        <p:spPr>
          <a:xfrm>
            <a:off x="7790688" y="2286000"/>
            <a:ext cx="6400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D719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€78.6K</a:t>
            </a:r>
            <a:endParaRPr lang="en-US" sz="750" dirty="0"/>
          </a:p>
        </p:txBody>
      </p:sp>
      <p:sp>
        <p:nvSpPr>
          <p:cNvPr id="53" name="Shape 51"/>
          <p:cNvSpPr/>
          <p:nvPr/>
        </p:nvSpPr>
        <p:spPr>
          <a:xfrm>
            <a:off x="8485632" y="2103120"/>
            <a:ext cx="1188720" cy="566928"/>
          </a:xfrm>
          <a:prstGeom prst="rect">
            <a:avLst/>
          </a:prstGeom>
          <a:solidFill>
            <a:srgbClr val="FBFBFB"/>
          </a:solidFill>
          <a:ln w="5080">
            <a:solidFill>
              <a:srgbClr val="E0E0E0"/>
            </a:solidFill>
            <a:prstDash val="solid"/>
          </a:ln>
        </p:spPr>
      </p:sp>
      <p:sp>
        <p:nvSpPr>
          <p:cNvPr id="54" name="Text 52"/>
          <p:cNvSpPr/>
          <p:nvPr/>
        </p:nvSpPr>
        <p:spPr>
          <a:xfrm>
            <a:off x="8540496" y="2286000"/>
            <a:ext cx="107899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77.2% → 70.6%</a:t>
            </a:r>
            <a:endParaRPr lang="en-US" sz="750" dirty="0"/>
          </a:p>
        </p:txBody>
      </p:sp>
      <p:sp>
        <p:nvSpPr>
          <p:cNvPr id="55" name="Shape 53"/>
          <p:cNvSpPr/>
          <p:nvPr/>
        </p:nvSpPr>
        <p:spPr>
          <a:xfrm>
            <a:off x="5230368" y="2670048"/>
            <a:ext cx="1005840" cy="566928"/>
          </a:xfrm>
          <a:prstGeom prst="rect">
            <a:avLst/>
          </a:prstGeom>
          <a:solidFill>
            <a:srgbClr val="FFFFFF"/>
          </a:solidFill>
          <a:ln w="5080">
            <a:solidFill>
              <a:srgbClr val="E0E0E0"/>
            </a:solidFill>
            <a:prstDash val="solid"/>
          </a:ln>
        </p:spPr>
      </p:sp>
      <p:sp>
        <p:nvSpPr>
          <p:cNvPr id="56" name="Text 54"/>
          <p:cNvSpPr/>
          <p:nvPr/>
        </p:nvSpPr>
        <p:spPr>
          <a:xfrm>
            <a:off x="5285232" y="2852928"/>
            <a:ext cx="89611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750" b="1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Brakes</a:t>
            </a:r>
            <a:endParaRPr lang="en-US" sz="750" dirty="0"/>
          </a:p>
        </p:txBody>
      </p:sp>
      <p:sp>
        <p:nvSpPr>
          <p:cNvPr id="57" name="Shape 55"/>
          <p:cNvSpPr/>
          <p:nvPr/>
        </p:nvSpPr>
        <p:spPr>
          <a:xfrm>
            <a:off x="6236208" y="2670048"/>
            <a:ext cx="749808" cy="566928"/>
          </a:xfrm>
          <a:prstGeom prst="rect">
            <a:avLst/>
          </a:prstGeom>
          <a:solidFill>
            <a:srgbClr val="FFFFFF"/>
          </a:solidFill>
          <a:ln w="5080">
            <a:solidFill>
              <a:srgbClr val="E0E0E0"/>
            </a:solidFill>
            <a:prstDash val="solid"/>
          </a:ln>
        </p:spPr>
      </p:sp>
      <p:sp>
        <p:nvSpPr>
          <p:cNvPr id="58" name="Text 56"/>
          <p:cNvSpPr/>
          <p:nvPr/>
        </p:nvSpPr>
        <p:spPr>
          <a:xfrm>
            <a:off x="6291072" y="2852928"/>
            <a:ext cx="6400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€67.6K</a:t>
            </a:r>
            <a:endParaRPr lang="en-US" sz="750" dirty="0"/>
          </a:p>
        </p:txBody>
      </p:sp>
      <p:sp>
        <p:nvSpPr>
          <p:cNvPr id="59" name="Shape 57"/>
          <p:cNvSpPr/>
          <p:nvPr/>
        </p:nvSpPr>
        <p:spPr>
          <a:xfrm>
            <a:off x="6986016" y="2670048"/>
            <a:ext cx="749808" cy="566928"/>
          </a:xfrm>
          <a:prstGeom prst="rect">
            <a:avLst/>
          </a:prstGeom>
          <a:solidFill>
            <a:srgbClr val="FFFFFF"/>
          </a:solidFill>
          <a:ln w="5080">
            <a:solidFill>
              <a:srgbClr val="E0E0E0"/>
            </a:solidFill>
            <a:prstDash val="solid"/>
          </a:ln>
        </p:spPr>
      </p:sp>
      <p:sp>
        <p:nvSpPr>
          <p:cNvPr id="60" name="Text 58"/>
          <p:cNvSpPr/>
          <p:nvPr/>
        </p:nvSpPr>
        <p:spPr>
          <a:xfrm>
            <a:off x="7040880" y="2852928"/>
            <a:ext cx="6400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€33.8K</a:t>
            </a:r>
            <a:endParaRPr lang="en-US" sz="750" dirty="0"/>
          </a:p>
        </p:txBody>
      </p:sp>
      <p:sp>
        <p:nvSpPr>
          <p:cNvPr id="61" name="Shape 59"/>
          <p:cNvSpPr/>
          <p:nvPr/>
        </p:nvSpPr>
        <p:spPr>
          <a:xfrm>
            <a:off x="7735824" y="2670048"/>
            <a:ext cx="749808" cy="566928"/>
          </a:xfrm>
          <a:prstGeom prst="rect">
            <a:avLst/>
          </a:prstGeom>
          <a:solidFill>
            <a:srgbClr val="FFFFFF"/>
          </a:solidFill>
          <a:ln w="5080">
            <a:solidFill>
              <a:srgbClr val="E0E0E0"/>
            </a:solidFill>
            <a:prstDash val="solid"/>
          </a:ln>
        </p:spPr>
      </p:sp>
      <p:sp>
        <p:nvSpPr>
          <p:cNvPr id="62" name="Text 60"/>
          <p:cNvSpPr/>
          <p:nvPr/>
        </p:nvSpPr>
        <p:spPr>
          <a:xfrm>
            <a:off x="7790688" y="2852928"/>
            <a:ext cx="6400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D719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€74.0K</a:t>
            </a:r>
            <a:endParaRPr lang="en-US" sz="750" dirty="0"/>
          </a:p>
        </p:txBody>
      </p:sp>
      <p:sp>
        <p:nvSpPr>
          <p:cNvPr id="63" name="Shape 61"/>
          <p:cNvSpPr/>
          <p:nvPr/>
        </p:nvSpPr>
        <p:spPr>
          <a:xfrm>
            <a:off x="8485632" y="2670048"/>
            <a:ext cx="1188720" cy="566928"/>
          </a:xfrm>
          <a:prstGeom prst="rect">
            <a:avLst/>
          </a:prstGeom>
          <a:solidFill>
            <a:srgbClr val="FFFFFF"/>
          </a:solidFill>
          <a:ln w="5080">
            <a:solidFill>
              <a:srgbClr val="E0E0E0"/>
            </a:solidFill>
            <a:prstDash val="solid"/>
          </a:ln>
        </p:spPr>
      </p:sp>
      <p:sp>
        <p:nvSpPr>
          <p:cNvPr id="64" name="Text 62"/>
          <p:cNvSpPr/>
          <p:nvPr/>
        </p:nvSpPr>
        <p:spPr>
          <a:xfrm>
            <a:off x="8540496" y="2852928"/>
            <a:ext cx="107899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45.1% → 34.8%</a:t>
            </a:r>
            <a:endParaRPr lang="en-US" sz="750" dirty="0"/>
          </a:p>
        </p:txBody>
      </p:sp>
      <p:sp>
        <p:nvSpPr>
          <p:cNvPr id="65" name="Shape 63"/>
          <p:cNvSpPr/>
          <p:nvPr/>
        </p:nvSpPr>
        <p:spPr>
          <a:xfrm>
            <a:off x="5230368" y="3236976"/>
            <a:ext cx="1005840" cy="566928"/>
          </a:xfrm>
          <a:prstGeom prst="rect">
            <a:avLst/>
          </a:prstGeom>
          <a:solidFill>
            <a:srgbClr val="FBFBFB"/>
          </a:solidFill>
          <a:ln w="5080">
            <a:solidFill>
              <a:srgbClr val="E0E0E0"/>
            </a:solidFill>
            <a:prstDash val="solid"/>
          </a:ln>
        </p:spPr>
      </p:sp>
      <p:sp>
        <p:nvSpPr>
          <p:cNvPr id="66" name="Text 64"/>
          <p:cNvSpPr/>
          <p:nvPr/>
        </p:nvSpPr>
        <p:spPr>
          <a:xfrm>
            <a:off x="5285232" y="3419856"/>
            <a:ext cx="89611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750" b="1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Clutch</a:t>
            </a:r>
            <a:endParaRPr lang="en-US" sz="750" dirty="0"/>
          </a:p>
        </p:txBody>
      </p:sp>
      <p:sp>
        <p:nvSpPr>
          <p:cNvPr id="67" name="Shape 65"/>
          <p:cNvSpPr/>
          <p:nvPr/>
        </p:nvSpPr>
        <p:spPr>
          <a:xfrm>
            <a:off x="6236208" y="3236976"/>
            <a:ext cx="749808" cy="566928"/>
          </a:xfrm>
          <a:prstGeom prst="rect">
            <a:avLst/>
          </a:prstGeom>
          <a:solidFill>
            <a:srgbClr val="FBFBFB"/>
          </a:solidFill>
          <a:ln w="5080">
            <a:solidFill>
              <a:srgbClr val="E0E0E0"/>
            </a:solidFill>
            <a:prstDash val="solid"/>
          </a:ln>
        </p:spPr>
      </p:sp>
      <p:sp>
        <p:nvSpPr>
          <p:cNvPr id="68" name="Text 66"/>
          <p:cNvSpPr/>
          <p:nvPr/>
        </p:nvSpPr>
        <p:spPr>
          <a:xfrm>
            <a:off x="6291072" y="3419856"/>
            <a:ext cx="6400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€35.7K</a:t>
            </a:r>
            <a:endParaRPr lang="en-US" sz="750" dirty="0"/>
          </a:p>
        </p:txBody>
      </p:sp>
      <p:sp>
        <p:nvSpPr>
          <p:cNvPr id="69" name="Shape 67"/>
          <p:cNvSpPr/>
          <p:nvPr/>
        </p:nvSpPr>
        <p:spPr>
          <a:xfrm>
            <a:off x="6986016" y="3236976"/>
            <a:ext cx="749808" cy="566928"/>
          </a:xfrm>
          <a:prstGeom prst="rect">
            <a:avLst/>
          </a:prstGeom>
          <a:solidFill>
            <a:srgbClr val="FBFBFB"/>
          </a:solidFill>
          <a:ln w="5080">
            <a:solidFill>
              <a:srgbClr val="E0E0E0"/>
            </a:solidFill>
            <a:prstDash val="solid"/>
          </a:ln>
        </p:spPr>
      </p:sp>
      <p:sp>
        <p:nvSpPr>
          <p:cNvPr id="70" name="Text 68"/>
          <p:cNvSpPr/>
          <p:nvPr/>
        </p:nvSpPr>
        <p:spPr>
          <a:xfrm>
            <a:off x="7040880" y="3419856"/>
            <a:ext cx="6400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€39.5K</a:t>
            </a:r>
            <a:endParaRPr lang="en-US" sz="750" dirty="0"/>
          </a:p>
        </p:txBody>
      </p:sp>
      <p:sp>
        <p:nvSpPr>
          <p:cNvPr id="71" name="Shape 69"/>
          <p:cNvSpPr/>
          <p:nvPr/>
        </p:nvSpPr>
        <p:spPr>
          <a:xfrm>
            <a:off x="7735824" y="3236976"/>
            <a:ext cx="749808" cy="566928"/>
          </a:xfrm>
          <a:prstGeom prst="rect">
            <a:avLst/>
          </a:prstGeom>
          <a:solidFill>
            <a:srgbClr val="FBFBFB"/>
          </a:solidFill>
          <a:ln w="5080">
            <a:solidFill>
              <a:srgbClr val="E0E0E0"/>
            </a:solidFill>
            <a:prstDash val="solid"/>
          </a:ln>
        </p:spPr>
      </p:sp>
      <p:sp>
        <p:nvSpPr>
          <p:cNvPr id="72" name="Text 70"/>
          <p:cNvSpPr/>
          <p:nvPr/>
        </p:nvSpPr>
        <p:spPr>
          <a:xfrm>
            <a:off x="7790688" y="3419856"/>
            <a:ext cx="6400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D719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€44.8K</a:t>
            </a:r>
            <a:endParaRPr lang="en-US" sz="750" dirty="0"/>
          </a:p>
        </p:txBody>
      </p:sp>
      <p:sp>
        <p:nvSpPr>
          <p:cNvPr id="73" name="Shape 71"/>
          <p:cNvSpPr/>
          <p:nvPr/>
        </p:nvSpPr>
        <p:spPr>
          <a:xfrm>
            <a:off x="8485632" y="3236976"/>
            <a:ext cx="1188720" cy="566928"/>
          </a:xfrm>
          <a:prstGeom prst="rect">
            <a:avLst/>
          </a:prstGeom>
          <a:solidFill>
            <a:srgbClr val="FBFBFB"/>
          </a:solidFill>
          <a:ln w="5080">
            <a:solidFill>
              <a:srgbClr val="E0E0E0"/>
            </a:solidFill>
            <a:prstDash val="solid"/>
          </a:ln>
        </p:spPr>
      </p:sp>
      <p:sp>
        <p:nvSpPr>
          <p:cNvPr id="74" name="Text 72"/>
          <p:cNvSpPr/>
          <p:nvPr/>
        </p:nvSpPr>
        <p:spPr>
          <a:xfrm>
            <a:off x="8540496" y="3419856"/>
            <a:ext cx="107899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74.8% → 70.3%</a:t>
            </a:r>
            <a:endParaRPr lang="en-US" sz="750" dirty="0"/>
          </a:p>
        </p:txBody>
      </p:sp>
      <p:sp>
        <p:nvSpPr>
          <p:cNvPr id="75" name="Shape 73"/>
          <p:cNvSpPr/>
          <p:nvPr/>
        </p:nvSpPr>
        <p:spPr>
          <a:xfrm>
            <a:off x="5230368" y="3959352"/>
            <a:ext cx="4462272" cy="1444752"/>
          </a:xfrm>
          <a:prstGeom prst="rect">
            <a:avLst/>
          </a:prstGeom>
          <a:solidFill>
            <a:srgbClr val="F6F6F6"/>
          </a:solidFill>
          <a:ln w="6350">
            <a:solidFill>
              <a:srgbClr val="E0E0E0"/>
            </a:solidFill>
            <a:prstDash val="solid"/>
          </a:ln>
        </p:spPr>
      </p:sp>
      <p:sp>
        <p:nvSpPr>
          <p:cNvPr id="76" name="Text 74"/>
          <p:cNvSpPr/>
          <p:nvPr/>
        </p:nvSpPr>
        <p:spPr>
          <a:xfrm>
            <a:off x="5440680" y="4151376"/>
            <a:ext cx="1600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D719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the mix actually says</a:t>
            </a:r>
            <a:endParaRPr lang="en-US" sz="800" dirty="0"/>
          </a:p>
        </p:txBody>
      </p:sp>
      <p:sp>
        <p:nvSpPr>
          <p:cNvPr id="77" name="Text 75"/>
          <p:cNvSpPr/>
          <p:nvPr/>
        </p:nvSpPr>
        <p:spPr>
          <a:xfrm>
            <a:off x="5440680" y="4407408"/>
            <a:ext cx="402336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4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BVP share fell in 2025 while combined billing still grew. The problem is therefore not “too much or too little BVP” overall. The strongest leakage signal is filters: total family billing fell €29K from 2024 despite a larger fleet and rising air-filter cover.</a:t>
            </a:r>
            <a:endParaRPr lang="en-US" sz="840" dirty="0"/>
          </a:p>
        </p:txBody>
      </p:sp>
      <p:sp>
        <p:nvSpPr>
          <p:cNvPr id="78" name="Text 76"/>
          <p:cNvSpPr/>
          <p:nvPr/>
        </p:nvSpPr>
        <p:spPr>
          <a:xfrm>
            <a:off x="9948672" y="1280160"/>
            <a:ext cx="1554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" b="1" dirty="0">
                <a:solidFill>
                  <a:srgbClr val="D719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TAKEAWAYS</a:t>
            </a:r>
            <a:endParaRPr lang="en-US" sz="650" dirty="0"/>
          </a:p>
        </p:txBody>
      </p:sp>
      <p:sp>
        <p:nvSpPr>
          <p:cNvPr id="79" name="Shape 77"/>
          <p:cNvSpPr/>
          <p:nvPr/>
        </p:nvSpPr>
        <p:spPr>
          <a:xfrm>
            <a:off x="9802368" y="1234440"/>
            <a:ext cx="0" cy="5138928"/>
          </a:xfrm>
          <a:prstGeom prst="line">
            <a:avLst/>
          </a:prstGeom>
          <a:noFill/>
          <a:ln w="12700">
            <a:solidFill>
              <a:srgbClr val="D0D0D0"/>
            </a:solidFill>
            <a:prstDash val="solid"/>
          </a:ln>
        </p:spPr>
      </p:sp>
      <p:sp>
        <p:nvSpPr>
          <p:cNvPr id="80" name="Text 78"/>
          <p:cNvSpPr/>
          <p:nvPr/>
        </p:nvSpPr>
        <p:spPr>
          <a:xfrm>
            <a:off x="9948672" y="1591056"/>
            <a:ext cx="146304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D719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</a:t>
            </a:r>
            <a:endParaRPr lang="en-US" sz="900" dirty="0"/>
          </a:p>
        </p:txBody>
      </p:sp>
      <p:sp>
        <p:nvSpPr>
          <p:cNvPr id="81" name="Text 79"/>
          <p:cNvSpPr/>
          <p:nvPr/>
        </p:nvSpPr>
        <p:spPr>
          <a:xfrm>
            <a:off x="10113264" y="1591056"/>
            <a:ext cx="1389888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82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Combined Genuine+BVP billing in these covered families increased from €193.6K to €211.1K across 2023–2025.</a:t>
            </a:r>
            <a:endParaRPr lang="en-US" sz="820" dirty="0"/>
          </a:p>
        </p:txBody>
      </p:sp>
      <p:sp>
        <p:nvSpPr>
          <p:cNvPr id="82" name="Text 80"/>
          <p:cNvSpPr/>
          <p:nvPr/>
        </p:nvSpPr>
        <p:spPr>
          <a:xfrm>
            <a:off x="9948672" y="2322576"/>
            <a:ext cx="146304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D719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</a:t>
            </a:r>
            <a:endParaRPr lang="en-US" sz="900" dirty="0"/>
          </a:p>
        </p:txBody>
      </p:sp>
      <p:sp>
        <p:nvSpPr>
          <p:cNvPr id="83" name="Text 81"/>
          <p:cNvSpPr/>
          <p:nvPr/>
        </p:nvSpPr>
        <p:spPr>
          <a:xfrm>
            <a:off x="10113264" y="2322576"/>
            <a:ext cx="1389888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82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BVP share eased from 63.4% in 2024 to 58.1% in 2025; that is a mix change, not evidence of lost market share by itself.</a:t>
            </a:r>
            <a:endParaRPr lang="en-US" sz="820" dirty="0"/>
          </a:p>
        </p:txBody>
      </p:sp>
      <p:sp>
        <p:nvSpPr>
          <p:cNvPr id="84" name="Text 82"/>
          <p:cNvSpPr/>
          <p:nvPr/>
        </p:nvSpPr>
        <p:spPr>
          <a:xfrm>
            <a:off x="9948672" y="3054096"/>
            <a:ext cx="146304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D719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</a:t>
            </a:r>
            <a:endParaRPr lang="en-US" sz="900" dirty="0"/>
          </a:p>
        </p:txBody>
      </p:sp>
      <p:sp>
        <p:nvSpPr>
          <p:cNvPr id="85" name="Text 83"/>
          <p:cNvSpPr/>
          <p:nvPr/>
        </p:nvSpPr>
        <p:spPr>
          <a:xfrm>
            <a:off x="10113264" y="3054096"/>
            <a:ext cx="1389888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82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Filters are the concern: €107.6K in 2024 fell to €78.6K in 2025, consistent with the oil/fuel service-demand reversal.</a:t>
            </a:r>
            <a:endParaRPr lang="en-US" sz="820" dirty="0"/>
          </a:p>
        </p:txBody>
      </p:sp>
      <p:sp>
        <p:nvSpPr>
          <p:cNvPr id="86" name="Text 84"/>
          <p:cNvSpPr/>
          <p:nvPr/>
        </p:nvSpPr>
        <p:spPr>
          <a:xfrm>
            <a:off x="9948672" y="3785616"/>
            <a:ext cx="146304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D719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</a:t>
            </a:r>
            <a:endParaRPr lang="en-US" sz="900" dirty="0"/>
          </a:p>
        </p:txBody>
      </p:sp>
      <p:sp>
        <p:nvSpPr>
          <p:cNvPr id="87" name="Text 85"/>
          <p:cNvSpPr/>
          <p:nvPr/>
        </p:nvSpPr>
        <p:spPr>
          <a:xfrm>
            <a:off x="10113264" y="3785616"/>
            <a:ext cx="1389888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82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Brakes recovered strongly and clutch grew steadily, but clutch’s service-demand cover remains low — growth and leakage can coexist.</a:t>
            </a:r>
            <a:endParaRPr lang="en-US" sz="820" dirty="0"/>
          </a:p>
        </p:txBody>
      </p:sp>
      <p:sp>
        <p:nvSpPr>
          <p:cNvPr id="88" name="Text 86"/>
          <p:cNvSpPr/>
          <p:nvPr/>
        </p:nvSpPr>
        <p:spPr>
          <a:xfrm>
            <a:off x="1325880" y="6483096"/>
            <a:ext cx="978408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570" dirty="0">
                <a:solidFill>
                  <a:srgbClr val="7777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Source: 04_original_vs_value_parts_mix.csv, Portugal, calendar 2023–2025. BVP = Best Value Parts.</a:t>
            </a:r>
            <a:endParaRPr lang="en-US" sz="57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475720" y="6464808"/>
            <a:ext cx="457200" cy="13716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650">
                <a:solidFill>
                  <a:srgbClr val="777777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12</a:t>
            </a:fld>
            <a:endParaRPr lang="en-US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10896" y="182880"/>
            <a:ext cx="34747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60" b="1" spc="70" kern="0" dirty="0">
                <a:solidFill>
                  <a:srgbClr val="D719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DISCUSSION PRIORITIES</a:t>
            </a:r>
            <a:endParaRPr lang="en-US" sz="660" dirty="0"/>
          </a:p>
        </p:txBody>
      </p:sp>
      <p:sp>
        <p:nvSpPr>
          <p:cNvPr id="3" name="Text 1"/>
          <p:cNvSpPr/>
          <p:nvPr/>
        </p:nvSpPr>
        <p:spPr>
          <a:xfrm>
            <a:off x="310896" y="420624"/>
            <a:ext cx="113842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800" b="1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Three commercial questions should drive the I Motors review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310896" y="886968"/>
            <a:ext cx="11430000" cy="0"/>
          </a:xfrm>
          <a:prstGeom prst="line">
            <a:avLst/>
          </a:prstGeom>
          <a:noFill/>
          <a:ln w="15875">
            <a:solidFill>
              <a:srgbClr val="D7192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310896" y="923544"/>
            <a:ext cx="11292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3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measured dealer activity and operational KPIs to explain the category leakage before changing terms</a:t>
            </a:r>
            <a:endParaRPr lang="en-US" sz="830" dirty="0"/>
          </a:p>
        </p:txBody>
      </p:sp>
      <p:sp>
        <p:nvSpPr>
          <p:cNvPr id="6" name="Shape 4"/>
          <p:cNvSpPr/>
          <p:nvPr/>
        </p:nvSpPr>
        <p:spPr>
          <a:xfrm>
            <a:off x="685800" y="1481328"/>
            <a:ext cx="2450592" cy="3977640"/>
          </a:xfrm>
          <a:prstGeom prst="rect">
            <a:avLst/>
          </a:prstGeom>
          <a:solidFill>
            <a:srgbClr val="FFFFFF"/>
          </a:solidFill>
          <a:ln w="8890">
            <a:solidFill>
              <a:srgbClr val="D8D8D8"/>
            </a:solidFill>
            <a:prstDash val="solid"/>
          </a:ln>
          <a:effectLst>
            <a:outerShdw sx="100000" sy="100000" kx="0" ky="0" algn="bl" rotWithShape="0" blurRad="12700" dist="3810" dir="2700000">
              <a:srgbClr val="000000">
                <a:alpha val="10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685800" y="1481328"/>
            <a:ext cx="2450592" cy="109728"/>
          </a:xfrm>
          <a:prstGeom prst="rect">
            <a:avLst/>
          </a:prstGeom>
          <a:solidFill>
            <a:srgbClr val="D71920"/>
          </a:solidFill>
          <a:ln w="12700">
            <a:solidFill>
              <a:srgbClr val="D7192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850392" y="1755648"/>
            <a:ext cx="212140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20" b="1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 RECOVER FILTER MOMENTUM</a:t>
            </a:r>
            <a:endParaRPr lang="en-US" sz="920" dirty="0"/>
          </a:p>
        </p:txBody>
      </p:sp>
      <p:sp>
        <p:nvSpPr>
          <p:cNvPr id="9" name="Text 7"/>
          <p:cNvSpPr/>
          <p:nvPr/>
        </p:nvSpPr>
        <p:spPr>
          <a:xfrm>
            <a:off x="850392" y="2331720"/>
            <a:ext cx="212140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00" b="1" dirty="0">
                <a:solidFill>
                  <a:srgbClr val="D719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Oil 46%  |  Fuel 40%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850392" y="2962656"/>
            <a:ext cx="2121408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Both categories were materially stronger in 2024 and then fell back in 2025, while air filter kept improving.</a:t>
            </a:r>
            <a:endParaRPr lang="en-US" sz="850" dirty="0"/>
          </a:p>
          <a:p>
            <a:pPr indent="0" marL="0">
              <a:buNone/>
            </a:pP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Discuss: dealer accounts, BVP/Genuine offer, stock coverage, campaigns and competitive price evidence.</a:t>
            </a:r>
            <a:endParaRPr lang="en-US" sz="850" dirty="0"/>
          </a:p>
        </p:txBody>
      </p:sp>
      <p:sp>
        <p:nvSpPr>
          <p:cNvPr id="11" name="Shape 9"/>
          <p:cNvSpPr/>
          <p:nvPr/>
        </p:nvSpPr>
        <p:spPr>
          <a:xfrm>
            <a:off x="3401568" y="1481328"/>
            <a:ext cx="2450592" cy="3977640"/>
          </a:xfrm>
          <a:prstGeom prst="rect">
            <a:avLst/>
          </a:prstGeom>
          <a:solidFill>
            <a:srgbClr val="FFFFFF"/>
          </a:solidFill>
          <a:ln w="8890">
            <a:solidFill>
              <a:srgbClr val="D8D8D8"/>
            </a:solidFill>
            <a:prstDash val="solid"/>
          </a:ln>
          <a:effectLst>
            <a:outerShdw sx="100000" sy="100000" kx="0" ky="0" algn="bl" rotWithShape="0" blurRad="12700" dist="3810" dir="2700000">
              <a:srgbClr val="000000">
                <a:alpha val="10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3401568" y="1481328"/>
            <a:ext cx="2450592" cy="109728"/>
          </a:xfrm>
          <a:prstGeom prst="rect">
            <a:avLst/>
          </a:prstGeom>
          <a:solidFill>
            <a:srgbClr val="E5A84B"/>
          </a:solidFill>
          <a:ln w="12700">
            <a:solidFill>
              <a:srgbClr val="E5A84B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566160" y="1755648"/>
            <a:ext cx="212140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20" b="1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 DEVELOP WEAR PARTS</a:t>
            </a:r>
            <a:endParaRPr lang="en-US" sz="920" dirty="0"/>
          </a:p>
        </p:txBody>
      </p:sp>
      <p:sp>
        <p:nvSpPr>
          <p:cNvPr id="14" name="Text 12"/>
          <p:cNvSpPr/>
          <p:nvPr/>
        </p:nvSpPr>
        <p:spPr>
          <a:xfrm>
            <a:off x="3566160" y="2331720"/>
            <a:ext cx="212140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00" b="1" dirty="0">
                <a:solidFill>
                  <a:srgbClr val="E5A8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Clutch kit 30%  |  Shoe 11%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3566160" y="2962656"/>
            <a:ext cx="2121408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Persistent low service-demand cover indicates a larger structural development opportunity than one-year volatility.</a:t>
            </a:r>
            <a:endParaRPr lang="en-US" sz="850" dirty="0"/>
          </a:p>
          <a:p>
            <a:pPr indent="0" marL="0">
              <a:buNone/>
            </a:pP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Discuss: eligible fleet, dealer breadth, fitment/application, price position and tender opportunities.</a:t>
            </a:r>
            <a:endParaRPr lang="en-US" sz="850" dirty="0"/>
          </a:p>
        </p:txBody>
      </p:sp>
      <p:sp>
        <p:nvSpPr>
          <p:cNvPr id="16" name="Shape 14"/>
          <p:cNvSpPr/>
          <p:nvPr/>
        </p:nvSpPr>
        <p:spPr>
          <a:xfrm>
            <a:off x="6117336" y="1481328"/>
            <a:ext cx="2450592" cy="3977640"/>
          </a:xfrm>
          <a:prstGeom prst="rect">
            <a:avLst/>
          </a:prstGeom>
          <a:solidFill>
            <a:srgbClr val="FFFFFF"/>
          </a:solidFill>
          <a:ln w="8890">
            <a:solidFill>
              <a:srgbClr val="D8D8D8"/>
            </a:solidFill>
            <a:prstDash val="solid"/>
          </a:ln>
          <a:effectLst>
            <a:outerShdw sx="100000" sy="100000" kx="0" ky="0" algn="bl" rotWithShape="0" blurRad="12700" dist="3810" dir="2700000">
              <a:srgbClr val="000000">
                <a:alpha val="10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6117336" y="1481328"/>
            <a:ext cx="2450592" cy="109728"/>
          </a:xfrm>
          <a:prstGeom prst="rect">
            <a:avLst/>
          </a:prstGeom>
          <a:solidFill>
            <a:srgbClr val="55A868"/>
          </a:solidFill>
          <a:ln w="12700">
            <a:solidFill>
              <a:srgbClr val="55A868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281928" y="1755648"/>
            <a:ext cx="212140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20" b="1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 CLOSE THE EXECUTION GAP</a:t>
            </a:r>
            <a:endParaRPr lang="en-US" sz="920" dirty="0"/>
          </a:p>
        </p:txBody>
      </p:sp>
      <p:sp>
        <p:nvSpPr>
          <p:cNvPr id="19" name="Text 17"/>
          <p:cNvSpPr/>
          <p:nvPr/>
        </p:nvSpPr>
        <p:spPr>
          <a:xfrm>
            <a:off x="6281928" y="2331720"/>
            <a:ext cx="212140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00" b="1" dirty="0">
                <a:solidFill>
                  <a:srgbClr val="55A8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Fill 87%  |  MOS 2.2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6281928" y="2962656"/>
            <a:ext cx="2121408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Dealer-network sales are up, but ISZE billing is below plan and availability remains below target.</a:t>
            </a:r>
            <a:endParaRPr lang="en-US" sz="850" dirty="0"/>
          </a:p>
          <a:p>
            <a:pPr indent="0" marL="0">
              <a:buNone/>
            </a:pP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Discuss: replenishment cadence, fast-moving stock mix, back-order causes and monthly dealer-sales reporting.</a:t>
            </a:r>
            <a:endParaRPr lang="en-US" sz="850" dirty="0"/>
          </a:p>
        </p:txBody>
      </p:sp>
      <p:sp>
        <p:nvSpPr>
          <p:cNvPr id="21" name="Text 19"/>
          <p:cNvSpPr/>
          <p:nvPr/>
        </p:nvSpPr>
        <p:spPr>
          <a:xfrm>
            <a:off x="8915400" y="1280160"/>
            <a:ext cx="257860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" b="1" dirty="0">
                <a:solidFill>
                  <a:srgbClr val="D719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TAKEAWAYS</a:t>
            </a:r>
            <a:endParaRPr lang="en-US" sz="650" dirty="0"/>
          </a:p>
        </p:txBody>
      </p:sp>
      <p:sp>
        <p:nvSpPr>
          <p:cNvPr id="22" name="Shape 20"/>
          <p:cNvSpPr/>
          <p:nvPr/>
        </p:nvSpPr>
        <p:spPr>
          <a:xfrm>
            <a:off x="8769096" y="1234440"/>
            <a:ext cx="0" cy="5138928"/>
          </a:xfrm>
          <a:prstGeom prst="line">
            <a:avLst/>
          </a:prstGeom>
          <a:noFill/>
          <a:ln w="12700">
            <a:solidFill>
              <a:srgbClr val="D0D0D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8915400" y="1591056"/>
            <a:ext cx="146304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D719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9079992" y="1591056"/>
            <a:ext cx="2414016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82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Agree the explanation before the action. A price reduction should follow evidence of a price problem, not simply a low cover percentage.</a:t>
            </a:r>
            <a:endParaRPr lang="en-US" sz="820" dirty="0"/>
          </a:p>
        </p:txBody>
      </p:sp>
      <p:sp>
        <p:nvSpPr>
          <p:cNvPr id="25" name="Text 23"/>
          <p:cNvSpPr/>
          <p:nvPr/>
        </p:nvSpPr>
        <p:spPr>
          <a:xfrm>
            <a:off x="8915400" y="2322576"/>
            <a:ext cx="146304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D719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9079992" y="2322576"/>
            <a:ext cx="2414016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82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sales to dealer to locate the account pattern where available; distributor purchases alone measure stocking decisions, not end-customer demand.</a:t>
            </a:r>
            <a:endParaRPr lang="en-US" sz="820" dirty="0"/>
          </a:p>
        </p:txBody>
      </p:sp>
      <p:sp>
        <p:nvSpPr>
          <p:cNvPr id="27" name="Text 25"/>
          <p:cNvSpPr/>
          <p:nvPr/>
        </p:nvSpPr>
        <p:spPr>
          <a:xfrm>
            <a:off x="8915400" y="3054096"/>
            <a:ext cx="146304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D719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9079992" y="3054096"/>
            <a:ext cx="2414016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82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Set the next review around a short list of categories and references, with fill rate and MOS shown beside the commercial result.</a:t>
            </a:r>
            <a:endParaRPr lang="en-US" sz="820" dirty="0"/>
          </a:p>
        </p:txBody>
      </p:sp>
      <p:sp>
        <p:nvSpPr>
          <p:cNvPr id="29" name="Text 27"/>
          <p:cNvSpPr/>
          <p:nvPr/>
        </p:nvSpPr>
        <p:spPr>
          <a:xfrm>
            <a:off x="8915400" y="3785616"/>
            <a:ext cx="146304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D719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</a:t>
            </a:r>
            <a:endParaRPr lang="en-US" sz="900" dirty="0"/>
          </a:p>
        </p:txBody>
      </p:sp>
      <p:sp>
        <p:nvSpPr>
          <p:cNvPr id="30" name="Text 28"/>
          <p:cNvSpPr/>
          <p:nvPr/>
        </p:nvSpPr>
        <p:spPr>
          <a:xfrm>
            <a:off x="9079992" y="3785616"/>
            <a:ext cx="2414016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82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Track whether the action changes repeat dealer purchases and ISZE contribution — not only whether one large order lands.</a:t>
            </a:r>
            <a:endParaRPr lang="en-US" sz="820" dirty="0"/>
          </a:p>
        </p:txBody>
      </p:sp>
      <p:sp>
        <p:nvSpPr>
          <p:cNvPr id="31" name="Text 29"/>
          <p:cNvSpPr/>
          <p:nvPr/>
        </p:nvSpPr>
        <p:spPr>
          <a:xfrm>
            <a:off x="1325880" y="6483096"/>
            <a:ext cx="978408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570" dirty="0">
                <a:solidFill>
                  <a:srgbClr val="7777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Sources: FY27 plan, KPI Master, service-demand and Genuine/BVP evolution files.</a:t>
            </a:r>
            <a:endParaRPr lang="en-US" sz="57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475720" y="6464808"/>
            <a:ext cx="457200" cy="13716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650">
                <a:solidFill>
                  <a:srgbClr val="777777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13</a:t>
            </a:fld>
            <a:endParaRPr lang="en-US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10896" y="182880"/>
            <a:ext cx="34747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60" b="1" spc="70" kern="0" dirty="0">
                <a:solidFill>
                  <a:srgbClr val="D719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ACTION POINTS</a:t>
            </a:r>
            <a:endParaRPr lang="en-US" sz="660" dirty="0"/>
          </a:p>
        </p:txBody>
      </p:sp>
      <p:sp>
        <p:nvSpPr>
          <p:cNvPr id="3" name="Text 1"/>
          <p:cNvSpPr/>
          <p:nvPr/>
        </p:nvSpPr>
        <p:spPr>
          <a:xfrm>
            <a:off x="310896" y="420624"/>
            <a:ext cx="113842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800" b="1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monthly review should connect plan recovery, dealer demand and service availability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310896" y="886968"/>
            <a:ext cx="11430000" cy="0"/>
          </a:xfrm>
          <a:prstGeom prst="line">
            <a:avLst/>
          </a:prstGeom>
          <a:noFill/>
          <a:ln w="15875">
            <a:solidFill>
              <a:srgbClr val="D7192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310896" y="923544"/>
            <a:ext cx="11292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3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Proposed discussion output for I Motors and ISZE</a:t>
            </a:r>
            <a:endParaRPr lang="en-US" sz="830" dirty="0"/>
          </a:p>
        </p:txBody>
      </p:sp>
      <p:sp>
        <p:nvSpPr>
          <p:cNvPr id="6" name="Shape 4"/>
          <p:cNvSpPr/>
          <p:nvPr/>
        </p:nvSpPr>
        <p:spPr>
          <a:xfrm>
            <a:off x="658368" y="1444752"/>
            <a:ext cx="1901952" cy="384048"/>
          </a:xfrm>
          <a:prstGeom prst="rect">
            <a:avLst/>
          </a:prstGeom>
          <a:solidFill>
            <a:srgbClr val="333333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49808" y="1554480"/>
            <a:ext cx="1719072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Topic</a:t>
            </a:r>
            <a:endParaRPr lang="en-US" sz="700" dirty="0"/>
          </a:p>
        </p:txBody>
      </p:sp>
      <p:sp>
        <p:nvSpPr>
          <p:cNvPr id="8" name="Shape 6"/>
          <p:cNvSpPr/>
          <p:nvPr/>
        </p:nvSpPr>
        <p:spPr>
          <a:xfrm>
            <a:off x="2560320" y="1444752"/>
            <a:ext cx="3913632" cy="384048"/>
          </a:xfrm>
          <a:prstGeom prst="rect">
            <a:avLst/>
          </a:prstGeom>
          <a:solidFill>
            <a:srgbClr val="333333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2651760" y="1554480"/>
            <a:ext cx="3730752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Action</a:t>
            </a:r>
            <a:endParaRPr lang="en-US" sz="700" dirty="0"/>
          </a:p>
        </p:txBody>
      </p:sp>
      <p:sp>
        <p:nvSpPr>
          <p:cNvPr id="10" name="Shape 8"/>
          <p:cNvSpPr/>
          <p:nvPr/>
        </p:nvSpPr>
        <p:spPr>
          <a:xfrm>
            <a:off x="6473952" y="1444752"/>
            <a:ext cx="1682496" cy="384048"/>
          </a:xfrm>
          <a:prstGeom prst="rect">
            <a:avLst/>
          </a:prstGeom>
          <a:solidFill>
            <a:srgbClr val="333333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565392" y="1554480"/>
            <a:ext cx="149961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Owner</a:t>
            </a:r>
            <a:endParaRPr lang="en-US" sz="700" dirty="0"/>
          </a:p>
        </p:txBody>
      </p:sp>
      <p:sp>
        <p:nvSpPr>
          <p:cNvPr id="12" name="Shape 10"/>
          <p:cNvSpPr/>
          <p:nvPr/>
        </p:nvSpPr>
        <p:spPr>
          <a:xfrm>
            <a:off x="658368" y="1828800"/>
            <a:ext cx="1901952" cy="713232"/>
          </a:xfrm>
          <a:prstGeom prst="rect">
            <a:avLst/>
          </a:prstGeom>
          <a:solidFill>
            <a:srgbClr val="F8F8F8"/>
          </a:solidFill>
          <a:ln w="6350">
            <a:solidFill>
              <a:srgbClr val="E0E0E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749808" y="1956816"/>
            <a:ext cx="1719072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00" b="1" dirty="0">
                <a:solidFill>
                  <a:srgbClr val="D719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FY27 plan recovery</a:t>
            </a:r>
            <a:endParaRPr lang="en-US" sz="800" dirty="0"/>
          </a:p>
        </p:txBody>
      </p:sp>
      <p:sp>
        <p:nvSpPr>
          <p:cNvPr id="14" name="Shape 12"/>
          <p:cNvSpPr/>
          <p:nvPr/>
        </p:nvSpPr>
        <p:spPr>
          <a:xfrm>
            <a:off x="2560320" y="1828800"/>
            <a:ext cx="3913632" cy="713232"/>
          </a:xfrm>
          <a:prstGeom prst="rect">
            <a:avLst/>
          </a:prstGeom>
          <a:solidFill>
            <a:srgbClr val="F8F8F8"/>
          </a:solidFill>
          <a:ln w="6350">
            <a:solidFill>
              <a:srgbClr val="E0E0E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2651760" y="1956816"/>
            <a:ext cx="3730752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Explain Aug–Sep shortfall and confirm category-based recovery actions for Oct–Mar.</a:t>
            </a:r>
            <a:endParaRPr lang="en-US" sz="750" dirty="0"/>
          </a:p>
        </p:txBody>
      </p:sp>
      <p:sp>
        <p:nvSpPr>
          <p:cNvPr id="16" name="Shape 14"/>
          <p:cNvSpPr/>
          <p:nvPr/>
        </p:nvSpPr>
        <p:spPr>
          <a:xfrm>
            <a:off x="6473952" y="1828800"/>
            <a:ext cx="1682496" cy="713232"/>
          </a:xfrm>
          <a:prstGeom prst="rect">
            <a:avLst/>
          </a:prstGeom>
          <a:solidFill>
            <a:srgbClr val="F8F8F8"/>
          </a:solidFill>
          <a:ln w="6350">
            <a:solidFill>
              <a:srgbClr val="E0E0E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565392" y="1956816"/>
            <a:ext cx="1499616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 Motors parts management + ISZE</a:t>
            </a:r>
            <a:endParaRPr lang="en-US" sz="750" dirty="0"/>
          </a:p>
        </p:txBody>
      </p:sp>
      <p:sp>
        <p:nvSpPr>
          <p:cNvPr id="18" name="Shape 16"/>
          <p:cNvSpPr/>
          <p:nvPr/>
        </p:nvSpPr>
        <p:spPr>
          <a:xfrm>
            <a:off x="658368" y="2542032"/>
            <a:ext cx="1901952" cy="713232"/>
          </a:xfrm>
          <a:prstGeom prst="rect">
            <a:avLst/>
          </a:prstGeom>
          <a:solidFill>
            <a:srgbClr val="FFFFFF"/>
          </a:solidFill>
          <a:ln w="6350">
            <a:solidFill>
              <a:srgbClr val="E0E0E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749808" y="2670048"/>
            <a:ext cx="1719072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00" b="1" dirty="0">
                <a:solidFill>
                  <a:srgbClr val="D719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Sales to dealer</a:t>
            </a:r>
            <a:endParaRPr lang="en-US" sz="800" dirty="0"/>
          </a:p>
        </p:txBody>
      </p:sp>
      <p:sp>
        <p:nvSpPr>
          <p:cNvPr id="20" name="Shape 18"/>
          <p:cNvSpPr/>
          <p:nvPr/>
        </p:nvSpPr>
        <p:spPr>
          <a:xfrm>
            <a:off x="2560320" y="2542032"/>
            <a:ext cx="3913632" cy="713232"/>
          </a:xfrm>
          <a:prstGeom prst="rect">
            <a:avLst/>
          </a:prstGeom>
          <a:solidFill>
            <a:srgbClr val="FFFFFF"/>
          </a:solidFill>
          <a:ln w="6350">
            <a:solidFill>
              <a:srgbClr val="E0E0E0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2651760" y="2670048"/>
            <a:ext cx="3730752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Provide monthly dealer-sales detail by agreed product family; start with filters, brakes and clutch.</a:t>
            </a:r>
            <a:endParaRPr lang="en-US" sz="750" dirty="0"/>
          </a:p>
        </p:txBody>
      </p:sp>
      <p:sp>
        <p:nvSpPr>
          <p:cNvPr id="22" name="Shape 20"/>
          <p:cNvSpPr/>
          <p:nvPr/>
        </p:nvSpPr>
        <p:spPr>
          <a:xfrm>
            <a:off x="6473952" y="2542032"/>
            <a:ext cx="1682496" cy="713232"/>
          </a:xfrm>
          <a:prstGeom prst="rect">
            <a:avLst/>
          </a:prstGeom>
          <a:solidFill>
            <a:srgbClr val="FFFFFF"/>
          </a:solidFill>
          <a:ln w="6350">
            <a:solidFill>
              <a:srgbClr val="E0E0E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6565392" y="2670048"/>
            <a:ext cx="1499616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 Motors</a:t>
            </a:r>
            <a:endParaRPr lang="en-US" sz="750" dirty="0"/>
          </a:p>
        </p:txBody>
      </p:sp>
      <p:sp>
        <p:nvSpPr>
          <p:cNvPr id="24" name="Shape 22"/>
          <p:cNvSpPr/>
          <p:nvPr/>
        </p:nvSpPr>
        <p:spPr>
          <a:xfrm>
            <a:off x="658368" y="3255264"/>
            <a:ext cx="1901952" cy="713232"/>
          </a:xfrm>
          <a:prstGeom prst="rect">
            <a:avLst/>
          </a:prstGeom>
          <a:solidFill>
            <a:srgbClr val="F8F8F8"/>
          </a:solidFill>
          <a:ln w="6350">
            <a:solidFill>
              <a:srgbClr val="E0E0E0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749808" y="3383280"/>
            <a:ext cx="1719072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00" b="1" dirty="0">
                <a:solidFill>
                  <a:srgbClr val="D719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Fill rate</a:t>
            </a:r>
            <a:endParaRPr lang="en-US" sz="800" dirty="0"/>
          </a:p>
        </p:txBody>
      </p:sp>
      <p:sp>
        <p:nvSpPr>
          <p:cNvPr id="26" name="Shape 24"/>
          <p:cNvSpPr/>
          <p:nvPr/>
        </p:nvSpPr>
        <p:spPr>
          <a:xfrm>
            <a:off x="2560320" y="3255264"/>
            <a:ext cx="3913632" cy="713232"/>
          </a:xfrm>
          <a:prstGeom prst="rect">
            <a:avLst/>
          </a:prstGeom>
          <a:solidFill>
            <a:srgbClr val="F8F8F8"/>
          </a:solidFill>
          <a:ln w="6350">
            <a:solidFill>
              <a:srgbClr val="E0E0E0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2651760" y="3383280"/>
            <a:ext cx="3730752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Identify the top references driving the gap to 95% and separate stock-mix misses from supply constraints.</a:t>
            </a:r>
            <a:endParaRPr lang="en-US" sz="750" dirty="0"/>
          </a:p>
        </p:txBody>
      </p:sp>
      <p:sp>
        <p:nvSpPr>
          <p:cNvPr id="28" name="Shape 26"/>
          <p:cNvSpPr/>
          <p:nvPr/>
        </p:nvSpPr>
        <p:spPr>
          <a:xfrm>
            <a:off x="6473952" y="3255264"/>
            <a:ext cx="1682496" cy="713232"/>
          </a:xfrm>
          <a:prstGeom prst="rect">
            <a:avLst/>
          </a:prstGeom>
          <a:solidFill>
            <a:srgbClr val="F8F8F8"/>
          </a:solidFill>
          <a:ln w="6350">
            <a:solidFill>
              <a:srgbClr val="E0E0E0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6565392" y="3383280"/>
            <a:ext cx="1499616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 Motors + ISZE</a:t>
            </a:r>
            <a:endParaRPr lang="en-US" sz="750" dirty="0"/>
          </a:p>
        </p:txBody>
      </p:sp>
      <p:sp>
        <p:nvSpPr>
          <p:cNvPr id="30" name="Shape 28"/>
          <p:cNvSpPr/>
          <p:nvPr/>
        </p:nvSpPr>
        <p:spPr>
          <a:xfrm>
            <a:off x="658368" y="3968496"/>
            <a:ext cx="1901952" cy="713232"/>
          </a:xfrm>
          <a:prstGeom prst="rect">
            <a:avLst/>
          </a:prstGeom>
          <a:solidFill>
            <a:srgbClr val="FFFFFF"/>
          </a:solidFill>
          <a:ln w="6350">
            <a:solidFill>
              <a:srgbClr val="E0E0E0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749808" y="4096512"/>
            <a:ext cx="1719072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00" b="1" dirty="0">
                <a:solidFill>
                  <a:srgbClr val="D719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MOS / stock policy</a:t>
            </a:r>
            <a:endParaRPr lang="en-US" sz="800" dirty="0"/>
          </a:p>
        </p:txBody>
      </p:sp>
      <p:sp>
        <p:nvSpPr>
          <p:cNvPr id="32" name="Shape 30"/>
          <p:cNvSpPr/>
          <p:nvPr/>
        </p:nvSpPr>
        <p:spPr>
          <a:xfrm>
            <a:off x="2560320" y="3968496"/>
            <a:ext cx="3913632" cy="713232"/>
          </a:xfrm>
          <a:prstGeom prst="rect">
            <a:avLst/>
          </a:prstGeom>
          <a:solidFill>
            <a:srgbClr val="FFFFFF"/>
          </a:solidFill>
          <a:ln w="6350">
            <a:solidFill>
              <a:srgbClr val="E0E0E0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2651760" y="4096512"/>
            <a:ext cx="3730752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Confirm target stock depth by fast-moving family and whether the reduction to 2.2 MOS is intentional.</a:t>
            </a:r>
            <a:endParaRPr lang="en-US" sz="750" dirty="0"/>
          </a:p>
        </p:txBody>
      </p:sp>
      <p:sp>
        <p:nvSpPr>
          <p:cNvPr id="34" name="Shape 32"/>
          <p:cNvSpPr/>
          <p:nvPr/>
        </p:nvSpPr>
        <p:spPr>
          <a:xfrm>
            <a:off x="6473952" y="3968496"/>
            <a:ext cx="1682496" cy="713232"/>
          </a:xfrm>
          <a:prstGeom prst="rect">
            <a:avLst/>
          </a:prstGeom>
          <a:solidFill>
            <a:srgbClr val="FFFFFF"/>
          </a:solidFill>
          <a:ln w="6350">
            <a:solidFill>
              <a:srgbClr val="E0E0E0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6565392" y="4096512"/>
            <a:ext cx="1499616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 Motors</a:t>
            </a:r>
            <a:endParaRPr lang="en-US" sz="750" dirty="0"/>
          </a:p>
        </p:txBody>
      </p:sp>
      <p:sp>
        <p:nvSpPr>
          <p:cNvPr id="36" name="Shape 34"/>
          <p:cNvSpPr/>
          <p:nvPr/>
        </p:nvSpPr>
        <p:spPr>
          <a:xfrm>
            <a:off x="658368" y="4681728"/>
            <a:ext cx="1901952" cy="713232"/>
          </a:xfrm>
          <a:prstGeom prst="rect">
            <a:avLst/>
          </a:prstGeom>
          <a:solidFill>
            <a:srgbClr val="F8F8F8"/>
          </a:solidFill>
          <a:ln w="6350">
            <a:solidFill>
              <a:srgbClr val="E0E0E0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749808" y="4809744"/>
            <a:ext cx="1719072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00" b="1" dirty="0">
                <a:solidFill>
                  <a:srgbClr val="D719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PMS opportunity</a:t>
            </a:r>
            <a:endParaRPr lang="en-US" sz="800" dirty="0"/>
          </a:p>
        </p:txBody>
      </p:sp>
      <p:sp>
        <p:nvSpPr>
          <p:cNvPr id="38" name="Shape 36"/>
          <p:cNvSpPr/>
          <p:nvPr/>
        </p:nvSpPr>
        <p:spPr>
          <a:xfrm>
            <a:off x="2560320" y="4681728"/>
            <a:ext cx="3913632" cy="713232"/>
          </a:xfrm>
          <a:prstGeom prst="rect">
            <a:avLst/>
          </a:prstGeom>
          <a:solidFill>
            <a:srgbClr val="F8F8F8"/>
          </a:solidFill>
          <a:ln w="6350">
            <a:solidFill>
              <a:srgbClr val="E0E0E0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2651760" y="4809744"/>
            <a:ext cx="3730752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Investigate oil/fuel filter reversal and develop clutch/brake-shoe actions using eligible fleet and dealer evidence.</a:t>
            </a:r>
            <a:endParaRPr lang="en-US" sz="750" dirty="0"/>
          </a:p>
        </p:txBody>
      </p:sp>
      <p:sp>
        <p:nvSpPr>
          <p:cNvPr id="40" name="Shape 38"/>
          <p:cNvSpPr/>
          <p:nvPr/>
        </p:nvSpPr>
        <p:spPr>
          <a:xfrm>
            <a:off x="6473952" y="4681728"/>
            <a:ext cx="1682496" cy="713232"/>
          </a:xfrm>
          <a:prstGeom prst="rect">
            <a:avLst/>
          </a:prstGeom>
          <a:solidFill>
            <a:srgbClr val="F8F8F8"/>
          </a:solidFill>
          <a:ln w="6350">
            <a:solidFill>
              <a:srgbClr val="E0E0E0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6565392" y="4809744"/>
            <a:ext cx="1499616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Joint</a:t>
            </a:r>
            <a:endParaRPr lang="en-US" sz="750" dirty="0"/>
          </a:p>
        </p:txBody>
      </p:sp>
      <p:sp>
        <p:nvSpPr>
          <p:cNvPr id="42" name="Shape 40"/>
          <p:cNvSpPr/>
          <p:nvPr/>
        </p:nvSpPr>
        <p:spPr>
          <a:xfrm>
            <a:off x="658368" y="5394960"/>
            <a:ext cx="1901952" cy="713232"/>
          </a:xfrm>
          <a:prstGeom prst="rect">
            <a:avLst/>
          </a:prstGeom>
          <a:solidFill>
            <a:srgbClr val="FFFFFF"/>
          </a:solidFill>
          <a:ln w="6350">
            <a:solidFill>
              <a:srgbClr val="E0E0E0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749808" y="5522976"/>
            <a:ext cx="1719072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00" b="1" dirty="0">
                <a:solidFill>
                  <a:srgbClr val="D719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 review</a:t>
            </a:r>
            <a:endParaRPr lang="en-US" sz="800" dirty="0"/>
          </a:p>
        </p:txBody>
      </p:sp>
      <p:sp>
        <p:nvSpPr>
          <p:cNvPr id="44" name="Shape 42"/>
          <p:cNvSpPr/>
          <p:nvPr/>
        </p:nvSpPr>
        <p:spPr>
          <a:xfrm>
            <a:off x="2560320" y="5394960"/>
            <a:ext cx="3913632" cy="713232"/>
          </a:xfrm>
          <a:prstGeom prst="rect">
            <a:avLst/>
          </a:prstGeom>
          <a:solidFill>
            <a:srgbClr val="FFFFFF"/>
          </a:solidFill>
          <a:ln w="6350">
            <a:solidFill>
              <a:srgbClr val="E0E0E0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2651760" y="5522976"/>
            <a:ext cx="3730752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Recheck sales-to-dealer, fill rate, MOS and the selected PMS families on the next monthly cycle.</a:t>
            </a:r>
            <a:endParaRPr lang="en-US" sz="750" dirty="0"/>
          </a:p>
        </p:txBody>
      </p:sp>
      <p:sp>
        <p:nvSpPr>
          <p:cNvPr id="46" name="Shape 44"/>
          <p:cNvSpPr/>
          <p:nvPr/>
        </p:nvSpPr>
        <p:spPr>
          <a:xfrm>
            <a:off x="6473952" y="5394960"/>
            <a:ext cx="1682496" cy="713232"/>
          </a:xfrm>
          <a:prstGeom prst="rect">
            <a:avLst/>
          </a:prstGeom>
          <a:solidFill>
            <a:srgbClr val="FFFFFF"/>
          </a:solidFill>
          <a:ln w="6350">
            <a:solidFill>
              <a:srgbClr val="E0E0E0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6565392" y="5522976"/>
            <a:ext cx="1499616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Joint</a:t>
            </a:r>
            <a:endParaRPr lang="en-US" sz="750" dirty="0"/>
          </a:p>
        </p:txBody>
      </p:sp>
      <p:sp>
        <p:nvSpPr>
          <p:cNvPr id="48" name="Text 46"/>
          <p:cNvSpPr/>
          <p:nvPr/>
        </p:nvSpPr>
        <p:spPr>
          <a:xfrm>
            <a:off x="8915400" y="1280160"/>
            <a:ext cx="257860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" b="1" dirty="0">
                <a:solidFill>
                  <a:srgbClr val="D719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TAKEAWAYS</a:t>
            </a:r>
            <a:endParaRPr lang="en-US" sz="650" dirty="0"/>
          </a:p>
        </p:txBody>
      </p:sp>
      <p:sp>
        <p:nvSpPr>
          <p:cNvPr id="49" name="Shape 47"/>
          <p:cNvSpPr/>
          <p:nvPr/>
        </p:nvSpPr>
        <p:spPr>
          <a:xfrm>
            <a:off x="8769096" y="1234440"/>
            <a:ext cx="0" cy="5138928"/>
          </a:xfrm>
          <a:prstGeom prst="line">
            <a:avLst/>
          </a:prstGeom>
          <a:noFill/>
          <a:ln w="12700">
            <a:solidFill>
              <a:srgbClr val="D0D0D0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8915400" y="1591056"/>
            <a:ext cx="146304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D719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</a:t>
            </a:r>
            <a:endParaRPr lang="en-US" sz="900" dirty="0"/>
          </a:p>
        </p:txBody>
      </p:sp>
      <p:sp>
        <p:nvSpPr>
          <p:cNvPr id="51" name="Text 49"/>
          <p:cNvSpPr/>
          <p:nvPr/>
        </p:nvSpPr>
        <p:spPr>
          <a:xfrm>
            <a:off x="9079992" y="1591056"/>
            <a:ext cx="2414016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82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review should leave with an explanation and owner for each KPI, not only a list of red/green results.</a:t>
            </a:r>
            <a:endParaRPr lang="en-US" sz="820" dirty="0"/>
          </a:p>
        </p:txBody>
      </p:sp>
      <p:sp>
        <p:nvSpPr>
          <p:cNvPr id="52" name="Text 50"/>
          <p:cNvSpPr/>
          <p:nvPr/>
        </p:nvSpPr>
        <p:spPr>
          <a:xfrm>
            <a:off x="8915400" y="2322576"/>
            <a:ext cx="146304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D719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</a:t>
            </a:r>
            <a:endParaRPr lang="en-US" sz="900" dirty="0"/>
          </a:p>
        </p:txBody>
      </p:sp>
      <p:sp>
        <p:nvSpPr>
          <p:cNvPr id="53" name="Text 51"/>
          <p:cNvSpPr/>
          <p:nvPr/>
        </p:nvSpPr>
        <p:spPr>
          <a:xfrm>
            <a:off x="9079992" y="2322576"/>
            <a:ext cx="2414016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82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Keep the three sales stages separate: ISZE billing, sales to dealer and dealer-to-customer sales where available.</a:t>
            </a:r>
            <a:endParaRPr lang="en-US" sz="820" dirty="0"/>
          </a:p>
        </p:txBody>
      </p:sp>
      <p:sp>
        <p:nvSpPr>
          <p:cNvPr id="54" name="Text 52"/>
          <p:cNvSpPr/>
          <p:nvPr/>
        </p:nvSpPr>
        <p:spPr>
          <a:xfrm>
            <a:off x="8915400" y="3054096"/>
            <a:ext cx="146304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D719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</a:t>
            </a:r>
            <a:endParaRPr lang="en-US" sz="900" dirty="0"/>
          </a:p>
        </p:txBody>
      </p:sp>
      <p:sp>
        <p:nvSpPr>
          <p:cNvPr id="55" name="Text 53"/>
          <p:cNvSpPr/>
          <p:nvPr/>
        </p:nvSpPr>
        <p:spPr>
          <a:xfrm>
            <a:off x="9079992" y="3054096"/>
            <a:ext cx="2414016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82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the 2025 fleet estimate and service-demand model as context; do not present modelled gaps as verified competitor spend.</a:t>
            </a:r>
            <a:endParaRPr lang="en-US" sz="820" dirty="0"/>
          </a:p>
        </p:txBody>
      </p:sp>
      <p:sp>
        <p:nvSpPr>
          <p:cNvPr id="56" name="Text 54"/>
          <p:cNvSpPr/>
          <p:nvPr/>
        </p:nvSpPr>
        <p:spPr>
          <a:xfrm>
            <a:off x="8915400" y="3785616"/>
            <a:ext cx="146304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D719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</a:t>
            </a:r>
            <a:endParaRPr lang="en-US" sz="900" dirty="0"/>
          </a:p>
        </p:txBody>
      </p:sp>
      <p:sp>
        <p:nvSpPr>
          <p:cNvPr id="57" name="Text 55"/>
          <p:cNvSpPr/>
          <p:nvPr/>
        </p:nvSpPr>
        <p:spPr>
          <a:xfrm>
            <a:off x="9079992" y="3785616"/>
            <a:ext cx="2414016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82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first success measure is whether the weak categories recover while fill rate improves without rebuilding unnecessary stock.</a:t>
            </a:r>
            <a:endParaRPr lang="en-US" sz="820" dirty="0"/>
          </a:p>
        </p:txBody>
      </p:sp>
      <p:sp>
        <p:nvSpPr>
          <p:cNvPr id="58" name="Text 56"/>
          <p:cNvSpPr/>
          <p:nvPr/>
        </p:nvSpPr>
        <p:spPr>
          <a:xfrm>
            <a:off x="1325880" y="6483096"/>
            <a:ext cx="978408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570" dirty="0">
                <a:solidFill>
                  <a:srgbClr val="7777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Proposed action structure based on the evidence in this review.</a:t>
            </a:r>
            <a:endParaRPr lang="en-US" sz="57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475720" y="6464808"/>
            <a:ext cx="457200" cy="13716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650">
                <a:solidFill>
                  <a:srgbClr val="777777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14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14</Slides>
  <Notes>14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7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</vt:vector>
  </TitlesOfParts>
  <Company>Isuzu Motors Europe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 Motors FY2027 Business Performance Review</dc:title>
  <dc:subject>I Motors FY2027 Business Performance Review</dc:subject>
  <dc:creator>OpenAI</dc:creator>
  <cp:lastModifiedBy>OpenAI</cp:lastModifiedBy>
  <cp:revision>1</cp:revision>
  <dcterms:created xsi:type="dcterms:W3CDTF">2026-09-23T07:07:43Z</dcterms:created>
  <dcterms:modified xsi:type="dcterms:W3CDTF">2026-09-23T07:07:43Z</dcterms:modified>
</cp:coreProperties>
</file>