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4" name="TextBox 13"/>
          <p:cNvSpPr txBox="1"/>
          <p:nvPr/>
        </p:nvSpPr>
        <p:spPr>
          <a:xfrm>
            <a:off x="585216" y="2231136"/>
            <a:ext cx="2450592" cy="3282696"/>
          </a:xfrm>
          <a:prstGeom prst="rect">
            <a:avLst/>
          </a:prstGeom>
          <a:noFill/>
        </p:spPr>
        <p:txBody>
          <a:bodyPr wrap="square" anchor="t">
            <a:spAutoFit/>
          </a:bodyPr>
          <a:lstStyle/>
          <a:p>
            <a:pPr algn="l"/>
            <a:r>
              <a:rPr sz="1200" b="0">
                <a:solidFill>
                  <a:srgbClr val="344251"/>
                </a:solidFill>
                <a:latin typeface="Calibri"/>
              </a:rPr>
              <a:t>Oil and fuel sit on every scheduled service. Fuel cover is already 95 percent to dealers. Oil BVP is already moving. Oil stays on the set. It is not a separate push.</a:t>
            </a:r>
          </a:p>
        </p:txBody>
      </p:sp>
      <p:sp>
        <p:nvSpPr>
          <p:cNvPr id="15" name="Rounded Rectangle 14"/>
          <p:cNvSpPr/>
          <p:nvPr/>
        </p:nvSpPr>
        <p:spPr>
          <a:xfrm>
            <a:off x="3328416"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9" name="TextBox 18"/>
          <p:cNvSpPr txBox="1"/>
          <p:nvPr/>
        </p:nvSpPr>
        <p:spPr>
          <a:xfrm>
            <a:off x="3474720" y="2231136"/>
            <a:ext cx="2450592" cy="3282696"/>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4" name="TextBox 23"/>
          <p:cNvSpPr txBox="1"/>
          <p:nvPr/>
        </p:nvSpPr>
        <p:spPr>
          <a:xfrm>
            <a:off x="6364224" y="2231136"/>
            <a:ext cx="2450592" cy="3282696"/>
          </a:xfrm>
          <a:prstGeom prst="rect">
            <a:avLst/>
          </a:prstGeom>
          <a:noFill/>
        </p:spPr>
        <p:txBody>
          <a:bodyPr wrap="square" anchor="t">
            <a:spAutoFit/>
          </a:bodyPr>
          <a:lstStyle/>
          <a:p>
            <a:pPr algn="l"/>
            <a:r>
              <a:rPr sz="1200" b="0">
                <a:solidFill>
                  <a:srgbClr val="344251"/>
                </a:solidFill>
                <a:latin typeface="Calibri"/>
              </a:rPr>
              <a:t>No volume push. Supply when the job needs it. Pad cover about 51 percent. No BVP on the R90 pad. SPA only if price is the barrier.</a:t>
            </a:r>
          </a:p>
        </p:txBody>
      </p:sp>
      <p:sp>
        <p:nvSpPr>
          <p:cNvPr id="25" name="Rounded Rectangle 24"/>
          <p:cNvSpPr/>
          <p:nvPr/>
        </p:nvSpPr>
        <p:spPr>
          <a:xfrm>
            <a:off x="9107424"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9" name="TextBox 28"/>
          <p:cNvSpPr txBox="1"/>
          <p:nvPr/>
        </p:nvSpPr>
        <p:spPr>
          <a:xfrm>
            <a:off x="9253728" y="2231136"/>
            <a:ext cx="2450592" cy="3282696"/>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368 extra units  ·  about EUR 7,530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56 part numbers. 36,843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42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180</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2,207</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112</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774</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3,177</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1,062</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4</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9,359 vehicles. 1.25 services a year. Expected oil, fuel and air: 11,699. Fuel is already at the N75 service level. Air is not.</a:t>
            </a:r>
          </a:p>
        </p:txBody>
      </p:sp>
      <p:pic>
        <p:nvPicPr>
          <p:cNvPr id="10" name="Picture 9" descr="cover.png"/>
          <p:cNvPicPr>
            <a:picLocks noChangeAspect="1"/>
          </p:cNvPicPr>
          <p:nvPr/>
        </p:nvPicPr>
        <p:blipFill>
          <a:blip r:embed="rId3"/>
          <a:stretch>
            <a:fillRect/>
          </a:stretch>
        </p:blipFill>
        <p:spPr>
          <a:xfrm>
            <a:off x="438912" y="1481328"/>
            <a:ext cx="11356848" cy="2606040"/>
          </a:xfrm>
          <a:prstGeom prst="rect">
            <a:avLst/>
          </a:prstGeom>
        </p:spPr>
      </p:pic>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5,404</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46.2%</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4,673</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39.9%</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11,139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95.2%</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11,021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94.2%</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2,289</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19.6%</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2,226</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That is the attach on a visit that already happens.</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pad is well above aftermarket. Filters are close.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Management line: the pad is the problem. Filters are close. The clutch is not. Compare projected ITUK price to dealers with what a workshop pays for the aftermarket part. Same step. ISZE to ITUK is shown so the chain is visible.</a:t>
            </a:r>
          </a:p>
        </p:txBody>
      </p:sp>
      <p:sp>
        <p:nvSpPr>
          <p:cNvPr id="10" name="Rectangle 9"/>
          <p:cNvSpPr/>
          <p:nvPr/>
        </p:nvSpPr>
        <p:spPr>
          <a:xfrm>
            <a:off x="438912" y="1664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64208"/>
            <a:ext cx="2322576" cy="329184"/>
          </a:xfrm>
          <a:prstGeom prst="rect">
            <a:avLst/>
          </a:prstGeom>
          <a:noFill/>
        </p:spPr>
        <p:txBody>
          <a:bodyPr wrap="square" anchor="ctr">
            <a:spAutoFit/>
          </a:bodyPr>
          <a:lstStyle/>
          <a:p>
            <a:pPr algn="l"/>
            <a:r>
              <a:rPr sz="1100" b="1">
                <a:solidFill>
                  <a:srgbClr val="FFFFFF"/>
                </a:solidFill>
                <a:latin typeface="Calibri"/>
              </a:rPr>
              <a:t>Part</a:t>
            </a:r>
          </a:p>
        </p:txBody>
      </p:sp>
      <p:sp>
        <p:nvSpPr>
          <p:cNvPr id="12" name="TextBox 11"/>
          <p:cNvSpPr txBox="1"/>
          <p:nvPr/>
        </p:nvSpPr>
        <p:spPr>
          <a:xfrm>
            <a:off x="2999232" y="1664208"/>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3" name="TextBox 12"/>
          <p:cNvSpPr txBox="1"/>
          <p:nvPr/>
        </p:nvSpPr>
        <p:spPr>
          <a:xfrm>
            <a:off x="5010912" y="1664208"/>
            <a:ext cx="2322576" cy="329184"/>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14" name="TextBox 13"/>
          <p:cNvSpPr txBox="1"/>
          <p:nvPr/>
        </p:nvSpPr>
        <p:spPr>
          <a:xfrm>
            <a:off x="7479792" y="1664208"/>
            <a:ext cx="2322576" cy="329184"/>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5" name="TextBox 14"/>
          <p:cNvSpPr txBox="1"/>
          <p:nvPr/>
        </p:nvSpPr>
        <p:spPr>
          <a:xfrm>
            <a:off x="9948672" y="1664208"/>
            <a:ext cx="1792224" cy="329184"/>
          </a:xfrm>
          <a:prstGeom prst="rect">
            <a:avLst/>
          </a:prstGeom>
          <a:noFill/>
        </p:spPr>
        <p:txBody>
          <a:bodyPr wrap="square" anchor="ctr">
            <a:spAutoFit/>
          </a:bodyPr>
          <a:lstStyle/>
          <a:p>
            <a:pPr algn="r"/>
            <a:r>
              <a:rPr sz="1100" b="1">
                <a:solidFill>
                  <a:srgbClr val="FFFFFF"/>
                </a:solidFill>
                <a:latin typeface="Calibri"/>
              </a:rPr>
              <a:t>Read</a:t>
            </a:r>
          </a:p>
        </p:txBody>
      </p:sp>
      <p:sp>
        <p:nvSpPr>
          <p:cNvPr id="16" name="TextBox 15"/>
          <p:cNvSpPr txBox="1"/>
          <p:nvPr/>
        </p:nvSpPr>
        <p:spPr>
          <a:xfrm>
            <a:off x="530352" y="1993392"/>
            <a:ext cx="2322576" cy="420624"/>
          </a:xfrm>
          <a:prstGeom prst="rect">
            <a:avLst/>
          </a:prstGeom>
          <a:noFill/>
        </p:spPr>
        <p:txBody>
          <a:bodyPr wrap="square" anchor="ctr">
            <a:spAutoFit/>
          </a:bodyPr>
          <a:lstStyle/>
          <a:p>
            <a:pPr algn="l"/>
            <a:r>
              <a:rPr sz="1300" b="1">
                <a:solidFill>
                  <a:srgbClr val="1B2733"/>
                </a:solidFill>
                <a:latin typeface="Calibri"/>
              </a:rPr>
              <a:t>Oil filter</a:t>
            </a:r>
          </a:p>
        </p:txBody>
      </p:sp>
      <p:sp>
        <p:nvSpPr>
          <p:cNvPr id="17" name="TextBox 16"/>
          <p:cNvSpPr txBox="1"/>
          <p:nvPr/>
        </p:nvSpPr>
        <p:spPr>
          <a:xfrm>
            <a:off x="2999232" y="1993392"/>
            <a:ext cx="18653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18" name="TextBox 17"/>
          <p:cNvSpPr txBox="1"/>
          <p:nvPr/>
        </p:nvSpPr>
        <p:spPr>
          <a:xfrm>
            <a:off x="5010912" y="1993392"/>
            <a:ext cx="2322576" cy="420624"/>
          </a:xfrm>
          <a:prstGeom prst="rect">
            <a:avLst/>
          </a:prstGeom>
          <a:noFill/>
        </p:spPr>
        <p:txBody>
          <a:bodyPr wrap="square" anchor="ctr">
            <a:spAutoFit/>
          </a:bodyPr>
          <a:lstStyle/>
          <a:p>
            <a:pPr algn="r"/>
            <a:r>
              <a:rPr sz="1300" b="0">
                <a:solidFill>
                  <a:srgbClr val="344251"/>
                </a:solidFill>
                <a:latin typeface="Calibri"/>
              </a:rPr>
              <a:t>20.23</a:t>
            </a:r>
          </a:p>
        </p:txBody>
      </p:sp>
      <p:sp>
        <p:nvSpPr>
          <p:cNvPr id="19" name="TextBox 18"/>
          <p:cNvSpPr txBox="1"/>
          <p:nvPr/>
        </p:nvSpPr>
        <p:spPr>
          <a:xfrm>
            <a:off x="7479792" y="1993392"/>
            <a:ext cx="2322576" cy="420624"/>
          </a:xfrm>
          <a:prstGeom prst="rect">
            <a:avLst/>
          </a:prstGeom>
          <a:noFill/>
        </p:spPr>
        <p:txBody>
          <a:bodyPr wrap="square" anchor="ctr">
            <a:spAutoFit/>
          </a:bodyPr>
          <a:lstStyle/>
          <a:p>
            <a:pPr algn="r"/>
            <a:r>
              <a:rPr sz="1300" b="0">
                <a:solidFill>
                  <a:srgbClr val="344251"/>
                </a:solidFill>
                <a:latin typeface="Calibri"/>
              </a:rPr>
              <a:t>15.10</a:t>
            </a:r>
          </a:p>
        </p:txBody>
      </p:sp>
      <p:sp>
        <p:nvSpPr>
          <p:cNvPr id="20" name="TextBox 19"/>
          <p:cNvSpPr txBox="1"/>
          <p:nvPr/>
        </p:nvSpPr>
        <p:spPr>
          <a:xfrm>
            <a:off x="9948672" y="1993392"/>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1" name="Rectangle 20"/>
          <p:cNvSpPr/>
          <p:nvPr/>
        </p:nvSpPr>
        <p:spPr>
          <a:xfrm>
            <a:off x="438912" y="2414016"/>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14016"/>
            <a:ext cx="2322576" cy="420624"/>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3" name="TextBox 22"/>
          <p:cNvSpPr txBox="1"/>
          <p:nvPr/>
        </p:nvSpPr>
        <p:spPr>
          <a:xfrm>
            <a:off x="2999232" y="2414016"/>
            <a:ext cx="1865376" cy="420624"/>
          </a:xfrm>
          <a:prstGeom prst="rect">
            <a:avLst/>
          </a:prstGeom>
          <a:noFill/>
        </p:spPr>
        <p:txBody>
          <a:bodyPr wrap="square" anchor="ctr">
            <a:spAutoFit/>
          </a:bodyPr>
          <a:lstStyle/>
          <a:p>
            <a:pPr algn="r"/>
            <a:r>
              <a:rPr sz="1300" b="0">
                <a:solidFill>
                  <a:srgbClr val="344251"/>
                </a:solidFill>
                <a:latin typeface="Calibri"/>
              </a:rPr>
              <a:t>12.56</a:t>
            </a:r>
          </a:p>
        </p:txBody>
      </p:sp>
      <p:sp>
        <p:nvSpPr>
          <p:cNvPr id="24" name="TextBox 23"/>
          <p:cNvSpPr txBox="1"/>
          <p:nvPr/>
        </p:nvSpPr>
        <p:spPr>
          <a:xfrm>
            <a:off x="5010912" y="2414016"/>
            <a:ext cx="2322576" cy="420624"/>
          </a:xfrm>
          <a:prstGeom prst="rect">
            <a:avLst/>
          </a:prstGeom>
          <a:noFill/>
        </p:spPr>
        <p:txBody>
          <a:bodyPr wrap="square" anchor="ctr">
            <a:spAutoFit/>
          </a:bodyPr>
          <a:lstStyle/>
          <a:p>
            <a:pPr algn="r"/>
            <a:r>
              <a:rPr sz="1300" b="0">
                <a:solidFill>
                  <a:srgbClr val="344251"/>
                </a:solidFill>
                <a:latin typeface="Calibri"/>
              </a:rPr>
              <a:t>17.58</a:t>
            </a:r>
          </a:p>
        </p:txBody>
      </p:sp>
      <p:sp>
        <p:nvSpPr>
          <p:cNvPr id="25" name="TextBox 24"/>
          <p:cNvSpPr txBox="1"/>
          <p:nvPr/>
        </p:nvSpPr>
        <p:spPr>
          <a:xfrm>
            <a:off x="7479792" y="2414016"/>
            <a:ext cx="23225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26" name="TextBox 25"/>
          <p:cNvSpPr txBox="1"/>
          <p:nvPr/>
        </p:nvSpPr>
        <p:spPr>
          <a:xfrm>
            <a:off x="9948672" y="2414016"/>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7" name="TextBox 26"/>
          <p:cNvSpPr txBox="1"/>
          <p:nvPr/>
        </p:nvSpPr>
        <p:spPr>
          <a:xfrm>
            <a:off x="530352" y="2834640"/>
            <a:ext cx="2322576" cy="420624"/>
          </a:xfrm>
          <a:prstGeom prst="rect">
            <a:avLst/>
          </a:prstGeom>
          <a:noFill/>
        </p:spPr>
        <p:txBody>
          <a:bodyPr wrap="square" anchor="ctr">
            <a:spAutoFit/>
          </a:bodyPr>
          <a:lstStyle/>
          <a:p>
            <a:pPr algn="l"/>
            <a:r>
              <a:rPr sz="1300" b="1">
                <a:solidFill>
                  <a:srgbClr val="1B2733"/>
                </a:solidFill>
                <a:latin typeface="Calibri"/>
              </a:rPr>
              <a:t>Air filter</a:t>
            </a:r>
          </a:p>
        </p:txBody>
      </p:sp>
      <p:sp>
        <p:nvSpPr>
          <p:cNvPr id="28" name="TextBox 27"/>
          <p:cNvSpPr txBox="1"/>
          <p:nvPr/>
        </p:nvSpPr>
        <p:spPr>
          <a:xfrm>
            <a:off x="2999232" y="2834640"/>
            <a:ext cx="1865376" cy="420624"/>
          </a:xfrm>
          <a:prstGeom prst="rect">
            <a:avLst/>
          </a:prstGeom>
          <a:noFill/>
        </p:spPr>
        <p:txBody>
          <a:bodyPr wrap="square" anchor="ctr">
            <a:spAutoFit/>
          </a:bodyPr>
          <a:lstStyle/>
          <a:p>
            <a:pPr algn="r"/>
            <a:r>
              <a:rPr sz="1300" b="0">
                <a:solidFill>
                  <a:srgbClr val="344251"/>
                </a:solidFill>
                <a:latin typeface="Calibri"/>
              </a:rPr>
              <a:t>31.36</a:t>
            </a:r>
          </a:p>
        </p:txBody>
      </p:sp>
      <p:sp>
        <p:nvSpPr>
          <p:cNvPr id="29" name="TextBox 28"/>
          <p:cNvSpPr txBox="1"/>
          <p:nvPr/>
        </p:nvSpPr>
        <p:spPr>
          <a:xfrm>
            <a:off x="5010912" y="2834640"/>
            <a:ext cx="2322576" cy="420624"/>
          </a:xfrm>
          <a:prstGeom prst="rect">
            <a:avLst/>
          </a:prstGeom>
          <a:noFill/>
        </p:spPr>
        <p:txBody>
          <a:bodyPr wrap="square" anchor="ctr">
            <a:spAutoFit/>
          </a:bodyPr>
          <a:lstStyle/>
          <a:p>
            <a:pPr algn="r"/>
            <a:r>
              <a:rPr sz="1300" b="0">
                <a:solidFill>
                  <a:srgbClr val="344251"/>
                </a:solidFill>
                <a:latin typeface="Calibri"/>
              </a:rPr>
              <a:t>43.90</a:t>
            </a:r>
          </a:p>
        </p:txBody>
      </p:sp>
      <p:sp>
        <p:nvSpPr>
          <p:cNvPr id="30" name="TextBox 29"/>
          <p:cNvSpPr txBox="1"/>
          <p:nvPr/>
        </p:nvSpPr>
        <p:spPr>
          <a:xfrm>
            <a:off x="7479792" y="2834640"/>
            <a:ext cx="2322576" cy="420624"/>
          </a:xfrm>
          <a:prstGeom prst="rect">
            <a:avLst/>
          </a:prstGeom>
          <a:noFill/>
        </p:spPr>
        <p:txBody>
          <a:bodyPr wrap="square" anchor="ctr">
            <a:spAutoFit/>
          </a:bodyPr>
          <a:lstStyle/>
          <a:p>
            <a:pPr algn="r"/>
            <a:r>
              <a:rPr sz="1300" b="0">
                <a:solidFill>
                  <a:srgbClr val="344251"/>
                </a:solidFill>
                <a:latin typeface="Calibri"/>
              </a:rPr>
              <a:t>47.05</a:t>
            </a:r>
          </a:p>
        </p:txBody>
      </p:sp>
      <p:sp>
        <p:nvSpPr>
          <p:cNvPr id="31" name="TextBox 30"/>
          <p:cNvSpPr txBox="1"/>
          <p:nvPr/>
        </p:nvSpPr>
        <p:spPr>
          <a:xfrm>
            <a:off x="9948672" y="2834640"/>
            <a:ext cx="1792224" cy="420624"/>
          </a:xfrm>
          <a:prstGeom prst="rect">
            <a:avLst/>
          </a:prstGeom>
          <a:noFill/>
        </p:spPr>
        <p:txBody>
          <a:bodyPr wrap="square" anchor="ctr">
            <a:spAutoFit/>
          </a:bodyPr>
          <a:lstStyle/>
          <a:p>
            <a:pPr algn="r"/>
            <a:r>
              <a:rPr sz="1300" b="0">
                <a:solidFill>
                  <a:srgbClr val="344251"/>
                </a:solidFill>
                <a:latin typeface="Calibri"/>
              </a:rPr>
              <a:t>In line</a:t>
            </a:r>
          </a:p>
        </p:txBody>
      </p:sp>
      <p:sp>
        <p:nvSpPr>
          <p:cNvPr id="32" name="Rectangle 31"/>
          <p:cNvSpPr/>
          <p:nvPr/>
        </p:nvSpPr>
        <p:spPr>
          <a:xfrm>
            <a:off x="438912" y="3255264"/>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255264"/>
            <a:ext cx="2322576" cy="420624"/>
          </a:xfrm>
          <a:prstGeom prst="rect">
            <a:avLst/>
          </a:prstGeom>
          <a:noFill/>
        </p:spPr>
        <p:txBody>
          <a:bodyPr wrap="square" anchor="ctr">
            <a:spAutoFit/>
          </a:bodyPr>
          <a:lstStyle/>
          <a:p>
            <a:pPr algn="l"/>
            <a:r>
              <a:rPr sz="1300" b="1">
                <a:solidFill>
                  <a:srgbClr val="1B2733"/>
                </a:solidFill>
                <a:latin typeface="Calibri"/>
              </a:rPr>
              <a:t>Brake pad</a:t>
            </a:r>
          </a:p>
        </p:txBody>
      </p:sp>
      <p:sp>
        <p:nvSpPr>
          <p:cNvPr id="34" name="TextBox 33"/>
          <p:cNvSpPr txBox="1"/>
          <p:nvPr/>
        </p:nvSpPr>
        <p:spPr>
          <a:xfrm>
            <a:off x="2999232" y="3255264"/>
            <a:ext cx="1865376" cy="420624"/>
          </a:xfrm>
          <a:prstGeom prst="rect">
            <a:avLst/>
          </a:prstGeom>
          <a:noFill/>
        </p:spPr>
        <p:txBody>
          <a:bodyPr wrap="square" anchor="ctr">
            <a:spAutoFit/>
          </a:bodyPr>
          <a:lstStyle/>
          <a:p>
            <a:pPr algn="r"/>
            <a:r>
              <a:rPr sz="1300" b="0">
                <a:solidFill>
                  <a:srgbClr val="344251"/>
                </a:solidFill>
                <a:latin typeface="Calibri"/>
              </a:rPr>
              <a:t>89.11</a:t>
            </a:r>
          </a:p>
        </p:txBody>
      </p:sp>
      <p:sp>
        <p:nvSpPr>
          <p:cNvPr id="35" name="TextBox 34"/>
          <p:cNvSpPr txBox="1"/>
          <p:nvPr/>
        </p:nvSpPr>
        <p:spPr>
          <a:xfrm>
            <a:off x="5010912" y="3255264"/>
            <a:ext cx="2322576" cy="420624"/>
          </a:xfrm>
          <a:prstGeom prst="rect">
            <a:avLst/>
          </a:prstGeom>
          <a:noFill/>
        </p:spPr>
        <p:txBody>
          <a:bodyPr wrap="square" anchor="ctr">
            <a:spAutoFit/>
          </a:bodyPr>
          <a:lstStyle/>
          <a:p>
            <a:pPr algn="r"/>
            <a:r>
              <a:rPr sz="1300" b="0">
                <a:solidFill>
                  <a:srgbClr val="344251"/>
                </a:solidFill>
                <a:latin typeface="Calibri"/>
              </a:rPr>
              <a:t>124.75</a:t>
            </a:r>
          </a:p>
        </p:txBody>
      </p:sp>
      <p:sp>
        <p:nvSpPr>
          <p:cNvPr id="36" name="TextBox 35"/>
          <p:cNvSpPr txBox="1"/>
          <p:nvPr/>
        </p:nvSpPr>
        <p:spPr>
          <a:xfrm>
            <a:off x="7479792" y="3255264"/>
            <a:ext cx="2322576" cy="420624"/>
          </a:xfrm>
          <a:prstGeom prst="rect">
            <a:avLst/>
          </a:prstGeom>
          <a:noFill/>
        </p:spPr>
        <p:txBody>
          <a:bodyPr wrap="square" anchor="ctr">
            <a:spAutoFit/>
          </a:bodyPr>
          <a:lstStyle/>
          <a:p>
            <a:pPr algn="r"/>
            <a:r>
              <a:rPr sz="1300" b="0">
                <a:solidFill>
                  <a:srgbClr val="344251"/>
                </a:solidFill>
                <a:latin typeface="Calibri"/>
              </a:rPr>
              <a:t>46.12</a:t>
            </a:r>
          </a:p>
        </p:txBody>
      </p:sp>
      <p:sp>
        <p:nvSpPr>
          <p:cNvPr id="37" name="TextBox 36"/>
          <p:cNvSpPr txBox="1"/>
          <p:nvPr/>
        </p:nvSpPr>
        <p:spPr>
          <a:xfrm>
            <a:off x="9948672" y="3255264"/>
            <a:ext cx="1792224" cy="420624"/>
          </a:xfrm>
          <a:prstGeom prst="rect">
            <a:avLst/>
          </a:prstGeom>
          <a:noFill/>
        </p:spPr>
        <p:txBody>
          <a:bodyPr wrap="square" anchor="ctr">
            <a:spAutoFit/>
          </a:bodyPr>
          <a:lstStyle/>
          <a:p>
            <a:pPr algn="r"/>
            <a:r>
              <a:rPr sz="1300" b="0">
                <a:solidFill>
                  <a:srgbClr val="344251"/>
                </a:solidFill>
                <a:latin typeface="Calibri"/>
              </a:rPr>
              <a:t>Well above</a:t>
            </a:r>
          </a:p>
        </p:txBody>
      </p:sp>
      <p:sp>
        <p:nvSpPr>
          <p:cNvPr id="38" name="TextBox 37"/>
          <p:cNvSpPr txBox="1"/>
          <p:nvPr/>
        </p:nvSpPr>
        <p:spPr>
          <a:xfrm>
            <a:off x="530352" y="3675888"/>
            <a:ext cx="2322576" cy="420624"/>
          </a:xfrm>
          <a:prstGeom prst="rect">
            <a:avLst/>
          </a:prstGeom>
          <a:noFill/>
        </p:spPr>
        <p:txBody>
          <a:bodyPr wrap="square" anchor="ctr">
            <a:spAutoFit/>
          </a:bodyPr>
          <a:lstStyle/>
          <a:p>
            <a:pPr algn="l"/>
            <a:r>
              <a:rPr sz="1300" b="1">
                <a:solidFill>
                  <a:srgbClr val="1B2733"/>
                </a:solidFill>
                <a:latin typeface="Calibri"/>
              </a:rPr>
              <a:t>Clutch disc</a:t>
            </a:r>
          </a:p>
        </p:txBody>
      </p:sp>
      <p:sp>
        <p:nvSpPr>
          <p:cNvPr id="39" name="TextBox 38"/>
          <p:cNvSpPr txBox="1"/>
          <p:nvPr/>
        </p:nvSpPr>
        <p:spPr>
          <a:xfrm>
            <a:off x="2999232" y="3675888"/>
            <a:ext cx="1865376" cy="420624"/>
          </a:xfrm>
          <a:prstGeom prst="rect">
            <a:avLst/>
          </a:prstGeom>
          <a:noFill/>
        </p:spPr>
        <p:txBody>
          <a:bodyPr wrap="square" anchor="ctr">
            <a:spAutoFit/>
          </a:bodyPr>
          <a:lstStyle/>
          <a:p>
            <a:pPr algn="r"/>
            <a:r>
              <a:rPr sz="1300" b="0">
                <a:solidFill>
                  <a:srgbClr val="344251"/>
                </a:solidFill>
                <a:latin typeface="Calibri"/>
              </a:rPr>
              <a:t>84.47</a:t>
            </a:r>
          </a:p>
        </p:txBody>
      </p:sp>
      <p:sp>
        <p:nvSpPr>
          <p:cNvPr id="40" name="TextBox 39"/>
          <p:cNvSpPr txBox="1"/>
          <p:nvPr/>
        </p:nvSpPr>
        <p:spPr>
          <a:xfrm>
            <a:off x="5010912" y="3675888"/>
            <a:ext cx="2322576" cy="420624"/>
          </a:xfrm>
          <a:prstGeom prst="rect">
            <a:avLst/>
          </a:prstGeom>
          <a:noFill/>
        </p:spPr>
        <p:txBody>
          <a:bodyPr wrap="square" anchor="ctr">
            <a:spAutoFit/>
          </a:bodyPr>
          <a:lstStyle/>
          <a:p>
            <a:pPr algn="r"/>
            <a:r>
              <a:rPr sz="1300" b="0">
                <a:solidFill>
                  <a:srgbClr val="344251"/>
                </a:solidFill>
                <a:latin typeface="Calibri"/>
              </a:rPr>
              <a:t>118.26</a:t>
            </a:r>
          </a:p>
        </p:txBody>
      </p:sp>
      <p:sp>
        <p:nvSpPr>
          <p:cNvPr id="41" name="TextBox 40"/>
          <p:cNvSpPr txBox="1"/>
          <p:nvPr/>
        </p:nvSpPr>
        <p:spPr>
          <a:xfrm>
            <a:off x="7479792" y="3675888"/>
            <a:ext cx="2322576" cy="420624"/>
          </a:xfrm>
          <a:prstGeom prst="rect">
            <a:avLst/>
          </a:prstGeom>
          <a:noFill/>
        </p:spPr>
        <p:txBody>
          <a:bodyPr wrap="square" anchor="ctr">
            <a:spAutoFit/>
          </a:bodyPr>
          <a:lstStyle/>
          <a:p>
            <a:pPr algn="r"/>
            <a:r>
              <a:rPr sz="1300" b="0">
                <a:solidFill>
                  <a:srgbClr val="344251"/>
                </a:solidFill>
                <a:latin typeface="Calibri"/>
              </a:rPr>
              <a:t>284</a:t>
            </a:r>
          </a:p>
        </p:txBody>
      </p:sp>
      <p:sp>
        <p:nvSpPr>
          <p:cNvPr id="42" name="TextBox 41"/>
          <p:cNvSpPr txBox="1"/>
          <p:nvPr/>
        </p:nvSpPr>
        <p:spPr>
          <a:xfrm>
            <a:off x="9948672" y="3675888"/>
            <a:ext cx="1792224" cy="420624"/>
          </a:xfrm>
          <a:prstGeom prst="rect">
            <a:avLst/>
          </a:prstGeom>
          <a:noFill/>
        </p:spPr>
        <p:txBody>
          <a:bodyPr wrap="square" anchor="ctr">
            <a:spAutoFit/>
          </a:bodyPr>
          <a:lstStyle/>
          <a:p>
            <a:pPr algn="r"/>
            <a:r>
              <a:rPr sz="1300" b="0">
                <a:solidFill>
                  <a:srgbClr val="344251"/>
                </a:solidFill>
                <a:latin typeface="Calibri"/>
              </a:rPr>
              <a:t>Below</a:t>
            </a:r>
          </a:p>
        </p:txBody>
      </p:sp>
      <p:sp>
        <p:nvSpPr>
          <p:cNvPr id="43" name="Rounded Rectangle 42"/>
          <p:cNvSpPr/>
          <p:nvPr/>
        </p:nvSpPr>
        <p:spPr>
          <a:xfrm>
            <a:off x="438912"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4361688"/>
            <a:ext cx="3328416" cy="365760"/>
          </a:xfrm>
          <a:prstGeom prst="rect">
            <a:avLst/>
          </a:prstGeom>
          <a:noFill/>
        </p:spPr>
        <p:txBody>
          <a:bodyPr wrap="square" anchor="t">
            <a:spAutoFit/>
          </a:bodyPr>
          <a:lstStyle/>
          <a:p>
            <a:pPr algn="l"/>
            <a:r>
              <a:rPr sz="1800" b="1">
                <a:solidFill>
                  <a:srgbClr val="1B2733"/>
                </a:solidFill>
                <a:latin typeface="Calibri"/>
              </a:rPr>
              <a:t>Above</a:t>
            </a:r>
          </a:p>
        </p:txBody>
      </p:sp>
      <p:sp>
        <p:nvSpPr>
          <p:cNvPr id="45" name="TextBox 44"/>
          <p:cNvSpPr txBox="1"/>
          <p:nvPr/>
        </p:nvSpPr>
        <p:spPr>
          <a:xfrm>
            <a:off x="603504" y="4800600"/>
            <a:ext cx="3328416" cy="548640"/>
          </a:xfrm>
          <a:prstGeom prst="rect">
            <a:avLst/>
          </a:prstGeom>
          <a:noFill/>
        </p:spPr>
        <p:txBody>
          <a:bodyPr wrap="square" anchor="t">
            <a:spAutoFit/>
          </a:bodyPr>
          <a:lstStyle/>
          <a:p>
            <a:pPr algn="l"/>
            <a:r>
              <a:rPr sz="1400" b="0">
                <a:solidFill>
                  <a:srgbClr val="344251"/>
                </a:solidFill>
                <a:latin typeface="Calibri"/>
              </a:rPr>
              <a:t>Oil and fuel, after 1.40</a:t>
            </a:r>
          </a:p>
        </p:txBody>
      </p:sp>
      <p:sp>
        <p:nvSpPr>
          <p:cNvPr id="46" name="Rounded Rectangle 45"/>
          <p:cNvSpPr/>
          <p:nvPr/>
        </p:nvSpPr>
        <p:spPr>
          <a:xfrm>
            <a:off x="4261104"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25696" y="4361688"/>
            <a:ext cx="3328416" cy="365760"/>
          </a:xfrm>
          <a:prstGeom prst="rect">
            <a:avLst/>
          </a:prstGeom>
          <a:noFill/>
        </p:spPr>
        <p:txBody>
          <a:bodyPr wrap="square" anchor="t">
            <a:spAutoFit/>
          </a:bodyPr>
          <a:lstStyle/>
          <a:p>
            <a:pPr algn="l"/>
            <a:r>
              <a:rPr sz="1800" b="1">
                <a:solidFill>
                  <a:srgbClr val="1B2733"/>
                </a:solidFill>
                <a:latin typeface="Calibri"/>
              </a:rPr>
              <a:t>In line</a:t>
            </a:r>
          </a:p>
        </p:txBody>
      </p:sp>
      <p:sp>
        <p:nvSpPr>
          <p:cNvPr id="48" name="TextBox 47"/>
          <p:cNvSpPr txBox="1"/>
          <p:nvPr/>
        </p:nvSpPr>
        <p:spPr>
          <a:xfrm>
            <a:off x="4425696" y="4800600"/>
            <a:ext cx="3328416" cy="548640"/>
          </a:xfrm>
          <a:prstGeom prst="rect">
            <a:avLst/>
          </a:prstGeom>
          <a:noFill/>
        </p:spPr>
        <p:txBody>
          <a:bodyPr wrap="square" anchor="t">
            <a:spAutoFit/>
          </a:bodyPr>
          <a:lstStyle/>
          <a:p>
            <a:pPr algn="l"/>
            <a:r>
              <a:rPr sz="1400" b="0">
                <a:solidFill>
                  <a:srgbClr val="344251"/>
                </a:solidFill>
                <a:latin typeface="Calibri"/>
              </a:rPr>
              <a:t>Air</a:t>
            </a:r>
          </a:p>
        </p:txBody>
      </p:sp>
      <p:sp>
        <p:nvSpPr>
          <p:cNvPr id="49" name="Rounded Rectangle 48"/>
          <p:cNvSpPr/>
          <p:nvPr/>
        </p:nvSpPr>
        <p:spPr>
          <a:xfrm>
            <a:off x="8083296" y="4160520"/>
            <a:ext cx="3657600" cy="14173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47888" y="4361688"/>
            <a:ext cx="3328416" cy="365760"/>
          </a:xfrm>
          <a:prstGeom prst="rect">
            <a:avLst/>
          </a:prstGeom>
          <a:noFill/>
        </p:spPr>
        <p:txBody>
          <a:bodyPr wrap="square" anchor="t">
            <a:spAutoFit/>
          </a:bodyPr>
          <a:lstStyle/>
          <a:p>
            <a:pPr algn="l"/>
            <a:r>
              <a:rPr sz="1800" b="1">
                <a:solidFill>
                  <a:srgbClr val="FFFFFF"/>
                </a:solidFill>
                <a:latin typeface="Calibri"/>
              </a:rPr>
              <a:t>Well above</a:t>
            </a:r>
          </a:p>
        </p:txBody>
      </p:sp>
      <p:sp>
        <p:nvSpPr>
          <p:cNvPr id="51" name="TextBox 50"/>
          <p:cNvSpPr txBox="1"/>
          <p:nvPr/>
        </p:nvSpPr>
        <p:spPr>
          <a:xfrm>
            <a:off x="8247888" y="4800600"/>
            <a:ext cx="3328416" cy="548640"/>
          </a:xfrm>
          <a:prstGeom prst="rect">
            <a:avLst/>
          </a:prstGeom>
          <a:noFill/>
        </p:spPr>
        <p:txBody>
          <a:bodyPr wrap="square" anchor="t">
            <a:spAutoFit/>
          </a:bodyPr>
          <a:lstStyle/>
          <a:p>
            <a:pPr algn="l"/>
            <a:r>
              <a:rPr sz="1400" b="0">
                <a:solidFill>
                  <a:srgbClr val="FFFFFF"/>
                </a:solidFill>
                <a:latin typeface="Calibri"/>
              </a:rPr>
              <a:t>Pad. This is the SPA talk.</a:t>
            </a:r>
          </a:p>
        </p:txBody>
      </p:sp>
      <p:sp>
        <p:nvSpPr>
          <p:cNvPr id="52" name="TextBox 51"/>
          <p:cNvSpPr txBox="1"/>
          <p:nvPr/>
        </p:nvSpPr>
        <p:spPr>
          <a:xfrm>
            <a:off x="438912" y="5687568"/>
            <a:ext cx="11338560" cy="292608"/>
          </a:xfrm>
          <a:prstGeom prst="rect">
            <a:avLst/>
          </a:prstGeom>
          <a:noFill/>
        </p:spPr>
        <p:txBody>
          <a:bodyPr wrap="square" anchor="t">
            <a:spAutoFit/>
          </a:bodyPr>
          <a:lstStyle/>
          <a:p>
            <a:pPr algn="l"/>
            <a:r>
              <a:rPr sz="1200" b="0">
                <a:solidFill>
                  <a:srgbClr val="344251"/>
                </a:solidFill>
                <a:latin typeface="Calibri"/>
              </a:rPr>
              <a:t>Projected to dealers = ISZE to ITUK x 1.40. Working mark-up. Confirm before IML. KS International: no price on these part numbers.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