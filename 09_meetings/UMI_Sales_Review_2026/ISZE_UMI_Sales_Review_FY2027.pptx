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ISZE  ·  ISRAEL  ·  UMI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331720"/>
            <a:ext cx="96012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A1A1A"/>
                </a:solidFill>
                <a:latin typeface="Calibri"/>
              </a:rPr>
              <a:t>UMI Sales Review
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434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A5A5A"/>
                </a:solidFill>
                <a:latin typeface="Calibri"/>
              </a:rPr>
              <a:t>Universal Motors Israel  ·  August 2026</a:t>
            </a:r>
          </a:p>
        </p:txBody>
      </p:sp>
      <p:pic>
        <p:nvPicPr>
          <p:cNvPr id="6" name="Picture 5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897880"/>
            <a:ext cx="2204720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UMI MEETING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FY2027 YTD (Apr–Jul) Sales Review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category movers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Lighting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Hydraulic / mechanical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Filters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Shell lubricants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where volume grew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GPS Capture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Service-Parts Coverage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IDS 2026 — Dealer Standard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Fleet &amp; FY2027 Target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SPA — status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R&amp;M — market discussion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Data request: part-level Sales-to-Dealer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POWER BI — OFFICIAL CUT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FY2027 YTD (Apr–Jul): EUR 875K, +2% vs budget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  <p:pic>
        <p:nvPicPr>
          <p:cNvPr id="8" name="Picture 7" descr="quar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050572"/>
            <a:ext cx="7178040" cy="316833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Sales EUR 875K against a EUR 855K budget — +2%, and -14% on last year's EUR 1,017K.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Against Original BP EUR 995K the period is -12%.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Jul is -38% YoY — Shell lubricants on hold (price not agreed) is the stated turnover gap into August.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Order intake EUR 873K against EUR 875K billed (orders ~100% of shipments).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Parts Performance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  <p:pic>
        <p:nvPicPr>
          <p:cNvPr id="8" name="Picture 7" descr="category_mov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Commercial parts billing (warranty/campaign excluded) EUR 665K against EUR 498K a year earlier — +33.6% (CY H1 2026 vs CY H1 2025, Jan–Jun).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Largest PN drops (all categories): 8980565510 (ROD END ASM; OUTER) EUR -7K, 185 fewer pcs; 1884057860 (GEAR OIL LSD) EUR -6K, 203 fewer pcs; 8982457540 (NOZZLE ASM; INJ) EUR -5K, 20 fewer pcs.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Largest PN gains (all categories): 8982601090 (NOZZLE ASM; INJ) EUR 22K, 96 more pcs; 5876150640 (PAD KIT; DISC BRK,W/) EUR 6K, 150 more pcs; 8978461132 (GLASS; WINDSHIELD) EUR 5K, 25 more pcs.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Within Shell lubricants (EUR 135K): 550047337 (Rim R4L15W40 CK4_3*5) EUR 106K, 2,371 more pcs; 550047252 (Rim R4 L 15W40 CJ4_1) EUR 17K, 24 more pcs; 550070445 (Rim R4L 15W40 CK4_1*) EUR 9K, 120 more pcs.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LIGHTING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Lighting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EUR 66,473 (CY H1 2025) to EUR 47,348 (CY H1 2026), down EUR 19,125 (-29%).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Largest part numbers driving the decline (by EUR):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8977993773 (LAMP ASM; HEAD): EUR 4,162 to EUR 0, 14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8977993763 (LAMP ASM; HEAD): EUR 3,865 to EUR 0, 13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8983287885 (LAMP ASM; HEAD): EUR 4,013 to EUR 1,086, 28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8976830212 (LAMP ASM; RR COMB): EUR 7,066 to EUR 4,159, 25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this availability, pricing, or genuinely fewer accident repairs?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Are the bodyshops in your network sourcing lamps elsewhere?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HYDRAULIC / MECHANICAL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Hydraulic / mechanical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EUR 43,066 (CY H1 2025) to EUR 28,206 (CY H1 2026), down EUR 14,860 (-35%).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Largest part numbers driving the decline (by EUR):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8980565510 (ROD END ASM; OUTER): EUR 9,604 to EUR 2,988, 185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1884057860 (GEAR OIL LSD): EUR 8,956 to EUR 3,066, 203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8979458422 (ARM; UPR CONT): EUR 2,319 to EUR 0, 20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8979458441 (ARM; LWR CONT): EUR 1,188 to EUR 0, 8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this pricing against what the dealers can buy locally?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any of this stock timing on your side rather than end demand?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What would make the biggest difference to keep this business with us?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FILTERS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Filters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EUR 22,637 (CY H1 2025) to EUR 16,468 (CY H1 2026), down EUR 6,169 (-27%).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Largest part numbers driving the decline (by EUR):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5876150050 (ELEMENT; OIL FILTER · TFR,TFS,UCR,UCS): EUR 7,435 to EUR 2,545, 920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8978770040 (FILTER ASM): EUR 3,152 to EUR 0, 2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5876100190 (CARTRIDGE;OIL FILTER · UBS): EUR 1,130 to EUR 426, 230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5876100170 (CARTRIDGE;OIL FILTER · UBS): EUR 1,128 to EUR 664, 90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Are dealers stocking filters, or ordering line-by-line against each job?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How much servicing do you estimate is happening outside the franchised network?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Would a service-pack offer on oil and fuel filters be workable for your dealers?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SHELL LUBRICANTS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Shell lubricants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EUR 0 (CY H1 2025) to EUR 135,109 (CY H1 2026), up EUR 135,109.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Largest part numbers driving the increase (by EUR):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550047337 (Rim R4L15W40 CK4_3*5L): EUR 0 to EUR 105,984, +2,371 pcs.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550047252 (Rim R4 L 15W40 CJ4_1*209L): EUR 0 to EUR 17,493, +24 pcs.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550070445 (Rim R4L 15W40 CK4_1*20L JC_A246): EUR 0 to EUR 8,640, +120 pcs.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550070643 (RimulaR6LM10W40CK-4_1*20L JC_A246): EUR 0 to EUR 2,992, +40 pcs.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416052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480560"/>
            <a:ext cx="116128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When can the Shell price discussion close so lubricant orders restart?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How much of the Original BP gap is lubricants vs the rest of the basket?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any Shell volume moving outside ISZE while the hold continues?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GROWTH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Where volume grew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840480"/>
                <a:gridCol w="1920240"/>
                <a:gridCol w="1920240"/>
                <a:gridCol w="1920240"/>
              </a:tblGrid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CY H1 2025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CY H1 2026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Δ EUR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8982601090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NOZZLE ASM; INJ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4,954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27,009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22,056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5876150640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PAD KIT; DISC BRK,W/O SHIM &amp; CLIP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4,076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10,436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6,360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8978461132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GLASS; WINDSHIELD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1,379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6,105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4,726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8978248633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LAMP ASM; RR COMB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1,368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5,467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4,099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7552172681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BUMPER ASM; FRT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748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4,711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3,963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7552070241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GRILLE; INNER,RAD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1,368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4,982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3,615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3840480"/>
            <a:ext cx="11612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Exhaust +122%, Body parts +20% — where the commercial volume went.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Claim-matched PNs (720 distinct) and campaign/recall text matches are already excluded from this growth list. Residual warranty on unmapped PNs can remain.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PNs ranked by largest EUR increase (prior-period sales &gt; 0). Worth agreeing which of these are repeatable and which were one-off.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GPS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GPS Capture: 54.2%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GPS measures your actual parts purchases against the full potential of your fleet.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UMI today: 54.2% (FY2026 purchases against the CY2025 fleet potential).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Fleet potential: EUR 4,636K on 18,542 vehicles.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Q1 FY2027 UMI (sold-to 1797): ~65% SOR / ~2% VOR by €; ~33% still SaTy-blank in the reconciled export.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SERVICE-PARTS COVERAGE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Service-parts coverage: brake rotor is the clear gap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11</a:t>
            </a:r>
          </a:p>
        </p:txBody>
      </p:sp>
      <p:pic>
        <p:nvPicPr>
          <p:cNvPr id="8" name="Picture 7" descr="p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050572"/>
            <a:ext cx="7178040" cy="316833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Brake rotor 12.0% against 60.4%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Air filter 22.9% against 56.3%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Every market here is measured on the same fleet-and-interval model, so the comparison is like-for-like even where the underlying interval assumption is debatable.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Worth agreeing which category we tackle first, and what the joint action is.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IDS 2026 — DEALER STANDARD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IDS 2026: UMI averages 60.9%, below the 74.8% network benchmark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92240"/>
                <a:gridCol w="2560320"/>
                <a:gridCol w="2560320"/>
              </a:tblGrid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Dealer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Total %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Global rank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Kfir Yaud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69.6%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#406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Eden Garage Rishon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68.6%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#415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Tel Hanan Haifa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68.6%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#416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UMI country average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60.9%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Network average (all IDS 2026)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74.8%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Asayag Jerusalem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44.3%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#476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Ram Raanana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43.2%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#477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Zarfati Jerusalem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39.3%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#479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160520"/>
            <a:ext cx="11612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29 dealers assessed across Premises, Organisation, Service, Parts and Vehicle Sales.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The country average sits 13.9 points below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The spread is the point: 30 points between the strongest and weakest dealer.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Dealer-by-dealer detail and individual feedback are available as a separate pack — worth agreeing which dealers to visit, and when.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The fleet is expected to decline in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13</a:t>
            </a:r>
          </a:p>
        </p:txBody>
      </p:sp>
      <p:pic>
        <p:nvPicPr>
          <p:cNvPr id="8" name="Picture 7" descr="u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WHAT THIS MEANS FOR FY2027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Fleet size (calendar year): 18,542 vehicles in 2025 → 17,161 working estimate for end-2026 (-7.4%).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chart is calendar years 2019–2026 only. 2026 is a working year-end estimate, not a fiscal-year figure.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End-2026 mix: LCV / D-Max 17,161.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FY2027 extended target (ISZE→DB) applies a 5% price adjustment and 1.8% stretch — locked at EUR 3,051,652 from GPS Extended Target V3.1 (Dashboard column I).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So the target is built from a slightly smaller fleet — not from an assumed growth story.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How the FY2027 extended target is built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170432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ISZE → DB extended target (V3.1 Dashboard column I)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92608" y="1508760"/>
          <a:ext cx="859536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926080"/>
              </a:tblGrid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Amount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Business Plan / actual FY27 base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2,973,279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Market potential (max spend FY27)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4,354,036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Stretch (+1.8% of max spend)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78,373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FY2027 EXTENDED TARGET (locked)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EUR 3,051,652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292608" y="4069080"/>
            <a:ext cx="11612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Extended target = BP + stretch; stretch default is 1.8% (network rule from GPS Extended Target V3.1).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Figure locked from V3.1 Dashboard col I UMI: EUR 3,051,652.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What the FY2027 target reflects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54864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Your fleet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working fleet movement used in the target is -7.4%.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234440"/>
            <a:ext cx="59436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43560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The price move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2011680"/>
            <a:ext cx="5394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is applying a 5% price adjustment for FY2027, consistent with every ISZE market this year.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It is built into the per-vehicle rate above, not added separately on top.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" y="347472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What it means for your target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292608" y="3785615"/>
          <a:ext cx="859536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3566160"/>
              </a:tblGrid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FY2027 extended target (V3.1 col I)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3,051,652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vs BP FY27 (EUR 2,973,279)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+2.6%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Stretch included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+1.8%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292608" y="5074920"/>
            <a:ext cx="116128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As in previous cycles we would expect an incentive to sit alongside this adjustment — that approval is still pending on our side.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Until the incentive is confirmed, treat the FY2027 target as the working bridge (fleet × price × additional growth), not a locked commercial commitment.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SPA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SPA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UMI proposal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Universal Motors Israel submits a proposed parts list.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27832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429000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0792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ISZE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reviews the proposal against network data and fit.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6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64224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86016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Counter-proposal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5664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returns a counter-proposal where needed.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98280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29944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21240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Final approval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90888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Signed off by ISZE management.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" y="45720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Purpose: higher turnover for both sides.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R&amp;M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R&amp;M — let's align on the market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188720"/>
            <a:ext cx="54864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38988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Market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965960"/>
            <a:ext cx="4937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is the market moving for you right now?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much of your volume is fleet business rather than retail?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do you see the biggest hurdles this year?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are your real strengths in this segment?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188720"/>
            <a:ext cx="59436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38988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Servicing &amp; R&amp;M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1965960"/>
            <a:ext cx="53949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 you offer an R&amp;M or service-plan product today?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share of the parc do you retain for servicing after year three?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Does R&amp;M business come bundled with fleet tenders — roughly what share?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would it take to bring more out-of-network servicing back?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Part-level Sales-to-Dealer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The starting point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We have no Sales-to-Dealer figures from you for FY2026. The ask is monthly Sales-to-Dealer, at part-number level.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8736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28853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1032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Sharper insight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997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Part-by-part visibility separates a stock movement from a lost job — and tells us where the volume actually went.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82127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083295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05087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Shared benefit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74735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Better availability on your fast movers, a sharper target for us, and a factual basis for the SPA — same data, both sides gain.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" y="38862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Requested from 01/01/2025, part number level, monthly.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306324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A5A5A"/>
                </a:solidFill>
                <a:latin typeface="Calibri"/>
              </a:rPr>
              <a:t>Moving the World – for You</a:t>
            </a:r>
          </a:p>
        </p:txBody>
      </p:sp>
      <p:pic>
        <p:nvPicPr>
          <p:cNvPr id="4" name="Picture 3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1436" y="2468880"/>
            <a:ext cx="2926080" cy="50970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UMI · UNIVERSAL MOTORS ISRAEL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Deep dive — detail behind the Mode A story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32588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Extra detail for meeting prep — pick which slides to share with Universal Motors Israel.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Mode A ends on the previous closing slide.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Label in all charts: “Genuine with BVP alternative” (not “genuine contested”).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UMI only — never blend UTI into these figures or IDS views.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Deep-dive 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GPS — fiscal year (headline vs excl. warranty; max two lines)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FY2025 → FY2026 wallet mix (Genuine / Genuine with BVP alternative / BVP)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Where the money went — outside the service-parts basket (FY)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Service parts: CY capture vs network + FY billing (capture % is CY-only by design)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Brake pads — BVP share of total brake pad sales (FY)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AIM exposure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Warranty — two lenses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How to use this in the meeting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GPS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GPS: fiscal year headline vs after warranty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22</a:t>
            </a:r>
          </a:p>
        </p:txBody>
      </p:sp>
      <p:pic>
        <p:nvPicPr>
          <p:cNvPr id="8" name="Picture 7" descr="modeb_g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Red = fiscal-year GPS (frozen CY2025 wallet). FY25 59.2% → FY26 54.2%.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Black = fiscal GPS after removing warranty parts (€). FY26 ≈ 18.9% (warranty EUR 1,633,086 ≈ 65% of FY26 billing).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Fleet 18,542 → 17,161 (working year-end estimate under the FY2027 target).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WALLET MIX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FY2025 → FY2026 wallet mix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23</a:t>
            </a:r>
          </a:p>
        </p:txBody>
      </p:sp>
      <p:pic>
        <p:nvPicPr>
          <p:cNvPr id="8" name="Picture 7" descr="modeb_fy_wall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323369"/>
            <a:ext cx="6949440" cy="293110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06640" y="1234440"/>
            <a:ext cx="42976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Total EUR 6,263,047 → EUR 6,322,218 (+0.9%).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Genuine only EUR 194,105.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Genuine with BVP alternative EUR -34,824; BVP EUR -100,110 (6.4% of FY26 wallet).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Display label locked: Genuine with BVP alternative.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WALLET MIX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FY wallet mix — detail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34440"/>
          <a:ext cx="114300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468880"/>
                <a:gridCol w="2468880"/>
                <a:gridCol w="2834640"/>
              </a:tblGrid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FY2025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FY2026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Δ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6,263,047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6,322,218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59,171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Genuine only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5,687,724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5,881,829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194,105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Genuine with BVP alternative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69,463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34,638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-34,824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BVP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505,861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405,751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-100,110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BVP % of wallet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8.1%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6.4%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-1.7 pp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DRIVERS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Where the genuine drop sits (FY2025 → FY2026)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1430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Genuine-only sales moved EUR 194,105 from FY2025 to FY2026.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Of that, the routine service basket (filters, pads, rotors) moved EUR -3,606 on genuine-only; BVP in that basket moved EUR -31,193.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Genuine-only did not fall on this FY cut — check category movers and H1 for pressure points.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Meeting line: check high-value assemblies / sensors before blaming the filter or pad menu.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DRIVERS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Largest part-number drops (FY24→FY25) — outside service filters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34440"/>
          <a:ext cx="114300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486400"/>
                <a:gridCol w="3017520"/>
              </a:tblGrid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Δ EUR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8982878080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FILTER ASM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-328,202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8982049420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FILTER ASM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-270,711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8981776324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DPD ASM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-255,665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8975293230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ENGINE ASM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-193,288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8983528480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SENSOR; NOX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-173,207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8982601090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NOZZLE ASM; INJ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-100,540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8983320763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DPD ASM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-94,143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9377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Check warranty / campaign coding before calling competitive leakage.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SERVICE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Service-parts capture vs network (calendar year)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27</a:t>
            </a:r>
          </a:p>
        </p:txBody>
      </p:sp>
      <p:pic>
        <p:nvPicPr>
          <p:cNvPr id="8" name="Picture 7" descr="modeb_p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Capture % is calendar-year (full CY2025). Fleet demand is modelled on calendar years — there is no matching fiscal-year capture 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Oil filter 85.2% vs network 57.1%; Fuel filter 26.4% vs network 49.3%; Air filter 22.9% vs network 56.3%.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Next slide: fiscal-year € billing in the same five categories.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Primary lens = total capture (not genuine-only).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SERVICE PARTS · 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Service-parts billing by fiscal year (same five lines)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28</a:t>
            </a:r>
          </a:p>
        </p:txBody>
      </p:sp>
      <p:pic>
        <p:nvPicPr>
          <p:cNvPr id="8" name="Picture 7" descr="modeb_pms_f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This is Sales-to-Universal Motors Israel € in fiscal years — not capture % of fleet demand.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Use both lenses — do not mix % capture with € billing.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Primary = total sales in the basket.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BRAKES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Brake pads — BVP share of total brake pad sales (FY)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80160"/>
          <a:ext cx="65836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645920"/>
                <a:gridCol w="164592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FY2025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FY2026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Genuine qty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BVP qty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BVP share of total brake pad sales (€)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040880" y="1188720"/>
            <a:ext cx="4663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BVP share = BVP € ÷ all brake-pad € billed (genuine + BVP). Not a PMS capture 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Wallet-level BVP is still only ~6.4% of FY26 — do not generalise a pad story to the whole wallet.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AIM exposure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34440"/>
          <a:ext cx="11430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743200"/>
                <a:gridCol w="2743200"/>
                <a:gridCol w="411480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Year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High-risk €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High-risk %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Quadrant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12,441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0.4%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Attach gap (high GPS - low capture)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20,462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0.7%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Priority target (low GPS - low capture)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24,726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0.9%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Priority target (low GPS - low capture)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3749039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High-risk € is catalogue AIM exposure, not proven walk-out.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Open on jobs not bought through the distributor — not a street IAM war alone.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WARRANTY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Warranty — two real lenses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5486400" cy="29260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CY2025 claim-price parts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4937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EUR 1,791,020 (claim-price basis).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Calendar-year claim price basis.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Dedicated UMI claim file; UMI only, never blended with UTI.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234440"/>
            <a:ext cx="5486400" cy="29260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2764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14356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Fiscal GPS expense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2011680"/>
            <a:ext cx="4937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FY24 EUR 2,902,813 · FY25 EUR 1,504,142 · FY26 EUR 1,633,086.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Source row: UMI.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Ex-warranty GPS = (net − warranty) ÷ frozen CY25 wallet.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" y="4480560"/>
            <a:ext cx="11430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Both numbers are real — never mix them on one slide without labels.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BRIDGE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How to use this in the meeting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188720"/>
          <a:ext cx="114300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7589520"/>
              </a:tblGrid>
              <a:tr h="7680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If they say…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You know…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BVP is eating genuine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Wallet BVP ~6.4%. Check pads as a local exception only.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GPS looks fine / too high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FY26 headline 54.2%; excl. warranty ≈ 18.9%. 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Service parts are fine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CY2025 capture vs network (previous slides) + FY billing lens.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This is Israel network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UMI only — UTI did not sit in IDS Israel.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306324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A5A5A"/>
                </a:solidFill>
                <a:latin typeface="Calibri"/>
              </a:rPr>
              <a:t>Moving the World – for You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1436" y="2468880"/>
            <a:ext cx="2926080" cy="50970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