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ISRAEL  ·  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UMI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Universal Motors Israel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EXECUTIVE STORYLINE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meeting should align three commercial facts and three joint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70432"/>
            <a:ext cx="3669792" cy="1417320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234440"/>
            <a:ext cx="3486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YTD 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508760"/>
            <a:ext cx="3486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C0E1E"/>
                </a:solidFill>
                <a:latin typeface="Calibri"/>
              </a:rPr>
              <a:t>EUR 875K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2057400"/>
            <a:ext cx="3486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-12% vs BP; -14% vs 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2128" y="1170432"/>
            <a:ext cx="3669792" cy="1417320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1856" y="1234440"/>
            <a:ext cx="3486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Commercial parts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1856" y="1508760"/>
            <a:ext cx="3486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C0E1E"/>
                </a:solidFill>
                <a:latin typeface="Calibri"/>
              </a:rPr>
              <a:t>+33.6%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1856" y="2057400"/>
            <a:ext cx="3486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CY H1 2026 vs CY H1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51648" y="1170432"/>
            <a:ext cx="3669792" cy="1417320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1376" y="1234440"/>
            <a:ext cx="3486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FY2027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1376" y="1508760"/>
            <a:ext cx="3486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C0E1E"/>
                </a:solidFill>
                <a:latin typeface="Calibri"/>
              </a:rPr>
              <a:t>EUR 3,052K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1376" y="2057400"/>
            <a:ext cx="3486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Extended target (locked)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274320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Commercial parts billing moved +33.6%, but Lighting, Hydraulic / mechanical, Filters still need a joint recovery plan.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" y="333756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3776" y="353872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53872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Close the lubricant blocker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11480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Agree when Shell price discussion closes and whether any volume is moving outside ISZE while the hold continues.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33088" y="333756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34256" y="353872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353872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Choose the first recovery category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11480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Start with Lighting; make the action visible dealer-by-dealer.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73568" y="333756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74736" y="353872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96528" y="353872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Unlock part-level sales-to-dealer 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6176" y="411480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Monthly sales to dealer at part number level from 01/01/2025 to separate stock movements from lost jobs.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FY2027 YTD (Apr–Jul): EUR 875K, -12% vs BP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quar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Sales EUR 875K against BP EUR 995K — -12%, and -14% on last year's EUR 1,017K.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Jul is -38% YoY — Shell lubricants on hold (price not agreed) is the stated turnover gap into August.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beat is entirely May: EUR 348K against EUR 225K. Apr -47%, Jun -35% and Jul -15% are below BP.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conversation should move quickly from what happened to which lever we jointly pull first.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Commercial parts grew +33.6% — the leaks sit in specific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665K against EUR 498K a year earlier — +33.6%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8980565510 (ROD END ASM; OUTER) EUR -7K, 185 fewer pcs; 1884057860 (GEAR OIL LSD) EUR -6K, 203 fewer pcs; 8982457540 (NOZZLE ASM; INJ) EUR -5K, 20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8982601090 (NOZZLE ASM; INJ) EUR 22K, 96 more pcs; 5876150640 (PAD KIT; DISC BRK,W/) EUR 6K, 150 more pcs; 8978461132 (GLASS; WINDSHIELD) EUR 5K, 25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Shell lubricants (EUR 135K): 550047337 (Rim R4L15W40 CK4_3*5) EUR 106K, 2,371 more pcs; 550047252 (Rim R4 L 15W40 CJ4_1) EUR 17K, 24 more pcs; 550070445 (Rim R4L 15W40 CK4_1*) EUR 9K, 120 more pcs.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Category gaps that deserve a direct customer conversation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42360" cy="4206240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368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Lighting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3368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EUR 66K → EUR 47K  (-29%)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3368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Is this availability, pricing, or genuinely fewer accident repairs?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23360"/>
            <a:ext cx="3368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Recommended first action: Lamps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72128" y="1234440"/>
            <a:ext cx="3642360" cy="4206240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36720" y="1371600"/>
            <a:ext cx="3368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Hydraulic / mechanical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6720" y="1783080"/>
            <a:ext cx="3368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EUR 43K → EUR 28K  (-35%)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36720" y="2331720"/>
            <a:ext cx="3368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36720" y="4023360"/>
            <a:ext cx="3368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Recommended first action: Pricing / availability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51648" y="1234440"/>
            <a:ext cx="3642360" cy="4206240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6240" y="1371600"/>
            <a:ext cx="3368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Filters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6240" y="1783080"/>
            <a:ext cx="3368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EUR 23K → EUR 16K  (-27%)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6240" y="2331720"/>
            <a:ext cx="3368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Are dealers stocking filters, or ordering line-by-line against each job?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6240" y="4023360"/>
            <a:ext cx="3368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Recommended first action: Service pack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562356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Full part-number detail is in the appendix — use this page to decide what we 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Use the growth list as a repeatability discussion, not just 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887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NOZZLE ASM; INJ
8982601090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118872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+EUR 22K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8" y="11887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PAD KIT; DISC BRK,W/O SHIM &amp;
5876150640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18872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+EUR 6K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73568" y="11887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GLASS; WINDSHIELD
8978461132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42448" y="118872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+EUR 5K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2148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LAMP ASM; RR COMB
8978248633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21488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+EUR 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3088" y="2148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BUMPER ASM; FRT
7552172681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1488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+EUR 4K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148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GRILLE; INNER,RAD
7552070241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42448" y="21488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+EUR 4K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2461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Decision lens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" y="361188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3776" y="381304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81304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Repeatable?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38912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Which lines reflect structural dealer demand rather than one-off accident or stock movements?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87368" y="361188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88536" y="381304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0328" y="381304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Protectable?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6" y="438912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Which lines are most exposed to IAM or parallel sourcing if we do nothing?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2127" y="361188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83295" y="381304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5087" y="381304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Actionable?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4735" y="438912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Which lines can be supported through SPA, service packs or availability focus within 90 days?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12.0% against 60.4%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Air filter 22.9% against 56.3%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UMI averages 60.9%, below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Kfir Yaud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Eden Garage Rishon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Tel Hanan Haifa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UMI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Asayag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Ram Raanana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43.2%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Zarfati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39.3%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29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13.9 points below the network — both averages are taken on assessed dealers only.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30 points between the strongest and weakest assessed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18,542 vehicles in 2025 → 17,162 working estimate for end-2026 (-7.4%).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17,162.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3,051,652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2,973,279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4,354,036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78,373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3,051,652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V3.1 Dashboard col I UMI: EUR 3,051,652.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FY2027 business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starts from the FY2027 Business Plan for this market, EUR 2,973,279.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Your fleet outlook (-7.4%) sets the market potential the stretch is measured against.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3,051,652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2,973,279)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extended target as the working figure (BP + stretch), not a locked commercial commitment.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UMI · UNIVERSAL MOTORS ISRAEL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Appendix — detail behind the meeting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Part-number declines, growth deep dives, New Business validation, SPA process, R&amp;M questions and the data request.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Use selectively — the spoken meeting ends on the previous closing slide.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APPENDIX — LIGHTING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Lighting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66,473 (CY H1 2025) to EUR 47,348 (CY H1 2026), down EUR 19,125 (-29%).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8977993773 (LAMP ASM; HEAD): EUR 4,162 to EUR 0, 14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8977993763 (LAMP ASM; HEAD): EUR 3,865 to EUR 0, 13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8983287885 (LAMP ASM; HEAD): EUR 4,013 to EUR 1,086, 28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8976830212 (LAMP ASM; RR COMB): EUR 7,066 to EUR 4,159, 25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availability, pricing, or genuinely fewer accident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the bodyshops in your network sourcing lamps elsewhere?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APPENDIX — HYDRAULIC / MECHANICAL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Hydraulic / mechanical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43,066 (CY H1 2025) to EUR 28,206 (CY H1 2026), down EUR 14,860 (-35%).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8980565510 (ROD END ASM; OUTER): EUR 9,604 to EUR 2,988, 185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1884057860 (GEAR OIL LSD): EUR 8,956 to EUR 3,066, 203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8979458422 (ARM; UPR CONT): EUR 2,319 to EUR 0, 20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8979458441 (ARM; LWR CONT): EUR 1,188 to EUR 0, 8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APPENDIX —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Filters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22,637 (CY H1 2025) to EUR 16,468 (CY H1 2026), down EUR 6,169 (-27%).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5876150050 (ELEMENT; OIL FILTER · TFR,TFS,UCR,UCS): EUR 7,435 to EUR 2,545, 920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8978770040 (FILTER ASM): EUR 3,152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5876100190 (CARTRIDGE;OIL FILTER · UBS): EUR 1,130 to EUR 426, 230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5876100170 (CARTRIDGE;OIL FILTER · UBS): EUR 1,128 to EUR 664, 90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stocking filters, or ordering line-by-line against each job?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How much servicing do you estimate is happening outside the franchised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Would a service-pack offer on oil and fuel filters be workable for your dealers?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APPENDIX — SHELL LUBRICANTS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Shell lubricants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0 (CY H1 2025) to EUR 135,109 (CY H1 2026), up EUR 135,109.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increase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550047337 (Rim R4L15W40 CK4_3*5L): EUR 0 to EUR 105,984, +2,371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550047252 (Rim R4 L 15W40 CJ4_1*209L): EUR 0 to EUR 17,493, +24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550070445 (Rim R4L 15W40 CK4_1*20L JC_A246): EUR 0 to EUR 8,640, +120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550070643 (RimulaR6LM10W40CK-4_1*20L JC_A246): EUR 0 to EUR 2,992, +40 pcs.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41605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48056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When can the Shell price discussion close so lubricant orders restart?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How much of the Original BP gap is lubricants vs the rest of the basket?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Shell volume moving outside ISZE while the hold continues?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APPENDIX — 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UMI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Universal Motors Israel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APPENDIX — 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trucks in service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APPENDIX —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 to 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UMI · UNIVERSAL MOTORS ISRAEL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shared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Universal Motors Israel.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spoken meeting ends on the earlier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UMI only — never blend UTI into these figures or IDS views.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parts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target spend). FY25 59.9% → FY26 54.7%.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the same GPS after removing warranty parts (€). FY26 ≈ 19.1% (warranty EUR 1,633,086 ≈ 65%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Both lines divide by the same target spend (EUR 4,587,250), so the gap between them is warranty and nothing else.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parts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6,263,047 → EUR 6,322,218 (+0.9%).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194,105.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-34,824; BVP EUR -100,110 (6.4% of FY26 parts billed).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parts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6,263,047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6,322,218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59,171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5,687,724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5,881,829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194,105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69,463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34,638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-34,824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505,861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405,751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-100,110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parts billed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8.1%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-1.7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194,105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-3,606 on genuine-only; BVP in that basket moved EUR -31,193.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did not fall on this FY cut — check category movers and H1 for pressure points.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8982878080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FILTER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-328,202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8982049420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FILTER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-270,711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-255,665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8975293230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-193,288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8983528480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SENSOR; NOX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-173,207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8982601090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-100,540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8983320763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-94,143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85.2% vs network 54.4%; Fuel filter 26.4% vs network 47.0%; Air filter 22.9% vs network 55.4%.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5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5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Sales-to-Universal Motors Israel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Genuine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65,344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55,238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pad sales (€)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1062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share of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Universal Motors Israel pad sales are genuine-only in this cut (~EUR 55K FY26) — no BVP pad lines billed.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~6.4% of FY26 — do not generalise a pad story to the whole parts book.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12,441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20,462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24,726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1,791,020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Dedicated UMI claim file; UMI only, never blended with UTI.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2,902,813 · FY25 EUR 1,504,142 · FY26 EUR 1,633,086.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UMI.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target 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~6.4%.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54.7%; excl. warranty ≈ 19.1%.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This is Israel network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UMI only — UTI did not sit in IDS Israel.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