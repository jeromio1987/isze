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ISRAEL  ·  UMI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UMI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Universal Motors Israel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EXECUTIVE STORYLINE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meeting should align three commercial facts and three joint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70432"/>
            <a:ext cx="3669792" cy="141732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234440"/>
            <a:ext cx="3486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YTD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508760"/>
            <a:ext cx="3486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0E1E"/>
                </a:solidFill>
                <a:latin typeface="Calibri"/>
              </a:rPr>
              <a:t>EUR 875K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2057400"/>
            <a:ext cx="3486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-12% vs BP; -14% vs 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72128" y="1170432"/>
            <a:ext cx="3669792" cy="141732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1856" y="1234440"/>
            <a:ext cx="3486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Commercial parts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1856" y="1508760"/>
            <a:ext cx="3486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0E1E"/>
                </a:solidFill>
                <a:latin typeface="Calibri"/>
              </a:rPr>
              <a:t>+33.6%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1856" y="2057400"/>
            <a:ext cx="3486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CY H1 2026 vs CY H1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51648" y="1170432"/>
            <a:ext cx="3669792" cy="141732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1376" y="1234440"/>
            <a:ext cx="3486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FY2027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1376" y="1508760"/>
            <a:ext cx="3486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0E1E"/>
                </a:solidFill>
                <a:latin typeface="Calibri"/>
              </a:rPr>
              <a:t>EUR 3,052K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1376" y="2057400"/>
            <a:ext cx="3486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Extended target (locked)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27432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Commercial parts billing moved +33.6%, but Lighting, Hydraulic / mechanical, Filters still need a joint recovery plan.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" y="333756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3776" y="353872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5387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Close the lubricant blocker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411480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Agree when Shell price discussion closes and whether any volume is moving outside ISZE while the hold continues.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33088" y="333756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34256" y="353872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35387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Choose the first recovery category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411480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Start with Lighting; make the action visible dealer-by-dealer.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8" y="333756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6" y="353872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35387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Unlock part-level sales-to-dealer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411480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Monthly sales to dealer at part number level from 01/01/2025 to separate stock movements from lost jobs.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FY2027 YTD (Apr–Jul): EUR 875K, -12% vs BP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Sales EUR 875K against BP EUR 995K — -12%, and -14% on last year's EUR 1,017K.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Jul is -38% YoY — Shell lubricants on hold (price not agreed) is the stated turnover gap into August.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beat is entirely May: EUR 348K against EUR 225K. Apr -47%, Jun -35% and Jul -15% are below BP.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conversation should move quickly from what happened to which lever we jointly pull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Commercial parts grew +33.6% — the leaks sit in specific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665K against EUR 498K a year earlier — +33.6%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8980565510 (ROD END ASM; OUTER) EUR -7K, 185 fewer pcs; 1884057860 (GEAR OIL LSD) EUR -6K, 203 fewer pcs; 8982457540 (NOZZLE ASM; INJ) EUR -5K, 20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8982601090 (NOZZLE ASM; INJ) EUR 22K, 96 more pcs; 5876150640 (PAD KIT; DISC BRK,W/) EUR 6K, 150 more pcs; 8978461132 (GLASS; WINDSHIELD) EUR 5K, 25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Shell lubricants (EUR 135K): 550047337 (Rim R4L15W40 CK4_3*5) EUR 106K, 2,371 more pcs; 550047252 (Rim R4 L 15W40 CJ4_1) EUR 17K, 24 more pcs; 550070445 (Rim R4L 15W40 CK4_1*) EUR 9K, 120 more pcs.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Category gaps that deserve a direct customer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42360" cy="420624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368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Lighting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368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EUR 66K → EUR 47K  (-29%)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3368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Is this availability, pricing, or genuinely fewer accident repairs?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3368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Recommended first action: Lamps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72128" y="1234440"/>
            <a:ext cx="3642360" cy="420624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6720" y="1371600"/>
            <a:ext cx="3368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Hydraulic / mechanical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6720" y="1783080"/>
            <a:ext cx="3368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EUR 43K → EUR 28K  (-35%)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6720" y="2331720"/>
            <a:ext cx="3368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6720" y="4023360"/>
            <a:ext cx="3368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Recommended first action: Pricing / availability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1648" y="1234440"/>
            <a:ext cx="3642360" cy="420624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6240" y="1371600"/>
            <a:ext cx="3368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Filters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6240" y="1783080"/>
            <a:ext cx="3368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EUR 23K → EUR 16K  (-27%)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6240" y="2331720"/>
            <a:ext cx="3368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Are dealers stocking filters, or ordering line-by-line against each job?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6240" y="4023360"/>
            <a:ext cx="3368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Recommended first action: Service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" y="56235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Full part-number detail is in the appendix — use this page to decide what we 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Use the growth list as a repeatability discussion, not just a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88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NOZZLE ASM; INJ
8982601090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1887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+EUR 22K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8" y="1188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PAD KIT; DISC BRK,W/O SHIM &amp;
5876150640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1887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+EUR 6K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1188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GLASS; WINDSHIELD
8978461132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42448" y="11887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+EUR 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LAMP ASM; RR COMB
8978248633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2148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+EUR 4K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BUMPER ASM; FRT
7552172681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148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+EUR 4K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GRILLE; INNER,RAD
7552070241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42448" y="2148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+EUR 4K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246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Decision lens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" y="361188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3776" y="381304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8130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Repeatable?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438912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Which lines reflect structural dealer demand rather than one-off accident or stock movements?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87368" y="361188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88536" y="381304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38130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Protectable?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438912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Which lines are most exposed to IAM or parallel sourcing if we do nothing?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7" y="361188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83295" y="381304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7" y="38130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Actionable?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5" y="438912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Which lines can be supported through SPA, service packs or availability focus within 90 days?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brake rotor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12.0% against 60.4%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Air filter 22.9% against 56.3%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UMI averages 60.9%, below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Kfir Yaud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69.6%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#406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Eden Garage Rishon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68.6%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Tel Hanan Haifa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68.6%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UMI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60.9%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Asayag Jerusalem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44.3%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Ram Raanana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43.2%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Zarfati Jerusalem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39.3%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29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13.9 points below the network — both averages are taken on assessed dealers only.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30 points between the strongest and weakest assessed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18,542 vehicles in 2025 → 17,162 working estimate for end-2026 (-7.4%).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17,162.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extended target (ISZE→DB) applies a 5% price adjustment and 1.8% stretch — locked at EUR 3,051,652 from GPS Extended Target V3.1 (Dashboard column 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extended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ISZE → DB extended target (V3.1 Dashboard column 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Business Plan / actual FY27 base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2,973,279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Market potential (max spend FY27)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4,354,036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Stretch (+1.8% of max spend)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78,373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EXTENDED TARGET (locked)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3,051,652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406908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Extended target = BP + stretch; stretch default is 1.8% (network rule from GPS Extended Target V3.1).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Figure locked from V3.1 Dashboard col I UMI: EUR 3,051,652.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FY2027 business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starts from the FY2027 Business Plan for this market, EUR 2,973,279.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Your fleet outlook (-7.4%) sets the market potential the stretch is measured against.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extended target (V3.1 col 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3,051,652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vs BP FY27 (EUR 2,973,279)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+2.6%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Stretch included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extended target as the working figure (BP + stretch), not a locked commercial commitment.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JOINT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End the customer meeting with clear workstreams and owners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20040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FY2027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Confirm extended target EUR 3,051,652 and incentive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20040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Lubricants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Close Shell price agreement; confirm restart timing and any temporary leakage.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20040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Service-parts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Pick Lighting as the first joint recovery category.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20040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SPA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Universal Motors Israel submits a target list; ISZE counters with network data and margin logic.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70916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Fewer slides in the room, clearer decisions, and a direct link between Universal Motors Israel's asks and ISZE support.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UMI · UNIVERSAL MOTORS ISRAEL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Appendix — detail behind the meeting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Part-number declines, growth deep dives, New Business validation, SPA process, R&amp;M questions and the data request.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Use selectively — the spoken meeting ends on the previous closing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LIGHTING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Lighting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66,473 (CY H1 2025) to EUR 47,348 (CY H1 2026), down EUR 19,125 (-29%).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8977993773 (LAMP ASM; HEAD): EUR 4,162 to EUR 0, 14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8977993763 (LAMP ASM; HEAD): EUR 3,865 to EUR 0, 13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8983287885 (LAMP ASM; HEAD): EUR 4,013 to EUR 1,086, 28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8976830212 (LAMP ASM; RR COMB): EUR 7,066 to EUR 4,159, 25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availability, pricing, or genuinely fewer accident repairs?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the bodyshops in your network sourcing lamps elsewhere?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HYDRAULIC / MECHANICAL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Hydraulic / mechanical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43,066 (CY H1 2025) to EUR 28,206 (CY H1 2026), down EUR 14,860 (-35%).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8980565510 (ROD END ASM; OUTER): EUR 9,604 to EUR 2,988, 185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1884057860 (GEAR OIL LSD): EUR 8,956 to EUR 3,066, 203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8979458422 (ARM; UPR CONT): EUR 2,319 to EUR 0, 20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8979458441 (ARM; LWR CONT): EUR 1,188 to EUR 0, 8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Filters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22,637 (CY H1 2025) to EUR 16,468 (CY H1 2026), down EUR 6,169 (-27%).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5876150050 (ELEMENT; OIL FILTER · TFR,TFS,UCR,UCS): EUR 7,435 to EUR 2,545, 920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8978770040 (FILTER ASM): EUR 3,152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5876100190 (CARTRIDGE;OIL FILTER · UBS): EUR 1,130 to EUR 426, 230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5876100170 (CARTRIDGE;OIL FILTER · UBS): EUR 1,128 to EUR 664, 90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stocking filters, or ordering line-by-line against each job?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How much servicing do you estimate is happening outside the franchised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Would a service-pack offer on oil and fuel filters be workable for your dealers?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SHELL LUBRICANTS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Shell lubricants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0 (CY H1 2025) to EUR 135,109 (CY H1 2026), up EUR 135,109.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increase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550047337 (Rim R4L15W40 CK4_3*5L): EUR 0 to EUR 105,984, +2,371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550047252 (Rim R4 L 15W40 CJ4_1*209L): EUR 0 to EUR 17,493, +24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550070445 (Rim R4L 15W40 CK4_1*20L JC_A246): EUR 0 to EUR 8,640, +120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550070643 (RimulaR6LM10W40CK-4_1*20L JC_A246): EUR 0 to EUR 2,992, +40 pcs.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41605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480560"/>
            <a:ext cx="11612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When can the Shell price discussion close so lubricant orders restart?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How much of the Original BP gap is lubricants vs the rest of the basket?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Shell volume moving outside ISZE while the hold continues?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UMI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Universal Motors Israel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trucks in service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 to 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