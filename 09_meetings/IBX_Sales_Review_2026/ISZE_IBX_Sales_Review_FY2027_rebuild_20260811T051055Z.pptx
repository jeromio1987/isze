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ISZE  ·  BELGIUM  ·  IBX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331720"/>
            <a:ext cx="9601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Calibri"/>
              </a:rPr>
              <a:t>Benelux Sales Review
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Calibri"/>
              </a:rPr>
              <a:t>Isuzu Benelux  ·  August 2026</a:t>
            </a:r>
          </a:p>
        </p:txBody>
      </p:sp>
      <p:pic>
        <p:nvPicPr>
          <p:cNvPr id="6" name="Picture 5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897880"/>
            <a:ext cx="2204720" cy="3840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IBX MEETING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category movers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Brake parts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Injectors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Fuel system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Parts Performance — where volume grew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New Business — validation queue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Sales-to-Dealer Outlook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GPS Capture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Service-Parts Coverage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IDS 2026 — Dealer Standard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Fleet &amp; FY2027 Target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SPA — status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R&amp;M — market discussion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Data request: part-level Sales-to-Dealer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Parts Performance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pic>
        <p:nvPicPr>
          <p:cNvPr id="8" name="Picture 7" descr="category_mov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Commercial parts billing (warranty/campaign excluded) EUR 1,029K against EUR 828K a year earlier — +24.3% (CY H1 2026 vs CY H1 2025, Jan–Jun).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drops: 5878316930 (SHOE KIT; BRAKE,RR) EUR -13K, 62 fewer pcs; 8974725274 (RAIL; ROOF) EUR -4K, 34 fewer pcs; 8977988670 (TRANSFER ASM) EUR -4K, 2 fewer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Largest PN gains: 8978461152 (GLASS; WINDSHIELD) EUR 18K, 79 more pcs; 8981776324 (DPD ASM) EUR 8K, 6 more pcs; 8975554500 (FILTER; BLOWER UNIT) [TF*,UC*] EUR 7K, 407 more pcs.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Credit notes of EUR 25K stay on the net bridge (net EUR 1,209K); not in the movers.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BRAKE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parts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42,206 (CY H1 2025) to EUR 29,058 (CY H1 2026), down EUR 13,148 (-31%).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5878316930 (SHOE KIT; BRAKE,RR): EUR 12,755 to EUR 0, 62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5876102280 (LINING KIT; RR BRAKE · NPR,NQR,NNR): EUR 3,276 to EUR 0, 57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8981246634 (ROTOR; DISC BRK,FRT): EUR 1,335 to EUR 375, 11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8982324811 (HYDRAULIC UNIT; ANTI LOCK BRK): EUR 858 to EUR 0, 1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pad and rotor pricing competitive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INJECTORS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Injectors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10,591 (CY H1 2025) to EUR 5,795 (CY H1 2026), down EUR 4,796 (-45%).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8984890190 (NOZZLE ASM; INJ): EUR 3,865 to EUR 1,887, 12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8983320591 (NOZZLE ASM; INJ): EUR 1,321 to EUR 0, 7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8973865576 (PUMP ASM; INJ): EUR 886 to EUR 0, 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8982601090 (NOZZLE ASM; INJ): EUR 2,710 to EUR 1,909, 6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fewer failures, or repairs moving out of the network?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the exchange/reman route competing with new parts here?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Are dealers still quoting these part numbers, or have they dropped off the workshop menu?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FUEL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Fuel system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07008"/>
            <a:ext cx="116128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EUR 9,894 (CY H1 2025) to EUR 5,548 (CY H1 2026), down EUR 4,346 (-44%).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Largest part numbers driving the decline (by EUR):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8941449334 (SEDIMENTER; FUEL): EUR 2,530 to EUR 0, 51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8981530463 (TANK; FUEL): EUR 1,645 to EUR 0, 8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8984890171 (PUMP ASM; FUEL,SUPPLY): EUR 3,409 to EUR 2,032, 2 fewer pieces.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8972745350 (TANK; FUEL): EUR 1,212 to EUR 0, 7 fewer pieces.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84048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Questions for us to work through together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160520"/>
            <a:ext cx="11612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this pricing against what the dealers can buy locally?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Is any of this stock timing on your side rather than end demand?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What would make the biggest difference to keep this business with us?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 —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volume grew — CY H1 2026 vs CY H1 2025 (commercial, ex-warranty)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926080"/>
                <a:gridCol w="1645920"/>
                <a:gridCol w="1737360"/>
                <a:gridCol w="173736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CY H1 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8978461152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697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18,240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17,542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4,136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11,992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7,856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8975554500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TF*,UC*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9,783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16,468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6,684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7552348280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2,123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8,352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6,229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8983320764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2,283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6,849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4,566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8975359391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4,694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9,218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EUR 4,524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840480"/>
            <a:ext cx="11612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Body parts +36%, Exhaust +70%, Lighting +29% — where the commercial volume went.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Claim-matched PNs (187 distinct) and campaign/recall text matches are already excluded from this growth list. Residual warranty on unmapped PNs can remain.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PNs ranked by largest EUR increase (prior-period sales &gt; 0). Worth agreeing which of these are repeatable and which were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PARTS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New Business — validation queue (CY H1 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023360"/>
                <a:gridCol w="219456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Current sales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8978461162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GLASS; WINDSHIELD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19,705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7552283750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TRANSFER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8,010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7552348310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4,918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8978725102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PANEL; SIDE OUTER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3,741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8983042280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TRANSMISSION ASM; AUTO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3,656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8981596930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ELEMENT KIT; FUEL FILTER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EUR 3,508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06908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These lines had no prior-period sales, so they are kept out of the incremental-growth 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A first sale can be a new model, a supersession, timing, or a warranty campaign. It is not treated as a commercial win until that cause is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SALES-TO-DEALER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Sales-to-Dealer outlook — FY2027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FY2026 Sales-to-Dealer is EUR 6,834,272 (reported KPI).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working fleet movement into FY2027 is -3.2%.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Applying fleet movement, the 5% price adjustment and 1.8% additional growth gives a FY2027 Sales-to-Dealer target of EUR 7,074,416.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The discussion is held in Sales-to-Dealer amounts; ISZE billing remains an internal reconciliation measure.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 Capture: 85.2%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measures your actual parts purchases against the full potential of your fleet.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Benelux today: 85.2% (FY2026 purchases against the CY2025 fleet potential).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Fleet potential: EUR 2,454K on 9,593 vehicles.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Real, sustained headroom above 85.2% — the service-parts and SPA discussion are both direct levers on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SERVICE-PARTS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coverage: fuel filter is the clear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050572"/>
            <a:ext cx="7178040" cy="3168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Fuel filter 26.2% against 47.9%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Brake rotor 46.7% against 55.0% for the rest of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Every market here is measured on the same fleet-and-interval model, so the comparison is like-for-like even where the underlying interval assumption is debatable.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Worth agreeing which category we tackle first, and what the joint action 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IDS 2026 — DEALER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IDS 2026: Benelux averages 78.6%, above the 74.8% network benchmark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07008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92240"/>
                <a:gridCol w="2560320"/>
                <a:gridCol w="2560320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Dealer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Total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Global rank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Pashuysen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Sud Motor Huy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Sud Motor Marche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Benelux country average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78.6%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Network average (all IDS 2026)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74.8%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Delfosse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60.7%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Degroote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57.1%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#466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Fayt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55.4%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#472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160520"/>
            <a:ext cx="11612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34 dealers assessed across Premises, Organisation, Service, Parts and Vehicle Sales.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country average sits 3.8 points above the network.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The spread is the point: 40 points between the strongest and weakest dealer.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50" b="1">
                <a:solidFill>
                  <a:srgbClr val="CC0E1E"/>
                </a:solidFill>
                <a:latin typeface="Calibri"/>
              </a:rPr>
              <a:t>—  </a:t>
            </a:r>
            <a:r>
              <a:rPr sz="1350">
                <a:solidFill>
                  <a:srgbClr val="1A1A1A"/>
                </a:solidFill>
                <a:latin typeface="Calibri"/>
              </a:rPr>
              <a:t>Dealer-by-dealer detail and individual feedback are available as a separate pack — worth agreeing which dealers to visit, and when.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The fleet is expected to decline in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u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WHAT THIS MEANS FOR FY2027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size (calendar year): 9,593 vehicles in 2025 → 9,290 working estimate for end-2026 (-3.2%).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chart is calendar years 2019–2026 only. 2026 is a working year-end estimate, not a fiscal-year figure.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End-2026 mix: LCV / D-Max 9,154; CV — LD 136.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FY2027 Sales-to-Dealer target starts from that fleet change, then applies a 5% price adjustment and 1.8% additional growth.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 the target is built from a slightly smaller fleet — not from an assumed growth 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FLEET &amp; 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the FY2027 target is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170432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Sales-to-Dealer amount bridge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1508760"/>
          <a:ext cx="85953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926080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FY2026 Sales-to-Dealer (reported KPI)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6,834,272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fleet movement (-3.2%)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6,618,408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After price adjustment (+5%)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6,949,328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FY2027 target after additional growth (+1.8%)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EUR 7,074,416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92608" y="3977639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FY2027 target is +3.5% versus the FY2026 Sales-to-Dealer base.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The FY2026 base is the reported Sales-to-Dealer KPI.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FY2027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What the FY2027 target reflects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Your fleet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The working fleet movement used in the target is -3.2%.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234440"/>
            <a:ext cx="5943600" cy="20116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356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The price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01168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is applying a 5% price adjustment for FY2027, consistent with every ISZE market this year.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It is built into the per-vehicle rate above, not added separately on top.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3474720"/>
            <a:ext cx="8595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E1E"/>
                </a:solidFill>
                <a:latin typeface="Calibri"/>
              </a:rPr>
              <a:t>What it means for your target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2608" y="3785615"/>
          <a:ext cx="85953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56616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FY2027 Sales-to-Dealer target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EUR 7,074,416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vs FY2026 Sales-to-Dealer (EUR 6,834,272)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CC0E1E"/>
                          </a:solidFill>
                          <a:latin typeface="Calibri"/>
                        </a:rPr>
                        <a:t>+3.5%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92608" y="5074920"/>
            <a:ext cx="116128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As in previous cycles we would expect an incentive to sit alongside this adjustment — that approval is still pending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Until the incentive is confirmed, treat the FY2027 target as the working bridge (fleet × price × additional growth), not a locked commercial commitment.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SPA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IBX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Benelux submits a proposed parts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29000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0792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ISZE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reviews the proposal against network data and fit.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64224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Counter-proposal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ISZE returns a counter-proposal where needed.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234440"/>
            <a:ext cx="2798064" cy="31089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94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1435608"/>
            <a:ext cx="1792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Final approval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90888" y="2011680"/>
            <a:ext cx="2249424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Signed off by ISZE management.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" y="45720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Purpose: higher turnover for both sides.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R&amp;M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R&amp;M — let's align on the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188720"/>
            <a:ext cx="54864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38988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96596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is the market moving for you right now?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How much of your volume is fleet business rather than retail?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do you see the biggest hurdles this year?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Where are your real strengths in this segment?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188720"/>
            <a:ext cx="5943600" cy="402336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4768" y="138988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Servicing &amp; R&amp;M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 you offer an R&amp;M or service-plan product today?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share of the parc do you retain for servicing after year three?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Does R&amp;M business come bundled with fleet tenders — roughly what share?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What would it take to bring more out-of-network servicing back?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Part-level Sales-to-Dealer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Already halfway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You already report Sales-to-Dealer monthly. The ask is the same data at part-number level.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87368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853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Sharper 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79976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Part-by-part visibility separates a stock movement from a lost job — and tells us where the volume actually went.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82127" y="1234440"/>
            <a:ext cx="3611880" cy="237744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83295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7" y="1435608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Shared benefit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5" y="201168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Better availability on your fast movers, a sharper target for us, and a factual basis for the SPA — same data, both sides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" y="38862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E1E"/>
                </a:solidFill>
                <a:latin typeface="Calibri"/>
              </a:rPr>
              <a:t>Requested from 01/01/2025, part number level, monthly.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612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FY2027 Sales-to-Dealer target: EUR 7,074,416 (+3.5% vs FY2026 Sales-to-Dealer).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Confirm the incentive alongside the price adjustment once approved on our side.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parts / Injectors / Fuel system: agree which category we tackle first, and what the joint action is.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Agree part-level Sales-to-Dealer data sharing, effective 01/01/2025.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SPA: IBX proposal, ISZE review and counter-proposal cycle to follow.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IDS 2026: agree dealer visit dates, starting with the lower-scoring dealers.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suzu_log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BENELUX · ISUZU BENELUX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 dive — detail behind the Mode A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258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Extra detail for meeting prep — pick which slides to share with Isuzu Benelux.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Mode A ends on the previous closing slide.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Label in all charts: “Genuine with BVP alternative” (not “genuine contested”).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IBX GPS % can look high because billing covers BE/NL/PL/LUX while the wallet denominator is Belgium-only — say so when quoting %.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Deep-dive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GPS — fiscal year (headline vs excl. warranty; max two lines)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FY2025 → FY2026 wallet mix (Genuine / Genuine with BVP alternative / BVP)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Where the money went — outside the service-parts basket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Service parts: CY capture vs network + FY billing (capture % is CY-only by design)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AIM exposure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Warranty — two lenses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GPS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GPS: fiscal year headline vs after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pic>
        <p:nvPicPr>
          <p:cNvPr id="8" name="Picture 7" descr="modeb_g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Red = fiscal-year GPS (frozen CY2025 wallet). FY25 90.9% → FY26 85.2%.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Black = fiscal GPS after removing warranty parts (€). FY26 ≈ 81.8% (warranty EUR 83,007 ≈ 4% of FY26 billing).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Fleet 9,593 → 9,290 (working year-end estimate under the FY2027 target).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ISUZU BENELUX NV bills for BE/NL/PL/LUX but the FY27 max spend uses the BELGIUM UIO rows only. GPS 95-98% is therefore likely OVERSTATED — numerator covers a parc the denominator excludes. Do not present the % without stating that, or widen the denominator first (UIO rows NL 30/31/32, LUX 36/37/38, Poland 69).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FY2025 → FY2026 wallet mix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24</a:t>
            </a:r>
          </a:p>
        </p:txBody>
      </p:sp>
      <p:pic>
        <p:nvPicPr>
          <p:cNvPr id="8" name="Picture 7" descr="modeb_fy_wal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323369"/>
            <a:ext cx="6949440" cy="2931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1234440"/>
            <a:ext cx="4297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Total EUR 2,338,748 → EUR 2,203,112 (-5.8%).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only EUR -94,412.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Genuine with BVP alternative EUR -31,022; BVP EUR -10,202 (3.4% of FY26 wallet).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Display label locked: Genuine with BVP alternative.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WALLET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FY wallet mix — detail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2468880"/>
                <a:gridCol w="2468880"/>
                <a:gridCol w="2834640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2,338,748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2,203,112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-135,636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only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2,092,144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1,997,733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-94,412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with BVP alternative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160,541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129,519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-31,022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86,063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75,861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-10,202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% of wallet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3.4%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-0.2 pp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Where the genuine drop sits (FY2025 → FY2026)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2344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Genuine-only sales moved EUR -94,412 from FY2025 to FY2026.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Of that, the routine service basket (filters, pads, rotors) moved EUR -9,608 on genuine-only; BVP in that basket moved EUR 2,350.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So about 90% of the genuine-only drop sits outside routine service parts.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500" b="1">
                <a:solidFill>
                  <a:srgbClr val="CC0E1E"/>
                </a:solidFill>
                <a:latin typeface="Calibri"/>
              </a:rPr>
              <a:t>—  </a:t>
            </a:r>
            <a:r>
              <a:rPr sz="1500">
                <a:solidFill>
                  <a:srgbClr val="1A1A1A"/>
                </a:solidFill>
                <a:latin typeface="Calibri"/>
              </a:rPr>
              <a:t>Meeting line: check high-value assemblies / sensors before blaming the filter or pad menu.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Largest part-number drops (FY24→FY25) — outside service filters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486400"/>
                <a:gridCol w="3017520"/>
              </a:tblGrid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EUR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8977998750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STEERING UNIT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-34,249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8981776324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DPD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-11,626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8975293230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-11,250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8983759930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ENGINE ASM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-11,244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8983550720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partikel sensor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-10,818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5876150180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FILTER; BLOWER UNIT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-10,118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8980835411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MOLDING; WINDSHIELD,LWR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-6,760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493776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Check warranty / campaign coding before calling competitive leakage.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capture vs network (calendar year)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pic>
        <p:nvPicPr>
          <p:cNvPr id="8" name="Picture 7" descr="modeb_p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Capture % is calendar-year (full CY2025). Fleet demand is modelled on calendar years — there is no matching fiscal-year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Oil filter 62.6% vs network 60.4%; Fuel filter 26.2% vs network 47.9%; Air filter 51.7% vs network 52.3%.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Next slide: fiscal-year € billing in the same five categories.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lens = total capture (not genuine-only).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SERVICE PARTS · 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Service-parts billing by fiscal year (same five lines)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pic>
        <p:nvPicPr>
          <p:cNvPr id="8" name="Picture 7" descr="modeb_pms_f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2120980"/>
            <a:ext cx="7178040" cy="3027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726679" y="1188720"/>
            <a:ext cx="22000" cy="489204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7847" y="1234440"/>
            <a:ext cx="3886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E1E"/>
                </a:solidFill>
                <a:latin typeface="Calibri"/>
              </a:rPr>
              <a:t>TAKEAWAYS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7847" y="1691640"/>
            <a:ext cx="379476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This is Sales-to-Isuzu Benelux € in fiscal years — not capture % of fleet demand.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Use both lenses — do not mix % capture with € billing.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Primary = total sales in the basket.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Brake pads — BVP share of total brake pad sales (FY)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8016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645920"/>
                <a:gridCol w="164592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FY2025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FY2026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Genuine qty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qty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BVP share of total brake pad sales (€)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040880" y="118872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BVP share = BVP € ÷ all brake-pad € billed (genuine + BVP). Not a PMS capture %.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Wallet-level BVP is still only ~3.4% of FY26 — do not generalise a pad story to the whole wallet.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AIM exposure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23444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27432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€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High-risk %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Quadrant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29,155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1.7%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25,867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Defend (high GPS - high capture)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EUR 25,745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1.2%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1A1A"/>
                          </a:solidFill>
                          <a:latin typeface="Calibri"/>
                        </a:rPr>
                        <a:t>Attach gap (high GPS - low capture)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92608" y="3749039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High-risk € is catalogue AIM exposure, not proven walk-out.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400" b="1">
                <a:solidFill>
                  <a:srgbClr val="CC0E1E"/>
                </a:solidFill>
                <a:latin typeface="Calibri"/>
              </a:rPr>
              <a:t>—  </a:t>
            </a:r>
            <a:r>
              <a:rPr sz="1400">
                <a:solidFill>
                  <a:srgbClr val="1A1A1A"/>
                </a:solidFill>
                <a:latin typeface="Calibri"/>
              </a:rPr>
              <a:t>Open on jobs not bought through the distributor — not a street IAM war alone.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WARRANTY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Warranty — two real lenses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93776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CY2025 claim-price parts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EUR 74,677 (claim-price basis).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Calendar-year claim price basis.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IBX Belgium only; no CV warranty rows in the source file.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34440"/>
            <a:ext cx="5486400" cy="2926080"/>
          </a:xfrm>
          <a:prstGeom prst="roundRect">
            <a:avLst>
              <a:gd name="adj" fmla="val 6000"/>
            </a:avLst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435608"/>
            <a:ext cx="457200" cy="457200"/>
          </a:xfrm>
          <a:prstGeom prst="ellipse">
            <a:avLst/>
          </a:prstGeom>
          <a:solidFill>
            <a:srgbClr val="CC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35608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Fiscal GPS expense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FY24 EUR 490 · FY25 EUR 25,359 · FY26 EUR 83,007.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Source row: IBX.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250" b="1">
                <a:solidFill>
                  <a:srgbClr val="CC0E1E"/>
                </a:solidFill>
                <a:latin typeface="Calibri"/>
              </a:rPr>
              <a:t>—  </a:t>
            </a:r>
            <a:r>
              <a:rPr sz="1250">
                <a:solidFill>
                  <a:srgbClr val="1A1A1A"/>
                </a:solidFill>
                <a:latin typeface="Calibri"/>
              </a:rPr>
              <a:t>Ex-warranty GPS = (net − warranty) ÷ frozen CY25 wallet.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300" b="1">
                <a:solidFill>
                  <a:srgbClr val="CC0E1E"/>
                </a:solidFill>
                <a:latin typeface="Calibri"/>
              </a:rPr>
              <a:t>—  </a:t>
            </a:r>
            <a:r>
              <a:rPr sz="1300">
                <a:solidFill>
                  <a:srgbClr val="1A1A1A"/>
                </a:solidFill>
                <a:latin typeface="Calibri"/>
              </a:rPr>
              <a:t>Both numbers are real — never mix them on one slide without labels.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6263640"/>
            <a:ext cx="1679787" cy="2926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011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E1E"/>
                </a:solidFill>
                <a:latin typeface="Calibri"/>
              </a:rPr>
              <a:t>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" y="475488"/>
            <a:ext cx="11612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Calibri"/>
              </a:rPr>
              <a:t>How to use this in the meeting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11612880" cy="2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94592" y="647395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5A5A"/>
                </a:solidFill>
                <a:latin typeface="Calibri"/>
              </a:rPr>
              <a:t>33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118872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589520"/>
              </a:tblGrid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If they say…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You know…</a:t>
                      </a:r>
                    </a:p>
                  </a:txBody>
                  <a:tcPr anchor="ctr" marL="73152" marR="73152">
                    <a:solidFill>
                      <a:srgbClr val="CC0E1E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BVP is eating genuine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Wallet BVP ~3.4%. Check pads as a local exception only.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GPS looks fine / too high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FY26 headline 85.2%; excl. warranty ≈ 81.8%. IBX: Belgium-only denominator.</a:t>
                      </a:r>
                    </a:p>
                  </a:txBody>
                  <a:tcPr anchor="ctr" marL="73152" marR="73152">
                    <a:solidFill>
                      <a:srgbClr val="ECEC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Service parts are fine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CY2025 capture vs network (previous slides) + FY billing lens.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3063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A5A5A"/>
                </a:solidFill>
                <a:latin typeface="Calibri"/>
              </a:rPr>
              <a:t>Moving the World – for You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1436" y="2468880"/>
            <a:ext cx="2926080" cy="5097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