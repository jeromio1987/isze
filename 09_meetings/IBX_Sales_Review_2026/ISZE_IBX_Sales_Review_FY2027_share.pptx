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ISZE  ·  BELGIUM  ·  IBX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331720"/>
            <a:ext cx="96012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A1A1A"/>
                </a:solidFill>
                <a:latin typeface="Calibri"/>
              </a:rPr>
              <a:t>Benelux Sales Review
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434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A5A5A"/>
                </a:solidFill>
                <a:latin typeface="Calibri"/>
              </a:rPr>
              <a:t>Isuzu Benelux  ·  August 2026</a:t>
            </a:r>
          </a:p>
        </p:txBody>
      </p:sp>
      <p:pic>
        <p:nvPicPr>
          <p:cNvPr id="6" name="Picture 5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897880"/>
            <a:ext cx="2204720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IBX MEETING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category movers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Steering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Brake parts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Fuel system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where volume grew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New Business — validation queue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Sales-to-Dealer Outlook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GPS Capture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Service-Parts Coverage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IDS 2026 — Dealer Standard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Fleet &amp; FY2027 Target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SPA — status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R&amp;M — market discussion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Data request: part-level Sales-to-Dealer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Parts Performance — CY H1 2026 vs CY H1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  <p:pic>
        <p:nvPicPr>
          <p:cNvPr id="8" name="Picture 7" descr="category_mov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Parts billing EUR 1,235K against EUR 1,057K a year earlier — +16.8%. After EUR 25K of credit notes the net figure is EUR 1,209K.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Biggest declines: Steering EUR -54K; Brake parts EUR -9K; Fuel system EUR -4K.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Growing: Body parts +36%, Exhaust +85%, Electrical sensors +38%.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CY H1 2026 against CY H1 2025 (calendar Jan–Jun, Q1+Q2) — like-for-like half-year cut.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STEERING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Steering — CY H1 2026 vs CY H1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EUR 96,368 (CY H1 2025) to EUR 42,053 (CY H1 2026), down EUR 54,315 (-56%).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7552348290 (STEERING UNIT): EUR 75,208 to EUR 16,010, 29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this pricing against what the dealers can buy locally?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any of this stock timing on your side rather than end demand?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What would make the biggest difference to keep this business with us?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BRAKE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Brake parts — CY H1 2026 vs CY H1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EUR 90,882 (CY H1 2025) to EUR 81,978 (CY H1 2026), down EUR 8,904 (-10%).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5878316930 (SHOE KIT; BRAKE,RR): EUR 12,755 to EUR 0, 62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8975546610 (PAD KIT; CALIPER,DISC BRK,FRT): EUR 9,648 to EUR 5,842, 44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5876102280 (LINING KIT; RR BRAKE): EUR 3,276 to EUR 0, 57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pad and rotor pricing competitive against what the dealers can buy locally?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any of this stock timing on your side rather than end demand?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Are dealers still quoting these part numbers, or have they dropped off the workshop menu?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FUEL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Fuel system — CY H1 2026 vs CY H1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EUR 9,894 (CY H1 2025) to EUR 5,766 (CY H1 2026), down EUR 4,128 (-42%).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this pricing against what the dealers can buy locally?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any of this stock timing on your side rather than end demand?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What would make the biggest difference to keep this business with us?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GROWTH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Where volume grew — CY H1 2026 vs CY H1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80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73152" marR="73152" anchor="ctr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marL="73152" marR="73152" anchor="ctr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CY H1 2025</a:t>
                      </a:r>
                    </a:p>
                  </a:txBody>
                  <a:tcPr marL="73152" marR="73152" anchor="ctr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CY H1 2026</a:t>
                      </a:r>
                    </a:p>
                  </a:txBody>
                  <a:tcPr marL="73152" marR="73152" anchor="ctr">
                    <a:solidFill>
                      <a:srgbClr val="CC0E1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8978461152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GLASS; WINDSHIELD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697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18,240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8981776324</a:t>
                      </a:r>
                    </a:p>
                  </a:txBody>
                  <a:tcPr marL="73152" marR="73152" anchor="ctr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DPD ASM</a:t>
                      </a:r>
                    </a:p>
                  </a:txBody>
                  <a:tcPr marL="73152" marR="73152" anchor="ctr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4,136</a:t>
                      </a:r>
                    </a:p>
                  </a:txBody>
                  <a:tcPr marL="73152" marR="73152" anchor="ctr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11,992</a:t>
                      </a:r>
                    </a:p>
                  </a:txBody>
                  <a:tcPr marL="73152" marR="73152" anchor="ctr">
                    <a:solidFill>
                      <a:srgbClr val="EC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8975554500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FILTER; BLOWER UNIT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9,783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16,468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7552348280</a:t>
                      </a:r>
                    </a:p>
                  </a:txBody>
                  <a:tcPr marL="73152" marR="73152" anchor="ctr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STEERING UNIT</a:t>
                      </a:r>
                    </a:p>
                  </a:txBody>
                  <a:tcPr marL="73152" marR="73152" anchor="ctr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2,123</a:t>
                      </a:r>
                    </a:p>
                  </a:txBody>
                  <a:tcPr marL="73152" marR="73152" anchor="ctr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8,352</a:t>
                      </a:r>
                    </a:p>
                  </a:txBody>
                  <a:tcPr marL="73152" marR="73152" anchor="ctr">
                    <a:solidFill>
                      <a:srgbClr val="EC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8983682091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PIPE; EXH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2,725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7,917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963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8983320764</a:t>
                      </a:r>
                    </a:p>
                  </a:txBody>
                  <a:tcPr marL="73152" marR="73152" anchor="ctr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DPD ASM</a:t>
                      </a:r>
                    </a:p>
                  </a:txBody>
                  <a:tcPr marL="73152" marR="73152" anchor="ctr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2,283</a:t>
                      </a:r>
                    </a:p>
                  </a:txBody>
                  <a:tcPr marL="73152" marR="73152" anchor="ctr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6,849</a:t>
                      </a:r>
                    </a:p>
                  </a:txBody>
                  <a:tcPr marL="73152" marR="73152" anchor="ctr">
                    <a:solidFill>
                      <a:srgbClr val="EC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3840480"/>
            <a:ext cx="11612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Body parts +36%, Exhaust +85%, Electrical sensors +38% — where the volume went.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Several of these are the kind of item that also moves on a campaign or claim. Belgium CY2025 warranty parts (claim-price basis) were EUR 75K — separate from fiscal GPS warranty expense. Do not read this growth list as purely commercial without checking claims together.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Worth agreeing which of these are repeatable and which were one-off.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New Business — validation queue (CY H1 2026)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73152" marR="73152" anchor="ctr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marL="73152" marR="73152" anchor="ctr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Current sales</a:t>
                      </a:r>
                    </a:p>
                  </a:txBody>
                  <a:tcPr marL="73152" marR="73152" anchor="ctr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Review</a:t>
                      </a:r>
                    </a:p>
                  </a:txBody>
                  <a:tcPr marL="73152" marR="73152" anchor="ctr">
                    <a:solidFill>
                      <a:srgbClr val="CC0E1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8978461162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GLASS; WINDSHIELD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19,705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7552283750</a:t>
                      </a:r>
                    </a:p>
                  </a:txBody>
                  <a:tcPr marL="73152" marR="73152" anchor="ctr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TRANSFER ASM</a:t>
                      </a:r>
                    </a:p>
                  </a:txBody>
                  <a:tcPr marL="73152" marR="73152" anchor="ctr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8,010</a:t>
                      </a:r>
                    </a:p>
                  </a:txBody>
                  <a:tcPr marL="73152" marR="73152" anchor="ctr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marL="73152" marR="73152" anchor="ctr">
                    <a:solidFill>
                      <a:srgbClr val="EC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7552348310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STEERING UNIT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4,918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8978725102</a:t>
                      </a:r>
                    </a:p>
                  </a:txBody>
                  <a:tcPr marL="73152" marR="73152" anchor="ctr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PANEL; SIDE OUTER</a:t>
                      </a:r>
                    </a:p>
                  </a:txBody>
                  <a:tcPr marL="73152" marR="73152" anchor="ctr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3,741</a:t>
                      </a:r>
                    </a:p>
                  </a:txBody>
                  <a:tcPr marL="73152" marR="73152" anchor="ctr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marL="73152" marR="73152" anchor="ctr">
                    <a:solidFill>
                      <a:srgbClr val="EC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8983042280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TRANSMISSION ASM; AUTO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3,656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8981596930</a:t>
                      </a:r>
                    </a:p>
                  </a:txBody>
                  <a:tcPr marL="73152" marR="73152" anchor="ctr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ELEMENT KIT; FUEL FILTER</a:t>
                      </a:r>
                    </a:p>
                  </a:txBody>
                  <a:tcPr marL="73152" marR="73152" anchor="ctr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3,508</a:t>
                      </a:r>
                    </a:p>
                  </a:txBody>
                  <a:tcPr marL="73152" marR="73152" anchor="ctr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marL="73152" marR="73152" anchor="ctr">
                    <a:solidFill>
                      <a:srgbClr val="EC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069080"/>
            <a:ext cx="11612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These lines had no prior-period sales, so they are kept out of the incremental-growth 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 first sale can be a new model, a supersession, timing, or a warranty campaign. It is not treated as a commercial win until that cause is confirmed.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SALES-TO-DEALER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Sales-to-Dealer outlook — FY2027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881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FY2026 Sales-to-Dealer is EUR 6,834,272 (reported KPI).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The working fleet movement into FY2027 is -3.2%.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Applying fleet movement, the 5% price adjustment and 1.8% additional growth gives a FY2027 Sales-to-Dealer target of EUR 7,074,416.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The discussion is held in Sales-to-Dealer amounts; ISZE billing remains an internal reconciliation measure.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GPS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GPS Capture: 85.2%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GPS measures your actual parts purchases against the full potential of your fleet.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Benelux today: 85.2% (FY2026 purchases against the CY2025 fleet potential).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Fleet potential: EUR 2,454K on 9,593 vehicles.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Real, sustained headroom above 85.2% — the service-parts and SPA discussion are both direct levers on 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SERVICE-PARTS COVERAGE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Service-parts coverage: fuel filter is the clear gap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11</a:t>
            </a:r>
          </a:p>
        </p:txBody>
      </p:sp>
      <p:pic>
        <p:nvPicPr>
          <p:cNvPr id="8" name="Picture 7" descr="p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050572"/>
            <a:ext cx="7178040" cy="316833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Fuel filter 26.2% against 47.9%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Brake rotor 46.7% against 55.0%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Every market here is measured on the same fleet-and-interval model, so the comparison is like-for-like even where the underlying interval assumption is debatable.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Worth agreeing which category we tackle first, and what the joint action is.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IDS 2026 — DEALER STANDARD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IDS 2026: Benelux averages 78.6%, above the 74.8% network benchmark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92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Dealer</a:t>
                      </a:r>
                    </a:p>
                  </a:txBody>
                  <a:tcPr marL="73152" marR="73152" anchor="ctr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Total %</a:t>
                      </a:r>
                    </a:p>
                  </a:txBody>
                  <a:tcPr marL="73152" marR="73152" anchor="ctr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Global rank</a:t>
                      </a:r>
                    </a:p>
                  </a:txBody>
                  <a:tcPr marL="73152" marR="73152" anchor="ctr">
                    <a:solidFill>
                      <a:srgbClr val="CC0E1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Pashuysen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95.7%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#23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Sud Motor Huy</a:t>
                      </a:r>
                    </a:p>
                  </a:txBody>
                  <a:tcPr marL="73152" marR="73152" anchor="ctr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92.9%</a:t>
                      </a:r>
                    </a:p>
                  </a:txBody>
                  <a:tcPr marL="73152" marR="73152" anchor="ctr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#47</a:t>
                      </a:r>
                    </a:p>
                  </a:txBody>
                  <a:tcPr marL="73152" marR="73152" anchor="ctr">
                    <a:solidFill>
                      <a:srgbClr val="EC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Sud Motor Marche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92.9%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#48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Benelux country average</a:t>
                      </a:r>
                    </a:p>
                  </a:txBody>
                  <a:tcPr marL="73152" marR="73152" anchor="ctr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78.6%</a:t>
                      </a:r>
                    </a:p>
                  </a:txBody>
                  <a:tcPr marL="73152" marR="73152" anchor="ctr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anchor="ctr">
                    <a:solidFill>
                      <a:srgbClr val="EC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Network average (all IDS 2026)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74.8%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Delfosse</a:t>
                      </a:r>
                    </a:p>
                  </a:txBody>
                  <a:tcPr marL="73152" marR="73152" anchor="ctr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60.7%</a:t>
                      </a:r>
                    </a:p>
                  </a:txBody>
                  <a:tcPr marL="73152" marR="73152" anchor="ctr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#460</a:t>
                      </a:r>
                    </a:p>
                  </a:txBody>
                  <a:tcPr marL="73152" marR="73152" anchor="ctr">
                    <a:solidFill>
                      <a:srgbClr val="EC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Degroote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57.1%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#466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Fayt</a:t>
                      </a:r>
                    </a:p>
                  </a:txBody>
                  <a:tcPr marL="73152" marR="73152" anchor="ctr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55.4%</a:t>
                      </a:r>
                    </a:p>
                  </a:txBody>
                  <a:tcPr marL="73152" marR="73152" anchor="ctr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#472</a:t>
                      </a:r>
                    </a:p>
                  </a:txBody>
                  <a:tcPr marL="73152" marR="73152" anchor="ctr">
                    <a:solidFill>
                      <a:srgbClr val="EC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160520"/>
            <a:ext cx="11612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34 dealers assessed across Premises, Organisation, Service, Parts and Vehicle Sales.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The country average sits 3.8 points above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The spread is the point: 40 points between the strongest and weakest dealer.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Dealer-by-dealer detail and individual feedback are available as a separate pack — worth agreeing which dealers to visit, and when.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The fleet is expected to decline in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13</a:t>
            </a:r>
          </a:p>
        </p:txBody>
      </p:sp>
      <p:pic>
        <p:nvPicPr>
          <p:cNvPr id="8" name="Picture 7" descr="u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WHAT THIS MEANS FOR FY2027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Fleet size (calendar year): 9,593 vehicles in 2025 → 9,290 working estimate for end-2026 (-3.2%).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chart is calendar years 2019–2026 only. 2026 is a working year-end estimate, not a fiscal-year figure.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End-2026 mix: LCV / D-Max 9,154; CV — LD 136.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FY2027 Sales-to-Dealer target starts from that fleet change, then applies a 5% price adjustment and 1.8% additional growth.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So the target is built from a slightly smaller fleet — not from an assumed growth story.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How the FY2027 target is built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170432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Sales-to-Dealer amount bridge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92608" y="1508760"/>
          <a:ext cx="859536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marL="73152" marR="73152" anchor="ctr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Amount</a:t>
                      </a:r>
                    </a:p>
                  </a:txBody>
                  <a:tcPr marL="73152" marR="73152" anchor="ctr">
                    <a:solidFill>
                      <a:srgbClr val="CC0E1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FY2026 Sales-to-Dealer (reported KPI)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6,834,272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After fleet movement (-3.2%)</a:t>
                      </a:r>
                    </a:p>
                  </a:txBody>
                  <a:tcPr marL="73152" marR="73152" anchor="ctr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6,618,408</a:t>
                      </a:r>
                    </a:p>
                  </a:txBody>
                  <a:tcPr marL="73152" marR="73152" anchor="ctr">
                    <a:solidFill>
                      <a:srgbClr val="EC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After price adjustment (+5%)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6,949,328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FY2027 target after additional growth (+1.8%)</a:t>
                      </a:r>
                    </a:p>
                  </a:txBody>
                  <a:tcPr marL="73152" marR="73152" anchor="ctr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EUR 7,074,416</a:t>
                      </a:r>
                    </a:p>
                  </a:txBody>
                  <a:tcPr marL="73152" marR="73152" anchor="ctr">
                    <a:solidFill>
                      <a:srgbClr val="EC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292608" y="3977639"/>
            <a:ext cx="11612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The FY2027 target is +3.5% versus the FY2026 Sales-to-Dealer base.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The FY2026 base is the reported Sales-to-Dealer KPI.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What the FY2027 target reflects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54864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Your fleet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working fleet movement used in the target is -3.2%.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234440"/>
            <a:ext cx="59436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14476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43560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The price move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2011680"/>
            <a:ext cx="5394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is applying a 5% price adjustment for FY2027, consistent with every ISZE market this year.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It is built into the per-vehicle rate above, not added separately on top.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" y="347472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What it means for your target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292608" y="3785615"/>
          <a:ext cx="859536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marL="73152" marR="73152" anchor="ctr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73152" marR="73152" anchor="ctr">
                    <a:solidFill>
                      <a:srgbClr val="CC0E1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FY2027 Sales-to-Dealer target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7,074,416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vs FY2026 Sales-to-Dealer (EUR 6,834,272)</a:t>
                      </a:r>
                    </a:p>
                  </a:txBody>
                  <a:tcPr marL="73152" marR="73152" anchor="ctr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+3.5%</a:t>
                      </a:r>
                    </a:p>
                  </a:txBody>
                  <a:tcPr marL="73152" marR="73152" anchor="ctr">
                    <a:solidFill>
                      <a:srgbClr val="EC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292608" y="5074920"/>
            <a:ext cx="116128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As in previous cycles we would expect an incentive to sit alongside this adjustment — that approval is still pending on our side.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Until the incentive is confirmed, treat the FY2027 target as the working bridge (fleet × price × additional growth), not a locked commercial commitment.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SPA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SPA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IBX proposal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Isuzu Benelux submits a proposed parts list.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27832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3429000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0792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ISZE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reviews the proposal against network data and fit.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6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6364224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86016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Counter-proposal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5664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returns a counter-proposal where needed.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98280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929944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21240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Final approval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90888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Signed off by ISZE management.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" y="45720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Purpose: higher turnover for both sides.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R&amp;M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R&amp;M — let's align on the market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188720"/>
            <a:ext cx="54864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493776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38988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Market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965960"/>
            <a:ext cx="4937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is the market moving for you right now?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much of your volume is fleet business rather than retail?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do you see the biggest hurdles this year?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are your real strengths in this segment?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188720"/>
            <a:ext cx="59436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144768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38988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Servicing &amp; R&amp;M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1965960"/>
            <a:ext cx="53949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 you offer an R&amp;M or service-plan product today?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share of the parc do you retain for servicing after year three?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Does R&amp;M business come bundled with fleet tenders — roughly what share?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would it take to bring more out-of-network servicing back?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Part-level Sales-to-Dealer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Already halfway there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You already report Sales-to-Dealer monthly. The ask is the same data at part-number level.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8736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428853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1032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Sharper insight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997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Part-by-part visibility separates a stock movement from a lost job — and tells us where the volume actually went.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82127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8083295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05087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Shared benefit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74735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Better availability on your fast movers, a sharper target for us, and a factual basis for the SPA — same data, both sides gain.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" y="38862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Requested from 01/01/2025, part number level, monthly.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Next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1612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Confirm FY2027 Sales-to-Dealer target: EUR 7,074,416 (+3.5% vs FY2026 Sales-to-Dealer).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Confirm the incentive alongside the price adjustment once approved on our side.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Steering / Brake parts / Fuel system: agree which category we tackle first, and what the joint action is.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Agree part-level Sales-to-Dealer data sharing, effective 01/01/2025.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SPA: IBX proposal, ISZE review and counter-proposal cycle to follow.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IDS 2026: agree dealer visit dates, starting with the lower-scoring dealers.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0" y="306324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A5A5A"/>
                </a:solidFill>
                <a:latin typeface="Calibri"/>
              </a:rPr>
              <a:t>Moving the World – for You</a:t>
            </a:r>
          </a:p>
        </p:txBody>
      </p:sp>
      <p:pic>
        <p:nvPicPr>
          <p:cNvPr id="4" name="Picture 3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1436" y="2468880"/>
            <a:ext cx="2926080" cy="509704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BENELUX · ISUZU BENELUX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Deep dive — detail behind the Mode A story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32588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Extra detail for meeting prep — pick which slides to share with Isuzu Benelux.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Mode A ends on the previous closing slide.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Label in all charts: “Genuine with BVP alternative” (not “genuine contested”).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IBX GPS % can look high because billing covers BE/NL/PL/LUX while the wallet denominator is Belgium-only — say so when quoting %.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Deep-dive 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GPS — fiscal year (headline vs excl. warranty; max two lines)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FY2025 → FY2026 wallet mix (Genuine / Genuine with BVP alternative / BVP)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Where the money went — outside the service-parts basket (FY)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Service parts: CY capture vs network + FY billing (capture % is CY-only by design)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Brake pads — BVP share of total brake pad sales (FY)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AIM exposure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Warranty — two lenses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How to use this in the meeting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GPS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GPS: fiscal year headline vs after warranty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23</a:t>
            </a:r>
          </a:p>
        </p:txBody>
      </p:sp>
      <p:pic>
        <p:nvPicPr>
          <p:cNvPr id="8" name="Picture 7" descr="modeb_g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Red = fiscal-year GPS (frozen CY2025 wallet). FY25 90.9% → FY26 85.2%.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Black = fiscal GPS after removing warranty parts (€). FY26 ≈ 81.8% (warranty EUR 83,007 ≈ 4% of FY26 billing).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Fleet 9,593 → 9,290 (working year-end estimate under the FY2027 target).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ISUZU BENELUX NV bills for BE/NL/PL/LUX but the FY27 max spend uses the BELGIUM UIO rows only. GPS 95-98% is therefore likely OVERSTATED — numerator covers a parc the denominator excludes. Do not present the % without stating that, or widen the denominator first (UIO rows NL 30/31/32, LUX 36/37/38, Poland 69).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WALLET MIX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FY2025 → FY2026 wallet mix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24</a:t>
            </a:r>
          </a:p>
        </p:txBody>
      </p:sp>
      <p:pic>
        <p:nvPicPr>
          <p:cNvPr id="8" name="Picture 7" descr="modeb_fy_wall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323369"/>
            <a:ext cx="6949440" cy="293110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06640" y="1234440"/>
            <a:ext cx="42976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Total EUR 2,338,748 → EUR 2,203,112 (-5.8%).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Genuine only EUR -94,412.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Genuine with BVP alternative EUR -31,022; BVP EUR -10,202 (3.4% of FY26 wallet).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Display label locked: Genuine with BVP alternative.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WALLET MIX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FY wallet mix — detail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34440"/>
          <a:ext cx="114300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marL="73152" marR="73152" anchor="ctr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FY2025</a:t>
                      </a:r>
                    </a:p>
                  </a:txBody>
                  <a:tcPr marL="73152" marR="73152" anchor="ctr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FY2026</a:t>
                      </a:r>
                    </a:p>
                  </a:txBody>
                  <a:tcPr marL="73152" marR="73152" anchor="ctr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Δ</a:t>
                      </a:r>
                    </a:p>
                  </a:txBody>
                  <a:tcPr marL="73152" marR="73152" anchor="ctr">
                    <a:solidFill>
                      <a:srgbClr val="CC0E1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2,338,748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2,203,112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-135,636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Genuine only</a:t>
                      </a:r>
                    </a:p>
                  </a:txBody>
                  <a:tcPr marL="73152" marR="73152" anchor="ctr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2,092,144</a:t>
                      </a:r>
                    </a:p>
                  </a:txBody>
                  <a:tcPr marL="73152" marR="73152" anchor="ctr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1,997,733</a:t>
                      </a:r>
                    </a:p>
                  </a:txBody>
                  <a:tcPr marL="73152" marR="73152" anchor="ctr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-94,412</a:t>
                      </a:r>
                    </a:p>
                  </a:txBody>
                  <a:tcPr marL="73152" marR="73152" anchor="ctr">
                    <a:solidFill>
                      <a:srgbClr val="EC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Genuine with BVP alternative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160,541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129,519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-31,022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BVP</a:t>
                      </a:r>
                    </a:p>
                  </a:txBody>
                  <a:tcPr marL="73152" marR="73152" anchor="ctr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86,063</a:t>
                      </a:r>
                    </a:p>
                  </a:txBody>
                  <a:tcPr marL="73152" marR="73152" anchor="ctr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75,861</a:t>
                      </a:r>
                    </a:p>
                  </a:txBody>
                  <a:tcPr marL="73152" marR="73152" anchor="ctr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-10,202</a:t>
                      </a:r>
                    </a:p>
                  </a:txBody>
                  <a:tcPr marL="73152" marR="73152" anchor="ctr">
                    <a:solidFill>
                      <a:srgbClr val="EC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BVP % of wallet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3.7%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3.4%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-0.2 pp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DRIVERS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Where the genuine drop sits (FY2025 → FY2026)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1430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Genuine-only sales moved EUR -94,412 from FY2025 to FY2026.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Of that, the routine service basket (filters, pads, rotors) moved EUR -9,608 on genuine-only; BVP in that basket moved EUR 2,350.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So about 90% of the genuine-only drop sits outside routine service parts.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Meeting line: check high-value assemblies / sensors before blaming the filter or pad menu.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DRIVERS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Largest part-number drops (FY24→FY25) — outside service filters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34440"/>
          <a:ext cx="114300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73152" marR="73152" anchor="ctr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marL="73152" marR="73152" anchor="ctr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Δ EUR</a:t>
                      </a:r>
                    </a:p>
                  </a:txBody>
                  <a:tcPr marL="73152" marR="73152" anchor="ctr">
                    <a:solidFill>
                      <a:srgbClr val="CC0E1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8977998750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STEERING UNIT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-34,249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8981776324</a:t>
                      </a:r>
                    </a:p>
                  </a:txBody>
                  <a:tcPr marL="73152" marR="73152" anchor="ctr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DPD ASM</a:t>
                      </a:r>
                    </a:p>
                  </a:txBody>
                  <a:tcPr marL="73152" marR="73152" anchor="ctr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-11,626</a:t>
                      </a:r>
                    </a:p>
                  </a:txBody>
                  <a:tcPr marL="73152" marR="73152" anchor="ctr">
                    <a:solidFill>
                      <a:srgbClr val="EC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8975293230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ENGINE ASM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-11,250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8983759930</a:t>
                      </a:r>
                    </a:p>
                  </a:txBody>
                  <a:tcPr marL="73152" marR="73152" anchor="ctr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ENGINE ASM</a:t>
                      </a:r>
                    </a:p>
                  </a:txBody>
                  <a:tcPr marL="73152" marR="73152" anchor="ctr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-11,244</a:t>
                      </a:r>
                    </a:p>
                  </a:txBody>
                  <a:tcPr marL="73152" marR="73152" anchor="ctr">
                    <a:solidFill>
                      <a:srgbClr val="EC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8983550720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partikel sensor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-10,818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5876150180</a:t>
                      </a:r>
                    </a:p>
                  </a:txBody>
                  <a:tcPr marL="73152" marR="73152" anchor="ctr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FILTER; BLOWER UNIT</a:t>
                      </a:r>
                    </a:p>
                  </a:txBody>
                  <a:tcPr marL="73152" marR="73152" anchor="ctr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-10,118</a:t>
                      </a:r>
                    </a:p>
                  </a:txBody>
                  <a:tcPr marL="73152" marR="73152" anchor="ctr">
                    <a:solidFill>
                      <a:srgbClr val="EC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8980835411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MOLDING; WINDSHIELD,LWR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-6,760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9377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Check warranty / campaign coding before calling competitive leakage.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SERVICE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Service-parts capture vs network (calendar year)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28</a:t>
            </a:r>
          </a:p>
        </p:txBody>
      </p:sp>
      <p:pic>
        <p:nvPicPr>
          <p:cNvPr id="8" name="Picture 7" descr="modeb_p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Capture % is calendar-year (full CY2025). Fleet demand is modelled on calendar years — there is no matching fiscal-year capture 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Oil filter 62.6% vs network 60.4%; Fuel filter 26.2% vs network 47.9%; Air filter 51.7% vs network 52.3%.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Next slide: fiscal-year € billing in the same five categories.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Primary lens = total capture (not genuine-only).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SERVICE PARTS · 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Service-parts billing by fiscal year (same five lines)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29</a:t>
            </a:r>
          </a:p>
        </p:txBody>
      </p:sp>
      <p:pic>
        <p:nvPicPr>
          <p:cNvPr id="8" name="Picture 7" descr="modeb_pms_f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This is Sales-to-Isuzu Benelux € in fiscal years — not capture % of fleet demand.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Use both lenses — do not mix % capture with € billing.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Primary = total sales in the basket.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BRAKES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Brake pads — BVP share of total brake pad sales (FY)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80160"/>
          <a:ext cx="65836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marL="73152" marR="73152" anchor="ctr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FY2025</a:t>
                      </a:r>
                    </a:p>
                  </a:txBody>
                  <a:tcPr marL="73152" marR="73152" anchor="ctr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FY2026</a:t>
                      </a:r>
                    </a:p>
                  </a:txBody>
                  <a:tcPr marL="73152" marR="73152" anchor="ctr">
                    <a:solidFill>
                      <a:srgbClr val="CC0E1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Genuine qty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BVP qty</a:t>
                      </a:r>
                    </a:p>
                  </a:txBody>
                  <a:tcPr marL="73152" marR="73152" anchor="ctr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anchor="ctr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anchor="ctr">
                    <a:solidFill>
                      <a:srgbClr val="EC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BVP share of total brake pad sales (€)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12%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040880" y="1188720"/>
            <a:ext cx="4663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BVP share = BVP € ÷ all brake-pad € billed (genuine + BVP). Not a PMS capture 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Wallet-level BVP is still only ~3.4% of FY26 — do not generalise a pad story to the whole wallet.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AIM exposure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34440"/>
          <a:ext cx="11430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Year</a:t>
                      </a:r>
                    </a:p>
                  </a:txBody>
                  <a:tcPr marL="73152" marR="73152" anchor="ctr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High-risk €</a:t>
                      </a:r>
                    </a:p>
                  </a:txBody>
                  <a:tcPr marL="73152" marR="73152" anchor="ctr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High-risk %</a:t>
                      </a:r>
                    </a:p>
                  </a:txBody>
                  <a:tcPr marL="73152" marR="73152" anchor="ctr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Quadrant</a:t>
                      </a:r>
                    </a:p>
                  </a:txBody>
                  <a:tcPr marL="73152" marR="73152" anchor="ctr">
                    <a:solidFill>
                      <a:srgbClr val="CC0E1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29,155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1.7%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Defend (high GPS - high capture)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73152" marR="73152" anchor="ctr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25,867</a:t>
                      </a:r>
                    </a:p>
                  </a:txBody>
                  <a:tcPr marL="73152" marR="73152" anchor="ctr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1.2%</a:t>
                      </a:r>
                    </a:p>
                  </a:txBody>
                  <a:tcPr marL="73152" marR="73152" anchor="ctr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Defend (high GPS - high capture)</a:t>
                      </a:r>
                    </a:p>
                  </a:txBody>
                  <a:tcPr marL="73152" marR="73152" anchor="ctr">
                    <a:solidFill>
                      <a:srgbClr val="EC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25,745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1.2%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Attach gap (high GPS - low capture)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3749039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High-risk € is catalogue AIM exposure, not proven walk-out.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Open on jobs not bought through the distributor — not a street IAM war alone.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WARRANTY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Warranty — two real lenses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5486400" cy="29260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CY2025 claim-price parts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4937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EUR 74,677 (claim-price basis).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Calendar-year claim price basis.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IBX Belgium only; no CV warranty rows in the source file.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234440"/>
            <a:ext cx="5486400" cy="29260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32764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14356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Fiscal GPS expense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2011680"/>
            <a:ext cx="4937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FY24 EUR 490 · FY25 EUR 25,359 · FY26 EUR 83,007.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Source row: IBX.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Ex-warranty GPS = (net − warranty) ÷ frozen CY25 wallet.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" y="4480560"/>
            <a:ext cx="11430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Both numbers are real — never mix them on one slide without labels.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BRIDGE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How to use this in the meeting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188720"/>
          <a:ext cx="114300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89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9601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If they say…</a:t>
                      </a:r>
                    </a:p>
                  </a:txBody>
                  <a:tcPr marL="73152" marR="73152" anchor="ctr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You know…</a:t>
                      </a:r>
                    </a:p>
                  </a:txBody>
                  <a:tcPr marL="73152" marR="73152" anchor="ctr">
                    <a:solidFill>
                      <a:srgbClr val="CC0E1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601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BVP is eating genuine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Wallet BVP ~3.4%. Check pads as a local exception only.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601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GPS looks fine / too high</a:t>
                      </a:r>
                    </a:p>
                  </a:txBody>
                  <a:tcPr marL="73152" marR="73152" anchor="ctr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FY26 headline 85.2%; excl. warranty ≈ 81.8%. IBX: Belgium-only denominator.</a:t>
                      </a:r>
                    </a:p>
                  </a:txBody>
                  <a:tcPr marL="73152" marR="73152" anchor="ctr">
                    <a:solidFill>
                      <a:srgbClr val="EC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601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Service parts are fine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CY2025 capture vs network (previous slides) + FY billing lens.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0" y="306324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A5A5A"/>
                </a:solidFill>
                <a:latin typeface="Calibri"/>
              </a:rPr>
              <a:t>Moving the World – for You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1436" y="2468880"/>
            <a:ext cx="2926080" cy="50970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2934</Words>
  <Application>Microsoft Office PowerPoint</Application>
  <PresentationFormat>Custom</PresentationFormat>
  <Paragraphs>452</Paragraphs>
  <Slides>34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jerom</dc:creator>
  <cp:keywords/>
  <dc:description>generated using python-pptx</dc:description>
  <cp:lastModifiedBy>Jerome Van Der Pluym</cp:lastModifiedBy>
  <cp:revision>1</cp:revision>
  <dcterms:created xsi:type="dcterms:W3CDTF">2013-01-27T09:14:16Z</dcterms:created>
  <dcterms:modified xsi:type="dcterms:W3CDTF">2026-08-11T04:54:12Z</dcterms:modified>
  <cp:category/>
</cp:coreProperties>
</file>