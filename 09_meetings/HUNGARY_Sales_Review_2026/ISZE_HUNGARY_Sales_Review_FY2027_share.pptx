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HUNGARY  ·  HUNGARY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Hungary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AutoWallis Distribution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HUNGARY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Injectors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Turbo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171K against EUR 169K a year earlier — +0.9%. After EUR 1K of credit notes the net figure is EUR 170K.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Brake parts EUR -9K; Injectors EUR -2K; Turbo EUR -1K.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Air conditioning +39%, Electrical sensors +20%, Body parts +9%.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22,944 (CY H1 2025) to EUR 13,910 (CY H1 2026), down EUR 9,034 (-39%).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8983767550 (ROTOR; DISC BRK,FRT): EUR 11,764 to EUR 5,544, 79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8975056801 (PAD KIT; CALIPER,DISC BRK,FRT): EUR 4,501 to EUR 2,561,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8975546610 (PAD KIT; CALIPER,DISC BRK,FRT): EUR 2,500 to EUR 742, 21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INJECTORS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Injectors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3,090 (CY H1 2025) to EUR 1,525 (CY H1 2026), down EUR 1,565 (-51%).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8983842670 (INJECTOR ASM; DEF DCM): EUR 2,051 to EUR 632, 9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failures, or repairs moving out of the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exchange/reman route competing with new parts here?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TURBO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Turbo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1,059 (CY H1 2025) to EUR 12 (CY H1 2026), down EUR 1,047 (-99%).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turbo failures, or jobs moving to independents?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reman / exchange competing with new units on price or lead time?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Any availability problems on the fast-moving turbo lines?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5,153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8,390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1884057520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 AXLE OIL  20L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1,703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3,801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19,839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21,823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8975595830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2,130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8983320160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8978249035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338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Air conditioning +39%, Electrical sensors +20%, Body parts +9%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Hungary CY2025 warranty parts (claim-price basis) were EUR 77K — separate from fiscal GPS warranty expense. Do not read this growth list as purely commercial without checking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8984890171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1,955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8978725102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OUTER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1,422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8983842610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COMPRESSOR ASM; A/C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1,195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8980803191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GUARD ASM;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5876150610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532,687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-2.4%.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555,817.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37.1%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Hungary today: 37.1%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934K on 3,734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37.1%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18.8% against 47.3%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36.1% against 54.9%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Hungary averages 86.2%,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Zakar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Csősz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Tipp-Autó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Hungary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86.2%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Autó Caro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#358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Marsal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Bonus Kft.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66.8%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11.4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32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3,734 vehicles in 2025 → 3,645 working estimate for end-2026 (-2.4%).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532,687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(-2.4%)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519,990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545,989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555,817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+4.3%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-2.4%.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555,817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532,687)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HUNGARY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AutoWallis Distribution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555,817 (+4.3%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Injectors / Turbo: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HUNGARY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HUNGARY · AUTOWALLIS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Extra detail for the meeting prep — pick which slides to share with AutoWallis.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CC0E1E"/>
                </a:solidFill>
                <a:latin typeface="Calibri"/>
              </a:rPr>
              <a:t>—  </a:t>
            </a:r>
            <a:r>
              <a:rPr sz="16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&amp; fleet — calendar year and fiscal year on one chart (incl. warranty)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calendar-year capture vs network + our fiscal-year billing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local BVP substitution (BVP share of pad sales)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is not the open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calendar year, fiscal year, and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line = calendar-year GPS (wallet). Peaked at 42.0% in 2024, then 35.4% in 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line = fiscal-year GPS (same frozen CY2025 wallet). FY26 headline is 37.1%.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Grey line = fiscal GPS after removing warranty parts (€). FY26 falls to ≈26% — that is the commercial capture behind the 37% headline.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stayed ~3.7k vehicles — we sold less into the same park, not a bigger park.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FY2026: drop is Genuine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379,407 → EUR 349,882 (-7.8%).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-31,719 — essentially the whole drop.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flat; BVP +€2K (3.5% of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Not a wallet-wide trade-down into BVP.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379,407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349,882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-29,525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331,753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300,034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-31,719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37,959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37,733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-226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9,694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12,115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+0.9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3891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 (catalogue pair exists) — never “genuine contested” in slides.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 totals are sales_fact all-parts (slightly above GPS-filtered net).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Almost all of the genuine drop sits outside routine service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In calendar 2025 we lost about €64K of genuine-only sales vs the year before. Only ~€1.7K of that sat in the routine service basket (filters, pads, rotors).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Inside that service basket, Best Value Parts (BVP) actually grew (+€5.8K) and the basket as a whole was up — filters and brakes are not the hole.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 big losses were elsewhere: soot / PM sensors (−€19K), engine assemblies (−€21K), and steering / transmission / DPD (−€13K).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Meanwhile brakes were up +31% in fiscal year, filters +6%, body +3%, AC +16%.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Meeting line: the money left on sensors and big assemblies — not on the oil-filter / pad menu.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 → FY25) — not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−14,759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8978808250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SENSOR; PM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−9,624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8978808270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SENSOR; PM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−9,356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8976671380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ASM; PARTIAL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−5,874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−4,596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8983939000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AUTO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−3,485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8975359391 / 8983320764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−4,372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754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These are lumpy, high-value lines. Check warranty / campaign coding before calling them competitive leakage.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still trails the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a calendar-year measure (full CY2025). We do not have a matching fiscal-year capture % — fleet demand is modelled on calendar years.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18.8% vs network 47.3%; pad 15.6% vs 29.8%; rotor 36.1% vs 54.9%.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our fiscal-year € billing in the same five categories — so you still see FY25 vs FY26 for what we actually invoiced.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(everything sold in the basket), not genuine-only.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Sales-to-AutoWallis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Most of these lines held or grew in FY26 (rotors especially) even while calendar-year capture still sits below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So: short on share of jobs vs peers (previous slide); not a collapse of our filter/brake invoice book in FY.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in the meeting — do not mix % capture with € billing.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local BVP substitution (exception)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Total pad volume rose — demand did not disappear.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Genuine traded into BVP inside our catalogue on pads.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BVP share here = BVP € ÷ all brake-pad € we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not generalise to the whole wallet: BVP is still only ~3.5% of FY26.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H1’26 genuine brake billing (−39%) is a separate, later cut — keep FY and H1 distinct.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is not the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€12.8K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€10.3K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€7.0K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Priority target = low GPS × low PMS capture — every year.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Eucon undercut exposure (~€86K) is catalogue risk, not observed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leakage_band ≈ €42K. No Hungary dealer-sellout AIM layer exists.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AutoWallis — not a street IAM war.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€77,434 (Warranty_CY2025_by_DB).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Used on Mode A growth caveat.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FY24 €225 · FY25 €26K · FY26 €102K.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≈30% of FY26 billing.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≈ 26% on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PM-sensor collapse (CY25) + warranty spike (FY26): ask claims/logging before asserting quality.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~3.5%. Drop is Genuine only. Pads = local exception (BVP share of pad sales).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IAM / AIM is killing us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High-risk €7K / 2.1%. Priority target = capture failure.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37% GPS looks OK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Ex-warranty ~26%. Warranty €102K = 30% of FY26 bill.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The fleet is growing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Working estimate 3,645 (−2.4%). Never the old 3,992 figure.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 capture still short vs network; FY billing in filters/brakes held — 2025 wallet hole was sensors/assemblies.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