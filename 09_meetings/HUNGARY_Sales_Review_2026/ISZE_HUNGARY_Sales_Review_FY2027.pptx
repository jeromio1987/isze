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ISZE  ·  HUNGARY  ·  HUNGARY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331720"/>
            <a:ext cx="9601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Calibri"/>
              </a:rPr>
              <a:t>Hungary Sales Review
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5A5A"/>
                </a:solidFill>
                <a:latin typeface="Calibri"/>
              </a:rPr>
              <a:t>AutoWallis Distribution  ·  August 2026</a:t>
            </a:r>
          </a:p>
        </p:txBody>
      </p:sp>
      <p:pic>
        <p:nvPicPr>
          <p:cNvPr id="6" name="Picture 5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897880"/>
            <a:ext cx="2204720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HUNGARY MEETING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category movers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Brake parts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Injectors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Turbo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where volume grew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New Business — validation queue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Sales-to-Dealer Outlook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GPS Capture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Service-Parts Coverage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IDS 2026 — Dealer Standard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Fleet &amp; FY2027 Target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SPA — status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R&amp;M — market discussion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Data request: part-level Sales-to-Dealer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Parts Performance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pic>
        <p:nvPicPr>
          <p:cNvPr id="8" name="Picture 7" descr="category_mov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Parts billing EUR 171K against EUR 169K a year earlier — +0.9%. After EUR 1K of credit notes the net figure is EUR 170K.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Biggest declines: Brake parts EUR -9K; Injectors EUR -2K; Turbo EUR -1K.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Growing: Air conditioning +39%, Electrical sensors +20%, Body parts +9%.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CY H1 2026 against CY H1 2025 (calendar Jan–Jun, Q1+Q2) — like-for-like half-year cut.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BRAKE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Brake parts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EUR 22,944 (CY H1 2025) to EUR 13,910 (CY H1 2026), down EUR 9,034 (-39%).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8983767550 (ROTOR; DISC BRK,FRT): EUR 11,764 to EUR 5,544, 79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8975056801 (PAD KIT; CALIPER,DISC BRK,FRT): EUR 4,501 to EUR 2,561, 23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8975546610 (PAD KIT; CALIPER,DISC BRK,FRT): EUR 2,500 to EUR 742, 21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pad and rotor pricing competitive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dealers still quoting these part numbers, or have they dropped off the workshop menu?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INJECTORS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Injectors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EUR 3,090 (CY H1 2025) to EUR 1,525 (CY H1 2026), down EUR 1,565 (-51%).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8983842670 (INJECTOR ASM; DEF DCM): EUR 2,051 to EUR 632, 9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fewer failures, or repairs moving out of the network?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the exchange/reman route competing with new parts here?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dealers still quoting these part numbers, or have they dropped off the workshop menu?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TURBO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Turbo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EUR 1,059 (CY H1 2025) to EUR 12 (CY H1 2026), down EUR 1,047 (-99%).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fewer turbo failures, or jobs moving to independents?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reman / exchange competing with new units on price or lead time?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Any availability problems on the fast-moving turbo lines?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volume grew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480560"/>
                <a:gridCol w="2468880"/>
                <a:gridCol w="246888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CY H1 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CY H1 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8974995480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FILTER; ACL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5,153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8,390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1884057520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T AXLE OIL  20L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1,703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3,801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7552348290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STEERING UNIT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19,839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21,823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8975595830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PANEL; SIDE GATE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430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2,130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8983320160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VALVE; EGR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220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1,397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8978249035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LAMP ASM; HEAD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338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1,313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840480"/>
            <a:ext cx="11612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Air conditioning +39%, Electrical sensors +20%, Body parts +9% — where the volume went.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Several of these are the kind of item that also moves on a campaign or claim. Hungary CY2025 warranty parts (claim-price basis) were EUR 77K — separate from fiscal GPS warranty expense. Do not read this growth list as purely commercial without checking claims together.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Worth agreeing which of these are repeatable and which were one-off.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New Business — validation queue (CY H1 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023360"/>
                <a:gridCol w="2194560"/>
                <a:gridCol w="3200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Current sales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Review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8984890171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PUMP ASM; FUEL,SUPPLY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1,955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7552689700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PUMP; WATER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1,751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8978725102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PANEL; SIDE OUTER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1,422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8983842610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COMPRESSOR ASM; A/C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1,195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8980803191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GUARD ASM; RR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1,185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5876150610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PAD KIT; CALIPER,DISC BRK,FRT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1,152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069080"/>
            <a:ext cx="11612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These lines had no prior-period sales, so they are kept out of the incremental-growth 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 first sale can be a new model, a supersession, timing, or a warranty campaign. It is not treated as a commercial win until that cause is confirmed.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SALES-TO-DEALER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Sales-to-Dealer outlook — FY2027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881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FY2026 Sales-to-Dealer is EUR 532,687 (working estimate).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working fleet movement into FY2027 is -2.4%.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Applying fleet movement, the 5% price adjustment and 1.8% additional growth gives a FY2027 Sales-to-Dealer target of EUR 555,817.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discussion is held in Sales-to-Dealer amounts; ISZE billing remains an internal reconciliation measure.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 Capture: 37.1%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GPS measures your actual parts purchases against the full potential of your fleet.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Hungary today: 37.1% (FY2026 purchases against the CY2025 fleet potential).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Fleet potential: EUR 934K on 3,734 vehicles.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Real, sustained headroom above 37.1% — the service-parts and SPA discussion are both direct levers on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SERVICE-PARTS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coverage sits below the network on every routine category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pic>
        <p:nvPicPr>
          <p:cNvPr id="8" name="Picture 7" descr="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50572"/>
            <a:ext cx="7178040" cy="316833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Fuel filter 18.8% against 47.3%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Brake rotor 36.1% against 54.9%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Every market here is measured on the same fleet-and-interval model, so the comparison is like-for-like even where the underlying interval assumption is debatable.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Worth agreeing which category we tackle first, and what the joint action 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IDS 2026 — DEALER STANDARD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IDS 2026: Hungary averages 86.2%, above the 74.8% network benchmark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92240"/>
                <a:gridCol w="2560320"/>
                <a:gridCol w="2560320"/>
              </a:tblGrid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Dealer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Total %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Global rank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Zakar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99.3%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Csősz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96.4%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#18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Tipp-Autó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95.0%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#27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Hungary country average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86.2%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Network average (all IDS 2026)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74.8%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Autó Caro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74.3%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#358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Marsal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69.3%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#409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Bonus Kft.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66.8%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#425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160520"/>
            <a:ext cx="11612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19 dealers assessed across Premises, Organisation, Service, Parts and Vehicle Sales.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country average sits 11.4 points above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spread is the point: 32 points between the strongest and weakest dealer.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Dealer-by-dealer detail and individual feedback are available as a separate pack — worth agreeing which dealers to visit, and when.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The fleet is expected to decline in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pic>
        <p:nvPicPr>
          <p:cNvPr id="8" name="Picture 7" descr="u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WHAT THIS MEANS FOR FY2027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Fleet size (calendar year): 3,734 vehicles in 2025 → 3,645 working estimate for end-2026 (-2.4%).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chart is calendar years 2019–2026 only. 2026 is a working year-end estimate, not a fiscal-year figure.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FY2027 Sales-to-Dealer target starts from that fleet change, then applies a 5% price adjustment and 1.8% additional growth.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So the target is built from a slightly smaller fleet — not from an assumed growth story.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the FY2027 target is built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170432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Sales-to-Dealer amount bridge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92608" y="1508760"/>
          <a:ext cx="859536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926080"/>
              </a:tblGrid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FY2026 Sales-to-Dealer (working estimate)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532,687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fleet movement (-2.4%)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519,990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price adjustment (+5%)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545,989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FY2027 target after additional growth (+1.8%)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EUR 555,817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92608" y="3977639"/>
            <a:ext cx="11612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FY2027 target is +4.3% versus the FY2026 Sales-to-Dealer base.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FY2026 base is a working estimate (ISZE billing ÷ 0.65): the KPI Dashboard has no usable Sales-to-Dealer row for this market.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What the FY2027 target reflects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Your fleet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working fleet movement used in the target is -2.4%.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234440"/>
            <a:ext cx="59436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43560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price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2011680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is applying a 5% price adjustment for FY2027, consistent with every ISZE market this year.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It is built into the per-vehicle rate above, not added separately on top.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347472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What it means for your target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292608" y="3785615"/>
          <a:ext cx="85953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356616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FY2027 Sales-to-Dealer target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555,817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vs FY2026 Sales-to-Dealer (EUR 532,687)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+4.3%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292608" y="5074920"/>
            <a:ext cx="116128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As in previous cycles we would expect an incentive to sit alongside this adjustment — that approval is still pending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Until the incentive is confirmed, treat the FY2027 target as the working bridge (fleet × price × additional growth), not a locked commercial commitment.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SPA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HUNGARY proposal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AutoWallis Distribution submits a proposed parts list.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7832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29000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0792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ISZE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reviews the proposal against network data and fit.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6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64224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Counter-proposal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returns a counter-proposal where needed.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994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Final approval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0888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Signed off by ISZE management.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45720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Purpose: higher turnover for both sides.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R&amp;M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R&amp;M — let's align on the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188720"/>
            <a:ext cx="54864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38988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96596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is the market moving for you right now?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much of your volume is fleet business rather than retail?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do you see the biggest hurdles this year?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are your real strengths in this segment?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188720"/>
            <a:ext cx="59436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38988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Servicing &amp; R&amp;M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1965960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 you offer an R&amp;M or service-plan product today?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share of the parc do you retain for servicing after year three?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Does R&amp;M business come bundled with fleet tenders — roughly what share?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would it take to bring more out-of-network servicing back?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Part-level Sales-to-Dealer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starting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We have no Sales-to-Dealer figures from you for FY2026. The ask is monthly Sales-to-Dealer, at part-number level.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8736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8853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032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Sharper 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997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Part-by-part visibility separates a stock movement from a lost job — and tells us where the volume actually went.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83295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5087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Shared benefit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5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Better availability on your fast movers, a sharper target for us, and a factual basis for the SPA — same data, both sides gain.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38862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Requested from 01/01/2025, part number level, monthly.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612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Align on the FY2027 Sales-to-Dealer bridge (fleet, price, additional growth) — working figure EUR 555,817 (+4.3% vs FY2026 base).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the incentive alongside the price adjustment; lock the target once that approval is through.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Brake parts / Injectors / Turbo: agree which category we tackle first, and what the joint action is.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Agree part-level Sales-to-Dealer data sharing, effective 01/01/2025.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SPA: HUNGARY proposal, ISZE review and counter-proposal cycle to follow.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IDS 2026: agree dealer visit dates, starting with the lower-scoring dealers.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HUNGARY · AUTOWALLIS DISTRIBUTION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Deep dive — detail behind the Mode A 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32588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Extra detail for meeting prep — pick which slides to share with AutoWallis Distribution.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Mode A ends on the previous closing slide.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Label in all charts: “Genuine with BVP alternative” (not “genuine contested”).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Deep-dive 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GPS — calendar year and fiscal year on one chart (incl. warranty)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FY2025 → FY2026 wallet mix (Genuine / Genuine with BVP alternative / BVP)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Where the money went — outside the service-parts basket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Service parts: calendar-year capture vs network + fiscal-year billing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Brake pads — BVP share of total brake pad sales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AIM exposure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Warranty — two lenses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How to use this in the meeting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GPS: calendar year, fiscal year, and after warranty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23</a:t>
            </a:r>
          </a:p>
        </p:txBody>
      </p:sp>
      <p:pic>
        <p:nvPicPr>
          <p:cNvPr id="8" name="Picture 7" descr="modeb_g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Red = calendar-year GPS. Recent peak 42.0%; CY2025 = 35.4%.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Black = fiscal-year GPS (frozen CY2025 wallet). FY26 headline 37.1%.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Grey = fiscal GPS after removing warranty parts (€). FY26 ≈ 26.1% (warranty EUR 102,418 ≈ 30% of FY26 billing).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Fleet 3,734 → 3,645 (working CY2026 estimate).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WALLET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FY2025 → FY2026 wallet mix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24</a:t>
            </a:r>
          </a:p>
        </p:txBody>
      </p:sp>
      <p:pic>
        <p:nvPicPr>
          <p:cNvPr id="8" name="Picture 7" descr="modeb_fy_wall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323369"/>
            <a:ext cx="6949440" cy="29311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06640" y="1234440"/>
            <a:ext cx="4297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Total EUR 379,407 → EUR 349,882 (-7.8%).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Genuine only EUR -31,719.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Genuine with BVP alternative EUR -226; BVP EUR 2,420 (3.5% of FY26 wallet).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Display label locked: Genuine with BVP alternative.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WALLET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FY wallet mix — detail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468880"/>
                <a:gridCol w="2468880"/>
                <a:gridCol w="2834640"/>
              </a:tblGrid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379,407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349,882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-29,525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Genuine only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331,753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300,034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-31,719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Genuine with BVP alternative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37,959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37,733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-226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9,694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12,115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2,420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 % of wallet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2.6%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3.5%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+0.9 pp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DRIVERS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the genuine drop sits (calendar 2024 → 2025)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430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Genuine-only sales moved EUR -63,942 from CY2024 to CY2025.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Of that, the routine service basket (filters, pads, rotors) moved EUR 10,265 on genuine-only; BVP in that basket moved EUR 4,072.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So about 116% of the genuine-only drop sits outside routine service parts.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Meeting line: check high-value assemblies / sensors before blaming the filter or pad menu.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DRIVERS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Largest part-number drops (FY24→FY25) — outside service filters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486400"/>
                <a:gridCol w="3017520"/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Δ EUR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8977998750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STEERING UNIT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-11,031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8983550720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partikel sensor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-9,198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8976492820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TRANSFER ASM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-7,900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8980803191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GUARD ASM; RR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-4,592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8982404570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DRIVE ASM; FINAL,RR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-3,876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8981974530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DRIVE ASM; FINAL,RR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-3,719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8981470623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TRANSMISSION ASM; MANUAL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-3,504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9377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Check warranty / campaign coding before calling competitive leakage.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capture vs network (calendar year)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28</a:t>
            </a:r>
          </a:p>
        </p:txBody>
      </p:sp>
      <p:pic>
        <p:nvPicPr>
          <p:cNvPr id="8" name="Picture 7" descr="modeb_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Capture % is calendar-year (full CY2025). Fleet demand is modelled on calendar years — there is no matching fiscal-year capture 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Oil filter 45.0% vs network 60.9%; Fuel filter 18.8% vs network 47.3%; Air filter 45.9% vs network 52.4%.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Next slide: fiscal-year € billing in the same five categories.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Primary lens = total capture (not genuine-only).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 PARTS · 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billing by fiscal year (same five lines)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29</a:t>
            </a:r>
          </a:p>
        </p:txBody>
      </p:sp>
      <p:pic>
        <p:nvPicPr>
          <p:cNvPr id="8" name="Picture 7" descr="modeb_pms_f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This is Sales-to-AutoWallis Distribution € in fiscal years — not capture % of fleet demand.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Use both lenses — do not mix % capture with € billing.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Primary = total sales in the basket.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BRAKES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Brake pads — BVP share of total brake pad sales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80160"/>
          <a:ext cx="65836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645920"/>
                <a:gridCol w="164592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Genuine qty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 qty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 share of total brake pad sales (€)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040880" y="118872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BVP share = BVP € ÷ all brake-pad € billed (genuine + BVP). Not a PMS capture 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Wallet-level BVP is still only ~3.5% of FY26 — do not generalise a pad story to the whole wallet.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AIM exposure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743200"/>
                <a:gridCol w="2743200"/>
                <a:gridCol w="411480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High-risk €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High-risk %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Quadrant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12,757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3.8%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Priority target (low GPS - low capture)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10,343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2.6%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Priority target (low GPS - low capture)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7,043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2.1%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Priority target (low GPS - low capture)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749039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High-risk € is catalogue AIM exposure, not proven walk-out.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Open on jobs not bought through the distributor — not a street IAM war alone.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WARRANTY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Warranty — two real lenses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9260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CY2025 claim-price parts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EUR 77,434 (claim-price basis).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Calendar-year claim price basis.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LCV warranty.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234440"/>
            <a:ext cx="5486400" cy="29260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276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Fiscal GPS expense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201168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FY24 EUR 225 · FY25 EUR 25,886 · FY26 EUR 102,418.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Source row: AutoWallis.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Ex-warranty GPS = (net − warranty) ÷ frozen CY25 wallet.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4480560"/>
            <a:ext cx="11430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Both numbers are real — never mix them on one slide without labels.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to use this in the meeting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188720"/>
          <a:ext cx="114300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7589520"/>
              </a:tblGrid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If they say…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You know…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BVP is eating genuine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Wallet BVP ~3.5%. Check pads as a local exception only.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GPS looks fine / too high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FY26 headline 37.1%; excl. warranty ≈ 26.1%. 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Service parts are fine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CY2025 capture vs network (previous slides) + FY billing lens.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