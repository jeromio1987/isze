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5" r:id="rId26"/>
    <p:sldId id="276" r:id="rId27"/>
    <p:sldId id="277" r:id="rId28"/>
    <p:sldId id="274" r:id="rId25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5029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ISZE  ·  HUNGARY  ·  HUNGARY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2331720"/>
            <a:ext cx="96012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A1A1A"/>
                </a:solidFill>
                <a:latin typeface="Calibri"/>
              </a:rPr>
              <a:t>Hungary Sales Review
&amp; FY2027 Target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34340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5A5A5A"/>
                </a:solidFill>
                <a:latin typeface="Calibri"/>
              </a:rPr>
              <a:t>AutoWallis Distribution  ·  July 2026</a:t>
            </a:r>
          </a:p>
        </p:txBody>
      </p:sp>
      <p:pic>
        <p:nvPicPr>
          <p:cNvPr id="6" name="Picture 5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5897880"/>
            <a:ext cx="2204720" cy="38404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HUNGARY MEETING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Agenda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07008"/>
            <a:ext cx="10515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Parts Performance — category movers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Parts Performance — Brake parts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Parts Performance — Miscellaneous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Parts Performance — where volume grew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New Business — validation queue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Sales-to-Dealer Outlook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GPS Capture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Service-Parts Coverage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IDS 2026 — Dealer Standard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Fleet &amp; FY2027 Target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SPA — status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R&amp;M — market discussion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Data request: part-level Sales-to-Dealer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Next steps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Parts Performance — CY H1 2026 vs CY H1 2025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3</a:t>
            </a:r>
          </a:p>
        </p:txBody>
      </p:sp>
      <p:pic>
        <p:nvPicPr>
          <p:cNvPr id="8" name="Picture 7" descr="category_mov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121722"/>
            <a:ext cx="7178040" cy="302603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726679" y="1188720"/>
            <a:ext cx="22000" cy="4892040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7847" y="1234440"/>
            <a:ext cx="3886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TAKEAWAYS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7847" y="1691640"/>
            <a:ext cx="379476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Parts billing EUR 171K against EUR 169K a year earlier — +0.9%. After EUR 1K of credit notes the net figure is EUR 170K.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Biggest declines: Brake parts EUR -9K; Miscellaneous EUR -2K.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Growing: Air conditioning +39%, Electrical sensors +20%, Body parts +9%.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CY H1 2026 against CY H1 2025 (calendar Jan–Jun, Q1+Q2) — like-for-like half-year cut.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 — BRAKE PARTS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Brake parts — CY H1 2026 vs CY H1 2025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07008"/>
            <a:ext cx="116128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EUR 22,944 (CY H1 2025) to EUR 13,910 (CY H1 2026), down EUR 9,034 (-39%).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8983767550 (ROTOR; DISC BRK,FRT): EUR 11,764 to EUR 5,544, 79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8975056801 (PAD KIT; CALIPER,DISC BRK,FRT): EUR 4,501 to EUR 2,561, 23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8975546610 (PAD KIT; CALIPER,DISC BRK,FRT): EUR 2,500 to EUR 742, 21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BVP billing rose over the same window (EUR 26,035 to EUR 28,711) — worth checking how much of this is a move to the value tier rather than lost business.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" y="3840480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0E1E"/>
                </a:solidFill>
                <a:latin typeface="Calibri"/>
              </a:rPr>
              <a:t>Questions for us to work through together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" y="4160520"/>
            <a:ext cx="11612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Is pad and rotor pricing competitive against what the dealers can buy locally?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Is any of this stock timing on your side rather than end demand?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Are dealers still quoting these part numbers, or have they dropped off the workshop menu?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 — MISCELLANEOUS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Miscellaneous — CY H1 2026 vs CY H1 2025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07008"/>
            <a:ext cx="116128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EUR 10,339 (CY H1 2025) to EUR 8,004 (CY H1 2026), down EUR 2,335 (-23%).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8974807977 (RADIO CONTROL ASM; STEREO,AM-F): EUR 1,377 to EUR 0, 3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8972746690 (TANK ASM; DEF): EUR 2,229 to EUR 1,082, 1 fewer pieces.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" y="3840480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0E1E"/>
                </a:solidFill>
                <a:latin typeface="Calibri"/>
              </a:rPr>
              <a:t>Questions for us to work through together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" y="4160520"/>
            <a:ext cx="11612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Is this pricing against what the dealers can buy locally?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Is any of this stock timing on your side rather than end demand?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What would make the biggest difference to keep this business with us?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 — GROWTH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Where volume grew — CY H1 2026 vs CY H1 2025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6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92608" y="1207008"/>
          <a:ext cx="1161288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4480560"/>
                <a:gridCol w="2468880"/>
                <a:gridCol w="2468880"/>
              </a:tblGrid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Description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CY H1 2025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CY H1 2026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8974995480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FILTER; ACL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5,153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8,390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1884057520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T AXLE OIL  20L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1,703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3,801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7552348290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STEERING UNIT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19,839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21,823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8975595830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PANEL; SIDE GATE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430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2,130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8983320160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VALVE; EGR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220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1,397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3963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8978249035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LAMP ASM; HEAD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338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1,313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92608" y="3840480"/>
            <a:ext cx="116128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Air conditioning +39%, Electrical sensors +20%, Body parts +9% — where the volume went.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Several of these are the kind of item that also moves on a campaign or claim. Hungary warranty parts ran to EUR 77K across CY2025, so we would not read this list as purely commercial growth without checking it against claims together.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Worth agreeing which of these are repeatable and which were one-off.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New Business — validation queue (CY H1 2026)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7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92608" y="1207008"/>
          <a:ext cx="1161288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4023360"/>
                <a:gridCol w="2194560"/>
                <a:gridCol w="3200400"/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Description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Current sales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Review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8984890171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PUMP ASM; FUEL,SUPPLY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1,955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7552689700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PUMP; WATER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1,751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TRANSPORT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Transporting Cost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1,444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8978725102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PANEL; SIDE OUTER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1,422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8983842610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COMPRESSOR ASM; A/C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1,195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8980803191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GUARD ASM; RR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1,185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92608" y="4069080"/>
            <a:ext cx="116128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These lines had no prior-period sales, so they are kept out of the incremental-growth table.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A first sale can be a new model, a supersession, timing, or a warranty campaign. It is not treated as a commercial win until that cause is confirmed.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SALES-TO-DEALER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Sales-to-Dealer outlook — FY2027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34440"/>
            <a:ext cx="108813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FY2026 Sales-to-Dealer is EUR 532,687 (working estimate).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The working fleet movement into FY2027 is -2.4%.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Applying fleet movement, the 5% price adjustment and 1.8% additional growth gives a FY2027 Sales-to-Dealer target of EUR 555,817.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The discussion is held in Sales-to-Dealer amounts; ISZE billing remains an internal reconciliation measure.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GPS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GPS Capture: 37.1%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34440"/>
            <a:ext cx="10515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GPS measures your actual parts purchases against the full potential of your fleet.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Hungary today: 37.1% (FY2026 purchases against the CY2025 fleet potential).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Fleet potential: EUR 934K on 3,734 vehicles.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Real, sustained headroom above 37.1% — the service-parts and SPA discussion are both direct levers on it.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SERVICE-PARTS COVERAGE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Service-parts coverage: brake rotor is the clear gap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10</a:t>
            </a:r>
          </a:p>
        </p:txBody>
      </p:sp>
      <p:pic>
        <p:nvPicPr>
          <p:cNvPr id="8" name="Picture 7" descr="pm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051349"/>
            <a:ext cx="7178040" cy="3166782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726679" y="1188720"/>
            <a:ext cx="22000" cy="4892040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7847" y="1234440"/>
            <a:ext cx="3886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TAKEAWAYS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7847" y="1691640"/>
            <a:ext cx="379476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Brake rotor 5.1% against 13.6% for the rest of the network.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Fuel filter 5.3% against 12.0% for the rest of the network.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Every market here is measured on the same fleet-and-interval model, so the comparison is like-for-like even where the underlying interval assumption is debatable.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Worth agreeing which category we tackle first, and what the joint action is.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IDS 2026 — DEALER STANDARD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IDS 2026: Hungary 86.2% vs 74.8% network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11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92608" y="1207008"/>
          <a:ext cx="1161288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92240"/>
                <a:gridCol w="2560320"/>
                <a:gridCol w="2560320"/>
              </a:tblGrid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Dealer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Total %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Global rank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Zakar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99.3%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#3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Csősz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96.4%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#18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Tipp-Autó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95.0%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#27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Hungary country average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86.2%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Network average (all IDS 2026)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74.8%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Autó Caro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74.3%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#358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Marsal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69.3%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#409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Bonus Kft.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66.8%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#425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92608" y="4160520"/>
            <a:ext cx="116128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50" b="1">
                <a:solidFill>
                  <a:srgbClr val="CC0E1E"/>
                </a:solidFill>
                <a:latin typeface="Calibri"/>
              </a:rPr>
              <a:t>—  </a:t>
            </a:r>
            <a:r>
              <a:rPr sz="1350">
                <a:solidFill>
                  <a:srgbClr val="1A1A1A"/>
                </a:solidFill>
                <a:latin typeface="Calibri"/>
              </a:rPr>
              <a:t>19 dealers assessed across Premises, Organisation, Service, Parts and Vehicle Sales.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50" b="1">
                <a:solidFill>
                  <a:srgbClr val="CC0E1E"/>
                </a:solidFill>
                <a:latin typeface="Calibri"/>
              </a:rPr>
              <a:t>—  </a:t>
            </a:r>
            <a:r>
              <a:rPr sz="1350">
                <a:solidFill>
                  <a:srgbClr val="1A1A1A"/>
                </a:solidFill>
                <a:latin typeface="Calibri"/>
              </a:rPr>
              <a:t>The country average sits 11.4 points above the network.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50" b="1">
                <a:solidFill>
                  <a:srgbClr val="CC0E1E"/>
                </a:solidFill>
                <a:latin typeface="Calibri"/>
              </a:rPr>
              <a:t>—  </a:t>
            </a:r>
            <a:r>
              <a:rPr sz="1350">
                <a:solidFill>
                  <a:srgbClr val="1A1A1A"/>
                </a:solidFill>
                <a:latin typeface="Calibri"/>
              </a:rPr>
              <a:t>The spread is the point: 32 points between the strongest and weakest dealer.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50" b="1">
                <a:solidFill>
                  <a:srgbClr val="CC0E1E"/>
                </a:solidFill>
                <a:latin typeface="Calibri"/>
              </a:rPr>
              <a:t>—  </a:t>
            </a:r>
            <a:r>
              <a:rPr sz="1350">
                <a:solidFill>
                  <a:srgbClr val="1A1A1A"/>
                </a:solidFill>
                <a:latin typeface="Calibri"/>
              </a:rPr>
              <a:t>Dealer-by-dealer detail and individual feedback are available as a separate pack — worth agreeing which dealers to visit, and when.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FLEET &amp; FY2027 TARGET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The fleet is expected to decline in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12</a:t>
            </a:r>
          </a:p>
        </p:txBody>
      </p:sp>
      <p:pic>
        <p:nvPicPr>
          <p:cNvPr id="8" name="Picture 7" descr="ui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121722"/>
            <a:ext cx="7178040" cy="302603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726679" y="1188720"/>
            <a:ext cx="22000" cy="4892040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7847" y="1234440"/>
            <a:ext cx="3886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WHAT THIS MEANS FOR FY2027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7847" y="1691640"/>
            <a:ext cx="379476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Parc 3,734 in 2025 and 3,645 in the 2026 working year-end estimate — -2.4%.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The chart shows 2019–2026 only. The 2026 point is a working year-end estimate.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The FY2027 Sales-to-Dealer target applies this fleet movement, a 5% price adjustment and 1.8% additional growth.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The target therefore starts from a contracting fleet, not an assumed growth story.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FLEET &amp; FY2027 TARGET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How the FY2027 target is built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170432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0E1E"/>
                </a:solidFill>
                <a:latin typeface="Calibri"/>
              </a:rPr>
              <a:t>Sales-to-Dealer amount bridge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292608" y="1508760"/>
          <a:ext cx="8595360" cy="2148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9280"/>
                <a:gridCol w="2926080"/>
              </a:tblGrid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Step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Amount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FY2026 Sales-to-Dealer (working estimate)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EUR 532,687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After fleet movement (-2.4%)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EUR 519,990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After price adjustment (+5%)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EUR 545,989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CC0E1E"/>
                          </a:solidFill>
                          <a:latin typeface="Calibri"/>
                        </a:rPr>
                        <a:t>FY2027 target after additional growth (+1.8%)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CC0E1E"/>
                          </a:solidFill>
                          <a:latin typeface="Calibri"/>
                        </a:rPr>
                        <a:t>EUR 555,817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292608" y="3977639"/>
            <a:ext cx="116128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The FY2027 target is +4.3% versus the FY2026 Sales-to-Dealer base.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The FY2026 base is imputed from ISZE billing divided by 0.65 because no usable Sales-to-Dealer KPI was available.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FY2027 TARGET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What the FY2027 target reflects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" y="1234440"/>
            <a:ext cx="5486400" cy="201168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93776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1435608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Your fleet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2011680"/>
            <a:ext cx="49377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The working fleet movement used in the target is -2.4%.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0" y="1234440"/>
            <a:ext cx="5943600" cy="201168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144768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60" y="1435608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The price move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6208" y="2011680"/>
            <a:ext cx="5394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ISZE is applying a 5% price adjustment for FY2027, consistent with every ISZE market this year.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It is built into the per-vehicle rate above, not added separately on top.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2608" y="3474720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0E1E"/>
                </a:solidFill>
                <a:latin typeface="Calibri"/>
              </a:rPr>
              <a:t>What it means for your target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292608" y="3785615"/>
          <a:ext cx="8595360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0"/>
                <a:gridCol w="3566160"/>
              </a:tblGrid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 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FY2027 Sales-to-Dealer target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EUR 555,817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CC0E1E"/>
                          </a:solidFill>
                          <a:latin typeface="Calibri"/>
                        </a:rPr>
                        <a:t>vs FY2026 Sales-to-Dealer (EUR 532,687)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CC0E1E"/>
                          </a:solidFill>
                          <a:latin typeface="Calibri"/>
                        </a:rPr>
                        <a:t>+4.3%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292608" y="5212080"/>
            <a:ext cx="11612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As in previous cycles we would expect an incentive to sit alongside this adjustment — that approval is still pending on our side. We will confirm as soon as we have it.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SPA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SPA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" y="1234440"/>
            <a:ext cx="2798064" cy="31089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93776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1435608"/>
            <a:ext cx="17922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HUNGARY proposal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2011680"/>
            <a:ext cx="2249424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AutoWallis Distribution submits a proposed parts list.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27832" y="1234440"/>
            <a:ext cx="2798064" cy="31089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429000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50792" y="1435608"/>
            <a:ext cx="17922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ISZE review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20440" y="2011680"/>
            <a:ext cx="2249424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ISZE reviews the proposal against network data and fit.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63056" y="1234440"/>
            <a:ext cx="2798064" cy="31089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364224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86016" y="1435608"/>
            <a:ext cx="17922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Counter-proposal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55664" y="2011680"/>
            <a:ext cx="2249424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ISZE returns a counter-proposal where needed.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98280" y="1234440"/>
            <a:ext cx="2798064" cy="31089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299448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921240" y="1435608"/>
            <a:ext cx="17922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Final approval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90888" y="2011680"/>
            <a:ext cx="2249424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Signed off by ISZE management.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2608" y="4572000"/>
            <a:ext cx="8595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C0E1E"/>
                </a:solidFill>
                <a:latin typeface="Calibri"/>
              </a:rPr>
              <a:t>Purpose: higher turnover for both sides.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R&amp;M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R&amp;M — let's align on the market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" y="1188720"/>
            <a:ext cx="5486400" cy="40233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93776" y="138988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1389888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Market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1965960"/>
            <a:ext cx="49377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How is the market moving for you right now?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How much of your volume is fleet business rather than retail?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Where do you see the biggest hurdles this year?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Where are your real strengths in this segment?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0" y="1188720"/>
            <a:ext cx="5943600" cy="40233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144768" y="138988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60" y="1389888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Servicing &amp; R&amp;M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6208" y="1965960"/>
            <a:ext cx="53949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Do you offer an R&amp;M or service-plan product today?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What share of the parc do you retain for servicing after year three?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Does R&amp;M business come bundled with fleet tenders — roughly what share?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What would it take to bring more out-of-network servicing back?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ASK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Part-level Sales-to-Dealer Data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" y="1234440"/>
            <a:ext cx="3611880" cy="237744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93776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1435608"/>
            <a:ext cx="2606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The starting point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2011680"/>
            <a:ext cx="3063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We have no Sales-to-Dealer figures from you for FY2026. The ask is monthly Sales-to-Dealer, at part-number level.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087368" y="1234440"/>
            <a:ext cx="3611880" cy="237744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288536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10328" y="1435608"/>
            <a:ext cx="2606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Sharper insight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79976" y="2011680"/>
            <a:ext cx="3063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Part-by-part visibility separates a stock movement from a lost job — and tells us where the volume actually went.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882127" y="1234440"/>
            <a:ext cx="3611880" cy="237744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083295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05087" y="1435608"/>
            <a:ext cx="2606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Shared benefit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74735" y="2011680"/>
            <a:ext cx="3063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Better availability on your fast movers, a sharper target for us, and a factual basis for the SPA — same data, both sides gain.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2608" y="3886200"/>
            <a:ext cx="8595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C0E1E"/>
                </a:solidFill>
                <a:latin typeface="Calibri"/>
              </a:rPr>
              <a:t>Requested from 01/01/2025, part number level, monthly.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Next steps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34440"/>
            <a:ext cx="116128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Confirm FY2027 Sales-to-Dealer target: EUR 555,817 (+4.3% vs FY2026 Sales-to-Dealer).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Confirm the incentive alongside the price adjustment once approved on our side.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Brake parts and Miscellaneous: agree which category we tackle first, and what the joint action is.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Agree part-level Sales-to-Dealer data sharing, effective 01/01/2025.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SPA: HUNGARY proposal, ISZE review and counter-proposal cycle to follow.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IDS 2026: agree dealer visit dates, starting with the lower-scoring dealers.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0" y="3063240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5A5A5A"/>
                </a:solidFill>
                <a:latin typeface="Calibri"/>
              </a:rPr>
              <a:t>Moving the World – for You</a:t>
            </a:r>
          </a:p>
        </p:txBody>
      </p:sp>
      <p:pic>
        <p:nvPicPr>
          <p:cNvPr id="4" name="Picture 3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1436" y="2468880"/>
            <a:ext cx="2926080" cy="509704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DEEP DIVE — GPS HISTORY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GPS since 2022: peaked at 42%, now easing back to 37%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19</a:t>
            </a:r>
          </a:p>
        </p:txBody>
      </p:sp>
      <p:pic>
        <p:nvPicPr>
          <p:cNvPr id="8" name="Picture 7" descr="gps_histo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121722"/>
            <a:ext cx="7178040" cy="302603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726679" y="1188720"/>
            <a:ext cx="22000" cy="4892040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7847" y="1234440"/>
            <a:ext cx="3886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TAKEAWAYS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7847" y="1691640"/>
            <a:ext cx="379476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GPS rose from about 30% in 2022 to a peak of 41.9% in 2024, then eased back to 34.5% in 2025 and sits at 37.1% today (FY2026) — two years of erosion, not a straight climb.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BVP held 12-18% share through 2024, but 2025's decline is entirely Genuine (-EUR 71K) while BVP grew (+EUR 4K) — a Genuine-parts problem, not a BVP one.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2022's apparent mismatch against the previously computed series is resolved: that figure was a Jan-Sep YTD cut (99.96% match through 5 Sep 2022), not the full year — CY2022 here is the complete twelve months.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The FY2027 base is disputed: corrected-survival shrinks the parc to 3,645 (-2.4%); UIO V19 grows it to 3,992 (+6.9%) — worth agreeing which.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DEEP DIVE — GENUINE VS BVP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Genuine vs BVP: 2025 breaks the pattern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20</a:t>
            </a:r>
          </a:p>
        </p:txBody>
      </p:sp>
      <p:pic>
        <p:nvPicPr>
          <p:cNvPr id="8" name="Picture 7" descr="bvp_genu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121722"/>
            <a:ext cx="7178040" cy="302603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726679" y="1188720"/>
            <a:ext cx="22000" cy="4892040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7847" y="1234440"/>
            <a:ext cx="3886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TAKEAWAYS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7847" y="1691640"/>
            <a:ext cx="379476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2025 is the only year since 2020 where Genuine and BVP move in opposite directions: Genuine EUR 341K → EUR 270K (-71K); BVP EUR 48K → EUR 52K (+4K). Every prior year they moved together.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Not just a pricing effect: Genuine volume also fell (9,216 → 7,372 units) and breadth contracted (1,160 → 930 distinct genuine part numbers sold, -20%).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BVP held up on every measure over the same year — units flat (4,036 → 4,052), SKU breadth grew (37 → 43) — so this isn't distributor-wide destocking, it's specific to Genuine.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Worth cutting the 2025 genuine drop by category together before assuming it's competitive leakage — a concentrated cause (e.g. one model, one dealer) reads very differently from a broad-based one.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DEEP DIVE — COMPETITIVE CAPTURE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Where the gap is: competitive parts leaking to the aftermarket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21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92608" y="1097280"/>
          <a:ext cx="11612880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2103120"/>
                <a:gridCol w="2103120"/>
                <a:gridCol w="2103120"/>
                <a:gridCol w="2103120"/>
              </a:tblGrid>
              <a:tr h="29718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Category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Network (2025)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Oil filter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44.6%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46.3%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45.0%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60.9%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Fuel filter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12.4%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12.7%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18.8%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47.3%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Air filter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42.4%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40.0%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45.9%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52.4%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Brake pad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11.7%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11.1%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15.6%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29.8%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Brake rotor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22.4%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25.4%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36.1%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54.9%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92608" y="3017520"/>
            <a:ext cx="1161288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200" b="1">
                <a:solidFill>
                  <a:srgbClr val="CC0E1E"/>
                </a:solidFill>
                <a:latin typeface="Calibri"/>
              </a:rPr>
              <a:t>—  </a:t>
            </a:r>
            <a:r>
              <a:rPr sz="1200">
                <a:solidFill>
                  <a:srgbClr val="1A1A1A"/>
                </a:solidFill>
                <a:latin typeface="Calibri"/>
              </a:rPr>
              <a:t>The gap isn't new — Hungary has sat 15-35 points below network on brake pad, brake rotor and fuel filter capture in every one of the last three full years. Air filter is the one category near parity.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200" b="1">
                <a:solidFill>
                  <a:srgbClr val="CC0E1E"/>
                </a:solidFill>
                <a:latin typeface="Calibri"/>
              </a:rPr>
              <a:t>—  </a:t>
            </a:r>
            <a:r>
              <a:rPr sz="1200">
                <a:solidFill>
                  <a:srgbClr val="1A1A1A"/>
                </a:solidFill>
                <a:latin typeface="Calibri"/>
              </a:rPr>
              <a:t>Warranty claims (separate claims-system data, not part of the billing above) jumped from near-zero (FY2024: EUR 225) to EUR 102,418 (FY2026) — right where GPS started easing back. Worth checking if that's a genuine quality trend, a claims-logging change, or a campaign.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" y="4160520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0E1E"/>
                </a:solidFill>
                <a:latin typeface="Calibri"/>
              </a:rPr>
              <a:t>QUESTIONS FOR US TO WORK THROUGH TOGETHER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" y="4480560"/>
            <a:ext cx="1161288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200" b="1">
                <a:solidFill>
                  <a:srgbClr val="CC0E1E"/>
                </a:solidFill>
                <a:latin typeface="Calibri"/>
              </a:rPr>
              <a:t>—  </a:t>
            </a:r>
            <a:r>
              <a:rPr sz="1200">
                <a:solidFill>
                  <a:srgbClr val="1A1A1A"/>
                </a:solidFill>
                <a:latin typeface="Calibri"/>
              </a:rPr>
              <a:t>Brake pad/rotor capture has trailed the network by 15-35 points for three straight years — what's routing that work to independent garages?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200" b="1">
                <a:solidFill>
                  <a:srgbClr val="CC0E1E"/>
                </a:solidFill>
                <a:latin typeface="Calibri"/>
              </a:rPr>
              <a:t>—  </a:t>
            </a:r>
            <a:r>
              <a:rPr sz="1200">
                <a:solidFill>
                  <a:srgbClr val="1A1A1A"/>
                </a:solidFill>
                <a:latin typeface="Calibri"/>
              </a:rPr>
              <a:t>Warranty claims went from near-zero to over EUR 100K in two fiscal years — quality issue, claims-logging change, or a specific campaign?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200" b="1">
                <a:solidFill>
                  <a:srgbClr val="CC0E1E"/>
                </a:solidFill>
                <a:latin typeface="Calibri"/>
              </a:rPr>
              <a:t>—  </a:t>
            </a:r>
            <a:r>
              <a:rPr sz="1200">
                <a:solidFill>
                  <a:srgbClr val="1A1A1A"/>
                </a:solidFill>
                <a:latin typeface="Calibri"/>
              </a:rPr>
              <a:t>Which fleet number should FY2027 use — the ~4,000-unit growing view or the ~3,645-unit corrected-survival view?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200" b="1">
                <a:solidFill>
                  <a:srgbClr val="CC0E1E"/>
                </a:solidFill>
                <a:latin typeface="Calibri"/>
              </a:rPr>
              <a:t>—  </a:t>
            </a:r>
            <a:r>
              <a:rPr sz="1200">
                <a:solidFill>
                  <a:srgbClr val="1A1A1A"/>
                </a:solidFill>
                <a:latin typeface="Calibri"/>
              </a:rPr>
              <a:t>Genuine parts fell EUR 71K in 2025 while BVP grew EUR 4K — is genuine business moving to the aftermarket, or are dealers trading down within our own catalog?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