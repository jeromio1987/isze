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7" r:id="rId19"/>
    <p:sldId id="268" r:id="rId2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B7B7B7"/>
              </a:solidFill>
            </c:spPr>
          </c:dPt>
          <c:dPt>
            <c:idx val="1"/>
            <c:spPr>
              <a:solidFill>
                <a:srgbClr val="F5A000"/>
              </a:solidFill>
            </c:spPr>
          </c:dPt>
          <c:dPt>
            <c:idx val="2"/>
            <c:spPr>
              <a:solidFill>
                <a:srgbClr val="F5A000"/>
              </a:solidFill>
            </c:spPr>
          </c:dPt>
          <c:dPt>
            <c:idx val="3"/>
            <c:spPr>
              <a:solidFill>
                <a:srgbClr val="B7B7B7"/>
              </a:solidFill>
            </c:spPr>
          </c:dPt>
          <c:dPt>
            <c:idx val="4"/>
            <c:spPr>
              <a:solidFill>
                <a:srgbClr val="F5A000"/>
              </a:solidFill>
            </c:spPr>
          </c:dPt>
          <c:dPt>
            <c:idx val="5"/>
            <c:spPr>
              <a:solidFill>
                <a:srgbClr val="B7B7B7"/>
              </a:solidFill>
            </c:spPr>
          </c:dPt>
          <c:dPt>
            <c:idx val="6"/>
            <c:spPr>
              <a:solidFill>
                <a:srgbClr val="B7B7B7"/>
              </a:solidFill>
            </c:spPr>
          </c:dPt>
          <c:dPt>
            <c:idx val="7"/>
            <c:spPr>
              <a:solidFill>
                <a:srgbClr val="B7B7B7"/>
              </a:solidFill>
            </c:spPr>
          </c:dPt>
          <c:dPt>
            <c:idx val="8"/>
            <c:spPr>
              <a:solidFill>
                <a:srgbClr val="B7B7B7"/>
              </a:solidFill>
            </c:spPr>
          </c:dPt>
          <c:dPt>
            <c:idx val="9"/>
            <c:spPr>
              <a:solidFill>
                <a:srgbClr val="F5A000"/>
              </a:solidFill>
            </c:spPr>
          </c:dPt>
          <c:dPt>
            <c:idx val="10"/>
            <c:spPr>
              <a:solidFill>
                <a:srgbClr val="B7B7B7"/>
              </a:solidFill>
            </c:spPr>
          </c:dPt>
          <c:dPt>
            <c:idx val="11"/>
            <c:spPr>
              <a:solidFill>
                <a:srgbClr val="F5A000"/>
              </a:solidFill>
            </c:spPr>
          </c:dPt>
          <c:dPt>
            <c:idx val="12"/>
            <c:spPr>
              <a:solidFill>
                <a:srgbClr val="F5A000"/>
              </a:solidFill>
            </c:spPr>
          </c:dPt>
          <c:dPt>
            <c:idx val="13"/>
            <c:spPr>
              <a:solidFill>
                <a:srgbClr val="B7B7B7"/>
              </a:solidFill>
            </c:spPr>
          </c:dPt>
          <c:dPt>
            <c:idx val="14"/>
            <c:spPr>
              <a:solidFill>
                <a:srgbClr val="F5A000"/>
              </a:solidFill>
            </c:spPr>
          </c:dPt>
          <c:dPt>
            <c:idx val="15"/>
            <c:spPr>
              <a:solidFill>
                <a:srgbClr val="E30613"/>
              </a:solidFill>
            </c:spPr>
          </c:dPt>
          <c:dPt>
            <c:idx val="16"/>
            <c:spPr>
              <a:solidFill>
                <a:srgbClr val="E30613"/>
              </a:solidFill>
            </c:spPr>
          </c:dPt>
          <c:dPt>
            <c:idx val="17"/>
            <c:spPr>
              <a:solidFill>
                <a:srgbClr val="B7B7B7"/>
              </a:solidFill>
            </c:spPr>
          </c:dPt>
          <c:cat>
            <c:strRef>
              <c:f>Sheet1!$A$2:$A$19</c:f>
              <c:strCache>
                <c:ptCount val="18"/>
                <c:pt idx="0">
                  <c:v>Finland</c:v>
                </c:pt>
                <c:pt idx="1">
                  <c:v>Belgium</c:v>
                </c:pt>
                <c:pt idx="2">
                  <c:v>Ireland</c:v>
                </c:pt>
                <c:pt idx="3">
                  <c:v>Iceland</c:v>
                </c:pt>
                <c:pt idx="4">
                  <c:v>Germany</c:v>
                </c:pt>
                <c:pt idx="5">
                  <c:v>UMI</c:v>
                </c:pt>
                <c:pt idx="6">
                  <c:v>Norway</c:v>
                </c:pt>
                <c:pt idx="7">
                  <c:v>Denmark</c:v>
                </c:pt>
                <c:pt idx="8">
                  <c:v>Romania</c:v>
                </c:pt>
                <c:pt idx="9">
                  <c:v>Cyprus</c:v>
                </c:pt>
                <c:pt idx="10">
                  <c:v>Sweden</c:v>
                </c:pt>
                <c:pt idx="11">
                  <c:v>Greece</c:v>
                </c:pt>
                <c:pt idx="12">
                  <c:v>Malta</c:v>
                </c:pt>
                <c:pt idx="13">
                  <c:v>IUK</c:v>
                </c:pt>
                <c:pt idx="14">
                  <c:v>Portugal</c:v>
                </c:pt>
                <c:pt idx="15">
                  <c:v>ITUK</c:v>
                </c:pt>
                <c:pt idx="16">
                  <c:v>UTI</c:v>
                </c:pt>
                <c:pt idx="17">
                  <c:v>Hungary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92.3</c:v>
                </c:pt>
                <c:pt idx="1">
                  <c:v>85.9</c:v>
                </c:pt>
                <c:pt idx="2">
                  <c:v>85.4</c:v>
                </c:pt>
                <c:pt idx="3">
                  <c:v>84.0</c:v>
                </c:pt>
                <c:pt idx="4">
                  <c:v>74.3</c:v>
                </c:pt>
                <c:pt idx="5">
                  <c:v>71.6</c:v>
                </c:pt>
                <c:pt idx="6">
                  <c:v>71.5</c:v>
                </c:pt>
                <c:pt idx="7">
                  <c:v>69.5</c:v>
                </c:pt>
                <c:pt idx="8">
                  <c:v>65.4</c:v>
                </c:pt>
                <c:pt idx="9">
                  <c:v>63.4</c:v>
                </c:pt>
                <c:pt idx="10">
                  <c:v>60.6</c:v>
                </c:pt>
                <c:pt idx="11">
                  <c:v>54.6</c:v>
                </c:pt>
                <c:pt idx="12">
                  <c:v>54.5</c:v>
                </c:pt>
                <c:pt idx="13">
                  <c:v>51.3</c:v>
                </c:pt>
                <c:pt idx="14">
                  <c:v>48.9</c:v>
                </c:pt>
                <c:pt idx="15">
                  <c:v>47.0</c:v>
                </c:pt>
                <c:pt idx="16">
                  <c:v>40.3</c:v>
                </c:pt>
                <c:pt idx="17">
                  <c:v>35.4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>
                  <a:solidFill>
                    <a:srgbClr val="F2F2F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950">
                <a:solidFill>
                  <a:srgbClr val="F2F2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Gridlines>
          <c:spPr>
            <a:ln>
              <a:solidFill>
                <a:srgbClr val="4A4A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BDBDB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ITUK</c:v>
                </c:pt>
              </c:strCache>
            </c:strRef>
          </c:tx>
          <c:spPr>
            <a:solidFill>
              <a:srgbClr val="E30613"/>
            </a:solidFill>
          </c:spPr>
          <c:cat>
            <c:strRef>
              <c:f>Sheet1!$A$2:$A$9</c:f>
              <c:strCache>
                <c:ptCount val="8"/>
                <c:pt idx="0">
                  <c:v>Oil filter</c:v>
                </c:pt>
                <c:pt idx="1">
                  <c:v>Fuel filter</c:v>
                </c:pt>
                <c:pt idx="2">
                  <c:v>Air filter</c:v>
                </c:pt>
                <c:pt idx="3">
                  <c:v>AdBlue filter</c:v>
                </c:pt>
                <c:pt idx="4">
                  <c:v>Brake pad</c:v>
                </c:pt>
                <c:pt idx="5">
                  <c:v>Brake shoe</c:v>
                </c:pt>
                <c:pt idx="6">
                  <c:v>Clutch kit</c:v>
                </c:pt>
                <c:pt idx="7">
                  <c:v>Clutch disc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</c:v>
                </c:pt>
                <c:pt idx="1">
                  <c:v>100</c:v>
                </c:pt>
                <c:pt idx="2">
                  <c:v>62</c:v>
                </c:pt>
                <c:pt idx="3">
                  <c:v>17</c:v>
                </c:pt>
                <c:pt idx="4">
                  <c:v>49</c:v>
                </c:pt>
                <c:pt idx="5">
                  <c:v>8</c:v>
                </c:pt>
                <c:pt idx="6">
                  <c:v>22</c:v>
                </c:pt>
                <c:pt idx="7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</c:v>
                </c:pt>
              </c:strCache>
            </c:strRef>
          </c:tx>
          <c:spPr>
            <a:solidFill>
              <a:srgbClr val="B7B7B7"/>
            </a:solidFill>
          </c:spPr>
          <c:cat>
            <c:strRef>
              <c:f>Sheet1!$A$2:$A$9</c:f>
              <c:strCache>
                <c:ptCount val="8"/>
                <c:pt idx="0">
                  <c:v>Oil filter</c:v>
                </c:pt>
                <c:pt idx="1">
                  <c:v>Fuel filter</c:v>
                </c:pt>
                <c:pt idx="2">
                  <c:v>Air filter</c:v>
                </c:pt>
                <c:pt idx="3">
                  <c:v>AdBlue filter</c:v>
                </c:pt>
                <c:pt idx="4">
                  <c:v>Brake pad</c:v>
                </c:pt>
                <c:pt idx="5">
                  <c:v>Brake shoe</c:v>
                </c:pt>
                <c:pt idx="6">
                  <c:v>Clutch kit</c:v>
                </c:pt>
                <c:pt idx="7">
                  <c:v>Clutch disc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91</c:v>
                </c:pt>
                <c:pt idx="1">
                  <c:v>100</c:v>
                </c:pt>
                <c:pt idx="2">
                  <c:v>100</c:v>
                </c:pt>
                <c:pt idx="3">
                  <c:v>0</c:v>
                </c:pt>
                <c:pt idx="4">
                  <c:v>7</c:v>
                </c:pt>
                <c:pt idx="5">
                  <c:v>31</c:v>
                </c:pt>
                <c:pt idx="6">
                  <c:v>33</c:v>
                </c:pt>
                <c:pt idx="7">
                  <c:v>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solidFill>
                    <a:srgbClr val="F2F2F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950">
                <a:solidFill>
                  <a:srgbClr val="F2F2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Gridlines>
          <c:spPr>
            <a:ln>
              <a:solidFill>
                <a:srgbClr val="4A4A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BDBDBD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>
              <a:solidFill>
                <a:srgbClr val="F2F2F2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Gross profit
today</c:v>
                </c:pt>
                <c:pt idx="1">
                  <c:v>Price given
to UTI</c:v>
                </c:pt>
                <c:pt idx="2">
                  <c:v>IML purchase
support</c:v>
                </c:pt>
                <c:pt idx="3">
                  <c:v>Gross profit
under SPA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198.387</c:v>
                </c:pt>
                <c:pt idx="2">
                  <c:v>198.387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dPt>
            <c:idx val="0"/>
            <c:spPr>
              <a:solidFill>
                <a:srgbClr val="B7B7B7"/>
              </a:solidFill>
            </c:spPr>
          </c:dPt>
          <c:dPt>
            <c:idx val="1"/>
            <c:spPr>
              <a:solidFill>
                <a:srgbClr val="E30613"/>
              </a:solidFill>
            </c:spPr>
          </c:dPt>
          <c:dPt>
            <c:idx val="2"/>
            <c:spPr>
              <a:solidFill>
                <a:srgbClr val="F5A000"/>
              </a:solidFill>
            </c:spPr>
          </c:dPt>
          <c:dPt>
            <c:idx val="3"/>
            <c:spPr>
              <a:solidFill>
                <a:srgbClr val="B7B7B7"/>
              </a:solidFill>
            </c:spPr>
          </c:dPt>
          <c:dLbls>
            <c:numFmt formatCode="€#,##0&quot;K&quot;" sourceLinked="0"/>
            <c:txPr>
              <a:bodyPr/>
              <a:lstStyle/>
              <a:p>
                <a:pPr>
                  <a:defRPr sz="1100" b="1">
                    <a:solidFill>
                      <a:srgbClr val="262626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Gross profit
today</c:v>
                </c:pt>
                <c:pt idx="1">
                  <c:v>Price given
to UTI</c:v>
                </c:pt>
                <c:pt idx="2">
                  <c:v>IML purchase
support</c:v>
                </c:pt>
                <c:pt idx="3">
                  <c:v>Gross profit
under SPA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321.116</c:v>
                </c:pt>
                <c:pt idx="1">
                  <c:v>122.729</c:v>
                </c:pt>
                <c:pt idx="2">
                  <c:v>37.135</c:v>
                </c:pt>
                <c:pt idx="3">
                  <c:v>235.521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950">
                <a:solidFill>
                  <a:srgbClr val="F2F2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0.0"/>
          <c:min val="0.0"/>
        </c:scaling>
        <c:delete/>
        <c:axPos val="l"/>
        <c:majorGridlines>
          <c:spPr>
            <a:ln>
              <a:solidFill>
                <a:srgbClr val="4A4A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BDBDB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E30613"/>
              </a:solidFill>
            </c:spPr>
          </c:dPt>
          <c:dPt>
            <c:idx val="1"/>
            <c:spPr>
              <a:solidFill>
                <a:srgbClr val="E30613"/>
              </a:solidFill>
            </c:spPr>
          </c:dPt>
          <c:dPt>
            <c:idx val="2"/>
            <c:spPr>
              <a:solidFill>
                <a:srgbClr val="F5A000"/>
              </a:solidFill>
            </c:spPr>
          </c:dPt>
          <c:dPt>
            <c:idx val="3"/>
            <c:spPr>
              <a:solidFill>
                <a:srgbClr val="B7B7B7"/>
              </a:solidFill>
            </c:spPr>
          </c:dPt>
          <c:cat>
            <c:strRef>
              <c:f>Sheet1!$A$2:$A$5</c:f>
              <c:strCache>
                <c:ptCount val="4"/>
                <c:pt idx="0">
                  <c:v>Brakes</c:v>
                </c:pt>
                <c:pt idx="1">
                  <c:v>Clutch</c:v>
                </c:pt>
                <c:pt idx="2">
                  <c:v>Other</c:v>
                </c:pt>
                <c:pt idx="3">
                  <c:v>Filters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34</c:v>
                </c:pt>
                <c:pt idx="2">
                  <c:v>31</c:v>
                </c:pt>
                <c:pt idx="3">
                  <c:v>-7</c:v>
                </c:pt>
              </c:numCache>
            </c:numRef>
          </c:val>
        </c:ser>
        <c:dLbls>
          <c:numFmt formatCode="+0&quot;%&quot;;-0&quot;%&quot;" sourceLinked="0"/>
          <c:txPr>
            <a:bodyPr/>
            <a:lstStyle/>
            <a:p>
              <a:pPr>
                <a:defRPr sz="950">
                  <a:solidFill>
                    <a:srgbClr val="F2F2F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950">
                <a:solidFill>
                  <a:srgbClr val="F2F2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"/>
          <c:min val="-15.0"/>
        </c:scaling>
        <c:delete/>
        <c:axPos val="l"/>
        <c:majorGridlines>
          <c:spPr>
            <a:ln>
              <a:solidFill>
                <a:srgbClr val="4A4A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BDBDB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DRAFT. Contains ISZE margin data (SPA optimizer): for IML management only, not for distributors.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spend = vehicles in operation x spend per unit (a modelled ceiling, not a forecast). Sales €30.8M = 55.6% of €55.4M. +1.8% of max spend = €1.0M (FY2027 model with +5% price: EUR 1.16M). PMS: network capture 22.5% on 14 categories; 1 point = about EUR 256K. PMS is part of GPS: do not add the two. The unreached €24.6M is not all lost to the aftermarket: some is ceiling error. We say 'goes elsewhere', not 'lost'.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55.6% (FACTS.md still quotes 56.5% from an earlier run; use one source in the final). Red = CV-only (ITUK, UTI); amber = mixed LD/MD/CV; grey = LCV-led.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above 100% (UTI fuel filter 145%, air 116%; ITUK brake rotor 134%) are shown at 100%: the interval assumption is conservative or parts are bought outside the service. Network lane, not the IML service-schedule lane: never quote the two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Quotes are from the reviews with Germany, Greece and IUK, and from the SPA optimizer template assumptions. The 25-40% undercut and 10-15% annual erosion are template estimates in the optimizer (SPA Rationale tab), not measured values: label them as estimates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clockwise. IML gives a 7% cut on ISZE's purchase price for the SPA lines (EUR 37K a year at UTI). ISZE gives margin: basket gross margin 41.8% to 27.2% before and 32.3% after IML support, gross profit EUR 321K to EUR 236K after the IML cut. The distributor commits 18,110 pieces and passes the price through (assumption: the pass-through is not in the file). The customer pays about 20% below list on the basket (EUR 180K saving on the committed quantities). More genuine volume goes back to IML and ISZE (optimizer: up to EUR 113K extra purchase revenue for IML on the lines that grow). The loop reinforces if volume follows; if not, everyone has only lost margin: see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L12 baseline revenue EUR 768,615, gross profit EUR 321,116 (41.8%). SPA revenue EUR 728,880 on 18,110 pieces (L12: 17,395). SPA gross profit without IML support EUR 198,387; with the 7% IML cut EUR 235,521 (32.3% of SPA revenue; 27.2% before the cut); IML sacrifice EUR 37,135. Net effect on ISZE gross profit EUR -85.6K. Break-even: at the SPA margin, ISZE needs about EUR 265K more revenue (+36% on the basket) to get back to today's gross profit, or the volume that would otherwise erode (template estimate 10-15% a year). The optimizer's own health check says 'profit decline too large, renegotiate; approvable with escalation'. 'Over 1 million parts' could not be found: the basket is 18,110 pieces, list value about EUR 909K.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Grouping by part description keywords (filters, brakes, clutch, other): our grouping, not an ISZE catalogue. Filters: commitments are BELOW last-12-month pieces (11,500 vs 12,389) at a lower price: we give price on volume already there; check in the final. June: SPA document billed EUR 277K = 27% of Q1; June ex-SPA about EUR 358K vs EUR 201K a month in April-May; whether this is pull-forward, stock build or demand is not confirmed. UTI GPS 40% (FY2026): max spend EUR 8.27M, sales EUR 3.33M; 1.8% of max spend = EUR 149K. SPA basket revenue EUR 729K = 22% of UTI FY2026 parts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to the first draft: the 5 Aug sales review note 'SPA now needs management approval' describes a process requirement (SPAs must be explained to management before agreement), not an approved SPA. UTI: in force from 1 May 2026 per the optimizer validity dates and billed in June (SPA document 364214, EUR 277K); the MD approval form in the workbook is an unsigned template (approval date 29 Apr 2026, names blank in the data we hold): signed copy not located. IUK: 6 Aug review says highest-authority approval, 6-month validity, brakes first, then wipers and strategic part numbers: no priced file. ITUK brake: customer proposal of 15 Sep; internal review found the proposed payment mechanism would pay on only 203 units worth EUR 4,826 gross profit: keep out of the Japan version unless Jerome decides otherwise. 'IOK' in the brief read as IUK.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FY2026 pipeline GPS is below 100% in every market. The over-100% figures come from the FY2027 model (plan plus stretch against max spend): Finland 121%, Iceland 105%, Ireland 105%. Belgium 97% is a scope issue (distributor covers BE/NL/PL/LUX, max spend counts Belgium only). UIO V19 used as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ask. Do not add the GPS and PMS euro figures. The IML support of 7% is the optimizer setting; the final percentage is for IML to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82296" cy="219456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2F2F2"/>
                </a:solidFill>
                <a:latin typeface="Aptos"/>
              </a:rPr>
              <a:t>More genuine parts on every truck we have already sold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29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30613"/>
                </a:solidFill>
                <a:latin typeface="Aptos"/>
              </a:rPr>
              <a:t>GPS +1.8%  ·  PMS +1 point  ·  FY2027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233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IML, ISZE and the distributors, working together   |   Proposal for management in Japan   |   DRAFT   | 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62940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Confidential: contains ISZE margin data. Not for distributors.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The trucks we sold should buy €55.4M of parts from us. They buy €30.8M.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18 distributors  |  FY2026  |  GPS = ISZE parts sales ÷ maximum spend of the vehicles in operation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gps_spu_by_distributor.csv, pms_capture_by_db_year.csv (FY2026); HANDOVER_GPS_Extended_Target_FY27.md. € values on the FY2026 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325880"/>
            <a:ext cx="2944368" cy="50749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5361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929384"/>
            <a:ext cx="82296" cy="8229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56% captured. 44% of the modelled spend goes elsewhere.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642616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587752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Our ask is small against the gap: 1.8% of the wallet, one point of service-parts penetration.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529584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474720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PMS is inside GPS. The two amounts overlap and are not added.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242816"/>
            <a:ext cx="82296" cy="82296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187952"/>
            <a:ext cx="2423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To move it, price must close part of the gap to the aftermarket. That needs margin from all three of 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3977639" cy="338328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65960"/>
            <a:ext cx="64008" cy="338328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148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Aptos"/>
              </a:rPr>
              <a:t>GPS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6888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2F2F2"/>
                </a:solidFill>
                <a:latin typeface="Aptos"/>
              </a:rPr>
              <a:t>+1.8%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1.8% of maximum parts spend, per distributor.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BDBDBD"/>
                </a:solidFill>
                <a:latin typeface="Aptos"/>
              </a:rPr>
              <a:t>About €1.0M on the FY2026 base.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BDBDBD"/>
                </a:solidFill>
                <a:latin typeface="Aptos"/>
              </a:rPr>
              <a:t>FY2027 model with +5% price: €1.16M.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965960"/>
            <a:ext cx="3977639" cy="338328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1965960"/>
            <a:ext cx="64008" cy="3383280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59" y="2148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A000"/>
                </a:solidFill>
                <a:latin typeface="Aptos"/>
              </a:rPr>
              <a:t>PMS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246888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2F2F2"/>
                </a:solidFill>
                <a:latin typeface="Aptos"/>
              </a:rPr>
              <a:t>+1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361188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One point more penetration on service parts.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BDBDBD"/>
                </a:solidFill>
                <a:latin typeface="Aptos"/>
              </a:rPr>
              <a:t>About €256K on the FY2026 base.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BDBDBD"/>
                </a:solidFill>
                <a:latin typeface="Aptos"/>
              </a:rPr>
              <a:t>Today: 22% captured.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F2F2"/>
                </a:solidFill>
                <a:latin typeface="Aptos"/>
              </a:rPr>
              <a:t>We will not get there by asking harder. We get there by pricing the right parts to 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In no market do we capture all of it, and our two largest CV customers capture the least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GPS by distributor  |  FY2026  |  all 18 markets below 100%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gps_spu_by_distributor.csv, FY2026. Excludes Ukraine, Armenia, Kazakhstan, Palestine (no vehicle count).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325880"/>
            <a:ext cx="2944368" cy="50749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5361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929384"/>
            <a:ext cx="82296" cy="8229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ITUK 47% and UTI 40%: our two CV-only customers are below the 56% average.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816351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61487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The high figures (Finland, Belgium, Ireland) are small markets or near their ceiling.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703319"/>
            <a:ext cx="82296" cy="82296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648455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The ceiling is a calculated yardstick, not a promise.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74320" y="1783080"/>
          <a:ext cx="85953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6208776"/>
            <a:ext cx="109728" cy="10972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DBD"/>
                </a:solidFill>
                <a:latin typeface="Aptos"/>
              </a:rPr>
              <a:t>CV customer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6208776"/>
            <a:ext cx="109728" cy="109728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617220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DBD"/>
                </a:solidFill>
                <a:latin typeface="Aptos"/>
              </a:rPr>
              <a:t>Mixed LD / MD / 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6208776"/>
            <a:ext cx="109728" cy="109728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617220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DBD"/>
                </a:solidFill>
                <a:latin typeface="Aptos"/>
              </a:rPr>
              <a:t>LCV-led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PMS: WHERE THE ROOM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Filters are largely won. The service parts next to the filter are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PMS capture by category, CV customers  |  FY2026  |  network 22%, one point is about €256K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pms_capture_by_db_year.csv (network lane, 14 categories). Capped at 100% for display. Air-filter capture uses a provisional 0.5 interval factor.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325880"/>
            <a:ext cx="2944368" cy="50749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5361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929384"/>
            <a:ext cx="82296" cy="8229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Oil, fuel and air filters are at or near full capture at UTI and strong at ITUK.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816351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61487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Brake pads, brake shoes and clutch parts are mostly below 50% at both customers.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703319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648455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This is where the UTI SPA puts its extra volume (slide 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416551"/>
            <a:ext cx="82296" cy="82296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361688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Capture above 100% is a sign the interval assumption needs checking.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74320" y="1783080"/>
          <a:ext cx="859536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WHY WE LOSE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521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Where distributors tell us we lose, the reason is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What distributors said in the August 2026 sales reviews, and what the SPA file assumes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Sources: 05_memory/briefs/sales_reviews_Koen_2026-08-05_06.md; ISZE_SPA_Optimizer_V4.xlsx (Assumptions, SPA Rationale).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577840" cy="2057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64008" cy="20574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Aptos"/>
              </a:rPr>
              <a:t>Germany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  <a:latin typeface="Aptos"/>
              </a:rPr>
              <a:t>Brake rotor: aftermarket about €80, Isuzu about €100. Fuel filter: aftermarket about €5.90, an accepted loss. Genuine is shifting to value-brand parts.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20240"/>
            <a:ext cx="5577840" cy="2057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20240"/>
            <a:ext cx="64008" cy="20574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30613"/>
                </a:solidFill>
                <a:latin typeface="Aptos"/>
              </a:rPr>
              <a:t>IUK (UK)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  <a:latin typeface="Aptos"/>
              </a:rPr>
              <a:t>Brakes down €243K. Dealers say Isuzu brakes and wipers are too dear and ask for a stronger second line. Past wiper campaigns worked.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5577840" cy="2057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64008" cy="2057400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A000"/>
                </a:solidFill>
                <a:latin typeface="Aptos"/>
              </a:rPr>
              <a:t>UTI (Israel)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463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  <a:latin typeface="Aptos"/>
              </a:rPr>
              <a:t>Oil filters go to value-brand parts; fuel and air filters are a pilot candidate. UTI wants delivered price, lead time and minimum order quantity solved together.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160520"/>
            <a:ext cx="5577840" cy="2057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160520"/>
            <a:ext cx="64008" cy="205740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43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7B7B7"/>
                </a:solidFill>
                <a:latin typeface="Aptos"/>
              </a:rPr>
              <a:t>SPA file assumption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  <a:latin typeface="Aptos"/>
              </a:rPr>
              <a:t>Aftermarket competitors undercut genuine by 25 to 40% on the SPA lines. Without a price answer, lines erode an estimated 10 to 15% a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A000"/>
                </a:solidFill>
                <a:latin typeface="Aptos"/>
              </a:rPr>
              <a:t>The answer is a price that wins the part, paid for by all three of us, not by the distributor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HOW WE DO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521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Each of us gives a little margin. Together we win the service bay.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A reinforcing loop. UTI figures from the SPA optimizer v4 (53 part numbers, 12 months).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ISZE_SPA_Optimizer_V4.xlsx (SPA Optimizer, Scenario Planner, Customer View); IML purchase-price cut set at 7% in the Assumptions tab.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Circular Arrow 8"/>
          <p:cNvSpPr/>
          <p:nvPr/>
        </p:nvSpPr>
        <p:spPr>
          <a:xfrm>
            <a:off x="4864608" y="2880360"/>
            <a:ext cx="2468880" cy="2468880"/>
          </a:xfrm>
          <a:prstGeom prst="circularArrow">
            <a:avLst/>
          </a:prstGeom>
          <a:solidFill>
            <a:srgbClr val="5A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30368" y="3246120"/>
            <a:ext cx="1737360" cy="173736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2F2F2"/>
                </a:solidFill>
                <a:latin typeface="Aptos"/>
              </a:rPr>
              <a:t>+1.8% 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4069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2F2F2"/>
                </a:solidFill>
                <a:latin typeface="Aptos"/>
              </a:rPr>
              <a:t>+1 pt PMS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44805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>
                <a:solidFill>
                  <a:srgbClr val="F2F2F2"/>
                </a:solidFill>
                <a:latin typeface="Aptos"/>
              </a:rPr>
              <a:t>REINFORCING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31750">
            <a:solidFill>
              <a:srgbClr val="F5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87451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000"/>
                </a:solidFill>
                <a:latin typeface="Aptos"/>
              </a:rPr>
              <a:t>IML (Japan)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212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F2F2"/>
                </a:solidFill>
                <a:latin typeface="Aptos"/>
              </a:rPr>
              <a:t>GIVES  7% off purchase price: €37K a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GETS  more purchase volume: up to €113K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52044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31750">
            <a:solidFill>
              <a:srgbClr val="E306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Aptos"/>
              </a:rPr>
              <a:t>ISZE (Europe)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9502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F2F2"/>
                </a:solidFill>
                <a:latin typeface="Aptos"/>
              </a:rPr>
              <a:t>GIVES  basket margin 42% → 32%: −€86K gross profit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GETS  +715 pieces (+4%), basket protected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521208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31750">
            <a:solidFill>
              <a:srgbClr val="F5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A000"/>
                </a:solidFill>
                <a:latin typeface="Aptos"/>
              </a:rPr>
              <a:t>Distributor (UTI)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56418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F2F2"/>
                </a:solidFill>
                <a:latin typeface="Aptos"/>
              </a:rPr>
              <a:t>GIVES  commits 18,110 pieces in 12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989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GETS  a price that holds the customer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520440"/>
            <a:ext cx="3566160" cy="1188720"/>
          </a:xfrm>
          <a:prstGeom prst="roundRect">
            <a:avLst>
              <a:gd name="adj" fmla="val 12000"/>
            </a:avLst>
          </a:prstGeom>
          <a:solidFill>
            <a:srgbClr val="303030"/>
          </a:solidFill>
          <a:ln w="31750">
            <a:solidFill>
              <a:srgbClr val="B7B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11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7B7B7"/>
                </a:solidFill>
                <a:latin typeface="Aptos"/>
              </a:rPr>
              <a:t>Customer and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5020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F2F2"/>
                </a:solidFill>
                <a:latin typeface="Aptos"/>
              </a:rPr>
              <a:t>GIVES  nothing: pays about 20% under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GETS  genuine parts at a fair price, warranty intact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9560" y="2377440"/>
            <a:ext cx="1783080" cy="1115568"/>
          </a:xfrm>
          <a:prstGeom prst="line">
            <a:avLst/>
          </a:prstGeom>
          <a:ln w="44450">
            <a:solidFill>
              <a:srgbClr val="E3061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909560" y="4736592"/>
            <a:ext cx="1783080" cy="1069848"/>
          </a:xfrm>
          <a:prstGeom prst="line">
            <a:avLst/>
          </a:prstGeom>
          <a:ln w="44450">
            <a:solidFill>
              <a:srgbClr val="E3061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194560" y="4736592"/>
            <a:ext cx="2103120" cy="1069848"/>
          </a:xfrm>
          <a:prstGeom prst="line">
            <a:avLst/>
          </a:prstGeom>
          <a:ln w="44450">
            <a:solidFill>
              <a:srgbClr val="E3061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194560" y="2377440"/>
            <a:ext cx="2103120" cy="1115568"/>
          </a:xfrm>
          <a:prstGeom prst="line">
            <a:avLst/>
          </a:prstGeom>
          <a:ln w="44450">
            <a:solidFill>
              <a:srgbClr val="E3061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78240" y="2468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DBDBD"/>
                </a:solidFill>
                <a:latin typeface="Aptos"/>
              </a:rPr>
              <a:t>cheaper stock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257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DBDBD"/>
                </a:solidFill>
                <a:latin typeface="Aptos"/>
              </a:rPr>
              <a:t>SPA 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532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DBDBD"/>
                </a:solidFill>
                <a:latin typeface="Aptos"/>
              </a:rPr>
              <a:t>price passed 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25146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DBDBD"/>
                </a:solidFill>
                <a:latin typeface="Aptos"/>
              </a:rPr>
              <a:t>more genuine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CASE: UTI (ISRAEL)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The UTI SPA moves 53 part numbers to a price that holds the volume. It costs gross profit, and IML covers part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UTI SPA basket, 53 part numbers  |  12 months from 1 May 2026  |  € thousand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ISZE_SPA_Optimizer_V4.xlsx (SPA Optimizer total row, Scenario Planner), ISZE_SPA_RunRate_UTI.html. Basket = 53 part numbers; Q1 billing view used a 48-part basket.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325880"/>
            <a:ext cx="2944368" cy="50749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5361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929384"/>
            <a:ext cx="82296" cy="8229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2423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Gross profit falls from €321K to €236K after IML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642616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587752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The customer saves about €180K on the committed quantities, about 20% under 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529584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474720"/>
            <a:ext cx="2423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To earn the profit back, we need about €265K more sales at the SPA margin, or volume we would otherwise lose.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590288"/>
            <a:ext cx="82296" cy="82296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535424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This is an investment, not a saving. Slide 8 shows where the volume should come from.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74320" y="1783080"/>
          <a:ext cx="859536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760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F2F2"/>
                </a:solidFill>
                <a:latin typeface="Aptos"/>
              </a:rPr>
              <a:t>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BDBDBD"/>
                </a:solidFill>
                <a:latin typeface="Aptos"/>
              </a:rPr>
              <a:t>part numbers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760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F2F2"/>
                </a:solidFill>
                <a:latin typeface="Aptos"/>
              </a:rPr>
              <a:t>18,110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6172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BDBDBD"/>
                </a:solidFill>
                <a:latin typeface="Aptos"/>
              </a:rPr>
              <a:t>pieces a year (+715)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760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F2F2"/>
                </a:solidFill>
                <a:latin typeface="Aptos"/>
              </a:rP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6172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BDBDBD"/>
                </a:solidFill>
                <a:latin typeface="Aptos"/>
              </a:rPr>
              <a:t>basket margin (was 42%)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760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30613"/>
                </a:solidFill>
                <a:latin typeface="Aptos"/>
              </a:rPr>
              <a:t>€37K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6172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BDBDBD"/>
                </a:solidFill>
                <a:latin typeface="Aptos"/>
              </a:rPr>
              <a:t>IML support a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CASE: UTI (ISRAEL)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The SPA asks UTI for more brakes and clutches, where our PMS capture is lowest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Committed SPA pieces versus last 12 months, by part group  |  % change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ISZE_SPA_RunRate_UTI.html (SPA Optimizer v4 data, 53 lines); UTI meeting notes 7 Jul 2026 (June billing); gps_spu_by_distributor.csv (UTI FY2026).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15984" y="1325880"/>
            <a:ext cx="2944368" cy="50749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53619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929384"/>
            <a:ext cx="82296" cy="8229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874519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Brakes and clutches +34% in pieces, other wear and body parts +31%.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816351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61487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Filters are committed 7% below the last 12 months. That is price given on volume UTI already buys.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703319"/>
            <a:ext cx="82296" cy="82296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648455"/>
            <a:ext cx="24231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First proof: the June SPA order was €277K, 27% of the quarter. Whether it is real demand or stock build is not confirmed.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764023"/>
            <a:ext cx="82296" cy="82296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4709159"/>
            <a:ext cx="24231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2F2F2"/>
                </a:solidFill>
                <a:latin typeface="Aptos"/>
              </a:rPr>
              <a:t>UTI GPS is 40%. +1.8% of its wallet is about €149K, about a fifth of the SPA basket.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274320" y="1783080"/>
          <a:ext cx="85953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SPECIAL PRICE 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521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One SPA is running and priced. The others are agreed in principle or still proposals.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Status as documented in our files  |  amber = document or decision still needed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Sources: ISZE_SPA_Optimizer_V4.xlsx; UTI meeting notes 7 Jul 2026; sales review notes 5-6 Aug 2026 (Germany, Greece, IUK); action-plan-fy2027.md; UMI_SPA_Proposed_Prices.html.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E30613"/>
                </a:solidFill>
                <a:latin typeface="Aptos"/>
              </a:rPr>
              <a:t>SPA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E30613"/>
                </a:solidFill>
                <a:latin typeface="Aptos"/>
              </a:rPr>
              <a:t>WHAT THE FILES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830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E30613"/>
                </a:solidFill>
                <a:latin typeface="Aptos"/>
              </a:rPr>
              <a:t>EVIDENCE / 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7830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E30613"/>
                </a:solidFill>
                <a:latin typeface="Aptos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03120"/>
            <a:ext cx="11658600" cy="74980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F2F2"/>
                </a:solidFill>
                <a:latin typeface="Aptos"/>
              </a:rPr>
              <a:t>UTI (Israel)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76272"/>
            <a:ext cx="4480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ptos"/>
              </a:rPr>
              <a:t>In force since 1 May 2026: 53 part numbers, 18,110 pieces, €729K. June billed €277K.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76272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Priced and running. Signed approval not in our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19456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B7B7B7"/>
                </a:solidFill>
                <a:latin typeface="Aptos"/>
              </a:rPr>
              <a:t>CONFIRM SIGNED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53512"/>
            <a:ext cx="11658600" cy="74980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449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F2F2"/>
                </a:solidFill>
                <a:latin typeface="Aptos"/>
              </a:rPr>
              <a:t>IUK (UK)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26664"/>
            <a:ext cx="4480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ptos"/>
              </a:rPr>
              <a:t>Agreed in principle 6 Aug: brakes first, then wipers and strategic parts, 6 months, highest-level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26664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No priced SPA yet. Brakes were down €243K.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4495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5A000"/>
                </a:solidFill>
                <a:latin typeface="Aptos"/>
              </a:rPr>
              <a:t>TO BE PRICED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03904"/>
            <a:ext cx="11658600" cy="74980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895344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F2F2"/>
                </a:solidFill>
                <a:latin typeface="Aptos"/>
              </a:rPr>
              <a:t>Germany and Greece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877056"/>
            <a:ext cx="4480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ptos"/>
              </a:rPr>
              <a:t>Both asked for an SPA on strategic parts, older vehicles. Template sent.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877056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Part list and target prices to come from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895344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5A000"/>
                </a:solidFill>
                <a:latin typeface="Aptos"/>
              </a:rPr>
              <a:t>PROPOSED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54296"/>
            <a:ext cx="11658600" cy="74980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745736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F2F2"/>
                </a:solidFill>
                <a:latin typeface="Aptos"/>
              </a:rPr>
              <a:t>ITUK brake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27448"/>
            <a:ext cx="4480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ptos"/>
              </a:rPr>
              <a:t>Customer proposal received 15 Sep. Payment mechanism under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727448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Full study with the SPA optimizer proposed.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745736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5A000"/>
                </a:solidFill>
                <a:latin typeface="Aptos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504688"/>
            <a:ext cx="11658600" cy="74980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596127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F2F2"/>
                </a:solidFill>
                <a:latin typeface="Aptos"/>
              </a:rPr>
              <a:t>IML campaign packs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577840"/>
            <a:ext cx="4480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ptos"/>
              </a:rPr>
              <a:t>4 PMS packs for N75 and N35, 55 part numbers.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577840"/>
            <a:ext cx="25603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BDBDBD"/>
                </a:solidFill>
                <a:latin typeface="Aptos"/>
              </a:rPr>
              <a:t>Study file not available to us 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596127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5A000"/>
                </a:solidFill>
                <a:latin typeface="Aptos"/>
              </a:rPr>
              <a:t>CONFIRM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WHAT COULD STOP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521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Four points must be settled before the targets go to distributors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Open points from the data checks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Source: HANDOVER_GPS_Extended_Target_FY27.md §6; ISZE_SPA_Optimizer_V4.xlsx (Assumptions health check); FACTS.md.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1658600" cy="100584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4008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The margin is a real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6596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At UTI, gross profit falls €86K after IML support. It pays back only if sales rise about 36% at the SPA margin, or if it stops the erosion we would otherwise suffer. We must measure which.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11658600" cy="100584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64008" cy="1005840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Small markets reach the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10896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In the FY2027 model Finland (121%), Iceland and Ireland (105%) exceed max spend after the stretch. Proposal: no stretch for these three.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11658600" cy="100584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64008" cy="1005840"/>
          </a:xfrm>
          <a:prstGeom prst="rect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ITUK and UTI are on an older basis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25196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Their stretch comes from the earlier proposal (vehicle count one year ahead, no +5% price). Decision: rebase to 1.8% or keep.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257800"/>
            <a:ext cx="11658600" cy="100584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64008" cy="1005840"/>
          </a:xfrm>
          <a:prstGeom prst="rect">
            <a:avLst/>
          </a:prstGeom>
          <a:solidFill>
            <a:srgbClr val="B7B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PMS has two correct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39496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The IML service schedule and our network model give different ITUK capture. This deck uses the network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39319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0613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85800"/>
            <a:ext cx="11521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F2F2"/>
                </a:solidFill>
                <a:latin typeface="Aptos"/>
              </a:rPr>
              <a:t>We ask IML for four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481328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DBD"/>
                </a:solidFill>
                <a:latin typeface="Aptos"/>
              </a:rPr>
              <a:t>So that distributor discussions can start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" y="6583680"/>
            <a:ext cx="11731752" cy="0"/>
          </a:xfrm>
          <a:prstGeom prst="line">
            <a:avLst/>
          </a:prstGeom>
          <a:ln>
            <a:solidFill>
              <a:srgbClr val="4A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DBD"/>
                </a:solidFill>
                <a:latin typeface="Aptos"/>
              </a:rPr>
              <a:t>Dates and owners to be agreed in the meeting.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BDBDBD"/>
                </a:solidFill>
                <a:latin typeface="Apto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11658600" cy="9601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E3061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3852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Confirm IML purchase-price support for the UTI SPA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3852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7% on 53 part numbers, about €37K a year. We report volume and margin back every quarter.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1658600" cy="9601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E3061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3580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Agree the same frame for IUK brakes and wipers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3580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Priced SPA from ISZE, IML support case, 6-month review. Germany and Greece follow.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023360"/>
            <a:ext cx="11658600" cy="9601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E30613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3308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Endorse +1.8% GPS and +1 point PMS for FY2027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3308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About €1.0M and €256K on the FY2026 base. Shared with each distributor as a business review, as an amount.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20640"/>
            <a:ext cx="11658600" cy="96012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79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E30613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30368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F2F2"/>
                </a:solidFill>
                <a:latin typeface="Aptos"/>
              </a:rPr>
              <a:t>Agree one SPA register and one scorecard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3036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BDBDBD"/>
                </a:solidFill>
                <a:latin typeface="Aptos"/>
              </a:rPr>
              <a:t>Signed approval, lines, volume, margin. Owner and date for 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5A000"/>
                </a:solidFill>
                <a:latin typeface="Aptos"/>
              </a:rPr>
              <a:t>Next step: owner and date for each decision, to be agreed in this meeting.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64008"/>
            <a:ext cx="11786616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ISZE  ·  VEHICLE PARTS &amp;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GPS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18 markets — UIO, maximum spend, actual sales, and GPS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</a:rPr>
              <a:t>FY2026 per distributor  |  Max spend = UIO × benchmark SPU  |  GPS% = actual ÷ max spend  |  FY2027 BP = ISZE plan submitted to IML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08080"/>
                </a:solidFill>
              </a:rPr>
              <a:t>Source: gps_spu_by_distributor.csv (FY2026); bp_fy27_reviewed.json. Max spend uses per-market benchmark SPU. FY2027 BP is plan only (V3.3 extended target = €34.5M).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08080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28800"/>
            <a:ext cx="246888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842516"/>
            <a:ext cx="241401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Distributor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828800"/>
            <a:ext cx="7315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842516"/>
            <a:ext cx="6949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UIO
FY2026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16459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842516"/>
            <a:ext cx="15727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Max Spend
€K  FY2026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828800"/>
            <a:ext cx="16459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1842516"/>
            <a:ext cx="15727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ISZE Sales
€K  FY2026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828800"/>
            <a:ext cx="7315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1842516"/>
            <a:ext cx="6949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GPS%
FY2026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828800"/>
            <a:ext cx="16459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1842516"/>
            <a:ext cx="1609344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Target GPS%
+1.8pp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16459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842516"/>
            <a:ext cx="15727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FY2027 BP
€K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1828800"/>
            <a:ext cx="114300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62488" y="1842516"/>
            <a:ext cx="106984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Δ  BP vs
Sales €K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322576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336292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IUK  (UK — LCV)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32257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15768" y="233629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47,783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232257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233629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11,946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232257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233629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6,132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232257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233629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51.3%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232257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2336292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53.1%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232257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8" y="233629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6,063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44200" y="2322576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62488" y="2336292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-69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523744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537460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ITUK  (UK — CV)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2523744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8" y="253746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22,389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252374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47288" y="253746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11,836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252374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93208" y="253746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5,565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2523744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39128" y="253746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47.0%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60" y="252374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0648" y="2537460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48.8%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252374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6568" y="253746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6,974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44200" y="2523744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62488" y="2537460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+1410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2724912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2738628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UTI  (Israel — CV)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2724912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15768" y="273862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10,336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29000" y="272491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7288" y="273862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8,271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4920" y="272491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93208" y="273862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3,332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2724912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39128" y="273862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40.3%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52360" y="272491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0648" y="2738628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42.1%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98280" y="272491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16568" y="273862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3,098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44200" y="2724912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62488" y="2738628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-233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2926080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2939796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UMI  (Israel — LCV)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97480" y="2926080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15768" y="293979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18,542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29000" y="292608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47288" y="293979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4,636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74920" y="292608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93208" y="293979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3,319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20840" y="2926080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39128" y="293979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71.6%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292608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70648" y="2939796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73.4%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98280" y="292608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16568" y="293979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2,973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44200" y="2926080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62488" y="2939796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-346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3127248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3140964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Germany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97480" y="3127248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15768" y="314096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12,855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29000" y="312724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47288" y="314096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3,412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74920" y="312724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93208" y="314096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2,536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20840" y="3127248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39128" y="314096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74.3%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52360" y="312724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70648" y="3140964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76.1%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98280" y="312724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16568" y="314096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2,914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744200" y="3127248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62488" y="3140964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+378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3328416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3342132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Belgium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97480" y="3328416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15768" y="334213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9,594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29000" y="332841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447288" y="334213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2,454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74920" y="332841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93208" y="334213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2,109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20840" y="3328416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39128" y="334213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85.9%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52360" y="332841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470648" y="3342132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87.7%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098280" y="332841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16568" y="334213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2,297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44200" y="3328416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62488" y="3342132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+187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3529584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3543300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Portugal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97480" y="3529584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15768" y="354330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8,176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29000" y="352958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47288" y="354330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3,494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74920" y="352958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93208" y="354330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1,710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20840" y="3529584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39128" y="354330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48.9%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452360" y="352958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470648" y="3543300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50.7%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098280" y="352958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116568" y="354330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1,858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744200" y="3529584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762488" y="3543300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+148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3730752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3744468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Norway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97480" y="3730752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15768" y="374446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7,929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29000" y="373075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447288" y="374446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1,982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074920" y="373075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93208" y="374446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1,417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20840" y="3730752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739128" y="374446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71.5%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452360" y="373075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470648" y="3744468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73.3%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098280" y="373075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116568" y="374446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1,765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744200" y="3730752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62488" y="3744468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+348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3931920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65176" y="3945636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Sweden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97480" y="3931920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715768" y="394563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8,443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29000" y="3931920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447288" y="394563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2,111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74920" y="3931920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093208" y="394563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1,278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720840" y="3931920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39128" y="394563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60.6%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52360" y="3931920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470648" y="3945636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62.4%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098280" y="3931920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116568" y="394563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1,464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744200" y="3931920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762488" y="3945636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+186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28600" y="4133088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65176" y="4146804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Ireland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697480" y="4133088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715768" y="414680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3,056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429000" y="4133088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447288" y="414680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1,391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074920" y="4133088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093208" y="414680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1,187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720840" y="4133088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739128" y="414680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85.4%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452360" y="4133088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470648" y="4146804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87.2%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098280" y="4133088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16568" y="414680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1,267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744200" y="4133088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762488" y="4146804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+80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28600" y="4334256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5176" y="4347972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Greece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697480" y="433425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715768" y="434797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3,742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429000" y="433425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447288" y="434797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954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074920" y="433425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093208" y="434797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520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720840" y="4334256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739128" y="434797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54.6%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452360" y="433425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470648" y="4347972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56.4%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098280" y="4334256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116568" y="434797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574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744200" y="4334256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762488" y="4347972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+54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28600" y="4535424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65176" y="4549140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Cyprus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697480" y="4535424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2715768" y="454914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2,308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429000" y="453542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447288" y="454914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676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074920" y="453542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093208" y="454914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428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720840" y="4535424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739128" y="454914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63.3%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452360" y="453542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470648" y="4549140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65.1%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9098280" y="4535424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116568" y="454914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540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744200" y="4535424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762488" y="4549140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+111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28600" y="4736592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65176" y="4750308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Hungary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697480" y="4736592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715768" y="475030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3,734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429000" y="473659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447288" y="475030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934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74920" y="473659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093208" y="475030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330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720840" y="4736592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739128" y="475030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35.4%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452360" y="473659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470648" y="4750308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37.1%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098280" y="4736592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116568" y="475030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350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744200" y="4736592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0762488" y="4750308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+20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228600" y="4937760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265176" y="4951476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Finland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2697480" y="4937760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715768" y="495147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1,204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429000" y="493776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47288" y="495147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301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074920" y="493776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5093208" y="495147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278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720840" y="4937760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739128" y="495147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92.3%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452360" y="493776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470648" y="4951476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94.1%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098280" y="4937760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116568" y="495147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360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744200" y="4937760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762488" y="4951476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+82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28600" y="5138928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265176" y="5152644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Malta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2697480" y="5138928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2715768" y="515264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1,040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429000" y="513892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447288" y="515264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379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074920" y="513892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093208" y="515264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207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720840" y="5138928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739128" y="515264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54.5%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452360" y="513892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470648" y="5152644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56.3%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098280" y="5138928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9116568" y="5152644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233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744200" y="5138928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762488" y="5152644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+27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28600" y="5340096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65176" y="5353812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Romania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2697480" y="5340096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2715768" y="535381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1,071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3429000" y="534009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447288" y="535381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268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074920" y="534009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5093208" y="535381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175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6720840" y="5340096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739128" y="535381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65.4%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7452360" y="534009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470648" y="5353812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67.2%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9098280" y="5340096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116568" y="5353812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200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0744200" y="5340096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0762488" y="5353812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+24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228600" y="5541264"/>
            <a:ext cx="2468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265176" y="5554980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Denmark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2697480" y="5541264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2715768" y="555498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851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3429000" y="554126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3447288" y="555498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213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5074920" y="554126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5093208" y="555498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148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6720840" y="5541264"/>
            <a:ext cx="7315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739128" y="555498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69.5%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7452360" y="554126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470648" y="5554980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71.3%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098280" y="5541264"/>
            <a:ext cx="16459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116568" y="5554980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188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0744200" y="5541264"/>
            <a:ext cx="11430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0762488" y="5554980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+39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228600" y="5742432"/>
            <a:ext cx="246888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65176" y="5756148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</a:rPr>
              <a:t>Iceland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2697480" y="5742432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2715768" y="575614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406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3429000" y="574243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3447288" y="575614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102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5074920" y="574243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5093208" y="575614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85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6720840" y="5742432"/>
            <a:ext cx="7315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739128" y="575614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84.0%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7452360" y="574243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470648" y="5756148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85.8%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098280" y="5742432"/>
            <a:ext cx="164592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9116568" y="5756148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105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744200" y="5742432"/>
            <a:ext cx="1143000" cy="20116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762488" y="5756148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A1A1A"/>
                </a:solidFill>
              </a:rPr>
              <a:t>+19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228600" y="5943600"/>
            <a:ext cx="246888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265176" y="5957316"/>
            <a:ext cx="24140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TOTAL  (18 distributors)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697480" y="5943600"/>
            <a:ext cx="7315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715768" y="595731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F3864"/>
                </a:solidFill>
              </a:rPr>
              <a:t>163,459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429000" y="5943600"/>
            <a:ext cx="16459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3447288" y="595731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</a:rPr>
              <a:t>55,359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074920" y="5943600"/>
            <a:ext cx="16459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5093208" y="595731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</a:rPr>
              <a:t>30,757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6720840" y="5943600"/>
            <a:ext cx="7315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739128" y="595731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F3864"/>
                </a:solidFill>
              </a:rPr>
              <a:t>55.6%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452360" y="5943600"/>
            <a:ext cx="16459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7470648" y="5957316"/>
            <a:ext cx="16093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F3864"/>
                </a:solidFill>
              </a:rPr>
              <a:t>57.4%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098280" y="5943600"/>
            <a:ext cx="164592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9116568" y="5957316"/>
            <a:ext cx="157276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</a:rPr>
              <a:t>33,222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744200" y="5943600"/>
            <a:ext cx="1143000" cy="20116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0762488" y="5957316"/>
            <a:ext cx="10698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F3864"/>
                </a:solidFill>
              </a:rPr>
              <a:t>+2466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28600" y="619048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808080"/>
                </a:solidFill>
              </a:rPr>
              <a:t>* Finland and Iceland FY2027 BP exceeds FY2026 benchmark max spend — driven by UIO growth in FY2027 plan; targets remain valid.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8549640" y="1828800"/>
            <a:ext cx="36576" cy="4389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8686800" y="1874520"/>
            <a:ext cx="2880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WHAT THIS MEANS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686800" y="214884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ITUK (47%) and UTI (40%) are our two largest CV customers and both sit well below the 56% average. The gap is structural — price, not relationship.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8686800" y="338328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Most LCV markets are near 60–85%. The ceiling is a benchmark, not a limit; markets above 90% are at practical capacity.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8686800" y="4480560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FY2027 BP (€33.2M plan) is €2.5M above FY2026. The +1.8pp GPS target adds another ~€1.0M on the extended target of €34.5M.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8686800" y="5623560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06060"/>
                </a:solidFill>
              </a:rPr>
              <a:t>Target GPS% = current + 1.8pp. Markets already above 90% are at practical ceiling; target is not applied mechanically.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64008"/>
            <a:ext cx="11786616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8229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ISZE  ·  VEHICLE PARTS &amp;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840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</a:rPr>
              <a:t>THE ROAD TO FY2031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From 56% GPS today to the Kosha plan target — the path requires more than SPAs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</a:rPr>
              <a:t>Anchor points confirmed  |  FY2028-FY2030 per-distributor targets to be built (Masumi: FY2027 done, ISZE to cover FY2028 onwards)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629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08080"/>
                </a:solidFill>
              </a:rPr>
              <a:t>Source: gps_spu_by_distributor.csv FY2026; ISZE GPS Extended Target V3.3 (FY2027); IML Kosha Plan Jan 2026 (FY2031 anchor).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294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08080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1887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568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920240"/>
            <a:ext cx="11887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19568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ISZE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920240"/>
            <a:ext cx="82296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1956816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GPS%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920240"/>
            <a:ext cx="73152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1956816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UIO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920240"/>
            <a:ext cx="516636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1956816"/>
            <a:ext cx="5093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Status / 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715768"/>
            <a:ext cx="11887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275234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FY2026
(baseline)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2715768"/>
            <a:ext cx="11887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3896" y="275234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€30.8M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715768"/>
            <a:ext cx="82296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42616" y="275234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55.6%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715768"/>
            <a:ext cx="7315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5576" y="275234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163K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715768"/>
            <a:ext cx="516636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2" y="275234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Confirmed  ·  gps_spu_by_distributor.csv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218688"/>
            <a:ext cx="11887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" y="325526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FY2027
(plan)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218688"/>
            <a:ext cx="11887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53896" y="325526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€33.2M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218688"/>
            <a:ext cx="82296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2616" y="325526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~56%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218688"/>
            <a:ext cx="73152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76" y="325526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</a:rPr>
              <a:t>~167K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3218688"/>
            <a:ext cx="5166360" cy="50292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325526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ISZE plan (BP). Extended target with +1.8pp GPS = €34.5M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72160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" y="375818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FY2028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372160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53896" y="375818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721608"/>
            <a:ext cx="8229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42616" y="375818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3721608"/>
            <a:ext cx="7315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65576" y="375818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3721608"/>
            <a:ext cx="51663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33672" y="375818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</a:rPr>
              <a:t>To be built by ISZE (Masumi rearranged FY2027 matrix)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22452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426110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FY2029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17320" y="422452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53896" y="426110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06040" y="4224528"/>
            <a:ext cx="8229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42616" y="426110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4224528"/>
            <a:ext cx="7315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65576" y="426110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4224528"/>
            <a:ext cx="51663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33672" y="426110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</a:rPr>
              <a:t>To be built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472744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" y="476402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FY2030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17320" y="4727448"/>
            <a:ext cx="11887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53896" y="476402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727448"/>
            <a:ext cx="8229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42616" y="476402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29000" y="4727448"/>
            <a:ext cx="73152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65576" y="476402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06060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0520" y="4727448"/>
            <a:ext cx="5166360" cy="502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33672" y="476402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</a:rPr>
              <a:t>To be built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5230368"/>
            <a:ext cx="118872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" y="526694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FY2031
(Kosha)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17320" y="5230368"/>
            <a:ext cx="118872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53896" y="5266944"/>
            <a:ext cx="1115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€52.1M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40" y="5230368"/>
            <a:ext cx="82296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42616" y="5266944"/>
            <a:ext cx="74980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29000" y="5230368"/>
            <a:ext cx="73152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65576" y="5266944"/>
            <a:ext cx="6583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5230368"/>
            <a:ext cx="516636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33672" y="5266944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IML Kosha plan anchor. +76% vs FY2024 (€29.6M). Requires structural demand growth.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" y="5321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▲ FY2027→FY2031 gap = +€17.3M (+50%). SPAs and GPS share improvements alone cannot bridge this; UIO growth, new markets, and mix shift are needed.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06840" y="1920240"/>
            <a:ext cx="36576" cy="3840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0" y="1965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3864"/>
                </a:solidFill>
              </a:rPr>
              <a:t>WHAT THIS MEANS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2267712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+€2.4M in FY2027 is achievable: SPAs, price discipline, and distributor engagement. The extended target (€34.5M) includes a +1.8pp GPS push.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0" y="3474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+€17.3M to FY2031 requires more than SPAs. It needs UIO growth, new category capture, and IML support on the structural cost gap.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4709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Next step: ISZE to build FY2028-2031 per-distributor target matrix, using Masumi's FY2027 framework as the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