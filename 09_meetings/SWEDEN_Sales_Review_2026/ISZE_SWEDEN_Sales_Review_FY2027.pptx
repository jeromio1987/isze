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SWEDEN  ·  SWEDEN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Sweden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Isuzu Sverige  ·  August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SWEDEN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00" b="1">
                <a:solidFill>
                  <a:srgbClr val="CC0E1E"/>
                </a:solidFill>
                <a:latin typeface="Calibri"/>
              </a:rPr>
              <a:t>—  </a:t>
            </a:r>
            <a:r>
              <a:rPr sz="1600">
                <a:solidFill>
                  <a:srgbClr val="1A1A1A"/>
                </a:solidFill>
                <a:latin typeface="Calibri"/>
              </a:rPr>
              <a:t>Parts Performance — category movers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00" b="1">
                <a:solidFill>
                  <a:srgbClr val="CC0E1E"/>
                </a:solidFill>
                <a:latin typeface="Calibri"/>
              </a:rPr>
              <a:t>—  </a:t>
            </a:r>
            <a:r>
              <a:rPr sz="1600">
                <a:solidFill>
                  <a:srgbClr val="1A1A1A"/>
                </a:solidFill>
                <a:latin typeface="Calibri"/>
              </a:rPr>
              <a:t>Parts Performance — Exhaust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00" b="1">
                <a:solidFill>
                  <a:srgbClr val="CC0E1E"/>
                </a:solidFill>
                <a:latin typeface="Calibri"/>
              </a:rPr>
              <a:t>—  </a:t>
            </a:r>
            <a:r>
              <a:rPr sz="1600">
                <a:solidFill>
                  <a:srgbClr val="1A1A1A"/>
                </a:solidFill>
                <a:latin typeface="Calibri"/>
              </a:rPr>
              <a:t>Parts Performance — Mirrors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00" b="1">
                <a:solidFill>
                  <a:srgbClr val="CC0E1E"/>
                </a:solidFill>
                <a:latin typeface="Calibri"/>
              </a:rPr>
              <a:t>—  </a:t>
            </a:r>
            <a:r>
              <a:rPr sz="1600">
                <a:solidFill>
                  <a:srgbClr val="1A1A1A"/>
                </a:solidFill>
                <a:latin typeface="Calibri"/>
              </a:rPr>
              <a:t>Parts Performance — where volume grew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00" b="1">
                <a:solidFill>
                  <a:srgbClr val="CC0E1E"/>
                </a:solidFill>
                <a:latin typeface="Calibri"/>
              </a:rPr>
              <a:t>—  </a:t>
            </a:r>
            <a:r>
              <a:rPr sz="1600">
                <a:solidFill>
                  <a:srgbClr val="1A1A1A"/>
                </a:solidFill>
                <a:latin typeface="Calibri"/>
              </a:rPr>
              <a:t>New Business — validation queue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00" b="1">
                <a:solidFill>
                  <a:srgbClr val="CC0E1E"/>
                </a:solidFill>
                <a:latin typeface="Calibri"/>
              </a:rPr>
              <a:t>—  </a:t>
            </a:r>
            <a:r>
              <a:rPr sz="1600">
                <a:solidFill>
                  <a:srgbClr val="1A1A1A"/>
                </a:solidFill>
                <a:latin typeface="Calibri"/>
              </a:rPr>
              <a:t>Service-Parts Coverage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00" b="1">
                <a:solidFill>
                  <a:srgbClr val="CC0E1E"/>
                </a:solidFill>
                <a:latin typeface="Calibri"/>
              </a:rPr>
              <a:t>—  </a:t>
            </a:r>
            <a:r>
              <a:rPr sz="1600">
                <a:solidFill>
                  <a:srgbClr val="1A1A1A"/>
                </a:solidFill>
                <a:latin typeface="Calibri"/>
              </a:rPr>
              <a:t>Fleet &amp; FY2027 Target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00" b="1">
                <a:solidFill>
                  <a:srgbClr val="CC0E1E"/>
                </a:solidFill>
                <a:latin typeface="Calibri"/>
              </a:rPr>
              <a:t>—  </a:t>
            </a:r>
            <a:r>
              <a:rPr sz="1600">
                <a:solidFill>
                  <a:srgbClr val="1A1A1A"/>
                </a:solidFill>
                <a:latin typeface="Calibri"/>
              </a:rPr>
              <a:t>SPA —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00" b="1">
                <a:solidFill>
                  <a:srgbClr val="CC0E1E"/>
                </a:solidFill>
                <a:latin typeface="Calibri"/>
              </a:rPr>
              <a:t>—  </a:t>
            </a:r>
            <a:r>
              <a:rPr sz="1600">
                <a:solidFill>
                  <a:srgbClr val="1A1A1A"/>
                </a:solidFill>
                <a:latin typeface="Calibri"/>
              </a:rPr>
              <a:t>R&amp;M — market discussion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00" b="1">
                <a:solidFill>
                  <a:srgbClr val="CC0E1E"/>
                </a:solidFill>
                <a:latin typeface="Calibri"/>
              </a:rPr>
              <a:t>—  </a:t>
            </a:r>
            <a:r>
              <a:rPr sz="1600">
                <a:solidFill>
                  <a:srgbClr val="1A1A1A"/>
                </a:solidFill>
                <a:latin typeface="Calibri"/>
              </a:rPr>
              <a:t>Data request: part-level Sales-to-Dealer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00" b="1">
                <a:solidFill>
                  <a:srgbClr val="CC0E1E"/>
                </a:solidFill>
                <a:latin typeface="Calibri"/>
              </a:rPr>
              <a:t>—  </a:t>
            </a:r>
            <a:r>
              <a:rPr sz="1600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Performance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Commercial parts billing (warranty/campaign excluded) EUR 549K against EUR 370K a year earlier — +48.4% (CY H1 2026 vs CY H1 2025, Jan–Jun).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drops (all categories): 8983952370 (DRIVE ASM; FINAL,RR) EUR -8K, 6 fewer pcs; 8975536860 (BODY ASM; REAR) EUR -4K, 3 fewer pcs; 8983953042 (FRAME ASM) EUR -3K, 1 fewer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gains (all categories): 8974995480 (FILTER; ACL) [TFR,TFS,UCR,UCS] EUR 7K, 255 more pcs; 5874123812 (INTERFACE MX2-T) EUR 5K, 5 more pcs; 8975554500 (FILTER; BLOWER UNIT) [TF*,UC*] EUR 5K, 40 more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Within Miscellaneous (EUR 52K, +203%): 7552816560 (BATTERY ASM; HIGH VO) EUR 39K, 1 more pcs; 5874123812 (INTERFACE MX2-T) EUR 5K, 5 more pcs; 8972660360 (TRANSFER ASM) EUR 2K, 1 more pcs.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EXHAUST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Exhaust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14,504 (CY H1 2025) to EUR 6,673 (CY H1 2026), down EUR 7,830 (-54%).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8983320764 (DPD ASM): EUR 4,395 to EUR 2,198, 1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8983511791 (PIPE; EXH): EUR 1,863 to EUR 0, 5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8981405904 (SILENCER ASM; EXH): EUR 1,573 to EUR 0, 11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8980139111 (VALVE; EGR): EUR 1,458 to EUR 0, 10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MIRRORS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Mirrors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5,505 (CY H1 2025) to EUR 3,297 (CY H1 2026), down EUR 2,208 (-40%).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8984813531 (MIRROR ASM; DOOR): EUR 939 to EUR 0, 7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7551828420 (MIRROR ASM; DOOR): EUR 650 to EUR 126, 4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8983288527 (MIRROR ASM; DOOR): EUR 505 to EUR 0, 4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7551828430 (MIRROR ASM; DOOR): EUR 521 to EUR 126, 3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volume grew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926080"/>
                <a:gridCol w="1645920"/>
                <a:gridCol w="1737360"/>
                <a:gridCol w="1737360"/>
                <a:gridCol w="182880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8974995480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FILTER; ACL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TFR,TFS,UCR,UCS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7,517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14,527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7,010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5874123812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INTERFACE MX2-T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8,022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13,137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5,115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8975554500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FILTER; BLOWER UNIT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TF*,UC*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15,796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20,691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4,895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7552172691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BUMPER ASM; FRT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708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5,391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4,683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8977993753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LAMP ASM; HEAD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3,624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7,900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4,276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8975509392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BUMPER ASM; FRT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11,601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15,104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3,504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840480"/>
            <a:ext cx="11612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Miscellaneous +203%, Body parts +34%, Electrical sensors +157% — where the commercial volume went.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Claim-matched PNs (154 distinct) and campaign/recall text matches are already excluded from this growth list. Residual warranty on unmapped PNs can remain.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PNs ranked by largest EUR increase (prior-period sales &gt; 0). Worth agreeing which of these are repeatable and which were one-off.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New Business — validation queue (CY H1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21945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Current sales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7552816560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BATTERY ASM; HIGH VOLTAGE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38,794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8972746690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TANK ASM; DEF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8,829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Warranty / campaign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8978461152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GLASS; WINDSHIELD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7,174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Warranty / campaign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8978249025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LAMP ASM; HEAD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4,646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7552689700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PUMP; WATER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4,550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5884026751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COMPRESSION GAUGE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4,003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0690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These lines had no prior-period sales, so they are kept out of the incremental-growth 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 first sale can be a new model, a supersession, timing, or a warranty campaign. It is not treated as a commercial win until that cause is confirmed.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SERVICE-PARTS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coverage sits below the network on every routine 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pic>
        <p:nvPicPr>
          <p:cNvPr id="8" name="Picture 7" descr="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Fuel filter 21.2% against 48.0%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Oil filter 48.7% against 61.2%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Every market here is measured on the same fleet-and-interval model, so the comparison is like-for-like even where the underlying interval assumption is debatable.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agreeing which category we tackle first, and what the joint action 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decline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size (calendar year): 8,443 vehicles in 2025 → 8,305 working estimate for end-2026 (-1.6%).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is calendar years 2019–2026 only. 2026 is a working year-end estimate, not a fiscal-year figure.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End-2026 mix: LCV / D-Max 8,305; CV — LD 0.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extended target (ISZE→DB) applies a 5% price adjustment and 1.8% stretch — locked at EUR 1,502,024 from GPS Extended Target V3.1 (Dashboard column I).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 the target is built from a slightly smaller fleet — not from an assumed growth story.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extended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ISZE → DB extended target (V3.1 Dashboard column I)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Business Plan / actual FY27 base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1,464,302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Market potential (max spend FY27)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2,095,636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Stretch (+1.8% of max spend)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37,721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EXTENDED TARGET (locked)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1,502,024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4069080"/>
            <a:ext cx="11612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Extended target = BP + stretch; stretch default is 1.8% (network rule from GPS Extended Target V3.1).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Figure locked from GPS Extended Target FY27 V3.1, Dashboard column I (SWEDEN): EUR 1,502,024.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FY2027 business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target starts from the FY2027 Business Plan for this market, EUR 1,464,302.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Your fleet outlook (-1.6%) sets the market potential the stretch is measured against.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extended target (V3.1 col I)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1,502,024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vs BP FY27 (EUR 1,464,302)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+2.6%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Stretch included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+1.8%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074920"/>
            <a:ext cx="11612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Until the incentive is confirmed, treat the FY2027 extended target as the working figure (BP + stretch), not a locked commercial commitment.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SWEDEN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Isuzu Sverige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parc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Already halfway there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You already report Sales-to-Dealer monthly. The ask is the same data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612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FY2027 extended target: EUR 1,502,024 (V3.1 Dashboard column I, +1.8% stretch).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the incentive alongside the price adjustment once approved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Exhaust / Mirrors: agree which category we tackle first, and what the joint action is.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Agree part-level Sales-to-Dealer data sharing, effective 01/01/2025.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SPA: SWEDEN proposal, ISZE review and counter-proposal cycle to follow.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SWEDEN · ISUZU SVERIGE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Deep dive — detail behind the Mode A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258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Extra detail for meeting prep — pick which slides to share with Isuzu Sverige.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Mode A ends on the previous closing slide.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Label in all charts: “Genuine with BVP alternative” (not “genuine contested”).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Deep-dive 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— fiscal year (headline vs excl. warranty; max two lines)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FY2025 → FY2026 wallet mix (Genuine / Genuine with BVP alternative / BVP)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Where the money went — outside the service-parts basket (FY)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Service parts: CY capture vs network + FY billing (capture % is CY-only by design)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Brake pads — BVP share of total brake pad sales (FY)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AIM exposure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Warranty — two lenses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How to use this in the meeting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GPS: fiscal year headline vs after warranty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19</a:t>
            </a:r>
          </a:p>
        </p:txBody>
      </p:sp>
      <p:pic>
        <p:nvPicPr>
          <p:cNvPr id="8" name="Picture 7" descr="modeb_g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Red = fiscal-year GPS (frozen CY2025 wallet). FY25 57.0% → FY26 56.3%.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Black = the same GPS after removing warranty parts (€). FY26 ≈ 46.6% (warranty EUR 303,689 ≈ 25% of FY26 billing).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Both lines divide by the same wallet (EUR 2,135,105), so the gap between them is warranty and nothing else.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WALLET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FY2025 → FY2026 wallet mix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20</a:t>
            </a:r>
          </a:p>
        </p:txBody>
      </p:sp>
      <p:pic>
        <p:nvPicPr>
          <p:cNvPr id="8" name="Picture 7" descr="modeb_fy_wa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323369"/>
            <a:ext cx="6949440" cy="29311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06640" y="123444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Total EUR 1,368,714 → EUR 1,438,426 (+5.1%).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Genuine only EUR 43,773.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Genuine with BVP alternative EUR 24,192; BVP EUR 1,747 (0.1% of FY26 wallet).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Display label locked: Genuine with BVP alternative.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WALLET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 wallet mix — detail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468880"/>
                <a:gridCol w="2468880"/>
                <a:gridCol w="2834640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1,368,714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1,438,426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69,712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only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1,242,596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1,286,369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43,773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with BVP alternative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126,118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150,310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24,192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1,747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1,747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 % of wallet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0.1%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+0.1 pp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the genuine drop sits (FY2025 → FY2026)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Genuine-only sales moved EUR 43,773 from FY2025 to FY2026.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Of that, the routine service basket (filters, pads, rotors) moved EUR 32,328 on genuine-only; BVP in that basket moved EUR 1,747.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Genuine-only did not fall on this FY cut — check category movers and H1 for pressure points.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Meeting line: check high-value assemblies / sensors before blaming the filter or pad menu.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Largest part-number drops (FY24→FY25) — outside service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486400"/>
                <a:gridCol w="3017520"/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8977998750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STEERING UNIT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-18,332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8983550720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partikel sensor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-15,778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8975293230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ENGINE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-11,250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8975359390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DPD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-4,512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5874123812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INTERFACE MX2-T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-3,213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8982330912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LAMP ASM; RR COMB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-3,199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8980139111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VALVE; EGR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-3,059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9377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Check warranty / campaign coding before calling competitive leakage.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capture vs network (calendar year)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24</a:t>
            </a:r>
          </a:p>
        </p:txBody>
      </p:sp>
      <p:pic>
        <p:nvPicPr>
          <p:cNvPr id="8" name="Picture 7" descr="modeb_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Capture % is calendar-year (full CY2025). Fleet demand is modelled on calendar years — there is no matching fiscal-year capture 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Oil filter 48.7% vs network 61.2%; Fuel filter 21.2% vs network 48.0%; Air filter 40.5% vs network 52.9%.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Next slide: fiscal-year € billing in the same 5 categories.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Primary lens = total capture (not genuine-only).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 PARTS · 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billing by fiscal year (same 5 lines)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25</a:t>
            </a:r>
          </a:p>
        </p:txBody>
      </p:sp>
      <p:pic>
        <p:nvPicPr>
          <p:cNvPr id="8" name="Picture 7" descr="modeb_pms_f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This is Sales-to-Isuzu Sverige € in fiscal years — not capture % of fleet demand.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Use both lenses — do not mix % capture with € billing.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Primary = total sales in the basket.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BRAKES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Brake pads — BVP share of total brake pad sales (FY)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80160"/>
          <a:ext cx="6583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645920"/>
                <a:gridCol w="1645920"/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FY2026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Genuine pad sales (€)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10,691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18,992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pad sales (€)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Genuine qty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183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312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qty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share of pad sales (€)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040880" y="11887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BVP share = BVP € ÷ all brake-pad € billed (genuine + BVP). Not a PMS capture 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Isuzu Sverige pad sales are genuine-only in this cut (~EUR 19K FY26) — no BVP pad lines billed.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Wallet-level BVP is still only ~0.1% of FY26 — do not generalise a pad story to the whole wallet.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AIM exposure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2743200"/>
                <a:gridCol w="41148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High-risk €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High-risk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Quadrant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11,791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1.7%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Priority target (low GPS - low capture)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14,429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1.3%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Priority target (low GPS - low capture)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10,725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Priority target (low GPS - low capture)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749039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High-risk € is catalogue AIM exposure, not proven walk-out.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Open on jobs not bought through the distributor — not a street IAM war alone.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WARRANTY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Warranty — two real lenses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CY2025 claim-price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EUR 189,618 (claim-price basis).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Calendar-year claim price basis.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LCV warranty.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276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Fiscal GPS expense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011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FY24 EUR 68 · FY25 EUR 63,980 · FY26 EUR 303,689.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Source row: Sverige.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Ex-warranty GPS = (net − warranty) ÷ frozen CY25 wallet.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44805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Both numbers are real — never mix them on one slide without labels.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to use this in the meeting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18872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589520"/>
              </a:tblGrid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If they say…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You know…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is eating genuine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Wallet BVP ~0.1%. Check pads as a local exception only.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GPS looks fine / too high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FY26 headline 56.3%; excl. warranty ≈ 46.6%. 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Service parts are fine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CY2025 capture vs network (previous slides) + FY billing lens.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