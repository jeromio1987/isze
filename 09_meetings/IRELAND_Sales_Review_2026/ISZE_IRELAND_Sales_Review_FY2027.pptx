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5029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ISZE  ·  IRELAND  ·  IRELAND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2331720"/>
            <a:ext cx="96012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A1A1A"/>
                </a:solidFill>
                <a:latin typeface="Calibri"/>
              </a:rPr>
              <a:t>Ireland Sales Review
&amp; FY2027 Target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34340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5A5A5A"/>
                </a:solidFill>
                <a:latin typeface="Calibri"/>
              </a:rPr>
              <a:t>Isuzu Ireland  ·  August 2026</a:t>
            </a:r>
          </a:p>
        </p:txBody>
      </p:sp>
      <p:pic>
        <p:nvPicPr>
          <p:cNvPr id="6" name="Picture 5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5897880"/>
            <a:ext cx="2204720" cy="384048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IRELAND MEETING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Agenda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07008"/>
            <a:ext cx="10515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450" b="1">
                <a:solidFill>
                  <a:srgbClr val="CC0E1E"/>
                </a:solidFill>
                <a:latin typeface="Calibri"/>
              </a:rPr>
              <a:t>—  </a:t>
            </a:r>
            <a:r>
              <a:rPr sz="1450">
                <a:solidFill>
                  <a:srgbClr val="1A1A1A"/>
                </a:solidFill>
                <a:latin typeface="Calibri"/>
              </a:rPr>
              <a:t>Parts Performance — category movers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450" b="1">
                <a:solidFill>
                  <a:srgbClr val="CC0E1E"/>
                </a:solidFill>
                <a:latin typeface="Calibri"/>
              </a:rPr>
              <a:t>—  </a:t>
            </a:r>
            <a:r>
              <a:rPr sz="1450">
                <a:solidFill>
                  <a:srgbClr val="1A1A1A"/>
                </a:solidFill>
                <a:latin typeface="Calibri"/>
              </a:rPr>
              <a:t>Parts Performance — Filters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450" b="1">
                <a:solidFill>
                  <a:srgbClr val="CC0E1E"/>
                </a:solidFill>
                <a:latin typeface="Calibri"/>
              </a:rPr>
              <a:t>—  </a:t>
            </a:r>
            <a:r>
              <a:rPr sz="1450">
                <a:solidFill>
                  <a:srgbClr val="1A1A1A"/>
                </a:solidFill>
                <a:latin typeface="Calibri"/>
              </a:rPr>
              <a:t>Parts Performance — Electrical sensors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450" b="1">
                <a:solidFill>
                  <a:srgbClr val="CC0E1E"/>
                </a:solidFill>
                <a:latin typeface="Calibri"/>
              </a:rPr>
              <a:t>—  </a:t>
            </a:r>
            <a:r>
              <a:rPr sz="1450">
                <a:solidFill>
                  <a:srgbClr val="1A1A1A"/>
                </a:solidFill>
                <a:latin typeface="Calibri"/>
              </a:rPr>
              <a:t>Parts Performance — Injectors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450" b="1">
                <a:solidFill>
                  <a:srgbClr val="CC0E1E"/>
                </a:solidFill>
                <a:latin typeface="Calibri"/>
              </a:rPr>
              <a:t>—  </a:t>
            </a:r>
            <a:r>
              <a:rPr sz="1450">
                <a:solidFill>
                  <a:srgbClr val="1A1A1A"/>
                </a:solidFill>
                <a:latin typeface="Calibri"/>
              </a:rPr>
              <a:t>Parts Performance — where volume grew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450" b="1">
                <a:solidFill>
                  <a:srgbClr val="CC0E1E"/>
                </a:solidFill>
                <a:latin typeface="Calibri"/>
              </a:rPr>
              <a:t>—  </a:t>
            </a:r>
            <a:r>
              <a:rPr sz="1450">
                <a:solidFill>
                  <a:srgbClr val="1A1A1A"/>
                </a:solidFill>
                <a:latin typeface="Calibri"/>
              </a:rPr>
              <a:t>New Business — validation queue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450" b="1">
                <a:solidFill>
                  <a:srgbClr val="CC0E1E"/>
                </a:solidFill>
                <a:latin typeface="Calibri"/>
              </a:rPr>
              <a:t>—  </a:t>
            </a:r>
            <a:r>
              <a:rPr sz="1450">
                <a:solidFill>
                  <a:srgbClr val="1A1A1A"/>
                </a:solidFill>
                <a:latin typeface="Calibri"/>
              </a:rPr>
              <a:t>Sales-to-Dealer Outlook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450" b="1">
                <a:solidFill>
                  <a:srgbClr val="CC0E1E"/>
                </a:solidFill>
                <a:latin typeface="Calibri"/>
              </a:rPr>
              <a:t>—  </a:t>
            </a:r>
            <a:r>
              <a:rPr sz="1450">
                <a:solidFill>
                  <a:srgbClr val="1A1A1A"/>
                </a:solidFill>
                <a:latin typeface="Calibri"/>
              </a:rPr>
              <a:t>GPS Capture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450" b="1">
                <a:solidFill>
                  <a:srgbClr val="CC0E1E"/>
                </a:solidFill>
                <a:latin typeface="Calibri"/>
              </a:rPr>
              <a:t>—  </a:t>
            </a:r>
            <a:r>
              <a:rPr sz="1450">
                <a:solidFill>
                  <a:srgbClr val="1A1A1A"/>
                </a:solidFill>
                <a:latin typeface="Calibri"/>
              </a:rPr>
              <a:t>Fleet &amp; FY2027 Target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450" b="1">
                <a:solidFill>
                  <a:srgbClr val="CC0E1E"/>
                </a:solidFill>
                <a:latin typeface="Calibri"/>
              </a:rPr>
              <a:t>—  </a:t>
            </a:r>
            <a:r>
              <a:rPr sz="1450">
                <a:solidFill>
                  <a:srgbClr val="1A1A1A"/>
                </a:solidFill>
                <a:latin typeface="Calibri"/>
              </a:rPr>
              <a:t>SPA — status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450" b="1">
                <a:solidFill>
                  <a:srgbClr val="CC0E1E"/>
                </a:solidFill>
                <a:latin typeface="Calibri"/>
              </a:rPr>
              <a:t>—  </a:t>
            </a:r>
            <a:r>
              <a:rPr sz="1450">
                <a:solidFill>
                  <a:srgbClr val="1A1A1A"/>
                </a:solidFill>
                <a:latin typeface="Calibri"/>
              </a:rPr>
              <a:t>R&amp;M — market discussion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450" b="1">
                <a:solidFill>
                  <a:srgbClr val="CC0E1E"/>
                </a:solidFill>
                <a:latin typeface="Calibri"/>
              </a:rPr>
              <a:t>—  </a:t>
            </a:r>
            <a:r>
              <a:rPr sz="1450">
                <a:solidFill>
                  <a:srgbClr val="1A1A1A"/>
                </a:solidFill>
                <a:latin typeface="Calibri"/>
              </a:rPr>
              <a:t>Data request: part-level Sales-to-Dealer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450" b="1">
                <a:solidFill>
                  <a:srgbClr val="CC0E1E"/>
                </a:solidFill>
                <a:latin typeface="Calibri"/>
              </a:rPr>
              <a:t>—  </a:t>
            </a:r>
            <a:r>
              <a:rPr sz="1450">
                <a:solidFill>
                  <a:srgbClr val="1A1A1A"/>
                </a:solidFill>
                <a:latin typeface="Calibri"/>
              </a:rPr>
              <a:t>Next steps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Parts Performance — CY H1 2026 vs CY H1 2025 (commercial, ex-warranty)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3</a:t>
            </a:r>
          </a:p>
        </p:txBody>
      </p:sp>
      <p:pic>
        <p:nvPicPr>
          <p:cNvPr id="8" name="Picture 7" descr="category_mov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121722"/>
            <a:ext cx="7178040" cy="302603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726679" y="1188720"/>
            <a:ext cx="22000" cy="4892040"/>
          </a:xfrm>
          <a:prstGeom prst="rect">
            <a:avLst/>
          </a:prstGeom>
          <a:solidFill>
            <a:srgbClr val="ECEC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7847" y="1234440"/>
            <a:ext cx="3886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TAKEAWAYS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7847" y="1691640"/>
            <a:ext cx="379476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Commercial parts billing (warranty/campaign excluded) EUR 481K against EUR 586K a year earlier — -17.9% (CY H1 2026 vs CY H1 2025, Jan–Jun).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Largest PN drops (all categories): 8983528481 (SENSOR; NOX) EUR -6K, 22 fewer pcs; 8976695331 (METER COMPL; CLUSTER) EUR -4K, 13 fewer pcs; 8982457540 (NOZZLE ASM; INJ) EUR -4K, 14 fewer pcs.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Largest PN gains (all categories): 5874123812 (INTERFACE MX2-T) EUR 7K, 7 more pcs; 8982404570 (DRIVE ASM; FINAL,RR) EUR 3K, 2 more pcs; 8974985741 (TURBOCHARGER ASM) EUR 3K, 3 more pcs.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About EUR 48K of claim-matched PN billing was stripped so this chart is aftermarket demand, not warranty.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 — FILTERS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Filters — CY H1 2026 vs CY H1 2025 (commercial, ex-warranty)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07008"/>
            <a:ext cx="116128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EUR 45,771 (CY H1 2025) to EUR 28,827 (CY H1 2026), down EUR 16,945 (-37%).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Largest part numbers driving the decline (by EUR):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8980329082 (FILTER ASM): EUR 3,366 to EUR 0, 4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8983282070 (ELEMENT; OIL FILTER · FRR,FS*,FTR,FVR,NPS,N*R): EUR 4,666 to EUR 1,568, 212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8975425400 (ELEMENT; FUEL FILTER · FV*,FT*,FS*,FR*,N*R,N*S): EUR 3,649 to EUR 1,448, 173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5876102200 (ELEMENT KIT; FUEL FILTER · N*R,NPS): EUR 1,711 to EUR 250, 76 fewer pieces.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" y="3840480"/>
            <a:ext cx="8595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C0E1E"/>
                </a:solidFill>
                <a:latin typeface="Calibri"/>
              </a:rPr>
              <a:t>Questions for us to work through together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" y="4160520"/>
            <a:ext cx="116128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Are dealers stocking filters, or ordering line-by-line against each job?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How much servicing do you estimate is happening outside the franchised network?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Would a service-pack offer on oil and fuel filters be workable for your dealers?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 — ELECTRICAL SENSORS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Electrical sensors — CY H1 2026 vs CY H1 2025 (commercial, ex-warranty)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07008"/>
            <a:ext cx="116128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EUR 68,893 (CY H1 2025) to EUR 54,240 (CY H1 2026), down EUR 14,653 (-21%).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Largest part numbers driving the decline (by EUR):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8983528481 (SENSOR; NOX): EUR 16,129 to EUR 10,240, 22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8976695331 (METER COMPL; CLUSTER): EUR 4,616 to EUR 318, 13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8982201260 (SENSOR; SPEED): EUR 1,452 to EUR 0, 7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8976695321 (METER COMPL; CLUSTER): EUR 1,319 to EUR 0, 4 fewer pieces.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" y="3840480"/>
            <a:ext cx="8595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C0E1E"/>
                </a:solidFill>
                <a:latin typeface="Calibri"/>
              </a:rPr>
              <a:t>Questions for us to work through together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" y="4160520"/>
            <a:ext cx="116128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Is this pricing against what the dealers can buy locally?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Is any of this stock timing on your side rather than end demand?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What would make the biggest difference to keep this business with us?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 — INJECTORS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Injectors — CY H1 2026 vs CY H1 2025 (commercial, ex-warranty)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07008"/>
            <a:ext cx="116128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EUR 17,244 (CY H1 2025) to EUR 2,628 (CY H1 2026), down EUR 14,616 (-85%).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Largest part numbers driving the decline (by EUR):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8982457540 (NOZZLE ASM; INJ): EUR 4,285 to EUR 0, 14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8982318983 (INJECTOR ASM; DEF DCM): EUR 2,944 to EUR 0, 8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8980879851 (NOZZLE ASM; INJ): EUR 2,811 to EUR 0, 13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8982601090 (NOZZLE ASM; INJ): EUR 1,910 to EUR 0, 10 fewer pieces.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" y="3840480"/>
            <a:ext cx="8595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C0E1E"/>
                </a:solidFill>
                <a:latin typeface="Calibri"/>
              </a:rPr>
              <a:t>Questions for us to work through together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" y="4160520"/>
            <a:ext cx="116128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Is this fewer failures, or repairs moving out of the network?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Is the exchange/reman route competing with new parts here?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Are dealers still quoting these part numbers, or have they dropped off the workshop menu?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 — GROWTH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Where volume grew — CY H1 2026 vs CY H1 2025 (commercial, ex-warranty)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7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92608" y="1207008"/>
          <a:ext cx="1161288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2926080"/>
                <a:gridCol w="1645920"/>
                <a:gridCol w="1737360"/>
                <a:gridCol w="1737360"/>
                <a:gridCol w="1828800"/>
              </a:tblGrid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Description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Model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CY H1 2025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CY H1 2026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Δ EUR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5874123812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INTERFACE MX2-T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3,996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11,408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7,413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8982404570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DRIVE ASM; FINAL,RR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1,289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4,109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2,820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8974985741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TURBOCHARGER ASM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891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3,510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2,620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8980959830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ELEMENT KIT; FUEL FILTER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N*R,NPS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4,480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6,786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2,306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5878324001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KING PIN KIT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1,173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2,853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1,680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3963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8983922341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SPRING ASM; LEAF,RR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790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2,448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1,657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92608" y="3840480"/>
            <a:ext cx="116128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Claim-matched PNs (67 distinct) and campaign/recall text matches are already excluded from this growth list. Residual warranty on unmapped PNs can remain.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PNs ranked by largest EUR increase (prior-period sales &gt; 0). Worth agreeing which of these are repeatable and which were one-off.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New Business — validation queue (CY H1 2026)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8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92608" y="1207008"/>
          <a:ext cx="1161288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4023360"/>
                <a:gridCol w="2194560"/>
                <a:gridCol w="3200400"/>
              </a:tblGrid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Description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Current sales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Review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8981580081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HYDRAULIC UNIT; ANTI LOCK BRK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6,005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Validate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8971345174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FLYWHEEL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4,473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Validate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8976882230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HYDRAULIC UNIT; ANTI LOCK BRK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3,995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Validate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7552392890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CAMERA ASM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3,981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Warranty / campaign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7552348280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STEERING UNIT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3,968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Warranty / campaign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8974842450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TRANSMISSION ASM; MANUAL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3,966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Validate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92608" y="4069080"/>
            <a:ext cx="116128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These lines had no prior-period sales, so they are kept out of the incremental-growth table.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A first sale can be a new model, a supersession, timing, or a warranty campaign. It is not treated as a commercial win until that cause is confirmed.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SALES-TO-DEALER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Sales-to-Dealer outlook — FY2027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34440"/>
            <a:ext cx="108813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FY2026 Sales-to-Dealer is EUR 1,718,249 (working estimate).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The working fleet movement into FY2027 is +18.4%.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Applying fleet movement, the 5% price adjustment and 1.8% additional growth gives a FY2027 Sales-to-Dealer target of EUR 2,174,046.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The discussion is held in Sales-to-Dealer amounts; ISZE billing remains an internal reconciliation measure.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GPS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GPS — amount view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34440"/>
            <a:ext cx="10515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GPS compares actual parts purchases to the theoretical potential of the fleet.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FY2026 purchases: EUR 1,103K.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CY2025 fleet potential: EUR 956K (2,161 vehicles).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Purchases sit above that theoretical potential — we discuss the amount and the per-vehicle rate, not a capture percentage.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FLEET &amp; FY2027 TARGET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The fleet is expected to grow in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11</a:t>
            </a:r>
          </a:p>
        </p:txBody>
      </p:sp>
      <p:pic>
        <p:nvPicPr>
          <p:cNvPr id="8" name="Picture 7" descr="ui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121722"/>
            <a:ext cx="7178040" cy="302603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726679" y="1188720"/>
            <a:ext cx="22000" cy="4892040"/>
          </a:xfrm>
          <a:prstGeom prst="rect">
            <a:avLst/>
          </a:prstGeom>
          <a:solidFill>
            <a:srgbClr val="ECEC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7847" y="1234440"/>
            <a:ext cx="3886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WHAT THIS MEANS FOR FY2027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7847" y="1691640"/>
            <a:ext cx="379476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Fleet size (calendar year): 2,161 vehicles in 2025 → 2,558 working estimate for end-2026 (+18.4%).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The chart is calendar years 2019–2026 only. 2026 is a working year-end estimate, not a fiscal-year figure.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Smaller segments not plotted (&lt;5% of fleet): F-Series 83.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The FY2027 Sales-to-Dealer target starts from that fleet change, then applies a 5% price adjustment and 1.8% additional growth.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The target reflects the working fleet outlook without extending the chart beyond 2026.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FLEET &amp; FY2027 TARGET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How the FY2027 target is built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170432"/>
            <a:ext cx="8595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C0E1E"/>
                </a:solidFill>
                <a:latin typeface="Calibri"/>
              </a:rPr>
              <a:t>Sales-to-Dealer amount bridge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292608" y="1508760"/>
          <a:ext cx="8595360" cy="2148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9280"/>
                <a:gridCol w="2926080"/>
              </a:tblGrid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Step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Amount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FY2026 Sales-to-Dealer (working estimate)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EUR 1,718,249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After fleet movement (+18.4%)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EUR 2,033,910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After price adjustment (+5%)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EUR 2,135,606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CC0E1E"/>
                          </a:solidFill>
                          <a:latin typeface="Calibri"/>
                        </a:rPr>
                        <a:t>FY2027 target after additional growth (+1.8%)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CC0E1E"/>
                          </a:solidFill>
                          <a:latin typeface="Calibri"/>
                        </a:rPr>
                        <a:t>EUR 2,174,046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292608" y="3977639"/>
            <a:ext cx="116128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The FY2027 target is +26.5% versus the FY2026 Sales-to-Dealer base.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The FY2026 base is a working estimate (ISZE billing ÷ 0.65): the KPI Dashboard has no usable Sales-to-Dealer row for this market.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FY2027 TARGET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What the FY2027 target reflects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" y="1234440"/>
            <a:ext cx="5486400" cy="201168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93776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1435608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Your fleet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2011680"/>
            <a:ext cx="49377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The working fleet movement used in the target is +18.4%.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0" y="1234440"/>
            <a:ext cx="5943600" cy="201168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144768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66560" y="1435608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The price move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36208" y="2011680"/>
            <a:ext cx="5394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ISZE is applying a 5% price adjustment for FY2027, consistent with every ISZE market this year.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It is built into the per-vehicle rate above, not added separately on top.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2608" y="3474720"/>
            <a:ext cx="8595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C0E1E"/>
                </a:solidFill>
                <a:latin typeface="Calibri"/>
              </a:rPr>
              <a:t>What it means for your target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292608" y="3785615"/>
          <a:ext cx="8595360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0"/>
                <a:gridCol w="3566160"/>
              </a:tblGrid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 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FY2027 Sales-to-Dealer target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EUR 2,174,046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CC0E1E"/>
                          </a:solidFill>
                          <a:latin typeface="Calibri"/>
                        </a:rPr>
                        <a:t>vs FY2026 Sales-to-Dealer (EUR 1,718,249)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CC0E1E"/>
                          </a:solidFill>
                          <a:latin typeface="Calibri"/>
                        </a:rPr>
                        <a:t>+26.5%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292608" y="5074920"/>
            <a:ext cx="116128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As in previous cycles we would expect an incentive to sit alongside this adjustment — that approval is still pending on our side.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Until the incentive is confirmed, treat the FY2027 target as the working bridge (fleet × price × additional growth), not a locked commercial commitment.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SPA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SPA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" y="1234440"/>
            <a:ext cx="2798064" cy="31089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93776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1435608"/>
            <a:ext cx="179222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IRELAND proposal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2011680"/>
            <a:ext cx="2249424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Isuzu Ireland submits a proposed parts list.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27832" y="1234440"/>
            <a:ext cx="2798064" cy="31089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429000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50792" y="1435608"/>
            <a:ext cx="179222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ISZE review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20440" y="2011680"/>
            <a:ext cx="2249424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ISZE reviews the proposal against network data and fit.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63056" y="1234440"/>
            <a:ext cx="2798064" cy="31089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364224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86016" y="1435608"/>
            <a:ext cx="179222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Counter-proposal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55664" y="2011680"/>
            <a:ext cx="2249424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ISZE returns a counter-proposal where needed.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98280" y="1234440"/>
            <a:ext cx="2798064" cy="31089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299448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921240" y="1435608"/>
            <a:ext cx="179222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Final approval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90888" y="2011680"/>
            <a:ext cx="2249424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Signed off by ISZE management.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2608" y="4572000"/>
            <a:ext cx="8595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C0E1E"/>
                </a:solidFill>
                <a:latin typeface="Calibri"/>
              </a:rPr>
              <a:t>Purpose: higher turnover for both sides.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R&amp;M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R&amp;M — let's align on the market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" y="1188720"/>
            <a:ext cx="5486400" cy="40233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93776" y="138988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1389888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Market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1965960"/>
            <a:ext cx="49377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How is the market moving for you right now?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How much of your volume is fleet business rather than retail?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Where do you see the biggest hurdles this year?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Where are your real strengths in this segment?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0" y="1188720"/>
            <a:ext cx="5943600" cy="40233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144768" y="138988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66560" y="1389888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Servicing &amp; R&amp;M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36208" y="1965960"/>
            <a:ext cx="53949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Do you offer an R&amp;M or service-plan product today?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What share of the parc do you retain for servicing after year three?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Does R&amp;M business come bundled with fleet tenders — roughly what share?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What would it take to bring more out-of-network servicing back?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ASK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Part-level Sales-to-Dealer Data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" y="1234440"/>
            <a:ext cx="3611880" cy="237744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93776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1435608"/>
            <a:ext cx="2606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The starting point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2011680"/>
            <a:ext cx="3063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We have no Sales-to-Dealer figures from you for FY2026. The ask is monthly Sales-to-Dealer, at part-number level.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087368" y="1234440"/>
            <a:ext cx="3611880" cy="237744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288536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10328" y="1435608"/>
            <a:ext cx="2606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Sharper insight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79976" y="2011680"/>
            <a:ext cx="3063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Part-by-part visibility separates a stock movement from a lost job — and tells us where the volume actually went.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882127" y="1234440"/>
            <a:ext cx="3611880" cy="237744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083295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05087" y="1435608"/>
            <a:ext cx="2606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Shared benefit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74735" y="2011680"/>
            <a:ext cx="3063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Better availability on your fast movers, a sharper target for us, and a factual basis for the SPA — same data, both sides gain.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2608" y="3886200"/>
            <a:ext cx="8595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C0E1E"/>
                </a:solidFill>
                <a:latin typeface="Calibri"/>
              </a:rPr>
              <a:t>Requested from 01/01/2025, part number level, monthly.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Next steps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34440"/>
            <a:ext cx="116128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Confirm FY2027 Sales-to-Dealer target: EUR 2,174,046 (+26.5% vs FY2026 Sales-to-Dealer).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Confirm the incentive alongside the price adjustment once approved on our side.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Filters / Electrical sensors / Injectors: agree which category we tackle first, and what the joint action is.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Agree part-level Sales-to-Dealer data sharing, effective 01/01/2025.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SPA: IRELAND proposal, ISZE review and counter-proposal cycle to follow.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0" y="3063240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5A5A5A"/>
                </a:solidFill>
                <a:latin typeface="Calibri"/>
              </a:rPr>
              <a:t>Moving the World – for You</a:t>
            </a:r>
          </a:p>
        </p:txBody>
      </p:sp>
      <p:pic>
        <p:nvPicPr>
          <p:cNvPr id="4" name="Picture 3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1436" y="2468880"/>
            <a:ext cx="2926080" cy="509704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IRELAND · ISUZU IRELAND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Deep dive — detail behind the Mode A story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325880"/>
            <a:ext cx="109728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Extra detail for meeting prep — pick which slides to share with Isuzu Ireland.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Mode A ends on the previous closing slide.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Label in all charts: “Genuine with BVP alternative” (not “genuine contested”).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AGENDA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Deep-dive agenda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3444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GPS — amount view (no capture percentage)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FY2025 → FY2026 wallet mix (Genuine / Genuine with BVP alternative / BVP)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Where the money went — outside the service-parts basket (FY)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Service parts: CY capture vs network + FY billing (capture % is CY-only by design)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Brake pads — BVP share of total brake pad sales (FY)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AIM exposure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Warranty — two lenses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How to use this in the meeting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GPS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GPS — amount view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34440"/>
            <a:ext cx="10515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GPS compares actual parts purchases to the theoretical potential of the fleet.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FY2026 purchases: EUR 1,103,482.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CY2025 fleet potential: EUR 956,313 (2,161 vehicles).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Purchases sit above that theoretical potential — we discuss the amount and the per-vehicle rate, not a capture percentage.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WALLET MIX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FY2025 → FY2026 wallet mix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22</a:t>
            </a:r>
          </a:p>
        </p:txBody>
      </p:sp>
      <p:pic>
        <p:nvPicPr>
          <p:cNvPr id="8" name="Picture 7" descr="modeb_fy_wall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324087"/>
            <a:ext cx="6949440" cy="292966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406640" y="1234440"/>
            <a:ext cx="42976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Total EUR 1,265,712 → EUR 1,145,257 (-9.5%).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Genuine only EUR -85,185.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Genuine with BVP alternative EUR -22,621; BVP EUR -12,649 (4.2% of FY26 wallet).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Display label locked: Genuine with BVP alternative.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WALLET MIX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FY wallet mix — detail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23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92608" y="1234440"/>
          <a:ext cx="114300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2468880"/>
                <a:gridCol w="2468880"/>
                <a:gridCol w="2834640"/>
              </a:tblGrid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 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FY2025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FY2026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Δ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1,265,712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1,145,257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-120,455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Genuine only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1,043,440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958,255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-85,185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Genuine with BVP alternative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161,502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138,881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-22,621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BVP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60,770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48,121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-12,649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BVP % of wallet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4.8%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4.2%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-0.6 pp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DRIVERS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Where the genuine drop sits (FY2025 → FY2026)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34440"/>
            <a:ext cx="114300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Genuine-only sales moved EUR -85,185 from FY2025 to FY2026.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Of that, the routine service basket (filters, pads, rotors) moved EUR -23,825 on genuine-only; BVP in that basket moved EUR -6,797.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So about 72% of the genuine-only drop sits outside routine service parts.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Meeting line: check high-value assemblies / sensors before blaming the filter or pad menu.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DRIVERS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Largest part-number drops (FY24→FY25) — outside service filters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25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92608" y="1234440"/>
          <a:ext cx="1143000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5486400"/>
                <a:gridCol w="3017520"/>
              </a:tblGrid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Description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Δ EUR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8983528480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SENSOR; NOX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-27,873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8974725274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RAIL; ROOF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-14,562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8974725284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RAIL; ROOF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-14,173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TRANSPORT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Transporting Cost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-8,746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8982457540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NOZZLE ASM; INJ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-7,106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8981951431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TURBOCHARGER ASM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-6,609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8971345174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FLYWHEEL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-6,593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92608" y="493776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Check warranty / campaign coding before calling competitive leakage.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BRAKES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Brake pads — BVP share of total brake pad sales (FY)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26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92608" y="1280160"/>
          <a:ext cx="658368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1645920"/>
                <a:gridCol w="1645920"/>
              </a:tblGrid>
              <a:tr h="4267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 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FY2025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FY2026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Genuine pad sales (€)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31,313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38,391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BVP pad sales (€)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1,907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1,669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Genuine qty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376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509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BVP qty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35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40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BVP share of pad sales (€)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6%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4%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040880" y="1188720"/>
            <a:ext cx="46634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BVP share = BVP € ÷ all brake-pad € billed (genuine + BVP). Not a PMS capture %.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Wallet-level BVP is still only ~4.2% of FY26 — do not generalise a pad story to the whole wallet.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AIM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AIM exposure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27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92608" y="1234440"/>
          <a:ext cx="114300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2743200"/>
                <a:gridCol w="2743200"/>
                <a:gridCol w="4114800"/>
              </a:tblGrid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Year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High-risk €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High-risk %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Quadrant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15,542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1.3%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Defend (high GPS - high capture)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16,755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1.3%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Defend (high GPS - high capture)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12,652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1.1%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Defend (high GPS - high capture)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92608" y="3749039"/>
            <a:ext cx="11430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High-risk € is catalogue AIM exposure, not proven walk-out.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Open on jobs not bought through the distributor — not only independent-parts competition.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WARRANTY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Warranty — two real lenses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28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" y="1234440"/>
            <a:ext cx="5486400" cy="292608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93776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1435608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CY2025 claim-price parts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2011680"/>
            <a:ext cx="49377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EUR 34,857 (claim-price basis).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Calendar-year claim price basis.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CV EUR 3,908 is a lower bound (82% of part cells priced); LCV EUR 30,949 is clean.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26480" y="1234440"/>
            <a:ext cx="5486400" cy="292608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327648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0" y="1435608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Fiscal GPS expense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19088" y="2011680"/>
            <a:ext cx="49377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FY24 EUR 43 · FY25 EUR 11,619 · FY26 EUR 49,673.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Source row: Ireland.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Ex-warranty GPS = (net − warranty) ÷ frozen CY25 wallet.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2608" y="4480560"/>
            <a:ext cx="11430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Both numbers are real — never mix them on one slide without labels.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BRIDGE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How to use this in the meeting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29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92608" y="1188720"/>
          <a:ext cx="1143000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/>
                <a:gridCol w="7589520"/>
              </a:tblGrid>
              <a:tr h="9601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If they say…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You know…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BVP is eating genuine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Wallet BVP ~4.2%. Check pads as a local exception only.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GPS looks fine / too high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Purchases sit above the modelled fleet potential — talk the amount and the per-vehicle rate, not a capture percentage.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Service parts are fine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CY2025 capture vs network (previous slides) + FY billing lens.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0" y="3063240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5A5A5A"/>
                </a:solidFill>
                <a:latin typeface="Calibri"/>
              </a:rPr>
              <a:t>Moving the World – for You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1436" y="2468880"/>
            <a:ext cx="2926080" cy="50970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