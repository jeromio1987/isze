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MALTA  ·  MALTA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Malta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GasanZammit Motors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MALTA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FY2027 YTD (Apr–Jul) Sales Review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Body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Air conditioning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Electrical sensors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POWER BI — OFFICIAL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79K, +1% vs BP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79K against BP EUR 78K — +1%, and +11% on last year's EUR 71K.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By month vs BP: Apr -30%, May +25%, Jun +13%, Jul -2%.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walking through the shape of the period together.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102K against EUR 101K a year earlier — +0.7%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8983042280 (TRANSMISSION ASM; AU) EUR -3K, 1 fewer pcs; 8975536860 (BODY ASM; REAR) EUR -3K, 2 fewer pcs; 8983023390 (CONTROL UNIT; SRS) EUR -2K, 7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8983807440 (ABSORBER ASM; SHOCK,) [NQR] EUR 1K, 56 more pcs; 8971424521 (JOINT ASM; BALL,LWR ) EUR 1K, 43 more pcs; 8981532774 (BUMPER; RR) EUR 1K, 3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Suspension (EUR 4K, +168%): 8983807440 (ABSORBER ASM; SHOCK,) [NQR] EUR 1K, 56 more pcs; 8983204550 (ABSORBER ASM; SHOCK,) EUR 1K, 24 more pcs; 8983034441 (ABSORBER ASM; SHOCK,) EUR 0K, 10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BODY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Body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30,941 (CY H1 2025) to EUR 26,100 (CY H1 2026), down EUR 4,841 (-16%).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8975509392 (BUMPER ASM; FRT): EUR 1,896 to EUR 118,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8971118074 (PANEL; ENG HOOD): EUR 1,207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8980320980 (PANEL ASM; FRT): EUR 607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8979078300 (STEP; BODY SIDE): EUR 732 to EUR 184, 3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AIR CONDITIONING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Air conditioning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6,340 (CY H1 2025) to EUR 2,488 (CY H1 2026), down EUR 3,852 (-61%).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8974995480 (FILTER; ACL · TFR,TFS,UCR,UCS): EUR 1,503 to EUR 318, 55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8981394280 (FILTER; BLOWER UNIT · TF*,UC*): EUR 1,119 to EUR 0, 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8981402660 (FILTER; ACL · TFR,TFS,UCR,UCS): EUR 1,116 to EUR 0, 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8975435771 (COMPRESSOR ASM; A/C): EUR 540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seasonal pattern different this year, or is this a real shift?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cabin filters and A/C service being sold as a package?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ELECTRICAL SENSORS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Electrical sensors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9,600 (CY H1 2025) to EUR 6,737 (CY H1 2026), down EUR 2,862 (-30%).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8983023390 (CONTROL UNIT; SRS): EUR 2,346 to EUR 0, 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8982437400 (SWITCH; COMB): EUR 994 to EUR 318, 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8983712150 (SENSOR; SPD,RR WHEEL): EUR 587 to EUR 196,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8982437930 (SWITCH; COMB): EUR 808 to EUR 455, 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8983807440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ABSORBER ASM; SHOCK,RR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NQR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8971424521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JOINT ASM; BALL,LWR CONT ARM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8981532774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BUMPER;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8974725274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RAIL; ROOF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889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8974725284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RAIL; ROOF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251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8983204550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ABSORBER ASM; SHOCK,FRT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545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Suspension +168%, Hydraulic / mechanical +149%, Lighting +29%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(37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8972746690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TANK ASM; DEF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2,169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8978775550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CAMERA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8982447940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8975425400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ELEMENT; FUEL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8979488071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ROTOR; 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814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34.0% against 54.6%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39.3% against 46.6%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Malta averages 89.3%, above the 79.4%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Gasanzammit Motors Limited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Malta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Gasanzammit Motors Limited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9.9 points above the network — both averages are taken on assessed dealers only.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0 points between the strongest and weakest assessed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1,040 vehicles in 2025 → 1,017 working estimate for end-2026 (-2.2%).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240,250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233,100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397,247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7,150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240,250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GPS Extended Target FY27 V3.1, Dashboard column I (MALTA): EUR 240,250.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233,100.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(-2.2%)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240,250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233,100)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MALTA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GasanZammit Motors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extended target: EUR 240,250 (V3.1 Dashboard column I, +1.8% stretch).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Body parts / Air conditioning / Electrical sensors: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MALTA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MALTA · GASANZAMMIT MOTORS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GasanZammit Motors.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78.5% → FY26 73.3%.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the same GPS after removing warranty parts (€). FY26 ≈ 68.4% (warranty EUR 16,875 ≈ 9%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Both lines divide by the same wallet (EUR 263,500), so the gap between them is warranty and nothing else.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212,812 → EUR 205,187 (-3.6%).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-13,364.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5,368; BVP EUR 371 (0.2%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212,812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205,187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-7,626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195,768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182,404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-13,364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17,044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22,412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5,368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+0.2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-13,364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-1,946 on genuine-only; BVP in that basket moved EUR 42.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85%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8975293220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-25,100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8983320764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-2,782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8974725274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RAIL; ROOF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-1,875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8974725284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RAIL; ROOF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-1,875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5878323990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KING PIN KIT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-1,598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-1,415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8974922400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-1,084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90.5% vs network 60.3%; Fuel filter 39.3% vs network 46.6%; Air filter 66.0% vs network 52.2%.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5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5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Sales-to-GasanZammit Motors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3,630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1,929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pad sales (€)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share of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GasanZammit Motors pad sales are genuine-only in this cut (~EUR 2K FY26) — no BVP pad lines billed.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~0.2% of FY26 — do not generalise a pad story to the whole wallet.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1,925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1,771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2,991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18,219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CV and 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0 · FY25 EUR 6,073 · FY26 EUR 16,875.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GasanZammit.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~0.2%.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73.3%; excl. warranty ≈ 68.4%.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