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Source: user-supplied I Motors sales-plan screenshot / imotors_sales.docx page 1; completed months through August only.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Sources: user-supplied I Motors sales-plan screenshot / imotors_sales.docx page 1; KPI Master File.xlsx, Parts Handling sheet, I Motors rows for First Fill Rate and Days of Parts in Stock.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Source: KPI Master File.xlsx, Parts Handling sheet, Parts Sales DB to DLR in EUR, I Motors row. Rolling 12-month calculations by ISZE from reported distributor-to-dealer values.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Source: KPI Master File.xlsx, Parts Handling sheet, Parts Sales DB to DLR in EUR, I Motors row. Apr-Aug 2025 and Apr-Aug 2026 selected to match completed FY2027 months through August.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Source: KPI Master File.xlsx, Parts Handling sheet, First Fill Rate, I Motors row. Target updated to 93% per user instruction.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Source: KPI Master File.xlsx, Parts Handling sheet, I Motors rows for Days of Parts in Stock and First Fill Rate.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Source: KPI Master File.xlsx, Parts Handling sheet, Back Order Lines and First Fill Rate, I Motors rows.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Sources: 01_parts_billed_vs_target_by_market.csv and 07_fleet_trucks_in_service.csv. Current project rules say the fleet forecast beyond 2025 is not usable.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Sources: 01_all_sales_isze_to_distributor.csv for fiscal-year ISZE parts billed to Portugal sold-to 92 and 519. 01_parts_billed_vs_target_by_market.csv for modelled target-spend ceilings aligned to the latest corresponding fleet model years. Target-spend cover is a modelled ceiling view, not measured market share.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Source: 03_service_capture_by_market_family.csv, PORTUGAL, total line_type, calendar 2023-2025. The file uses the current PMS model base and expected replacement units by family.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Source: 04_original_vs_value_parts_mix.csv, PORTUGAL, calendar 2023-2025; grouped Original and BVP covered families. BVP means Best Value Parts.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Synthesis from user-provided I Motors sales screenshot, KPI Master File.xlsx, and ISZE GPS/PMS project files supplied in the workspace.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62626"/>
        </a:solidFill>
      </p:bgPr>
    </p:bg>
    <p:spTree>
      <p:nvGrpSpPr>
        <p:cNvPr id="1" name=""/>
        <p:cNvGrpSpPr/>
        <p:nvPr/>
      </p:nvGrpSpPr>
      <p:grpSpPr>
        <a:xfrm>
          <a:off x="0" y="0"/>
          <a:ext cx="0" cy="0"/>
          <a:chOff x="0" y="0"/>
          <a:chExt cx="0" cy="0"/>
        </a:xfrm>
      </p:grpSpPr>
      <p:sp>
        <p:nvSpPr>
          <p:cNvPr id="2" name="Text 0"/>
          <p:cNvSpPr/>
          <p:nvPr/>
        </p:nvSpPr>
        <p:spPr>
          <a:xfrm>
            <a:off x="228600" y="91440"/>
            <a:ext cx="3474720" cy="164592"/>
          </a:xfrm>
          <a:prstGeom prst="rect">
            <a:avLst/>
          </a:prstGeom>
          <a:noFill/>
          <a:ln/>
        </p:spPr>
        <p:txBody>
          <a:bodyPr wrap="square" rtlCol="0" anchor="ctr">
            <a:normAutofit/>
          </a:bodyPr>
          <a:lstStyle/>
          <a:p>
            <a:pPr indent="0" marL="0">
              <a:buNone/>
            </a:pPr>
            <a:r>
              <a:rPr lang="en-US" sz="660" b="1" dirty="0">
                <a:solidFill>
                  <a:srgbClr val="F2F2F2"/>
                </a:solidFill>
                <a:latin typeface="Aptos" pitchFamily="34" charset="0"/>
                <a:ea typeface="Aptos" pitchFamily="34" charset="-122"/>
                <a:cs typeface="Aptos" pitchFamily="34" charset="-120"/>
              </a:rPr>
              <a:t>ISZE  ·  VEHICLE PARTS &amp; ACCESSORIES</a:t>
            </a:r>
            <a:endParaRPr lang="en-US" sz="660" dirty="0"/>
          </a:p>
        </p:txBody>
      </p:sp>
      <p:sp>
        <p:nvSpPr>
          <p:cNvPr id="3" name="Shape 1"/>
          <p:cNvSpPr/>
          <p:nvPr/>
        </p:nvSpPr>
        <p:spPr>
          <a:xfrm>
            <a:off x="228600" y="6629400"/>
            <a:ext cx="11750040" cy="0"/>
          </a:xfrm>
          <a:prstGeom prst="line">
            <a:avLst/>
          </a:prstGeom>
          <a:noFill/>
          <a:ln w="6350">
            <a:solidFill>
              <a:srgbClr val="575757"/>
            </a:solidFill>
            <a:prstDash val="solid"/>
          </a:ln>
        </p:spPr>
      </p:sp>
      <p:sp>
        <p:nvSpPr>
          <p:cNvPr id="4" name="Text 2"/>
          <p:cNvSpPr/>
          <p:nvPr/>
        </p:nvSpPr>
        <p:spPr>
          <a:xfrm>
            <a:off x="228600" y="393192"/>
            <a:ext cx="4114800" cy="201168"/>
          </a:xfrm>
          <a:prstGeom prst="rect">
            <a:avLst/>
          </a:prstGeom>
          <a:noFill/>
          <a:ln/>
        </p:spPr>
        <p:txBody>
          <a:bodyPr wrap="square" rtlCol="0" anchor="ctr">
            <a:normAutofit/>
          </a:bodyPr>
          <a:lstStyle/>
          <a:p>
            <a:pPr indent="0" marL="0">
              <a:buNone/>
            </a:pPr>
            <a:r>
              <a:rPr lang="en-US" sz="750" b="1" dirty="0">
                <a:solidFill>
                  <a:srgbClr val="E30613"/>
                </a:solidFill>
              </a:rPr>
              <a:t>FY2027 PLAN</a:t>
            </a:r>
            <a:endParaRPr lang="en-US" sz="750" dirty="0"/>
          </a:p>
        </p:txBody>
      </p:sp>
      <p:sp>
        <p:nvSpPr>
          <p:cNvPr id="5" name="Text 3"/>
          <p:cNvSpPr/>
          <p:nvPr/>
        </p:nvSpPr>
        <p:spPr>
          <a:xfrm>
            <a:off x="228600" y="713232"/>
            <a:ext cx="9052560" cy="438912"/>
          </a:xfrm>
          <a:prstGeom prst="rect">
            <a:avLst/>
          </a:prstGeom>
          <a:noFill/>
          <a:ln/>
        </p:spPr>
        <p:txBody>
          <a:bodyPr wrap="square" lIns="0" tIns="0" rIns="0" bIns="0" rtlCol="0" anchor="ctr">
            <a:normAutofit/>
          </a:bodyPr>
          <a:lstStyle/>
          <a:p>
            <a:pPr indent="0" marL="0">
              <a:buNone/>
            </a:pPr>
            <a:r>
              <a:rPr lang="en-US" sz="2250" b="1" dirty="0">
                <a:solidFill>
                  <a:srgbClr val="F2F2F2"/>
                </a:solidFill>
              </a:rPr>
              <a:t>Through August, sales reached 94% of phased plan and orders reached 93%</a:t>
            </a:r>
            <a:endParaRPr lang="en-US" sz="2250" dirty="0"/>
          </a:p>
        </p:txBody>
      </p:sp>
      <p:sp>
        <p:nvSpPr>
          <p:cNvPr id="6" name="Text 4"/>
          <p:cNvSpPr/>
          <p:nvPr/>
        </p:nvSpPr>
        <p:spPr>
          <a:xfrm>
            <a:off x="228600" y="1188720"/>
            <a:ext cx="8046720" cy="219456"/>
          </a:xfrm>
          <a:prstGeom prst="rect">
            <a:avLst/>
          </a:prstGeom>
          <a:noFill/>
          <a:ln/>
        </p:spPr>
        <p:txBody>
          <a:bodyPr wrap="square" lIns="0" tIns="0" rIns="0" bIns="0" rtlCol="0" anchor="ctr">
            <a:normAutofit/>
          </a:bodyPr>
          <a:lstStyle/>
          <a:p>
            <a:pPr indent="0" marL="0">
              <a:buNone/>
            </a:pPr>
            <a:r>
              <a:rPr lang="en-US" sz="850" dirty="0">
                <a:solidFill>
                  <a:srgbClr val="BDBDBD"/>
                </a:solidFill>
              </a:rPr>
              <a:t>I Motors | Apr-Aug 2026 | completed months only</a:t>
            </a:r>
            <a:endParaRPr lang="en-US" sz="850" dirty="0"/>
          </a:p>
        </p:txBody>
      </p:sp>
      <p:sp>
        <p:nvSpPr>
          <p:cNvPr id="7" name="Text 5"/>
          <p:cNvSpPr/>
          <p:nvPr/>
        </p:nvSpPr>
        <p:spPr>
          <a:xfrm>
            <a:off x="301752" y="1572768"/>
            <a:ext cx="1828800" cy="438912"/>
          </a:xfrm>
          <a:prstGeom prst="rect">
            <a:avLst/>
          </a:prstGeom>
          <a:noFill/>
          <a:ln/>
        </p:spPr>
        <p:txBody>
          <a:bodyPr wrap="square" lIns="0" tIns="0" rIns="0" bIns="0" rtlCol="0" anchor="ctr">
            <a:normAutofit/>
          </a:bodyPr>
          <a:lstStyle/>
          <a:p>
            <a:pPr algn="ctr" indent="0" marL="0">
              <a:buNone/>
            </a:pPr>
            <a:r>
              <a:rPr lang="en-US" sz="2500" b="1" dirty="0">
                <a:solidFill>
                  <a:srgbClr val="E30613"/>
                </a:solidFill>
              </a:rPr>
              <a:t>94%</a:t>
            </a:r>
            <a:endParaRPr lang="en-US" sz="2500" dirty="0"/>
          </a:p>
        </p:txBody>
      </p:sp>
      <p:sp>
        <p:nvSpPr>
          <p:cNvPr id="8" name="Text 6"/>
          <p:cNvSpPr/>
          <p:nvPr/>
        </p:nvSpPr>
        <p:spPr>
          <a:xfrm>
            <a:off x="301752" y="2011680"/>
            <a:ext cx="1828800" cy="274320"/>
          </a:xfrm>
          <a:prstGeom prst="rect">
            <a:avLst/>
          </a:prstGeom>
          <a:noFill/>
          <a:ln/>
        </p:spPr>
        <p:txBody>
          <a:bodyPr wrap="square" lIns="0" tIns="0" rIns="0" bIns="0" rtlCol="0" anchor="ctr">
            <a:normAutofit/>
          </a:bodyPr>
          <a:lstStyle/>
          <a:p>
            <a:pPr algn="ctr" indent="0" marL="0">
              <a:buNone/>
            </a:pPr>
            <a:r>
              <a:rPr lang="en-US" sz="800" dirty="0">
                <a:solidFill>
                  <a:srgbClr val="BDBDBD"/>
                </a:solidFill>
              </a:rPr>
              <a:t>ISZE sales vs phased plan</a:t>
            </a:r>
            <a:endParaRPr lang="en-US" sz="800" dirty="0"/>
          </a:p>
        </p:txBody>
      </p:sp>
      <p:sp>
        <p:nvSpPr>
          <p:cNvPr id="9" name="Text 7"/>
          <p:cNvSpPr/>
          <p:nvPr/>
        </p:nvSpPr>
        <p:spPr>
          <a:xfrm>
            <a:off x="2240280" y="1572768"/>
            <a:ext cx="1828800" cy="438912"/>
          </a:xfrm>
          <a:prstGeom prst="rect">
            <a:avLst/>
          </a:prstGeom>
          <a:noFill/>
          <a:ln/>
        </p:spPr>
        <p:txBody>
          <a:bodyPr wrap="square" lIns="0" tIns="0" rIns="0" bIns="0" rtlCol="0" anchor="ctr">
            <a:normAutofit/>
          </a:bodyPr>
          <a:lstStyle/>
          <a:p>
            <a:pPr algn="ctr" indent="0" marL="0">
              <a:buNone/>
            </a:pPr>
            <a:r>
              <a:rPr lang="en-US" sz="2500" b="1" dirty="0">
                <a:solidFill>
                  <a:srgbClr val="F5A000"/>
                </a:solidFill>
              </a:rPr>
              <a:t>93%</a:t>
            </a:r>
            <a:endParaRPr lang="en-US" sz="2500" dirty="0"/>
          </a:p>
        </p:txBody>
      </p:sp>
      <p:sp>
        <p:nvSpPr>
          <p:cNvPr id="10" name="Text 8"/>
          <p:cNvSpPr/>
          <p:nvPr/>
        </p:nvSpPr>
        <p:spPr>
          <a:xfrm>
            <a:off x="2240280" y="2011680"/>
            <a:ext cx="1828800" cy="274320"/>
          </a:xfrm>
          <a:prstGeom prst="rect">
            <a:avLst/>
          </a:prstGeom>
          <a:noFill/>
          <a:ln/>
        </p:spPr>
        <p:txBody>
          <a:bodyPr wrap="square" lIns="0" tIns="0" rIns="0" bIns="0" rtlCol="0" anchor="ctr">
            <a:normAutofit/>
          </a:bodyPr>
          <a:lstStyle/>
          <a:p>
            <a:pPr algn="ctr" indent="0" marL="0">
              <a:buNone/>
            </a:pPr>
            <a:r>
              <a:rPr lang="en-US" sz="800" dirty="0">
                <a:solidFill>
                  <a:srgbClr val="BDBDBD"/>
                </a:solidFill>
              </a:rPr>
              <a:t>orders vs phased plan</a:t>
            </a:r>
            <a:endParaRPr lang="en-US" sz="800" dirty="0"/>
          </a:p>
        </p:txBody>
      </p:sp>
      <p:sp>
        <p:nvSpPr>
          <p:cNvPr id="11" name="Shape 9"/>
          <p:cNvSpPr/>
          <p:nvPr/>
        </p:nvSpPr>
        <p:spPr>
          <a:xfrm>
            <a:off x="731520" y="5779008"/>
            <a:ext cx="7543800" cy="0"/>
          </a:xfrm>
          <a:prstGeom prst="line">
            <a:avLst/>
          </a:prstGeom>
          <a:noFill/>
          <a:ln w="5080">
            <a:solidFill>
              <a:srgbClr val="4D4D4D">
                <a:alpha val="80000"/>
              </a:srgbClr>
            </a:solidFill>
            <a:prstDash val="solid"/>
          </a:ln>
        </p:spPr>
      </p:sp>
      <p:sp>
        <p:nvSpPr>
          <p:cNvPr id="12" name="Text 10"/>
          <p:cNvSpPr/>
          <p:nvPr/>
        </p:nvSpPr>
        <p:spPr>
          <a:xfrm>
            <a:off x="429768" y="5724144"/>
            <a:ext cx="237744" cy="109728"/>
          </a:xfrm>
          <a:prstGeom prst="rect">
            <a:avLst/>
          </a:prstGeom>
          <a:noFill/>
          <a:ln/>
        </p:spPr>
        <p:txBody>
          <a:bodyPr wrap="square" lIns="254" tIns="254" rIns="254" bIns="254" rtlCol="0" anchor="ctr">
            <a:normAutofit/>
          </a:bodyPr>
          <a:lstStyle/>
          <a:p>
            <a:pPr algn="r" indent="0" marL="0">
              <a:buNone/>
            </a:pPr>
            <a:r>
              <a:rPr lang="en-US" sz="650" dirty="0">
                <a:solidFill>
                  <a:srgbClr val="BDBDBD"/>
                </a:solidFill>
              </a:rPr>
              <a:t>0</a:t>
            </a:r>
            <a:endParaRPr lang="en-US" sz="650" dirty="0"/>
          </a:p>
        </p:txBody>
      </p:sp>
      <p:sp>
        <p:nvSpPr>
          <p:cNvPr id="13" name="Shape 11"/>
          <p:cNvSpPr/>
          <p:nvPr/>
        </p:nvSpPr>
        <p:spPr>
          <a:xfrm>
            <a:off x="731520" y="4933188"/>
            <a:ext cx="7543800" cy="0"/>
          </a:xfrm>
          <a:prstGeom prst="line">
            <a:avLst/>
          </a:prstGeom>
          <a:noFill/>
          <a:ln w="5080">
            <a:solidFill>
              <a:srgbClr val="4D4D4D">
                <a:alpha val="80000"/>
              </a:srgbClr>
            </a:solidFill>
            <a:prstDash val="solid"/>
          </a:ln>
        </p:spPr>
      </p:sp>
      <p:sp>
        <p:nvSpPr>
          <p:cNvPr id="14" name="Text 12"/>
          <p:cNvSpPr/>
          <p:nvPr/>
        </p:nvSpPr>
        <p:spPr>
          <a:xfrm>
            <a:off x="429768" y="4878324"/>
            <a:ext cx="237744" cy="109728"/>
          </a:xfrm>
          <a:prstGeom prst="rect">
            <a:avLst/>
          </a:prstGeom>
          <a:noFill/>
          <a:ln/>
        </p:spPr>
        <p:txBody>
          <a:bodyPr wrap="square" lIns="254" tIns="254" rIns="254" bIns="254" rtlCol="0" anchor="ctr">
            <a:normAutofit/>
          </a:bodyPr>
          <a:lstStyle/>
          <a:p>
            <a:pPr algn="r" indent="0" marL="0">
              <a:buNone/>
            </a:pPr>
            <a:r>
              <a:rPr lang="en-US" sz="650" dirty="0">
                <a:solidFill>
                  <a:srgbClr val="BDBDBD"/>
                </a:solidFill>
              </a:rPr>
              <a:t>48</a:t>
            </a:r>
            <a:endParaRPr lang="en-US" sz="650" dirty="0"/>
          </a:p>
        </p:txBody>
      </p:sp>
      <p:sp>
        <p:nvSpPr>
          <p:cNvPr id="15" name="Shape 13"/>
          <p:cNvSpPr/>
          <p:nvPr/>
        </p:nvSpPr>
        <p:spPr>
          <a:xfrm>
            <a:off x="731520" y="4087368"/>
            <a:ext cx="7543800" cy="0"/>
          </a:xfrm>
          <a:prstGeom prst="line">
            <a:avLst/>
          </a:prstGeom>
          <a:noFill/>
          <a:ln w="5080">
            <a:solidFill>
              <a:srgbClr val="4D4D4D">
                <a:alpha val="80000"/>
              </a:srgbClr>
            </a:solidFill>
            <a:prstDash val="solid"/>
          </a:ln>
        </p:spPr>
      </p:sp>
      <p:sp>
        <p:nvSpPr>
          <p:cNvPr id="16" name="Text 14"/>
          <p:cNvSpPr/>
          <p:nvPr/>
        </p:nvSpPr>
        <p:spPr>
          <a:xfrm>
            <a:off x="429768" y="4032504"/>
            <a:ext cx="237744" cy="109728"/>
          </a:xfrm>
          <a:prstGeom prst="rect">
            <a:avLst/>
          </a:prstGeom>
          <a:noFill/>
          <a:ln/>
        </p:spPr>
        <p:txBody>
          <a:bodyPr wrap="square" lIns="254" tIns="254" rIns="254" bIns="254" rtlCol="0" anchor="ctr">
            <a:normAutofit/>
          </a:bodyPr>
          <a:lstStyle/>
          <a:p>
            <a:pPr algn="r" indent="0" marL="0">
              <a:buNone/>
            </a:pPr>
            <a:r>
              <a:rPr lang="en-US" sz="650" dirty="0">
                <a:solidFill>
                  <a:srgbClr val="BDBDBD"/>
                </a:solidFill>
              </a:rPr>
              <a:t>95</a:t>
            </a:r>
            <a:endParaRPr lang="en-US" sz="650" dirty="0"/>
          </a:p>
        </p:txBody>
      </p:sp>
      <p:sp>
        <p:nvSpPr>
          <p:cNvPr id="17" name="Shape 15"/>
          <p:cNvSpPr/>
          <p:nvPr/>
        </p:nvSpPr>
        <p:spPr>
          <a:xfrm>
            <a:off x="731520" y="3241548"/>
            <a:ext cx="7543800" cy="0"/>
          </a:xfrm>
          <a:prstGeom prst="line">
            <a:avLst/>
          </a:prstGeom>
          <a:noFill/>
          <a:ln w="5080">
            <a:solidFill>
              <a:srgbClr val="4D4D4D">
                <a:alpha val="80000"/>
              </a:srgbClr>
            </a:solidFill>
            <a:prstDash val="solid"/>
          </a:ln>
        </p:spPr>
      </p:sp>
      <p:sp>
        <p:nvSpPr>
          <p:cNvPr id="18" name="Text 16"/>
          <p:cNvSpPr/>
          <p:nvPr/>
        </p:nvSpPr>
        <p:spPr>
          <a:xfrm>
            <a:off x="429768" y="3186684"/>
            <a:ext cx="237744" cy="109728"/>
          </a:xfrm>
          <a:prstGeom prst="rect">
            <a:avLst/>
          </a:prstGeom>
          <a:noFill/>
          <a:ln/>
        </p:spPr>
        <p:txBody>
          <a:bodyPr wrap="square" lIns="254" tIns="254" rIns="254" bIns="254" rtlCol="0" anchor="ctr">
            <a:normAutofit/>
          </a:bodyPr>
          <a:lstStyle/>
          <a:p>
            <a:pPr algn="r" indent="0" marL="0">
              <a:buNone/>
            </a:pPr>
            <a:r>
              <a:rPr lang="en-US" sz="650" dirty="0">
                <a:solidFill>
                  <a:srgbClr val="BDBDBD"/>
                </a:solidFill>
              </a:rPr>
              <a:t>143</a:t>
            </a:r>
            <a:endParaRPr lang="en-US" sz="650" dirty="0"/>
          </a:p>
        </p:txBody>
      </p:sp>
      <p:sp>
        <p:nvSpPr>
          <p:cNvPr id="19" name="Shape 17"/>
          <p:cNvSpPr/>
          <p:nvPr/>
        </p:nvSpPr>
        <p:spPr>
          <a:xfrm>
            <a:off x="731520" y="2395728"/>
            <a:ext cx="7543800" cy="0"/>
          </a:xfrm>
          <a:prstGeom prst="line">
            <a:avLst/>
          </a:prstGeom>
          <a:noFill/>
          <a:ln w="5080">
            <a:solidFill>
              <a:srgbClr val="4D4D4D">
                <a:alpha val="80000"/>
              </a:srgbClr>
            </a:solidFill>
            <a:prstDash val="solid"/>
          </a:ln>
        </p:spPr>
      </p:sp>
      <p:sp>
        <p:nvSpPr>
          <p:cNvPr id="20" name="Text 18"/>
          <p:cNvSpPr/>
          <p:nvPr/>
        </p:nvSpPr>
        <p:spPr>
          <a:xfrm>
            <a:off x="429768" y="2340864"/>
            <a:ext cx="237744" cy="109728"/>
          </a:xfrm>
          <a:prstGeom prst="rect">
            <a:avLst/>
          </a:prstGeom>
          <a:noFill/>
          <a:ln/>
        </p:spPr>
        <p:txBody>
          <a:bodyPr wrap="square" lIns="254" tIns="254" rIns="254" bIns="254" rtlCol="0" anchor="ctr">
            <a:normAutofit/>
          </a:bodyPr>
          <a:lstStyle/>
          <a:p>
            <a:pPr algn="r" indent="0" marL="0">
              <a:buNone/>
            </a:pPr>
            <a:r>
              <a:rPr lang="en-US" sz="650" dirty="0">
                <a:solidFill>
                  <a:srgbClr val="BDBDBD"/>
                </a:solidFill>
              </a:rPr>
              <a:t>190</a:t>
            </a:r>
            <a:endParaRPr lang="en-US" sz="650" dirty="0"/>
          </a:p>
        </p:txBody>
      </p:sp>
      <p:sp>
        <p:nvSpPr>
          <p:cNvPr id="21" name="Shape 19"/>
          <p:cNvSpPr/>
          <p:nvPr/>
        </p:nvSpPr>
        <p:spPr>
          <a:xfrm>
            <a:off x="841248" y="3286065"/>
            <a:ext cx="390144" cy="2492943"/>
          </a:xfrm>
          <a:prstGeom prst="rect">
            <a:avLst/>
          </a:prstGeom>
          <a:solidFill>
            <a:srgbClr val="E30613"/>
          </a:solidFill>
          <a:ln w="12700">
            <a:solidFill>
              <a:srgbClr val="E30613"/>
            </a:solidFill>
            <a:prstDash val="solid"/>
          </a:ln>
        </p:spPr>
      </p:sp>
      <p:sp>
        <p:nvSpPr>
          <p:cNvPr id="22" name="Shape 20"/>
          <p:cNvSpPr/>
          <p:nvPr/>
        </p:nvSpPr>
        <p:spPr>
          <a:xfrm>
            <a:off x="1258824" y="3321678"/>
            <a:ext cx="390144" cy="2457330"/>
          </a:xfrm>
          <a:prstGeom prst="rect">
            <a:avLst/>
          </a:prstGeom>
          <a:solidFill>
            <a:srgbClr val="B7B7B7"/>
          </a:solidFill>
          <a:ln w="12700">
            <a:solidFill>
              <a:srgbClr val="B7B7B7"/>
            </a:solidFill>
            <a:prstDash val="solid"/>
          </a:ln>
        </p:spPr>
      </p:sp>
      <p:sp>
        <p:nvSpPr>
          <p:cNvPr id="23" name="Shape 21"/>
          <p:cNvSpPr/>
          <p:nvPr/>
        </p:nvSpPr>
        <p:spPr>
          <a:xfrm>
            <a:off x="1676400" y="3392905"/>
            <a:ext cx="390144" cy="2386103"/>
          </a:xfrm>
          <a:prstGeom prst="rect">
            <a:avLst/>
          </a:prstGeom>
          <a:solidFill>
            <a:srgbClr val="F5A000"/>
          </a:solidFill>
          <a:ln w="12700">
            <a:solidFill>
              <a:srgbClr val="F5A000"/>
            </a:solidFill>
            <a:prstDash val="solid"/>
          </a:ln>
        </p:spPr>
      </p:sp>
      <p:sp>
        <p:nvSpPr>
          <p:cNvPr id="24" name="Text 22"/>
          <p:cNvSpPr/>
          <p:nvPr/>
        </p:nvSpPr>
        <p:spPr>
          <a:xfrm>
            <a:off x="822960" y="5925312"/>
            <a:ext cx="1399032" cy="137160"/>
          </a:xfrm>
          <a:prstGeom prst="rect">
            <a:avLst/>
          </a:prstGeom>
          <a:noFill/>
          <a:ln/>
        </p:spPr>
        <p:txBody>
          <a:bodyPr wrap="square" lIns="254" tIns="254" rIns="254" bIns="254" rtlCol="0" anchor="ctr">
            <a:normAutofit/>
          </a:bodyPr>
          <a:lstStyle/>
          <a:p>
            <a:pPr algn="ctr" indent="0" marL="0">
              <a:buNone/>
            </a:pPr>
            <a:r>
              <a:rPr lang="en-US" sz="700" dirty="0">
                <a:solidFill>
                  <a:srgbClr val="BDBDBD"/>
                </a:solidFill>
              </a:rPr>
              <a:t>Apr</a:t>
            </a:r>
            <a:endParaRPr lang="en-US" sz="700" dirty="0"/>
          </a:p>
        </p:txBody>
      </p:sp>
      <p:sp>
        <p:nvSpPr>
          <p:cNvPr id="25" name="Shape 23"/>
          <p:cNvSpPr/>
          <p:nvPr/>
        </p:nvSpPr>
        <p:spPr>
          <a:xfrm>
            <a:off x="2350008" y="3090191"/>
            <a:ext cx="390144" cy="2688817"/>
          </a:xfrm>
          <a:prstGeom prst="rect">
            <a:avLst/>
          </a:prstGeom>
          <a:solidFill>
            <a:srgbClr val="E30613"/>
          </a:solidFill>
          <a:ln w="12700">
            <a:solidFill>
              <a:srgbClr val="E30613"/>
            </a:solidFill>
            <a:prstDash val="solid"/>
          </a:ln>
        </p:spPr>
      </p:sp>
      <p:sp>
        <p:nvSpPr>
          <p:cNvPr id="26" name="Shape 24"/>
          <p:cNvSpPr/>
          <p:nvPr/>
        </p:nvSpPr>
        <p:spPr>
          <a:xfrm>
            <a:off x="2767584" y="3107997"/>
            <a:ext cx="390144" cy="2671011"/>
          </a:xfrm>
          <a:prstGeom prst="rect">
            <a:avLst/>
          </a:prstGeom>
          <a:solidFill>
            <a:srgbClr val="B7B7B7"/>
          </a:solidFill>
          <a:ln w="12700">
            <a:solidFill>
              <a:srgbClr val="B7B7B7"/>
            </a:solidFill>
            <a:prstDash val="solid"/>
          </a:ln>
        </p:spPr>
      </p:sp>
      <p:sp>
        <p:nvSpPr>
          <p:cNvPr id="27" name="Shape 25"/>
          <p:cNvSpPr/>
          <p:nvPr/>
        </p:nvSpPr>
        <p:spPr>
          <a:xfrm>
            <a:off x="3185160" y="2947737"/>
            <a:ext cx="390144" cy="2831271"/>
          </a:xfrm>
          <a:prstGeom prst="rect">
            <a:avLst/>
          </a:prstGeom>
          <a:solidFill>
            <a:srgbClr val="F5A000"/>
          </a:solidFill>
          <a:ln w="12700">
            <a:solidFill>
              <a:srgbClr val="F5A000"/>
            </a:solidFill>
            <a:prstDash val="solid"/>
          </a:ln>
        </p:spPr>
      </p:sp>
      <p:sp>
        <p:nvSpPr>
          <p:cNvPr id="28" name="Text 26"/>
          <p:cNvSpPr/>
          <p:nvPr/>
        </p:nvSpPr>
        <p:spPr>
          <a:xfrm>
            <a:off x="2331720" y="5925312"/>
            <a:ext cx="1399032" cy="137160"/>
          </a:xfrm>
          <a:prstGeom prst="rect">
            <a:avLst/>
          </a:prstGeom>
          <a:noFill/>
          <a:ln/>
        </p:spPr>
        <p:txBody>
          <a:bodyPr wrap="square" lIns="254" tIns="254" rIns="254" bIns="254" rtlCol="0" anchor="ctr">
            <a:normAutofit/>
          </a:bodyPr>
          <a:lstStyle/>
          <a:p>
            <a:pPr algn="ctr" indent="0" marL="0">
              <a:buNone/>
            </a:pPr>
            <a:r>
              <a:rPr lang="en-US" sz="700" dirty="0">
                <a:solidFill>
                  <a:srgbClr val="BDBDBD"/>
                </a:solidFill>
              </a:rPr>
              <a:t>May</a:t>
            </a:r>
            <a:endParaRPr lang="en-US" sz="700" dirty="0"/>
          </a:p>
        </p:txBody>
      </p:sp>
      <p:sp>
        <p:nvSpPr>
          <p:cNvPr id="29" name="Shape 27"/>
          <p:cNvSpPr/>
          <p:nvPr/>
        </p:nvSpPr>
        <p:spPr>
          <a:xfrm>
            <a:off x="3858768" y="3054577"/>
            <a:ext cx="390144" cy="2724431"/>
          </a:xfrm>
          <a:prstGeom prst="rect">
            <a:avLst/>
          </a:prstGeom>
          <a:solidFill>
            <a:srgbClr val="E30613"/>
          </a:solidFill>
          <a:ln w="12700">
            <a:solidFill>
              <a:srgbClr val="E30613"/>
            </a:solidFill>
            <a:prstDash val="solid"/>
          </a:ln>
        </p:spPr>
      </p:sp>
      <p:sp>
        <p:nvSpPr>
          <p:cNvPr id="30" name="Shape 28"/>
          <p:cNvSpPr/>
          <p:nvPr/>
        </p:nvSpPr>
        <p:spPr>
          <a:xfrm>
            <a:off x="4276344" y="3090191"/>
            <a:ext cx="390144" cy="2688817"/>
          </a:xfrm>
          <a:prstGeom prst="rect">
            <a:avLst/>
          </a:prstGeom>
          <a:solidFill>
            <a:srgbClr val="B7B7B7"/>
          </a:solidFill>
          <a:ln w="12700">
            <a:solidFill>
              <a:srgbClr val="B7B7B7"/>
            </a:solidFill>
            <a:prstDash val="solid"/>
          </a:ln>
        </p:spPr>
      </p:sp>
      <p:sp>
        <p:nvSpPr>
          <p:cNvPr id="31" name="Shape 29"/>
          <p:cNvSpPr/>
          <p:nvPr/>
        </p:nvSpPr>
        <p:spPr>
          <a:xfrm>
            <a:off x="4693920" y="3161418"/>
            <a:ext cx="390144" cy="2617590"/>
          </a:xfrm>
          <a:prstGeom prst="rect">
            <a:avLst/>
          </a:prstGeom>
          <a:solidFill>
            <a:srgbClr val="F5A000"/>
          </a:solidFill>
          <a:ln w="12700">
            <a:solidFill>
              <a:srgbClr val="F5A000"/>
            </a:solidFill>
            <a:prstDash val="solid"/>
          </a:ln>
        </p:spPr>
      </p:sp>
      <p:sp>
        <p:nvSpPr>
          <p:cNvPr id="32" name="Text 30"/>
          <p:cNvSpPr/>
          <p:nvPr/>
        </p:nvSpPr>
        <p:spPr>
          <a:xfrm>
            <a:off x="3840480" y="5925312"/>
            <a:ext cx="1399032" cy="137160"/>
          </a:xfrm>
          <a:prstGeom prst="rect">
            <a:avLst/>
          </a:prstGeom>
          <a:noFill/>
          <a:ln/>
        </p:spPr>
        <p:txBody>
          <a:bodyPr wrap="square" lIns="254" tIns="254" rIns="254" bIns="254" rtlCol="0" anchor="ctr">
            <a:normAutofit/>
          </a:bodyPr>
          <a:lstStyle/>
          <a:p>
            <a:pPr algn="ctr" indent="0" marL="0">
              <a:buNone/>
            </a:pPr>
            <a:r>
              <a:rPr lang="en-US" sz="700" dirty="0">
                <a:solidFill>
                  <a:srgbClr val="BDBDBD"/>
                </a:solidFill>
              </a:rPr>
              <a:t>Jun</a:t>
            </a:r>
            <a:endParaRPr lang="en-US" sz="700" dirty="0"/>
          </a:p>
        </p:txBody>
      </p:sp>
      <p:sp>
        <p:nvSpPr>
          <p:cNvPr id="33" name="Shape 31"/>
          <p:cNvSpPr/>
          <p:nvPr/>
        </p:nvSpPr>
        <p:spPr>
          <a:xfrm>
            <a:off x="5367528" y="3161418"/>
            <a:ext cx="390144" cy="2617590"/>
          </a:xfrm>
          <a:prstGeom prst="rect">
            <a:avLst/>
          </a:prstGeom>
          <a:solidFill>
            <a:srgbClr val="E30613"/>
          </a:solidFill>
          <a:ln w="12700">
            <a:solidFill>
              <a:srgbClr val="E30613"/>
            </a:solidFill>
            <a:prstDash val="solid"/>
          </a:ln>
        </p:spPr>
      </p:sp>
      <p:sp>
        <p:nvSpPr>
          <p:cNvPr id="34" name="Shape 32"/>
          <p:cNvSpPr/>
          <p:nvPr/>
        </p:nvSpPr>
        <p:spPr>
          <a:xfrm>
            <a:off x="5785104" y="3197031"/>
            <a:ext cx="390144" cy="2581977"/>
          </a:xfrm>
          <a:prstGeom prst="rect">
            <a:avLst/>
          </a:prstGeom>
          <a:solidFill>
            <a:srgbClr val="B7B7B7"/>
          </a:solidFill>
          <a:ln w="12700">
            <a:solidFill>
              <a:srgbClr val="B7B7B7"/>
            </a:solidFill>
            <a:prstDash val="solid"/>
          </a:ln>
        </p:spPr>
      </p:sp>
      <p:sp>
        <p:nvSpPr>
          <p:cNvPr id="35" name="Shape 33"/>
          <p:cNvSpPr/>
          <p:nvPr/>
        </p:nvSpPr>
        <p:spPr>
          <a:xfrm>
            <a:off x="6202680" y="3054577"/>
            <a:ext cx="390144" cy="2724431"/>
          </a:xfrm>
          <a:prstGeom prst="rect">
            <a:avLst/>
          </a:prstGeom>
          <a:solidFill>
            <a:srgbClr val="F5A000"/>
          </a:solidFill>
          <a:ln w="12700">
            <a:solidFill>
              <a:srgbClr val="F5A000"/>
            </a:solidFill>
            <a:prstDash val="solid"/>
          </a:ln>
        </p:spPr>
      </p:sp>
      <p:sp>
        <p:nvSpPr>
          <p:cNvPr id="36" name="Text 34"/>
          <p:cNvSpPr/>
          <p:nvPr/>
        </p:nvSpPr>
        <p:spPr>
          <a:xfrm>
            <a:off x="5349240" y="5925312"/>
            <a:ext cx="1399032" cy="137160"/>
          </a:xfrm>
          <a:prstGeom prst="rect">
            <a:avLst/>
          </a:prstGeom>
          <a:noFill/>
          <a:ln/>
        </p:spPr>
        <p:txBody>
          <a:bodyPr wrap="square" lIns="254" tIns="254" rIns="254" bIns="254" rtlCol="0" anchor="ctr">
            <a:normAutofit/>
          </a:bodyPr>
          <a:lstStyle/>
          <a:p>
            <a:pPr algn="ctr" indent="0" marL="0">
              <a:buNone/>
            </a:pPr>
            <a:r>
              <a:rPr lang="en-US" sz="700" dirty="0">
                <a:solidFill>
                  <a:srgbClr val="BDBDBD"/>
                </a:solidFill>
              </a:rPr>
              <a:t>Jul</a:t>
            </a:r>
            <a:endParaRPr lang="en-US" sz="700" dirty="0"/>
          </a:p>
        </p:txBody>
      </p:sp>
      <p:sp>
        <p:nvSpPr>
          <p:cNvPr id="37" name="Shape 35"/>
          <p:cNvSpPr/>
          <p:nvPr/>
        </p:nvSpPr>
        <p:spPr>
          <a:xfrm>
            <a:off x="6876288" y="3838074"/>
            <a:ext cx="390144" cy="1940934"/>
          </a:xfrm>
          <a:prstGeom prst="rect">
            <a:avLst/>
          </a:prstGeom>
          <a:solidFill>
            <a:srgbClr val="E30613"/>
          </a:solidFill>
          <a:ln w="12700">
            <a:solidFill>
              <a:srgbClr val="E30613"/>
            </a:solidFill>
            <a:prstDash val="solid"/>
          </a:ln>
        </p:spPr>
      </p:sp>
      <p:sp>
        <p:nvSpPr>
          <p:cNvPr id="38" name="Shape 36"/>
          <p:cNvSpPr/>
          <p:nvPr/>
        </p:nvSpPr>
        <p:spPr>
          <a:xfrm>
            <a:off x="7293864" y="2894317"/>
            <a:ext cx="390144" cy="2884691"/>
          </a:xfrm>
          <a:prstGeom prst="rect">
            <a:avLst/>
          </a:prstGeom>
          <a:solidFill>
            <a:srgbClr val="B7B7B7"/>
          </a:solidFill>
          <a:ln w="12700">
            <a:solidFill>
              <a:srgbClr val="B7B7B7"/>
            </a:solidFill>
            <a:prstDash val="solid"/>
          </a:ln>
        </p:spPr>
      </p:sp>
      <p:sp>
        <p:nvSpPr>
          <p:cNvPr id="39" name="Shape 37"/>
          <p:cNvSpPr/>
          <p:nvPr/>
        </p:nvSpPr>
        <p:spPr>
          <a:xfrm>
            <a:off x="7711440" y="3980528"/>
            <a:ext cx="390144" cy="1798480"/>
          </a:xfrm>
          <a:prstGeom prst="rect">
            <a:avLst/>
          </a:prstGeom>
          <a:solidFill>
            <a:srgbClr val="F5A000"/>
          </a:solidFill>
          <a:ln w="12700">
            <a:solidFill>
              <a:srgbClr val="F5A000"/>
            </a:solidFill>
            <a:prstDash val="solid"/>
          </a:ln>
        </p:spPr>
      </p:sp>
      <p:sp>
        <p:nvSpPr>
          <p:cNvPr id="40" name="Text 38"/>
          <p:cNvSpPr/>
          <p:nvPr/>
        </p:nvSpPr>
        <p:spPr>
          <a:xfrm>
            <a:off x="6858000" y="5925312"/>
            <a:ext cx="1399032" cy="137160"/>
          </a:xfrm>
          <a:prstGeom prst="rect">
            <a:avLst/>
          </a:prstGeom>
          <a:noFill/>
          <a:ln/>
        </p:spPr>
        <p:txBody>
          <a:bodyPr wrap="square" lIns="254" tIns="254" rIns="254" bIns="254" rtlCol="0" anchor="ctr">
            <a:normAutofit/>
          </a:bodyPr>
          <a:lstStyle/>
          <a:p>
            <a:pPr algn="ctr" indent="0" marL="0">
              <a:buNone/>
            </a:pPr>
            <a:r>
              <a:rPr lang="en-US" sz="700" dirty="0">
                <a:solidFill>
                  <a:srgbClr val="BDBDBD"/>
                </a:solidFill>
              </a:rPr>
              <a:t>Aug</a:t>
            </a:r>
            <a:endParaRPr lang="en-US" sz="700" dirty="0"/>
          </a:p>
        </p:txBody>
      </p:sp>
      <p:sp>
        <p:nvSpPr>
          <p:cNvPr id="41" name="Shape 39"/>
          <p:cNvSpPr/>
          <p:nvPr/>
        </p:nvSpPr>
        <p:spPr>
          <a:xfrm>
            <a:off x="9015984" y="1335024"/>
            <a:ext cx="2971800" cy="5102352"/>
          </a:xfrm>
          <a:prstGeom prst="roundRect">
            <a:avLst>
              <a:gd name="adj" fmla="val 1846"/>
            </a:avLst>
          </a:prstGeom>
          <a:solidFill>
            <a:srgbClr val="303030"/>
          </a:solidFill>
          <a:ln w="8890">
            <a:solidFill>
              <a:srgbClr val="6E6E6E"/>
            </a:solidFill>
            <a:prstDash val="solid"/>
          </a:ln>
        </p:spPr>
      </p:sp>
      <p:sp>
        <p:nvSpPr>
          <p:cNvPr id="42" name="Text 40"/>
          <p:cNvSpPr/>
          <p:nvPr/>
        </p:nvSpPr>
        <p:spPr>
          <a:xfrm>
            <a:off x="9272016" y="1572768"/>
            <a:ext cx="2468880" cy="182880"/>
          </a:xfrm>
          <a:prstGeom prst="rect">
            <a:avLst/>
          </a:prstGeom>
          <a:noFill/>
          <a:ln/>
        </p:spPr>
        <p:txBody>
          <a:bodyPr wrap="square" rtlCol="0" anchor="ctr">
            <a:normAutofit/>
          </a:bodyPr>
          <a:lstStyle/>
          <a:p>
            <a:pPr indent="0" marL="0">
              <a:buNone/>
            </a:pPr>
            <a:r>
              <a:rPr lang="en-US" sz="750" b="1" dirty="0">
                <a:solidFill>
                  <a:srgbClr val="E30613"/>
                </a:solidFill>
              </a:rPr>
              <a:t>OBSERVATIONS / QUESTIONS</a:t>
            </a:r>
            <a:endParaRPr lang="en-US" sz="750" dirty="0"/>
          </a:p>
        </p:txBody>
      </p:sp>
      <p:sp>
        <p:nvSpPr>
          <p:cNvPr id="43" name="Shape 41"/>
          <p:cNvSpPr/>
          <p:nvPr/>
        </p:nvSpPr>
        <p:spPr>
          <a:xfrm>
            <a:off x="9272016" y="2084832"/>
            <a:ext cx="82296" cy="82296"/>
          </a:xfrm>
          <a:prstGeom prst="ellipse">
            <a:avLst/>
          </a:prstGeom>
          <a:solidFill>
            <a:srgbClr val="E30613"/>
          </a:solidFill>
          <a:ln w="12700">
            <a:solidFill>
              <a:srgbClr val="E30613"/>
            </a:solidFill>
            <a:prstDash val="solid"/>
          </a:ln>
        </p:spPr>
      </p:sp>
      <p:sp>
        <p:nvSpPr>
          <p:cNvPr id="44" name="Text 42"/>
          <p:cNvSpPr/>
          <p:nvPr/>
        </p:nvSpPr>
        <p:spPr>
          <a:xfrm>
            <a:off x="9491472" y="2020824"/>
            <a:ext cx="2221992" cy="512064"/>
          </a:xfrm>
          <a:prstGeom prst="rect">
            <a:avLst/>
          </a:prstGeom>
          <a:noFill/>
          <a:ln/>
        </p:spPr>
        <p:txBody>
          <a:bodyPr wrap="square" lIns="254" tIns="254" rIns="254" bIns="254" rtlCol="0" anchor="t">
            <a:normAutofit/>
          </a:bodyPr>
          <a:lstStyle/>
          <a:p>
            <a:pPr indent="0" marL="0">
              <a:buNone/>
            </a:pPr>
            <a:r>
              <a:rPr lang="en-US" sz="820" dirty="0">
                <a:solidFill>
                  <a:srgbClr val="F2F2F2"/>
                </a:solidFill>
              </a:rPr>
              <a:t>Apr-Jul sales were €591K versus €584K phased plan: 101.2% of plan. The shortfall is concentrated in August.</a:t>
            </a:r>
            <a:endParaRPr lang="en-US" sz="820" dirty="0"/>
          </a:p>
        </p:txBody>
      </p:sp>
      <p:sp>
        <p:nvSpPr>
          <p:cNvPr id="45" name="Shape 43"/>
          <p:cNvSpPr/>
          <p:nvPr/>
        </p:nvSpPr>
        <p:spPr>
          <a:xfrm>
            <a:off x="9272016" y="3017520"/>
            <a:ext cx="82296" cy="82296"/>
          </a:xfrm>
          <a:prstGeom prst="ellipse">
            <a:avLst/>
          </a:prstGeom>
          <a:solidFill>
            <a:srgbClr val="F5A000"/>
          </a:solidFill>
          <a:ln w="12700">
            <a:solidFill>
              <a:srgbClr val="F5A000"/>
            </a:solidFill>
            <a:prstDash val="solid"/>
          </a:ln>
        </p:spPr>
      </p:sp>
      <p:sp>
        <p:nvSpPr>
          <p:cNvPr id="46" name="Text 44"/>
          <p:cNvSpPr/>
          <p:nvPr/>
        </p:nvSpPr>
        <p:spPr>
          <a:xfrm>
            <a:off x="9491472" y="2953512"/>
            <a:ext cx="2221992" cy="512064"/>
          </a:xfrm>
          <a:prstGeom prst="rect">
            <a:avLst/>
          </a:prstGeom>
          <a:noFill/>
          <a:ln/>
        </p:spPr>
        <p:txBody>
          <a:bodyPr wrap="square" lIns="254" tIns="254" rIns="254" bIns="254" rtlCol="0" anchor="t">
            <a:normAutofit/>
          </a:bodyPr>
          <a:lstStyle/>
          <a:p>
            <a:pPr indent="0" marL="0">
              <a:buNone/>
            </a:pPr>
            <a:r>
              <a:rPr lang="en-US" sz="820" dirty="0">
                <a:solidFill>
                  <a:srgbClr val="F2F2F2"/>
                </a:solidFill>
              </a:rPr>
              <a:t>August sales were €109K versus €162K plan: 67.3% of plan. Orders were €101K, so the pipeline did not offset the month.</a:t>
            </a:r>
            <a:endParaRPr lang="en-US" sz="820" dirty="0"/>
          </a:p>
        </p:txBody>
      </p:sp>
      <p:sp>
        <p:nvSpPr>
          <p:cNvPr id="47" name="Shape 45"/>
          <p:cNvSpPr/>
          <p:nvPr/>
        </p:nvSpPr>
        <p:spPr>
          <a:xfrm>
            <a:off x="9272016" y="3950208"/>
            <a:ext cx="82296" cy="82296"/>
          </a:xfrm>
          <a:prstGeom prst="ellipse">
            <a:avLst/>
          </a:prstGeom>
          <a:solidFill>
            <a:srgbClr val="F5A000"/>
          </a:solidFill>
          <a:ln w="12700">
            <a:solidFill>
              <a:srgbClr val="F5A000"/>
            </a:solidFill>
            <a:prstDash val="solid"/>
          </a:ln>
        </p:spPr>
      </p:sp>
      <p:sp>
        <p:nvSpPr>
          <p:cNvPr id="48" name="Text 46"/>
          <p:cNvSpPr/>
          <p:nvPr/>
        </p:nvSpPr>
        <p:spPr>
          <a:xfrm>
            <a:off x="9491472" y="3886200"/>
            <a:ext cx="2221992" cy="512064"/>
          </a:xfrm>
          <a:prstGeom prst="rect">
            <a:avLst/>
          </a:prstGeom>
          <a:noFill/>
          <a:ln/>
        </p:spPr>
        <p:txBody>
          <a:bodyPr wrap="square" lIns="254" tIns="254" rIns="254" bIns="254" rtlCol="0" anchor="t">
            <a:normAutofit/>
          </a:bodyPr>
          <a:lstStyle/>
          <a:p>
            <a:pPr indent="0" marL="0">
              <a:buNone/>
            </a:pPr>
            <a:r>
              <a:rPr lang="en-US" sz="820" dirty="0">
                <a:solidFill>
                  <a:srgbClr val="F2F2F2"/>
                </a:solidFill>
              </a:rPr>
              <a:t>Apr-Aug sales total €700K versus €746K phased plan: 93.8%. Orders total €694K: 93.0%.</a:t>
            </a:r>
            <a:endParaRPr lang="en-US" sz="820" dirty="0"/>
          </a:p>
        </p:txBody>
      </p:sp>
      <p:sp>
        <p:nvSpPr>
          <p:cNvPr id="49" name="Shape 47"/>
          <p:cNvSpPr/>
          <p:nvPr/>
        </p:nvSpPr>
        <p:spPr>
          <a:xfrm>
            <a:off x="9272016" y="4882896"/>
            <a:ext cx="82296" cy="82296"/>
          </a:xfrm>
          <a:prstGeom prst="ellipse">
            <a:avLst/>
          </a:prstGeom>
          <a:solidFill>
            <a:srgbClr val="F5A000"/>
          </a:solidFill>
          <a:ln w="12700">
            <a:solidFill>
              <a:srgbClr val="F5A000"/>
            </a:solidFill>
            <a:prstDash val="solid"/>
          </a:ln>
        </p:spPr>
      </p:sp>
      <p:sp>
        <p:nvSpPr>
          <p:cNvPr id="50" name="Text 48"/>
          <p:cNvSpPr/>
          <p:nvPr/>
        </p:nvSpPr>
        <p:spPr>
          <a:xfrm>
            <a:off x="9491472" y="4818888"/>
            <a:ext cx="2221992" cy="512064"/>
          </a:xfrm>
          <a:prstGeom prst="rect">
            <a:avLst/>
          </a:prstGeom>
          <a:noFill/>
          <a:ln/>
        </p:spPr>
        <p:txBody>
          <a:bodyPr wrap="square" lIns="254" tIns="254" rIns="254" bIns="254" rtlCol="0" anchor="t">
            <a:normAutofit/>
          </a:bodyPr>
          <a:lstStyle/>
          <a:p>
            <a:pPr indent="0" marL="0">
              <a:buNone/>
            </a:pPr>
            <a:r>
              <a:rPr lang="en-US" sz="820" dirty="0">
                <a:solidFill>
                  <a:srgbClr val="F2F2F2"/>
                </a:solidFill>
              </a:rPr>
              <a:t>Question for I Motors: what changed in August versus the first four months: dealer demand, stock mix, timing, or availability?</a:t>
            </a:r>
            <a:endParaRPr lang="en-US" sz="8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62626"/>
        </a:solidFill>
      </p:bgPr>
    </p:bg>
    <p:spTree>
      <p:nvGrpSpPr>
        <p:cNvPr id="1" name=""/>
        <p:cNvGrpSpPr/>
        <p:nvPr/>
      </p:nvGrpSpPr>
      <p:grpSpPr>
        <a:xfrm>
          <a:off x="0" y="0"/>
          <a:ext cx="0" cy="0"/>
          <a:chOff x="0" y="0"/>
          <a:chExt cx="0" cy="0"/>
        </a:xfrm>
      </p:grpSpPr>
      <p:sp>
        <p:nvSpPr>
          <p:cNvPr id="2" name="Text 0"/>
          <p:cNvSpPr/>
          <p:nvPr/>
        </p:nvSpPr>
        <p:spPr>
          <a:xfrm>
            <a:off x="228600" y="91440"/>
            <a:ext cx="3474720" cy="164592"/>
          </a:xfrm>
          <a:prstGeom prst="rect">
            <a:avLst/>
          </a:prstGeom>
          <a:noFill/>
          <a:ln/>
        </p:spPr>
        <p:txBody>
          <a:bodyPr wrap="square" rtlCol="0" anchor="ctr">
            <a:normAutofit/>
          </a:bodyPr>
          <a:lstStyle/>
          <a:p>
            <a:pPr indent="0" marL="0">
              <a:buNone/>
            </a:pPr>
            <a:r>
              <a:rPr lang="en-US" sz="660" b="1" dirty="0">
                <a:solidFill>
                  <a:srgbClr val="F2F2F2"/>
                </a:solidFill>
                <a:latin typeface="Aptos" pitchFamily="34" charset="0"/>
                <a:ea typeface="Aptos" pitchFamily="34" charset="-122"/>
                <a:cs typeface="Aptos" pitchFamily="34" charset="-120"/>
              </a:rPr>
              <a:t>ISZE  ·  VEHICLE PARTS &amp; ACCESSORIES</a:t>
            </a:r>
            <a:endParaRPr lang="en-US" sz="660" dirty="0"/>
          </a:p>
        </p:txBody>
      </p:sp>
      <p:sp>
        <p:nvSpPr>
          <p:cNvPr id="3" name="Shape 1"/>
          <p:cNvSpPr/>
          <p:nvPr/>
        </p:nvSpPr>
        <p:spPr>
          <a:xfrm>
            <a:off x="228600" y="6629400"/>
            <a:ext cx="11750040" cy="0"/>
          </a:xfrm>
          <a:prstGeom prst="line">
            <a:avLst/>
          </a:prstGeom>
          <a:noFill/>
          <a:ln w="6350">
            <a:solidFill>
              <a:srgbClr val="575757"/>
            </a:solidFill>
            <a:prstDash val="solid"/>
          </a:ln>
        </p:spPr>
      </p:sp>
      <p:sp>
        <p:nvSpPr>
          <p:cNvPr id="4" name="Text 2"/>
          <p:cNvSpPr/>
          <p:nvPr/>
        </p:nvSpPr>
        <p:spPr>
          <a:xfrm>
            <a:off x="228600" y="393192"/>
            <a:ext cx="4114800" cy="201168"/>
          </a:xfrm>
          <a:prstGeom prst="rect">
            <a:avLst/>
          </a:prstGeom>
          <a:noFill/>
          <a:ln/>
        </p:spPr>
        <p:txBody>
          <a:bodyPr wrap="square" rtlCol="0" anchor="ctr">
            <a:normAutofit/>
          </a:bodyPr>
          <a:lstStyle/>
          <a:p>
            <a:pPr indent="0" marL="0">
              <a:buNone/>
            </a:pPr>
            <a:r>
              <a:rPr lang="en-US" sz="750" b="1" dirty="0">
                <a:solidFill>
                  <a:srgbClr val="E30613"/>
                </a:solidFill>
              </a:rPr>
              <a:t>EXECUTIVE VIEW</a:t>
            </a:r>
            <a:endParaRPr lang="en-US" sz="750" dirty="0"/>
          </a:p>
        </p:txBody>
      </p:sp>
      <p:sp>
        <p:nvSpPr>
          <p:cNvPr id="5" name="Text 3"/>
          <p:cNvSpPr/>
          <p:nvPr/>
        </p:nvSpPr>
        <p:spPr>
          <a:xfrm>
            <a:off x="228600" y="713232"/>
            <a:ext cx="9052560" cy="438912"/>
          </a:xfrm>
          <a:prstGeom prst="rect">
            <a:avLst/>
          </a:prstGeom>
          <a:noFill/>
          <a:ln/>
        </p:spPr>
        <p:txBody>
          <a:bodyPr wrap="square" lIns="0" tIns="0" rIns="0" bIns="0" rtlCol="0" anchor="ctr">
            <a:normAutofit/>
          </a:bodyPr>
          <a:lstStyle/>
          <a:p>
            <a:pPr indent="0" marL="0">
              <a:buNone/>
            </a:pPr>
            <a:r>
              <a:rPr lang="en-US" sz="2250" b="1" dirty="0">
                <a:solidFill>
                  <a:srgbClr val="F2F2F2"/>
                </a:solidFill>
              </a:rPr>
              <a:t>The issue is not the first five months; it is the stock and execution risk behind August</a:t>
            </a:r>
            <a:endParaRPr lang="en-US" sz="2250" dirty="0"/>
          </a:p>
        </p:txBody>
      </p:sp>
      <p:sp>
        <p:nvSpPr>
          <p:cNvPr id="6" name="Text 4"/>
          <p:cNvSpPr/>
          <p:nvPr/>
        </p:nvSpPr>
        <p:spPr>
          <a:xfrm>
            <a:off x="228600" y="1188720"/>
            <a:ext cx="8046720" cy="219456"/>
          </a:xfrm>
          <a:prstGeom prst="rect">
            <a:avLst/>
          </a:prstGeom>
          <a:noFill/>
          <a:ln/>
        </p:spPr>
        <p:txBody>
          <a:bodyPr wrap="square" lIns="0" tIns="0" rIns="0" bIns="0" rtlCol="0" anchor="ctr">
            <a:normAutofit/>
          </a:bodyPr>
          <a:lstStyle/>
          <a:p>
            <a:pPr indent="0" marL="0">
              <a:buNone/>
            </a:pPr>
            <a:r>
              <a:rPr lang="en-US" sz="850" dirty="0">
                <a:solidFill>
                  <a:srgbClr val="BDBDBD"/>
                </a:solidFill>
              </a:rPr>
              <a:t>I Motors | Apr-Aug 2026 | September deliberately excluded</a:t>
            </a:r>
            <a:endParaRPr lang="en-US" sz="850" dirty="0"/>
          </a:p>
        </p:txBody>
      </p:sp>
      <p:sp>
        <p:nvSpPr>
          <p:cNvPr id="7" name="Shape 5"/>
          <p:cNvSpPr/>
          <p:nvPr/>
        </p:nvSpPr>
        <p:spPr>
          <a:xfrm>
            <a:off x="502920" y="1600200"/>
            <a:ext cx="3611880" cy="1417320"/>
          </a:xfrm>
          <a:prstGeom prst="roundRect">
            <a:avLst>
              <a:gd name="adj" fmla="val 3871"/>
            </a:avLst>
          </a:prstGeom>
          <a:solidFill>
            <a:srgbClr val="303030"/>
          </a:solidFill>
          <a:ln w="8890">
            <a:solidFill>
              <a:srgbClr val="6E6E6E"/>
            </a:solidFill>
            <a:prstDash val="solid"/>
          </a:ln>
        </p:spPr>
      </p:sp>
      <p:sp>
        <p:nvSpPr>
          <p:cNvPr id="8" name="Text 6"/>
          <p:cNvSpPr/>
          <p:nvPr/>
        </p:nvSpPr>
        <p:spPr>
          <a:xfrm>
            <a:off x="704088" y="1764792"/>
            <a:ext cx="1463040" cy="182880"/>
          </a:xfrm>
          <a:prstGeom prst="rect">
            <a:avLst/>
          </a:prstGeom>
          <a:noFill/>
          <a:ln/>
        </p:spPr>
        <p:txBody>
          <a:bodyPr wrap="square" lIns="254" tIns="254" rIns="254" bIns="254" rtlCol="0" anchor="ctr">
            <a:normAutofit/>
          </a:bodyPr>
          <a:lstStyle/>
          <a:p>
            <a:pPr algn="l" indent="0" marL="0">
              <a:buNone/>
            </a:pPr>
            <a:r>
              <a:rPr lang="en-US" sz="800" b="1" dirty="0">
                <a:solidFill>
                  <a:srgbClr val="E30613"/>
                </a:solidFill>
              </a:rPr>
              <a:t>Sales vs plan</a:t>
            </a:r>
            <a:endParaRPr lang="en-US" sz="800" dirty="0"/>
          </a:p>
        </p:txBody>
      </p:sp>
      <p:sp>
        <p:nvSpPr>
          <p:cNvPr id="9" name="Text 7"/>
          <p:cNvSpPr/>
          <p:nvPr/>
        </p:nvSpPr>
        <p:spPr>
          <a:xfrm>
            <a:off x="704088" y="2029968"/>
            <a:ext cx="1051560" cy="384048"/>
          </a:xfrm>
          <a:prstGeom prst="rect">
            <a:avLst/>
          </a:prstGeom>
          <a:noFill/>
          <a:ln/>
        </p:spPr>
        <p:txBody>
          <a:bodyPr wrap="square" lIns="254" tIns="254" rIns="254" bIns="254" rtlCol="0" anchor="ctr">
            <a:normAutofit/>
          </a:bodyPr>
          <a:lstStyle/>
          <a:p>
            <a:pPr algn="l" indent="0" marL="0">
              <a:buNone/>
            </a:pPr>
            <a:r>
              <a:rPr lang="en-US" sz="2500" b="1" dirty="0">
                <a:solidFill>
                  <a:srgbClr val="F2F2F2"/>
                </a:solidFill>
              </a:rPr>
              <a:t>94%</a:t>
            </a:r>
            <a:endParaRPr lang="en-US" sz="2500" dirty="0"/>
          </a:p>
        </p:txBody>
      </p:sp>
      <p:sp>
        <p:nvSpPr>
          <p:cNvPr id="10" name="Text 8"/>
          <p:cNvSpPr/>
          <p:nvPr/>
        </p:nvSpPr>
        <p:spPr>
          <a:xfrm>
            <a:off x="1828800" y="2066544"/>
            <a:ext cx="2011680" cy="201168"/>
          </a:xfrm>
          <a:prstGeom prst="rect">
            <a:avLst/>
          </a:prstGeom>
          <a:noFill/>
          <a:ln/>
        </p:spPr>
        <p:txBody>
          <a:bodyPr wrap="square" lIns="254" tIns="254" rIns="254" bIns="254" rtlCol="0" anchor="ctr">
            <a:normAutofit/>
          </a:bodyPr>
          <a:lstStyle/>
          <a:p>
            <a:pPr algn="l" indent="0" marL="0">
              <a:buNone/>
            </a:pPr>
            <a:r>
              <a:rPr lang="en-US" sz="800" dirty="0">
                <a:solidFill>
                  <a:srgbClr val="BDBDBD"/>
                </a:solidFill>
              </a:rPr>
              <a:t>Apr-Aug sales vs phased BP</a:t>
            </a:r>
            <a:endParaRPr lang="en-US" sz="800" dirty="0"/>
          </a:p>
        </p:txBody>
      </p:sp>
      <p:sp>
        <p:nvSpPr>
          <p:cNvPr id="11" name="Text 9"/>
          <p:cNvSpPr/>
          <p:nvPr/>
        </p:nvSpPr>
        <p:spPr>
          <a:xfrm>
            <a:off x="704088" y="2532888"/>
            <a:ext cx="3017520" cy="292608"/>
          </a:xfrm>
          <a:prstGeom prst="rect">
            <a:avLst/>
          </a:prstGeom>
          <a:noFill/>
          <a:ln/>
        </p:spPr>
        <p:txBody>
          <a:bodyPr wrap="square" lIns="254" tIns="254" rIns="254" bIns="254" rtlCol="0" anchor="ctr">
            <a:normAutofit/>
          </a:bodyPr>
          <a:lstStyle/>
          <a:p>
            <a:pPr algn="l" indent="0" marL="0">
              <a:buNone/>
            </a:pPr>
            <a:r>
              <a:rPr lang="en-US" sz="800" dirty="0">
                <a:solidFill>
                  <a:srgbClr val="F2F2F2"/>
                </a:solidFill>
              </a:rPr>
              <a:t>Sales were close to the phased plan, but August was the clear break.</a:t>
            </a:r>
            <a:endParaRPr lang="en-US" sz="800" dirty="0"/>
          </a:p>
        </p:txBody>
      </p:sp>
      <p:sp>
        <p:nvSpPr>
          <p:cNvPr id="12" name="Shape 10"/>
          <p:cNvSpPr/>
          <p:nvPr/>
        </p:nvSpPr>
        <p:spPr>
          <a:xfrm>
            <a:off x="4480560" y="1600200"/>
            <a:ext cx="3611880" cy="1417320"/>
          </a:xfrm>
          <a:prstGeom prst="roundRect">
            <a:avLst>
              <a:gd name="adj" fmla="val 3871"/>
            </a:avLst>
          </a:prstGeom>
          <a:solidFill>
            <a:srgbClr val="303030"/>
          </a:solidFill>
          <a:ln w="8890">
            <a:solidFill>
              <a:srgbClr val="6E6E6E"/>
            </a:solidFill>
            <a:prstDash val="solid"/>
          </a:ln>
        </p:spPr>
      </p:sp>
      <p:sp>
        <p:nvSpPr>
          <p:cNvPr id="13" name="Text 11"/>
          <p:cNvSpPr/>
          <p:nvPr/>
        </p:nvSpPr>
        <p:spPr>
          <a:xfrm>
            <a:off x="4681728" y="1764792"/>
            <a:ext cx="1463040" cy="182880"/>
          </a:xfrm>
          <a:prstGeom prst="rect">
            <a:avLst/>
          </a:prstGeom>
          <a:noFill/>
          <a:ln/>
        </p:spPr>
        <p:txBody>
          <a:bodyPr wrap="square" lIns="254" tIns="254" rIns="254" bIns="254" rtlCol="0" anchor="ctr">
            <a:normAutofit/>
          </a:bodyPr>
          <a:lstStyle/>
          <a:p>
            <a:pPr algn="l" indent="0" marL="0">
              <a:buNone/>
            </a:pPr>
            <a:r>
              <a:rPr lang="en-US" sz="800" b="1" dirty="0">
                <a:solidFill>
                  <a:srgbClr val="E30613"/>
                </a:solidFill>
              </a:rPr>
              <a:t>Orders vs plan</a:t>
            </a:r>
            <a:endParaRPr lang="en-US" sz="800" dirty="0"/>
          </a:p>
        </p:txBody>
      </p:sp>
      <p:sp>
        <p:nvSpPr>
          <p:cNvPr id="14" name="Text 12"/>
          <p:cNvSpPr/>
          <p:nvPr/>
        </p:nvSpPr>
        <p:spPr>
          <a:xfrm>
            <a:off x="4681728" y="2029968"/>
            <a:ext cx="1051560" cy="384048"/>
          </a:xfrm>
          <a:prstGeom prst="rect">
            <a:avLst/>
          </a:prstGeom>
          <a:noFill/>
          <a:ln/>
        </p:spPr>
        <p:txBody>
          <a:bodyPr wrap="square" lIns="254" tIns="254" rIns="254" bIns="254" rtlCol="0" anchor="ctr">
            <a:normAutofit/>
          </a:bodyPr>
          <a:lstStyle/>
          <a:p>
            <a:pPr algn="l" indent="0" marL="0">
              <a:buNone/>
            </a:pPr>
            <a:r>
              <a:rPr lang="en-US" sz="2500" b="1" dirty="0">
                <a:solidFill>
                  <a:srgbClr val="F2F2F2"/>
                </a:solidFill>
              </a:rPr>
              <a:t>93%</a:t>
            </a:r>
            <a:endParaRPr lang="en-US" sz="2500" dirty="0"/>
          </a:p>
        </p:txBody>
      </p:sp>
      <p:sp>
        <p:nvSpPr>
          <p:cNvPr id="15" name="Text 13"/>
          <p:cNvSpPr/>
          <p:nvPr/>
        </p:nvSpPr>
        <p:spPr>
          <a:xfrm>
            <a:off x="5806440" y="2066544"/>
            <a:ext cx="2011680" cy="201168"/>
          </a:xfrm>
          <a:prstGeom prst="rect">
            <a:avLst/>
          </a:prstGeom>
          <a:noFill/>
          <a:ln/>
        </p:spPr>
        <p:txBody>
          <a:bodyPr wrap="square" lIns="254" tIns="254" rIns="254" bIns="254" rtlCol="0" anchor="ctr">
            <a:normAutofit/>
          </a:bodyPr>
          <a:lstStyle/>
          <a:p>
            <a:pPr algn="l" indent="0" marL="0">
              <a:buNone/>
            </a:pPr>
            <a:r>
              <a:rPr lang="en-US" sz="800" dirty="0">
                <a:solidFill>
                  <a:srgbClr val="BDBDBD"/>
                </a:solidFill>
              </a:rPr>
              <a:t>Apr-Aug orders vs phased BP</a:t>
            </a:r>
            <a:endParaRPr lang="en-US" sz="800" dirty="0"/>
          </a:p>
        </p:txBody>
      </p:sp>
      <p:sp>
        <p:nvSpPr>
          <p:cNvPr id="16" name="Text 14"/>
          <p:cNvSpPr/>
          <p:nvPr/>
        </p:nvSpPr>
        <p:spPr>
          <a:xfrm>
            <a:off x="4681728" y="2532888"/>
            <a:ext cx="3017520" cy="292608"/>
          </a:xfrm>
          <a:prstGeom prst="rect">
            <a:avLst/>
          </a:prstGeom>
          <a:noFill/>
          <a:ln/>
        </p:spPr>
        <p:txBody>
          <a:bodyPr wrap="square" lIns="254" tIns="254" rIns="254" bIns="254" rtlCol="0" anchor="ctr">
            <a:normAutofit/>
          </a:bodyPr>
          <a:lstStyle/>
          <a:p>
            <a:pPr algn="l" indent="0" marL="0">
              <a:buNone/>
            </a:pPr>
            <a:r>
              <a:rPr lang="en-US" sz="800" dirty="0">
                <a:solidFill>
                  <a:srgbClr val="F2F2F2"/>
                </a:solidFill>
              </a:rPr>
              <a:t>Orders did not provide enough forward cover after the August sales miss.</a:t>
            </a:r>
            <a:endParaRPr lang="en-US" sz="800" dirty="0"/>
          </a:p>
        </p:txBody>
      </p:sp>
      <p:sp>
        <p:nvSpPr>
          <p:cNvPr id="17" name="Shape 15"/>
          <p:cNvSpPr/>
          <p:nvPr/>
        </p:nvSpPr>
        <p:spPr>
          <a:xfrm>
            <a:off x="502920" y="3474720"/>
            <a:ext cx="3611880" cy="1417320"/>
          </a:xfrm>
          <a:prstGeom prst="roundRect">
            <a:avLst>
              <a:gd name="adj" fmla="val 3871"/>
            </a:avLst>
          </a:prstGeom>
          <a:solidFill>
            <a:srgbClr val="303030"/>
          </a:solidFill>
          <a:ln w="8890">
            <a:solidFill>
              <a:srgbClr val="6E6E6E"/>
            </a:solidFill>
            <a:prstDash val="solid"/>
          </a:ln>
        </p:spPr>
      </p:sp>
      <p:sp>
        <p:nvSpPr>
          <p:cNvPr id="18" name="Text 16"/>
          <p:cNvSpPr/>
          <p:nvPr/>
        </p:nvSpPr>
        <p:spPr>
          <a:xfrm>
            <a:off x="704088" y="3639312"/>
            <a:ext cx="1463040" cy="182880"/>
          </a:xfrm>
          <a:prstGeom prst="rect">
            <a:avLst/>
          </a:prstGeom>
          <a:noFill/>
          <a:ln/>
        </p:spPr>
        <p:txBody>
          <a:bodyPr wrap="square" lIns="254" tIns="254" rIns="254" bIns="254" rtlCol="0" anchor="ctr">
            <a:normAutofit/>
          </a:bodyPr>
          <a:lstStyle/>
          <a:p>
            <a:pPr algn="l" indent="0" marL="0">
              <a:buNone/>
            </a:pPr>
            <a:r>
              <a:rPr lang="en-US" sz="800" b="1" dirty="0">
                <a:solidFill>
                  <a:srgbClr val="E30613"/>
                </a:solidFill>
              </a:rPr>
              <a:t>First fill rate</a:t>
            </a:r>
            <a:endParaRPr lang="en-US" sz="800" dirty="0"/>
          </a:p>
        </p:txBody>
      </p:sp>
      <p:sp>
        <p:nvSpPr>
          <p:cNvPr id="19" name="Text 17"/>
          <p:cNvSpPr/>
          <p:nvPr/>
        </p:nvSpPr>
        <p:spPr>
          <a:xfrm>
            <a:off x="704088" y="3904488"/>
            <a:ext cx="1051560" cy="384048"/>
          </a:xfrm>
          <a:prstGeom prst="rect">
            <a:avLst/>
          </a:prstGeom>
          <a:noFill/>
          <a:ln/>
        </p:spPr>
        <p:txBody>
          <a:bodyPr wrap="square" lIns="254" tIns="254" rIns="254" bIns="254" rtlCol="0" anchor="ctr">
            <a:normAutofit/>
          </a:bodyPr>
          <a:lstStyle/>
          <a:p>
            <a:pPr algn="l" indent="0" marL="0">
              <a:buNone/>
            </a:pPr>
            <a:r>
              <a:rPr lang="en-US" sz="2500" b="1" dirty="0">
                <a:solidFill>
                  <a:srgbClr val="F2F2F2"/>
                </a:solidFill>
              </a:rPr>
              <a:t>85%</a:t>
            </a:r>
            <a:endParaRPr lang="en-US" sz="2500" dirty="0"/>
          </a:p>
        </p:txBody>
      </p:sp>
      <p:sp>
        <p:nvSpPr>
          <p:cNvPr id="20" name="Text 18"/>
          <p:cNvSpPr/>
          <p:nvPr/>
        </p:nvSpPr>
        <p:spPr>
          <a:xfrm>
            <a:off x="1828800" y="3941064"/>
            <a:ext cx="2011680" cy="201168"/>
          </a:xfrm>
          <a:prstGeom prst="rect">
            <a:avLst/>
          </a:prstGeom>
          <a:noFill/>
          <a:ln/>
        </p:spPr>
        <p:txBody>
          <a:bodyPr wrap="square" lIns="254" tIns="254" rIns="254" bIns="254" rtlCol="0" anchor="ctr">
            <a:normAutofit/>
          </a:bodyPr>
          <a:lstStyle/>
          <a:p>
            <a:pPr algn="l" indent="0" marL="0">
              <a:buNone/>
            </a:pPr>
            <a:r>
              <a:rPr lang="en-US" sz="800" dirty="0">
                <a:solidFill>
                  <a:srgbClr val="BDBDBD"/>
                </a:solidFill>
              </a:rPr>
              <a:t>Aug 2026 vs 93% target</a:t>
            </a:r>
            <a:endParaRPr lang="en-US" sz="800" dirty="0"/>
          </a:p>
        </p:txBody>
      </p:sp>
      <p:sp>
        <p:nvSpPr>
          <p:cNvPr id="21" name="Text 19"/>
          <p:cNvSpPr/>
          <p:nvPr/>
        </p:nvSpPr>
        <p:spPr>
          <a:xfrm>
            <a:off x="704088" y="4407408"/>
            <a:ext cx="3017520" cy="292608"/>
          </a:xfrm>
          <a:prstGeom prst="rect">
            <a:avLst/>
          </a:prstGeom>
          <a:noFill/>
          <a:ln/>
        </p:spPr>
        <p:txBody>
          <a:bodyPr wrap="square" lIns="254" tIns="254" rIns="254" bIns="254" rtlCol="0" anchor="ctr">
            <a:normAutofit/>
          </a:bodyPr>
          <a:lstStyle/>
          <a:p>
            <a:pPr algn="l" indent="0" marL="0">
              <a:buNone/>
            </a:pPr>
            <a:r>
              <a:rPr lang="en-US" sz="800" dirty="0">
                <a:solidFill>
                  <a:srgbClr val="F2F2F2"/>
                </a:solidFill>
              </a:rPr>
              <a:t>The fill-rate target is not being reached; make this a stock-mix discussion.</a:t>
            </a:r>
            <a:endParaRPr lang="en-US" sz="800" dirty="0"/>
          </a:p>
        </p:txBody>
      </p:sp>
      <p:sp>
        <p:nvSpPr>
          <p:cNvPr id="22" name="Shape 20"/>
          <p:cNvSpPr/>
          <p:nvPr/>
        </p:nvSpPr>
        <p:spPr>
          <a:xfrm>
            <a:off x="4480560" y="3474720"/>
            <a:ext cx="3611880" cy="1417320"/>
          </a:xfrm>
          <a:prstGeom prst="roundRect">
            <a:avLst>
              <a:gd name="adj" fmla="val 3871"/>
            </a:avLst>
          </a:prstGeom>
          <a:solidFill>
            <a:srgbClr val="303030"/>
          </a:solidFill>
          <a:ln w="8890">
            <a:solidFill>
              <a:srgbClr val="6E6E6E"/>
            </a:solidFill>
            <a:prstDash val="solid"/>
          </a:ln>
        </p:spPr>
      </p:sp>
      <p:sp>
        <p:nvSpPr>
          <p:cNvPr id="23" name="Text 21"/>
          <p:cNvSpPr/>
          <p:nvPr/>
        </p:nvSpPr>
        <p:spPr>
          <a:xfrm>
            <a:off x="4681728" y="3639312"/>
            <a:ext cx="1463040" cy="182880"/>
          </a:xfrm>
          <a:prstGeom prst="rect">
            <a:avLst/>
          </a:prstGeom>
          <a:noFill/>
          <a:ln/>
        </p:spPr>
        <p:txBody>
          <a:bodyPr wrap="square" lIns="254" tIns="254" rIns="254" bIns="254" rtlCol="0" anchor="ctr">
            <a:normAutofit/>
          </a:bodyPr>
          <a:lstStyle/>
          <a:p>
            <a:pPr algn="l" indent="0" marL="0">
              <a:buNone/>
            </a:pPr>
            <a:r>
              <a:rPr lang="en-US" sz="800" b="1" dirty="0">
                <a:solidFill>
                  <a:srgbClr val="E30613"/>
                </a:solidFill>
              </a:rPr>
              <a:t>Days of stock</a:t>
            </a:r>
            <a:endParaRPr lang="en-US" sz="800" dirty="0"/>
          </a:p>
        </p:txBody>
      </p:sp>
      <p:sp>
        <p:nvSpPr>
          <p:cNvPr id="24" name="Text 22"/>
          <p:cNvSpPr/>
          <p:nvPr/>
        </p:nvSpPr>
        <p:spPr>
          <a:xfrm>
            <a:off x="4681728" y="3904488"/>
            <a:ext cx="1051560" cy="384048"/>
          </a:xfrm>
          <a:prstGeom prst="rect">
            <a:avLst/>
          </a:prstGeom>
          <a:noFill/>
          <a:ln/>
        </p:spPr>
        <p:txBody>
          <a:bodyPr wrap="square" lIns="254" tIns="254" rIns="254" bIns="254" rtlCol="0" anchor="ctr">
            <a:normAutofit/>
          </a:bodyPr>
          <a:lstStyle/>
          <a:p>
            <a:pPr algn="l" indent="0" marL="0">
              <a:buNone/>
            </a:pPr>
            <a:r>
              <a:rPr lang="en-US" sz="2500" b="1" dirty="0">
                <a:solidFill>
                  <a:srgbClr val="F5A000"/>
                </a:solidFill>
              </a:rPr>
              <a:t>67</a:t>
            </a:r>
            <a:endParaRPr lang="en-US" sz="2500" dirty="0"/>
          </a:p>
        </p:txBody>
      </p:sp>
      <p:sp>
        <p:nvSpPr>
          <p:cNvPr id="25" name="Text 23"/>
          <p:cNvSpPr/>
          <p:nvPr/>
        </p:nvSpPr>
        <p:spPr>
          <a:xfrm>
            <a:off x="5806440" y="3941064"/>
            <a:ext cx="2011680" cy="201168"/>
          </a:xfrm>
          <a:prstGeom prst="rect">
            <a:avLst/>
          </a:prstGeom>
          <a:noFill/>
          <a:ln/>
        </p:spPr>
        <p:txBody>
          <a:bodyPr wrap="square" lIns="254" tIns="254" rIns="254" bIns="254" rtlCol="0" anchor="ctr">
            <a:normAutofit/>
          </a:bodyPr>
          <a:lstStyle/>
          <a:p>
            <a:pPr algn="l" indent="0" marL="0">
              <a:buNone/>
            </a:pPr>
            <a:r>
              <a:rPr lang="en-US" sz="800" dirty="0">
                <a:solidFill>
                  <a:srgbClr val="BDBDBD"/>
                </a:solidFill>
              </a:rPr>
              <a:t>Aug 2026 MOS / stock days</a:t>
            </a:r>
            <a:endParaRPr lang="en-US" sz="800" dirty="0"/>
          </a:p>
        </p:txBody>
      </p:sp>
      <p:sp>
        <p:nvSpPr>
          <p:cNvPr id="26" name="Text 24"/>
          <p:cNvSpPr/>
          <p:nvPr/>
        </p:nvSpPr>
        <p:spPr>
          <a:xfrm>
            <a:off x="4681728" y="4407408"/>
            <a:ext cx="3017520" cy="292608"/>
          </a:xfrm>
          <a:prstGeom prst="rect">
            <a:avLst/>
          </a:prstGeom>
          <a:noFill/>
          <a:ln/>
        </p:spPr>
        <p:txBody>
          <a:bodyPr wrap="square" lIns="254" tIns="254" rIns="254" bIns="254" rtlCol="0" anchor="ctr">
            <a:normAutofit/>
          </a:bodyPr>
          <a:lstStyle/>
          <a:p>
            <a:pPr algn="l" indent="0" marL="0">
              <a:buNone/>
            </a:pPr>
            <a:r>
              <a:rPr lang="en-US" sz="800" dirty="0">
                <a:solidFill>
                  <a:srgbClr val="F2F2F2"/>
                </a:solidFill>
              </a:rPr>
              <a:t>Inventory looks low. Ask whether this will damage fill rate further.</a:t>
            </a:r>
            <a:endParaRPr lang="en-US" sz="800" dirty="0"/>
          </a:p>
        </p:txBody>
      </p:sp>
      <p:sp>
        <p:nvSpPr>
          <p:cNvPr id="27" name="Shape 25"/>
          <p:cNvSpPr/>
          <p:nvPr/>
        </p:nvSpPr>
        <p:spPr>
          <a:xfrm>
            <a:off x="9015984" y="1335024"/>
            <a:ext cx="2971800" cy="5102352"/>
          </a:xfrm>
          <a:prstGeom prst="roundRect">
            <a:avLst>
              <a:gd name="adj" fmla="val 1846"/>
            </a:avLst>
          </a:prstGeom>
          <a:solidFill>
            <a:srgbClr val="303030"/>
          </a:solidFill>
          <a:ln w="8890">
            <a:solidFill>
              <a:srgbClr val="6E6E6E"/>
            </a:solidFill>
            <a:prstDash val="solid"/>
          </a:ln>
        </p:spPr>
      </p:sp>
      <p:sp>
        <p:nvSpPr>
          <p:cNvPr id="28" name="Text 26"/>
          <p:cNvSpPr/>
          <p:nvPr/>
        </p:nvSpPr>
        <p:spPr>
          <a:xfrm>
            <a:off x="9272016" y="1572768"/>
            <a:ext cx="2468880" cy="182880"/>
          </a:xfrm>
          <a:prstGeom prst="rect">
            <a:avLst/>
          </a:prstGeom>
          <a:noFill/>
          <a:ln/>
        </p:spPr>
        <p:txBody>
          <a:bodyPr wrap="square" rtlCol="0" anchor="ctr">
            <a:normAutofit/>
          </a:bodyPr>
          <a:lstStyle/>
          <a:p>
            <a:pPr indent="0" marL="0">
              <a:buNone/>
            </a:pPr>
            <a:r>
              <a:rPr lang="en-US" sz="750" b="1" dirty="0">
                <a:solidFill>
                  <a:srgbClr val="E30613"/>
                </a:solidFill>
              </a:rPr>
              <a:t>OBSERVATIONS / QUESTIONS</a:t>
            </a:r>
            <a:endParaRPr lang="en-US" sz="750" dirty="0"/>
          </a:p>
        </p:txBody>
      </p:sp>
      <p:sp>
        <p:nvSpPr>
          <p:cNvPr id="29" name="Shape 27"/>
          <p:cNvSpPr/>
          <p:nvPr/>
        </p:nvSpPr>
        <p:spPr>
          <a:xfrm>
            <a:off x="9272016" y="2084832"/>
            <a:ext cx="82296" cy="82296"/>
          </a:xfrm>
          <a:prstGeom prst="ellipse">
            <a:avLst/>
          </a:prstGeom>
          <a:solidFill>
            <a:srgbClr val="E30613"/>
          </a:solidFill>
          <a:ln w="12700">
            <a:solidFill>
              <a:srgbClr val="E30613"/>
            </a:solidFill>
            <a:prstDash val="solid"/>
          </a:ln>
        </p:spPr>
      </p:sp>
      <p:sp>
        <p:nvSpPr>
          <p:cNvPr id="30" name="Text 28"/>
          <p:cNvSpPr/>
          <p:nvPr/>
        </p:nvSpPr>
        <p:spPr>
          <a:xfrm>
            <a:off x="9491472" y="2020824"/>
            <a:ext cx="2221992" cy="512064"/>
          </a:xfrm>
          <a:prstGeom prst="rect">
            <a:avLst/>
          </a:prstGeom>
          <a:noFill/>
          <a:ln/>
        </p:spPr>
        <p:txBody>
          <a:bodyPr wrap="square" lIns="254" tIns="254" rIns="254" bIns="254" rtlCol="0" anchor="t">
            <a:normAutofit/>
          </a:bodyPr>
          <a:lstStyle/>
          <a:p>
            <a:pPr indent="0" marL="0">
              <a:buNone/>
            </a:pPr>
            <a:r>
              <a:rPr lang="en-US" sz="820" dirty="0">
                <a:solidFill>
                  <a:srgbClr val="F2F2F2"/>
                </a:solidFill>
              </a:rPr>
              <a:t>General observation: sales to dealer is moving well, but ISZE sales and orders were under plan in August.</a:t>
            </a:r>
            <a:endParaRPr lang="en-US" sz="820" dirty="0"/>
          </a:p>
        </p:txBody>
      </p:sp>
      <p:sp>
        <p:nvSpPr>
          <p:cNvPr id="31" name="Shape 29"/>
          <p:cNvSpPr/>
          <p:nvPr/>
        </p:nvSpPr>
        <p:spPr>
          <a:xfrm>
            <a:off x="9272016" y="3017520"/>
            <a:ext cx="82296" cy="82296"/>
          </a:xfrm>
          <a:prstGeom prst="ellipse">
            <a:avLst/>
          </a:prstGeom>
          <a:solidFill>
            <a:srgbClr val="F5A000"/>
          </a:solidFill>
          <a:ln w="12700">
            <a:solidFill>
              <a:srgbClr val="F5A000"/>
            </a:solidFill>
            <a:prstDash val="solid"/>
          </a:ln>
        </p:spPr>
      </p:sp>
      <p:sp>
        <p:nvSpPr>
          <p:cNvPr id="32" name="Text 30"/>
          <p:cNvSpPr/>
          <p:nvPr/>
        </p:nvSpPr>
        <p:spPr>
          <a:xfrm>
            <a:off x="9491472" y="2953512"/>
            <a:ext cx="2221992" cy="512064"/>
          </a:xfrm>
          <a:prstGeom prst="rect">
            <a:avLst/>
          </a:prstGeom>
          <a:noFill/>
          <a:ln/>
        </p:spPr>
        <p:txBody>
          <a:bodyPr wrap="square" lIns="254" tIns="254" rIns="254" bIns="254" rtlCol="0" anchor="t">
            <a:normAutofit/>
          </a:bodyPr>
          <a:lstStyle/>
          <a:p>
            <a:pPr indent="0" marL="0">
              <a:buNone/>
            </a:pPr>
            <a:r>
              <a:rPr lang="en-US" sz="820" dirty="0">
                <a:solidFill>
                  <a:srgbClr val="F2F2F2"/>
                </a:solidFill>
              </a:rPr>
              <a:t>The first fill rate remains around 84-85%, well below the 93% target now used for this review.</a:t>
            </a:r>
            <a:endParaRPr lang="en-US" sz="820" dirty="0"/>
          </a:p>
        </p:txBody>
      </p:sp>
      <p:sp>
        <p:nvSpPr>
          <p:cNvPr id="33" name="Shape 31"/>
          <p:cNvSpPr/>
          <p:nvPr/>
        </p:nvSpPr>
        <p:spPr>
          <a:xfrm>
            <a:off x="9272016" y="3950208"/>
            <a:ext cx="82296" cy="82296"/>
          </a:xfrm>
          <a:prstGeom prst="ellipse">
            <a:avLst/>
          </a:prstGeom>
          <a:solidFill>
            <a:srgbClr val="F5A000"/>
          </a:solidFill>
          <a:ln w="12700">
            <a:solidFill>
              <a:srgbClr val="F5A000"/>
            </a:solidFill>
            <a:prstDash val="solid"/>
          </a:ln>
        </p:spPr>
      </p:sp>
      <p:sp>
        <p:nvSpPr>
          <p:cNvPr id="34" name="Text 32"/>
          <p:cNvSpPr/>
          <p:nvPr/>
        </p:nvSpPr>
        <p:spPr>
          <a:xfrm>
            <a:off x="9491472" y="3886200"/>
            <a:ext cx="2221992" cy="512064"/>
          </a:xfrm>
          <a:prstGeom prst="rect">
            <a:avLst/>
          </a:prstGeom>
          <a:noFill/>
          <a:ln/>
        </p:spPr>
        <p:txBody>
          <a:bodyPr wrap="square" lIns="254" tIns="254" rIns="254" bIns="254" rtlCol="0" anchor="t">
            <a:normAutofit/>
          </a:bodyPr>
          <a:lstStyle/>
          <a:p>
            <a:pPr indent="0" marL="0">
              <a:buNone/>
            </a:pPr>
            <a:r>
              <a:rPr lang="en-US" sz="820" dirty="0">
                <a:solidFill>
                  <a:srgbClr val="F2F2F2"/>
                </a:solidFill>
              </a:rPr>
              <a:t>MOS / days of stock is down to 67 in August. Low inventory may be the reason the fill rate is not recovering.</a:t>
            </a:r>
            <a:endParaRPr lang="en-US" sz="820" dirty="0"/>
          </a:p>
        </p:txBody>
      </p:sp>
      <p:sp>
        <p:nvSpPr>
          <p:cNvPr id="35" name="Shape 33"/>
          <p:cNvSpPr/>
          <p:nvPr/>
        </p:nvSpPr>
        <p:spPr>
          <a:xfrm>
            <a:off x="9272016" y="4882896"/>
            <a:ext cx="82296" cy="82296"/>
          </a:xfrm>
          <a:prstGeom prst="ellipse">
            <a:avLst/>
          </a:prstGeom>
          <a:solidFill>
            <a:srgbClr val="F5A000"/>
          </a:solidFill>
          <a:ln w="12700">
            <a:solidFill>
              <a:srgbClr val="F5A000"/>
            </a:solidFill>
            <a:prstDash val="solid"/>
          </a:ln>
        </p:spPr>
      </p:sp>
      <p:sp>
        <p:nvSpPr>
          <p:cNvPr id="36" name="Text 34"/>
          <p:cNvSpPr/>
          <p:nvPr/>
        </p:nvSpPr>
        <p:spPr>
          <a:xfrm>
            <a:off x="9491472" y="4818888"/>
            <a:ext cx="2221992" cy="512064"/>
          </a:xfrm>
          <a:prstGeom prst="rect">
            <a:avLst/>
          </a:prstGeom>
          <a:noFill/>
          <a:ln/>
        </p:spPr>
        <p:txBody>
          <a:bodyPr wrap="square" lIns="254" tIns="254" rIns="254" bIns="254" rtlCol="0" anchor="t">
            <a:normAutofit/>
          </a:bodyPr>
          <a:lstStyle/>
          <a:p>
            <a:pPr indent="0" marL="0">
              <a:buNone/>
            </a:pPr>
            <a:r>
              <a:rPr lang="en-US" sz="820" dirty="0">
                <a:solidFill>
                  <a:srgbClr val="F2F2F2"/>
                </a:solidFill>
              </a:rPr>
              <a:t>Question: is I Motors under-stocking the fast-moving service basket, or is the issue concentrated in specific part families?</a:t>
            </a:r>
            <a:endParaRPr lang="en-US" sz="8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62626"/>
        </a:solidFill>
      </p:bgPr>
    </p:bg>
    <p:spTree>
      <p:nvGrpSpPr>
        <p:cNvPr id="1" name=""/>
        <p:cNvGrpSpPr/>
        <p:nvPr/>
      </p:nvGrpSpPr>
      <p:grpSpPr>
        <a:xfrm>
          <a:off x="0" y="0"/>
          <a:ext cx="0" cy="0"/>
          <a:chOff x="0" y="0"/>
          <a:chExt cx="0" cy="0"/>
        </a:xfrm>
      </p:grpSpPr>
      <p:sp>
        <p:nvSpPr>
          <p:cNvPr id="2" name="Text 0"/>
          <p:cNvSpPr/>
          <p:nvPr/>
        </p:nvSpPr>
        <p:spPr>
          <a:xfrm>
            <a:off x="228600" y="91440"/>
            <a:ext cx="3474720" cy="164592"/>
          </a:xfrm>
          <a:prstGeom prst="rect">
            <a:avLst/>
          </a:prstGeom>
          <a:noFill/>
          <a:ln/>
        </p:spPr>
        <p:txBody>
          <a:bodyPr wrap="square" rtlCol="0" anchor="ctr">
            <a:normAutofit/>
          </a:bodyPr>
          <a:lstStyle/>
          <a:p>
            <a:pPr indent="0" marL="0">
              <a:buNone/>
            </a:pPr>
            <a:r>
              <a:rPr lang="en-US" sz="660" b="1" dirty="0">
                <a:solidFill>
                  <a:srgbClr val="F2F2F2"/>
                </a:solidFill>
                <a:latin typeface="Aptos" pitchFamily="34" charset="0"/>
                <a:ea typeface="Aptos" pitchFamily="34" charset="-122"/>
                <a:cs typeface="Aptos" pitchFamily="34" charset="-120"/>
              </a:rPr>
              <a:t>ISZE  ·  VEHICLE PARTS &amp; ACCESSORIES</a:t>
            </a:r>
            <a:endParaRPr lang="en-US" sz="660" dirty="0"/>
          </a:p>
        </p:txBody>
      </p:sp>
      <p:sp>
        <p:nvSpPr>
          <p:cNvPr id="3" name="Shape 1"/>
          <p:cNvSpPr/>
          <p:nvPr/>
        </p:nvSpPr>
        <p:spPr>
          <a:xfrm>
            <a:off x="228600" y="6629400"/>
            <a:ext cx="11750040" cy="0"/>
          </a:xfrm>
          <a:prstGeom prst="line">
            <a:avLst/>
          </a:prstGeom>
          <a:noFill/>
          <a:ln w="6350">
            <a:solidFill>
              <a:srgbClr val="575757"/>
            </a:solidFill>
            <a:prstDash val="solid"/>
          </a:ln>
        </p:spPr>
        <p:txBody>
          <a:bodyPr/>
          <a:p/>
        </p:txBody>
      </p:sp>
      <p:sp>
        <p:nvSpPr>
          <p:cNvPr id="4" name="Text 2"/>
          <p:cNvSpPr/>
          <p:nvPr/>
        </p:nvSpPr>
        <p:spPr>
          <a:xfrm>
            <a:off x="228600" y="393192"/>
            <a:ext cx="4114800" cy="201168"/>
          </a:xfrm>
          <a:prstGeom prst="rect">
            <a:avLst/>
          </a:prstGeom>
          <a:noFill/>
          <a:ln/>
        </p:spPr>
        <p:txBody>
          <a:bodyPr wrap="square" rtlCol="0" anchor="ctr">
            <a:normAutofit/>
          </a:bodyPr>
          <a:lstStyle/>
          <a:p>
            <a:pPr indent="0" marL="0">
              <a:buNone/>
            </a:pPr>
            <a:r>
              <a:rPr lang="en-US" sz="750" b="1" dirty="0">
                <a:solidFill>
                  <a:srgbClr val="E30613"/>
                </a:solidFill>
              </a:rPr>
              <a:t>SALES TO DEALER</a:t>
            </a:r>
            <a:endParaRPr lang="en-US" sz="750" dirty="0"/>
          </a:p>
        </p:txBody>
      </p:sp>
      <p:sp>
        <p:nvSpPr>
          <p:cNvPr id="5" name="Text 3"/>
          <p:cNvSpPr/>
          <p:nvPr/>
        </p:nvSpPr>
        <p:spPr>
          <a:xfrm>
            <a:off x="228600" y="713232"/>
            <a:ext cx="9052560" cy="438912"/>
          </a:xfrm>
          <a:prstGeom prst="rect">
            <a:avLst/>
          </a:prstGeom>
          <a:noFill/>
          <a:ln/>
        </p:spPr>
        <p:txBody>
          <a:bodyPr wrap="square" lIns="0" tIns="0" rIns="0" bIns="0" rtlCol="0" anchor="ctr">
            <a:normAutofit/>
          </a:bodyPr>
          <a:lstStyle/>
          <a:p>
            <a:pPr indent="0" marL="0">
              <a:buNone/>
            </a:pPr>
            <a:r>
              <a:rPr lang="en-US" sz="2250" b="1" dirty="0">
                <a:solidFill>
                  <a:srgbClr val="F2F2F2"/>
                </a:solidFill>
              </a:rPr>
              <a:t>Rolling 12-month dealer sales reached €4.42M, up 19% versus the previous 12 months</a:t>
            </a:r>
            <a:endParaRPr lang="en-US" sz="2250" dirty="0"/>
          </a:p>
        </p:txBody>
      </p:sp>
      <p:sp>
        <p:nvSpPr>
          <p:cNvPr id="6" name="Text 4"/>
          <p:cNvSpPr/>
          <p:nvPr/>
        </p:nvSpPr>
        <p:spPr>
          <a:xfrm>
            <a:off x="228600" y="1188720"/>
            <a:ext cx="8046720" cy="219456"/>
          </a:xfrm>
          <a:prstGeom prst="rect">
            <a:avLst/>
          </a:prstGeom>
          <a:noFill/>
          <a:ln/>
        </p:spPr>
        <p:txBody>
          <a:bodyPr wrap="square" lIns="0" tIns="0" rIns="0" bIns="0" rtlCol="0" anchor="ctr">
            <a:normAutofit/>
          </a:bodyPr>
          <a:lstStyle/>
          <a:p>
            <a:pPr indent="0" marL="0">
              <a:buNone/>
            </a:pPr>
            <a:r>
              <a:rPr lang="en-US" sz="850" dirty="0">
                <a:solidFill>
                  <a:srgbClr val="BDBDBD"/>
                </a:solidFill>
              </a:rPr>
              <a:t>I Motors reported sales to dealer | Sep 2025-Aug 2026 versus Sep 2024-Aug 2025</a:t>
            </a:r>
            <a:endParaRPr lang="en-US" sz="850" dirty="0"/>
          </a:p>
        </p:txBody>
      </p:sp>
      <p:sp>
        <p:nvSpPr>
          <p:cNvPr id="52" name="Text 50"/>
          <p:cNvSpPr/>
          <p:nvPr/>
        </p:nvSpPr>
        <p:spPr>
          <a:xfrm>
            <a:off x="658368" y="5349240"/>
            <a:ext cx="2011680" cy="438912"/>
          </a:xfrm>
          <a:prstGeom prst="rect">
            <a:avLst/>
          </a:prstGeom>
          <a:noFill/>
          <a:ln/>
        </p:spPr>
        <p:txBody>
          <a:bodyPr wrap="square" lIns="0" tIns="0" rIns="0" bIns="0" rtlCol="0" anchor="ctr">
            <a:normAutofit/>
          </a:bodyPr>
          <a:lstStyle/>
          <a:p>
            <a:pPr algn="ctr" indent="0" marL="0">
              <a:buNone/>
            </a:pPr>
            <a:r>
              <a:rPr lang="en-US" sz="2500" b="1" dirty="0">
                <a:solidFill>
                  <a:srgbClr val="F2F2F2"/>
                </a:solidFill>
              </a:rPr>
              <a:t>€4.42M</a:t>
            </a:r>
            <a:endParaRPr lang="en-US" sz="2500" dirty="0"/>
          </a:p>
        </p:txBody>
      </p:sp>
      <p:sp>
        <p:nvSpPr>
          <p:cNvPr id="53" name="Text 51"/>
          <p:cNvSpPr/>
          <p:nvPr/>
        </p:nvSpPr>
        <p:spPr>
          <a:xfrm>
            <a:off x="658368" y="5788152"/>
            <a:ext cx="2011680" cy="274320"/>
          </a:xfrm>
          <a:prstGeom prst="rect">
            <a:avLst/>
          </a:prstGeom>
          <a:noFill/>
          <a:ln/>
        </p:spPr>
        <p:txBody>
          <a:bodyPr wrap="square" lIns="0" tIns="0" rIns="0" bIns="0" rtlCol="0" anchor="ctr">
            <a:normAutofit/>
          </a:bodyPr>
          <a:lstStyle/>
          <a:p>
            <a:pPr algn="ctr" indent="0" marL="0">
              <a:buNone/>
            </a:pPr>
            <a:r>
              <a:rPr lang="en-US" sz="800" dirty="0">
                <a:solidFill>
                  <a:srgbClr val="BDBDBD"/>
                </a:solidFill>
              </a:rPr>
              <a:t>last 12 months to Aug 2026</a:t>
            </a:r>
            <a:endParaRPr lang="en-US" sz="800" dirty="0"/>
          </a:p>
        </p:txBody>
      </p:sp>
      <p:sp>
        <p:nvSpPr>
          <p:cNvPr id="54" name="Text 52"/>
          <p:cNvSpPr/>
          <p:nvPr/>
        </p:nvSpPr>
        <p:spPr>
          <a:xfrm>
            <a:off x="2834640" y="5349240"/>
            <a:ext cx="2011680" cy="438912"/>
          </a:xfrm>
          <a:prstGeom prst="rect">
            <a:avLst/>
          </a:prstGeom>
          <a:noFill/>
          <a:ln/>
        </p:spPr>
        <p:txBody>
          <a:bodyPr wrap="square" lIns="0" tIns="0" rIns="0" bIns="0" rtlCol="0" anchor="ctr">
            <a:normAutofit/>
          </a:bodyPr>
          <a:lstStyle/>
          <a:p>
            <a:pPr algn="ctr" indent="0" marL="0">
              <a:buNone/>
            </a:pPr>
            <a:r>
              <a:rPr lang="en-US" sz="2500" b="1" dirty="0">
                <a:solidFill>
                  <a:srgbClr val="E30613"/>
                </a:solidFill>
              </a:rPr>
              <a:t>+19%</a:t>
            </a:r>
            <a:endParaRPr lang="en-US" sz="2500" dirty="0"/>
          </a:p>
        </p:txBody>
      </p:sp>
      <p:sp>
        <p:nvSpPr>
          <p:cNvPr id="55" name="Text 53"/>
          <p:cNvSpPr/>
          <p:nvPr/>
        </p:nvSpPr>
        <p:spPr>
          <a:xfrm>
            <a:off x="2834640" y="5788152"/>
            <a:ext cx="2011680" cy="274320"/>
          </a:xfrm>
          <a:prstGeom prst="rect">
            <a:avLst/>
          </a:prstGeom>
          <a:noFill/>
          <a:ln/>
        </p:spPr>
        <p:txBody>
          <a:bodyPr wrap="square" lIns="0" tIns="0" rIns="0" bIns="0" rtlCol="0" anchor="ctr">
            <a:normAutofit/>
          </a:bodyPr>
          <a:lstStyle/>
          <a:p>
            <a:pPr algn="ctr" indent="0" marL="0">
              <a:buNone/>
            </a:pPr>
            <a:r>
              <a:rPr lang="en-US" sz="800" dirty="0">
                <a:solidFill>
                  <a:srgbClr val="BDBDBD"/>
                </a:solidFill>
              </a:rPr>
              <a:t>versus previous 12 months (€3.72M)</a:t>
            </a:r>
            <a:endParaRPr lang="en-US" sz="800" dirty="0"/>
          </a:p>
        </p:txBody>
      </p:sp>
      <p:sp>
        <p:nvSpPr>
          <p:cNvPr id="56" name="Text 54"/>
          <p:cNvSpPr/>
          <p:nvPr/>
        </p:nvSpPr>
        <p:spPr>
          <a:xfrm>
            <a:off x="5074920" y="5349240"/>
            <a:ext cx="2011680" cy="438912"/>
          </a:xfrm>
          <a:prstGeom prst="rect">
            <a:avLst/>
          </a:prstGeom>
          <a:noFill/>
          <a:ln/>
        </p:spPr>
        <p:txBody>
          <a:bodyPr wrap="square" lIns="0" tIns="0" rIns="0" bIns="0" rtlCol="0" anchor="ctr">
            <a:normAutofit/>
          </a:bodyPr>
          <a:lstStyle/>
          <a:p>
            <a:pPr algn="ctr" indent="0" marL="0">
              <a:buNone/>
            </a:pPr>
            <a:r>
              <a:rPr lang="en-US" sz="2500" b="1" dirty="0">
                <a:solidFill>
                  <a:srgbClr val="F5A000"/>
                </a:solidFill>
              </a:rPr>
              <a:t>€490K</a:t>
            </a:r>
            <a:endParaRPr lang="en-US" sz="2500" dirty="0"/>
          </a:p>
        </p:txBody>
      </p:sp>
      <p:sp>
        <p:nvSpPr>
          <p:cNvPr id="57" name="Text 55"/>
          <p:cNvSpPr/>
          <p:nvPr/>
        </p:nvSpPr>
        <p:spPr>
          <a:xfrm>
            <a:off x="5074920" y="5788152"/>
            <a:ext cx="2011680" cy="274320"/>
          </a:xfrm>
          <a:prstGeom prst="rect">
            <a:avLst/>
          </a:prstGeom>
          <a:noFill/>
          <a:ln/>
        </p:spPr>
        <p:txBody>
          <a:bodyPr wrap="square" lIns="0" tIns="0" rIns="0" bIns="0" rtlCol="0" anchor="ctr">
            <a:normAutofit/>
          </a:bodyPr>
          <a:lstStyle/>
          <a:p>
            <a:pPr algn="ctr" indent="0" marL="0">
              <a:buNone/>
            </a:pPr>
            <a:r>
              <a:rPr lang="en-US" sz="800" dirty="0">
                <a:solidFill>
                  <a:srgbClr val="BDBDBD"/>
                </a:solidFill>
              </a:rPr>
              <a:t>largest month: May 2026</a:t>
            </a:r>
            <a:endParaRPr lang="en-US" sz="800" dirty="0"/>
          </a:p>
        </p:txBody>
      </p:sp>
      <p:sp>
        <p:nvSpPr>
          <p:cNvPr id="58" name="Shape 56"/>
          <p:cNvSpPr/>
          <p:nvPr/>
        </p:nvSpPr>
        <p:spPr>
          <a:xfrm>
            <a:off x="9015984" y="1335024"/>
            <a:ext cx="2971800" cy="5102352"/>
          </a:xfrm>
          <a:prstGeom prst="roundRect">
            <a:avLst>
              <a:gd name="adj" fmla="val 1846"/>
            </a:avLst>
          </a:prstGeom>
          <a:solidFill>
            <a:srgbClr val="303030"/>
          </a:solidFill>
          <a:ln w="8890">
            <a:solidFill>
              <a:srgbClr val="6E6E6E"/>
            </a:solidFill>
            <a:prstDash val="solid"/>
          </a:ln>
        </p:spPr>
        <p:txBody>
          <a:bodyPr/>
          <a:p/>
        </p:txBody>
      </p:sp>
      <p:sp>
        <p:nvSpPr>
          <p:cNvPr id="59" name="Text 57"/>
          <p:cNvSpPr/>
          <p:nvPr/>
        </p:nvSpPr>
        <p:spPr>
          <a:xfrm>
            <a:off x="9272016" y="1572768"/>
            <a:ext cx="2468880" cy="182880"/>
          </a:xfrm>
          <a:prstGeom prst="rect">
            <a:avLst/>
          </a:prstGeom>
          <a:noFill/>
          <a:ln/>
        </p:spPr>
        <p:txBody>
          <a:bodyPr wrap="square" rtlCol="0" anchor="ctr">
            <a:normAutofit/>
          </a:bodyPr>
          <a:lstStyle/>
          <a:p>
            <a:pPr indent="0" marL="0">
              <a:buNone/>
            </a:pPr>
            <a:r>
              <a:rPr lang="en-US" sz="750" b="1" dirty="0">
                <a:solidFill>
                  <a:srgbClr val="E30613"/>
                </a:solidFill>
              </a:rPr>
              <a:t>OBSERVATIONS / QUESTIONS</a:t>
            </a:r>
            <a:endParaRPr lang="en-US" sz="750" dirty="0"/>
          </a:p>
        </p:txBody>
      </p:sp>
      <p:sp>
        <p:nvSpPr>
          <p:cNvPr id="60" name="Shape 58"/>
          <p:cNvSpPr/>
          <p:nvPr/>
        </p:nvSpPr>
        <p:spPr>
          <a:xfrm>
            <a:off x="9272016" y="2084832"/>
            <a:ext cx="82296" cy="82296"/>
          </a:xfrm>
          <a:prstGeom prst="ellipse">
            <a:avLst/>
          </a:prstGeom>
          <a:solidFill>
            <a:srgbClr val="E30613"/>
          </a:solidFill>
          <a:ln w="12700">
            <a:solidFill>
              <a:srgbClr val="E30613"/>
            </a:solidFill>
            <a:prstDash val="solid"/>
          </a:ln>
        </p:spPr>
        <p:txBody>
          <a:bodyPr/>
          <a:p/>
        </p:txBody>
      </p:sp>
      <p:sp>
        <p:nvSpPr>
          <p:cNvPr id="61" name="Text 59"/>
          <p:cNvSpPr/>
          <p:nvPr/>
        </p:nvSpPr>
        <p:spPr>
          <a:xfrm>
            <a:off x="9491472" y="2020824"/>
            <a:ext cx="2221992" cy="512064"/>
          </a:xfrm>
          <a:prstGeom prst="rect">
            <a:avLst/>
          </a:prstGeom>
          <a:noFill/>
          <a:ln/>
        </p:spPr>
        <p:txBody>
          <a:bodyPr wrap="square" lIns="254" tIns="254" rIns="254" bIns="254" rtlCol="0" anchor="t">
            <a:normAutofit/>
          </a:bodyPr>
          <a:lstStyle/>
          <a:p>
            <a:pPr indent="0" marL="0">
              <a:buNone/>
            </a:pPr>
            <a:r>
              <a:rPr lang="en-US" sz="1000" dirty="0">
                <a:solidFill>
                  <a:srgbClr val="F2F2F2"/>
                </a:solidFill>
              </a:rPr>
              <a:t>Dealer-network sales are materially higher on a rolling basis, not only in one isolated month.</a:t>
            </a:r>
            <a:endParaRPr lang="en-US" sz="820" dirty="0"/>
          </a:p>
        </p:txBody>
      </p:sp>
      <p:sp>
        <p:nvSpPr>
          <p:cNvPr id="62" name="Shape 60"/>
          <p:cNvSpPr/>
          <p:nvPr/>
        </p:nvSpPr>
        <p:spPr>
          <a:xfrm>
            <a:off x="9272016" y="3017520"/>
            <a:ext cx="82296" cy="82296"/>
          </a:xfrm>
          <a:prstGeom prst="ellipse">
            <a:avLst/>
          </a:prstGeom>
          <a:solidFill>
            <a:srgbClr val="F5A000"/>
          </a:solidFill>
          <a:ln w="12700">
            <a:solidFill>
              <a:srgbClr val="F5A000"/>
            </a:solidFill>
            <a:prstDash val="solid"/>
          </a:ln>
        </p:spPr>
        <p:txBody>
          <a:bodyPr/>
          <a:p/>
        </p:txBody>
      </p:sp>
      <p:sp>
        <p:nvSpPr>
          <p:cNvPr id="63" name="Text 61"/>
          <p:cNvSpPr/>
          <p:nvPr/>
        </p:nvSpPr>
        <p:spPr>
          <a:xfrm>
            <a:off x="9491472" y="2953512"/>
            <a:ext cx="2221992" cy="512064"/>
          </a:xfrm>
          <a:prstGeom prst="rect">
            <a:avLst/>
          </a:prstGeom>
          <a:noFill/>
          <a:ln/>
        </p:spPr>
        <p:txBody>
          <a:bodyPr wrap="square" lIns="254" tIns="254" rIns="254" bIns="254" rtlCol="0" anchor="t">
            <a:normAutofit/>
          </a:bodyPr>
          <a:lstStyle/>
          <a:p>
            <a:pPr indent="0" marL="0">
              <a:buNone/>
            </a:pPr>
            <a:r>
              <a:rPr lang="en-US" sz="1000" dirty="0">
                <a:solidFill>
                  <a:srgbClr val="F2F2F2"/>
                </a:solidFill>
              </a:rPr>
              <a:t>May 2026 is the exceptional spike. Ask which dealers, parts families or campaigns created it.</a:t>
            </a:r>
            <a:endParaRPr lang="en-US" sz="820" dirty="0"/>
          </a:p>
        </p:txBody>
      </p:sp>
      <p:sp>
        <p:nvSpPr>
          <p:cNvPr id="64" name="Shape 62"/>
          <p:cNvSpPr/>
          <p:nvPr/>
        </p:nvSpPr>
        <p:spPr>
          <a:xfrm>
            <a:off x="9272016" y="3950208"/>
            <a:ext cx="82296" cy="82296"/>
          </a:xfrm>
          <a:prstGeom prst="ellipse">
            <a:avLst/>
          </a:prstGeom>
          <a:solidFill>
            <a:srgbClr val="F5A000"/>
          </a:solidFill>
          <a:ln w="12700">
            <a:solidFill>
              <a:srgbClr val="F5A000"/>
            </a:solidFill>
            <a:prstDash val="solid"/>
          </a:ln>
        </p:spPr>
        <p:txBody>
          <a:bodyPr/>
          <a:p/>
        </p:txBody>
      </p:sp>
      <p:sp>
        <p:nvSpPr>
          <p:cNvPr id="65" name="Text 63"/>
          <p:cNvSpPr/>
          <p:nvPr/>
        </p:nvSpPr>
        <p:spPr>
          <a:xfrm>
            <a:off x="9491472" y="3886200"/>
            <a:ext cx="2221992" cy="512064"/>
          </a:xfrm>
          <a:prstGeom prst="rect">
            <a:avLst/>
          </a:prstGeom>
          <a:noFill/>
          <a:ln/>
        </p:spPr>
        <p:txBody>
          <a:bodyPr wrap="square" lIns="254" tIns="254" rIns="254" bIns="254" rtlCol="0" anchor="t">
            <a:normAutofit/>
          </a:bodyPr>
          <a:lstStyle/>
          <a:p>
            <a:r>
              <a:rPr sz="1000">
                <a:solidFill>
                  <a:srgbClr val="F2F2F2"/>
                </a:solidFill>
              </a:rPr>
              <a:t>Month-to-month movement is shown as one connected line so the pattern is visible: strong May, solid Jun-Jul, weaker August.</a:t>
            </a:r>
          </a:p>
        </p:txBody>
      </p:sp>
      <p:sp>
        <p:nvSpPr>
          <p:cNvPr id="66" name="Shape 64"/>
          <p:cNvSpPr/>
          <p:nvPr/>
        </p:nvSpPr>
        <p:spPr>
          <a:xfrm>
            <a:off x="9272016" y="4882896"/>
            <a:ext cx="82296" cy="82296"/>
          </a:xfrm>
          <a:prstGeom prst="ellipse">
            <a:avLst/>
          </a:prstGeom>
          <a:solidFill>
            <a:srgbClr val="F5A000"/>
          </a:solidFill>
          <a:ln w="12700">
            <a:solidFill>
              <a:srgbClr val="F5A000"/>
            </a:solidFill>
            <a:prstDash val="solid"/>
          </a:ln>
        </p:spPr>
        <p:txBody>
          <a:bodyPr/>
          <a:p/>
        </p:txBody>
      </p:sp>
      <p:sp>
        <p:nvSpPr>
          <p:cNvPr id="67" name="Text 65"/>
          <p:cNvSpPr/>
          <p:nvPr/>
        </p:nvSpPr>
        <p:spPr>
          <a:xfrm>
            <a:off x="9491472" y="4818888"/>
            <a:ext cx="2221992" cy="512064"/>
          </a:xfrm>
          <a:prstGeom prst="rect">
            <a:avLst/>
          </a:prstGeom>
          <a:noFill/>
          <a:ln/>
        </p:spPr>
        <p:txBody>
          <a:bodyPr wrap="square" lIns="254" tIns="254" rIns="254" bIns="254" rtlCol="0" anchor="t">
            <a:normAutofit/>
          </a:bodyPr>
          <a:lstStyle/>
          <a:p>
            <a:pPr indent="0" marL="0">
              <a:buNone/>
            </a:pPr>
            <a:r>
              <a:rPr lang="en-US" sz="1000" dirty="0">
                <a:solidFill>
                  <a:srgbClr val="F2F2F2"/>
                </a:solidFill>
              </a:rPr>
              <a:t>Question: did I Motors inventory and replenishment follow the stronger dealer-sales trend?</a:t>
            </a:r>
            <a:endParaRPr lang="en-US" sz="820" dirty="0"/>
          </a:p>
        </p:txBody>
      </p:sp>
      <p:sp>
        <p:nvSpPr>
          <p:cNvPr id="68" name="Rectangle 67"/>
          <p:cNvSpPr/>
          <p:nvPr/>
        </p:nvSpPr>
        <p:spPr>
          <a:xfrm>
            <a:off x="475488" y="1417320"/>
            <a:ext cx="8092440" cy="3840480"/>
          </a:xfrm>
          <a:prstGeom prst="rect">
            <a:avLst/>
          </a:prstGeom>
          <a:solidFill>
            <a:srgbClr val="242424"/>
          </a:solidFill>
          <a:ln>
            <a:solidFill>
              <a:srgbClr val="2424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9" name="Picture 68" descr="imotors_rolling12_connected_chart.png"/>
          <p:cNvPicPr>
            <a:picLocks noChangeAspect="1"/>
          </p:cNvPicPr>
          <p:nvPr/>
        </p:nvPicPr>
        <p:blipFill>
          <a:blip r:embed="rId3"/>
          <a:stretch>
            <a:fillRect/>
          </a:stretch>
        </p:blipFill>
        <p:spPr>
          <a:xfrm>
            <a:off x="475488" y="1417320"/>
            <a:ext cx="8092440" cy="38404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62626"/>
        </a:solidFill>
      </p:bgPr>
    </p:bg>
    <p:spTree>
      <p:nvGrpSpPr>
        <p:cNvPr id="1" name=""/>
        <p:cNvGrpSpPr/>
        <p:nvPr/>
      </p:nvGrpSpPr>
      <p:grpSpPr>
        <a:xfrm>
          <a:off x="0" y="0"/>
          <a:ext cx="0" cy="0"/>
          <a:chOff x="0" y="0"/>
          <a:chExt cx="0" cy="0"/>
        </a:xfrm>
      </p:grpSpPr>
      <p:sp>
        <p:nvSpPr>
          <p:cNvPr id="2" name="Text 0"/>
          <p:cNvSpPr/>
          <p:nvPr/>
        </p:nvSpPr>
        <p:spPr>
          <a:xfrm>
            <a:off x="228600" y="91440"/>
            <a:ext cx="3474720" cy="164592"/>
          </a:xfrm>
          <a:prstGeom prst="rect">
            <a:avLst/>
          </a:prstGeom>
          <a:noFill/>
          <a:ln/>
        </p:spPr>
        <p:txBody>
          <a:bodyPr wrap="square" rtlCol="0" anchor="ctr">
            <a:normAutofit/>
          </a:bodyPr>
          <a:lstStyle/>
          <a:p>
            <a:pPr indent="0" marL="0">
              <a:buNone/>
            </a:pPr>
            <a:r>
              <a:rPr lang="en-US" sz="660" b="1" dirty="0">
                <a:solidFill>
                  <a:srgbClr val="F2F2F2"/>
                </a:solidFill>
                <a:latin typeface="Aptos" pitchFamily="34" charset="0"/>
                <a:ea typeface="Aptos" pitchFamily="34" charset="-122"/>
                <a:cs typeface="Aptos" pitchFamily="34" charset="-120"/>
              </a:rPr>
              <a:t>ISZE  ·  VEHICLE PARTS &amp; ACCESSORIES</a:t>
            </a:r>
            <a:endParaRPr lang="en-US" sz="660" dirty="0"/>
          </a:p>
        </p:txBody>
      </p:sp>
      <p:sp>
        <p:nvSpPr>
          <p:cNvPr id="3" name="Shape 1"/>
          <p:cNvSpPr/>
          <p:nvPr/>
        </p:nvSpPr>
        <p:spPr>
          <a:xfrm>
            <a:off x="228600" y="6629400"/>
            <a:ext cx="11750040" cy="0"/>
          </a:xfrm>
          <a:prstGeom prst="line">
            <a:avLst/>
          </a:prstGeom>
          <a:noFill/>
          <a:ln w="6350">
            <a:solidFill>
              <a:srgbClr val="575757"/>
            </a:solidFill>
            <a:prstDash val="solid"/>
          </a:ln>
        </p:spPr>
      </p:sp>
      <p:sp>
        <p:nvSpPr>
          <p:cNvPr id="4" name="Text 2"/>
          <p:cNvSpPr/>
          <p:nvPr/>
        </p:nvSpPr>
        <p:spPr>
          <a:xfrm>
            <a:off x="228600" y="393192"/>
            <a:ext cx="4114800" cy="201168"/>
          </a:xfrm>
          <a:prstGeom prst="rect">
            <a:avLst/>
          </a:prstGeom>
          <a:noFill/>
          <a:ln/>
        </p:spPr>
        <p:txBody>
          <a:bodyPr wrap="square" rtlCol="0" anchor="ctr">
            <a:normAutofit/>
          </a:bodyPr>
          <a:lstStyle/>
          <a:p>
            <a:pPr indent="0" marL="0">
              <a:buNone/>
            </a:pPr>
            <a:r>
              <a:rPr lang="en-US" sz="750" b="1" dirty="0">
                <a:solidFill>
                  <a:srgbClr val="E30613"/>
                </a:solidFill>
              </a:rPr>
              <a:t>SALES TO DEALER</a:t>
            </a:r>
            <a:endParaRPr lang="en-US" sz="750" dirty="0"/>
          </a:p>
        </p:txBody>
      </p:sp>
      <p:sp>
        <p:nvSpPr>
          <p:cNvPr id="5" name="Text 3"/>
          <p:cNvSpPr/>
          <p:nvPr/>
        </p:nvSpPr>
        <p:spPr>
          <a:xfrm>
            <a:off x="228600" y="713232"/>
            <a:ext cx="9052560" cy="438912"/>
          </a:xfrm>
          <a:prstGeom prst="rect">
            <a:avLst/>
          </a:prstGeom>
          <a:noFill/>
          <a:ln/>
        </p:spPr>
        <p:txBody>
          <a:bodyPr wrap="square" lIns="0" tIns="0" rIns="0" bIns="0" rtlCol="0" anchor="ctr">
            <a:normAutofit/>
          </a:bodyPr>
          <a:lstStyle/>
          <a:p>
            <a:pPr indent="0" marL="0">
              <a:buNone/>
            </a:pPr>
            <a:r>
              <a:rPr lang="en-US" sz="2250" b="1" dirty="0">
                <a:solidFill>
                  <a:srgbClr val="F2F2F2"/>
                </a:solidFill>
              </a:rPr>
              <a:t>Apr-Aug dealer-network sales are 25% ahead of the comparable five-month period</a:t>
            </a:r>
            <a:endParaRPr lang="en-US" sz="2250" dirty="0"/>
          </a:p>
        </p:txBody>
      </p:sp>
      <p:sp>
        <p:nvSpPr>
          <p:cNvPr id="6" name="Text 4"/>
          <p:cNvSpPr/>
          <p:nvPr/>
        </p:nvSpPr>
        <p:spPr>
          <a:xfrm>
            <a:off x="228600" y="1188720"/>
            <a:ext cx="8046720" cy="219456"/>
          </a:xfrm>
          <a:prstGeom prst="rect">
            <a:avLst/>
          </a:prstGeom>
          <a:noFill/>
          <a:ln/>
        </p:spPr>
        <p:txBody>
          <a:bodyPr wrap="square" lIns="0" tIns="0" rIns="0" bIns="0" rtlCol="0" anchor="ctr">
            <a:normAutofit/>
          </a:bodyPr>
          <a:lstStyle/>
          <a:p>
            <a:pPr indent="0" marL="0">
              <a:buNone/>
            </a:pPr>
            <a:r>
              <a:rPr lang="en-US" sz="850" dirty="0">
                <a:solidFill>
                  <a:srgbClr val="BDBDBD"/>
                </a:solidFill>
              </a:rPr>
              <a:t>I Motors reported sales to dealer | Apr-Aug 2025 versus Apr-Aug 2026</a:t>
            </a:r>
            <a:endParaRPr lang="en-US" sz="850" dirty="0"/>
          </a:p>
        </p:txBody>
      </p:sp>
      <p:sp>
        <p:nvSpPr>
          <p:cNvPr id="7" name="Shape 5"/>
          <p:cNvSpPr/>
          <p:nvPr/>
        </p:nvSpPr>
        <p:spPr>
          <a:xfrm>
            <a:off x="685800" y="5120640"/>
            <a:ext cx="7909560" cy="0"/>
          </a:xfrm>
          <a:prstGeom prst="line">
            <a:avLst/>
          </a:prstGeom>
          <a:noFill/>
          <a:ln w="5080">
            <a:solidFill>
              <a:srgbClr val="4D4D4D">
                <a:alpha val="80000"/>
              </a:srgbClr>
            </a:solidFill>
            <a:prstDash val="solid"/>
          </a:ln>
        </p:spPr>
      </p:sp>
      <p:sp>
        <p:nvSpPr>
          <p:cNvPr id="8" name="Text 6"/>
          <p:cNvSpPr/>
          <p:nvPr/>
        </p:nvSpPr>
        <p:spPr>
          <a:xfrm>
            <a:off x="384048" y="5065776"/>
            <a:ext cx="237744" cy="109728"/>
          </a:xfrm>
          <a:prstGeom prst="rect">
            <a:avLst/>
          </a:prstGeom>
          <a:noFill/>
          <a:ln/>
        </p:spPr>
        <p:txBody>
          <a:bodyPr wrap="square" lIns="254" tIns="254" rIns="254" bIns="254" rtlCol="0" anchor="ctr">
            <a:normAutofit/>
          </a:bodyPr>
          <a:lstStyle/>
          <a:p>
            <a:pPr algn="r" indent="0" marL="0">
              <a:buNone/>
            </a:pPr>
            <a:r>
              <a:rPr lang="en-US" sz="650" dirty="0">
                <a:solidFill>
                  <a:srgbClr val="BDBDBD"/>
                </a:solidFill>
              </a:rPr>
              <a:t>0</a:t>
            </a:r>
            <a:endParaRPr lang="en-US" sz="650" dirty="0"/>
          </a:p>
        </p:txBody>
      </p:sp>
      <p:sp>
        <p:nvSpPr>
          <p:cNvPr id="9" name="Shape 7"/>
          <p:cNvSpPr/>
          <p:nvPr/>
        </p:nvSpPr>
        <p:spPr>
          <a:xfrm>
            <a:off x="685800" y="4217670"/>
            <a:ext cx="7909560" cy="0"/>
          </a:xfrm>
          <a:prstGeom prst="line">
            <a:avLst/>
          </a:prstGeom>
          <a:noFill/>
          <a:ln w="5080">
            <a:solidFill>
              <a:srgbClr val="4D4D4D">
                <a:alpha val="80000"/>
              </a:srgbClr>
            </a:solidFill>
            <a:prstDash val="solid"/>
          </a:ln>
        </p:spPr>
      </p:sp>
      <p:sp>
        <p:nvSpPr>
          <p:cNvPr id="10" name="Text 8"/>
          <p:cNvSpPr/>
          <p:nvPr/>
        </p:nvSpPr>
        <p:spPr>
          <a:xfrm>
            <a:off x="384048" y="4162806"/>
            <a:ext cx="237744" cy="109728"/>
          </a:xfrm>
          <a:prstGeom prst="rect">
            <a:avLst/>
          </a:prstGeom>
          <a:noFill/>
          <a:ln/>
        </p:spPr>
        <p:txBody>
          <a:bodyPr wrap="square" lIns="254" tIns="254" rIns="254" bIns="254" rtlCol="0" anchor="ctr">
            <a:normAutofit/>
          </a:bodyPr>
          <a:lstStyle/>
          <a:p>
            <a:pPr algn="r" indent="0" marL="0">
              <a:buNone/>
            </a:pPr>
            <a:r>
              <a:rPr lang="en-US" sz="650" dirty="0">
                <a:solidFill>
                  <a:srgbClr val="BDBDBD"/>
                </a:solidFill>
              </a:rPr>
              <a:t>130</a:t>
            </a:r>
            <a:endParaRPr lang="en-US" sz="650" dirty="0"/>
          </a:p>
        </p:txBody>
      </p:sp>
      <p:sp>
        <p:nvSpPr>
          <p:cNvPr id="11" name="Shape 9"/>
          <p:cNvSpPr/>
          <p:nvPr/>
        </p:nvSpPr>
        <p:spPr>
          <a:xfrm>
            <a:off x="685800" y="3314700"/>
            <a:ext cx="7909560" cy="0"/>
          </a:xfrm>
          <a:prstGeom prst="line">
            <a:avLst/>
          </a:prstGeom>
          <a:noFill/>
          <a:ln w="5080">
            <a:solidFill>
              <a:srgbClr val="4D4D4D">
                <a:alpha val="80000"/>
              </a:srgbClr>
            </a:solidFill>
            <a:prstDash val="solid"/>
          </a:ln>
        </p:spPr>
      </p:sp>
      <p:sp>
        <p:nvSpPr>
          <p:cNvPr id="12" name="Text 10"/>
          <p:cNvSpPr/>
          <p:nvPr/>
        </p:nvSpPr>
        <p:spPr>
          <a:xfrm>
            <a:off x="384048" y="3259836"/>
            <a:ext cx="237744" cy="109728"/>
          </a:xfrm>
          <a:prstGeom prst="rect">
            <a:avLst/>
          </a:prstGeom>
          <a:noFill/>
          <a:ln/>
        </p:spPr>
        <p:txBody>
          <a:bodyPr wrap="square" lIns="254" tIns="254" rIns="254" bIns="254" rtlCol="0" anchor="ctr">
            <a:normAutofit/>
          </a:bodyPr>
          <a:lstStyle/>
          <a:p>
            <a:pPr algn="r" indent="0" marL="0">
              <a:buNone/>
            </a:pPr>
            <a:r>
              <a:rPr lang="en-US" sz="650" dirty="0">
                <a:solidFill>
                  <a:srgbClr val="BDBDBD"/>
                </a:solidFill>
              </a:rPr>
              <a:t>260</a:t>
            </a:r>
            <a:endParaRPr lang="en-US" sz="650" dirty="0"/>
          </a:p>
        </p:txBody>
      </p:sp>
      <p:sp>
        <p:nvSpPr>
          <p:cNvPr id="13" name="Shape 11"/>
          <p:cNvSpPr/>
          <p:nvPr/>
        </p:nvSpPr>
        <p:spPr>
          <a:xfrm>
            <a:off x="685800" y="2411730"/>
            <a:ext cx="7909560" cy="0"/>
          </a:xfrm>
          <a:prstGeom prst="line">
            <a:avLst/>
          </a:prstGeom>
          <a:noFill/>
          <a:ln w="5080">
            <a:solidFill>
              <a:srgbClr val="4D4D4D">
                <a:alpha val="80000"/>
              </a:srgbClr>
            </a:solidFill>
            <a:prstDash val="solid"/>
          </a:ln>
        </p:spPr>
      </p:sp>
      <p:sp>
        <p:nvSpPr>
          <p:cNvPr id="14" name="Text 12"/>
          <p:cNvSpPr/>
          <p:nvPr/>
        </p:nvSpPr>
        <p:spPr>
          <a:xfrm>
            <a:off x="384048" y="2356866"/>
            <a:ext cx="237744" cy="109728"/>
          </a:xfrm>
          <a:prstGeom prst="rect">
            <a:avLst/>
          </a:prstGeom>
          <a:noFill/>
          <a:ln/>
        </p:spPr>
        <p:txBody>
          <a:bodyPr wrap="square" lIns="254" tIns="254" rIns="254" bIns="254" rtlCol="0" anchor="ctr">
            <a:normAutofit/>
          </a:bodyPr>
          <a:lstStyle/>
          <a:p>
            <a:pPr algn="r" indent="0" marL="0">
              <a:buNone/>
            </a:pPr>
            <a:r>
              <a:rPr lang="en-US" sz="650" dirty="0">
                <a:solidFill>
                  <a:srgbClr val="BDBDBD"/>
                </a:solidFill>
              </a:rPr>
              <a:t>390</a:t>
            </a:r>
            <a:endParaRPr lang="en-US" sz="650" dirty="0"/>
          </a:p>
        </p:txBody>
      </p:sp>
      <p:sp>
        <p:nvSpPr>
          <p:cNvPr id="15" name="Shape 13"/>
          <p:cNvSpPr/>
          <p:nvPr/>
        </p:nvSpPr>
        <p:spPr>
          <a:xfrm>
            <a:off x="685800" y="1508760"/>
            <a:ext cx="7909560" cy="0"/>
          </a:xfrm>
          <a:prstGeom prst="line">
            <a:avLst/>
          </a:prstGeom>
          <a:noFill/>
          <a:ln w="5080">
            <a:solidFill>
              <a:srgbClr val="4D4D4D">
                <a:alpha val="80000"/>
              </a:srgbClr>
            </a:solidFill>
            <a:prstDash val="solid"/>
          </a:ln>
        </p:spPr>
      </p:sp>
      <p:sp>
        <p:nvSpPr>
          <p:cNvPr id="16" name="Text 14"/>
          <p:cNvSpPr/>
          <p:nvPr/>
        </p:nvSpPr>
        <p:spPr>
          <a:xfrm>
            <a:off x="384048" y="1453896"/>
            <a:ext cx="237744" cy="109728"/>
          </a:xfrm>
          <a:prstGeom prst="rect">
            <a:avLst/>
          </a:prstGeom>
          <a:noFill/>
          <a:ln/>
        </p:spPr>
        <p:txBody>
          <a:bodyPr wrap="square" lIns="254" tIns="254" rIns="254" bIns="254" rtlCol="0" anchor="ctr">
            <a:normAutofit/>
          </a:bodyPr>
          <a:lstStyle/>
          <a:p>
            <a:pPr algn="r" indent="0" marL="0">
              <a:buNone/>
            </a:pPr>
            <a:r>
              <a:rPr lang="en-US" sz="650" dirty="0">
                <a:solidFill>
                  <a:srgbClr val="BDBDBD"/>
                </a:solidFill>
              </a:rPr>
              <a:t>520</a:t>
            </a:r>
            <a:endParaRPr lang="en-US" sz="650" dirty="0"/>
          </a:p>
        </p:txBody>
      </p:sp>
      <p:sp>
        <p:nvSpPr>
          <p:cNvPr id="17" name="Shape 15"/>
          <p:cNvSpPr/>
          <p:nvPr/>
        </p:nvSpPr>
        <p:spPr>
          <a:xfrm>
            <a:off x="795528" y="3039002"/>
            <a:ext cx="635508" cy="2081638"/>
          </a:xfrm>
          <a:prstGeom prst="rect">
            <a:avLst/>
          </a:prstGeom>
          <a:solidFill>
            <a:srgbClr val="B7B7B7"/>
          </a:solidFill>
          <a:ln w="12700">
            <a:solidFill>
              <a:srgbClr val="B7B7B7"/>
            </a:solidFill>
            <a:prstDash val="solid"/>
          </a:ln>
        </p:spPr>
      </p:sp>
      <p:sp>
        <p:nvSpPr>
          <p:cNvPr id="18" name="Shape 16"/>
          <p:cNvSpPr/>
          <p:nvPr/>
        </p:nvSpPr>
        <p:spPr>
          <a:xfrm>
            <a:off x="1458468" y="3057187"/>
            <a:ext cx="635508" cy="2063453"/>
          </a:xfrm>
          <a:prstGeom prst="rect">
            <a:avLst/>
          </a:prstGeom>
          <a:solidFill>
            <a:srgbClr val="E30613"/>
          </a:solidFill>
          <a:ln w="12700">
            <a:solidFill>
              <a:srgbClr val="E30613"/>
            </a:solidFill>
            <a:prstDash val="solid"/>
          </a:ln>
        </p:spPr>
      </p:sp>
      <p:sp>
        <p:nvSpPr>
          <p:cNvPr id="19" name="Text 17"/>
          <p:cNvSpPr/>
          <p:nvPr/>
        </p:nvSpPr>
        <p:spPr>
          <a:xfrm>
            <a:off x="777240" y="5266944"/>
            <a:ext cx="1472184" cy="137160"/>
          </a:xfrm>
          <a:prstGeom prst="rect">
            <a:avLst/>
          </a:prstGeom>
          <a:noFill/>
          <a:ln/>
        </p:spPr>
        <p:txBody>
          <a:bodyPr wrap="square" lIns="254" tIns="254" rIns="254" bIns="254" rtlCol="0" anchor="ctr">
            <a:normAutofit/>
          </a:bodyPr>
          <a:lstStyle/>
          <a:p>
            <a:pPr algn="ctr" indent="0" marL="0">
              <a:buNone/>
            </a:pPr>
            <a:r>
              <a:rPr lang="en-US" sz="700" dirty="0">
                <a:solidFill>
                  <a:srgbClr val="BDBDBD"/>
                </a:solidFill>
              </a:rPr>
              <a:t>Apr</a:t>
            </a:r>
            <a:endParaRPr lang="en-US" sz="700" dirty="0"/>
          </a:p>
        </p:txBody>
      </p:sp>
      <p:sp>
        <p:nvSpPr>
          <p:cNvPr id="20" name="Shape 18"/>
          <p:cNvSpPr/>
          <p:nvPr/>
        </p:nvSpPr>
        <p:spPr>
          <a:xfrm>
            <a:off x="2377440" y="3069592"/>
            <a:ext cx="635508" cy="2051048"/>
          </a:xfrm>
          <a:prstGeom prst="rect">
            <a:avLst/>
          </a:prstGeom>
          <a:solidFill>
            <a:srgbClr val="B7B7B7"/>
          </a:solidFill>
          <a:ln w="12700">
            <a:solidFill>
              <a:srgbClr val="B7B7B7"/>
            </a:solidFill>
            <a:prstDash val="solid"/>
          </a:ln>
        </p:spPr>
      </p:sp>
      <p:sp>
        <p:nvSpPr>
          <p:cNvPr id="21" name="Shape 19"/>
          <p:cNvSpPr/>
          <p:nvPr/>
        </p:nvSpPr>
        <p:spPr>
          <a:xfrm>
            <a:off x="3040380" y="1718735"/>
            <a:ext cx="635508" cy="3401905"/>
          </a:xfrm>
          <a:prstGeom prst="rect">
            <a:avLst/>
          </a:prstGeom>
          <a:solidFill>
            <a:srgbClr val="E30613"/>
          </a:solidFill>
          <a:ln w="12700">
            <a:solidFill>
              <a:srgbClr val="E30613"/>
            </a:solidFill>
            <a:prstDash val="solid"/>
          </a:ln>
        </p:spPr>
      </p:sp>
      <p:sp>
        <p:nvSpPr>
          <p:cNvPr id="22" name="Text 20"/>
          <p:cNvSpPr/>
          <p:nvPr/>
        </p:nvSpPr>
        <p:spPr>
          <a:xfrm>
            <a:off x="2359152" y="5266944"/>
            <a:ext cx="1472184" cy="137160"/>
          </a:xfrm>
          <a:prstGeom prst="rect">
            <a:avLst/>
          </a:prstGeom>
          <a:noFill/>
          <a:ln/>
        </p:spPr>
        <p:txBody>
          <a:bodyPr wrap="square" lIns="254" tIns="254" rIns="254" bIns="254" rtlCol="0" anchor="ctr">
            <a:normAutofit/>
          </a:bodyPr>
          <a:lstStyle/>
          <a:p>
            <a:pPr algn="ctr" indent="0" marL="0">
              <a:buNone/>
            </a:pPr>
            <a:r>
              <a:rPr lang="en-US" sz="700" dirty="0">
                <a:solidFill>
                  <a:srgbClr val="BDBDBD"/>
                </a:solidFill>
              </a:rPr>
              <a:t>May</a:t>
            </a:r>
            <a:endParaRPr lang="en-US" sz="700" dirty="0"/>
          </a:p>
        </p:txBody>
      </p:sp>
      <p:sp>
        <p:nvSpPr>
          <p:cNvPr id="23" name="Shape 21"/>
          <p:cNvSpPr/>
          <p:nvPr/>
        </p:nvSpPr>
        <p:spPr>
          <a:xfrm>
            <a:off x="3959352" y="3042732"/>
            <a:ext cx="635508" cy="2077908"/>
          </a:xfrm>
          <a:prstGeom prst="rect">
            <a:avLst/>
          </a:prstGeom>
          <a:solidFill>
            <a:srgbClr val="B7B7B7"/>
          </a:solidFill>
          <a:ln w="12700">
            <a:solidFill>
              <a:srgbClr val="B7B7B7"/>
            </a:solidFill>
            <a:prstDash val="solid"/>
          </a:ln>
        </p:spPr>
      </p:sp>
      <p:sp>
        <p:nvSpPr>
          <p:cNvPr id="24" name="Shape 22"/>
          <p:cNvSpPr/>
          <p:nvPr/>
        </p:nvSpPr>
        <p:spPr>
          <a:xfrm>
            <a:off x="4622292" y="2482919"/>
            <a:ext cx="635508" cy="2637721"/>
          </a:xfrm>
          <a:prstGeom prst="rect">
            <a:avLst/>
          </a:prstGeom>
          <a:solidFill>
            <a:srgbClr val="E30613"/>
          </a:solidFill>
          <a:ln w="12700">
            <a:solidFill>
              <a:srgbClr val="E30613"/>
            </a:solidFill>
            <a:prstDash val="solid"/>
          </a:ln>
        </p:spPr>
      </p:sp>
      <p:sp>
        <p:nvSpPr>
          <p:cNvPr id="25" name="Text 23"/>
          <p:cNvSpPr/>
          <p:nvPr/>
        </p:nvSpPr>
        <p:spPr>
          <a:xfrm>
            <a:off x="3941064" y="5266944"/>
            <a:ext cx="1472184" cy="137160"/>
          </a:xfrm>
          <a:prstGeom prst="rect">
            <a:avLst/>
          </a:prstGeom>
          <a:noFill/>
          <a:ln/>
        </p:spPr>
        <p:txBody>
          <a:bodyPr wrap="square" lIns="254" tIns="254" rIns="254" bIns="254" rtlCol="0" anchor="ctr">
            <a:normAutofit/>
          </a:bodyPr>
          <a:lstStyle/>
          <a:p>
            <a:pPr algn="ctr" indent="0" marL="0">
              <a:buNone/>
            </a:pPr>
            <a:r>
              <a:rPr lang="en-US" sz="700" dirty="0">
                <a:solidFill>
                  <a:srgbClr val="BDBDBD"/>
                </a:solidFill>
              </a:rPr>
              <a:t>Jun</a:t>
            </a:r>
            <a:endParaRPr lang="en-US" sz="700" dirty="0"/>
          </a:p>
        </p:txBody>
      </p:sp>
      <p:sp>
        <p:nvSpPr>
          <p:cNvPr id="26" name="Shape 24"/>
          <p:cNvSpPr/>
          <p:nvPr/>
        </p:nvSpPr>
        <p:spPr>
          <a:xfrm>
            <a:off x="5541264" y="2981317"/>
            <a:ext cx="635508" cy="2139323"/>
          </a:xfrm>
          <a:prstGeom prst="rect">
            <a:avLst/>
          </a:prstGeom>
          <a:solidFill>
            <a:srgbClr val="B7B7B7"/>
          </a:solidFill>
          <a:ln w="12700">
            <a:solidFill>
              <a:srgbClr val="B7B7B7"/>
            </a:solidFill>
            <a:prstDash val="solid"/>
          </a:ln>
        </p:spPr>
      </p:sp>
      <p:sp>
        <p:nvSpPr>
          <p:cNvPr id="27" name="Shape 25"/>
          <p:cNvSpPr/>
          <p:nvPr/>
        </p:nvSpPr>
        <p:spPr>
          <a:xfrm>
            <a:off x="6204204" y="2387551"/>
            <a:ext cx="635508" cy="2733089"/>
          </a:xfrm>
          <a:prstGeom prst="rect">
            <a:avLst/>
          </a:prstGeom>
          <a:solidFill>
            <a:srgbClr val="E30613"/>
          </a:solidFill>
          <a:ln w="12700">
            <a:solidFill>
              <a:srgbClr val="E30613"/>
            </a:solidFill>
            <a:prstDash val="solid"/>
          </a:ln>
        </p:spPr>
      </p:sp>
      <p:sp>
        <p:nvSpPr>
          <p:cNvPr id="28" name="Text 26"/>
          <p:cNvSpPr/>
          <p:nvPr/>
        </p:nvSpPr>
        <p:spPr>
          <a:xfrm>
            <a:off x="5522976" y="5266944"/>
            <a:ext cx="1472184" cy="137160"/>
          </a:xfrm>
          <a:prstGeom prst="rect">
            <a:avLst/>
          </a:prstGeom>
          <a:noFill/>
          <a:ln/>
        </p:spPr>
        <p:txBody>
          <a:bodyPr wrap="square" lIns="254" tIns="254" rIns="254" bIns="254" rtlCol="0" anchor="ctr">
            <a:normAutofit/>
          </a:bodyPr>
          <a:lstStyle/>
          <a:p>
            <a:pPr algn="ctr" indent="0" marL="0">
              <a:buNone/>
            </a:pPr>
            <a:r>
              <a:rPr lang="en-US" sz="700" dirty="0">
                <a:solidFill>
                  <a:srgbClr val="BDBDBD"/>
                </a:solidFill>
              </a:rPr>
              <a:t>Jul</a:t>
            </a:r>
            <a:endParaRPr lang="en-US" sz="700" dirty="0"/>
          </a:p>
        </p:txBody>
      </p:sp>
      <p:sp>
        <p:nvSpPr>
          <p:cNvPr id="29" name="Shape 27"/>
          <p:cNvSpPr/>
          <p:nvPr/>
        </p:nvSpPr>
        <p:spPr>
          <a:xfrm>
            <a:off x="7123176" y="3110726"/>
            <a:ext cx="635508" cy="2009914"/>
          </a:xfrm>
          <a:prstGeom prst="rect">
            <a:avLst/>
          </a:prstGeom>
          <a:solidFill>
            <a:srgbClr val="B7B7B7"/>
          </a:solidFill>
          <a:ln w="12700">
            <a:solidFill>
              <a:srgbClr val="B7B7B7"/>
            </a:solidFill>
            <a:prstDash val="solid"/>
          </a:ln>
        </p:spPr>
      </p:sp>
      <p:sp>
        <p:nvSpPr>
          <p:cNvPr id="30" name="Shape 28"/>
          <p:cNvSpPr/>
          <p:nvPr/>
        </p:nvSpPr>
        <p:spPr>
          <a:xfrm>
            <a:off x="7786116" y="3010628"/>
            <a:ext cx="635508" cy="2110012"/>
          </a:xfrm>
          <a:prstGeom prst="rect">
            <a:avLst/>
          </a:prstGeom>
          <a:solidFill>
            <a:srgbClr val="E30613"/>
          </a:solidFill>
          <a:ln w="12700">
            <a:solidFill>
              <a:srgbClr val="E30613"/>
            </a:solidFill>
            <a:prstDash val="solid"/>
          </a:ln>
        </p:spPr>
      </p:sp>
      <p:sp>
        <p:nvSpPr>
          <p:cNvPr id="31" name="Text 29"/>
          <p:cNvSpPr/>
          <p:nvPr/>
        </p:nvSpPr>
        <p:spPr>
          <a:xfrm>
            <a:off x="7104888" y="5266944"/>
            <a:ext cx="1472184" cy="137160"/>
          </a:xfrm>
          <a:prstGeom prst="rect">
            <a:avLst/>
          </a:prstGeom>
          <a:noFill/>
          <a:ln/>
        </p:spPr>
        <p:txBody>
          <a:bodyPr wrap="square" lIns="254" tIns="254" rIns="254" bIns="254" rtlCol="0" anchor="ctr">
            <a:normAutofit/>
          </a:bodyPr>
          <a:lstStyle/>
          <a:p>
            <a:pPr algn="ctr" indent="0" marL="0">
              <a:buNone/>
            </a:pPr>
            <a:r>
              <a:rPr lang="en-US" sz="700" dirty="0">
                <a:solidFill>
                  <a:srgbClr val="BDBDBD"/>
                </a:solidFill>
              </a:rPr>
              <a:t>Aug</a:t>
            </a:r>
            <a:endParaRPr lang="en-US" sz="700" dirty="0"/>
          </a:p>
        </p:txBody>
      </p:sp>
      <p:sp>
        <p:nvSpPr>
          <p:cNvPr id="32" name="Text 30"/>
          <p:cNvSpPr/>
          <p:nvPr/>
        </p:nvSpPr>
        <p:spPr>
          <a:xfrm>
            <a:off x="731520" y="5358384"/>
            <a:ext cx="2011680" cy="438912"/>
          </a:xfrm>
          <a:prstGeom prst="rect">
            <a:avLst/>
          </a:prstGeom>
          <a:noFill/>
          <a:ln/>
        </p:spPr>
        <p:txBody>
          <a:bodyPr wrap="square" lIns="0" tIns="0" rIns="0" bIns="0" rtlCol="0" anchor="ctr">
            <a:normAutofit/>
          </a:bodyPr>
          <a:lstStyle/>
          <a:p>
            <a:pPr algn="ctr" indent="0" marL="0">
              <a:buNone/>
            </a:pPr>
            <a:r>
              <a:rPr lang="en-US" sz="2500" b="1" dirty="0">
                <a:solidFill>
                  <a:srgbClr val="F2F2F2"/>
                </a:solidFill>
              </a:rPr>
              <a:t>€1.86M</a:t>
            </a:r>
            <a:endParaRPr lang="en-US" sz="2500" dirty="0"/>
          </a:p>
        </p:txBody>
      </p:sp>
      <p:sp>
        <p:nvSpPr>
          <p:cNvPr id="33" name="Text 31"/>
          <p:cNvSpPr/>
          <p:nvPr/>
        </p:nvSpPr>
        <p:spPr>
          <a:xfrm>
            <a:off x="731520" y="5797296"/>
            <a:ext cx="2011680" cy="274320"/>
          </a:xfrm>
          <a:prstGeom prst="rect">
            <a:avLst/>
          </a:prstGeom>
          <a:noFill/>
          <a:ln/>
        </p:spPr>
        <p:txBody>
          <a:bodyPr wrap="square" lIns="0" tIns="0" rIns="0" bIns="0" rtlCol="0" anchor="ctr">
            <a:normAutofit/>
          </a:bodyPr>
          <a:lstStyle/>
          <a:p>
            <a:pPr algn="ctr" indent="0" marL="0">
              <a:buNone/>
            </a:pPr>
            <a:r>
              <a:rPr lang="en-US" sz="800" dirty="0">
                <a:solidFill>
                  <a:srgbClr val="BDBDBD"/>
                </a:solidFill>
              </a:rPr>
              <a:t>Apr-Aug 2026 sales to dealer</a:t>
            </a:r>
            <a:endParaRPr lang="en-US" sz="800" dirty="0"/>
          </a:p>
        </p:txBody>
      </p:sp>
      <p:sp>
        <p:nvSpPr>
          <p:cNvPr id="34" name="Text 32"/>
          <p:cNvSpPr/>
          <p:nvPr/>
        </p:nvSpPr>
        <p:spPr>
          <a:xfrm>
            <a:off x="2834640" y="5358384"/>
            <a:ext cx="2011680" cy="438912"/>
          </a:xfrm>
          <a:prstGeom prst="rect">
            <a:avLst/>
          </a:prstGeom>
          <a:noFill/>
          <a:ln/>
        </p:spPr>
        <p:txBody>
          <a:bodyPr wrap="square" lIns="0" tIns="0" rIns="0" bIns="0" rtlCol="0" anchor="ctr">
            <a:normAutofit/>
          </a:bodyPr>
          <a:lstStyle/>
          <a:p>
            <a:pPr algn="ctr" indent="0" marL="0">
              <a:buNone/>
            </a:pPr>
            <a:r>
              <a:rPr lang="en-US" sz="2500" b="1" dirty="0">
                <a:solidFill>
                  <a:srgbClr val="E30613"/>
                </a:solidFill>
              </a:rPr>
              <a:t>+25%</a:t>
            </a:r>
            <a:endParaRPr lang="en-US" sz="2500" dirty="0"/>
          </a:p>
        </p:txBody>
      </p:sp>
      <p:sp>
        <p:nvSpPr>
          <p:cNvPr id="35" name="Text 33"/>
          <p:cNvSpPr/>
          <p:nvPr/>
        </p:nvSpPr>
        <p:spPr>
          <a:xfrm>
            <a:off x="2834640" y="5797296"/>
            <a:ext cx="2011680" cy="274320"/>
          </a:xfrm>
          <a:prstGeom prst="rect">
            <a:avLst/>
          </a:prstGeom>
          <a:noFill/>
          <a:ln/>
        </p:spPr>
        <p:txBody>
          <a:bodyPr wrap="square" lIns="0" tIns="0" rIns="0" bIns="0" rtlCol="0" anchor="ctr">
            <a:normAutofit/>
          </a:bodyPr>
          <a:lstStyle/>
          <a:p>
            <a:pPr algn="ctr" indent="0" marL="0">
              <a:buNone/>
            </a:pPr>
            <a:r>
              <a:rPr lang="en-US" sz="800" dirty="0">
                <a:solidFill>
                  <a:srgbClr val="BDBDBD"/>
                </a:solidFill>
              </a:rPr>
              <a:t>versus Apr-Aug 2025 (€1.49M)</a:t>
            </a:r>
            <a:endParaRPr lang="en-US" sz="800" dirty="0"/>
          </a:p>
        </p:txBody>
      </p:sp>
      <p:sp>
        <p:nvSpPr>
          <p:cNvPr id="36" name="Shape 34"/>
          <p:cNvSpPr/>
          <p:nvPr/>
        </p:nvSpPr>
        <p:spPr>
          <a:xfrm>
            <a:off x="9015984" y="1335024"/>
            <a:ext cx="2971800" cy="5102352"/>
          </a:xfrm>
          <a:prstGeom prst="roundRect">
            <a:avLst>
              <a:gd name="adj" fmla="val 1846"/>
            </a:avLst>
          </a:prstGeom>
          <a:solidFill>
            <a:srgbClr val="303030"/>
          </a:solidFill>
          <a:ln w="8890">
            <a:solidFill>
              <a:srgbClr val="6E6E6E"/>
            </a:solidFill>
            <a:prstDash val="solid"/>
          </a:ln>
        </p:spPr>
      </p:sp>
      <p:sp>
        <p:nvSpPr>
          <p:cNvPr id="37" name="Text 35"/>
          <p:cNvSpPr/>
          <p:nvPr/>
        </p:nvSpPr>
        <p:spPr>
          <a:xfrm>
            <a:off x="9272016" y="1572768"/>
            <a:ext cx="2468880" cy="182880"/>
          </a:xfrm>
          <a:prstGeom prst="rect">
            <a:avLst/>
          </a:prstGeom>
          <a:noFill/>
          <a:ln/>
        </p:spPr>
        <p:txBody>
          <a:bodyPr wrap="square" rtlCol="0" anchor="ctr">
            <a:normAutofit/>
          </a:bodyPr>
          <a:lstStyle/>
          <a:p>
            <a:pPr indent="0" marL="0">
              <a:buNone/>
            </a:pPr>
            <a:r>
              <a:rPr lang="en-US" sz="750" b="1" dirty="0">
                <a:solidFill>
                  <a:srgbClr val="E30613"/>
                </a:solidFill>
              </a:rPr>
              <a:t>OBSERVATIONS / QUESTIONS</a:t>
            </a:r>
            <a:endParaRPr lang="en-US" sz="750" dirty="0"/>
          </a:p>
        </p:txBody>
      </p:sp>
      <p:sp>
        <p:nvSpPr>
          <p:cNvPr id="38" name="Shape 36"/>
          <p:cNvSpPr/>
          <p:nvPr/>
        </p:nvSpPr>
        <p:spPr>
          <a:xfrm>
            <a:off x="9272016" y="2084832"/>
            <a:ext cx="82296" cy="82296"/>
          </a:xfrm>
          <a:prstGeom prst="ellipse">
            <a:avLst/>
          </a:prstGeom>
          <a:solidFill>
            <a:srgbClr val="E30613"/>
          </a:solidFill>
          <a:ln w="12700">
            <a:solidFill>
              <a:srgbClr val="E30613"/>
            </a:solidFill>
            <a:prstDash val="solid"/>
          </a:ln>
        </p:spPr>
      </p:sp>
      <p:sp>
        <p:nvSpPr>
          <p:cNvPr id="39" name="Text 37"/>
          <p:cNvSpPr/>
          <p:nvPr/>
        </p:nvSpPr>
        <p:spPr>
          <a:xfrm>
            <a:off x="9491472" y="2020824"/>
            <a:ext cx="2221992" cy="512064"/>
          </a:xfrm>
          <a:prstGeom prst="rect">
            <a:avLst/>
          </a:prstGeom>
          <a:noFill/>
          <a:ln/>
        </p:spPr>
        <p:txBody>
          <a:bodyPr wrap="square" lIns="254" tIns="254" rIns="254" bIns="254" rtlCol="0" anchor="t">
            <a:normAutofit/>
          </a:bodyPr>
          <a:lstStyle/>
          <a:p>
            <a:pPr indent="0" marL="0">
              <a:buNone/>
            </a:pPr>
            <a:r>
              <a:rPr lang="en-US" sz="820" dirty="0">
                <a:solidFill>
                  <a:srgbClr val="F2F2F2"/>
                </a:solidFill>
              </a:rPr>
              <a:t>Dealer sales increased by €372K versus the same five months last year.</a:t>
            </a:r>
            <a:endParaRPr lang="en-US" sz="820" dirty="0"/>
          </a:p>
        </p:txBody>
      </p:sp>
      <p:sp>
        <p:nvSpPr>
          <p:cNvPr id="40" name="Shape 38"/>
          <p:cNvSpPr/>
          <p:nvPr/>
        </p:nvSpPr>
        <p:spPr>
          <a:xfrm>
            <a:off x="9272016" y="3017520"/>
            <a:ext cx="82296" cy="82296"/>
          </a:xfrm>
          <a:prstGeom prst="ellipse">
            <a:avLst/>
          </a:prstGeom>
          <a:solidFill>
            <a:srgbClr val="F5A000"/>
          </a:solidFill>
          <a:ln w="12700">
            <a:solidFill>
              <a:srgbClr val="F5A000"/>
            </a:solidFill>
            <a:prstDash val="solid"/>
          </a:ln>
        </p:spPr>
      </p:sp>
      <p:sp>
        <p:nvSpPr>
          <p:cNvPr id="41" name="Text 39"/>
          <p:cNvSpPr/>
          <p:nvPr/>
        </p:nvSpPr>
        <p:spPr>
          <a:xfrm>
            <a:off x="9491472" y="2953512"/>
            <a:ext cx="2221992" cy="512064"/>
          </a:xfrm>
          <a:prstGeom prst="rect">
            <a:avLst/>
          </a:prstGeom>
          <a:noFill/>
          <a:ln/>
        </p:spPr>
        <p:txBody>
          <a:bodyPr wrap="square" lIns="254" tIns="254" rIns="254" bIns="254" rtlCol="0" anchor="t">
            <a:normAutofit/>
          </a:bodyPr>
          <a:lstStyle/>
          <a:p>
            <a:pPr indent="0" marL="0">
              <a:buNone/>
            </a:pPr>
            <a:r>
              <a:rPr lang="en-US" sz="820" dirty="0">
                <a:solidFill>
                  <a:srgbClr val="F2F2F2"/>
                </a:solidFill>
              </a:rPr>
              <a:t>May was the largest step-up at €490K; June and July also stayed above 2025.</a:t>
            </a:r>
            <a:endParaRPr lang="en-US" sz="820" dirty="0"/>
          </a:p>
        </p:txBody>
      </p:sp>
      <p:sp>
        <p:nvSpPr>
          <p:cNvPr id="42" name="Shape 40"/>
          <p:cNvSpPr/>
          <p:nvPr/>
        </p:nvSpPr>
        <p:spPr>
          <a:xfrm>
            <a:off x="9272016" y="3950208"/>
            <a:ext cx="82296" cy="82296"/>
          </a:xfrm>
          <a:prstGeom prst="ellipse">
            <a:avLst/>
          </a:prstGeom>
          <a:solidFill>
            <a:srgbClr val="F5A000"/>
          </a:solidFill>
          <a:ln w="12700">
            <a:solidFill>
              <a:srgbClr val="F5A000"/>
            </a:solidFill>
            <a:prstDash val="solid"/>
          </a:ln>
        </p:spPr>
      </p:sp>
      <p:sp>
        <p:nvSpPr>
          <p:cNvPr id="43" name="Text 41"/>
          <p:cNvSpPr/>
          <p:nvPr/>
        </p:nvSpPr>
        <p:spPr>
          <a:xfrm>
            <a:off x="9491472" y="3886200"/>
            <a:ext cx="2221992" cy="512064"/>
          </a:xfrm>
          <a:prstGeom prst="rect">
            <a:avLst/>
          </a:prstGeom>
          <a:noFill/>
          <a:ln/>
        </p:spPr>
        <p:txBody>
          <a:bodyPr wrap="square" lIns="254" tIns="254" rIns="254" bIns="254" rtlCol="0" anchor="t">
            <a:normAutofit/>
          </a:bodyPr>
          <a:lstStyle/>
          <a:p>
            <a:pPr indent="0" marL="0">
              <a:buNone/>
            </a:pPr>
            <a:r>
              <a:rPr lang="en-US" sz="820" dirty="0">
                <a:solidFill>
                  <a:srgbClr val="F2F2F2"/>
                </a:solidFill>
              </a:rPr>
              <a:t>This is distributor-to-dealer activity, not ISZE billing. Do not treat the stages as one demand measure.</a:t>
            </a:r>
            <a:endParaRPr lang="en-US" sz="820" dirty="0"/>
          </a:p>
        </p:txBody>
      </p:sp>
      <p:sp>
        <p:nvSpPr>
          <p:cNvPr id="44" name="Shape 42"/>
          <p:cNvSpPr/>
          <p:nvPr/>
        </p:nvSpPr>
        <p:spPr>
          <a:xfrm>
            <a:off x="9272016" y="4882896"/>
            <a:ext cx="82296" cy="82296"/>
          </a:xfrm>
          <a:prstGeom prst="ellipse">
            <a:avLst/>
          </a:prstGeom>
          <a:solidFill>
            <a:srgbClr val="F5A000"/>
          </a:solidFill>
          <a:ln w="12700">
            <a:solidFill>
              <a:srgbClr val="F5A000"/>
            </a:solidFill>
            <a:prstDash val="solid"/>
          </a:ln>
        </p:spPr>
      </p:sp>
      <p:sp>
        <p:nvSpPr>
          <p:cNvPr id="45" name="Text 43"/>
          <p:cNvSpPr/>
          <p:nvPr/>
        </p:nvSpPr>
        <p:spPr>
          <a:xfrm>
            <a:off x="9491472" y="4818888"/>
            <a:ext cx="2221992" cy="512064"/>
          </a:xfrm>
          <a:prstGeom prst="rect">
            <a:avLst/>
          </a:prstGeom>
          <a:noFill/>
          <a:ln/>
        </p:spPr>
        <p:txBody>
          <a:bodyPr wrap="square" lIns="254" tIns="254" rIns="254" bIns="254" rtlCol="0" anchor="t">
            <a:normAutofit/>
          </a:bodyPr>
          <a:lstStyle/>
          <a:p>
            <a:pPr indent="0" marL="0">
              <a:buNone/>
            </a:pPr>
            <a:r>
              <a:rPr lang="en-US" sz="820" dirty="0">
                <a:solidFill>
                  <a:srgbClr val="F2F2F2"/>
                </a:solidFill>
              </a:rPr>
              <a:t>Question: which dealers and product families explain the increase, and did I Motors reorder the same basket from ISZE?</a:t>
            </a:r>
            <a:endParaRPr lang="en-US" sz="8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62626"/>
        </a:solidFill>
      </p:bgPr>
    </p:bg>
    <p:spTree>
      <p:nvGrpSpPr>
        <p:cNvPr id="1" name=""/>
        <p:cNvGrpSpPr/>
        <p:nvPr/>
      </p:nvGrpSpPr>
      <p:grpSpPr>
        <a:xfrm>
          <a:off x="0" y="0"/>
          <a:ext cx="0" cy="0"/>
          <a:chOff x="0" y="0"/>
          <a:chExt cx="0" cy="0"/>
        </a:xfrm>
      </p:grpSpPr>
      <p:sp>
        <p:nvSpPr>
          <p:cNvPr id="2" name="Text 0"/>
          <p:cNvSpPr/>
          <p:nvPr/>
        </p:nvSpPr>
        <p:spPr>
          <a:xfrm>
            <a:off x="228600" y="91440"/>
            <a:ext cx="3474720" cy="164592"/>
          </a:xfrm>
          <a:prstGeom prst="rect">
            <a:avLst/>
          </a:prstGeom>
          <a:noFill/>
          <a:ln/>
        </p:spPr>
        <p:txBody>
          <a:bodyPr wrap="square" rtlCol="0" anchor="ctr">
            <a:normAutofit/>
          </a:bodyPr>
          <a:lstStyle/>
          <a:p>
            <a:pPr indent="0" marL="0">
              <a:buNone/>
            </a:pPr>
            <a:r>
              <a:rPr lang="en-US" sz="660" b="1" dirty="0">
                <a:solidFill>
                  <a:srgbClr val="F2F2F2"/>
                </a:solidFill>
                <a:latin typeface="Aptos" pitchFamily="34" charset="0"/>
                <a:ea typeface="Aptos" pitchFamily="34" charset="-122"/>
                <a:cs typeface="Aptos" pitchFamily="34" charset="-120"/>
              </a:rPr>
              <a:t>ISZE  ·  VEHICLE PARTS &amp; ACCESSORIES</a:t>
            </a:r>
            <a:endParaRPr lang="en-US" sz="660" dirty="0"/>
          </a:p>
        </p:txBody>
      </p:sp>
      <p:sp>
        <p:nvSpPr>
          <p:cNvPr id="3" name="Shape 1"/>
          <p:cNvSpPr/>
          <p:nvPr/>
        </p:nvSpPr>
        <p:spPr>
          <a:xfrm>
            <a:off x="228600" y="6629400"/>
            <a:ext cx="11750040" cy="0"/>
          </a:xfrm>
          <a:prstGeom prst="line">
            <a:avLst/>
          </a:prstGeom>
          <a:noFill/>
          <a:ln w="6350">
            <a:solidFill>
              <a:srgbClr val="575757"/>
            </a:solidFill>
            <a:prstDash val="solid"/>
          </a:ln>
        </p:spPr>
      </p:sp>
      <p:sp>
        <p:nvSpPr>
          <p:cNvPr id="4" name="Text 2"/>
          <p:cNvSpPr/>
          <p:nvPr/>
        </p:nvSpPr>
        <p:spPr>
          <a:xfrm>
            <a:off x="228600" y="393192"/>
            <a:ext cx="4114800" cy="201168"/>
          </a:xfrm>
          <a:prstGeom prst="rect">
            <a:avLst/>
          </a:prstGeom>
          <a:noFill/>
          <a:ln/>
        </p:spPr>
        <p:txBody>
          <a:bodyPr wrap="square" rtlCol="0" anchor="ctr">
            <a:normAutofit/>
          </a:bodyPr>
          <a:lstStyle/>
          <a:p>
            <a:pPr indent="0" marL="0">
              <a:buNone/>
            </a:pPr>
            <a:r>
              <a:rPr lang="en-US" sz="750" b="1" dirty="0">
                <a:solidFill>
                  <a:srgbClr val="E30613"/>
                </a:solidFill>
              </a:rPr>
              <a:t>FIRST FILL RATE</a:t>
            </a:r>
            <a:endParaRPr lang="en-US" sz="750" dirty="0"/>
          </a:p>
        </p:txBody>
      </p:sp>
      <p:sp>
        <p:nvSpPr>
          <p:cNvPr id="5" name="Text 3"/>
          <p:cNvSpPr/>
          <p:nvPr/>
        </p:nvSpPr>
        <p:spPr>
          <a:xfrm>
            <a:off x="228600" y="713232"/>
            <a:ext cx="9052560" cy="438912"/>
          </a:xfrm>
          <a:prstGeom prst="rect">
            <a:avLst/>
          </a:prstGeom>
          <a:noFill/>
          <a:ln/>
        </p:spPr>
        <p:txBody>
          <a:bodyPr wrap="square" lIns="0" tIns="0" rIns="0" bIns="0" rtlCol="0" anchor="ctr">
            <a:normAutofit/>
          </a:bodyPr>
          <a:lstStyle/>
          <a:p>
            <a:pPr indent="0" marL="0">
              <a:buNone/>
            </a:pPr>
            <a:r>
              <a:rPr lang="en-US" sz="2250" b="1" dirty="0">
                <a:solidFill>
                  <a:srgbClr val="F2F2F2"/>
                </a:solidFill>
              </a:rPr>
              <a:t>First fill rate remains below the 93% target across every completed FY2027 month</a:t>
            </a:r>
            <a:endParaRPr lang="en-US" sz="2250" dirty="0"/>
          </a:p>
        </p:txBody>
      </p:sp>
      <p:sp>
        <p:nvSpPr>
          <p:cNvPr id="6" name="Text 4"/>
          <p:cNvSpPr/>
          <p:nvPr/>
        </p:nvSpPr>
        <p:spPr>
          <a:xfrm>
            <a:off x="228600" y="1188720"/>
            <a:ext cx="8046720" cy="219456"/>
          </a:xfrm>
          <a:prstGeom prst="rect">
            <a:avLst/>
          </a:prstGeom>
          <a:noFill/>
          <a:ln/>
        </p:spPr>
        <p:txBody>
          <a:bodyPr wrap="square" lIns="0" tIns="0" rIns="0" bIns="0" rtlCol="0" anchor="ctr">
            <a:normAutofit/>
          </a:bodyPr>
          <a:lstStyle/>
          <a:p>
            <a:pPr indent="0" marL="0">
              <a:buNone/>
            </a:pPr>
            <a:r>
              <a:rPr lang="en-US" sz="850" dirty="0">
                <a:solidFill>
                  <a:srgbClr val="BDBDBD"/>
                </a:solidFill>
              </a:rPr>
              <a:t>I Motors | Apr-Aug 2026 | target line now shown in orange</a:t>
            </a:r>
            <a:endParaRPr lang="en-US" sz="850" dirty="0"/>
          </a:p>
        </p:txBody>
      </p:sp>
      <p:sp>
        <p:nvSpPr>
          <p:cNvPr id="7" name="Shape 5"/>
          <p:cNvSpPr/>
          <p:nvPr/>
        </p:nvSpPr>
        <p:spPr>
          <a:xfrm>
            <a:off x="685800" y="5166360"/>
            <a:ext cx="7909560" cy="0"/>
          </a:xfrm>
          <a:prstGeom prst="line">
            <a:avLst/>
          </a:prstGeom>
          <a:noFill/>
          <a:ln w="5080">
            <a:solidFill>
              <a:srgbClr val="4D4D4D">
                <a:alpha val="80000"/>
              </a:srgbClr>
            </a:solidFill>
            <a:prstDash val="solid"/>
          </a:ln>
        </p:spPr>
      </p:sp>
      <p:sp>
        <p:nvSpPr>
          <p:cNvPr id="8" name="Text 6"/>
          <p:cNvSpPr/>
          <p:nvPr/>
        </p:nvSpPr>
        <p:spPr>
          <a:xfrm>
            <a:off x="347472" y="5111496"/>
            <a:ext cx="274320" cy="109728"/>
          </a:xfrm>
          <a:prstGeom prst="rect">
            <a:avLst/>
          </a:prstGeom>
          <a:noFill/>
          <a:ln/>
        </p:spPr>
        <p:txBody>
          <a:bodyPr wrap="square" lIns="254" tIns="254" rIns="254" bIns="254" rtlCol="0" anchor="ctr">
            <a:normAutofit/>
          </a:bodyPr>
          <a:lstStyle/>
          <a:p>
            <a:pPr algn="r" indent="0" marL="0">
              <a:buNone/>
            </a:pPr>
            <a:r>
              <a:rPr lang="en-US" sz="650" dirty="0">
                <a:solidFill>
                  <a:srgbClr val="BDBDBD"/>
                </a:solidFill>
              </a:rPr>
              <a:t>75%</a:t>
            </a:r>
            <a:endParaRPr lang="en-US" sz="650" dirty="0"/>
          </a:p>
        </p:txBody>
      </p:sp>
      <p:sp>
        <p:nvSpPr>
          <p:cNvPr id="9" name="Shape 7"/>
          <p:cNvSpPr/>
          <p:nvPr/>
        </p:nvSpPr>
        <p:spPr>
          <a:xfrm>
            <a:off x="685800" y="4263390"/>
            <a:ext cx="7909560" cy="0"/>
          </a:xfrm>
          <a:prstGeom prst="line">
            <a:avLst/>
          </a:prstGeom>
          <a:noFill/>
          <a:ln w="5080">
            <a:solidFill>
              <a:srgbClr val="4D4D4D">
                <a:alpha val="80000"/>
              </a:srgbClr>
            </a:solidFill>
            <a:prstDash val="solid"/>
          </a:ln>
        </p:spPr>
      </p:sp>
      <p:sp>
        <p:nvSpPr>
          <p:cNvPr id="10" name="Text 8"/>
          <p:cNvSpPr/>
          <p:nvPr/>
        </p:nvSpPr>
        <p:spPr>
          <a:xfrm>
            <a:off x="347472" y="4208526"/>
            <a:ext cx="274320" cy="109728"/>
          </a:xfrm>
          <a:prstGeom prst="rect">
            <a:avLst/>
          </a:prstGeom>
          <a:noFill/>
          <a:ln/>
        </p:spPr>
        <p:txBody>
          <a:bodyPr wrap="square" lIns="254" tIns="254" rIns="254" bIns="254" rtlCol="0" anchor="ctr">
            <a:normAutofit/>
          </a:bodyPr>
          <a:lstStyle/>
          <a:p>
            <a:pPr algn="r" indent="0" marL="0">
              <a:buNone/>
            </a:pPr>
            <a:r>
              <a:rPr lang="en-US" sz="650" dirty="0">
                <a:solidFill>
                  <a:srgbClr val="BDBDBD"/>
                </a:solidFill>
              </a:rPr>
              <a:t>80%</a:t>
            </a:r>
            <a:endParaRPr lang="en-US" sz="650" dirty="0"/>
          </a:p>
        </p:txBody>
      </p:sp>
      <p:sp>
        <p:nvSpPr>
          <p:cNvPr id="11" name="Shape 9"/>
          <p:cNvSpPr/>
          <p:nvPr/>
        </p:nvSpPr>
        <p:spPr>
          <a:xfrm>
            <a:off x="685800" y="3360420"/>
            <a:ext cx="7909560" cy="0"/>
          </a:xfrm>
          <a:prstGeom prst="line">
            <a:avLst/>
          </a:prstGeom>
          <a:noFill/>
          <a:ln w="5080">
            <a:solidFill>
              <a:srgbClr val="4D4D4D">
                <a:alpha val="80000"/>
              </a:srgbClr>
            </a:solidFill>
            <a:prstDash val="solid"/>
          </a:ln>
        </p:spPr>
      </p:sp>
      <p:sp>
        <p:nvSpPr>
          <p:cNvPr id="12" name="Text 10"/>
          <p:cNvSpPr/>
          <p:nvPr/>
        </p:nvSpPr>
        <p:spPr>
          <a:xfrm>
            <a:off x="347472" y="3305556"/>
            <a:ext cx="274320" cy="109728"/>
          </a:xfrm>
          <a:prstGeom prst="rect">
            <a:avLst/>
          </a:prstGeom>
          <a:noFill/>
          <a:ln/>
        </p:spPr>
        <p:txBody>
          <a:bodyPr wrap="square" lIns="254" tIns="254" rIns="254" bIns="254" rtlCol="0" anchor="ctr">
            <a:normAutofit/>
          </a:bodyPr>
          <a:lstStyle/>
          <a:p>
            <a:pPr algn="r" indent="0" marL="0">
              <a:buNone/>
            </a:pPr>
            <a:r>
              <a:rPr lang="en-US" sz="650" dirty="0">
                <a:solidFill>
                  <a:srgbClr val="BDBDBD"/>
                </a:solidFill>
              </a:rPr>
              <a:t>86%</a:t>
            </a:r>
            <a:endParaRPr lang="en-US" sz="650" dirty="0"/>
          </a:p>
        </p:txBody>
      </p:sp>
      <p:sp>
        <p:nvSpPr>
          <p:cNvPr id="13" name="Shape 11"/>
          <p:cNvSpPr/>
          <p:nvPr/>
        </p:nvSpPr>
        <p:spPr>
          <a:xfrm>
            <a:off x="685800" y="2457450"/>
            <a:ext cx="7909560" cy="0"/>
          </a:xfrm>
          <a:prstGeom prst="line">
            <a:avLst/>
          </a:prstGeom>
          <a:noFill/>
          <a:ln w="5080">
            <a:solidFill>
              <a:srgbClr val="4D4D4D">
                <a:alpha val="80000"/>
              </a:srgbClr>
            </a:solidFill>
            <a:prstDash val="solid"/>
          </a:ln>
        </p:spPr>
      </p:sp>
      <p:sp>
        <p:nvSpPr>
          <p:cNvPr id="14" name="Text 12"/>
          <p:cNvSpPr/>
          <p:nvPr/>
        </p:nvSpPr>
        <p:spPr>
          <a:xfrm>
            <a:off x="347472" y="2402586"/>
            <a:ext cx="274320" cy="109728"/>
          </a:xfrm>
          <a:prstGeom prst="rect">
            <a:avLst/>
          </a:prstGeom>
          <a:noFill/>
          <a:ln/>
        </p:spPr>
        <p:txBody>
          <a:bodyPr wrap="square" lIns="254" tIns="254" rIns="254" bIns="254" rtlCol="0" anchor="ctr">
            <a:normAutofit/>
          </a:bodyPr>
          <a:lstStyle/>
          <a:p>
            <a:pPr algn="r" indent="0" marL="0">
              <a:buNone/>
            </a:pPr>
            <a:r>
              <a:rPr lang="en-US" sz="650" dirty="0">
                <a:solidFill>
                  <a:srgbClr val="BDBDBD"/>
                </a:solidFill>
              </a:rPr>
              <a:t>91%</a:t>
            </a:r>
            <a:endParaRPr lang="en-US" sz="650" dirty="0"/>
          </a:p>
        </p:txBody>
      </p:sp>
      <p:sp>
        <p:nvSpPr>
          <p:cNvPr id="15" name="Shape 13"/>
          <p:cNvSpPr/>
          <p:nvPr/>
        </p:nvSpPr>
        <p:spPr>
          <a:xfrm>
            <a:off x="685800" y="1554480"/>
            <a:ext cx="7909560" cy="0"/>
          </a:xfrm>
          <a:prstGeom prst="line">
            <a:avLst/>
          </a:prstGeom>
          <a:noFill/>
          <a:ln w="5080">
            <a:solidFill>
              <a:srgbClr val="4D4D4D">
                <a:alpha val="80000"/>
              </a:srgbClr>
            </a:solidFill>
            <a:prstDash val="solid"/>
          </a:ln>
        </p:spPr>
      </p:sp>
      <p:sp>
        <p:nvSpPr>
          <p:cNvPr id="16" name="Text 14"/>
          <p:cNvSpPr/>
          <p:nvPr/>
        </p:nvSpPr>
        <p:spPr>
          <a:xfrm>
            <a:off x="347472" y="1499616"/>
            <a:ext cx="274320" cy="109728"/>
          </a:xfrm>
          <a:prstGeom prst="rect">
            <a:avLst/>
          </a:prstGeom>
          <a:noFill/>
          <a:ln/>
        </p:spPr>
        <p:txBody>
          <a:bodyPr wrap="square" lIns="254" tIns="254" rIns="254" bIns="254" rtlCol="0" anchor="ctr">
            <a:normAutofit/>
          </a:bodyPr>
          <a:lstStyle/>
          <a:p>
            <a:pPr algn="r" indent="0" marL="0">
              <a:buNone/>
            </a:pPr>
            <a:r>
              <a:rPr lang="en-US" sz="650" dirty="0">
                <a:solidFill>
                  <a:srgbClr val="BDBDBD"/>
                </a:solidFill>
              </a:rPr>
              <a:t>96%</a:t>
            </a:r>
            <a:endParaRPr lang="en-US" sz="650" dirty="0"/>
          </a:p>
        </p:txBody>
      </p:sp>
      <p:sp>
        <p:nvSpPr>
          <p:cNvPr id="17" name="Shape 15"/>
          <p:cNvSpPr/>
          <p:nvPr/>
        </p:nvSpPr>
        <p:spPr>
          <a:xfrm>
            <a:off x="685800" y="3523815"/>
            <a:ext cx="1977390" cy="103197"/>
          </a:xfrm>
          <a:prstGeom prst="line">
            <a:avLst/>
          </a:prstGeom>
          <a:noFill/>
          <a:ln w="22860">
            <a:solidFill>
              <a:srgbClr val="E30613"/>
            </a:solidFill>
            <a:prstDash val="solid"/>
          </a:ln>
        </p:spPr>
      </p:sp>
      <p:sp>
        <p:nvSpPr>
          <p:cNvPr id="18" name="Shape 16"/>
          <p:cNvSpPr/>
          <p:nvPr/>
        </p:nvSpPr>
        <p:spPr>
          <a:xfrm>
            <a:off x="2663190" y="3627011"/>
            <a:ext cx="1977390" cy="-251112"/>
          </a:xfrm>
          <a:prstGeom prst="line">
            <a:avLst/>
          </a:prstGeom>
          <a:noFill/>
          <a:ln w="22860">
            <a:solidFill>
              <a:srgbClr val="E30613"/>
            </a:solidFill>
            <a:prstDash val="solid"/>
          </a:ln>
        </p:spPr>
      </p:sp>
      <p:sp>
        <p:nvSpPr>
          <p:cNvPr id="19" name="Shape 17"/>
          <p:cNvSpPr/>
          <p:nvPr/>
        </p:nvSpPr>
        <p:spPr>
          <a:xfrm>
            <a:off x="4640580" y="3375899"/>
            <a:ext cx="1977390" cy="307870"/>
          </a:xfrm>
          <a:prstGeom prst="line">
            <a:avLst/>
          </a:prstGeom>
          <a:noFill/>
          <a:ln w="22860">
            <a:solidFill>
              <a:srgbClr val="E30613"/>
            </a:solidFill>
            <a:prstDash val="solid"/>
          </a:ln>
        </p:spPr>
      </p:sp>
      <p:sp>
        <p:nvSpPr>
          <p:cNvPr id="20" name="Shape 18"/>
          <p:cNvSpPr/>
          <p:nvPr/>
        </p:nvSpPr>
        <p:spPr>
          <a:xfrm>
            <a:off x="6617970" y="3683769"/>
            <a:ext cx="1977390" cy="-304430"/>
          </a:xfrm>
          <a:prstGeom prst="line">
            <a:avLst/>
          </a:prstGeom>
          <a:noFill/>
          <a:ln w="22860">
            <a:solidFill>
              <a:srgbClr val="E30613"/>
            </a:solidFill>
            <a:prstDash val="solid"/>
          </a:ln>
        </p:spPr>
      </p:sp>
      <p:sp>
        <p:nvSpPr>
          <p:cNvPr id="21" name="Shape 19"/>
          <p:cNvSpPr/>
          <p:nvPr/>
        </p:nvSpPr>
        <p:spPr>
          <a:xfrm>
            <a:off x="644652" y="3482667"/>
            <a:ext cx="82296" cy="82296"/>
          </a:xfrm>
          <a:prstGeom prst="ellipse">
            <a:avLst/>
          </a:prstGeom>
          <a:solidFill>
            <a:srgbClr val="E30613"/>
          </a:solidFill>
          <a:ln w="12700">
            <a:solidFill>
              <a:srgbClr val="E30613"/>
            </a:solidFill>
            <a:prstDash val="solid"/>
          </a:ln>
        </p:spPr>
      </p:sp>
      <p:sp>
        <p:nvSpPr>
          <p:cNvPr id="22" name="Shape 20"/>
          <p:cNvSpPr/>
          <p:nvPr/>
        </p:nvSpPr>
        <p:spPr>
          <a:xfrm>
            <a:off x="2622042" y="3585863"/>
            <a:ext cx="82296" cy="82296"/>
          </a:xfrm>
          <a:prstGeom prst="ellipse">
            <a:avLst/>
          </a:prstGeom>
          <a:solidFill>
            <a:srgbClr val="E30613"/>
          </a:solidFill>
          <a:ln w="12700">
            <a:solidFill>
              <a:srgbClr val="E30613"/>
            </a:solidFill>
            <a:prstDash val="solid"/>
          </a:ln>
        </p:spPr>
      </p:sp>
      <p:sp>
        <p:nvSpPr>
          <p:cNvPr id="23" name="Shape 21"/>
          <p:cNvSpPr/>
          <p:nvPr/>
        </p:nvSpPr>
        <p:spPr>
          <a:xfrm>
            <a:off x="4599432" y="3334751"/>
            <a:ext cx="82296" cy="82296"/>
          </a:xfrm>
          <a:prstGeom prst="ellipse">
            <a:avLst/>
          </a:prstGeom>
          <a:solidFill>
            <a:srgbClr val="E30613"/>
          </a:solidFill>
          <a:ln w="12700">
            <a:solidFill>
              <a:srgbClr val="E30613"/>
            </a:solidFill>
            <a:prstDash val="solid"/>
          </a:ln>
        </p:spPr>
      </p:sp>
      <p:sp>
        <p:nvSpPr>
          <p:cNvPr id="24" name="Shape 22"/>
          <p:cNvSpPr/>
          <p:nvPr/>
        </p:nvSpPr>
        <p:spPr>
          <a:xfrm>
            <a:off x="6576822" y="3642621"/>
            <a:ext cx="82296" cy="82296"/>
          </a:xfrm>
          <a:prstGeom prst="ellipse">
            <a:avLst/>
          </a:prstGeom>
          <a:solidFill>
            <a:srgbClr val="E30613"/>
          </a:solidFill>
          <a:ln w="12700">
            <a:solidFill>
              <a:srgbClr val="E30613"/>
            </a:solidFill>
            <a:prstDash val="solid"/>
          </a:ln>
        </p:spPr>
      </p:sp>
      <p:sp>
        <p:nvSpPr>
          <p:cNvPr id="25" name="Shape 23"/>
          <p:cNvSpPr/>
          <p:nvPr/>
        </p:nvSpPr>
        <p:spPr>
          <a:xfrm>
            <a:off x="8554212" y="3338191"/>
            <a:ext cx="82296" cy="82296"/>
          </a:xfrm>
          <a:prstGeom prst="ellipse">
            <a:avLst/>
          </a:prstGeom>
          <a:solidFill>
            <a:srgbClr val="E30613"/>
          </a:solidFill>
          <a:ln w="12700">
            <a:solidFill>
              <a:srgbClr val="E30613"/>
            </a:solidFill>
            <a:prstDash val="solid"/>
          </a:ln>
        </p:spPr>
      </p:sp>
      <p:sp>
        <p:nvSpPr>
          <p:cNvPr id="26" name="Shape 24"/>
          <p:cNvSpPr/>
          <p:nvPr/>
        </p:nvSpPr>
        <p:spPr>
          <a:xfrm>
            <a:off x="685800" y="2070463"/>
            <a:ext cx="1977390" cy="0"/>
          </a:xfrm>
          <a:prstGeom prst="line">
            <a:avLst/>
          </a:prstGeom>
          <a:noFill/>
          <a:ln w="25400">
            <a:solidFill>
              <a:srgbClr val="F5A000"/>
            </a:solidFill>
            <a:prstDash val="solid"/>
          </a:ln>
        </p:spPr>
      </p:sp>
      <p:sp>
        <p:nvSpPr>
          <p:cNvPr id="27" name="Shape 25"/>
          <p:cNvSpPr/>
          <p:nvPr/>
        </p:nvSpPr>
        <p:spPr>
          <a:xfrm>
            <a:off x="2663190" y="2070463"/>
            <a:ext cx="1977390" cy="0"/>
          </a:xfrm>
          <a:prstGeom prst="line">
            <a:avLst/>
          </a:prstGeom>
          <a:noFill/>
          <a:ln w="25400">
            <a:solidFill>
              <a:srgbClr val="F5A000"/>
            </a:solidFill>
            <a:prstDash val="solid"/>
          </a:ln>
        </p:spPr>
      </p:sp>
      <p:sp>
        <p:nvSpPr>
          <p:cNvPr id="28" name="Shape 26"/>
          <p:cNvSpPr/>
          <p:nvPr/>
        </p:nvSpPr>
        <p:spPr>
          <a:xfrm>
            <a:off x="4640580" y="2070463"/>
            <a:ext cx="1977390" cy="0"/>
          </a:xfrm>
          <a:prstGeom prst="line">
            <a:avLst/>
          </a:prstGeom>
          <a:noFill/>
          <a:ln w="25400">
            <a:solidFill>
              <a:srgbClr val="F5A000"/>
            </a:solidFill>
            <a:prstDash val="solid"/>
          </a:ln>
        </p:spPr>
      </p:sp>
      <p:sp>
        <p:nvSpPr>
          <p:cNvPr id="29" name="Shape 27"/>
          <p:cNvSpPr/>
          <p:nvPr/>
        </p:nvSpPr>
        <p:spPr>
          <a:xfrm>
            <a:off x="6617970" y="2070463"/>
            <a:ext cx="1977390" cy="0"/>
          </a:xfrm>
          <a:prstGeom prst="line">
            <a:avLst/>
          </a:prstGeom>
          <a:noFill/>
          <a:ln w="25400">
            <a:solidFill>
              <a:srgbClr val="F5A000"/>
            </a:solidFill>
            <a:prstDash val="solid"/>
          </a:ln>
        </p:spPr>
      </p:sp>
      <p:sp>
        <p:nvSpPr>
          <p:cNvPr id="30" name="Shape 28"/>
          <p:cNvSpPr/>
          <p:nvPr/>
        </p:nvSpPr>
        <p:spPr>
          <a:xfrm>
            <a:off x="644652" y="2029315"/>
            <a:ext cx="82296" cy="82296"/>
          </a:xfrm>
          <a:prstGeom prst="ellipse">
            <a:avLst/>
          </a:prstGeom>
          <a:solidFill>
            <a:srgbClr val="F5A000"/>
          </a:solidFill>
          <a:ln w="12700">
            <a:solidFill>
              <a:srgbClr val="F5A000"/>
            </a:solidFill>
            <a:prstDash val="solid"/>
          </a:ln>
        </p:spPr>
      </p:sp>
      <p:sp>
        <p:nvSpPr>
          <p:cNvPr id="31" name="Shape 29"/>
          <p:cNvSpPr/>
          <p:nvPr/>
        </p:nvSpPr>
        <p:spPr>
          <a:xfrm>
            <a:off x="2622042" y="2029315"/>
            <a:ext cx="82296" cy="82296"/>
          </a:xfrm>
          <a:prstGeom prst="ellipse">
            <a:avLst/>
          </a:prstGeom>
          <a:solidFill>
            <a:srgbClr val="F5A000"/>
          </a:solidFill>
          <a:ln w="12700">
            <a:solidFill>
              <a:srgbClr val="F5A000"/>
            </a:solidFill>
            <a:prstDash val="solid"/>
          </a:ln>
        </p:spPr>
      </p:sp>
      <p:sp>
        <p:nvSpPr>
          <p:cNvPr id="32" name="Shape 30"/>
          <p:cNvSpPr/>
          <p:nvPr/>
        </p:nvSpPr>
        <p:spPr>
          <a:xfrm>
            <a:off x="4599432" y="2029315"/>
            <a:ext cx="82296" cy="82296"/>
          </a:xfrm>
          <a:prstGeom prst="ellipse">
            <a:avLst/>
          </a:prstGeom>
          <a:solidFill>
            <a:srgbClr val="F5A000"/>
          </a:solidFill>
          <a:ln w="12700">
            <a:solidFill>
              <a:srgbClr val="F5A000"/>
            </a:solidFill>
            <a:prstDash val="solid"/>
          </a:ln>
        </p:spPr>
      </p:sp>
      <p:sp>
        <p:nvSpPr>
          <p:cNvPr id="33" name="Shape 31"/>
          <p:cNvSpPr/>
          <p:nvPr/>
        </p:nvSpPr>
        <p:spPr>
          <a:xfrm>
            <a:off x="6576822" y="2029315"/>
            <a:ext cx="82296" cy="82296"/>
          </a:xfrm>
          <a:prstGeom prst="ellipse">
            <a:avLst/>
          </a:prstGeom>
          <a:solidFill>
            <a:srgbClr val="F5A000"/>
          </a:solidFill>
          <a:ln w="12700">
            <a:solidFill>
              <a:srgbClr val="F5A000"/>
            </a:solidFill>
            <a:prstDash val="solid"/>
          </a:ln>
        </p:spPr>
      </p:sp>
      <p:sp>
        <p:nvSpPr>
          <p:cNvPr id="34" name="Shape 32"/>
          <p:cNvSpPr/>
          <p:nvPr/>
        </p:nvSpPr>
        <p:spPr>
          <a:xfrm>
            <a:off x="8554212" y="2029315"/>
            <a:ext cx="82296" cy="82296"/>
          </a:xfrm>
          <a:prstGeom prst="ellipse">
            <a:avLst/>
          </a:prstGeom>
          <a:solidFill>
            <a:srgbClr val="F5A000"/>
          </a:solidFill>
          <a:ln w="12700">
            <a:solidFill>
              <a:srgbClr val="F5A000"/>
            </a:solidFill>
            <a:prstDash val="solid"/>
          </a:ln>
        </p:spPr>
      </p:sp>
      <p:sp>
        <p:nvSpPr>
          <p:cNvPr id="35" name="Text 33"/>
          <p:cNvSpPr/>
          <p:nvPr/>
        </p:nvSpPr>
        <p:spPr>
          <a:xfrm>
            <a:off x="457200" y="5294376"/>
            <a:ext cx="457200" cy="137160"/>
          </a:xfrm>
          <a:prstGeom prst="rect">
            <a:avLst/>
          </a:prstGeom>
          <a:noFill/>
          <a:ln/>
        </p:spPr>
        <p:txBody>
          <a:bodyPr wrap="square" lIns="254" tIns="254" rIns="254" bIns="254" rtlCol="0" anchor="ctr">
            <a:normAutofit/>
          </a:bodyPr>
          <a:lstStyle/>
          <a:p>
            <a:pPr algn="ctr" indent="0" marL="0">
              <a:buNone/>
            </a:pPr>
            <a:r>
              <a:rPr lang="en-US" sz="650" dirty="0">
                <a:solidFill>
                  <a:srgbClr val="BDBDBD"/>
                </a:solidFill>
              </a:rPr>
              <a:t>Apr</a:t>
            </a:r>
            <a:endParaRPr lang="en-US" sz="650" dirty="0"/>
          </a:p>
        </p:txBody>
      </p:sp>
      <p:sp>
        <p:nvSpPr>
          <p:cNvPr id="36" name="Text 34"/>
          <p:cNvSpPr/>
          <p:nvPr/>
        </p:nvSpPr>
        <p:spPr>
          <a:xfrm>
            <a:off x="2434590" y="5294376"/>
            <a:ext cx="457200" cy="137160"/>
          </a:xfrm>
          <a:prstGeom prst="rect">
            <a:avLst/>
          </a:prstGeom>
          <a:noFill/>
          <a:ln/>
        </p:spPr>
        <p:txBody>
          <a:bodyPr wrap="square" lIns="254" tIns="254" rIns="254" bIns="254" rtlCol="0" anchor="ctr">
            <a:normAutofit/>
          </a:bodyPr>
          <a:lstStyle/>
          <a:p>
            <a:pPr algn="ctr" indent="0" marL="0">
              <a:buNone/>
            </a:pPr>
            <a:r>
              <a:rPr lang="en-US" sz="650" dirty="0">
                <a:solidFill>
                  <a:srgbClr val="BDBDBD"/>
                </a:solidFill>
              </a:rPr>
              <a:t>May</a:t>
            </a:r>
            <a:endParaRPr lang="en-US" sz="650" dirty="0"/>
          </a:p>
        </p:txBody>
      </p:sp>
      <p:sp>
        <p:nvSpPr>
          <p:cNvPr id="37" name="Text 35"/>
          <p:cNvSpPr/>
          <p:nvPr/>
        </p:nvSpPr>
        <p:spPr>
          <a:xfrm>
            <a:off x="4411980" y="5294376"/>
            <a:ext cx="457200" cy="137160"/>
          </a:xfrm>
          <a:prstGeom prst="rect">
            <a:avLst/>
          </a:prstGeom>
          <a:noFill/>
          <a:ln/>
        </p:spPr>
        <p:txBody>
          <a:bodyPr wrap="square" lIns="254" tIns="254" rIns="254" bIns="254" rtlCol="0" anchor="ctr">
            <a:normAutofit/>
          </a:bodyPr>
          <a:lstStyle/>
          <a:p>
            <a:pPr algn="ctr" indent="0" marL="0">
              <a:buNone/>
            </a:pPr>
            <a:r>
              <a:rPr lang="en-US" sz="650" dirty="0">
                <a:solidFill>
                  <a:srgbClr val="BDBDBD"/>
                </a:solidFill>
              </a:rPr>
              <a:t>Jun</a:t>
            </a:r>
            <a:endParaRPr lang="en-US" sz="650" dirty="0"/>
          </a:p>
        </p:txBody>
      </p:sp>
      <p:sp>
        <p:nvSpPr>
          <p:cNvPr id="38" name="Text 36"/>
          <p:cNvSpPr/>
          <p:nvPr/>
        </p:nvSpPr>
        <p:spPr>
          <a:xfrm>
            <a:off x="6389370" y="5294376"/>
            <a:ext cx="457200" cy="137160"/>
          </a:xfrm>
          <a:prstGeom prst="rect">
            <a:avLst/>
          </a:prstGeom>
          <a:noFill/>
          <a:ln/>
        </p:spPr>
        <p:txBody>
          <a:bodyPr wrap="square" lIns="254" tIns="254" rIns="254" bIns="254" rtlCol="0" anchor="ctr">
            <a:normAutofit/>
          </a:bodyPr>
          <a:lstStyle/>
          <a:p>
            <a:pPr algn="ctr" indent="0" marL="0">
              <a:buNone/>
            </a:pPr>
            <a:r>
              <a:rPr lang="en-US" sz="650" dirty="0">
                <a:solidFill>
                  <a:srgbClr val="BDBDBD"/>
                </a:solidFill>
              </a:rPr>
              <a:t>Jul</a:t>
            </a:r>
            <a:endParaRPr lang="en-US" sz="650" dirty="0"/>
          </a:p>
        </p:txBody>
      </p:sp>
      <p:sp>
        <p:nvSpPr>
          <p:cNvPr id="39" name="Text 37"/>
          <p:cNvSpPr/>
          <p:nvPr/>
        </p:nvSpPr>
        <p:spPr>
          <a:xfrm>
            <a:off x="8366760" y="5294376"/>
            <a:ext cx="457200" cy="137160"/>
          </a:xfrm>
          <a:prstGeom prst="rect">
            <a:avLst/>
          </a:prstGeom>
          <a:noFill/>
          <a:ln/>
        </p:spPr>
        <p:txBody>
          <a:bodyPr wrap="square" lIns="254" tIns="254" rIns="254" bIns="254" rtlCol="0" anchor="ctr">
            <a:normAutofit/>
          </a:bodyPr>
          <a:lstStyle/>
          <a:p>
            <a:pPr algn="ctr" indent="0" marL="0">
              <a:buNone/>
            </a:pPr>
            <a:r>
              <a:rPr lang="en-US" sz="650" dirty="0">
                <a:solidFill>
                  <a:srgbClr val="BDBDBD"/>
                </a:solidFill>
              </a:rPr>
              <a:t>Aug</a:t>
            </a:r>
            <a:endParaRPr lang="en-US" sz="650" dirty="0"/>
          </a:p>
        </p:txBody>
      </p:sp>
      <p:sp>
        <p:nvSpPr>
          <p:cNvPr id="40" name="Text 38"/>
          <p:cNvSpPr/>
          <p:nvPr/>
        </p:nvSpPr>
        <p:spPr>
          <a:xfrm>
            <a:off x="749808" y="5358384"/>
            <a:ext cx="1920240" cy="438912"/>
          </a:xfrm>
          <a:prstGeom prst="rect">
            <a:avLst/>
          </a:prstGeom>
          <a:noFill/>
          <a:ln/>
        </p:spPr>
        <p:txBody>
          <a:bodyPr wrap="square" lIns="0" tIns="0" rIns="0" bIns="0" rtlCol="0" anchor="ctr">
            <a:normAutofit/>
          </a:bodyPr>
          <a:lstStyle/>
          <a:p>
            <a:pPr algn="ctr" indent="0" marL="0">
              <a:buNone/>
            </a:pPr>
            <a:r>
              <a:rPr lang="en-US" sz="2500" b="1" dirty="0">
                <a:solidFill>
                  <a:srgbClr val="F2F2F2"/>
                </a:solidFill>
              </a:rPr>
              <a:t>85.4%</a:t>
            </a:r>
            <a:endParaRPr lang="en-US" sz="2500" dirty="0"/>
          </a:p>
        </p:txBody>
      </p:sp>
      <p:sp>
        <p:nvSpPr>
          <p:cNvPr id="41" name="Text 39"/>
          <p:cNvSpPr/>
          <p:nvPr/>
        </p:nvSpPr>
        <p:spPr>
          <a:xfrm>
            <a:off x="749808" y="5797296"/>
            <a:ext cx="1920240" cy="274320"/>
          </a:xfrm>
          <a:prstGeom prst="rect">
            <a:avLst/>
          </a:prstGeom>
          <a:noFill/>
          <a:ln/>
        </p:spPr>
        <p:txBody>
          <a:bodyPr wrap="square" lIns="0" tIns="0" rIns="0" bIns="0" rtlCol="0" anchor="ctr">
            <a:normAutofit/>
          </a:bodyPr>
          <a:lstStyle/>
          <a:p>
            <a:pPr algn="ctr" indent="0" marL="0">
              <a:buNone/>
            </a:pPr>
            <a:r>
              <a:rPr lang="en-US" sz="800" dirty="0">
                <a:solidFill>
                  <a:srgbClr val="BDBDBD"/>
                </a:solidFill>
              </a:rPr>
              <a:t>Aug 2026 first fill rate</a:t>
            </a:r>
            <a:endParaRPr lang="en-US" sz="800" dirty="0"/>
          </a:p>
        </p:txBody>
      </p:sp>
      <p:sp>
        <p:nvSpPr>
          <p:cNvPr id="42" name="Text 40"/>
          <p:cNvSpPr/>
          <p:nvPr/>
        </p:nvSpPr>
        <p:spPr>
          <a:xfrm>
            <a:off x="2834640" y="5358384"/>
            <a:ext cx="1417320" cy="438912"/>
          </a:xfrm>
          <a:prstGeom prst="rect">
            <a:avLst/>
          </a:prstGeom>
          <a:noFill/>
          <a:ln/>
        </p:spPr>
        <p:txBody>
          <a:bodyPr wrap="square" lIns="0" tIns="0" rIns="0" bIns="0" rtlCol="0" anchor="ctr">
            <a:normAutofit/>
          </a:bodyPr>
          <a:lstStyle/>
          <a:p>
            <a:pPr algn="ctr" indent="0" marL="0">
              <a:buNone/>
            </a:pPr>
            <a:r>
              <a:rPr lang="en-US" sz="2500" b="1" dirty="0">
                <a:solidFill>
                  <a:srgbClr val="F5A000"/>
                </a:solidFill>
              </a:rPr>
              <a:t>93%</a:t>
            </a:r>
            <a:endParaRPr lang="en-US" sz="2500" dirty="0"/>
          </a:p>
        </p:txBody>
      </p:sp>
      <p:sp>
        <p:nvSpPr>
          <p:cNvPr id="43" name="Text 41"/>
          <p:cNvSpPr/>
          <p:nvPr/>
        </p:nvSpPr>
        <p:spPr>
          <a:xfrm>
            <a:off x="2834640" y="5797296"/>
            <a:ext cx="1417320" cy="274320"/>
          </a:xfrm>
          <a:prstGeom prst="rect">
            <a:avLst/>
          </a:prstGeom>
          <a:noFill/>
          <a:ln/>
        </p:spPr>
        <p:txBody>
          <a:bodyPr wrap="square" lIns="0" tIns="0" rIns="0" bIns="0" rtlCol="0" anchor="ctr">
            <a:normAutofit/>
          </a:bodyPr>
          <a:lstStyle/>
          <a:p>
            <a:pPr algn="ctr" indent="0" marL="0">
              <a:buNone/>
            </a:pPr>
            <a:r>
              <a:rPr lang="en-US" sz="800" dirty="0">
                <a:solidFill>
                  <a:srgbClr val="BDBDBD"/>
                </a:solidFill>
              </a:rPr>
              <a:t>current target</a:t>
            </a:r>
            <a:endParaRPr lang="en-US" sz="800" dirty="0"/>
          </a:p>
        </p:txBody>
      </p:sp>
      <p:sp>
        <p:nvSpPr>
          <p:cNvPr id="44" name="Text 42"/>
          <p:cNvSpPr/>
          <p:nvPr/>
        </p:nvSpPr>
        <p:spPr>
          <a:xfrm>
            <a:off x="4498848" y="5358384"/>
            <a:ext cx="1554480" cy="438912"/>
          </a:xfrm>
          <a:prstGeom prst="rect">
            <a:avLst/>
          </a:prstGeom>
          <a:noFill/>
          <a:ln/>
        </p:spPr>
        <p:txBody>
          <a:bodyPr wrap="square" lIns="0" tIns="0" rIns="0" bIns="0" rtlCol="0" anchor="ctr">
            <a:normAutofit/>
          </a:bodyPr>
          <a:lstStyle/>
          <a:p>
            <a:pPr algn="ctr" indent="0" marL="0">
              <a:buNone/>
            </a:pPr>
            <a:r>
              <a:rPr lang="en-US" sz="2500" b="1" dirty="0">
                <a:solidFill>
                  <a:srgbClr val="E30613"/>
                </a:solidFill>
              </a:rPr>
              <a:t>7.6 pp</a:t>
            </a:r>
            <a:endParaRPr lang="en-US" sz="2500" dirty="0"/>
          </a:p>
        </p:txBody>
      </p:sp>
      <p:sp>
        <p:nvSpPr>
          <p:cNvPr id="45" name="Text 43"/>
          <p:cNvSpPr/>
          <p:nvPr/>
        </p:nvSpPr>
        <p:spPr>
          <a:xfrm>
            <a:off x="4498848" y="5797296"/>
            <a:ext cx="1554480" cy="274320"/>
          </a:xfrm>
          <a:prstGeom prst="rect">
            <a:avLst/>
          </a:prstGeom>
          <a:noFill/>
          <a:ln/>
        </p:spPr>
        <p:txBody>
          <a:bodyPr wrap="square" lIns="0" tIns="0" rIns="0" bIns="0" rtlCol="0" anchor="ctr">
            <a:normAutofit/>
          </a:bodyPr>
          <a:lstStyle/>
          <a:p>
            <a:pPr algn="ctr" indent="0" marL="0">
              <a:buNone/>
            </a:pPr>
            <a:r>
              <a:rPr lang="en-US" sz="800" dirty="0">
                <a:solidFill>
                  <a:srgbClr val="BDBDBD"/>
                </a:solidFill>
              </a:rPr>
              <a:t>gap to target in Aug</a:t>
            </a:r>
            <a:endParaRPr lang="en-US" sz="800" dirty="0"/>
          </a:p>
        </p:txBody>
      </p:sp>
      <p:sp>
        <p:nvSpPr>
          <p:cNvPr id="46" name="Shape 44"/>
          <p:cNvSpPr/>
          <p:nvPr/>
        </p:nvSpPr>
        <p:spPr>
          <a:xfrm>
            <a:off x="9015984" y="1335024"/>
            <a:ext cx="2971800" cy="5102352"/>
          </a:xfrm>
          <a:prstGeom prst="roundRect">
            <a:avLst>
              <a:gd name="adj" fmla="val 1846"/>
            </a:avLst>
          </a:prstGeom>
          <a:solidFill>
            <a:srgbClr val="303030"/>
          </a:solidFill>
          <a:ln w="8890">
            <a:solidFill>
              <a:srgbClr val="6E6E6E"/>
            </a:solidFill>
            <a:prstDash val="solid"/>
          </a:ln>
        </p:spPr>
      </p:sp>
      <p:sp>
        <p:nvSpPr>
          <p:cNvPr id="47" name="Text 45"/>
          <p:cNvSpPr/>
          <p:nvPr/>
        </p:nvSpPr>
        <p:spPr>
          <a:xfrm>
            <a:off x="9272016" y="1572768"/>
            <a:ext cx="2468880" cy="182880"/>
          </a:xfrm>
          <a:prstGeom prst="rect">
            <a:avLst/>
          </a:prstGeom>
          <a:noFill/>
          <a:ln/>
        </p:spPr>
        <p:txBody>
          <a:bodyPr wrap="square" rtlCol="0" anchor="ctr">
            <a:normAutofit/>
          </a:bodyPr>
          <a:lstStyle/>
          <a:p>
            <a:pPr indent="0" marL="0">
              <a:buNone/>
            </a:pPr>
            <a:r>
              <a:rPr lang="en-US" sz="750" b="1" dirty="0">
                <a:solidFill>
                  <a:srgbClr val="E30613"/>
                </a:solidFill>
              </a:rPr>
              <a:t>OBSERVATIONS / QUESTIONS</a:t>
            </a:r>
            <a:endParaRPr lang="en-US" sz="750" dirty="0"/>
          </a:p>
        </p:txBody>
      </p:sp>
      <p:sp>
        <p:nvSpPr>
          <p:cNvPr id="48" name="Shape 46"/>
          <p:cNvSpPr/>
          <p:nvPr/>
        </p:nvSpPr>
        <p:spPr>
          <a:xfrm>
            <a:off x="9272016" y="2084832"/>
            <a:ext cx="82296" cy="82296"/>
          </a:xfrm>
          <a:prstGeom prst="ellipse">
            <a:avLst/>
          </a:prstGeom>
          <a:solidFill>
            <a:srgbClr val="E30613"/>
          </a:solidFill>
          <a:ln w="12700">
            <a:solidFill>
              <a:srgbClr val="E30613"/>
            </a:solidFill>
            <a:prstDash val="solid"/>
          </a:ln>
        </p:spPr>
      </p:sp>
      <p:sp>
        <p:nvSpPr>
          <p:cNvPr id="49" name="Text 47"/>
          <p:cNvSpPr/>
          <p:nvPr/>
        </p:nvSpPr>
        <p:spPr>
          <a:xfrm>
            <a:off x="9491472" y="2020824"/>
            <a:ext cx="2221992" cy="512064"/>
          </a:xfrm>
          <a:prstGeom prst="rect">
            <a:avLst/>
          </a:prstGeom>
          <a:noFill/>
          <a:ln/>
        </p:spPr>
        <p:txBody>
          <a:bodyPr wrap="square" lIns="254" tIns="254" rIns="254" bIns="254" rtlCol="0" anchor="t">
            <a:normAutofit/>
          </a:bodyPr>
          <a:lstStyle/>
          <a:p>
            <a:pPr indent="0" marL="0">
              <a:buNone/>
            </a:pPr>
            <a:r>
              <a:rPr lang="en-US" sz="820" dirty="0">
                <a:solidFill>
                  <a:srgbClr val="F2F2F2"/>
                </a:solidFill>
              </a:rPr>
              <a:t>First fill rate is not improving into the target zone; it stays around 84-85% in Apr-Aug 2026.</a:t>
            </a:r>
            <a:endParaRPr lang="en-US" sz="820" dirty="0"/>
          </a:p>
        </p:txBody>
      </p:sp>
      <p:sp>
        <p:nvSpPr>
          <p:cNvPr id="50" name="Shape 48"/>
          <p:cNvSpPr/>
          <p:nvPr/>
        </p:nvSpPr>
        <p:spPr>
          <a:xfrm>
            <a:off x="9272016" y="3017520"/>
            <a:ext cx="82296" cy="82296"/>
          </a:xfrm>
          <a:prstGeom prst="ellipse">
            <a:avLst/>
          </a:prstGeom>
          <a:solidFill>
            <a:srgbClr val="F5A000"/>
          </a:solidFill>
          <a:ln w="12700">
            <a:solidFill>
              <a:srgbClr val="F5A000"/>
            </a:solidFill>
            <a:prstDash val="solid"/>
          </a:ln>
        </p:spPr>
      </p:sp>
      <p:sp>
        <p:nvSpPr>
          <p:cNvPr id="51" name="Text 49"/>
          <p:cNvSpPr/>
          <p:nvPr/>
        </p:nvSpPr>
        <p:spPr>
          <a:xfrm>
            <a:off x="9491472" y="2953512"/>
            <a:ext cx="2221992" cy="512064"/>
          </a:xfrm>
          <a:prstGeom prst="rect">
            <a:avLst/>
          </a:prstGeom>
          <a:noFill/>
          <a:ln/>
        </p:spPr>
        <p:txBody>
          <a:bodyPr wrap="square" lIns="254" tIns="254" rIns="254" bIns="254" rtlCol="0" anchor="t">
            <a:normAutofit/>
          </a:bodyPr>
          <a:lstStyle/>
          <a:p>
            <a:pPr indent="0" marL="0">
              <a:buNone/>
            </a:pPr>
            <a:r>
              <a:rPr lang="en-US" sz="820" dirty="0">
                <a:solidFill>
                  <a:srgbClr val="F2F2F2"/>
                </a:solidFill>
              </a:rPr>
              <a:t>The target is 93%. The latest reported month is 85.4%, leaving a 7.6-point gap.</a:t>
            </a:r>
            <a:endParaRPr lang="en-US" sz="820" dirty="0"/>
          </a:p>
        </p:txBody>
      </p:sp>
      <p:sp>
        <p:nvSpPr>
          <p:cNvPr id="52" name="Shape 50"/>
          <p:cNvSpPr/>
          <p:nvPr/>
        </p:nvSpPr>
        <p:spPr>
          <a:xfrm>
            <a:off x="9272016" y="3950208"/>
            <a:ext cx="82296" cy="82296"/>
          </a:xfrm>
          <a:prstGeom prst="ellipse">
            <a:avLst/>
          </a:prstGeom>
          <a:solidFill>
            <a:srgbClr val="F5A000"/>
          </a:solidFill>
          <a:ln w="12700">
            <a:solidFill>
              <a:srgbClr val="F5A000"/>
            </a:solidFill>
            <a:prstDash val="solid"/>
          </a:ln>
        </p:spPr>
      </p:sp>
      <p:sp>
        <p:nvSpPr>
          <p:cNvPr id="53" name="Text 51"/>
          <p:cNvSpPr/>
          <p:nvPr/>
        </p:nvSpPr>
        <p:spPr>
          <a:xfrm>
            <a:off x="9491472" y="3886200"/>
            <a:ext cx="2221992" cy="512064"/>
          </a:xfrm>
          <a:prstGeom prst="rect">
            <a:avLst/>
          </a:prstGeom>
          <a:noFill/>
          <a:ln/>
        </p:spPr>
        <p:txBody>
          <a:bodyPr wrap="square" lIns="254" tIns="254" rIns="254" bIns="254" rtlCol="0" anchor="t">
            <a:normAutofit/>
          </a:bodyPr>
          <a:lstStyle/>
          <a:p>
            <a:pPr indent="0" marL="0">
              <a:buNone/>
            </a:pPr>
            <a:r>
              <a:rPr lang="en-US" sz="820" dirty="0">
                <a:solidFill>
                  <a:srgbClr val="F2F2F2"/>
                </a:solidFill>
              </a:rPr>
              <a:t>This KPI should be discussed together with MOS, not alone: the stock level is falling while fill rate is still weak.</a:t>
            </a:r>
            <a:endParaRPr lang="en-US" sz="820" dirty="0"/>
          </a:p>
        </p:txBody>
      </p:sp>
      <p:sp>
        <p:nvSpPr>
          <p:cNvPr id="54" name="Shape 52"/>
          <p:cNvSpPr/>
          <p:nvPr/>
        </p:nvSpPr>
        <p:spPr>
          <a:xfrm>
            <a:off x="9272016" y="4882896"/>
            <a:ext cx="82296" cy="82296"/>
          </a:xfrm>
          <a:prstGeom prst="ellipse">
            <a:avLst/>
          </a:prstGeom>
          <a:solidFill>
            <a:srgbClr val="F5A000"/>
          </a:solidFill>
          <a:ln w="12700">
            <a:solidFill>
              <a:srgbClr val="F5A000"/>
            </a:solidFill>
            <a:prstDash val="solid"/>
          </a:ln>
        </p:spPr>
      </p:sp>
      <p:sp>
        <p:nvSpPr>
          <p:cNvPr id="55" name="Text 53"/>
          <p:cNvSpPr/>
          <p:nvPr/>
        </p:nvSpPr>
        <p:spPr>
          <a:xfrm>
            <a:off x="9491472" y="4818888"/>
            <a:ext cx="2221992" cy="512064"/>
          </a:xfrm>
          <a:prstGeom prst="rect">
            <a:avLst/>
          </a:prstGeom>
          <a:noFill/>
          <a:ln/>
        </p:spPr>
        <p:txBody>
          <a:bodyPr wrap="square" lIns="254" tIns="254" rIns="254" bIns="254" rtlCol="0" anchor="t">
            <a:normAutofit/>
          </a:bodyPr>
          <a:lstStyle/>
          <a:p>
            <a:pPr indent="0" marL="0">
              <a:buNone/>
            </a:pPr>
            <a:r>
              <a:rPr lang="en-US" sz="820" dirty="0">
                <a:solidFill>
                  <a:srgbClr val="F2F2F2"/>
                </a:solidFill>
              </a:rPr>
              <a:t>Question: which categories or part numbers make up the missing 7-8 points?</a:t>
            </a:r>
            <a:endParaRPr lang="en-US" sz="820" dirty="0"/>
          </a:p>
        </p:txBody>
      </p:sp>
      <p:cxnSp>
        <p:nvCxnSpPr>
          <p:cNvPr id="56" name="Connector 55"/>
          <p:cNvCxnSpPr/>
          <p:nvPr/>
        </p:nvCxnSpPr>
        <p:spPr>
          <a:xfrm>
            <a:off x="685800" y="3523814"/>
            <a:ext cx="1977390" cy="103197"/>
          </a:xfrm>
          <a:prstGeom prst="line">
            <a:avLst/>
          </a:prstGeom>
          <a:ln w="26670">
            <a:solidFill>
              <a:srgbClr val="E30613"/>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2663190" y="3375899"/>
            <a:ext cx="1977390" cy="251112"/>
          </a:xfrm>
          <a:prstGeom prst="line">
            <a:avLst/>
          </a:prstGeom>
          <a:ln w="26670">
            <a:solidFill>
              <a:srgbClr val="E30613"/>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4640580" y="3375899"/>
            <a:ext cx="1977390" cy="307870"/>
          </a:xfrm>
          <a:prstGeom prst="line">
            <a:avLst/>
          </a:prstGeom>
          <a:ln w="26670">
            <a:solidFill>
              <a:srgbClr val="E30613"/>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6617970" y="3379339"/>
            <a:ext cx="1977390" cy="304430"/>
          </a:xfrm>
          <a:prstGeom prst="line">
            <a:avLst/>
          </a:prstGeom>
          <a:ln w="26670">
            <a:solidFill>
              <a:srgbClr val="E30613"/>
            </a:solidFill>
          </a:ln>
        </p:spPr>
        <p:style>
          <a:lnRef idx="2">
            <a:schemeClr val="accent1"/>
          </a:lnRef>
          <a:fillRef idx="0">
            <a:schemeClr val="accent1"/>
          </a:fillRef>
          <a:effectRef idx="1">
            <a:schemeClr val="accent1"/>
          </a:effectRef>
          <a:fontRef idx="minor">
            <a:schemeClr val="tx1"/>
          </a:fontRef>
        </p:style>
      </p:cxnSp>
      <p:sp>
        <p:nvSpPr>
          <p:cNvPr id="60" name="Oval 59"/>
          <p:cNvSpPr/>
          <p:nvPr/>
        </p:nvSpPr>
        <p:spPr>
          <a:xfrm>
            <a:off x="638251" y="3476265"/>
            <a:ext cx="95097" cy="95097"/>
          </a:xfrm>
          <a:prstGeom prst="ellipse">
            <a:avLst/>
          </a:prstGeom>
          <a:solidFill>
            <a:srgbClr val="E30613"/>
          </a:solidFill>
          <a:ln w="6350">
            <a:solidFill>
              <a:srgbClr val="E306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2615641" y="3579462"/>
            <a:ext cx="95097" cy="95097"/>
          </a:xfrm>
          <a:prstGeom prst="ellipse">
            <a:avLst/>
          </a:prstGeom>
          <a:solidFill>
            <a:srgbClr val="E30613"/>
          </a:solidFill>
          <a:ln w="6350">
            <a:solidFill>
              <a:srgbClr val="E306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4593031" y="3328350"/>
            <a:ext cx="95097" cy="95097"/>
          </a:xfrm>
          <a:prstGeom prst="ellipse">
            <a:avLst/>
          </a:prstGeom>
          <a:solidFill>
            <a:srgbClr val="E30613"/>
          </a:solidFill>
          <a:ln w="6350">
            <a:solidFill>
              <a:srgbClr val="E306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6570421" y="3636220"/>
            <a:ext cx="95097" cy="95097"/>
          </a:xfrm>
          <a:prstGeom prst="ellipse">
            <a:avLst/>
          </a:prstGeom>
          <a:solidFill>
            <a:srgbClr val="E30613"/>
          </a:solidFill>
          <a:ln w="6350">
            <a:solidFill>
              <a:srgbClr val="E306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8547811" y="3331790"/>
            <a:ext cx="95097" cy="95097"/>
          </a:xfrm>
          <a:prstGeom prst="ellipse">
            <a:avLst/>
          </a:prstGeom>
          <a:solidFill>
            <a:srgbClr val="E30613"/>
          </a:solidFill>
          <a:ln w="6350">
            <a:solidFill>
              <a:srgbClr val="E306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62626"/>
        </a:solidFill>
      </p:bgPr>
    </p:bg>
    <p:spTree>
      <p:nvGrpSpPr>
        <p:cNvPr id="1" name=""/>
        <p:cNvGrpSpPr/>
        <p:nvPr/>
      </p:nvGrpSpPr>
      <p:grpSpPr>
        <a:xfrm>
          <a:off x="0" y="0"/>
          <a:ext cx="0" cy="0"/>
          <a:chOff x="0" y="0"/>
          <a:chExt cx="0" cy="0"/>
        </a:xfrm>
      </p:grpSpPr>
      <p:sp>
        <p:nvSpPr>
          <p:cNvPr id="2" name="Text 0"/>
          <p:cNvSpPr/>
          <p:nvPr/>
        </p:nvSpPr>
        <p:spPr>
          <a:xfrm>
            <a:off x="228600" y="91440"/>
            <a:ext cx="3474720" cy="164592"/>
          </a:xfrm>
          <a:prstGeom prst="rect">
            <a:avLst/>
          </a:prstGeom>
          <a:noFill/>
          <a:ln/>
        </p:spPr>
        <p:txBody>
          <a:bodyPr wrap="square" rtlCol="0" anchor="ctr">
            <a:normAutofit/>
          </a:bodyPr>
          <a:lstStyle/>
          <a:p>
            <a:pPr indent="0" marL="0">
              <a:buNone/>
            </a:pPr>
            <a:r>
              <a:rPr lang="en-US" sz="660" b="1" dirty="0">
                <a:solidFill>
                  <a:srgbClr val="F2F2F2"/>
                </a:solidFill>
                <a:latin typeface="Aptos" pitchFamily="34" charset="0"/>
                <a:ea typeface="Aptos" pitchFamily="34" charset="-122"/>
                <a:cs typeface="Aptos" pitchFamily="34" charset="-120"/>
              </a:rPr>
              <a:t>ISZE  ·  VEHICLE PARTS &amp; ACCESSORIES</a:t>
            </a:r>
            <a:endParaRPr lang="en-US" sz="660" dirty="0"/>
          </a:p>
        </p:txBody>
      </p:sp>
      <p:sp>
        <p:nvSpPr>
          <p:cNvPr id="3" name="Shape 1"/>
          <p:cNvSpPr/>
          <p:nvPr/>
        </p:nvSpPr>
        <p:spPr>
          <a:xfrm>
            <a:off x="228600" y="6629400"/>
            <a:ext cx="11750040" cy="0"/>
          </a:xfrm>
          <a:prstGeom prst="line">
            <a:avLst/>
          </a:prstGeom>
          <a:noFill/>
          <a:ln w="6350">
            <a:solidFill>
              <a:srgbClr val="575757"/>
            </a:solidFill>
            <a:prstDash val="solid"/>
          </a:ln>
        </p:spPr>
      </p:sp>
      <p:sp>
        <p:nvSpPr>
          <p:cNvPr id="4" name="Text 2"/>
          <p:cNvSpPr/>
          <p:nvPr/>
        </p:nvSpPr>
        <p:spPr>
          <a:xfrm>
            <a:off x="228600" y="393192"/>
            <a:ext cx="4114800" cy="201168"/>
          </a:xfrm>
          <a:prstGeom prst="rect">
            <a:avLst/>
          </a:prstGeom>
          <a:noFill/>
          <a:ln/>
        </p:spPr>
        <p:txBody>
          <a:bodyPr wrap="square" rtlCol="0" anchor="ctr">
            <a:normAutofit/>
          </a:bodyPr>
          <a:lstStyle/>
          <a:p>
            <a:pPr indent="0" marL="0">
              <a:buNone/>
            </a:pPr>
            <a:r>
              <a:rPr lang="en-US" sz="750" b="1" dirty="0">
                <a:solidFill>
                  <a:srgbClr val="E30613"/>
                </a:solidFill>
              </a:rPr>
              <a:t>STOCK DEPTH AND FILL RATE</a:t>
            </a:r>
            <a:endParaRPr lang="en-US" sz="750" dirty="0"/>
          </a:p>
        </p:txBody>
      </p:sp>
      <p:sp>
        <p:nvSpPr>
          <p:cNvPr id="5" name="Text 3"/>
          <p:cNvSpPr/>
          <p:nvPr/>
        </p:nvSpPr>
        <p:spPr>
          <a:xfrm>
            <a:off x="228600" y="713232"/>
            <a:ext cx="9052560" cy="438912"/>
          </a:xfrm>
          <a:prstGeom prst="rect">
            <a:avLst/>
          </a:prstGeom>
          <a:noFill/>
          <a:ln/>
        </p:spPr>
        <p:txBody>
          <a:bodyPr wrap="square" lIns="0" tIns="0" rIns="0" bIns="0" rtlCol="0" anchor="ctr">
            <a:normAutofit/>
          </a:bodyPr>
          <a:lstStyle/>
          <a:p>
            <a:pPr indent="0" marL="0">
              <a:buNone/>
            </a:pPr>
            <a:r>
              <a:rPr lang="en-US" sz="2250" b="1" dirty="0">
                <a:solidFill>
                  <a:srgbClr val="F2F2F2"/>
                </a:solidFill>
              </a:rPr>
              <a:t>Stock days fell to 67 while fill rate stayed below target</a:t>
            </a:r>
            <a:endParaRPr lang="en-US" sz="2250" dirty="0"/>
          </a:p>
        </p:txBody>
      </p:sp>
      <p:sp>
        <p:nvSpPr>
          <p:cNvPr id="6" name="Text 4"/>
          <p:cNvSpPr/>
          <p:nvPr/>
        </p:nvSpPr>
        <p:spPr>
          <a:xfrm>
            <a:off x="228600" y="1188720"/>
            <a:ext cx="8046720" cy="219456"/>
          </a:xfrm>
          <a:prstGeom prst="rect">
            <a:avLst/>
          </a:prstGeom>
          <a:noFill/>
          <a:ln/>
        </p:spPr>
        <p:txBody>
          <a:bodyPr wrap="square" lIns="0" tIns="0" rIns="0" bIns="0" rtlCol="0" anchor="ctr">
            <a:normAutofit/>
          </a:bodyPr>
          <a:lstStyle/>
          <a:p>
            <a:pPr indent="0" marL="0">
              <a:buNone/>
            </a:pPr>
            <a:r>
              <a:rPr lang="en-US" sz="850" dirty="0">
                <a:solidFill>
                  <a:srgbClr val="BDBDBD"/>
                </a:solidFill>
              </a:rPr>
              <a:t>I Motors | Apr-Aug 2026 | MOS / days of parts in stock and first fill rate</a:t>
            </a:r>
            <a:endParaRPr lang="en-US" sz="850" dirty="0"/>
          </a:p>
        </p:txBody>
      </p:sp>
      <p:sp>
        <p:nvSpPr>
          <p:cNvPr id="7" name="Shape 5"/>
          <p:cNvSpPr/>
          <p:nvPr/>
        </p:nvSpPr>
        <p:spPr>
          <a:xfrm>
            <a:off x="685800" y="5029200"/>
            <a:ext cx="7909560" cy="0"/>
          </a:xfrm>
          <a:prstGeom prst="line">
            <a:avLst/>
          </a:prstGeom>
          <a:noFill/>
          <a:ln w="5080">
            <a:solidFill>
              <a:srgbClr val="4D4D4D">
                <a:alpha val="80000"/>
              </a:srgbClr>
            </a:solidFill>
            <a:prstDash val="solid"/>
          </a:ln>
        </p:spPr>
      </p:sp>
      <p:sp>
        <p:nvSpPr>
          <p:cNvPr id="8" name="Text 6"/>
          <p:cNvSpPr/>
          <p:nvPr/>
        </p:nvSpPr>
        <p:spPr>
          <a:xfrm>
            <a:off x="347472" y="4974336"/>
            <a:ext cx="274320" cy="109728"/>
          </a:xfrm>
          <a:prstGeom prst="rect">
            <a:avLst/>
          </a:prstGeom>
          <a:noFill/>
          <a:ln/>
        </p:spPr>
        <p:txBody>
          <a:bodyPr wrap="square" lIns="254" tIns="254" rIns="254" bIns="254" rtlCol="0" anchor="ctr">
            <a:normAutofit/>
          </a:bodyPr>
          <a:lstStyle/>
          <a:p>
            <a:pPr algn="r" indent="0" marL="0">
              <a:buNone/>
            </a:pPr>
            <a:r>
              <a:rPr lang="en-US" sz="650" dirty="0">
                <a:solidFill>
                  <a:srgbClr val="BDBDBD"/>
                </a:solidFill>
              </a:rPr>
              <a:t>40</a:t>
            </a:r>
            <a:endParaRPr lang="en-US" sz="650" dirty="0"/>
          </a:p>
        </p:txBody>
      </p:sp>
      <p:sp>
        <p:nvSpPr>
          <p:cNvPr id="9" name="Shape 7"/>
          <p:cNvSpPr/>
          <p:nvPr/>
        </p:nvSpPr>
        <p:spPr>
          <a:xfrm>
            <a:off x="685800" y="4171950"/>
            <a:ext cx="7909560" cy="0"/>
          </a:xfrm>
          <a:prstGeom prst="line">
            <a:avLst/>
          </a:prstGeom>
          <a:noFill/>
          <a:ln w="5080">
            <a:solidFill>
              <a:srgbClr val="4D4D4D">
                <a:alpha val="80000"/>
              </a:srgbClr>
            </a:solidFill>
            <a:prstDash val="solid"/>
          </a:ln>
        </p:spPr>
      </p:sp>
      <p:sp>
        <p:nvSpPr>
          <p:cNvPr id="10" name="Text 8"/>
          <p:cNvSpPr/>
          <p:nvPr/>
        </p:nvSpPr>
        <p:spPr>
          <a:xfrm>
            <a:off x="347472" y="4117086"/>
            <a:ext cx="274320" cy="109728"/>
          </a:xfrm>
          <a:prstGeom prst="rect">
            <a:avLst/>
          </a:prstGeom>
          <a:noFill/>
          <a:ln/>
        </p:spPr>
        <p:txBody>
          <a:bodyPr wrap="square" lIns="254" tIns="254" rIns="254" bIns="254" rtlCol="0" anchor="ctr">
            <a:normAutofit/>
          </a:bodyPr>
          <a:lstStyle/>
          <a:p>
            <a:pPr algn="r" indent="0" marL="0">
              <a:buNone/>
            </a:pPr>
            <a:r>
              <a:rPr lang="en-US" sz="650" dirty="0">
                <a:solidFill>
                  <a:srgbClr val="BDBDBD"/>
                </a:solidFill>
              </a:rPr>
              <a:t>60</a:t>
            </a:r>
            <a:endParaRPr lang="en-US" sz="650" dirty="0"/>
          </a:p>
        </p:txBody>
      </p:sp>
      <p:sp>
        <p:nvSpPr>
          <p:cNvPr id="11" name="Shape 9"/>
          <p:cNvSpPr/>
          <p:nvPr/>
        </p:nvSpPr>
        <p:spPr>
          <a:xfrm>
            <a:off x="685800" y="3314700"/>
            <a:ext cx="7909560" cy="0"/>
          </a:xfrm>
          <a:prstGeom prst="line">
            <a:avLst/>
          </a:prstGeom>
          <a:noFill/>
          <a:ln w="5080">
            <a:solidFill>
              <a:srgbClr val="4D4D4D">
                <a:alpha val="80000"/>
              </a:srgbClr>
            </a:solidFill>
            <a:prstDash val="solid"/>
          </a:ln>
        </p:spPr>
      </p:sp>
      <p:sp>
        <p:nvSpPr>
          <p:cNvPr id="12" name="Text 10"/>
          <p:cNvSpPr/>
          <p:nvPr/>
        </p:nvSpPr>
        <p:spPr>
          <a:xfrm>
            <a:off x="347472" y="3259836"/>
            <a:ext cx="274320" cy="109728"/>
          </a:xfrm>
          <a:prstGeom prst="rect">
            <a:avLst/>
          </a:prstGeom>
          <a:noFill/>
          <a:ln/>
        </p:spPr>
        <p:txBody>
          <a:bodyPr wrap="square" lIns="254" tIns="254" rIns="254" bIns="254" rtlCol="0" anchor="ctr">
            <a:normAutofit/>
          </a:bodyPr>
          <a:lstStyle/>
          <a:p>
            <a:pPr algn="r" indent="0" marL="0">
              <a:buNone/>
            </a:pPr>
            <a:r>
              <a:rPr lang="en-US" sz="650" dirty="0">
                <a:solidFill>
                  <a:srgbClr val="BDBDBD"/>
                </a:solidFill>
              </a:rPr>
              <a:t>80</a:t>
            </a:r>
            <a:endParaRPr lang="en-US" sz="650" dirty="0"/>
          </a:p>
        </p:txBody>
      </p:sp>
      <p:sp>
        <p:nvSpPr>
          <p:cNvPr id="13" name="Shape 11"/>
          <p:cNvSpPr/>
          <p:nvPr/>
        </p:nvSpPr>
        <p:spPr>
          <a:xfrm>
            <a:off x="685800" y="2457450"/>
            <a:ext cx="7909560" cy="0"/>
          </a:xfrm>
          <a:prstGeom prst="line">
            <a:avLst/>
          </a:prstGeom>
          <a:noFill/>
          <a:ln w="5080">
            <a:solidFill>
              <a:srgbClr val="4D4D4D">
                <a:alpha val="80000"/>
              </a:srgbClr>
            </a:solidFill>
            <a:prstDash val="solid"/>
          </a:ln>
        </p:spPr>
      </p:sp>
      <p:sp>
        <p:nvSpPr>
          <p:cNvPr id="14" name="Text 12"/>
          <p:cNvSpPr/>
          <p:nvPr/>
        </p:nvSpPr>
        <p:spPr>
          <a:xfrm>
            <a:off x="347472" y="2402586"/>
            <a:ext cx="274320" cy="109728"/>
          </a:xfrm>
          <a:prstGeom prst="rect">
            <a:avLst/>
          </a:prstGeom>
          <a:noFill/>
          <a:ln/>
        </p:spPr>
        <p:txBody>
          <a:bodyPr wrap="square" lIns="254" tIns="254" rIns="254" bIns="254" rtlCol="0" anchor="ctr">
            <a:normAutofit/>
          </a:bodyPr>
          <a:lstStyle/>
          <a:p>
            <a:pPr algn="r" indent="0" marL="0">
              <a:buNone/>
            </a:pPr>
            <a:r>
              <a:rPr lang="en-US" sz="650" dirty="0">
                <a:solidFill>
                  <a:srgbClr val="BDBDBD"/>
                </a:solidFill>
              </a:rPr>
              <a:t>100</a:t>
            </a:r>
            <a:endParaRPr lang="en-US" sz="650" dirty="0"/>
          </a:p>
        </p:txBody>
      </p:sp>
      <p:sp>
        <p:nvSpPr>
          <p:cNvPr id="15" name="Shape 13"/>
          <p:cNvSpPr/>
          <p:nvPr/>
        </p:nvSpPr>
        <p:spPr>
          <a:xfrm>
            <a:off x="685800" y="1600200"/>
            <a:ext cx="7909560" cy="0"/>
          </a:xfrm>
          <a:prstGeom prst="line">
            <a:avLst/>
          </a:prstGeom>
          <a:noFill/>
          <a:ln w="5080">
            <a:solidFill>
              <a:srgbClr val="4D4D4D">
                <a:alpha val="80000"/>
              </a:srgbClr>
            </a:solidFill>
            <a:prstDash val="solid"/>
          </a:ln>
        </p:spPr>
      </p:sp>
      <p:sp>
        <p:nvSpPr>
          <p:cNvPr id="16" name="Text 14"/>
          <p:cNvSpPr/>
          <p:nvPr/>
        </p:nvSpPr>
        <p:spPr>
          <a:xfrm>
            <a:off x="347472" y="1545336"/>
            <a:ext cx="274320" cy="109728"/>
          </a:xfrm>
          <a:prstGeom prst="rect">
            <a:avLst/>
          </a:prstGeom>
          <a:noFill/>
          <a:ln/>
        </p:spPr>
        <p:txBody>
          <a:bodyPr wrap="square" lIns="254" tIns="254" rIns="254" bIns="254" rtlCol="0" anchor="ctr">
            <a:normAutofit/>
          </a:bodyPr>
          <a:lstStyle/>
          <a:p>
            <a:pPr algn="r" indent="0" marL="0">
              <a:buNone/>
            </a:pPr>
            <a:r>
              <a:rPr lang="en-US" sz="650" dirty="0">
                <a:solidFill>
                  <a:srgbClr val="BDBDBD"/>
                </a:solidFill>
              </a:rPr>
              <a:t>120</a:t>
            </a:r>
            <a:endParaRPr lang="en-US" sz="650" dirty="0"/>
          </a:p>
        </p:txBody>
      </p:sp>
      <p:sp>
        <p:nvSpPr>
          <p:cNvPr id="17" name="Shape 15"/>
          <p:cNvSpPr/>
          <p:nvPr/>
        </p:nvSpPr>
        <p:spPr>
          <a:xfrm>
            <a:off x="1097280" y="2971800"/>
            <a:ext cx="502920" cy="2057400"/>
          </a:xfrm>
          <a:prstGeom prst="rect">
            <a:avLst/>
          </a:prstGeom>
          <a:solidFill>
            <a:srgbClr val="F5A000"/>
          </a:solidFill>
          <a:ln w="12700">
            <a:solidFill>
              <a:srgbClr val="F5A000"/>
            </a:solidFill>
            <a:prstDash val="solid"/>
          </a:ln>
        </p:spPr>
      </p:sp>
      <p:sp>
        <p:nvSpPr>
          <p:cNvPr id="18" name="Text 16"/>
          <p:cNvSpPr/>
          <p:nvPr/>
        </p:nvSpPr>
        <p:spPr>
          <a:xfrm>
            <a:off x="941832" y="5148072"/>
            <a:ext cx="822960" cy="128016"/>
          </a:xfrm>
          <a:prstGeom prst="rect">
            <a:avLst/>
          </a:prstGeom>
          <a:noFill/>
          <a:ln/>
        </p:spPr>
        <p:txBody>
          <a:bodyPr wrap="square" lIns="254" tIns="254" rIns="254" bIns="254" rtlCol="0" anchor="ctr">
            <a:normAutofit/>
          </a:bodyPr>
          <a:lstStyle/>
          <a:p>
            <a:pPr algn="ctr" indent="0" marL="0">
              <a:buNone/>
            </a:pPr>
            <a:r>
              <a:rPr lang="en-US" sz="650" dirty="0">
                <a:solidFill>
                  <a:srgbClr val="BDBDBD"/>
                </a:solidFill>
              </a:rPr>
              <a:t>Apr</a:t>
            </a:r>
            <a:endParaRPr lang="en-US" sz="650" dirty="0"/>
          </a:p>
        </p:txBody>
      </p:sp>
      <p:sp>
        <p:nvSpPr>
          <p:cNvPr id="19" name="Shape 17"/>
          <p:cNvSpPr/>
          <p:nvPr/>
        </p:nvSpPr>
        <p:spPr>
          <a:xfrm>
            <a:off x="2679192" y="3100388"/>
            <a:ext cx="502920" cy="1928813"/>
          </a:xfrm>
          <a:prstGeom prst="rect">
            <a:avLst/>
          </a:prstGeom>
          <a:solidFill>
            <a:srgbClr val="F5A000"/>
          </a:solidFill>
          <a:ln w="12700">
            <a:solidFill>
              <a:srgbClr val="F5A000"/>
            </a:solidFill>
            <a:prstDash val="solid"/>
          </a:ln>
        </p:spPr>
      </p:sp>
      <p:sp>
        <p:nvSpPr>
          <p:cNvPr id="20" name="Text 18"/>
          <p:cNvSpPr/>
          <p:nvPr/>
        </p:nvSpPr>
        <p:spPr>
          <a:xfrm>
            <a:off x="2523744" y="5148072"/>
            <a:ext cx="822960" cy="128016"/>
          </a:xfrm>
          <a:prstGeom prst="rect">
            <a:avLst/>
          </a:prstGeom>
          <a:noFill/>
          <a:ln/>
        </p:spPr>
        <p:txBody>
          <a:bodyPr wrap="square" lIns="254" tIns="254" rIns="254" bIns="254" rtlCol="0" anchor="ctr">
            <a:normAutofit/>
          </a:bodyPr>
          <a:lstStyle/>
          <a:p>
            <a:pPr algn="ctr" indent="0" marL="0">
              <a:buNone/>
            </a:pPr>
            <a:r>
              <a:rPr lang="en-US" sz="650" dirty="0">
                <a:solidFill>
                  <a:srgbClr val="BDBDBD"/>
                </a:solidFill>
              </a:rPr>
              <a:t>May</a:t>
            </a:r>
            <a:endParaRPr lang="en-US" sz="650" dirty="0"/>
          </a:p>
        </p:txBody>
      </p:sp>
      <p:sp>
        <p:nvSpPr>
          <p:cNvPr id="21" name="Shape 19"/>
          <p:cNvSpPr/>
          <p:nvPr/>
        </p:nvSpPr>
        <p:spPr>
          <a:xfrm>
            <a:off x="4261104" y="3100388"/>
            <a:ext cx="502920" cy="1928813"/>
          </a:xfrm>
          <a:prstGeom prst="rect">
            <a:avLst/>
          </a:prstGeom>
          <a:solidFill>
            <a:srgbClr val="F5A000"/>
          </a:solidFill>
          <a:ln w="12700">
            <a:solidFill>
              <a:srgbClr val="F5A000"/>
            </a:solidFill>
            <a:prstDash val="solid"/>
          </a:ln>
        </p:spPr>
      </p:sp>
      <p:sp>
        <p:nvSpPr>
          <p:cNvPr id="22" name="Text 20"/>
          <p:cNvSpPr/>
          <p:nvPr/>
        </p:nvSpPr>
        <p:spPr>
          <a:xfrm>
            <a:off x="4105656" y="5148072"/>
            <a:ext cx="822960" cy="128016"/>
          </a:xfrm>
          <a:prstGeom prst="rect">
            <a:avLst/>
          </a:prstGeom>
          <a:noFill/>
          <a:ln/>
        </p:spPr>
        <p:txBody>
          <a:bodyPr wrap="square" lIns="254" tIns="254" rIns="254" bIns="254" rtlCol="0" anchor="ctr">
            <a:normAutofit/>
          </a:bodyPr>
          <a:lstStyle/>
          <a:p>
            <a:pPr algn="ctr" indent="0" marL="0">
              <a:buNone/>
            </a:pPr>
            <a:r>
              <a:rPr lang="en-US" sz="650" dirty="0">
                <a:solidFill>
                  <a:srgbClr val="BDBDBD"/>
                </a:solidFill>
              </a:rPr>
              <a:t>Jun</a:t>
            </a:r>
            <a:endParaRPr lang="en-US" sz="650" dirty="0"/>
          </a:p>
        </p:txBody>
      </p:sp>
      <p:sp>
        <p:nvSpPr>
          <p:cNvPr id="23" name="Shape 21"/>
          <p:cNvSpPr/>
          <p:nvPr/>
        </p:nvSpPr>
        <p:spPr>
          <a:xfrm>
            <a:off x="5843016" y="3357563"/>
            <a:ext cx="502920" cy="1671638"/>
          </a:xfrm>
          <a:prstGeom prst="rect">
            <a:avLst/>
          </a:prstGeom>
          <a:solidFill>
            <a:srgbClr val="F5A000"/>
          </a:solidFill>
          <a:ln w="12700">
            <a:solidFill>
              <a:srgbClr val="F5A000"/>
            </a:solidFill>
            <a:prstDash val="solid"/>
          </a:ln>
        </p:spPr>
      </p:sp>
      <p:sp>
        <p:nvSpPr>
          <p:cNvPr id="24" name="Text 22"/>
          <p:cNvSpPr/>
          <p:nvPr/>
        </p:nvSpPr>
        <p:spPr>
          <a:xfrm>
            <a:off x="5687568" y="5148072"/>
            <a:ext cx="822960" cy="128016"/>
          </a:xfrm>
          <a:prstGeom prst="rect">
            <a:avLst/>
          </a:prstGeom>
          <a:noFill/>
          <a:ln/>
        </p:spPr>
        <p:txBody>
          <a:bodyPr wrap="square" lIns="254" tIns="254" rIns="254" bIns="254" rtlCol="0" anchor="ctr">
            <a:normAutofit/>
          </a:bodyPr>
          <a:lstStyle/>
          <a:p>
            <a:pPr algn="ctr" indent="0" marL="0">
              <a:buNone/>
            </a:pPr>
            <a:r>
              <a:rPr lang="en-US" sz="650" dirty="0">
                <a:solidFill>
                  <a:srgbClr val="BDBDBD"/>
                </a:solidFill>
              </a:rPr>
              <a:t>Jul</a:t>
            </a:r>
            <a:endParaRPr lang="en-US" sz="650" dirty="0"/>
          </a:p>
        </p:txBody>
      </p:sp>
      <p:sp>
        <p:nvSpPr>
          <p:cNvPr id="25" name="Shape 23"/>
          <p:cNvSpPr/>
          <p:nvPr/>
        </p:nvSpPr>
        <p:spPr>
          <a:xfrm>
            <a:off x="7424928" y="3871913"/>
            <a:ext cx="502920" cy="1157288"/>
          </a:xfrm>
          <a:prstGeom prst="rect">
            <a:avLst/>
          </a:prstGeom>
          <a:solidFill>
            <a:srgbClr val="F5A000"/>
          </a:solidFill>
          <a:ln w="12700">
            <a:solidFill>
              <a:srgbClr val="F5A000"/>
            </a:solidFill>
            <a:prstDash val="solid"/>
          </a:ln>
        </p:spPr>
      </p:sp>
      <p:sp>
        <p:nvSpPr>
          <p:cNvPr id="26" name="Text 24"/>
          <p:cNvSpPr/>
          <p:nvPr/>
        </p:nvSpPr>
        <p:spPr>
          <a:xfrm>
            <a:off x="7269480" y="5148072"/>
            <a:ext cx="822960" cy="128016"/>
          </a:xfrm>
          <a:prstGeom prst="rect">
            <a:avLst/>
          </a:prstGeom>
          <a:noFill/>
          <a:ln/>
        </p:spPr>
        <p:txBody>
          <a:bodyPr wrap="square" lIns="254" tIns="254" rIns="254" bIns="254" rtlCol="0" anchor="ctr">
            <a:normAutofit/>
          </a:bodyPr>
          <a:lstStyle/>
          <a:p>
            <a:pPr algn="ctr" indent="0" marL="0">
              <a:buNone/>
            </a:pPr>
            <a:r>
              <a:rPr lang="en-US" sz="650" dirty="0">
                <a:solidFill>
                  <a:srgbClr val="BDBDBD"/>
                </a:solidFill>
              </a:rPr>
              <a:t>Aug</a:t>
            </a:r>
            <a:endParaRPr lang="en-US" sz="650" dirty="0"/>
          </a:p>
        </p:txBody>
      </p:sp>
      <p:sp>
        <p:nvSpPr>
          <p:cNvPr id="27" name="Shape 25"/>
          <p:cNvSpPr/>
          <p:nvPr/>
        </p:nvSpPr>
        <p:spPr>
          <a:xfrm>
            <a:off x="685800" y="2090057"/>
            <a:ext cx="7909560" cy="0"/>
          </a:xfrm>
          <a:prstGeom prst="line">
            <a:avLst/>
          </a:prstGeom>
          <a:noFill/>
          <a:ln w="19050">
            <a:solidFill>
              <a:srgbClr val="F5A000"/>
            </a:solidFill>
            <a:prstDash val="solid"/>
          </a:ln>
        </p:spPr>
      </p:sp>
      <p:sp>
        <p:nvSpPr>
          <p:cNvPr id="28" name="Text 26"/>
          <p:cNvSpPr/>
          <p:nvPr/>
        </p:nvSpPr>
        <p:spPr>
          <a:xfrm>
            <a:off x="7223760" y="1907177"/>
            <a:ext cx="1325880" cy="128016"/>
          </a:xfrm>
          <a:prstGeom prst="rect">
            <a:avLst/>
          </a:prstGeom>
          <a:noFill/>
          <a:ln/>
        </p:spPr>
        <p:txBody>
          <a:bodyPr wrap="square" lIns="254" tIns="254" rIns="254" bIns="254" rtlCol="0" anchor="ctr">
            <a:normAutofit/>
          </a:bodyPr>
          <a:lstStyle/>
          <a:p>
            <a:pPr algn="r" indent="0" marL="0">
              <a:buNone/>
            </a:pPr>
            <a:r>
              <a:rPr lang="en-US" sz="650" dirty="0">
                <a:solidFill>
                  <a:srgbClr val="F5A000"/>
                </a:solidFill>
              </a:rPr>
              <a:t>93% fill-rate target</a:t>
            </a:r>
            <a:endParaRPr lang="en-US" sz="650" dirty="0"/>
          </a:p>
        </p:txBody>
      </p:sp>
      <p:sp>
        <p:nvSpPr>
          <p:cNvPr id="29" name="Shape 27"/>
          <p:cNvSpPr/>
          <p:nvPr/>
        </p:nvSpPr>
        <p:spPr>
          <a:xfrm>
            <a:off x="1344168" y="3469821"/>
            <a:ext cx="1581912" cy="97971"/>
          </a:xfrm>
          <a:prstGeom prst="line">
            <a:avLst/>
          </a:prstGeom>
          <a:noFill/>
          <a:ln w="22860">
            <a:solidFill>
              <a:srgbClr val="E30613"/>
            </a:solidFill>
            <a:prstDash val="solid"/>
          </a:ln>
        </p:spPr>
      </p:sp>
      <p:sp>
        <p:nvSpPr>
          <p:cNvPr id="30" name="Shape 28"/>
          <p:cNvSpPr/>
          <p:nvPr/>
        </p:nvSpPr>
        <p:spPr>
          <a:xfrm>
            <a:off x="2926080" y="3567793"/>
            <a:ext cx="1581912" cy="-238397"/>
          </a:xfrm>
          <a:prstGeom prst="line">
            <a:avLst/>
          </a:prstGeom>
          <a:noFill/>
          <a:ln w="22860">
            <a:solidFill>
              <a:srgbClr val="E30613"/>
            </a:solidFill>
            <a:prstDash val="solid"/>
          </a:ln>
        </p:spPr>
      </p:sp>
      <p:sp>
        <p:nvSpPr>
          <p:cNvPr id="31" name="Shape 29"/>
          <p:cNvSpPr/>
          <p:nvPr/>
        </p:nvSpPr>
        <p:spPr>
          <a:xfrm>
            <a:off x="4507992" y="3329396"/>
            <a:ext cx="1581912" cy="292281"/>
          </a:xfrm>
          <a:prstGeom prst="line">
            <a:avLst/>
          </a:prstGeom>
          <a:noFill/>
          <a:ln w="22860">
            <a:solidFill>
              <a:srgbClr val="E30613"/>
            </a:solidFill>
            <a:prstDash val="solid"/>
          </a:ln>
        </p:spPr>
      </p:sp>
      <p:sp>
        <p:nvSpPr>
          <p:cNvPr id="32" name="Shape 30"/>
          <p:cNvSpPr/>
          <p:nvPr/>
        </p:nvSpPr>
        <p:spPr>
          <a:xfrm>
            <a:off x="6089904" y="3621677"/>
            <a:ext cx="1581912" cy="-289016"/>
          </a:xfrm>
          <a:prstGeom prst="line">
            <a:avLst/>
          </a:prstGeom>
          <a:noFill/>
          <a:ln w="22860">
            <a:solidFill>
              <a:srgbClr val="E30613"/>
            </a:solidFill>
            <a:prstDash val="solid"/>
          </a:ln>
        </p:spPr>
      </p:sp>
      <p:sp>
        <p:nvSpPr>
          <p:cNvPr id="33" name="Shape 31"/>
          <p:cNvSpPr/>
          <p:nvPr/>
        </p:nvSpPr>
        <p:spPr>
          <a:xfrm>
            <a:off x="1303020" y="3428673"/>
            <a:ext cx="82296" cy="82296"/>
          </a:xfrm>
          <a:prstGeom prst="ellipse">
            <a:avLst/>
          </a:prstGeom>
          <a:solidFill>
            <a:srgbClr val="E30613"/>
          </a:solidFill>
          <a:ln w="12700">
            <a:solidFill>
              <a:srgbClr val="E30613"/>
            </a:solidFill>
            <a:prstDash val="solid"/>
          </a:ln>
        </p:spPr>
      </p:sp>
      <p:sp>
        <p:nvSpPr>
          <p:cNvPr id="34" name="Shape 32"/>
          <p:cNvSpPr/>
          <p:nvPr/>
        </p:nvSpPr>
        <p:spPr>
          <a:xfrm>
            <a:off x="2884932" y="3526645"/>
            <a:ext cx="82296" cy="82296"/>
          </a:xfrm>
          <a:prstGeom prst="ellipse">
            <a:avLst/>
          </a:prstGeom>
          <a:solidFill>
            <a:srgbClr val="E30613"/>
          </a:solidFill>
          <a:ln w="12700">
            <a:solidFill>
              <a:srgbClr val="E30613"/>
            </a:solidFill>
            <a:prstDash val="solid"/>
          </a:ln>
        </p:spPr>
      </p:sp>
      <p:sp>
        <p:nvSpPr>
          <p:cNvPr id="35" name="Shape 33"/>
          <p:cNvSpPr/>
          <p:nvPr/>
        </p:nvSpPr>
        <p:spPr>
          <a:xfrm>
            <a:off x="4466844" y="3288248"/>
            <a:ext cx="82296" cy="82296"/>
          </a:xfrm>
          <a:prstGeom prst="ellipse">
            <a:avLst/>
          </a:prstGeom>
          <a:solidFill>
            <a:srgbClr val="E30613"/>
          </a:solidFill>
          <a:ln w="12700">
            <a:solidFill>
              <a:srgbClr val="E30613"/>
            </a:solidFill>
            <a:prstDash val="solid"/>
          </a:ln>
        </p:spPr>
      </p:sp>
      <p:sp>
        <p:nvSpPr>
          <p:cNvPr id="36" name="Shape 34"/>
          <p:cNvSpPr/>
          <p:nvPr/>
        </p:nvSpPr>
        <p:spPr>
          <a:xfrm>
            <a:off x="6048756" y="3580529"/>
            <a:ext cx="82296" cy="82296"/>
          </a:xfrm>
          <a:prstGeom prst="ellipse">
            <a:avLst/>
          </a:prstGeom>
          <a:solidFill>
            <a:srgbClr val="E30613"/>
          </a:solidFill>
          <a:ln w="12700">
            <a:solidFill>
              <a:srgbClr val="E30613"/>
            </a:solidFill>
            <a:prstDash val="solid"/>
          </a:ln>
        </p:spPr>
      </p:sp>
      <p:sp>
        <p:nvSpPr>
          <p:cNvPr id="37" name="Shape 35"/>
          <p:cNvSpPr/>
          <p:nvPr/>
        </p:nvSpPr>
        <p:spPr>
          <a:xfrm>
            <a:off x="7630668" y="3291513"/>
            <a:ext cx="82296" cy="82296"/>
          </a:xfrm>
          <a:prstGeom prst="ellipse">
            <a:avLst/>
          </a:prstGeom>
          <a:solidFill>
            <a:srgbClr val="E30613"/>
          </a:solidFill>
          <a:ln w="12700">
            <a:solidFill>
              <a:srgbClr val="E30613"/>
            </a:solidFill>
            <a:prstDash val="solid"/>
          </a:ln>
        </p:spPr>
      </p:sp>
      <p:sp>
        <p:nvSpPr>
          <p:cNvPr id="38" name="Text 36"/>
          <p:cNvSpPr/>
          <p:nvPr/>
        </p:nvSpPr>
        <p:spPr>
          <a:xfrm>
            <a:off x="731520" y="5230368"/>
            <a:ext cx="4206240" cy="182880"/>
          </a:xfrm>
          <a:prstGeom prst="rect">
            <a:avLst/>
          </a:prstGeom>
          <a:noFill/>
          <a:ln/>
        </p:spPr>
        <p:txBody>
          <a:bodyPr wrap="square" lIns="254" tIns="254" rIns="254" bIns="254" rtlCol="0" anchor="ctr">
            <a:normAutofit/>
          </a:bodyPr>
          <a:lstStyle/>
          <a:p>
            <a:pPr algn="l" indent="0" marL="0">
              <a:buNone/>
            </a:pPr>
            <a:r>
              <a:rPr lang="en-US" sz="720" dirty="0">
                <a:solidFill>
                  <a:srgbClr val="BDBDBD"/>
                </a:solidFill>
              </a:rPr>
              <a:t>Orange bars = MOS / days of stock. Red line = first fill rate.</a:t>
            </a:r>
            <a:endParaRPr lang="en-US" sz="720" dirty="0"/>
          </a:p>
        </p:txBody>
      </p:sp>
      <p:sp>
        <p:nvSpPr>
          <p:cNvPr id="39" name="Text 37"/>
          <p:cNvSpPr/>
          <p:nvPr/>
        </p:nvSpPr>
        <p:spPr>
          <a:xfrm>
            <a:off x="804672" y="5413248"/>
            <a:ext cx="1554480" cy="438912"/>
          </a:xfrm>
          <a:prstGeom prst="rect">
            <a:avLst/>
          </a:prstGeom>
          <a:noFill/>
          <a:ln/>
        </p:spPr>
        <p:txBody>
          <a:bodyPr wrap="square" lIns="0" tIns="0" rIns="0" bIns="0" rtlCol="0" anchor="ctr">
            <a:normAutofit/>
          </a:bodyPr>
          <a:lstStyle/>
          <a:p>
            <a:pPr algn="ctr" indent="0" marL="0">
              <a:buNone/>
            </a:pPr>
            <a:r>
              <a:rPr lang="en-US" sz="2500" b="1" dirty="0">
                <a:solidFill>
                  <a:srgbClr val="F5A000"/>
                </a:solidFill>
              </a:rPr>
              <a:t>67</a:t>
            </a:r>
            <a:endParaRPr lang="en-US" sz="2500" dirty="0"/>
          </a:p>
        </p:txBody>
      </p:sp>
      <p:sp>
        <p:nvSpPr>
          <p:cNvPr id="40" name="Text 38"/>
          <p:cNvSpPr/>
          <p:nvPr/>
        </p:nvSpPr>
        <p:spPr>
          <a:xfrm>
            <a:off x="804672" y="5852160"/>
            <a:ext cx="1554480" cy="274320"/>
          </a:xfrm>
          <a:prstGeom prst="rect">
            <a:avLst/>
          </a:prstGeom>
          <a:noFill/>
          <a:ln/>
        </p:spPr>
        <p:txBody>
          <a:bodyPr wrap="square" lIns="0" tIns="0" rIns="0" bIns="0" rtlCol="0" anchor="ctr">
            <a:normAutofit/>
          </a:bodyPr>
          <a:lstStyle/>
          <a:p>
            <a:pPr algn="ctr" indent="0" marL="0">
              <a:buNone/>
            </a:pPr>
            <a:r>
              <a:rPr lang="en-US" sz="800" dirty="0">
                <a:solidFill>
                  <a:srgbClr val="BDBDBD"/>
                </a:solidFill>
              </a:rPr>
              <a:t>Aug stock days</a:t>
            </a:r>
            <a:endParaRPr lang="en-US" sz="800" dirty="0"/>
          </a:p>
        </p:txBody>
      </p:sp>
      <p:sp>
        <p:nvSpPr>
          <p:cNvPr id="41" name="Text 39"/>
          <p:cNvSpPr/>
          <p:nvPr/>
        </p:nvSpPr>
        <p:spPr>
          <a:xfrm>
            <a:off x="2514600" y="5413248"/>
            <a:ext cx="1554480" cy="438912"/>
          </a:xfrm>
          <a:prstGeom prst="rect">
            <a:avLst/>
          </a:prstGeom>
          <a:noFill/>
          <a:ln/>
        </p:spPr>
        <p:txBody>
          <a:bodyPr wrap="square" lIns="0" tIns="0" rIns="0" bIns="0" rtlCol="0" anchor="ctr">
            <a:normAutofit/>
          </a:bodyPr>
          <a:lstStyle/>
          <a:p>
            <a:pPr algn="ctr" indent="0" marL="0">
              <a:buNone/>
            </a:pPr>
            <a:r>
              <a:rPr lang="en-US" sz="2500" b="1" dirty="0">
                <a:solidFill>
                  <a:srgbClr val="E30613"/>
                </a:solidFill>
              </a:rPr>
              <a:t>85%</a:t>
            </a:r>
            <a:endParaRPr lang="en-US" sz="2500" dirty="0"/>
          </a:p>
        </p:txBody>
      </p:sp>
      <p:sp>
        <p:nvSpPr>
          <p:cNvPr id="42" name="Text 40"/>
          <p:cNvSpPr/>
          <p:nvPr/>
        </p:nvSpPr>
        <p:spPr>
          <a:xfrm>
            <a:off x="2514600" y="5852160"/>
            <a:ext cx="1554480" cy="274320"/>
          </a:xfrm>
          <a:prstGeom prst="rect">
            <a:avLst/>
          </a:prstGeom>
          <a:noFill/>
          <a:ln/>
        </p:spPr>
        <p:txBody>
          <a:bodyPr wrap="square" lIns="0" tIns="0" rIns="0" bIns="0" rtlCol="0" anchor="ctr">
            <a:normAutofit/>
          </a:bodyPr>
          <a:lstStyle/>
          <a:p>
            <a:pPr algn="ctr" indent="0" marL="0">
              <a:buNone/>
            </a:pPr>
            <a:r>
              <a:rPr lang="en-US" sz="800" dirty="0">
                <a:solidFill>
                  <a:srgbClr val="BDBDBD"/>
                </a:solidFill>
              </a:rPr>
              <a:t>Aug fill rate</a:t>
            </a:r>
            <a:endParaRPr lang="en-US" sz="800" dirty="0"/>
          </a:p>
        </p:txBody>
      </p:sp>
      <p:sp>
        <p:nvSpPr>
          <p:cNvPr id="43" name="Shape 41"/>
          <p:cNvSpPr/>
          <p:nvPr/>
        </p:nvSpPr>
        <p:spPr>
          <a:xfrm>
            <a:off x="9015984" y="1335024"/>
            <a:ext cx="2971800" cy="5102352"/>
          </a:xfrm>
          <a:prstGeom prst="roundRect">
            <a:avLst>
              <a:gd name="adj" fmla="val 1846"/>
            </a:avLst>
          </a:prstGeom>
          <a:solidFill>
            <a:srgbClr val="303030"/>
          </a:solidFill>
          <a:ln w="8890">
            <a:solidFill>
              <a:srgbClr val="6E6E6E"/>
            </a:solidFill>
            <a:prstDash val="solid"/>
          </a:ln>
        </p:spPr>
      </p:sp>
      <p:sp>
        <p:nvSpPr>
          <p:cNvPr id="44" name="Text 42"/>
          <p:cNvSpPr/>
          <p:nvPr/>
        </p:nvSpPr>
        <p:spPr>
          <a:xfrm>
            <a:off x="9272016" y="1572768"/>
            <a:ext cx="2468880" cy="182880"/>
          </a:xfrm>
          <a:prstGeom prst="rect">
            <a:avLst/>
          </a:prstGeom>
          <a:noFill/>
          <a:ln/>
        </p:spPr>
        <p:txBody>
          <a:bodyPr wrap="square" rtlCol="0" anchor="ctr">
            <a:normAutofit/>
          </a:bodyPr>
          <a:lstStyle/>
          <a:p>
            <a:pPr indent="0" marL="0">
              <a:buNone/>
            </a:pPr>
            <a:r>
              <a:rPr lang="en-US" sz="750" b="1" dirty="0">
                <a:solidFill>
                  <a:srgbClr val="E30613"/>
                </a:solidFill>
              </a:rPr>
              <a:t>OBSERVATIONS / QUESTIONS</a:t>
            </a:r>
            <a:endParaRPr lang="en-US" sz="750" dirty="0"/>
          </a:p>
        </p:txBody>
      </p:sp>
      <p:sp>
        <p:nvSpPr>
          <p:cNvPr id="45" name="Shape 43"/>
          <p:cNvSpPr/>
          <p:nvPr/>
        </p:nvSpPr>
        <p:spPr>
          <a:xfrm>
            <a:off x="9272016" y="2084832"/>
            <a:ext cx="82296" cy="82296"/>
          </a:xfrm>
          <a:prstGeom prst="ellipse">
            <a:avLst/>
          </a:prstGeom>
          <a:solidFill>
            <a:srgbClr val="E30613"/>
          </a:solidFill>
          <a:ln w="12700">
            <a:solidFill>
              <a:srgbClr val="E30613"/>
            </a:solidFill>
            <a:prstDash val="solid"/>
          </a:ln>
        </p:spPr>
      </p:sp>
      <p:sp>
        <p:nvSpPr>
          <p:cNvPr id="46" name="Text 44"/>
          <p:cNvSpPr/>
          <p:nvPr/>
        </p:nvSpPr>
        <p:spPr>
          <a:xfrm>
            <a:off x="9491472" y="2020824"/>
            <a:ext cx="2221992" cy="512064"/>
          </a:xfrm>
          <a:prstGeom prst="rect">
            <a:avLst/>
          </a:prstGeom>
          <a:noFill/>
          <a:ln/>
        </p:spPr>
        <p:txBody>
          <a:bodyPr wrap="square" lIns="254" tIns="254" rIns="254" bIns="254" rtlCol="0" anchor="t">
            <a:normAutofit/>
          </a:bodyPr>
          <a:lstStyle/>
          <a:p>
            <a:pPr indent="0" marL="0">
              <a:buNone/>
            </a:pPr>
            <a:r>
              <a:rPr lang="en-US" sz="820" dirty="0">
                <a:solidFill>
                  <a:srgbClr val="F2F2F2"/>
                </a:solidFill>
              </a:rPr>
              <a:t>MOS seems low: stock days declined from 88 in April to 67 in August.</a:t>
            </a:r>
            <a:endParaRPr lang="en-US" sz="820" dirty="0"/>
          </a:p>
        </p:txBody>
      </p:sp>
      <p:sp>
        <p:nvSpPr>
          <p:cNvPr id="47" name="Shape 45"/>
          <p:cNvSpPr/>
          <p:nvPr/>
        </p:nvSpPr>
        <p:spPr>
          <a:xfrm>
            <a:off x="9272016" y="3017520"/>
            <a:ext cx="82296" cy="82296"/>
          </a:xfrm>
          <a:prstGeom prst="ellipse">
            <a:avLst/>
          </a:prstGeom>
          <a:solidFill>
            <a:srgbClr val="F5A000"/>
          </a:solidFill>
          <a:ln w="12700">
            <a:solidFill>
              <a:srgbClr val="F5A000"/>
            </a:solidFill>
            <a:prstDash val="solid"/>
          </a:ln>
        </p:spPr>
      </p:sp>
      <p:sp>
        <p:nvSpPr>
          <p:cNvPr id="48" name="Text 46"/>
          <p:cNvSpPr/>
          <p:nvPr/>
        </p:nvSpPr>
        <p:spPr>
          <a:xfrm>
            <a:off x="9491472" y="2953512"/>
            <a:ext cx="2221992" cy="512064"/>
          </a:xfrm>
          <a:prstGeom prst="rect">
            <a:avLst/>
          </a:prstGeom>
          <a:noFill/>
          <a:ln/>
        </p:spPr>
        <p:txBody>
          <a:bodyPr wrap="square" lIns="254" tIns="254" rIns="254" bIns="254" rtlCol="0" anchor="t">
            <a:normAutofit/>
          </a:bodyPr>
          <a:lstStyle/>
          <a:p>
            <a:pPr indent="0" marL="0">
              <a:buNone/>
            </a:pPr>
            <a:r>
              <a:rPr lang="en-US" sz="820" dirty="0">
                <a:solidFill>
                  <a:srgbClr val="F2F2F2"/>
                </a:solidFill>
              </a:rPr>
              <a:t>Fill rate did not improve while inventory became leaner. That is the core operational risk.</a:t>
            </a:r>
            <a:endParaRPr lang="en-US" sz="820" dirty="0"/>
          </a:p>
        </p:txBody>
      </p:sp>
      <p:sp>
        <p:nvSpPr>
          <p:cNvPr id="49" name="Shape 47"/>
          <p:cNvSpPr/>
          <p:nvPr/>
        </p:nvSpPr>
        <p:spPr>
          <a:xfrm>
            <a:off x="9272016" y="3950208"/>
            <a:ext cx="82296" cy="82296"/>
          </a:xfrm>
          <a:prstGeom prst="ellipse">
            <a:avLst/>
          </a:prstGeom>
          <a:solidFill>
            <a:srgbClr val="F5A000"/>
          </a:solidFill>
          <a:ln w="12700">
            <a:solidFill>
              <a:srgbClr val="F5A000"/>
            </a:solidFill>
            <a:prstDash val="solid"/>
          </a:ln>
        </p:spPr>
      </p:sp>
      <p:sp>
        <p:nvSpPr>
          <p:cNvPr id="50" name="Text 48"/>
          <p:cNvSpPr/>
          <p:nvPr/>
        </p:nvSpPr>
        <p:spPr>
          <a:xfrm>
            <a:off x="9491472" y="3886200"/>
            <a:ext cx="2221992" cy="512064"/>
          </a:xfrm>
          <a:prstGeom prst="rect">
            <a:avLst/>
          </a:prstGeom>
          <a:noFill/>
          <a:ln/>
        </p:spPr>
        <p:txBody>
          <a:bodyPr wrap="square" lIns="254" tIns="254" rIns="254" bIns="254" rtlCol="0" anchor="t">
            <a:normAutofit/>
          </a:bodyPr>
          <a:lstStyle/>
          <a:p>
            <a:pPr indent="0" marL="0">
              <a:buNone/>
            </a:pPr>
            <a:r>
              <a:rPr lang="en-US" sz="820" dirty="0">
                <a:solidFill>
                  <a:srgbClr val="F2F2F2"/>
                </a:solidFill>
              </a:rPr>
              <a:t>Question for I Motors: your stock inventory is very low; are you not afraid this will impact your fill rate?</a:t>
            </a:r>
            <a:endParaRPr lang="en-US" sz="820" dirty="0"/>
          </a:p>
        </p:txBody>
      </p:sp>
      <p:sp>
        <p:nvSpPr>
          <p:cNvPr id="51" name="Shape 49"/>
          <p:cNvSpPr/>
          <p:nvPr/>
        </p:nvSpPr>
        <p:spPr>
          <a:xfrm>
            <a:off x="9272016" y="4882896"/>
            <a:ext cx="82296" cy="82296"/>
          </a:xfrm>
          <a:prstGeom prst="ellipse">
            <a:avLst/>
          </a:prstGeom>
          <a:solidFill>
            <a:srgbClr val="F5A000"/>
          </a:solidFill>
          <a:ln w="12700">
            <a:solidFill>
              <a:srgbClr val="F5A000"/>
            </a:solidFill>
            <a:prstDash val="solid"/>
          </a:ln>
        </p:spPr>
      </p:sp>
      <p:sp>
        <p:nvSpPr>
          <p:cNvPr id="52" name="Text 50"/>
          <p:cNvSpPr/>
          <p:nvPr/>
        </p:nvSpPr>
        <p:spPr>
          <a:xfrm>
            <a:off x="9491472" y="4818888"/>
            <a:ext cx="2221992" cy="512064"/>
          </a:xfrm>
          <a:prstGeom prst="rect">
            <a:avLst/>
          </a:prstGeom>
          <a:noFill/>
          <a:ln/>
        </p:spPr>
        <p:txBody>
          <a:bodyPr wrap="square" lIns="254" tIns="254" rIns="254" bIns="254" rtlCol="0" anchor="t">
            <a:normAutofit/>
          </a:bodyPr>
          <a:lstStyle/>
          <a:p>
            <a:pPr indent="0" marL="0">
              <a:buNone/>
            </a:pPr>
            <a:r>
              <a:rPr lang="en-US" sz="820" dirty="0">
                <a:solidFill>
                  <a:srgbClr val="F2F2F2"/>
                </a:solidFill>
              </a:rPr>
              <a:t>Ask for the stock list behind the top missed service parts, not only the aggregate MOS number.</a:t>
            </a:r>
            <a:endParaRPr lang="en-US" sz="820" dirty="0"/>
          </a:p>
        </p:txBody>
      </p:sp>
      <p:cxnSp>
        <p:nvCxnSpPr>
          <p:cNvPr id="53" name="Connector 52"/>
          <p:cNvCxnSpPr/>
          <p:nvPr/>
        </p:nvCxnSpPr>
        <p:spPr>
          <a:xfrm>
            <a:off x="1344168" y="3469821"/>
            <a:ext cx="1581912" cy="97971"/>
          </a:xfrm>
          <a:prstGeom prst="line">
            <a:avLst/>
          </a:prstGeom>
          <a:ln w="26670">
            <a:solidFill>
              <a:srgbClr val="E30613"/>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2926080" y="3329395"/>
            <a:ext cx="1581912" cy="238397"/>
          </a:xfrm>
          <a:prstGeom prst="line">
            <a:avLst/>
          </a:prstGeom>
          <a:ln w="26670">
            <a:solidFill>
              <a:srgbClr val="E30613"/>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4507992" y="3329395"/>
            <a:ext cx="1581911" cy="292282"/>
          </a:xfrm>
          <a:prstGeom prst="line">
            <a:avLst/>
          </a:prstGeom>
          <a:ln w="26670">
            <a:solidFill>
              <a:srgbClr val="E30613"/>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6089903" y="3332661"/>
            <a:ext cx="1581913" cy="289016"/>
          </a:xfrm>
          <a:prstGeom prst="line">
            <a:avLst/>
          </a:prstGeom>
          <a:ln w="26670">
            <a:solidFill>
              <a:srgbClr val="E30613"/>
            </a:solidFill>
          </a:ln>
        </p:spPr>
        <p:style>
          <a:lnRef idx="2">
            <a:schemeClr val="accent1"/>
          </a:lnRef>
          <a:fillRef idx="0">
            <a:schemeClr val="accent1"/>
          </a:fillRef>
          <a:effectRef idx="1">
            <a:schemeClr val="accent1"/>
          </a:effectRef>
          <a:fontRef idx="minor">
            <a:schemeClr val="tx1"/>
          </a:fontRef>
        </p:style>
      </p:cxnSp>
      <p:sp>
        <p:nvSpPr>
          <p:cNvPr id="57" name="Oval 56"/>
          <p:cNvSpPr/>
          <p:nvPr/>
        </p:nvSpPr>
        <p:spPr>
          <a:xfrm>
            <a:off x="1296619" y="3422272"/>
            <a:ext cx="95097" cy="95097"/>
          </a:xfrm>
          <a:prstGeom prst="ellipse">
            <a:avLst/>
          </a:prstGeom>
          <a:solidFill>
            <a:srgbClr val="E30613"/>
          </a:solidFill>
          <a:ln w="6350">
            <a:solidFill>
              <a:srgbClr val="E306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2878531" y="3520244"/>
            <a:ext cx="95097" cy="95097"/>
          </a:xfrm>
          <a:prstGeom prst="ellipse">
            <a:avLst/>
          </a:prstGeom>
          <a:solidFill>
            <a:srgbClr val="E30613"/>
          </a:solidFill>
          <a:ln w="6350">
            <a:solidFill>
              <a:srgbClr val="E306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4460443" y="3281846"/>
            <a:ext cx="95097" cy="95097"/>
          </a:xfrm>
          <a:prstGeom prst="ellipse">
            <a:avLst/>
          </a:prstGeom>
          <a:solidFill>
            <a:srgbClr val="E30613"/>
          </a:solidFill>
          <a:ln w="6350">
            <a:solidFill>
              <a:srgbClr val="E306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6042355" y="3574128"/>
            <a:ext cx="95097" cy="95097"/>
          </a:xfrm>
          <a:prstGeom prst="ellipse">
            <a:avLst/>
          </a:prstGeom>
          <a:solidFill>
            <a:srgbClr val="E30613"/>
          </a:solidFill>
          <a:ln w="6350">
            <a:solidFill>
              <a:srgbClr val="E306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7624267" y="3285112"/>
            <a:ext cx="95097" cy="95097"/>
          </a:xfrm>
          <a:prstGeom prst="ellipse">
            <a:avLst/>
          </a:prstGeom>
          <a:solidFill>
            <a:srgbClr val="E30613"/>
          </a:solidFill>
          <a:ln w="6350">
            <a:solidFill>
              <a:srgbClr val="E306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62626"/>
        </a:solidFill>
      </p:bgPr>
    </p:bg>
    <p:spTree>
      <p:nvGrpSpPr>
        <p:cNvPr id="1" name=""/>
        <p:cNvGrpSpPr/>
        <p:nvPr/>
      </p:nvGrpSpPr>
      <p:grpSpPr>
        <a:xfrm>
          <a:off x="0" y="0"/>
          <a:ext cx="0" cy="0"/>
          <a:chOff x="0" y="0"/>
          <a:chExt cx="0" cy="0"/>
        </a:xfrm>
      </p:grpSpPr>
      <p:sp>
        <p:nvSpPr>
          <p:cNvPr id="2" name="Text 0"/>
          <p:cNvSpPr/>
          <p:nvPr/>
        </p:nvSpPr>
        <p:spPr>
          <a:xfrm>
            <a:off x="228600" y="91440"/>
            <a:ext cx="3474720" cy="164592"/>
          </a:xfrm>
          <a:prstGeom prst="rect">
            <a:avLst/>
          </a:prstGeom>
          <a:noFill/>
          <a:ln/>
        </p:spPr>
        <p:txBody>
          <a:bodyPr wrap="square" rtlCol="0" anchor="ctr">
            <a:normAutofit/>
          </a:bodyPr>
          <a:lstStyle/>
          <a:p>
            <a:pPr indent="0" marL="0">
              <a:buNone/>
            </a:pPr>
            <a:r>
              <a:rPr lang="en-US" sz="660" b="1" dirty="0">
                <a:solidFill>
                  <a:srgbClr val="F2F2F2"/>
                </a:solidFill>
                <a:latin typeface="Aptos" pitchFamily="34" charset="0"/>
                <a:ea typeface="Aptos" pitchFamily="34" charset="-122"/>
                <a:cs typeface="Aptos" pitchFamily="34" charset="-120"/>
              </a:rPr>
              <a:t>ISZE  ·  VEHICLE PARTS &amp; ACCESSORIES</a:t>
            </a:r>
            <a:endParaRPr lang="en-US" sz="660" dirty="0"/>
          </a:p>
        </p:txBody>
      </p:sp>
      <p:sp>
        <p:nvSpPr>
          <p:cNvPr id="3" name="Shape 1"/>
          <p:cNvSpPr/>
          <p:nvPr/>
        </p:nvSpPr>
        <p:spPr>
          <a:xfrm>
            <a:off x="228600" y="6629400"/>
            <a:ext cx="11750040" cy="0"/>
          </a:xfrm>
          <a:prstGeom prst="line">
            <a:avLst/>
          </a:prstGeom>
          <a:noFill/>
          <a:ln w="6350">
            <a:solidFill>
              <a:srgbClr val="575757"/>
            </a:solidFill>
            <a:prstDash val="solid"/>
          </a:ln>
        </p:spPr>
      </p:sp>
      <p:sp>
        <p:nvSpPr>
          <p:cNvPr id="4" name="Text 2"/>
          <p:cNvSpPr/>
          <p:nvPr/>
        </p:nvSpPr>
        <p:spPr>
          <a:xfrm>
            <a:off x="228600" y="393192"/>
            <a:ext cx="4114800" cy="201168"/>
          </a:xfrm>
          <a:prstGeom prst="rect">
            <a:avLst/>
          </a:prstGeom>
          <a:noFill/>
          <a:ln/>
        </p:spPr>
        <p:txBody>
          <a:bodyPr wrap="square" rtlCol="0" anchor="ctr">
            <a:normAutofit/>
          </a:bodyPr>
          <a:lstStyle/>
          <a:p>
            <a:pPr indent="0" marL="0">
              <a:buNone/>
            </a:pPr>
            <a:r>
              <a:rPr lang="en-US" sz="750" b="1" dirty="0">
                <a:solidFill>
                  <a:srgbClr val="E30613"/>
                </a:solidFill>
              </a:rPr>
              <a:t>BACK ORDERS</a:t>
            </a:r>
            <a:endParaRPr lang="en-US" sz="750" dirty="0"/>
          </a:p>
        </p:txBody>
      </p:sp>
      <p:sp>
        <p:nvSpPr>
          <p:cNvPr id="5" name="Text 3"/>
          <p:cNvSpPr/>
          <p:nvPr/>
        </p:nvSpPr>
        <p:spPr>
          <a:xfrm>
            <a:off x="228600" y="713232"/>
            <a:ext cx="9052560" cy="438912"/>
          </a:xfrm>
          <a:prstGeom prst="rect">
            <a:avLst/>
          </a:prstGeom>
          <a:noFill/>
          <a:ln/>
        </p:spPr>
        <p:txBody>
          <a:bodyPr wrap="square" lIns="0" tIns="0" rIns="0" bIns="0" rtlCol="0" anchor="ctr">
            <a:normAutofit/>
          </a:bodyPr>
          <a:lstStyle/>
          <a:p>
            <a:pPr indent="0" marL="0">
              <a:buNone/>
            </a:pPr>
            <a:r>
              <a:rPr lang="en-US" sz="2250" b="1" dirty="0">
                <a:solidFill>
                  <a:srgbClr val="F2F2F2"/>
                </a:solidFill>
              </a:rPr>
              <a:t>Back-order lines improved from May but are not enough to explain the fill-rate gap alone</a:t>
            </a:r>
            <a:endParaRPr lang="en-US" sz="2250" dirty="0"/>
          </a:p>
        </p:txBody>
      </p:sp>
      <p:sp>
        <p:nvSpPr>
          <p:cNvPr id="6" name="Text 4"/>
          <p:cNvSpPr/>
          <p:nvPr/>
        </p:nvSpPr>
        <p:spPr>
          <a:xfrm>
            <a:off x="228600" y="1188720"/>
            <a:ext cx="8046720" cy="219456"/>
          </a:xfrm>
          <a:prstGeom prst="rect">
            <a:avLst/>
          </a:prstGeom>
          <a:noFill/>
          <a:ln/>
        </p:spPr>
        <p:txBody>
          <a:bodyPr wrap="square" lIns="0" tIns="0" rIns="0" bIns="0" rtlCol="0" anchor="ctr">
            <a:normAutofit/>
          </a:bodyPr>
          <a:lstStyle/>
          <a:p>
            <a:pPr indent="0" marL="0">
              <a:buNone/>
            </a:pPr>
            <a:r>
              <a:rPr lang="en-US" sz="850" dirty="0">
                <a:solidFill>
                  <a:srgbClr val="BDBDBD"/>
                </a:solidFill>
              </a:rPr>
              <a:t>I Motors | Apr-Aug 2026 | back-order lines and first fill rate</a:t>
            </a:r>
            <a:endParaRPr lang="en-US" sz="850" dirty="0"/>
          </a:p>
        </p:txBody>
      </p:sp>
      <p:sp>
        <p:nvSpPr>
          <p:cNvPr id="7" name="Shape 5"/>
          <p:cNvSpPr/>
          <p:nvPr/>
        </p:nvSpPr>
        <p:spPr>
          <a:xfrm>
            <a:off x="685800" y="5120640"/>
            <a:ext cx="7909560" cy="0"/>
          </a:xfrm>
          <a:prstGeom prst="line">
            <a:avLst/>
          </a:prstGeom>
          <a:noFill/>
          <a:ln w="5080">
            <a:solidFill>
              <a:srgbClr val="4D4D4D">
                <a:alpha val="80000"/>
              </a:srgbClr>
            </a:solidFill>
            <a:prstDash val="solid"/>
          </a:ln>
        </p:spPr>
      </p:sp>
      <p:sp>
        <p:nvSpPr>
          <p:cNvPr id="8" name="Text 6"/>
          <p:cNvSpPr/>
          <p:nvPr/>
        </p:nvSpPr>
        <p:spPr>
          <a:xfrm>
            <a:off x="384048" y="5065776"/>
            <a:ext cx="237744" cy="109728"/>
          </a:xfrm>
          <a:prstGeom prst="rect">
            <a:avLst/>
          </a:prstGeom>
          <a:noFill/>
          <a:ln/>
        </p:spPr>
        <p:txBody>
          <a:bodyPr wrap="square" lIns="254" tIns="254" rIns="254" bIns="254" rtlCol="0" anchor="ctr">
            <a:normAutofit/>
          </a:bodyPr>
          <a:lstStyle/>
          <a:p>
            <a:pPr algn="r" indent="0" marL="0">
              <a:buNone/>
            </a:pPr>
            <a:r>
              <a:rPr lang="en-US" sz="650" dirty="0">
                <a:solidFill>
                  <a:srgbClr val="BDBDBD"/>
                </a:solidFill>
              </a:rPr>
              <a:t>0</a:t>
            </a:r>
            <a:endParaRPr lang="en-US" sz="650" dirty="0"/>
          </a:p>
        </p:txBody>
      </p:sp>
      <p:sp>
        <p:nvSpPr>
          <p:cNvPr id="9" name="Shape 7"/>
          <p:cNvSpPr/>
          <p:nvPr/>
        </p:nvSpPr>
        <p:spPr>
          <a:xfrm>
            <a:off x="685800" y="4217670"/>
            <a:ext cx="7909560" cy="0"/>
          </a:xfrm>
          <a:prstGeom prst="line">
            <a:avLst/>
          </a:prstGeom>
          <a:noFill/>
          <a:ln w="5080">
            <a:solidFill>
              <a:srgbClr val="4D4D4D">
                <a:alpha val="80000"/>
              </a:srgbClr>
            </a:solidFill>
            <a:prstDash val="solid"/>
          </a:ln>
        </p:spPr>
      </p:sp>
      <p:sp>
        <p:nvSpPr>
          <p:cNvPr id="10" name="Text 8"/>
          <p:cNvSpPr/>
          <p:nvPr/>
        </p:nvSpPr>
        <p:spPr>
          <a:xfrm>
            <a:off x="384048" y="4162806"/>
            <a:ext cx="237744" cy="109728"/>
          </a:xfrm>
          <a:prstGeom prst="rect">
            <a:avLst/>
          </a:prstGeom>
          <a:noFill/>
          <a:ln/>
        </p:spPr>
        <p:txBody>
          <a:bodyPr wrap="square" lIns="254" tIns="254" rIns="254" bIns="254" rtlCol="0" anchor="ctr">
            <a:normAutofit/>
          </a:bodyPr>
          <a:lstStyle/>
          <a:p>
            <a:pPr algn="r" indent="0" marL="0">
              <a:buNone/>
            </a:pPr>
            <a:r>
              <a:rPr lang="en-US" sz="650" dirty="0">
                <a:solidFill>
                  <a:srgbClr val="BDBDBD"/>
                </a:solidFill>
              </a:rPr>
              <a:t>138</a:t>
            </a:r>
            <a:endParaRPr lang="en-US" sz="650" dirty="0"/>
          </a:p>
        </p:txBody>
      </p:sp>
      <p:sp>
        <p:nvSpPr>
          <p:cNvPr id="11" name="Shape 9"/>
          <p:cNvSpPr/>
          <p:nvPr/>
        </p:nvSpPr>
        <p:spPr>
          <a:xfrm>
            <a:off x="685800" y="3314700"/>
            <a:ext cx="7909560" cy="0"/>
          </a:xfrm>
          <a:prstGeom prst="line">
            <a:avLst/>
          </a:prstGeom>
          <a:noFill/>
          <a:ln w="5080">
            <a:solidFill>
              <a:srgbClr val="4D4D4D">
                <a:alpha val="80000"/>
              </a:srgbClr>
            </a:solidFill>
            <a:prstDash val="solid"/>
          </a:ln>
        </p:spPr>
      </p:sp>
      <p:sp>
        <p:nvSpPr>
          <p:cNvPr id="12" name="Text 10"/>
          <p:cNvSpPr/>
          <p:nvPr/>
        </p:nvSpPr>
        <p:spPr>
          <a:xfrm>
            <a:off x="384048" y="3259836"/>
            <a:ext cx="237744" cy="109728"/>
          </a:xfrm>
          <a:prstGeom prst="rect">
            <a:avLst/>
          </a:prstGeom>
          <a:noFill/>
          <a:ln/>
        </p:spPr>
        <p:txBody>
          <a:bodyPr wrap="square" lIns="254" tIns="254" rIns="254" bIns="254" rtlCol="0" anchor="ctr">
            <a:normAutofit/>
          </a:bodyPr>
          <a:lstStyle/>
          <a:p>
            <a:pPr algn="r" indent="0" marL="0">
              <a:buNone/>
            </a:pPr>
            <a:r>
              <a:rPr lang="en-US" sz="650" dirty="0">
                <a:solidFill>
                  <a:srgbClr val="BDBDBD"/>
                </a:solidFill>
              </a:rPr>
              <a:t>275</a:t>
            </a:r>
            <a:endParaRPr lang="en-US" sz="650" dirty="0"/>
          </a:p>
        </p:txBody>
      </p:sp>
      <p:sp>
        <p:nvSpPr>
          <p:cNvPr id="13" name="Shape 11"/>
          <p:cNvSpPr/>
          <p:nvPr/>
        </p:nvSpPr>
        <p:spPr>
          <a:xfrm>
            <a:off x="685800" y="2411730"/>
            <a:ext cx="7909560" cy="0"/>
          </a:xfrm>
          <a:prstGeom prst="line">
            <a:avLst/>
          </a:prstGeom>
          <a:noFill/>
          <a:ln w="5080">
            <a:solidFill>
              <a:srgbClr val="4D4D4D">
                <a:alpha val="80000"/>
              </a:srgbClr>
            </a:solidFill>
            <a:prstDash val="solid"/>
          </a:ln>
        </p:spPr>
      </p:sp>
      <p:sp>
        <p:nvSpPr>
          <p:cNvPr id="14" name="Text 12"/>
          <p:cNvSpPr/>
          <p:nvPr/>
        </p:nvSpPr>
        <p:spPr>
          <a:xfrm>
            <a:off x="384048" y="2356866"/>
            <a:ext cx="237744" cy="109728"/>
          </a:xfrm>
          <a:prstGeom prst="rect">
            <a:avLst/>
          </a:prstGeom>
          <a:noFill/>
          <a:ln/>
        </p:spPr>
        <p:txBody>
          <a:bodyPr wrap="square" lIns="254" tIns="254" rIns="254" bIns="254" rtlCol="0" anchor="ctr">
            <a:normAutofit/>
          </a:bodyPr>
          <a:lstStyle/>
          <a:p>
            <a:pPr algn="r" indent="0" marL="0">
              <a:buNone/>
            </a:pPr>
            <a:r>
              <a:rPr lang="en-US" sz="650" dirty="0">
                <a:solidFill>
                  <a:srgbClr val="BDBDBD"/>
                </a:solidFill>
              </a:rPr>
              <a:t>413</a:t>
            </a:r>
            <a:endParaRPr lang="en-US" sz="650" dirty="0"/>
          </a:p>
        </p:txBody>
      </p:sp>
      <p:sp>
        <p:nvSpPr>
          <p:cNvPr id="15" name="Shape 13"/>
          <p:cNvSpPr/>
          <p:nvPr/>
        </p:nvSpPr>
        <p:spPr>
          <a:xfrm>
            <a:off x="685800" y="1508760"/>
            <a:ext cx="7909560" cy="0"/>
          </a:xfrm>
          <a:prstGeom prst="line">
            <a:avLst/>
          </a:prstGeom>
          <a:noFill/>
          <a:ln w="5080">
            <a:solidFill>
              <a:srgbClr val="4D4D4D">
                <a:alpha val="80000"/>
              </a:srgbClr>
            </a:solidFill>
            <a:prstDash val="solid"/>
          </a:ln>
        </p:spPr>
      </p:sp>
      <p:sp>
        <p:nvSpPr>
          <p:cNvPr id="16" name="Text 14"/>
          <p:cNvSpPr/>
          <p:nvPr/>
        </p:nvSpPr>
        <p:spPr>
          <a:xfrm>
            <a:off x="384048" y="1453896"/>
            <a:ext cx="237744" cy="109728"/>
          </a:xfrm>
          <a:prstGeom prst="rect">
            <a:avLst/>
          </a:prstGeom>
          <a:noFill/>
          <a:ln/>
        </p:spPr>
        <p:txBody>
          <a:bodyPr wrap="square" lIns="254" tIns="254" rIns="254" bIns="254" rtlCol="0" anchor="ctr">
            <a:normAutofit/>
          </a:bodyPr>
          <a:lstStyle/>
          <a:p>
            <a:pPr algn="r" indent="0" marL="0">
              <a:buNone/>
            </a:pPr>
            <a:r>
              <a:rPr lang="en-US" sz="650" dirty="0">
                <a:solidFill>
                  <a:srgbClr val="BDBDBD"/>
                </a:solidFill>
              </a:rPr>
              <a:t>550</a:t>
            </a:r>
            <a:endParaRPr lang="en-US" sz="650" dirty="0"/>
          </a:p>
        </p:txBody>
      </p:sp>
      <p:sp>
        <p:nvSpPr>
          <p:cNvPr id="17" name="Shape 15"/>
          <p:cNvSpPr/>
          <p:nvPr/>
        </p:nvSpPr>
        <p:spPr>
          <a:xfrm>
            <a:off x="795528" y="2296807"/>
            <a:ext cx="1298448" cy="2823833"/>
          </a:xfrm>
          <a:prstGeom prst="rect">
            <a:avLst/>
          </a:prstGeom>
          <a:solidFill>
            <a:srgbClr val="F5A000"/>
          </a:solidFill>
          <a:ln w="12700">
            <a:solidFill>
              <a:srgbClr val="F5A000"/>
            </a:solidFill>
            <a:prstDash val="solid"/>
          </a:ln>
        </p:spPr>
      </p:sp>
      <p:sp>
        <p:nvSpPr>
          <p:cNvPr id="18" name="Text 16"/>
          <p:cNvSpPr/>
          <p:nvPr/>
        </p:nvSpPr>
        <p:spPr>
          <a:xfrm>
            <a:off x="777240" y="5266944"/>
            <a:ext cx="1472184" cy="137160"/>
          </a:xfrm>
          <a:prstGeom prst="rect">
            <a:avLst/>
          </a:prstGeom>
          <a:noFill/>
          <a:ln/>
        </p:spPr>
        <p:txBody>
          <a:bodyPr wrap="square" lIns="254" tIns="254" rIns="254" bIns="254" rtlCol="0" anchor="ctr">
            <a:normAutofit/>
          </a:bodyPr>
          <a:lstStyle/>
          <a:p>
            <a:pPr algn="ctr" indent="0" marL="0">
              <a:buNone/>
            </a:pPr>
            <a:r>
              <a:rPr lang="en-US" sz="700" dirty="0">
                <a:solidFill>
                  <a:srgbClr val="BDBDBD"/>
                </a:solidFill>
              </a:rPr>
              <a:t>Apr</a:t>
            </a:r>
            <a:endParaRPr lang="en-US" sz="700" dirty="0"/>
          </a:p>
        </p:txBody>
      </p:sp>
      <p:sp>
        <p:nvSpPr>
          <p:cNvPr id="19" name="Shape 17"/>
          <p:cNvSpPr/>
          <p:nvPr/>
        </p:nvSpPr>
        <p:spPr>
          <a:xfrm>
            <a:off x="2377440" y="1922484"/>
            <a:ext cx="1298448" cy="3198156"/>
          </a:xfrm>
          <a:prstGeom prst="rect">
            <a:avLst/>
          </a:prstGeom>
          <a:solidFill>
            <a:srgbClr val="F5A000"/>
          </a:solidFill>
          <a:ln w="12700">
            <a:solidFill>
              <a:srgbClr val="F5A000"/>
            </a:solidFill>
            <a:prstDash val="solid"/>
          </a:ln>
        </p:spPr>
      </p:sp>
      <p:sp>
        <p:nvSpPr>
          <p:cNvPr id="20" name="Text 18"/>
          <p:cNvSpPr/>
          <p:nvPr/>
        </p:nvSpPr>
        <p:spPr>
          <a:xfrm>
            <a:off x="2359152" y="5266944"/>
            <a:ext cx="1472184" cy="137160"/>
          </a:xfrm>
          <a:prstGeom prst="rect">
            <a:avLst/>
          </a:prstGeom>
          <a:noFill/>
          <a:ln/>
        </p:spPr>
        <p:txBody>
          <a:bodyPr wrap="square" lIns="254" tIns="254" rIns="254" bIns="254" rtlCol="0" anchor="ctr">
            <a:normAutofit/>
          </a:bodyPr>
          <a:lstStyle/>
          <a:p>
            <a:pPr algn="ctr" indent="0" marL="0">
              <a:buNone/>
            </a:pPr>
            <a:r>
              <a:rPr lang="en-US" sz="700" dirty="0">
                <a:solidFill>
                  <a:srgbClr val="BDBDBD"/>
                </a:solidFill>
              </a:rPr>
              <a:t>May</a:t>
            </a:r>
            <a:endParaRPr lang="en-US" sz="700" dirty="0"/>
          </a:p>
        </p:txBody>
      </p:sp>
      <p:sp>
        <p:nvSpPr>
          <p:cNvPr id="21" name="Shape 19"/>
          <p:cNvSpPr/>
          <p:nvPr/>
        </p:nvSpPr>
        <p:spPr>
          <a:xfrm>
            <a:off x="3959352" y="2592324"/>
            <a:ext cx="1298448" cy="2528316"/>
          </a:xfrm>
          <a:prstGeom prst="rect">
            <a:avLst/>
          </a:prstGeom>
          <a:solidFill>
            <a:srgbClr val="F5A000"/>
          </a:solidFill>
          <a:ln w="12700">
            <a:solidFill>
              <a:srgbClr val="F5A000"/>
            </a:solidFill>
            <a:prstDash val="solid"/>
          </a:ln>
        </p:spPr>
      </p:sp>
      <p:sp>
        <p:nvSpPr>
          <p:cNvPr id="22" name="Text 20"/>
          <p:cNvSpPr/>
          <p:nvPr/>
        </p:nvSpPr>
        <p:spPr>
          <a:xfrm>
            <a:off x="3941064" y="5266944"/>
            <a:ext cx="1472184" cy="137160"/>
          </a:xfrm>
          <a:prstGeom prst="rect">
            <a:avLst/>
          </a:prstGeom>
          <a:noFill/>
          <a:ln/>
        </p:spPr>
        <p:txBody>
          <a:bodyPr wrap="square" lIns="254" tIns="254" rIns="254" bIns="254" rtlCol="0" anchor="ctr">
            <a:normAutofit/>
          </a:bodyPr>
          <a:lstStyle/>
          <a:p>
            <a:pPr algn="ctr" indent="0" marL="0">
              <a:buNone/>
            </a:pPr>
            <a:r>
              <a:rPr lang="en-US" sz="700" dirty="0">
                <a:solidFill>
                  <a:srgbClr val="BDBDBD"/>
                </a:solidFill>
              </a:rPr>
              <a:t>Jun</a:t>
            </a:r>
            <a:endParaRPr lang="en-US" sz="700" dirty="0"/>
          </a:p>
        </p:txBody>
      </p:sp>
      <p:sp>
        <p:nvSpPr>
          <p:cNvPr id="23" name="Shape 21"/>
          <p:cNvSpPr/>
          <p:nvPr/>
        </p:nvSpPr>
        <p:spPr>
          <a:xfrm>
            <a:off x="5541264" y="3288432"/>
            <a:ext cx="1298448" cy="1832208"/>
          </a:xfrm>
          <a:prstGeom prst="rect">
            <a:avLst/>
          </a:prstGeom>
          <a:solidFill>
            <a:srgbClr val="F5A000"/>
          </a:solidFill>
          <a:ln w="12700">
            <a:solidFill>
              <a:srgbClr val="F5A000"/>
            </a:solidFill>
            <a:prstDash val="solid"/>
          </a:ln>
        </p:spPr>
      </p:sp>
      <p:sp>
        <p:nvSpPr>
          <p:cNvPr id="24" name="Text 22"/>
          <p:cNvSpPr/>
          <p:nvPr/>
        </p:nvSpPr>
        <p:spPr>
          <a:xfrm>
            <a:off x="5522976" y="5266944"/>
            <a:ext cx="1472184" cy="137160"/>
          </a:xfrm>
          <a:prstGeom prst="rect">
            <a:avLst/>
          </a:prstGeom>
          <a:noFill/>
          <a:ln/>
        </p:spPr>
        <p:txBody>
          <a:bodyPr wrap="square" lIns="254" tIns="254" rIns="254" bIns="254" rtlCol="0" anchor="ctr">
            <a:normAutofit/>
          </a:bodyPr>
          <a:lstStyle/>
          <a:p>
            <a:pPr algn="ctr" indent="0" marL="0">
              <a:buNone/>
            </a:pPr>
            <a:r>
              <a:rPr lang="en-US" sz="700" dirty="0">
                <a:solidFill>
                  <a:srgbClr val="BDBDBD"/>
                </a:solidFill>
              </a:rPr>
              <a:t>Jul</a:t>
            </a:r>
            <a:endParaRPr lang="en-US" sz="700" dirty="0"/>
          </a:p>
        </p:txBody>
      </p:sp>
      <p:sp>
        <p:nvSpPr>
          <p:cNvPr id="25" name="Shape 23"/>
          <p:cNvSpPr/>
          <p:nvPr/>
        </p:nvSpPr>
        <p:spPr>
          <a:xfrm>
            <a:off x="7123176" y="3268731"/>
            <a:ext cx="1298448" cy="1851909"/>
          </a:xfrm>
          <a:prstGeom prst="rect">
            <a:avLst/>
          </a:prstGeom>
          <a:solidFill>
            <a:srgbClr val="F5A000"/>
          </a:solidFill>
          <a:ln w="12700">
            <a:solidFill>
              <a:srgbClr val="F5A000"/>
            </a:solidFill>
            <a:prstDash val="solid"/>
          </a:ln>
        </p:spPr>
      </p:sp>
      <p:sp>
        <p:nvSpPr>
          <p:cNvPr id="26" name="Text 24"/>
          <p:cNvSpPr/>
          <p:nvPr/>
        </p:nvSpPr>
        <p:spPr>
          <a:xfrm>
            <a:off x="7104888" y="5266944"/>
            <a:ext cx="1472184" cy="137160"/>
          </a:xfrm>
          <a:prstGeom prst="rect">
            <a:avLst/>
          </a:prstGeom>
          <a:noFill/>
          <a:ln/>
        </p:spPr>
        <p:txBody>
          <a:bodyPr wrap="square" lIns="254" tIns="254" rIns="254" bIns="254" rtlCol="0" anchor="ctr">
            <a:normAutofit/>
          </a:bodyPr>
          <a:lstStyle/>
          <a:p>
            <a:pPr algn="ctr" indent="0" marL="0">
              <a:buNone/>
            </a:pPr>
            <a:r>
              <a:rPr lang="en-US" sz="700" dirty="0">
                <a:solidFill>
                  <a:srgbClr val="BDBDBD"/>
                </a:solidFill>
              </a:rPr>
              <a:t>Aug</a:t>
            </a:r>
            <a:endParaRPr lang="en-US" sz="700" dirty="0"/>
          </a:p>
        </p:txBody>
      </p:sp>
      <p:sp>
        <p:nvSpPr>
          <p:cNvPr id="27" name="Shape 25"/>
          <p:cNvSpPr/>
          <p:nvPr/>
        </p:nvSpPr>
        <p:spPr>
          <a:xfrm>
            <a:off x="9015984" y="1335024"/>
            <a:ext cx="2971800" cy="5102352"/>
          </a:xfrm>
          <a:prstGeom prst="roundRect">
            <a:avLst>
              <a:gd name="adj" fmla="val 1846"/>
            </a:avLst>
          </a:prstGeom>
          <a:solidFill>
            <a:srgbClr val="303030"/>
          </a:solidFill>
          <a:ln w="8890">
            <a:solidFill>
              <a:srgbClr val="6E6E6E"/>
            </a:solidFill>
            <a:prstDash val="solid"/>
          </a:ln>
        </p:spPr>
      </p:sp>
      <p:sp>
        <p:nvSpPr>
          <p:cNvPr id="28" name="Text 26"/>
          <p:cNvSpPr/>
          <p:nvPr/>
        </p:nvSpPr>
        <p:spPr>
          <a:xfrm>
            <a:off x="9272016" y="1572768"/>
            <a:ext cx="2468880" cy="182880"/>
          </a:xfrm>
          <a:prstGeom prst="rect">
            <a:avLst/>
          </a:prstGeom>
          <a:noFill/>
          <a:ln/>
        </p:spPr>
        <p:txBody>
          <a:bodyPr wrap="square" rtlCol="0" anchor="ctr">
            <a:normAutofit/>
          </a:bodyPr>
          <a:lstStyle/>
          <a:p>
            <a:pPr indent="0" marL="0">
              <a:buNone/>
            </a:pPr>
            <a:r>
              <a:rPr lang="en-US" sz="750" b="1" dirty="0">
                <a:solidFill>
                  <a:srgbClr val="E30613"/>
                </a:solidFill>
              </a:rPr>
              <a:t>OBSERVATIONS / QUESTIONS</a:t>
            </a:r>
            <a:endParaRPr lang="en-US" sz="750" dirty="0"/>
          </a:p>
        </p:txBody>
      </p:sp>
      <p:sp>
        <p:nvSpPr>
          <p:cNvPr id="29" name="Shape 27"/>
          <p:cNvSpPr/>
          <p:nvPr/>
        </p:nvSpPr>
        <p:spPr>
          <a:xfrm>
            <a:off x="9272016" y="2084832"/>
            <a:ext cx="82296" cy="82296"/>
          </a:xfrm>
          <a:prstGeom prst="ellipse">
            <a:avLst/>
          </a:prstGeom>
          <a:solidFill>
            <a:srgbClr val="E30613"/>
          </a:solidFill>
          <a:ln w="12700">
            <a:solidFill>
              <a:srgbClr val="E30613"/>
            </a:solidFill>
            <a:prstDash val="solid"/>
          </a:ln>
        </p:spPr>
      </p:sp>
      <p:sp>
        <p:nvSpPr>
          <p:cNvPr id="30" name="Text 28"/>
          <p:cNvSpPr/>
          <p:nvPr/>
        </p:nvSpPr>
        <p:spPr>
          <a:xfrm>
            <a:off x="9491472" y="2020824"/>
            <a:ext cx="2221992" cy="512064"/>
          </a:xfrm>
          <a:prstGeom prst="rect">
            <a:avLst/>
          </a:prstGeom>
          <a:noFill/>
          <a:ln/>
        </p:spPr>
        <p:txBody>
          <a:bodyPr wrap="square" lIns="254" tIns="254" rIns="254" bIns="254" rtlCol="0" anchor="t">
            <a:normAutofit/>
          </a:bodyPr>
          <a:lstStyle/>
          <a:p>
            <a:pPr indent="0" marL="0">
              <a:buNone/>
            </a:pPr>
            <a:r>
              <a:rPr lang="en-US" sz="820" dirty="0">
                <a:solidFill>
                  <a:srgbClr val="F2F2F2"/>
                </a:solidFill>
              </a:rPr>
              <a:t>Back-order lines fell from 487 in May to 282 in August, but fill rate remained below target.</a:t>
            </a:r>
            <a:endParaRPr lang="en-US" sz="820" dirty="0"/>
          </a:p>
        </p:txBody>
      </p:sp>
      <p:sp>
        <p:nvSpPr>
          <p:cNvPr id="31" name="Shape 29"/>
          <p:cNvSpPr/>
          <p:nvPr/>
        </p:nvSpPr>
        <p:spPr>
          <a:xfrm>
            <a:off x="9272016" y="3017520"/>
            <a:ext cx="82296" cy="82296"/>
          </a:xfrm>
          <a:prstGeom prst="ellipse">
            <a:avLst/>
          </a:prstGeom>
          <a:solidFill>
            <a:srgbClr val="F5A000"/>
          </a:solidFill>
          <a:ln w="12700">
            <a:solidFill>
              <a:srgbClr val="F5A000"/>
            </a:solidFill>
            <a:prstDash val="solid"/>
          </a:ln>
        </p:spPr>
      </p:sp>
      <p:sp>
        <p:nvSpPr>
          <p:cNvPr id="32" name="Text 30"/>
          <p:cNvSpPr/>
          <p:nvPr/>
        </p:nvSpPr>
        <p:spPr>
          <a:xfrm>
            <a:off x="9491472" y="2953512"/>
            <a:ext cx="2221992" cy="512064"/>
          </a:xfrm>
          <a:prstGeom prst="rect">
            <a:avLst/>
          </a:prstGeom>
          <a:noFill/>
          <a:ln/>
        </p:spPr>
        <p:txBody>
          <a:bodyPr wrap="square" lIns="254" tIns="254" rIns="254" bIns="254" rtlCol="0" anchor="t">
            <a:normAutofit/>
          </a:bodyPr>
          <a:lstStyle/>
          <a:p>
            <a:pPr indent="0" marL="0">
              <a:buNone/>
            </a:pPr>
            <a:r>
              <a:rPr lang="en-US" sz="820" dirty="0">
                <a:solidFill>
                  <a:srgbClr val="F2F2F2"/>
                </a:solidFill>
              </a:rPr>
              <a:t>This suggests the issue may be the stocking mix, not only open back orders.</a:t>
            </a:r>
            <a:endParaRPr lang="en-US" sz="820" dirty="0"/>
          </a:p>
        </p:txBody>
      </p:sp>
      <p:sp>
        <p:nvSpPr>
          <p:cNvPr id="33" name="Shape 31"/>
          <p:cNvSpPr/>
          <p:nvPr/>
        </p:nvSpPr>
        <p:spPr>
          <a:xfrm>
            <a:off x="9272016" y="3950208"/>
            <a:ext cx="82296" cy="82296"/>
          </a:xfrm>
          <a:prstGeom prst="ellipse">
            <a:avLst/>
          </a:prstGeom>
          <a:solidFill>
            <a:srgbClr val="F5A000"/>
          </a:solidFill>
          <a:ln w="12700">
            <a:solidFill>
              <a:srgbClr val="F5A000"/>
            </a:solidFill>
            <a:prstDash val="solid"/>
          </a:ln>
        </p:spPr>
      </p:sp>
      <p:sp>
        <p:nvSpPr>
          <p:cNvPr id="34" name="Text 32"/>
          <p:cNvSpPr/>
          <p:nvPr/>
        </p:nvSpPr>
        <p:spPr>
          <a:xfrm>
            <a:off x="9491472" y="3886200"/>
            <a:ext cx="2221992" cy="512064"/>
          </a:xfrm>
          <a:prstGeom prst="rect">
            <a:avLst/>
          </a:prstGeom>
          <a:noFill/>
          <a:ln/>
        </p:spPr>
        <p:txBody>
          <a:bodyPr wrap="square" lIns="254" tIns="254" rIns="254" bIns="254" rtlCol="0" anchor="t">
            <a:normAutofit/>
          </a:bodyPr>
          <a:lstStyle/>
          <a:p>
            <a:pPr indent="0" marL="0">
              <a:buNone/>
            </a:pPr>
            <a:r>
              <a:rPr lang="en-US" sz="820" dirty="0">
                <a:solidFill>
                  <a:srgbClr val="F2F2F2"/>
                </a:solidFill>
              </a:rPr>
              <a:t>Question: are the open back orders concentrated in high-frequency service parts or slow-moving repairs?</a:t>
            </a:r>
            <a:endParaRPr lang="en-US" sz="820" dirty="0"/>
          </a:p>
        </p:txBody>
      </p:sp>
      <p:sp>
        <p:nvSpPr>
          <p:cNvPr id="35" name="Shape 33"/>
          <p:cNvSpPr/>
          <p:nvPr/>
        </p:nvSpPr>
        <p:spPr>
          <a:xfrm>
            <a:off x="9272016" y="4882896"/>
            <a:ext cx="82296" cy="82296"/>
          </a:xfrm>
          <a:prstGeom prst="ellipse">
            <a:avLst/>
          </a:prstGeom>
          <a:solidFill>
            <a:srgbClr val="F5A000"/>
          </a:solidFill>
          <a:ln w="12700">
            <a:solidFill>
              <a:srgbClr val="F5A000"/>
            </a:solidFill>
            <a:prstDash val="solid"/>
          </a:ln>
        </p:spPr>
      </p:sp>
      <p:sp>
        <p:nvSpPr>
          <p:cNvPr id="36" name="Text 34"/>
          <p:cNvSpPr/>
          <p:nvPr/>
        </p:nvSpPr>
        <p:spPr>
          <a:xfrm>
            <a:off x="9491472" y="4818888"/>
            <a:ext cx="2221992" cy="512064"/>
          </a:xfrm>
          <a:prstGeom prst="rect">
            <a:avLst/>
          </a:prstGeom>
          <a:noFill/>
          <a:ln/>
        </p:spPr>
        <p:txBody>
          <a:bodyPr wrap="square" lIns="254" tIns="254" rIns="254" bIns="254" rtlCol="0" anchor="t">
            <a:normAutofit/>
          </a:bodyPr>
          <a:lstStyle/>
          <a:p>
            <a:pPr indent="0" marL="0">
              <a:buNone/>
            </a:pPr>
            <a:r>
              <a:rPr lang="en-US" sz="820" dirty="0">
                <a:solidFill>
                  <a:srgbClr val="F2F2F2"/>
                </a:solidFill>
              </a:rPr>
              <a:t>Use the back-order list together with sales to dealer and MOS to identify the first parts to correct.</a:t>
            </a:r>
            <a:endParaRPr lang="en-US" sz="8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62626"/>
        </a:solidFill>
      </p:bgPr>
    </p:bg>
    <p:spTree>
      <p:nvGrpSpPr>
        <p:cNvPr id="1" name=""/>
        <p:cNvGrpSpPr/>
        <p:nvPr/>
      </p:nvGrpSpPr>
      <p:grpSpPr>
        <a:xfrm>
          <a:off x="0" y="0"/>
          <a:ext cx="0" cy="0"/>
          <a:chOff x="0" y="0"/>
          <a:chExt cx="0" cy="0"/>
        </a:xfrm>
      </p:grpSpPr>
      <p:sp>
        <p:nvSpPr>
          <p:cNvPr id="2" name="Text 0"/>
          <p:cNvSpPr/>
          <p:nvPr/>
        </p:nvSpPr>
        <p:spPr>
          <a:xfrm>
            <a:off x="228600" y="91440"/>
            <a:ext cx="3474720" cy="164592"/>
          </a:xfrm>
          <a:prstGeom prst="rect">
            <a:avLst/>
          </a:prstGeom>
          <a:noFill/>
          <a:ln/>
        </p:spPr>
        <p:txBody>
          <a:bodyPr wrap="square" rtlCol="0" anchor="ctr">
            <a:normAutofit/>
          </a:bodyPr>
          <a:lstStyle/>
          <a:p>
            <a:pPr indent="0" marL="0">
              <a:buNone/>
            </a:pPr>
            <a:r>
              <a:rPr lang="en-US" sz="660" b="1" dirty="0">
                <a:solidFill>
                  <a:srgbClr val="F2F2F2"/>
                </a:solidFill>
                <a:latin typeface="Aptos" pitchFamily="34" charset="0"/>
                <a:ea typeface="Aptos" pitchFamily="34" charset="-122"/>
                <a:cs typeface="Aptos" pitchFamily="34" charset="-120"/>
              </a:rPr>
              <a:t>ISZE  ·  VEHICLE PARTS &amp; ACCESSORIES</a:t>
            </a:r>
            <a:endParaRPr lang="en-US" sz="660" dirty="0"/>
          </a:p>
        </p:txBody>
      </p:sp>
      <p:sp>
        <p:nvSpPr>
          <p:cNvPr id="3" name="Shape 1"/>
          <p:cNvSpPr/>
          <p:nvPr/>
        </p:nvSpPr>
        <p:spPr>
          <a:xfrm>
            <a:off x="228600" y="6629400"/>
            <a:ext cx="11750040" cy="0"/>
          </a:xfrm>
          <a:prstGeom prst="line">
            <a:avLst/>
          </a:prstGeom>
          <a:noFill/>
          <a:ln w="6350">
            <a:solidFill>
              <a:srgbClr val="575757"/>
            </a:solidFill>
            <a:prstDash val="solid"/>
          </a:ln>
        </p:spPr>
      </p:sp>
      <p:sp>
        <p:nvSpPr>
          <p:cNvPr id="4" name="Text 2"/>
          <p:cNvSpPr/>
          <p:nvPr/>
        </p:nvSpPr>
        <p:spPr>
          <a:xfrm>
            <a:off x="228600" y="393192"/>
            <a:ext cx="4114800" cy="201168"/>
          </a:xfrm>
          <a:prstGeom prst="rect">
            <a:avLst/>
          </a:prstGeom>
          <a:noFill/>
          <a:ln/>
        </p:spPr>
        <p:txBody>
          <a:bodyPr wrap="square" rtlCol="0" anchor="ctr">
            <a:normAutofit/>
          </a:bodyPr>
          <a:lstStyle/>
          <a:p>
            <a:pPr indent="0" marL="0">
              <a:buNone/>
            </a:pPr>
            <a:r>
              <a:rPr lang="en-US" sz="750" b="1" dirty="0">
                <a:solidFill>
                  <a:srgbClr val="E30613"/>
                </a:solidFill>
              </a:rPr>
              <a:t>FLEET CONTEXT</a:t>
            </a:r>
            <a:endParaRPr lang="en-US" sz="750" dirty="0"/>
          </a:p>
        </p:txBody>
      </p:sp>
      <p:sp>
        <p:nvSpPr>
          <p:cNvPr id="5" name="Text 3"/>
          <p:cNvSpPr/>
          <p:nvPr/>
        </p:nvSpPr>
        <p:spPr>
          <a:xfrm>
            <a:off x="228600" y="713232"/>
            <a:ext cx="9052560" cy="438912"/>
          </a:xfrm>
          <a:prstGeom prst="rect">
            <a:avLst/>
          </a:prstGeom>
          <a:noFill/>
          <a:ln/>
        </p:spPr>
        <p:txBody>
          <a:bodyPr wrap="square" lIns="0" tIns="0" rIns="0" bIns="0" rtlCol="0" anchor="ctr">
            <a:normAutofit/>
          </a:bodyPr>
          <a:lstStyle/>
          <a:p>
            <a:pPr indent="0" marL="0">
              <a:buNone/>
            </a:pPr>
            <a:r>
              <a:rPr lang="en-US" sz="2250" b="1" dirty="0">
                <a:solidFill>
                  <a:srgbClr val="F2F2F2"/>
                </a:solidFill>
              </a:rPr>
              <a:t>The latest usable fleet base is 7,208 vehicles in service for 2025</a:t>
            </a:r>
            <a:endParaRPr lang="en-US" sz="2250" dirty="0"/>
          </a:p>
        </p:txBody>
      </p:sp>
      <p:sp>
        <p:nvSpPr>
          <p:cNvPr id="6" name="Text 4"/>
          <p:cNvSpPr/>
          <p:nvPr/>
        </p:nvSpPr>
        <p:spPr>
          <a:xfrm>
            <a:off x="228600" y="1188720"/>
            <a:ext cx="8046720" cy="219456"/>
          </a:xfrm>
          <a:prstGeom prst="rect">
            <a:avLst/>
          </a:prstGeom>
          <a:noFill/>
          <a:ln/>
        </p:spPr>
        <p:txBody>
          <a:bodyPr wrap="square" lIns="0" tIns="0" rIns="0" bIns="0" rtlCol="0" anchor="ctr">
            <a:normAutofit/>
          </a:bodyPr>
          <a:lstStyle/>
          <a:p>
            <a:pPr indent="0" marL="0">
              <a:buNone/>
            </a:pPr>
            <a:r>
              <a:rPr lang="en-US" sz="850" dirty="0">
                <a:solidFill>
                  <a:srgbClr val="BDBDBD"/>
                </a:solidFill>
              </a:rPr>
              <a:t>Portugal / I Motors | latest available fleet model | do not use the 2026 forecast</a:t>
            </a:r>
            <a:endParaRPr lang="en-US" sz="850" dirty="0"/>
          </a:p>
        </p:txBody>
      </p:sp>
      <p:sp>
        <p:nvSpPr>
          <p:cNvPr id="7" name="Shape 5"/>
          <p:cNvSpPr/>
          <p:nvPr/>
        </p:nvSpPr>
        <p:spPr>
          <a:xfrm>
            <a:off x="731520" y="4892040"/>
            <a:ext cx="4754880" cy="0"/>
          </a:xfrm>
          <a:prstGeom prst="line">
            <a:avLst/>
          </a:prstGeom>
          <a:noFill/>
          <a:ln w="5080">
            <a:solidFill>
              <a:srgbClr val="4D4D4D">
                <a:alpha val="80000"/>
              </a:srgbClr>
            </a:solidFill>
            <a:prstDash val="solid"/>
          </a:ln>
        </p:spPr>
      </p:sp>
      <p:sp>
        <p:nvSpPr>
          <p:cNvPr id="8" name="Text 6"/>
          <p:cNvSpPr/>
          <p:nvPr/>
        </p:nvSpPr>
        <p:spPr>
          <a:xfrm>
            <a:off x="429768" y="4837176"/>
            <a:ext cx="237744" cy="109728"/>
          </a:xfrm>
          <a:prstGeom prst="rect">
            <a:avLst/>
          </a:prstGeom>
          <a:noFill/>
          <a:ln/>
        </p:spPr>
        <p:txBody>
          <a:bodyPr wrap="square" lIns="254" tIns="254" rIns="254" bIns="254" rtlCol="0" anchor="ctr">
            <a:normAutofit/>
          </a:bodyPr>
          <a:lstStyle/>
          <a:p>
            <a:pPr algn="r" indent="0" marL="0">
              <a:buNone/>
            </a:pPr>
            <a:r>
              <a:rPr lang="en-US" sz="650" dirty="0">
                <a:solidFill>
                  <a:srgbClr val="BDBDBD"/>
                </a:solidFill>
              </a:rPr>
              <a:t>0</a:t>
            </a:r>
            <a:endParaRPr lang="en-US" sz="650" dirty="0"/>
          </a:p>
        </p:txBody>
      </p:sp>
      <p:sp>
        <p:nvSpPr>
          <p:cNvPr id="9" name="Shape 7"/>
          <p:cNvSpPr/>
          <p:nvPr/>
        </p:nvSpPr>
        <p:spPr>
          <a:xfrm>
            <a:off x="731520" y="4057650"/>
            <a:ext cx="4754880" cy="0"/>
          </a:xfrm>
          <a:prstGeom prst="line">
            <a:avLst/>
          </a:prstGeom>
          <a:noFill/>
          <a:ln w="5080">
            <a:solidFill>
              <a:srgbClr val="4D4D4D">
                <a:alpha val="80000"/>
              </a:srgbClr>
            </a:solidFill>
            <a:prstDash val="solid"/>
          </a:ln>
        </p:spPr>
      </p:sp>
      <p:sp>
        <p:nvSpPr>
          <p:cNvPr id="10" name="Text 8"/>
          <p:cNvSpPr/>
          <p:nvPr/>
        </p:nvSpPr>
        <p:spPr>
          <a:xfrm>
            <a:off x="429768" y="4002786"/>
            <a:ext cx="237744" cy="109728"/>
          </a:xfrm>
          <a:prstGeom prst="rect">
            <a:avLst/>
          </a:prstGeom>
          <a:noFill/>
          <a:ln/>
        </p:spPr>
        <p:txBody>
          <a:bodyPr wrap="square" lIns="254" tIns="254" rIns="254" bIns="254" rtlCol="0" anchor="ctr">
            <a:normAutofit/>
          </a:bodyPr>
          <a:lstStyle/>
          <a:p>
            <a:pPr algn="r" indent="0" marL="0">
              <a:buNone/>
            </a:pPr>
            <a:r>
              <a:rPr lang="en-US" sz="650" dirty="0">
                <a:solidFill>
                  <a:srgbClr val="BDBDBD"/>
                </a:solidFill>
              </a:rPr>
              <a:t>2</a:t>
            </a:r>
            <a:endParaRPr lang="en-US" sz="650" dirty="0"/>
          </a:p>
        </p:txBody>
      </p:sp>
      <p:sp>
        <p:nvSpPr>
          <p:cNvPr id="11" name="Shape 9"/>
          <p:cNvSpPr/>
          <p:nvPr/>
        </p:nvSpPr>
        <p:spPr>
          <a:xfrm>
            <a:off x="731520" y="3223260"/>
            <a:ext cx="4754880" cy="0"/>
          </a:xfrm>
          <a:prstGeom prst="line">
            <a:avLst/>
          </a:prstGeom>
          <a:noFill/>
          <a:ln w="5080">
            <a:solidFill>
              <a:srgbClr val="4D4D4D">
                <a:alpha val="80000"/>
              </a:srgbClr>
            </a:solidFill>
            <a:prstDash val="solid"/>
          </a:ln>
        </p:spPr>
      </p:sp>
      <p:sp>
        <p:nvSpPr>
          <p:cNvPr id="12" name="Text 10"/>
          <p:cNvSpPr/>
          <p:nvPr/>
        </p:nvSpPr>
        <p:spPr>
          <a:xfrm>
            <a:off x="429768" y="3168396"/>
            <a:ext cx="237744" cy="109728"/>
          </a:xfrm>
          <a:prstGeom prst="rect">
            <a:avLst/>
          </a:prstGeom>
          <a:noFill/>
          <a:ln/>
        </p:spPr>
        <p:txBody>
          <a:bodyPr wrap="square" lIns="254" tIns="254" rIns="254" bIns="254" rtlCol="0" anchor="ctr">
            <a:normAutofit/>
          </a:bodyPr>
          <a:lstStyle/>
          <a:p>
            <a:pPr algn="r" indent="0" marL="0">
              <a:buNone/>
            </a:pPr>
            <a:r>
              <a:rPr lang="en-US" sz="650" dirty="0">
                <a:solidFill>
                  <a:srgbClr val="BDBDBD"/>
                </a:solidFill>
              </a:rPr>
              <a:t>4</a:t>
            </a:r>
            <a:endParaRPr lang="en-US" sz="650" dirty="0"/>
          </a:p>
        </p:txBody>
      </p:sp>
      <p:sp>
        <p:nvSpPr>
          <p:cNvPr id="13" name="Shape 11"/>
          <p:cNvSpPr/>
          <p:nvPr/>
        </p:nvSpPr>
        <p:spPr>
          <a:xfrm>
            <a:off x="731520" y="2388870"/>
            <a:ext cx="4754880" cy="0"/>
          </a:xfrm>
          <a:prstGeom prst="line">
            <a:avLst/>
          </a:prstGeom>
          <a:noFill/>
          <a:ln w="5080">
            <a:solidFill>
              <a:srgbClr val="4D4D4D">
                <a:alpha val="80000"/>
              </a:srgbClr>
            </a:solidFill>
            <a:prstDash val="solid"/>
          </a:ln>
        </p:spPr>
      </p:sp>
      <p:sp>
        <p:nvSpPr>
          <p:cNvPr id="14" name="Text 12"/>
          <p:cNvSpPr/>
          <p:nvPr/>
        </p:nvSpPr>
        <p:spPr>
          <a:xfrm>
            <a:off x="429768" y="2334006"/>
            <a:ext cx="237744" cy="109728"/>
          </a:xfrm>
          <a:prstGeom prst="rect">
            <a:avLst/>
          </a:prstGeom>
          <a:noFill/>
          <a:ln/>
        </p:spPr>
        <p:txBody>
          <a:bodyPr wrap="square" lIns="254" tIns="254" rIns="254" bIns="254" rtlCol="0" anchor="ctr">
            <a:normAutofit/>
          </a:bodyPr>
          <a:lstStyle/>
          <a:p>
            <a:pPr algn="r" indent="0" marL="0">
              <a:buNone/>
            </a:pPr>
            <a:r>
              <a:rPr lang="en-US" sz="650" dirty="0">
                <a:solidFill>
                  <a:srgbClr val="BDBDBD"/>
                </a:solidFill>
              </a:rPr>
              <a:t>6</a:t>
            </a:r>
            <a:endParaRPr lang="en-US" sz="650" dirty="0"/>
          </a:p>
        </p:txBody>
      </p:sp>
      <p:sp>
        <p:nvSpPr>
          <p:cNvPr id="15" name="Shape 13"/>
          <p:cNvSpPr/>
          <p:nvPr/>
        </p:nvSpPr>
        <p:spPr>
          <a:xfrm>
            <a:off x="731520" y="1554480"/>
            <a:ext cx="4754880" cy="0"/>
          </a:xfrm>
          <a:prstGeom prst="line">
            <a:avLst/>
          </a:prstGeom>
          <a:noFill/>
          <a:ln w="5080">
            <a:solidFill>
              <a:srgbClr val="4D4D4D">
                <a:alpha val="80000"/>
              </a:srgbClr>
            </a:solidFill>
            <a:prstDash val="solid"/>
          </a:ln>
        </p:spPr>
      </p:sp>
      <p:sp>
        <p:nvSpPr>
          <p:cNvPr id="16" name="Text 14"/>
          <p:cNvSpPr/>
          <p:nvPr/>
        </p:nvSpPr>
        <p:spPr>
          <a:xfrm>
            <a:off x="429768" y="1499616"/>
            <a:ext cx="237744" cy="109728"/>
          </a:xfrm>
          <a:prstGeom prst="rect">
            <a:avLst/>
          </a:prstGeom>
          <a:noFill/>
          <a:ln/>
        </p:spPr>
        <p:txBody>
          <a:bodyPr wrap="square" lIns="254" tIns="254" rIns="254" bIns="254" rtlCol="0" anchor="ctr">
            <a:normAutofit/>
          </a:bodyPr>
          <a:lstStyle/>
          <a:p>
            <a:pPr algn="r" indent="0" marL="0">
              <a:buNone/>
            </a:pPr>
            <a:r>
              <a:rPr lang="en-US" sz="650" dirty="0">
                <a:solidFill>
                  <a:srgbClr val="BDBDBD"/>
                </a:solidFill>
              </a:rPr>
              <a:t>8</a:t>
            </a:r>
            <a:endParaRPr lang="en-US" sz="650" dirty="0"/>
          </a:p>
        </p:txBody>
      </p:sp>
      <p:sp>
        <p:nvSpPr>
          <p:cNvPr id="17" name="Shape 15"/>
          <p:cNvSpPr/>
          <p:nvPr/>
        </p:nvSpPr>
        <p:spPr>
          <a:xfrm>
            <a:off x="841248" y="2350905"/>
            <a:ext cx="1301496" cy="2541135"/>
          </a:xfrm>
          <a:prstGeom prst="rect">
            <a:avLst/>
          </a:prstGeom>
          <a:solidFill>
            <a:srgbClr val="B7B7B7"/>
          </a:solidFill>
          <a:ln w="12700">
            <a:solidFill>
              <a:srgbClr val="B7B7B7"/>
            </a:solidFill>
            <a:prstDash val="solid"/>
          </a:ln>
        </p:spPr>
      </p:sp>
      <p:sp>
        <p:nvSpPr>
          <p:cNvPr id="18" name="Text 16"/>
          <p:cNvSpPr/>
          <p:nvPr/>
        </p:nvSpPr>
        <p:spPr>
          <a:xfrm>
            <a:off x="822960" y="5038344"/>
            <a:ext cx="1475232" cy="137160"/>
          </a:xfrm>
          <a:prstGeom prst="rect">
            <a:avLst/>
          </a:prstGeom>
          <a:noFill/>
          <a:ln/>
        </p:spPr>
        <p:txBody>
          <a:bodyPr wrap="square" lIns="254" tIns="254" rIns="254" bIns="254" rtlCol="0" anchor="ctr">
            <a:normAutofit/>
          </a:bodyPr>
          <a:lstStyle/>
          <a:p>
            <a:pPr algn="ctr" indent="0" marL="0">
              <a:buNone/>
            </a:pPr>
            <a:r>
              <a:rPr lang="en-US" sz="700" dirty="0">
                <a:solidFill>
                  <a:srgbClr val="BDBDBD"/>
                </a:solidFill>
              </a:rPr>
              <a:t>2023</a:t>
            </a:r>
            <a:endParaRPr lang="en-US" sz="700" dirty="0"/>
          </a:p>
        </p:txBody>
      </p:sp>
      <p:sp>
        <p:nvSpPr>
          <p:cNvPr id="19" name="Shape 17"/>
          <p:cNvSpPr/>
          <p:nvPr/>
        </p:nvSpPr>
        <p:spPr>
          <a:xfrm>
            <a:off x="2426208" y="2012143"/>
            <a:ext cx="1301496" cy="2879897"/>
          </a:xfrm>
          <a:prstGeom prst="rect">
            <a:avLst/>
          </a:prstGeom>
          <a:solidFill>
            <a:srgbClr val="B7B7B7"/>
          </a:solidFill>
          <a:ln w="12700">
            <a:solidFill>
              <a:srgbClr val="B7B7B7"/>
            </a:solidFill>
            <a:prstDash val="solid"/>
          </a:ln>
        </p:spPr>
      </p:sp>
      <p:sp>
        <p:nvSpPr>
          <p:cNvPr id="20" name="Text 18"/>
          <p:cNvSpPr/>
          <p:nvPr/>
        </p:nvSpPr>
        <p:spPr>
          <a:xfrm>
            <a:off x="2407920" y="5038344"/>
            <a:ext cx="1475232" cy="137160"/>
          </a:xfrm>
          <a:prstGeom prst="rect">
            <a:avLst/>
          </a:prstGeom>
          <a:noFill/>
          <a:ln/>
        </p:spPr>
        <p:txBody>
          <a:bodyPr wrap="square" lIns="254" tIns="254" rIns="254" bIns="254" rtlCol="0" anchor="ctr">
            <a:normAutofit/>
          </a:bodyPr>
          <a:lstStyle/>
          <a:p>
            <a:pPr algn="ctr" indent="0" marL="0">
              <a:buNone/>
            </a:pPr>
            <a:r>
              <a:rPr lang="en-US" sz="700" dirty="0">
                <a:solidFill>
                  <a:srgbClr val="BDBDBD"/>
                </a:solidFill>
              </a:rPr>
              <a:t>2024</a:t>
            </a:r>
            <a:endParaRPr lang="en-US" sz="700" dirty="0"/>
          </a:p>
        </p:txBody>
      </p:sp>
      <p:sp>
        <p:nvSpPr>
          <p:cNvPr id="21" name="Shape 19"/>
          <p:cNvSpPr/>
          <p:nvPr/>
        </p:nvSpPr>
        <p:spPr>
          <a:xfrm>
            <a:off x="4011168" y="1884898"/>
            <a:ext cx="1301496" cy="3007142"/>
          </a:xfrm>
          <a:prstGeom prst="rect">
            <a:avLst/>
          </a:prstGeom>
          <a:solidFill>
            <a:srgbClr val="B7B7B7"/>
          </a:solidFill>
          <a:ln w="12700">
            <a:solidFill>
              <a:srgbClr val="B7B7B7"/>
            </a:solidFill>
            <a:prstDash val="solid"/>
          </a:ln>
        </p:spPr>
      </p:sp>
      <p:sp>
        <p:nvSpPr>
          <p:cNvPr id="22" name="Text 20"/>
          <p:cNvSpPr/>
          <p:nvPr/>
        </p:nvSpPr>
        <p:spPr>
          <a:xfrm>
            <a:off x="3992880" y="5038344"/>
            <a:ext cx="1475232" cy="137160"/>
          </a:xfrm>
          <a:prstGeom prst="rect">
            <a:avLst/>
          </a:prstGeom>
          <a:noFill/>
          <a:ln/>
        </p:spPr>
        <p:txBody>
          <a:bodyPr wrap="square" lIns="254" tIns="254" rIns="254" bIns="254" rtlCol="0" anchor="ctr">
            <a:normAutofit/>
          </a:bodyPr>
          <a:lstStyle/>
          <a:p>
            <a:pPr algn="ctr" indent="0" marL="0">
              <a:buNone/>
            </a:pPr>
            <a:r>
              <a:rPr lang="en-US" sz="700" dirty="0">
                <a:solidFill>
                  <a:srgbClr val="BDBDBD"/>
                </a:solidFill>
              </a:rPr>
              <a:t>2025</a:t>
            </a:r>
            <a:endParaRPr lang="en-US" sz="700" dirty="0"/>
          </a:p>
        </p:txBody>
      </p:sp>
      <p:sp>
        <p:nvSpPr>
          <p:cNvPr id="23" name="Text 21"/>
          <p:cNvSpPr/>
          <p:nvPr/>
        </p:nvSpPr>
        <p:spPr>
          <a:xfrm>
            <a:off x="786384" y="5577840"/>
            <a:ext cx="4389120" cy="164592"/>
          </a:xfrm>
          <a:prstGeom prst="rect">
            <a:avLst/>
          </a:prstGeom>
          <a:noFill/>
          <a:ln/>
        </p:spPr>
        <p:txBody>
          <a:bodyPr wrap="square" lIns="254" tIns="254" rIns="254" bIns="254" rtlCol="0" anchor="ctr">
            <a:normAutofit/>
          </a:bodyPr>
          <a:lstStyle/>
          <a:p>
            <a:pPr algn="l" indent="0" marL="0">
              <a:buNone/>
            </a:pPr>
            <a:r>
              <a:rPr lang="en-US" sz="800" dirty="0">
                <a:solidFill>
                  <a:srgbClr val="BDBDBD"/>
                </a:solidFill>
              </a:rPr>
              <a:t>Vehicle base used in the current GPS/PMS model</a:t>
            </a:r>
            <a:endParaRPr lang="en-US" sz="800" dirty="0"/>
          </a:p>
        </p:txBody>
      </p:sp>
      <p:sp>
        <p:nvSpPr>
          <p:cNvPr id="24" name="Text 22"/>
          <p:cNvSpPr/>
          <p:nvPr/>
        </p:nvSpPr>
        <p:spPr>
          <a:xfrm>
            <a:off x="5897880" y="1691640"/>
            <a:ext cx="1828800" cy="438912"/>
          </a:xfrm>
          <a:prstGeom prst="rect">
            <a:avLst/>
          </a:prstGeom>
          <a:noFill/>
          <a:ln/>
        </p:spPr>
        <p:txBody>
          <a:bodyPr wrap="square" lIns="0" tIns="0" rIns="0" bIns="0" rtlCol="0" anchor="ctr">
            <a:normAutofit/>
          </a:bodyPr>
          <a:lstStyle/>
          <a:p>
            <a:pPr algn="ctr" indent="0" marL="0">
              <a:buNone/>
            </a:pPr>
            <a:r>
              <a:rPr lang="en-US" sz="2500" b="1" dirty="0">
                <a:solidFill>
                  <a:srgbClr val="F2F2F2"/>
                </a:solidFill>
              </a:rPr>
              <a:t>7,208</a:t>
            </a:r>
            <a:endParaRPr lang="en-US" sz="2500" dirty="0"/>
          </a:p>
        </p:txBody>
      </p:sp>
      <p:sp>
        <p:nvSpPr>
          <p:cNvPr id="25" name="Text 23"/>
          <p:cNvSpPr/>
          <p:nvPr/>
        </p:nvSpPr>
        <p:spPr>
          <a:xfrm>
            <a:off x="5897880" y="2130552"/>
            <a:ext cx="1828800" cy="274320"/>
          </a:xfrm>
          <a:prstGeom prst="rect">
            <a:avLst/>
          </a:prstGeom>
          <a:noFill/>
          <a:ln/>
        </p:spPr>
        <p:txBody>
          <a:bodyPr wrap="square" lIns="0" tIns="0" rIns="0" bIns="0" rtlCol="0" anchor="ctr">
            <a:normAutofit/>
          </a:bodyPr>
          <a:lstStyle/>
          <a:p>
            <a:pPr algn="ctr" indent="0" marL="0">
              <a:buNone/>
            </a:pPr>
            <a:r>
              <a:rPr lang="en-US" sz="800" dirty="0">
                <a:solidFill>
                  <a:srgbClr val="BDBDBD"/>
                </a:solidFill>
              </a:rPr>
              <a:t>2025 vehicles in service</a:t>
            </a:r>
            <a:endParaRPr lang="en-US" sz="800" dirty="0"/>
          </a:p>
        </p:txBody>
      </p:sp>
      <p:sp>
        <p:nvSpPr>
          <p:cNvPr id="26" name="Text 24"/>
          <p:cNvSpPr/>
          <p:nvPr/>
        </p:nvSpPr>
        <p:spPr>
          <a:xfrm>
            <a:off x="5897880" y="2788920"/>
            <a:ext cx="1828800" cy="438912"/>
          </a:xfrm>
          <a:prstGeom prst="rect">
            <a:avLst/>
          </a:prstGeom>
          <a:noFill/>
          <a:ln/>
        </p:spPr>
        <p:txBody>
          <a:bodyPr wrap="square" lIns="0" tIns="0" rIns="0" bIns="0" rtlCol="0" anchor="ctr">
            <a:normAutofit/>
          </a:bodyPr>
          <a:lstStyle/>
          <a:p>
            <a:pPr algn="ctr" indent="0" marL="0">
              <a:buNone/>
            </a:pPr>
            <a:r>
              <a:rPr lang="en-US" sz="2500" b="1" dirty="0">
                <a:solidFill>
                  <a:srgbClr val="B7B7B7"/>
                </a:solidFill>
              </a:rPr>
              <a:t>6,903</a:t>
            </a:r>
            <a:endParaRPr lang="en-US" sz="2500" dirty="0"/>
          </a:p>
        </p:txBody>
      </p:sp>
      <p:sp>
        <p:nvSpPr>
          <p:cNvPr id="27" name="Text 25"/>
          <p:cNvSpPr/>
          <p:nvPr/>
        </p:nvSpPr>
        <p:spPr>
          <a:xfrm>
            <a:off x="5897880" y="3227832"/>
            <a:ext cx="1828800" cy="274320"/>
          </a:xfrm>
          <a:prstGeom prst="rect">
            <a:avLst/>
          </a:prstGeom>
          <a:noFill/>
          <a:ln/>
        </p:spPr>
        <p:txBody>
          <a:bodyPr wrap="square" lIns="0" tIns="0" rIns="0" bIns="0" rtlCol="0" anchor="ctr">
            <a:normAutofit/>
          </a:bodyPr>
          <a:lstStyle/>
          <a:p>
            <a:pPr algn="ctr" indent="0" marL="0">
              <a:buNone/>
            </a:pPr>
            <a:r>
              <a:rPr lang="en-US" sz="800" dirty="0">
                <a:solidFill>
                  <a:srgbClr val="BDBDBD"/>
                </a:solidFill>
              </a:rPr>
              <a:t>2024 actual fleet</a:t>
            </a:r>
            <a:endParaRPr lang="en-US" sz="800" dirty="0"/>
          </a:p>
        </p:txBody>
      </p:sp>
      <p:sp>
        <p:nvSpPr>
          <p:cNvPr id="28" name="Text 26"/>
          <p:cNvSpPr/>
          <p:nvPr/>
        </p:nvSpPr>
        <p:spPr>
          <a:xfrm>
            <a:off x="5897880" y="3886200"/>
            <a:ext cx="1828800" cy="438912"/>
          </a:xfrm>
          <a:prstGeom prst="rect">
            <a:avLst/>
          </a:prstGeom>
          <a:noFill/>
          <a:ln/>
        </p:spPr>
        <p:txBody>
          <a:bodyPr wrap="square" lIns="0" tIns="0" rIns="0" bIns="0" rtlCol="0" anchor="ctr">
            <a:normAutofit/>
          </a:bodyPr>
          <a:lstStyle/>
          <a:p>
            <a:pPr algn="ctr" indent="0" marL="0">
              <a:buNone/>
            </a:pPr>
            <a:r>
              <a:rPr lang="en-US" sz="2500" b="1" dirty="0">
                <a:solidFill>
                  <a:srgbClr val="E30613"/>
                </a:solidFill>
              </a:rPr>
              <a:t>+4.4%</a:t>
            </a:r>
            <a:endParaRPr lang="en-US" sz="2500" dirty="0"/>
          </a:p>
        </p:txBody>
      </p:sp>
      <p:sp>
        <p:nvSpPr>
          <p:cNvPr id="29" name="Text 27"/>
          <p:cNvSpPr/>
          <p:nvPr/>
        </p:nvSpPr>
        <p:spPr>
          <a:xfrm>
            <a:off x="5897880" y="4325112"/>
            <a:ext cx="1828800" cy="274320"/>
          </a:xfrm>
          <a:prstGeom prst="rect">
            <a:avLst/>
          </a:prstGeom>
          <a:noFill/>
          <a:ln/>
        </p:spPr>
        <p:txBody>
          <a:bodyPr wrap="square" lIns="0" tIns="0" rIns="0" bIns="0" rtlCol="0" anchor="ctr">
            <a:normAutofit/>
          </a:bodyPr>
          <a:lstStyle/>
          <a:p>
            <a:pPr algn="ctr" indent="0" marL="0">
              <a:buNone/>
            </a:pPr>
            <a:r>
              <a:rPr lang="en-US" sz="800" dirty="0">
                <a:solidFill>
                  <a:srgbClr val="BDBDBD"/>
                </a:solidFill>
              </a:rPr>
              <a:t>2025 versus 2024</a:t>
            </a:r>
            <a:endParaRPr lang="en-US" sz="800" dirty="0"/>
          </a:p>
        </p:txBody>
      </p:sp>
      <p:sp>
        <p:nvSpPr>
          <p:cNvPr id="30" name="Shape 28"/>
          <p:cNvSpPr/>
          <p:nvPr/>
        </p:nvSpPr>
        <p:spPr>
          <a:xfrm>
            <a:off x="9015984" y="1335024"/>
            <a:ext cx="2971800" cy="5102352"/>
          </a:xfrm>
          <a:prstGeom prst="roundRect">
            <a:avLst>
              <a:gd name="adj" fmla="val 1846"/>
            </a:avLst>
          </a:prstGeom>
          <a:solidFill>
            <a:srgbClr val="303030"/>
          </a:solidFill>
          <a:ln w="8890">
            <a:solidFill>
              <a:srgbClr val="6E6E6E"/>
            </a:solidFill>
            <a:prstDash val="solid"/>
          </a:ln>
        </p:spPr>
      </p:sp>
      <p:sp>
        <p:nvSpPr>
          <p:cNvPr id="31" name="Text 29"/>
          <p:cNvSpPr/>
          <p:nvPr/>
        </p:nvSpPr>
        <p:spPr>
          <a:xfrm>
            <a:off x="9272016" y="1572768"/>
            <a:ext cx="2468880" cy="182880"/>
          </a:xfrm>
          <a:prstGeom prst="rect">
            <a:avLst/>
          </a:prstGeom>
          <a:noFill/>
          <a:ln/>
        </p:spPr>
        <p:txBody>
          <a:bodyPr wrap="square" rtlCol="0" anchor="ctr">
            <a:normAutofit/>
          </a:bodyPr>
          <a:lstStyle/>
          <a:p>
            <a:pPr indent="0" marL="0">
              <a:buNone/>
            </a:pPr>
            <a:r>
              <a:rPr lang="en-US" sz="750" b="1" dirty="0">
                <a:solidFill>
                  <a:srgbClr val="E30613"/>
                </a:solidFill>
              </a:rPr>
              <a:t>OBSERVATIONS / QUESTIONS</a:t>
            </a:r>
            <a:endParaRPr lang="en-US" sz="750" dirty="0"/>
          </a:p>
        </p:txBody>
      </p:sp>
      <p:sp>
        <p:nvSpPr>
          <p:cNvPr id="32" name="Shape 30"/>
          <p:cNvSpPr/>
          <p:nvPr/>
        </p:nvSpPr>
        <p:spPr>
          <a:xfrm>
            <a:off x="9272016" y="2084832"/>
            <a:ext cx="82296" cy="82296"/>
          </a:xfrm>
          <a:prstGeom prst="ellipse">
            <a:avLst/>
          </a:prstGeom>
          <a:solidFill>
            <a:srgbClr val="E30613"/>
          </a:solidFill>
          <a:ln w="12700">
            <a:solidFill>
              <a:srgbClr val="E30613"/>
            </a:solidFill>
            <a:prstDash val="solid"/>
          </a:ln>
        </p:spPr>
      </p:sp>
      <p:sp>
        <p:nvSpPr>
          <p:cNvPr id="33" name="Text 31"/>
          <p:cNvSpPr/>
          <p:nvPr/>
        </p:nvSpPr>
        <p:spPr>
          <a:xfrm>
            <a:off x="9491472" y="2020824"/>
            <a:ext cx="2221992" cy="512064"/>
          </a:xfrm>
          <a:prstGeom prst="rect">
            <a:avLst/>
          </a:prstGeom>
          <a:noFill/>
          <a:ln/>
        </p:spPr>
        <p:txBody>
          <a:bodyPr wrap="square" lIns="254" tIns="254" rIns="254" bIns="254" rtlCol="0" anchor="t">
            <a:normAutofit/>
          </a:bodyPr>
          <a:lstStyle/>
          <a:p>
            <a:pPr indent="0" marL="0">
              <a:buNone/>
            </a:pPr>
            <a:r>
              <a:rPr lang="en-US" sz="820" dirty="0">
                <a:solidFill>
                  <a:srgbClr val="F2F2F2"/>
                </a:solidFill>
              </a:rPr>
              <a:t>Use the latest usable fleet base for the opportunity slides: 2025 vehicles in service = 7,208.</a:t>
            </a:r>
            <a:endParaRPr lang="en-US" sz="820" dirty="0"/>
          </a:p>
        </p:txBody>
      </p:sp>
      <p:sp>
        <p:nvSpPr>
          <p:cNvPr id="34" name="Shape 32"/>
          <p:cNvSpPr/>
          <p:nvPr/>
        </p:nvSpPr>
        <p:spPr>
          <a:xfrm>
            <a:off x="9272016" y="3017520"/>
            <a:ext cx="82296" cy="82296"/>
          </a:xfrm>
          <a:prstGeom prst="ellipse">
            <a:avLst/>
          </a:prstGeom>
          <a:solidFill>
            <a:srgbClr val="F5A000"/>
          </a:solidFill>
          <a:ln w="12700">
            <a:solidFill>
              <a:srgbClr val="F5A000"/>
            </a:solidFill>
            <a:prstDash val="solid"/>
          </a:ln>
        </p:spPr>
      </p:sp>
      <p:sp>
        <p:nvSpPr>
          <p:cNvPr id="35" name="Text 33"/>
          <p:cNvSpPr/>
          <p:nvPr/>
        </p:nvSpPr>
        <p:spPr>
          <a:xfrm>
            <a:off x="9491472" y="2953512"/>
            <a:ext cx="2221992" cy="512064"/>
          </a:xfrm>
          <a:prstGeom prst="rect">
            <a:avLst/>
          </a:prstGeom>
          <a:noFill/>
          <a:ln/>
        </p:spPr>
        <p:txBody>
          <a:bodyPr wrap="square" lIns="254" tIns="254" rIns="254" bIns="254" rtlCol="0" anchor="t">
            <a:normAutofit/>
          </a:bodyPr>
          <a:lstStyle/>
          <a:p>
            <a:pPr indent="0" marL="0">
              <a:buNone/>
            </a:pPr>
            <a:r>
              <a:rPr lang="en-US" sz="820" dirty="0">
                <a:solidFill>
                  <a:srgbClr val="F2F2F2"/>
                </a:solidFill>
              </a:rPr>
              <a:t>2024 is the latest actual fleet year. The 2025 base is used by the current model and should be labelled as the model base.</a:t>
            </a:r>
            <a:endParaRPr lang="en-US" sz="820" dirty="0"/>
          </a:p>
        </p:txBody>
      </p:sp>
      <p:sp>
        <p:nvSpPr>
          <p:cNvPr id="36" name="Shape 34"/>
          <p:cNvSpPr/>
          <p:nvPr/>
        </p:nvSpPr>
        <p:spPr>
          <a:xfrm>
            <a:off x="9272016" y="3950208"/>
            <a:ext cx="82296" cy="82296"/>
          </a:xfrm>
          <a:prstGeom prst="ellipse">
            <a:avLst/>
          </a:prstGeom>
          <a:solidFill>
            <a:srgbClr val="F5A000"/>
          </a:solidFill>
          <a:ln w="12700">
            <a:solidFill>
              <a:srgbClr val="F5A000"/>
            </a:solidFill>
            <a:prstDash val="solid"/>
          </a:ln>
        </p:spPr>
      </p:sp>
      <p:sp>
        <p:nvSpPr>
          <p:cNvPr id="37" name="Text 35"/>
          <p:cNvSpPr/>
          <p:nvPr/>
        </p:nvSpPr>
        <p:spPr>
          <a:xfrm>
            <a:off x="9491472" y="3886200"/>
            <a:ext cx="2221992" cy="512064"/>
          </a:xfrm>
          <a:prstGeom prst="rect">
            <a:avLst/>
          </a:prstGeom>
          <a:noFill/>
          <a:ln/>
        </p:spPr>
        <p:txBody>
          <a:bodyPr wrap="square" lIns="254" tIns="254" rIns="254" bIns="254" rtlCol="0" anchor="t">
            <a:normAutofit/>
          </a:bodyPr>
          <a:lstStyle/>
          <a:p>
            <a:pPr indent="0" marL="0">
              <a:buNone/>
            </a:pPr>
            <a:r>
              <a:rPr lang="en-US" sz="820" dirty="0">
                <a:solidFill>
                  <a:srgbClr val="F2F2F2"/>
                </a:solidFill>
              </a:rPr>
              <a:t>Do not quote the 2026 fleet forecast in this review.</a:t>
            </a:r>
            <a:endParaRPr lang="en-US" sz="820" dirty="0"/>
          </a:p>
        </p:txBody>
      </p:sp>
      <p:sp>
        <p:nvSpPr>
          <p:cNvPr id="38" name="Shape 36"/>
          <p:cNvSpPr/>
          <p:nvPr/>
        </p:nvSpPr>
        <p:spPr>
          <a:xfrm>
            <a:off x="9272016" y="4882896"/>
            <a:ext cx="82296" cy="82296"/>
          </a:xfrm>
          <a:prstGeom prst="ellipse">
            <a:avLst/>
          </a:prstGeom>
          <a:solidFill>
            <a:srgbClr val="F5A000"/>
          </a:solidFill>
          <a:ln w="12700">
            <a:solidFill>
              <a:srgbClr val="F5A000"/>
            </a:solidFill>
            <a:prstDash val="solid"/>
          </a:ln>
        </p:spPr>
      </p:sp>
      <p:sp>
        <p:nvSpPr>
          <p:cNvPr id="39" name="Text 37"/>
          <p:cNvSpPr/>
          <p:nvPr/>
        </p:nvSpPr>
        <p:spPr>
          <a:xfrm>
            <a:off x="9491472" y="4818888"/>
            <a:ext cx="2221992" cy="512064"/>
          </a:xfrm>
          <a:prstGeom prst="rect">
            <a:avLst/>
          </a:prstGeom>
          <a:noFill/>
          <a:ln/>
        </p:spPr>
        <p:txBody>
          <a:bodyPr wrap="square" lIns="254" tIns="254" rIns="254" bIns="254" rtlCol="0" anchor="t">
            <a:normAutofit/>
          </a:bodyPr>
          <a:lstStyle/>
          <a:p>
            <a:pPr indent="0" marL="0">
              <a:buNone/>
            </a:pPr>
            <a:r>
              <a:rPr lang="en-US" sz="820" dirty="0">
                <a:solidFill>
                  <a:srgbClr val="F2F2F2"/>
                </a:solidFill>
              </a:rPr>
              <a:t>Question: does I Motors agree with the scale and mix of this fleet base before we turn the category gaps into actions?</a:t>
            </a:r>
            <a:endParaRPr lang="en-US" sz="8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62626"/>
        </a:solidFill>
      </p:bgPr>
    </p:bg>
    <p:spTree>
      <p:nvGrpSpPr>
        <p:cNvPr id="1" name=""/>
        <p:cNvGrpSpPr/>
        <p:nvPr/>
      </p:nvGrpSpPr>
      <p:grpSpPr>
        <a:xfrm>
          <a:off x="0" y="0"/>
          <a:ext cx="0" cy="0"/>
          <a:chOff x="0" y="0"/>
          <a:chExt cx="0" cy="0"/>
        </a:xfrm>
      </p:grpSpPr>
      <p:sp>
        <p:nvSpPr>
          <p:cNvPr id="2" name="Text 0"/>
          <p:cNvSpPr/>
          <p:nvPr/>
        </p:nvSpPr>
        <p:spPr>
          <a:xfrm>
            <a:off x="228600" y="91440"/>
            <a:ext cx="3474720" cy="164592"/>
          </a:xfrm>
          <a:prstGeom prst="rect">
            <a:avLst/>
          </a:prstGeom>
          <a:noFill/>
          <a:ln/>
        </p:spPr>
        <p:txBody>
          <a:bodyPr wrap="square" rtlCol="0" anchor="ctr">
            <a:normAutofit/>
          </a:bodyPr>
          <a:lstStyle/>
          <a:p>
            <a:pPr indent="0" marL="0">
              <a:buNone/>
            </a:pPr>
            <a:r>
              <a:rPr lang="en-US" sz="660" b="1" dirty="0">
                <a:solidFill>
                  <a:srgbClr val="F2F2F2"/>
                </a:solidFill>
                <a:latin typeface="Aptos" pitchFamily="34" charset="0"/>
                <a:ea typeface="Aptos" pitchFamily="34" charset="-122"/>
                <a:cs typeface="Aptos" pitchFamily="34" charset="-120"/>
              </a:rPr>
              <a:t>ISZE  ·  VEHICLE PARTS &amp; ACCESSORIES</a:t>
            </a:r>
            <a:endParaRPr lang="en-US" sz="660" dirty="0"/>
          </a:p>
        </p:txBody>
      </p:sp>
      <p:sp>
        <p:nvSpPr>
          <p:cNvPr id="3" name="Shape 1"/>
          <p:cNvSpPr/>
          <p:nvPr/>
        </p:nvSpPr>
        <p:spPr>
          <a:xfrm>
            <a:off x="228600" y="6629400"/>
            <a:ext cx="11750040" cy="0"/>
          </a:xfrm>
          <a:prstGeom prst="line">
            <a:avLst/>
          </a:prstGeom>
          <a:noFill/>
          <a:ln w="6350">
            <a:solidFill>
              <a:srgbClr val="575757"/>
            </a:solidFill>
            <a:prstDash val="solid"/>
          </a:ln>
        </p:spPr>
      </p:sp>
      <p:sp>
        <p:nvSpPr>
          <p:cNvPr id="4" name="Text 2"/>
          <p:cNvSpPr/>
          <p:nvPr/>
        </p:nvSpPr>
        <p:spPr>
          <a:xfrm>
            <a:off x="228600" y="393192"/>
            <a:ext cx="4114800" cy="201168"/>
          </a:xfrm>
          <a:prstGeom prst="rect">
            <a:avLst/>
          </a:prstGeom>
          <a:noFill/>
          <a:ln/>
        </p:spPr>
        <p:txBody>
          <a:bodyPr wrap="square" rtlCol="0" anchor="ctr">
            <a:normAutofit/>
          </a:bodyPr>
          <a:lstStyle/>
          <a:p>
            <a:pPr indent="0" marL="0">
              <a:buNone/>
            </a:pPr>
            <a:r>
              <a:rPr lang="en-US" sz="750" b="1" dirty="0">
                <a:solidFill>
                  <a:srgbClr val="E30613"/>
                </a:solidFill>
              </a:rPr>
              <a:t>GENUINE PARTS SHARE</a:t>
            </a:r>
            <a:endParaRPr lang="en-US" sz="750" dirty="0"/>
          </a:p>
        </p:txBody>
      </p:sp>
      <p:sp>
        <p:nvSpPr>
          <p:cNvPr id="5" name="Text 3"/>
          <p:cNvSpPr/>
          <p:nvPr/>
        </p:nvSpPr>
        <p:spPr>
          <a:xfrm>
            <a:off x="228600" y="713232"/>
            <a:ext cx="9052560" cy="438912"/>
          </a:xfrm>
          <a:prstGeom prst="rect">
            <a:avLst/>
          </a:prstGeom>
          <a:noFill/>
          <a:ln/>
        </p:spPr>
        <p:txBody>
          <a:bodyPr wrap="square" lIns="0" tIns="0" rIns="0" bIns="0" rtlCol="0" anchor="ctr">
            <a:normAutofit/>
          </a:bodyPr>
          <a:lstStyle/>
          <a:p>
            <a:pPr indent="0" marL="0">
              <a:buNone/>
            </a:pPr>
            <a:r>
              <a:rPr lang="en-US" sz="2250" b="1" dirty="0">
                <a:solidFill>
                  <a:srgbClr val="F2F2F2"/>
                </a:solidFill>
              </a:rPr>
              <a:t>FY2026 reached 61% of modelled target spend, leaving a large sales gap</a:t>
            </a:r>
            <a:endParaRPr lang="en-US" sz="2250" dirty="0"/>
          </a:p>
        </p:txBody>
      </p:sp>
      <p:sp>
        <p:nvSpPr>
          <p:cNvPr id="6" name="Text 4"/>
          <p:cNvSpPr/>
          <p:nvPr/>
        </p:nvSpPr>
        <p:spPr>
          <a:xfrm>
            <a:off x="228600" y="1188720"/>
            <a:ext cx="8046720" cy="219456"/>
          </a:xfrm>
          <a:prstGeom prst="rect">
            <a:avLst/>
          </a:prstGeom>
          <a:noFill/>
          <a:ln/>
        </p:spPr>
        <p:txBody>
          <a:bodyPr wrap="square" lIns="0" tIns="0" rIns="0" bIns="0" rtlCol="0" anchor="ctr">
            <a:normAutofit/>
          </a:bodyPr>
          <a:lstStyle/>
          <a:p>
            <a:pPr indent="0" marL="0">
              <a:buNone/>
            </a:pPr>
            <a:r>
              <a:rPr lang="en-US" sz="850" dirty="0">
                <a:solidFill>
                  <a:srgbClr val="BDBDBD"/>
                </a:solidFill>
              </a:rPr>
              <a:t>I Motors | FY view | ISZE parts billed versus modelled target-spend ceiling</a:t>
            </a:r>
            <a:endParaRPr lang="en-US" sz="850" dirty="0"/>
          </a:p>
        </p:txBody>
      </p:sp>
      <p:sp>
        <p:nvSpPr>
          <p:cNvPr id="7" name="Shape 5"/>
          <p:cNvSpPr/>
          <p:nvPr/>
        </p:nvSpPr>
        <p:spPr>
          <a:xfrm>
            <a:off x="713232" y="4983480"/>
            <a:ext cx="5394960" cy="0"/>
          </a:xfrm>
          <a:prstGeom prst="line">
            <a:avLst/>
          </a:prstGeom>
          <a:noFill/>
          <a:ln w="5080">
            <a:solidFill>
              <a:srgbClr val="4D4D4D">
                <a:alpha val="80000"/>
              </a:srgbClr>
            </a:solidFill>
            <a:prstDash val="solid"/>
          </a:ln>
        </p:spPr>
      </p:sp>
      <p:sp>
        <p:nvSpPr>
          <p:cNvPr id="8" name="Text 6"/>
          <p:cNvSpPr/>
          <p:nvPr/>
        </p:nvSpPr>
        <p:spPr>
          <a:xfrm>
            <a:off x="411480" y="4928616"/>
            <a:ext cx="237744" cy="109728"/>
          </a:xfrm>
          <a:prstGeom prst="rect">
            <a:avLst/>
          </a:prstGeom>
          <a:noFill/>
          <a:ln/>
        </p:spPr>
        <p:txBody>
          <a:bodyPr wrap="square" lIns="254" tIns="254" rIns="254" bIns="254" rtlCol="0" anchor="ctr">
            <a:normAutofit/>
          </a:bodyPr>
          <a:lstStyle/>
          <a:p>
            <a:pPr algn="r" indent="0" marL="0">
              <a:buNone/>
            </a:pPr>
            <a:r>
              <a:rPr lang="en-US" sz="650" dirty="0">
                <a:solidFill>
                  <a:srgbClr val="BDBDBD"/>
                </a:solidFill>
              </a:rPr>
              <a:t>0</a:t>
            </a:r>
            <a:endParaRPr lang="en-US" sz="650" dirty="0"/>
          </a:p>
        </p:txBody>
      </p:sp>
      <p:sp>
        <p:nvSpPr>
          <p:cNvPr id="9" name="Shape 7"/>
          <p:cNvSpPr/>
          <p:nvPr/>
        </p:nvSpPr>
        <p:spPr>
          <a:xfrm>
            <a:off x="713232" y="4126230"/>
            <a:ext cx="5394960" cy="0"/>
          </a:xfrm>
          <a:prstGeom prst="line">
            <a:avLst/>
          </a:prstGeom>
          <a:noFill/>
          <a:ln w="5080">
            <a:solidFill>
              <a:srgbClr val="4D4D4D">
                <a:alpha val="80000"/>
              </a:srgbClr>
            </a:solidFill>
            <a:prstDash val="solid"/>
          </a:ln>
        </p:spPr>
      </p:sp>
      <p:sp>
        <p:nvSpPr>
          <p:cNvPr id="10" name="Text 8"/>
          <p:cNvSpPr/>
          <p:nvPr/>
        </p:nvSpPr>
        <p:spPr>
          <a:xfrm>
            <a:off x="411480" y="4071366"/>
            <a:ext cx="237744" cy="109728"/>
          </a:xfrm>
          <a:prstGeom prst="rect">
            <a:avLst/>
          </a:prstGeom>
          <a:noFill/>
          <a:ln/>
        </p:spPr>
        <p:txBody>
          <a:bodyPr wrap="square" lIns="254" tIns="254" rIns="254" bIns="254" rtlCol="0" anchor="ctr">
            <a:normAutofit/>
          </a:bodyPr>
          <a:lstStyle/>
          <a:p>
            <a:pPr algn="r" indent="0" marL="0">
              <a:buNone/>
            </a:pPr>
            <a:r>
              <a:rPr lang="en-US" sz="650" dirty="0">
                <a:solidFill>
                  <a:srgbClr val="BDBDBD"/>
                </a:solidFill>
              </a:rPr>
              <a:t>825</a:t>
            </a:r>
            <a:endParaRPr lang="en-US" sz="650" dirty="0"/>
          </a:p>
        </p:txBody>
      </p:sp>
      <p:sp>
        <p:nvSpPr>
          <p:cNvPr id="11" name="Shape 9"/>
          <p:cNvSpPr/>
          <p:nvPr/>
        </p:nvSpPr>
        <p:spPr>
          <a:xfrm>
            <a:off x="713232" y="3268980"/>
            <a:ext cx="5394960" cy="0"/>
          </a:xfrm>
          <a:prstGeom prst="line">
            <a:avLst/>
          </a:prstGeom>
          <a:noFill/>
          <a:ln w="5080">
            <a:solidFill>
              <a:srgbClr val="4D4D4D">
                <a:alpha val="80000"/>
              </a:srgbClr>
            </a:solidFill>
            <a:prstDash val="solid"/>
          </a:ln>
        </p:spPr>
      </p:sp>
      <p:sp>
        <p:nvSpPr>
          <p:cNvPr id="12" name="Text 10"/>
          <p:cNvSpPr/>
          <p:nvPr/>
        </p:nvSpPr>
        <p:spPr>
          <a:xfrm>
            <a:off x="411480" y="3214116"/>
            <a:ext cx="237744" cy="109728"/>
          </a:xfrm>
          <a:prstGeom prst="rect">
            <a:avLst/>
          </a:prstGeom>
          <a:noFill/>
          <a:ln/>
        </p:spPr>
        <p:txBody>
          <a:bodyPr wrap="square" lIns="254" tIns="254" rIns="254" bIns="254" rtlCol="0" anchor="ctr">
            <a:normAutofit/>
          </a:bodyPr>
          <a:lstStyle/>
          <a:p>
            <a:pPr algn="r" indent="0" marL="0">
              <a:buNone/>
            </a:pPr>
            <a:r>
              <a:rPr lang="en-US" sz="650" dirty="0">
                <a:solidFill>
                  <a:srgbClr val="BDBDBD"/>
                </a:solidFill>
              </a:rPr>
              <a:t>1650</a:t>
            </a:r>
            <a:endParaRPr lang="en-US" sz="650" dirty="0"/>
          </a:p>
        </p:txBody>
      </p:sp>
      <p:sp>
        <p:nvSpPr>
          <p:cNvPr id="13" name="Shape 11"/>
          <p:cNvSpPr/>
          <p:nvPr/>
        </p:nvSpPr>
        <p:spPr>
          <a:xfrm>
            <a:off x="713232" y="2411730"/>
            <a:ext cx="5394960" cy="0"/>
          </a:xfrm>
          <a:prstGeom prst="line">
            <a:avLst/>
          </a:prstGeom>
          <a:noFill/>
          <a:ln w="5080">
            <a:solidFill>
              <a:srgbClr val="4D4D4D">
                <a:alpha val="80000"/>
              </a:srgbClr>
            </a:solidFill>
            <a:prstDash val="solid"/>
          </a:ln>
        </p:spPr>
      </p:sp>
      <p:sp>
        <p:nvSpPr>
          <p:cNvPr id="14" name="Text 12"/>
          <p:cNvSpPr/>
          <p:nvPr/>
        </p:nvSpPr>
        <p:spPr>
          <a:xfrm>
            <a:off x="411480" y="2356866"/>
            <a:ext cx="237744" cy="109728"/>
          </a:xfrm>
          <a:prstGeom prst="rect">
            <a:avLst/>
          </a:prstGeom>
          <a:noFill/>
          <a:ln/>
        </p:spPr>
        <p:txBody>
          <a:bodyPr wrap="square" lIns="254" tIns="254" rIns="254" bIns="254" rtlCol="0" anchor="ctr">
            <a:normAutofit/>
          </a:bodyPr>
          <a:lstStyle/>
          <a:p>
            <a:pPr algn="r" indent="0" marL="0">
              <a:buNone/>
            </a:pPr>
            <a:r>
              <a:rPr lang="en-US" sz="650" dirty="0">
                <a:solidFill>
                  <a:srgbClr val="BDBDBD"/>
                </a:solidFill>
              </a:rPr>
              <a:t>2475</a:t>
            </a:r>
            <a:endParaRPr lang="en-US" sz="650" dirty="0"/>
          </a:p>
        </p:txBody>
      </p:sp>
      <p:sp>
        <p:nvSpPr>
          <p:cNvPr id="15" name="Shape 13"/>
          <p:cNvSpPr/>
          <p:nvPr/>
        </p:nvSpPr>
        <p:spPr>
          <a:xfrm>
            <a:off x="713232" y="1554480"/>
            <a:ext cx="5394960" cy="0"/>
          </a:xfrm>
          <a:prstGeom prst="line">
            <a:avLst/>
          </a:prstGeom>
          <a:noFill/>
          <a:ln w="5080">
            <a:solidFill>
              <a:srgbClr val="4D4D4D">
                <a:alpha val="80000"/>
              </a:srgbClr>
            </a:solidFill>
            <a:prstDash val="solid"/>
          </a:ln>
        </p:spPr>
      </p:sp>
      <p:sp>
        <p:nvSpPr>
          <p:cNvPr id="16" name="Text 14"/>
          <p:cNvSpPr/>
          <p:nvPr/>
        </p:nvSpPr>
        <p:spPr>
          <a:xfrm>
            <a:off x="411480" y="1499616"/>
            <a:ext cx="237744" cy="109728"/>
          </a:xfrm>
          <a:prstGeom prst="rect">
            <a:avLst/>
          </a:prstGeom>
          <a:noFill/>
          <a:ln/>
        </p:spPr>
        <p:txBody>
          <a:bodyPr wrap="square" lIns="254" tIns="254" rIns="254" bIns="254" rtlCol="0" anchor="ctr">
            <a:normAutofit/>
          </a:bodyPr>
          <a:lstStyle/>
          <a:p>
            <a:pPr algn="r" indent="0" marL="0">
              <a:buNone/>
            </a:pPr>
            <a:r>
              <a:rPr lang="en-US" sz="650" dirty="0">
                <a:solidFill>
                  <a:srgbClr val="BDBDBD"/>
                </a:solidFill>
              </a:rPr>
              <a:t>3300</a:t>
            </a:r>
            <a:endParaRPr lang="en-US" sz="650" dirty="0"/>
          </a:p>
        </p:txBody>
      </p:sp>
      <p:sp>
        <p:nvSpPr>
          <p:cNvPr id="17" name="Shape 15"/>
          <p:cNvSpPr/>
          <p:nvPr/>
        </p:nvSpPr>
        <p:spPr>
          <a:xfrm>
            <a:off x="822960" y="3509010"/>
            <a:ext cx="743712" cy="1474470"/>
          </a:xfrm>
          <a:prstGeom prst="rect">
            <a:avLst/>
          </a:prstGeom>
          <a:solidFill>
            <a:srgbClr val="E30613"/>
          </a:solidFill>
          <a:ln w="12700">
            <a:solidFill>
              <a:srgbClr val="E30613"/>
            </a:solidFill>
            <a:prstDash val="solid"/>
          </a:ln>
        </p:spPr>
      </p:sp>
      <p:sp>
        <p:nvSpPr>
          <p:cNvPr id="18" name="Shape 16"/>
          <p:cNvSpPr/>
          <p:nvPr/>
        </p:nvSpPr>
        <p:spPr>
          <a:xfrm>
            <a:off x="1594104" y="2189365"/>
            <a:ext cx="743712" cy="2794115"/>
          </a:xfrm>
          <a:prstGeom prst="rect">
            <a:avLst/>
          </a:prstGeom>
          <a:solidFill>
            <a:srgbClr val="B7B7B7"/>
          </a:solidFill>
          <a:ln w="12700">
            <a:solidFill>
              <a:srgbClr val="B7B7B7"/>
            </a:solidFill>
            <a:prstDash val="solid"/>
          </a:ln>
        </p:spPr>
      </p:sp>
      <p:sp>
        <p:nvSpPr>
          <p:cNvPr id="19" name="Text 17"/>
          <p:cNvSpPr/>
          <p:nvPr/>
        </p:nvSpPr>
        <p:spPr>
          <a:xfrm>
            <a:off x="804672" y="5129784"/>
            <a:ext cx="1688592" cy="137160"/>
          </a:xfrm>
          <a:prstGeom prst="rect">
            <a:avLst/>
          </a:prstGeom>
          <a:noFill/>
          <a:ln/>
        </p:spPr>
        <p:txBody>
          <a:bodyPr wrap="square" lIns="254" tIns="254" rIns="254" bIns="254" rtlCol="0" anchor="ctr">
            <a:normAutofit/>
          </a:bodyPr>
          <a:lstStyle/>
          <a:p>
            <a:pPr algn="ctr" indent="0" marL="0">
              <a:buNone/>
            </a:pPr>
            <a:r>
              <a:rPr lang="en-US" sz="700" dirty="0">
                <a:solidFill>
                  <a:srgbClr val="BDBDBD"/>
                </a:solidFill>
              </a:rPr>
              <a:t>FY2024</a:t>
            </a:r>
            <a:endParaRPr lang="en-US" sz="700" dirty="0"/>
          </a:p>
        </p:txBody>
      </p:sp>
      <p:sp>
        <p:nvSpPr>
          <p:cNvPr id="20" name="Shape 18"/>
          <p:cNvSpPr/>
          <p:nvPr/>
        </p:nvSpPr>
        <p:spPr>
          <a:xfrm>
            <a:off x="2621280" y="3361563"/>
            <a:ext cx="743712" cy="1621917"/>
          </a:xfrm>
          <a:prstGeom prst="rect">
            <a:avLst/>
          </a:prstGeom>
          <a:solidFill>
            <a:srgbClr val="E30613"/>
          </a:solidFill>
          <a:ln w="12700">
            <a:solidFill>
              <a:srgbClr val="E30613"/>
            </a:solidFill>
            <a:prstDash val="solid"/>
          </a:ln>
        </p:spPr>
      </p:sp>
      <p:sp>
        <p:nvSpPr>
          <p:cNvPr id="21" name="Shape 19"/>
          <p:cNvSpPr/>
          <p:nvPr/>
        </p:nvSpPr>
        <p:spPr>
          <a:xfrm>
            <a:off x="3392424" y="1884495"/>
            <a:ext cx="743712" cy="3098985"/>
          </a:xfrm>
          <a:prstGeom prst="rect">
            <a:avLst/>
          </a:prstGeom>
          <a:solidFill>
            <a:srgbClr val="B7B7B7"/>
          </a:solidFill>
          <a:ln w="12700">
            <a:solidFill>
              <a:srgbClr val="B7B7B7"/>
            </a:solidFill>
            <a:prstDash val="solid"/>
          </a:ln>
        </p:spPr>
      </p:sp>
      <p:sp>
        <p:nvSpPr>
          <p:cNvPr id="22" name="Text 20"/>
          <p:cNvSpPr/>
          <p:nvPr/>
        </p:nvSpPr>
        <p:spPr>
          <a:xfrm>
            <a:off x="2602992" y="5129784"/>
            <a:ext cx="1688592" cy="137160"/>
          </a:xfrm>
          <a:prstGeom prst="rect">
            <a:avLst/>
          </a:prstGeom>
          <a:noFill/>
          <a:ln/>
        </p:spPr>
        <p:txBody>
          <a:bodyPr wrap="square" lIns="254" tIns="254" rIns="254" bIns="254" rtlCol="0" anchor="ctr">
            <a:normAutofit/>
          </a:bodyPr>
          <a:lstStyle/>
          <a:p>
            <a:pPr algn="ctr" indent="0" marL="0">
              <a:buNone/>
            </a:pPr>
            <a:r>
              <a:rPr lang="en-US" sz="700" dirty="0">
                <a:solidFill>
                  <a:srgbClr val="BDBDBD"/>
                </a:solidFill>
              </a:rPr>
              <a:t>FY2025</a:t>
            </a:r>
            <a:endParaRPr lang="en-US" sz="700" dirty="0"/>
          </a:p>
        </p:txBody>
      </p:sp>
      <p:sp>
        <p:nvSpPr>
          <p:cNvPr id="23" name="Shape 21"/>
          <p:cNvSpPr/>
          <p:nvPr/>
        </p:nvSpPr>
        <p:spPr>
          <a:xfrm>
            <a:off x="4419600" y="3057421"/>
            <a:ext cx="743712" cy="1926059"/>
          </a:xfrm>
          <a:prstGeom prst="rect">
            <a:avLst/>
          </a:prstGeom>
          <a:solidFill>
            <a:srgbClr val="E30613"/>
          </a:solidFill>
          <a:ln w="12700">
            <a:solidFill>
              <a:srgbClr val="E30613"/>
            </a:solidFill>
            <a:prstDash val="solid"/>
          </a:ln>
        </p:spPr>
      </p:sp>
      <p:sp>
        <p:nvSpPr>
          <p:cNvPr id="24" name="Shape 22"/>
          <p:cNvSpPr/>
          <p:nvPr/>
        </p:nvSpPr>
        <p:spPr>
          <a:xfrm>
            <a:off x="5190744" y="1812071"/>
            <a:ext cx="743712" cy="3171409"/>
          </a:xfrm>
          <a:prstGeom prst="rect">
            <a:avLst/>
          </a:prstGeom>
          <a:solidFill>
            <a:srgbClr val="B7B7B7"/>
          </a:solidFill>
          <a:ln w="12700">
            <a:solidFill>
              <a:srgbClr val="B7B7B7"/>
            </a:solidFill>
            <a:prstDash val="solid"/>
          </a:ln>
        </p:spPr>
      </p:sp>
      <p:sp>
        <p:nvSpPr>
          <p:cNvPr id="25" name="Text 23"/>
          <p:cNvSpPr/>
          <p:nvPr/>
        </p:nvSpPr>
        <p:spPr>
          <a:xfrm>
            <a:off x="4401312" y="5129784"/>
            <a:ext cx="1688592" cy="137160"/>
          </a:xfrm>
          <a:prstGeom prst="rect">
            <a:avLst/>
          </a:prstGeom>
          <a:noFill/>
          <a:ln/>
        </p:spPr>
        <p:txBody>
          <a:bodyPr wrap="square" lIns="254" tIns="254" rIns="254" bIns="254" rtlCol="0" anchor="ctr">
            <a:normAutofit/>
          </a:bodyPr>
          <a:lstStyle/>
          <a:p>
            <a:pPr algn="ctr" indent="0" marL="0">
              <a:buNone/>
            </a:pPr>
            <a:r>
              <a:rPr lang="en-US" sz="700" dirty="0">
                <a:solidFill>
                  <a:srgbClr val="BDBDBD"/>
                </a:solidFill>
              </a:rPr>
              <a:t>FY2026</a:t>
            </a:r>
            <a:endParaRPr lang="en-US" sz="700" dirty="0"/>
          </a:p>
        </p:txBody>
      </p:sp>
      <p:sp>
        <p:nvSpPr>
          <p:cNvPr id="26" name="Shape 24"/>
          <p:cNvSpPr/>
          <p:nvPr/>
        </p:nvSpPr>
        <p:spPr>
          <a:xfrm>
            <a:off x="6355080" y="4572000"/>
            <a:ext cx="2240280" cy="0"/>
          </a:xfrm>
          <a:prstGeom prst="line">
            <a:avLst/>
          </a:prstGeom>
          <a:noFill/>
          <a:ln w="5080">
            <a:solidFill>
              <a:srgbClr val="4D4D4D">
                <a:alpha val="80000"/>
              </a:srgbClr>
            </a:solidFill>
            <a:prstDash val="solid"/>
          </a:ln>
        </p:spPr>
      </p:sp>
      <p:sp>
        <p:nvSpPr>
          <p:cNvPr id="27" name="Text 25"/>
          <p:cNvSpPr/>
          <p:nvPr/>
        </p:nvSpPr>
        <p:spPr>
          <a:xfrm>
            <a:off x="6016752" y="4517136"/>
            <a:ext cx="274320" cy="109728"/>
          </a:xfrm>
          <a:prstGeom prst="rect">
            <a:avLst/>
          </a:prstGeom>
          <a:noFill/>
          <a:ln/>
        </p:spPr>
        <p:txBody>
          <a:bodyPr wrap="square" lIns="254" tIns="254" rIns="254" bIns="254" rtlCol="0" anchor="ctr">
            <a:normAutofit/>
          </a:bodyPr>
          <a:lstStyle/>
          <a:p>
            <a:pPr algn="r" indent="0" marL="0">
              <a:buNone/>
            </a:pPr>
            <a:r>
              <a:rPr lang="en-US" sz="650" dirty="0">
                <a:solidFill>
                  <a:srgbClr val="BDBDBD"/>
                </a:solidFill>
              </a:rPr>
              <a:t>45%</a:t>
            </a:r>
            <a:endParaRPr lang="en-US" sz="650" dirty="0"/>
          </a:p>
        </p:txBody>
      </p:sp>
      <p:sp>
        <p:nvSpPr>
          <p:cNvPr id="28" name="Shape 26"/>
          <p:cNvSpPr/>
          <p:nvPr/>
        </p:nvSpPr>
        <p:spPr>
          <a:xfrm>
            <a:off x="6355080" y="3863340"/>
            <a:ext cx="2240280" cy="0"/>
          </a:xfrm>
          <a:prstGeom prst="line">
            <a:avLst/>
          </a:prstGeom>
          <a:noFill/>
          <a:ln w="5080">
            <a:solidFill>
              <a:srgbClr val="4D4D4D">
                <a:alpha val="80000"/>
              </a:srgbClr>
            </a:solidFill>
            <a:prstDash val="solid"/>
          </a:ln>
        </p:spPr>
      </p:sp>
      <p:sp>
        <p:nvSpPr>
          <p:cNvPr id="29" name="Text 27"/>
          <p:cNvSpPr/>
          <p:nvPr/>
        </p:nvSpPr>
        <p:spPr>
          <a:xfrm>
            <a:off x="6016752" y="3808476"/>
            <a:ext cx="274320" cy="109728"/>
          </a:xfrm>
          <a:prstGeom prst="rect">
            <a:avLst/>
          </a:prstGeom>
          <a:noFill/>
          <a:ln/>
        </p:spPr>
        <p:txBody>
          <a:bodyPr wrap="square" lIns="254" tIns="254" rIns="254" bIns="254" rtlCol="0" anchor="ctr">
            <a:normAutofit/>
          </a:bodyPr>
          <a:lstStyle/>
          <a:p>
            <a:pPr algn="r" indent="0" marL="0">
              <a:buNone/>
            </a:pPr>
            <a:r>
              <a:rPr lang="en-US" sz="650" dirty="0">
                <a:solidFill>
                  <a:srgbClr val="BDBDBD"/>
                </a:solidFill>
              </a:rPr>
              <a:t>51%</a:t>
            </a:r>
            <a:endParaRPr lang="en-US" sz="650" dirty="0"/>
          </a:p>
        </p:txBody>
      </p:sp>
      <p:sp>
        <p:nvSpPr>
          <p:cNvPr id="30" name="Shape 28"/>
          <p:cNvSpPr/>
          <p:nvPr/>
        </p:nvSpPr>
        <p:spPr>
          <a:xfrm>
            <a:off x="6355080" y="3154680"/>
            <a:ext cx="2240280" cy="0"/>
          </a:xfrm>
          <a:prstGeom prst="line">
            <a:avLst/>
          </a:prstGeom>
          <a:noFill/>
          <a:ln w="5080">
            <a:solidFill>
              <a:srgbClr val="4D4D4D">
                <a:alpha val="80000"/>
              </a:srgbClr>
            </a:solidFill>
            <a:prstDash val="solid"/>
          </a:ln>
        </p:spPr>
      </p:sp>
      <p:sp>
        <p:nvSpPr>
          <p:cNvPr id="31" name="Text 29"/>
          <p:cNvSpPr/>
          <p:nvPr/>
        </p:nvSpPr>
        <p:spPr>
          <a:xfrm>
            <a:off x="6016752" y="3099816"/>
            <a:ext cx="274320" cy="109728"/>
          </a:xfrm>
          <a:prstGeom prst="rect">
            <a:avLst/>
          </a:prstGeom>
          <a:noFill/>
          <a:ln/>
        </p:spPr>
        <p:txBody>
          <a:bodyPr wrap="square" lIns="254" tIns="254" rIns="254" bIns="254" rtlCol="0" anchor="ctr">
            <a:normAutofit/>
          </a:bodyPr>
          <a:lstStyle/>
          <a:p>
            <a:pPr algn="r" indent="0" marL="0">
              <a:buNone/>
            </a:pPr>
            <a:r>
              <a:rPr lang="en-US" sz="650" dirty="0">
                <a:solidFill>
                  <a:srgbClr val="BDBDBD"/>
                </a:solidFill>
              </a:rPr>
              <a:t>57%</a:t>
            </a:r>
            <a:endParaRPr lang="en-US" sz="650" dirty="0"/>
          </a:p>
        </p:txBody>
      </p:sp>
      <p:sp>
        <p:nvSpPr>
          <p:cNvPr id="32" name="Shape 30"/>
          <p:cNvSpPr/>
          <p:nvPr/>
        </p:nvSpPr>
        <p:spPr>
          <a:xfrm>
            <a:off x="6355080" y="2446020"/>
            <a:ext cx="2240280" cy="0"/>
          </a:xfrm>
          <a:prstGeom prst="line">
            <a:avLst/>
          </a:prstGeom>
          <a:noFill/>
          <a:ln w="5080">
            <a:solidFill>
              <a:srgbClr val="4D4D4D">
                <a:alpha val="80000"/>
              </a:srgbClr>
            </a:solidFill>
            <a:prstDash val="solid"/>
          </a:ln>
        </p:spPr>
      </p:sp>
      <p:sp>
        <p:nvSpPr>
          <p:cNvPr id="33" name="Text 31"/>
          <p:cNvSpPr/>
          <p:nvPr/>
        </p:nvSpPr>
        <p:spPr>
          <a:xfrm>
            <a:off x="6016752" y="2391156"/>
            <a:ext cx="274320" cy="109728"/>
          </a:xfrm>
          <a:prstGeom prst="rect">
            <a:avLst/>
          </a:prstGeom>
          <a:noFill/>
          <a:ln/>
        </p:spPr>
        <p:txBody>
          <a:bodyPr wrap="square" lIns="254" tIns="254" rIns="254" bIns="254" rtlCol="0" anchor="ctr">
            <a:normAutofit/>
          </a:bodyPr>
          <a:lstStyle/>
          <a:p>
            <a:pPr algn="r" indent="0" marL="0">
              <a:buNone/>
            </a:pPr>
            <a:r>
              <a:rPr lang="en-US" sz="650" dirty="0">
                <a:solidFill>
                  <a:srgbClr val="BDBDBD"/>
                </a:solidFill>
              </a:rPr>
              <a:t>64%</a:t>
            </a:r>
            <a:endParaRPr lang="en-US" sz="650" dirty="0"/>
          </a:p>
        </p:txBody>
      </p:sp>
      <p:sp>
        <p:nvSpPr>
          <p:cNvPr id="34" name="Shape 32"/>
          <p:cNvSpPr/>
          <p:nvPr/>
        </p:nvSpPr>
        <p:spPr>
          <a:xfrm>
            <a:off x="6355080" y="1737360"/>
            <a:ext cx="2240280" cy="0"/>
          </a:xfrm>
          <a:prstGeom prst="line">
            <a:avLst/>
          </a:prstGeom>
          <a:noFill/>
          <a:ln w="5080">
            <a:solidFill>
              <a:srgbClr val="4D4D4D">
                <a:alpha val="80000"/>
              </a:srgbClr>
            </a:solidFill>
            <a:prstDash val="solid"/>
          </a:ln>
        </p:spPr>
      </p:sp>
      <p:sp>
        <p:nvSpPr>
          <p:cNvPr id="35" name="Text 33"/>
          <p:cNvSpPr/>
          <p:nvPr/>
        </p:nvSpPr>
        <p:spPr>
          <a:xfrm>
            <a:off x="6016752" y="1682496"/>
            <a:ext cx="274320" cy="109728"/>
          </a:xfrm>
          <a:prstGeom prst="rect">
            <a:avLst/>
          </a:prstGeom>
          <a:noFill/>
          <a:ln/>
        </p:spPr>
        <p:txBody>
          <a:bodyPr wrap="square" lIns="254" tIns="254" rIns="254" bIns="254" rtlCol="0" anchor="ctr">
            <a:normAutofit/>
          </a:bodyPr>
          <a:lstStyle/>
          <a:p>
            <a:pPr algn="r" indent="0" marL="0">
              <a:buNone/>
            </a:pPr>
            <a:r>
              <a:rPr lang="en-US" sz="650" dirty="0">
                <a:solidFill>
                  <a:srgbClr val="BDBDBD"/>
                </a:solidFill>
              </a:rPr>
              <a:t>70%</a:t>
            </a:r>
            <a:endParaRPr lang="en-US" sz="650" dirty="0"/>
          </a:p>
        </p:txBody>
      </p:sp>
      <p:sp>
        <p:nvSpPr>
          <p:cNvPr id="36" name="Shape 34"/>
          <p:cNvSpPr/>
          <p:nvPr/>
        </p:nvSpPr>
        <p:spPr>
          <a:xfrm>
            <a:off x="6355080" y="3690932"/>
            <a:ext cx="1120140" cy="49153"/>
          </a:xfrm>
          <a:prstGeom prst="line">
            <a:avLst/>
          </a:prstGeom>
          <a:noFill/>
          <a:ln w="22860">
            <a:solidFill>
              <a:srgbClr val="F5A000"/>
            </a:solidFill>
            <a:prstDash val="solid"/>
          </a:ln>
        </p:spPr>
      </p:sp>
      <p:sp>
        <p:nvSpPr>
          <p:cNvPr id="37" name="Shape 35"/>
          <p:cNvSpPr/>
          <p:nvPr/>
        </p:nvSpPr>
        <p:spPr>
          <a:xfrm>
            <a:off x="7475220" y="3740085"/>
            <a:ext cx="1120140" cy="-951862"/>
          </a:xfrm>
          <a:prstGeom prst="line">
            <a:avLst/>
          </a:prstGeom>
          <a:noFill/>
          <a:ln w="22860">
            <a:solidFill>
              <a:srgbClr val="F5A000"/>
            </a:solidFill>
            <a:prstDash val="solid"/>
          </a:ln>
        </p:spPr>
      </p:sp>
      <p:sp>
        <p:nvSpPr>
          <p:cNvPr id="38" name="Shape 36"/>
          <p:cNvSpPr/>
          <p:nvPr/>
        </p:nvSpPr>
        <p:spPr>
          <a:xfrm>
            <a:off x="6313932" y="3649784"/>
            <a:ext cx="82296" cy="82296"/>
          </a:xfrm>
          <a:prstGeom prst="ellipse">
            <a:avLst/>
          </a:prstGeom>
          <a:solidFill>
            <a:srgbClr val="F5A000"/>
          </a:solidFill>
          <a:ln w="12700">
            <a:solidFill>
              <a:srgbClr val="F5A000"/>
            </a:solidFill>
            <a:prstDash val="solid"/>
          </a:ln>
        </p:spPr>
      </p:sp>
      <p:sp>
        <p:nvSpPr>
          <p:cNvPr id="39" name="Shape 37"/>
          <p:cNvSpPr/>
          <p:nvPr/>
        </p:nvSpPr>
        <p:spPr>
          <a:xfrm>
            <a:off x="7434072" y="3698937"/>
            <a:ext cx="82296" cy="82296"/>
          </a:xfrm>
          <a:prstGeom prst="ellipse">
            <a:avLst/>
          </a:prstGeom>
          <a:solidFill>
            <a:srgbClr val="F5A000"/>
          </a:solidFill>
          <a:ln w="12700">
            <a:solidFill>
              <a:srgbClr val="F5A000"/>
            </a:solidFill>
            <a:prstDash val="solid"/>
          </a:ln>
        </p:spPr>
      </p:sp>
      <p:sp>
        <p:nvSpPr>
          <p:cNvPr id="40" name="Shape 38"/>
          <p:cNvSpPr/>
          <p:nvPr/>
        </p:nvSpPr>
        <p:spPr>
          <a:xfrm>
            <a:off x="8554212" y="2747075"/>
            <a:ext cx="82296" cy="82296"/>
          </a:xfrm>
          <a:prstGeom prst="ellipse">
            <a:avLst/>
          </a:prstGeom>
          <a:solidFill>
            <a:srgbClr val="F5A000"/>
          </a:solidFill>
          <a:ln w="12700">
            <a:solidFill>
              <a:srgbClr val="F5A000"/>
            </a:solidFill>
            <a:prstDash val="solid"/>
          </a:ln>
        </p:spPr>
      </p:sp>
      <p:sp>
        <p:nvSpPr>
          <p:cNvPr id="41" name="Text 39"/>
          <p:cNvSpPr/>
          <p:nvPr/>
        </p:nvSpPr>
        <p:spPr>
          <a:xfrm>
            <a:off x="6126480" y="4700016"/>
            <a:ext cx="457200" cy="137160"/>
          </a:xfrm>
          <a:prstGeom prst="rect">
            <a:avLst/>
          </a:prstGeom>
          <a:noFill/>
          <a:ln/>
        </p:spPr>
        <p:txBody>
          <a:bodyPr wrap="square" lIns="254" tIns="254" rIns="254" bIns="254" rtlCol="0" anchor="ctr">
            <a:normAutofit/>
          </a:bodyPr>
          <a:lstStyle/>
          <a:p>
            <a:pPr algn="ctr" indent="0" marL="0">
              <a:buNone/>
            </a:pPr>
            <a:r>
              <a:rPr lang="en-US" sz="650" dirty="0">
                <a:solidFill>
                  <a:srgbClr val="BDBDBD"/>
                </a:solidFill>
              </a:rPr>
              <a:t>FY2024</a:t>
            </a:r>
            <a:endParaRPr lang="en-US" sz="650" dirty="0"/>
          </a:p>
        </p:txBody>
      </p:sp>
      <p:sp>
        <p:nvSpPr>
          <p:cNvPr id="42" name="Text 40"/>
          <p:cNvSpPr/>
          <p:nvPr/>
        </p:nvSpPr>
        <p:spPr>
          <a:xfrm>
            <a:off x="7246620" y="4700016"/>
            <a:ext cx="457200" cy="137160"/>
          </a:xfrm>
          <a:prstGeom prst="rect">
            <a:avLst/>
          </a:prstGeom>
          <a:noFill/>
          <a:ln/>
        </p:spPr>
        <p:txBody>
          <a:bodyPr wrap="square" lIns="254" tIns="254" rIns="254" bIns="254" rtlCol="0" anchor="ctr">
            <a:normAutofit/>
          </a:bodyPr>
          <a:lstStyle/>
          <a:p>
            <a:pPr algn="ctr" indent="0" marL="0">
              <a:buNone/>
            </a:pPr>
            <a:r>
              <a:rPr lang="en-US" sz="650" dirty="0">
                <a:solidFill>
                  <a:srgbClr val="BDBDBD"/>
                </a:solidFill>
              </a:rPr>
              <a:t>FY2025</a:t>
            </a:r>
            <a:endParaRPr lang="en-US" sz="650" dirty="0"/>
          </a:p>
        </p:txBody>
      </p:sp>
      <p:sp>
        <p:nvSpPr>
          <p:cNvPr id="43" name="Text 41"/>
          <p:cNvSpPr/>
          <p:nvPr/>
        </p:nvSpPr>
        <p:spPr>
          <a:xfrm>
            <a:off x="8366760" y="4700016"/>
            <a:ext cx="457200" cy="137160"/>
          </a:xfrm>
          <a:prstGeom prst="rect">
            <a:avLst/>
          </a:prstGeom>
          <a:noFill/>
          <a:ln/>
        </p:spPr>
        <p:txBody>
          <a:bodyPr wrap="square" lIns="254" tIns="254" rIns="254" bIns="254" rtlCol="0" anchor="ctr">
            <a:normAutofit/>
          </a:bodyPr>
          <a:lstStyle/>
          <a:p>
            <a:pPr algn="ctr" indent="0" marL="0">
              <a:buNone/>
            </a:pPr>
            <a:r>
              <a:rPr lang="en-US" sz="650" dirty="0">
                <a:solidFill>
                  <a:srgbClr val="BDBDBD"/>
                </a:solidFill>
              </a:rPr>
              <a:t>FY2026</a:t>
            </a:r>
            <a:endParaRPr lang="en-US" sz="650" dirty="0"/>
          </a:p>
        </p:txBody>
      </p:sp>
      <p:sp>
        <p:nvSpPr>
          <p:cNvPr id="44" name="Text 42"/>
          <p:cNvSpPr/>
          <p:nvPr/>
        </p:nvSpPr>
        <p:spPr>
          <a:xfrm>
            <a:off x="749808" y="5349240"/>
            <a:ext cx="2057400" cy="438912"/>
          </a:xfrm>
          <a:prstGeom prst="rect">
            <a:avLst/>
          </a:prstGeom>
          <a:noFill/>
          <a:ln/>
        </p:spPr>
        <p:txBody>
          <a:bodyPr wrap="square" lIns="0" tIns="0" rIns="0" bIns="0" rtlCol="0" anchor="ctr">
            <a:normAutofit/>
          </a:bodyPr>
          <a:lstStyle/>
          <a:p>
            <a:pPr algn="ctr" indent="0" marL="0">
              <a:buNone/>
            </a:pPr>
            <a:r>
              <a:rPr lang="en-US" sz="2500" b="1" dirty="0">
                <a:solidFill>
                  <a:srgbClr val="F5A000"/>
                </a:solidFill>
              </a:rPr>
              <a:t>61%</a:t>
            </a:r>
            <a:endParaRPr lang="en-US" sz="2500" dirty="0"/>
          </a:p>
        </p:txBody>
      </p:sp>
      <p:sp>
        <p:nvSpPr>
          <p:cNvPr id="45" name="Text 43"/>
          <p:cNvSpPr/>
          <p:nvPr/>
        </p:nvSpPr>
        <p:spPr>
          <a:xfrm>
            <a:off x="749808" y="5788152"/>
            <a:ext cx="2057400" cy="274320"/>
          </a:xfrm>
          <a:prstGeom prst="rect">
            <a:avLst/>
          </a:prstGeom>
          <a:noFill/>
          <a:ln/>
        </p:spPr>
        <p:txBody>
          <a:bodyPr wrap="square" lIns="0" tIns="0" rIns="0" bIns="0" rtlCol="0" anchor="ctr">
            <a:normAutofit/>
          </a:bodyPr>
          <a:lstStyle/>
          <a:p>
            <a:pPr algn="ctr" indent="0" marL="0">
              <a:buNone/>
            </a:pPr>
            <a:r>
              <a:rPr lang="en-US" sz="800" dirty="0">
                <a:solidFill>
                  <a:srgbClr val="BDBDBD"/>
                </a:solidFill>
              </a:rPr>
              <a:t>FY2026 target-spend cover</a:t>
            </a:r>
            <a:endParaRPr lang="en-US" sz="800" dirty="0"/>
          </a:p>
        </p:txBody>
      </p:sp>
      <p:sp>
        <p:nvSpPr>
          <p:cNvPr id="46" name="Text 44"/>
          <p:cNvSpPr/>
          <p:nvPr/>
        </p:nvSpPr>
        <p:spPr>
          <a:xfrm>
            <a:off x="2980944" y="5349240"/>
            <a:ext cx="2057400" cy="438912"/>
          </a:xfrm>
          <a:prstGeom prst="rect">
            <a:avLst/>
          </a:prstGeom>
          <a:noFill/>
          <a:ln/>
        </p:spPr>
        <p:txBody>
          <a:bodyPr wrap="square" lIns="0" tIns="0" rIns="0" bIns="0" rtlCol="0" anchor="ctr">
            <a:normAutofit/>
          </a:bodyPr>
          <a:lstStyle/>
          <a:p>
            <a:pPr algn="ctr" indent="0" marL="0">
              <a:buNone/>
            </a:pPr>
            <a:r>
              <a:rPr lang="en-US" sz="2500" b="1" dirty="0">
                <a:solidFill>
                  <a:srgbClr val="E30613"/>
                </a:solidFill>
              </a:rPr>
              <a:t>€1.20M</a:t>
            </a:r>
            <a:endParaRPr lang="en-US" sz="2500" dirty="0"/>
          </a:p>
        </p:txBody>
      </p:sp>
      <p:sp>
        <p:nvSpPr>
          <p:cNvPr id="47" name="Text 45"/>
          <p:cNvSpPr/>
          <p:nvPr/>
        </p:nvSpPr>
        <p:spPr>
          <a:xfrm>
            <a:off x="2980944" y="5788152"/>
            <a:ext cx="2057400" cy="274320"/>
          </a:xfrm>
          <a:prstGeom prst="rect">
            <a:avLst/>
          </a:prstGeom>
          <a:noFill/>
          <a:ln/>
        </p:spPr>
        <p:txBody>
          <a:bodyPr wrap="square" lIns="0" tIns="0" rIns="0" bIns="0" rtlCol="0" anchor="ctr">
            <a:normAutofit/>
          </a:bodyPr>
          <a:lstStyle/>
          <a:p>
            <a:pPr algn="ctr" indent="0" marL="0">
              <a:buNone/>
            </a:pPr>
            <a:r>
              <a:rPr lang="en-US" sz="800" dirty="0">
                <a:solidFill>
                  <a:srgbClr val="BDBDBD"/>
                </a:solidFill>
              </a:rPr>
              <a:t>modelled remaining gap</a:t>
            </a:r>
            <a:endParaRPr lang="en-US" sz="800" dirty="0"/>
          </a:p>
        </p:txBody>
      </p:sp>
      <p:sp>
        <p:nvSpPr>
          <p:cNvPr id="48" name="Shape 46"/>
          <p:cNvSpPr/>
          <p:nvPr/>
        </p:nvSpPr>
        <p:spPr>
          <a:xfrm>
            <a:off x="9015984" y="1335024"/>
            <a:ext cx="2971800" cy="5102352"/>
          </a:xfrm>
          <a:prstGeom prst="roundRect">
            <a:avLst>
              <a:gd name="adj" fmla="val 1846"/>
            </a:avLst>
          </a:prstGeom>
          <a:solidFill>
            <a:srgbClr val="303030"/>
          </a:solidFill>
          <a:ln w="8890">
            <a:solidFill>
              <a:srgbClr val="6E6E6E"/>
            </a:solidFill>
            <a:prstDash val="solid"/>
          </a:ln>
        </p:spPr>
      </p:sp>
      <p:sp>
        <p:nvSpPr>
          <p:cNvPr id="49" name="Text 47"/>
          <p:cNvSpPr/>
          <p:nvPr/>
        </p:nvSpPr>
        <p:spPr>
          <a:xfrm>
            <a:off x="9272016" y="1572768"/>
            <a:ext cx="2468880" cy="182880"/>
          </a:xfrm>
          <a:prstGeom prst="rect">
            <a:avLst/>
          </a:prstGeom>
          <a:noFill/>
          <a:ln/>
        </p:spPr>
        <p:txBody>
          <a:bodyPr wrap="square" rtlCol="0" anchor="ctr">
            <a:normAutofit/>
          </a:bodyPr>
          <a:lstStyle/>
          <a:p>
            <a:pPr indent="0" marL="0">
              <a:buNone/>
            </a:pPr>
            <a:r>
              <a:rPr lang="en-US" sz="750" b="1" dirty="0">
                <a:solidFill>
                  <a:srgbClr val="E30613"/>
                </a:solidFill>
              </a:rPr>
              <a:t>OBSERVATIONS / QUESTIONS</a:t>
            </a:r>
            <a:endParaRPr lang="en-US" sz="750" dirty="0"/>
          </a:p>
        </p:txBody>
      </p:sp>
      <p:sp>
        <p:nvSpPr>
          <p:cNvPr id="50" name="Shape 48"/>
          <p:cNvSpPr/>
          <p:nvPr/>
        </p:nvSpPr>
        <p:spPr>
          <a:xfrm>
            <a:off x="9272016" y="2084832"/>
            <a:ext cx="82296" cy="82296"/>
          </a:xfrm>
          <a:prstGeom prst="ellipse">
            <a:avLst/>
          </a:prstGeom>
          <a:solidFill>
            <a:srgbClr val="E30613"/>
          </a:solidFill>
          <a:ln w="12700">
            <a:solidFill>
              <a:srgbClr val="E30613"/>
            </a:solidFill>
            <a:prstDash val="solid"/>
          </a:ln>
        </p:spPr>
      </p:sp>
      <p:sp>
        <p:nvSpPr>
          <p:cNvPr id="51" name="Text 49"/>
          <p:cNvSpPr/>
          <p:nvPr/>
        </p:nvSpPr>
        <p:spPr>
          <a:xfrm>
            <a:off x="9491472" y="2020824"/>
            <a:ext cx="2221992" cy="512064"/>
          </a:xfrm>
          <a:prstGeom prst="rect">
            <a:avLst/>
          </a:prstGeom>
          <a:noFill/>
          <a:ln/>
        </p:spPr>
        <p:txBody>
          <a:bodyPr wrap="square" lIns="254" tIns="254" rIns="254" bIns="254" rtlCol="0" anchor="t">
            <a:normAutofit/>
          </a:bodyPr>
          <a:lstStyle/>
          <a:p>
            <a:pPr indent="0" marL="0">
              <a:buNone/>
            </a:pPr>
            <a:r>
              <a:rPr lang="en-US" sz="820" dirty="0">
                <a:solidFill>
                  <a:srgbClr val="F2F2F2"/>
                </a:solidFill>
              </a:rPr>
              <a:t>This slide is called Genuine parts share because it is the GPS-style view: ISZE parts billed versus a modelled target-spend ceiling.</a:t>
            </a:r>
            <a:endParaRPr lang="en-US" sz="820" dirty="0"/>
          </a:p>
        </p:txBody>
      </p:sp>
      <p:sp>
        <p:nvSpPr>
          <p:cNvPr id="52" name="Shape 50"/>
          <p:cNvSpPr/>
          <p:nvPr/>
        </p:nvSpPr>
        <p:spPr>
          <a:xfrm>
            <a:off x="9272016" y="3017520"/>
            <a:ext cx="82296" cy="82296"/>
          </a:xfrm>
          <a:prstGeom prst="ellipse">
            <a:avLst/>
          </a:prstGeom>
          <a:solidFill>
            <a:srgbClr val="F5A000"/>
          </a:solidFill>
          <a:ln w="12700">
            <a:solidFill>
              <a:srgbClr val="F5A000"/>
            </a:solidFill>
            <a:prstDash val="solid"/>
          </a:ln>
        </p:spPr>
      </p:sp>
      <p:sp>
        <p:nvSpPr>
          <p:cNvPr id="53" name="Text 51"/>
          <p:cNvSpPr/>
          <p:nvPr/>
        </p:nvSpPr>
        <p:spPr>
          <a:xfrm>
            <a:off x="9491472" y="2953512"/>
            <a:ext cx="2221992" cy="512064"/>
          </a:xfrm>
          <a:prstGeom prst="rect">
            <a:avLst/>
          </a:prstGeom>
          <a:noFill/>
          <a:ln/>
        </p:spPr>
        <p:txBody>
          <a:bodyPr wrap="square" lIns="254" tIns="254" rIns="254" bIns="254" rtlCol="0" anchor="t">
            <a:normAutofit/>
          </a:bodyPr>
          <a:lstStyle/>
          <a:p>
            <a:pPr indent="0" marL="0">
              <a:buNone/>
            </a:pPr>
            <a:r>
              <a:rPr lang="en-US" sz="820" dirty="0">
                <a:solidFill>
                  <a:srgbClr val="F2F2F2"/>
                </a:solidFill>
              </a:rPr>
              <a:t>Target-spend cover means parts billed divided by the modelled spend the fleet should generate. It is not measured competitor spend.</a:t>
            </a:r>
            <a:endParaRPr lang="en-US" sz="820" dirty="0"/>
          </a:p>
        </p:txBody>
      </p:sp>
      <p:sp>
        <p:nvSpPr>
          <p:cNvPr id="54" name="Shape 52"/>
          <p:cNvSpPr/>
          <p:nvPr/>
        </p:nvSpPr>
        <p:spPr>
          <a:xfrm>
            <a:off x="9272016" y="3950208"/>
            <a:ext cx="82296" cy="82296"/>
          </a:xfrm>
          <a:prstGeom prst="ellipse">
            <a:avLst/>
          </a:prstGeom>
          <a:solidFill>
            <a:srgbClr val="F5A000"/>
          </a:solidFill>
          <a:ln w="12700">
            <a:solidFill>
              <a:srgbClr val="F5A000"/>
            </a:solidFill>
            <a:prstDash val="solid"/>
          </a:ln>
        </p:spPr>
      </p:sp>
      <p:sp>
        <p:nvSpPr>
          <p:cNvPr id="55" name="Text 53"/>
          <p:cNvSpPr/>
          <p:nvPr/>
        </p:nvSpPr>
        <p:spPr>
          <a:xfrm>
            <a:off x="9491472" y="3886200"/>
            <a:ext cx="2221992" cy="512064"/>
          </a:xfrm>
          <a:prstGeom prst="rect">
            <a:avLst/>
          </a:prstGeom>
          <a:noFill/>
          <a:ln/>
        </p:spPr>
        <p:txBody>
          <a:bodyPr wrap="square" lIns="254" tIns="254" rIns="254" bIns="254" rtlCol="0" anchor="t">
            <a:normAutofit/>
          </a:bodyPr>
          <a:lstStyle/>
          <a:p>
            <a:pPr indent="0" marL="0">
              <a:buNone/>
            </a:pPr>
            <a:r>
              <a:rPr lang="en-US" sz="820" dirty="0">
                <a:solidFill>
                  <a:srgbClr val="F2F2F2"/>
                </a:solidFill>
              </a:rPr>
              <a:t>FY2026 improved versus FY2025, but roughly four tenths of the modelled spend is still outside ISZE billing.</a:t>
            </a:r>
            <a:endParaRPr lang="en-US" sz="820" dirty="0"/>
          </a:p>
        </p:txBody>
      </p:sp>
      <p:sp>
        <p:nvSpPr>
          <p:cNvPr id="56" name="Shape 54"/>
          <p:cNvSpPr/>
          <p:nvPr/>
        </p:nvSpPr>
        <p:spPr>
          <a:xfrm>
            <a:off x="9272016" y="4882896"/>
            <a:ext cx="82296" cy="82296"/>
          </a:xfrm>
          <a:prstGeom prst="ellipse">
            <a:avLst/>
          </a:prstGeom>
          <a:solidFill>
            <a:srgbClr val="F5A000"/>
          </a:solidFill>
          <a:ln w="12700">
            <a:solidFill>
              <a:srgbClr val="F5A000"/>
            </a:solidFill>
            <a:prstDash val="solid"/>
          </a:ln>
        </p:spPr>
      </p:sp>
      <p:sp>
        <p:nvSpPr>
          <p:cNvPr id="57" name="Text 55"/>
          <p:cNvSpPr/>
          <p:nvPr/>
        </p:nvSpPr>
        <p:spPr>
          <a:xfrm>
            <a:off x="9491472" y="4818888"/>
            <a:ext cx="2221992" cy="512064"/>
          </a:xfrm>
          <a:prstGeom prst="rect">
            <a:avLst/>
          </a:prstGeom>
          <a:noFill/>
          <a:ln/>
        </p:spPr>
        <p:txBody>
          <a:bodyPr wrap="square" lIns="254" tIns="254" rIns="254" bIns="254" rtlCol="0" anchor="t">
            <a:normAutofit/>
          </a:bodyPr>
          <a:lstStyle/>
          <a:p>
            <a:pPr indent="0" marL="0">
              <a:buNone/>
            </a:pPr>
            <a:r>
              <a:rPr lang="en-US" sz="820" dirty="0">
                <a:solidFill>
                  <a:srgbClr val="F2F2F2"/>
                </a:solidFill>
              </a:rPr>
              <a:t>Question: which families explain the remaining gap, and where should I Motors receive category support first?</a:t>
            </a:r>
            <a:endParaRPr lang="en-US" sz="820" dirty="0"/>
          </a:p>
        </p:txBody>
      </p:sp>
      <p:cxnSp>
        <p:nvCxnSpPr>
          <p:cNvPr id="58" name="Connector 57"/>
          <p:cNvCxnSpPr/>
          <p:nvPr/>
        </p:nvCxnSpPr>
        <p:spPr>
          <a:xfrm>
            <a:off x="6355080" y="3690931"/>
            <a:ext cx="1120140" cy="49153"/>
          </a:xfrm>
          <a:prstGeom prst="line">
            <a:avLst/>
          </a:prstGeom>
          <a:ln w="25400">
            <a:solidFill>
              <a:srgbClr val="F5A000"/>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7475220" y="2788222"/>
            <a:ext cx="1120140" cy="951862"/>
          </a:xfrm>
          <a:prstGeom prst="line">
            <a:avLst/>
          </a:prstGeom>
          <a:ln w="25400">
            <a:solidFill>
              <a:srgbClr val="F5A000"/>
            </a:solidFill>
          </a:ln>
        </p:spPr>
        <p:style>
          <a:lnRef idx="2">
            <a:schemeClr val="accent1"/>
          </a:lnRef>
          <a:fillRef idx="0">
            <a:schemeClr val="accent1"/>
          </a:fillRef>
          <a:effectRef idx="1">
            <a:schemeClr val="accent1"/>
          </a:effectRef>
          <a:fontRef idx="minor">
            <a:schemeClr val="tx1"/>
          </a:fontRef>
        </p:style>
      </p:cxnSp>
      <p:sp>
        <p:nvSpPr>
          <p:cNvPr id="60" name="Oval 59"/>
          <p:cNvSpPr/>
          <p:nvPr/>
        </p:nvSpPr>
        <p:spPr>
          <a:xfrm>
            <a:off x="6307531" y="3643383"/>
            <a:ext cx="95097" cy="95097"/>
          </a:xfrm>
          <a:prstGeom prst="ellipse">
            <a:avLst/>
          </a:prstGeom>
          <a:solidFill>
            <a:srgbClr val="F5A000"/>
          </a:solidFill>
          <a:ln w="6350">
            <a:solidFill>
              <a:srgbClr val="F5A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7427671" y="3692536"/>
            <a:ext cx="95097" cy="95097"/>
          </a:xfrm>
          <a:prstGeom prst="ellipse">
            <a:avLst/>
          </a:prstGeom>
          <a:solidFill>
            <a:srgbClr val="F5A000"/>
          </a:solidFill>
          <a:ln w="6350">
            <a:solidFill>
              <a:srgbClr val="F5A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8547811" y="2740674"/>
            <a:ext cx="95097" cy="95097"/>
          </a:xfrm>
          <a:prstGeom prst="ellipse">
            <a:avLst/>
          </a:prstGeom>
          <a:solidFill>
            <a:srgbClr val="F5A000"/>
          </a:solidFill>
          <a:ln w="6350">
            <a:solidFill>
              <a:srgbClr val="F5A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62626"/>
        </a:solidFill>
      </p:bgPr>
    </p:bg>
    <p:spTree>
      <p:nvGrpSpPr>
        <p:cNvPr id="1" name=""/>
        <p:cNvGrpSpPr/>
        <p:nvPr/>
      </p:nvGrpSpPr>
      <p:grpSpPr>
        <a:xfrm>
          <a:off x="0" y="0"/>
          <a:ext cx="0" cy="0"/>
          <a:chOff x="0" y="0"/>
          <a:chExt cx="0" cy="0"/>
        </a:xfrm>
      </p:grpSpPr>
      <p:sp>
        <p:nvSpPr>
          <p:cNvPr id="2" name="Text 0"/>
          <p:cNvSpPr/>
          <p:nvPr/>
        </p:nvSpPr>
        <p:spPr>
          <a:xfrm>
            <a:off x="228600" y="91440"/>
            <a:ext cx="3474720" cy="164592"/>
          </a:xfrm>
          <a:prstGeom prst="rect">
            <a:avLst/>
          </a:prstGeom>
          <a:noFill/>
          <a:ln/>
        </p:spPr>
        <p:txBody>
          <a:bodyPr wrap="square" rtlCol="0" anchor="ctr">
            <a:normAutofit/>
          </a:bodyPr>
          <a:lstStyle/>
          <a:p>
            <a:pPr indent="0" marL="0">
              <a:buNone/>
            </a:pPr>
            <a:r>
              <a:rPr lang="en-US" sz="660" b="1" dirty="0">
                <a:solidFill>
                  <a:srgbClr val="F2F2F2"/>
                </a:solidFill>
                <a:latin typeface="Aptos" pitchFamily="34" charset="0"/>
                <a:ea typeface="Aptos" pitchFamily="34" charset="-122"/>
                <a:cs typeface="Aptos" pitchFamily="34" charset="-120"/>
              </a:rPr>
              <a:t>ISZE  ·  VEHICLE PARTS &amp; ACCESSORIES</a:t>
            </a:r>
            <a:endParaRPr lang="en-US" sz="660" dirty="0"/>
          </a:p>
        </p:txBody>
      </p:sp>
      <p:sp>
        <p:nvSpPr>
          <p:cNvPr id="3" name="Shape 1"/>
          <p:cNvSpPr/>
          <p:nvPr/>
        </p:nvSpPr>
        <p:spPr>
          <a:xfrm>
            <a:off x="228600" y="6629400"/>
            <a:ext cx="11750040" cy="0"/>
          </a:xfrm>
          <a:prstGeom prst="line">
            <a:avLst/>
          </a:prstGeom>
          <a:noFill/>
          <a:ln w="6350">
            <a:solidFill>
              <a:srgbClr val="575757"/>
            </a:solidFill>
            <a:prstDash val="solid"/>
          </a:ln>
        </p:spPr>
      </p:sp>
      <p:sp>
        <p:nvSpPr>
          <p:cNvPr id="4" name="Text 2"/>
          <p:cNvSpPr/>
          <p:nvPr/>
        </p:nvSpPr>
        <p:spPr>
          <a:xfrm>
            <a:off x="228600" y="393192"/>
            <a:ext cx="4114800" cy="201168"/>
          </a:xfrm>
          <a:prstGeom prst="rect">
            <a:avLst/>
          </a:prstGeom>
          <a:noFill/>
          <a:ln/>
        </p:spPr>
        <p:txBody>
          <a:bodyPr wrap="square" rtlCol="0" anchor="ctr">
            <a:normAutofit/>
          </a:bodyPr>
          <a:lstStyle/>
          <a:p>
            <a:pPr indent="0" marL="0">
              <a:buNone/>
            </a:pPr>
            <a:r>
              <a:rPr lang="en-US" sz="750" b="1" dirty="0">
                <a:solidFill>
                  <a:srgbClr val="E30613"/>
                </a:solidFill>
              </a:rPr>
              <a:t>PMS SERVICE-DEMAND COVER</a:t>
            </a:r>
            <a:endParaRPr lang="en-US" sz="750" dirty="0"/>
          </a:p>
        </p:txBody>
      </p:sp>
      <p:sp>
        <p:nvSpPr>
          <p:cNvPr id="5" name="Text 3"/>
          <p:cNvSpPr/>
          <p:nvPr/>
        </p:nvSpPr>
        <p:spPr>
          <a:xfrm>
            <a:off x="228600" y="713232"/>
            <a:ext cx="9052560" cy="438912"/>
          </a:xfrm>
          <a:prstGeom prst="rect">
            <a:avLst/>
          </a:prstGeom>
          <a:noFill/>
          <a:ln/>
        </p:spPr>
        <p:txBody>
          <a:bodyPr wrap="square" lIns="0" tIns="0" rIns="0" bIns="0" rtlCol="0" anchor="ctr">
            <a:normAutofit/>
          </a:bodyPr>
          <a:lstStyle/>
          <a:p>
            <a:pPr indent="0" marL="0">
              <a:buNone/>
            </a:pPr>
            <a:r>
              <a:rPr lang="en-US" sz="2250" b="1" dirty="0">
                <a:solidFill>
                  <a:srgbClr val="F2F2F2"/>
                </a:solidFill>
              </a:rPr>
              <a:t>Filters and brakes show opposite movements; the denominator is the modelled service demand</a:t>
            </a:r>
            <a:endParaRPr lang="en-US" sz="2250" dirty="0"/>
          </a:p>
        </p:txBody>
      </p:sp>
      <p:sp>
        <p:nvSpPr>
          <p:cNvPr id="6" name="Text 4"/>
          <p:cNvSpPr/>
          <p:nvPr/>
        </p:nvSpPr>
        <p:spPr>
          <a:xfrm>
            <a:off x="228600" y="1188720"/>
            <a:ext cx="8046720" cy="219456"/>
          </a:xfrm>
          <a:prstGeom prst="rect">
            <a:avLst/>
          </a:prstGeom>
          <a:noFill/>
          <a:ln/>
        </p:spPr>
        <p:txBody>
          <a:bodyPr wrap="square" lIns="0" tIns="0" rIns="0" bIns="0" rtlCol="0" anchor="ctr">
            <a:normAutofit/>
          </a:bodyPr>
          <a:lstStyle/>
          <a:p>
            <a:pPr indent="0" marL="0">
              <a:buNone/>
            </a:pPr>
            <a:r>
              <a:rPr lang="en-US" sz="850" dirty="0">
                <a:solidFill>
                  <a:srgbClr val="BDBDBD"/>
                </a:solidFill>
              </a:rPr>
              <a:t>Portugal / I Motors | calendar 2023-2025 | current PMS model base</a:t>
            </a:r>
            <a:endParaRPr lang="en-US" sz="850" dirty="0"/>
          </a:p>
        </p:txBody>
      </p:sp>
      <p:sp>
        <p:nvSpPr>
          <p:cNvPr id="7" name="Shape 5"/>
          <p:cNvSpPr/>
          <p:nvPr/>
        </p:nvSpPr>
        <p:spPr>
          <a:xfrm>
            <a:off x="640080" y="1463040"/>
            <a:ext cx="1325880" cy="292608"/>
          </a:xfrm>
          <a:prstGeom prst="rect">
            <a:avLst/>
          </a:prstGeom>
          <a:solidFill>
            <a:srgbClr val="E30613"/>
          </a:solidFill>
          <a:ln w="12700">
            <a:solidFill>
              <a:srgbClr val="E30613"/>
            </a:solidFill>
            <a:prstDash val="solid"/>
          </a:ln>
        </p:spPr>
      </p:sp>
      <p:sp>
        <p:nvSpPr>
          <p:cNvPr id="8" name="Text 6"/>
          <p:cNvSpPr/>
          <p:nvPr/>
        </p:nvSpPr>
        <p:spPr>
          <a:xfrm>
            <a:off x="676656" y="1536192"/>
            <a:ext cx="1252728" cy="128016"/>
          </a:xfrm>
          <a:prstGeom prst="rect">
            <a:avLst/>
          </a:prstGeom>
          <a:noFill/>
          <a:ln/>
        </p:spPr>
        <p:txBody>
          <a:bodyPr wrap="square" lIns="254" tIns="254" rIns="254" bIns="254" rtlCol="0" anchor="ctr">
            <a:normAutofit/>
          </a:bodyPr>
          <a:lstStyle/>
          <a:p>
            <a:pPr algn="l" indent="0" marL="0">
              <a:buNone/>
            </a:pPr>
            <a:r>
              <a:rPr lang="en-US" sz="670" b="1" dirty="0">
                <a:solidFill>
                  <a:srgbClr val="FFFFFF"/>
                </a:solidFill>
              </a:rPr>
              <a:t>Category</a:t>
            </a:r>
            <a:endParaRPr lang="en-US" sz="670" dirty="0"/>
          </a:p>
        </p:txBody>
      </p:sp>
      <p:sp>
        <p:nvSpPr>
          <p:cNvPr id="9" name="Shape 7"/>
          <p:cNvSpPr/>
          <p:nvPr/>
        </p:nvSpPr>
        <p:spPr>
          <a:xfrm>
            <a:off x="1965960" y="1463040"/>
            <a:ext cx="914400" cy="292608"/>
          </a:xfrm>
          <a:prstGeom prst="rect">
            <a:avLst/>
          </a:prstGeom>
          <a:solidFill>
            <a:srgbClr val="E30613"/>
          </a:solidFill>
          <a:ln w="12700">
            <a:solidFill>
              <a:srgbClr val="E30613"/>
            </a:solidFill>
            <a:prstDash val="solid"/>
          </a:ln>
        </p:spPr>
      </p:sp>
      <p:sp>
        <p:nvSpPr>
          <p:cNvPr id="10" name="Text 8"/>
          <p:cNvSpPr/>
          <p:nvPr/>
        </p:nvSpPr>
        <p:spPr>
          <a:xfrm>
            <a:off x="2002536" y="1536192"/>
            <a:ext cx="841248" cy="128016"/>
          </a:xfrm>
          <a:prstGeom prst="rect">
            <a:avLst/>
          </a:prstGeom>
          <a:noFill/>
          <a:ln/>
        </p:spPr>
        <p:txBody>
          <a:bodyPr wrap="square" lIns="254" tIns="254" rIns="254" bIns="254" rtlCol="0" anchor="ctr">
            <a:normAutofit/>
          </a:bodyPr>
          <a:lstStyle/>
          <a:p>
            <a:pPr algn="ctr" indent="0" marL="0">
              <a:buNone/>
            </a:pPr>
            <a:r>
              <a:rPr lang="en-US" sz="670" b="1" dirty="0">
                <a:solidFill>
                  <a:srgbClr val="FFFFFF"/>
                </a:solidFill>
              </a:rPr>
              <a:t>2023</a:t>
            </a:r>
            <a:endParaRPr lang="en-US" sz="670" dirty="0"/>
          </a:p>
        </p:txBody>
      </p:sp>
      <p:sp>
        <p:nvSpPr>
          <p:cNvPr id="11" name="Shape 9"/>
          <p:cNvSpPr/>
          <p:nvPr/>
        </p:nvSpPr>
        <p:spPr>
          <a:xfrm>
            <a:off x="2880360" y="1463040"/>
            <a:ext cx="914400" cy="292608"/>
          </a:xfrm>
          <a:prstGeom prst="rect">
            <a:avLst/>
          </a:prstGeom>
          <a:solidFill>
            <a:srgbClr val="E30613"/>
          </a:solidFill>
          <a:ln w="12700">
            <a:solidFill>
              <a:srgbClr val="E30613"/>
            </a:solidFill>
            <a:prstDash val="solid"/>
          </a:ln>
        </p:spPr>
      </p:sp>
      <p:sp>
        <p:nvSpPr>
          <p:cNvPr id="12" name="Text 10"/>
          <p:cNvSpPr/>
          <p:nvPr/>
        </p:nvSpPr>
        <p:spPr>
          <a:xfrm>
            <a:off x="2916936" y="1536192"/>
            <a:ext cx="841248" cy="128016"/>
          </a:xfrm>
          <a:prstGeom prst="rect">
            <a:avLst/>
          </a:prstGeom>
          <a:noFill/>
          <a:ln/>
        </p:spPr>
        <p:txBody>
          <a:bodyPr wrap="square" lIns="254" tIns="254" rIns="254" bIns="254" rtlCol="0" anchor="ctr">
            <a:normAutofit/>
          </a:bodyPr>
          <a:lstStyle/>
          <a:p>
            <a:pPr algn="ctr" indent="0" marL="0">
              <a:buNone/>
            </a:pPr>
            <a:r>
              <a:rPr lang="en-US" sz="670" b="1" dirty="0">
                <a:solidFill>
                  <a:srgbClr val="FFFFFF"/>
                </a:solidFill>
              </a:rPr>
              <a:t>2024</a:t>
            </a:r>
            <a:endParaRPr lang="en-US" sz="670" dirty="0"/>
          </a:p>
        </p:txBody>
      </p:sp>
      <p:sp>
        <p:nvSpPr>
          <p:cNvPr id="13" name="Shape 11"/>
          <p:cNvSpPr/>
          <p:nvPr/>
        </p:nvSpPr>
        <p:spPr>
          <a:xfrm>
            <a:off x="3794760" y="1463040"/>
            <a:ext cx="914400" cy="292608"/>
          </a:xfrm>
          <a:prstGeom prst="rect">
            <a:avLst/>
          </a:prstGeom>
          <a:solidFill>
            <a:srgbClr val="E30613"/>
          </a:solidFill>
          <a:ln w="12700">
            <a:solidFill>
              <a:srgbClr val="E30613"/>
            </a:solidFill>
            <a:prstDash val="solid"/>
          </a:ln>
        </p:spPr>
      </p:sp>
      <p:sp>
        <p:nvSpPr>
          <p:cNvPr id="14" name="Text 12"/>
          <p:cNvSpPr/>
          <p:nvPr/>
        </p:nvSpPr>
        <p:spPr>
          <a:xfrm>
            <a:off x="3831336" y="1536192"/>
            <a:ext cx="841248" cy="128016"/>
          </a:xfrm>
          <a:prstGeom prst="rect">
            <a:avLst/>
          </a:prstGeom>
          <a:noFill/>
          <a:ln/>
        </p:spPr>
        <p:txBody>
          <a:bodyPr wrap="square" lIns="254" tIns="254" rIns="254" bIns="254" rtlCol="0" anchor="ctr">
            <a:normAutofit/>
          </a:bodyPr>
          <a:lstStyle/>
          <a:p>
            <a:pPr algn="ctr" indent="0" marL="0">
              <a:buNone/>
            </a:pPr>
            <a:r>
              <a:rPr lang="en-US" sz="670" b="1" dirty="0">
                <a:solidFill>
                  <a:srgbClr val="FFFFFF"/>
                </a:solidFill>
              </a:rPr>
              <a:t>2025</a:t>
            </a:r>
            <a:endParaRPr lang="en-US" sz="670" dirty="0"/>
          </a:p>
        </p:txBody>
      </p:sp>
      <p:sp>
        <p:nvSpPr>
          <p:cNvPr id="15" name="Shape 13"/>
          <p:cNvSpPr/>
          <p:nvPr/>
        </p:nvSpPr>
        <p:spPr>
          <a:xfrm>
            <a:off x="4709160" y="1463040"/>
            <a:ext cx="1737360" cy="292608"/>
          </a:xfrm>
          <a:prstGeom prst="rect">
            <a:avLst/>
          </a:prstGeom>
          <a:solidFill>
            <a:srgbClr val="E30613"/>
          </a:solidFill>
          <a:ln w="12700">
            <a:solidFill>
              <a:srgbClr val="E30613"/>
            </a:solidFill>
            <a:prstDash val="solid"/>
          </a:ln>
        </p:spPr>
      </p:sp>
      <p:sp>
        <p:nvSpPr>
          <p:cNvPr id="16" name="Text 14"/>
          <p:cNvSpPr/>
          <p:nvPr/>
        </p:nvSpPr>
        <p:spPr>
          <a:xfrm>
            <a:off x="4745736" y="1536192"/>
            <a:ext cx="1664208" cy="128016"/>
          </a:xfrm>
          <a:prstGeom prst="rect">
            <a:avLst/>
          </a:prstGeom>
          <a:noFill/>
          <a:ln/>
        </p:spPr>
        <p:txBody>
          <a:bodyPr wrap="square" lIns="254" tIns="254" rIns="254" bIns="254" rtlCol="0" anchor="ctr">
            <a:normAutofit/>
          </a:bodyPr>
          <a:lstStyle/>
          <a:p>
            <a:pPr algn="ctr" indent="0" marL="0">
              <a:buNone/>
            </a:pPr>
            <a:r>
              <a:rPr lang="en-US" sz="670" b="1" dirty="0">
                <a:solidFill>
                  <a:srgbClr val="FFFFFF"/>
                </a:solidFill>
              </a:rPr>
              <a:t>Observation / question</a:t>
            </a:r>
            <a:endParaRPr lang="en-US" sz="670" dirty="0"/>
          </a:p>
        </p:txBody>
      </p:sp>
      <p:sp>
        <p:nvSpPr>
          <p:cNvPr id="17" name="Shape 15"/>
          <p:cNvSpPr/>
          <p:nvPr/>
        </p:nvSpPr>
        <p:spPr>
          <a:xfrm>
            <a:off x="640080" y="1792224"/>
            <a:ext cx="1325880" cy="420624"/>
          </a:xfrm>
          <a:prstGeom prst="rect">
            <a:avLst/>
          </a:prstGeom>
          <a:solidFill>
            <a:srgbClr val="2B2B2B"/>
          </a:solidFill>
          <a:ln w="3175">
            <a:solidFill>
              <a:srgbClr val="505050"/>
            </a:solidFill>
            <a:prstDash val="solid"/>
          </a:ln>
        </p:spPr>
      </p:sp>
      <p:sp>
        <p:nvSpPr>
          <p:cNvPr id="18" name="Shape 16"/>
          <p:cNvSpPr/>
          <p:nvPr/>
        </p:nvSpPr>
        <p:spPr>
          <a:xfrm>
            <a:off x="1965960" y="1792224"/>
            <a:ext cx="914400" cy="420624"/>
          </a:xfrm>
          <a:prstGeom prst="rect">
            <a:avLst/>
          </a:prstGeom>
          <a:solidFill>
            <a:srgbClr val="2B2B2B"/>
          </a:solidFill>
          <a:ln w="3175">
            <a:solidFill>
              <a:srgbClr val="505050"/>
            </a:solidFill>
            <a:prstDash val="solid"/>
          </a:ln>
        </p:spPr>
      </p:sp>
      <p:sp>
        <p:nvSpPr>
          <p:cNvPr id="19" name="Shape 17"/>
          <p:cNvSpPr/>
          <p:nvPr/>
        </p:nvSpPr>
        <p:spPr>
          <a:xfrm>
            <a:off x="2880360" y="1792224"/>
            <a:ext cx="914400" cy="420624"/>
          </a:xfrm>
          <a:prstGeom prst="rect">
            <a:avLst/>
          </a:prstGeom>
          <a:solidFill>
            <a:srgbClr val="2B2B2B"/>
          </a:solidFill>
          <a:ln w="3175">
            <a:solidFill>
              <a:srgbClr val="505050"/>
            </a:solidFill>
            <a:prstDash val="solid"/>
          </a:ln>
        </p:spPr>
      </p:sp>
      <p:sp>
        <p:nvSpPr>
          <p:cNvPr id="20" name="Shape 18"/>
          <p:cNvSpPr/>
          <p:nvPr/>
        </p:nvSpPr>
        <p:spPr>
          <a:xfrm>
            <a:off x="3794760" y="1792224"/>
            <a:ext cx="914400" cy="420624"/>
          </a:xfrm>
          <a:prstGeom prst="rect">
            <a:avLst/>
          </a:prstGeom>
          <a:solidFill>
            <a:srgbClr val="2B2B2B"/>
          </a:solidFill>
          <a:ln w="3175">
            <a:solidFill>
              <a:srgbClr val="505050"/>
            </a:solidFill>
            <a:prstDash val="solid"/>
          </a:ln>
        </p:spPr>
      </p:sp>
      <p:sp>
        <p:nvSpPr>
          <p:cNvPr id="21" name="Shape 19"/>
          <p:cNvSpPr/>
          <p:nvPr/>
        </p:nvSpPr>
        <p:spPr>
          <a:xfrm>
            <a:off x="4709160" y="1792224"/>
            <a:ext cx="1737360" cy="420624"/>
          </a:xfrm>
          <a:prstGeom prst="rect">
            <a:avLst/>
          </a:prstGeom>
          <a:solidFill>
            <a:srgbClr val="2B2B2B"/>
          </a:solidFill>
          <a:ln w="3175">
            <a:solidFill>
              <a:srgbClr val="505050"/>
            </a:solidFill>
            <a:prstDash val="solid"/>
          </a:ln>
        </p:spPr>
      </p:sp>
      <p:sp>
        <p:nvSpPr>
          <p:cNvPr id="22" name="Text 20"/>
          <p:cNvSpPr/>
          <p:nvPr/>
        </p:nvSpPr>
        <p:spPr>
          <a:xfrm>
            <a:off x="694944" y="1929384"/>
            <a:ext cx="1234440" cy="118872"/>
          </a:xfrm>
          <a:prstGeom prst="rect">
            <a:avLst/>
          </a:prstGeom>
          <a:noFill/>
          <a:ln/>
        </p:spPr>
        <p:txBody>
          <a:bodyPr wrap="square" lIns="254" tIns="254" rIns="254" bIns="254" rtlCol="0" anchor="ctr">
            <a:normAutofit/>
          </a:bodyPr>
          <a:lstStyle/>
          <a:p>
            <a:pPr algn="l" indent="0" marL="0">
              <a:buNone/>
            </a:pPr>
            <a:r>
              <a:rPr lang="en-US" sz="700" dirty="0">
                <a:solidFill>
                  <a:srgbClr val="F2F2F2"/>
                </a:solidFill>
              </a:rPr>
              <a:t>Air filter</a:t>
            </a:r>
            <a:endParaRPr lang="en-US" sz="700" dirty="0"/>
          </a:p>
        </p:txBody>
      </p:sp>
      <p:sp>
        <p:nvSpPr>
          <p:cNvPr id="23" name="Text 21"/>
          <p:cNvSpPr/>
          <p:nvPr/>
        </p:nvSpPr>
        <p:spPr>
          <a:xfrm>
            <a:off x="1965960" y="1920240"/>
            <a:ext cx="914400" cy="118872"/>
          </a:xfrm>
          <a:prstGeom prst="rect">
            <a:avLst/>
          </a:prstGeom>
          <a:noFill/>
          <a:ln/>
        </p:spPr>
        <p:txBody>
          <a:bodyPr wrap="square" lIns="254" tIns="254" rIns="254" bIns="254" rtlCol="0" anchor="ctr">
            <a:normAutofit/>
          </a:bodyPr>
          <a:lstStyle/>
          <a:p>
            <a:pPr algn="ctr" indent="0" marL="0">
              <a:buNone/>
            </a:pPr>
            <a:r>
              <a:rPr lang="en-US" sz="800" b="1" dirty="0">
                <a:solidFill>
                  <a:srgbClr val="E30613"/>
                </a:solidFill>
              </a:rPr>
              <a:t>27%</a:t>
            </a:r>
            <a:endParaRPr lang="en-US" sz="800" dirty="0"/>
          </a:p>
        </p:txBody>
      </p:sp>
      <p:sp>
        <p:nvSpPr>
          <p:cNvPr id="24" name="Text 22"/>
          <p:cNvSpPr/>
          <p:nvPr/>
        </p:nvSpPr>
        <p:spPr>
          <a:xfrm>
            <a:off x="2880360" y="1920240"/>
            <a:ext cx="914400" cy="118872"/>
          </a:xfrm>
          <a:prstGeom prst="rect">
            <a:avLst/>
          </a:prstGeom>
          <a:noFill/>
          <a:ln/>
        </p:spPr>
        <p:txBody>
          <a:bodyPr wrap="square" lIns="254" tIns="254" rIns="254" bIns="254" rtlCol="0" anchor="ctr">
            <a:normAutofit/>
          </a:bodyPr>
          <a:lstStyle/>
          <a:p>
            <a:pPr algn="ctr" indent="0" marL="0">
              <a:buNone/>
            </a:pPr>
            <a:r>
              <a:rPr lang="en-US" sz="800" b="1" dirty="0">
                <a:solidFill>
                  <a:srgbClr val="F5A000"/>
                </a:solidFill>
              </a:rPr>
              <a:t>48%</a:t>
            </a:r>
            <a:endParaRPr lang="en-US" sz="800" dirty="0"/>
          </a:p>
        </p:txBody>
      </p:sp>
      <p:sp>
        <p:nvSpPr>
          <p:cNvPr id="25" name="Text 23"/>
          <p:cNvSpPr/>
          <p:nvPr/>
        </p:nvSpPr>
        <p:spPr>
          <a:xfrm>
            <a:off x="3794760" y="1920240"/>
            <a:ext cx="914400" cy="118872"/>
          </a:xfrm>
          <a:prstGeom prst="rect">
            <a:avLst/>
          </a:prstGeom>
          <a:noFill/>
          <a:ln/>
        </p:spPr>
        <p:txBody>
          <a:bodyPr wrap="square" lIns="254" tIns="254" rIns="254" bIns="254" rtlCol="0" anchor="ctr">
            <a:normAutofit/>
          </a:bodyPr>
          <a:lstStyle/>
          <a:p>
            <a:pPr algn="ctr" indent="0" marL="0">
              <a:buNone/>
            </a:pPr>
            <a:r>
              <a:rPr lang="en-US" sz="800" b="1" dirty="0">
                <a:solidFill>
                  <a:srgbClr val="31A354"/>
                </a:solidFill>
              </a:rPr>
              <a:t>56%</a:t>
            </a:r>
            <a:endParaRPr lang="en-US" sz="800" dirty="0"/>
          </a:p>
        </p:txBody>
      </p:sp>
      <p:sp>
        <p:nvSpPr>
          <p:cNvPr id="26" name="Text 24"/>
          <p:cNvSpPr/>
          <p:nvPr/>
        </p:nvSpPr>
        <p:spPr>
          <a:xfrm>
            <a:off x="4764024" y="1865376"/>
            <a:ext cx="1645920" cy="219456"/>
          </a:xfrm>
          <a:prstGeom prst="rect">
            <a:avLst/>
          </a:prstGeom>
          <a:noFill/>
          <a:ln/>
        </p:spPr>
        <p:txBody>
          <a:bodyPr wrap="square" lIns="254" tIns="254" rIns="254" bIns="254" rtlCol="0" anchor="ctr">
            <a:normAutofit/>
          </a:bodyPr>
          <a:lstStyle/>
          <a:p>
            <a:pPr algn="l" indent="0" marL="0">
              <a:buNone/>
            </a:pPr>
            <a:r>
              <a:rPr lang="en-US" sz="680" dirty="0">
                <a:solidFill>
                  <a:srgbClr val="F2F2F2"/>
                </a:solidFill>
              </a:rPr>
              <a:t>Improving; what practice can be copied?</a:t>
            </a:r>
            <a:endParaRPr lang="en-US" sz="680" dirty="0"/>
          </a:p>
        </p:txBody>
      </p:sp>
      <p:sp>
        <p:nvSpPr>
          <p:cNvPr id="27" name="Shape 25"/>
          <p:cNvSpPr/>
          <p:nvPr/>
        </p:nvSpPr>
        <p:spPr>
          <a:xfrm>
            <a:off x="640080" y="2231136"/>
            <a:ext cx="1325880" cy="420624"/>
          </a:xfrm>
          <a:prstGeom prst="rect">
            <a:avLst/>
          </a:prstGeom>
          <a:solidFill>
            <a:srgbClr val="303030"/>
          </a:solidFill>
          <a:ln w="3175">
            <a:solidFill>
              <a:srgbClr val="505050"/>
            </a:solidFill>
            <a:prstDash val="solid"/>
          </a:ln>
        </p:spPr>
      </p:sp>
      <p:sp>
        <p:nvSpPr>
          <p:cNvPr id="28" name="Shape 26"/>
          <p:cNvSpPr/>
          <p:nvPr/>
        </p:nvSpPr>
        <p:spPr>
          <a:xfrm>
            <a:off x="1965960" y="2231136"/>
            <a:ext cx="914400" cy="420624"/>
          </a:xfrm>
          <a:prstGeom prst="rect">
            <a:avLst/>
          </a:prstGeom>
          <a:solidFill>
            <a:srgbClr val="303030"/>
          </a:solidFill>
          <a:ln w="3175">
            <a:solidFill>
              <a:srgbClr val="505050"/>
            </a:solidFill>
            <a:prstDash val="solid"/>
          </a:ln>
        </p:spPr>
      </p:sp>
      <p:sp>
        <p:nvSpPr>
          <p:cNvPr id="29" name="Shape 27"/>
          <p:cNvSpPr/>
          <p:nvPr/>
        </p:nvSpPr>
        <p:spPr>
          <a:xfrm>
            <a:off x="2880360" y="2231136"/>
            <a:ext cx="914400" cy="420624"/>
          </a:xfrm>
          <a:prstGeom prst="rect">
            <a:avLst/>
          </a:prstGeom>
          <a:solidFill>
            <a:srgbClr val="303030"/>
          </a:solidFill>
          <a:ln w="3175">
            <a:solidFill>
              <a:srgbClr val="505050"/>
            </a:solidFill>
            <a:prstDash val="solid"/>
          </a:ln>
        </p:spPr>
      </p:sp>
      <p:sp>
        <p:nvSpPr>
          <p:cNvPr id="30" name="Shape 28"/>
          <p:cNvSpPr/>
          <p:nvPr/>
        </p:nvSpPr>
        <p:spPr>
          <a:xfrm>
            <a:off x="3794760" y="2231136"/>
            <a:ext cx="914400" cy="420624"/>
          </a:xfrm>
          <a:prstGeom prst="rect">
            <a:avLst/>
          </a:prstGeom>
          <a:solidFill>
            <a:srgbClr val="303030"/>
          </a:solidFill>
          <a:ln w="3175">
            <a:solidFill>
              <a:srgbClr val="505050"/>
            </a:solidFill>
            <a:prstDash val="solid"/>
          </a:ln>
        </p:spPr>
      </p:sp>
      <p:sp>
        <p:nvSpPr>
          <p:cNvPr id="31" name="Shape 29"/>
          <p:cNvSpPr/>
          <p:nvPr/>
        </p:nvSpPr>
        <p:spPr>
          <a:xfrm>
            <a:off x="4709160" y="2231136"/>
            <a:ext cx="1737360" cy="420624"/>
          </a:xfrm>
          <a:prstGeom prst="rect">
            <a:avLst/>
          </a:prstGeom>
          <a:solidFill>
            <a:srgbClr val="303030"/>
          </a:solidFill>
          <a:ln w="3175">
            <a:solidFill>
              <a:srgbClr val="505050"/>
            </a:solidFill>
            <a:prstDash val="solid"/>
          </a:ln>
        </p:spPr>
      </p:sp>
      <p:sp>
        <p:nvSpPr>
          <p:cNvPr id="32" name="Text 30"/>
          <p:cNvSpPr/>
          <p:nvPr/>
        </p:nvSpPr>
        <p:spPr>
          <a:xfrm>
            <a:off x="694944" y="2368296"/>
            <a:ext cx="1234440" cy="118872"/>
          </a:xfrm>
          <a:prstGeom prst="rect">
            <a:avLst/>
          </a:prstGeom>
          <a:noFill/>
          <a:ln/>
        </p:spPr>
        <p:txBody>
          <a:bodyPr wrap="square" lIns="254" tIns="254" rIns="254" bIns="254" rtlCol="0" anchor="ctr">
            <a:normAutofit/>
          </a:bodyPr>
          <a:lstStyle/>
          <a:p>
            <a:pPr algn="l" indent="0" marL="0">
              <a:buNone/>
            </a:pPr>
            <a:r>
              <a:rPr lang="en-US" sz="700" dirty="0">
                <a:solidFill>
                  <a:srgbClr val="F2F2F2"/>
                </a:solidFill>
              </a:rPr>
              <a:t>Oil filter</a:t>
            </a:r>
            <a:endParaRPr lang="en-US" sz="700" dirty="0"/>
          </a:p>
        </p:txBody>
      </p:sp>
      <p:sp>
        <p:nvSpPr>
          <p:cNvPr id="33" name="Text 31"/>
          <p:cNvSpPr/>
          <p:nvPr/>
        </p:nvSpPr>
        <p:spPr>
          <a:xfrm>
            <a:off x="1965960" y="2359152"/>
            <a:ext cx="914400" cy="118872"/>
          </a:xfrm>
          <a:prstGeom prst="rect">
            <a:avLst/>
          </a:prstGeom>
          <a:noFill/>
          <a:ln/>
        </p:spPr>
        <p:txBody>
          <a:bodyPr wrap="square" lIns="254" tIns="254" rIns="254" bIns="254" rtlCol="0" anchor="ctr">
            <a:normAutofit/>
          </a:bodyPr>
          <a:lstStyle/>
          <a:p>
            <a:pPr algn="ctr" indent="0" marL="0">
              <a:buNone/>
            </a:pPr>
            <a:r>
              <a:rPr lang="en-US" sz="800" b="1" dirty="0">
                <a:solidFill>
                  <a:srgbClr val="F5A000"/>
                </a:solidFill>
              </a:rPr>
              <a:t>46%</a:t>
            </a:r>
            <a:endParaRPr lang="en-US" sz="800" dirty="0"/>
          </a:p>
        </p:txBody>
      </p:sp>
      <p:sp>
        <p:nvSpPr>
          <p:cNvPr id="34" name="Text 32"/>
          <p:cNvSpPr/>
          <p:nvPr/>
        </p:nvSpPr>
        <p:spPr>
          <a:xfrm>
            <a:off x="2880360" y="2359152"/>
            <a:ext cx="914400" cy="118872"/>
          </a:xfrm>
          <a:prstGeom prst="rect">
            <a:avLst/>
          </a:prstGeom>
          <a:noFill/>
          <a:ln/>
        </p:spPr>
        <p:txBody>
          <a:bodyPr wrap="square" lIns="254" tIns="254" rIns="254" bIns="254" rtlCol="0" anchor="ctr">
            <a:normAutofit/>
          </a:bodyPr>
          <a:lstStyle/>
          <a:p>
            <a:pPr algn="ctr" indent="0" marL="0">
              <a:buNone/>
            </a:pPr>
            <a:r>
              <a:rPr lang="en-US" sz="800" b="1" dirty="0">
                <a:solidFill>
                  <a:srgbClr val="31A354"/>
                </a:solidFill>
              </a:rPr>
              <a:t>71%</a:t>
            </a:r>
            <a:endParaRPr lang="en-US" sz="800" dirty="0"/>
          </a:p>
        </p:txBody>
      </p:sp>
      <p:sp>
        <p:nvSpPr>
          <p:cNvPr id="35" name="Text 33"/>
          <p:cNvSpPr/>
          <p:nvPr/>
        </p:nvSpPr>
        <p:spPr>
          <a:xfrm>
            <a:off x="3794760" y="2359152"/>
            <a:ext cx="914400" cy="118872"/>
          </a:xfrm>
          <a:prstGeom prst="rect">
            <a:avLst/>
          </a:prstGeom>
          <a:noFill/>
          <a:ln/>
        </p:spPr>
        <p:txBody>
          <a:bodyPr wrap="square" lIns="254" tIns="254" rIns="254" bIns="254" rtlCol="0" anchor="ctr">
            <a:normAutofit/>
          </a:bodyPr>
          <a:lstStyle/>
          <a:p>
            <a:pPr algn="ctr" indent="0" marL="0">
              <a:buNone/>
            </a:pPr>
            <a:r>
              <a:rPr lang="en-US" sz="800" b="1" dirty="0">
                <a:solidFill>
                  <a:srgbClr val="F5A000"/>
                </a:solidFill>
              </a:rPr>
              <a:t>46%</a:t>
            </a:r>
            <a:endParaRPr lang="en-US" sz="800" dirty="0"/>
          </a:p>
        </p:txBody>
      </p:sp>
      <p:sp>
        <p:nvSpPr>
          <p:cNvPr id="36" name="Text 34"/>
          <p:cNvSpPr/>
          <p:nvPr/>
        </p:nvSpPr>
        <p:spPr>
          <a:xfrm>
            <a:off x="4764024" y="2304288"/>
            <a:ext cx="1645920" cy="219456"/>
          </a:xfrm>
          <a:prstGeom prst="rect">
            <a:avLst/>
          </a:prstGeom>
          <a:noFill/>
          <a:ln/>
        </p:spPr>
        <p:txBody>
          <a:bodyPr wrap="square" lIns="254" tIns="254" rIns="254" bIns="254" rtlCol="0" anchor="ctr">
            <a:normAutofit/>
          </a:bodyPr>
          <a:lstStyle/>
          <a:p>
            <a:pPr algn="l" indent="0" marL="0">
              <a:buNone/>
            </a:pPr>
            <a:r>
              <a:rPr lang="en-US" sz="680" dirty="0">
                <a:solidFill>
                  <a:srgbClr val="F2F2F2"/>
                </a:solidFill>
              </a:rPr>
              <a:t>2025 reversal; why did it fall back?</a:t>
            </a:r>
            <a:endParaRPr lang="en-US" sz="680" dirty="0"/>
          </a:p>
        </p:txBody>
      </p:sp>
      <p:sp>
        <p:nvSpPr>
          <p:cNvPr id="37" name="Shape 35"/>
          <p:cNvSpPr/>
          <p:nvPr/>
        </p:nvSpPr>
        <p:spPr>
          <a:xfrm>
            <a:off x="640080" y="2670048"/>
            <a:ext cx="1325880" cy="420624"/>
          </a:xfrm>
          <a:prstGeom prst="rect">
            <a:avLst/>
          </a:prstGeom>
          <a:solidFill>
            <a:srgbClr val="2B2B2B"/>
          </a:solidFill>
          <a:ln w="3175">
            <a:solidFill>
              <a:srgbClr val="505050"/>
            </a:solidFill>
            <a:prstDash val="solid"/>
          </a:ln>
        </p:spPr>
      </p:sp>
      <p:sp>
        <p:nvSpPr>
          <p:cNvPr id="38" name="Shape 36"/>
          <p:cNvSpPr/>
          <p:nvPr/>
        </p:nvSpPr>
        <p:spPr>
          <a:xfrm>
            <a:off x="1965960" y="2670048"/>
            <a:ext cx="914400" cy="420624"/>
          </a:xfrm>
          <a:prstGeom prst="rect">
            <a:avLst/>
          </a:prstGeom>
          <a:solidFill>
            <a:srgbClr val="2B2B2B"/>
          </a:solidFill>
          <a:ln w="3175">
            <a:solidFill>
              <a:srgbClr val="505050"/>
            </a:solidFill>
            <a:prstDash val="solid"/>
          </a:ln>
        </p:spPr>
      </p:sp>
      <p:sp>
        <p:nvSpPr>
          <p:cNvPr id="39" name="Shape 37"/>
          <p:cNvSpPr/>
          <p:nvPr/>
        </p:nvSpPr>
        <p:spPr>
          <a:xfrm>
            <a:off x="2880360" y="2670048"/>
            <a:ext cx="914400" cy="420624"/>
          </a:xfrm>
          <a:prstGeom prst="rect">
            <a:avLst/>
          </a:prstGeom>
          <a:solidFill>
            <a:srgbClr val="2B2B2B"/>
          </a:solidFill>
          <a:ln w="3175">
            <a:solidFill>
              <a:srgbClr val="505050"/>
            </a:solidFill>
            <a:prstDash val="solid"/>
          </a:ln>
        </p:spPr>
      </p:sp>
      <p:sp>
        <p:nvSpPr>
          <p:cNvPr id="40" name="Shape 38"/>
          <p:cNvSpPr/>
          <p:nvPr/>
        </p:nvSpPr>
        <p:spPr>
          <a:xfrm>
            <a:off x="3794760" y="2670048"/>
            <a:ext cx="914400" cy="420624"/>
          </a:xfrm>
          <a:prstGeom prst="rect">
            <a:avLst/>
          </a:prstGeom>
          <a:solidFill>
            <a:srgbClr val="2B2B2B"/>
          </a:solidFill>
          <a:ln w="3175">
            <a:solidFill>
              <a:srgbClr val="505050"/>
            </a:solidFill>
            <a:prstDash val="solid"/>
          </a:ln>
        </p:spPr>
      </p:sp>
      <p:sp>
        <p:nvSpPr>
          <p:cNvPr id="41" name="Shape 39"/>
          <p:cNvSpPr/>
          <p:nvPr/>
        </p:nvSpPr>
        <p:spPr>
          <a:xfrm>
            <a:off x="4709160" y="2670048"/>
            <a:ext cx="1737360" cy="420624"/>
          </a:xfrm>
          <a:prstGeom prst="rect">
            <a:avLst/>
          </a:prstGeom>
          <a:solidFill>
            <a:srgbClr val="2B2B2B"/>
          </a:solidFill>
          <a:ln w="3175">
            <a:solidFill>
              <a:srgbClr val="505050"/>
            </a:solidFill>
            <a:prstDash val="solid"/>
          </a:ln>
        </p:spPr>
      </p:sp>
      <p:sp>
        <p:nvSpPr>
          <p:cNvPr id="42" name="Text 40"/>
          <p:cNvSpPr/>
          <p:nvPr/>
        </p:nvSpPr>
        <p:spPr>
          <a:xfrm>
            <a:off x="694944" y="2807208"/>
            <a:ext cx="1234440" cy="118872"/>
          </a:xfrm>
          <a:prstGeom prst="rect">
            <a:avLst/>
          </a:prstGeom>
          <a:noFill/>
          <a:ln/>
        </p:spPr>
        <p:txBody>
          <a:bodyPr wrap="square" lIns="254" tIns="254" rIns="254" bIns="254" rtlCol="0" anchor="ctr">
            <a:normAutofit/>
          </a:bodyPr>
          <a:lstStyle/>
          <a:p>
            <a:pPr algn="l" indent="0" marL="0">
              <a:buNone/>
            </a:pPr>
            <a:r>
              <a:rPr lang="en-US" sz="700" dirty="0">
                <a:solidFill>
                  <a:srgbClr val="F2F2F2"/>
                </a:solidFill>
              </a:rPr>
              <a:t>Fuel filter</a:t>
            </a:r>
            <a:endParaRPr lang="en-US" sz="700" dirty="0"/>
          </a:p>
        </p:txBody>
      </p:sp>
      <p:sp>
        <p:nvSpPr>
          <p:cNvPr id="43" name="Text 41"/>
          <p:cNvSpPr/>
          <p:nvPr/>
        </p:nvSpPr>
        <p:spPr>
          <a:xfrm>
            <a:off x="1965960" y="2798064"/>
            <a:ext cx="914400" cy="118872"/>
          </a:xfrm>
          <a:prstGeom prst="rect">
            <a:avLst/>
          </a:prstGeom>
          <a:noFill/>
          <a:ln/>
        </p:spPr>
        <p:txBody>
          <a:bodyPr wrap="square" lIns="254" tIns="254" rIns="254" bIns="254" rtlCol="0" anchor="ctr">
            <a:normAutofit/>
          </a:bodyPr>
          <a:lstStyle/>
          <a:p>
            <a:pPr algn="ctr" indent="0" marL="0">
              <a:buNone/>
            </a:pPr>
            <a:r>
              <a:rPr lang="en-US" sz="800" b="1" dirty="0">
                <a:solidFill>
                  <a:srgbClr val="F5A000"/>
                </a:solidFill>
              </a:rPr>
              <a:t>36%</a:t>
            </a:r>
            <a:endParaRPr lang="en-US" sz="800" dirty="0"/>
          </a:p>
        </p:txBody>
      </p:sp>
      <p:sp>
        <p:nvSpPr>
          <p:cNvPr id="44" name="Text 42"/>
          <p:cNvSpPr/>
          <p:nvPr/>
        </p:nvSpPr>
        <p:spPr>
          <a:xfrm>
            <a:off x="2880360" y="2798064"/>
            <a:ext cx="914400" cy="118872"/>
          </a:xfrm>
          <a:prstGeom prst="rect">
            <a:avLst/>
          </a:prstGeom>
          <a:noFill/>
          <a:ln/>
        </p:spPr>
        <p:txBody>
          <a:bodyPr wrap="square" lIns="254" tIns="254" rIns="254" bIns="254" rtlCol="0" anchor="ctr">
            <a:normAutofit/>
          </a:bodyPr>
          <a:lstStyle/>
          <a:p>
            <a:pPr algn="ctr" indent="0" marL="0">
              <a:buNone/>
            </a:pPr>
            <a:r>
              <a:rPr lang="en-US" sz="800" b="1" dirty="0">
                <a:solidFill>
                  <a:srgbClr val="31A354"/>
                </a:solidFill>
              </a:rPr>
              <a:t>60%</a:t>
            </a:r>
            <a:endParaRPr lang="en-US" sz="800" dirty="0"/>
          </a:p>
        </p:txBody>
      </p:sp>
      <p:sp>
        <p:nvSpPr>
          <p:cNvPr id="45" name="Text 43"/>
          <p:cNvSpPr/>
          <p:nvPr/>
        </p:nvSpPr>
        <p:spPr>
          <a:xfrm>
            <a:off x="3794760" y="2798064"/>
            <a:ext cx="914400" cy="118872"/>
          </a:xfrm>
          <a:prstGeom prst="rect">
            <a:avLst/>
          </a:prstGeom>
          <a:noFill/>
          <a:ln/>
        </p:spPr>
        <p:txBody>
          <a:bodyPr wrap="square" lIns="254" tIns="254" rIns="254" bIns="254" rtlCol="0" anchor="ctr">
            <a:normAutofit/>
          </a:bodyPr>
          <a:lstStyle/>
          <a:p>
            <a:pPr algn="ctr" indent="0" marL="0">
              <a:buNone/>
            </a:pPr>
            <a:r>
              <a:rPr lang="en-US" sz="800" b="1" dirty="0">
                <a:solidFill>
                  <a:srgbClr val="F5A000"/>
                </a:solidFill>
              </a:rPr>
              <a:t>40%</a:t>
            </a:r>
            <a:endParaRPr lang="en-US" sz="800" dirty="0"/>
          </a:p>
        </p:txBody>
      </p:sp>
      <p:sp>
        <p:nvSpPr>
          <p:cNvPr id="46" name="Text 44"/>
          <p:cNvSpPr/>
          <p:nvPr/>
        </p:nvSpPr>
        <p:spPr>
          <a:xfrm>
            <a:off x="4764024" y="2743200"/>
            <a:ext cx="1645920" cy="219456"/>
          </a:xfrm>
          <a:prstGeom prst="rect">
            <a:avLst/>
          </a:prstGeom>
          <a:noFill/>
          <a:ln/>
        </p:spPr>
        <p:txBody>
          <a:bodyPr wrap="square" lIns="254" tIns="254" rIns="254" bIns="254" rtlCol="0" anchor="ctr">
            <a:normAutofit/>
          </a:bodyPr>
          <a:lstStyle/>
          <a:p>
            <a:pPr algn="l" indent="0" marL="0">
              <a:buNone/>
            </a:pPr>
            <a:r>
              <a:rPr lang="en-US" sz="680" dirty="0">
                <a:solidFill>
                  <a:srgbClr val="F2F2F2"/>
                </a:solidFill>
              </a:rPr>
              <a:t>Same reversal as oil filter.</a:t>
            </a:r>
            <a:endParaRPr lang="en-US" sz="680" dirty="0"/>
          </a:p>
        </p:txBody>
      </p:sp>
      <p:sp>
        <p:nvSpPr>
          <p:cNvPr id="47" name="Shape 45"/>
          <p:cNvSpPr/>
          <p:nvPr/>
        </p:nvSpPr>
        <p:spPr>
          <a:xfrm>
            <a:off x="640080" y="3108960"/>
            <a:ext cx="1325880" cy="420624"/>
          </a:xfrm>
          <a:prstGeom prst="rect">
            <a:avLst/>
          </a:prstGeom>
          <a:solidFill>
            <a:srgbClr val="303030"/>
          </a:solidFill>
          <a:ln w="3175">
            <a:solidFill>
              <a:srgbClr val="505050"/>
            </a:solidFill>
            <a:prstDash val="solid"/>
          </a:ln>
        </p:spPr>
      </p:sp>
      <p:sp>
        <p:nvSpPr>
          <p:cNvPr id="48" name="Shape 46"/>
          <p:cNvSpPr/>
          <p:nvPr/>
        </p:nvSpPr>
        <p:spPr>
          <a:xfrm>
            <a:off x="1965960" y="3108960"/>
            <a:ext cx="914400" cy="420624"/>
          </a:xfrm>
          <a:prstGeom prst="rect">
            <a:avLst/>
          </a:prstGeom>
          <a:solidFill>
            <a:srgbClr val="303030"/>
          </a:solidFill>
          <a:ln w="3175">
            <a:solidFill>
              <a:srgbClr val="505050"/>
            </a:solidFill>
            <a:prstDash val="solid"/>
          </a:ln>
        </p:spPr>
      </p:sp>
      <p:sp>
        <p:nvSpPr>
          <p:cNvPr id="49" name="Shape 47"/>
          <p:cNvSpPr/>
          <p:nvPr/>
        </p:nvSpPr>
        <p:spPr>
          <a:xfrm>
            <a:off x="2880360" y="3108960"/>
            <a:ext cx="914400" cy="420624"/>
          </a:xfrm>
          <a:prstGeom prst="rect">
            <a:avLst/>
          </a:prstGeom>
          <a:solidFill>
            <a:srgbClr val="303030"/>
          </a:solidFill>
          <a:ln w="3175">
            <a:solidFill>
              <a:srgbClr val="505050"/>
            </a:solidFill>
            <a:prstDash val="solid"/>
          </a:ln>
        </p:spPr>
      </p:sp>
      <p:sp>
        <p:nvSpPr>
          <p:cNvPr id="50" name="Shape 48"/>
          <p:cNvSpPr/>
          <p:nvPr/>
        </p:nvSpPr>
        <p:spPr>
          <a:xfrm>
            <a:off x="3794760" y="3108960"/>
            <a:ext cx="914400" cy="420624"/>
          </a:xfrm>
          <a:prstGeom prst="rect">
            <a:avLst/>
          </a:prstGeom>
          <a:solidFill>
            <a:srgbClr val="303030"/>
          </a:solidFill>
          <a:ln w="3175">
            <a:solidFill>
              <a:srgbClr val="505050"/>
            </a:solidFill>
            <a:prstDash val="solid"/>
          </a:ln>
        </p:spPr>
      </p:sp>
      <p:sp>
        <p:nvSpPr>
          <p:cNvPr id="51" name="Shape 49"/>
          <p:cNvSpPr/>
          <p:nvPr/>
        </p:nvSpPr>
        <p:spPr>
          <a:xfrm>
            <a:off x="4709160" y="3108960"/>
            <a:ext cx="1737360" cy="420624"/>
          </a:xfrm>
          <a:prstGeom prst="rect">
            <a:avLst/>
          </a:prstGeom>
          <a:solidFill>
            <a:srgbClr val="303030"/>
          </a:solidFill>
          <a:ln w="3175">
            <a:solidFill>
              <a:srgbClr val="505050"/>
            </a:solidFill>
            <a:prstDash val="solid"/>
          </a:ln>
        </p:spPr>
      </p:sp>
      <p:sp>
        <p:nvSpPr>
          <p:cNvPr id="52" name="Text 50"/>
          <p:cNvSpPr/>
          <p:nvPr/>
        </p:nvSpPr>
        <p:spPr>
          <a:xfrm>
            <a:off x="694944" y="3246120"/>
            <a:ext cx="1234440" cy="118872"/>
          </a:xfrm>
          <a:prstGeom prst="rect">
            <a:avLst/>
          </a:prstGeom>
          <a:noFill/>
          <a:ln/>
        </p:spPr>
        <p:txBody>
          <a:bodyPr wrap="square" lIns="254" tIns="254" rIns="254" bIns="254" rtlCol="0" anchor="ctr">
            <a:normAutofit/>
          </a:bodyPr>
          <a:lstStyle/>
          <a:p>
            <a:pPr algn="l" indent="0" marL="0">
              <a:buNone/>
            </a:pPr>
            <a:r>
              <a:rPr lang="en-US" sz="700" dirty="0">
                <a:solidFill>
                  <a:srgbClr val="F2F2F2"/>
                </a:solidFill>
              </a:rPr>
              <a:t>Brake pad</a:t>
            </a:r>
            <a:endParaRPr lang="en-US" sz="700" dirty="0"/>
          </a:p>
        </p:txBody>
      </p:sp>
      <p:sp>
        <p:nvSpPr>
          <p:cNvPr id="53" name="Text 51"/>
          <p:cNvSpPr/>
          <p:nvPr/>
        </p:nvSpPr>
        <p:spPr>
          <a:xfrm>
            <a:off x="1965960" y="3236976"/>
            <a:ext cx="914400" cy="118872"/>
          </a:xfrm>
          <a:prstGeom prst="rect">
            <a:avLst/>
          </a:prstGeom>
          <a:noFill/>
          <a:ln/>
        </p:spPr>
        <p:txBody>
          <a:bodyPr wrap="square" lIns="254" tIns="254" rIns="254" bIns="254" rtlCol="0" anchor="ctr">
            <a:normAutofit/>
          </a:bodyPr>
          <a:lstStyle/>
          <a:p>
            <a:pPr algn="ctr" indent="0" marL="0">
              <a:buNone/>
            </a:pPr>
            <a:r>
              <a:rPr lang="en-US" sz="800" b="1" dirty="0">
                <a:solidFill>
                  <a:srgbClr val="F5A000"/>
                </a:solidFill>
              </a:rPr>
              <a:t>51%</a:t>
            </a:r>
            <a:endParaRPr lang="en-US" sz="800" dirty="0"/>
          </a:p>
        </p:txBody>
      </p:sp>
      <p:sp>
        <p:nvSpPr>
          <p:cNvPr id="54" name="Text 52"/>
          <p:cNvSpPr/>
          <p:nvPr/>
        </p:nvSpPr>
        <p:spPr>
          <a:xfrm>
            <a:off x="2880360" y="3236976"/>
            <a:ext cx="914400" cy="118872"/>
          </a:xfrm>
          <a:prstGeom prst="rect">
            <a:avLst/>
          </a:prstGeom>
          <a:noFill/>
          <a:ln/>
        </p:spPr>
        <p:txBody>
          <a:bodyPr wrap="square" lIns="254" tIns="254" rIns="254" bIns="254" rtlCol="0" anchor="ctr">
            <a:normAutofit/>
          </a:bodyPr>
          <a:lstStyle/>
          <a:p>
            <a:pPr algn="ctr" indent="0" marL="0">
              <a:buNone/>
            </a:pPr>
            <a:r>
              <a:rPr lang="en-US" sz="800" b="1" dirty="0">
                <a:solidFill>
                  <a:srgbClr val="E30613"/>
                </a:solidFill>
              </a:rPr>
              <a:t>20%</a:t>
            </a:r>
            <a:endParaRPr lang="en-US" sz="800" dirty="0"/>
          </a:p>
        </p:txBody>
      </p:sp>
      <p:sp>
        <p:nvSpPr>
          <p:cNvPr id="55" name="Text 53"/>
          <p:cNvSpPr/>
          <p:nvPr/>
        </p:nvSpPr>
        <p:spPr>
          <a:xfrm>
            <a:off x="3794760" y="3236976"/>
            <a:ext cx="914400" cy="118872"/>
          </a:xfrm>
          <a:prstGeom prst="rect">
            <a:avLst/>
          </a:prstGeom>
          <a:noFill/>
          <a:ln/>
        </p:spPr>
        <p:txBody>
          <a:bodyPr wrap="square" lIns="254" tIns="254" rIns="254" bIns="254" rtlCol="0" anchor="ctr">
            <a:normAutofit/>
          </a:bodyPr>
          <a:lstStyle/>
          <a:p>
            <a:pPr algn="ctr" indent="0" marL="0">
              <a:buNone/>
            </a:pPr>
            <a:r>
              <a:rPr lang="en-US" sz="800" b="1" dirty="0">
                <a:solidFill>
                  <a:srgbClr val="31A354"/>
                </a:solidFill>
              </a:rPr>
              <a:t>55%</a:t>
            </a:r>
            <a:endParaRPr lang="en-US" sz="800" dirty="0"/>
          </a:p>
        </p:txBody>
      </p:sp>
      <p:sp>
        <p:nvSpPr>
          <p:cNvPr id="56" name="Text 54"/>
          <p:cNvSpPr/>
          <p:nvPr/>
        </p:nvSpPr>
        <p:spPr>
          <a:xfrm>
            <a:off x="4764024" y="3182112"/>
            <a:ext cx="1645920" cy="219456"/>
          </a:xfrm>
          <a:prstGeom prst="rect">
            <a:avLst/>
          </a:prstGeom>
          <a:noFill/>
          <a:ln/>
        </p:spPr>
        <p:txBody>
          <a:bodyPr wrap="square" lIns="254" tIns="254" rIns="254" bIns="254" rtlCol="0" anchor="ctr">
            <a:normAutofit/>
          </a:bodyPr>
          <a:lstStyle/>
          <a:p>
            <a:pPr algn="l" indent="0" marL="0">
              <a:buNone/>
            </a:pPr>
            <a:r>
              <a:rPr lang="en-US" sz="680" dirty="0">
                <a:solidFill>
                  <a:srgbClr val="F2F2F2"/>
                </a:solidFill>
              </a:rPr>
              <a:t>Recovered strongly; what changed?</a:t>
            </a:r>
            <a:endParaRPr lang="en-US" sz="680" dirty="0"/>
          </a:p>
        </p:txBody>
      </p:sp>
      <p:sp>
        <p:nvSpPr>
          <p:cNvPr id="57" name="Shape 55"/>
          <p:cNvSpPr/>
          <p:nvPr/>
        </p:nvSpPr>
        <p:spPr>
          <a:xfrm>
            <a:off x="640080" y="3547872"/>
            <a:ext cx="1325880" cy="420624"/>
          </a:xfrm>
          <a:prstGeom prst="rect">
            <a:avLst/>
          </a:prstGeom>
          <a:solidFill>
            <a:srgbClr val="2B2B2B"/>
          </a:solidFill>
          <a:ln w="3175">
            <a:solidFill>
              <a:srgbClr val="505050"/>
            </a:solidFill>
            <a:prstDash val="solid"/>
          </a:ln>
        </p:spPr>
      </p:sp>
      <p:sp>
        <p:nvSpPr>
          <p:cNvPr id="58" name="Shape 56"/>
          <p:cNvSpPr/>
          <p:nvPr/>
        </p:nvSpPr>
        <p:spPr>
          <a:xfrm>
            <a:off x="1965960" y="3547872"/>
            <a:ext cx="914400" cy="420624"/>
          </a:xfrm>
          <a:prstGeom prst="rect">
            <a:avLst/>
          </a:prstGeom>
          <a:solidFill>
            <a:srgbClr val="2B2B2B"/>
          </a:solidFill>
          <a:ln w="3175">
            <a:solidFill>
              <a:srgbClr val="505050"/>
            </a:solidFill>
            <a:prstDash val="solid"/>
          </a:ln>
        </p:spPr>
      </p:sp>
      <p:sp>
        <p:nvSpPr>
          <p:cNvPr id="59" name="Shape 57"/>
          <p:cNvSpPr/>
          <p:nvPr/>
        </p:nvSpPr>
        <p:spPr>
          <a:xfrm>
            <a:off x="2880360" y="3547872"/>
            <a:ext cx="914400" cy="420624"/>
          </a:xfrm>
          <a:prstGeom prst="rect">
            <a:avLst/>
          </a:prstGeom>
          <a:solidFill>
            <a:srgbClr val="2B2B2B"/>
          </a:solidFill>
          <a:ln w="3175">
            <a:solidFill>
              <a:srgbClr val="505050"/>
            </a:solidFill>
            <a:prstDash val="solid"/>
          </a:ln>
        </p:spPr>
      </p:sp>
      <p:sp>
        <p:nvSpPr>
          <p:cNvPr id="60" name="Shape 58"/>
          <p:cNvSpPr/>
          <p:nvPr/>
        </p:nvSpPr>
        <p:spPr>
          <a:xfrm>
            <a:off x="3794760" y="3547872"/>
            <a:ext cx="914400" cy="420624"/>
          </a:xfrm>
          <a:prstGeom prst="rect">
            <a:avLst/>
          </a:prstGeom>
          <a:solidFill>
            <a:srgbClr val="2B2B2B"/>
          </a:solidFill>
          <a:ln w="3175">
            <a:solidFill>
              <a:srgbClr val="505050"/>
            </a:solidFill>
            <a:prstDash val="solid"/>
          </a:ln>
        </p:spPr>
      </p:sp>
      <p:sp>
        <p:nvSpPr>
          <p:cNvPr id="61" name="Shape 59"/>
          <p:cNvSpPr/>
          <p:nvPr/>
        </p:nvSpPr>
        <p:spPr>
          <a:xfrm>
            <a:off x="4709160" y="3547872"/>
            <a:ext cx="1737360" cy="420624"/>
          </a:xfrm>
          <a:prstGeom prst="rect">
            <a:avLst/>
          </a:prstGeom>
          <a:solidFill>
            <a:srgbClr val="2B2B2B"/>
          </a:solidFill>
          <a:ln w="3175">
            <a:solidFill>
              <a:srgbClr val="505050"/>
            </a:solidFill>
            <a:prstDash val="solid"/>
          </a:ln>
        </p:spPr>
      </p:sp>
      <p:sp>
        <p:nvSpPr>
          <p:cNvPr id="62" name="Text 60"/>
          <p:cNvSpPr/>
          <p:nvPr/>
        </p:nvSpPr>
        <p:spPr>
          <a:xfrm>
            <a:off x="694944" y="3685032"/>
            <a:ext cx="1234440" cy="118872"/>
          </a:xfrm>
          <a:prstGeom prst="rect">
            <a:avLst/>
          </a:prstGeom>
          <a:noFill/>
          <a:ln/>
        </p:spPr>
        <p:txBody>
          <a:bodyPr wrap="square" lIns="254" tIns="254" rIns="254" bIns="254" rtlCol="0" anchor="ctr">
            <a:normAutofit/>
          </a:bodyPr>
          <a:lstStyle/>
          <a:p>
            <a:pPr algn="l" indent="0" marL="0">
              <a:buNone/>
            </a:pPr>
            <a:r>
              <a:rPr lang="en-US" sz="700" dirty="0">
                <a:solidFill>
                  <a:srgbClr val="F2F2F2"/>
                </a:solidFill>
              </a:rPr>
              <a:t>Clutch kit</a:t>
            </a:r>
            <a:endParaRPr lang="en-US" sz="700" dirty="0"/>
          </a:p>
        </p:txBody>
      </p:sp>
      <p:sp>
        <p:nvSpPr>
          <p:cNvPr id="63" name="Text 61"/>
          <p:cNvSpPr/>
          <p:nvPr/>
        </p:nvSpPr>
        <p:spPr>
          <a:xfrm>
            <a:off x="1965960" y="3675888"/>
            <a:ext cx="914400" cy="118872"/>
          </a:xfrm>
          <a:prstGeom prst="rect">
            <a:avLst/>
          </a:prstGeom>
          <a:noFill/>
          <a:ln/>
        </p:spPr>
        <p:txBody>
          <a:bodyPr wrap="square" lIns="254" tIns="254" rIns="254" bIns="254" rtlCol="0" anchor="ctr">
            <a:normAutofit/>
          </a:bodyPr>
          <a:lstStyle/>
          <a:p>
            <a:pPr algn="ctr" indent="0" marL="0">
              <a:buNone/>
            </a:pPr>
            <a:r>
              <a:rPr lang="en-US" sz="800" b="1" dirty="0">
                <a:solidFill>
                  <a:srgbClr val="E30613"/>
                </a:solidFill>
              </a:rPr>
              <a:t>26%</a:t>
            </a:r>
            <a:endParaRPr lang="en-US" sz="800" dirty="0"/>
          </a:p>
        </p:txBody>
      </p:sp>
      <p:sp>
        <p:nvSpPr>
          <p:cNvPr id="64" name="Text 62"/>
          <p:cNvSpPr/>
          <p:nvPr/>
        </p:nvSpPr>
        <p:spPr>
          <a:xfrm>
            <a:off x="2880360" y="3675888"/>
            <a:ext cx="914400" cy="118872"/>
          </a:xfrm>
          <a:prstGeom prst="rect">
            <a:avLst/>
          </a:prstGeom>
          <a:noFill/>
          <a:ln/>
        </p:spPr>
        <p:txBody>
          <a:bodyPr wrap="square" lIns="254" tIns="254" rIns="254" bIns="254" rtlCol="0" anchor="ctr">
            <a:normAutofit/>
          </a:bodyPr>
          <a:lstStyle/>
          <a:p>
            <a:pPr algn="ctr" indent="0" marL="0">
              <a:buNone/>
            </a:pPr>
            <a:r>
              <a:rPr lang="en-US" sz="800" b="1" dirty="0">
                <a:solidFill>
                  <a:srgbClr val="E30613"/>
                </a:solidFill>
              </a:rPr>
              <a:t>29%</a:t>
            </a:r>
            <a:endParaRPr lang="en-US" sz="800" dirty="0"/>
          </a:p>
        </p:txBody>
      </p:sp>
      <p:sp>
        <p:nvSpPr>
          <p:cNvPr id="65" name="Text 63"/>
          <p:cNvSpPr/>
          <p:nvPr/>
        </p:nvSpPr>
        <p:spPr>
          <a:xfrm>
            <a:off x="3794760" y="3675888"/>
            <a:ext cx="914400" cy="118872"/>
          </a:xfrm>
          <a:prstGeom prst="rect">
            <a:avLst/>
          </a:prstGeom>
          <a:noFill/>
          <a:ln/>
        </p:spPr>
        <p:txBody>
          <a:bodyPr wrap="square" lIns="254" tIns="254" rIns="254" bIns="254" rtlCol="0" anchor="ctr">
            <a:normAutofit/>
          </a:bodyPr>
          <a:lstStyle/>
          <a:p>
            <a:pPr algn="ctr" indent="0" marL="0">
              <a:buNone/>
            </a:pPr>
            <a:r>
              <a:rPr lang="en-US" sz="800" b="1" dirty="0">
                <a:solidFill>
                  <a:srgbClr val="E30613"/>
                </a:solidFill>
              </a:rPr>
              <a:t>30%</a:t>
            </a:r>
            <a:endParaRPr lang="en-US" sz="800" dirty="0"/>
          </a:p>
        </p:txBody>
      </p:sp>
      <p:sp>
        <p:nvSpPr>
          <p:cNvPr id="66" name="Text 64"/>
          <p:cNvSpPr/>
          <p:nvPr/>
        </p:nvSpPr>
        <p:spPr>
          <a:xfrm>
            <a:off x="4764024" y="3621024"/>
            <a:ext cx="1645920" cy="219456"/>
          </a:xfrm>
          <a:prstGeom prst="rect">
            <a:avLst/>
          </a:prstGeom>
          <a:noFill/>
          <a:ln/>
        </p:spPr>
        <p:txBody>
          <a:bodyPr wrap="square" lIns="254" tIns="254" rIns="254" bIns="254" rtlCol="0" anchor="ctr">
            <a:normAutofit/>
          </a:bodyPr>
          <a:lstStyle/>
          <a:p>
            <a:pPr algn="l" indent="0" marL="0">
              <a:buNone/>
            </a:pPr>
            <a:r>
              <a:rPr lang="en-US" sz="680" dirty="0">
                <a:solidFill>
                  <a:srgbClr val="F2F2F2"/>
                </a:solidFill>
              </a:rPr>
              <a:t>Low but slowly improving.</a:t>
            </a:r>
            <a:endParaRPr lang="en-US" sz="680" dirty="0"/>
          </a:p>
        </p:txBody>
      </p:sp>
      <p:sp>
        <p:nvSpPr>
          <p:cNvPr id="67" name="Shape 65"/>
          <p:cNvSpPr/>
          <p:nvPr/>
        </p:nvSpPr>
        <p:spPr>
          <a:xfrm>
            <a:off x="640080" y="3986784"/>
            <a:ext cx="1325880" cy="420624"/>
          </a:xfrm>
          <a:prstGeom prst="rect">
            <a:avLst/>
          </a:prstGeom>
          <a:solidFill>
            <a:srgbClr val="303030"/>
          </a:solidFill>
          <a:ln w="3175">
            <a:solidFill>
              <a:srgbClr val="505050"/>
            </a:solidFill>
            <a:prstDash val="solid"/>
          </a:ln>
        </p:spPr>
      </p:sp>
      <p:sp>
        <p:nvSpPr>
          <p:cNvPr id="68" name="Shape 66"/>
          <p:cNvSpPr/>
          <p:nvPr/>
        </p:nvSpPr>
        <p:spPr>
          <a:xfrm>
            <a:off x="1965960" y="3986784"/>
            <a:ext cx="914400" cy="420624"/>
          </a:xfrm>
          <a:prstGeom prst="rect">
            <a:avLst/>
          </a:prstGeom>
          <a:solidFill>
            <a:srgbClr val="303030"/>
          </a:solidFill>
          <a:ln w="3175">
            <a:solidFill>
              <a:srgbClr val="505050"/>
            </a:solidFill>
            <a:prstDash val="solid"/>
          </a:ln>
        </p:spPr>
      </p:sp>
      <p:sp>
        <p:nvSpPr>
          <p:cNvPr id="69" name="Shape 67"/>
          <p:cNvSpPr/>
          <p:nvPr/>
        </p:nvSpPr>
        <p:spPr>
          <a:xfrm>
            <a:off x="2880360" y="3986784"/>
            <a:ext cx="914400" cy="420624"/>
          </a:xfrm>
          <a:prstGeom prst="rect">
            <a:avLst/>
          </a:prstGeom>
          <a:solidFill>
            <a:srgbClr val="303030"/>
          </a:solidFill>
          <a:ln w="3175">
            <a:solidFill>
              <a:srgbClr val="505050"/>
            </a:solidFill>
            <a:prstDash val="solid"/>
          </a:ln>
        </p:spPr>
      </p:sp>
      <p:sp>
        <p:nvSpPr>
          <p:cNvPr id="70" name="Shape 68"/>
          <p:cNvSpPr/>
          <p:nvPr/>
        </p:nvSpPr>
        <p:spPr>
          <a:xfrm>
            <a:off x="3794760" y="3986784"/>
            <a:ext cx="914400" cy="420624"/>
          </a:xfrm>
          <a:prstGeom prst="rect">
            <a:avLst/>
          </a:prstGeom>
          <a:solidFill>
            <a:srgbClr val="303030"/>
          </a:solidFill>
          <a:ln w="3175">
            <a:solidFill>
              <a:srgbClr val="505050"/>
            </a:solidFill>
            <a:prstDash val="solid"/>
          </a:ln>
        </p:spPr>
      </p:sp>
      <p:sp>
        <p:nvSpPr>
          <p:cNvPr id="71" name="Shape 69"/>
          <p:cNvSpPr/>
          <p:nvPr/>
        </p:nvSpPr>
        <p:spPr>
          <a:xfrm>
            <a:off x="4709160" y="3986784"/>
            <a:ext cx="1737360" cy="420624"/>
          </a:xfrm>
          <a:prstGeom prst="rect">
            <a:avLst/>
          </a:prstGeom>
          <a:solidFill>
            <a:srgbClr val="303030"/>
          </a:solidFill>
          <a:ln w="3175">
            <a:solidFill>
              <a:srgbClr val="505050"/>
            </a:solidFill>
            <a:prstDash val="solid"/>
          </a:ln>
        </p:spPr>
      </p:sp>
      <p:sp>
        <p:nvSpPr>
          <p:cNvPr id="72" name="Text 70"/>
          <p:cNvSpPr/>
          <p:nvPr/>
        </p:nvSpPr>
        <p:spPr>
          <a:xfrm>
            <a:off x="694944" y="4123944"/>
            <a:ext cx="1234440" cy="118872"/>
          </a:xfrm>
          <a:prstGeom prst="rect">
            <a:avLst/>
          </a:prstGeom>
          <a:noFill/>
          <a:ln/>
        </p:spPr>
        <p:txBody>
          <a:bodyPr wrap="square" lIns="254" tIns="254" rIns="254" bIns="254" rtlCol="0" anchor="ctr">
            <a:normAutofit/>
          </a:bodyPr>
          <a:lstStyle/>
          <a:p>
            <a:pPr algn="l" indent="0" marL="0">
              <a:buNone/>
            </a:pPr>
            <a:r>
              <a:rPr lang="en-US" sz="700" dirty="0">
                <a:solidFill>
                  <a:srgbClr val="F2F2F2"/>
                </a:solidFill>
              </a:rPr>
              <a:t>Brake shoe</a:t>
            </a:r>
            <a:endParaRPr lang="en-US" sz="700" dirty="0"/>
          </a:p>
        </p:txBody>
      </p:sp>
      <p:sp>
        <p:nvSpPr>
          <p:cNvPr id="73" name="Text 71"/>
          <p:cNvSpPr/>
          <p:nvPr/>
        </p:nvSpPr>
        <p:spPr>
          <a:xfrm>
            <a:off x="1965960" y="4114800"/>
            <a:ext cx="914400" cy="118872"/>
          </a:xfrm>
          <a:prstGeom prst="rect">
            <a:avLst/>
          </a:prstGeom>
          <a:noFill/>
          <a:ln/>
        </p:spPr>
        <p:txBody>
          <a:bodyPr wrap="square" lIns="254" tIns="254" rIns="254" bIns="254" rtlCol="0" anchor="ctr">
            <a:normAutofit/>
          </a:bodyPr>
          <a:lstStyle/>
          <a:p>
            <a:pPr algn="ctr" indent="0" marL="0">
              <a:buNone/>
            </a:pPr>
            <a:r>
              <a:rPr lang="en-US" sz="800" b="1" dirty="0">
                <a:solidFill>
                  <a:srgbClr val="E30613"/>
                </a:solidFill>
              </a:rPr>
              <a:t>8%</a:t>
            </a:r>
            <a:endParaRPr lang="en-US" sz="800" dirty="0"/>
          </a:p>
        </p:txBody>
      </p:sp>
      <p:sp>
        <p:nvSpPr>
          <p:cNvPr id="74" name="Text 72"/>
          <p:cNvSpPr/>
          <p:nvPr/>
        </p:nvSpPr>
        <p:spPr>
          <a:xfrm>
            <a:off x="2880360" y="4114800"/>
            <a:ext cx="914400" cy="118872"/>
          </a:xfrm>
          <a:prstGeom prst="rect">
            <a:avLst/>
          </a:prstGeom>
          <a:noFill/>
          <a:ln/>
        </p:spPr>
        <p:txBody>
          <a:bodyPr wrap="square" lIns="254" tIns="254" rIns="254" bIns="254" rtlCol="0" anchor="ctr">
            <a:normAutofit/>
          </a:bodyPr>
          <a:lstStyle/>
          <a:p>
            <a:pPr algn="ctr" indent="0" marL="0">
              <a:buNone/>
            </a:pPr>
            <a:r>
              <a:rPr lang="en-US" sz="800" b="1" dirty="0">
                <a:solidFill>
                  <a:srgbClr val="E30613"/>
                </a:solidFill>
              </a:rPr>
              <a:t>8%</a:t>
            </a:r>
            <a:endParaRPr lang="en-US" sz="800" dirty="0"/>
          </a:p>
        </p:txBody>
      </p:sp>
      <p:sp>
        <p:nvSpPr>
          <p:cNvPr id="75" name="Text 73"/>
          <p:cNvSpPr/>
          <p:nvPr/>
        </p:nvSpPr>
        <p:spPr>
          <a:xfrm>
            <a:off x="3794760" y="4114800"/>
            <a:ext cx="914400" cy="118872"/>
          </a:xfrm>
          <a:prstGeom prst="rect">
            <a:avLst/>
          </a:prstGeom>
          <a:noFill/>
          <a:ln/>
        </p:spPr>
        <p:txBody>
          <a:bodyPr wrap="square" lIns="254" tIns="254" rIns="254" bIns="254" rtlCol="0" anchor="ctr">
            <a:normAutofit/>
          </a:bodyPr>
          <a:lstStyle/>
          <a:p>
            <a:pPr algn="ctr" indent="0" marL="0">
              <a:buNone/>
            </a:pPr>
            <a:r>
              <a:rPr lang="en-US" sz="800" b="1" dirty="0">
                <a:solidFill>
                  <a:srgbClr val="E30613"/>
                </a:solidFill>
              </a:rPr>
              <a:t>11%</a:t>
            </a:r>
            <a:endParaRPr lang="en-US" sz="800" dirty="0"/>
          </a:p>
        </p:txBody>
      </p:sp>
      <p:sp>
        <p:nvSpPr>
          <p:cNvPr id="76" name="Text 74"/>
          <p:cNvSpPr/>
          <p:nvPr/>
        </p:nvSpPr>
        <p:spPr>
          <a:xfrm>
            <a:off x="4764024" y="4059936"/>
            <a:ext cx="1645920" cy="219456"/>
          </a:xfrm>
          <a:prstGeom prst="rect">
            <a:avLst/>
          </a:prstGeom>
          <a:noFill/>
          <a:ln/>
        </p:spPr>
        <p:txBody>
          <a:bodyPr wrap="square" lIns="254" tIns="254" rIns="254" bIns="254" rtlCol="0" anchor="ctr">
            <a:normAutofit/>
          </a:bodyPr>
          <a:lstStyle/>
          <a:p>
            <a:pPr algn="l" indent="0" marL="0">
              <a:buNone/>
            </a:pPr>
            <a:r>
              <a:rPr lang="en-US" sz="680" dirty="0">
                <a:solidFill>
                  <a:srgbClr val="F2F2F2"/>
                </a:solidFill>
              </a:rPr>
              <a:t>Persistent underdevelopment.</a:t>
            </a:r>
            <a:endParaRPr lang="en-US" sz="680" dirty="0"/>
          </a:p>
        </p:txBody>
      </p:sp>
      <p:sp>
        <p:nvSpPr>
          <p:cNvPr id="77" name="Text 75"/>
          <p:cNvSpPr/>
          <p:nvPr/>
        </p:nvSpPr>
        <p:spPr>
          <a:xfrm>
            <a:off x="694944" y="4617720"/>
            <a:ext cx="7315200" cy="310896"/>
          </a:xfrm>
          <a:prstGeom prst="rect">
            <a:avLst/>
          </a:prstGeom>
          <a:noFill/>
          <a:ln/>
        </p:spPr>
        <p:txBody>
          <a:bodyPr wrap="square" lIns="254" tIns="254" rIns="254" bIns="254" rtlCol="0" anchor="ctr">
            <a:normAutofit/>
          </a:bodyPr>
          <a:lstStyle/>
          <a:p>
            <a:pPr algn="l" indent="0" marL="0">
              <a:buNone/>
            </a:pPr>
            <a:r>
              <a:rPr lang="en-US" sz="750" dirty="0">
                <a:solidFill>
                  <a:srgbClr val="BDBDBD"/>
                </a:solidFill>
              </a:rPr>
              <a:t>Denominator note: the PMS denominator is expected replacement units by service family. It is not the same as full GPS target spend, and it uses the 2025 model base consistently in this file.</a:t>
            </a:r>
            <a:endParaRPr lang="en-US" sz="750" dirty="0"/>
          </a:p>
        </p:txBody>
      </p:sp>
      <p:sp>
        <p:nvSpPr>
          <p:cNvPr id="78" name="Shape 76"/>
          <p:cNvSpPr/>
          <p:nvPr/>
        </p:nvSpPr>
        <p:spPr>
          <a:xfrm>
            <a:off x="9015984" y="1335024"/>
            <a:ext cx="2971800" cy="5102352"/>
          </a:xfrm>
          <a:prstGeom prst="roundRect">
            <a:avLst>
              <a:gd name="adj" fmla="val 1846"/>
            </a:avLst>
          </a:prstGeom>
          <a:solidFill>
            <a:srgbClr val="303030"/>
          </a:solidFill>
          <a:ln w="8890">
            <a:solidFill>
              <a:srgbClr val="6E6E6E"/>
            </a:solidFill>
            <a:prstDash val="solid"/>
          </a:ln>
        </p:spPr>
      </p:sp>
      <p:sp>
        <p:nvSpPr>
          <p:cNvPr id="79" name="Text 77"/>
          <p:cNvSpPr/>
          <p:nvPr/>
        </p:nvSpPr>
        <p:spPr>
          <a:xfrm>
            <a:off x="9272016" y="1572768"/>
            <a:ext cx="2468880" cy="182880"/>
          </a:xfrm>
          <a:prstGeom prst="rect">
            <a:avLst/>
          </a:prstGeom>
          <a:noFill/>
          <a:ln/>
        </p:spPr>
        <p:txBody>
          <a:bodyPr wrap="square" rtlCol="0" anchor="ctr">
            <a:normAutofit/>
          </a:bodyPr>
          <a:lstStyle/>
          <a:p>
            <a:pPr indent="0" marL="0">
              <a:buNone/>
            </a:pPr>
            <a:r>
              <a:rPr lang="en-US" sz="750" b="1" dirty="0">
                <a:solidFill>
                  <a:srgbClr val="E30613"/>
                </a:solidFill>
              </a:rPr>
              <a:t>OBSERVATIONS / QUESTIONS</a:t>
            </a:r>
            <a:endParaRPr lang="en-US" sz="750" dirty="0"/>
          </a:p>
        </p:txBody>
      </p:sp>
      <p:sp>
        <p:nvSpPr>
          <p:cNvPr id="80" name="Shape 78"/>
          <p:cNvSpPr/>
          <p:nvPr/>
        </p:nvSpPr>
        <p:spPr>
          <a:xfrm>
            <a:off x="9272016" y="2084832"/>
            <a:ext cx="82296" cy="82296"/>
          </a:xfrm>
          <a:prstGeom prst="ellipse">
            <a:avLst/>
          </a:prstGeom>
          <a:solidFill>
            <a:srgbClr val="E30613"/>
          </a:solidFill>
          <a:ln w="12700">
            <a:solidFill>
              <a:srgbClr val="E30613"/>
            </a:solidFill>
            <a:prstDash val="solid"/>
          </a:ln>
        </p:spPr>
      </p:sp>
      <p:sp>
        <p:nvSpPr>
          <p:cNvPr id="81" name="Text 79"/>
          <p:cNvSpPr/>
          <p:nvPr/>
        </p:nvSpPr>
        <p:spPr>
          <a:xfrm>
            <a:off x="9491472" y="2020824"/>
            <a:ext cx="2221992" cy="512064"/>
          </a:xfrm>
          <a:prstGeom prst="rect">
            <a:avLst/>
          </a:prstGeom>
          <a:noFill/>
          <a:ln/>
        </p:spPr>
        <p:txBody>
          <a:bodyPr wrap="square" lIns="254" tIns="254" rIns="254" bIns="254" rtlCol="0" anchor="t">
            <a:normAutofit/>
          </a:bodyPr>
          <a:lstStyle/>
          <a:p>
            <a:pPr indent="0" marL="0">
              <a:buNone/>
            </a:pPr>
            <a:r>
              <a:rPr lang="en-US" sz="820" dirty="0">
                <a:solidFill>
                  <a:srgbClr val="F2F2F2"/>
                </a:solidFill>
              </a:rPr>
              <a:t>The biggest leakage signal is not the lowest category; it is the reversal in oil and fuel filters after a strong 2024.</a:t>
            </a:r>
            <a:endParaRPr lang="en-US" sz="820" dirty="0"/>
          </a:p>
        </p:txBody>
      </p:sp>
      <p:sp>
        <p:nvSpPr>
          <p:cNvPr id="82" name="Shape 80"/>
          <p:cNvSpPr/>
          <p:nvPr/>
        </p:nvSpPr>
        <p:spPr>
          <a:xfrm>
            <a:off x="9272016" y="3017520"/>
            <a:ext cx="82296" cy="82296"/>
          </a:xfrm>
          <a:prstGeom prst="ellipse">
            <a:avLst/>
          </a:prstGeom>
          <a:solidFill>
            <a:srgbClr val="F5A000"/>
          </a:solidFill>
          <a:ln w="12700">
            <a:solidFill>
              <a:srgbClr val="F5A000"/>
            </a:solidFill>
            <a:prstDash val="solid"/>
          </a:ln>
        </p:spPr>
      </p:sp>
      <p:sp>
        <p:nvSpPr>
          <p:cNvPr id="83" name="Text 81"/>
          <p:cNvSpPr/>
          <p:nvPr/>
        </p:nvSpPr>
        <p:spPr>
          <a:xfrm>
            <a:off x="9491472" y="2953512"/>
            <a:ext cx="2221992" cy="512064"/>
          </a:xfrm>
          <a:prstGeom prst="rect">
            <a:avLst/>
          </a:prstGeom>
          <a:noFill/>
          <a:ln/>
        </p:spPr>
        <p:txBody>
          <a:bodyPr wrap="square" lIns="254" tIns="254" rIns="254" bIns="254" rtlCol="0" anchor="t">
            <a:normAutofit/>
          </a:bodyPr>
          <a:lstStyle/>
          <a:p>
            <a:pPr indent="0" marL="0">
              <a:buNone/>
            </a:pPr>
            <a:r>
              <a:rPr lang="en-US" sz="820" dirty="0">
                <a:solidFill>
                  <a:srgbClr val="F2F2F2"/>
                </a:solidFill>
              </a:rPr>
              <a:t>Air filter continues to improve, so the issue is not a general filter weakness.</a:t>
            </a:r>
            <a:endParaRPr lang="en-US" sz="820" dirty="0"/>
          </a:p>
        </p:txBody>
      </p:sp>
      <p:sp>
        <p:nvSpPr>
          <p:cNvPr id="84" name="Shape 82"/>
          <p:cNvSpPr/>
          <p:nvPr/>
        </p:nvSpPr>
        <p:spPr>
          <a:xfrm>
            <a:off x="9272016" y="3950208"/>
            <a:ext cx="82296" cy="82296"/>
          </a:xfrm>
          <a:prstGeom prst="ellipse">
            <a:avLst/>
          </a:prstGeom>
          <a:solidFill>
            <a:srgbClr val="F5A000"/>
          </a:solidFill>
          <a:ln w="12700">
            <a:solidFill>
              <a:srgbClr val="F5A000"/>
            </a:solidFill>
            <a:prstDash val="solid"/>
          </a:ln>
        </p:spPr>
      </p:sp>
      <p:sp>
        <p:nvSpPr>
          <p:cNvPr id="85" name="Text 83"/>
          <p:cNvSpPr/>
          <p:nvPr/>
        </p:nvSpPr>
        <p:spPr>
          <a:xfrm>
            <a:off x="9491472" y="3886200"/>
            <a:ext cx="2221992" cy="512064"/>
          </a:xfrm>
          <a:prstGeom prst="rect">
            <a:avLst/>
          </a:prstGeom>
          <a:noFill/>
          <a:ln/>
        </p:spPr>
        <p:txBody>
          <a:bodyPr wrap="square" lIns="254" tIns="254" rIns="254" bIns="254" rtlCol="0" anchor="t">
            <a:normAutofit/>
          </a:bodyPr>
          <a:lstStyle/>
          <a:p>
            <a:pPr indent="0" marL="0">
              <a:buNone/>
            </a:pPr>
            <a:r>
              <a:rPr lang="en-US" sz="820" dirty="0">
                <a:solidFill>
                  <a:srgbClr val="F2F2F2"/>
                </a:solidFill>
              </a:rPr>
              <a:t>The denominator is not a higher UIO number. It is expected service units per family on the current model base.</a:t>
            </a:r>
            <a:endParaRPr lang="en-US" sz="820" dirty="0"/>
          </a:p>
        </p:txBody>
      </p:sp>
      <p:sp>
        <p:nvSpPr>
          <p:cNvPr id="86" name="Shape 84"/>
          <p:cNvSpPr/>
          <p:nvPr/>
        </p:nvSpPr>
        <p:spPr>
          <a:xfrm>
            <a:off x="9272016" y="4882896"/>
            <a:ext cx="82296" cy="82296"/>
          </a:xfrm>
          <a:prstGeom prst="ellipse">
            <a:avLst/>
          </a:prstGeom>
          <a:solidFill>
            <a:srgbClr val="F5A000"/>
          </a:solidFill>
          <a:ln w="12700">
            <a:solidFill>
              <a:srgbClr val="F5A000"/>
            </a:solidFill>
            <a:prstDash val="solid"/>
          </a:ln>
        </p:spPr>
      </p:sp>
      <p:sp>
        <p:nvSpPr>
          <p:cNvPr id="87" name="Text 85"/>
          <p:cNvSpPr/>
          <p:nvPr/>
        </p:nvSpPr>
        <p:spPr>
          <a:xfrm>
            <a:off x="9491472" y="4818888"/>
            <a:ext cx="2221992" cy="512064"/>
          </a:xfrm>
          <a:prstGeom prst="rect">
            <a:avLst/>
          </a:prstGeom>
          <a:noFill/>
          <a:ln/>
        </p:spPr>
        <p:txBody>
          <a:bodyPr wrap="square" lIns="254" tIns="254" rIns="254" bIns="254" rtlCol="0" anchor="t">
            <a:normAutofit/>
          </a:bodyPr>
          <a:lstStyle/>
          <a:p>
            <a:pPr indent="0" marL="0">
              <a:buNone/>
            </a:pPr>
            <a:r>
              <a:rPr lang="en-US" sz="820" dirty="0">
                <a:solidFill>
                  <a:srgbClr val="F2F2F2"/>
                </a:solidFill>
              </a:rPr>
              <a:t>Question: what changed between 2024 and 2025 for oil/fuel filters: price, BVP availability, dealer stocking, or competitor supply?</a:t>
            </a:r>
            <a:endParaRPr lang="en-US" sz="8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62626"/>
        </a:solidFill>
      </p:bgPr>
    </p:bg>
    <p:spTree>
      <p:nvGrpSpPr>
        <p:cNvPr id="1" name=""/>
        <p:cNvGrpSpPr/>
        <p:nvPr/>
      </p:nvGrpSpPr>
      <p:grpSpPr>
        <a:xfrm>
          <a:off x="0" y="0"/>
          <a:ext cx="0" cy="0"/>
          <a:chOff x="0" y="0"/>
          <a:chExt cx="0" cy="0"/>
        </a:xfrm>
      </p:grpSpPr>
      <p:sp>
        <p:nvSpPr>
          <p:cNvPr id="2" name="Text 0"/>
          <p:cNvSpPr/>
          <p:nvPr/>
        </p:nvSpPr>
        <p:spPr>
          <a:xfrm>
            <a:off x="228600" y="91440"/>
            <a:ext cx="3474720" cy="164592"/>
          </a:xfrm>
          <a:prstGeom prst="rect">
            <a:avLst/>
          </a:prstGeom>
          <a:noFill/>
          <a:ln/>
        </p:spPr>
        <p:txBody>
          <a:bodyPr wrap="square" rtlCol="0" anchor="ctr">
            <a:normAutofit/>
          </a:bodyPr>
          <a:lstStyle/>
          <a:p>
            <a:pPr indent="0" marL="0">
              <a:buNone/>
            </a:pPr>
            <a:r>
              <a:rPr lang="en-US" sz="660" b="1" dirty="0">
                <a:solidFill>
                  <a:srgbClr val="F2F2F2"/>
                </a:solidFill>
                <a:latin typeface="Aptos" pitchFamily="34" charset="0"/>
                <a:ea typeface="Aptos" pitchFamily="34" charset="-122"/>
                <a:cs typeface="Aptos" pitchFamily="34" charset="-120"/>
              </a:rPr>
              <a:t>ISZE  ·  VEHICLE PARTS &amp; ACCESSORIES</a:t>
            </a:r>
            <a:endParaRPr lang="en-US" sz="660" dirty="0"/>
          </a:p>
        </p:txBody>
      </p:sp>
      <p:sp>
        <p:nvSpPr>
          <p:cNvPr id="3" name="Shape 1"/>
          <p:cNvSpPr/>
          <p:nvPr/>
        </p:nvSpPr>
        <p:spPr>
          <a:xfrm>
            <a:off x="228600" y="6629400"/>
            <a:ext cx="11750040" cy="0"/>
          </a:xfrm>
          <a:prstGeom prst="line">
            <a:avLst/>
          </a:prstGeom>
          <a:noFill/>
          <a:ln w="6350">
            <a:solidFill>
              <a:srgbClr val="575757"/>
            </a:solidFill>
            <a:prstDash val="solid"/>
          </a:ln>
        </p:spPr>
      </p:sp>
      <p:sp>
        <p:nvSpPr>
          <p:cNvPr id="4" name="Text 2"/>
          <p:cNvSpPr/>
          <p:nvPr/>
        </p:nvSpPr>
        <p:spPr>
          <a:xfrm>
            <a:off x="228600" y="393192"/>
            <a:ext cx="4114800" cy="201168"/>
          </a:xfrm>
          <a:prstGeom prst="rect">
            <a:avLst/>
          </a:prstGeom>
          <a:noFill/>
          <a:ln/>
        </p:spPr>
        <p:txBody>
          <a:bodyPr wrap="square" rtlCol="0" anchor="ctr">
            <a:normAutofit/>
          </a:bodyPr>
          <a:lstStyle/>
          <a:p>
            <a:pPr indent="0" marL="0">
              <a:buNone/>
            </a:pPr>
            <a:r>
              <a:rPr lang="en-US" sz="750" b="1" dirty="0">
                <a:solidFill>
                  <a:srgbClr val="E30613"/>
                </a:solidFill>
              </a:rPr>
              <a:t>GENUINE / BVP MIX</a:t>
            </a:r>
            <a:endParaRPr lang="en-US" sz="750" dirty="0"/>
          </a:p>
        </p:txBody>
      </p:sp>
      <p:sp>
        <p:nvSpPr>
          <p:cNvPr id="5" name="Text 3"/>
          <p:cNvSpPr/>
          <p:nvPr/>
        </p:nvSpPr>
        <p:spPr>
          <a:xfrm>
            <a:off x="228600" y="713232"/>
            <a:ext cx="9052560" cy="438912"/>
          </a:xfrm>
          <a:prstGeom prst="rect">
            <a:avLst/>
          </a:prstGeom>
          <a:noFill/>
          <a:ln/>
        </p:spPr>
        <p:txBody>
          <a:bodyPr wrap="square" lIns="0" tIns="0" rIns="0" bIns="0" rtlCol="0" anchor="ctr">
            <a:normAutofit/>
          </a:bodyPr>
          <a:lstStyle/>
          <a:p>
            <a:pPr indent="0" marL="0">
              <a:buNone/>
            </a:pPr>
            <a:r>
              <a:rPr lang="en-US" sz="2250" b="1" dirty="0">
                <a:solidFill>
                  <a:srgbClr val="F2F2F2"/>
                </a:solidFill>
              </a:rPr>
              <a:t>BVP share eased in 2025, but the covered family basket still grew</a:t>
            </a:r>
            <a:endParaRPr lang="en-US" sz="2250" dirty="0"/>
          </a:p>
        </p:txBody>
      </p:sp>
      <p:sp>
        <p:nvSpPr>
          <p:cNvPr id="6" name="Text 4"/>
          <p:cNvSpPr/>
          <p:nvPr/>
        </p:nvSpPr>
        <p:spPr>
          <a:xfrm>
            <a:off x="228600" y="1188720"/>
            <a:ext cx="8046720" cy="219456"/>
          </a:xfrm>
          <a:prstGeom prst="rect">
            <a:avLst/>
          </a:prstGeom>
          <a:noFill/>
          <a:ln/>
        </p:spPr>
        <p:txBody>
          <a:bodyPr wrap="square" lIns="0" tIns="0" rIns="0" bIns="0" rtlCol="0" anchor="ctr">
            <a:normAutofit/>
          </a:bodyPr>
          <a:lstStyle/>
          <a:p>
            <a:pPr indent="0" marL="0">
              <a:buNone/>
            </a:pPr>
            <a:r>
              <a:rPr lang="en-US" sz="850" dirty="0">
                <a:solidFill>
                  <a:srgbClr val="BDBDBD"/>
                </a:solidFill>
              </a:rPr>
              <a:t>Portugal / I Motors | Original and BVP covered families | calendar 2023-2025</a:t>
            </a:r>
            <a:endParaRPr lang="en-US" sz="850" dirty="0"/>
          </a:p>
        </p:txBody>
      </p:sp>
      <p:sp>
        <p:nvSpPr>
          <p:cNvPr id="7" name="Shape 5"/>
          <p:cNvSpPr/>
          <p:nvPr/>
        </p:nvSpPr>
        <p:spPr>
          <a:xfrm>
            <a:off x="685800" y="4983480"/>
            <a:ext cx="4892040" cy="0"/>
          </a:xfrm>
          <a:prstGeom prst="line">
            <a:avLst/>
          </a:prstGeom>
          <a:noFill/>
          <a:ln w="5080">
            <a:solidFill>
              <a:srgbClr val="4D4D4D">
                <a:alpha val="80000"/>
              </a:srgbClr>
            </a:solidFill>
            <a:prstDash val="solid"/>
          </a:ln>
        </p:spPr>
      </p:sp>
      <p:sp>
        <p:nvSpPr>
          <p:cNvPr id="8" name="Text 6"/>
          <p:cNvSpPr/>
          <p:nvPr/>
        </p:nvSpPr>
        <p:spPr>
          <a:xfrm>
            <a:off x="384048" y="4928616"/>
            <a:ext cx="237744" cy="109728"/>
          </a:xfrm>
          <a:prstGeom prst="rect">
            <a:avLst/>
          </a:prstGeom>
          <a:noFill/>
          <a:ln/>
        </p:spPr>
        <p:txBody>
          <a:bodyPr wrap="square" lIns="254" tIns="254" rIns="254" bIns="254" rtlCol="0" anchor="ctr">
            <a:normAutofit/>
          </a:bodyPr>
          <a:lstStyle/>
          <a:p>
            <a:pPr algn="r" indent="0" marL="0">
              <a:buNone/>
            </a:pPr>
            <a:r>
              <a:rPr lang="en-US" sz="650" dirty="0">
                <a:solidFill>
                  <a:srgbClr val="BDBDBD"/>
                </a:solidFill>
              </a:rPr>
              <a:t>0</a:t>
            </a:r>
            <a:endParaRPr lang="en-US" sz="650" dirty="0"/>
          </a:p>
        </p:txBody>
      </p:sp>
      <p:sp>
        <p:nvSpPr>
          <p:cNvPr id="9" name="Shape 7"/>
          <p:cNvSpPr/>
          <p:nvPr/>
        </p:nvSpPr>
        <p:spPr>
          <a:xfrm>
            <a:off x="685800" y="4114800"/>
            <a:ext cx="4892040" cy="0"/>
          </a:xfrm>
          <a:prstGeom prst="line">
            <a:avLst/>
          </a:prstGeom>
          <a:noFill/>
          <a:ln w="5080">
            <a:solidFill>
              <a:srgbClr val="4D4D4D">
                <a:alpha val="80000"/>
              </a:srgbClr>
            </a:solidFill>
            <a:prstDash val="solid"/>
          </a:ln>
        </p:spPr>
      </p:sp>
      <p:sp>
        <p:nvSpPr>
          <p:cNvPr id="10" name="Text 8"/>
          <p:cNvSpPr/>
          <p:nvPr/>
        </p:nvSpPr>
        <p:spPr>
          <a:xfrm>
            <a:off x="384048" y="4059936"/>
            <a:ext cx="237744" cy="109728"/>
          </a:xfrm>
          <a:prstGeom prst="rect">
            <a:avLst/>
          </a:prstGeom>
          <a:noFill/>
          <a:ln/>
        </p:spPr>
        <p:txBody>
          <a:bodyPr wrap="square" lIns="254" tIns="254" rIns="254" bIns="254" rtlCol="0" anchor="ctr">
            <a:normAutofit/>
          </a:bodyPr>
          <a:lstStyle/>
          <a:p>
            <a:pPr algn="r" indent="0" marL="0">
              <a:buNone/>
            </a:pPr>
            <a:r>
              <a:rPr lang="en-US" sz="650" dirty="0">
                <a:solidFill>
                  <a:srgbClr val="BDBDBD"/>
                </a:solidFill>
              </a:rPr>
              <a:t>58</a:t>
            </a:r>
            <a:endParaRPr lang="en-US" sz="650" dirty="0"/>
          </a:p>
        </p:txBody>
      </p:sp>
      <p:sp>
        <p:nvSpPr>
          <p:cNvPr id="11" name="Shape 9"/>
          <p:cNvSpPr/>
          <p:nvPr/>
        </p:nvSpPr>
        <p:spPr>
          <a:xfrm>
            <a:off x="685800" y="3246120"/>
            <a:ext cx="4892040" cy="0"/>
          </a:xfrm>
          <a:prstGeom prst="line">
            <a:avLst/>
          </a:prstGeom>
          <a:noFill/>
          <a:ln w="5080">
            <a:solidFill>
              <a:srgbClr val="4D4D4D">
                <a:alpha val="80000"/>
              </a:srgbClr>
            </a:solidFill>
            <a:prstDash val="solid"/>
          </a:ln>
        </p:spPr>
      </p:sp>
      <p:sp>
        <p:nvSpPr>
          <p:cNvPr id="12" name="Text 10"/>
          <p:cNvSpPr/>
          <p:nvPr/>
        </p:nvSpPr>
        <p:spPr>
          <a:xfrm>
            <a:off x="384048" y="3191256"/>
            <a:ext cx="237744" cy="109728"/>
          </a:xfrm>
          <a:prstGeom prst="rect">
            <a:avLst/>
          </a:prstGeom>
          <a:noFill/>
          <a:ln/>
        </p:spPr>
        <p:txBody>
          <a:bodyPr wrap="square" lIns="254" tIns="254" rIns="254" bIns="254" rtlCol="0" anchor="ctr">
            <a:normAutofit/>
          </a:bodyPr>
          <a:lstStyle/>
          <a:p>
            <a:pPr algn="r" indent="0" marL="0">
              <a:buNone/>
            </a:pPr>
            <a:r>
              <a:rPr lang="en-US" sz="650" dirty="0">
                <a:solidFill>
                  <a:srgbClr val="BDBDBD"/>
                </a:solidFill>
              </a:rPr>
              <a:t>115</a:t>
            </a:r>
            <a:endParaRPr lang="en-US" sz="650" dirty="0"/>
          </a:p>
        </p:txBody>
      </p:sp>
      <p:sp>
        <p:nvSpPr>
          <p:cNvPr id="13" name="Shape 11"/>
          <p:cNvSpPr/>
          <p:nvPr/>
        </p:nvSpPr>
        <p:spPr>
          <a:xfrm>
            <a:off x="685800" y="2377440"/>
            <a:ext cx="4892040" cy="0"/>
          </a:xfrm>
          <a:prstGeom prst="line">
            <a:avLst/>
          </a:prstGeom>
          <a:noFill/>
          <a:ln w="5080">
            <a:solidFill>
              <a:srgbClr val="4D4D4D">
                <a:alpha val="80000"/>
              </a:srgbClr>
            </a:solidFill>
            <a:prstDash val="solid"/>
          </a:ln>
        </p:spPr>
      </p:sp>
      <p:sp>
        <p:nvSpPr>
          <p:cNvPr id="14" name="Text 12"/>
          <p:cNvSpPr/>
          <p:nvPr/>
        </p:nvSpPr>
        <p:spPr>
          <a:xfrm>
            <a:off x="384048" y="2322576"/>
            <a:ext cx="237744" cy="109728"/>
          </a:xfrm>
          <a:prstGeom prst="rect">
            <a:avLst/>
          </a:prstGeom>
          <a:noFill/>
          <a:ln/>
        </p:spPr>
        <p:txBody>
          <a:bodyPr wrap="square" lIns="254" tIns="254" rIns="254" bIns="254" rtlCol="0" anchor="ctr">
            <a:normAutofit/>
          </a:bodyPr>
          <a:lstStyle/>
          <a:p>
            <a:pPr algn="r" indent="0" marL="0">
              <a:buNone/>
            </a:pPr>
            <a:r>
              <a:rPr lang="en-US" sz="650" dirty="0">
                <a:solidFill>
                  <a:srgbClr val="BDBDBD"/>
                </a:solidFill>
              </a:rPr>
              <a:t>173</a:t>
            </a:r>
            <a:endParaRPr lang="en-US" sz="650" dirty="0"/>
          </a:p>
        </p:txBody>
      </p:sp>
      <p:sp>
        <p:nvSpPr>
          <p:cNvPr id="15" name="Shape 13"/>
          <p:cNvSpPr/>
          <p:nvPr/>
        </p:nvSpPr>
        <p:spPr>
          <a:xfrm>
            <a:off x="685800" y="1508760"/>
            <a:ext cx="4892040" cy="0"/>
          </a:xfrm>
          <a:prstGeom prst="line">
            <a:avLst/>
          </a:prstGeom>
          <a:noFill/>
          <a:ln w="5080">
            <a:solidFill>
              <a:srgbClr val="4D4D4D">
                <a:alpha val="80000"/>
              </a:srgbClr>
            </a:solidFill>
            <a:prstDash val="solid"/>
          </a:ln>
        </p:spPr>
      </p:sp>
      <p:sp>
        <p:nvSpPr>
          <p:cNvPr id="16" name="Text 14"/>
          <p:cNvSpPr/>
          <p:nvPr/>
        </p:nvSpPr>
        <p:spPr>
          <a:xfrm>
            <a:off x="384048" y="1453896"/>
            <a:ext cx="237744" cy="109728"/>
          </a:xfrm>
          <a:prstGeom prst="rect">
            <a:avLst/>
          </a:prstGeom>
          <a:noFill/>
          <a:ln/>
        </p:spPr>
        <p:txBody>
          <a:bodyPr wrap="square" lIns="254" tIns="254" rIns="254" bIns="254" rtlCol="0" anchor="ctr">
            <a:normAutofit/>
          </a:bodyPr>
          <a:lstStyle/>
          <a:p>
            <a:pPr algn="r" indent="0" marL="0">
              <a:buNone/>
            </a:pPr>
            <a:r>
              <a:rPr lang="en-US" sz="650" dirty="0">
                <a:solidFill>
                  <a:srgbClr val="BDBDBD"/>
                </a:solidFill>
              </a:rPr>
              <a:t>230</a:t>
            </a:r>
            <a:endParaRPr lang="en-US" sz="650" dirty="0"/>
          </a:p>
        </p:txBody>
      </p:sp>
      <p:sp>
        <p:nvSpPr>
          <p:cNvPr id="17" name="Shape 15"/>
          <p:cNvSpPr/>
          <p:nvPr/>
        </p:nvSpPr>
        <p:spPr>
          <a:xfrm>
            <a:off x="795528" y="2058672"/>
            <a:ext cx="1347216" cy="2924808"/>
          </a:xfrm>
          <a:prstGeom prst="rect">
            <a:avLst/>
          </a:prstGeom>
          <a:solidFill>
            <a:srgbClr val="E30613"/>
          </a:solidFill>
          <a:ln w="12700">
            <a:solidFill>
              <a:srgbClr val="E30613"/>
            </a:solidFill>
            <a:prstDash val="solid"/>
          </a:ln>
        </p:spPr>
      </p:sp>
      <p:sp>
        <p:nvSpPr>
          <p:cNvPr id="18" name="Text 16"/>
          <p:cNvSpPr/>
          <p:nvPr/>
        </p:nvSpPr>
        <p:spPr>
          <a:xfrm>
            <a:off x="777240" y="5129784"/>
            <a:ext cx="1520952" cy="137160"/>
          </a:xfrm>
          <a:prstGeom prst="rect">
            <a:avLst/>
          </a:prstGeom>
          <a:noFill/>
          <a:ln/>
        </p:spPr>
        <p:txBody>
          <a:bodyPr wrap="square" lIns="254" tIns="254" rIns="254" bIns="254" rtlCol="0" anchor="ctr">
            <a:normAutofit/>
          </a:bodyPr>
          <a:lstStyle/>
          <a:p>
            <a:pPr algn="ctr" indent="0" marL="0">
              <a:buNone/>
            </a:pPr>
            <a:r>
              <a:rPr lang="en-US" sz="700" dirty="0">
                <a:solidFill>
                  <a:srgbClr val="BDBDBD"/>
                </a:solidFill>
              </a:rPr>
              <a:t>2023</a:t>
            </a:r>
            <a:endParaRPr lang="en-US" sz="700" dirty="0"/>
          </a:p>
        </p:txBody>
      </p:sp>
      <p:sp>
        <p:nvSpPr>
          <p:cNvPr id="19" name="Shape 17"/>
          <p:cNvSpPr/>
          <p:nvPr/>
        </p:nvSpPr>
        <p:spPr>
          <a:xfrm>
            <a:off x="2426208" y="1930259"/>
            <a:ext cx="1347216" cy="3053221"/>
          </a:xfrm>
          <a:prstGeom prst="rect">
            <a:avLst/>
          </a:prstGeom>
          <a:solidFill>
            <a:srgbClr val="E30613"/>
          </a:solidFill>
          <a:ln w="12700">
            <a:solidFill>
              <a:srgbClr val="E30613"/>
            </a:solidFill>
            <a:prstDash val="solid"/>
          </a:ln>
        </p:spPr>
      </p:sp>
      <p:sp>
        <p:nvSpPr>
          <p:cNvPr id="20" name="Text 18"/>
          <p:cNvSpPr/>
          <p:nvPr/>
        </p:nvSpPr>
        <p:spPr>
          <a:xfrm>
            <a:off x="2407920" y="5129784"/>
            <a:ext cx="1520952" cy="137160"/>
          </a:xfrm>
          <a:prstGeom prst="rect">
            <a:avLst/>
          </a:prstGeom>
          <a:noFill/>
          <a:ln/>
        </p:spPr>
        <p:txBody>
          <a:bodyPr wrap="square" lIns="254" tIns="254" rIns="254" bIns="254" rtlCol="0" anchor="ctr">
            <a:normAutofit/>
          </a:bodyPr>
          <a:lstStyle/>
          <a:p>
            <a:pPr algn="ctr" indent="0" marL="0">
              <a:buNone/>
            </a:pPr>
            <a:r>
              <a:rPr lang="en-US" sz="700" dirty="0">
                <a:solidFill>
                  <a:srgbClr val="BDBDBD"/>
                </a:solidFill>
              </a:rPr>
              <a:t>2024</a:t>
            </a:r>
            <a:endParaRPr lang="en-US" sz="700" dirty="0"/>
          </a:p>
        </p:txBody>
      </p:sp>
      <p:sp>
        <p:nvSpPr>
          <p:cNvPr id="21" name="Shape 19"/>
          <p:cNvSpPr/>
          <p:nvPr/>
        </p:nvSpPr>
        <p:spPr>
          <a:xfrm>
            <a:off x="4056888" y="1794291"/>
            <a:ext cx="1347216" cy="3189189"/>
          </a:xfrm>
          <a:prstGeom prst="rect">
            <a:avLst/>
          </a:prstGeom>
          <a:solidFill>
            <a:srgbClr val="E30613"/>
          </a:solidFill>
          <a:ln w="12700">
            <a:solidFill>
              <a:srgbClr val="E30613"/>
            </a:solidFill>
            <a:prstDash val="solid"/>
          </a:ln>
        </p:spPr>
      </p:sp>
      <p:sp>
        <p:nvSpPr>
          <p:cNvPr id="22" name="Text 20"/>
          <p:cNvSpPr/>
          <p:nvPr/>
        </p:nvSpPr>
        <p:spPr>
          <a:xfrm>
            <a:off x="4038600" y="5129784"/>
            <a:ext cx="1520952" cy="137160"/>
          </a:xfrm>
          <a:prstGeom prst="rect">
            <a:avLst/>
          </a:prstGeom>
          <a:noFill/>
          <a:ln/>
        </p:spPr>
        <p:txBody>
          <a:bodyPr wrap="square" lIns="254" tIns="254" rIns="254" bIns="254" rtlCol="0" anchor="ctr">
            <a:normAutofit/>
          </a:bodyPr>
          <a:lstStyle/>
          <a:p>
            <a:pPr algn="ctr" indent="0" marL="0">
              <a:buNone/>
            </a:pPr>
            <a:r>
              <a:rPr lang="en-US" sz="700" dirty="0">
                <a:solidFill>
                  <a:srgbClr val="BDBDBD"/>
                </a:solidFill>
              </a:rPr>
              <a:t>2025</a:t>
            </a:r>
            <a:endParaRPr lang="en-US" sz="700" dirty="0"/>
          </a:p>
        </p:txBody>
      </p:sp>
      <p:sp>
        <p:nvSpPr>
          <p:cNvPr id="23" name="Shape 21"/>
          <p:cNvSpPr/>
          <p:nvPr/>
        </p:nvSpPr>
        <p:spPr>
          <a:xfrm>
            <a:off x="5897880" y="4663440"/>
            <a:ext cx="2697480" cy="0"/>
          </a:xfrm>
          <a:prstGeom prst="line">
            <a:avLst/>
          </a:prstGeom>
          <a:noFill/>
          <a:ln w="5080">
            <a:solidFill>
              <a:srgbClr val="4D4D4D">
                <a:alpha val="80000"/>
              </a:srgbClr>
            </a:solidFill>
            <a:prstDash val="solid"/>
          </a:ln>
        </p:spPr>
      </p:sp>
      <p:sp>
        <p:nvSpPr>
          <p:cNvPr id="24" name="Text 22"/>
          <p:cNvSpPr/>
          <p:nvPr/>
        </p:nvSpPr>
        <p:spPr>
          <a:xfrm>
            <a:off x="5559552" y="4608576"/>
            <a:ext cx="274320" cy="109728"/>
          </a:xfrm>
          <a:prstGeom prst="rect">
            <a:avLst/>
          </a:prstGeom>
          <a:noFill/>
          <a:ln/>
        </p:spPr>
        <p:txBody>
          <a:bodyPr wrap="square" lIns="254" tIns="254" rIns="254" bIns="254" rtlCol="0" anchor="ctr">
            <a:normAutofit/>
          </a:bodyPr>
          <a:lstStyle/>
          <a:p>
            <a:pPr algn="r" indent="0" marL="0">
              <a:buNone/>
            </a:pPr>
            <a:r>
              <a:rPr lang="en-US" sz="650" dirty="0">
                <a:solidFill>
                  <a:srgbClr val="BDBDBD"/>
                </a:solidFill>
              </a:rPr>
              <a:t>50%</a:t>
            </a:r>
            <a:endParaRPr lang="en-US" sz="650" dirty="0"/>
          </a:p>
        </p:txBody>
      </p:sp>
      <p:sp>
        <p:nvSpPr>
          <p:cNvPr id="25" name="Shape 23"/>
          <p:cNvSpPr/>
          <p:nvPr/>
        </p:nvSpPr>
        <p:spPr>
          <a:xfrm>
            <a:off x="5897880" y="3920490"/>
            <a:ext cx="2697480" cy="0"/>
          </a:xfrm>
          <a:prstGeom prst="line">
            <a:avLst/>
          </a:prstGeom>
          <a:noFill/>
          <a:ln w="5080">
            <a:solidFill>
              <a:srgbClr val="4D4D4D">
                <a:alpha val="80000"/>
              </a:srgbClr>
            </a:solidFill>
            <a:prstDash val="solid"/>
          </a:ln>
        </p:spPr>
      </p:sp>
      <p:sp>
        <p:nvSpPr>
          <p:cNvPr id="26" name="Text 24"/>
          <p:cNvSpPr/>
          <p:nvPr/>
        </p:nvSpPr>
        <p:spPr>
          <a:xfrm>
            <a:off x="5559552" y="3865626"/>
            <a:ext cx="274320" cy="109728"/>
          </a:xfrm>
          <a:prstGeom prst="rect">
            <a:avLst/>
          </a:prstGeom>
          <a:noFill/>
          <a:ln/>
        </p:spPr>
        <p:txBody>
          <a:bodyPr wrap="square" lIns="254" tIns="254" rIns="254" bIns="254" rtlCol="0" anchor="ctr">
            <a:normAutofit/>
          </a:bodyPr>
          <a:lstStyle/>
          <a:p>
            <a:pPr algn="r" indent="0" marL="0">
              <a:buNone/>
            </a:pPr>
            <a:r>
              <a:rPr lang="en-US" sz="650" dirty="0">
                <a:solidFill>
                  <a:srgbClr val="BDBDBD"/>
                </a:solidFill>
              </a:rPr>
              <a:t>55%</a:t>
            </a:r>
            <a:endParaRPr lang="en-US" sz="650" dirty="0"/>
          </a:p>
        </p:txBody>
      </p:sp>
      <p:sp>
        <p:nvSpPr>
          <p:cNvPr id="27" name="Shape 25"/>
          <p:cNvSpPr/>
          <p:nvPr/>
        </p:nvSpPr>
        <p:spPr>
          <a:xfrm>
            <a:off x="5897880" y="3177540"/>
            <a:ext cx="2697480" cy="0"/>
          </a:xfrm>
          <a:prstGeom prst="line">
            <a:avLst/>
          </a:prstGeom>
          <a:noFill/>
          <a:ln w="5080">
            <a:solidFill>
              <a:srgbClr val="4D4D4D">
                <a:alpha val="80000"/>
              </a:srgbClr>
            </a:solidFill>
            <a:prstDash val="solid"/>
          </a:ln>
        </p:spPr>
      </p:sp>
      <p:sp>
        <p:nvSpPr>
          <p:cNvPr id="28" name="Text 26"/>
          <p:cNvSpPr/>
          <p:nvPr/>
        </p:nvSpPr>
        <p:spPr>
          <a:xfrm>
            <a:off x="5559552" y="3122676"/>
            <a:ext cx="274320" cy="109728"/>
          </a:xfrm>
          <a:prstGeom prst="rect">
            <a:avLst/>
          </a:prstGeom>
          <a:noFill/>
          <a:ln/>
        </p:spPr>
        <p:txBody>
          <a:bodyPr wrap="square" lIns="254" tIns="254" rIns="254" bIns="254" rtlCol="0" anchor="ctr">
            <a:normAutofit/>
          </a:bodyPr>
          <a:lstStyle/>
          <a:p>
            <a:pPr algn="r" indent="0" marL="0">
              <a:buNone/>
            </a:pPr>
            <a:r>
              <a:rPr lang="en-US" sz="650" dirty="0">
                <a:solidFill>
                  <a:srgbClr val="BDBDBD"/>
                </a:solidFill>
              </a:rPr>
              <a:t>60%</a:t>
            </a:r>
            <a:endParaRPr lang="en-US" sz="650" dirty="0"/>
          </a:p>
        </p:txBody>
      </p:sp>
      <p:sp>
        <p:nvSpPr>
          <p:cNvPr id="29" name="Shape 27"/>
          <p:cNvSpPr/>
          <p:nvPr/>
        </p:nvSpPr>
        <p:spPr>
          <a:xfrm>
            <a:off x="5897880" y="2434590"/>
            <a:ext cx="2697480" cy="0"/>
          </a:xfrm>
          <a:prstGeom prst="line">
            <a:avLst/>
          </a:prstGeom>
          <a:noFill/>
          <a:ln w="5080">
            <a:solidFill>
              <a:srgbClr val="4D4D4D">
                <a:alpha val="80000"/>
              </a:srgbClr>
            </a:solidFill>
            <a:prstDash val="solid"/>
          </a:ln>
        </p:spPr>
      </p:sp>
      <p:sp>
        <p:nvSpPr>
          <p:cNvPr id="30" name="Text 28"/>
          <p:cNvSpPr/>
          <p:nvPr/>
        </p:nvSpPr>
        <p:spPr>
          <a:xfrm>
            <a:off x="5559552" y="2379726"/>
            <a:ext cx="274320" cy="109728"/>
          </a:xfrm>
          <a:prstGeom prst="rect">
            <a:avLst/>
          </a:prstGeom>
          <a:noFill/>
          <a:ln/>
        </p:spPr>
        <p:txBody>
          <a:bodyPr wrap="square" lIns="254" tIns="254" rIns="254" bIns="254" rtlCol="0" anchor="ctr">
            <a:normAutofit/>
          </a:bodyPr>
          <a:lstStyle/>
          <a:p>
            <a:pPr algn="r" indent="0" marL="0">
              <a:buNone/>
            </a:pPr>
            <a:r>
              <a:rPr lang="en-US" sz="650" dirty="0">
                <a:solidFill>
                  <a:srgbClr val="BDBDBD"/>
                </a:solidFill>
              </a:rPr>
              <a:t>65%</a:t>
            </a:r>
            <a:endParaRPr lang="en-US" sz="650" dirty="0"/>
          </a:p>
        </p:txBody>
      </p:sp>
      <p:sp>
        <p:nvSpPr>
          <p:cNvPr id="31" name="Shape 29"/>
          <p:cNvSpPr/>
          <p:nvPr/>
        </p:nvSpPr>
        <p:spPr>
          <a:xfrm>
            <a:off x="5897880" y="1691640"/>
            <a:ext cx="2697480" cy="0"/>
          </a:xfrm>
          <a:prstGeom prst="line">
            <a:avLst/>
          </a:prstGeom>
          <a:noFill/>
          <a:ln w="5080">
            <a:solidFill>
              <a:srgbClr val="4D4D4D">
                <a:alpha val="80000"/>
              </a:srgbClr>
            </a:solidFill>
            <a:prstDash val="solid"/>
          </a:ln>
        </p:spPr>
      </p:sp>
      <p:sp>
        <p:nvSpPr>
          <p:cNvPr id="32" name="Text 30"/>
          <p:cNvSpPr/>
          <p:nvPr/>
        </p:nvSpPr>
        <p:spPr>
          <a:xfrm>
            <a:off x="5559552" y="1636776"/>
            <a:ext cx="274320" cy="109728"/>
          </a:xfrm>
          <a:prstGeom prst="rect">
            <a:avLst/>
          </a:prstGeom>
          <a:noFill/>
          <a:ln/>
        </p:spPr>
        <p:txBody>
          <a:bodyPr wrap="square" lIns="254" tIns="254" rIns="254" bIns="254" rtlCol="0" anchor="ctr">
            <a:normAutofit/>
          </a:bodyPr>
          <a:lstStyle/>
          <a:p>
            <a:pPr algn="r" indent="0" marL="0">
              <a:buNone/>
            </a:pPr>
            <a:r>
              <a:rPr lang="en-US" sz="650" dirty="0">
                <a:solidFill>
                  <a:srgbClr val="BDBDBD"/>
                </a:solidFill>
              </a:rPr>
              <a:t>70%</a:t>
            </a:r>
            <a:endParaRPr lang="en-US" sz="650" dirty="0"/>
          </a:p>
        </p:txBody>
      </p:sp>
      <p:sp>
        <p:nvSpPr>
          <p:cNvPr id="33" name="Shape 31"/>
          <p:cNvSpPr/>
          <p:nvPr/>
        </p:nvSpPr>
        <p:spPr>
          <a:xfrm>
            <a:off x="5897880" y="2969514"/>
            <a:ext cx="1348740" cy="-297180"/>
          </a:xfrm>
          <a:prstGeom prst="line">
            <a:avLst/>
          </a:prstGeom>
          <a:noFill/>
          <a:ln w="22860">
            <a:solidFill>
              <a:srgbClr val="F5A000"/>
            </a:solidFill>
            <a:prstDash val="solid"/>
          </a:ln>
        </p:spPr>
      </p:sp>
      <p:sp>
        <p:nvSpPr>
          <p:cNvPr id="34" name="Shape 32"/>
          <p:cNvSpPr/>
          <p:nvPr/>
        </p:nvSpPr>
        <p:spPr>
          <a:xfrm>
            <a:off x="7246620" y="2672334"/>
            <a:ext cx="1348740" cy="787527"/>
          </a:xfrm>
          <a:prstGeom prst="line">
            <a:avLst/>
          </a:prstGeom>
          <a:noFill/>
          <a:ln w="22860">
            <a:solidFill>
              <a:srgbClr val="F5A000"/>
            </a:solidFill>
            <a:prstDash val="solid"/>
          </a:ln>
        </p:spPr>
      </p:sp>
      <p:sp>
        <p:nvSpPr>
          <p:cNvPr id="35" name="Shape 33"/>
          <p:cNvSpPr/>
          <p:nvPr/>
        </p:nvSpPr>
        <p:spPr>
          <a:xfrm>
            <a:off x="5856732" y="2928366"/>
            <a:ext cx="82296" cy="82296"/>
          </a:xfrm>
          <a:prstGeom prst="ellipse">
            <a:avLst/>
          </a:prstGeom>
          <a:solidFill>
            <a:srgbClr val="F5A000"/>
          </a:solidFill>
          <a:ln w="12700">
            <a:solidFill>
              <a:srgbClr val="F5A000"/>
            </a:solidFill>
            <a:prstDash val="solid"/>
          </a:ln>
        </p:spPr>
      </p:sp>
      <p:sp>
        <p:nvSpPr>
          <p:cNvPr id="36" name="Shape 34"/>
          <p:cNvSpPr/>
          <p:nvPr/>
        </p:nvSpPr>
        <p:spPr>
          <a:xfrm>
            <a:off x="7205472" y="2631186"/>
            <a:ext cx="82296" cy="82296"/>
          </a:xfrm>
          <a:prstGeom prst="ellipse">
            <a:avLst/>
          </a:prstGeom>
          <a:solidFill>
            <a:srgbClr val="F5A000"/>
          </a:solidFill>
          <a:ln w="12700">
            <a:solidFill>
              <a:srgbClr val="F5A000"/>
            </a:solidFill>
            <a:prstDash val="solid"/>
          </a:ln>
        </p:spPr>
      </p:sp>
      <p:sp>
        <p:nvSpPr>
          <p:cNvPr id="37" name="Shape 35"/>
          <p:cNvSpPr/>
          <p:nvPr/>
        </p:nvSpPr>
        <p:spPr>
          <a:xfrm>
            <a:off x="8554212" y="3418713"/>
            <a:ext cx="82296" cy="82296"/>
          </a:xfrm>
          <a:prstGeom prst="ellipse">
            <a:avLst/>
          </a:prstGeom>
          <a:solidFill>
            <a:srgbClr val="F5A000"/>
          </a:solidFill>
          <a:ln w="12700">
            <a:solidFill>
              <a:srgbClr val="F5A000"/>
            </a:solidFill>
            <a:prstDash val="solid"/>
          </a:ln>
        </p:spPr>
      </p:sp>
      <p:sp>
        <p:nvSpPr>
          <p:cNvPr id="38" name="Text 36"/>
          <p:cNvSpPr/>
          <p:nvPr/>
        </p:nvSpPr>
        <p:spPr>
          <a:xfrm>
            <a:off x="5669280" y="4791456"/>
            <a:ext cx="457200" cy="137160"/>
          </a:xfrm>
          <a:prstGeom prst="rect">
            <a:avLst/>
          </a:prstGeom>
          <a:noFill/>
          <a:ln/>
        </p:spPr>
        <p:txBody>
          <a:bodyPr wrap="square" lIns="254" tIns="254" rIns="254" bIns="254" rtlCol="0" anchor="ctr">
            <a:normAutofit/>
          </a:bodyPr>
          <a:lstStyle/>
          <a:p>
            <a:pPr algn="ctr" indent="0" marL="0">
              <a:buNone/>
            </a:pPr>
            <a:r>
              <a:rPr lang="en-US" sz="650" dirty="0">
                <a:solidFill>
                  <a:srgbClr val="BDBDBD"/>
                </a:solidFill>
              </a:rPr>
              <a:t>2023</a:t>
            </a:r>
            <a:endParaRPr lang="en-US" sz="650" dirty="0"/>
          </a:p>
        </p:txBody>
      </p:sp>
      <p:sp>
        <p:nvSpPr>
          <p:cNvPr id="39" name="Text 37"/>
          <p:cNvSpPr/>
          <p:nvPr/>
        </p:nvSpPr>
        <p:spPr>
          <a:xfrm>
            <a:off x="7018020" y="4791456"/>
            <a:ext cx="457200" cy="137160"/>
          </a:xfrm>
          <a:prstGeom prst="rect">
            <a:avLst/>
          </a:prstGeom>
          <a:noFill/>
          <a:ln/>
        </p:spPr>
        <p:txBody>
          <a:bodyPr wrap="square" lIns="254" tIns="254" rIns="254" bIns="254" rtlCol="0" anchor="ctr">
            <a:normAutofit/>
          </a:bodyPr>
          <a:lstStyle/>
          <a:p>
            <a:pPr algn="ctr" indent="0" marL="0">
              <a:buNone/>
            </a:pPr>
            <a:r>
              <a:rPr lang="en-US" sz="650" dirty="0">
                <a:solidFill>
                  <a:srgbClr val="BDBDBD"/>
                </a:solidFill>
              </a:rPr>
              <a:t>2024</a:t>
            </a:r>
            <a:endParaRPr lang="en-US" sz="650" dirty="0"/>
          </a:p>
        </p:txBody>
      </p:sp>
      <p:sp>
        <p:nvSpPr>
          <p:cNvPr id="40" name="Text 38"/>
          <p:cNvSpPr/>
          <p:nvPr/>
        </p:nvSpPr>
        <p:spPr>
          <a:xfrm>
            <a:off x="8366760" y="4791456"/>
            <a:ext cx="457200" cy="137160"/>
          </a:xfrm>
          <a:prstGeom prst="rect">
            <a:avLst/>
          </a:prstGeom>
          <a:noFill/>
          <a:ln/>
        </p:spPr>
        <p:txBody>
          <a:bodyPr wrap="square" lIns="254" tIns="254" rIns="254" bIns="254" rtlCol="0" anchor="ctr">
            <a:normAutofit/>
          </a:bodyPr>
          <a:lstStyle/>
          <a:p>
            <a:pPr algn="ctr" indent="0" marL="0">
              <a:buNone/>
            </a:pPr>
            <a:r>
              <a:rPr lang="en-US" sz="650" dirty="0">
                <a:solidFill>
                  <a:srgbClr val="BDBDBD"/>
                </a:solidFill>
              </a:rPr>
              <a:t>2025</a:t>
            </a:r>
            <a:endParaRPr lang="en-US" sz="650" dirty="0"/>
          </a:p>
        </p:txBody>
      </p:sp>
      <p:sp>
        <p:nvSpPr>
          <p:cNvPr id="41" name="Text 39"/>
          <p:cNvSpPr/>
          <p:nvPr/>
        </p:nvSpPr>
        <p:spPr>
          <a:xfrm>
            <a:off x="786384" y="5349240"/>
            <a:ext cx="2057400" cy="438912"/>
          </a:xfrm>
          <a:prstGeom prst="rect">
            <a:avLst/>
          </a:prstGeom>
          <a:noFill/>
          <a:ln/>
        </p:spPr>
        <p:txBody>
          <a:bodyPr wrap="square" lIns="0" tIns="0" rIns="0" bIns="0" rtlCol="0" anchor="ctr">
            <a:normAutofit/>
          </a:bodyPr>
          <a:lstStyle/>
          <a:p>
            <a:pPr algn="ctr" indent="0" marL="0">
              <a:buNone/>
            </a:pPr>
            <a:r>
              <a:rPr lang="en-US" sz="2500" b="1" dirty="0">
                <a:solidFill>
                  <a:srgbClr val="F2F2F2"/>
                </a:solidFill>
              </a:rPr>
              <a:t>€211K</a:t>
            </a:r>
            <a:endParaRPr lang="en-US" sz="2500" dirty="0"/>
          </a:p>
        </p:txBody>
      </p:sp>
      <p:sp>
        <p:nvSpPr>
          <p:cNvPr id="42" name="Text 40"/>
          <p:cNvSpPr/>
          <p:nvPr/>
        </p:nvSpPr>
        <p:spPr>
          <a:xfrm>
            <a:off x="786384" y="5788152"/>
            <a:ext cx="2057400" cy="274320"/>
          </a:xfrm>
          <a:prstGeom prst="rect">
            <a:avLst/>
          </a:prstGeom>
          <a:noFill/>
          <a:ln/>
        </p:spPr>
        <p:txBody>
          <a:bodyPr wrap="square" lIns="0" tIns="0" rIns="0" bIns="0" rtlCol="0" anchor="ctr">
            <a:normAutofit/>
          </a:bodyPr>
          <a:lstStyle/>
          <a:p>
            <a:pPr algn="ctr" indent="0" marL="0">
              <a:buNone/>
            </a:pPr>
            <a:r>
              <a:rPr lang="en-US" sz="800" dirty="0">
                <a:solidFill>
                  <a:srgbClr val="BDBDBD"/>
                </a:solidFill>
              </a:rPr>
              <a:t>covered family billing in 2025</a:t>
            </a:r>
            <a:endParaRPr lang="en-US" sz="800" dirty="0"/>
          </a:p>
        </p:txBody>
      </p:sp>
      <p:sp>
        <p:nvSpPr>
          <p:cNvPr id="43" name="Text 41"/>
          <p:cNvSpPr/>
          <p:nvPr/>
        </p:nvSpPr>
        <p:spPr>
          <a:xfrm>
            <a:off x="3044952" y="5349240"/>
            <a:ext cx="1828800" cy="438912"/>
          </a:xfrm>
          <a:prstGeom prst="rect">
            <a:avLst/>
          </a:prstGeom>
          <a:noFill/>
          <a:ln/>
        </p:spPr>
        <p:txBody>
          <a:bodyPr wrap="square" lIns="0" tIns="0" rIns="0" bIns="0" rtlCol="0" anchor="ctr">
            <a:normAutofit/>
          </a:bodyPr>
          <a:lstStyle/>
          <a:p>
            <a:pPr algn="ctr" indent="0" marL="0">
              <a:buNone/>
            </a:pPr>
            <a:r>
              <a:rPr lang="en-US" sz="2500" b="1" dirty="0">
                <a:solidFill>
                  <a:srgbClr val="F5A000"/>
                </a:solidFill>
              </a:rPr>
              <a:t>58%</a:t>
            </a:r>
            <a:endParaRPr lang="en-US" sz="2500" dirty="0"/>
          </a:p>
        </p:txBody>
      </p:sp>
      <p:sp>
        <p:nvSpPr>
          <p:cNvPr id="44" name="Text 42"/>
          <p:cNvSpPr/>
          <p:nvPr/>
        </p:nvSpPr>
        <p:spPr>
          <a:xfrm>
            <a:off x="3044952" y="5788152"/>
            <a:ext cx="1828800" cy="274320"/>
          </a:xfrm>
          <a:prstGeom prst="rect">
            <a:avLst/>
          </a:prstGeom>
          <a:noFill/>
          <a:ln/>
        </p:spPr>
        <p:txBody>
          <a:bodyPr wrap="square" lIns="0" tIns="0" rIns="0" bIns="0" rtlCol="0" anchor="ctr">
            <a:normAutofit/>
          </a:bodyPr>
          <a:lstStyle/>
          <a:p>
            <a:pPr algn="ctr" indent="0" marL="0">
              <a:buNone/>
            </a:pPr>
            <a:r>
              <a:rPr lang="en-US" sz="800" dirty="0">
                <a:solidFill>
                  <a:srgbClr val="BDBDBD"/>
                </a:solidFill>
              </a:rPr>
              <a:t>BVP share in 2025</a:t>
            </a:r>
            <a:endParaRPr lang="en-US" sz="800" dirty="0"/>
          </a:p>
        </p:txBody>
      </p:sp>
      <p:sp>
        <p:nvSpPr>
          <p:cNvPr id="45" name="Shape 43"/>
          <p:cNvSpPr/>
          <p:nvPr/>
        </p:nvSpPr>
        <p:spPr>
          <a:xfrm>
            <a:off x="9015984" y="1335024"/>
            <a:ext cx="2971800" cy="5102352"/>
          </a:xfrm>
          <a:prstGeom prst="roundRect">
            <a:avLst>
              <a:gd name="adj" fmla="val 1846"/>
            </a:avLst>
          </a:prstGeom>
          <a:solidFill>
            <a:srgbClr val="303030"/>
          </a:solidFill>
          <a:ln w="8890">
            <a:solidFill>
              <a:srgbClr val="6E6E6E"/>
            </a:solidFill>
            <a:prstDash val="solid"/>
          </a:ln>
        </p:spPr>
      </p:sp>
      <p:sp>
        <p:nvSpPr>
          <p:cNvPr id="46" name="Text 44"/>
          <p:cNvSpPr/>
          <p:nvPr/>
        </p:nvSpPr>
        <p:spPr>
          <a:xfrm>
            <a:off x="9272016" y="1572768"/>
            <a:ext cx="2468880" cy="182880"/>
          </a:xfrm>
          <a:prstGeom prst="rect">
            <a:avLst/>
          </a:prstGeom>
          <a:noFill/>
          <a:ln/>
        </p:spPr>
        <p:txBody>
          <a:bodyPr wrap="square" rtlCol="0" anchor="ctr">
            <a:normAutofit/>
          </a:bodyPr>
          <a:lstStyle/>
          <a:p>
            <a:pPr indent="0" marL="0">
              <a:buNone/>
            </a:pPr>
            <a:r>
              <a:rPr lang="en-US" sz="750" b="1" dirty="0">
                <a:solidFill>
                  <a:srgbClr val="E30613"/>
                </a:solidFill>
              </a:rPr>
              <a:t>OBSERVATIONS / QUESTIONS</a:t>
            </a:r>
            <a:endParaRPr lang="en-US" sz="750" dirty="0"/>
          </a:p>
        </p:txBody>
      </p:sp>
      <p:sp>
        <p:nvSpPr>
          <p:cNvPr id="47" name="Shape 45"/>
          <p:cNvSpPr/>
          <p:nvPr/>
        </p:nvSpPr>
        <p:spPr>
          <a:xfrm>
            <a:off x="9272016" y="2084832"/>
            <a:ext cx="82296" cy="82296"/>
          </a:xfrm>
          <a:prstGeom prst="ellipse">
            <a:avLst/>
          </a:prstGeom>
          <a:solidFill>
            <a:srgbClr val="E30613"/>
          </a:solidFill>
          <a:ln w="12700">
            <a:solidFill>
              <a:srgbClr val="E30613"/>
            </a:solidFill>
            <a:prstDash val="solid"/>
          </a:ln>
        </p:spPr>
      </p:sp>
      <p:sp>
        <p:nvSpPr>
          <p:cNvPr id="48" name="Text 46"/>
          <p:cNvSpPr/>
          <p:nvPr/>
        </p:nvSpPr>
        <p:spPr>
          <a:xfrm>
            <a:off x="9491472" y="2020824"/>
            <a:ext cx="2221992" cy="512064"/>
          </a:xfrm>
          <a:prstGeom prst="rect">
            <a:avLst/>
          </a:prstGeom>
          <a:noFill/>
          <a:ln/>
        </p:spPr>
        <p:txBody>
          <a:bodyPr wrap="square" lIns="254" tIns="254" rIns="254" bIns="254" rtlCol="0" anchor="t">
            <a:normAutofit/>
          </a:bodyPr>
          <a:lstStyle/>
          <a:p>
            <a:pPr indent="0" marL="0">
              <a:buNone/>
            </a:pPr>
            <a:r>
              <a:rPr lang="en-US" sz="820" dirty="0">
                <a:solidFill>
                  <a:srgbClr val="F2F2F2"/>
                </a:solidFill>
              </a:rPr>
              <a:t>Do not read the 58% BVP share alone. The better question is whether total Original+BVP billing is growing by family.</a:t>
            </a:r>
            <a:endParaRPr lang="en-US" sz="820" dirty="0"/>
          </a:p>
        </p:txBody>
      </p:sp>
      <p:sp>
        <p:nvSpPr>
          <p:cNvPr id="49" name="Shape 47"/>
          <p:cNvSpPr/>
          <p:nvPr/>
        </p:nvSpPr>
        <p:spPr>
          <a:xfrm>
            <a:off x="9272016" y="3017520"/>
            <a:ext cx="82296" cy="82296"/>
          </a:xfrm>
          <a:prstGeom prst="ellipse">
            <a:avLst/>
          </a:prstGeom>
          <a:solidFill>
            <a:srgbClr val="F5A000"/>
          </a:solidFill>
          <a:ln w="12700">
            <a:solidFill>
              <a:srgbClr val="F5A000"/>
            </a:solidFill>
            <a:prstDash val="solid"/>
          </a:ln>
        </p:spPr>
      </p:sp>
      <p:sp>
        <p:nvSpPr>
          <p:cNvPr id="50" name="Text 48"/>
          <p:cNvSpPr/>
          <p:nvPr/>
        </p:nvSpPr>
        <p:spPr>
          <a:xfrm>
            <a:off x="9491472" y="2953512"/>
            <a:ext cx="2221992" cy="512064"/>
          </a:xfrm>
          <a:prstGeom prst="rect">
            <a:avLst/>
          </a:prstGeom>
          <a:noFill/>
          <a:ln/>
        </p:spPr>
        <p:txBody>
          <a:bodyPr wrap="square" lIns="254" tIns="254" rIns="254" bIns="254" rtlCol="0" anchor="t">
            <a:normAutofit/>
          </a:bodyPr>
          <a:lstStyle/>
          <a:p>
            <a:pPr indent="0" marL="0">
              <a:buNone/>
            </a:pPr>
            <a:r>
              <a:rPr lang="en-US" sz="820" dirty="0">
                <a:solidFill>
                  <a:srgbClr val="F2F2F2"/>
                </a:solidFill>
              </a:rPr>
              <a:t>Covered family billing rose from €194K to €211K between 2023 and 2025.</a:t>
            </a:r>
            <a:endParaRPr lang="en-US" sz="820" dirty="0"/>
          </a:p>
        </p:txBody>
      </p:sp>
      <p:sp>
        <p:nvSpPr>
          <p:cNvPr id="51" name="Shape 49"/>
          <p:cNvSpPr/>
          <p:nvPr/>
        </p:nvSpPr>
        <p:spPr>
          <a:xfrm>
            <a:off x="9272016" y="3950208"/>
            <a:ext cx="82296" cy="82296"/>
          </a:xfrm>
          <a:prstGeom prst="ellipse">
            <a:avLst/>
          </a:prstGeom>
          <a:solidFill>
            <a:srgbClr val="F5A000"/>
          </a:solidFill>
          <a:ln w="12700">
            <a:solidFill>
              <a:srgbClr val="F5A000"/>
            </a:solidFill>
            <a:prstDash val="solid"/>
          </a:ln>
        </p:spPr>
      </p:sp>
      <p:sp>
        <p:nvSpPr>
          <p:cNvPr id="52" name="Text 50"/>
          <p:cNvSpPr/>
          <p:nvPr/>
        </p:nvSpPr>
        <p:spPr>
          <a:xfrm>
            <a:off x="9491472" y="3886200"/>
            <a:ext cx="2221992" cy="512064"/>
          </a:xfrm>
          <a:prstGeom prst="rect">
            <a:avLst/>
          </a:prstGeom>
          <a:noFill/>
          <a:ln/>
        </p:spPr>
        <p:txBody>
          <a:bodyPr wrap="square" lIns="254" tIns="254" rIns="254" bIns="254" rtlCol="0" anchor="t">
            <a:normAutofit/>
          </a:bodyPr>
          <a:lstStyle/>
          <a:p>
            <a:pPr indent="0" marL="0">
              <a:buNone/>
            </a:pPr>
            <a:r>
              <a:rPr lang="en-US" sz="820" dirty="0">
                <a:solidFill>
                  <a:srgbClr val="F2F2F2"/>
                </a:solidFill>
              </a:rPr>
              <a:t>The leakage signal is family-specific: filters fell from 2024 to 2025, while clutch kept improving from a low base.</a:t>
            </a:r>
            <a:endParaRPr lang="en-US" sz="820" dirty="0"/>
          </a:p>
        </p:txBody>
      </p:sp>
      <p:sp>
        <p:nvSpPr>
          <p:cNvPr id="53" name="Shape 51"/>
          <p:cNvSpPr/>
          <p:nvPr/>
        </p:nvSpPr>
        <p:spPr>
          <a:xfrm>
            <a:off x="9272016" y="4882896"/>
            <a:ext cx="82296" cy="82296"/>
          </a:xfrm>
          <a:prstGeom prst="ellipse">
            <a:avLst/>
          </a:prstGeom>
          <a:solidFill>
            <a:srgbClr val="F5A000"/>
          </a:solidFill>
          <a:ln w="12700">
            <a:solidFill>
              <a:srgbClr val="F5A000"/>
            </a:solidFill>
            <a:prstDash val="solid"/>
          </a:ln>
        </p:spPr>
      </p:sp>
      <p:sp>
        <p:nvSpPr>
          <p:cNvPr id="54" name="Text 52"/>
          <p:cNvSpPr/>
          <p:nvPr/>
        </p:nvSpPr>
        <p:spPr>
          <a:xfrm>
            <a:off x="9491472" y="4818888"/>
            <a:ext cx="2221992" cy="512064"/>
          </a:xfrm>
          <a:prstGeom prst="rect">
            <a:avLst/>
          </a:prstGeom>
          <a:noFill/>
          <a:ln/>
        </p:spPr>
        <p:txBody>
          <a:bodyPr wrap="square" lIns="254" tIns="254" rIns="254" bIns="254" rtlCol="0" anchor="t">
            <a:normAutofit/>
          </a:bodyPr>
          <a:lstStyle/>
          <a:p>
            <a:pPr indent="0" marL="0">
              <a:buNone/>
            </a:pPr>
            <a:r>
              <a:rPr lang="en-US" sz="820" dirty="0">
                <a:solidFill>
                  <a:srgbClr val="F2F2F2"/>
                </a:solidFill>
              </a:rPr>
              <a:t>Question: where is BVP supporting genuine parts share, and where is the full basket being lost despite having a BVP offer?</a:t>
            </a:r>
            <a:endParaRPr lang="en-US" sz="820" dirty="0"/>
          </a:p>
        </p:txBody>
      </p:sp>
      <p:cxnSp>
        <p:nvCxnSpPr>
          <p:cNvPr id="55" name="Connector 54"/>
          <p:cNvCxnSpPr/>
          <p:nvPr/>
        </p:nvCxnSpPr>
        <p:spPr>
          <a:xfrm flipV="1">
            <a:off x="5897880" y="2672333"/>
            <a:ext cx="1348740" cy="297180"/>
          </a:xfrm>
          <a:prstGeom prst="line">
            <a:avLst/>
          </a:prstGeom>
          <a:ln w="25400">
            <a:solidFill>
              <a:srgbClr val="F5A000"/>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7246620" y="2672333"/>
            <a:ext cx="1348740" cy="787528"/>
          </a:xfrm>
          <a:prstGeom prst="line">
            <a:avLst/>
          </a:prstGeom>
          <a:ln w="25400">
            <a:solidFill>
              <a:srgbClr val="F5A000"/>
            </a:solidFill>
          </a:ln>
        </p:spPr>
        <p:style>
          <a:lnRef idx="2">
            <a:schemeClr val="accent1"/>
          </a:lnRef>
          <a:fillRef idx="0">
            <a:schemeClr val="accent1"/>
          </a:fillRef>
          <a:effectRef idx="1">
            <a:schemeClr val="accent1"/>
          </a:effectRef>
          <a:fontRef idx="minor">
            <a:schemeClr val="tx1"/>
          </a:fontRef>
        </p:style>
      </p:cxnSp>
      <p:sp>
        <p:nvSpPr>
          <p:cNvPr id="57" name="Oval 56"/>
          <p:cNvSpPr/>
          <p:nvPr/>
        </p:nvSpPr>
        <p:spPr>
          <a:xfrm>
            <a:off x="5850331" y="2921965"/>
            <a:ext cx="95097" cy="95097"/>
          </a:xfrm>
          <a:prstGeom prst="ellipse">
            <a:avLst/>
          </a:prstGeom>
          <a:solidFill>
            <a:srgbClr val="F5A000"/>
          </a:solidFill>
          <a:ln w="6350">
            <a:solidFill>
              <a:srgbClr val="F5A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7199071" y="2624785"/>
            <a:ext cx="95097" cy="95097"/>
          </a:xfrm>
          <a:prstGeom prst="ellipse">
            <a:avLst/>
          </a:prstGeom>
          <a:solidFill>
            <a:srgbClr val="F5A000"/>
          </a:solidFill>
          <a:ln w="6350">
            <a:solidFill>
              <a:srgbClr val="F5A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8547811" y="3412312"/>
            <a:ext cx="95097" cy="95097"/>
          </a:xfrm>
          <a:prstGeom prst="ellipse">
            <a:avLst/>
          </a:prstGeom>
          <a:solidFill>
            <a:srgbClr val="F5A000"/>
          </a:solidFill>
          <a:ln w="6350">
            <a:solidFill>
              <a:srgbClr val="F5A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62626"/>
        </a:solidFill>
      </p:bgPr>
    </p:bg>
    <p:spTree>
      <p:nvGrpSpPr>
        <p:cNvPr id="1" name=""/>
        <p:cNvGrpSpPr/>
        <p:nvPr/>
      </p:nvGrpSpPr>
      <p:grpSpPr>
        <a:xfrm>
          <a:off x="0" y="0"/>
          <a:ext cx="0" cy="0"/>
          <a:chOff x="0" y="0"/>
          <a:chExt cx="0" cy="0"/>
        </a:xfrm>
      </p:grpSpPr>
      <p:sp>
        <p:nvSpPr>
          <p:cNvPr id="2" name="Text 0"/>
          <p:cNvSpPr/>
          <p:nvPr/>
        </p:nvSpPr>
        <p:spPr>
          <a:xfrm>
            <a:off x="228600" y="91440"/>
            <a:ext cx="3474720" cy="164592"/>
          </a:xfrm>
          <a:prstGeom prst="rect">
            <a:avLst/>
          </a:prstGeom>
          <a:noFill/>
          <a:ln/>
        </p:spPr>
        <p:txBody>
          <a:bodyPr wrap="square" rtlCol="0" anchor="ctr">
            <a:normAutofit/>
          </a:bodyPr>
          <a:lstStyle/>
          <a:p>
            <a:pPr indent="0" marL="0">
              <a:buNone/>
            </a:pPr>
            <a:r>
              <a:rPr lang="en-US" sz="660" b="1" dirty="0">
                <a:solidFill>
                  <a:srgbClr val="F2F2F2"/>
                </a:solidFill>
                <a:latin typeface="Aptos" pitchFamily="34" charset="0"/>
                <a:ea typeface="Aptos" pitchFamily="34" charset="-122"/>
                <a:cs typeface="Aptos" pitchFamily="34" charset="-120"/>
              </a:rPr>
              <a:t>ISZE  ·  VEHICLE PARTS &amp; ACCESSORIES</a:t>
            </a:r>
            <a:endParaRPr lang="en-US" sz="660" dirty="0"/>
          </a:p>
        </p:txBody>
      </p:sp>
      <p:sp>
        <p:nvSpPr>
          <p:cNvPr id="3" name="Shape 1"/>
          <p:cNvSpPr/>
          <p:nvPr/>
        </p:nvSpPr>
        <p:spPr>
          <a:xfrm>
            <a:off x="228600" y="6629400"/>
            <a:ext cx="11750040" cy="0"/>
          </a:xfrm>
          <a:prstGeom prst="line">
            <a:avLst/>
          </a:prstGeom>
          <a:noFill/>
          <a:ln w="6350">
            <a:solidFill>
              <a:srgbClr val="575757"/>
            </a:solidFill>
            <a:prstDash val="solid"/>
          </a:ln>
        </p:spPr>
      </p:sp>
      <p:sp>
        <p:nvSpPr>
          <p:cNvPr id="4" name="Text 2"/>
          <p:cNvSpPr/>
          <p:nvPr/>
        </p:nvSpPr>
        <p:spPr>
          <a:xfrm>
            <a:off x="228600" y="393192"/>
            <a:ext cx="4114800" cy="201168"/>
          </a:xfrm>
          <a:prstGeom prst="rect">
            <a:avLst/>
          </a:prstGeom>
          <a:noFill/>
          <a:ln/>
        </p:spPr>
        <p:txBody>
          <a:bodyPr wrap="square" rtlCol="0" anchor="ctr">
            <a:normAutofit/>
          </a:bodyPr>
          <a:lstStyle/>
          <a:p>
            <a:pPr indent="0" marL="0">
              <a:buNone/>
            </a:pPr>
            <a:r>
              <a:rPr lang="en-US" sz="750" b="1" dirty="0">
                <a:solidFill>
                  <a:srgbClr val="E30613"/>
                </a:solidFill>
              </a:rPr>
              <a:t>DISCUSSION WITH I MOTORS</a:t>
            </a:r>
            <a:endParaRPr lang="en-US" sz="750" dirty="0"/>
          </a:p>
        </p:txBody>
      </p:sp>
      <p:sp>
        <p:nvSpPr>
          <p:cNvPr id="5" name="Text 3"/>
          <p:cNvSpPr/>
          <p:nvPr/>
        </p:nvSpPr>
        <p:spPr>
          <a:xfrm>
            <a:off x="228600" y="713232"/>
            <a:ext cx="9052560" cy="438912"/>
          </a:xfrm>
          <a:prstGeom prst="rect">
            <a:avLst/>
          </a:prstGeom>
          <a:noFill/>
          <a:ln/>
        </p:spPr>
        <p:txBody>
          <a:bodyPr wrap="square" lIns="0" tIns="0" rIns="0" bIns="0" rtlCol="0" anchor="ctr">
            <a:normAutofit/>
          </a:bodyPr>
          <a:lstStyle/>
          <a:p>
            <a:pPr indent="0" marL="0">
              <a:buNone/>
            </a:pPr>
            <a:r>
              <a:rPr lang="en-US" sz="2250" b="1" dirty="0">
                <a:solidFill>
                  <a:srgbClr val="F2F2F2"/>
                </a:solidFill>
              </a:rPr>
              <a:t>Use the review to agree actions, not to debate isolated KPI numbers</a:t>
            </a:r>
            <a:endParaRPr lang="en-US" sz="2250" dirty="0"/>
          </a:p>
        </p:txBody>
      </p:sp>
      <p:sp>
        <p:nvSpPr>
          <p:cNvPr id="6" name="Text 4"/>
          <p:cNvSpPr/>
          <p:nvPr/>
        </p:nvSpPr>
        <p:spPr>
          <a:xfrm>
            <a:off x="228600" y="1188720"/>
            <a:ext cx="8046720" cy="219456"/>
          </a:xfrm>
          <a:prstGeom prst="rect">
            <a:avLst/>
          </a:prstGeom>
          <a:noFill/>
          <a:ln/>
        </p:spPr>
        <p:txBody>
          <a:bodyPr wrap="square" lIns="0" tIns="0" rIns="0" bIns="0" rtlCol="0" anchor="ctr">
            <a:normAutofit/>
          </a:bodyPr>
          <a:lstStyle/>
          <a:p>
            <a:pPr indent="0" marL="0">
              <a:buNone/>
            </a:pPr>
            <a:r>
              <a:rPr lang="en-US" sz="850" dirty="0">
                <a:solidFill>
                  <a:srgbClr val="BDBDBD"/>
                </a:solidFill>
              </a:rPr>
              <a:t>I Motors | proposed meeting flow</a:t>
            </a:r>
            <a:endParaRPr lang="en-US" sz="850" dirty="0"/>
          </a:p>
        </p:txBody>
      </p:sp>
      <p:sp>
        <p:nvSpPr>
          <p:cNvPr id="7" name="Shape 5"/>
          <p:cNvSpPr/>
          <p:nvPr/>
        </p:nvSpPr>
        <p:spPr>
          <a:xfrm>
            <a:off x="640080" y="1508760"/>
            <a:ext cx="2468880" cy="4297680"/>
          </a:xfrm>
          <a:prstGeom prst="roundRect">
            <a:avLst>
              <a:gd name="adj" fmla="val 2222"/>
            </a:avLst>
          </a:prstGeom>
          <a:solidFill>
            <a:srgbClr val="303030"/>
          </a:solidFill>
          <a:ln w="8890">
            <a:solidFill>
              <a:srgbClr val="6E6E6E"/>
            </a:solidFill>
            <a:prstDash val="solid"/>
          </a:ln>
        </p:spPr>
      </p:sp>
      <p:sp>
        <p:nvSpPr>
          <p:cNvPr id="8" name="Text 6"/>
          <p:cNvSpPr/>
          <p:nvPr/>
        </p:nvSpPr>
        <p:spPr>
          <a:xfrm>
            <a:off x="804672" y="1737360"/>
            <a:ext cx="2103120" cy="219456"/>
          </a:xfrm>
          <a:prstGeom prst="rect">
            <a:avLst/>
          </a:prstGeom>
          <a:noFill/>
          <a:ln/>
        </p:spPr>
        <p:txBody>
          <a:bodyPr wrap="square" lIns="254" tIns="254" rIns="254" bIns="254" rtlCol="0" anchor="ctr">
            <a:normAutofit/>
          </a:bodyPr>
          <a:lstStyle/>
          <a:p>
            <a:pPr algn="l" indent="0" marL="0">
              <a:buNone/>
            </a:pPr>
            <a:r>
              <a:rPr lang="en-US" sz="1000" b="1" dirty="0">
                <a:solidFill>
                  <a:srgbClr val="E30613"/>
                </a:solidFill>
              </a:rPr>
              <a:t>Commercial performance</a:t>
            </a:r>
            <a:endParaRPr lang="en-US" sz="1000" dirty="0"/>
          </a:p>
        </p:txBody>
      </p:sp>
      <p:sp>
        <p:nvSpPr>
          <p:cNvPr id="9" name="Shape 7"/>
          <p:cNvSpPr/>
          <p:nvPr/>
        </p:nvSpPr>
        <p:spPr>
          <a:xfrm>
            <a:off x="804672" y="2286000"/>
            <a:ext cx="73152" cy="73152"/>
          </a:xfrm>
          <a:prstGeom prst="ellipse">
            <a:avLst/>
          </a:prstGeom>
          <a:solidFill>
            <a:srgbClr val="E30613"/>
          </a:solidFill>
          <a:ln w="12700">
            <a:solidFill>
              <a:srgbClr val="E30613"/>
            </a:solidFill>
            <a:prstDash val="solid"/>
          </a:ln>
        </p:spPr>
      </p:sp>
      <p:sp>
        <p:nvSpPr>
          <p:cNvPr id="10" name="Text 8"/>
          <p:cNvSpPr/>
          <p:nvPr/>
        </p:nvSpPr>
        <p:spPr>
          <a:xfrm>
            <a:off x="969264" y="2240280"/>
            <a:ext cx="1828800" cy="475488"/>
          </a:xfrm>
          <a:prstGeom prst="rect">
            <a:avLst/>
          </a:prstGeom>
          <a:noFill/>
          <a:ln/>
        </p:spPr>
        <p:txBody>
          <a:bodyPr wrap="square" lIns="254" tIns="254" rIns="254" bIns="254" rtlCol="0" anchor="ctr">
            <a:normAutofit/>
          </a:bodyPr>
          <a:lstStyle/>
          <a:p>
            <a:pPr algn="l" indent="0" marL="0">
              <a:buNone/>
            </a:pPr>
            <a:r>
              <a:rPr lang="en-US" sz="800" dirty="0">
                <a:solidFill>
                  <a:srgbClr val="F2F2F2"/>
                </a:solidFill>
              </a:rPr>
              <a:t>Explain August: was it order timing, dealer demand, stock mix or availability?</a:t>
            </a:r>
            <a:endParaRPr lang="en-US" sz="800" dirty="0"/>
          </a:p>
        </p:txBody>
      </p:sp>
      <p:sp>
        <p:nvSpPr>
          <p:cNvPr id="11" name="Shape 9"/>
          <p:cNvSpPr/>
          <p:nvPr/>
        </p:nvSpPr>
        <p:spPr>
          <a:xfrm>
            <a:off x="804672" y="3310128"/>
            <a:ext cx="73152" cy="73152"/>
          </a:xfrm>
          <a:prstGeom prst="ellipse">
            <a:avLst/>
          </a:prstGeom>
          <a:solidFill>
            <a:srgbClr val="F5A000"/>
          </a:solidFill>
          <a:ln w="12700">
            <a:solidFill>
              <a:srgbClr val="F5A000"/>
            </a:solidFill>
            <a:prstDash val="solid"/>
          </a:ln>
        </p:spPr>
      </p:sp>
      <p:sp>
        <p:nvSpPr>
          <p:cNvPr id="12" name="Text 10"/>
          <p:cNvSpPr/>
          <p:nvPr/>
        </p:nvSpPr>
        <p:spPr>
          <a:xfrm>
            <a:off x="969264" y="3264408"/>
            <a:ext cx="1828800" cy="475488"/>
          </a:xfrm>
          <a:prstGeom prst="rect">
            <a:avLst/>
          </a:prstGeom>
          <a:noFill/>
          <a:ln/>
        </p:spPr>
        <p:txBody>
          <a:bodyPr wrap="square" lIns="254" tIns="254" rIns="254" bIns="254" rtlCol="0" anchor="ctr">
            <a:normAutofit/>
          </a:bodyPr>
          <a:lstStyle/>
          <a:p>
            <a:pPr algn="l" indent="0" marL="0">
              <a:buNone/>
            </a:pPr>
            <a:r>
              <a:rPr lang="en-US" sz="800" dirty="0">
                <a:solidFill>
                  <a:srgbClr val="F2F2F2"/>
                </a:solidFill>
              </a:rPr>
              <a:t>Link sales to dealer back to ISZE replenishment.</a:t>
            </a:r>
            <a:endParaRPr lang="en-US" sz="800" dirty="0"/>
          </a:p>
        </p:txBody>
      </p:sp>
      <p:sp>
        <p:nvSpPr>
          <p:cNvPr id="13" name="Shape 11"/>
          <p:cNvSpPr/>
          <p:nvPr/>
        </p:nvSpPr>
        <p:spPr>
          <a:xfrm>
            <a:off x="804672" y="4334256"/>
            <a:ext cx="73152" cy="73152"/>
          </a:xfrm>
          <a:prstGeom prst="ellipse">
            <a:avLst/>
          </a:prstGeom>
          <a:solidFill>
            <a:srgbClr val="F5A000"/>
          </a:solidFill>
          <a:ln w="12700">
            <a:solidFill>
              <a:srgbClr val="F5A000"/>
            </a:solidFill>
            <a:prstDash val="solid"/>
          </a:ln>
        </p:spPr>
      </p:sp>
      <p:sp>
        <p:nvSpPr>
          <p:cNvPr id="14" name="Text 12"/>
          <p:cNvSpPr/>
          <p:nvPr/>
        </p:nvSpPr>
        <p:spPr>
          <a:xfrm>
            <a:off x="969264" y="4288536"/>
            <a:ext cx="1828800" cy="475488"/>
          </a:xfrm>
          <a:prstGeom prst="rect">
            <a:avLst/>
          </a:prstGeom>
          <a:noFill/>
          <a:ln/>
        </p:spPr>
        <p:txBody>
          <a:bodyPr wrap="square" lIns="254" tIns="254" rIns="254" bIns="254" rtlCol="0" anchor="ctr">
            <a:normAutofit/>
          </a:bodyPr>
          <a:lstStyle/>
          <a:p>
            <a:pPr algn="l" indent="0" marL="0">
              <a:buNone/>
            </a:pPr>
            <a:r>
              <a:rPr lang="en-US" sz="800" dirty="0">
                <a:solidFill>
                  <a:srgbClr val="F2F2F2"/>
                </a:solidFill>
              </a:rPr>
              <a:t>Track Apr-Aug as completed months only; leave September for the next cut.</a:t>
            </a:r>
            <a:endParaRPr lang="en-US" sz="800" dirty="0"/>
          </a:p>
        </p:txBody>
      </p:sp>
      <p:sp>
        <p:nvSpPr>
          <p:cNvPr id="15" name="Shape 13"/>
          <p:cNvSpPr/>
          <p:nvPr/>
        </p:nvSpPr>
        <p:spPr>
          <a:xfrm>
            <a:off x="3520440" y="1508760"/>
            <a:ext cx="2468880" cy="4297680"/>
          </a:xfrm>
          <a:prstGeom prst="roundRect">
            <a:avLst>
              <a:gd name="adj" fmla="val 2222"/>
            </a:avLst>
          </a:prstGeom>
          <a:solidFill>
            <a:srgbClr val="303030"/>
          </a:solidFill>
          <a:ln w="8890">
            <a:solidFill>
              <a:srgbClr val="6E6E6E"/>
            </a:solidFill>
            <a:prstDash val="solid"/>
          </a:ln>
        </p:spPr>
      </p:sp>
      <p:sp>
        <p:nvSpPr>
          <p:cNvPr id="16" name="Text 14"/>
          <p:cNvSpPr/>
          <p:nvPr/>
        </p:nvSpPr>
        <p:spPr>
          <a:xfrm>
            <a:off x="3685032" y="1737360"/>
            <a:ext cx="2103120" cy="219456"/>
          </a:xfrm>
          <a:prstGeom prst="rect">
            <a:avLst/>
          </a:prstGeom>
          <a:noFill/>
          <a:ln/>
        </p:spPr>
        <p:txBody>
          <a:bodyPr wrap="square" lIns="254" tIns="254" rIns="254" bIns="254" rtlCol="0" anchor="ctr">
            <a:normAutofit/>
          </a:bodyPr>
          <a:lstStyle/>
          <a:p>
            <a:pPr algn="l" indent="0" marL="0">
              <a:buNone/>
            </a:pPr>
            <a:r>
              <a:rPr lang="en-US" sz="1000" b="1" dirty="0">
                <a:solidFill>
                  <a:srgbClr val="E30613"/>
                </a:solidFill>
              </a:rPr>
              <a:t>Stock and availability</a:t>
            </a:r>
            <a:endParaRPr lang="en-US" sz="1000" dirty="0"/>
          </a:p>
        </p:txBody>
      </p:sp>
      <p:sp>
        <p:nvSpPr>
          <p:cNvPr id="17" name="Shape 15"/>
          <p:cNvSpPr/>
          <p:nvPr/>
        </p:nvSpPr>
        <p:spPr>
          <a:xfrm>
            <a:off x="3685032" y="2286000"/>
            <a:ext cx="73152" cy="73152"/>
          </a:xfrm>
          <a:prstGeom prst="ellipse">
            <a:avLst/>
          </a:prstGeom>
          <a:solidFill>
            <a:srgbClr val="E30613"/>
          </a:solidFill>
          <a:ln w="12700">
            <a:solidFill>
              <a:srgbClr val="E30613"/>
            </a:solidFill>
            <a:prstDash val="solid"/>
          </a:ln>
        </p:spPr>
      </p:sp>
      <p:sp>
        <p:nvSpPr>
          <p:cNvPr id="18" name="Text 16"/>
          <p:cNvSpPr/>
          <p:nvPr/>
        </p:nvSpPr>
        <p:spPr>
          <a:xfrm>
            <a:off x="3849624" y="2240280"/>
            <a:ext cx="1828800" cy="475488"/>
          </a:xfrm>
          <a:prstGeom prst="rect">
            <a:avLst/>
          </a:prstGeom>
          <a:noFill/>
          <a:ln/>
        </p:spPr>
        <p:txBody>
          <a:bodyPr wrap="square" lIns="254" tIns="254" rIns="254" bIns="254" rtlCol="0" anchor="ctr">
            <a:normAutofit/>
          </a:bodyPr>
          <a:lstStyle/>
          <a:p>
            <a:pPr algn="l" indent="0" marL="0">
              <a:buNone/>
            </a:pPr>
            <a:r>
              <a:rPr lang="en-US" sz="800" dirty="0">
                <a:solidFill>
                  <a:srgbClr val="F2F2F2"/>
                </a:solidFill>
              </a:rPr>
              <a:t>Ask directly: stock inventory is low; are you afraid this will impact fill rate?</a:t>
            </a:r>
            <a:endParaRPr lang="en-US" sz="800" dirty="0"/>
          </a:p>
        </p:txBody>
      </p:sp>
      <p:sp>
        <p:nvSpPr>
          <p:cNvPr id="19" name="Shape 17"/>
          <p:cNvSpPr/>
          <p:nvPr/>
        </p:nvSpPr>
        <p:spPr>
          <a:xfrm>
            <a:off x="3685032" y="3310128"/>
            <a:ext cx="73152" cy="73152"/>
          </a:xfrm>
          <a:prstGeom prst="ellipse">
            <a:avLst/>
          </a:prstGeom>
          <a:solidFill>
            <a:srgbClr val="F5A000"/>
          </a:solidFill>
          <a:ln w="12700">
            <a:solidFill>
              <a:srgbClr val="F5A000"/>
            </a:solidFill>
            <a:prstDash val="solid"/>
          </a:ln>
        </p:spPr>
      </p:sp>
      <p:sp>
        <p:nvSpPr>
          <p:cNvPr id="20" name="Text 18"/>
          <p:cNvSpPr/>
          <p:nvPr/>
        </p:nvSpPr>
        <p:spPr>
          <a:xfrm>
            <a:off x="3849624" y="3264408"/>
            <a:ext cx="1828800" cy="475488"/>
          </a:xfrm>
          <a:prstGeom prst="rect">
            <a:avLst/>
          </a:prstGeom>
          <a:noFill/>
          <a:ln/>
        </p:spPr>
        <p:txBody>
          <a:bodyPr wrap="square" lIns="254" tIns="254" rIns="254" bIns="254" rtlCol="0" anchor="ctr">
            <a:normAutofit/>
          </a:bodyPr>
          <a:lstStyle/>
          <a:p>
            <a:pPr algn="l" indent="0" marL="0">
              <a:buNone/>
            </a:pPr>
            <a:r>
              <a:rPr lang="en-US" sz="800" dirty="0">
                <a:solidFill>
                  <a:srgbClr val="F2F2F2"/>
                </a:solidFill>
              </a:rPr>
              <a:t>Identify top missed service parts behind the 93% fill-rate target gap.</a:t>
            </a:r>
            <a:endParaRPr lang="en-US" sz="800" dirty="0"/>
          </a:p>
        </p:txBody>
      </p:sp>
      <p:sp>
        <p:nvSpPr>
          <p:cNvPr id="21" name="Shape 19"/>
          <p:cNvSpPr/>
          <p:nvPr/>
        </p:nvSpPr>
        <p:spPr>
          <a:xfrm>
            <a:off x="3685032" y="4334256"/>
            <a:ext cx="73152" cy="73152"/>
          </a:xfrm>
          <a:prstGeom prst="ellipse">
            <a:avLst/>
          </a:prstGeom>
          <a:solidFill>
            <a:srgbClr val="F5A000"/>
          </a:solidFill>
          <a:ln w="12700">
            <a:solidFill>
              <a:srgbClr val="F5A000"/>
            </a:solidFill>
            <a:prstDash val="solid"/>
          </a:ln>
        </p:spPr>
      </p:sp>
      <p:sp>
        <p:nvSpPr>
          <p:cNvPr id="22" name="Text 20"/>
          <p:cNvSpPr/>
          <p:nvPr/>
        </p:nvSpPr>
        <p:spPr>
          <a:xfrm>
            <a:off x="3849624" y="4288536"/>
            <a:ext cx="1828800" cy="475488"/>
          </a:xfrm>
          <a:prstGeom prst="rect">
            <a:avLst/>
          </a:prstGeom>
          <a:noFill/>
          <a:ln/>
        </p:spPr>
        <p:txBody>
          <a:bodyPr wrap="square" lIns="254" tIns="254" rIns="254" bIns="254" rtlCol="0" anchor="ctr">
            <a:normAutofit/>
          </a:bodyPr>
          <a:lstStyle/>
          <a:p>
            <a:pPr algn="l" indent="0" marL="0">
              <a:buNone/>
            </a:pPr>
            <a:r>
              <a:rPr lang="en-US" sz="800" dirty="0">
                <a:solidFill>
                  <a:srgbClr val="F2F2F2"/>
                </a:solidFill>
              </a:rPr>
              <a:t>Review MOS by family, not only total stock days.</a:t>
            </a:r>
            <a:endParaRPr lang="en-US" sz="800" dirty="0"/>
          </a:p>
        </p:txBody>
      </p:sp>
      <p:sp>
        <p:nvSpPr>
          <p:cNvPr id="23" name="Shape 21"/>
          <p:cNvSpPr/>
          <p:nvPr/>
        </p:nvSpPr>
        <p:spPr>
          <a:xfrm>
            <a:off x="6400800" y="1508760"/>
            <a:ext cx="2468880" cy="4297680"/>
          </a:xfrm>
          <a:prstGeom prst="roundRect">
            <a:avLst>
              <a:gd name="adj" fmla="val 2222"/>
            </a:avLst>
          </a:prstGeom>
          <a:solidFill>
            <a:srgbClr val="303030"/>
          </a:solidFill>
          <a:ln w="8890">
            <a:solidFill>
              <a:srgbClr val="6E6E6E"/>
            </a:solidFill>
            <a:prstDash val="solid"/>
          </a:ln>
        </p:spPr>
      </p:sp>
      <p:sp>
        <p:nvSpPr>
          <p:cNvPr id="24" name="Text 22"/>
          <p:cNvSpPr/>
          <p:nvPr/>
        </p:nvSpPr>
        <p:spPr>
          <a:xfrm>
            <a:off x="6565392" y="1737360"/>
            <a:ext cx="2103120" cy="219456"/>
          </a:xfrm>
          <a:prstGeom prst="rect">
            <a:avLst/>
          </a:prstGeom>
          <a:noFill/>
          <a:ln/>
        </p:spPr>
        <p:txBody>
          <a:bodyPr wrap="square" lIns="254" tIns="254" rIns="254" bIns="254" rtlCol="0" anchor="ctr">
            <a:normAutofit/>
          </a:bodyPr>
          <a:lstStyle/>
          <a:p>
            <a:pPr algn="l" indent="0" marL="0">
              <a:buNone/>
            </a:pPr>
            <a:r>
              <a:rPr lang="en-US" sz="1000" b="1" dirty="0">
                <a:solidFill>
                  <a:srgbClr val="E30613"/>
                </a:solidFill>
              </a:rPr>
              <a:t>PMS / leakage</a:t>
            </a:r>
            <a:endParaRPr lang="en-US" sz="1000" dirty="0"/>
          </a:p>
        </p:txBody>
      </p:sp>
      <p:sp>
        <p:nvSpPr>
          <p:cNvPr id="25" name="Shape 23"/>
          <p:cNvSpPr/>
          <p:nvPr/>
        </p:nvSpPr>
        <p:spPr>
          <a:xfrm>
            <a:off x="6565392" y="2286000"/>
            <a:ext cx="73152" cy="73152"/>
          </a:xfrm>
          <a:prstGeom prst="ellipse">
            <a:avLst/>
          </a:prstGeom>
          <a:solidFill>
            <a:srgbClr val="E30613"/>
          </a:solidFill>
          <a:ln w="12700">
            <a:solidFill>
              <a:srgbClr val="E30613"/>
            </a:solidFill>
            <a:prstDash val="solid"/>
          </a:ln>
        </p:spPr>
      </p:sp>
      <p:sp>
        <p:nvSpPr>
          <p:cNvPr id="26" name="Text 24"/>
          <p:cNvSpPr/>
          <p:nvPr/>
        </p:nvSpPr>
        <p:spPr>
          <a:xfrm>
            <a:off x="6729984" y="2240280"/>
            <a:ext cx="1828800" cy="475488"/>
          </a:xfrm>
          <a:prstGeom prst="rect">
            <a:avLst/>
          </a:prstGeom>
          <a:noFill/>
          <a:ln/>
        </p:spPr>
        <p:txBody>
          <a:bodyPr wrap="square" lIns="254" tIns="254" rIns="254" bIns="254" rtlCol="0" anchor="ctr">
            <a:normAutofit/>
          </a:bodyPr>
          <a:lstStyle/>
          <a:p>
            <a:pPr algn="l" indent="0" marL="0">
              <a:buNone/>
            </a:pPr>
            <a:r>
              <a:rPr lang="en-US" sz="800" dirty="0">
                <a:solidFill>
                  <a:srgbClr val="F2F2F2"/>
                </a:solidFill>
              </a:rPr>
              <a:t>Investigate oil and fuel filters first: they reversed after 2024.</a:t>
            </a:r>
            <a:endParaRPr lang="en-US" sz="800" dirty="0"/>
          </a:p>
        </p:txBody>
      </p:sp>
      <p:sp>
        <p:nvSpPr>
          <p:cNvPr id="27" name="Shape 25"/>
          <p:cNvSpPr/>
          <p:nvPr/>
        </p:nvSpPr>
        <p:spPr>
          <a:xfrm>
            <a:off x="6565392" y="3310128"/>
            <a:ext cx="73152" cy="73152"/>
          </a:xfrm>
          <a:prstGeom prst="ellipse">
            <a:avLst/>
          </a:prstGeom>
          <a:solidFill>
            <a:srgbClr val="F5A000"/>
          </a:solidFill>
          <a:ln w="12700">
            <a:solidFill>
              <a:srgbClr val="F5A000"/>
            </a:solidFill>
            <a:prstDash val="solid"/>
          </a:ln>
        </p:spPr>
      </p:sp>
      <p:sp>
        <p:nvSpPr>
          <p:cNvPr id="28" name="Text 26"/>
          <p:cNvSpPr/>
          <p:nvPr/>
        </p:nvSpPr>
        <p:spPr>
          <a:xfrm>
            <a:off x="6729984" y="3264408"/>
            <a:ext cx="1828800" cy="475488"/>
          </a:xfrm>
          <a:prstGeom prst="rect">
            <a:avLst/>
          </a:prstGeom>
          <a:noFill/>
          <a:ln/>
        </p:spPr>
        <p:txBody>
          <a:bodyPr wrap="square" lIns="254" tIns="254" rIns="254" bIns="254" rtlCol="0" anchor="ctr">
            <a:normAutofit/>
          </a:bodyPr>
          <a:lstStyle/>
          <a:p>
            <a:pPr algn="l" indent="0" marL="0">
              <a:buNone/>
            </a:pPr>
            <a:r>
              <a:rPr lang="en-US" sz="800" dirty="0">
                <a:solidFill>
                  <a:srgbClr val="F2F2F2"/>
                </a:solidFill>
              </a:rPr>
              <a:t>Treat air filter as the positive benchmark.</a:t>
            </a:r>
            <a:endParaRPr lang="en-US" sz="800" dirty="0"/>
          </a:p>
        </p:txBody>
      </p:sp>
      <p:sp>
        <p:nvSpPr>
          <p:cNvPr id="29" name="Shape 27"/>
          <p:cNvSpPr/>
          <p:nvPr/>
        </p:nvSpPr>
        <p:spPr>
          <a:xfrm>
            <a:off x="6565392" y="4334256"/>
            <a:ext cx="73152" cy="73152"/>
          </a:xfrm>
          <a:prstGeom prst="ellipse">
            <a:avLst/>
          </a:prstGeom>
          <a:solidFill>
            <a:srgbClr val="F5A000"/>
          </a:solidFill>
          <a:ln w="12700">
            <a:solidFill>
              <a:srgbClr val="F5A000"/>
            </a:solidFill>
            <a:prstDash val="solid"/>
          </a:ln>
        </p:spPr>
      </p:sp>
      <p:sp>
        <p:nvSpPr>
          <p:cNvPr id="30" name="Text 28"/>
          <p:cNvSpPr/>
          <p:nvPr/>
        </p:nvSpPr>
        <p:spPr>
          <a:xfrm>
            <a:off x="6729984" y="4288536"/>
            <a:ext cx="1828800" cy="475488"/>
          </a:xfrm>
          <a:prstGeom prst="rect">
            <a:avLst/>
          </a:prstGeom>
          <a:noFill/>
          <a:ln/>
        </p:spPr>
        <p:txBody>
          <a:bodyPr wrap="square" lIns="254" tIns="254" rIns="254" bIns="254" rtlCol="0" anchor="ctr">
            <a:normAutofit/>
          </a:bodyPr>
          <a:lstStyle/>
          <a:p>
            <a:pPr algn="l" indent="0" marL="0">
              <a:buNone/>
            </a:pPr>
            <a:r>
              <a:rPr lang="en-US" sz="800" dirty="0">
                <a:solidFill>
                  <a:srgbClr val="F2F2F2"/>
                </a:solidFill>
              </a:rPr>
              <a:t>Keep target-spend cover as a modelled ceiling, not as measured lost sales.</a:t>
            </a:r>
            <a:endParaRPr lang="en-US" sz="800" dirty="0"/>
          </a:p>
        </p:txBody>
      </p:sp>
      <p:sp>
        <p:nvSpPr>
          <p:cNvPr id="31" name="Shape 29"/>
          <p:cNvSpPr/>
          <p:nvPr/>
        </p:nvSpPr>
        <p:spPr>
          <a:xfrm>
            <a:off x="9015984" y="1335024"/>
            <a:ext cx="2971800" cy="5102352"/>
          </a:xfrm>
          <a:prstGeom prst="roundRect">
            <a:avLst>
              <a:gd name="adj" fmla="val 1846"/>
            </a:avLst>
          </a:prstGeom>
          <a:solidFill>
            <a:srgbClr val="303030"/>
          </a:solidFill>
          <a:ln w="8890">
            <a:solidFill>
              <a:srgbClr val="6E6E6E"/>
            </a:solidFill>
            <a:prstDash val="solid"/>
          </a:ln>
        </p:spPr>
      </p:sp>
      <p:sp>
        <p:nvSpPr>
          <p:cNvPr id="32" name="Text 30"/>
          <p:cNvSpPr/>
          <p:nvPr/>
        </p:nvSpPr>
        <p:spPr>
          <a:xfrm>
            <a:off x="9272016" y="1572768"/>
            <a:ext cx="2468880" cy="182880"/>
          </a:xfrm>
          <a:prstGeom prst="rect">
            <a:avLst/>
          </a:prstGeom>
          <a:noFill/>
          <a:ln/>
        </p:spPr>
        <p:txBody>
          <a:bodyPr wrap="square" rtlCol="0" anchor="ctr">
            <a:normAutofit/>
          </a:bodyPr>
          <a:lstStyle/>
          <a:p>
            <a:pPr indent="0" marL="0">
              <a:buNone/>
            </a:pPr>
            <a:r>
              <a:rPr lang="en-US" sz="750" b="1" dirty="0">
                <a:solidFill>
                  <a:srgbClr val="E30613"/>
                </a:solidFill>
              </a:rPr>
              <a:t>MEETING QUESTIONS</a:t>
            </a:r>
            <a:endParaRPr lang="en-US" sz="750" dirty="0"/>
          </a:p>
        </p:txBody>
      </p:sp>
      <p:sp>
        <p:nvSpPr>
          <p:cNvPr id="33" name="Shape 31"/>
          <p:cNvSpPr/>
          <p:nvPr/>
        </p:nvSpPr>
        <p:spPr>
          <a:xfrm>
            <a:off x="9272016" y="2084832"/>
            <a:ext cx="82296" cy="82296"/>
          </a:xfrm>
          <a:prstGeom prst="ellipse">
            <a:avLst/>
          </a:prstGeom>
          <a:solidFill>
            <a:srgbClr val="E30613"/>
          </a:solidFill>
          <a:ln w="12700">
            <a:solidFill>
              <a:srgbClr val="E30613"/>
            </a:solidFill>
            <a:prstDash val="solid"/>
          </a:ln>
        </p:spPr>
      </p:sp>
      <p:sp>
        <p:nvSpPr>
          <p:cNvPr id="34" name="Text 32"/>
          <p:cNvSpPr/>
          <p:nvPr/>
        </p:nvSpPr>
        <p:spPr>
          <a:xfrm>
            <a:off x="9491472" y="2020824"/>
            <a:ext cx="2221992" cy="512064"/>
          </a:xfrm>
          <a:prstGeom prst="rect">
            <a:avLst/>
          </a:prstGeom>
          <a:noFill/>
          <a:ln/>
        </p:spPr>
        <p:txBody>
          <a:bodyPr wrap="square" lIns="254" tIns="254" rIns="254" bIns="254" rtlCol="0" anchor="t">
            <a:normAutofit/>
          </a:bodyPr>
          <a:lstStyle/>
          <a:p>
            <a:pPr indent="0" marL="0">
              <a:buNone/>
            </a:pPr>
            <a:r>
              <a:rPr lang="en-US" sz="820" dirty="0">
                <a:solidFill>
                  <a:srgbClr val="F2F2F2"/>
                </a:solidFill>
              </a:rPr>
              <a:t>Start with the August shortfall and the stronger sales-to-dealer trend; they are not telling the same story.</a:t>
            </a:r>
            <a:endParaRPr lang="en-US" sz="820" dirty="0"/>
          </a:p>
        </p:txBody>
      </p:sp>
      <p:sp>
        <p:nvSpPr>
          <p:cNvPr id="35" name="Shape 33"/>
          <p:cNvSpPr/>
          <p:nvPr/>
        </p:nvSpPr>
        <p:spPr>
          <a:xfrm>
            <a:off x="9272016" y="3017520"/>
            <a:ext cx="82296" cy="82296"/>
          </a:xfrm>
          <a:prstGeom prst="ellipse">
            <a:avLst/>
          </a:prstGeom>
          <a:solidFill>
            <a:srgbClr val="F5A000"/>
          </a:solidFill>
          <a:ln w="12700">
            <a:solidFill>
              <a:srgbClr val="F5A000"/>
            </a:solidFill>
            <a:prstDash val="solid"/>
          </a:ln>
        </p:spPr>
      </p:sp>
      <p:sp>
        <p:nvSpPr>
          <p:cNvPr id="36" name="Text 34"/>
          <p:cNvSpPr/>
          <p:nvPr/>
        </p:nvSpPr>
        <p:spPr>
          <a:xfrm>
            <a:off x="9491472" y="2953512"/>
            <a:ext cx="2221992" cy="512064"/>
          </a:xfrm>
          <a:prstGeom prst="rect">
            <a:avLst/>
          </a:prstGeom>
          <a:noFill/>
          <a:ln/>
        </p:spPr>
        <p:txBody>
          <a:bodyPr wrap="square" lIns="254" tIns="254" rIns="254" bIns="254" rtlCol="0" anchor="t">
            <a:normAutofit/>
          </a:bodyPr>
          <a:lstStyle/>
          <a:p>
            <a:pPr indent="0" marL="0">
              <a:buNone/>
            </a:pPr>
            <a:r>
              <a:rPr lang="en-US" sz="820" dirty="0">
                <a:solidFill>
                  <a:srgbClr val="F2F2F2"/>
                </a:solidFill>
              </a:rPr>
              <a:t>Then move to operational evidence: fill rate, MOS and back orders must explain whether I Motors can support dealer demand.</a:t>
            </a:r>
            <a:endParaRPr lang="en-US" sz="820" dirty="0"/>
          </a:p>
        </p:txBody>
      </p:sp>
      <p:sp>
        <p:nvSpPr>
          <p:cNvPr id="37" name="Shape 35"/>
          <p:cNvSpPr/>
          <p:nvPr/>
        </p:nvSpPr>
        <p:spPr>
          <a:xfrm>
            <a:off x="9272016" y="3950208"/>
            <a:ext cx="82296" cy="82296"/>
          </a:xfrm>
          <a:prstGeom prst="ellipse">
            <a:avLst/>
          </a:prstGeom>
          <a:solidFill>
            <a:srgbClr val="F5A000"/>
          </a:solidFill>
          <a:ln w="12700">
            <a:solidFill>
              <a:srgbClr val="F5A000"/>
            </a:solidFill>
            <a:prstDash val="solid"/>
          </a:ln>
        </p:spPr>
      </p:sp>
      <p:sp>
        <p:nvSpPr>
          <p:cNvPr id="38" name="Text 36"/>
          <p:cNvSpPr/>
          <p:nvPr/>
        </p:nvSpPr>
        <p:spPr>
          <a:xfrm>
            <a:off x="9491472" y="3886200"/>
            <a:ext cx="2221992" cy="512064"/>
          </a:xfrm>
          <a:prstGeom prst="rect">
            <a:avLst/>
          </a:prstGeom>
          <a:noFill/>
          <a:ln/>
        </p:spPr>
        <p:txBody>
          <a:bodyPr wrap="square" lIns="254" tIns="254" rIns="254" bIns="254" rtlCol="0" anchor="t">
            <a:normAutofit/>
          </a:bodyPr>
          <a:lstStyle/>
          <a:p>
            <a:pPr indent="0" marL="0">
              <a:buNone/>
            </a:pPr>
            <a:r>
              <a:rPr lang="en-US" sz="820" dirty="0">
                <a:solidFill>
                  <a:srgbClr val="F2F2F2"/>
                </a:solidFill>
              </a:rPr>
              <a:t>End with leakage: oil/fuel filter reversal and clutch/brake-shoe underdevelopment are the first tangible categories.</a:t>
            </a:r>
            <a:endParaRPr lang="en-US" sz="820" dirty="0"/>
          </a:p>
        </p:txBody>
      </p:sp>
      <p:sp>
        <p:nvSpPr>
          <p:cNvPr id="39" name="Shape 37"/>
          <p:cNvSpPr/>
          <p:nvPr/>
        </p:nvSpPr>
        <p:spPr>
          <a:xfrm>
            <a:off x="9272016" y="4882896"/>
            <a:ext cx="82296" cy="82296"/>
          </a:xfrm>
          <a:prstGeom prst="ellipse">
            <a:avLst/>
          </a:prstGeom>
          <a:solidFill>
            <a:srgbClr val="F5A000"/>
          </a:solidFill>
          <a:ln w="12700">
            <a:solidFill>
              <a:srgbClr val="F5A000"/>
            </a:solidFill>
            <a:prstDash val="solid"/>
          </a:ln>
        </p:spPr>
      </p:sp>
      <p:sp>
        <p:nvSpPr>
          <p:cNvPr id="40" name="Text 38"/>
          <p:cNvSpPr/>
          <p:nvPr/>
        </p:nvSpPr>
        <p:spPr>
          <a:xfrm>
            <a:off x="9491472" y="4818888"/>
            <a:ext cx="2221992" cy="512064"/>
          </a:xfrm>
          <a:prstGeom prst="rect">
            <a:avLst/>
          </a:prstGeom>
          <a:noFill/>
          <a:ln/>
        </p:spPr>
        <p:txBody>
          <a:bodyPr wrap="square" lIns="254" tIns="254" rIns="254" bIns="254" rtlCol="0" anchor="t">
            <a:normAutofit/>
          </a:bodyPr>
          <a:lstStyle/>
          <a:p>
            <a:pPr indent="0" marL="0">
              <a:buNone/>
            </a:pPr>
            <a:r>
              <a:rPr lang="en-US" sz="820" dirty="0">
                <a:solidFill>
                  <a:srgbClr val="F2F2F2"/>
                </a:solidFill>
              </a:rPr>
              <a:t>Decision needed: which parts will I Motors stock deeper, which categories need ISZE support, and when will we review progress?</a:t>
            </a:r>
            <a:endParaRPr lang="en-US" sz="8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Isuzu Motors Europe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 Motors FY2027 Business Performance Review</dc:title>
  <dc:subject>I Motors FY2027 Business Performance Review</dc:subject>
  <dc:creator>ISZE</dc:creator>
  <cp:lastModifiedBy>ISZE</cp:lastModifiedBy>
  <cp:revision>1</cp:revision>
  <dcterms:created xsi:type="dcterms:W3CDTF">2026-09-23T12:24:11Z</dcterms:created>
  <dcterms:modified xsi:type="dcterms:W3CDTF">2026-09-23T12:24:11Z</dcterms:modified>
</cp:coreProperties>
</file>