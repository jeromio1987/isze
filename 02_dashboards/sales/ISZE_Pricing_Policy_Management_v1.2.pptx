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v12/notesMasters/notesMaster1.xml" ContentType="application/vnd.openxmlformats-officedocument.presentationml.notesMaster+xml"/>
  <Override PartName="/ppt/v12/slideMasters/slideMaster1.xml" ContentType="application/vnd.openxmlformats-officedocument.presentationml.slideMaster+xml"/>
  <Override PartName="/ppt/v12/slides/slide1.xml" ContentType="application/vnd.openxmlformats-officedocument.presentationml.slide+xml"/>
  <Override PartName="/ppt/v12/slides/slide2.xml" ContentType="application/vnd.openxmlformats-officedocument.presentationml.slide+xml"/>
  <Override PartName="/ppt/v12/slides/slide3.xml" ContentType="application/vnd.openxmlformats-officedocument.presentationml.slide+xml"/>
  <Override PartName="/ppt/v12/slides/slide4.xml" ContentType="application/vnd.openxmlformats-officedocument.presentationml.slide+xml"/>
  <Override PartName="/ppt/v12/slides/slide5.xml" ContentType="application/vnd.openxmlformats-officedocument.presentationml.slide+xml"/>
  <Override PartName="/ppt/v12/slides/slide6.xml" ContentType="application/vnd.openxmlformats-officedocument.presentationml.slide+xml"/>
  <Override PartName="/ppt/v12/slides/slide7.xml" ContentType="application/vnd.openxmlformats-officedocument.presentationml.slide+xml"/>
  <Override PartName="/ppt/v12/slides/slide8.xml" ContentType="application/vnd.openxmlformats-officedocument.presentationml.slide+xml"/>
  <Override PartName="/ppt/v12/theme/theme1.xml" ContentType="application/vnd.openxmlformats-officedocument.theme+xml"/>
  <Override PartName="/ppt/v12/slideLayouts/slideLayout1.xml" ContentType="application/vnd.openxmlformats-officedocument.presentationml.slideLayout+xml"/>
  <Override PartName="/ppt/v12/notesSlides/notesSlide1.xml" ContentType="application/vnd.openxmlformats-officedocument.presentationml.notesSlide+xml"/>
  <Override PartName="/ppt/v12/notesSlides/notesSlide2.xml" ContentType="application/vnd.openxmlformats-officedocument.presentationml.notesSlide+xml"/>
  <Override PartName="/ppt/v12/notesSlides/notesSlide3.xml" ContentType="application/vnd.openxmlformats-officedocument.presentationml.notesSlide+xml"/>
  <Override PartName="/ppt/v12/notesSlides/notesSlide4.xml" ContentType="application/vnd.openxmlformats-officedocument.presentationml.notesSlide+xml"/>
  <Override PartName="/ppt/v12/notesSlides/notesSlide5.xml" ContentType="application/vnd.openxmlformats-officedocument.presentationml.notesSlide+xml"/>
  <Override PartName="/ppt/v12/notesSlides/notesSlide6.xml" ContentType="application/vnd.openxmlformats-officedocument.presentationml.notesSlide+xml"/>
  <Override PartName="/ppt/v12/notesSlides/notesSlide7.xml" ContentType="application/vnd.openxmlformats-officedocument.presentationml.notesSlide+xml"/>
  <Override PartName="/ppt/v12/notesSlides/notesSlide8.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49" r:id="rId25"/>
  </p:sldMasterIdLst>
  <p:sldIdLst>
    <p:sldId id="256" r:id="rId2"/>
    <p:sldId id="257" r:id="rId3"/>
    <p:sldId id="258" r:id="rId4"/>
    <p:sldId id="259" r:id="rId5"/>
    <p:sldId id="260" r:id="rId6"/>
    <p:sldId id="261" r:id="rId7"/>
    <p:sldId id="262" r:id="rId8"/>
    <p:sldId id="274" r:id="rId26"/>
    <p:sldId id="275" r:id="rId27"/>
    <p:sldId id="263" r:id="rId9"/>
    <p:sldId id="264" r:id="rId10"/>
    <p:sldId id="265" r:id="rId11"/>
    <p:sldId id="276" r:id="rId28"/>
    <p:sldId id="277" r:id="rId29"/>
    <p:sldId id="278" r:id="rId30"/>
    <p:sldId id="279" r:id="rId31"/>
    <p:sldId id="266" r:id="rId12"/>
    <p:sldId id="267" r:id="rId13"/>
    <p:sldId id="268" r:id="rId14"/>
    <p:sldId id="269" r:id="rId15"/>
    <p:sldId id="270" r:id="rId16"/>
    <p:sldId id="271" r:id="rId17"/>
    <p:sldId id="280" r:id="rId32"/>
    <p:sldId id="281" r:id="rId33"/>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Master" Target="v12/slideMasters/slideMaster1.xml"/><Relationship Id="rId26" Type="http://schemas.openxmlformats.org/officeDocument/2006/relationships/slide" Target="v12/slides/slide1.xml"/><Relationship Id="rId27" Type="http://schemas.openxmlformats.org/officeDocument/2006/relationships/slide" Target="v12/slides/slide2.xml"/><Relationship Id="rId28" Type="http://schemas.openxmlformats.org/officeDocument/2006/relationships/slide" Target="v12/slides/slide3.xml"/><Relationship Id="rId29" Type="http://schemas.openxmlformats.org/officeDocument/2006/relationships/slide" Target="v12/slides/slide4.xml"/><Relationship Id="rId30" Type="http://schemas.openxmlformats.org/officeDocument/2006/relationships/slide" Target="v12/slides/slide5.xml"/><Relationship Id="rId31" Type="http://schemas.openxmlformats.org/officeDocument/2006/relationships/slide" Target="v12/slides/slide6.xml"/><Relationship Id="rId32" Type="http://schemas.openxmlformats.org/officeDocument/2006/relationships/slide" Target="v12/slides/slide7.xml"/><Relationship Id="rId33" Type="http://schemas.openxmlformats.org/officeDocument/2006/relationships/slide" Target="v12/slides/slide8.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 1.2 retains the approved Version 1.1 visual style and core calculation pages. It adds two AIM explanations, two UK maintenance-opportunity slides, the Israel repair-order case and the management-reported battery precedent. France is excluded. Existing source dates remain in notes; simple Master labels appear on slide faces.</a:t>
            </a:r>
          </a:p>
          <a:p>
            <a:r>
              <a:rPr lang="en-US" dirty="0"/>
              <a:t>Version 1.1 retains the visual style and original truck image of the first presentation. The policy is to replace automatic price-class margins with market-informed decisions at individual part-number level. The objective is to give distributors a commercially viable genuine-parts offer and grow ISZE parts turnover, not to act as though ISZE sells directly to vehicle owners.
The supplied corrections close the earlier gaps on Class C concentration, Japan purchasing terms from January 2026 and the announced October 2026 corporate rate. The evidence dates and limits are now explicit. The narrative does not turn a proposed commercial process into a claim that every independent part-level pricing decision is already operational.
[Sources]
- Management briefing in this conversation, 19 September 2026: replace price classes; no universal 8% cap; give distributors room to compete without unnecessary price reductions; use individual part-number decisions, webshop observations, historical Eucon data and distributor/customer feedback; explain turnover opportunity without promising a forecast.
- PRICING_DECK_CORRECTIONS_2026-09-19.md, 19 September 2026, amended same evening. Supplied correction note; its author reports recomputation against the listed underlying files. This deck did not independently re-open those underlying data files or supplier mail.
- Original user-supplied Isuzu truck image, reused from the original PowerPoint media without regeneration.
[/Sources]</a:t>
            </a:r>
            <a:endParaRPr lang="en-US" dirty="0"/>
          </a:p>
          <a:p>
            <a:r>
              <a:t>[Sources]
Version 1.2 update: management briefing in this conversation, 19 September 2026; AIM Master; Pricing Master (PRICING_ANSWERS_FOR_FEEDBACK_2026-09-19.md). The later note adds source qualifications and case evidence; underlying data were not independently re-run.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 1.2 emphasis: the objective is the maintenance relationship and a broader share of parts used in the work, not just a lower pad-kit price. This strategic interpretation was explicitly confirmed by management.</a:t>
            </a:r>
          </a:p>
          <a:p>
            <a:r>
              <a:rPr lang="en-US" dirty="0"/>
              <a:t>The change is a commercial pricing policy, not a blanket discount programme and not simply a higher annual list-price percentage. ISZE sells to national distributors. Its selling price creates or restricts the room those distributors have to develop their own market offers.
The potential for higher turnover has two routes: additional distributor orders when the network competes more effectively, and a better price on retained business where a selective increase is justified. Protecting repeat business can add subsequent replenishment, but this is not automatic. The distributor must turn the improved commercial position into action.
We are not claiming a predetermined reduction in the dealer's price to the end customer. A first stock order is also not proof of sustained customer demand. The opportunity must ultimately be visible in net parts billed, gross-profit euros and repeated distributor business.
[Sources]
- 01_ISUZU_AND_ISZE_BUSINESS.md, as of 19 September 2026, sections 1 and 4. Business chain and historical formula only; stale Japan terms and corporate-rate labels are superseded by the correction note.
- ISZE_Pricing_Policy_Paper_REV3.html, revision 3, 19 September 2026. Policy rationale retained where not superseded by the correction note or the management briefing. Sections 1, 3 and 11, decision 14.
- 03_OPERATIONS_OPEN_WORK_AND_CAVEATS.md, as of 19 September 2026, section 6.6: distributor purchases are stocking decisions; customer demand response is not measured for the whole network.
- Management briefing in this conversation, 19 September 2026: replace price classes; no universal 8% cap; give distributors room to compete without unnecessary price reductions; use individual part-number decisions, webshop observations, historical Eucon data and distributor/customer feedback; explain turnover opportunity without promising a forecast.
[/Sources]</a:t>
            </a:r>
            <a:endParaRPr lang="en-US" dirty="0"/>
          </a:p>
          <a:p>
            <a:r>
              <a:t>[Sources]
Version 1.2 update: management briefing in this conversation, 19 September 2026; AIM Master; Pricing Master (PRICING_ANSWERS_FOR_FEEDBACK_2026-09-19.md). The later note adds source qualifications and case evidence; underlying data were not independently re-run.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historical formula is: ISZE selling price = (supplier base in yen / corporate JPY-per-EUR rate) x proportion of the base paid / (1 - class margin). The cost calculation and the selling-price decision are separate stages.
For example, Class C specifies a 53% formula margin, which means dividing the formula cost by 0.47. Class V specifies 45%, so its divisor is 0.55. These are selected historical formula examples, not a statement that all eight classes fall within the same narrow range. The separate Class T discrepancy is retained in Appendix D.
The purchasing discount is not the class margin. Nor is the formula margin automatically the realised gross margin after applicable support, freight or other costs. The future method keeps supplier base, exchange rate and purchasing terms as cost inputs but removes the class letter as the automatic setter of the selling margin.
[Sources]
- 01_ISUZU_AND_ISZE_BUSINESS.md, as of 19 September 2026, sections 1 and 4. Business chain and historical formula only; stale Japan terms and corporate-rate labels are superseded by the correction note.
- ISZE_Pricing_Policy_Paper_REV3.html, revision 3, 19 September 2026. Policy rationale retained where not superseded by the correction note or the management briefing. Section 1 and section 9.
- PRICING_DECK_CORRECTIONS_2026-09-19.md, 19 September 2026, amended same evening. Supplied correction note; its author reports recomputation against the listed underlying files. This deck did not independently re-open those underlying data files or supplier mail. Sections 1 and 12.
- Management briefing in this conversation, 19 September 2026: replace price classes; no universal 8% cap; give distributors room to compete without unnecessary price reductions; use individual part-number decisions, webshop observations, historical Eucon data and distributor/customer feedback; explain turnover opportunity without promising a forecast.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qualification from the later Pricing Master: the supplier mail confirms that a change took effect on 5 January 2026, but the 67.3% share paid / 32.7% discount is management-confirmed in the configuration; it has not been independently read from the original attached schedule.</a:t>
            </a:r>
          </a:p>
          <a:p>
            <a:r>
              <a:rPr lang="en-US" dirty="0"/>
              <a:t>The correction supplies a dated supplier notice: the Japan net share paid moved from 0.620 to 0.673 effective 5 January 2026, at the annual base-price revision. That is a purchasing discount reduction from 38.0% to 32.7%, or 5.3 percentage points. It does not mean a 5.3% change in purchasing cost: at an unchanged yen base and exchange rate, the cost increase is 0.673/0.620 - 1 = 8.5484%. Thailand remains at a 0.611 share paid, equivalent to a 38.9% purchasing discount.
The effective date is in January, before the April corporate-rate window. The rate windows and the discount effective date must therefore not be treated as if they changed together. The old 0.620 term remains valid only when explaining the selling-list construction basis or the prior commercial terms.
On the revenue side, actual distributor discounts, special price agreements, rebates and support must be applied on their contractual basis and not deducted twice. The full selling-side schedule is still not supplied. This deck does not replace that gap with the paper's illustrative support assumption.
[Sources]
- PRICING_DECK_CORRECTIONS_2026-09-19.md, 19 September 2026, amended same evening. Supplied correction note; its author reports recomputation against the listed underlying files. This deck did not independently re-open those underlying data files or supplier mail. Sections 1, 2 and 5; supplier email dated 22 December 2025, subject "discount/whole sales ratio revisoin from Jan 5th 2026", customer K208FJ, vehicle parts.
- 01_ISUZU_AND_ISZE_BUSINESS.md, as of 19 September 2026, sections 1 and 4. Business chain and historical formula only; stale Japan terms and corporate-rate labels are superseded by the correction note.
[/Sources]</a:t>
            </a:r>
            <a:endParaRPr lang="en-US" dirty="0"/>
          </a:p>
          <a:p>
            <a:r>
              <a:t>[Sources]
Version 1.2 update: management briefing in this conversation, 19 September 2026; AIM Master; Pricing Master (PRICING_ANSWERS_FOR_FEEDBACK_2026-09-19.md). The later note adds source qualifications and case evidence; underlying data were not independently re-run.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remains a Japan-specific illustration. The later Pricing Master records disagreement over whether the announced rate also applies to Thailand; Version 1.2 makes no Thailand exchange-rate assertion.</a:t>
            </a:r>
          </a:p>
          <a:p>
            <a:r>
              <a:rPr lang="en-US" dirty="0"/>
              <a:t>Use the effective periods, not the word "live" in isolation. On the presentation date, 19 September 2026, 172.6 JPY/EUR applies until 30 September. The supplier notification of 15 September 2026 announces 178.5 JPY/EUR for 1 October 2026 to 31 March 2027. The correction note calls the latter the live configuration vintage; version 1.1 labels it announced and effective from October to preserve the supplied dates. 163.7 is the selling-list construction basis.
At an unchanged JPY 16,370 base: historical list-basis cost = 16,370/163.7 x 0.620 = EUR 62.00. April-September cost = 16,370/172.6 x 0.673 = EUR 63.8297219. Announced October cost = 16,370/178.5 x 0.673 = EUR 61.7199440. Values shown are rounded only at the end.
Relative to the list basis, currency alone gives 163.7/178.5 - 1 = -8.29%, while purchasing terms alone give 0.673/0.620 - 1 = +8.55%. Multiplying the two cost ratios gives -0.45%; do not add the two percentages. Relative to April-September, the Japan terms are unchanged, so 172.6/178.5 - 1 = -3.31%.
This is the purchase cost in the stated formula, not an all-in landed-cost forecast or a network saving. Supplier-base changes and additional costs are held outside the illustration. The ambiguous 2024 checkpoint is omitted; Appendix D notes the source discrepancy.
[Sources]
- PRICING_DECK_CORRECTIONS_2026-09-19.md, 19 September 2026, amended same evening. Supplied correction note; its author reports recomputation against the listed underlying files. This deck did not independently re-open those underlying data files or supplier mail. Sections 1, 3 and 5. Supplier email "Exchange revision from Oct 2026", 15 September 2026; attachment ISZE-ISZJ FX Rate_261001-270331.xlsx. Rate stated in mail body.
- 01_ISUZU_AND_ISZE_BUSINESS.md, as of 19 September 2026, sections 1 and 4. Business chain and historical formula only; stale Japan terms and corporate-rate labels are superseded by the correction note. Formula only.
- Arithmetic calculated directly from the supplied rates, purchasing shares and illustrative yen base; no external spot rate used.
[/Sources]</a:t>
            </a:r>
            <a:endParaRPr lang="en-US" dirty="0"/>
          </a:p>
          <a:p>
            <a:r>
              <a:t>[Sources]
Version 1.2 update: management briefing in this conversation, 19 September 2026; AIM Master; Pricing Master (PRICING_ANSWERS_FOR_FEEDBACK_2026-09-19.md). The later note adds source qualifications and case evidence; underlying data were not independently re-run.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corrected figure is 74.9%, not the tentative 80% and not the paper's 84.3% margin-band measure. The correction author reports 206,598 Class C part numbers divided by 275,992 distinct current classed part numbers in the 2026 price file, dated 9 August 2026. Arithmetic gives 74.8565%, rounded to 74.9%. The denominator excludes superseded entries and 2,529 current entries without a class.
This is the composition of the current classed catalogue, not a revenue share and not the new-model launch sample. The correction also reports other deliberately different denominators; they are not substituted for this one.
The commercial point is scale: nearly three in four classed parts are assigned the same 53% formula margin by Class C, although their substitutes, competitive price levels and role in the distributor's business can differ. The catalogue share alone does not measure how much is wrongly priced or how much turnover can be recovered. It demonstrates why a broad class rule is too coarse as the sole price-setting decision.
[Sources]
- PRICING_DECK_CORRECTIONS_2026-09-19.md, 19 September 2026, amended same evening. Supplied correction note; its author reports recomputation against the listed underlying files. This deck did not independently re-open those underlying data files or supplier mail. Section 8, current part-number row, denominator and provenance paragraphs. Underlying files cited there: pricing_list_pn.parquet and Price_file_2026_full.xlsx.
- ISZE_Pricing_Policy_Paper_REV3.html, revision 3, 19 September 2026. Policy rationale retained where not superseded by the correction note or the management briefing. Section 1: Class C corresponds to 53% formula margin.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major change in the range of commercial decisions available. Parts previously subject to the same class margin can be treated differently: a targeted reduction, a hold, or a selective increase. The purpose is not to give every part an arbitrary unique price, but to let relevant evidence decide its position rather than the class letter.
The turnover opportunity is broader than a single annual percentage. ISZE can support volume where the distributor faces credible competitive pressure while preserving or improving the price on other parts. It does not need to reduce an entire class to address selected competitive weaknesses.
Commercial groups remain useful for organising the review and setting priorities, but they should not become a new blind rule assigning every part the same treatment. The examples here are conceptual, not actual Class C part proposals. The supplied policy paper describes a tier-distribution model; it does not demonstrate that independent, benchmark-led pricing for every part is already operational. The slide states the future policy for approval, not an implementation-completion claim.
[Sources]
- Management briefing in this conversation, 19 September 2026: replace price classes; no universal 8% cap; give distributors room to compete without unnecessary price reductions; use individual part-number decisions, webshop observations, historical Eucon data and distributor/customer feedback; explain turnover opportunity without promising a forecast.
- PRICING_DECK_CORRECTIONS_2026-09-19.md, 19 September 2026, amended same evening. Supplied correction note; its author reports recomputation against the listed underlying files. This deck did not independently re-open those underlying data files or supplier mail. Section 8.
- ISZE_Pricing_Policy_Paper_REV3.html, revision 3, 19 September 2026. Policy rationale retained where not superseded by the correction note or the management briefing. Sections 3 and 10: tier-based rules and judgement-based movements.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selected UK panel and additional truck-specific sweeps are different evidence sets. The slide does not infer truck-wide coverage from the light-commercial panel or present a single UK shop as a multi-country survey. Precise observation dates: KS panel 10 and 14 August 2026; Eucon / PartsPool batch 29 March 2026; UTI feedback 11 March 2026. These dates are deliberately in the notes rather than repeated as document names on the face.</a:t>
            </a:r>
          </a:p>
          <a:p>
            <a:r>
              <a:rPr lang="en-US" dirty="0"/>
              <a:t>The proposed method starts from evidence already held, not a claim of comprehensive market-price coverage. The supplied correction identifies two usable priced sources. KS International was observed on 10 and 14 August 2026. Its panel represents one UK trade webshop: 43 distinct part numbers repeated over market rows, not hundreds of independent market quotations. The correction explicitly prohibits drawing a truck-wide conclusion from that panel.
Eucon / PartsPool is a historical batch dated 29 March 2026 covering online independent-aftermarket prices in Germany and Norway. Its value is comparison across named brands and tiers. An old observation is context, not a current quotation; a median across brands is not a single market price.
The third input is distributor/customer feedback. A documented example reported in the correction is UTI's 11 March 2026 concern about the annual price update and quick switching to cheaper alternatives, with a request for a support package. This is UTI (Israel trucks), not UMI. The correspondence was reported from an 18 August scan, not independently re-opened here. Feedback identifies what to investigate and which offers are difficult to sell. It is not automatically part-number-level evidence.
Only the identified sources are named. No additional webshop or broader geographic coverage is invented.
[Sources]
- PRICING_DECK_CORRECTIONS_2026-09-19.md, 19 September 2026, amended same evening. Supplied correction note; its author reports recomputation against the listed underlying files. This deck did not independently re-open those underlying data files or supplier mail. Sections 9 and 10. KS observation snapshots dated 10 and 14 August 2026; Eucon/PartsPool batch 29 March 2026; UTI correspondence of 11 March 2026, reported from scan of 18 August 2026.
- Management briefing in this conversation, 19 September 2026: replace price classes; no universal 8% cap; give distributors room to compete without unnecessary price reductions; use individual part-number decisions, webshop observations, historical Eucon data and distributor/customer feedback; explain turnover opportunity without promising a forecast.
[/Sources]</a:t>
            </a:r>
            <a:endParaRPr lang="en-US" dirty="0"/>
          </a:p>
          <a:p>
            <a:r>
              <a:t>[Sources]
Version 1.2 update: management briefing in this conversation, 19 September 2026; AIM Master; Pricing Master (PRICING_ANSWERS_FOR_FEEDBACK_2026-09-19.md). The later note adds source qualifications and case evidence; underlying data were not independently re-run.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AIM Master status: identity is live; per-part, per-market commercial scoring is a subsequent step. The decision process is proposed and must not be read as fully automated or already populated for every part.</a:t>
            </a:r>
          </a:p>
          <a:p>
            <a:r>
              <a:rPr lang="en-US" dirty="0"/>
              <a:t>Work back from a credible competitive position, rather than starting and finishing with a class margin. The first test is comparability: exact fitment and kit contents, brand or quality tier, date, availability, currency and tax basis, and the stage in the distribution chain. A retail or online trade price should not be placed beside the ISZE distributor net price and treated as a like-for-like gap.
The second test is the distributor's commercial room. The objective is a viable offer through its network, not to prescribe the dealer's resale price. The required support can differ by part and market. A restrained increase, a hold, or a targeted reduction may be appropriate; the answer is not always the cheapest external price.
The third test is ISZE's net economics. Supplier base, exchange rate and purchasing terms determine the cost input. Applicable selling discounts and support determine net revenue. Where the chosen competitive price is not viable at the cost, review sourcing or support rather than assuming margin alone can solve it.
Finally, record and approve the individual decision. This is the method requested for approval, not an assertion that every input or part-level release path is already validated.
[Sources]
- Management briefing in this conversation, 19 September 2026: replace price classes; no universal 8% cap; give distributors room to compete without unnecessary price reductions; use individual part-number decisions, webshop observations, historical Eucon data and distributor/customer feedback; explain turnover opportunity without promising a forecast.
- 01_ISUZU_AND_ISZE_BUSINESS.md, as of 19 September 2026, sections 1 and 4. Business chain and historical formula only; stale Japan terms and corporate-rate labels are superseded by the correction note.
- ISZE_Pricing_Policy_Paper_REV3.html, revision 3, 19 September 2026. Policy rationale retained where not superseded by the correction note or the management briefing. Sections 9, 10 and 11.
- PRICING_DECK_CORRECTIONS_2026-09-19.md, 19 September 2026, amended same evening. Supplied correction note; its author reports recomputation against the listed underlying files. This deck did not independently re-open those underlying data files or supplier mail. Sections 9 and 11.
[/Sources]</a:t>
            </a:r>
            <a:endParaRPr lang="en-US" dirty="0"/>
          </a:p>
          <a:p>
            <a:r>
              <a:t>[Sources]
Version 1.2 update: management briefing in this conversation, 19 September 2026; AIM Master; Pricing Master (PRICING_ANSWERS_FOR_FEEDBACK_2026-09-19.md). The later note adds source qualifications and case evidence; underlying data were not independently re-run.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explaining this slide. The policy is not to lower all scheduled-service prices aggressively. Its purpose is to preserve enough commercial room for distributors to compete with the independent aftermarket while avoiding unnecessary loss of ISZE margin. The appropriate decision may be a smaller increase, no increase, or a targeted reduction.
The distributor can use the room to support dealers, improve its quotations, back a parts campaign or compete for defined orders. That activity may defend parts already being bought from Isuzu and win additional business. Additional movement through the network can then result in repeat replenishment from ISZE. This is how a market-based price can create turnover on our side of the chain.
The reduction itself is not the gain. On existing purchases, a lower net price initially reduces ISZE revenue. The extra distributor volume, broader parts orders or retained repeat business must outweigh that effect. Holding an already competitive price also avoids giving away margin unnecessarily. Availability and distributor execution matter. We are neither promising a particular end-customer price nor counting workshop labour as ISZE turnover.
[Sources]
- Management briefing in this conversation, 19 September 2026: replace price classes; no universal 8% cap; give distributors room to compete without unnecessary price reductions; use individual part-number decisions, webshop observations, historical Eucon data and distributor/customer feedback; explain turnover opportunity without promising a forecast.
- ISZE_Pricing_Policy_Paper_REV3.html, revision 3, 19 September 2026. Policy rationale retained where not superseded by the correction note or the management briefing. Sections 1 and 3; section 11, decision 14.
- 01_ISUZU_AND_ISZE_BUSINESS.md, as of 19 September 2026, sections 1 and 4. Business chain and historical formula only; stale Japan terms and corporate-rate labels are superseded by the correction note.
- 03_OPERATIONS_OPEN_WORK_AND_CAVEATS.md, as of 19 September 2026, section 6.6: distributor purchases are stocking decisions; customer demand response is not measured for the whole network.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 1.2 connects volume opportunity to winning maintenance accounts and increasing genuine-parts participation within existing accounts. It does not assert that lowering a price causes a known growth rate.</a:t>
            </a:r>
          </a:p>
          <a:p>
            <a:r>
              <a:rPr lang="en-US" dirty="0"/>
              <a:t>This is the strategic benefit of having more precise control over prices. The old class rule can be too high for a part facing strong aftermarket competition and too low for another part with a defensible advantage. Separate part decisions allow ISZE to address both situations instead of compromising on one broad percentage.
On competitive parts, the opportunity is more distributor purchases and retained repeated business. On differentiated parts, it is a higher net price on enough retained quantity. There is also a protective effect: ISZE avoids unnecessary reductions on other parts when only selected parts need support. Avoided concessions protect gross profit; they should not be mislabelled as recovered sales.
A limited-substitute claim must be checked. No recorded quote is not evidence that no competitor exists. A technical description, emissions function or unfamiliar part name does not by itself justify a premium. Compare credible new, repair or remanufactured alternatives where relevant. Larger increases are not mechanically prohibited by an 8% ceiling, but they still require a credible case and approval. The opportunity is a step change in pricing flexibility, not an exponential-growth forecast.
[Sources]
- Management briefing in this conversation, 19 September 2026: replace price classes; no universal 8% cap; give distributors room to compete without unnecessary price reductions; use individual part-number decisions, webshop observations, historical Eucon data and distributor/customer feedback; explain turnover opportunity without promising a forecast.
- ISZE_Pricing_Policy_Paper_REV3.html, revision 3, 19 September 2026. Policy rationale retained where not superseded by the correction note or the management briefing. Sections 9, 10 and 11, particularly decisions 6 and 9.
- PRICING_DECK_CORRECTIONS_2026-09-19.md, 19 September 2026, amended same evening. Supplied correction note; its author reports recomputation against the listed underlying files. This deck did not independently re-open those underlying data files or supplier mail. Sections 9 and 11.
[/Sources]</a:t>
            </a:r>
            <a:endParaRPr lang="en-US" dirty="0"/>
          </a:p>
          <a:p>
            <a:r>
              <a:t>[Sources]
Version 1.2 update: management briefing in this conversation, 19 September 2026; AIM Master; Pricing Master (PRICING_ANSWERS_FOR_FEEDBACK_2026-09-19.md). The later note adds source qualifications and case evidence; underlying data were not independently re-run.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economics are on the ISZE side. The distributor initially buys 100 identical service-part baskets from ISZE at a net price of EUR 100 each, and ISZE's cost is EUR 50 each. ISZE turnover is therefore EUR 10,000 and gross profit EUR 5,000.
After a targeted 5% reduction in our net price to EUR 95, assume the distributor buys 120 baskets in the same period. This 20% increase is an illustrative assumption, not a measured response. ISZE turnover becomes 95 x 120 = EUR 11,400, up 14%. Gross profit becomes (95 - 50) x 120 = EUR 5,400, up 8%. The percentage margin is lower, but the gross profit in euros is higher.
The turnover break-even volume increase is 100/95 - 1 = 5.2632%. The gross-profit break-even increase is 50/45 - 1 = 11.1111% at the assumed initial 50% margin. Cost, product mix and any additional selling support would change that threshold. Net price is already after applicable support; do not subtract the same support again. No end-customer price or dealer margin is assumed.
A stock build alone does not validate the commercial case. Subsequent sales to dealer, stock movement and replenishment help determine whether more distributor purchases represent sustained business.
[Sources]
- Illustrative assumptions and arithmetic explicitly stated on the slide; calculated 19 September 2026.
- 03_OPERATIONS_OPEN_WORK_AND_CAVEATS.md, as of 19 September 2026, section 6.6: distributor purchases are stocking decisions; customer demand response is not measured for the whole network.
- Management briefing in this conversation, 19 September 2026: replace price classes; no universal 8% cap; give distributors room to compete without unnecessary price reductions; use individual part-number decisions, webshop observations, historical Eucon data and distributor/customer feedback; explain turnover opportunity without promising a forecast.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cases proposed are separately scoped ITUK maintenance parts and UTI repair packages. The added case slides explain their different purposes. Neither their sales gains nor the competitor coverage are expanded beyond the supplied sources.</a:t>
            </a:r>
          </a:p>
          <a:p>
            <a:r>
              <a:rPr lang="en-US" dirty="0"/>
              <a:t>The available evidence is concentrated. The correction reports a usable external-price link for 76 of 15,273 priced part numbers, or 0.4976%, rounded to 0.50%. Those parts account for EUR 5,369,216 of EUR 32,595,853 priced billed value, or 16.4721%, rounded to 16.5%. The coverage output was built on 18 September 2026. These are two different denominators, neither of which is the full 2026 classed catalogue or the total ISZE revenue base. The supplied note does not give a single exact billing-window endpoint for this pricing scope, so the slide does not invent one.
This supports a selective first application, not a claim that every part has a current external quote. The policy paper proposes brakes as an initial family, but the revised evidence requires checking specific part and distributor cases. The assessed brake-pad-kit example in Appendix C is a hold, not an automatic reduction.
Agree the commercial purpose, then compare net parts billed and gross-profit euros over a matched period, with sales to dealer and inventory where available. Distributor purchases and end-customer demand are not interchangeable. Do not interpret a stock build as a lasting sales response. Keep ITUK separate from IUK and UTI separate from UMI.
[Sources]
- PRICING_DECK_CORRECTIONS_2026-09-19.md, 19 September 2026, amended same evening. Supplied correction note; its author reports recomputation against the listed underlying files. This deck did not independently re-open those underlying data files or supplier mail. Section 9: competitor_coverage_truth.csv and associated metadata dated 18 September 2026.
- ISZE_Pricing_Policy_Paper_REV3.html, revision 3, 19 September 2026. Policy rationale retained where not superseded by the correction note or the management briefing. Section 11, decision 3.
- 03_OPERATIONS_OPEN_WORK_AND_CAVEATS.md, as of 19 September 2026, section 6.6: distributor purchases are stocking decisions; customer demand response is not measured for the whole network.
- Management briefing in this conversation, 19 September 2026: replace price classes; no universal 8% cap; give distributors room to compete without unnecessary price reductions; use individual part-number decisions, webshop observations, historical Eucon data and distributor/customer feedback; explain turnover opportunity without promising a forecast.
[/Sources]</a:t>
            </a:r>
            <a:endParaRPr lang="en-US" dirty="0"/>
          </a:p>
          <a:p>
            <a:r>
              <a:t>[Sources]
Version 1.2 update: management briefing in this conversation, 19 September 2026; AIM Master; Pricing Master (PRICING_ANSWERS_FOR_FEEDBACK_2026-09-19.md). The later note adds source qualifications and case evidence; underlying data were not independently re-run.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 1.2 asks for policy and case-scope approval, not a wholesale new commercial-scoring implementation or an approved insurer payment. The 1% battery margin is a management-reported exception, not a general target.</a:t>
            </a:r>
          </a:p>
          <a:p>
            <a:r>
              <a:rPr lang="en-US" dirty="0"/>
              <a:t>The decision requested is approval of the pricing method and a scoped first application. It is not approval of every rate or price in the existing analytical model. Price classes are to be replaced as the automatic selling-price rule. Market evidence, distributor competitiveness and ISZE's net economics become the basis for the decision.
The user has confirmed that 8% is not a universal hard ceiling. That is not unrestricted pricing discretion: larger changes still need evidence, approval and a net-margin check. The exact approval authorities, scope, objective and effective date remain management decisions.
The supplied paper describes tier-based calculations. Before any price issue, demonstrate that the agreed independent part-level decisions can be applied and checked; do not call a tier-only calculation full part-level optimisation. This is an implementation confirmation, not a reopening of the strategic decision to replace classes.
The paper's 5% setting and prior modelled euro effects are not carried forward as the financial result of version 1.1. The new cost terms and the approved commercial choices have not been applied to a complete recomputed price proposal within this task. There is no proven customer-demand uplift in that prior model.
[Sources]
- Management briefing in this conversation, 19 September 2026: replace price classes; no universal 8% cap; give distributors room to compete without unnecessary price reductions; use individual part-number decisions, webshop observations, historical Eucon data and distributor/customer feedback; explain turnover opportunity without promising a forecast.
- ISZE_Pricing_Policy_Paper_REV3.html, revision 3, 19 September 2026. Policy rationale retained where not superseded by the correction note or the management briefing. Sections 3, 10 and 11.
- PRICING_DECK_CORRECTIONS_2026-09-19.md, 19 September 2026, amended same evening. Supplied correction note; its author reports recomputation against the listed underlying files. This deck did not independently re-open those underlying data files or supplier mail. Sections 1, 5 and 12.
[/Sources]</a:t>
            </a:r>
            <a:endParaRPr lang="en-US" dirty="0"/>
          </a:p>
          <a:p>
            <a:r>
              <a:t>[Sources]
Version 1.2 update: management briefing in this conversation, 19 September 2026; AIM Master; Pricing Master (PRICING_ANSWERS_FOR_FEEDBACK_2026-09-19.md). The later note adds source qualifications and case evidence; underlying data were not independently re-run.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last rows are counterfactual outputs of the historical class formula applied to each cost vintage. They explain the method and are not future pricing recommendations or proof that the actual issued list was repriced at those vintages. The future policy replaces those class-set margins.
Formula: price = (JPY 16,370 / corporate rate) x share paid / (1 - class margin). Values are calculated without rounding intermediate results. At 178.5, the converted base is EUR 91.70868347 and formula cost is EUR 61.71994398. Class C at 53% gives EUR 131.31902974; Class V at 45% gives EUR 112.21807996. Rounded display values are EUR 131.32 and EUR 112.22.
At 172.6 and share paid 0.673, cost is EUR 63.82972190, Class C EUR 135.80791894 and Class V EUR 116.05403982. The historical construction basis at 163.7 and 0.620 gives cost EUR 62.00, Class C EUR 131.91489362 and Class V EUR 112.72727273.
The correction's broad rate-period table must not imply that the old purchasing share applied for the entire October-March period: the specific supplier notice establishes 5 January 2026 as the purchasing-term change. The labels here separate construction basis from actual effective periods. The October rate announcement is evidenced by the 15 September supplier email; a missing separate numbered circular is not an unresolved input.
[Sources]
- PRICING_DECK_CORRECTIONS_2026-09-19.md, 19 September 2026, amended same evening. Supplied correction note; its author reports recomputation against the listed underlying files. This deck did not independently re-open those underlying data files or supplier mail. Sections 1, 4 and 5; supplier notices dated 22 December 2025 and 15 September 2026.
- Arithmetic derived from supplied inputs; no live or external exchange rates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uses the source's existing observations to demonstrate why the cheapest quote, a median and a premium listing are different pricing inputs. The correction author reports 42 Eucon listings linked to part number 8975546610, with a low of EUR 17.08825 (Rap Brakes), median EUR 58.091475 and high EUR 213.3977 (Pagid), shown rounded to two decimals. The batch is dated 29 March 2026. The Eucon dataset covers Germany and Norway; the correction does not assign every quoted endpoint on this part to a country here.
The correction also reports an ISZE list price of EUR 82.25 and an implied cost of EUR 45.24. The latter is a historical source-derived implied cost, not a newly established all-in purchase cost using the corrected terms. It is labelled accordingly. The online offers and the ISZE selling price are not the same transaction level. Product equivalence, kit content, tax treatment, support and the distributor's commercial room must be checked before any price decision. No percentage gap or price-cut recommendation is calculated from them.
The separate KS quotation is not used to claim parity or a network-wide cost gap. Its converted value and the currency notation in the supplied note require care before a live proposal. The main point survives without it: some independent offers are at the cheap end while a premium listing is much higher, so there is no single "Eucon price" and no instruction to copy the minimum.
[Sources]
- PRICING_DECK_CORRECTIONS_2026-09-19.md, 19 September 2026, amended same evening. Supplied correction note; its author reports recomputation against the listed underlying files. This deck did not independently re-open those underlying data files or supplier mail. Section 11(a); reported underlying Eucon cross-reference batch eucon_crossref_iam_20260329.csv and pricing_list_pn.parquet.
- Management briefing in this conversation, 19 September 2026: replace price classes; no universal 8% cap; give distributors room to compete without unnecessary price reductions; use individual part-number decisions, webshop observations, historical Eucon data and distributor/customer feedback; explain turnover opportunity without promising a forecast.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7232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Version 1.2 - 01">
    <p:spTree>
      <p:nvGrpSpPr>
        <p:cNvPr id="1" name=""/>
        <p:cNvGrpSpPr/>
        <p:nvPr/>
      </p:nvGrpSpPr>
      <p:grpSpPr>
        <a:xfrm>
          <a:off x="0" y="0"/>
          <a:ext cx="0" cy="0"/>
          <a:chOff x="0" y="0"/>
          <a:chExt cx="0" cy="0"/>
        </a:xfrm>
      </p:grpSpPr>
      <p:pic>
        <p:nvPicPr>
          <p:cNvPr id="2" name="Image 0" descr="/mnt/data/isze_pricing_v1_1_work/assets/image-1-1.png">    </p:cNvPr>
          <p:cNvPicPr>
            <a:picLocks noChangeAspect="1"/>
          </p:cNvPicPr>
          <p:nvPr/>
        </p:nvPicPr>
        <p:blipFill>
          <a:blip r:embed="rId1"/>
          <a:srcRect l="0" r="0" t="582" b="582"/>
          <a:stretch/>
        </p:blipFill>
        <p:spPr>
          <a:xfrm>
            <a:off x="6336792" y="100584"/>
            <a:ext cx="5724144" cy="6601968"/>
          </a:xfrm>
          <a:prstGeom prst="rect">
            <a:avLst/>
          </a:prstGeom>
        </p:spPr>
      </p:pic>
      <p:sp>
        <p:nvSpPr>
          <p:cNvPr id="3" name="Text 0"/>
          <p:cNvSpPr/>
          <p:nvPr/>
        </p:nvSpPr>
        <p:spPr>
          <a:xfrm>
            <a:off x="530352" y="475488"/>
            <a:ext cx="1554480" cy="365760"/>
          </a:xfrm>
          <a:prstGeom prst="rect">
            <a:avLst/>
          </a:prstGeom>
          <a:noFill/>
          <a:ln/>
        </p:spPr>
        <p:txBody>
          <a:bodyPr wrap="square" lIns="0" tIns="0" rIns="0" bIns="0" rtlCol="0" anchor="ctr">
            <a:normAutofit/>
          </a:bodyPr>
          <a:lstStyle/>
          <a:p>
            <a:pPr indent="0" marL="0">
              <a:buNone/>
            </a:pPr>
            <a:r>
              <a:rPr lang="en-US" sz="2400" b="1" dirty="0">
                <a:solidFill>
                  <a:srgbClr val="ED0016"/>
                </a:solidFill>
                <a:latin typeface="Arial" pitchFamily="34" charset="0"/>
                <a:ea typeface="Arial" pitchFamily="34" charset="-122"/>
                <a:cs typeface="Arial" pitchFamily="34" charset="-120"/>
              </a:rPr>
              <a:t>ISUZU</a:t>
            </a:r>
            <a:endParaRPr lang="en-US" sz="2400" dirty="0"/>
          </a:p>
        </p:txBody>
      </p:sp>
      <p:sp>
        <p:nvSpPr>
          <p:cNvPr id="4" name="Text 1"/>
          <p:cNvSpPr/>
          <p:nvPr/>
        </p:nvSpPr>
        <p:spPr>
          <a:xfrm>
            <a:off x="530352" y="1508760"/>
            <a:ext cx="5486400" cy="228600"/>
          </a:xfrm>
          <a:prstGeom prst="rect">
            <a:avLst/>
          </a:prstGeom>
          <a:noFill/>
          <a:ln/>
        </p:spPr>
        <p:txBody>
          <a:bodyPr wrap="square" lIns="0" tIns="0" rIns="0" bIns="0" rtlCol="0" anchor="ctr">
            <a:normAutofit/>
          </a:bodyPr>
          <a:lstStyle/>
          <a:p>
            <a:pPr indent="0" marL="0">
              <a:buNone/>
            </a:pPr>
            <a:r>
              <a:rPr lang="en-US" sz="1050" b="1" spc="150" kern="0" dirty="0">
                <a:solidFill>
                  <a:srgbClr val="C8D1D7"/>
                </a:solidFill>
                <a:latin typeface="Arial" pitchFamily="34" charset="0"/>
                <a:ea typeface="Arial" pitchFamily="34" charset="-122"/>
                <a:cs typeface="Arial" pitchFamily="34" charset="-120"/>
              </a:rPr>
              <a:t>ISUZU MOTORS EUROPE (ISZE)</a:t>
            </a:r>
            <a:endParaRPr lang="en-US" sz="1050" dirty="0"/>
          </a:p>
        </p:txBody>
      </p:sp>
      <p:sp>
        <p:nvSpPr>
          <p:cNvPr id="5" name="Text 2"/>
          <p:cNvSpPr/>
          <p:nvPr/>
        </p:nvSpPr>
        <p:spPr>
          <a:xfrm>
            <a:off x="530352" y="1938528"/>
            <a:ext cx="5605272" cy="1252728"/>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Parts pricing</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policy</a:t>
            </a:r>
            <a:endParaRPr lang="en-US" sz="4000" dirty="0"/>
          </a:p>
        </p:txBody>
      </p:sp>
      <p:sp>
        <p:nvSpPr>
          <p:cNvPr id="6" name="Text 3"/>
          <p:cNvSpPr/>
          <p:nvPr/>
        </p:nvSpPr>
        <p:spPr>
          <a:xfrm>
            <a:off x="530352" y="3621024"/>
            <a:ext cx="5440680" cy="850392"/>
          </a:xfrm>
          <a:prstGeom prst="rect">
            <a:avLst/>
          </a:prstGeom>
          <a:noFill/>
          <a:ln/>
        </p:spPr>
        <p:txBody>
          <a:bodyPr wrap="square" lIns="0" tIns="0" rIns="0" bIns="0" rtlCol="0" anchor="t">
            <a:normAutofit/>
          </a:bodyPr>
          <a:lstStyle/>
          <a:p>
            <a:pPr indent="0" marL="0">
              <a:buNone/>
            </a:pPr>
            <a:r>
              <a:rPr lang="en-US" sz="2400" dirty="0">
                <a:solidFill>
                  <a:srgbClr val="C8D1D7"/>
                </a:solidFill>
                <a:latin typeface="Arial" pitchFamily="34" charset="0"/>
                <a:ea typeface="Arial" pitchFamily="34" charset="-122"/>
                <a:cs typeface="Arial" pitchFamily="34" charset="-120"/>
              </a:rPr>
              <a:t>From price classes</a:t>
            </a:r>
            <a:endParaRPr lang="en-US" sz="2400" dirty="0"/>
          </a:p>
          <a:p>
            <a:pPr indent="0" marL="0">
              <a:buNone/>
            </a:pPr>
            <a:r>
              <a:rPr lang="en-US" sz="2400" dirty="0">
                <a:solidFill>
                  <a:srgbClr val="C8D1D7"/>
                </a:solidFill>
                <a:latin typeface="Arial" pitchFamily="34" charset="0"/>
                <a:ea typeface="Arial" pitchFamily="34" charset="-122"/>
                <a:cs typeface="Arial" pitchFamily="34" charset="-120"/>
              </a:rPr>
              <a:t>to part-level market pricing</a:t>
            </a:r>
            <a:endParaRPr lang="en-US" sz="2400" dirty="0"/>
          </a:p>
        </p:txBody>
      </p:sp>
      <p:sp>
        <p:nvSpPr>
          <p:cNvPr id="7" name="Shape 4"/>
          <p:cNvSpPr/>
          <p:nvPr/>
        </p:nvSpPr>
        <p:spPr>
          <a:xfrm>
            <a:off x="530352" y="4782312"/>
            <a:ext cx="3584448" cy="0"/>
          </a:xfrm>
          <a:prstGeom prst="line">
            <a:avLst/>
          </a:prstGeom>
          <a:noFill/>
          <a:ln w="31750">
            <a:solidFill>
              <a:srgbClr val="ED0016"/>
            </a:solidFill>
            <a:prstDash val="solid"/>
            <a:headEnd type="none"/>
            <a:tailEnd type="none"/>
          </a:ln>
        </p:spPr>
      </p:sp>
      <p:sp>
        <p:nvSpPr>
          <p:cNvPr id="8" name="Text 5"/>
          <p:cNvSpPr/>
          <p:nvPr/>
        </p:nvSpPr>
        <p:spPr>
          <a:xfrm>
            <a:off x="530352" y="5129784"/>
            <a:ext cx="5513832" cy="347472"/>
          </a:xfrm>
          <a:prstGeom prst="rect">
            <a:avLst/>
          </a:prstGeom>
          <a:noFill/>
          <a:ln/>
        </p:spPr>
        <p:txBody>
          <a:bodyPr wrap="square" lIns="0" tIns="0" rIns="0" bIns="0" rtlCol="0" anchor="ctr">
            <a:normAutofit/>
          </a:bodyPr>
          <a:lstStyle/>
          <a:p>
            <a:pPr indent="0" marL="0">
              <a:buNone/>
            </a:pPr>
            <a:r>
              <a:rPr lang="en-US" sz="1850" b="1" dirty="0">
                <a:solidFill>
                  <a:srgbClr val="FFFFFF"/>
                </a:solidFill>
                <a:latin typeface="Arial" pitchFamily="34" charset="0"/>
                <a:ea typeface="Arial" pitchFamily="34" charset="-122"/>
                <a:cs typeface="Arial" pitchFamily="34" charset="-120"/>
              </a:rPr>
              <a:t>Management information and approval</a:t>
            </a:r>
            <a:endParaRPr lang="en-US" sz="1850" dirty="0"/>
          </a:p>
        </p:txBody>
      </p:sp>
      <p:sp>
        <p:nvSpPr>
          <p:cNvPr id="9" name="Text 6"/>
          <p:cNvSpPr/>
          <p:nvPr/>
        </p:nvSpPr>
        <p:spPr>
          <a:xfrm>
            <a:off x="530352" y="5596128"/>
            <a:ext cx="5394960" cy="292608"/>
          </a:xfrm>
          <a:prstGeom prst="rect">
            <a:avLst/>
          </a:prstGeom>
          <a:noFill/>
          <a:ln/>
        </p:spPr>
        <p:txBody>
          <a:bodyPr wrap="square" lIns="0" tIns="0" rIns="0" bIns="0" rtlCol="0" anchor="ctr">
            <a:normAutofit/>
          </a:bodyPr>
          <a:lstStyle/>
          <a:p>
            <a:pPr indent="0" marL="0">
              <a:buNone/>
            </a:pPr>
            <a:r>
              <a:rPr lang="en-US" sz="1350" dirty="0">
                <a:solidFill>
                  <a:srgbClr val="C8D1D7"/>
                </a:solidFill>
                <a:latin typeface="Arial" pitchFamily="34" charset="0"/>
                <a:ea typeface="Arial" pitchFamily="34" charset="-122"/>
                <a:cs typeface="Arial" pitchFamily="34" charset="-120"/>
              </a:rPr>
              <a:t>Version 1.2  |  19 September 2026</a:t>
            </a:r>
            <a:endParaRPr lang="en-US" sz="1350" dirty="0"/>
          </a:p>
        </p:txBody>
      </p:sp>
      <p:sp>
        <p:nvSpPr>
          <p:cNvPr id="10" name="Text 7"/>
          <p:cNvSpPr/>
          <p:nvPr/>
        </p:nvSpPr>
        <p:spPr>
          <a:xfrm>
            <a:off x="530352" y="6035040"/>
            <a:ext cx="5340096" cy="365760"/>
          </a:xfrm>
          <a:prstGeom prst="rect">
            <a:avLst/>
          </a:prstGeom>
          <a:noFill/>
          <a:ln/>
        </p:spPr>
        <p:txBody>
          <a:bodyPr wrap="square" lIns="0" tIns="0" rIns="0" bIns="0" rtlCol="0" anchor="ctr">
            <a:normAutofit/>
          </a:bodyPr>
          <a:lstStyle/>
          <a:p>
            <a:pPr indent="0" marL="0">
              <a:buNone/>
            </a:pPr>
            <a:r>
              <a:rPr lang="en-US" sz="1150" dirty="0">
                <a:solidFill>
                  <a:srgbClr val="C8D1D7"/>
                </a:solidFill>
                <a:latin typeface="Arial" pitchFamily="34" charset="0"/>
                <a:ea typeface="Arial" pitchFamily="34" charset="-122"/>
                <a:cs typeface="Arial" pitchFamily="34" charset="-120"/>
              </a:rPr>
              <a:t>Proposed policy; final price decisions remain subject to approval.</a:t>
            </a:r>
            <a:endParaRPr lang="en-US" sz="1150" dirty="0"/>
          </a:p>
        </p:txBody>
      </p:sp>
    </p:spTree>
  </p:cSld>
  <p:clrMapOvr>
    <a:masterClrMapping/>
  </p:clrMapOvr>
  <p:transition spd="fast" advClick="1">
    <p:fade/>
  </p:transition>
</p:sld>
</file>

<file path=ppt/slides/slide2.xml><?xml version="1.0" encoding="utf-8"?>
<p:sld xmlns:a="http://schemas.openxmlformats.org/drawingml/2006/main" xmlns:r="http://schemas.openxmlformats.org/officeDocument/2006/relationships" xmlns:p="http://schemas.openxmlformats.org/presentationml/2006/main">
  <p:cSld name="Version 1.2 - 02">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C8D1D7"/>
                </a:solidFill>
                <a:latin typeface="Arial" pitchFamily="34" charset="0"/>
                <a:ea typeface="Arial" pitchFamily="34" charset="-122"/>
                <a:cs typeface="Arial" pitchFamily="34" charset="-120"/>
              </a:rPr>
              <a:t>THE COMMERCIAL CASE</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FFFFFF"/>
                </a:solidFill>
                <a:latin typeface="Arial" pitchFamily="34" charset="0"/>
                <a:ea typeface="Arial" pitchFamily="34" charset="-122"/>
                <a:cs typeface="Arial" pitchFamily="34" charset="-120"/>
              </a:rPr>
              <a:t>Higher turnover starts with stronger distributor offers.</a:t>
            </a:r>
            <a:endParaRPr lang="en-US" sz="3100" dirty="0"/>
          </a:p>
        </p:txBody>
      </p:sp>
      <p:sp>
        <p:nvSpPr>
          <p:cNvPr id="5" name="Shape 3"/>
          <p:cNvSpPr/>
          <p:nvPr/>
        </p:nvSpPr>
        <p:spPr>
          <a:xfrm>
            <a:off x="530352" y="6373368"/>
            <a:ext cx="11128248" cy="0"/>
          </a:xfrm>
          <a:prstGeom prst="line">
            <a:avLst/>
          </a:prstGeom>
          <a:noFill/>
          <a:ln w="10160">
            <a:solidFill>
              <a:srgbClr val="33424C"/>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AEBBC4"/>
                </a:solidFill>
                <a:latin typeface="Arial" pitchFamily="34" charset="0"/>
                <a:ea typeface="Arial" pitchFamily="34" charset="-122"/>
                <a:cs typeface="Arial" pitchFamily="34" charset="-120"/>
              </a:rPr>
              <a:t>Source: management briefing and Pricing Master. Commercial opportunities, not a sales-growth forecast.</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C8D1D7"/>
                </a:solidFill>
                <a:latin typeface="Arial" pitchFamily="34" charset="0"/>
                <a:ea typeface="Arial" pitchFamily="34" charset="-122"/>
                <a:cs typeface="Arial" pitchFamily="34" charset="-120"/>
              </a:rPr>
              <a:t>v1.2  |  02</a:t>
            </a:r>
            <a:endParaRPr lang="en-US" sz="940" dirty="0"/>
          </a:p>
        </p:txBody>
      </p:sp>
      <p:sp>
        <p:nvSpPr>
          <p:cNvPr id="8" name="Shape 6"/>
          <p:cNvSpPr/>
          <p:nvPr/>
        </p:nvSpPr>
        <p:spPr>
          <a:xfrm>
            <a:off x="530352" y="2057400"/>
            <a:ext cx="3465576" cy="0"/>
          </a:xfrm>
          <a:prstGeom prst="line">
            <a:avLst/>
          </a:prstGeom>
          <a:noFill/>
          <a:ln w="25400">
            <a:solidFill>
              <a:srgbClr val="ED0016"/>
            </a:solidFill>
            <a:prstDash val="solid"/>
            <a:headEnd type="none"/>
            <a:tailEnd type="none"/>
          </a:ln>
        </p:spPr>
      </p:sp>
      <p:sp>
        <p:nvSpPr>
          <p:cNvPr id="9" name="Text 7"/>
          <p:cNvSpPr/>
          <p:nvPr/>
        </p:nvSpPr>
        <p:spPr>
          <a:xfrm>
            <a:off x="530352" y="2295144"/>
            <a:ext cx="3465576" cy="521208"/>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rial" pitchFamily="34" charset="0"/>
                <a:ea typeface="Arial" pitchFamily="34" charset="-122"/>
                <a:cs typeface="Arial" pitchFamily="34" charset="-120"/>
              </a:rPr>
              <a:t>COMPETE</a:t>
            </a:r>
            <a:endParaRPr lang="en-US" sz="2800" dirty="0"/>
          </a:p>
        </p:txBody>
      </p:sp>
      <p:sp>
        <p:nvSpPr>
          <p:cNvPr id="10" name="Text 8"/>
          <p:cNvSpPr/>
          <p:nvPr/>
        </p:nvSpPr>
        <p:spPr>
          <a:xfrm>
            <a:off x="530352" y="2962656"/>
            <a:ext cx="3429000" cy="612648"/>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rial" pitchFamily="34" charset="0"/>
                <a:ea typeface="Arial" pitchFamily="34" charset="-122"/>
                <a:cs typeface="Arial" pitchFamily="34" charset="-120"/>
              </a:rPr>
              <a:t>Give distributors room.</a:t>
            </a:r>
            <a:endParaRPr lang="en-US" sz="2300" dirty="0"/>
          </a:p>
        </p:txBody>
      </p:sp>
      <p:sp>
        <p:nvSpPr>
          <p:cNvPr id="11" name="Text 9"/>
          <p:cNvSpPr/>
          <p:nvPr/>
        </p:nvSpPr>
        <p:spPr>
          <a:xfrm>
            <a:off x="530352" y="3776472"/>
            <a:ext cx="3401568" cy="1078992"/>
          </a:xfrm>
          <a:prstGeom prst="rect">
            <a:avLst/>
          </a:prstGeom>
          <a:noFill/>
          <a:ln/>
        </p:spPr>
        <p:txBody>
          <a:bodyPr wrap="square" lIns="0" tIns="0" rIns="0" bIns="0" rtlCol="0" anchor="t">
            <a:normAutofit/>
          </a:bodyPr>
          <a:lstStyle/>
          <a:p>
            <a:pPr indent="0" marL="0">
              <a:buNone/>
            </a:pPr>
            <a:r>
              <a:rPr lang="en-US" sz="1900" dirty="0">
                <a:solidFill>
                  <a:srgbClr val="C8D1D7"/>
                </a:solidFill>
                <a:latin typeface="Arial" pitchFamily="34" charset="0"/>
                <a:ea typeface="Arial" pitchFamily="34" charset="-122"/>
                <a:cs typeface="Arial" pitchFamily="34" charset="-120"/>
              </a:rPr>
              <a:t>Position selected service parts so distributors can support their dealers against the independent aftermarket.</a:t>
            </a:r>
            <a:endParaRPr lang="en-US" sz="1900" dirty="0"/>
          </a:p>
        </p:txBody>
      </p:sp>
      <p:sp>
        <p:nvSpPr>
          <p:cNvPr id="12" name="Shape 10"/>
          <p:cNvSpPr/>
          <p:nvPr/>
        </p:nvSpPr>
        <p:spPr>
          <a:xfrm>
            <a:off x="4343400" y="2057400"/>
            <a:ext cx="3465576" cy="0"/>
          </a:xfrm>
          <a:prstGeom prst="line">
            <a:avLst/>
          </a:prstGeom>
          <a:noFill/>
          <a:ln w="25400">
            <a:solidFill>
              <a:srgbClr val="ED0016"/>
            </a:solidFill>
            <a:prstDash val="solid"/>
            <a:headEnd type="none"/>
            <a:tailEnd type="none"/>
          </a:ln>
        </p:spPr>
      </p:sp>
      <p:sp>
        <p:nvSpPr>
          <p:cNvPr id="13" name="Text 11"/>
          <p:cNvSpPr/>
          <p:nvPr/>
        </p:nvSpPr>
        <p:spPr>
          <a:xfrm>
            <a:off x="4343400" y="2295144"/>
            <a:ext cx="3465576" cy="521208"/>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rial" pitchFamily="34" charset="0"/>
                <a:ea typeface="Arial" pitchFamily="34" charset="-122"/>
                <a:cs typeface="Arial" pitchFamily="34" charset="-120"/>
              </a:rPr>
              <a:t>RETAIN</a:t>
            </a:r>
            <a:endParaRPr lang="en-US" sz="2800" dirty="0"/>
          </a:p>
        </p:txBody>
      </p:sp>
      <p:sp>
        <p:nvSpPr>
          <p:cNvPr id="14" name="Text 12"/>
          <p:cNvSpPr/>
          <p:nvPr/>
        </p:nvSpPr>
        <p:spPr>
          <a:xfrm>
            <a:off x="4343400" y="2962656"/>
            <a:ext cx="3429000" cy="612648"/>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rial" pitchFamily="34" charset="0"/>
                <a:ea typeface="Arial" pitchFamily="34" charset="-122"/>
                <a:cs typeface="Arial" pitchFamily="34" charset="-120"/>
              </a:rPr>
              <a:t>Win repeat relationships.</a:t>
            </a:r>
            <a:endParaRPr lang="en-US" sz="2300" dirty="0"/>
          </a:p>
        </p:txBody>
      </p:sp>
      <p:sp>
        <p:nvSpPr>
          <p:cNvPr id="15" name="Text 13"/>
          <p:cNvSpPr/>
          <p:nvPr/>
        </p:nvSpPr>
        <p:spPr>
          <a:xfrm>
            <a:off x="4343400" y="3776472"/>
            <a:ext cx="3401568" cy="1078992"/>
          </a:xfrm>
          <a:prstGeom prst="rect">
            <a:avLst/>
          </a:prstGeom>
          <a:noFill/>
          <a:ln/>
        </p:spPr>
        <p:txBody>
          <a:bodyPr wrap="square" lIns="0" tIns="0" rIns="0" bIns="0" rtlCol="0" anchor="t">
            <a:normAutofit/>
          </a:bodyPr>
          <a:lstStyle/>
          <a:p>
            <a:pPr indent="0" marL="0">
              <a:buNone/>
            </a:pPr>
            <a:r>
              <a:rPr lang="en-US" sz="1900" dirty="0">
                <a:solidFill>
                  <a:srgbClr val="C8D1D7"/>
                </a:solidFill>
                <a:latin typeface="Arial" pitchFamily="34" charset="0"/>
                <a:ea typeface="Arial" pitchFamily="34" charset="-122"/>
                <a:cs typeface="Arial" pitchFamily="34" charset="-120"/>
              </a:rPr>
              <a:t>A viable offer can help the network win and retain maintenance business, supporting repeated parts orders.</a:t>
            </a:r>
            <a:endParaRPr lang="en-US" sz="1900" dirty="0"/>
          </a:p>
        </p:txBody>
      </p:sp>
      <p:sp>
        <p:nvSpPr>
          <p:cNvPr id="16" name="Shape 14"/>
          <p:cNvSpPr/>
          <p:nvPr/>
        </p:nvSpPr>
        <p:spPr>
          <a:xfrm>
            <a:off x="8156448" y="2057400"/>
            <a:ext cx="3465576" cy="0"/>
          </a:xfrm>
          <a:prstGeom prst="line">
            <a:avLst/>
          </a:prstGeom>
          <a:noFill/>
          <a:ln w="25400">
            <a:solidFill>
              <a:srgbClr val="ED0016"/>
            </a:solidFill>
            <a:prstDash val="solid"/>
            <a:headEnd type="none"/>
            <a:tailEnd type="none"/>
          </a:ln>
        </p:spPr>
      </p:sp>
      <p:sp>
        <p:nvSpPr>
          <p:cNvPr id="17" name="Text 15"/>
          <p:cNvSpPr/>
          <p:nvPr/>
        </p:nvSpPr>
        <p:spPr>
          <a:xfrm>
            <a:off x="8156448" y="2295144"/>
            <a:ext cx="3465576" cy="521208"/>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rial" pitchFamily="34" charset="0"/>
                <a:ea typeface="Arial" pitchFamily="34" charset="-122"/>
                <a:cs typeface="Arial" pitchFamily="34" charset="-120"/>
              </a:rPr>
              <a:t>EARN</a:t>
            </a:r>
            <a:endParaRPr lang="en-US" sz="2800" dirty="0"/>
          </a:p>
        </p:txBody>
      </p:sp>
      <p:sp>
        <p:nvSpPr>
          <p:cNvPr id="18" name="Text 16"/>
          <p:cNvSpPr/>
          <p:nvPr/>
        </p:nvSpPr>
        <p:spPr>
          <a:xfrm>
            <a:off x="8156448" y="2962656"/>
            <a:ext cx="3429000" cy="612648"/>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rial" pitchFamily="34" charset="0"/>
                <a:ea typeface="Arial" pitchFamily="34" charset="-122"/>
                <a:cs typeface="Arial" pitchFamily="34" charset="-120"/>
              </a:rPr>
              <a:t>Price selectively, not uniformly.</a:t>
            </a:r>
            <a:endParaRPr lang="en-US" sz="2300" dirty="0"/>
          </a:p>
        </p:txBody>
      </p:sp>
      <p:sp>
        <p:nvSpPr>
          <p:cNvPr id="19" name="Text 17"/>
          <p:cNvSpPr/>
          <p:nvPr/>
        </p:nvSpPr>
        <p:spPr>
          <a:xfrm>
            <a:off x="8156448" y="3776472"/>
            <a:ext cx="3401568" cy="1078992"/>
          </a:xfrm>
          <a:prstGeom prst="rect">
            <a:avLst/>
          </a:prstGeom>
          <a:noFill/>
          <a:ln/>
        </p:spPr>
        <p:txBody>
          <a:bodyPr wrap="square" lIns="0" tIns="0" rIns="0" bIns="0" rtlCol="0" anchor="t">
            <a:normAutofit/>
          </a:bodyPr>
          <a:lstStyle/>
          <a:p>
            <a:pPr indent="0" marL="0">
              <a:buNone/>
            </a:pPr>
            <a:r>
              <a:rPr lang="en-US" sz="1900" dirty="0">
                <a:solidFill>
                  <a:srgbClr val="C8D1D7"/>
                </a:solidFill>
                <a:latin typeface="Arial" pitchFamily="34" charset="0"/>
                <a:ea typeface="Arial" pitchFamily="34" charset="-122"/>
                <a:cs typeface="Arial" pitchFamily="34" charset="-120"/>
              </a:rPr>
              <a:t>Avoid unnecessary concessions and consider justified increases where the genuine offer has a clear advantage.</a:t>
            </a:r>
            <a:endParaRPr lang="en-US" sz="1900" dirty="0"/>
          </a:p>
        </p:txBody>
      </p:sp>
      <p:sp>
        <p:nvSpPr>
          <p:cNvPr id="20" name="Text 18"/>
          <p:cNvSpPr/>
          <p:nvPr/>
        </p:nvSpPr>
        <p:spPr>
          <a:xfrm>
            <a:off x="530352" y="5276088"/>
            <a:ext cx="11128248" cy="411480"/>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Arial" pitchFamily="34" charset="0"/>
                <a:ea typeface="Arial" pitchFamily="34" charset="-122"/>
                <a:cs typeface="Arial" pitchFamily="34" charset="-120"/>
              </a:rPr>
              <a:t>ISZE  →  Distributor  →  Dealer  →  End customer</a:t>
            </a:r>
            <a:endParaRPr lang="en-US" sz="2200" dirty="0"/>
          </a:p>
        </p:txBody>
      </p:sp>
      <p:sp>
        <p:nvSpPr>
          <p:cNvPr id="21" name="Shape 19"/>
          <p:cNvSpPr/>
          <p:nvPr/>
        </p:nvSpPr>
        <p:spPr>
          <a:xfrm>
            <a:off x="530352" y="5806440"/>
            <a:ext cx="41148" cy="393192"/>
          </a:xfrm>
          <a:prstGeom prst="rect">
            <a:avLst/>
          </a:prstGeom>
          <a:solidFill>
            <a:srgbClr val="ED0016"/>
          </a:solidFill>
          <a:ln w="12700">
            <a:solidFill>
              <a:srgbClr val="ED0016"/>
            </a:solidFill>
            <a:prstDash val="solid"/>
          </a:ln>
        </p:spPr>
      </p:sp>
      <p:sp>
        <p:nvSpPr>
          <p:cNvPr id="22" name="Text 20"/>
          <p:cNvSpPr/>
          <p:nvPr/>
        </p:nvSpPr>
        <p:spPr>
          <a:xfrm>
            <a:off x="713232" y="5797296"/>
            <a:ext cx="10908792" cy="43891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Our commercial result is parts billed to distributors and the gross profit earned.</a:t>
            </a:r>
            <a:endParaRPr lang="en-US" sz="1900" dirty="0"/>
          </a:p>
        </p:txBody>
      </p:sp>
    </p:spTree>
  </p:cSld>
  <p:clrMapOvr>
    <a:masterClrMapping/>
  </p:clrMapOvr>
  <p:transition spd="fast" advClick="1">
    <p:fade/>
  </p:transition>
</p:sld>
</file>

<file path=ppt/slides/slide3.xml><?xml version="1.0" encoding="utf-8"?>
<p:sld xmlns:a="http://schemas.openxmlformats.org/drawingml/2006/main" xmlns:r="http://schemas.openxmlformats.org/officeDocument/2006/relationships" xmlns:p="http://schemas.openxmlformats.org/presentationml/2006/main">
  <p:cSld name="Version 1.2 - 03">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HOW PRICING WORKED</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17232C"/>
                </a:solidFill>
                <a:latin typeface="Arial" pitchFamily="34" charset="0"/>
                <a:ea typeface="Arial" pitchFamily="34" charset="-122"/>
                <a:cs typeface="Arial" pitchFamily="34" charset="-120"/>
              </a:rPr>
              <a:t>Historically, cost and price class set the selling price.</a:t>
            </a:r>
            <a:endParaRPr lang="en-US" sz="3100" dirty="0"/>
          </a:p>
        </p:txBody>
      </p:sp>
      <p:sp>
        <p:nvSpPr>
          <p:cNvPr id="5" name="Shape 3"/>
          <p:cNvSpPr/>
          <p:nvPr/>
        </p:nvSpPr>
        <p:spPr>
          <a:xfrm>
            <a:off x="530352" y="6373368"/>
            <a:ext cx="11128248" cy="0"/>
          </a:xfrm>
          <a:prstGeom prst="line">
            <a:avLst/>
          </a:prstGeom>
          <a:noFill/>
          <a:ln w="10160">
            <a:solidFill>
              <a:srgbClr val="DCE2E6"/>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687782"/>
                </a:solidFill>
                <a:latin typeface="Arial" pitchFamily="34" charset="0"/>
                <a:ea typeface="Arial" pitchFamily="34" charset="-122"/>
                <a:cs typeface="Arial" pitchFamily="34" charset="-120"/>
              </a:rPr>
              <a:t>Source: Pricing Master. Historical formula margin is before selling support and other relevant costs.</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687782"/>
                </a:solidFill>
                <a:latin typeface="Arial" pitchFamily="34" charset="0"/>
                <a:ea typeface="Arial" pitchFamily="34" charset="-122"/>
                <a:cs typeface="Arial" pitchFamily="34" charset="-120"/>
              </a:rPr>
              <a:t>v1.2  |  03</a:t>
            </a:r>
            <a:endParaRPr lang="en-US" sz="940" dirty="0"/>
          </a:p>
        </p:txBody>
      </p:sp>
      <p:sp>
        <p:nvSpPr>
          <p:cNvPr id="8" name="Text 6"/>
          <p:cNvSpPr/>
          <p:nvPr/>
        </p:nvSpPr>
        <p:spPr>
          <a:xfrm>
            <a:off x="530352" y="1856232"/>
            <a:ext cx="859536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THE HISTORICAL CALCULATION</a:t>
            </a:r>
            <a:endParaRPr lang="en-US" sz="1050" dirty="0"/>
          </a:p>
        </p:txBody>
      </p:sp>
      <p:sp>
        <p:nvSpPr>
          <p:cNvPr id="9" name="Shape 7"/>
          <p:cNvSpPr/>
          <p:nvPr/>
        </p:nvSpPr>
        <p:spPr>
          <a:xfrm>
            <a:off x="530352" y="2350008"/>
            <a:ext cx="1865376" cy="1746504"/>
          </a:xfrm>
          <a:prstGeom prst="rect">
            <a:avLst/>
          </a:prstGeom>
          <a:solidFill>
            <a:srgbClr val="F0F3F5"/>
          </a:solidFill>
          <a:ln w="12700">
            <a:solidFill>
              <a:srgbClr val="F0F3F5"/>
            </a:solidFill>
            <a:prstDash val="solid"/>
          </a:ln>
        </p:spPr>
      </p:sp>
      <p:sp>
        <p:nvSpPr>
          <p:cNvPr id="10" name="Text 8"/>
          <p:cNvSpPr/>
          <p:nvPr/>
        </p:nvSpPr>
        <p:spPr>
          <a:xfrm>
            <a:off x="676656" y="2523744"/>
            <a:ext cx="1572768" cy="402336"/>
          </a:xfrm>
          <a:prstGeom prst="rect">
            <a:avLst/>
          </a:prstGeom>
          <a:noFill/>
          <a:ln/>
        </p:spPr>
        <p:txBody>
          <a:bodyPr wrap="square" lIns="0" tIns="0" rIns="0" bIns="0" rtlCol="0" anchor="ctr">
            <a:normAutofit/>
          </a:bodyPr>
          <a:lstStyle/>
          <a:p>
            <a:pPr indent="0" marL="0">
              <a:buNone/>
            </a:pPr>
            <a:r>
              <a:rPr lang="en-US" sz="1800" b="1" dirty="0">
                <a:solidFill>
                  <a:srgbClr val="17232C"/>
                </a:solidFill>
                <a:latin typeface="Arial" pitchFamily="34" charset="0"/>
                <a:ea typeface="Arial" pitchFamily="34" charset="-122"/>
                <a:cs typeface="Arial" pitchFamily="34" charset="-120"/>
              </a:rPr>
              <a:t>Supplier base</a:t>
            </a:r>
            <a:endParaRPr lang="en-US" sz="1800" dirty="0"/>
          </a:p>
        </p:txBody>
      </p:sp>
      <p:sp>
        <p:nvSpPr>
          <p:cNvPr id="11" name="Text 9"/>
          <p:cNvSpPr/>
          <p:nvPr/>
        </p:nvSpPr>
        <p:spPr>
          <a:xfrm>
            <a:off x="676656" y="3099816"/>
            <a:ext cx="1572768" cy="338328"/>
          </a:xfrm>
          <a:prstGeom prst="rect">
            <a:avLst/>
          </a:prstGeom>
          <a:noFill/>
          <a:ln/>
        </p:spPr>
        <p:txBody>
          <a:bodyPr wrap="square" lIns="0" tIns="0" rIns="0" bIns="0" rtlCol="0" anchor="ctr">
            <a:normAutofit/>
          </a:bodyPr>
          <a:lstStyle/>
          <a:p>
            <a:pPr indent="0" marL="0">
              <a:buNone/>
            </a:pPr>
            <a:r>
              <a:rPr lang="en-US" sz="2000" b="1" dirty="0">
                <a:solidFill>
                  <a:srgbClr val="17232C"/>
                </a:solidFill>
                <a:latin typeface="Arial" pitchFamily="34" charset="0"/>
                <a:ea typeface="Arial" pitchFamily="34" charset="-122"/>
                <a:cs typeface="Arial" pitchFamily="34" charset="-120"/>
              </a:rPr>
              <a:t>Yen</a:t>
            </a:r>
            <a:endParaRPr lang="en-US" sz="2000" dirty="0"/>
          </a:p>
        </p:txBody>
      </p:sp>
      <p:sp>
        <p:nvSpPr>
          <p:cNvPr id="12" name="Text 10"/>
          <p:cNvSpPr/>
          <p:nvPr/>
        </p:nvSpPr>
        <p:spPr>
          <a:xfrm>
            <a:off x="676656" y="3621024"/>
            <a:ext cx="1572768" cy="338328"/>
          </a:xfrm>
          <a:prstGeom prst="rect">
            <a:avLst/>
          </a:prstGeom>
          <a:noFill/>
          <a:ln/>
        </p:spPr>
        <p:txBody>
          <a:bodyPr wrap="square" lIns="0" tIns="0" rIns="0" bIns="0" rtlCol="0" anchor="ctr">
            <a:normAutofit/>
          </a:bodyPr>
          <a:lstStyle/>
          <a:p>
            <a:pPr indent="0" marL="0">
              <a:buNone/>
            </a:pPr>
            <a:r>
              <a:rPr lang="en-US" sz="1380" dirty="0">
                <a:solidFill>
                  <a:srgbClr val="687782"/>
                </a:solidFill>
                <a:latin typeface="Arial" pitchFamily="34" charset="0"/>
                <a:ea typeface="Arial" pitchFamily="34" charset="-122"/>
                <a:cs typeface="Arial" pitchFamily="34" charset="-120"/>
              </a:rPr>
              <a:t>Set by the parts source</a:t>
            </a:r>
            <a:endParaRPr lang="en-US" sz="1380" dirty="0"/>
          </a:p>
        </p:txBody>
      </p:sp>
      <p:sp>
        <p:nvSpPr>
          <p:cNvPr id="13" name="Shape 11"/>
          <p:cNvSpPr/>
          <p:nvPr/>
        </p:nvSpPr>
        <p:spPr>
          <a:xfrm>
            <a:off x="2724912" y="2350008"/>
            <a:ext cx="1865376" cy="1746504"/>
          </a:xfrm>
          <a:prstGeom prst="rect">
            <a:avLst/>
          </a:prstGeom>
          <a:solidFill>
            <a:srgbClr val="F0F3F5"/>
          </a:solidFill>
          <a:ln w="12700">
            <a:solidFill>
              <a:srgbClr val="F0F3F5"/>
            </a:solidFill>
            <a:prstDash val="solid"/>
          </a:ln>
        </p:spPr>
      </p:sp>
      <p:sp>
        <p:nvSpPr>
          <p:cNvPr id="14" name="Text 12"/>
          <p:cNvSpPr/>
          <p:nvPr/>
        </p:nvSpPr>
        <p:spPr>
          <a:xfrm>
            <a:off x="2871216" y="2523744"/>
            <a:ext cx="1572768" cy="402336"/>
          </a:xfrm>
          <a:prstGeom prst="rect">
            <a:avLst/>
          </a:prstGeom>
          <a:noFill/>
          <a:ln/>
        </p:spPr>
        <p:txBody>
          <a:bodyPr wrap="square" lIns="0" tIns="0" rIns="0" bIns="0" rtlCol="0" anchor="ctr">
            <a:normAutofit/>
          </a:bodyPr>
          <a:lstStyle/>
          <a:p>
            <a:pPr indent="0" marL="0">
              <a:buNone/>
            </a:pPr>
            <a:r>
              <a:rPr lang="en-US" sz="1800" b="1" dirty="0">
                <a:solidFill>
                  <a:srgbClr val="17232C"/>
                </a:solidFill>
                <a:latin typeface="Arial" pitchFamily="34" charset="0"/>
                <a:ea typeface="Arial" pitchFamily="34" charset="-122"/>
                <a:cs typeface="Arial" pitchFamily="34" charset="-120"/>
              </a:rPr>
              <a:t>Corporate rate</a:t>
            </a:r>
            <a:endParaRPr lang="en-US" sz="1800" dirty="0"/>
          </a:p>
        </p:txBody>
      </p:sp>
      <p:sp>
        <p:nvSpPr>
          <p:cNvPr id="15" name="Text 13"/>
          <p:cNvSpPr/>
          <p:nvPr/>
        </p:nvSpPr>
        <p:spPr>
          <a:xfrm>
            <a:off x="2871216" y="3099816"/>
            <a:ext cx="1572768" cy="338328"/>
          </a:xfrm>
          <a:prstGeom prst="rect">
            <a:avLst/>
          </a:prstGeom>
          <a:noFill/>
          <a:ln/>
        </p:spPr>
        <p:txBody>
          <a:bodyPr wrap="square" lIns="0" tIns="0" rIns="0" bIns="0" rtlCol="0" anchor="ctr">
            <a:normAutofit/>
          </a:bodyPr>
          <a:lstStyle/>
          <a:p>
            <a:pPr indent="0" marL="0">
              <a:buNone/>
            </a:pPr>
            <a:r>
              <a:rPr lang="en-US" sz="2000" b="1" dirty="0">
                <a:solidFill>
                  <a:srgbClr val="17232C"/>
                </a:solidFill>
                <a:latin typeface="Arial" pitchFamily="34" charset="0"/>
                <a:ea typeface="Arial" pitchFamily="34" charset="-122"/>
                <a:cs typeface="Arial" pitchFamily="34" charset="-120"/>
              </a:rPr>
              <a:t>JPY per EUR</a:t>
            </a:r>
            <a:endParaRPr lang="en-US" sz="2000" dirty="0"/>
          </a:p>
        </p:txBody>
      </p:sp>
      <p:sp>
        <p:nvSpPr>
          <p:cNvPr id="16" name="Text 14"/>
          <p:cNvSpPr/>
          <p:nvPr/>
        </p:nvSpPr>
        <p:spPr>
          <a:xfrm>
            <a:off x="2871216" y="3621024"/>
            <a:ext cx="1572768" cy="338328"/>
          </a:xfrm>
          <a:prstGeom prst="rect">
            <a:avLst/>
          </a:prstGeom>
          <a:noFill/>
          <a:ln/>
        </p:spPr>
        <p:txBody>
          <a:bodyPr wrap="square" lIns="0" tIns="0" rIns="0" bIns="0" rtlCol="0" anchor="ctr">
            <a:normAutofit/>
          </a:bodyPr>
          <a:lstStyle/>
          <a:p>
            <a:pPr indent="0" marL="0">
              <a:buNone/>
            </a:pPr>
            <a:r>
              <a:rPr lang="en-US" sz="1380" dirty="0">
                <a:solidFill>
                  <a:srgbClr val="687782"/>
                </a:solidFill>
                <a:latin typeface="Arial" pitchFamily="34" charset="0"/>
                <a:ea typeface="Arial" pitchFamily="34" charset="-122"/>
                <a:cs typeface="Arial" pitchFamily="34" charset="-120"/>
              </a:rPr>
              <a:t>Convert the yen base to euros</a:t>
            </a:r>
            <a:endParaRPr lang="en-US" sz="1380" dirty="0"/>
          </a:p>
        </p:txBody>
      </p:sp>
      <p:sp>
        <p:nvSpPr>
          <p:cNvPr id="17" name="Shape 15"/>
          <p:cNvSpPr/>
          <p:nvPr/>
        </p:nvSpPr>
        <p:spPr>
          <a:xfrm>
            <a:off x="4882896" y="2350008"/>
            <a:ext cx="1865376" cy="1746504"/>
          </a:xfrm>
          <a:prstGeom prst="rect">
            <a:avLst/>
          </a:prstGeom>
          <a:solidFill>
            <a:srgbClr val="F0F3F5"/>
          </a:solidFill>
          <a:ln w="12700">
            <a:solidFill>
              <a:srgbClr val="F0F3F5"/>
            </a:solidFill>
            <a:prstDash val="solid"/>
          </a:ln>
        </p:spPr>
      </p:sp>
      <p:sp>
        <p:nvSpPr>
          <p:cNvPr id="18" name="Text 16"/>
          <p:cNvSpPr/>
          <p:nvPr/>
        </p:nvSpPr>
        <p:spPr>
          <a:xfrm>
            <a:off x="5029200" y="2523744"/>
            <a:ext cx="1572768" cy="402336"/>
          </a:xfrm>
          <a:prstGeom prst="rect">
            <a:avLst/>
          </a:prstGeom>
          <a:noFill/>
          <a:ln/>
        </p:spPr>
        <p:txBody>
          <a:bodyPr wrap="square" lIns="0" tIns="0" rIns="0" bIns="0" rtlCol="0" anchor="ctr">
            <a:normAutofit/>
          </a:bodyPr>
          <a:lstStyle/>
          <a:p>
            <a:pPr indent="0" marL="0">
              <a:buNone/>
            </a:pPr>
            <a:r>
              <a:rPr lang="en-US" sz="1800" b="1" dirty="0">
                <a:solidFill>
                  <a:srgbClr val="17232C"/>
                </a:solidFill>
                <a:latin typeface="Arial" pitchFamily="34" charset="0"/>
                <a:ea typeface="Arial" pitchFamily="34" charset="-122"/>
                <a:cs typeface="Arial" pitchFamily="34" charset="-120"/>
              </a:rPr>
              <a:t>Purchase terms</a:t>
            </a:r>
            <a:endParaRPr lang="en-US" sz="1800" dirty="0"/>
          </a:p>
        </p:txBody>
      </p:sp>
      <p:sp>
        <p:nvSpPr>
          <p:cNvPr id="19" name="Text 17"/>
          <p:cNvSpPr/>
          <p:nvPr/>
        </p:nvSpPr>
        <p:spPr>
          <a:xfrm>
            <a:off x="5029200" y="3099816"/>
            <a:ext cx="1572768" cy="338328"/>
          </a:xfrm>
          <a:prstGeom prst="rect">
            <a:avLst/>
          </a:prstGeom>
          <a:noFill/>
          <a:ln/>
        </p:spPr>
        <p:txBody>
          <a:bodyPr wrap="square" lIns="0" tIns="0" rIns="0" bIns="0" rtlCol="0" anchor="ctr">
            <a:normAutofit/>
          </a:bodyPr>
          <a:lstStyle/>
          <a:p>
            <a:pPr indent="0" marL="0">
              <a:buNone/>
            </a:pPr>
            <a:r>
              <a:rPr lang="en-US" sz="2000" b="1" dirty="0">
                <a:solidFill>
                  <a:srgbClr val="17232C"/>
                </a:solidFill>
                <a:latin typeface="Arial" pitchFamily="34" charset="0"/>
                <a:ea typeface="Arial" pitchFamily="34" charset="-122"/>
                <a:cs typeface="Arial" pitchFamily="34" charset="-120"/>
              </a:rPr>
              <a:t>Share paid</a:t>
            </a:r>
            <a:endParaRPr lang="en-US" sz="2000" dirty="0"/>
          </a:p>
        </p:txBody>
      </p:sp>
      <p:sp>
        <p:nvSpPr>
          <p:cNvPr id="20" name="Text 18"/>
          <p:cNvSpPr/>
          <p:nvPr/>
        </p:nvSpPr>
        <p:spPr>
          <a:xfrm>
            <a:off x="5029200" y="3621024"/>
            <a:ext cx="1572768" cy="338328"/>
          </a:xfrm>
          <a:prstGeom prst="rect">
            <a:avLst/>
          </a:prstGeom>
          <a:noFill/>
          <a:ln/>
        </p:spPr>
        <p:txBody>
          <a:bodyPr wrap="square" lIns="0" tIns="0" rIns="0" bIns="0" rtlCol="0" anchor="ctr">
            <a:normAutofit/>
          </a:bodyPr>
          <a:lstStyle/>
          <a:p>
            <a:pPr indent="0" marL="0">
              <a:buNone/>
            </a:pPr>
            <a:r>
              <a:rPr lang="en-US" sz="1380" dirty="0">
                <a:solidFill>
                  <a:srgbClr val="687782"/>
                </a:solidFill>
                <a:latin typeface="Arial" pitchFamily="34" charset="0"/>
                <a:ea typeface="Arial" pitchFamily="34" charset="-122"/>
                <a:cs typeface="Arial" pitchFamily="34" charset="-120"/>
              </a:rPr>
              <a:t>Apply the source discount</a:t>
            </a:r>
            <a:endParaRPr lang="en-US" sz="1380" dirty="0"/>
          </a:p>
        </p:txBody>
      </p:sp>
      <p:sp>
        <p:nvSpPr>
          <p:cNvPr id="21" name="Shape 19"/>
          <p:cNvSpPr/>
          <p:nvPr/>
        </p:nvSpPr>
        <p:spPr>
          <a:xfrm>
            <a:off x="7050024" y="2350008"/>
            <a:ext cx="2075688" cy="1746504"/>
          </a:xfrm>
          <a:prstGeom prst="rect">
            <a:avLst/>
          </a:prstGeom>
          <a:solidFill>
            <a:srgbClr val="F0F3F5"/>
          </a:solidFill>
          <a:ln w="12700">
            <a:solidFill>
              <a:srgbClr val="F0F3F5"/>
            </a:solidFill>
            <a:prstDash val="solid"/>
          </a:ln>
        </p:spPr>
      </p:sp>
      <p:sp>
        <p:nvSpPr>
          <p:cNvPr id="22" name="Text 20"/>
          <p:cNvSpPr/>
          <p:nvPr/>
        </p:nvSpPr>
        <p:spPr>
          <a:xfrm>
            <a:off x="7196328" y="2523744"/>
            <a:ext cx="1783080" cy="402336"/>
          </a:xfrm>
          <a:prstGeom prst="rect">
            <a:avLst/>
          </a:prstGeom>
          <a:noFill/>
          <a:ln/>
        </p:spPr>
        <p:txBody>
          <a:bodyPr wrap="square" lIns="0" tIns="0" rIns="0" bIns="0" rtlCol="0" anchor="ctr">
            <a:normAutofit/>
          </a:bodyPr>
          <a:lstStyle/>
          <a:p>
            <a:pPr indent="0" marL="0">
              <a:buNone/>
            </a:pPr>
            <a:r>
              <a:rPr lang="en-US" sz="1800" b="1" dirty="0">
                <a:solidFill>
                  <a:srgbClr val="17232C"/>
                </a:solidFill>
                <a:latin typeface="Arial" pitchFamily="34" charset="0"/>
                <a:ea typeface="Arial" pitchFamily="34" charset="-122"/>
                <a:cs typeface="Arial" pitchFamily="34" charset="-120"/>
              </a:rPr>
              <a:t>Class margin</a:t>
            </a:r>
            <a:endParaRPr lang="en-US" sz="1800" dirty="0"/>
          </a:p>
        </p:txBody>
      </p:sp>
      <p:sp>
        <p:nvSpPr>
          <p:cNvPr id="23" name="Text 21"/>
          <p:cNvSpPr/>
          <p:nvPr/>
        </p:nvSpPr>
        <p:spPr>
          <a:xfrm>
            <a:off x="7196328" y="3099816"/>
            <a:ext cx="1783080" cy="338328"/>
          </a:xfrm>
          <a:prstGeom prst="rect">
            <a:avLst/>
          </a:prstGeom>
          <a:noFill/>
          <a:ln/>
        </p:spPr>
        <p:txBody>
          <a:bodyPr wrap="square" lIns="0" tIns="0" rIns="0" bIns="0" rtlCol="0" anchor="ctr">
            <a:normAutofit/>
          </a:bodyPr>
          <a:lstStyle/>
          <a:p>
            <a:pPr indent="0" marL="0">
              <a:buNone/>
            </a:pPr>
            <a:r>
              <a:rPr lang="en-US" sz="2000" b="1" dirty="0">
                <a:solidFill>
                  <a:srgbClr val="17232C"/>
                </a:solidFill>
                <a:latin typeface="Arial" pitchFamily="34" charset="0"/>
                <a:ea typeface="Arial" pitchFamily="34" charset="-122"/>
                <a:cs typeface="Arial" pitchFamily="34" charset="-120"/>
              </a:rPr>
              <a:t>1 − margin</a:t>
            </a:r>
            <a:endParaRPr lang="en-US" sz="2000" dirty="0"/>
          </a:p>
        </p:txBody>
      </p:sp>
      <p:sp>
        <p:nvSpPr>
          <p:cNvPr id="24" name="Text 22"/>
          <p:cNvSpPr/>
          <p:nvPr/>
        </p:nvSpPr>
        <p:spPr>
          <a:xfrm>
            <a:off x="7196328" y="3621024"/>
            <a:ext cx="1783080" cy="338328"/>
          </a:xfrm>
          <a:prstGeom prst="rect">
            <a:avLst/>
          </a:prstGeom>
          <a:noFill/>
          <a:ln/>
        </p:spPr>
        <p:txBody>
          <a:bodyPr wrap="square" lIns="0" tIns="0" rIns="0" bIns="0" rtlCol="0" anchor="ctr">
            <a:normAutofit/>
          </a:bodyPr>
          <a:lstStyle/>
          <a:p>
            <a:pPr indent="0" marL="0">
              <a:buNone/>
            </a:pPr>
            <a:r>
              <a:rPr lang="en-US" sz="1380" dirty="0">
                <a:solidFill>
                  <a:srgbClr val="687782"/>
                </a:solidFill>
                <a:latin typeface="Arial" pitchFamily="34" charset="0"/>
                <a:ea typeface="Arial" pitchFamily="34" charset="-122"/>
                <a:cs typeface="Arial" pitchFamily="34" charset="-120"/>
              </a:rPr>
              <a:t>Divide formula cost by this amount</a:t>
            </a:r>
            <a:endParaRPr lang="en-US" sz="1380" dirty="0"/>
          </a:p>
        </p:txBody>
      </p:sp>
      <p:sp>
        <p:nvSpPr>
          <p:cNvPr id="25" name="Shape 23"/>
          <p:cNvSpPr/>
          <p:nvPr/>
        </p:nvSpPr>
        <p:spPr>
          <a:xfrm>
            <a:off x="9436608" y="2350008"/>
            <a:ext cx="2221992" cy="1746504"/>
          </a:xfrm>
          <a:prstGeom prst="rect">
            <a:avLst/>
          </a:prstGeom>
          <a:solidFill>
            <a:srgbClr val="17232C"/>
          </a:solidFill>
          <a:ln w="12700">
            <a:solidFill>
              <a:srgbClr val="17232C"/>
            </a:solidFill>
            <a:prstDash val="solid"/>
          </a:ln>
        </p:spPr>
      </p:sp>
      <p:sp>
        <p:nvSpPr>
          <p:cNvPr id="26" name="Text 24"/>
          <p:cNvSpPr/>
          <p:nvPr/>
        </p:nvSpPr>
        <p:spPr>
          <a:xfrm>
            <a:off x="9582912" y="2523744"/>
            <a:ext cx="1929384" cy="402336"/>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rial" pitchFamily="34" charset="0"/>
                <a:ea typeface="Arial" pitchFamily="34" charset="-122"/>
                <a:cs typeface="Arial" pitchFamily="34" charset="-120"/>
              </a:rPr>
              <a:t>ISZE price</a:t>
            </a:r>
            <a:endParaRPr lang="en-US" sz="1800" dirty="0"/>
          </a:p>
        </p:txBody>
      </p:sp>
      <p:sp>
        <p:nvSpPr>
          <p:cNvPr id="27" name="Text 25"/>
          <p:cNvSpPr/>
          <p:nvPr/>
        </p:nvSpPr>
        <p:spPr>
          <a:xfrm>
            <a:off x="9582912" y="3099816"/>
            <a:ext cx="1929384" cy="338328"/>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 per part</a:t>
            </a:r>
            <a:endParaRPr lang="en-US" sz="2000" dirty="0"/>
          </a:p>
        </p:txBody>
      </p:sp>
      <p:sp>
        <p:nvSpPr>
          <p:cNvPr id="28" name="Text 26"/>
          <p:cNvSpPr/>
          <p:nvPr/>
        </p:nvSpPr>
        <p:spPr>
          <a:xfrm>
            <a:off x="9582912" y="3621024"/>
            <a:ext cx="1929384" cy="338328"/>
          </a:xfrm>
          <a:prstGeom prst="rect">
            <a:avLst/>
          </a:prstGeom>
          <a:noFill/>
          <a:ln/>
        </p:spPr>
        <p:txBody>
          <a:bodyPr wrap="square" lIns="0" tIns="0" rIns="0" bIns="0" rtlCol="0" anchor="ctr">
            <a:normAutofit/>
          </a:bodyPr>
          <a:lstStyle/>
          <a:p>
            <a:pPr indent="0" marL="0">
              <a:buNone/>
            </a:pPr>
            <a:r>
              <a:rPr lang="en-US" sz="1380" dirty="0">
                <a:solidFill>
                  <a:srgbClr val="C8D1D7"/>
                </a:solidFill>
                <a:latin typeface="Arial" pitchFamily="34" charset="0"/>
                <a:ea typeface="Arial" pitchFamily="34" charset="-122"/>
                <a:cs typeface="Arial" pitchFamily="34" charset="-120"/>
              </a:rPr>
              <a:t>Before applicable selling support</a:t>
            </a:r>
            <a:endParaRPr lang="en-US" sz="1380" dirty="0"/>
          </a:p>
        </p:txBody>
      </p:sp>
      <p:sp>
        <p:nvSpPr>
          <p:cNvPr id="29" name="Text 27"/>
          <p:cNvSpPr/>
          <p:nvPr/>
        </p:nvSpPr>
        <p:spPr>
          <a:xfrm>
            <a:off x="2423160" y="2980944"/>
            <a:ext cx="283464" cy="402336"/>
          </a:xfrm>
          <a:prstGeom prst="rect">
            <a:avLst/>
          </a:prstGeom>
          <a:noFill/>
          <a:ln/>
        </p:spPr>
        <p:txBody>
          <a:bodyPr wrap="square" lIns="0" tIns="0" rIns="0" bIns="0" rtlCol="0" anchor="ctr">
            <a:normAutofit/>
          </a:bodyPr>
          <a:lstStyle/>
          <a:p>
            <a:pPr algn="ctr" indent="0" marL="0">
              <a:buNone/>
            </a:pPr>
            <a:r>
              <a:rPr lang="en-US" sz="2700" b="1" dirty="0">
                <a:solidFill>
                  <a:srgbClr val="ED0016"/>
                </a:solidFill>
                <a:latin typeface="Arial" pitchFamily="34" charset="0"/>
                <a:ea typeface="Arial" pitchFamily="34" charset="-122"/>
                <a:cs typeface="Arial" pitchFamily="34" charset="-120"/>
              </a:rPr>
              <a:t>÷</a:t>
            </a:r>
            <a:endParaRPr lang="en-US" sz="2700" dirty="0"/>
          </a:p>
        </p:txBody>
      </p:sp>
      <p:sp>
        <p:nvSpPr>
          <p:cNvPr id="30" name="Text 28"/>
          <p:cNvSpPr/>
          <p:nvPr/>
        </p:nvSpPr>
        <p:spPr>
          <a:xfrm>
            <a:off x="4594860" y="2980944"/>
            <a:ext cx="283464" cy="402336"/>
          </a:xfrm>
          <a:prstGeom prst="rect">
            <a:avLst/>
          </a:prstGeom>
          <a:noFill/>
          <a:ln/>
        </p:spPr>
        <p:txBody>
          <a:bodyPr wrap="square" lIns="0" tIns="0" rIns="0" bIns="0" rtlCol="0" anchor="ctr">
            <a:normAutofit/>
          </a:bodyPr>
          <a:lstStyle/>
          <a:p>
            <a:pPr algn="ctr" indent="0" marL="0">
              <a:buNone/>
            </a:pPr>
            <a:r>
              <a:rPr lang="en-US" sz="2700" b="1" dirty="0">
                <a:solidFill>
                  <a:srgbClr val="ED0016"/>
                </a:solidFill>
                <a:latin typeface="Arial" pitchFamily="34" charset="0"/>
                <a:ea typeface="Arial" pitchFamily="34" charset="-122"/>
                <a:cs typeface="Arial" pitchFamily="34" charset="-120"/>
              </a:rPr>
              <a:t>×</a:t>
            </a:r>
            <a:endParaRPr lang="en-US" sz="2700" dirty="0"/>
          </a:p>
        </p:txBody>
      </p:sp>
      <p:sp>
        <p:nvSpPr>
          <p:cNvPr id="31" name="Text 29"/>
          <p:cNvSpPr/>
          <p:nvPr/>
        </p:nvSpPr>
        <p:spPr>
          <a:xfrm>
            <a:off x="6757416" y="2980944"/>
            <a:ext cx="283464" cy="402336"/>
          </a:xfrm>
          <a:prstGeom prst="rect">
            <a:avLst/>
          </a:prstGeom>
          <a:noFill/>
          <a:ln/>
        </p:spPr>
        <p:txBody>
          <a:bodyPr wrap="square" lIns="0" tIns="0" rIns="0" bIns="0" rtlCol="0" anchor="ctr">
            <a:normAutofit/>
          </a:bodyPr>
          <a:lstStyle/>
          <a:p>
            <a:pPr algn="ctr" indent="0" marL="0">
              <a:buNone/>
            </a:pPr>
            <a:r>
              <a:rPr lang="en-US" sz="2700" b="1" dirty="0">
                <a:solidFill>
                  <a:srgbClr val="ED0016"/>
                </a:solidFill>
                <a:latin typeface="Arial" pitchFamily="34" charset="0"/>
                <a:ea typeface="Arial" pitchFamily="34" charset="-122"/>
                <a:cs typeface="Arial" pitchFamily="34" charset="-120"/>
              </a:rPr>
              <a:t>÷</a:t>
            </a:r>
            <a:endParaRPr lang="en-US" sz="2700" dirty="0"/>
          </a:p>
        </p:txBody>
      </p:sp>
      <p:sp>
        <p:nvSpPr>
          <p:cNvPr id="32" name="Text 30"/>
          <p:cNvSpPr/>
          <p:nvPr/>
        </p:nvSpPr>
        <p:spPr>
          <a:xfrm>
            <a:off x="9144000" y="2980944"/>
            <a:ext cx="283464" cy="402336"/>
          </a:xfrm>
          <a:prstGeom prst="rect">
            <a:avLst/>
          </a:prstGeom>
          <a:noFill/>
          <a:ln/>
        </p:spPr>
        <p:txBody>
          <a:bodyPr wrap="square" lIns="0" tIns="0" rIns="0" bIns="0" rtlCol="0" anchor="ctr">
            <a:normAutofit/>
          </a:bodyPr>
          <a:lstStyle/>
          <a:p>
            <a:pPr algn="ctr" indent="0" marL="0">
              <a:buNone/>
            </a:pPr>
            <a:r>
              <a:rPr lang="en-US" sz="2700" b="1" dirty="0">
                <a:solidFill>
                  <a:srgbClr val="ED0016"/>
                </a:solidFill>
                <a:latin typeface="Arial" pitchFamily="34" charset="0"/>
                <a:ea typeface="Arial" pitchFamily="34" charset="-122"/>
                <a:cs typeface="Arial" pitchFamily="34" charset="-120"/>
              </a:rPr>
              <a:t>=</a:t>
            </a:r>
            <a:endParaRPr lang="en-US" sz="2700" dirty="0"/>
          </a:p>
        </p:txBody>
      </p:sp>
      <p:sp>
        <p:nvSpPr>
          <p:cNvPr id="33" name="Text 31"/>
          <p:cNvSpPr/>
          <p:nvPr/>
        </p:nvSpPr>
        <p:spPr>
          <a:xfrm>
            <a:off x="530352" y="4535424"/>
            <a:ext cx="5486400" cy="384048"/>
          </a:xfrm>
          <a:prstGeom prst="rect">
            <a:avLst/>
          </a:prstGeom>
          <a:noFill/>
          <a:ln/>
        </p:spPr>
        <p:txBody>
          <a:bodyPr wrap="square" lIns="0" tIns="0" rIns="0" bIns="0" rtlCol="0" anchor="ctr">
            <a:normAutofit/>
          </a:bodyPr>
          <a:lstStyle/>
          <a:p>
            <a:pPr indent="0" marL="0">
              <a:buNone/>
            </a:pPr>
            <a:r>
              <a:rPr lang="en-US" sz="2200" b="1" dirty="0">
                <a:solidFill>
                  <a:srgbClr val="17232C"/>
                </a:solidFill>
                <a:latin typeface="Arial" pitchFamily="34" charset="0"/>
                <a:ea typeface="Arial" pitchFamily="34" charset="-122"/>
                <a:cs typeface="Arial" pitchFamily="34" charset="-120"/>
              </a:rPr>
              <a:t>Class C: 53% formula margin</a:t>
            </a:r>
            <a:endParaRPr lang="en-US" sz="2200" dirty="0"/>
          </a:p>
        </p:txBody>
      </p:sp>
      <p:sp>
        <p:nvSpPr>
          <p:cNvPr id="34" name="Text 32"/>
          <p:cNvSpPr/>
          <p:nvPr/>
        </p:nvSpPr>
        <p:spPr>
          <a:xfrm>
            <a:off x="6263640" y="4535424"/>
            <a:ext cx="5394960" cy="384048"/>
          </a:xfrm>
          <a:prstGeom prst="rect">
            <a:avLst/>
          </a:prstGeom>
          <a:noFill/>
          <a:ln/>
        </p:spPr>
        <p:txBody>
          <a:bodyPr wrap="square" lIns="0" tIns="0" rIns="0" bIns="0" rtlCol="0" anchor="ctr">
            <a:normAutofit/>
          </a:bodyPr>
          <a:lstStyle/>
          <a:p>
            <a:pPr indent="0" marL="0">
              <a:buNone/>
            </a:pPr>
            <a:r>
              <a:rPr lang="en-US" sz="2200" b="1" dirty="0">
                <a:solidFill>
                  <a:srgbClr val="17232C"/>
                </a:solidFill>
                <a:latin typeface="Arial" pitchFamily="34" charset="0"/>
                <a:ea typeface="Arial" pitchFamily="34" charset="-122"/>
                <a:cs typeface="Arial" pitchFamily="34" charset="-120"/>
              </a:rPr>
              <a:t>Class V: 45% formula margin</a:t>
            </a:r>
            <a:endParaRPr lang="en-US" sz="2200" dirty="0"/>
          </a:p>
        </p:txBody>
      </p:sp>
      <p:sp>
        <p:nvSpPr>
          <p:cNvPr id="35" name="Text 33"/>
          <p:cNvSpPr/>
          <p:nvPr/>
        </p:nvSpPr>
        <p:spPr>
          <a:xfrm>
            <a:off x="530352" y="5120640"/>
            <a:ext cx="11128248" cy="548640"/>
          </a:xfrm>
          <a:prstGeom prst="rect">
            <a:avLst/>
          </a:prstGeom>
          <a:noFill/>
          <a:ln/>
        </p:spPr>
        <p:txBody>
          <a:bodyPr wrap="square" lIns="0" tIns="0" rIns="0" bIns="0" rtlCol="0" anchor="ctr">
            <a:normAutofit/>
          </a:bodyPr>
          <a:lstStyle/>
          <a:p>
            <a:pPr indent="0" marL="0">
              <a:buNone/>
            </a:pPr>
            <a:r>
              <a:rPr lang="en-US" sz="2000" dirty="0">
                <a:solidFill>
                  <a:srgbClr val="687782"/>
                </a:solidFill>
                <a:latin typeface="Arial" pitchFamily="34" charset="0"/>
                <a:ea typeface="Arial" pitchFamily="34" charset="-122"/>
                <a:cs typeface="Arial" pitchFamily="34" charset="-120"/>
              </a:rPr>
              <a:t>The class assigns the margin. It does not establish a competitive distributor offer.</a:t>
            </a:r>
            <a:endParaRPr lang="en-US" sz="2000" dirty="0"/>
          </a:p>
        </p:txBody>
      </p:sp>
      <p:sp>
        <p:nvSpPr>
          <p:cNvPr id="36" name="Shape 34"/>
          <p:cNvSpPr/>
          <p:nvPr/>
        </p:nvSpPr>
        <p:spPr>
          <a:xfrm>
            <a:off x="530352" y="5797296"/>
            <a:ext cx="41148" cy="393192"/>
          </a:xfrm>
          <a:prstGeom prst="rect">
            <a:avLst/>
          </a:prstGeom>
          <a:solidFill>
            <a:srgbClr val="ED0016"/>
          </a:solidFill>
          <a:ln w="12700">
            <a:solidFill>
              <a:srgbClr val="ED0016"/>
            </a:solidFill>
            <a:prstDash val="solid"/>
          </a:ln>
        </p:spPr>
      </p:sp>
      <p:sp>
        <p:nvSpPr>
          <p:cNvPr id="37" name="Text 35"/>
          <p:cNvSpPr/>
          <p:nvPr/>
        </p:nvSpPr>
        <p:spPr>
          <a:xfrm>
            <a:off x="713232" y="5788152"/>
            <a:ext cx="10908792" cy="438912"/>
          </a:xfrm>
          <a:prstGeom prst="rect">
            <a:avLst/>
          </a:prstGeom>
          <a:noFill/>
          <a:ln/>
        </p:spPr>
        <p:txBody>
          <a:bodyPr wrap="square" lIns="0" tIns="0" rIns="0" bIns="0" rtlCol="0" anchor="ctr">
            <a:normAutofit/>
          </a:bodyPr>
          <a:lstStyle/>
          <a:p>
            <a:pPr indent="0" marL="0">
              <a:buNone/>
            </a:pPr>
            <a:r>
              <a:rPr lang="en-US" sz="1870" b="1" dirty="0">
                <a:solidFill>
                  <a:srgbClr val="17232C"/>
                </a:solidFill>
                <a:latin typeface="Arial" pitchFamily="34" charset="0"/>
                <a:ea typeface="Arial" pitchFamily="34" charset="-122"/>
                <a:cs typeface="Arial" pitchFamily="34" charset="-120"/>
              </a:rPr>
              <a:t>Cost inputs remain necessary. The automatic class-based selling margin is what changes.</a:t>
            </a:r>
            <a:endParaRPr lang="en-US" sz="1870" dirty="0"/>
          </a:p>
        </p:txBody>
      </p:sp>
    </p:spTree>
  </p:cSld>
  <p:clrMapOvr>
    <a:masterClrMapping/>
  </p:clrMapOvr>
  <p:transition spd="fast" advClick="1">
    <p:fade/>
  </p:transition>
</p:sld>
</file>

<file path=ppt/slides/slide4.xml><?xml version="1.0" encoding="utf-8"?>
<p:sld xmlns:a="http://schemas.openxmlformats.org/drawingml/2006/main" xmlns:r="http://schemas.openxmlformats.org/officeDocument/2006/relationships" xmlns:p="http://schemas.openxmlformats.org/presentationml/2006/main">
  <p:cSld name="Version 1.2 - 04">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PURCHASING DISCOUNTS AND SALES SUPPORT</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17232C"/>
                </a:solidFill>
                <a:latin typeface="Arial" pitchFamily="34" charset="0"/>
                <a:ea typeface="Arial" pitchFamily="34" charset="-122"/>
                <a:cs typeface="Arial" pitchFamily="34" charset="-120"/>
              </a:rPr>
              <a:t>Japan purchase terms changed; Thailand terms did not.</a:t>
            </a:r>
            <a:endParaRPr lang="en-US" sz="3100" dirty="0"/>
          </a:p>
        </p:txBody>
      </p:sp>
      <p:sp>
        <p:nvSpPr>
          <p:cNvPr id="5" name="Shape 3"/>
          <p:cNvSpPr/>
          <p:nvPr/>
        </p:nvSpPr>
        <p:spPr>
          <a:xfrm>
            <a:off x="530352" y="6373368"/>
            <a:ext cx="11128248" cy="0"/>
          </a:xfrm>
          <a:prstGeom prst="line">
            <a:avLst/>
          </a:prstGeom>
          <a:noFill/>
          <a:ln w="10160">
            <a:solidFill>
              <a:srgbClr val="DCE2E6"/>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687782"/>
                </a:solidFill>
                <a:latin typeface="Arial" pitchFamily="34" charset="0"/>
                <a:ea typeface="Arial" pitchFamily="34" charset="-122"/>
                <a:cs typeface="Arial" pitchFamily="34" charset="-120"/>
              </a:rPr>
              <a:t>Source: Pricing Master. Japan terms effective 5 January 2026; revised percentage recorded from management confirmation.</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687782"/>
                </a:solidFill>
                <a:latin typeface="Arial" pitchFamily="34" charset="0"/>
                <a:ea typeface="Arial" pitchFamily="34" charset="-122"/>
                <a:cs typeface="Arial" pitchFamily="34" charset="-120"/>
              </a:rPr>
              <a:t>v1.2  |  04</a:t>
            </a:r>
            <a:endParaRPr lang="en-US" sz="940" dirty="0"/>
          </a:p>
        </p:txBody>
      </p:sp>
      <p:sp>
        <p:nvSpPr>
          <p:cNvPr id="8" name="Text 6"/>
          <p:cNvSpPr/>
          <p:nvPr/>
        </p:nvSpPr>
        <p:spPr>
          <a:xfrm>
            <a:off x="530352" y="1874520"/>
            <a:ext cx="566928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JAPAN: EFFECTIVE 5 JANUARY 2026</a:t>
            </a:r>
            <a:endParaRPr lang="en-US" sz="1050" dirty="0"/>
          </a:p>
        </p:txBody>
      </p:sp>
      <p:sp>
        <p:nvSpPr>
          <p:cNvPr id="9" name="Text 7"/>
          <p:cNvSpPr/>
          <p:nvPr/>
        </p:nvSpPr>
        <p:spPr>
          <a:xfrm>
            <a:off x="530352" y="2304288"/>
            <a:ext cx="2167128" cy="640080"/>
          </a:xfrm>
          <a:prstGeom prst="rect">
            <a:avLst/>
          </a:prstGeom>
          <a:noFill/>
          <a:ln/>
        </p:spPr>
        <p:txBody>
          <a:bodyPr wrap="square" lIns="0" tIns="0" rIns="0" bIns="0" rtlCol="0" anchor="ctr">
            <a:normAutofit/>
          </a:bodyPr>
          <a:lstStyle/>
          <a:p>
            <a:pPr indent="0" marL="0">
              <a:buNone/>
            </a:pPr>
            <a:r>
              <a:rPr lang="en-US" sz="3700" b="1" dirty="0">
                <a:solidFill>
                  <a:srgbClr val="687782"/>
                </a:solidFill>
                <a:latin typeface="Arial" pitchFamily="34" charset="0"/>
                <a:ea typeface="Arial" pitchFamily="34" charset="-122"/>
                <a:cs typeface="Arial" pitchFamily="34" charset="-120"/>
              </a:rPr>
              <a:t>38.0%</a:t>
            </a:r>
            <a:endParaRPr lang="en-US" sz="3700" dirty="0"/>
          </a:p>
        </p:txBody>
      </p:sp>
      <p:sp>
        <p:nvSpPr>
          <p:cNvPr id="10" name="Text 8"/>
          <p:cNvSpPr/>
          <p:nvPr/>
        </p:nvSpPr>
        <p:spPr>
          <a:xfrm>
            <a:off x="2743200" y="2304288"/>
            <a:ext cx="420624" cy="640080"/>
          </a:xfrm>
          <a:prstGeom prst="rect">
            <a:avLst/>
          </a:prstGeom>
          <a:noFill/>
          <a:ln/>
        </p:spPr>
        <p:txBody>
          <a:bodyPr wrap="square" lIns="0" tIns="0" rIns="0" bIns="0" rtlCol="0" anchor="ctr">
            <a:normAutofit/>
          </a:bodyPr>
          <a:lstStyle/>
          <a:p>
            <a:pPr algn="ctr" indent="0" marL="0">
              <a:buNone/>
            </a:pPr>
            <a:r>
              <a:rPr lang="en-US" sz="3000" b="1" dirty="0">
                <a:solidFill>
                  <a:srgbClr val="ED0016"/>
                </a:solidFill>
                <a:latin typeface="Arial" pitchFamily="34" charset="0"/>
                <a:ea typeface="Arial" pitchFamily="34" charset="-122"/>
                <a:cs typeface="Arial" pitchFamily="34" charset="-120"/>
              </a:rPr>
              <a:t>→</a:t>
            </a:r>
            <a:endParaRPr lang="en-US" sz="3000" dirty="0"/>
          </a:p>
        </p:txBody>
      </p:sp>
      <p:sp>
        <p:nvSpPr>
          <p:cNvPr id="11" name="Text 9"/>
          <p:cNvSpPr/>
          <p:nvPr/>
        </p:nvSpPr>
        <p:spPr>
          <a:xfrm>
            <a:off x="3291840" y="2304288"/>
            <a:ext cx="2304288" cy="640080"/>
          </a:xfrm>
          <a:prstGeom prst="rect">
            <a:avLst/>
          </a:prstGeom>
          <a:noFill/>
          <a:ln/>
        </p:spPr>
        <p:txBody>
          <a:bodyPr wrap="square" lIns="0" tIns="0" rIns="0" bIns="0" rtlCol="0" anchor="ctr">
            <a:normAutofit/>
          </a:bodyPr>
          <a:lstStyle/>
          <a:p>
            <a:pPr indent="0" marL="0">
              <a:buNone/>
            </a:pPr>
            <a:r>
              <a:rPr lang="en-US" sz="4000" b="1" dirty="0">
                <a:solidFill>
                  <a:srgbClr val="ED0016"/>
                </a:solidFill>
                <a:latin typeface="Arial" pitchFamily="34" charset="0"/>
                <a:ea typeface="Arial" pitchFamily="34" charset="-122"/>
                <a:cs typeface="Arial" pitchFamily="34" charset="-120"/>
              </a:rPr>
              <a:t>32.7%</a:t>
            </a:r>
            <a:endParaRPr lang="en-US" sz="4000" dirty="0"/>
          </a:p>
        </p:txBody>
      </p:sp>
      <p:sp>
        <p:nvSpPr>
          <p:cNvPr id="12" name="Text 10"/>
          <p:cNvSpPr/>
          <p:nvPr/>
        </p:nvSpPr>
        <p:spPr>
          <a:xfrm>
            <a:off x="530352" y="3063240"/>
            <a:ext cx="2514600" cy="493776"/>
          </a:xfrm>
          <a:prstGeom prst="rect">
            <a:avLst/>
          </a:prstGeom>
          <a:noFill/>
          <a:ln/>
        </p:spPr>
        <p:txBody>
          <a:bodyPr wrap="square" lIns="0" tIns="0" rIns="0" bIns="0" rtlCol="0" anchor="ctr">
            <a:normAutofit/>
          </a:bodyPr>
          <a:lstStyle/>
          <a:p>
            <a:pPr indent="0" marL="0">
              <a:buNone/>
            </a:pPr>
            <a:r>
              <a:rPr lang="en-US" sz="1700" b="1" dirty="0">
                <a:solidFill>
                  <a:srgbClr val="17232C"/>
                </a:solidFill>
                <a:latin typeface="Arial" pitchFamily="34" charset="0"/>
                <a:ea typeface="Arial" pitchFamily="34" charset="-122"/>
                <a:cs typeface="Arial" pitchFamily="34" charset="-120"/>
              </a:rPr>
              <a:t>Previous purchase discount</a:t>
            </a:r>
            <a:endParaRPr lang="en-US" sz="1700" dirty="0"/>
          </a:p>
        </p:txBody>
      </p:sp>
      <p:sp>
        <p:nvSpPr>
          <p:cNvPr id="13" name="Text 11"/>
          <p:cNvSpPr/>
          <p:nvPr/>
        </p:nvSpPr>
        <p:spPr>
          <a:xfrm>
            <a:off x="3291840" y="3063240"/>
            <a:ext cx="2523744" cy="493776"/>
          </a:xfrm>
          <a:prstGeom prst="rect">
            <a:avLst/>
          </a:prstGeom>
          <a:noFill/>
          <a:ln/>
        </p:spPr>
        <p:txBody>
          <a:bodyPr wrap="square" lIns="0" tIns="0" rIns="0" bIns="0" rtlCol="0" anchor="ctr">
            <a:normAutofit/>
          </a:bodyPr>
          <a:lstStyle/>
          <a:p>
            <a:pPr indent="0" marL="0">
              <a:buNone/>
            </a:pPr>
            <a:r>
              <a:rPr lang="en-US" sz="1700" b="1" dirty="0">
                <a:solidFill>
                  <a:srgbClr val="17232C"/>
                </a:solidFill>
                <a:latin typeface="Arial" pitchFamily="34" charset="0"/>
                <a:ea typeface="Arial" pitchFamily="34" charset="-122"/>
                <a:cs typeface="Arial" pitchFamily="34" charset="-120"/>
              </a:rPr>
              <a:t>Revised purchase discount</a:t>
            </a:r>
            <a:endParaRPr lang="en-US" sz="1700" dirty="0"/>
          </a:p>
        </p:txBody>
      </p:sp>
      <p:sp>
        <p:nvSpPr>
          <p:cNvPr id="14" name="Text 12"/>
          <p:cNvSpPr/>
          <p:nvPr/>
        </p:nvSpPr>
        <p:spPr>
          <a:xfrm>
            <a:off x="530352" y="3712464"/>
            <a:ext cx="2514600" cy="557784"/>
          </a:xfrm>
          <a:prstGeom prst="rect">
            <a:avLst/>
          </a:prstGeom>
          <a:noFill/>
          <a:ln/>
        </p:spPr>
        <p:txBody>
          <a:bodyPr wrap="square" lIns="0" tIns="0" rIns="0" bIns="0" rtlCol="0" anchor="ctr">
            <a:normAutofit/>
          </a:bodyPr>
          <a:lstStyle/>
          <a:p>
            <a:pPr indent="0" marL="0">
              <a:buNone/>
            </a:pPr>
            <a:r>
              <a:rPr lang="en-US" sz="1800" dirty="0">
                <a:solidFill>
                  <a:srgbClr val="687782"/>
                </a:solidFill>
                <a:latin typeface="Arial" pitchFamily="34" charset="0"/>
                <a:ea typeface="Arial" pitchFamily="34" charset="-122"/>
                <a:cs typeface="Arial" pitchFamily="34" charset="-120"/>
              </a:rPr>
              <a:t>ISZE paid 62.0%</a:t>
            </a:r>
            <a:endParaRPr lang="en-US" sz="1800" dirty="0"/>
          </a:p>
          <a:p>
            <a:pPr indent="0" marL="0">
              <a:buNone/>
            </a:pPr>
            <a:r>
              <a:rPr lang="en-US" sz="1800" dirty="0">
                <a:solidFill>
                  <a:srgbClr val="687782"/>
                </a:solidFill>
                <a:latin typeface="Arial" pitchFamily="34" charset="0"/>
                <a:ea typeface="Arial" pitchFamily="34" charset="-122"/>
                <a:cs typeface="Arial" pitchFamily="34" charset="-120"/>
              </a:rPr>
              <a:t>of the yen base.</a:t>
            </a:r>
            <a:endParaRPr lang="en-US" sz="1800" dirty="0"/>
          </a:p>
        </p:txBody>
      </p:sp>
      <p:sp>
        <p:nvSpPr>
          <p:cNvPr id="15" name="Text 13"/>
          <p:cNvSpPr/>
          <p:nvPr/>
        </p:nvSpPr>
        <p:spPr>
          <a:xfrm>
            <a:off x="3291840" y="3712464"/>
            <a:ext cx="2523744" cy="557784"/>
          </a:xfrm>
          <a:prstGeom prst="rect">
            <a:avLst/>
          </a:prstGeom>
          <a:noFill/>
          <a:ln/>
        </p:spPr>
        <p:txBody>
          <a:bodyPr wrap="square" lIns="0" tIns="0" rIns="0" bIns="0" rtlCol="0" anchor="ctr">
            <a:normAutofit/>
          </a:bodyPr>
          <a:lstStyle/>
          <a:p>
            <a:pPr indent="0" marL="0">
              <a:buNone/>
            </a:pPr>
            <a:r>
              <a:rPr lang="en-US" sz="1800" dirty="0">
                <a:solidFill>
                  <a:srgbClr val="687782"/>
                </a:solidFill>
                <a:latin typeface="Arial" pitchFamily="34" charset="0"/>
                <a:ea typeface="Arial" pitchFamily="34" charset="-122"/>
                <a:cs typeface="Arial" pitchFamily="34" charset="-120"/>
              </a:rPr>
              <a:t>ISZE pays 67.3%</a:t>
            </a:r>
            <a:endParaRPr lang="en-US" sz="1800" dirty="0"/>
          </a:p>
          <a:p>
            <a:pPr indent="0" marL="0">
              <a:buNone/>
            </a:pPr>
            <a:r>
              <a:rPr lang="en-US" sz="1800" dirty="0">
                <a:solidFill>
                  <a:srgbClr val="687782"/>
                </a:solidFill>
                <a:latin typeface="Arial" pitchFamily="34" charset="0"/>
                <a:ea typeface="Arial" pitchFamily="34" charset="-122"/>
                <a:cs typeface="Arial" pitchFamily="34" charset="-120"/>
              </a:rPr>
              <a:t>of the yen base.</a:t>
            </a:r>
            <a:endParaRPr lang="en-US" sz="1800" dirty="0"/>
          </a:p>
        </p:txBody>
      </p:sp>
      <p:sp>
        <p:nvSpPr>
          <p:cNvPr id="16" name="Text 14"/>
          <p:cNvSpPr/>
          <p:nvPr/>
        </p:nvSpPr>
        <p:spPr>
          <a:xfrm>
            <a:off x="530352" y="4553712"/>
            <a:ext cx="5449824" cy="557784"/>
          </a:xfrm>
          <a:prstGeom prst="rect">
            <a:avLst/>
          </a:prstGeom>
          <a:noFill/>
          <a:ln/>
        </p:spPr>
        <p:txBody>
          <a:bodyPr wrap="square" lIns="0" tIns="0" rIns="0" bIns="0" rtlCol="0" anchor="ctr">
            <a:normAutofit/>
          </a:bodyPr>
          <a:lstStyle/>
          <a:p>
            <a:pPr indent="0" marL="0">
              <a:buNone/>
            </a:pPr>
            <a:r>
              <a:rPr lang="en-US" sz="2000" b="1" dirty="0">
                <a:solidFill>
                  <a:srgbClr val="17232C"/>
                </a:solidFill>
                <a:latin typeface="Arial" pitchFamily="34" charset="0"/>
                <a:ea typeface="Arial" pitchFamily="34" charset="-122"/>
                <a:cs typeface="Arial" pitchFamily="34" charset="-120"/>
              </a:rPr>
              <a:t>5.3 percentage points less purchasing discount.</a:t>
            </a:r>
            <a:endParaRPr lang="en-US" sz="2000" dirty="0"/>
          </a:p>
        </p:txBody>
      </p:sp>
      <p:sp>
        <p:nvSpPr>
          <p:cNvPr id="17" name="Shape 15"/>
          <p:cNvSpPr/>
          <p:nvPr/>
        </p:nvSpPr>
        <p:spPr>
          <a:xfrm>
            <a:off x="6080760" y="1883664"/>
            <a:ext cx="0" cy="3685032"/>
          </a:xfrm>
          <a:prstGeom prst="line">
            <a:avLst/>
          </a:prstGeom>
          <a:noFill/>
          <a:ln w="12700">
            <a:solidFill>
              <a:srgbClr val="DCE2E6"/>
            </a:solidFill>
            <a:prstDash val="solid"/>
            <a:headEnd type="none"/>
            <a:tailEnd type="none"/>
          </a:ln>
        </p:spPr>
      </p:sp>
      <p:sp>
        <p:nvSpPr>
          <p:cNvPr id="18" name="Text 16"/>
          <p:cNvSpPr/>
          <p:nvPr/>
        </p:nvSpPr>
        <p:spPr>
          <a:xfrm>
            <a:off x="6437376" y="1874520"/>
            <a:ext cx="5138928"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THAILAND: UNCHANGED</a:t>
            </a:r>
            <a:endParaRPr lang="en-US" sz="1050" dirty="0"/>
          </a:p>
        </p:txBody>
      </p:sp>
      <p:sp>
        <p:nvSpPr>
          <p:cNvPr id="19" name="Text 17"/>
          <p:cNvSpPr/>
          <p:nvPr/>
        </p:nvSpPr>
        <p:spPr>
          <a:xfrm>
            <a:off x="6437376" y="2304288"/>
            <a:ext cx="2304288" cy="640080"/>
          </a:xfrm>
          <a:prstGeom prst="rect">
            <a:avLst/>
          </a:prstGeom>
          <a:noFill/>
          <a:ln/>
        </p:spPr>
        <p:txBody>
          <a:bodyPr wrap="square" lIns="0" tIns="0" rIns="0" bIns="0" rtlCol="0" anchor="ctr">
            <a:normAutofit/>
          </a:bodyPr>
          <a:lstStyle/>
          <a:p>
            <a:pPr indent="0" marL="0">
              <a:buNone/>
            </a:pPr>
            <a:r>
              <a:rPr lang="en-US" sz="3700" b="1" dirty="0">
                <a:solidFill>
                  <a:srgbClr val="ED0016"/>
                </a:solidFill>
                <a:latin typeface="Arial" pitchFamily="34" charset="0"/>
                <a:ea typeface="Arial" pitchFamily="34" charset="-122"/>
                <a:cs typeface="Arial" pitchFamily="34" charset="-120"/>
              </a:rPr>
              <a:t>38.9%</a:t>
            </a:r>
            <a:endParaRPr lang="en-US" sz="3700" dirty="0"/>
          </a:p>
        </p:txBody>
      </p:sp>
      <p:sp>
        <p:nvSpPr>
          <p:cNvPr id="20" name="Text 18"/>
          <p:cNvSpPr/>
          <p:nvPr/>
        </p:nvSpPr>
        <p:spPr>
          <a:xfrm>
            <a:off x="8778240" y="2295144"/>
            <a:ext cx="2761488" cy="813816"/>
          </a:xfrm>
          <a:prstGeom prst="rect">
            <a:avLst/>
          </a:prstGeom>
          <a:noFill/>
          <a:ln/>
        </p:spPr>
        <p:txBody>
          <a:bodyPr wrap="square" lIns="0" tIns="0" rIns="0" bIns="0" rtlCol="0" anchor="ctr">
            <a:normAutofit/>
          </a:bodyPr>
          <a:lstStyle/>
          <a:p>
            <a:pPr indent="0" marL="0">
              <a:buNone/>
            </a:pPr>
            <a:r>
              <a:rPr lang="en-US" sz="1750" b="1" dirty="0">
                <a:solidFill>
                  <a:srgbClr val="17232C"/>
                </a:solidFill>
                <a:latin typeface="Arial" pitchFamily="34" charset="0"/>
                <a:ea typeface="Arial" pitchFamily="34" charset="-122"/>
                <a:cs typeface="Arial" pitchFamily="34" charset="-120"/>
              </a:rPr>
              <a:t>Purchase discount; ISZE pays</a:t>
            </a:r>
            <a:endParaRPr lang="en-US" sz="1750" dirty="0"/>
          </a:p>
          <a:p>
            <a:pPr indent="0" marL="0">
              <a:buNone/>
            </a:pPr>
            <a:r>
              <a:rPr lang="en-US" sz="1750" b="1" dirty="0">
                <a:solidFill>
                  <a:srgbClr val="17232C"/>
                </a:solidFill>
                <a:latin typeface="Arial" pitchFamily="34" charset="0"/>
                <a:ea typeface="Arial" pitchFamily="34" charset="-122"/>
                <a:cs typeface="Arial" pitchFamily="34" charset="-120"/>
              </a:rPr>
              <a:t>61.1% of the yen base.</a:t>
            </a:r>
            <a:endParaRPr lang="en-US" sz="1750" dirty="0"/>
          </a:p>
        </p:txBody>
      </p:sp>
      <p:sp>
        <p:nvSpPr>
          <p:cNvPr id="21" name="Shape 19"/>
          <p:cNvSpPr/>
          <p:nvPr/>
        </p:nvSpPr>
        <p:spPr>
          <a:xfrm>
            <a:off x="6437376" y="3310128"/>
            <a:ext cx="5212080" cy="2194560"/>
          </a:xfrm>
          <a:prstGeom prst="rect">
            <a:avLst/>
          </a:prstGeom>
          <a:solidFill>
            <a:srgbClr val="F0F3F5"/>
          </a:solidFill>
          <a:ln w="12700">
            <a:solidFill>
              <a:srgbClr val="F0F3F5"/>
            </a:solidFill>
            <a:prstDash val="solid"/>
          </a:ln>
        </p:spPr>
      </p:sp>
      <p:sp>
        <p:nvSpPr>
          <p:cNvPr id="22" name="Text 20"/>
          <p:cNvSpPr/>
          <p:nvPr/>
        </p:nvSpPr>
        <p:spPr>
          <a:xfrm>
            <a:off x="6629400" y="3493008"/>
            <a:ext cx="4791456" cy="228600"/>
          </a:xfrm>
          <a:prstGeom prst="rect">
            <a:avLst/>
          </a:prstGeom>
          <a:noFill/>
          <a:ln/>
        </p:spPr>
        <p:txBody>
          <a:bodyPr wrap="square" lIns="0" tIns="0" rIns="0" bIns="0" rtlCol="0" anchor="ctr">
            <a:normAutofit/>
          </a:bodyPr>
          <a:lstStyle/>
          <a:p>
            <a:pPr indent="0" marL="0">
              <a:buNone/>
            </a:pPr>
            <a:r>
              <a:rPr lang="en-US" sz="1050" b="1" spc="90" kern="0" dirty="0">
                <a:solidFill>
                  <a:srgbClr val="687782"/>
                </a:solidFill>
                <a:latin typeface="Arial" pitchFamily="34" charset="0"/>
                <a:ea typeface="Arial" pitchFamily="34" charset="-122"/>
                <a:cs typeface="Arial" pitchFamily="34" charset="-120"/>
              </a:rPr>
              <a:t>SEPARATE: OUR SALES TO DISTRIBUTORS</a:t>
            </a:r>
            <a:endParaRPr lang="en-US" sz="1050" dirty="0"/>
          </a:p>
        </p:txBody>
      </p:sp>
      <p:sp>
        <p:nvSpPr>
          <p:cNvPr id="23" name="Text 21"/>
          <p:cNvSpPr/>
          <p:nvPr/>
        </p:nvSpPr>
        <p:spPr>
          <a:xfrm>
            <a:off x="6629400" y="3986784"/>
            <a:ext cx="4773168" cy="1152144"/>
          </a:xfrm>
          <a:prstGeom prst="rect">
            <a:avLst/>
          </a:prstGeom>
          <a:noFill/>
          <a:ln/>
        </p:spPr>
        <p:txBody>
          <a:bodyPr wrap="square" lIns="0" tIns="0" rIns="0" bIns="0" rtlCol="0" anchor="ctr">
            <a:normAutofit/>
          </a:bodyPr>
          <a:lstStyle/>
          <a:p>
            <a:pPr indent="0" marL="0">
              <a:buNone/>
            </a:pPr>
            <a:r>
              <a:rPr lang="en-US" sz="1840" dirty="0">
                <a:solidFill>
                  <a:srgbClr val="17232C"/>
                </a:solidFill>
                <a:latin typeface="Arial" pitchFamily="34" charset="0"/>
                <a:ea typeface="Arial" pitchFamily="34" charset="-122"/>
                <a:cs typeface="Arial" pitchFamily="34" charset="-120"/>
              </a:rPr>
              <a:t>ISZE selling price</a:t>
            </a:r>
            <a:endParaRPr lang="en-US" sz="1840" dirty="0"/>
          </a:p>
          <a:p>
            <a:pPr indent="0" marL="0">
              <a:buNone/>
            </a:pPr>
            <a:r>
              <a:rPr lang="en-US" sz="1840" dirty="0">
                <a:solidFill>
                  <a:srgbClr val="17232C"/>
                </a:solidFill>
                <a:latin typeface="Arial" pitchFamily="34" charset="0"/>
                <a:ea typeface="Arial" pitchFamily="34" charset="-122"/>
                <a:cs typeface="Arial" pitchFamily="34" charset="-120"/>
              </a:rPr>
              <a:t>− applicable selling discounts and support</a:t>
            </a:r>
            <a:endParaRPr lang="en-US" sz="1840" dirty="0"/>
          </a:p>
          <a:p>
            <a:pPr indent="0" marL="0">
              <a:buNone/>
            </a:pPr>
            <a:r>
              <a:rPr lang="en-US" sz="1840" dirty="0">
                <a:solidFill>
                  <a:srgbClr val="17232C"/>
                </a:solidFill>
                <a:latin typeface="Arial" pitchFamily="34" charset="0"/>
                <a:ea typeface="Arial" pitchFamily="34" charset="-122"/>
                <a:cs typeface="Arial" pitchFamily="34" charset="-120"/>
              </a:rPr>
              <a:t>= net revenue for the margin check</a:t>
            </a:r>
            <a:endParaRPr lang="en-US" sz="1840" dirty="0"/>
          </a:p>
        </p:txBody>
      </p:sp>
      <p:sp>
        <p:nvSpPr>
          <p:cNvPr id="24" name="Shape 22"/>
          <p:cNvSpPr/>
          <p:nvPr/>
        </p:nvSpPr>
        <p:spPr>
          <a:xfrm>
            <a:off x="530352" y="5797296"/>
            <a:ext cx="41148" cy="393192"/>
          </a:xfrm>
          <a:prstGeom prst="rect">
            <a:avLst/>
          </a:prstGeom>
          <a:solidFill>
            <a:srgbClr val="ED0016"/>
          </a:solidFill>
          <a:ln w="12700">
            <a:solidFill>
              <a:srgbClr val="ED0016"/>
            </a:solidFill>
            <a:prstDash val="solid"/>
          </a:ln>
        </p:spPr>
      </p:sp>
      <p:sp>
        <p:nvSpPr>
          <p:cNvPr id="25" name="Text 23"/>
          <p:cNvSpPr/>
          <p:nvPr/>
        </p:nvSpPr>
        <p:spPr>
          <a:xfrm>
            <a:off x="713232" y="5788152"/>
            <a:ext cx="10908792" cy="438912"/>
          </a:xfrm>
          <a:prstGeom prst="rect">
            <a:avLst/>
          </a:prstGeom>
          <a:noFill/>
          <a:ln/>
        </p:spPr>
        <p:txBody>
          <a:bodyPr wrap="square" lIns="0" tIns="0" rIns="0" bIns="0" rtlCol="0" anchor="ctr">
            <a:normAutofit/>
          </a:bodyPr>
          <a:lstStyle/>
          <a:p>
            <a:pPr indent="0" marL="0">
              <a:buNone/>
            </a:pPr>
            <a:r>
              <a:rPr lang="en-US" sz="1870" b="1" dirty="0">
                <a:solidFill>
                  <a:srgbClr val="17232C"/>
                </a:solidFill>
                <a:latin typeface="Arial" pitchFamily="34" charset="0"/>
                <a:ea typeface="Arial" pitchFamily="34" charset="-122"/>
                <a:cs typeface="Arial" pitchFamily="34" charset="-120"/>
              </a:rPr>
              <a:t>Purchasing discounts reduce cost. Selling discounts and support reduce ISZE revenue.</a:t>
            </a:r>
            <a:endParaRPr lang="en-US" sz="1870" dirty="0"/>
          </a:p>
        </p:txBody>
      </p:sp>
    </p:spTree>
  </p:cSld>
  <p:clrMapOvr>
    <a:masterClrMapping/>
  </p:clrMapOvr>
  <p:transition spd="fast" advClick="1">
    <p:fade/>
  </p:transition>
</p:sld>
</file>

<file path=ppt/slides/slide5.xml><?xml version="1.0" encoding="utf-8"?>
<p:sld xmlns:a="http://schemas.openxmlformats.org/drawingml/2006/main" xmlns:r="http://schemas.openxmlformats.org/officeDocument/2006/relationships" xmlns:p="http://schemas.openxmlformats.org/presentationml/2006/main">
  <p:cSld name="Version 1.2 - 05">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EXCHANGE RATE AND PURCHASE TERMS</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17232C"/>
                </a:solidFill>
                <a:latin typeface="Arial" pitchFamily="34" charset="0"/>
                <a:ea typeface="Arial" pitchFamily="34" charset="-122"/>
                <a:cs typeface="Arial" pitchFamily="34" charset="-120"/>
              </a:rPr>
              <a:t>The weaker yen largely offsets the lower Japan discount.</a:t>
            </a:r>
            <a:endParaRPr lang="en-US" sz="3100" dirty="0"/>
          </a:p>
        </p:txBody>
      </p:sp>
      <p:sp>
        <p:nvSpPr>
          <p:cNvPr id="5" name="Shape 3"/>
          <p:cNvSpPr/>
          <p:nvPr/>
        </p:nvSpPr>
        <p:spPr>
          <a:xfrm>
            <a:off x="530352" y="6373368"/>
            <a:ext cx="11128248" cy="0"/>
          </a:xfrm>
          <a:prstGeom prst="line">
            <a:avLst/>
          </a:prstGeom>
          <a:noFill/>
          <a:ln w="10160">
            <a:solidFill>
              <a:srgbClr val="DCE2E6"/>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687782"/>
                </a:solidFill>
                <a:latin typeface="Arial" pitchFamily="34" charset="0"/>
                <a:ea typeface="Arial" pitchFamily="34" charset="-122"/>
                <a:cs typeface="Arial" pitchFamily="34" charset="-120"/>
              </a:rPr>
              <a:t>Source: Pricing Master. Japan-specific illustration; unchanged JPY 16,370 base. Current and announced periods shown.</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687782"/>
                </a:solidFill>
                <a:latin typeface="Arial" pitchFamily="34" charset="0"/>
                <a:ea typeface="Arial" pitchFamily="34" charset="-122"/>
                <a:cs typeface="Arial" pitchFamily="34" charset="-120"/>
              </a:rPr>
              <a:t>v1.2  |  05</a:t>
            </a:r>
            <a:endParaRPr lang="en-US" sz="940" dirty="0"/>
          </a:p>
        </p:txBody>
      </p:sp>
      <p:sp>
        <p:nvSpPr>
          <p:cNvPr id="8" name="Text 6"/>
          <p:cNvSpPr/>
          <p:nvPr/>
        </p:nvSpPr>
        <p:spPr>
          <a:xfrm>
            <a:off x="731520" y="1856232"/>
            <a:ext cx="2788920" cy="228600"/>
          </a:xfrm>
          <a:prstGeom prst="rect">
            <a:avLst/>
          </a:prstGeom>
          <a:noFill/>
          <a:ln/>
        </p:spPr>
        <p:txBody>
          <a:bodyPr wrap="square" lIns="0" tIns="0" rIns="0" bIns="0" rtlCol="0" anchor="ctr">
            <a:normAutofit/>
          </a:bodyPr>
          <a:lstStyle/>
          <a:p>
            <a:pPr algn="ctr" indent="0" marL="0">
              <a:buNone/>
            </a:pPr>
            <a:r>
              <a:rPr lang="en-US" sz="1050" b="1" spc="80" kern="0" dirty="0">
                <a:solidFill>
                  <a:srgbClr val="687782"/>
                </a:solidFill>
                <a:latin typeface="Arial" pitchFamily="34" charset="0"/>
                <a:ea typeface="Arial" pitchFamily="34" charset="-122"/>
                <a:cs typeface="Arial" pitchFamily="34" charset="-120"/>
              </a:rPr>
              <a:t>SELLING-LIST BASIS</a:t>
            </a:r>
            <a:endParaRPr lang="en-US" sz="1050" dirty="0"/>
          </a:p>
        </p:txBody>
      </p:sp>
      <p:sp>
        <p:nvSpPr>
          <p:cNvPr id="9" name="Text 7"/>
          <p:cNvSpPr/>
          <p:nvPr/>
        </p:nvSpPr>
        <p:spPr>
          <a:xfrm>
            <a:off x="731520" y="2212848"/>
            <a:ext cx="2788920" cy="365760"/>
          </a:xfrm>
          <a:prstGeom prst="rect">
            <a:avLst/>
          </a:prstGeom>
          <a:noFill/>
          <a:ln/>
        </p:spPr>
        <p:txBody>
          <a:bodyPr wrap="square" lIns="0" tIns="0" rIns="0" bIns="0" rtlCol="0" anchor="ctr">
            <a:normAutofit/>
          </a:bodyPr>
          <a:lstStyle/>
          <a:p>
            <a:pPr algn="ctr" indent="0" marL="0">
              <a:buNone/>
            </a:pPr>
            <a:r>
              <a:rPr lang="en-US" sz="2300" b="1" dirty="0">
                <a:solidFill>
                  <a:srgbClr val="17232C"/>
                </a:solidFill>
                <a:latin typeface="Arial" pitchFamily="34" charset="0"/>
                <a:ea typeface="Arial" pitchFamily="34" charset="-122"/>
                <a:cs typeface="Arial" pitchFamily="34" charset="-120"/>
              </a:rPr>
              <a:t>163.7 JPY/EUR</a:t>
            </a:r>
            <a:endParaRPr lang="en-US" sz="2300" dirty="0"/>
          </a:p>
        </p:txBody>
      </p:sp>
      <p:sp>
        <p:nvSpPr>
          <p:cNvPr id="10" name="Text 8"/>
          <p:cNvSpPr/>
          <p:nvPr/>
        </p:nvSpPr>
        <p:spPr>
          <a:xfrm>
            <a:off x="731520" y="2688336"/>
            <a:ext cx="2788920" cy="283464"/>
          </a:xfrm>
          <a:prstGeom prst="rect">
            <a:avLst/>
          </a:prstGeom>
          <a:noFill/>
          <a:ln/>
        </p:spPr>
        <p:txBody>
          <a:bodyPr wrap="square" lIns="0" tIns="0" rIns="0" bIns="0" rtlCol="0" anchor="ctr">
            <a:normAutofit/>
          </a:bodyPr>
          <a:lstStyle/>
          <a:p>
            <a:pPr algn="ctr" indent="0" marL="0">
              <a:buNone/>
            </a:pPr>
            <a:r>
              <a:rPr lang="en-US" sz="1450" dirty="0">
                <a:solidFill>
                  <a:srgbClr val="687782"/>
                </a:solidFill>
                <a:latin typeface="Arial" pitchFamily="34" charset="0"/>
                <a:ea typeface="Arial" pitchFamily="34" charset="-122"/>
                <a:cs typeface="Arial" pitchFamily="34" charset="-120"/>
              </a:rPr>
              <a:t>38.0% purchasing discount</a:t>
            </a:r>
            <a:endParaRPr lang="en-US" sz="1450" dirty="0"/>
          </a:p>
        </p:txBody>
      </p:sp>
      <p:sp>
        <p:nvSpPr>
          <p:cNvPr id="11" name="Text 9"/>
          <p:cNvSpPr/>
          <p:nvPr/>
        </p:nvSpPr>
        <p:spPr>
          <a:xfrm>
            <a:off x="4434840" y="1856232"/>
            <a:ext cx="2788920" cy="228600"/>
          </a:xfrm>
          <a:prstGeom prst="rect">
            <a:avLst/>
          </a:prstGeom>
          <a:noFill/>
          <a:ln/>
        </p:spPr>
        <p:txBody>
          <a:bodyPr wrap="square" lIns="0" tIns="0" rIns="0" bIns="0" rtlCol="0" anchor="ctr">
            <a:normAutofit/>
          </a:bodyPr>
          <a:lstStyle/>
          <a:p>
            <a:pPr algn="ctr" indent="0" marL="0">
              <a:buNone/>
            </a:pPr>
            <a:r>
              <a:rPr lang="en-US" sz="1050" b="1" spc="80" kern="0" dirty="0">
                <a:solidFill>
                  <a:srgbClr val="687782"/>
                </a:solidFill>
                <a:latin typeface="Arial" pitchFamily="34" charset="0"/>
                <a:ea typeface="Arial" pitchFamily="34" charset="-122"/>
                <a:cs typeface="Arial" pitchFamily="34" charset="-120"/>
              </a:rPr>
              <a:t>IN FORCE ON 19 SEP</a:t>
            </a:r>
            <a:endParaRPr lang="en-US" sz="1050" dirty="0"/>
          </a:p>
        </p:txBody>
      </p:sp>
      <p:sp>
        <p:nvSpPr>
          <p:cNvPr id="12" name="Text 10"/>
          <p:cNvSpPr/>
          <p:nvPr/>
        </p:nvSpPr>
        <p:spPr>
          <a:xfrm>
            <a:off x="4434840" y="2212848"/>
            <a:ext cx="2788920" cy="365760"/>
          </a:xfrm>
          <a:prstGeom prst="rect">
            <a:avLst/>
          </a:prstGeom>
          <a:noFill/>
          <a:ln/>
        </p:spPr>
        <p:txBody>
          <a:bodyPr wrap="square" lIns="0" tIns="0" rIns="0" bIns="0" rtlCol="0" anchor="ctr">
            <a:normAutofit/>
          </a:bodyPr>
          <a:lstStyle/>
          <a:p>
            <a:pPr algn="ctr" indent="0" marL="0">
              <a:buNone/>
            </a:pPr>
            <a:r>
              <a:rPr lang="en-US" sz="2300" b="1" dirty="0">
                <a:solidFill>
                  <a:srgbClr val="17232C"/>
                </a:solidFill>
                <a:latin typeface="Arial" pitchFamily="34" charset="0"/>
                <a:ea typeface="Arial" pitchFamily="34" charset="-122"/>
                <a:cs typeface="Arial" pitchFamily="34" charset="-120"/>
              </a:rPr>
              <a:t>172.6 JPY/EUR</a:t>
            </a:r>
            <a:endParaRPr lang="en-US" sz="2300" dirty="0"/>
          </a:p>
        </p:txBody>
      </p:sp>
      <p:sp>
        <p:nvSpPr>
          <p:cNvPr id="13" name="Text 11"/>
          <p:cNvSpPr/>
          <p:nvPr/>
        </p:nvSpPr>
        <p:spPr>
          <a:xfrm>
            <a:off x="4434840" y="2688336"/>
            <a:ext cx="2788920" cy="283464"/>
          </a:xfrm>
          <a:prstGeom prst="rect">
            <a:avLst/>
          </a:prstGeom>
          <a:noFill/>
          <a:ln/>
        </p:spPr>
        <p:txBody>
          <a:bodyPr wrap="square" lIns="0" tIns="0" rIns="0" bIns="0" rtlCol="0" anchor="ctr">
            <a:normAutofit/>
          </a:bodyPr>
          <a:lstStyle/>
          <a:p>
            <a:pPr algn="ctr" indent="0" marL="0">
              <a:buNone/>
            </a:pPr>
            <a:r>
              <a:rPr lang="en-US" sz="1450" dirty="0">
                <a:solidFill>
                  <a:srgbClr val="687782"/>
                </a:solidFill>
                <a:latin typeface="Arial" pitchFamily="34" charset="0"/>
                <a:ea typeface="Arial" pitchFamily="34" charset="-122"/>
                <a:cs typeface="Arial" pitchFamily="34" charset="-120"/>
              </a:rPr>
              <a:t>32.7% purchasing discount</a:t>
            </a:r>
            <a:endParaRPr lang="en-US" sz="1450" dirty="0"/>
          </a:p>
        </p:txBody>
      </p:sp>
      <p:sp>
        <p:nvSpPr>
          <p:cNvPr id="14" name="Text 12"/>
          <p:cNvSpPr/>
          <p:nvPr/>
        </p:nvSpPr>
        <p:spPr>
          <a:xfrm>
            <a:off x="8147304" y="1856232"/>
            <a:ext cx="2788920" cy="228600"/>
          </a:xfrm>
          <a:prstGeom prst="rect">
            <a:avLst/>
          </a:prstGeom>
          <a:noFill/>
          <a:ln/>
        </p:spPr>
        <p:txBody>
          <a:bodyPr wrap="square" lIns="0" tIns="0" rIns="0" bIns="0" rtlCol="0" anchor="ctr">
            <a:normAutofit/>
          </a:bodyPr>
          <a:lstStyle/>
          <a:p>
            <a:pPr algn="ctr" indent="0" marL="0">
              <a:buNone/>
            </a:pPr>
            <a:r>
              <a:rPr lang="en-US" sz="1050" b="1" spc="80" kern="0" dirty="0">
                <a:solidFill>
                  <a:srgbClr val="687782"/>
                </a:solidFill>
                <a:latin typeface="Arial" pitchFamily="34" charset="0"/>
                <a:ea typeface="Arial" pitchFamily="34" charset="-122"/>
                <a:cs typeface="Arial" pitchFamily="34" charset="-120"/>
              </a:rPr>
              <a:t>ANNOUNCED NEXT RATE</a:t>
            </a:r>
            <a:endParaRPr lang="en-US" sz="1050" dirty="0"/>
          </a:p>
        </p:txBody>
      </p:sp>
      <p:sp>
        <p:nvSpPr>
          <p:cNvPr id="15" name="Text 13"/>
          <p:cNvSpPr/>
          <p:nvPr/>
        </p:nvSpPr>
        <p:spPr>
          <a:xfrm>
            <a:off x="8147304" y="2212848"/>
            <a:ext cx="2788920" cy="365760"/>
          </a:xfrm>
          <a:prstGeom prst="rect">
            <a:avLst/>
          </a:prstGeom>
          <a:noFill/>
          <a:ln/>
        </p:spPr>
        <p:txBody>
          <a:bodyPr wrap="square" lIns="0" tIns="0" rIns="0" bIns="0" rtlCol="0" anchor="ctr">
            <a:normAutofit/>
          </a:bodyPr>
          <a:lstStyle/>
          <a:p>
            <a:pPr algn="ctr" indent="0" marL="0">
              <a:buNone/>
            </a:pPr>
            <a:r>
              <a:rPr lang="en-US" sz="2300" b="1" dirty="0">
                <a:solidFill>
                  <a:srgbClr val="17232C"/>
                </a:solidFill>
                <a:latin typeface="Arial" pitchFamily="34" charset="0"/>
                <a:ea typeface="Arial" pitchFamily="34" charset="-122"/>
                <a:cs typeface="Arial" pitchFamily="34" charset="-120"/>
              </a:rPr>
              <a:t>178.5 JPY/EUR</a:t>
            </a:r>
            <a:endParaRPr lang="en-US" sz="2300" dirty="0"/>
          </a:p>
        </p:txBody>
      </p:sp>
      <p:sp>
        <p:nvSpPr>
          <p:cNvPr id="16" name="Text 14"/>
          <p:cNvSpPr/>
          <p:nvPr/>
        </p:nvSpPr>
        <p:spPr>
          <a:xfrm>
            <a:off x="8147304" y="2688336"/>
            <a:ext cx="2788920" cy="283464"/>
          </a:xfrm>
          <a:prstGeom prst="rect">
            <a:avLst/>
          </a:prstGeom>
          <a:noFill/>
          <a:ln/>
        </p:spPr>
        <p:txBody>
          <a:bodyPr wrap="square" lIns="0" tIns="0" rIns="0" bIns="0" rtlCol="0" anchor="ctr">
            <a:normAutofit/>
          </a:bodyPr>
          <a:lstStyle/>
          <a:p>
            <a:pPr algn="ctr" indent="0" marL="0">
              <a:buNone/>
            </a:pPr>
            <a:r>
              <a:rPr lang="en-US" sz="1450" dirty="0">
                <a:solidFill>
                  <a:srgbClr val="687782"/>
                </a:solidFill>
                <a:latin typeface="Arial" pitchFamily="34" charset="0"/>
                <a:ea typeface="Arial" pitchFamily="34" charset="-122"/>
                <a:cs typeface="Arial" pitchFamily="34" charset="-120"/>
              </a:rPr>
              <a:t>32.7% purchasing discount</a:t>
            </a:r>
            <a:endParaRPr lang="en-US" sz="1450" dirty="0"/>
          </a:p>
        </p:txBody>
      </p:sp>
      <p:sp>
        <p:nvSpPr>
          <p:cNvPr id="17" name="Shape 15"/>
          <p:cNvSpPr/>
          <p:nvPr/>
        </p:nvSpPr>
        <p:spPr>
          <a:xfrm>
            <a:off x="749808" y="4727448"/>
            <a:ext cx="10625328" cy="0"/>
          </a:xfrm>
          <a:prstGeom prst="line">
            <a:avLst/>
          </a:prstGeom>
          <a:noFill/>
          <a:ln w="12700">
            <a:solidFill>
              <a:srgbClr val="DCE2E6"/>
            </a:solidFill>
            <a:prstDash val="solid"/>
            <a:headEnd type="none"/>
            <a:tailEnd type="none"/>
          </a:ln>
        </p:spPr>
      </p:sp>
      <p:sp>
        <p:nvSpPr>
          <p:cNvPr id="18" name="Shape 16"/>
          <p:cNvSpPr/>
          <p:nvPr/>
        </p:nvSpPr>
        <p:spPr>
          <a:xfrm>
            <a:off x="1042416" y="3577394"/>
            <a:ext cx="2194560" cy="1150054"/>
          </a:xfrm>
          <a:prstGeom prst="rect">
            <a:avLst/>
          </a:prstGeom>
          <a:solidFill>
            <a:srgbClr val="A7B0B7"/>
          </a:solidFill>
          <a:ln w="12700">
            <a:solidFill>
              <a:srgbClr val="A7B0B7"/>
            </a:solidFill>
            <a:prstDash val="solid"/>
          </a:ln>
        </p:spPr>
      </p:sp>
      <p:sp>
        <p:nvSpPr>
          <p:cNvPr id="19" name="Text 17"/>
          <p:cNvSpPr/>
          <p:nvPr/>
        </p:nvSpPr>
        <p:spPr>
          <a:xfrm>
            <a:off x="1042416" y="3147626"/>
            <a:ext cx="2194560" cy="338328"/>
          </a:xfrm>
          <a:prstGeom prst="rect">
            <a:avLst/>
          </a:prstGeom>
          <a:noFill/>
          <a:ln/>
        </p:spPr>
        <p:txBody>
          <a:bodyPr wrap="square" lIns="0" tIns="0" rIns="0" bIns="0" rtlCol="0" anchor="ctr">
            <a:normAutofit/>
          </a:bodyPr>
          <a:lstStyle/>
          <a:p>
            <a:pPr algn="ctr" indent="0" marL="0">
              <a:buNone/>
            </a:pPr>
            <a:r>
              <a:rPr lang="en-US" sz="2500" b="1" dirty="0">
                <a:solidFill>
                  <a:srgbClr val="17232C"/>
                </a:solidFill>
                <a:latin typeface="Arial" pitchFamily="34" charset="0"/>
                <a:ea typeface="Arial" pitchFamily="34" charset="-122"/>
                <a:cs typeface="Arial" pitchFamily="34" charset="-120"/>
              </a:rPr>
              <a:t>€62.00</a:t>
            </a:r>
            <a:endParaRPr lang="en-US" sz="2500" dirty="0"/>
          </a:p>
        </p:txBody>
      </p:sp>
      <p:sp>
        <p:nvSpPr>
          <p:cNvPr id="20" name="Text 18"/>
          <p:cNvSpPr/>
          <p:nvPr/>
        </p:nvSpPr>
        <p:spPr>
          <a:xfrm>
            <a:off x="649224" y="4855464"/>
            <a:ext cx="2971800" cy="310896"/>
          </a:xfrm>
          <a:prstGeom prst="rect">
            <a:avLst/>
          </a:prstGeom>
          <a:noFill/>
          <a:ln/>
        </p:spPr>
        <p:txBody>
          <a:bodyPr wrap="square" lIns="0" tIns="0" rIns="0" bIns="0" rtlCol="0" anchor="ctr">
            <a:normAutofit/>
          </a:bodyPr>
          <a:lstStyle/>
          <a:p>
            <a:pPr algn="ctr" indent="0" marL="0">
              <a:buNone/>
            </a:pPr>
            <a:r>
              <a:rPr lang="en-US" sz="1380" dirty="0">
                <a:solidFill>
                  <a:srgbClr val="687782"/>
                </a:solidFill>
                <a:latin typeface="Arial" pitchFamily="34" charset="0"/>
                <a:ea typeface="Arial" pitchFamily="34" charset="-122"/>
                <a:cs typeface="Arial" pitchFamily="34" charset="-120"/>
              </a:rPr>
              <a:t>October 2025 basis</a:t>
            </a:r>
            <a:endParaRPr lang="en-US" sz="1380" dirty="0"/>
          </a:p>
        </p:txBody>
      </p:sp>
      <p:sp>
        <p:nvSpPr>
          <p:cNvPr id="21" name="Shape 19"/>
          <p:cNvSpPr/>
          <p:nvPr/>
        </p:nvSpPr>
        <p:spPr>
          <a:xfrm>
            <a:off x="4745736" y="3543454"/>
            <a:ext cx="2194560" cy="1183994"/>
          </a:xfrm>
          <a:prstGeom prst="rect">
            <a:avLst/>
          </a:prstGeom>
          <a:solidFill>
            <a:srgbClr val="687782"/>
          </a:solidFill>
          <a:ln w="12700">
            <a:solidFill>
              <a:srgbClr val="687782"/>
            </a:solidFill>
            <a:prstDash val="solid"/>
          </a:ln>
        </p:spPr>
      </p:sp>
      <p:sp>
        <p:nvSpPr>
          <p:cNvPr id="22" name="Text 20"/>
          <p:cNvSpPr/>
          <p:nvPr/>
        </p:nvSpPr>
        <p:spPr>
          <a:xfrm>
            <a:off x="4745736" y="3113686"/>
            <a:ext cx="2194560" cy="338328"/>
          </a:xfrm>
          <a:prstGeom prst="rect">
            <a:avLst/>
          </a:prstGeom>
          <a:noFill/>
          <a:ln/>
        </p:spPr>
        <p:txBody>
          <a:bodyPr wrap="square" lIns="0" tIns="0" rIns="0" bIns="0" rtlCol="0" anchor="ctr">
            <a:normAutofit/>
          </a:bodyPr>
          <a:lstStyle/>
          <a:p>
            <a:pPr algn="ctr" indent="0" marL="0">
              <a:buNone/>
            </a:pPr>
            <a:r>
              <a:rPr lang="en-US" sz="2500" b="1" dirty="0">
                <a:solidFill>
                  <a:srgbClr val="17232C"/>
                </a:solidFill>
                <a:latin typeface="Arial" pitchFamily="34" charset="0"/>
                <a:ea typeface="Arial" pitchFamily="34" charset="-122"/>
                <a:cs typeface="Arial" pitchFamily="34" charset="-120"/>
              </a:rPr>
              <a:t>€63.83</a:t>
            </a:r>
            <a:endParaRPr lang="en-US" sz="2500" dirty="0"/>
          </a:p>
        </p:txBody>
      </p:sp>
      <p:sp>
        <p:nvSpPr>
          <p:cNvPr id="23" name="Text 21"/>
          <p:cNvSpPr/>
          <p:nvPr/>
        </p:nvSpPr>
        <p:spPr>
          <a:xfrm>
            <a:off x="4352544" y="4855464"/>
            <a:ext cx="2971800" cy="310896"/>
          </a:xfrm>
          <a:prstGeom prst="rect">
            <a:avLst/>
          </a:prstGeom>
          <a:noFill/>
          <a:ln/>
        </p:spPr>
        <p:txBody>
          <a:bodyPr wrap="square" lIns="0" tIns="0" rIns="0" bIns="0" rtlCol="0" anchor="ctr">
            <a:normAutofit/>
          </a:bodyPr>
          <a:lstStyle/>
          <a:p>
            <a:pPr algn="ctr" indent="0" marL="0">
              <a:buNone/>
            </a:pPr>
            <a:r>
              <a:rPr lang="en-US" sz="1380" dirty="0">
                <a:solidFill>
                  <a:srgbClr val="687782"/>
                </a:solidFill>
                <a:latin typeface="Arial" pitchFamily="34" charset="0"/>
                <a:ea typeface="Arial" pitchFamily="34" charset="-122"/>
                <a:cs typeface="Arial" pitchFamily="34" charset="-120"/>
              </a:rPr>
              <a:t>1 Apr - 30 Sep 2026</a:t>
            </a:r>
            <a:endParaRPr lang="en-US" sz="1380" dirty="0"/>
          </a:p>
        </p:txBody>
      </p:sp>
      <p:sp>
        <p:nvSpPr>
          <p:cNvPr id="24" name="Shape 22"/>
          <p:cNvSpPr/>
          <p:nvPr/>
        </p:nvSpPr>
        <p:spPr>
          <a:xfrm>
            <a:off x="8458200" y="3582589"/>
            <a:ext cx="2194560" cy="1144859"/>
          </a:xfrm>
          <a:prstGeom prst="rect">
            <a:avLst/>
          </a:prstGeom>
          <a:solidFill>
            <a:srgbClr val="ED0016"/>
          </a:solidFill>
          <a:ln w="12700">
            <a:solidFill>
              <a:srgbClr val="ED0016"/>
            </a:solidFill>
            <a:prstDash val="solid"/>
          </a:ln>
        </p:spPr>
      </p:sp>
      <p:sp>
        <p:nvSpPr>
          <p:cNvPr id="25" name="Text 23"/>
          <p:cNvSpPr/>
          <p:nvPr/>
        </p:nvSpPr>
        <p:spPr>
          <a:xfrm>
            <a:off x="8458200" y="3152821"/>
            <a:ext cx="2194560" cy="338328"/>
          </a:xfrm>
          <a:prstGeom prst="rect">
            <a:avLst/>
          </a:prstGeom>
          <a:noFill/>
          <a:ln/>
        </p:spPr>
        <p:txBody>
          <a:bodyPr wrap="square" lIns="0" tIns="0" rIns="0" bIns="0" rtlCol="0" anchor="ctr">
            <a:normAutofit/>
          </a:bodyPr>
          <a:lstStyle/>
          <a:p>
            <a:pPr algn="ctr" indent="0" marL="0">
              <a:buNone/>
            </a:pPr>
            <a:r>
              <a:rPr lang="en-US" sz="2500" b="1" dirty="0">
                <a:solidFill>
                  <a:srgbClr val="17232C"/>
                </a:solidFill>
                <a:latin typeface="Arial" pitchFamily="34" charset="0"/>
                <a:ea typeface="Arial" pitchFamily="34" charset="-122"/>
                <a:cs typeface="Arial" pitchFamily="34" charset="-120"/>
              </a:rPr>
              <a:t>€61.72</a:t>
            </a:r>
            <a:endParaRPr lang="en-US" sz="2500" dirty="0"/>
          </a:p>
        </p:txBody>
      </p:sp>
      <p:sp>
        <p:nvSpPr>
          <p:cNvPr id="26" name="Text 24"/>
          <p:cNvSpPr/>
          <p:nvPr/>
        </p:nvSpPr>
        <p:spPr>
          <a:xfrm>
            <a:off x="8065008" y="4855464"/>
            <a:ext cx="2971800" cy="310896"/>
          </a:xfrm>
          <a:prstGeom prst="rect">
            <a:avLst/>
          </a:prstGeom>
          <a:noFill/>
          <a:ln/>
        </p:spPr>
        <p:txBody>
          <a:bodyPr wrap="square" lIns="0" tIns="0" rIns="0" bIns="0" rtlCol="0" anchor="ctr">
            <a:normAutofit/>
          </a:bodyPr>
          <a:lstStyle/>
          <a:p>
            <a:pPr algn="ctr" indent="0" marL="0">
              <a:buNone/>
            </a:pPr>
            <a:r>
              <a:rPr lang="en-US" sz="1380" dirty="0">
                <a:solidFill>
                  <a:srgbClr val="687782"/>
                </a:solidFill>
                <a:latin typeface="Arial" pitchFamily="34" charset="0"/>
                <a:ea typeface="Arial" pitchFamily="34" charset="-122"/>
                <a:cs typeface="Arial" pitchFamily="34" charset="-120"/>
              </a:rPr>
              <a:t>1 Oct 2026 - 31 Mar 2027</a:t>
            </a:r>
            <a:endParaRPr lang="en-US" sz="1380" dirty="0"/>
          </a:p>
        </p:txBody>
      </p:sp>
      <p:sp>
        <p:nvSpPr>
          <p:cNvPr id="27" name="Text 25"/>
          <p:cNvSpPr/>
          <p:nvPr/>
        </p:nvSpPr>
        <p:spPr>
          <a:xfrm>
            <a:off x="585216" y="4562856"/>
            <a:ext cx="201168" cy="182880"/>
          </a:xfrm>
          <a:prstGeom prst="rect">
            <a:avLst/>
          </a:prstGeom>
          <a:noFill/>
          <a:ln/>
        </p:spPr>
        <p:txBody>
          <a:bodyPr wrap="square" lIns="0" tIns="0" rIns="0" bIns="0" rtlCol="0" anchor="ctr">
            <a:normAutofit/>
          </a:bodyPr>
          <a:lstStyle/>
          <a:p>
            <a:pPr algn="r" indent="0" marL="0">
              <a:buNone/>
            </a:pPr>
            <a:r>
              <a:rPr lang="en-US" sz="1050" dirty="0">
                <a:solidFill>
                  <a:srgbClr val="687782"/>
                </a:solidFill>
                <a:latin typeface="Arial" pitchFamily="34" charset="0"/>
                <a:ea typeface="Arial" pitchFamily="34" charset="-122"/>
                <a:cs typeface="Arial" pitchFamily="34" charset="-120"/>
              </a:rPr>
              <a:t>0</a:t>
            </a:r>
            <a:endParaRPr lang="en-US" sz="1050" dirty="0"/>
          </a:p>
        </p:txBody>
      </p:sp>
      <p:sp>
        <p:nvSpPr>
          <p:cNvPr id="28" name="Shape 26"/>
          <p:cNvSpPr/>
          <p:nvPr/>
        </p:nvSpPr>
        <p:spPr>
          <a:xfrm>
            <a:off x="6053328" y="5404104"/>
            <a:ext cx="0" cy="704088"/>
          </a:xfrm>
          <a:prstGeom prst="line">
            <a:avLst/>
          </a:prstGeom>
          <a:noFill/>
          <a:ln w="12700">
            <a:solidFill>
              <a:srgbClr val="DCE2E6"/>
            </a:solidFill>
            <a:prstDash val="solid"/>
            <a:headEnd type="none"/>
            <a:tailEnd type="none"/>
          </a:ln>
        </p:spPr>
      </p:sp>
      <p:sp>
        <p:nvSpPr>
          <p:cNvPr id="29" name="Text 27"/>
          <p:cNvSpPr/>
          <p:nvPr/>
        </p:nvSpPr>
        <p:spPr>
          <a:xfrm>
            <a:off x="530352" y="5458968"/>
            <a:ext cx="2313432" cy="566928"/>
          </a:xfrm>
          <a:prstGeom prst="rect">
            <a:avLst/>
          </a:prstGeom>
          <a:noFill/>
          <a:ln/>
        </p:spPr>
        <p:txBody>
          <a:bodyPr wrap="square" lIns="0" tIns="0" rIns="0" bIns="0" rtlCol="0" anchor="ctr">
            <a:normAutofit/>
          </a:bodyPr>
          <a:lstStyle/>
          <a:p>
            <a:pPr indent="0" marL="0">
              <a:buNone/>
            </a:pPr>
            <a:r>
              <a:rPr lang="en-US" sz="3100" b="1" dirty="0">
                <a:solidFill>
                  <a:srgbClr val="ED0016"/>
                </a:solidFill>
                <a:latin typeface="Arial" pitchFamily="34" charset="0"/>
                <a:ea typeface="Arial" pitchFamily="34" charset="-122"/>
                <a:cs typeface="Arial" pitchFamily="34" charset="-120"/>
              </a:rPr>
              <a:t>−0.45%</a:t>
            </a:r>
            <a:endParaRPr lang="en-US" sz="3100" dirty="0"/>
          </a:p>
        </p:txBody>
      </p:sp>
      <p:sp>
        <p:nvSpPr>
          <p:cNvPr id="30" name="Text 28"/>
          <p:cNvSpPr/>
          <p:nvPr/>
        </p:nvSpPr>
        <p:spPr>
          <a:xfrm>
            <a:off x="2944368" y="5477256"/>
            <a:ext cx="2962656" cy="585216"/>
          </a:xfrm>
          <a:prstGeom prst="rect">
            <a:avLst/>
          </a:prstGeom>
          <a:noFill/>
          <a:ln/>
        </p:spPr>
        <p:txBody>
          <a:bodyPr wrap="square" lIns="0" tIns="0" rIns="0" bIns="0" rtlCol="0" anchor="ctr">
            <a:normAutofit/>
          </a:bodyPr>
          <a:lstStyle/>
          <a:p>
            <a:pPr indent="0" marL="0">
              <a:buNone/>
            </a:pPr>
            <a:r>
              <a:rPr lang="en-US" sz="1720" b="1" dirty="0">
                <a:solidFill>
                  <a:srgbClr val="17232C"/>
                </a:solidFill>
                <a:latin typeface="Arial" pitchFamily="34" charset="0"/>
                <a:ea typeface="Arial" pitchFamily="34" charset="-122"/>
                <a:cs typeface="Arial" pitchFamily="34" charset="-120"/>
              </a:rPr>
              <a:t>October cost vs selling-list basis:</a:t>
            </a:r>
            <a:endParaRPr lang="en-US" sz="1720" dirty="0"/>
          </a:p>
          <a:p>
            <a:pPr indent="0" marL="0">
              <a:buNone/>
            </a:pPr>
            <a:r>
              <a:rPr lang="en-US" sz="1720" b="1" dirty="0">
                <a:solidFill>
                  <a:srgbClr val="17232C"/>
                </a:solidFill>
                <a:latin typeface="Arial" pitchFamily="34" charset="0"/>
                <a:ea typeface="Arial" pitchFamily="34" charset="-122"/>
                <a:cs typeface="Arial" pitchFamily="34" charset="-120"/>
              </a:rPr>
              <a:t>almost flat after both changes.</a:t>
            </a:r>
            <a:endParaRPr lang="en-US" sz="1720" dirty="0"/>
          </a:p>
        </p:txBody>
      </p:sp>
      <p:sp>
        <p:nvSpPr>
          <p:cNvPr id="31" name="Text 29"/>
          <p:cNvSpPr/>
          <p:nvPr/>
        </p:nvSpPr>
        <p:spPr>
          <a:xfrm>
            <a:off x="6446520" y="5458968"/>
            <a:ext cx="2313432" cy="566928"/>
          </a:xfrm>
          <a:prstGeom prst="rect">
            <a:avLst/>
          </a:prstGeom>
          <a:noFill/>
          <a:ln/>
        </p:spPr>
        <p:txBody>
          <a:bodyPr wrap="square" lIns="0" tIns="0" rIns="0" bIns="0" rtlCol="0" anchor="ctr">
            <a:normAutofit/>
          </a:bodyPr>
          <a:lstStyle/>
          <a:p>
            <a:pPr indent="0" marL="0">
              <a:buNone/>
            </a:pPr>
            <a:r>
              <a:rPr lang="en-US" sz="3100" b="1" dirty="0">
                <a:solidFill>
                  <a:srgbClr val="ED0016"/>
                </a:solidFill>
                <a:latin typeface="Arial" pitchFamily="34" charset="0"/>
                <a:ea typeface="Arial" pitchFamily="34" charset="-122"/>
                <a:cs typeface="Arial" pitchFamily="34" charset="-120"/>
              </a:rPr>
              <a:t>−3.31%</a:t>
            </a:r>
            <a:endParaRPr lang="en-US" sz="3100" dirty="0"/>
          </a:p>
        </p:txBody>
      </p:sp>
      <p:sp>
        <p:nvSpPr>
          <p:cNvPr id="32" name="Text 30"/>
          <p:cNvSpPr/>
          <p:nvPr/>
        </p:nvSpPr>
        <p:spPr>
          <a:xfrm>
            <a:off x="8833104" y="5477256"/>
            <a:ext cx="2807208" cy="585216"/>
          </a:xfrm>
          <a:prstGeom prst="rect">
            <a:avLst/>
          </a:prstGeom>
          <a:noFill/>
          <a:ln/>
        </p:spPr>
        <p:txBody>
          <a:bodyPr wrap="square" lIns="0" tIns="0" rIns="0" bIns="0" rtlCol="0" anchor="ctr">
            <a:normAutofit/>
          </a:bodyPr>
          <a:lstStyle/>
          <a:p>
            <a:pPr indent="0" marL="0">
              <a:buNone/>
            </a:pPr>
            <a:r>
              <a:rPr lang="en-US" sz="1720" b="1" dirty="0">
                <a:solidFill>
                  <a:srgbClr val="17232C"/>
                </a:solidFill>
                <a:latin typeface="Arial" pitchFamily="34" charset="0"/>
                <a:ea typeface="Arial" pitchFamily="34" charset="-122"/>
                <a:cs typeface="Arial" pitchFamily="34" charset="-120"/>
              </a:rPr>
              <a:t>October vs April-September:</a:t>
            </a:r>
            <a:endParaRPr lang="en-US" sz="1720" dirty="0"/>
          </a:p>
          <a:p>
            <a:pPr indent="0" marL="0">
              <a:buNone/>
            </a:pPr>
            <a:r>
              <a:rPr lang="en-US" sz="1720" b="1" dirty="0">
                <a:solidFill>
                  <a:srgbClr val="17232C"/>
                </a:solidFill>
                <a:latin typeface="Arial" pitchFamily="34" charset="0"/>
                <a:ea typeface="Arial" pitchFamily="34" charset="-122"/>
                <a:cs typeface="Arial" pitchFamily="34" charset="-120"/>
              </a:rPr>
              <a:t>the new rate alone lowers cost.</a:t>
            </a:r>
            <a:endParaRPr lang="en-US" sz="1720" dirty="0"/>
          </a:p>
        </p:txBody>
      </p:sp>
    </p:spTree>
  </p:cSld>
  <p:clrMapOvr>
    <a:masterClrMapping/>
  </p:clrMapOvr>
  <p:transition spd="fast" advClick="1">
    <p:fade/>
  </p:transition>
</p:sld>
</file>

<file path=ppt/slides/slide6.xml><?xml version="1.0" encoding="utf-8"?>
<p:sld xmlns:a="http://schemas.openxmlformats.org/drawingml/2006/main" xmlns:r="http://schemas.openxmlformats.org/officeDocument/2006/relationships" xmlns:p="http://schemas.openxmlformats.org/presentationml/2006/main">
  <p:cSld name="Version 1.2 - 06">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WHY REPLACE PRICE CLASSES</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17232C"/>
                </a:solidFill>
                <a:latin typeface="Arial" pitchFamily="34" charset="0"/>
                <a:ea typeface="Arial" pitchFamily="34" charset="-122"/>
                <a:cs typeface="Arial" pitchFamily="34" charset="-120"/>
              </a:rPr>
              <a:t>Nearly three in four classed parts share one margin rule.</a:t>
            </a:r>
            <a:endParaRPr lang="en-US" sz="3100" dirty="0"/>
          </a:p>
        </p:txBody>
      </p:sp>
      <p:sp>
        <p:nvSpPr>
          <p:cNvPr id="5" name="Shape 3"/>
          <p:cNvSpPr/>
          <p:nvPr/>
        </p:nvSpPr>
        <p:spPr>
          <a:xfrm>
            <a:off x="530352" y="6373368"/>
            <a:ext cx="11128248" cy="0"/>
          </a:xfrm>
          <a:prstGeom prst="line">
            <a:avLst/>
          </a:prstGeom>
          <a:noFill/>
          <a:ln w="10160">
            <a:solidFill>
              <a:srgbClr val="DCE2E6"/>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687782"/>
                </a:solidFill>
                <a:latin typeface="Arial" pitchFamily="34" charset="0"/>
                <a:ea typeface="Arial" pitchFamily="34" charset="-122"/>
                <a:cs typeface="Arial" pitchFamily="34" charset="-120"/>
              </a:rPr>
              <a:t>Source: Price Master, August 2026. Share of current classed part numbers; not turnover share.</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687782"/>
                </a:solidFill>
                <a:latin typeface="Arial" pitchFamily="34" charset="0"/>
                <a:ea typeface="Arial" pitchFamily="34" charset="-122"/>
                <a:cs typeface="Arial" pitchFamily="34" charset="-120"/>
              </a:rPr>
              <a:t>v1.2  |  06</a:t>
            </a:r>
            <a:endParaRPr lang="en-US" sz="940" dirty="0"/>
          </a:p>
        </p:txBody>
      </p:sp>
      <p:sp>
        <p:nvSpPr>
          <p:cNvPr id="8" name="Text 6"/>
          <p:cNvSpPr/>
          <p:nvPr/>
        </p:nvSpPr>
        <p:spPr>
          <a:xfrm>
            <a:off x="530352" y="1947672"/>
            <a:ext cx="3776472" cy="1252728"/>
          </a:xfrm>
          <a:prstGeom prst="rect">
            <a:avLst/>
          </a:prstGeom>
          <a:noFill/>
          <a:ln/>
        </p:spPr>
        <p:txBody>
          <a:bodyPr wrap="square" lIns="0" tIns="0" rIns="0" bIns="0" rtlCol="0" anchor="ctr">
            <a:normAutofit/>
          </a:bodyPr>
          <a:lstStyle/>
          <a:p>
            <a:pPr indent="0" marL="0">
              <a:buNone/>
            </a:pPr>
            <a:r>
              <a:rPr lang="en-US" sz="7600" b="1" dirty="0">
                <a:solidFill>
                  <a:srgbClr val="ED0016"/>
                </a:solidFill>
                <a:latin typeface="Arial" pitchFamily="34" charset="0"/>
                <a:ea typeface="Arial" pitchFamily="34" charset="-122"/>
                <a:cs typeface="Arial" pitchFamily="34" charset="-120"/>
              </a:rPr>
              <a:t>74.9%</a:t>
            </a:r>
            <a:endParaRPr lang="en-US" sz="7600" dirty="0"/>
          </a:p>
        </p:txBody>
      </p:sp>
      <p:sp>
        <p:nvSpPr>
          <p:cNvPr id="9" name="Text 7"/>
          <p:cNvSpPr/>
          <p:nvPr/>
        </p:nvSpPr>
        <p:spPr>
          <a:xfrm>
            <a:off x="4645152" y="1993392"/>
            <a:ext cx="3355848" cy="557784"/>
          </a:xfrm>
          <a:prstGeom prst="rect">
            <a:avLst/>
          </a:prstGeom>
          <a:noFill/>
          <a:ln/>
        </p:spPr>
        <p:txBody>
          <a:bodyPr wrap="square" lIns="0" tIns="0" rIns="0" bIns="0" rtlCol="0" anchor="ctr">
            <a:normAutofit/>
          </a:bodyPr>
          <a:lstStyle/>
          <a:p>
            <a:pPr indent="0" marL="0">
              <a:buNone/>
            </a:pPr>
            <a:r>
              <a:rPr lang="en-US" sz="3000" b="1" dirty="0">
                <a:solidFill>
                  <a:srgbClr val="17232C"/>
                </a:solidFill>
                <a:latin typeface="Arial" pitchFamily="34" charset="0"/>
                <a:ea typeface="Arial" pitchFamily="34" charset="-122"/>
                <a:cs typeface="Arial" pitchFamily="34" charset="-120"/>
              </a:rPr>
              <a:t>Class C</a:t>
            </a:r>
            <a:endParaRPr lang="en-US" sz="3000" dirty="0"/>
          </a:p>
        </p:txBody>
      </p:sp>
      <p:sp>
        <p:nvSpPr>
          <p:cNvPr id="10" name="Text 8"/>
          <p:cNvSpPr/>
          <p:nvPr/>
        </p:nvSpPr>
        <p:spPr>
          <a:xfrm>
            <a:off x="4645152" y="2706624"/>
            <a:ext cx="6638544" cy="731520"/>
          </a:xfrm>
          <a:prstGeom prst="rect">
            <a:avLst/>
          </a:prstGeom>
          <a:noFill/>
          <a:ln/>
        </p:spPr>
        <p:txBody>
          <a:bodyPr wrap="square" lIns="0" tIns="0" rIns="0" bIns="0" rtlCol="0" anchor="ctr">
            <a:normAutofit/>
          </a:bodyPr>
          <a:lstStyle/>
          <a:p>
            <a:pPr indent="0" marL="0">
              <a:buNone/>
            </a:pPr>
            <a:r>
              <a:rPr lang="en-US" sz="2400" b="1" dirty="0">
                <a:solidFill>
                  <a:srgbClr val="17232C"/>
                </a:solidFill>
                <a:latin typeface="Arial" pitchFamily="34" charset="0"/>
                <a:ea typeface="Arial" pitchFamily="34" charset="-122"/>
                <a:cs typeface="Arial" pitchFamily="34" charset="-120"/>
              </a:rPr>
              <a:t>53% formula margin, despite different</a:t>
            </a:r>
            <a:endParaRPr lang="en-US" sz="2400" dirty="0"/>
          </a:p>
          <a:p>
            <a:pPr indent="0" marL="0">
              <a:buNone/>
            </a:pPr>
            <a:r>
              <a:rPr lang="en-US" sz="2400" b="1" dirty="0">
                <a:solidFill>
                  <a:srgbClr val="17232C"/>
                </a:solidFill>
                <a:latin typeface="Arial" pitchFamily="34" charset="0"/>
                <a:ea typeface="Arial" pitchFamily="34" charset="-122"/>
                <a:cs typeface="Arial" pitchFamily="34" charset="-120"/>
              </a:rPr>
              <a:t>competitive situations.</a:t>
            </a:r>
            <a:endParaRPr lang="en-US" sz="2400" dirty="0"/>
          </a:p>
        </p:txBody>
      </p:sp>
      <p:sp>
        <p:nvSpPr>
          <p:cNvPr id="11" name="Shape 9"/>
          <p:cNvSpPr/>
          <p:nvPr/>
        </p:nvSpPr>
        <p:spPr>
          <a:xfrm>
            <a:off x="530352" y="3794760"/>
            <a:ext cx="8330219" cy="594360"/>
          </a:xfrm>
          <a:prstGeom prst="rect">
            <a:avLst/>
          </a:prstGeom>
          <a:solidFill>
            <a:srgbClr val="ED0016"/>
          </a:solidFill>
          <a:ln w="12700">
            <a:solidFill>
              <a:srgbClr val="ED0016"/>
            </a:solidFill>
            <a:prstDash val="solid"/>
          </a:ln>
        </p:spPr>
      </p:sp>
      <p:sp>
        <p:nvSpPr>
          <p:cNvPr id="12" name="Shape 10"/>
          <p:cNvSpPr/>
          <p:nvPr/>
        </p:nvSpPr>
        <p:spPr>
          <a:xfrm>
            <a:off x="8860571" y="3794760"/>
            <a:ext cx="2798029" cy="594360"/>
          </a:xfrm>
          <a:prstGeom prst="rect">
            <a:avLst/>
          </a:prstGeom>
          <a:solidFill>
            <a:srgbClr val="F0F3F5"/>
          </a:solidFill>
          <a:ln w="12700">
            <a:solidFill>
              <a:srgbClr val="F0F3F5"/>
            </a:solidFill>
            <a:prstDash val="solid"/>
          </a:ln>
        </p:spPr>
      </p:sp>
      <p:sp>
        <p:nvSpPr>
          <p:cNvPr id="13" name="Text 11"/>
          <p:cNvSpPr/>
          <p:nvPr/>
        </p:nvSpPr>
        <p:spPr>
          <a:xfrm>
            <a:off x="694944" y="3913632"/>
            <a:ext cx="8001035" cy="2743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rial" pitchFamily="34" charset="0"/>
                <a:ea typeface="Arial" pitchFamily="34" charset="-122"/>
                <a:cs typeface="Arial" pitchFamily="34" charset="-120"/>
              </a:rPr>
              <a:t>Class C</a:t>
            </a:r>
            <a:endParaRPr lang="en-US" sz="1800" dirty="0"/>
          </a:p>
        </p:txBody>
      </p:sp>
      <p:sp>
        <p:nvSpPr>
          <p:cNvPr id="14" name="Text 12"/>
          <p:cNvSpPr/>
          <p:nvPr/>
        </p:nvSpPr>
        <p:spPr>
          <a:xfrm>
            <a:off x="9025163" y="3913632"/>
            <a:ext cx="2468845" cy="274320"/>
          </a:xfrm>
          <a:prstGeom prst="rect">
            <a:avLst/>
          </a:prstGeom>
          <a:noFill/>
          <a:ln/>
        </p:spPr>
        <p:txBody>
          <a:bodyPr wrap="square" lIns="0" tIns="0" rIns="0" bIns="0" rtlCol="0" anchor="ctr">
            <a:normAutofit/>
          </a:bodyPr>
          <a:lstStyle/>
          <a:p>
            <a:pPr indent="0" marL="0">
              <a:buNone/>
            </a:pPr>
            <a:r>
              <a:rPr lang="en-US" sz="1700" b="1" dirty="0">
                <a:solidFill>
                  <a:srgbClr val="17232C"/>
                </a:solidFill>
                <a:latin typeface="Arial" pitchFamily="34" charset="0"/>
                <a:ea typeface="Arial" pitchFamily="34" charset="-122"/>
                <a:cs typeface="Arial" pitchFamily="34" charset="-120"/>
              </a:rPr>
              <a:t>Other classes</a:t>
            </a:r>
            <a:endParaRPr lang="en-US" sz="1700" dirty="0"/>
          </a:p>
        </p:txBody>
      </p:sp>
      <p:sp>
        <p:nvSpPr>
          <p:cNvPr id="15" name="Text 13"/>
          <p:cNvSpPr/>
          <p:nvPr/>
        </p:nvSpPr>
        <p:spPr>
          <a:xfrm>
            <a:off x="530352" y="4581144"/>
            <a:ext cx="11128248" cy="356616"/>
          </a:xfrm>
          <a:prstGeom prst="rect">
            <a:avLst/>
          </a:prstGeom>
          <a:noFill/>
          <a:ln/>
        </p:spPr>
        <p:txBody>
          <a:bodyPr wrap="square" lIns="0" tIns="0" rIns="0" bIns="0" rtlCol="0" anchor="ctr">
            <a:normAutofit/>
          </a:bodyPr>
          <a:lstStyle/>
          <a:p>
            <a:pPr indent="0" marL="0">
              <a:buNone/>
            </a:pPr>
            <a:r>
              <a:rPr lang="en-US" sz="2100" b="1" dirty="0">
                <a:solidFill>
                  <a:srgbClr val="17232C"/>
                </a:solidFill>
                <a:latin typeface="Arial" pitchFamily="34" charset="0"/>
                <a:ea typeface="Arial" pitchFamily="34" charset="-122"/>
                <a:cs typeface="Arial" pitchFamily="34" charset="-120"/>
              </a:rPr>
              <a:t>206,598 of 275,992 current classed part numbers</a:t>
            </a:r>
            <a:endParaRPr lang="en-US" sz="2100" dirty="0"/>
          </a:p>
        </p:txBody>
      </p:sp>
      <p:sp>
        <p:nvSpPr>
          <p:cNvPr id="16" name="Text 14"/>
          <p:cNvSpPr/>
          <p:nvPr/>
        </p:nvSpPr>
        <p:spPr>
          <a:xfrm>
            <a:off x="530352" y="5102352"/>
            <a:ext cx="11128248" cy="429768"/>
          </a:xfrm>
          <a:prstGeom prst="rect">
            <a:avLst/>
          </a:prstGeom>
          <a:noFill/>
          <a:ln/>
        </p:spPr>
        <p:txBody>
          <a:bodyPr wrap="square" lIns="0" tIns="0" rIns="0" bIns="0" rtlCol="0" anchor="ctr">
            <a:normAutofit/>
          </a:bodyPr>
          <a:lstStyle/>
          <a:p>
            <a:pPr indent="0" marL="0">
              <a:buNone/>
            </a:pPr>
            <a:r>
              <a:rPr lang="en-US" sz="1750" dirty="0">
                <a:solidFill>
                  <a:srgbClr val="687782"/>
                </a:solidFill>
                <a:latin typeface="Arial" pitchFamily="34" charset="0"/>
                <a:ea typeface="Arial" pitchFamily="34" charset="-122"/>
                <a:cs typeface="Arial" pitchFamily="34" charset="-120"/>
              </a:rPr>
              <a:t>Catalogue share, not turnover share. Superseded and unclassed parts are excluded.</a:t>
            </a:r>
            <a:endParaRPr lang="en-US" sz="1750" dirty="0"/>
          </a:p>
        </p:txBody>
      </p:sp>
      <p:sp>
        <p:nvSpPr>
          <p:cNvPr id="17" name="Shape 15"/>
          <p:cNvSpPr/>
          <p:nvPr/>
        </p:nvSpPr>
        <p:spPr>
          <a:xfrm>
            <a:off x="530352" y="5797296"/>
            <a:ext cx="41148" cy="393192"/>
          </a:xfrm>
          <a:prstGeom prst="rect">
            <a:avLst/>
          </a:prstGeom>
          <a:solidFill>
            <a:srgbClr val="ED0016"/>
          </a:solidFill>
          <a:ln w="12700">
            <a:solidFill>
              <a:srgbClr val="ED0016"/>
            </a:solidFill>
            <a:prstDash val="solid"/>
          </a:ln>
        </p:spPr>
      </p:sp>
      <p:sp>
        <p:nvSpPr>
          <p:cNvPr id="18" name="Text 16"/>
          <p:cNvSpPr/>
          <p:nvPr/>
        </p:nvSpPr>
        <p:spPr>
          <a:xfrm>
            <a:off x="713232" y="5788152"/>
            <a:ext cx="10908792" cy="438912"/>
          </a:xfrm>
          <a:prstGeom prst="rect">
            <a:avLst/>
          </a:prstGeom>
          <a:noFill/>
          <a:ln/>
        </p:spPr>
        <p:txBody>
          <a:bodyPr wrap="square" lIns="0" tIns="0" rIns="0" bIns="0" rtlCol="0" anchor="ctr">
            <a:normAutofit/>
          </a:bodyPr>
          <a:lstStyle/>
          <a:p>
            <a:pPr indent="0" marL="0">
              <a:buNone/>
            </a:pPr>
            <a:r>
              <a:rPr lang="en-US" sz="1850" b="1" dirty="0">
                <a:solidFill>
                  <a:srgbClr val="17232C"/>
                </a:solidFill>
                <a:latin typeface="Arial" pitchFamily="34" charset="0"/>
                <a:ea typeface="Arial" pitchFamily="34" charset="-122"/>
                <a:cs typeface="Arial" pitchFamily="34" charset="-120"/>
              </a:rPr>
              <a:t>One broad class cannot express every part's competition, value and distributor opportunity.</a:t>
            </a:r>
            <a:endParaRPr lang="en-US" sz="1850" dirty="0"/>
          </a:p>
        </p:txBody>
      </p:sp>
    </p:spTree>
  </p:cSld>
  <p:clrMapOvr>
    <a:masterClrMapping/>
  </p:clrMapOvr>
  <p:transition spd="fast" advClick="1">
    <p:fade/>
  </p:transition>
</p:sld>
</file>

<file path=ppt/slides/slide7.xml><?xml version="1.0" encoding="utf-8"?>
<p:sld xmlns:a="http://schemas.openxmlformats.org/drawingml/2006/main" xmlns:r="http://schemas.openxmlformats.org/officeDocument/2006/relationships" xmlns:p="http://schemas.openxmlformats.org/presentationml/2006/main">
  <p:cSld name="Version 1.2 - 07">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A STEP CHANGE IN PRICING FLEXIBILITY</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17232C"/>
                </a:solidFill>
                <a:latin typeface="Arial" pitchFamily="34" charset="0"/>
                <a:ea typeface="Arial" pitchFamily="34" charset="-122"/>
                <a:cs typeface="Arial" pitchFamily="34" charset="-120"/>
              </a:rPr>
              <a:t>Replace broad class decisions with part-by-part pricing.</a:t>
            </a:r>
            <a:endParaRPr lang="en-US" sz="3100" dirty="0"/>
          </a:p>
        </p:txBody>
      </p:sp>
      <p:sp>
        <p:nvSpPr>
          <p:cNvPr id="5" name="Shape 3"/>
          <p:cNvSpPr/>
          <p:nvPr/>
        </p:nvSpPr>
        <p:spPr>
          <a:xfrm>
            <a:off x="530352" y="6373368"/>
            <a:ext cx="11128248" cy="0"/>
          </a:xfrm>
          <a:prstGeom prst="line">
            <a:avLst/>
          </a:prstGeom>
          <a:noFill/>
          <a:ln w="10160">
            <a:solidFill>
              <a:srgbClr val="DCE2E6"/>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687782"/>
                </a:solidFill>
                <a:latin typeface="Arial" pitchFamily="34" charset="0"/>
                <a:ea typeface="Arial" pitchFamily="34" charset="-122"/>
                <a:cs typeface="Arial" pitchFamily="34" charset="-120"/>
              </a:rPr>
              <a:t>Source: management policy. Illustrative decisions, not approved changes for actual part numbers.</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687782"/>
                </a:solidFill>
                <a:latin typeface="Arial" pitchFamily="34" charset="0"/>
                <a:ea typeface="Arial" pitchFamily="34" charset="-122"/>
                <a:cs typeface="Arial" pitchFamily="34" charset="-120"/>
              </a:rPr>
              <a:t>v1.2  |  07</a:t>
            </a:r>
            <a:endParaRPr lang="en-US" sz="940" dirty="0"/>
          </a:p>
        </p:txBody>
      </p:sp>
      <p:sp>
        <p:nvSpPr>
          <p:cNvPr id="8" name="Shape 6"/>
          <p:cNvSpPr/>
          <p:nvPr/>
        </p:nvSpPr>
        <p:spPr>
          <a:xfrm>
            <a:off x="530352" y="2011680"/>
            <a:ext cx="3172968" cy="3419856"/>
          </a:xfrm>
          <a:prstGeom prst="rect">
            <a:avLst/>
          </a:prstGeom>
          <a:solidFill>
            <a:srgbClr val="17232C"/>
          </a:solidFill>
          <a:ln w="12700">
            <a:solidFill>
              <a:srgbClr val="17232C"/>
            </a:solidFill>
            <a:prstDash val="solid"/>
          </a:ln>
        </p:spPr>
      </p:sp>
      <p:sp>
        <p:nvSpPr>
          <p:cNvPr id="9" name="Text 7"/>
          <p:cNvSpPr/>
          <p:nvPr/>
        </p:nvSpPr>
        <p:spPr>
          <a:xfrm>
            <a:off x="740664" y="2231136"/>
            <a:ext cx="2743200" cy="228600"/>
          </a:xfrm>
          <a:prstGeom prst="rect">
            <a:avLst/>
          </a:prstGeom>
          <a:noFill/>
          <a:ln/>
        </p:spPr>
        <p:txBody>
          <a:bodyPr wrap="square" lIns="0" tIns="0" rIns="0" bIns="0" rtlCol="0" anchor="ctr">
            <a:normAutofit/>
          </a:bodyPr>
          <a:lstStyle/>
          <a:p>
            <a:pPr indent="0" marL="0">
              <a:buNone/>
            </a:pPr>
            <a:r>
              <a:rPr lang="en-US" sz="1050" b="1" spc="150" kern="0" dirty="0">
                <a:solidFill>
                  <a:srgbClr val="C8D1D7"/>
                </a:solidFill>
                <a:latin typeface="Arial" pitchFamily="34" charset="0"/>
                <a:ea typeface="Arial" pitchFamily="34" charset="-122"/>
                <a:cs typeface="Arial" pitchFamily="34" charset="-120"/>
              </a:rPr>
              <a:t>PREVIOUS APPROACH</a:t>
            </a:r>
            <a:endParaRPr lang="en-US" sz="1050" dirty="0"/>
          </a:p>
        </p:txBody>
      </p:sp>
      <p:sp>
        <p:nvSpPr>
          <p:cNvPr id="10" name="Text 8"/>
          <p:cNvSpPr/>
          <p:nvPr/>
        </p:nvSpPr>
        <p:spPr>
          <a:xfrm>
            <a:off x="740664" y="2743200"/>
            <a:ext cx="2743200" cy="539496"/>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Arial" pitchFamily="34" charset="0"/>
                <a:ea typeface="Arial" pitchFamily="34" charset="-122"/>
                <a:cs typeface="Arial" pitchFamily="34" charset="-120"/>
              </a:rPr>
              <a:t>Class C</a:t>
            </a:r>
            <a:endParaRPr lang="en-US" sz="3100" dirty="0"/>
          </a:p>
        </p:txBody>
      </p:sp>
      <p:sp>
        <p:nvSpPr>
          <p:cNvPr id="11" name="Text 9"/>
          <p:cNvSpPr/>
          <p:nvPr/>
        </p:nvSpPr>
        <p:spPr>
          <a:xfrm>
            <a:off x="740664" y="3419856"/>
            <a:ext cx="2743200" cy="73152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rial" pitchFamily="34" charset="0"/>
                <a:ea typeface="Arial" pitchFamily="34" charset="-122"/>
                <a:cs typeface="Arial" pitchFamily="34" charset="-120"/>
              </a:rPr>
              <a:t>53%</a:t>
            </a:r>
            <a:endParaRPr lang="en-US" sz="4600" dirty="0"/>
          </a:p>
        </p:txBody>
      </p:sp>
      <p:sp>
        <p:nvSpPr>
          <p:cNvPr id="12" name="Text 10"/>
          <p:cNvSpPr/>
          <p:nvPr/>
        </p:nvSpPr>
        <p:spPr>
          <a:xfrm>
            <a:off x="740664" y="4489704"/>
            <a:ext cx="2734056" cy="667512"/>
          </a:xfrm>
          <a:prstGeom prst="rect">
            <a:avLst/>
          </a:prstGeom>
          <a:noFill/>
          <a:ln/>
        </p:spPr>
        <p:txBody>
          <a:bodyPr wrap="square" lIns="0" tIns="0" rIns="0" bIns="0" rtlCol="0" anchor="ctr">
            <a:normAutofit/>
          </a:bodyPr>
          <a:lstStyle/>
          <a:p>
            <a:pPr indent="0" marL="0">
              <a:buNone/>
            </a:pPr>
            <a:r>
              <a:rPr lang="en-US" sz="2000" dirty="0">
                <a:solidFill>
                  <a:srgbClr val="C8D1D7"/>
                </a:solidFill>
                <a:latin typeface="Arial" pitchFamily="34" charset="0"/>
                <a:ea typeface="Arial" pitchFamily="34" charset="-122"/>
                <a:cs typeface="Arial" pitchFamily="34" charset="-120"/>
              </a:rPr>
              <a:t>One formula margin</a:t>
            </a:r>
            <a:endParaRPr lang="en-US" sz="2000" dirty="0"/>
          </a:p>
          <a:p>
            <a:pPr indent="0" marL="0">
              <a:buNone/>
            </a:pPr>
            <a:r>
              <a:rPr lang="en-US" sz="2000" dirty="0">
                <a:solidFill>
                  <a:srgbClr val="C8D1D7"/>
                </a:solidFill>
                <a:latin typeface="Arial" pitchFamily="34" charset="0"/>
                <a:ea typeface="Arial" pitchFamily="34" charset="-122"/>
                <a:cs typeface="Arial" pitchFamily="34" charset="-120"/>
              </a:rPr>
              <a:t>across very different parts.</a:t>
            </a:r>
            <a:endParaRPr lang="en-US" sz="2000" dirty="0"/>
          </a:p>
        </p:txBody>
      </p:sp>
      <p:sp>
        <p:nvSpPr>
          <p:cNvPr id="13" name="Shape 11"/>
          <p:cNvSpPr/>
          <p:nvPr/>
        </p:nvSpPr>
        <p:spPr>
          <a:xfrm>
            <a:off x="3886200" y="2514600"/>
            <a:ext cx="484632" cy="0"/>
          </a:xfrm>
          <a:prstGeom prst="line">
            <a:avLst/>
          </a:prstGeom>
          <a:noFill/>
          <a:ln w="19050">
            <a:solidFill>
              <a:srgbClr val="ED0016"/>
            </a:solidFill>
            <a:prstDash val="solid"/>
            <a:headEnd type="none"/>
            <a:tailEnd type="triangle"/>
          </a:ln>
        </p:spPr>
      </p:sp>
      <p:sp>
        <p:nvSpPr>
          <p:cNvPr id="14" name="Shape 12"/>
          <p:cNvSpPr/>
          <p:nvPr/>
        </p:nvSpPr>
        <p:spPr>
          <a:xfrm>
            <a:off x="4599432" y="2011680"/>
            <a:ext cx="7059168" cy="1024128"/>
          </a:xfrm>
          <a:prstGeom prst="rect">
            <a:avLst/>
          </a:prstGeom>
          <a:solidFill>
            <a:srgbClr val="F0F3F5"/>
          </a:solidFill>
          <a:ln w="12700">
            <a:solidFill>
              <a:srgbClr val="F0F3F5"/>
            </a:solidFill>
            <a:prstDash val="solid"/>
          </a:ln>
        </p:spPr>
      </p:sp>
      <p:sp>
        <p:nvSpPr>
          <p:cNvPr id="15" name="Text 13"/>
          <p:cNvSpPr/>
          <p:nvPr/>
        </p:nvSpPr>
        <p:spPr>
          <a:xfrm>
            <a:off x="4800600" y="2148840"/>
            <a:ext cx="2743200" cy="283464"/>
          </a:xfrm>
          <a:prstGeom prst="rect">
            <a:avLst/>
          </a:prstGeom>
          <a:noFill/>
          <a:ln/>
        </p:spPr>
        <p:txBody>
          <a:bodyPr wrap="square" lIns="0" tIns="0" rIns="0" bIns="0" rtlCol="0" anchor="ctr">
            <a:normAutofit/>
          </a:bodyPr>
          <a:lstStyle/>
          <a:p>
            <a:pPr indent="0" marL="0">
              <a:buNone/>
            </a:pPr>
            <a:r>
              <a:rPr lang="en-US" sz="1530" b="1" dirty="0">
                <a:solidFill>
                  <a:srgbClr val="ED0016"/>
                </a:solidFill>
                <a:latin typeface="Arial" pitchFamily="34" charset="0"/>
                <a:ea typeface="Arial" pitchFamily="34" charset="-122"/>
                <a:cs typeface="Arial" pitchFamily="34" charset="-120"/>
              </a:rPr>
              <a:t>REDUCE SELECTIVELY</a:t>
            </a:r>
            <a:endParaRPr lang="en-US" sz="1530" dirty="0"/>
          </a:p>
        </p:txBody>
      </p:sp>
      <p:sp>
        <p:nvSpPr>
          <p:cNvPr id="16" name="Text 14"/>
          <p:cNvSpPr/>
          <p:nvPr/>
        </p:nvSpPr>
        <p:spPr>
          <a:xfrm>
            <a:off x="7680960" y="2148840"/>
            <a:ext cx="3721608" cy="731520"/>
          </a:xfrm>
          <a:prstGeom prst="rect">
            <a:avLst/>
          </a:prstGeom>
          <a:noFill/>
          <a:ln/>
        </p:spPr>
        <p:txBody>
          <a:bodyPr wrap="square" lIns="0" tIns="0" rIns="0" bIns="0" rtlCol="0" anchor="ctr">
            <a:normAutofit/>
          </a:bodyPr>
          <a:lstStyle/>
          <a:p>
            <a:pPr indent="0" marL="0">
              <a:buNone/>
            </a:pPr>
            <a:r>
              <a:rPr lang="en-US" sz="1730" dirty="0">
                <a:solidFill>
                  <a:srgbClr val="17232C"/>
                </a:solidFill>
                <a:latin typeface="Arial" pitchFamily="34" charset="0"/>
                <a:ea typeface="Arial" pitchFamily="34" charset="-122"/>
                <a:cs typeface="Arial" pitchFamily="34" charset="-120"/>
              </a:rPr>
              <a:t>Support a part where a credible competing offer leaves the distributor too little room.</a:t>
            </a:r>
            <a:endParaRPr lang="en-US" sz="1730" dirty="0"/>
          </a:p>
        </p:txBody>
      </p:sp>
      <p:sp>
        <p:nvSpPr>
          <p:cNvPr id="17" name="Shape 15"/>
          <p:cNvSpPr/>
          <p:nvPr/>
        </p:nvSpPr>
        <p:spPr>
          <a:xfrm>
            <a:off x="3886200" y="3712464"/>
            <a:ext cx="484632" cy="0"/>
          </a:xfrm>
          <a:prstGeom prst="line">
            <a:avLst/>
          </a:prstGeom>
          <a:noFill/>
          <a:ln w="19050">
            <a:solidFill>
              <a:srgbClr val="ED0016"/>
            </a:solidFill>
            <a:prstDash val="solid"/>
            <a:headEnd type="none"/>
            <a:tailEnd type="triangle"/>
          </a:ln>
        </p:spPr>
      </p:sp>
      <p:sp>
        <p:nvSpPr>
          <p:cNvPr id="18" name="Shape 16"/>
          <p:cNvSpPr/>
          <p:nvPr/>
        </p:nvSpPr>
        <p:spPr>
          <a:xfrm>
            <a:off x="4599432" y="3209544"/>
            <a:ext cx="7059168" cy="1024128"/>
          </a:xfrm>
          <a:prstGeom prst="rect">
            <a:avLst/>
          </a:prstGeom>
          <a:solidFill>
            <a:srgbClr val="F0F3F5"/>
          </a:solidFill>
          <a:ln w="12700">
            <a:solidFill>
              <a:srgbClr val="F0F3F5"/>
            </a:solidFill>
            <a:prstDash val="solid"/>
          </a:ln>
        </p:spPr>
      </p:sp>
      <p:sp>
        <p:nvSpPr>
          <p:cNvPr id="19" name="Text 17"/>
          <p:cNvSpPr/>
          <p:nvPr/>
        </p:nvSpPr>
        <p:spPr>
          <a:xfrm>
            <a:off x="4800600" y="3346704"/>
            <a:ext cx="2743200" cy="283464"/>
          </a:xfrm>
          <a:prstGeom prst="rect">
            <a:avLst/>
          </a:prstGeom>
          <a:noFill/>
          <a:ln/>
        </p:spPr>
        <p:txBody>
          <a:bodyPr wrap="square" lIns="0" tIns="0" rIns="0" bIns="0" rtlCol="0" anchor="ctr">
            <a:normAutofit/>
          </a:bodyPr>
          <a:lstStyle/>
          <a:p>
            <a:pPr indent="0" marL="0">
              <a:buNone/>
            </a:pPr>
            <a:r>
              <a:rPr lang="en-US" sz="1530" b="1" dirty="0">
                <a:solidFill>
                  <a:srgbClr val="17232C"/>
                </a:solidFill>
                <a:latin typeface="Arial" pitchFamily="34" charset="0"/>
                <a:ea typeface="Arial" pitchFamily="34" charset="-122"/>
                <a:cs typeface="Arial" pitchFamily="34" charset="-120"/>
              </a:rPr>
              <a:t>HOLD</a:t>
            </a:r>
            <a:endParaRPr lang="en-US" sz="1530" dirty="0"/>
          </a:p>
        </p:txBody>
      </p:sp>
      <p:sp>
        <p:nvSpPr>
          <p:cNvPr id="20" name="Text 18"/>
          <p:cNvSpPr/>
          <p:nvPr/>
        </p:nvSpPr>
        <p:spPr>
          <a:xfrm>
            <a:off x="7680960" y="3346704"/>
            <a:ext cx="3721608" cy="731520"/>
          </a:xfrm>
          <a:prstGeom prst="rect">
            <a:avLst/>
          </a:prstGeom>
          <a:noFill/>
          <a:ln/>
        </p:spPr>
        <p:txBody>
          <a:bodyPr wrap="square" lIns="0" tIns="0" rIns="0" bIns="0" rtlCol="0" anchor="ctr">
            <a:normAutofit/>
          </a:bodyPr>
          <a:lstStyle/>
          <a:p>
            <a:pPr indent="0" marL="0">
              <a:buNone/>
            </a:pPr>
            <a:r>
              <a:rPr lang="en-US" sz="1730" dirty="0">
                <a:solidFill>
                  <a:srgbClr val="17232C"/>
                </a:solidFill>
                <a:latin typeface="Arial" pitchFamily="34" charset="0"/>
                <a:ea typeface="Arial" pitchFamily="34" charset="-122"/>
                <a:cs typeface="Arial" pitchFamily="34" charset="-120"/>
              </a:rPr>
              <a:t>Keep a part unchanged when the position is appropriate or an increase is not evidenced.</a:t>
            </a:r>
            <a:endParaRPr lang="en-US" sz="1730" dirty="0"/>
          </a:p>
        </p:txBody>
      </p:sp>
      <p:sp>
        <p:nvSpPr>
          <p:cNvPr id="21" name="Shape 19"/>
          <p:cNvSpPr/>
          <p:nvPr/>
        </p:nvSpPr>
        <p:spPr>
          <a:xfrm>
            <a:off x="3886200" y="4910328"/>
            <a:ext cx="484632" cy="0"/>
          </a:xfrm>
          <a:prstGeom prst="line">
            <a:avLst/>
          </a:prstGeom>
          <a:noFill/>
          <a:ln w="19050">
            <a:solidFill>
              <a:srgbClr val="ED0016"/>
            </a:solidFill>
            <a:prstDash val="solid"/>
            <a:headEnd type="none"/>
            <a:tailEnd type="triangle"/>
          </a:ln>
        </p:spPr>
      </p:sp>
      <p:sp>
        <p:nvSpPr>
          <p:cNvPr id="22" name="Shape 20"/>
          <p:cNvSpPr/>
          <p:nvPr/>
        </p:nvSpPr>
        <p:spPr>
          <a:xfrm>
            <a:off x="4599432" y="4407408"/>
            <a:ext cx="7059168" cy="1024128"/>
          </a:xfrm>
          <a:prstGeom prst="rect">
            <a:avLst/>
          </a:prstGeom>
          <a:solidFill>
            <a:srgbClr val="F0F3F5"/>
          </a:solidFill>
          <a:ln w="12700">
            <a:solidFill>
              <a:srgbClr val="F0F3F5"/>
            </a:solidFill>
            <a:prstDash val="solid"/>
          </a:ln>
        </p:spPr>
      </p:sp>
      <p:sp>
        <p:nvSpPr>
          <p:cNvPr id="23" name="Text 21"/>
          <p:cNvSpPr/>
          <p:nvPr/>
        </p:nvSpPr>
        <p:spPr>
          <a:xfrm>
            <a:off x="4800600" y="4544568"/>
            <a:ext cx="2743200" cy="283464"/>
          </a:xfrm>
          <a:prstGeom prst="rect">
            <a:avLst/>
          </a:prstGeom>
          <a:noFill/>
          <a:ln/>
        </p:spPr>
        <p:txBody>
          <a:bodyPr wrap="square" lIns="0" tIns="0" rIns="0" bIns="0" rtlCol="0" anchor="ctr">
            <a:normAutofit/>
          </a:bodyPr>
          <a:lstStyle/>
          <a:p>
            <a:pPr indent="0" marL="0">
              <a:buNone/>
            </a:pPr>
            <a:r>
              <a:rPr lang="en-US" sz="1530" b="1" dirty="0">
                <a:solidFill>
                  <a:srgbClr val="ED0016"/>
                </a:solidFill>
                <a:latin typeface="Arial" pitchFamily="34" charset="0"/>
                <a:ea typeface="Arial" pitchFamily="34" charset="-122"/>
                <a:cs typeface="Arial" pitchFamily="34" charset="-120"/>
              </a:rPr>
              <a:t>INCREASE SELECTIVELY</a:t>
            </a:r>
            <a:endParaRPr lang="en-US" sz="1530" dirty="0"/>
          </a:p>
        </p:txBody>
      </p:sp>
      <p:sp>
        <p:nvSpPr>
          <p:cNvPr id="24" name="Text 22"/>
          <p:cNvSpPr/>
          <p:nvPr/>
        </p:nvSpPr>
        <p:spPr>
          <a:xfrm>
            <a:off x="7680960" y="4544568"/>
            <a:ext cx="3721608" cy="731520"/>
          </a:xfrm>
          <a:prstGeom prst="rect">
            <a:avLst/>
          </a:prstGeom>
          <a:noFill/>
          <a:ln/>
        </p:spPr>
        <p:txBody>
          <a:bodyPr wrap="square" lIns="0" tIns="0" rIns="0" bIns="0" rtlCol="0" anchor="ctr">
            <a:normAutofit/>
          </a:bodyPr>
          <a:lstStyle/>
          <a:p>
            <a:pPr indent="0" marL="0">
              <a:buNone/>
            </a:pPr>
            <a:r>
              <a:rPr lang="en-US" sz="1730" dirty="0">
                <a:solidFill>
                  <a:srgbClr val="17232C"/>
                </a:solidFill>
                <a:latin typeface="Arial" pitchFamily="34" charset="0"/>
                <a:ea typeface="Arial" pitchFamily="34" charset="-122"/>
                <a:cs typeface="Arial" pitchFamily="34" charset="-120"/>
              </a:rPr>
              <a:t>Earn more on a part where a genuine advantage supports a higher price.</a:t>
            </a:r>
            <a:endParaRPr lang="en-US" sz="1730" dirty="0"/>
          </a:p>
        </p:txBody>
      </p:sp>
      <p:sp>
        <p:nvSpPr>
          <p:cNvPr id="25" name="Shape 23"/>
          <p:cNvSpPr/>
          <p:nvPr/>
        </p:nvSpPr>
        <p:spPr>
          <a:xfrm>
            <a:off x="530352" y="5797296"/>
            <a:ext cx="41148" cy="393192"/>
          </a:xfrm>
          <a:prstGeom prst="rect">
            <a:avLst/>
          </a:prstGeom>
          <a:solidFill>
            <a:srgbClr val="ED0016"/>
          </a:solidFill>
          <a:ln w="12700">
            <a:solidFill>
              <a:srgbClr val="ED0016"/>
            </a:solidFill>
            <a:prstDash val="solid"/>
          </a:ln>
        </p:spPr>
      </p:sp>
      <p:sp>
        <p:nvSpPr>
          <p:cNvPr id="26" name="Text 24"/>
          <p:cNvSpPr/>
          <p:nvPr/>
        </p:nvSpPr>
        <p:spPr>
          <a:xfrm>
            <a:off x="713232" y="5788152"/>
            <a:ext cx="10908792" cy="438912"/>
          </a:xfrm>
          <a:prstGeom prst="rect">
            <a:avLst/>
          </a:prstGeom>
          <a:noFill/>
          <a:ln/>
        </p:spPr>
        <p:txBody>
          <a:bodyPr wrap="square" lIns="0" tIns="0" rIns="0" bIns="0" rtlCol="0" anchor="ctr">
            <a:normAutofit/>
          </a:bodyPr>
          <a:lstStyle/>
          <a:p>
            <a:pPr indent="0" marL="0">
              <a:buNone/>
            </a:pPr>
            <a:r>
              <a:rPr lang="en-US" sz="2000" b="1" dirty="0">
                <a:solidFill>
                  <a:srgbClr val="17232C"/>
                </a:solidFill>
                <a:latin typeface="Arial" pitchFamily="34" charset="0"/>
                <a:ea typeface="Arial" pitchFamily="34" charset="-122"/>
                <a:cs typeface="Arial" pitchFamily="34" charset="-120"/>
              </a:rPr>
              <a:t>Target selected parts without giving away margin across the rest of the class.</a:t>
            </a:r>
            <a:endParaRPr lang="en-US" sz="2000" dirty="0"/>
          </a:p>
        </p:txBody>
      </p:sp>
    </p:spTree>
  </p:cSld>
  <p:clrMapOvr>
    <a:masterClrMapping/>
  </p:clrMapOvr>
  <p:transition spd="fast" advClick="1">
    <p:fade/>
  </p:transition>
</p:sld>
</file>

<file path=ppt/slides/slide8.xml><?xml version="1.0" encoding="utf-8"?>
<p:sld xmlns:a="http://schemas.openxmlformats.org/drawingml/2006/main" xmlns:r="http://schemas.openxmlformats.org/officeDocument/2006/relationships" xmlns:p="http://schemas.openxmlformats.org/presentationml/2006/main">
  <p:cSld name="Version 1.2 - 10">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THE EVIDENCE BEHIND THE PRICE</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17232C"/>
                </a:solidFill>
                <a:latin typeface="Arial" pitchFamily="34" charset="0"/>
                <a:ea typeface="Arial" pitchFamily="34" charset="-122"/>
                <a:cs typeface="Arial" pitchFamily="34" charset="-120"/>
              </a:rPr>
              <a:t>Use market prices and distributor feedback together.</a:t>
            </a:r>
            <a:endParaRPr lang="en-US" sz="3100" dirty="0"/>
          </a:p>
        </p:txBody>
      </p:sp>
      <p:sp>
        <p:nvSpPr>
          <p:cNvPr id="5" name="Shape 3"/>
          <p:cNvSpPr/>
          <p:nvPr/>
        </p:nvSpPr>
        <p:spPr>
          <a:xfrm>
            <a:off x="530352" y="6373368"/>
            <a:ext cx="11128248" cy="0"/>
          </a:xfrm>
          <a:prstGeom prst="line">
            <a:avLst/>
          </a:prstGeom>
          <a:noFill/>
          <a:ln w="10160">
            <a:solidFill>
              <a:srgbClr val="DCE2E6"/>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687782"/>
                </a:solidFill>
                <a:latin typeface="Arial" pitchFamily="34" charset="0"/>
                <a:ea typeface="Arial" pitchFamily="34" charset="-122"/>
                <a:cs typeface="Arial" pitchFamily="34" charset="-120"/>
              </a:rPr>
              <a:t>Source: Pricing Master. Dated webshop observations, historical Eucon data and distributor feedback; details in notes.</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687782"/>
                </a:solidFill>
                <a:latin typeface="Arial" pitchFamily="34" charset="0"/>
                <a:ea typeface="Arial" pitchFamily="34" charset="-122"/>
                <a:cs typeface="Arial" pitchFamily="34" charset="-120"/>
              </a:rPr>
              <a:t>v1.2  |  10</a:t>
            </a:r>
            <a:endParaRPr lang="en-US" sz="940" dirty="0"/>
          </a:p>
        </p:txBody>
      </p:sp>
      <p:sp>
        <p:nvSpPr>
          <p:cNvPr id="8" name="Shape 6"/>
          <p:cNvSpPr/>
          <p:nvPr/>
        </p:nvSpPr>
        <p:spPr>
          <a:xfrm>
            <a:off x="530352" y="2011680"/>
            <a:ext cx="3511296" cy="3438144"/>
          </a:xfrm>
          <a:prstGeom prst="rect">
            <a:avLst/>
          </a:prstGeom>
          <a:solidFill>
            <a:srgbClr val="F0F3F5"/>
          </a:solidFill>
          <a:ln w="12700">
            <a:solidFill>
              <a:srgbClr val="F0F3F5"/>
            </a:solidFill>
            <a:prstDash val="solid"/>
          </a:ln>
        </p:spPr>
      </p:sp>
      <p:sp>
        <p:nvSpPr>
          <p:cNvPr id="9" name="Shape 7"/>
          <p:cNvSpPr/>
          <p:nvPr/>
        </p:nvSpPr>
        <p:spPr>
          <a:xfrm>
            <a:off x="722376" y="2258568"/>
            <a:ext cx="3118104" cy="0"/>
          </a:xfrm>
          <a:prstGeom prst="line">
            <a:avLst/>
          </a:prstGeom>
          <a:noFill/>
          <a:ln w="25400">
            <a:solidFill>
              <a:srgbClr val="ED0016"/>
            </a:solidFill>
            <a:prstDash val="solid"/>
            <a:headEnd type="none"/>
            <a:tailEnd type="none"/>
          </a:ln>
        </p:spPr>
      </p:sp>
      <p:sp>
        <p:nvSpPr>
          <p:cNvPr id="10" name="Text 8"/>
          <p:cNvSpPr/>
          <p:nvPr/>
        </p:nvSpPr>
        <p:spPr>
          <a:xfrm>
            <a:off x="722376" y="2468880"/>
            <a:ext cx="3118104" cy="557784"/>
          </a:xfrm>
          <a:prstGeom prst="rect">
            <a:avLst/>
          </a:prstGeom>
          <a:noFill/>
          <a:ln/>
        </p:spPr>
        <p:txBody>
          <a:bodyPr wrap="square" lIns="0" tIns="0" rIns="0" bIns="0" rtlCol="0" anchor="ctr">
            <a:normAutofit/>
          </a:bodyPr>
          <a:lstStyle/>
          <a:p>
            <a:pPr indent="0" marL="0">
              <a:buNone/>
            </a:pPr>
            <a:r>
              <a:rPr lang="en-US" sz="2300" b="1" dirty="0">
                <a:solidFill>
                  <a:srgbClr val="17232C"/>
                </a:solidFill>
                <a:latin typeface="Arial" pitchFamily="34" charset="0"/>
                <a:ea typeface="Arial" pitchFamily="34" charset="-122"/>
                <a:cs typeface="Arial" pitchFamily="34" charset="-120"/>
              </a:rPr>
              <a:t>Aftermarket webshop</a:t>
            </a:r>
            <a:endParaRPr lang="en-US" sz="2300" dirty="0"/>
          </a:p>
        </p:txBody>
      </p:sp>
      <p:sp>
        <p:nvSpPr>
          <p:cNvPr id="11" name="Text 9"/>
          <p:cNvSpPr/>
          <p:nvPr/>
        </p:nvSpPr>
        <p:spPr>
          <a:xfrm>
            <a:off x="722376" y="3191256"/>
            <a:ext cx="3099816" cy="493776"/>
          </a:xfrm>
          <a:prstGeom prst="rect">
            <a:avLst/>
          </a:prstGeom>
          <a:noFill/>
          <a:ln/>
        </p:spPr>
        <p:txBody>
          <a:bodyPr wrap="square" lIns="0" tIns="0" rIns="0" bIns="0" rtlCol="0" anchor="ctr">
            <a:normAutofit/>
          </a:bodyPr>
          <a:lstStyle/>
          <a:p>
            <a:pPr indent="0" marL="0">
              <a:buNone/>
            </a:pPr>
            <a:r>
              <a:rPr lang="en-US" sz="1800" b="1" dirty="0">
                <a:solidFill>
                  <a:srgbClr val="17232C"/>
                </a:solidFill>
                <a:latin typeface="Arial" pitchFamily="34" charset="0"/>
                <a:ea typeface="Arial" pitchFamily="34" charset="-122"/>
                <a:cs typeface="Arial" pitchFamily="34" charset="-120"/>
              </a:rPr>
              <a:t>KS International</a:t>
            </a:r>
            <a:endParaRPr lang="en-US" sz="1800" dirty="0"/>
          </a:p>
        </p:txBody>
      </p:sp>
      <p:sp>
        <p:nvSpPr>
          <p:cNvPr id="12" name="Text 10"/>
          <p:cNvSpPr/>
          <p:nvPr/>
        </p:nvSpPr>
        <p:spPr>
          <a:xfrm>
            <a:off x="722376" y="3739896"/>
            <a:ext cx="3108960" cy="347472"/>
          </a:xfrm>
          <a:prstGeom prst="rect">
            <a:avLst/>
          </a:prstGeom>
          <a:noFill/>
          <a:ln/>
        </p:spPr>
        <p:txBody>
          <a:bodyPr wrap="square" lIns="0" tIns="0" rIns="0" bIns="0" rtlCol="0" anchor="ctr">
            <a:normAutofit/>
          </a:bodyPr>
          <a:lstStyle/>
          <a:p>
            <a:pPr indent="0" marL="0">
              <a:buNone/>
            </a:pPr>
            <a:r>
              <a:rPr lang="en-US" sz="1350" dirty="0">
                <a:solidFill>
                  <a:srgbClr val="687782"/>
                </a:solidFill>
                <a:latin typeface="Arial" pitchFamily="34" charset="0"/>
                <a:ea typeface="Arial" pitchFamily="34" charset="-122"/>
                <a:cs typeface="Arial" pitchFamily="34" charset="-120"/>
              </a:rPr>
              <a:t>Dated UK observations</a:t>
            </a:r>
            <a:endParaRPr lang="en-US" sz="1350" dirty="0"/>
          </a:p>
        </p:txBody>
      </p:sp>
      <p:sp>
        <p:nvSpPr>
          <p:cNvPr id="13" name="Text 11"/>
          <p:cNvSpPr/>
          <p:nvPr/>
        </p:nvSpPr>
        <p:spPr>
          <a:xfrm>
            <a:off x="722376" y="4215384"/>
            <a:ext cx="3108960" cy="859536"/>
          </a:xfrm>
          <a:prstGeom prst="rect">
            <a:avLst/>
          </a:prstGeom>
          <a:noFill/>
          <a:ln/>
        </p:spPr>
        <p:txBody>
          <a:bodyPr wrap="square" lIns="0" tIns="0" rIns="0" bIns="0" rtlCol="0" anchor="t">
            <a:normAutofit/>
          </a:bodyPr>
          <a:lstStyle/>
          <a:p>
            <a:pPr indent="0" marL="0">
              <a:buNone/>
            </a:pPr>
            <a:r>
              <a:rPr lang="en-US" sz="1820" dirty="0">
                <a:solidFill>
                  <a:srgbClr val="17232C"/>
                </a:solidFill>
                <a:latin typeface="Arial" pitchFamily="34" charset="0"/>
                <a:ea typeface="Arial" pitchFamily="34" charset="-122"/>
                <a:cs typeface="Arial" pitchFamily="34" charset="-120"/>
              </a:rPr>
              <a:t>A UK trade webshop provides observed offers on selected part numbers.</a:t>
            </a:r>
            <a:endParaRPr lang="en-US" sz="1820" dirty="0"/>
          </a:p>
        </p:txBody>
      </p:sp>
      <p:sp>
        <p:nvSpPr>
          <p:cNvPr id="14" name="Text 12"/>
          <p:cNvSpPr/>
          <p:nvPr/>
        </p:nvSpPr>
        <p:spPr>
          <a:xfrm>
            <a:off x="566928" y="5577840"/>
            <a:ext cx="3438144" cy="484632"/>
          </a:xfrm>
          <a:prstGeom prst="rect">
            <a:avLst/>
          </a:prstGeom>
          <a:noFill/>
          <a:ln/>
        </p:spPr>
        <p:txBody>
          <a:bodyPr wrap="square" lIns="0" tIns="0" rIns="0" bIns="0" rtlCol="0" anchor="ctr">
            <a:normAutofit/>
          </a:bodyPr>
          <a:lstStyle/>
          <a:p>
            <a:pPr indent="0" marL="0">
              <a:buNone/>
            </a:pPr>
            <a:r>
              <a:rPr lang="en-US" sz="1340" dirty="0">
                <a:solidFill>
                  <a:srgbClr val="687782"/>
                </a:solidFill>
                <a:latin typeface="Arial" pitchFamily="34" charset="0"/>
                <a:ea typeface="Arial" pitchFamily="34" charset="-122"/>
                <a:cs typeface="Arial" pitchFamily="34" charset="-120"/>
              </a:rPr>
              <a:t>Selected UK listings; not a multi-market price survey.</a:t>
            </a:r>
            <a:endParaRPr lang="en-US" sz="1340" dirty="0"/>
          </a:p>
        </p:txBody>
      </p:sp>
      <p:sp>
        <p:nvSpPr>
          <p:cNvPr id="15" name="Shape 13"/>
          <p:cNvSpPr/>
          <p:nvPr/>
        </p:nvSpPr>
        <p:spPr>
          <a:xfrm>
            <a:off x="4334256" y="2011680"/>
            <a:ext cx="3511296" cy="3438144"/>
          </a:xfrm>
          <a:prstGeom prst="rect">
            <a:avLst/>
          </a:prstGeom>
          <a:solidFill>
            <a:srgbClr val="F0F3F5"/>
          </a:solidFill>
          <a:ln w="12700">
            <a:solidFill>
              <a:srgbClr val="F0F3F5"/>
            </a:solidFill>
            <a:prstDash val="solid"/>
          </a:ln>
        </p:spPr>
      </p:sp>
      <p:sp>
        <p:nvSpPr>
          <p:cNvPr id="16" name="Shape 14"/>
          <p:cNvSpPr/>
          <p:nvPr/>
        </p:nvSpPr>
        <p:spPr>
          <a:xfrm>
            <a:off x="4526280" y="2258568"/>
            <a:ext cx="3118104" cy="0"/>
          </a:xfrm>
          <a:prstGeom prst="line">
            <a:avLst/>
          </a:prstGeom>
          <a:noFill/>
          <a:ln w="25400">
            <a:solidFill>
              <a:srgbClr val="ED0016"/>
            </a:solidFill>
            <a:prstDash val="solid"/>
            <a:headEnd type="none"/>
            <a:tailEnd type="none"/>
          </a:ln>
        </p:spPr>
      </p:sp>
      <p:sp>
        <p:nvSpPr>
          <p:cNvPr id="17" name="Text 15"/>
          <p:cNvSpPr/>
          <p:nvPr/>
        </p:nvSpPr>
        <p:spPr>
          <a:xfrm>
            <a:off x="4526280" y="2468880"/>
            <a:ext cx="3118104" cy="557784"/>
          </a:xfrm>
          <a:prstGeom prst="rect">
            <a:avLst/>
          </a:prstGeom>
          <a:noFill/>
          <a:ln/>
        </p:spPr>
        <p:txBody>
          <a:bodyPr wrap="square" lIns="0" tIns="0" rIns="0" bIns="0" rtlCol="0" anchor="ctr">
            <a:normAutofit/>
          </a:bodyPr>
          <a:lstStyle/>
          <a:p>
            <a:pPr indent="0" marL="0">
              <a:buNone/>
            </a:pPr>
            <a:r>
              <a:rPr lang="en-US" sz="2300" b="1" dirty="0">
                <a:solidFill>
                  <a:srgbClr val="17232C"/>
                </a:solidFill>
                <a:latin typeface="Arial" pitchFamily="34" charset="0"/>
                <a:ea typeface="Arial" pitchFamily="34" charset="-122"/>
                <a:cs typeface="Arial" pitchFamily="34" charset="-120"/>
              </a:rPr>
              <a:t>Historical price data</a:t>
            </a:r>
            <a:endParaRPr lang="en-US" sz="2300" dirty="0"/>
          </a:p>
        </p:txBody>
      </p:sp>
      <p:sp>
        <p:nvSpPr>
          <p:cNvPr id="18" name="Text 16"/>
          <p:cNvSpPr/>
          <p:nvPr/>
        </p:nvSpPr>
        <p:spPr>
          <a:xfrm>
            <a:off x="4526280" y="3191256"/>
            <a:ext cx="3099816" cy="493776"/>
          </a:xfrm>
          <a:prstGeom prst="rect">
            <a:avLst/>
          </a:prstGeom>
          <a:noFill/>
          <a:ln/>
        </p:spPr>
        <p:txBody>
          <a:bodyPr wrap="square" lIns="0" tIns="0" rIns="0" bIns="0" rtlCol="0" anchor="ctr">
            <a:normAutofit/>
          </a:bodyPr>
          <a:lstStyle/>
          <a:p>
            <a:pPr indent="0" marL="0">
              <a:buNone/>
            </a:pPr>
            <a:r>
              <a:rPr lang="en-US" sz="1800" b="1" dirty="0">
                <a:solidFill>
                  <a:srgbClr val="17232C"/>
                </a:solidFill>
                <a:latin typeface="Arial" pitchFamily="34" charset="0"/>
                <a:ea typeface="Arial" pitchFamily="34" charset="-122"/>
                <a:cs typeface="Arial" pitchFamily="34" charset="-120"/>
              </a:rPr>
              <a:t>Eucon / PartsPool</a:t>
            </a:r>
            <a:endParaRPr lang="en-US" sz="1800" dirty="0"/>
          </a:p>
        </p:txBody>
      </p:sp>
      <p:sp>
        <p:nvSpPr>
          <p:cNvPr id="19" name="Text 17"/>
          <p:cNvSpPr/>
          <p:nvPr/>
        </p:nvSpPr>
        <p:spPr>
          <a:xfrm>
            <a:off x="4526280" y="3739896"/>
            <a:ext cx="3108960" cy="347472"/>
          </a:xfrm>
          <a:prstGeom prst="rect">
            <a:avLst/>
          </a:prstGeom>
          <a:noFill/>
          <a:ln/>
        </p:spPr>
        <p:txBody>
          <a:bodyPr wrap="square" lIns="0" tIns="0" rIns="0" bIns="0" rtlCol="0" anchor="ctr">
            <a:normAutofit/>
          </a:bodyPr>
          <a:lstStyle/>
          <a:p>
            <a:pPr indent="0" marL="0">
              <a:buNone/>
            </a:pPr>
            <a:r>
              <a:rPr lang="en-US" sz="1350" dirty="0">
                <a:solidFill>
                  <a:srgbClr val="687782"/>
                </a:solidFill>
                <a:latin typeface="Arial" pitchFamily="34" charset="0"/>
                <a:ea typeface="Arial" pitchFamily="34" charset="-122"/>
                <a:cs typeface="Arial" pitchFamily="34" charset="-120"/>
              </a:rPr>
              <a:t>Historical benchmark data</a:t>
            </a:r>
            <a:endParaRPr lang="en-US" sz="1350" dirty="0"/>
          </a:p>
        </p:txBody>
      </p:sp>
      <p:sp>
        <p:nvSpPr>
          <p:cNvPr id="20" name="Text 18"/>
          <p:cNvSpPr/>
          <p:nvPr/>
        </p:nvSpPr>
        <p:spPr>
          <a:xfrm>
            <a:off x="4526280" y="4215384"/>
            <a:ext cx="3108960" cy="859536"/>
          </a:xfrm>
          <a:prstGeom prst="rect">
            <a:avLst/>
          </a:prstGeom>
          <a:noFill/>
          <a:ln/>
        </p:spPr>
        <p:txBody>
          <a:bodyPr wrap="square" lIns="0" tIns="0" rIns="0" bIns="0" rtlCol="0" anchor="t">
            <a:normAutofit/>
          </a:bodyPr>
          <a:lstStyle/>
          <a:p>
            <a:pPr indent="0" marL="0">
              <a:buNone/>
            </a:pPr>
            <a:r>
              <a:rPr lang="en-US" sz="1820" dirty="0">
                <a:solidFill>
                  <a:srgbClr val="17232C"/>
                </a:solidFill>
                <a:latin typeface="Arial" pitchFamily="34" charset="0"/>
                <a:ea typeface="Arial" pitchFamily="34" charset="-122"/>
                <a:cs typeface="Arial" pitchFamily="34" charset="-120"/>
              </a:rPr>
              <a:t>Independent aftermarket listings provide brand and price-tier comparisons.</a:t>
            </a:r>
            <a:endParaRPr lang="en-US" sz="1820" dirty="0"/>
          </a:p>
        </p:txBody>
      </p:sp>
      <p:sp>
        <p:nvSpPr>
          <p:cNvPr id="21" name="Text 19"/>
          <p:cNvSpPr/>
          <p:nvPr/>
        </p:nvSpPr>
        <p:spPr>
          <a:xfrm>
            <a:off x="4370832" y="5577840"/>
            <a:ext cx="3438144" cy="484632"/>
          </a:xfrm>
          <a:prstGeom prst="rect">
            <a:avLst/>
          </a:prstGeom>
          <a:noFill/>
          <a:ln/>
        </p:spPr>
        <p:txBody>
          <a:bodyPr wrap="square" lIns="0" tIns="0" rIns="0" bIns="0" rtlCol="0" anchor="ctr">
            <a:normAutofit/>
          </a:bodyPr>
          <a:lstStyle/>
          <a:p>
            <a:pPr indent="0" marL="0">
              <a:buNone/>
            </a:pPr>
            <a:r>
              <a:rPr lang="en-US" sz="1340" dirty="0">
                <a:solidFill>
                  <a:srgbClr val="687782"/>
                </a:solidFill>
                <a:latin typeface="Arial" pitchFamily="34" charset="0"/>
                <a:ea typeface="Arial" pitchFamily="34" charset="-122"/>
                <a:cs typeface="Arial" pitchFamily="34" charset="-120"/>
              </a:rPr>
              <a:t>Germany and Norway only; refresh older observations before use.</a:t>
            </a:r>
            <a:endParaRPr lang="en-US" sz="1340" dirty="0"/>
          </a:p>
        </p:txBody>
      </p:sp>
      <p:sp>
        <p:nvSpPr>
          <p:cNvPr id="22" name="Shape 20"/>
          <p:cNvSpPr/>
          <p:nvPr/>
        </p:nvSpPr>
        <p:spPr>
          <a:xfrm>
            <a:off x="8147304" y="2011680"/>
            <a:ext cx="3511296" cy="3438144"/>
          </a:xfrm>
          <a:prstGeom prst="rect">
            <a:avLst/>
          </a:prstGeom>
          <a:solidFill>
            <a:srgbClr val="F0F3F5"/>
          </a:solidFill>
          <a:ln w="12700">
            <a:solidFill>
              <a:srgbClr val="F0F3F5"/>
            </a:solidFill>
            <a:prstDash val="solid"/>
          </a:ln>
        </p:spPr>
      </p:sp>
      <p:sp>
        <p:nvSpPr>
          <p:cNvPr id="23" name="Shape 21"/>
          <p:cNvSpPr/>
          <p:nvPr/>
        </p:nvSpPr>
        <p:spPr>
          <a:xfrm>
            <a:off x="8339328" y="2258568"/>
            <a:ext cx="3118104" cy="0"/>
          </a:xfrm>
          <a:prstGeom prst="line">
            <a:avLst/>
          </a:prstGeom>
          <a:noFill/>
          <a:ln w="25400">
            <a:solidFill>
              <a:srgbClr val="ED0016"/>
            </a:solidFill>
            <a:prstDash val="solid"/>
            <a:headEnd type="none"/>
            <a:tailEnd type="none"/>
          </a:ln>
        </p:spPr>
      </p:sp>
      <p:sp>
        <p:nvSpPr>
          <p:cNvPr id="24" name="Text 22"/>
          <p:cNvSpPr/>
          <p:nvPr/>
        </p:nvSpPr>
        <p:spPr>
          <a:xfrm>
            <a:off x="8339328" y="2468880"/>
            <a:ext cx="3118104" cy="557784"/>
          </a:xfrm>
          <a:prstGeom prst="rect">
            <a:avLst/>
          </a:prstGeom>
          <a:noFill/>
          <a:ln/>
        </p:spPr>
        <p:txBody>
          <a:bodyPr wrap="square" lIns="0" tIns="0" rIns="0" bIns="0" rtlCol="0" anchor="ctr">
            <a:normAutofit/>
          </a:bodyPr>
          <a:lstStyle/>
          <a:p>
            <a:pPr indent="0" marL="0">
              <a:buNone/>
            </a:pPr>
            <a:r>
              <a:rPr lang="en-US" sz="2300" b="1" dirty="0">
                <a:solidFill>
                  <a:srgbClr val="17232C"/>
                </a:solidFill>
                <a:latin typeface="Arial" pitchFamily="34" charset="0"/>
                <a:ea typeface="Arial" pitchFamily="34" charset="-122"/>
                <a:cs typeface="Arial" pitchFamily="34" charset="-120"/>
              </a:rPr>
              <a:t>Distributor feedback</a:t>
            </a:r>
            <a:endParaRPr lang="en-US" sz="2300" dirty="0"/>
          </a:p>
        </p:txBody>
      </p:sp>
      <p:sp>
        <p:nvSpPr>
          <p:cNvPr id="25" name="Text 23"/>
          <p:cNvSpPr/>
          <p:nvPr/>
        </p:nvSpPr>
        <p:spPr>
          <a:xfrm>
            <a:off x="8339328" y="3191256"/>
            <a:ext cx="3099816" cy="493776"/>
          </a:xfrm>
          <a:prstGeom prst="rect">
            <a:avLst/>
          </a:prstGeom>
          <a:noFill/>
          <a:ln/>
        </p:spPr>
        <p:txBody>
          <a:bodyPr wrap="square" lIns="0" tIns="0" rIns="0" bIns="0" rtlCol="0" anchor="ctr">
            <a:normAutofit/>
          </a:bodyPr>
          <a:lstStyle/>
          <a:p>
            <a:pPr indent="0" marL="0">
              <a:buNone/>
            </a:pPr>
            <a:r>
              <a:rPr lang="en-US" sz="1800" b="1" dirty="0">
                <a:solidFill>
                  <a:srgbClr val="17232C"/>
                </a:solidFill>
                <a:latin typeface="Arial" pitchFamily="34" charset="0"/>
                <a:ea typeface="Arial" pitchFamily="34" charset="-122"/>
                <a:cs typeface="Arial" pitchFamily="34" charset="-120"/>
              </a:rPr>
              <a:t>Market and package evidence</a:t>
            </a:r>
            <a:endParaRPr lang="en-US" sz="1800" dirty="0"/>
          </a:p>
        </p:txBody>
      </p:sp>
      <p:sp>
        <p:nvSpPr>
          <p:cNvPr id="26" name="Text 24"/>
          <p:cNvSpPr/>
          <p:nvPr/>
        </p:nvSpPr>
        <p:spPr>
          <a:xfrm>
            <a:off x="8339328" y="3739896"/>
            <a:ext cx="3108960" cy="347472"/>
          </a:xfrm>
          <a:prstGeom prst="rect">
            <a:avLst/>
          </a:prstGeom>
          <a:noFill/>
          <a:ln/>
        </p:spPr>
        <p:txBody>
          <a:bodyPr wrap="square" lIns="0" tIns="0" rIns="0" bIns="0" rtlCol="0" anchor="ctr">
            <a:normAutofit/>
          </a:bodyPr>
          <a:lstStyle/>
          <a:p>
            <a:pPr indent="0" marL="0">
              <a:buNone/>
            </a:pPr>
            <a:r>
              <a:rPr lang="en-US" sz="1350" dirty="0">
                <a:solidFill>
                  <a:srgbClr val="687782"/>
                </a:solidFill>
                <a:latin typeface="Arial" pitchFamily="34" charset="0"/>
                <a:ea typeface="Arial" pitchFamily="34" charset="-122"/>
                <a:cs typeface="Arial" pitchFamily="34" charset="-120"/>
              </a:rPr>
              <a:t>Reported distributor feedback</a:t>
            </a:r>
            <a:endParaRPr lang="en-US" sz="1350" dirty="0"/>
          </a:p>
        </p:txBody>
      </p:sp>
      <p:sp>
        <p:nvSpPr>
          <p:cNvPr id="27" name="Text 25"/>
          <p:cNvSpPr/>
          <p:nvPr/>
        </p:nvSpPr>
        <p:spPr>
          <a:xfrm>
            <a:off x="8339328" y="4215384"/>
            <a:ext cx="3108960" cy="859536"/>
          </a:xfrm>
          <a:prstGeom prst="rect">
            <a:avLst/>
          </a:prstGeom>
          <a:noFill/>
          <a:ln/>
        </p:spPr>
        <p:txBody>
          <a:bodyPr wrap="square" lIns="0" tIns="0" rIns="0" bIns="0" rtlCol="0" anchor="t">
            <a:normAutofit/>
          </a:bodyPr>
          <a:lstStyle/>
          <a:p>
            <a:pPr indent="0" marL="0">
              <a:buNone/>
            </a:pPr>
            <a:r>
              <a:rPr lang="en-US" sz="1820" dirty="0">
                <a:solidFill>
                  <a:srgbClr val="17232C"/>
                </a:solidFill>
                <a:latin typeface="Arial" pitchFamily="34" charset="0"/>
                <a:ea typeface="Arial" pitchFamily="34" charset="-122"/>
                <a:cs typeface="Arial" pitchFamily="34" charset="-120"/>
              </a:rPr>
              <a:t>The Israel truck distributor reported competitive pressure and requested support.</a:t>
            </a:r>
            <a:endParaRPr lang="en-US" sz="1820" dirty="0"/>
          </a:p>
        </p:txBody>
      </p:sp>
      <p:sp>
        <p:nvSpPr>
          <p:cNvPr id="28" name="Text 26"/>
          <p:cNvSpPr/>
          <p:nvPr/>
        </p:nvSpPr>
        <p:spPr>
          <a:xfrm>
            <a:off x="8183880" y="5577840"/>
            <a:ext cx="3438144" cy="484632"/>
          </a:xfrm>
          <a:prstGeom prst="rect">
            <a:avLst/>
          </a:prstGeom>
          <a:noFill/>
          <a:ln/>
        </p:spPr>
        <p:txBody>
          <a:bodyPr wrap="square" lIns="0" tIns="0" rIns="0" bIns="0" rtlCol="0" anchor="ctr">
            <a:normAutofit/>
          </a:bodyPr>
          <a:lstStyle/>
          <a:p>
            <a:pPr indent="0" marL="0">
              <a:buNone/>
            </a:pPr>
            <a:r>
              <a:rPr lang="en-US" sz="1340" dirty="0">
                <a:solidFill>
                  <a:srgbClr val="687782"/>
                </a:solidFill>
                <a:latin typeface="Arial" pitchFamily="34" charset="0"/>
                <a:ea typeface="Arial" pitchFamily="34" charset="-122"/>
                <a:cs typeface="Arial" pitchFamily="34" charset="-120"/>
              </a:rPr>
              <a:t>A family-level concern is not a verified quotation for every part.</a:t>
            </a:r>
            <a:endParaRPr lang="en-US" sz="1340" dirty="0"/>
          </a:p>
        </p:txBody>
      </p:sp>
    </p:spTree>
  </p:cSld>
  <p:clrMapOvr>
    <a:masterClrMapping/>
  </p:clrMapOvr>
  <p:transition spd="fast" advClick="1">
    <p:fade/>
  </p:transition>
</p:sld>
</file>

<file path=ppt/slides/slide9.xml><?xml version="1.0" encoding="utf-8"?>
<p:sld xmlns:a="http://schemas.openxmlformats.org/drawingml/2006/main" xmlns:r="http://schemas.openxmlformats.org/officeDocument/2006/relationships" xmlns:p="http://schemas.openxmlformats.org/presentationml/2006/main">
  <p:cSld name="Version 1.2 - 11">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C8D1D7"/>
                </a:solidFill>
                <a:latin typeface="Arial" pitchFamily="34" charset="0"/>
                <a:ea typeface="Arial" pitchFamily="34" charset="-122"/>
                <a:cs typeface="Arial" pitchFamily="34" charset="-120"/>
              </a:rPr>
              <a:t>THE FUTURE PRICING METHOD</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FFFFFF"/>
                </a:solidFill>
                <a:latin typeface="Arial" pitchFamily="34" charset="0"/>
                <a:ea typeface="Arial" pitchFamily="34" charset="-122"/>
                <a:cs typeface="Arial" pitchFamily="34" charset="-120"/>
              </a:rPr>
              <a:t>Translate market evidence into a viable ISZE price.</a:t>
            </a:r>
            <a:endParaRPr lang="en-US" sz="3100" dirty="0"/>
          </a:p>
        </p:txBody>
      </p:sp>
      <p:sp>
        <p:nvSpPr>
          <p:cNvPr id="5" name="Shape 3"/>
          <p:cNvSpPr/>
          <p:nvPr/>
        </p:nvSpPr>
        <p:spPr>
          <a:xfrm>
            <a:off x="530352" y="6373368"/>
            <a:ext cx="11128248" cy="0"/>
          </a:xfrm>
          <a:prstGeom prst="line">
            <a:avLst/>
          </a:prstGeom>
          <a:noFill/>
          <a:ln w="10160">
            <a:solidFill>
              <a:srgbClr val="33424C"/>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AEBBC4"/>
                </a:solidFill>
                <a:latin typeface="Arial" pitchFamily="34" charset="0"/>
                <a:ea typeface="Arial" pitchFamily="34" charset="-122"/>
                <a:cs typeface="Arial" pitchFamily="34" charset="-120"/>
              </a:rPr>
              <a:t>Source: Pricing Master and AIM Master. Proposed decision process; actual distributor terms apply.</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C8D1D7"/>
                </a:solidFill>
                <a:latin typeface="Arial" pitchFamily="34" charset="0"/>
                <a:ea typeface="Arial" pitchFamily="34" charset="-122"/>
                <a:cs typeface="Arial" pitchFamily="34" charset="-120"/>
              </a:rPr>
              <a:t>v1.2  |  11</a:t>
            </a:r>
            <a:endParaRPr lang="en-US" sz="940" dirty="0"/>
          </a:p>
        </p:txBody>
      </p:sp>
      <p:sp>
        <p:nvSpPr>
          <p:cNvPr id="8" name="Shape 6"/>
          <p:cNvSpPr/>
          <p:nvPr/>
        </p:nvSpPr>
        <p:spPr>
          <a:xfrm>
            <a:off x="530352" y="2212848"/>
            <a:ext cx="2441448" cy="2350008"/>
          </a:xfrm>
          <a:prstGeom prst="rect">
            <a:avLst/>
          </a:prstGeom>
          <a:solidFill>
            <a:srgbClr val="22323D"/>
          </a:solidFill>
          <a:ln w="12700">
            <a:solidFill>
              <a:srgbClr val="22323D"/>
            </a:solidFill>
            <a:prstDash val="solid"/>
          </a:ln>
        </p:spPr>
      </p:sp>
      <p:sp>
        <p:nvSpPr>
          <p:cNvPr id="9" name="Shape 7"/>
          <p:cNvSpPr/>
          <p:nvPr/>
        </p:nvSpPr>
        <p:spPr>
          <a:xfrm>
            <a:off x="694944" y="2441448"/>
            <a:ext cx="2112264" cy="0"/>
          </a:xfrm>
          <a:prstGeom prst="line">
            <a:avLst/>
          </a:prstGeom>
          <a:noFill/>
          <a:ln w="19050">
            <a:solidFill>
              <a:srgbClr val="ED0016"/>
            </a:solidFill>
            <a:prstDash val="solid"/>
            <a:headEnd type="none"/>
            <a:tailEnd type="none"/>
          </a:ln>
        </p:spPr>
      </p:sp>
      <p:sp>
        <p:nvSpPr>
          <p:cNvPr id="10" name="Text 8"/>
          <p:cNvSpPr/>
          <p:nvPr/>
        </p:nvSpPr>
        <p:spPr>
          <a:xfrm>
            <a:off x="694944" y="2688336"/>
            <a:ext cx="2112264" cy="777240"/>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Arial" pitchFamily="34" charset="0"/>
                <a:ea typeface="Arial" pitchFamily="34" charset="-122"/>
                <a:cs typeface="Arial" pitchFamily="34" charset="-120"/>
              </a:rPr>
              <a:t>Compare the alternative</a:t>
            </a:r>
            <a:endParaRPr lang="en-US" sz="2200" dirty="0"/>
          </a:p>
        </p:txBody>
      </p:sp>
      <p:sp>
        <p:nvSpPr>
          <p:cNvPr id="11" name="Text 9"/>
          <p:cNvSpPr/>
          <p:nvPr/>
        </p:nvSpPr>
        <p:spPr>
          <a:xfrm>
            <a:off x="694944" y="3666744"/>
            <a:ext cx="2112264" cy="667512"/>
          </a:xfrm>
          <a:prstGeom prst="rect">
            <a:avLst/>
          </a:prstGeom>
          <a:noFill/>
          <a:ln/>
        </p:spPr>
        <p:txBody>
          <a:bodyPr wrap="square" lIns="0" tIns="0" rIns="0" bIns="0" rtlCol="0" anchor="t">
            <a:normAutofit/>
          </a:bodyPr>
          <a:lstStyle/>
          <a:p>
            <a:pPr indent="0" marL="0">
              <a:buNone/>
            </a:pPr>
            <a:r>
              <a:rPr lang="en-US" sz="1680" dirty="0">
                <a:solidFill>
                  <a:srgbClr val="C8D1D7"/>
                </a:solidFill>
                <a:latin typeface="Arial" pitchFamily="34" charset="0"/>
                <a:ea typeface="Arial" pitchFamily="34" charset="-122"/>
                <a:cs typeface="Arial" pitchFamily="34" charset="-120"/>
              </a:rPr>
              <a:t>Match product, quality, date, availability and price level.</a:t>
            </a:r>
            <a:endParaRPr lang="en-US" sz="1680" dirty="0"/>
          </a:p>
        </p:txBody>
      </p:sp>
      <p:sp>
        <p:nvSpPr>
          <p:cNvPr id="12" name="Shape 10"/>
          <p:cNvSpPr/>
          <p:nvPr/>
        </p:nvSpPr>
        <p:spPr>
          <a:xfrm>
            <a:off x="3072384" y="3355848"/>
            <a:ext cx="219456" cy="0"/>
          </a:xfrm>
          <a:prstGeom prst="line">
            <a:avLst/>
          </a:prstGeom>
          <a:noFill/>
          <a:ln w="19050">
            <a:solidFill>
              <a:srgbClr val="C8D1D7"/>
            </a:solidFill>
            <a:prstDash val="solid"/>
            <a:headEnd type="none"/>
            <a:tailEnd type="triangle"/>
          </a:ln>
        </p:spPr>
      </p:sp>
      <p:sp>
        <p:nvSpPr>
          <p:cNvPr id="13" name="Shape 11"/>
          <p:cNvSpPr/>
          <p:nvPr/>
        </p:nvSpPr>
        <p:spPr>
          <a:xfrm>
            <a:off x="3419856" y="2212848"/>
            <a:ext cx="2441448" cy="2350008"/>
          </a:xfrm>
          <a:prstGeom prst="rect">
            <a:avLst/>
          </a:prstGeom>
          <a:solidFill>
            <a:srgbClr val="22323D"/>
          </a:solidFill>
          <a:ln w="12700">
            <a:solidFill>
              <a:srgbClr val="22323D"/>
            </a:solidFill>
            <a:prstDash val="solid"/>
          </a:ln>
        </p:spPr>
      </p:sp>
      <p:sp>
        <p:nvSpPr>
          <p:cNvPr id="14" name="Shape 12"/>
          <p:cNvSpPr/>
          <p:nvPr/>
        </p:nvSpPr>
        <p:spPr>
          <a:xfrm>
            <a:off x="3584448" y="2441448"/>
            <a:ext cx="2112264" cy="0"/>
          </a:xfrm>
          <a:prstGeom prst="line">
            <a:avLst/>
          </a:prstGeom>
          <a:noFill/>
          <a:ln w="19050">
            <a:solidFill>
              <a:srgbClr val="ED0016"/>
            </a:solidFill>
            <a:prstDash val="solid"/>
            <a:headEnd type="none"/>
            <a:tailEnd type="none"/>
          </a:ln>
        </p:spPr>
      </p:sp>
      <p:sp>
        <p:nvSpPr>
          <p:cNvPr id="15" name="Text 13"/>
          <p:cNvSpPr/>
          <p:nvPr/>
        </p:nvSpPr>
        <p:spPr>
          <a:xfrm>
            <a:off x="3584448" y="2688336"/>
            <a:ext cx="2112264" cy="777240"/>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Arial" pitchFamily="34" charset="0"/>
                <a:ea typeface="Arial" pitchFamily="34" charset="-122"/>
                <a:cs typeface="Arial" pitchFamily="34" charset="-120"/>
              </a:rPr>
              <a:t>Allow distributor room</a:t>
            </a:r>
            <a:endParaRPr lang="en-US" sz="2200" dirty="0"/>
          </a:p>
        </p:txBody>
      </p:sp>
      <p:sp>
        <p:nvSpPr>
          <p:cNvPr id="16" name="Text 14"/>
          <p:cNvSpPr/>
          <p:nvPr/>
        </p:nvSpPr>
        <p:spPr>
          <a:xfrm>
            <a:off x="3584448" y="3666744"/>
            <a:ext cx="2112264" cy="667512"/>
          </a:xfrm>
          <a:prstGeom prst="rect">
            <a:avLst/>
          </a:prstGeom>
          <a:noFill/>
          <a:ln/>
        </p:spPr>
        <p:txBody>
          <a:bodyPr wrap="square" lIns="0" tIns="0" rIns="0" bIns="0" rtlCol="0" anchor="t">
            <a:normAutofit/>
          </a:bodyPr>
          <a:lstStyle/>
          <a:p>
            <a:pPr indent="0" marL="0">
              <a:buNone/>
            </a:pPr>
            <a:r>
              <a:rPr lang="en-US" sz="1680" dirty="0">
                <a:solidFill>
                  <a:srgbClr val="C8D1D7"/>
                </a:solidFill>
                <a:latin typeface="Arial" pitchFamily="34" charset="0"/>
                <a:ea typeface="Arial" pitchFamily="34" charset="-122"/>
                <a:cs typeface="Arial" pitchFamily="34" charset="-120"/>
              </a:rPr>
              <a:t>Assess what makes a credible offer viable through the network.</a:t>
            </a:r>
            <a:endParaRPr lang="en-US" sz="1680" dirty="0"/>
          </a:p>
        </p:txBody>
      </p:sp>
      <p:sp>
        <p:nvSpPr>
          <p:cNvPr id="17" name="Shape 15"/>
          <p:cNvSpPr/>
          <p:nvPr/>
        </p:nvSpPr>
        <p:spPr>
          <a:xfrm>
            <a:off x="5961888" y="3355848"/>
            <a:ext cx="219456" cy="0"/>
          </a:xfrm>
          <a:prstGeom prst="line">
            <a:avLst/>
          </a:prstGeom>
          <a:noFill/>
          <a:ln w="19050">
            <a:solidFill>
              <a:srgbClr val="C8D1D7"/>
            </a:solidFill>
            <a:prstDash val="solid"/>
            <a:headEnd type="none"/>
            <a:tailEnd type="triangle"/>
          </a:ln>
        </p:spPr>
      </p:sp>
      <p:sp>
        <p:nvSpPr>
          <p:cNvPr id="18" name="Shape 16"/>
          <p:cNvSpPr/>
          <p:nvPr/>
        </p:nvSpPr>
        <p:spPr>
          <a:xfrm>
            <a:off x="6309360" y="2212848"/>
            <a:ext cx="2441448" cy="2350008"/>
          </a:xfrm>
          <a:prstGeom prst="rect">
            <a:avLst/>
          </a:prstGeom>
          <a:solidFill>
            <a:srgbClr val="22323D"/>
          </a:solidFill>
          <a:ln w="12700">
            <a:solidFill>
              <a:srgbClr val="22323D"/>
            </a:solidFill>
            <a:prstDash val="solid"/>
          </a:ln>
        </p:spPr>
      </p:sp>
      <p:sp>
        <p:nvSpPr>
          <p:cNvPr id="19" name="Shape 17"/>
          <p:cNvSpPr/>
          <p:nvPr/>
        </p:nvSpPr>
        <p:spPr>
          <a:xfrm>
            <a:off x="6473952" y="2441448"/>
            <a:ext cx="2112264" cy="0"/>
          </a:xfrm>
          <a:prstGeom prst="line">
            <a:avLst/>
          </a:prstGeom>
          <a:noFill/>
          <a:ln w="19050">
            <a:solidFill>
              <a:srgbClr val="ED0016"/>
            </a:solidFill>
            <a:prstDash val="solid"/>
            <a:headEnd type="none"/>
            <a:tailEnd type="none"/>
          </a:ln>
        </p:spPr>
      </p:sp>
      <p:sp>
        <p:nvSpPr>
          <p:cNvPr id="20" name="Text 18"/>
          <p:cNvSpPr/>
          <p:nvPr/>
        </p:nvSpPr>
        <p:spPr>
          <a:xfrm>
            <a:off x="6473952" y="2688336"/>
            <a:ext cx="2112264" cy="777240"/>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Arial" pitchFamily="34" charset="0"/>
                <a:ea typeface="Arial" pitchFamily="34" charset="-122"/>
                <a:cs typeface="Arial" pitchFamily="34" charset="-120"/>
              </a:rPr>
              <a:t>Check ISZE economics</a:t>
            </a:r>
            <a:endParaRPr lang="en-US" sz="2200" dirty="0"/>
          </a:p>
        </p:txBody>
      </p:sp>
      <p:sp>
        <p:nvSpPr>
          <p:cNvPr id="21" name="Text 19"/>
          <p:cNvSpPr/>
          <p:nvPr/>
        </p:nvSpPr>
        <p:spPr>
          <a:xfrm>
            <a:off x="6473952" y="3666744"/>
            <a:ext cx="2112264" cy="667512"/>
          </a:xfrm>
          <a:prstGeom prst="rect">
            <a:avLst/>
          </a:prstGeom>
          <a:noFill/>
          <a:ln/>
        </p:spPr>
        <p:txBody>
          <a:bodyPr wrap="square" lIns="0" tIns="0" rIns="0" bIns="0" rtlCol="0" anchor="t">
            <a:normAutofit/>
          </a:bodyPr>
          <a:lstStyle/>
          <a:p>
            <a:pPr indent="0" marL="0">
              <a:buNone/>
            </a:pPr>
            <a:r>
              <a:rPr lang="en-US" sz="1680" dirty="0">
                <a:solidFill>
                  <a:srgbClr val="C8D1D7"/>
                </a:solidFill>
                <a:latin typeface="Arial" pitchFamily="34" charset="0"/>
                <a:ea typeface="Arial" pitchFamily="34" charset="-122"/>
                <a:cs typeface="Arial" pitchFamily="34" charset="-120"/>
              </a:rPr>
              <a:t>Use cost, corporate rate, purchase terms and net selling support.</a:t>
            </a:r>
            <a:endParaRPr lang="en-US" sz="1680" dirty="0"/>
          </a:p>
        </p:txBody>
      </p:sp>
      <p:sp>
        <p:nvSpPr>
          <p:cNvPr id="22" name="Shape 20"/>
          <p:cNvSpPr/>
          <p:nvPr/>
        </p:nvSpPr>
        <p:spPr>
          <a:xfrm>
            <a:off x="8851392" y="3355848"/>
            <a:ext cx="219456" cy="0"/>
          </a:xfrm>
          <a:prstGeom prst="line">
            <a:avLst/>
          </a:prstGeom>
          <a:noFill/>
          <a:ln w="19050">
            <a:solidFill>
              <a:srgbClr val="C8D1D7"/>
            </a:solidFill>
            <a:prstDash val="solid"/>
            <a:headEnd type="none"/>
            <a:tailEnd type="triangle"/>
          </a:ln>
        </p:spPr>
      </p:sp>
      <p:sp>
        <p:nvSpPr>
          <p:cNvPr id="23" name="Shape 21"/>
          <p:cNvSpPr/>
          <p:nvPr/>
        </p:nvSpPr>
        <p:spPr>
          <a:xfrm>
            <a:off x="9198864" y="2212848"/>
            <a:ext cx="2441448" cy="2350008"/>
          </a:xfrm>
          <a:prstGeom prst="rect">
            <a:avLst/>
          </a:prstGeom>
          <a:solidFill>
            <a:srgbClr val="22323D"/>
          </a:solidFill>
          <a:ln w="12700">
            <a:solidFill>
              <a:srgbClr val="22323D"/>
            </a:solidFill>
            <a:prstDash val="solid"/>
          </a:ln>
        </p:spPr>
      </p:sp>
      <p:sp>
        <p:nvSpPr>
          <p:cNvPr id="24" name="Shape 22"/>
          <p:cNvSpPr/>
          <p:nvPr/>
        </p:nvSpPr>
        <p:spPr>
          <a:xfrm>
            <a:off x="9363456" y="2441448"/>
            <a:ext cx="2112264" cy="0"/>
          </a:xfrm>
          <a:prstGeom prst="line">
            <a:avLst/>
          </a:prstGeom>
          <a:noFill/>
          <a:ln w="19050">
            <a:solidFill>
              <a:srgbClr val="ED0016"/>
            </a:solidFill>
            <a:prstDash val="solid"/>
            <a:headEnd type="none"/>
            <a:tailEnd type="none"/>
          </a:ln>
        </p:spPr>
      </p:sp>
      <p:sp>
        <p:nvSpPr>
          <p:cNvPr id="25" name="Text 23"/>
          <p:cNvSpPr/>
          <p:nvPr/>
        </p:nvSpPr>
        <p:spPr>
          <a:xfrm>
            <a:off x="9363456" y="2688336"/>
            <a:ext cx="2112264" cy="777240"/>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Arial" pitchFamily="34" charset="0"/>
                <a:ea typeface="Arial" pitchFamily="34" charset="-122"/>
                <a:cs typeface="Arial" pitchFamily="34" charset="-120"/>
              </a:rPr>
              <a:t>Approve the part price</a:t>
            </a:r>
            <a:endParaRPr lang="en-US" sz="2200" dirty="0"/>
          </a:p>
        </p:txBody>
      </p:sp>
      <p:sp>
        <p:nvSpPr>
          <p:cNvPr id="26" name="Text 24"/>
          <p:cNvSpPr/>
          <p:nvPr/>
        </p:nvSpPr>
        <p:spPr>
          <a:xfrm>
            <a:off x="9363456" y="3666744"/>
            <a:ext cx="2112264" cy="667512"/>
          </a:xfrm>
          <a:prstGeom prst="rect">
            <a:avLst/>
          </a:prstGeom>
          <a:noFill/>
          <a:ln/>
        </p:spPr>
        <p:txBody>
          <a:bodyPr wrap="square" lIns="0" tIns="0" rIns="0" bIns="0" rtlCol="0" anchor="t">
            <a:normAutofit/>
          </a:bodyPr>
          <a:lstStyle/>
          <a:p>
            <a:pPr indent="0" marL="0">
              <a:buNone/>
            </a:pPr>
            <a:r>
              <a:rPr lang="en-US" sz="1680" dirty="0">
                <a:solidFill>
                  <a:srgbClr val="C8D1D7"/>
                </a:solidFill>
                <a:latin typeface="Arial" pitchFamily="34" charset="0"/>
                <a:ea typeface="Arial" pitchFamily="34" charset="-122"/>
                <a:cs typeface="Arial" pitchFamily="34" charset="-120"/>
              </a:rPr>
              <a:t>Record the evidence, commercial purpose and expected result.</a:t>
            </a:r>
            <a:endParaRPr lang="en-US" sz="1680" dirty="0"/>
          </a:p>
        </p:txBody>
      </p:sp>
      <p:sp>
        <p:nvSpPr>
          <p:cNvPr id="27" name="Text 25"/>
          <p:cNvSpPr/>
          <p:nvPr/>
        </p:nvSpPr>
        <p:spPr>
          <a:xfrm>
            <a:off x="530352" y="4901184"/>
            <a:ext cx="11128248" cy="539496"/>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rial" pitchFamily="34" charset="0"/>
                <a:ea typeface="Arial" pitchFamily="34" charset="-122"/>
                <a:cs typeface="Arial" pitchFamily="34" charset="-120"/>
              </a:rPr>
              <a:t>A webshop price is not directly comparable with our distributor net price.</a:t>
            </a:r>
            <a:endParaRPr lang="en-US" sz="2100" dirty="0"/>
          </a:p>
        </p:txBody>
      </p:sp>
      <p:sp>
        <p:nvSpPr>
          <p:cNvPr id="28" name="Shape 26"/>
          <p:cNvSpPr/>
          <p:nvPr/>
        </p:nvSpPr>
        <p:spPr>
          <a:xfrm>
            <a:off x="530352" y="5797296"/>
            <a:ext cx="41148" cy="393192"/>
          </a:xfrm>
          <a:prstGeom prst="rect">
            <a:avLst/>
          </a:prstGeom>
          <a:solidFill>
            <a:srgbClr val="ED0016"/>
          </a:solidFill>
          <a:ln w="12700">
            <a:solidFill>
              <a:srgbClr val="ED0016"/>
            </a:solidFill>
            <a:prstDash val="solid"/>
          </a:ln>
        </p:spPr>
      </p:sp>
      <p:sp>
        <p:nvSpPr>
          <p:cNvPr id="29" name="Text 27"/>
          <p:cNvSpPr/>
          <p:nvPr/>
        </p:nvSpPr>
        <p:spPr>
          <a:xfrm>
            <a:off x="713232" y="5788152"/>
            <a:ext cx="10908792" cy="438912"/>
          </a:xfrm>
          <a:prstGeom prst="rect">
            <a:avLst/>
          </a:prstGeom>
          <a:noFill/>
          <a:ln/>
        </p:spPr>
        <p:txBody>
          <a:bodyPr wrap="square" lIns="0" tIns="0" rIns="0" bIns="0" rtlCol="0" anchor="ctr">
            <a:normAutofit/>
          </a:bodyPr>
          <a:lstStyle/>
          <a:p>
            <a:pPr indent="0" marL="0">
              <a:buNone/>
            </a:pPr>
            <a:r>
              <a:rPr lang="en-US" sz="1880" b="1" dirty="0">
                <a:solidFill>
                  <a:srgbClr val="FFFFFF"/>
                </a:solidFill>
                <a:latin typeface="Arial" pitchFamily="34" charset="0"/>
                <a:ea typeface="Arial" pitchFamily="34" charset="-122"/>
                <a:cs typeface="Arial" pitchFamily="34" charset="-120"/>
              </a:rPr>
              <a:t>Cost and net margin remain controls. The class letter no longer sets the selling price.</a:t>
            </a:r>
            <a:endParaRPr lang="en-US" sz="1880" dirty="0"/>
          </a:p>
        </p:txBody>
      </p:sp>
    </p:spTree>
  </p:cSld>
  <p:clrMapOvr>
    <a:masterClrMapping/>
  </p:clrMapOvr>
  <p:transition spd="fast" advClick="1">
    <p:fade/>
  </p:transition>
</p:sld>
</file>

<file path=ppt/slides/slide10.xml><?xml version="1.0" encoding="utf-8"?>
<p:sld xmlns:a="http://schemas.openxmlformats.org/drawingml/2006/main" xmlns:r="http://schemas.openxmlformats.org/officeDocument/2006/relationships" xmlns:p="http://schemas.openxmlformats.org/presentationml/2006/main">
  <p:cSld name="Version 1.2 - 12">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SCHEDULED-SERVICE PARTS</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17232C"/>
                </a:solidFill>
                <a:latin typeface="Arial" pitchFamily="34" charset="0"/>
                <a:ea typeface="Arial" pitchFamily="34" charset="-122"/>
                <a:cs typeface="Arial" pitchFamily="34" charset="-120"/>
              </a:rPr>
              <a:t>Give distributors room to compete, not unnecessary discounts.</a:t>
            </a:r>
            <a:endParaRPr lang="en-US" sz="3100" dirty="0"/>
          </a:p>
        </p:txBody>
      </p:sp>
      <p:sp>
        <p:nvSpPr>
          <p:cNvPr id="5" name="Shape 3"/>
          <p:cNvSpPr/>
          <p:nvPr/>
        </p:nvSpPr>
        <p:spPr>
          <a:xfrm>
            <a:off x="530352" y="6373368"/>
            <a:ext cx="11128248" cy="0"/>
          </a:xfrm>
          <a:prstGeom prst="line">
            <a:avLst/>
          </a:prstGeom>
          <a:noFill/>
          <a:ln w="10160">
            <a:solidFill>
              <a:srgbClr val="DCE2E6"/>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687782"/>
                </a:solidFill>
                <a:latin typeface="Arial" pitchFamily="34" charset="0"/>
                <a:ea typeface="Arial" pitchFamily="34" charset="-122"/>
                <a:cs typeface="Arial" pitchFamily="34" charset="-120"/>
              </a:rPr>
              <a:t>Source: management policy. Intended order effects depend on distributor execution; not a measured demand forecast.</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687782"/>
                </a:solidFill>
                <a:latin typeface="Arial" pitchFamily="34" charset="0"/>
                <a:ea typeface="Arial" pitchFamily="34" charset="-122"/>
                <a:cs typeface="Arial" pitchFamily="34" charset="-120"/>
              </a:rPr>
              <a:t>v1.2  |  12</a:t>
            </a:r>
            <a:endParaRPr lang="en-US" sz="940" dirty="0"/>
          </a:p>
        </p:txBody>
      </p:sp>
      <p:sp>
        <p:nvSpPr>
          <p:cNvPr id="8" name="Text 6"/>
          <p:cNvSpPr/>
          <p:nvPr/>
        </p:nvSpPr>
        <p:spPr>
          <a:xfrm>
            <a:off x="530352" y="1828800"/>
            <a:ext cx="11128248" cy="365760"/>
          </a:xfrm>
          <a:prstGeom prst="rect">
            <a:avLst/>
          </a:prstGeom>
          <a:noFill/>
          <a:ln/>
        </p:spPr>
        <p:txBody>
          <a:bodyPr wrap="square" lIns="0" tIns="0" rIns="0" bIns="0" rtlCol="0" anchor="ctr">
            <a:normAutofit/>
          </a:bodyPr>
          <a:lstStyle/>
          <a:p>
            <a:pPr indent="0" marL="0">
              <a:buNone/>
            </a:pPr>
            <a:r>
              <a:rPr lang="en-US" sz="1850" dirty="0">
                <a:solidFill>
                  <a:srgbClr val="687782"/>
                </a:solidFill>
                <a:latin typeface="Arial" pitchFamily="34" charset="0"/>
                <a:ea typeface="Arial" pitchFamily="34" charset="-122"/>
                <a:cs typeface="Arial" pitchFamily="34" charset="-120"/>
              </a:rPr>
              <a:t>Periodic maintenance service (PMS) parts: filters and wear parts used in maintenance.</a:t>
            </a:r>
            <a:endParaRPr lang="en-US" sz="1850" dirty="0"/>
          </a:p>
        </p:txBody>
      </p:sp>
      <p:sp>
        <p:nvSpPr>
          <p:cNvPr id="9" name="Shape 7"/>
          <p:cNvSpPr/>
          <p:nvPr/>
        </p:nvSpPr>
        <p:spPr>
          <a:xfrm>
            <a:off x="530352" y="2395728"/>
            <a:ext cx="3465576" cy="1152144"/>
          </a:xfrm>
          <a:prstGeom prst="rect">
            <a:avLst/>
          </a:prstGeom>
          <a:solidFill>
            <a:srgbClr val="F0F3F5"/>
          </a:solidFill>
          <a:ln w="12700">
            <a:solidFill>
              <a:srgbClr val="F0F3F5"/>
            </a:solidFill>
            <a:prstDash val="solid"/>
          </a:ln>
        </p:spPr>
      </p:sp>
      <p:sp>
        <p:nvSpPr>
          <p:cNvPr id="10" name="Text 8"/>
          <p:cNvSpPr/>
          <p:nvPr/>
        </p:nvSpPr>
        <p:spPr>
          <a:xfrm>
            <a:off x="685800" y="2532888"/>
            <a:ext cx="3145536" cy="246888"/>
          </a:xfrm>
          <a:prstGeom prst="rect">
            <a:avLst/>
          </a:prstGeom>
          <a:noFill/>
          <a:ln/>
        </p:spPr>
        <p:txBody>
          <a:bodyPr wrap="square" lIns="0" tIns="0" rIns="0" bIns="0" rtlCol="0" anchor="ctr">
            <a:normAutofit/>
          </a:bodyPr>
          <a:lstStyle/>
          <a:p>
            <a:pPr indent="0" marL="0">
              <a:buNone/>
            </a:pPr>
            <a:r>
              <a:rPr lang="en-US" sz="1380" b="1" dirty="0">
                <a:solidFill>
                  <a:srgbClr val="ED0016"/>
                </a:solidFill>
                <a:latin typeface="Arial" pitchFamily="34" charset="0"/>
                <a:ea typeface="Arial" pitchFamily="34" charset="-122"/>
                <a:cs typeface="Arial" pitchFamily="34" charset="-120"/>
              </a:rPr>
              <a:t>RESTRAIN AN INCREASE</a:t>
            </a:r>
            <a:endParaRPr lang="en-US" sz="1380" dirty="0"/>
          </a:p>
        </p:txBody>
      </p:sp>
      <p:sp>
        <p:nvSpPr>
          <p:cNvPr id="11" name="Text 9"/>
          <p:cNvSpPr/>
          <p:nvPr/>
        </p:nvSpPr>
        <p:spPr>
          <a:xfrm>
            <a:off x="685800" y="2926080"/>
            <a:ext cx="3145536" cy="429768"/>
          </a:xfrm>
          <a:prstGeom prst="rect">
            <a:avLst/>
          </a:prstGeom>
          <a:noFill/>
          <a:ln/>
        </p:spPr>
        <p:txBody>
          <a:bodyPr wrap="square" lIns="0" tIns="0" rIns="0" bIns="0" rtlCol="0" anchor="ctr">
            <a:normAutofit/>
          </a:bodyPr>
          <a:lstStyle/>
          <a:p>
            <a:pPr indent="0" marL="0">
              <a:buNone/>
            </a:pPr>
            <a:r>
              <a:rPr lang="en-US" sz="1730" dirty="0">
                <a:solidFill>
                  <a:srgbClr val="17232C"/>
                </a:solidFill>
                <a:latin typeface="Arial" pitchFamily="34" charset="0"/>
                <a:ea typeface="Arial" pitchFamily="34" charset="-122"/>
                <a:cs typeface="Arial" pitchFamily="34" charset="-120"/>
              </a:rPr>
              <a:t>Limit a move where extra cost would weaken the distributor offer.</a:t>
            </a:r>
            <a:endParaRPr lang="en-US" sz="1730" dirty="0"/>
          </a:p>
        </p:txBody>
      </p:sp>
      <p:sp>
        <p:nvSpPr>
          <p:cNvPr id="12" name="Shape 10"/>
          <p:cNvSpPr/>
          <p:nvPr/>
        </p:nvSpPr>
        <p:spPr>
          <a:xfrm>
            <a:off x="4343400" y="2395728"/>
            <a:ext cx="3465576" cy="1152144"/>
          </a:xfrm>
          <a:prstGeom prst="rect">
            <a:avLst/>
          </a:prstGeom>
          <a:solidFill>
            <a:srgbClr val="F0F3F5"/>
          </a:solidFill>
          <a:ln w="12700">
            <a:solidFill>
              <a:srgbClr val="F0F3F5"/>
            </a:solidFill>
            <a:prstDash val="solid"/>
          </a:ln>
        </p:spPr>
      </p:sp>
      <p:sp>
        <p:nvSpPr>
          <p:cNvPr id="13" name="Text 11"/>
          <p:cNvSpPr/>
          <p:nvPr/>
        </p:nvSpPr>
        <p:spPr>
          <a:xfrm>
            <a:off x="4498848" y="2532888"/>
            <a:ext cx="3145536" cy="246888"/>
          </a:xfrm>
          <a:prstGeom prst="rect">
            <a:avLst/>
          </a:prstGeom>
          <a:noFill/>
          <a:ln/>
        </p:spPr>
        <p:txBody>
          <a:bodyPr wrap="square" lIns="0" tIns="0" rIns="0" bIns="0" rtlCol="0" anchor="ctr">
            <a:normAutofit/>
          </a:bodyPr>
          <a:lstStyle/>
          <a:p>
            <a:pPr indent="0" marL="0">
              <a:buNone/>
            </a:pPr>
            <a:r>
              <a:rPr lang="en-US" sz="1380" b="1" dirty="0">
                <a:solidFill>
                  <a:srgbClr val="ED0016"/>
                </a:solidFill>
                <a:latin typeface="Arial" pitchFamily="34" charset="0"/>
                <a:ea typeface="Arial" pitchFamily="34" charset="-122"/>
                <a:cs typeface="Arial" pitchFamily="34" charset="-120"/>
              </a:rPr>
              <a:t>HOLD THE PRICE</a:t>
            </a:r>
            <a:endParaRPr lang="en-US" sz="1380" dirty="0"/>
          </a:p>
        </p:txBody>
      </p:sp>
      <p:sp>
        <p:nvSpPr>
          <p:cNvPr id="14" name="Text 12"/>
          <p:cNvSpPr/>
          <p:nvPr/>
        </p:nvSpPr>
        <p:spPr>
          <a:xfrm>
            <a:off x="4498848" y="2926080"/>
            <a:ext cx="3145536" cy="429768"/>
          </a:xfrm>
          <a:prstGeom prst="rect">
            <a:avLst/>
          </a:prstGeom>
          <a:noFill/>
          <a:ln/>
        </p:spPr>
        <p:txBody>
          <a:bodyPr wrap="square" lIns="0" tIns="0" rIns="0" bIns="0" rtlCol="0" anchor="ctr">
            <a:normAutofit/>
          </a:bodyPr>
          <a:lstStyle/>
          <a:p>
            <a:pPr indent="0" marL="0">
              <a:buNone/>
            </a:pPr>
            <a:r>
              <a:rPr lang="en-US" sz="1730" dirty="0">
                <a:solidFill>
                  <a:srgbClr val="17232C"/>
                </a:solidFill>
                <a:latin typeface="Arial" pitchFamily="34" charset="0"/>
                <a:ea typeface="Arial" pitchFamily="34" charset="-122"/>
                <a:cs typeface="Arial" pitchFamily="34" charset="-120"/>
              </a:rPr>
              <a:t>Keep a competitive position without giving away more margin.</a:t>
            </a:r>
            <a:endParaRPr lang="en-US" sz="1730" dirty="0"/>
          </a:p>
        </p:txBody>
      </p:sp>
      <p:sp>
        <p:nvSpPr>
          <p:cNvPr id="15" name="Shape 13"/>
          <p:cNvSpPr/>
          <p:nvPr/>
        </p:nvSpPr>
        <p:spPr>
          <a:xfrm>
            <a:off x="8156448" y="2395728"/>
            <a:ext cx="3465576" cy="1152144"/>
          </a:xfrm>
          <a:prstGeom prst="rect">
            <a:avLst/>
          </a:prstGeom>
          <a:solidFill>
            <a:srgbClr val="F0F3F5"/>
          </a:solidFill>
          <a:ln w="12700">
            <a:solidFill>
              <a:srgbClr val="F0F3F5"/>
            </a:solidFill>
            <a:prstDash val="solid"/>
          </a:ln>
        </p:spPr>
      </p:sp>
      <p:sp>
        <p:nvSpPr>
          <p:cNvPr id="16" name="Text 14"/>
          <p:cNvSpPr/>
          <p:nvPr/>
        </p:nvSpPr>
        <p:spPr>
          <a:xfrm>
            <a:off x="8311896" y="2532888"/>
            <a:ext cx="3145536" cy="246888"/>
          </a:xfrm>
          <a:prstGeom prst="rect">
            <a:avLst/>
          </a:prstGeom>
          <a:noFill/>
          <a:ln/>
        </p:spPr>
        <p:txBody>
          <a:bodyPr wrap="square" lIns="0" tIns="0" rIns="0" bIns="0" rtlCol="0" anchor="ctr">
            <a:normAutofit/>
          </a:bodyPr>
          <a:lstStyle/>
          <a:p>
            <a:pPr indent="0" marL="0">
              <a:buNone/>
            </a:pPr>
            <a:r>
              <a:rPr lang="en-US" sz="1380" b="1" dirty="0">
                <a:solidFill>
                  <a:srgbClr val="ED0016"/>
                </a:solidFill>
                <a:latin typeface="Arial" pitchFamily="34" charset="0"/>
                <a:ea typeface="Arial" pitchFamily="34" charset="-122"/>
                <a:cs typeface="Arial" pitchFamily="34" charset="-120"/>
              </a:rPr>
              <a:t>REDUCE SELECTIVELY</a:t>
            </a:r>
            <a:endParaRPr lang="en-US" sz="1380" dirty="0"/>
          </a:p>
        </p:txBody>
      </p:sp>
      <p:sp>
        <p:nvSpPr>
          <p:cNvPr id="17" name="Text 15"/>
          <p:cNvSpPr/>
          <p:nvPr/>
        </p:nvSpPr>
        <p:spPr>
          <a:xfrm>
            <a:off x="8311896" y="2926080"/>
            <a:ext cx="3145536" cy="429768"/>
          </a:xfrm>
          <a:prstGeom prst="rect">
            <a:avLst/>
          </a:prstGeom>
          <a:noFill/>
          <a:ln/>
        </p:spPr>
        <p:txBody>
          <a:bodyPr wrap="square" lIns="0" tIns="0" rIns="0" bIns="0" rtlCol="0" anchor="ctr">
            <a:normAutofit/>
          </a:bodyPr>
          <a:lstStyle/>
          <a:p>
            <a:pPr indent="0" marL="0">
              <a:buNone/>
            </a:pPr>
            <a:r>
              <a:rPr lang="en-US" sz="1730" dirty="0">
                <a:solidFill>
                  <a:srgbClr val="17232C"/>
                </a:solidFill>
                <a:latin typeface="Arial" pitchFamily="34" charset="0"/>
                <a:ea typeface="Arial" pitchFamily="34" charset="-122"/>
                <a:cs typeface="Arial" pitchFamily="34" charset="-120"/>
              </a:rPr>
              <a:t>Close a supported competitive gap on the parts that need it.</a:t>
            </a:r>
            <a:endParaRPr lang="en-US" sz="1730" dirty="0"/>
          </a:p>
        </p:txBody>
      </p:sp>
      <p:sp>
        <p:nvSpPr>
          <p:cNvPr id="18" name="Text 16"/>
          <p:cNvSpPr/>
          <p:nvPr/>
        </p:nvSpPr>
        <p:spPr>
          <a:xfrm>
            <a:off x="530352" y="3831336"/>
            <a:ext cx="11128248"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THE INTENDED COMMERCIAL EFFECT</a:t>
            </a:r>
            <a:endParaRPr lang="en-US" sz="1050" dirty="0"/>
          </a:p>
        </p:txBody>
      </p:sp>
      <p:sp>
        <p:nvSpPr>
          <p:cNvPr id="19" name="Shape 17"/>
          <p:cNvSpPr/>
          <p:nvPr/>
        </p:nvSpPr>
        <p:spPr>
          <a:xfrm>
            <a:off x="530352" y="4288536"/>
            <a:ext cx="2423160" cy="0"/>
          </a:xfrm>
          <a:prstGeom prst="line">
            <a:avLst/>
          </a:prstGeom>
          <a:noFill/>
          <a:ln w="21590">
            <a:solidFill>
              <a:srgbClr val="ED0016"/>
            </a:solidFill>
            <a:prstDash val="solid"/>
            <a:headEnd type="none"/>
            <a:tailEnd type="none"/>
          </a:ln>
        </p:spPr>
      </p:sp>
      <p:sp>
        <p:nvSpPr>
          <p:cNvPr id="20" name="Text 18"/>
          <p:cNvSpPr/>
          <p:nvPr/>
        </p:nvSpPr>
        <p:spPr>
          <a:xfrm>
            <a:off x="530352" y="4489704"/>
            <a:ext cx="2423160" cy="539496"/>
          </a:xfrm>
          <a:prstGeom prst="rect">
            <a:avLst/>
          </a:prstGeom>
          <a:noFill/>
          <a:ln/>
        </p:spPr>
        <p:txBody>
          <a:bodyPr wrap="square" lIns="0" tIns="0" rIns="0" bIns="0" rtlCol="0" anchor="ctr">
            <a:normAutofit/>
          </a:bodyPr>
          <a:lstStyle/>
          <a:p>
            <a:pPr indent="0" marL="0">
              <a:buNone/>
            </a:pPr>
            <a:r>
              <a:rPr lang="en-US" sz="2100" b="1" dirty="0">
                <a:solidFill>
                  <a:srgbClr val="17232C"/>
                </a:solidFill>
                <a:latin typeface="Arial" pitchFamily="34" charset="0"/>
                <a:ea typeface="Arial" pitchFamily="34" charset="-122"/>
                <a:cs typeface="Arial" pitchFamily="34" charset="-120"/>
              </a:rPr>
              <a:t>Distributor room</a:t>
            </a:r>
            <a:endParaRPr lang="en-US" sz="2100" dirty="0"/>
          </a:p>
        </p:txBody>
      </p:sp>
      <p:sp>
        <p:nvSpPr>
          <p:cNvPr id="21" name="Text 19"/>
          <p:cNvSpPr/>
          <p:nvPr/>
        </p:nvSpPr>
        <p:spPr>
          <a:xfrm>
            <a:off x="530352" y="5166360"/>
            <a:ext cx="2423160" cy="429768"/>
          </a:xfrm>
          <a:prstGeom prst="rect">
            <a:avLst/>
          </a:prstGeom>
          <a:noFill/>
          <a:ln/>
        </p:spPr>
        <p:txBody>
          <a:bodyPr wrap="square" lIns="0" tIns="0" rIns="0" bIns="0" rtlCol="0" anchor="ctr">
            <a:normAutofit/>
          </a:bodyPr>
          <a:lstStyle/>
          <a:p>
            <a:pPr indent="0" marL="0">
              <a:buNone/>
            </a:pPr>
            <a:r>
              <a:rPr lang="en-US" sz="1630" dirty="0">
                <a:solidFill>
                  <a:srgbClr val="687782"/>
                </a:solidFill>
                <a:latin typeface="Arial" pitchFamily="34" charset="0"/>
                <a:ea typeface="Arial" pitchFamily="34" charset="-122"/>
                <a:cs typeface="Arial" pitchFamily="34" charset="-120"/>
              </a:rPr>
              <a:t>A workable purchase price and a viable parts offer.</a:t>
            </a:r>
            <a:endParaRPr lang="en-US" sz="1630" dirty="0"/>
          </a:p>
        </p:txBody>
      </p:sp>
      <p:sp>
        <p:nvSpPr>
          <p:cNvPr id="22" name="Shape 20"/>
          <p:cNvSpPr/>
          <p:nvPr/>
        </p:nvSpPr>
        <p:spPr>
          <a:xfrm>
            <a:off x="3072384" y="4718304"/>
            <a:ext cx="210312" cy="0"/>
          </a:xfrm>
          <a:prstGeom prst="line">
            <a:avLst/>
          </a:prstGeom>
          <a:noFill/>
          <a:ln w="19050">
            <a:solidFill>
              <a:srgbClr val="ED0016"/>
            </a:solidFill>
            <a:prstDash val="solid"/>
            <a:headEnd type="none"/>
            <a:tailEnd type="triangle"/>
          </a:ln>
        </p:spPr>
      </p:sp>
      <p:sp>
        <p:nvSpPr>
          <p:cNvPr id="23" name="Shape 21"/>
          <p:cNvSpPr/>
          <p:nvPr/>
        </p:nvSpPr>
        <p:spPr>
          <a:xfrm>
            <a:off x="3419856" y="4288536"/>
            <a:ext cx="2423160" cy="0"/>
          </a:xfrm>
          <a:prstGeom prst="line">
            <a:avLst/>
          </a:prstGeom>
          <a:noFill/>
          <a:ln w="21590">
            <a:solidFill>
              <a:srgbClr val="687782"/>
            </a:solidFill>
            <a:prstDash val="solid"/>
            <a:headEnd type="none"/>
            <a:tailEnd type="none"/>
          </a:ln>
        </p:spPr>
      </p:sp>
      <p:sp>
        <p:nvSpPr>
          <p:cNvPr id="24" name="Text 22"/>
          <p:cNvSpPr/>
          <p:nvPr/>
        </p:nvSpPr>
        <p:spPr>
          <a:xfrm>
            <a:off x="3419856" y="4489704"/>
            <a:ext cx="2423160" cy="539496"/>
          </a:xfrm>
          <a:prstGeom prst="rect">
            <a:avLst/>
          </a:prstGeom>
          <a:noFill/>
          <a:ln/>
        </p:spPr>
        <p:txBody>
          <a:bodyPr wrap="square" lIns="0" tIns="0" rIns="0" bIns="0" rtlCol="0" anchor="ctr">
            <a:normAutofit/>
          </a:bodyPr>
          <a:lstStyle/>
          <a:p>
            <a:pPr indent="0" marL="0">
              <a:buNone/>
            </a:pPr>
            <a:r>
              <a:rPr lang="en-US" sz="2100" b="1" dirty="0">
                <a:solidFill>
                  <a:srgbClr val="17232C"/>
                </a:solidFill>
                <a:latin typeface="Arial" pitchFamily="34" charset="0"/>
                <a:ea typeface="Arial" pitchFamily="34" charset="-122"/>
                <a:cs typeface="Arial" pitchFamily="34" charset="-120"/>
              </a:rPr>
              <a:t>Dealer support</a:t>
            </a:r>
            <a:endParaRPr lang="en-US" sz="2100" dirty="0"/>
          </a:p>
        </p:txBody>
      </p:sp>
      <p:sp>
        <p:nvSpPr>
          <p:cNvPr id="25" name="Text 23"/>
          <p:cNvSpPr/>
          <p:nvPr/>
        </p:nvSpPr>
        <p:spPr>
          <a:xfrm>
            <a:off x="3419856" y="5166360"/>
            <a:ext cx="2423160" cy="429768"/>
          </a:xfrm>
          <a:prstGeom prst="rect">
            <a:avLst/>
          </a:prstGeom>
          <a:noFill/>
          <a:ln/>
        </p:spPr>
        <p:txBody>
          <a:bodyPr wrap="square" lIns="0" tIns="0" rIns="0" bIns="0" rtlCol="0" anchor="ctr">
            <a:normAutofit/>
          </a:bodyPr>
          <a:lstStyle/>
          <a:p>
            <a:pPr indent="0" marL="0">
              <a:buNone/>
            </a:pPr>
            <a:r>
              <a:rPr lang="en-US" sz="1630" dirty="0">
                <a:solidFill>
                  <a:srgbClr val="687782"/>
                </a:solidFill>
                <a:latin typeface="Arial" pitchFamily="34" charset="0"/>
                <a:ea typeface="Arial" pitchFamily="34" charset="-122"/>
                <a:cs typeface="Arial" pitchFamily="34" charset="-120"/>
              </a:rPr>
              <a:t>Flexibility for stronger quotations and campaigns.</a:t>
            </a:r>
            <a:endParaRPr lang="en-US" sz="1630" dirty="0"/>
          </a:p>
        </p:txBody>
      </p:sp>
      <p:sp>
        <p:nvSpPr>
          <p:cNvPr id="26" name="Shape 24"/>
          <p:cNvSpPr/>
          <p:nvPr/>
        </p:nvSpPr>
        <p:spPr>
          <a:xfrm>
            <a:off x="5961888" y="4718304"/>
            <a:ext cx="210312" cy="0"/>
          </a:xfrm>
          <a:prstGeom prst="line">
            <a:avLst/>
          </a:prstGeom>
          <a:noFill/>
          <a:ln w="19050">
            <a:solidFill>
              <a:srgbClr val="ED0016"/>
            </a:solidFill>
            <a:prstDash val="solid"/>
            <a:headEnd type="none"/>
            <a:tailEnd type="triangle"/>
          </a:ln>
        </p:spPr>
      </p:sp>
      <p:sp>
        <p:nvSpPr>
          <p:cNvPr id="27" name="Shape 25"/>
          <p:cNvSpPr/>
          <p:nvPr/>
        </p:nvSpPr>
        <p:spPr>
          <a:xfrm>
            <a:off x="6309360" y="4288536"/>
            <a:ext cx="2423160" cy="0"/>
          </a:xfrm>
          <a:prstGeom prst="line">
            <a:avLst/>
          </a:prstGeom>
          <a:noFill/>
          <a:ln w="21590">
            <a:solidFill>
              <a:srgbClr val="687782"/>
            </a:solidFill>
            <a:prstDash val="solid"/>
            <a:headEnd type="none"/>
            <a:tailEnd type="none"/>
          </a:ln>
        </p:spPr>
      </p:sp>
      <p:sp>
        <p:nvSpPr>
          <p:cNvPr id="28" name="Text 26"/>
          <p:cNvSpPr/>
          <p:nvPr/>
        </p:nvSpPr>
        <p:spPr>
          <a:xfrm>
            <a:off x="6309360" y="4489704"/>
            <a:ext cx="2423160" cy="539496"/>
          </a:xfrm>
          <a:prstGeom prst="rect">
            <a:avLst/>
          </a:prstGeom>
          <a:noFill/>
          <a:ln/>
        </p:spPr>
        <p:txBody>
          <a:bodyPr wrap="square" lIns="0" tIns="0" rIns="0" bIns="0" rtlCol="0" anchor="ctr">
            <a:normAutofit/>
          </a:bodyPr>
          <a:lstStyle/>
          <a:p>
            <a:pPr indent="0" marL="0">
              <a:buNone/>
            </a:pPr>
            <a:r>
              <a:rPr lang="en-US" sz="2100" b="1" dirty="0">
                <a:solidFill>
                  <a:srgbClr val="17232C"/>
                </a:solidFill>
                <a:latin typeface="Arial" pitchFamily="34" charset="0"/>
                <a:ea typeface="Arial" pitchFamily="34" charset="-122"/>
                <a:cs typeface="Arial" pitchFamily="34" charset="-120"/>
              </a:rPr>
              <a:t>More genuine parts</a:t>
            </a:r>
            <a:endParaRPr lang="en-US" sz="2100" dirty="0"/>
          </a:p>
        </p:txBody>
      </p:sp>
      <p:sp>
        <p:nvSpPr>
          <p:cNvPr id="29" name="Text 27"/>
          <p:cNvSpPr/>
          <p:nvPr/>
        </p:nvSpPr>
        <p:spPr>
          <a:xfrm>
            <a:off x="6309360" y="5166360"/>
            <a:ext cx="2423160" cy="429768"/>
          </a:xfrm>
          <a:prstGeom prst="rect">
            <a:avLst/>
          </a:prstGeom>
          <a:noFill/>
          <a:ln/>
        </p:spPr>
        <p:txBody>
          <a:bodyPr wrap="square" lIns="0" tIns="0" rIns="0" bIns="0" rtlCol="0" anchor="ctr">
            <a:normAutofit/>
          </a:bodyPr>
          <a:lstStyle/>
          <a:p>
            <a:pPr indent="0" marL="0">
              <a:buNone/>
            </a:pPr>
            <a:r>
              <a:rPr lang="en-US" sz="1630" dirty="0">
                <a:solidFill>
                  <a:srgbClr val="687782"/>
                </a:solidFill>
                <a:latin typeface="Arial" pitchFamily="34" charset="0"/>
                <a:ea typeface="Arial" pitchFamily="34" charset="-122"/>
                <a:cs typeface="Arial" pitchFamily="34" charset="-120"/>
              </a:rPr>
              <a:t>The network can defend and win additional orders.</a:t>
            </a:r>
            <a:endParaRPr lang="en-US" sz="1630" dirty="0"/>
          </a:p>
        </p:txBody>
      </p:sp>
      <p:sp>
        <p:nvSpPr>
          <p:cNvPr id="30" name="Shape 28"/>
          <p:cNvSpPr/>
          <p:nvPr/>
        </p:nvSpPr>
        <p:spPr>
          <a:xfrm>
            <a:off x="8851392" y="4718304"/>
            <a:ext cx="210312" cy="0"/>
          </a:xfrm>
          <a:prstGeom prst="line">
            <a:avLst/>
          </a:prstGeom>
          <a:noFill/>
          <a:ln w="19050">
            <a:solidFill>
              <a:srgbClr val="ED0016"/>
            </a:solidFill>
            <a:prstDash val="solid"/>
            <a:headEnd type="none"/>
            <a:tailEnd type="triangle"/>
          </a:ln>
        </p:spPr>
      </p:sp>
      <p:sp>
        <p:nvSpPr>
          <p:cNvPr id="31" name="Shape 29"/>
          <p:cNvSpPr/>
          <p:nvPr/>
        </p:nvSpPr>
        <p:spPr>
          <a:xfrm>
            <a:off x="9198864" y="4288536"/>
            <a:ext cx="2423160" cy="0"/>
          </a:xfrm>
          <a:prstGeom prst="line">
            <a:avLst/>
          </a:prstGeom>
          <a:noFill/>
          <a:ln w="21590">
            <a:solidFill>
              <a:srgbClr val="687782"/>
            </a:solidFill>
            <a:prstDash val="solid"/>
            <a:headEnd type="none"/>
            <a:tailEnd type="none"/>
          </a:ln>
        </p:spPr>
      </p:sp>
      <p:sp>
        <p:nvSpPr>
          <p:cNvPr id="32" name="Text 30"/>
          <p:cNvSpPr/>
          <p:nvPr/>
        </p:nvSpPr>
        <p:spPr>
          <a:xfrm>
            <a:off x="9198864" y="4489704"/>
            <a:ext cx="2423160" cy="539496"/>
          </a:xfrm>
          <a:prstGeom prst="rect">
            <a:avLst/>
          </a:prstGeom>
          <a:noFill/>
          <a:ln/>
        </p:spPr>
        <p:txBody>
          <a:bodyPr wrap="square" lIns="0" tIns="0" rIns="0" bIns="0" rtlCol="0" anchor="ctr">
            <a:normAutofit/>
          </a:bodyPr>
          <a:lstStyle/>
          <a:p>
            <a:pPr indent="0" marL="0">
              <a:buNone/>
            </a:pPr>
            <a:r>
              <a:rPr lang="en-US" sz="2100" b="1" dirty="0">
                <a:solidFill>
                  <a:srgbClr val="17232C"/>
                </a:solidFill>
                <a:latin typeface="Arial" pitchFamily="34" charset="0"/>
                <a:ea typeface="Arial" pitchFamily="34" charset="-122"/>
                <a:cs typeface="Arial" pitchFamily="34" charset="-120"/>
              </a:rPr>
              <a:t>ISZE replenishment</a:t>
            </a:r>
            <a:endParaRPr lang="en-US" sz="2100" dirty="0"/>
          </a:p>
        </p:txBody>
      </p:sp>
      <p:sp>
        <p:nvSpPr>
          <p:cNvPr id="33" name="Text 31"/>
          <p:cNvSpPr/>
          <p:nvPr/>
        </p:nvSpPr>
        <p:spPr>
          <a:xfrm>
            <a:off x="9198864" y="5166360"/>
            <a:ext cx="2423160" cy="429768"/>
          </a:xfrm>
          <a:prstGeom prst="rect">
            <a:avLst/>
          </a:prstGeom>
          <a:noFill/>
          <a:ln/>
        </p:spPr>
        <p:txBody>
          <a:bodyPr wrap="square" lIns="0" tIns="0" rIns="0" bIns="0" rtlCol="0" anchor="ctr">
            <a:normAutofit/>
          </a:bodyPr>
          <a:lstStyle/>
          <a:p>
            <a:pPr indent="0" marL="0">
              <a:buNone/>
            </a:pPr>
            <a:r>
              <a:rPr lang="en-US" sz="1630" dirty="0">
                <a:solidFill>
                  <a:srgbClr val="687782"/>
                </a:solidFill>
                <a:latin typeface="Arial" pitchFamily="34" charset="0"/>
                <a:ea typeface="Arial" pitchFamily="34" charset="-122"/>
                <a:cs typeface="Arial" pitchFamily="34" charset="-120"/>
              </a:rPr>
              <a:t>Repeated distributor orders can raise parts turnover.</a:t>
            </a:r>
            <a:endParaRPr lang="en-US" sz="1630" dirty="0"/>
          </a:p>
        </p:txBody>
      </p:sp>
      <p:sp>
        <p:nvSpPr>
          <p:cNvPr id="34" name="Shape 32"/>
          <p:cNvSpPr/>
          <p:nvPr/>
        </p:nvSpPr>
        <p:spPr>
          <a:xfrm>
            <a:off x="530352" y="5852160"/>
            <a:ext cx="41148" cy="393192"/>
          </a:xfrm>
          <a:prstGeom prst="rect">
            <a:avLst/>
          </a:prstGeom>
          <a:solidFill>
            <a:srgbClr val="ED0016"/>
          </a:solidFill>
          <a:ln w="12700">
            <a:solidFill>
              <a:srgbClr val="ED0016"/>
            </a:solidFill>
            <a:prstDash val="solid"/>
          </a:ln>
        </p:spPr>
      </p:sp>
      <p:sp>
        <p:nvSpPr>
          <p:cNvPr id="35" name="Text 33"/>
          <p:cNvSpPr/>
          <p:nvPr/>
        </p:nvSpPr>
        <p:spPr>
          <a:xfrm>
            <a:off x="713232" y="5843016"/>
            <a:ext cx="10908792" cy="438912"/>
          </a:xfrm>
          <a:prstGeom prst="rect">
            <a:avLst/>
          </a:prstGeom>
          <a:noFill/>
          <a:ln/>
        </p:spPr>
        <p:txBody>
          <a:bodyPr wrap="square" lIns="0" tIns="0" rIns="0" bIns="0" rtlCol="0" anchor="ctr">
            <a:normAutofit/>
          </a:bodyPr>
          <a:lstStyle/>
          <a:p>
            <a:pPr indent="0" marL="0">
              <a:buNone/>
            </a:pPr>
            <a:r>
              <a:rPr lang="en-US" sz="2000" b="1" dirty="0">
                <a:solidFill>
                  <a:srgbClr val="17232C"/>
                </a:solidFill>
                <a:latin typeface="Arial" pitchFamily="34" charset="0"/>
                <a:ea typeface="Arial" pitchFamily="34" charset="-122"/>
                <a:cs typeface="Arial" pitchFamily="34" charset="-120"/>
              </a:rPr>
              <a:t>Support the distributor only as far as the competitive situation requires.</a:t>
            </a:r>
            <a:endParaRPr lang="en-US" sz="2000" dirty="0"/>
          </a:p>
        </p:txBody>
      </p:sp>
    </p:spTree>
  </p:cSld>
  <p:clrMapOvr>
    <a:masterClrMapping/>
  </p:clrMapOvr>
  <p:transition spd="fast" advClick="1">
    <p:fade/>
  </p:transition>
</p:sld>
</file>

<file path=ppt/slides/slide11.xml><?xml version="1.0" encoding="utf-8"?>
<p:sld xmlns:a="http://schemas.openxmlformats.org/drawingml/2006/main" xmlns:r="http://schemas.openxmlformats.org/officeDocument/2006/relationships" xmlns:p="http://schemas.openxmlformats.org/presentationml/2006/main">
  <p:cSld name="Version 1.2 - 17">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WHY THE TURNOVER OPPORTUNITY IS BROADER</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17232C"/>
                </a:solidFill>
                <a:latin typeface="Arial" pitchFamily="34" charset="0"/>
                <a:ea typeface="Arial" pitchFamily="34" charset="-122"/>
                <a:cs typeface="Arial" pitchFamily="34" charset="-120"/>
              </a:rPr>
              <a:t>Grow order volume and the revenue earned per part.</a:t>
            </a:r>
            <a:endParaRPr lang="en-US" sz="3100" dirty="0"/>
          </a:p>
        </p:txBody>
      </p:sp>
      <p:sp>
        <p:nvSpPr>
          <p:cNvPr id="5" name="Shape 3"/>
          <p:cNvSpPr/>
          <p:nvPr/>
        </p:nvSpPr>
        <p:spPr>
          <a:xfrm>
            <a:off x="530352" y="6373368"/>
            <a:ext cx="11128248" cy="0"/>
          </a:xfrm>
          <a:prstGeom prst="line">
            <a:avLst/>
          </a:prstGeom>
          <a:noFill/>
          <a:ln w="10160">
            <a:solidFill>
              <a:srgbClr val="DCE2E6"/>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687782"/>
                </a:solidFill>
                <a:latin typeface="Arial" pitchFamily="34" charset="0"/>
                <a:ea typeface="Arial" pitchFamily="34" charset="-122"/>
                <a:cs typeface="Arial" pitchFamily="34" charset="-120"/>
              </a:rPr>
              <a:t>Source: management policy and Pricing Master. Commercial reasoning, not a quantified demand forecast.</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687782"/>
                </a:solidFill>
                <a:latin typeface="Arial" pitchFamily="34" charset="0"/>
                <a:ea typeface="Arial" pitchFamily="34" charset="-122"/>
                <a:cs typeface="Arial" pitchFamily="34" charset="-120"/>
              </a:rPr>
              <a:t>v1.2  |  17</a:t>
            </a:r>
            <a:endParaRPr lang="en-US" sz="940" dirty="0"/>
          </a:p>
        </p:txBody>
      </p:sp>
      <p:sp>
        <p:nvSpPr>
          <p:cNvPr id="8" name="Shape 6"/>
          <p:cNvSpPr/>
          <p:nvPr/>
        </p:nvSpPr>
        <p:spPr>
          <a:xfrm>
            <a:off x="530352" y="2011680"/>
            <a:ext cx="5376672" cy="0"/>
          </a:xfrm>
          <a:prstGeom prst="line">
            <a:avLst/>
          </a:prstGeom>
          <a:noFill/>
          <a:ln w="25400">
            <a:solidFill>
              <a:srgbClr val="ED0016"/>
            </a:solidFill>
            <a:prstDash val="solid"/>
            <a:headEnd type="none"/>
            <a:tailEnd type="none"/>
          </a:ln>
        </p:spPr>
      </p:sp>
      <p:sp>
        <p:nvSpPr>
          <p:cNvPr id="9" name="Text 7"/>
          <p:cNvSpPr/>
          <p:nvPr/>
        </p:nvSpPr>
        <p:spPr>
          <a:xfrm>
            <a:off x="530352" y="2286000"/>
            <a:ext cx="5376672"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COMPETITIVE PARTS</a:t>
            </a:r>
            <a:endParaRPr lang="en-US" sz="1050" dirty="0"/>
          </a:p>
        </p:txBody>
      </p:sp>
      <p:sp>
        <p:nvSpPr>
          <p:cNvPr id="10" name="Text 8"/>
          <p:cNvSpPr/>
          <p:nvPr/>
        </p:nvSpPr>
        <p:spPr>
          <a:xfrm>
            <a:off x="530352" y="2770632"/>
            <a:ext cx="5376672" cy="749808"/>
          </a:xfrm>
          <a:prstGeom prst="rect">
            <a:avLst/>
          </a:prstGeom>
          <a:noFill/>
          <a:ln/>
        </p:spPr>
        <p:txBody>
          <a:bodyPr wrap="square" lIns="0" tIns="0" rIns="0" bIns="0" rtlCol="0" anchor="ctr">
            <a:normAutofit/>
          </a:bodyPr>
          <a:lstStyle/>
          <a:p>
            <a:pPr indent="0" marL="0">
              <a:buNone/>
            </a:pPr>
            <a:r>
              <a:rPr lang="en-US" sz="2700" b="1" dirty="0">
                <a:solidFill>
                  <a:srgbClr val="17232C"/>
                </a:solidFill>
                <a:latin typeface="Arial" pitchFamily="34" charset="0"/>
                <a:ea typeface="Arial" pitchFamily="34" charset="-122"/>
                <a:cs typeface="Arial" pitchFamily="34" charset="-120"/>
              </a:rPr>
              <a:t>More maintenance-related business</a:t>
            </a:r>
            <a:endParaRPr lang="en-US" sz="2700" dirty="0"/>
          </a:p>
        </p:txBody>
      </p:sp>
      <p:sp>
        <p:nvSpPr>
          <p:cNvPr id="11" name="Text 9"/>
          <p:cNvSpPr/>
          <p:nvPr/>
        </p:nvSpPr>
        <p:spPr>
          <a:xfrm>
            <a:off x="530352" y="3749040"/>
            <a:ext cx="5294376" cy="941832"/>
          </a:xfrm>
          <a:prstGeom prst="rect">
            <a:avLst/>
          </a:prstGeom>
          <a:noFill/>
          <a:ln/>
        </p:spPr>
        <p:txBody>
          <a:bodyPr wrap="square" lIns="0" tIns="0" rIns="0" bIns="0" rtlCol="0" anchor="t">
            <a:normAutofit/>
          </a:bodyPr>
          <a:lstStyle/>
          <a:p>
            <a:pPr indent="0" marL="0">
              <a:buNone/>
            </a:pPr>
            <a:r>
              <a:rPr lang="en-US" sz="2100" dirty="0">
                <a:solidFill>
                  <a:srgbClr val="17232C"/>
                </a:solidFill>
                <a:latin typeface="Arial" pitchFamily="34" charset="0"/>
                <a:ea typeface="Arial" pitchFamily="34" charset="-122"/>
                <a:cs typeface="Arial" pitchFamily="34" charset="-120"/>
              </a:rPr>
              <a:t>Targeted support can help distributors and dealers win or retain accounts and supply more of the parts used.</a:t>
            </a:r>
            <a:endParaRPr lang="en-US" sz="2100" dirty="0"/>
          </a:p>
        </p:txBody>
      </p:sp>
      <p:sp>
        <p:nvSpPr>
          <p:cNvPr id="12" name="Text 10"/>
          <p:cNvSpPr/>
          <p:nvPr/>
        </p:nvSpPr>
        <p:spPr>
          <a:xfrm>
            <a:off x="530352" y="5001768"/>
            <a:ext cx="5294376" cy="585216"/>
          </a:xfrm>
          <a:prstGeom prst="rect">
            <a:avLst/>
          </a:prstGeom>
          <a:noFill/>
          <a:ln/>
        </p:spPr>
        <p:txBody>
          <a:bodyPr wrap="square" lIns="0" tIns="0" rIns="0" bIns="0" rtlCol="0" anchor="ctr">
            <a:normAutofit/>
          </a:bodyPr>
          <a:lstStyle/>
          <a:p>
            <a:pPr indent="0" marL="0">
              <a:buNone/>
            </a:pPr>
            <a:r>
              <a:rPr lang="en-US" sz="1860" b="1" dirty="0">
                <a:solidFill>
                  <a:srgbClr val="17232C"/>
                </a:solidFill>
                <a:latin typeface="Arial" pitchFamily="34" charset="0"/>
                <a:ea typeface="Arial" pitchFamily="34" charset="-122"/>
                <a:cs typeface="Arial" pitchFamily="34" charset="-120"/>
              </a:rPr>
              <a:t>Success test: additional and repeated purchases from ISZE.</a:t>
            </a:r>
            <a:endParaRPr lang="en-US" sz="1860" dirty="0"/>
          </a:p>
        </p:txBody>
      </p:sp>
      <p:sp>
        <p:nvSpPr>
          <p:cNvPr id="13" name="Shape 11"/>
          <p:cNvSpPr/>
          <p:nvPr/>
        </p:nvSpPr>
        <p:spPr>
          <a:xfrm>
            <a:off x="6281928" y="2011680"/>
            <a:ext cx="5376672" cy="0"/>
          </a:xfrm>
          <a:prstGeom prst="line">
            <a:avLst/>
          </a:prstGeom>
          <a:noFill/>
          <a:ln w="25400">
            <a:solidFill>
              <a:srgbClr val="ED0016"/>
            </a:solidFill>
            <a:prstDash val="solid"/>
            <a:headEnd type="none"/>
            <a:tailEnd type="none"/>
          </a:ln>
        </p:spPr>
      </p:sp>
      <p:sp>
        <p:nvSpPr>
          <p:cNvPr id="14" name="Text 12"/>
          <p:cNvSpPr/>
          <p:nvPr/>
        </p:nvSpPr>
        <p:spPr>
          <a:xfrm>
            <a:off x="6281928" y="2286000"/>
            <a:ext cx="5376672"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DIFFERENTIATED PARTS</a:t>
            </a:r>
            <a:endParaRPr lang="en-US" sz="1050" dirty="0"/>
          </a:p>
        </p:txBody>
      </p:sp>
      <p:sp>
        <p:nvSpPr>
          <p:cNvPr id="15" name="Text 13"/>
          <p:cNvSpPr/>
          <p:nvPr/>
        </p:nvSpPr>
        <p:spPr>
          <a:xfrm>
            <a:off x="6281928" y="2770632"/>
            <a:ext cx="5376672" cy="749808"/>
          </a:xfrm>
          <a:prstGeom prst="rect">
            <a:avLst/>
          </a:prstGeom>
          <a:noFill/>
          <a:ln/>
        </p:spPr>
        <p:txBody>
          <a:bodyPr wrap="square" lIns="0" tIns="0" rIns="0" bIns="0" rtlCol="0" anchor="ctr">
            <a:normAutofit/>
          </a:bodyPr>
          <a:lstStyle/>
          <a:p>
            <a:pPr indent="0" marL="0">
              <a:buNone/>
            </a:pPr>
            <a:r>
              <a:rPr lang="en-US" sz="2700" b="1" dirty="0">
                <a:solidFill>
                  <a:srgbClr val="17232C"/>
                </a:solidFill>
                <a:latin typeface="Arial" pitchFamily="34" charset="0"/>
                <a:ea typeface="Arial" pitchFamily="34" charset="-122"/>
                <a:cs typeface="Arial" pitchFamily="34" charset="-120"/>
              </a:rPr>
              <a:t>A better price on retained business</a:t>
            </a:r>
            <a:endParaRPr lang="en-US" sz="2700" dirty="0"/>
          </a:p>
        </p:txBody>
      </p:sp>
      <p:sp>
        <p:nvSpPr>
          <p:cNvPr id="16" name="Text 14"/>
          <p:cNvSpPr/>
          <p:nvPr/>
        </p:nvSpPr>
        <p:spPr>
          <a:xfrm>
            <a:off x="6281928" y="3749040"/>
            <a:ext cx="5294376" cy="941832"/>
          </a:xfrm>
          <a:prstGeom prst="rect">
            <a:avLst/>
          </a:prstGeom>
          <a:noFill/>
          <a:ln/>
        </p:spPr>
        <p:txBody>
          <a:bodyPr wrap="square" lIns="0" tIns="0" rIns="0" bIns="0" rtlCol="0" anchor="t">
            <a:normAutofit/>
          </a:bodyPr>
          <a:lstStyle/>
          <a:p>
            <a:pPr indent="0" marL="0">
              <a:buNone/>
            </a:pPr>
            <a:r>
              <a:rPr lang="en-US" sz="2100" dirty="0">
                <a:solidFill>
                  <a:srgbClr val="17232C"/>
                </a:solidFill>
                <a:latin typeface="Arial" pitchFamily="34" charset="0"/>
                <a:ea typeface="Arial" pitchFamily="34" charset="-122"/>
                <a:cs typeface="Arial" pitchFamily="34" charset="-120"/>
              </a:rPr>
              <a:t>A verified genuine advantage may support a selective increase without imposing that increase on service parts.</a:t>
            </a:r>
            <a:endParaRPr lang="en-US" sz="2100" dirty="0"/>
          </a:p>
        </p:txBody>
      </p:sp>
      <p:sp>
        <p:nvSpPr>
          <p:cNvPr id="17" name="Text 15"/>
          <p:cNvSpPr/>
          <p:nvPr/>
        </p:nvSpPr>
        <p:spPr>
          <a:xfrm>
            <a:off x="6281928" y="5001768"/>
            <a:ext cx="5294376" cy="585216"/>
          </a:xfrm>
          <a:prstGeom prst="rect">
            <a:avLst/>
          </a:prstGeom>
          <a:noFill/>
          <a:ln/>
        </p:spPr>
        <p:txBody>
          <a:bodyPr wrap="square" lIns="0" tIns="0" rIns="0" bIns="0" rtlCol="0" anchor="ctr">
            <a:normAutofit/>
          </a:bodyPr>
          <a:lstStyle/>
          <a:p>
            <a:pPr indent="0" marL="0">
              <a:buNone/>
            </a:pPr>
            <a:r>
              <a:rPr lang="en-US" sz="1860" b="1" dirty="0">
                <a:solidFill>
                  <a:srgbClr val="17232C"/>
                </a:solidFill>
                <a:latin typeface="Arial" pitchFamily="34" charset="0"/>
                <a:ea typeface="Arial" pitchFamily="34" charset="-122"/>
                <a:cs typeface="Arial" pitchFamily="34" charset="-120"/>
              </a:rPr>
              <a:t>Success test: the extra price exceeds any loss of volume.</a:t>
            </a:r>
            <a:endParaRPr lang="en-US" sz="1860" dirty="0"/>
          </a:p>
        </p:txBody>
      </p:sp>
      <p:sp>
        <p:nvSpPr>
          <p:cNvPr id="18" name="Shape 16"/>
          <p:cNvSpPr/>
          <p:nvPr/>
        </p:nvSpPr>
        <p:spPr>
          <a:xfrm>
            <a:off x="530352" y="5797296"/>
            <a:ext cx="41148" cy="393192"/>
          </a:xfrm>
          <a:prstGeom prst="rect">
            <a:avLst/>
          </a:prstGeom>
          <a:solidFill>
            <a:srgbClr val="ED0016"/>
          </a:solidFill>
          <a:ln w="12700">
            <a:solidFill>
              <a:srgbClr val="ED0016"/>
            </a:solidFill>
            <a:prstDash val="solid"/>
          </a:ln>
        </p:spPr>
      </p:sp>
      <p:sp>
        <p:nvSpPr>
          <p:cNvPr id="19" name="Text 17"/>
          <p:cNvSpPr/>
          <p:nvPr/>
        </p:nvSpPr>
        <p:spPr>
          <a:xfrm>
            <a:off x="713232" y="5788152"/>
            <a:ext cx="10908792" cy="438912"/>
          </a:xfrm>
          <a:prstGeom prst="rect">
            <a:avLst/>
          </a:prstGeom>
          <a:noFill/>
          <a:ln/>
        </p:spPr>
        <p:txBody>
          <a:bodyPr wrap="square" lIns="0" tIns="0" rIns="0" bIns="0" rtlCol="0" anchor="ctr">
            <a:normAutofit/>
          </a:bodyPr>
          <a:lstStyle/>
          <a:p>
            <a:pPr indent="0" marL="0">
              <a:buNone/>
            </a:pPr>
            <a:r>
              <a:rPr lang="en-US" sz="1950" b="1" dirty="0">
                <a:solidFill>
                  <a:srgbClr val="17232C"/>
                </a:solidFill>
                <a:latin typeface="Arial" pitchFamily="34" charset="0"/>
                <a:ea typeface="Arial" pitchFamily="34" charset="-122"/>
                <a:cs typeface="Arial" pitchFamily="34" charset="-120"/>
              </a:rPr>
              <a:t>Part-level decisions let us pursue both opportunities without blanket concessions.</a:t>
            </a:r>
            <a:endParaRPr lang="en-US" sz="1950" dirty="0"/>
          </a:p>
        </p:txBody>
      </p:sp>
    </p:spTree>
  </p:cSld>
  <p:clrMapOvr>
    <a:masterClrMapping/>
  </p:clrMapOvr>
  <p:transition spd="fast" advClick="1">
    <p:fade/>
  </p:transition>
</p:sld>
</file>

<file path=ppt/slides/slide12.xml><?xml version="1.0" encoding="utf-8"?>
<p:sld xmlns:a="http://schemas.openxmlformats.org/drawingml/2006/main" xmlns:r="http://schemas.openxmlformats.org/officeDocument/2006/relationships" xmlns:p="http://schemas.openxmlformats.org/presentationml/2006/main">
  <p:cSld name="Version 1.2 - 18">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THE TURNOVER AND PROFIT TEST</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17232C"/>
                </a:solidFill>
                <a:latin typeface="Arial" pitchFamily="34" charset="0"/>
                <a:ea typeface="Arial" pitchFamily="34" charset="-122"/>
                <a:cs typeface="Arial" pitchFamily="34" charset="-120"/>
              </a:rPr>
              <a:t>More distributor volume can offset a targeted price reduction.</a:t>
            </a:r>
            <a:endParaRPr lang="en-US" sz="3100" dirty="0"/>
          </a:p>
        </p:txBody>
      </p:sp>
      <p:sp>
        <p:nvSpPr>
          <p:cNvPr id="5" name="Shape 3"/>
          <p:cNvSpPr/>
          <p:nvPr/>
        </p:nvSpPr>
        <p:spPr>
          <a:xfrm>
            <a:off x="530352" y="6373368"/>
            <a:ext cx="11128248" cy="0"/>
          </a:xfrm>
          <a:prstGeom prst="line">
            <a:avLst/>
          </a:prstGeom>
          <a:noFill/>
          <a:ln w="10160">
            <a:solidFill>
              <a:srgbClr val="DCE2E6"/>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687782"/>
                </a:solidFill>
                <a:latin typeface="Arial" pitchFamily="34" charset="0"/>
                <a:ea typeface="Arial" pitchFamily="34" charset="-122"/>
                <a:cs typeface="Arial" pitchFamily="34" charset="-120"/>
              </a:rPr>
              <a:t>Arithmetic illustration only. Same-period comparison; not actual ISZE sales, an approved proposal or a demand forecast.</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687782"/>
                </a:solidFill>
                <a:latin typeface="Arial" pitchFamily="34" charset="0"/>
                <a:ea typeface="Arial" pitchFamily="34" charset="-122"/>
                <a:cs typeface="Arial" pitchFamily="34" charset="-120"/>
              </a:rPr>
              <a:t>v1.2  |  18</a:t>
            </a:r>
            <a:endParaRPr lang="en-US" sz="940" dirty="0"/>
          </a:p>
        </p:txBody>
      </p:sp>
      <p:sp>
        <p:nvSpPr>
          <p:cNvPr id="8" name="Shape 6"/>
          <p:cNvSpPr/>
          <p:nvPr/>
        </p:nvSpPr>
        <p:spPr>
          <a:xfrm>
            <a:off x="530352" y="1920240"/>
            <a:ext cx="11128248" cy="448056"/>
          </a:xfrm>
          <a:prstGeom prst="rect">
            <a:avLst/>
          </a:prstGeom>
          <a:solidFill>
            <a:srgbClr val="FBEDEF"/>
          </a:solidFill>
          <a:ln w="12700">
            <a:solidFill>
              <a:srgbClr val="FBEDEF"/>
            </a:solidFill>
            <a:prstDash val="solid"/>
          </a:ln>
        </p:spPr>
      </p:sp>
      <p:sp>
        <p:nvSpPr>
          <p:cNvPr id="9" name="Text 7"/>
          <p:cNvSpPr/>
          <p:nvPr/>
        </p:nvSpPr>
        <p:spPr>
          <a:xfrm>
            <a:off x="667512" y="2020824"/>
            <a:ext cx="10853928" cy="228600"/>
          </a:xfrm>
          <a:prstGeom prst="rect">
            <a:avLst/>
          </a:prstGeom>
          <a:noFill/>
          <a:ln/>
        </p:spPr>
        <p:txBody>
          <a:bodyPr wrap="square" lIns="0" tIns="0" rIns="0" bIns="0" rtlCol="0" anchor="ctr">
            <a:normAutofit/>
          </a:bodyPr>
          <a:lstStyle/>
          <a:p>
            <a:pPr indent="0" marL="0">
              <a:buNone/>
            </a:pPr>
            <a:r>
              <a:rPr lang="en-US" sz="1560" b="1" dirty="0">
                <a:solidFill>
                  <a:srgbClr val="17232C"/>
                </a:solidFill>
                <a:latin typeface="Arial" pitchFamily="34" charset="0"/>
                <a:ea typeface="Arial" pitchFamily="34" charset="-122"/>
                <a:cs typeface="Arial" pitchFamily="34" charset="-120"/>
              </a:rPr>
              <a:t>ILLUSTRATION: 5% lower ISZE net price; 20% more baskets bought by the distributor.</a:t>
            </a:r>
            <a:endParaRPr lang="en-US" sz="1560" dirty="0"/>
          </a:p>
        </p:txBody>
      </p:sp>
      <p:sp>
        <p:nvSpPr>
          <p:cNvPr id="10" name="Text 8"/>
          <p:cNvSpPr/>
          <p:nvPr/>
        </p:nvSpPr>
        <p:spPr>
          <a:xfrm>
            <a:off x="530352" y="2587752"/>
            <a:ext cx="11128248" cy="310896"/>
          </a:xfrm>
          <a:prstGeom prst="rect">
            <a:avLst/>
          </a:prstGeom>
          <a:noFill/>
          <a:ln/>
        </p:spPr>
        <p:txBody>
          <a:bodyPr wrap="square" lIns="0" tIns="0" rIns="0" bIns="0" rtlCol="0" anchor="ctr">
            <a:normAutofit/>
          </a:bodyPr>
          <a:lstStyle/>
          <a:p>
            <a:pPr indent="0" marL="0">
              <a:buNone/>
            </a:pPr>
            <a:r>
              <a:rPr lang="en-US" sz="1750" dirty="0">
                <a:solidFill>
                  <a:srgbClr val="687782"/>
                </a:solidFill>
                <a:latin typeface="Arial" pitchFamily="34" charset="0"/>
                <a:ea typeface="Arial" pitchFamily="34" charset="-122"/>
                <a:cs typeface="Arial" pitchFamily="34" charset="-120"/>
              </a:rPr>
              <a:t>Same service-parts basket, same period; ISZE cost remains €50 per basket.</a:t>
            </a:r>
            <a:endParaRPr lang="en-US" sz="1750" dirty="0"/>
          </a:p>
        </p:txBody>
      </p:sp>
      <p:sp>
        <p:nvSpPr>
          <p:cNvPr id="11" name="Text 9"/>
          <p:cNvSpPr/>
          <p:nvPr/>
        </p:nvSpPr>
        <p:spPr>
          <a:xfrm>
            <a:off x="5760720" y="2999232"/>
            <a:ext cx="1892808" cy="228600"/>
          </a:xfrm>
          <a:prstGeom prst="rect">
            <a:avLst/>
          </a:prstGeom>
          <a:noFill/>
          <a:ln/>
        </p:spPr>
        <p:txBody>
          <a:bodyPr wrap="square" lIns="0" tIns="0" rIns="0" bIns="0" rtlCol="0" anchor="ctr">
            <a:normAutofit/>
          </a:bodyPr>
          <a:lstStyle/>
          <a:p>
            <a:pPr algn="r" indent="0" marL="0">
              <a:buNone/>
            </a:pPr>
            <a:r>
              <a:rPr lang="en-US" sz="1050" b="1" spc="150" kern="0" dirty="0">
                <a:solidFill>
                  <a:srgbClr val="687782"/>
                </a:solidFill>
                <a:latin typeface="Arial" pitchFamily="34" charset="0"/>
                <a:ea typeface="Arial" pitchFamily="34" charset="-122"/>
                <a:cs typeface="Arial" pitchFamily="34" charset="-120"/>
              </a:rPr>
              <a:t>BEFORE</a:t>
            </a:r>
            <a:endParaRPr lang="en-US" sz="1050" dirty="0"/>
          </a:p>
        </p:txBody>
      </p:sp>
      <p:sp>
        <p:nvSpPr>
          <p:cNvPr id="12" name="Text 10"/>
          <p:cNvSpPr/>
          <p:nvPr/>
        </p:nvSpPr>
        <p:spPr>
          <a:xfrm>
            <a:off x="8257032" y="2999232"/>
            <a:ext cx="3246120" cy="228600"/>
          </a:xfrm>
          <a:prstGeom prst="rect">
            <a:avLst/>
          </a:prstGeom>
          <a:noFill/>
          <a:ln/>
        </p:spPr>
        <p:txBody>
          <a:bodyPr wrap="square" lIns="0" tIns="0" rIns="0" bIns="0" rtlCol="0" anchor="ctr">
            <a:normAutofit/>
          </a:bodyPr>
          <a:lstStyle/>
          <a:p>
            <a:pPr algn="r" indent="0" marL="0">
              <a:buNone/>
            </a:pPr>
            <a:r>
              <a:rPr lang="en-US" sz="1050" b="1" spc="150" kern="0" dirty="0">
                <a:solidFill>
                  <a:srgbClr val="687782"/>
                </a:solidFill>
                <a:latin typeface="Arial" pitchFamily="34" charset="0"/>
                <a:ea typeface="Arial" pitchFamily="34" charset="-122"/>
                <a:cs typeface="Arial" pitchFamily="34" charset="-120"/>
              </a:rPr>
              <a:t>ILLUSTRATED RESULT</a:t>
            </a:r>
            <a:endParaRPr lang="en-US" sz="1050" dirty="0"/>
          </a:p>
        </p:txBody>
      </p:sp>
      <p:sp>
        <p:nvSpPr>
          <p:cNvPr id="13" name="Shape 11"/>
          <p:cNvSpPr/>
          <p:nvPr/>
        </p:nvSpPr>
        <p:spPr>
          <a:xfrm>
            <a:off x="530352" y="3831336"/>
            <a:ext cx="11128248" cy="0"/>
          </a:xfrm>
          <a:prstGeom prst="line">
            <a:avLst/>
          </a:prstGeom>
          <a:noFill/>
          <a:ln w="8890">
            <a:solidFill>
              <a:srgbClr val="DCE2E6"/>
            </a:solidFill>
            <a:prstDash val="solid"/>
            <a:headEnd type="none"/>
            <a:tailEnd type="none"/>
          </a:ln>
        </p:spPr>
      </p:sp>
      <p:sp>
        <p:nvSpPr>
          <p:cNvPr id="14" name="Text 12"/>
          <p:cNvSpPr/>
          <p:nvPr/>
        </p:nvSpPr>
        <p:spPr>
          <a:xfrm>
            <a:off x="667512" y="3447288"/>
            <a:ext cx="5221224" cy="301752"/>
          </a:xfrm>
          <a:prstGeom prst="rect">
            <a:avLst/>
          </a:prstGeom>
          <a:noFill/>
          <a:ln/>
        </p:spPr>
        <p:txBody>
          <a:bodyPr wrap="square" lIns="0" tIns="0" rIns="0" bIns="0" rtlCol="0" anchor="ctr">
            <a:normAutofit/>
          </a:bodyPr>
          <a:lstStyle/>
          <a:p>
            <a:pPr indent="0" marL="0">
              <a:buNone/>
            </a:pPr>
            <a:r>
              <a:rPr lang="en-US" sz="1900" dirty="0">
                <a:solidFill>
                  <a:srgbClr val="17232C"/>
                </a:solidFill>
                <a:latin typeface="Arial" pitchFamily="34" charset="0"/>
                <a:ea typeface="Arial" pitchFamily="34" charset="-122"/>
                <a:cs typeface="Arial" pitchFamily="34" charset="-120"/>
              </a:rPr>
              <a:t>ISZE net price to distributor</a:t>
            </a:r>
            <a:endParaRPr lang="en-US" sz="1900" dirty="0"/>
          </a:p>
        </p:txBody>
      </p:sp>
      <p:sp>
        <p:nvSpPr>
          <p:cNvPr id="15" name="Text 13"/>
          <p:cNvSpPr/>
          <p:nvPr/>
        </p:nvSpPr>
        <p:spPr>
          <a:xfrm>
            <a:off x="6035040" y="3447288"/>
            <a:ext cx="1618488" cy="301752"/>
          </a:xfrm>
          <a:prstGeom prst="rect">
            <a:avLst/>
          </a:prstGeom>
          <a:noFill/>
          <a:ln/>
        </p:spPr>
        <p:txBody>
          <a:bodyPr wrap="square" lIns="0" tIns="0" rIns="0" bIns="0" rtlCol="0" anchor="ctr">
            <a:normAutofit/>
          </a:bodyPr>
          <a:lstStyle/>
          <a:p>
            <a:pPr algn="r" indent="0" marL="0">
              <a:buNone/>
            </a:pPr>
            <a:r>
              <a:rPr lang="en-US" sz="2100" b="1" dirty="0">
                <a:solidFill>
                  <a:srgbClr val="17232C"/>
                </a:solidFill>
                <a:latin typeface="Arial" pitchFamily="34" charset="0"/>
                <a:ea typeface="Arial" pitchFamily="34" charset="-122"/>
                <a:cs typeface="Arial" pitchFamily="34" charset="-120"/>
              </a:rPr>
              <a:t>€100</a:t>
            </a:r>
            <a:endParaRPr lang="en-US" sz="2100" dirty="0"/>
          </a:p>
        </p:txBody>
      </p:sp>
      <p:sp>
        <p:nvSpPr>
          <p:cNvPr id="16" name="Text 14"/>
          <p:cNvSpPr/>
          <p:nvPr/>
        </p:nvSpPr>
        <p:spPr>
          <a:xfrm>
            <a:off x="8110728" y="3447288"/>
            <a:ext cx="3401568" cy="301752"/>
          </a:xfrm>
          <a:prstGeom prst="rect">
            <a:avLst/>
          </a:prstGeom>
          <a:noFill/>
          <a:ln/>
        </p:spPr>
        <p:txBody>
          <a:bodyPr wrap="square" lIns="0" tIns="0" rIns="0" bIns="0" rtlCol="0" anchor="ctr">
            <a:normAutofit/>
          </a:bodyPr>
          <a:lstStyle/>
          <a:p>
            <a:pPr algn="r" indent="0" marL="0">
              <a:buNone/>
            </a:pPr>
            <a:r>
              <a:rPr lang="en-US" sz="2100" b="1" dirty="0">
                <a:solidFill>
                  <a:srgbClr val="17232C"/>
                </a:solidFill>
                <a:latin typeface="Arial" pitchFamily="34" charset="0"/>
                <a:ea typeface="Arial" pitchFamily="34" charset="-122"/>
                <a:cs typeface="Arial" pitchFamily="34" charset="-120"/>
              </a:rPr>
              <a:t>€95  (−5%)</a:t>
            </a:r>
            <a:endParaRPr lang="en-US" sz="2100" dirty="0"/>
          </a:p>
        </p:txBody>
      </p:sp>
      <p:sp>
        <p:nvSpPr>
          <p:cNvPr id="17" name="Shape 15"/>
          <p:cNvSpPr/>
          <p:nvPr/>
        </p:nvSpPr>
        <p:spPr>
          <a:xfrm>
            <a:off x="530352" y="4288536"/>
            <a:ext cx="11128248" cy="0"/>
          </a:xfrm>
          <a:prstGeom prst="line">
            <a:avLst/>
          </a:prstGeom>
          <a:noFill/>
          <a:ln w="8890">
            <a:solidFill>
              <a:srgbClr val="DCE2E6"/>
            </a:solidFill>
            <a:prstDash val="solid"/>
            <a:headEnd type="none"/>
            <a:tailEnd type="none"/>
          </a:ln>
        </p:spPr>
      </p:sp>
      <p:sp>
        <p:nvSpPr>
          <p:cNvPr id="18" name="Text 16"/>
          <p:cNvSpPr/>
          <p:nvPr/>
        </p:nvSpPr>
        <p:spPr>
          <a:xfrm>
            <a:off x="667512" y="3904488"/>
            <a:ext cx="5221224" cy="301752"/>
          </a:xfrm>
          <a:prstGeom prst="rect">
            <a:avLst/>
          </a:prstGeom>
          <a:noFill/>
          <a:ln/>
        </p:spPr>
        <p:txBody>
          <a:bodyPr wrap="square" lIns="0" tIns="0" rIns="0" bIns="0" rtlCol="0" anchor="ctr">
            <a:normAutofit/>
          </a:bodyPr>
          <a:lstStyle/>
          <a:p>
            <a:pPr indent="0" marL="0">
              <a:buNone/>
            </a:pPr>
            <a:r>
              <a:rPr lang="en-US" sz="1900" dirty="0">
                <a:solidFill>
                  <a:srgbClr val="17232C"/>
                </a:solidFill>
                <a:latin typeface="Arial" pitchFamily="34" charset="0"/>
                <a:ea typeface="Arial" pitchFamily="34" charset="-122"/>
                <a:cs typeface="Arial" pitchFamily="34" charset="-120"/>
              </a:rPr>
              <a:t>Baskets bought by distributor</a:t>
            </a:r>
            <a:endParaRPr lang="en-US" sz="1900" dirty="0"/>
          </a:p>
        </p:txBody>
      </p:sp>
      <p:sp>
        <p:nvSpPr>
          <p:cNvPr id="19" name="Text 17"/>
          <p:cNvSpPr/>
          <p:nvPr/>
        </p:nvSpPr>
        <p:spPr>
          <a:xfrm>
            <a:off x="6035040" y="3904488"/>
            <a:ext cx="1618488" cy="301752"/>
          </a:xfrm>
          <a:prstGeom prst="rect">
            <a:avLst/>
          </a:prstGeom>
          <a:noFill/>
          <a:ln/>
        </p:spPr>
        <p:txBody>
          <a:bodyPr wrap="square" lIns="0" tIns="0" rIns="0" bIns="0" rtlCol="0" anchor="ctr">
            <a:normAutofit/>
          </a:bodyPr>
          <a:lstStyle/>
          <a:p>
            <a:pPr algn="r" indent="0" marL="0">
              <a:buNone/>
            </a:pPr>
            <a:r>
              <a:rPr lang="en-US" sz="2100" b="1" dirty="0">
                <a:solidFill>
                  <a:srgbClr val="17232C"/>
                </a:solidFill>
                <a:latin typeface="Arial" pitchFamily="34" charset="0"/>
                <a:ea typeface="Arial" pitchFamily="34" charset="-122"/>
                <a:cs typeface="Arial" pitchFamily="34" charset="-120"/>
              </a:rPr>
              <a:t>100</a:t>
            </a:r>
            <a:endParaRPr lang="en-US" sz="2100" dirty="0"/>
          </a:p>
        </p:txBody>
      </p:sp>
      <p:sp>
        <p:nvSpPr>
          <p:cNvPr id="20" name="Text 18"/>
          <p:cNvSpPr/>
          <p:nvPr/>
        </p:nvSpPr>
        <p:spPr>
          <a:xfrm>
            <a:off x="8110728" y="3904488"/>
            <a:ext cx="3401568" cy="301752"/>
          </a:xfrm>
          <a:prstGeom prst="rect">
            <a:avLst/>
          </a:prstGeom>
          <a:noFill/>
          <a:ln/>
        </p:spPr>
        <p:txBody>
          <a:bodyPr wrap="square" lIns="0" tIns="0" rIns="0" bIns="0" rtlCol="0" anchor="ctr">
            <a:normAutofit/>
          </a:bodyPr>
          <a:lstStyle/>
          <a:p>
            <a:pPr algn="r" indent="0" marL="0">
              <a:buNone/>
            </a:pPr>
            <a:r>
              <a:rPr lang="en-US" sz="2100" b="1" dirty="0">
                <a:solidFill>
                  <a:srgbClr val="17232C"/>
                </a:solidFill>
                <a:latin typeface="Arial" pitchFamily="34" charset="0"/>
                <a:ea typeface="Arial" pitchFamily="34" charset="-122"/>
                <a:cs typeface="Arial" pitchFamily="34" charset="-120"/>
              </a:rPr>
              <a:t>120  (+20% assumed)</a:t>
            </a:r>
            <a:endParaRPr lang="en-US" sz="2100" dirty="0"/>
          </a:p>
        </p:txBody>
      </p:sp>
      <p:sp>
        <p:nvSpPr>
          <p:cNvPr id="21" name="Shape 19"/>
          <p:cNvSpPr/>
          <p:nvPr/>
        </p:nvSpPr>
        <p:spPr>
          <a:xfrm>
            <a:off x="530352" y="4315968"/>
            <a:ext cx="11128248" cy="438912"/>
          </a:xfrm>
          <a:prstGeom prst="rect">
            <a:avLst/>
          </a:prstGeom>
          <a:solidFill>
            <a:srgbClr val="17232C"/>
          </a:solidFill>
          <a:ln w="12700">
            <a:solidFill>
              <a:srgbClr val="17232C"/>
            </a:solidFill>
            <a:prstDash val="solid"/>
          </a:ln>
        </p:spPr>
      </p:sp>
      <p:sp>
        <p:nvSpPr>
          <p:cNvPr id="22" name="Text 20"/>
          <p:cNvSpPr/>
          <p:nvPr/>
        </p:nvSpPr>
        <p:spPr>
          <a:xfrm>
            <a:off x="667512" y="4361688"/>
            <a:ext cx="5221224"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ISZE parts turnover</a:t>
            </a:r>
            <a:endParaRPr lang="en-US" sz="1900" dirty="0"/>
          </a:p>
        </p:txBody>
      </p:sp>
      <p:sp>
        <p:nvSpPr>
          <p:cNvPr id="23" name="Text 21"/>
          <p:cNvSpPr/>
          <p:nvPr/>
        </p:nvSpPr>
        <p:spPr>
          <a:xfrm>
            <a:off x="6035040" y="4361688"/>
            <a:ext cx="1618488" cy="301752"/>
          </a:xfrm>
          <a:prstGeom prst="rect">
            <a:avLst/>
          </a:prstGeom>
          <a:noFill/>
          <a:ln/>
        </p:spPr>
        <p:txBody>
          <a:bodyPr wrap="square" lIns="0" tIns="0" rIns="0" bIns="0" rtlCol="0" anchor="ctr">
            <a:normAutofit/>
          </a:bodyPr>
          <a:lstStyle/>
          <a:p>
            <a:pPr algn="r" indent="0" marL="0">
              <a:buNone/>
            </a:pPr>
            <a:r>
              <a:rPr lang="en-US" sz="2100" b="1" dirty="0">
                <a:solidFill>
                  <a:srgbClr val="FFFFFF"/>
                </a:solidFill>
                <a:latin typeface="Arial" pitchFamily="34" charset="0"/>
                <a:ea typeface="Arial" pitchFamily="34" charset="-122"/>
                <a:cs typeface="Arial" pitchFamily="34" charset="-120"/>
              </a:rPr>
              <a:t>€10,000</a:t>
            </a:r>
            <a:endParaRPr lang="en-US" sz="2100" dirty="0"/>
          </a:p>
        </p:txBody>
      </p:sp>
      <p:sp>
        <p:nvSpPr>
          <p:cNvPr id="24" name="Text 22"/>
          <p:cNvSpPr/>
          <p:nvPr/>
        </p:nvSpPr>
        <p:spPr>
          <a:xfrm>
            <a:off x="8110728" y="4361688"/>
            <a:ext cx="3401568" cy="301752"/>
          </a:xfrm>
          <a:prstGeom prst="rect">
            <a:avLst/>
          </a:prstGeom>
          <a:noFill/>
          <a:ln/>
        </p:spPr>
        <p:txBody>
          <a:bodyPr wrap="square" lIns="0" tIns="0" rIns="0" bIns="0" rtlCol="0" anchor="ctr">
            <a:normAutofit/>
          </a:bodyPr>
          <a:lstStyle/>
          <a:p>
            <a:pPr algn="r" indent="0" marL="0">
              <a:buNone/>
            </a:pPr>
            <a:r>
              <a:rPr lang="en-US" sz="2100" b="1" dirty="0">
                <a:solidFill>
                  <a:srgbClr val="FFFFFF"/>
                </a:solidFill>
                <a:latin typeface="Arial" pitchFamily="34" charset="0"/>
                <a:ea typeface="Arial" pitchFamily="34" charset="-122"/>
                <a:cs typeface="Arial" pitchFamily="34" charset="-120"/>
              </a:rPr>
              <a:t>€11,400  (+14%)</a:t>
            </a:r>
            <a:endParaRPr lang="en-US" sz="2100" dirty="0"/>
          </a:p>
        </p:txBody>
      </p:sp>
      <p:sp>
        <p:nvSpPr>
          <p:cNvPr id="25" name="Shape 23"/>
          <p:cNvSpPr/>
          <p:nvPr/>
        </p:nvSpPr>
        <p:spPr>
          <a:xfrm>
            <a:off x="530352" y="4773168"/>
            <a:ext cx="11128248" cy="438912"/>
          </a:xfrm>
          <a:prstGeom prst="rect">
            <a:avLst/>
          </a:prstGeom>
          <a:solidFill>
            <a:srgbClr val="F0F3F5"/>
          </a:solidFill>
          <a:ln w="12700">
            <a:solidFill>
              <a:srgbClr val="F0F3F5"/>
            </a:solidFill>
            <a:prstDash val="solid"/>
          </a:ln>
        </p:spPr>
      </p:sp>
      <p:sp>
        <p:nvSpPr>
          <p:cNvPr id="26" name="Text 24"/>
          <p:cNvSpPr/>
          <p:nvPr/>
        </p:nvSpPr>
        <p:spPr>
          <a:xfrm>
            <a:off x="667512" y="4818888"/>
            <a:ext cx="5221224" cy="301752"/>
          </a:xfrm>
          <a:prstGeom prst="rect">
            <a:avLst/>
          </a:prstGeom>
          <a:noFill/>
          <a:ln/>
        </p:spPr>
        <p:txBody>
          <a:bodyPr wrap="square" lIns="0" tIns="0" rIns="0" bIns="0" rtlCol="0" anchor="ctr">
            <a:normAutofit/>
          </a:bodyPr>
          <a:lstStyle/>
          <a:p>
            <a:pPr indent="0" marL="0">
              <a:buNone/>
            </a:pPr>
            <a:r>
              <a:rPr lang="en-US" sz="1900" b="1" dirty="0">
                <a:solidFill>
                  <a:srgbClr val="17232C"/>
                </a:solidFill>
                <a:latin typeface="Arial" pitchFamily="34" charset="0"/>
                <a:ea typeface="Arial" pitchFamily="34" charset="-122"/>
                <a:cs typeface="Arial" pitchFamily="34" charset="-120"/>
              </a:rPr>
              <a:t>ISZE gross profit</a:t>
            </a:r>
            <a:endParaRPr lang="en-US" sz="1900" dirty="0"/>
          </a:p>
        </p:txBody>
      </p:sp>
      <p:sp>
        <p:nvSpPr>
          <p:cNvPr id="27" name="Text 25"/>
          <p:cNvSpPr/>
          <p:nvPr/>
        </p:nvSpPr>
        <p:spPr>
          <a:xfrm>
            <a:off x="6035040" y="4818888"/>
            <a:ext cx="1618488" cy="301752"/>
          </a:xfrm>
          <a:prstGeom prst="rect">
            <a:avLst/>
          </a:prstGeom>
          <a:noFill/>
          <a:ln/>
        </p:spPr>
        <p:txBody>
          <a:bodyPr wrap="square" lIns="0" tIns="0" rIns="0" bIns="0" rtlCol="0" anchor="ctr">
            <a:normAutofit/>
          </a:bodyPr>
          <a:lstStyle/>
          <a:p>
            <a:pPr algn="r" indent="0" marL="0">
              <a:buNone/>
            </a:pPr>
            <a:r>
              <a:rPr lang="en-US" sz="2100" b="1" dirty="0">
                <a:solidFill>
                  <a:srgbClr val="17232C"/>
                </a:solidFill>
                <a:latin typeface="Arial" pitchFamily="34" charset="0"/>
                <a:ea typeface="Arial" pitchFamily="34" charset="-122"/>
                <a:cs typeface="Arial" pitchFamily="34" charset="-120"/>
              </a:rPr>
              <a:t>€5,000</a:t>
            </a:r>
            <a:endParaRPr lang="en-US" sz="2100" dirty="0"/>
          </a:p>
        </p:txBody>
      </p:sp>
      <p:sp>
        <p:nvSpPr>
          <p:cNvPr id="28" name="Text 26"/>
          <p:cNvSpPr/>
          <p:nvPr/>
        </p:nvSpPr>
        <p:spPr>
          <a:xfrm>
            <a:off x="8110728" y="4818888"/>
            <a:ext cx="3401568" cy="301752"/>
          </a:xfrm>
          <a:prstGeom prst="rect">
            <a:avLst/>
          </a:prstGeom>
          <a:noFill/>
          <a:ln/>
        </p:spPr>
        <p:txBody>
          <a:bodyPr wrap="square" lIns="0" tIns="0" rIns="0" bIns="0" rtlCol="0" anchor="ctr">
            <a:normAutofit/>
          </a:bodyPr>
          <a:lstStyle/>
          <a:p>
            <a:pPr algn="r" indent="0" marL="0">
              <a:buNone/>
            </a:pPr>
            <a:r>
              <a:rPr lang="en-US" sz="2100" b="1" dirty="0">
                <a:solidFill>
                  <a:srgbClr val="17232C"/>
                </a:solidFill>
                <a:latin typeface="Arial" pitchFamily="34" charset="0"/>
                <a:ea typeface="Arial" pitchFamily="34" charset="-122"/>
                <a:cs typeface="Arial" pitchFamily="34" charset="-120"/>
              </a:rPr>
              <a:t>€5,400  (+8%)</a:t>
            </a:r>
            <a:endParaRPr lang="en-US" sz="2100" dirty="0"/>
          </a:p>
        </p:txBody>
      </p:sp>
      <p:sp>
        <p:nvSpPr>
          <p:cNvPr id="29" name="Text 27"/>
          <p:cNvSpPr/>
          <p:nvPr/>
        </p:nvSpPr>
        <p:spPr>
          <a:xfrm>
            <a:off x="530352" y="5522976"/>
            <a:ext cx="11128248" cy="612648"/>
          </a:xfrm>
          <a:prstGeom prst="rect">
            <a:avLst/>
          </a:prstGeom>
          <a:noFill/>
          <a:ln/>
        </p:spPr>
        <p:txBody>
          <a:bodyPr wrap="square" lIns="0" tIns="0" rIns="0" bIns="0" rtlCol="0" anchor="ctr">
            <a:normAutofit/>
          </a:bodyPr>
          <a:lstStyle/>
          <a:p>
            <a:pPr indent="0" marL="0">
              <a:buNone/>
            </a:pPr>
            <a:r>
              <a:rPr lang="en-US" sz="1800" dirty="0">
                <a:solidFill>
                  <a:srgbClr val="687782"/>
                </a:solidFill>
                <a:latin typeface="Arial" pitchFamily="34" charset="0"/>
                <a:ea typeface="Arial" pitchFamily="34" charset="-122"/>
                <a:cs typeface="Arial" pitchFamily="34" charset="-120"/>
              </a:rPr>
              <a:t>At the assumed starting 50% margin, break-even volume growth is</a:t>
            </a:r>
            <a:endParaRPr lang="en-US" sz="1800" dirty="0"/>
          </a:p>
          <a:p>
            <a:pPr indent="0" marL="0">
              <a:buNone/>
            </a:pPr>
            <a:r>
              <a:rPr lang="en-US" sz="1800" dirty="0">
                <a:solidFill>
                  <a:srgbClr val="687782"/>
                </a:solidFill>
                <a:latin typeface="Arial" pitchFamily="34" charset="0"/>
                <a:ea typeface="Arial" pitchFamily="34" charset="-122"/>
                <a:cs typeface="Arial" pitchFamily="34" charset="-120"/>
              </a:rPr>
              <a:t>5.3% for turnover and 11.1% for gross profit.</a:t>
            </a:r>
            <a:endParaRPr lang="en-US" sz="1800" dirty="0"/>
          </a:p>
        </p:txBody>
      </p:sp>
    </p:spTree>
  </p:cSld>
  <p:clrMapOvr>
    <a:masterClrMapping/>
  </p:clrMapOvr>
  <p:transition spd="fast" advClick="1">
    <p:fade/>
  </p:transition>
</p:sld>
</file>

<file path=ppt/slides/slide13.xml><?xml version="1.0" encoding="utf-8"?>
<p:sld xmlns:a="http://schemas.openxmlformats.org/drawingml/2006/main" xmlns:r="http://schemas.openxmlformats.org/officeDocument/2006/relationships" xmlns:p="http://schemas.openxmlformats.org/presentationml/2006/main">
  <p:cSld name="Version 1.2 - 19">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FIRST APPLICATION AND MEASUREMENT</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17232C"/>
                </a:solidFill>
                <a:latin typeface="Arial" pitchFamily="34" charset="0"/>
                <a:ea typeface="Arial" pitchFamily="34" charset="-122"/>
                <a:cs typeface="Arial" pitchFamily="34" charset="-120"/>
              </a:rPr>
              <a:t>Start selectively, then measure repeat distributor business.</a:t>
            </a:r>
            <a:endParaRPr lang="en-US" sz="3100" dirty="0"/>
          </a:p>
        </p:txBody>
      </p:sp>
      <p:sp>
        <p:nvSpPr>
          <p:cNvPr id="5" name="Shape 3"/>
          <p:cNvSpPr/>
          <p:nvPr/>
        </p:nvSpPr>
        <p:spPr>
          <a:xfrm>
            <a:off x="530352" y="6373368"/>
            <a:ext cx="11128248" cy="0"/>
          </a:xfrm>
          <a:prstGeom prst="line">
            <a:avLst/>
          </a:prstGeom>
          <a:noFill/>
          <a:ln w="10160">
            <a:solidFill>
              <a:srgbClr val="DCE2E6"/>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687782"/>
                </a:solidFill>
                <a:latin typeface="Arial" pitchFamily="34" charset="0"/>
                <a:ea typeface="Arial" pitchFamily="34" charset="-122"/>
                <a:cs typeface="Arial" pitchFamily="34" charset="-120"/>
              </a:rPr>
              <a:t>Source: Pricing Master. Evidence snapshot: September 2026. Coverage of the priced billing analysis, not the full catalogue.</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687782"/>
                </a:solidFill>
                <a:latin typeface="Arial" pitchFamily="34" charset="0"/>
                <a:ea typeface="Arial" pitchFamily="34" charset="-122"/>
                <a:cs typeface="Arial" pitchFamily="34" charset="-120"/>
              </a:rPr>
              <a:t>v1.2  |  19</a:t>
            </a:r>
            <a:endParaRPr lang="en-US" sz="940" dirty="0"/>
          </a:p>
        </p:txBody>
      </p:sp>
      <p:sp>
        <p:nvSpPr>
          <p:cNvPr id="8" name="Text 6"/>
          <p:cNvSpPr/>
          <p:nvPr/>
        </p:nvSpPr>
        <p:spPr>
          <a:xfrm>
            <a:off x="530352" y="1901952"/>
            <a:ext cx="5504688"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EXTERNAL PRICE EVIDENCE ALREADY LINKED</a:t>
            </a:r>
            <a:endParaRPr lang="en-US" sz="1050" dirty="0"/>
          </a:p>
        </p:txBody>
      </p:sp>
      <p:sp>
        <p:nvSpPr>
          <p:cNvPr id="9" name="Text 7"/>
          <p:cNvSpPr/>
          <p:nvPr/>
        </p:nvSpPr>
        <p:spPr>
          <a:xfrm>
            <a:off x="530352" y="2304288"/>
            <a:ext cx="2441448" cy="758952"/>
          </a:xfrm>
          <a:prstGeom prst="rect">
            <a:avLst/>
          </a:prstGeom>
          <a:noFill/>
          <a:ln/>
        </p:spPr>
        <p:txBody>
          <a:bodyPr wrap="square" lIns="0" tIns="0" rIns="0" bIns="0" rtlCol="0" anchor="ctr">
            <a:normAutofit/>
          </a:bodyPr>
          <a:lstStyle/>
          <a:p>
            <a:pPr indent="0" marL="0">
              <a:buNone/>
            </a:pPr>
            <a:r>
              <a:rPr lang="en-US" sz="4400" b="1" dirty="0">
                <a:solidFill>
                  <a:srgbClr val="ED0016"/>
                </a:solidFill>
                <a:latin typeface="Arial" pitchFamily="34" charset="0"/>
                <a:ea typeface="Arial" pitchFamily="34" charset="-122"/>
                <a:cs typeface="Arial" pitchFamily="34" charset="-120"/>
              </a:rPr>
              <a:t>16.5%</a:t>
            </a:r>
            <a:endParaRPr lang="en-US" sz="4400" dirty="0"/>
          </a:p>
        </p:txBody>
      </p:sp>
      <p:sp>
        <p:nvSpPr>
          <p:cNvPr id="10" name="Text 8"/>
          <p:cNvSpPr/>
          <p:nvPr/>
        </p:nvSpPr>
        <p:spPr>
          <a:xfrm>
            <a:off x="3090672" y="2322576"/>
            <a:ext cx="2642616" cy="694944"/>
          </a:xfrm>
          <a:prstGeom prst="rect">
            <a:avLst/>
          </a:prstGeom>
          <a:noFill/>
          <a:ln/>
        </p:spPr>
        <p:txBody>
          <a:bodyPr wrap="square" lIns="0" tIns="0" rIns="0" bIns="0" rtlCol="0" anchor="ctr">
            <a:normAutofit/>
          </a:bodyPr>
          <a:lstStyle/>
          <a:p>
            <a:pPr indent="0" marL="0">
              <a:buNone/>
            </a:pPr>
            <a:r>
              <a:rPr lang="en-US" sz="2000" b="1" dirty="0">
                <a:solidFill>
                  <a:srgbClr val="17232C"/>
                </a:solidFill>
                <a:latin typeface="Arial" pitchFamily="34" charset="0"/>
                <a:ea typeface="Arial" pitchFamily="34" charset="-122"/>
                <a:cs typeface="Arial" pitchFamily="34" charset="-120"/>
              </a:rPr>
              <a:t>of the priced billed value</a:t>
            </a:r>
            <a:endParaRPr lang="en-US" sz="2000" dirty="0"/>
          </a:p>
          <a:p>
            <a:pPr indent="0" marL="0">
              <a:buNone/>
            </a:pPr>
            <a:r>
              <a:rPr lang="en-US" sz="2000" b="1" dirty="0">
                <a:solidFill>
                  <a:srgbClr val="17232C"/>
                </a:solidFill>
                <a:latin typeface="Arial" pitchFamily="34" charset="0"/>
                <a:ea typeface="Arial" pitchFamily="34" charset="-122"/>
                <a:cs typeface="Arial" pitchFamily="34" charset="-120"/>
              </a:rPr>
              <a:t>in this analysis</a:t>
            </a:r>
            <a:endParaRPr lang="en-US" sz="2000" dirty="0"/>
          </a:p>
        </p:txBody>
      </p:sp>
      <p:sp>
        <p:nvSpPr>
          <p:cNvPr id="11" name="Text 9"/>
          <p:cNvSpPr/>
          <p:nvPr/>
        </p:nvSpPr>
        <p:spPr>
          <a:xfrm>
            <a:off x="530352" y="3218688"/>
            <a:ext cx="5349240" cy="374904"/>
          </a:xfrm>
          <a:prstGeom prst="rect">
            <a:avLst/>
          </a:prstGeom>
          <a:noFill/>
          <a:ln/>
        </p:spPr>
        <p:txBody>
          <a:bodyPr wrap="square" lIns="0" tIns="0" rIns="0" bIns="0" rtlCol="0" anchor="ctr">
            <a:normAutofit/>
          </a:bodyPr>
          <a:lstStyle/>
          <a:p>
            <a:pPr indent="0" marL="0">
              <a:buNone/>
            </a:pPr>
            <a:r>
              <a:rPr lang="en-US" sz="1900" dirty="0">
                <a:solidFill>
                  <a:srgbClr val="687782"/>
                </a:solidFill>
                <a:latin typeface="Arial" pitchFamily="34" charset="0"/>
                <a:ea typeface="Arial" pitchFamily="34" charset="-122"/>
                <a:cs typeface="Arial" pitchFamily="34" charset="-120"/>
              </a:rPr>
              <a:t>€5.37m of €32.60m</a:t>
            </a:r>
            <a:endParaRPr lang="en-US" sz="1900" dirty="0"/>
          </a:p>
        </p:txBody>
      </p:sp>
      <p:sp>
        <p:nvSpPr>
          <p:cNvPr id="12" name="Text 10"/>
          <p:cNvSpPr/>
          <p:nvPr/>
        </p:nvSpPr>
        <p:spPr>
          <a:xfrm>
            <a:off x="530352" y="3813048"/>
            <a:ext cx="2441448" cy="758952"/>
          </a:xfrm>
          <a:prstGeom prst="rect">
            <a:avLst/>
          </a:prstGeom>
          <a:noFill/>
          <a:ln/>
        </p:spPr>
        <p:txBody>
          <a:bodyPr wrap="square" lIns="0" tIns="0" rIns="0" bIns="0" rtlCol="0" anchor="ctr">
            <a:normAutofit/>
          </a:bodyPr>
          <a:lstStyle/>
          <a:p>
            <a:pPr indent="0" marL="0">
              <a:buNone/>
            </a:pPr>
            <a:r>
              <a:rPr lang="en-US" sz="4400" b="1" dirty="0">
                <a:solidFill>
                  <a:srgbClr val="17232C"/>
                </a:solidFill>
                <a:latin typeface="Arial" pitchFamily="34" charset="0"/>
                <a:ea typeface="Arial" pitchFamily="34" charset="-122"/>
                <a:cs typeface="Arial" pitchFamily="34" charset="-120"/>
              </a:rPr>
              <a:t>0.50%</a:t>
            </a:r>
            <a:endParaRPr lang="en-US" sz="4400" dirty="0"/>
          </a:p>
        </p:txBody>
      </p:sp>
      <p:sp>
        <p:nvSpPr>
          <p:cNvPr id="13" name="Text 11"/>
          <p:cNvSpPr/>
          <p:nvPr/>
        </p:nvSpPr>
        <p:spPr>
          <a:xfrm>
            <a:off x="3090672" y="3840480"/>
            <a:ext cx="2688336" cy="704088"/>
          </a:xfrm>
          <a:prstGeom prst="rect">
            <a:avLst/>
          </a:prstGeom>
          <a:noFill/>
          <a:ln/>
        </p:spPr>
        <p:txBody>
          <a:bodyPr wrap="square" lIns="0" tIns="0" rIns="0" bIns="0" rtlCol="0" anchor="ctr">
            <a:normAutofit/>
          </a:bodyPr>
          <a:lstStyle/>
          <a:p>
            <a:pPr indent="0" marL="0">
              <a:buNone/>
            </a:pPr>
            <a:r>
              <a:rPr lang="en-US" sz="2000" b="1" dirty="0">
                <a:solidFill>
                  <a:srgbClr val="17232C"/>
                </a:solidFill>
                <a:latin typeface="Arial" pitchFamily="34" charset="0"/>
                <a:ea typeface="Arial" pitchFamily="34" charset="-122"/>
                <a:cs typeface="Arial" pitchFamily="34" charset="-120"/>
              </a:rPr>
              <a:t>of the priced part numbers</a:t>
            </a:r>
            <a:endParaRPr lang="en-US" sz="2000" dirty="0"/>
          </a:p>
          <a:p>
            <a:pPr indent="0" marL="0">
              <a:buNone/>
            </a:pPr>
            <a:r>
              <a:rPr lang="en-US" sz="2000" b="1" dirty="0">
                <a:solidFill>
                  <a:srgbClr val="17232C"/>
                </a:solidFill>
                <a:latin typeface="Arial" pitchFamily="34" charset="0"/>
                <a:ea typeface="Arial" pitchFamily="34" charset="-122"/>
                <a:cs typeface="Arial" pitchFamily="34" charset="-120"/>
              </a:rPr>
              <a:t>in this analysis</a:t>
            </a:r>
            <a:endParaRPr lang="en-US" sz="2000" dirty="0"/>
          </a:p>
        </p:txBody>
      </p:sp>
      <p:sp>
        <p:nvSpPr>
          <p:cNvPr id="14" name="Text 12"/>
          <p:cNvSpPr/>
          <p:nvPr/>
        </p:nvSpPr>
        <p:spPr>
          <a:xfrm>
            <a:off x="530352" y="4754880"/>
            <a:ext cx="5349240" cy="365760"/>
          </a:xfrm>
          <a:prstGeom prst="rect">
            <a:avLst/>
          </a:prstGeom>
          <a:noFill/>
          <a:ln/>
        </p:spPr>
        <p:txBody>
          <a:bodyPr wrap="square" lIns="0" tIns="0" rIns="0" bIns="0" rtlCol="0" anchor="ctr">
            <a:normAutofit/>
          </a:bodyPr>
          <a:lstStyle/>
          <a:p>
            <a:pPr indent="0" marL="0">
              <a:buNone/>
            </a:pPr>
            <a:r>
              <a:rPr lang="en-US" sz="1900" dirty="0">
                <a:solidFill>
                  <a:srgbClr val="687782"/>
                </a:solidFill>
                <a:latin typeface="Arial" pitchFamily="34" charset="0"/>
                <a:ea typeface="Arial" pitchFamily="34" charset="-122"/>
                <a:cs typeface="Arial" pitchFamily="34" charset="-120"/>
              </a:rPr>
              <a:t>76 of 15,273 part numbers</a:t>
            </a:r>
            <a:endParaRPr lang="en-US" sz="1900" dirty="0"/>
          </a:p>
        </p:txBody>
      </p:sp>
      <p:sp>
        <p:nvSpPr>
          <p:cNvPr id="15" name="Shape 13"/>
          <p:cNvSpPr/>
          <p:nvPr/>
        </p:nvSpPr>
        <p:spPr>
          <a:xfrm>
            <a:off x="6080760" y="1920240"/>
            <a:ext cx="0" cy="3703320"/>
          </a:xfrm>
          <a:prstGeom prst="line">
            <a:avLst/>
          </a:prstGeom>
          <a:noFill/>
          <a:ln w="12700">
            <a:solidFill>
              <a:srgbClr val="DCE2E6"/>
            </a:solidFill>
            <a:prstDash val="solid"/>
            <a:headEnd type="none"/>
            <a:tailEnd type="none"/>
          </a:ln>
        </p:spPr>
      </p:sp>
      <p:sp>
        <p:nvSpPr>
          <p:cNvPr id="16" name="Text 14"/>
          <p:cNvSpPr/>
          <p:nvPr/>
        </p:nvSpPr>
        <p:spPr>
          <a:xfrm>
            <a:off x="6446520" y="2112264"/>
            <a:ext cx="5202936" cy="338328"/>
          </a:xfrm>
          <a:prstGeom prst="rect">
            <a:avLst/>
          </a:prstGeom>
          <a:noFill/>
          <a:ln/>
        </p:spPr>
        <p:txBody>
          <a:bodyPr wrap="square" lIns="0" tIns="0" rIns="0" bIns="0" rtlCol="0" anchor="ctr">
            <a:normAutofit/>
          </a:bodyPr>
          <a:lstStyle/>
          <a:p>
            <a:pPr indent="0" marL="0">
              <a:buNone/>
            </a:pPr>
            <a:r>
              <a:rPr lang="en-US" sz="2100" b="1" dirty="0">
                <a:solidFill>
                  <a:srgbClr val="17232C"/>
                </a:solidFill>
                <a:latin typeface="Arial" pitchFamily="34" charset="0"/>
                <a:ea typeface="Arial" pitchFamily="34" charset="-122"/>
                <a:cs typeface="Arial" pitchFamily="34" charset="-120"/>
              </a:rPr>
              <a:t>Choose a defined first case.</a:t>
            </a:r>
            <a:endParaRPr lang="en-US" sz="2100" dirty="0"/>
          </a:p>
        </p:txBody>
      </p:sp>
      <p:sp>
        <p:nvSpPr>
          <p:cNvPr id="17" name="Text 15"/>
          <p:cNvSpPr/>
          <p:nvPr/>
        </p:nvSpPr>
        <p:spPr>
          <a:xfrm>
            <a:off x="6446520" y="2615184"/>
            <a:ext cx="5166360" cy="539496"/>
          </a:xfrm>
          <a:prstGeom prst="rect">
            <a:avLst/>
          </a:prstGeom>
          <a:noFill/>
          <a:ln/>
        </p:spPr>
        <p:txBody>
          <a:bodyPr wrap="square" lIns="0" tIns="0" rIns="0" bIns="0" rtlCol="0" anchor="ctr">
            <a:normAutofit/>
          </a:bodyPr>
          <a:lstStyle/>
          <a:p>
            <a:pPr indent="0" marL="0">
              <a:buNone/>
            </a:pPr>
            <a:r>
              <a:rPr lang="en-US" sz="1720" dirty="0">
                <a:solidFill>
                  <a:srgbClr val="687782"/>
                </a:solidFill>
                <a:latin typeface="Arial" pitchFamily="34" charset="0"/>
                <a:ea typeface="Arial" pitchFamily="34" charset="-122"/>
                <a:cs typeface="Arial" pitchFamily="34" charset="-120"/>
              </a:rPr>
              <a:t>Define ITUK maintenance and UTI repair cases; do not assume a whole family needs a cut.</a:t>
            </a:r>
            <a:endParaRPr lang="en-US" sz="1720" dirty="0"/>
          </a:p>
        </p:txBody>
      </p:sp>
      <p:sp>
        <p:nvSpPr>
          <p:cNvPr id="18" name="Text 16"/>
          <p:cNvSpPr/>
          <p:nvPr/>
        </p:nvSpPr>
        <p:spPr>
          <a:xfrm>
            <a:off x="6446520" y="3282696"/>
            <a:ext cx="5202936" cy="338328"/>
          </a:xfrm>
          <a:prstGeom prst="rect">
            <a:avLst/>
          </a:prstGeom>
          <a:noFill/>
          <a:ln/>
        </p:spPr>
        <p:txBody>
          <a:bodyPr wrap="square" lIns="0" tIns="0" rIns="0" bIns="0" rtlCol="0" anchor="ctr">
            <a:normAutofit/>
          </a:bodyPr>
          <a:lstStyle/>
          <a:p>
            <a:pPr indent="0" marL="0">
              <a:buNone/>
            </a:pPr>
            <a:r>
              <a:rPr lang="en-US" sz="2100" b="1" dirty="0">
                <a:solidFill>
                  <a:srgbClr val="17232C"/>
                </a:solidFill>
                <a:latin typeface="Arial" pitchFamily="34" charset="0"/>
                <a:ea typeface="Arial" pitchFamily="34" charset="-122"/>
                <a:cs typeface="Arial" pitchFamily="34" charset="-120"/>
              </a:rPr>
              <a:t>Agree the commercial action.</a:t>
            </a:r>
            <a:endParaRPr lang="en-US" sz="2100" dirty="0"/>
          </a:p>
        </p:txBody>
      </p:sp>
      <p:sp>
        <p:nvSpPr>
          <p:cNvPr id="19" name="Text 17"/>
          <p:cNvSpPr/>
          <p:nvPr/>
        </p:nvSpPr>
        <p:spPr>
          <a:xfrm>
            <a:off x="6446520" y="3785616"/>
            <a:ext cx="5166360" cy="539496"/>
          </a:xfrm>
          <a:prstGeom prst="rect">
            <a:avLst/>
          </a:prstGeom>
          <a:noFill/>
          <a:ln/>
        </p:spPr>
        <p:txBody>
          <a:bodyPr wrap="square" lIns="0" tIns="0" rIns="0" bIns="0" rtlCol="0" anchor="ctr">
            <a:normAutofit/>
          </a:bodyPr>
          <a:lstStyle/>
          <a:p>
            <a:pPr indent="0" marL="0">
              <a:buNone/>
            </a:pPr>
            <a:r>
              <a:rPr lang="en-US" sz="1720" dirty="0">
                <a:solidFill>
                  <a:srgbClr val="687782"/>
                </a:solidFill>
                <a:latin typeface="Arial" pitchFamily="34" charset="0"/>
                <a:ea typeface="Arial" pitchFamily="34" charset="-122"/>
                <a:cs typeface="Arial" pitchFamily="34" charset="-120"/>
              </a:rPr>
              <a:t>Connect the support to a maintenance offer or a repair quotation.</a:t>
            </a:r>
            <a:endParaRPr lang="en-US" sz="1720" dirty="0"/>
          </a:p>
        </p:txBody>
      </p:sp>
      <p:sp>
        <p:nvSpPr>
          <p:cNvPr id="20" name="Text 18"/>
          <p:cNvSpPr/>
          <p:nvPr/>
        </p:nvSpPr>
        <p:spPr>
          <a:xfrm>
            <a:off x="6446520" y="4453128"/>
            <a:ext cx="5202936" cy="338328"/>
          </a:xfrm>
          <a:prstGeom prst="rect">
            <a:avLst/>
          </a:prstGeom>
          <a:noFill/>
          <a:ln/>
        </p:spPr>
        <p:txBody>
          <a:bodyPr wrap="square" lIns="0" tIns="0" rIns="0" bIns="0" rtlCol="0" anchor="ctr">
            <a:normAutofit/>
          </a:bodyPr>
          <a:lstStyle/>
          <a:p>
            <a:pPr indent="0" marL="0">
              <a:buNone/>
            </a:pPr>
            <a:r>
              <a:rPr lang="en-US" sz="2100" b="1" dirty="0">
                <a:solidFill>
                  <a:srgbClr val="17232C"/>
                </a:solidFill>
                <a:latin typeface="Arial" pitchFamily="34" charset="0"/>
                <a:ea typeface="Arial" pitchFamily="34" charset="-122"/>
                <a:cs typeface="Arial" pitchFamily="34" charset="-120"/>
              </a:rPr>
              <a:t>Measure the repeated result.</a:t>
            </a:r>
            <a:endParaRPr lang="en-US" sz="2100" dirty="0"/>
          </a:p>
        </p:txBody>
      </p:sp>
      <p:sp>
        <p:nvSpPr>
          <p:cNvPr id="21" name="Text 19"/>
          <p:cNvSpPr/>
          <p:nvPr/>
        </p:nvSpPr>
        <p:spPr>
          <a:xfrm>
            <a:off x="6446520" y="4956048"/>
            <a:ext cx="5166360" cy="539496"/>
          </a:xfrm>
          <a:prstGeom prst="rect">
            <a:avLst/>
          </a:prstGeom>
          <a:noFill/>
          <a:ln/>
        </p:spPr>
        <p:txBody>
          <a:bodyPr wrap="square" lIns="0" tIns="0" rIns="0" bIns="0" rtlCol="0" anchor="ctr">
            <a:normAutofit/>
          </a:bodyPr>
          <a:lstStyle/>
          <a:p>
            <a:pPr indent="0" marL="0">
              <a:buNone/>
            </a:pPr>
            <a:r>
              <a:rPr lang="en-US" sz="1720" dirty="0">
                <a:solidFill>
                  <a:srgbClr val="687782"/>
                </a:solidFill>
                <a:latin typeface="Arial" pitchFamily="34" charset="0"/>
                <a:ea typeface="Arial" pitchFamily="34" charset="-122"/>
                <a:cs typeface="Arial" pitchFamily="34" charset="-120"/>
              </a:rPr>
              <a:t>Track net parts billed and gross profit, alongside sales to dealer, stock and availability.</a:t>
            </a:r>
            <a:endParaRPr lang="en-US" sz="1720" dirty="0"/>
          </a:p>
        </p:txBody>
      </p:sp>
      <p:sp>
        <p:nvSpPr>
          <p:cNvPr id="22" name="Shape 20"/>
          <p:cNvSpPr/>
          <p:nvPr/>
        </p:nvSpPr>
        <p:spPr>
          <a:xfrm>
            <a:off x="530352" y="5797296"/>
            <a:ext cx="41148" cy="393192"/>
          </a:xfrm>
          <a:prstGeom prst="rect">
            <a:avLst/>
          </a:prstGeom>
          <a:solidFill>
            <a:srgbClr val="ED0016"/>
          </a:solidFill>
          <a:ln w="12700">
            <a:solidFill>
              <a:srgbClr val="ED0016"/>
            </a:solidFill>
            <a:prstDash val="solid"/>
          </a:ln>
        </p:spPr>
      </p:sp>
      <p:sp>
        <p:nvSpPr>
          <p:cNvPr id="23" name="Text 21"/>
          <p:cNvSpPr/>
          <p:nvPr/>
        </p:nvSpPr>
        <p:spPr>
          <a:xfrm>
            <a:off x="713232" y="5788152"/>
            <a:ext cx="10908792" cy="438912"/>
          </a:xfrm>
          <a:prstGeom prst="rect">
            <a:avLst/>
          </a:prstGeom>
          <a:noFill/>
          <a:ln/>
        </p:spPr>
        <p:txBody>
          <a:bodyPr wrap="square" lIns="0" tIns="0" rIns="0" bIns="0" rtlCol="0" anchor="ctr">
            <a:normAutofit/>
          </a:bodyPr>
          <a:lstStyle/>
          <a:p>
            <a:pPr indent="0" marL="0">
              <a:buNone/>
            </a:pPr>
            <a:r>
              <a:rPr lang="en-US" sz="1860" b="1" dirty="0">
                <a:solidFill>
                  <a:srgbClr val="17232C"/>
                </a:solidFill>
                <a:latin typeface="Arial" pitchFamily="34" charset="0"/>
                <a:ea typeface="Arial" pitchFamily="34" charset="-122"/>
                <a:cs typeface="Arial" pitchFamily="34" charset="-120"/>
              </a:rPr>
              <a:t>A first stock order is not proof of sustained demand; repeat business is the test.</a:t>
            </a:r>
            <a:endParaRPr lang="en-US" sz="1860" dirty="0"/>
          </a:p>
        </p:txBody>
      </p:sp>
    </p:spTree>
  </p:cSld>
  <p:clrMapOvr>
    <a:masterClrMapping/>
  </p:clrMapOvr>
  <p:transition spd="fast" advClick="1">
    <p:fade/>
  </p:transition>
</p:sld>
</file>

<file path=ppt/slides/slide14.xml><?xml version="1.0" encoding="utf-8"?>
<p:sld xmlns:a="http://schemas.openxmlformats.org/drawingml/2006/main" xmlns:r="http://schemas.openxmlformats.org/officeDocument/2006/relationships" xmlns:p="http://schemas.openxmlformats.org/presentationml/2006/main">
  <p:cSld name="Version 1.2 - 20">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C8D1D7"/>
                </a:solidFill>
                <a:latin typeface="Arial" pitchFamily="34" charset="0"/>
                <a:ea typeface="Arial" pitchFamily="34" charset="-122"/>
                <a:cs typeface="Arial" pitchFamily="34" charset="-120"/>
              </a:rPr>
              <a:t>APPROVAL SOUGHT</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FFFFFF"/>
                </a:solidFill>
                <a:latin typeface="Arial" pitchFamily="34" charset="0"/>
                <a:ea typeface="Arial" pitchFamily="34" charset="-122"/>
                <a:cs typeface="Arial" pitchFamily="34" charset="-120"/>
              </a:rPr>
              <a:t>Approve the new method; sign off final price moves separately.</a:t>
            </a:r>
            <a:endParaRPr lang="en-US" sz="3100" dirty="0"/>
          </a:p>
        </p:txBody>
      </p:sp>
      <p:sp>
        <p:nvSpPr>
          <p:cNvPr id="5" name="Shape 3"/>
          <p:cNvSpPr/>
          <p:nvPr/>
        </p:nvSpPr>
        <p:spPr>
          <a:xfrm>
            <a:off x="530352" y="6373368"/>
            <a:ext cx="11128248" cy="0"/>
          </a:xfrm>
          <a:prstGeom prst="line">
            <a:avLst/>
          </a:prstGeom>
          <a:noFill/>
          <a:ln w="10160">
            <a:solidFill>
              <a:srgbClr val="33424C"/>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AEBBC4"/>
                </a:solidFill>
                <a:latin typeface="Arial" pitchFamily="34" charset="0"/>
                <a:ea typeface="Arial" pitchFamily="34" charset="-122"/>
                <a:cs typeface="Arial" pitchFamily="34" charset="-120"/>
              </a:rPr>
              <a:t>Source: management proposal. Method approval is separate from the final price objective, scope and release.</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C8D1D7"/>
                </a:solidFill>
                <a:latin typeface="Arial" pitchFamily="34" charset="0"/>
                <a:ea typeface="Arial" pitchFamily="34" charset="-122"/>
                <a:cs typeface="Arial" pitchFamily="34" charset="-120"/>
              </a:rPr>
              <a:t>v1.2  |  20</a:t>
            </a:r>
            <a:endParaRPr lang="en-US" sz="940" dirty="0"/>
          </a:p>
        </p:txBody>
      </p:sp>
      <p:sp>
        <p:nvSpPr>
          <p:cNvPr id="8" name="Shape 6"/>
          <p:cNvSpPr/>
          <p:nvPr/>
        </p:nvSpPr>
        <p:spPr>
          <a:xfrm>
            <a:off x="530352" y="2039112"/>
            <a:ext cx="11128248" cy="0"/>
          </a:xfrm>
          <a:prstGeom prst="line">
            <a:avLst/>
          </a:prstGeom>
          <a:noFill/>
          <a:ln w="10160">
            <a:solidFill>
              <a:srgbClr val="34444E"/>
            </a:solidFill>
            <a:prstDash val="solid"/>
            <a:headEnd type="none"/>
            <a:tailEnd type="none"/>
          </a:ln>
        </p:spPr>
      </p:sp>
      <p:sp>
        <p:nvSpPr>
          <p:cNvPr id="9" name="Text 7"/>
          <p:cNvSpPr/>
          <p:nvPr/>
        </p:nvSpPr>
        <p:spPr>
          <a:xfrm>
            <a:off x="530352" y="2240280"/>
            <a:ext cx="2350008" cy="228600"/>
          </a:xfrm>
          <a:prstGeom prst="rect">
            <a:avLst/>
          </a:prstGeom>
          <a:noFill/>
          <a:ln/>
        </p:spPr>
        <p:txBody>
          <a:bodyPr wrap="square" lIns="0" tIns="0" rIns="0" bIns="0" rtlCol="0" anchor="ctr">
            <a:normAutofit/>
          </a:bodyPr>
          <a:lstStyle/>
          <a:p>
            <a:pPr indent="0" marL="0">
              <a:buNone/>
            </a:pPr>
            <a:r>
              <a:rPr lang="en-US" sz="1050" b="1" spc="110" kern="0" dirty="0">
                <a:solidFill>
                  <a:srgbClr val="C8D1D7"/>
                </a:solidFill>
                <a:latin typeface="Arial" pitchFamily="34" charset="0"/>
                <a:ea typeface="Arial" pitchFamily="34" charset="-122"/>
                <a:cs typeface="Arial" pitchFamily="34" charset="-120"/>
              </a:rPr>
              <a:t>PRICING METHOD</a:t>
            </a:r>
            <a:endParaRPr lang="en-US" sz="1050" dirty="0"/>
          </a:p>
        </p:txBody>
      </p:sp>
      <p:sp>
        <p:nvSpPr>
          <p:cNvPr id="10" name="Text 8"/>
          <p:cNvSpPr/>
          <p:nvPr/>
        </p:nvSpPr>
        <p:spPr>
          <a:xfrm>
            <a:off x="3227832" y="2203704"/>
            <a:ext cx="8339328" cy="384048"/>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Arial" pitchFamily="34" charset="0"/>
                <a:ea typeface="Arial" pitchFamily="34" charset="-122"/>
                <a:cs typeface="Arial" pitchFamily="34" charset="-120"/>
              </a:rPr>
              <a:t>Replace automatic price-class margins.</a:t>
            </a:r>
            <a:endParaRPr lang="en-US" sz="2200" dirty="0"/>
          </a:p>
        </p:txBody>
      </p:sp>
      <p:sp>
        <p:nvSpPr>
          <p:cNvPr id="11" name="Text 9"/>
          <p:cNvSpPr/>
          <p:nvPr/>
        </p:nvSpPr>
        <p:spPr>
          <a:xfrm>
            <a:off x="3227832" y="2752344"/>
            <a:ext cx="8284464" cy="438912"/>
          </a:xfrm>
          <a:prstGeom prst="rect">
            <a:avLst/>
          </a:prstGeom>
          <a:noFill/>
          <a:ln/>
        </p:spPr>
        <p:txBody>
          <a:bodyPr wrap="square" lIns="0" tIns="0" rIns="0" bIns="0" rtlCol="0" anchor="ctr">
            <a:normAutofit/>
          </a:bodyPr>
          <a:lstStyle/>
          <a:p>
            <a:pPr indent="0" marL="0">
              <a:buNone/>
            </a:pPr>
            <a:r>
              <a:rPr lang="en-US" sz="1740" dirty="0">
                <a:solidFill>
                  <a:srgbClr val="C8D1D7"/>
                </a:solidFill>
                <a:latin typeface="Arial" pitchFamily="34" charset="0"/>
                <a:ea typeface="Arial" pitchFamily="34" charset="-122"/>
                <a:cs typeface="Arial" pitchFamily="34" charset="-120"/>
              </a:rPr>
              <a:t>Use AIM identity, market evidence and the distributor opportunity to decide part-level prices.</a:t>
            </a:r>
            <a:endParaRPr lang="en-US" sz="1740" dirty="0"/>
          </a:p>
        </p:txBody>
      </p:sp>
      <p:sp>
        <p:nvSpPr>
          <p:cNvPr id="12" name="Shape 10"/>
          <p:cNvSpPr/>
          <p:nvPr/>
        </p:nvSpPr>
        <p:spPr>
          <a:xfrm>
            <a:off x="530352" y="3154680"/>
            <a:ext cx="11128248" cy="0"/>
          </a:xfrm>
          <a:prstGeom prst="line">
            <a:avLst/>
          </a:prstGeom>
          <a:noFill/>
          <a:ln w="10160">
            <a:solidFill>
              <a:srgbClr val="34444E"/>
            </a:solidFill>
            <a:prstDash val="solid"/>
            <a:headEnd type="none"/>
            <a:tailEnd type="none"/>
          </a:ln>
        </p:spPr>
      </p:sp>
      <p:sp>
        <p:nvSpPr>
          <p:cNvPr id="13" name="Text 11"/>
          <p:cNvSpPr/>
          <p:nvPr/>
        </p:nvSpPr>
        <p:spPr>
          <a:xfrm>
            <a:off x="530352" y="3355848"/>
            <a:ext cx="2350008" cy="228600"/>
          </a:xfrm>
          <a:prstGeom prst="rect">
            <a:avLst/>
          </a:prstGeom>
          <a:noFill/>
          <a:ln/>
        </p:spPr>
        <p:txBody>
          <a:bodyPr wrap="square" lIns="0" tIns="0" rIns="0" bIns="0" rtlCol="0" anchor="ctr">
            <a:normAutofit/>
          </a:bodyPr>
          <a:lstStyle/>
          <a:p>
            <a:pPr indent="0" marL="0">
              <a:buNone/>
            </a:pPr>
            <a:r>
              <a:rPr lang="en-US" sz="1050" b="1" spc="110" kern="0" dirty="0">
                <a:solidFill>
                  <a:srgbClr val="C8D1D7"/>
                </a:solidFill>
                <a:latin typeface="Arial" pitchFamily="34" charset="0"/>
                <a:ea typeface="Arial" pitchFamily="34" charset="-122"/>
                <a:cs typeface="Arial" pitchFamily="34" charset="-120"/>
              </a:rPr>
              <a:t>COMMERCIAL AIM</a:t>
            </a:r>
            <a:endParaRPr lang="en-US" sz="1050" dirty="0"/>
          </a:p>
        </p:txBody>
      </p:sp>
      <p:sp>
        <p:nvSpPr>
          <p:cNvPr id="14" name="Text 12"/>
          <p:cNvSpPr/>
          <p:nvPr/>
        </p:nvSpPr>
        <p:spPr>
          <a:xfrm>
            <a:off x="3227832" y="3319272"/>
            <a:ext cx="8339328" cy="384048"/>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Arial" pitchFamily="34" charset="0"/>
                <a:ea typeface="Arial" pitchFamily="34" charset="-122"/>
                <a:cs typeface="Arial" pitchFamily="34" charset="-120"/>
              </a:rPr>
              <a:t>Win relationships without blanket concessions.</a:t>
            </a:r>
            <a:endParaRPr lang="en-US" sz="2200" dirty="0"/>
          </a:p>
        </p:txBody>
      </p:sp>
      <p:sp>
        <p:nvSpPr>
          <p:cNvPr id="15" name="Text 13"/>
          <p:cNvSpPr/>
          <p:nvPr/>
        </p:nvSpPr>
        <p:spPr>
          <a:xfrm>
            <a:off x="3227832" y="3867912"/>
            <a:ext cx="8284464" cy="438912"/>
          </a:xfrm>
          <a:prstGeom prst="rect">
            <a:avLst/>
          </a:prstGeom>
          <a:noFill/>
          <a:ln/>
        </p:spPr>
        <p:txBody>
          <a:bodyPr wrap="square" lIns="0" tIns="0" rIns="0" bIns="0" rtlCol="0" anchor="ctr">
            <a:normAutofit/>
          </a:bodyPr>
          <a:lstStyle/>
          <a:p>
            <a:pPr indent="0" marL="0">
              <a:buNone/>
            </a:pPr>
            <a:r>
              <a:rPr lang="en-US" sz="1740" dirty="0">
                <a:solidFill>
                  <a:srgbClr val="C8D1D7"/>
                </a:solidFill>
                <a:latin typeface="Arial" pitchFamily="34" charset="0"/>
                <a:ea typeface="Arial" pitchFamily="34" charset="-122"/>
                <a:cs typeface="Arial" pitchFamily="34" charset="-120"/>
              </a:rPr>
              <a:t>Protect service and repair competitiveness; retain margin where support is unnecessary; increase selectively.</a:t>
            </a:r>
            <a:endParaRPr lang="en-US" sz="1740" dirty="0"/>
          </a:p>
        </p:txBody>
      </p:sp>
      <p:sp>
        <p:nvSpPr>
          <p:cNvPr id="16" name="Shape 14"/>
          <p:cNvSpPr/>
          <p:nvPr/>
        </p:nvSpPr>
        <p:spPr>
          <a:xfrm>
            <a:off x="530352" y="4270248"/>
            <a:ext cx="11128248" cy="0"/>
          </a:xfrm>
          <a:prstGeom prst="line">
            <a:avLst/>
          </a:prstGeom>
          <a:noFill/>
          <a:ln w="10160">
            <a:solidFill>
              <a:srgbClr val="34444E"/>
            </a:solidFill>
            <a:prstDash val="solid"/>
            <a:headEnd type="none"/>
            <a:tailEnd type="none"/>
          </a:ln>
        </p:spPr>
      </p:sp>
      <p:sp>
        <p:nvSpPr>
          <p:cNvPr id="17" name="Text 15"/>
          <p:cNvSpPr/>
          <p:nvPr/>
        </p:nvSpPr>
        <p:spPr>
          <a:xfrm>
            <a:off x="530352" y="4471416"/>
            <a:ext cx="2350008" cy="228600"/>
          </a:xfrm>
          <a:prstGeom prst="rect">
            <a:avLst/>
          </a:prstGeom>
          <a:noFill/>
          <a:ln/>
        </p:spPr>
        <p:txBody>
          <a:bodyPr wrap="square" lIns="0" tIns="0" rIns="0" bIns="0" rtlCol="0" anchor="ctr">
            <a:normAutofit/>
          </a:bodyPr>
          <a:lstStyle/>
          <a:p>
            <a:pPr indent="0" marL="0">
              <a:buNone/>
            </a:pPr>
            <a:r>
              <a:rPr lang="en-US" sz="1050" b="1" spc="110" kern="0" dirty="0">
                <a:solidFill>
                  <a:srgbClr val="C8D1D7"/>
                </a:solidFill>
                <a:latin typeface="Arial" pitchFamily="34" charset="0"/>
                <a:ea typeface="Arial" pitchFamily="34" charset="-122"/>
                <a:cs typeface="Arial" pitchFamily="34" charset="-120"/>
              </a:rPr>
              <a:t>FINANCIAL CONTROL</a:t>
            </a:r>
            <a:endParaRPr lang="en-US" sz="1050" dirty="0"/>
          </a:p>
        </p:txBody>
      </p:sp>
      <p:sp>
        <p:nvSpPr>
          <p:cNvPr id="18" name="Text 16"/>
          <p:cNvSpPr/>
          <p:nvPr/>
        </p:nvSpPr>
        <p:spPr>
          <a:xfrm>
            <a:off x="3227832" y="4434840"/>
            <a:ext cx="8339328" cy="384048"/>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Arial" pitchFamily="34" charset="0"/>
                <a:ea typeface="Arial" pitchFamily="34" charset="-122"/>
                <a:cs typeface="Arial" pitchFamily="34" charset="-120"/>
              </a:rPr>
              <a:t>Approve net economics, scope and authority.</a:t>
            </a:r>
            <a:endParaRPr lang="en-US" sz="2200" dirty="0"/>
          </a:p>
        </p:txBody>
      </p:sp>
      <p:sp>
        <p:nvSpPr>
          <p:cNvPr id="19" name="Text 17"/>
          <p:cNvSpPr/>
          <p:nvPr/>
        </p:nvSpPr>
        <p:spPr>
          <a:xfrm>
            <a:off x="3227832" y="4983480"/>
            <a:ext cx="8284464" cy="438912"/>
          </a:xfrm>
          <a:prstGeom prst="rect">
            <a:avLst/>
          </a:prstGeom>
          <a:noFill/>
          <a:ln/>
        </p:spPr>
        <p:txBody>
          <a:bodyPr wrap="square" lIns="0" tIns="0" rIns="0" bIns="0" rtlCol="0" anchor="ctr">
            <a:normAutofit/>
          </a:bodyPr>
          <a:lstStyle/>
          <a:p>
            <a:pPr indent="0" marL="0">
              <a:buNone/>
            </a:pPr>
            <a:r>
              <a:rPr lang="en-US" sz="1740" dirty="0">
                <a:solidFill>
                  <a:srgbClr val="C8D1D7"/>
                </a:solidFill>
                <a:latin typeface="Arial" pitchFamily="34" charset="0"/>
                <a:ea typeface="Arial" pitchFamily="34" charset="-122"/>
                <a:cs typeface="Arial" pitchFamily="34" charset="-120"/>
              </a:rPr>
              <a:t>No universal 8% ceiling. Larger moves require evidence, a margin check and appropriate approval.</a:t>
            </a:r>
            <a:endParaRPr lang="en-US" sz="1740" dirty="0"/>
          </a:p>
        </p:txBody>
      </p:sp>
      <p:sp>
        <p:nvSpPr>
          <p:cNvPr id="20" name="Shape 18"/>
          <p:cNvSpPr/>
          <p:nvPr/>
        </p:nvSpPr>
        <p:spPr>
          <a:xfrm>
            <a:off x="530352" y="5843016"/>
            <a:ext cx="41148" cy="393192"/>
          </a:xfrm>
          <a:prstGeom prst="rect">
            <a:avLst/>
          </a:prstGeom>
          <a:solidFill>
            <a:srgbClr val="ED0016"/>
          </a:solidFill>
          <a:ln w="12700">
            <a:solidFill>
              <a:srgbClr val="ED0016"/>
            </a:solidFill>
            <a:prstDash val="solid"/>
          </a:ln>
        </p:spPr>
      </p:sp>
      <p:sp>
        <p:nvSpPr>
          <p:cNvPr id="21" name="Text 19"/>
          <p:cNvSpPr/>
          <p:nvPr/>
        </p:nvSpPr>
        <p:spPr>
          <a:xfrm>
            <a:off x="713232" y="5833872"/>
            <a:ext cx="10908792" cy="438912"/>
          </a:xfrm>
          <a:prstGeom prst="rect">
            <a:avLst/>
          </a:prstGeom>
          <a:noFill/>
          <a:ln/>
        </p:spPr>
        <p:txBody>
          <a:bodyPr wrap="square" lIns="0" tIns="0" rIns="0" bIns="0" rtlCol="0" anchor="ctr">
            <a:normAutofit/>
          </a:bodyPr>
          <a:lstStyle/>
          <a:p>
            <a:pPr indent="0" marL="0">
              <a:buNone/>
            </a:pPr>
            <a:r>
              <a:rPr lang="en-US" sz="1890" b="1" dirty="0">
                <a:solidFill>
                  <a:srgbClr val="FFFFFF"/>
                </a:solidFill>
                <a:latin typeface="Arial" pitchFamily="34" charset="0"/>
                <a:ea typeface="Arial" pitchFamily="34" charset="-122"/>
                <a:cs typeface="Arial" pitchFamily="34" charset="-120"/>
              </a:rPr>
              <a:t>Authorise a scoped first application, then approve the objective, timing and final prices.</a:t>
            </a:r>
            <a:endParaRPr lang="en-US" sz="1890" dirty="0"/>
          </a:p>
        </p:txBody>
      </p:sp>
    </p:spTree>
  </p:cSld>
  <p:clrMapOvr>
    <a:masterClrMapping/>
  </p:clrMapOvr>
  <p:transition spd="fast" advClick="1">
    <p:fade/>
  </p:transition>
</p:sld>
</file>

<file path=ppt/slides/slide15.xml><?xml version="1.0" encoding="utf-8"?>
<p:sld xmlns:a="http://schemas.openxmlformats.org/drawingml/2006/main" xmlns:r="http://schemas.openxmlformats.org/officeDocument/2006/relationships" xmlns:p="http://schemas.openxmlformats.org/presentationml/2006/main">
  <p:cSld name="Version 1.2 - 21">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APPENDIX A - FORMULA AND EFFECTIVE DATES</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17232C"/>
                </a:solidFill>
                <a:latin typeface="Arial" pitchFamily="34" charset="0"/>
                <a:ea typeface="Arial" pitchFamily="34" charset="-122"/>
                <a:cs typeface="Arial" pitchFamily="34" charset="-120"/>
              </a:rPr>
              <a:t>Separate the selling-list basis from current and announced costs.</a:t>
            </a:r>
            <a:endParaRPr lang="en-US" sz="3100" dirty="0"/>
          </a:p>
        </p:txBody>
      </p:sp>
      <p:sp>
        <p:nvSpPr>
          <p:cNvPr id="5" name="Shape 3"/>
          <p:cNvSpPr/>
          <p:nvPr/>
        </p:nvSpPr>
        <p:spPr>
          <a:xfrm>
            <a:off x="530352" y="6373368"/>
            <a:ext cx="11128248" cy="0"/>
          </a:xfrm>
          <a:prstGeom prst="line">
            <a:avLst/>
          </a:prstGeom>
          <a:noFill/>
          <a:ln w="10160">
            <a:solidFill>
              <a:srgbClr val="DCE2E6"/>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687782"/>
                </a:solidFill>
                <a:latin typeface="Arial" pitchFamily="34" charset="0"/>
                <a:ea typeface="Arial" pitchFamily="34" charset="-122"/>
                <a:cs typeface="Arial" pitchFamily="34" charset="-120"/>
              </a:rPr>
              <a:t>Source: Pricing Master. Own arithmetic on an unchanged illustrative base of JPY 16,370; not actual part prices.</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687782"/>
                </a:solidFill>
                <a:latin typeface="Arial" pitchFamily="34" charset="0"/>
                <a:ea typeface="Arial" pitchFamily="34" charset="-122"/>
                <a:cs typeface="Arial" pitchFamily="34" charset="-120"/>
              </a:rPr>
              <a:t>v1.2  |  21</a:t>
            </a:r>
            <a:endParaRPr lang="en-US" sz="940" dirty="0"/>
          </a:p>
        </p:txBody>
      </p:sp>
      <p:sp>
        <p:nvSpPr>
          <p:cNvPr id="8" name="Text 6"/>
          <p:cNvSpPr/>
          <p:nvPr/>
        </p:nvSpPr>
        <p:spPr>
          <a:xfrm>
            <a:off x="530352" y="1865376"/>
            <a:ext cx="11128248"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ILLUSTRATION - NOT ACTUAL PART PRICES</a:t>
            </a:r>
            <a:endParaRPr lang="en-US" sz="1050" dirty="0"/>
          </a:p>
        </p:txBody>
      </p:sp>
      <p:sp>
        <p:nvSpPr>
          <p:cNvPr id="9" name="Text 7"/>
          <p:cNvSpPr/>
          <p:nvPr/>
        </p:nvSpPr>
        <p:spPr>
          <a:xfrm>
            <a:off x="4590288" y="2304288"/>
            <a:ext cx="2295144" cy="301752"/>
          </a:xfrm>
          <a:prstGeom prst="rect">
            <a:avLst/>
          </a:prstGeom>
          <a:noFill/>
          <a:ln/>
        </p:spPr>
        <p:txBody>
          <a:bodyPr wrap="square" lIns="0" tIns="0" rIns="0" bIns="0" rtlCol="0" anchor="ctr">
            <a:normAutofit/>
          </a:bodyPr>
          <a:lstStyle/>
          <a:p>
            <a:pPr algn="r" indent="0" marL="0">
              <a:buNone/>
            </a:pPr>
            <a:r>
              <a:rPr lang="en-US" sz="1530" b="1" dirty="0">
                <a:solidFill>
                  <a:srgbClr val="17232C"/>
                </a:solidFill>
                <a:latin typeface="Arial" pitchFamily="34" charset="0"/>
                <a:ea typeface="Arial" pitchFamily="34" charset="-122"/>
                <a:cs typeface="Arial" pitchFamily="34" charset="-120"/>
              </a:rPr>
              <a:t>Selling-list basis</a:t>
            </a:r>
            <a:endParaRPr lang="en-US" sz="1530" dirty="0"/>
          </a:p>
        </p:txBody>
      </p:sp>
      <p:sp>
        <p:nvSpPr>
          <p:cNvPr id="10" name="Text 8"/>
          <p:cNvSpPr/>
          <p:nvPr/>
        </p:nvSpPr>
        <p:spPr>
          <a:xfrm>
            <a:off x="4590288" y="2715768"/>
            <a:ext cx="2295144" cy="237744"/>
          </a:xfrm>
          <a:prstGeom prst="rect">
            <a:avLst/>
          </a:prstGeom>
          <a:noFill/>
          <a:ln/>
        </p:spPr>
        <p:txBody>
          <a:bodyPr wrap="square" lIns="0" tIns="0" rIns="0" bIns="0" rtlCol="0" anchor="ctr">
            <a:normAutofit/>
          </a:bodyPr>
          <a:lstStyle/>
          <a:p>
            <a:pPr algn="r" indent="0" marL="0">
              <a:buNone/>
            </a:pPr>
            <a:r>
              <a:rPr lang="en-US" sz="1250" dirty="0">
                <a:solidFill>
                  <a:srgbClr val="687782"/>
                </a:solidFill>
                <a:latin typeface="Arial" pitchFamily="34" charset="0"/>
                <a:ea typeface="Arial" pitchFamily="34" charset="-122"/>
                <a:cs typeface="Arial" pitchFamily="34" charset="-120"/>
              </a:rPr>
              <a:t>October 2025</a:t>
            </a:r>
            <a:endParaRPr lang="en-US" sz="1250" dirty="0"/>
          </a:p>
        </p:txBody>
      </p:sp>
      <p:sp>
        <p:nvSpPr>
          <p:cNvPr id="11" name="Text 9"/>
          <p:cNvSpPr/>
          <p:nvPr/>
        </p:nvSpPr>
        <p:spPr>
          <a:xfrm>
            <a:off x="7095744" y="2304288"/>
            <a:ext cx="2221992" cy="301752"/>
          </a:xfrm>
          <a:prstGeom prst="rect">
            <a:avLst/>
          </a:prstGeom>
          <a:noFill/>
          <a:ln/>
        </p:spPr>
        <p:txBody>
          <a:bodyPr wrap="square" lIns="0" tIns="0" rIns="0" bIns="0" rtlCol="0" anchor="ctr">
            <a:normAutofit/>
          </a:bodyPr>
          <a:lstStyle/>
          <a:p>
            <a:pPr algn="r" indent="0" marL="0">
              <a:buNone/>
            </a:pPr>
            <a:r>
              <a:rPr lang="en-US" sz="1530" b="1" dirty="0">
                <a:solidFill>
                  <a:srgbClr val="17232C"/>
                </a:solidFill>
                <a:latin typeface="Arial" pitchFamily="34" charset="0"/>
                <a:ea typeface="Arial" pitchFamily="34" charset="-122"/>
                <a:cs typeface="Arial" pitchFamily="34" charset="-120"/>
              </a:rPr>
              <a:t>In force on 19 Sep</a:t>
            </a:r>
            <a:endParaRPr lang="en-US" sz="1530" dirty="0"/>
          </a:p>
        </p:txBody>
      </p:sp>
      <p:sp>
        <p:nvSpPr>
          <p:cNvPr id="12" name="Text 10"/>
          <p:cNvSpPr/>
          <p:nvPr/>
        </p:nvSpPr>
        <p:spPr>
          <a:xfrm>
            <a:off x="7095744" y="2715768"/>
            <a:ext cx="2221992" cy="237744"/>
          </a:xfrm>
          <a:prstGeom prst="rect">
            <a:avLst/>
          </a:prstGeom>
          <a:noFill/>
          <a:ln/>
        </p:spPr>
        <p:txBody>
          <a:bodyPr wrap="square" lIns="0" tIns="0" rIns="0" bIns="0" rtlCol="0" anchor="ctr">
            <a:normAutofit/>
          </a:bodyPr>
          <a:lstStyle/>
          <a:p>
            <a:pPr algn="r" indent="0" marL="0">
              <a:buNone/>
            </a:pPr>
            <a:r>
              <a:rPr lang="en-US" sz="1250" dirty="0">
                <a:solidFill>
                  <a:srgbClr val="687782"/>
                </a:solidFill>
                <a:latin typeface="Arial" pitchFamily="34" charset="0"/>
                <a:ea typeface="Arial" pitchFamily="34" charset="-122"/>
                <a:cs typeface="Arial" pitchFamily="34" charset="-120"/>
              </a:rPr>
              <a:t>Apr-Sep 2026</a:t>
            </a:r>
            <a:endParaRPr lang="en-US" sz="1250" dirty="0"/>
          </a:p>
        </p:txBody>
      </p:sp>
      <p:sp>
        <p:nvSpPr>
          <p:cNvPr id="13" name="Text 11"/>
          <p:cNvSpPr/>
          <p:nvPr/>
        </p:nvSpPr>
        <p:spPr>
          <a:xfrm>
            <a:off x="9518904" y="2304288"/>
            <a:ext cx="2002536" cy="301752"/>
          </a:xfrm>
          <a:prstGeom prst="rect">
            <a:avLst/>
          </a:prstGeom>
          <a:noFill/>
          <a:ln/>
        </p:spPr>
        <p:txBody>
          <a:bodyPr wrap="square" lIns="0" tIns="0" rIns="0" bIns="0" rtlCol="0" anchor="ctr">
            <a:normAutofit/>
          </a:bodyPr>
          <a:lstStyle/>
          <a:p>
            <a:pPr algn="r" indent="0" marL="0">
              <a:buNone/>
            </a:pPr>
            <a:r>
              <a:rPr lang="en-US" sz="1530" b="1" dirty="0">
                <a:solidFill>
                  <a:srgbClr val="17232C"/>
                </a:solidFill>
                <a:latin typeface="Arial" pitchFamily="34" charset="0"/>
                <a:ea typeface="Arial" pitchFamily="34" charset="-122"/>
                <a:cs typeface="Arial" pitchFamily="34" charset="-120"/>
              </a:rPr>
              <a:t>Announced next</a:t>
            </a:r>
            <a:endParaRPr lang="en-US" sz="1530" dirty="0"/>
          </a:p>
        </p:txBody>
      </p:sp>
      <p:sp>
        <p:nvSpPr>
          <p:cNvPr id="14" name="Text 12"/>
          <p:cNvSpPr/>
          <p:nvPr/>
        </p:nvSpPr>
        <p:spPr>
          <a:xfrm>
            <a:off x="9518904" y="2715768"/>
            <a:ext cx="2002536" cy="237744"/>
          </a:xfrm>
          <a:prstGeom prst="rect">
            <a:avLst/>
          </a:prstGeom>
          <a:noFill/>
          <a:ln/>
        </p:spPr>
        <p:txBody>
          <a:bodyPr wrap="square" lIns="0" tIns="0" rIns="0" bIns="0" rtlCol="0" anchor="ctr">
            <a:normAutofit/>
          </a:bodyPr>
          <a:lstStyle/>
          <a:p>
            <a:pPr algn="r" indent="0" marL="0">
              <a:buNone/>
            </a:pPr>
            <a:r>
              <a:rPr lang="en-US" sz="1250" dirty="0">
                <a:solidFill>
                  <a:srgbClr val="687782"/>
                </a:solidFill>
                <a:latin typeface="Arial" pitchFamily="34" charset="0"/>
                <a:ea typeface="Arial" pitchFamily="34" charset="-122"/>
                <a:cs typeface="Arial" pitchFamily="34" charset="-120"/>
              </a:rPr>
              <a:t>Oct 2026-Mar 2027</a:t>
            </a:r>
            <a:endParaRPr lang="en-US" sz="1250" dirty="0"/>
          </a:p>
        </p:txBody>
      </p:sp>
      <p:sp>
        <p:nvSpPr>
          <p:cNvPr id="15" name="Shape 13"/>
          <p:cNvSpPr/>
          <p:nvPr/>
        </p:nvSpPr>
        <p:spPr>
          <a:xfrm>
            <a:off x="530352" y="3584448"/>
            <a:ext cx="11128248" cy="0"/>
          </a:xfrm>
          <a:prstGeom prst="line">
            <a:avLst/>
          </a:prstGeom>
          <a:noFill/>
          <a:ln w="8890">
            <a:solidFill>
              <a:srgbClr val="DCE2E6"/>
            </a:solidFill>
            <a:prstDash val="solid"/>
            <a:headEnd type="none"/>
            <a:tailEnd type="none"/>
          </a:ln>
        </p:spPr>
      </p:sp>
      <p:sp>
        <p:nvSpPr>
          <p:cNvPr id="16" name="Text 14"/>
          <p:cNvSpPr/>
          <p:nvPr/>
        </p:nvSpPr>
        <p:spPr>
          <a:xfrm>
            <a:off x="640080" y="3182112"/>
            <a:ext cx="3794760" cy="347472"/>
          </a:xfrm>
          <a:prstGeom prst="rect">
            <a:avLst/>
          </a:prstGeom>
          <a:noFill/>
          <a:ln/>
        </p:spPr>
        <p:txBody>
          <a:bodyPr wrap="square" lIns="0" tIns="0" rIns="0" bIns="0" rtlCol="0" anchor="ctr">
            <a:normAutofit/>
          </a:bodyPr>
          <a:lstStyle/>
          <a:p>
            <a:pPr algn="l" indent="0" marL="0">
              <a:buNone/>
            </a:pPr>
            <a:r>
              <a:rPr lang="en-US" sz="1560" dirty="0">
                <a:solidFill>
                  <a:srgbClr val="17232C"/>
                </a:solidFill>
                <a:latin typeface="Arial" pitchFamily="34" charset="0"/>
                <a:ea typeface="Arial" pitchFamily="34" charset="-122"/>
                <a:cs typeface="Arial" pitchFamily="34" charset="-120"/>
              </a:rPr>
              <a:t>Corporate rate (JPY per EUR)</a:t>
            </a:r>
            <a:endParaRPr lang="en-US" sz="1560" dirty="0"/>
          </a:p>
        </p:txBody>
      </p:sp>
      <p:sp>
        <p:nvSpPr>
          <p:cNvPr id="17" name="Text 15"/>
          <p:cNvSpPr/>
          <p:nvPr/>
        </p:nvSpPr>
        <p:spPr>
          <a:xfrm>
            <a:off x="4590288" y="3182112"/>
            <a:ext cx="2295144" cy="347472"/>
          </a:xfrm>
          <a:prstGeom prst="rect">
            <a:avLst/>
          </a:prstGeom>
          <a:noFill/>
          <a:ln/>
        </p:spPr>
        <p:txBody>
          <a:bodyPr wrap="square" lIns="0" tIns="0" rIns="0" bIns="0" rtlCol="0" anchor="ctr">
            <a:normAutofit/>
          </a:bodyPr>
          <a:lstStyle/>
          <a:p>
            <a:pPr algn="r" indent="0" marL="0">
              <a:buNone/>
            </a:pPr>
            <a:r>
              <a:rPr lang="en-US" sz="1900" b="1" dirty="0">
                <a:solidFill>
                  <a:srgbClr val="17232C"/>
                </a:solidFill>
                <a:latin typeface="Arial" pitchFamily="34" charset="0"/>
                <a:ea typeface="Arial" pitchFamily="34" charset="-122"/>
                <a:cs typeface="Arial" pitchFamily="34" charset="-120"/>
              </a:rPr>
              <a:t>163.7</a:t>
            </a:r>
            <a:endParaRPr lang="en-US" sz="1900" dirty="0"/>
          </a:p>
        </p:txBody>
      </p:sp>
      <p:sp>
        <p:nvSpPr>
          <p:cNvPr id="18" name="Text 16"/>
          <p:cNvSpPr/>
          <p:nvPr/>
        </p:nvSpPr>
        <p:spPr>
          <a:xfrm>
            <a:off x="7095744" y="3182112"/>
            <a:ext cx="2221992" cy="347472"/>
          </a:xfrm>
          <a:prstGeom prst="rect">
            <a:avLst/>
          </a:prstGeom>
          <a:noFill/>
          <a:ln/>
        </p:spPr>
        <p:txBody>
          <a:bodyPr wrap="square" lIns="0" tIns="0" rIns="0" bIns="0" rtlCol="0" anchor="ctr">
            <a:normAutofit/>
          </a:bodyPr>
          <a:lstStyle/>
          <a:p>
            <a:pPr algn="r" indent="0" marL="0">
              <a:buNone/>
            </a:pPr>
            <a:r>
              <a:rPr lang="en-US" sz="1900" b="1" dirty="0">
                <a:solidFill>
                  <a:srgbClr val="17232C"/>
                </a:solidFill>
                <a:latin typeface="Arial" pitchFamily="34" charset="0"/>
                <a:ea typeface="Arial" pitchFamily="34" charset="-122"/>
                <a:cs typeface="Arial" pitchFamily="34" charset="-120"/>
              </a:rPr>
              <a:t>172.6</a:t>
            </a:r>
            <a:endParaRPr lang="en-US" sz="1900" dirty="0"/>
          </a:p>
        </p:txBody>
      </p:sp>
      <p:sp>
        <p:nvSpPr>
          <p:cNvPr id="19" name="Text 17"/>
          <p:cNvSpPr/>
          <p:nvPr/>
        </p:nvSpPr>
        <p:spPr>
          <a:xfrm>
            <a:off x="9518904" y="3182112"/>
            <a:ext cx="2002536" cy="347472"/>
          </a:xfrm>
          <a:prstGeom prst="rect">
            <a:avLst/>
          </a:prstGeom>
          <a:noFill/>
          <a:ln/>
        </p:spPr>
        <p:txBody>
          <a:bodyPr wrap="square" lIns="0" tIns="0" rIns="0" bIns="0" rtlCol="0" anchor="ctr">
            <a:normAutofit/>
          </a:bodyPr>
          <a:lstStyle/>
          <a:p>
            <a:pPr algn="r" indent="0" marL="0">
              <a:buNone/>
            </a:pPr>
            <a:r>
              <a:rPr lang="en-US" sz="1900" b="1" dirty="0">
                <a:solidFill>
                  <a:srgbClr val="17232C"/>
                </a:solidFill>
                <a:latin typeface="Arial" pitchFamily="34" charset="0"/>
                <a:ea typeface="Arial" pitchFamily="34" charset="-122"/>
                <a:cs typeface="Arial" pitchFamily="34" charset="-120"/>
              </a:rPr>
              <a:t>178.5</a:t>
            </a:r>
            <a:endParaRPr lang="en-US" sz="1900" dirty="0"/>
          </a:p>
        </p:txBody>
      </p:sp>
      <p:sp>
        <p:nvSpPr>
          <p:cNvPr id="20" name="Shape 18"/>
          <p:cNvSpPr/>
          <p:nvPr/>
        </p:nvSpPr>
        <p:spPr>
          <a:xfrm>
            <a:off x="530352" y="4041648"/>
            <a:ext cx="11128248" cy="0"/>
          </a:xfrm>
          <a:prstGeom prst="line">
            <a:avLst/>
          </a:prstGeom>
          <a:noFill/>
          <a:ln w="8890">
            <a:solidFill>
              <a:srgbClr val="DCE2E6"/>
            </a:solidFill>
            <a:prstDash val="solid"/>
            <a:headEnd type="none"/>
            <a:tailEnd type="none"/>
          </a:ln>
        </p:spPr>
      </p:sp>
      <p:sp>
        <p:nvSpPr>
          <p:cNvPr id="21" name="Text 19"/>
          <p:cNvSpPr/>
          <p:nvPr/>
        </p:nvSpPr>
        <p:spPr>
          <a:xfrm>
            <a:off x="640080" y="3639312"/>
            <a:ext cx="3794760" cy="347472"/>
          </a:xfrm>
          <a:prstGeom prst="rect">
            <a:avLst/>
          </a:prstGeom>
          <a:noFill/>
          <a:ln/>
        </p:spPr>
        <p:txBody>
          <a:bodyPr wrap="square" lIns="0" tIns="0" rIns="0" bIns="0" rtlCol="0" anchor="ctr">
            <a:normAutofit/>
          </a:bodyPr>
          <a:lstStyle/>
          <a:p>
            <a:pPr algn="l" indent="0" marL="0">
              <a:buNone/>
            </a:pPr>
            <a:r>
              <a:rPr lang="en-US" sz="1560" dirty="0">
                <a:solidFill>
                  <a:srgbClr val="17232C"/>
                </a:solidFill>
                <a:latin typeface="Arial" pitchFamily="34" charset="0"/>
                <a:ea typeface="Arial" pitchFamily="34" charset="-122"/>
                <a:cs typeface="Arial" pitchFamily="34" charset="-120"/>
              </a:rPr>
              <a:t>Japan purchasing discount</a:t>
            </a:r>
            <a:endParaRPr lang="en-US" sz="1560" dirty="0"/>
          </a:p>
        </p:txBody>
      </p:sp>
      <p:sp>
        <p:nvSpPr>
          <p:cNvPr id="22" name="Text 20"/>
          <p:cNvSpPr/>
          <p:nvPr/>
        </p:nvSpPr>
        <p:spPr>
          <a:xfrm>
            <a:off x="4590288" y="3639312"/>
            <a:ext cx="2295144" cy="347472"/>
          </a:xfrm>
          <a:prstGeom prst="rect">
            <a:avLst/>
          </a:prstGeom>
          <a:noFill/>
          <a:ln/>
        </p:spPr>
        <p:txBody>
          <a:bodyPr wrap="square" lIns="0" tIns="0" rIns="0" bIns="0" rtlCol="0" anchor="ctr">
            <a:normAutofit/>
          </a:bodyPr>
          <a:lstStyle/>
          <a:p>
            <a:pPr algn="r" indent="0" marL="0">
              <a:buNone/>
            </a:pPr>
            <a:r>
              <a:rPr lang="en-US" sz="1900" b="1" dirty="0">
                <a:solidFill>
                  <a:srgbClr val="17232C"/>
                </a:solidFill>
                <a:latin typeface="Arial" pitchFamily="34" charset="0"/>
                <a:ea typeface="Arial" pitchFamily="34" charset="-122"/>
                <a:cs typeface="Arial" pitchFamily="34" charset="-120"/>
              </a:rPr>
              <a:t>38.0%</a:t>
            </a:r>
            <a:endParaRPr lang="en-US" sz="1900" dirty="0"/>
          </a:p>
        </p:txBody>
      </p:sp>
      <p:sp>
        <p:nvSpPr>
          <p:cNvPr id="23" name="Text 21"/>
          <p:cNvSpPr/>
          <p:nvPr/>
        </p:nvSpPr>
        <p:spPr>
          <a:xfrm>
            <a:off x="7095744" y="3639312"/>
            <a:ext cx="2221992" cy="347472"/>
          </a:xfrm>
          <a:prstGeom prst="rect">
            <a:avLst/>
          </a:prstGeom>
          <a:noFill/>
          <a:ln/>
        </p:spPr>
        <p:txBody>
          <a:bodyPr wrap="square" lIns="0" tIns="0" rIns="0" bIns="0" rtlCol="0" anchor="ctr">
            <a:normAutofit/>
          </a:bodyPr>
          <a:lstStyle/>
          <a:p>
            <a:pPr algn="r" indent="0" marL="0">
              <a:buNone/>
            </a:pPr>
            <a:r>
              <a:rPr lang="en-US" sz="1900" b="1" dirty="0">
                <a:solidFill>
                  <a:srgbClr val="17232C"/>
                </a:solidFill>
                <a:latin typeface="Arial" pitchFamily="34" charset="0"/>
                <a:ea typeface="Arial" pitchFamily="34" charset="-122"/>
                <a:cs typeface="Arial" pitchFamily="34" charset="-120"/>
              </a:rPr>
              <a:t>32.7%</a:t>
            </a:r>
            <a:endParaRPr lang="en-US" sz="1900" dirty="0"/>
          </a:p>
        </p:txBody>
      </p:sp>
      <p:sp>
        <p:nvSpPr>
          <p:cNvPr id="24" name="Text 22"/>
          <p:cNvSpPr/>
          <p:nvPr/>
        </p:nvSpPr>
        <p:spPr>
          <a:xfrm>
            <a:off x="9518904" y="3639312"/>
            <a:ext cx="2002536" cy="347472"/>
          </a:xfrm>
          <a:prstGeom prst="rect">
            <a:avLst/>
          </a:prstGeom>
          <a:noFill/>
          <a:ln/>
        </p:spPr>
        <p:txBody>
          <a:bodyPr wrap="square" lIns="0" tIns="0" rIns="0" bIns="0" rtlCol="0" anchor="ctr">
            <a:normAutofit/>
          </a:bodyPr>
          <a:lstStyle/>
          <a:p>
            <a:pPr algn="r" indent="0" marL="0">
              <a:buNone/>
            </a:pPr>
            <a:r>
              <a:rPr lang="en-US" sz="1900" b="1" dirty="0">
                <a:solidFill>
                  <a:srgbClr val="17232C"/>
                </a:solidFill>
                <a:latin typeface="Arial" pitchFamily="34" charset="0"/>
                <a:ea typeface="Arial" pitchFamily="34" charset="-122"/>
                <a:cs typeface="Arial" pitchFamily="34" charset="-120"/>
              </a:rPr>
              <a:t>32.7%</a:t>
            </a:r>
            <a:endParaRPr lang="en-US" sz="1900" dirty="0"/>
          </a:p>
        </p:txBody>
      </p:sp>
      <p:sp>
        <p:nvSpPr>
          <p:cNvPr id="25" name="Shape 23"/>
          <p:cNvSpPr/>
          <p:nvPr/>
        </p:nvSpPr>
        <p:spPr>
          <a:xfrm>
            <a:off x="530352" y="4064508"/>
            <a:ext cx="11128248" cy="438912"/>
          </a:xfrm>
          <a:prstGeom prst="rect">
            <a:avLst/>
          </a:prstGeom>
          <a:solidFill>
            <a:srgbClr val="17232C"/>
          </a:solidFill>
          <a:ln w="12700">
            <a:solidFill>
              <a:srgbClr val="17232C"/>
            </a:solidFill>
            <a:prstDash val="solid"/>
          </a:ln>
        </p:spPr>
      </p:sp>
      <p:sp>
        <p:nvSpPr>
          <p:cNvPr id="26" name="Text 24"/>
          <p:cNvSpPr/>
          <p:nvPr/>
        </p:nvSpPr>
        <p:spPr>
          <a:xfrm>
            <a:off x="640080" y="4096512"/>
            <a:ext cx="3794760" cy="347472"/>
          </a:xfrm>
          <a:prstGeom prst="rect">
            <a:avLst/>
          </a:prstGeom>
          <a:noFill/>
          <a:ln/>
        </p:spPr>
        <p:txBody>
          <a:bodyPr wrap="square" lIns="0" tIns="0" rIns="0" bIns="0" rtlCol="0" anchor="ctr">
            <a:normAutofit/>
          </a:bodyPr>
          <a:lstStyle/>
          <a:p>
            <a:pPr algn="l" indent="0" marL="0">
              <a:buNone/>
            </a:pPr>
            <a:r>
              <a:rPr lang="en-US" sz="1560" b="1" dirty="0">
                <a:solidFill>
                  <a:srgbClr val="FFFFFF"/>
                </a:solidFill>
                <a:latin typeface="Arial" pitchFamily="34" charset="0"/>
                <a:ea typeface="Arial" pitchFamily="34" charset="-122"/>
                <a:cs typeface="Arial" pitchFamily="34" charset="-120"/>
              </a:rPr>
              <a:t>Purchase cost in the formula</a:t>
            </a:r>
            <a:endParaRPr lang="en-US" sz="1560" dirty="0"/>
          </a:p>
        </p:txBody>
      </p:sp>
      <p:sp>
        <p:nvSpPr>
          <p:cNvPr id="27" name="Text 25"/>
          <p:cNvSpPr/>
          <p:nvPr/>
        </p:nvSpPr>
        <p:spPr>
          <a:xfrm>
            <a:off x="4590288" y="4096512"/>
            <a:ext cx="2295144" cy="347472"/>
          </a:xfrm>
          <a:prstGeom prst="rect">
            <a:avLst/>
          </a:prstGeom>
          <a:noFill/>
          <a:ln/>
        </p:spPr>
        <p:txBody>
          <a:bodyPr wrap="square" lIns="0" tIns="0" rIns="0" bIns="0" rtlCol="0" anchor="ctr">
            <a:normAutofit/>
          </a:bodyPr>
          <a:lstStyle/>
          <a:p>
            <a:pPr algn="r" indent="0" marL="0">
              <a:buNone/>
            </a:pPr>
            <a:r>
              <a:rPr lang="en-US" sz="1900" b="1" dirty="0">
                <a:solidFill>
                  <a:srgbClr val="FFFFFF"/>
                </a:solidFill>
                <a:latin typeface="Arial" pitchFamily="34" charset="0"/>
                <a:ea typeface="Arial" pitchFamily="34" charset="-122"/>
                <a:cs typeface="Arial" pitchFamily="34" charset="-120"/>
              </a:rPr>
              <a:t>€62.00</a:t>
            </a:r>
            <a:endParaRPr lang="en-US" sz="1900" dirty="0"/>
          </a:p>
        </p:txBody>
      </p:sp>
      <p:sp>
        <p:nvSpPr>
          <p:cNvPr id="28" name="Text 26"/>
          <p:cNvSpPr/>
          <p:nvPr/>
        </p:nvSpPr>
        <p:spPr>
          <a:xfrm>
            <a:off x="7095744" y="4096512"/>
            <a:ext cx="2221992" cy="347472"/>
          </a:xfrm>
          <a:prstGeom prst="rect">
            <a:avLst/>
          </a:prstGeom>
          <a:noFill/>
          <a:ln/>
        </p:spPr>
        <p:txBody>
          <a:bodyPr wrap="square" lIns="0" tIns="0" rIns="0" bIns="0" rtlCol="0" anchor="ctr">
            <a:normAutofit/>
          </a:bodyPr>
          <a:lstStyle/>
          <a:p>
            <a:pPr algn="r" indent="0" marL="0">
              <a:buNone/>
            </a:pPr>
            <a:r>
              <a:rPr lang="en-US" sz="1900" b="1" dirty="0">
                <a:solidFill>
                  <a:srgbClr val="FFFFFF"/>
                </a:solidFill>
                <a:latin typeface="Arial" pitchFamily="34" charset="0"/>
                <a:ea typeface="Arial" pitchFamily="34" charset="-122"/>
                <a:cs typeface="Arial" pitchFamily="34" charset="-120"/>
              </a:rPr>
              <a:t>€63.83</a:t>
            </a:r>
            <a:endParaRPr lang="en-US" sz="1900" dirty="0"/>
          </a:p>
        </p:txBody>
      </p:sp>
      <p:sp>
        <p:nvSpPr>
          <p:cNvPr id="29" name="Text 27"/>
          <p:cNvSpPr/>
          <p:nvPr/>
        </p:nvSpPr>
        <p:spPr>
          <a:xfrm>
            <a:off x="9518904" y="4096512"/>
            <a:ext cx="2002536" cy="347472"/>
          </a:xfrm>
          <a:prstGeom prst="rect">
            <a:avLst/>
          </a:prstGeom>
          <a:noFill/>
          <a:ln/>
        </p:spPr>
        <p:txBody>
          <a:bodyPr wrap="square" lIns="0" tIns="0" rIns="0" bIns="0" rtlCol="0" anchor="ctr">
            <a:normAutofit/>
          </a:bodyPr>
          <a:lstStyle/>
          <a:p>
            <a:pPr algn="r" indent="0" marL="0">
              <a:buNone/>
            </a:pPr>
            <a:r>
              <a:rPr lang="en-US" sz="1900" b="1" dirty="0">
                <a:solidFill>
                  <a:srgbClr val="FFFFFF"/>
                </a:solidFill>
                <a:latin typeface="Arial" pitchFamily="34" charset="0"/>
                <a:ea typeface="Arial" pitchFamily="34" charset="-122"/>
                <a:cs typeface="Arial" pitchFamily="34" charset="-120"/>
              </a:rPr>
              <a:t>€61.72</a:t>
            </a:r>
            <a:endParaRPr lang="en-US" sz="1900" dirty="0"/>
          </a:p>
        </p:txBody>
      </p:sp>
      <p:sp>
        <p:nvSpPr>
          <p:cNvPr id="30" name="Shape 28"/>
          <p:cNvSpPr/>
          <p:nvPr/>
        </p:nvSpPr>
        <p:spPr>
          <a:xfrm>
            <a:off x="530352" y="4956048"/>
            <a:ext cx="11128248" cy="0"/>
          </a:xfrm>
          <a:prstGeom prst="line">
            <a:avLst/>
          </a:prstGeom>
          <a:noFill/>
          <a:ln w="8890">
            <a:solidFill>
              <a:srgbClr val="DCE2E6"/>
            </a:solidFill>
            <a:prstDash val="solid"/>
            <a:headEnd type="none"/>
            <a:tailEnd type="none"/>
          </a:ln>
        </p:spPr>
      </p:sp>
      <p:sp>
        <p:nvSpPr>
          <p:cNvPr id="31" name="Text 29"/>
          <p:cNvSpPr/>
          <p:nvPr/>
        </p:nvSpPr>
        <p:spPr>
          <a:xfrm>
            <a:off x="640080" y="4553712"/>
            <a:ext cx="3794760" cy="347472"/>
          </a:xfrm>
          <a:prstGeom prst="rect">
            <a:avLst/>
          </a:prstGeom>
          <a:noFill/>
          <a:ln/>
        </p:spPr>
        <p:txBody>
          <a:bodyPr wrap="square" lIns="0" tIns="0" rIns="0" bIns="0" rtlCol="0" anchor="ctr">
            <a:normAutofit/>
          </a:bodyPr>
          <a:lstStyle/>
          <a:p>
            <a:pPr algn="l" indent="0" marL="0">
              <a:buNone/>
            </a:pPr>
            <a:r>
              <a:rPr lang="en-US" sz="1560" dirty="0">
                <a:solidFill>
                  <a:srgbClr val="17232C"/>
                </a:solidFill>
                <a:latin typeface="Arial" pitchFamily="34" charset="0"/>
                <a:ea typeface="Arial" pitchFamily="34" charset="-122"/>
                <a:cs typeface="Arial" pitchFamily="34" charset="-120"/>
              </a:rPr>
              <a:t>Price under old Class C rule: 53% margin</a:t>
            </a:r>
            <a:endParaRPr lang="en-US" sz="1560" dirty="0"/>
          </a:p>
        </p:txBody>
      </p:sp>
      <p:sp>
        <p:nvSpPr>
          <p:cNvPr id="32" name="Text 30"/>
          <p:cNvSpPr/>
          <p:nvPr/>
        </p:nvSpPr>
        <p:spPr>
          <a:xfrm>
            <a:off x="4590288" y="4553712"/>
            <a:ext cx="2295144" cy="347472"/>
          </a:xfrm>
          <a:prstGeom prst="rect">
            <a:avLst/>
          </a:prstGeom>
          <a:noFill/>
          <a:ln/>
        </p:spPr>
        <p:txBody>
          <a:bodyPr wrap="square" lIns="0" tIns="0" rIns="0" bIns="0" rtlCol="0" anchor="ctr">
            <a:normAutofit/>
          </a:bodyPr>
          <a:lstStyle/>
          <a:p>
            <a:pPr algn="r" indent="0" marL="0">
              <a:buNone/>
            </a:pPr>
            <a:r>
              <a:rPr lang="en-US" sz="1900" b="1" dirty="0">
                <a:solidFill>
                  <a:srgbClr val="17232C"/>
                </a:solidFill>
                <a:latin typeface="Arial" pitchFamily="34" charset="0"/>
                <a:ea typeface="Arial" pitchFamily="34" charset="-122"/>
                <a:cs typeface="Arial" pitchFamily="34" charset="-120"/>
              </a:rPr>
              <a:t>€131.91</a:t>
            </a:r>
            <a:endParaRPr lang="en-US" sz="1900" dirty="0"/>
          </a:p>
        </p:txBody>
      </p:sp>
      <p:sp>
        <p:nvSpPr>
          <p:cNvPr id="33" name="Text 31"/>
          <p:cNvSpPr/>
          <p:nvPr/>
        </p:nvSpPr>
        <p:spPr>
          <a:xfrm>
            <a:off x="7095744" y="4553712"/>
            <a:ext cx="2221992" cy="347472"/>
          </a:xfrm>
          <a:prstGeom prst="rect">
            <a:avLst/>
          </a:prstGeom>
          <a:noFill/>
          <a:ln/>
        </p:spPr>
        <p:txBody>
          <a:bodyPr wrap="square" lIns="0" tIns="0" rIns="0" bIns="0" rtlCol="0" anchor="ctr">
            <a:normAutofit/>
          </a:bodyPr>
          <a:lstStyle/>
          <a:p>
            <a:pPr algn="r" indent="0" marL="0">
              <a:buNone/>
            </a:pPr>
            <a:r>
              <a:rPr lang="en-US" sz="1900" b="1" dirty="0">
                <a:solidFill>
                  <a:srgbClr val="17232C"/>
                </a:solidFill>
                <a:latin typeface="Arial" pitchFamily="34" charset="0"/>
                <a:ea typeface="Arial" pitchFamily="34" charset="-122"/>
                <a:cs typeface="Arial" pitchFamily="34" charset="-120"/>
              </a:rPr>
              <a:t>€135.81</a:t>
            </a:r>
            <a:endParaRPr lang="en-US" sz="1900" dirty="0"/>
          </a:p>
        </p:txBody>
      </p:sp>
      <p:sp>
        <p:nvSpPr>
          <p:cNvPr id="34" name="Text 32"/>
          <p:cNvSpPr/>
          <p:nvPr/>
        </p:nvSpPr>
        <p:spPr>
          <a:xfrm>
            <a:off x="9518904" y="4553712"/>
            <a:ext cx="2002536" cy="347472"/>
          </a:xfrm>
          <a:prstGeom prst="rect">
            <a:avLst/>
          </a:prstGeom>
          <a:noFill/>
          <a:ln/>
        </p:spPr>
        <p:txBody>
          <a:bodyPr wrap="square" lIns="0" tIns="0" rIns="0" bIns="0" rtlCol="0" anchor="ctr">
            <a:normAutofit/>
          </a:bodyPr>
          <a:lstStyle/>
          <a:p>
            <a:pPr algn="r" indent="0" marL="0">
              <a:buNone/>
            </a:pPr>
            <a:r>
              <a:rPr lang="en-US" sz="1900" b="1" dirty="0">
                <a:solidFill>
                  <a:srgbClr val="17232C"/>
                </a:solidFill>
                <a:latin typeface="Arial" pitchFamily="34" charset="0"/>
                <a:ea typeface="Arial" pitchFamily="34" charset="-122"/>
                <a:cs typeface="Arial" pitchFamily="34" charset="-120"/>
              </a:rPr>
              <a:t>€131.32</a:t>
            </a:r>
            <a:endParaRPr lang="en-US" sz="1900" dirty="0"/>
          </a:p>
        </p:txBody>
      </p:sp>
      <p:sp>
        <p:nvSpPr>
          <p:cNvPr id="35" name="Shape 33"/>
          <p:cNvSpPr/>
          <p:nvPr/>
        </p:nvSpPr>
        <p:spPr>
          <a:xfrm>
            <a:off x="530352" y="5413248"/>
            <a:ext cx="11128248" cy="0"/>
          </a:xfrm>
          <a:prstGeom prst="line">
            <a:avLst/>
          </a:prstGeom>
          <a:noFill/>
          <a:ln w="8890">
            <a:solidFill>
              <a:srgbClr val="DCE2E6"/>
            </a:solidFill>
            <a:prstDash val="solid"/>
            <a:headEnd type="none"/>
            <a:tailEnd type="none"/>
          </a:ln>
        </p:spPr>
      </p:sp>
      <p:sp>
        <p:nvSpPr>
          <p:cNvPr id="36" name="Text 34"/>
          <p:cNvSpPr/>
          <p:nvPr/>
        </p:nvSpPr>
        <p:spPr>
          <a:xfrm>
            <a:off x="640080" y="5010912"/>
            <a:ext cx="3794760" cy="347472"/>
          </a:xfrm>
          <a:prstGeom prst="rect">
            <a:avLst/>
          </a:prstGeom>
          <a:noFill/>
          <a:ln/>
        </p:spPr>
        <p:txBody>
          <a:bodyPr wrap="square" lIns="0" tIns="0" rIns="0" bIns="0" rtlCol="0" anchor="ctr">
            <a:normAutofit/>
          </a:bodyPr>
          <a:lstStyle/>
          <a:p>
            <a:pPr algn="l" indent="0" marL="0">
              <a:buNone/>
            </a:pPr>
            <a:r>
              <a:rPr lang="en-US" sz="1560" dirty="0">
                <a:solidFill>
                  <a:srgbClr val="17232C"/>
                </a:solidFill>
                <a:latin typeface="Arial" pitchFamily="34" charset="0"/>
                <a:ea typeface="Arial" pitchFamily="34" charset="-122"/>
                <a:cs typeface="Arial" pitchFamily="34" charset="-120"/>
              </a:rPr>
              <a:t>Price under old Class V rule: 45% margin</a:t>
            </a:r>
            <a:endParaRPr lang="en-US" sz="1560" dirty="0"/>
          </a:p>
        </p:txBody>
      </p:sp>
      <p:sp>
        <p:nvSpPr>
          <p:cNvPr id="37" name="Text 35"/>
          <p:cNvSpPr/>
          <p:nvPr/>
        </p:nvSpPr>
        <p:spPr>
          <a:xfrm>
            <a:off x="4590288" y="5010912"/>
            <a:ext cx="2295144" cy="347472"/>
          </a:xfrm>
          <a:prstGeom prst="rect">
            <a:avLst/>
          </a:prstGeom>
          <a:noFill/>
          <a:ln/>
        </p:spPr>
        <p:txBody>
          <a:bodyPr wrap="square" lIns="0" tIns="0" rIns="0" bIns="0" rtlCol="0" anchor="ctr">
            <a:normAutofit/>
          </a:bodyPr>
          <a:lstStyle/>
          <a:p>
            <a:pPr algn="r" indent="0" marL="0">
              <a:buNone/>
            </a:pPr>
            <a:r>
              <a:rPr lang="en-US" sz="1900" b="1" dirty="0">
                <a:solidFill>
                  <a:srgbClr val="17232C"/>
                </a:solidFill>
                <a:latin typeface="Arial" pitchFamily="34" charset="0"/>
                <a:ea typeface="Arial" pitchFamily="34" charset="-122"/>
                <a:cs typeface="Arial" pitchFamily="34" charset="-120"/>
              </a:rPr>
              <a:t>€112.73</a:t>
            </a:r>
            <a:endParaRPr lang="en-US" sz="1900" dirty="0"/>
          </a:p>
        </p:txBody>
      </p:sp>
      <p:sp>
        <p:nvSpPr>
          <p:cNvPr id="38" name="Text 36"/>
          <p:cNvSpPr/>
          <p:nvPr/>
        </p:nvSpPr>
        <p:spPr>
          <a:xfrm>
            <a:off x="7095744" y="5010912"/>
            <a:ext cx="2221992" cy="347472"/>
          </a:xfrm>
          <a:prstGeom prst="rect">
            <a:avLst/>
          </a:prstGeom>
          <a:noFill/>
          <a:ln/>
        </p:spPr>
        <p:txBody>
          <a:bodyPr wrap="square" lIns="0" tIns="0" rIns="0" bIns="0" rtlCol="0" anchor="ctr">
            <a:normAutofit/>
          </a:bodyPr>
          <a:lstStyle/>
          <a:p>
            <a:pPr algn="r" indent="0" marL="0">
              <a:buNone/>
            </a:pPr>
            <a:r>
              <a:rPr lang="en-US" sz="1900" b="1" dirty="0">
                <a:solidFill>
                  <a:srgbClr val="17232C"/>
                </a:solidFill>
                <a:latin typeface="Arial" pitchFamily="34" charset="0"/>
                <a:ea typeface="Arial" pitchFamily="34" charset="-122"/>
                <a:cs typeface="Arial" pitchFamily="34" charset="-120"/>
              </a:rPr>
              <a:t>€116.05</a:t>
            </a:r>
            <a:endParaRPr lang="en-US" sz="1900" dirty="0"/>
          </a:p>
        </p:txBody>
      </p:sp>
      <p:sp>
        <p:nvSpPr>
          <p:cNvPr id="39" name="Text 37"/>
          <p:cNvSpPr/>
          <p:nvPr/>
        </p:nvSpPr>
        <p:spPr>
          <a:xfrm>
            <a:off x="9518904" y="5010912"/>
            <a:ext cx="2002536" cy="347472"/>
          </a:xfrm>
          <a:prstGeom prst="rect">
            <a:avLst/>
          </a:prstGeom>
          <a:noFill/>
          <a:ln/>
        </p:spPr>
        <p:txBody>
          <a:bodyPr wrap="square" lIns="0" tIns="0" rIns="0" bIns="0" rtlCol="0" anchor="ctr">
            <a:normAutofit/>
          </a:bodyPr>
          <a:lstStyle/>
          <a:p>
            <a:pPr algn="r" indent="0" marL="0">
              <a:buNone/>
            </a:pPr>
            <a:r>
              <a:rPr lang="en-US" sz="1900" b="1" dirty="0">
                <a:solidFill>
                  <a:srgbClr val="17232C"/>
                </a:solidFill>
                <a:latin typeface="Arial" pitchFamily="34" charset="0"/>
                <a:ea typeface="Arial" pitchFamily="34" charset="-122"/>
                <a:cs typeface="Arial" pitchFamily="34" charset="-120"/>
              </a:rPr>
              <a:t>€112.22</a:t>
            </a:r>
            <a:endParaRPr lang="en-US" sz="1900" dirty="0"/>
          </a:p>
        </p:txBody>
      </p:sp>
      <p:sp>
        <p:nvSpPr>
          <p:cNvPr id="40" name="Text 38"/>
          <p:cNvSpPr/>
          <p:nvPr/>
        </p:nvSpPr>
        <p:spPr>
          <a:xfrm>
            <a:off x="530352" y="5577840"/>
            <a:ext cx="11128248" cy="521208"/>
          </a:xfrm>
          <a:prstGeom prst="rect">
            <a:avLst/>
          </a:prstGeom>
          <a:noFill/>
          <a:ln/>
        </p:spPr>
        <p:txBody>
          <a:bodyPr wrap="square" lIns="0" tIns="0" rIns="0" bIns="0" rtlCol="0" anchor="ctr">
            <a:normAutofit/>
          </a:bodyPr>
          <a:lstStyle/>
          <a:p>
            <a:pPr indent="0" marL="0">
              <a:buNone/>
            </a:pPr>
            <a:r>
              <a:rPr lang="en-US" sz="1640" dirty="0">
                <a:solidFill>
                  <a:srgbClr val="687782"/>
                </a:solidFill>
                <a:latin typeface="Arial" pitchFamily="34" charset="0"/>
                <a:ea typeface="Arial" pitchFamily="34" charset="-122"/>
                <a:cs typeface="Arial" pitchFamily="34" charset="-120"/>
              </a:rPr>
              <a:t>Japan terms changed on 5 January 2026, before the April rate change.</a:t>
            </a:r>
            <a:endParaRPr lang="en-US" sz="1640" dirty="0"/>
          </a:p>
          <a:p>
            <a:pPr indent="0" marL="0">
              <a:buNone/>
            </a:pPr>
            <a:r>
              <a:rPr lang="en-US" sz="1640" dirty="0">
                <a:solidFill>
                  <a:srgbClr val="687782"/>
                </a:solidFill>
                <a:latin typeface="Arial" pitchFamily="34" charset="0"/>
                <a:ea typeface="Arial" pitchFamily="34" charset="-122"/>
                <a:cs typeface="Arial" pitchFamily="34" charset="-120"/>
              </a:rPr>
              <a:t>The October rate is announced, not yet effective on 19 September.</a:t>
            </a:r>
            <a:endParaRPr lang="en-US" sz="1640" dirty="0"/>
          </a:p>
        </p:txBody>
      </p:sp>
    </p:spTree>
  </p:cSld>
  <p:clrMapOvr>
    <a:masterClrMapping/>
  </p:clrMapOvr>
  <p:transition spd="fast" advClick="1">
    <p:fade/>
  </p:transition>
</p:sld>
</file>

<file path=ppt/slides/slide16.xml><?xml version="1.0" encoding="utf-8"?>
<p:sld xmlns:a="http://schemas.openxmlformats.org/drawingml/2006/main" xmlns:r="http://schemas.openxmlformats.org/officeDocument/2006/relationships" xmlns:p="http://schemas.openxmlformats.org/presentationml/2006/main">
  <p:cSld name="Version 1.2 - 22">
    <p:spTree>
      <p:nvGrpSpPr>
        <p:cNvPr id="1" name=""/>
        <p:cNvGrpSpPr/>
        <p:nvPr/>
      </p:nvGrpSpPr>
      <p:grpSpPr>
        <a:xfrm>
          <a:off x="0" y="0"/>
          <a:ext cx="0" cy="0"/>
          <a:chOff x="0" y="0"/>
          <a:chExt cx="0" cy="0"/>
        </a:xfrm>
      </p:grpSpPr>
      <p:sp>
        <p:nvSpPr>
          <p:cNvPr id="2" name="Text 0"/>
          <p:cNvSpPr/>
          <p:nvPr/>
        </p:nvSpPr>
        <p:spPr>
          <a:xfrm>
            <a:off x="530352" y="301752"/>
            <a:ext cx="1115568" cy="320040"/>
          </a:xfrm>
          <a:prstGeom prst="rect">
            <a:avLst/>
          </a:prstGeom>
          <a:noFill/>
          <a:ln/>
        </p:spPr>
        <p:txBody>
          <a:bodyPr wrap="square" lIns="0" tIns="0" rIns="0" bIns="0" rtlCol="0" anchor="ctr">
            <a:normAutofit/>
          </a:bodyPr>
          <a:lstStyle/>
          <a:p>
            <a:pPr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 1"/>
          <p:cNvSpPr/>
          <p:nvPr/>
        </p:nvSpPr>
        <p:spPr>
          <a:xfrm>
            <a:off x="1828800" y="365760"/>
            <a:ext cx="868680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APPENDIX B - A REAL COMPETITOR COMPARISON</a:t>
            </a:r>
            <a:endParaRPr lang="en-US" sz="1050" dirty="0"/>
          </a:p>
        </p:txBody>
      </p:sp>
      <p:sp>
        <p:nvSpPr>
          <p:cNvPr id="4" name="Text 2"/>
          <p:cNvSpPr/>
          <p:nvPr/>
        </p:nvSpPr>
        <p:spPr>
          <a:xfrm>
            <a:off x="530352" y="905256"/>
            <a:ext cx="11128248" cy="914400"/>
          </a:xfrm>
          <a:prstGeom prst="rect">
            <a:avLst/>
          </a:prstGeom>
          <a:noFill/>
          <a:ln/>
        </p:spPr>
        <p:txBody>
          <a:bodyPr wrap="square" lIns="0" tIns="0" rIns="0" bIns="0" rtlCol="0" anchor="t">
            <a:normAutofit/>
          </a:bodyPr>
          <a:lstStyle/>
          <a:p>
            <a:pPr indent="0" marL="0">
              <a:buNone/>
            </a:pPr>
            <a:r>
              <a:rPr lang="en-US" sz="3100" b="1" dirty="0">
                <a:solidFill>
                  <a:srgbClr val="17232C"/>
                </a:solidFill>
                <a:latin typeface="Arial" pitchFamily="34" charset="0"/>
                <a:ea typeface="Arial" pitchFamily="34" charset="-122"/>
                <a:cs typeface="Arial" pitchFamily="34" charset="-120"/>
              </a:rPr>
              <a:t>There is a price range for a part, not one aftermarket price.</a:t>
            </a:r>
            <a:endParaRPr lang="en-US" sz="3100" dirty="0"/>
          </a:p>
        </p:txBody>
      </p:sp>
      <p:sp>
        <p:nvSpPr>
          <p:cNvPr id="5" name="Shape 3"/>
          <p:cNvSpPr/>
          <p:nvPr/>
        </p:nvSpPr>
        <p:spPr>
          <a:xfrm>
            <a:off x="530352" y="6373368"/>
            <a:ext cx="11128248" cy="0"/>
          </a:xfrm>
          <a:prstGeom prst="line">
            <a:avLst/>
          </a:prstGeom>
          <a:noFill/>
          <a:ln w="10160">
            <a:solidFill>
              <a:srgbClr val="DCE2E6"/>
            </a:solidFill>
            <a:prstDash val="solid"/>
            <a:headEnd type="none"/>
            <a:tailEnd type="none"/>
          </a:ln>
        </p:spPr>
      </p:sp>
      <p:sp>
        <p:nvSpPr>
          <p:cNvPr id="6" name="Text 4"/>
          <p:cNvSpPr/>
          <p:nvPr/>
        </p:nvSpPr>
        <p:spPr>
          <a:xfrm>
            <a:off x="530352" y="6469380"/>
            <a:ext cx="10012680" cy="228600"/>
          </a:xfrm>
          <a:prstGeom prst="rect">
            <a:avLst/>
          </a:prstGeom>
          <a:noFill/>
          <a:ln/>
        </p:spPr>
        <p:txBody>
          <a:bodyPr wrap="square" lIns="0" tIns="0" rIns="0" bIns="0" rtlCol="0" anchor="ctr">
            <a:normAutofit/>
          </a:bodyPr>
          <a:lstStyle/>
          <a:p>
            <a:pPr indent="0" marL="0">
              <a:buNone/>
            </a:pPr>
            <a:r>
              <a:rPr lang="en-US" sz="900" dirty="0">
                <a:solidFill>
                  <a:srgbClr val="687782"/>
                </a:solidFill>
                <a:latin typeface="Arial" pitchFamily="34" charset="0"/>
                <a:ea typeface="Arial" pitchFamily="34" charset="-122"/>
                <a:cs typeface="Arial" pitchFamily="34" charset="-120"/>
              </a:rPr>
              <a:t>Source: Pricing Master. Eucon / PartsPool: March 2026; ISZE reference: the 2026 Price Master.</a:t>
            </a:r>
            <a:endParaRPr lang="en-US" sz="900" dirty="0"/>
          </a:p>
        </p:txBody>
      </p:sp>
      <p:sp>
        <p:nvSpPr>
          <p:cNvPr id="7" name="Text 5"/>
          <p:cNvSpPr/>
          <p:nvPr/>
        </p:nvSpPr>
        <p:spPr>
          <a:xfrm>
            <a:off x="10744200" y="6464808"/>
            <a:ext cx="914400" cy="228600"/>
          </a:xfrm>
          <a:prstGeom prst="rect">
            <a:avLst/>
          </a:prstGeom>
          <a:noFill/>
          <a:ln/>
        </p:spPr>
        <p:txBody>
          <a:bodyPr wrap="square" lIns="0" tIns="0" rIns="0" bIns="0" rtlCol="0" anchor="ctr">
            <a:normAutofit/>
          </a:bodyPr>
          <a:lstStyle/>
          <a:p>
            <a:pPr algn="r" indent="0" marL="0">
              <a:buNone/>
            </a:pPr>
            <a:r>
              <a:rPr lang="en-US" sz="940" dirty="0">
                <a:solidFill>
                  <a:srgbClr val="687782"/>
                </a:solidFill>
                <a:latin typeface="Arial" pitchFamily="34" charset="0"/>
                <a:ea typeface="Arial" pitchFamily="34" charset="-122"/>
                <a:cs typeface="Arial" pitchFamily="34" charset="-120"/>
              </a:rPr>
              <a:t>v1.2  |  22</a:t>
            </a:r>
            <a:endParaRPr lang="en-US" sz="940" dirty="0"/>
          </a:p>
        </p:txBody>
      </p:sp>
      <p:sp>
        <p:nvSpPr>
          <p:cNvPr id="8" name="Text 6"/>
          <p:cNvSpPr/>
          <p:nvPr/>
        </p:nvSpPr>
        <p:spPr>
          <a:xfrm>
            <a:off x="530352" y="1847088"/>
            <a:ext cx="11128248" cy="420624"/>
          </a:xfrm>
          <a:prstGeom prst="rect">
            <a:avLst/>
          </a:prstGeom>
          <a:noFill/>
          <a:ln/>
        </p:spPr>
        <p:txBody>
          <a:bodyPr wrap="square" lIns="0" tIns="0" rIns="0" bIns="0" rtlCol="0" anchor="ctr">
            <a:normAutofit/>
          </a:bodyPr>
          <a:lstStyle/>
          <a:p>
            <a:pPr indent="0" marL="0">
              <a:buNone/>
            </a:pPr>
            <a:r>
              <a:rPr lang="en-US" sz="2300" b="1" dirty="0">
                <a:solidFill>
                  <a:srgbClr val="17232C"/>
                </a:solidFill>
                <a:latin typeface="Arial" pitchFamily="34" charset="0"/>
                <a:ea typeface="Arial" pitchFamily="34" charset="-122"/>
                <a:cs typeface="Arial" pitchFamily="34" charset="-120"/>
              </a:rPr>
              <a:t>Part number 8975546610</a:t>
            </a:r>
            <a:endParaRPr lang="en-US" sz="2300" dirty="0"/>
          </a:p>
        </p:txBody>
      </p:sp>
      <p:sp>
        <p:nvSpPr>
          <p:cNvPr id="9" name="Text 7"/>
          <p:cNvSpPr/>
          <p:nvPr/>
        </p:nvSpPr>
        <p:spPr>
          <a:xfrm>
            <a:off x="530352" y="2505456"/>
            <a:ext cx="722376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EUCON / PARTSPOOL: 42 ONLINE LISTINGS</a:t>
            </a:r>
            <a:endParaRPr lang="en-US" sz="1050" dirty="0"/>
          </a:p>
        </p:txBody>
      </p:sp>
      <p:sp>
        <p:nvSpPr>
          <p:cNvPr id="10" name="Shape 8"/>
          <p:cNvSpPr/>
          <p:nvPr/>
        </p:nvSpPr>
        <p:spPr>
          <a:xfrm>
            <a:off x="530352" y="2926080"/>
            <a:ext cx="2368296" cy="1764792"/>
          </a:xfrm>
          <a:prstGeom prst="rect">
            <a:avLst/>
          </a:prstGeom>
          <a:solidFill>
            <a:srgbClr val="F0F3F5"/>
          </a:solidFill>
          <a:ln w="12700">
            <a:solidFill>
              <a:srgbClr val="F0F3F5"/>
            </a:solidFill>
            <a:prstDash val="solid"/>
          </a:ln>
        </p:spPr>
      </p:sp>
      <p:sp>
        <p:nvSpPr>
          <p:cNvPr id="11" name="Text 9"/>
          <p:cNvSpPr/>
          <p:nvPr/>
        </p:nvSpPr>
        <p:spPr>
          <a:xfrm>
            <a:off x="667512" y="3108960"/>
            <a:ext cx="210312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LOW END</a:t>
            </a:r>
            <a:endParaRPr lang="en-US" sz="1050" dirty="0"/>
          </a:p>
        </p:txBody>
      </p:sp>
      <p:sp>
        <p:nvSpPr>
          <p:cNvPr id="12" name="Text 10"/>
          <p:cNvSpPr/>
          <p:nvPr/>
        </p:nvSpPr>
        <p:spPr>
          <a:xfrm>
            <a:off x="667512" y="3575304"/>
            <a:ext cx="2103120" cy="539496"/>
          </a:xfrm>
          <a:prstGeom prst="rect">
            <a:avLst/>
          </a:prstGeom>
          <a:noFill/>
          <a:ln/>
        </p:spPr>
        <p:txBody>
          <a:bodyPr wrap="square" lIns="0" tIns="0" rIns="0" bIns="0" rtlCol="0" anchor="ctr">
            <a:normAutofit/>
          </a:bodyPr>
          <a:lstStyle/>
          <a:p>
            <a:pPr indent="0" marL="0">
              <a:buNone/>
            </a:pPr>
            <a:r>
              <a:rPr lang="en-US" sz="2900" b="1" dirty="0">
                <a:solidFill>
                  <a:srgbClr val="ED0016"/>
                </a:solidFill>
                <a:latin typeface="Arial" pitchFamily="34" charset="0"/>
                <a:ea typeface="Arial" pitchFamily="34" charset="-122"/>
                <a:cs typeface="Arial" pitchFamily="34" charset="-120"/>
              </a:rPr>
              <a:t>€17.09</a:t>
            </a:r>
            <a:endParaRPr lang="en-US" sz="2900" dirty="0"/>
          </a:p>
        </p:txBody>
      </p:sp>
      <p:sp>
        <p:nvSpPr>
          <p:cNvPr id="13" name="Text 11"/>
          <p:cNvSpPr/>
          <p:nvPr/>
        </p:nvSpPr>
        <p:spPr>
          <a:xfrm>
            <a:off x="667512" y="4279392"/>
            <a:ext cx="2103120" cy="265176"/>
          </a:xfrm>
          <a:prstGeom prst="rect">
            <a:avLst/>
          </a:prstGeom>
          <a:noFill/>
          <a:ln/>
        </p:spPr>
        <p:txBody>
          <a:bodyPr wrap="square" lIns="0" tIns="0" rIns="0" bIns="0" rtlCol="0" anchor="ctr">
            <a:normAutofit/>
          </a:bodyPr>
          <a:lstStyle/>
          <a:p>
            <a:pPr indent="0" marL="0">
              <a:buNone/>
            </a:pPr>
            <a:r>
              <a:rPr lang="en-US" sz="1440" dirty="0">
                <a:solidFill>
                  <a:srgbClr val="687782"/>
                </a:solidFill>
                <a:latin typeface="Arial" pitchFamily="34" charset="0"/>
                <a:ea typeface="Arial" pitchFamily="34" charset="-122"/>
                <a:cs typeface="Arial" pitchFamily="34" charset="-120"/>
              </a:rPr>
              <a:t>Rap Brakes</a:t>
            </a:r>
            <a:endParaRPr lang="en-US" sz="1440" dirty="0"/>
          </a:p>
        </p:txBody>
      </p:sp>
      <p:sp>
        <p:nvSpPr>
          <p:cNvPr id="14" name="Shape 12"/>
          <p:cNvSpPr/>
          <p:nvPr/>
        </p:nvSpPr>
        <p:spPr>
          <a:xfrm>
            <a:off x="3099816" y="2926080"/>
            <a:ext cx="2368296" cy="1764792"/>
          </a:xfrm>
          <a:prstGeom prst="rect">
            <a:avLst/>
          </a:prstGeom>
          <a:solidFill>
            <a:srgbClr val="F0F3F5"/>
          </a:solidFill>
          <a:ln w="12700">
            <a:solidFill>
              <a:srgbClr val="F0F3F5"/>
            </a:solidFill>
            <a:prstDash val="solid"/>
          </a:ln>
        </p:spPr>
      </p:sp>
      <p:sp>
        <p:nvSpPr>
          <p:cNvPr id="15" name="Text 13"/>
          <p:cNvSpPr/>
          <p:nvPr/>
        </p:nvSpPr>
        <p:spPr>
          <a:xfrm>
            <a:off x="3236976" y="3108960"/>
            <a:ext cx="210312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MEDIAN</a:t>
            </a:r>
            <a:endParaRPr lang="en-US" sz="1050" dirty="0"/>
          </a:p>
        </p:txBody>
      </p:sp>
      <p:sp>
        <p:nvSpPr>
          <p:cNvPr id="16" name="Text 14"/>
          <p:cNvSpPr/>
          <p:nvPr/>
        </p:nvSpPr>
        <p:spPr>
          <a:xfrm>
            <a:off x="3236976" y="3575304"/>
            <a:ext cx="2103120" cy="539496"/>
          </a:xfrm>
          <a:prstGeom prst="rect">
            <a:avLst/>
          </a:prstGeom>
          <a:noFill/>
          <a:ln/>
        </p:spPr>
        <p:txBody>
          <a:bodyPr wrap="square" lIns="0" tIns="0" rIns="0" bIns="0" rtlCol="0" anchor="ctr">
            <a:normAutofit/>
          </a:bodyPr>
          <a:lstStyle/>
          <a:p>
            <a:pPr indent="0" marL="0">
              <a:buNone/>
            </a:pPr>
            <a:r>
              <a:rPr lang="en-US" sz="2900" b="1" dirty="0">
                <a:solidFill>
                  <a:srgbClr val="17232C"/>
                </a:solidFill>
                <a:latin typeface="Arial" pitchFamily="34" charset="0"/>
                <a:ea typeface="Arial" pitchFamily="34" charset="-122"/>
                <a:cs typeface="Arial" pitchFamily="34" charset="-120"/>
              </a:rPr>
              <a:t>€58.09</a:t>
            </a:r>
            <a:endParaRPr lang="en-US" sz="2900" dirty="0"/>
          </a:p>
        </p:txBody>
      </p:sp>
      <p:sp>
        <p:nvSpPr>
          <p:cNvPr id="17" name="Text 15"/>
          <p:cNvSpPr/>
          <p:nvPr/>
        </p:nvSpPr>
        <p:spPr>
          <a:xfrm>
            <a:off x="3236976" y="4279392"/>
            <a:ext cx="2103120" cy="265176"/>
          </a:xfrm>
          <a:prstGeom prst="rect">
            <a:avLst/>
          </a:prstGeom>
          <a:noFill/>
          <a:ln/>
        </p:spPr>
        <p:txBody>
          <a:bodyPr wrap="square" lIns="0" tIns="0" rIns="0" bIns="0" rtlCol="0" anchor="ctr">
            <a:normAutofit/>
          </a:bodyPr>
          <a:lstStyle/>
          <a:p>
            <a:pPr indent="0" marL="0">
              <a:buNone/>
            </a:pPr>
            <a:r>
              <a:rPr lang="en-US" sz="1440" dirty="0">
                <a:solidFill>
                  <a:srgbClr val="687782"/>
                </a:solidFill>
                <a:latin typeface="Arial" pitchFamily="34" charset="0"/>
                <a:ea typeface="Arial" pitchFamily="34" charset="-122"/>
                <a:cs typeface="Arial" pitchFamily="34" charset="-120"/>
              </a:rPr>
              <a:t>Across the listings</a:t>
            </a:r>
            <a:endParaRPr lang="en-US" sz="1440" dirty="0"/>
          </a:p>
        </p:txBody>
      </p:sp>
      <p:sp>
        <p:nvSpPr>
          <p:cNvPr id="18" name="Shape 16"/>
          <p:cNvSpPr/>
          <p:nvPr/>
        </p:nvSpPr>
        <p:spPr>
          <a:xfrm>
            <a:off x="5669280" y="2926080"/>
            <a:ext cx="2368296" cy="1764792"/>
          </a:xfrm>
          <a:prstGeom prst="rect">
            <a:avLst/>
          </a:prstGeom>
          <a:solidFill>
            <a:srgbClr val="F0F3F5"/>
          </a:solidFill>
          <a:ln w="12700">
            <a:solidFill>
              <a:srgbClr val="F0F3F5"/>
            </a:solidFill>
            <a:prstDash val="solid"/>
          </a:ln>
        </p:spPr>
      </p:sp>
      <p:sp>
        <p:nvSpPr>
          <p:cNvPr id="19" name="Text 17"/>
          <p:cNvSpPr/>
          <p:nvPr/>
        </p:nvSpPr>
        <p:spPr>
          <a:xfrm>
            <a:off x="5806440" y="3108960"/>
            <a:ext cx="2103120"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HIGH END</a:t>
            </a:r>
            <a:endParaRPr lang="en-US" sz="1050" dirty="0"/>
          </a:p>
        </p:txBody>
      </p:sp>
      <p:sp>
        <p:nvSpPr>
          <p:cNvPr id="20" name="Text 18"/>
          <p:cNvSpPr/>
          <p:nvPr/>
        </p:nvSpPr>
        <p:spPr>
          <a:xfrm>
            <a:off x="5806440" y="3575304"/>
            <a:ext cx="2103120" cy="539496"/>
          </a:xfrm>
          <a:prstGeom prst="rect">
            <a:avLst/>
          </a:prstGeom>
          <a:noFill/>
          <a:ln/>
        </p:spPr>
        <p:txBody>
          <a:bodyPr wrap="square" lIns="0" tIns="0" rIns="0" bIns="0" rtlCol="0" anchor="ctr">
            <a:normAutofit/>
          </a:bodyPr>
          <a:lstStyle/>
          <a:p>
            <a:pPr indent="0" marL="0">
              <a:buNone/>
            </a:pPr>
            <a:r>
              <a:rPr lang="en-US" sz="2900" b="1" dirty="0">
                <a:solidFill>
                  <a:srgbClr val="17232C"/>
                </a:solidFill>
                <a:latin typeface="Arial" pitchFamily="34" charset="0"/>
                <a:ea typeface="Arial" pitchFamily="34" charset="-122"/>
                <a:cs typeface="Arial" pitchFamily="34" charset="-120"/>
              </a:rPr>
              <a:t>€213.40</a:t>
            </a:r>
            <a:endParaRPr lang="en-US" sz="2900" dirty="0"/>
          </a:p>
        </p:txBody>
      </p:sp>
      <p:sp>
        <p:nvSpPr>
          <p:cNvPr id="21" name="Text 19"/>
          <p:cNvSpPr/>
          <p:nvPr/>
        </p:nvSpPr>
        <p:spPr>
          <a:xfrm>
            <a:off x="5806440" y="4279392"/>
            <a:ext cx="2103120" cy="265176"/>
          </a:xfrm>
          <a:prstGeom prst="rect">
            <a:avLst/>
          </a:prstGeom>
          <a:noFill/>
          <a:ln/>
        </p:spPr>
        <p:txBody>
          <a:bodyPr wrap="square" lIns="0" tIns="0" rIns="0" bIns="0" rtlCol="0" anchor="ctr">
            <a:normAutofit/>
          </a:bodyPr>
          <a:lstStyle/>
          <a:p>
            <a:pPr indent="0" marL="0">
              <a:buNone/>
            </a:pPr>
            <a:r>
              <a:rPr lang="en-US" sz="1440" dirty="0">
                <a:solidFill>
                  <a:srgbClr val="687782"/>
                </a:solidFill>
                <a:latin typeface="Arial" pitchFamily="34" charset="0"/>
                <a:ea typeface="Arial" pitchFamily="34" charset="-122"/>
                <a:cs typeface="Arial" pitchFamily="34" charset="-120"/>
              </a:rPr>
              <a:t>Pagid</a:t>
            </a:r>
            <a:endParaRPr lang="en-US" sz="1440" dirty="0"/>
          </a:p>
        </p:txBody>
      </p:sp>
      <p:sp>
        <p:nvSpPr>
          <p:cNvPr id="22" name="Shape 20"/>
          <p:cNvSpPr/>
          <p:nvPr/>
        </p:nvSpPr>
        <p:spPr>
          <a:xfrm>
            <a:off x="8247888" y="2514600"/>
            <a:ext cx="0" cy="2816352"/>
          </a:xfrm>
          <a:prstGeom prst="line">
            <a:avLst/>
          </a:prstGeom>
          <a:noFill/>
          <a:ln w="12700">
            <a:solidFill>
              <a:srgbClr val="DCE2E6"/>
            </a:solidFill>
            <a:prstDash val="solid"/>
            <a:headEnd type="none"/>
            <a:tailEnd type="none"/>
          </a:ln>
        </p:spPr>
      </p:sp>
      <p:sp>
        <p:nvSpPr>
          <p:cNvPr id="23" name="Text 21"/>
          <p:cNvSpPr/>
          <p:nvPr/>
        </p:nvSpPr>
        <p:spPr>
          <a:xfrm>
            <a:off x="8577072" y="2505456"/>
            <a:ext cx="3081528" cy="228600"/>
          </a:xfrm>
          <a:prstGeom prst="rect">
            <a:avLst/>
          </a:prstGeom>
          <a:noFill/>
          <a:ln/>
        </p:spPr>
        <p:txBody>
          <a:bodyPr wrap="square" lIns="0" tIns="0" rIns="0" bIns="0" rtlCol="0" anchor="ctr">
            <a:normAutofit/>
          </a:bodyPr>
          <a:lstStyle/>
          <a:p>
            <a:pPr indent="0" marL="0">
              <a:buNone/>
            </a:pPr>
            <a:r>
              <a:rPr lang="en-US" sz="1050" b="1" spc="150" kern="0" dirty="0">
                <a:solidFill>
                  <a:srgbClr val="687782"/>
                </a:solidFill>
                <a:latin typeface="Arial" pitchFamily="34" charset="0"/>
                <a:ea typeface="Arial" pitchFamily="34" charset="-122"/>
                <a:cs typeface="Arial" pitchFamily="34" charset="-120"/>
              </a:rPr>
              <a:t>ISZE REFERENCE</a:t>
            </a:r>
            <a:endParaRPr lang="en-US" sz="1050" dirty="0"/>
          </a:p>
        </p:txBody>
      </p:sp>
      <p:sp>
        <p:nvSpPr>
          <p:cNvPr id="24" name="Text 22"/>
          <p:cNvSpPr/>
          <p:nvPr/>
        </p:nvSpPr>
        <p:spPr>
          <a:xfrm>
            <a:off x="8577072" y="3008376"/>
            <a:ext cx="3017520" cy="621792"/>
          </a:xfrm>
          <a:prstGeom prst="rect">
            <a:avLst/>
          </a:prstGeom>
          <a:noFill/>
          <a:ln/>
        </p:spPr>
        <p:txBody>
          <a:bodyPr wrap="square" lIns="0" tIns="0" rIns="0" bIns="0" rtlCol="0" anchor="ctr">
            <a:normAutofit/>
          </a:bodyPr>
          <a:lstStyle/>
          <a:p>
            <a:pPr indent="0" marL="0">
              <a:buNone/>
            </a:pPr>
            <a:r>
              <a:rPr lang="en-US" sz="3400" b="1" dirty="0">
                <a:solidFill>
                  <a:srgbClr val="17232C"/>
                </a:solidFill>
                <a:latin typeface="Arial" pitchFamily="34" charset="0"/>
                <a:ea typeface="Arial" pitchFamily="34" charset="-122"/>
                <a:cs typeface="Arial" pitchFamily="34" charset="-120"/>
              </a:rPr>
              <a:t>€82.25</a:t>
            </a:r>
            <a:endParaRPr lang="en-US" sz="3400" dirty="0"/>
          </a:p>
        </p:txBody>
      </p:sp>
      <p:sp>
        <p:nvSpPr>
          <p:cNvPr id="25" name="Text 23"/>
          <p:cNvSpPr/>
          <p:nvPr/>
        </p:nvSpPr>
        <p:spPr>
          <a:xfrm>
            <a:off x="8577072" y="3767328"/>
            <a:ext cx="3017520" cy="356616"/>
          </a:xfrm>
          <a:prstGeom prst="rect">
            <a:avLst/>
          </a:prstGeom>
          <a:noFill/>
          <a:ln/>
        </p:spPr>
        <p:txBody>
          <a:bodyPr wrap="square" lIns="0" tIns="0" rIns="0" bIns="0" rtlCol="0" anchor="ctr">
            <a:normAutofit/>
          </a:bodyPr>
          <a:lstStyle/>
          <a:p>
            <a:pPr indent="0" marL="0">
              <a:buNone/>
            </a:pPr>
            <a:r>
              <a:rPr lang="en-US" sz="1800" b="1" dirty="0">
                <a:solidFill>
                  <a:srgbClr val="17232C"/>
                </a:solidFill>
                <a:latin typeface="Arial" pitchFamily="34" charset="0"/>
                <a:ea typeface="Arial" pitchFamily="34" charset="-122"/>
                <a:cs typeface="Arial" pitchFamily="34" charset="-120"/>
              </a:rPr>
              <a:t>Our listed selling price</a:t>
            </a:r>
            <a:endParaRPr lang="en-US" sz="1800" dirty="0"/>
          </a:p>
        </p:txBody>
      </p:sp>
      <p:sp>
        <p:nvSpPr>
          <p:cNvPr id="26" name="Text 24"/>
          <p:cNvSpPr/>
          <p:nvPr/>
        </p:nvSpPr>
        <p:spPr>
          <a:xfrm>
            <a:off x="8577072" y="4453128"/>
            <a:ext cx="3017520" cy="713232"/>
          </a:xfrm>
          <a:prstGeom prst="rect">
            <a:avLst/>
          </a:prstGeom>
          <a:noFill/>
          <a:ln/>
        </p:spPr>
        <p:txBody>
          <a:bodyPr wrap="square" lIns="0" tIns="0" rIns="0" bIns="0" rtlCol="0" anchor="ctr">
            <a:normAutofit/>
          </a:bodyPr>
          <a:lstStyle/>
          <a:p>
            <a:pPr indent="0" marL="0">
              <a:buNone/>
            </a:pPr>
            <a:r>
              <a:rPr lang="en-US" sz="1620" dirty="0">
                <a:solidFill>
                  <a:srgbClr val="687782"/>
                </a:solidFill>
                <a:latin typeface="Arial" pitchFamily="34" charset="0"/>
                <a:ea typeface="Arial" pitchFamily="34" charset="-122"/>
                <a:cs typeface="Arial" pitchFamily="34" charset="-120"/>
              </a:rPr>
              <a:t>Reported implied cost: €45.24.</a:t>
            </a:r>
            <a:endParaRPr lang="en-US" sz="1620" dirty="0"/>
          </a:p>
          <a:p>
            <a:pPr indent="0" marL="0">
              <a:buNone/>
            </a:pPr>
            <a:r>
              <a:rPr lang="en-US" sz="1620" dirty="0">
                <a:solidFill>
                  <a:srgbClr val="687782"/>
                </a:solidFill>
                <a:latin typeface="Arial" pitchFamily="34" charset="0"/>
                <a:ea typeface="Arial" pitchFamily="34" charset="-122"/>
                <a:cs typeface="Arial" pitchFamily="34" charset="-120"/>
              </a:rPr>
              <a:t>Not re-costed for this version.</a:t>
            </a:r>
            <a:endParaRPr lang="en-US" sz="1620" dirty="0"/>
          </a:p>
        </p:txBody>
      </p:sp>
      <p:sp>
        <p:nvSpPr>
          <p:cNvPr id="27" name="Text 25"/>
          <p:cNvSpPr/>
          <p:nvPr/>
        </p:nvSpPr>
        <p:spPr>
          <a:xfrm>
            <a:off x="530352" y="5294376"/>
            <a:ext cx="11128248" cy="512064"/>
          </a:xfrm>
          <a:prstGeom prst="rect">
            <a:avLst/>
          </a:prstGeom>
          <a:noFill/>
          <a:ln/>
        </p:spPr>
        <p:txBody>
          <a:bodyPr wrap="square" lIns="0" tIns="0" rIns="0" bIns="0" rtlCol="0" anchor="ctr">
            <a:normAutofit/>
          </a:bodyPr>
          <a:lstStyle/>
          <a:p>
            <a:pPr indent="0" marL="0">
              <a:buNone/>
            </a:pPr>
            <a:r>
              <a:rPr lang="en-US" sz="1800" dirty="0">
                <a:solidFill>
                  <a:srgbClr val="687782"/>
                </a:solidFill>
                <a:latin typeface="Arial" pitchFamily="34" charset="0"/>
                <a:ea typeface="Arial" pitchFamily="34" charset="-122"/>
                <a:cs typeface="Arial" pitchFamily="34" charset="-120"/>
              </a:rPr>
              <a:t>These are different transaction levels and brand tiers, not a like-for-like net-price comparison.</a:t>
            </a:r>
            <a:endParaRPr lang="en-US" sz="1800" dirty="0"/>
          </a:p>
        </p:txBody>
      </p:sp>
      <p:sp>
        <p:nvSpPr>
          <p:cNvPr id="28" name="Shape 26"/>
          <p:cNvSpPr/>
          <p:nvPr/>
        </p:nvSpPr>
        <p:spPr>
          <a:xfrm>
            <a:off x="530352" y="5870448"/>
            <a:ext cx="41148" cy="393192"/>
          </a:xfrm>
          <a:prstGeom prst="rect">
            <a:avLst/>
          </a:prstGeom>
          <a:solidFill>
            <a:srgbClr val="ED0016"/>
          </a:solidFill>
          <a:ln w="12700">
            <a:solidFill>
              <a:srgbClr val="ED0016"/>
            </a:solidFill>
            <a:prstDash val="solid"/>
          </a:ln>
        </p:spPr>
      </p:sp>
      <p:sp>
        <p:nvSpPr>
          <p:cNvPr id="29" name="Text 27"/>
          <p:cNvSpPr/>
          <p:nvPr/>
        </p:nvSpPr>
        <p:spPr>
          <a:xfrm>
            <a:off x="713232" y="5861304"/>
            <a:ext cx="10908792" cy="438912"/>
          </a:xfrm>
          <a:prstGeom prst="rect">
            <a:avLst/>
          </a:prstGeom>
          <a:noFill/>
          <a:ln/>
        </p:spPr>
        <p:txBody>
          <a:bodyPr wrap="square" lIns="0" tIns="0" rIns="0" bIns="0" rtlCol="0" anchor="ctr">
            <a:normAutofit/>
          </a:bodyPr>
          <a:lstStyle/>
          <a:p>
            <a:pPr indent="0" marL="0">
              <a:buNone/>
            </a:pPr>
            <a:r>
              <a:rPr lang="en-US" sz="1900" b="1" dirty="0">
                <a:solidFill>
                  <a:srgbClr val="17232C"/>
                </a:solidFill>
                <a:latin typeface="Arial" pitchFamily="34" charset="0"/>
                <a:ea typeface="Arial" pitchFamily="34" charset="-122"/>
                <a:cs typeface="Arial" pitchFamily="34" charset="-120"/>
              </a:rPr>
              <a:t>Choose a comparable offer and check distributor room before deciding our price.</a:t>
            </a:r>
            <a:endParaRPr lang="en-US" sz="1900" dirty="0"/>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v12/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v12/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v12/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v12/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v12/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v12/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v12/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v12/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v12/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v12/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v12/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 is the ISZE parts-classification and commercial-analysis framework created internally by management. This is not a new supplier price class. The diagram uses selected part identities to show the link between a system or family, a part type and a specific part number. It is a conceptual commercial view, not a reproduction of every hierarchy level and not a claim that the parts are interchangeable.
The air-cleaner example is explicitly established in the AIM Master: 8980913940, FILTER; ACL, belongs to Filters / Air filter and catalogue figure 1-30 Air Cleaner. The front pad kit and rear lamp kit are selected examples in the Pricing Master. The display does not assign a market score or margin to any of these part numbers.
The achievement is commercial visibility: pricing and sales reviews can identify the relevant products rather than depend only on a supplier class letter. Category membership alone does not prove a competitive price, a technical match or a volume opportunity.
[Sources]
- AIM Master: ISZE_AIM_Classification_Paper.html, supplied in this conversation. Sections 4, 5, 8 and 10. As of 18 September 2026. Identity is live; per-part, per-market commercial scoring is the next step; physical attributes are deferred. The Master is the source, not an independently re-run data verification.
- Pricing Master: PRICING_ANSWERS_FOR_FEEDBACK_2026-09-19.md, internal working document supplied by management. Specific sections cited below. Its underlying correspondence and data files were not independently reopened here. Part 1, worked brake examples; Part 2, targeted rear-lamp examples.
- Management briefing in this conversation, 19 September 2026: replace price classes; no universal 8% limit; give distributors room without unnecessary discounts; objective is to win and retain the maintenance relationship and supply more of the parts used within it.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v12/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approved AIM design separates two questions: Axis A identifies what the part is and where it sits on the vehicle. Axis B is a commercial assessment beside that identity, per part per market. The AIM Master says Axis A is live, Axis B scoring is the next step, and additional attributes such as size, position and duty remain deferred. This slide preserves that status.
The right-hand decisions illustrate the proposed policy. We are not asserting that all part numbers have been automatically scored or have current competitive quotations. Classification enables selection and analysis; pricing still requires evidence and approval. The local repair-economics input follows management's insurance and maintenance cases, not a claim that this field is already populated in AIM.
A missing competitor quotation must not be read as proof of no alternative. Reductions, holds and increases require a comparable product and transaction level, actual ISZE cost and a net-margin check. Adding physical attributes is not an approval request in this deck.
[Sources]
- AIM Master: ISZE_AIM_Classification_Paper.html, supplied in this conversation. Sections 4, 5, 8 and 10. As of 18 September 2026. Identity is live; per-part, per-market commercial scoring is the next step; physical attributes are deferred. The Master is the source, not an independently re-run data verification.
- Management briefing in this conversation, 19 September 2026: replace price classes; no universal 8% limit; give distributors room without unnecessary discounts; objective is to win and retain the maintenance relationship and supply more of the parts used within it.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v12/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opportunity management wants to pursue: repeated safety inspections create occasions to identify necessary repair work and plan maintenance, and competitive parts pricing can help ITUK and its dealers win more of that business. It is not a hypothesis that operators must buy genuine parts.
External verification: the official Driver and Vehicle Standards Agency guide gives a normal safety-inspection range of 4 to 13 weeks, depending on operating conditions, and distinguishes inspections from routine servicing. Operators may conduct work in-house or contract it out; roadworthiness obligations do not automatically bring trucks into an Isuzu dealer. Do not multiply every inspection by a full service-parts basket.
The four pictograms are a conceptual cycle, not an estimated count of workshop visits or parts orders. Only replace what is necessary. ITUK is the truck distributor; the IUK light-commercial network is excluded. The commercial response is proposed by management, not claimed as a legal consequence or observed sales uplift.
[Sources]
- Driver and Vehicle Standards Agency, Guide to maintaining roadworthiness: commercial goods and passenger carrying vehicles, sections 4 and 5, official guidance accessed 19 September 2026: https://www.gov.uk/government/publications/guide-to-maintaining-roadworthiness/guide-to-maintaining-roadworthiness-commercial-goods-and-passenger-carrying-vehicles
- UK Government, Being a goods vehicle operator: Maintaining your vehicles, accessed 19 September 2026: https://www.gov.uk/being-a-goods-vehicle-operator/maintaining-your-vehicles
- Management briefing in this conversation, 19 September 2026: replace price classes; no universal 8% limit; give distributors room without unnecessary discounts; objective is to win and retain the maintenance relationship and supply more of the parts used within it.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v12/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 explicitly confirmed this strategic objective: improve the chances that the network wins and retains the operator's maintenance business, and supplies more of the parts used within it. The purpose is wider than increasing pad-kit volume.
The proposed sequence runs through the distribution chain. A targeted ISZE price gives ITUK commercial room. ITUK can support its dealers. The dealer can make a competitive and credible offer to the operator. If the network wins and retains the account and supplies more genuine parts within the work, that can lead to additional and repeated distributor orders from ISZE. None of those steps is automatic.
There are two ways to pursue the opportunity: win additional maintenance relationships, and increase genuine-parts participation within accounts already maintained by the network. Select parts or packages that influence the offer; keep prices firm where further support is unnecessary. Availability, fitment and execution remain essential. No downstream resale price is prescribed.
Workshop labour and vehicle sales are not ISZE parts turnover. Repeat purchases, net parts billed, sales to dealer where available, stock and gross-profit euros should establish whether the action developed lasting business rather than a first stocking order.
[Sources]
- Management briefing in this conversation, 19 September 2026: replace price classes; no universal 8% limit; give distributors room without unnecessary discounts; objective is to win and retain the maintenance relationship and supply more of the parts used within it.
- ISZE business context, sections 1 and 4; operations caveats, section 6.6: distributor purchases and end-customer demand are distinct.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v12/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 reports concerns that high collision-parts costs can make repairs less attractive to insurers and increase the insurance burden on vehicle owners. Management wants flexibility where retaining a standard component margin would put the complete genuine-parts repair order at risk. The slide therefore centres on repair-package competitiveness and the parts order, not simply a lamp discount.
This is a reported commercial risk, not a measured ISZE lost-sales result. The Pricing Master explicitly says the total-loss clause applicable to vehicles above 3.5 tonnes has not been established and no repair actually lost because of the parts price is recorded. No specific total-loss percentage is shown or applied to UTI trucks. The situation is described as local insurance and repair economics, not legislation unique to Israel compared with all European countries.
A modest blanket reduction on lamp lines may not materially change the whole quotation. Select the items or package that matter; examine the actual quote and the ISZE net margin. A list change, specific distributor support or a conditional arrangement are options, not approved instruments in this deck. If a concession does not change the relevant quotation, it does not necessarily change the repair decision.
The 2018 insurer-payment arrangement remains a reported, unverified precedent in the supporting research; this slide does not approve a 50:50 payment or assert Japan support. The battery case on the next slide is a separate management-reported analogy. UTI and UMI remain separate. No gross-profit estimate from a downstream repair-package value has been carried into this slide.
[Sources]
- Pricing Master: PRICING_ANSWERS_FOR_FEEDBACK_2026-09-19.md, internal working document supplied by management. Specific sections cited below. Its underlying correspondence and data files were not independently reopened here. Part 2, Israel insurance flexibility and collision pricing, including limitations and proposed instruments.
- Management briefing in this conversation, 19 September 2026: replace price classes; no universal 8% limit; give distributors room without unnecessary discounts; objective is to win and retain the maintenance relationship and supply more of the parts used within it.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v12/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 stated in this conversation that the battery was very expensive and its price was reduced to a 1% margin to address insurance amounts for the battery-electric vehicle. This is an existing precedent as reported by management, not a margin independently recomputed from purchasing and selling records.
The model, market, effective decision date, whose margin the 1% represents, and the precise cost basis have not been supplied. Those items should be confirmed before the percentage is used as a formal approved financial benchmark. No insurer premium reduction, sales uplift or saved repair is quantified here. The number is attributed as management-reported on the slide.
The principle is to consider the wider commercial objective and the total contribution at stake before insisting on the normal percentage margin on an individual component. This is not an argument to price all batteries, lamps or strategic components at 1%, and it does not prove the same adjustment will solve the Israel case.
[Sources]
- Management briefing in this conversation, 19 September 2026: replace price classes; no universal 8% limit; give distributors room without unnecessary discounts; objective is to win and retain the maintenance relationship and supply more of the parts used within it.
- Management statement in this conversation: replacement battery price reduced to 1% margin in response to insurance-cost concerns. Model, market, decision date and cost basis are still unspecified.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v12/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1.2 replaces the earlier appendix claim that no recorded complaint names part 8982447940. The later Pricing Master contains a specifically named ITUK support proposal: its live brake-case section says a distributor pack identifies N35 kit 8982169220 and N75 kit 8982447940, but leaves requested prices and volume commitments incomplete. A named proposal does not establish that a new price has been approved or that its expected result has been measured. The earlier assessment was a hold instruction, not an approved cut. These evidence levels remain distinct.
For Israel, confirm the applicable insurance clause for heavier trucks and obtain an actual quotation at risk before quantifying sales saved. Do not apply the light-vehicle threshold to UTI heavy trucks. Confirm the effect of support on the quotation rather than assume full downstream price transmission.
For the battery case, management supplied the 1% margin but not its accounting basis or model and market. No effect on premiums or sales is established.
The classification is live at the identity level. The commercial score is still to be completed, and physical attributes are deferred. This appendix contains the practical checks for case approval, not a proposal to build new dashboards or systems.
[Sources]
- Pricing Master: PRICING_ANSWERS_FOR_FEEDBACK_2026-09-19.md, internal working document supplied by management. Specific sections cited below. Its underlying correspondence and data files were not independently reopened here. Part 4, The live ITUK brake case; Part 2, unverified insurance exposure.
- AIM Master: ISZE_AIM_Classification_Paper.html, supplied in this conversation. Sections 4, 5, 8 and 10. As of 18 September 2026. Identity is live; per-part, per-market commercial scoring is the next step; physical attributes are deferred. The Master is the source, not an independently re-run data verification.
- Management briefing in this conversation, 19 September 2026: replace price classes; no universal 8% limit; give distributors room without unnecessary discounts; objective is to win and retain the maintenance relationship and supply more of the parts used within it.
- Driver and Vehicle Standards Agency, Guide to maintaining roadworthiness: commercial goods and passenger carrying vehicles, sections 4 and 5, official guidance accessed 19 September 2026: https://www.gov.uk/government/publications/guide-to-maintaining-roadworthiness/guide-to-maintaining-roadworthiness-commercial-goods-and-passenger-carrying-vehicles
- UK Government, Being a goods vehicle operator: Maintaining your vehicles, accessed 19 September 2026: https://www.gov.uk/being-a-goods-vehicle-operator/maintaining-your-vehicles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v12/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 is approval of the policy and a defined first application, with final part prices released separately. Management has already instructed that price classes are replaced as the automatic selling-margin rule and there is no universal 8% ceiling. Those are not reopened as questions.
AIM identity is live; per-part, per-market scoring is a subsequent step and the physical-attribute work is deferred. Final price decisions must use actual net revenue after relevant support and the appropriate cost basis.
The Pricing Master notes a conflict in source scope: the configuration says the announced 178.5 JPY/EUR rate applies to both Japan and Thailand while the described overlay applies it to Japan only. This deck's exchange illustration is Japan-specific and makes no Thailand-rate assertion. The applicable period remains 172.6 JPY/EUR for April to September 2026; 178.5 JPY/EUR is announced for October 2026 to March 2027, not already in force on 19 September.
Class T remains deliberately deferred: a configured 20% margin and a median 40% margin in the issued 2026 Price Master are different bases. The existing-price instruction is retained. No universal eight-class range is claimed. This version does not resolve that discrepancy.
Japan's revised 32.7% purchasing discount is a management-supplied value recorded in the configuration. The supplier mail establishes the effective change date, but the underlying attached schedule has not been independently reopened by the supplied research. Do not describe that margin as audited against the original attachment.
[Sources]
- Pricing Master: PRICING_ANSWERS_FOR_FEEDBACK_2026-09-19.md, internal working document supplied by management. Specific sections cited below. Its underlying correspondence and data files were not independently reopened here. Part 1, purchase terms, exchange-rate source scope and Class T; appendix disagreements.
- AIM Master: ISZE_AIM_Classification_Paper.html, supplied in this conversation. Sections 4, 5, 8 and 10. As of 18 September 2026. Identity is live; per-part, per-market commercial scoring is the next step; physical attributes are deferred. The Master is the source, not an independently re-run data verification.
- Management briefing in this conversation, 19 September 2026: replace price classes; no universal 8% limit; give distributors room without unnecessary discounts; objective is to win and retain the maintenance relationship and supply more of the parts used within it.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v12/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v12/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v12/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v12/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v12/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v12/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v12/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v12/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v12/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v12/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v12/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v12/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v12/slides/slide1.xml><?xml version="1.0" encoding="utf-8"?>
<p:sld xmlns:a="http://schemas.openxmlformats.org/drawingml/2006/main" xmlns:r="http://schemas.openxmlformats.org/officeDocument/2006/relationships" xmlns:p="http://schemas.openxmlformats.org/presentationml/2006/main">
  <p:cSld name="Version 1.2 - 08">
    <p:bg>
      <p:bgPr>
        <a:solidFill>
          <a:srgbClr val="FFFFFF"/>
        </a:solidFill>
      </p:bgPr>
    </p:bg>
    <p:spTree>
      <p:nvGrpSpPr>
        <p:cNvPr id="1" name=""/>
        <p:cNvGrpSpPr/>
        <p:nvPr/>
      </p:nvGrpSpPr>
      <p:grpSpPr>
        <a:xfrm>
          <a:off x="0" y="0"/>
          <a:ext cx="0" cy="0"/>
          <a:chOff x="0" y="0"/>
          <a:chExt cx="0" cy="0"/>
        </a:xfrm>
      </p:grpSpPr>
      <p:sp>
        <p:nvSpPr>
          <p:cNvPr id="2" name="text_1"/>
          <p:cNvSpPr/>
          <p:nvPr/>
        </p:nvSpPr>
        <p:spPr>
          <a:xfrm>
            <a:off x="530352" y="301752"/>
            <a:ext cx="1115568" cy="320040"/>
          </a:xfrm>
          <a:prstGeom prst="rect">
            <a:avLst/>
          </a:prstGeom>
          <a:noFill/>
          <a:ln/>
        </p:spPr>
        <p:txBody>
          <a:bodyPr wrap="square" lIns="0" tIns="0" rIns="0" bIns="0" rtlCol="0" anchor="ctr"/>
          <a:lstStyle/>
          <a:p>
            <a:pPr algn="l"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_2"/>
          <p:cNvSpPr/>
          <p:nvPr/>
        </p:nvSpPr>
        <p:spPr>
          <a:xfrm>
            <a:off x="1828800" y="365760"/>
            <a:ext cx="8686800" cy="228600"/>
          </a:xfrm>
          <a:prstGeom prst="rect">
            <a:avLst/>
          </a:prstGeom>
          <a:noFill/>
          <a:ln/>
        </p:spPr>
        <p:txBody>
          <a:bodyPr wrap="square" lIns="0" tIns="0" rIns="0" bIns="0" rtlCol="0" anchor="ctr"/>
          <a:lstStyle/>
          <a:p>
            <a:pPr algn="l" indent="0" marL="0">
              <a:buNone/>
            </a:pPr>
            <a:r>
              <a:rPr lang="en-US" sz="1050" b="1" spc="140" kern="0" dirty="0">
                <a:solidFill>
                  <a:srgbClr val="687782"/>
                </a:solidFill>
                <a:latin typeface="Arial" pitchFamily="34" charset="0"/>
                <a:ea typeface="Arial" pitchFamily="34" charset="-122"/>
                <a:cs typeface="Arial" pitchFamily="34" charset="-120"/>
              </a:rPr>
              <a:t>AIM - THE PARTS-CLASSIFICATION FRAMEWORK</a:t>
            </a:r>
            <a:endParaRPr lang="en-US" sz="1050" dirty="0"/>
          </a:p>
        </p:txBody>
      </p:sp>
      <p:sp>
        <p:nvSpPr>
          <p:cNvPr id="4" name="text_3"/>
          <p:cNvSpPr/>
          <p:nvPr/>
        </p:nvSpPr>
        <p:spPr>
          <a:xfrm>
            <a:off x="530352" y="905256"/>
            <a:ext cx="11128248" cy="786384"/>
          </a:xfrm>
          <a:prstGeom prst="rect">
            <a:avLst/>
          </a:prstGeom>
          <a:noFill/>
          <a:ln/>
        </p:spPr>
        <p:txBody>
          <a:bodyPr wrap="square" lIns="0" tIns="0" rIns="0" bIns="0" rtlCol="0" anchor="ctr"/>
          <a:lstStyle/>
          <a:p>
            <a:pPr algn="l" indent="0" marL="0">
              <a:buNone/>
            </a:pPr>
            <a:r>
              <a:rPr lang="en-US" sz="3100" b="1" dirty="0">
                <a:solidFill>
                  <a:srgbClr val="17232C"/>
                </a:solidFill>
                <a:latin typeface="Arial" pitchFamily="34" charset="0"/>
                <a:ea typeface="Arial" pitchFamily="34" charset="-122"/>
                <a:cs typeface="Arial" pitchFamily="34" charset="-120"/>
              </a:rPr>
              <a:t>AIM makes the parts range commercially visible.</a:t>
            </a:r>
            <a:endParaRPr lang="en-US" sz="3100" dirty="0"/>
          </a:p>
        </p:txBody>
      </p:sp>
      <p:sp>
        <p:nvSpPr>
          <p:cNvPr id="5" name="line_4"/>
          <p:cNvSpPr/>
          <p:nvPr/>
        </p:nvSpPr>
        <p:spPr>
          <a:xfrm>
            <a:off x="530352" y="6373368"/>
            <a:ext cx="11128248" cy="0"/>
          </a:xfrm>
          <a:prstGeom prst="line">
            <a:avLst/>
          </a:prstGeom>
          <a:noFill/>
          <a:ln w="7620">
            <a:solidFill>
              <a:srgbClr val="DDE3E7"/>
            </a:solidFill>
            <a:prstDash val="solid"/>
          </a:ln>
        </p:spPr>
      </p:sp>
      <p:sp>
        <p:nvSpPr>
          <p:cNvPr id="6" name="text_5"/>
          <p:cNvSpPr/>
          <p:nvPr/>
        </p:nvSpPr>
        <p:spPr>
          <a:xfrm>
            <a:off x="530352" y="6469380"/>
            <a:ext cx="10012680" cy="228600"/>
          </a:xfrm>
          <a:prstGeom prst="rect">
            <a:avLst/>
          </a:prstGeom>
          <a:noFill/>
          <a:ln/>
        </p:spPr>
        <p:txBody>
          <a:bodyPr wrap="square" lIns="0" tIns="0" rIns="0" bIns="0" rtlCol="0" anchor="ctr"/>
          <a:lstStyle/>
          <a:p>
            <a:pPr algn="l" indent="0" marL="0">
              <a:buNone/>
            </a:pPr>
            <a:r>
              <a:rPr lang="en-US" sz="900" dirty="0">
                <a:solidFill>
                  <a:srgbClr val="687782"/>
                </a:solidFill>
                <a:latin typeface="Arial" pitchFamily="34" charset="0"/>
                <a:ea typeface="Arial" pitchFamily="34" charset="-122"/>
                <a:cs typeface="Arial" pitchFamily="34" charset="-120"/>
              </a:rPr>
              <a:t>Source: AIM Master and Pricing Master. Selected identity examples; not an interchangeability or fitment diagram.</a:t>
            </a:r>
            <a:endParaRPr lang="en-US" sz="900" dirty="0"/>
          </a:p>
        </p:txBody>
      </p:sp>
      <p:sp>
        <p:nvSpPr>
          <p:cNvPr id="7" name="text_6"/>
          <p:cNvSpPr/>
          <p:nvPr/>
        </p:nvSpPr>
        <p:spPr>
          <a:xfrm>
            <a:off x="10744200" y="6464808"/>
            <a:ext cx="914400" cy="228600"/>
          </a:xfrm>
          <a:prstGeom prst="rect">
            <a:avLst/>
          </a:prstGeom>
          <a:noFill/>
          <a:ln/>
        </p:spPr>
        <p:txBody>
          <a:bodyPr wrap="square" lIns="0" tIns="0" rIns="0" bIns="0" rtlCol="0" anchor="ctr"/>
          <a:lstStyle/>
          <a:p>
            <a:pPr algn="r" indent="0" marL="0">
              <a:buNone/>
            </a:pPr>
            <a:r>
              <a:rPr lang="en-US" sz="940" dirty="0">
                <a:solidFill>
                  <a:srgbClr val="687782"/>
                </a:solidFill>
                <a:latin typeface="Arial" pitchFamily="34" charset="0"/>
                <a:ea typeface="Arial" pitchFamily="34" charset="-122"/>
                <a:cs typeface="Arial" pitchFamily="34" charset="-120"/>
              </a:rPr>
              <a:t>v1.2  |  08</a:t>
            </a:r>
            <a:endParaRPr lang="en-US" sz="940" dirty="0"/>
          </a:p>
        </p:txBody>
      </p:sp>
      <p:sp>
        <p:nvSpPr>
          <p:cNvPr id="8" name="text_7"/>
          <p:cNvSpPr/>
          <p:nvPr/>
        </p:nvSpPr>
        <p:spPr>
          <a:xfrm>
            <a:off x="530352" y="1755648"/>
            <a:ext cx="10881360" cy="347472"/>
          </a:xfrm>
          <a:prstGeom prst="rect">
            <a:avLst/>
          </a:prstGeom>
          <a:noFill/>
          <a:ln/>
        </p:spPr>
        <p:txBody>
          <a:bodyPr wrap="square" lIns="0" tIns="0" rIns="0" bIns="0" rtlCol="0" anchor="ctr"/>
          <a:lstStyle/>
          <a:p>
            <a:pPr algn="l" indent="0" marL="0">
              <a:buNone/>
            </a:pPr>
            <a:r>
              <a:rPr lang="en-US" sz="1750" dirty="0">
                <a:solidFill>
                  <a:srgbClr val="687782"/>
                </a:solidFill>
                <a:latin typeface="Arial" pitchFamily="34" charset="0"/>
                <a:ea typeface="Arial" pitchFamily="34" charset="-122"/>
                <a:cs typeface="Arial" pitchFamily="34" charset="-120"/>
              </a:rPr>
              <a:t>Developed within ISZE: a structure for finding and analysing the right parts.</a:t>
            </a:r>
            <a:endParaRPr lang="en-US" sz="1750" dirty="0"/>
          </a:p>
        </p:txBody>
      </p:sp>
      <p:sp>
        <p:nvSpPr>
          <p:cNvPr id="9" name="rect_8"/>
          <p:cNvSpPr/>
          <p:nvPr/>
        </p:nvSpPr>
        <p:spPr>
          <a:xfrm>
            <a:off x="530352" y="2377440"/>
            <a:ext cx="2331720" cy="2916936"/>
          </a:xfrm>
          <a:prstGeom prst="rect">
            <a:avLst/>
          </a:prstGeom>
          <a:solidFill>
            <a:srgbClr val="17232C"/>
          </a:solidFill>
          <a:ln w="12700">
            <a:solidFill>
              <a:srgbClr val="17232C"/>
            </a:solidFill>
            <a:prstDash val="solid"/>
          </a:ln>
        </p:spPr>
      </p:sp>
      <p:sp>
        <p:nvSpPr>
          <p:cNvPr id="10" name="text_9"/>
          <p:cNvSpPr/>
          <p:nvPr/>
        </p:nvSpPr>
        <p:spPr>
          <a:xfrm>
            <a:off x="804672" y="2651760"/>
            <a:ext cx="1755648" cy="585216"/>
          </a:xfrm>
          <a:prstGeom prst="rect">
            <a:avLst/>
          </a:prstGeom>
          <a:noFill/>
          <a:ln/>
        </p:spPr>
        <p:txBody>
          <a:bodyPr wrap="square" lIns="0" tIns="0" rIns="0" bIns="0" rtlCol="0" anchor="ctr"/>
          <a:lstStyle/>
          <a:p>
            <a:pPr algn="l" indent="0" marL="0">
              <a:buNone/>
            </a:pPr>
            <a:r>
              <a:rPr lang="en-US" sz="4000" b="1" dirty="0">
                <a:solidFill>
                  <a:srgbClr val="FFFFFF"/>
                </a:solidFill>
                <a:latin typeface="Arial" pitchFamily="34" charset="0"/>
                <a:ea typeface="Arial" pitchFamily="34" charset="-122"/>
                <a:cs typeface="Arial" pitchFamily="34" charset="-120"/>
              </a:rPr>
              <a:t>AIM</a:t>
            </a:r>
            <a:endParaRPr lang="en-US" sz="4000" dirty="0"/>
          </a:p>
        </p:txBody>
      </p:sp>
      <p:sp>
        <p:nvSpPr>
          <p:cNvPr id="11" name="text_10"/>
          <p:cNvSpPr/>
          <p:nvPr/>
        </p:nvSpPr>
        <p:spPr>
          <a:xfrm>
            <a:off x="804672" y="3328416"/>
            <a:ext cx="1755648" cy="420624"/>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Master</a:t>
            </a:r>
            <a:endParaRPr lang="en-US" sz="2600" dirty="0"/>
          </a:p>
        </p:txBody>
      </p:sp>
      <p:sp>
        <p:nvSpPr>
          <p:cNvPr id="12" name="line_11"/>
          <p:cNvSpPr/>
          <p:nvPr/>
        </p:nvSpPr>
        <p:spPr>
          <a:xfrm>
            <a:off x="813816" y="4023360"/>
            <a:ext cx="1755648" cy="0"/>
          </a:xfrm>
          <a:prstGeom prst="line">
            <a:avLst/>
          </a:prstGeom>
          <a:noFill/>
          <a:ln w="25400">
            <a:solidFill>
              <a:srgbClr val="ED0016"/>
            </a:solidFill>
            <a:prstDash val="solid"/>
          </a:ln>
        </p:spPr>
      </p:sp>
      <p:sp>
        <p:nvSpPr>
          <p:cNvPr id="13" name="text_12"/>
          <p:cNvSpPr/>
          <p:nvPr/>
        </p:nvSpPr>
        <p:spPr>
          <a:xfrm>
            <a:off x="804672" y="4288536"/>
            <a:ext cx="1755648" cy="694944"/>
          </a:xfrm>
          <a:prstGeom prst="rect">
            <a:avLst/>
          </a:prstGeom>
          <a:noFill/>
          <a:ln/>
        </p:spPr>
        <p:txBody>
          <a:bodyPr wrap="square" lIns="0" tIns="0" rIns="0" bIns="0" rtlCol="0" anchor="ctr"/>
          <a:lstStyle/>
          <a:p>
            <a:pPr algn="l" indent="0" marL="0">
              <a:buNone/>
            </a:pPr>
            <a:r>
              <a:rPr lang="en-US" sz="1850" dirty="0">
                <a:solidFill>
                  <a:srgbClr val="C8D1D7"/>
                </a:solidFill>
                <a:latin typeface="Arial" pitchFamily="34" charset="0"/>
                <a:ea typeface="Arial" pitchFamily="34" charset="-122"/>
                <a:cs typeface="Arial" pitchFamily="34" charset="-120"/>
              </a:rPr>
              <a:t>Part number</a:t>
            </a:r>
            <a:endParaRPr lang="en-US" sz="1850" dirty="0"/>
          </a:p>
          <a:p>
            <a:pPr algn="l" indent="0" marL="0">
              <a:buNone/>
            </a:pPr>
            <a:r>
              <a:rPr lang="en-US" sz="1850" dirty="0">
                <a:solidFill>
                  <a:srgbClr val="C8D1D7"/>
                </a:solidFill>
                <a:latin typeface="Arial" pitchFamily="34" charset="0"/>
                <a:ea typeface="Arial" pitchFamily="34" charset="-122"/>
                <a:cs typeface="Arial" pitchFamily="34" charset="-120"/>
              </a:rPr>
              <a:t>+ functional identity</a:t>
            </a:r>
            <a:endParaRPr lang="en-US" sz="1850" dirty="0"/>
          </a:p>
        </p:txBody>
      </p:sp>
      <p:sp>
        <p:nvSpPr>
          <p:cNvPr id="14" name="text_13"/>
          <p:cNvSpPr/>
          <p:nvPr/>
        </p:nvSpPr>
        <p:spPr>
          <a:xfrm>
            <a:off x="4078224" y="2121408"/>
            <a:ext cx="1554480" cy="201168"/>
          </a:xfrm>
          <a:prstGeom prst="rect">
            <a:avLst/>
          </a:prstGeom>
          <a:noFill/>
          <a:ln/>
        </p:spPr>
        <p:txBody>
          <a:bodyPr wrap="square" lIns="0" tIns="0" rIns="0" bIns="0" rtlCol="0" anchor="ctr"/>
          <a:lstStyle/>
          <a:p>
            <a:pPr algn="l" indent="0" marL="0">
              <a:buNone/>
            </a:pPr>
            <a:r>
              <a:rPr lang="en-US" sz="1080" b="1" spc="100" kern="0" dirty="0">
                <a:solidFill>
                  <a:srgbClr val="687782"/>
                </a:solidFill>
                <a:latin typeface="Arial" pitchFamily="34" charset="0"/>
                <a:ea typeface="Arial" pitchFamily="34" charset="-122"/>
                <a:cs typeface="Arial" pitchFamily="34" charset="-120"/>
              </a:rPr>
              <a:t>SYSTEM</a:t>
            </a:r>
            <a:endParaRPr lang="en-US" sz="1080" dirty="0"/>
          </a:p>
        </p:txBody>
      </p:sp>
      <p:sp>
        <p:nvSpPr>
          <p:cNvPr id="15" name="text_14"/>
          <p:cNvSpPr/>
          <p:nvPr/>
        </p:nvSpPr>
        <p:spPr>
          <a:xfrm>
            <a:off x="6446520" y="2121408"/>
            <a:ext cx="1828800" cy="201168"/>
          </a:xfrm>
          <a:prstGeom prst="rect">
            <a:avLst/>
          </a:prstGeom>
          <a:noFill/>
          <a:ln/>
        </p:spPr>
        <p:txBody>
          <a:bodyPr wrap="square" lIns="0" tIns="0" rIns="0" bIns="0" rtlCol="0" anchor="ctr"/>
          <a:lstStyle/>
          <a:p>
            <a:pPr algn="l" indent="0" marL="0">
              <a:buNone/>
            </a:pPr>
            <a:r>
              <a:rPr lang="en-US" sz="1080" b="1" spc="100" kern="0" dirty="0">
                <a:solidFill>
                  <a:srgbClr val="687782"/>
                </a:solidFill>
                <a:latin typeface="Arial" pitchFamily="34" charset="0"/>
                <a:ea typeface="Arial" pitchFamily="34" charset="-122"/>
                <a:cs typeface="Arial" pitchFamily="34" charset="-120"/>
              </a:rPr>
              <a:t>PART TYPE</a:t>
            </a:r>
            <a:endParaRPr lang="en-US" sz="1080" dirty="0"/>
          </a:p>
        </p:txBody>
      </p:sp>
      <p:sp>
        <p:nvSpPr>
          <p:cNvPr id="16" name="text_15"/>
          <p:cNvSpPr/>
          <p:nvPr/>
        </p:nvSpPr>
        <p:spPr>
          <a:xfrm>
            <a:off x="9189720" y="2121408"/>
            <a:ext cx="2286000" cy="201168"/>
          </a:xfrm>
          <a:prstGeom prst="rect">
            <a:avLst/>
          </a:prstGeom>
          <a:noFill/>
          <a:ln/>
        </p:spPr>
        <p:txBody>
          <a:bodyPr wrap="square" lIns="0" tIns="0" rIns="0" bIns="0" rtlCol="0" anchor="ctr"/>
          <a:lstStyle/>
          <a:p>
            <a:pPr algn="l" indent="0" marL="0">
              <a:buNone/>
            </a:pPr>
            <a:r>
              <a:rPr lang="en-US" sz="1080" b="1" spc="100" kern="0" dirty="0">
                <a:solidFill>
                  <a:srgbClr val="687782"/>
                </a:solidFill>
                <a:latin typeface="Arial" pitchFamily="34" charset="0"/>
                <a:ea typeface="Arial" pitchFamily="34" charset="-122"/>
                <a:cs typeface="Arial" pitchFamily="34" charset="-120"/>
              </a:rPr>
              <a:t>INDIVIDUAL PART</a:t>
            </a:r>
            <a:endParaRPr lang="en-US" sz="1080" dirty="0"/>
          </a:p>
        </p:txBody>
      </p:sp>
      <p:sp>
        <p:nvSpPr>
          <p:cNvPr id="17" name="line_16"/>
          <p:cNvSpPr/>
          <p:nvPr/>
        </p:nvSpPr>
        <p:spPr>
          <a:xfrm>
            <a:off x="2862072" y="3840480"/>
            <a:ext cx="411480" cy="0"/>
          </a:xfrm>
          <a:prstGeom prst="line">
            <a:avLst/>
          </a:prstGeom>
          <a:noFill/>
          <a:ln w="22860">
            <a:solidFill>
              <a:srgbClr val="ED0016"/>
            </a:solidFill>
            <a:prstDash val="solid"/>
          </a:ln>
        </p:spPr>
      </p:sp>
      <p:sp>
        <p:nvSpPr>
          <p:cNvPr id="18" name="line_17"/>
          <p:cNvSpPr/>
          <p:nvPr/>
        </p:nvSpPr>
        <p:spPr>
          <a:xfrm>
            <a:off x="3273552" y="2816352"/>
            <a:ext cx="0" cy="2039112"/>
          </a:xfrm>
          <a:prstGeom prst="line">
            <a:avLst/>
          </a:prstGeom>
          <a:noFill/>
          <a:ln w="22860">
            <a:solidFill>
              <a:srgbClr val="ED0016"/>
            </a:solidFill>
            <a:prstDash val="solid"/>
          </a:ln>
        </p:spPr>
      </p:sp>
      <p:sp>
        <p:nvSpPr>
          <p:cNvPr id="19" name="line_18"/>
          <p:cNvSpPr/>
          <p:nvPr/>
        </p:nvSpPr>
        <p:spPr>
          <a:xfrm>
            <a:off x="3273552" y="2825496"/>
            <a:ext cx="548640" cy="0"/>
          </a:xfrm>
          <a:prstGeom prst="line">
            <a:avLst/>
          </a:prstGeom>
          <a:noFill/>
          <a:ln w="22860">
            <a:solidFill>
              <a:srgbClr val="ED0016"/>
            </a:solidFill>
            <a:prstDash val="solid"/>
            <a:tailEnd type="triangle"/>
          </a:ln>
        </p:spPr>
      </p:sp>
      <p:sp>
        <p:nvSpPr>
          <p:cNvPr id="20" name="icon_19"/>
          <p:cNvSpPr/>
          <p:nvPr/>
        </p:nvSpPr>
        <p:spPr>
          <a:xfrm>
            <a:off x="4074566" y="2567635"/>
            <a:ext cx="373075" cy="491216"/>
          </a:xfrm>
          <a:prstGeom prst="rect">
            <a:avLst/>
          </a:prstGeom>
          <a:solidFill>
            <a:srgbClr val="FFFFFF">
              <a:alpha val="0"/>
            </a:srgbClr>
          </a:solidFill>
          <a:ln w="25400">
            <a:solidFill>
              <a:srgbClr val="17232C"/>
            </a:solidFill>
            <a:prstDash val="solid"/>
          </a:ln>
        </p:spPr>
      </p:sp>
      <p:sp>
        <p:nvSpPr>
          <p:cNvPr id="21" name="line_20"/>
          <p:cNvSpPr/>
          <p:nvPr/>
        </p:nvSpPr>
        <p:spPr>
          <a:xfrm>
            <a:off x="4136746" y="2629814"/>
            <a:ext cx="0" cy="373075"/>
          </a:xfrm>
          <a:prstGeom prst="line">
            <a:avLst/>
          </a:prstGeom>
          <a:noFill/>
          <a:ln w="19050">
            <a:solidFill>
              <a:srgbClr val="17232C"/>
            </a:solidFill>
            <a:prstDash val="solid"/>
          </a:ln>
        </p:spPr>
      </p:sp>
      <p:sp>
        <p:nvSpPr>
          <p:cNvPr id="22" name="line_21"/>
          <p:cNvSpPr/>
          <p:nvPr/>
        </p:nvSpPr>
        <p:spPr>
          <a:xfrm>
            <a:off x="4198925" y="2629814"/>
            <a:ext cx="0" cy="373075"/>
          </a:xfrm>
          <a:prstGeom prst="line">
            <a:avLst/>
          </a:prstGeom>
          <a:noFill/>
          <a:ln w="19050">
            <a:solidFill>
              <a:srgbClr val="17232C"/>
            </a:solidFill>
            <a:prstDash val="solid"/>
          </a:ln>
        </p:spPr>
      </p:sp>
      <p:sp>
        <p:nvSpPr>
          <p:cNvPr id="23" name="line_22"/>
          <p:cNvSpPr/>
          <p:nvPr/>
        </p:nvSpPr>
        <p:spPr>
          <a:xfrm>
            <a:off x="4261104" y="2629814"/>
            <a:ext cx="0" cy="373075"/>
          </a:xfrm>
          <a:prstGeom prst="line">
            <a:avLst/>
          </a:prstGeom>
          <a:noFill/>
          <a:ln w="19050">
            <a:solidFill>
              <a:srgbClr val="17232C"/>
            </a:solidFill>
            <a:prstDash val="solid"/>
          </a:ln>
        </p:spPr>
      </p:sp>
      <p:sp>
        <p:nvSpPr>
          <p:cNvPr id="24" name="line_23"/>
          <p:cNvSpPr/>
          <p:nvPr/>
        </p:nvSpPr>
        <p:spPr>
          <a:xfrm>
            <a:off x="4323283" y="2629814"/>
            <a:ext cx="0" cy="373075"/>
          </a:xfrm>
          <a:prstGeom prst="line">
            <a:avLst/>
          </a:prstGeom>
          <a:noFill/>
          <a:ln w="19050">
            <a:solidFill>
              <a:srgbClr val="17232C"/>
            </a:solidFill>
            <a:prstDash val="solid"/>
          </a:ln>
        </p:spPr>
      </p:sp>
      <p:sp>
        <p:nvSpPr>
          <p:cNvPr id="25" name="line_24"/>
          <p:cNvSpPr/>
          <p:nvPr/>
        </p:nvSpPr>
        <p:spPr>
          <a:xfrm>
            <a:off x="4385462" y="2629814"/>
            <a:ext cx="0" cy="373075"/>
          </a:xfrm>
          <a:prstGeom prst="line">
            <a:avLst/>
          </a:prstGeom>
          <a:noFill/>
          <a:ln w="19050">
            <a:solidFill>
              <a:srgbClr val="17232C"/>
            </a:solidFill>
            <a:prstDash val="solid"/>
          </a:ln>
        </p:spPr>
      </p:sp>
      <p:sp>
        <p:nvSpPr>
          <p:cNvPr id="26" name="line_25"/>
          <p:cNvSpPr/>
          <p:nvPr/>
        </p:nvSpPr>
        <p:spPr>
          <a:xfrm>
            <a:off x="4074566" y="2691994"/>
            <a:ext cx="373075" cy="0"/>
          </a:xfrm>
          <a:prstGeom prst="line">
            <a:avLst/>
          </a:prstGeom>
          <a:noFill/>
          <a:ln w="25400">
            <a:solidFill>
              <a:srgbClr val="17232C"/>
            </a:solidFill>
            <a:prstDash val="solid"/>
          </a:ln>
        </p:spPr>
      </p:sp>
      <p:sp>
        <p:nvSpPr>
          <p:cNvPr id="27" name="line_26"/>
          <p:cNvSpPr/>
          <p:nvPr/>
        </p:nvSpPr>
        <p:spPr>
          <a:xfrm>
            <a:off x="4074566" y="2940710"/>
            <a:ext cx="373075" cy="0"/>
          </a:xfrm>
          <a:prstGeom prst="line">
            <a:avLst/>
          </a:prstGeom>
          <a:noFill/>
          <a:ln w="25400">
            <a:solidFill>
              <a:srgbClr val="17232C"/>
            </a:solidFill>
            <a:prstDash val="solid"/>
          </a:ln>
        </p:spPr>
      </p:sp>
      <p:sp>
        <p:nvSpPr>
          <p:cNvPr id="28" name="text_27"/>
          <p:cNvSpPr/>
          <p:nvPr/>
        </p:nvSpPr>
        <p:spPr>
          <a:xfrm>
            <a:off x="4727448" y="2633472"/>
            <a:ext cx="1426464" cy="420624"/>
          </a:xfrm>
          <a:prstGeom prst="rect">
            <a:avLst/>
          </a:prstGeom>
          <a:noFill/>
          <a:ln/>
        </p:spPr>
        <p:txBody>
          <a:bodyPr wrap="square" lIns="0" tIns="0" rIns="0" bIns="0" rtlCol="0" anchor="ctr"/>
          <a:lstStyle/>
          <a:p>
            <a:pPr algn="l" indent="0" marL="0">
              <a:buNone/>
            </a:pPr>
            <a:r>
              <a:rPr lang="en-US" sz="2100" b="1" dirty="0">
                <a:solidFill>
                  <a:srgbClr val="17232C"/>
                </a:solidFill>
                <a:latin typeface="Arial" pitchFamily="34" charset="0"/>
                <a:ea typeface="Arial" pitchFamily="34" charset="-122"/>
                <a:cs typeface="Arial" pitchFamily="34" charset="-120"/>
              </a:rPr>
              <a:t>Filters</a:t>
            </a:r>
            <a:endParaRPr lang="en-US" sz="2100" dirty="0"/>
          </a:p>
        </p:txBody>
      </p:sp>
      <p:sp>
        <p:nvSpPr>
          <p:cNvPr id="29" name="line_28"/>
          <p:cNvSpPr/>
          <p:nvPr/>
        </p:nvSpPr>
        <p:spPr>
          <a:xfrm>
            <a:off x="5971032" y="2825496"/>
            <a:ext cx="347472" cy="0"/>
          </a:xfrm>
          <a:prstGeom prst="line">
            <a:avLst/>
          </a:prstGeom>
          <a:noFill/>
          <a:ln w="20320">
            <a:solidFill>
              <a:srgbClr val="DDE3E7"/>
            </a:solidFill>
            <a:prstDash val="solid"/>
            <a:tailEnd type="triangle"/>
          </a:ln>
        </p:spPr>
      </p:sp>
      <p:sp>
        <p:nvSpPr>
          <p:cNvPr id="30" name="text_29"/>
          <p:cNvSpPr/>
          <p:nvPr/>
        </p:nvSpPr>
        <p:spPr>
          <a:xfrm>
            <a:off x="6446520" y="2633472"/>
            <a:ext cx="2029968" cy="420624"/>
          </a:xfrm>
          <a:prstGeom prst="rect">
            <a:avLst/>
          </a:prstGeom>
          <a:noFill/>
          <a:ln/>
        </p:spPr>
        <p:txBody>
          <a:bodyPr wrap="square" lIns="0" tIns="0" rIns="0" bIns="0" rtlCol="0" anchor="ctr"/>
          <a:lstStyle/>
          <a:p>
            <a:pPr algn="l" indent="0" marL="0">
              <a:buNone/>
            </a:pPr>
            <a:r>
              <a:rPr lang="en-US" sz="2000" dirty="0">
                <a:solidFill>
                  <a:srgbClr val="17232C"/>
                </a:solidFill>
                <a:latin typeface="Arial" pitchFamily="34" charset="0"/>
                <a:ea typeface="Arial" pitchFamily="34" charset="-122"/>
                <a:cs typeface="Arial" pitchFamily="34" charset="-120"/>
              </a:rPr>
              <a:t>Air filter</a:t>
            </a:r>
            <a:endParaRPr lang="en-US" sz="2000" dirty="0"/>
          </a:p>
        </p:txBody>
      </p:sp>
      <p:sp>
        <p:nvSpPr>
          <p:cNvPr id="31" name="line_30"/>
          <p:cNvSpPr/>
          <p:nvPr/>
        </p:nvSpPr>
        <p:spPr>
          <a:xfrm>
            <a:off x="8595360" y="2825496"/>
            <a:ext cx="402336" cy="0"/>
          </a:xfrm>
          <a:prstGeom prst="line">
            <a:avLst/>
          </a:prstGeom>
          <a:noFill/>
          <a:ln w="20320">
            <a:solidFill>
              <a:srgbClr val="DDE3E7"/>
            </a:solidFill>
            <a:prstDash val="solid"/>
            <a:tailEnd type="triangle"/>
          </a:ln>
        </p:spPr>
      </p:sp>
      <p:sp>
        <p:nvSpPr>
          <p:cNvPr id="32" name="rect_31"/>
          <p:cNvSpPr/>
          <p:nvPr/>
        </p:nvSpPr>
        <p:spPr>
          <a:xfrm>
            <a:off x="9162288" y="2478024"/>
            <a:ext cx="2487168" cy="694944"/>
          </a:xfrm>
          <a:prstGeom prst="rect">
            <a:avLst/>
          </a:prstGeom>
          <a:solidFill>
            <a:srgbClr val="F0F3F5"/>
          </a:solidFill>
          <a:ln w="12700">
            <a:solidFill>
              <a:srgbClr val="F0F3F5"/>
            </a:solidFill>
            <a:prstDash val="solid"/>
          </a:ln>
        </p:spPr>
      </p:sp>
      <p:sp>
        <p:nvSpPr>
          <p:cNvPr id="33" name="text_32"/>
          <p:cNvSpPr/>
          <p:nvPr/>
        </p:nvSpPr>
        <p:spPr>
          <a:xfrm>
            <a:off x="9354312" y="2633472"/>
            <a:ext cx="2103120" cy="347472"/>
          </a:xfrm>
          <a:prstGeom prst="rect">
            <a:avLst/>
          </a:prstGeom>
          <a:noFill/>
          <a:ln/>
        </p:spPr>
        <p:txBody>
          <a:bodyPr wrap="square" lIns="0" tIns="0" rIns="0" bIns="0" rtlCol="0" anchor="ctr"/>
          <a:lstStyle/>
          <a:p>
            <a:pPr algn="l" indent="0" marL="0">
              <a:buNone/>
            </a:pPr>
            <a:r>
              <a:rPr lang="en-US" sz="2100" b="1" dirty="0">
                <a:solidFill>
                  <a:srgbClr val="17232C"/>
                </a:solidFill>
                <a:latin typeface="Arial" pitchFamily="34" charset="0"/>
                <a:ea typeface="Arial" pitchFamily="34" charset="-122"/>
                <a:cs typeface="Arial" pitchFamily="34" charset="-120"/>
              </a:rPr>
              <a:t>8980913940</a:t>
            </a:r>
            <a:endParaRPr lang="en-US" sz="2100" dirty="0"/>
          </a:p>
        </p:txBody>
      </p:sp>
      <p:sp>
        <p:nvSpPr>
          <p:cNvPr id="34" name="line_33"/>
          <p:cNvSpPr/>
          <p:nvPr/>
        </p:nvSpPr>
        <p:spPr>
          <a:xfrm>
            <a:off x="3931920" y="3346704"/>
            <a:ext cx="7717536" cy="0"/>
          </a:xfrm>
          <a:prstGeom prst="line">
            <a:avLst/>
          </a:prstGeom>
          <a:noFill/>
          <a:ln w="8890">
            <a:solidFill>
              <a:srgbClr val="DDE3E7"/>
            </a:solidFill>
            <a:prstDash val="solid"/>
          </a:ln>
        </p:spPr>
      </p:sp>
      <p:sp>
        <p:nvSpPr>
          <p:cNvPr id="35" name="line_34"/>
          <p:cNvSpPr/>
          <p:nvPr/>
        </p:nvSpPr>
        <p:spPr>
          <a:xfrm>
            <a:off x="3273552" y="3849624"/>
            <a:ext cx="548640" cy="0"/>
          </a:xfrm>
          <a:prstGeom prst="line">
            <a:avLst/>
          </a:prstGeom>
          <a:noFill/>
          <a:ln w="22860">
            <a:solidFill>
              <a:srgbClr val="ED0016"/>
            </a:solidFill>
            <a:prstDash val="solid"/>
            <a:tailEnd type="triangle"/>
          </a:ln>
        </p:spPr>
      </p:sp>
      <p:sp>
        <p:nvSpPr>
          <p:cNvPr id="36" name="icon_35"/>
          <p:cNvSpPr/>
          <p:nvPr/>
        </p:nvSpPr>
        <p:spPr>
          <a:xfrm>
            <a:off x="4024823" y="3616635"/>
            <a:ext cx="447690" cy="447690"/>
          </a:xfrm>
          <a:prstGeom prst="ellipse">
            <a:avLst/>
          </a:prstGeom>
          <a:solidFill>
            <a:srgbClr val="FFFFFF">
              <a:alpha val="0"/>
            </a:srgbClr>
          </a:solidFill>
          <a:ln w="25400">
            <a:solidFill>
              <a:srgbClr val="17232C"/>
            </a:solidFill>
            <a:prstDash val="solid"/>
          </a:ln>
        </p:spPr>
      </p:sp>
      <p:sp>
        <p:nvSpPr>
          <p:cNvPr id="37" name="icon_36"/>
          <p:cNvSpPr/>
          <p:nvPr/>
        </p:nvSpPr>
        <p:spPr>
          <a:xfrm>
            <a:off x="4174053" y="3765865"/>
            <a:ext cx="149230" cy="149230"/>
          </a:xfrm>
          <a:prstGeom prst="ellipse">
            <a:avLst/>
          </a:prstGeom>
          <a:solidFill>
            <a:srgbClr val="FFFFFF">
              <a:alpha val="0"/>
            </a:srgbClr>
          </a:solidFill>
          <a:ln w="25400">
            <a:solidFill>
              <a:srgbClr val="17232C"/>
            </a:solidFill>
            <a:prstDash val="solid"/>
          </a:ln>
        </p:spPr>
      </p:sp>
      <p:sp>
        <p:nvSpPr>
          <p:cNvPr id="38" name="icon_37"/>
          <p:cNvSpPr/>
          <p:nvPr/>
        </p:nvSpPr>
        <p:spPr>
          <a:xfrm>
            <a:off x="4233123" y="3663269"/>
            <a:ext cx="31090" cy="31090"/>
          </a:xfrm>
          <a:prstGeom prst="ellipse">
            <a:avLst/>
          </a:prstGeom>
          <a:solidFill>
            <a:srgbClr val="FFFFFF">
              <a:alpha val="0"/>
            </a:srgbClr>
          </a:solidFill>
          <a:ln w="25400">
            <a:solidFill>
              <a:srgbClr val="17232C"/>
            </a:solidFill>
            <a:prstDash val="solid"/>
          </a:ln>
        </p:spPr>
      </p:sp>
      <p:sp>
        <p:nvSpPr>
          <p:cNvPr id="39" name="icon_38"/>
          <p:cNvSpPr/>
          <p:nvPr/>
        </p:nvSpPr>
        <p:spPr>
          <a:xfrm>
            <a:off x="4071457" y="3824935"/>
            <a:ext cx="31090" cy="31090"/>
          </a:xfrm>
          <a:prstGeom prst="ellipse">
            <a:avLst/>
          </a:prstGeom>
          <a:solidFill>
            <a:srgbClr val="FFFFFF">
              <a:alpha val="0"/>
            </a:srgbClr>
          </a:solidFill>
          <a:ln w="25400">
            <a:solidFill>
              <a:srgbClr val="17232C"/>
            </a:solidFill>
            <a:prstDash val="solid"/>
          </a:ln>
        </p:spPr>
      </p:sp>
      <p:sp>
        <p:nvSpPr>
          <p:cNvPr id="40" name="icon_39"/>
          <p:cNvSpPr/>
          <p:nvPr/>
        </p:nvSpPr>
        <p:spPr>
          <a:xfrm>
            <a:off x="4233123" y="3986601"/>
            <a:ext cx="31090" cy="31090"/>
          </a:xfrm>
          <a:prstGeom prst="ellipse">
            <a:avLst/>
          </a:prstGeom>
          <a:solidFill>
            <a:srgbClr val="FFFFFF">
              <a:alpha val="0"/>
            </a:srgbClr>
          </a:solidFill>
          <a:ln w="25400">
            <a:solidFill>
              <a:srgbClr val="17232C"/>
            </a:solidFill>
            <a:prstDash val="solid"/>
          </a:ln>
        </p:spPr>
      </p:sp>
      <p:sp>
        <p:nvSpPr>
          <p:cNvPr id="41" name="icon_40"/>
          <p:cNvSpPr/>
          <p:nvPr/>
        </p:nvSpPr>
        <p:spPr>
          <a:xfrm>
            <a:off x="4404116" y="3703686"/>
            <a:ext cx="99487" cy="267371"/>
          </a:xfrm>
          <a:prstGeom prst="rect">
            <a:avLst/>
          </a:prstGeom>
          <a:solidFill>
            <a:srgbClr val="FFFFFF">
              <a:alpha val="0"/>
            </a:srgbClr>
          </a:solidFill>
          <a:ln w="25400">
            <a:solidFill>
              <a:srgbClr val="17232C"/>
            </a:solidFill>
            <a:prstDash val="solid"/>
          </a:ln>
        </p:spPr>
      </p:sp>
      <p:sp>
        <p:nvSpPr>
          <p:cNvPr id="42" name="text_41"/>
          <p:cNvSpPr/>
          <p:nvPr/>
        </p:nvSpPr>
        <p:spPr>
          <a:xfrm>
            <a:off x="4727448" y="3657600"/>
            <a:ext cx="1426464" cy="420624"/>
          </a:xfrm>
          <a:prstGeom prst="rect">
            <a:avLst/>
          </a:prstGeom>
          <a:noFill/>
          <a:ln/>
        </p:spPr>
        <p:txBody>
          <a:bodyPr wrap="square" lIns="0" tIns="0" rIns="0" bIns="0" rtlCol="0" anchor="ctr"/>
          <a:lstStyle/>
          <a:p>
            <a:pPr algn="l" indent="0" marL="0">
              <a:buNone/>
            </a:pPr>
            <a:r>
              <a:rPr lang="en-US" sz="2100" b="1" dirty="0">
                <a:solidFill>
                  <a:srgbClr val="17232C"/>
                </a:solidFill>
                <a:latin typeface="Arial" pitchFamily="34" charset="0"/>
                <a:ea typeface="Arial" pitchFamily="34" charset="-122"/>
                <a:cs typeface="Arial" pitchFamily="34" charset="-120"/>
              </a:rPr>
              <a:t>Brakes</a:t>
            </a:r>
            <a:endParaRPr lang="en-US" sz="2100" dirty="0"/>
          </a:p>
        </p:txBody>
      </p:sp>
      <p:sp>
        <p:nvSpPr>
          <p:cNvPr id="43" name="line_42"/>
          <p:cNvSpPr/>
          <p:nvPr/>
        </p:nvSpPr>
        <p:spPr>
          <a:xfrm>
            <a:off x="5971032" y="3849624"/>
            <a:ext cx="347472" cy="0"/>
          </a:xfrm>
          <a:prstGeom prst="line">
            <a:avLst/>
          </a:prstGeom>
          <a:noFill/>
          <a:ln w="20320">
            <a:solidFill>
              <a:srgbClr val="DDE3E7"/>
            </a:solidFill>
            <a:prstDash val="solid"/>
            <a:tailEnd type="triangle"/>
          </a:ln>
        </p:spPr>
      </p:sp>
      <p:sp>
        <p:nvSpPr>
          <p:cNvPr id="44" name="text_43"/>
          <p:cNvSpPr/>
          <p:nvPr/>
        </p:nvSpPr>
        <p:spPr>
          <a:xfrm>
            <a:off x="6446520" y="3657600"/>
            <a:ext cx="2029968" cy="420624"/>
          </a:xfrm>
          <a:prstGeom prst="rect">
            <a:avLst/>
          </a:prstGeom>
          <a:noFill/>
          <a:ln/>
        </p:spPr>
        <p:txBody>
          <a:bodyPr wrap="square" lIns="0" tIns="0" rIns="0" bIns="0" rtlCol="0" anchor="ctr"/>
          <a:lstStyle/>
          <a:p>
            <a:pPr algn="l" indent="0" marL="0">
              <a:buNone/>
            </a:pPr>
            <a:r>
              <a:rPr lang="en-US" sz="2000" dirty="0">
                <a:solidFill>
                  <a:srgbClr val="17232C"/>
                </a:solidFill>
                <a:latin typeface="Arial" pitchFamily="34" charset="0"/>
                <a:ea typeface="Arial" pitchFamily="34" charset="-122"/>
                <a:cs typeface="Arial" pitchFamily="34" charset="-120"/>
              </a:rPr>
              <a:t>Front pad kit</a:t>
            </a:r>
            <a:endParaRPr lang="en-US" sz="2000" dirty="0"/>
          </a:p>
        </p:txBody>
      </p:sp>
      <p:sp>
        <p:nvSpPr>
          <p:cNvPr id="45" name="line_44"/>
          <p:cNvSpPr/>
          <p:nvPr/>
        </p:nvSpPr>
        <p:spPr>
          <a:xfrm>
            <a:off x="8595360" y="3849624"/>
            <a:ext cx="402336" cy="0"/>
          </a:xfrm>
          <a:prstGeom prst="line">
            <a:avLst/>
          </a:prstGeom>
          <a:noFill/>
          <a:ln w="20320">
            <a:solidFill>
              <a:srgbClr val="DDE3E7"/>
            </a:solidFill>
            <a:prstDash val="solid"/>
            <a:tailEnd type="triangle"/>
          </a:ln>
        </p:spPr>
      </p:sp>
      <p:sp>
        <p:nvSpPr>
          <p:cNvPr id="46" name="rect_45"/>
          <p:cNvSpPr/>
          <p:nvPr/>
        </p:nvSpPr>
        <p:spPr>
          <a:xfrm>
            <a:off x="9162288" y="3502152"/>
            <a:ext cx="2487168" cy="694944"/>
          </a:xfrm>
          <a:prstGeom prst="rect">
            <a:avLst/>
          </a:prstGeom>
          <a:solidFill>
            <a:srgbClr val="F0F3F5"/>
          </a:solidFill>
          <a:ln w="12700">
            <a:solidFill>
              <a:srgbClr val="F0F3F5"/>
            </a:solidFill>
            <a:prstDash val="solid"/>
          </a:ln>
        </p:spPr>
      </p:sp>
      <p:sp>
        <p:nvSpPr>
          <p:cNvPr id="47" name="text_46"/>
          <p:cNvSpPr/>
          <p:nvPr/>
        </p:nvSpPr>
        <p:spPr>
          <a:xfrm>
            <a:off x="9354312" y="3657600"/>
            <a:ext cx="2103120" cy="347472"/>
          </a:xfrm>
          <a:prstGeom prst="rect">
            <a:avLst/>
          </a:prstGeom>
          <a:noFill/>
          <a:ln/>
        </p:spPr>
        <p:txBody>
          <a:bodyPr wrap="square" lIns="0" tIns="0" rIns="0" bIns="0" rtlCol="0" anchor="ctr"/>
          <a:lstStyle/>
          <a:p>
            <a:pPr algn="l" indent="0" marL="0">
              <a:buNone/>
            </a:pPr>
            <a:r>
              <a:rPr lang="en-US" sz="2100" b="1" dirty="0">
                <a:solidFill>
                  <a:srgbClr val="17232C"/>
                </a:solidFill>
                <a:latin typeface="Arial" pitchFamily="34" charset="0"/>
                <a:ea typeface="Arial" pitchFamily="34" charset="-122"/>
                <a:cs typeface="Arial" pitchFamily="34" charset="-120"/>
              </a:rPr>
              <a:t>8982447940</a:t>
            </a:r>
            <a:endParaRPr lang="en-US" sz="2100" dirty="0"/>
          </a:p>
        </p:txBody>
      </p:sp>
      <p:sp>
        <p:nvSpPr>
          <p:cNvPr id="48" name="line_47"/>
          <p:cNvSpPr/>
          <p:nvPr/>
        </p:nvSpPr>
        <p:spPr>
          <a:xfrm>
            <a:off x="3931920" y="4370832"/>
            <a:ext cx="7717536" cy="0"/>
          </a:xfrm>
          <a:prstGeom prst="line">
            <a:avLst/>
          </a:prstGeom>
          <a:noFill/>
          <a:ln w="8890">
            <a:solidFill>
              <a:srgbClr val="DDE3E7"/>
            </a:solidFill>
            <a:prstDash val="solid"/>
          </a:ln>
        </p:spPr>
      </p:sp>
      <p:sp>
        <p:nvSpPr>
          <p:cNvPr id="49" name="line_48"/>
          <p:cNvSpPr/>
          <p:nvPr/>
        </p:nvSpPr>
        <p:spPr>
          <a:xfrm>
            <a:off x="3273552" y="4873752"/>
            <a:ext cx="548640" cy="0"/>
          </a:xfrm>
          <a:prstGeom prst="line">
            <a:avLst/>
          </a:prstGeom>
          <a:noFill/>
          <a:ln w="22860">
            <a:solidFill>
              <a:srgbClr val="ED0016"/>
            </a:solidFill>
            <a:prstDash val="solid"/>
            <a:tailEnd type="triangle"/>
          </a:ln>
        </p:spPr>
      </p:sp>
      <p:sp>
        <p:nvSpPr>
          <p:cNvPr id="50" name="icon_49"/>
          <p:cNvSpPr/>
          <p:nvPr/>
        </p:nvSpPr>
        <p:spPr>
          <a:xfrm>
            <a:off x="4024823" y="4671852"/>
            <a:ext cx="292242" cy="373075"/>
          </a:xfrm>
          <a:prstGeom prst="roundRect">
            <a:avLst/>
          </a:prstGeom>
          <a:solidFill>
            <a:srgbClr val="FFFFFF">
              <a:alpha val="0"/>
            </a:srgbClr>
          </a:solidFill>
          <a:ln w="25400">
            <a:solidFill>
              <a:srgbClr val="17232C"/>
            </a:solidFill>
            <a:prstDash val="solid"/>
          </a:ln>
        </p:spPr>
      </p:sp>
      <p:sp>
        <p:nvSpPr>
          <p:cNvPr id="51" name="line_50"/>
          <p:cNvSpPr/>
          <p:nvPr/>
        </p:nvSpPr>
        <p:spPr>
          <a:xfrm>
            <a:off x="4285976" y="4678070"/>
            <a:ext cx="0" cy="360639"/>
          </a:xfrm>
          <a:prstGeom prst="line">
            <a:avLst/>
          </a:prstGeom>
          <a:noFill/>
          <a:ln w="25400">
            <a:solidFill>
              <a:srgbClr val="17232C"/>
            </a:solidFill>
            <a:prstDash val="solid"/>
          </a:ln>
        </p:spPr>
      </p:sp>
      <p:sp>
        <p:nvSpPr>
          <p:cNvPr id="52" name="line_51"/>
          <p:cNvSpPr/>
          <p:nvPr/>
        </p:nvSpPr>
        <p:spPr>
          <a:xfrm flipV="1">
            <a:off x="4385462" y="4671852"/>
            <a:ext cx="167884" cy="49743"/>
          </a:xfrm>
          <a:prstGeom prst="line">
            <a:avLst/>
          </a:prstGeom>
          <a:noFill/>
          <a:ln w="25400">
            <a:solidFill>
              <a:srgbClr val="17232C"/>
            </a:solidFill>
            <a:prstDash val="solid"/>
          </a:ln>
        </p:spPr>
      </p:sp>
      <p:sp>
        <p:nvSpPr>
          <p:cNvPr id="53" name="line_52"/>
          <p:cNvSpPr/>
          <p:nvPr/>
        </p:nvSpPr>
        <p:spPr>
          <a:xfrm>
            <a:off x="4385462" y="4858390"/>
            <a:ext cx="167884" cy="0"/>
          </a:xfrm>
          <a:prstGeom prst="line">
            <a:avLst/>
          </a:prstGeom>
          <a:noFill/>
          <a:ln w="25400">
            <a:solidFill>
              <a:srgbClr val="17232C"/>
            </a:solidFill>
            <a:prstDash val="solid"/>
          </a:ln>
        </p:spPr>
      </p:sp>
      <p:sp>
        <p:nvSpPr>
          <p:cNvPr id="54" name="line_53"/>
          <p:cNvSpPr/>
          <p:nvPr/>
        </p:nvSpPr>
        <p:spPr>
          <a:xfrm>
            <a:off x="4385462" y="4988966"/>
            <a:ext cx="167884" cy="49743"/>
          </a:xfrm>
          <a:prstGeom prst="line">
            <a:avLst/>
          </a:prstGeom>
          <a:noFill/>
          <a:ln w="25400">
            <a:solidFill>
              <a:srgbClr val="17232C"/>
            </a:solidFill>
            <a:prstDash val="solid"/>
          </a:ln>
        </p:spPr>
      </p:sp>
      <p:sp>
        <p:nvSpPr>
          <p:cNvPr id="55" name="text_54"/>
          <p:cNvSpPr/>
          <p:nvPr/>
        </p:nvSpPr>
        <p:spPr>
          <a:xfrm>
            <a:off x="4727448" y="4681728"/>
            <a:ext cx="1426464" cy="420624"/>
          </a:xfrm>
          <a:prstGeom prst="rect">
            <a:avLst/>
          </a:prstGeom>
          <a:noFill/>
          <a:ln/>
        </p:spPr>
        <p:txBody>
          <a:bodyPr wrap="square" lIns="0" tIns="0" rIns="0" bIns="0" rtlCol="0" anchor="ctr"/>
          <a:lstStyle/>
          <a:p>
            <a:pPr algn="l" indent="0" marL="0">
              <a:buNone/>
            </a:pPr>
            <a:r>
              <a:rPr lang="en-US" sz="2100" b="1" dirty="0">
                <a:solidFill>
                  <a:srgbClr val="17232C"/>
                </a:solidFill>
                <a:latin typeface="Arial" pitchFamily="34" charset="0"/>
                <a:ea typeface="Arial" pitchFamily="34" charset="-122"/>
                <a:cs typeface="Arial" pitchFamily="34" charset="-120"/>
              </a:rPr>
              <a:t>Lighting</a:t>
            </a:r>
            <a:endParaRPr lang="en-US" sz="2100" dirty="0"/>
          </a:p>
        </p:txBody>
      </p:sp>
      <p:sp>
        <p:nvSpPr>
          <p:cNvPr id="56" name="line_55"/>
          <p:cNvSpPr/>
          <p:nvPr/>
        </p:nvSpPr>
        <p:spPr>
          <a:xfrm>
            <a:off x="5971032" y="4873752"/>
            <a:ext cx="347472" cy="0"/>
          </a:xfrm>
          <a:prstGeom prst="line">
            <a:avLst/>
          </a:prstGeom>
          <a:noFill/>
          <a:ln w="20320">
            <a:solidFill>
              <a:srgbClr val="DDE3E7"/>
            </a:solidFill>
            <a:prstDash val="solid"/>
            <a:tailEnd type="triangle"/>
          </a:ln>
        </p:spPr>
      </p:sp>
      <p:sp>
        <p:nvSpPr>
          <p:cNvPr id="57" name="text_56"/>
          <p:cNvSpPr/>
          <p:nvPr/>
        </p:nvSpPr>
        <p:spPr>
          <a:xfrm>
            <a:off x="6446520" y="4681728"/>
            <a:ext cx="2029968" cy="420624"/>
          </a:xfrm>
          <a:prstGeom prst="rect">
            <a:avLst/>
          </a:prstGeom>
          <a:noFill/>
          <a:ln/>
        </p:spPr>
        <p:txBody>
          <a:bodyPr wrap="square" lIns="0" tIns="0" rIns="0" bIns="0" rtlCol="0" anchor="ctr"/>
          <a:lstStyle/>
          <a:p>
            <a:pPr algn="l" indent="0" marL="0">
              <a:buNone/>
            </a:pPr>
            <a:r>
              <a:rPr lang="en-US" sz="2000" dirty="0">
                <a:solidFill>
                  <a:srgbClr val="17232C"/>
                </a:solidFill>
                <a:latin typeface="Arial" pitchFamily="34" charset="0"/>
                <a:ea typeface="Arial" pitchFamily="34" charset="-122"/>
                <a:cs typeface="Arial" pitchFamily="34" charset="-120"/>
              </a:rPr>
              <a:t>Rear lamp kit</a:t>
            </a:r>
            <a:endParaRPr lang="en-US" sz="2000" dirty="0"/>
          </a:p>
        </p:txBody>
      </p:sp>
      <p:sp>
        <p:nvSpPr>
          <p:cNvPr id="58" name="line_57"/>
          <p:cNvSpPr/>
          <p:nvPr/>
        </p:nvSpPr>
        <p:spPr>
          <a:xfrm>
            <a:off x="8595360" y="4873752"/>
            <a:ext cx="402336" cy="0"/>
          </a:xfrm>
          <a:prstGeom prst="line">
            <a:avLst/>
          </a:prstGeom>
          <a:noFill/>
          <a:ln w="20320">
            <a:solidFill>
              <a:srgbClr val="DDE3E7"/>
            </a:solidFill>
            <a:prstDash val="solid"/>
            <a:tailEnd type="triangle"/>
          </a:ln>
        </p:spPr>
      </p:sp>
      <p:sp>
        <p:nvSpPr>
          <p:cNvPr id="59" name="rect_58"/>
          <p:cNvSpPr/>
          <p:nvPr/>
        </p:nvSpPr>
        <p:spPr>
          <a:xfrm>
            <a:off x="9162288" y="4526280"/>
            <a:ext cx="2487168" cy="694944"/>
          </a:xfrm>
          <a:prstGeom prst="rect">
            <a:avLst/>
          </a:prstGeom>
          <a:solidFill>
            <a:srgbClr val="F0F3F5"/>
          </a:solidFill>
          <a:ln w="12700">
            <a:solidFill>
              <a:srgbClr val="F0F3F5"/>
            </a:solidFill>
            <a:prstDash val="solid"/>
          </a:ln>
        </p:spPr>
      </p:sp>
      <p:sp>
        <p:nvSpPr>
          <p:cNvPr id="60" name="text_59"/>
          <p:cNvSpPr/>
          <p:nvPr/>
        </p:nvSpPr>
        <p:spPr>
          <a:xfrm>
            <a:off x="9354312" y="4681728"/>
            <a:ext cx="2103120" cy="347472"/>
          </a:xfrm>
          <a:prstGeom prst="rect">
            <a:avLst/>
          </a:prstGeom>
          <a:noFill/>
          <a:ln/>
        </p:spPr>
        <p:txBody>
          <a:bodyPr wrap="square" lIns="0" tIns="0" rIns="0" bIns="0" rtlCol="0" anchor="ctr"/>
          <a:lstStyle/>
          <a:p>
            <a:pPr algn="l" indent="0" marL="0">
              <a:buNone/>
            </a:pPr>
            <a:r>
              <a:rPr lang="en-US" sz="2100" b="1" dirty="0">
                <a:solidFill>
                  <a:srgbClr val="17232C"/>
                </a:solidFill>
                <a:latin typeface="Arial" pitchFamily="34" charset="0"/>
                <a:ea typeface="Arial" pitchFamily="34" charset="-122"/>
                <a:cs typeface="Arial" pitchFamily="34" charset="-120"/>
              </a:rPr>
              <a:t>8972785800</a:t>
            </a:r>
            <a:endParaRPr lang="en-US" sz="2100" dirty="0"/>
          </a:p>
        </p:txBody>
      </p:sp>
      <p:sp>
        <p:nvSpPr>
          <p:cNvPr id="61" name="rect_60"/>
          <p:cNvSpPr/>
          <p:nvPr/>
        </p:nvSpPr>
        <p:spPr>
          <a:xfrm>
            <a:off x="530352" y="5833872"/>
            <a:ext cx="38405" cy="329184"/>
          </a:xfrm>
          <a:prstGeom prst="rect">
            <a:avLst/>
          </a:prstGeom>
          <a:solidFill>
            <a:srgbClr val="ED0016"/>
          </a:solidFill>
          <a:ln w="12700">
            <a:solidFill>
              <a:srgbClr val="ED0016"/>
            </a:solidFill>
            <a:prstDash val="solid"/>
          </a:ln>
        </p:spPr>
      </p:sp>
      <p:sp>
        <p:nvSpPr>
          <p:cNvPr id="62" name="text_61"/>
          <p:cNvSpPr/>
          <p:nvPr/>
        </p:nvSpPr>
        <p:spPr>
          <a:xfrm>
            <a:off x="694944" y="5797296"/>
            <a:ext cx="10963656" cy="475488"/>
          </a:xfrm>
          <a:prstGeom prst="rect">
            <a:avLst/>
          </a:prstGeom>
          <a:noFill/>
          <a:ln/>
        </p:spPr>
        <p:txBody>
          <a:bodyPr wrap="square" lIns="0" tIns="0" rIns="0" bIns="0" rtlCol="0" anchor="ctr"/>
          <a:lstStyle/>
          <a:p>
            <a:pPr algn="l" indent="0" marL="0">
              <a:buNone/>
            </a:pPr>
            <a:r>
              <a:rPr lang="en-US" sz="1920" b="1" dirty="0">
                <a:solidFill>
                  <a:srgbClr val="17232C"/>
                </a:solidFill>
                <a:latin typeface="Arial" pitchFamily="34" charset="0"/>
                <a:ea typeface="Arial" pitchFamily="34" charset="-122"/>
                <a:cs typeface="Arial" pitchFamily="34" charset="-120"/>
              </a:rPr>
              <a:t>Find the relevant parts first. Then decide how they should compete.</a:t>
            </a:r>
            <a:endParaRPr lang="en-US" sz="1920" dirty="0"/>
          </a:p>
        </p:txBody>
      </p:sp>
    </p:spTree>
  </p:cSld>
  <p:clrMapOvr>
    <a:masterClrMapping/>
  </p:clrMapOvr>
  <p:transition spd="fast" advClick="1">
    <p:fade/>
  </p:transition>
</p:sld>
</file>

<file path=ppt/v12/slides/slide2.xml><?xml version="1.0" encoding="utf-8"?>
<p:sld xmlns:a="http://schemas.openxmlformats.org/drawingml/2006/main" xmlns:r="http://schemas.openxmlformats.org/officeDocument/2006/relationships" xmlns:p="http://schemas.openxmlformats.org/presentationml/2006/main">
  <p:cSld name="Version 1.2 - 09">
    <p:bg>
      <p:bgPr>
        <a:solidFill>
          <a:srgbClr val="17232C"/>
        </a:solidFill>
      </p:bgPr>
    </p:bg>
    <p:spTree>
      <p:nvGrpSpPr>
        <p:cNvPr id="1" name=""/>
        <p:cNvGrpSpPr/>
        <p:nvPr/>
      </p:nvGrpSpPr>
      <p:grpSpPr>
        <a:xfrm>
          <a:off x="0" y="0"/>
          <a:ext cx="0" cy="0"/>
          <a:chOff x="0" y="0"/>
          <a:chExt cx="0" cy="0"/>
        </a:xfrm>
      </p:grpSpPr>
      <p:sp>
        <p:nvSpPr>
          <p:cNvPr id="2" name="text_62"/>
          <p:cNvSpPr/>
          <p:nvPr/>
        </p:nvSpPr>
        <p:spPr>
          <a:xfrm>
            <a:off x="530352" y="301752"/>
            <a:ext cx="1115568" cy="320040"/>
          </a:xfrm>
          <a:prstGeom prst="rect">
            <a:avLst/>
          </a:prstGeom>
          <a:noFill/>
          <a:ln/>
        </p:spPr>
        <p:txBody>
          <a:bodyPr wrap="square" lIns="0" tIns="0" rIns="0" bIns="0" rtlCol="0" anchor="ctr"/>
          <a:lstStyle/>
          <a:p>
            <a:pPr algn="l"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_63"/>
          <p:cNvSpPr/>
          <p:nvPr/>
        </p:nvSpPr>
        <p:spPr>
          <a:xfrm>
            <a:off x="1828800" y="365760"/>
            <a:ext cx="8686800" cy="228600"/>
          </a:xfrm>
          <a:prstGeom prst="rect">
            <a:avLst/>
          </a:prstGeom>
          <a:noFill/>
          <a:ln/>
        </p:spPr>
        <p:txBody>
          <a:bodyPr wrap="square" lIns="0" tIns="0" rIns="0" bIns="0" rtlCol="0" anchor="ctr"/>
          <a:lstStyle/>
          <a:p>
            <a:pPr algn="l" indent="0" marL="0">
              <a:buNone/>
            </a:pPr>
            <a:r>
              <a:rPr lang="en-US" sz="1050" b="1" spc="140" kern="0" dirty="0">
                <a:solidFill>
                  <a:srgbClr val="C8D1D7"/>
                </a:solidFill>
                <a:latin typeface="Arial" pitchFamily="34" charset="0"/>
                <a:ea typeface="Arial" pitchFamily="34" charset="-122"/>
                <a:cs typeface="Arial" pitchFamily="34" charset="-120"/>
              </a:rPr>
              <a:t>AIM - FROM IDENTITY TO PRICE</a:t>
            </a:r>
            <a:endParaRPr lang="en-US" sz="1050" dirty="0"/>
          </a:p>
        </p:txBody>
      </p:sp>
      <p:sp>
        <p:nvSpPr>
          <p:cNvPr id="4" name="text_64"/>
          <p:cNvSpPr/>
          <p:nvPr/>
        </p:nvSpPr>
        <p:spPr>
          <a:xfrm>
            <a:off x="530352" y="905256"/>
            <a:ext cx="11128248" cy="786384"/>
          </a:xfrm>
          <a:prstGeom prst="rect">
            <a:avLst/>
          </a:prstGeom>
          <a:noFill/>
          <a:ln/>
        </p:spPr>
        <p:txBody>
          <a:bodyPr wrap="square" lIns="0" tIns="0" rIns="0" bIns="0" rtlCol="0" anchor="ctr"/>
          <a:lstStyle/>
          <a:p>
            <a:pPr algn="l" indent="0" marL="0">
              <a:buNone/>
            </a:pPr>
            <a:r>
              <a:rPr lang="en-US" sz="3100" b="1" dirty="0">
                <a:solidFill>
                  <a:srgbClr val="FFFFFF"/>
                </a:solidFill>
                <a:latin typeface="Arial" pitchFamily="34" charset="0"/>
                <a:ea typeface="Arial" pitchFamily="34" charset="-122"/>
                <a:cs typeface="Arial" pitchFamily="34" charset="-120"/>
              </a:rPr>
              <a:t>Identity is stable. The price decision is market-specific.</a:t>
            </a:r>
            <a:endParaRPr lang="en-US" sz="3100" dirty="0"/>
          </a:p>
        </p:txBody>
      </p:sp>
      <p:sp>
        <p:nvSpPr>
          <p:cNvPr id="5" name="line_65"/>
          <p:cNvSpPr/>
          <p:nvPr/>
        </p:nvSpPr>
        <p:spPr>
          <a:xfrm>
            <a:off x="530352" y="6373368"/>
            <a:ext cx="11128248" cy="0"/>
          </a:xfrm>
          <a:prstGeom prst="line">
            <a:avLst/>
          </a:prstGeom>
          <a:noFill/>
          <a:ln w="7620">
            <a:solidFill>
              <a:srgbClr val="42515D"/>
            </a:solidFill>
            <a:prstDash val="solid"/>
          </a:ln>
        </p:spPr>
      </p:sp>
      <p:sp>
        <p:nvSpPr>
          <p:cNvPr id="6" name="text_66"/>
          <p:cNvSpPr/>
          <p:nvPr/>
        </p:nvSpPr>
        <p:spPr>
          <a:xfrm>
            <a:off x="530352" y="6469380"/>
            <a:ext cx="10012680" cy="228600"/>
          </a:xfrm>
          <a:prstGeom prst="rect">
            <a:avLst/>
          </a:prstGeom>
          <a:noFill/>
          <a:ln/>
        </p:spPr>
        <p:txBody>
          <a:bodyPr wrap="square" lIns="0" tIns="0" rIns="0" bIns="0" rtlCol="0" anchor="ctr"/>
          <a:lstStyle/>
          <a:p>
            <a:pPr algn="l" indent="0" marL="0">
              <a:buNone/>
            </a:pPr>
            <a:r>
              <a:rPr lang="en-US" sz="900" dirty="0">
                <a:solidFill>
                  <a:srgbClr val="AEBBC4"/>
                </a:solidFill>
                <a:latin typeface="Arial" pitchFamily="34" charset="0"/>
                <a:ea typeface="Arial" pitchFamily="34" charset="-122"/>
                <a:cs typeface="Arial" pitchFamily="34" charset="-120"/>
              </a:rPr>
              <a:t>Source: AIM Master. Identity is live; the market-scoring step is not yet complete. Price actions are proposed.</a:t>
            </a:r>
            <a:endParaRPr lang="en-US" sz="900" dirty="0"/>
          </a:p>
        </p:txBody>
      </p:sp>
      <p:sp>
        <p:nvSpPr>
          <p:cNvPr id="7" name="text_67"/>
          <p:cNvSpPr/>
          <p:nvPr/>
        </p:nvSpPr>
        <p:spPr>
          <a:xfrm>
            <a:off x="10744200" y="6464808"/>
            <a:ext cx="914400" cy="228600"/>
          </a:xfrm>
          <a:prstGeom prst="rect">
            <a:avLst/>
          </a:prstGeom>
          <a:noFill/>
          <a:ln/>
        </p:spPr>
        <p:txBody>
          <a:bodyPr wrap="square" lIns="0" tIns="0" rIns="0" bIns="0" rtlCol="0" anchor="ctr"/>
          <a:lstStyle/>
          <a:p>
            <a:pPr algn="r" indent="0" marL="0">
              <a:buNone/>
            </a:pPr>
            <a:r>
              <a:rPr lang="en-US" sz="940" dirty="0">
                <a:solidFill>
                  <a:srgbClr val="C8D1D7"/>
                </a:solidFill>
                <a:latin typeface="Arial" pitchFamily="34" charset="0"/>
                <a:ea typeface="Arial" pitchFamily="34" charset="-122"/>
                <a:cs typeface="Arial" pitchFamily="34" charset="-120"/>
              </a:rPr>
              <a:t>v1.2  |  09</a:t>
            </a:r>
            <a:endParaRPr lang="en-US" sz="940" dirty="0"/>
          </a:p>
        </p:txBody>
      </p:sp>
      <p:sp>
        <p:nvSpPr>
          <p:cNvPr id="8" name="rect_68"/>
          <p:cNvSpPr/>
          <p:nvPr/>
        </p:nvSpPr>
        <p:spPr>
          <a:xfrm>
            <a:off x="530352" y="2221992"/>
            <a:ext cx="3200400" cy="2926080"/>
          </a:xfrm>
          <a:prstGeom prst="rect">
            <a:avLst/>
          </a:prstGeom>
          <a:solidFill>
            <a:srgbClr val="23333E"/>
          </a:solidFill>
          <a:ln w="12700">
            <a:solidFill>
              <a:srgbClr val="23333E"/>
            </a:solidFill>
            <a:prstDash val="solid"/>
          </a:ln>
        </p:spPr>
      </p:sp>
      <p:sp>
        <p:nvSpPr>
          <p:cNvPr id="9" name="rect_69"/>
          <p:cNvSpPr/>
          <p:nvPr/>
        </p:nvSpPr>
        <p:spPr>
          <a:xfrm>
            <a:off x="4242816" y="2221992"/>
            <a:ext cx="4297680" cy="2926080"/>
          </a:xfrm>
          <a:prstGeom prst="rect">
            <a:avLst/>
          </a:prstGeom>
          <a:solidFill>
            <a:srgbClr val="23333E"/>
          </a:solidFill>
          <a:ln w="12700">
            <a:solidFill>
              <a:srgbClr val="23333E"/>
            </a:solidFill>
            <a:prstDash val="solid"/>
          </a:ln>
        </p:spPr>
      </p:sp>
      <p:sp>
        <p:nvSpPr>
          <p:cNvPr id="10" name="icon_70"/>
          <p:cNvSpPr/>
          <p:nvPr/>
        </p:nvSpPr>
        <p:spPr>
          <a:xfrm>
            <a:off x="884773" y="2800899"/>
            <a:ext cx="246979" cy="246979"/>
          </a:xfrm>
          <a:prstGeom prst="rect">
            <a:avLst/>
          </a:prstGeom>
          <a:solidFill>
            <a:srgbClr val="FFFFFF">
              <a:alpha val="0"/>
            </a:srgbClr>
          </a:solidFill>
          <a:ln w="25400">
            <a:solidFill>
              <a:srgbClr val="FFFFFF"/>
            </a:solidFill>
            <a:prstDash val="solid"/>
          </a:ln>
        </p:spPr>
      </p:sp>
      <p:sp>
        <p:nvSpPr>
          <p:cNvPr id="11" name="icon_71"/>
          <p:cNvSpPr/>
          <p:nvPr/>
        </p:nvSpPr>
        <p:spPr>
          <a:xfrm>
            <a:off x="1158453" y="2800899"/>
            <a:ext cx="246979" cy="246979"/>
          </a:xfrm>
          <a:prstGeom prst="rect">
            <a:avLst/>
          </a:prstGeom>
          <a:solidFill>
            <a:srgbClr val="FFFFFF">
              <a:alpha val="0"/>
            </a:srgbClr>
          </a:solidFill>
          <a:ln w="25400">
            <a:solidFill>
              <a:srgbClr val="FFFFFF"/>
            </a:solidFill>
            <a:prstDash val="solid"/>
          </a:ln>
        </p:spPr>
      </p:sp>
      <p:sp>
        <p:nvSpPr>
          <p:cNvPr id="12" name="icon_72"/>
          <p:cNvSpPr/>
          <p:nvPr/>
        </p:nvSpPr>
        <p:spPr>
          <a:xfrm>
            <a:off x="1024951" y="2533894"/>
            <a:ext cx="246979" cy="226954"/>
          </a:xfrm>
          <a:prstGeom prst="rect">
            <a:avLst/>
          </a:prstGeom>
          <a:solidFill>
            <a:srgbClr val="FFFFFF">
              <a:alpha val="0"/>
            </a:srgbClr>
          </a:solidFill>
          <a:ln w="25400">
            <a:solidFill>
              <a:srgbClr val="FFFFFF"/>
            </a:solidFill>
            <a:prstDash val="solid"/>
          </a:ln>
        </p:spPr>
      </p:sp>
      <p:sp>
        <p:nvSpPr>
          <p:cNvPr id="13" name="line_73"/>
          <p:cNvSpPr/>
          <p:nvPr/>
        </p:nvSpPr>
        <p:spPr>
          <a:xfrm>
            <a:off x="1011601" y="2800899"/>
            <a:ext cx="0" cy="120152"/>
          </a:xfrm>
          <a:prstGeom prst="line">
            <a:avLst/>
          </a:prstGeom>
          <a:noFill/>
          <a:ln w="25400">
            <a:solidFill>
              <a:srgbClr val="FFFFFF"/>
            </a:solidFill>
            <a:prstDash val="solid"/>
          </a:ln>
        </p:spPr>
      </p:sp>
      <p:sp>
        <p:nvSpPr>
          <p:cNvPr id="14" name="line_74"/>
          <p:cNvSpPr/>
          <p:nvPr/>
        </p:nvSpPr>
        <p:spPr>
          <a:xfrm>
            <a:off x="1278606" y="2800899"/>
            <a:ext cx="0" cy="120152"/>
          </a:xfrm>
          <a:prstGeom prst="line">
            <a:avLst/>
          </a:prstGeom>
          <a:noFill/>
          <a:ln w="25400">
            <a:solidFill>
              <a:srgbClr val="FFFFFF"/>
            </a:solidFill>
            <a:prstDash val="solid"/>
          </a:ln>
        </p:spPr>
      </p:sp>
      <p:sp>
        <p:nvSpPr>
          <p:cNvPr id="15" name="line_75"/>
          <p:cNvSpPr/>
          <p:nvPr/>
        </p:nvSpPr>
        <p:spPr>
          <a:xfrm>
            <a:off x="1145103" y="2533894"/>
            <a:ext cx="0" cy="120152"/>
          </a:xfrm>
          <a:prstGeom prst="line">
            <a:avLst/>
          </a:prstGeom>
          <a:noFill/>
          <a:ln w="25400">
            <a:solidFill>
              <a:srgbClr val="FFFFFF"/>
            </a:solidFill>
            <a:prstDash val="solid"/>
          </a:ln>
        </p:spPr>
      </p:sp>
      <p:sp>
        <p:nvSpPr>
          <p:cNvPr id="16" name="text_76"/>
          <p:cNvSpPr/>
          <p:nvPr/>
        </p:nvSpPr>
        <p:spPr>
          <a:xfrm>
            <a:off x="1645920" y="2578608"/>
            <a:ext cx="1828800" cy="237744"/>
          </a:xfrm>
          <a:prstGeom prst="rect">
            <a:avLst/>
          </a:prstGeom>
          <a:noFill/>
          <a:ln/>
        </p:spPr>
        <p:txBody>
          <a:bodyPr wrap="square" lIns="0" tIns="0" rIns="0" bIns="0" rtlCol="0" anchor="ctr"/>
          <a:lstStyle/>
          <a:p>
            <a:pPr algn="l" indent="0" marL="0">
              <a:buNone/>
            </a:pPr>
            <a:r>
              <a:rPr lang="en-US" sz="1100" b="1" spc="100" kern="0" dirty="0">
                <a:solidFill>
                  <a:srgbClr val="C8D1D7"/>
                </a:solidFill>
                <a:latin typeface="Arial" pitchFamily="34" charset="0"/>
                <a:ea typeface="Arial" pitchFamily="34" charset="-122"/>
                <a:cs typeface="Arial" pitchFamily="34" charset="-120"/>
              </a:rPr>
              <a:t>WHAT THE PART IS</a:t>
            </a:r>
            <a:endParaRPr lang="en-US" sz="1100" dirty="0"/>
          </a:p>
        </p:txBody>
      </p:sp>
      <p:sp>
        <p:nvSpPr>
          <p:cNvPr id="17" name="text_77"/>
          <p:cNvSpPr/>
          <p:nvPr/>
        </p:nvSpPr>
        <p:spPr>
          <a:xfrm>
            <a:off x="804672" y="3310128"/>
            <a:ext cx="2606040" cy="429768"/>
          </a:xfrm>
          <a:prstGeom prst="rect">
            <a:avLst/>
          </a:prstGeom>
          <a:noFill/>
          <a:ln/>
        </p:spPr>
        <p:txBody>
          <a:bodyPr wrap="square" lIns="0" tIns="0" rIns="0" bIns="0" rtlCol="0" anchor="ctr"/>
          <a:lstStyle/>
          <a:p>
            <a:pPr algn="l" indent="0" marL="0">
              <a:buNone/>
            </a:pPr>
            <a:r>
              <a:rPr lang="en-US" sz="2700" b="1" dirty="0">
                <a:solidFill>
                  <a:srgbClr val="FFFFFF"/>
                </a:solidFill>
                <a:latin typeface="Arial" pitchFamily="34" charset="0"/>
                <a:ea typeface="Arial" pitchFamily="34" charset="-122"/>
                <a:cs typeface="Arial" pitchFamily="34" charset="-120"/>
              </a:rPr>
              <a:t>Part identity</a:t>
            </a:r>
            <a:endParaRPr lang="en-US" sz="2700" dirty="0"/>
          </a:p>
        </p:txBody>
      </p:sp>
      <p:sp>
        <p:nvSpPr>
          <p:cNvPr id="18" name="text_78"/>
          <p:cNvSpPr/>
          <p:nvPr/>
        </p:nvSpPr>
        <p:spPr>
          <a:xfrm>
            <a:off x="804672" y="3922776"/>
            <a:ext cx="2606040" cy="640080"/>
          </a:xfrm>
          <a:prstGeom prst="rect">
            <a:avLst/>
          </a:prstGeom>
          <a:noFill/>
          <a:ln/>
        </p:spPr>
        <p:txBody>
          <a:bodyPr wrap="square" lIns="0" tIns="0" rIns="0" bIns="0" rtlCol="0" anchor="ctr"/>
          <a:lstStyle/>
          <a:p>
            <a:pPr algn="l" indent="0" marL="0">
              <a:buNone/>
            </a:pPr>
            <a:r>
              <a:rPr lang="en-US" sz="2000" dirty="0">
                <a:solidFill>
                  <a:srgbClr val="C8D1D7"/>
                </a:solidFill>
                <a:latin typeface="Arial" pitchFamily="34" charset="0"/>
                <a:ea typeface="Arial" pitchFamily="34" charset="-122"/>
                <a:cs typeface="Arial" pitchFamily="34" charset="-120"/>
              </a:rPr>
              <a:t>What the part is.</a:t>
            </a:r>
            <a:endParaRPr lang="en-US" sz="2000" dirty="0"/>
          </a:p>
          <a:p>
            <a:pPr algn="l" indent="0" marL="0">
              <a:buNone/>
            </a:pPr>
            <a:r>
              <a:rPr lang="en-US" sz="2000" dirty="0">
                <a:solidFill>
                  <a:srgbClr val="C8D1D7"/>
                </a:solidFill>
                <a:latin typeface="Arial" pitchFamily="34" charset="0"/>
                <a:ea typeface="Arial" pitchFamily="34" charset="-122"/>
                <a:cs typeface="Arial" pitchFamily="34" charset="-120"/>
              </a:rPr>
              <a:t>Where it belongs.</a:t>
            </a:r>
            <a:endParaRPr lang="en-US" sz="2000" dirty="0"/>
          </a:p>
        </p:txBody>
      </p:sp>
      <p:sp>
        <p:nvSpPr>
          <p:cNvPr id="19" name="text_79"/>
          <p:cNvSpPr/>
          <p:nvPr/>
        </p:nvSpPr>
        <p:spPr>
          <a:xfrm>
            <a:off x="804672" y="4754880"/>
            <a:ext cx="2514600" cy="219456"/>
          </a:xfrm>
          <a:prstGeom prst="rect">
            <a:avLst/>
          </a:prstGeom>
          <a:noFill/>
          <a:ln/>
        </p:spPr>
        <p:txBody>
          <a:bodyPr wrap="square" lIns="0" tIns="0" rIns="0" bIns="0" rtlCol="0" anchor="ctr"/>
          <a:lstStyle/>
          <a:p>
            <a:pPr algn="l" indent="0" marL="0">
              <a:buNone/>
            </a:pPr>
            <a:r>
              <a:rPr lang="en-US" sz="1050" b="1" spc="100" kern="0" dirty="0">
                <a:solidFill>
                  <a:srgbClr val="C8D1D7"/>
                </a:solidFill>
                <a:latin typeface="Arial" pitchFamily="34" charset="0"/>
                <a:ea typeface="Arial" pitchFamily="34" charset="-122"/>
                <a:cs typeface="Arial" pitchFamily="34" charset="-120"/>
              </a:rPr>
              <a:t>LIVE IN THE MASTER</a:t>
            </a:r>
            <a:endParaRPr lang="en-US" sz="1050" dirty="0"/>
          </a:p>
        </p:txBody>
      </p:sp>
      <p:sp>
        <p:nvSpPr>
          <p:cNvPr id="20" name="icon_80"/>
          <p:cNvSpPr/>
          <p:nvPr/>
        </p:nvSpPr>
        <p:spPr>
          <a:xfrm>
            <a:off x="4642226" y="2751704"/>
            <a:ext cx="453908" cy="300380"/>
          </a:xfrm>
          <a:prstGeom prst="rect">
            <a:avLst/>
          </a:prstGeom>
          <a:solidFill>
            <a:srgbClr val="FFFFFF">
              <a:alpha val="0"/>
            </a:srgbClr>
          </a:solidFill>
          <a:ln w="25400">
            <a:solidFill>
              <a:srgbClr val="FFFFFF"/>
            </a:solidFill>
            <a:prstDash val="solid"/>
          </a:ln>
        </p:spPr>
      </p:sp>
      <p:sp>
        <p:nvSpPr>
          <p:cNvPr id="21" name="line_81"/>
          <p:cNvSpPr/>
          <p:nvPr/>
        </p:nvSpPr>
        <p:spPr>
          <a:xfrm>
            <a:off x="4602175" y="2738354"/>
            <a:ext cx="534010" cy="0"/>
          </a:xfrm>
          <a:prstGeom prst="line">
            <a:avLst/>
          </a:prstGeom>
          <a:noFill/>
          <a:ln w="25400">
            <a:solidFill>
              <a:srgbClr val="FFFFFF"/>
            </a:solidFill>
            <a:prstDash val="solid"/>
          </a:ln>
        </p:spPr>
      </p:sp>
      <p:sp>
        <p:nvSpPr>
          <p:cNvPr id="22" name="line_82"/>
          <p:cNvSpPr/>
          <p:nvPr/>
        </p:nvSpPr>
        <p:spPr>
          <a:xfrm flipV="1">
            <a:off x="4602175" y="2571476"/>
            <a:ext cx="73426" cy="166878"/>
          </a:xfrm>
          <a:prstGeom prst="line">
            <a:avLst/>
          </a:prstGeom>
          <a:noFill/>
          <a:ln w="25400">
            <a:solidFill>
              <a:srgbClr val="FFFFFF"/>
            </a:solidFill>
            <a:prstDash val="solid"/>
          </a:ln>
        </p:spPr>
      </p:sp>
      <p:sp>
        <p:nvSpPr>
          <p:cNvPr id="23" name="line_83"/>
          <p:cNvSpPr/>
          <p:nvPr/>
        </p:nvSpPr>
        <p:spPr>
          <a:xfrm>
            <a:off x="4675602" y="2571476"/>
            <a:ext cx="387157" cy="0"/>
          </a:xfrm>
          <a:prstGeom prst="line">
            <a:avLst/>
          </a:prstGeom>
          <a:noFill/>
          <a:ln w="25400">
            <a:solidFill>
              <a:srgbClr val="FFFFFF"/>
            </a:solidFill>
            <a:prstDash val="solid"/>
          </a:ln>
        </p:spPr>
      </p:sp>
      <p:sp>
        <p:nvSpPr>
          <p:cNvPr id="24" name="line_84"/>
          <p:cNvSpPr/>
          <p:nvPr/>
        </p:nvSpPr>
        <p:spPr>
          <a:xfrm>
            <a:off x="5062758" y="2571476"/>
            <a:ext cx="73426" cy="166878"/>
          </a:xfrm>
          <a:prstGeom prst="line">
            <a:avLst/>
          </a:prstGeom>
          <a:noFill/>
          <a:ln w="25400">
            <a:solidFill>
              <a:srgbClr val="FFFFFF"/>
            </a:solidFill>
            <a:prstDash val="solid"/>
          </a:ln>
        </p:spPr>
      </p:sp>
      <p:sp>
        <p:nvSpPr>
          <p:cNvPr id="25" name="icon_85"/>
          <p:cNvSpPr/>
          <p:nvPr/>
        </p:nvSpPr>
        <p:spPr>
          <a:xfrm>
            <a:off x="4722327" y="2865181"/>
            <a:ext cx="133502" cy="186903"/>
          </a:xfrm>
          <a:prstGeom prst="rect">
            <a:avLst/>
          </a:prstGeom>
          <a:solidFill>
            <a:srgbClr val="FFFFFF">
              <a:alpha val="0"/>
            </a:srgbClr>
          </a:solidFill>
          <a:ln w="25400">
            <a:solidFill>
              <a:srgbClr val="FFFFFF"/>
            </a:solidFill>
            <a:prstDash val="solid"/>
          </a:ln>
        </p:spPr>
      </p:sp>
      <p:sp>
        <p:nvSpPr>
          <p:cNvPr id="26" name="icon_86"/>
          <p:cNvSpPr/>
          <p:nvPr/>
        </p:nvSpPr>
        <p:spPr>
          <a:xfrm>
            <a:off x="4922581" y="2845156"/>
            <a:ext cx="100127" cy="93452"/>
          </a:xfrm>
          <a:prstGeom prst="rect">
            <a:avLst/>
          </a:prstGeom>
          <a:solidFill>
            <a:srgbClr val="FFFFFF">
              <a:alpha val="0"/>
            </a:srgbClr>
          </a:solidFill>
          <a:ln w="25400">
            <a:solidFill>
              <a:srgbClr val="FFFFFF"/>
            </a:solidFill>
            <a:prstDash val="solid"/>
          </a:ln>
        </p:spPr>
      </p:sp>
      <p:sp>
        <p:nvSpPr>
          <p:cNvPr id="27" name="text_87"/>
          <p:cNvSpPr/>
          <p:nvPr/>
        </p:nvSpPr>
        <p:spPr>
          <a:xfrm>
            <a:off x="5376672" y="2578608"/>
            <a:ext cx="2560320" cy="237744"/>
          </a:xfrm>
          <a:prstGeom prst="rect">
            <a:avLst/>
          </a:prstGeom>
          <a:noFill/>
          <a:ln/>
        </p:spPr>
        <p:txBody>
          <a:bodyPr wrap="square" lIns="0" tIns="0" rIns="0" bIns="0" rtlCol="0" anchor="ctr"/>
          <a:lstStyle/>
          <a:p>
            <a:pPr algn="l" indent="0" marL="0">
              <a:buNone/>
            </a:pPr>
            <a:r>
              <a:rPr lang="en-US" sz="1100" b="1" spc="100" kern="0" dirty="0">
                <a:solidFill>
                  <a:srgbClr val="C8D1D7"/>
                </a:solidFill>
                <a:latin typeface="Arial" pitchFamily="34" charset="0"/>
                <a:ea typeface="Arial" pitchFamily="34" charset="-122"/>
                <a:cs typeface="Arial" pitchFamily="34" charset="-120"/>
              </a:rPr>
              <a:t>HOW IT COMPETES</a:t>
            </a:r>
            <a:endParaRPr lang="en-US" sz="1100" dirty="0"/>
          </a:p>
        </p:txBody>
      </p:sp>
      <p:sp>
        <p:nvSpPr>
          <p:cNvPr id="28" name="text_88"/>
          <p:cNvSpPr/>
          <p:nvPr/>
        </p:nvSpPr>
        <p:spPr>
          <a:xfrm>
            <a:off x="4535424" y="3310128"/>
            <a:ext cx="3593592" cy="429768"/>
          </a:xfrm>
          <a:prstGeom prst="rect">
            <a:avLst/>
          </a:prstGeom>
          <a:noFill/>
          <a:ln/>
        </p:spPr>
        <p:txBody>
          <a:bodyPr wrap="square" lIns="0" tIns="0" rIns="0" bIns="0" rtlCol="0" anchor="ctr"/>
          <a:lstStyle/>
          <a:p>
            <a:pPr algn="l" indent="0" marL="0">
              <a:buNone/>
            </a:pPr>
            <a:r>
              <a:rPr lang="en-US" sz="2700" b="1" dirty="0">
                <a:solidFill>
                  <a:srgbClr val="FFFFFF"/>
                </a:solidFill>
                <a:latin typeface="Arial" pitchFamily="34" charset="0"/>
                <a:ea typeface="Arial" pitchFamily="34" charset="-122"/>
                <a:cs typeface="Arial" pitchFamily="34" charset="-120"/>
              </a:rPr>
              <a:t>Part + market</a:t>
            </a:r>
            <a:endParaRPr lang="en-US" sz="2700" dirty="0"/>
          </a:p>
        </p:txBody>
      </p:sp>
      <p:sp>
        <p:nvSpPr>
          <p:cNvPr id="29" name="text_89"/>
          <p:cNvSpPr/>
          <p:nvPr/>
        </p:nvSpPr>
        <p:spPr>
          <a:xfrm>
            <a:off x="4535424" y="3922776"/>
            <a:ext cx="3611880" cy="640080"/>
          </a:xfrm>
          <a:prstGeom prst="rect">
            <a:avLst/>
          </a:prstGeom>
          <a:noFill/>
          <a:ln/>
        </p:spPr>
        <p:txBody>
          <a:bodyPr wrap="square" lIns="0" tIns="0" rIns="0" bIns="0" rtlCol="0" anchor="ctr"/>
          <a:lstStyle/>
          <a:p>
            <a:pPr algn="l" indent="0" marL="0">
              <a:buNone/>
            </a:pPr>
            <a:r>
              <a:rPr lang="en-US" sz="2000" dirty="0">
                <a:solidFill>
                  <a:srgbClr val="C8D1D7"/>
                </a:solidFill>
                <a:latin typeface="Arial" pitchFamily="34" charset="0"/>
                <a:ea typeface="Arial" pitchFamily="34" charset="-122"/>
                <a:cs typeface="Arial" pitchFamily="34" charset="-120"/>
              </a:rPr>
              <a:t>Competing offers.</a:t>
            </a:r>
            <a:endParaRPr lang="en-US" sz="2000" dirty="0"/>
          </a:p>
          <a:p>
            <a:pPr algn="l" indent="0" marL="0">
              <a:buNone/>
            </a:pPr>
            <a:r>
              <a:rPr lang="en-US" sz="2000" dirty="0">
                <a:solidFill>
                  <a:srgbClr val="C8D1D7"/>
                </a:solidFill>
                <a:latin typeface="Arial" pitchFamily="34" charset="0"/>
                <a:ea typeface="Arial" pitchFamily="34" charset="-122"/>
                <a:cs typeface="Arial" pitchFamily="34" charset="-120"/>
              </a:rPr>
              <a:t>Distributor and repair context.</a:t>
            </a:r>
            <a:endParaRPr lang="en-US" sz="2000" dirty="0"/>
          </a:p>
        </p:txBody>
      </p:sp>
      <p:sp>
        <p:nvSpPr>
          <p:cNvPr id="30" name="text_90"/>
          <p:cNvSpPr/>
          <p:nvPr/>
        </p:nvSpPr>
        <p:spPr>
          <a:xfrm>
            <a:off x="4535424" y="4754880"/>
            <a:ext cx="3611880" cy="219456"/>
          </a:xfrm>
          <a:prstGeom prst="rect">
            <a:avLst/>
          </a:prstGeom>
          <a:noFill/>
          <a:ln/>
        </p:spPr>
        <p:txBody>
          <a:bodyPr wrap="square" lIns="0" tIns="0" rIns="0" bIns="0" rtlCol="0" anchor="ctr"/>
          <a:lstStyle/>
          <a:p>
            <a:pPr algn="l" indent="0" marL="0">
              <a:buNone/>
            </a:pPr>
            <a:r>
              <a:rPr lang="en-US" sz="1050" b="1" spc="100" kern="0" dirty="0">
                <a:solidFill>
                  <a:srgbClr val="C8D1D7"/>
                </a:solidFill>
                <a:latin typeface="Arial" pitchFamily="34" charset="0"/>
                <a:ea typeface="Arial" pitchFamily="34" charset="-122"/>
                <a:cs typeface="Arial" pitchFamily="34" charset="-120"/>
              </a:rPr>
              <a:t>SCORING IS THE NEXT STEP</a:t>
            </a:r>
            <a:endParaRPr lang="en-US" sz="1050" dirty="0"/>
          </a:p>
        </p:txBody>
      </p:sp>
      <p:sp>
        <p:nvSpPr>
          <p:cNvPr id="31" name="line_91"/>
          <p:cNvSpPr/>
          <p:nvPr/>
        </p:nvSpPr>
        <p:spPr>
          <a:xfrm>
            <a:off x="3785616" y="3666744"/>
            <a:ext cx="356616" cy="0"/>
          </a:xfrm>
          <a:prstGeom prst="line">
            <a:avLst/>
          </a:prstGeom>
          <a:noFill/>
          <a:ln w="25400">
            <a:solidFill>
              <a:srgbClr val="ED0016"/>
            </a:solidFill>
            <a:prstDash val="solid"/>
            <a:tailEnd type="triangle"/>
          </a:ln>
        </p:spPr>
      </p:sp>
      <p:sp>
        <p:nvSpPr>
          <p:cNvPr id="32" name="line_92"/>
          <p:cNvSpPr/>
          <p:nvPr/>
        </p:nvSpPr>
        <p:spPr>
          <a:xfrm>
            <a:off x="8613648" y="3666744"/>
            <a:ext cx="420624" cy="0"/>
          </a:xfrm>
          <a:prstGeom prst="line">
            <a:avLst/>
          </a:prstGeom>
          <a:noFill/>
          <a:ln w="25400">
            <a:solidFill>
              <a:srgbClr val="ED0016"/>
            </a:solidFill>
            <a:prstDash val="solid"/>
            <a:tailEnd type="triangle"/>
          </a:ln>
        </p:spPr>
      </p:sp>
      <p:sp>
        <p:nvSpPr>
          <p:cNvPr id="33" name="text_93"/>
          <p:cNvSpPr/>
          <p:nvPr/>
        </p:nvSpPr>
        <p:spPr>
          <a:xfrm>
            <a:off x="9162288" y="2386584"/>
            <a:ext cx="2459736" cy="237744"/>
          </a:xfrm>
          <a:prstGeom prst="rect">
            <a:avLst/>
          </a:prstGeom>
          <a:noFill/>
          <a:ln/>
        </p:spPr>
        <p:txBody>
          <a:bodyPr wrap="square" lIns="0" tIns="0" rIns="0" bIns="0" rtlCol="0" anchor="ctr"/>
          <a:lstStyle/>
          <a:p>
            <a:pPr algn="l" indent="0" marL="0">
              <a:buNone/>
            </a:pPr>
            <a:r>
              <a:rPr lang="en-US" sz="1100" b="1" spc="100" kern="0" dirty="0">
                <a:solidFill>
                  <a:srgbClr val="C8D1D7"/>
                </a:solidFill>
                <a:latin typeface="Arial" pitchFamily="34" charset="0"/>
                <a:ea typeface="Arial" pitchFamily="34" charset="-122"/>
                <a:cs typeface="Arial" pitchFamily="34" charset="-120"/>
              </a:rPr>
              <a:t>PRICE DECISION</a:t>
            </a:r>
            <a:endParaRPr lang="en-US" sz="1100" dirty="0"/>
          </a:p>
        </p:txBody>
      </p:sp>
      <p:sp>
        <p:nvSpPr>
          <p:cNvPr id="34" name="line_94"/>
          <p:cNvSpPr/>
          <p:nvPr/>
        </p:nvSpPr>
        <p:spPr>
          <a:xfrm>
            <a:off x="9162288" y="2779776"/>
            <a:ext cx="2487168" cy="0"/>
          </a:xfrm>
          <a:prstGeom prst="line">
            <a:avLst/>
          </a:prstGeom>
          <a:noFill/>
          <a:ln w="20320">
            <a:solidFill>
              <a:srgbClr val="ED0016"/>
            </a:solidFill>
            <a:prstDash val="solid"/>
          </a:ln>
        </p:spPr>
      </p:sp>
      <p:sp>
        <p:nvSpPr>
          <p:cNvPr id="35" name="text_95"/>
          <p:cNvSpPr/>
          <p:nvPr/>
        </p:nvSpPr>
        <p:spPr>
          <a:xfrm>
            <a:off x="9162288" y="2889504"/>
            <a:ext cx="2423160" cy="274320"/>
          </a:xfrm>
          <a:prstGeom prst="rect">
            <a:avLst/>
          </a:prstGeom>
          <a:noFill/>
          <a:ln/>
        </p:spPr>
        <p:txBody>
          <a:bodyPr wrap="square" lIns="0" tIns="0" rIns="0" bIns="0" rtlCol="0" anchor="ctr"/>
          <a:lstStyle/>
          <a:p>
            <a:pPr algn="l" indent="0" marL="0">
              <a:buNone/>
            </a:pPr>
            <a:r>
              <a:rPr lang="en-US" sz="2050" b="1" dirty="0">
                <a:solidFill>
                  <a:srgbClr val="FFFFFF"/>
                </a:solidFill>
                <a:latin typeface="Arial" pitchFamily="34" charset="0"/>
                <a:ea typeface="Arial" pitchFamily="34" charset="-122"/>
                <a:cs typeface="Arial" pitchFamily="34" charset="-120"/>
              </a:rPr>
              <a:t>REDUCE</a:t>
            </a:r>
            <a:endParaRPr lang="en-US" sz="2050" dirty="0"/>
          </a:p>
        </p:txBody>
      </p:sp>
      <p:sp>
        <p:nvSpPr>
          <p:cNvPr id="36" name="text_96"/>
          <p:cNvSpPr/>
          <p:nvPr/>
        </p:nvSpPr>
        <p:spPr>
          <a:xfrm>
            <a:off x="9162288" y="3227832"/>
            <a:ext cx="2450592" cy="265176"/>
          </a:xfrm>
          <a:prstGeom prst="rect">
            <a:avLst/>
          </a:prstGeom>
          <a:noFill/>
          <a:ln/>
        </p:spPr>
        <p:txBody>
          <a:bodyPr wrap="square" lIns="0" tIns="0" rIns="0" bIns="0" rtlCol="0" anchor="ctr"/>
          <a:lstStyle/>
          <a:p>
            <a:pPr algn="l" indent="0" marL="0">
              <a:buNone/>
            </a:pPr>
            <a:r>
              <a:rPr lang="en-US" sz="1250" dirty="0">
                <a:solidFill>
                  <a:srgbClr val="C8D1D7"/>
                </a:solidFill>
                <a:latin typeface="Arial" pitchFamily="34" charset="0"/>
                <a:ea typeface="Arial" pitchFamily="34" charset="-122"/>
                <a:cs typeface="Arial" pitchFamily="34" charset="-120"/>
              </a:rPr>
              <a:t>When support is justified</a:t>
            </a:r>
            <a:endParaRPr lang="en-US" sz="1250" dirty="0"/>
          </a:p>
        </p:txBody>
      </p:sp>
      <p:sp>
        <p:nvSpPr>
          <p:cNvPr id="37" name="line_97"/>
          <p:cNvSpPr/>
          <p:nvPr/>
        </p:nvSpPr>
        <p:spPr>
          <a:xfrm>
            <a:off x="9162288" y="3593592"/>
            <a:ext cx="2487168" cy="0"/>
          </a:xfrm>
          <a:prstGeom prst="line">
            <a:avLst/>
          </a:prstGeom>
          <a:noFill/>
          <a:ln w="20320">
            <a:solidFill>
              <a:srgbClr val="ED0016"/>
            </a:solidFill>
            <a:prstDash val="solid"/>
          </a:ln>
        </p:spPr>
      </p:sp>
      <p:sp>
        <p:nvSpPr>
          <p:cNvPr id="38" name="text_98"/>
          <p:cNvSpPr/>
          <p:nvPr/>
        </p:nvSpPr>
        <p:spPr>
          <a:xfrm>
            <a:off x="9162288" y="3703320"/>
            <a:ext cx="2423160" cy="274320"/>
          </a:xfrm>
          <a:prstGeom prst="rect">
            <a:avLst/>
          </a:prstGeom>
          <a:noFill/>
          <a:ln/>
        </p:spPr>
        <p:txBody>
          <a:bodyPr wrap="square" lIns="0" tIns="0" rIns="0" bIns="0" rtlCol="0" anchor="ctr"/>
          <a:lstStyle/>
          <a:p>
            <a:pPr algn="l" indent="0" marL="0">
              <a:buNone/>
            </a:pPr>
            <a:r>
              <a:rPr lang="en-US" sz="2050" b="1" dirty="0">
                <a:solidFill>
                  <a:srgbClr val="FFFFFF"/>
                </a:solidFill>
                <a:latin typeface="Arial" pitchFamily="34" charset="0"/>
                <a:ea typeface="Arial" pitchFamily="34" charset="-122"/>
                <a:cs typeface="Arial" pitchFamily="34" charset="-120"/>
              </a:rPr>
              <a:t>HOLD</a:t>
            </a:r>
            <a:endParaRPr lang="en-US" sz="2050" dirty="0"/>
          </a:p>
        </p:txBody>
      </p:sp>
      <p:sp>
        <p:nvSpPr>
          <p:cNvPr id="39" name="text_99"/>
          <p:cNvSpPr/>
          <p:nvPr/>
        </p:nvSpPr>
        <p:spPr>
          <a:xfrm>
            <a:off x="9162288" y="4041648"/>
            <a:ext cx="2450592" cy="265176"/>
          </a:xfrm>
          <a:prstGeom prst="rect">
            <a:avLst/>
          </a:prstGeom>
          <a:noFill/>
          <a:ln/>
        </p:spPr>
        <p:txBody>
          <a:bodyPr wrap="square" lIns="0" tIns="0" rIns="0" bIns="0" rtlCol="0" anchor="ctr"/>
          <a:lstStyle/>
          <a:p>
            <a:pPr algn="l" indent="0" marL="0">
              <a:buNone/>
            </a:pPr>
            <a:r>
              <a:rPr lang="en-US" sz="1250" dirty="0">
                <a:solidFill>
                  <a:srgbClr val="C8D1D7"/>
                </a:solidFill>
                <a:latin typeface="Arial" pitchFamily="34" charset="0"/>
                <a:ea typeface="Arial" pitchFamily="34" charset="-122"/>
                <a:cs typeface="Arial" pitchFamily="34" charset="-120"/>
              </a:rPr>
              <a:t>When position is appropriate</a:t>
            </a:r>
            <a:endParaRPr lang="en-US" sz="1250" dirty="0"/>
          </a:p>
        </p:txBody>
      </p:sp>
      <p:sp>
        <p:nvSpPr>
          <p:cNvPr id="40" name="line_100"/>
          <p:cNvSpPr/>
          <p:nvPr/>
        </p:nvSpPr>
        <p:spPr>
          <a:xfrm>
            <a:off x="9162288" y="4407408"/>
            <a:ext cx="2487168" cy="0"/>
          </a:xfrm>
          <a:prstGeom prst="line">
            <a:avLst/>
          </a:prstGeom>
          <a:noFill/>
          <a:ln w="20320">
            <a:solidFill>
              <a:srgbClr val="ED0016"/>
            </a:solidFill>
            <a:prstDash val="solid"/>
          </a:ln>
        </p:spPr>
      </p:sp>
      <p:sp>
        <p:nvSpPr>
          <p:cNvPr id="41" name="text_101"/>
          <p:cNvSpPr/>
          <p:nvPr/>
        </p:nvSpPr>
        <p:spPr>
          <a:xfrm>
            <a:off x="9162288" y="4517136"/>
            <a:ext cx="2423160" cy="274320"/>
          </a:xfrm>
          <a:prstGeom prst="rect">
            <a:avLst/>
          </a:prstGeom>
          <a:noFill/>
          <a:ln/>
        </p:spPr>
        <p:txBody>
          <a:bodyPr wrap="square" lIns="0" tIns="0" rIns="0" bIns="0" rtlCol="0" anchor="ctr"/>
          <a:lstStyle/>
          <a:p>
            <a:pPr algn="l" indent="0" marL="0">
              <a:buNone/>
            </a:pPr>
            <a:r>
              <a:rPr lang="en-US" sz="2050" b="1" dirty="0">
                <a:solidFill>
                  <a:srgbClr val="FFFFFF"/>
                </a:solidFill>
                <a:latin typeface="Arial" pitchFamily="34" charset="0"/>
                <a:ea typeface="Arial" pitchFamily="34" charset="-122"/>
                <a:cs typeface="Arial" pitchFamily="34" charset="-120"/>
              </a:rPr>
              <a:t>INCREASE</a:t>
            </a:r>
            <a:endParaRPr lang="en-US" sz="2050" dirty="0"/>
          </a:p>
        </p:txBody>
      </p:sp>
      <p:sp>
        <p:nvSpPr>
          <p:cNvPr id="42" name="text_102"/>
          <p:cNvSpPr/>
          <p:nvPr/>
        </p:nvSpPr>
        <p:spPr>
          <a:xfrm>
            <a:off x="9162288" y="4855464"/>
            <a:ext cx="2450592" cy="265176"/>
          </a:xfrm>
          <a:prstGeom prst="rect">
            <a:avLst/>
          </a:prstGeom>
          <a:noFill/>
          <a:ln/>
        </p:spPr>
        <p:txBody>
          <a:bodyPr wrap="square" lIns="0" tIns="0" rIns="0" bIns="0" rtlCol="0" anchor="ctr"/>
          <a:lstStyle/>
          <a:p>
            <a:pPr algn="l" indent="0" marL="0">
              <a:buNone/>
            </a:pPr>
            <a:r>
              <a:rPr lang="en-US" sz="1250" dirty="0">
                <a:solidFill>
                  <a:srgbClr val="C8D1D7"/>
                </a:solidFill>
                <a:latin typeface="Arial" pitchFamily="34" charset="0"/>
                <a:ea typeface="Arial" pitchFamily="34" charset="-122"/>
                <a:cs typeface="Arial" pitchFamily="34" charset="-120"/>
              </a:rPr>
              <a:t>When value supports it</a:t>
            </a:r>
            <a:endParaRPr lang="en-US" sz="1250" dirty="0"/>
          </a:p>
        </p:txBody>
      </p:sp>
      <p:sp>
        <p:nvSpPr>
          <p:cNvPr id="43" name="rect_103"/>
          <p:cNvSpPr/>
          <p:nvPr/>
        </p:nvSpPr>
        <p:spPr>
          <a:xfrm>
            <a:off x="530352" y="5833872"/>
            <a:ext cx="38405" cy="329184"/>
          </a:xfrm>
          <a:prstGeom prst="rect">
            <a:avLst/>
          </a:prstGeom>
          <a:solidFill>
            <a:srgbClr val="ED0016"/>
          </a:solidFill>
          <a:ln w="12700">
            <a:solidFill>
              <a:srgbClr val="ED0016"/>
            </a:solidFill>
            <a:prstDash val="solid"/>
          </a:ln>
        </p:spPr>
      </p:sp>
      <p:sp>
        <p:nvSpPr>
          <p:cNvPr id="44" name="text_104"/>
          <p:cNvSpPr/>
          <p:nvPr/>
        </p:nvSpPr>
        <p:spPr>
          <a:xfrm>
            <a:off x="694944" y="5797296"/>
            <a:ext cx="10963656" cy="475488"/>
          </a:xfrm>
          <a:prstGeom prst="rect">
            <a:avLst/>
          </a:prstGeom>
          <a:noFill/>
          <a:ln/>
        </p:spPr>
        <p:txBody>
          <a:bodyPr wrap="square" lIns="0" tIns="0" rIns="0" bIns="0" rtlCol="0" anchor="ctr"/>
          <a:lstStyle/>
          <a:p>
            <a:pPr algn="l" indent="0" marL="0">
              <a:buNone/>
            </a:pPr>
            <a:r>
              <a:rPr lang="en-US" sz="1900" b="1" dirty="0">
                <a:solidFill>
                  <a:srgbClr val="FFFFFF"/>
                </a:solidFill>
                <a:latin typeface="Arial" pitchFamily="34" charset="0"/>
                <a:ea typeface="Arial" pitchFamily="34" charset="-122"/>
                <a:cs typeface="Arial" pitchFamily="34" charset="-120"/>
              </a:rPr>
              <a:t>AIM is the structure for pricing decisions - not another fixed margin ladder.</a:t>
            </a:r>
            <a:endParaRPr lang="en-US" sz="1900" dirty="0"/>
          </a:p>
        </p:txBody>
      </p:sp>
    </p:spTree>
  </p:cSld>
  <p:clrMapOvr>
    <a:masterClrMapping/>
  </p:clrMapOvr>
  <p:transition spd="fast" advClick="1">
    <p:fade/>
  </p:transition>
</p:sld>
</file>

<file path=ppt/v12/slides/slide3.xml><?xml version="1.0" encoding="utf-8"?>
<p:sld xmlns:a="http://schemas.openxmlformats.org/drawingml/2006/main" xmlns:r="http://schemas.openxmlformats.org/officeDocument/2006/relationships" xmlns:p="http://schemas.openxmlformats.org/presentationml/2006/main">
  <p:cSld name="Version 1.2 - 13">
    <p:bg>
      <p:bgPr>
        <a:solidFill>
          <a:srgbClr val="FFFFFF"/>
        </a:solidFill>
      </p:bgPr>
    </p:bg>
    <p:spTree>
      <p:nvGrpSpPr>
        <p:cNvPr id="1" name=""/>
        <p:cNvGrpSpPr/>
        <p:nvPr/>
      </p:nvGrpSpPr>
      <p:grpSpPr>
        <a:xfrm>
          <a:off x="0" y="0"/>
          <a:ext cx="0" cy="0"/>
          <a:chOff x="0" y="0"/>
          <a:chExt cx="0" cy="0"/>
        </a:xfrm>
      </p:grpSpPr>
      <p:sp>
        <p:nvSpPr>
          <p:cNvPr id="2" name="text_105"/>
          <p:cNvSpPr/>
          <p:nvPr/>
        </p:nvSpPr>
        <p:spPr>
          <a:xfrm>
            <a:off x="530352" y="301752"/>
            <a:ext cx="1115568" cy="320040"/>
          </a:xfrm>
          <a:prstGeom prst="rect">
            <a:avLst/>
          </a:prstGeom>
          <a:noFill/>
          <a:ln/>
        </p:spPr>
        <p:txBody>
          <a:bodyPr wrap="square" lIns="0" tIns="0" rIns="0" bIns="0" rtlCol="0" anchor="ctr"/>
          <a:lstStyle/>
          <a:p>
            <a:pPr algn="l"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_106"/>
          <p:cNvSpPr/>
          <p:nvPr/>
        </p:nvSpPr>
        <p:spPr>
          <a:xfrm>
            <a:off x="1828800" y="365760"/>
            <a:ext cx="8686800" cy="228600"/>
          </a:xfrm>
          <a:prstGeom prst="rect">
            <a:avLst/>
          </a:prstGeom>
          <a:noFill/>
          <a:ln/>
        </p:spPr>
        <p:txBody>
          <a:bodyPr wrap="square" lIns="0" tIns="0" rIns="0" bIns="0" rtlCol="0" anchor="ctr"/>
          <a:lstStyle/>
          <a:p>
            <a:pPr algn="l" indent="0" marL="0">
              <a:buNone/>
            </a:pPr>
            <a:r>
              <a:rPr lang="en-US" sz="1050" b="1" spc="140" kern="0" dirty="0">
                <a:solidFill>
                  <a:srgbClr val="687782"/>
                </a:solidFill>
                <a:latin typeface="Arial" pitchFamily="34" charset="0"/>
                <a:ea typeface="Arial" pitchFamily="34" charset="-122"/>
                <a:cs typeface="Arial" pitchFamily="34" charset="-120"/>
              </a:rPr>
              <a:t>UK TRUCKS - OPERATOR LICENSING</a:t>
            </a:r>
            <a:endParaRPr lang="en-US" sz="1050" dirty="0"/>
          </a:p>
        </p:txBody>
      </p:sp>
      <p:sp>
        <p:nvSpPr>
          <p:cNvPr id="4" name="text_107"/>
          <p:cNvSpPr/>
          <p:nvPr/>
        </p:nvSpPr>
        <p:spPr>
          <a:xfrm>
            <a:off x="530352" y="905256"/>
            <a:ext cx="11128248" cy="786384"/>
          </a:xfrm>
          <a:prstGeom prst="rect">
            <a:avLst/>
          </a:prstGeom>
          <a:noFill/>
          <a:ln/>
        </p:spPr>
        <p:txBody>
          <a:bodyPr wrap="square" lIns="0" tIns="0" rIns="0" bIns="0" rtlCol="0" anchor="ctr"/>
          <a:lstStyle/>
          <a:p>
            <a:pPr algn="l" indent="0" marL="0">
              <a:buNone/>
            </a:pPr>
            <a:r>
              <a:rPr lang="en-US" sz="3100" b="1" dirty="0">
                <a:solidFill>
                  <a:srgbClr val="17232C"/>
                </a:solidFill>
                <a:latin typeface="Arial" pitchFamily="34" charset="0"/>
                <a:ea typeface="Arial" pitchFamily="34" charset="-122"/>
                <a:cs typeface="Arial" pitchFamily="34" charset="-120"/>
              </a:rPr>
              <a:t>Repeated inspections create opportunities to win work.</a:t>
            </a:r>
            <a:endParaRPr lang="en-US" sz="3100" dirty="0"/>
          </a:p>
        </p:txBody>
      </p:sp>
      <p:sp>
        <p:nvSpPr>
          <p:cNvPr id="5" name="line_108"/>
          <p:cNvSpPr/>
          <p:nvPr/>
        </p:nvSpPr>
        <p:spPr>
          <a:xfrm>
            <a:off x="530352" y="6373368"/>
            <a:ext cx="11128248" cy="0"/>
          </a:xfrm>
          <a:prstGeom prst="line">
            <a:avLst/>
          </a:prstGeom>
          <a:noFill/>
          <a:ln w="7620">
            <a:solidFill>
              <a:srgbClr val="DDE3E7"/>
            </a:solidFill>
            <a:prstDash val="solid"/>
          </a:ln>
        </p:spPr>
      </p:sp>
      <p:sp>
        <p:nvSpPr>
          <p:cNvPr id="6" name="text_109"/>
          <p:cNvSpPr/>
          <p:nvPr/>
        </p:nvSpPr>
        <p:spPr>
          <a:xfrm>
            <a:off x="530352" y="6469380"/>
            <a:ext cx="10012680" cy="228600"/>
          </a:xfrm>
          <a:prstGeom prst="rect">
            <a:avLst/>
          </a:prstGeom>
          <a:noFill/>
          <a:ln/>
        </p:spPr>
        <p:txBody>
          <a:bodyPr wrap="square" lIns="0" tIns="0" rIns="0" bIns="0" rtlCol="0" anchor="ctr"/>
          <a:lstStyle/>
          <a:p>
            <a:pPr algn="l" indent="0" marL="0">
              <a:buNone/>
            </a:pPr>
            <a:r>
              <a:rPr lang="en-US" sz="900" dirty="0">
                <a:solidFill>
                  <a:srgbClr val="687782"/>
                </a:solidFill>
                <a:latin typeface="Arial" pitchFamily="34" charset="0"/>
                <a:ea typeface="Arial" pitchFamily="34" charset="-122"/>
                <a:cs typeface="Arial" pitchFamily="34" charset="-120"/>
              </a:rPr>
              <a:t>Source: UK roadworthiness guidance; management strategy. Normal inspection range, not a parts-demand forecast.</a:t>
            </a:r>
            <a:endParaRPr lang="en-US" sz="900" dirty="0"/>
          </a:p>
        </p:txBody>
      </p:sp>
      <p:sp>
        <p:nvSpPr>
          <p:cNvPr id="7" name="text_110"/>
          <p:cNvSpPr/>
          <p:nvPr/>
        </p:nvSpPr>
        <p:spPr>
          <a:xfrm>
            <a:off x="10744200" y="6464808"/>
            <a:ext cx="914400" cy="228600"/>
          </a:xfrm>
          <a:prstGeom prst="rect">
            <a:avLst/>
          </a:prstGeom>
          <a:noFill/>
          <a:ln/>
        </p:spPr>
        <p:txBody>
          <a:bodyPr wrap="square" lIns="0" tIns="0" rIns="0" bIns="0" rtlCol="0" anchor="ctr"/>
          <a:lstStyle/>
          <a:p>
            <a:pPr algn="r" indent="0" marL="0">
              <a:buNone/>
            </a:pPr>
            <a:r>
              <a:rPr lang="en-US" sz="940" dirty="0">
                <a:solidFill>
                  <a:srgbClr val="687782"/>
                </a:solidFill>
                <a:latin typeface="Arial" pitchFamily="34" charset="0"/>
                <a:ea typeface="Arial" pitchFamily="34" charset="-122"/>
                <a:cs typeface="Arial" pitchFamily="34" charset="-120"/>
              </a:rPr>
              <a:t>v1.2  |  13</a:t>
            </a:r>
            <a:endParaRPr lang="en-US" sz="940" dirty="0"/>
          </a:p>
        </p:txBody>
      </p:sp>
      <p:sp>
        <p:nvSpPr>
          <p:cNvPr id="8" name="text_111"/>
          <p:cNvSpPr/>
          <p:nvPr/>
        </p:nvSpPr>
        <p:spPr>
          <a:xfrm>
            <a:off x="530352" y="1773936"/>
            <a:ext cx="10881360" cy="310896"/>
          </a:xfrm>
          <a:prstGeom prst="rect">
            <a:avLst/>
          </a:prstGeom>
          <a:noFill/>
          <a:ln/>
        </p:spPr>
        <p:txBody>
          <a:bodyPr wrap="square" lIns="0" tIns="0" rIns="0" bIns="0" rtlCol="0" anchor="ctr"/>
          <a:lstStyle/>
          <a:p>
            <a:pPr algn="l" indent="0" marL="0">
              <a:buNone/>
            </a:pPr>
            <a:r>
              <a:rPr lang="en-US" sz="1600" dirty="0">
                <a:solidFill>
                  <a:srgbClr val="687782"/>
                </a:solidFill>
                <a:latin typeface="Arial" pitchFamily="34" charset="0"/>
                <a:ea typeface="Arial" pitchFamily="34" charset="-122"/>
                <a:cs typeface="Arial" pitchFamily="34" charset="-120"/>
              </a:rPr>
              <a:t>ITUK - the UK truck distributor. This is not the D-Max / IUK case.</a:t>
            </a:r>
            <a:endParaRPr lang="en-US" sz="1600" dirty="0"/>
          </a:p>
        </p:txBody>
      </p:sp>
      <p:sp>
        <p:nvSpPr>
          <p:cNvPr id="9" name="line_112"/>
          <p:cNvSpPr/>
          <p:nvPr/>
        </p:nvSpPr>
        <p:spPr>
          <a:xfrm>
            <a:off x="4078224" y="2688336"/>
            <a:ext cx="923544" cy="649224"/>
          </a:xfrm>
          <a:prstGeom prst="line">
            <a:avLst/>
          </a:prstGeom>
          <a:noFill/>
          <a:ln w="38100">
            <a:solidFill>
              <a:srgbClr val="DDE3E7"/>
            </a:solidFill>
            <a:prstDash val="solid"/>
            <a:tailEnd type="triangle"/>
          </a:ln>
        </p:spPr>
      </p:sp>
      <p:sp>
        <p:nvSpPr>
          <p:cNvPr id="10" name="line_113"/>
          <p:cNvSpPr/>
          <p:nvPr/>
        </p:nvSpPr>
        <p:spPr>
          <a:xfrm flipH="1">
            <a:off x="4032504" y="4178808"/>
            <a:ext cx="960120" cy="585216"/>
          </a:xfrm>
          <a:prstGeom prst="line">
            <a:avLst/>
          </a:prstGeom>
          <a:noFill/>
          <a:ln w="38100">
            <a:solidFill>
              <a:srgbClr val="DDE3E7"/>
            </a:solidFill>
            <a:prstDash val="solid"/>
            <a:tailEnd type="triangle"/>
          </a:ln>
        </p:spPr>
      </p:sp>
      <p:sp>
        <p:nvSpPr>
          <p:cNvPr id="11" name="line_114"/>
          <p:cNvSpPr/>
          <p:nvPr/>
        </p:nvSpPr>
        <p:spPr>
          <a:xfrm flipH="1" flipV="1">
            <a:off x="1664208" y="4142232"/>
            <a:ext cx="822960" cy="621792"/>
          </a:xfrm>
          <a:prstGeom prst="line">
            <a:avLst/>
          </a:prstGeom>
          <a:noFill/>
          <a:ln w="38100">
            <a:solidFill>
              <a:srgbClr val="DDE3E7"/>
            </a:solidFill>
            <a:prstDash val="solid"/>
            <a:tailEnd type="triangle"/>
          </a:ln>
        </p:spPr>
      </p:sp>
      <p:sp>
        <p:nvSpPr>
          <p:cNvPr id="12" name="line_115"/>
          <p:cNvSpPr/>
          <p:nvPr/>
        </p:nvSpPr>
        <p:spPr>
          <a:xfrm flipV="1">
            <a:off x="1682496" y="2734056"/>
            <a:ext cx="850392" cy="612648"/>
          </a:xfrm>
          <a:prstGeom prst="line">
            <a:avLst/>
          </a:prstGeom>
          <a:noFill/>
          <a:ln w="38100">
            <a:solidFill>
              <a:srgbClr val="DDE3E7"/>
            </a:solidFill>
            <a:prstDash val="solid"/>
            <a:tailEnd type="triangle"/>
          </a:ln>
        </p:spPr>
      </p:sp>
      <p:sp>
        <p:nvSpPr>
          <p:cNvPr id="13" name="circle_116"/>
          <p:cNvSpPr/>
          <p:nvPr/>
        </p:nvSpPr>
        <p:spPr>
          <a:xfrm>
            <a:off x="2432304" y="2889504"/>
            <a:ext cx="1719072" cy="1719072"/>
          </a:xfrm>
          <a:prstGeom prst="ellipse">
            <a:avLst/>
          </a:prstGeom>
          <a:solidFill>
            <a:srgbClr val="F0F3F5"/>
          </a:solidFill>
          <a:ln w="12700">
            <a:solidFill>
              <a:srgbClr val="F0F3F5"/>
            </a:solidFill>
            <a:prstDash val="solid"/>
          </a:ln>
        </p:spPr>
      </p:sp>
      <p:sp>
        <p:nvSpPr>
          <p:cNvPr id="14" name="text_117"/>
          <p:cNvSpPr/>
          <p:nvPr/>
        </p:nvSpPr>
        <p:spPr>
          <a:xfrm>
            <a:off x="2551176" y="3328416"/>
            <a:ext cx="1481328" cy="832104"/>
          </a:xfrm>
          <a:prstGeom prst="rect">
            <a:avLst/>
          </a:prstGeom>
          <a:noFill/>
          <a:ln/>
        </p:spPr>
        <p:txBody>
          <a:bodyPr wrap="square" lIns="0" tIns="0" rIns="0" bIns="0" rtlCol="0" anchor="ctr"/>
          <a:lstStyle/>
          <a:p>
            <a:pPr algn="ctr" indent="0" marL="0">
              <a:buNone/>
            </a:pPr>
            <a:r>
              <a:rPr lang="en-US" sz="1760" b="1" dirty="0">
                <a:solidFill>
                  <a:srgbClr val="17232C"/>
                </a:solidFill>
                <a:latin typeface="Arial" pitchFamily="34" charset="0"/>
                <a:ea typeface="Arial" pitchFamily="34" charset="-122"/>
                <a:cs typeface="Arial" pitchFamily="34" charset="-120"/>
              </a:rPr>
              <a:t>Win repeat</a:t>
            </a:r>
            <a:endParaRPr lang="en-US" sz="1760" dirty="0"/>
          </a:p>
          <a:p>
            <a:pPr algn="ctr" indent="0" marL="0">
              <a:buNone/>
            </a:pPr>
            <a:r>
              <a:rPr lang="en-US" sz="1760" b="1" dirty="0">
                <a:solidFill>
                  <a:srgbClr val="17232C"/>
                </a:solidFill>
                <a:latin typeface="Arial" pitchFamily="34" charset="0"/>
                <a:ea typeface="Arial" pitchFamily="34" charset="-122"/>
                <a:cs typeface="Arial" pitchFamily="34" charset="-120"/>
              </a:rPr>
              <a:t>maintenance</a:t>
            </a:r>
            <a:endParaRPr lang="en-US" sz="1760" dirty="0"/>
          </a:p>
          <a:p>
            <a:pPr algn="ctr" indent="0" marL="0">
              <a:buNone/>
            </a:pPr>
            <a:r>
              <a:rPr lang="en-US" sz="1760" b="1" dirty="0">
                <a:solidFill>
                  <a:srgbClr val="17232C"/>
                </a:solidFill>
                <a:latin typeface="Arial" pitchFamily="34" charset="0"/>
                <a:ea typeface="Arial" pitchFamily="34" charset="-122"/>
                <a:cs typeface="Arial" pitchFamily="34" charset="-120"/>
              </a:rPr>
              <a:t>business</a:t>
            </a:r>
            <a:endParaRPr lang="en-US" sz="1760" dirty="0"/>
          </a:p>
        </p:txBody>
      </p:sp>
      <p:sp>
        <p:nvSpPr>
          <p:cNvPr id="15" name="icon_118"/>
          <p:cNvSpPr/>
          <p:nvPr/>
        </p:nvSpPr>
        <p:spPr>
          <a:xfrm>
            <a:off x="3064154" y="2337206"/>
            <a:ext cx="473659" cy="441655"/>
          </a:xfrm>
          <a:prstGeom prst="rect">
            <a:avLst/>
          </a:prstGeom>
          <a:solidFill>
            <a:srgbClr val="FFFFFF">
              <a:alpha val="0"/>
            </a:srgbClr>
          </a:solidFill>
          <a:ln w="25400">
            <a:solidFill>
              <a:srgbClr val="17232C"/>
            </a:solidFill>
            <a:prstDash val="solid"/>
          </a:ln>
        </p:spPr>
      </p:sp>
      <p:sp>
        <p:nvSpPr>
          <p:cNvPr id="16" name="line_119"/>
          <p:cNvSpPr/>
          <p:nvPr/>
        </p:nvSpPr>
        <p:spPr>
          <a:xfrm>
            <a:off x="3064154" y="2465222"/>
            <a:ext cx="473659" cy="0"/>
          </a:xfrm>
          <a:prstGeom prst="line">
            <a:avLst/>
          </a:prstGeom>
          <a:noFill/>
          <a:ln w="25400">
            <a:solidFill>
              <a:srgbClr val="17232C"/>
            </a:solidFill>
            <a:prstDash val="solid"/>
          </a:ln>
        </p:spPr>
      </p:sp>
      <p:sp>
        <p:nvSpPr>
          <p:cNvPr id="17" name="line_120"/>
          <p:cNvSpPr/>
          <p:nvPr/>
        </p:nvSpPr>
        <p:spPr>
          <a:xfrm>
            <a:off x="3179369" y="2260397"/>
            <a:ext cx="0" cy="153619"/>
          </a:xfrm>
          <a:prstGeom prst="line">
            <a:avLst/>
          </a:prstGeom>
          <a:noFill/>
          <a:ln w="25400">
            <a:solidFill>
              <a:srgbClr val="17232C"/>
            </a:solidFill>
            <a:prstDash val="solid"/>
          </a:ln>
        </p:spPr>
      </p:sp>
      <p:sp>
        <p:nvSpPr>
          <p:cNvPr id="18" name="line_121"/>
          <p:cNvSpPr/>
          <p:nvPr/>
        </p:nvSpPr>
        <p:spPr>
          <a:xfrm>
            <a:off x="3422599" y="2260397"/>
            <a:ext cx="0" cy="153619"/>
          </a:xfrm>
          <a:prstGeom prst="line">
            <a:avLst/>
          </a:prstGeom>
          <a:noFill/>
          <a:ln w="25400">
            <a:solidFill>
              <a:srgbClr val="17232C"/>
            </a:solidFill>
            <a:prstDash val="solid"/>
          </a:ln>
        </p:spPr>
      </p:sp>
      <p:sp>
        <p:nvSpPr>
          <p:cNvPr id="19" name="line_122"/>
          <p:cNvSpPr/>
          <p:nvPr/>
        </p:nvSpPr>
        <p:spPr>
          <a:xfrm>
            <a:off x="3166567" y="2606040"/>
            <a:ext cx="89611" cy="83210"/>
          </a:xfrm>
          <a:prstGeom prst="line">
            <a:avLst/>
          </a:prstGeom>
          <a:noFill/>
          <a:ln w="25400">
            <a:solidFill>
              <a:srgbClr val="17232C"/>
            </a:solidFill>
            <a:prstDash val="solid"/>
          </a:ln>
        </p:spPr>
      </p:sp>
      <p:sp>
        <p:nvSpPr>
          <p:cNvPr id="20" name="line_123"/>
          <p:cNvSpPr/>
          <p:nvPr/>
        </p:nvSpPr>
        <p:spPr>
          <a:xfrm flipV="1">
            <a:off x="3256178" y="2529230"/>
            <a:ext cx="185623" cy="160020"/>
          </a:xfrm>
          <a:prstGeom prst="line">
            <a:avLst/>
          </a:prstGeom>
          <a:noFill/>
          <a:ln w="25400">
            <a:solidFill>
              <a:srgbClr val="17232C"/>
            </a:solidFill>
            <a:prstDash val="solid"/>
          </a:ln>
        </p:spPr>
      </p:sp>
      <p:sp>
        <p:nvSpPr>
          <p:cNvPr id="21" name="text_124"/>
          <p:cNvSpPr/>
          <p:nvPr/>
        </p:nvSpPr>
        <p:spPr>
          <a:xfrm>
            <a:off x="2377440" y="2770632"/>
            <a:ext cx="1828800" cy="274320"/>
          </a:xfrm>
          <a:prstGeom prst="rect">
            <a:avLst/>
          </a:prstGeom>
          <a:noFill/>
          <a:ln/>
        </p:spPr>
        <p:txBody>
          <a:bodyPr wrap="square" lIns="0" tIns="0" rIns="0" bIns="0" rtlCol="0" anchor="ctr"/>
          <a:lstStyle/>
          <a:p>
            <a:pPr algn="ctr" indent="0" marL="0">
              <a:buNone/>
            </a:pPr>
            <a:r>
              <a:rPr lang="en-US" sz="1550" b="1" dirty="0">
                <a:solidFill>
                  <a:srgbClr val="17232C"/>
                </a:solidFill>
                <a:latin typeface="Arial" pitchFamily="34" charset="0"/>
                <a:ea typeface="Arial" pitchFamily="34" charset="-122"/>
                <a:cs typeface="Arial" pitchFamily="34" charset="-120"/>
              </a:rPr>
              <a:t>Inspect</a:t>
            </a:r>
            <a:endParaRPr lang="en-US" sz="1550" dirty="0"/>
          </a:p>
        </p:txBody>
      </p:sp>
      <p:sp>
        <p:nvSpPr>
          <p:cNvPr id="22" name="line_125"/>
          <p:cNvSpPr/>
          <p:nvPr/>
        </p:nvSpPr>
        <p:spPr>
          <a:xfrm flipV="1">
            <a:off x="5156302" y="3584448"/>
            <a:ext cx="275234" cy="300838"/>
          </a:xfrm>
          <a:prstGeom prst="line">
            <a:avLst/>
          </a:prstGeom>
          <a:noFill/>
          <a:ln w="63500">
            <a:solidFill>
              <a:srgbClr val="17232C"/>
            </a:solidFill>
            <a:prstDash val="solid"/>
          </a:ln>
        </p:spPr>
      </p:sp>
      <p:sp>
        <p:nvSpPr>
          <p:cNvPr id="23" name="icon_126"/>
          <p:cNvSpPr/>
          <p:nvPr/>
        </p:nvSpPr>
        <p:spPr>
          <a:xfrm>
            <a:off x="5060290" y="3853282"/>
            <a:ext cx="128016" cy="128016"/>
          </a:xfrm>
          <a:prstGeom prst="ellipse">
            <a:avLst/>
          </a:prstGeom>
          <a:solidFill>
            <a:srgbClr val="FFFFFF">
              <a:alpha val="0"/>
            </a:srgbClr>
          </a:solidFill>
          <a:ln w="25400">
            <a:solidFill>
              <a:srgbClr val="17232C"/>
            </a:solidFill>
            <a:prstDash val="solid"/>
          </a:ln>
        </p:spPr>
      </p:sp>
      <p:sp>
        <p:nvSpPr>
          <p:cNvPr id="24" name="icon_127"/>
          <p:cNvSpPr/>
          <p:nvPr/>
        </p:nvSpPr>
        <p:spPr>
          <a:xfrm rot="8700000">
            <a:off x="5329123" y="3405226"/>
            <a:ext cx="243230" cy="256032"/>
          </a:xfrm>
          <a:prstGeom prst="arc">
            <a:avLst/>
          </a:prstGeom>
          <a:solidFill>
            <a:srgbClr val="FFFFFF">
              <a:alpha val="0"/>
            </a:srgbClr>
          </a:solidFill>
          <a:ln w="38100">
            <a:solidFill>
              <a:srgbClr val="17232C"/>
            </a:solidFill>
            <a:prstDash val="solid"/>
          </a:ln>
        </p:spPr>
      </p:sp>
      <p:sp>
        <p:nvSpPr>
          <p:cNvPr id="25" name="text_128"/>
          <p:cNvSpPr/>
          <p:nvPr/>
        </p:nvSpPr>
        <p:spPr>
          <a:xfrm>
            <a:off x="4572000" y="4059936"/>
            <a:ext cx="1865376" cy="274320"/>
          </a:xfrm>
          <a:prstGeom prst="rect">
            <a:avLst/>
          </a:prstGeom>
          <a:noFill/>
          <a:ln/>
        </p:spPr>
        <p:txBody>
          <a:bodyPr wrap="square" lIns="0" tIns="0" rIns="0" bIns="0" rtlCol="0" anchor="ctr"/>
          <a:lstStyle/>
          <a:p>
            <a:pPr algn="ctr" indent="0" marL="0">
              <a:buNone/>
            </a:pPr>
            <a:r>
              <a:rPr lang="en-US" sz="1550" b="1" dirty="0">
                <a:solidFill>
                  <a:srgbClr val="17232C"/>
                </a:solidFill>
                <a:latin typeface="Arial" pitchFamily="34" charset="0"/>
                <a:ea typeface="Arial" pitchFamily="34" charset="-122"/>
                <a:cs typeface="Arial" pitchFamily="34" charset="-120"/>
              </a:rPr>
              <a:t>Repair as needed</a:t>
            </a:r>
            <a:endParaRPr lang="en-US" sz="1550" dirty="0"/>
          </a:p>
        </p:txBody>
      </p:sp>
      <p:sp>
        <p:nvSpPr>
          <p:cNvPr id="26" name="icon_129"/>
          <p:cNvSpPr/>
          <p:nvPr/>
        </p:nvSpPr>
        <p:spPr>
          <a:xfrm>
            <a:off x="3118104" y="4695444"/>
            <a:ext cx="396850" cy="499262"/>
          </a:xfrm>
          <a:prstGeom prst="rect">
            <a:avLst/>
          </a:prstGeom>
          <a:solidFill>
            <a:srgbClr val="FFFFFF">
              <a:alpha val="0"/>
            </a:srgbClr>
          </a:solidFill>
          <a:ln w="25400">
            <a:solidFill>
              <a:srgbClr val="17232C"/>
            </a:solidFill>
            <a:prstDash val="solid"/>
          </a:ln>
        </p:spPr>
      </p:sp>
      <p:sp>
        <p:nvSpPr>
          <p:cNvPr id="27" name="rect_130"/>
          <p:cNvSpPr/>
          <p:nvPr/>
        </p:nvSpPr>
        <p:spPr>
          <a:xfrm>
            <a:off x="3226918" y="4644238"/>
            <a:ext cx="185623" cy="121615"/>
          </a:xfrm>
          <a:prstGeom prst="rect">
            <a:avLst/>
          </a:prstGeom>
          <a:solidFill>
            <a:srgbClr val="FFFFFF"/>
          </a:solidFill>
          <a:ln w="25400">
            <a:solidFill>
              <a:srgbClr val="17232C"/>
            </a:solidFill>
            <a:prstDash val="solid"/>
          </a:ln>
        </p:spPr>
      </p:sp>
      <p:sp>
        <p:nvSpPr>
          <p:cNvPr id="28" name="line_131"/>
          <p:cNvSpPr/>
          <p:nvPr/>
        </p:nvSpPr>
        <p:spPr>
          <a:xfrm>
            <a:off x="3194914" y="4906670"/>
            <a:ext cx="51206" cy="51206"/>
          </a:xfrm>
          <a:prstGeom prst="line">
            <a:avLst/>
          </a:prstGeom>
          <a:noFill/>
          <a:ln w="25400">
            <a:solidFill>
              <a:srgbClr val="17232C"/>
            </a:solidFill>
            <a:prstDash val="solid"/>
          </a:ln>
        </p:spPr>
      </p:sp>
      <p:sp>
        <p:nvSpPr>
          <p:cNvPr id="29" name="line_132"/>
          <p:cNvSpPr/>
          <p:nvPr/>
        </p:nvSpPr>
        <p:spPr>
          <a:xfrm flipV="1">
            <a:off x="3246120" y="4842662"/>
            <a:ext cx="102413" cy="115214"/>
          </a:xfrm>
          <a:prstGeom prst="line">
            <a:avLst/>
          </a:prstGeom>
          <a:noFill/>
          <a:ln w="25400">
            <a:solidFill>
              <a:srgbClr val="17232C"/>
            </a:solidFill>
            <a:prstDash val="solid"/>
          </a:ln>
        </p:spPr>
      </p:sp>
      <p:sp>
        <p:nvSpPr>
          <p:cNvPr id="30" name="line_133"/>
          <p:cNvSpPr/>
          <p:nvPr/>
        </p:nvSpPr>
        <p:spPr>
          <a:xfrm>
            <a:off x="3354934" y="4919472"/>
            <a:ext cx="89611" cy="0"/>
          </a:xfrm>
          <a:prstGeom prst="line">
            <a:avLst/>
          </a:prstGeom>
          <a:noFill/>
          <a:ln w="25400">
            <a:solidFill>
              <a:srgbClr val="17232C"/>
            </a:solidFill>
            <a:prstDash val="solid"/>
          </a:ln>
        </p:spPr>
      </p:sp>
      <p:sp>
        <p:nvSpPr>
          <p:cNvPr id="31" name="line_134"/>
          <p:cNvSpPr/>
          <p:nvPr/>
        </p:nvSpPr>
        <p:spPr>
          <a:xfrm>
            <a:off x="3194914" y="5060290"/>
            <a:ext cx="249631" cy="0"/>
          </a:xfrm>
          <a:prstGeom prst="line">
            <a:avLst/>
          </a:prstGeom>
          <a:noFill/>
          <a:ln w="25400">
            <a:solidFill>
              <a:srgbClr val="17232C"/>
            </a:solidFill>
            <a:prstDash val="solid"/>
          </a:ln>
        </p:spPr>
      </p:sp>
      <p:sp>
        <p:nvSpPr>
          <p:cNvPr id="32" name="text_135"/>
          <p:cNvSpPr/>
          <p:nvPr/>
        </p:nvSpPr>
        <p:spPr>
          <a:xfrm>
            <a:off x="2240280" y="5276088"/>
            <a:ext cx="2231136" cy="274320"/>
          </a:xfrm>
          <a:prstGeom prst="rect">
            <a:avLst/>
          </a:prstGeom>
          <a:noFill/>
          <a:ln/>
        </p:spPr>
        <p:txBody>
          <a:bodyPr wrap="square" lIns="0" tIns="0" rIns="0" bIns="0" rtlCol="0" anchor="ctr"/>
          <a:lstStyle/>
          <a:p>
            <a:pPr algn="ctr" indent="0" marL="0">
              <a:buNone/>
            </a:pPr>
            <a:r>
              <a:rPr lang="en-US" sz="1550" b="1" dirty="0">
                <a:solidFill>
                  <a:srgbClr val="17232C"/>
                </a:solidFill>
                <a:latin typeface="Arial" pitchFamily="34" charset="0"/>
                <a:ea typeface="Arial" pitchFamily="34" charset="-122"/>
                <a:cs typeface="Arial" pitchFamily="34" charset="-120"/>
              </a:rPr>
              <a:t>Record and plan</a:t>
            </a:r>
            <a:endParaRPr lang="en-US" sz="1550" dirty="0"/>
          </a:p>
        </p:txBody>
      </p:sp>
      <p:sp>
        <p:nvSpPr>
          <p:cNvPr id="33" name="icon_136"/>
          <p:cNvSpPr/>
          <p:nvPr/>
        </p:nvSpPr>
        <p:spPr>
          <a:xfrm>
            <a:off x="958291" y="3542386"/>
            <a:ext cx="358445" cy="300838"/>
          </a:xfrm>
          <a:prstGeom prst="rect">
            <a:avLst/>
          </a:prstGeom>
          <a:solidFill>
            <a:srgbClr val="FFFFFF">
              <a:alpha val="0"/>
            </a:srgbClr>
          </a:solidFill>
          <a:ln w="25400">
            <a:solidFill>
              <a:srgbClr val="17232C"/>
            </a:solidFill>
            <a:prstDash val="solid"/>
          </a:ln>
        </p:spPr>
      </p:sp>
      <p:sp>
        <p:nvSpPr>
          <p:cNvPr id="34" name="icon_137"/>
          <p:cNvSpPr/>
          <p:nvPr/>
        </p:nvSpPr>
        <p:spPr>
          <a:xfrm>
            <a:off x="1316736" y="3651199"/>
            <a:ext cx="198425" cy="192024"/>
          </a:xfrm>
          <a:prstGeom prst="rect">
            <a:avLst/>
          </a:prstGeom>
          <a:solidFill>
            <a:srgbClr val="FFFFFF">
              <a:alpha val="0"/>
            </a:srgbClr>
          </a:solidFill>
          <a:ln w="25400">
            <a:solidFill>
              <a:srgbClr val="17232C"/>
            </a:solidFill>
            <a:prstDash val="solid"/>
          </a:ln>
        </p:spPr>
      </p:sp>
      <p:sp>
        <p:nvSpPr>
          <p:cNvPr id="35" name="line_138"/>
          <p:cNvSpPr/>
          <p:nvPr/>
        </p:nvSpPr>
        <p:spPr>
          <a:xfrm>
            <a:off x="1355141" y="3548786"/>
            <a:ext cx="89611" cy="0"/>
          </a:xfrm>
          <a:prstGeom prst="line">
            <a:avLst/>
          </a:prstGeom>
          <a:noFill/>
          <a:ln w="25400">
            <a:solidFill>
              <a:srgbClr val="17232C"/>
            </a:solidFill>
            <a:prstDash val="solid"/>
          </a:ln>
        </p:spPr>
      </p:sp>
      <p:sp>
        <p:nvSpPr>
          <p:cNvPr id="36" name="line_139"/>
          <p:cNvSpPr/>
          <p:nvPr/>
        </p:nvSpPr>
        <p:spPr>
          <a:xfrm>
            <a:off x="1444752" y="3548786"/>
            <a:ext cx="70409" cy="102413"/>
          </a:xfrm>
          <a:prstGeom prst="line">
            <a:avLst/>
          </a:prstGeom>
          <a:noFill/>
          <a:ln w="25400">
            <a:solidFill>
              <a:srgbClr val="17232C"/>
            </a:solidFill>
            <a:prstDash val="solid"/>
          </a:ln>
        </p:spPr>
      </p:sp>
      <p:sp>
        <p:nvSpPr>
          <p:cNvPr id="37" name="line_140"/>
          <p:cNvSpPr/>
          <p:nvPr/>
        </p:nvSpPr>
        <p:spPr>
          <a:xfrm flipV="1">
            <a:off x="1316736" y="3548786"/>
            <a:ext cx="38405" cy="102413"/>
          </a:xfrm>
          <a:prstGeom prst="line">
            <a:avLst/>
          </a:prstGeom>
          <a:noFill/>
          <a:ln w="25400">
            <a:solidFill>
              <a:srgbClr val="17232C"/>
            </a:solidFill>
            <a:prstDash val="solid"/>
          </a:ln>
        </p:spPr>
      </p:sp>
      <p:sp>
        <p:nvSpPr>
          <p:cNvPr id="38" name="icon_141"/>
          <p:cNvSpPr/>
          <p:nvPr/>
        </p:nvSpPr>
        <p:spPr>
          <a:xfrm>
            <a:off x="1009498" y="3811219"/>
            <a:ext cx="153619" cy="153619"/>
          </a:xfrm>
          <a:prstGeom prst="ellipse">
            <a:avLst/>
          </a:prstGeom>
          <a:solidFill>
            <a:srgbClr val="FFFFFF">
              <a:alpha val="0"/>
            </a:srgbClr>
          </a:solidFill>
          <a:ln w="25400">
            <a:solidFill>
              <a:srgbClr val="17232C"/>
            </a:solidFill>
            <a:prstDash val="solid"/>
          </a:ln>
        </p:spPr>
      </p:sp>
      <p:sp>
        <p:nvSpPr>
          <p:cNvPr id="39" name="icon_142"/>
          <p:cNvSpPr/>
          <p:nvPr/>
        </p:nvSpPr>
        <p:spPr>
          <a:xfrm>
            <a:off x="1335938" y="3811219"/>
            <a:ext cx="153619" cy="153619"/>
          </a:xfrm>
          <a:prstGeom prst="ellipse">
            <a:avLst/>
          </a:prstGeom>
          <a:solidFill>
            <a:srgbClr val="FFFFFF">
              <a:alpha val="0"/>
            </a:srgbClr>
          </a:solidFill>
          <a:ln w="25400">
            <a:solidFill>
              <a:srgbClr val="17232C"/>
            </a:solidFill>
            <a:prstDash val="solid"/>
          </a:ln>
        </p:spPr>
      </p:sp>
      <p:sp>
        <p:nvSpPr>
          <p:cNvPr id="40" name="line_143"/>
          <p:cNvSpPr/>
          <p:nvPr/>
        </p:nvSpPr>
        <p:spPr>
          <a:xfrm>
            <a:off x="964692" y="3843223"/>
            <a:ext cx="51206" cy="0"/>
          </a:xfrm>
          <a:prstGeom prst="line">
            <a:avLst/>
          </a:prstGeom>
          <a:noFill/>
          <a:ln w="25400">
            <a:solidFill>
              <a:srgbClr val="17232C"/>
            </a:solidFill>
            <a:prstDash val="solid"/>
          </a:ln>
        </p:spPr>
      </p:sp>
      <p:sp>
        <p:nvSpPr>
          <p:cNvPr id="41" name="line_144"/>
          <p:cNvSpPr/>
          <p:nvPr/>
        </p:nvSpPr>
        <p:spPr>
          <a:xfrm>
            <a:off x="1476756" y="3843223"/>
            <a:ext cx="70409" cy="0"/>
          </a:xfrm>
          <a:prstGeom prst="line">
            <a:avLst/>
          </a:prstGeom>
          <a:noFill/>
          <a:ln w="25400">
            <a:solidFill>
              <a:srgbClr val="17232C"/>
            </a:solidFill>
            <a:prstDash val="solid"/>
          </a:ln>
        </p:spPr>
      </p:sp>
      <p:sp>
        <p:nvSpPr>
          <p:cNvPr id="42" name="text_145"/>
          <p:cNvSpPr/>
          <p:nvPr/>
        </p:nvSpPr>
        <p:spPr>
          <a:xfrm>
            <a:off x="640080" y="4069080"/>
            <a:ext cx="1298448" cy="274320"/>
          </a:xfrm>
          <a:prstGeom prst="rect">
            <a:avLst/>
          </a:prstGeom>
          <a:noFill/>
          <a:ln/>
        </p:spPr>
        <p:txBody>
          <a:bodyPr wrap="square" lIns="0" tIns="0" rIns="0" bIns="0" rtlCol="0" anchor="ctr"/>
          <a:lstStyle/>
          <a:p>
            <a:pPr algn="ctr" indent="0" marL="0">
              <a:buNone/>
            </a:pPr>
            <a:r>
              <a:rPr lang="en-US" sz="1550" b="1" dirty="0">
                <a:solidFill>
                  <a:srgbClr val="17232C"/>
                </a:solidFill>
                <a:latin typeface="Arial" pitchFamily="34" charset="0"/>
                <a:ea typeface="Arial" pitchFamily="34" charset="-122"/>
                <a:cs typeface="Arial" pitchFamily="34" charset="-120"/>
              </a:rPr>
              <a:t>Operate</a:t>
            </a:r>
            <a:endParaRPr lang="en-US" sz="1550" dirty="0"/>
          </a:p>
        </p:txBody>
      </p:sp>
      <p:sp>
        <p:nvSpPr>
          <p:cNvPr id="43" name="line_146"/>
          <p:cNvSpPr/>
          <p:nvPr/>
        </p:nvSpPr>
        <p:spPr>
          <a:xfrm>
            <a:off x="6565392" y="2313432"/>
            <a:ext cx="0" cy="3200400"/>
          </a:xfrm>
          <a:prstGeom prst="line">
            <a:avLst/>
          </a:prstGeom>
          <a:noFill/>
          <a:ln w="11430">
            <a:solidFill>
              <a:srgbClr val="DDE3E7"/>
            </a:solidFill>
            <a:prstDash val="solid"/>
          </a:ln>
        </p:spPr>
      </p:sp>
      <p:sp>
        <p:nvSpPr>
          <p:cNvPr id="44" name="text_147"/>
          <p:cNvSpPr/>
          <p:nvPr/>
        </p:nvSpPr>
        <p:spPr>
          <a:xfrm>
            <a:off x="6986016" y="2459736"/>
            <a:ext cx="4343400" cy="932688"/>
          </a:xfrm>
          <a:prstGeom prst="rect">
            <a:avLst/>
          </a:prstGeom>
          <a:noFill/>
          <a:ln/>
        </p:spPr>
        <p:txBody>
          <a:bodyPr wrap="square" lIns="0" tIns="0" rIns="0" bIns="0" rtlCol="0" anchor="ctr"/>
          <a:lstStyle/>
          <a:p>
            <a:pPr algn="l" indent="0" marL="0">
              <a:buNone/>
            </a:pPr>
            <a:r>
              <a:rPr lang="en-US" sz="6600" b="1" dirty="0">
                <a:solidFill>
                  <a:srgbClr val="ED0016"/>
                </a:solidFill>
                <a:latin typeface="Arial" pitchFamily="34" charset="0"/>
                <a:ea typeface="Arial" pitchFamily="34" charset="-122"/>
                <a:cs typeface="Arial" pitchFamily="34" charset="-120"/>
              </a:rPr>
              <a:t>4-13</a:t>
            </a:r>
            <a:endParaRPr lang="en-US" sz="6600" dirty="0"/>
          </a:p>
        </p:txBody>
      </p:sp>
      <p:sp>
        <p:nvSpPr>
          <p:cNvPr id="45" name="text_148"/>
          <p:cNvSpPr/>
          <p:nvPr/>
        </p:nvSpPr>
        <p:spPr>
          <a:xfrm>
            <a:off x="7040880" y="3456432"/>
            <a:ext cx="4206240" cy="420624"/>
          </a:xfrm>
          <a:prstGeom prst="rect">
            <a:avLst/>
          </a:prstGeom>
          <a:noFill/>
          <a:ln/>
        </p:spPr>
        <p:txBody>
          <a:bodyPr wrap="square" lIns="0" tIns="0" rIns="0" bIns="0" rtlCol="0" anchor="ctr"/>
          <a:lstStyle/>
          <a:p>
            <a:pPr algn="l" indent="0" marL="0">
              <a:buNone/>
            </a:pPr>
            <a:r>
              <a:rPr lang="en-US" sz="2900" b="1" dirty="0">
                <a:solidFill>
                  <a:srgbClr val="17232C"/>
                </a:solidFill>
                <a:latin typeface="Arial" pitchFamily="34" charset="0"/>
                <a:ea typeface="Arial" pitchFamily="34" charset="-122"/>
                <a:cs typeface="Arial" pitchFamily="34" charset="-120"/>
              </a:rPr>
              <a:t>weeks</a:t>
            </a:r>
            <a:endParaRPr lang="en-US" sz="2900" dirty="0"/>
          </a:p>
        </p:txBody>
      </p:sp>
      <p:sp>
        <p:nvSpPr>
          <p:cNvPr id="46" name="text_149"/>
          <p:cNvSpPr/>
          <p:nvPr/>
        </p:nvSpPr>
        <p:spPr>
          <a:xfrm>
            <a:off x="7040880" y="4041648"/>
            <a:ext cx="4142232" cy="338328"/>
          </a:xfrm>
          <a:prstGeom prst="rect">
            <a:avLst/>
          </a:prstGeom>
          <a:noFill/>
          <a:ln/>
        </p:spPr>
        <p:txBody>
          <a:bodyPr wrap="square" lIns="0" tIns="0" rIns="0" bIns="0" rtlCol="0" anchor="ctr"/>
          <a:lstStyle/>
          <a:p>
            <a:pPr algn="l" indent="0" marL="0">
              <a:buNone/>
            </a:pPr>
            <a:r>
              <a:rPr lang="en-US" sz="2000" b="1" dirty="0">
                <a:solidFill>
                  <a:srgbClr val="17232C"/>
                </a:solidFill>
                <a:latin typeface="Arial" pitchFamily="34" charset="0"/>
                <a:ea typeface="Arial" pitchFamily="34" charset="-122"/>
                <a:cs typeface="Arial" pitchFamily="34" charset="-120"/>
              </a:rPr>
              <a:t>Normal safety-inspection range</a:t>
            </a:r>
            <a:endParaRPr lang="en-US" sz="2000" dirty="0"/>
          </a:p>
        </p:txBody>
      </p:sp>
      <p:sp>
        <p:nvSpPr>
          <p:cNvPr id="47" name="text_150"/>
          <p:cNvSpPr/>
          <p:nvPr/>
        </p:nvSpPr>
        <p:spPr>
          <a:xfrm>
            <a:off x="7040880" y="4599432"/>
            <a:ext cx="4069080" cy="859536"/>
          </a:xfrm>
          <a:prstGeom prst="rect">
            <a:avLst/>
          </a:prstGeom>
          <a:noFill/>
          <a:ln/>
        </p:spPr>
        <p:txBody>
          <a:bodyPr wrap="square" lIns="0" tIns="0" rIns="0" bIns="0" rtlCol="0" anchor="ctr"/>
          <a:lstStyle/>
          <a:p>
            <a:pPr algn="l" indent="0" marL="0">
              <a:buNone/>
            </a:pPr>
            <a:r>
              <a:rPr lang="en-US" sz="1750" dirty="0">
                <a:solidFill>
                  <a:srgbClr val="687782"/>
                </a:solidFill>
                <a:latin typeface="Arial" pitchFamily="34" charset="0"/>
                <a:ea typeface="Arial" pitchFamily="34" charset="-122"/>
                <a:cs typeface="Arial" pitchFamily="34" charset="-120"/>
              </a:rPr>
              <a:t>Frequency depends on use.</a:t>
            </a:r>
            <a:endParaRPr lang="en-US" sz="1750" dirty="0"/>
          </a:p>
          <a:p>
            <a:pPr algn="l" indent="0" marL="0">
              <a:buNone/>
            </a:pPr>
            <a:r>
              <a:rPr lang="en-US" sz="1750" dirty="0">
                <a:solidFill>
                  <a:srgbClr val="687782"/>
                </a:solidFill>
                <a:latin typeface="Arial" pitchFamily="34" charset="0"/>
                <a:ea typeface="Arial" pitchFamily="34" charset="-122"/>
                <a:cs typeface="Arial" pitchFamily="34" charset="-120"/>
              </a:rPr>
              <a:t>An inspection is not a full service</a:t>
            </a:r>
            <a:endParaRPr lang="en-US" sz="1750" dirty="0"/>
          </a:p>
          <a:p>
            <a:pPr algn="l" indent="0" marL="0">
              <a:buNone/>
            </a:pPr>
            <a:r>
              <a:rPr lang="en-US" sz="1750" dirty="0">
                <a:solidFill>
                  <a:srgbClr val="687782"/>
                </a:solidFill>
                <a:latin typeface="Arial" pitchFamily="34" charset="0"/>
                <a:ea typeface="Arial" pitchFamily="34" charset="-122"/>
                <a:cs typeface="Arial" pitchFamily="34" charset="-120"/>
              </a:rPr>
              <a:t>or an automatic Isuzu visit.</a:t>
            </a:r>
            <a:endParaRPr lang="en-US" sz="1750" dirty="0"/>
          </a:p>
        </p:txBody>
      </p:sp>
      <p:sp>
        <p:nvSpPr>
          <p:cNvPr id="48" name="rect_151"/>
          <p:cNvSpPr/>
          <p:nvPr/>
        </p:nvSpPr>
        <p:spPr>
          <a:xfrm>
            <a:off x="530352" y="5879592"/>
            <a:ext cx="38405" cy="329184"/>
          </a:xfrm>
          <a:prstGeom prst="rect">
            <a:avLst/>
          </a:prstGeom>
          <a:solidFill>
            <a:srgbClr val="ED0016"/>
          </a:solidFill>
          <a:ln w="12700">
            <a:solidFill>
              <a:srgbClr val="ED0016"/>
            </a:solidFill>
            <a:prstDash val="solid"/>
          </a:ln>
        </p:spPr>
      </p:sp>
      <p:sp>
        <p:nvSpPr>
          <p:cNvPr id="49" name="text_152"/>
          <p:cNvSpPr/>
          <p:nvPr/>
        </p:nvSpPr>
        <p:spPr>
          <a:xfrm>
            <a:off x="694944" y="5843016"/>
            <a:ext cx="10963656" cy="475488"/>
          </a:xfrm>
          <a:prstGeom prst="rect">
            <a:avLst/>
          </a:prstGeom>
          <a:noFill/>
          <a:ln/>
        </p:spPr>
        <p:txBody>
          <a:bodyPr wrap="square" lIns="0" tIns="0" rIns="0" bIns="0" rtlCol="0" anchor="ctr"/>
          <a:lstStyle/>
          <a:p>
            <a:pPr algn="l" indent="0" marL="0">
              <a:buNone/>
            </a:pPr>
            <a:r>
              <a:rPr lang="en-US" sz="1950" b="1" dirty="0">
                <a:solidFill>
                  <a:srgbClr val="17232C"/>
                </a:solidFill>
                <a:latin typeface="Arial" pitchFamily="34" charset="0"/>
                <a:ea typeface="Arial" pitchFamily="34" charset="-122"/>
                <a:cs typeface="Arial" pitchFamily="34" charset="-120"/>
              </a:rPr>
              <a:t>Compete for the maintenance and repair work generated by the cycle.</a:t>
            </a:r>
            <a:endParaRPr lang="en-US" sz="1950" dirty="0"/>
          </a:p>
        </p:txBody>
      </p:sp>
    </p:spTree>
  </p:cSld>
  <p:clrMapOvr>
    <a:masterClrMapping/>
  </p:clrMapOvr>
  <p:transition spd="fast" advClick="1">
    <p:fade/>
  </p:transition>
</p:sld>
</file>

<file path=ppt/v12/slides/slide4.xml><?xml version="1.0" encoding="utf-8"?>
<p:sld xmlns:a="http://schemas.openxmlformats.org/drawingml/2006/main" xmlns:r="http://schemas.openxmlformats.org/officeDocument/2006/relationships" xmlns:p="http://schemas.openxmlformats.org/presentationml/2006/main">
  <p:cSld name="Version 1.2 - 14">
    <p:bg>
      <p:bgPr>
        <a:solidFill>
          <a:srgbClr val="17232C"/>
        </a:solidFill>
      </p:bgPr>
    </p:bg>
    <p:spTree>
      <p:nvGrpSpPr>
        <p:cNvPr id="1" name=""/>
        <p:cNvGrpSpPr/>
        <p:nvPr/>
      </p:nvGrpSpPr>
      <p:grpSpPr>
        <a:xfrm>
          <a:off x="0" y="0"/>
          <a:ext cx="0" cy="0"/>
          <a:chOff x="0" y="0"/>
          <a:chExt cx="0" cy="0"/>
        </a:xfrm>
      </p:grpSpPr>
      <p:sp>
        <p:nvSpPr>
          <p:cNvPr id="2" name="text_153"/>
          <p:cNvSpPr/>
          <p:nvPr/>
        </p:nvSpPr>
        <p:spPr>
          <a:xfrm>
            <a:off x="530352" y="301752"/>
            <a:ext cx="1115568" cy="320040"/>
          </a:xfrm>
          <a:prstGeom prst="rect">
            <a:avLst/>
          </a:prstGeom>
          <a:noFill/>
          <a:ln/>
        </p:spPr>
        <p:txBody>
          <a:bodyPr wrap="square" lIns="0" tIns="0" rIns="0" bIns="0" rtlCol="0" anchor="ctr"/>
          <a:lstStyle/>
          <a:p>
            <a:pPr algn="l"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_154"/>
          <p:cNvSpPr/>
          <p:nvPr/>
        </p:nvSpPr>
        <p:spPr>
          <a:xfrm>
            <a:off x="1828800" y="365760"/>
            <a:ext cx="8686800" cy="228600"/>
          </a:xfrm>
          <a:prstGeom prst="rect">
            <a:avLst/>
          </a:prstGeom>
          <a:noFill/>
          <a:ln/>
        </p:spPr>
        <p:txBody>
          <a:bodyPr wrap="square" lIns="0" tIns="0" rIns="0" bIns="0" rtlCol="0" anchor="ctr"/>
          <a:lstStyle/>
          <a:p>
            <a:pPr algn="l" indent="0" marL="0">
              <a:buNone/>
            </a:pPr>
            <a:r>
              <a:rPr lang="en-US" sz="1050" b="1" spc="140" kern="0" dirty="0">
                <a:solidFill>
                  <a:srgbClr val="C8D1D7"/>
                </a:solidFill>
                <a:latin typeface="Arial" pitchFamily="34" charset="0"/>
                <a:ea typeface="Arial" pitchFamily="34" charset="-122"/>
                <a:cs typeface="Arial" pitchFamily="34" charset="-120"/>
              </a:rPr>
              <a:t>UK TRUCKS - THE COMMERCIAL OBJECTIVE</a:t>
            </a:r>
            <a:endParaRPr lang="en-US" sz="1050" dirty="0"/>
          </a:p>
        </p:txBody>
      </p:sp>
      <p:sp>
        <p:nvSpPr>
          <p:cNvPr id="4" name="text_155"/>
          <p:cNvSpPr/>
          <p:nvPr/>
        </p:nvSpPr>
        <p:spPr>
          <a:xfrm>
            <a:off x="530352" y="905256"/>
            <a:ext cx="11128248" cy="786384"/>
          </a:xfrm>
          <a:prstGeom prst="rect">
            <a:avLst/>
          </a:prstGeom>
          <a:noFill/>
          <a:ln/>
        </p:spPr>
        <p:txBody>
          <a:bodyPr wrap="square" lIns="0" tIns="0" rIns="0" bIns="0" rtlCol="0" anchor="ctr"/>
          <a:lstStyle/>
          <a:p>
            <a:pPr algn="l" indent="0" marL="0">
              <a:buNone/>
            </a:pPr>
            <a:r>
              <a:rPr lang="en-US" sz="3100" b="1" dirty="0">
                <a:solidFill>
                  <a:srgbClr val="FFFFFF"/>
                </a:solidFill>
                <a:latin typeface="Arial" pitchFamily="34" charset="0"/>
                <a:ea typeface="Arial" pitchFamily="34" charset="-122"/>
                <a:cs typeface="Arial" pitchFamily="34" charset="-120"/>
              </a:rPr>
              <a:t>Win and retain the operator's maintenance business.</a:t>
            </a:r>
            <a:endParaRPr lang="en-US" sz="3100" dirty="0"/>
          </a:p>
        </p:txBody>
      </p:sp>
      <p:sp>
        <p:nvSpPr>
          <p:cNvPr id="5" name="line_156"/>
          <p:cNvSpPr/>
          <p:nvPr/>
        </p:nvSpPr>
        <p:spPr>
          <a:xfrm>
            <a:off x="530352" y="6373368"/>
            <a:ext cx="11128248" cy="0"/>
          </a:xfrm>
          <a:prstGeom prst="line">
            <a:avLst/>
          </a:prstGeom>
          <a:noFill/>
          <a:ln w="7620">
            <a:solidFill>
              <a:srgbClr val="42515D"/>
            </a:solidFill>
            <a:prstDash val="solid"/>
          </a:ln>
        </p:spPr>
      </p:sp>
      <p:sp>
        <p:nvSpPr>
          <p:cNvPr id="6" name="text_157"/>
          <p:cNvSpPr/>
          <p:nvPr/>
        </p:nvSpPr>
        <p:spPr>
          <a:xfrm>
            <a:off x="530352" y="6469380"/>
            <a:ext cx="10012680" cy="228600"/>
          </a:xfrm>
          <a:prstGeom prst="rect">
            <a:avLst/>
          </a:prstGeom>
          <a:noFill/>
          <a:ln/>
        </p:spPr>
        <p:txBody>
          <a:bodyPr wrap="square" lIns="0" tIns="0" rIns="0" bIns="0" rtlCol="0" anchor="ctr"/>
          <a:lstStyle/>
          <a:p>
            <a:pPr algn="l" indent="0" marL="0">
              <a:buNone/>
            </a:pPr>
            <a:r>
              <a:rPr lang="en-US" sz="900" dirty="0">
                <a:solidFill>
                  <a:srgbClr val="AEBBC4"/>
                </a:solidFill>
                <a:latin typeface="Arial" pitchFamily="34" charset="0"/>
                <a:ea typeface="Arial" pitchFamily="34" charset="-122"/>
                <a:cs typeface="Arial" pitchFamily="34" charset="-120"/>
              </a:rPr>
              <a:t>Source: management strategy. The intended commercial sequence is not a measured sales response.</a:t>
            </a:r>
            <a:endParaRPr lang="en-US" sz="900" dirty="0"/>
          </a:p>
        </p:txBody>
      </p:sp>
      <p:sp>
        <p:nvSpPr>
          <p:cNvPr id="7" name="text_158"/>
          <p:cNvSpPr/>
          <p:nvPr/>
        </p:nvSpPr>
        <p:spPr>
          <a:xfrm>
            <a:off x="10744200" y="6464808"/>
            <a:ext cx="914400" cy="228600"/>
          </a:xfrm>
          <a:prstGeom prst="rect">
            <a:avLst/>
          </a:prstGeom>
          <a:noFill/>
          <a:ln/>
        </p:spPr>
        <p:txBody>
          <a:bodyPr wrap="square" lIns="0" tIns="0" rIns="0" bIns="0" rtlCol="0" anchor="ctr"/>
          <a:lstStyle/>
          <a:p>
            <a:pPr algn="r" indent="0" marL="0">
              <a:buNone/>
            </a:pPr>
            <a:r>
              <a:rPr lang="en-US" sz="940" dirty="0">
                <a:solidFill>
                  <a:srgbClr val="C8D1D7"/>
                </a:solidFill>
                <a:latin typeface="Arial" pitchFamily="34" charset="0"/>
                <a:ea typeface="Arial" pitchFamily="34" charset="-122"/>
                <a:cs typeface="Arial" pitchFamily="34" charset="-120"/>
              </a:rPr>
              <a:t>v1.2  |  14</a:t>
            </a:r>
            <a:endParaRPr lang="en-US" sz="940" dirty="0"/>
          </a:p>
        </p:txBody>
      </p:sp>
      <p:sp>
        <p:nvSpPr>
          <p:cNvPr id="8" name="text_159"/>
          <p:cNvSpPr/>
          <p:nvPr/>
        </p:nvSpPr>
        <p:spPr>
          <a:xfrm>
            <a:off x="530352" y="1792224"/>
            <a:ext cx="11082528" cy="347472"/>
          </a:xfrm>
          <a:prstGeom prst="rect">
            <a:avLst/>
          </a:prstGeom>
          <a:noFill/>
          <a:ln/>
        </p:spPr>
        <p:txBody>
          <a:bodyPr wrap="square" lIns="0" tIns="0" rIns="0" bIns="0" rtlCol="0" anchor="ctr"/>
          <a:lstStyle/>
          <a:p>
            <a:pPr algn="l" indent="0" marL="0">
              <a:buNone/>
            </a:pPr>
            <a:r>
              <a:rPr lang="en-US" sz="1800" dirty="0">
                <a:solidFill>
                  <a:srgbClr val="C8D1D7"/>
                </a:solidFill>
                <a:latin typeface="Arial" pitchFamily="34" charset="0"/>
                <a:ea typeface="Arial" pitchFamily="34" charset="-122"/>
                <a:cs typeface="Arial" pitchFamily="34" charset="-120"/>
              </a:rPr>
              <a:t>Competitive parts pricing supports the complete offer - not just one cheaper pad kit.</a:t>
            </a:r>
            <a:endParaRPr lang="en-US" sz="1800" dirty="0"/>
          </a:p>
        </p:txBody>
      </p:sp>
      <p:sp>
        <p:nvSpPr>
          <p:cNvPr id="9" name="icon_160"/>
          <p:cNvSpPr/>
          <p:nvPr/>
        </p:nvSpPr>
        <p:spPr>
          <a:xfrm rot="16200000">
            <a:off x="1302654" y="2558125"/>
            <a:ext cx="597652" cy="511150"/>
          </a:xfrm>
          <a:prstGeom prst="pentagon">
            <a:avLst/>
          </a:prstGeom>
          <a:solidFill>
            <a:srgbClr val="FFFFFF">
              <a:alpha val="0"/>
            </a:srgbClr>
          </a:solidFill>
          <a:ln w="25400">
            <a:solidFill>
              <a:srgbClr val="FFFFFF"/>
            </a:solidFill>
            <a:prstDash val="solid"/>
          </a:ln>
        </p:spPr>
      </p:sp>
      <p:sp>
        <p:nvSpPr>
          <p:cNvPr id="10" name="icon_161"/>
          <p:cNvSpPr/>
          <p:nvPr/>
        </p:nvSpPr>
        <p:spPr>
          <a:xfrm>
            <a:off x="1699778" y="2680015"/>
            <a:ext cx="70775" cy="70775"/>
          </a:xfrm>
          <a:prstGeom prst="ellipse">
            <a:avLst/>
          </a:prstGeom>
          <a:solidFill>
            <a:srgbClr val="FFFFFF">
              <a:alpha val="0"/>
            </a:srgbClr>
          </a:solidFill>
          <a:ln w="25400">
            <a:solidFill>
              <a:srgbClr val="FFFFFF"/>
            </a:solidFill>
            <a:prstDash val="solid"/>
          </a:ln>
        </p:spPr>
      </p:sp>
      <p:sp>
        <p:nvSpPr>
          <p:cNvPr id="11" name="line_162"/>
          <p:cNvSpPr/>
          <p:nvPr/>
        </p:nvSpPr>
        <p:spPr>
          <a:xfrm>
            <a:off x="1420612" y="2825496"/>
            <a:ext cx="180868" cy="0"/>
          </a:xfrm>
          <a:prstGeom prst="line">
            <a:avLst/>
          </a:prstGeom>
          <a:noFill/>
          <a:ln w="25400">
            <a:solidFill>
              <a:srgbClr val="FFFFFF"/>
            </a:solidFill>
            <a:prstDash val="solid"/>
          </a:ln>
        </p:spPr>
      </p:sp>
      <p:sp>
        <p:nvSpPr>
          <p:cNvPr id="12" name="line_163"/>
          <p:cNvSpPr/>
          <p:nvPr/>
        </p:nvSpPr>
        <p:spPr>
          <a:xfrm>
            <a:off x="1420612" y="2927726"/>
            <a:ext cx="157277" cy="0"/>
          </a:xfrm>
          <a:prstGeom prst="line">
            <a:avLst/>
          </a:prstGeom>
          <a:noFill/>
          <a:ln w="25400">
            <a:solidFill>
              <a:srgbClr val="FFFFFF"/>
            </a:solidFill>
            <a:prstDash val="solid"/>
          </a:ln>
        </p:spPr>
      </p:sp>
      <p:sp>
        <p:nvSpPr>
          <p:cNvPr id="13" name="text_164"/>
          <p:cNvSpPr/>
          <p:nvPr/>
        </p:nvSpPr>
        <p:spPr>
          <a:xfrm>
            <a:off x="640080" y="3401568"/>
            <a:ext cx="2368296" cy="320040"/>
          </a:xfrm>
          <a:prstGeom prst="rect">
            <a:avLst/>
          </a:prstGeom>
          <a:noFill/>
          <a:ln/>
        </p:spPr>
        <p:txBody>
          <a:bodyPr wrap="squar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ISZE</a:t>
            </a:r>
            <a:endParaRPr lang="en-US" sz="2300" dirty="0"/>
          </a:p>
        </p:txBody>
      </p:sp>
      <p:sp>
        <p:nvSpPr>
          <p:cNvPr id="14" name="text_165"/>
          <p:cNvSpPr/>
          <p:nvPr/>
        </p:nvSpPr>
        <p:spPr>
          <a:xfrm>
            <a:off x="640080" y="3877056"/>
            <a:ext cx="2368296" cy="301752"/>
          </a:xfrm>
          <a:prstGeom prst="rect">
            <a:avLst/>
          </a:prstGeom>
          <a:noFill/>
          <a:ln/>
        </p:spPr>
        <p:txBody>
          <a:bodyPr wrap="square" lIns="0" tIns="0" rIns="0" bIns="0" rtlCol="0" anchor="ctr"/>
          <a:lstStyle/>
          <a:p>
            <a:pPr algn="ctr" indent="0" marL="0">
              <a:buNone/>
            </a:pPr>
            <a:r>
              <a:rPr lang="en-US" sz="1780" b="1" dirty="0">
                <a:solidFill>
                  <a:srgbClr val="FFFFFF"/>
                </a:solidFill>
                <a:latin typeface="Arial" pitchFamily="34" charset="0"/>
                <a:ea typeface="Arial" pitchFamily="34" charset="-122"/>
                <a:cs typeface="Arial" pitchFamily="34" charset="-120"/>
              </a:rPr>
              <a:t>Targeted pricing</a:t>
            </a:r>
            <a:endParaRPr lang="en-US" sz="1780" dirty="0"/>
          </a:p>
        </p:txBody>
      </p:sp>
      <p:sp>
        <p:nvSpPr>
          <p:cNvPr id="15" name="text_166"/>
          <p:cNvSpPr/>
          <p:nvPr/>
        </p:nvSpPr>
        <p:spPr>
          <a:xfrm>
            <a:off x="640080" y="4343400"/>
            <a:ext cx="2368296" cy="667512"/>
          </a:xfrm>
          <a:prstGeom prst="rect">
            <a:avLst/>
          </a:prstGeom>
          <a:noFill/>
          <a:ln/>
        </p:spPr>
        <p:txBody>
          <a:bodyPr wrap="square" lIns="0" tIns="0" rIns="0" bIns="0" rtlCol="0" anchor="ctr"/>
          <a:lstStyle/>
          <a:p>
            <a:pPr algn="ctr" indent="0" marL="0">
              <a:buNone/>
            </a:pPr>
            <a:r>
              <a:rPr lang="en-US" sz="1700" dirty="0">
                <a:solidFill>
                  <a:srgbClr val="C8D1D7"/>
                </a:solidFill>
                <a:latin typeface="Arial" pitchFamily="34" charset="0"/>
                <a:ea typeface="Arial" pitchFamily="34" charset="-122"/>
                <a:cs typeface="Arial" pitchFamily="34" charset="-120"/>
              </a:rPr>
              <a:t>Give ITUK enough room</a:t>
            </a:r>
            <a:endParaRPr lang="en-US" sz="1700" dirty="0"/>
          </a:p>
          <a:p>
            <a:pPr algn="ctr" indent="0" marL="0">
              <a:buNone/>
            </a:pPr>
            <a:r>
              <a:rPr lang="en-US" sz="1700" dirty="0">
                <a:solidFill>
                  <a:srgbClr val="C8D1D7"/>
                </a:solidFill>
                <a:latin typeface="Arial" pitchFamily="34" charset="0"/>
                <a:ea typeface="Arial" pitchFamily="34" charset="-122"/>
                <a:cs typeface="Arial" pitchFamily="34" charset="-120"/>
              </a:rPr>
              <a:t>on the parts that matter.</a:t>
            </a:r>
            <a:endParaRPr lang="en-US" sz="1700" dirty="0"/>
          </a:p>
        </p:txBody>
      </p:sp>
      <p:sp>
        <p:nvSpPr>
          <p:cNvPr id="16" name="line_167"/>
          <p:cNvSpPr/>
          <p:nvPr/>
        </p:nvSpPr>
        <p:spPr>
          <a:xfrm>
            <a:off x="2816352" y="2816352"/>
            <a:ext cx="448056" cy="0"/>
          </a:xfrm>
          <a:prstGeom prst="line">
            <a:avLst/>
          </a:prstGeom>
          <a:noFill/>
          <a:ln w="27940">
            <a:solidFill>
              <a:srgbClr val="ED0016"/>
            </a:solidFill>
            <a:prstDash val="solid"/>
            <a:tailEnd type="triangle"/>
          </a:ln>
        </p:spPr>
      </p:sp>
      <p:sp>
        <p:nvSpPr>
          <p:cNvPr id="17" name="icon_168"/>
          <p:cNvSpPr/>
          <p:nvPr/>
        </p:nvSpPr>
        <p:spPr>
          <a:xfrm>
            <a:off x="4172590" y="2801904"/>
            <a:ext cx="290962" cy="290962"/>
          </a:xfrm>
          <a:prstGeom prst="rect">
            <a:avLst/>
          </a:prstGeom>
          <a:solidFill>
            <a:srgbClr val="FFFFFF">
              <a:alpha val="0"/>
            </a:srgbClr>
          </a:solidFill>
          <a:ln w="25400">
            <a:solidFill>
              <a:srgbClr val="FFFFFF"/>
            </a:solidFill>
            <a:prstDash val="solid"/>
          </a:ln>
        </p:spPr>
      </p:sp>
      <p:sp>
        <p:nvSpPr>
          <p:cNvPr id="18" name="icon_169"/>
          <p:cNvSpPr/>
          <p:nvPr/>
        </p:nvSpPr>
        <p:spPr>
          <a:xfrm>
            <a:off x="4495008" y="2801904"/>
            <a:ext cx="290962" cy="290962"/>
          </a:xfrm>
          <a:prstGeom prst="rect">
            <a:avLst/>
          </a:prstGeom>
          <a:solidFill>
            <a:srgbClr val="FFFFFF">
              <a:alpha val="0"/>
            </a:srgbClr>
          </a:solidFill>
          <a:ln w="25400">
            <a:solidFill>
              <a:srgbClr val="FFFFFF"/>
            </a:solidFill>
            <a:prstDash val="solid"/>
          </a:ln>
        </p:spPr>
      </p:sp>
      <p:sp>
        <p:nvSpPr>
          <p:cNvPr id="19" name="icon_170"/>
          <p:cNvSpPr/>
          <p:nvPr/>
        </p:nvSpPr>
        <p:spPr>
          <a:xfrm>
            <a:off x="4337731" y="2487351"/>
            <a:ext cx="290962" cy="267371"/>
          </a:xfrm>
          <a:prstGeom prst="rect">
            <a:avLst/>
          </a:prstGeom>
          <a:solidFill>
            <a:srgbClr val="FFFFFF">
              <a:alpha val="0"/>
            </a:srgbClr>
          </a:solidFill>
          <a:ln w="25400">
            <a:solidFill>
              <a:srgbClr val="FFFFFF"/>
            </a:solidFill>
            <a:prstDash val="solid"/>
          </a:ln>
        </p:spPr>
      </p:sp>
      <p:sp>
        <p:nvSpPr>
          <p:cNvPr id="20" name="line_171"/>
          <p:cNvSpPr/>
          <p:nvPr/>
        </p:nvSpPr>
        <p:spPr>
          <a:xfrm>
            <a:off x="4322003" y="2801904"/>
            <a:ext cx="0" cy="141549"/>
          </a:xfrm>
          <a:prstGeom prst="line">
            <a:avLst/>
          </a:prstGeom>
          <a:noFill/>
          <a:ln w="25400">
            <a:solidFill>
              <a:srgbClr val="FFFFFF"/>
            </a:solidFill>
            <a:prstDash val="solid"/>
          </a:ln>
        </p:spPr>
      </p:sp>
      <p:sp>
        <p:nvSpPr>
          <p:cNvPr id="21" name="line_172"/>
          <p:cNvSpPr/>
          <p:nvPr/>
        </p:nvSpPr>
        <p:spPr>
          <a:xfrm>
            <a:off x="4636557" y="2801904"/>
            <a:ext cx="0" cy="141549"/>
          </a:xfrm>
          <a:prstGeom prst="line">
            <a:avLst/>
          </a:prstGeom>
          <a:noFill/>
          <a:ln w="25400">
            <a:solidFill>
              <a:srgbClr val="FFFFFF"/>
            </a:solidFill>
            <a:prstDash val="solid"/>
          </a:ln>
        </p:spPr>
      </p:sp>
      <p:sp>
        <p:nvSpPr>
          <p:cNvPr id="22" name="line_173"/>
          <p:cNvSpPr/>
          <p:nvPr/>
        </p:nvSpPr>
        <p:spPr>
          <a:xfrm>
            <a:off x="4479280" y="2487351"/>
            <a:ext cx="0" cy="141549"/>
          </a:xfrm>
          <a:prstGeom prst="line">
            <a:avLst/>
          </a:prstGeom>
          <a:noFill/>
          <a:ln w="25400">
            <a:solidFill>
              <a:srgbClr val="FFFFFF"/>
            </a:solidFill>
            <a:prstDash val="solid"/>
          </a:ln>
        </p:spPr>
      </p:sp>
      <p:sp>
        <p:nvSpPr>
          <p:cNvPr id="23" name="text_174"/>
          <p:cNvSpPr/>
          <p:nvPr/>
        </p:nvSpPr>
        <p:spPr>
          <a:xfrm>
            <a:off x="3502152" y="3401568"/>
            <a:ext cx="2368296" cy="320040"/>
          </a:xfrm>
          <a:prstGeom prst="rect">
            <a:avLst/>
          </a:prstGeom>
          <a:noFill/>
          <a:ln/>
        </p:spPr>
        <p:txBody>
          <a:bodyPr wrap="squar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ITUK</a:t>
            </a:r>
            <a:endParaRPr lang="en-US" sz="2300" dirty="0"/>
          </a:p>
        </p:txBody>
      </p:sp>
      <p:sp>
        <p:nvSpPr>
          <p:cNvPr id="24" name="text_175"/>
          <p:cNvSpPr/>
          <p:nvPr/>
        </p:nvSpPr>
        <p:spPr>
          <a:xfrm>
            <a:off x="3502152" y="3877056"/>
            <a:ext cx="2368296" cy="301752"/>
          </a:xfrm>
          <a:prstGeom prst="rect">
            <a:avLst/>
          </a:prstGeom>
          <a:noFill/>
          <a:ln/>
        </p:spPr>
        <p:txBody>
          <a:bodyPr wrap="square" lIns="0" tIns="0" rIns="0" bIns="0" rtlCol="0" anchor="ctr"/>
          <a:lstStyle/>
          <a:p>
            <a:pPr algn="ctr" indent="0" marL="0">
              <a:buNone/>
            </a:pPr>
            <a:r>
              <a:rPr lang="en-US" sz="1780" b="1" dirty="0">
                <a:solidFill>
                  <a:srgbClr val="FFFFFF"/>
                </a:solidFill>
                <a:latin typeface="Arial" pitchFamily="34" charset="0"/>
                <a:ea typeface="Arial" pitchFamily="34" charset="-122"/>
                <a:cs typeface="Arial" pitchFamily="34" charset="-120"/>
              </a:rPr>
              <a:t>Distributor offer</a:t>
            </a:r>
            <a:endParaRPr lang="en-US" sz="1780" dirty="0"/>
          </a:p>
        </p:txBody>
      </p:sp>
      <p:sp>
        <p:nvSpPr>
          <p:cNvPr id="25" name="text_176"/>
          <p:cNvSpPr/>
          <p:nvPr/>
        </p:nvSpPr>
        <p:spPr>
          <a:xfrm>
            <a:off x="3502152" y="4343400"/>
            <a:ext cx="2368296" cy="667512"/>
          </a:xfrm>
          <a:prstGeom prst="rect">
            <a:avLst/>
          </a:prstGeom>
          <a:noFill/>
          <a:ln/>
        </p:spPr>
        <p:txBody>
          <a:bodyPr wrap="square" lIns="0" tIns="0" rIns="0" bIns="0" rtlCol="0" anchor="ctr"/>
          <a:lstStyle/>
          <a:p>
            <a:pPr algn="ctr" indent="0" marL="0">
              <a:buNone/>
            </a:pPr>
            <a:r>
              <a:rPr lang="en-US" sz="1700" dirty="0">
                <a:solidFill>
                  <a:srgbClr val="C8D1D7"/>
                </a:solidFill>
                <a:latin typeface="Arial" pitchFamily="34" charset="0"/>
                <a:ea typeface="Arial" pitchFamily="34" charset="-122"/>
                <a:cs typeface="Arial" pitchFamily="34" charset="-120"/>
              </a:rPr>
              <a:t>Support dealers with</a:t>
            </a:r>
            <a:endParaRPr lang="en-US" sz="1700" dirty="0"/>
          </a:p>
          <a:p>
            <a:pPr algn="ctr" indent="0" marL="0">
              <a:buNone/>
            </a:pPr>
            <a:r>
              <a:rPr lang="en-US" sz="1700" dirty="0">
                <a:solidFill>
                  <a:srgbClr val="C8D1D7"/>
                </a:solidFill>
                <a:latin typeface="Arial" pitchFamily="34" charset="0"/>
                <a:ea typeface="Arial" pitchFamily="34" charset="-122"/>
                <a:cs typeface="Arial" pitchFamily="34" charset="-120"/>
              </a:rPr>
              <a:t>competitive purchase terms.</a:t>
            </a:r>
            <a:endParaRPr lang="en-US" sz="1700" dirty="0"/>
          </a:p>
        </p:txBody>
      </p:sp>
      <p:sp>
        <p:nvSpPr>
          <p:cNvPr id="26" name="line_177"/>
          <p:cNvSpPr/>
          <p:nvPr/>
        </p:nvSpPr>
        <p:spPr>
          <a:xfrm>
            <a:off x="5678424" y="2816352"/>
            <a:ext cx="448056" cy="0"/>
          </a:xfrm>
          <a:prstGeom prst="line">
            <a:avLst/>
          </a:prstGeom>
          <a:noFill/>
          <a:ln w="27940">
            <a:solidFill>
              <a:srgbClr val="ED0016"/>
            </a:solidFill>
            <a:prstDash val="solid"/>
            <a:tailEnd type="triangle"/>
          </a:ln>
        </p:spPr>
      </p:sp>
      <p:sp>
        <p:nvSpPr>
          <p:cNvPr id="27" name="line_178"/>
          <p:cNvSpPr/>
          <p:nvPr/>
        </p:nvSpPr>
        <p:spPr>
          <a:xfrm flipV="1">
            <a:off x="6987479" y="2495215"/>
            <a:ext cx="346009" cy="212324"/>
          </a:xfrm>
          <a:prstGeom prst="line">
            <a:avLst/>
          </a:prstGeom>
          <a:noFill/>
          <a:ln w="25400">
            <a:solidFill>
              <a:srgbClr val="FFFFFF"/>
            </a:solidFill>
            <a:prstDash val="solid"/>
          </a:ln>
        </p:spPr>
      </p:sp>
      <p:sp>
        <p:nvSpPr>
          <p:cNvPr id="28" name="line_179"/>
          <p:cNvSpPr/>
          <p:nvPr/>
        </p:nvSpPr>
        <p:spPr>
          <a:xfrm>
            <a:off x="7333488" y="2495215"/>
            <a:ext cx="346009" cy="212324"/>
          </a:xfrm>
          <a:prstGeom prst="line">
            <a:avLst/>
          </a:prstGeom>
          <a:noFill/>
          <a:ln w="25400">
            <a:solidFill>
              <a:srgbClr val="FFFFFF"/>
            </a:solidFill>
            <a:prstDash val="solid"/>
          </a:ln>
        </p:spPr>
      </p:sp>
      <p:sp>
        <p:nvSpPr>
          <p:cNvPr id="29" name="line_180"/>
          <p:cNvSpPr/>
          <p:nvPr/>
        </p:nvSpPr>
        <p:spPr>
          <a:xfrm>
            <a:off x="7050390" y="2683947"/>
            <a:ext cx="0" cy="456103"/>
          </a:xfrm>
          <a:prstGeom prst="line">
            <a:avLst/>
          </a:prstGeom>
          <a:noFill/>
          <a:ln w="25400">
            <a:solidFill>
              <a:srgbClr val="FFFFFF"/>
            </a:solidFill>
            <a:prstDash val="solid"/>
          </a:ln>
        </p:spPr>
      </p:sp>
      <p:sp>
        <p:nvSpPr>
          <p:cNvPr id="30" name="line_181"/>
          <p:cNvSpPr/>
          <p:nvPr/>
        </p:nvSpPr>
        <p:spPr>
          <a:xfrm>
            <a:off x="7616586" y="2683947"/>
            <a:ext cx="0" cy="456103"/>
          </a:xfrm>
          <a:prstGeom prst="line">
            <a:avLst/>
          </a:prstGeom>
          <a:noFill/>
          <a:ln w="25400">
            <a:solidFill>
              <a:srgbClr val="FFFFFF"/>
            </a:solidFill>
            <a:prstDash val="solid"/>
          </a:ln>
        </p:spPr>
      </p:sp>
      <p:sp>
        <p:nvSpPr>
          <p:cNvPr id="31" name="line_182"/>
          <p:cNvSpPr/>
          <p:nvPr/>
        </p:nvSpPr>
        <p:spPr>
          <a:xfrm>
            <a:off x="7050390" y="3140050"/>
            <a:ext cx="566196" cy="0"/>
          </a:xfrm>
          <a:prstGeom prst="line">
            <a:avLst/>
          </a:prstGeom>
          <a:noFill/>
          <a:ln w="25400">
            <a:solidFill>
              <a:srgbClr val="FFFFFF"/>
            </a:solidFill>
            <a:prstDash val="solid"/>
          </a:ln>
        </p:spPr>
      </p:sp>
      <p:sp>
        <p:nvSpPr>
          <p:cNvPr id="32" name="icon_183"/>
          <p:cNvSpPr/>
          <p:nvPr/>
        </p:nvSpPr>
        <p:spPr>
          <a:xfrm>
            <a:off x="7184075" y="2778313"/>
            <a:ext cx="298826" cy="361737"/>
          </a:xfrm>
          <a:prstGeom prst="rect">
            <a:avLst/>
          </a:prstGeom>
          <a:solidFill>
            <a:srgbClr val="FFFFFF">
              <a:alpha val="0"/>
            </a:srgbClr>
          </a:solidFill>
          <a:ln w="25400">
            <a:solidFill>
              <a:srgbClr val="FFFFFF"/>
            </a:solidFill>
            <a:prstDash val="solid"/>
          </a:ln>
        </p:spPr>
      </p:sp>
      <p:sp>
        <p:nvSpPr>
          <p:cNvPr id="33" name="line_184"/>
          <p:cNvSpPr/>
          <p:nvPr/>
        </p:nvSpPr>
        <p:spPr>
          <a:xfrm>
            <a:off x="7184075" y="2888407"/>
            <a:ext cx="298826" cy="0"/>
          </a:xfrm>
          <a:prstGeom prst="line">
            <a:avLst/>
          </a:prstGeom>
          <a:noFill/>
          <a:ln w="25400">
            <a:solidFill>
              <a:srgbClr val="FFFFFF"/>
            </a:solidFill>
            <a:prstDash val="solid"/>
          </a:ln>
        </p:spPr>
      </p:sp>
      <p:sp>
        <p:nvSpPr>
          <p:cNvPr id="34" name="line_185"/>
          <p:cNvSpPr/>
          <p:nvPr/>
        </p:nvSpPr>
        <p:spPr>
          <a:xfrm>
            <a:off x="7184075" y="2998500"/>
            <a:ext cx="298826" cy="0"/>
          </a:xfrm>
          <a:prstGeom prst="line">
            <a:avLst/>
          </a:prstGeom>
          <a:noFill/>
          <a:ln w="25400">
            <a:solidFill>
              <a:srgbClr val="FFFFFF"/>
            </a:solidFill>
            <a:prstDash val="solid"/>
          </a:ln>
        </p:spPr>
      </p:sp>
      <p:sp>
        <p:nvSpPr>
          <p:cNvPr id="35" name="text_186"/>
          <p:cNvSpPr/>
          <p:nvPr/>
        </p:nvSpPr>
        <p:spPr>
          <a:xfrm>
            <a:off x="6364224" y="3401568"/>
            <a:ext cx="2368296" cy="320040"/>
          </a:xfrm>
          <a:prstGeom prst="rect">
            <a:avLst/>
          </a:prstGeom>
          <a:noFill/>
          <a:ln/>
        </p:spPr>
        <p:txBody>
          <a:bodyPr wrap="squar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Dealer</a:t>
            </a:r>
            <a:endParaRPr lang="en-US" sz="2300" dirty="0"/>
          </a:p>
        </p:txBody>
      </p:sp>
      <p:sp>
        <p:nvSpPr>
          <p:cNvPr id="36" name="text_187"/>
          <p:cNvSpPr/>
          <p:nvPr/>
        </p:nvSpPr>
        <p:spPr>
          <a:xfrm>
            <a:off x="6364224" y="3877056"/>
            <a:ext cx="2368296" cy="301752"/>
          </a:xfrm>
          <a:prstGeom prst="rect">
            <a:avLst/>
          </a:prstGeom>
          <a:noFill/>
          <a:ln/>
        </p:spPr>
        <p:txBody>
          <a:bodyPr wrap="square" lIns="0" tIns="0" rIns="0" bIns="0" rtlCol="0" anchor="ctr"/>
          <a:lstStyle/>
          <a:p>
            <a:pPr algn="ctr" indent="0" marL="0">
              <a:buNone/>
            </a:pPr>
            <a:r>
              <a:rPr lang="en-US" sz="1780" b="1" dirty="0">
                <a:solidFill>
                  <a:srgbClr val="FFFFFF"/>
                </a:solidFill>
                <a:latin typeface="Arial" pitchFamily="34" charset="0"/>
                <a:ea typeface="Arial" pitchFamily="34" charset="-122"/>
                <a:cs typeface="Arial" pitchFamily="34" charset="-120"/>
              </a:rPr>
              <a:t>Maintenance offer</a:t>
            </a:r>
            <a:endParaRPr lang="en-US" sz="1780" dirty="0"/>
          </a:p>
        </p:txBody>
      </p:sp>
      <p:sp>
        <p:nvSpPr>
          <p:cNvPr id="37" name="text_188"/>
          <p:cNvSpPr/>
          <p:nvPr/>
        </p:nvSpPr>
        <p:spPr>
          <a:xfrm>
            <a:off x="6364224" y="4343400"/>
            <a:ext cx="2368296" cy="667512"/>
          </a:xfrm>
          <a:prstGeom prst="rect">
            <a:avLst/>
          </a:prstGeom>
          <a:noFill/>
          <a:ln/>
        </p:spPr>
        <p:txBody>
          <a:bodyPr wrap="square" lIns="0" tIns="0" rIns="0" bIns="0" rtlCol="0" anchor="ctr"/>
          <a:lstStyle/>
          <a:p>
            <a:pPr algn="ctr" indent="0" marL="0">
              <a:buNone/>
            </a:pPr>
            <a:r>
              <a:rPr lang="en-US" sz="1700" dirty="0">
                <a:solidFill>
                  <a:srgbClr val="C8D1D7"/>
                </a:solidFill>
                <a:latin typeface="Arial" pitchFamily="34" charset="0"/>
                <a:ea typeface="Arial" pitchFamily="34" charset="-122"/>
                <a:cs typeface="Arial" pitchFamily="34" charset="-120"/>
              </a:rPr>
              <a:t>Compete for the operator</a:t>
            </a:r>
            <a:endParaRPr lang="en-US" sz="1700" dirty="0"/>
          </a:p>
          <a:p>
            <a:pPr algn="ctr" indent="0" marL="0">
              <a:buNone/>
            </a:pPr>
            <a:r>
              <a:rPr lang="en-US" sz="1700" dirty="0">
                <a:solidFill>
                  <a:srgbClr val="C8D1D7"/>
                </a:solidFill>
                <a:latin typeface="Arial" pitchFamily="34" charset="0"/>
                <a:ea typeface="Arial" pitchFamily="34" charset="-122"/>
                <a:cs typeface="Arial" pitchFamily="34" charset="-120"/>
              </a:rPr>
              <a:t>and supply the work.</a:t>
            </a:r>
            <a:endParaRPr lang="en-US" sz="1700" dirty="0"/>
          </a:p>
        </p:txBody>
      </p:sp>
      <p:sp>
        <p:nvSpPr>
          <p:cNvPr id="38" name="line_189"/>
          <p:cNvSpPr/>
          <p:nvPr/>
        </p:nvSpPr>
        <p:spPr>
          <a:xfrm>
            <a:off x="8540496" y="2816352"/>
            <a:ext cx="448056" cy="0"/>
          </a:xfrm>
          <a:prstGeom prst="line">
            <a:avLst/>
          </a:prstGeom>
          <a:noFill/>
          <a:ln w="27940">
            <a:solidFill>
              <a:srgbClr val="ED0016"/>
            </a:solidFill>
            <a:prstDash val="solid"/>
            <a:tailEnd type="triangle"/>
          </a:ln>
        </p:spPr>
      </p:sp>
      <p:sp>
        <p:nvSpPr>
          <p:cNvPr id="39" name="icon_190"/>
          <p:cNvSpPr/>
          <p:nvPr/>
        </p:nvSpPr>
        <p:spPr>
          <a:xfrm>
            <a:off x="9815535" y="2605308"/>
            <a:ext cx="440375" cy="369600"/>
          </a:xfrm>
          <a:prstGeom prst="rect">
            <a:avLst/>
          </a:prstGeom>
          <a:solidFill>
            <a:srgbClr val="FFFFFF">
              <a:alpha val="0"/>
            </a:srgbClr>
          </a:solidFill>
          <a:ln w="25400">
            <a:solidFill>
              <a:srgbClr val="FFFFFF"/>
            </a:solidFill>
            <a:prstDash val="solid"/>
          </a:ln>
        </p:spPr>
      </p:sp>
      <p:sp>
        <p:nvSpPr>
          <p:cNvPr id="40" name="icon_191"/>
          <p:cNvSpPr/>
          <p:nvPr/>
        </p:nvSpPr>
        <p:spPr>
          <a:xfrm>
            <a:off x="10255910" y="2738994"/>
            <a:ext cx="243779" cy="235915"/>
          </a:xfrm>
          <a:prstGeom prst="rect">
            <a:avLst/>
          </a:prstGeom>
          <a:solidFill>
            <a:srgbClr val="FFFFFF">
              <a:alpha val="0"/>
            </a:srgbClr>
          </a:solidFill>
          <a:ln w="25400">
            <a:solidFill>
              <a:srgbClr val="FFFFFF"/>
            </a:solidFill>
            <a:prstDash val="solid"/>
          </a:ln>
        </p:spPr>
      </p:sp>
      <p:sp>
        <p:nvSpPr>
          <p:cNvPr id="41" name="line_192"/>
          <p:cNvSpPr/>
          <p:nvPr/>
        </p:nvSpPr>
        <p:spPr>
          <a:xfrm>
            <a:off x="10303093" y="2613172"/>
            <a:ext cx="110094" cy="0"/>
          </a:xfrm>
          <a:prstGeom prst="line">
            <a:avLst/>
          </a:prstGeom>
          <a:noFill/>
          <a:ln w="25400">
            <a:solidFill>
              <a:srgbClr val="FFFFFF"/>
            </a:solidFill>
            <a:prstDash val="solid"/>
          </a:ln>
        </p:spPr>
      </p:sp>
      <p:sp>
        <p:nvSpPr>
          <p:cNvPr id="42" name="line_193"/>
          <p:cNvSpPr/>
          <p:nvPr/>
        </p:nvSpPr>
        <p:spPr>
          <a:xfrm>
            <a:off x="10413187" y="2613172"/>
            <a:ext cx="86502" cy="125821"/>
          </a:xfrm>
          <a:prstGeom prst="line">
            <a:avLst/>
          </a:prstGeom>
          <a:noFill/>
          <a:ln w="25400">
            <a:solidFill>
              <a:srgbClr val="FFFFFF"/>
            </a:solidFill>
            <a:prstDash val="solid"/>
          </a:ln>
        </p:spPr>
      </p:sp>
      <p:sp>
        <p:nvSpPr>
          <p:cNvPr id="43" name="line_194"/>
          <p:cNvSpPr/>
          <p:nvPr/>
        </p:nvSpPr>
        <p:spPr>
          <a:xfrm flipV="1">
            <a:off x="10255910" y="2613172"/>
            <a:ext cx="47183" cy="125821"/>
          </a:xfrm>
          <a:prstGeom prst="line">
            <a:avLst/>
          </a:prstGeom>
          <a:noFill/>
          <a:ln w="25400">
            <a:solidFill>
              <a:srgbClr val="FFFFFF"/>
            </a:solidFill>
            <a:prstDash val="solid"/>
          </a:ln>
        </p:spPr>
      </p:sp>
      <p:sp>
        <p:nvSpPr>
          <p:cNvPr id="44" name="icon_195"/>
          <p:cNvSpPr/>
          <p:nvPr/>
        </p:nvSpPr>
        <p:spPr>
          <a:xfrm>
            <a:off x="9878446" y="2935590"/>
            <a:ext cx="188732" cy="188732"/>
          </a:xfrm>
          <a:prstGeom prst="ellipse">
            <a:avLst/>
          </a:prstGeom>
          <a:solidFill>
            <a:srgbClr val="FFFFFF">
              <a:alpha val="0"/>
            </a:srgbClr>
          </a:solidFill>
          <a:ln w="25400">
            <a:solidFill>
              <a:srgbClr val="FFFFFF"/>
            </a:solidFill>
            <a:prstDash val="solid"/>
          </a:ln>
        </p:spPr>
      </p:sp>
      <p:sp>
        <p:nvSpPr>
          <p:cNvPr id="45" name="icon_196"/>
          <p:cNvSpPr/>
          <p:nvPr/>
        </p:nvSpPr>
        <p:spPr>
          <a:xfrm>
            <a:off x="10279502" y="2935590"/>
            <a:ext cx="188732" cy="188732"/>
          </a:xfrm>
          <a:prstGeom prst="ellipse">
            <a:avLst/>
          </a:prstGeom>
          <a:solidFill>
            <a:srgbClr val="FFFFFF">
              <a:alpha val="0"/>
            </a:srgbClr>
          </a:solidFill>
          <a:ln w="25400">
            <a:solidFill>
              <a:srgbClr val="FFFFFF"/>
            </a:solidFill>
            <a:prstDash val="solid"/>
          </a:ln>
        </p:spPr>
      </p:sp>
      <p:sp>
        <p:nvSpPr>
          <p:cNvPr id="46" name="line_197"/>
          <p:cNvSpPr/>
          <p:nvPr/>
        </p:nvSpPr>
        <p:spPr>
          <a:xfrm>
            <a:off x="9823399" y="2974909"/>
            <a:ext cx="62911" cy="0"/>
          </a:xfrm>
          <a:prstGeom prst="line">
            <a:avLst/>
          </a:prstGeom>
          <a:noFill/>
          <a:ln w="25400">
            <a:solidFill>
              <a:srgbClr val="FFFFFF"/>
            </a:solidFill>
            <a:prstDash val="solid"/>
          </a:ln>
        </p:spPr>
      </p:sp>
      <p:sp>
        <p:nvSpPr>
          <p:cNvPr id="47" name="line_198"/>
          <p:cNvSpPr/>
          <p:nvPr/>
        </p:nvSpPr>
        <p:spPr>
          <a:xfrm>
            <a:off x="10452506" y="2974909"/>
            <a:ext cx="86502" cy="0"/>
          </a:xfrm>
          <a:prstGeom prst="line">
            <a:avLst/>
          </a:prstGeom>
          <a:noFill/>
          <a:ln w="25400">
            <a:solidFill>
              <a:srgbClr val="FFFFFF"/>
            </a:solidFill>
            <a:prstDash val="solid"/>
          </a:ln>
        </p:spPr>
      </p:sp>
      <p:sp>
        <p:nvSpPr>
          <p:cNvPr id="48" name="text_199"/>
          <p:cNvSpPr/>
          <p:nvPr/>
        </p:nvSpPr>
        <p:spPr>
          <a:xfrm>
            <a:off x="9208008" y="3401568"/>
            <a:ext cx="2368296" cy="320040"/>
          </a:xfrm>
          <a:prstGeom prst="rect">
            <a:avLst/>
          </a:prstGeom>
          <a:noFill/>
          <a:ln/>
        </p:spPr>
        <p:txBody>
          <a:bodyPr wrap="squar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Operator</a:t>
            </a:r>
            <a:endParaRPr lang="en-US" sz="2300" dirty="0"/>
          </a:p>
        </p:txBody>
      </p:sp>
      <p:sp>
        <p:nvSpPr>
          <p:cNvPr id="49" name="text_200"/>
          <p:cNvSpPr/>
          <p:nvPr/>
        </p:nvSpPr>
        <p:spPr>
          <a:xfrm>
            <a:off x="9208008" y="3877056"/>
            <a:ext cx="2368296" cy="301752"/>
          </a:xfrm>
          <a:prstGeom prst="rect">
            <a:avLst/>
          </a:prstGeom>
          <a:noFill/>
          <a:ln/>
        </p:spPr>
        <p:txBody>
          <a:bodyPr wrap="square" lIns="0" tIns="0" rIns="0" bIns="0" rtlCol="0" anchor="ctr"/>
          <a:lstStyle/>
          <a:p>
            <a:pPr algn="ctr" indent="0" marL="0">
              <a:buNone/>
            </a:pPr>
            <a:r>
              <a:rPr lang="en-US" sz="1780" b="1" dirty="0">
                <a:solidFill>
                  <a:srgbClr val="FFFFFF"/>
                </a:solidFill>
                <a:latin typeface="Arial" pitchFamily="34" charset="0"/>
                <a:ea typeface="Arial" pitchFamily="34" charset="-122"/>
                <a:cs typeface="Arial" pitchFamily="34" charset="-120"/>
              </a:rPr>
              <a:t>Repeat relationship</a:t>
            </a:r>
            <a:endParaRPr lang="en-US" sz="1780" dirty="0"/>
          </a:p>
        </p:txBody>
      </p:sp>
      <p:sp>
        <p:nvSpPr>
          <p:cNvPr id="50" name="text_201"/>
          <p:cNvSpPr/>
          <p:nvPr/>
        </p:nvSpPr>
        <p:spPr>
          <a:xfrm>
            <a:off x="9208008" y="4343400"/>
            <a:ext cx="2368296" cy="667512"/>
          </a:xfrm>
          <a:prstGeom prst="rect">
            <a:avLst/>
          </a:prstGeom>
          <a:noFill/>
          <a:ln/>
        </p:spPr>
        <p:txBody>
          <a:bodyPr wrap="square" lIns="0" tIns="0" rIns="0" bIns="0" rtlCol="0" anchor="ctr"/>
          <a:lstStyle/>
          <a:p>
            <a:pPr algn="ctr" indent="0" marL="0">
              <a:buNone/>
            </a:pPr>
            <a:r>
              <a:rPr lang="en-US" sz="1700" dirty="0">
                <a:solidFill>
                  <a:srgbClr val="C8D1D7"/>
                </a:solidFill>
                <a:latin typeface="Arial" pitchFamily="34" charset="0"/>
                <a:ea typeface="Arial" pitchFamily="34" charset="-122"/>
                <a:cs typeface="Arial" pitchFamily="34" charset="-120"/>
              </a:rPr>
              <a:t>Choose a viable offer</a:t>
            </a:r>
            <a:endParaRPr lang="en-US" sz="1700" dirty="0"/>
          </a:p>
          <a:p>
            <a:pPr algn="ctr" indent="0" marL="0">
              <a:buNone/>
            </a:pPr>
            <a:r>
              <a:rPr lang="en-US" sz="1700" dirty="0">
                <a:solidFill>
                  <a:srgbClr val="C8D1D7"/>
                </a:solidFill>
                <a:latin typeface="Arial" pitchFamily="34" charset="0"/>
                <a:ea typeface="Arial" pitchFamily="34" charset="-122"/>
                <a:cs typeface="Arial" pitchFamily="34" charset="-120"/>
              </a:rPr>
              <a:t>and return for future work.</a:t>
            </a:r>
            <a:endParaRPr lang="en-US" sz="1700" dirty="0"/>
          </a:p>
        </p:txBody>
      </p:sp>
      <p:sp>
        <p:nvSpPr>
          <p:cNvPr id="51" name="line_202"/>
          <p:cNvSpPr/>
          <p:nvPr/>
        </p:nvSpPr>
        <p:spPr>
          <a:xfrm>
            <a:off x="758952" y="5367528"/>
            <a:ext cx="10661904" cy="0"/>
          </a:xfrm>
          <a:prstGeom prst="line">
            <a:avLst/>
          </a:prstGeom>
          <a:noFill/>
          <a:ln w="11430">
            <a:solidFill>
              <a:srgbClr val="42515D"/>
            </a:solidFill>
            <a:prstDash val="solid"/>
          </a:ln>
        </p:spPr>
      </p:sp>
      <p:sp>
        <p:nvSpPr>
          <p:cNvPr id="52" name="text_203"/>
          <p:cNvSpPr/>
          <p:nvPr/>
        </p:nvSpPr>
        <p:spPr>
          <a:xfrm>
            <a:off x="722376" y="5513832"/>
            <a:ext cx="3291840" cy="292608"/>
          </a:xfrm>
          <a:prstGeom prst="rect">
            <a:avLst/>
          </a:prstGeom>
          <a:noFill/>
          <a:ln/>
        </p:spPr>
        <p:txBody>
          <a:bodyPr wrap="square" lIns="0" tIns="0" rIns="0" bIns="0" rtlCol="0" anchor="ctr"/>
          <a:lstStyle/>
          <a:p>
            <a:pPr algn="ctr" indent="0" marL="0">
              <a:buNone/>
            </a:pPr>
            <a:r>
              <a:rPr lang="en-US" sz="1300" b="1" dirty="0">
                <a:solidFill>
                  <a:srgbClr val="C8D1D7"/>
                </a:solidFill>
                <a:latin typeface="Arial" pitchFamily="34" charset="0"/>
                <a:ea typeface="Arial" pitchFamily="34" charset="-122"/>
                <a:cs typeface="Arial" pitchFamily="34" charset="-120"/>
              </a:rPr>
              <a:t>MORE PARTS PER ACCOUNT</a:t>
            </a:r>
            <a:endParaRPr lang="en-US" sz="1300" dirty="0"/>
          </a:p>
        </p:txBody>
      </p:sp>
      <p:sp>
        <p:nvSpPr>
          <p:cNvPr id="53" name="text_204"/>
          <p:cNvSpPr/>
          <p:nvPr/>
        </p:nvSpPr>
        <p:spPr>
          <a:xfrm>
            <a:off x="4498848" y="5513832"/>
            <a:ext cx="2743200" cy="292608"/>
          </a:xfrm>
          <a:prstGeom prst="rect">
            <a:avLst/>
          </a:prstGeom>
          <a:noFill/>
          <a:ln/>
        </p:spPr>
        <p:txBody>
          <a:bodyPr wrap="square" lIns="0" tIns="0" rIns="0" bIns="0" rtlCol="0" anchor="ctr"/>
          <a:lstStyle/>
          <a:p>
            <a:pPr algn="ctr" indent="0" marL="0">
              <a:buNone/>
            </a:pPr>
            <a:r>
              <a:rPr lang="en-US" sz="1300" b="1" dirty="0">
                <a:solidFill>
                  <a:srgbClr val="C8D1D7"/>
                </a:solidFill>
                <a:latin typeface="Arial" pitchFamily="34" charset="0"/>
                <a:ea typeface="Arial" pitchFamily="34" charset="-122"/>
                <a:cs typeface="Arial" pitchFamily="34" charset="-120"/>
              </a:rPr>
              <a:t>REPEAT ORDERS</a:t>
            </a:r>
            <a:endParaRPr lang="en-US" sz="1300" dirty="0"/>
          </a:p>
        </p:txBody>
      </p:sp>
      <p:sp>
        <p:nvSpPr>
          <p:cNvPr id="54" name="text_205"/>
          <p:cNvSpPr/>
          <p:nvPr/>
        </p:nvSpPr>
        <p:spPr>
          <a:xfrm>
            <a:off x="8019288" y="5513832"/>
            <a:ext cx="3255264" cy="292608"/>
          </a:xfrm>
          <a:prstGeom prst="rect">
            <a:avLst/>
          </a:prstGeom>
          <a:noFill/>
          <a:ln/>
        </p:spPr>
        <p:txBody>
          <a:bodyPr wrap="square" lIns="0" tIns="0" rIns="0" bIns="0" rtlCol="0" anchor="ctr"/>
          <a:lstStyle/>
          <a:p>
            <a:pPr algn="ctr" indent="0" marL="0">
              <a:buNone/>
            </a:pPr>
            <a:r>
              <a:rPr lang="en-US" sz="1300" b="1" dirty="0">
                <a:solidFill>
                  <a:srgbClr val="C8D1D7"/>
                </a:solidFill>
                <a:latin typeface="Arial" pitchFamily="34" charset="0"/>
                <a:ea typeface="Arial" pitchFamily="34" charset="-122"/>
                <a:cs typeface="Arial" pitchFamily="34" charset="-120"/>
              </a:rPr>
              <a:t>LONGER RELATIONSHIPS</a:t>
            </a:r>
            <a:endParaRPr lang="en-US" sz="1300" dirty="0"/>
          </a:p>
        </p:txBody>
      </p:sp>
      <p:sp>
        <p:nvSpPr>
          <p:cNvPr id="55" name="rect_206"/>
          <p:cNvSpPr/>
          <p:nvPr/>
        </p:nvSpPr>
        <p:spPr>
          <a:xfrm>
            <a:off x="530352" y="5980176"/>
            <a:ext cx="38405" cy="329184"/>
          </a:xfrm>
          <a:prstGeom prst="rect">
            <a:avLst/>
          </a:prstGeom>
          <a:solidFill>
            <a:srgbClr val="ED0016"/>
          </a:solidFill>
          <a:ln w="12700">
            <a:solidFill>
              <a:srgbClr val="ED0016"/>
            </a:solidFill>
            <a:prstDash val="solid"/>
          </a:ln>
        </p:spPr>
      </p:sp>
      <p:sp>
        <p:nvSpPr>
          <p:cNvPr id="56" name="text_207"/>
          <p:cNvSpPr/>
          <p:nvPr/>
        </p:nvSpPr>
        <p:spPr>
          <a:xfrm>
            <a:off x="694944" y="5943600"/>
            <a:ext cx="10963656" cy="475488"/>
          </a:xfrm>
          <a:prstGeom prst="rect">
            <a:avLst/>
          </a:prstGeom>
          <a:noFill/>
          <a:ln/>
        </p:spPr>
        <p:txBody>
          <a:bodyPr wrap="square" lIns="0" tIns="0" rIns="0" bIns="0" rtlCol="0" anchor="ctr"/>
          <a:lstStyle/>
          <a:p>
            <a:pPr algn="l" indent="0" marL="0">
              <a:buNone/>
            </a:pPr>
            <a:r>
              <a:rPr lang="en-US" sz="1930" b="1" dirty="0">
                <a:solidFill>
                  <a:srgbClr val="FFFFFF"/>
                </a:solidFill>
                <a:latin typeface="Arial" pitchFamily="34" charset="0"/>
                <a:ea typeface="Arial" pitchFamily="34" charset="-122"/>
                <a:cs typeface="Arial" pitchFamily="34" charset="-120"/>
              </a:rPr>
              <a:t>Measure repeat ISZE orders and gross profit - not the discount given.</a:t>
            </a:r>
            <a:endParaRPr lang="en-US" sz="1930" dirty="0"/>
          </a:p>
        </p:txBody>
      </p:sp>
    </p:spTree>
  </p:cSld>
  <p:clrMapOvr>
    <a:masterClrMapping/>
  </p:clrMapOvr>
  <p:transition spd="fast" advClick="1">
    <p:fade/>
  </p:transition>
</p:sld>
</file>

<file path=ppt/v12/slides/slide5.xml><?xml version="1.0" encoding="utf-8"?>
<p:sld xmlns:a="http://schemas.openxmlformats.org/drawingml/2006/main" xmlns:r="http://schemas.openxmlformats.org/officeDocument/2006/relationships" xmlns:p="http://schemas.openxmlformats.org/presentationml/2006/main">
  <p:cSld name="Version 1.2 - 15">
    <p:bg>
      <p:bgPr>
        <a:solidFill>
          <a:srgbClr val="FFFFFF"/>
        </a:solidFill>
      </p:bgPr>
    </p:bg>
    <p:spTree>
      <p:nvGrpSpPr>
        <p:cNvPr id="1" name=""/>
        <p:cNvGrpSpPr/>
        <p:nvPr/>
      </p:nvGrpSpPr>
      <p:grpSpPr>
        <a:xfrm>
          <a:off x="0" y="0"/>
          <a:ext cx="0" cy="0"/>
          <a:chOff x="0" y="0"/>
          <a:chExt cx="0" cy="0"/>
        </a:xfrm>
      </p:grpSpPr>
      <p:sp>
        <p:nvSpPr>
          <p:cNvPr id="2" name="text_208"/>
          <p:cNvSpPr/>
          <p:nvPr/>
        </p:nvSpPr>
        <p:spPr>
          <a:xfrm>
            <a:off x="530352" y="301752"/>
            <a:ext cx="1115568" cy="320040"/>
          </a:xfrm>
          <a:prstGeom prst="rect">
            <a:avLst/>
          </a:prstGeom>
          <a:noFill/>
          <a:ln/>
        </p:spPr>
        <p:txBody>
          <a:bodyPr wrap="square" lIns="0" tIns="0" rIns="0" bIns="0" rtlCol="0" anchor="ctr"/>
          <a:lstStyle/>
          <a:p>
            <a:pPr algn="l"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_209"/>
          <p:cNvSpPr/>
          <p:nvPr/>
        </p:nvSpPr>
        <p:spPr>
          <a:xfrm>
            <a:off x="1828800" y="365760"/>
            <a:ext cx="8686800" cy="228600"/>
          </a:xfrm>
          <a:prstGeom prst="rect">
            <a:avLst/>
          </a:prstGeom>
          <a:noFill/>
          <a:ln/>
        </p:spPr>
        <p:txBody>
          <a:bodyPr wrap="square" lIns="0" tIns="0" rIns="0" bIns="0" rtlCol="0" anchor="ctr"/>
          <a:lstStyle/>
          <a:p>
            <a:pPr algn="l" indent="0" marL="0">
              <a:buNone/>
            </a:pPr>
            <a:r>
              <a:rPr lang="en-US" sz="1050" b="1" spc="140" kern="0" dirty="0">
                <a:solidFill>
                  <a:srgbClr val="687782"/>
                </a:solidFill>
                <a:latin typeface="Arial" pitchFamily="34" charset="0"/>
                <a:ea typeface="Arial" pitchFamily="34" charset="-122"/>
                <a:cs typeface="Arial" pitchFamily="34" charset="-120"/>
              </a:rPr>
              <a:t>ISRAEL - COLLISION AND INSURANCE</a:t>
            </a:r>
            <a:endParaRPr lang="en-US" sz="1050" dirty="0"/>
          </a:p>
        </p:txBody>
      </p:sp>
      <p:sp>
        <p:nvSpPr>
          <p:cNvPr id="4" name="text_210"/>
          <p:cNvSpPr/>
          <p:nvPr/>
        </p:nvSpPr>
        <p:spPr>
          <a:xfrm>
            <a:off x="530352" y="905256"/>
            <a:ext cx="11128248" cy="786384"/>
          </a:xfrm>
          <a:prstGeom prst="rect">
            <a:avLst/>
          </a:prstGeom>
          <a:noFill/>
          <a:ln/>
        </p:spPr>
        <p:txBody>
          <a:bodyPr wrap="square" lIns="0" tIns="0" rIns="0" bIns="0" rtlCol="0" anchor="ctr"/>
          <a:lstStyle/>
          <a:p>
            <a:pPr algn="l" indent="0" marL="0">
              <a:buNone/>
            </a:pPr>
            <a:r>
              <a:rPr lang="en-US" sz="3100" b="1" dirty="0">
                <a:solidFill>
                  <a:srgbClr val="17232C"/>
                </a:solidFill>
                <a:latin typeface="Arial" pitchFamily="34" charset="0"/>
                <a:ea typeface="Arial" pitchFamily="34" charset="-122"/>
                <a:cs typeface="Arial" pitchFamily="34" charset="-120"/>
              </a:rPr>
              <a:t>Protect the repair order, not only the lamp margin.</a:t>
            </a:r>
            <a:endParaRPr lang="en-US" sz="3100" dirty="0"/>
          </a:p>
        </p:txBody>
      </p:sp>
      <p:sp>
        <p:nvSpPr>
          <p:cNvPr id="5" name="line_211"/>
          <p:cNvSpPr/>
          <p:nvPr/>
        </p:nvSpPr>
        <p:spPr>
          <a:xfrm>
            <a:off x="530352" y="6373368"/>
            <a:ext cx="11128248" cy="0"/>
          </a:xfrm>
          <a:prstGeom prst="line">
            <a:avLst/>
          </a:prstGeom>
          <a:noFill/>
          <a:ln w="7620">
            <a:solidFill>
              <a:srgbClr val="DDE3E7"/>
            </a:solidFill>
            <a:prstDash val="solid"/>
          </a:ln>
        </p:spPr>
      </p:sp>
      <p:sp>
        <p:nvSpPr>
          <p:cNvPr id="6" name="text_212"/>
          <p:cNvSpPr/>
          <p:nvPr/>
        </p:nvSpPr>
        <p:spPr>
          <a:xfrm>
            <a:off x="530352" y="6469380"/>
            <a:ext cx="10012680" cy="228600"/>
          </a:xfrm>
          <a:prstGeom prst="rect">
            <a:avLst/>
          </a:prstGeom>
          <a:noFill/>
          <a:ln/>
        </p:spPr>
        <p:txBody>
          <a:bodyPr wrap="square" lIns="0" tIns="0" rIns="0" bIns="0" rtlCol="0" anchor="ctr"/>
          <a:lstStyle/>
          <a:p>
            <a:pPr algn="l" indent="0" marL="0">
              <a:buNone/>
            </a:pPr>
            <a:r>
              <a:rPr lang="en-US" sz="900" dirty="0">
                <a:solidFill>
                  <a:srgbClr val="687782"/>
                </a:solidFill>
                <a:latin typeface="Arial" pitchFamily="34" charset="0"/>
                <a:ea typeface="Arial" pitchFamily="34" charset="-122"/>
                <a:cs typeface="Arial" pitchFamily="34" charset="-120"/>
              </a:rPr>
              <a:t>Source: Pricing Master, UTI feedback and management strategy. Commercial risk; no quantified lost-sales result.</a:t>
            </a:r>
            <a:endParaRPr lang="en-US" sz="900" dirty="0"/>
          </a:p>
        </p:txBody>
      </p:sp>
      <p:sp>
        <p:nvSpPr>
          <p:cNvPr id="7" name="text_213"/>
          <p:cNvSpPr/>
          <p:nvPr/>
        </p:nvSpPr>
        <p:spPr>
          <a:xfrm>
            <a:off x="10744200" y="6464808"/>
            <a:ext cx="914400" cy="228600"/>
          </a:xfrm>
          <a:prstGeom prst="rect">
            <a:avLst/>
          </a:prstGeom>
          <a:noFill/>
          <a:ln/>
        </p:spPr>
        <p:txBody>
          <a:bodyPr wrap="square" lIns="0" tIns="0" rIns="0" bIns="0" rtlCol="0" anchor="ctr"/>
          <a:lstStyle/>
          <a:p>
            <a:pPr algn="r" indent="0" marL="0">
              <a:buNone/>
            </a:pPr>
            <a:r>
              <a:rPr lang="en-US" sz="940" dirty="0">
                <a:solidFill>
                  <a:srgbClr val="687782"/>
                </a:solidFill>
                <a:latin typeface="Arial" pitchFamily="34" charset="0"/>
                <a:ea typeface="Arial" pitchFamily="34" charset="-122"/>
                <a:cs typeface="Arial" pitchFamily="34" charset="-120"/>
              </a:rPr>
              <a:t>v1.2  |  15</a:t>
            </a:r>
            <a:endParaRPr lang="en-US" sz="940" dirty="0"/>
          </a:p>
        </p:txBody>
      </p:sp>
      <p:sp>
        <p:nvSpPr>
          <p:cNvPr id="8" name="text_214"/>
          <p:cNvSpPr/>
          <p:nvPr/>
        </p:nvSpPr>
        <p:spPr>
          <a:xfrm>
            <a:off x="530352" y="1773936"/>
            <a:ext cx="10972800" cy="356616"/>
          </a:xfrm>
          <a:prstGeom prst="rect">
            <a:avLst/>
          </a:prstGeom>
          <a:noFill/>
          <a:ln/>
        </p:spPr>
        <p:txBody>
          <a:bodyPr wrap="square" lIns="0" tIns="0" rIns="0" bIns="0" rtlCol="0" anchor="ctr"/>
          <a:lstStyle/>
          <a:p>
            <a:pPr algn="l" indent="0" marL="0">
              <a:buNone/>
            </a:pPr>
            <a:r>
              <a:rPr lang="en-US" sz="1720" dirty="0">
                <a:solidFill>
                  <a:srgbClr val="687782"/>
                </a:solidFill>
                <a:latin typeface="Arial" pitchFamily="34" charset="0"/>
                <a:ea typeface="Arial" pitchFamily="34" charset="-122"/>
                <a:cs typeface="Arial" pitchFamily="34" charset="-120"/>
              </a:rPr>
              <a:t>UTI - Israel trucks. Targeted support should improve the complete genuine-parts quotation.</a:t>
            </a:r>
            <a:endParaRPr lang="en-US" sz="1720" dirty="0"/>
          </a:p>
        </p:txBody>
      </p:sp>
      <p:sp>
        <p:nvSpPr>
          <p:cNvPr id="9" name="icon_215"/>
          <p:cNvSpPr/>
          <p:nvPr/>
        </p:nvSpPr>
        <p:spPr>
          <a:xfrm>
            <a:off x="1230782" y="2739268"/>
            <a:ext cx="1927555" cy="1732056"/>
          </a:xfrm>
          <a:prstGeom prst="roundRect">
            <a:avLst/>
          </a:prstGeom>
          <a:solidFill>
            <a:srgbClr val="FFFFFF">
              <a:alpha val="0"/>
            </a:srgbClr>
          </a:solidFill>
          <a:ln w="31750">
            <a:solidFill>
              <a:srgbClr val="17232C"/>
            </a:solidFill>
            <a:prstDash val="solid"/>
          </a:ln>
        </p:spPr>
      </p:sp>
      <p:sp>
        <p:nvSpPr>
          <p:cNvPr id="10" name="icon_216"/>
          <p:cNvSpPr/>
          <p:nvPr/>
        </p:nvSpPr>
        <p:spPr>
          <a:xfrm rot="10800000">
            <a:off x="1417320" y="2949214"/>
            <a:ext cx="1554480" cy="603595"/>
          </a:xfrm>
          <a:prstGeom prst="trapezoid">
            <a:avLst/>
          </a:prstGeom>
          <a:solidFill>
            <a:srgbClr val="FFFFFF">
              <a:alpha val="0"/>
            </a:srgbClr>
          </a:solidFill>
          <a:ln w="25400">
            <a:solidFill>
              <a:srgbClr val="17232C"/>
            </a:solidFill>
            <a:prstDash val="solid"/>
          </a:ln>
        </p:spPr>
      </p:sp>
      <p:sp>
        <p:nvSpPr>
          <p:cNvPr id="11" name="line_217"/>
          <p:cNvSpPr/>
          <p:nvPr/>
        </p:nvSpPr>
        <p:spPr>
          <a:xfrm>
            <a:off x="2194560" y="2975458"/>
            <a:ext cx="0" cy="551109"/>
          </a:xfrm>
          <a:prstGeom prst="line">
            <a:avLst/>
          </a:prstGeom>
          <a:noFill/>
          <a:ln w="19050">
            <a:solidFill>
              <a:srgbClr val="17232C"/>
            </a:solidFill>
            <a:prstDash val="solid"/>
          </a:ln>
        </p:spPr>
      </p:sp>
      <p:sp>
        <p:nvSpPr>
          <p:cNvPr id="12" name="rect_218"/>
          <p:cNvSpPr/>
          <p:nvPr/>
        </p:nvSpPr>
        <p:spPr>
          <a:xfrm>
            <a:off x="1137514" y="4313865"/>
            <a:ext cx="2114093" cy="236190"/>
          </a:xfrm>
          <a:prstGeom prst="rect">
            <a:avLst/>
          </a:prstGeom>
          <a:solidFill>
            <a:srgbClr val="ED0016"/>
          </a:solidFill>
          <a:ln w="12700">
            <a:solidFill>
              <a:srgbClr val="ED0016"/>
            </a:solidFill>
            <a:prstDash val="solid"/>
          </a:ln>
        </p:spPr>
      </p:sp>
      <p:sp>
        <p:nvSpPr>
          <p:cNvPr id="13" name="rect_219"/>
          <p:cNvSpPr/>
          <p:nvPr/>
        </p:nvSpPr>
        <p:spPr>
          <a:xfrm>
            <a:off x="1386230" y="3815243"/>
            <a:ext cx="341986" cy="341163"/>
          </a:xfrm>
          <a:prstGeom prst="rect">
            <a:avLst/>
          </a:prstGeom>
          <a:solidFill>
            <a:srgbClr val="ED0016"/>
          </a:solidFill>
          <a:ln w="12700">
            <a:solidFill>
              <a:srgbClr val="ED0016"/>
            </a:solidFill>
            <a:prstDash val="solid"/>
          </a:ln>
        </p:spPr>
      </p:sp>
      <p:sp>
        <p:nvSpPr>
          <p:cNvPr id="14" name="rect_220"/>
          <p:cNvSpPr/>
          <p:nvPr/>
        </p:nvSpPr>
        <p:spPr>
          <a:xfrm>
            <a:off x="2660904" y="3815243"/>
            <a:ext cx="341986" cy="341163"/>
          </a:xfrm>
          <a:prstGeom prst="rect">
            <a:avLst/>
          </a:prstGeom>
          <a:solidFill>
            <a:srgbClr val="ED0016"/>
          </a:solidFill>
          <a:ln w="12700">
            <a:solidFill>
              <a:srgbClr val="ED0016"/>
            </a:solidFill>
            <a:prstDash val="solid"/>
          </a:ln>
        </p:spPr>
      </p:sp>
      <p:sp>
        <p:nvSpPr>
          <p:cNvPr id="15" name="line_221"/>
          <p:cNvSpPr/>
          <p:nvPr/>
        </p:nvSpPr>
        <p:spPr>
          <a:xfrm>
            <a:off x="1852574" y="3815243"/>
            <a:ext cx="683971" cy="0"/>
          </a:xfrm>
          <a:prstGeom prst="line">
            <a:avLst/>
          </a:prstGeom>
          <a:noFill/>
          <a:ln w="30480">
            <a:solidFill>
              <a:srgbClr val="17232C"/>
            </a:solidFill>
            <a:prstDash val="solid"/>
          </a:ln>
        </p:spPr>
      </p:sp>
      <p:sp>
        <p:nvSpPr>
          <p:cNvPr id="16" name="line_222"/>
          <p:cNvSpPr/>
          <p:nvPr/>
        </p:nvSpPr>
        <p:spPr>
          <a:xfrm>
            <a:off x="1852574" y="3962205"/>
            <a:ext cx="683971" cy="0"/>
          </a:xfrm>
          <a:prstGeom prst="line">
            <a:avLst/>
          </a:prstGeom>
          <a:noFill/>
          <a:ln w="30480">
            <a:solidFill>
              <a:srgbClr val="17232C"/>
            </a:solidFill>
            <a:prstDash val="solid"/>
          </a:ln>
        </p:spPr>
      </p:sp>
      <p:sp>
        <p:nvSpPr>
          <p:cNvPr id="17" name="line_223"/>
          <p:cNvSpPr/>
          <p:nvPr/>
        </p:nvSpPr>
        <p:spPr>
          <a:xfrm>
            <a:off x="1852574" y="4109167"/>
            <a:ext cx="683971" cy="0"/>
          </a:xfrm>
          <a:prstGeom prst="line">
            <a:avLst/>
          </a:prstGeom>
          <a:noFill/>
          <a:ln w="30480">
            <a:solidFill>
              <a:srgbClr val="17232C"/>
            </a:solidFill>
            <a:prstDash val="solid"/>
          </a:ln>
        </p:spPr>
      </p:sp>
      <p:sp>
        <p:nvSpPr>
          <p:cNvPr id="18" name="rect_224"/>
          <p:cNvSpPr/>
          <p:nvPr/>
        </p:nvSpPr>
        <p:spPr>
          <a:xfrm>
            <a:off x="1417320" y="4576298"/>
            <a:ext cx="373075" cy="341163"/>
          </a:xfrm>
          <a:prstGeom prst="rect">
            <a:avLst/>
          </a:prstGeom>
          <a:solidFill>
            <a:srgbClr val="17232C"/>
          </a:solidFill>
          <a:ln w="12700">
            <a:solidFill>
              <a:srgbClr val="17232C"/>
            </a:solidFill>
            <a:prstDash val="solid"/>
          </a:ln>
        </p:spPr>
      </p:sp>
      <p:sp>
        <p:nvSpPr>
          <p:cNvPr id="19" name="rect_225"/>
          <p:cNvSpPr/>
          <p:nvPr/>
        </p:nvSpPr>
        <p:spPr>
          <a:xfrm>
            <a:off x="2598725" y="4576298"/>
            <a:ext cx="373075" cy="341163"/>
          </a:xfrm>
          <a:prstGeom prst="rect">
            <a:avLst/>
          </a:prstGeom>
          <a:solidFill>
            <a:srgbClr val="17232C"/>
          </a:solidFill>
          <a:ln w="12700">
            <a:solidFill>
              <a:srgbClr val="17232C"/>
            </a:solidFill>
            <a:prstDash val="solid"/>
          </a:ln>
        </p:spPr>
      </p:sp>
      <p:sp>
        <p:nvSpPr>
          <p:cNvPr id="20" name="icon_226"/>
          <p:cNvSpPr/>
          <p:nvPr/>
        </p:nvSpPr>
        <p:spPr>
          <a:xfrm>
            <a:off x="919886" y="3185404"/>
            <a:ext cx="217627" cy="577352"/>
          </a:xfrm>
          <a:prstGeom prst="rect">
            <a:avLst/>
          </a:prstGeom>
          <a:solidFill>
            <a:srgbClr val="FFFFFF">
              <a:alpha val="0"/>
            </a:srgbClr>
          </a:solidFill>
          <a:ln w="25400">
            <a:solidFill>
              <a:srgbClr val="17232C"/>
            </a:solidFill>
            <a:prstDash val="solid"/>
          </a:ln>
        </p:spPr>
      </p:sp>
      <p:sp>
        <p:nvSpPr>
          <p:cNvPr id="21" name="icon_227"/>
          <p:cNvSpPr/>
          <p:nvPr/>
        </p:nvSpPr>
        <p:spPr>
          <a:xfrm>
            <a:off x="3251606" y="3185404"/>
            <a:ext cx="217627" cy="577352"/>
          </a:xfrm>
          <a:prstGeom prst="rect">
            <a:avLst/>
          </a:prstGeom>
          <a:solidFill>
            <a:srgbClr val="FFFFFF">
              <a:alpha val="0"/>
            </a:srgbClr>
          </a:solidFill>
          <a:ln w="25400">
            <a:solidFill>
              <a:srgbClr val="17232C"/>
            </a:solidFill>
            <a:prstDash val="solid"/>
          </a:ln>
        </p:spPr>
      </p:sp>
      <p:sp>
        <p:nvSpPr>
          <p:cNvPr id="22" name="line_228"/>
          <p:cNvSpPr/>
          <p:nvPr/>
        </p:nvSpPr>
        <p:spPr>
          <a:xfrm>
            <a:off x="1137514" y="3342864"/>
            <a:ext cx="93269" cy="0"/>
          </a:xfrm>
          <a:prstGeom prst="line">
            <a:avLst/>
          </a:prstGeom>
          <a:noFill/>
          <a:ln w="25400">
            <a:solidFill>
              <a:srgbClr val="17232C"/>
            </a:solidFill>
            <a:prstDash val="solid"/>
          </a:ln>
        </p:spPr>
      </p:sp>
      <p:sp>
        <p:nvSpPr>
          <p:cNvPr id="23" name="line_229"/>
          <p:cNvSpPr/>
          <p:nvPr/>
        </p:nvSpPr>
        <p:spPr>
          <a:xfrm>
            <a:off x="3158338" y="3342864"/>
            <a:ext cx="93269" cy="0"/>
          </a:xfrm>
          <a:prstGeom prst="line">
            <a:avLst/>
          </a:prstGeom>
          <a:noFill/>
          <a:ln w="25400">
            <a:solidFill>
              <a:srgbClr val="17232C"/>
            </a:solidFill>
            <a:prstDash val="solid"/>
          </a:ln>
        </p:spPr>
      </p:sp>
      <p:sp>
        <p:nvSpPr>
          <p:cNvPr id="24" name="text_230"/>
          <p:cNvSpPr/>
          <p:nvPr/>
        </p:nvSpPr>
        <p:spPr>
          <a:xfrm>
            <a:off x="694944" y="5148072"/>
            <a:ext cx="2999232" cy="612648"/>
          </a:xfrm>
          <a:prstGeom prst="rect">
            <a:avLst/>
          </a:prstGeom>
          <a:noFill/>
          <a:ln/>
        </p:spPr>
        <p:txBody>
          <a:bodyPr wrap="square" lIns="0" tIns="0" rIns="0" bIns="0" rtlCol="0" anchor="ctr"/>
          <a:lstStyle/>
          <a:p>
            <a:pPr algn="ctr" indent="0" marL="0">
              <a:buNone/>
            </a:pPr>
            <a:r>
              <a:rPr lang="en-US" sz="2000" b="1" dirty="0">
                <a:solidFill>
                  <a:srgbClr val="17232C"/>
                </a:solidFill>
                <a:latin typeface="Arial" pitchFamily="34" charset="0"/>
                <a:ea typeface="Arial" pitchFamily="34" charset="-122"/>
                <a:cs typeface="Arial" pitchFamily="34" charset="-120"/>
              </a:rPr>
              <a:t>Lamps + bodywork</a:t>
            </a:r>
            <a:endParaRPr lang="en-US" sz="2000" dirty="0"/>
          </a:p>
          <a:p>
            <a:pPr algn="ctr" indent="0" marL="0">
              <a:buNone/>
            </a:pPr>
            <a:r>
              <a:rPr lang="en-US" sz="2000" b="1" dirty="0">
                <a:solidFill>
                  <a:srgbClr val="17232C"/>
                </a:solidFill>
                <a:latin typeface="Arial" pitchFamily="34" charset="0"/>
                <a:ea typeface="Arial" pitchFamily="34" charset="-122"/>
                <a:cs typeface="Arial" pitchFamily="34" charset="-120"/>
              </a:rPr>
              <a:t>+ the complete repair</a:t>
            </a:r>
            <a:endParaRPr lang="en-US" sz="2000" dirty="0"/>
          </a:p>
        </p:txBody>
      </p:sp>
      <p:sp>
        <p:nvSpPr>
          <p:cNvPr id="25" name="rect_231"/>
          <p:cNvSpPr/>
          <p:nvPr/>
        </p:nvSpPr>
        <p:spPr>
          <a:xfrm>
            <a:off x="4251960" y="2359152"/>
            <a:ext cx="7406640" cy="658368"/>
          </a:xfrm>
          <a:prstGeom prst="rect">
            <a:avLst/>
          </a:prstGeom>
          <a:solidFill>
            <a:srgbClr val="17232C"/>
          </a:solidFill>
          <a:ln w="12700">
            <a:solidFill>
              <a:srgbClr val="17232C"/>
            </a:solidFill>
            <a:prstDash val="solid"/>
          </a:ln>
        </p:spPr>
      </p:sp>
      <p:sp>
        <p:nvSpPr>
          <p:cNvPr id="26" name="icon_232"/>
          <p:cNvSpPr/>
          <p:nvPr/>
        </p:nvSpPr>
        <p:spPr>
          <a:xfrm>
            <a:off x="4546031" y="2485339"/>
            <a:ext cx="289682" cy="359908"/>
          </a:xfrm>
          <a:prstGeom prst="rect">
            <a:avLst/>
          </a:prstGeom>
          <a:solidFill>
            <a:srgbClr val="FFFFFF">
              <a:alpha val="0"/>
            </a:srgbClr>
          </a:solidFill>
          <a:ln w="25400">
            <a:solidFill>
              <a:srgbClr val="FFFFFF"/>
            </a:solidFill>
            <a:prstDash val="solid"/>
          </a:ln>
        </p:spPr>
      </p:sp>
      <p:sp>
        <p:nvSpPr>
          <p:cNvPr id="27" name="line_233"/>
          <p:cNvSpPr/>
          <p:nvPr/>
        </p:nvSpPr>
        <p:spPr>
          <a:xfrm>
            <a:off x="4603090" y="2581900"/>
            <a:ext cx="175565" cy="0"/>
          </a:xfrm>
          <a:prstGeom prst="line">
            <a:avLst/>
          </a:prstGeom>
          <a:noFill/>
          <a:ln w="25400">
            <a:solidFill>
              <a:srgbClr val="FFFFFF"/>
            </a:solidFill>
            <a:prstDash val="solid"/>
          </a:ln>
        </p:spPr>
      </p:sp>
      <p:sp>
        <p:nvSpPr>
          <p:cNvPr id="28" name="line_234"/>
          <p:cNvSpPr/>
          <p:nvPr/>
        </p:nvSpPr>
        <p:spPr>
          <a:xfrm>
            <a:off x="4603090" y="2660904"/>
            <a:ext cx="175565" cy="0"/>
          </a:xfrm>
          <a:prstGeom prst="line">
            <a:avLst/>
          </a:prstGeom>
          <a:noFill/>
          <a:ln w="25400">
            <a:solidFill>
              <a:srgbClr val="FFFFFF"/>
            </a:solidFill>
            <a:prstDash val="solid"/>
          </a:ln>
        </p:spPr>
      </p:sp>
      <p:sp>
        <p:nvSpPr>
          <p:cNvPr id="29" name="line_235"/>
          <p:cNvSpPr/>
          <p:nvPr/>
        </p:nvSpPr>
        <p:spPr>
          <a:xfrm>
            <a:off x="4603090" y="2739908"/>
            <a:ext cx="118506" cy="0"/>
          </a:xfrm>
          <a:prstGeom prst="line">
            <a:avLst/>
          </a:prstGeom>
          <a:noFill/>
          <a:ln w="25400">
            <a:solidFill>
              <a:srgbClr val="FFFFFF"/>
            </a:solidFill>
            <a:prstDash val="solid"/>
          </a:ln>
        </p:spPr>
      </p:sp>
      <p:sp>
        <p:nvSpPr>
          <p:cNvPr id="30" name="text_236"/>
          <p:cNvSpPr/>
          <p:nvPr/>
        </p:nvSpPr>
        <p:spPr>
          <a:xfrm>
            <a:off x="5111496" y="2551176"/>
            <a:ext cx="6291072" cy="256032"/>
          </a:xfrm>
          <a:prstGeom prst="rect">
            <a:avLst/>
          </a:prstGeom>
          <a:noFill/>
          <a:ln/>
        </p:spPr>
        <p:txBody>
          <a:bodyPr wrap="square" lIns="0" tIns="0" rIns="0" bIns="0" rtlCol="0" anchor="ctr"/>
          <a:lstStyle/>
          <a:p>
            <a:pPr algn="l" indent="0" marL="0">
              <a:buNone/>
            </a:pPr>
            <a:r>
              <a:rPr lang="en-US" sz="1750" b="1" dirty="0">
                <a:solidFill>
                  <a:srgbClr val="FFFFFF"/>
                </a:solidFill>
                <a:latin typeface="Arial" pitchFamily="34" charset="0"/>
                <a:ea typeface="Arial" pitchFamily="34" charset="-122"/>
                <a:cs typeface="Arial" pitchFamily="34" charset="-120"/>
              </a:rPr>
              <a:t>INSURER / REPAIRER QUOTATION</a:t>
            </a:r>
            <a:endParaRPr lang="en-US" sz="1750" dirty="0"/>
          </a:p>
        </p:txBody>
      </p:sp>
      <p:sp>
        <p:nvSpPr>
          <p:cNvPr id="31" name="line_237"/>
          <p:cNvSpPr/>
          <p:nvPr/>
        </p:nvSpPr>
        <p:spPr>
          <a:xfrm>
            <a:off x="3895344" y="3749040"/>
            <a:ext cx="210312" cy="0"/>
          </a:xfrm>
          <a:prstGeom prst="line">
            <a:avLst/>
          </a:prstGeom>
          <a:noFill/>
          <a:ln w="24130">
            <a:solidFill>
              <a:srgbClr val="ED0016"/>
            </a:solidFill>
            <a:prstDash val="solid"/>
            <a:tailEnd type="triangle"/>
          </a:ln>
        </p:spPr>
      </p:sp>
      <p:sp>
        <p:nvSpPr>
          <p:cNvPr id="32" name="rect_238"/>
          <p:cNvSpPr/>
          <p:nvPr/>
        </p:nvSpPr>
        <p:spPr>
          <a:xfrm>
            <a:off x="4251960" y="3374136"/>
            <a:ext cx="3264408" cy="950976"/>
          </a:xfrm>
          <a:prstGeom prst="rect">
            <a:avLst/>
          </a:prstGeom>
          <a:solidFill>
            <a:srgbClr val="F0F3F5"/>
          </a:solidFill>
          <a:ln w="12700">
            <a:solidFill>
              <a:srgbClr val="F0F3F5"/>
            </a:solidFill>
            <a:prstDash val="solid"/>
          </a:ln>
        </p:spPr>
      </p:sp>
      <p:sp>
        <p:nvSpPr>
          <p:cNvPr id="33" name="text_239"/>
          <p:cNvSpPr/>
          <p:nvPr/>
        </p:nvSpPr>
        <p:spPr>
          <a:xfrm>
            <a:off x="4480560" y="3566160"/>
            <a:ext cx="2788920" cy="585216"/>
          </a:xfrm>
          <a:prstGeom prst="rect">
            <a:avLst/>
          </a:prstGeom>
          <a:noFill/>
          <a:ln/>
        </p:spPr>
        <p:txBody>
          <a:bodyPr wrap="square" lIns="0" tIns="0" rIns="0" bIns="0" rtlCol="0" anchor="ctr"/>
          <a:lstStyle/>
          <a:p>
            <a:pPr algn="l" indent="0" marL="0">
              <a:buNone/>
            </a:pPr>
            <a:r>
              <a:rPr lang="en-US" sz="2100" b="1" dirty="0">
                <a:solidFill>
                  <a:srgbClr val="17232C"/>
                </a:solidFill>
                <a:latin typeface="Arial" pitchFamily="34" charset="0"/>
                <a:ea typeface="Arial" pitchFamily="34" charset="-122"/>
                <a:cs typeface="Arial" pitchFamily="34" charset="-120"/>
              </a:rPr>
              <a:t>Uncompetitive</a:t>
            </a:r>
            <a:endParaRPr lang="en-US" sz="2100" dirty="0"/>
          </a:p>
          <a:p>
            <a:pPr algn="l" indent="0" marL="0">
              <a:buNone/>
            </a:pPr>
            <a:r>
              <a:rPr lang="en-US" sz="2100" b="1" dirty="0">
                <a:solidFill>
                  <a:srgbClr val="17232C"/>
                </a:solidFill>
                <a:latin typeface="Arial" pitchFamily="34" charset="0"/>
                <a:ea typeface="Arial" pitchFamily="34" charset="-122"/>
                <a:cs typeface="Arial" pitchFamily="34" charset="-120"/>
              </a:rPr>
              <a:t>repair package</a:t>
            </a:r>
            <a:endParaRPr lang="en-US" sz="2100" dirty="0"/>
          </a:p>
        </p:txBody>
      </p:sp>
      <p:sp>
        <p:nvSpPr>
          <p:cNvPr id="34" name="line_240"/>
          <p:cNvSpPr/>
          <p:nvPr/>
        </p:nvSpPr>
        <p:spPr>
          <a:xfrm>
            <a:off x="7653528" y="3858768"/>
            <a:ext cx="512064" cy="0"/>
          </a:xfrm>
          <a:prstGeom prst="line">
            <a:avLst/>
          </a:prstGeom>
          <a:noFill/>
          <a:ln w="25400">
            <a:solidFill>
              <a:srgbClr val="ED0016"/>
            </a:solidFill>
            <a:prstDash val="solid"/>
            <a:tailEnd type="triangle"/>
          </a:ln>
        </p:spPr>
      </p:sp>
      <p:sp>
        <p:nvSpPr>
          <p:cNvPr id="35" name="text_241"/>
          <p:cNvSpPr/>
          <p:nvPr/>
        </p:nvSpPr>
        <p:spPr>
          <a:xfrm>
            <a:off x="8366760" y="3566160"/>
            <a:ext cx="3127248" cy="374904"/>
          </a:xfrm>
          <a:prstGeom prst="rect">
            <a:avLst/>
          </a:prstGeom>
          <a:noFill/>
          <a:ln/>
        </p:spPr>
        <p:txBody>
          <a:bodyPr wrap="square" lIns="0" tIns="0" rIns="0" bIns="0" rtlCol="0" anchor="ctr"/>
          <a:lstStyle/>
          <a:p>
            <a:pPr algn="l" indent="0" marL="0">
              <a:buNone/>
            </a:pPr>
            <a:r>
              <a:rPr lang="en-US" sz="2300" b="1" dirty="0">
                <a:solidFill>
                  <a:srgbClr val="ED0016"/>
                </a:solidFill>
                <a:latin typeface="Arial" pitchFamily="34" charset="0"/>
                <a:ea typeface="Arial" pitchFamily="34" charset="-122"/>
                <a:cs typeface="Arial" pitchFamily="34" charset="-120"/>
              </a:rPr>
              <a:t>Order at risk</a:t>
            </a:r>
            <a:endParaRPr lang="en-US" sz="2300" dirty="0"/>
          </a:p>
        </p:txBody>
      </p:sp>
      <p:sp>
        <p:nvSpPr>
          <p:cNvPr id="36" name="text_242"/>
          <p:cNvSpPr/>
          <p:nvPr/>
        </p:nvSpPr>
        <p:spPr>
          <a:xfrm>
            <a:off x="8366760" y="4041648"/>
            <a:ext cx="3118104" cy="566928"/>
          </a:xfrm>
          <a:prstGeom prst="rect">
            <a:avLst/>
          </a:prstGeom>
          <a:noFill/>
          <a:ln/>
        </p:spPr>
        <p:txBody>
          <a:bodyPr wrap="square" lIns="0" tIns="0" rIns="0" bIns="0" rtlCol="0" anchor="ctr"/>
          <a:lstStyle/>
          <a:p>
            <a:pPr algn="l" indent="0" marL="0">
              <a:buNone/>
            </a:pPr>
            <a:r>
              <a:rPr lang="en-US" sz="1600" dirty="0">
                <a:solidFill>
                  <a:srgbClr val="687782"/>
                </a:solidFill>
                <a:latin typeface="Arial" pitchFamily="34" charset="0"/>
                <a:ea typeface="Arial" pitchFamily="34" charset="-122"/>
                <a:cs typeface="Arial" pitchFamily="34" charset="-120"/>
              </a:rPr>
              <a:t>Alternative parts or</a:t>
            </a:r>
            <a:endParaRPr lang="en-US" sz="1600" dirty="0"/>
          </a:p>
          <a:p>
            <a:pPr algn="l" indent="0" marL="0">
              <a:buNone/>
            </a:pPr>
            <a:r>
              <a:rPr lang="en-US" sz="1600" dirty="0">
                <a:solidFill>
                  <a:srgbClr val="687782"/>
                </a:solidFill>
                <a:latin typeface="Arial" pitchFamily="34" charset="0"/>
                <a:ea typeface="Arial" pitchFamily="34" charset="-122"/>
                <a:cs typeface="Arial" pitchFamily="34" charset="-120"/>
              </a:rPr>
              <a:t>an uneconomic repair.</a:t>
            </a:r>
            <a:endParaRPr lang="en-US" sz="1600" dirty="0"/>
          </a:p>
        </p:txBody>
      </p:sp>
      <p:sp>
        <p:nvSpPr>
          <p:cNvPr id="37" name="rect_243"/>
          <p:cNvSpPr/>
          <p:nvPr/>
        </p:nvSpPr>
        <p:spPr>
          <a:xfrm>
            <a:off x="4251960" y="4709160"/>
            <a:ext cx="3264408" cy="950976"/>
          </a:xfrm>
          <a:prstGeom prst="rect">
            <a:avLst/>
          </a:prstGeom>
          <a:solidFill>
            <a:srgbClr val="FBEFF1"/>
          </a:solidFill>
          <a:ln w="12700">
            <a:solidFill>
              <a:srgbClr val="FBEFF1"/>
            </a:solidFill>
            <a:prstDash val="solid"/>
          </a:ln>
        </p:spPr>
      </p:sp>
      <p:sp>
        <p:nvSpPr>
          <p:cNvPr id="38" name="text_244"/>
          <p:cNvSpPr/>
          <p:nvPr/>
        </p:nvSpPr>
        <p:spPr>
          <a:xfrm>
            <a:off x="4480560" y="4901184"/>
            <a:ext cx="2788920" cy="576072"/>
          </a:xfrm>
          <a:prstGeom prst="rect">
            <a:avLst/>
          </a:prstGeom>
          <a:noFill/>
          <a:ln/>
        </p:spPr>
        <p:txBody>
          <a:bodyPr wrap="square" lIns="0" tIns="0" rIns="0" bIns="0" rtlCol="0" anchor="ctr"/>
          <a:lstStyle/>
          <a:p>
            <a:pPr algn="l" indent="0" marL="0">
              <a:buNone/>
            </a:pPr>
            <a:r>
              <a:rPr lang="en-US" sz="2100" b="1" dirty="0">
                <a:solidFill>
                  <a:srgbClr val="17232C"/>
                </a:solidFill>
                <a:latin typeface="Arial" pitchFamily="34" charset="0"/>
                <a:ea typeface="Arial" pitchFamily="34" charset="-122"/>
                <a:cs typeface="Arial" pitchFamily="34" charset="-120"/>
              </a:rPr>
              <a:t>Targeted support on</a:t>
            </a:r>
            <a:endParaRPr lang="en-US" sz="2100" dirty="0"/>
          </a:p>
          <a:p>
            <a:pPr algn="l" indent="0" marL="0">
              <a:buNone/>
            </a:pPr>
            <a:r>
              <a:rPr lang="en-US" sz="2100" b="1" dirty="0">
                <a:solidFill>
                  <a:srgbClr val="17232C"/>
                </a:solidFill>
                <a:latin typeface="Arial" pitchFamily="34" charset="0"/>
                <a:ea typeface="Arial" pitchFamily="34" charset="-122"/>
                <a:cs typeface="Arial" pitchFamily="34" charset="-120"/>
              </a:rPr>
              <a:t>parts that matter</a:t>
            </a:r>
            <a:endParaRPr lang="en-US" sz="2100" dirty="0"/>
          </a:p>
        </p:txBody>
      </p:sp>
      <p:sp>
        <p:nvSpPr>
          <p:cNvPr id="39" name="line_245"/>
          <p:cNvSpPr/>
          <p:nvPr/>
        </p:nvSpPr>
        <p:spPr>
          <a:xfrm>
            <a:off x="7653528" y="5193792"/>
            <a:ext cx="512064" cy="0"/>
          </a:xfrm>
          <a:prstGeom prst="line">
            <a:avLst/>
          </a:prstGeom>
          <a:noFill/>
          <a:ln w="25400">
            <a:solidFill>
              <a:srgbClr val="ED0016"/>
            </a:solidFill>
            <a:prstDash val="solid"/>
            <a:tailEnd type="triangle"/>
          </a:ln>
        </p:spPr>
      </p:sp>
      <p:sp>
        <p:nvSpPr>
          <p:cNvPr id="40" name="text_246"/>
          <p:cNvSpPr/>
          <p:nvPr/>
        </p:nvSpPr>
        <p:spPr>
          <a:xfrm>
            <a:off x="8366760" y="4837176"/>
            <a:ext cx="3191256" cy="640080"/>
          </a:xfrm>
          <a:prstGeom prst="rect">
            <a:avLst/>
          </a:prstGeom>
          <a:noFill/>
          <a:ln/>
        </p:spPr>
        <p:txBody>
          <a:bodyPr wrap="square" lIns="0" tIns="0" rIns="0" bIns="0" rtlCol="0" anchor="ctr"/>
          <a:lstStyle/>
          <a:p>
            <a:pPr algn="l" indent="0" marL="0">
              <a:buNone/>
            </a:pPr>
            <a:r>
              <a:rPr lang="en-US" sz="2300" b="1" dirty="0">
                <a:solidFill>
                  <a:srgbClr val="17232C"/>
                </a:solidFill>
                <a:latin typeface="Arial" pitchFamily="34" charset="0"/>
                <a:ea typeface="Arial" pitchFamily="34" charset="-122"/>
                <a:cs typeface="Arial" pitchFamily="34" charset="-120"/>
              </a:rPr>
              <a:t>Room to retain</a:t>
            </a:r>
            <a:endParaRPr lang="en-US" sz="2300" dirty="0"/>
          </a:p>
          <a:p>
            <a:pPr algn="l" indent="0" marL="0">
              <a:buNone/>
            </a:pPr>
            <a:r>
              <a:rPr lang="en-US" sz="2300" b="1" dirty="0">
                <a:solidFill>
                  <a:srgbClr val="17232C"/>
                </a:solidFill>
                <a:latin typeface="Arial" pitchFamily="34" charset="0"/>
                <a:ea typeface="Arial" pitchFamily="34" charset="-122"/>
                <a:cs typeface="Arial" pitchFamily="34" charset="-120"/>
              </a:rPr>
              <a:t>the complete order</a:t>
            </a:r>
            <a:endParaRPr lang="en-US" sz="2300" dirty="0"/>
          </a:p>
        </p:txBody>
      </p:sp>
      <p:sp>
        <p:nvSpPr>
          <p:cNvPr id="41" name="rect_247"/>
          <p:cNvSpPr/>
          <p:nvPr/>
        </p:nvSpPr>
        <p:spPr>
          <a:xfrm>
            <a:off x="530352" y="5925312"/>
            <a:ext cx="38405" cy="329184"/>
          </a:xfrm>
          <a:prstGeom prst="rect">
            <a:avLst/>
          </a:prstGeom>
          <a:solidFill>
            <a:srgbClr val="ED0016"/>
          </a:solidFill>
          <a:ln w="12700">
            <a:solidFill>
              <a:srgbClr val="ED0016"/>
            </a:solidFill>
            <a:prstDash val="solid"/>
          </a:ln>
        </p:spPr>
      </p:sp>
      <p:sp>
        <p:nvSpPr>
          <p:cNvPr id="42" name="text_248"/>
          <p:cNvSpPr/>
          <p:nvPr/>
        </p:nvSpPr>
        <p:spPr>
          <a:xfrm>
            <a:off x="694944" y="5888736"/>
            <a:ext cx="10963656" cy="475488"/>
          </a:xfrm>
          <a:prstGeom prst="rect">
            <a:avLst/>
          </a:prstGeom>
          <a:noFill/>
          <a:ln/>
        </p:spPr>
        <p:txBody>
          <a:bodyPr wrap="square" lIns="0" tIns="0" rIns="0" bIns="0" rtlCol="0" anchor="ctr"/>
          <a:lstStyle/>
          <a:p>
            <a:pPr algn="l" indent="0" marL="0">
              <a:buNone/>
            </a:pPr>
            <a:r>
              <a:rPr lang="en-US" sz="1920" b="1" dirty="0">
                <a:solidFill>
                  <a:srgbClr val="17232C"/>
                </a:solidFill>
                <a:latin typeface="Arial" pitchFamily="34" charset="0"/>
                <a:ea typeface="Arial" pitchFamily="34" charset="-122"/>
                <a:cs typeface="Arial" pitchFamily="34" charset="-120"/>
              </a:rPr>
              <a:t>The benefit must reach the repair quotation to influence the outcome.</a:t>
            </a:r>
            <a:endParaRPr lang="en-US" sz="1920" dirty="0"/>
          </a:p>
        </p:txBody>
      </p:sp>
    </p:spTree>
  </p:cSld>
  <p:clrMapOvr>
    <a:masterClrMapping/>
  </p:clrMapOvr>
  <p:transition spd="fast" advClick="1">
    <p:fade/>
  </p:transition>
</p:sld>
</file>

<file path=ppt/v12/slides/slide6.xml><?xml version="1.0" encoding="utf-8"?>
<p:sld xmlns:a="http://schemas.openxmlformats.org/drawingml/2006/main" xmlns:r="http://schemas.openxmlformats.org/officeDocument/2006/relationships" xmlns:p="http://schemas.openxmlformats.org/presentationml/2006/main">
  <p:cSld name="Version 1.2 - 16">
    <p:bg>
      <p:bgPr>
        <a:solidFill>
          <a:srgbClr val="17232C"/>
        </a:solidFill>
      </p:bgPr>
    </p:bg>
    <p:spTree>
      <p:nvGrpSpPr>
        <p:cNvPr id="1" name=""/>
        <p:cNvGrpSpPr/>
        <p:nvPr/>
      </p:nvGrpSpPr>
      <p:grpSpPr>
        <a:xfrm>
          <a:off x="0" y="0"/>
          <a:ext cx="0" cy="0"/>
          <a:chOff x="0" y="0"/>
          <a:chExt cx="0" cy="0"/>
        </a:xfrm>
      </p:grpSpPr>
      <p:sp>
        <p:nvSpPr>
          <p:cNvPr id="2" name="text_249"/>
          <p:cNvSpPr/>
          <p:nvPr/>
        </p:nvSpPr>
        <p:spPr>
          <a:xfrm>
            <a:off x="530352" y="301752"/>
            <a:ext cx="1115568" cy="320040"/>
          </a:xfrm>
          <a:prstGeom prst="rect">
            <a:avLst/>
          </a:prstGeom>
          <a:noFill/>
          <a:ln/>
        </p:spPr>
        <p:txBody>
          <a:bodyPr wrap="square" lIns="0" tIns="0" rIns="0" bIns="0" rtlCol="0" anchor="ctr"/>
          <a:lstStyle/>
          <a:p>
            <a:pPr algn="l"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_250"/>
          <p:cNvSpPr/>
          <p:nvPr/>
        </p:nvSpPr>
        <p:spPr>
          <a:xfrm>
            <a:off x="1828800" y="365760"/>
            <a:ext cx="8686800" cy="228600"/>
          </a:xfrm>
          <a:prstGeom prst="rect">
            <a:avLst/>
          </a:prstGeom>
          <a:noFill/>
          <a:ln/>
        </p:spPr>
        <p:txBody>
          <a:bodyPr wrap="square" lIns="0" tIns="0" rIns="0" bIns="0" rtlCol="0" anchor="ctr"/>
          <a:lstStyle/>
          <a:p>
            <a:pPr algn="l" indent="0" marL="0">
              <a:buNone/>
            </a:pPr>
            <a:r>
              <a:rPr lang="en-US" sz="1050" b="1" spc="140" kern="0" dirty="0">
                <a:solidFill>
                  <a:srgbClr val="C8D1D7"/>
                </a:solidFill>
                <a:latin typeface="Arial" pitchFamily="34" charset="0"/>
                <a:ea typeface="Arial" pitchFamily="34" charset="-122"/>
                <a:cs typeface="Arial" pitchFamily="34" charset="-120"/>
              </a:rPr>
              <a:t>BATTERY PRICING - AN INTERNAL PRECEDENT</a:t>
            </a:r>
            <a:endParaRPr lang="en-US" sz="1050" dirty="0"/>
          </a:p>
        </p:txBody>
      </p:sp>
      <p:sp>
        <p:nvSpPr>
          <p:cNvPr id="4" name="text_251"/>
          <p:cNvSpPr/>
          <p:nvPr/>
        </p:nvSpPr>
        <p:spPr>
          <a:xfrm>
            <a:off x="530352" y="905256"/>
            <a:ext cx="11128248" cy="786384"/>
          </a:xfrm>
          <a:prstGeom prst="rect">
            <a:avLst/>
          </a:prstGeom>
          <a:noFill/>
          <a:ln/>
        </p:spPr>
        <p:txBody>
          <a:bodyPr wrap="square" lIns="0" tIns="0" rIns="0" bIns="0" rtlCol="0" anchor="ctr"/>
          <a:lstStyle/>
          <a:p>
            <a:pPr algn="l" indent="0" marL="0">
              <a:buNone/>
            </a:pPr>
            <a:r>
              <a:rPr lang="en-US" sz="3100" b="1" dirty="0">
                <a:solidFill>
                  <a:srgbClr val="FFFFFF"/>
                </a:solidFill>
                <a:latin typeface="Arial" pitchFamily="34" charset="0"/>
                <a:ea typeface="Arial" pitchFamily="34" charset="-122"/>
                <a:cs typeface="Arial" pitchFamily="34" charset="-120"/>
              </a:rPr>
              <a:t>A component exception can support the wider vehicle offer.</a:t>
            </a:r>
            <a:endParaRPr lang="en-US" sz="3100" dirty="0"/>
          </a:p>
        </p:txBody>
      </p:sp>
      <p:sp>
        <p:nvSpPr>
          <p:cNvPr id="5" name="line_252"/>
          <p:cNvSpPr/>
          <p:nvPr/>
        </p:nvSpPr>
        <p:spPr>
          <a:xfrm>
            <a:off x="530352" y="6373368"/>
            <a:ext cx="11128248" cy="0"/>
          </a:xfrm>
          <a:prstGeom prst="line">
            <a:avLst/>
          </a:prstGeom>
          <a:noFill/>
          <a:ln w="7620">
            <a:solidFill>
              <a:srgbClr val="42515D"/>
            </a:solidFill>
            <a:prstDash val="solid"/>
          </a:ln>
        </p:spPr>
      </p:sp>
      <p:sp>
        <p:nvSpPr>
          <p:cNvPr id="6" name="text_253"/>
          <p:cNvSpPr/>
          <p:nvPr/>
        </p:nvSpPr>
        <p:spPr>
          <a:xfrm>
            <a:off x="530352" y="6469380"/>
            <a:ext cx="10012680" cy="228600"/>
          </a:xfrm>
          <a:prstGeom prst="rect">
            <a:avLst/>
          </a:prstGeom>
          <a:noFill/>
          <a:ln/>
        </p:spPr>
        <p:txBody>
          <a:bodyPr wrap="square" lIns="0" tIns="0" rIns="0" bIns="0" rtlCol="0" anchor="ctr"/>
          <a:lstStyle/>
          <a:p>
            <a:pPr algn="l" indent="0" marL="0">
              <a:buNone/>
            </a:pPr>
            <a:r>
              <a:rPr lang="en-US" sz="900" dirty="0">
                <a:solidFill>
                  <a:srgbClr val="AEBBC4"/>
                </a:solidFill>
                <a:latin typeface="Arial" pitchFamily="34" charset="0"/>
                <a:ea typeface="Arial" pitchFamily="34" charset="-122"/>
                <a:cs typeface="Arial" pitchFamily="34" charset="-120"/>
              </a:rPr>
              <a:t>Source: management briefing. Reported battery-price decision; not an independently verified margin or outcome.</a:t>
            </a:r>
            <a:endParaRPr lang="en-US" sz="900" dirty="0"/>
          </a:p>
        </p:txBody>
      </p:sp>
      <p:sp>
        <p:nvSpPr>
          <p:cNvPr id="7" name="text_254"/>
          <p:cNvSpPr/>
          <p:nvPr/>
        </p:nvSpPr>
        <p:spPr>
          <a:xfrm>
            <a:off x="10744200" y="6464808"/>
            <a:ext cx="914400" cy="228600"/>
          </a:xfrm>
          <a:prstGeom prst="rect">
            <a:avLst/>
          </a:prstGeom>
          <a:noFill/>
          <a:ln/>
        </p:spPr>
        <p:txBody>
          <a:bodyPr wrap="square" lIns="0" tIns="0" rIns="0" bIns="0" rtlCol="0" anchor="ctr"/>
          <a:lstStyle/>
          <a:p>
            <a:pPr algn="r" indent="0" marL="0">
              <a:buNone/>
            </a:pPr>
            <a:r>
              <a:rPr lang="en-US" sz="940" dirty="0">
                <a:solidFill>
                  <a:srgbClr val="C8D1D7"/>
                </a:solidFill>
                <a:latin typeface="Arial" pitchFamily="34" charset="0"/>
                <a:ea typeface="Arial" pitchFamily="34" charset="-122"/>
                <a:cs typeface="Arial" pitchFamily="34" charset="-120"/>
              </a:rPr>
              <a:t>v1.2  |  16</a:t>
            </a:r>
            <a:endParaRPr lang="en-US" sz="940" dirty="0"/>
          </a:p>
        </p:txBody>
      </p:sp>
      <p:sp>
        <p:nvSpPr>
          <p:cNvPr id="8" name="icon_255"/>
          <p:cNvSpPr/>
          <p:nvPr/>
        </p:nvSpPr>
        <p:spPr>
          <a:xfrm>
            <a:off x="859536" y="2660904"/>
            <a:ext cx="3438144" cy="2532888"/>
          </a:xfrm>
          <a:prstGeom prst="roundRect">
            <a:avLst/>
          </a:prstGeom>
          <a:solidFill>
            <a:srgbClr val="FFFFFF">
              <a:alpha val="0"/>
            </a:srgbClr>
          </a:solidFill>
          <a:ln w="29210">
            <a:solidFill>
              <a:srgbClr val="C8D1D7"/>
            </a:solidFill>
            <a:prstDash val="solid"/>
          </a:ln>
        </p:spPr>
      </p:sp>
      <p:sp>
        <p:nvSpPr>
          <p:cNvPr id="9" name="icon_256"/>
          <p:cNvSpPr/>
          <p:nvPr/>
        </p:nvSpPr>
        <p:spPr>
          <a:xfrm>
            <a:off x="4297680" y="3602736"/>
            <a:ext cx="210312" cy="630936"/>
          </a:xfrm>
          <a:prstGeom prst="rect">
            <a:avLst/>
          </a:prstGeom>
          <a:solidFill>
            <a:srgbClr val="FFFFFF">
              <a:alpha val="0"/>
            </a:srgbClr>
          </a:solidFill>
          <a:ln w="29210">
            <a:solidFill>
              <a:srgbClr val="C8D1D7"/>
            </a:solidFill>
            <a:prstDash val="solid"/>
          </a:ln>
        </p:spPr>
      </p:sp>
      <p:sp>
        <p:nvSpPr>
          <p:cNvPr id="10" name="text_257"/>
          <p:cNvSpPr/>
          <p:nvPr/>
        </p:nvSpPr>
        <p:spPr>
          <a:xfrm>
            <a:off x="1316736" y="2944368"/>
            <a:ext cx="2368296" cy="1069848"/>
          </a:xfrm>
          <a:prstGeom prst="rect">
            <a:avLst/>
          </a:prstGeom>
          <a:noFill/>
          <a:ln/>
        </p:spPr>
        <p:txBody>
          <a:bodyPr wrap="square" lIns="0" tIns="0" rIns="0" bIns="0" rtlCol="0" anchor="ctr"/>
          <a:lstStyle/>
          <a:p>
            <a:pPr algn="ctr" indent="0" marL="0">
              <a:buNone/>
            </a:pPr>
            <a:r>
              <a:rPr lang="en-US" sz="7600" b="1" dirty="0">
                <a:solidFill>
                  <a:srgbClr val="FFFFFF"/>
                </a:solidFill>
                <a:latin typeface="Arial" pitchFamily="34" charset="0"/>
                <a:ea typeface="Arial" pitchFamily="34" charset="-122"/>
                <a:cs typeface="Arial" pitchFamily="34" charset="-120"/>
              </a:rPr>
              <a:t>1%</a:t>
            </a:r>
            <a:endParaRPr lang="en-US" sz="7600" dirty="0"/>
          </a:p>
        </p:txBody>
      </p:sp>
      <p:sp>
        <p:nvSpPr>
          <p:cNvPr id="11" name="text_258"/>
          <p:cNvSpPr/>
          <p:nvPr/>
        </p:nvSpPr>
        <p:spPr>
          <a:xfrm>
            <a:off x="1280160" y="4160520"/>
            <a:ext cx="2468880" cy="246888"/>
          </a:xfrm>
          <a:prstGeom prst="rect">
            <a:avLst/>
          </a:prstGeom>
          <a:noFill/>
          <a:ln/>
        </p:spPr>
        <p:txBody>
          <a:bodyPr wrap="square" lIns="0" tIns="0" rIns="0" bIns="0" rtlCol="0" anchor="ctr"/>
          <a:lstStyle/>
          <a:p>
            <a:pPr algn="ctr" indent="0" marL="0">
              <a:buNone/>
            </a:pPr>
            <a:r>
              <a:rPr lang="en-US" sz="1150" b="1" spc="130" kern="0" dirty="0">
                <a:solidFill>
                  <a:srgbClr val="C8D1D7"/>
                </a:solidFill>
                <a:latin typeface="Arial" pitchFamily="34" charset="0"/>
                <a:ea typeface="Arial" pitchFamily="34" charset="-122"/>
                <a:cs typeface="Arial" pitchFamily="34" charset="-120"/>
              </a:rPr>
              <a:t>REPORTED MARGIN</a:t>
            </a:r>
            <a:endParaRPr lang="en-US" sz="1150" dirty="0"/>
          </a:p>
        </p:txBody>
      </p:sp>
      <p:sp>
        <p:nvSpPr>
          <p:cNvPr id="12" name="rect_259"/>
          <p:cNvSpPr/>
          <p:nvPr/>
        </p:nvSpPr>
        <p:spPr>
          <a:xfrm>
            <a:off x="1179576" y="4690872"/>
            <a:ext cx="493776" cy="173736"/>
          </a:xfrm>
          <a:prstGeom prst="rect">
            <a:avLst/>
          </a:prstGeom>
          <a:solidFill>
            <a:srgbClr val="C8D1D7"/>
          </a:solidFill>
          <a:ln w="12700">
            <a:solidFill>
              <a:srgbClr val="C8D1D7"/>
            </a:solidFill>
            <a:prstDash val="solid"/>
          </a:ln>
        </p:spPr>
      </p:sp>
      <p:sp>
        <p:nvSpPr>
          <p:cNvPr id="13" name="rect_260"/>
          <p:cNvSpPr/>
          <p:nvPr/>
        </p:nvSpPr>
        <p:spPr>
          <a:xfrm>
            <a:off x="1874520" y="4690872"/>
            <a:ext cx="493776" cy="173736"/>
          </a:xfrm>
          <a:prstGeom prst="rect">
            <a:avLst/>
          </a:prstGeom>
          <a:solidFill>
            <a:srgbClr val="C8D1D7"/>
          </a:solidFill>
          <a:ln w="12700">
            <a:solidFill>
              <a:srgbClr val="C8D1D7"/>
            </a:solidFill>
            <a:prstDash val="solid"/>
          </a:ln>
        </p:spPr>
      </p:sp>
      <p:sp>
        <p:nvSpPr>
          <p:cNvPr id="14" name="rect_261"/>
          <p:cNvSpPr/>
          <p:nvPr/>
        </p:nvSpPr>
        <p:spPr>
          <a:xfrm>
            <a:off x="2569464" y="4690872"/>
            <a:ext cx="493776" cy="173736"/>
          </a:xfrm>
          <a:prstGeom prst="rect">
            <a:avLst/>
          </a:prstGeom>
          <a:solidFill>
            <a:srgbClr val="C8D1D7"/>
          </a:solidFill>
          <a:ln w="12700">
            <a:solidFill>
              <a:srgbClr val="C8D1D7"/>
            </a:solidFill>
            <a:prstDash val="solid"/>
          </a:ln>
        </p:spPr>
      </p:sp>
      <p:sp>
        <p:nvSpPr>
          <p:cNvPr id="15" name="rect_262"/>
          <p:cNvSpPr/>
          <p:nvPr/>
        </p:nvSpPr>
        <p:spPr>
          <a:xfrm>
            <a:off x="3264408" y="4690872"/>
            <a:ext cx="493776" cy="173736"/>
          </a:xfrm>
          <a:prstGeom prst="rect">
            <a:avLst/>
          </a:prstGeom>
          <a:solidFill>
            <a:srgbClr val="C8D1D7"/>
          </a:solidFill>
          <a:ln w="12700">
            <a:solidFill>
              <a:srgbClr val="C8D1D7"/>
            </a:solidFill>
            <a:prstDash val="solid"/>
          </a:ln>
        </p:spPr>
      </p:sp>
      <p:sp>
        <p:nvSpPr>
          <p:cNvPr id="16" name="line_263"/>
          <p:cNvSpPr/>
          <p:nvPr/>
        </p:nvSpPr>
        <p:spPr>
          <a:xfrm>
            <a:off x="4956048" y="2350008"/>
            <a:ext cx="0" cy="3154680"/>
          </a:xfrm>
          <a:prstGeom prst="line">
            <a:avLst/>
          </a:prstGeom>
          <a:noFill/>
          <a:ln w="12700">
            <a:solidFill>
              <a:srgbClr val="42515D"/>
            </a:solidFill>
            <a:prstDash val="solid"/>
          </a:ln>
        </p:spPr>
      </p:sp>
      <p:sp>
        <p:nvSpPr>
          <p:cNvPr id="17" name="text_264"/>
          <p:cNvSpPr/>
          <p:nvPr/>
        </p:nvSpPr>
        <p:spPr>
          <a:xfrm>
            <a:off x="5431536" y="2432304"/>
            <a:ext cx="5980176" cy="105156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The battery price was reduced</a:t>
            </a:r>
            <a:endParaRPr lang="en-US" sz="2600" dirty="0"/>
          </a:p>
          <a:p>
            <a:pPr algn="l" indent="0" marL="0">
              <a:buNone/>
            </a:pPr>
            <a:r>
              <a:rPr lang="en-US" sz="2600" b="1" dirty="0">
                <a:solidFill>
                  <a:srgbClr val="FFFFFF"/>
                </a:solidFill>
                <a:latin typeface="Arial" pitchFamily="34" charset="0"/>
                <a:ea typeface="Arial" pitchFamily="34" charset="-122"/>
                <a:cs typeface="Arial" pitchFamily="34" charset="-120"/>
              </a:rPr>
              <a:t>to address an insurance-cost concern.</a:t>
            </a:r>
            <a:endParaRPr lang="en-US" sz="2600" dirty="0"/>
          </a:p>
        </p:txBody>
      </p:sp>
      <p:sp>
        <p:nvSpPr>
          <p:cNvPr id="18" name="text_265"/>
          <p:cNvSpPr/>
          <p:nvPr/>
        </p:nvSpPr>
        <p:spPr>
          <a:xfrm>
            <a:off x="5431536" y="3758184"/>
            <a:ext cx="5952744" cy="749808"/>
          </a:xfrm>
          <a:prstGeom prst="rect">
            <a:avLst/>
          </a:prstGeom>
          <a:noFill/>
          <a:ln/>
        </p:spPr>
        <p:txBody>
          <a:bodyPr wrap="square" lIns="0" tIns="0" rIns="0" bIns="0" rtlCol="0" anchor="ctr"/>
          <a:lstStyle/>
          <a:p>
            <a:pPr algn="l" indent="0" marL="0">
              <a:buNone/>
            </a:pPr>
            <a:r>
              <a:rPr lang="en-US" sz="2100" dirty="0">
                <a:solidFill>
                  <a:srgbClr val="C8D1D7"/>
                </a:solidFill>
                <a:latin typeface="Arial" pitchFamily="34" charset="0"/>
                <a:ea typeface="Arial" pitchFamily="34" charset="-122"/>
                <a:cs typeface="Arial" pitchFamily="34" charset="-120"/>
              </a:rPr>
              <a:t>The commercial purpose was broader</a:t>
            </a:r>
            <a:endParaRPr lang="en-US" sz="2100" dirty="0"/>
          </a:p>
          <a:p>
            <a:pPr algn="l" indent="0" marL="0">
              <a:buNone/>
            </a:pPr>
            <a:r>
              <a:rPr lang="en-US" sz="2100" dirty="0">
                <a:solidFill>
                  <a:srgbClr val="C8D1D7"/>
                </a:solidFill>
                <a:latin typeface="Arial" pitchFamily="34" charset="0"/>
                <a:ea typeface="Arial" pitchFamily="34" charset="-122"/>
                <a:cs typeface="Arial" pitchFamily="34" charset="-120"/>
              </a:rPr>
              <a:t>than the normal margin on the battery.</a:t>
            </a:r>
            <a:endParaRPr lang="en-US" sz="2100" dirty="0"/>
          </a:p>
        </p:txBody>
      </p:sp>
      <p:sp>
        <p:nvSpPr>
          <p:cNvPr id="19" name="line_266"/>
          <p:cNvSpPr/>
          <p:nvPr/>
        </p:nvSpPr>
        <p:spPr>
          <a:xfrm>
            <a:off x="5431536" y="4773168"/>
            <a:ext cx="5998464" cy="0"/>
          </a:xfrm>
          <a:prstGeom prst="line">
            <a:avLst/>
          </a:prstGeom>
          <a:noFill/>
          <a:ln w="22860">
            <a:solidFill>
              <a:srgbClr val="ED0016"/>
            </a:solidFill>
            <a:prstDash val="solid"/>
          </a:ln>
        </p:spPr>
      </p:sp>
      <p:sp>
        <p:nvSpPr>
          <p:cNvPr id="20" name="text_267"/>
          <p:cNvSpPr/>
          <p:nvPr/>
        </p:nvSpPr>
        <p:spPr>
          <a:xfrm>
            <a:off x="5431536" y="4956048"/>
            <a:ext cx="5952744" cy="685800"/>
          </a:xfrm>
          <a:prstGeom prst="rect">
            <a:avLst/>
          </a:prstGeom>
          <a:noFill/>
          <a:ln/>
        </p:spPr>
        <p:txBody>
          <a:bodyPr wrap="square" lIns="0" tIns="0" rIns="0" bIns="0" rtlCol="0" anchor="ctr"/>
          <a:lstStyle/>
          <a:p>
            <a:pPr algn="l" indent="0" marL="0">
              <a:buNone/>
            </a:pPr>
            <a:r>
              <a:rPr lang="en-US" sz="2100" b="1" dirty="0">
                <a:solidFill>
                  <a:srgbClr val="FFFFFF"/>
                </a:solidFill>
                <a:latin typeface="Arial" pitchFamily="34" charset="0"/>
                <a:ea typeface="Arial" pitchFamily="34" charset="-122"/>
                <a:cs typeface="Arial" pitchFamily="34" charset="-120"/>
              </a:rPr>
              <a:t>Apply the same decision discipline</a:t>
            </a:r>
            <a:endParaRPr lang="en-US" sz="2100" dirty="0"/>
          </a:p>
          <a:p>
            <a:pPr algn="l" indent="0" marL="0">
              <a:buNone/>
            </a:pPr>
            <a:r>
              <a:rPr lang="en-US" sz="2100" b="1" dirty="0">
                <a:solidFill>
                  <a:srgbClr val="FFFFFF"/>
                </a:solidFill>
                <a:latin typeface="Arial" pitchFamily="34" charset="0"/>
                <a:ea typeface="Arial" pitchFamily="34" charset="-122"/>
                <a:cs typeface="Arial" pitchFamily="34" charset="-120"/>
              </a:rPr>
              <a:t>to selected repair-critical components.</a:t>
            </a:r>
            <a:endParaRPr lang="en-US" sz="2100" dirty="0"/>
          </a:p>
        </p:txBody>
      </p:sp>
      <p:sp>
        <p:nvSpPr>
          <p:cNvPr id="21" name="rect_268"/>
          <p:cNvSpPr/>
          <p:nvPr/>
        </p:nvSpPr>
        <p:spPr>
          <a:xfrm>
            <a:off x="530352" y="5934456"/>
            <a:ext cx="38405" cy="329184"/>
          </a:xfrm>
          <a:prstGeom prst="rect">
            <a:avLst/>
          </a:prstGeom>
          <a:solidFill>
            <a:srgbClr val="ED0016"/>
          </a:solidFill>
          <a:ln w="12700">
            <a:solidFill>
              <a:srgbClr val="ED0016"/>
            </a:solidFill>
            <a:prstDash val="solid"/>
          </a:ln>
        </p:spPr>
      </p:sp>
      <p:sp>
        <p:nvSpPr>
          <p:cNvPr id="22" name="text_269"/>
          <p:cNvSpPr/>
          <p:nvPr/>
        </p:nvSpPr>
        <p:spPr>
          <a:xfrm>
            <a:off x="694944" y="5897880"/>
            <a:ext cx="10963656" cy="475488"/>
          </a:xfrm>
          <a:prstGeom prst="rect">
            <a:avLst/>
          </a:prstGeom>
          <a:noFill/>
          <a:ln/>
        </p:spPr>
        <p:txBody>
          <a:bodyPr wrap="square" lIns="0" tIns="0" rIns="0" bIns="0" rtlCol="0" anchor="ctr"/>
          <a:lstStyle/>
          <a:p>
            <a:pPr algn="l" indent="0" marL="0">
              <a:buNone/>
            </a:pPr>
            <a:r>
              <a:rPr lang="en-US" sz="1920" b="1" dirty="0">
                <a:solidFill>
                  <a:srgbClr val="FFFFFF"/>
                </a:solidFill>
                <a:latin typeface="Arial" pitchFamily="34" charset="0"/>
                <a:ea typeface="Arial" pitchFamily="34" charset="-122"/>
                <a:cs typeface="Arial" pitchFamily="34" charset="-120"/>
              </a:rPr>
              <a:t>An exceptional decision, not a new standard margin for the whole family.</a:t>
            </a:r>
            <a:endParaRPr lang="en-US" sz="1920" dirty="0"/>
          </a:p>
        </p:txBody>
      </p:sp>
    </p:spTree>
  </p:cSld>
  <p:clrMapOvr>
    <a:masterClrMapping/>
  </p:clrMapOvr>
  <p:transition spd="fast" advClick="1">
    <p:fade/>
  </p:transition>
</p:sld>
</file>

<file path=ppt/v12/slides/slide7.xml><?xml version="1.0" encoding="utf-8"?>
<p:sld xmlns:a="http://schemas.openxmlformats.org/drawingml/2006/main" xmlns:r="http://schemas.openxmlformats.org/officeDocument/2006/relationships" xmlns:p="http://schemas.openxmlformats.org/presentationml/2006/main">
  <p:cSld name="Version 1.2 - 23">
    <p:bg>
      <p:bgPr>
        <a:solidFill>
          <a:srgbClr val="FFFFFF"/>
        </a:solidFill>
      </p:bgPr>
    </p:bg>
    <p:spTree>
      <p:nvGrpSpPr>
        <p:cNvPr id="1" name=""/>
        <p:cNvGrpSpPr/>
        <p:nvPr/>
      </p:nvGrpSpPr>
      <p:grpSpPr>
        <a:xfrm>
          <a:off x="0" y="0"/>
          <a:ext cx="0" cy="0"/>
          <a:chOff x="0" y="0"/>
          <a:chExt cx="0" cy="0"/>
        </a:xfrm>
      </p:grpSpPr>
      <p:sp>
        <p:nvSpPr>
          <p:cNvPr id="2" name="text_270"/>
          <p:cNvSpPr/>
          <p:nvPr/>
        </p:nvSpPr>
        <p:spPr>
          <a:xfrm>
            <a:off x="530352" y="301752"/>
            <a:ext cx="1115568" cy="320040"/>
          </a:xfrm>
          <a:prstGeom prst="rect">
            <a:avLst/>
          </a:prstGeom>
          <a:noFill/>
          <a:ln/>
        </p:spPr>
        <p:txBody>
          <a:bodyPr wrap="square" lIns="0" tIns="0" rIns="0" bIns="0" rtlCol="0" anchor="ctr"/>
          <a:lstStyle/>
          <a:p>
            <a:pPr algn="l"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_271"/>
          <p:cNvSpPr/>
          <p:nvPr/>
        </p:nvSpPr>
        <p:spPr>
          <a:xfrm>
            <a:off x="1828800" y="365760"/>
            <a:ext cx="8686800" cy="228600"/>
          </a:xfrm>
          <a:prstGeom prst="rect">
            <a:avLst/>
          </a:prstGeom>
          <a:noFill/>
          <a:ln/>
        </p:spPr>
        <p:txBody>
          <a:bodyPr wrap="square" lIns="0" tIns="0" rIns="0" bIns="0" rtlCol="0" anchor="ctr"/>
          <a:lstStyle/>
          <a:p>
            <a:pPr algn="l" indent="0" marL="0">
              <a:buNone/>
            </a:pPr>
            <a:r>
              <a:rPr lang="en-US" sz="1050" b="1" spc="140" kern="0" dirty="0">
                <a:solidFill>
                  <a:srgbClr val="687782"/>
                </a:solidFill>
                <a:latin typeface="Arial" pitchFamily="34" charset="0"/>
                <a:ea typeface="Arial" pitchFamily="34" charset="-122"/>
                <a:cs typeface="Arial" pitchFamily="34" charset="-120"/>
              </a:rPr>
              <a:t>APPENDIX C - CASE CHECKS BEFORE PRICE APPROVAL</a:t>
            </a:r>
            <a:endParaRPr lang="en-US" sz="1050" dirty="0"/>
          </a:p>
        </p:txBody>
      </p:sp>
      <p:sp>
        <p:nvSpPr>
          <p:cNvPr id="4" name="text_272"/>
          <p:cNvSpPr/>
          <p:nvPr/>
        </p:nvSpPr>
        <p:spPr>
          <a:xfrm>
            <a:off x="530352" y="905256"/>
            <a:ext cx="11128248" cy="786384"/>
          </a:xfrm>
          <a:prstGeom prst="rect">
            <a:avLst/>
          </a:prstGeom>
          <a:noFill/>
          <a:ln/>
        </p:spPr>
        <p:txBody>
          <a:bodyPr wrap="square" lIns="0" tIns="0" rIns="0" bIns="0" rtlCol="0" anchor="ctr"/>
          <a:lstStyle/>
          <a:p>
            <a:pPr algn="l" indent="0" marL="0">
              <a:buNone/>
            </a:pPr>
            <a:r>
              <a:rPr lang="en-US" sz="3100" b="1" dirty="0">
                <a:solidFill>
                  <a:srgbClr val="17232C"/>
                </a:solidFill>
                <a:latin typeface="Arial" pitchFamily="34" charset="0"/>
                <a:ea typeface="Arial" pitchFamily="34" charset="-122"/>
                <a:cs typeface="Arial" pitchFamily="34" charset="-120"/>
              </a:rPr>
              <a:t>The commercial principle is clear; case economics still need proof.</a:t>
            </a:r>
            <a:endParaRPr lang="en-US" sz="3100" dirty="0"/>
          </a:p>
        </p:txBody>
      </p:sp>
      <p:sp>
        <p:nvSpPr>
          <p:cNvPr id="5" name="line_273"/>
          <p:cNvSpPr/>
          <p:nvPr/>
        </p:nvSpPr>
        <p:spPr>
          <a:xfrm>
            <a:off x="530352" y="6373368"/>
            <a:ext cx="11128248" cy="0"/>
          </a:xfrm>
          <a:prstGeom prst="line">
            <a:avLst/>
          </a:prstGeom>
          <a:noFill/>
          <a:ln w="7620">
            <a:solidFill>
              <a:srgbClr val="DDE3E7"/>
            </a:solidFill>
            <a:prstDash val="solid"/>
          </a:ln>
        </p:spPr>
      </p:sp>
      <p:sp>
        <p:nvSpPr>
          <p:cNvPr id="6" name="text_274"/>
          <p:cNvSpPr/>
          <p:nvPr/>
        </p:nvSpPr>
        <p:spPr>
          <a:xfrm>
            <a:off x="530352" y="6469380"/>
            <a:ext cx="10012680" cy="228600"/>
          </a:xfrm>
          <a:prstGeom prst="rect">
            <a:avLst/>
          </a:prstGeom>
          <a:noFill/>
          <a:ln/>
        </p:spPr>
        <p:txBody>
          <a:bodyPr wrap="square" lIns="0" tIns="0" rIns="0" bIns="0" rtlCol="0" anchor="ctr"/>
          <a:lstStyle/>
          <a:p>
            <a:pPr algn="l" indent="0" marL="0">
              <a:buNone/>
            </a:pPr>
            <a:r>
              <a:rPr lang="en-US" sz="900" dirty="0">
                <a:solidFill>
                  <a:srgbClr val="687782"/>
                </a:solidFill>
                <a:latin typeface="Arial" pitchFamily="34" charset="0"/>
                <a:ea typeface="Arial" pitchFamily="34" charset="-122"/>
                <a:cs typeface="Arial" pitchFamily="34" charset="-120"/>
              </a:rPr>
              <a:t>Source: AIM Master, Pricing Master and management briefing. Reported evidence is distinguished from measured outcomes.</a:t>
            </a:r>
            <a:endParaRPr lang="en-US" sz="900" dirty="0"/>
          </a:p>
        </p:txBody>
      </p:sp>
      <p:sp>
        <p:nvSpPr>
          <p:cNvPr id="7" name="text_275"/>
          <p:cNvSpPr/>
          <p:nvPr/>
        </p:nvSpPr>
        <p:spPr>
          <a:xfrm>
            <a:off x="10744200" y="6464808"/>
            <a:ext cx="914400" cy="228600"/>
          </a:xfrm>
          <a:prstGeom prst="rect">
            <a:avLst/>
          </a:prstGeom>
          <a:noFill/>
          <a:ln/>
        </p:spPr>
        <p:txBody>
          <a:bodyPr wrap="square" lIns="0" tIns="0" rIns="0" bIns="0" rtlCol="0" anchor="ctr"/>
          <a:lstStyle/>
          <a:p>
            <a:pPr algn="r" indent="0" marL="0">
              <a:buNone/>
            </a:pPr>
            <a:r>
              <a:rPr lang="en-US" sz="940" dirty="0">
                <a:solidFill>
                  <a:srgbClr val="687782"/>
                </a:solidFill>
                <a:latin typeface="Arial" pitchFamily="34" charset="0"/>
                <a:ea typeface="Arial" pitchFamily="34" charset="-122"/>
                <a:cs typeface="Arial" pitchFamily="34" charset="-120"/>
              </a:rPr>
              <a:t>v1.2  |  23</a:t>
            </a:r>
            <a:endParaRPr lang="en-US" sz="940" dirty="0"/>
          </a:p>
        </p:txBody>
      </p:sp>
      <p:sp>
        <p:nvSpPr>
          <p:cNvPr id="8" name="text_276"/>
          <p:cNvSpPr/>
          <p:nvPr/>
        </p:nvSpPr>
        <p:spPr>
          <a:xfrm>
            <a:off x="530352" y="1938528"/>
            <a:ext cx="1874520" cy="228600"/>
          </a:xfrm>
          <a:prstGeom prst="rect">
            <a:avLst/>
          </a:prstGeom>
          <a:noFill/>
          <a:ln/>
        </p:spPr>
        <p:txBody>
          <a:bodyPr wrap="square" lIns="0" tIns="0" rIns="0" bIns="0" rtlCol="0" anchor="ctr"/>
          <a:lstStyle/>
          <a:p>
            <a:pPr algn="l" indent="0" marL="0">
              <a:buNone/>
            </a:pPr>
            <a:r>
              <a:rPr lang="en-US" sz="1050" b="1" spc="100" kern="0" dirty="0">
                <a:solidFill>
                  <a:srgbClr val="687782"/>
                </a:solidFill>
                <a:latin typeface="Arial" pitchFamily="34" charset="0"/>
                <a:ea typeface="Arial" pitchFamily="34" charset="-122"/>
                <a:cs typeface="Arial" pitchFamily="34" charset="-120"/>
              </a:rPr>
              <a:t>CASE</a:t>
            </a:r>
            <a:endParaRPr lang="en-US" sz="1050" dirty="0"/>
          </a:p>
        </p:txBody>
      </p:sp>
      <p:sp>
        <p:nvSpPr>
          <p:cNvPr id="9" name="text_277"/>
          <p:cNvSpPr/>
          <p:nvPr/>
        </p:nvSpPr>
        <p:spPr>
          <a:xfrm>
            <a:off x="2779776" y="1938528"/>
            <a:ext cx="3968496" cy="228600"/>
          </a:xfrm>
          <a:prstGeom prst="rect">
            <a:avLst/>
          </a:prstGeom>
          <a:noFill/>
          <a:ln/>
        </p:spPr>
        <p:txBody>
          <a:bodyPr wrap="square" lIns="0" tIns="0" rIns="0" bIns="0" rtlCol="0" anchor="ctr"/>
          <a:lstStyle/>
          <a:p>
            <a:pPr algn="l" indent="0" marL="0">
              <a:buNone/>
            </a:pPr>
            <a:r>
              <a:rPr lang="en-US" sz="1050" b="1" spc="100" kern="0" dirty="0">
                <a:solidFill>
                  <a:srgbClr val="687782"/>
                </a:solidFill>
                <a:latin typeface="Arial" pitchFamily="34" charset="0"/>
                <a:ea typeface="Arial" pitchFamily="34" charset="-122"/>
                <a:cs typeface="Arial" pitchFamily="34" charset="-120"/>
              </a:rPr>
              <a:t>WHAT SUPPORTS THE CASE</a:t>
            </a:r>
            <a:endParaRPr lang="en-US" sz="1050" dirty="0"/>
          </a:p>
        </p:txBody>
      </p:sp>
      <p:sp>
        <p:nvSpPr>
          <p:cNvPr id="10" name="text_278"/>
          <p:cNvSpPr/>
          <p:nvPr/>
        </p:nvSpPr>
        <p:spPr>
          <a:xfrm>
            <a:off x="7123176" y="1938528"/>
            <a:ext cx="4343400" cy="228600"/>
          </a:xfrm>
          <a:prstGeom prst="rect">
            <a:avLst/>
          </a:prstGeom>
          <a:noFill/>
          <a:ln/>
        </p:spPr>
        <p:txBody>
          <a:bodyPr wrap="square" lIns="0" tIns="0" rIns="0" bIns="0" rtlCol="0" anchor="ctr"/>
          <a:lstStyle/>
          <a:p>
            <a:pPr algn="l" indent="0" marL="0">
              <a:buNone/>
            </a:pPr>
            <a:r>
              <a:rPr lang="en-US" sz="1050" b="1" spc="100" kern="0" dirty="0">
                <a:solidFill>
                  <a:srgbClr val="687782"/>
                </a:solidFill>
                <a:latin typeface="Arial" pitchFamily="34" charset="0"/>
                <a:ea typeface="Arial" pitchFamily="34" charset="-122"/>
                <a:cs typeface="Arial" pitchFamily="34" charset="-120"/>
              </a:rPr>
              <a:t>WHAT TO CONFIRM</a:t>
            </a:r>
            <a:endParaRPr lang="en-US" sz="1050" dirty="0"/>
          </a:p>
        </p:txBody>
      </p:sp>
      <p:sp>
        <p:nvSpPr>
          <p:cNvPr id="11" name="rect_279"/>
          <p:cNvSpPr/>
          <p:nvPr/>
        </p:nvSpPr>
        <p:spPr>
          <a:xfrm>
            <a:off x="530352" y="2276856"/>
            <a:ext cx="11128248" cy="969264"/>
          </a:xfrm>
          <a:prstGeom prst="rect">
            <a:avLst/>
          </a:prstGeom>
          <a:solidFill>
            <a:srgbClr val="F0F3F5"/>
          </a:solidFill>
          <a:ln w="12700">
            <a:solidFill>
              <a:srgbClr val="F0F3F5"/>
            </a:solidFill>
            <a:prstDash val="solid"/>
          </a:ln>
        </p:spPr>
      </p:sp>
      <p:sp>
        <p:nvSpPr>
          <p:cNvPr id="12" name="text_280"/>
          <p:cNvSpPr/>
          <p:nvPr/>
        </p:nvSpPr>
        <p:spPr>
          <a:xfrm>
            <a:off x="722376" y="2514600"/>
            <a:ext cx="1847088" cy="402336"/>
          </a:xfrm>
          <a:prstGeom prst="rect">
            <a:avLst/>
          </a:prstGeom>
          <a:noFill/>
          <a:ln/>
        </p:spPr>
        <p:txBody>
          <a:bodyPr wrap="square" lIns="0" tIns="0" rIns="0" bIns="0" rtlCol="0" anchor="ctr"/>
          <a:lstStyle/>
          <a:p>
            <a:pPr algn="l" indent="0" marL="0">
              <a:buNone/>
            </a:pPr>
            <a:r>
              <a:rPr lang="en-US" sz="2100" b="1" dirty="0">
                <a:solidFill>
                  <a:srgbClr val="17232C"/>
                </a:solidFill>
                <a:latin typeface="Arial" pitchFamily="34" charset="0"/>
                <a:ea typeface="Arial" pitchFamily="34" charset="-122"/>
                <a:cs typeface="Arial" pitchFamily="34" charset="-120"/>
              </a:rPr>
              <a:t>UK / ITUK</a:t>
            </a:r>
            <a:endParaRPr lang="en-US" sz="2100" dirty="0"/>
          </a:p>
        </p:txBody>
      </p:sp>
      <p:sp>
        <p:nvSpPr>
          <p:cNvPr id="13" name="text_281"/>
          <p:cNvSpPr/>
          <p:nvPr/>
        </p:nvSpPr>
        <p:spPr>
          <a:xfrm>
            <a:off x="2779776" y="2404872"/>
            <a:ext cx="3986784" cy="704088"/>
          </a:xfrm>
          <a:prstGeom prst="rect">
            <a:avLst/>
          </a:prstGeom>
          <a:noFill/>
          <a:ln/>
        </p:spPr>
        <p:txBody>
          <a:bodyPr wrap="square" lIns="0" tIns="0" rIns="0" bIns="0" rtlCol="0" anchor="ctr"/>
          <a:lstStyle/>
          <a:p>
            <a:pPr algn="l" indent="0" marL="0">
              <a:buNone/>
            </a:pPr>
            <a:r>
              <a:rPr lang="en-US" sz="1800" dirty="0">
                <a:solidFill>
                  <a:srgbClr val="17232C"/>
                </a:solidFill>
                <a:latin typeface="Arial" pitchFamily="34" charset="0"/>
                <a:ea typeface="Arial" pitchFamily="34" charset="-122"/>
                <a:cs typeface="Arial" pitchFamily="34" charset="-120"/>
              </a:rPr>
              <a:t>Recurring inspection cycle and a named</a:t>
            </a:r>
            <a:endParaRPr lang="en-US" sz="1800" dirty="0"/>
          </a:p>
          <a:p>
            <a:pPr algn="l" indent="0" marL="0">
              <a:buNone/>
            </a:pPr>
            <a:r>
              <a:rPr lang="en-US" sz="1800" dirty="0">
                <a:solidFill>
                  <a:srgbClr val="17232C"/>
                </a:solidFill>
                <a:latin typeface="Arial" pitchFamily="34" charset="0"/>
                <a:ea typeface="Arial" pitchFamily="34" charset="-122"/>
                <a:cs typeface="Arial" pitchFamily="34" charset="-120"/>
              </a:rPr>
              <a:t>pad-kit support proposal.</a:t>
            </a:r>
            <a:endParaRPr lang="en-US" sz="1800" dirty="0"/>
          </a:p>
        </p:txBody>
      </p:sp>
      <p:sp>
        <p:nvSpPr>
          <p:cNvPr id="14" name="text_282"/>
          <p:cNvSpPr/>
          <p:nvPr/>
        </p:nvSpPr>
        <p:spPr>
          <a:xfrm>
            <a:off x="7123176" y="2404872"/>
            <a:ext cx="4315968" cy="704088"/>
          </a:xfrm>
          <a:prstGeom prst="rect">
            <a:avLst/>
          </a:prstGeom>
          <a:noFill/>
          <a:ln/>
        </p:spPr>
        <p:txBody>
          <a:bodyPr wrap="square" lIns="0" tIns="0" rIns="0" bIns="0" rtlCol="0" anchor="ctr"/>
          <a:lstStyle/>
          <a:p>
            <a:pPr algn="l" indent="0" marL="0">
              <a:buNone/>
            </a:pPr>
            <a:r>
              <a:rPr lang="en-US" sz="1800" dirty="0">
                <a:solidFill>
                  <a:srgbClr val="17232C"/>
                </a:solidFill>
                <a:latin typeface="Arial" pitchFamily="34" charset="0"/>
                <a:ea typeface="Arial" pitchFamily="34" charset="-122"/>
                <a:cs typeface="Arial" pitchFamily="34" charset="-120"/>
              </a:rPr>
              <a:t>Network share of maintenance work;</a:t>
            </a:r>
            <a:endParaRPr lang="en-US" sz="1800" dirty="0"/>
          </a:p>
          <a:p>
            <a:pPr algn="l" indent="0" marL="0">
              <a:buNone/>
            </a:pPr>
            <a:r>
              <a:rPr lang="en-US" sz="1800" dirty="0">
                <a:solidFill>
                  <a:srgbClr val="17232C"/>
                </a:solidFill>
                <a:latin typeface="Arial" pitchFamily="34" charset="0"/>
                <a:ea typeface="Arial" pitchFamily="34" charset="-122"/>
                <a:cs typeface="Arial" pitchFamily="34" charset="-120"/>
              </a:rPr>
              <a:t>final price and volume commitment.</a:t>
            </a:r>
            <a:endParaRPr lang="en-US" sz="1800" dirty="0"/>
          </a:p>
        </p:txBody>
      </p:sp>
      <p:sp>
        <p:nvSpPr>
          <p:cNvPr id="15" name="text_283"/>
          <p:cNvSpPr/>
          <p:nvPr/>
        </p:nvSpPr>
        <p:spPr>
          <a:xfrm>
            <a:off x="722376" y="3575304"/>
            <a:ext cx="1847088" cy="402336"/>
          </a:xfrm>
          <a:prstGeom prst="rect">
            <a:avLst/>
          </a:prstGeom>
          <a:noFill/>
          <a:ln/>
        </p:spPr>
        <p:txBody>
          <a:bodyPr wrap="square" lIns="0" tIns="0" rIns="0" bIns="0" rtlCol="0" anchor="ctr"/>
          <a:lstStyle/>
          <a:p>
            <a:pPr algn="l" indent="0" marL="0">
              <a:buNone/>
            </a:pPr>
            <a:r>
              <a:rPr lang="en-US" sz="2100" b="1" dirty="0">
                <a:solidFill>
                  <a:srgbClr val="17232C"/>
                </a:solidFill>
                <a:latin typeface="Arial" pitchFamily="34" charset="0"/>
                <a:ea typeface="Arial" pitchFamily="34" charset="-122"/>
                <a:cs typeface="Arial" pitchFamily="34" charset="-120"/>
              </a:rPr>
              <a:t>Israel / UTI</a:t>
            </a:r>
            <a:endParaRPr lang="en-US" sz="2100" dirty="0"/>
          </a:p>
        </p:txBody>
      </p:sp>
      <p:sp>
        <p:nvSpPr>
          <p:cNvPr id="16" name="text_284"/>
          <p:cNvSpPr/>
          <p:nvPr/>
        </p:nvSpPr>
        <p:spPr>
          <a:xfrm>
            <a:off x="2779776" y="3465576"/>
            <a:ext cx="3986784" cy="704088"/>
          </a:xfrm>
          <a:prstGeom prst="rect">
            <a:avLst/>
          </a:prstGeom>
          <a:noFill/>
          <a:ln/>
        </p:spPr>
        <p:txBody>
          <a:bodyPr wrap="square" lIns="0" tIns="0" rIns="0" bIns="0" rtlCol="0" anchor="ctr"/>
          <a:lstStyle/>
          <a:p>
            <a:pPr algn="l" indent="0" marL="0">
              <a:buNone/>
            </a:pPr>
            <a:r>
              <a:rPr lang="en-US" sz="1800" dirty="0">
                <a:solidFill>
                  <a:srgbClr val="17232C"/>
                </a:solidFill>
                <a:latin typeface="Arial" pitchFamily="34" charset="0"/>
                <a:ea typeface="Arial" pitchFamily="34" charset="-122"/>
                <a:cs typeface="Arial" pitchFamily="34" charset="-120"/>
              </a:rPr>
              <a:t>Reported collision-cost and insurance</a:t>
            </a:r>
            <a:endParaRPr lang="en-US" sz="1800" dirty="0"/>
          </a:p>
          <a:p>
            <a:pPr algn="l" indent="0" marL="0">
              <a:buNone/>
            </a:pPr>
            <a:r>
              <a:rPr lang="en-US" sz="1800" dirty="0">
                <a:solidFill>
                  <a:srgbClr val="17232C"/>
                </a:solidFill>
                <a:latin typeface="Arial" pitchFamily="34" charset="0"/>
                <a:ea typeface="Arial" pitchFamily="34" charset="-122"/>
                <a:cs typeface="Arial" pitchFamily="34" charset="-120"/>
              </a:rPr>
              <a:t>concerns on genuine-parts repairs.</a:t>
            </a:r>
            <a:endParaRPr lang="en-US" sz="1800" dirty="0"/>
          </a:p>
        </p:txBody>
      </p:sp>
      <p:sp>
        <p:nvSpPr>
          <p:cNvPr id="17" name="text_285"/>
          <p:cNvSpPr/>
          <p:nvPr/>
        </p:nvSpPr>
        <p:spPr>
          <a:xfrm>
            <a:off x="7123176" y="3465576"/>
            <a:ext cx="4315968" cy="704088"/>
          </a:xfrm>
          <a:prstGeom prst="rect">
            <a:avLst/>
          </a:prstGeom>
          <a:noFill/>
          <a:ln/>
        </p:spPr>
        <p:txBody>
          <a:bodyPr wrap="square" lIns="0" tIns="0" rIns="0" bIns="0" rtlCol="0" anchor="ctr"/>
          <a:lstStyle/>
          <a:p>
            <a:pPr algn="l" indent="0" marL="0">
              <a:buNone/>
            </a:pPr>
            <a:r>
              <a:rPr lang="en-US" sz="1800" dirty="0">
                <a:solidFill>
                  <a:srgbClr val="17232C"/>
                </a:solidFill>
                <a:latin typeface="Arial" pitchFamily="34" charset="0"/>
                <a:ea typeface="Arial" pitchFamily="34" charset="-122"/>
                <a:cs typeface="Arial" pitchFamily="34" charset="-120"/>
              </a:rPr>
              <a:t>Heavy-truck policy terms and an actual</a:t>
            </a:r>
            <a:endParaRPr lang="en-US" sz="1800" dirty="0"/>
          </a:p>
          <a:p>
            <a:pPr algn="l" indent="0" marL="0">
              <a:buNone/>
            </a:pPr>
            <a:r>
              <a:rPr lang="en-US" sz="1800" dirty="0">
                <a:solidFill>
                  <a:srgbClr val="17232C"/>
                </a:solidFill>
                <a:latin typeface="Arial" pitchFamily="34" charset="0"/>
                <a:ea typeface="Arial" pitchFamily="34" charset="-122"/>
                <a:cs typeface="Arial" pitchFamily="34" charset="-120"/>
              </a:rPr>
              <a:t>quotation at risk; effect of the support.</a:t>
            </a:r>
            <a:endParaRPr lang="en-US" sz="1800" dirty="0"/>
          </a:p>
        </p:txBody>
      </p:sp>
      <p:sp>
        <p:nvSpPr>
          <p:cNvPr id="18" name="rect_286"/>
          <p:cNvSpPr/>
          <p:nvPr/>
        </p:nvSpPr>
        <p:spPr>
          <a:xfrm>
            <a:off x="530352" y="4398264"/>
            <a:ext cx="11128248" cy="969264"/>
          </a:xfrm>
          <a:prstGeom prst="rect">
            <a:avLst/>
          </a:prstGeom>
          <a:solidFill>
            <a:srgbClr val="F0F3F5"/>
          </a:solidFill>
          <a:ln w="12700">
            <a:solidFill>
              <a:srgbClr val="F0F3F5"/>
            </a:solidFill>
            <a:prstDash val="solid"/>
          </a:ln>
        </p:spPr>
      </p:sp>
      <p:sp>
        <p:nvSpPr>
          <p:cNvPr id="19" name="text_287"/>
          <p:cNvSpPr/>
          <p:nvPr/>
        </p:nvSpPr>
        <p:spPr>
          <a:xfrm>
            <a:off x="722376" y="4636008"/>
            <a:ext cx="1847088" cy="402336"/>
          </a:xfrm>
          <a:prstGeom prst="rect">
            <a:avLst/>
          </a:prstGeom>
          <a:noFill/>
          <a:ln/>
        </p:spPr>
        <p:txBody>
          <a:bodyPr wrap="square" lIns="0" tIns="0" rIns="0" bIns="0" rtlCol="0" anchor="ctr"/>
          <a:lstStyle/>
          <a:p>
            <a:pPr algn="l" indent="0" marL="0">
              <a:buNone/>
            </a:pPr>
            <a:r>
              <a:rPr lang="en-US" sz="2100" b="1" dirty="0">
                <a:solidFill>
                  <a:srgbClr val="17232C"/>
                </a:solidFill>
                <a:latin typeface="Arial" pitchFamily="34" charset="0"/>
                <a:ea typeface="Arial" pitchFamily="34" charset="-122"/>
                <a:cs typeface="Arial" pitchFamily="34" charset="-120"/>
              </a:rPr>
              <a:t>Battery</a:t>
            </a:r>
            <a:endParaRPr lang="en-US" sz="2100" dirty="0"/>
          </a:p>
        </p:txBody>
      </p:sp>
      <p:sp>
        <p:nvSpPr>
          <p:cNvPr id="20" name="text_288"/>
          <p:cNvSpPr/>
          <p:nvPr/>
        </p:nvSpPr>
        <p:spPr>
          <a:xfrm>
            <a:off x="2779776" y="4526280"/>
            <a:ext cx="3986784" cy="704088"/>
          </a:xfrm>
          <a:prstGeom prst="rect">
            <a:avLst/>
          </a:prstGeom>
          <a:noFill/>
          <a:ln/>
        </p:spPr>
        <p:txBody>
          <a:bodyPr wrap="square" lIns="0" tIns="0" rIns="0" bIns="0" rtlCol="0" anchor="ctr"/>
          <a:lstStyle/>
          <a:p>
            <a:pPr algn="l" indent="0" marL="0">
              <a:buNone/>
            </a:pPr>
            <a:r>
              <a:rPr lang="en-US" sz="1800" dirty="0">
                <a:solidFill>
                  <a:srgbClr val="17232C"/>
                </a:solidFill>
                <a:latin typeface="Arial" pitchFamily="34" charset="0"/>
                <a:ea typeface="Arial" pitchFamily="34" charset="-122"/>
                <a:cs typeface="Arial" pitchFamily="34" charset="-120"/>
              </a:rPr>
              <a:t>Management reports an exceptional</a:t>
            </a:r>
            <a:endParaRPr lang="en-US" sz="1800" dirty="0"/>
          </a:p>
          <a:p>
            <a:pPr algn="l" indent="0" marL="0">
              <a:buNone/>
            </a:pPr>
            <a:r>
              <a:rPr lang="en-US" sz="1800" dirty="0">
                <a:solidFill>
                  <a:srgbClr val="17232C"/>
                </a:solidFill>
                <a:latin typeface="Arial" pitchFamily="34" charset="0"/>
                <a:ea typeface="Arial" pitchFamily="34" charset="-122"/>
                <a:cs typeface="Arial" pitchFamily="34" charset="-120"/>
              </a:rPr>
              <a:t>low-margin pricing decision.</a:t>
            </a:r>
            <a:endParaRPr lang="en-US" sz="1800" dirty="0"/>
          </a:p>
        </p:txBody>
      </p:sp>
      <p:sp>
        <p:nvSpPr>
          <p:cNvPr id="21" name="text_289"/>
          <p:cNvSpPr/>
          <p:nvPr/>
        </p:nvSpPr>
        <p:spPr>
          <a:xfrm>
            <a:off x="7123176" y="4526280"/>
            <a:ext cx="4315968" cy="704088"/>
          </a:xfrm>
          <a:prstGeom prst="rect">
            <a:avLst/>
          </a:prstGeom>
          <a:noFill/>
          <a:ln/>
        </p:spPr>
        <p:txBody>
          <a:bodyPr wrap="square" lIns="0" tIns="0" rIns="0" bIns="0" rtlCol="0" anchor="ctr"/>
          <a:lstStyle/>
          <a:p>
            <a:pPr algn="l" indent="0" marL="0">
              <a:buNone/>
            </a:pPr>
            <a:r>
              <a:rPr lang="en-US" sz="1800" dirty="0">
                <a:solidFill>
                  <a:srgbClr val="17232C"/>
                </a:solidFill>
                <a:latin typeface="Arial" pitchFamily="34" charset="0"/>
                <a:ea typeface="Arial" pitchFamily="34" charset="-122"/>
                <a:cs typeface="Arial" pitchFamily="34" charset="-120"/>
              </a:rPr>
              <a:t>Model, market, decision date and</a:t>
            </a:r>
            <a:endParaRPr lang="en-US" sz="1800" dirty="0"/>
          </a:p>
          <a:p>
            <a:pPr algn="l" indent="0" marL="0">
              <a:buNone/>
            </a:pPr>
            <a:r>
              <a:rPr lang="en-US" sz="1800" dirty="0">
                <a:solidFill>
                  <a:srgbClr val="17232C"/>
                </a:solidFill>
                <a:latin typeface="Arial" pitchFamily="34" charset="0"/>
                <a:ea typeface="Arial" pitchFamily="34" charset="-122"/>
                <a:cs typeface="Arial" pitchFamily="34" charset="-120"/>
              </a:rPr>
              <a:t>whose margin the 1% represents.</a:t>
            </a:r>
            <a:endParaRPr lang="en-US" sz="1800" dirty="0"/>
          </a:p>
        </p:txBody>
      </p:sp>
      <p:sp>
        <p:nvSpPr>
          <p:cNvPr id="22" name="rect_290"/>
          <p:cNvSpPr/>
          <p:nvPr/>
        </p:nvSpPr>
        <p:spPr>
          <a:xfrm>
            <a:off x="530352" y="5907024"/>
            <a:ext cx="38405" cy="329184"/>
          </a:xfrm>
          <a:prstGeom prst="rect">
            <a:avLst/>
          </a:prstGeom>
          <a:solidFill>
            <a:srgbClr val="ED0016"/>
          </a:solidFill>
          <a:ln w="12700">
            <a:solidFill>
              <a:srgbClr val="ED0016"/>
            </a:solidFill>
            <a:prstDash val="solid"/>
          </a:ln>
        </p:spPr>
      </p:sp>
      <p:sp>
        <p:nvSpPr>
          <p:cNvPr id="23" name="text_291"/>
          <p:cNvSpPr/>
          <p:nvPr/>
        </p:nvSpPr>
        <p:spPr>
          <a:xfrm>
            <a:off x="694944" y="5870448"/>
            <a:ext cx="10963656" cy="475488"/>
          </a:xfrm>
          <a:prstGeom prst="rect">
            <a:avLst/>
          </a:prstGeom>
          <a:noFill/>
          <a:ln/>
        </p:spPr>
        <p:txBody>
          <a:bodyPr wrap="square" lIns="0" tIns="0" rIns="0" bIns="0" rtlCol="0" anchor="ctr"/>
          <a:lstStyle/>
          <a:p>
            <a:pPr algn="l" indent="0" marL="0">
              <a:buNone/>
            </a:pPr>
            <a:r>
              <a:rPr lang="en-US" sz="1830" b="1" dirty="0">
                <a:solidFill>
                  <a:srgbClr val="17232C"/>
                </a:solidFill>
                <a:latin typeface="Arial" pitchFamily="34" charset="0"/>
                <a:ea typeface="Arial" pitchFamily="34" charset="-122"/>
                <a:cs typeface="Arial" pitchFamily="34" charset="-120"/>
              </a:rPr>
              <a:t>A proposal or reported risk is not the same as an approved price or observed sales gain.</a:t>
            </a:r>
            <a:endParaRPr lang="en-US" sz="1830" dirty="0"/>
          </a:p>
        </p:txBody>
      </p:sp>
    </p:spTree>
  </p:cSld>
  <p:clrMapOvr>
    <a:masterClrMapping/>
  </p:clrMapOvr>
  <p:transition spd="fast" advClick="1">
    <p:fade/>
  </p:transition>
</p:sld>
</file>

<file path=ppt/v12/slides/slide8.xml><?xml version="1.0" encoding="utf-8"?>
<p:sld xmlns:a="http://schemas.openxmlformats.org/drawingml/2006/main" xmlns:r="http://schemas.openxmlformats.org/officeDocument/2006/relationships" xmlns:p="http://schemas.openxmlformats.org/presentationml/2006/main">
  <p:cSld name="Version 1.2 - 24">
    <p:bg>
      <p:bgPr>
        <a:solidFill>
          <a:srgbClr val="FFFFFF"/>
        </a:solidFill>
      </p:bgPr>
    </p:bg>
    <p:spTree>
      <p:nvGrpSpPr>
        <p:cNvPr id="1" name=""/>
        <p:cNvGrpSpPr/>
        <p:nvPr/>
      </p:nvGrpSpPr>
      <p:grpSpPr>
        <a:xfrm>
          <a:off x="0" y="0"/>
          <a:ext cx="0" cy="0"/>
          <a:chOff x="0" y="0"/>
          <a:chExt cx="0" cy="0"/>
        </a:xfrm>
      </p:grpSpPr>
      <p:sp>
        <p:nvSpPr>
          <p:cNvPr id="2" name="text_292"/>
          <p:cNvSpPr/>
          <p:nvPr/>
        </p:nvSpPr>
        <p:spPr>
          <a:xfrm>
            <a:off x="530352" y="301752"/>
            <a:ext cx="1115568" cy="320040"/>
          </a:xfrm>
          <a:prstGeom prst="rect">
            <a:avLst/>
          </a:prstGeom>
          <a:noFill/>
          <a:ln/>
        </p:spPr>
        <p:txBody>
          <a:bodyPr wrap="square" lIns="0" tIns="0" rIns="0" bIns="0" rtlCol="0" anchor="ctr"/>
          <a:lstStyle/>
          <a:p>
            <a:pPr algn="l" indent="0" marL="0">
              <a:buNone/>
            </a:pPr>
            <a:r>
              <a:rPr lang="en-US" sz="2050" b="1" dirty="0">
                <a:solidFill>
                  <a:srgbClr val="ED0016"/>
                </a:solidFill>
                <a:latin typeface="Arial" pitchFamily="34" charset="0"/>
                <a:ea typeface="Arial" pitchFamily="34" charset="-122"/>
                <a:cs typeface="Arial" pitchFamily="34" charset="-120"/>
              </a:rPr>
              <a:t>ISUZU</a:t>
            </a:r>
            <a:endParaRPr lang="en-US" sz="2050" dirty="0"/>
          </a:p>
        </p:txBody>
      </p:sp>
      <p:sp>
        <p:nvSpPr>
          <p:cNvPr id="3" name="text_293"/>
          <p:cNvSpPr/>
          <p:nvPr/>
        </p:nvSpPr>
        <p:spPr>
          <a:xfrm>
            <a:off x="1828800" y="365760"/>
            <a:ext cx="8686800" cy="228600"/>
          </a:xfrm>
          <a:prstGeom prst="rect">
            <a:avLst/>
          </a:prstGeom>
          <a:noFill/>
          <a:ln/>
        </p:spPr>
        <p:txBody>
          <a:bodyPr wrap="square" lIns="0" tIns="0" rIns="0" bIns="0" rtlCol="0" anchor="ctr"/>
          <a:lstStyle/>
          <a:p>
            <a:pPr algn="l" indent="0" marL="0">
              <a:buNone/>
            </a:pPr>
            <a:r>
              <a:rPr lang="en-US" sz="1050" b="1" spc="140" kern="0" dirty="0">
                <a:solidFill>
                  <a:srgbClr val="687782"/>
                </a:solidFill>
                <a:latin typeface="Arial" pitchFamily="34" charset="0"/>
                <a:ea typeface="Arial" pitchFamily="34" charset="-122"/>
                <a:cs typeface="Arial" pitchFamily="34" charset="-120"/>
              </a:rPr>
              <a:t>APPENDIX D - POLICY STATUS AND ISSUE DECISIONS</a:t>
            </a:r>
            <a:endParaRPr lang="en-US" sz="1050" dirty="0"/>
          </a:p>
        </p:txBody>
      </p:sp>
      <p:sp>
        <p:nvSpPr>
          <p:cNvPr id="4" name="text_294"/>
          <p:cNvSpPr/>
          <p:nvPr/>
        </p:nvSpPr>
        <p:spPr>
          <a:xfrm>
            <a:off x="530352" y="905256"/>
            <a:ext cx="11128248" cy="786384"/>
          </a:xfrm>
          <a:prstGeom prst="rect">
            <a:avLst/>
          </a:prstGeom>
          <a:noFill/>
          <a:ln/>
        </p:spPr>
        <p:txBody>
          <a:bodyPr wrap="square" lIns="0" tIns="0" rIns="0" bIns="0" rtlCol="0" anchor="ctr"/>
          <a:lstStyle/>
          <a:p>
            <a:pPr algn="l" indent="0" marL="0">
              <a:buNone/>
            </a:pPr>
            <a:r>
              <a:rPr lang="en-US" sz="3100" b="1" dirty="0">
                <a:solidFill>
                  <a:srgbClr val="17232C"/>
                </a:solidFill>
                <a:latin typeface="Arial" pitchFamily="34" charset="0"/>
                <a:ea typeface="Arial" pitchFamily="34" charset="-122"/>
                <a:cs typeface="Arial" pitchFamily="34" charset="-120"/>
              </a:rPr>
              <a:t>Keep agreed principles separate from the final release decisions.</a:t>
            </a:r>
            <a:endParaRPr lang="en-US" sz="3100" dirty="0"/>
          </a:p>
        </p:txBody>
      </p:sp>
      <p:sp>
        <p:nvSpPr>
          <p:cNvPr id="5" name="line_295"/>
          <p:cNvSpPr/>
          <p:nvPr/>
        </p:nvSpPr>
        <p:spPr>
          <a:xfrm>
            <a:off x="530352" y="6373368"/>
            <a:ext cx="11128248" cy="0"/>
          </a:xfrm>
          <a:prstGeom prst="line">
            <a:avLst/>
          </a:prstGeom>
          <a:noFill/>
          <a:ln w="7620">
            <a:solidFill>
              <a:srgbClr val="DDE3E7"/>
            </a:solidFill>
            <a:prstDash val="solid"/>
          </a:ln>
        </p:spPr>
      </p:sp>
      <p:sp>
        <p:nvSpPr>
          <p:cNvPr id="6" name="text_296"/>
          <p:cNvSpPr/>
          <p:nvPr/>
        </p:nvSpPr>
        <p:spPr>
          <a:xfrm>
            <a:off x="530352" y="6469380"/>
            <a:ext cx="10012680" cy="228600"/>
          </a:xfrm>
          <a:prstGeom prst="rect">
            <a:avLst/>
          </a:prstGeom>
          <a:noFill/>
          <a:ln/>
        </p:spPr>
        <p:txBody>
          <a:bodyPr wrap="square" lIns="0" tIns="0" rIns="0" bIns="0" rtlCol="0" anchor="ctr"/>
          <a:lstStyle/>
          <a:p>
            <a:pPr algn="l" indent="0" marL="0">
              <a:buNone/>
            </a:pPr>
            <a:r>
              <a:rPr lang="en-US" sz="900" dirty="0">
                <a:solidFill>
                  <a:srgbClr val="687782"/>
                </a:solidFill>
                <a:latin typeface="Arial" pitchFamily="34" charset="0"/>
                <a:ea typeface="Arial" pitchFamily="34" charset="-122"/>
                <a:cs typeface="Arial" pitchFamily="34" charset="-120"/>
              </a:rPr>
              <a:t>Source: Pricing Master, AIM Master and management briefing. Existing-price instruction retained for the deferred Class T item.</a:t>
            </a:r>
            <a:endParaRPr lang="en-US" sz="900" dirty="0"/>
          </a:p>
        </p:txBody>
      </p:sp>
      <p:sp>
        <p:nvSpPr>
          <p:cNvPr id="7" name="text_297"/>
          <p:cNvSpPr/>
          <p:nvPr/>
        </p:nvSpPr>
        <p:spPr>
          <a:xfrm>
            <a:off x="10744200" y="6464808"/>
            <a:ext cx="914400" cy="228600"/>
          </a:xfrm>
          <a:prstGeom prst="rect">
            <a:avLst/>
          </a:prstGeom>
          <a:noFill/>
          <a:ln/>
        </p:spPr>
        <p:txBody>
          <a:bodyPr wrap="square" lIns="0" tIns="0" rIns="0" bIns="0" rtlCol="0" anchor="ctr"/>
          <a:lstStyle/>
          <a:p>
            <a:pPr algn="r" indent="0" marL="0">
              <a:buNone/>
            </a:pPr>
            <a:r>
              <a:rPr lang="en-US" sz="940" dirty="0">
                <a:solidFill>
                  <a:srgbClr val="687782"/>
                </a:solidFill>
                <a:latin typeface="Arial" pitchFamily="34" charset="0"/>
                <a:ea typeface="Arial" pitchFamily="34" charset="-122"/>
                <a:cs typeface="Arial" pitchFamily="34" charset="-120"/>
              </a:rPr>
              <a:t>v1.2  |  24</a:t>
            </a:r>
            <a:endParaRPr lang="en-US" sz="940" dirty="0"/>
          </a:p>
        </p:txBody>
      </p:sp>
      <p:sp>
        <p:nvSpPr>
          <p:cNvPr id="8" name="text_298"/>
          <p:cNvSpPr/>
          <p:nvPr/>
        </p:nvSpPr>
        <p:spPr>
          <a:xfrm>
            <a:off x="530352" y="1938528"/>
            <a:ext cx="5038344" cy="237744"/>
          </a:xfrm>
          <a:prstGeom prst="rect">
            <a:avLst/>
          </a:prstGeom>
          <a:noFill/>
          <a:ln/>
        </p:spPr>
        <p:txBody>
          <a:bodyPr wrap="square" lIns="0" tIns="0" rIns="0" bIns="0" rtlCol="0" anchor="ctr"/>
          <a:lstStyle/>
          <a:p>
            <a:pPr algn="l" indent="0" marL="0">
              <a:buNone/>
            </a:pPr>
            <a:r>
              <a:rPr lang="en-US" sz="1050" b="1" spc="100" kern="0" dirty="0">
                <a:solidFill>
                  <a:srgbClr val="687782"/>
                </a:solidFill>
                <a:latin typeface="Arial" pitchFamily="34" charset="0"/>
                <a:ea typeface="Arial" pitchFamily="34" charset="-122"/>
                <a:cs typeface="Arial" pitchFamily="34" charset="-120"/>
              </a:rPr>
              <a:t>AGREED / RECORDED</a:t>
            </a:r>
            <a:endParaRPr lang="en-US" sz="1050" dirty="0"/>
          </a:p>
        </p:txBody>
      </p:sp>
      <p:sp>
        <p:nvSpPr>
          <p:cNvPr id="9" name="text_299"/>
          <p:cNvSpPr/>
          <p:nvPr/>
        </p:nvSpPr>
        <p:spPr>
          <a:xfrm>
            <a:off x="6144768" y="1938528"/>
            <a:ext cx="5449824" cy="237744"/>
          </a:xfrm>
          <a:prstGeom prst="rect">
            <a:avLst/>
          </a:prstGeom>
          <a:noFill/>
          <a:ln/>
        </p:spPr>
        <p:txBody>
          <a:bodyPr wrap="square" lIns="0" tIns="0" rIns="0" bIns="0" rtlCol="0" anchor="ctr"/>
          <a:lstStyle/>
          <a:p>
            <a:pPr algn="l" indent="0" marL="0">
              <a:buNone/>
            </a:pPr>
            <a:r>
              <a:rPr lang="en-US" sz="1050" b="1" spc="100" kern="0" dirty="0">
                <a:solidFill>
                  <a:srgbClr val="687782"/>
                </a:solidFill>
                <a:latin typeface="Arial" pitchFamily="34" charset="0"/>
                <a:ea typeface="Arial" pitchFamily="34" charset="-122"/>
                <a:cs typeface="Arial" pitchFamily="34" charset="-120"/>
              </a:rPr>
              <a:t>TO SET OR VALIDATE FOR ISSUE</a:t>
            </a:r>
            <a:endParaRPr lang="en-US" sz="1050" dirty="0"/>
          </a:p>
        </p:txBody>
      </p:sp>
      <p:sp>
        <p:nvSpPr>
          <p:cNvPr id="10" name="line_300"/>
          <p:cNvSpPr/>
          <p:nvPr/>
        </p:nvSpPr>
        <p:spPr>
          <a:xfrm>
            <a:off x="5733288" y="2350008"/>
            <a:ext cx="0" cy="3017520"/>
          </a:xfrm>
          <a:prstGeom prst="line">
            <a:avLst/>
          </a:prstGeom>
          <a:noFill/>
          <a:ln w="10160">
            <a:solidFill>
              <a:srgbClr val="DDE3E7"/>
            </a:solidFill>
            <a:prstDash val="solid"/>
          </a:ln>
        </p:spPr>
      </p:sp>
      <p:sp>
        <p:nvSpPr>
          <p:cNvPr id="11" name="text_301"/>
          <p:cNvSpPr/>
          <p:nvPr/>
        </p:nvSpPr>
        <p:spPr>
          <a:xfrm>
            <a:off x="530352" y="2478024"/>
            <a:ext cx="4928616" cy="347472"/>
          </a:xfrm>
          <a:prstGeom prst="rect">
            <a:avLst/>
          </a:prstGeom>
          <a:noFill/>
          <a:ln/>
        </p:spPr>
        <p:txBody>
          <a:bodyPr wrap="square" lIns="0" tIns="0" rIns="0" bIns="0" rtlCol="0" anchor="ctr"/>
          <a:lstStyle/>
          <a:p>
            <a:pPr algn="l" indent="0" marL="0">
              <a:buNone/>
            </a:pPr>
            <a:r>
              <a:rPr lang="en-US" sz="2050" b="1" dirty="0">
                <a:solidFill>
                  <a:srgbClr val="17232C"/>
                </a:solidFill>
                <a:latin typeface="Arial" pitchFamily="34" charset="0"/>
                <a:ea typeface="Arial" pitchFamily="34" charset="-122"/>
                <a:cs typeface="Arial" pitchFamily="34" charset="-120"/>
              </a:rPr>
              <a:t>Replace price-class margins</a:t>
            </a:r>
            <a:endParaRPr lang="en-US" sz="2050" dirty="0"/>
          </a:p>
        </p:txBody>
      </p:sp>
      <p:sp>
        <p:nvSpPr>
          <p:cNvPr id="12" name="text_302"/>
          <p:cNvSpPr/>
          <p:nvPr/>
        </p:nvSpPr>
        <p:spPr>
          <a:xfrm>
            <a:off x="530352" y="2898648"/>
            <a:ext cx="4928616" cy="475488"/>
          </a:xfrm>
          <a:prstGeom prst="rect">
            <a:avLst/>
          </a:prstGeom>
          <a:noFill/>
          <a:ln/>
        </p:spPr>
        <p:txBody>
          <a:bodyPr wrap="square" lIns="0" tIns="0" rIns="0" bIns="0" rtlCol="0" anchor="ctr"/>
          <a:lstStyle/>
          <a:p>
            <a:pPr algn="l" indent="0" marL="0">
              <a:buNone/>
            </a:pPr>
            <a:r>
              <a:rPr lang="en-US" sz="1650" dirty="0">
                <a:solidFill>
                  <a:srgbClr val="687782"/>
                </a:solidFill>
                <a:latin typeface="Arial" pitchFamily="34" charset="0"/>
                <a:ea typeface="Arial" pitchFamily="34" charset="-122"/>
                <a:cs typeface="Arial" pitchFamily="34" charset="-120"/>
              </a:rPr>
              <a:t>Cost remains a control, not the sole selling-price rule.</a:t>
            </a:r>
            <a:endParaRPr lang="en-US" sz="1650" dirty="0"/>
          </a:p>
        </p:txBody>
      </p:sp>
      <p:sp>
        <p:nvSpPr>
          <p:cNvPr id="13" name="text_303"/>
          <p:cNvSpPr/>
          <p:nvPr/>
        </p:nvSpPr>
        <p:spPr>
          <a:xfrm>
            <a:off x="6144768" y="2478024"/>
            <a:ext cx="5458968" cy="347472"/>
          </a:xfrm>
          <a:prstGeom prst="rect">
            <a:avLst/>
          </a:prstGeom>
          <a:noFill/>
          <a:ln/>
        </p:spPr>
        <p:txBody>
          <a:bodyPr wrap="square" lIns="0" tIns="0" rIns="0" bIns="0" rtlCol="0" anchor="ctr"/>
          <a:lstStyle/>
          <a:p>
            <a:pPr algn="l" indent="0" marL="0">
              <a:buNone/>
            </a:pPr>
            <a:r>
              <a:rPr lang="en-US" sz="2050" b="1" dirty="0">
                <a:solidFill>
                  <a:srgbClr val="17232C"/>
                </a:solidFill>
                <a:latin typeface="Arial" pitchFamily="34" charset="0"/>
                <a:ea typeface="Arial" pitchFamily="34" charset="-122"/>
                <a:cs typeface="Arial" pitchFamily="34" charset="-120"/>
              </a:rPr>
              <a:t>Final prices and net economics</a:t>
            </a:r>
            <a:endParaRPr lang="en-US" sz="2050" dirty="0"/>
          </a:p>
        </p:txBody>
      </p:sp>
      <p:sp>
        <p:nvSpPr>
          <p:cNvPr id="14" name="text_304"/>
          <p:cNvSpPr/>
          <p:nvPr/>
        </p:nvSpPr>
        <p:spPr>
          <a:xfrm>
            <a:off x="6144768" y="2898648"/>
            <a:ext cx="5458968" cy="475488"/>
          </a:xfrm>
          <a:prstGeom prst="rect">
            <a:avLst/>
          </a:prstGeom>
          <a:noFill/>
          <a:ln/>
        </p:spPr>
        <p:txBody>
          <a:bodyPr wrap="square" lIns="0" tIns="0" rIns="0" bIns="0" rtlCol="0" anchor="ctr"/>
          <a:lstStyle/>
          <a:p>
            <a:pPr algn="l" indent="0" marL="0">
              <a:buNone/>
            </a:pPr>
            <a:r>
              <a:rPr lang="en-US" sz="1650" dirty="0">
                <a:solidFill>
                  <a:srgbClr val="687782"/>
                </a:solidFill>
                <a:latin typeface="Arial" pitchFamily="34" charset="0"/>
                <a:ea typeface="Arial" pitchFamily="34" charset="-122"/>
                <a:cs typeface="Arial" pitchFamily="34" charset="-120"/>
              </a:rPr>
              <a:t>Objective, scope, selling support, authority and timing.</a:t>
            </a:r>
            <a:endParaRPr lang="en-US" sz="1650" dirty="0"/>
          </a:p>
        </p:txBody>
      </p:sp>
      <p:sp>
        <p:nvSpPr>
          <p:cNvPr id="15" name="text_305"/>
          <p:cNvSpPr/>
          <p:nvPr/>
        </p:nvSpPr>
        <p:spPr>
          <a:xfrm>
            <a:off x="530352" y="3410712"/>
            <a:ext cx="4928616" cy="347472"/>
          </a:xfrm>
          <a:prstGeom prst="rect">
            <a:avLst/>
          </a:prstGeom>
          <a:noFill/>
          <a:ln/>
        </p:spPr>
        <p:txBody>
          <a:bodyPr wrap="square" lIns="0" tIns="0" rIns="0" bIns="0" rtlCol="0" anchor="ctr"/>
          <a:lstStyle/>
          <a:p>
            <a:pPr algn="l" indent="0" marL="0">
              <a:buNone/>
            </a:pPr>
            <a:r>
              <a:rPr lang="en-US" sz="2050" b="1" dirty="0">
                <a:solidFill>
                  <a:srgbClr val="17232C"/>
                </a:solidFill>
                <a:latin typeface="Arial" pitchFamily="34" charset="0"/>
                <a:ea typeface="Arial" pitchFamily="34" charset="-122"/>
                <a:cs typeface="Arial" pitchFamily="34" charset="-120"/>
              </a:rPr>
              <a:t>No universal 8% ceiling</a:t>
            </a:r>
            <a:endParaRPr lang="en-US" sz="2050" dirty="0"/>
          </a:p>
        </p:txBody>
      </p:sp>
      <p:sp>
        <p:nvSpPr>
          <p:cNvPr id="16" name="text_306"/>
          <p:cNvSpPr/>
          <p:nvPr/>
        </p:nvSpPr>
        <p:spPr>
          <a:xfrm>
            <a:off x="530352" y="3831336"/>
            <a:ext cx="4928616" cy="475488"/>
          </a:xfrm>
          <a:prstGeom prst="rect">
            <a:avLst/>
          </a:prstGeom>
          <a:noFill/>
          <a:ln/>
        </p:spPr>
        <p:txBody>
          <a:bodyPr wrap="square" lIns="0" tIns="0" rIns="0" bIns="0" rtlCol="0" anchor="ctr"/>
          <a:lstStyle/>
          <a:p>
            <a:pPr algn="l" indent="0" marL="0">
              <a:buNone/>
            </a:pPr>
            <a:r>
              <a:rPr lang="en-US" sz="1650" dirty="0">
                <a:solidFill>
                  <a:srgbClr val="687782"/>
                </a:solidFill>
                <a:latin typeface="Arial" pitchFamily="34" charset="0"/>
                <a:ea typeface="Arial" pitchFamily="34" charset="-122"/>
                <a:cs typeface="Arial" pitchFamily="34" charset="-120"/>
              </a:rPr>
              <a:t>Exceptional moves still require evidence and approval.</a:t>
            </a:r>
            <a:endParaRPr lang="en-US" sz="1650" dirty="0"/>
          </a:p>
        </p:txBody>
      </p:sp>
      <p:sp>
        <p:nvSpPr>
          <p:cNvPr id="17" name="text_307"/>
          <p:cNvSpPr/>
          <p:nvPr/>
        </p:nvSpPr>
        <p:spPr>
          <a:xfrm>
            <a:off x="6144768" y="3410712"/>
            <a:ext cx="5458968" cy="347472"/>
          </a:xfrm>
          <a:prstGeom prst="rect">
            <a:avLst/>
          </a:prstGeom>
          <a:noFill/>
          <a:ln/>
        </p:spPr>
        <p:txBody>
          <a:bodyPr wrap="square" lIns="0" tIns="0" rIns="0" bIns="0" rtlCol="0" anchor="ctr"/>
          <a:lstStyle/>
          <a:p>
            <a:pPr algn="l" indent="0" marL="0">
              <a:buNone/>
            </a:pPr>
            <a:r>
              <a:rPr lang="en-US" sz="2050" b="1" dirty="0">
                <a:solidFill>
                  <a:srgbClr val="17232C"/>
                </a:solidFill>
                <a:latin typeface="Arial" pitchFamily="34" charset="0"/>
                <a:ea typeface="Arial" pitchFamily="34" charset="-122"/>
                <a:cs typeface="Arial" pitchFamily="34" charset="-120"/>
              </a:rPr>
              <a:t>Source-specific cost inputs</a:t>
            </a:r>
            <a:endParaRPr lang="en-US" sz="2050" dirty="0"/>
          </a:p>
        </p:txBody>
      </p:sp>
      <p:sp>
        <p:nvSpPr>
          <p:cNvPr id="18" name="text_308"/>
          <p:cNvSpPr/>
          <p:nvPr/>
        </p:nvSpPr>
        <p:spPr>
          <a:xfrm>
            <a:off x="6144768" y="3831336"/>
            <a:ext cx="5458968" cy="475488"/>
          </a:xfrm>
          <a:prstGeom prst="rect">
            <a:avLst/>
          </a:prstGeom>
          <a:noFill/>
          <a:ln/>
        </p:spPr>
        <p:txBody>
          <a:bodyPr wrap="square" lIns="0" tIns="0" rIns="0" bIns="0" rtlCol="0" anchor="ctr"/>
          <a:lstStyle/>
          <a:p>
            <a:pPr algn="l" indent="0" marL="0">
              <a:buNone/>
            </a:pPr>
            <a:r>
              <a:rPr lang="en-US" sz="1650" dirty="0">
                <a:solidFill>
                  <a:srgbClr val="687782"/>
                </a:solidFill>
                <a:latin typeface="Arial" pitchFamily="34" charset="0"/>
                <a:ea typeface="Arial" pitchFamily="34" charset="-122"/>
                <a:cs typeface="Arial" pitchFamily="34" charset="-120"/>
              </a:rPr>
              <a:t>Confirm Thailand's exchange-rate treatment.</a:t>
            </a:r>
            <a:endParaRPr lang="en-US" sz="1650" dirty="0"/>
          </a:p>
        </p:txBody>
      </p:sp>
      <p:sp>
        <p:nvSpPr>
          <p:cNvPr id="19" name="text_309"/>
          <p:cNvSpPr/>
          <p:nvPr/>
        </p:nvSpPr>
        <p:spPr>
          <a:xfrm>
            <a:off x="530352" y="4343400"/>
            <a:ext cx="4928616" cy="347472"/>
          </a:xfrm>
          <a:prstGeom prst="rect">
            <a:avLst/>
          </a:prstGeom>
          <a:noFill/>
          <a:ln/>
        </p:spPr>
        <p:txBody>
          <a:bodyPr wrap="square" lIns="0" tIns="0" rIns="0" bIns="0" rtlCol="0" anchor="ctr"/>
          <a:lstStyle/>
          <a:p>
            <a:pPr algn="l" indent="0" marL="0">
              <a:buNone/>
            </a:pPr>
            <a:r>
              <a:rPr lang="en-US" sz="2050" b="1" dirty="0">
                <a:solidFill>
                  <a:srgbClr val="17232C"/>
                </a:solidFill>
                <a:latin typeface="Arial" pitchFamily="34" charset="0"/>
                <a:ea typeface="Arial" pitchFamily="34" charset="-122"/>
                <a:cs typeface="Arial" pitchFamily="34" charset="-120"/>
              </a:rPr>
              <a:t>AIM identity is live</a:t>
            </a:r>
            <a:endParaRPr lang="en-US" sz="2050" dirty="0"/>
          </a:p>
        </p:txBody>
      </p:sp>
      <p:sp>
        <p:nvSpPr>
          <p:cNvPr id="20" name="text_310"/>
          <p:cNvSpPr/>
          <p:nvPr/>
        </p:nvSpPr>
        <p:spPr>
          <a:xfrm>
            <a:off x="530352" y="4764024"/>
            <a:ext cx="4928616" cy="475488"/>
          </a:xfrm>
          <a:prstGeom prst="rect">
            <a:avLst/>
          </a:prstGeom>
          <a:noFill/>
          <a:ln/>
        </p:spPr>
        <p:txBody>
          <a:bodyPr wrap="square" lIns="0" tIns="0" rIns="0" bIns="0" rtlCol="0" anchor="ctr"/>
          <a:lstStyle/>
          <a:p>
            <a:pPr algn="l" indent="0" marL="0">
              <a:buNone/>
            </a:pPr>
            <a:r>
              <a:rPr lang="en-US" sz="1650" dirty="0">
                <a:solidFill>
                  <a:srgbClr val="687782"/>
                </a:solidFill>
                <a:latin typeface="Arial" pitchFamily="34" charset="0"/>
                <a:ea typeface="Arial" pitchFamily="34" charset="-122"/>
                <a:cs typeface="Arial" pitchFamily="34" charset="-120"/>
              </a:rPr>
              <a:t>Part-level market scoring is the next step.</a:t>
            </a:r>
            <a:endParaRPr lang="en-US" sz="1650" dirty="0"/>
          </a:p>
        </p:txBody>
      </p:sp>
      <p:sp>
        <p:nvSpPr>
          <p:cNvPr id="21" name="text_311"/>
          <p:cNvSpPr/>
          <p:nvPr/>
        </p:nvSpPr>
        <p:spPr>
          <a:xfrm>
            <a:off x="6144768" y="4343400"/>
            <a:ext cx="5458968" cy="347472"/>
          </a:xfrm>
          <a:prstGeom prst="rect">
            <a:avLst/>
          </a:prstGeom>
          <a:noFill/>
          <a:ln/>
        </p:spPr>
        <p:txBody>
          <a:bodyPr wrap="square" lIns="0" tIns="0" rIns="0" bIns="0" rtlCol="0" anchor="ctr"/>
          <a:lstStyle/>
          <a:p>
            <a:pPr algn="l" indent="0" marL="0">
              <a:buNone/>
            </a:pPr>
            <a:r>
              <a:rPr lang="en-US" sz="2050" b="1" dirty="0">
                <a:solidFill>
                  <a:srgbClr val="17232C"/>
                </a:solidFill>
                <a:latin typeface="Arial" pitchFamily="34" charset="0"/>
                <a:ea typeface="Arial" pitchFamily="34" charset="-122"/>
                <a:cs typeface="Arial" pitchFamily="34" charset="-120"/>
              </a:rPr>
              <a:t>Case-level proof</a:t>
            </a:r>
            <a:endParaRPr lang="en-US" sz="2050" dirty="0"/>
          </a:p>
        </p:txBody>
      </p:sp>
      <p:sp>
        <p:nvSpPr>
          <p:cNvPr id="22" name="text_312"/>
          <p:cNvSpPr/>
          <p:nvPr/>
        </p:nvSpPr>
        <p:spPr>
          <a:xfrm>
            <a:off x="6144768" y="4764024"/>
            <a:ext cx="5458968" cy="475488"/>
          </a:xfrm>
          <a:prstGeom prst="rect">
            <a:avLst/>
          </a:prstGeom>
          <a:noFill/>
          <a:ln/>
        </p:spPr>
        <p:txBody>
          <a:bodyPr wrap="square" lIns="0" tIns="0" rIns="0" bIns="0" rtlCol="0" anchor="ctr"/>
          <a:lstStyle/>
          <a:p>
            <a:pPr algn="l" indent="0" marL="0">
              <a:buNone/>
            </a:pPr>
            <a:r>
              <a:rPr lang="en-US" sz="1650" dirty="0">
                <a:solidFill>
                  <a:srgbClr val="687782"/>
                </a:solidFill>
                <a:latin typeface="Arial" pitchFamily="34" charset="0"/>
                <a:ea typeface="Arial" pitchFamily="34" charset="-122"/>
                <a:cs typeface="Arial" pitchFamily="34" charset="-120"/>
              </a:rPr>
              <a:t>Validate UK, Israel and battery details in Appendix C.</a:t>
            </a:r>
            <a:endParaRPr lang="en-US" sz="1650" dirty="0"/>
          </a:p>
        </p:txBody>
      </p:sp>
      <p:sp>
        <p:nvSpPr>
          <p:cNvPr id="23" name="rect_313"/>
          <p:cNvSpPr/>
          <p:nvPr/>
        </p:nvSpPr>
        <p:spPr>
          <a:xfrm>
            <a:off x="530352" y="5513832"/>
            <a:ext cx="11128248" cy="603504"/>
          </a:xfrm>
          <a:prstGeom prst="rect">
            <a:avLst/>
          </a:prstGeom>
          <a:solidFill>
            <a:srgbClr val="FBEFF1"/>
          </a:solidFill>
          <a:ln w="12700">
            <a:solidFill>
              <a:srgbClr val="FBEFF1"/>
            </a:solidFill>
            <a:prstDash val="solid"/>
          </a:ln>
        </p:spPr>
      </p:sp>
      <p:sp>
        <p:nvSpPr>
          <p:cNvPr id="24" name="text_314"/>
          <p:cNvSpPr/>
          <p:nvPr/>
        </p:nvSpPr>
        <p:spPr>
          <a:xfrm>
            <a:off x="731520" y="5669280"/>
            <a:ext cx="1920240" cy="192024"/>
          </a:xfrm>
          <a:prstGeom prst="rect">
            <a:avLst/>
          </a:prstGeom>
          <a:noFill/>
          <a:ln/>
        </p:spPr>
        <p:txBody>
          <a:bodyPr wrap="square" lIns="0" tIns="0" rIns="0" bIns="0" rtlCol="0" anchor="ctr"/>
          <a:lstStyle/>
          <a:p>
            <a:pPr algn="l" indent="0" marL="0">
              <a:buNone/>
            </a:pPr>
            <a:r>
              <a:rPr lang="en-US" sz="1050" b="1" spc="80" kern="0" dirty="0">
                <a:solidFill>
                  <a:srgbClr val="ED0016"/>
                </a:solidFill>
                <a:latin typeface="Arial" pitchFamily="34" charset="0"/>
                <a:ea typeface="Arial" pitchFamily="34" charset="-122"/>
                <a:cs typeface="Arial" pitchFamily="34" charset="-120"/>
              </a:rPr>
              <a:t>DEFERRED: CLASS T</a:t>
            </a:r>
            <a:endParaRPr lang="en-US" sz="1050" dirty="0"/>
          </a:p>
        </p:txBody>
      </p:sp>
      <p:sp>
        <p:nvSpPr>
          <p:cNvPr id="25" name="text_315"/>
          <p:cNvSpPr/>
          <p:nvPr/>
        </p:nvSpPr>
        <p:spPr>
          <a:xfrm>
            <a:off x="2834640" y="5623560"/>
            <a:ext cx="8558784" cy="365760"/>
          </a:xfrm>
          <a:prstGeom prst="rect">
            <a:avLst/>
          </a:prstGeom>
          <a:noFill/>
          <a:ln/>
        </p:spPr>
        <p:txBody>
          <a:bodyPr wrap="square" lIns="0" tIns="0" rIns="0" bIns="0" rtlCol="0" anchor="ctr"/>
          <a:lstStyle/>
          <a:p>
            <a:pPr algn="l" indent="0" marL="0">
              <a:buNone/>
            </a:pPr>
            <a:r>
              <a:rPr lang="en-US" sz="1430" dirty="0">
                <a:solidFill>
                  <a:srgbClr val="17232C"/>
                </a:solidFill>
                <a:latin typeface="Arial" pitchFamily="34" charset="0"/>
                <a:ea typeface="Arial" pitchFamily="34" charset="-122"/>
                <a:cs typeface="Arial" pitchFamily="34" charset="-120"/>
              </a:rPr>
              <a:t>20% configured versus 40% median in the issued Price Master. Keep existing prices; no new decision here.</a:t>
            </a:r>
            <a:endParaRPr lang="en-US" sz="1430" dirty="0"/>
          </a:p>
        </p:txBody>
      </p:sp>
    </p:spTree>
  </p:cSld>
  <p:clrMapOvr>
    <a:masterClrMapping/>
  </p:clrMapOvr>
  <p:transition spd="fast" advClick="1">
    <p:fade/>
  </p:transition>
</p:sld>
</file>

<file path=ppt/v12/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Company>Isuzu Motors Europe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ISZE Parts Pricing Policy - Version 1.2</dc:title>
  <dc:subject>Management information and approval - pricing policy version 1.1</dc:subject>
  <dc:creator>Isuzu Motors Europe</dc:creator>
  <cp:lastModifiedBy>Isuzu Motors Europe</cp:lastModifiedBy>
  <cp:revision>2</cp:revision>
  <dcterms:created xsi:type="dcterms:W3CDTF">2026-09-19T19:18:13Z</dcterms:created>
  <dcterms:modified xsi:type="dcterms:W3CDTF">2026-09-19T19:18:13Z</dcterms:modified>
</cp:coreProperties>
</file>