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7.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8.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9.xml" ContentType="application/vnd.openxmlformats-officedocument.presentationml.notesSlide+xml"/>
  <Override PartName="/ppt/charts/chartEx1.xml" ContentType="application/vnd.ms-office.chartex+xml"/>
  <Override PartName="/ppt/charts/style12.xml" ContentType="application/vnd.ms-office.chartstyle+xml"/>
  <Override PartName="/ppt/charts/colors12.xml" ContentType="application/vnd.ms-office.chartcolorstyle+xml"/>
  <Override PartName="/ppt/theme/themeOverride1.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2.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3.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4.xml" ContentType="application/vnd.openxmlformats-officedocument.drawingml.chart+xml"/>
  <Override PartName="/ppt/charts/style15.xml" ContentType="application/vnd.ms-office.chartstyle+xml"/>
  <Override PartName="/ppt/charts/colors15.xml" ContentType="application/vnd.ms-office.chartcolorstyle+xml"/>
  <Override PartName="/ppt/theme/themeOverride2.xml" ContentType="application/vnd.openxmlformats-officedocument.themeOverride+xml"/>
  <Override PartName="/ppt/charts/chart15.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6.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7.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147483611" r:id="rId2"/>
    <p:sldId id="2147483632" r:id="rId3"/>
    <p:sldId id="2147483634" r:id="rId4"/>
    <p:sldId id="2147469635" r:id="rId5"/>
    <p:sldId id="2147469597" r:id="rId6"/>
    <p:sldId id="2147483624" r:id="rId7"/>
    <p:sldId id="2147483625" r:id="rId8"/>
    <p:sldId id="2147483626" r:id="rId9"/>
    <p:sldId id="2147483627" r:id="rId10"/>
    <p:sldId id="2147469634" r:id="rId11"/>
    <p:sldId id="2147469608" r:id="rId12"/>
    <p:sldId id="2147483629" r:id="rId13"/>
    <p:sldId id="2147483630" r:id="rId14"/>
    <p:sldId id="2147469456" r:id="rId15"/>
    <p:sldId id="2147469626" r:id="rId16"/>
    <p:sldId id="2147483619" r:id="rId17"/>
    <p:sldId id="2147469632" r:id="rId18"/>
    <p:sldId id="2147483617" r:id="rId19"/>
    <p:sldId id="2147483610" r:id="rId20"/>
    <p:sldId id="2147483607" r:id="rId21"/>
    <p:sldId id="2147483605" r:id="rId22"/>
    <p:sldId id="2147483628" r:id="rId23"/>
    <p:sldId id="271" r:id="rId24"/>
    <p:sldId id="2147483623" r:id="rId25"/>
    <p:sldId id="257" r:id="rId26"/>
    <p:sldId id="258" r:id="rId27"/>
    <p:sldId id="2147483631" r:id="rId28"/>
    <p:sldId id="2147483306" r:id="rId29"/>
    <p:sldId id="2147469629" r:id="rId30"/>
    <p:sldId id="2147469618" r:id="rId31"/>
    <p:sldId id="2147483620" r:id="rId32"/>
  </p:sldIdLst>
  <p:sldSz cx="12192000" cy="6858000"/>
  <p:notesSz cx="6805613"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07EB8F-6776-4DD6-8E23-4C3022985032}" v="1" dt="2026-04-13T11:25:11.3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42" autoAdjust="0"/>
    <p:restoredTop sz="94601" autoAdjust="0"/>
  </p:normalViewPr>
  <p:slideViewPr>
    <p:cSldViewPr snapToGrid="0">
      <p:cViewPr varScale="1">
        <p:scale>
          <a:sx n="94" d="100"/>
          <a:sy n="94" d="100"/>
        </p:scale>
        <p:origin x="1476" y="312"/>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4" d="100"/>
          <a:sy n="94" d="100"/>
        </p:scale>
        <p:origin x="4146"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umi Hayakawa" userId="436875c2-2b83-44e6-8457-50f57dc465f0" providerId="ADAL" clId="{0CD38B0A-8027-4BD2-993B-135C3D7D29EC}"/>
    <pc:docChg chg="modSld">
      <pc:chgData name="Masumi Hayakawa" userId="436875c2-2b83-44e6-8457-50f57dc465f0" providerId="ADAL" clId="{0CD38B0A-8027-4BD2-993B-135C3D7D29EC}" dt="2026-04-13T11:25:11.395" v="0"/>
      <pc:docMkLst>
        <pc:docMk/>
      </pc:docMkLst>
      <pc:sldChg chg="delSp modAnim">
        <pc:chgData name="Masumi Hayakawa" userId="436875c2-2b83-44e6-8457-50f57dc465f0" providerId="ADAL" clId="{0CD38B0A-8027-4BD2-993B-135C3D7D29EC}" dt="2026-04-13T11:25:11.395" v="0"/>
        <pc:sldMkLst>
          <pc:docMk/>
          <pc:sldMk cId="3896605727" sldId="2147469456"/>
        </pc:sldMkLst>
        <pc:picChg chg="del">
          <ac:chgData name="Masumi Hayakawa" userId="436875c2-2b83-44e6-8457-50f57dc465f0" providerId="ADAL" clId="{0CD38B0A-8027-4BD2-993B-135C3D7D29EC}" dt="2026-04-13T11:25:11.395" v="0"/>
          <ac:picMkLst>
            <pc:docMk/>
            <pc:sldMk cId="3896605727" sldId="2147469456"/>
            <ac:picMk id="7" creationId="{90B32F70-AE60-8CCC-88A7-3F8467A0F6CC}"/>
          </ac:picMkLst>
        </pc:picChg>
      </pc:sldChg>
      <pc:sldChg chg="delSp modAnim">
        <pc:chgData name="Masumi Hayakawa" userId="436875c2-2b83-44e6-8457-50f57dc465f0" providerId="ADAL" clId="{0CD38B0A-8027-4BD2-993B-135C3D7D29EC}" dt="2026-04-13T11:25:11.395" v="0"/>
        <pc:sldMkLst>
          <pc:docMk/>
          <pc:sldMk cId="846926157" sldId="2147469597"/>
        </pc:sldMkLst>
        <pc:picChg chg="del">
          <ac:chgData name="Masumi Hayakawa" userId="436875c2-2b83-44e6-8457-50f57dc465f0" providerId="ADAL" clId="{0CD38B0A-8027-4BD2-993B-135C3D7D29EC}" dt="2026-04-13T11:25:11.395" v="0"/>
          <ac:picMkLst>
            <pc:docMk/>
            <pc:sldMk cId="846926157" sldId="2147469597"/>
            <ac:picMk id="9" creationId="{A173CAA7-BD37-4D6E-A0EE-A91E2267A0EB}"/>
          </ac:picMkLst>
        </pc:picChg>
      </pc:sldChg>
      <pc:sldChg chg="delSp modAnim">
        <pc:chgData name="Masumi Hayakawa" userId="436875c2-2b83-44e6-8457-50f57dc465f0" providerId="ADAL" clId="{0CD38B0A-8027-4BD2-993B-135C3D7D29EC}" dt="2026-04-13T11:25:11.395" v="0"/>
        <pc:sldMkLst>
          <pc:docMk/>
          <pc:sldMk cId="3711713907" sldId="2147469608"/>
        </pc:sldMkLst>
        <pc:picChg chg="del">
          <ac:chgData name="Masumi Hayakawa" userId="436875c2-2b83-44e6-8457-50f57dc465f0" providerId="ADAL" clId="{0CD38B0A-8027-4BD2-993B-135C3D7D29EC}" dt="2026-04-13T11:25:11.395" v="0"/>
          <ac:picMkLst>
            <pc:docMk/>
            <pc:sldMk cId="3711713907" sldId="2147469608"/>
            <ac:picMk id="10" creationId="{A722CA2F-D85A-6CB0-9690-8D4D7553BB19}"/>
          </ac:picMkLst>
        </pc:picChg>
      </pc:sldChg>
      <pc:sldChg chg="delSp modAnim">
        <pc:chgData name="Masumi Hayakawa" userId="436875c2-2b83-44e6-8457-50f57dc465f0" providerId="ADAL" clId="{0CD38B0A-8027-4BD2-993B-135C3D7D29EC}" dt="2026-04-13T11:25:11.395" v="0"/>
        <pc:sldMkLst>
          <pc:docMk/>
          <pc:sldMk cId="1022215714" sldId="2147469626"/>
        </pc:sldMkLst>
        <pc:picChg chg="del">
          <ac:chgData name="Masumi Hayakawa" userId="436875c2-2b83-44e6-8457-50f57dc465f0" providerId="ADAL" clId="{0CD38B0A-8027-4BD2-993B-135C3D7D29EC}" dt="2026-04-13T11:25:11.395" v="0"/>
          <ac:picMkLst>
            <pc:docMk/>
            <pc:sldMk cId="1022215714" sldId="2147469626"/>
            <ac:picMk id="16" creationId="{456F4A85-9536-8644-82AE-28CD2A9846A2}"/>
          </ac:picMkLst>
        </pc:picChg>
      </pc:sldChg>
      <pc:sldChg chg="delSp modAnim">
        <pc:chgData name="Masumi Hayakawa" userId="436875c2-2b83-44e6-8457-50f57dc465f0" providerId="ADAL" clId="{0CD38B0A-8027-4BD2-993B-135C3D7D29EC}" dt="2026-04-13T11:25:11.395" v="0"/>
        <pc:sldMkLst>
          <pc:docMk/>
          <pc:sldMk cId="4220940186" sldId="2147469634"/>
        </pc:sldMkLst>
        <pc:picChg chg="del">
          <ac:chgData name="Masumi Hayakawa" userId="436875c2-2b83-44e6-8457-50f57dc465f0" providerId="ADAL" clId="{0CD38B0A-8027-4BD2-993B-135C3D7D29EC}" dt="2026-04-13T11:25:11.395" v="0"/>
          <ac:picMkLst>
            <pc:docMk/>
            <pc:sldMk cId="4220940186" sldId="2147469634"/>
            <ac:picMk id="14" creationId="{E88CA527-DECB-D0E7-DCBA-0CDFCDB52E33}"/>
          </ac:picMkLst>
        </pc:picChg>
      </pc:sldChg>
      <pc:sldChg chg="delSp modAnim">
        <pc:chgData name="Masumi Hayakawa" userId="436875c2-2b83-44e6-8457-50f57dc465f0" providerId="ADAL" clId="{0CD38B0A-8027-4BD2-993B-135C3D7D29EC}" dt="2026-04-13T11:25:11.395" v="0"/>
        <pc:sldMkLst>
          <pc:docMk/>
          <pc:sldMk cId="447068753" sldId="2147469635"/>
        </pc:sldMkLst>
        <pc:picChg chg="del">
          <ac:chgData name="Masumi Hayakawa" userId="436875c2-2b83-44e6-8457-50f57dc465f0" providerId="ADAL" clId="{0CD38B0A-8027-4BD2-993B-135C3D7D29EC}" dt="2026-04-13T11:25:11.395" v="0"/>
          <ac:picMkLst>
            <pc:docMk/>
            <pc:sldMk cId="447068753" sldId="2147469635"/>
            <ac:picMk id="12" creationId="{A81B8CCD-2EDE-BB78-3AE4-F30A16F83D46}"/>
          </ac:picMkLst>
        </pc:picChg>
      </pc:sldChg>
      <pc:sldChg chg="delSp modAnim">
        <pc:chgData name="Masumi Hayakawa" userId="436875c2-2b83-44e6-8457-50f57dc465f0" providerId="ADAL" clId="{0CD38B0A-8027-4BD2-993B-135C3D7D29EC}" dt="2026-04-13T11:25:11.395" v="0"/>
        <pc:sldMkLst>
          <pc:docMk/>
          <pc:sldMk cId="2857433331" sldId="2147483610"/>
        </pc:sldMkLst>
        <pc:picChg chg="del">
          <ac:chgData name="Masumi Hayakawa" userId="436875c2-2b83-44e6-8457-50f57dc465f0" providerId="ADAL" clId="{0CD38B0A-8027-4BD2-993B-135C3D7D29EC}" dt="2026-04-13T11:25:11.395" v="0"/>
          <ac:picMkLst>
            <pc:docMk/>
            <pc:sldMk cId="2857433331" sldId="2147483610"/>
            <ac:picMk id="7" creationId="{07B370DC-5767-D8A2-8331-D65F79B97E4E}"/>
          </ac:picMkLst>
        </pc:picChg>
      </pc:sldChg>
      <pc:sldChg chg="delSp modAnim">
        <pc:chgData name="Masumi Hayakawa" userId="436875c2-2b83-44e6-8457-50f57dc465f0" providerId="ADAL" clId="{0CD38B0A-8027-4BD2-993B-135C3D7D29EC}" dt="2026-04-13T11:25:11.395" v="0"/>
        <pc:sldMkLst>
          <pc:docMk/>
          <pc:sldMk cId="659456791" sldId="2147483611"/>
        </pc:sldMkLst>
        <pc:picChg chg="del">
          <ac:chgData name="Masumi Hayakawa" userId="436875c2-2b83-44e6-8457-50f57dc465f0" providerId="ADAL" clId="{0CD38B0A-8027-4BD2-993B-135C3D7D29EC}" dt="2026-04-13T11:25:11.395" v="0"/>
          <ac:picMkLst>
            <pc:docMk/>
            <pc:sldMk cId="659456791" sldId="2147483611"/>
            <ac:picMk id="8" creationId="{04D4D4E2-E851-6A6B-983A-15C0FFEA7D2C}"/>
          </ac:picMkLst>
        </pc:picChg>
      </pc:sldChg>
      <pc:sldChg chg="delSp modAnim">
        <pc:chgData name="Masumi Hayakawa" userId="436875c2-2b83-44e6-8457-50f57dc465f0" providerId="ADAL" clId="{0CD38B0A-8027-4BD2-993B-135C3D7D29EC}" dt="2026-04-13T11:25:11.395" v="0"/>
        <pc:sldMkLst>
          <pc:docMk/>
          <pc:sldMk cId="2266899215" sldId="2147483624"/>
        </pc:sldMkLst>
        <pc:picChg chg="del">
          <ac:chgData name="Masumi Hayakawa" userId="436875c2-2b83-44e6-8457-50f57dc465f0" providerId="ADAL" clId="{0CD38B0A-8027-4BD2-993B-135C3D7D29EC}" dt="2026-04-13T11:25:11.395" v="0"/>
          <ac:picMkLst>
            <pc:docMk/>
            <pc:sldMk cId="2266899215" sldId="2147483624"/>
            <ac:picMk id="8" creationId="{F043A6FD-8707-6800-E7E3-0047064CD9C4}"/>
          </ac:picMkLst>
        </pc:picChg>
      </pc:sldChg>
      <pc:sldChg chg="delSp modAnim">
        <pc:chgData name="Masumi Hayakawa" userId="436875c2-2b83-44e6-8457-50f57dc465f0" providerId="ADAL" clId="{0CD38B0A-8027-4BD2-993B-135C3D7D29EC}" dt="2026-04-13T11:25:11.395" v="0"/>
        <pc:sldMkLst>
          <pc:docMk/>
          <pc:sldMk cId="290466414" sldId="2147483625"/>
        </pc:sldMkLst>
        <pc:picChg chg="del">
          <ac:chgData name="Masumi Hayakawa" userId="436875c2-2b83-44e6-8457-50f57dc465f0" providerId="ADAL" clId="{0CD38B0A-8027-4BD2-993B-135C3D7D29EC}" dt="2026-04-13T11:25:11.395" v="0"/>
          <ac:picMkLst>
            <pc:docMk/>
            <pc:sldMk cId="290466414" sldId="2147483625"/>
            <ac:picMk id="8" creationId="{A3B1F0D6-E33D-3162-D72F-D6C94C278D17}"/>
          </ac:picMkLst>
        </pc:picChg>
      </pc:sldChg>
      <pc:sldChg chg="delSp modAnim">
        <pc:chgData name="Masumi Hayakawa" userId="436875c2-2b83-44e6-8457-50f57dc465f0" providerId="ADAL" clId="{0CD38B0A-8027-4BD2-993B-135C3D7D29EC}" dt="2026-04-13T11:25:11.395" v="0"/>
        <pc:sldMkLst>
          <pc:docMk/>
          <pc:sldMk cId="3398162733" sldId="2147483626"/>
        </pc:sldMkLst>
        <pc:picChg chg="del">
          <ac:chgData name="Masumi Hayakawa" userId="436875c2-2b83-44e6-8457-50f57dc465f0" providerId="ADAL" clId="{0CD38B0A-8027-4BD2-993B-135C3D7D29EC}" dt="2026-04-13T11:25:11.395" v="0"/>
          <ac:picMkLst>
            <pc:docMk/>
            <pc:sldMk cId="3398162733" sldId="2147483626"/>
            <ac:picMk id="4" creationId="{1F298324-0A55-FA95-1B5E-E5BF77F7B865}"/>
          </ac:picMkLst>
        </pc:picChg>
      </pc:sldChg>
      <pc:sldChg chg="delSp modAnim">
        <pc:chgData name="Masumi Hayakawa" userId="436875c2-2b83-44e6-8457-50f57dc465f0" providerId="ADAL" clId="{0CD38B0A-8027-4BD2-993B-135C3D7D29EC}" dt="2026-04-13T11:25:11.395" v="0"/>
        <pc:sldMkLst>
          <pc:docMk/>
          <pc:sldMk cId="2829837283" sldId="2147483627"/>
        </pc:sldMkLst>
        <pc:picChg chg="del">
          <ac:chgData name="Masumi Hayakawa" userId="436875c2-2b83-44e6-8457-50f57dc465f0" providerId="ADAL" clId="{0CD38B0A-8027-4BD2-993B-135C3D7D29EC}" dt="2026-04-13T11:25:11.395" v="0"/>
          <ac:picMkLst>
            <pc:docMk/>
            <pc:sldMk cId="2829837283" sldId="2147483627"/>
            <ac:picMk id="5" creationId="{905C045E-34B8-5CBD-8761-73673D054677}"/>
          </ac:picMkLst>
        </pc:picChg>
      </pc:sldChg>
      <pc:sldChg chg="delSp modAnim">
        <pc:chgData name="Masumi Hayakawa" userId="436875c2-2b83-44e6-8457-50f57dc465f0" providerId="ADAL" clId="{0CD38B0A-8027-4BD2-993B-135C3D7D29EC}" dt="2026-04-13T11:25:11.395" v="0"/>
        <pc:sldMkLst>
          <pc:docMk/>
          <pc:sldMk cId="3148954054" sldId="2147483629"/>
        </pc:sldMkLst>
        <pc:picChg chg="del">
          <ac:chgData name="Masumi Hayakawa" userId="436875c2-2b83-44e6-8457-50f57dc465f0" providerId="ADAL" clId="{0CD38B0A-8027-4BD2-993B-135C3D7D29EC}" dt="2026-04-13T11:25:11.395" v="0"/>
          <ac:picMkLst>
            <pc:docMk/>
            <pc:sldMk cId="3148954054" sldId="2147483629"/>
            <ac:picMk id="8" creationId="{F47F0796-731E-A918-1E68-565344C254EF}"/>
          </ac:picMkLst>
        </pc:picChg>
      </pc:sldChg>
      <pc:sldChg chg="delSp modAnim">
        <pc:chgData name="Masumi Hayakawa" userId="436875c2-2b83-44e6-8457-50f57dc465f0" providerId="ADAL" clId="{0CD38B0A-8027-4BD2-993B-135C3D7D29EC}" dt="2026-04-13T11:25:11.395" v="0"/>
        <pc:sldMkLst>
          <pc:docMk/>
          <pc:sldMk cId="2470437475" sldId="2147483630"/>
        </pc:sldMkLst>
        <pc:picChg chg="del">
          <ac:chgData name="Masumi Hayakawa" userId="436875c2-2b83-44e6-8457-50f57dc465f0" providerId="ADAL" clId="{0CD38B0A-8027-4BD2-993B-135C3D7D29EC}" dt="2026-04-13T11:25:11.395" v="0"/>
          <ac:picMkLst>
            <pc:docMk/>
            <pc:sldMk cId="2470437475" sldId="2147483630"/>
            <ac:picMk id="6" creationId="{9C83B3E1-4418-C42A-B1F5-9757401622B1}"/>
          </ac:picMkLst>
        </pc:picChg>
      </pc:sldChg>
      <pc:sldChg chg="delSp modAnim">
        <pc:chgData name="Masumi Hayakawa" userId="436875c2-2b83-44e6-8457-50f57dc465f0" providerId="ADAL" clId="{0CD38B0A-8027-4BD2-993B-135C3D7D29EC}" dt="2026-04-13T11:25:11.395" v="0"/>
        <pc:sldMkLst>
          <pc:docMk/>
          <pc:sldMk cId="2823913645" sldId="2147483632"/>
        </pc:sldMkLst>
        <pc:picChg chg="del">
          <ac:chgData name="Masumi Hayakawa" userId="436875c2-2b83-44e6-8457-50f57dc465f0" providerId="ADAL" clId="{0CD38B0A-8027-4BD2-993B-135C3D7D29EC}" dt="2026-04-13T11:25:11.395" v="0"/>
          <ac:picMkLst>
            <pc:docMk/>
            <pc:sldMk cId="2823913645" sldId="2147483632"/>
            <ac:picMk id="8" creationId="{8DB85F0A-7117-CD98-4647-BB12C4E0A1E8}"/>
          </ac:picMkLst>
        </pc:picChg>
      </pc:sldChg>
      <pc:sldChg chg="delSp modAnim">
        <pc:chgData name="Masumi Hayakawa" userId="436875c2-2b83-44e6-8457-50f57dc465f0" providerId="ADAL" clId="{0CD38B0A-8027-4BD2-993B-135C3D7D29EC}" dt="2026-04-13T11:25:11.395" v="0"/>
        <pc:sldMkLst>
          <pc:docMk/>
          <pc:sldMk cId="3267733406" sldId="2147483634"/>
        </pc:sldMkLst>
        <pc:picChg chg="del">
          <ac:chgData name="Masumi Hayakawa" userId="436875c2-2b83-44e6-8457-50f57dc465f0" providerId="ADAL" clId="{0CD38B0A-8027-4BD2-993B-135C3D7D29EC}" dt="2026-04-13T11:25:11.395" v="0"/>
          <ac:picMkLst>
            <pc:docMk/>
            <pc:sldMk cId="3267733406" sldId="2147483634"/>
            <ac:picMk id="9" creationId="{608AB82E-5E16-8944-0DCC-AF1EC9A4554F}"/>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7.xml.rels><?xml version="1.0" encoding="UTF-8" standalone="yes"?>
<Relationships xmlns="http://schemas.openxmlformats.org/package/2006/relationships"><Relationship Id="rId3" Type="http://schemas.openxmlformats.org/officeDocument/2006/relationships/oleObject" Target="https://isuzutruck-my.sharepoint.com/personal/syan_hancock_isuzutruck_co_uk/Documents/Documents/Customer%20Feedback/2025/CUSTOMER%20FEEDBACK%20TOTALS%202025.xlsx" TargetMode="External"/><Relationship Id="rId2" Type="http://schemas.microsoft.com/office/2011/relationships/chartColorStyle" Target="colors18.xml"/><Relationship Id="rId1" Type="http://schemas.microsoft.com/office/2011/relationships/chartStyle" Target="style18.xml"/></Relationships>
</file>

<file path=ppt/charts/_rels/chartEx1.xml.rels><?xml version="1.0" encoding="UTF-8" standalone="yes"?>
<Relationships xmlns="http://schemas.openxmlformats.org/package/2006/relationships"><Relationship Id="rId3" Type="http://schemas.microsoft.com/office/2011/relationships/chartColorStyle" Target="colors12.xml"/><Relationship Id="rId2" Type="http://schemas.microsoft.com/office/2011/relationships/chartStyle" Target="style12.xml"/><Relationship Id="rId1" Type="http://schemas.openxmlformats.org/officeDocument/2006/relationships/package" Target="../embeddings/Microsoft_Excel_Worksheet11.xlsx"/><Relationship Id="rId4"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100" b="1" i="0" u="none" strike="noStrike" kern="1200" spc="0" baseline="0">
                <a:solidFill>
                  <a:srgbClr val="344251"/>
                </a:solidFill>
                <a:latin typeface="+mn-lt"/>
                <a:ea typeface="+mn-ea"/>
                <a:cs typeface="+mn-cs"/>
              </a:defRPr>
            </a:pPr>
            <a:r>
              <a:rPr lang="en-US" sz="1100" b="1" dirty="0">
                <a:solidFill>
                  <a:srgbClr val="344251"/>
                </a:solidFill>
              </a:rPr>
              <a:t>MARKET SHARE (CY)</a:t>
            </a:r>
          </a:p>
          <a:p>
            <a:pPr>
              <a:defRPr lang="ja-JP" sz="1100" b="1">
                <a:solidFill>
                  <a:srgbClr val="344251"/>
                </a:solidFill>
              </a:defRPr>
            </a:pPr>
            <a:r>
              <a:rPr lang="en-US" sz="800" b="1" dirty="0">
                <a:solidFill>
                  <a:srgbClr val="344251"/>
                </a:solidFill>
              </a:rPr>
              <a:t>3.5t,7.5t,10-14t</a:t>
            </a:r>
          </a:p>
        </c:rich>
      </c:tx>
      <c:layout>
        <c:manualLayout>
          <c:xMode val="edge"/>
          <c:yMode val="edge"/>
          <c:x val="3.9707802853373247E-2"/>
          <c:y val="2.9069967061667243E-2"/>
        </c:manualLayout>
      </c:layout>
      <c:overlay val="0"/>
      <c:spPr>
        <a:noFill/>
        <a:ln>
          <a:noFill/>
        </a:ln>
        <a:effectLst/>
      </c:spPr>
      <c:txPr>
        <a:bodyPr rot="0" spcFirstLastPara="1" vertOverflow="ellipsis" vert="horz" wrap="square" anchor="ctr" anchorCtr="1"/>
        <a:lstStyle/>
        <a:p>
          <a:pPr>
            <a:defRPr lang="ja-JP" sz="1100" b="1" i="0" u="none" strike="noStrike" kern="1200" spc="0" baseline="0">
              <a:solidFill>
                <a:srgbClr val="344251"/>
              </a:solidFill>
              <a:latin typeface="+mn-lt"/>
              <a:ea typeface="+mn-ea"/>
              <a:cs typeface="+mn-cs"/>
            </a:defRPr>
          </a:pPr>
          <a:endParaRPr lang="ja-JP"/>
        </a:p>
      </c:txPr>
    </c:title>
    <c:autoTitleDeleted val="0"/>
    <c:plotArea>
      <c:layout>
        <c:manualLayout>
          <c:layoutTarget val="inner"/>
          <c:xMode val="edge"/>
          <c:yMode val="edge"/>
          <c:x val="0.13496087214878094"/>
          <c:y val="0.24812567381665779"/>
          <c:w val="0.78531636687759343"/>
          <c:h val="0.5943535594686834"/>
        </c:manualLayout>
      </c:layout>
      <c:lineChart>
        <c:grouping val="standard"/>
        <c:varyColors val="0"/>
        <c:ser>
          <c:idx val="0"/>
          <c:order val="0"/>
          <c:tx>
            <c:strRef>
              <c:f>Sheet1!$B$1</c:f>
              <c:strCache>
                <c:ptCount val="1"/>
                <c:pt idx="0">
                  <c:v>FORD</c:v>
                </c:pt>
              </c:strCache>
            </c:strRef>
          </c:tx>
          <c:spPr>
            <a:ln w="15875" cap="rnd">
              <a:solidFill>
                <a:schemeClr val="accent1"/>
              </a:solidFill>
              <a:round/>
            </a:ln>
            <a:effectLst/>
          </c:spPr>
          <c:marker>
            <c:symbol val="circle"/>
            <c:size val="4"/>
            <c:spPr>
              <a:solidFill>
                <a:schemeClr val="accent1"/>
              </a:solidFill>
              <a:ln w="9525">
                <a:solidFill>
                  <a:schemeClr val="accent1"/>
                </a:solidFill>
              </a:ln>
              <a:effectLst/>
            </c:spPr>
          </c:marker>
          <c:cat>
            <c:numRef>
              <c:f>Sheet1!$A$2:$A$7</c:f>
              <c:numCache>
                <c:formatCode>General</c:formatCode>
                <c:ptCount val="6"/>
                <c:pt idx="0">
                  <c:v>2020</c:v>
                </c:pt>
                <c:pt idx="1">
                  <c:v>2021</c:v>
                </c:pt>
                <c:pt idx="2">
                  <c:v>2022</c:v>
                </c:pt>
                <c:pt idx="3">
                  <c:v>2023</c:v>
                </c:pt>
                <c:pt idx="4">
                  <c:v>2024</c:v>
                </c:pt>
                <c:pt idx="5">
                  <c:v>2025</c:v>
                </c:pt>
              </c:numCache>
            </c:numRef>
          </c:cat>
          <c:val>
            <c:numRef>
              <c:f>Sheet1!$B$2:$B$7</c:f>
              <c:numCache>
                <c:formatCode>0.00%</c:formatCode>
                <c:ptCount val="6"/>
                <c:pt idx="0">
                  <c:v>0.25065429849262877</c:v>
                </c:pt>
                <c:pt idx="1">
                  <c:v>0.28469040366549775</c:v>
                </c:pt>
                <c:pt idx="2">
                  <c:v>0.35087614018242919</c:v>
                </c:pt>
                <c:pt idx="3">
                  <c:v>0.33170141526687486</c:v>
                </c:pt>
                <c:pt idx="4">
                  <c:v>0.28981152690521716</c:v>
                </c:pt>
                <c:pt idx="5">
                  <c:v>0.34889999999999999</c:v>
                </c:pt>
              </c:numCache>
            </c:numRef>
          </c:val>
          <c:smooth val="0"/>
          <c:extLst>
            <c:ext xmlns:c16="http://schemas.microsoft.com/office/drawing/2014/chart" uri="{C3380CC4-5D6E-409C-BE32-E72D297353CC}">
              <c16:uniqueId val="{00000000-EBF2-C048-B380-48A183FE6E93}"/>
            </c:ext>
          </c:extLst>
        </c:ser>
        <c:ser>
          <c:idx val="1"/>
          <c:order val="1"/>
          <c:tx>
            <c:strRef>
              <c:f>Sheet1!$C$1</c:f>
              <c:strCache>
                <c:ptCount val="1"/>
                <c:pt idx="0">
                  <c:v>MERCEDES</c:v>
                </c:pt>
              </c:strCache>
            </c:strRef>
          </c:tx>
          <c:spPr>
            <a:ln w="15875" cap="rnd">
              <a:solidFill>
                <a:schemeClr val="accent2"/>
              </a:solidFill>
              <a:round/>
            </a:ln>
            <a:effectLst/>
          </c:spPr>
          <c:marker>
            <c:symbol val="circle"/>
            <c:size val="4"/>
            <c:spPr>
              <a:solidFill>
                <a:schemeClr val="accent2"/>
              </a:solidFill>
              <a:ln w="9525">
                <a:solidFill>
                  <a:schemeClr val="accent2"/>
                </a:solidFill>
              </a:ln>
              <a:effectLst/>
            </c:spPr>
          </c:marker>
          <c:cat>
            <c:numRef>
              <c:f>Sheet1!$A$2:$A$7</c:f>
              <c:numCache>
                <c:formatCode>General</c:formatCode>
                <c:ptCount val="6"/>
                <c:pt idx="0">
                  <c:v>2020</c:v>
                </c:pt>
                <c:pt idx="1">
                  <c:v>2021</c:v>
                </c:pt>
                <c:pt idx="2">
                  <c:v>2022</c:v>
                </c:pt>
                <c:pt idx="3">
                  <c:v>2023</c:v>
                </c:pt>
                <c:pt idx="4">
                  <c:v>2024</c:v>
                </c:pt>
                <c:pt idx="5">
                  <c:v>2025</c:v>
                </c:pt>
              </c:numCache>
            </c:numRef>
          </c:cat>
          <c:val>
            <c:numRef>
              <c:f>Sheet1!$C$2:$C$7</c:f>
              <c:numCache>
                <c:formatCode>0.00%</c:formatCode>
                <c:ptCount val="6"/>
                <c:pt idx="0">
                  <c:v>0.28351830379327481</c:v>
                </c:pt>
                <c:pt idx="1">
                  <c:v>0.24048429620907671</c:v>
                </c:pt>
                <c:pt idx="2">
                  <c:v>0.21579452712433989</c:v>
                </c:pt>
                <c:pt idx="3">
                  <c:v>0.18246532174108776</c:v>
                </c:pt>
                <c:pt idx="4">
                  <c:v>0.19399678290691674</c:v>
                </c:pt>
                <c:pt idx="5">
                  <c:v>0.16719999999999999</c:v>
                </c:pt>
              </c:numCache>
            </c:numRef>
          </c:val>
          <c:smooth val="0"/>
          <c:extLst>
            <c:ext xmlns:c16="http://schemas.microsoft.com/office/drawing/2014/chart" uri="{C3380CC4-5D6E-409C-BE32-E72D297353CC}">
              <c16:uniqueId val="{00000001-EBF2-C048-B380-48A183FE6E93}"/>
            </c:ext>
          </c:extLst>
        </c:ser>
        <c:ser>
          <c:idx val="2"/>
          <c:order val="2"/>
          <c:tx>
            <c:strRef>
              <c:f>Sheet1!$D$1</c:f>
              <c:strCache>
                <c:ptCount val="1"/>
                <c:pt idx="0">
                  <c:v>IVECO</c:v>
                </c:pt>
              </c:strCache>
            </c:strRef>
          </c:tx>
          <c:spPr>
            <a:ln w="15875" cap="rnd">
              <a:solidFill>
                <a:schemeClr val="accent3"/>
              </a:solidFill>
              <a:round/>
            </a:ln>
            <a:effectLst/>
          </c:spPr>
          <c:marker>
            <c:symbol val="circle"/>
            <c:size val="4"/>
            <c:spPr>
              <a:solidFill>
                <a:schemeClr val="accent3"/>
              </a:solidFill>
              <a:ln w="9525">
                <a:solidFill>
                  <a:schemeClr val="accent3"/>
                </a:solidFill>
              </a:ln>
              <a:effectLst/>
            </c:spPr>
          </c:marker>
          <c:cat>
            <c:numRef>
              <c:f>Sheet1!$A$2:$A$7</c:f>
              <c:numCache>
                <c:formatCode>General</c:formatCode>
                <c:ptCount val="6"/>
                <c:pt idx="0">
                  <c:v>2020</c:v>
                </c:pt>
                <c:pt idx="1">
                  <c:v>2021</c:v>
                </c:pt>
                <c:pt idx="2">
                  <c:v>2022</c:v>
                </c:pt>
                <c:pt idx="3">
                  <c:v>2023</c:v>
                </c:pt>
                <c:pt idx="4">
                  <c:v>2024</c:v>
                </c:pt>
                <c:pt idx="5">
                  <c:v>2025</c:v>
                </c:pt>
              </c:numCache>
            </c:numRef>
          </c:cat>
          <c:val>
            <c:numRef>
              <c:f>Sheet1!$D$2:$D$7</c:f>
              <c:numCache>
                <c:formatCode>0.00%</c:formatCode>
                <c:ptCount val="6"/>
                <c:pt idx="0">
                  <c:v>5.9632267682623821E-2</c:v>
                </c:pt>
                <c:pt idx="1">
                  <c:v>9.3403639900683441E-2</c:v>
                </c:pt>
                <c:pt idx="2">
                  <c:v>9.2924867978876627E-2</c:v>
                </c:pt>
                <c:pt idx="3">
                  <c:v>0.10956360259981431</c:v>
                </c:pt>
                <c:pt idx="4">
                  <c:v>0.14564933685392575</c:v>
                </c:pt>
                <c:pt idx="5">
                  <c:v>0.1103</c:v>
                </c:pt>
              </c:numCache>
            </c:numRef>
          </c:val>
          <c:smooth val="0"/>
          <c:extLst>
            <c:ext xmlns:c16="http://schemas.microsoft.com/office/drawing/2014/chart" uri="{C3380CC4-5D6E-409C-BE32-E72D297353CC}">
              <c16:uniqueId val="{00000002-EBF2-C048-B380-48A183FE6E93}"/>
            </c:ext>
          </c:extLst>
        </c:ser>
        <c:ser>
          <c:idx val="3"/>
          <c:order val="3"/>
          <c:tx>
            <c:strRef>
              <c:f>Sheet1!$E$1</c:f>
              <c:strCache>
                <c:ptCount val="1"/>
                <c:pt idx="0">
                  <c:v>FUSO</c:v>
                </c:pt>
              </c:strCache>
            </c:strRef>
          </c:tx>
          <c:spPr>
            <a:ln w="15875" cap="rnd">
              <a:solidFill>
                <a:schemeClr val="accent4"/>
              </a:solidFill>
              <a:round/>
            </a:ln>
            <a:effectLst/>
          </c:spPr>
          <c:marker>
            <c:symbol val="circle"/>
            <c:size val="5"/>
            <c:spPr>
              <a:solidFill>
                <a:schemeClr val="accent4"/>
              </a:solidFill>
              <a:ln w="9525">
                <a:solidFill>
                  <a:schemeClr val="accent4"/>
                </a:solidFill>
              </a:ln>
              <a:effectLst/>
            </c:spPr>
          </c:marker>
          <c:cat>
            <c:numRef>
              <c:f>Sheet1!$A$2:$A$7</c:f>
              <c:numCache>
                <c:formatCode>General</c:formatCode>
                <c:ptCount val="6"/>
                <c:pt idx="0">
                  <c:v>2020</c:v>
                </c:pt>
                <c:pt idx="1">
                  <c:v>2021</c:v>
                </c:pt>
                <c:pt idx="2">
                  <c:v>2022</c:v>
                </c:pt>
                <c:pt idx="3">
                  <c:v>2023</c:v>
                </c:pt>
                <c:pt idx="4">
                  <c:v>2024</c:v>
                </c:pt>
                <c:pt idx="5">
                  <c:v>2025</c:v>
                </c:pt>
              </c:numCache>
            </c:numRef>
          </c:cat>
          <c:val>
            <c:numRef>
              <c:f>Sheet1!$E$2:$E$7</c:f>
              <c:numCache>
                <c:formatCode>0.00%</c:formatCode>
                <c:ptCount val="6"/>
                <c:pt idx="0">
                  <c:v>1.9744906410468777E-2</c:v>
                </c:pt>
                <c:pt idx="1">
                  <c:v>1.6228530473289478E-2</c:v>
                </c:pt>
                <c:pt idx="2">
                  <c:v>1.3382141142582814E-2</c:v>
                </c:pt>
                <c:pt idx="3">
                  <c:v>1.5081173855547114E-2</c:v>
                </c:pt>
                <c:pt idx="4">
                  <c:v>1.2291723572794318E-2</c:v>
                </c:pt>
                <c:pt idx="5">
                  <c:v>1.06E-2</c:v>
                </c:pt>
              </c:numCache>
            </c:numRef>
          </c:val>
          <c:smooth val="0"/>
          <c:extLst>
            <c:ext xmlns:c16="http://schemas.microsoft.com/office/drawing/2014/chart" uri="{C3380CC4-5D6E-409C-BE32-E72D297353CC}">
              <c16:uniqueId val="{00000003-EBF2-C048-B380-48A183FE6E93}"/>
            </c:ext>
          </c:extLst>
        </c:ser>
        <c:ser>
          <c:idx val="4"/>
          <c:order val="4"/>
          <c:tx>
            <c:strRef>
              <c:f>Sheet1!$F$1</c:f>
              <c:strCache>
                <c:ptCount val="1"/>
                <c:pt idx="0">
                  <c:v>DAF</c:v>
                </c:pt>
              </c:strCache>
            </c:strRef>
          </c:tx>
          <c:spPr>
            <a:ln w="15875" cap="rnd">
              <a:solidFill>
                <a:schemeClr val="accent5"/>
              </a:solidFill>
              <a:round/>
            </a:ln>
            <a:effectLst/>
          </c:spPr>
          <c:marker>
            <c:symbol val="circle"/>
            <c:size val="4"/>
            <c:spPr>
              <a:solidFill>
                <a:schemeClr val="accent5"/>
              </a:solidFill>
              <a:ln w="9525">
                <a:solidFill>
                  <a:schemeClr val="accent5"/>
                </a:solidFill>
              </a:ln>
              <a:effectLst/>
            </c:spPr>
          </c:marker>
          <c:cat>
            <c:numRef>
              <c:f>Sheet1!$A$2:$A$7</c:f>
              <c:numCache>
                <c:formatCode>General</c:formatCode>
                <c:ptCount val="6"/>
                <c:pt idx="0">
                  <c:v>2020</c:v>
                </c:pt>
                <c:pt idx="1">
                  <c:v>2021</c:v>
                </c:pt>
                <c:pt idx="2">
                  <c:v>2022</c:v>
                </c:pt>
                <c:pt idx="3">
                  <c:v>2023</c:v>
                </c:pt>
                <c:pt idx="4">
                  <c:v>2024</c:v>
                </c:pt>
                <c:pt idx="5">
                  <c:v>2025</c:v>
                </c:pt>
              </c:numCache>
            </c:numRef>
          </c:cat>
          <c:val>
            <c:numRef>
              <c:f>Sheet1!$F$2:$F$7</c:f>
              <c:numCache>
                <c:formatCode>0.00%</c:formatCode>
                <c:ptCount val="6"/>
                <c:pt idx="0">
                  <c:v>8.1066755010766933E-2</c:v>
                </c:pt>
                <c:pt idx="1">
                  <c:v>6.7294647656589962E-2</c:v>
                </c:pt>
                <c:pt idx="2">
                  <c:v>7.1591454632741233E-2</c:v>
                </c:pt>
                <c:pt idx="3">
                  <c:v>7.5856053571931009E-2</c:v>
                </c:pt>
                <c:pt idx="4">
                  <c:v>8.279462199156272E-2</c:v>
                </c:pt>
                <c:pt idx="5">
                  <c:v>9.5200000000000007E-2</c:v>
                </c:pt>
              </c:numCache>
            </c:numRef>
          </c:val>
          <c:smooth val="0"/>
          <c:extLst>
            <c:ext xmlns:c16="http://schemas.microsoft.com/office/drawing/2014/chart" uri="{C3380CC4-5D6E-409C-BE32-E72D297353CC}">
              <c16:uniqueId val="{00000004-EBF2-C048-B380-48A183FE6E93}"/>
            </c:ext>
          </c:extLst>
        </c:ser>
        <c:ser>
          <c:idx val="5"/>
          <c:order val="5"/>
          <c:tx>
            <c:strRef>
              <c:f>Sheet1!$G$1</c:f>
              <c:strCache>
                <c:ptCount val="1"/>
                <c:pt idx="0">
                  <c:v>MAN</c:v>
                </c:pt>
              </c:strCache>
            </c:strRef>
          </c:tx>
          <c:spPr>
            <a:ln w="15875" cap="rnd">
              <a:solidFill>
                <a:schemeClr val="accent6"/>
              </a:solidFill>
              <a:round/>
            </a:ln>
            <a:effectLst/>
          </c:spPr>
          <c:marker>
            <c:symbol val="circle"/>
            <c:size val="4"/>
            <c:spPr>
              <a:solidFill>
                <a:schemeClr val="accent6"/>
              </a:solidFill>
              <a:ln w="9525">
                <a:solidFill>
                  <a:schemeClr val="accent6"/>
                </a:solidFill>
              </a:ln>
              <a:effectLst/>
            </c:spPr>
          </c:marker>
          <c:cat>
            <c:numRef>
              <c:f>Sheet1!$A$2:$A$7</c:f>
              <c:numCache>
                <c:formatCode>General</c:formatCode>
                <c:ptCount val="6"/>
                <c:pt idx="0">
                  <c:v>2020</c:v>
                </c:pt>
                <c:pt idx="1">
                  <c:v>2021</c:v>
                </c:pt>
                <c:pt idx="2">
                  <c:v>2022</c:v>
                </c:pt>
                <c:pt idx="3">
                  <c:v>2023</c:v>
                </c:pt>
                <c:pt idx="4">
                  <c:v>2024</c:v>
                </c:pt>
                <c:pt idx="5">
                  <c:v>2025</c:v>
                </c:pt>
              </c:numCache>
            </c:numRef>
          </c:cat>
          <c:val>
            <c:numRef>
              <c:f>Sheet1!$G$2:$G$7</c:f>
              <c:numCache>
                <c:formatCode>0.00%</c:formatCode>
                <c:ptCount val="6"/>
                <c:pt idx="0">
                  <c:v>1.9281099884048369E-2</c:v>
                </c:pt>
                <c:pt idx="1">
                  <c:v>1.2542555097652751E-2</c:v>
                </c:pt>
                <c:pt idx="2">
                  <c:v>1.0471675468074893E-2</c:v>
                </c:pt>
                <c:pt idx="3">
                  <c:v>6.2744436003488932E-3</c:v>
                </c:pt>
                <c:pt idx="4">
                  <c:v>1.2413123311784879E-2</c:v>
                </c:pt>
                <c:pt idx="5">
                  <c:v>2.5399999999999999E-2</c:v>
                </c:pt>
              </c:numCache>
            </c:numRef>
          </c:val>
          <c:smooth val="0"/>
          <c:extLst>
            <c:ext xmlns:c16="http://schemas.microsoft.com/office/drawing/2014/chart" uri="{C3380CC4-5D6E-409C-BE32-E72D297353CC}">
              <c16:uniqueId val="{00000005-EBF2-C048-B380-48A183FE6E93}"/>
            </c:ext>
          </c:extLst>
        </c:ser>
        <c:ser>
          <c:idx val="6"/>
          <c:order val="6"/>
          <c:tx>
            <c:strRef>
              <c:f>Sheet1!$H$1</c:f>
              <c:strCache>
                <c:ptCount val="1"/>
                <c:pt idx="0">
                  <c:v>RENAULT</c:v>
                </c:pt>
              </c:strCache>
            </c:strRef>
          </c:tx>
          <c:spPr>
            <a:ln w="15875" cap="rnd">
              <a:solidFill>
                <a:schemeClr val="accent1">
                  <a:lumMod val="60000"/>
                </a:schemeClr>
              </a:solidFill>
              <a:round/>
            </a:ln>
            <a:effectLst/>
          </c:spPr>
          <c:marker>
            <c:symbol val="circle"/>
            <c:size val="5"/>
            <c:spPr>
              <a:solidFill>
                <a:schemeClr val="accent1">
                  <a:lumMod val="60000"/>
                </a:schemeClr>
              </a:solidFill>
              <a:ln w="9525">
                <a:solidFill>
                  <a:schemeClr val="accent1">
                    <a:lumMod val="60000"/>
                  </a:schemeClr>
                </a:solidFill>
              </a:ln>
              <a:effectLst/>
            </c:spPr>
          </c:marker>
          <c:cat>
            <c:numRef>
              <c:f>Sheet1!$A$2:$A$7</c:f>
              <c:numCache>
                <c:formatCode>General</c:formatCode>
                <c:ptCount val="6"/>
                <c:pt idx="0">
                  <c:v>2020</c:v>
                </c:pt>
                <c:pt idx="1">
                  <c:v>2021</c:v>
                </c:pt>
                <c:pt idx="2">
                  <c:v>2022</c:v>
                </c:pt>
                <c:pt idx="3">
                  <c:v>2023</c:v>
                </c:pt>
                <c:pt idx="4">
                  <c:v>2024</c:v>
                </c:pt>
                <c:pt idx="5">
                  <c:v>2025</c:v>
                </c:pt>
              </c:numCache>
            </c:numRef>
          </c:cat>
          <c:val>
            <c:numRef>
              <c:f>Sheet1!$H$2:$H$7</c:f>
              <c:numCache>
                <c:formatCode>0.00%</c:formatCode>
                <c:ptCount val="6"/>
                <c:pt idx="0">
                  <c:v>1.9877422560874605E-3</c:v>
                </c:pt>
                <c:pt idx="1">
                  <c:v>2.354928712212353E-3</c:v>
                </c:pt>
                <c:pt idx="2">
                  <c:v>1.7102736437830052E-3</c:v>
                </c:pt>
                <c:pt idx="3">
                  <c:v>2.6448327283981879E-3</c:v>
                </c:pt>
                <c:pt idx="4">
                  <c:v>4.1579410604267201E-3</c:v>
                </c:pt>
                <c:pt idx="5">
                  <c:v>4.7399999999999998E-2</c:v>
                </c:pt>
              </c:numCache>
            </c:numRef>
          </c:val>
          <c:smooth val="0"/>
          <c:extLst>
            <c:ext xmlns:c16="http://schemas.microsoft.com/office/drawing/2014/chart" uri="{C3380CC4-5D6E-409C-BE32-E72D297353CC}">
              <c16:uniqueId val="{00000006-EBF2-C048-B380-48A183FE6E93}"/>
            </c:ext>
          </c:extLst>
        </c:ser>
        <c:ser>
          <c:idx val="7"/>
          <c:order val="7"/>
          <c:tx>
            <c:strRef>
              <c:f>Sheet1!$I$1</c:f>
              <c:strCache>
                <c:ptCount val="1"/>
                <c:pt idx="0">
                  <c:v>VOLVO</c:v>
                </c:pt>
              </c:strCache>
            </c:strRef>
          </c:tx>
          <c:spPr>
            <a:ln w="15875" cap="rnd">
              <a:solidFill>
                <a:schemeClr val="accent2">
                  <a:lumMod val="60000"/>
                </a:schemeClr>
              </a:solidFill>
              <a:round/>
            </a:ln>
            <a:effectLst/>
          </c:spPr>
          <c:marker>
            <c:symbol val="circle"/>
            <c:size val="4"/>
            <c:spPr>
              <a:solidFill>
                <a:schemeClr val="accent2">
                  <a:lumMod val="60000"/>
                </a:schemeClr>
              </a:solidFill>
              <a:ln w="9525">
                <a:solidFill>
                  <a:schemeClr val="accent2">
                    <a:lumMod val="60000"/>
                  </a:schemeClr>
                </a:solidFill>
              </a:ln>
              <a:effectLst/>
            </c:spPr>
          </c:marker>
          <c:cat>
            <c:numRef>
              <c:f>Sheet1!$A$2:$A$7</c:f>
              <c:numCache>
                <c:formatCode>General</c:formatCode>
                <c:ptCount val="6"/>
                <c:pt idx="0">
                  <c:v>2020</c:v>
                </c:pt>
                <c:pt idx="1">
                  <c:v>2021</c:v>
                </c:pt>
                <c:pt idx="2">
                  <c:v>2022</c:v>
                </c:pt>
                <c:pt idx="3">
                  <c:v>2023</c:v>
                </c:pt>
                <c:pt idx="4">
                  <c:v>2024</c:v>
                </c:pt>
                <c:pt idx="5">
                  <c:v>2025</c:v>
                </c:pt>
              </c:numCache>
            </c:numRef>
          </c:cat>
          <c:val>
            <c:numRef>
              <c:f>Sheet1!$I$2:$I$7</c:f>
              <c:numCache>
                <c:formatCode>0.00%</c:formatCode>
                <c:ptCount val="6"/>
                <c:pt idx="0">
                  <c:v>1.0601292032466458E-3</c:v>
                </c:pt>
                <c:pt idx="1">
                  <c:v>2.6364962756290477E-3</c:v>
                </c:pt>
                <c:pt idx="2">
                  <c:v>2.340374459913586E-3</c:v>
                </c:pt>
                <c:pt idx="3">
                  <c:v>3.8828395374356376E-3</c:v>
                </c:pt>
                <c:pt idx="4">
                  <c:v>8.7104312725727641E-3</c:v>
                </c:pt>
                <c:pt idx="5">
                  <c:v>4.7999999999999996E-3</c:v>
                </c:pt>
              </c:numCache>
            </c:numRef>
          </c:val>
          <c:smooth val="0"/>
          <c:extLst>
            <c:ext xmlns:c16="http://schemas.microsoft.com/office/drawing/2014/chart" uri="{C3380CC4-5D6E-409C-BE32-E72D297353CC}">
              <c16:uniqueId val="{00000007-EBF2-C048-B380-48A183FE6E93}"/>
            </c:ext>
          </c:extLst>
        </c:ser>
        <c:ser>
          <c:idx val="8"/>
          <c:order val="8"/>
          <c:tx>
            <c:strRef>
              <c:f>Sheet1!$J$1</c:f>
              <c:strCache>
                <c:ptCount val="1"/>
                <c:pt idx="0">
                  <c:v>OTHERS</c:v>
                </c:pt>
              </c:strCache>
            </c:strRef>
          </c:tx>
          <c:spPr>
            <a:ln w="15875" cap="rnd">
              <a:solidFill>
                <a:schemeClr val="accent3">
                  <a:lumMod val="60000"/>
                </a:schemeClr>
              </a:solidFill>
              <a:round/>
            </a:ln>
            <a:effectLst/>
          </c:spPr>
          <c:marker>
            <c:symbol val="circle"/>
            <c:size val="4"/>
            <c:spPr>
              <a:solidFill>
                <a:schemeClr val="accent3">
                  <a:lumMod val="60000"/>
                </a:schemeClr>
              </a:solidFill>
              <a:ln w="9525">
                <a:solidFill>
                  <a:schemeClr val="accent3">
                    <a:lumMod val="60000"/>
                  </a:schemeClr>
                </a:solidFill>
              </a:ln>
              <a:effectLst/>
            </c:spPr>
          </c:marker>
          <c:cat>
            <c:numRef>
              <c:f>Sheet1!$A$2:$A$7</c:f>
              <c:numCache>
                <c:formatCode>General</c:formatCode>
                <c:ptCount val="6"/>
                <c:pt idx="0">
                  <c:v>2020</c:v>
                </c:pt>
                <c:pt idx="1">
                  <c:v>2021</c:v>
                </c:pt>
                <c:pt idx="2">
                  <c:v>2022</c:v>
                </c:pt>
                <c:pt idx="3">
                  <c:v>2023</c:v>
                </c:pt>
                <c:pt idx="4">
                  <c:v>2024</c:v>
                </c:pt>
                <c:pt idx="5">
                  <c:v>2025</c:v>
                </c:pt>
              </c:numCache>
            </c:numRef>
          </c:cat>
          <c:val>
            <c:numRef>
              <c:f>Sheet1!$J$2:$J$7</c:f>
              <c:numCache>
                <c:formatCode>0.00%</c:formatCode>
                <c:ptCount val="6"/>
                <c:pt idx="0">
                  <c:v>0.22256087460659268</c:v>
                </c:pt>
                <c:pt idx="1">
                  <c:v>0.22553561829677221</c:v>
                </c:pt>
                <c:pt idx="2">
                  <c:v>0.16562650024003842</c:v>
                </c:pt>
                <c:pt idx="3">
                  <c:v>0.18038321938043386</c:v>
                </c:pt>
                <c:pt idx="4">
                  <c:v>0.17687941970924762</c:v>
                </c:pt>
                <c:pt idx="5">
                  <c:v>0.1203</c:v>
                </c:pt>
              </c:numCache>
            </c:numRef>
          </c:val>
          <c:smooth val="0"/>
          <c:extLst>
            <c:ext xmlns:c16="http://schemas.microsoft.com/office/drawing/2014/chart" uri="{C3380CC4-5D6E-409C-BE32-E72D297353CC}">
              <c16:uniqueId val="{00000008-EBF2-C048-B380-48A183FE6E93}"/>
            </c:ext>
          </c:extLst>
        </c:ser>
        <c:ser>
          <c:idx val="9"/>
          <c:order val="9"/>
          <c:tx>
            <c:strRef>
              <c:f>Sheet1!$K$1</c:f>
              <c:strCache>
                <c:ptCount val="1"/>
                <c:pt idx="0">
                  <c:v>ISUZU</c:v>
                </c:pt>
              </c:strCache>
            </c:strRef>
          </c:tx>
          <c:spPr>
            <a:ln w="28575" cap="rnd">
              <a:solidFill>
                <a:srgbClr val="FF0000"/>
              </a:solidFill>
              <a:round/>
            </a:ln>
            <a:effectLst/>
          </c:spPr>
          <c:marker>
            <c:symbol val="circle"/>
            <c:size val="5"/>
            <c:spPr>
              <a:solidFill>
                <a:srgbClr val="FF0000"/>
              </a:solidFill>
              <a:ln w="9525">
                <a:solidFill>
                  <a:srgbClr val="FF0000"/>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3-2FD4-1D46-9836-DFF7817F2558}"/>
                </c:ext>
              </c:extLst>
            </c:dLbl>
            <c:dLbl>
              <c:idx val="1"/>
              <c:delete val="1"/>
              <c:extLst>
                <c:ext xmlns:c15="http://schemas.microsoft.com/office/drawing/2012/chart" uri="{CE6537A1-D6FC-4f65-9D91-7224C49458BB}"/>
                <c:ext xmlns:c16="http://schemas.microsoft.com/office/drawing/2014/chart" uri="{C3380CC4-5D6E-409C-BE32-E72D297353CC}">
                  <c16:uniqueId val="{00000002-2FD4-1D46-9836-DFF7817F2558}"/>
                </c:ext>
              </c:extLst>
            </c:dLbl>
            <c:dLbl>
              <c:idx val="2"/>
              <c:delete val="1"/>
              <c:extLst>
                <c:ext xmlns:c15="http://schemas.microsoft.com/office/drawing/2012/chart" uri="{CE6537A1-D6FC-4f65-9D91-7224C49458BB}"/>
                <c:ext xmlns:c16="http://schemas.microsoft.com/office/drawing/2014/chart" uri="{C3380CC4-5D6E-409C-BE32-E72D297353CC}">
                  <c16:uniqueId val="{00000001-2FD4-1D46-9836-DFF7817F2558}"/>
                </c:ext>
              </c:extLst>
            </c:dLbl>
            <c:dLbl>
              <c:idx val="3"/>
              <c:delete val="1"/>
              <c:extLst>
                <c:ext xmlns:c15="http://schemas.microsoft.com/office/drawing/2012/chart" uri="{CE6537A1-D6FC-4f65-9D91-7224C49458BB}"/>
                <c:ext xmlns:c16="http://schemas.microsoft.com/office/drawing/2014/chart" uri="{C3380CC4-5D6E-409C-BE32-E72D297353CC}">
                  <c16:uniqueId val="{00000000-2FD4-1D46-9836-DFF7817F2558}"/>
                </c:ext>
              </c:extLst>
            </c:dLbl>
            <c:dLbl>
              <c:idx val="4"/>
              <c:delete val="1"/>
              <c:extLst>
                <c:ext xmlns:c15="http://schemas.microsoft.com/office/drawing/2012/chart" uri="{CE6537A1-D6FC-4f65-9D91-7224C49458BB}"/>
                <c:ext xmlns:c16="http://schemas.microsoft.com/office/drawing/2014/chart" uri="{C3380CC4-5D6E-409C-BE32-E72D297353CC}">
                  <c16:uniqueId val="{00000000-8BD8-4A8A-BD59-573D81CF0265}"/>
                </c:ext>
              </c:extLst>
            </c:dLbl>
            <c:dLbl>
              <c:idx val="5"/>
              <c:layout>
                <c:manualLayout>
                  <c:x val="0"/>
                  <c:y val="4.61794350706004E-3"/>
                </c:manualLayout>
              </c:layout>
              <c:spPr>
                <a:noFill/>
                <a:ln>
                  <a:noFill/>
                </a:ln>
                <a:effectLst/>
              </c:spPr>
              <c:txPr>
                <a:bodyPr rot="0" spcFirstLastPara="1" vertOverflow="ellipsis" vert="horz" wrap="square" lIns="38100" tIns="19050" rIns="38100" bIns="19050" anchor="ctr" anchorCtr="1">
                  <a:spAutoFit/>
                </a:bodyPr>
                <a:lstStyle/>
                <a:p>
                  <a:pPr>
                    <a:defRPr lang="ja-JP" sz="1000" b="0" i="0" u="none" strike="noStrike" kern="1200" baseline="0">
                      <a:solidFill>
                        <a:schemeClr val="tx1">
                          <a:lumMod val="75000"/>
                          <a:lumOff val="25000"/>
                        </a:schemeClr>
                      </a:solidFill>
                      <a:latin typeface="+mn-lt"/>
                      <a:ea typeface="+mn-ea"/>
                      <a:cs typeface="+mn-cs"/>
                    </a:defRPr>
                  </a:pPr>
                  <a:endParaRPr lang="ja-JP"/>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FD4-1D46-9836-DFF7817F2558}"/>
                </c:ext>
              </c:extLst>
            </c:dLbl>
            <c:spPr>
              <a:noFill/>
              <a:ln>
                <a:noFill/>
              </a:ln>
              <a:effectLst/>
            </c:spPr>
            <c:txPr>
              <a:bodyPr rot="0" spcFirstLastPara="1" vertOverflow="ellipsis" vert="horz" wrap="square" lIns="38100" tIns="19050" rIns="38100" bIns="19050" anchor="ctr" anchorCtr="1">
                <a:spAutoFit/>
              </a:bodyPr>
              <a:lstStyle/>
              <a:p>
                <a:pPr>
                  <a:defRPr lang="ja-JP" sz="1197" b="0" i="0" u="none" strike="noStrike" kern="1200" baseline="0">
                    <a:solidFill>
                      <a:schemeClr val="tx1">
                        <a:lumMod val="75000"/>
                        <a:lumOff val="25000"/>
                      </a:schemeClr>
                    </a:solidFill>
                    <a:latin typeface="+mn-lt"/>
                    <a:ea typeface="+mn-ea"/>
                    <a:cs typeface="+mn-cs"/>
                  </a:defRPr>
                </a:pPr>
                <a:endParaRPr lang="ja-JP"/>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2020</c:v>
                </c:pt>
                <c:pt idx="1">
                  <c:v>2021</c:v>
                </c:pt>
                <c:pt idx="2">
                  <c:v>2022</c:v>
                </c:pt>
                <c:pt idx="3">
                  <c:v>2023</c:v>
                </c:pt>
                <c:pt idx="4">
                  <c:v>2024</c:v>
                </c:pt>
                <c:pt idx="5">
                  <c:v>2025</c:v>
                </c:pt>
              </c:numCache>
            </c:numRef>
          </c:cat>
          <c:val>
            <c:numRef>
              <c:f>Sheet1!$K$2:$K$7</c:f>
              <c:numCache>
                <c:formatCode>0.00%</c:formatCode>
                <c:ptCount val="6"/>
                <c:pt idx="0">
                  <c:v>6.0493622660261717E-2</c:v>
                </c:pt>
                <c:pt idx="1">
                  <c:v>5.482888371259631E-2</c:v>
                </c:pt>
                <c:pt idx="2">
                  <c:v>7.5282045127220351E-2</c:v>
                </c:pt>
                <c:pt idx="3">
                  <c:v>9.214709771812836E-2</c:v>
                </c:pt>
                <c:pt idx="4">
                  <c:v>7.3295092415551308E-2</c:v>
                </c:pt>
                <c:pt idx="5">
                  <c:v>7.0000000000000007E-2</c:v>
                </c:pt>
              </c:numCache>
            </c:numRef>
          </c:val>
          <c:smooth val="0"/>
          <c:extLst>
            <c:ext xmlns:c16="http://schemas.microsoft.com/office/drawing/2014/chart" uri="{C3380CC4-5D6E-409C-BE32-E72D297353CC}">
              <c16:uniqueId val="{00000009-EBF2-C048-B380-48A183FE6E93}"/>
            </c:ext>
          </c:extLst>
        </c:ser>
        <c:dLbls>
          <c:showLegendKey val="0"/>
          <c:showVal val="0"/>
          <c:showCatName val="0"/>
          <c:showSerName val="0"/>
          <c:showPercent val="0"/>
          <c:showBubbleSize val="0"/>
        </c:dLbls>
        <c:marker val="1"/>
        <c:smooth val="0"/>
        <c:axId val="2084045792"/>
        <c:axId val="2084294080"/>
      </c:lineChart>
      <c:catAx>
        <c:axId val="2084045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197" b="1" i="1" u="none" strike="noStrike" kern="1200" baseline="0">
                <a:solidFill>
                  <a:schemeClr val="tx1">
                    <a:lumMod val="65000"/>
                    <a:lumOff val="35000"/>
                  </a:schemeClr>
                </a:solidFill>
                <a:latin typeface="+mn-lt"/>
                <a:ea typeface="+mn-ea"/>
                <a:cs typeface="+mn-cs"/>
              </a:defRPr>
            </a:pPr>
            <a:endParaRPr lang="ja-JP"/>
          </a:p>
        </c:txPr>
        <c:crossAx val="2084294080"/>
        <c:crosses val="autoZero"/>
        <c:auto val="1"/>
        <c:lblAlgn val="ctr"/>
        <c:lblOffset val="100"/>
        <c:noMultiLvlLbl val="0"/>
      </c:catAx>
      <c:valAx>
        <c:axId val="208429408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ja-JP" sz="1100" b="1" i="1" u="none" strike="noStrike" kern="1200" baseline="0">
                <a:solidFill>
                  <a:srgbClr val="344251"/>
                </a:solidFill>
                <a:latin typeface="+mn-lt"/>
                <a:ea typeface="+mn-ea"/>
                <a:cs typeface="+mn-cs"/>
              </a:defRPr>
            </a:pPr>
            <a:endParaRPr lang="ja-JP"/>
          </a:p>
        </c:txPr>
        <c:crossAx val="2084045792"/>
        <c:crosses val="autoZero"/>
        <c:crossBetween val="between"/>
        <c:majorUnit val="0.1"/>
      </c:valAx>
      <c:spPr>
        <a:solidFill>
          <a:schemeClr val="bg2">
            <a:lumMod val="20000"/>
            <a:lumOff val="80000"/>
          </a:schemeClr>
        </a:solidFill>
        <a:ln>
          <a:noFill/>
        </a:ln>
        <a:effectLst/>
      </c:spPr>
    </c:plotArea>
    <c:legend>
      <c:legendPos val="t"/>
      <c:layout>
        <c:manualLayout>
          <c:xMode val="edge"/>
          <c:yMode val="edge"/>
          <c:x val="0.46708096046481179"/>
          <c:y val="3.7790957180167434E-3"/>
          <c:w val="0.53291903953518815"/>
          <c:h val="0.25008638511950432"/>
        </c:manualLayout>
      </c:layout>
      <c:overlay val="0"/>
      <c:spPr>
        <a:noFill/>
        <a:ln>
          <a:noFill/>
        </a:ln>
        <a:effectLst/>
      </c:spPr>
      <c:txPr>
        <a:bodyPr rot="0" spcFirstLastPara="1" vertOverflow="ellipsis" vert="horz" wrap="square" anchor="ctr" anchorCtr="1"/>
        <a:lstStyle/>
        <a:p>
          <a:pPr>
            <a:defRPr lang="ja-JP" sz="7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405C8B"/>
      </a:solid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100" b="1" i="0" u="none" strike="noStrike" kern="1200" spc="0" baseline="0">
                <a:solidFill>
                  <a:srgbClr val="344251"/>
                </a:solidFill>
                <a:latin typeface="+mn-lt"/>
                <a:ea typeface="+mn-ea"/>
                <a:cs typeface="+mn-cs"/>
              </a:defRPr>
            </a:pPr>
            <a:r>
              <a:rPr lang="en-US" sz="1100" b="1" baseline="0" dirty="0">
                <a:solidFill>
                  <a:srgbClr val="344251"/>
                </a:solidFill>
              </a:rPr>
              <a:t>REGISTRATION VOLUME (CY)</a:t>
            </a:r>
            <a:endParaRPr lang="en-US" sz="1100" b="1" dirty="0">
              <a:solidFill>
                <a:srgbClr val="344251"/>
              </a:solidFill>
            </a:endParaRPr>
          </a:p>
        </c:rich>
      </c:tx>
      <c:layout>
        <c:manualLayout>
          <c:xMode val="edge"/>
          <c:yMode val="edge"/>
          <c:x val="5.1014566281351009E-2"/>
          <c:y val="4.3635092823966021E-2"/>
        </c:manualLayout>
      </c:layout>
      <c:overlay val="0"/>
      <c:spPr>
        <a:noFill/>
        <a:ln>
          <a:noFill/>
        </a:ln>
        <a:effectLst/>
      </c:spPr>
      <c:txPr>
        <a:bodyPr rot="0" spcFirstLastPara="1" vertOverflow="ellipsis" vert="horz" wrap="square" anchor="ctr" anchorCtr="1"/>
        <a:lstStyle/>
        <a:p>
          <a:pPr>
            <a:defRPr lang="ja-JP" sz="1100" b="1" i="0" u="none" strike="noStrike" kern="1200" spc="0" baseline="0">
              <a:solidFill>
                <a:srgbClr val="344251"/>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Series 1</c:v>
                </c:pt>
              </c:strCache>
            </c:strRef>
          </c:tx>
          <c:spPr>
            <a:solidFill>
              <a:srgbClr val="848E9A"/>
            </a:solidFill>
            <a:ln>
              <a:solidFill>
                <a:srgbClr val="848E9A"/>
              </a:solidFill>
            </a:ln>
            <a:effectLst/>
          </c:spPr>
          <c:invertIfNegative val="0"/>
          <c:dPt>
            <c:idx val="8"/>
            <c:invertIfNegative val="0"/>
            <c:bubble3D val="0"/>
            <c:spPr>
              <a:solidFill>
                <a:srgbClr val="848E9A"/>
              </a:solidFill>
              <a:ln>
                <a:solidFill>
                  <a:srgbClr val="405C8B"/>
                </a:solidFill>
              </a:ln>
              <a:effectLst/>
            </c:spPr>
            <c:extLst>
              <c:ext xmlns:c16="http://schemas.microsoft.com/office/drawing/2014/chart" uri="{C3380CC4-5D6E-409C-BE32-E72D297353CC}">
                <c16:uniqueId val="{00000001-10BD-D34E-BC8C-FA0C49E791CD}"/>
              </c:ext>
            </c:extLst>
          </c:dPt>
          <c:dPt>
            <c:idx val="9"/>
            <c:invertIfNegative val="0"/>
            <c:bubble3D val="0"/>
            <c:spPr>
              <a:pattFill prst="ltDnDiag">
                <a:fgClr>
                  <a:srgbClr val="405C8B"/>
                </a:fgClr>
                <a:bgClr>
                  <a:schemeClr val="bg1"/>
                </a:bgClr>
              </a:pattFill>
              <a:ln>
                <a:solidFill>
                  <a:srgbClr val="405C8B"/>
                </a:solidFill>
              </a:ln>
              <a:effectLst/>
            </c:spPr>
            <c:extLst>
              <c:ext xmlns:c16="http://schemas.microsoft.com/office/drawing/2014/chart" uri="{C3380CC4-5D6E-409C-BE32-E72D297353CC}">
                <c16:uniqueId val="{00000003-10BD-D34E-BC8C-FA0C49E791CD}"/>
              </c:ext>
            </c:extLst>
          </c:dPt>
          <c:dPt>
            <c:idx val="10"/>
            <c:invertIfNegative val="0"/>
            <c:bubble3D val="0"/>
            <c:spPr>
              <a:pattFill prst="ltDnDiag">
                <a:fgClr>
                  <a:srgbClr val="405C8B"/>
                </a:fgClr>
                <a:bgClr>
                  <a:schemeClr val="bg1"/>
                </a:bgClr>
              </a:pattFill>
              <a:ln>
                <a:solidFill>
                  <a:srgbClr val="405C8B"/>
                </a:solidFill>
              </a:ln>
              <a:effectLst/>
            </c:spPr>
            <c:extLst>
              <c:ext xmlns:c16="http://schemas.microsoft.com/office/drawing/2014/chart" uri="{C3380CC4-5D6E-409C-BE32-E72D297353CC}">
                <c16:uniqueId val="{00000005-10BD-D34E-BC8C-FA0C49E791CD}"/>
              </c:ext>
            </c:extLst>
          </c:dPt>
          <c:dLbls>
            <c:dLbl>
              <c:idx val="8"/>
              <c:tx>
                <c:rich>
                  <a:bodyPr/>
                  <a:lstStyle/>
                  <a:p>
                    <a:r>
                      <a:rPr lang="en-US"/>
                      <a:t>*</a:t>
                    </a:r>
                    <a:fld id="{A2561B2D-7F82-7D43-B8E4-9D6CC6549B6C}" type="VALUE">
                      <a:rPr lang="en-US" altLang="ja-JP" smtClean="0"/>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10BD-D34E-BC8C-FA0C49E791CD}"/>
                </c:ext>
              </c:extLst>
            </c:dLbl>
            <c:dLbl>
              <c:idx val="9"/>
              <c:numFmt formatCode="#,##0" sourceLinked="0"/>
              <c:spPr>
                <a:noFill/>
                <a:ln>
                  <a:noFill/>
                </a:ln>
                <a:effectLst/>
              </c:spPr>
              <c:txPr>
                <a:bodyPr rot="-5400000" spcFirstLastPara="1" vertOverflow="ellipsis" wrap="square" lIns="38100" tIns="19050" rIns="38100" bIns="19050" anchor="ctr" anchorCtr="1">
                  <a:spAutoFit/>
                </a:bodyPr>
                <a:lstStyle/>
                <a:p>
                  <a:pPr>
                    <a:defRPr lang="ja-JP" sz="1050" b="0" i="0" u="none" strike="noStrike" kern="1200" baseline="0">
                      <a:solidFill>
                        <a:srgbClr val="344251"/>
                      </a:solidFill>
                      <a:latin typeface="+mn-lt"/>
                      <a:ea typeface="+mn-ea"/>
                      <a:cs typeface="+mn-cs"/>
                    </a:defRPr>
                  </a:pPr>
                  <a:endParaRPr lang="ja-JP"/>
                </a:p>
              </c:txPr>
              <c:dLblPos val="ctr"/>
              <c:showLegendKey val="0"/>
              <c:showVal val="1"/>
              <c:showCatName val="0"/>
              <c:showSerName val="0"/>
              <c:showPercent val="0"/>
              <c:showBubbleSize val="0"/>
              <c:extLst>
                <c:ext xmlns:c16="http://schemas.microsoft.com/office/drawing/2014/chart" uri="{C3380CC4-5D6E-409C-BE32-E72D297353CC}">
                  <c16:uniqueId val="{00000003-10BD-D34E-BC8C-FA0C49E791CD}"/>
                </c:ext>
              </c:extLst>
            </c:dLbl>
            <c:dLbl>
              <c:idx val="10"/>
              <c:numFmt formatCode="#,##0" sourceLinked="0"/>
              <c:spPr>
                <a:noFill/>
                <a:ln>
                  <a:noFill/>
                </a:ln>
                <a:effectLst/>
              </c:spPr>
              <c:txPr>
                <a:bodyPr rot="-5400000" spcFirstLastPara="1" vertOverflow="ellipsis" wrap="square" lIns="38100" tIns="19050" rIns="38100" bIns="19050" anchor="ctr" anchorCtr="1">
                  <a:spAutoFit/>
                </a:bodyPr>
                <a:lstStyle/>
                <a:p>
                  <a:pPr>
                    <a:defRPr lang="ja-JP" sz="1050" b="0" i="0" u="none" strike="noStrike" kern="1200" baseline="0">
                      <a:solidFill>
                        <a:srgbClr val="344251"/>
                      </a:solidFill>
                      <a:latin typeface="+mn-lt"/>
                      <a:ea typeface="+mn-ea"/>
                      <a:cs typeface="+mn-cs"/>
                    </a:defRPr>
                  </a:pPr>
                  <a:endParaRPr lang="ja-JP"/>
                </a:p>
              </c:txPr>
              <c:dLblPos val="ctr"/>
              <c:showLegendKey val="0"/>
              <c:showVal val="1"/>
              <c:showCatName val="0"/>
              <c:showSerName val="0"/>
              <c:showPercent val="0"/>
              <c:showBubbleSize val="0"/>
              <c:extLst>
                <c:ext xmlns:c16="http://schemas.microsoft.com/office/drawing/2014/chart" uri="{C3380CC4-5D6E-409C-BE32-E72D297353CC}">
                  <c16:uniqueId val="{00000005-10BD-D34E-BC8C-FA0C49E791CD}"/>
                </c:ext>
              </c:extLst>
            </c:dLbl>
            <c:numFmt formatCode="#,##0" sourceLinked="0"/>
            <c:spPr>
              <a:noFill/>
              <a:ln>
                <a:noFill/>
              </a:ln>
              <a:effectLst/>
            </c:spPr>
            <c:txPr>
              <a:bodyPr rot="-5400000" spcFirstLastPara="1" vertOverflow="ellipsis" wrap="square" lIns="38100" tIns="19050" rIns="38100" bIns="19050" anchor="ctr" anchorCtr="1">
                <a:spAutoFit/>
              </a:bodyPr>
              <a:lstStyle/>
              <a:p>
                <a:pPr>
                  <a:defRPr lang="ja-JP" sz="1050" b="0" i="0" u="none" strike="noStrike" kern="1200" baseline="0">
                    <a:solidFill>
                      <a:schemeClr val="bg1"/>
                    </a:solidFill>
                    <a:latin typeface="+mn-lt"/>
                    <a:ea typeface="+mn-ea"/>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Sheet1!$A$2:$A$12</c:f>
              <c:numCache>
                <c:formatCode>General</c:formatCode>
                <c:ptCount val="11"/>
                <c:pt idx="0">
                  <c:v>2017</c:v>
                </c:pt>
                <c:pt idx="1">
                  <c:v>2018</c:v>
                </c:pt>
                <c:pt idx="2">
                  <c:v>2019</c:v>
                </c:pt>
                <c:pt idx="3">
                  <c:v>2020</c:v>
                </c:pt>
                <c:pt idx="4">
                  <c:v>2021</c:v>
                </c:pt>
                <c:pt idx="5">
                  <c:v>2022</c:v>
                </c:pt>
                <c:pt idx="6">
                  <c:v>2023</c:v>
                </c:pt>
                <c:pt idx="7">
                  <c:v>2024</c:v>
                </c:pt>
                <c:pt idx="8">
                  <c:v>2025</c:v>
                </c:pt>
                <c:pt idx="9">
                  <c:v>2026</c:v>
                </c:pt>
                <c:pt idx="10">
                  <c:v>2027</c:v>
                </c:pt>
              </c:numCache>
            </c:numRef>
          </c:cat>
          <c:val>
            <c:numRef>
              <c:f>Sheet1!$B$2:$B$12</c:f>
              <c:numCache>
                <c:formatCode>General</c:formatCode>
                <c:ptCount val="11"/>
                <c:pt idx="0">
                  <c:v>1213</c:v>
                </c:pt>
                <c:pt idx="1">
                  <c:v>1504</c:v>
                </c:pt>
                <c:pt idx="2">
                  <c:v>1770</c:v>
                </c:pt>
                <c:pt idx="3">
                  <c:v>1860</c:v>
                </c:pt>
                <c:pt idx="4">
                  <c:v>2190</c:v>
                </c:pt>
                <c:pt idx="5">
                  <c:v>2533</c:v>
                </c:pt>
                <c:pt idx="6">
                  <c:v>3292</c:v>
                </c:pt>
                <c:pt idx="7">
                  <c:v>2435</c:v>
                </c:pt>
                <c:pt idx="8">
                  <c:v>2039</c:v>
                </c:pt>
                <c:pt idx="9">
                  <c:v>2090</c:v>
                </c:pt>
                <c:pt idx="10">
                  <c:v>2441</c:v>
                </c:pt>
              </c:numCache>
            </c:numRef>
          </c:val>
          <c:extLst>
            <c:ext xmlns:c16="http://schemas.microsoft.com/office/drawing/2014/chart" uri="{C3380CC4-5D6E-409C-BE32-E72D297353CC}">
              <c16:uniqueId val="{00000000-F6B4-6547-B638-B1FBFF126504}"/>
            </c:ext>
          </c:extLst>
        </c:ser>
        <c:ser>
          <c:idx val="1"/>
          <c:order val="1"/>
          <c:tx>
            <c:strRef>
              <c:f>Sheet1!$C$1</c:f>
              <c:strCache>
                <c:ptCount val="1"/>
                <c:pt idx="0">
                  <c:v>Series 2</c:v>
                </c:pt>
              </c:strCache>
            </c:strRef>
          </c:tx>
          <c:spPr>
            <a:pattFill prst="ltDnDiag">
              <a:fgClr>
                <a:srgbClr val="B5091F"/>
              </a:fgClr>
              <a:bgClr>
                <a:schemeClr val="bg1"/>
              </a:bgClr>
            </a:pattFill>
            <a:ln>
              <a:solidFill>
                <a:srgbClr val="B5091F"/>
              </a:solidFill>
            </a:ln>
            <a:effectLst/>
          </c:spPr>
          <c:invertIfNegative val="0"/>
          <c:cat>
            <c:numRef>
              <c:f>Sheet1!$A$2:$A$12</c:f>
              <c:numCache>
                <c:formatCode>General</c:formatCode>
                <c:ptCount val="11"/>
                <c:pt idx="0">
                  <c:v>2017</c:v>
                </c:pt>
                <c:pt idx="1">
                  <c:v>2018</c:v>
                </c:pt>
                <c:pt idx="2">
                  <c:v>2019</c:v>
                </c:pt>
                <c:pt idx="3">
                  <c:v>2020</c:v>
                </c:pt>
                <c:pt idx="4">
                  <c:v>2021</c:v>
                </c:pt>
                <c:pt idx="5">
                  <c:v>2022</c:v>
                </c:pt>
                <c:pt idx="6">
                  <c:v>2023</c:v>
                </c:pt>
                <c:pt idx="7">
                  <c:v>2024</c:v>
                </c:pt>
                <c:pt idx="8">
                  <c:v>2025</c:v>
                </c:pt>
                <c:pt idx="9">
                  <c:v>2026</c:v>
                </c:pt>
                <c:pt idx="10">
                  <c:v>2027</c:v>
                </c:pt>
              </c:numCache>
            </c:numRef>
          </c:cat>
          <c:val>
            <c:numRef>
              <c:f>Sheet1!$C$2:$C$12</c:f>
              <c:numCache>
                <c:formatCode>General</c:formatCode>
                <c:ptCount val="11"/>
              </c:numCache>
            </c:numRef>
          </c:val>
          <c:extLst>
            <c:ext xmlns:c16="http://schemas.microsoft.com/office/drawing/2014/chart" uri="{C3380CC4-5D6E-409C-BE32-E72D297353CC}">
              <c16:uniqueId val="{00000001-F6B4-6547-B638-B1FBFF126504}"/>
            </c:ext>
          </c:extLst>
        </c:ser>
        <c:dLbls>
          <c:showLegendKey val="0"/>
          <c:showVal val="0"/>
          <c:showCatName val="0"/>
          <c:showSerName val="0"/>
          <c:showPercent val="0"/>
          <c:showBubbleSize val="0"/>
        </c:dLbls>
        <c:gapWidth val="150"/>
        <c:overlap val="100"/>
        <c:axId val="154951584"/>
        <c:axId val="154829472"/>
      </c:barChart>
      <c:catAx>
        <c:axId val="154951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100" b="1" i="1" u="none" strike="noStrike" kern="1200" baseline="0">
                <a:solidFill>
                  <a:srgbClr val="344251"/>
                </a:solidFill>
                <a:latin typeface="+mn-lt"/>
                <a:ea typeface="+mn-ea"/>
                <a:cs typeface="+mn-cs"/>
              </a:defRPr>
            </a:pPr>
            <a:endParaRPr lang="ja-JP"/>
          </a:p>
        </c:txPr>
        <c:crossAx val="154829472"/>
        <c:crosses val="autoZero"/>
        <c:auto val="1"/>
        <c:lblAlgn val="ctr"/>
        <c:lblOffset val="100"/>
        <c:noMultiLvlLbl val="0"/>
      </c:catAx>
      <c:valAx>
        <c:axId val="15482947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ja-JP" sz="1100" b="1" i="1" u="none" strike="noStrike" kern="1200" baseline="0">
                <a:solidFill>
                  <a:srgbClr val="344251"/>
                </a:solidFill>
                <a:latin typeface="+mn-lt"/>
                <a:ea typeface="+mn-ea"/>
                <a:cs typeface="+mn-cs"/>
              </a:defRPr>
            </a:pPr>
            <a:endParaRPr lang="ja-JP"/>
          </a:p>
        </c:txPr>
        <c:crossAx val="154951584"/>
        <c:crosses val="autoZero"/>
        <c:crossBetween val="between"/>
      </c:valAx>
      <c:spPr>
        <a:solidFill>
          <a:schemeClr val="bg2">
            <a:lumMod val="20000"/>
            <a:lumOff val="80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405C8B"/>
      </a:solidFill>
    </a:ln>
    <a:effectLst/>
  </c:spPr>
  <c:txPr>
    <a:bodyPr/>
    <a:lstStyle/>
    <a:p>
      <a:pPr>
        <a:defRPr/>
      </a:pPr>
      <a:endParaRPr lang="ja-JP"/>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000" b="0" i="0" u="none" strike="noStrike" kern="1200" spc="0" baseline="0">
                <a:solidFill>
                  <a:srgbClr val="344251"/>
                </a:solidFill>
                <a:latin typeface="+mn-lt"/>
                <a:ea typeface="Roboto" panose="02000000000000000000" pitchFamily="2" charset="0"/>
                <a:cs typeface="+mn-cs"/>
              </a:defRPr>
            </a:pPr>
            <a:r>
              <a:rPr lang="en-US" dirty="0"/>
              <a:t>Total CV Market 2025</a:t>
            </a:r>
          </a:p>
        </c:rich>
      </c:tx>
      <c:layout>
        <c:manualLayout>
          <c:xMode val="edge"/>
          <c:yMode val="edge"/>
          <c:x val="0.32477556100004484"/>
          <c:y val="1.9068546545083411E-2"/>
        </c:manualLayout>
      </c:layout>
      <c:overlay val="0"/>
      <c:spPr>
        <a:noFill/>
        <a:ln>
          <a:noFill/>
        </a:ln>
        <a:effectLst/>
      </c:spPr>
      <c:txPr>
        <a:bodyPr rot="0" spcFirstLastPara="1" vertOverflow="ellipsis" vert="horz" wrap="square" anchor="ctr" anchorCtr="1"/>
        <a:lstStyle/>
        <a:p>
          <a:pPr>
            <a:defRPr lang="ja-JP" sz="1000" b="0" i="0" u="none" strike="noStrike" kern="1200" spc="0" baseline="0">
              <a:solidFill>
                <a:srgbClr val="344251"/>
              </a:solidFill>
              <a:latin typeface="+mn-lt"/>
              <a:ea typeface="Roboto" panose="02000000000000000000" pitchFamily="2" charset="0"/>
              <a:cs typeface="+mn-cs"/>
            </a:defRPr>
          </a:pPr>
          <a:endParaRPr lang="ja-JP"/>
        </a:p>
      </c:txPr>
    </c:title>
    <c:autoTitleDeleted val="0"/>
    <c:plotArea>
      <c:layout>
        <c:manualLayout>
          <c:layoutTarget val="inner"/>
          <c:xMode val="edge"/>
          <c:yMode val="edge"/>
          <c:x val="0.10156132749382622"/>
          <c:y val="0.12234386970627306"/>
          <c:w val="0.57923612784879708"/>
          <c:h val="0.80545385103936018"/>
        </c:manualLayout>
      </c:layout>
      <c:pieChart>
        <c:varyColors val="1"/>
        <c:ser>
          <c:idx val="0"/>
          <c:order val="0"/>
          <c:tx>
            <c:strRef>
              <c:f>Sheet1!$B$1</c:f>
              <c:strCache>
                <c:ptCount val="1"/>
                <c:pt idx="0">
                  <c:v>Total CV Market  2025</c:v>
                </c:pt>
              </c:strCache>
            </c:strRef>
          </c:tx>
          <c:explosion val="1"/>
          <c:dPt>
            <c:idx val="0"/>
            <c:bubble3D val="0"/>
            <c:spPr>
              <a:solidFill>
                <a:schemeClr val="accent4">
                  <a:lumMod val="75000"/>
                </a:schemeClr>
              </a:solidFill>
              <a:ln w="19050">
                <a:solidFill>
                  <a:schemeClr val="lt1"/>
                </a:solidFill>
              </a:ln>
              <a:effectLst/>
            </c:spPr>
            <c:extLst>
              <c:ext xmlns:c16="http://schemas.microsoft.com/office/drawing/2014/chart" uri="{C3380CC4-5D6E-409C-BE32-E72D297353CC}">
                <c16:uniqueId val="{00000001-63B0-4A4B-8ED5-BD00FDC59A15}"/>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63B0-4A4B-8ED5-BD00FDC59A15}"/>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5-63B0-4A4B-8ED5-BD00FDC59A15}"/>
              </c:ext>
            </c:extLst>
          </c:dPt>
          <c:dPt>
            <c:idx val="3"/>
            <c:bubble3D val="0"/>
            <c:explosion val="13"/>
            <c:spPr>
              <a:solidFill>
                <a:schemeClr val="accent3"/>
              </a:solidFill>
              <a:ln w="22225">
                <a:solidFill>
                  <a:srgbClr val="FF0000"/>
                </a:solidFill>
              </a:ln>
              <a:effectLst/>
            </c:spPr>
            <c:extLst>
              <c:ext xmlns:c16="http://schemas.microsoft.com/office/drawing/2014/chart" uri="{C3380CC4-5D6E-409C-BE32-E72D297353CC}">
                <c16:uniqueId val="{00000007-63B0-4A4B-8ED5-BD00FDC59A15}"/>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63B0-4A4B-8ED5-BD00FDC59A15}"/>
              </c:ext>
            </c:extLst>
          </c:dPt>
          <c:dLbls>
            <c:dLbl>
              <c:idx val="0"/>
              <c:spPr>
                <a:noFill/>
                <a:ln>
                  <a:noFill/>
                </a:ln>
                <a:effectLst/>
              </c:spPr>
              <c:txPr>
                <a:bodyPr rot="0" spcFirstLastPara="1" vertOverflow="ellipsis" vert="horz" wrap="square" anchor="ctr" anchorCtr="1"/>
                <a:lstStyle/>
                <a:p>
                  <a:pPr>
                    <a:defRPr lang="ja-JP" sz="800" b="0" i="0" u="none" strike="noStrike" kern="1200" baseline="0">
                      <a:solidFill>
                        <a:schemeClr val="bg1"/>
                      </a:solidFill>
                      <a:latin typeface="+mn-lt"/>
                      <a:ea typeface="Roboto" panose="02000000000000000000" pitchFamily="2" charset="0"/>
                      <a:cs typeface="+mn-cs"/>
                    </a:defRPr>
                  </a:pPr>
                  <a:endParaRPr lang="ja-JP"/>
                </a:p>
              </c:txPr>
              <c:dLblPos val="bestFit"/>
              <c:showLegendKey val="0"/>
              <c:showVal val="0"/>
              <c:showCatName val="1"/>
              <c:showSerName val="0"/>
              <c:showPercent val="1"/>
              <c:showBubbleSize val="0"/>
              <c:extLst>
                <c:ext xmlns:c16="http://schemas.microsoft.com/office/drawing/2014/chart" uri="{C3380CC4-5D6E-409C-BE32-E72D297353CC}">
                  <c16:uniqueId val="{00000001-63B0-4A4B-8ED5-BD00FDC59A15}"/>
                </c:ext>
              </c:extLst>
            </c:dLbl>
            <c:dLbl>
              <c:idx val="2"/>
              <c:spPr>
                <a:noFill/>
                <a:ln>
                  <a:noFill/>
                </a:ln>
                <a:effectLst/>
              </c:spPr>
              <c:txPr>
                <a:bodyPr rot="0" spcFirstLastPara="1" vertOverflow="ellipsis" vert="horz" wrap="square" anchor="ctr" anchorCtr="1"/>
                <a:lstStyle/>
                <a:p>
                  <a:pPr>
                    <a:defRPr lang="ja-JP" sz="800" b="0" i="0" u="none" strike="noStrike" kern="1200" baseline="0">
                      <a:solidFill>
                        <a:schemeClr val="bg1"/>
                      </a:solidFill>
                      <a:latin typeface="+mn-lt"/>
                      <a:ea typeface="Roboto" panose="02000000000000000000" pitchFamily="2" charset="0"/>
                      <a:cs typeface="+mn-cs"/>
                    </a:defRPr>
                  </a:pPr>
                  <a:endParaRPr lang="ja-JP"/>
                </a:p>
              </c:txPr>
              <c:dLblPos val="bestFit"/>
              <c:showLegendKey val="0"/>
              <c:showVal val="0"/>
              <c:showCatName val="1"/>
              <c:showSerName val="0"/>
              <c:showPercent val="1"/>
              <c:showBubbleSize val="0"/>
              <c:extLst>
                <c:ext xmlns:c16="http://schemas.microsoft.com/office/drawing/2014/chart" uri="{C3380CC4-5D6E-409C-BE32-E72D297353CC}">
                  <c16:uniqueId val="{00000005-63B0-4A4B-8ED5-BD00FDC59A15}"/>
                </c:ext>
              </c:extLst>
            </c:dLbl>
            <c:dLbl>
              <c:idx val="3"/>
              <c:layout>
                <c:manualLayout>
                  <c:x val="-1.943936053888751E-2"/>
                  <c:y val="8.9875164832194904E-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15413760069543928"/>
                      <c:h val="0.20207892201152144"/>
                    </c:manualLayout>
                  </c15:layout>
                </c:ext>
                <c:ext xmlns:c16="http://schemas.microsoft.com/office/drawing/2014/chart" uri="{C3380CC4-5D6E-409C-BE32-E72D297353CC}">
                  <c16:uniqueId val="{00000007-63B0-4A4B-8ED5-BD00FDC59A15}"/>
                </c:ext>
              </c:extLst>
            </c:dLbl>
            <c:dLbl>
              <c:idx val="4"/>
              <c:spPr>
                <a:noFill/>
                <a:ln>
                  <a:noFill/>
                </a:ln>
                <a:effectLst/>
              </c:spPr>
              <c:txPr>
                <a:bodyPr rot="0" spcFirstLastPara="1" vertOverflow="ellipsis" vert="horz" wrap="square" anchor="ctr" anchorCtr="1"/>
                <a:lstStyle/>
                <a:p>
                  <a:pPr>
                    <a:defRPr lang="ja-JP" sz="800" b="0" i="0" u="none" strike="noStrike" kern="1200" baseline="0">
                      <a:solidFill>
                        <a:schemeClr val="bg1"/>
                      </a:solidFill>
                      <a:latin typeface="+mn-lt"/>
                      <a:ea typeface="Roboto" panose="02000000000000000000" pitchFamily="2" charset="0"/>
                      <a:cs typeface="+mn-cs"/>
                    </a:defRPr>
                  </a:pPr>
                  <a:endParaRPr lang="ja-JP"/>
                </a:p>
              </c:txPr>
              <c:dLblPos val="bestFit"/>
              <c:showLegendKey val="0"/>
              <c:showVal val="0"/>
              <c:showCatName val="1"/>
              <c:showSerName val="0"/>
              <c:showPercent val="1"/>
              <c:showBubbleSize val="0"/>
              <c:extLst>
                <c:ext xmlns:c16="http://schemas.microsoft.com/office/drawing/2014/chart" uri="{C3380CC4-5D6E-409C-BE32-E72D297353CC}">
                  <c16:uniqueId val="{00000009-63B0-4A4B-8ED5-BD00FDC59A15}"/>
                </c:ext>
              </c:extLst>
            </c:dLbl>
            <c:spPr>
              <a:noFill/>
              <a:ln>
                <a:noFill/>
              </a:ln>
              <a:effectLst/>
            </c:spPr>
            <c:txPr>
              <a:bodyPr rot="0" spcFirstLastPara="1" vertOverflow="ellipsis" vert="horz" wrap="square" anchor="ctr" anchorCtr="1"/>
              <a:lstStyle/>
              <a:p>
                <a:pPr>
                  <a:defRPr lang="ja-JP" sz="800" b="0" i="0" u="none" strike="noStrike" kern="1200" baseline="0">
                    <a:solidFill>
                      <a:srgbClr val="344251"/>
                    </a:solidFill>
                    <a:latin typeface="+mn-lt"/>
                    <a:ea typeface="Roboto" panose="02000000000000000000" pitchFamily="2" charset="0"/>
                    <a:cs typeface="+mn-cs"/>
                  </a:defRPr>
                </a:pPr>
                <a:endParaRPr lang="ja-JP"/>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Pick Up</c:v>
                </c:pt>
                <c:pt idx="1">
                  <c:v>4x4</c:v>
                </c:pt>
                <c:pt idx="2">
                  <c:v>Van</c:v>
                </c:pt>
                <c:pt idx="3">
                  <c:v>3.5t Chassis-14t</c:v>
                </c:pt>
                <c:pt idx="4">
                  <c:v>Above 14t</c:v>
                </c:pt>
              </c:strCache>
            </c:strRef>
          </c:cat>
          <c:val>
            <c:numRef>
              <c:f>Sheet1!$B$2:$B$6</c:f>
              <c:numCache>
                <c:formatCode>#,##0</c:formatCode>
                <c:ptCount val="5"/>
                <c:pt idx="0">
                  <c:v>37308</c:v>
                </c:pt>
                <c:pt idx="1">
                  <c:v>7447</c:v>
                </c:pt>
                <c:pt idx="2">
                  <c:v>257928</c:v>
                </c:pt>
                <c:pt idx="3">
                  <c:v>33222</c:v>
                </c:pt>
                <c:pt idx="4">
                  <c:v>32871</c:v>
                </c:pt>
              </c:numCache>
            </c:numRef>
          </c:val>
          <c:extLst>
            <c:ext xmlns:c16="http://schemas.microsoft.com/office/drawing/2014/chart" uri="{C3380CC4-5D6E-409C-BE32-E72D297353CC}">
              <c16:uniqueId val="{0000000A-63B0-4A4B-8ED5-BD00FDC59A15}"/>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405C8B"/>
      </a:solidFill>
    </a:ln>
    <a:effectLst/>
  </c:spPr>
  <c:txPr>
    <a:bodyPr/>
    <a:lstStyle/>
    <a:p>
      <a:pPr>
        <a:defRPr>
          <a:solidFill>
            <a:srgbClr val="344251"/>
          </a:solidFill>
          <a:latin typeface="+mn-lt"/>
          <a:ea typeface="Roboto" panose="02000000000000000000" pitchFamily="2" charset="0"/>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r>
              <a:rPr lang="en-GB" sz="1000" noProof="0" dirty="0"/>
              <a:t>3.5t Chassis Cab CY25</a:t>
            </a:r>
          </a:p>
        </c:rich>
      </c:tx>
      <c:overlay val="0"/>
      <c:spPr>
        <a:noFill/>
        <a:ln>
          <a:noFill/>
        </a:ln>
        <a:effectLst/>
      </c:spPr>
      <c:txPr>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endParaRPr lang="ja-JP"/>
        </a:p>
      </c:txPr>
    </c:title>
    <c:autoTitleDeleted val="0"/>
    <c:plotArea>
      <c:layout>
        <c:manualLayout>
          <c:layoutTarget val="inner"/>
          <c:xMode val="edge"/>
          <c:yMode val="edge"/>
          <c:x val="9.112299918084088E-2"/>
          <c:y val="0.15866181535384957"/>
          <c:w val="0.8307635730634263"/>
          <c:h val="0.60030163315187202"/>
        </c:manualLayout>
      </c:layout>
      <c:barChart>
        <c:barDir val="col"/>
        <c:grouping val="clustered"/>
        <c:varyColors val="0"/>
        <c:ser>
          <c:idx val="0"/>
          <c:order val="0"/>
          <c:tx>
            <c:strRef>
              <c:f>Sheet1!$B$1</c:f>
              <c:strCache>
                <c:ptCount val="1"/>
                <c:pt idx="0">
                  <c:v>TOTAL</c:v>
                </c:pt>
              </c:strCache>
            </c:strRef>
          </c:tx>
          <c:spPr>
            <a:solidFill>
              <a:srgbClr val="9DA5AE">
                <a:alpha val="50000"/>
              </a:srgbClr>
            </a:solidFill>
            <a:ln>
              <a:noFill/>
            </a:ln>
            <a:effectLst/>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1430</c:v>
                </c:pt>
                <c:pt idx="1">
                  <c:v>1214</c:v>
                </c:pt>
                <c:pt idx="2">
                  <c:v>2615</c:v>
                </c:pt>
                <c:pt idx="3">
                  <c:v>1465</c:v>
                </c:pt>
                <c:pt idx="4">
                  <c:v>1816</c:v>
                </c:pt>
                <c:pt idx="5">
                  <c:v>1725</c:v>
                </c:pt>
                <c:pt idx="6">
                  <c:v>1604</c:v>
                </c:pt>
                <c:pt idx="7">
                  <c:v>1138</c:v>
                </c:pt>
                <c:pt idx="8">
                  <c:v>2732</c:v>
                </c:pt>
                <c:pt idx="9">
                  <c:v>1914</c:v>
                </c:pt>
                <c:pt idx="10">
                  <c:v>2321</c:v>
                </c:pt>
                <c:pt idx="11">
                  <c:v>2765</c:v>
                </c:pt>
              </c:numCache>
            </c:numRef>
          </c:val>
          <c:extLst>
            <c:ext xmlns:c16="http://schemas.microsoft.com/office/drawing/2014/chart" uri="{C3380CC4-5D6E-409C-BE32-E72D297353CC}">
              <c16:uniqueId val="{00000000-EFB4-1F4C-BD8D-BF90FC289267}"/>
            </c:ext>
          </c:extLst>
        </c:ser>
        <c:dLbls>
          <c:showLegendKey val="0"/>
          <c:showVal val="0"/>
          <c:showCatName val="0"/>
          <c:showSerName val="0"/>
          <c:showPercent val="0"/>
          <c:showBubbleSize val="0"/>
        </c:dLbls>
        <c:gapWidth val="219"/>
        <c:overlap val="-27"/>
        <c:axId val="1122261568"/>
        <c:axId val="1122086448"/>
      </c:barChart>
      <c:lineChart>
        <c:grouping val="standard"/>
        <c:varyColors val="0"/>
        <c:ser>
          <c:idx val="1"/>
          <c:order val="1"/>
          <c:tx>
            <c:strRef>
              <c:f>Sheet1!$C$1</c:f>
              <c:strCache>
                <c:ptCount val="1"/>
                <c:pt idx="0">
                  <c:v>FORD</c:v>
                </c:pt>
              </c:strCache>
            </c:strRef>
          </c:tx>
          <c:spPr>
            <a:ln w="15875" cap="rnd">
              <a:solidFill>
                <a:schemeClr val="accent2"/>
              </a:solidFill>
              <a:round/>
            </a:ln>
            <a:effectLst/>
          </c:spPr>
          <c:marker>
            <c:symbol val="circle"/>
            <c:size val="4"/>
            <c:spPr>
              <a:solidFill>
                <a:schemeClr val="accent2"/>
              </a:solidFill>
              <a:ln w="9525">
                <a:solidFill>
                  <a:schemeClr val="accent2"/>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0.00%</c:formatCode>
                <c:ptCount val="12"/>
                <c:pt idx="0">
                  <c:v>0.38879999999999998</c:v>
                </c:pt>
                <c:pt idx="1">
                  <c:v>0.21579999999999999</c:v>
                </c:pt>
                <c:pt idx="2">
                  <c:v>0.4753</c:v>
                </c:pt>
                <c:pt idx="3">
                  <c:v>0.36930000000000002</c:v>
                </c:pt>
                <c:pt idx="4">
                  <c:v>0.48020000000000002</c:v>
                </c:pt>
                <c:pt idx="5">
                  <c:v>0.38719999999999999</c:v>
                </c:pt>
                <c:pt idx="6">
                  <c:v>0.4027</c:v>
                </c:pt>
                <c:pt idx="7">
                  <c:v>0.35149999999999998</c:v>
                </c:pt>
                <c:pt idx="8">
                  <c:v>0.46779999999999999</c:v>
                </c:pt>
                <c:pt idx="9">
                  <c:v>0.46660000000000001</c:v>
                </c:pt>
                <c:pt idx="10">
                  <c:v>0.51490000000000002</c:v>
                </c:pt>
                <c:pt idx="11">
                  <c:v>0.4123</c:v>
                </c:pt>
              </c:numCache>
            </c:numRef>
          </c:val>
          <c:smooth val="0"/>
          <c:extLst>
            <c:ext xmlns:c16="http://schemas.microsoft.com/office/drawing/2014/chart" uri="{C3380CC4-5D6E-409C-BE32-E72D297353CC}">
              <c16:uniqueId val="{00000001-EFB4-1F4C-BD8D-BF90FC289267}"/>
            </c:ext>
          </c:extLst>
        </c:ser>
        <c:ser>
          <c:idx val="2"/>
          <c:order val="2"/>
          <c:tx>
            <c:strRef>
              <c:f>Sheet1!$D$1</c:f>
              <c:strCache>
                <c:ptCount val="1"/>
                <c:pt idx="0">
                  <c:v>IVECO</c:v>
                </c:pt>
              </c:strCache>
            </c:strRef>
          </c:tx>
          <c:spPr>
            <a:ln w="15875" cap="rnd">
              <a:solidFill>
                <a:schemeClr val="accent3"/>
              </a:solidFill>
              <a:round/>
            </a:ln>
            <a:effectLst/>
          </c:spPr>
          <c:marker>
            <c:symbol val="circle"/>
            <c:size val="4"/>
            <c:spPr>
              <a:solidFill>
                <a:schemeClr val="accent3"/>
              </a:solidFill>
              <a:ln w="9525">
                <a:solidFill>
                  <a:schemeClr val="accent3"/>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0.00%</c:formatCode>
                <c:ptCount val="12"/>
                <c:pt idx="0">
                  <c:v>0.1469</c:v>
                </c:pt>
                <c:pt idx="1">
                  <c:v>0.1565</c:v>
                </c:pt>
                <c:pt idx="2">
                  <c:v>0.15529999999999999</c:v>
                </c:pt>
                <c:pt idx="3">
                  <c:v>0.2157</c:v>
                </c:pt>
                <c:pt idx="4">
                  <c:v>0.19220000000000001</c:v>
                </c:pt>
                <c:pt idx="5">
                  <c:v>0.14779999999999999</c:v>
                </c:pt>
                <c:pt idx="6">
                  <c:v>9.2899999999999996E-2</c:v>
                </c:pt>
                <c:pt idx="7">
                  <c:v>0.1002</c:v>
                </c:pt>
                <c:pt idx="8">
                  <c:v>9.9199999999999997E-2</c:v>
                </c:pt>
                <c:pt idx="9">
                  <c:v>0.11600000000000001</c:v>
                </c:pt>
                <c:pt idx="10">
                  <c:v>8.7900000000000006E-2</c:v>
                </c:pt>
                <c:pt idx="11">
                  <c:v>4.7E-2</c:v>
                </c:pt>
              </c:numCache>
            </c:numRef>
          </c:val>
          <c:smooth val="0"/>
          <c:extLst>
            <c:ext xmlns:c16="http://schemas.microsoft.com/office/drawing/2014/chart" uri="{C3380CC4-5D6E-409C-BE32-E72D297353CC}">
              <c16:uniqueId val="{00000002-EFB4-1F4C-BD8D-BF90FC289267}"/>
            </c:ext>
          </c:extLst>
        </c:ser>
        <c:ser>
          <c:idx val="3"/>
          <c:order val="3"/>
          <c:tx>
            <c:strRef>
              <c:f>Sheet1!$E$1</c:f>
              <c:strCache>
                <c:ptCount val="1"/>
                <c:pt idx="0">
                  <c:v>MAXUS</c:v>
                </c:pt>
              </c:strCache>
            </c:strRef>
          </c:tx>
          <c:spPr>
            <a:ln w="15875" cap="rnd">
              <a:solidFill>
                <a:schemeClr val="accent4"/>
              </a:solidFill>
              <a:round/>
            </a:ln>
            <a:effectLst/>
          </c:spPr>
          <c:marker>
            <c:symbol val="circle"/>
            <c:size val="4"/>
            <c:spPr>
              <a:solidFill>
                <a:schemeClr val="accent4"/>
              </a:solidFill>
              <a:ln w="9525">
                <a:solidFill>
                  <a:schemeClr val="accent4"/>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0.00%</c:formatCode>
                <c:ptCount val="12"/>
                <c:pt idx="0">
                  <c:v>1.0500000000000001E-2</c:v>
                </c:pt>
                <c:pt idx="1">
                  <c:v>2.8799999999999999E-2</c:v>
                </c:pt>
                <c:pt idx="2">
                  <c:v>3.0200000000000001E-2</c:v>
                </c:pt>
                <c:pt idx="3">
                  <c:v>2.0500000000000001E-2</c:v>
                </c:pt>
                <c:pt idx="4">
                  <c:v>3.0800000000000001E-2</c:v>
                </c:pt>
                <c:pt idx="5">
                  <c:v>1.5699999999999999E-2</c:v>
                </c:pt>
                <c:pt idx="6">
                  <c:v>1.3100000000000001E-2</c:v>
                </c:pt>
                <c:pt idx="7">
                  <c:v>2.64E-2</c:v>
                </c:pt>
                <c:pt idx="8">
                  <c:v>3.9199999999999999E-2</c:v>
                </c:pt>
                <c:pt idx="9">
                  <c:v>3.1899999999999998E-2</c:v>
                </c:pt>
                <c:pt idx="10">
                  <c:v>3.4000000000000002E-2</c:v>
                </c:pt>
                <c:pt idx="11">
                  <c:v>2.5700000000000001E-2</c:v>
                </c:pt>
              </c:numCache>
            </c:numRef>
          </c:val>
          <c:smooth val="0"/>
          <c:extLst>
            <c:ext xmlns:c16="http://schemas.microsoft.com/office/drawing/2014/chart" uri="{C3380CC4-5D6E-409C-BE32-E72D297353CC}">
              <c16:uniqueId val="{00000000-F482-F940-8082-6ADEF759D883}"/>
            </c:ext>
          </c:extLst>
        </c:ser>
        <c:ser>
          <c:idx val="4"/>
          <c:order val="4"/>
          <c:tx>
            <c:strRef>
              <c:f>Sheet1!$F$1</c:f>
              <c:strCache>
                <c:ptCount val="1"/>
                <c:pt idx="0">
                  <c:v>MERCEDES</c:v>
                </c:pt>
              </c:strCache>
            </c:strRef>
          </c:tx>
          <c:spPr>
            <a:ln w="15875" cap="rnd">
              <a:solidFill>
                <a:schemeClr val="accent5"/>
              </a:solidFill>
              <a:round/>
            </a:ln>
            <a:effectLst/>
          </c:spPr>
          <c:marker>
            <c:symbol val="circle"/>
            <c:size val="4"/>
            <c:spPr>
              <a:solidFill>
                <a:schemeClr val="accent5"/>
              </a:solidFill>
              <a:ln w="9525">
                <a:solidFill>
                  <a:schemeClr val="accent5"/>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Sheet1!$F$2:$F$13</c:f>
              <c:numCache>
                <c:formatCode>0.00%</c:formatCode>
                <c:ptCount val="12"/>
                <c:pt idx="0">
                  <c:v>0.214</c:v>
                </c:pt>
                <c:pt idx="1">
                  <c:v>0.42749999999999999</c:v>
                </c:pt>
                <c:pt idx="2">
                  <c:v>0.14419999999999999</c:v>
                </c:pt>
                <c:pt idx="3">
                  <c:v>0.1686</c:v>
                </c:pt>
                <c:pt idx="4">
                  <c:v>0.1239</c:v>
                </c:pt>
                <c:pt idx="5">
                  <c:v>0.23300000000000001</c:v>
                </c:pt>
                <c:pt idx="6">
                  <c:v>0.23569999999999999</c:v>
                </c:pt>
                <c:pt idx="7">
                  <c:v>0.26190000000000002</c:v>
                </c:pt>
                <c:pt idx="8">
                  <c:v>0.19289999999999999</c:v>
                </c:pt>
                <c:pt idx="9">
                  <c:v>0.17760000000000001</c:v>
                </c:pt>
                <c:pt idx="10">
                  <c:v>0.1249</c:v>
                </c:pt>
                <c:pt idx="11">
                  <c:v>0.1071</c:v>
                </c:pt>
              </c:numCache>
            </c:numRef>
          </c:val>
          <c:smooth val="0"/>
          <c:extLst>
            <c:ext xmlns:c16="http://schemas.microsoft.com/office/drawing/2014/chart" uri="{C3380CC4-5D6E-409C-BE32-E72D297353CC}">
              <c16:uniqueId val="{00000001-F482-F940-8082-6ADEF759D883}"/>
            </c:ext>
          </c:extLst>
        </c:ser>
        <c:ser>
          <c:idx val="5"/>
          <c:order val="5"/>
          <c:tx>
            <c:strRef>
              <c:f>Sheet1!$G$1</c:f>
              <c:strCache>
                <c:ptCount val="1"/>
                <c:pt idx="0">
                  <c:v>FUSO</c:v>
                </c:pt>
              </c:strCache>
            </c:strRef>
          </c:tx>
          <c:spPr>
            <a:ln w="15875" cap="rnd">
              <a:solidFill>
                <a:schemeClr val="accent6"/>
              </a:solidFill>
              <a:round/>
            </a:ln>
            <a:effectLst/>
          </c:spPr>
          <c:marker>
            <c:symbol val="circle"/>
            <c:size val="4"/>
            <c:spPr>
              <a:solidFill>
                <a:schemeClr val="accent6"/>
              </a:solidFill>
              <a:ln w="9525">
                <a:solidFill>
                  <a:schemeClr val="accent6"/>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Sheet1!$G$2:$G$13</c:f>
              <c:numCache>
                <c:formatCode>0.00%</c:formatCode>
                <c:ptCount val="12"/>
                <c:pt idx="0">
                  <c:v>6.3E-3</c:v>
                </c:pt>
                <c:pt idx="1">
                  <c:v>7.4000000000000003E-3</c:v>
                </c:pt>
                <c:pt idx="2">
                  <c:v>5.4000000000000003E-3</c:v>
                </c:pt>
                <c:pt idx="3">
                  <c:v>1.09E-2</c:v>
                </c:pt>
                <c:pt idx="4">
                  <c:v>5.4999999999999997E-3</c:v>
                </c:pt>
                <c:pt idx="5">
                  <c:v>1.0999999999999999E-2</c:v>
                </c:pt>
                <c:pt idx="6">
                  <c:v>6.1999999999999998E-3</c:v>
                </c:pt>
                <c:pt idx="7">
                  <c:v>8.8000000000000005E-3</c:v>
                </c:pt>
                <c:pt idx="8">
                  <c:v>7.0000000000000001E-3</c:v>
                </c:pt>
                <c:pt idx="9">
                  <c:v>9.9000000000000008E-3</c:v>
                </c:pt>
                <c:pt idx="10">
                  <c:v>9.4999999999999998E-3</c:v>
                </c:pt>
                <c:pt idx="11">
                  <c:v>3.5999999999999999E-3</c:v>
                </c:pt>
              </c:numCache>
            </c:numRef>
          </c:val>
          <c:smooth val="0"/>
          <c:extLst>
            <c:ext xmlns:c16="http://schemas.microsoft.com/office/drawing/2014/chart" uri="{C3380CC4-5D6E-409C-BE32-E72D297353CC}">
              <c16:uniqueId val="{00000002-F482-F940-8082-6ADEF759D883}"/>
            </c:ext>
          </c:extLst>
        </c:ser>
        <c:ser>
          <c:idx val="6"/>
          <c:order val="6"/>
          <c:tx>
            <c:strRef>
              <c:f>Sheet1!$H$1</c:f>
              <c:strCache>
                <c:ptCount val="1"/>
                <c:pt idx="0">
                  <c:v>NISSAN</c:v>
                </c:pt>
              </c:strCache>
            </c:strRef>
          </c:tx>
          <c:spPr>
            <a:ln w="15875" cap="rnd">
              <a:solidFill>
                <a:schemeClr val="accent1">
                  <a:lumMod val="60000"/>
                </a:schemeClr>
              </a:solidFill>
              <a:round/>
            </a:ln>
            <a:effectLst/>
          </c:spPr>
          <c:marker>
            <c:symbol val="circle"/>
            <c:size val="4"/>
            <c:spPr>
              <a:solidFill>
                <a:schemeClr val="accent1">
                  <a:lumMod val="60000"/>
                </a:schemeClr>
              </a:solidFill>
              <a:ln w="9525">
                <a:solidFill>
                  <a:schemeClr val="accent1">
                    <a:lumMod val="60000"/>
                  </a:schemeClr>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Sheet1!$H$2:$H$13</c:f>
              <c:numCache>
                <c:formatCode>0.00%</c:formatCode>
                <c:ptCount val="12"/>
                <c:pt idx="0">
                  <c:v>4.1999999999999997E-3</c:v>
                </c:pt>
                <c:pt idx="1">
                  <c:v>1.6000000000000001E-3</c:v>
                </c:pt>
                <c:pt idx="2">
                  <c:v>3.0999999999999999E-3</c:v>
                </c:pt>
                <c:pt idx="3">
                  <c:v>6.9999999999999999E-4</c:v>
                </c:pt>
                <c:pt idx="4">
                  <c:v>9.4000000000000004E-3</c:v>
                </c:pt>
                <c:pt idx="5">
                  <c:v>5.1999999999999998E-3</c:v>
                </c:pt>
                <c:pt idx="6">
                  <c:v>1.37E-2</c:v>
                </c:pt>
                <c:pt idx="7">
                  <c:v>5.3E-3</c:v>
                </c:pt>
                <c:pt idx="8">
                  <c:v>6.1999999999999998E-3</c:v>
                </c:pt>
                <c:pt idx="9">
                  <c:v>7.3000000000000001E-3</c:v>
                </c:pt>
                <c:pt idx="10">
                  <c:v>4.7000000000000002E-3</c:v>
                </c:pt>
                <c:pt idx="11">
                  <c:v>1.7399999999999999E-2</c:v>
                </c:pt>
              </c:numCache>
            </c:numRef>
          </c:val>
          <c:smooth val="0"/>
          <c:extLst>
            <c:ext xmlns:c16="http://schemas.microsoft.com/office/drawing/2014/chart" uri="{C3380CC4-5D6E-409C-BE32-E72D297353CC}">
              <c16:uniqueId val="{00000003-F482-F940-8082-6ADEF759D883}"/>
            </c:ext>
          </c:extLst>
        </c:ser>
        <c:ser>
          <c:idx val="7"/>
          <c:order val="7"/>
          <c:tx>
            <c:strRef>
              <c:f>Sheet1!$I$1</c:f>
              <c:strCache>
                <c:ptCount val="1"/>
                <c:pt idx="0">
                  <c:v>ISUZU</c:v>
                </c:pt>
              </c:strCache>
            </c:strRef>
          </c:tx>
          <c:spPr>
            <a:ln w="28575" cap="rnd">
              <a:solidFill>
                <a:srgbClr val="FF0000"/>
              </a:solidFill>
              <a:round/>
            </a:ln>
            <a:effectLst/>
          </c:spPr>
          <c:marker>
            <c:symbol val="circle"/>
            <c:size val="5"/>
            <c:spPr>
              <a:solidFill>
                <a:srgbClr val="FF0000"/>
              </a:solidFill>
              <a:ln w="9525">
                <a:solidFill>
                  <a:srgbClr val="FF0000"/>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Sheet1!$I$2:$I$13</c:f>
              <c:numCache>
                <c:formatCode>0.00%</c:formatCode>
                <c:ptCount val="12"/>
                <c:pt idx="0">
                  <c:v>4.2700000000000002E-2</c:v>
                </c:pt>
                <c:pt idx="1">
                  <c:v>5.3499999999999999E-2</c:v>
                </c:pt>
                <c:pt idx="2">
                  <c:v>5.7700000000000001E-2</c:v>
                </c:pt>
                <c:pt idx="3">
                  <c:v>6.83E-2</c:v>
                </c:pt>
                <c:pt idx="4">
                  <c:v>3.6299999999999999E-2</c:v>
                </c:pt>
                <c:pt idx="5">
                  <c:v>4.41E-2</c:v>
                </c:pt>
                <c:pt idx="6">
                  <c:v>4.7399999999999998E-2</c:v>
                </c:pt>
                <c:pt idx="7">
                  <c:v>3.8699999999999998E-2</c:v>
                </c:pt>
                <c:pt idx="8">
                  <c:v>3.2899999999999999E-2</c:v>
                </c:pt>
                <c:pt idx="9">
                  <c:v>4.4900000000000002E-2</c:v>
                </c:pt>
                <c:pt idx="10">
                  <c:v>3.6600000000000001E-2</c:v>
                </c:pt>
                <c:pt idx="11">
                  <c:v>3.15E-2</c:v>
                </c:pt>
              </c:numCache>
            </c:numRef>
          </c:val>
          <c:smooth val="0"/>
          <c:extLst>
            <c:ext xmlns:c16="http://schemas.microsoft.com/office/drawing/2014/chart" uri="{C3380CC4-5D6E-409C-BE32-E72D297353CC}">
              <c16:uniqueId val="{00000004-F482-F940-8082-6ADEF759D883}"/>
            </c:ext>
          </c:extLst>
        </c:ser>
        <c:dLbls>
          <c:showLegendKey val="0"/>
          <c:showVal val="0"/>
          <c:showCatName val="0"/>
          <c:showSerName val="0"/>
          <c:showPercent val="0"/>
          <c:showBubbleSize val="0"/>
        </c:dLbls>
        <c:marker val="1"/>
        <c:smooth val="0"/>
        <c:axId val="2004174928"/>
        <c:axId val="2004020928"/>
      </c:lineChart>
      <c:catAx>
        <c:axId val="1122261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1122086448"/>
        <c:crosses val="autoZero"/>
        <c:auto val="1"/>
        <c:lblAlgn val="ctr"/>
        <c:lblOffset val="100"/>
        <c:noMultiLvlLbl val="0"/>
      </c:catAx>
      <c:valAx>
        <c:axId val="1122086448"/>
        <c:scaling>
          <c:orientation val="minMax"/>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r>
                  <a:rPr lang="en-GB" sz="800" noProof="0" dirty="0"/>
                  <a:t>Total Units</a:t>
                </a:r>
              </a:p>
            </c:rich>
          </c:tx>
          <c:layout>
            <c:manualLayout>
              <c:xMode val="edge"/>
              <c:yMode val="edge"/>
              <c:x val="5.2579497530059454E-3"/>
              <c:y val="0.30277858015776027"/>
            </c:manualLayout>
          </c:layout>
          <c:overlay val="0"/>
          <c:spPr>
            <a:noFill/>
            <a:ln>
              <a:noFill/>
            </a:ln>
            <a:effectLst/>
          </c:spPr>
          <c:txPr>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1122261568"/>
        <c:crosses val="autoZero"/>
        <c:crossBetween val="between"/>
      </c:valAx>
      <c:valAx>
        <c:axId val="2004020928"/>
        <c:scaling>
          <c:orientation val="minMax"/>
          <c:max val="0.6"/>
          <c:min val="0"/>
        </c:scaling>
        <c:delete val="0"/>
        <c:axPos val="r"/>
        <c:title>
          <c:tx>
            <c:rich>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r>
                  <a:rPr lang="en-GB" sz="800" noProof="0" dirty="0"/>
                  <a:t>% Market Share</a:t>
                </a:r>
              </a:p>
            </c:rich>
          </c:tx>
          <c:overlay val="0"/>
          <c:spPr>
            <a:noFill/>
            <a:ln>
              <a:noFill/>
            </a:ln>
            <a:effectLst/>
          </c:spPr>
          <c:txPr>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2004174928"/>
        <c:crosses val="max"/>
        <c:crossBetween val="between"/>
        <c:majorUnit val="0.1"/>
      </c:valAx>
      <c:catAx>
        <c:axId val="2004174928"/>
        <c:scaling>
          <c:orientation val="minMax"/>
        </c:scaling>
        <c:delete val="1"/>
        <c:axPos val="b"/>
        <c:numFmt formatCode="General" sourceLinked="1"/>
        <c:majorTickMark val="out"/>
        <c:minorTickMark val="none"/>
        <c:tickLblPos val="nextTo"/>
        <c:crossAx val="2004020928"/>
        <c:crosses val="autoZero"/>
        <c:auto val="1"/>
        <c:lblAlgn val="ctr"/>
        <c:lblOffset val="100"/>
        <c:noMultiLvlLbl val="0"/>
      </c:catAx>
      <c:spPr>
        <a:noFill/>
        <a:ln>
          <a:noFill/>
        </a:ln>
        <a:effectLst/>
      </c:spPr>
    </c:plotArea>
    <c:legend>
      <c:legendPos val="b"/>
      <c:layout>
        <c:manualLayout>
          <c:xMode val="edge"/>
          <c:yMode val="edge"/>
          <c:x val="1.5392098580454304E-2"/>
          <c:y val="0.88089878902344176"/>
          <c:w val="0.97138389401399217"/>
          <c:h val="7.6772580824352843E-2"/>
        </c:manualLayout>
      </c:layout>
      <c:overlay val="0"/>
      <c:spPr>
        <a:noFill/>
        <a:ln>
          <a:noFill/>
        </a:ln>
        <a:effectLst/>
      </c:spPr>
      <c:txPr>
        <a:bodyPr rot="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405C8B"/>
      </a:solidFill>
    </a:ln>
    <a:effectLst/>
  </c:spPr>
  <c:txPr>
    <a:bodyPr/>
    <a:lstStyle/>
    <a:p>
      <a:pPr>
        <a:defRPr>
          <a:solidFill>
            <a:srgbClr val="344251"/>
          </a:solidFill>
        </a:defRPr>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r>
              <a:rPr lang="en-GB" sz="1000" noProof="0" dirty="0">
                <a:solidFill>
                  <a:srgbClr val="344251"/>
                </a:solidFill>
              </a:rPr>
              <a:t>7.5t Chassis Cab CY25</a:t>
            </a:r>
          </a:p>
        </c:rich>
      </c:tx>
      <c:overlay val="0"/>
      <c:spPr>
        <a:noFill/>
        <a:ln>
          <a:noFill/>
        </a:ln>
        <a:effectLst/>
      </c:spPr>
      <c:txPr>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endParaRPr lang="ja-JP"/>
        </a:p>
      </c:txPr>
    </c:title>
    <c:autoTitleDeleted val="0"/>
    <c:plotArea>
      <c:layout>
        <c:manualLayout>
          <c:layoutTarget val="inner"/>
          <c:xMode val="edge"/>
          <c:yMode val="edge"/>
          <c:x val="9.112299918084088E-2"/>
          <c:y val="0.1657165870458838"/>
          <c:w val="0.8307635730634263"/>
          <c:h val="0.59324686145983796"/>
        </c:manualLayout>
      </c:layout>
      <c:barChart>
        <c:barDir val="col"/>
        <c:grouping val="clustered"/>
        <c:varyColors val="0"/>
        <c:ser>
          <c:idx val="0"/>
          <c:order val="0"/>
          <c:tx>
            <c:strRef>
              <c:f>Sheet1!$B$1</c:f>
              <c:strCache>
                <c:ptCount val="1"/>
                <c:pt idx="0">
                  <c:v>TOTAL</c:v>
                </c:pt>
              </c:strCache>
            </c:strRef>
          </c:tx>
          <c:spPr>
            <a:solidFill>
              <a:srgbClr val="9DA5AE">
                <a:alpha val="50000"/>
              </a:srgbClr>
            </a:solidFill>
            <a:ln>
              <a:noFill/>
            </a:ln>
            <a:effectLst/>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278</c:v>
                </c:pt>
                <c:pt idx="1">
                  <c:v>257</c:v>
                </c:pt>
                <c:pt idx="2">
                  <c:v>210</c:v>
                </c:pt>
                <c:pt idx="3">
                  <c:v>219</c:v>
                </c:pt>
                <c:pt idx="4">
                  <c:v>195</c:v>
                </c:pt>
                <c:pt idx="5">
                  <c:v>210</c:v>
                </c:pt>
                <c:pt idx="6">
                  <c:v>249</c:v>
                </c:pt>
                <c:pt idx="7">
                  <c:v>176</c:v>
                </c:pt>
                <c:pt idx="8">
                  <c:v>220</c:v>
                </c:pt>
                <c:pt idx="9">
                  <c:v>314</c:v>
                </c:pt>
                <c:pt idx="10">
                  <c:v>287</c:v>
                </c:pt>
                <c:pt idx="11">
                  <c:v>186</c:v>
                </c:pt>
              </c:numCache>
            </c:numRef>
          </c:val>
          <c:extLst>
            <c:ext xmlns:c16="http://schemas.microsoft.com/office/drawing/2014/chart" uri="{C3380CC4-5D6E-409C-BE32-E72D297353CC}">
              <c16:uniqueId val="{00000000-58B7-EC40-95AE-DE452B9AB4BA}"/>
            </c:ext>
          </c:extLst>
        </c:ser>
        <c:dLbls>
          <c:showLegendKey val="0"/>
          <c:showVal val="0"/>
          <c:showCatName val="0"/>
          <c:showSerName val="0"/>
          <c:showPercent val="0"/>
          <c:showBubbleSize val="0"/>
        </c:dLbls>
        <c:gapWidth val="219"/>
        <c:overlap val="-27"/>
        <c:axId val="1122261568"/>
        <c:axId val="1122086448"/>
      </c:barChart>
      <c:lineChart>
        <c:grouping val="standard"/>
        <c:varyColors val="0"/>
        <c:ser>
          <c:idx val="1"/>
          <c:order val="1"/>
          <c:tx>
            <c:strRef>
              <c:f>Sheet1!$C$1</c:f>
              <c:strCache>
                <c:ptCount val="1"/>
                <c:pt idx="0">
                  <c:v>DAF</c:v>
                </c:pt>
              </c:strCache>
            </c:strRef>
          </c:tx>
          <c:spPr>
            <a:ln w="15875" cap="rnd">
              <a:solidFill>
                <a:schemeClr val="accent2"/>
              </a:solidFill>
              <a:round/>
            </a:ln>
            <a:effectLst/>
          </c:spPr>
          <c:marker>
            <c:symbol val="circle"/>
            <c:size val="4"/>
            <c:spPr>
              <a:solidFill>
                <a:schemeClr val="accent2"/>
              </a:solidFill>
              <a:ln w="9525">
                <a:solidFill>
                  <a:schemeClr val="accent2"/>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0.00%</c:formatCode>
                <c:ptCount val="12"/>
                <c:pt idx="0">
                  <c:v>0.5</c:v>
                </c:pt>
                <c:pt idx="1">
                  <c:v>0.61478599221789887</c:v>
                </c:pt>
                <c:pt idx="2">
                  <c:v>0.42857142857142855</c:v>
                </c:pt>
                <c:pt idx="3">
                  <c:v>0.37442922374429222</c:v>
                </c:pt>
                <c:pt idx="4">
                  <c:v>0.47692307692307695</c:v>
                </c:pt>
                <c:pt idx="5">
                  <c:v>0.41899999999999998</c:v>
                </c:pt>
                <c:pt idx="6">
                  <c:v>0.43369999999999997</c:v>
                </c:pt>
                <c:pt idx="7">
                  <c:v>0.36359999999999998</c:v>
                </c:pt>
                <c:pt idx="8">
                  <c:v>0.52270000000000005</c:v>
                </c:pt>
                <c:pt idx="9">
                  <c:v>0.54139999999999999</c:v>
                </c:pt>
                <c:pt idx="10">
                  <c:v>0.62370000000000003</c:v>
                </c:pt>
                <c:pt idx="11">
                  <c:v>0.19350000000000001</c:v>
                </c:pt>
              </c:numCache>
            </c:numRef>
          </c:val>
          <c:smooth val="0"/>
          <c:extLst>
            <c:ext xmlns:c16="http://schemas.microsoft.com/office/drawing/2014/chart" uri="{C3380CC4-5D6E-409C-BE32-E72D297353CC}">
              <c16:uniqueId val="{00000001-58B7-EC40-95AE-DE452B9AB4BA}"/>
            </c:ext>
          </c:extLst>
        </c:ser>
        <c:ser>
          <c:idx val="2"/>
          <c:order val="2"/>
          <c:tx>
            <c:strRef>
              <c:f>Sheet1!$D$1</c:f>
              <c:strCache>
                <c:ptCount val="1"/>
                <c:pt idx="0">
                  <c:v>FUSO</c:v>
                </c:pt>
              </c:strCache>
            </c:strRef>
          </c:tx>
          <c:spPr>
            <a:ln w="15875" cap="rnd">
              <a:solidFill>
                <a:schemeClr val="accent3"/>
              </a:solidFill>
              <a:round/>
            </a:ln>
            <a:effectLst/>
          </c:spPr>
          <c:marker>
            <c:symbol val="circle"/>
            <c:size val="4"/>
            <c:spPr>
              <a:solidFill>
                <a:schemeClr val="accent3"/>
              </a:solidFill>
              <a:ln w="9525">
                <a:solidFill>
                  <a:schemeClr val="accent3"/>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0.00%</c:formatCode>
                <c:ptCount val="12"/>
                <c:pt idx="0">
                  <c:v>5.0359712230215826E-2</c:v>
                </c:pt>
                <c:pt idx="1">
                  <c:v>4.2801556420233464E-2</c:v>
                </c:pt>
                <c:pt idx="2">
                  <c:v>5.7142857142857141E-2</c:v>
                </c:pt>
                <c:pt idx="3">
                  <c:v>4.1095890410958902E-2</c:v>
                </c:pt>
                <c:pt idx="4">
                  <c:v>5.128205128205128E-2</c:v>
                </c:pt>
                <c:pt idx="5">
                  <c:v>8.5714285714285715E-2</c:v>
                </c:pt>
                <c:pt idx="6">
                  <c:v>4.82E-2</c:v>
                </c:pt>
                <c:pt idx="7">
                  <c:v>4.5499999999999999E-2</c:v>
                </c:pt>
                <c:pt idx="8">
                  <c:v>3.1800000000000002E-2</c:v>
                </c:pt>
                <c:pt idx="9">
                  <c:v>2.87E-2</c:v>
                </c:pt>
                <c:pt idx="10">
                  <c:v>2.0899999999999998E-2</c:v>
                </c:pt>
                <c:pt idx="11">
                  <c:v>5.91E-2</c:v>
                </c:pt>
              </c:numCache>
            </c:numRef>
          </c:val>
          <c:smooth val="0"/>
          <c:extLst>
            <c:ext xmlns:c16="http://schemas.microsoft.com/office/drawing/2014/chart" uri="{C3380CC4-5D6E-409C-BE32-E72D297353CC}">
              <c16:uniqueId val="{00000002-58B7-EC40-95AE-DE452B9AB4BA}"/>
            </c:ext>
          </c:extLst>
        </c:ser>
        <c:ser>
          <c:idx val="3"/>
          <c:order val="3"/>
          <c:tx>
            <c:strRef>
              <c:f>Sheet1!$E$1</c:f>
              <c:strCache>
                <c:ptCount val="1"/>
                <c:pt idx="0">
                  <c:v>IVECO</c:v>
                </c:pt>
              </c:strCache>
            </c:strRef>
          </c:tx>
          <c:spPr>
            <a:ln w="15875" cap="rnd">
              <a:solidFill>
                <a:schemeClr val="accent4"/>
              </a:solidFill>
              <a:round/>
            </a:ln>
            <a:effectLst/>
          </c:spPr>
          <c:marker>
            <c:symbol val="circle"/>
            <c:size val="4"/>
            <c:spPr>
              <a:solidFill>
                <a:schemeClr val="accent4"/>
              </a:solidFill>
              <a:ln w="9525">
                <a:solidFill>
                  <a:schemeClr val="accent4"/>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0.00%</c:formatCode>
                <c:ptCount val="12"/>
                <c:pt idx="0">
                  <c:v>2.8776978417266189E-2</c:v>
                </c:pt>
                <c:pt idx="1">
                  <c:v>3.5019455252918288E-2</c:v>
                </c:pt>
                <c:pt idx="2">
                  <c:v>4.2857142857142858E-2</c:v>
                </c:pt>
                <c:pt idx="3">
                  <c:v>6.8493150684931503E-2</c:v>
                </c:pt>
                <c:pt idx="4">
                  <c:v>4.6153846153846156E-2</c:v>
                </c:pt>
                <c:pt idx="5">
                  <c:v>3.3333333333333333E-2</c:v>
                </c:pt>
                <c:pt idx="6">
                  <c:v>2.1399999999999999E-2</c:v>
                </c:pt>
                <c:pt idx="7">
                  <c:v>5.6800000000000003E-2</c:v>
                </c:pt>
                <c:pt idx="8">
                  <c:v>1.8200000000000001E-2</c:v>
                </c:pt>
                <c:pt idx="9">
                  <c:v>3.5000000000000003E-2</c:v>
                </c:pt>
                <c:pt idx="10">
                  <c:v>1.7399999999999999E-2</c:v>
                </c:pt>
                <c:pt idx="11">
                  <c:v>5.91E-2</c:v>
                </c:pt>
              </c:numCache>
            </c:numRef>
          </c:val>
          <c:smooth val="0"/>
          <c:extLst>
            <c:ext xmlns:c16="http://schemas.microsoft.com/office/drawing/2014/chart" uri="{C3380CC4-5D6E-409C-BE32-E72D297353CC}">
              <c16:uniqueId val="{00000008-7A19-1C4C-A80F-D2B5FA1B33A9}"/>
            </c:ext>
          </c:extLst>
        </c:ser>
        <c:ser>
          <c:idx val="4"/>
          <c:order val="4"/>
          <c:tx>
            <c:strRef>
              <c:f>Sheet1!$F$1</c:f>
              <c:strCache>
                <c:ptCount val="1"/>
                <c:pt idx="0">
                  <c:v>MAN</c:v>
                </c:pt>
              </c:strCache>
            </c:strRef>
          </c:tx>
          <c:spPr>
            <a:ln w="15875" cap="rnd">
              <a:solidFill>
                <a:schemeClr val="accent5"/>
              </a:solidFill>
              <a:round/>
            </a:ln>
            <a:effectLst/>
          </c:spPr>
          <c:marker>
            <c:symbol val="circle"/>
            <c:size val="4"/>
            <c:spPr>
              <a:solidFill>
                <a:schemeClr val="accent5"/>
              </a:solidFill>
              <a:ln w="9525">
                <a:solidFill>
                  <a:schemeClr val="accent5"/>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Sheet1!$F$2:$F$13</c:f>
              <c:numCache>
                <c:formatCode>0.00%</c:formatCode>
                <c:ptCount val="12"/>
                <c:pt idx="0">
                  <c:v>0.16187050359712229</c:v>
                </c:pt>
                <c:pt idx="1">
                  <c:v>9.727626459143969E-2</c:v>
                </c:pt>
                <c:pt idx="2">
                  <c:v>4.7619047619047616E-2</c:v>
                </c:pt>
                <c:pt idx="3">
                  <c:v>1.8264840182648401E-2</c:v>
                </c:pt>
                <c:pt idx="4">
                  <c:v>2.0512820512820513E-2</c:v>
                </c:pt>
                <c:pt idx="5">
                  <c:v>0.14761904761904762</c:v>
                </c:pt>
                <c:pt idx="6">
                  <c:v>9.2399999999999996E-2</c:v>
                </c:pt>
                <c:pt idx="7">
                  <c:v>2.8400000000000002E-2</c:v>
                </c:pt>
                <c:pt idx="8">
                  <c:v>3.1800000000000002E-2</c:v>
                </c:pt>
                <c:pt idx="9">
                  <c:v>4.4600000000000001E-2</c:v>
                </c:pt>
                <c:pt idx="10">
                  <c:v>2.0899999999999998E-2</c:v>
                </c:pt>
                <c:pt idx="11">
                  <c:v>0.13980000000000001</c:v>
                </c:pt>
              </c:numCache>
            </c:numRef>
          </c:val>
          <c:smooth val="0"/>
          <c:extLst>
            <c:ext xmlns:c16="http://schemas.microsoft.com/office/drawing/2014/chart" uri="{C3380CC4-5D6E-409C-BE32-E72D297353CC}">
              <c16:uniqueId val="{00000009-7A19-1C4C-A80F-D2B5FA1B33A9}"/>
            </c:ext>
          </c:extLst>
        </c:ser>
        <c:ser>
          <c:idx val="5"/>
          <c:order val="5"/>
          <c:tx>
            <c:strRef>
              <c:f>Sheet1!$G$1</c:f>
              <c:strCache>
                <c:ptCount val="1"/>
                <c:pt idx="0">
                  <c:v>MERCEDES</c:v>
                </c:pt>
              </c:strCache>
            </c:strRef>
          </c:tx>
          <c:spPr>
            <a:ln w="15875" cap="rnd">
              <a:solidFill>
                <a:schemeClr val="accent6"/>
              </a:solidFill>
              <a:round/>
            </a:ln>
            <a:effectLst/>
          </c:spPr>
          <c:marker>
            <c:symbol val="circle"/>
            <c:size val="4"/>
            <c:spPr>
              <a:solidFill>
                <a:schemeClr val="accent6"/>
              </a:solidFill>
              <a:ln w="9525">
                <a:solidFill>
                  <a:schemeClr val="accent6"/>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Sheet1!$G$2:$G$13</c:f>
              <c:numCache>
                <c:formatCode>0.00%</c:formatCode>
                <c:ptCount val="12"/>
                <c:pt idx="0">
                  <c:v>4.6762589928057555E-2</c:v>
                </c:pt>
                <c:pt idx="1">
                  <c:v>5.0583657587548639E-2</c:v>
                </c:pt>
                <c:pt idx="2">
                  <c:v>3.3333333333333333E-2</c:v>
                </c:pt>
                <c:pt idx="3">
                  <c:v>8.2191780821917804E-2</c:v>
                </c:pt>
                <c:pt idx="4">
                  <c:v>7.6923076923076927E-2</c:v>
                </c:pt>
                <c:pt idx="5">
                  <c:v>7.6190476190476197E-2</c:v>
                </c:pt>
                <c:pt idx="6">
                  <c:v>8.43E-2</c:v>
                </c:pt>
                <c:pt idx="7">
                  <c:v>4.5499999999999999E-2</c:v>
                </c:pt>
                <c:pt idx="8">
                  <c:v>7.2700000000000001E-2</c:v>
                </c:pt>
                <c:pt idx="9">
                  <c:v>0.12740000000000001</c:v>
                </c:pt>
                <c:pt idx="10">
                  <c:v>8.0100000000000005E-2</c:v>
                </c:pt>
                <c:pt idx="11">
                  <c:v>5.3800000000000001E-2</c:v>
                </c:pt>
              </c:numCache>
            </c:numRef>
          </c:val>
          <c:smooth val="0"/>
          <c:extLst>
            <c:ext xmlns:c16="http://schemas.microsoft.com/office/drawing/2014/chart" uri="{C3380CC4-5D6E-409C-BE32-E72D297353CC}">
              <c16:uniqueId val="{0000000A-7A19-1C4C-A80F-D2B5FA1B33A9}"/>
            </c:ext>
          </c:extLst>
        </c:ser>
        <c:ser>
          <c:idx val="6"/>
          <c:order val="6"/>
          <c:tx>
            <c:strRef>
              <c:f>Sheet1!$H$1</c:f>
              <c:strCache>
                <c:ptCount val="1"/>
                <c:pt idx="0">
                  <c:v>YUTONG</c:v>
                </c:pt>
              </c:strCache>
            </c:strRef>
          </c:tx>
          <c:spPr>
            <a:ln w="28575" cap="rnd">
              <a:solidFill>
                <a:schemeClr val="accent1">
                  <a:lumMod val="60000"/>
                </a:schemeClr>
              </a:solidFill>
              <a:round/>
            </a:ln>
            <a:effectLst/>
          </c:spPr>
          <c:marker>
            <c:symbol val="circle"/>
            <c:size val="5"/>
            <c:spPr>
              <a:solidFill>
                <a:srgbClr val="FF0000"/>
              </a:solidFill>
              <a:ln w="9525">
                <a:solidFill>
                  <a:srgbClr val="FF0000"/>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Sheet1!$H$2:$H$13</c:f>
              <c:numCache>
                <c:formatCode>0.00%</c:formatCode>
                <c:ptCount val="12"/>
                <c:pt idx="0">
                  <c:v>0</c:v>
                </c:pt>
                <c:pt idx="1">
                  <c:v>0</c:v>
                </c:pt>
                <c:pt idx="2">
                  <c:v>0</c:v>
                </c:pt>
                <c:pt idx="3">
                  <c:v>0</c:v>
                </c:pt>
                <c:pt idx="4">
                  <c:v>0</c:v>
                </c:pt>
                <c:pt idx="5">
                  <c:v>0</c:v>
                </c:pt>
                <c:pt idx="6">
                  <c:v>7.1999999999999998E-3</c:v>
                </c:pt>
                <c:pt idx="7">
                  <c:v>0</c:v>
                </c:pt>
                <c:pt idx="8">
                  <c:v>0</c:v>
                </c:pt>
                <c:pt idx="9">
                  <c:v>0</c:v>
                </c:pt>
                <c:pt idx="10">
                  <c:v>7.1999999999999998E-3</c:v>
                </c:pt>
                <c:pt idx="11">
                  <c:v>0</c:v>
                </c:pt>
              </c:numCache>
            </c:numRef>
          </c:val>
          <c:smooth val="0"/>
          <c:extLst>
            <c:ext xmlns:c16="http://schemas.microsoft.com/office/drawing/2014/chart" uri="{C3380CC4-5D6E-409C-BE32-E72D297353CC}">
              <c16:uniqueId val="{0000000B-7A19-1C4C-A80F-D2B5FA1B33A9}"/>
            </c:ext>
          </c:extLst>
        </c:ser>
        <c:ser>
          <c:idx val="7"/>
          <c:order val="7"/>
          <c:tx>
            <c:strRef>
              <c:f>Sheet1!$I$1</c:f>
              <c:strCache>
                <c:ptCount val="1"/>
                <c:pt idx="0">
                  <c:v>ISUZU</c:v>
                </c:pt>
              </c:strCache>
            </c:strRef>
          </c:tx>
          <c:spPr>
            <a:ln w="28575" cap="rnd">
              <a:solidFill>
                <a:srgbClr val="FF0000"/>
              </a:solidFill>
              <a:round/>
            </a:ln>
            <a:effectLst/>
          </c:spPr>
          <c:marker>
            <c:symbol val="circle"/>
            <c:size val="5"/>
            <c:spPr>
              <a:solidFill>
                <a:srgbClr val="FF0000"/>
              </a:solidFill>
              <a:ln w="9525">
                <a:solidFill>
                  <a:srgbClr val="FF0000"/>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Sheet1!$I$2:$I$13</c:f>
              <c:numCache>
                <c:formatCode>0.00%</c:formatCode>
                <c:ptCount val="12"/>
                <c:pt idx="0">
                  <c:v>0.21223021582733814</c:v>
                </c:pt>
                <c:pt idx="1">
                  <c:v>0.15953307392996108</c:v>
                </c:pt>
                <c:pt idx="2">
                  <c:v>0.39047619047619048</c:v>
                </c:pt>
                <c:pt idx="3">
                  <c:v>0.41552511415525112</c:v>
                </c:pt>
                <c:pt idx="4">
                  <c:v>0.3282051282051282</c:v>
                </c:pt>
                <c:pt idx="5">
                  <c:v>0.23809523809523808</c:v>
                </c:pt>
                <c:pt idx="6">
                  <c:v>0.30919999999999997</c:v>
                </c:pt>
                <c:pt idx="7">
                  <c:v>0.4602</c:v>
                </c:pt>
                <c:pt idx="8">
                  <c:v>0.32269999999999999</c:v>
                </c:pt>
                <c:pt idx="9">
                  <c:v>0.22289999999999999</c:v>
                </c:pt>
                <c:pt idx="10">
                  <c:v>0.23</c:v>
                </c:pt>
                <c:pt idx="11">
                  <c:v>0.49459999999999998</c:v>
                </c:pt>
              </c:numCache>
            </c:numRef>
          </c:val>
          <c:smooth val="0"/>
          <c:extLst>
            <c:ext xmlns:c16="http://schemas.microsoft.com/office/drawing/2014/chart" uri="{C3380CC4-5D6E-409C-BE32-E72D297353CC}">
              <c16:uniqueId val="{00000000-62D5-CC49-A29C-2B4EAA5CA0AE}"/>
            </c:ext>
          </c:extLst>
        </c:ser>
        <c:dLbls>
          <c:showLegendKey val="0"/>
          <c:showVal val="0"/>
          <c:showCatName val="0"/>
          <c:showSerName val="0"/>
          <c:showPercent val="0"/>
          <c:showBubbleSize val="0"/>
        </c:dLbls>
        <c:marker val="1"/>
        <c:smooth val="0"/>
        <c:axId val="2044270863"/>
        <c:axId val="2043945903"/>
      </c:lineChart>
      <c:catAx>
        <c:axId val="1122261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1122086448"/>
        <c:crosses val="autoZero"/>
        <c:auto val="1"/>
        <c:lblAlgn val="ctr"/>
        <c:lblOffset val="100"/>
        <c:noMultiLvlLbl val="0"/>
      </c:catAx>
      <c:valAx>
        <c:axId val="11220864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r>
                  <a:rPr lang="en-GB" sz="800" noProof="0" dirty="0">
                    <a:solidFill>
                      <a:srgbClr val="344251"/>
                    </a:solidFill>
                  </a:rPr>
                  <a:t>Total Units</a:t>
                </a:r>
              </a:p>
            </c:rich>
          </c:tx>
          <c:layout>
            <c:manualLayout>
              <c:xMode val="edge"/>
              <c:yMode val="edge"/>
              <c:x val="6.7216119029724977E-3"/>
              <c:y val="0.30630596600377735"/>
            </c:manualLayout>
          </c:layout>
          <c:overlay val="0"/>
          <c:spPr>
            <a:noFill/>
            <a:ln>
              <a:noFill/>
            </a:ln>
            <a:effectLst/>
          </c:spPr>
          <c:txPr>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1122261568"/>
        <c:crosses val="autoZero"/>
        <c:crossBetween val="between"/>
      </c:valAx>
      <c:valAx>
        <c:axId val="2043945903"/>
        <c:scaling>
          <c:orientation val="minMax"/>
        </c:scaling>
        <c:delete val="0"/>
        <c:axPos val="r"/>
        <c:title>
          <c:tx>
            <c:rich>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r>
                  <a:rPr lang="en-GB" sz="800" noProof="0" dirty="0">
                    <a:solidFill>
                      <a:srgbClr val="344251"/>
                    </a:solidFill>
                  </a:rPr>
                  <a:t>% Market Share</a:t>
                </a:r>
              </a:p>
            </c:rich>
          </c:tx>
          <c:overlay val="0"/>
          <c:spPr>
            <a:noFill/>
            <a:ln>
              <a:noFill/>
            </a:ln>
            <a:effectLst/>
          </c:spPr>
          <c:txPr>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2044270863"/>
        <c:crosses val="max"/>
        <c:crossBetween val="between"/>
      </c:valAx>
      <c:catAx>
        <c:axId val="2044270863"/>
        <c:scaling>
          <c:orientation val="minMax"/>
        </c:scaling>
        <c:delete val="1"/>
        <c:axPos val="b"/>
        <c:numFmt formatCode="General" sourceLinked="1"/>
        <c:majorTickMark val="out"/>
        <c:minorTickMark val="none"/>
        <c:tickLblPos val="nextTo"/>
        <c:crossAx val="204394590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405C8B"/>
      </a:solidFill>
    </a:ln>
    <a:effectLst/>
  </c:spPr>
  <c:txPr>
    <a:bodyPr/>
    <a:lstStyle/>
    <a:p>
      <a:pPr>
        <a:defRPr/>
      </a:pPr>
      <a:endParaRPr lang="ja-JP"/>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r>
              <a:rPr lang="en-GB" sz="1000" noProof="0" dirty="0">
                <a:solidFill>
                  <a:srgbClr val="344251"/>
                </a:solidFill>
              </a:rPr>
              <a:t>10t-14t Chassis Cab CY25</a:t>
            </a:r>
          </a:p>
        </c:rich>
      </c:tx>
      <c:overlay val="0"/>
      <c:spPr>
        <a:noFill/>
        <a:ln>
          <a:noFill/>
        </a:ln>
        <a:effectLst/>
      </c:spPr>
      <c:txPr>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endParaRPr lang="ja-JP"/>
        </a:p>
      </c:txPr>
    </c:title>
    <c:autoTitleDeleted val="0"/>
    <c:plotArea>
      <c:layout>
        <c:manualLayout>
          <c:layoutTarget val="inner"/>
          <c:xMode val="edge"/>
          <c:yMode val="edge"/>
          <c:x val="9.112299918084088E-2"/>
          <c:y val="0.15866181535384957"/>
          <c:w val="0.8307635730634263"/>
          <c:h val="0.60030163315187202"/>
        </c:manualLayout>
      </c:layout>
      <c:barChart>
        <c:barDir val="col"/>
        <c:grouping val="clustered"/>
        <c:varyColors val="0"/>
        <c:ser>
          <c:idx val="0"/>
          <c:order val="0"/>
          <c:tx>
            <c:strRef>
              <c:f>Sheet1!$B$1</c:f>
              <c:strCache>
                <c:ptCount val="1"/>
                <c:pt idx="0">
                  <c:v>TOTAL</c:v>
                </c:pt>
              </c:strCache>
            </c:strRef>
          </c:tx>
          <c:spPr>
            <a:solidFill>
              <a:srgbClr val="9DA5AE">
                <a:alpha val="50000"/>
              </a:srgbClr>
            </a:solidFill>
            <a:ln>
              <a:noFill/>
            </a:ln>
            <a:effectLst/>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c:formatCode>
                <c:ptCount val="12"/>
                <c:pt idx="0">
                  <c:v>161</c:v>
                </c:pt>
                <c:pt idx="1">
                  <c:v>141</c:v>
                </c:pt>
                <c:pt idx="2">
                  <c:v>263</c:v>
                </c:pt>
                <c:pt idx="3">
                  <c:v>208</c:v>
                </c:pt>
                <c:pt idx="4">
                  <c:v>179</c:v>
                </c:pt>
                <c:pt idx="5">
                  <c:v>161</c:v>
                </c:pt>
                <c:pt idx="6">
                  <c:v>149</c:v>
                </c:pt>
                <c:pt idx="7">
                  <c:v>130</c:v>
                </c:pt>
                <c:pt idx="8">
                  <c:v>256</c:v>
                </c:pt>
                <c:pt idx="9">
                  <c:v>213</c:v>
                </c:pt>
                <c:pt idx="10">
                  <c:v>216</c:v>
                </c:pt>
                <c:pt idx="11">
                  <c:v>165</c:v>
                </c:pt>
              </c:numCache>
            </c:numRef>
          </c:val>
          <c:extLst>
            <c:ext xmlns:c16="http://schemas.microsoft.com/office/drawing/2014/chart" uri="{C3380CC4-5D6E-409C-BE32-E72D297353CC}">
              <c16:uniqueId val="{00000000-CFBA-2D48-ACE7-7E0394306DFF}"/>
            </c:ext>
          </c:extLst>
        </c:ser>
        <c:dLbls>
          <c:showLegendKey val="0"/>
          <c:showVal val="0"/>
          <c:showCatName val="0"/>
          <c:showSerName val="0"/>
          <c:showPercent val="0"/>
          <c:showBubbleSize val="0"/>
        </c:dLbls>
        <c:gapWidth val="219"/>
        <c:overlap val="-27"/>
        <c:axId val="1122261568"/>
        <c:axId val="1122086448"/>
      </c:barChart>
      <c:lineChart>
        <c:grouping val="standard"/>
        <c:varyColors val="0"/>
        <c:ser>
          <c:idx val="1"/>
          <c:order val="1"/>
          <c:tx>
            <c:strRef>
              <c:f>Sheet1!$C$1</c:f>
              <c:strCache>
                <c:ptCount val="1"/>
                <c:pt idx="0">
                  <c:v>DAF</c:v>
                </c:pt>
              </c:strCache>
            </c:strRef>
          </c:tx>
          <c:spPr>
            <a:ln w="15875" cap="rnd">
              <a:solidFill>
                <a:schemeClr val="accent2"/>
              </a:solidFill>
              <a:round/>
            </a:ln>
            <a:effectLst/>
          </c:spPr>
          <c:marker>
            <c:symbol val="circle"/>
            <c:size val="4"/>
            <c:spPr>
              <a:solidFill>
                <a:schemeClr val="accent2"/>
              </a:solidFill>
              <a:ln w="9525">
                <a:solidFill>
                  <a:schemeClr val="accent2"/>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0.00%</c:formatCode>
                <c:ptCount val="12"/>
                <c:pt idx="0">
                  <c:v>0.6149068322981367</c:v>
                </c:pt>
                <c:pt idx="1">
                  <c:v>0.51063829787234039</c:v>
                </c:pt>
                <c:pt idx="2">
                  <c:v>0.34600760456273766</c:v>
                </c:pt>
                <c:pt idx="3">
                  <c:v>0.67307692307692313</c:v>
                </c:pt>
                <c:pt idx="4">
                  <c:v>0.65363128491620115</c:v>
                </c:pt>
                <c:pt idx="5">
                  <c:v>0.72049689440993792</c:v>
                </c:pt>
                <c:pt idx="6">
                  <c:v>0.45639999999999997</c:v>
                </c:pt>
                <c:pt idx="7">
                  <c:v>0.5615</c:v>
                </c:pt>
                <c:pt idx="8">
                  <c:v>0.64059999999999995</c:v>
                </c:pt>
                <c:pt idx="9">
                  <c:v>0.64790000000000003</c:v>
                </c:pt>
                <c:pt idx="10">
                  <c:v>0.60650000000000004</c:v>
                </c:pt>
                <c:pt idx="11">
                  <c:v>0.69699999999999995</c:v>
                </c:pt>
              </c:numCache>
            </c:numRef>
          </c:val>
          <c:smooth val="0"/>
          <c:extLst>
            <c:ext xmlns:c16="http://schemas.microsoft.com/office/drawing/2014/chart" uri="{C3380CC4-5D6E-409C-BE32-E72D297353CC}">
              <c16:uniqueId val="{00000001-CFBA-2D48-ACE7-7E0394306DFF}"/>
            </c:ext>
          </c:extLst>
        </c:ser>
        <c:ser>
          <c:idx val="2"/>
          <c:order val="2"/>
          <c:tx>
            <c:strRef>
              <c:f>Sheet1!$D$1</c:f>
              <c:strCache>
                <c:ptCount val="1"/>
                <c:pt idx="0">
                  <c:v>IVECO</c:v>
                </c:pt>
              </c:strCache>
            </c:strRef>
          </c:tx>
          <c:spPr>
            <a:ln w="15875" cap="rnd">
              <a:solidFill>
                <a:schemeClr val="accent3"/>
              </a:solidFill>
              <a:round/>
            </a:ln>
            <a:effectLst/>
          </c:spPr>
          <c:marker>
            <c:symbol val="circle"/>
            <c:size val="4"/>
            <c:spPr>
              <a:solidFill>
                <a:schemeClr val="accent3"/>
              </a:solidFill>
              <a:ln w="9525">
                <a:solidFill>
                  <a:schemeClr val="accent3"/>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0.00%</c:formatCode>
                <c:ptCount val="12"/>
                <c:pt idx="0">
                  <c:v>6.2111801242236024E-2</c:v>
                </c:pt>
                <c:pt idx="1">
                  <c:v>7.8014184397163122E-2</c:v>
                </c:pt>
                <c:pt idx="2">
                  <c:v>0.23954372623574144</c:v>
                </c:pt>
                <c:pt idx="3">
                  <c:v>7.6923076923076927E-2</c:v>
                </c:pt>
                <c:pt idx="4">
                  <c:v>3.3519553072625698E-2</c:v>
                </c:pt>
                <c:pt idx="5">
                  <c:v>4.9689440993788817E-2</c:v>
                </c:pt>
                <c:pt idx="6">
                  <c:v>1.34E-2</c:v>
                </c:pt>
                <c:pt idx="7">
                  <c:v>3.85E-2</c:v>
                </c:pt>
                <c:pt idx="8">
                  <c:v>2.3400000000000001E-2</c:v>
                </c:pt>
                <c:pt idx="9">
                  <c:v>3.2899999999999999E-2</c:v>
                </c:pt>
                <c:pt idx="10">
                  <c:v>3.6999999999999998E-2</c:v>
                </c:pt>
                <c:pt idx="11">
                  <c:v>1.8200000000000001E-2</c:v>
                </c:pt>
              </c:numCache>
            </c:numRef>
          </c:val>
          <c:smooth val="0"/>
          <c:extLst>
            <c:ext xmlns:c16="http://schemas.microsoft.com/office/drawing/2014/chart" uri="{C3380CC4-5D6E-409C-BE32-E72D297353CC}">
              <c16:uniqueId val="{00000002-CFBA-2D48-ACE7-7E0394306DFF}"/>
            </c:ext>
          </c:extLst>
        </c:ser>
        <c:ser>
          <c:idx val="3"/>
          <c:order val="3"/>
          <c:tx>
            <c:strRef>
              <c:f>Sheet1!$E$1</c:f>
              <c:strCache>
                <c:ptCount val="1"/>
                <c:pt idx="0">
                  <c:v>MAN</c:v>
                </c:pt>
              </c:strCache>
            </c:strRef>
          </c:tx>
          <c:spPr>
            <a:ln w="15875" cap="rnd">
              <a:solidFill>
                <a:schemeClr val="accent4"/>
              </a:solidFill>
              <a:round/>
            </a:ln>
            <a:effectLst/>
          </c:spPr>
          <c:marker>
            <c:symbol val="circle"/>
            <c:size val="4"/>
            <c:spPr>
              <a:solidFill>
                <a:schemeClr val="accent4"/>
              </a:solidFill>
              <a:ln w="9525">
                <a:solidFill>
                  <a:schemeClr val="accent4"/>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0.00%</c:formatCode>
                <c:ptCount val="12"/>
                <c:pt idx="0">
                  <c:v>1.2422360248447204E-2</c:v>
                </c:pt>
                <c:pt idx="1">
                  <c:v>2.8368794326241134E-2</c:v>
                </c:pt>
                <c:pt idx="2">
                  <c:v>7.9847908745247151E-2</c:v>
                </c:pt>
                <c:pt idx="3">
                  <c:v>5.7692307692307696E-2</c:v>
                </c:pt>
                <c:pt idx="4">
                  <c:v>6.7039106145251395E-2</c:v>
                </c:pt>
                <c:pt idx="5">
                  <c:v>4.3478260869565216E-2</c:v>
                </c:pt>
                <c:pt idx="6">
                  <c:v>0.1074</c:v>
                </c:pt>
                <c:pt idx="7">
                  <c:v>0.1</c:v>
                </c:pt>
                <c:pt idx="8">
                  <c:v>0.16020000000000001</c:v>
                </c:pt>
                <c:pt idx="9">
                  <c:v>0.15959999999999999</c:v>
                </c:pt>
                <c:pt idx="10">
                  <c:v>0.15279999999999999</c:v>
                </c:pt>
                <c:pt idx="11">
                  <c:v>8.48E-2</c:v>
                </c:pt>
              </c:numCache>
            </c:numRef>
          </c:val>
          <c:smooth val="0"/>
          <c:extLst>
            <c:ext xmlns:c16="http://schemas.microsoft.com/office/drawing/2014/chart" uri="{C3380CC4-5D6E-409C-BE32-E72D297353CC}">
              <c16:uniqueId val="{00000000-D890-0E4A-AF02-7FDFE345A4D7}"/>
            </c:ext>
          </c:extLst>
        </c:ser>
        <c:ser>
          <c:idx val="4"/>
          <c:order val="4"/>
          <c:tx>
            <c:strRef>
              <c:f>Sheet1!$F$1</c:f>
              <c:strCache>
                <c:ptCount val="1"/>
                <c:pt idx="0">
                  <c:v>MERCEDES</c:v>
                </c:pt>
              </c:strCache>
            </c:strRef>
          </c:tx>
          <c:spPr>
            <a:ln w="15875" cap="rnd">
              <a:solidFill>
                <a:schemeClr val="accent5"/>
              </a:solidFill>
              <a:round/>
            </a:ln>
            <a:effectLst/>
          </c:spPr>
          <c:marker>
            <c:symbol val="circle"/>
            <c:size val="4"/>
            <c:spPr>
              <a:solidFill>
                <a:schemeClr val="accent5"/>
              </a:solidFill>
              <a:ln w="9525">
                <a:solidFill>
                  <a:schemeClr val="accent5"/>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Sheet1!$F$2:$F$13</c:f>
              <c:numCache>
                <c:formatCode>0.00%</c:formatCode>
                <c:ptCount val="12"/>
                <c:pt idx="0">
                  <c:v>8.6956521739130432E-2</c:v>
                </c:pt>
                <c:pt idx="1">
                  <c:v>0.1702127659574468</c:v>
                </c:pt>
                <c:pt idx="2">
                  <c:v>0.19771863117870722</c:v>
                </c:pt>
                <c:pt idx="3">
                  <c:v>9.6153846153846159E-2</c:v>
                </c:pt>
                <c:pt idx="4">
                  <c:v>0.11173184357541899</c:v>
                </c:pt>
                <c:pt idx="5">
                  <c:v>5.5900621118012424E-2</c:v>
                </c:pt>
                <c:pt idx="6">
                  <c:v>0.15440000000000001</c:v>
                </c:pt>
                <c:pt idx="7">
                  <c:v>5.3800000000000001E-2</c:v>
                </c:pt>
                <c:pt idx="8">
                  <c:v>8.9800000000000005E-2</c:v>
                </c:pt>
                <c:pt idx="9">
                  <c:v>7.9799999999999996E-2</c:v>
                </c:pt>
                <c:pt idx="10">
                  <c:v>6.4799999999999996E-2</c:v>
                </c:pt>
                <c:pt idx="11">
                  <c:v>9.7000000000000003E-2</c:v>
                </c:pt>
              </c:numCache>
            </c:numRef>
          </c:val>
          <c:smooth val="0"/>
          <c:extLst>
            <c:ext xmlns:c16="http://schemas.microsoft.com/office/drawing/2014/chart" uri="{C3380CC4-5D6E-409C-BE32-E72D297353CC}">
              <c16:uniqueId val="{00000001-D890-0E4A-AF02-7FDFE345A4D7}"/>
            </c:ext>
          </c:extLst>
        </c:ser>
        <c:ser>
          <c:idx val="5"/>
          <c:order val="5"/>
          <c:tx>
            <c:strRef>
              <c:f>Sheet1!$G$1</c:f>
              <c:strCache>
                <c:ptCount val="1"/>
                <c:pt idx="0">
                  <c:v>RENAULT</c:v>
                </c:pt>
              </c:strCache>
            </c:strRef>
          </c:tx>
          <c:spPr>
            <a:ln w="15875" cap="rnd">
              <a:solidFill>
                <a:schemeClr val="accent6"/>
              </a:solidFill>
              <a:round/>
            </a:ln>
            <a:effectLst/>
          </c:spPr>
          <c:marker>
            <c:symbol val="circle"/>
            <c:size val="4"/>
            <c:spPr>
              <a:solidFill>
                <a:schemeClr val="accent6"/>
              </a:solidFill>
              <a:ln w="9525">
                <a:solidFill>
                  <a:schemeClr val="accent6"/>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Sheet1!$G$2:$G$13</c:f>
              <c:numCache>
                <c:formatCode>0.00%</c:formatCode>
                <c:ptCount val="12"/>
                <c:pt idx="0">
                  <c:v>4.3478260869565216E-2</c:v>
                </c:pt>
                <c:pt idx="1">
                  <c:v>7.8014184397163122E-2</c:v>
                </c:pt>
                <c:pt idx="2">
                  <c:v>1.9011406844106463E-2</c:v>
                </c:pt>
                <c:pt idx="3">
                  <c:v>9.6153846153846159E-3</c:v>
                </c:pt>
                <c:pt idx="4">
                  <c:v>1.11731843575419E-2</c:v>
                </c:pt>
                <c:pt idx="5">
                  <c:v>2.4844720496894408E-2</c:v>
                </c:pt>
                <c:pt idx="6">
                  <c:v>8.0500000000000002E-2</c:v>
                </c:pt>
                <c:pt idx="7">
                  <c:v>5.3800000000000001E-2</c:v>
                </c:pt>
                <c:pt idx="8">
                  <c:v>4.2999999999999997E-2</c:v>
                </c:pt>
                <c:pt idx="9">
                  <c:v>3.2899999999999999E-2</c:v>
                </c:pt>
                <c:pt idx="10">
                  <c:v>1.8499999999999999E-2</c:v>
                </c:pt>
                <c:pt idx="11">
                  <c:v>4.24E-2</c:v>
                </c:pt>
              </c:numCache>
            </c:numRef>
          </c:val>
          <c:smooth val="0"/>
          <c:extLst>
            <c:ext xmlns:c16="http://schemas.microsoft.com/office/drawing/2014/chart" uri="{C3380CC4-5D6E-409C-BE32-E72D297353CC}">
              <c16:uniqueId val="{00000002-D890-0E4A-AF02-7FDFE345A4D7}"/>
            </c:ext>
          </c:extLst>
        </c:ser>
        <c:ser>
          <c:idx val="6"/>
          <c:order val="6"/>
          <c:tx>
            <c:strRef>
              <c:f>Sheet1!$H$1</c:f>
              <c:strCache>
                <c:ptCount val="1"/>
                <c:pt idx="0">
                  <c:v>VOLVO</c:v>
                </c:pt>
              </c:strCache>
            </c:strRef>
          </c:tx>
          <c:spPr>
            <a:ln w="15875" cap="rnd">
              <a:solidFill>
                <a:schemeClr val="accent1">
                  <a:lumMod val="60000"/>
                </a:schemeClr>
              </a:solidFill>
              <a:round/>
            </a:ln>
            <a:effectLst/>
          </c:spPr>
          <c:marker>
            <c:symbol val="circle"/>
            <c:size val="4"/>
            <c:spPr>
              <a:solidFill>
                <a:schemeClr val="accent1">
                  <a:lumMod val="60000"/>
                </a:schemeClr>
              </a:solidFill>
              <a:ln w="9525">
                <a:solidFill>
                  <a:schemeClr val="accent1">
                    <a:lumMod val="60000"/>
                  </a:schemeClr>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Sheet1!$H$2:$H$13</c:f>
              <c:numCache>
                <c:formatCode>0.00%</c:formatCode>
                <c:ptCount val="12"/>
                <c:pt idx="0">
                  <c:v>8.6956521739130432E-2</c:v>
                </c:pt>
                <c:pt idx="1">
                  <c:v>9.2198581560283682E-2</c:v>
                </c:pt>
                <c:pt idx="2">
                  <c:v>7.6045627376425853E-2</c:v>
                </c:pt>
                <c:pt idx="3">
                  <c:v>6.7307692307692304E-2</c:v>
                </c:pt>
                <c:pt idx="4">
                  <c:v>9.4972067039106142E-2</c:v>
                </c:pt>
                <c:pt idx="5">
                  <c:v>4.9689440993788817E-2</c:v>
                </c:pt>
                <c:pt idx="6">
                  <c:v>0.1208</c:v>
                </c:pt>
                <c:pt idx="7">
                  <c:v>3.85E-2</c:v>
                </c:pt>
                <c:pt idx="8">
                  <c:v>2.3400000000000001E-2</c:v>
                </c:pt>
                <c:pt idx="9">
                  <c:v>2.35E-2</c:v>
                </c:pt>
                <c:pt idx="10">
                  <c:v>4.6300000000000001E-2</c:v>
                </c:pt>
                <c:pt idx="11">
                  <c:v>1.8200000000000001E-2</c:v>
                </c:pt>
              </c:numCache>
            </c:numRef>
          </c:val>
          <c:smooth val="0"/>
          <c:extLst>
            <c:ext xmlns:c16="http://schemas.microsoft.com/office/drawing/2014/chart" uri="{C3380CC4-5D6E-409C-BE32-E72D297353CC}">
              <c16:uniqueId val="{00000003-D890-0E4A-AF02-7FDFE345A4D7}"/>
            </c:ext>
          </c:extLst>
        </c:ser>
        <c:ser>
          <c:idx val="7"/>
          <c:order val="7"/>
          <c:tx>
            <c:strRef>
              <c:f>Sheet1!$I$1</c:f>
              <c:strCache>
                <c:ptCount val="1"/>
                <c:pt idx="0">
                  <c:v>ISUZU</c:v>
                </c:pt>
              </c:strCache>
            </c:strRef>
          </c:tx>
          <c:spPr>
            <a:ln w="28575" cap="rnd">
              <a:solidFill>
                <a:srgbClr val="FF0000"/>
              </a:solidFill>
              <a:round/>
            </a:ln>
            <a:effectLst/>
          </c:spPr>
          <c:marker>
            <c:symbol val="circle"/>
            <c:size val="5"/>
            <c:spPr>
              <a:solidFill>
                <a:srgbClr val="FF0000"/>
              </a:solidFill>
              <a:ln w="9525">
                <a:solidFill>
                  <a:srgbClr val="FF0000"/>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Sheet1!$I$2:$I$13</c:f>
              <c:numCache>
                <c:formatCode>0.00%</c:formatCode>
                <c:ptCount val="12"/>
                <c:pt idx="0">
                  <c:v>9.3167701863354033E-2</c:v>
                </c:pt>
                <c:pt idx="1">
                  <c:v>4.2553191489361701E-2</c:v>
                </c:pt>
                <c:pt idx="2">
                  <c:v>4.1825095057034217E-2</c:v>
                </c:pt>
                <c:pt idx="3">
                  <c:v>1.9230769230769232E-2</c:v>
                </c:pt>
                <c:pt idx="4">
                  <c:v>2.7932960893854747E-2</c:v>
                </c:pt>
                <c:pt idx="5">
                  <c:v>5.5900621118012424E-2</c:v>
                </c:pt>
                <c:pt idx="6">
                  <c:v>6.7100000000000007E-2</c:v>
                </c:pt>
                <c:pt idx="7">
                  <c:v>0.15379999999999999</c:v>
                </c:pt>
                <c:pt idx="8">
                  <c:v>1.95E-2</c:v>
                </c:pt>
                <c:pt idx="9">
                  <c:v>2.35E-2</c:v>
                </c:pt>
                <c:pt idx="10">
                  <c:v>7.4099999999999999E-2</c:v>
                </c:pt>
                <c:pt idx="11">
                  <c:v>4.24E-2</c:v>
                </c:pt>
              </c:numCache>
            </c:numRef>
          </c:val>
          <c:smooth val="0"/>
          <c:extLst>
            <c:ext xmlns:c16="http://schemas.microsoft.com/office/drawing/2014/chart" uri="{C3380CC4-5D6E-409C-BE32-E72D297353CC}">
              <c16:uniqueId val="{00000005-D890-0E4A-AF02-7FDFE345A4D7}"/>
            </c:ext>
          </c:extLst>
        </c:ser>
        <c:dLbls>
          <c:showLegendKey val="0"/>
          <c:showVal val="0"/>
          <c:showCatName val="0"/>
          <c:showSerName val="0"/>
          <c:showPercent val="0"/>
          <c:showBubbleSize val="0"/>
        </c:dLbls>
        <c:marker val="1"/>
        <c:smooth val="0"/>
        <c:axId val="2057603216"/>
        <c:axId val="2057934384"/>
      </c:lineChart>
      <c:catAx>
        <c:axId val="1122261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1122086448"/>
        <c:crosses val="autoZero"/>
        <c:auto val="1"/>
        <c:lblAlgn val="ctr"/>
        <c:lblOffset val="100"/>
        <c:noMultiLvlLbl val="0"/>
      </c:catAx>
      <c:valAx>
        <c:axId val="11220864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r>
                  <a:rPr lang="en-GB" sz="800" noProof="0" dirty="0">
                    <a:solidFill>
                      <a:srgbClr val="344251"/>
                    </a:solidFill>
                  </a:rPr>
                  <a:t>Total Units</a:t>
                </a:r>
              </a:p>
            </c:rich>
          </c:tx>
          <c:layout>
            <c:manualLayout>
              <c:xMode val="edge"/>
              <c:yMode val="edge"/>
              <c:x val="6.7216119029724977E-3"/>
              <c:y val="0.30277858015776027"/>
            </c:manualLayout>
          </c:layout>
          <c:overlay val="0"/>
          <c:spPr>
            <a:noFill/>
            <a:ln>
              <a:noFill/>
            </a:ln>
            <a:effectLst/>
          </c:spPr>
          <c:txPr>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1122261568"/>
        <c:crosses val="autoZero"/>
        <c:crossBetween val="between"/>
      </c:valAx>
      <c:valAx>
        <c:axId val="2057934384"/>
        <c:scaling>
          <c:orientation val="minMax"/>
        </c:scaling>
        <c:delete val="0"/>
        <c:axPos val="r"/>
        <c:title>
          <c:tx>
            <c:rich>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r>
                  <a:rPr lang="en-GB" sz="800" noProof="0" dirty="0">
                    <a:solidFill>
                      <a:srgbClr val="344251"/>
                    </a:solidFill>
                  </a:rPr>
                  <a:t>% Market Share</a:t>
                </a:r>
              </a:p>
            </c:rich>
          </c:tx>
          <c:overlay val="0"/>
          <c:spPr>
            <a:noFill/>
            <a:ln>
              <a:noFill/>
            </a:ln>
            <a:effectLst/>
          </c:spPr>
          <c:txPr>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2057603216"/>
        <c:crosses val="max"/>
        <c:crossBetween val="between"/>
      </c:valAx>
      <c:catAx>
        <c:axId val="2057603216"/>
        <c:scaling>
          <c:orientation val="minMax"/>
        </c:scaling>
        <c:delete val="1"/>
        <c:axPos val="b"/>
        <c:numFmt formatCode="General" sourceLinked="1"/>
        <c:majorTickMark val="out"/>
        <c:minorTickMark val="none"/>
        <c:tickLblPos val="nextTo"/>
        <c:crossAx val="2057934384"/>
        <c:crosses val="autoZero"/>
        <c:auto val="1"/>
        <c:lblAlgn val="ctr"/>
        <c:lblOffset val="100"/>
        <c:noMultiLvlLbl val="0"/>
      </c:catAx>
      <c:spPr>
        <a:noFill/>
        <a:ln>
          <a:noFill/>
        </a:ln>
        <a:effectLst/>
      </c:spPr>
    </c:plotArea>
    <c:legend>
      <c:legendPos val="b"/>
      <c:layout>
        <c:manualLayout>
          <c:xMode val="edge"/>
          <c:yMode val="edge"/>
          <c:x val="0"/>
          <c:y val="0.87872014220642147"/>
          <c:w val="0.98907844771569342"/>
          <c:h val="7.8951227641373176E-2"/>
        </c:manualLayout>
      </c:layout>
      <c:overlay val="0"/>
      <c:spPr>
        <a:noFill/>
        <a:ln>
          <a:noFill/>
        </a:ln>
        <a:effectLst/>
      </c:spPr>
      <c:txPr>
        <a:bodyPr rot="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405C8B"/>
      </a:solidFill>
    </a:ln>
    <a:effectLst/>
  </c:spPr>
  <c:txPr>
    <a:bodyPr/>
    <a:lstStyle/>
    <a:p>
      <a:pPr>
        <a:defRPr/>
      </a:pPr>
      <a:endParaRPr lang="ja-JP"/>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r>
              <a:rPr lang="en-GB" sz="1000" noProof="0" dirty="0">
                <a:solidFill>
                  <a:srgbClr val="344251"/>
                </a:solidFill>
              </a:rPr>
              <a:t>N35 Registrations Year on Year</a:t>
            </a:r>
          </a:p>
        </c:rich>
      </c:tx>
      <c:overlay val="0"/>
      <c:spPr>
        <a:noFill/>
        <a:ln>
          <a:noFill/>
        </a:ln>
        <a:effectLst/>
      </c:spPr>
      <c:txPr>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endParaRPr lang="ja-JP"/>
        </a:p>
      </c:txPr>
    </c:title>
    <c:autoTitleDeleted val="0"/>
    <c:plotArea>
      <c:layout>
        <c:manualLayout>
          <c:layoutTarget val="inner"/>
          <c:xMode val="edge"/>
          <c:yMode val="edge"/>
          <c:x val="7.8113427755732837E-2"/>
          <c:y val="0.22215476058215755"/>
          <c:w val="0.89803569129823568"/>
          <c:h val="0.53680868792356395"/>
        </c:manualLayout>
      </c:layout>
      <c:lineChart>
        <c:grouping val="standard"/>
        <c:varyColors val="0"/>
        <c:ser>
          <c:idx val="0"/>
          <c:order val="0"/>
          <c:tx>
            <c:strRef>
              <c:f>Sheet1!$B$1</c:f>
              <c:strCache>
                <c:ptCount val="1"/>
                <c:pt idx="0">
                  <c:v>2022</c:v>
                </c:pt>
              </c:strCache>
            </c:strRef>
          </c:tx>
          <c:spPr>
            <a:ln w="15875" cap="rnd">
              <a:solidFill>
                <a:schemeClr val="accent1"/>
              </a:solidFill>
              <a:round/>
            </a:ln>
            <a:effectLst/>
          </c:spPr>
          <c:marker>
            <c:symbol val="circle"/>
            <c:size val="4"/>
            <c:spPr>
              <a:solidFill>
                <a:schemeClr val="accent1"/>
              </a:solidFill>
              <a:ln w="9525">
                <a:solidFill>
                  <a:schemeClr val="accent1"/>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116</c:v>
                </c:pt>
                <c:pt idx="1">
                  <c:v>105</c:v>
                </c:pt>
                <c:pt idx="2">
                  <c:v>172</c:v>
                </c:pt>
                <c:pt idx="3">
                  <c:v>106</c:v>
                </c:pt>
                <c:pt idx="4">
                  <c:v>93</c:v>
                </c:pt>
                <c:pt idx="5">
                  <c:v>114</c:v>
                </c:pt>
                <c:pt idx="6">
                  <c:v>122</c:v>
                </c:pt>
                <c:pt idx="7">
                  <c:v>73</c:v>
                </c:pt>
                <c:pt idx="8">
                  <c:v>196</c:v>
                </c:pt>
                <c:pt idx="9">
                  <c:v>176</c:v>
                </c:pt>
                <c:pt idx="10">
                  <c:v>139</c:v>
                </c:pt>
                <c:pt idx="11">
                  <c:v>135</c:v>
                </c:pt>
              </c:numCache>
            </c:numRef>
          </c:val>
          <c:smooth val="0"/>
          <c:extLst>
            <c:ext xmlns:c16="http://schemas.microsoft.com/office/drawing/2014/chart" uri="{C3380CC4-5D6E-409C-BE32-E72D297353CC}">
              <c16:uniqueId val="{00000000-EFB4-1F4C-BD8D-BF90FC289267}"/>
            </c:ext>
          </c:extLst>
        </c:ser>
        <c:ser>
          <c:idx val="1"/>
          <c:order val="1"/>
          <c:tx>
            <c:strRef>
              <c:f>Sheet1!$C$1</c:f>
              <c:strCache>
                <c:ptCount val="1"/>
                <c:pt idx="0">
                  <c:v>2023</c:v>
                </c:pt>
              </c:strCache>
            </c:strRef>
          </c:tx>
          <c:spPr>
            <a:ln w="15875" cap="rnd">
              <a:solidFill>
                <a:schemeClr val="accent2"/>
              </a:solidFill>
              <a:round/>
            </a:ln>
            <a:effectLst/>
          </c:spPr>
          <c:marker>
            <c:symbol val="circle"/>
            <c:size val="4"/>
            <c:spPr>
              <a:solidFill>
                <a:schemeClr val="accent2"/>
              </a:solidFill>
              <a:ln w="9525">
                <a:solidFill>
                  <a:schemeClr val="accent2"/>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105</c:v>
                </c:pt>
                <c:pt idx="1">
                  <c:v>83</c:v>
                </c:pt>
                <c:pt idx="2">
                  <c:v>238</c:v>
                </c:pt>
                <c:pt idx="3">
                  <c:v>169</c:v>
                </c:pt>
                <c:pt idx="4">
                  <c:v>217</c:v>
                </c:pt>
                <c:pt idx="5">
                  <c:v>195</c:v>
                </c:pt>
                <c:pt idx="6">
                  <c:v>205</c:v>
                </c:pt>
                <c:pt idx="7">
                  <c:v>194</c:v>
                </c:pt>
                <c:pt idx="8">
                  <c:v>212</c:v>
                </c:pt>
                <c:pt idx="9">
                  <c:v>139</c:v>
                </c:pt>
                <c:pt idx="10">
                  <c:v>195</c:v>
                </c:pt>
                <c:pt idx="11">
                  <c:v>130</c:v>
                </c:pt>
              </c:numCache>
            </c:numRef>
          </c:val>
          <c:smooth val="0"/>
          <c:extLst>
            <c:ext xmlns:c16="http://schemas.microsoft.com/office/drawing/2014/chart" uri="{C3380CC4-5D6E-409C-BE32-E72D297353CC}">
              <c16:uniqueId val="{00000001-EFB4-1F4C-BD8D-BF90FC289267}"/>
            </c:ext>
          </c:extLst>
        </c:ser>
        <c:ser>
          <c:idx val="2"/>
          <c:order val="2"/>
          <c:tx>
            <c:strRef>
              <c:f>Sheet1!$D$1</c:f>
              <c:strCache>
                <c:ptCount val="1"/>
                <c:pt idx="0">
                  <c:v>2024</c:v>
                </c:pt>
              </c:strCache>
            </c:strRef>
          </c:tx>
          <c:spPr>
            <a:ln w="15875" cap="rnd">
              <a:solidFill>
                <a:schemeClr val="accent5"/>
              </a:solidFill>
              <a:round/>
            </a:ln>
            <a:effectLst/>
          </c:spPr>
          <c:marker>
            <c:symbol val="circle"/>
            <c:size val="5"/>
            <c:spPr>
              <a:solidFill>
                <a:schemeClr val="accent5"/>
              </a:solidFill>
              <a:ln w="9525">
                <a:solidFill>
                  <a:schemeClr val="accent5"/>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126</c:v>
                </c:pt>
                <c:pt idx="1">
                  <c:v>75</c:v>
                </c:pt>
                <c:pt idx="2">
                  <c:v>179</c:v>
                </c:pt>
                <c:pt idx="3">
                  <c:v>122</c:v>
                </c:pt>
                <c:pt idx="4">
                  <c:v>125</c:v>
                </c:pt>
                <c:pt idx="5">
                  <c:v>93</c:v>
                </c:pt>
                <c:pt idx="6">
                  <c:v>81</c:v>
                </c:pt>
                <c:pt idx="7">
                  <c:v>80</c:v>
                </c:pt>
                <c:pt idx="8">
                  <c:v>127</c:v>
                </c:pt>
                <c:pt idx="9">
                  <c:v>109</c:v>
                </c:pt>
                <c:pt idx="10">
                  <c:v>81</c:v>
                </c:pt>
                <c:pt idx="11">
                  <c:v>61</c:v>
                </c:pt>
              </c:numCache>
            </c:numRef>
          </c:val>
          <c:smooth val="0"/>
          <c:extLst>
            <c:ext xmlns:c16="http://schemas.microsoft.com/office/drawing/2014/chart" uri="{C3380CC4-5D6E-409C-BE32-E72D297353CC}">
              <c16:uniqueId val="{00000002-EFB4-1F4C-BD8D-BF90FC289267}"/>
            </c:ext>
          </c:extLst>
        </c:ser>
        <c:ser>
          <c:idx val="3"/>
          <c:order val="3"/>
          <c:tx>
            <c:strRef>
              <c:f>Sheet1!$E$1</c:f>
              <c:strCache>
                <c:ptCount val="1"/>
                <c:pt idx="0">
                  <c:v>2025</c:v>
                </c:pt>
              </c:strCache>
            </c:strRef>
          </c:tx>
          <c:spPr>
            <a:ln w="28575" cap="rnd">
              <a:solidFill>
                <a:srgbClr val="FF0000"/>
              </a:solidFill>
              <a:round/>
            </a:ln>
            <a:effectLst/>
          </c:spPr>
          <c:marker>
            <c:symbol val="circle"/>
            <c:size val="5"/>
            <c:spPr>
              <a:solidFill>
                <a:srgbClr val="E60012"/>
              </a:solidFill>
              <a:ln w="9525">
                <a:solidFill>
                  <a:srgbClr val="E60012"/>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General</c:formatCode>
                <c:ptCount val="12"/>
                <c:pt idx="0">
                  <c:v>61</c:v>
                </c:pt>
                <c:pt idx="1">
                  <c:v>65</c:v>
                </c:pt>
                <c:pt idx="2">
                  <c:v>151</c:v>
                </c:pt>
                <c:pt idx="3">
                  <c:v>100</c:v>
                </c:pt>
                <c:pt idx="4">
                  <c:v>66</c:v>
                </c:pt>
                <c:pt idx="5">
                  <c:v>76</c:v>
                </c:pt>
                <c:pt idx="6">
                  <c:v>76</c:v>
                </c:pt>
                <c:pt idx="7">
                  <c:v>44</c:v>
                </c:pt>
                <c:pt idx="8">
                  <c:v>90</c:v>
                </c:pt>
                <c:pt idx="9">
                  <c:v>86</c:v>
                </c:pt>
                <c:pt idx="10">
                  <c:v>85</c:v>
                </c:pt>
                <c:pt idx="11">
                  <c:v>87</c:v>
                </c:pt>
              </c:numCache>
            </c:numRef>
          </c:val>
          <c:smooth val="0"/>
          <c:extLst>
            <c:ext xmlns:c16="http://schemas.microsoft.com/office/drawing/2014/chart" uri="{C3380CC4-5D6E-409C-BE32-E72D297353CC}">
              <c16:uniqueId val="{00000000-0306-5541-BD34-EF0928B5ED2B}"/>
            </c:ext>
          </c:extLst>
        </c:ser>
        <c:dLbls>
          <c:showLegendKey val="0"/>
          <c:showVal val="0"/>
          <c:showCatName val="0"/>
          <c:showSerName val="0"/>
          <c:showPercent val="0"/>
          <c:showBubbleSize val="0"/>
        </c:dLbls>
        <c:marker val="1"/>
        <c:smooth val="0"/>
        <c:axId val="1122261568"/>
        <c:axId val="1122086448"/>
      </c:lineChart>
      <c:catAx>
        <c:axId val="1122261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1122086448"/>
        <c:crosses val="autoZero"/>
        <c:auto val="1"/>
        <c:lblAlgn val="ctr"/>
        <c:lblOffset val="100"/>
        <c:noMultiLvlLbl val="0"/>
      </c:catAx>
      <c:valAx>
        <c:axId val="11220864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r>
                  <a:rPr lang="en-GB" sz="800" noProof="0" dirty="0">
                    <a:solidFill>
                      <a:srgbClr val="344251"/>
                    </a:solidFill>
                  </a:rPr>
                  <a:t>Units</a:t>
                </a:r>
              </a:p>
            </c:rich>
          </c:tx>
          <c:overlay val="0"/>
          <c:spPr>
            <a:noFill/>
            <a:ln>
              <a:noFill/>
            </a:ln>
            <a:effectLst/>
          </c:spPr>
          <c:txPr>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11222615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405C8B"/>
      </a:solidFill>
    </a:ln>
    <a:effectLst/>
  </c:spPr>
  <c:txPr>
    <a:bodyPr/>
    <a:lstStyle/>
    <a:p>
      <a:pPr>
        <a:defRPr/>
      </a:pPr>
      <a:endParaRPr lang="ja-JP"/>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000" b="0" i="0" u="none" strike="noStrike" kern="1200" spc="0" baseline="0">
                <a:solidFill>
                  <a:schemeClr val="tx1">
                    <a:lumMod val="65000"/>
                    <a:lumOff val="35000"/>
                  </a:schemeClr>
                </a:solidFill>
                <a:latin typeface="+mn-lt"/>
                <a:ea typeface="+mn-ea"/>
                <a:cs typeface="+mn-cs"/>
              </a:defRPr>
            </a:pPr>
            <a:r>
              <a:rPr lang="en-GB" sz="1000" noProof="0" dirty="0"/>
              <a:t>N75 Registrations Year on Year</a:t>
            </a:r>
          </a:p>
        </c:rich>
      </c:tx>
      <c:overlay val="0"/>
      <c:spPr>
        <a:noFill/>
        <a:ln>
          <a:noFill/>
        </a:ln>
        <a:effectLst/>
      </c:spPr>
      <c:txPr>
        <a:bodyPr rot="0" spcFirstLastPara="1" vertOverflow="ellipsis" vert="horz" wrap="square" anchor="ctr" anchorCtr="1"/>
        <a:lstStyle/>
        <a:p>
          <a:pPr>
            <a:defRPr lang="ja-JP" sz="1000"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manualLayout>
          <c:layoutTarget val="inner"/>
          <c:xMode val="edge"/>
          <c:yMode val="edge"/>
          <c:x val="7.8113427755732837E-2"/>
          <c:y val="0.22215476058215755"/>
          <c:w val="0.89803569129823568"/>
          <c:h val="0.53680868792356395"/>
        </c:manualLayout>
      </c:layout>
      <c:lineChart>
        <c:grouping val="standard"/>
        <c:varyColors val="0"/>
        <c:ser>
          <c:idx val="0"/>
          <c:order val="0"/>
          <c:tx>
            <c:strRef>
              <c:f>Sheet1!$B$1</c:f>
              <c:strCache>
                <c:ptCount val="1"/>
                <c:pt idx="0">
                  <c:v>2022</c:v>
                </c:pt>
              </c:strCache>
            </c:strRef>
          </c:tx>
          <c:spPr>
            <a:ln w="15875" cap="rnd">
              <a:solidFill>
                <a:schemeClr val="accent1"/>
              </a:solidFill>
              <a:round/>
            </a:ln>
            <a:effectLst/>
          </c:spPr>
          <c:marker>
            <c:symbol val="circle"/>
            <c:size val="4"/>
            <c:spPr>
              <a:solidFill>
                <a:schemeClr val="accent1"/>
              </a:solidFill>
              <a:ln w="9525">
                <a:solidFill>
                  <a:schemeClr val="accent1"/>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74</c:v>
                </c:pt>
                <c:pt idx="1">
                  <c:v>66</c:v>
                </c:pt>
                <c:pt idx="2">
                  <c:v>88</c:v>
                </c:pt>
                <c:pt idx="3">
                  <c:v>79</c:v>
                </c:pt>
                <c:pt idx="4">
                  <c:v>67</c:v>
                </c:pt>
                <c:pt idx="5">
                  <c:v>71</c:v>
                </c:pt>
                <c:pt idx="6">
                  <c:v>71</c:v>
                </c:pt>
                <c:pt idx="7">
                  <c:v>59</c:v>
                </c:pt>
                <c:pt idx="8">
                  <c:v>82</c:v>
                </c:pt>
                <c:pt idx="9">
                  <c:v>67</c:v>
                </c:pt>
                <c:pt idx="10">
                  <c:v>88</c:v>
                </c:pt>
                <c:pt idx="11">
                  <c:v>51</c:v>
                </c:pt>
              </c:numCache>
            </c:numRef>
          </c:val>
          <c:smooth val="0"/>
          <c:extLst>
            <c:ext xmlns:c16="http://schemas.microsoft.com/office/drawing/2014/chart" uri="{C3380CC4-5D6E-409C-BE32-E72D297353CC}">
              <c16:uniqueId val="{00000000-58B7-EC40-95AE-DE452B9AB4BA}"/>
            </c:ext>
          </c:extLst>
        </c:ser>
        <c:ser>
          <c:idx val="1"/>
          <c:order val="1"/>
          <c:tx>
            <c:strRef>
              <c:f>Sheet1!$C$1</c:f>
              <c:strCache>
                <c:ptCount val="1"/>
                <c:pt idx="0">
                  <c:v>2023</c:v>
                </c:pt>
              </c:strCache>
            </c:strRef>
          </c:tx>
          <c:spPr>
            <a:ln w="15875" cap="rnd">
              <a:solidFill>
                <a:schemeClr val="accent2"/>
              </a:solidFill>
              <a:round/>
            </a:ln>
            <a:effectLst/>
          </c:spPr>
          <c:marker>
            <c:symbol val="circle"/>
            <c:size val="4"/>
            <c:spPr>
              <a:solidFill>
                <a:schemeClr val="accent2"/>
              </a:solidFill>
              <a:ln w="9525">
                <a:solidFill>
                  <a:schemeClr val="accent2"/>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79</c:v>
                </c:pt>
                <c:pt idx="1">
                  <c:v>56</c:v>
                </c:pt>
                <c:pt idx="2">
                  <c:v>119</c:v>
                </c:pt>
                <c:pt idx="3">
                  <c:v>98</c:v>
                </c:pt>
                <c:pt idx="4">
                  <c:v>89</c:v>
                </c:pt>
                <c:pt idx="5">
                  <c:v>84</c:v>
                </c:pt>
                <c:pt idx="6">
                  <c:v>65</c:v>
                </c:pt>
                <c:pt idx="7">
                  <c:v>102</c:v>
                </c:pt>
                <c:pt idx="8">
                  <c:v>125</c:v>
                </c:pt>
                <c:pt idx="9">
                  <c:v>102</c:v>
                </c:pt>
                <c:pt idx="10">
                  <c:v>93</c:v>
                </c:pt>
                <c:pt idx="11">
                  <c:v>68</c:v>
                </c:pt>
              </c:numCache>
            </c:numRef>
          </c:val>
          <c:smooth val="0"/>
          <c:extLst>
            <c:ext xmlns:c16="http://schemas.microsoft.com/office/drawing/2014/chart" uri="{C3380CC4-5D6E-409C-BE32-E72D297353CC}">
              <c16:uniqueId val="{00000001-58B7-EC40-95AE-DE452B9AB4BA}"/>
            </c:ext>
          </c:extLst>
        </c:ser>
        <c:ser>
          <c:idx val="2"/>
          <c:order val="2"/>
          <c:tx>
            <c:strRef>
              <c:f>Sheet1!$D$1</c:f>
              <c:strCache>
                <c:ptCount val="1"/>
                <c:pt idx="0">
                  <c:v>2024</c:v>
                </c:pt>
              </c:strCache>
            </c:strRef>
          </c:tx>
          <c:spPr>
            <a:ln w="15875" cap="rnd">
              <a:solidFill>
                <a:schemeClr val="accent5"/>
              </a:solidFill>
              <a:round/>
            </a:ln>
            <a:effectLst/>
          </c:spPr>
          <c:marker>
            <c:symbol val="circle"/>
            <c:size val="5"/>
            <c:spPr>
              <a:solidFill>
                <a:schemeClr val="accent5"/>
              </a:solidFill>
              <a:ln w="9525">
                <a:solidFill>
                  <a:schemeClr val="accent5"/>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82</c:v>
                </c:pt>
                <c:pt idx="1">
                  <c:v>52</c:v>
                </c:pt>
                <c:pt idx="2">
                  <c:v>89</c:v>
                </c:pt>
                <c:pt idx="3">
                  <c:v>110</c:v>
                </c:pt>
                <c:pt idx="4">
                  <c:v>68</c:v>
                </c:pt>
                <c:pt idx="5">
                  <c:v>105</c:v>
                </c:pt>
                <c:pt idx="6">
                  <c:v>127</c:v>
                </c:pt>
                <c:pt idx="7">
                  <c:v>51</c:v>
                </c:pt>
                <c:pt idx="8">
                  <c:v>77</c:v>
                </c:pt>
                <c:pt idx="9">
                  <c:v>76</c:v>
                </c:pt>
                <c:pt idx="10">
                  <c:v>78</c:v>
                </c:pt>
                <c:pt idx="11">
                  <c:v>69</c:v>
                </c:pt>
              </c:numCache>
            </c:numRef>
          </c:val>
          <c:smooth val="0"/>
          <c:extLst>
            <c:ext xmlns:c16="http://schemas.microsoft.com/office/drawing/2014/chart" uri="{C3380CC4-5D6E-409C-BE32-E72D297353CC}">
              <c16:uniqueId val="{00000002-58B7-EC40-95AE-DE452B9AB4BA}"/>
            </c:ext>
          </c:extLst>
        </c:ser>
        <c:ser>
          <c:idx val="3"/>
          <c:order val="3"/>
          <c:tx>
            <c:strRef>
              <c:f>Sheet1!$E$1</c:f>
              <c:strCache>
                <c:ptCount val="1"/>
                <c:pt idx="0">
                  <c:v>2025</c:v>
                </c:pt>
              </c:strCache>
            </c:strRef>
          </c:tx>
          <c:spPr>
            <a:ln w="28575" cap="rnd">
              <a:solidFill>
                <a:srgbClr val="E60012"/>
              </a:solidFill>
              <a:round/>
            </a:ln>
            <a:effectLst/>
          </c:spPr>
          <c:marker>
            <c:symbol val="circle"/>
            <c:size val="5"/>
            <c:spPr>
              <a:solidFill>
                <a:srgbClr val="E60012"/>
              </a:solidFill>
              <a:ln w="9525">
                <a:solidFill>
                  <a:srgbClr val="E60012"/>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General</c:formatCode>
                <c:ptCount val="12"/>
                <c:pt idx="0">
                  <c:v>59</c:v>
                </c:pt>
                <c:pt idx="1">
                  <c:v>41</c:v>
                </c:pt>
                <c:pt idx="2">
                  <c:v>82</c:v>
                </c:pt>
                <c:pt idx="3">
                  <c:v>91</c:v>
                </c:pt>
                <c:pt idx="4">
                  <c:v>64</c:v>
                </c:pt>
                <c:pt idx="5">
                  <c:v>50</c:v>
                </c:pt>
                <c:pt idx="6">
                  <c:v>77</c:v>
                </c:pt>
                <c:pt idx="7">
                  <c:v>81</c:v>
                </c:pt>
                <c:pt idx="8">
                  <c:v>71</c:v>
                </c:pt>
                <c:pt idx="9">
                  <c:v>70</c:v>
                </c:pt>
                <c:pt idx="10">
                  <c:v>66</c:v>
                </c:pt>
                <c:pt idx="11">
                  <c:v>92</c:v>
                </c:pt>
              </c:numCache>
            </c:numRef>
          </c:val>
          <c:smooth val="0"/>
          <c:extLst>
            <c:ext xmlns:c16="http://schemas.microsoft.com/office/drawing/2014/chart" uri="{C3380CC4-5D6E-409C-BE32-E72D297353CC}">
              <c16:uniqueId val="{00000000-817C-2147-B1C9-D802AA444282}"/>
            </c:ext>
          </c:extLst>
        </c:ser>
        <c:dLbls>
          <c:showLegendKey val="0"/>
          <c:showVal val="0"/>
          <c:showCatName val="0"/>
          <c:showSerName val="0"/>
          <c:showPercent val="0"/>
          <c:showBubbleSize val="0"/>
        </c:dLbls>
        <c:marker val="1"/>
        <c:smooth val="0"/>
        <c:axId val="1122261568"/>
        <c:axId val="1122086448"/>
      </c:lineChart>
      <c:catAx>
        <c:axId val="1122261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1122086448"/>
        <c:crosses val="autoZero"/>
        <c:auto val="1"/>
        <c:lblAlgn val="ctr"/>
        <c:lblOffset val="100"/>
        <c:noMultiLvlLbl val="0"/>
      </c:catAx>
      <c:valAx>
        <c:axId val="11220864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r>
                  <a:rPr lang="en-GB" sz="800" noProof="0" dirty="0">
                    <a:solidFill>
                      <a:srgbClr val="344251"/>
                    </a:solidFill>
                  </a:rPr>
                  <a:t>Units</a:t>
                </a:r>
              </a:p>
            </c:rich>
          </c:tx>
          <c:overlay val="0"/>
          <c:spPr>
            <a:noFill/>
            <a:ln>
              <a:noFill/>
            </a:ln>
            <a:effectLst/>
          </c:spPr>
          <c:txPr>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11222615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405C8B"/>
      </a:solidFill>
    </a:ln>
    <a:effectLst/>
  </c:spPr>
  <c:txPr>
    <a:bodyPr/>
    <a:lstStyle/>
    <a:p>
      <a:pPr>
        <a:defRPr/>
      </a:pPr>
      <a:endParaRPr lang="ja-JP"/>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r>
              <a:rPr lang="en-GB" sz="1000" noProof="0" dirty="0">
                <a:solidFill>
                  <a:srgbClr val="344251"/>
                </a:solidFill>
              </a:rPr>
              <a:t>F Series Registrations Year on Year</a:t>
            </a:r>
          </a:p>
        </c:rich>
      </c:tx>
      <c:overlay val="0"/>
      <c:spPr>
        <a:noFill/>
        <a:ln>
          <a:noFill/>
        </a:ln>
        <a:effectLst/>
      </c:spPr>
      <c:txPr>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endParaRPr lang="ja-JP"/>
        </a:p>
      </c:txPr>
    </c:title>
    <c:autoTitleDeleted val="0"/>
    <c:plotArea>
      <c:layout>
        <c:manualLayout>
          <c:layoutTarget val="inner"/>
          <c:xMode val="edge"/>
          <c:yMode val="edge"/>
          <c:x val="7.8113427755732837E-2"/>
          <c:y val="0.22215476058215755"/>
          <c:w val="0.89803569129823568"/>
          <c:h val="0.53680868792356395"/>
        </c:manualLayout>
      </c:layout>
      <c:lineChart>
        <c:grouping val="standard"/>
        <c:varyColors val="0"/>
        <c:ser>
          <c:idx val="0"/>
          <c:order val="0"/>
          <c:tx>
            <c:strRef>
              <c:f>Sheet1!$B$1</c:f>
              <c:strCache>
                <c:ptCount val="1"/>
                <c:pt idx="0">
                  <c:v>2022</c:v>
                </c:pt>
              </c:strCache>
            </c:strRef>
          </c:tx>
          <c:spPr>
            <a:ln w="15875" cap="rnd">
              <a:solidFill>
                <a:schemeClr val="accent1"/>
              </a:solidFill>
              <a:round/>
            </a:ln>
            <a:effectLst/>
          </c:spPr>
          <c:marker>
            <c:symbol val="circle"/>
            <c:size val="4"/>
            <c:spPr>
              <a:solidFill>
                <a:schemeClr val="accent1"/>
              </a:solidFill>
              <a:ln w="9525">
                <a:solidFill>
                  <a:schemeClr val="accent1"/>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c:v>
                </c:pt>
                <c:pt idx="1">
                  <c:v>9</c:v>
                </c:pt>
                <c:pt idx="2">
                  <c:v>18</c:v>
                </c:pt>
                <c:pt idx="3">
                  <c:v>9</c:v>
                </c:pt>
                <c:pt idx="4">
                  <c:v>9</c:v>
                </c:pt>
                <c:pt idx="5">
                  <c:v>6</c:v>
                </c:pt>
                <c:pt idx="6">
                  <c:v>10</c:v>
                </c:pt>
                <c:pt idx="7">
                  <c:v>12</c:v>
                </c:pt>
                <c:pt idx="8">
                  <c:v>17</c:v>
                </c:pt>
                <c:pt idx="9">
                  <c:v>4</c:v>
                </c:pt>
                <c:pt idx="10">
                  <c:v>2</c:v>
                </c:pt>
                <c:pt idx="11">
                  <c:v>2</c:v>
                </c:pt>
              </c:numCache>
            </c:numRef>
          </c:val>
          <c:smooth val="0"/>
          <c:extLst>
            <c:ext xmlns:c16="http://schemas.microsoft.com/office/drawing/2014/chart" uri="{C3380CC4-5D6E-409C-BE32-E72D297353CC}">
              <c16:uniqueId val="{00000000-CFBA-2D48-ACE7-7E0394306DFF}"/>
            </c:ext>
          </c:extLst>
        </c:ser>
        <c:ser>
          <c:idx val="1"/>
          <c:order val="1"/>
          <c:tx>
            <c:strRef>
              <c:f>Sheet1!$C$1</c:f>
              <c:strCache>
                <c:ptCount val="1"/>
                <c:pt idx="0">
                  <c:v>2023</c:v>
                </c:pt>
              </c:strCache>
            </c:strRef>
          </c:tx>
          <c:spPr>
            <a:ln w="15875" cap="rnd">
              <a:solidFill>
                <a:schemeClr val="accent2"/>
              </a:solidFill>
              <a:round/>
            </a:ln>
            <a:effectLst/>
          </c:spPr>
          <c:marker>
            <c:symbol val="circle"/>
            <c:size val="4"/>
            <c:spPr>
              <a:solidFill>
                <a:schemeClr val="accent2"/>
              </a:solidFill>
              <a:ln w="9525">
                <a:solidFill>
                  <a:schemeClr val="accent2"/>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3</c:v>
                </c:pt>
                <c:pt idx="1">
                  <c:v>4</c:v>
                </c:pt>
                <c:pt idx="2">
                  <c:v>12</c:v>
                </c:pt>
                <c:pt idx="3">
                  <c:v>3</c:v>
                </c:pt>
                <c:pt idx="4">
                  <c:v>9</c:v>
                </c:pt>
                <c:pt idx="5">
                  <c:v>8</c:v>
                </c:pt>
                <c:pt idx="6">
                  <c:v>11</c:v>
                </c:pt>
                <c:pt idx="7">
                  <c:v>5</c:v>
                </c:pt>
                <c:pt idx="8">
                  <c:v>18</c:v>
                </c:pt>
                <c:pt idx="9">
                  <c:v>9</c:v>
                </c:pt>
                <c:pt idx="10">
                  <c:v>16</c:v>
                </c:pt>
                <c:pt idx="11">
                  <c:v>15</c:v>
                </c:pt>
              </c:numCache>
            </c:numRef>
          </c:val>
          <c:smooth val="0"/>
          <c:extLst>
            <c:ext xmlns:c16="http://schemas.microsoft.com/office/drawing/2014/chart" uri="{C3380CC4-5D6E-409C-BE32-E72D297353CC}">
              <c16:uniqueId val="{00000001-CFBA-2D48-ACE7-7E0394306DFF}"/>
            </c:ext>
          </c:extLst>
        </c:ser>
        <c:ser>
          <c:idx val="2"/>
          <c:order val="2"/>
          <c:tx>
            <c:strRef>
              <c:f>Sheet1!$D$1</c:f>
              <c:strCache>
                <c:ptCount val="1"/>
                <c:pt idx="0">
                  <c:v>2024</c:v>
                </c:pt>
              </c:strCache>
            </c:strRef>
          </c:tx>
          <c:spPr>
            <a:ln w="15875" cap="rnd">
              <a:solidFill>
                <a:schemeClr val="accent5"/>
              </a:solidFill>
              <a:round/>
            </a:ln>
            <a:effectLst/>
          </c:spPr>
          <c:marker>
            <c:symbol val="circle"/>
            <c:size val="5"/>
            <c:spPr>
              <a:solidFill>
                <a:schemeClr val="accent5"/>
              </a:solidFill>
              <a:ln w="9525">
                <a:solidFill>
                  <a:schemeClr val="accent5"/>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15</c:v>
                </c:pt>
                <c:pt idx="1">
                  <c:v>6</c:v>
                </c:pt>
                <c:pt idx="2">
                  <c:v>13</c:v>
                </c:pt>
                <c:pt idx="3">
                  <c:v>14</c:v>
                </c:pt>
                <c:pt idx="4">
                  <c:v>8</c:v>
                </c:pt>
                <c:pt idx="5">
                  <c:v>6</c:v>
                </c:pt>
                <c:pt idx="6">
                  <c:v>12</c:v>
                </c:pt>
                <c:pt idx="7">
                  <c:v>34</c:v>
                </c:pt>
                <c:pt idx="8">
                  <c:v>26</c:v>
                </c:pt>
                <c:pt idx="9">
                  <c:v>15</c:v>
                </c:pt>
                <c:pt idx="10">
                  <c:v>12</c:v>
                </c:pt>
                <c:pt idx="11">
                  <c:v>11</c:v>
                </c:pt>
              </c:numCache>
            </c:numRef>
          </c:val>
          <c:smooth val="0"/>
          <c:extLst>
            <c:ext xmlns:c16="http://schemas.microsoft.com/office/drawing/2014/chart" uri="{C3380CC4-5D6E-409C-BE32-E72D297353CC}">
              <c16:uniqueId val="{00000002-CFBA-2D48-ACE7-7E0394306DFF}"/>
            </c:ext>
          </c:extLst>
        </c:ser>
        <c:ser>
          <c:idx val="3"/>
          <c:order val="3"/>
          <c:tx>
            <c:strRef>
              <c:f>Sheet1!$E$1</c:f>
              <c:strCache>
                <c:ptCount val="1"/>
                <c:pt idx="0">
                  <c:v>2025</c:v>
                </c:pt>
              </c:strCache>
            </c:strRef>
          </c:tx>
          <c:spPr>
            <a:ln w="28575" cap="rnd">
              <a:solidFill>
                <a:srgbClr val="E60012"/>
              </a:solidFill>
              <a:round/>
            </a:ln>
            <a:effectLst/>
          </c:spPr>
          <c:marker>
            <c:symbol val="circle"/>
            <c:size val="5"/>
            <c:spPr>
              <a:solidFill>
                <a:srgbClr val="E60012"/>
              </a:solidFill>
              <a:ln w="9525">
                <a:solidFill>
                  <a:srgbClr val="E60012"/>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General</c:formatCode>
                <c:ptCount val="12"/>
                <c:pt idx="0">
                  <c:v>15</c:v>
                </c:pt>
                <c:pt idx="1">
                  <c:v>6</c:v>
                </c:pt>
                <c:pt idx="2">
                  <c:v>11</c:v>
                </c:pt>
                <c:pt idx="3">
                  <c:v>4</c:v>
                </c:pt>
                <c:pt idx="4">
                  <c:v>5</c:v>
                </c:pt>
                <c:pt idx="5">
                  <c:v>9</c:v>
                </c:pt>
                <c:pt idx="6">
                  <c:v>10</c:v>
                </c:pt>
                <c:pt idx="7">
                  <c:v>20</c:v>
                </c:pt>
                <c:pt idx="8">
                  <c:v>5</c:v>
                </c:pt>
                <c:pt idx="9">
                  <c:v>5</c:v>
                </c:pt>
                <c:pt idx="10">
                  <c:v>16</c:v>
                </c:pt>
                <c:pt idx="11">
                  <c:v>7</c:v>
                </c:pt>
              </c:numCache>
            </c:numRef>
          </c:val>
          <c:smooth val="0"/>
          <c:extLst>
            <c:ext xmlns:c16="http://schemas.microsoft.com/office/drawing/2014/chart" uri="{C3380CC4-5D6E-409C-BE32-E72D297353CC}">
              <c16:uniqueId val="{00000000-FFB5-2841-9D06-9EC15D05BE05}"/>
            </c:ext>
          </c:extLst>
        </c:ser>
        <c:dLbls>
          <c:showLegendKey val="0"/>
          <c:showVal val="0"/>
          <c:showCatName val="0"/>
          <c:showSerName val="0"/>
          <c:showPercent val="0"/>
          <c:showBubbleSize val="0"/>
        </c:dLbls>
        <c:marker val="1"/>
        <c:smooth val="0"/>
        <c:axId val="1122261568"/>
        <c:axId val="1122086448"/>
      </c:lineChart>
      <c:catAx>
        <c:axId val="1122261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1122086448"/>
        <c:crosses val="autoZero"/>
        <c:auto val="1"/>
        <c:lblAlgn val="ctr"/>
        <c:lblOffset val="100"/>
        <c:noMultiLvlLbl val="0"/>
      </c:catAx>
      <c:valAx>
        <c:axId val="11220864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r>
                  <a:rPr lang="en-GB" sz="800" noProof="0" dirty="0">
                    <a:solidFill>
                      <a:srgbClr val="344251"/>
                    </a:solidFill>
                  </a:rPr>
                  <a:t>Units</a:t>
                </a:r>
              </a:p>
            </c:rich>
          </c:tx>
          <c:overlay val="0"/>
          <c:spPr>
            <a:noFill/>
            <a:ln>
              <a:noFill/>
            </a:ln>
            <a:effectLst/>
          </c:spPr>
          <c:txPr>
            <a:bodyPr rot="-54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11222615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405C8B"/>
      </a:solidFill>
    </a:ln>
    <a:effectLst/>
  </c:spPr>
  <c:txPr>
    <a:bodyPr/>
    <a:lstStyle/>
    <a:p>
      <a:pPr>
        <a:defRPr/>
      </a:pPr>
      <a:endParaRPr lang="ja-JP"/>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r>
              <a:rPr lang="en-GB" sz="1000" noProof="0" dirty="0"/>
              <a:t>Vehicle Order Intake Result &amp; Forecast</a:t>
            </a:r>
          </a:p>
        </c:rich>
      </c:tx>
      <c:overlay val="0"/>
      <c:spPr>
        <a:noFill/>
        <a:ln>
          <a:noFill/>
        </a:ln>
        <a:effectLst/>
      </c:spPr>
      <c:txPr>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endParaRPr lang="ja-JP"/>
        </a:p>
      </c:txPr>
    </c:title>
    <c:autoTitleDeleted val="0"/>
    <c:plotArea>
      <c:layout/>
      <c:barChart>
        <c:barDir val="col"/>
        <c:grouping val="stacked"/>
        <c:varyColors val="0"/>
        <c:ser>
          <c:idx val="0"/>
          <c:order val="0"/>
          <c:tx>
            <c:strRef>
              <c:f>Sheet1!$B$1</c:f>
              <c:strCache>
                <c:ptCount val="1"/>
                <c:pt idx="0">
                  <c:v>Orders</c:v>
                </c:pt>
              </c:strCache>
            </c:strRef>
          </c:tx>
          <c:spPr>
            <a:solidFill>
              <a:schemeClr val="accent2"/>
            </a:solidFill>
            <a:ln>
              <a:solidFill>
                <a:schemeClr val="accent2"/>
              </a:solidFill>
            </a:ln>
            <a:effectLst/>
          </c:spPr>
          <c:invertIfNegative val="0"/>
          <c:dLbls>
            <c:dLbl>
              <c:idx val="6"/>
              <c:layout>
                <c:manualLayout>
                  <c:x val="0"/>
                  <c:y val="-9.117627291194613E-5"/>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78C-4828-B8E9-35F8D51351EA}"/>
                </c:ext>
              </c:extLst>
            </c:dLbl>
            <c:spPr>
              <a:noFill/>
              <a:ln>
                <a:noFill/>
              </a:ln>
              <a:effectLst/>
            </c:spPr>
            <c:txPr>
              <a:bodyPr rot="0" spcFirstLastPara="1" vertOverflow="ellipsis" vert="horz" wrap="square" lIns="38100" tIns="19050" rIns="38100" bIns="19050" anchor="ctr" anchorCtr="1">
                <a:spAutoFit/>
              </a:bodyPr>
              <a:lstStyle/>
              <a:p>
                <a:pPr>
                  <a:defRPr lang="ja-JP" sz="800" b="0" i="0" u="none" strike="noStrike" kern="1200" baseline="0">
                    <a:solidFill>
                      <a:schemeClr val="bg1"/>
                    </a:solidFill>
                    <a:latin typeface="+mn-lt"/>
                    <a:ea typeface="+mn-ea"/>
                    <a:cs typeface="+mn-cs"/>
                  </a:defRPr>
                </a:pPr>
                <a:endParaRPr lang="ja-JP"/>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Sheet1!$A$2:$A$9</c:f>
              <c:numCache>
                <c:formatCode>General</c:formatCode>
                <c:ptCount val="8"/>
                <c:pt idx="0">
                  <c:v>2019</c:v>
                </c:pt>
                <c:pt idx="1">
                  <c:v>2020</c:v>
                </c:pt>
                <c:pt idx="2">
                  <c:v>2021</c:v>
                </c:pt>
                <c:pt idx="3">
                  <c:v>2022</c:v>
                </c:pt>
                <c:pt idx="4">
                  <c:v>2023</c:v>
                </c:pt>
                <c:pt idx="5">
                  <c:v>2024</c:v>
                </c:pt>
                <c:pt idx="6">
                  <c:v>2025</c:v>
                </c:pt>
                <c:pt idx="7">
                  <c:v>2026</c:v>
                </c:pt>
              </c:numCache>
            </c:numRef>
          </c:cat>
          <c:val>
            <c:numRef>
              <c:f>Sheet1!$B$2:$B$9</c:f>
              <c:numCache>
                <c:formatCode>_-* #,##0_-;\-* #,##0_-;_-* "-"??_-;_-@_-</c:formatCode>
                <c:ptCount val="8"/>
                <c:pt idx="0">
                  <c:v>1817</c:v>
                </c:pt>
                <c:pt idx="1">
                  <c:v>2767</c:v>
                </c:pt>
                <c:pt idx="2">
                  <c:v>5065</c:v>
                </c:pt>
                <c:pt idx="3">
                  <c:v>2381</c:v>
                </c:pt>
                <c:pt idx="4">
                  <c:v>1746</c:v>
                </c:pt>
                <c:pt idx="5">
                  <c:v>1528</c:v>
                </c:pt>
                <c:pt idx="6">
                  <c:v>1357</c:v>
                </c:pt>
              </c:numCache>
            </c:numRef>
          </c:val>
          <c:extLst>
            <c:ext xmlns:c16="http://schemas.microsoft.com/office/drawing/2014/chart" uri="{C3380CC4-5D6E-409C-BE32-E72D297353CC}">
              <c16:uniqueId val="{00000001-278C-4828-B8E9-35F8D51351EA}"/>
            </c:ext>
          </c:extLst>
        </c:ser>
        <c:ser>
          <c:idx val="1"/>
          <c:order val="1"/>
          <c:tx>
            <c:strRef>
              <c:f>Sheet1!$C$1</c:f>
              <c:strCache>
                <c:ptCount val="1"/>
                <c:pt idx="0">
                  <c:v>Forecast</c:v>
                </c:pt>
              </c:strCache>
            </c:strRef>
          </c:tx>
          <c:spPr>
            <a:pattFill prst="ltDnDiag">
              <a:fgClr>
                <a:schemeClr val="accent2"/>
              </a:fgClr>
              <a:bgClr>
                <a:schemeClr val="bg1"/>
              </a:bgClr>
            </a:pattFill>
            <a:ln>
              <a:solidFill>
                <a:schemeClr val="accent2"/>
              </a:solidFill>
            </a:ln>
            <a:effectLst/>
          </c:spPr>
          <c:invertIfNegative val="0"/>
          <c:dLbls>
            <c:dLbl>
              <c:idx val="5"/>
              <c:layout>
                <c:manualLayout>
                  <c:x val="7.9502031645999474E-17"/>
                  <c:y val="-0.1033412717474949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78C-4828-B8E9-35F8D51351EA}"/>
                </c:ext>
              </c:extLst>
            </c:dLbl>
            <c:dLbl>
              <c:idx val="6"/>
              <c:layout>
                <c:manualLayout>
                  <c:x val="0"/>
                  <c:y val="-1.3873902693555505E-2"/>
                </c:manualLayout>
              </c:layout>
              <c:spPr>
                <a:noFill/>
                <a:ln>
                  <a:noFill/>
                </a:ln>
                <a:effectLst/>
              </c:spPr>
              <c:txPr>
                <a:bodyPr rot="0" spcFirstLastPara="1" vertOverflow="ellipsis" vert="horz" wrap="square" lIns="38100" tIns="19050" rIns="38100" bIns="19050" anchor="ctr" anchorCtr="1">
                  <a:spAutoFit/>
                </a:bodyPr>
                <a:lstStyle/>
                <a:p>
                  <a:pPr>
                    <a:defRPr lang="ja-JP" sz="800" b="0" i="0" u="none" strike="noStrike" kern="1200" baseline="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78C-4828-B8E9-35F8D51351EA}"/>
                </c:ext>
              </c:extLst>
            </c:dLbl>
            <c:dLbl>
              <c:idx val="7"/>
              <c:layout>
                <c:manualLayout>
                  <c:x val="1.0841311371852553E-2"/>
                  <c:y val="-0.25698475376414731"/>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78C-4828-B8E9-35F8D51351EA}"/>
                </c:ext>
              </c:extLst>
            </c:dLbl>
            <c:spPr>
              <a:noFill/>
              <a:ln>
                <a:noFill/>
              </a:ln>
              <a:effectLst/>
            </c:spPr>
            <c:txPr>
              <a:bodyPr rot="0" spcFirstLastPara="1" vertOverflow="ellipsis" vert="horz" wrap="square" lIns="38100" tIns="19050" rIns="38100" bIns="19050" anchor="ctr" anchorCtr="1">
                <a:spAutoFit/>
              </a:bodyPr>
              <a:lstStyle/>
              <a:p>
                <a:pPr>
                  <a:defRPr lang="ja-JP" sz="800" b="0" i="0" u="none" strike="noStrike" kern="1200" baseline="0">
                    <a:solidFill>
                      <a:srgbClr val="344251"/>
                    </a:solidFill>
                    <a:latin typeface="+mn-lt"/>
                    <a:ea typeface="+mn-ea"/>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Sheet1!$A$2:$A$9</c:f>
              <c:numCache>
                <c:formatCode>General</c:formatCode>
                <c:ptCount val="8"/>
                <c:pt idx="0">
                  <c:v>2019</c:v>
                </c:pt>
                <c:pt idx="1">
                  <c:v>2020</c:v>
                </c:pt>
                <c:pt idx="2">
                  <c:v>2021</c:v>
                </c:pt>
                <c:pt idx="3">
                  <c:v>2022</c:v>
                </c:pt>
                <c:pt idx="4">
                  <c:v>2023</c:v>
                </c:pt>
                <c:pt idx="5">
                  <c:v>2024</c:v>
                </c:pt>
                <c:pt idx="6">
                  <c:v>2025</c:v>
                </c:pt>
                <c:pt idx="7">
                  <c:v>2026</c:v>
                </c:pt>
              </c:numCache>
            </c:numRef>
          </c:cat>
          <c:val>
            <c:numRef>
              <c:f>Sheet1!$C$2:$C$9</c:f>
              <c:numCache>
                <c:formatCode>General</c:formatCode>
                <c:ptCount val="8"/>
                <c:pt idx="6" formatCode="_-* #,##0_-;\-* #,##0_-;_-* &quot;-&quot;??_-;_-@_-">
                  <c:v>533</c:v>
                </c:pt>
                <c:pt idx="7" formatCode="_-* #,##0_-;\-* #,##0_-;_-* &quot;-&quot;??_-;_-@_-">
                  <c:v>2303</c:v>
                </c:pt>
              </c:numCache>
            </c:numRef>
          </c:val>
          <c:extLst>
            <c:ext xmlns:c16="http://schemas.microsoft.com/office/drawing/2014/chart" uri="{C3380CC4-5D6E-409C-BE32-E72D297353CC}">
              <c16:uniqueId val="{00000005-278C-4828-B8E9-35F8D51351EA}"/>
            </c:ext>
          </c:extLst>
        </c:ser>
        <c:dLbls>
          <c:showLegendKey val="0"/>
          <c:showVal val="0"/>
          <c:showCatName val="0"/>
          <c:showSerName val="0"/>
          <c:showPercent val="0"/>
          <c:showBubbleSize val="0"/>
        </c:dLbls>
        <c:gapWidth val="150"/>
        <c:overlap val="100"/>
        <c:axId val="2057527503"/>
        <c:axId val="2057466591"/>
      </c:barChart>
      <c:catAx>
        <c:axId val="2057527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2057466591"/>
        <c:crosses val="autoZero"/>
        <c:auto val="1"/>
        <c:lblAlgn val="ctr"/>
        <c:lblOffset val="100"/>
        <c:noMultiLvlLbl val="0"/>
      </c:catAx>
      <c:valAx>
        <c:axId val="2057466591"/>
        <c:scaling>
          <c:orientation val="minMax"/>
          <c:max val="5500"/>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2057527503"/>
        <c:crosses val="autoZero"/>
        <c:crossBetween val="between"/>
        <c:majorUnit val="1000"/>
        <c:minorUnit val="500"/>
      </c:val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405C8B"/>
      </a:solidFill>
    </a:ln>
    <a:effectLst/>
  </c:spPr>
  <c:txPr>
    <a:bodyPr/>
    <a:lstStyle/>
    <a:p>
      <a:pPr>
        <a:defRPr>
          <a:solidFill>
            <a:srgbClr val="344251"/>
          </a:solidFill>
        </a:defRPr>
      </a:pPr>
      <a:endParaRPr lang="ja-JP"/>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r>
              <a:rPr lang="en-GB" sz="1000" noProof="0" dirty="0">
                <a:solidFill>
                  <a:srgbClr val="344251"/>
                </a:solidFill>
              </a:rPr>
              <a:t>Vehicle Invoices Result &amp; Forecast</a:t>
            </a:r>
          </a:p>
        </c:rich>
      </c:tx>
      <c:overlay val="0"/>
      <c:spPr>
        <a:noFill/>
        <a:ln>
          <a:noFill/>
        </a:ln>
        <a:effectLst/>
      </c:spPr>
      <c:txPr>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endParaRPr lang="ja-JP"/>
        </a:p>
      </c:txPr>
    </c:title>
    <c:autoTitleDeleted val="0"/>
    <c:plotArea>
      <c:layout/>
      <c:barChart>
        <c:barDir val="col"/>
        <c:grouping val="stacked"/>
        <c:varyColors val="0"/>
        <c:ser>
          <c:idx val="0"/>
          <c:order val="0"/>
          <c:tx>
            <c:strRef>
              <c:f>Sheet1!$B$1</c:f>
              <c:strCache>
                <c:ptCount val="1"/>
                <c:pt idx="0">
                  <c:v>Invoices</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ja-JP" sz="800" b="0" i="0" u="none" strike="noStrike" kern="1200" baseline="0">
                    <a:solidFill>
                      <a:schemeClr val="bg1"/>
                    </a:solidFill>
                    <a:latin typeface="+mn-lt"/>
                    <a:ea typeface="+mn-ea"/>
                    <a:cs typeface="+mn-cs"/>
                  </a:defRPr>
                </a:pPr>
                <a:endParaRPr lang="ja-JP"/>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Sheet1!$A$2:$A$9</c:f>
              <c:numCache>
                <c:formatCode>General</c:formatCode>
                <c:ptCount val="8"/>
                <c:pt idx="0">
                  <c:v>2019</c:v>
                </c:pt>
                <c:pt idx="1">
                  <c:v>2020</c:v>
                </c:pt>
                <c:pt idx="2">
                  <c:v>2021</c:v>
                </c:pt>
                <c:pt idx="3">
                  <c:v>2022</c:v>
                </c:pt>
                <c:pt idx="4">
                  <c:v>2023</c:v>
                </c:pt>
                <c:pt idx="5">
                  <c:v>2024</c:v>
                </c:pt>
                <c:pt idx="6">
                  <c:v>2025</c:v>
                </c:pt>
                <c:pt idx="7">
                  <c:v>2026</c:v>
                </c:pt>
              </c:numCache>
            </c:numRef>
          </c:cat>
          <c:val>
            <c:numRef>
              <c:f>Sheet1!$B$2:$B$9</c:f>
              <c:numCache>
                <c:formatCode>_-* #,##0_-;\-* #,##0_-;_-* "-"??_-;_-@_-</c:formatCode>
                <c:ptCount val="8"/>
                <c:pt idx="0">
                  <c:v>1926</c:v>
                </c:pt>
                <c:pt idx="1">
                  <c:v>1746</c:v>
                </c:pt>
                <c:pt idx="2">
                  <c:v>2570</c:v>
                </c:pt>
                <c:pt idx="3">
                  <c:v>2944</c:v>
                </c:pt>
                <c:pt idx="4">
                  <c:v>3469</c:v>
                </c:pt>
                <c:pt idx="5">
                  <c:v>2055</c:v>
                </c:pt>
                <c:pt idx="6">
                  <c:v>1398</c:v>
                </c:pt>
              </c:numCache>
            </c:numRef>
          </c:val>
          <c:extLst>
            <c:ext xmlns:c16="http://schemas.microsoft.com/office/drawing/2014/chart" uri="{C3380CC4-5D6E-409C-BE32-E72D297353CC}">
              <c16:uniqueId val="{00000000-DEEF-4750-93C5-75F5D122E7F3}"/>
            </c:ext>
          </c:extLst>
        </c:ser>
        <c:ser>
          <c:idx val="1"/>
          <c:order val="1"/>
          <c:tx>
            <c:strRef>
              <c:f>Sheet1!$C$1</c:f>
              <c:strCache>
                <c:ptCount val="1"/>
                <c:pt idx="0">
                  <c:v>Forecast</c:v>
                </c:pt>
              </c:strCache>
            </c:strRef>
          </c:tx>
          <c:spPr>
            <a:pattFill prst="ltDnDiag">
              <a:fgClr>
                <a:schemeClr val="accent2"/>
              </a:fgClr>
              <a:bgClr>
                <a:schemeClr val="bg1"/>
              </a:bgClr>
            </a:pattFill>
            <a:ln>
              <a:solidFill>
                <a:schemeClr val="accent2"/>
              </a:solidFill>
            </a:ln>
            <a:effectLst/>
          </c:spPr>
          <c:invertIfNegative val="0"/>
          <c:dLbls>
            <c:dLbl>
              <c:idx val="5"/>
              <c:layout>
                <c:manualLayout>
                  <c:x val="-2.1682622743705426E-3"/>
                  <c:y val="-8.399248697124421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EEF-4750-93C5-75F5D122E7F3}"/>
                </c:ext>
              </c:extLst>
            </c:dLbl>
            <c:dLbl>
              <c:idx val="6"/>
              <c:layout>
                <c:manualLayout>
                  <c:x val="4.3365245487409255E-3"/>
                  <c:y val="1.3998747828540627E-2"/>
                </c:manualLayout>
              </c:layout>
              <c:spPr>
                <a:noFill/>
                <a:ln>
                  <a:noFill/>
                </a:ln>
                <a:effectLst/>
              </c:spPr>
              <c:txPr>
                <a:bodyPr rot="0" spcFirstLastPara="1" vertOverflow="ellipsis" vert="horz" wrap="square" lIns="38100" tIns="19050" rIns="38100" bIns="19050" anchor="ctr" anchorCtr="1">
                  <a:spAutoFit/>
                </a:bodyPr>
                <a:lstStyle/>
                <a:p>
                  <a:pPr>
                    <a:defRPr lang="ja-JP" sz="800" b="0" i="0" u="none" strike="noStrike" kern="1200" baseline="0">
                      <a:solidFill>
                        <a:schemeClr val="tx1"/>
                      </a:solidFill>
                      <a:latin typeface="+mn-lt"/>
                      <a:ea typeface="+mn-ea"/>
                      <a:cs typeface="+mn-cs"/>
                    </a:defRPr>
                  </a:pPr>
                  <a:endParaRPr lang="ja-JP"/>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EEF-4750-93C5-75F5D122E7F3}"/>
                </c:ext>
              </c:extLst>
            </c:dLbl>
            <c:dLbl>
              <c:idx val="7"/>
              <c:layout>
                <c:manualLayout>
                  <c:x val="4.3365245487410851E-3"/>
                  <c:y val="-0.2939737043993545"/>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EEF-4750-93C5-75F5D122E7F3}"/>
                </c:ext>
              </c:extLst>
            </c:dLbl>
            <c:spPr>
              <a:noFill/>
              <a:ln>
                <a:noFill/>
              </a:ln>
              <a:effectLst/>
            </c:spPr>
            <c:txPr>
              <a:bodyPr rot="0" spcFirstLastPara="1" vertOverflow="ellipsis" vert="horz" wrap="square" lIns="38100" tIns="19050" rIns="38100" bIns="19050" anchor="ctr" anchorCtr="1">
                <a:spAutoFit/>
              </a:bodyPr>
              <a:lstStyle/>
              <a:p>
                <a:pPr>
                  <a:defRPr lang="ja-JP" sz="800" b="0" i="0" u="none" strike="noStrike" kern="1200" baseline="0">
                    <a:solidFill>
                      <a:schemeClr val="tx1">
                        <a:lumMod val="75000"/>
                        <a:lumOff val="25000"/>
                      </a:schemeClr>
                    </a:solidFill>
                    <a:latin typeface="+mn-lt"/>
                    <a:ea typeface="+mn-ea"/>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Sheet1!$A$2:$A$9</c:f>
              <c:numCache>
                <c:formatCode>General</c:formatCode>
                <c:ptCount val="8"/>
                <c:pt idx="0">
                  <c:v>2019</c:v>
                </c:pt>
                <c:pt idx="1">
                  <c:v>2020</c:v>
                </c:pt>
                <c:pt idx="2">
                  <c:v>2021</c:v>
                </c:pt>
                <c:pt idx="3">
                  <c:v>2022</c:v>
                </c:pt>
                <c:pt idx="4">
                  <c:v>2023</c:v>
                </c:pt>
                <c:pt idx="5">
                  <c:v>2024</c:v>
                </c:pt>
                <c:pt idx="6">
                  <c:v>2025</c:v>
                </c:pt>
                <c:pt idx="7">
                  <c:v>2026</c:v>
                </c:pt>
              </c:numCache>
            </c:numRef>
          </c:cat>
          <c:val>
            <c:numRef>
              <c:f>Sheet1!$C$2:$C$9</c:f>
              <c:numCache>
                <c:formatCode>General</c:formatCode>
                <c:ptCount val="8"/>
                <c:pt idx="6" formatCode="_-* #,##0_-;\-* #,##0_-;_-* &quot;-&quot;??_-;_-@_-">
                  <c:v>672</c:v>
                </c:pt>
                <c:pt idx="7" formatCode="_-* #,##0_-;\-* #,##0_-;_-* &quot;-&quot;??_-;_-@_-">
                  <c:v>2212</c:v>
                </c:pt>
              </c:numCache>
            </c:numRef>
          </c:val>
          <c:extLst>
            <c:ext xmlns:c16="http://schemas.microsoft.com/office/drawing/2014/chart" uri="{C3380CC4-5D6E-409C-BE32-E72D297353CC}">
              <c16:uniqueId val="{00000004-DEEF-4750-93C5-75F5D122E7F3}"/>
            </c:ext>
          </c:extLst>
        </c:ser>
        <c:dLbls>
          <c:showLegendKey val="0"/>
          <c:showVal val="0"/>
          <c:showCatName val="0"/>
          <c:showSerName val="0"/>
          <c:showPercent val="0"/>
          <c:showBubbleSize val="0"/>
        </c:dLbls>
        <c:gapWidth val="150"/>
        <c:overlap val="100"/>
        <c:axId val="2057527503"/>
        <c:axId val="2057466591"/>
      </c:barChart>
      <c:catAx>
        <c:axId val="2057527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2057466591"/>
        <c:crosses val="autoZero"/>
        <c:auto val="1"/>
        <c:lblAlgn val="ctr"/>
        <c:lblOffset val="100"/>
        <c:noMultiLvlLbl val="0"/>
      </c:catAx>
      <c:valAx>
        <c:axId val="2057466591"/>
        <c:scaling>
          <c:orientation val="minMax"/>
          <c:max val="3500"/>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crossAx val="2057527503"/>
        <c:crosses val="autoZero"/>
        <c:crossBetween val="between"/>
        <c:majorUnit val="500"/>
      </c:val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405C8B"/>
      </a:solidFill>
    </a:ln>
    <a:effectLst/>
  </c:spPr>
  <c:txPr>
    <a:bodyPr/>
    <a:lstStyle/>
    <a:p>
      <a:pPr>
        <a:defRPr/>
      </a:pPr>
      <a:endParaRPr lang="ja-JP"/>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r>
              <a:rPr lang="en-US" sz="1000" dirty="0">
                <a:solidFill>
                  <a:srgbClr val="344251"/>
                </a:solidFill>
              </a:rPr>
              <a:t>First Time Parts Fill Rate</a:t>
            </a:r>
          </a:p>
        </c:rich>
      </c:tx>
      <c:overlay val="0"/>
      <c:spPr>
        <a:noFill/>
        <a:ln>
          <a:noFill/>
        </a:ln>
        <a:effectLst/>
      </c:spPr>
      <c:txPr>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2023 Actual</c:v>
                </c:pt>
              </c:strCache>
            </c:strRef>
          </c:tx>
          <c:spPr>
            <a:ln w="15875" cap="rnd">
              <a:solidFill>
                <a:schemeClr val="accent5"/>
              </a:solidFill>
              <a:round/>
            </a:ln>
            <a:effectLst/>
          </c:spPr>
          <c:marker>
            <c:symbol val="circle"/>
            <c:size val="5"/>
            <c:spPr>
              <a:solidFill>
                <a:schemeClr val="accent5"/>
              </a:solidFill>
              <a:ln w="9525">
                <a:solidFill>
                  <a:schemeClr val="accent5"/>
                </a:solidFill>
              </a:ln>
              <a:effectLst/>
            </c:spPr>
          </c:marker>
          <c:cat>
            <c:strRef>
              <c:f>Sheet1!$A$2:$A$13</c:f>
              <c:strCache>
                <c:ptCount val="12"/>
                <c:pt idx="0">
                  <c:v>April</c:v>
                </c:pt>
                <c:pt idx="1">
                  <c:v>May</c:v>
                </c:pt>
                <c:pt idx="2">
                  <c:v>June</c:v>
                </c:pt>
                <c:pt idx="3">
                  <c:v>July</c:v>
                </c:pt>
                <c:pt idx="4">
                  <c:v>August</c:v>
                </c:pt>
                <c:pt idx="5">
                  <c:v>September</c:v>
                </c:pt>
                <c:pt idx="6">
                  <c:v>October</c:v>
                </c:pt>
                <c:pt idx="7">
                  <c:v>November</c:v>
                </c:pt>
                <c:pt idx="8">
                  <c:v>December</c:v>
                </c:pt>
                <c:pt idx="9">
                  <c:v>January</c:v>
                </c:pt>
                <c:pt idx="10">
                  <c:v>February</c:v>
                </c:pt>
                <c:pt idx="11">
                  <c:v>March</c:v>
                </c:pt>
              </c:strCache>
            </c:strRef>
          </c:cat>
          <c:val>
            <c:numRef>
              <c:f>Sheet1!$B$2:$B$13</c:f>
              <c:numCache>
                <c:formatCode>0.00%</c:formatCode>
                <c:ptCount val="12"/>
                <c:pt idx="0">
                  <c:v>0.96060000000000001</c:v>
                </c:pt>
                <c:pt idx="1">
                  <c:v>0.96150000000000002</c:v>
                </c:pt>
                <c:pt idx="2">
                  <c:v>0.97260000000000002</c:v>
                </c:pt>
                <c:pt idx="3">
                  <c:v>0.96989999999999998</c:v>
                </c:pt>
                <c:pt idx="4">
                  <c:v>0.97119999999999995</c:v>
                </c:pt>
                <c:pt idx="5">
                  <c:v>0.96809999999999996</c:v>
                </c:pt>
                <c:pt idx="6">
                  <c:v>0.96909999999999996</c:v>
                </c:pt>
                <c:pt idx="7">
                  <c:v>0.95679999999999998</c:v>
                </c:pt>
                <c:pt idx="8">
                  <c:v>0.95840000000000003</c:v>
                </c:pt>
                <c:pt idx="9">
                  <c:v>0.95409999999999995</c:v>
                </c:pt>
                <c:pt idx="10">
                  <c:v>0.93969999999999998</c:v>
                </c:pt>
                <c:pt idx="11">
                  <c:v>0.96319999999999995</c:v>
                </c:pt>
              </c:numCache>
            </c:numRef>
          </c:val>
          <c:smooth val="0"/>
          <c:extLst>
            <c:ext xmlns:c16="http://schemas.microsoft.com/office/drawing/2014/chart" uri="{C3380CC4-5D6E-409C-BE32-E72D297353CC}">
              <c16:uniqueId val="{00000000-9CE9-FE45-91FC-4EDB09BED08E}"/>
            </c:ext>
          </c:extLst>
        </c:ser>
        <c:ser>
          <c:idx val="1"/>
          <c:order val="1"/>
          <c:tx>
            <c:strRef>
              <c:f>Sheet1!$C$1</c:f>
              <c:strCache>
                <c:ptCount val="1"/>
                <c:pt idx="0">
                  <c:v>2024 Actual</c:v>
                </c:pt>
              </c:strCache>
            </c:strRef>
          </c:tx>
          <c:spPr>
            <a:ln w="15875" cap="rnd">
              <a:solidFill>
                <a:schemeClr val="accent2"/>
              </a:solidFill>
              <a:round/>
            </a:ln>
            <a:effectLst/>
          </c:spPr>
          <c:marker>
            <c:symbol val="circle"/>
            <c:size val="5"/>
            <c:spPr>
              <a:solidFill>
                <a:schemeClr val="accent2"/>
              </a:solidFill>
              <a:ln w="9525">
                <a:solidFill>
                  <a:schemeClr val="accent2"/>
                </a:solidFill>
              </a:ln>
              <a:effectLst/>
            </c:spPr>
          </c:marker>
          <c:cat>
            <c:strRef>
              <c:f>Sheet1!$A$2:$A$13</c:f>
              <c:strCache>
                <c:ptCount val="12"/>
                <c:pt idx="0">
                  <c:v>April</c:v>
                </c:pt>
                <c:pt idx="1">
                  <c:v>May</c:v>
                </c:pt>
                <c:pt idx="2">
                  <c:v>June</c:v>
                </c:pt>
                <c:pt idx="3">
                  <c:v>July</c:v>
                </c:pt>
                <c:pt idx="4">
                  <c:v>August</c:v>
                </c:pt>
                <c:pt idx="5">
                  <c:v>September</c:v>
                </c:pt>
                <c:pt idx="6">
                  <c:v>October</c:v>
                </c:pt>
                <c:pt idx="7">
                  <c:v>November</c:v>
                </c:pt>
                <c:pt idx="8">
                  <c:v>December</c:v>
                </c:pt>
                <c:pt idx="9">
                  <c:v>January</c:v>
                </c:pt>
                <c:pt idx="10">
                  <c:v>February</c:v>
                </c:pt>
                <c:pt idx="11">
                  <c:v>March</c:v>
                </c:pt>
              </c:strCache>
            </c:strRef>
          </c:cat>
          <c:val>
            <c:numRef>
              <c:f>Sheet1!$C$2:$C$13</c:f>
              <c:numCache>
                <c:formatCode>0.00%</c:formatCode>
                <c:ptCount val="12"/>
                <c:pt idx="0">
                  <c:v>0.96179999999999999</c:v>
                </c:pt>
                <c:pt idx="1">
                  <c:v>0.9546</c:v>
                </c:pt>
                <c:pt idx="2">
                  <c:v>0.9597</c:v>
                </c:pt>
                <c:pt idx="3">
                  <c:v>0.96130000000000004</c:v>
                </c:pt>
                <c:pt idx="4">
                  <c:v>0.96279999999999999</c:v>
                </c:pt>
                <c:pt idx="5">
                  <c:v>0.96909999999999996</c:v>
                </c:pt>
                <c:pt idx="6">
                  <c:v>0.97099999999999997</c:v>
                </c:pt>
                <c:pt idx="7">
                  <c:v>0.96589999999999998</c:v>
                </c:pt>
                <c:pt idx="8">
                  <c:v>0.96309999999999996</c:v>
                </c:pt>
                <c:pt idx="9">
                  <c:v>0.95</c:v>
                </c:pt>
                <c:pt idx="10">
                  <c:v>0.95650000000000002</c:v>
                </c:pt>
                <c:pt idx="11">
                  <c:v>0.95050000000000001</c:v>
                </c:pt>
              </c:numCache>
            </c:numRef>
          </c:val>
          <c:smooth val="0"/>
          <c:extLst>
            <c:ext xmlns:c16="http://schemas.microsoft.com/office/drawing/2014/chart" uri="{C3380CC4-5D6E-409C-BE32-E72D297353CC}">
              <c16:uniqueId val="{00000003-9CE9-FE45-91FC-4EDB09BED08E}"/>
            </c:ext>
          </c:extLst>
        </c:ser>
        <c:ser>
          <c:idx val="2"/>
          <c:order val="2"/>
          <c:tx>
            <c:strRef>
              <c:f>Sheet1!$D$1</c:f>
              <c:strCache>
                <c:ptCount val="1"/>
                <c:pt idx="0">
                  <c:v>2025 Plan</c:v>
                </c:pt>
              </c:strCache>
            </c:strRef>
          </c:tx>
          <c:spPr>
            <a:ln w="15875" cap="rnd">
              <a:solidFill>
                <a:schemeClr val="accent3"/>
              </a:solidFill>
              <a:prstDash val="dash"/>
              <a:round/>
            </a:ln>
            <a:effectLst/>
          </c:spPr>
          <c:marker>
            <c:symbol val="none"/>
          </c:marker>
          <c:cat>
            <c:strRef>
              <c:f>Sheet1!$A$2:$A$13</c:f>
              <c:strCache>
                <c:ptCount val="12"/>
                <c:pt idx="0">
                  <c:v>April</c:v>
                </c:pt>
                <c:pt idx="1">
                  <c:v>May</c:v>
                </c:pt>
                <c:pt idx="2">
                  <c:v>June</c:v>
                </c:pt>
                <c:pt idx="3">
                  <c:v>July</c:v>
                </c:pt>
                <c:pt idx="4">
                  <c:v>August</c:v>
                </c:pt>
                <c:pt idx="5">
                  <c:v>September</c:v>
                </c:pt>
                <c:pt idx="6">
                  <c:v>October</c:v>
                </c:pt>
                <c:pt idx="7">
                  <c:v>November</c:v>
                </c:pt>
                <c:pt idx="8">
                  <c:v>December</c:v>
                </c:pt>
                <c:pt idx="9">
                  <c:v>January</c:v>
                </c:pt>
                <c:pt idx="10">
                  <c:v>February</c:v>
                </c:pt>
                <c:pt idx="11">
                  <c:v>March</c:v>
                </c:pt>
              </c:strCache>
            </c:strRef>
          </c:cat>
          <c:val>
            <c:numRef>
              <c:f>Sheet1!$D$2:$D$13</c:f>
              <c:numCache>
                <c:formatCode>0%</c:formatCode>
                <c:ptCount val="12"/>
                <c:pt idx="0">
                  <c:v>0.95</c:v>
                </c:pt>
                <c:pt idx="1">
                  <c:v>0.95</c:v>
                </c:pt>
                <c:pt idx="2">
                  <c:v>0.95</c:v>
                </c:pt>
                <c:pt idx="3">
                  <c:v>0.95</c:v>
                </c:pt>
                <c:pt idx="4">
                  <c:v>0.95</c:v>
                </c:pt>
                <c:pt idx="5">
                  <c:v>0.95</c:v>
                </c:pt>
                <c:pt idx="6">
                  <c:v>0.95</c:v>
                </c:pt>
                <c:pt idx="7">
                  <c:v>0.95</c:v>
                </c:pt>
                <c:pt idx="8">
                  <c:v>0.95</c:v>
                </c:pt>
                <c:pt idx="9">
                  <c:v>0.95</c:v>
                </c:pt>
                <c:pt idx="10">
                  <c:v>0.95</c:v>
                </c:pt>
                <c:pt idx="11">
                  <c:v>0.95</c:v>
                </c:pt>
              </c:numCache>
            </c:numRef>
          </c:val>
          <c:smooth val="0"/>
          <c:extLst>
            <c:ext xmlns:c16="http://schemas.microsoft.com/office/drawing/2014/chart" uri="{C3380CC4-5D6E-409C-BE32-E72D297353CC}">
              <c16:uniqueId val="{00000000-A2CE-2B44-9DB8-57CBFD77B5A5}"/>
            </c:ext>
          </c:extLst>
        </c:ser>
        <c:ser>
          <c:idx val="3"/>
          <c:order val="3"/>
          <c:tx>
            <c:strRef>
              <c:f>Sheet1!$E$1</c:f>
              <c:strCache>
                <c:ptCount val="1"/>
                <c:pt idx="0">
                  <c:v>2025 Actual YTD June</c:v>
                </c:pt>
              </c:strCache>
            </c:strRef>
          </c:tx>
          <c:spPr>
            <a:ln w="28575" cap="rnd">
              <a:solidFill>
                <a:srgbClr val="E60012"/>
              </a:solidFill>
              <a:round/>
            </a:ln>
            <a:effectLst/>
          </c:spPr>
          <c:marker>
            <c:symbol val="circle"/>
            <c:size val="5"/>
            <c:spPr>
              <a:solidFill>
                <a:srgbClr val="E60012"/>
              </a:solidFill>
              <a:ln w="9525">
                <a:solidFill>
                  <a:srgbClr val="E60012"/>
                </a:solidFill>
              </a:ln>
              <a:effectLst/>
            </c:spPr>
          </c:marker>
          <c:cat>
            <c:strRef>
              <c:f>Sheet1!$A$2:$A$13</c:f>
              <c:strCache>
                <c:ptCount val="12"/>
                <c:pt idx="0">
                  <c:v>April</c:v>
                </c:pt>
                <c:pt idx="1">
                  <c:v>May</c:v>
                </c:pt>
                <c:pt idx="2">
                  <c:v>June</c:v>
                </c:pt>
                <c:pt idx="3">
                  <c:v>July</c:v>
                </c:pt>
                <c:pt idx="4">
                  <c:v>August</c:v>
                </c:pt>
                <c:pt idx="5">
                  <c:v>September</c:v>
                </c:pt>
                <c:pt idx="6">
                  <c:v>October</c:v>
                </c:pt>
                <c:pt idx="7">
                  <c:v>November</c:v>
                </c:pt>
                <c:pt idx="8">
                  <c:v>December</c:v>
                </c:pt>
                <c:pt idx="9">
                  <c:v>January</c:v>
                </c:pt>
                <c:pt idx="10">
                  <c:v>February</c:v>
                </c:pt>
                <c:pt idx="11">
                  <c:v>March</c:v>
                </c:pt>
              </c:strCache>
            </c:strRef>
          </c:cat>
          <c:val>
            <c:numRef>
              <c:f>Sheet1!$E$2:$E$13</c:f>
              <c:numCache>
                <c:formatCode>0.00%</c:formatCode>
                <c:ptCount val="12"/>
                <c:pt idx="0">
                  <c:v>0.94320000000000004</c:v>
                </c:pt>
                <c:pt idx="1">
                  <c:v>0.93899999999999995</c:v>
                </c:pt>
                <c:pt idx="2">
                  <c:v>0.94579999999999997</c:v>
                </c:pt>
                <c:pt idx="3">
                  <c:v>0.95489999999999997</c:v>
                </c:pt>
                <c:pt idx="4">
                  <c:v>0.96140000000000003</c:v>
                </c:pt>
                <c:pt idx="5">
                  <c:v>0.95950000000000002</c:v>
                </c:pt>
                <c:pt idx="6">
                  <c:v>0.95740000000000003</c:v>
                </c:pt>
                <c:pt idx="7">
                  <c:v>0.95169999999999999</c:v>
                </c:pt>
                <c:pt idx="8">
                  <c:v>0.94679999999999997</c:v>
                </c:pt>
              </c:numCache>
            </c:numRef>
          </c:val>
          <c:smooth val="0"/>
          <c:extLst>
            <c:ext xmlns:c16="http://schemas.microsoft.com/office/drawing/2014/chart" uri="{C3380CC4-5D6E-409C-BE32-E72D297353CC}">
              <c16:uniqueId val="{00000001-A2CE-2B44-9DB8-57CBFD77B5A5}"/>
            </c:ext>
          </c:extLst>
        </c:ser>
        <c:dLbls>
          <c:showLegendKey val="0"/>
          <c:showVal val="0"/>
          <c:showCatName val="0"/>
          <c:showSerName val="0"/>
          <c:showPercent val="0"/>
          <c:showBubbleSize val="0"/>
        </c:dLbls>
        <c:marker val="1"/>
        <c:smooth val="0"/>
        <c:axId val="1122261568"/>
        <c:axId val="1122086448"/>
      </c:lineChart>
      <c:catAx>
        <c:axId val="1122261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en-US"/>
          </a:p>
        </c:txPr>
        <c:crossAx val="1122086448"/>
        <c:crosses val="autoZero"/>
        <c:auto val="1"/>
        <c:lblAlgn val="ctr"/>
        <c:lblOffset val="100"/>
        <c:noMultiLvlLbl val="0"/>
      </c:catAx>
      <c:valAx>
        <c:axId val="1122086448"/>
        <c:scaling>
          <c:orientation val="minMax"/>
          <c:min val="0.93"/>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en-US"/>
          </a:p>
        </c:txPr>
        <c:crossAx val="11222615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405C8B"/>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r>
              <a:rPr lang="en-US" sz="1000" dirty="0">
                <a:solidFill>
                  <a:srgbClr val="344251"/>
                </a:solidFill>
              </a:rPr>
              <a:t>Parts Sales Result &amp; Forecast</a:t>
            </a:r>
          </a:p>
        </c:rich>
      </c:tx>
      <c:overlay val="0"/>
      <c:spPr>
        <a:noFill/>
        <a:ln>
          <a:noFill/>
        </a:ln>
        <a:effectLst/>
      </c:spPr>
      <c:txPr>
        <a:bodyPr rot="0" spcFirstLastPara="1" vertOverflow="ellipsis" vert="horz" wrap="square" anchor="ctr" anchorCtr="1"/>
        <a:lstStyle/>
        <a:p>
          <a:pPr>
            <a:defRPr lang="ja-JP" sz="1000" b="0" i="0" u="none" strike="noStrike" kern="1200" spc="0" baseline="0">
              <a:solidFill>
                <a:srgbClr val="344251"/>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Sales</c:v>
                </c:pt>
              </c:strCache>
            </c:strRef>
          </c:tx>
          <c:spPr>
            <a:solidFill>
              <a:schemeClr val="accent2"/>
            </a:solidFill>
            <a:ln>
              <a:solidFill>
                <a:schemeClr val="accent2"/>
              </a:solidFill>
            </a:ln>
            <a:effectLst/>
          </c:spPr>
          <c:invertIfNegative val="0"/>
          <c:cat>
            <c:numRef>
              <c:f>Sheet1!$A$2:$A$14</c:f>
              <c:numCache>
                <c:formatCode>General</c:formatCode>
                <c:ptCount val="13"/>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numCache>
            </c:numRef>
          </c:cat>
          <c:val>
            <c:numRef>
              <c:f>Sheet1!$B$2:$B$14</c:f>
              <c:numCache>
                <c:formatCode>#,##0</c:formatCode>
                <c:ptCount val="13"/>
                <c:pt idx="0">
                  <c:v>6187177</c:v>
                </c:pt>
                <c:pt idx="1">
                  <c:v>6656987</c:v>
                </c:pt>
                <c:pt idx="2">
                  <c:v>7536385</c:v>
                </c:pt>
                <c:pt idx="3">
                  <c:v>7439721</c:v>
                </c:pt>
                <c:pt idx="4">
                  <c:v>7060023</c:v>
                </c:pt>
                <c:pt idx="5">
                  <c:v>8760412</c:v>
                </c:pt>
                <c:pt idx="6">
                  <c:v>9846340</c:v>
                </c:pt>
                <c:pt idx="7">
                  <c:v>12031427</c:v>
                </c:pt>
                <c:pt idx="8">
                  <c:v>12270040</c:v>
                </c:pt>
                <c:pt idx="9">
                  <c:v>9204702</c:v>
                </c:pt>
              </c:numCache>
            </c:numRef>
          </c:val>
          <c:extLst>
            <c:ext xmlns:c16="http://schemas.microsoft.com/office/drawing/2014/chart" uri="{C3380CC4-5D6E-409C-BE32-E72D297353CC}">
              <c16:uniqueId val="{00000000-A0F1-9146-8A15-D5C4BA6A5FD2}"/>
            </c:ext>
          </c:extLst>
        </c:ser>
        <c:ser>
          <c:idx val="2"/>
          <c:order val="2"/>
          <c:tx>
            <c:strRef>
              <c:f>Sheet1!$D$1</c:f>
              <c:strCache>
                <c:ptCount val="1"/>
                <c:pt idx="0">
                  <c:v>Forecast</c:v>
                </c:pt>
              </c:strCache>
            </c:strRef>
          </c:tx>
          <c:spPr>
            <a:pattFill prst="ltDnDiag">
              <a:fgClr>
                <a:schemeClr val="accent2"/>
              </a:fgClr>
              <a:bgClr>
                <a:schemeClr val="bg1"/>
              </a:bgClr>
            </a:pattFill>
            <a:ln>
              <a:solidFill>
                <a:schemeClr val="accent2"/>
              </a:solidFill>
            </a:ln>
            <a:effectLst/>
          </c:spPr>
          <c:invertIfNegative val="0"/>
          <c:cat>
            <c:numRef>
              <c:f>Sheet1!$A$2:$A$14</c:f>
              <c:numCache>
                <c:formatCode>General</c:formatCode>
                <c:ptCount val="13"/>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numCache>
            </c:numRef>
          </c:cat>
          <c:val>
            <c:numRef>
              <c:f>Sheet1!$D$2:$D$14</c:f>
              <c:numCache>
                <c:formatCode>General</c:formatCode>
                <c:ptCount val="13"/>
                <c:pt idx="9" formatCode="#,##0">
                  <c:v>3395298</c:v>
                </c:pt>
                <c:pt idx="10" formatCode="#,##0">
                  <c:v>13129200</c:v>
                </c:pt>
                <c:pt idx="11" formatCode="#,##0">
                  <c:v>13785660</c:v>
                </c:pt>
                <c:pt idx="12" formatCode="#,##0">
                  <c:v>14474943</c:v>
                </c:pt>
              </c:numCache>
            </c:numRef>
          </c:val>
          <c:extLst>
            <c:ext xmlns:c16="http://schemas.microsoft.com/office/drawing/2014/chart" uri="{C3380CC4-5D6E-409C-BE32-E72D297353CC}">
              <c16:uniqueId val="{00000002-A0F1-9146-8A15-D5C4BA6A5FD2}"/>
            </c:ext>
          </c:extLst>
        </c:ser>
        <c:dLbls>
          <c:showLegendKey val="0"/>
          <c:showVal val="0"/>
          <c:showCatName val="0"/>
          <c:showSerName val="0"/>
          <c:showPercent val="0"/>
          <c:showBubbleSize val="0"/>
        </c:dLbls>
        <c:gapWidth val="150"/>
        <c:overlap val="100"/>
        <c:axId val="1122261568"/>
        <c:axId val="1122086448"/>
      </c:barChart>
      <c:lineChart>
        <c:grouping val="standard"/>
        <c:varyColors val="0"/>
        <c:ser>
          <c:idx val="1"/>
          <c:order val="1"/>
          <c:tx>
            <c:strRef>
              <c:f>Sheet1!$C$1</c:f>
              <c:strCache>
                <c:ptCount val="1"/>
                <c:pt idx="0">
                  <c:v>Plan</c:v>
                </c:pt>
              </c:strCache>
            </c:strRef>
          </c:tx>
          <c:spPr>
            <a:ln w="15875" cap="rnd">
              <a:solidFill>
                <a:schemeClr val="accent3"/>
              </a:solidFill>
              <a:prstDash val="dash"/>
              <a:round/>
            </a:ln>
            <a:effectLst/>
          </c:spPr>
          <c:marker>
            <c:symbol val="none"/>
          </c:marker>
          <c:cat>
            <c:numRef>
              <c:f>Sheet1!$A$2:$A$14</c:f>
              <c:numCache>
                <c:formatCode>General</c:formatCode>
                <c:ptCount val="13"/>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numCache>
            </c:numRef>
          </c:cat>
          <c:val>
            <c:numRef>
              <c:f>Sheet1!$C$2:$C$14</c:f>
              <c:numCache>
                <c:formatCode>#,##0</c:formatCode>
                <c:ptCount val="13"/>
                <c:pt idx="0">
                  <c:v>6160295</c:v>
                </c:pt>
                <c:pt idx="1">
                  <c:v>6463000</c:v>
                </c:pt>
                <c:pt idx="2">
                  <c:v>7123000</c:v>
                </c:pt>
                <c:pt idx="3">
                  <c:v>7725050</c:v>
                </c:pt>
                <c:pt idx="4">
                  <c:v>7725000</c:v>
                </c:pt>
                <c:pt idx="5">
                  <c:v>7600115</c:v>
                </c:pt>
                <c:pt idx="6">
                  <c:v>8900000</c:v>
                </c:pt>
                <c:pt idx="7">
                  <c:v>11250258</c:v>
                </c:pt>
                <c:pt idx="8">
                  <c:v>12250000</c:v>
                </c:pt>
                <c:pt idx="9">
                  <c:v>12600000</c:v>
                </c:pt>
                <c:pt idx="10">
                  <c:v>13129200</c:v>
                </c:pt>
                <c:pt idx="11">
                  <c:v>13785660</c:v>
                </c:pt>
                <c:pt idx="12">
                  <c:v>14474943</c:v>
                </c:pt>
              </c:numCache>
            </c:numRef>
          </c:val>
          <c:smooth val="0"/>
          <c:extLst>
            <c:ext xmlns:c16="http://schemas.microsoft.com/office/drawing/2014/chart" uri="{C3380CC4-5D6E-409C-BE32-E72D297353CC}">
              <c16:uniqueId val="{00000001-A0F1-9146-8A15-D5C4BA6A5FD2}"/>
            </c:ext>
          </c:extLst>
        </c:ser>
        <c:dLbls>
          <c:showLegendKey val="0"/>
          <c:showVal val="0"/>
          <c:showCatName val="0"/>
          <c:showSerName val="0"/>
          <c:showPercent val="0"/>
          <c:showBubbleSize val="0"/>
        </c:dLbls>
        <c:marker val="1"/>
        <c:smooth val="0"/>
        <c:axId val="1122261568"/>
        <c:axId val="1122086448"/>
      </c:lineChart>
      <c:catAx>
        <c:axId val="1122261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700" b="0" i="0" u="none" strike="noStrike" kern="1200" baseline="0">
                <a:solidFill>
                  <a:srgbClr val="344251"/>
                </a:solidFill>
                <a:latin typeface="+mn-lt"/>
                <a:ea typeface="+mn-ea"/>
                <a:cs typeface="+mn-cs"/>
              </a:defRPr>
            </a:pPr>
            <a:endParaRPr lang="en-US"/>
          </a:p>
        </c:txPr>
        <c:crossAx val="1122086448"/>
        <c:crosses val="autoZero"/>
        <c:auto val="1"/>
        <c:lblAlgn val="ctr"/>
        <c:lblOffset val="100"/>
        <c:noMultiLvlLbl val="0"/>
      </c:catAx>
      <c:valAx>
        <c:axId val="112208644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en-US"/>
          </a:p>
        </c:txPr>
        <c:crossAx val="11222615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800" b="0" i="0" u="none" strike="noStrike" kern="1200" baseline="0">
              <a:solidFill>
                <a:srgbClr val="34425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405C8B"/>
      </a:solid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v>Inventory</c:v>
          </c:tx>
          <c:spPr>
            <a:solidFill>
              <a:srgbClr val="002060"/>
            </a:solidFill>
            <a:ln>
              <a:noFill/>
            </a:ln>
            <a:effectLst/>
          </c:spPr>
          <c:invertIfNegative val="0"/>
          <c:cat>
            <c:strRef>
              <c:f>(SPI!$D$4:$I$4,SPI!$K$4:$M$4)</c:f>
              <c:strCache>
                <c:ptCount val="9"/>
                <c:pt idx="0">
                  <c:v>APR</c:v>
                </c:pt>
                <c:pt idx="1">
                  <c:v>MAY</c:v>
                </c:pt>
                <c:pt idx="2">
                  <c:v>JUN</c:v>
                </c:pt>
                <c:pt idx="3">
                  <c:v>JUL</c:v>
                </c:pt>
                <c:pt idx="4">
                  <c:v>AUG</c:v>
                </c:pt>
                <c:pt idx="5">
                  <c:v>SEP</c:v>
                </c:pt>
                <c:pt idx="6">
                  <c:v>OCT</c:v>
                </c:pt>
                <c:pt idx="7">
                  <c:v>NOV</c:v>
                </c:pt>
                <c:pt idx="8">
                  <c:v>DEC</c:v>
                </c:pt>
              </c:strCache>
            </c:strRef>
          </c:cat>
          <c:val>
            <c:numRef>
              <c:f>(SPI!$D$15:$I$15,SPI!$K$15:$M$15)</c:f>
              <c:numCache>
                <c:formatCode>"£"#,##0;[Red]"£"#,##0</c:formatCode>
                <c:ptCount val="9"/>
                <c:pt idx="0">
                  <c:v>2184119.6387999919</c:v>
                </c:pt>
                <c:pt idx="1">
                  <c:v>2236311.3667999939</c:v>
                </c:pt>
                <c:pt idx="2">
                  <c:v>2216281.9314999972</c:v>
                </c:pt>
                <c:pt idx="3">
                  <c:v>2491033.9054999994</c:v>
                </c:pt>
                <c:pt idx="4">
                  <c:v>2405201.3191000018</c:v>
                </c:pt>
                <c:pt idx="5">
                  <c:v>2576492.0467999973</c:v>
                </c:pt>
                <c:pt idx="6">
                  <c:v>2581427.5914999982</c:v>
                </c:pt>
                <c:pt idx="7">
                  <c:v>2451304.6764000021</c:v>
                </c:pt>
                <c:pt idx="8">
                  <c:v>2562300.1062000012</c:v>
                </c:pt>
              </c:numCache>
            </c:numRef>
          </c:val>
          <c:extLst>
            <c:ext xmlns:c16="http://schemas.microsoft.com/office/drawing/2014/chart" uri="{C3380CC4-5D6E-409C-BE32-E72D297353CC}">
              <c16:uniqueId val="{00000000-8A19-452F-B238-8A522B95774E}"/>
            </c:ext>
          </c:extLst>
        </c:ser>
        <c:dLbls>
          <c:showLegendKey val="0"/>
          <c:showVal val="0"/>
          <c:showCatName val="0"/>
          <c:showSerName val="0"/>
          <c:showPercent val="0"/>
          <c:showBubbleSize val="0"/>
        </c:dLbls>
        <c:gapWidth val="250"/>
        <c:axId val="168866767"/>
        <c:axId val="168867247"/>
      </c:barChart>
      <c:lineChart>
        <c:grouping val="standard"/>
        <c:varyColors val="0"/>
        <c:ser>
          <c:idx val="1"/>
          <c:order val="1"/>
          <c:tx>
            <c:v>M.O.S</c:v>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0">
                <a:spAutoFit/>
              </a:bodyPr>
              <a:lstStyle/>
              <a:p>
                <a:pPr>
                  <a:defRPr lang="ja-JP"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(SPI!$D$4:$I$4,SPI!$K$4:$M$4)</c:f>
              <c:strCache>
                <c:ptCount val="9"/>
                <c:pt idx="0">
                  <c:v>APR</c:v>
                </c:pt>
                <c:pt idx="1">
                  <c:v>MAY</c:v>
                </c:pt>
                <c:pt idx="2">
                  <c:v>JUN</c:v>
                </c:pt>
                <c:pt idx="3">
                  <c:v>JUL</c:v>
                </c:pt>
                <c:pt idx="4">
                  <c:v>AUG</c:v>
                </c:pt>
                <c:pt idx="5">
                  <c:v>SEP</c:v>
                </c:pt>
                <c:pt idx="6">
                  <c:v>OCT</c:v>
                </c:pt>
                <c:pt idx="7">
                  <c:v>NOV</c:v>
                </c:pt>
                <c:pt idx="8">
                  <c:v>DEC</c:v>
                </c:pt>
              </c:strCache>
            </c:strRef>
          </c:cat>
          <c:val>
            <c:numRef>
              <c:f>(SPI!$D$16:$I$16,SPI!$K$16:$M$16)</c:f>
              <c:numCache>
                <c:formatCode>#,##0.0;[Red]#,##0.0</c:formatCode>
                <c:ptCount val="9"/>
                <c:pt idx="0">
                  <c:v>4.5457448405266003</c:v>
                </c:pt>
                <c:pt idx="1">
                  <c:v>4.651888078675344</c:v>
                </c:pt>
                <c:pt idx="2">
                  <c:v>4.3918107432582794</c:v>
                </c:pt>
                <c:pt idx="3">
                  <c:v>4.8952886216630587</c:v>
                </c:pt>
                <c:pt idx="4">
                  <c:v>4.6023945331089067</c:v>
                </c:pt>
                <c:pt idx="5">
                  <c:v>4.9650215993559073</c:v>
                </c:pt>
                <c:pt idx="6">
                  <c:v>4.9484484774715449</c:v>
                </c:pt>
                <c:pt idx="7">
                  <c:v>4.7187047405740667</c:v>
                </c:pt>
                <c:pt idx="8">
                  <c:v>5.0593135653246613</c:v>
                </c:pt>
              </c:numCache>
            </c:numRef>
          </c:val>
          <c:smooth val="0"/>
          <c:extLst>
            <c:ext xmlns:c16="http://schemas.microsoft.com/office/drawing/2014/chart" uri="{C3380CC4-5D6E-409C-BE32-E72D297353CC}">
              <c16:uniqueId val="{00000001-8A19-452F-B238-8A522B95774E}"/>
            </c:ext>
          </c:extLst>
        </c:ser>
        <c:dLbls>
          <c:showLegendKey val="0"/>
          <c:showVal val="0"/>
          <c:showCatName val="0"/>
          <c:showSerName val="0"/>
          <c:showPercent val="0"/>
          <c:showBubbleSize val="0"/>
        </c:dLbls>
        <c:marker val="1"/>
        <c:smooth val="0"/>
        <c:axId val="176702543"/>
        <c:axId val="176702063"/>
      </c:lineChart>
      <c:catAx>
        <c:axId val="1688667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en-US"/>
          </a:p>
        </c:txPr>
        <c:crossAx val="168867247"/>
        <c:crosses val="autoZero"/>
        <c:auto val="1"/>
        <c:lblAlgn val="ctr"/>
        <c:lblOffset val="100"/>
        <c:noMultiLvlLbl val="0"/>
      </c:catAx>
      <c:valAx>
        <c:axId val="168867247"/>
        <c:scaling>
          <c:orientation val="minMax"/>
          <c:max val="2900000"/>
          <c:min val="1900000"/>
        </c:scaling>
        <c:delete val="0"/>
        <c:axPos val="l"/>
        <c:majorGridlines>
          <c:spPr>
            <a:ln w="9525" cap="flat" cmpd="sng" algn="ctr">
              <a:solidFill>
                <a:schemeClr val="tx1">
                  <a:lumMod val="15000"/>
                  <a:lumOff val="85000"/>
                </a:schemeClr>
              </a:solidFill>
              <a:round/>
            </a:ln>
            <a:effectLst/>
          </c:spPr>
        </c:majorGridlines>
        <c:numFmt formatCode="&quot;£&quot;#,##0;[Red]&quot;£&quot;#,##0" sourceLinked="1"/>
        <c:majorTickMark val="none"/>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en-US"/>
          </a:p>
        </c:txPr>
        <c:crossAx val="168866767"/>
        <c:crosses val="autoZero"/>
        <c:crossBetween val="between"/>
      </c:valAx>
      <c:valAx>
        <c:axId val="176702063"/>
        <c:scaling>
          <c:orientation val="minMax"/>
        </c:scaling>
        <c:delete val="0"/>
        <c:axPos val="r"/>
        <c:numFmt formatCode="#,##0.0;[Red]#,##0.0" sourceLinked="1"/>
        <c:majorTickMark val="out"/>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en-US"/>
          </a:p>
        </c:txPr>
        <c:crossAx val="176702543"/>
        <c:crosses val="max"/>
        <c:crossBetween val="between"/>
      </c:valAx>
      <c:catAx>
        <c:axId val="176702543"/>
        <c:scaling>
          <c:orientation val="minMax"/>
        </c:scaling>
        <c:delete val="1"/>
        <c:axPos val="b"/>
        <c:numFmt formatCode="General" sourceLinked="1"/>
        <c:majorTickMark val="out"/>
        <c:minorTickMark val="none"/>
        <c:tickLblPos val="nextTo"/>
        <c:crossAx val="17670206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405C8B"/>
      </a:solidFill>
    </a:ln>
    <a:effectLst/>
  </c:spPr>
  <c:txPr>
    <a:bodyPr/>
    <a:lstStyle/>
    <a:p>
      <a:pPr>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960" b="0" i="0" u="none" strike="noStrike" kern="1200" spc="0" baseline="0">
                <a:solidFill>
                  <a:schemeClr val="tx1">
                    <a:lumMod val="65000"/>
                    <a:lumOff val="35000"/>
                  </a:schemeClr>
                </a:solidFill>
                <a:latin typeface="+mn-lt"/>
                <a:ea typeface="+mn-ea"/>
                <a:cs typeface="+mn-cs"/>
              </a:defRPr>
            </a:pPr>
            <a:r>
              <a:rPr lang="en-US"/>
              <a:t>Repair &amp; Maintenance and EWA Volume</a:t>
            </a:r>
          </a:p>
        </c:rich>
      </c:tx>
      <c:overlay val="0"/>
      <c:spPr>
        <a:noFill/>
        <a:ln>
          <a:noFill/>
        </a:ln>
        <a:effectLst/>
      </c:spPr>
      <c:txPr>
        <a:bodyPr rot="0" spcFirstLastPara="1" vertOverflow="ellipsis" vert="horz" wrap="square" anchor="ctr" anchorCtr="1"/>
        <a:lstStyle/>
        <a:p>
          <a:pPr>
            <a:defRPr lang="ja-JP" sz="9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7023895905843001E-2"/>
          <c:y val="9.186922048905416E-2"/>
          <c:w val="0.62691013516006444"/>
          <c:h val="0.78509841193557695"/>
        </c:manualLayout>
      </c:layout>
      <c:barChart>
        <c:barDir val="col"/>
        <c:grouping val="clustered"/>
        <c:varyColors val="0"/>
        <c:ser>
          <c:idx val="0"/>
          <c:order val="0"/>
          <c:tx>
            <c:strRef>
              <c:f>Sheet1!$B$1</c:f>
              <c:strCache>
                <c:ptCount val="1"/>
                <c:pt idx="0">
                  <c:v>R&amp;M</c:v>
                </c:pt>
              </c:strCache>
            </c:strRef>
          </c:tx>
          <c:spPr>
            <a:solidFill>
              <a:schemeClr val="accent2"/>
            </a:solidFill>
            <a:ln>
              <a:noFill/>
            </a:ln>
            <a:effectLst/>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9</c:v>
                </c:pt>
                <c:pt idx="1">
                  <c:v>4</c:v>
                </c:pt>
                <c:pt idx="2">
                  <c:v>6</c:v>
                </c:pt>
                <c:pt idx="3">
                  <c:v>12</c:v>
                </c:pt>
                <c:pt idx="4">
                  <c:v>12</c:v>
                </c:pt>
                <c:pt idx="5">
                  <c:v>14</c:v>
                </c:pt>
                <c:pt idx="6">
                  <c:v>3</c:v>
                </c:pt>
                <c:pt idx="7">
                  <c:v>17</c:v>
                </c:pt>
                <c:pt idx="8">
                  <c:v>14</c:v>
                </c:pt>
                <c:pt idx="9">
                  <c:v>19</c:v>
                </c:pt>
                <c:pt idx="10">
                  <c:v>18</c:v>
                </c:pt>
                <c:pt idx="11">
                  <c:v>8</c:v>
                </c:pt>
              </c:numCache>
            </c:numRef>
          </c:val>
          <c:extLst>
            <c:ext xmlns:c16="http://schemas.microsoft.com/office/drawing/2014/chart" uri="{C3380CC4-5D6E-409C-BE32-E72D297353CC}">
              <c16:uniqueId val="{00000000-7598-6D48-AFFE-21EAC223FC6C}"/>
            </c:ext>
          </c:extLst>
        </c:ser>
        <c:ser>
          <c:idx val="2"/>
          <c:order val="2"/>
          <c:tx>
            <c:strRef>
              <c:f>Sheet1!$D$1</c:f>
              <c:strCache>
                <c:ptCount val="1"/>
                <c:pt idx="0">
                  <c:v>EWA</c:v>
                </c:pt>
              </c:strCache>
            </c:strRef>
          </c:tx>
          <c:spPr>
            <a:solidFill>
              <a:schemeClr val="accent1"/>
            </a:solidFill>
            <a:ln>
              <a:noFill/>
            </a:ln>
            <a:effectLst/>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16</c:v>
                </c:pt>
                <c:pt idx="1">
                  <c:v>19</c:v>
                </c:pt>
                <c:pt idx="2">
                  <c:v>56</c:v>
                </c:pt>
                <c:pt idx="3">
                  <c:v>34</c:v>
                </c:pt>
                <c:pt idx="4">
                  <c:v>17</c:v>
                </c:pt>
                <c:pt idx="5">
                  <c:v>16</c:v>
                </c:pt>
                <c:pt idx="6">
                  <c:v>13</c:v>
                </c:pt>
                <c:pt idx="7">
                  <c:v>8</c:v>
                </c:pt>
                <c:pt idx="8">
                  <c:v>29</c:v>
                </c:pt>
                <c:pt idx="9">
                  <c:v>25</c:v>
                </c:pt>
                <c:pt idx="10">
                  <c:v>20</c:v>
                </c:pt>
                <c:pt idx="11">
                  <c:v>24</c:v>
                </c:pt>
              </c:numCache>
            </c:numRef>
          </c:val>
          <c:extLst>
            <c:ext xmlns:c16="http://schemas.microsoft.com/office/drawing/2014/chart" uri="{C3380CC4-5D6E-409C-BE32-E72D297353CC}">
              <c16:uniqueId val="{00000001-7598-6D48-AFFE-21EAC223FC6C}"/>
            </c:ext>
          </c:extLst>
        </c:ser>
        <c:dLbls>
          <c:showLegendKey val="0"/>
          <c:showVal val="0"/>
          <c:showCatName val="0"/>
          <c:showSerName val="0"/>
          <c:showPercent val="0"/>
          <c:showBubbleSize val="0"/>
        </c:dLbls>
        <c:gapWidth val="219"/>
        <c:overlap val="-27"/>
        <c:axId val="521773375"/>
        <c:axId val="521775167"/>
      </c:barChart>
      <c:lineChart>
        <c:grouping val="standard"/>
        <c:varyColors val="0"/>
        <c:ser>
          <c:idx val="1"/>
          <c:order val="1"/>
          <c:tx>
            <c:strRef>
              <c:f>Sheet1!$C$1</c:f>
              <c:strCache>
                <c:ptCount val="1"/>
                <c:pt idx="0">
                  <c:v>R&amp;M Cumulative</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2-7598-6D48-AFFE-21EAC223FC6C}"/>
                </c:ext>
              </c:extLst>
            </c:dLbl>
            <c:dLbl>
              <c:idx val="1"/>
              <c:delete val="1"/>
              <c:extLst>
                <c:ext xmlns:c15="http://schemas.microsoft.com/office/drawing/2012/chart" uri="{CE6537A1-D6FC-4f65-9D91-7224C49458BB}"/>
                <c:ext xmlns:c16="http://schemas.microsoft.com/office/drawing/2014/chart" uri="{C3380CC4-5D6E-409C-BE32-E72D297353CC}">
                  <c16:uniqueId val="{00000003-7598-6D48-AFFE-21EAC223FC6C}"/>
                </c:ext>
              </c:extLst>
            </c:dLbl>
            <c:dLbl>
              <c:idx val="2"/>
              <c:delete val="1"/>
              <c:extLst>
                <c:ext xmlns:c15="http://schemas.microsoft.com/office/drawing/2012/chart" uri="{CE6537A1-D6FC-4f65-9D91-7224C49458BB}"/>
                <c:ext xmlns:c16="http://schemas.microsoft.com/office/drawing/2014/chart" uri="{C3380CC4-5D6E-409C-BE32-E72D297353CC}">
                  <c16:uniqueId val="{00000004-7598-6D48-AFFE-21EAC223FC6C}"/>
                </c:ext>
              </c:extLst>
            </c:dLbl>
            <c:dLbl>
              <c:idx val="3"/>
              <c:delete val="1"/>
              <c:extLst>
                <c:ext xmlns:c15="http://schemas.microsoft.com/office/drawing/2012/chart" uri="{CE6537A1-D6FC-4f65-9D91-7224C49458BB}"/>
                <c:ext xmlns:c16="http://schemas.microsoft.com/office/drawing/2014/chart" uri="{C3380CC4-5D6E-409C-BE32-E72D297353CC}">
                  <c16:uniqueId val="{00000005-7598-6D48-AFFE-21EAC223FC6C}"/>
                </c:ext>
              </c:extLst>
            </c:dLbl>
            <c:dLbl>
              <c:idx val="4"/>
              <c:delete val="1"/>
              <c:extLst>
                <c:ext xmlns:c15="http://schemas.microsoft.com/office/drawing/2012/chart" uri="{CE6537A1-D6FC-4f65-9D91-7224C49458BB}"/>
                <c:ext xmlns:c16="http://schemas.microsoft.com/office/drawing/2014/chart" uri="{C3380CC4-5D6E-409C-BE32-E72D297353CC}">
                  <c16:uniqueId val="{00000006-7598-6D48-AFFE-21EAC223FC6C}"/>
                </c:ext>
              </c:extLst>
            </c:dLbl>
            <c:dLbl>
              <c:idx val="5"/>
              <c:delete val="1"/>
              <c:extLst>
                <c:ext xmlns:c15="http://schemas.microsoft.com/office/drawing/2012/chart" uri="{CE6537A1-D6FC-4f65-9D91-7224C49458BB}"/>
                <c:ext xmlns:c16="http://schemas.microsoft.com/office/drawing/2014/chart" uri="{C3380CC4-5D6E-409C-BE32-E72D297353CC}">
                  <c16:uniqueId val="{00000007-7598-6D48-AFFE-21EAC223FC6C}"/>
                </c:ext>
              </c:extLst>
            </c:dLbl>
            <c:dLbl>
              <c:idx val="6"/>
              <c:delete val="1"/>
              <c:extLst>
                <c:ext xmlns:c15="http://schemas.microsoft.com/office/drawing/2012/chart" uri="{CE6537A1-D6FC-4f65-9D91-7224C49458BB}"/>
                <c:ext xmlns:c16="http://schemas.microsoft.com/office/drawing/2014/chart" uri="{C3380CC4-5D6E-409C-BE32-E72D297353CC}">
                  <c16:uniqueId val="{00000008-7598-6D48-AFFE-21EAC223FC6C}"/>
                </c:ext>
              </c:extLst>
            </c:dLbl>
            <c:dLbl>
              <c:idx val="7"/>
              <c:delete val="1"/>
              <c:extLst>
                <c:ext xmlns:c15="http://schemas.microsoft.com/office/drawing/2012/chart" uri="{CE6537A1-D6FC-4f65-9D91-7224C49458BB}"/>
                <c:ext xmlns:c16="http://schemas.microsoft.com/office/drawing/2014/chart" uri="{C3380CC4-5D6E-409C-BE32-E72D297353CC}">
                  <c16:uniqueId val="{00000009-7598-6D48-AFFE-21EAC223FC6C}"/>
                </c:ext>
              </c:extLst>
            </c:dLbl>
            <c:dLbl>
              <c:idx val="8"/>
              <c:delete val="1"/>
              <c:extLst>
                <c:ext xmlns:c15="http://schemas.microsoft.com/office/drawing/2012/chart" uri="{CE6537A1-D6FC-4f65-9D91-7224C49458BB}"/>
                <c:ext xmlns:c16="http://schemas.microsoft.com/office/drawing/2014/chart" uri="{C3380CC4-5D6E-409C-BE32-E72D297353CC}">
                  <c16:uniqueId val="{0000000A-7598-6D48-AFFE-21EAC223FC6C}"/>
                </c:ext>
              </c:extLst>
            </c:dLbl>
            <c:dLbl>
              <c:idx val="9"/>
              <c:delete val="1"/>
              <c:extLst>
                <c:ext xmlns:c15="http://schemas.microsoft.com/office/drawing/2012/chart" uri="{CE6537A1-D6FC-4f65-9D91-7224C49458BB}"/>
                <c:ext xmlns:c16="http://schemas.microsoft.com/office/drawing/2014/chart" uri="{C3380CC4-5D6E-409C-BE32-E72D297353CC}">
                  <c16:uniqueId val="{0000000B-7598-6D48-AFFE-21EAC223FC6C}"/>
                </c:ext>
              </c:extLst>
            </c:dLbl>
            <c:dLbl>
              <c:idx val="10"/>
              <c:delete val="1"/>
              <c:extLst>
                <c:ext xmlns:c15="http://schemas.microsoft.com/office/drawing/2012/chart" uri="{CE6537A1-D6FC-4f65-9D91-7224C49458BB}"/>
                <c:ext xmlns:c16="http://schemas.microsoft.com/office/drawing/2014/chart" uri="{C3380CC4-5D6E-409C-BE32-E72D297353CC}">
                  <c16:uniqueId val="{0000000C-7598-6D48-AFFE-21EAC223FC6C}"/>
                </c:ext>
              </c:extLst>
            </c:dLbl>
            <c:spPr>
              <a:noFill/>
              <a:ln>
                <a:noFill/>
              </a:ln>
              <a:effectLst/>
            </c:spPr>
            <c:txPr>
              <a:bodyPr rot="0" spcFirstLastPara="1" vertOverflow="ellipsis" vert="horz" wrap="square" anchor="ctr" anchorCtr="1"/>
              <a:lstStyle/>
              <a:p>
                <a:pPr>
                  <a:defRPr lang="ja-JP" sz="8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9</c:v>
                </c:pt>
                <c:pt idx="1">
                  <c:v>13</c:v>
                </c:pt>
                <c:pt idx="2">
                  <c:v>19</c:v>
                </c:pt>
                <c:pt idx="3">
                  <c:v>31</c:v>
                </c:pt>
                <c:pt idx="4">
                  <c:v>43</c:v>
                </c:pt>
                <c:pt idx="5">
                  <c:v>57</c:v>
                </c:pt>
                <c:pt idx="6">
                  <c:v>60</c:v>
                </c:pt>
                <c:pt idx="7">
                  <c:v>77</c:v>
                </c:pt>
                <c:pt idx="8">
                  <c:v>91</c:v>
                </c:pt>
                <c:pt idx="9">
                  <c:v>110</c:v>
                </c:pt>
                <c:pt idx="10">
                  <c:v>128</c:v>
                </c:pt>
                <c:pt idx="11">
                  <c:v>136</c:v>
                </c:pt>
              </c:numCache>
            </c:numRef>
          </c:val>
          <c:smooth val="0"/>
          <c:extLst>
            <c:ext xmlns:c16="http://schemas.microsoft.com/office/drawing/2014/chart" uri="{C3380CC4-5D6E-409C-BE32-E72D297353CC}">
              <c16:uniqueId val="{0000000D-7598-6D48-AFFE-21EAC223FC6C}"/>
            </c:ext>
          </c:extLst>
        </c:ser>
        <c:ser>
          <c:idx val="3"/>
          <c:order val="3"/>
          <c:tx>
            <c:strRef>
              <c:f>Sheet1!$E$1</c:f>
              <c:strCache>
                <c:ptCount val="1"/>
                <c:pt idx="0">
                  <c:v>EWA Cumulative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E-7598-6D48-AFFE-21EAC223FC6C}"/>
                </c:ext>
              </c:extLst>
            </c:dLbl>
            <c:dLbl>
              <c:idx val="1"/>
              <c:delete val="1"/>
              <c:extLst>
                <c:ext xmlns:c15="http://schemas.microsoft.com/office/drawing/2012/chart" uri="{CE6537A1-D6FC-4f65-9D91-7224C49458BB}"/>
                <c:ext xmlns:c16="http://schemas.microsoft.com/office/drawing/2014/chart" uri="{C3380CC4-5D6E-409C-BE32-E72D297353CC}">
                  <c16:uniqueId val="{0000000F-7598-6D48-AFFE-21EAC223FC6C}"/>
                </c:ext>
              </c:extLst>
            </c:dLbl>
            <c:dLbl>
              <c:idx val="2"/>
              <c:delete val="1"/>
              <c:extLst>
                <c:ext xmlns:c15="http://schemas.microsoft.com/office/drawing/2012/chart" uri="{CE6537A1-D6FC-4f65-9D91-7224C49458BB}"/>
                <c:ext xmlns:c16="http://schemas.microsoft.com/office/drawing/2014/chart" uri="{C3380CC4-5D6E-409C-BE32-E72D297353CC}">
                  <c16:uniqueId val="{00000010-7598-6D48-AFFE-21EAC223FC6C}"/>
                </c:ext>
              </c:extLst>
            </c:dLbl>
            <c:dLbl>
              <c:idx val="3"/>
              <c:delete val="1"/>
              <c:extLst>
                <c:ext xmlns:c15="http://schemas.microsoft.com/office/drawing/2012/chart" uri="{CE6537A1-D6FC-4f65-9D91-7224C49458BB}"/>
                <c:ext xmlns:c16="http://schemas.microsoft.com/office/drawing/2014/chart" uri="{C3380CC4-5D6E-409C-BE32-E72D297353CC}">
                  <c16:uniqueId val="{00000011-7598-6D48-AFFE-21EAC223FC6C}"/>
                </c:ext>
              </c:extLst>
            </c:dLbl>
            <c:dLbl>
              <c:idx val="4"/>
              <c:delete val="1"/>
              <c:extLst>
                <c:ext xmlns:c15="http://schemas.microsoft.com/office/drawing/2012/chart" uri="{CE6537A1-D6FC-4f65-9D91-7224C49458BB}"/>
                <c:ext xmlns:c16="http://schemas.microsoft.com/office/drawing/2014/chart" uri="{C3380CC4-5D6E-409C-BE32-E72D297353CC}">
                  <c16:uniqueId val="{00000012-7598-6D48-AFFE-21EAC223FC6C}"/>
                </c:ext>
              </c:extLst>
            </c:dLbl>
            <c:dLbl>
              <c:idx val="5"/>
              <c:delete val="1"/>
              <c:extLst>
                <c:ext xmlns:c15="http://schemas.microsoft.com/office/drawing/2012/chart" uri="{CE6537A1-D6FC-4f65-9D91-7224C49458BB}"/>
                <c:ext xmlns:c16="http://schemas.microsoft.com/office/drawing/2014/chart" uri="{C3380CC4-5D6E-409C-BE32-E72D297353CC}">
                  <c16:uniqueId val="{00000013-7598-6D48-AFFE-21EAC223FC6C}"/>
                </c:ext>
              </c:extLst>
            </c:dLbl>
            <c:dLbl>
              <c:idx val="6"/>
              <c:delete val="1"/>
              <c:extLst>
                <c:ext xmlns:c15="http://schemas.microsoft.com/office/drawing/2012/chart" uri="{CE6537A1-D6FC-4f65-9D91-7224C49458BB}"/>
                <c:ext xmlns:c16="http://schemas.microsoft.com/office/drawing/2014/chart" uri="{C3380CC4-5D6E-409C-BE32-E72D297353CC}">
                  <c16:uniqueId val="{00000014-7598-6D48-AFFE-21EAC223FC6C}"/>
                </c:ext>
              </c:extLst>
            </c:dLbl>
            <c:dLbl>
              <c:idx val="7"/>
              <c:delete val="1"/>
              <c:extLst>
                <c:ext xmlns:c15="http://schemas.microsoft.com/office/drawing/2012/chart" uri="{CE6537A1-D6FC-4f65-9D91-7224C49458BB}"/>
                <c:ext xmlns:c16="http://schemas.microsoft.com/office/drawing/2014/chart" uri="{C3380CC4-5D6E-409C-BE32-E72D297353CC}">
                  <c16:uniqueId val="{00000015-7598-6D48-AFFE-21EAC223FC6C}"/>
                </c:ext>
              </c:extLst>
            </c:dLbl>
            <c:dLbl>
              <c:idx val="8"/>
              <c:delete val="1"/>
              <c:extLst>
                <c:ext xmlns:c15="http://schemas.microsoft.com/office/drawing/2012/chart" uri="{CE6537A1-D6FC-4f65-9D91-7224C49458BB}"/>
                <c:ext xmlns:c16="http://schemas.microsoft.com/office/drawing/2014/chart" uri="{C3380CC4-5D6E-409C-BE32-E72D297353CC}">
                  <c16:uniqueId val="{00000016-7598-6D48-AFFE-21EAC223FC6C}"/>
                </c:ext>
              </c:extLst>
            </c:dLbl>
            <c:dLbl>
              <c:idx val="9"/>
              <c:delete val="1"/>
              <c:extLst>
                <c:ext xmlns:c15="http://schemas.microsoft.com/office/drawing/2012/chart" uri="{CE6537A1-D6FC-4f65-9D91-7224C49458BB}"/>
                <c:ext xmlns:c16="http://schemas.microsoft.com/office/drawing/2014/chart" uri="{C3380CC4-5D6E-409C-BE32-E72D297353CC}">
                  <c16:uniqueId val="{00000017-7598-6D48-AFFE-21EAC223FC6C}"/>
                </c:ext>
              </c:extLst>
            </c:dLbl>
            <c:dLbl>
              <c:idx val="10"/>
              <c:delete val="1"/>
              <c:extLst>
                <c:ext xmlns:c15="http://schemas.microsoft.com/office/drawing/2012/chart" uri="{CE6537A1-D6FC-4f65-9D91-7224C49458BB}"/>
                <c:ext xmlns:c16="http://schemas.microsoft.com/office/drawing/2014/chart" uri="{C3380CC4-5D6E-409C-BE32-E72D297353CC}">
                  <c16:uniqueId val="{00000018-7598-6D48-AFFE-21EAC223FC6C}"/>
                </c:ext>
              </c:extLst>
            </c:dLbl>
            <c:spPr>
              <a:noFill/>
              <a:ln>
                <a:noFill/>
              </a:ln>
              <a:effectLst/>
            </c:spPr>
            <c:txPr>
              <a:bodyPr rot="0" spcFirstLastPara="1" vertOverflow="ellipsis" vert="horz" wrap="square" anchor="ctr" anchorCtr="1"/>
              <a:lstStyle/>
              <a:p>
                <a:pPr>
                  <a:defRPr lang="ja-JP" sz="8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General</c:formatCode>
                <c:ptCount val="12"/>
                <c:pt idx="0">
                  <c:v>16</c:v>
                </c:pt>
                <c:pt idx="1">
                  <c:v>35</c:v>
                </c:pt>
                <c:pt idx="2">
                  <c:v>91</c:v>
                </c:pt>
                <c:pt idx="3">
                  <c:v>125</c:v>
                </c:pt>
                <c:pt idx="4">
                  <c:v>142</c:v>
                </c:pt>
                <c:pt idx="5">
                  <c:v>158</c:v>
                </c:pt>
                <c:pt idx="6">
                  <c:v>171</c:v>
                </c:pt>
                <c:pt idx="7">
                  <c:v>179</c:v>
                </c:pt>
                <c:pt idx="8">
                  <c:v>208</c:v>
                </c:pt>
                <c:pt idx="9">
                  <c:v>233</c:v>
                </c:pt>
                <c:pt idx="10">
                  <c:v>253</c:v>
                </c:pt>
                <c:pt idx="11">
                  <c:v>277</c:v>
                </c:pt>
              </c:numCache>
            </c:numRef>
          </c:val>
          <c:smooth val="0"/>
          <c:extLst>
            <c:ext xmlns:c16="http://schemas.microsoft.com/office/drawing/2014/chart" uri="{C3380CC4-5D6E-409C-BE32-E72D297353CC}">
              <c16:uniqueId val="{00000019-7598-6D48-AFFE-21EAC223FC6C}"/>
            </c:ext>
          </c:extLst>
        </c:ser>
        <c:dLbls>
          <c:showLegendKey val="0"/>
          <c:showVal val="0"/>
          <c:showCatName val="0"/>
          <c:showSerName val="0"/>
          <c:showPercent val="0"/>
          <c:showBubbleSize val="0"/>
        </c:dLbls>
        <c:marker val="1"/>
        <c:smooth val="0"/>
        <c:axId val="559048767"/>
        <c:axId val="528761727"/>
      </c:lineChart>
      <c:catAx>
        <c:axId val="5217733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800" b="0" i="0" u="none" strike="noStrike" kern="1200" baseline="0">
                <a:solidFill>
                  <a:schemeClr val="tx1">
                    <a:lumMod val="65000"/>
                    <a:lumOff val="35000"/>
                  </a:schemeClr>
                </a:solidFill>
                <a:latin typeface="+mn-lt"/>
                <a:ea typeface="+mn-ea"/>
                <a:cs typeface="+mn-cs"/>
              </a:defRPr>
            </a:pPr>
            <a:endParaRPr lang="en-US"/>
          </a:p>
        </c:txPr>
        <c:crossAx val="521775167"/>
        <c:crosses val="autoZero"/>
        <c:auto val="1"/>
        <c:lblAlgn val="ctr"/>
        <c:lblOffset val="100"/>
        <c:noMultiLvlLbl val="0"/>
      </c:catAx>
      <c:valAx>
        <c:axId val="5217751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chemeClr val="tx1">
                    <a:lumMod val="65000"/>
                    <a:lumOff val="35000"/>
                  </a:schemeClr>
                </a:solidFill>
                <a:latin typeface="+mn-lt"/>
                <a:ea typeface="+mn-ea"/>
                <a:cs typeface="+mn-cs"/>
              </a:defRPr>
            </a:pPr>
            <a:endParaRPr lang="en-US"/>
          </a:p>
        </c:txPr>
        <c:crossAx val="521773375"/>
        <c:crosses val="autoZero"/>
        <c:crossBetween val="between"/>
      </c:valAx>
      <c:valAx>
        <c:axId val="528761727"/>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chemeClr val="tx1">
                    <a:lumMod val="65000"/>
                    <a:lumOff val="35000"/>
                  </a:schemeClr>
                </a:solidFill>
                <a:latin typeface="+mn-lt"/>
                <a:ea typeface="+mn-ea"/>
                <a:cs typeface="+mn-cs"/>
              </a:defRPr>
            </a:pPr>
            <a:endParaRPr lang="en-US"/>
          </a:p>
        </c:txPr>
        <c:crossAx val="559048767"/>
        <c:crosses val="max"/>
        <c:crossBetween val="between"/>
      </c:valAx>
      <c:catAx>
        <c:axId val="559048767"/>
        <c:scaling>
          <c:orientation val="minMax"/>
        </c:scaling>
        <c:delete val="1"/>
        <c:axPos val="b"/>
        <c:numFmt formatCode="General" sourceLinked="1"/>
        <c:majorTickMark val="out"/>
        <c:minorTickMark val="none"/>
        <c:tickLblPos val="nextTo"/>
        <c:crossAx val="528761727"/>
        <c:crosses val="autoZero"/>
        <c:auto val="1"/>
        <c:lblAlgn val="ctr"/>
        <c:lblOffset val="100"/>
        <c:noMultiLvlLbl val="0"/>
      </c:catAx>
      <c:spPr>
        <a:noFill/>
        <a:ln>
          <a:noFill/>
        </a:ln>
        <a:effectLst/>
      </c:spPr>
    </c:plotArea>
    <c:legend>
      <c:legendPos val="b"/>
      <c:layout>
        <c:manualLayout>
          <c:xMode val="edge"/>
          <c:yMode val="edge"/>
          <c:x val="4.2248650244124421E-2"/>
          <c:y val="0.93831572200995517"/>
          <c:w val="0.67066119492948717"/>
          <c:h val="4.5226596723681081E-2"/>
        </c:manualLayout>
      </c:layout>
      <c:overlay val="0"/>
      <c:spPr>
        <a:noFill/>
        <a:ln>
          <a:noFill/>
        </a:ln>
        <a:effectLst/>
      </c:spPr>
      <c:txPr>
        <a:bodyPr rot="0" spcFirstLastPara="1" vertOverflow="ellipsis" vert="horz" wrap="square" anchor="ctr" anchorCtr="1"/>
        <a:lstStyle/>
        <a:p>
          <a:pPr>
            <a:defRPr lang="ja-JP" sz="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405C8B"/>
      </a:solidFill>
    </a:ln>
    <a:effectLst/>
  </c:spPr>
  <c:txPr>
    <a:bodyPr/>
    <a:lstStyle/>
    <a:p>
      <a:pPr>
        <a:defRPr sz="800"/>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Live Contracts</c:v>
                </c:pt>
              </c:strCache>
            </c:strRef>
          </c:tx>
          <c:spPr>
            <a:solidFill>
              <a:schemeClr val="accent4"/>
            </a:solidFill>
            <a:ln>
              <a:noFill/>
            </a:ln>
            <a:effectLst/>
          </c:spPr>
          <c:invertIfNegative val="0"/>
          <c:dPt>
            <c:idx val="0"/>
            <c:invertIfNegative val="0"/>
            <c:bubble3D val="0"/>
            <c:spPr>
              <a:solidFill>
                <a:schemeClr val="accent2"/>
              </a:solidFill>
              <a:ln>
                <a:noFill/>
              </a:ln>
              <a:effectLst/>
            </c:spPr>
            <c:extLst>
              <c:ext xmlns:c16="http://schemas.microsoft.com/office/drawing/2014/chart" uri="{C3380CC4-5D6E-409C-BE32-E72D297353CC}">
                <c16:uniqueId val="{00000001-0F69-084E-8B3F-A592A8A34C74}"/>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3-0F69-084E-8B3F-A592A8A34C74}"/>
              </c:ext>
            </c:extLst>
          </c:dPt>
          <c:dLbls>
            <c:spPr>
              <a:noFill/>
              <a:ln>
                <a:noFill/>
              </a:ln>
              <a:effectLst/>
            </c:spPr>
            <c:txPr>
              <a:bodyPr rot="0" spcFirstLastPara="1" vertOverflow="ellipsis" vert="horz" wrap="square" anchor="ctr" anchorCtr="1"/>
              <a:lstStyle/>
              <a:p>
                <a:pPr>
                  <a:defRPr lang="ja-JP" sz="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Live R&amp;M</c:v>
                </c:pt>
                <c:pt idx="1">
                  <c:v>Live EWA</c:v>
                </c:pt>
              </c:strCache>
            </c:strRef>
          </c:cat>
          <c:val>
            <c:numRef>
              <c:f>Sheet1!$B$2:$B$3</c:f>
              <c:numCache>
                <c:formatCode>General</c:formatCode>
                <c:ptCount val="2"/>
                <c:pt idx="0">
                  <c:v>1022</c:v>
                </c:pt>
                <c:pt idx="1">
                  <c:v>1233</c:v>
                </c:pt>
              </c:numCache>
            </c:numRef>
          </c:val>
          <c:extLst>
            <c:ext xmlns:c16="http://schemas.microsoft.com/office/drawing/2014/chart" uri="{C3380CC4-5D6E-409C-BE32-E72D297353CC}">
              <c16:uniqueId val="{00000004-0F69-084E-8B3F-A592A8A34C74}"/>
            </c:ext>
          </c:extLst>
        </c:ser>
        <c:dLbls>
          <c:showLegendKey val="0"/>
          <c:showVal val="0"/>
          <c:showCatName val="0"/>
          <c:showSerName val="0"/>
          <c:showPercent val="0"/>
          <c:showBubbleSize val="0"/>
        </c:dLbls>
        <c:gapWidth val="219"/>
        <c:overlap val="-27"/>
        <c:axId val="513755327"/>
        <c:axId val="514054271"/>
      </c:barChart>
      <c:catAx>
        <c:axId val="513755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800" b="0" i="0" u="none" strike="noStrike" kern="1200" baseline="0">
                <a:solidFill>
                  <a:schemeClr val="tx1">
                    <a:lumMod val="65000"/>
                    <a:lumOff val="35000"/>
                  </a:schemeClr>
                </a:solidFill>
                <a:latin typeface="+mn-lt"/>
                <a:ea typeface="+mn-ea"/>
                <a:cs typeface="+mn-cs"/>
              </a:defRPr>
            </a:pPr>
            <a:endParaRPr lang="en-US"/>
          </a:p>
        </c:txPr>
        <c:crossAx val="514054271"/>
        <c:crosses val="autoZero"/>
        <c:auto val="1"/>
        <c:lblAlgn val="ctr"/>
        <c:lblOffset val="100"/>
        <c:noMultiLvlLbl val="0"/>
      </c:catAx>
      <c:valAx>
        <c:axId val="51405427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800" b="0" i="0" u="none" strike="noStrike" kern="1200" baseline="0">
                <a:solidFill>
                  <a:schemeClr val="tx1">
                    <a:lumMod val="65000"/>
                    <a:lumOff val="35000"/>
                  </a:schemeClr>
                </a:solidFill>
                <a:latin typeface="+mn-lt"/>
                <a:ea typeface="+mn-ea"/>
                <a:cs typeface="+mn-cs"/>
              </a:defRPr>
            </a:pPr>
            <a:endParaRPr lang="en-US"/>
          </a:p>
        </c:txPr>
        <c:crossAx val="5137553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chemeClr val="accent1"/>
            </a:solidFill>
            <a:ln>
              <a:noFill/>
            </a:ln>
            <a:effectLst/>
          </c:spPr>
          <c:invertIfNegative val="0"/>
          <c:cat>
            <c:strRef>
              <c:f>Sheet2!$R$73:$R$82</c:f>
              <c:strCache>
                <c:ptCount val="10"/>
                <c:pt idx="0">
                  <c:v>Third party Distance</c:v>
                </c:pt>
                <c:pt idx="1">
                  <c:v>In-house Servicing</c:v>
                </c:pt>
                <c:pt idx="2">
                  <c:v>Third Party Repairer - Good service</c:v>
                </c:pt>
                <c:pt idx="3">
                  <c:v>Third Party - cust has various vehicles</c:v>
                </c:pt>
                <c:pt idx="4">
                  <c:v>Third Party - Preference</c:v>
                </c:pt>
                <c:pt idx="5">
                  <c:v>ITUK Poor After salesService</c:v>
                </c:pt>
                <c:pt idx="6">
                  <c:v>Third Party Convenience</c:v>
                </c:pt>
                <c:pt idx="7">
                  <c:v>Third Party Loyalty</c:v>
                </c:pt>
                <c:pt idx="8">
                  <c:v>Sold vehicle</c:v>
                </c:pt>
                <c:pt idx="9">
                  <c:v>ITUK Dealers cost</c:v>
                </c:pt>
              </c:strCache>
            </c:strRef>
          </c:cat>
          <c:val>
            <c:numRef>
              <c:f>Sheet2!$S$73:$S$82</c:f>
              <c:numCache>
                <c:formatCode>General</c:formatCode>
                <c:ptCount val="10"/>
                <c:pt idx="0">
                  <c:v>189</c:v>
                </c:pt>
                <c:pt idx="1">
                  <c:v>114</c:v>
                </c:pt>
                <c:pt idx="2">
                  <c:v>96</c:v>
                </c:pt>
                <c:pt idx="3">
                  <c:v>48</c:v>
                </c:pt>
                <c:pt idx="4">
                  <c:v>37</c:v>
                </c:pt>
                <c:pt idx="5">
                  <c:v>24</c:v>
                </c:pt>
                <c:pt idx="6">
                  <c:v>21</c:v>
                </c:pt>
                <c:pt idx="7">
                  <c:v>19</c:v>
                </c:pt>
                <c:pt idx="8">
                  <c:v>13</c:v>
                </c:pt>
                <c:pt idx="9">
                  <c:v>12</c:v>
                </c:pt>
              </c:numCache>
            </c:numRef>
          </c:val>
          <c:extLst>
            <c:ext xmlns:c16="http://schemas.microsoft.com/office/drawing/2014/chart" uri="{C3380CC4-5D6E-409C-BE32-E72D297353CC}">
              <c16:uniqueId val="{00000000-2622-3740-A389-28E5AA01EDEC}"/>
            </c:ext>
          </c:extLst>
        </c:ser>
        <c:dLbls>
          <c:showLegendKey val="0"/>
          <c:showVal val="0"/>
          <c:showCatName val="0"/>
          <c:showSerName val="0"/>
          <c:showPercent val="0"/>
          <c:showBubbleSize val="0"/>
        </c:dLbls>
        <c:gapWidth val="182"/>
        <c:axId val="218783071"/>
        <c:axId val="218781151"/>
      </c:barChart>
      <c:catAx>
        <c:axId val="21878307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700" b="0" i="0" u="none" strike="noStrike" kern="1200" baseline="0">
                <a:solidFill>
                  <a:schemeClr val="tx1">
                    <a:lumMod val="65000"/>
                    <a:lumOff val="35000"/>
                  </a:schemeClr>
                </a:solidFill>
                <a:latin typeface="+mn-lt"/>
                <a:ea typeface="+mn-ea"/>
                <a:cs typeface="+mn-cs"/>
              </a:defRPr>
            </a:pPr>
            <a:endParaRPr lang="en-US"/>
          </a:p>
        </c:txPr>
        <c:crossAx val="218781151"/>
        <c:crosses val="autoZero"/>
        <c:auto val="1"/>
        <c:lblAlgn val="ctr"/>
        <c:lblOffset val="100"/>
        <c:noMultiLvlLbl val="0"/>
      </c:catAx>
      <c:valAx>
        <c:axId val="21878115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en-US"/>
          </a:p>
        </c:txPr>
        <c:crossAx val="218783071"/>
        <c:crosses val="autoZero"/>
        <c:crossBetween val="between"/>
      </c:valAx>
      <c:spPr>
        <a:noFill/>
        <a:ln>
          <a:noFill/>
        </a:ln>
        <a:effectLst/>
      </c:spPr>
    </c:plotArea>
    <c:plotVisOnly val="1"/>
    <c:dispBlanksAs val="gap"/>
    <c:showDLblsOverMax val="0"/>
  </c:chart>
  <c:spPr>
    <a:noFill/>
    <a:ln>
      <a:solidFill>
        <a:srgbClr val="405C8B"/>
      </a:solid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Sheet1!$A$2:$A$13</cx:f>
        <cx:lvl ptCount="12">
          <cx:pt idx="0">1</cx:pt>
          <cx:pt idx="1">2</cx:pt>
          <cx:pt idx="2">3</cx:pt>
          <cx:pt idx="3">4</cx:pt>
          <cx:pt idx="4">5</cx:pt>
          <cx:pt idx="5">6</cx:pt>
          <cx:pt idx="6">7</cx:pt>
          <cx:pt idx="7">8</cx:pt>
          <cx:pt idx="8">9</cx:pt>
          <cx:pt idx="9">10</cx:pt>
          <cx:pt idx="10">11</cx:pt>
          <cx:pt idx="11">12</cx:pt>
        </cx:lvl>
      </cx:strDim>
      <cx:numDim type="val">
        <cx:f>Sheet1!$B$2:$B$13</cx:f>
        <cx:lvl ptCount="12" formatCode="General">
          <cx:pt idx="0">2070</cx:pt>
          <cx:pt idx="1">-80</cx:pt>
          <cx:pt idx="2">1990</cx:pt>
          <cx:pt idx="3">125</cx:pt>
          <cx:pt idx="4">225</cx:pt>
          <cx:pt idx="5">125</cx:pt>
          <cx:pt idx="6">122</cx:pt>
          <cx:pt idx="7">2587</cx:pt>
          <cx:pt idx="8">-500</cx:pt>
          <cx:pt idx="9">125</cx:pt>
          <cx:pt idx="10">2212</cx:pt>
          <cx:pt idx="11">-250</cx:pt>
        </cx:lvl>
      </cx:numDim>
    </cx:data>
  </cx:chartData>
  <cx:chart>
    <cx:title pos="t" align="ctr" overlay="0">
      <cx:tx>
        <cx:rich>
          <a:bodyPr spcFirstLastPara="1" vertOverflow="ellipsis" horzOverflow="overflow" wrap="square" lIns="0" tIns="0" rIns="0" bIns="0" anchor="ctr" anchorCtr="1"/>
          <a:lstStyle/>
          <a:p>
            <a:pPr algn="ctr" rtl="0">
              <a:defRPr sz="1800"/>
            </a:pPr>
            <a:r>
              <a:rPr lang="en-GB" sz="1800" b="0" i="0" u="none" strike="noStrike" baseline="0" dirty="0">
                <a:solidFill>
                  <a:srgbClr val="344251"/>
                </a:solidFill>
                <a:latin typeface="Arial"/>
                <a:ea typeface="メイリオ"/>
              </a:rPr>
              <a:t>FY26 Wholesale Plan</a:t>
            </a:r>
            <a:endParaRPr lang="en-GB" sz="1800" b="0" i="0" u="none" strike="noStrike" baseline="0" dirty="0">
              <a:solidFill>
                <a:srgbClr val="000000">
                  <a:lumMod val="65000"/>
                  <a:lumOff val="35000"/>
                </a:srgbClr>
              </a:solidFill>
              <a:latin typeface="Arial"/>
              <a:ea typeface="メイリオ"/>
            </a:endParaRPr>
          </a:p>
        </cx:rich>
      </cx:tx>
    </cx:title>
    <cx:plotArea>
      <cx:plotAreaRegion>
        <cx:series layoutId="waterfall" uniqueId="{1D05653D-599F-F549-976F-B3E2B8499A14}">
          <cx:tx>
            <cx:txData>
              <cx:f>Sheet1!$B$1</cx:f>
              <cx:v>Series1</cx:v>
            </cx:txData>
          </cx:tx>
          <cx:spPr>
            <a:ln>
              <a:solidFill>
                <a:srgbClr val="344251"/>
              </a:solidFill>
            </a:ln>
          </cx:spPr>
          <cx:dataPt idx="0">
            <cx:spPr>
              <a:solidFill>
                <a:srgbClr val="002060"/>
              </a:solidFill>
              <a:ln>
                <a:noFill/>
              </a:ln>
            </cx:spPr>
          </cx:dataPt>
          <cx:dataPt idx="1">
            <cx:spPr>
              <a:solidFill>
                <a:srgbClr val="C00000"/>
              </a:solidFill>
              <a:ln>
                <a:noFill/>
              </a:ln>
            </cx:spPr>
          </cx:dataPt>
          <cx:dataPt idx="2">
            <cx:spPr>
              <a:solidFill>
                <a:srgbClr val="002060"/>
              </a:solidFill>
              <a:ln>
                <a:noFill/>
              </a:ln>
            </cx:spPr>
          </cx:dataPt>
          <cx:dataPt idx="3">
            <cx:spPr>
              <a:solidFill>
                <a:srgbClr val="21585A"/>
              </a:solidFill>
              <a:ln>
                <a:noFill/>
              </a:ln>
            </cx:spPr>
          </cx:dataPt>
          <cx:dataPt idx="4">
            <cx:spPr>
              <a:solidFill>
                <a:srgbClr val="21585A"/>
              </a:solidFill>
              <a:ln>
                <a:noFill/>
              </a:ln>
            </cx:spPr>
          </cx:dataPt>
          <cx:dataPt idx="5">
            <cx:spPr>
              <a:solidFill>
                <a:srgbClr val="21585A"/>
              </a:solidFill>
              <a:ln>
                <a:noFill/>
              </a:ln>
            </cx:spPr>
          </cx:dataPt>
          <cx:dataPt idx="6">
            <cx:spPr>
              <a:solidFill>
                <a:srgbClr val="21585A"/>
              </a:solidFill>
              <a:ln>
                <a:noFill/>
              </a:ln>
            </cx:spPr>
          </cx:dataPt>
          <cx:dataPt idx="7">
            <cx:spPr>
              <a:solidFill>
                <a:srgbClr val="002060"/>
              </a:solidFill>
              <a:ln>
                <a:noFill/>
              </a:ln>
            </cx:spPr>
          </cx:dataPt>
          <cx:dataPt idx="8">
            <cx:spPr>
              <a:solidFill>
                <a:srgbClr val="C00000"/>
              </a:solidFill>
              <a:ln>
                <a:noFill/>
              </a:ln>
            </cx:spPr>
          </cx:dataPt>
          <cx:dataPt idx="9">
            <cx:spPr>
              <a:solidFill>
                <a:srgbClr val="21585A"/>
              </a:solidFill>
              <a:ln>
                <a:noFill/>
              </a:ln>
            </cx:spPr>
          </cx:dataPt>
          <cx:dataPt idx="10">
            <cx:spPr>
              <a:solidFill>
                <a:srgbClr val="002060"/>
              </a:solidFill>
              <a:ln>
                <a:noFill/>
              </a:ln>
            </cx:spPr>
          </cx:dataPt>
          <cx:dataPt idx="11">
            <cx:spPr>
              <a:pattFill prst="wdDnDiag">
                <a:fgClr>
                  <a:srgbClr val="C00000"/>
                </a:fgClr>
                <a:bgClr>
                  <a:srgbClr val="FFFFFF"/>
                </a:bgClr>
              </a:pattFill>
              <a:ln>
                <a:solidFill>
                  <a:srgbClr val="B5091F"/>
                </a:solidFill>
              </a:ln>
            </cx:spPr>
          </cx:dataPt>
          <cx:dataLabels pos="outEnd">
            <cx:txPr>
              <a:bodyPr spcFirstLastPara="1" vertOverflow="ellipsis" horzOverflow="overflow" wrap="square" lIns="0" tIns="0" rIns="0" bIns="0" anchor="ctr" anchorCtr="1"/>
              <a:lstStyle/>
              <a:p>
                <a:pPr algn="ctr" rtl="0">
                  <a:defRPr sz="1100"/>
                </a:pPr>
                <a:endParaRPr lang="en-US" sz="1100" b="0" i="0" u="none" strike="noStrike" baseline="0">
                  <a:solidFill>
                    <a:srgbClr val="000000">
                      <a:lumMod val="65000"/>
                      <a:lumOff val="35000"/>
                    </a:srgbClr>
                  </a:solidFill>
                  <a:latin typeface="Arial"/>
                  <a:ea typeface="メイリオ"/>
                </a:endParaRPr>
              </a:p>
            </cx:txPr>
            <cx:visibility seriesName="0" categoryName="0" value="1"/>
            <cx:dataLabel idx="0">
              <cx:txPr>
                <a:bodyPr spcFirstLastPara="1" vertOverflow="ellipsis" horzOverflow="overflow" wrap="square" lIns="0" tIns="0" rIns="0" bIns="0" anchor="ctr" anchorCtr="1"/>
                <a:lstStyle/>
                <a:p>
                  <a:pPr algn="ctr" rtl="0">
                    <a:defRPr b="1"/>
                  </a:pPr>
                  <a:r>
                    <a:rPr lang="en-GB" sz="1197" b="1" i="0" u="none" strike="noStrike" baseline="0">
                      <a:solidFill>
                        <a:srgbClr val="000000">
                          <a:lumMod val="65000"/>
                          <a:lumOff val="35000"/>
                        </a:srgbClr>
                      </a:solidFill>
                      <a:latin typeface="Arial"/>
                      <a:ea typeface="メイリオ"/>
                    </a:rPr>
                    <a:t>2070</a:t>
                  </a:r>
                </a:p>
              </cx:txPr>
              <cx:visibility seriesName="0" categoryName="0" value="1"/>
            </cx:dataLabel>
            <cx:dataLabel idx="10">
              <cx:txPr>
                <a:bodyPr spcFirstLastPara="1" vertOverflow="ellipsis" horzOverflow="overflow" wrap="square" lIns="0" tIns="0" rIns="0" bIns="0" anchor="ctr" anchorCtr="1"/>
                <a:lstStyle/>
                <a:p>
                  <a:pPr algn="ctr" rtl="0">
                    <a:defRPr b="1"/>
                  </a:pPr>
                  <a:r>
                    <a:rPr lang="en-GB" sz="1197" b="1" i="0" u="none" strike="noStrike" baseline="0">
                      <a:solidFill>
                        <a:srgbClr val="000000">
                          <a:lumMod val="65000"/>
                          <a:lumOff val="35000"/>
                        </a:srgbClr>
                      </a:solidFill>
                      <a:latin typeface="Arial"/>
                      <a:ea typeface="メイリオ"/>
                    </a:rPr>
                    <a:t>2212</a:t>
                  </a:r>
                </a:p>
              </cx:txPr>
              <cx:visibility seriesName="0" categoryName="0" value="1"/>
            </cx:dataLabel>
          </cx:dataLabels>
          <cx:dataId val="0"/>
          <cx:layoutPr>
            <cx:subtotals>
              <cx:idx val="2"/>
              <cx:idx val="7"/>
              <cx:idx val="10"/>
            </cx:subtotals>
          </cx:layoutPr>
        </cx:series>
      </cx:plotAreaRegion>
      <cx:axis id="0">
        <cx:catScaling gapWidth="0.5"/>
        <cx:majorGridlines/>
        <cx:tickLabels/>
        <cx:txPr>
          <a:bodyPr spcFirstLastPara="1" vertOverflow="ellipsis" horzOverflow="overflow" wrap="square" lIns="0" tIns="0" rIns="0" bIns="0" anchor="ctr" anchorCtr="1"/>
          <a:lstStyle/>
          <a:p>
            <a:pPr algn="ctr" rtl="0">
              <a:defRPr sz="1100">
                <a:solidFill>
                  <a:srgbClr val="344251"/>
                </a:solidFill>
              </a:defRPr>
            </a:pPr>
            <a:endParaRPr lang="en-GB" sz="1100" b="0" i="0" u="none" strike="noStrike" baseline="0">
              <a:solidFill>
                <a:srgbClr val="344251"/>
              </a:solidFill>
              <a:latin typeface="Arial"/>
              <a:ea typeface="メイリオ"/>
            </a:endParaRPr>
          </a:p>
        </cx:txPr>
      </cx:axis>
      <cx:axis id="1">
        <cx:valScaling max="2800"/>
        <cx:majorGridlines>
          <cx:spPr>
            <a:ln>
              <a:noFill/>
            </a:ln>
          </cx:spPr>
        </cx:majorGridlines>
        <cx:tickLabels/>
        <cx:txPr>
          <a:bodyPr spcFirstLastPara="1" vertOverflow="ellipsis" horzOverflow="overflow" wrap="square" lIns="0" tIns="0" rIns="0" bIns="0" anchor="ctr" anchorCtr="1"/>
          <a:lstStyle/>
          <a:p>
            <a:pPr algn="ctr" rtl="0">
              <a:defRPr sz="1100">
                <a:solidFill>
                  <a:srgbClr val="344251"/>
                </a:solidFill>
              </a:defRPr>
            </a:pPr>
            <a:endParaRPr lang="en-GB" sz="1100" b="0" i="0" u="none" strike="noStrike" baseline="0">
              <a:solidFill>
                <a:srgbClr val="344251"/>
              </a:solidFill>
              <a:latin typeface="Arial"/>
              <a:ea typeface="メイリオ"/>
            </a:endParaRPr>
          </a:p>
        </cx:txPr>
      </cx:axis>
    </cx:plotArea>
  </cx:chart>
  <cx:spPr>
    <a:ln>
      <a:solidFill>
        <a:srgbClr val="405C8B"/>
      </a:solidFill>
    </a:ln>
  </cx:spPr>
  <cx:clrMapOvr bg1="lt1" tx1="dk1" bg2="lt2" tx2="dk2" accent1="accent1" accent2="accent2" accent3="accent3" accent4="accent4" accent5="accent5" accent6="accent6" hlink="hlink" folHlink="folHlink"/>
  <cx:fmtOvrs>
    <cx:fmtOvr idx="0">
      <cx:spPr>
        <a:ln>
          <a:noFill/>
        </a:ln>
      </cx:spPr>
    </cx:fmtOvr>
  </cx:fmtOvrs>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11A630-A54D-ED43-BB13-66300F2BC916}" type="doc">
      <dgm:prSet loTypeId="urn:microsoft.com/office/officeart/2008/layout/HorizontalMultiLevelHierarchy" loCatId="" qsTypeId="urn:microsoft.com/office/officeart/2005/8/quickstyle/simple1" qsCatId="simple" csTypeId="urn:microsoft.com/office/officeart/2005/8/colors/accent1_2" csCatId="accent1" phldr="1"/>
      <dgm:spPr/>
      <dgm:t>
        <a:bodyPr/>
        <a:lstStyle/>
        <a:p>
          <a:endParaRPr lang="en-GB"/>
        </a:p>
      </dgm:t>
    </dgm:pt>
    <dgm:pt modelId="{68E32E48-B756-0448-A187-D73B650E1603}">
      <dgm:prSet phldrT="[Text]" custT="1"/>
      <dgm:spPr>
        <a:solidFill>
          <a:schemeClr val="bg2">
            <a:lumMod val="20000"/>
            <a:lumOff val="80000"/>
          </a:schemeClr>
        </a:solidFill>
        <a:ln>
          <a:solidFill>
            <a:schemeClr val="accent2"/>
          </a:solidFill>
        </a:ln>
      </dgm:spPr>
      <dgm:t>
        <a:bodyPr/>
        <a:lstStyle/>
        <a:p>
          <a:r>
            <a:rPr lang="en-GB" sz="1700" dirty="0">
              <a:solidFill>
                <a:srgbClr val="344251"/>
              </a:solidFill>
            </a:rPr>
            <a:t>Benefits to ITUK</a:t>
          </a:r>
        </a:p>
      </dgm:t>
    </dgm:pt>
    <dgm:pt modelId="{4DF1B859-40F5-AA46-9ADA-4A05461FC7EB}" type="parTrans" cxnId="{8376D21C-12C6-8140-AA76-6073CDC8879A}">
      <dgm:prSet/>
      <dgm:spPr/>
      <dgm:t>
        <a:bodyPr/>
        <a:lstStyle/>
        <a:p>
          <a:endParaRPr lang="en-GB">
            <a:solidFill>
              <a:srgbClr val="344251"/>
            </a:solidFill>
          </a:endParaRPr>
        </a:p>
      </dgm:t>
    </dgm:pt>
    <dgm:pt modelId="{4712C268-13E5-E549-8445-EFCFAFDB20EA}" type="sibTrans" cxnId="{8376D21C-12C6-8140-AA76-6073CDC8879A}">
      <dgm:prSet/>
      <dgm:spPr/>
      <dgm:t>
        <a:bodyPr/>
        <a:lstStyle/>
        <a:p>
          <a:endParaRPr lang="en-GB">
            <a:solidFill>
              <a:srgbClr val="344251"/>
            </a:solidFill>
          </a:endParaRPr>
        </a:p>
      </dgm:t>
    </dgm:pt>
    <dgm:pt modelId="{0AD3AD08-C9DB-664F-88A3-B7372C27F438}">
      <dgm:prSet phldrT="[Text]"/>
      <dgm:spPr>
        <a:solidFill>
          <a:schemeClr val="bg2">
            <a:lumMod val="20000"/>
            <a:lumOff val="80000"/>
          </a:schemeClr>
        </a:solidFill>
        <a:ln>
          <a:solidFill>
            <a:schemeClr val="accent2"/>
          </a:solidFill>
        </a:ln>
      </dgm:spPr>
      <dgm:t>
        <a:bodyPr/>
        <a:lstStyle/>
        <a:p>
          <a:r>
            <a:rPr lang="en-GB" dirty="0">
              <a:solidFill>
                <a:srgbClr val="344251"/>
              </a:solidFill>
            </a:rPr>
            <a:t>Manage Customer Uptime</a:t>
          </a:r>
        </a:p>
      </dgm:t>
    </dgm:pt>
    <dgm:pt modelId="{7E64BBC1-F436-DD4D-877A-F829D362D0CA}" type="parTrans" cxnId="{DBD39BD7-EEEF-1949-A6D3-AFB674D76B9C}">
      <dgm:prSet/>
      <dgm:spPr/>
      <dgm:t>
        <a:bodyPr/>
        <a:lstStyle/>
        <a:p>
          <a:endParaRPr lang="en-GB">
            <a:solidFill>
              <a:srgbClr val="344251"/>
            </a:solidFill>
          </a:endParaRPr>
        </a:p>
      </dgm:t>
    </dgm:pt>
    <dgm:pt modelId="{78E27103-DCFB-124C-9C92-92FEEE306A76}" type="sibTrans" cxnId="{DBD39BD7-EEEF-1949-A6D3-AFB674D76B9C}">
      <dgm:prSet/>
      <dgm:spPr/>
      <dgm:t>
        <a:bodyPr/>
        <a:lstStyle/>
        <a:p>
          <a:endParaRPr lang="en-GB">
            <a:solidFill>
              <a:srgbClr val="344251"/>
            </a:solidFill>
          </a:endParaRPr>
        </a:p>
      </dgm:t>
    </dgm:pt>
    <dgm:pt modelId="{29E433D7-6123-6A4A-8CEC-E23C4BE42924}">
      <dgm:prSet phldrT="[Text]"/>
      <dgm:spPr>
        <a:solidFill>
          <a:schemeClr val="bg2">
            <a:lumMod val="20000"/>
            <a:lumOff val="80000"/>
          </a:schemeClr>
        </a:solidFill>
        <a:ln>
          <a:solidFill>
            <a:schemeClr val="accent2"/>
          </a:solidFill>
        </a:ln>
      </dgm:spPr>
      <dgm:t>
        <a:bodyPr/>
        <a:lstStyle/>
        <a:p>
          <a:r>
            <a:rPr lang="en-GB" dirty="0">
              <a:solidFill>
                <a:srgbClr val="344251"/>
              </a:solidFill>
            </a:rPr>
            <a:t>Review all Customer Operations</a:t>
          </a:r>
        </a:p>
      </dgm:t>
    </dgm:pt>
    <dgm:pt modelId="{4C0D5171-B1A6-7941-A21D-299750849119}" type="parTrans" cxnId="{C0F97627-28E9-F544-B426-E441EA1518F0}">
      <dgm:prSet/>
      <dgm:spPr/>
      <dgm:t>
        <a:bodyPr/>
        <a:lstStyle/>
        <a:p>
          <a:endParaRPr lang="en-GB">
            <a:solidFill>
              <a:srgbClr val="344251"/>
            </a:solidFill>
          </a:endParaRPr>
        </a:p>
      </dgm:t>
    </dgm:pt>
    <dgm:pt modelId="{2E6CE1DD-7867-8743-8B42-16DCE3A06487}" type="sibTrans" cxnId="{C0F97627-28E9-F544-B426-E441EA1518F0}">
      <dgm:prSet/>
      <dgm:spPr/>
      <dgm:t>
        <a:bodyPr/>
        <a:lstStyle/>
        <a:p>
          <a:endParaRPr lang="en-GB">
            <a:solidFill>
              <a:srgbClr val="344251"/>
            </a:solidFill>
          </a:endParaRPr>
        </a:p>
      </dgm:t>
    </dgm:pt>
    <dgm:pt modelId="{95BC7773-63D2-E349-A3BB-E98FEEEDAE12}">
      <dgm:prSet phldrT="[Text]"/>
      <dgm:spPr>
        <a:solidFill>
          <a:srgbClr val="848E9A">
            <a:lumMod val="20000"/>
            <a:lumOff val="80000"/>
          </a:srgbClr>
        </a:solidFill>
        <a:ln w="19050" cap="flat" cmpd="sng" algn="ctr">
          <a:solidFill>
            <a:srgbClr val="002664"/>
          </a:solidFill>
          <a:prstDash val="solid"/>
          <a:miter lim="800000"/>
        </a:ln>
        <a:effectLst/>
      </dgm:spPr>
      <dgm:t>
        <a:bodyPr spcFirstLastPara="0" vert="horz" wrap="square" lIns="6985" tIns="6985" rIns="6985" bIns="6985" numCol="1" spcCol="1270" anchor="ctr" anchorCtr="0"/>
        <a:lstStyle/>
        <a:p>
          <a:r>
            <a:rPr lang="en-GB" dirty="0">
              <a:solidFill>
                <a:srgbClr val="344251"/>
              </a:solidFill>
            </a:rPr>
            <a:t>Manage R&amp;M Contract Costs</a:t>
          </a:r>
        </a:p>
      </dgm:t>
    </dgm:pt>
    <dgm:pt modelId="{04C94DA9-069D-AC4D-99A8-02BD758A7AD4}" type="parTrans" cxnId="{F0C50013-4BDB-0448-807D-5158013EB169}">
      <dgm:prSet/>
      <dgm:spPr/>
      <dgm:t>
        <a:bodyPr/>
        <a:lstStyle/>
        <a:p>
          <a:endParaRPr lang="en-GB">
            <a:solidFill>
              <a:srgbClr val="344251"/>
            </a:solidFill>
          </a:endParaRPr>
        </a:p>
      </dgm:t>
    </dgm:pt>
    <dgm:pt modelId="{3E20FC14-1157-374F-9B17-A382806E495C}" type="sibTrans" cxnId="{F0C50013-4BDB-0448-807D-5158013EB169}">
      <dgm:prSet/>
      <dgm:spPr/>
      <dgm:t>
        <a:bodyPr/>
        <a:lstStyle/>
        <a:p>
          <a:endParaRPr lang="en-GB">
            <a:solidFill>
              <a:srgbClr val="344251"/>
            </a:solidFill>
          </a:endParaRPr>
        </a:p>
      </dgm:t>
    </dgm:pt>
    <dgm:pt modelId="{A59D8EA6-AFE7-604A-8895-BDEC6A6AA07E}">
      <dgm:prSet/>
      <dgm:spPr>
        <a:solidFill>
          <a:srgbClr val="848E9A">
            <a:lumMod val="20000"/>
            <a:lumOff val="80000"/>
          </a:srgbClr>
        </a:solidFill>
        <a:ln w="19050" cap="flat" cmpd="sng" algn="ctr">
          <a:solidFill>
            <a:srgbClr val="002664"/>
          </a:solidFill>
          <a:prstDash val="solid"/>
          <a:miter lim="800000"/>
        </a:ln>
        <a:effectLst/>
      </dgm:spPr>
      <dgm:t>
        <a:bodyPr spcFirstLastPara="0" vert="horz" wrap="square" lIns="6985" tIns="6985" rIns="6985" bIns="6985" numCol="1" spcCol="1270" anchor="ctr" anchorCtr="0"/>
        <a:lstStyle/>
        <a:p>
          <a:r>
            <a:rPr lang="en-GB" b="1" dirty="0">
              <a:solidFill>
                <a:srgbClr val="344251"/>
              </a:solidFill>
            </a:rPr>
            <a:t>Expand Parts Sales Opportunities (PMS)</a:t>
          </a:r>
        </a:p>
      </dgm:t>
    </dgm:pt>
    <dgm:pt modelId="{7B517404-53D3-F14E-9685-A39AE7DCBE16}" type="parTrans" cxnId="{56C71C9A-237C-884B-A862-B8A43F7ECAE9}">
      <dgm:prSet/>
      <dgm:spPr/>
      <dgm:t>
        <a:bodyPr/>
        <a:lstStyle/>
        <a:p>
          <a:endParaRPr lang="en-GB"/>
        </a:p>
      </dgm:t>
    </dgm:pt>
    <dgm:pt modelId="{B37CFB07-1E0F-994D-BD08-1B7E56F950B9}" type="sibTrans" cxnId="{56C71C9A-237C-884B-A862-B8A43F7ECAE9}">
      <dgm:prSet/>
      <dgm:spPr/>
      <dgm:t>
        <a:bodyPr/>
        <a:lstStyle/>
        <a:p>
          <a:endParaRPr lang="en-GB"/>
        </a:p>
      </dgm:t>
    </dgm:pt>
    <dgm:pt modelId="{62A08F91-F997-2A40-B165-016F8733499C}" type="pres">
      <dgm:prSet presAssocID="{2411A630-A54D-ED43-BB13-66300F2BC916}" presName="Name0" presStyleCnt="0">
        <dgm:presLayoutVars>
          <dgm:chPref val="1"/>
          <dgm:dir/>
          <dgm:animOne val="branch"/>
          <dgm:animLvl val="lvl"/>
          <dgm:resizeHandles val="exact"/>
        </dgm:presLayoutVars>
      </dgm:prSet>
      <dgm:spPr/>
    </dgm:pt>
    <dgm:pt modelId="{994E71E1-56A5-294A-81C0-E0E8319558E1}" type="pres">
      <dgm:prSet presAssocID="{68E32E48-B756-0448-A187-D73B650E1603}" presName="root1" presStyleCnt="0"/>
      <dgm:spPr/>
    </dgm:pt>
    <dgm:pt modelId="{E291F9DB-A2A9-0A4A-9978-93A98EF6084F}" type="pres">
      <dgm:prSet presAssocID="{68E32E48-B756-0448-A187-D73B650E1603}" presName="LevelOneTextNode" presStyleLbl="node0" presStyleIdx="0" presStyleCnt="1" custLinFactNeighborX="2533" custLinFactNeighborY="696">
        <dgm:presLayoutVars>
          <dgm:chPref val="3"/>
        </dgm:presLayoutVars>
      </dgm:prSet>
      <dgm:spPr/>
    </dgm:pt>
    <dgm:pt modelId="{4BA715F8-6320-8A49-A44C-6F7605302253}" type="pres">
      <dgm:prSet presAssocID="{68E32E48-B756-0448-A187-D73B650E1603}" presName="level2hierChild" presStyleCnt="0"/>
      <dgm:spPr/>
    </dgm:pt>
    <dgm:pt modelId="{38A5EC6C-5C97-4140-A58D-8B59FCD87276}" type="pres">
      <dgm:prSet presAssocID="{7E64BBC1-F436-DD4D-877A-F829D362D0CA}" presName="conn2-1" presStyleLbl="parChTrans1D2" presStyleIdx="0" presStyleCnt="4"/>
      <dgm:spPr/>
    </dgm:pt>
    <dgm:pt modelId="{B5F2A9B4-39BF-114A-95C8-3A5D922DC2A0}" type="pres">
      <dgm:prSet presAssocID="{7E64BBC1-F436-DD4D-877A-F829D362D0CA}" presName="connTx" presStyleLbl="parChTrans1D2" presStyleIdx="0" presStyleCnt="4"/>
      <dgm:spPr/>
    </dgm:pt>
    <dgm:pt modelId="{CBFD320E-81D0-2F44-805F-BA1FBFFCBEB2}" type="pres">
      <dgm:prSet presAssocID="{0AD3AD08-C9DB-664F-88A3-B7372C27F438}" presName="root2" presStyleCnt="0"/>
      <dgm:spPr/>
    </dgm:pt>
    <dgm:pt modelId="{5A6B720B-7343-6C4E-936F-CB975C00ACBE}" type="pres">
      <dgm:prSet presAssocID="{0AD3AD08-C9DB-664F-88A3-B7372C27F438}" presName="LevelTwoTextNode" presStyleLbl="node2" presStyleIdx="0" presStyleCnt="4">
        <dgm:presLayoutVars>
          <dgm:chPref val="3"/>
        </dgm:presLayoutVars>
      </dgm:prSet>
      <dgm:spPr/>
    </dgm:pt>
    <dgm:pt modelId="{E26F301E-F59A-7B43-A627-4B8B594F675A}" type="pres">
      <dgm:prSet presAssocID="{0AD3AD08-C9DB-664F-88A3-B7372C27F438}" presName="level3hierChild" presStyleCnt="0"/>
      <dgm:spPr/>
    </dgm:pt>
    <dgm:pt modelId="{B09A828A-BEF5-5948-AB40-745839849B4A}" type="pres">
      <dgm:prSet presAssocID="{4C0D5171-B1A6-7941-A21D-299750849119}" presName="conn2-1" presStyleLbl="parChTrans1D2" presStyleIdx="1" presStyleCnt="4"/>
      <dgm:spPr/>
    </dgm:pt>
    <dgm:pt modelId="{24748E18-6245-E148-B78D-3A4911E8AFD0}" type="pres">
      <dgm:prSet presAssocID="{4C0D5171-B1A6-7941-A21D-299750849119}" presName="connTx" presStyleLbl="parChTrans1D2" presStyleIdx="1" presStyleCnt="4"/>
      <dgm:spPr/>
    </dgm:pt>
    <dgm:pt modelId="{C0C59D03-BF04-0D4F-99B9-6AB701C4F5F8}" type="pres">
      <dgm:prSet presAssocID="{29E433D7-6123-6A4A-8CEC-E23C4BE42924}" presName="root2" presStyleCnt="0"/>
      <dgm:spPr/>
    </dgm:pt>
    <dgm:pt modelId="{2E29867A-0174-7A47-9F8D-DF836E1CEF68}" type="pres">
      <dgm:prSet presAssocID="{29E433D7-6123-6A4A-8CEC-E23C4BE42924}" presName="LevelTwoTextNode" presStyleLbl="node2" presStyleIdx="1" presStyleCnt="4">
        <dgm:presLayoutVars>
          <dgm:chPref val="3"/>
        </dgm:presLayoutVars>
      </dgm:prSet>
      <dgm:spPr/>
    </dgm:pt>
    <dgm:pt modelId="{770AB8C7-24A4-0C4E-A390-C4F38F5B362D}" type="pres">
      <dgm:prSet presAssocID="{29E433D7-6123-6A4A-8CEC-E23C4BE42924}" presName="level3hierChild" presStyleCnt="0"/>
      <dgm:spPr/>
    </dgm:pt>
    <dgm:pt modelId="{1E3117A9-0247-0547-8AA7-9F8C38D6BA7E}" type="pres">
      <dgm:prSet presAssocID="{04C94DA9-069D-AC4D-99A8-02BD758A7AD4}" presName="conn2-1" presStyleLbl="parChTrans1D2" presStyleIdx="2" presStyleCnt="4"/>
      <dgm:spPr/>
    </dgm:pt>
    <dgm:pt modelId="{F53436EC-50EB-8146-8987-1E49F88DCA0E}" type="pres">
      <dgm:prSet presAssocID="{04C94DA9-069D-AC4D-99A8-02BD758A7AD4}" presName="connTx" presStyleLbl="parChTrans1D2" presStyleIdx="2" presStyleCnt="4"/>
      <dgm:spPr/>
    </dgm:pt>
    <dgm:pt modelId="{0A96C749-5206-E045-BEDE-65E0AFB21F11}" type="pres">
      <dgm:prSet presAssocID="{95BC7773-63D2-E349-A3BB-E98FEEEDAE12}" presName="root2" presStyleCnt="0"/>
      <dgm:spPr/>
    </dgm:pt>
    <dgm:pt modelId="{DF579AD9-77E8-7640-A2C0-E39DE5C35A78}" type="pres">
      <dgm:prSet presAssocID="{95BC7773-63D2-E349-A3BB-E98FEEEDAE12}" presName="LevelTwoTextNode" presStyleLbl="node2" presStyleIdx="2" presStyleCnt="4">
        <dgm:presLayoutVars>
          <dgm:chPref val="3"/>
        </dgm:presLayoutVars>
      </dgm:prSet>
      <dgm:spPr>
        <a:xfrm>
          <a:off x="1647883" y="1117974"/>
          <a:ext cx="1330255" cy="405565"/>
        </a:xfrm>
        <a:prstGeom prst="rect">
          <a:avLst/>
        </a:prstGeom>
      </dgm:spPr>
    </dgm:pt>
    <dgm:pt modelId="{E6C0318C-AD1B-A941-B00D-823BFDDD0026}" type="pres">
      <dgm:prSet presAssocID="{95BC7773-63D2-E349-A3BB-E98FEEEDAE12}" presName="level3hierChild" presStyleCnt="0"/>
      <dgm:spPr/>
    </dgm:pt>
    <dgm:pt modelId="{CDFEF367-F8CB-1B45-8E66-44572A98D353}" type="pres">
      <dgm:prSet presAssocID="{7B517404-53D3-F14E-9685-A39AE7DCBE16}" presName="conn2-1" presStyleLbl="parChTrans1D2" presStyleIdx="3" presStyleCnt="4"/>
      <dgm:spPr/>
    </dgm:pt>
    <dgm:pt modelId="{42E71879-7C68-4747-A6BE-C199ABD8F5F6}" type="pres">
      <dgm:prSet presAssocID="{7B517404-53D3-F14E-9685-A39AE7DCBE16}" presName="connTx" presStyleLbl="parChTrans1D2" presStyleIdx="3" presStyleCnt="4"/>
      <dgm:spPr/>
    </dgm:pt>
    <dgm:pt modelId="{42E593F8-16CF-BE4B-9365-493A17B0762E}" type="pres">
      <dgm:prSet presAssocID="{A59D8EA6-AFE7-604A-8895-BDEC6A6AA07E}" presName="root2" presStyleCnt="0"/>
      <dgm:spPr/>
    </dgm:pt>
    <dgm:pt modelId="{C03F2952-573F-0747-8263-D5DFA486F333}" type="pres">
      <dgm:prSet presAssocID="{A59D8EA6-AFE7-604A-8895-BDEC6A6AA07E}" presName="LevelTwoTextNode" presStyleLbl="node2" presStyleIdx="3" presStyleCnt="4">
        <dgm:presLayoutVars>
          <dgm:chPref val="3"/>
        </dgm:presLayoutVars>
      </dgm:prSet>
      <dgm:spPr>
        <a:xfrm>
          <a:off x="1647883" y="1624931"/>
          <a:ext cx="1330255" cy="405565"/>
        </a:xfrm>
        <a:prstGeom prst="rect">
          <a:avLst/>
        </a:prstGeom>
      </dgm:spPr>
    </dgm:pt>
    <dgm:pt modelId="{D206EAEA-6F3D-A34F-B0B5-F6EFD8C8905B}" type="pres">
      <dgm:prSet presAssocID="{A59D8EA6-AFE7-604A-8895-BDEC6A6AA07E}" presName="level3hierChild" presStyleCnt="0"/>
      <dgm:spPr/>
    </dgm:pt>
  </dgm:ptLst>
  <dgm:cxnLst>
    <dgm:cxn modelId="{F52AE909-D77C-814C-82DD-DFE28999EB03}" type="presOf" srcId="{A59D8EA6-AFE7-604A-8895-BDEC6A6AA07E}" destId="{C03F2952-573F-0747-8263-D5DFA486F333}" srcOrd="0" destOrd="0" presId="urn:microsoft.com/office/officeart/2008/layout/HorizontalMultiLevelHierarchy"/>
    <dgm:cxn modelId="{F0C50013-4BDB-0448-807D-5158013EB169}" srcId="{68E32E48-B756-0448-A187-D73B650E1603}" destId="{95BC7773-63D2-E349-A3BB-E98FEEEDAE12}" srcOrd="2" destOrd="0" parTransId="{04C94DA9-069D-AC4D-99A8-02BD758A7AD4}" sibTransId="{3E20FC14-1157-374F-9B17-A382806E495C}"/>
    <dgm:cxn modelId="{CEF66B13-8C45-3343-BD3C-35CB79511341}" type="presOf" srcId="{0AD3AD08-C9DB-664F-88A3-B7372C27F438}" destId="{5A6B720B-7343-6C4E-936F-CB975C00ACBE}" srcOrd="0" destOrd="0" presId="urn:microsoft.com/office/officeart/2008/layout/HorizontalMultiLevelHierarchy"/>
    <dgm:cxn modelId="{8376D21C-12C6-8140-AA76-6073CDC8879A}" srcId="{2411A630-A54D-ED43-BB13-66300F2BC916}" destId="{68E32E48-B756-0448-A187-D73B650E1603}" srcOrd="0" destOrd="0" parTransId="{4DF1B859-40F5-AA46-9ADA-4A05461FC7EB}" sibTransId="{4712C268-13E5-E549-8445-EFCFAFDB20EA}"/>
    <dgm:cxn modelId="{C0F97627-28E9-F544-B426-E441EA1518F0}" srcId="{68E32E48-B756-0448-A187-D73B650E1603}" destId="{29E433D7-6123-6A4A-8CEC-E23C4BE42924}" srcOrd="1" destOrd="0" parTransId="{4C0D5171-B1A6-7941-A21D-299750849119}" sibTransId="{2E6CE1DD-7867-8743-8B42-16DCE3A06487}"/>
    <dgm:cxn modelId="{F9905636-9E2A-3B4A-B8F5-97C13B0252E5}" type="presOf" srcId="{7E64BBC1-F436-DD4D-877A-F829D362D0CA}" destId="{38A5EC6C-5C97-4140-A58D-8B59FCD87276}" srcOrd="0" destOrd="0" presId="urn:microsoft.com/office/officeart/2008/layout/HorizontalMultiLevelHierarchy"/>
    <dgm:cxn modelId="{DA115266-F194-324B-9907-E4948530575D}" type="presOf" srcId="{7B517404-53D3-F14E-9685-A39AE7DCBE16}" destId="{CDFEF367-F8CB-1B45-8E66-44572A98D353}" srcOrd="0" destOrd="0" presId="urn:microsoft.com/office/officeart/2008/layout/HorizontalMultiLevelHierarchy"/>
    <dgm:cxn modelId="{4E675F6F-4F76-8049-8E45-78EC9CA49A6E}" type="presOf" srcId="{4C0D5171-B1A6-7941-A21D-299750849119}" destId="{B09A828A-BEF5-5948-AB40-745839849B4A}" srcOrd="0" destOrd="0" presId="urn:microsoft.com/office/officeart/2008/layout/HorizontalMultiLevelHierarchy"/>
    <dgm:cxn modelId="{AE343075-BB2D-534B-897C-E89109FCEFEA}" type="presOf" srcId="{29E433D7-6123-6A4A-8CEC-E23C4BE42924}" destId="{2E29867A-0174-7A47-9F8D-DF836E1CEF68}" srcOrd="0" destOrd="0" presId="urn:microsoft.com/office/officeart/2008/layout/HorizontalMultiLevelHierarchy"/>
    <dgm:cxn modelId="{C0AC285A-234D-9442-BE31-D015CF128607}" type="presOf" srcId="{95BC7773-63D2-E349-A3BB-E98FEEEDAE12}" destId="{DF579AD9-77E8-7640-A2C0-E39DE5C35A78}" srcOrd="0" destOrd="0" presId="urn:microsoft.com/office/officeart/2008/layout/HorizontalMultiLevelHierarchy"/>
    <dgm:cxn modelId="{26137C7A-CE4F-6B4C-8D52-ADCEB8D30D32}" type="presOf" srcId="{68E32E48-B756-0448-A187-D73B650E1603}" destId="{E291F9DB-A2A9-0A4A-9978-93A98EF6084F}" srcOrd="0" destOrd="0" presId="urn:microsoft.com/office/officeart/2008/layout/HorizontalMultiLevelHierarchy"/>
    <dgm:cxn modelId="{AB84BB8E-1FA1-2F4F-941B-D2AC9CF6BA73}" type="presOf" srcId="{7B517404-53D3-F14E-9685-A39AE7DCBE16}" destId="{42E71879-7C68-4747-A6BE-C199ABD8F5F6}" srcOrd="1" destOrd="0" presId="urn:microsoft.com/office/officeart/2008/layout/HorizontalMultiLevelHierarchy"/>
    <dgm:cxn modelId="{89E1F08E-41FB-8249-BDF4-EA27DEBAE77D}" type="presOf" srcId="{7E64BBC1-F436-DD4D-877A-F829D362D0CA}" destId="{B5F2A9B4-39BF-114A-95C8-3A5D922DC2A0}" srcOrd="1" destOrd="0" presId="urn:microsoft.com/office/officeart/2008/layout/HorizontalMultiLevelHierarchy"/>
    <dgm:cxn modelId="{32C23599-8866-0C4A-AD96-6573419DCD48}" type="presOf" srcId="{4C0D5171-B1A6-7941-A21D-299750849119}" destId="{24748E18-6245-E148-B78D-3A4911E8AFD0}" srcOrd="1" destOrd="0" presId="urn:microsoft.com/office/officeart/2008/layout/HorizontalMultiLevelHierarchy"/>
    <dgm:cxn modelId="{56C71C9A-237C-884B-A862-B8A43F7ECAE9}" srcId="{68E32E48-B756-0448-A187-D73B650E1603}" destId="{A59D8EA6-AFE7-604A-8895-BDEC6A6AA07E}" srcOrd="3" destOrd="0" parTransId="{7B517404-53D3-F14E-9685-A39AE7DCBE16}" sibTransId="{B37CFB07-1E0F-994D-BD08-1B7E56F950B9}"/>
    <dgm:cxn modelId="{2E3DE6B6-AC32-3749-BD90-58C923A3EFC3}" type="presOf" srcId="{2411A630-A54D-ED43-BB13-66300F2BC916}" destId="{62A08F91-F997-2A40-B165-016F8733499C}" srcOrd="0" destOrd="0" presId="urn:microsoft.com/office/officeart/2008/layout/HorizontalMultiLevelHierarchy"/>
    <dgm:cxn modelId="{DBD39BD7-EEEF-1949-A6D3-AFB674D76B9C}" srcId="{68E32E48-B756-0448-A187-D73B650E1603}" destId="{0AD3AD08-C9DB-664F-88A3-B7372C27F438}" srcOrd="0" destOrd="0" parTransId="{7E64BBC1-F436-DD4D-877A-F829D362D0CA}" sibTransId="{78E27103-DCFB-124C-9C92-92FEEE306A76}"/>
    <dgm:cxn modelId="{CC9B90DB-D818-B24F-B5D1-2FA20704B671}" type="presOf" srcId="{04C94DA9-069D-AC4D-99A8-02BD758A7AD4}" destId="{F53436EC-50EB-8146-8987-1E49F88DCA0E}" srcOrd="1" destOrd="0" presId="urn:microsoft.com/office/officeart/2008/layout/HorizontalMultiLevelHierarchy"/>
    <dgm:cxn modelId="{5B1FD3E9-DEBE-4C4F-9C04-35374EE4F8FB}" type="presOf" srcId="{04C94DA9-069D-AC4D-99A8-02BD758A7AD4}" destId="{1E3117A9-0247-0547-8AA7-9F8C38D6BA7E}" srcOrd="0" destOrd="0" presId="urn:microsoft.com/office/officeart/2008/layout/HorizontalMultiLevelHierarchy"/>
    <dgm:cxn modelId="{4E892CB6-BA16-4A46-8F9F-E9EF87DBD9E3}" type="presParOf" srcId="{62A08F91-F997-2A40-B165-016F8733499C}" destId="{994E71E1-56A5-294A-81C0-E0E8319558E1}" srcOrd="0" destOrd="0" presId="urn:microsoft.com/office/officeart/2008/layout/HorizontalMultiLevelHierarchy"/>
    <dgm:cxn modelId="{D8077B5B-5AAA-E342-857D-22D0E2362B15}" type="presParOf" srcId="{994E71E1-56A5-294A-81C0-E0E8319558E1}" destId="{E291F9DB-A2A9-0A4A-9978-93A98EF6084F}" srcOrd="0" destOrd="0" presId="urn:microsoft.com/office/officeart/2008/layout/HorizontalMultiLevelHierarchy"/>
    <dgm:cxn modelId="{B862A7DA-713D-6541-8018-2D7E5A2F942A}" type="presParOf" srcId="{994E71E1-56A5-294A-81C0-E0E8319558E1}" destId="{4BA715F8-6320-8A49-A44C-6F7605302253}" srcOrd="1" destOrd="0" presId="urn:microsoft.com/office/officeart/2008/layout/HorizontalMultiLevelHierarchy"/>
    <dgm:cxn modelId="{AF37BFDF-C045-7648-9FEC-1C982DB55E21}" type="presParOf" srcId="{4BA715F8-6320-8A49-A44C-6F7605302253}" destId="{38A5EC6C-5C97-4140-A58D-8B59FCD87276}" srcOrd="0" destOrd="0" presId="urn:microsoft.com/office/officeart/2008/layout/HorizontalMultiLevelHierarchy"/>
    <dgm:cxn modelId="{90DB8D5C-73F3-DA48-9582-C93279DB61D8}" type="presParOf" srcId="{38A5EC6C-5C97-4140-A58D-8B59FCD87276}" destId="{B5F2A9B4-39BF-114A-95C8-3A5D922DC2A0}" srcOrd="0" destOrd="0" presId="urn:microsoft.com/office/officeart/2008/layout/HorizontalMultiLevelHierarchy"/>
    <dgm:cxn modelId="{EAE950B2-8A01-5E41-BDCA-50F2CF72BC96}" type="presParOf" srcId="{4BA715F8-6320-8A49-A44C-6F7605302253}" destId="{CBFD320E-81D0-2F44-805F-BA1FBFFCBEB2}" srcOrd="1" destOrd="0" presId="urn:microsoft.com/office/officeart/2008/layout/HorizontalMultiLevelHierarchy"/>
    <dgm:cxn modelId="{B9A85BAE-605A-0547-BBD5-B1820CD9CCC9}" type="presParOf" srcId="{CBFD320E-81D0-2F44-805F-BA1FBFFCBEB2}" destId="{5A6B720B-7343-6C4E-936F-CB975C00ACBE}" srcOrd="0" destOrd="0" presId="urn:microsoft.com/office/officeart/2008/layout/HorizontalMultiLevelHierarchy"/>
    <dgm:cxn modelId="{A80D59FD-6FB1-5643-BC12-DE494280B3D1}" type="presParOf" srcId="{CBFD320E-81D0-2F44-805F-BA1FBFFCBEB2}" destId="{E26F301E-F59A-7B43-A627-4B8B594F675A}" srcOrd="1" destOrd="0" presId="urn:microsoft.com/office/officeart/2008/layout/HorizontalMultiLevelHierarchy"/>
    <dgm:cxn modelId="{C2AF38FD-504B-4C4D-9D8E-8ADBF39729DF}" type="presParOf" srcId="{4BA715F8-6320-8A49-A44C-6F7605302253}" destId="{B09A828A-BEF5-5948-AB40-745839849B4A}" srcOrd="2" destOrd="0" presId="urn:microsoft.com/office/officeart/2008/layout/HorizontalMultiLevelHierarchy"/>
    <dgm:cxn modelId="{22DC785A-E1E0-3D46-94E3-73ABDF653699}" type="presParOf" srcId="{B09A828A-BEF5-5948-AB40-745839849B4A}" destId="{24748E18-6245-E148-B78D-3A4911E8AFD0}" srcOrd="0" destOrd="0" presId="urn:microsoft.com/office/officeart/2008/layout/HorizontalMultiLevelHierarchy"/>
    <dgm:cxn modelId="{4219E3DA-4EBE-804B-ABDD-36C1C0D2539A}" type="presParOf" srcId="{4BA715F8-6320-8A49-A44C-6F7605302253}" destId="{C0C59D03-BF04-0D4F-99B9-6AB701C4F5F8}" srcOrd="3" destOrd="0" presId="urn:microsoft.com/office/officeart/2008/layout/HorizontalMultiLevelHierarchy"/>
    <dgm:cxn modelId="{6BCDBD52-537B-8C4F-ACA2-20700FC26975}" type="presParOf" srcId="{C0C59D03-BF04-0D4F-99B9-6AB701C4F5F8}" destId="{2E29867A-0174-7A47-9F8D-DF836E1CEF68}" srcOrd="0" destOrd="0" presId="urn:microsoft.com/office/officeart/2008/layout/HorizontalMultiLevelHierarchy"/>
    <dgm:cxn modelId="{887622B0-D721-D54E-8018-2CD805491278}" type="presParOf" srcId="{C0C59D03-BF04-0D4F-99B9-6AB701C4F5F8}" destId="{770AB8C7-24A4-0C4E-A390-C4F38F5B362D}" srcOrd="1" destOrd="0" presId="urn:microsoft.com/office/officeart/2008/layout/HorizontalMultiLevelHierarchy"/>
    <dgm:cxn modelId="{12A6963E-917D-D441-9F3B-D01C423E7564}" type="presParOf" srcId="{4BA715F8-6320-8A49-A44C-6F7605302253}" destId="{1E3117A9-0247-0547-8AA7-9F8C38D6BA7E}" srcOrd="4" destOrd="0" presId="urn:microsoft.com/office/officeart/2008/layout/HorizontalMultiLevelHierarchy"/>
    <dgm:cxn modelId="{99CD6CF2-7823-F440-A95B-B7498724062F}" type="presParOf" srcId="{1E3117A9-0247-0547-8AA7-9F8C38D6BA7E}" destId="{F53436EC-50EB-8146-8987-1E49F88DCA0E}" srcOrd="0" destOrd="0" presId="urn:microsoft.com/office/officeart/2008/layout/HorizontalMultiLevelHierarchy"/>
    <dgm:cxn modelId="{5DE5F8E9-28D3-2F4A-B77C-4F69FD769151}" type="presParOf" srcId="{4BA715F8-6320-8A49-A44C-6F7605302253}" destId="{0A96C749-5206-E045-BEDE-65E0AFB21F11}" srcOrd="5" destOrd="0" presId="urn:microsoft.com/office/officeart/2008/layout/HorizontalMultiLevelHierarchy"/>
    <dgm:cxn modelId="{EE14E2AE-1529-864A-B527-1FF0B1319364}" type="presParOf" srcId="{0A96C749-5206-E045-BEDE-65E0AFB21F11}" destId="{DF579AD9-77E8-7640-A2C0-E39DE5C35A78}" srcOrd="0" destOrd="0" presId="urn:microsoft.com/office/officeart/2008/layout/HorizontalMultiLevelHierarchy"/>
    <dgm:cxn modelId="{775EBB89-9B57-8E45-853D-A364D53332D7}" type="presParOf" srcId="{0A96C749-5206-E045-BEDE-65E0AFB21F11}" destId="{E6C0318C-AD1B-A941-B00D-823BFDDD0026}" srcOrd="1" destOrd="0" presId="urn:microsoft.com/office/officeart/2008/layout/HorizontalMultiLevelHierarchy"/>
    <dgm:cxn modelId="{635182BE-25C8-3043-A73D-61C1E16ED9D7}" type="presParOf" srcId="{4BA715F8-6320-8A49-A44C-6F7605302253}" destId="{CDFEF367-F8CB-1B45-8E66-44572A98D353}" srcOrd="6" destOrd="0" presId="urn:microsoft.com/office/officeart/2008/layout/HorizontalMultiLevelHierarchy"/>
    <dgm:cxn modelId="{73F89181-01A5-AC41-8DC4-4F37D3F2C7C9}" type="presParOf" srcId="{CDFEF367-F8CB-1B45-8E66-44572A98D353}" destId="{42E71879-7C68-4747-A6BE-C199ABD8F5F6}" srcOrd="0" destOrd="0" presId="urn:microsoft.com/office/officeart/2008/layout/HorizontalMultiLevelHierarchy"/>
    <dgm:cxn modelId="{C6F153B5-9DF7-8A4F-B647-A44EC373EE38}" type="presParOf" srcId="{4BA715F8-6320-8A49-A44C-6F7605302253}" destId="{42E593F8-16CF-BE4B-9365-493A17B0762E}" srcOrd="7" destOrd="0" presId="urn:microsoft.com/office/officeart/2008/layout/HorizontalMultiLevelHierarchy"/>
    <dgm:cxn modelId="{D28491E1-6248-BE4E-AEEF-F0144B5552BB}" type="presParOf" srcId="{42E593F8-16CF-BE4B-9365-493A17B0762E}" destId="{C03F2952-573F-0747-8263-D5DFA486F333}" srcOrd="0" destOrd="0" presId="urn:microsoft.com/office/officeart/2008/layout/HorizontalMultiLevelHierarchy"/>
    <dgm:cxn modelId="{863A51F0-3A38-BF45-8D86-253690FA831B}" type="presParOf" srcId="{42E593F8-16CF-BE4B-9365-493A17B0762E}" destId="{D206EAEA-6F3D-A34F-B0B5-F6EFD8C8905B}" srcOrd="1" destOrd="0" presId="urn:microsoft.com/office/officeart/2008/layout/HorizontalMultiLevelHierarchy"/>
  </dgm:cxnLst>
  <dgm:bg/>
  <dgm:whole>
    <a:ln>
      <a:noFill/>
    </a:ln>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11A630-A54D-ED43-BB13-66300F2BC916}" type="doc">
      <dgm:prSet loTypeId="urn:microsoft.com/office/officeart/2008/layout/HorizontalMultiLevelHierarchy" loCatId="" qsTypeId="urn:microsoft.com/office/officeart/2005/8/quickstyle/simple1" qsCatId="simple" csTypeId="urn:microsoft.com/office/officeart/2005/8/colors/accent1_2" csCatId="accent1" phldr="1"/>
      <dgm:spPr/>
      <dgm:t>
        <a:bodyPr/>
        <a:lstStyle/>
        <a:p>
          <a:endParaRPr lang="en-GB"/>
        </a:p>
      </dgm:t>
    </dgm:pt>
    <dgm:pt modelId="{68E32E48-B756-0448-A187-D73B650E1603}">
      <dgm:prSet phldrT="[Text]"/>
      <dgm:spPr>
        <a:solidFill>
          <a:schemeClr val="bg2">
            <a:lumMod val="20000"/>
            <a:lumOff val="80000"/>
          </a:schemeClr>
        </a:solidFill>
        <a:ln>
          <a:solidFill>
            <a:schemeClr val="accent2"/>
          </a:solidFill>
        </a:ln>
      </dgm:spPr>
      <dgm:t>
        <a:bodyPr/>
        <a:lstStyle/>
        <a:p>
          <a:r>
            <a:rPr lang="en-GB" dirty="0">
              <a:solidFill>
                <a:srgbClr val="344251"/>
              </a:solidFill>
            </a:rPr>
            <a:t>Benefits to Customer</a:t>
          </a:r>
        </a:p>
      </dgm:t>
    </dgm:pt>
    <dgm:pt modelId="{4DF1B859-40F5-AA46-9ADA-4A05461FC7EB}" type="parTrans" cxnId="{8376D21C-12C6-8140-AA76-6073CDC8879A}">
      <dgm:prSet/>
      <dgm:spPr/>
      <dgm:t>
        <a:bodyPr/>
        <a:lstStyle/>
        <a:p>
          <a:endParaRPr lang="en-GB">
            <a:solidFill>
              <a:srgbClr val="344251"/>
            </a:solidFill>
          </a:endParaRPr>
        </a:p>
      </dgm:t>
    </dgm:pt>
    <dgm:pt modelId="{4712C268-13E5-E549-8445-EFCFAFDB20EA}" type="sibTrans" cxnId="{8376D21C-12C6-8140-AA76-6073CDC8879A}">
      <dgm:prSet/>
      <dgm:spPr/>
      <dgm:t>
        <a:bodyPr/>
        <a:lstStyle/>
        <a:p>
          <a:endParaRPr lang="en-GB">
            <a:solidFill>
              <a:srgbClr val="344251"/>
            </a:solidFill>
          </a:endParaRPr>
        </a:p>
      </dgm:t>
    </dgm:pt>
    <dgm:pt modelId="{0AD3AD08-C9DB-664F-88A3-B7372C27F438}">
      <dgm:prSet phldrT="[Text]"/>
      <dgm:spPr>
        <a:solidFill>
          <a:schemeClr val="bg2">
            <a:lumMod val="20000"/>
            <a:lumOff val="80000"/>
          </a:schemeClr>
        </a:solidFill>
        <a:ln>
          <a:solidFill>
            <a:schemeClr val="accent2"/>
          </a:solidFill>
        </a:ln>
      </dgm:spPr>
      <dgm:t>
        <a:bodyPr/>
        <a:lstStyle/>
        <a:p>
          <a:r>
            <a:rPr lang="en-GB" dirty="0">
              <a:solidFill>
                <a:srgbClr val="344251"/>
              </a:solidFill>
            </a:rPr>
            <a:t>Maximise Uptime</a:t>
          </a:r>
        </a:p>
      </dgm:t>
    </dgm:pt>
    <dgm:pt modelId="{7E64BBC1-F436-DD4D-877A-F829D362D0CA}" type="parTrans" cxnId="{DBD39BD7-EEEF-1949-A6D3-AFB674D76B9C}">
      <dgm:prSet/>
      <dgm:spPr/>
      <dgm:t>
        <a:bodyPr/>
        <a:lstStyle/>
        <a:p>
          <a:endParaRPr lang="en-GB">
            <a:solidFill>
              <a:srgbClr val="344251"/>
            </a:solidFill>
          </a:endParaRPr>
        </a:p>
      </dgm:t>
    </dgm:pt>
    <dgm:pt modelId="{78E27103-DCFB-124C-9C92-92FEEE306A76}" type="sibTrans" cxnId="{DBD39BD7-EEEF-1949-A6D3-AFB674D76B9C}">
      <dgm:prSet/>
      <dgm:spPr/>
      <dgm:t>
        <a:bodyPr/>
        <a:lstStyle/>
        <a:p>
          <a:endParaRPr lang="en-GB">
            <a:solidFill>
              <a:srgbClr val="344251"/>
            </a:solidFill>
          </a:endParaRPr>
        </a:p>
      </dgm:t>
    </dgm:pt>
    <dgm:pt modelId="{29E433D7-6123-6A4A-8CEC-E23C4BE42924}">
      <dgm:prSet phldrT="[Text]"/>
      <dgm:spPr>
        <a:solidFill>
          <a:schemeClr val="bg2">
            <a:lumMod val="20000"/>
            <a:lumOff val="80000"/>
          </a:schemeClr>
        </a:solidFill>
        <a:ln>
          <a:solidFill>
            <a:schemeClr val="accent2"/>
          </a:solidFill>
        </a:ln>
      </dgm:spPr>
      <dgm:t>
        <a:bodyPr/>
        <a:lstStyle/>
        <a:p>
          <a:r>
            <a:rPr lang="en-GB" dirty="0">
              <a:solidFill>
                <a:srgbClr val="344251"/>
              </a:solidFill>
            </a:rPr>
            <a:t>Manage Total cost of Ownership</a:t>
          </a:r>
        </a:p>
      </dgm:t>
    </dgm:pt>
    <dgm:pt modelId="{4C0D5171-B1A6-7941-A21D-299750849119}" type="parTrans" cxnId="{C0F97627-28E9-F544-B426-E441EA1518F0}">
      <dgm:prSet/>
      <dgm:spPr/>
      <dgm:t>
        <a:bodyPr/>
        <a:lstStyle/>
        <a:p>
          <a:endParaRPr lang="en-GB">
            <a:solidFill>
              <a:srgbClr val="344251"/>
            </a:solidFill>
          </a:endParaRPr>
        </a:p>
      </dgm:t>
    </dgm:pt>
    <dgm:pt modelId="{2E6CE1DD-7867-8743-8B42-16DCE3A06487}" type="sibTrans" cxnId="{C0F97627-28E9-F544-B426-E441EA1518F0}">
      <dgm:prSet/>
      <dgm:spPr/>
      <dgm:t>
        <a:bodyPr/>
        <a:lstStyle/>
        <a:p>
          <a:endParaRPr lang="en-GB">
            <a:solidFill>
              <a:srgbClr val="344251"/>
            </a:solidFill>
          </a:endParaRPr>
        </a:p>
      </dgm:t>
    </dgm:pt>
    <dgm:pt modelId="{95BC7773-63D2-E349-A3BB-E98FEEEDAE12}">
      <dgm:prSet phldrT="[Text]"/>
      <dgm:spPr>
        <a:solidFill>
          <a:srgbClr val="848E9A">
            <a:lumMod val="20000"/>
            <a:lumOff val="80000"/>
          </a:srgbClr>
        </a:solidFill>
        <a:ln w="19050" cap="flat" cmpd="sng" algn="ctr">
          <a:solidFill>
            <a:srgbClr val="002664"/>
          </a:solidFill>
          <a:prstDash val="solid"/>
          <a:miter lim="800000"/>
        </a:ln>
        <a:effectLst/>
      </dgm:spPr>
      <dgm:t>
        <a:bodyPr spcFirstLastPara="0" vert="horz" wrap="square" lIns="6985" tIns="6985" rIns="6985" bIns="6985" numCol="1" spcCol="1270" anchor="ctr" anchorCtr="0"/>
        <a:lstStyle/>
        <a:p>
          <a:r>
            <a:rPr lang="en-GB" dirty="0">
              <a:solidFill>
                <a:srgbClr val="344251"/>
              </a:solidFill>
            </a:rPr>
            <a:t>Analyse Vehicle Operation</a:t>
          </a:r>
        </a:p>
      </dgm:t>
    </dgm:pt>
    <dgm:pt modelId="{04C94DA9-069D-AC4D-99A8-02BD758A7AD4}" type="parTrans" cxnId="{F0C50013-4BDB-0448-807D-5158013EB169}">
      <dgm:prSet/>
      <dgm:spPr/>
      <dgm:t>
        <a:bodyPr/>
        <a:lstStyle/>
        <a:p>
          <a:endParaRPr lang="en-GB">
            <a:solidFill>
              <a:srgbClr val="344251"/>
            </a:solidFill>
          </a:endParaRPr>
        </a:p>
      </dgm:t>
    </dgm:pt>
    <dgm:pt modelId="{3E20FC14-1157-374F-9B17-A382806E495C}" type="sibTrans" cxnId="{F0C50013-4BDB-0448-807D-5158013EB169}">
      <dgm:prSet/>
      <dgm:spPr/>
      <dgm:t>
        <a:bodyPr/>
        <a:lstStyle/>
        <a:p>
          <a:endParaRPr lang="en-GB">
            <a:solidFill>
              <a:srgbClr val="344251"/>
            </a:solidFill>
          </a:endParaRPr>
        </a:p>
      </dgm:t>
    </dgm:pt>
    <dgm:pt modelId="{A59D8EA6-AFE7-604A-8895-BDEC6A6AA07E}">
      <dgm:prSet/>
      <dgm:spPr>
        <a:solidFill>
          <a:srgbClr val="848E9A">
            <a:lumMod val="20000"/>
            <a:lumOff val="80000"/>
          </a:srgbClr>
        </a:solidFill>
        <a:ln w="19050" cap="flat" cmpd="sng" algn="ctr">
          <a:solidFill>
            <a:srgbClr val="002664"/>
          </a:solidFill>
          <a:prstDash val="solid"/>
          <a:miter lim="800000"/>
        </a:ln>
        <a:effectLst/>
      </dgm:spPr>
      <dgm:t>
        <a:bodyPr spcFirstLastPara="0" vert="horz" wrap="square" lIns="6985" tIns="6985" rIns="6985" bIns="6985" numCol="1" spcCol="1270" anchor="ctr" anchorCtr="0"/>
        <a:lstStyle/>
        <a:p>
          <a:r>
            <a:rPr lang="en-GB" b="1" dirty="0">
              <a:solidFill>
                <a:srgbClr val="344251"/>
              </a:solidFill>
            </a:rPr>
            <a:t>Pro-active Maintenance</a:t>
          </a:r>
        </a:p>
      </dgm:t>
    </dgm:pt>
    <dgm:pt modelId="{7B517404-53D3-F14E-9685-A39AE7DCBE16}" type="parTrans" cxnId="{56C71C9A-237C-884B-A862-B8A43F7ECAE9}">
      <dgm:prSet/>
      <dgm:spPr/>
      <dgm:t>
        <a:bodyPr/>
        <a:lstStyle/>
        <a:p>
          <a:endParaRPr lang="en-GB"/>
        </a:p>
      </dgm:t>
    </dgm:pt>
    <dgm:pt modelId="{B37CFB07-1E0F-994D-BD08-1B7E56F950B9}" type="sibTrans" cxnId="{56C71C9A-237C-884B-A862-B8A43F7ECAE9}">
      <dgm:prSet/>
      <dgm:spPr/>
      <dgm:t>
        <a:bodyPr/>
        <a:lstStyle/>
        <a:p>
          <a:endParaRPr lang="en-GB"/>
        </a:p>
      </dgm:t>
    </dgm:pt>
    <dgm:pt modelId="{62A08F91-F997-2A40-B165-016F8733499C}" type="pres">
      <dgm:prSet presAssocID="{2411A630-A54D-ED43-BB13-66300F2BC916}" presName="Name0" presStyleCnt="0">
        <dgm:presLayoutVars>
          <dgm:chPref val="1"/>
          <dgm:dir/>
          <dgm:animOne val="branch"/>
          <dgm:animLvl val="lvl"/>
          <dgm:resizeHandles val="exact"/>
        </dgm:presLayoutVars>
      </dgm:prSet>
      <dgm:spPr/>
    </dgm:pt>
    <dgm:pt modelId="{994E71E1-56A5-294A-81C0-E0E8319558E1}" type="pres">
      <dgm:prSet presAssocID="{68E32E48-B756-0448-A187-D73B650E1603}" presName="root1" presStyleCnt="0"/>
      <dgm:spPr/>
    </dgm:pt>
    <dgm:pt modelId="{E291F9DB-A2A9-0A4A-9978-93A98EF6084F}" type="pres">
      <dgm:prSet presAssocID="{68E32E48-B756-0448-A187-D73B650E1603}" presName="LevelOneTextNode" presStyleLbl="node0" presStyleIdx="0" presStyleCnt="1" custLinFactNeighborX="2533" custLinFactNeighborY="696">
        <dgm:presLayoutVars>
          <dgm:chPref val="3"/>
        </dgm:presLayoutVars>
      </dgm:prSet>
      <dgm:spPr/>
    </dgm:pt>
    <dgm:pt modelId="{4BA715F8-6320-8A49-A44C-6F7605302253}" type="pres">
      <dgm:prSet presAssocID="{68E32E48-B756-0448-A187-D73B650E1603}" presName="level2hierChild" presStyleCnt="0"/>
      <dgm:spPr/>
    </dgm:pt>
    <dgm:pt modelId="{38A5EC6C-5C97-4140-A58D-8B59FCD87276}" type="pres">
      <dgm:prSet presAssocID="{7E64BBC1-F436-DD4D-877A-F829D362D0CA}" presName="conn2-1" presStyleLbl="parChTrans1D2" presStyleIdx="0" presStyleCnt="4"/>
      <dgm:spPr/>
    </dgm:pt>
    <dgm:pt modelId="{B5F2A9B4-39BF-114A-95C8-3A5D922DC2A0}" type="pres">
      <dgm:prSet presAssocID="{7E64BBC1-F436-DD4D-877A-F829D362D0CA}" presName="connTx" presStyleLbl="parChTrans1D2" presStyleIdx="0" presStyleCnt="4"/>
      <dgm:spPr/>
    </dgm:pt>
    <dgm:pt modelId="{CBFD320E-81D0-2F44-805F-BA1FBFFCBEB2}" type="pres">
      <dgm:prSet presAssocID="{0AD3AD08-C9DB-664F-88A3-B7372C27F438}" presName="root2" presStyleCnt="0"/>
      <dgm:spPr/>
    </dgm:pt>
    <dgm:pt modelId="{5A6B720B-7343-6C4E-936F-CB975C00ACBE}" type="pres">
      <dgm:prSet presAssocID="{0AD3AD08-C9DB-664F-88A3-B7372C27F438}" presName="LevelTwoTextNode" presStyleLbl="node2" presStyleIdx="0" presStyleCnt="4">
        <dgm:presLayoutVars>
          <dgm:chPref val="3"/>
        </dgm:presLayoutVars>
      </dgm:prSet>
      <dgm:spPr/>
    </dgm:pt>
    <dgm:pt modelId="{E26F301E-F59A-7B43-A627-4B8B594F675A}" type="pres">
      <dgm:prSet presAssocID="{0AD3AD08-C9DB-664F-88A3-B7372C27F438}" presName="level3hierChild" presStyleCnt="0"/>
      <dgm:spPr/>
    </dgm:pt>
    <dgm:pt modelId="{B09A828A-BEF5-5948-AB40-745839849B4A}" type="pres">
      <dgm:prSet presAssocID="{4C0D5171-B1A6-7941-A21D-299750849119}" presName="conn2-1" presStyleLbl="parChTrans1D2" presStyleIdx="1" presStyleCnt="4"/>
      <dgm:spPr/>
    </dgm:pt>
    <dgm:pt modelId="{24748E18-6245-E148-B78D-3A4911E8AFD0}" type="pres">
      <dgm:prSet presAssocID="{4C0D5171-B1A6-7941-A21D-299750849119}" presName="connTx" presStyleLbl="parChTrans1D2" presStyleIdx="1" presStyleCnt="4"/>
      <dgm:spPr/>
    </dgm:pt>
    <dgm:pt modelId="{C0C59D03-BF04-0D4F-99B9-6AB701C4F5F8}" type="pres">
      <dgm:prSet presAssocID="{29E433D7-6123-6A4A-8CEC-E23C4BE42924}" presName="root2" presStyleCnt="0"/>
      <dgm:spPr/>
    </dgm:pt>
    <dgm:pt modelId="{2E29867A-0174-7A47-9F8D-DF836E1CEF68}" type="pres">
      <dgm:prSet presAssocID="{29E433D7-6123-6A4A-8CEC-E23C4BE42924}" presName="LevelTwoTextNode" presStyleLbl="node2" presStyleIdx="1" presStyleCnt="4">
        <dgm:presLayoutVars>
          <dgm:chPref val="3"/>
        </dgm:presLayoutVars>
      </dgm:prSet>
      <dgm:spPr/>
    </dgm:pt>
    <dgm:pt modelId="{770AB8C7-24A4-0C4E-A390-C4F38F5B362D}" type="pres">
      <dgm:prSet presAssocID="{29E433D7-6123-6A4A-8CEC-E23C4BE42924}" presName="level3hierChild" presStyleCnt="0"/>
      <dgm:spPr/>
    </dgm:pt>
    <dgm:pt modelId="{1E3117A9-0247-0547-8AA7-9F8C38D6BA7E}" type="pres">
      <dgm:prSet presAssocID="{04C94DA9-069D-AC4D-99A8-02BD758A7AD4}" presName="conn2-1" presStyleLbl="parChTrans1D2" presStyleIdx="2" presStyleCnt="4"/>
      <dgm:spPr/>
    </dgm:pt>
    <dgm:pt modelId="{F53436EC-50EB-8146-8987-1E49F88DCA0E}" type="pres">
      <dgm:prSet presAssocID="{04C94DA9-069D-AC4D-99A8-02BD758A7AD4}" presName="connTx" presStyleLbl="parChTrans1D2" presStyleIdx="2" presStyleCnt="4"/>
      <dgm:spPr/>
    </dgm:pt>
    <dgm:pt modelId="{0A96C749-5206-E045-BEDE-65E0AFB21F11}" type="pres">
      <dgm:prSet presAssocID="{95BC7773-63D2-E349-A3BB-E98FEEEDAE12}" presName="root2" presStyleCnt="0"/>
      <dgm:spPr/>
    </dgm:pt>
    <dgm:pt modelId="{DF579AD9-77E8-7640-A2C0-E39DE5C35A78}" type="pres">
      <dgm:prSet presAssocID="{95BC7773-63D2-E349-A3BB-E98FEEEDAE12}" presName="LevelTwoTextNode" presStyleLbl="node2" presStyleIdx="2" presStyleCnt="4">
        <dgm:presLayoutVars>
          <dgm:chPref val="3"/>
        </dgm:presLayoutVars>
      </dgm:prSet>
      <dgm:spPr>
        <a:xfrm>
          <a:off x="1647883" y="1117974"/>
          <a:ext cx="1330255" cy="405565"/>
        </a:xfrm>
        <a:prstGeom prst="rect">
          <a:avLst/>
        </a:prstGeom>
      </dgm:spPr>
    </dgm:pt>
    <dgm:pt modelId="{E6C0318C-AD1B-A941-B00D-823BFDDD0026}" type="pres">
      <dgm:prSet presAssocID="{95BC7773-63D2-E349-A3BB-E98FEEEDAE12}" presName="level3hierChild" presStyleCnt="0"/>
      <dgm:spPr/>
    </dgm:pt>
    <dgm:pt modelId="{CDFEF367-F8CB-1B45-8E66-44572A98D353}" type="pres">
      <dgm:prSet presAssocID="{7B517404-53D3-F14E-9685-A39AE7DCBE16}" presName="conn2-1" presStyleLbl="parChTrans1D2" presStyleIdx="3" presStyleCnt="4"/>
      <dgm:spPr/>
    </dgm:pt>
    <dgm:pt modelId="{42E71879-7C68-4747-A6BE-C199ABD8F5F6}" type="pres">
      <dgm:prSet presAssocID="{7B517404-53D3-F14E-9685-A39AE7DCBE16}" presName="connTx" presStyleLbl="parChTrans1D2" presStyleIdx="3" presStyleCnt="4"/>
      <dgm:spPr/>
    </dgm:pt>
    <dgm:pt modelId="{42E593F8-16CF-BE4B-9365-493A17B0762E}" type="pres">
      <dgm:prSet presAssocID="{A59D8EA6-AFE7-604A-8895-BDEC6A6AA07E}" presName="root2" presStyleCnt="0"/>
      <dgm:spPr/>
    </dgm:pt>
    <dgm:pt modelId="{C03F2952-573F-0747-8263-D5DFA486F333}" type="pres">
      <dgm:prSet presAssocID="{A59D8EA6-AFE7-604A-8895-BDEC6A6AA07E}" presName="LevelTwoTextNode" presStyleLbl="node2" presStyleIdx="3" presStyleCnt="4">
        <dgm:presLayoutVars>
          <dgm:chPref val="3"/>
        </dgm:presLayoutVars>
      </dgm:prSet>
      <dgm:spPr>
        <a:xfrm>
          <a:off x="1647883" y="1624931"/>
          <a:ext cx="1330255" cy="405565"/>
        </a:xfrm>
        <a:prstGeom prst="rect">
          <a:avLst/>
        </a:prstGeom>
      </dgm:spPr>
    </dgm:pt>
    <dgm:pt modelId="{D206EAEA-6F3D-A34F-B0B5-F6EFD8C8905B}" type="pres">
      <dgm:prSet presAssocID="{A59D8EA6-AFE7-604A-8895-BDEC6A6AA07E}" presName="level3hierChild" presStyleCnt="0"/>
      <dgm:spPr/>
    </dgm:pt>
  </dgm:ptLst>
  <dgm:cxnLst>
    <dgm:cxn modelId="{F0C50013-4BDB-0448-807D-5158013EB169}" srcId="{68E32E48-B756-0448-A187-D73B650E1603}" destId="{95BC7773-63D2-E349-A3BB-E98FEEEDAE12}" srcOrd="2" destOrd="0" parTransId="{04C94DA9-069D-AC4D-99A8-02BD758A7AD4}" sibTransId="{3E20FC14-1157-374F-9B17-A382806E495C}"/>
    <dgm:cxn modelId="{33935E18-79A4-6646-AB85-27782B890A17}" type="presOf" srcId="{7B517404-53D3-F14E-9685-A39AE7DCBE16}" destId="{CDFEF367-F8CB-1B45-8E66-44572A98D353}" srcOrd="0" destOrd="0" presId="urn:microsoft.com/office/officeart/2008/layout/HorizontalMultiLevelHierarchy"/>
    <dgm:cxn modelId="{8376D21C-12C6-8140-AA76-6073CDC8879A}" srcId="{2411A630-A54D-ED43-BB13-66300F2BC916}" destId="{68E32E48-B756-0448-A187-D73B650E1603}" srcOrd="0" destOrd="0" parTransId="{4DF1B859-40F5-AA46-9ADA-4A05461FC7EB}" sibTransId="{4712C268-13E5-E549-8445-EFCFAFDB20EA}"/>
    <dgm:cxn modelId="{2306FF1D-5B1A-E847-AC19-B82CBE8CAC4B}" type="presOf" srcId="{4C0D5171-B1A6-7941-A21D-299750849119}" destId="{B09A828A-BEF5-5948-AB40-745839849B4A}" srcOrd="0" destOrd="0" presId="urn:microsoft.com/office/officeart/2008/layout/HorizontalMultiLevelHierarchy"/>
    <dgm:cxn modelId="{73F4B21F-4DAE-3442-931A-157C53619015}" type="presOf" srcId="{04C94DA9-069D-AC4D-99A8-02BD758A7AD4}" destId="{F53436EC-50EB-8146-8987-1E49F88DCA0E}" srcOrd="1" destOrd="0" presId="urn:microsoft.com/office/officeart/2008/layout/HorizontalMultiLevelHierarchy"/>
    <dgm:cxn modelId="{C0F97627-28E9-F544-B426-E441EA1518F0}" srcId="{68E32E48-B756-0448-A187-D73B650E1603}" destId="{29E433D7-6123-6A4A-8CEC-E23C4BE42924}" srcOrd="1" destOrd="0" parTransId="{4C0D5171-B1A6-7941-A21D-299750849119}" sibTransId="{2E6CE1DD-7867-8743-8B42-16DCE3A06487}"/>
    <dgm:cxn modelId="{D2BDB26D-E209-1440-B063-19E8535B65E1}" type="presOf" srcId="{0AD3AD08-C9DB-664F-88A3-B7372C27F438}" destId="{5A6B720B-7343-6C4E-936F-CB975C00ACBE}" srcOrd="0" destOrd="0" presId="urn:microsoft.com/office/officeart/2008/layout/HorizontalMultiLevelHierarchy"/>
    <dgm:cxn modelId="{A9E62871-F3A3-9549-8F90-689709BF0209}" type="presOf" srcId="{7B517404-53D3-F14E-9685-A39AE7DCBE16}" destId="{42E71879-7C68-4747-A6BE-C199ABD8F5F6}" srcOrd="1" destOrd="0" presId="urn:microsoft.com/office/officeart/2008/layout/HorizontalMultiLevelHierarchy"/>
    <dgm:cxn modelId="{C07E8D53-FF6B-7044-913D-764FB2B49E35}" type="presOf" srcId="{29E433D7-6123-6A4A-8CEC-E23C4BE42924}" destId="{2E29867A-0174-7A47-9F8D-DF836E1CEF68}" srcOrd="0" destOrd="0" presId="urn:microsoft.com/office/officeart/2008/layout/HorizontalMultiLevelHierarchy"/>
    <dgm:cxn modelId="{7C3E1983-B878-0140-B775-99A32E5AF495}" type="presOf" srcId="{95BC7773-63D2-E349-A3BB-E98FEEEDAE12}" destId="{DF579AD9-77E8-7640-A2C0-E39DE5C35A78}" srcOrd="0" destOrd="0" presId="urn:microsoft.com/office/officeart/2008/layout/HorizontalMultiLevelHierarchy"/>
    <dgm:cxn modelId="{B1A39B8A-D1CE-C648-ADF5-957741C5EEB9}" type="presOf" srcId="{A59D8EA6-AFE7-604A-8895-BDEC6A6AA07E}" destId="{C03F2952-573F-0747-8263-D5DFA486F333}" srcOrd="0" destOrd="0" presId="urn:microsoft.com/office/officeart/2008/layout/HorizontalMultiLevelHierarchy"/>
    <dgm:cxn modelId="{56C71C9A-237C-884B-A862-B8A43F7ECAE9}" srcId="{68E32E48-B756-0448-A187-D73B650E1603}" destId="{A59D8EA6-AFE7-604A-8895-BDEC6A6AA07E}" srcOrd="3" destOrd="0" parTransId="{7B517404-53D3-F14E-9685-A39AE7DCBE16}" sibTransId="{B37CFB07-1E0F-994D-BD08-1B7E56F950B9}"/>
    <dgm:cxn modelId="{40E36CAE-63D6-E94B-94C7-A9A8224A086C}" type="presOf" srcId="{7E64BBC1-F436-DD4D-877A-F829D362D0CA}" destId="{38A5EC6C-5C97-4140-A58D-8B59FCD87276}" srcOrd="0" destOrd="0" presId="urn:microsoft.com/office/officeart/2008/layout/HorizontalMultiLevelHierarchy"/>
    <dgm:cxn modelId="{2E3DE6B6-AC32-3749-BD90-58C923A3EFC3}" type="presOf" srcId="{2411A630-A54D-ED43-BB13-66300F2BC916}" destId="{62A08F91-F997-2A40-B165-016F8733499C}" srcOrd="0" destOrd="0" presId="urn:microsoft.com/office/officeart/2008/layout/HorizontalMultiLevelHierarchy"/>
    <dgm:cxn modelId="{000275C4-519A-304C-A1D3-7FB9CF19FB47}" type="presOf" srcId="{04C94DA9-069D-AC4D-99A8-02BD758A7AD4}" destId="{1E3117A9-0247-0547-8AA7-9F8C38D6BA7E}" srcOrd="0" destOrd="0" presId="urn:microsoft.com/office/officeart/2008/layout/HorizontalMultiLevelHierarchy"/>
    <dgm:cxn modelId="{AFF31BCC-B784-A74E-85C0-11FA566D209F}" type="presOf" srcId="{68E32E48-B756-0448-A187-D73B650E1603}" destId="{E291F9DB-A2A9-0A4A-9978-93A98EF6084F}" srcOrd="0" destOrd="0" presId="urn:microsoft.com/office/officeart/2008/layout/HorizontalMultiLevelHierarchy"/>
    <dgm:cxn modelId="{DBD39BD7-EEEF-1949-A6D3-AFB674D76B9C}" srcId="{68E32E48-B756-0448-A187-D73B650E1603}" destId="{0AD3AD08-C9DB-664F-88A3-B7372C27F438}" srcOrd="0" destOrd="0" parTransId="{7E64BBC1-F436-DD4D-877A-F829D362D0CA}" sibTransId="{78E27103-DCFB-124C-9C92-92FEEE306A76}"/>
    <dgm:cxn modelId="{BACFE4D8-58F3-8042-91F1-F17440864AFA}" type="presOf" srcId="{4C0D5171-B1A6-7941-A21D-299750849119}" destId="{24748E18-6245-E148-B78D-3A4911E8AFD0}" srcOrd="1" destOrd="0" presId="urn:microsoft.com/office/officeart/2008/layout/HorizontalMultiLevelHierarchy"/>
    <dgm:cxn modelId="{AD67EFFB-9753-7943-9AAC-891A8060CA9B}" type="presOf" srcId="{7E64BBC1-F436-DD4D-877A-F829D362D0CA}" destId="{B5F2A9B4-39BF-114A-95C8-3A5D922DC2A0}" srcOrd="1" destOrd="0" presId="urn:microsoft.com/office/officeart/2008/layout/HorizontalMultiLevelHierarchy"/>
    <dgm:cxn modelId="{4E892CB6-BA16-4A46-8F9F-E9EF87DBD9E3}" type="presParOf" srcId="{62A08F91-F997-2A40-B165-016F8733499C}" destId="{994E71E1-56A5-294A-81C0-E0E8319558E1}" srcOrd="0" destOrd="0" presId="urn:microsoft.com/office/officeart/2008/layout/HorizontalMultiLevelHierarchy"/>
    <dgm:cxn modelId="{6F662D83-43D8-BE44-964C-F8931F09EA91}" type="presParOf" srcId="{994E71E1-56A5-294A-81C0-E0E8319558E1}" destId="{E291F9DB-A2A9-0A4A-9978-93A98EF6084F}" srcOrd="0" destOrd="0" presId="urn:microsoft.com/office/officeart/2008/layout/HorizontalMultiLevelHierarchy"/>
    <dgm:cxn modelId="{3ADA4420-F9C0-F54B-BB07-4BBA40DBAF4E}" type="presParOf" srcId="{994E71E1-56A5-294A-81C0-E0E8319558E1}" destId="{4BA715F8-6320-8A49-A44C-6F7605302253}" srcOrd="1" destOrd="0" presId="urn:microsoft.com/office/officeart/2008/layout/HorizontalMultiLevelHierarchy"/>
    <dgm:cxn modelId="{2C2E739F-E77B-0D4A-99B3-33B18ABC1E49}" type="presParOf" srcId="{4BA715F8-6320-8A49-A44C-6F7605302253}" destId="{38A5EC6C-5C97-4140-A58D-8B59FCD87276}" srcOrd="0" destOrd="0" presId="urn:microsoft.com/office/officeart/2008/layout/HorizontalMultiLevelHierarchy"/>
    <dgm:cxn modelId="{186547D0-2363-9B4C-B29C-C1435CE39FE0}" type="presParOf" srcId="{38A5EC6C-5C97-4140-A58D-8B59FCD87276}" destId="{B5F2A9B4-39BF-114A-95C8-3A5D922DC2A0}" srcOrd="0" destOrd="0" presId="urn:microsoft.com/office/officeart/2008/layout/HorizontalMultiLevelHierarchy"/>
    <dgm:cxn modelId="{E1296237-817D-6D4D-A9E1-EDACAAFCCF50}" type="presParOf" srcId="{4BA715F8-6320-8A49-A44C-6F7605302253}" destId="{CBFD320E-81D0-2F44-805F-BA1FBFFCBEB2}" srcOrd="1" destOrd="0" presId="urn:microsoft.com/office/officeart/2008/layout/HorizontalMultiLevelHierarchy"/>
    <dgm:cxn modelId="{C66E2A21-40FC-4949-91D8-DD94BA5E1F98}" type="presParOf" srcId="{CBFD320E-81D0-2F44-805F-BA1FBFFCBEB2}" destId="{5A6B720B-7343-6C4E-936F-CB975C00ACBE}" srcOrd="0" destOrd="0" presId="urn:microsoft.com/office/officeart/2008/layout/HorizontalMultiLevelHierarchy"/>
    <dgm:cxn modelId="{5F005235-3DF4-C145-A1DC-AA64BE10C54A}" type="presParOf" srcId="{CBFD320E-81D0-2F44-805F-BA1FBFFCBEB2}" destId="{E26F301E-F59A-7B43-A627-4B8B594F675A}" srcOrd="1" destOrd="0" presId="urn:microsoft.com/office/officeart/2008/layout/HorizontalMultiLevelHierarchy"/>
    <dgm:cxn modelId="{38506C0E-640D-6D42-9338-BFD135E670D1}" type="presParOf" srcId="{4BA715F8-6320-8A49-A44C-6F7605302253}" destId="{B09A828A-BEF5-5948-AB40-745839849B4A}" srcOrd="2" destOrd="0" presId="urn:microsoft.com/office/officeart/2008/layout/HorizontalMultiLevelHierarchy"/>
    <dgm:cxn modelId="{5EED0E00-3535-EE4A-9279-A09B637FD65B}" type="presParOf" srcId="{B09A828A-BEF5-5948-AB40-745839849B4A}" destId="{24748E18-6245-E148-B78D-3A4911E8AFD0}" srcOrd="0" destOrd="0" presId="urn:microsoft.com/office/officeart/2008/layout/HorizontalMultiLevelHierarchy"/>
    <dgm:cxn modelId="{95945860-40B8-3C42-B2D9-520F51987B5F}" type="presParOf" srcId="{4BA715F8-6320-8A49-A44C-6F7605302253}" destId="{C0C59D03-BF04-0D4F-99B9-6AB701C4F5F8}" srcOrd="3" destOrd="0" presId="urn:microsoft.com/office/officeart/2008/layout/HorizontalMultiLevelHierarchy"/>
    <dgm:cxn modelId="{03025BB3-D8A0-A546-8B8F-81266242CCC6}" type="presParOf" srcId="{C0C59D03-BF04-0D4F-99B9-6AB701C4F5F8}" destId="{2E29867A-0174-7A47-9F8D-DF836E1CEF68}" srcOrd="0" destOrd="0" presId="urn:microsoft.com/office/officeart/2008/layout/HorizontalMultiLevelHierarchy"/>
    <dgm:cxn modelId="{BCC0529A-391E-ED4B-9188-8A252E0851C1}" type="presParOf" srcId="{C0C59D03-BF04-0D4F-99B9-6AB701C4F5F8}" destId="{770AB8C7-24A4-0C4E-A390-C4F38F5B362D}" srcOrd="1" destOrd="0" presId="urn:microsoft.com/office/officeart/2008/layout/HorizontalMultiLevelHierarchy"/>
    <dgm:cxn modelId="{BBAA1F83-46EF-FB44-B57C-65BD7A28F31F}" type="presParOf" srcId="{4BA715F8-6320-8A49-A44C-6F7605302253}" destId="{1E3117A9-0247-0547-8AA7-9F8C38D6BA7E}" srcOrd="4" destOrd="0" presId="urn:microsoft.com/office/officeart/2008/layout/HorizontalMultiLevelHierarchy"/>
    <dgm:cxn modelId="{11ADAC9A-2804-E74B-A4F9-EFA6005E7395}" type="presParOf" srcId="{1E3117A9-0247-0547-8AA7-9F8C38D6BA7E}" destId="{F53436EC-50EB-8146-8987-1E49F88DCA0E}" srcOrd="0" destOrd="0" presId="urn:microsoft.com/office/officeart/2008/layout/HorizontalMultiLevelHierarchy"/>
    <dgm:cxn modelId="{95069C17-F288-5D43-81C8-AC2249D87AD8}" type="presParOf" srcId="{4BA715F8-6320-8A49-A44C-6F7605302253}" destId="{0A96C749-5206-E045-BEDE-65E0AFB21F11}" srcOrd="5" destOrd="0" presId="urn:microsoft.com/office/officeart/2008/layout/HorizontalMultiLevelHierarchy"/>
    <dgm:cxn modelId="{A7E89134-7D6F-2A4E-B267-BB4F38472D5F}" type="presParOf" srcId="{0A96C749-5206-E045-BEDE-65E0AFB21F11}" destId="{DF579AD9-77E8-7640-A2C0-E39DE5C35A78}" srcOrd="0" destOrd="0" presId="urn:microsoft.com/office/officeart/2008/layout/HorizontalMultiLevelHierarchy"/>
    <dgm:cxn modelId="{C839E350-5D1D-824B-A9CD-E6949E07193C}" type="presParOf" srcId="{0A96C749-5206-E045-BEDE-65E0AFB21F11}" destId="{E6C0318C-AD1B-A941-B00D-823BFDDD0026}" srcOrd="1" destOrd="0" presId="urn:microsoft.com/office/officeart/2008/layout/HorizontalMultiLevelHierarchy"/>
    <dgm:cxn modelId="{B2BF262F-6E79-6941-B108-C67746E99CDB}" type="presParOf" srcId="{4BA715F8-6320-8A49-A44C-6F7605302253}" destId="{CDFEF367-F8CB-1B45-8E66-44572A98D353}" srcOrd="6" destOrd="0" presId="urn:microsoft.com/office/officeart/2008/layout/HorizontalMultiLevelHierarchy"/>
    <dgm:cxn modelId="{0725E1D7-BAF0-C247-B06B-2928219A35A1}" type="presParOf" srcId="{CDFEF367-F8CB-1B45-8E66-44572A98D353}" destId="{42E71879-7C68-4747-A6BE-C199ABD8F5F6}" srcOrd="0" destOrd="0" presId="urn:microsoft.com/office/officeart/2008/layout/HorizontalMultiLevelHierarchy"/>
    <dgm:cxn modelId="{58364FDE-78DB-2D40-90A7-E59F2BC571D6}" type="presParOf" srcId="{4BA715F8-6320-8A49-A44C-6F7605302253}" destId="{42E593F8-16CF-BE4B-9365-493A17B0762E}" srcOrd="7" destOrd="0" presId="urn:microsoft.com/office/officeart/2008/layout/HorizontalMultiLevelHierarchy"/>
    <dgm:cxn modelId="{C5596138-7DF6-7E47-BBF1-75C4A943C660}" type="presParOf" srcId="{42E593F8-16CF-BE4B-9365-493A17B0762E}" destId="{C03F2952-573F-0747-8263-D5DFA486F333}" srcOrd="0" destOrd="0" presId="urn:microsoft.com/office/officeart/2008/layout/HorizontalMultiLevelHierarchy"/>
    <dgm:cxn modelId="{A823A3DB-8B26-FA45-B046-9302A31C2650}" type="presParOf" srcId="{42E593F8-16CF-BE4B-9365-493A17B0762E}" destId="{D206EAEA-6F3D-A34F-B0B5-F6EFD8C8905B}" srcOrd="1" destOrd="0" presId="urn:microsoft.com/office/officeart/2008/layout/HorizontalMultiLevelHierarchy"/>
  </dgm:cxnLst>
  <dgm:bg/>
  <dgm:whole>
    <a:ln>
      <a:noFill/>
    </a:ln>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FEF367-F8CB-1B45-8E66-44572A98D353}">
      <dsp:nvSpPr>
        <dsp:cNvPr id="0" name=""/>
        <dsp:cNvSpPr/>
      </dsp:nvSpPr>
      <dsp:spPr>
        <a:xfrm>
          <a:off x="1392104" y="1067278"/>
          <a:ext cx="255778" cy="760435"/>
        </a:xfrm>
        <a:custGeom>
          <a:avLst/>
          <a:gdLst/>
          <a:ahLst/>
          <a:cxnLst/>
          <a:rect l="0" t="0" r="0" b="0"/>
          <a:pathLst>
            <a:path>
              <a:moveTo>
                <a:pt x="0" y="0"/>
              </a:moveTo>
              <a:lnTo>
                <a:pt x="127889" y="0"/>
              </a:lnTo>
              <a:lnTo>
                <a:pt x="127889" y="760435"/>
              </a:lnTo>
              <a:lnTo>
                <a:pt x="255778" y="76043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499936" y="1427438"/>
        <a:ext cx="40115" cy="40115"/>
      </dsp:txXfrm>
    </dsp:sp>
    <dsp:sp modelId="{1E3117A9-0247-0547-8AA7-9F8C38D6BA7E}">
      <dsp:nvSpPr>
        <dsp:cNvPr id="0" name=""/>
        <dsp:cNvSpPr/>
      </dsp:nvSpPr>
      <dsp:spPr>
        <a:xfrm>
          <a:off x="1392104" y="1067278"/>
          <a:ext cx="255778" cy="253478"/>
        </a:xfrm>
        <a:custGeom>
          <a:avLst/>
          <a:gdLst/>
          <a:ahLst/>
          <a:cxnLst/>
          <a:rect l="0" t="0" r="0" b="0"/>
          <a:pathLst>
            <a:path>
              <a:moveTo>
                <a:pt x="0" y="0"/>
              </a:moveTo>
              <a:lnTo>
                <a:pt x="127889" y="0"/>
              </a:lnTo>
              <a:lnTo>
                <a:pt x="127889" y="253478"/>
              </a:lnTo>
              <a:lnTo>
                <a:pt x="255778" y="253478"/>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solidFill>
              <a:srgbClr val="344251"/>
            </a:solidFill>
          </a:endParaRPr>
        </a:p>
      </dsp:txBody>
      <dsp:txXfrm>
        <a:off x="1510991" y="1185015"/>
        <a:ext cx="18005" cy="18005"/>
      </dsp:txXfrm>
    </dsp:sp>
    <dsp:sp modelId="{B09A828A-BEF5-5948-AB40-745839849B4A}">
      <dsp:nvSpPr>
        <dsp:cNvPr id="0" name=""/>
        <dsp:cNvSpPr/>
      </dsp:nvSpPr>
      <dsp:spPr>
        <a:xfrm>
          <a:off x="1392104" y="813799"/>
          <a:ext cx="255778" cy="253478"/>
        </a:xfrm>
        <a:custGeom>
          <a:avLst/>
          <a:gdLst/>
          <a:ahLst/>
          <a:cxnLst/>
          <a:rect l="0" t="0" r="0" b="0"/>
          <a:pathLst>
            <a:path>
              <a:moveTo>
                <a:pt x="0" y="253478"/>
              </a:moveTo>
              <a:lnTo>
                <a:pt x="127889" y="253478"/>
              </a:lnTo>
              <a:lnTo>
                <a:pt x="127889" y="0"/>
              </a:lnTo>
              <a:lnTo>
                <a:pt x="255778" y="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solidFill>
              <a:srgbClr val="344251"/>
            </a:solidFill>
          </a:endParaRPr>
        </a:p>
      </dsp:txBody>
      <dsp:txXfrm>
        <a:off x="1510991" y="931536"/>
        <a:ext cx="18005" cy="18005"/>
      </dsp:txXfrm>
    </dsp:sp>
    <dsp:sp modelId="{38A5EC6C-5C97-4140-A58D-8B59FCD87276}">
      <dsp:nvSpPr>
        <dsp:cNvPr id="0" name=""/>
        <dsp:cNvSpPr/>
      </dsp:nvSpPr>
      <dsp:spPr>
        <a:xfrm>
          <a:off x="1392104" y="306842"/>
          <a:ext cx="255778" cy="760435"/>
        </a:xfrm>
        <a:custGeom>
          <a:avLst/>
          <a:gdLst/>
          <a:ahLst/>
          <a:cxnLst/>
          <a:rect l="0" t="0" r="0" b="0"/>
          <a:pathLst>
            <a:path>
              <a:moveTo>
                <a:pt x="0" y="760435"/>
              </a:moveTo>
              <a:lnTo>
                <a:pt x="127889" y="760435"/>
              </a:lnTo>
              <a:lnTo>
                <a:pt x="127889" y="0"/>
              </a:lnTo>
              <a:lnTo>
                <a:pt x="255778" y="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solidFill>
              <a:srgbClr val="344251"/>
            </a:solidFill>
          </a:endParaRPr>
        </a:p>
      </dsp:txBody>
      <dsp:txXfrm>
        <a:off x="1499936" y="667003"/>
        <a:ext cx="40115" cy="40115"/>
      </dsp:txXfrm>
    </dsp:sp>
    <dsp:sp modelId="{E291F9DB-A2A9-0A4A-9978-93A98EF6084F}">
      <dsp:nvSpPr>
        <dsp:cNvPr id="0" name=""/>
        <dsp:cNvSpPr/>
      </dsp:nvSpPr>
      <dsp:spPr>
        <a:xfrm rot="16200000">
          <a:off x="122043" y="864495"/>
          <a:ext cx="2134557" cy="405565"/>
        </a:xfrm>
        <a:prstGeom prst="rect">
          <a:avLst/>
        </a:prstGeom>
        <a:solidFill>
          <a:schemeClr val="bg2">
            <a:lumMod val="20000"/>
            <a:lumOff val="8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dirty="0">
              <a:solidFill>
                <a:srgbClr val="344251"/>
              </a:solidFill>
            </a:rPr>
            <a:t>Benefits to ITUK</a:t>
          </a:r>
        </a:p>
      </dsp:txBody>
      <dsp:txXfrm>
        <a:off x="122043" y="864495"/>
        <a:ext cx="2134557" cy="405565"/>
      </dsp:txXfrm>
    </dsp:sp>
    <dsp:sp modelId="{5A6B720B-7343-6C4E-936F-CB975C00ACBE}">
      <dsp:nvSpPr>
        <dsp:cNvPr id="0" name=""/>
        <dsp:cNvSpPr/>
      </dsp:nvSpPr>
      <dsp:spPr>
        <a:xfrm>
          <a:off x="1647883" y="104059"/>
          <a:ext cx="1330255" cy="405565"/>
        </a:xfrm>
        <a:prstGeom prst="rect">
          <a:avLst/>
        </a:prstGeom>
        <a:solidFill>
          <a:schemeClr val="bg2">
            <a:lumMod val="20000"/>
            <a:lumOff val="8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GB" sz="1000" kern="1200" dirty="0">
              <a:solidFill>
                <a:srgbClr val="344251"/>
              </a:solidFill>
            </a:rPr>
            <a:t>Manage Customer Uptime</a:t>
          </a:r>
        </a:p>
      </dsp:txBody>
      <dsp:txXfrm>
        <a:off x="1647883" y="104059"/>
        <a:ext cx="1330255" cy="405565"/>
      </dsp:txXfrm>
    </dsp:sp>
    <dsp:sp modelId="{2E29867A-0174-7A47-9F8D-DF836E1CEF68}">
      <dsp:nvSpPr>
        <dsp:cNvPr id="0" name=""/>
        <dsp:cNvSpPr/>
      </dsp:nvSpPr>
      <dsp:spPr>
        <a:xfrm>
          <a:off x="1647883" y="611016"/>
          <a:ext cx="1330255" cy="405565"/>
        </a:xfrm>
        <a:prstGeom prst="rect">
          <a:avLst/>
        </a:prstGeom>
        <a:solidFill>
          <a:schemeClr val="bg2">
            <a:lumMod val="20000"/>
            <a:lumOff val="8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GB" sz="1000" kern="1200" dirty="0">
              <a:solidFill>
                <a:srgbClr val="344251"/>
              </a:solidFill>
            </a:rPr>
            <a:t>Review all Customer Operations</a:t>
          </a:r>
        </a:p>
      </dsp:txBody>
      <dsp:txXfrm>
        <a:off x="1647883" y="611016"/>
        <a:ext cx="1330255" cy="405565"/>
      </dsp:txXfrm>
    </dsp:sp>
    <dsp:sp modelId="{DF579AD9-77E8-7640-A2C0-E39DE5C35A78}">
      <dsp:nvSpPr>
        <dsp:cNvPr id="0" name=""/>
        <dsp:cNvSpPr/>
      </dsp:nvSpPr>
      <dsp:spPr>
        <a:xfrm>
          <a:off x="1647883" y="1117974"/>
          <a:ext cx="1330255" cy="405565"/>
        </a:xfrm>
        <a:prstGeom prst="rect">
          <a:avLst/>
        </a:prstGeom>
        <a:solidFill>
          <a:srgbClr val="848E9A">
            <a:lumMod val="20000"/>
            <a:lumOff val="80000"/>
          </a:srgbClr>
        </a:solidFill>
        <a:ln w="19050" cap="flat" cmpd="sng" algn="ctr">
          <a:solidFill>
            <a:srgbClr val="002664"/>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44500">
            <a:lnSpc>
              <a:spcPct val="90000"/>
            </a:lnSpc>
            <a:spcBef>
              <a:spcPct val="0"/>
            </a:spcBef>
            <a:spcAft>
              <a:spcPct val="35000"/>
            </a:spcAft>
            <a:buNone/>
          </a:pPr>
          <a:r>
            <a:rPr lang="en-GB" sz="1000" kern="1200" dirty="0">
              <a:solidFill>
                <a:srgbClr val="344251"/>
              </a:solidFill>
            </a:rPr>
            <a:t>Manage R&amp;M Contract Costs</a:t>
          </a:r>
        </a:p>
      </dsp:txBody>
      <dsp:txXfrm>
        <a:off x="1647883" y="1117974"/>
        <a:ext cx="1330255" cy="405565"/>
      </dsp:txXfrm>
    </dsp:sp>
    <dsp:sp modelId="{C03F2952-573F-0747-8263-D5DFA486F333}">
      <dsp:nvSpPr>
        <dsp:cNvPr id="0" name=""/>
        <dsp:cNvSpPr/>
      </dsp:nvSpPr>
      <dsp:spPr>
        <a:xfrm>
          <a:off x="1647883" y="1624931"/>
          <a:ext cx="1330255" cy="405565"/>
        </a:xfrm>
        <a:prstGeom prst="rect">
          <a:avLst/>
        </a:prstGeom>
        <a:solidFill>
          <a:srgbClr val="848E9A">
            <a:lumMod val="20000"/>
            <a:lumOff val="80000"/>
          </a:srgbClr>
        </a:solidFill>
        <a:ln w="19050" cap="flat" cmpd="sng" algn="ctr">
          <a:solidFill>
            <a:srgbClr val="002664"/>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44500">
            <a:lnSpc>
              <a:spcPct val="90000"/>
            </a:lnSpc>
            <a:spcBef>
              <a:spcPct val="0"/>
            </a:spcBef>
            <a:spcAft>
              <a:spcPct val="35000"/>
            </a:spcAft>
            <a:buNone/>
          </a:pPr>
          <a:r>
            <a:rPr lang="en-GB" sz="1000" b="1" kern="1200" dirty="0">
              <a:solidFill>
                <a:srgbClr val="344251"/>
              </a:solidFill>
            </a:rPr>
            <a:t>Expand Parts Sales Opportunities (PMS)</a:t>
          </a:r>
        </a:p>
      </dsp:txBody>
      <dsp:txXfrm>
        <a:off x="1647883" y="1624931"/>
        <a:ext cx="1330255" cy="4055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FEF367-F8CB-1B45-8E66-44572A98D353}">
      <dsp:nvSpPr>
        <dsp:cNvPr id="0" name=""/>
        <dsp:cNvSpPr/>
      </dsp:nvSpPr>
      <dsp:spPr>
        <a:xfrm>
          <a:off x="1392104" y="1067278"/>
          <a:ext cx="255778" cy="760435"/>
        </a:xfrm>
        <a:custGeom>
          <a:avLst/>
          <a:gdLst/>
          <a:ahLst/>
          <a:cxnLst/>
          <a:rect l="0" t="0" r="0" b="0"/>
          <a:pathLst>
            <a:path>
              <a:moveTo>
                <a:pt x="0" y="0"/>
              </a:moveTo>
              <a:lnTo>
                <a:pt x="127889" y="0"/>
              </a:lnTo>
              <a:lnTo>
                <a:pt x="127889" y="760435"/>
              </a:lnTo>
              <a:lnTo>
                <a:pt x="255778" y="76043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499936" y="1427438"/>
        <a:ext cx="40115" cy="40115"/>
      </dsp:txXfrm>
    </dsp:sp>
    <dsp:sp modelId="{1E3117A9-0247-0547-8AA7-9F8C38D6BA7E}">
      <dsp:nvSpPr>
        <dsp:cNvPr id="0" name=""/>
        <dsp:cNvSpPr/>
      </dsp:nvSpPr>
      <dsp:spPr>
        <a:xfrm>
          <a:off x="1392104" y="1067278"/>
          <a:ext cx="255778" cy="253478"/>
        </a:xfrm>
        <a:custGeom>
          <a:avLst/>
          <a:gdLst/>
          <a:ahLst/>
          <a:cxnLst/>
          <a:rect l="0" t="0" r="0" b="0"/>
          <a:pathLst>
            <a:path>
              <a:moveTo>
                <a:pt x="0" y="0"/>
              </a:moveTo>
              <a:lnTo>
                <a:pt x="127889" y="0"/>
              </a:lnTo>
              <a:lnTo>
                <a:pt x="127889" y="253478"/>
              </a:lnTo>
              <a:lnTo>
                <a:pt x="255778" y="253478"/>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solidFill>
              <a:srgbClr val="344251"/>
            </a:solidFill>
          </a:endParaRPr>
        </a:p>
      </dsp:txBody>
      <dsp:txXfrm>
        <a:off x="1510991" y="1185015"/>
        <a:ext cx="18005" cy="18005"/>
      </dsp:txXfrm>
    </dsp:sp>
    <dsp:sp modelId="{B09A828A-BEF5-5948-AB40-745839849B4A}">
      <dsp:nvSpPr>
        <dsp:cNvPr id="0" name=""/>
        <dsp:cNvSpPr/>
      </dsp:nvSpPr>
      <dsp:spPr>
        <a:xfrm>
          <a:off x="1392104" y="813799"/>
          <a:ext cx="255778" cy="253478"/>
        </a:xfrm>
        <a:custGeom>
          <a:avLst/>
          <a:gdLst/>
          <a:ahLst/>
          <a:cxnLst/>
          <a:rect l="0" t="0" r="0" b="0"/>
          <a:pathLst>
            <a:path>
              <a:moveTo>
                <a:pt x="0" y="253478"/>
              </a:moveTo>
              <a:lnTo>
                <a:pt x="127889" y="253478"/>
              </a:lnTo>
              <a:lnTo>
                <a:pt x="127889" y="0"/>
              </a:lnTo>
              <a:lnTo>
                <a:pt x="255778" y="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solidFill>
              <a:srgbClr val="344251"/>
            </a:solidFill>
          </a:endParaRPr>
        </a:p>
      </dsp:txBody>
      <dsp:txXfrm>
        <a:off x="1510991" y="931536"/>
        <a:ext cx="18005" cy="18005"/>
      </dsp:txXfrm>
    </dsp:sp>
    <dsp:sp modelId="{38A5EC6C-5C97-4140-A58D-8B59FCD87276}">
      <dsp:nvSpPr>
        <dsp:cNvPr id="0" name=""/>
        <dsp:cNvSpPr/>
      </dsp:nvSpPr>
      <dsp:spPr>
        <a:xfrm>
          <a:off x="1392104" y="306842"/>
          <a:ext cx="255778" cy="760435"/>
        </a:xfrm>
        <a:custGeom>
          <a:avLst/>
          <a:gdLst/>
          <a:ahLst/>
          <a:cxnLst/>
          <a:rect l="0" t="0" r="0" b="0"/>
          <a:pathLst>
            <a:path>
              <a:moveTo>
                <a:pt x="0" y="760435"/>
              </a:moveTo>
              <a:lnTo>
                <a:pt x="127889" y="760435"/>
              </a:lnTo>
              <a:lnTo>
                <a:pt x="127889" y="0"/>
              </a:lnTo>
              <a:lnTo>
                <a:pt x="255778" y="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solidFill>
              <a:srgbClr val="344251"/>
            </a:solidFill>
          </a:endParaRPr>
        </a:p>
      </dsp:txBody>
      <dsp:txXfrm>
        <a:off x="1499936" y="667003"/>
        <a:ext cx="40115" cy="40115"/>
      </dsp:txXfrm>
    </dsp:sp>
    <dsp:sp modelId="{E291F9DB-A2A9-0A4A-9978-93A98EF6084F}">
      <dsp:nvSpPr>
        <dsp:cNvPr id="0" name=""/>
        <dsp:cNvSpPr/>
      </dsp:nvSpPr>
      <dsp:spPr>
        <a:xfrm rot="16200000">
          <a:off x="122043" y="864495"/>
          <a:ext cx="2134557" cy="405565"/>
        </a:xfrm>
        <a:prstGeom prst="rect">
          <a:avLst/>
        </a:prstGeom>
        <a:solidFill>
          <a:schemeClr val="bg2">
            <a:lumMod val="20000"/>
            <a:lumOff val="8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dirty="0">
              <a:solidFill>
                <a:srgbClr val="344251"/>
              </a:solidFill>
            </a:rPr>
            <a:t>Benefits to Customer</a:t>
          </a:r>
        </a:p>
      </dsp:txBody>
      <dsp:txXfrm>
        <a:off x="122043" y="864495"/>
        <a:ext cx="2134557" cy="405565"/>
      </dsp:txXfrm>
    </dsp:sp>
    <dsp:sp modelId="{5A6B720B-7343-6C4E-936F-CB975C00ACBE}">
      <dsp:nvSpPr>
        <dsp:cNvPr id="0" name=""/>
        <dsp:cNvSpPr/>
      </dsp:nvSpPr>
      <dsp:spPr>
        <a:xfrm>
          <a:off x="1647883" y="104059"/>
          <a:ext cx="1330255" cy="405565"/>
        </a:xfrm>
        <a:prstGeom prst="rect">
          <a:avLst/>
        </a:prstGeom>
        <a:solidFill>
          <a:schemeClr val="bg2">
            <a:lumMod val="20000"/>
            <a:lumOff val="8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solidFill>
                <a:srgbClr val="344251"/>
              </a:solidFill>
            </a:rPr>
            <a:t>Maximise Uptime</a:t>
          </a:r>
        </a:p>
      </dsp:txBody>
      <dsp:txXfrm>
        <a:off x="1647883" y="104059"/>
        <a:ext cx="1330255" cy="405565"/>
      </dsp:txXfrm>
    </dsp:sp>
    <dsp:sp modelId="{2E29867A-0174-7A47-9F8D-DF836E1CEF68}">
      <dsp:nvSpPr>
        <dsp:cNvPr id="0" name=""/>
        <dsp:cNvSpPr/>
      </dsp:nvSpPr>
      <dsp:spPr>
        <a:xfrm>
          <a:off x="1647883" y="611016"/>
          <a:ext cx="1330255" cy="405565"/>
        </a:xfrm>
        <a:prstGeom prst="rect">
          <a:avLst/>
        </a:prstGeom>
        <a:solidFill>
          <a:schemeClr val="bg2">
            <a:lumMod val="20000"/>
            <a:lumOff val="8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solidFill>
                <a:srgbClr val="344251"/>
              </a:solidFill>
            </a:rPr>
            <a:t>Manage Total cost of Ownership</a:t>
          </a:r>
        </a:p>
      </dsp:txBody>
      <dsp:txXfrm>
        <a:off x="1647883" y="611016"/>
        <a:ext cx="1330255" cy="405565"/>
      </dsp:txXfrm>
    </dsp:sp>
    <dsp:sp modelId="{DF579AD9-77E8-7640-A2C0-E39DE5C35A78}">
      <dsp:nvSpPr>
        <dsp:cNvPr id="0" name=""/>
        <dsp:cNvSpPr/>
      </dsp:nvSpPr>
      <dsp:spPr>
        <a:xfrm>
          <a:off x="1647883" y="1117974"/>
          <a:ext cx="1330255" cy="405565"/>
        </a:xfrm>
        <a:prstGeom prst="rect">
          <a:avLst/>
        </a:prstGeom>
        <a:solidFill>
          <a:srgbClr val="848E9A">
            <a:lumMod val="20000"/>
            <a:lumOff val="80000"/>
          </a:srgbClr>
        </a:solidFill>
        <a:ln w="19050" cap="flat" cmpd="sng" algn="ctr">
          <a:solidFill>
            <a:srgbClr val="002664"/>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533400">
            <a:lnSpc>
              <a:spcPct val="90000"/>
            </a:lnSpc>
            <a:spcBef>
              <a:spcPct val="0"/>
            </a:spcBef>
            <a:spcAft>
              <a:spcPct val="35000"/>
            </a:spcAft>
            <a:buNone/>
          </a:pPr>
          <a:r>
            <a:rPr lang="en-GB" sz="1200" kern="1200" dirty="0">
              <a:solidFill>
                <a:srgbClr val="344251"/>
              </a:solidFill>
            </a:rPr>
            <a:t>Analyse Vehicle Operation</a:t>
          </a:r>
        </a:p>
      </dsp:txBody>
      <dsp:txXfrm>
        <a:off x="1647883" y="1117974"/>
        <a:ext cx="1330255" cy="405565"/>
      </dsp:txXfrm>
    </dsp:sp>
    <dsp:sp modelId="{C03F2952-573F-0747-8263-D5DFA486F333}">
      <dsp:nvSpPr>
        <dsp:cNvPr id="0" name=""/>
        <dsp:cNvSpPr/>
      </dsp:nvSpPr>
      <dsp:spPr>
        <a:xfrm>
          <a:off x="1647883" y="1624931"/>
          <a:ext cx="1330255" cy="405565"/>
        </a:xfrm>
        <a:prstGeom prst="rect">
          <a:avLst/>
        </a:prstGeom>
        <a:solidFill>
          <a:srgbClr val="848E9A">
            <a:lumMod val="20000"/>
            <a:lumOff val="80000"/>
          </a:srgbClr>
        </a:solidFill>
        <a:ln w="19050" cap="flat" cmpd="sng" algn="ctr">
          <a:solidFill>
            <a:srgbClr val="002664"/>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533400">
            <a:lnSpc>
              <a:spcPct val="90000"/>
            </a:lnSpc>
            <a:spcBef>
              <a:spcPct val="0"/>
            </a:spcBef>
            <a:spcAft>
              <a:spcPct val="35000"/>
            </a:spcAft>
            <a:buNone/>
          </a:pPr>
          <a:r>
            <a:rPr lang="en-GB" sz="1200" b="1" kern="1200" dirty="0">
              <a:solidFill>
                <a:srgbClr val="344251"/>
              </a:solidFill>
            </a:rPr>
            <a:t>Pro-active Maintenance</a:t>
          </a:r>
        </a:p>
      </dsp:txBody>
      <dsp:txXfrm>
        <a:off x="1647883" y="1624931"/>
        <a:ext cx="1330255" cy="405565"/>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0.67367</cdr:x>
      <cdr:y>0.0362</cdr:y>
    </cdr:from>
    <cdr:to>
      <cdr:x>0.962</cdr:x>
      <cdr:y>0.13591</cdr:y>
    </cdr:to>
    <cdr:sp macro="" textlink="">
      <cdr:nvSpPr>
        <cdr:cNvPr id="2" name="TextBox 1">
          <a:extLst xmlns:a="http://schemas.openxmlformats.org/drawingml/2006/main">
            <a:ext uri="{FF2B5EF4-FFF2-40B4-BE49-F238E27FC236}">
              <a16:creationId xmlns:a16="http://schemas.microsoft.com/office/drawing/2014/main" id="{A6772C22-95D7-0B7C-3347-EA6DC4BE8075}"/>
            </a:ext>
          </a:extLst>
        </cdr:cNvPr>
        <cdr:cNvSpPr txBox="1"/>
      </cdr:nvSpPr>
      <cdr:spPr>
        <a:xfrm xmlns:a="http://schemas.openxmlformats.org/drawingml/2006/main">
          <a:off x="2315745" y="73755"/>
          <a:ext cx="991157" cy="203133"/>
        </a:xfrm>
        <a:prstGeom xmlns:a="http://schemas.openxmlformats.org/drawingml/2006/main" prst="rect">
          <a:avLst/>
        </a:prstGeom>
        <a:noFill xmlns:a="http://schemas.openxmlformats.org/drawingml/2006/main"/>
      </cdr:spPr>
      <cdr:txBody>
        <a:bodyPr xmlns:a="http://schemas.openxmlformats.org/drawingml/2006/main" vertOverflow="clip" wrap="square" rtlCol="0">
          <a:spAutoFit/>
        </a:bodyPr>
        <a:lstStyle xmlns:a="http://schemas.openxmlformats.org/drawingml/2006/main"/>
        <a:p xmlns:a="http://schemas.openxmlformats.org/drawingml/2006/main">
          <a:pPr algn="l">
            <a:lnSpc>
              <a:spcPct val="90000"/>
            </a:lnSpc>
            <a:spcBef>
              <a:spcPts val="600"/>
            </a:spcBef>
          </a:pPr>
          <a:r>
            <a:rPr lang="en-US" sz="800" kern="1200" dirty="0">
              <a:solidFill>
                <a:srgbClr val="344251"/>
              </a:solidFill>
            </a:rPr>
            <a:t>*Inc V55 Reg’s</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780E9E54-8CBF-42DF-A192-E89803FB21DB}" type="datetimeFigureOut">
              <a:rPr lang="en-GB" smtClean="0"/>
              <a:t>13/04/2026</a:t>
            </a:fld>
            <a:endParaRPr lang="en-GB"/>
          </a:p>
        </p:txBody>
      </p:sp>
      <p:sp>
        <p:nvSpPr>
          <p:cNvPr id="4" name="Slide Image Placeholder 3"/>
          <p:cNvSpPr>
            <a:spLocks noGrp="1" noRot="1" noChangeAspect="1"/>
          </p:cNvSpPr>
          <p:nvPr>
            <p:ph type="sldImg" idx="2"/>
          </p:nvPr>
        </p:nvSpPr>
        <p:spPr>
          <a:xfrm>
            <a:off x="422275" y="1243013"/>
            <a:ext cx="5961063" cy="335438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55DCA07E-93C1-4B11-B3C8-F89DF3618FF9}" type="slidenum">
              <a:rPr lang="en-GB" smtClean="0"/>
              <a:t>‹#›</a:t>
            </a:fld>
            <a:endParaRPr lang="en-GB"/>
          </a:p>
        </p:txBody>
      </p:sp>
    </p:spTree>
    <p:extLst>
      <p:ext uri="{BB962C8B-B14F-4D97-AF65-F5344CB8AC3E}">
        <p14:creationId xmlns:p14="http://schemas.microsoft.com/office/powerpoint/2010/main" val="3629932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964CA-B7A0-F747-E0CA-FDFB7FBD282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0056FF3-DA96-5E19-C296-4A4C729A0905}"/>
              </a:ext>
            </a:extLst>
          </p:cNvPr>
          <p:cNvSpPr>
            <a:spLocks noGrp="1" noRot="1" noChangeAspect="1"/>
          </p:cNvSpPr>
          <p:nvPr>
            <p:ph type="sldImg"/>
          </p:nvPr>
        </p:nvSpPr>
        <p:spPr>
          <a:xfrm>
            <a:off x="1325563" y="1116013"/>
            <a:ext cx="4095750" cy="2305050"/>
          </a:xfrm>
        </p:spPr>
      </p:sp>
      <p:sp>
        <p:nvSpPr>
          <p:cNvPr id="3" name="ノート プレースホルダー 2">
            <a:extLst>
              <a:ext uri="{FF2B5EF4-FFF2-40B4-BE49-F238E27FC236}">
                <a16:creationId xmlns:a16="http://schemas.microsoft.com/office/drawing/2014/main" id="{B9F0B6BD-7608-F1E2-CE6B-2C9F11EB7B6F}"/>
              </a:ext>
            </a:extLst>
          </p:cNvPr>
          <p:cNvSpPr>
            <a:spLocks noGrp="1"/>
          </p:cNvSpPr>
          <p:nvPr>
            <p:ph type="body" idx="1"/>
          </p:nvPr>
        </p:nvSpPr>
        <p:spPr/>
        <p:txBody>
          <a:bodyPr/>
          <a:lstStyle/>
          <a:p>
            <a:pPr indent="152400">
              <a:lnSpc>
                <a:spcPts val="1400"/>
              </a:lnSpc>
              <a:spcAft>
                <a:spcPts val="800"/>
              </a:spcAft>
              <a:buNone/>
            </a:pPr>
            <a:r>
              <a:rPr lang="en-US" altLang="ja-JP" sz="1200" kern="0" dirty="0">
                <a:effectLst/>
                <a:latin typeface="Meiryo UI" panose="020B0604030504040204" pitchFamily="50" charset="-128"/>
                <a:ea typeface="游明朝" panose="02020400000000000000" pitchFamily="18" charset="-128"/>
                <a:cs typeface="ＭＳ Ｐゴシック" panose="020B0600070205080204" pitchFamily="50" charset="-128"/>
              </a:rPr>
              <a:t> </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marR="0" lvl="0" indent="-342900" algn="l" defTabSz="914400" rtl="0" eaLnBrk="1" fontAlgn="auto" latinLnBrk="0" hangingPunct="1">
              <a:lnSpc>
                <a:spcPts val="1400"/>
              </a:lnSpc>
              <a:spcBef>
                <a:spcPts val="0"/>
              </a:spcBef>
              <a:spcAft>
                <a:spcPts val="800"/>
              </a:spcAft>
              <a:buClrTx/>
              <a:buSzTx/>
              <a:buFont typeface="Arial" panose="020B0604020202020204" pitchFamily="34" charset="0"/>
              <a:buChar char="•"/>
              <a:tabLst>
                <a:tab pos="457200" algn="l"/>
              </a:tabLst>
              <a:defRPr/>
            </a:pPr>
            <a:r>
              <a:rPr kumimoji="1" lang="ja-JP" altLang="en-US" dirty="0"/>
              <a:t>いすゞトラック</a:t>
            </a:r>
            <a:r>
              <a:rPr kumimoji="1" lang="en-US" altLang="ja-JP" dirty="0"/>
              <a:t>UK</a:t>
            </a:r>
            <a:r>
              <a:rPr kumimoji="1" lang="ja-JP" altLang="en-US" dirty="0"/>
              <a:t>、</a:t>
            </a:r>
            <a:r>
              <a:rPr kumimoji="1" lang="en-US" altLang="ja-JP" dirty="0"/>
              <a:t>ITUK</a:t>
            </a:r>
            <a:r>
              <a:rPr kumimoji="1" lang="ja-JP" altLang="en-US" dirty="0"/>
              <a:t>の工藤です。</a:t>
            </a:r>
          </a:p>
          <a:p>
            <a:pPr marL="342900" marR="0" lvl="0" indent="-342900" algn="l" defTabSz="914400" rtl="0" eaLnBrk="1" fontAlgn="auto" latinLnBrk="0" hangingPunct="1">
              <a:lnSpc>
                <a:spcPts val="1400"/>
              </a:lnSpc>
              <a:spcBef>
                <a:spcPts val="0"/>
              </a:spcBef>
              <a:spcAft>
                <a:spcPts val="800"/>
              </a:spcAft>
              <a:buClrTx/>
              <a:buSzTx/>
              <a:buFont typeface="Arial" panose="020B0604020202020204" pitchFamily="34" charset="0"/>
              <a:buChar char="•"/>
              <a:tabLst>
                <a:tab pos="457200" algn="l"/>
              </a:tabLst>
              <a:defRPr/>
            </a:pPr>
            <a:r>
              <a:rPr kumimoji="1" lang="en-US" altLang="ja-JP" dirty="0"/>
              <a:t>ITUK</a:t>
            </a:r>
            <a:r>
              <a:rPr kumimoji="1" lang="ja-JP" altLang="en-US" dirty="0"/>
              <a:t>の</a:t>
            </a:r>
            <a:r>
              <a:rPr kumimoji="1" lang="en-US" altLang="ja-JP" dirty="0"/>
              <a:t>2026</a:t>
            </a:r>
            <a:r>
              <a:rPr kumimoji="1" lang="ja-JP" altLang="en-US" dirty="0"/>
              <a:t>年度事計、中計課題進捗についてご説明いたします。</a:t>
            </a:r>
            <a:endParaRPr kumimoji="1" lang="en-US" altLang="ja-JP" dirty="0"/>
          </a:p>
          <a:p>
            <a:pPr marL="342900" marR="0" lvl="0" indent="-342900" algn="l" defTabSz="914400" rtl="0" eaLnBrk="1" fontAlgn="auto" latinLnBrk="0" hangingPunct="1">
              <a:lnSpc>
                <a:spcPts val="1400"/>
              </a:lnSpc>
              <a:spcBef>
                <a:spcPts val="0"/>
              </a:spcBef>
              <a:spcAft>
                <a:spcPts val="800"/>
              </a:spcAft>
              <a:buClrTx/>
              <a:buSzTx/>
              <a:buFont typeface="Arial" panose="020B0604020202020204" pitchFamily="34" charset="0"/>
              <a:buChar char="•"/>
              <a:tabLst>
                <a:tab pos="457200" algn="l"/>
              </a:tabLst>
              <a:defRPr/>
            </a:pPr>
            <a:r>
              <a:rPr kumimoji="1" lang="ja-JP" altLang="en-US" dirty="0"/>
              <a:t>始めに今回の</a:t>
            </a:r>
            <a:r>
              <a:rPr kumimoji="1" lang="en-US" altLang="ja-JP" dirty="0"/>
              <a:t>ITUK</a:t>
            </a:r>
            <a:r>
              <a:rPr kumimoji="1" lang="ja-JP" altLang="en-US" dirty="0"/>
              <a:t>報告のエグゼクティブサマリーです。</a:t>
            </a:r>
            <a:endParaRPr kumimoji="1" lang="en-US" altLang="ja-JP" dirty="0"/>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2025</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年度は引き続きガバナンスと資金管理に重点を置き、改善を達成しました。</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2026</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年度も引き続き改善を継続して参ります。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現在、新しいディーラーマネジメントシステムのプロバイダーと契約を締結しており、</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2026</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年度後半期の導入を予定して</a:t>
            </a:r>
            <a:r>
              <a:rPr lang="ja-JP" altLang="en-US"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います。</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これにより、大幅な効率化に加え、運用上の大きなメリットが得られます。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部品の</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E</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コマースの開始は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2026</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年度に予定されており、純正部品の販売を</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3rd </a:t>
            </a: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Party</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の修理業者</a:t>
            </a:r>
            <a:r>
              <a:rPr lang="ja-JP" altLang="ja-JP" sz="1200" kern="100" dirty="0">
                <a:effectLst/>
                <a:latin typeface="游明朝" panose="02020400000000000000" pitchFamily="18" charset="-128"/>
                <a:ea typeface="Meiryo UI" panose="020B0604030504040204" pitchFamily="50" charset="-128"/>
                <a:cs typeface="ＭＳ Ｐゴシック" panose="020B0600070205080204" pitchFamily="50" charset="-128"/>
              </a:rPr>
              <a:t>に拡大することができるようになります。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荷揚げ港にシャーシの防錆処理施設が設置され、新たな錆発生クレームの数を減らす上で大きな効果をがありました。</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2023</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年以降、</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P700</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の新価格設定の影響を軽減するために、戦略的に大幅な値上げが実施されてきました。</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スライド番号プレースホルダー 3">
            <a:extLst>
              <a:ext uri="{FF2B5EF4-FFF2-40B4-BE49-F238E27FC236}">
                <a16:creationId xmlns:a16="http://schemas.microsoft.com/office/drawing/2014/main" id="{EE38589E-3FB4-011C-F4DA-218479608FA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4210E6-DC70-473B-9F3B-0EBEEE6F4AAE}"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4106541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いすゞトラック</a:t>
            </a:r>
            <a:r>
              <a:rPr kumimoji="1" lang="en-US" altLang="ja-JP" dirty="0"/>
              <a:t>UK</a:t>
            </a:r>
            <a:r>
              <a:rPr kumimoji="1" lang="ja-JP" altLang="en-US" dirty="0"/>
              <a:t>、</a:t>
            </a:r>
            <a:r>
              <a:rPr kumimoji="1" lang="en-US" altLang="ja-JP" dirty="0"/>
              <a:t>ITUK</a:t>
            </a:r>
            <a:r>
              <a:rPr kumimoji="1" lang="ja-JP" altLang="en-US" dirty="0"/>
              <a:t>の工藤です。</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ITUK</a:t>
            </a:r>
            <a:r>
              <a:rPr kumimoji="1" lang="ja-JP" altLang="en-US" dirty="0"/>
              <a:t>の</a:t>
            </a:r>
            <a:r>
              <a:rPr kumimoji="1" lang="en-US" altLang="ja-JP" dirty="0"/>
              <a:t>2026</a:t>
            </a:r>
            <a:r>
              <a:rPr kumimoji="1" lang="ja-JP" altLang="en-US" dirty="0"/>
              <a:t>年度事計、中計課題進捗についてご説明いたします。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55DCA07E-93C1-4B11-B3C8-F89DF3618FF9}" type="slidenum">
              <a:rPr lang="en-GB" smtClean="0"/>
              <a:t>2</a:t>
            </a:fld>
            <a:endParaRPr lang="en-GB"/>
          </a:p>
        </p:txBody>
      </p:sp>
    </p:spTree>
    <p:extLst>
      <p:ext uri="{BB962C8B-B14F-4D97-AF65-F5344CB8AC3E}">
        <p14:creationId xmlns:p14="http://schemas.microsoft.com/office/powerpoint/2010/main" val="1609466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続きまして本編に入ります。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55DCA07E-93C1-4B11-B3C8-F89DF3618FF9}" type="slidenum">
              <a:rPr lang="en-GB" smtClean="0"/>
              <a:t>3</a:t>
            </a:fld>
            <a:endParaRPr lang="en-GB"/>
          </a:p>
        </p:txBody>
      </p:sp>
    </p:spTree>
    <p:extLst>
      <p:ext uri="{BB962C8B-B14F-4D97-AF65-F5344CB8AC3E}">
        <p14:creationId xmlns:p14="http://schemas.microsoft.com/office/powerpoint/2010/main" val="760341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経済と政治サマリーと事業計画のフォーキャストです。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英国の経済環境は特に厳しい状況が続いています。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金利は低下し始めていますが、</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GDP</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成長率の最新中期見通しは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1% -2%</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と弱い水準にとどまって</a:t>
            </a:r>
            <a:r>
              <a:rPr lang="ja-JP" altLang="en-US"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います</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地政学的な問題は、英国の経済回復をさらに混乱させ続けています。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排ガス規制と英国政府の脱炭素化への野心も、自動車販売に大きな影響を与えています。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2025</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年度の営業利益は、販売台数の減少により若干減少しましたが、</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GCMS</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からの借入金</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1,300</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万ポンドを返済し、</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ITUK</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2026</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3</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月に</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GCMS</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への預金者となる予定です。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2026</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年度の営業利益は、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P700</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の価格設定の影響が発売初年度には反映されないため、緩やかな成長となりますが、</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2027</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P700</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の新モデルが通年販売される為、大幅に回復します。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営業利益と利益剰余金の伸びの見通しは依然として明るいものの、現地の市況は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IX</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に沿った野心的な目標の達成が現実的には困難である事を示しています。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defTabSz="914307">
              <a:defRPr/>
            </a:pPr>
            <a:fld id="{E33A13B3-A3CB-4EE5-AF82-764F8AB15C65}" type="slidenum">
              <a:rPr lang="en-US" altLang="ja-JP">
                <a:solidFill>
                  <a:srgbClr val="000000"/>
                </a:solidFill>
                <a:latin typeface="Meiryo"/>
                <a:ea typeface="游ゴシック" panose="020B0400000000000000" pitchFamily="34" charset="-128"/>
              </a:rPr>
              <a:pPr defTabSz="914307">
                <a:defRPr/>
              </a:pPr>
              <a:t>4</a:t>
            </a:fld>
            <a:endParaRPr lang="ja-JP" altLang="en-US" dirty="0">
              <a:solidFill>
                <a:srgbClr val="000000"/>
              </a:solidFill>
              <a:latin typeface="Meiryo"/>
              <a:ea typeface="游ゴシック" panose="020B0400000000000000" pitchFamily="34" charset="-128"/>
            </a:endParaRPr>
          </a:p>
        </p:txBody>
      </p:sp>
    </p:spTree>
    <p:extLst>
      <p:ext uri="{BB962C8B-B14F-4D97-AF65-F5344CB8AC3E}">
        <p14:creationId xmlns:p14="http://schemas.microsoft.com/office/powerpoint/2010/main" val="3169662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次にオペレーションの概要です。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政府の政策により英国企業のコストが増加し、資本投資に対する自信が失われた結果、いすゞの主要なセクターは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2025</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年に大きく落ち込みました。</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ヨーロッパの</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OEM</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競合他社の多くは、動きの遅い「旧モデル」の在庫を販売するために大幅な値引きを余儀なくされ、</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ITUK</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にとって競争上の大きな課題となっていました。</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英国建設業界の業績不振とそれに伴うレンタル会社からの調達の減少は、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ITUK</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の従来の主要なセクターの売上レベルに大きな影響を与えました。建設業界は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2026</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年度中に回復すると予測されています。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R51-</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騒音規制にデロゲーションが認められないリスクは大幅に増加し続けており、すべての未登録</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NLR</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の在庫が登録されるまでに</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5</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ヶ月しか残されていない可能性があります。これは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ITUK</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にとってリスクが高いことを示しています。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中国ブランドは英国で</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7.5</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トンの</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EV</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を発売しており、</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ITUK</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2027</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年の発売時に“キャッチアップ“しますが、我々の製品仕様が不利になる可能性があります。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今年</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12</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月の生産から搭載される</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DTU</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の機能、および初期生産の</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P700</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モデルに</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DTU</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をレトロフィットすることが可能かについて懸念があります。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3A13B3-A3CB-4EE5-AF82-764F8AB15C65}" type="slidenum">
              <a:rPr kumimoji="0" lang="en-US" altLang="ja-JP" sz="1000" b="0" i="0" u="none" strike="noStrike" kern="1200" cap="none" spc="0" normalizeH="0" baseline="0" noProof="0" smtClean="0">
                <a:ln>
                  <a:noFill/>
                </a:ln>
                <a:solidFill>
                  <a:srgbClr val="000000"/>
                </a:solidFill>
                <a:effectLst/>
                <a:uLnTx/>
                <a:uFillTx/>
                <a:latin typeface="Meiryo"/>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ja-JP" altLang="en-US" sz="1000" b="0" i="0" u="none" strike="noStrike" kern="1200" cap="none" spc="0" normalizeH="0" baseline="0" noProof="0" dirty="0">
              <a:ln>
                <a:noFill/>
              </a:ln>
              <a:solidFill>
                <a:srgbClr val="000000"/>
              </a:solidFill>
              <a:effectLst/>
              <a:uLnTx/>
              <a:uFillTx/>
              <a:latin typeface="Meiryo"/>
              <a:ea typeface="游ゴシック" panose="020B0400000000000000" pitchFamily="34" charset="-128"/>
              <a:cs typeface="+mn-cs"/>
            </a:endParaRPr>
          </a:p>
        </p:txBody>
      </p:sp>
    </p:spTree>
    <p:extLst>
      <p:ext uri="{BB962C8B-B14F-4D97-AF65-F5344CB8AC3E}">
        <p14:creationId xmlns:p14="http://schemas.microsoft.com/office/powerpoint/2010/main" val="1582193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次に需要トレンド、競合、登録です。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英国の市況は引き続き非常に厳しい状況にあり、すべてのトンクラスで前年比マイナスです。</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3.5</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トンは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△15.28%</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7.5</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トンは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△21.43%</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10</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トンー</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14</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トンは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△11.87%</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と大幅に減少しています。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344251"/>
                </a:solidFill>
                <a:effectLst/>
                <a:latin typeface="Meiryo UI" panose="020B0604030504040204" pitchFamily="50" charset="-128"/>
                <a:ea typeface="游明朝" panose="02020400000000000000" pitchFamily="18" charset="-128"/>
                <a:cs typeface="ＭＳ Ｐゴシック" panose="020B0600070205080204" pitchFamily="50" charset="-128"/>
              </a:rPr>
              <a:t>3.5t</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クラスで首位のフォードは＋</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1.52%</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と</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CY25</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年の市場全体の結果を歪めて終了しました。第</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2</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位のメルセデスは前年比</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△25.40%</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、第</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3</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位の</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IVECO</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は前年比</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△35.94%</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となりました。</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344251"/>
                </a:solidFill>
                <a:effectLst/>
                <a:latin typeface="Meiryo UI" panose="020B0604030504040204" pitchFamily="50" charset="-128"/>
                <a:ea typeface="游明朝" panose="02020400000000000000" pitchFamily="18" charset="-128"/>
                <a:cs typeface="ＭＳ Ｐゴシック" panose="020B0600070205080204" pitchFamily="50" charset="-128"/>
              </a:rPr>
              <a:t>DAF</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は</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30</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年もの間</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HCV</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市場全体のリーダーとして</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30%</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以上のシェアを占め、</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7.5t</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クラスの市場シェアでは</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47.20%</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と</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1</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位を維持しています。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344251"/>
                </a:solidFill>
                <a:effectLst/>
                <a:latin typeface="Meiryo UI" panose="020B0604030504040204" pitchFamily="50" charset="-128"/>
                <a:ea typeface="游明朝" panose="02020400000000000000" pitchFamily="18" charset="-128"/>
                <a:cs typeface="ＭＳ Ｐゴシック" panose="020B0600070205080204" pitchFamily="50" charset="-128"/>
              </a:rPr>
              <a:t>ITUK</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は</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7.5t</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クラスで</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30.13%</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と</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2</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位のシェアを獲得しています。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344251"/>
                </a:solidFill>
                <a:effectLst/>
                <a:latin typeface="Meiryo UI" panose="020B0604030504040204" pitchFamily="50" charset="-128"/>
                <a:ea typeface="游明朝" panose="02020400000000000000" pitchFamily="18" charset="-128"/>
                <a:cs typeface="ＭＳ Ｐゴシック" panose="020B0600070205080204" pitchFamily="50" charset="-128"/>
              </a:rPr>
              <a:t>10t~14t</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の分野では、</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DAF</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が</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59.05%</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のシェアを占めており、すべての重量セクターでお客様に対して「</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1</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つまたは</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2</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つのブランド」でアプローチをする</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DAF</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の強みを示しています。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174708" marR="0" lvl="0" indent="-174708" algn="l" defTabSz="93177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0E1087-D66A-494B-9FA2-986DCE6108CB}" type="slidenum">
              <a:rPr kumimoji="0" lang="en-GB" sz="1000" b="0" i="0" u="none" strike="noStrike" kern="1200" cap="none" spc="0" normalizeH="0" baseline="0" noProof="0" smtClean="0">
                <a:ln>
                  <a:noFill/>
                </a:ln>
                <a:solidFill>
                  <a:srgbClr val="000000"/>
                </a:solidFill>
                <a:effectLst/>
                <a:uLnTx/>
                <a:uFillTx/>
                <a:latin typeface="Meiry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000" b="0" i="0" u="none" strike="noStrike" kern="1200" cap="none" spc="0" normalizeH="0" baseline="0" noProof="0" dirty="0">
              <a:ln>
                <a:noFill/>
              </a:ln>
              <a:solidFill>
                <a:srgbClr val="000000"/>
              </a:solidFill>
              <a:effectLst/>
              <a:uLnTx/>
              <a:uFillTx/>
              <a:latin typeface="Meiryo"/>
              <a:ea typeface="+mn-ea"/>
              <a:cs typeface="+mn-cs"/>
            </a:endParaRPr>
          </a:p>
        </p:txBody>
      </p:sp>
    </p:spTree>
    <p:extLst>
      <p:ext uri="{BB962C8B-B14F-4D97-AF65-F5344CB8AC3E}">
        <p14:creationId xmlns:p14="http://schemas.microsoft.com/office/powerpoint/2010/main" val="3652327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ts val="1400"/>
              </a:lnSpc>
              <a:spcAft>
                <a:spcPts val="800"/>
              </a:spcAft>
              <a:buFont typeface="Arial" panose="020B0604020202020204" pitchFamily="34" charset="0"/>
              <a:buChar char="•"/>
              <a:tabLst>
                <a:tab pos="457200" algn="l"/>
              </a:tabLst>
            </a:pPr>
            <a:r>
              <a:rPr lang="ja-JP" altLang="ja-JP" sz="1200" kern="0" dirty="0">
                <a:effectLst/>
                <a:latin typeface="游明朝" panose="02020400000000000000" pitchFamily="18" charset="-128"/>
                <a:ea typeface="Meiryo UI" panose="020B0604030504040204" pitchFamily="50" charset="-128"/>
                <a:cs typeface="ＭＳ Ｐゴシック" panose="020B0600070205080204" pitchFamily="50" charset="-128"/>
              </a:rPr>
              <a:t>次に需要トレンドと登録です。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競争の激しい</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3.5t</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クラスでは、我々の主力のボディタイプである</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Tipper</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が前年比</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△26.61%</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、ドロップサイドが</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△14.81%</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となり、</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ITUK</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は前年比</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△21.60%</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となりました。</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344251"/>
                </a:solidFill>
                <a:effectLst/>
                <a:latin typeface="Meiryo UI" panose="020B0604030504040204" pitchFamily="50" charset="-128"/>
                <a:ea typeface="游明朝" panose="02020400000000000000" pitchFamily="18" charset="-128"/>
                <a:cs typeface="ＭＳ Ｐゴシック" panose="020B0600070205080204" pitchFamily="50" charset="-128"/>
              </a:rPr>
              <a:t>3.5</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ｔクラスの</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6</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年間平均の全需</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28,745</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台に対し、市場全体では</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△20.9%</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減の</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22,739</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台となりました。</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344251"/>
                </a:solidFill>
                <a:effectLst/>
                <a:latin typeface="Meiryo UI" panose="020B0604030504040204" pitchFamily="50" charset="-128"/>
                <a:ea typeface="游明朝" panose="02020400000000000000" pitchFamily="18" charset="-128"/>
                <a:cs typeface="ＭＳ Ｐゴシック" panose="020B0600070205080204" pitchFamily="50" charset="-128"/>
              </a:rPr>
              <a:t>7.5t</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クラスでは、ごみ収集車の需要が高く、</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ITUK</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の台数前年比</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△14.23%</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と減少したものの、シェアは</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30.13%</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となりました。</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7.5</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ｔクラス全体では</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△21.43%</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の減少となりました。</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いすゞの</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7.5t</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シャシは、英国では一般的にハイウェイ車に適しているとは考えられておらず、その結果、最も人気のあるボックスとカーテンサイドボディの分野では業績が低迷しています。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ごみ収集部門における</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F</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シリーズの販売は好調ではありましたが、</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CY25</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年中に販売された車両の内</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71</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台が未登録となっている為、</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CY25</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年の登録台数は</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34%</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減少しました</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174708" marR="0" lvl="0" indent="-174708" algn="l" defTabSz="93177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0E1087-D66A-494B-9FA2-986DCE6108CB}" type="slidenum">
              <a:rPr kumimoji="0" lang="en-GB" sz="1000" b="0" i="0" u="none" strike="noStrike" kern="1200" cap="none" spc="0" normalizeH="0" baseline="0" noProof="0" smtClean="0">
                <a:ln>
                  <a:noFill/>
                </a:ln>
                <a:solidFill>
                  <a:srgbClr val="000000"/>
                </a:solidFill>
                <a:effectLst/>
                <a:uLnTx/>
                <a:uFillTx/>
                <a:latin typeface="Meiry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000" b="0" i="0" u="none" strike="noStrike" kern="1200" cap="none" spc="0" normalizeH="0" baseline="0" noProof="0">
              <a:ln>
                <a:noFill/>
              </a:ln>
              <a:solidFill>
                <a:srgbClr val="000000"/>
              </a:solidFill>
              <a:effectLst/>
              <a:uLnTx/>
              <a:uFillTx/>
              <a:latin typeface="Meiryo"/>
              <a:ea typeface="+mn-ea"/>
              <a:cs typeface="+mn-cs"/>
            </a:endParaRPr>
          </a:p>
        </p:txBody>
      </p:sp>
    </p:spTree>
    <p:extLst>
      <p:ext uri="{BB962C8B-B14F-4D97-AF65-F5344CB8AC3E}">
        <p14:creationId xmlns:p14="http://schemas.microsoft.com/office/powerpoint/2010/main" val="2839516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900D1-D50B-C0C6-786B-77AD3D573B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8C1F9D-9A5A-B860-01EE-139CE7F67B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F31065-7A36-D2B5-7006-A17040E6BA0A}"/>
              </a:ext>
            </a:extLst>
          </p:cNvPr>
          <p:cNvSpPr>
            <a:spLocks noGrp="1"/>
          </p:cNvSpPr>
          <p:nvPr>
            <p:ph type="body" idx="1"/>
          </p:nvPr>
        </p:nvSpPr>
        <p:spPr/>
        <p:txBody>
          <a:bodyPr/>
          <a:lstStyle/>
          <a:p>
            <a:pPr marL="342900" lvl="0" indent="-342900">
              <a:lnSpc>
                <a:spcPts val="1400"/>
              </a:lnSpc>
              <a:spcAft>
                <a:spcPts val="800"/>
              </a:spcAft>
              <a:buFont typeface="Arial" panose="020B0604020202020204" pitchFamily="34" charset="0"/>
              <a:buChar char="•"/>
              <a:tabLst>
                <a:tab pos="457200" algn="l"/>
              </a:tabLst>
            </a:pPr>
            <a:r>
              <a:rPr lang="ja-JP" altLang="ja-JP" sz="1200" kern="0" dirty="0">
                <a:effectLst/>
                <a:latin typeface="游明朝" panose="02020400000000000000" pitchFamily="18" charset="-128"/>
                <a:ea typeface="Meiryo UI" panose="020B0604030504040204" pitchFamily="50" charset="-128"/>
                <a:cs typeface="ＭＳ Ｐゴシック" panose="020B0600070205080204" pitchFamily="50" charset="-128"/>
              </a:rPr>
              <a:t>次に</a:t>
            </a:r>
            <a:r>
              <a:rPr lang="en-US" altLang="ja-JP" sz="1200" kern="0" dirty="0">
                <a:effectLst/>
                <a:latin typeface="游明朝" panose="02020400000000000000" pitchFamily="18" charset="-128"/>
                <a:ea typeface="Meiryo UI" panose="020B0604030504040204" pitchFamily="50" charset="-128"/>
                <a:cs typeface="ＭＳ Ｐゴシック" panose="020B0600070205080204" pitchFamily="50" charset="-128"/>
              </a:rPr>
              <a:t>FY25</a:t>
            </a:r>
            <a:r>
              <a:rPr lang="ja-JP" altLang="ja-JP" sz="1200" kern="0" dirty="0">
                <a:effectLst/>
                <a:latin typeface="游明朝" panose="02020400000000000000" pitchFamily="18" charset="-128"/>
                <a:ea typeface="Meiryo UI" panose="020B0604030504040204" pitchFamily="50" charset="-128"/>
                <a:cs typeface="ＭＳ Ｐゴシック" panose="020B0600070205080204" pitchFamily="50" charset="-128"/>
              </a:rPr>
              <a:t>の販売予測と拡販施策の状況です。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英国市場での受注は、特に</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3.5t</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で困難な状況が続いており、各ディーラーは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700P</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R51 Drive by Noise Derogation</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の状況が明確になるまで在庫注文を出すことに消極的です。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当社が取引している三つの主要市場セクターが前年比で大幅に減少しましたが、</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ITUK</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は引き続き、改訂された</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FY25</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2,070</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台の自動車卸売請求書発行計画の達成に重点を置いています。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新しいファイナンス・パートナーとの複雑な契約交渉により、当初計画していた</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KOSHA</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イニシアティブのうち</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2</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つが延期されました。</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しかしながら、厳しい市場環境に対応して、新しく決定的な「カスタマー・キャッシュバック・イニシアティブ」とそれに続く「</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N35</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ディーラー・インバウンド・オーダー・インセンティブ」を導入し成功しました。</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インバウンドオーダーインセンティブの成功が、現在のディーラー登録ボーナスから変更する理由です。ディーラーの影響力が増すため、</a:t>
            </a:r>
            <a:r>
              <a:rPr lang="en-GB"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ITUK</a:t>
            </a:r>
            <a:r>
              <a:rPr lang="ja-JP" altLang="ja-JP" sz="1200" kern="1200" dirty="0">
                <a:solidFill>
                  <a:srgbClr val="344251"/>
                </a:solidFill>
                <a:effectLst/>
                <a:latin typeface="游明朝" panose="02020400000000000000" pitchFamily="18" charset="-128"/>
                <a:ea typeface="Meiryo UI" panose="020B0604030504040204" pitchFamily="50" charset="-128"/>
                <a:cs typeface="ＭＳ Ｐゴシック" panose="020B0600070205080204" pitchFamily="50" charset="-128"/>
              </a:rPr>
              <a:t>にとってより迅速な結果をもたらすことができます。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Slide Number Placeholder 3">
            <a:extLst>
              <a:ext uri="{FF2B5EF4-FFF2-40B4-BE49-F238E27FC236}">
                <a16:creationId xmlns:a16="http://schemas.microsoft.com/office/drawing/2014/main" id="{DC557E19-3B83-0F06-349F-076988CE01E8}"/>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A70E1087-D66A-494B-9FA2-986DCE6108CB}" type="slidenum">
              <a:rPr kumimoji="0" lang="en-GB" sz="1000" b="0" i="0" u="none" strike="noStrike" kern="1200" cap="none" spc="0" normalizeH="0" baseline="0" noProof="0">
                <a:ln>
                  <a:noFill/>
                </a:ln>
                <a:solidFill>
                  <a:srgbClr val="000000"/>
                </a:solidFill>
                <a:effectLst/>
                <a:uLnTx/>
                <a:uFillTx/>
                <a:latin typeface="Meiryo"/>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8</a:t>
            </a:fld>
            <a:endParaRPr kumimoji="0" lang="en-GB" sz="1000" b="0" i="0" u="none" strike="noStrike" kern="1200" cap="none" spc="0" normalizeH="0" baseline="0" noProof="0">
              <a:ln>
                <a:noFill/>
              </a:ln>
              <a:solidFill>
                <a:srgbClr val="000000"/>
              </a:solidFill>
              <a:effectLst/>
              <a:uLnTx/>
              <a:uFillTx/>
              <a:latin typeface="Meiryo"/>
              <a:ea typeface="+mn-ea"/>
              <a:cs typeface="+mn-cs"/>
            </a:endParaRPr>
          </a:p>
        </p:txBody>
      </p:sp>
    </p:spTree>
    <p:extLst>
      <p:ext uri="{BB962C8B-B14F-4D97-AF65-F5344CB8AC3E}">
        <p14:creationId xmlns:p14="http://schemas.microsoft.com/office/powerpoint/2010/main" val="31166850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AA83D-BB25-A119-1BD9-EDE543A8F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97A184-8347-C688-3F23-CA3F7AF8C0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1EDBDD-8F90-5BC1-CAC9-CD23E13EDEA6}"/>
              </a:ext>
            </a:extLst>
          </p:cNvPr>
          <p:cNvSpPr>
            <a:spLocks noGrp="1"/>
          </p:cNvSpPr>
          <p:nvPr>
            <p:ph type="body" idx="1"/>
          </p:nvPr>
        </p:nvSpPr>
        <p:spPr/>
        <p:txBody>
          <a:bodyPr/>
          <a:lstStyle/>
          <a:p>
            <a:pPr marL="342900" lvl="0" indent="-342900">
              <a:lnSpc>
                <a:spcPts val="1400"/>
              </a:lnSpc>
              <a:spcAft>
                <a:spcPts val="800"/>
              </a:spcAft>
              <a:buFont typeface="Arial" panose="020B0604020202020204" pitchFamily="34" charset="0"/>
              <a:buChar char="•"/>
              <a:tabLst>
                <a:tab pos="457200" algn="l"/>
              </a:tabLst>
            </a:pPr>
            <a:r>
              <a:rPr lang="ja-JP" altLang="ja-JP" sz="1200" kern="0" dirty="0">
                <a:effectLst/>
                <a:latin typeface="游明朝" panose="02020400000000000000" pitchFamily="18" charset="-128"/>
                <a:ea typeface="Meiryo UI" panose="020B0604030504040204" pitchFamily="50" charset="-128"/>
                <a:cs typeface="ＭＳ Ｐゴシック" panose="020B0600070205080204" pitchFamily="50" charset="-128"/>
              </a:rPr>
              <a:t>次に</a:t>
            </a:r>
            <a:r>
              <a:rPr lang="en-US" altLang="ja-JP" sz="1200" kern="0" dirty="0">
                <a:effectLst/>
                <a:latin typeface="游明朝" panose="02020400000000000000" pitchFamily="18" charset="-128"/>
                <a:ea typeface="Meiryo UI" panose="020B0604030504040204" pitchFamily="50" charset="-128"/>
                <a:cs typeface="ＭＳ Ｐゴシック" panose="020B0600070205080204" pitchFamily="50" charset="-128"/>
              </a:rPr>
              <a:t>FY26</a:t>
            </a:r>
            <a:r>
              <a:rPr lang="ja-JP" altLang="ja-JP" sz="1200" kern="0" dirty="0">
                <a:effectLst/>
                <a:latin typeface="游明朝" panose="02020400000000000000" pitchFamily="18" charset="-128"/>
                <a:ea typeface="Meiryo UI" panose="020B0604030504040204" pitchFamily="50" charset="-128"/>
                <a:cs typeface="ＭＳ Ｐゴシック" panose="020B0600070205080204" pitchFamily="50" charset="-128"/>
              </a:rPr>
              <a:t>の販売予測と拡販施策の計画です。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FY26</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年度の車両卸売請求書計画は、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700P</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レンジの段階的廃止と</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P700</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の段階的導入という非常に困難な状況を示しています。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さらなる課題は、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700P</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R51 Drive by Noise Regulation</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のデロゲーションが現時点で認められていないことに起因しており、</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ITUK</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の最大のボリュームセールス製品である</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NLR</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の生産が</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4</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ヶ月または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6</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ヶ月間行われないことになります。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FY26</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年度に成功するためには、段階的に在庫を減らし、最終的にはすべての販売機会を最大化することが不可欠です。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ITUK</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とディーラーは、コンパクトな設計、全体的なフットプリント、ペイロードなど、</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ITUK</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製品の「主な特長と利点」が競合製品よりも明らかに優れているセクターに重点を置き続けます。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包括的な調査活動に不可欠な要件は、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2025</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年に全ディーラー販売員が参加した販売トレーニングコースの一部を構成し、</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2026</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年のトレーニング資料にも含まれます。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ITUK</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のリージョナル・セールス・マネージャがプロスペクティング活動をさらに強化し、ディーラー訪問の間に入手可能なソース・データを十分に活用できるようにします。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1</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つの主要な</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FUSO</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ディーラーグループを除いて、</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ITUK</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FUSO</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ディーラーをターゲットにすることに非常に神経質になっています。</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FUSO</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ディーラーはメルセデスディーラーでもあり、すべての主要ウエイトセクターでいすゞと非常に強力な競合関係にあるからです。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nSpc>
                <a:spcPts val="1400"/>
              </a:lnSpc>
              <a:spcAft>
                <a:spcPts val="800"/>
              </a:spcAft>
              <a:buNone/>
            </a:pPr>
            <a:r>
              <a:rPr lang="en-US" altLang="ja-JP" sz="1100" kern="100" dirty="0">
                <a:effectLst/>
                <a:latin typeface="Meiryo UI" panose="020B0604030504040204" pitchFamily="50" charset="-128"/>
                <a:ea typeface="游明朝" panose="02020400000000000000" pitchFamily="18" charset="-128"/>
                <a:cs typeface="Times New Roman" panose="02020603050405020304" pitchFamily="18" charset="0"/>
              </a:rPr>
              <a:t> </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nSpc>
                <a:spcPts val="1400"/>
              </a:lnSpc>
              <a:spcAft>
                <a:spcPts val="800"/>
              </a:spcAft>
              <a:buNone/>
            </a:pPr>
            <a:r>
              <a:rPr lang="en-US" altLang="ja-JP" sz="1100" kern="100" dirty="0">
                <a:effectLst/>
                <a:latin typeface="Meiryo UI" panose="020B0604030504040204" pitchFamily="50" charset="-128"/>
                <a:ea typeface="游明朝" panose="02020400000000000000" pitchFamily="18" charset="-128"/>
                <a:cs typeface="Times New Roman" panose="02020603050405020304" pitchFamily="18" charset="0"/>
              </a:rPr>
              <a:t> </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Slide Number Placeholder 3">
            <a:extLst>
              <a:ext uri="{FF2B5EF4-FFF2-40B4-BE49-F238E27FC236}">
                <a16:creationId xmlns:a16="http://schemas.microsoft.com/office/drawing/2014/main" id="{CFE63D40-AB78-EB28-C95A-357342C560D8}"/>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A70E1087-D66A-494B-9FA2-986DCE6108CB}" type="slidenum">
              <a:rPr kumimoji="0" lang="en-GB" sz="1000" b="0" i="0" u="none" strike="noStrike" kern="1200" cap="none" spc="0" normalizeH="0" baseline="0" noProof="0">
                <a:ln>
                  <a:noFill/>
                </a:ln>
                <a:solidFill>
                  <a:srgbClr val="000000"/>
                </a:solidFill>
                <a:effectLst/>
                <a:uLnTx/>
                <a:uFillTx/>
                <a:latin typeface="Meiryo"/>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9</a:t>
            </a:fld>
            <a:endParaRPr kumimoji="0" lang="en-GB" sz="1000" b="0" i="0" u="none" strike="noStrike" kern="1200" cap="none" spc="0" normalizeH="0" baseline="0" noProof="0">
              <a:ln>
                <a:noFill/>
              </a:ln>
              <a:solidFill>
                <a:srgbClr val="000000"/>
              </a:solidFill>
              <a:effectLst/>
              <a:uLnTx/>
              <a:uFillTx/>
              <a:latin typeface="Meiryo"/>
              <a:ea typeface="+mn-ea"/>
              <a:cs typeface="+mn-cs"/>
            </a:endParaRPr>
          </a:p>
        </p:txBody>
      </p:sp>
    </p:spTree>
    <p:extLst>
      <p:ext uri="{BB962C8B-B14F-4D97-AF65-F5344CB8AC3E}">
        <p14:creationId xmlns:p14="http://schemas.microsoft.com/office/powerpoint/2010/main" val="2529215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次に</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VK05</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に関する現在の法規制の課題です。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2008</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年以来、待望されていた英国での最初の新しいいすゞ製品の発売は、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N1</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製品のためのノイズと</a:t>
            </a:r>
            <a:r>
              <a:rPr lang="en-GB" altLang="ja-JP" sz="1200" kern="1200" dirty="0" err="1">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eCall</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による</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R51</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ドライブの導入、また</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2026</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12</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月までの</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DTU</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導入の遅れにより、非常に複雑になっています。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最終的な結果として、</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ITUK</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はかなりの期間、主要モデルの生産を停止し、</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4JZ1</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エンジンを搭載した</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NLR88</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を永久に失うことになります。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700P</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不適合製品の登録期限に間に合わせようとすると、かなりの追加費用が発生する可能性があります。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55DCA07E-93C1-4B11-B3C8-F89DF3618FF9}" type="slidenum">
              <a:rPr lang="en-GB" smtClean="0"/>
              <a:t>10</a:t>
            </a:fld>
            <a:endParaRPr lang="en-GB"/>
          </a:p>
        </p:txBody>
      </p:sp>
    </p:spTree>
    <p:extLst>
      <p:ext uri="{BB962C8B-B14F-4D97-AF65-F5344CB8AC3E}">
        <p14:creationId xmlns:p14="http://schemas.microsoft.com/office/powerpoint/2010/main" val="3224987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25563" y="1117600"/>
            <a:ext cx="4103687" cy="2309813"/>
          </a:xfrm>
        </p:spPr>
      </p:sp>
      <p:sp>
        <p:nvSpPr>
          <p:cNvPr id="3" name="Notes Placeholder 2"/>
          <p:cNvSpPr>
            <a:spLocks noGrp="1"/>
          </p:cNvSpPr>
          <p:nvPr>
            <p:ph type="body" idx="1"/>
          </p:nvPr>
        </p:nvSpPr>
        <p:spPr/>
        <p:txBody>
          <a:bodyPr/>
          <a:lstStyle/>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次に</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FY25</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年度のアフターセールス予測と</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FY26</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年度の見通しです。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FY25</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YTD</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の部品販売は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12</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月末時点で計画を若干下回ります。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FY25</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年度の最終業績は、計画新車登録台数の減少にもかかわらず、厳しい通期目標を少しだけ下回る見込みです。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FY26</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年度も引き続き注力し、自動車税納税後の郵便番号データを使用し、完了時には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E</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コマースプラットフォームを利用して、「失われた」既存顧客との連携を図ります。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ディーラー部品の「プッシュ」注文システムを提供する</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DSV</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と包括的な協議を実施中です。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FY25</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年度は、初回ピック率の大幅な低下を伴わずに、在庫額と在庫月数が大幅に減少しました。</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nSpc>
                <a:spcPts val="1400"/>
              </a:lnSpc>
              <a:spcAft>
                <a:spcPts val="800"/>
              </a:spcAft>
              <a:buNone/>
            </a:pPr>
            <a:r>
              <a:rPr lang="en-US" altLang="ja-JP" sz="1100" kern="100" dirty="0">
                <a:effectLst/>
                <a:latin typeface="Meiryo UI" panose="020B0604030504040204" pitchFamily="50" charset="-128"/>
                <a:ea typeface="游明朝" panose="02020400000000000000" pitchFamily="18" charset="-128"/>
                <a:cs typeface="Times New Roman" panose="02020603050405020304" pitchFamily="18" charset="0"/>
              </a:rPr>
              <a:t> </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nSpc>
                <a:spcPts val="1400"/>
              </a:lnSpc>
              <a:spcAft>
                <a:spcPts val="800"/>
              </a:spcAft>
              <a:buNone/>
            </a:pPr>
            <a:r>
              <a:rPr lang="en-US" altLang="ja-JP" sz="1100" kern="100" dirty="0">
                <a:effectLst/>
                <a:latin typeface="Meiryo UI" panose="020B0604030504040204" pitchFamily="50" charset="-128"/>
                <a:ea typeface="游明朝" panose="02020400000000000000" pitchFamily="18" charset="-128"/>
                <a:cs typeface="Times New Roman" panose="02020603050405020304" pitchFamily="18" charset="0"/>
              </a:rPr>
              <a:t> </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pPr marL="0" marR="0" lvl="0" indent="0" algn="r" defTabSz="915497" rtl="0" eaLnBrk="1" fontAlgn="auto" latinLnBrk="0" hangingPunct="1">
              <a:lnSpc>
                <a:spcPct val="100000"/>
              </a:lnSpc>
              <a:spcBef>
                <a:spcPts val="0"/>
              </a:spcBef>
              <a:spcAft>
                <a:spcPts val="0"/>
              </a:spcAft>
              <a:buClrTx/>
              <a:buSzTx/>
              <a:buFontTx/>
              <a:buNone/>
              <a:tabLst/>
              <a:defRPr/>
            </a:pPr>
            <a:fld id="{E33A13B3-A3CB-4EE5-AF82-764F8AB15C65}" type="slidenum">
              <a:rPr kumimoji="0" lang="en-US" altLang="ja-JP" sz="1000" b="0" i="0" u="none" strike="noStrike" kern="1200" cap="none" spc="0" normalizeH="0" baseline="0" noProof="0">
                <a:ln>
                  <a:noFill/>
                </a:ln>
                <a:solidFill>
                  <a:srgbClr val="000000"/>
                </a:solidFill>
                <a:effectLst/>
                <a:uLnTx/>
                <a:uFillTx/>
                <a:latin typeface="Meiryo"/>
                <a:ea typeface="游ゴシック" panose="020B0400000000000000" pitchFamily="34" charset="-128"/>
                <a:cs typeface="+mn-cs"/>
              </a:rPr>
              <a:pPr marL="0" marR="0" lvl="0" indent="0" algn="r" defTabSz="915497" rtl="0" eaLnBrk="1" fontAlgn="auto" latinLnBrk="0" hangingPunct="1">
                <a:lnSpc>
                  <a:spcPct val="100000"/>
                </a:lnSpc>
                <a:spcBef>
                  <a:spcPts val="0"/>
                </a:spcBef>
                <a:spcAft>
                  <a:spcPts val="0"/>
                </a:spcAft>
                <a:buClrTx/>
                <a:buSzTx/>
                <a:buFontTx/>
                <a:buNone/>
                <a:tabLst/>
                <a:defRPr/>
              </a:pPr>
              <a:t>11</a:t>
            </a:fld>
            <a:endParaRPr kumimoji="0" lang="ja-JP" altLang="en-US" sz="1000" b="0" i="0" u="none" strike="noStrike" kern="1200" cap="none" spc="0" normalizeH="0" baseline="0" noProof="0" dirty="0">
              <a:ln>
                <a:noFill/>
              </a:ln>
              <a:solidFill>
                <a:srgbClr val="000000"/>
              </a:solidFill>
              <a:effectLst/>
              <a:uLnTx/>
              <a:uFillTx/>
              <a:latin typeface="Meiryo"/>
              <a:ea typeface="游ゴシック" panose="020B0400000000000000" pitchFamily="34" charset="-128"/>
              <a:cs typeface="+mn-cs"/>
            </a:endParaRPr>
          </a:p>
        </p:txBody>
      </p:sp>
    </p:spTree>
    <p:extLst>
      <p:ext uri="{BB962C8B-B14F-4D97-AF65-F5344CB8AC3E}">
        <p14:creationId xmlns:p14="http://schemas.microsoft.com/office/powerpoint/2010/main" val="1053785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ts val="1400"/>
              </a:lnSpc>
              <a:spcAft>
                <a:spcPts val="800"/>
              </a:spcAft>
              <a:buFont typeface="Arial" panose="020B0604020202020204" pitchFamily="34" charset="0"/>
              <a:buChar char="•"/>
              <a:tabLst>
                <a:tab pos="457200" algn="l"/>
              </a:tabLst>
            </a:pPr>
            <a:r>
              <a:rPr lang="ja-JP" altLang="ja-JP" sz="1200" kern="0" dirty="0">
                <a:effectLst/>
                <a:latin typeface="游明朝" panose="02020400000000000000" pitchFamily="18" charset="-128"/>
                <a:ea typeface="Meiryo UI" panose="020B0604030504040204" pitchFamily="50" charset="-128"/>
                <a:cs typeface="ＭＳ Ｐゴシック" panose="020B0600070205080204" pitchFamily="50" charset="-128"/>
              </a:rPr>
              <a:t>次にコネクティッドプロジェクトについての説明です。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en-GB" altLang="ja-JP" sz="1200" kern="1200" dirty="0">
                <a:solidFill>
                  <a:srgbClr val="000000"/>
                </a:solidFill>
                <a:effectLst/>
                <a:latin typeface="Meiryo UI" panose="020B0604030504040204" pitchFamily="50" charset="-128"/>
                <a:ea typeface="游明朝" panose="02020400000000000000" pitchFamily="18" charset="-128"/>
                <a:cs typeface="ＭＳ Ｐゴシック" panose="020B0600070205080204" pitchFamily="50" charset="-128"/>
              </a:rPr>
              <a:t>ITUK</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の当初の</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Connected</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戦略は、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IPC Odometer</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情報の可用性と</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Tachograph</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の統合がないため変更されました。</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新しい戦略では、実際の</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MMU</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ベースのマイル数と理論上の</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MMU</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ベースのマイル数の混同を避けるために、カスタマーポータルを提供せずにお客様のアップタイムのみをサポートします。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457200">
              <a:lnSpc>
                <a:spcPts val="1400"/>
              </a:lnSpc>
              <a:spcAft>
                <a:spcPts val="800"/>
              </a:spcAft>
              <a:buNone/>
            </a:pPr>
            <a:r>
              <a:rPr lang="en-US" altLang="ja-JP" sz="1200" kern="0" dirty="0">
                <a:effectLst/>
                <a:latin typeface="Meiryo UI" panose="020B0604030504040204" pitchFamily="50" charset="-128"/>
                <a:ea typeface="游明朝" panose="02020400000000000000" pitchFamily="18" charset="-128"/>
                <a:cs typeface="ＭＳ Ｐゴシック" panose="020B0600070205080204" pitchFamily="50" charset="-128"/>
              </a:rPr>
              <a:t> </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55DCA07E-93C1-4B11-B3C8-F89DF3618FF9}" type="slidenum">
              <a:rPr lang="en-GB" smtClean="0"/>
              <a:t>12</a:t>
            </a:fld>
            <a:endParaRPr lang="en-GB"/>
          </a:p>
        </p:txBody>
      </p:sp>
    </p:spTree>
    <p:extLst>
      <p:ext uri="{BB962C8B-B14F-4D97-AF65-F5344CB8AC3E}">
        <p14:creationId xmlns:p14="http://schemas.microsoft.com/office/powerpoint/2010/main" val="36133551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引き続き、コネクティッドプロジェクトについての説明です。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実際の車両走行距離データがなければ、</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ITUK</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ディーラーが車両サービスイベントの期日であることを顧客に通知するのを支援することはできません。</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サービスのリマインダー通知は、</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S3</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および</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S4</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のお客様との関係を再構築し、サービス部品の割引を提供する機会にもなり、お客様とディーラーとの良い関係作りを促進します。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55DCA07E-93C1-4B11-B3C8-F89DF3618FF9}" type="slidenum">
              <a:rPr lang="en-GB" smtClean="0"/>
              <a:t>13</a:t>
            </a:fld>
            <a:endParaRPr lang="en-GB"/>
          </a:p>
        </p:txBody>
      </p:sp>
    </p:spTree>
    <p:extLst>
      <p:ext uri="{BB962C8B-B14F-4D97-AF65-F5344CB8AC3E}">
        <p14:creationId xmlns:p14="http://schemas.microsoft.com/office/powerpoint/2010/main" val="3452034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indent="-285750">
              <a:lnSpc>
                <a:spcPts val="1400"/>
              </a:lnSpc>
              <a:buFont typeface="Arial" panose="020B0604020202020204" pitchFamily="34" charset="0"/>
              <a:buChar char="•"/>
            </a:pPr>
            <a:r>
              <a:rPr lang="ja-JP" altLang="ja-JP" sz="1200" dirty="0">
                <a:effectLst/>
                <a:latin typeface="ＭＳ Ｐゴシック" panose="020B0600070205080204" pitchFamily="50" charset="-128"/>
                <a:ea typeface="Meiryo UI" panose="020B0604030504040204" pitchFamily="50" charset="-128"/>
                <a:cs typeface="Times New Roman" panose="02020603050405020304" pitchFamily="18" charset="0"/>
              </a:rPr>
              <a:t>次に</a:t>
            </a:r>
            <a:r>
              <a:rPr lang="en-US" altLang="ja-JP" sz="1200" dirty="0">
                <a:effectLst/>
                <a:latin typeface="ＭＳ Ｐゴシック" panose="020B0600070205080204" pitchFamily="50" charset="-128"/>
                <a:ea typeface="Meiryo UI" panose="020B0604030504040204" pitchFamily="50" charset="-128"/>
                <a:cs typeface="Times New Roman" panose="02020603050405020304" pitchFamily="18" charset="0"/>
              </a:rPr>
              <a:t>ITUK</a:t>
            </a:r>
            <a:r>
              <a:rPr lang="ja-JP" altLang="ja-JP" sz="1200" dirty="0">
                <a:effectLst/>
                <a:latin typeface="ＭＳ Ｐゴシック" panose="020B0600070205080204" pitchFamily="50" charset="-128"/>
                <a:ea typeface="Meiryo UI" panose="020B0604030504040204" pitchFamily="50" charset="-128"/>
                <a:cs typeface="Times New Roman" panose="02020603050405020304" pitchFamily="18" charset="0"/>
              </a:rPr>
              <a:t>のガバナンス強化についての説明です。</a:t>
            </a:r>
            <a:endParaRPr lang="ja-JP" altLang="ja-JP" sz="1200" dirty="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p>
            <a:pPr marL="0" lvl="1" indent="-285750">
              <a:lnSpc>
                <a:spcPts val="1400"/>
              </a:lnSpc>
              <a:buFont typeface="Arial" panose="020B0604020202020204" pitchFamily="34" charset="0"/>
              <a:buChar char="•"/>
            </a:pPr>
            <a:r>
              <a:rPr lang="en-US" altLang="ja-JP" sz="1200" kern="1200" dirty="0">
                <a:solidFill>
                  <a:srgbClr val="000000"/>
                </a:solidFill>
                <a:effectLst/>
                <a:latin typeface="Meiryo UI" panose="020B0604030504040204" pitchFamily="50" charset="-128"/>
                <a:ea typeface="ＭＳ Ｐゴシック" panose="020B0600070205080204" pitchFamily="50" charset="-128"/>
                <a:cs typeface="Times New Roman" panose="02020603050405020304" pitchFamily="18" charset="0"/>
              </a:rPr>
              <a:t>ITUK</a:t>
            </a:r>
            <a:r>
              <a:rPr lang="ja-JP" altLang="ja-JP" sz="1200" kern="1200" dirty="0">
                <a:solidFill>
                  <a:srgbClr val="000000"/>
                </a:solidFill>
                <a:effectLst/>
                <a:latin typeface="ＭＳ Ｐゴシック" panose="020B0600070205080204" pitchFamily="50" charset="-128"/>
                <a:ea typeface="Meiryo UI" panose="020B0604030504040204" pitchFamily="50" charset="-128"/>
                <a:cs typeface="Times New Roman" panose="02020603050405020304" pitchFamily="18" charset="0"/>
              </a:rPr>
              <a:t>のガバナンス強化は、引き続き経営上の重要課題です。</a:t>
            </a:r>
            <a:endParaRPr lang="ja-JP" altLang="ja-JP" sz="1200" dirty="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p>
            <a:pPr marL="0" lvl="1" indent="-285750">
              <a:lnSpc>
                <a:spcPts val="1400"/>
              </a:lnSpc>
              <a:buFont typeface="Arial" panose="020B0604020202020204" pitchFamily="34" charset="0"/>
              <a:buChar char="•"/>
            </a:pPr>
            <a:r>
              <a:rPr lang="ja-JP" altLang="ja-JP" sz="1200" kern="1200" dirty="0">
                <a:solidFill>
                  <a:srgbClr val="000000"/>
                </a:solidFill>
                <a:effectLst/>
                <a:latin typeface="ＭＳ Ｐゴシック" panose="020B0600070205080204" pitchFamily="50" charset="-128"/>
                <a:ea typeface="Meiryo UI" panose="020B0604030504040204" pitchFamily="50" charset="-128"/>
                <a:cs typeface="Times New Roman" panose="02020603050405020304" pitchFamily="18" charset="0"/>
              </a:rPr>
              <a:t>今年度の重点課題は</a:t>
            </a:r>
            <a:r>
              <a:rPr lang="en-US" altLang="ja-JP" sz="1200" kern="1200" dirty="0">
                <a:solidFill>
                  <a:srgbClr val="000000"/>
                </a:solidFill>
                <a:effectLst/>
                <a:latin typeface="ＭＳ Ｐゴシック" panose="020B0600070205080204" pitchFamily="50" charset="-128"/>
                <a:ea typeface="Meiryo UI" panose="020B0604030504040204" pitchFamily="50" charset="-128"/>
                <a:cs typeface="Times New Roman" panose="02020603050405020304" pitchFamily="18" charset="0"/>
              </a:rPr>
              <a:t>4</a:t>
            </a:r>
            <a:r>
              <a:rPr lang="ja-JP" altLang="ja-JP" sz="1200" kern="1200" dirty="0">
                <a:solidFill>
                  <a:srgbClr val="000000"/>
                </a:solidFill>
                <a:effectLst/>
                <a:latin typeface="ＭＳ Ｐゴシック" panose="020B0600070205080204" pitchFamily="50" charset="-128"/>
                <a:ea typeface="Meiryo UI" panose="020B0604030504040204" pitchFamily="50" charset="-128"/>
                <a:cs typeface="Times New Roman" panose="02020603050405020304" pitchFamily="18" charset="0"/>
              </a:rPr>
              <a:t>つとも達成することができました。</a:t>
            </a:r>
            <a:endParaRPr lang="ja-JP" altLang="ja-JP" sz="1200" dirty="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p>
            <a:pPr marL="0" lvl="1" indent="-285750">
              <a:lnSpc>
                <a:spcPts val="1400"/>
              </a:lnSpc>
              <a:buFont typeface="Arial" panose="020B0604020202020204" pitchFamily="34" charset="0"/>
              <a:buChar char="•"/>
            </a:pPr>
            <a:r>
              <a:rPr lang="ja-JP" altLang="ja-JP" sz="1200" kern="1200" dirty="0">
                <a:solidFill>
                  <a:srgbClr val="000000"/>
                </a:solidFill>
                <a:effectLst/>
                <a:latin typeface="ＭＳ Ｐゴシック" panose="020B0600070205080204" pitchFamily="50" charset="-128"/>
                <a:ea typeface="Meiryo UI" panose="020B0604030504040204" pitchFamily="50" charset="-128"/>
                <a:cs typeface="Times New Roman" panose="02020603050405020304" pitchFamily="18" charset="0"/>
              </a:rPr>
              <a:t>今後もこれらを注視し、取り組みのさらなる充実・向上を図って行きます。</a:t>
            </a:r>
            <a:endParaRPr lang="ja-JP" altLang="ja-JP" sz="1200" dirty="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p>
            <a:pPr marL="0" lvl="1" indent="-285750">
              <a:lnSpc>
                <a:spcPts val="1400"/>
              </a:lnSpc>
              <a:buFont typeface="Arial" panose="020B0604020202020204" pitchFamily="34" charset="0"/>
              <a:buChar char="•"/>
            </a:pPr>
            <a:r>
              <a:rPr lang="en-US" altLang="ja-JP" sz="1200" kern="1200" dirty="0">
                <a:solidFill>
                  <a:srgbClr val="000000"/>
                </a:solidFill>
                <a:effectLst/>
                <a:latin typeface="Meiryo UI" panose="020B0604030504040204" pitchFamily="50" charset="-128"/>
                <a:ea typeface="ＭＳ Ｐゴシック" panose="020B0600070205080204" pitchFamily="50" charset="-128"/>
                <a:cs typeface="Times New Roman" panose="02020603050405020304" pitchFamily="18" charset="0"/>
              </a:rPr>
              <a:t>26</a:t>
            </a:r>
            <a:r>
              <a:rPr lang="ja-JP" altLang="ja-JP" sz="1200" kern="1200" dirty="0">
                <a:solidFill>
                  <a:srgbClr val="000000"/>
                </a:solidFill>
                <a:effectLst/>
                <a:latin typeface="ＭＳ Ｐゴシック" panose="020B0600070205080204" pitchFamily="50" charset="-128"/>
                <a:ea typeface="Meiryo UI" panose="020B0604030504040204" pitchFamily="50" charset="-128"/>
                <a:cs typeface="Times New Roman" panose="02020603050405020304" pitchFamily="18" charset="0"/>
              </a:rPr>
              <a:t>年度からの新たな取り組みとして、全従業員を対象とした研修を開始し、事業全体へのガバナンスの拡大を図ります。</a:t>
            </a:r>
            <a:endParaRPr lang="ja-JP" altLang="ja-JP" sz="1200" dirty="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p>
            <a:pPr marL="0" lvl="1" indent="-285750">
              <a:lnSpc>
                <a:spcPts val="1400"/>
              </a:lnSpc>
              <a:buFont typeface="Arial" panose="020B0604020202020204" pitchFamily="34" charset="0"/>
              <a:buChar char="•"/>
            </a:pPr>
            <a:r>
              <a:rPr lang="ja-JP" altLang="ja-JP" sz="1200" kern="1200" dirty="0">
                <a:solidFill>
                  <a:srgbClr val="000000"/>
                </a:solidFill>
                <a:effectLst/>
                <a:latin typeface="ＭＳ Ｐゴシック" panose="020B0600070205080204" pitchFamily="50" charset="-128"/>
                <a:ea typeface="Meiryo UI" panose="020B0604030504040204" pitchFamily="50" charset="-128"/>
                <a:cs typeface="Times New Roman" panose="02020603050405020304" pitchFamily="18" charset="0"/>
              </a:rPr>
              <a:t>また、人材マネジメントの一環として、役割ごとの後継者計画を策定・実施し、後継者育成の具体的な活動を開始します。</a:t>
            </a:r>
            <a:endParaRPr lang="ja-JP" altLang="ja-JP" sz="1200" dirty="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p>
            <a:pPr marL="0" lvl="1" indent="-285750">
              <a:lnSpc>
                <a:spcPts val="1400"/>
              </a:lnSpc>
              <a:buFont typeface="Arial" panose="020B0604020202020204" pitchFamily="34" charset="0"/>
              <a:buChar char="•"/>
            </a:pPr>
            <a:r>
              <a:rPr lang="ja-JP" altLang="ja-JP" sz="1200" kern="1200" dirty="0">
                <a:solidFill>
                  <a:srgbClr val="000000"/>
                </a:solidFill>
                <a:effectLst/>
                <a:latin typeface="ＭＳ Ｐゴシック" panose="020B0600070205080204" pitchFamily="50" charset="-128"/>
                <a:ea typeface="Meiryo UI" panose="020B0604030504040204" pitchFamily="50" charset="-128"/>
                <a:cs typeface="Times New Roman" panose="02020603050405020304" pitchFamily="18" charset="0"/>
              </a:rPr>
              <a:t>また、</a:t>
            </a:r>
            <a:r>
              <a:rPr lang="en-US" altLang="ja-JP" sz="1200" kern="1200" dirty="0">
                <a:solidFill>
                  <a:srgbClr val="000000"/>
                </a:solidFill>
                <a:effectLst/>
                <a:latin typeface="ＭＳ Ｐゴシック" panose="020B0600070205080204" pitchFamily="50" charset="-128"/>
                <a:ea typeface="Meiryo UI" panose="020B0604030504040204" pitchFamily="50" charset="-128"/>
                <a:cs typeface="Times New Roman" panose="02020603050405020304" pitchFamily="18" charset="0"/>
              </a:rPr>
              <a:t>IML AI</a:t>
            </a:r>
            <a:r>
              <a:rPr lang="ja-JP" altLang="ja-JP" sz="1200" kern="1200" dirty="0">
                <a:solidFill>
                  <a:srgbClr val="000000"/>
                </a:solidFill>
                <a:effectLst/>
                <a:latin typeface="ＭＳ Ｐゴシック" panose="020B0600070205080204" pitchFamily="50" charset="-128"/>
                <a:ea typeface="Meiryo UI" panose="020B0604030504040204" pitchFamily="50" charset="-128"/>
                <a:cs typeface="Times New Roman" panose="02020603050405020304" pitchFamily="18" charset="0"/>
              </a:rPr>
              <a:t>プログラムと連携し、ビジネスにおける</a:t>
            </a:r>
            <a:r>
              <a:rPr lang="en-US" altLang="ja-JP" sz="1200" kern="1200" dirty="0">
                <a:solidFill>
                  <a:srgbClr val="000000"/>
                </a:solidFill>
                <a:effectLst/>
                <a:latin typeface="ＭＳ Ｐゴシック" panose="020B0600070205080204" pitchFamily="50" charset="-128"/>
                <a:ea typeface="Meiryo UI" panose="020B0604030504040204" pitchFamily="50" charset="-128"/>
                <a:cs typeface="Times New Roman" panose="02020603050405020304" pitchFamily="18" charset="0"/>
              </a:rPr>
              <a:t>AI</a:t>
            </a:r>
            <a:r>
              <a:rPr lang="ja-JP" altLang="ja-JP" sz="1200" kern="1200" dirty="0">
                <a:solidFill>
                  <a:srgbClr val="000000"/>
                </a:solidFill>
                <a:effectLst/>
                <a:latin typeface="ＭＳ Ｐゴシック" panose="020B0600070205080204" pitchFamily="50" charset="-128"/>
                <a:ea typeface="Meiryo UI" panose="020B0604030504040204" pitchFamily="50" charset="-128"/>
                <a:cs typeface="Times New Roman" panose="02020603050405020304" pitchFamily="18" charset="0"/>
              </a:rPr>
              <a:t>活用の枠組みや方針を確立し、</a:t>
            </a:r>
            <a:r>
              <a:rPr lang="en-US" altLang="ja-JP" sz="1200" kern="1200" dirty="0">
                <a:solidFill>
                  <a:srgbClr val="000000"/>
                </a:solidFill>
                <a:effectLst/>
                <a:latin typeface="ＭＳ Ｐゴシック" panose="020B0600070205080204" pitchFamily="50" charset="-128"/>
                <a:ea typeface="Meiryo UI" panose="020B0604030504040204" pitchFamily="50" charset="-128"/>
                <a:cs typeface="Times New Roman" panose="02020603050405020304" pitchFamily="18" charset="0"/>
              </a:rPr>
              <a:t>AI</a:t>
            </a:r>
            <a:r>
              <a:rPr lang="ja-JP" altLang="ja-JP" sz="1200" kern="1200" dirty="0">
                <a:solidFill>
                  <a:srgbClr val="000000"/>
                </a:solidFill>
                <a:effectLst/>
                <a:latin typeface="ＭＳ Ｐゴシック" panose="020B0600070205080204" pitchFamily="50" charset="-128"/>
                <a:ea typeface="Meiryo UI" panose="020B0604030504040204" pitchFamily="50" charset="-128"/>
                <a:cs typeface="Times New Roman" panose="02020603050405020304" pitchFamily="18" charset="0"/>
              </a:rPr>
              <a:t>活用への取り組みを強化して行きます。</a:t>
            </a:r>
            <a:endParaRPr lang="ja-JP" altLang="ja-JP" sz="1200" dirty="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p>
            <a:pPr marL="0" indent="0" defTabSz="914307">
              <a:buFont typeface="Arial" panose="020B0604020202020204" pitchFamily="34" charset="0"/>
              <a:buNone/>
              <a:defRPr/>
            </a:pPr>
            <a:endParaRPr lang="en-US" dirty="0"/>
          </a:p>
        </p:txBody>
      </p:sp>
      <p:sp>
        <p:nvSpPr>
          <p:cNvPr id="4" name="Slide Number Placeholder 3"/>
          <p:cNvSpPr>
            <a:spLocks noGrp="1"/>
          </p:cNvSpPr>
          <p:nvPr>
            <p:ph type="sldNum" sz="quarter" idx="5"/>
          </p:nvPr>
        </p:nvSpPr>
        <p:spPr/>
        <p:txBody>
          <a:bodyPr/>
          <a:lstStyle/>
          <a:p>
            <a:fld id="{E33A13B3-A3CB-4EE5-AF82-764F8AB15C65}" type="slidenum">
              <a:rPr lang="en-US" altLang="ja-JP" smtClean="0"/>
              <a:pPr/>
              <a:t>14</a:t>
            </a:fld>
            <a:endParaRPr lang="ja-JP" altLang="en-US" dirty="0"/>
          </a:p>
        </p:txBody>
      </p:sp>
    </p:spTree>
    <p:extLst>
      <p:ext uri="{BB962C8B-B14F-4D97-AF65-F5344CB8AC3E}">
        <p14:creationId xmlns:p14="http://schemas.microsoft.com/office/powerpoint/2010/main" val="16981509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ts val="1400"/>
              </a:lnSpc>
              <a:spcAft>
                <a:spcPts val="800"/>
              </a:spcAft>
              <a:buFont typeface="Arial" panose="020B0604020202020204" pitchFamily="34" charset="0"/>
              <a:buChar char="•"/>
              <a:tabLst>
                <a:tab pos="457200" algn="l"/>
              </a:tabLst>
            </a:pPr>
            <a:r>
              <a:rPr lang="ja-JP" altLang="ja-JP" sz="1200" kern="0" dirty="0">
                <a:effectLst/>
                <a:latin typeface="游明朝" panose="02020400000000000000" pitchFamily="18" charset="-128"/>
                <a:ea typeface="Meiryo UI" panose="020B0604030504040204" pitchFamily="50" charset="-128"/>
                <a:cs typeface="ＭＳ Ｐゴシック" panose="020B0600070205080204" pitchFamily="50" charset="-128"/>
              </a:rPr>
              <a:t>次に中期計画課題の進捗評価です。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計画された中期タスクの多くが完了しているか、計画されたタイムスケールに向かって進行中です。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342900" lvl="0" indent="-342900">
              <a:lnSpc>
                <a:spcPts val="1400"/>
              </a:lnSpc>
              <a:spcAft>
                <a:spcPts val="800"/>
              </a:spcAft>
              <a:buFont typeface="Arial" panose="020B0604020202020204" pitchFamily="34" charset="0"/>
              <a:buChar char="•"/>
              <a:tabLst>
                <a:tab pos="457200" algn="l"/>
              </a:tabLst>
            </a:pP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キャンセルされたタスクはありませんが、</a:t>
            </a:r>
            <a:r>
              <a:rPr lang="en-GB"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ITUK</a:t>
            </a:r>
            <a:r>
              <a:rPr lang="ja-JP" altLang="ja-JP" sz="1200" kern="1200" dirty="0">
                <a:solidFill>
                  <a:srgbClr val="000000"/>
                </a:solidFill>
                <a:effectLst/>
                <a:latin typeface="游明朝" panose="02020400000000000000" pitchFamily="18" charset="-128"/>
                <a:ea typeface="Meiryo UI" panose="020B0604030504040204" pitchFamily="50" charset="-128"/>
                <a:cs typeface="ＭＳ Ｐゴシック" panose="020B0600070205080204" pitchFamily="50" charset="-128"/>
              </a:rPr>
              <a:t>の直接管理外の理由により、いくつかのイニシアチブが遅れています。</a:t>
            </a:r>
            <a:endParaRPr lang="ja-JP" altLang="ja-JP" sz="11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55DCA07E-93C1-4B11-B3C8-F89DF3618FF9}" type="slidenum">
              <a:rPr lang="en-GB" smtClean="0"/>
              <a:t>15</a:t>
            </a:fld>
            <a:endParaRPr lang="en-GB"/>
          </a:p>
        </p:txBody>
      </p:sp>
    </p:spTree>
    <p:extLst>
      <p:ext uri="{BB962C8B-B14F-4D97-AF65-F5344CB8AC3E}">
        <p14:creationId xmlns:p14="http://schemas.microsoft.com/office/powerpoint/2010/main" val="31661813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5DCA07E-93C1-4B11-B3C8-F89DF3618FF9}" type="slidenum">
              <a:rPr lang="en-GB" smtClean="0"/>
              <a:t>16</a:t>
            </a:fld>
            <a:endParaRPr lang="en-GB"/>
          </a:p>
        </p:txBody>
      </p:sp>
    </p:spTree>
    <p:extLst>
      <p:ext uri="{BB962C8B-B14F-4D97-AF65-F5344CB8AC3E}">
        <p14:creationId xmlns:p14="http://schemas.microsoft.com/office/powerpoint/2010/main" val="16132634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5DCA07E-93C1-4B11-B3C8-F89DF3618FF9}" type="slidenum">
              <a:rPr lang="en-GB" smtClean="0"/>
              <a:t>17</a:t>
            </a:fld>
            <a:endParaRPr lang="en-GB"/>
          </a:p>
        </p:txBody>
      </p:sp>
    </p:spTree>
    <p:extLst>
      <p:ext uri="{BB962C8B-B14F-4D97-AF65-F5344CB8AC3E}">
        <p14:creationId xmlns:p14="http://schemas.microsoft.com/office/powerpoint/2010/main" val="38628042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5DCA07E-93C1-4B11-B3C8-F89DF3618FF9}" type="slidenum">
              <a:rPr lang="en-GB" smtClean="0"/>
              <a:t>18</a:t>
            </a:fld>
            <a:endParaRPr lang="en-GB"/>
          </a:p>
        </p:txBody>
      </p:sp>
    </p:spTree>
    <p:extLst>
      <p:ext uri="{BB962C8B-B14F-4D97-AF65-F5344CB8AC3E}">
        <p14:creationId xmlns:p14="http://schemas.microsoft.com/office/powerpoint/2010/main" val="13953376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私からの報告は以上です。</a:t>
            </a:r>
            <a:endParaRPr kumimoji="1" lang="en-US" altLang="ja-JP" dirty="0"/>
          </a:p>
          <a:p>
            <a:r>
              <a:rPr kumimoji="1" lang="ja-JP" altLang="en-US" dirty="0"/>
              <a:t>以降のページは参考資料になります。</a:t>
            </a:r>
            <a:endParaRPr kumimoji="1" lang="en-US" altLang="ja-JP" dirty="0"/>
          </a:p>
          <a:p>
            <a:r>
              <a:rPr kumimoji="1" lang="ja-JP" altLang="en-US" dirty="0"/>
              <a:t>ありがとうございました。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55DCA07E-93C1-4B11-B3C8-F89DF3618FF9}" type="slidenum">
              <a:rPr lang="en-GB" smtClean="0"/>
              <a:t>19</a:t>
            </a:fld>
            <a:endParaRPr lang="en-GB"/>
          </a:p>
        </p:txBody>
      </p:sp>
    </p:spTree>
    <p:extLst>
      <p:ext uri="{BB962C8B-B14F-4D97-AF65-F5344CB8AC3E}">
        <p14:creationId xmlns:p14="http://schemas.microsoft.com/office/powerpoint/2010/main" val="42529428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EF596-C467-E1D8-D2A2-E9009644B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35288-8A5F-994E-42E3-834E7237A8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BCA0E0-28CD-BDEA-1476-8B10AB61E859}"/>
              </a:ext>
            </a:extLst>
          </p:cNvPr>
          <p:cNvSpPr>
            <a:spLocks noGrp="1"/>
          </p:cNvSpPr>
          <p:nvPr>
            <p:ph type="body" idx="1"/>
          </p:nvPr>
        </p:nvSpPr>
        <p:spPr/>
        <p:txBody>
          <a:bodyPr/>
          <a:lstStyle/>
          <a:p>
            <a:pPr marL="174708" indent="-174708">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D79F4F59-1633-78E2-3CD8-BA3FEBBF4E22}"/>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A70E1087-D66A-494B-9FA2-986DCE6108CB}" type="slidenum">
              <a:rPr kumimoji="0" lang="en-GB" sz="1000" b="0" i="0" u="none" strike="noStrike" kern="1200" cap="none" spc="0" normalizeH="0" baseline="0" noProof="0">
                <a:ln>
                  <a:noFill/>
                </a:ln>
                <a:solidFill>
                  <a:srgbClr val="000000"/>
                </a:solidFill>
                <a:effectLst/>
                <a:uLnTx/>
                <a:uFillTx/>
                <a:latin typeface="Meiryo"/>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20</a:t>
            </a:fld>
            <a:endParaRPr kumimoji="0" lang="en-GB" sz="1000" b="0" i="0" u="none" strike="noStrike" kern="1200" cap="none" spc="0" normalizeH="0" baseline="0" noProof="0">
              <a:ln>
                <a:noFill/>
              </a:ln>
              <a:solidFill>
                <a:srgbClr val="000000"/>
              </a:solidFill>
              <a:effectLst/>
              <a:uLnTx/>
              <a:uFillTx/>
              <a:latin typeface="Meiryo"/>
              <a:ea typeface="+mn-ea"/>
              <a:cs typeface="+mn-cs"/>
            </a:endParaRPr>
          </a:p>
        </p:txBody>
      </p:sp>
    </p:spTree>
    <p:extLst>
      <p:ext uri="{BB962C8B-B14F-4D97-AF65-F5344CB8AC3E}">
        <p14:creationId xmlns:p14="http://schemas.microsoft.com/office/powerpoint/2010/main" val="40643151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167C6-E452-0CDD-513A-24B0BAABA0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055FEC-0800-3C0D-A50C-05DCED94D0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0C5F23-122A-9DAF-5AF7-F45DC3F14E4B}"/>
              </a:ext>
            </a:extLst>
          </p:cNvPr>
          <p:cNvSpPr>
            <a:spLocks noGrp="1"/>
          </p:cNvSpPr>
          <p:nvPr>
            <p:ph type="body" idx="1"/>
          </p:nvPr>
        </p:nvSpPr>
        <p:spPr/>
        <p:txBody>
          <a:bodyPr/>
          <a:lstStyle/>
          <a:p>
            <a:pPr marL="174708" indent="-174708">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A35F42A0-7AAF-C1DD-79F0-80681AFC3B8D}"/>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A70E1087-D66A-494B-9FA2-986DCE6108CB}" type="slidenum">
              <a:rPr kumimoji="0" lang="en-GB" sz="1000" b="0" i="0" u="none" strike="noStrike" kern="1200" cap="none" spc="0" normalizeH="0" baseline="0" noProof="0">
                <a:ln>
                  <a:noFill/>
                </a:ln>
                <a:solidFill>
                  <a:srgbClr val="000000"/>
                </a:solidFill>
                <a:effectLst/>
                <a:uLnTx/>
                <a:uFillTx/>
                <a:latin typeface="Meiryo"/>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21</a:t>
            </a:fld>
            <a:endParaRPr kumimoji="0" lang="en-GB" sz="1000" b="0" i="0" u="none" strike="noStrike" kern="1200" cap="none" spc="0" normalizeH="0" baseline="0" noProof="0">
              <a:ln>
                <a:noFill/>
              </a:ln>
              <a:solidFill>
                <a:srgbClr val="000000"/>
              </a:solidFill>
              <a:effectLst/>
              <a:uLnTx/>
              <a:uFillTx/>
              <a:latin typeface="Meiryo"/>
              <a:ea typeface="+mn-ea"/>
              <a:cs typeface="+mn-cs"/>
            </a:endParaRPr>
          </a:p>
        </p:txBody>
      </p:sp>
    </p:spTree>
    <p:extLst>
      <p:ext uri="{BB962C8B-B14F-4D97-AF65-F5344CB8AC3E}">
        <p14:creationId xmlns:p14="http://schemas.microsoft.com/office/powerpoint/2010/main" val="27206397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EF596-C467-E1D8-D2A2-E9009644B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35288-8A5F-994E-42E3-834E7237A8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BCA0E0-28CD-BDEA-1476-8B10AB61E859}"/>
              </a:ext>
            </a:extLst>
          </p:cNvPr>
          <p:cNvSpPr>
            <a:spLocks noGrp="1"/>
          </p:cNvSpPr>
          <p:nvPr>
            <p:ph type="body" idx="1"/>
          </p:nvPr>
        </p:nvSpPr>
        <p:spPr/>
        <p:txBody>
          <a:bodyPr/>
          <a:lstStyle/>
          <a:p>
            <a:pPr marL="174708" indent="-174708">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D79F4F59-1633-78E2-3CD8-BA3FEBBF4E22}"/>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A70E1087-D66A-494B-9FA2-986DCE6108CB}" type="slidenum">
              <a:rPr kumimoji="0" lang="en-GB" sz="1000" b="0" i="0" u="none" strike="noStrike" kern="1200" cap="none" spc="0" normalizeH="0" baseline="0" noProof="0">
                <a:ln>
                  <a:noFill/>
                </a:ln>
                <a:solidFill>
                  <a:srgbClr val="000000"/>
                </a:solidFill>
                <a:effectLst/>
                <a:uLnTx/>
                <a:uFillTx/>
                <a:latin typeface="Meiryo"/>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22</a:t>
            </a:fld>
            <a:endParaRPr kumimoji="0" lang="en-GB" sz="1000" b="0" i="0" u="none" strike="noStrike" kern="1200" cap="none" spc="0" normalizeH="0" baseline="0" noProof="0">
              <a:ln>
                <a:noFill/>
              </a:ln>
              <a:solidFill>
                <a:srgbClr val="000000"/>
              </a:solidFill>
              <a:effectLst/>
              <a:uLnTx/>
              <a:uFillTx/>
              <a:latin typeface="Meiryo"/>
              <a:ea typeface="+mn-ea"/>
              <a:cs typeface="+mn-cs"/>
            </a:endParaRPr>
          </a:p>
        </p:txBody>
      </p:sp>
    </p:spTree>
    <p:extLst>
      <p:ext uri="{BB962C8B-B14F-4D97-AF65-F5344CB8AC3E}">
        <p14:creationId xmlns:p14="http://schemas.microsoft.com/office/powerpoint/2010/main" val="40643151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5DCA07E-93C1-4B11-B3C8-F89DF3618FF9}" type="slidenum">
              <a:rPr lang="en-GB" smtClean="0"/>
              <a:t>23</a:t>
            </a:fld>
            <a:endParaRPr lang="en-GB"/>
          </a:p>
        </p:txBody>
      </p:sp>
    </p:spTree>
    <p:extLst>
      <p:ext uri="{BB962C8B-B14F-4D97-AF65-F5344CB8AC3E}">
        <p14:creationId xmlns:p14="http://schemas.microsoft.com/office/powerpoint/2010/main" val="16411123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GB" dirty="0"/>
          </a:p>
          <a:p>
            <a:pPr marL="171450" indent="-171450">
              <a:buFont typeface="Arial" panose="020B0604020202020204" pitchFamily="34" charset="0"/>
              <a:buChar char="•"/>
            </a:pPr>
            <a:endParaRPr lang="en-GB" dirty="0"/>
          </a:p>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55DCA07E-93C1-4B11-B3C8-F89DF3618FF9}" type="slidenum">
              <a:rPr lang="en-GB" smtClean="0"/>
              <a:t>24</a:t>
            </a:fld>
            <a:endParaRPr lang="en-GB"/>
          </a:p>
        </p:txBody>
      </p:sp>
    </p:spTree>
    <p:extLst>
      <p:ext uri="{BB962C8B-B14F-4D97-AF65-F5344CB8AC3E}">
        <p14:creationId xmlns:p14="http://schemas.microsoft.com/office/powerpoint/2010/main" val="13321745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5DCA07E-93C1-4B11-B3C8-F89DF3618FF9}" type="slidenum">
              <a:rPr lang="en-GB" smtClean="0"/>
              <a:t>25</a:t>
            </a:fld>
            <a:endParaRPr lang="en-GB"/>
          </a:p>
        </p:txBody>
      </p:sp>
    </p:spTree>
    <p:extLst>
      <p:ext uri="{BB962C8B-B14F-4D97-AF65-F5344CB8AC3E}">
        <p14:creationId xmlns:p14="http://schemas.microsoft.com/office/powerpoint/2010/main" val="22860655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5DCA07E-93C1-4B11-B3C8-F89DF3618FF9}" type="slidenum">
              <a:rPr lang="en-GB" smtClean="0"/>
              <a:t>26</a:t>
            </a:fld>
            <a:endParaRPr lang="en-GB"/>
          </a:p>
        </p:txBody>
      </p:sp>
    </p:spTree>
    <p:extLst>
      <p:ext uri="{BB962C8B-B14F-4D97-AF65-F5344CB8AC3E}">
        <p14:creationId xmlns:p14="http://schemas.microsoft.com/office/powerpoint/2010/main" val="29488729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5DCA07E-93C1-4B11-B3C8-F89DF3618FF9}" type="slidenum">
              <a:rPr lang="en-GB" smtClean="0"/>
              <a:t>27</a:t>
            </a:fld>
            <a:endParaRPr lang="en-GB"/>
          </a:p>
        </p:txBody>
      </p:sp>
    </p:spTree>
    <p:extLst>
      <p:ext uri="{BB962C8B-B14F-4D97-AF65-F5344CB8AC3E}">
        <p14:creationId xmlns:p14="http://schemas.microsoft.com/office/powerpoint/2010/main" val="7348931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5DCA07E-93C1-4B11-B3C8-F89DF3618FF9}" type="slidenum">
              <a:rPr lang="en-GB" smtClean="0"/>
              <a:t>28</a:t>
            </a:fld>
            <a:endParaRPr lang="en-GB"/>
          </a:p>
        </p:txBody>
      </p:sp>
    </p:spTree>
    <p:extLst>
      <p:ext uri="{BB962C8B-B14F-4D97-AF65-F5344CB8AC3E}">
        <p14:creationId xmlns:p14="http://schemas.microsoft.com/office/powerpoint/2010/main" val="26234083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5DCA07E-93C1-4B11-B3C8-F89DF3618FF9}" type="slidenum">
              <a:rPr lang="en-GB" smtClean="0"/>
              <a:t>29</a:t>
            </a:fld>
            <a:endParaRPr lang="en-GB"/>
          </a:p>
        </p:txBody>
      </p:sp>
    </p:spTree>
    <p:extLst>
      <p:ext uri="{BB962C8B-B14F-4D97-AF65-F5344CB8AC3E}">
        <p14:creationId xmlns:p14="http://schemas.microsoft.com/office/powerpoint/2010/main" val="29775252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5DCA07E-93C1-4B11-B3C8-F89DF3618FF9}" type="slidenum">
              <a:rPr lang="en-GB" smtClean="0"/>
              <a:t>30</a:t>
            </a:fld>
            <a:endParaRPr lang="en-GB"/>
          </a:p>
        </p:txBody>
      </p:sp>
    </p:spTree>
    <p:extLst>
      <p:ext uri="{BB962C8B-B14F-4D97-AF65-F5344CB8AC3E}">
        <p14:creationId xmlns:p14="http://schemas.microsoft.com/office/powerpoint/2010/main" val="11440703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5DCA07E-93C1-4B11-B3C8-F89DF3618FF9}" type="slidenum">
              <a:rPr lang="en-GB" smtClean="0"/>
              <a:t>31</a:t>
            </a:fld>
            <a:endParaRPr lang="en-GB"/>
          </a:p>
        </p:txBody>
      </p:sp>
    </p:spTree>
    <p:extLst>
      <p:ext uri="{BB962C8B-B14F-4D97-AF65-F5344CB8AC3E}">
        <p14:creationId xmlns:p14="http://schemas.microsoft.com/office/powerpoint/2010/main" val="147900625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6.xml"/><Relationship Id="rId7" Type="http://schemas.openxmlformats.org/officeDocument/2006/relationships/image" Target="../media/image1.sv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slideMaster" Target="../slideMasters/slideMaster1.xml"/><Relationship Id="rId5" Type="http://schemas.openxmlformats.org/officeDocument/2006/relationships/tags" Target="../tags/tag8.xml"/><Relationship Id="rId4" Type="http://schemas.openxmlformats.org/officeDocument/2006/relationships/tags" Target="../tags/tag7.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6.xml"/><Relationship Id="rId3" Type="http://schemas.openxmlformats.org/officeDocument/2006/relationships/tags" Target="../tags/tag11.xml"/><Relationship Id="rId7" Type="http://schemas.openxmlformats.org/officeDocument/2006/relationships/tags" Target="../tags/tag15.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10" Type="http://schemas.openxmlformats.org/officeDocument/2006/relationships/image" Target="../media/image3.svg"/><Relationship Id="rId4" Type="http://schemas.openxmlformats.org/officeDocument/2006/relationships/tags" Target="../tags/tag12.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24.xml"/><Relationship Id="rId3" Type="http://schemas.openxmlformats.org/officeDocument/2006/relationships/tags" Target="../tags/tag19.xml"/><Relationship Id="rId7" Type="http://schemas.openxmlformats.org/officeDocument/2006/relationships/tags" Target="../tags/tag2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10" Type="http://schemas.openxmlformats.org/officeDocument/2006/relationships/image" Target="../media/image3.svg"/><Relationship Id="rId4" Type="http://schemas.openxmlformats.org/officeDocument/2006/relationships/tags" Target="../tags/tag20.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27.xml"/><Relationship Id="rId7" Type="http://schemas.openxmlformats.org/officeDocument/2006/relationships/slideMaster" Target="../slideMasters/slideMaster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9"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8.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image" Target="../media/image2.svg"/><Relationship Id="rId5" Type="http://schemas.openxmlformats.org/officeDocument/2006/relationships/tags" Target="../tags/tag35.xml"/><Relationship Id="rId10" Type="http://schemas.openxmlformats.org/officeDocument/2006/relationships/slideMaster" Target="../slideMasters/slideMaster1.xml"/><Relationship Id="rId4" Type="http://schemas.openxmlformats.org/officeDocument/2006/relationships/tags" Target="../tags/tag34.xml"/><Relationship Id="rId9" Type="http://schemas.openxmlformats.org/officeDocument/2006/relationships/tags" Target="../tags/tag39.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42.xml"/><Relationship Id="rId7" Type="http://schemas.openxmlformats.org/officeDocument/2006/relationships/slideMaster" Target="../slideMasters/slideMaster1.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5" Type="http://schemas.openxmlformats.org/officeDocument/2006/relationships/tags" Target="../tags/tag44.xml"/><Relationship Id="rId10" Type="http://schemas.openxmlformats.org/officeDocument/2006/relationships/image" Target="../media/image3.svg"/><Relationship Id="rId4" Type="http://schemas.openxmlformats.org/officeDocument/2006/relationships/tags" Target="../tags/tag43.xml"/><Relationship Id="rId9"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tags" Target="../tags/tag48.xml"/><Relationship Id="rId7"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5" Type="http://schemas.openxmlformats.org/officeDocument/2006/relationships/tags" Target="../tags/tag50.xml"/><Relationship Id="rId10" Type="http://schemas.openxmlformats.org/officeDocument/2006/relationships/image" Target="../media/image3.svg"/><Relationship Id="rId4" Type="http://schemas.openxmlformats.org/officeDocument/2006/relationships/tags" Target="../tags/tag49.xml"/><Relationship Id="rId9"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54.xml"/><Relationship Id="rId7"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5" Type="http://schemas.openxmlformats.org/officeDocument/2006/relationships/tags" Target="../tags/tag56.xml"/><Relationship Id="rId10" Type="http://schemas.openxmlformats.org/officeDocument/2006/relationships/image" Target="../media/image3.svg"/><Relationship Id="rId4" Type="http://schemas.openxmlformats.org/officeDocument/2006/relationships/tags" Target="../tags/tag55.xml"/><Relationship Id="rId9"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tags" Target="../tags/tag60.xml"/><Relationship Id="rId7" Type="http://schemas.openxmlformats.org/officeDocument/2006/relationships/slideMaster" Target="../slideMasters/slideMaster1.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tags" Target="../tags/tag63.xml"/><Relationship Id="rId5" Type="http://schemas.openxmlformats.org/officeDocument/2006/relationships/tags" Target="../tags/tag62.xml"/><Relationship Id="rId10" Type="http://schemas.openxmlformats.org/officeDocument/2006/relationships/image" Target="../media/image3.svg"/><Relationship Id="rId4" Type="http://schemas.openxmlformats.org/officeDocument/2006/relationships/tags" Target="../tags/tag61.xml"/><Relationship Id="rId9"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1.svg"/><Relationship Id="rId5" Type="http://schemas.openxmlformats.org/officeDocument/2006/relationships/slideMaster" Target="../slideMasters/slideMaster1.xml"/><Relationship Id="rId4" Type="http://schemas.openxmlformats.org/officeDocument/2006/relationships/tags" Target="../tags/tag67.xml"/></Relationships>
</file>

<file path=ppt/slideLayouts/_rels/slideLayout1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77.xml"/><Relationship Id="rId7" Type="http://schemas.openxmlformats.org/officeDocument/2006/relationships/tags" Target="../tags/tag81.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5.xml"/><Relationship Id="rId1" Type="http://schemas.openxmlformats.org/officeDocument/2006/relationships/tags" Target="../tags/tag84.xml"/><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88.xml"/><Relationship Id="rId7" Type="http://schemas.openxmlformats.org/officeDocument/2006/relationships/image" Target="../media/image9.svg"/><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slideMaster" Target="../slideMasters/slideMaster1.xml"/><Relationship Id="rId5" Type="http://schemas.openxmlformats.org/officeDocument/2006/relationships/tags" Target="../tags/tag90.xml"/><Relationship Id="rId4" Type="http://schemas.openxmlformats.org/officeDocument/2006/relationships/tags" Target="../tags/tag89.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93.xml"/><Relationship Id="rId7" Type="http://schemas.openxmlformats.org/officeDocument/2006/relationships/image" Target="../media/image10.sv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slideMaster" Target="../slideMasters/slideMaster1.xml"/><Relationship Id="rId5" Type="http://schemas.openxmlformats.org/officeDocument/2006/relationships/tags" Target="../tags/tag95.xml"/><Relationship Id="rId4" Type="http://schemas.openxmlformats.org/officeDocument/2006/relationships/tags" Target="../tags/tag94.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 Id="rId5" Type="http://schemas.openxmlformats.org/officeDocument/2006/relationships/slideMaster" Target="../slideMasters/slideMaster1.xml"/><Relationship Id="rId4" Type="http://schemas.openxmlformats.org/officeDocument/2006/relationships/tags" Target="../tags/tag99.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slideMaster" Target="../slideMasters/slideMaster1.xml"/><Relationship Id="rId4" Type="http://schemas.openxmlformats.org/officeDocument/2006/relationships/tags" Target="../tags/tag103.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slideMaster" Target="../slideMasters/slideMaster1.xml"/><Relationship Id="rId5" Type="http://schemas.openxmlformats.org/officeDocument/2006/relationships/tags" Target="../tags/tag108.xml"/><Relationship Id="rId4" Type="http://schemas.openxmlformats.org/officeDocument/2006/relationships/tags" Target="../tags/tag107.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slideMaster" Target="../slideMasters/slideMaster1.xml"/><Relationship Id="rId5" Type="http://schemas.openxmlformats.org/officeDocument/2006/relationships/tags" Target="../tags/tag113.xml"/><Relationship Id="rId4" Type="http://schemas.openxmlformats.org/officeDocument/2006/relationships/tags" Target="../tags/tag11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 Id="rId5" Type="http://schemas.openxmlformats.org/officeDocument/2006/relationships/slideMaster" Target="../slideMasters/slideMaster1.xml"/><Relationship Id="rId4" Type="http://schemas.openxmlformats.org/officeDocument/2006/relationships/tags" Target="../tags/tag117.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 Id="rId5" Type="http://schemas.openxmlformats.org/officeDocument/2006/relationships/slideMaster" Target="../slideMasters/slideMaster1.xml"/><Relationship Id="rId4" Type="http://schemas.openxmlformats.org/officeDocument/2006/relationships/tags" Target="../tags/tag121.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 Id="rId5" Type="http://schemas.openxmlformats.org/officeDocument/2006/relationships/slideMaster" Target="../slideMasters/slideMaster1.xml"/><Relationship Id="rId4" Type="http://schemas.openxmlformats.org/officeDocument/2006/relationships/tags" Target="../tags/tag125.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 Id="rId5" Type="http://schemas.openxmlformats.org/officeDocument/2006/relationships/slideMaster" Target="../slideMasters/slideMaster1.xml"/><Relationship Id="rId4" Type="http://schemas.openxmlformats.org/officeDocument/2006/relationships/tags" Target="../tags/tag129.xml"/></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1.xml"/><Relationship Id="rId1" Type="http://schemas.openxmlformats.org/officeDocument/2006/relationships/tags" Target="../tags/tag130.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134.xml"/><Relationship Id="rId7" Type="http://schemas.openxmlformats.org/officeDocument/2006/relationships/slideMaster" Target="../slideMasters/slideMaster1.xml"/><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 Id="rId5" Type="http://schemas.openxmlformats.org/officeDocument/2006/relationships/slideMaster" Target="../slideMasters/slideMaster1.xml"/><Relationship Id="rId4" Type="http://schemas.openxmlformats.org/officeDocument/2006/relationships/tags" Target="../tags/tag141.xml"/></Relationships>
</file>

<file path=ppt/slideLayouts/_rels/slideLayout2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44.xml"/><Relationship Id="rId7" Type="http://schemas.openxmlformats.org/officeDocument/2006/relationships/tags" Target="../tags/tag148.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151.xml"/><Relationship Id="rId7" Type="http://schemas.openxmlformats.org/officeDocument/2006/relationships/slideMaster" Target="../slideMasters/slideMaster1.xml"/><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tags" Target="../tags/tag154.xml"/><Relationship Id="rId5" Type="http://schemas.openxmlformats.org/officeDocument/2006/relationships/tags" Target="../tags/tag153.xml"/><Relationship Id="rId4" Type="http://schemas.openxmlformats.org/officeDocument/2006/relationships/tags" Target="../tags/tag152.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157.xml"/><Relationship Id="rId7" Type="http://schemas.openxmlformats.org/officeDocument/2006/relationships/image" Target="../media/image12.svg"/><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image" Target="../media/image11.svg"/><Relationship Id="rId5" Type="http://schemas.openxmlformats.org/officeDocument/2006/relationships/slideMaster" Target="../slideMasters/slideMaster1.xml"/><Relationship Id="rId4" Type="http://schemas.openxmlformats.org/officeDocument/2006/relationships/tags" Target="../tags/tag158.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161.xml"/><Relationship Id="rId7" Type="http://schemas.openxmlformats.org/officeDocument/2006/relationships/image" Target="../media/image6.svg"/><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image" Target="../media/image11.svg"/><Relationship Id="rId5" Type="http://schemas.openxmlformats.org/officeDocument/2006/relationships/slideMaster" Target="../slideMasters/slideMaster1.xml"/><Relationship Id="rId4" Type="http://schemas.openxmlformats.org/officeDocument/2006/relationships/tags" Target="../tags/tag162.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165.xml"/><Relationship Id="rId7" Type="http://schemas.openxmlformats.org/officeDocument/2006/relationships/image" Target="../media/image12.svg"/><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image" Target="../media/image13.svg"/><Relationship Id="rId5" Type="http://schemas.openxmlformats.org/officeDocument/2006/relationships/slideMaster" Target="../slideMasters/slideMaster1.xml"/><Relationship Id="rId4" Type="http://schemas.openxmlformats.org/officeDocument/2006/relationships/tags" Target="../tags/tag166.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169.xml"/><Relationship Id="rId7" Type="http://schemas.openxmlformats.org/officeDocument/2006/relationships/image" Target="../media/image6.svg"/><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image" Target="../media/image13.svg"/><Relationship Id="rId5" Type="http://schemas.openxmlformats.org/officeDocument/2006/relationships/slideMaster" Target="../slideMasters/slideMaster1.xml"/><Relationship Id="rId4" Type="http://schemas.openxmlformats.org/officeDocument/2006/relationships/tags" Target="../tags/tag170.xml"/></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tags" Target="../tags/tag173.xml"/><Relationship Id="rId7" Type="http://schemas.openxmlformats.org/officeDocument/2006/relationships/slideMaster" Target="../slideMasters/slideMaster1.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tags" Target="../tags/tag176.xml"/><Relationship Id="rId5" Type="http://schemas.openxmlformats.org/officeDocument/2006/relationships/tags" Target="../tags/tag175.xml"/><Relationship Id="rId4" Type="http://schemas.openxmlformats.org/officeDocument/2006/relationships/tags" Target="../tags/tag174.xml"/></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tags" Target="../tags/tag179.xml"/><Relationship Id="rId7" Type="http://schemas.openxmlformats.org/officeDocument/2006/relationships/slideMaster" Target="../slideMasters/slideMaster1.xml"/><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tags" Target="../tags/tag180.xml"/></Relationships>
</file>

<file path=ppt/slideLayouts/_rels/slideLayout36.xml.rels><?xml version="1.0" encoding="UTF-8" standalone="yes"?>
<Relationships xmlns="http://schemas.openxmlformats.org/package/2006/relationships"><Relationship Id="rId8" Type="http://schemas.openxmlformats.org/officeDocument/2006/relationships/tags" Target="../tags/tag190.xml"/><Relationship Id="rId3" Type="http://schemas.openxmlformats.org/officeDocument/2006/relationships/tags" Target="../tags/tag185.xml"/><Relationship Id="rId7" Type="http://schemas.openxmlformats.org/officeDocument/2006/relationships/tags" Target="../tags/tag189.xml"/><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tags" Target="../tags/tag188.xml"/><Relationship Id="rId5" Type="http://schemas.openxmlformats.org/officeDocument/2006/relationships/tags" Target="../tags/tag187.xml"/><Relationship Id="rId10" Type="http://schemas.openxmlformats.org/officeDocument/2006/relationships/image" Target="../media/image5.svg"/><Relationship Id="rId4" Type="http://schemas.openxmlformats.org/officeDocument/2006/relationships/tags" Target="../tags/tag186.xml"/><Relationship Id="rId9"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198.xml"/><Relationship Id="rId3" Type="http://schemas.openxmlformats.org/officeDocument/2006/relationships/tags" Target="../tags/tag193.xml"/><Relationship Id="rId7" Type="http://schemas.openxmlformats.org/officeDocument/2006/relationships/tags" Target="../tags/tag197.xml"/><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tags" Target="../tags/tag196.xml"/><Relationship Id="rId5" Type="http://schemas.openxmlformats.org/officeDocument/2006/relationships/tags" Target="../tags/tag195.xml"/><Relationship Id="rId10" Type="http://schemas.openxmlformats.org/officeDocument/2006/relationships/image" Target="../media/image6.svg"/><Relationship Id="rId4" Type="http://schemas.openxmlformats.org/officeDocument/2006/relationships/tags" Target="../tags/tag194.xml"/><Relationship Id="rId9"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99.xml"/><Relationship Id="rId4" Type="http://schemas.openxmlformats.org/officeDocument/2006/relationships/image" Target="../media/image2.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200.xml"/><Relationship Id="rId4" Type="http://schemas.openxmlformats.org/officeDocument/2006/relationships/image" Target="../media/image15.png"/></Relationships>
</file>

<file path=ppt/slideLayouts/_rels/slideLayout4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3.xml"/><Relationship Id="rId7" Type="http://schemas.openxmlformats.org/officeDocument/2006/relationships/tags" Target="../tags/tag207.xml"/><Relationship Id="rId2" Type="http://schemas.openxmlformats.org/officeDocument/2006/relationships/tags" Target="../tags/tag202.xml"/><Relationship Id="rId1" Type="http://schemas.openxmlformats.org/officeDocument/2006/relationships/tags" Target="../tags/tag201.xml"/><Relationship Id="rId6" Type="http://schemas.openxmlformats.org/officeDocument/2006/relationships/tags" Target="../tags/tag206.xml"/><Relationship Id="rId11" Type="http://schemas.openxmlformats.org/officeDocument/2006/relationships/image" Target="../media/image2.svg"/><Relationship Id="rId5" Type="http://schemas.openxmlformats.org/officeDocument/2006/relationships/tags" Target="../tags/tag205.xml"/><Relationship Id="rId10" Type="http://schemas.openxmlformats.org/officeDocument/2006/relationships/image" Target="../media/image1.svg"/><Relationship Id="rId4" Type="http://schemas.openxmlformats.org/officeDocument/2006/relationships/tags" Target="../tags/tag204.xml"/><Relationship Id="rId9" Type="http://schemas.openxmlformats.org/officeDocument/2006/relationships/image" Target="../media/image16.svg"/></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210.xml"/><Relationship Id="rId7" Type="http://schemas.openxmlformats.org/officeDocument/2006/relationships/slideMaster" Target="../slideMasters/slideMaster1.xml"/><Relationship Id="rId2" Type="http://schemas.openxmlformats.org/officeDocument/2006/relationships/tags" Target="../tags/tag209.xml"/><Relationship Id="rId1" Type="http://schemas.openxmlformats.org/officeDocument/2006/relationships/tags" Target="../tags/tag208.xml"/><Relationship Id="rId6" Type="http://schemas.openxmlformats.org/officeDocument/2006/relationships/tags" Target="../tags/tag213.xml"/><Relationship Id="rId5" Type="http://schemas.openxmlformats.org/officeDocument/2006/relationships/tags" Target="../tags/tag212.xml"/><Relationship Id="rId4" Type="http://schemas.openxmlformats.org/officeDocument/2006/relationships/tags" Target="../tags/tag21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1 Intro - White">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9908C39C-20D9-C1AE-3AF7-BF60ABC2BCDB}"/>
              </a:ext>
            </a:extLst>
          </p:cNvPr>
          <p:cNvSpPr/>
          <p:nvPr userDrawn="1"/>
        </p:nvSpPr>
        <p:spPr>
          <a:xfrm>
            <a:off x="0" y="6383734"/>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sp>
        <p:nvSpPr>
          <p:cNvPr id="2" name="正方形/長方形 1">
            <a:extLst>
              <a:ext uri="{FF2B5EF4-FFF2-40B4-BE49-F238E27FC236}">
                <a16:creationId xmlns:a16="http://schemas.microsoft.com/office/drawing/2014/main" id="{933D07AA-59AE-F6B7-D242-02D2D6FC51A2}"/>
              </a:ext>
            </a:extLst>
          </p:cNvPr>
          <p:cNvSpPr/>
          <p:nvPr userDrawn="1"/>
        </p:nvSpPr>
        <p:spPr>
          <a:xfrm>
            <a:off x="0" y="635635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pic>
        <p:nvPicPr>
          <p:cNvPr id="20" name="Lines locked">
            <a:extLst>
              <a:ext uri="{FF2B5EF4-FFF2-40B4-BE49-F238E27FC236}">
                <a16:creationId xmlns:a16="http://schemas.microsoft.com/office/drawing/2014/main" id="{F67FE508-3830-9902-E356-983AED62310A}"/>
              </a:ext>
            </a:extLst>
          </p:cNvPr>
          <p:cNvPicPr/>
          <p:nvPr userDrawn="1">
            <p:custDataLst>
              <p:tags r:id="rId1"/>
            </p:custDataLst>
          </p:nvPr>
        </p:nvPicPr>
        <p:blipFill>
          <a:blip>
            <a:extLst>
              <a:ext uri="{96DAC541-7B7A-43D3-8B79-37D633B846F1}">
                <asvg:svgBlip xmlns:asvg="http://schemas.microsoft.com/office/drawing/2016/SVG/main" r:embed="rId7"/>
              </a:ext>
            </a:extLst>
          </a:blip>
          <a:stretch>
            <a:fillRect/>
          </a:stretch>
        </p:blipFill>
        <p:spPr>
          <a:xfrm>
            <a:off x="0" y="3697200"/>
            <a:ext cx="12192000" cy="3064803"/>
          </a:xfrm>
          <a:prstGeom prst="rect">
            <a:avLst/>
          </a:prstGeom>
        </p:spPr>
      </p:pic>
      <p:sp>
        <p:nvSpPr>
          <p:cNvPr id="21" name="Title 1">
            <a:extLst>
              <a:ext uri="{FF2B5EF4-FFF2-40B4-BE49-F238E27FC236}">
                <a16:creationId xmlns:a16="http://schemas.microsoft.com/office/drawing/2014/main" id="{E53C9551-6F6E-0A0F-ADB5-07A7CBCB1519}"/>
              </a:ext>
            </a:extLst>
          </p:cNvPr>
          <p:cNvSpPr>
            <a:spLocks noGrp="1"/>
          </p:cNvSpPr>
          <p:nvPr>
            <p:ph type="ctrTitle" hasCustomPrompt="1"/>
            <p:custDataLst>
              <p:tags r:id="rId2"/>
            </p:custDataLst>
          </p:nvPr>
        </p:nvSpPr>
        <p:spPr>
          <a:xfrm>
            <a:off x="523878" y="2059911"/>
            <a:ext cx="8348792" cy="1609862"/>
          </a:xfrm>
        </p:spPr>
        <p:txBody>
          <a:bodyPr anchor="b">
            <a:normAutofit/>
          </a:bodyPr>
          <a:lstStyle>
            <a:lvl1pPr algn="l">
              <a:defRPr sz="4400"/>
            </a:lvl1pPr>
          </a:lstStyle>
          <a:p>
            <a:r>
              <a:rPr lang="ja-JP" altLang="en-US" dirty="0"/>
              <a:t>タイトル</a:t>
            </a:r>
          </a:p>
        </p:txBody>
      </p:sp>
      <p:sp>
        <p:nvSpPr>
          <p:cNvPr id="22" name="Subtitle 2">
            <a:extLst>
              <a:ext uri="{FF2B5EF4-FFF2-40B4-BE49-F238E27FC236}">
                <a16:creationId xmlns:a16="http://schemas.microsoft.com/office/drawing/2014/main" id="{D708CF01-DE81-2B96-B06E-68D3EBBCF511}"/>
              </a:ext>
            </a:extLst>
          </p:cNvPr>
          <p:cNvSpPr>
            <a:spLocks noGrp="1"/>
          </p:cNvSpPr>
          <p:nvPr>
            <p:ph type="subTitle" idx="1" hasCustomPrompt="1"/>
            <p:custDataLst>
              <p:tags r:id="rId3"/>
            </p:custDataLst>
          </p:nvPr>
        </p:nvSpPr>
        <p:spPr>
          <a:xfrm>
            <a:off x="523878" y="4704538"/>
            <a:ext cx="4175713" cy="931026"/>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日付、氏名、もしくはコンテンツ</a:t>
            </a:r>
          </a:p>
        </p:txBody>
      </p:sp>
      <p:grpSp>
        <p:nvGrpSpPr>
          <p:cNvPr id="23" name="LOGO RED">
            <a:extLst>
              <a:ext uri="{FF2B5EF4-FFF2-40B4-BE49-F238E27FC236}">
                <a16:creationId xmlns:a16="http://schemas.microsoft.com/office/drawing/2014/main" id="{A3D21425-E4F5-BA03-474C-634D8486FCC6}"/>
              </a:ext>
            </a:extLst>
          </p:cNvPr>
          <p:cNvGrpSpPr/>
          <p:nvPr userDrawn="1">
            <p:custDataLst>
              <p:tags r:id="rId4"/>
            </p:custDataLst>
          </p:nvPr>
        </p:nvGrpSpPr>
        <p:grpSpPr>
          <a:xfrm>
            <a:off x="454798" y="303421"/>
            <a:ext cx="2025604" cy="352508"/>
            <a:chOff x="3245241" y="3110528"/>
            <a:chExt cx="5696307" cy="991307"/>
          </a:xfrm>
          <a:solidFill>
            <a:srgbClr val="ED1C24"/>
          </a:solidFill>
        </p:grpSpPr>
        <p:sp>
          <p:nvSpPr>
            <p:cNvPr id="24" name="Freeform: Shape 7">
              <a:extLst>
                <a:ext uri="{FF2B5EF4-FFF2-40B4-BE49-F238E27FC236}">
                  <a16:creationId xmlns:a16="http://schemas.microsoft.com/office/drawing/2014/main" id="{9CB8B1BA-77D6-DC8F-4FB3-8865EE53647B}"/>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25" name="Freeform: Shape 8">
              <a:extLst>
                <a:ext uri="{FF2B5EF4-FFF2-40B4-BE49-F238E27FC236}">
                  <a16:creationId xmlns:a16="http://schemas.microsoft.com/office/drawing/2014/main" id="{D030864B-0F9B-6746-C7BC-71EADCBCBCB3}"/>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26" name="Freeform: Shape 9">
              <a:extLst>
                <a:ext uri="{FF2B5EF4-FFF2-40B4-BE49-F238E27FC236}">
                  <a16:creationId xmlns:a16="http://schemas.microsoft.com/office/drawing/2014/main" id="{7013969C-746A-E6E4-1BF7-DE8C1165F871}"/>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27" name="Freeform: Shape 10">
              <a:extLst>
                <a:ext uri="{FF2B5EF4-FFF2-40B4-BE49-F238E27FC236}">
                  <a16:creationId xmlns:a16="http://schemas.microsoft.com/office/drawing/2014/main" id="{BBE85AFA-3329-2D8B-E57C-B7BAAB975F69}"/>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28" name="Freeform: Shape 11">
              <a:extLst>
                <a:ext uri="{FF2B5EF4-FFF2-40B4-BE49-F238E27FC236}">
                  <a16:creationId xmlns:a16="http://schemas.microsoft.com/office/drawing/2014/main" id="{802953B5-2C95-1400-CCFC-CA2BE75E6C8C}"/>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29" name="Logo ISUZU GROUP">
            <a:extLst>
              <a:ext uri="{FF2B5EF4-FFF2-40B4-BE49-F238E27FC236}">
                <a16:creationId xmlns:a16="http://schemas.microsoft.com/office/drawing/2014/main" id="{0A1AC8C0-B0DF-5EB5-B8D1-D1B625AF4067}"/>
              </a:ext>
            </a:extLst>
          </p:cNvPr>
          <p:cNvSpPr>
            <a:spLocks noGrp="1"/>
          </p:cNvSpPr>
          <p:nvPr>
            <p:ph type="body" sz="quarter" idx="17" hasCustomPrompt="1"/>
            <p:custDataLst>
              <p:tags r:id="rId5"/>
            </p:custDataLst>
          </p:nvPr>
        </p:nvSpPr>
        <p:spPr>
          <a:xfrm>
            <a:off x="9982197" y="438149"/>
            <a:ext cx="1841501" cy="228403"/>
          </a:xfrm>
          <a:prstGeom prst="rect">
            <a:avLst/>
          </a:prstGeom>
          <a:blipFill>
            <a:blip>
              <a:extLst>
                <a:ext uri="{96DAC541-7B7A-43D3-8B79-37D633B846F1}">
                  <asvg:svgBlip xmlns:asvg="http://schemas.microsoft.com/office/drawing/2016/SVG/main" r:embed="rId8"/>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Tree>
    <p:extLst>
      <p:ext uri="{BB962C8B-B14F-4D97-AF65-F5344CB8AC3E}">
        <p14:creationId xmlns:p14="http://schemas.microsoft.com/office/powerpoint/2010/main" val="9846822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 Intro - Red">
    <p:bg>
      <p:bgPr>
        <a:solidFill>
          <a:schemeClr val="bg1"/>
        </a:solidFill>
        <a:effectLst/>
      </p:bgPr>
    </p:bg>
    <p:spTree>
      <p:nvGrpSpPr>
        <p:cNvPr id="1" name=""/>
        <p:cNvGrpSpPr/>
        <p:nvPr/>
      </p:nvGrpSpPr>
      <p:grpSpPr>
        <a:xfrm>
          <a:off x="0" y="0"/>
          <a:ext cx="0" cy="0"/>
          <a:chOff x="0" y="0"/>
          <a:chExt cx="0" cy="0"/>
        </a:xfrm>
      </p:grpSpPr>
      <p:grpSp>
        <p:nvGrpSpPr>
          <p:cNvPr id="21" name="Swirl Locked">
            <a:extLst>
              <a:ext uri="{FF2B5EF4-FFF2-40B4-BE49-F238E27FC236}">
                <a16:creationId xmlns:a16="http://schemas.microsoft.com/office/drawing/2014/main" id="{04CACB78-F145-CCD3-C94E-42968604B927}"/>
              </a:ext>
            </a:extLst>
          </p:cNvPr>
          <p:cNvGrpSpPr/>
          <p:nvPr userDrawn="1">
            <p:custDataLst>
              <p:tags r:id="rId1"/>
            </p:custDataLst>
          </p:nvPr>
        </p:nvGrpSpPr>
        <p:grpSpPr>
          <a:xfrm>
            <a:off x="0" y="3697200"/>
            <a:ext cx="12193209" cy="3162659"/>
            <a:chOff x="0" y="3699103"/>
            <a:chExt cx="12193209" cy="3162659"/>
          </a:xfrm>
        </p:grpSpPr>
        <p:sp>
          <p:nvSpPr>
            <p:cNvPr id="22" name="Freeform: Shape 4">
              <a:extLst>
                <a:ext uri="{FF2B5EF4-FFF2-40B4-BE49-F238E27FC236}">
                  <a16:creationId xmlns:a16="http://schemas.microsoft.com/office/drawing/2014/main" id="{D2641F76-BA10-207F-18FC-B54093DBB52D}"/>
                </a:ext>
              </a:extLst>
            </p:cNvPr>
            <p:cNvSpPr/>
            <p:nvPr userDrawn="1">
              <p:custDataLst>
                <p:tags r:id="rId6"/>
              </p:custDataLst>
            </p:nvPr>
          </p:nvSpPr>
          <p:spPr>
            <a:xfrm>
              <a:off x="0" y="5985337"/>
              <a:ext cx="12193209" cy="876425"/>
            </a:xfrm>
            <a:custGeom>
              <a:avLst/>
              <a:gdLst>
                <a:gd name="connsiteX0" fmla="*/ 0 w 12193209"/>
                <a:gd name="connsiteY0" fmla="*/ 0 h 876425"/>
                <a:gd name="connsiteX1" fmla="*/ 12193210 w 12193209"/>
                <a:gd name="connsiteY1" fmla="*/ 0 h 876425"/>
                <a:gd name="connsiteX2" fmla="*/ 12193210 w 12193209"/>
                <a:gd name="connsiteY2" fmla="*/ 876426 h 876425"/>
                <a:gd name="connsiteX3" fmla="*/ 0 w 12193209"/>
                <a:gd name="connsiteY3" fmla="*/ 876426 h 876425"/>
              </a:gdLst>
              <a:ahLst/>
              <a:cxnLst>
                <a:cxn ang="0">
                  <a:pos x="connsiteX0" y="connsiteY0"/>
                </a:cxn>
                <a:cxn ang="0">
                  <a:pos x="connsiteX1" y="connsiteY1"/>
                </a:cxn>
                <a:cxn ang="0">
                  <a:pos x="connsiteX2" y="connsiteY2"/>
                </a:cxn>
                <a:cxn ang="0">
                  <a:pos x="connsiteX3" y="connsiteY3"/>
                </a:cxn>
              </a:cxnLst>
              <a:rect l="l" t="t" r="r" b="b"/>
              <a:pathLst>
                <a:path w="12193209" h="876425">
                  <a:moveTo>
                    <a:pt x="0" y="0"/>
                  </a:moveTo>
                  <a:lnTo>
                    <a:pt x="12193210" y="0"/>
                  </a:lnTo>
                  <a:lnTo>
                    <a:pt x="12193210" y="876426"/>
                  </a:lnTo>
                  <a:lnTo>
                    <a:pt x="0" y="876426"/>
                  </a:lnTo>
                  <a:close/>
                </a:path>
              </a:pathLst>
            </a:custGeom>
            <a:solidFill>
              <a:srgbClr val="C74657"/>
            </a:solidFill>
            <a:ln w="0" cap="flat">
              <a:noFill/>
              <a:prstDash val="solid"/>
              <a:miter/>
            </a:ln>
          </p:spPr>
          <p:txBody>
            <a:bodyPr rtlCol="0" anchor="ctr"/>
            <a:lstStyle/>
            <a:p>
              <a:endParaRPr lang="en-US" dirty="0"/>
            </a:p>
          </p:txBody>
        </p:sp>
        <p:sp>
          <p:nvSpPr>
            <p:cNvPr id="23" name="Freeform: Shape 5">
              <a:extLst>
                <a:ext uri="{FF2B5EF4-FFF2-40B4-BE49-F238E27FC236}">
                  <a16:creationId xmlns:a16="http://schemas.microsoft.com/office/drawing/2014/main" id="{F3B74E68-3BB9-E2F0-E168-57BA58530B5D}"/>
                </a:ext>
              </a:extLst>
            </p:cNvPr>
            <p:cNvSpPr/>
            <p:nvPr userDrawn="1">
              <p:custDataLst>
                <p:tags r:id="rId7"/>
              </p:custDataLst>
            </p:nvPr>
          </p:nvSpPr>
          <p:spPr>
            <a:xfrm>
              <a:off x="0" y="5985337"/>
              <a:ext cx="4060191" cy="762033"/>
            </a:xfrm>
            <a:custGeom>
              <a:avLst/>
              <a:gdLst>
                <a:gd name="connsiteX0" fmla="*/ 4060191 w 4060191"/>
                <a:gd name="connsiteY0" fmla="*/ 0 h 762033"/>
                <a:gd name="connsiteX1" fmla="*/ 0 w 4060191"/>
                <a:gd name="connsiteY1" fmla="*/ 762034 h 762033"/>
                <a:gd name="connsiteX2" fmla="*/ 0 w 4060191"/>
                <a:gd name="connsiteY2" fmla="*/ 0 h 762033"/>
                <a:gd name="connsiteX3" fmla="*/ 4060191 w 4060191"/>
                <a:gd name="connsiteY3" fmla="*/ 0 h 762033"/>
              </a:gdLst>
              <a:ahLst/>
              <a:cxnLst>
                <a:cxn ang="0">
                  <a:pos x="connsiteX0" y="connsiteY0"/>
                </a:cxn>
                <a:cxn ang="0">
                  <a:pos x="connsiteX1" y="connsiteY1"/>
                </a:cxn>
                <a:cxn ang="0">
                  <a:pos x="connsiteX2" y="connsiteY2"/>
                </a:cxn>
                <a:cxn ang="0">
                  <a:pos x="connsiteX3" y="connsiteY3"/>
                </a:cxn>
              </a:cxnLst>
              <a:rect l="l" t="t" r="r" b="b"/>
              <a:pathLst>
                <a:path w="4060191" h="762033">
                  <a:moveTo>
                    <a:pt x="4060191" y="0"/>
                  </a:moveTo>
                  <a:cubicBezTo>
                    <a:pt x="2770286" y="437272"/>
                    <a:pt x="1364106" y="709475"/>
                    <a:pt x="0" y="762034"/>
                  </a:cubicBezTo>
                  <a:lnTo>
                    <a:pt x="0" y="0"/>
                  </a:lnTo>
                  <a:lnTo>
                    <a:pt x="4060191" y="0"/>
                  </a:lnTo>
                  <a:close/>
                </a:path>
              </a:pathLst>
            </a:custGeom>
            <a:solidFill>
              <a:srgbClr val="B5091F"/>
            </a:solidFill>
            <a:ln w="0" cap="flat">
              <a:noFill/>
              <a:prstDash val="solid"/>
              <a:miter/>
            </a:ln>
          </p:spPr>
          <p:txBody>
            <a:bodyPr rtlCol="0" anchor="ctr"/>
            <a:lstStyle/>
            <a:p>
              <a:endParaRPr lang="en-US" dirty="0"/>
            </a:p>
          </p:txBody>
        </p:sp>
        <p:sp>
          <p:nvSpPr>
            <p:cNvPr id="24" name="Freeform: Shape 15">
              <a:extLst>
                <a:ext uri="{FF2B5EF4-FFF2-40B4-BE49-F238E27FC236}">
                  <a16:creationId xmlns:a16="http://schemas.microsoft.com/office/drawing/2014/main" id="{BA00D4DA-1DBD-CD92-6AEE-A77F06D8515E}"/>
                </a:ext>
              </a:extLst>
            </p:cNvPr>
            <p:cNvSpPr/>
            <p:nvPr userDrawn="1">
              <p:custDataLst>
                <p:tags r:id="rId8"/>
              </p:custDataLst>
            </p:nvPr>
          </p:nvSpPr>
          <p:spPr>
            <a:xfrm>
              <a:off x="4060191" y="3699103"/>
              <a:ext cx="8133018" cy="2286234"/>
            </a:xfrm>
            <a:custGeom>
              <a:avLst/>
              <a:gdLst>
                <a:gd name="connsiteX0" fmla="*/ 1892113 w 8133018"/>
                <a:gd name="connsiteY0" fmla="*/ 2286235 h 2286234"/>
                <a:gd name="connsiteX1" fmla="*/ 8133019 w 8133018"/>
                <a:gd name="connsiteY1" fmla="*/ 2286235 h 2286234"/>
                <a:gd name="connsiteX2" fmla="*/ 8133019 w 8133018"/>
                <a:gd name="connsiteY2" fmla="*/ 0 h 2286234"/>
                <a:gd name="connsiteX3" fmla="*/ 4071752 w 8133018"/>
                <a:gd name="connsiteY3" fmla="*/ 762034 h 2286234"/>
                <a:gd name="connsiteX4" fmla="*/ 0 w 8133018"/>
                <a:gd name="connsiteY4" fmla="*/ 2286235 h 2286234"/>
                <a:gd name="connsiteX5" fmla="*/ 1892113 w 8133018"/>
                <a:gd name="connsiteY5" fmla="*/ 2286235 h 2286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8" h="2286234">
                  <a:moveTo>
                    <a:pt x="1892113" y="2286235"/>
                  </a:moveTo>
                  <a:lnTo>
                    <a:pt x="8133019" y="2286235"/>
                  </a:lnTo>
                  <a:cubicBezTo>
                    <a:pt x="8133019" y="2286235"/>
                    <a:pt x="8133019" y="0"/>
                    <a:pt x="8133019" y="0"/>
                  </a:cubicBezTo>
                  <a:cubicBezTo>
                    <a:pt x="6687319" y="72587"/>
                    <a:pt x="5326977" y="387536"/>
                    <a:pt x="4071752" y="762034"/>
                  </a:cubicBezTo>
                  <a:cubicBezTo>
                    <a:pt x="2715039" y="1166910"/>
                    <a:pt x="771578" y="2024651"/>
                    <a:pt x="0" y="2286235"/>
                  </a:cubicBezTo>
                  <a:lnTo>
                    <a:pt x="1892113" y="2286235"/>
                  </a:lnTo>
                  <a:close/>
                </a:path>
              </a:pathLst>
            </a:custGeom>
            <a:solidFill>
              <a:srgbClr val="D36B79"/>
            </a:solidFill>
            <a:ln w="0" cap="flat">
              <a:noFill/>
              <a:prstDash val="solid"/>
              <a:miter/>
            </a:ln>
          </p:spPr>
          <p:txBody>
            <a:bodyPr rtlCol="0" anchor="ctr"/>
            <a:lstStyle/>
            <a:p>
              <a:endParaRPr lang="en-US" dirty="0"/>
            </a:p>
          </p:txBody>
        </p:sp>
      </p:grpSp>
      <p:sp>
        <p:nvSpPr>
          <p:cNvPr id="25" name="Title 1">
            <a:extLst>
              <a:ext uri="{FF2B5EF4-FFF2-40B4-BE49-F238E27FC236}">
                <a16:creationId xmlns:a16="http://schemas.microsoft.com/office/drawing/2014/main" id="{BC6DCA0A-34BC-3633-D2DC-4B1A1F15DCF9}"/>
              </a:ext>
            </a:extLst>
          </p:cNvPr>
          <p:cNvSpPr>
            <a:spLocks noGrp="1"/>
          </p:cNvSpPr>
          <p:nvPr>
            <p:ph type="ctrTitle" hasCustomPrompt="1"/>
            <p:custDataLst>
              <p:tags r:id="rId2"/>
            </p:custDataLst>
          </p:nvPr>
        </p:nvSpPr>
        <p:spPr>
          <a:xfrm>
            <a:off x="523878" y="2059911"/>
            <a:ext cx="8348792" cy="1609862"/>
          </a:xfrm>
        </p:spPr>
        <p:txBody>
          <a:bodyPr anchor="b">
            <a:normAutofit/>
          </a:bodyPr>
          <a:lstStyle>
            <a:lvl1pPr algn="l">
              <a:defRPr sz="4400"/>
            </a:lvl1pPr>
          </a:lstStyle>
          <a:p>
            <a:r>
              <a:rPr lang="ja-JP" altLang="en-US" dirty="0"/>
              <a:t>タイトル</a:t>
            </a:r>
          </a:p>
        </p:txBody>
      </p:sp>
      <p:sp>
        <p:nvSpPr>
          <p:cNvPr id="26" name="Subtitle 2">
            <a:extLst>
              <a:ext uri="{FF2B5EF4-FFF2-40B4-BE49-F238E27FC236}">
                <a16:creationId xmlns:a16="http://schemas.microsoft.com/office/drawing/2014/main" id="{1EE1E8DC-4741-59F2-A8E6-298ECF2113C4}"/>
              </a:ext>
            </a:extLst>
          </p:cNvPr>
          <p:cNvSpPr>
            <a:spLocks noGrp="1"/>
          </p:cNvSpPr>
          <p:nvPr>
            <p:ph type="subTitle" idx="1" hasCustomPrompt="1"/>
            <p:custDataLst>
              <p:tags r:id="rId3"/>
            </p:custDataLst>
          </p:nvPr>
        </p:nvSpPr>
        <p:spPr>
          <a:xfrm>
            <a:off x="523878" y="4704538"/>
            <a:ext cx="4175713" cy="931026"/>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日付、氏名、もしくはコンテンツ</a:t>
            </a:r>
          </a:p>
        </p:txBody>
      </p:sp>
      <p:grpSp>
        <p:nvGrpSpPr>
          <p:cNvPr id="27" name="LOGO RED">
            <a:extLst>
              <a:ext uri="{FF2B5EF4-FFF2-40B4-BE49-F238E27FC236}">
                <a16:creationId xmlns:a16="http://schemas.microsoft.com/office/drawing/2014/main" id="{74F83E0D-01EF-7069-2D94-C62DE4FBC4FF}"/>
              </a:ext>
            </a:extLst>
          </p:cNvPr>
          <p:cNvGrpSpPr/>
          <p:nvPr userDrawn="1">
            <p:custDataLst>
              <p:tags r:id="rId4"/>
            </p:custDataLst>
          </p:nvPr>
        </p:nvGrpSpPr>
        <p:grpSpPr>
          <a:xfrm>
            <a:off x="454798" y="303421"/>
            <a:ext cx="2025604" cy="352508"/>
            <a:chOff x="3245241" y="3110528"/>
            <a:chExt cx="5696307" cy="991307"/>
          </a:xfrm>
          <a:solidFill>
            <a:srgbClr val="ED1C24"/>
          </a:solidFill>
        </p:grpSpPr>
        <p:sp>
          <p:nvSpPr>
            <p:cNvPr id="28" name="Freeform: Shape 7">
              <a:extLst>
                <a:ext uri="{FF2B5EF4-FFF2-40B4-BE49-F238E27FC236}">
                  <a16:creationId xmlns:a16="http://schemas.microsoft.com/office/drawing/2014/main" id="{1D1D9E5A-8933-E89E-ED6D-EAF0796E45F8}"/>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29" name="Freeform: Shape 8">
              <a:extLst>
                <a:ext uri="{FF2B5EF4-FFF2-40B4-BE49-F238E27FC236}">
                  <a16:creationId xmlns:a16="http://schemas.microsoft.com/office/drawing/2014/main" id="{CF2E09C8-5701-0216-6D7A-C912342756F5}"/>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30" name="Freeform: Shape 9">
              <a:extLst>
                <a:ext uri="{FF2B5EF4-FFF2-40B4-BE49-F238E27FC236}">
                  <a16:creationId xmlns:a16="http://schemas.microsoft.com/office/drawing/2014/main" id="{AAB9B8E5-4885-3A73-E68B-AF083B073071}"/>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31" name="Freeform: Shape 10">
              <a:extLst>
                <a:ext uri="{FF2B5EF4-FFF2-40B4-BE49-F238E27FC236}">
                  <a16:creationId xmlns:a16="http://schemas.microsoft.com/office/drawing/2014/main" id="{2439F794-4FCA-C0D2-50C2-BE58C0D6B0DA}"/>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32" name="Freeform: Shape 11">
              <a:extLst>
                <a:ext uri="{FF2B5EF4-FFF2-40B4-BE49-F238E27FC236}">
                  <a16:creationId xmlns:a16="http://schemas.microsoft.com/office/drawing/2014/main" id="{BA01A36E-7597-E539-C829-E80A72D63800}"/>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5" name="Logo ISUZU GROUP">
            <a:extLst>
              <a:ext uri="{FF2B5EF4-FFF2-40B4-BE49-F238E27FC236}">
                <a16:creationId xmlns:a16="http://schemas.microsoft.com/office/drawing/2014/main" id="{CC4D5812-E907-84D8-6980-29394C9031E7}"/>
              </a:ext>
            </a:extLst>
          </p:cNvPr>
          <p:cNvSpPr>
            <a:spLocks noGrp="1"/>
          </p:cNvSpPr>
          <p:nvPr>
            <p:ph type="body" sz="quarter" idx="19" hasCustomPrompt="1"/>
            <p:custDataLst>
              <p:tags r:id="rId5"/>
            </p:custDataLst>
          </p:nvPr>
        </p:nvSpPr>
        <p:spPr>
          <a:xfrm>
            <a:off x="9518650" y="6276138"/>
            <a:ext cx="2206625" cy="273690"/>
          </a:xfrm>
          <a:prstGeom prst="rect">
            <a:avLst/>
          </a:prstGeom>
          <a:blipFill>
            <a:blip>
              <a:extLst>
                <a:ext uri="{96DAC541-7B7A-43D3-8B79-37D633B846F1}">
                  <asvg:svgBlip xmlns:asvg="http://schemas.microsoft.com/office/drawing/2016/SVG/main" r:embed="rId1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Tree>
    <p:extLst>
      <p:ext uri="{BB962C8B-B14F-4D97-AF65-F5344CB8AC3E}">
        <p14:creationId xmlns:p14="http://schemas.microsoft.com/office/powerpoint/2010/main" val="42566198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3 Intro - Blue">
    <p:spTree>
      <p:nvGrpSpPr>
        <p:cNvPr id="1" name=""/>
        <p:cNvGrpSpPr/>
        <p:nvPr/>
      </p:nvGrpSpPr>
      <p:grpSpPr>
        <a:xfrm>
          <a:off x="0" y="0"/>
          <a:ext cx="0" cy="0"/>
          <a:chOff x="0" y="0"/>
          <a:chExt cx="0" cy="0"/>
        </a:xfrm>
      </p:grpSpPr>
      <p:grpSp>
        <p:nvGrpSpPr>
          <p:cNvPr id="21" name="Swirl Locked">
            <a:extLst>
              <a:ext uri="{FF2B5EF4-FFF2-40B4-BE49-F238E27FC236}">
                <a16:creationId xmlns:a16="http://schemas.microsoft.com/office/drawing/2014/main" id="{61CB4AEE-A8F6-0A59-6370-5F8EDCC0863E}"/>
              </a:ext>
            </a:extLst>
          </p:cNvPr>
          <p:cNvGrpSpPr/>
          <p:nvPr userDrawn="1">
            <p:custDataLst>
              <p:tags r:id="rId1"/>
            </p:custDataLst>
          </p:nvPr>
        </p:nvGrpSpPr>
        <p:grpSpPr>
          <a:xfrm>
            <a:off x="0" y="3697200"/>
            <a:ext cx="12193209" cy="3162659"/>
            <a:chOff x="0" y="3699103"/>
            <a:chExt cx="12193209" cy="3162659"/>
          </a:xfrm>
        </p:grpSpPr>
        <p:sp>
          <p:nvSpPr>
            <p:cNvPr id="22" name="Freeform: Shape 4">
              <a:extLst>
                <a:ext uri="{FF2B5EF4-FFF2-40B4-BE49-F238E27FC236}">
                  <a16:creationId xmlns:a16="http://schemas.microsoft.com/office/drawing/2014/main" id="{0559B8ED-E8EC-BD7C-95E5-3DD3F053D826}"/>
                </a:ext>
              </a:extLst>
            </p:cNvPr>
            <p:cNvSpPr/>
            <p:nvPr userDrawn="1">
              <p:custDataLst>
                <p:tags r:id="rId6"/>
              </p:custDataLst>
            </p:nvPr>
          </p:nvSpPr>
          <p:spPr>
            <a:xfrm>
              <a:off x="0" y="5985337"/>
              <a:ext cx="12193209" cy="876425"/>
            </a:xfrm>
            <a:custGeom>
              <a:avLst/>
              <a:gdLst>
                <a:gd name="connsiteX0" fmla="*/ 0 w 12193209"/>
                <a:gd name="connsiteY0" fmla="*/ 0 h 876425"/>
                <a:gd name="connsiteX1" fmla="*/ 12193210 w 12193209"/>
                <a:gd name="connsiteY1" fmla="*/ 0 h 876425"/>
                <a:gd name="connsiteX2" fmla="*/ 12193210 w 12193209"/>
                <a:gd name="connsiteY2" fmla="*/ 876426 h 876425"/>
                <a:gd name="connsiteX3" fmla="*/ 0 w 12193209"/>
                <a:gd name="connsiteY3" fmla="*/ 876426 h 876425"/>
              </a:gdLst>
              <a:ahLst/>
              <a:cxnLst>
                <a:cxn ang="0">
                  <a:pos x="connsiteX0" y="connsiteY0"/>
                </a:cxn>
                <a:cxn ang="0">
                  <a:pos x="connsiteX1" y="connsiteY1"/>
                </a:cxn>
                <a:cxn ang="0">
                  <a:pos x="connsiteX2" y="connsiteY2"/>
                </a:cxn>
                <a:cxn ang="0">
                  <a:pos x="connsiteX3" y="connsiteY3"/>
                </a:cxn>
              </a:cxnLst>
              <a:rect l="l" t="t" r="r" b="b"/>
              <a:pathLst>
                <a:path w="12193209" h="876425">
                  <a:moveTo>
                    <a:pt x="0" y="0"/>
                  </a:moveTo>
                  <a:lnTo>
                    <a:pt x="12193210" y="0"/>
                  </a:lnTo>
                  <a:lnTo>
                    <a:pt x="12193210" y="876426"/>
                  </a:lnTo>
                  <a:lnTo>
                    <a:pt x="0" y="876426"/>
                  </a:lnTo>
                  <a:close/>
                </a:path>
              </a:pathLst>
            </a:custGeom>
            <a:solidFill>
              <a:srgbClr val="405C8B"/>
            </a:solidFill>
            <a:ln w="0" cap="flat">
              <a:noFill/>
              <a:prstDash val="solid"/>
              <a:miter/>
            </a:ln>
          </p:spPr>
          <p:txBody>
            <a:bodyPr rtlCol="0" anchor="ctr"/>
            <a:lstStyle/>
            <a:p>
              <a:endParaRPr lang="en-US" dirty="0"/>
            </a:p>
          </p:txBody>
        </p:sp>
        <p:sp>
          <p:nvSpPr>
            <p:cNvPr id="23" name="Freeform: Shape 5">
              <a:extLst>
                <a:ext uri="{FF2B5EF4-FFF2-40B4-BE49-F238E27FC236}">
                  <a16:creationId xmlns:a16="http://schemas.microsoft.com/office/drawing/2014/main" id="{3D4C52BD-F63C-DE34-7DA8-63082B32CEAC}"/>
                </a:ext>
              </a:extLst>
            </p:cNvPr>
            <p:cNvSpPr/>
            <p:nvPr userDrawn="1">
              <p:custDataLst>
                <p:tags r:id="rId7"/>
              </p:custDataLst>
            </p:nvPr>
          </p:nvSpPr>
          <p:spPr>
            <a:xfrm>
              <a:off x="0" y="5985337"/>
              <a:ext cx="4060191" cy="762033"/>
            </a:xfrm>
            <a:custGeom>
              <a:avLst/>
              <a:gdLst>
                <a:gd name="connsiteX0" fmla="*/ 4060191 w 4060191"/>
                <a:gd name="connsiteY0" fmla="*/ 0 h 762033"/>
                <a:gd name="connsiteX1" fmla="*/ 0 w 4060191"/>
                <a:gd name="connsiteY1" fmla="*/ 762034 h 762033"/>
                <a:gd name="connsiteX2" fmla="*/ 0 w 4060191"/>
                <a:gd name="connsiteY2" fmla="*/ 0 h 762033"/>
                <a:gd name="connsiteX3" fmla="*/ 4060191 w 4060191"/>
                <a:gd name="connsiteY3" fmla="*/ 0 h 762033"/>
              </a:gdLst>
              <a:ahLst/>
              <a:cxnLst>
                <a:cxn ang="0">
                  <a:pos x="connsiteX0" y="connsiteY0"/>
                </a:cxn>
                <a:cxn ang="0">
                  <a:pos x="connsiteX1" y="connsiteY1"/>
                </a:cxn>
                <a:cxn ang="0">
                  <a:pos x="connsiteX2" y="connsiteY2"/>
                </a:cxn>
                <a:cxn ang="0">
                  <a:pos x="connsiteX3" y="connsiteY3"/>
                </a:cxn>
              </a:cxnLst>
              <a:rect l="l" t="t" r="r" b="b"/>
              <a:pathLst>
                <a:path w="4060191" h="762033">
                  <a:moveTo>
                    <a:pt x="4060191" y="0"/>
                  </a:moveTo>
                  <a:cubicBezTo>
                    <a:pt x="2770286" y="437272"/>
                    <a:pt x="1364106" y="709475"/>
                    <a:pt x="0" y="762034"/>
                  </a:cubicBezTo>
                  <a:lnTo>
                    <a:pt x="0" y="0"/>
                  </a:lnTo>
                  <a:lnTo>
                    <a:pt x="4060191" y="0"/>
                  </a:lnTo>
                  <a:close/>
                </a:path>
              </a:pathLst>
            </a:custGeom>
            <a:solidFill>
              <a:srgbClr val="002664"/>
            </a:solidFill>
            <a:ln w="0" cap="flat">
              <a:noFill/>
              <a:prstDash val="solid"/>
              <a:miter/>
            </a:ln>
          </p:spPr>
          <p:txBody>
            <a:bodyPr rtlCol="0" anchor="ctr"/>
            <a:lstStyle/>
            <a:p>
              <a:endParaRPr lang="en-US" dirty="0"/>
            </a:p>
          </p:txBody>
        </p:sp>
        <p:sp>
          <p:nvSpPr>
            <p:cNvPr id="24" name="Freeform: Shape 15">
              <a:extLst>
                <a:ext uri="{FF2B5EF4-FFF2-40B4-BE49-F238E27FC236}">
                  <a16:creationId xmlns:a16="http://schemas.microsoft.com/office/drawing/2014/main" id="{04D936A5-1222-BA67-8DA2-1EA0BAD68A74}"/>
                </a:ext>
              </a:extLst>
            </p:cNvPr>
            <p:cNvSpPr/>
            <p:nvPr userDrawn="1">
              <p:custDataLst>
                <p:tags r:id="rId8"/>
              </p:custDataLst>
            </p:nvPr>
          </p:nvSpPr>
          <p:spPr>
            <a:xfrm>
              <a:off x="4060191" y="3699103"/>
              <a:ext cx="8133018" cy="2286234"/>
            </a:xfrm>
            <a:custGeom>
              <a:avLst/>
              <a:gdLst>
                <a:gd name="connsiteX0" fmla="*/ 1892113 w 8133018"/>
                <a:gd name="connsiteY0" fmla="*/ 2286235 h 2286234"/>
                <a:gd name="connsiteX1" fmla="*/ 8133019 w 8133018"/>
                <a:gd name="connsiteY1" fmla="*/ 2286235 h 2286234"/>
                <a:gd name="connsiteX2" fmla="*/ 8133019 w 8133018"/>
                <a:gd name="connsiteY2" fmla="*/ 0 h 2286234"/>
                <a:gd name="connsiteX3" fmla="*/ 4071752 w 8133018"/>
                <a:gd name="connsiteY3" fmla="*/ 762034 h 2286234"/>
                <a:gd name="connsiteX4" fmla="*/ 0 w 8133018"/>
                <a:gd name="connsiteY4" fmla="*/ 2286235 h 2286234"/>
                <a:gd name="connsiteX5" fmla="*/ 1892113 w 8133018"/>
                <a:gd name="connsiteY5" fmla="*/ 2286235 h 2286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8" h="2286234">
                  <a:moveTo>
                    <a:pt x="1892113" y="2286235"/>
                  </a:moveTo>
                  <a:lnTo>
                    <a:pt x="8133019" y="2286235"/>
                  </a:lnTo>
                  <a:cubicBezTo>
                    <a:pt x="8133019" y="2286235"/>
                    <a:pt x="8133019" y="0"/>
                    <a:pt x="8133019" y="0"/>
                  </a:cubicBezTo>
                  <a:cubicBezTo>
                    <a:pt x="6687319" y="72587"/>
                    <a:pt x="5326977" y="387536"/>
                    <a:pt x="4071752" y="762034"/>
                  </a:cubicBezTo>
                  <a:cubicBezTo>
                    <a:pt x="2715039" y="1166910"/>
                    <a:pt x="771578" y="2024651"/>
                    <a:pt x="0" y="2286235"/>
                  </a:cubicBezTo>
                  <a:lnTo>
                    <a:pt x="1892113" y="2286235"/>
                  </a:lnTo>
                  <a:close/>
                </a:path>
              </a:pathLst>
            </a:custGeom>
            <a:solidFill>
              <a:srgbClr val="667DA2"/>
            </a:solidFill>
            <a:ln w="0" cap="flat">
              <a:noFill/>
              <a:prstDash val="solid"/>
              <a:miter/>
            </a:ln>
          </p:spPr>
          <p:txBody>
            <a:bodyPr rtlCol="0" anchor="ctr"/>
            <a:lstStyle/>
            <a:p>
              <a:endParaRPr lang="en-US" dirty="0"/>
            </a:p>
          </p:txBody>
        </p:sp>
      </p:grpSp>
      <p:sp>
        <p:nvSpPr>
          <p:cNvPr id="25" name="Title 1">
            <a:extLst>
              <a:ext uri="{FF2B5EF4-FFF2-40B4-BE49-F238E27FC236}">
                <a16:creationId xmlns:a16="http://schemas.microsoft.com/office/drawing/2014/main" id="{24AF0AB7-CFFA-EDE3-7487-128BEA647526}"/>
              </a:ext>
            </a:extLst>
          </p:cNvPr>
          <p:cNvSpPr>
            <a:spLocks noGrp="1"/>
          </p:cNvSpPr>
          <p:nvPr>
            <p:ph type="ctrTitle" hasCustomPrompt="1"/>
            <p:custDataLst>
              <p:tags r:id="rId2"/>
            </p:custDataLst>
          </p:nvPr>
        </p:nvSpPr>
        <p:spPr>
          <a:xfrm>
            <a:off x="523878" y="2059911"/>
            <a:ext cx="8348792" cy="1609862"/>
          </a:xfrm>
        </p:spPr>
        <p:txBody>
          <a:bodyPr anchor="b">
            <a:normAutofit/>
          </a:bodyPr>
          <a:lstStyle>
            <a:lvl1pPr algn="l">
              <a:defRPr sz="4400"/>
            </a:lvl1pPr>
          </a:lstStyle>
          <a:p>
            <a:r>
              <a:rPr lang="ja-JP" altLang="en-US" dirty="0"/>
              <a:t>タイトル</a:t>
            </a:r>
          </a:p>
        </p:txBody>
      </p:sp>
      <p:sp>
        <p:nvSpPr>
          <p:cNvPr id="26" name="Subtitle 2">
            <a:extLst>
              <a:ext uri="{FF2B5EF4-FFF2-40B4-BE49-F238E27FC236}">
                <a16:creationId xmlns:a16="http://schemas.microsoft.com/office/drawing/2014/main" id="{A8ED1AA4-B47C-6727-B932-89897A7B77A8}"/>
              </a:ext>
            </a:extLst>
          </p:cNvPr>
          <p:cNvSpPr>
            <a:spLocks noGrp="1"/>
          </p:cNvSpPr>
          <p:nvPr>
            <p:ph type="subTitle" idx="1" hasCustomPrompt="1"/>
            <p:custDataLst>
              <p:tags r:id="rId3"/>
            </p:custDataLst>
          </p:nvPr>
        </p:nvSpPr>
        <p:spPr>
          <a:xfrm>
            <a:off x="523878" y="4704538"/>
            <a:ext cx="4175713" cy="931026"/>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日付、氏名、もしくはコンテンツ</a:t>
            </a:r>
          </a:p>
        </p:txBody>
      </p:sp>
      <p:grpSp>
        <p:nvGrpSpPr>
          <p:cNvPr id="27" name="LOGO RED">
            <a:extLst>
              <a:ext uri="{FF2B5EF4-FFF2-40B4-BE49-F238E27FC236}">
                <a16:creationId xmlns:a16="http://schemas.microsoft.com/office/drawing/2014/main" id="{B0A5A0A6-4D21-88DD-230F-43AA227C7637}"/>
              </a:ext>
            </a:extLst>
          </p:cNvPr>
          <p:cNvGrpSpPr/>
          <p:nvPr userDrawn="1">
            <p:custDataLst>
              <p:tags r:id="rId4"/>
            </p:custDataLst>
          </p:nvPr>
        </p:nvGrpSpPr>
        <p:grpSpPr>
          <a:xfrm>
            <a:off x="454798" y="303421"/>
            <a:ext cx="2025604" cy="352508"/>
            <a:chOff x="3245241" y="3110528"/>
            <a:chExt cx="5696307" cy="991307"/>
          </a:xfrm>
          <a:solidFill>
            <a:srgbClr val="ED1C24"/>
          </a:solidFill>
        </p:grpSpPr>
        <p:sp>
          <p:nvSpPr>
            <p:cNvPr id="28" name="Freeform: Shape 7">
              <a:extLst>
                <a:ext uri="{FF2B5EF4-FFF2-40B4-BE49-F238E27FC236}">
                  <a16:creationId xmlns:a16="http://schemas.microsoft.com/office/drawing/2014/main" id="{1E4B9F16-8B29-16B7-FC6A-666A69766D15}"/>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29" name="Freeform: Shape 8">
              <a:extLst>
                <a:ext uri="{FF2B5EF4-FFF2-40B4-BE49-F238E27FC236}">
                  <a16:creationId xmlns:a16="http://schemas.microsoft.com/office/drawing/2014/main" id="{26B37C67-1164-37CE-99B5-42F168F62848}"/>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30" name="Freeform: Shape 9">
              <a:extLst>
                <a:ext uri="{FF2B5EF4-FFF2-40B4-BE49-F238E27FC236}">
                  <a16:creationId xmlns:a16="http://schemas.microsoft.com/office/drawing/2014/main" id="{9EF7511A-1B6F-89F4-FAFD-59E22DD0A204}"/>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31" name="Freeform: Shape 10">
              <a:extLst>
                <a:ext uri="{FF2B5EF4-FFF2-40B4-BE49-F238E27FC236}">
                  <a16:creationId xmlns:a16="http://schemas.microsoft.com/office/drawing/2014/main" id="{B8253061-C7BC-B14A-819C-1028890CAABC}"/>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32" name="Freeform: Shape 11">
              <a:extLst>
                <a:ext uri="{FF2B5EF4-FFF2-40B4-BE49-F238E27FC236}">
                  <a16:creationId xmlns:a16="http://schemas.microsoft.com/office/drawing/2014/main" id="{F2469B7B-E942-BD44-AFFF-7B0D88D6E546}"/>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5" name="Logo ISUZU GROUP">
            <a:extLst>
              <a:ext uri="{FF2B5EF4-FFF2-40B4-BE49-F238E27FC236}">
                <a16:creationId xmlns:a16="http://schemas.microsoft.com/office/drawing/2014/main" id="{9598EB09-A4E7-966C-0B1B-A068B46F0A02}"/>
              </a:ext>
            </a:extLst>
          </p:cNvPr>
          <p:cNvSpPr>
            <a:spLocks noGrp="1"/>
          </p:cNvSpPr>
          <p:nvPr>
            <p:ph type="body" sz="quarter" idx="19" hasCustomPrompt="1"/>
            <p:custDataLst>
              <p:tags r:id="rId5"/>
            </p:custDataLst>
          </p:nvPr>
        </p:nvSpPr>
        <p:spPr>
          <a:xfrm>
            <a:off x="9518650" y="6276138"/>
            <a:ext cx="2206625" cy="273690"/>
          </a:xfrm>
          <a:prstGeom prst="rect">
            <a:avLst/>
          </a:prstGeom>
          <a:blipFill>
            <a:blip>
              <a:extLst>
                <a:ext uri="{96DAC541-7B7A-43D3-8B79-37D633B846F1}">
                  <asvg:svgBlip xmlns:asvg="http://schemas.microsoft.com/office/drawing/2016/SVG/main" r:embed="rId1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Tree>
    <p:extLst>
      <p:ext uri="{BB962C8B-B14F-4D97-AF65-F5344CB8AC3E}">
        <p14:creationId xmlns:p14="http://schemas.microsoft.com/office/powerpoint/2010/main" val="13602075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4 Intro - Red full">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B4184176-FD9C-7D44-D04F-A7BCD747E879}"/>
              </a:ext>
            </a:extLst>
          </p:cNvPr>
          <p:cNvSpPr/>
          <p:nvPr userDrawn="1">
            <p:custDataLst>
              <p:tags r:id="rId1"/>
            </p:custDataLst>
          </p:nvPr>
        </p:nvSpPr>
        <p:spPr>
          <a:xfrm>
            <a:off x="0" y="964641"/>
            <a:ext cx="12193211" cy="5893359"/>
          </a:xfrm>
          <a:prstGeom prst="rect">
            <a:avLst/>
          </a:prstGeom>
          <a:solidFill>
            <a:srgbClr val="C43A4C"/>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a:p>
        </p:txBody>
      </p:sp>
      <p:sp>
        <p:nvSpPr>
          <p:cNvPr id="19" name="Title 1">
            <a:extLst>
              <a:ext uri="{FF2B5EF4-FFF2-40B4-BE49-F238E27FC236}">
                <a16:creationId xmlns:a16="http://schemas.microsoft.com/office/drawing/2014/main" id="{1A9AFC8E-90B8-5EAE-CAA6-F0671E1A6792}"/>
              </a:ext>
            </a:extLst>
          </p:cNvPr>
          <p:cNvSpPr>
            <a:spLocks noGrp="1"/>
          </p:cNvSpPr>
          <p:nvPr userDrawn="1">
            <p:ph type="ctrTitle" hasCustomPrompt="1"/>
            <p:custDataLst>
              <p:tags r:id="rId2"/>
            </p:custDataLst>
          </p:nvPr>
        </p:nvSpPr>
        <p:spPr>
          <a:xfrm>
            <a:off x="523878" y="2059911"/>
            <a:ext cx="8348792" cy="1609862"/>
          </a:xfrm>
        </p:spPr>
        <p:txBody>
          <a:bodyPr anchor="b">
            <a:normAutofit/>
          </a:bodyPr>
          <a:lstStyle>
            <a:lvl1pPr algn="l">
              <a:defRPr sz="4400">
                <a:solidFill>
                  <a:schemeClr val="bg1"/>
                </a:solidFill>
              </a:defRPr>
            </a:lvl1pPr>
          </a:lstStyle>
          <a:p>
            <a:r>
              <a:rPr lang="ja-JP" altLang="en-US" dirty="0"/>
              <a:t>タイトル</a:t>
            </a:r>
          </a:p>
        </p:txBody>
      </p:sp>
      <p:sp>
        <p:nvSpPr>
          <p:cNvPr id="20" name="Subtitle 2">
            <a:extLst>
              <a:ext uri="{FF2B5EF4-FFF2-40B4-BE49-F238E27FC236}">
                <a16:creationId xmlns:a16="http://schemas.microsoft.com/office/drawing/2014/main" id="{3DD10703-BFB7-BA06-D79E-0E466DC91DCB}"/>
              </a:ext>
            </a:extLst>
          </p:cNvPr>
          <p:cNvSpPr>
            <a:spLocks noGrp="1"/>
          </p:cNvSpPr>
          <p:nvPr userDrawn="1">
            <p:ph type="subTitle" idx="1" hasCustomPrompt="1"/>
            <p:custDataLst>
              <p:tags r:id="rId3"/>
            </p:custDataLst>
          </p:nvPr>
        </p:nvSpPr>
        <p:spPr>
          <a:xfrm>
            <a:off x="523878" y="4704538"/>
            <a:ext cx="4175713" cy="93102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日付、氏名、もしくはコンテンツ</a:t>
            </a:r>
          </a:p>
        </p:txBody>
      </p:sp>
      <p:grpSp>
        <p:nvGrpSpPr>
          <p:cNvPr id="21" name="LOGO RED">
            <a:extLst>
              <a:ext uri="{FF2B5EF4-FFF2-40B4-BE49-F238E27FC236}">
                <a16:creationId xmlns:a16="http://schemas.microsoft.com/office/drawing/2014/main" id="{676CD286-833A-B6E2-8F5E-6B14694E1327}"/>
              </a:ext>
            </a:extLst>
          </p:cNvPr>
          <p:cNvGrpSpPr/>
          <p:nvPr userDrawn="1">
            <p:custDataLst>
              <p:tags r:id="rId4"/>
            </p:custDataLst>
          </p:nvPr>
        </p:nvGrpSpPr>
        <p:grpSpPr>
          <a:xfrm>
            <a:off x="454798" y="303421"/>
            <a:ext cx="2025604" cy="352508"/>
            <a:chOff x="3245241" y="3110528"/>
            <a:chExt cx="5696307" cy="991307"/>
          </a:xfrm>
          <a:solidFill>
            <a:srgbClr val="ED1C24"/>
          </a:solidFill>
        </p:grpSpPr>
        <p:sp>
          <p:nvSpPr>
            <p:cNvPr id="22" name="Freeform: Shape 26">
              <a:extLst>
                <a:ext uri="{FF2B5EF4-FFF2-40B4-BE49-F238E27FC236}">
                  <a16:creationId xmlns:a16="http://schemas.microsoft.com/office/drawing/2014/main" id="{F2A69CE2-34C0-30DB-BA6B-987F20FAAFA2}"/>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23" name="Freeform: Shape 27">
              <a:extLst>
                <a:ext uri="{FF2B5EF4-FFF2-40B4-BE49-F238E27FC236}">
                  <a16:creationId xmlns:a16="http://schemas.microsoft.com/office/drawing/2014/main" id="{4906BA23-992C-22DD-AC9A-24F3E85D0646}"/>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24" name="Freeform: Shape 28">
              <a:extLst>
                <a:ext uri="{FF2B5EF4-FFF2-40B4-BE49-F238E27FC236}">
                  <a16:creationId xmlns:a16="http://schemas.microsoft.com/office/drawing/2014/main" id="{CA0FB64B-E80E-4232-A797-DEB90F49D9BC}"/>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25" name="Freeform: Shape 29">
              <a:extLst>
                <a:ext uri="{FF2B5EF4-FFF2-40B4-BE49-F238E27FC236}">
                  <a16:creationId xmlns:a16="http://schemas.microsoft.com/office/drawing/2014/main" id="{6AD1A22E-AA84-8E4E-D00D-BDD257FF2417}"/>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32" name="Freeform: Shape 30">
              <a:extLst>
                <a:ext uri="{FF2B5EF4-FFF2-40B4-BE49-F238E27FC236}">
                  <a16:creationId xmlns:a16="http://schemas.microsoft.com/office/drawing/2014/main" id="{7E8D1ECF-DB51-1F21-121B-FB9CA529C9EE}"/>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33" name="Logo ISUZU GROUP">
            <a:extLst>
              <a:ext uri="{FF2B5EF4-FFF2-40B4-BE49-F238E27FC236}">
                <a16:creationId xmlns:a16="http://schemas.microsoft.com/office/drawing/2014/main" id="{36A20C74-B1A7-1C8F-52FE-7695F2FB7DAD}"/>
              </a:ext>
            </a:extLst>
          </p:cNvPr>
          <p:cNvSpPr>
            <a:spLocks noGrp="1"/>
          </p:cNvSpPr>
          <p:nvPr userDrawn="1">
            <p:ph type="body" sz="quarter" idx="20" hasCustomPrompt="1"/>
            <p:custDataLst>
              <p:tags r:id="rId5"/>
            </p:custDataLst>
          </p:nvPr>
        </p:nvSpPr>
        <p:spPr>
          <a:xfrm>
            <a:off x="9982197" y="438149"/>
            <a:ext cx="1841501" cy="228403"/>
          </a:xfrm>
          <a:prstGeom prst="rect">
            <a:avLst/>
          </a:prstGeom>
          <a:blipFill>
            <a:blip>
              <a:extLst>
                <a:ext uri="{96DAC541-7B7A-43D3-8B79-37D633B846F1}">
                  <asvg:svgBlip xmlns:asvg="http://schemas.microsoft.com/office/drawing/2016/SVG/main" r:embed="rId8"/>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3" name="Swirl Locked">
            <a:extLst>
              <a:ext uri="{FF2B5EF4-FFF2-40B4-BE49-F238E27FC236}">
                <a16:creationId xmlns:a16="http://schemas.microsoft.com/office/drawing/2014/main" id="{B9CFDEC6-D613-779F-38D5-4342A03080AB}"/>
              </a:ext>
            </a:extLst>
          </p:cNvPr>
          <p:cNvSpPr>
            <a:spLocks noGrp="1"/>
          </p:cNvSpPr>
          <p:nvPr>
            <p:ph type="body" sz="quarter" idx="13" hasCustomPrompt="1"/>
            <p:custDataLst>
              <p:tags r:id="rId6"/>
            </p:custDataLst>
          </p:nvPr>
        </p:nvSpPr>
        <p:spPr>
          <a:xfrm>
            <a:off x="0" y="3695341"/>
            <a:ext cx="12193211" cy="3162659"/>
          </a:xfrm>
          <a:prstGeom prst="rect">
            <a:avLst/>
          </a:prstGeom>
          <a:blipFill>
            <a:blip r:embed="rId9">
              <a:extLst>
                <a:ext uri="{28A0092B-C50C-407E-A947-70E740481C1C}">
                  <a14:useLocalDpi xmlns:a14="http://schemas.microsoft.com/office/drawing/2010/main" val="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dirty="0"/>
              <a:t>  </a:t>
            </a:r>
          </a:p>
        </p:txBody>
      </p:sp>
    </p:spTree>
    <p:extLst>
      <p:ext uri="{BB962C8B-B14F-4D97-AF65-F5344CB8AC3E}">
        <p14:creationId xmlns:p14="http://schemas.microsoft.com/office/powerpoint/2010/main" val="38943442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5 Intro - Blue full">
    <p:spTree>
      <p:nvGrpSpPr>
        <p:cNvPr id="1" name=""/>
        <p:cNvGrpSpPr/>
        <p:nvPr/>
      </p:nvGrpSpPr>
      <p:grpSpPr>
        <a:xfrm>
          <a:off x="0" y="0"/>
          <a:ext cx="0" cy="0"/>
          <a:chOff x="0" y="0"/>
          <a:chExt cx="0" cy="0"/>
        </a:xfrm>
      </p:grpSpPr>
      <p:sp>
        <p:nvSpPr>
          <p:cNvPr id="38" name="Rectangle 11">
            <a:extLst>
              <a:ext uri="{FF2B5EF4-FFF2-40B4-BE49-F238E27FC236}">
                <a16:creationId xmlns:a16="http://schemas.microsoft.com/office/drawing/2014/main" id="{8E073B85-40ED-7765-75EF-AF816BBF2080}"/>
              </a:ext>
            </a:extLst>
          </p:cNvPr>
          <p:cNvSpPr/>
          <p:nvPr userDrawn="1">
            <p:custDataLst>
              <p:tags r:id="rId1"/>
            </p:custDataLst>
          </p:nvPr>
        </p:nvSpPr>
        <p:spPr>
          <a:xfrm>
            <a:off x="0" y="964641"/>
            <a:ext cx="12193211" cy="5893359"/>
          </a:xfrm>
          <a:prstGeom prst="rect">
            <a:avLst/>
          </a:prstGeom>
          <a:solidFill>
            <a:srgbClr val="335183"/>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a:p>
        </p:txBody>
      </p:sp>
      <p:sp>
        <p:nvSpPr>
          <p:cNvPr id="41" name="Title 1">
            <a:extLst>
              <a:ext uri="{FF2B5EF4-FFF2-40B4-BE49-F238E27FC236}">
                <a16:creationId xmlns:a16="http://schemas.microsoft.com/office/drawing/2014/main" id="{A21C5C6E-FDCB-487C-C3C5-FF3E86349BF2}"/>
              </a:ext>
            </a:extLst>
          </p:cNvPr>
          <p:cNvSpPr>
            <a:spLocks noGrp="1"/>
          </p:cNvSpPr>
          <p:nvPr userDrawn="1">
            <p:ph type="ctrTitle" hasCustomPrompt="1"/>
            <p:custDataLst>
              <p:tags r:id="rId2"/>
            </p:custDataLst>
          </p:nvPr>
        </p:nvSpPr>
        <p:spPr>
          <a:xfrm>
            <a:off x="523878" y="2059911"/>
            <a:ext cx="8348792" cy="1609862"/>
          </a:xfrm>
        </p:spPr>
        <p:txBody>
          <a:bodyPr anchor="b">
            <a:normAutofit/>
          </a:bodyPr>
          <a:lstStyle>
            <a:lvl1pPr algn="l">
              <a:defRPr sz="4400">
                <a:solidFill>
                  <a:schemeClr val="bg1"/>
                </a:solidFill>
              </a:defRPr>
            </a:lvl1pPr>
          </a:lstStyle>
          <a:p>
            <a:r>
              <a:rPr lang="ja-JP" altLang="en-US" dirty="0"/>
              <a:t>タイトル</a:t>
            </a:r>
          </a:p>
        </p:txBody>
      </p:sp>
      <p:sp>
        <p:nvSpPr>
          <p:cNvPr id="42" name="Subtitle 2">
            <a:extLst>
              <a:ext uri="{FF2B5EF4-FFF2-40B4-BE49-F238E27FC236}">
                <a16:creationId xmlns:a16="http://schemas.microsoft.com/office/drawing/2014/main" id="{9F537AC7-658C-D162-6007-1E9565B7A8E4}"/>
              </a:ext>
            </a:extLst>
          </p:cNvPr>
          <p:cNvSpPr>
            <a:spLocks noGrp="1"/>
          </p:cNvSpPr>
          <p:nvPr userDrawn="1">
            <p:ph type="subTitle" idx="1" hasCustomPrompt="1"/>
            <p:custDataLst>
              <p:tags r:id="rId3"/>
            </p:custDataLst>
          </p:nvPr>
        </p:nvSpPr>
        <p:spPr>
          <a:xfrm>
            <a:off x="523878" y="4704538"/>
            <a:ext cx="4175713" cy="93102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日付、氏名、もしくはコンテンツ</a:t>
            </a:r>
          </a:p>
        </p:txBody>
      </p:sp>
      <p:grpSp>
        <p:nvGrpSpPr>
          <p:cNvPr id="43" name="LOGO RED">
            <a:extLst>
              <a:ext uri="{FF2B5EF4-FFF2-40B4-BE49-F238E27FC236}">
                <a16:creationId xmlns:a16="http://schemas.microsoft.com/office/drawing/2014/main" id="{7BB6A81C-59AF-1A7F-1F70-2823C6E2CD86}"/>
              </a:ext>
            </a:extLst>
          </p:cNvPr>
          <p:cNvGrpSpPr/>
          <p:nvPr userDrawn="1">
            <p:custDataLst>
              <p:tags r:id="rId4"/>
            </p:custDataLst>
          </p:nvPr>
        </p:nvGrpSpPr>
        <p:grpSpPr>
          <a:xfrm>
            <a:off x="454798" y="303421"/>
            <a:ext cx="2025604" cy="352508"/>
            <a:chOff x="3245241" y="3110528"/>
            <a:chExt cx="5696307" cy="991307"/>
          </a:xfrm>
          <a:solidFill>
            <a:srgbClr val="ED1C24"/>
          </a:solidFill>
        </p:grpSpPr>
        <p:sp>
          <p:nvSpPr>
            <p:cNvPr id="44" name="Freeform: Shape 26">
              <a:extLst>
                <a:ext uri="{FF2B5EF4-FFF2-40B4-BE49-F238E27FC236}">
                  <a16:creationId xmlns:a16="http://schemas.microsoft.com/office/drawing/2014/main" id="{83C764B0-72E9-0200-59D3-615D264EAE34}"/>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45" name="Freeform: Shape 27">
              <a:extLst>
                <a:ext uri="{FF2B5EF4-FFF2-40B4-BE49-F238E27FC236}">
                  <a16:creationId xmlns:a16="http://schemas.microsoft.com/office/drawing/2014/main" id="{1B376E21-E84C-BDA4-9E24-F43B5749F68A}"/>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46" name="Freeform: Shape 28">
              <a:extLst>
                <a:ext uri="{FF2B5EF4-FFF2-40B4-BE49-F238E27FC236}">
                  <a16:creationId xmlns:a16="http://schemas.microsoft.com/office/drawing/2014/main" id="{02D5C511-4AD3-1E2A-1BBF-4B94EB7BAC4D}"/>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47" name="Freeform: Shape 29">
              <a:extLst>
                <a:ext uri="{FF2B5EF4-FFF2-40B4-BE49-F238E27FC236}">
                  <a16:creationId xmlns:a16="http://schemas.microsoft.com/office/drawing/2014/main" id="{398C2C81-8C5B-76F1-22D5-DC6AC362A8C9}"/>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48" name="Freeform: Shape 30">
              <a:extLst>
                <a:ext uri="{FF2B5EF4-FFF2-40B4-BE49-F238E27FC236}">
                  <a16:creationId xmlns:a16="http://schemas.microsoft.com/office/drawing/2014/main" id="{0CA427C0-4023-3500-CBFE-0D1707219FFC}"/>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49" name="Logo ISUZU GROUP">
            <a:extLst>
              <a:ext uri="{FF2B5EF4-FFF2-40B4-BE49-F238E27FC236}">
                <a16:creationId xmlns:a16="http://schemas.microsoft.com/office/drawing/2014/main" id="{AB84F571-B13A-7E3A-F24D-EC81F9B3121C}"/>
              </a:ext>
            </a:extLst>
          </p:cNvPr>
          <p:cNvSpPr>
            <a:spLocks noGrp="1"/>
          </p:cNvSpPr>
          <p:nvPr userDrawn="1">
            <p:ph type="body" sz="quarter" idx="20" hasCustomPrompt="1"/>
            <p:custDataLst>
              <p:tags r:id="rId5"/>
            </p:custDataLst>
          </p:nvPr>
        </p:nvSpPr>
        <p:spPr>
          <a:xfrm>
            <a:off x="9982197" y="438149"/>
            <a:ext cx="1841501" cy="228403"/>
          </a:xfrm>
          <a:prstGeom prst="rect">
            <a:avLst/>
          </a:prstGeom>
          <a:blipFill>
            <a:blip>
              <a:extLst>
                <a:ext uri="{96DAC541-7B7A-43D3-8B79-37D633B846F1}">
                  <asvg:svgBlip xmlns:asvg="http://schemas.microsoft.com/office/drawing/2016/SVG/main" r:embed="rId11"/>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grpSp>
        <p:nvGrpSpPr>
          <p:cNvPr id="2" name="Swirl Locked">
            <a:extLst>
              <a:ext uri="{FF2B5EF4-FFF2-40B4-BE49-F238E27FC236}">
                <a16:creationId xmlns:a16="http://schemas.microsoft.com/office/drawing/2014/main" id="{46649C2D-FFF2-49F8-90B7-96CFAF91C5B3}"/>
              </a:ext>
            </a:extLst>
          </p:cNvPr>
          <p:cNvGrpSpPr/>
          <p:nvPr userDrawn="1">
            <p:custDataLst>
              <p:tags r:id="rId6"/>
            </p:custDataLst>
          </p:nvPr>
        </p:nvGrpSpPr>
        <p:grpSpPr>
          <a:xfrm>
            <a:off x="0" y="3695341"/>
            <a:ext cx="12193209" cy="3162659"/>
            <a:chOff x="0" y="3699103"/>
            <a:chExt cx="12193209" cy="3162659"/>
          </a:xfrm>
        </p:grpSpPr>
        <p:sp>
          <p:nvSpPr>
            <p:cNvPr id="3" name="Freeform: Shape 4">
              <a:extLst>
                <a:ext uri="{FF2B5EF4-FFF2-40B4-BE49-F238E27FC236}">
                  <a16:creationId xmlns:a16="http://schemas.microsoft.com/office/drawing/2014/main" id="{652CF7D2-44A5-085F-4CB4-7C7165D6647A}"/>
                </a:ext>
              </a:extLst>
            </p:cNvPr>
            <p:cNvSpPr/>
            <p:nvPr userDrawn="1">
              <p:custDataLst>
                <p:tags r:id="rId7"/>
              </p:custDataLst>
            </p:nvPr>
          </p:nvSpPr>
          <p:spPr>
            <a:xfrm>
              <a:off x="0" y="5985337"/>
              <a:ext cx="12193209" cy="876425"/>
            </a:xfrm>
            <a:custGeom>
              <a:avLst/>
              <a:gdLst>
                <a:gd name="connsiteX0" fmla="*/ 0 w 12193209"/>
                <a:gd name="connsiteY0" fmla="*/ 0 h 876425"/>
                <a:gd name="connsiteX1" fmla="*/ 12193210 w 12193209"/>
                <a:gd name="connsiteY1" fmla="*/ 0 h 876425"/>
                <a:gd name="connsiteX2" fmla="*/ 12193210 w 12193209"/>
                <a:gd name="connsiteY2" fmla="*/ 876426 h 876425"/>
                <a:gd name="connsiteX3" fmla="*/ 0 w 12193209"/>
                <a:gd name="connsiteY3" fmla="*/ 876426 h 876425"/>
              </a:gdLst>
              <a:ahLst/>
              <a:cxnLst>
                <a:cxn ang="0">
                  <a:pos x="connsiteX0" y="connsiteY0"/>
                </a:cxn>
                <a:cxn ang="0">
                  <a:pos x="connsiteX1" y="connsiteY1"/>
                </a:cxn>
                <a:cxn ang="0">
                  <a:pos x="connsiteX2" y="connsiteY2"/>
                </a:cxn>
                <a:cxn ang="0">
                  <a:pos x="connsiteX3" y="connsiteY3"/>
                </a:cxn>
              </a:cxnLst>
              <a:rect l="l" t="t" r="r" b="b"/>
              <a:pathLst>
                <a:path w="12193209" h="876425">
                  <a:moveTo>
                    <a:pt x="0" y="0"/>
                  </a:moveTo>
                  <a:lnTo>
                    <a:pt x="12193210" y="0"/>
                  </a:lnTo>
                  <a:lnTo>
                    <a:pt x="12193210" y="876426"/>
                  </a:lnTo>
                  <a:lnTo>
                    <a:pt x="0" y="876426"/>
                  </a:lnTo>
                  <a:close/>
                </a:path>
              </a:pathLst>
            </a:custGeom>
            <a:solidFill>
              <a:srgbClr val="405C8B"/>
            </a:solidFill>
            <a:ln w="0" cap="flat">
              <a:noFill/>
              <a:prstDash val="solid"/>
              <a:miter/>
            </a:ln>
          </p:spPr>
          <p:txBody>
            <a:bodyPr rtlCol="0" anchor="ctr"/>
            <a:lstStyle/>
            <a:p>
              <a:endParaRPr lang="en-US" dirty="0"/>
            </a:p>
          </p:txBody>
        </p:sp>
        <p:sp>
          <p:nvSpPr>
            <p:cNvPr id="4" name="Freeform: Shape 5">
              <a:extLst>
                <a:ext uri="{FF2B5EF4-FFF2-40B4-BE49-F238E27FC236}">
                  <a16:creationId xmlns:a16="http://schemas.microsoft.com/office/drawing/2014/main" id="{2C2DD17B-9DC9-16E4-3846-B2155A9FAC62}"/>
                </a:ext>
              </a:extLst>
            </p:cNvPr>
            <p:cNvSpPr/>
            <p:nvPr userDrawn="1">
              <p:custDataLst>
                <p:tags r:id="rId8"/>
              </p:custDataLst>
            </p:nvPr>
          </p:nvSpPr>
          <p:spPr>
            <a:xfrm>
              <a:off x="0" y="5985337"/>
              <a:ext cx="4060191" cy="762033"/>
            </a:xfrm>
            <a:custGeom>
              <a:avLst/>
              <a:gdLst>
                <a:gd name="connsiteX0" fmla="*/ 4060191 w 4060191"/>
                <a:gd name="connsiteY0" fmla="*/ 0 h 762033"/>
                <a:gd name="connsiteX1" fmla="*/ 0 w 4060191"/>
                <a:gd name="connsiteY1" fmla="*/ 762034 h 762033"/>
                <a:gd name="connsiteX2" fmla="*/ 0 w 4060191"/>
                <a:gd name="connsiteY2" fmla="*/ 0 h 762033"/>
                <a:gd name="connsiteX3" fmla="*/ 4060191 w 4060191"/>
                <a:gd name="connsiteY3" fmla="*/ 0 h 762033"/>
              </a:gdLst>
              <a:ahLst/>
              <a:cxnLst>
                <a:cxn ang="0">
                  <a:pos x="connsiteX0" y="connsiteY0"/>
                </a:cxn>
                <a:cxn ang="0">
                  <a:pos x="connsiteX1" y="connsiteY1"/>
                </a:cxn>
                <a:cxn ang="0">
                  <a:pos x="connsiteX2" y="connsiteY2"/>
                </a:cxn>
                <a:cxn ang="0">
                  <a:pos x="connsiteX3" y="connsiteY3"/>
                </a:cxn>
              </a:cxnLst>
              <a:rect l="l" t="t" r="r" b="b"/>
              <a:pathLst>
                <a:path w="4060191" h="762033">
                  <a:moveTo>
                    <a:pt x="4060191" y="0"/>
                  </a:moveTo>
                  <a:cubicBezTo>
                    <a:pt x="2770286" y="437272"/>
                    <a:pt x="1364106" y="709475"/>
                    <a:pt x="0" y="762034"/>
                  </a:cubicBezTo>
                  <a:lnTo>
                    <a:pt x="0" y="0"/>
                  </a:lnTo>
                  <a:lnTo>
                    <a:pt x="4060191" y="0"/>
                  </a:lnTo>
                  <a:close/>
                </a:path>
              </a:pathLst>
            </a:custGeom>
            <a:solidFill>
              <a:srgbClr val="002664"/>
            </a:solidFill>
            <a:ln w="0" cap="flat">
              <a:noFill/>
              <a:prstDash val="solid"/>
              <a:miter/>
            </a:ln>
          </p:spPr>
          <p:txBody>
            <a:bodyPr rtlCol="0" anchor="ctr"/>
            <a:lstStyle/>
            <a:p>
              <a:endParaRPr lang="en-US" dirty="0"/>
            </a:p>
          </p:txBody>
        </p:sp>
        <p:sp>
          <p:nvSpPr>
            <p:cNvPr id="5" name="Freeform: Shape 15">
              <a:extLst>
                <a:ext uri="{FF2B5EF4-FFF2-40B4-BE49-F238E27FC236}">
                  <a16:creationId xmlns:a16="http://schemas.microsoft.com/office/drawing/2014/main" id="{1EBC45D8-6C0A-F2AE-F9B9-9764B9E35FDC}"/>
                </a:ext>
              </a:extLst>
            </p:cNvPr>
            <p:cNvSpPr/>
            <p:nvPr userDrawn="1">
              <p:custDataLst>
                <p:tags r:id="rId9"/>
              </p:custDataLst>
            </p:nvPr>
          </p:nvSpPr>
          <p:spPr>
            <a:xfrm>
              <a:off x="4060191" y="3699103"/>
              <a:ext cx="8133018" cy="2286234"/>
            </a:xfrm>
            <a:custGeom>
              <a:avLst/>
              <a:gdLst>
                <a:gd name="connsiteX0" fmla="*/ 1892113 w 8133018"/>
                <a:gd name="connsiteY0" fmla="*/ 2286235 h 2286234"/>
                <a:gd name="connsiteX1" fmla="*/ 8133019 w 8133018"/>
                <a:gd name="connsiteY1" fmla="*/ 2286235 h 2286234"/>
                <a:gd name="connsiteX2" fmla="*/ 8133019 w 8133018"/>
                <a:gd name="connsiteY2" fmla="*/ 0 h 2286234"/>
                <a:gd name="connsiteX3" fmla="*/ 4071752 w 8133018"/>
                <a:gd name="connsiteY3" fmla="*/ 762034 h 2286234"/>
                <a:gd name="connsiteX4" fmla="*/ 0 w 8133018"/>
                <a:gd name="connsiteY4" fmla="*/ 2286235 h 2286234"/>
                <a:gd name="connsiteX5" fmla="*/ 1892113 w 8133018"/>
                <a:gd name="connsiteY5" fmla="*/ 2286235 h 2286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8" h="2286234">
                  <a:moveTo>
                    <a:pt x="1892113" y="2286235"/>
                  </a:moveTo>
                  <a:lnTo>
                    <a:pt x="8133019" y="2286235"/>
                  </a:lnTo>
                  <a:cubicBezTo>
                    <a:pt x="8133019" y="2286235"/>
                    <a:pt x="8133019" y="0"/>
                    <a:pt x="8133019" y="0"/>
                  </a:cubicBezTo>
                  <a:cubicBezTo>
                    <a:pt x="6687319" y="72587"/>
                    <a:pt x="5326977" y="387536"/>
                    <a:pt x="4071752" y="762034"/>
                  </a:cubicBezTo>
                  <a:cubicBezTo>
                    <a:pt x="2715039" y="1166910"/>
                    <a:pt x="771578" y="2024651"/>
                    <a:pt x="0" y="2286235"/>
                  </a:cubicBezTo>
                  <a:lnTo>
                    <a:pt x="1892113" y="2286235"/>
                  </a:lnTo>
                  <a:close/>
                </a:path>
              </a:pathLst>
            </a:custGeom>
            <a:solidFill>
              <a:srgbClr val="667DA2"/>
            </a:solidFill>
            <a:ln w="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2675918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6 Intro - Red, img. Red">
    <p:bg>
      <p:bgPr>
        <a:solidFill>
          <a:schemeClr val="bg1"/>
        </a:solidFill>
        <a:effectLst/>
      </p:bgPr>
    </p:bg>
    <p:spTree>
      <p:nvGrpSpPr>
        <p:cNvPr id="1" name=""/>
        <p:cNvGrpSpPr/>
        <p:nvPr/>
      </p:nvGrpSpPr>
      <p:grpSpPr>
        <a:xfrm>
          <a:off x="0" y="0"/>
          <a:ext cx="0" cy="0"/>
          <a:chOff x="0" y="0"/>
          <a:chExt cx="0" cy="0"/>
        </a:xfrm>
      </p:grpSpPr>
      <p:sp>
        <p:nvSpPr>
          <p:cNvPr id="15" name="Picture Placeholder 7">
            <a:extLst>
              <a:ext uri="{FF2B5EF4-FFF2-40B4-BE49-F238E27FC236}">
                <a16:creationId xmlns:a16="http://schemas.microsoft.com/office/drawing/2014/main" id="{4EE9E310-5BC5-6D27-EEF1-F9B1F9AB5E1D}"/>
              </a:ext>
            </a:extLst>
          </p:cNvPr>
          <p:cNvSpPr>
            <a:spLocks noGrp="1"/>
          </p:cNvSpPr>
          <p:nvPr>
            <p:ph type="pic" sz="quarter" idx="16" hasCustomPrompt="1"/>
            <p:custDataLst>
              <p:tags r:id="rId1"/>
            </p:custDataLst>
          </p:nvPr>
        </p:nvSpPr>
        <p:spPr>
          <a:xfrm>
            <a:off x="0" y="0"/>
            <a:ext cx="12192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ja-JP" altLang="en-US"/>
              <a:t> </a:t>
            </a:r>
            <a:endParaRPr lang="ja-JP" altLang="en-US" dirty="0"/>
          </a:p>
        </p:txBody>
      </p:sp>
      <p:sp>
        <p:nvSpPr>
          <p:cNvPr id="17" name="Title 1">
            <a:extLst>
              <a:ext uri="{FF2B5EF4-FFF2-40B4-BE49-F238E27FC236}">
                <a16:creationId xmlns:a16="http://schemas.microsoft.com/office/drawing/2014/main" id="{B21EF43C-7AA3-80AA-41C1-0DF3D7839AAB}"/>
              </a:ext>
            </a:extLst>
          </p:cNvPr>
          <p:cNvSpPr>
            <a:spLocks noGrp="1"/>
          </p:cNvSpPr>
          <p:nvPr>
            <p:ph type="ctrTitle" hasCustomPrompt="1"/>
            <p:custDataLst>
              <p:tags r:id="rId2"/>
            </p:custDataLst>
          </p:nvPr>
        </p:nvSpPr>
        <p:spPr>
          <a:xfrm>
            <a:off x="523878" y="1209054"/>
            <a:ext cx="8348792" cy="1609862"/>
          </a:xfrm>
        </p:spPr>
        <p:txBody>
          <a:bodyPr anchor="b">
            <a:normAutofit/>
          </a:bodyPr>
          <a:lstStyle>
            <a:lvl1pPr algn="l">
              <a:defRPr sz="4400">
                <a:solidFill>
                  <a:schemeClr val="bg1"/>
                </a:solidFill>
              </a:defRPr>
            </a:lvl1pPr>
          </a:lstStyle>
          <a:p>
            <a:r>
              <a:rPr lang="ja-JP" altLang="en-US" dirty="0"/>
              <a:t>タイトル</a:t>
            </a:r>
          </a:p>
        </p:txBody>
      </p:sp>
      <p:sp>
        <p:nvSpPr>
          <p:cNvPr id="18" name="Subtitle 2">
            <a:extLst>
              <a:ext uri="{FF2B5EF4-FFF2-40B4-BE49-F238E27FC236}">
                <a16:creationId xmlns:a16="http://schemas.microsoft.com/office/drawing/2014/main" id="{A07FFA31-14D2-411A-D689-C6278B667FEC}"/>
              </a:ext>
            </a:extLst>
          </p:cNvPr>
          <p:cNvSpPr>
            <a:spLocks noGrp="1"/>
          </p:cNvSpPr>
          <p:nvPr>
            <p:ph type="subTitle" idx="1" hasCustomPrompt="1"/>
            <p:custDataLst>
              <p:tags r:id="rId3"/>
            </p:custDataLst>
          </p:nvPr>
        </p:nvSpPr>
        <p:spPr>
          <a:xfrm>
            <a:off x="523878" y="4704538"/>
            <a:ext cx="4175713" cy="93102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日付、氏名、もしくはコンテンツ</a:t>
            </a:r>
          </a:p>
        </p:txBody>
      </p:sp>
      <p:sp>
        <p:nvSpPr>
          <p:cNvPr id="19" name="Logo">
            <a:extLst>
              <a:ext uri="{FF2B5EF4-FFF2-40B4-BE49-F238E27FC236}">
                <a16:creationId xmlns:a16="http://schemas.microsoft.com/office/drawing/2014/main" id="{246AC234-BC84-6DFE-2DF0-9132B93BE0DD}"/>
              </a:ext>
            </a:extLst>
          </p:cNvPr>
          <p:cNvSpPr>
            <a:spLocks noGrp="1"/>
          </p:cNvSpPr>
          <p:nvPr>
            <p:ph type="body" sz="quarter" idx="17" hasCustomPrompt="1"/>
            <p:custDataLst>
              <p:tags r:id="rId4"/>
            </p:custDataLst>
          </p:nvPr>
        </p:nvSpPr>
        <p:spPr>
          <a:xfrm>
            <a:off x="454798" y="303421"/>
            <a:ext cx="2025604" cy="352508"/>
          </a:xfrm>
          <a:prstGeom prst="rect">
            <a:avLst/>
          </a:prstGeom>
          <a:blipFill>
            <a:blip>
              <a:extLst>
                <a:ext uri="{96DAC541-7B7A-43D3-8B79-37D633B846F1}">
                  <asvg:svgBlip xmlns:asvg="http://schemas.microsoft.com/office/drawing/2016/SVG/main" r:embed="rId8"/>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21" name="Swirl Locked">
            <a:extLst>
              <a:ext uri="{FF2B5EF4-FFF2-40B4-BE49-F238E27FC236}">
                <a16:creationId xmlns:a16="http://schemas.microsoft.com/office/drawing/2014/main" id="{1F381FEE-8E63-7CD6-E3CC-BC2A3EDFE25B}"/>
              </a:ext>
            </a:extLst>
          </p:cNvPr>
          <p:cNvSpPr>
            <a:spLocks noGrp="1"/>
          </p:cNvSpPr>
          <p:nvPr>
            <p:ph type="body" sz="quarter" idx="13" hasCustomPrompt="1"/>
            <p:custDataLst>
              <p:tags r:id="rId5"/>
            </p:custDataLst>
          </p:nvPr>
        </p:nvSpPr>
        <p:spPr>
          <a:xfrm>
            <a:off x="0" y="3695341"/>
            <a:ext cx="12193211" cy="3162659"/>
          </a:xfrm>
          <a:prstGeom prst="rect">
            <a:avLst/>
          </a:prstGeom>
          <a:blipFill>
            <a:blip r:embed="rId9">
              <a:extLst>
                <a:ext uri="{28A0092B-C50C-407E-A947-70E740481C1C}">
                  <a14:useLocalDpi xmlns:a14="http://schemas.microsoft.com/office/drawing/2010/main" val="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dirty="0"/>
              <a:t>  </a:t>
            </a:r>
          </a:p>
        </p:txBody>
      </p:sp>
      <p:sp>
        <p:nvSpPr>
          <p:cNvPr id="25" name="Logo ISUZU GROUP">
            <a:extLst>
              <a:ext uri="{FF2B5EF4-FFF2-40B4-BE49-F238E27FC236}">
                <a16:creationId xmlns:a16="http://schemas.microsoft.com/office/drawing/2014/main" id="{2C880B51-0569-901F-B9D9-48E6FCA3488C}"/>
              </a:ext>
            </a:extLst>
          </p:cNvPr>
          <p:cNvSpPr>
            <a:spLocks noGrp="1"/>
          </p:cNvSpPr>
          <p:nvPr>
            <p:ph type="body" sz="quarter" idx="24" hasCustomPrompt="1"/>
            <p:custDataLst>
              <p:tags r:id="rId6"/>
            </p:custDataLst>
          </p:nvPr>
        </p:nvSpPr>
        <p:spPr>
          <a:xfrm>
            <a:off x="9548761" y="6276138"/>
            <a:ext cx="2206625" cy="273690"/>
          </a:xfrm>
          <a:prstGeom prst="rect">
            <a:avLst/>
          </a:prstGeom>
          <a:blipFill>
            <a:blip>
              <a:extLst>
                <a:ext uri="{96DAC541-7B7A-43D3-8B79-37D633B846F1}">
                  <asvg:svgBlip xmlns:asvg="http://schemas.microsoft.com/office/drawing/2016/SVG/main" r:embed="rId1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Tree>
    <p:extLst>
      <p:ext uri="{BB962C8B-B14F-4D97-AF65-F5344CB8AC3E}">
        <p14:creationId xmlns:p14="http://schemas.microsoft.com/office/powerpoint/2010/main" val="35174781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7 Intro - Red, img. White">
    <p:spTree>
      <p:nvGrpSpPr>
        <p:cNvPr id="1" name=""/>
        <p:cNvGrpSpPr/>
        <p:nvPr/>
      </p:nvGrpSpPr>
      <p:grpSpPr>
        <a:xfrm>
          <a:off x="0" y="0"/>
          <a:ext cx="0" cy="0"/>
          <a:chOff x="0" y="0"/>
          <a:chExt cx="0" cy="0"/>
        </a:xfrm>
      </p:grpSpPr>
      <p:sp>
        <p:nvSpPr>
          <p:cNvPr id="23" name="Picture Placeholder 7">
            <a:extLst>
              <a:ext uri="{FF2B5EF4-FFF2-40B4-BE49-F238E27FC236}">
                <a16:creationId xmlns:a16="http://schemas.microsoft.com/office/drawing/2014/main" id="{2ED771AD-A64E-2A03-C862-3E55A9C4E93D}"/>
              </a:ext>
            </a:extLst>
          </p:cNvPr>
          <p:cNvSpPr>
            <a:spLocks noGrp="1"/>
          </p:cNvSpPr>
          <p:nvPr>
            <p:ph type="pic" sz="quarter" idx="16" hasCustomPrompt="1"/>
            <p:custDataLst>
              <p:tags r:id="rId1"/>
            </p:custDataLst>
          </p:nvPr>
        </p:nvSpPr>
        <p:spPr>
          <a:xfrm>
            <a:off x="0" y="0"/>
            <a:ext cx="12192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ja-JP" altLang="en-US"/>
              <a:t> </a:t>
            </a:r>
            <a:endParaRPr lang="ja-JP" altLang="en-US" dirty="0"/>
          </a:p>
        </p:txBody>
      </p:sp>
      <p:sp>
        <p:nvSpPr>
          <p:cNvPr id="25" name="Title 1">
            <a:extLst>
              <a:ext uri="{FF2B5EF4-FFF2-40B4-BE49-F238E27FC236}">
                <a16:creationId xmlns:a16="http://schemas.microsoft.com/office/drawing/2014/main" id="{A889FAF5-7AC5-C6FC-5E2B-AB33DC2AA073}"/>
              </a:ext>
            </a:extLst>
          </p:cNvPr>
          <p:cNvSpPr>
            <a:spLocks noGrp="1"/>
          </p:cNvSpPr>
          <p:nvPr>
            <p:ph type="ctrTitle" hasCustomPrompt="1"/>
            <p:custDataLst>
              <p:tags r:id="rId2"/>
            </p:custDataLst>
          </p:nvPr>
        </p:nvSpPr>
        <p:spPr>
          <a:xfrm>
            <a:off x="523878" y="1209054"/>
            <a:ext cx="8348792" cy="1609862"/>
          </a:xfrm>
        </p:spPr>
        <p:txBody>
          <a:bodyPr anchor="b">
            <a:normAutofit/>
          </a:bodyPr>
          <a:lstStyle>
            <a:lvl1pPr algn="l">
              <a:defRPr sz="4400">
                <a:solidFill>
                  <a:schemeClr val="bg1"/>
                </a:solidFill>
              </a:defRPr>
            </a:lvl1pPr>
          </a:lstStyle>
          <a:p>
            <a:r>
              <a:rPr lang="ja-JP" altLang="en-US" dirty="0"/>
              <a:t>タイトル</a:t>
            </a:r>
          </a:p>
        </p:txBody>
      </p:sp>
      <p:sp>
        <p:nvSpPr>
          <p:cNvPr id="27" name="Logo">
            <a:extLst>
              <a:ext uri="{FF2B5EF4-FFF2-40B4-BE49-F238E27FC236}">
                <a16:creationId xmlns:a16="http://schemas.microsoft.com/office/drawing/2014/main" id="{396B22A5-DA25-A831-F2B2-2ACBA2887AD6}"/>
              </a:ext>
            </a:extLst>
          </p:cNvPr>
          <p:cNvSpPr>
            <a:spLocks noGrp="1"/>
          </p:cNvSpPr>
          <p:nvPr>
            <p:ph type="body" sz="quarter" idx="17" hasCustomPrompt="1"/>
            <p:custDataLst>
              <p:tags r:id="rId3"/>
            </p:custDataLst>
          </p:nvPr>
        </p:nvSpPr>
        <p:spPr>
          <a:xfrm>
            <a:off x="454798" y="303421"/>
            <a:ext cx="2025604" cy="352508"/>
          </a:xfrm>
          <a:prstGeom prst="rect">
            <a:avLst/>
          </a:prstGeom>
          <a:blipFill>
            <a:blip>
              <a:extLst>
                <a:ext uri="{96DAC541-7B7A-43D3-8B79-37D633B846F1}">
                  <asvg:svgBlip xmlns:asvg="http://schemas.microsoft.com/office/drawing/2016/SVG/main" r:embed="rId8"/>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8" name="Swirl Locked">
            <a:extLst>
              <a:ext uri="{FF2B5EF4-FFF2-40B4-BE49-F238E27FC236}">
                <a16:creationId xmlns:a16="http://schemas.microsoft.com/office/drawing/2014/main" id="{BC0041CD-D4F8-6ECC-A104-A945A55CF403}"/>
              </a:ext>
            </a:extLst>
          </p:cNvPr>
          <p:cNvSpPr>
            <a:spLocks noGrp="1"/>
          </p:cNvSpPr>
          <p:nvPr>
            <p:ph type="body" sz="quarter" idx="13" hasCustomPrompt="1"/>
            <p:custDataLst>
              <p:tags r:id="rId4"/>
            </p:custDataLst>
          </p:nvPr>
        </p:nvSpPr>
        <p:spPr>
          <a:xfrm>
            <a:off x="0" y="3695341"/>
            <a:ext cx="12193211" cy="3162659"/>
          </a:xfrm>
          <a:prstGeom prst="rect">
            <a:avLst/>
          </a:prstGeom>
          <a:blipFill>
            <a:blip r:embed="rId9">
              <a:extLst>
                <a:ext uri="{28A0092B-C50C-407E-A947-70E740481C1C}">
                  <a14:useLocalDpi xmlns:a14="http://schemas.microsoft.com/office/drawing/2010/main" val="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dirty="0"/>
              <a:t>  </a:t>
            </a:r>
          </a:p>
        </p:txBody>
      </p:sp>
      <p:sp>
        <p:nvSpPr>
          <p:cNvPr id="11" name="Subtitle 2">
            <a:extLst>
              <a:ext uri="{FF2B5EF4-FFF2-40B4-BE49-F238E27FC236}">
                <a16:creationId xmlns:a16="http://schemas.microsoft.com/office/drawing/2014/main" id="{21884800-C0A3-CE77-2AC4-08E7D1084356}"/>
              </a:ext>
            </a:extLst>
          </p:cNvPr>
          <p:cNvSpPr>
            <a:spLocks noGrp="1"/>
          </p:cNvSpPr>
          <p:nvPr>
            <p:ph type="subTitle" idx="1" hasCustomPrompt="1"/>
            <p:custDataLst>
              <p:tags r:id="rId5"/>
            </p:custDataLst>
          </p:nvPr>
        </p:nvSpPr>
        <p:spPr>
          <a:xfrm>
            <a:off x="523878" y="4704538"/>
            <a:ext cx="4175713" cy="93102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日付、氏名、もしくはコンテンツ</a:t>
            </a:r>
          </a:p>
        </p:txBody>
      </p:sp>
      <p:sp>
        <p:nvSpPr>
          <p:cNvPr id="17" name="Logo ISUZU GROUP">
            <a:extLst>
              <a:ext uri="{FF2B5EF4-FFF2-40B4-BE49-F238E27FC236}">
                <a16:creationId xmlns:a16="http://schemas.microsoft.com/office/drawing/2014/main" id="{949EAAC2-57E6-F525-52DE-8E3C83C69A59}"/>
              </a:ext>
            </a:extLst>
          </p:cNvPr>
          <p:cNvSpPr>
            <a:spLocks noGrp="1"/>
          </p:cNvSpPr>
          <p:nvPr>
            <p:ph type="body" sz="quarter" idx="24" hasCustomPrompt="1"/>
            <p:custDataLst>
              <p:tags r:id="rId6"/>
            </p:custDataLst>
          </p:nvPr>
        </p:nvSpPr>
        <p:spPr>
          <a:xfrm>
            <a:off x="9548761" y="6276138"/>
            <a:ext cx="2206625" cy="273690"/>
          </a:xfrm>
          <a:prstGeom prst="rect">
            <a:avLst/>
          </a:prstGeom>
          <a:blipFill>
            <a:blip>
              <a:extLst>
                <a:ext uri="{96DAC541-7B7A-43D3-8B79-37D633B846F1}">
                  <asvg:svgBlip xmlns:asvg="http://schemas.microsoft.com/office/drawing/2016/SVG/main" r:embed="rId1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Tree>
    <p:extLst>
      <p:ext uri="{BB962C8B-B14F-4D97-AF65-F5344CB8AC3E}">
        <p14:creationId xmlns:p14="http://schemas.microsoft.com/office/powerpoint/2010/main" val="1896851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8 Intro - Blue, img. Red">
    <p:bg>
      <p:bgPr>
        <a:solidFill>
          <a:schemeClr val="bg1"/>
        </a:solidFill>
        <a:effectLst/>
      </p:bgPr>
    </p:bg>
    <p:spTree>
      <p:nvGrpSpPr>
        <p:cNvPr id="1" name=""/>
        <p:cNvGrpSpPr/>
        <p:nvPr/>
      </p:nvGrpSpPr>
      <p:grpSpPr>
        <a:xfrm>
          <a:off x="0" y="0"/>
          <a:ext cx="0" cy="0"/>
          <a:chOff x="0" y="0"/>
          <a:chExt cx="0" cy="0"/>
        </a:xfrm>
      </p:grpSpPr>
      <p:sp>
        <p:nvSpPr>
          <p:cNvPr id="15" name="Picture Placeholder 7">
            <a:extLst>
              <a:ext uri="{FF2B5EF4-FFF2-40B4-BE49-F238E27FC236}">
                <a16:creationId xmlns:a16="http://schemas.microsoft.com/office/drawing/2014/main" id="{4EE9E310-5BC5-6D27-EEF1-F9B1F9AB5E1D}"/>
              </a:ext>
            </a:extLst>
          </p:cNvPr>
          <p:cNvSpPr>
            <a:spLocks noGrp="1"/>
          </p:cNvSpPr>
          <p:nvPr>
            <p:ph type="pic" sz="quarter" idx="16" hasCustomPrompt="1"/>
            <p:custDataLst>
              <p:tags r:id="rId1"/>
            </p:custDataLst>
          </p:nvPr>
        </p:nvSpPr>
        <p:spPr>
          <a:xfrm>
            <a:off x="0" y="0"/>
            <a:ext cx="12192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ja-JP" altLang="en-US"/>
              <a:t> </a:t>
            </a:r>
            <a:endParaRPr lang="ja-JP" altLang="en-US" dirty="0"/>
          </a:p>
        </p:txBody>
      </p:sp>
      <p:sp>
        <p:nvSpPr>
          <p:cNvPr id="17" name="Title 1">
            <a:extLst>
              <a:ext uri="{FF2B5EF4-FFF2-40B4-BE49-F238E27FC236}">
                <a16:creationId xmlns:a16="http://schemas.microsoft.com/office/drawing/2014/main" id="{B21EF43C-7AA3-80AA-41C1-0DF3D7839AAB}"/>
              </a:ext>
            </a:extLst>
          </p:cNvPr>
          <p:cNvSpPr>
            <a:spLocks noGrp="1"/>
          </p:cNvSpPr>
          <p:nvPr>
            <p:ph type="ctrTitle" hasCustomPrompt="1"/>
            <p:custDataLst>
              <p:tags r:id="rId2"/>
            </p:custDataLst>
          </p:nvPr>
        </p:nvSpPr>
        <p:spPr>
          <a:xfrm>
            <a:off x="523878" y="1209054"/>
            <a:ext cx="8348792" cy="1609862"/>
          </a:xfrm>
        </p:spPr>
        <p:txBody>
          <a:bodyPr anchor="b">
            <a:normAutofit/>
          </a:bodyPr>
          <a:lstStyle>
            <a:lvl1pPr algn="l">
              <a:defRPr sz="4400">
                <a:solidFill>
                  <a:schemeClr val="bg1"/>
                </a:solidFill>
              </a:defRPr>
            </a:lvl1pPr>
          </a:lstStyle>
          <a:p>
            <a:r>
              <a:rPr lang="ja-JP" altLang="en-US" dirty="0"/>
              <a:t>タイトル</a:t>
            </a:r>
          </a:p>
        </p:txBody>
      </p:sp>
      <p:sp>
        <p:nvSpPr>
          <p:cNvPr id="18" name="Subtitle 2">
            <a:extLst>
              <a:ext uri="{FF2B5EF4-FFF2-40B4-BE49-F238E27FC236}">
                <a16:creationId xmlns:a16="http://schemas.microsoft.com/office/drawing/2014/main" id="{A07FFA31-14D2-411A-D689-C6278B667FEC}"/>
              </a:ext>
            </a:extLst>
          </p:cNvPr>
          <p:cNvSpPr>
            <a:spLocks noGrp="1"/>
          </p:cNvSpPr>
          <p:nvPr>
            <p:ph type="subTitle" idx="1" hasCustomPrompt="1"/>
            <p:custDataLst>
              <p:tags r:id="rId3"/>
            </p:custDataLst>
          </p:nvPr>
        </p:nvSpPr>
        <p:spPr>
          <a:xfrm>
            <a:off x="523878" y="4704538"/>
            <a:ext cx="4175713" cy="93102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日付、氏名、もしくはコンテンツ</a:t>
            </a:r>
          </a:p>
        </p:txBody>
      </p:sp>
      <p:sp>
        <p:nvSpPr>
          <p:cNvPr id="19" name="Logo">
            <a:extLst>
              <a:ext uri="{FF2B5EF4-FFF2-40B4-BE49-F238E27FC236}">
                <a16:creationId xmlns:a16="http://schemas.microsoft.com/office/drawing/2014/main" id="{246AC234-BC84-6DFE-2DF0-9132B93BE0DD}"/>
              </a:ext>
            </a:extLst>
          </p:cNvPr>
          <p:cNvSpPr>
            <a:spLocks noGrp="1"/>
          </p:cNvSpPr>
          <p:nvPr>
            <p:ph type="body" sz="quarter" idx="17" hasCustomPrompt="1"/>
            <p:custDataLst>
              <p:tags r:id="rId4"/>
            </p:custDataLst>
          </p:nvPr>
        </p:nvSpPr>
        <p:spPr>
          <a:xfrm>
            <a:off x="454798" y="303421"/>
            <a:ext cx="2025604" cy="352508"/>
          </a:xfrm>
          <a:prstGeom prst="rect">
            <a:avLst/>
          </a:prstGeom>
          <a:blipFill>
            <a:blip>
              <a:extLst>
                <a:ext uri="{96DAC541-7B7A-43D3-8B79-37D633B846F1}">
                  <asvg:svgBlip xmlns:asvg="http://schemas.microsoft.com/office/drawing/2016/SVG/main" r:embed="rId8"/>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20" name="Swirl Locked">
            <a:extLst>
              <a:ext uri="{FF2B5EF4-FFF2-40B4-BE49-F238E27FC236}">
                <a16:creationId xmlns:a16="http://schemas.microsoft.com/office/drawing/2014/main" id="{9E7F9BD1-2AAD-9AD7-E744-920B665A26F6}"/>
              </a:ext>
            </a:extLst>
          </p:cNvPr>
          <p:cNvSpPr>
            <a:spLocks noGrp="1"/>
          </p:cNvSpPr>
          <p:nvPr>
            <p:ph type="body" sz="quarter" idx="13" hasCustomPrompt="1"/>
            <p:custDataLst>
              <p:tags r:id="rId5"/>
            </p:custDataLst>
          </p:nvPr>
        </p:nvSpPr>
        <p:spPr>
          <a:xfrm>
            <a:off x="0" y="3695341"/>
            <a:ext cx="12193211" cy="3162659"/>
          </a:xfrm>
          <a:prstGeom prst="rect">
            <a:avLst/>
          </a:prstGeom>
          <a:blipFill>
            <a:blip r:embed="rId9">
              <a:extLst>
                <a:ext uri="{28A0092B-C50C-407E-A947-70E740481C1C}">
                  <a14:useLocalDpi xmlns:a14="http://schemas.microsoft.com/office/drawing/2010/main" val="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dirty="0"/>
              <a:t>  </a:t>
            </a:r>
          </a:p>
        </p:txBody>
      </p:sp>
      <p:sp>
        <p:nvSpPr>
          <p:cNvPr id="25" name="Logo ISUZU GROUP">
            <a:extLst>
              <a:ext uri="{FF2B5EF4-FFF2-40B4-BE49-F238E27FC236}">
                <a16:creationId xmlns:a16="http://schemas.microsoft.com/office/drawing/2014/main" id="{2C880B51-0569-901F-B9D9-48E6FCA3488C}"/>
              </a:ext>
            </a:extLst>
          </p:cNvPr>
          <p:cNvSpPr>
            <a:spLocks noGrp="1"/>
          </p:cNvSpPr>
          <p:nvPr>
            <p:ph type="body" sz="quarter" idx="24" hasCustomPrompt="1"/>
            <p:custDataLst>
              <p:tags r:id="rId6"/>
            </p:custDataLst>
          </p:nvPr>
        </p:nvSpPr>
        <p:spPr>
          <a:xfrm>
            <a:off x="9548761" y="6276138"/>
            <a:ext cx="2206625" cy="273690"/>
          </a:xfrm>
          <a:prstGeom prst="rect">
            <a:avLst/>
          </a:prstGeom>
          <a:blipFill>
            <a:blip>
              <a:extLst>
                <a:ext uri="{96DAC541-7B7A-43D3-8B79-37D633B846F1}">
                  <asvg:svgBlip xmlns:asvg="http://schemas.microsoft.com/office/drawing/2016/SVG/main" r:embed="rId1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Tree>
    <p:extLst>
      <p:ext uri="{BB962C8B-B14F-4D97-AF65-F5344CB8AC3E}">
        <p14:creationId xmlns:p14="http://schemas.microsoft.com/office/powerpoint/2010/main" val="3051939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9 Intro - Blue, img. White">
    <p:spTree>
      <p:nvGrpSpPr>
        <p:cNvPr id="1" name=""/>
        <p:cNvGrpSpPr/>
        <p:nvPr/>
      </p:nvGrpSpPr>
      <p:grpSpPr>
        <a:xfrm>
          <a:off x="0" y="0"/>
          <a:ext cx="0" cy="0"/>
          <a:chOff x="0" y="0"/>
          <a:chExt cx="0" cy="0"/>
        </a:xfrm>
      </p:grpSpPr>
      <p:sp>
        <p:nvSpPr>
          <p:cNvPr id="13" name="Picture Placeholder 7">
            <a:extLst>
              <a:ext uri="{FF2B5EF4-FFF2-40B4-BE49-F238E27FC236}">
                <a16:creationId xmlns:a16="http://schemas.microsoft.com/office/drawing/2014/main" id="{D91F24B3-F07E-E64C-A785-3CCB0344DB4F}"/>
              </a:ext>
            </a:extLst>
          </p:cNvPr>
          <p:cNvSpPr>
            <a:spLocks noGrp="1"/>
          </p:cNvSpPr>
          <p:nvPr>
            <p:ph type="pic" sz="quarter" idx="16" hasCustomPrompt="1"/>
            <p:custDataLst>
              <p:tags r:id="rId1"/>
            </p:custDataLst>
          </p:nvPr>
        </p:nvSpPr>
        <p:spPr>
          <a:xfrm>
            <a:off x="0" y="0"/>
            <a:ext cx="12192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ja-JP" altLang="en-US"/>
              <a:t> </a:t>
            </a:r>
            <a:endParaRPr lang="ja-JP" altLang="en-US" dirty="0"/>
          </a:p>
        </p:txBody>
      </p:sp>
      <p:sp>
        <p:nvSpPr>
          <p:cNvPr id="15" name="Title 1">
            <a:extLst>
              <a:ext uri="{FF2B5EF4-FFF2-40B4-BE49-F238E27FC236}">
                <a16:creationId xmlns:a16="http://schemas.microsoft.com/office/drawing/2014/main" id="{55F10EBB-9A88-B7A7-1B08-8884C5512638}"/>
              </a:ext>
            </a:extLst>
          </p:cNvPr>
          <p:cNvSpPr>
            <a:spLocks noGrp="1"/>
          </p:cNvSpPr>
          <p:nvPr>
            <p:ph type="ctrTitle" hasCustomPrompt="1"/>
            <p:custDataLst>
              <p:tags r:id="rId2"/>
            </p:custDataLst>
          </p:nvPr>
        </p:nvSpPr>
        <p:spPr>
          <a:xfrm>
            <a:off x="523878" y="1209054"/>
            <a:ext cx="8348792" cy="1609862"/>
          </a:xfrm>
        </p:spPr>
        <p:txBody>
          <a:bodyPr anchor="b">
            <a:normAutofit/>
          </a:bodyPr>
          <a:lstStyle>
            <a:lvl1pPr algn="l">
              <a:defRPr sz="4400">
                <a:solidFill>
                  <a:schemeClr val="bg1"/>
                </a:solidFill>
              </a:defRPr>
            </a:lvl1pPr>
          </a:lstStyle>
          <a:p>
            <a:r>
              <a:rPr lang="ja-JP" altLang="en-US" dirty="0"/>
              <a:t>タイトル</a:t>
            </a:r>
          </a:p>
        </p:txBody>
      </p:sp>
      <p:sp>
        <p:nvSpPr>
          <p:cNvPr id="17" name="Logo">
            <a:extLst>
              <a:ext uri="{FF2B5EF4-FFF2-40B4-BE49-F238E27FC236}">
                <a16:creationId xmlns:a16="http://schemas.microsoft.com/office/drawing/2014/main" id="{B5EB7971-0020-30F5-0DD1-28E1FC106BC4}"/>
              </a:ext>
            </a:extLst>
          </p:cNvPr>
          <p:cNvSpPr>
            <a:spLocks noGrp="1"/>
          </p:cNvSpPr>
          <p:nvPr>
            <p:ph type="body" sz="quarter" idx="17" hasCustomPrompt="1"/>
            <p:custDataLst>
              <p:tags r:id="rId3"/>
            </p:custDataLst>
          </p:nvPr>
        </p:nvSpPr>
        <p:spPr>
          <a:xfrm>
            <a:off x="454798" y="303421"/>
            <a:ext cx="2025604" cy="352508"/>
          </a:xfrm>
          <a:prstGeom prst="rect">
            <a:avLst/>
          </a:prstGeom>
          <a:blipFill>
            <a:blip>
              <a:extLst>
                <a:ext uri="{96DAC541-7B7A-43D3-8B79-37D633B846F1}">
                  <asvg:svgBlip xmlns:asvg="http://schemas.microsoft.com/office/drawing/2016/SVG/main" r:embed="rId8"/>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14" name="Subtitle 2">
            <a:extLst>
              <a:ext uri="{FF2B5EF4-FFF2-40B4-BE49-F238E27FC236}">
                <a16:creationId xmlns:a16="http://schemas.microsoft.com/office/drawing/2014/main" id="{D4E89846-739C-C28F-B6B1-B9C87B66716B}"/>
              </a:ext>
            </a:extLst>
          </p:cNvPr>
          <p:cNvSpPr>
            <a:spLocks noGrp="1"/>
          </p:cNvSpPr>
          <p:nvPr>
            <p:ph type="subTitle" idx="1" hasCustomPrompt="1"/>
            <p:custDataLst>
              <p:tags r:id="rId4"/>
            </p:custDataLst>
          </p:nvPr>
        </p:nvSpPr>
        <p:spPr>
          <a:xfrm>
            <a:off x="523878" y="4704538"/>
            <a:ext cx="4175713" cy="93102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日付、氏名、もしくはコンテンツ</a:t>
            </a:r>
          </a:p>
        </p:txBody>
      </p:sp>
      <p:sp>
        <p:nvSpPr>
          <p:cNvPr id="16" name="Swirl Locked">
            <a:extLst>
              <a:ext uri="{FF2B5EF4-FFF2-40B4-BE49-F238E27FC236}">
                <a16:creationId xmlns:a16="http://schemas.microsoft.com/office/drawing/2014/main" id="{E0F15026-6184-A986-FF59-9369B74E9BA3}"/>
              </a:ext>
            </a:extLst>
          </p:cNvPr>
          <p:cNvSpPr>
            <a:spLocks noGrp="1"/>
          </p:cNvSpPr>
          <p:nvPr>
            <p:ph type="body" sz="quarter" idx="13" hasCustomPrompt="1"/>
            <p:custDataLst>
              <p:tags r:id="rId5"/>
            </p:custDataLst>
          </p:nvPr>
        </p:nvSpPr>
        <p:spPr>
          <a:xfrm>
            <a:off x="0" y="3695341"/>
            <a:ext cx="12193211" cy="3162659"/>
          </a:xfrm>
          <a:prstGeom prst="rect">
            <a:avLst/>
          </a:prstGeom>
          <a:blipFill>
            <a:blip r:embed="rId9">
              <a:extLst>
                <a:ext uri="{28A0092B-C50C-407E-A947-70E740481C1C}">
                  <a14:useLocalDpi xmlns:a14="http://schemas.microsoft.com/office/drawing/2010/main" val="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dirty="0"/>
              <a:t>  </a:t>
            </a:r>
          </a:p>
        </p:txBody>
      </p:sp>
      <p:sp>
        <p:nvSpPr>
          <p:cNvPr id="25" name="Logo ISUZU GROUP">
            <a:extLst>
              <a:ext uri="{FF2B5EF4-FFF2-40B4-BE49-F238E27FC236}">
                <a16:creationId xmlns:a16="http://schemas.microsoft.com/office/drawing/2014/main" id="{0EA28C34-5276-ED46-6CA9-92B3A9F1AB82}"/>
              </a:ext>
            </a:extLst>
          </p:cNvPr>
          <p:cNvSpPr>
            <a:spLocks noGrp="1"/>
          </p:cNvSpPr>
          <p:nvPr>
            <p:ph type="body" sz="quarter" idx="24" hasCustomPrompt="1"/>
            <p:custDataLst>
              <p:tags r:id="rId6"/>
            </p:custDataLst>
          </p:nvPr>
        </p:nvSpPr>
        <p:spPr>
          <a:xfrm>
            <a:off x="9548761" y="6276138"/>
            <a:ext cx="2206625" cy="273690"/>
          </a:xfrm>
          <a:prstGeom prst="rect">
            <a:avLst/>
          </a:prstGeom>
          <a:blipFill>
            <a:blip>
              <a:extLst>
                <a:ext uri="{96DAC541-7B7A-43D3-8B79-37D633B846F1}">
                  <asvg:svgBlip xmlns:asvg="http://schemas.microsoft.com/office/drawing/2016/SVG/main" r:embed="rId1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Tree>
    <p:extLst>
      <p:ext uri="{BB962C8B-B14F-4D97-AF65-F5344CB8AC3E}">
        <p14:creationId xmlns:p14="http://schemas.microsoft.com/office/powerpoint/2010/main" val="10044954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1 ToC - White">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3868D06-771D-4147-3C89-0A5D61881531}"/>
              </a:ext>
            </a:extLst>
          </p:cNvPr>
          <p:cNvSpPr/>
          <p:nvPr userDrawn="1"/>
        </p:nvSpPr>
        <p:spPr>
          <a:xfrm>
            <a:off x="0" y="635635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pic>
        <p:nvPicPr>
          <p:cNvPr id="3" name="Lines Locked">
            <a:extLst>
              <a:ext uri="{FF2B5EF4-FFF2-40B4-BE49-F238E27FC236}">
                <a16:creationId xmlns:a16="http://schemas.microsoft.com/office/drawing/2014/main" id="{6497DA9D-4B07-7DAF-6752-29F401ED7997}"/>
              </a:ext>
            </a:extLst>
          </p:cNvPr>
          <p:cNvPicPr/>
          <p:nvPr userDrawn="1">
            <p:custDataLst>
              <p:tags r:id="rId1"/>
            </p:custDataLst>
          </p:nvPr>
        </p:nvPicPr>
        <p:blipFill>
          <a:blip>
            <a:extLst>
              <a:ext uri="{96DAC541-7B7A-43D3-8B79-37D633B846F1}">
                <asvg:svgBlip xmlns:asvg="http://schemas.microsoft.com/office/drawing/2016/SVG/main" r:embed="rId6"/>
              </a:ext>
            </a:extLst>
          </a:blip>
          <a:stretch>
            <a:fillRect/>
          </a:stretch>
        </p:blipFill>
        <p:spPr>
          <a:xfrm rot="5400000">
            <a:off x="-2279642" y="2567027"/>
            <a:ext cx="6857999" cy="1723951"/>
          </a:xfrm>
          <a:prstGeom prst="rect">
            <a:avLst/>
          </a:prstGeom>
        </p:spPr>
      </p:pic>
      <p:sp>
        <p:nvSpPr>
          <p:cNvPr id="11" name="Title 6">
            <a:extLst>
              <a:ext uri="{FF2B5EF4-FFF2-40B4-BE49-F238E27FC236}">
                <a16:creationId xmlns:a16="http://schemas.microsoft.com/office/drawing/2014/main" id="{D4C8BC0D-535F-1CA2-14D5-8BC02A47E200}"/>
              </a:ext>
            </a:extLst>
          </p:cNvPr>
          <p:cNvSpPr>
            <a:spLocks noGrp="1"/>
          </p:cNvSpPr>
          <p:nvPr>
            <p:ph type="title" hasCustomPrompt="1"/>
            <p:custDataLst>
              <p:tags r:id="rId2"/>
            </p:custDataLst>
          </p:nvPr>
        </p:nvSpPr>
        <p:spPr>
          <a:xfrm>
            <a:off x="2213214" y="593893"/>
            <a:ext cx="8498300" cy="1244437"/>
          </a:xfrm>
        </p:spPr>
        <p:txBody>
          <a:bodyPr anchor="b" anchorCtr="0"/>
          <a:lstStyle>
            <a:lvl1pPr>
              <a:defRPr>
                <a:solidFill>
                  <a:schemeClr val="tx1"/>
                </a:solidFill>
              </a:defRPr>
            </a:lvl1pPr>
          </a:lstStyle>
          <a:p>
            <a:r>
              <a:rPr lang="ja-JP" altLang="en-US" dirty="0"/>
              <a:t>タイトル</a:t>
            </a:r>
          </a:p>
        </p:txBody>
      </p:sp>
      <p:sp>
        <p:nvSpPr>
          <p:cNvPr id="12" name="Text Placeholder 7">
            <a:extLst>
              <a:ext uri="{FF2B5EF4-FFF2-40B4-BE49-F238E27FC236}">
                <a16:creationId xmlns:a16="http://schemas.microsoft.com/office/drawing/2014/main" id="{06263B7D-4CB1-8A08-53FA-61EBDE584673}"/>
              </a:ext>
            </a:extLst>
          </p:cNvPr>
          <p:cNvSpPr>
            <a:spLocks noGrp="1"/>
          </p:cNvSpPr>
          <p:nvPr>
            <p:ph type="body" sz="quarter" idx="15" hasCustomPrompt="1"/>
            <p:custDataLst>
              <p:tags r:id="rId3"/>
            </p:custDataLst>
          </p:nvPr>
        </p:nvSpPr>
        <p:spPr>
          <a:xfrm>
            <a:off x="2212563" y="2070100"/>
            <a:ext cx="8498300" cy="3400425"/>
          </a:xfrm>
        </p:spPr>
        <p:txBody>
          <a:bodyPr/>
          <a:lstStyle/>
          <a:p>
            <a:pPr lvl="0"/>
            <a:r>
              <a:rPr lang="ja-JP" altLang="en-US" dirty="0"/>
              <a:t>テキスト</a:t>
            </a:r>
          </a:p>
        </p:txBody>
      </p:sp>
      <p:sp>
        <p:nvSpPr>
          <p:cNvPr id="4" name="Slide Number Placeholder 5">
            <a:extLst>
              <a:ext uri="{FF2B5EF4-FFF2-40B4-BE49-F238E27FC236}">
                <a16:creationId xmlns:a16="http://schemas.microsoft.com/office/drawing/2014/main" id="{AF667F77-52E8-2872-DE79-26B333A91218}"/>
              </a:ext>
            </a:extLst>
          </p:cNvPr>
          <p:cNvSpPr>
            <a:spLocks noGrp="1"/>
          </p:cNvSpPr>
          <p:nvPr>
            <p:ph type="sldNum" sz="quarter" idx="4"/>
            <p:custDataLst>
              <p:tags r:id="rId4"/>
            </p:custDataLst>
          </p:nvPr>
        </p:nvSpPr>
        <p:spPr>
          <a:xfrm>
            <a:off x="8610600" y="6357488"/>
            <a:ext cx="3124200" cy="365125"/>
          </a:xfrm>
          <a:prstGeom prst="rect">
            <a:avLst/>
          </a:prstGeom>
        </p:spPr>
        <p:txBody>
          <a:bodyPr vert="horz" lIns="91440" tIns="45720" rIns="91440" bIns="45720" rtlCol="0" anchor="ctr"/>
          <a:lstStyle>
            <a:lvl1pPr algn="r">
              <a:defRPr sz="800">
                <a:solidFill>
                  <a:schemeClr val="tx1">
                    <a:tint val="82000"/>
                  </a:schemeClr>
                </a:solidFill>
              </a:defRPr>
            </a:lvl1pPr>
          </a:lstStyle>
          <a:p>
            <a:fld id="{35EA36FB-EA35-45B6-87A5-93E7705983EC}" type="slidenum">
              <a:rPr lang="en-US" altLang="ja-JP" smtClean="0"/>
              <a:pPr/>
              <a:t>‹#›</a:t>
            </a:fld>
            <a:endParaRPr lang="ja-JP" altLang="en-US" dirty="0"/>
          </a:p>
        </p:txBody>
      </p:sp>
    </p:spTree>
    <p:extLst>
      <p:ext uri="{BB962C8B-B14F-4D97-AF65-F5344CB8AC3E}">
        <p14:creationId xmlns:p14="http://schemas.microsoft.com/office/powerpoint/2010/main" val="2444166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2 ToC - Red">
    <p:spTree>
      <p:nvGrpSpPr>
        <p:cNvPr id="1" name=""/>
        <p:cNvGrpSpPr/>
        <p:nvPr/>
      </p:nvGrpSpPr>
      <p:grpSpPr>
        <a:xfrm>
          <a:off x="0" y="0"/>
          <a:ext cx="0" cy="0"/>
          <a:chOff x="0" y="0"/>
          <a:chExt cx="0" cy="0"/>
        </a:xfrm>
      </p:grpSpPr>
      <p:grpSp>
        <p:nvGrpSpPr>
          <p:cNvPr id="4" name="Swirl Locked">
            <a:extLst>
              <a:ext uri="{FF2B5EF4-FFF2-40B4-BE49-F238E27FC236}">
                <a16:creationId xmlns:a16="http://schemas.microsoft.com/office/drawing/2014/main" id="{568E3E55-F4A5-3FA9-4E00-4E7534A19CBA}"/>
              </a:ext>
            </a:extLst>
          </p:cNvPr>
          <p:cNvGrpSpPr/>
          <p:nvPr userDrawn="1">
            <p:custDataLst>
              <p:tags r:id="rId1"/>
            </p:custDataLst>
          </p:nvPr>
        </p:nvGrpSpPr>
        <p:grpSpPr>
          <a:xfrm>
            <a:off x="0" y="0"/>
            <a:ext cx="1778745" cy="6858000"/>
            <a:chOff x="0" y="0"/>
            <a:chExt cx="1778745" cy="6858000"/>
          </a:xfrm>
        </p:grpSpPr>
        <p:sp>
          <p:nvSpPr>
            <p:cNvPr id="9" name="Freeform: Shape 12">
              <a:extLst>
                <a:ext uri="{FF2B5EF4-FFF2-40B4-BE49-F238E27FC236}">
                  <a16:creationId xmlns:a16="http://schemas.microsoft.com/office/drawing/2014/main" id="{209B29BD-3EA5-FA35-6E92-54D58354920C}"/>
                </a:ext>
              </a:extLst>
            </p:cNvPr>
            <p:cNvSpPr/>
            <p:nvPr>
              <p:custDataLst>
                <p:tags r:id="rId5"/>
              </p:custDataLst>
            </p:nvPr>
          </p:nvSpPr>
          <p:spPr>
            <a:xfrm rot="5400000">
              <a:off x="-3182497" y="3182497"/>
              <a:ext cx="6857866" cy="492871"/>
            </a:xfrm>
            <a:custGeom>
              <a:avLst/>
              <a:gdLst>
                <a:gd name="connsiteX0" fmla="*/ 0 w 4859940"/>
                <a:gd name="connsiteY0" fmla="*/ 0 h 349281"/>
                <a:gd name="connsiteX1" fmla="*/ 4859941 w 4859940"/>
                <a:gd name="connsiteY1" fmla="*/ 0 h 349281"/>
                <a:gd name="connsiteX2" fmla="*/ 4859941 w 4859940"/>
                <a:gd name="connsiteY2" fmla="*/ 349282 h 349281"/>
                <a:gd name="connsiteX3" fmla="*/ 0 w 4859940"/>
                <a:gd name="connsiteY3" fmla="*/ 349282 h 349281"/>
              </a:gdLst>
              <a:ahLst/>
              <a:cxnLst>
                <a:cxn ang="0">
                  <a:pos x="connsiteX0" y="connsiteY0"/>
                </a:cxn>
                <a:cxn ang="0">
                  <a:pos x="connsiteX1" y="connsiteY1"/>
                </a:cxn>
                <a:cxn ang="0">
                  <a:pos x="connsiteX2" y="connsiteY2"/>
                </a:cxn>
                <a:cxn ang="0">
                  <a:pos x="connsiteX3" y="connsiteY3"/>
                </a:cxn>
              </a:cxnLst>
              <a:rect l="l" t="t" r="r" b="b"/>
              <a:pathLst>
                <a:path w="4859940" h="349281">
                  <a:moveTo>
                    <a:pt x="0" y="0"/>
                  </a:moveTo>
                  <a:lnTo>
                    <a:pt x="4859941" y="0"/>
                  </a:lnTo>
                  <a:lnTo>
                    <a:pt x="4859941" y="349282"/>
                  </a:lnTo>
                  <a:lnTo>
                    <a:pt x="0" y="349282"/>
                  </a:lnTo>
                  <a:close/>
                </a:path>
              </a:pathLst>
            </a:custGeom>
            <a:solidFill>
              <a:srgbClr val="C74657"/>
            </a:solidFill>
            <a:ln w="0" cap="flat">
              <a:noFill/>
              <a:prstDash val="solid"/>
              <a:miter/>
            </a:ln>
          </p:spPr>
          <p:txBody>
            <a:bodyPr rtlCol="0" anchor="ctr"/>
            <a:lstStyle/>
            <a:p>
              <a:endParaRPr lang="en-US" dirty="0"/>
            </a:p>
          </p:txBody>
        </p:sp>
        <p:sp>
          <p:nvSpPr>
            <p:cNvPr id="10" name="Freeform: Shape 14">
              <a:extLst>
                <a:ext uri="{FF2B5EF4-FFF2-40B4-BE49-F238E27FC236}">
                  <a16:creationId xmlns:a16="http://schemas.microsoft.com/office/drawing/2014/main" id="{665D82C6-5E46-A233-A86C-52E900CC23C8}"/>
                </a:ext>
              </a:extLst>
            </p:cNvPr>
            <p:cNvSpPr/>
            <p:nvPr>
              <p:custDataLst>
                <p:tags r:id="rId6"/>
              </p:custDataLst>
            </p:nvPr>
          </p:nvSpPr>
          <p:spPr>
            <a:xfrm>
              <a:off x="64246" y="0"/>
              <a:ext cx="428625" cy="2283580"/>
            </a:xfrm>
            <a:custGeom>
              <a:avLst/>
              <a:gdLst>
                <a:gd name="connsiteX0" fmla="*/ 303752 w 303752"/>
                <a:gd name="connsiteY0" fmla="*/ 1618298 h 1618297"/>
                <a:gd name="connsiteX1" fmla="*/ 0 w 303752"/>
                <a:gd name="connsiteY1" fmla="*/ 0 h 1618297"/>
                <a:gd name="connsiteX2" fmla="*/ 303752 w 303752"/>
                <a:gd name="connsiteY2" fmla="*/ 0 h 1618297"/>
                <a:gd name="connsiteX3" fmla="*/ 303752 w 303752"/>
                <a:gd name="connsiteY3" fmla="*/ 1618298 h 1618297"/>
              </a:gdLst>
              <a:ahLst/>
              <a:cxnLst>
                <a:cxn ang="0">
                  <a:pos x="connsiteX0" y="connsiteY0"/>
                </a:cxn>
                <a:cxn ang="0">
                  <a:pos x="connsiteX1" y="connsiteY1"/>
                </a:cxn>
                <a:cxn ang="0">
                  <a:pos x="connsiteX2" y="connsiteY2"/>
                </a:cxn>
                <a:cxn ang="0">
                  <a:pos x="connsiteX3" y="connsiteY3"/>
                </a:cxn>
              </a:cxnLst>
              <a:rect l="l" t="t" r="r" b="b"/>
              <a:pathLst>
                <a:path w="303752" h="1618297">
                  <a:moveTo>
                    <a:pt x="303752" y="1618298"/>
                  </a:moveTo>
                  <a:cubicBezTo>
                    <a:pt x="129445" y="1104233"/>
                    <a:pt x="20955" y="543687"/>
                    <a:pt x="0" y="0"/>
                  </a:cubicBezTo>
                  <a:lnTo>
                    <a:pt x="303752" y="0"/>
                  </a:lnTo>
                  <a:lnTo>
                    <a:pt x="303752" y="1618298"/>
                  </a:lnTo>
                  <a:close/>
                </a:path>
              </a:pathLst>
            </a:custGeom>
            <a:solidFill>
              <a:srgbClr val="B5091F"/>
            </a:solidFill>
            <a:ln w="0" cap="flat">
              <a:noFill/>
              <a:prstDash val="solid"/>
              <a:miter/>
            </a:ln>
          </p:spPr>
          <p:txBody>
            <a:bodyPr rtlCol="0" anchor="ctr"/>
            <a:lstStyle/>
            <a:p>
              <a:endParaRPr lang="en-US" dirty="0"/>
            </a:p>
          </p:txBody>
        </p:sp>
        <p:sp>
          <p:nvSpPr>
            <p:cNvPr id="11" name="Freeform: Shape 15">
              <a:extLst>
                <a:ext uri="{FF2B5EF4-FFF2-40B4-BE49-F238E27FC236}">
                  <a16:creationId xmlns:a16="http://schemas.microsoft.com/office/drawing/2014/main" id="{99C363D3-4FE8-9360-32BC-00CA39F52BE4}"/>
                </a:ext>
              </a:extLst>
            </p:cNvPr>
            <p:cNvSpPr/>
            <p:nvPr>
              <p:custDataLst>
                <p:tags r:id="rId7"/>
              </p:custDataLst>
            </p:nvPr>
          </p:nvSpPr>
          <p:spPr>
            <a:xfrm>
              <a:off x="492871" y="2283580"/>
              <a:ext cx="1285874" cy="4574420"/>
            </a:xfrm>
            <a:custGeom>
              <a:avLst/>
              <a:gdLst>
                <a:gd name="connsiteX0" fmla="*/ 0 w 911256"/>
                <a:gd name="connsiteY0" fmla="*/ 754190 h 3241738"/>
                <a:gd name="connsiteX1" fmla="*/ 0 w 911256"/>
                <a:gd name="connsiteY1" fmla="*/ 3241739 h 3241738"/>
                <a:gd name="connsiteX2" fmla="*/ 911257 w 911256"/>
                <a:gd name="connsiteY2" fmla="*/ 3241739 h 3241738"/>
                <a:gd name="connsiteX3" fmla="*/ 607505 w 911256"/>
                <a:gd name="connsiteY3" fmla="*/ 1622965 h 3241738"/>
                <a:gd name="connsiteX4" fmla="*/ 0 w 911256"/>
                <a:gd name="connsiteY4" fmla="*/ 0 h 3241738"/>
                <a:gd name="connsiteX5" fmla="*/ 0 w 911256"/>
                <a:gd name="connsiteY5" fmla="*/ 754190 h 324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1256" h="3241738">
                  <a:moveTo>
                    <a:pt x="0" y="754190"/>
                  </a:moveTo>
                  <a:lnTo>
                    <a:pt x="0" y="3241739"/>
                  </a:lnTo>
                  <a:cubicBezTo>
                    <a:pt x="0" y="3241739"/>
                    <a:pt x="911257" y="3241739"/>
                    <a:pt x="911257" y="3241739"/>
                  </a:cubicBezTo>
                  <a:cubicBezTo>
                    <a:pt x="882301" y="2665476"/>
                    <a:pt x="756761" y="2123313"/>
                    <a:pt x="607505" y="1622965"/>
                  </a:cubicBezTo>
                  <a:cubicBezTo>
                    <a:pt x="446151" y="1082135"/>
                    <a:pt x="104299" y="307562"/>
                    <a:pt x="0" y="0"/>
                  </a:cubicBezTo>
                  <a:lnTo>
                    <a:pt x="0" y="754190"/>
                  </a:lnTo>
                  <a:close/>
                </a:path>
              </a:pathLst>
            </a:custGeom>
            <a:solidFill>
              <a:srgbClr val="D36B79"/>
            </a:solidFill>
            <a:ln w="0" cap="flat">
              <a:noFill/>
              <a:prstDash val="solid"/>
              <a:miter/>
            </a:ln>
          </p:spPr>
          <p:txBody>
            <a:bodyPr rtlCol="0" anchor="ctr"/>
            <a:lstStyle/>
            <a:p>
              <a:endParaRPr lang="en-US" dirty="0"/>
            </a:p>
          </p:txBody>
        </p:sp>
      </p:grpSp>
      <p:sp>
        <p:nvSpPr>
          <p:cNvPr id="17" name="Title 6">
            <a:extLst>
              <a:ext uri="{FF2B5EF4-FFF2-40B4-BE49-F238E27FC236}">
                <a16:creationId xmlns:a16="http://schemas.microsoft.com/office/drawing/2014/main" id="{2C806783-2618-0C42-985C-78FA2C084355}"/>
              </a:ext>
            </a:extLst>
          </p:cNvPr>
          <p:cNvSpPr>
            <a:spLocks noGrp="1"/>
          </p:cNvSpPr>
          <p:nvPr>
            <p:ph type="title" hasCustomPrompt="1"/>
            <p:custDataLst>
              <p:tags r:id="rId2"/>
            </p:custDataLst>
          </p:nvPr>
        </p:nvSpPr>
        <p:spPr>
          <a:xfrm>
            <a:off x="2213214" y="593893"/>
            <a:ext cx="8498300" cy="1244437"/>
          </a:xfrm>
        </p:spPr>
        <p:txBody>
          <a:bodyPr anchor="b" anchorCtr="0"/>
          <a:lstStyle>
            <a:lvl1pPr>
              <a:defRPr>
                <a:solidFill>
                  <a:schemeClr val="tx1"/>
                </a:solidFill>
              </a:defRPr>
            </a:lvl1pPr>
          </a:lstStyle>
          <a:p>
            <a:r>
              <a:rPr lang="ja-JP" altLang="en-US" dirty="0"/>
              <a:t>タイトル</a:t>
            </a:r>
          </a:p>
        </p:txBody>
      </p:sp>
      <p:sp>
        <p:nvSpPr>
          <p:cNvPr id="18" name="Text Placeholder 7">
            <a:extLst>
              <a:ext uri="{FF2B5EF4-FFF2-40B4-BE49-F238E27FC236}">
                <a16:creationId xmlns:a16="http://schemas.microsoft.com/office/drawing/2014/main" id="{CCA7D30C-B39C-6E45-2110-A4B5009FFFDF}"/>
              </a:ext>
            </a:extLst>
          </p:cNvPr>
          <p:cNvSpPr>
            <a:spLocks noGrp="1"/>
          </p:cNvSpPr>
          <p:nvPr>
            <p:ph type="body" sz="quarter" idx="15" hasCustomPrompt="1"/>
            <p:custDataLst>
              <p:tags r:id="rId3"/>
            </p:custDataLst>
          </p:nvPr>
        </p:nvSpPr>
        <p:spPr>
          <a:xfrm>
            <a:off x="2212563" y="2070100"/>
            <a:ext cx="8498300" cy="3400425"/>
          </a:xfrm>
        </p:spPr>
        <p:txBody>
          <a:bodyPr/>
          <a:lstStyle/>
          <a:p>
            <a:pPr lvl="0"/>
            <a:r>
              <a:rPr lang="ja-JP" altLang="en-US" dirty="0"/>
              <a:t>テキスト</a:t>
            </a:r>
          </a:p>
        </p:txBody>
      </p:sp>
      <p:sp>
        <p:nvSpPr>
          <p:cNvPr id="3" name="Slide Number Placeholder 5">
            <a:extLst>
              <a:ext uri="{FF2B5EF4-FFF2-40B4-BE49-F238E27FC236}">
                <a16:creationId xmlns:a16="http://schemas.microsoft.com/office/drawing/2014/main" id="{E1595F35-D759-104A-554A-B232AFBA5447}"/>
              </a:ext>
            </a:extLst>
          </p:cNvPr>
          <p:cNvSpPr>
            <a:spLocks noGrp="1"/>
          </p:cNvSpPr>
          <p:nvPr>
            <p:ph type="sldNum" sz="quarter" idx="4"/>
            <p:custDataLst>
              <p:tags r:id="rId4"/>
            </p:custDataLst>
          </p:nvPr>
        </p:nvSpPr>
        <p:spPr>
          <a:xfrm>
            <a:off x="8610600" y="6357488"/>
            <a:ext cx="3124200" cy="365125"/>
          </a:xfrm>
          <a:prstGeom prst="rect">
            <a:avLst/>
          </a:prstGeom>
        </p:spPr>
        <p:txBody>
          <a:bodyPr vert="horz" lIns="91440" tIns="45720" rIns="91440" bIns="45720" rtlCol="0" anchor="ctr"/>
          <a:lstStyle>
            <a:lvl1pPr algn="r">
              <a:defRPr sz="800">
                <a:solidFill>
                  <a:schemeClr val="tx1">
                    <a:tint val="82000"/>
                  </a:schemeClr>
                </a:solidFill>
              </a:defRPr>
            </a:lvl1pPr>
          </a:lstStyle>
          <a:p>
            <a:fld id="{35EA36FB-EA35-45B6-87A5-93E7705983EC}" type="slidenum">
              <a:rPr lang="en-US" altLang="ja-JP" smtClean="0"/>
              <a:pPr/>
              <a:t>‹#›</a:t>
            </a:fld>
            <a:endParaRPr lang="ja-JP" altLang="en-US" dirty="0"/>
          </a:p>
        </p:txBody>
      </p:sp>
    </p:spTree>
    <p:extLst>
      <p:ext uri="{BB962C8B-B14F-4D97-AF65-F5344CB8AC3E}">
        <p14:creationId xmlns:p14="http://schemas.microsoft.com/office/powerpoint/2010/main" val="27431683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3 ToC - Blue">
    <p:spTree>
      <p:nvGrpSpPr>
        <p:cNvPr id="1" name=""/>
        <p:cNvGrpSpPr/>
        <p:nvPr/>
      </p:nvGrpSpPr>
      <p:grpSpPr>
        <a:xfrm>
          <a:off x="0" y="0"/>
          <a:ext cx="0" cy="0"/>
          <a:chOff x="0" y="0"/>
          <a:chExt cx="0" cy="0"/>
        </a:xfrm>
      </p:grpSpPr>
      <p:grpSp>
        <p:nvGrpSpPr>
          <p:cNvPr id="3" name="Swirl Locked">
            <a:extLst>
              <a:ext uri="{FF2B5EF4-FFF2-40B4-BE49-F238E27FC236}">
                <a16:creationId xmlns:a16="http://schemas.microsoft.com/office/drawing/2014/main" id="{E0974985-8BDB-B28D-F193-B71979F13D05}"/>
              </a:ext>
            </a:extLst>
          </p:cNvPr>
          <p:cNvGrpSpPr/>
          <p:nvPr userDrawn="1">
            <p:custDataLst>
              <p:tags r:id="rId1"/>
            </p:custDataLst>
          </p:nvPr>
        </p:nvGrpSpPr>
        <p:grpSpPr>
          <a:xfrm>
            <a:off x="0" y="0"/>
            <a:ext cx="1778745" cy="6858000"/>
            <a:chOff x="0" y="0"/>
            <a:chExt cx="1778745" cy="6858000"/>
          </a:xfrm>
        </p:grpSpPr>
        <p:sp>
          <p:nvSpPr>
            <p:cNvPr id="9" name="Freeform: Shape 12">
              <a:extLst>
                <a:ext uri="{FF2B5EF4-FFF2-40B4-BE49-F238E27FC236}">
                  <a16:creationId xmlns:a16="http://schemas.microsoft.com/office/drawing/2014/main" id="{65C72D6B-2A48-0A69-C499-B32087456990}"/>
                </a:ext>
              </a:extLst>
            </p:cNvPr>
            <p:cNvSpPr/>
            <p:nvPr>
              <p:custDataLst>
                <p:tags r:id="rId5"/>
              </p:custDataLst>
            </p:nvPr>
          </p:nvSpPr>
          <p:spPr>
            <a:xfrm rot="5400000">
              <a:off x="-3182497" y="3182497"/>
              <a:ext cx="6857866" cy="492871"/>
            </a:xfrm>
            <a:custGeom>
              <a:avLst/>
              <a:gdLst>
                <a:gd name="connsiteX0" fmla="*/ 0 w 4859940"/>
                <a:gd name="connsiteY0" fmla="*/ 0 h 349281"/>
                <a:gd name="connsiteX1" fmla="*/ 4859941 w 4859940"/>
                <a:gd name="connsiteY1" fmla="*/ 0 h 349281"/>
                <a:gd name="connsiteX2" fmla="*/ 4859941 w 4859940"/>
                <a:gd name="connsiteY2" fmla="*/ 349282 h 349281"/>
                <a:gd name="connsiteX3" fmla="*/ 0 w 4859940"/>
                <a:gd name="connsiteY3" fmla="*/ 349282 h 349281"/>
              </a:gdLst>
              <a:ahLst/>
              <a:cxnLst>
                <a:cxn ang="0">
                  <a:pos x="connsiteX0" y="connsiteY0"/>
                </a:cxn>
                <a:cxn ang="0">
                  <a:pos x="connsiteX1" y="connsiteY1"/>
                </a:cxn>
                <a:cxn ang="0">
                  <a:pos x="connsiteX2" y="connsiteY2"/>
                </a:cxn>
                <a:cxn ang="0">
                  <a:pos x="connsiteX3" y="connsiteY3"/>
                </a:cxn>
              </a:cxnLst>
              <a:rect l="l" t="t" r="r" b="b"/>
              <a:pathLst>
                <a:path w="4859940" h="349281">
                  <a:moveTo>
                    <a:pt x="0" y="0"/>
                  </a:moveTo>
                  <a:lnTo>
                    <a:pt x="4859941" y="0"/>
                  </a:lnTo>
                  <a:lnTo>
                    <a:pt x="4859941" y="349282"/>
                  </a:lnTo>
                  <a:lnTo>
                    <a:pt x="0" y="349282"/>
                  </a:lnTo>
                  <a:close/>
                </a:path>
              </a:pathLst>
            </a:custGeom>
            <a:solidFill>
              <a:srgbClr val="405C8B"/>
            </a:solidFill>
            <a:ln w="0" cap="flat">
              <a:noFill/>
              <a:prstDash val="solid"/>
              <a:miter/>
            </a:ln>
          </p:spPr>
          <p:txBody>
            <a:bodyPr rtlCol="0" anchor="ctr"/>
            <a:lstStyle/>
            <a:p>
              <a:endParaRPr lang="ja-JP" altLang="en-US" dirty="0"/>
            </a:p>
          </p:txBody>
        </p:sp>
        <p:sp>
          <p:nvSpPr>
            <p:cNvPr id="10" name="Freeform: Shape 14">
              <a:extLst>
                <a:ext uri="{FF2B5EF4-FFF2-40B4-BE49-F238E27FC236}">
                  <a16:creationId xmlns:a16="http://schemas.microsoft.com/office/drawing/2014/main" id="{3E2BB04E-0434-6A5F-5BC4-739D377C4EA2}"/>
                </a:ext>
              </a:extLst>
            </p:cNvPr>
            <p:cNvSpPr/>
            <p:nvPr>
              <p:custDataLst>
                <p:tags r:id="rId6"/>
              </p:custDataLst>
            </p:nvPr>
          </p:nvSpPr>
          <p:spPr>
            <a:xfrm>
              <a:off x="64246" y="0"/>
              <a:ext cx="428625" cy="2283580"/>
            </a:xfrm>
            <a:custGeom>
              <a:avLst/>
              <a:gdLst>
                <a:gd name="connsiteX0" fmla="*/ 303752 w 303752"/>
                <a:gd name="connsiteY0" fmla="*/ 1618298 h 1618297"/>
                <a:gd name="connsiteX1" fmla="*/ 0 w 303752"/>
                <a:gd name="connsiteY1" fmla="*/ 0 h 1618297"/>
                <a:gd name="connsiteX2" fmla="*/ 303752 w 303752"/>
                <a:gd name="connsiteY2" fmla="*/ 0 h 1618297"/>
                <a:gd name="connsiteX3" fmla="*/ 303752 w 303752"/>
                <a:gd name="connsiteY3" fmla="*/ 1618298 h 1618297"/>
              </a:gdLst>
              <a:ahLst/>
              <a:cxnLst>
                <a:cxn ang="0">
                  <a:pos x="connsiteX0" y="connsiteY0"/>
                </a:cxn>
                <a:cxn ang="0">
                  <a:pos x="connsiteX1" y="connsiteY1"/>
                </a:cxn>
                <a:cxn ang="0">
                  <a:pos x="connsiteX2" y="connsiteY2"/>
                </a:cxn>
                <a:cxn ang="0">
                  <a:pos x="connsiteX3" y="connsiteY3"/>
                </a:cxn>
              </a:cxnLst>
              <a:rect l="l" t="t" r="r" b="b"/>
              <a:pathLst>
                <a:path w="303752" h="1618297">
                  <a:moveTo>
                    <a:pt x="303752" y="1618298"/>
                  </a:moveTo>
                  <a:cubicBezTo>
                    <a:pt x="129445" y="1104233"/>
                    <a:pt x="20955" y="543687"/>
                    <a:pt x="0" y="0"/>
                  </a:cubicBezTo>
                  <a:lnTo>
                    <a:pt x="303752" y="0"/>
                  </a:lnTo>
                  <a:lnTo>
                    <a:pt x="303752" y="1618298"/>
                  </a:lnTo>
                  <a:close/>
                </a:path>
              </a:pathLst>
            </a:custGeom>
            <a:solidFill>
              <a:srgbClr val="002664"/>
            </a:solidFill>
            <a:ln w="0" cap="flat">
              <a:noFill/>
              <a:prstDash val="solid"/>
              <a:miter/>
            </a:ln>
          </p:spPr>
          <p:txBody>
            <a:bodyPr rtlCol="0" anchor="ctr"/>
            <a:lstStyle/>
            <a:p>
              <a:endParaRPr lang="ja-JP" altLang="en-US" dirty="0"/>
            </a:p>
          </p:txBody>
        </p:sp>
        <p:sp>
          <p:nvSpPr>
            <p:cNvPr id="11" name="Freeform: Shape 15">
              <a:extLst>
                <a:ext uri="{FF2B5EF4-FFF2-40B4-BE49-F238E27FC236}">
                  <a16:creationId xmlns:a16="http://schemas.microsoft.com/office/drawing/2014/main" id="{B96AD288-79D7-65DA-78D4-6BACB4C47CBE}"/>
                </a:ext>
              </a:extLst>
            </p:cNvPr>
            <p:cNvSpPr/>
            <p:nvPr>
              <p:custDataLst>
                <p:tags r:id="rId7"/>
              </p:custDataLst>
            </p:nvPr>
          </p:nvSpPr>
          <p:spPr>
            <a:xfrm>
              <a:off x="492871" y="2283580"/>
              <a:ext cx="1285874" cy="4574420"/>
            </a:xfrm>
            <a:custGeom>
              <a:avLst/>
              <a:gdLst>
                <a:gd name="connsiteX0" fmla="*/ 0 w 911256"/>
                <a:gd name="connsiteY0" fmla="*/ 754190 h 3241738"/>
                <a:gd name="connsiteX1" fmla="*/ 0 w 911256"/>
                <a:gd name="connsiteY1" fmla="*/ 3241739 h 3241738"/>
                <a:gd name="connsiteX2" fmla="*/ 911257 w 911256"/>
                <a:gd name="connsiteY2" fmla="*/ 3241739 h 3241738"/>
                <a:gd name="connsiteX3" fmla="*/ 607505 w 911256"/>
                <a:gd name="connsiteY3" fmla="*/ 1622965 h 3241738"/>
                <a:gd name="connsiteX4" fmla="*/ 0 w 911256"/>
                <a:gd name="connsiteY4" fmla="*/ 0 h 3241738"/>
                <a:gd name="connsiteX5" fmla="*/ 0 w 911256"/>
                <a:gd name="connsiteY5" fmla="*/ 754190 h 324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1256" h="3241738">
                  <a:moveTo>
                    <a:pt x="0" y="754190"/>
                  </a:moveTo>
                  <a:lnTo>
                    <a:pt x="0" y="3241739"/>
                  </a:lnTo>
                  <a:cubicBezTo>
                    <a:pt x="0" y="3241739"/>
                    <a:pt x="911257" y="3241739"/>
                    <a:pt x="911257" y="3241739"/>
                  </a:cubicBezTo>
                  <a:cubicBezTo>
                    <a:pt x="882301" y="2665476"/>
                    <a:pt x="756761" y="2123313"/>
                    <a:pt x="607505" y="1622965"/>
                  </a:cubicBezTo>
                  <a:cubicBezTo>
                    <a:pt x="446151" y="1082135"/>
                    <a:pt x="104299" y="307562"/>
                    <a:pt x="0" y="0"/>
                  </a:cubicBezTo>
                  <a:lnTo>
                    <a:pt x="0" y="754190"/>
                  </a:lnTo>
                  <a:close/>
                </a:path>
              </a:pathLst>
            </a:custGeom>
            <a:solidFill>
              <a:srgbClr val="667DA2"/>
            </a:solidFill>
            <a:ln w="0" cap="flat">
              <a:noFill/>
              <a:prstDash val="solid"/>
              <a:miter/>
            </a:ln>
          </p:spPr>
          <p:txBody>
            <a:bodyPr rtlCol="0" anchor="ctr"/>
            <a:lstStyle/>
            <a:p>
              <a:endParaRPr lang="ja-JP" altLang="en-US" dirty="0"/>
            </a:p>
          </p:txBody>
        </p:sp>
      </p:grpSp>
      <p:sp>
        <p:nvSpPr>
          <p:cNvPr id="18" name="Title 6">
            <a:extLst>
              <a:ext uri="{FF2B5EF4-FFF2-40B4-BE49-F238E27FC236}">
                <a16:creationId xmlns:a16="http://schemas.microsoft.com/office/drawing/2014/main" id="{E5C851E5-C86C-60A3-0A02-2429FF7933BF}"/>
              </a:ext>
            </a:extLst>
          </p:cNvPr>
          <p:cNvSpPr>
            <a:spLocks noGrp="1"/>
          </p:cNvSpPr>
          <p:nvPr>
            <p:ph type="title" hasCustomPrompt="1"/>
            <p:custDataLst>
              <p:tags r:id="rId2"/>
            </p:custDataLst>
          </p:nvPr>
        </p:nvSpPr>
        <p:spPr>
          <a:xfrm>
            <a:off x="2213214" y="593893"/>
            <a:ext cx="8498300" cy="1244437"/>
          </a:xfrm>
        </p:spPr>
        <p:txBody>
          <a:bodyPr anchor="b" anchorCtr="0"/>
          <a:lstStyle>
            <a:lvl1pPr>
              <a:defRPr>
                <a:solidFill>
                  <a:schemeClr val="tx1"/>
                </a:solidFill>
              </a:defRPr>
            </a:lvl1pPr>
          </a:lstStyle>
          <a:p>
            <a:r>
              <a:rPr lang="ja-JP" altLang="en-US" dirty="0"/>
              <a:t>タイトル</a:t>
            </a:r>
          </a:p>
        </p:txBody>
      </p:sp>
      <p:sp>
        <p:nvSpPr>
          <p:cNvPr id="19" name="Text Placeholder 7">
            <a:extLst>
              <a:ext uri="{FF2B5EF4-FFF2-40B4-BE49-F238E27FC236}">
                <a16:creationId xmlns:a16="http://schemas.microsoft.com/office/drawing/2014/main" id="{C8B85A9D-30D5-A72B-03F1-65DE470A115D}"/>
              </a:ext>
            </a:extLst>
          </p:cNvPr>
          <p:cNvSpPr>
            <a:spLocks noGrp="1"/>
          </p:cNvSpPr>
          <p:nvPr>
            <p:ph type="body" sz="quarter" idx="15" hasCustomPrompt="1"/>
            <p:custDataLst>
              <p:tags r:id="rId3"/>
            </p:custDataLst>
          </p:nvPr>
        </p:nvSpPr>
        <p:spPr>
          <a:xfrm>
            <a:off x="2212563" y="2070100"/>
            <a:ext cx="8498300" cy="3400425"/>
          </a:xfrm>
        </p:spPr>
        <p:txBody>
          <a:bodyPr/>
          <a:lstStyle/>
          <a:p>
            <a:pPr lvl="0"/>
            <a:r>
              <a:rPr lang="ja-JP" altLang="en-US" dirty="0"/>
              <a:t>テキスト</a:t>
            </a:r>
          </a:p>
        </p:txBody>
      </p:sp>
      <p:sp>
        <p:nvSpPr>
          <p:cNvPr id="4" name="Slide Number Placeholder 5">
            <a:extLst>
              <a:ext uri="{FF2B5EF4-FFF2-40B4-BE49-F238E27FC236}">
                <a16:creationId xmlns:a16="http://schemas.microsoft.com/office/drawing/2014/main" id="{9ECE8FA6-8A43-3817-6BD3-1E715D9EDE1B}"/>
              </a:ext>
            </a:extLst>
          </p:cNvPr>
          <p:cNvSpPr>
            <a:spLocks noGrp="1"/>
          </p:cNvSpPr>
          <p:nvPr>
            <p:ph type="sldNum" sz="quarter" idx="4"/>
            <p:custDataLst>
              <p:tags r:id="rId4"/>
            </p:custDataLst>
          </p:nvPr>
        </p:nvSpPr>
        <p:spPr>
          <a:xfrm>
            <a:off x="8610600" y="6357488"/>
            <a:ext cx="3124200" cy="365125"/>
          </a:xfrm>
          <a:prstGeom prst="rect">
            <a:avLst/>
          </a:prstGeom>
        </p:spPr>
        <p:txBody>
          <a:bodyPr vert="horz" lIns="91440" tIns="45720" rIns="91440" bIns="45720" rtlCol="0" anchor="ctr"/>
          <a:lstStyle>
            <a:lvl1pPr algn="r">
              <a:defRPr sz="800">
                <a:solidFill>
                  <a:schemeClr val="tx1">
                    <a:tint val="82000"/>
                  </a:schemeClr>
                </a:solidFill>
              </a:defRPr>
            </a:lvl1pPr>
          </a:lstStyle>
          <a:p>
            <a:fld id="{35EA36FB-EA35-45B6-87A5-93E7705983EC}" type="slidenum">
              <a:rPr lang="en-US" altLang="ja-JP" smtClean="0"/>
              <a:pPr/>
              <a:t>‹#›</a:t>
            </a:fld>
            <a:endParaRPr lang="ja-JP" altLang="en-US" dirty="0"/>
          </a:p>
        </p:txBody>
      </p:sp>
    </p:spTree>
    <p:extLst>
      <p:ext uri="{BB962C8B-B14F-4D97-AF65-F5344CB8AC3E}">
        <p14:creationId xmlns:p14="http://schemas.microsoft.com/office/powerpoint/2010/main" val="14234873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1 Chapter - Red">
    <p:spTree>
      <p:nvGrpSpPr>
        <p:cNvPr id="1" name=""/>
        <p:cNvGrpSpPr/>
        <p:nvPr/>
      </p:nvGrpSpPr>
      <p:grpSpPr>
        <a:xfrm>
          <a:off x="0" y="0"/>
          <a:ext cx="0" cy="0"/>
          <a:chOff x="0" y="0"/>
          <a:chExt cx="0" cy="0"/>
        </a:xfrm>
      </p:grpSpPr>
      <p:sp>
        <p:nvSpPr>
          <p:cNvPr id="6" name="Recolor 4">
            <a:extLst>
              <a:ext uri="{FF2B5EF4-FFF2-40B4-BE49-F238E27FC236}">
                <a16:creationId xmlns:a16="http://schemas.microsoft.com/office/drawing/2014/main" id="{5C17AE5C-CA5D-29BA-2770-6135ABBF1768}"/>
              </a:ext>
            </a:extLst>
          </p:cNvPr>
          <p:cNvSpPr>
            <a:spLocks noGrp="1"/>
          </p:cNvSpPr>
          <p:nvPr>
            <p:ph type="body" sz="quarter" idx="16" hasCustomPrompt="1"/>
            <p:custDataLst>
              <p:tags r:id="rId1"/>
            </p:custDataLst>
          </p:nvPr>
        </p:nvSpPr>
        <p:spPr>
          <a:xfrm>
            <a:off x="0" y="0"/>
            <a:ext cx="12193211" cy="6857999"/>
          </a:xfrm>
          <a:prstGeom prst="rect">
            <a:avLst/>
          </a:prstGeom>
          <a:solidFill>
            <a:srgbClr val="B5091F"/>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12" name="SmartArt Placeholder 3">
            <a:extLst>
              <a:ext uri="{FF2B5EF4-FFF2-40B4-BE49-F238E27FC236}">
                <a16:creationId xmlns:a16="http://schemas.microsoft.com/office/drawing/2014/main" id="{DFB1040D-CC45-E18B-6DDD-D7306EB09FF7}"/>
              </a:ext>
            </a:extLst>
          </p:cNvPr>
          <p:cNvSpPr>
            <a:spLocks noGrp="1"/>
          </p:cNvSpPr>
          <p:nvPr>
            <p:ph type="dgm" sz="quarter" idx="22" hasCustomPrompt="1"/>
          </p:nvPr>
        </p:nvSpPr>
        <p:spPr>
          <a:xfrm>
            <a:off x="0" y="0"/>
            <a:ext cx="12207383" cy="6120000"/>
          </a:xfrm>
          <a:prstGeom prst="rect">
            <a:avLst/>
          </a:prstGeom>
          <a:blipFill dpi="0" rotWithShape="1">
            <a:blip r:embed="rId4"/>
            <a:srcRect/>
            <a:stretch>
              <a:fillRect t="2" b="-12060"/>
            </a:stretch>
          </a:blipFill>
        </p:spPr>
        <p:txBody>
          <a:bodyPr/>
          <a:lstStyle>
            <a:lvl1pPr marL="0" indent="0">
              <a:buNone/>
              <a:defRPr/>
            </a:lvl1pPr>
          </a:lstStyle>
          <a:p>
            <a:r>
              <a:rPr lang="en-US" dirty="0"/>
              <a:t> </a:t>
            </a:r>
          </a:p>
        </p:txBody>
      </p:sp>
      <p:sp>
        <p:nvSpPr>
          <p:cNvPr id="13" name="Title 1">
            <a:extLst>
              <a:ext uri="{FF2B5EF4-FFF2-40B4-BE49-F238E27FC236}">
                <a16:creationId xmlns:a16="http://schemas.microsoft.com/office/drawing/2014/main" id="{574E7BC9-9FD5-9217-6AD6-4196B54CA652}"/>
              </a:ext>
            </a:extLst>
          </p:cNvPr>
          <p:cNvSpPr>
            <a:spLocks noGrp="1"/>
          </p:cNvSpPr>
          <p:nvPr>
            <p:ph type="title" hasCustomPrompt="1"/>
            <p:custDataLst>
              <p:tags r:id="rId2"/>
            </p:custDataLst>
          </p:nvPr>
        </p:nvSpPr>
        <p:spPr>
          <a:xfrm>
            <a:off x="831850" y="1057747"/>
            <a:ext cx="7872763" cy="2339984"/>
          </a:xfrm>
        </p:spPr>
        <p:txBody>
          <a:bodyPr anchor="b">
            <a:normAutofit/>
          </a:bodyPr>
          <a:lstStyle>
            <a:lvl1pPr>
              <a:defRPr sz="3200">
                <a:solidFill>
                  <a:schemeClr val="bg1"/>
                </a:solidFill>
              </a:defRPr>
            </a:lvl1pPr>
          </a:lstStyle>
          <a:p>
            <a:r>
              <a:rPr lang="ja-JP" altLang="en-US" dirty="0"/>
              <a:t>タイトル</a:t>
            </a:r>
          </a:p>
        </p:txBody>
      </p:sp>
    </p:spTree>
    <p:extLst>
      <p:ext uri="{BB962C8B-B14F-4D97-AF65-F5344CB8AC3E}">
        <p14:creationId xmlns:p14="http://schemas.microsoft.com/office/powerpoint/2010/main" val="28218885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2 Chapter - Blue">
    <p:spTree>
      <p:nvGrpSpPr>
        <p:cNvPr id="1" name=""/>
        <p:cNvGrpSpPr/>
        <p:nvPr/>
      </p:nvGrpSpPr>
      <p:grpSpPr>
        <a:xfrm>
          <a:off x="0" y="0"/>
          <a:ext cx="0" cy="0"/>
          <a:chOff x="0" y="0"/>
          <a:chExt cx="0" cy="0"/>
        </a:xfrm>
      </p:grpSpPr>
      <p:sp>
        <p:nvSpPr>
          <p:cNvPr id="7" name="Recolor 4">
            <a:extLst>
              <a:ext uri="{FF2B5EF4-FFF2-40B4-BE49-F238E27FC236}">
                <a16:creationId xmlns:a16="http://schemas.microsoft.com/office/drawing/2014/main" id="{3DA5557C-E058-9A1B-D5B0-733BC1700FD5}"/>
              </a:ext>
            </a:extLst>
          </p:cNvPr>
          <p:cNvSpPr>
            <a:spLocks noGrp="1"/>
          </p:cNvSpPr>
          <p:nvPr>
            <p:ph type="body" sz="quarter" idx="16" hasCustomPrompt="1"/>
            <p:custDataLst>
              <p:tags r:id="rId1"/>
            </p:custDataLst>
          </p:nvPr>
        </p:nvSpPr>
        <p:spPr>
          <a:xfrm>
            <a:off x="0" y="0"/>
            <a:ext cx="12193211" cy="6857999"/>
          </a:xfrm>
          <a:prstGeom prst="rect">
            <a:avLst/>
          </a:prstGeom>
          <a:solidFill>
            <a:srgbClr val="002664"/>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dirty="0"/>
              <a:t>  </a:t>
            </a:r>
          </a:p>
        </p:txBody>
      </p:sp>
      <p:sp>
        <p:nvSpPr>
          <p:cNvPr id="12" name="SmartArt Placeholder 3">
            <a:extLst>
              <a:ext uri="{FF2B5EF4-FFF2-40B4-BE49-F238E27FC236}">
                <a16:creationId xmlns:a16="http://schemas.microsoft.com/office/drawing/2014/main" id="{C0233031-230C-DA82-EEF2-7B26FAEFCE3B}"/>
              </a:ext>
            </a:extLst>
          </p:cNvPr>
          <p:cNvSpPr>
            <a:spLocks noGrp="1"/>
          </p:cNvSpPr>
          <p:nvPr>
            <p:ph type="dgm" sz="quarter" idx="22" hasCustomPrompt="1"/>
          </p:nvPr>
        </p:nvSpPr>
        <p:spPr>
          <a:xfrm>
            <a:off x="-15383" y="0"/>
            <a:ext cx="12207383" cy="6120000"/>
          </a:xfrm>
          <a:prstGeom prst="rect">
            <a:avLst/>
          </a:prstGeom>
          <a:blipFill dpi="0" rotWithShape="1">
            <a:blip r:embed="rId4"/>
            <a:srcRect/>
            <a:stretch>
              <a:fillRect t="2" b="-12060"/>
            </a:stretch>
          </a:blipFill>
        </p:spPr>
        <p:txBody>
          <a:bodyPr/>
          <a:lstStyle>
            <a:lvl1pPr marL="0" indent="0">
              <a:buNone/>
              <a:defRPr/>
            </a:lvl1pPr>
          </a:lstStyle>
          <a:p>
            <a:r>
              <a:rPr lang="en-US" dirty="0"/>
              <a:t> </a:t>
            </a:r>
          </a:p>
        </p:txBody>
      </p:sp>
      <p:sp>
        <p:nvSpPr>
          <p:cNvPr id="13" name="Title 1">
            <a:extLst>
              <a:ext uri="{FF2B5EF4-FFF2-40B4-BE49-F238E27FC236}">
                <a16:creationId xmlns:a16="http://schemas.microsoft.com/office/drawing/2014/main" id="{237691C5-9D1D-97C3-835A-61A1FCA1BB9C}"/>
              </a:ext>
            </a:extLst>
          </p:cNvPr>
          <p:cNvSpPr>
            <a:spLocks noGrp="1"/>
          </p:cNvSpPr>
          <p:nvPr>
            <p:ph type="title" hasCustomPrompt="1"/>
            <p:custDataLst>
              <p:tags r:id="rId2"/>
            </p:custDataLst>
          </p:nvPr>
        </p:nvSpPr>
        <p:spPr>
          <a:xfrm>
            <a:off x="831850" y="1057747"/>
            <a:ext cx="7872763" cy="2339984"/>
          </a:xfrm>
        </p:spPr>
        <p:txBody>
          <a:bodyPr anchor="b">
            <a:normAutofit/>
          </a:bodyPr>
          <a:lstStyle>
            <a:lvl1pPr>
              <a:defRPr sz="3200">
                <a:solidFill>
                  <a:schemeClr val="bg1"/>
                </a:solidFill>
              </a:defRPr>
            </a:lvl1pPr>
          </a:lstStyle>
          <a:p>
            <a:r>
              <a:rPr lang="ja-JP" altLang="en-US" dirty="0"/>
              <a:t>タイトル</a:t>
            </a:r>
          </a:p>
        </p:txBody>
      </p:sp>
    </p:spTree>
    <p:extLst>
      <p:ext uri="{BB962C8B-B14F-4D97-AF65-F5344CB8AC3E}">
        <p14:creationId xmlns:p14="http://schemas.microsoft.com/office/powerpoint/2010/main" val="37650184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3 Chapter - Red, img.">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CC0FB7F5-5864-79B4-142F-D30C62FAE3EC}"/>
              </a:ext>
            </a:extLst>
          </p:cNvPr>
          <p:cNvSpPr/>
          <p:nvPr userDrawn="1">
            <p:custDataLst>
              <p:tags r:id="rId1"/>
            </p:custDataLst>
          </p:nvPr>
        </p:nvSpPr>
        <p:spPr>
          <a:xfrm>
            <a:off x="0" y="0"/>
            <a:ext cx="12192000" cy="6858000"/>
          </a:xfrm>
          <a:prstGeom prst="rect">
            <a:avLst/>
          </a:prstGeom>
          <a:solidFill>
            <a:srgbClr val="C43A4C"/>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ja-JP" altLang="en-US" dirty="0"/>
          </a:p>
        </p:txBody>
      </p:sp>
      <p:sp>
        <p:nvSpPr>
          <p:cNvPr id="5" name="Picture Placeholder 10">
            <a:extLst>
              <a:ext uri="{FF2B5EF4-FFF2-40B4-BE49-F238E27FC236}">
                <a16:creationId xmlns:a16="http://schemas.microsoft.com/office/drawing/2014/main" id="{2CF6419C-CB04-3BB8-CCB2-635AC3F35A12}"/>
              </a:ext>
            </a:extLst>
          </p:cNvPr>
          <p:cNvSpPr>
            <a:spLocks noGrp="1"/>
          </p:cNvSpPr>
          <p:nvPr>
            <p:ph type="pic" sz="quarter" idx="17" hasCustomPrompt="1"/>
            <p:custDataLst>
              <p:tags r:id="rId2"/>
            </p:custDataLst>
          </p:nvPr>
        </p:nvSpPr>
        <p:spPr>
          <a:xfrm>
            <a:off x="8016000" y="0"/>
            <a:ext cx="4176000" cy="6858000"/>
          </a:xfrm>
          <a:prstGeom prst="rect">
            <a:avLst/>
          </a:prstGeom>
          <a:pattFill prst="pct80">
            <a:fgClr>
              <a:srgbClr val="BFBFBF"/>
            </a:fgClr>
            <a:bgClr>
              <a:schemeClr val="bg1"/>
            </a:bgClr>
          </a:pattFill>
        </p:spPr>
        <p:txBody>
          <a:bodyPr wrap="square" tIns="1260000" anchor="ctr" anchorCtr="0">
            <a:noAutofit/>
          </a:bodyPr>
          <a:lstStyle>
            <a:lvl1pPr marL="0" indent="0" algn="ctr">
              <a:buFontTx/>
              <a:buNone/>
              <a:defRPr sz="1600"/>
            </a:lvl1pPr>
          </a:lstStyle>
          <a:p>
            <a:r>
              <a:rPr lang="ja-JP" altLang="en-US"/>
              <a:t> </a:t>
            </a:r>
            <a:endParaRPr lang="ja-JP" altLang="en-US" dirty="0"/>
          </a:p>
        </p:txBody>
      </p:sp>
      <p:sp>
        <p:nvSpPr>
          <p:cNvPr id="13" name="Text Placeholder 13">
            <a:extLst>
              <a:ext uri="{FF2B5EF4-FFF2-40B4-BE49-F238E27FC236}">
                <a16:creationId xmlns:a16="http://schemas.microsoft.com/office/drawing/2014/main" id="{8E54720B-F73A-A501-42D0-21E6A07CE4E0}"/>
              </a:ext>
            </a:extLst>
          </p:cNvPr>
          <p:cNvSpPr>
            <a:spLocks noGrp="1"/>
          </p:cNvSpPr>
          <p:nvPr>
            <p:ph type="body" sz="quarter" idx="19" hasCustomPrompt="1"/>
            <p:custDataLst>
              <p:tags r:id="rId3"/>
            </p:custDataLst>
          </p:nvPr>
        </p:nvSpPr>
        <p:spPr>
          <a:xfrm>
            <a:off x="831852" y="2879319"/>
            <a:ext cx="5875282" cy="2535162"/>
          </a:xfrm>
        </p:spPr>
        <p:txBody>
          <a:bodyPr/>
          <a:lstStyle>
            <a:lvl1pPr marL="0" indent="0">
              <a:buFontTx/>
              <a:buNone/>
              <a:defRPr>
                <a:solidFill>
                  <a:schemeClr val="bg1"/>
                </a:solidFill>
              </a:defRPr>
            </a:lvl1pPr>
            <a:lvl2pPr marL="223837" indent="0">
              <a:buFontTx/>
              <a:buNone/>
              <a:defRPr>
                <a:solidFill>
                  <a:schemeClr val="bg1"/>
                </a:solidFill>
              </a:defRPr>
            </a:lvl2pPr>
            <a:lvl3pPr marL="457200" indent="0">
              <a:buFontTx/>
              <a:buNone/>
              <a:defRPr/>
            </a:lvl3pPr>
            <a:lvl4pPr marL="669925" indent="0">
              <a:buFontTx/>
              <a:buNone/>
              <a:defRPr/>
            </a:lvl4pPr>
            <a:lvl5pPr marL="914400" indent="0">
              <a:buFontTx/>
              <a:buNone/>
              <a:defRPr/>
            </a:lvl5pPr>
          </a:lstStyle>
          <a:p>
            <a:pPr lvl="0"/>
            <a:r>
              <a:rPr lang="ja-JP" altLang="en-US" dirty="0"/>
              <a:t>テキスト</a:t>
            </a:r>
          </a:p>
        </p:txBody>
      </p:sp>
      <p:sp>
        <p:nvSpPr>
          <p:cNvPr id="17" name="Title 1">
            <a:extLst>
              <a:ext uri="{FF2B5EF4-FFF2-40B4-BE49-F238E27FC236}">
                <a16:creationId xmlns:a16="http://schemas.microsoft.com/office/drawing/2014/main" id="{0B3D184C-527C-EC75-4AA5-0AC7E6C5D2E6}"/>
              </a:ext>
            </a:extLst>
          </p:cNvPr>
          <p:cNvSpPr>
            <a:spLocks noGrp="1"/>
          </p:cNvSpPr>
          <p:nvPr>
            <p:ph type="title" hasCustomPrompt="1"/>
            <p:custDataLst>
              <p:tags r:id="rId4"/>
            </p:custDataLst>
          </p:nvPr>
        </p:nvSpPr>
        <p:spPr>
          <a:xfrm>
            <a:off x="831851" y="1057747"/>
            <a:ext cx="5866900" cy="1295131"/>
          </a:xfrm>
        </p:spPr>
        <p:txBody>
          <a:bodyPr anchor="b">
            <a:normAutofit/>
          </a:bodyPr>
          <a:lstStyle>
            <a:lvl1pPr>
              <a:defRPr sz="3200">
                <a:solidFill>
                  <a:schemeClr val="bg1"/>
                </a:solidFill>
              </a:defRPr>
            </a:lvl1pPr>
          </a:lstStyle>
          <a:p>
            <a:r>
              <a:rPr lang="ja-JP" altLang="en-US" dirty="0"/>
              <a:t>タイトル</a:t>
            </a:r>
          </a:p>
        </p:txBody>
      </p:sp>
      <p:sp>
        <p:nvSpPr>
          <p:cNvPr id="2" name="Swirl">
            <a:extLst>
              <a:ext uri="{FF2B5EF4-FFF2-40B4-BE49-F238E27FC236}">
                <a16:creationId xmlns:a16="http://schemas.microsoft.com/office/drawing/2014/main" id="{9FE5F715-89EB-A8FB-2D2E-EA8BEC9AD334}"/>
              </a:ext>
            </a:extLst>
          </p:cNvPr>
          <p:cNvSpPr>
            <a:spLocks noGrp="1"/>
          </p:cNvSpPr>
          <p:nvPr>
            <p:ph type="body" sz="quarter" idx="24" hasCustomPrompt="1"/>
            <p:custDataLst>
              <p:tags r:id="rId5"/>
            </p:custDataLst>
          </p:nvPr>
        </p:nvSpPr>
        <p:spPr>
          <a:xfrm>
            <a:off x="6739173" y="0"/>
            <a:ext cx="1699200" cy="6858000"/>
          </a:xfrm>
          <a:blipFill>
            <a:blip>
              <a:extLst>
                <a:ext uri="{96DAC541-7B7A-43D3-8B79-37D633B846F1}">
                  <asvg:svgBlip xmlns:asvg="http://schemas.microsoft.com/office/drawing/2016/SVG/main" r:embed="rId7"/>
                </a:ext>
              </a:extLst>
            </a:blip>
            <a:stretch>
              <a:fillRect/>
            </a:stretch>
          </a:blipFill>
        </p:spPr>
        <p:txBody>
          <a:bodyPr/>
          <a:lstStyle>
            <a:lvl1pPr marL="0" indent="0">
              <a:buFontTx/>
              <a:buNone/>
              <a:defRPr sz="100">
                <a:solidFill>
                  <a:schemeClr val="tx1">
                    <a:alpha val="0"/>
                  </a:schemeClr>
                </a:solidFill>
              </a:defRPr>
            </a:lvl1pPr>
            <a:lvl2pPr marL="226800" indent="0">
              <a:buFontTx/>
              <a:buNone/>
              <a:defRPr sz="100">
                <a:solidFill>
                  <a:schemeClr val="tx1">
                    <a:alpha val="0"/>
                  </a:schemeClr>
                </a:solidFill>
              </a:defRPr>
            </a:lvl2pPr>
            <a:lvl3pPr marL="460800" indent="0">
              <a:buFontTx/>
              <a:buNone/>
              <a:defRPr sz="100">
                <a:solidFill>
                  <a:schemeClr val="tx1">
                    <a:alpha val="0"/>
                  </a:schemeClr>
                </a:solidFill>
              </a:defRPr>
            </a:lvl3pPr>
            <a:lvl4pPr marL="687600" indent="0">
              <a:buFontTx/>
              <a:buNone/>
              <a:defRPr sz="100">
                <a:solidFill>
                  <a:schemeClr val="tx1">
                    <a:alpha val="0"/>
                  </a:schemeClr>
                </a:solidFill>
              </a:defRPr>
            </a:lvl4pPr>
            <a:lvl5pPr marL="914400" indent="0">
              <a:buFontTx/>
              <a:buNone/>
              <a:defRPr sz="100">
                <a:solidFill>
                  <a:schemeClr val="tx1">
                    <a:alpha val="0"/>
                  </a:schemeClr>
                </a:solidFill>
              </a:defRPr>
            </a:lvl5pPr>
          </a:lstStyle>
          <a:p>
            <a:pPr lvl="0"/>
            <a:r>
              <a:rPr lang="ja-JP" altLang="en-US"/>
              <a:t> </a:t>
            </a:r>
            <a:endParaRPr lang="ja-JP" altLang="en-US" dirty="0"/>
          </a:p>
        </p:txBody>
      </p:sp>
    </p:spTree>
    <p:extLst>
      <p:ext uri="{BB962C8B-B14F-4D97-AF65-F5344CB8AC3E}">
        <p14:creationId xmlns:p14="http://schemas.microsoft.com/office/powerpoint/2010/main" val="12979637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4 Chapter - Blue, img.">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D98A11EE-460D-6559-0017-5D84D545E447}"/>
              </a:ext>
            </a:extLst>
          </p:cNvPr>
          <p:cNvSpPr/>
          <p:nvPr userDrawn="1">
            <p:custDataLst>
              <p:tags r:id="rId1"/>
            </p:custDataLst>
          </p:nvPr>
        </p:nvSpPr>
        <p:spPr>
          <a:xfrm>
            <a:off x="0" y="0"/>
            <a:ext cx="12192000" cy="6858000"/>
          </a:xfrm>
          <a:prstGeom prst="rect">
            <a:avLst/>
          </a:prstGeom>
          <a:solidFill>
            <a:srgbClr val="335183"/>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ja-JP" altLang="en-US" dirty="0"/>
          </a:p>
        </p:txBody>
      </p:sp>
      <p:sp>
        <p:nvSpPr>
          <p:cNvPr id="6" name="Picture Placeholder 12">
            <a:extLst>
              <a:ext uri="{FF2B5EF4-FFF2-40B4-BE49-F238E27FC236}">
                <a16:creationId xmlns:a16="http://schemas.microsoft.com/office/drawing/2014/main" id="{03A479DD-95E5-1C8B-D864-0AB29400F4B9}"/>
              </a:ext>
            </a:extLst>
          </p:cNvPr>
          <p:cNvSpPr>
            <a:spLocks noGrp="1"/>
          </p:cNvSpPr>
          <p:nvPr>
            <p:ph type="pic" sz="quarter" idx="17" hasCustomPrompt="1"/>
            <p:custDataLst>
              <p:tags r:id="rId2"/>
            </p:custDataLst>
          </p:nvPr>
        </p:nvSpPr>
        <p:spPr>
          <a:xfrm>
            <a:off x="8016000" y="0"/>
            <a:ext cx="4176000" cy="6858000"/>
          </a:xfrm>
          <a:prstGeom prst="rect">
            <a:avLst/>
          </a:prstGeom>
          <a:pattFill prst="pct80">
            <a:fgClr>
              <a:srgbClr val="BFBFBF"/>
            </a:fgClr>
            <a:bgClr>
              <a:schemeClr val="bg1"/>
            </a:bgClr>
          </a:pattFill>
        </p:spPr>
        <p:txBody>
          <a:bodyPr wrap="square" tIns="1260000" anchor="ctr" anchorCtr="0">
            <a:noAutofit/>
          </a:bodyPr>
          <a:lstStyle>
            <a:lvl1pPr marL="0" indent="0" algn="ctr">
              <a:buFontTx/>
              <a:buNone/>
              <a:defRPr sz="1600"/>
            </a:lvl1pPr>
          </a:lstStyle>
          <a:p>
            <a:r>
              <a:rPr lang="ja-JP" altLang="en-US"/>
              <a:t> </a:t>
            </a:r>
            <a:endParaRPr lang="ja-JP" altLang="en-US" dirty="0"/>
          </a:p>
        </p:txBody>
      </p:sp>
      <p:sp>
        <p:nvSpPr>
          <p:cNvPr id="16" name="Text Placeholder 13">
            <a:extLst>
              <a:ext uri="{FF2B5EF4-FFF2-40B4-BE49-F238E27FC236}">
                <a16:creationId xmlns:a16="http://schemas.microsoft.com/office/drawing/2014/main" id="{A4A571C4-4D31-D173-F041-72701864667F}"/>
              </a:ext>
            </a:extLst>
          </p:cNvPr>
          <p:cNvSpPr>
            <a:spLocks noGrp="1"/>
          </p:cNvSpPr>
          <p:nvPr>
            <p:ph type="body" sz="quarter" idx="19" hasCustomPrompt="1"/>
            <p:custDataLst>
              <p:tags r:id="rId3"/>
            </p:custDataLst>
          </p:nvPr>
        </p:nvSpPr>
        <p:spPr>
          <a:xfrm>
            <a:off x="831852" y="2879319"/>
            <a:ext cx="5875282" cy="2535162"/>
          </a:xfrm>
        </p:spPr>
        <p:txBody>
          <a:bodyPr/>
          <a:lstStyle>
            <a:lvl1pPr marL="0" indent="0">
              <a:buFontTx/>
              <a:buNone/>
              <a:defRPr>
                <a:solidFill>
                  <a:schemeClr val="bg1"/>
                </a:solidFill>
              </a:defRPr>
            </a:lvl1pPr>
            <a:lvl2pPr marL="223837" indent="0">
              <a:buFontTx/>
              <a:buNone/>
              <a:defRPr>
                <a:solidFill>
                  <a:schemeClr val="bg1"/>
                </a:solidFill>
              </a:defRPr>
            </a:lvl2pPr>
            <a:lvl3pPr marL="457200" indent="0">
              <a:buFontTx/>
              <a:buNone/>
              <a:defRPr/>
            </a:lvl3pPr>
            <a:lvl4pPr marL="669925" indent="0">
              <a:buFontTx/>
              <a:buNone/>
              <a:defRPr/>
            </a:lvl4pPr>
            <a:lvl5pPr marL="914400" indent="0">
              <a:buFontTx/>
              <a:buNone/>
              <a:defRPr/>
            </a:lvl5pPr>
          </a:lstStyle>
          <a:p>
            <a:pPr lvl="0"/>
            <a:r>
              <a:rPr lang="ja-JP" altLang="en-US" dirty="0"/>
              <a:t>テキスト</a:t>
            </a:r>
          </a:p>
        </p:txBody>
      </p:sp>
      <p:sp>
        <p:nvSpPr>
          <p:cNvPr id="17" name="Title 1">
            <a:extLst>
              <a:ext uri="{FF2B5EF4-FFF2-40B4-BE49-F238E27FC236}">
                <a16:creationId xmlns:a16="http://schemas.microsoft.com/office/drawing/2014/main" id="{A3584D62-8455-C6C5-2C94-2413CA6CD425}"/>
              </a:ext>
            </a:extLst>
          </p:cNvPr>
          <p:cNvSpPr>
            <a:spLocks noGrp="1"/>
          </p:cNvSpPr>
          <p:nvPr>
            <p:ph type="title" hasCustomPrompt="1"/>
            <p:custDataLst>
              <p:tags r:id="rId4"/>
            </p:custDataLst>
          </p:nvPr>
        </p:nvSpPr>
        <p:spPr>
          <a:xfrm>
            <a:off x="831851" y="1057747"/>
            <a:ext cx="5866900" cy="1295131"/>
          </a:xfrm>
        </p:spPr>
        <p:txBody>
          <a:bodyPr anchor="b">
            <a:normAutofit/>
          </a:bodyPr>
          <a:lstStyle>
            <a:lvl1pPr>
              <a:defRPr sz="3200">
                <a:solidFill>
                  <a:schemeClr val="bg1"/>
                </a:solidFill>
              </a:defRPr>
            </a:lvl1pPr>
          </a:lstStyle>
          <a:p>
            <a:r>
              <a:rPr lang="ja-JP" altLang="en-US" dirty="0"/>
              <a:t>タイトル</a:t>
            </a:r>
          </a:p>
        </p:txBody>
      </p:sp>
      <p:sp>
        <p:nvSpPr>
          <p:cNvPr id="2" name="Swirl">
            <a:extLst>
              <a:ext uri="{FF2B5EF4-FFF2-40B4-BE49-F238E27FC236}">
                <a16:creationId xmlns:a16="http://schemas.microsoft.com/office/drawing/2014/main" id="{85F825F1-AE64-3E33-509B-7194EDEA298F}"/>
              </a:ext>
            </a:extLst>
          </p:cNvPr>
          <p:cNvSpPr>
            <a:spLocks noGrp="1"/>
          </p:cNvSpPr>
          <p:nvPr>
            <p:ph type="body" sz="quarter" idx="24" hasCustomPrompt="1"/>
            <p:custDataLst>
              <p:tags r:id="rId5"/>
            </p:custDataLst>
          </p:nvPr>
        </p:nvSpPr>
        <p:spPr>
          <a:xfrm>
            <a:off x="6739173" y="0"/>
            <a:ext cx="1699200" cy="6858000"/>
          </a:xfrm>
          <a:blipFill>
            <a:blip>
              <a:extLst>
                <a:ext uri="{96DAC541-7B7A-43D3-8B79-37D633B846F1}">
                  <asvg:svgBlip xmlns:asvg="http://schemas.microsoft.com/office/drawing/2016/SVG/main" r:embed="rId7"/>
                </a:ext>
              </a:extLst>
            </a:blip>
            <a:stretch>
              <a:fillRect/>
            </a:stretch>
          </a:blipFill>
        </p:spPr>
        <p:txBody>
          <a:bodyPr/>
          <a:lstStyle>
            <a:lvl1pPr marL="0" indent="0">
              <a:buFontTx/>
              <a:buNone/>
              <a:defRPr sz="100">
                <a:solidFill>
                  <a:schemeClr val="tx1">
                    <a:alpha val="0"/>
                  </a:schemeClr>
                </a:solidFill>
              </a:defRPr>
            </a:lvl1pPr>
            <a:lvl2pPr marL="226800" indent="0">
              <a:buFontTx/>
              <a:buNone/>
              <a:defRPr sz="100">
                <a:solidFill>
                  <a:schemeClr val="tx1">
                    <a:alpha val="0"/>
                  </a:schemeClr>
                </a:solidFill>
              </a:defRPr>
            </a:lvl2pPr>
            <a:lvl3pPr marL="460800" indent="0">
              <a:buFontTx/>
              <a:buNone/>
              <a:defRPr sz="100">
                <a:solidFill>
                  <a:schemeClr val="tx1">
                    <a:alpha val="0"/>
                  </a:schemeClr>
                </a:solidFill>
              </a:defRPr>
            </a:lvl3pPr>
            <a:lvl4pPr marL="687600" indent="0">
              <a:buFontTx/>
              <a:buNone/>
              <a:defRPr sz="100">
                <a:solidFill>
                  <a:schemeClr val="tx1">
                    <a:alpha val="0"/>
                  </a:schemeClr>
                </a:solidFill>
              </a:defRPr>
            </a:lvl4pPr>
            <a:lvl5pPr marL="914400" indent="0">
              <a:buFontTx/>
              <a:buNone/>
              <a:defRPr sz="100">
                <a:solidFill>
                  <a:schemeClr val="tx1">
                    <a:alpha val="0"/>
                  </a:schemeClr>
                </a:solidFill>
              </a:defRPr>
            </a:lvl5pPr>
          </a:lstStyle>
          <a:p>
            <a:pPr lvl="0"/>
            <a:r>
              <a:rPr lang="ja-JP" altLang="en-US"/>
              <a:t> </a:t>
            </a:r>
            <a:endParaRPr lang="ja-JP" altLang="en-US" dirty="0"/>
          </a:p>
        </p:txBody>
      </p:sp>
    </p:spTree>
    <p:extLst>
      <p:ext uri="{BB962C8B-B14F-4D97-AF65-F5344CB8AC3E}">
        <p14:creationId xmlns:p14="http://schemas.microsoft.com/office/powerpoint/2010/main" val="39360936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1 Content - Red Title, Text_Top symbol">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2E7154BA-BA7F-A234-44F8-8341BE7D4DFB}"/>
              </a:ext>
            </a:extLst>
          </p:cNvPr>
          <p:cNvSpPr>
            <a:spLocks noGrp="1"/>
          </p:cNvSpPr>
          <p:nvPr>
            <p:ph type="body" sz="quarter" idx="13" hasCustomPrompt="1"/>
            <p:custDataLst>
              <p:tags r:id="rId1"/>
            </p:custDataLst>
          </p:nvPr>
        </p:nvSpPr>
        <p:spPr>
          <a:xfrm>
            <a:off x="457200" y="1196975"/>
            <a:ext cx="11280002" cy="5111750"/>
          </a:xfrm>
        </p:spPr>
        <p:txBody>
          <a:bodyPr lIns="0"/>
          <a:lstStyle/>
          <a:p>
            <a:pPr lvl="0"/>
            <a:r>
              <a:rPr lang="ja-JP" altLang="en-US" dirty="0"/>
              <a:t>テキスト</a:t>
            </a:r>
          </a:p>
        </p:txBody>
      </p:sp>
      <p:grpSp>
        <p:nvGrpSpPr>
          <p:cNvPr id="3" name="LOGO RED">
            <a:extLst>
              <a:ext uri="{FF2B5EF4-FFF2-40B4-BE49-F238E27FC236}">
                <a16:creationId xmlns:a16="http://schemas.microsoft.com/office/drawing/2014/main" id="{60770129-267A-C977-51EF-8652222538C9}"/>
              </a:ext>
            </a:extLst>
          </p:cNvPr>
          <p:cNvGrpSpPr/>
          <p:nvPr userDrawn="1">
            <p:custDataLst>
              <p:tags r:id="rId2"/>
            </p:custDataLst>
          </p:nvPr>
        </p:nvGrpSpPr>
        <p:grpSpPr>
          <a:xfrm>
            <a:off x="10326931" y="513671"/>
            <a:ext cx="1407869" cy="245006"/>
            <a:chOff x="3245241" y="3110528"/>
            <a:chExt cx="5696307" cy="991307"/>
          </a:xfrm>
          <a:solidFill>
            <a:srgbClr val="ED1C24"/>
          </a:solidFill>
        </p:grpSpPr>
        <p:sp>
          <p:nvSpPr>
            <p:cNvPr id="4" name="Freeform: Shape 2">
              <a:extLst>
                <a:ext uri="{FF2B5EF4-FFF2-40B4-BE49-F238E27FC236}">
                  <a16:creationId xmlns:a16="http://schemas.microsoft.com/office/drawing/2014/main" id="{59F3EF14-2548-345B-DEF8-247C84141C43}"/>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4590C1F0-3320-2F5F-7546-50D91CC68411}"/>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FD32DC8B-9619-34B0-DA00-20E629D7AF18}"/>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DCC07084-AFDE-2C8E-466E-BE2226D2F8F2}"/>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ED7D464A-25F1-E274-D7DC-2C7D023E3FBE}"/>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24" name="Title 3">
            <a:extLst>
              <a:ext uri="{FF2B5EF4-FFF2-40B4-BE49-F238E27FC236}">
                <a16:creationId xmlns:a16="http://schemas.microsoft.com/office/drawing/2014/main" id="{7389B50F-A6C5-43DD-B54E-5911B9CD9B53}"/>
              </a:ext>
            </a:extLst>
          </p:cNvPr>
          <p:cNvSpPr>
            <a:spLocks noGrp="1"/>
          </p:cNvSpPr>
          <p:nvPr>
            <p:ph type="title" hasCustomPrompt="1"/>
            <p:custDataLst>
              <p:tags r:id="rId3"/>
            </p:custDataLst>
          </p:nvPr>
        </p:nvSpPr>
        <p:spPr>
          <a:xfrm>
            <a:off x="695400" y="376801"/>
            <a:ext cx="9180412" cy="518746"/>
          </a:xfrm>
        </p:spPr>
        <p:txBody>
          <a:bodyPr tIns="93600" anchor="t" anchorCtr="0"/>
          <a:lstStyle/>
          <a:p>
            <a:r>
              <a:rPr lang="ja-JP" altLang="en-US" dirty="0"/>
              <a:t>タイトル</a:t>
            </a:r>
          </a:p>
        </p:txBody>
      </p:sp>
      <p:sp>
        <p:nvSpPr>
          <p:cNvPr id="7" name="正方形/長方形 6">
            <a:extLst>
              <a:ext uri="{FF2B5EF4-FFF2-40B4-BE49-F238E27FC236}">
                <a16:creationId xmlns:a16="http://schemas.microsoft.com/office/drawing/2014/main" id="{DF91B5D1-4E0C-8668-FD18-7FFF163B3ECC}"/>
              </a:ext>
            </a:extLst>
          </p:cNvPr>
          <p:cNvSpPr/>
          <p:nvPr userDrawn="1"/>
        </p:nvSpPr>
        <p:spPr>
          <a:xfrm>
            <a:off x="452397" y="361586"/>
            <a:ext cx="119133" cy="549176"/>
          </a:xfrm>
          <a:prstGeom prst="rect">
            <a:avLst/>
          </a:prstGeom>
          <a:solidFill>
            <a:srgbClr val="B5091F"/>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kumimoji="1" lang="ja-JP" altLang="en-US" sz="2000" dirty="0" err="1">
              <a:solidFill>
                <a:schemeClr val="tx1"/>
              </a:solidFill>
            </a:endParaRPr>
          </a:p>
        </p:txBody>
      </p:sp>
      <p:sp>
        <p:nvSpPr>
          <p:cNvPr id="6" name="Slide Number Placeholder 5">
            <a:extLst>
              <a:ext uri="{FF2B5EF4-FFF2-40B4-BE49-F238E27FC236}">
                <a16:creationId xmlns:a16="http://schemas.microsoft.com/office/drawing/2014/main" id="{66C68CAD-FD0E-1DE9-7208-D34DEAD51D0E}"/>
              </a:ext>
            </a:extLst>
          </p:cNvPr>
          <p:cNvSpPr>
            <a:spLocks noGrp="1"/>
          </p:cNvSpPr>
          <p:nvPr>
            <p:ph type="sldNum" sz="quarter" idx="4"/>
            <p:custDataLst>
              <p:tags r:id="rId4"/>
            </p:custDataLst>
          </p:nvPr>
        </p:nvSpPr>
        <p:spPr>
          <a:xfrm>
            <a:off x="8610600" y="6357488"/>
            <a:ext cx="3124200" cy="365125"/>
          </a:xfrm>
          <a:prstGeom prst="rect">
            <a:avLst/>
          </a:prstGeom>
        </p:spPr>
        <p:txBody>
          <a:bodyPr vert="horz" lIns="91440" tIns="45720" rIns="91440" bIns="45720" rtlCol="0" anchor="ctr"/>
          <a:lstStyle>
            <a:lvl1pPr algn="r">
              <a:defRPr sz="800">
                <a:solidFill>
                  <a:schemeClr val="tx1">
                    <a:tint val="82000"/>
                  </a:schemeClr>
                </a:solidFill>
              </a:defRPr>
            </a:lvl1pPr>
          </a:lstStyle>
          <a:p>
            <a:fld id="{35EA36FB-EA35-45B6-87A5-93E7705983EC}" type="slidenum">
              <a:rPr lang="en-US" altLang="ja-JP" smtClean="0"/>
              <a:pPr/>
              <a:t>‹#›</a:t>
            </a:fld>
            <a:endParaRPr lang="ja-JP" altLang="en-US" dirty="0"/>
          </a:p>
        </p:txBody>
      </p:sp>
    </p:spTree>
    <p:extLst>
      <p:ext uri="{BB962C8B-B14F-4D97-AF65-F5344CB8AC3E}">
        <p14:creationId xmlns:p14="http://schemas.microsoft.com/office/powerpoint/2010/main" val="2381712356"/>
      </p:ext>
    </p:extLst>
  </p:cSld>
  <p:clrMapOvr>
    <a:masterClrMapping/>
  </p:clrMapOvr>
  <p:extLst>
    <p:ext uri="{DCECCB84-F9BA-43D5-87BE-67443E8EF086}">
      <p15:sldGuideLst xmlns:p15="http://schemas.microsoft.com/office/powerpoint/2012/main">
        <p15:guide id="1" orient="horz" pos="397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2 Content - Blue Title, Text_Top symbol">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A652AE0B-7B9F-EB88-6744-8470770B8749}"/>
              </a:ext>
            </a:extLst>
          </p:cNvPr>
          <p:cNvSpPr>
            <a:spLocks noGrp="1"/>
          </p:cNvSpPr>
          <p:nvPr>
            <p:ph type="body" sz="quarter" idx="13" hasCustomPrompt="1"/>
            <p:custDataLst>
              <p:tags r:id="rId1"/>
            </p:custDataLst>
          </p:nvPr>
        </p:nvSpPr>
        <p:spPr>
          <a:xfrm>
            <a:off x="457200" y="1196975"/>
            <a:ext cx="11280002" cy="5111750"/>
          </a:xfrm>
        </p:spPr>
        <p:txBody>
          <a:bodyPr lIns="0"/>
          <a:lstStyle/>
          <a:p>
            <a:pPr lvl="0"/>
            <a:r>
              <a:rPr lang="ja-JP" altLang="en-US" dirty="0"/>
              <a:t>テキスト</a:t>
            </a:r>
          </a:p>
        </p:txBody>
      </p:sp>
      <p:grpSp>
        <p:nvGrpSpPr>
          <p:cNvPr id="3" name="LOGO RED">
            <a:extLst>
              <a:ext uri="{FF2B5EF4-FFF2-40B4-BE49-F238E27FC236}">
                <a16:creationId xmlns:a16="http://schemas.microsoft.com/office/drawing/2014/main" id="{9FC68AC8-56D4-5277-086D-EC798597B28C}"/>
              </a:ext>
            </a:extLst>
          </p:cNvPr>
          <p:cNvGrpSpPr/>
          <p:nvPr userDrawn="1">
            <p:custDataLst>
              <p:tags r:id="rId2"/>
            </p:custDataLst>
          </p:nvPr>
        </p:nvGrpSpPr>
        <p:grpSpPr>
          <a:xfrm>
            <a:off x="10326931" y="513671"/>
            <a:ext cx="1407869" cy="245006"/>
            <a:chOff x="3245241" y="3110528"/>
            <a:chExt cx="5696307" cy="991307"/>
          </a:xfrm>
          <a:solidFill>
            <a:srgbClr val="ED1C24"/>
          </a:solidFill>
        </p:grpSpPr>
        <p:sp>
          <p:nvSpPr>
            <p:cNvPr id="4" name="Freeform: Shape 2">
              <a:extLst>
                <a:ext uri="{FF2B5EF4-FFF2-40B4-BE49-F238E27FC236}">
                  <a16:creationId xmlns:a16="http://schemas.microsoft.com/office/drawing/2014/main" id="{F1735E8D-E7F4-D4FF-A47E-7EF4F78E1C79}"/>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782D0A98-E556-5892-B381-503254ADADCE}"/>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AE4B2AE9-7A1C-3EFA-A949-1E51887838F9}"/>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702B95D8-9587-2ED3-65BB-8C1910C417B9}"/>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93F9F478-9FD7-1328-6DA0-D75C316A3B54}"/>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24" name="Title 3">
            <a:extLst>
              <a:ext uri="{FF2B5EF4-FFF2-40B4-BE49-F238E27FC236}">
                <a16:creationId xmlns:a16="http://schemas.microsoft.com/office/drawing/2014/main" id="{0FED1AD4-4F49-2096-439E-F08E65A4C7AB}"/>
              </a:ext>
            </a:extLst>
          </p:cNvPr>
          <p:cNvSpPr>
            <a:spLocks noGrp="1"/>
          </p:cNvSpPr>
          <p:nvPr>
            <p:ph type="title" hasCustomPrompt="1"/>
            <p:custDataLst>
              <p:tags r:id="rId3"/>
            </p:custDataLst>
          </p:nvPr>
        </p:nvSpPr>
        <p:spPr>
          <a:xfrm>
            <a:off x="695400" y="376801"/>
            <a:ext cx="9180412" cy="518746"/>
          </a:xfrm>
        </p:spPr>
        <p:txBody>
          <a:bodyPr tIns="93600" anchor="t" anchorCtr="0"/>
          <a:lstStyle/>
          <a:p>
            <a:r>
              <a:rPr lang="ja-JP" altLang="en-US" dirty="0"/>
              <a:t>タイトル</a:t>
            </a:r>
          </a:p>
        </p:txBody>
      </p:sp>
      <p:sp>
        <p:nvSpPr>
          <p:cNvPr id="6" name="正方形/長方形 5">
            <a:extLst>
              <a:ext uri="{FF2B5EF4-FFF2-40B4-BE49-F238E27FC236}">
                <a16:creationId xmlns:a16="http://schemas.microsoft.com/office/drawing/2014/main" id="{EE260DF2-0D0D-FA9B-ABD9-FF88C229B359}"/>
              </a:ext>
            </a:extLst>
          </p:cNvPr>
          <p:cNvSpPr/>
          <p:nvPr userDrawn="1"/>
        </p:nvSpPr>
        <p:spPr>
          <a:xfrm>
            <a:off x="452401" y="361586"/>
            <a:ext cx="119133" cy="549176"/>
          </a:xfrm>
          <a:prstGeom prst="rect">
            <a:avLst/>
          </a:prstGeom>
          <a:solidFill>
            <a:srgbClr val="002664"/>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kumimoji="1" lang="ja-JP" altLang="en-US" sz="2000" dirty="0" err="1">
              <a:solidFill>
                <a:schemeClr val="tx1"/>
              </a:solidFill>
            </a:endParaRPr>
          </a:p>
        </p:txBody>
      </p:sp>
      <p:sp>
        <p:nvSpPr>
          <p:cNvPr id="7" name="Slide Number Placeholder 5">
            <a:extLst>
              <a:ext uri="{FF2B5EF4-FFF2-40B4-BE49-F238E27FC236}">
                <a16:creationId xmlns:a16="http://schemas.microsoft.com/office/drawing/2014/main" id="{BFC57D0F-4723-D185-6E9A-571398BDA0B4}"/>
              </a:ext>
            </a:extLst>
          </p:cNvPr>
          <p:cNvSpPr>
            <a:spLocks noGrp="1"/>
          </p:cNvSpPr>
          <p:nvPr>
            <p:ph type="sldNum" sz="quarter" idx="4"/>
            <p:custDataLst>
              <p:tags r:id="rId4"/>
            </p:custDataLst>
          </p:nvPr>
        </p:nvSpPr>
        <p:spPr>
          <a:xfrm>
            <a:off x="8610600" y="6357488"/>
            <a:ext cx="3124200" cy="365125"/>
          </a:xfrm>
          <a:prstGeom prst="rect">
            <a:avLst/>
          </a:prstGeom>
        </p:spPr>
        <p:txBody>
          <a:bodyPr vert="horz" lIns="91440" tIns="45720" rIns="91440" bIns="45720" rtlCol="0" anchor="ctr"/>
          <a:lstStyle>
            <a:lvl1pPr algn="r">
              <a:defRPr sz="800">
                <a:solidFill>
                  <a:schemeClr val="tx1">
                    <a:tint val="82000"/>
                  </a:schemeClr>
                </a:solidFill>
              </a:defRPr>
            </a:lvl1pPr>
          </a:lstStyle>
          <a:p>
            <a:fld id="{35EA36FB-EA35-45B6-87A5-93E7705983EC}" type="slidenum">
              <a:rPr lang="en-US" altLang="ja-JP" smtClean="0"/>
              <a:pPr/>
              <a:t>‹#›</a:t>
            </a:fld>
            <a:endParaRPr lang="ja-JP" altLang="en-US" dirty="0"/>
          </a:p>
        </p:txBody>
      </p:sp>
    </p:spTree>
    <p:extLst>
      <p:ext uri="{BB962C8B-B14F-4D97-AF65-F5344CB8AC3E}">
        <p14:creationId xmlns:p14="http://schemas.microsoft.com/office/powerpoint/2010/main" val="3905312566"/>
      </p:ext>
    </p:extLst>
  </p:cSld>
  <p:clrMapOvr>
    <a:masterClrMapping/>
  </p:clrMapOvr>
  <p:extLst>
    <p:ext uri="{DCECCB84-F9BA-43D5-87BE-67443E8EF086}">
      <p15:sldGuideLst xmlns:p15="http://schemas.microsoft.com/office/powerpoint/2012/main">
        <p15:guide id="1" orient="horz" pos="397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3 Content - Red Title,Text X2">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0CB287-6B11-0281-2980-D7A58D79CDEB}"/>
              </a:ext>
            </a:extLst>
          </p:cNvPr>
          <p:cNvSpPr/>
          <p:nvPr userDrawn="1"/>
        </p:nvSpPr>
        <p:spPr>
          <a:xfrm>
            <a:off x="0" y="635635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grpSp>
        <p:nvGrpSpPr>
          <p:cNvPr id="6" name="LOGO RED">
            <a:extLst>
              <a:ext uri="{FF2B5EF4-FFF2-40B4-BE49-F238E27FC236}">
                <a16:creationId xmlns:a16="http://schemas.microsoft.com/office/drawing/2014/main" id="{A5AD8F80-FDC4-80D1-A16E-475748AA2880}"/>
              </a:ext>
            </a:extLst>
          </p:cNvPr>
          <p:cNvGrpSpPr/>
          <p:nvPr userDrawn="1">
            <p:custDataLst>
              <p:tags r:id="rId1"/>
            </p:custDataLst>
          </p:nvPr>
        </p:nvGrpSpPr>
        <p:grpSpPr>
          <a:xfrm>
            <a:off x="454798" y="6444000"/>
            <a:ext cx="1407869" cy="245006"/>
            <a:chOff x="3245241" y="3110528"/>
            <a:chExt cx="5696307" cy="991307"/>
          </a:xfrm>
          <a:solidFill>
            <a:srgbClr val="ED1C24"/>
          </a:solidFill>
        </p:grpSpPr>
        <p:sp>
          <p:nvSpPr>
            <p:cNvPr id="7" name="Freeform: Shape 9">
              <a:extLst>
                <a:ext uri="{FF2B5EF4-FFF2-40B4-BE49-F238E27FC236}">
                  <a16:creationId xmlns:a16="http://schemas.microsoft.com/office/drawing/2014/main" id="{7BB938E9-0349-4FE9-A9D6-DFA3AC5BC947}"/>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8" name="Freeform: Shape 10">
              <a:extLst>
                <a:ext uri="{FF2B5EF4-FFF2-40B4-BE49-F238E27FC236}">
                  <a16:creationId xmlns:a16="http://schemas.microsoft.com/office/drawing/2014/main" id="{CFC1F442-3AFE-EDB6-3088-A9FDDA6C34C7}"/>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9" name="Freeform: Shape 11">
              <a:extLst>
                <a:ext uri="{FF2B5EF4-FFF2-40B4-BE49-F238E27FC236}">
                  <a16:creationId xmlns:a16="http://schemas.microsoft.com/office/drawing/2014/main" id="{1592F145-CB93-C7C3-C3DE-AAF77CFC5BDA}"/>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5" name="Freeform: Shape 12">
              <a:extLst>
                <a:ext uri="{FF2B5EF4-FFF2-40B4-BE49-F238E27FC236}">
                  <a16:creationId xmlns:a16="http://schemas.microsoft.com/office/drawing/2014/main" id="{791AB978-C414-517B-E238-692F3094D192}"/>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21" name="Freeform: Shape 13">
              <a:extLst>
                <a:ext uri="{FF2B5EF4-FFF2-40B4-BE49-F238E27FC236}">
                  <a16:creationId xmlns:a16="http://schemas.microsoft.com/office/drawing/2014/main" id="{428C5FAB-EFF3-E2B0-EE33-D50F3EAF511D}"/>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22" name="Text Placeholder 15">
            <a:extLst>
              <a:ext uri="{FF2B5EF4-FFF2-40B4-BE49-F238E27FC236}">
                <a16:creationId xmlns:a16="http://schemas.microsoft.com/office/drawing/2014/main" id="{C58EC620-ED76-73A0-0C31-DA32AB154523}"/>
              </a:ext>
            </a:extLst>
          </p:cNvPr>
          <p:cNvSpPr>
            <a:spLocks noGrp="1"/>
          </p:cNvSpPr>
          <p:nvPr>
            <p:ph type="body" sz="quarter" idx="14" hasCustomPrompt="1"/>
            <p:custDataLst>
              <p:tags r:id="rId2"/>
            </p:custDataLst>
          </p:nvPr>
        </p:nvSpPr>
        <p:spPr>
          <a:xfrm>
            <a:off x="457200" y="1196975"/>
            <a:ext cx="5638800" cy="5111749"/>
          </a:xfrm>
        </p:spPr>
        <p:txBody>
          <a:bodyPr lIns="0" rIns="180000"/>
          <a:lstStyle/>
          <a:p>
            <a:pPr lvl="0"/>
            <a:r>
              <a:rPr lang="ja-JP" altLang="en-US" dirty="0"/>
              <a:t>テキスト</a:t>
            </a:r>
          </a:p>
        </p:txBody>
      </p:sp>
      <p:sp>
        <p:nvSpPr>
          <p:cNvPr id="23" name="Text Placeholder 15">
            <a:extLst>
              <a:ext uri="{FF2B5EF4-FFF2-40B4-BE49-F238E27FC236}">
                <a16:creationId xmlns:a16="http://schemas.microsoft.com/office/drawing/2014/main" id="{6D6AC434-CAA2-9DC4-E047-16D56760D405}"/>
              </a:ext>
            </a:extLst>
          </p:cNvPr>
          <p:cNvSpPr>
            <a:spLocks noGrp="1"/>
          </p:cNvSpPr>
          <p:nvPr>
            <p:ph type="body" sz="quarter" idx="15" hasCustomPrompt="1"/>
            <p:custDataLst>
              <p:tags r:id="rId3"/>
            </p:custDataLst>
          </p:nvPr>
        </p:nvSpPr>
        <p:spPr>
          <a:xfrm>
            <a:off x="6096000" y="1196975"/>
            <a:ext cx="5637000" cy="5111749"/>
          </a:xfrm>
        </p:spPr>
        <p:txBody>
          <a:bodyPr lIns="0" rIns="180000"/>
          <a:lstStyle/>
          <a:p>
            <a:pPr lvl="0"/>
            <a:r>
              <a:rPr lang="ja-JP" altLang="en-US" dirty="0"/>
              <a:t>テキスト</a:t>
            </a:r>
          </a:p>
        </p:txBody>
      </p:sp>
      <p:sp>
        <p:nvSpPr>
          <p:cNvPr id="14" name="Title 3">
            <a:extLst>
              <a:ext uri="{FF2B5EF4-FFF2-40B4-BE49-F238E27FC236}">
                <a16:creationId xmlns:a16="http://schemas.microsoft.com/office/drawing/2014/main" id="{4895D6BE-CA90-C7FB-555B-4AEE30AAAA83}"/>
              </a:ext>
            </a:extLst>
          </p:cNvPr>
          <p:cNvSpPr>
            <a:spLocks noGrp="1"/>
          </p:cNvSpPr>
          <p:nvPr>
            <p:ph type="title" hasCustomPrompt="1"/>
            <p:custDataLst>
              <p:tags r:id="rId4"/>
            </p:custDataLst>
          </p:nvPr>
        </p:nvSpPr>
        <p:spPr>
          <a:xfrm>
            <a:off x="695400" y="376801"/>
            <a:ext cx="11037600" cy="518746"/>
          </a:xfrm>
        </p:spPr>
        <p:txBody>
          <a:bodyPr tIns="93600" anchor="t" anchorCtr="0"/>
          <a:lstStyle/>
          <a:p>
            <a:r>
              <a:rPr lang="ja-JP" altLang="en-US" dirty="0"/>
              <a:t>タイトル</a:t>
            </a:r>
          </a:p>
        </p:txBody>
      </p:sp>
      <p:sp>
        <p:nvSpPr>
          <p:cNvPr id="16" name="正方形/長方形 15">
            <a:extLst>
              <a:ext uri="{FF2B5EF4-FFF2-40B4-BE49-F238E27FC236}">
                <a16:creationId xmlns:a16="http://schemas.microsoft.com/office/drawing/2014/main" id="{7C8B4A9E-ABE7-7412-0D2F-82D4C6999B23}"/>
              </a:ext>
            </a:extLst>
          </p:cNvPr>
          <p:cNvSpPr/>
          <p:nvPr userDrawn="1"/>
        </p:nvSpPr>
        <p:spPr>
          <a:xfrm>
            <a:off x="452397" y="361586"/>
            <a:ext cx="119133" cy="549176"/>
          </a:xfrm>
          <a:prstGeom prst="rect">
            <a:avLst/>
          </a:prstGeom>
          <a:solidFill>
            <a:srgbClr val="B5091F"/>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kumimoji="1" lang="ja-JP" altLang="en-US" sz="2000" dirty="0" err="1">
              <a:solidFill>
                <a:schemeClr val="tx1"/>
              </a:solidFill>
            </a:endParaRPr>
          </a:p>
        </p:txBody>
      </p:sp>
      <p:sp>
        <p:nvSpPr>
          <p:cNvPr id="2" name="Slide Number Placeholder 5">
            <a:extLst>
              <a:ext uri="{FF2B5EF4-FFF2-40B4-BE49-F238E27FC236}">
                <a16:creationId xmlns:a16="http://schemas.microsoft.com/office/drawing/2014/main" id="{78D06B6F-734F-2C4F-AFC4-E57AB2929DA3}"/>
              </a:ext>
            </a:extLst>
          </p:cNvPr>
          <p:cNvSpPr>
            <a:spLocks noGrp="1"/>
          </p:cNvSpPr>
          <p:nvPr>
            <p:ph type="sldNum" sz="quarter" idx="4"/>
            <p:custDataLst>
              <p:tags r:id="rId5"/>
            </p:custDataLst>
          </p:nvPr>
        </p:nvSpPr>
        <p:spPr>
          <a:xfrm>
            <a:off x="8610600" y="6357488"/>
            <a:ext cx="3124200" cy="365125"/>
          </a:xfrm>
          <a:prstGeom prst="rect">
            <a:avLst/>
          </a:prstGeom>
        </p:spPr>
        <p:txBody>
          <a:bodyPr vert="horz" lIns="91440" tIns="45720" rIns="91440" bIns="45720" rtlCol="0" anchor="ctr"/>
          <a:lstStyle>
            <a:lvl1pPr algn="r">
              <a:defRPr sz="800">
                <a:solidFill>
                  <a:schemeClr val="tx1">
                    <a:tint val="82000"/>
                  </a:schemeClr>
                </a:solidFill>
              </a:defRPr>
            </a:lvl1pPr>
          </a:lstStyle>
          <a:p>
            <a:fld id="{35EA36FB-EA35-45B6-87A5-93E7705983EC}" type="slidenum">
              <a:rPr lang="en-US" altLang="ja-JP" smtClean="0"/>
              <a:pPr/>
              <a:t>‹#›</a:t>
            </a:fld>
            <a:endParaRPr lang="ja-JP" altLang="en-US" dirty="0"/>
          </a:p>
        </p:txBody>
      </p:sp>
    </p:spTree>
    <p:extLst>
      <p:ext uri="{BB962C8B-B14F-4D97-AF65-F5344CB8AC3E}">
        <p14:creationId xmlns:p14="http://schemas.microsoft.com/office/powerpoint/2010/main" val="9818328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4 Content - Blue Title,Text X2">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FBEB2FB9-0D78-9D89-F603-E214D2334DFE}"/>
              </a:ext>
            </a:extLst>
          </p:cNvPr>
          <p:cNvSpPr/>
          <p:nvPr userDrawn="1"/>
        </p:nvSpPr>
        <p:spPr>
          <a:xfrm>
            <a:off x="0" y="635635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grpSp>
        <p:nvGrpSpPr>
          <p:cNvPr id="6" name="LOGO RED">
            <a:extLst>
              <a:ext uri="{FF2B5EF4-FFF2-40B4-BE49-F238E27FC236}">
                <a16:creationId xmlns:a16="http://schemas.microsoft.com/office/drawing/2014/main" id="{A5AD8F80-FDC4-80D1-A16E-475748AA2880}"/>
              </a:ext>
            </a:extLst>
          </p:cNvPr>
          <p:cNvGrpSpPr/>
          <p:nvPr userDrawn="1">
            <p:custDataLst>
              <p:tags r:id="rId1"/>
            </p:custDataLst>
          </p:nvPr>
        </p:nvGrpSpPr>
        <p:grpSpPr>
          <a:xfrm>
            <a:off x="454798" y="6444000"/>
            <a:ext cx="1407869" cy="245006"/>
            <a:chOff x="3245241" y="3110528"/>
            <a:chExt cx="5696307" cy="991307"/>
          </a:xfrm>
          <a:solidFill>
            <a:srgbClr val="ED1C24"/>
          </a:solidFill>
        </p:grpSpPr>
        <p:sp>
          <p:nvSpPr>
            <p:cNvPr id="7" name="Freeform: Shape 9">
              <a:extLst>
                <a:ext uri="{FF2B5EF4-FFF2-40B4-BE49-F238E27FC236}">
                  <a16:creationId xmlns:a16="http://schemas.microsoft.com/office/drawing/2014/main" id="{7BB938E9-0349-4FE9-A9D6-DFA3AC5BC947}"/>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8" name="Freeform: Shape 10">
              <a:extLst>
                <a:ext uri="{FF2B5EF4-FFF2-40B4-BE49-F238E27FC236}">
                  <a16:creationId xmlns:a16="http://schemas.microsoft.com/office/drawing/2014/main" id="{CFC1F442-3AFE-EDB6-3088-A9FDDA6C34C7}"/>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9" name="Freeform: Shape 11">
              <a:extLst>
                <a:ext uri="{FF2B5EF4-FFF2-40B4-BE49-F238E27FC236}">
                  <a16:creationId xmlns:a16="http://schemas.microsoft.com/office/drawing/2014/main" id="{1592F145-CB93-C7C3-C3DE-AAF77CFC5BDA}"/>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5" name="Freeform: Shape 12">
              <a:extLst>
                <a:ext uri="{FF2B5EF4-FFF2-40B4-BE49-F238E27FC236}">
                  <a16:creationId xmlns:a16="http://schemas.microsoft.com/office/drawing/2014/main" id="{791AB978-C414-517B-E238-692F3094D192}"/>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21" name="Freeform: Shape 13">
              <a:extLst>
                <a:ext uri="{FF2B5EF4-FFF2-40B4-BE49-F238E27FC236}">
                  <a16:creationId xmlns:a16="http://schemas.microsoft.com/office/drawing/2014/main" id="{428C5FAB-EFF3-E2B0-EE33-D50F3EAF511D}"/>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22" name="Text Placeholder 15">
            <a:extLst>
              <a:ext uri="{FF2B5EF4-FFF2-40B4-BE49-F238E27FC236}">
                <a16:creationId xmlns:a16="http://schemas.microsoft.com/office/drawing/2014/main" id="{C58EC620-ED76-73A0-0C31-DA32AB154523}"/>
              </a:ext>
            </a:extLst>
          </p:cNvPr>
          <p:cNvSpPr>
            <a:spLocks noGrp="1"/>
          </p:cNvSpPr>
          <p:nvPr>
            <p:ph type="body" sz="quarter" idx="14" hasCustomPrompt="1"/>
            <p:custDataLst>
              <p:tags r:id="rId2"/>
            </p:custDataLst>
          </p:nvPr>
        </p:nvSpPr>
        <p:spPr>
          <a:xfrm>
            <a:off x="457200" y="1196975"/>
            <a:ext cx="5638800" cy="5111749"/>
          </a:xfrm>
        </p:spPr>
        <p:txBody>
          <a:bodyPr lIns="0" rIns="180000"/>
          <a:lstStyle/>
          <a:p>
            <a:pPr lvl="0"/>
            <a:r>
              <a:rPr lang="ja-JP" altLang="en-US" dirty="0"/>
              <a:t>テキスト</a:t>
            </a:r>
          </a:p>
        </p:txBody>
      </p:sp>
      <p:sp>
        <p:nvSpPr>
          <p:cNvPr id="23" name="Text Placeholder 15">
            <a:extLst>
              <a:ext uri="{FF2B5EF4-FFF2-40B4-BE49-F238E27FC236}">
                <a16:creationId xmlns:a16="http://schemas.microsoft.com/office/drawing/2014/main" id="{6D6AC434-CAA2-9DC4-E047-16D56760D405}"/>
              </a:ext>
            </a:extLst>
          </p:cNvPr>
          <p:cNvSpPr>
            <a:spLocks noGrp="1"/>
          </p:cNvSpPr>
          <p:nvPr>
            <p:ph type="body" sz="quarter" idx="15" hasCustomPrompt="1"/>
            <p:custDataLst>
              <p:tags r:id="rId3"/>
            </p:custDataLst>
          </p:nvPr>
        </p:nvSpPr>
        <p:spPr>
          <a:xfrm>
            <a:off x="6096000" y="1196975"/>
            <a:ext cx="5637000" cy="5111749"/>
          </a:xfrm>
        </p:spPr>
        <p:txBody>
          <a:bodyPr lIns="0" rIns="180000"/>
          <a:lstStyle/>
          <a:p>
            <a:pPr lvl="0"/>
            <a:r>
              <a:rPr lang="ja-JP" altLang="en-US" dirty="0"/>
              <a:t>テキスト</a:t>
            </a:r>
          </a:p>
        </p:txBody>
      </p:sp>
      <p:sp>
        <p:nvSpPr>
          <p:cNvPr id="13" name="Title 3">
            <a:extLst>
              <a:ext uri="{FF2B5EF4-FFF2-40B4-BE49-F238E27FC236}">
                <a16:creationId xmlns:a16="http://schemas.microsoft.com/office/drawing/2014/main" id="{0F328A3C-A6C7-7893-2917-7B6DF46496F7}"/>
              </a:ext>
            </a:extLst>
          </p:cNvPr>
          <p:cNvSpPr>
            <a:spLocks noGrp="1"/>
          </p:cNvSpPr>
          <p:nvPr>
            <p:ph type="title" hasCustomPrompt="1"/>
            <p:custDataLst>
              <p:tags r:id="rId4"/>
            </p:custDataLst>
          </p:nvPr>
        </p:nvSpPr>
        <p:spPr>
          <a:xfrm>
            <a:off x="695400" y="376801"/>
            <a:ext cx="11037600" cy="518746"/>
          </a:xfrm>
        </p:spPr>
        <p:txBody>
          <a:bodyPr tIns="93600" anchor="t" anchorCtr="0"/>
          <a:lstStyle/>
          <a:p>
            <a:r>
              <a:rPr lang="ja-JP" altLang="en-US" dirty="0"/>
              <a:t>タイトル</a:t>
            </a:r>
          </a:p>
        </p:txBody>
      </p:sp>
      <p:sp>
        <p:nvSpPr>
          <p:cNvPr id="14" name="正方形/長方形 13">
            <a:extLst>
              <a:ext uri="{FF2B5EF4-FFF2-40B4-BE49-F238E27FC236}">
                <a16:creationId xmlns:a16="http://schemas.microsoft.com/office/drawing/2014/main" id="{C28CD858-7918-EFA6-44C2-FBD282B6F5B6}"/>
              </a:ext>
            </a:extLst>
          </p:cNvPr>
          <p:cNvSpPr/>
          <p:nvPr userDrawn="1"/>
        </p:nvSpPr>
        <p:spPr>
          <a:xfrm>
            <a:off x="452397" y="361586"/>
            <a:ext cx="119133" cy="549176"/>
          </a:xfrm>
          <a:prstGeom prst="rect">
            <a:avLst/>
          </a:pr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kumimoji="1" lang="ja-JP" altLang="en-US" sz="2000" dirty="0" err="1">
              <a:solidFill>
                <a:schemeClr val="tx1"/>
              </a:solidFill>
            </a:endParaRPr>
          </a:p>
        </p:txBody>
      </p:sp>
      <p:sp>
        <p:nvSpPr>
          <p:cNvPr id="2" name="Slide Number Placeholder 5">
            <a:extLst>
              <a:ext uri="{FF2B5EF4-FFF2-40B4-BE49-F238E27FC236}">
                <a16:creationId xmlns:a16="http://schemas.microsoft.com/office/drawing/2014/main" id="{BFEB5280-9E5F-3974-1807-5836370C06B0}"/>
              </a:ext>
            </a:extLst>
          </p:cNvPr>
          <p:cNvSpPr>
            <a:spLocks noGrp="1"/>
          </p:cNvSpPr>
          <p:nvPr>
            <p:ph type="sldNum" sz="quarter" idx="4"/>
            <p:custDataLst>
              <p:tags r:id="rId5"/>
            </p:custDataLst>
          </p:nvPr>
        </p:nvSpPr>
        <p:spPr>
          <a:xfrm>
            <a:off x="8610600" y="6357488"/>
            <a:ext cx="3124200" cy="365125"/>
          </a:xfrm>
          <a:prstGeom prst="rect">
            <a:avLst/>
          </a:prstGeom>
        </p:spPr>
        <p:txBody>
          <a:bodyPr vert="horz" lIns="91440" tIns="45720" rIns="91440" bIns="45720" rtlCol="0" anchor="ctr"/>
          <a:lstStyle>
            <a:lvl1pPr algn="r">
              <a:defRPr sz="800">
                <a:solidFill>
                  <a:schemeClr val="tx1">
                    <a:tint val="82000"/>
                  </a:schemeClr>
                </a:solidFill>
              </a:defRPr>
            </a:lvl1pPr>
          </a:lstStyle>
          <a:p>
            <a:fld id="{35EA36FB-EA35-45B6-87A5-93E7705983EC}" type="slidenum">
              <a:rPr lang="en-US" altLang="ja-JP" smtClean="0"/>
              <a:pPr/>
              <a:t>‹#›</a:t>
            </a:fld>
            <a:endParaRPr lang="ja-JP" altLang="en-US" dirty="0"/>
          </a:p>
        </p:txBody>
      </p:sp>
    </p:spTree>
    <p:extLst>
      <p:ext uri="{BB962C8B-B14F-4D97-AF65-F5344CB8AC3E}">
        <p14:creationId xmlns:p14="http://schemas.microsoft.com/office/powerpoint/2010/main" val="19236345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5 Content - Red Title, Text, im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060AF86E-1EC9-D3FD-1F00-49AE6C22B0AB}"/>
              </a:ext>
            </a:extLst>
          </p:cNvPr>
          <p:cNvSpPr/>
          <p:nvPr userDrawn="1"/>
        </p:nvSpPr>
        <p:spPr>
          <a:xfrm>
            <a:off x="0" y="635635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sp>
        <p:nvSpPr>
          <p:cNvPr id="7" name="Picture Placeholder 7">
            <a:extLst>
              <a:ext uri="{FF2B5EF4-FFF2-40B4-BE49-F238E27FC236}">
                <a16:creationId xmlns:a16="http://schemas.microsoft.com/office/drawing/2014/main" id="{32E3B6BA-F758-3D5E-5F55-41F02DCAA90A}"/>
              </a:ext>
            </a:extLst>
          </p:cNvPr>
          <p:cNvSpPr>
            <a:spLocks noGrp="1"/>
          </p:cNvSpPr>
          <p:nvPr>
            <p:ph type="pic" sz="quarter" idx="16" hasCustomPrompt="1"/>
            <p:custDataLst>
              <p:tags r:id="rId1"/>
            </p:custDataLst>
          </p:nvPr>
        </p:nvSpPr>
        <p:spPr>
          <a:xfrm>
            <a:off x="6096000" y="0"/>
            <a:ext cx="6096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ja-JP" altLang="en-US"/>
              <a:t> </a:t>
            </a:r>
            <a:endParaRPr lang="ja-JP" altLang="en-US" dirty="0"/>
          </a:p>
        </p:txBody>
      </p:sp>
      <p:grpSp>
        <p:nvGrpSpPr>
          <p:cNvPr id="20" name="LOGO RED">
            <a:extLst>
              <a:ext uri="{FF2B5EF4-FFF2-40B4-BE49-F238E27FC236}">
                <a16:creationId xmlns:a16="http://schemas.microsoft.com/office/drawing/2014/main" id="{5CAE5929-D15F-38A7-AA5E-89958F2AC86B}"/>
              </a:ext>
            </a:extLst>
          </p:cNvPr>
          <p:cNvGrpSpPr/>
          <p:nvPr userDrawn="1">
            <p:custDataLst>
              <p:tags r:id="rId2"/>
            </p:custDataLst>
          </p:nvPr>
        </p:nvGrpSpPr>
        <p:grpSpPr>
          <a:xfrm>
            <a:off x="454798" y="6444000"/>
            <a:ext cx="1407869" cy="245006"/>
            <a:chOff x="3245241" y="3110528"/>
            <a:chExt cx="5696307" cy="991307"/>
          </a:xfrm>
          <a:solidFill>
            <a:srgbClr val="ED1C24"/>
          </a:solidFill>
        </p:grpSpPr>
        <p:sp>
          <p:nvSpPr>
            <p:cNvPr id="21" name="Freeform: Shape 9">
              <a:extLst>
                <a:ext uri="{FF2B5EF4-FFF2-40B4-BE49-F238E27FC236}">
                  <a16:creationId xmlns:a16="http://schemas.microsoft.com/office/drawing/2014/main" id="{3AC62D4E-1069-6EB0-79C9-6C82F48E7057}"/>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22" name="Freeform: Shape 10">
              <a:extLst>
                <a:ext uri="{FF2B5EF4-FFF2-40B4-BE49-F238E27FC236}">
                  <a16:creationId xmlns:a16="http://schemas.microsoft.com/office/drawing/2014/main" id="{7F5762D3-8F19-A86F-0A2A-AD5F99951941}"/>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23" name="Freeform: Shape 11">
              <a:extLst>
                <a:ext uri="{FF2B5EF4-FFF2-40B4-BE49-F238E27FC236}">
                  <a16:creationId xmlns:a16="http://schemas.microsoft.com/office/drawing/2014/main" id="{D1F9DFD6-DC24-7B8C-9D0D-92E8A6769F6B}"/>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24" name="Freeform: Shape 12">
              <a:extLst>
                <a:ext uri="{FF2B5EF4-FFF2-40B4-BE49-F238E27FC236}">
                  <a16:creationId xmlns:a16="http://schemas.microsoft.com/office/drawing/2014/main" id="{DE91A95E-49B1-62A7-B6EF-31DD83A6E291}"/>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25" name="Freeform: Shape 13">
              <a:extLst>
                <a:ext uri="{FF2B5EF4-FFF2-40B4-BE49-F238E27FC236}">
                  <a16:creationId xmlns:a16="http://schemas.microsoft.com/office/drawing/2014/main" id="{C6D5FA6F-9167-D231-9C77-D78236E8B047}"/>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26" name="Text Placeholder 15">
            <a:extLst>
              <a:ext uri="{FF2B5EF4-FFF2-40B4-BE49-F238E27FC236}">
                <a16:creationId xmlns:a16="http://schemas.microsoft.com/office/drawing/2014/main" id="{F1EA1618-506C-22D4-BF96-48271B214ED6}"/>
              </a:ext>
            </a:extLst>
          </p:cNvPr>
          <p:cNvSpPr>
            <a:spLocks noGrp="1"/>
          </p:cNvSpPr>
          <p:nvPr>
            <p:ph type="body" sz="quarter" idx="14" hasCustomPrompt="1"/>
            <p:custDataLst>
              <p:tags r:id="rId3"/>
            </p:custDataLst>
          </p:nvPr>
        </p:nvSpPr>
        <p:spPr>
          <a:xfrm>
            <a:off x="457200" y="1196975"/>
            <a:ext cx="5184002" cy="5111749"/>
          </a:xfrm>
        </p:spPr>
        <p:txBody>
          <a:bodyPr lIns="0"/>
          <a:lstStyle/>
          <a:p>
            <a:pPr lvl="0"/>
            <a:r>
              <a:rPr lang="ja-JP" altLang="en-US" dirty="0"/>
              <a:t>テキスト</a:t>
            </a:r>
          </a:p>
        </p:txBody>
      </p:sp>
      <p:sp>
        <p:nvSpPr>
          <p:cNvPr id="10" name="Title 3">
            <a:extLst>
              <a:ext uri="{FF2B5EF4-FFF2-40B4-BE49-F238E27FC236}">
                <a16:creationId xmlns:a16="http://schemas.microsoft.com/office/drawing/2014/main" id="{423D74A6-54D4-CDDF-FF12-E7FE260D7CA8}"/>
              </a:ext>
            </a:extLst>
          </p:cNvPr>
          <p:cNvSpPr>
            <a:spLocks noGrp="1"/>
          </p:cNvSpPr>
          <p:nvPr>
            <p:ph type="title" hasCustomPrompt="1"/>
            <p:custDataLst>
              <p:tags r:id="rId4"/>
            </p:custDataLst>
          </p:nvPr>
        </p:nvSpPr>
        <p:spPr>
          <a:xfrm>
            <a:off x="695400" y="376801"/>
            <a:ext cx="4945802" cy="518746"/>
          </a:xfrm>
        </p:spPr>
        <p:txBody>
          <a:bodyPr tIns="93600" anchor="t" anchorCtr="0"/>
          <a:lstStyle/>
          <a:p>
            <a:r>
              <a:rPr lang="ja-JP" altLang="en-US" dirty="0"/>
              <a:t>タイトル</a:t>
            </a:r>
          </a:p>
        </p:txBody>
      </p:sp>
      <p:sp>
        <p:nvSpPr>
          <p:cNvPr id="11" name="正方形/長方形 10">
            <a:extLst>
              <a:ext uri="{FF2B5EF4-FFF2-40B4-BE49-F238E27FC236}">
                <a16:creationId xmlns:a16="http://schemas.microsoft.com/office/drawing/2014/main" id="{E2103593-214C-B16F-1D1D-5312189A5F27}"/>
              </a:ext>
            </a:extLst>
          </p:cNvPr>
          <p:cNvSpPr/>
          <p:nvPr userDrawn="1"/>
        </p:nvSpPr>
        <p:spPr>
          <a:xfrm>
            <a:off x="452397" y="361586"/>
            <a:ext cx="119133" cy="549176"/>
          </a:xfrm>
          <a:prstGeom prst="rect">
            <a:avLst/>
          </a:prstGeom>
          <a:solidFill>
            <a:srgbClr val="B5091F"/>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kumimoji="1" lang="ja-JP" altLang="en-US" sz="2000" dirty="0" err="1">
              <a:solidFill>
                <a:schemeClr val="tx1"/>
              </a:solidFill>
            </a:endParaRPr>
          </a:p>
        </p:txBody>
      </p:sp>
    </p:spTree>
    <p:extLst>
      <p:ext uri="{BB962C8B-B14F-4D97-AF65-F5344CB8AC3E}">
        <p14:creationId xmlns:p14="http://schemas.microsoft.com/office/powerpoint/2010/main" val="40499736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6 Content - Blue Title, Text, im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01B1A7B4-C90B-5174-1E18-489F4C9F1216}"/>
              </a:ext>
            </a:extLst>
          </p:cNvPr>
          <p:cNvSpPr/>
          <p:nvPr userDrawn="1"/>
        </p:nvSpPr>
        <p:spPr>
          <a:xfrm>
            <a:off x="0" y="635635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sp>
        <p:nvSpPr>
          <p:cNvPr id="7" name="Picture Placeholder 7">
            <a:extLst>
              <a:ext uri="{FF2B5EF4-FFF2-40B4-BE49-F238E27FC236}">
                <a16:creationId xmlns:a16="http://schemas.microsoft.com/office/drawing/2014/main" id="{C640D543-9FD2-04C8-8230-253D9B4D8D32}"/>
              </a:ext>
            </a:extLst>
          </p:cNvPr>
          <p:cNvSpPr>
            <a:spLocks noGrp="1"/>
          </p:cNvSpPr>
          <p:nvPr>
            <p:ph type="pic" sz="quarter" idx="16" hasCustomPrompt="1"/>
            <p:custDataLst>
              <p:tags r:id="rId1"/>
            </p:custDataLst>
          </p:nvPr>
        </p:nvSpPr>
        <p:spPr>
          <a:xfrm>
            <a:off x="6096000" y="0"/>
            <a:ext cx="6096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ja-JP" altLang="en-US"/>
              <a:t> </a:t>
            </a:r>
            <a:endParaRPr lang="ja-JP" altLang="en-US" dirty="0"/>
          </a:p>
        </p:txBody>
      </p:sp>
      <p:grpSp>
        <p:nvGrpSpPr>
          <p:cNvPr id="20" name="LOGO RED">
            <a:extLst>
              <a:ext uri="{FF2B5EF4-FFF2-40B4-BE49-F238E27FC236}">
                <a16:creationId xmlns:a16="http://schemas.microsoft.com/office/drawing/2014/main" id="{27E896B1-DDFF-2917-33A4-41974FF41CAA}"/>
              </a:ext>
            </a:extLst>
          </p:cNvPr>
          <p:cNvGrpSpPr/>
          <p:nvPr userDrawn="1">
            <p:custDataLst>
              <p:tags r:id="rId2"/>
            </p:custDataLst>
          </p:nvPr>
        </p:nvGrpSpPr>
        <p:grpSpPr>
          <a:xfrm>
            <a:off x="454798" y="6444000"/>
            <a:ext cx="1407869" cy="245006"/>
            <a:chOff x="3245241" y="3110528"/>
            <a:chExt cx="5696307" cy="991307"/>
          </a:xfrm>
          <a:solidFill>
            <a:srgbClr val="ED1C24"/>
          </a:solidFill>
        </p:grpSpPr>
        <p:sp>
          <p:nvSpPr>
            <p:cNvPr id="21" name="Freeform: Shape 9">
              <a:extLst>
                <a:ext uri="{FF2B5EF4-FFF2-40B4-BE49-F238E27FC236}">
                  <a16:creationId xmlns:a16="http://schemas.microsoft.com/office/drawing/2014/main" id="{E88779C5-8006-E264-C412-A6D4D8331B64}"/>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22" name="Freeform: Shape 10">
              <a:extLst>
                <a:ext uri="{FF2B5EF4-FFF2-40B4-BE49-F238E27FC236}">
                  <a16:creationId xmlns:a16="http://schemas.microsoft.com/office/drawing/2014/main" id="{C411DA21-17AA-E315-72C6-0FCF4A9EB364}"/>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23" name="Freeform: Shape 11">
              <a:extLst>
                <a:ext uri="{FF2B5EF4-FFF2-40B4-BE49-F238E27FC236}">
                  <a16:creationId xmlns:a16="http://schemas.microsoft.com/office/drawing/2014/main" id="{636FB7E2-7087-8579-7E48-BB43079D3767}"/>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24" name="Freeform: Shape 12">
              <a:extLst>
                <a:ext uri="{FF2B5EF4-FFF2-40B4-BE49-F238E27FC236}">
                  <a16:creationId xmlns:a16="http://schemas.microsoft.com/office/drawing/2014/main" id="{954D36C4-63EF-F55E-8E18-848E87B8CED9}"/>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25" name="Freeform: Shape 13">
              <a:extLst>
                <a:ext uri="{FF2B5EF4-FFF2-40B4-BE49-F238E27FC236}">
                  <a16:creationId xmlns:a16="http://schemas.microsoft.com/office/drawing/2014/main" id="{38D6AF16-2077-10B4-321E-E591A0BC0B83}"/>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26" name="Text Placeholder 15">
            <a:extLst>
              <a:ext uri="{FF2B5EF4-FFF2-40B4-BE49-F238E27FC236}">
                <a16:creationId xmlns:a16="http://schemas.microsoft.com/office/drawing/2014/main" id="{B6CBA4E6-9222-A131-2B39-13F835593223}"/>
              </a:ext>
            </a:extLst>
          </p:cNvPr>
          <p:cNvSpPr>
            <a:spLocks noGrp="1"/>
          </p:cNvSpPr>
          <p:nvPr>
            <p:ph type="body" sz="quarter" idx="14" hasCustomPrompt="1"/>
            <p:custDataLst>
              <p:tags r:id="rId3"/>
            </p:custDataLst>
          </p:nvPr>
        </p:nvSpPr>
        <p:spPr>
          <a:xfrm>
            <a:off x="457200" y="1196975"/>
            <a:ext cx="5184002" cy="5111749"/>
          </a:xfrm>
        </p:spPr>
        <p:txBody>
          <a:bodyPr lIns="0"/>
          <a:lstStyle/>
          <a:p>
            <a:pPr lvl="0"/>
            <a:r>
              <a:rPr lang="ja-JP" altLang="en-US" dirty="0"/>
              <a:t>テキスト</a:t>
            </a:r>
          </a:p>
        </p:txBody>
      </p:sp>
      <p:sp>
        <p:nvSpPr>
          <p:cNvPr id="3" name="Title 3">
            <a:extLst>
              <a:ext uri="{FF2B5EF4-FFF2-40B4-BE49-F238E27FC236}">
                <a16:creationId xmlns:a16="http://schemas.microsoft.com/office/drawing/2014/main" id="{8D8EC7F7-71D9-BB94-7D9B-CDF63FE08697}"/>
              </a:ext>
            </a:extLst>
          </p:cNvPr>
          <p:cNvSpPr>
            <a:spLocks noGrp="1"/>
          </p:cNvSpPr>
          <p:nvPr>
            <p:ph type="title" hasCustomPrompt="1"/>
            <p:custDataLst>
              <p:tags r:id="rId4"/>
            </p:custDataLst>
          </p:nvPr>
        </p:nvSpPr>
        <p:spPr>
          <a:xfrm>
            <a:off x="695400" y="376801"/>
            <a:ext cx="4945802" cy="518746"/>
          </a:xfrm>
        </p:spPr>
        <p:txBody>
          <a:bodyPr tIns="93600" anchor="t" anchorCtr="0"/>
          <a:lstStyle/>
          <a:p>
            <a:r>
              <a:rPr lang="ja-JP" altLang="en-US" dirty="0"/>
              <a:t>タイトル</a:t>
            </a:r>
          </a:p>
        </p:txBody>
      </p:sp>
      <p:sp>
        <p:nvSpPr>
          <p:cNvPr id="4" name="正方形/長方形 3">
            <a:extLst>
              <a:ext uri="{FF2B5EF4-FFF2-40B4-BE49-F238E27FC236}">
                <a16:creationId xmlns:a16="http://schemas.microsoft.com/office/drawing/2014/main" id="{04009649-17B7-3ED0-CF23-A3B4C108B76E}"/>
              </a:ext>
            </a:extLst>
          </p:cNvPr>
          <p:cNvSpPr/>
          <p:nvPr userDrawn="1"/>
        </p:nvSpPr>
        <p:spPr>
          <a:xfrm>
            <a:off x="452397" y="361586"/>
            <a:ext cx="119133" cy="549176"/>
          </a:xfrm>
          <a:prstGeom prst="rect">
            <a:avLst/>
          </a:pr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kumimoji="1" lang="ja-JP" altLang="en-US" sz="2000" dirty="0" err="1">
              <a:solidFill>
                <a:schemeClr val="tx1"/>
              </a:solidFill>
            </a:endParaRPr>
          </a:p>
        </p:txBody>
      </p:sp>
    </p:spTree>
    <p:extLst>
      <p:ext uri="{BB962C8B-B14F-4D97-AF65-F5344CB8AC3E}">
        <p14:creationId xmlns:p14="http://schemas.microsoft.com/office/powerpoint/2010/main" val="22624872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7 Content - Red Title">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D9AC64CF-1299-C15C-FC48-420729449EFD}"/>
              </a:ext>
            </a:extLst>
          </p:cNvPr>
          <p:cNvSpPr/>
          <p:nvPr userDrawn="1"/>
        </p:nvSpPr>
        <p:spPr>
          <a:xfrm>
            <a:off x="0" y="635635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grpSp>
        <p:nvGrpSpPr>
          <p:cNvPr id="16" name="LOGO RED">
            <a:extLst>
              <a:ext uri="{FF2B5EF4-FFF2-40B4-BE49-F238E27FC236}">
                <a16:creationId xmlns:a16="http://schemas.microsoft.com/office/drawing/2014/main" id="{EFC0F43E-3187-0C9B-4850-8079E4A838D2}"/>
              </a:ext>
            </a:extLst>
          </p:cNvPr>
          <p:cNvGrpSpPr/>
          <p:nvPr userDrawn="1">
            <p:custDataLst>
              <p:tags r:id="rId1"/>
            </p:custDataLst>
          </p:nvPr>
        </p:nvGrpSpPr>
        <p:grpSpPr>
          <a:xfrm>
            <a:off x="454798" y="6444000"/>
            <a:ext cx="1407869" cy="245006"/>
            <a:chOff x="3245241" y="3110528"/>
            <a:chExt cx="5696307" cy="991307"/>
          </a:xfrm>
          <a:solidFill>
            <a:srgbClr val="ED1C24"/>
          </a:solidFill>
        </p:grpSpPr>
        <p:sp>
          <p:nvSpPr>
            <p:cNvPr id="17" name="Freeform: Shape 6">
              <a:extLst>
                <a:ext uri="{FF2B5EF4-FFF2-40B4-BE49-F238E27FC236}">
                  <a16:creationId xmlns:a16="http://schemas.microsoft.com/office/drawing/2014/main" id="{2AAFDEAE-1A99-5DB9-801C-798CA9CA0FED}"/>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8" name="Freeform: Shape 8">
              <a:extLst>
                <a:ext uri="{FF2B5EF4-FFF2-40B4-BE49-F238E27FC236}">
                  <a16:creationId xmlns:a16="http://schemas.microsoft.com/office/drawing/2014/main" id="{38360DB9-2039-F224-83A2-05E319B49278}"/>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9" name="Freeform: Shape 9">
              <a:extLst>
                <a:ext uri="{FF2B5EF4-FFF2-40B4-BE49-F238E27FC236}">
                  <a16:creationId xmlns:a16="http://schemas.microsoft.com/office/drawing/2014/main" id="{E377815F-FD13-8E44-7C90-F69CA0024926}"/>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20" name="Freeform: Shape 10">
              <a:extLst>
                <a:ext uri="{FF2B5EF4-FFF2-40B4-BE49-F238E27FC236}">
                  <a16:creationId xmlns:a16="http://schemas.microsoft.com/office/drawing/2014/main" id="{BC096D12-1469-4702-5122-1BF481D021BD}"/>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21" name="Freeform: Shape 11">
              <a:extLst>
                <a:ext uri="{FF2B5EF4-FFF2-40B4-BE49-F238E27FC236}">
                  <a16:creationId xmlns:a16="http://schemas.microsoft.com/office/drawing/2014/main" id="{A83E24C6-9106-E91F-417C-663D75582D1E}"/>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3" name="Title 3">
            <a:extLst>
              <a:ext uri="{FF2B5EF4-FFF2-40B4-BE49-F238E27FC236}">
                <a16:creationId xmlns:a16="http://schemas.microsoft.com/office/drawing/2014/main" id="{0E3DA47C-B0BE-7CBE-67AC-5203509064C3}"/>
              </a:ext>
            </a:extLst>
          </p:cNvPr>
          <p:cNvSpPr>
            <a:spLocks noGrp="1"/>
          </p:cNvSpPr>
          <p:nvPr>
            <p:ph type="title" hasCustomPrompt="1"/>
            <p:custDataLst>
              <p:tags r:id="rId2"/>
            </p:custDataLst>
          </p:nvPr>
        </p:nvSpPr>
        <p:spPr>
          <a:xfrm>
            <a:off x="695400" y="376801"/>
            <a:ext cx="11037600" cy="518746"/>
          </a:xfrm>
        </p:spPr>
        <p:txBody>
          <a:bodyPr tIns="93600" anchor="t" anchorCtr="0"/>
          <a:lstStyle/>
          <a:p>
            <a:r>
              <a:rPr lang="ja-JP" altLang="en-US" dirty="0"/>
              <a:t>タイトル</a:t>
            </a:r>
          </a:p>
        </p:txBody>
      </p:sp>
      <p:sp>
        <p:nvSpPr>
          <p:cNvPr id="4" name="正方形/長方形 3">
            <a:extLst>
              <a:ext uri="{FF2B5EF4-FFF2-40B4-BE49-F238E27FC236}">
                <a16:creationId xmlns:a16="http://schemas.microsoft.com/office/drawing/2014/main" id="{E3455B15-4F69-02F2-00C1-CB4527EF23A8}"/>
              </a:ext>
            </a:extLst>
          </p:cNvPr>
          <p:cNvSpPr/>
          <p:nvPr userDrawn="1"/>
        </p:nvSpPr>
        <p:spPr>
          <a:xfrm>
            <a:off x="452397" y="361586"/>
            <a:ext cx="119133" cy="549176"/>
          </a:xfrm>
          <a:prstGeom prst="rect">
            <a:avLst/>
          </a:prstGeom>
          <a:solidFill>
            <a:srgbClr val="B5091F"/>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kumimoji="1" lang="ja-JP" altLang="en-US" sz="2000" dirty="0" err="1">
              <a:solidFill>
                <a:schemeClr val="tx1"/>
              </a:solidFill>
            </a:endParaRPr>
          </a:p>
        </p:txBody>
      </p:sp>
      <p:sp>
        <p:nvSpPr>
          <p:cNvPr id="2" name="Text Placeholder 8">
            <a:extLst>
              <a:ext uri="{FF2B5EF4-FFF2-40B4-BE49-F238E27FC236}">
                <a16:creationId xmlns:a16="http://schemas.microsoft.com/office/drawing/2014/main" id="{E7577CDC-5F30-9BCB-642A-A8BD3604738F}"/>
              </a:ext>
            </a:extLst>
          </p:cNvPr>
          <p:cNvSpPr>
            <a:spLocks noGrp="1"/>
          </p:cNvSpPr>
          <p:nvPr>
            <p:ph type="body" sz="quarter" idx="13" hasCustomPrompt="1"/>
            <p:custDataLst>
              <p:tags r:id="rId3"/>
            </p:custDataLst>
          </p:nvPr>
        </p:nvSpPr>
        <p:spPr>
          <a:xfrm>
            <a:off x="457200" y="1196975"/>
            <a:ext cx="11280002" cy="5111750"/>
          </a:xfrm>
        </p:spPr>
        <p:txBody>
          <a:bodyPr lIns="0"/>
          <a:lstStyle/>
          <a:p>
            <a:pPr lvl="0"/>
            <a:r>
              <a:rPr lang="ja-JP" altLang="en-US" dirty="0"/>
              <a:t>テキスト</a:t>
            </a:r>
          </a:p>
        </p:txBody>
      </p:sp>
      <p:sp>
        <p:nvSpPr>
          <p:cNvPr id="5" name="Slide Number Placeholder 5">
            <a:extLst>
              <a:ext uri="{FF2B5EF4-FFF2-40B4-BE49-F238E27FC236}">
                <a16:creationId xmlns:a16="http://schemas.microsoft.com/office/drawing/2014/main" id="{F7A0846D-97D9-9368-4536-C40678C606BD}"/>
              </a:ext>
            </a:extLst>
          </p:cNvPr>
          <p:cNvSpPr>
            <a:spLocks noGrp="1"/>
          </p:cNvSpPr>
          <p:nvPr>
            <p:ph type="sldNum" sz="quarter" idx="4"/>
            <p:custDataLst>
              <p:tags r:id="rId4"/>
            </p:custDataLst>
          </p:nvPr>
        </p:nvSpPr>
        <p:spPr>
          <a:xfrm>
            <a:off x="8610600" y="6357488"/>
            <a:ext cx="3124200" cy="365125"/>
          </a:xfrm>
          <a:prstGeom prst="rect">
            <a:avLst/>
          </a:prstGeom>
        </p:spPr>
        <p:txBody>
          <a:bodyPr vert="horz" lIns="91440" tIns="45720" rIns="91440" bIns="45720" rtlCol="0" anchor="ctr"/>
          <a:lstStyle>
            <a:lvl1pPr algn="r">
              <a:defRPr sz="800">
                <a:solidFill>
                  <a:schemeClr val="tx1">
                    <a:tint val="82000"/>
                  </a:schemeClr>
                </a:solidFill>
              </a:defRPr>
            </a:lvl1pPr>
          </a:lstStyle>
          <a:p>
            <a:fld id="{35EA36FB-EA35-45B6-87A5-93E7705983EC}" type="slidenum">
              <a:rPr lang="en-US" altLang="ja-JP" smtClean="0"/>
              <a:pPr/>
              <a:t>‹#›</a:t>
            </a:fld>
            <a:endParaRPr lang="ja-JP" altLang="en-US" dirty="0"/>
          </a:p>
        </p:txBody>
      </p:sp>
    </p:spTree>
    <p:extLst>
      <p:ext uri="{BB962C8B-B14F-4D97-AF65-F5344CB8AC3E}">
        <p14:creationId xmlns:p14="http://schemas.microsoft.com/office/powerpoint/2010/main" val="6557714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8 Content - Blue Title">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EDCC747F-C021-9627-1002-F20551B96F5C}"/>
              </a:ext>
            </a:extLst>
          </p:cNvPr>
          <p:cNvSpPr/>
          <p:nvPr userDrawn="1"/>
        </p:nvSpPr>
        <p:spPr>
          <a:xfrm>
            <a:off x="0" y="635635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grpSp>
        <p:nvGrpSpPr>
          <p:cNvPr id="16" name="LOGO RED">
            <a:extLst>
              <a:ext uri="{FF2B5EF4-FFF2-40B4-BE49-F238E27FC236}">
                <a16:creationId xmlns:a16="http://schemas.microsoft.com/office/drawing/2014/main" id="{B2B548E9-28F5-0D3B-2956-58AD4706B64B}"/>
              </a:ext>
            </a:extLst>
          </p:cNvPr>
          <p:cNvGrpSpPr/>
          <p:nvPr userDrawn="1">
            <p:custDataLst>
              <p:tags r:id="rId1"/>
            </p:custDataLst>
          </p:nvPr>
        </p:nvGrpSpPr>
        <p:grpSpPr>
          <a:xfrm>
            <a:off x="454798" y="6444000"/>
            <a:ext cx="1407869" cy="245006"/>
            <a:chOff x="3245241" y="3110528"/>
            <a:chExt cx="5696307" cy="991307"/>
          </a:xfrm>
          <a:solidFill>
            <a:srgbClr val="ED1C24"/>
          </a:solidFill>
        </p:grpSpPr>
        <p:sp>
          <p:nvSpPr>
            <p:cNvPr id="17" name="Freeform: Shape 6">
              <a:extLst>
                <a:ext uri="{FF2B5EF4-FFF2-40B4-BE49-F238E27FC236}">
                  <a16:creationId xmlns:a16="http://schemas.microsoft.com/office/drawing/2014/main" id="{5D022BFB-1C44-185F-D0FE-0BC991B012B3}"/>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8" name="Freeform: Shape 8">
              <a:extLst>
                <a:ext uri="{FF2B5EF4-FFF2-40B4-BE49-F238E27FC236}">
                  <a16:creationId xmlns:a16="http://schemas.microsoft.com/office/drawing/2014/main" id="{38CFE24F-391A-96C0-AA31-696793FCC33A}"/>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9" name="Freeform: Shape 9">
              <a:extLst>
                <a:ext uri="{FF2B5EF4-FFF2-40B4-BE49-F238E27FC236}">
                  <a16:creationId xmlns:a16="http://schemas.microsoft.com/office/drawing/2014/main" id="{F21CBE1F-6DA1-B80A-4A90-6BE141AEA491}"/>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20" name="Freeform: Shape 10">
              <a:extLst>
                <a:ext uri="{FF2B5EF4-FFF2-40B4-BE49-F238E27FC236}">
                  <a16:creationId xmlns:a16="http://schemas.microsoft.com/office/drawing/2014/main" id="{72BBCD8B-B836-5AB1-4D92-0355B2AECA44}"/>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21" name="Freeform: Shape 11">
              <a:extLst>
                <a:ext uri="{FF2B5EF4-FFF2-40B4-BE49-F238E27FC236}">
                  <a16:creationId xmlns:a16="http://schemas.microsoft.com/office/drawing/2014/main" id="{0C42678C-061F-48E4-E13F-05FF8967780E}"/>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3" name="Title 3">
            <a:extLst>
              <a:ext uri="{FF2B5EF4-FFF2-40B4-BE49-F238E27FC236}">
                <a16:creationId xmlns:a16="http://schemas.microsoft.com/office/drawing/2014/main" id="{554A9659-5F49-427B-70DD-355785CD8DE2}"/>
              </a:ext>
            </a:extLst>
          </p:cNvPr>
          <p:cNvSpPr>
            <a:spLocks noGrp="1"/>
          </p:cNvSpPr>
          <p:nvPr>
            <p:ph type="title" hasCustomPrompt="1"/>
            <p:custDataLst>
              <p:tags r:id="rId2"/>
            </p:custDataLst>
          </p:nvPr>
        </p:nvSpPr>
        <p:spPr>
          <a:xfrm>
            <a:off x="695400" y="376801"/>
            <a:ext cx="11037600" cy="518746"/>
          </a:xfrm>
        </p:spPr>
        <p:txBody>
          <a:bodyPr tIns="93600" anchor="t" anchorCtr="0"/>
          <a:lstStyle/>
          <a:p>
            <a:r>
              <a:rPr lang="ja-JP" altLang="en-US" dirty="0"/>
              <a:t>タイトル</a:t>
            </a:r>
          </a:p>
        </p:txBody>
      </p:sp>
      <p:sp>
        <p:nvSpPr>
          <p:cNvPr id="4" name="正方形/長方形 3">
            <a:extLst>
              <a:ext uri="{FF2B5EF4-FFF2-40B4-BE49-F238E27FC236}">
                <a16:creationId xmlns:a16="http://schemas.microsoft.com/office/drawing/2014/main" id="{22B5DBA0-4A39-6FEC-C950-D4B80820EC54}"/>
              </a:ext>
            </a:extLst>
          </p:cNvPr>
          <p:cNvSpPr/>
          <p:nvPr userDrawn="1"/>
        </p:nvSpPr>
        <p:spPr>
          <a:xfrm>
            <a:off x="452397" y="361586"/>
            <a:ext cx="119133" cy="549176"/>
          </a:xfrm>
          <a:prstGeom prst="rect">
            <a:avLst/>
          </a:pr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kumimoji="1" lang="ja-JP" altLang="en-US" sz="2000" dirty="0" err="1">
              <a:solidFill>
                <a:schemeClr val="tx1"/>
              </a:solidFill>
            </a:endParaRPr>
          </a:p>
        </p:txBody>
      </p:sp>
      <p:sp>
        <p:nvSpPr>
          <p:cNvPr id="2" name="Text Placeholder 8">
            <a:extLst>
              <a:ext uri="{FF2B5EF4-FFF2-40B4-BE49-F238E27FC236}">
                <a16:creationId xmlns:a16="http://schemas.microsoft.com/office/drawing/2014/main" id="{D7121083-B5B5-85EC-DDBF-0899173E6143}"/>
              </a:ext>
            </a:extLst>
          </p:cNvPr>
          <p:cNvSpPr>
            <a:spLocks noGrp="1"/>
          </p:cNvSpPr>
          <p:nvPr>
            <p:ph type="body" sz="quarter" idx="13" hasCustomPrompt="1"/>
            <p:custDataLst>
              <p:tags r:id="rId3"/>
            </p:custDataLst>
          </p:nvPr>
        </p:nvSpPr>
        <p:spPr>
          <a:xfrm>
            <a:off x="457200" y="1196975"/>
            <a:ext cx="11280002" cy="5111750"/>
          </a:xfrm>
        </p:spPr>
        <p:txBody>
          <a:bodyPr lIns="0"/>
          <a:lstStyle/>
          <a:p>
            <a:pPr lvl="0"/>
            <a:r>
              <a:rPr lang="ja-JP" altLang="en-US" dirty="0"/>
              <a:t>テキスト</a:t>
            </a:r>
          </a:p>
        </p:txBody>
      </p:sp>
      <p:sp>
        <p:nvSpPr>
          <p:cNvPr id="5" name="Slide Number Placeholder 5">
            <a:extLst>
              <a:ext uri="{FF2B5EF4-FFF2-40B4-BE49-F238E27FC236}">
                <a16:creationId xmlns:a16="http://schemas.microsoft.com/office/drawing/2014/main" id="{DE9A462E-B13B-F36B-B938-6565B5A1501B}"/>
              </a:ext>
            </a:extLst>
          </p:cNvPr>
          <p:cNvSpPr>
            <a:spLocks noGrp="1"/>
          </p:cNvSpPr>
          <p:nvPr>
            <p:ph type="sldNum" sz="quarter" idx="4"/>
            <p:custDataLst>
              <p:tags r:id="rId4"/>
            </p:custDataLst>
          </p:nvPr>
        </p:nvSpPr>
        <p:spPr>
          <a:xfrm>
            <a:off x="8610600" y="6357488"/>
            <a:ext cx="3124200" cy="365125"/>
          </a:xfrm>
          <a:prstGeom prst="rect">
            <a:avLst/>
          </a:prstGeom>
        </p:spPr>
        <p:txBody>
          <a:bodyPr vert="horz" lIns="91440" tIns="45720" rIns="91440" bIns="45720" rtlCol="0" anchor="ctr"/>
          <a:lstStyle>
            <a:lvl1pPr algn="r">
              <a:defRPr sz="800">
                <a:solidFill>
                  <a:schemeClr val="tx1">
                    <a:tint val="82000"/>
                  </a:schemeClr>
                </a:solidFill>
              </a:defRPr>
            </a:lvl1pPr>
          </a:lstStyle>
          <a:p>
            <a:fld id="{35EA36FB-EA35-45B6-87A5-93E7705983EC}" type="slidenum">
              <a:rPr lang="en-US" altLang="ja-JP" smtClean="0"/>
              <a:pPr/>
              <a:t>‹#›</a:t>
            </a:fld>
            <a:endParaRPr lang="ja-JP" altLang="en-US" dirty="0"/>
          </a:p>
        </p:txBody>
      </p:sp>
    </p:spTree>
    <p:extLst>
      <p:ext uri="{BB962C8B-B14F-4D97-AF65-F5344CB8AC3E}">
        <p14:creationId xmlns:p14="http://schemas.microsoft.com/office/powerpoint/2010/main" val="18834988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9 Content - Empty">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BE8D586E-96A9-7AD5-B507-819C045271B5}"/>
              </a:ext>
            </a:extLst>
          </p:cNvPr>
          <p:cNvSpPr/>
          <p:nvPr userDrawn="1"/>
        </p:nvSpPr>
        <p:spPr>
          <a:xfrm>
            <a:off x="0" y="635635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grpSp>
        <p:nvGrpSpPr>
          <p:cNvPr id="14" name="LOGO RED">
            <a:extLst>
              <a:ext uri="{FF2B5EF4-FFF2-40B4-BE49-F238E27FC236}">
                <a16:creationId xmlns:a16="http://schemas.microsoft.com/office/drawing/2014/main" id="{75A73315-05DF-960C-CA3D-2EA4C9D25312}"/>
              </a:ext>
            </a:extLst>
          </p:cNvPr>
          <p:cNvGrpSpPr/>
          <p:nvPr userDrawn="1">
            <p:custDataLst>
              <p:tags r:id="rId1"/>
            </p:custDataLst>
          </p:nvPr>
        </p:nvGrpSpPr>
        <p:grpSpPr>
          <a:xfrm>
            <a:off x="454798" y="6444000"/>
            <a:ext cx="1407869" cy="245006"/>
            <a:chOff x="3245241" y="3110528"/>
            <a:chExt cx="5696307" cy="991307"/>
          </a:xfrm>
          <a:solidFill>
            <a:srgbClr val="ED1C24"/>
          </a:solidFill>
        </p:grpSpPr>
        <p:sp>
          <p:nvSpPr>
            <p:cNvPr id="15" name="Freeform: Shape 2">
              <a:extLst>
                <a:ext uri="{FF2B5EF4-FFF2-40B4-BE49-F238E27FC236}">
                  <a16:creationId xmlns:a16="http://schemas.microsoft.com/office/drawing/2014/main" id="{DC5EFCEC-C45D-50C9-2C4A-8A39DD9D92EF}"/>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6" name="Freeform: Shape 6">
              <a:extLst>
                <a:ext uri="{FF2B5EF4-FFF2-40B4-BE49-F238E27FC236}">
                  <a16:creationId xmlns:a16="http://schemas.microsoft.com/office/drawing/2014/main" id="{525CC2C4-8DBA-B64E-AC9A-F9FFE7543051}"/>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7" name="Freeform: Shape 7">
              <a:extLst>
                <a:ext uri="{FF2B5EF4-FFF2-40B4-BE49-F238E27FC236}">
                  <a16:creationId xmlns:a16="http://schemas.microsoft.com/office/drawing/2014/main" id="{DDF28C2A-5CC8-5527-4056-78E1AEDAEA12}"/>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8" name="Freeform: Shape 8">
              <a:extLst>
                <a:ext uri="{FF2B5EF4-FFF2-40B4-BE49-F238E27FC236}">
                  <a16:creationId xmlns:a16="http://schemas.microsoft.com/office/drawing/2014/main" id="{02249847-FA22-A46F-BB41-E0B3BCB438DD}"/>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9" name="Freeform: Shape 9">
              <a:extLst>
                <a:ext uri="{FF2B5EF4-FFF2-40B4-BE49-F238E27FC236}">
                  <a16:creationId xmlns:a16="http://schemas.microsoft.com/office/drawing/2014/main" id="{815FCFBF-2035-00B9-1735-A3695C4847D1}"/>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2" name="Slide Number Placeholder 5">
            <a:extLst>
              <a:ext uri="{FF2B5EF4-FFF2-40B4-BE49-F238E27FC236}">
                <a16:creationId xmlns:a16="http://schemas.microsoft.com/office/drawing/2014/main" id="{D2B337B6-F6BB-5847-E1E4-C4DE60B654D8}"/>
              </a:ext>
            </a:extLst>
          </p:cNvPr>
          <p:cNvSpPr>
            <a:spLocks noGrp="1"/>
          </p:cNvSpPr>
          <p:nvPr>
            <p:ph type="sldNum" sz="quarter" idx="4"/>
            <p:custDataLst>
              <p:tags r:id="rId2"/>
            </p:custDataLst>
          </p:nvPr>
        </p:nvSpPr>
        <p:spPr>
          <a:xfrm>
            <a:off x="8610600" y="6357488"/>
            <a:ext cx="3124200" cy="365125"/>
          </a:xfrm>
          <a:prstGeom prst="rect">
            <a:avLst/>
          </a:prstGeom>
        </p:spPr>
        <p:txBody>
          <a:bodyPr vert="horz" lIns="91440" tIns="45720" rIns="91440" bIns="45720" rtlCol="0" anchor="ctr"/>
          <a:lstStyle>
            <a:lvl1pPr algn="r">
              <a:defRPr sz="800">
                <a:solidFill>
                  <a:schemeClr val="tx1">
                    <a:tint val="82000"/>
                  </a:schemeClr>
                </a:solidFill>
              </a:defRPr>
            </a:lvl1pPr>
          </a:lstStyle>
          <a:p>
            <a:fld id="{35EA36FB-EA35-45B6-87A5-93E7705983EC}" type="slidenum">
              <a:rPr lang="en-US" altLang="ja-JP" smtClean="0"/>
              <a:pPr/>
              <a:t>‹#›</a:t>
            </a:fld>
            <a:endParaRPr lang="ja-JP" altLang="en-US" dirty="0"/>
          </a:p>
        </p:txBody>
      </p:sp>
    </p:spTree>
    <p:extLst>
      <p:ext uri="{BB962C8B-B14F-4D97-AF65-F5344CB8AC3E}">
        <p14:creationId xmlns:p14="http://schemas.microsoft.com/office/powerpoint/2010/main" val="26489268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10 Content - Red, Title, Text">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AEB08F3-EA50-E32B-B5BE-63A53DD3D5A0}"/>
              </a:ext>
            </a:extLst>
          </p:cNvPr>
          <p:cNvSpPr/>
          <p:nvPr userDrawn="1"/>
        </p:nvSpPr>
        <p:spPr>
          <a:xfrm>
            <a:off x="10349001" y="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sp>
        <p:nvSpPr>
          <p:cNvPr id="7" name="Freeform: Shape 8">
            <a:extLst>
              <a:ext uri="{FF2B5EF4-FFF2-40B4-BE49-F238E27FC236}">
                <a16:creationId xmlns:a16="http://schemas.microsoft.com/office/drawing/2014/main" id="{38DEDB97-F1F9-7A36-8CFC-00AC051ACD08}"/>
              </a:ext>
            </a:extLst>
          </p:cNvPr>
          <p:cNvSpPr/>
          <p:nvPr userDrawn="1">
            <p:custDataLst>
              <p:tags r:id="rId1"/>
            </p:custDataLst>
          </p:nvPr>
        </p:nvSpPr>
        <p:spPr>
          <a:xfrm rot="16200000" flipH="1">
            <a:off x="8516631" y="3182631"/>
            <a:ext cx="6857866" cy="492871"/>
          </a:xfrm>
          <a:custGeom>
            <a:avLst/>
            <a:gdLst>
              <a:gd name="connsiteX0" fmla="*/ 0 w 4859940"/>
              <a:gd name="connsiteY0" fmla="*/ 0 h 349281"/>
              <a:gd name="connsiteX1" fmla="*/ 4859941 w 4859940"/>
              <a:gd name="connsiteY1" fmla="*/ 0 h 349281"/>
              <a:gd name="connsiteX2" fmla="*/ 4859941 w 4859940"/>
              <a:gd name="connsiteY2" fmla="*/ 349282 h 349281"/>
              <a:gd name="connsiteX3" fmla="*/ 0 w 4859940"/>
              <a:gd name="connsiteY3" fmla="*/ 349282 h 349281"/>
            </a:gdLst>
            <a:ahLst/>
            <a:cxnLst>
              <a:cxn ang="0">
                <a:pos x="connsiteX0" y="connsiteY0"/>
              </a:cxn>
              <a:cxn ang="0">
                <a:pos x="connsiteX1" y="connsiteY1"/>
              </a:cxn>
              <a:cxn ang="0">
                <a:pos x="connsiteX2" y="connsiteY2"/>
              </a:cxn>
              <a:cxn ang="0">
                <a:pos x="connsiteX3" y="connsiteY3"/>
              </a:cxn>
            </a:cxnLst>
            <a:rect l="l" t="t" r="r" b="b"/>
            <a:pathLst>
              <a:path w="4859940" h="349281">
                <a:moveTo>
                  <a:pt x="0" y="0"/>
                </a:moveTo>
                <a:lnTo>
                  <a:pt x="4859941" y="0"/>
                </a:lnTo>
                <a:lnTo>
                  <a:pt x="4859941" y="349282"/>
                </a:lnTo>
                <a:lnTo>
                  <a:pt x="0" y="349282"/>
                </a:lnTo>
                <a:close/>
              </a:path>
            </a:pathLst>
          </a:custGeom>
          <a:solidFill>
            <a:srgbClr val="C74657"/>
          </a:solidFill>
          <a:ln w="0" cap="flat">
            <a:noFill/>
            <a:prstDash val="solid"/>
            <a:miter/>
          </a:ln>
        </p:spPr>
        <p:txBody>
          <a:bodyPr rtlCol="0" anchor="ctr"/>
          <a:lstStyle/>
          <a:p>
            <a:endParaRPr lang="ja-JP" altLang="en-US" dirty="0"/>
          </a:p>
        </p:txBody>
      </p:sp>
      <p:sp>
        <p:nvSpPr>
          <p:cNvPr id="8" name="Freeform: Shape 17">
            <a:extLst>
              <a:ext uri="{FF2B5EF4-FFF2-40B4-BE49-F238E27FC236}">
                <a16:creationId xmlns:a16="http://schemas.microsoft.com/office/drawing/2014/main" id="{58FA3B11-8BF7-9E80-2AF4-346AAECFE62F}"/>
              </a:ext>
            </a:extLst>
          </p:cNvPr>
          <p:cNvSpPr/>
          <p:nvPr userDrawn="1">
            <p:custDataLst>
              <p:tags r:id="rId2"/>
            </p:custDataLst>
          </p:nvPr>
        </p:nvSpPr>
        <p:spPr>
          <a:xfrm flipH="1">
            <a:off x="11699129" y="0"/>
            <a:ext cx="428625" cy="2283580"/>
          </a:xfrm>
          <a:custGeom>
            <a:avLst/>
            <a:gdLst>
              <a:gd name="connsiteX0" fmla="*/ 303752 w 303752"/>
              <a:gd name="connsiteY0" fmla="*/ 1618298 h 1618297"/>
              <a:gd name="connsiteX1" fmla="*/ 0 w 303752"/>
              <a:gd name="connsiteY1" fmla="*/ 0 h 1618297"/>
              <a:gd name="connsiteX2" fmla="*/ 303752 w 303752"/>
              <a:gd name="connsiteY2" fmla="*/ 0 h 1618297"/>
              <a:gd name="connsiteX3" fmla="*/ 303752 w 303752"/>
              <a:gd name="connsiteY3" fmla="*/ 1618298 h 1618297"/>
            </a:gdLst>
            <a:ahLst/>
            <a:cxnLst>
              <a:cxn ang="0">
                <a:pos x="connsiteX0" y="connsiteY0"/>
              </a:cxn>
              <a:cxn ang="0">
                <a:pos x="connsiteX1" y="connsiteY1"/>
              </a:cxn>
              <a:cxn ang="0">
                <a:pos x="connsiteX2" y="connsiteY2"/>
              </a:cxn>
              <a:cxn ang="0">
                <a:pos x="connsiteX3" y="connsiteY3"/>
              </a:cxn>
            </a:cxnLst>
            <a:rect l="l" t="t" r="r" b="b"/>
            <a:pathLst>
              <a:path w="303752" h="1618297">
                <a:moveTo>
                  <a:pt x="303752" y="1618298"/>
                </a:moveTo>
                <a:cubicBezTo>
                  <a:pt x="129445" y="1104233"/>
                  <a:pt x="20955" y="543687"/>
                  <a:pt x="0" y="0"/>
                </a:cubicBezTo>
                <a:lnTo>
                  <a:pt x="303752" y="0"/>
                </a:lnTo>
                <a:lnTo>
                  <a:pt x="303752" y="1618298"/>
                </a:lnTo>
                <a:close/>
              </a:path>
            </a:pathLst>
          </a:custGeom>
          <a:solidFill>
            <a:srgbClr val="B5091F"/>
          </a:solidFill>
          <a:ln w="0" cap="flat">
            <a:noFill/>
            <a:prstDash val="solid"/>
            <a:miter/>
          </a:ln>
        </p:spPr>
        <p:txBody>
          <a:bodyPr rtlCol="0" anchor="ctr"/>
          <a:lstStyle/>
          <a:p>
            <a:endParaRPr lang="ja-JP" altLang="en-US" dirty="0"/>
          </a:p>
        </p:txBody>
      </p:sp>
      <p:sp>
        <p:nvSpPr>
          <p:cNvPr id="10" name="Freeform: Shape 18">
            <a:extLst>
              <a:ext uri="{FF2B5EF4-FFF2-40B4-BE49-F238E27FC236}">
                <a16:creationId xmlns:a16="http://schemas.microsoft.com/office/drawing/2014/main" id="{8A1B6884-A343-1B3C-BD01-9F530D8CB4AB}"/>
              </a:ext>
            </a:extLst>
          </p:cNvPr>
          <p:cNvSpPr/>
          <p:nvPr userDrawn="1">
            <p:custDataLst>
              <p:tags r:id="rId3"/>
            </p:custDataLst>
          </p:nvPr>
        </p:nvSpPr>
        <p:spPr>
          <a:xfrm flipH="1">
            <a:off x="10413255" y="2283580"/>
            <a:ext cx="1285874" cy="4574420"/>
          </a:xfrm>
          <a:custGeom>
            <a:avLst/>
            <a:gdLst>
              <a:gd name="connsiteX0" fmla="*/ 0 w 911256"/>
              <a:gd name="connsiteY0" fmla="*/ 754190 h 3241738"/>
              <a:gd name="connsiteX1" fmla="*/ 0 w 911256"/>
              <a:gd name="connsiteY1" fmla="*/ 3241739 h 3241738"/>
              <a:gd name="connsiteX2" fmla="*/ 911257 w 911256"/>
              <a:gd name="connsiteY2" fmla="*/ 3241739 h 3241738"/>
              <a:gd name="connsiteX3" fmla="*/ 607505 w 911256"/>
              <a:gd name="connsiteY3" fmla="*/ 1622965 h 3241738"/>
              <a:gd name="connsiteX4" fmla="*/ 0 w 911256"/>
              <a:gd name="connsiteY4" fmla="*/ 0 h 3241738"/>
              <a:gd name="connsiteX5" fmla="*/ 0 w 911256"/>
              <a:gd name="connsiteY5" fmla="*/ 754190 h 324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1256" h="3241738">
                <a:moveTo>
                  <a:pt x="0" y="754190"/>
                </a:moveTo>
                <a:lnTo>
                  <a:pt x="0" y="3241739"/>
                </a:lnTo>
                <a:cubicBezTo>
                  <a:pt x="0" y="3241739"/>
                  <a:pt x="911257" y="3241739"/>
                  <a:pt x="911257" y="3241739"/>
                </a:cubicBezTo>
                <a:cubicBezTo>
                  <a:pt x="882301" y="2665476"/>
                  <a:pt x="756761" y="2123313"/>
                  <a:pt x="607505" y="1622965"/>
                </a:cubicBezTo>
                <a:cubicBezTo>
                  <a:pt x="446151" y="1082135"/>
                  <a:pt x="104299" y="307562"/>
                  <a:pt x="0" y="0"/>
                </a:cubicBezTo>
                <a:lnTo>
                  <a:pt x="0" y="754190"/>
                </a:lnTo>
                <a:close/>
              </a:path>
            </a:pathLst>
          </a:custGeom>
          <a:solidFill>
            <a:srgbClr val="D36B79"/>
          </a:solidFill>
          <a:ln w="0" cap="flat">
            <a:noFill/>
            <a:prstDash val="solid"/>
            <a:miter/>
          </a:ln>
        </p:spPr>
        <p:txBody>
          <a:bodyPr rtlCol="0" anchor="ctr"/>
          <a:lstStyle/>
          <a:p>
            <a:endParaRPr lang="ja-JP" altLang="en-US" dirty="0"/>
          </a:p>
        </p:txBody>
      </p:sp>
      <p:sp>
        <p:nvSpPr>
          <p:cNvPr id="5" name="正方形/長方形 4">
            <a:extLst>
              <a:ext uri="{FF2B5EF4-FFF2-40B4-BE49-F238E27FC236}">
                <a16:creationId xmlns:a16="http://schemas.microsoft.com/office/drawing/2014/main" id="{F7C9450B-5DA7-E0B2-815D-F4809EB8C06D}"/>
              </a:ext>
            </a:extLst>
          </p:cNvPr>
          <p:cNvSpPr/>
          <p:nvPr userDrawn="1"/>
        </p:nvSpPr>
        <p:spPr>
          <a:xfrm>
            <a:off x="0" y="635635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grpSp>
        <p:nvGrpSpPr>
          <p:cNvPr id="23" name="LOGO RED">
            <a:extLst>
              <a:ext uri="{FF2B5EF4-FFF2-40B4-BE49-F238E27FC236}">
                <a16:creationId xmlns:a16="http://schemas.microsoft.com/office/drawing/2014/main" id="{BC70152F-A979-52FB-2AF5-D70B2428AA2D}"/>
              </a:ext>
            </a:extLst>
          </p:cNvPr>
          <p:cNvGrpSpPr/>
          <p:nvPr userDrawn="1">
            <p:custDataLst>
              <p:tags r:id="rId4"/>
            </p:custDataLst>
          </p:nvPr>
        </p:nvGrpSpPr>
        <p:grpSpPr>
          <a:xfrm>
            <a:off x="454798" y="6444000"/>
            <a:ext cx="1407869" cy="245006"/>
            <a:chOff x="3245241" y="3110528"/>
            <a:chExt cx="5696307" cy="991307"/>
          </a:xfrm>
          <a:solidFill>
            <a:srgbClr val="ED1C24"/>
          </a:solidFill>
        </p:grpSpPr>
        <p:sp>
          <p:nvSpPr>
            <p:cNvPr id="24" name="Freeform: Shape 11">
              <a:extLst>
                <a:ext uri="{FF2B5EF4-FFF2-40B4-BE49-F238E27FC236}">
                  <a16:creationId xmlns:a16="http://schemas.microsoft.com/office/drawing/2014/main" id="{2D27A781-81B4-9F12-D963-3CAD2ABBE6C8}"/>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25" name="Freeform: Shape 12">
              <a:extLst>
                <a:ext uri="{FF2B5EF4-FFF2-40B4-BE49-F238E27FC236}">
                  <a16:creationId xmlns:a16="http://schemas.microsoft.com/office/drawing/2014/main" id="{DC1DF749-A040-7B54-4423-6D551BBDBD3D}"/>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26" name="Freeform: Shape 13">
              <a:extLst>
                <a:ext uri="{FF2B5EF4-FFF2-40B4-BE49-F238E27FC236}">
                  <a16:creationId xmlns:a16="http://schemas.microsoft.com/office/drawing/2014/main" id="{B751A44A-502F-9127-51CE-989B31E654CA}"/>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27" name="Freeform: Shape 14">
              <a:extLst>
                <a:ext uri="{FF2B5EF4-FFF2-40B4-BE49-F238E27FC236}">
                  <a16:creationId xmlns:a16="http://schemas.microsoft.com/office/drawing/2014/main" id="{362E80C3-2171-509F-79BF-97B167AE80ED}"/>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28" name="Freeform: Shape 15">
              <a:extLst>
                <a:ext uri="{FF2B5EF4-FFF2-40B4-BE49-F238E27FC236}">
                  <a16:creationId xmlns:a16="http://schemas.microsoft.com/office/drawing/2014/main" id="{D3569F7E-3EF9-DB35-5C90-F4F87A99C21C}"/>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2" name="Title 3">
            <a:extLst>
              <a:ext uri="{FF2B5EF4-FFF2-40B4-BE49-F238E27FC236}">
                <a16:creationId xmlns:a16="http://schemas.microsoft.com/office/drawing/2014/main" id="{7FCD9F39-0AB0-8FA7-3115-957974C7277C}"/>
              </a:ext>
            </a:extLst>
          </p:cNvPr>
          <p:cNvSpPr>
            <a:spLocks noGrp="1"/>
          </p:cNvSpPr>
          <p:nvPr>
            <p:ph type="title" hasCustomPrompt="1"/>
            <p:custDataLst>
              <p:tags r:id="rId5"/>
            </p:custDataLst>
          </p:nvPr>
        </p:nvSpPr>
        <p:spPr>
          <a:xfrm>
            <a:off x="695400" y="376801"/>
            <a:ext cx="9341554" cy="518746"/>
          </a:xfrm>
        </p:spPr>
        <p:txBody>
          <a:bodyPr tIns="93600" anchor="t" anchorCtr="0"/>
          <a:lstStyle/>
          <a:p>
            <a:r>
              <a:rPr lang="ja-JP" altLang="en-US" dirty="0"/>
              <a:t>タイトル</a:t>
            </a:r>
          </a:p>
        </p:txBody>
      </p:sp>
      <p:sp>
        <p:nvSpPr>
          <p:cNvPr id="3" name="正方形/長方形 2">
            <a:extLst>
              <a:ext uri="{FF2B5EF4-FFF2-40B4-BE49-F238E27FC236}">
                <a16:creationId xmlns:a16="http://schemas.microsoft.com/office/drawing/2014/main" id="{748F7046-898E-BC31-63F3-9A65B751179C}"/>
              </a:ext>
            </a:extLst>
          </p:cNvPr>
          <p:cNvSpPr/>
          <p:nvPr userDrawn="1"/>
        </p:nvSpPr>
        <p:spPr>
          <a:xfrm>
            <a:off x="452397" y="361586"/>
            <a:ext cx="119133" cy="549176"/>
          </a:xfrm>
          <a:prstGeom prst="rect">
            <a:avLst/>
          </a:prstGeom>
          <a:solidFill>
            <a:srgbClr val="B5091F"/>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kumimoji="1" lang="ja-JP" altLang="en-US" sz="2000" dirty="0" err="1">
              <a:solidFill>
                <a:schemeClr val="tx1"/>
              </a:solidFill>
            </a:endParaRPr>
          </a:p>
        </p:txBody>
      </p:sp>
      <p:sp>
        <p:nvSpPr>
          <p:cNvPr id="4" name="Text Placeholder 8">
            <a:extLst>
              <a:ext uri="{FF2B5EF4-FFF2-40B4-BE49-F238E27FC236}">
                <a16:creationId xmlns:a16="http://schemas.microsoft.com/office/drawing/2014/main" id="{3D950AC0-C8CD-83CD-62BE-B1AA0CEA35A8}"/>
              </a:ext>
            </a:extLst>
          </p:cNvPr>
          <p:cNvSpPr>
            <a:spLocks noGrp="1"/>
          </p:cNvSpPr>
          <p:nvPr>
            <p:ph type="body" sz="quarter" idx="13" hasCustomPrompt="1"/>
            <p:custDataLst>
              <p:tags r:id="rId6"/>
            </p:custDataLst>
          </p:nvPr>
        </p:nvSpPr>
        <p:spPr>
          <a:xfrm>
            <a:off x="457200" y="1196975"/>
            <a:ext cx="9579754" cy="5111750"/>
          </a:xfrm>
        </p:spPr>
        <p:txBody>
          <a:bodyPr lIns="0"/>
          <a:lstStyle/>
          <a:p>
            <a:pPr lvl="0"/>
            <a:r>
              <a:rPr lang="ja-JP" altLang="en-US" dirty="0"/>
              <a:t>テキスト</a:t>
            </a:r>
          </a:p>
        </p:txBody>
      </p:sp>
    </p:spTree>
    <p:extLst>
      <p:ext uri="{BB962C8B-B14F-4D97-AF65-F5344CB8AC3E}">
        <p14:creationId xmlns:p14="http://schemas.microsoft.com/office/powerpoint/2010/main" val="25695656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11 Content - Blue, Title, Text">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A518AC1-210C-F4EC-57DD-33359881F0F8}"/>
              </a:ext>
            </a:extLst>
          </p:cNvPr>
          <p:cNvSpPr/>
          <p:nvPr userDrawn="1"/>
        </p:nvSpPr>
        <p:spPr>
          <a:xfrm>
            <a:off x="0" y="635635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sp>
        <p:nvSpPr>
          <p:cNvPr id="6" name="正方形/長方形 5">
            <a:extLst>
              <a:ext uri="{FF2B5EF4-FFF2-40B4-BE49-F238E27FC236}">
                <a16:creationId xmlns:a16="http://schemas.microsoft.com/office/drawing/2014/main" id="{2F0510AF-D356-0E9D-BAD5-50552AF88CB2}"/>
              </a:ext>
            </a:extLst>
          </p:cNvPr>
          <p:cNvSpPr/>
          <p:nvPr userDrawn="1"/>
        </p:nvSpPr>
        <p:spPr>
          <a:xfrm>
            <a:off x="10344473" y="-135"/>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grpSp>
        <p:nvGrpSpPr>
          <p:cNvPr id="7" name="Group 8">
            <a:extLst>
              <a:ext uri="{FF2B5EF4-FFF2-40B4-BE49-F238E27FC236}">
                <a16:creationId xmlns:a16="http://schemas.microsoft.com/office/drawing/2014/main" id="{852B7CE3-EE5F-3956-8582-45533859E0B2}"/>
              </a:ext>
            </a:extLst>
          </p:cNvPr>
          <p:cNvGrpSpPr/>
          <p:nvPr userDrawn="1">
            <p:custDataLst>
              <p:tags r:id="rId1"/>
            </p:custDataLst>
          </p:nvPr>
        </p:nvGrpSpPr>
        <p:grpSpPr>
          <a:xfrm flipH="1">
            <a:off x="10413255" y="0"/>
            <a:ext cx="1778745" cy="6858000"/>
            <a:chOff x="0" y="0"/>
            <a:chExt cx="1778745" cy="6858000"/>
          </a:xfrm>
        </p:grpSpPr>
        <p:sp>
          <p:nvSpPr>
            <p:cNvPr id="8" name="Freeform: Shape 17">
              <a:extLst>
                <a:ext uri="{FF2B5EF4-FFF2-40B4-BE49-F238E27FC236}">
                  <a16:creationId xmlns:a16="http://schemas.microsoft.com/office/drawing/2014/main" id="{1D34ED51-DF7D-A873-4EB6-B7627C66DCE8}"/>
                </a:ext>
              </a:extLst>
            </p:cNvPr>
            <p:cNvSpPr/>
            <p:nvPr userDrawn="1"/>
          </p:nvSpPr>
          <p:spPr>
            <a:xfrm rot="5400000">
              <a:off x="-3182497" y="3182497"/>
              <a:ext cx="6857866" cy="492871"/>
            </a:xfrm>
            <a:custGeom>
              <a:avLst/>
              <a:gdLst>
                <a:gd name="connsiteX0" fmla="*/ 0 w 4859940"/>
                <a:gd name="connsiteY0" fmla="*/ 0 h 349281"/>
                <a:gd name="connsiteX1" fmla="*/ 4859941 w 4859940"/>
                <a:gd name="connsiteY1" fmla="*/ 0 h 349281"/>
                <a:gd name="connsiteX2" fmla="*/ 4859941 w 4859940"/>
                <a:gd name="connsiteY2" fmla="*/ 349282 h 349281"/>
                <a:gd name="connsiteX3" fmla="*/ 0 w 4859940"/>
                <a:gd name="connsiteY3" fmla="*/ 349282 h 349281"/>
              </a:gdLst>
              <a:ahLst/>
              <a:cxnLst>
                <a:cxn ang="0">
                  <a:pos x="connsiteX0" y="connsiteY0"/>
                </a:cxn>
                <a:cxn ang="0">
                  <a:pos x="connsiteX1" y="connsiteY1"/>
                </a:cxn>
                <a:cxn ang="0">
                  <a:pos x="connsiteX2" y="connsiteY2"/>
                </a:cxn>
                <a:cxn ang="0">
                  <a:pos x="connsiteX3" y="connsiteY3"/>
                </a:cxn>
              </a:cxnLst>
              <a:rect l="l" t="t" r="r" b="b"/>
              <a:pathLst>
                <a:path w="4859940" h="349281">
                  <a:moveTo>
                    <a:pt x="0" y="0"/>
                  </a:moveTo>
                  <a:lnTo>
                    <a:pt x="4859941" y="0"/>
                  </a:lnTo>
                  <a:lnTo>
                    <a:pt x="4859941" y="349282"/>
                  </a:lnTo>
                  <a:lnTo>
                    <a:pt x="0" y="349282"/>
                  </a:lnTo>
                  <a:close/>
                </a:path>
              </a:pathLst>
            </a:custGeom>
            <a:solidFill>
              <a:srgbClr val="405C8B"/>
            </a:solidFill>
            <a:ln w="0" cap="flat">
              <a:noFill/>
              <a:prstDash val="solid"/>
              <a:miter/>
            </a:ln>
          </p:spPr>
          <p:txBody>
            <a:bodyPr rtlCol="0" anchor="ctr"/>
            <a:lstStyle/>
            <a:p>
              <a:endParaRPr lang="en-US" dirty="0"/>
            </a:p>
          </p:txBody>
        </p:sp>
        <p:sp>
          <p:nvSpPr>
            <p:cNvPr id="10" name="Freeform: Shape 18">
              <a:extLst>
                <a:ext uri="{FF2B5EF4-FFF2-40B4-BE49-F238E27FC236}">
                  <a16:creationId xmlns:a16="http://schemas.microsoft.com/office/drawing/2014/main" id="{9CCB3507-F00F-4068-4C59-442388BAAA27}"/>
                </a:ext>
              </a:extLst>
            </p:cNvPr>
            <p:cNvSpPr/>
            <p:nvPr userDrawn="1"/>
          </p:nvSpPr>
          <p:spPr>
            <a:xfrm>
              <a:off x="64246" y="0"/>
              <a:ext cx="428625" cy="2283580"/>
            </a:xfrm>
            <a:custGeom>
              <a:avLst/>
              <a:gdLst>
                <a:gd name="connsiteX0" fmla="*/ 303752 w 303752"/>
                <a:gd name="connsiteY0" fmla="*/ 1618298 h 1618297"/>
                <a:gd name="connsiteX1" fmla="*/ 0 w 303752"/>
                <a:gd name="connsiteY1" fmla="*/ 0 h 1618297"/>
                <a:gd name="connsiteX2" fmla="*/ 303752 w 303752"/>
                <a:gd name="connsiteY2" fmla="*/ 0 h 1618297"/>
                <a:gd name="connsiteX3" fmla="*/ 303752 w 303752"/>
                <a:gd name="connsiteY3" fmla="*/ 1618298 h 1618297"/>
              </a:gdLst>
              <a:ahLst/>
              <a:cxnLst>
                <a:cxn ang="0">
                  <a:pos x="connsiteX0" y="connsiteY0"/>
                </a:cxn>
                <a:cxn ang="0">
                  <a:pos x="connsiteX1" y="connsiteY1"/>
                </a:cxn>
                <a:cxn ang="0">
                  <a:pos x="connsiteX2" y="connsiteY2"/>
                </a:cxn>
                <a:cxn ang="0">
                  <a:pos x="connsiteX3" y="connsiteY3"/>
                </a:cxn>
              </a:cxnLst>
              <a:rect l="l" t="t" r="r" b="b"/>
              <a:pathLst>
                <a:path w="303752" h="1618297">
                  <a:moveTo>
                    <a:pt x="303752" y="1618298"/>
                  </a:moveTo>
                  <a:cubicBezTo>
                    <a:pt x="129445" y="1104233"/>
                    <a:pt x="20955" y="543687"/>
                    <a:pt x="0" y="0"/>
                  </a:cubicBezTo>
                  <a:lnTo>
                    <a:pt x="303752" y="0"/>
                  </a:lnTo>
                  <a:lnTo>
                    <a:pt x="303752" y="1618298"/>
                  </a:lnTo>
                  <a:close/>
                </a:path>
              </a:pathLst>
            </a:custGeom>
            <a:solidFill>
              <a:srgbClr val="002664"/>
            </a:solidFill>
            <a:ln w="0" cap="flat">
              <a:noFill/>
              <a:prstDash val="solid"/>
              <a:miter/>
            </a:ln>
          </p:spPr>
          <p:txBody>
            <a:bodyPr rtlCol="0" anchor="ctr"/>
            <a:lstStyle/>
            <a:p>
              <a:endParaRPr lang="en-US" dirty="0"/>
            </a:p>
          </p:txBody>
        </p:sp>
        <p:sp>
          <p:nvSpPr>
            <p:cNvPr id="21" name="Freeform: Shape 19">
              <a:extLst>
                <a:ext uri="{FF2B5EF4-FFF2-40B4-BE49-F238E27FC236}">
                  <a16:creationId xmlns:a16="http://schemas.microsoft.com/office/drawing/2014/main" id="{BF371865-3772-5BFC-B112-D6B0D6D26D3D}"/>
                </a:ext>
              </a:extLst>
            </p:cNvPr>
            <p:cNvSpPr/>
            <p:nvPr userDrawn="1"/>
          </p:nvSpPr>
          <p:spPr>
            <a:xfrm>
              <a:off x="492871" y="2283580"/>
              <a:ext cx="1285874" cy="4574420"/>
            </a:xfrm>
            <a:custGeom>
              <a:avLst/>
              <a:gdLst>
                <a:gd name="connsiteX0" fmla="*/ 0 w 911256"/>
                <a:gd name="connsiteY0" fmla="*/ 754190 h 3241738"/>
                <a:gd name="connsiteX1" fmla="*/ 0 w 911256"/>
                <a:gd name="connsiteY1" fmla="*/ 3241739 h 3241738"/>
                <a:gd name="connsiteX2" fmla="*/ 911257 w 911256"/>
                <a:gd name="connsiteY2" fmla="*/ 3241739 h 3241738"/>
                <a:gd name="connsiteX3" fmla="*/ 607505 w 911256"/>
                <a:gd name="connsiteY3" fmla="*/ 1622965 h 3241738"/>
                <a:gd name="connsiteX4" fmla="*/ 0 w 911256"/>
                <a:gd name="connsiteY4" fmla="*/ 0 h 3241738"/>
                <a:gd name="connsiteX5" fmla="*/ 0 w 911256"/>
                <a:gd name="connsiteY5" fmla="*/ 754190 h 324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1256" h="3241738">
                  <a:moveTo>
                    <a:pt x="0" y="754190"/>
                  </a:moveTo>
                  <a:lnTo>
                    <a:pt x="0" y="3241739"/>
                  </a:lnTo>
                  <a:cubicBezTo>
                    <a:pt x="0" y="3241739"/>
                    <a:pt x="911257" y="3241739"/>
                    <a:pt x="911257" y="3241739"/>
                  </a:cubicBezTo>
                  <a:cubicBezTo>
                    <a:pt x="882301" y="2665476"/>
                    <a:pt x="756761" y="2123313"/>
                    <a:pt x="607505" y="1622965"/>
                  </a:cubicBezTo>
                  <a:cubicBezTo>
                    <a:pt x="446151" y="1082135"/>
                    <a:pt x="104299" y="307562"/>
                    <a:pt x="0" y="0"/>
                  </a:cubicBezTo>
                  <a:lnTo>
                    <a:pt x="0" y="754190"/>
                  </a:lnTo>
                  <a:close/>
                </a:path>
              </a:pathLst>
            </a:custGeom>
            <a:solidFill>
              <a:srgbClr val="667DA2"/>
            </a:solidFill>
            <a:ln w="0" cap="flat">
              <a:noFill/>
              <a:prstDash val="solid"/>
              <a:miter/>
            </a:ln>
          </p:spPr>
          <p:txBody>
            <a:bodyPr rtlCol="0" anchor="ctr"/>
            <a:lstStyle/>
            <a:p>
              <a:endParaRPr lang="en-US" dirty="0"/>
            </a:p>
          </p:txBody>
        </p:sp>
      </p:grpSp>
      <p:grpSp>
        <p:nvGrpSpPr>
          <p:cNvPr id="25" name="LOGO RED">
            <a:extLst>
              <a:ext uri="{FF2B5EF4-FFF2-40B4-BE49-F238E27FC236}">
                <a16:creationId xmlns:a16="http://schemas.microsoft.com/office/drawing/2014/main" id="{47C4783F-6471-A120-2B1F-D8BF38BD467E}"/>
              </a:ext>
            </a:extLst>
          </p:cNvPr>
          <p:cNvGrpSpPr/>
          <p:nvPr userDrawn="1">
            <p:custDataLst>
              <p:tags r:id="rId2"/>
            </p:custDataLst>
          </p:nvPr>
        </p:nvGrpSpPr>
        <p:grpSpPr>
          <a:xfrm>
            <a:off x="454798" y="6444000"/>
            <a:ext cx="1407869" cy="245006"/>
            <a:chOff x="3245241" y="3110528"/>
            <a:chExt cx="5696307" cy="991307"/>
          </a:xfrm>
          <a:solidFill>
            <a:srgbClr val="ED1C24"/>
          </a:solidFill>
        </p:grpSpPr>
        <p:sp>
          <p:nvSpPr>
            <p:cNvPr id="26" name="Freeform: Shape 11">
              <a:extLst>
                <a:ext uri="{FF2B5EF4-FFF2-40B4-BE49-F238E27FC236}">
                  <a16:creationId xmlns:a16="http://schemas.microsoft.com/office/drawing/2014/main" id="{B373D8FD-3947-C2D0-6A72-76B99B63E4D3}"/>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27" name="Freeform: Shape 12">
              <a:extLst>
                <a:ext uri="{FF2B5EF4-FFF2-40B4-BE49-F238E27FC236}">
                  <a16:creationId xmlns:a16="http://schemas.microsoft.com/office/drawing/2014/main" id="{E99D7D60-1CE5-72D8-B696-CE8922302A43}"/>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28" name="Freeform: Shape 13">
              <a:extLst>
                <a:ext uri="{FF2B5EF4-FFF2-40B4-BE49-F238E27FC236}">
                  <a16:creationId xmlns:a16="http://schemas.microsoft.com/office/drawing/2014/main" id="{B7222C11-FA44-9163-A22F-A07508755CCC}"/>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29" name="Freeform: Shape 14">
              <a:extLst>
                <a:ext uri="{FF2B5EF4-FFF2-40B4-BE49-F238E27FC236}">
                  <a16:creationId xmlns:a16="http://schemas.microsoft.com/office/drawing/2014/main" id="{D93E4D58-FFDB-09C5-4E30-4654A74F8930}"/>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30" name="Freeform: Shape 15">
              <a:extLst>
                <a:ext uri="{FF2B5EF4-FFF2-40B4-BE49-F238E27FC236}">
                  <a16:creationId xmlns:a16="http://schemas.microsoft.com/office/drawing/2014/main" id="{9EBFD03A-BEBC-2E40-C1A1-DA75A282C9B8}"/>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3" name="Title 3">
            <a:extLst>
              <a:ext uri="{FF2B5EF4-FFF2-40B4-BE49-F238E27FC236}">
                <a16:creationId xmlns:a16="http://schemas.microsoft.com/office/drawing/2014/main" id="{B36BA760-8215-7C18-C4BB-7B2054831366}"/>
              </a:ext>
            </a:extLst>
          </p:cNvPr>
          <p:cNvSpPr>
            <a:spLocks noGrp="1"/>
          </p:cNvSpPr>
          <p:nvPr>
            <p:ph type="title" hasCustomPrompt="1"/>
            <p:custDataLst>
              <p:tags r:id="rId3"/>
            </p:custDataLst>
          </p:nvPr>
        </p:nvSpPr>
        <p:spPr>
          <a:xfrm>
            <a:off x="695400" y="376801"/>
            <a:ext cx="9341554" cy="518746"/>
          </a:xfrm>
        </p:spPr>
        <p:txBody>
          <a:bodyPr tIns="93600" anchor="t" anchorCtr="0"/>
          <a:lstStyle/>
          <a:p>
            <a:r>
              <a:rPr lang="ja-JP" altLang="en-US" dirty="0"/>
              <a:t>タイトル</a:t>
            </a:r>
          </a:p>
        </p:txBody>
      </p:sp>
      <p:sp>
        <p:nvSpPr>
          <p:cNvPr id="4" name="正方形/長方形 3">
            <a:extLst>
              <a:ext uri="{FF2B5EF4-FFF2-40B4-BE49-F238E27FC236}">
                <a16:creationId xmlns:a16="http://schemas.microsoft.com/office/drawing/2014/main" id="{60490C9E-D8E0-ED65-B609-3E25D80451BB}"/>
              </a:ext>
            </a:extLst>
          </p:cNvPr>
          <p:cNvSpPr/>
          <p:nvPr userDrawn="1"/>
        </p:nvSpPr>
        <p:spPr>
          <a:xfrm>
            <a:off x="452397" y="361586"/>
            <a:ext cx="119133" cy="549176"/>
          </a:xfrm>
          <a:prstGeom prst="rect">
            <a:avLst/>
          </a:pr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kumimoji="1" lang="ja-JP" altLang="en-US" sz="2000" dirty="0" err="1">
              <a:solidFill>
                <a:schemeClr val="tx1"/>
              </a:solidFill>
            </a:endParaRPr>
          </a:p>
        </p:txBody>
      </p:sp>
      <p:sp>
        <p:nvSpPr>
          <p:cNvPr id="5" name="Text Placeholder 8">
            <a:extLst>
              <a:ext uri="{FF2B5EF4-FFF2-40B4-BE49-F238E27FC236}">
                <a16:creationId xmlns:a16="http://schemas.microsoft.com/office/drawing/2014/main" id="{EA698E78-8A6B-5ADF-8568-3DF6D68EB053}"/>
              </a:ext>
            </a:extLst>
          </p:cNvPr>
          <p:cNvSpPr>
            <a:spLocks noGrp="1"/>
          </p:cNvSpPr>
          <p:nvPr>
            <p:ph type="body" sz="quarter" idx="13" hasCustomPrompt="1"/>
            <p:custDataLst>
              <p:tags r:id="rId4"/>
            </p:custDataLst>
          </p:nvPr>
        </p:nvSpPr>
        <p:spPr>
          <a:xfrm>
            <a:off x="457200" y="1196975"/>
            <a:ext cx="9579754" cy="5111750"/>
          </a:xfrm>
        </p:spPr>
        <p:txBody>
          <a:bodyPr lIns="0"/>
          <a:lstStyle/>
          <a:p>
            <a:pPr lvl="0"/>
            <a:r>
              <a:rPr lang="ja-JP" altLang="en-US" dirty="0"/>
              <a:t>テキスト</a:t>
            </a:r>
          </a:p>
        </p:txBody>
      </p:sp>
    </p:spTree>
    <p:extLst>
      <p:ext uri="{BB962C8B-B14F-4D97-AF65-F5344CB8AC3E}">
        <p14:creationId xmlns:p14="http://schemas.microsoft.com/office/powerpoint/2010/main" val="37107645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12 Content - Title, Text, Red line">
    <p:spTree>
      <p:nvGrpSpPr>
        <p:cNvPr id="1" name=""/>
        <p:cNvGrpSpPr/>
        <p:nvPr/>
      </p:nvGrpSpPr>
      <p:grpSpPr>
        <a:xfrm>
          <a:off x="0" y="0"/>
          <a:ext cx="0" cy="0"/>
          <a:chOff x="0" y="0"/>
          <a:chExt cx="0" cy="0"/>
        </a:xfrm>
      </p:grpSpPr>
      <p:grpSp>
        <p:nvGrpSpPr>
          <p:cNvPr id="3" name="Swirl Locled">
            <a:extLst>
              <a:ext uri="{FF2B5EF4-FFF2-40B4-BE49-F238E27FC236}">
                <a16:creationId xmlns:a16="http://schemas.microsoft.com/office/drawing/2014/main" id="{7041ADA1-E2DA-EB91-B1CB-BCDB6A9C489B}"/>
              </a:ext>
            </a:extLst>
          </p:cNvPr>
          <p:cNvGrpSpPr/>
          <p:nvPr userDrawn="1">
            <p:custDataLst>
              <p:tags r:id="rId1"/>
            </p:custDataLst>
          </p:nvPr>
        </p:nvGrpSpPr>
        <p:grpSpPr>
          <a:xfrm>
            <a:off x="0" y="6308725"/>
            <a:ext cx="12192605" cy="576659"/>
            <a:chOff x="0" y="6308684"/>
            <a:chExt cx="12192605" cy="549316"/>
          </a:xfrm>
          <a:solidFill>
            <a:srgbClr val="B5091F"/>
          </a:solidFill>
        </p:grpSpPr>
        <p:sp>
          <p:nvSpPr>
            <p:cNvPr id="6" name="Freeform: Shape 5">
              <a:extLst>
                <a:ext uri="{FF2B5EF4-FFF2-40B4-BE49-F238E27FC236}">
                  <a16:creationId xmlns:a16="http://schemas.microsoft.com/office/drawing/2014/main" id="{552F2145-BEE8-DC47-42CB-C2C5B3D152B8}"/>
                </a:ext>
              </a:extLst>
            </p:cNvPr>
            <p:cNvSpPr/>
            <p:nvPr userDrawn="1">
              <p:custDataLst>
                <p:tags r:id="rId6"/>
              </p:custDataLst>
            </p:nvPr>
          </p:nvSpPr>
          <p:spPr>
            <a:xfrm>
              <a:off x="605" y="6308684"/>
              <a:ext cx="12192000" cy="549316"/>
            </a:xfrm>
            <a:custGeom>
              <a:avLst/>
              <a:gdLst>
                <a:gd name="connsiteX0" fmla="*/ 0 w 12193209"/>
                <a:gd name="connsiteY0" fmla="*/ 0 h 876425"/>
                <a:gd name="connsiteX1" fmla="*/ 12193210 w 12193209"/>
                <a:gd name="connsiteY1" fmla="*/ 0 h 876425"/>
                <a:gd name="connsiteX2" fmla="*/ 12193210 w 12193209"/>
                <a:gd name="connsiteY2" fmla="*/ 876426 h 876425"/>
                <a:gd name="connsiteX3" fmla="*/ 0 w 12193209"/>
                <a:gd name="connsiteY3" fmla="*/ 876426 h 876425"/>
              </a:gdLst>
              <a:ahLst/>
              <a:cxnLst>
                <a:cxn ang="0">
                  <a:pos x="connsiteX0" y="connsiteY0"/>
                </a:cxn>
                <a:cxn ang="0">
                  <a:pos x="connsiteX1" y="connsiteY1"/>
                </a:cxn>
                <a:cxn ang="0">
                  <a:pos x="connsiteX2" y="connsiteY2"/>
                </a:cxn>
                <a:cxn ang="0">
                  <a:pos x="connsiteX3" y="connsiteY3"/>
                </a:cxn>
              </a:cxnLst>
              <a:rect l="l" t="t" r="r" b="b"/>
              <a:pathLst>
                <a:path w="12193209" h="876425">
                  <a:moveTo>
                    <a:pt x="0" y="0"/>
                  </a:moveTo>
                  <a:lnTo>
                    <a:pt x="12193210" y="0"/>
                  </a:lnTo>
                  <a:lnTo>
                    <a:pt x="12193210" y="876426"/>
                  </a:lnTo>
                  <a:lnTo>
                    <a:pt x="0" y="876426"/>
                  </a:lnTo>
                  <a:close/>
                </a:path>
              </a:pathLst>
            </a:custGeom>
            <a:grpFill/>
            <a:ln w="0" cap="flat">
              <a:noFill/>
              <a:prstDash val="solid"/>
              <a:miter/>
            </a:ln>
          </p:spPr>
          <p:txBody>
            <a:bodyPr rtlCol="0" anchor="ctr"/>
            <a:lstStyle/>
            <a:p>
              <a:endParaRPr lang="en-US" dirty="0"/>
            </a:p>
          </p:txBody>
        </p:sp>
        <p:sp>
          <p:nvSpPr>
            <p:cNvPr id="7" name="Freeform: Shape 8">
              <a:extLst>
                <a:ext uri="{FF2B5EF4-FFF2-40B4-BE49-F238E27FC236}">
                  <a16:creationId xmlns:a16="http://schemas.microsoft.com/office/drawing/2014/main" id="{12762F33-AE97-3CE8-D409-61A8A98C5EE2}"/>
                </a:ext>
              </a:extLst>
            </p:cNvPr>
            <p:cNvSpPr/>
            <p:nvPr userDrawn="1">
              <p:custDataLst>
                <p:tags r:id="rId7"/>
              </p:custDataLst>
            </p:nvPr>
          </p:nvSpPr>
          <p:spPr>
            <a:xfrm>
              <a:off x="0" y="6308684"/>
              <a:ext cx="2317315" cy="434924"/>
            </a:xfrm>
            <a:custGeom>
              <a:avLst/>
              <a:gdLst>
                <a:gd name="connsiteX0" fmla="*/ 4060191 w 4060191"/>
                <a:gd name="connsiteY0" fmla="*/ 0 h 762033"/>
                <a:gd name="connsiteX1" fmla="*/ 0 w 4060191"/>
                <a:gd name="connsiteY1" fmla="*/ 762034 h 762033"/>
                <a:gd name="connsiteX2" fmla="*/ 0 w 4060191"/>
                <a:gd name="connsiteY2" fmla="*/ 0 h 762033"/>
                <a:gd name="connsiteX3" fmla="*/ 4060191 w 4060191"/>
                <a:gd name="connsiteY3" fmla="*/ 0 h 762033"/>
              </a:gdLst>
              <a:ahLst/>
              <a:cxnLst>
                <a:cxn ang="0">
                  <a:pos x="connsiteX0" y="connsiteY0"/>
                </a:cxn>
                <a:cxn ang="0">
                  <a:pos x="connsiteX1" y="connsiteY1"/>
                </a:cxn>
                <a:cxn ang="0">
                  <a:pos x="connsiteX2" y="connsiteY2"/>
                </a:cxn>
                <a:cxn ang="0">
                  <a:pos x="connsiteX3" y="connsiteY3"/>
                </a:cxn>
              </a:cxnLst>
              <a:rect l="l" t="t" r="r" b="b"/>
              <a:pathLst>
                <a:path w="4060191" h="762033">
                  <a:moveTo>
                    <a:pt x="4060191" y="0"/>
                  </a:moveTo>
                  <a:cubicBezTo>
                    <a:pt x="2770286" y="437272"/>
                    <a:pt x="1364106" y="709475"/>
                    <a:pt x="0" y="762034"/>
                  </a:cubicBezTo>
                  <a:lnTo>
                    <a:pt x="0" y="0"/>
                  </a:lnTo>
                  <a:lnTo>
                    <a:pt x="4060191" y="0"/>
                  </a:lnTo>
                  <a:close/>
                </a:path>
              </a:pathLst>
            </a:custGeom>
            <a:grpFill/>
            <a:ln w="0" cap="flat">
              <a:noFill/>
              <a:prstDash val="solid"/>
              <a:miter/>
            </a:ln>
          </p:spPr>
          <p:txBody>
            <a:bodyPr rtlCol="0" anchor="ctr"/>
            <a:lstStyle/>
            <a:p>
              <a:endParaRPr lang="en-US" dirty="0"/>
            </a:p>
          </p:txBody>
        </p:sp>
      </p:grpSp>
      <p:grpSp>
        <p:nvGrpSpPr>
          <p:cNvPr id="10" name="LOGO RED">
            <a:extLst>
              <a:ext uri="{FF2B5EF4-FFF2-40B4-BE49-F238E27FC236}">
                <a16:creationId xmlns:a16="http://schemas.microsoft.com/office/drawing/2014/main" id="{892D3793-E0F5-CF71-7D19-38D290FFD1FF}"/>
              </a:ext>
            </a:extLst>
          </p:cNvPr>
          <p:cNvGrpSpPr/>
          <p:nvPr userDrawn="1">
            <p:custDataLst>
              <p:tags r:id="rId2"/>
            </p:custDataLst>
          </p:nvPr>
        </p:nvGrpSpPr>
        <p:grpSpPr>
          <a:xfrm>
            <a:off x="10344711" y="4267371"/>
            <a:ext cx="1407869" cy="245006"/>
            <a:chOff x="3245241" y="3110528"/>
            <a:chExt cx="5696307" cy="991307"/>
          </a:xfrm>
          <a:solidFill>
            <a:srgbClr val="FFFFFF"/>
          </a:solidFill>
        </p:grpSpPr>
        <p:sp>
          <p:nvSpPr>
            <p:cNvPr id="11" name="Freeform: Shape 10">
              <a:extLst>
                <a:ext uri="{FF2B5EF4-FFF2-40B4-BE49-F238E27FC236}">
                  <a16:creationId xmlns:a16="http://schemas.microsoft.com/office/drawing/2014/main" id="{18257C6D-BED5-26F9-7C5F-4608532BBBD6}"/>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C3A285E-6638-96E5-92AD-2F6F61F80CD5}"/>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4474CB8F-39A3-8E56-FE69-7F5D0390F0C7}"/>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8CD6EAB8-CBFC-C3D0-AF4B-280BC1968630}"/>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94697AC1-1B46-01CE-9540-AE69A16DDA5C}"/>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a:p>
          </p:txBody>
        </p:sp>
      </p:grpSp>
      <p:grpSp>
        <p:nvGrpSpPr>
          <p:cNvPr id="8" name="LOGO RED">
            <a:extLst>
              <a:ext uri="{FF2B5EF4-FFF2-40B4-BE49-F238E27FC236}">
                <a16:creationId xmlns:a16="http://schemas.microsoft.com/office/drawing/2014/main" id="{4CEF6F39-B053-C199-0BBA-3D706843C140}"/>
              </a:ext>
            </a:extLst>
          </p:cNvPr>
          <p:cNvGrpSpPr/>
          <p:nvPr userDrawn="1">
            <p:custDataLst>
              <p:tags r:id="rId3"/>
            </p:custDataLst>
          </p:nvPr>
        </p:nvGrpSpPr>
        <p:grpSpPr>
          <a:xfrm>
            <a:off x="10326931" y="513671"/>
            <a:ext cx="1407869" cy="245006"/>
            <a:chOff x="3245241" y="3110528"/>
            <a:chExt cx="5696307" cy="991307"/>
          </a:xfrm>
          <a:solidFill>
            <a:srgbClr val="ED1C24"/>
          </a:solidFill>
        </p:grpSpPr>
        <p:sp>
          <p:nvSpPr>
            <p:cNvPr id="16" name="Freeform: Shape 2">
              <a:extLst>
                <a:ext uri="{FF2B5EF4-FFF2-40B4-BE49-F238E27FC236}">
                  <a16:creationId xmlns:a16="http://schemas.microsoft.com/office/drawing/2014/main" id="{9CF1AF8E-ADCA-BE00-73E9-3D1805801F29}"/>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17" name="Freeform: Shape 9">
              <a:extLst>
                <a:ext uri="{FF2B5EF4-FFF2-40B4-BE49-F238E27FC236}">
                  <a16:creationId xmlns:a16="http://schemas.microsoft.com/office/drawing/2014/main" id="{733A9E80-F5AE-1F7F-32C0-77D5D10B4AC8}"/>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18" name="Freeform: Shape 10">
              <a:extLst>
                <a:ext uri="{FF2B5EF4-FFF2-40B4-BE49-F238E27FC236}">
                  <a16:creationId xmlns:a16="http://schemas.microsoft.com/office/drawing/2014/main" id="{717040FA-D1CD-471E-2B11-94E190164493}"/>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20" name="Freeform: Shape 11">
              <a:extLst>
                <a:ext uri="{FF2B5EF4-FFF2-40B4-BE49-F238E27FC236}">
                  <a16:creationId xmlns:a16="http://schemas.microsoft.com/office/drawing/2014/main" id="{2A8B17BD-3928-03F8-2DCF-9E2A2D548AEC}"/>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21" name="Freeform: Shape 12">
              <a:extLst>
                <a:ext uri="{FF2B5EF4-FFF2-40B4-BE49-F238E27FC236}">
                  <a16:creationId xmlns:a16="http://schemas.microsoft.com/office/drawing/2014/main" id="{60AAAD6C-6AE9-EDFA-C999-51289D76423F}"/>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22" name="Title 3">
            <a:extLst>
              <a:ext uri="{FF2B5EF4-FFF2-40B4-BE49-F238E27FC236}">
                <a16:creationId xmlns:a16="http://schemas.microsoft.com/office/drawing/2014/main" id="{691554F2-45CA-0293-704D-2FD437776C8A}"/>
              </a:ext>
            </a:extLst>
          </p:cNvPr>
          <p:cNvSpPr>
            <a:spLocks noGrp="1"/>
          </p:cNvSpPr>
          <p:nvPr>
            <p:ph type="title" hasCustomPrompt="1"/>
            <p:custDataLst>
              <p:tags r:id="rId4"/>
            </p:custDataLst>
          </p:nvPr>
        </p:nvSpPr>
        <p:spPr>
          <a:xfrm>
            <a:off x="695400" y="376801"/>
            <a:ext cx="9180412" cy="518746"/>
          </a:xfrm>
        </p:spPr>
        <p:txBody>
          <a:bodyPr tIns="93600" anchor="t" anchorCtr="0"/>
          <a:lstStyle/>
          <a:p>
            <a:r>
              <a:rPr lang="ja-JP" altLang="en-US" dirty="0"/>
              <a:t>タイトル</a:t>
            </a:r>
          </a:p>
        </p:txBody>
      </p:sp>
      <p:sp>
        <p:nvSpPr>
          <p:cNvPr id="23" name="正方形/長方形 22">
            <a:extLst>
              <a:ext uri="{FF2B5EF4-FFF2-40B4-BE49-F238E27FC236}">
                <a16:creationId xmlns:a16="http://schemas.microsoft.com/office/drawing/2014/main" id="{64A9553C-F58F-E1C5-03F3-80D5183BAC5E}"/>
              </a:ext>
            </a:extLst>
          </p:cNvPr>
          <p:cNvSpPr/>
          <p:nvPr userDrawn="1"/>
        </p:nvSpPr>
        <p:spPr>
          <a:xfrm>
            <a:off x="452401" y="361586"/>
            <a:ext cx="119133" cy="549176"/>
          </a:xfrm>
          <a:prstGeom prst="rect">
            <a:avLst/>
          </a:prstGeom>
          <a:solidFill>
            <a:srgbClr val="B5091F"/>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kumimoji="1" lang="ja-JP" altLang="en-US" sz="2000" dirty="0" err="1">
              <a:solidFill>
                <a:schemeClr val="tx1"/>
              </a:solidFill>
            </a:endParaRPr>
          </a:p>
        </p:txBody>
      </p:sp>
      <p:sp>
        <p:nvSpPr>
          <p:cNvPr id="24" name="Text Placeholder 15">
            <a:extLst>
              <a:ext uri="{FF2B5EF4-FFF2-40B4-BE49-F238E27FC236}">
                <a16:creationId xmlns:a16="http://schemas.microsoft.com/office/drawing/2014/main" id="{762C2398-E1FA-1EED-A095-106BA766B9B1}"/>
              </a:ext>
            </a:extLst>
          </p:cNvPr>
          <p:cNvSpPr>
            <a:spLocks noGrp="1"/>
          </p:cNvSpPr>
          <p:nvPr>
            <p:ph type="body" sz="quarter" idx="18" hasCustomPrompt="1"/>
            <p:custDataLst>
              <p:tags r:id="rId5"/>
            </p:custDataLst>
          </p:nvPr>
        </p:nvSpPr>
        <p:spPr>
          <a:xfrm>
            <a:off x="457200" y="1196975"/>
            <a:ext cx="11280001" cy="4940891"/>
          </a:xfrm>
        </p:spPr>
        <p:txBody>
          <a:bodyPr lIns="0"/>
          <a:lstStyle/>
          <a:p>
            <a:pPr lvl="0"/>
            <a:r>
              <a:rPr lang="ja-JP" altLang="en-US" dirty="0"/>
              <a:t>テキスト</a:t>
            </a:r>
          </a:p>
        </p:txBody>
      </p:sp>
    </p:spTree>
    <p:extLst>
      <p:ext uri="{BB962C8B-B14F-4D97-AF65-F5344CB8AC3E}">
        <p14:creationId xmlns:p14="http://schemas.microsoft.com/office/powerpoint/2010/main" val="2792139150"/>
      </p:ext>
    </p:extLst>
  </p:cSld>
  <p:clrMapOvr>
    <a:masterClrMapping/>
  </p:clrMapOvr>
  <p:extLst>
    <p:ext uri="{DCECCB84-F9BA-43D5-87BE-67443E8EF086}">
      <p15:sldGuideLst xmlns:p15="http://schemas.microsoft.com/office/powerpoint/2012/main">
        <p15:guide id="1" orient="horz" pos="397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13 Content - Title, Text, Red line">
    <p:spTree>
      <p:nvGrpSpPr>
        <p:cNvPr id="1" name=""/>
        <p:cNvGrpSpPr/>
        <p:nvPr/>
      </p:nvGrpSpPr>
      <p:grpSpPr>
        <a:xfrm>
          <a:off x="0" y="0"/>
          <a:ext cx="0" cy="0"/>
          <a:chOff x="0" y="0"/>
          <a:chExt cx="0" cy="0"/>
        </a:xfrm>
      </p:grpSpPr>
      <p:grpSp>
        <p:nvGrpSpPr>
          <p:cNvPr id="2" name="Swirl Locked">
            <a:extLst>
              <a:ext uri="{FF2B5EF4-FFF2-40B4-BE49-F238E27FC236}">
                <a16:creationId xmlns:a16="http://schemas.microsoft.com/office/drawing/2014/main" id="{59BE98FB-BA27-5A5A-5861-2FE7BFF791C1}"/>
              </a:ext>
            </a:extLst>
          </p:cNvPr>
          <p:cNvGrpSpPr/>
          <p:nvPr userDrawn="1">
            <p:custDataLst>
              <p:tags r:id="rId1"/>
            </p:custDataLst>
          </p:nvPr>
        </p:nvGrpSpPr>
        <p:grpSpPr>
          <a:xfrm>
            <a:off x="0" y="6308725"/>
            <a:ext cx="12192605" cy="576659"/>
            <a:chOff x="0" y="6308684"/>
            <a:chExt cx="12192605" cy="549316"/>
          </a:xfrm>
          <a:solidFill>
            <a:srgbClr val="002664"/>
          </a:solidFill>
        </p:grpSpPr>
        <p:sp>
          <p:nvSpPr>
            <p:cNvPr id="4" name="Freeform: Shape 10">
              <a:extLst>
                <a:ext uri="{FF2B5EF4-FFF2-40B4-BE49-F238E27FC236}">
                  <a16:creationId xmlns:a16="http://schemas.microsoft.com/office/drawing/2014/main" id="{EA7645E0-1173-5175-BD54-BD17A4B24B8E}"/>
                </a:ext>
              </a:extLst>
            </p:cNvPr>
            <p:cNvSpPr/>
            <p:nvPr userDrawn="1">
              <p:custDataLst>
                <p:tags r:id="rId5"/>
              </p:custDataLst>
            </p:nvPr>
          </p:nvSpPr>
          <p:spPr>
            <a:xfrm>
              <a:off x="605" y="6308684"/>
              <a:ext cx="12192000" cy="549316"/>
            </a:xfrm>
            <a:custGeom>
              <a:avLst/>
              <a:gdLst>
                <a:gd name="connsiteX0" fmla="*/ 0 w 12193209"/>
                <a:gd name="connsiteY0" fmla="*/ 0 h 876425"/>
                <a:gd name="connsiteX1" fmla="*/ 12193210 w 12193209"/>
                <a:gd name="connsiteY1" fmla="*/ 0 h 876425"/>
                <a:gd name="connsiteX2" fmla="*/ 12193210 w 12193209"/>
                <a:gd name="connsiteY2" fmla="*/ 876426 h 876425"/>
                <a:gd name="connsiteX3" fmla="*/ 0 w 12193209"/>
                <a:gd name="connsiteY3" fmla="*/ 876426 h 876425"/>
              </a:gdLst>
              <a:ahLst/>
              <a:cxnLst>
                <a:cxn ang="0">
                  <a:pos x="connsiteX0" y="connsiteY0"/>
                </a:cxn>
                <a:cxn ang="0">
                  <a:pos x="connsiteX1" y="connsiteY1"/>
                </a:cxn>
                <a:cxn ang="0">
                  <a:pos x="connsiteX2" y="connsiteY2"/>
                </a:cxn>
                <a:cxn ang="0">
                  <a:pos x="connsiteX3" y="connsiteY3"/>
                </a:cxn>
              </a:cxnLst>
              <a:rect l="l" t="t" r="r" b="b"/>
              <a:pathLst>
                <a:path w="12193209" h="876425">
                  <a:moveTo>
                    <a:pt x="0" y="0"/>
                  </a:moveTo>
                  <a:lnTo>
                    <a:pt x="12193210" y="0"/>
                  </a:lnTo>
                  <a:lnTo>
                    <a:pt x="12193210" y="876426"/>
                  </a:lnTo>
                  <a:lnTo>
                    <a:pt x="0" y="876426"/>
                  </a:lnTo>
                  <a:close/>
                </a:path>
              </a:pathLst>
            </a:custGeom>
            <a:grpFill/>
            <a:ln w="0" cap="flat">
              <a:noFill/>
              <a:prstDash val="solid"/>
              <a:miter/>
            </a:ln>
          </p:spPr>
          <p:txBody>
            <a:bodyPr rtlCol="0" anchor="ctr"/>
            <a:lstStyle/>
            <a:p>
              <a:endParaRPr lang="en-US" dirty="0"/>
            </a:p>
          </p:txBody>
        </p:sp>
        <p:sp>
          <p:nvSpPr>
            <p:cNvPr id="5" name="Freeform: Shape 11">
              <a:extLst>
                <a:ext uri="{FF2B5EF4-FFF2-40B4-BE49-F238E27FC236}">
                  <a16:creationId xmlns:a16="http://schemas.microsoft.com/office/drawing/2014/main" id="{32CB8E9C-790C-017F-C721-1685D601B63B}"/>
                </a:ext>
              </a:extLst>
            </p:cNvPr>
            <p:cNvSpPr/>
            <p:nvPr userDrawn="1">
              <p:custDataLst>
                <p:tags r:id="rId6"/>
              </p:custDataLst>
            </p:nvPr>
          </p:nvSpPr>
          <p:spPr>
            <a:xfrm>
              <a:off x="0" y="6308684"/>
              <a:ext cx="2317315" cy="434924"/>
            </a:xfrm>
            <a:custGeom>
              <a:avLst/>
              <a:gdLst>
                <a:gd name="connsiteX0" fmla="*/ 4060191 w 4060191"/>
                <a:gd name="connsiteY0" fmla="*/ 0 h 762033"/>
                <a:gd name="connsiteX1" fmla="*/ 0 w 4060191"/>
                <a:gd name="connsiteY1" fmla="*/ 762034 h 762033"/>
                <a:gd name="connsiteX2" fmla="*/ 0 w 4060191"/>
                <a:gd name="connsiteY2" fmla="*/ 0 h 762033"/>
                <a:gd name="connsiteX3" fmla="*/ 4060191 w 4060191"/>
                <a:gd name="connsiteY3" fmla="*/ 0 h 762033"/>
              </a:gdLst>
              <a:ahLst/>
              <a:cxnLst>
                <a:cxn ang="0">
                  <a:pos x="connsiteX0" y="connsiteY0"/>
                </a:cxn>
                <a:cxn ang="0">
                  <a:pos x="connsiteX1" y="connsiteY1"/>
                </a:cxn>
                <a:cxn ang="0">
                  <a:pos x="connsiteX2" y="connsiteY2"/>
                </a:cxn>
                <a:cxn ang="0">
                  <a:pos x="connsiteX3" y="connsiteY3"/>
                </a:cxn>
              </a:cxnLst>
              <a:rect l="l" t="t" r="r" b="b"/>
              <a:pathLst>
                <a:path w="4060191" h="762033">
                  <a:moveTo>
                    <a:pt x="4060191" y="0"/>
                  </a:moveTo>
                  <a:cubicBezTo>
                    <a:pt x="2770286" y="437272"/>
                    <a:pt x="1364106" y="709475"/>
                    <a:pt x="0" y="762034"/>
                  </a:cubicBezTo>
                  <a:lnTo>
                    <a:pt x="0" y="0"/>
                  </a:lnTo>
                  <a:lnTo>
                    <a:pt x="4060191" y="0"/>
                  </a:lnTo>
                  <a:close/>
                </a:path>
              </a:pathLst>
            </a:custGeom>
            <a:grpFill/>
            <a:ln w="0" cap="flat">
              <a:noFill/>
              <a:prstDash val="solid"/>
              <a:miter/>
            </a:ln>
          </p:spPr>
          <p:txBody>
            <a:bodyPr rtlCol="0" anchor="ctr"/>
            <a:lstStyle/>
            <a:p>
              <a:endParaRPr lang="en-US" dirty="0"/>
            </a:p>
          </p:txBody>
        </p:sp>
      </p:grpSp>
      <p:sp>
        <p:nvSpPr>
          <p:cNvPr id="17" name="Text Placeholder 15">
            <a:extLst>
              <a:ext uri="{FF2B5EF4-FFF2-40B4-BE49-F238E27FC236}">
                <a16:creationId xmlns:a16="http://schemas.microsoft.com/office/drawing/2014/main" id="{A2C23386-E17B-5BDE-FF1E-6974B1394342}"/>
              </a:ext>
            </a:extLst>
          </p:cNvPr>
          <p:cNvSpPr>
            <a:spLocks noGrp="1"/>
          </p:cNvSpPr>
          <p:nvPr>
            <p:ph type="body" sz="quarter" idx="18" hasCustomPrompt="1"/>
            <p:custDataLst>
              <p:tags r:id="rId2"/>
            </p:custDataLst>
          </p:nvPr>
        </p:nvSpPr>
        <p:spPr>
          <a:xfrm>
            <a:off x="457200" y="1196975"/>
            <a:ext cx="11280001" cy="4940891"/>
          </a:xfrm>
        </p:spPr>
        <p:txBody>
          <a:bodyPr lIns="0"/>
          <a:lstStyle/>
          <a:p>
            <a:pPr lvl="0"/>
            <a:r>
              <a:rPr lang="ja-JP" altLang="en-US" dirty="0"/>
              <a:t>テキスト</a:t>
            </a:r>
          </a:p>
        </p:txBody>
      </p:sp>
      <p:grpSp>
        <p:nvGrpSpPr>
          <p:cNvPr id="3" name="LOGO RED">
            <a:extLst>
              <a:ext uri="{FF2B5EF4-FFF2-40B4-BE49-F238E27FC236}">
                <a16:creationId xmlns:a16="http://schemas.microsoft.com/office/drawing/2014/main" id="{EB90C65B-7A37-94D3-7CFC-CD436EDC214B}"/>
              </a:ext>
            </a:extLst>
          </p:cNvPr>
          <p:cNvGrpSpPr/>
          <p:nvPr userDrawn="1">
            <p:custDataLst>
              <p:tags r:id="rId3"/>
            </p:custDataLst>
          </p:nvPr>
        </p:nvGrpSpPr>
        <p:grpSpPr>
          <a:xfrm>
            <a:off x="10326931" y="513671"/>
            <a:ext cx="1407869" cy="245006"/>
            <a:chOff x="3245241" y="3110528"/>
            <a:chExt cx="5696307" cy="991307"/>
          </a:xfrm>
          <a:solidFill>
            <a:srgbClr val="ED1C24"/>
          </a:solidFill>
        </p:grpSpPr>
        <p:sp>
          <p:nvSpPr>
            <p:cNvPr id="6" name="Freeform: Shape 2">
              <a:extLst>
                <a:ext uri="{FF2B5EF4-FFF2-40B4-BE49-F238E27FC236}">
                  <a16:creationId xmlns:a16="http://schemas.microsoft.com/office/drawing/2014/main" id="{47E64FA9-2A54-9848-E911-78B128796AF8}"/>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endParaRPr lang="en-US" dirty="0"/>
            </a:p>
          </p:txBody>
        </p:sp>
        <p:sp>
          <p:nvSpPr>
            <p:cNvPr id="8" name="Freeform: Shape 9">
              <a:extLst>
                <a:ext uri="{FF2B5EF4-FFF2-40B4-BE49-F238E27FC236}">
                  <a16:creationId xmlns:a16="http://schemas.microsoft.com/office/drawing/2014/main" id="{DB656FC0-04BE-35C7-9FD7-7C9FF4EC0EBF}"/>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endParaRPr lang="en-US" dirty="0"/>
            </a:p>
          </p:txBody>
        </p:sp>
        <p:sp>
          <p:nvSpPr>
            <p:cNvPr id="9" name="Freeform: Shape 10">
              <a:extLst>
                <a:ext uri="{FF2B5EF4-FFF2-40B4-BE49-F238E27FC236}">
                  <a16:creationId xmlns:a16="http://schemas.microsoft.com/office/drawing/2014/main" id="{D8FB9D93-1453-A489-4C16-FD7D3D474BC7}"/>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endParaRPr lang="en-US" dirty="0"/>
            </a:p>
          </p:txBody>
        </p:sp>
        <p:sp>
          <p:nvSpPr>
            <p:cNvPr id="10" name="Freeform: Shape 11">
              <a:extLst>
                <a:ext uri="{FF2B5EF4-FFF2-40B4-BE49-F238E27FC236}">
                  <a16:creationId xmlns:a16="http://schemas.microsoft.com/office/drawing/2014/main" id="{8815ECDD-5159-3E07-2917-E952DBB67A5C}"/>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endParaRPr lang="en-US" dirty="0"/>
            </a:p>
          </p:txBody>
        </p:sp>
        <p:sp>
          <p:nvSpPr>
            <p:cNvPr id="11" name="Freeform: Shape 12">
              <a:extLst>
                <a:ext uri="{FF2B5EF4-FFF2-40B4-BE49-F238E27FC236}">
                  <a16:creationId xmlns:a16="http://schemas.microsoft.com/office/drawing/2014/main" id="{A3D83ADA-E36D-D9AC-9E91-E7C849DBA274}"/>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endParaRPr lang="en-US" dirty="0"/>
            </a:p>
          </p:txBody>
        </p:sp>
      </p:grpSp>
      <p:sp>
        <p:nvSpPr>
          <p:cNvPr id="12" name="Title 3">
            <a:extLst>
              <a:ext uri="{FF2B5EF4-FFF2-40B4-BE49-F238E27FC236}">
                <a16:creationId xmlns:a16="http://schemas.microsoft.com/office/drawing/2014/main" id="{8B8B531D-6501-7ED0-6D56-3497E8922272}"/>
              </a:ext>
            </a:extLst>
          </p:cNvPr>
          <p:cNvSpPr>
            <a:spLocks noGrp="1"/>
          </p:cNvSpPr>
          <p:nvPr>
            <p:ph type="title" hasCustomPrompt="1"/>
            <p:custDataLst>
              <p:tags r:id="rId4"/>
            </p:custDataLst>
          </p:nvPr>
        </p:nvSpPr>
        <p:spPr>
          <a:xfrm>
            <a:off x="695400" y="376801"/>
            <a:ext cx="9180412" cy="518746"/>
          </a:xfrm>
        </p:spPr>
        <p:txBody>
          <a:bodyPr tIns="93600" anchor="t" anchorCtr="0"/>
          <a:lstStyle/>
          <a:p>
            <a:r>
              <a:rPr lang="ja-JP" altLang="en-US" dirty="0"/>
              <a:t>タイトル</a:t>
            </a:r>
          </a:p>
        </p:txBody>
      </p:sp>
      <p:sp>
        <p:nvSpPr>
          <p:cNvPr id="7" name="正方形/長方形 6">
            <a:extLst>
              <a:ext uri="{FF2B5EF4-FFF2-40B4-BE49-F238E27FC236}">
                <a16:creationId xmlns:a16="http://schemas.microsoft.com/office/drawing/2014/main" id="{836C51B6-DCAC-C041-7838-582A628F5A5F}"/>
              </a:ext>
            </a:extLst>
          </p:cNvPr>
          <p:cNvSpPr/>
          <p:nvPr userDrawn="1"/>
        </p:nvSpPr>
        <p:spPr>
          <a:xfrm>
            <a:off x="452397" y="361586"/>
            <a:ext cx="119133" cy="549176"/>
          </a:xfrm>
          <a:prstGeom prst="rect">
            <a:avLst/>
          </a:pr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kumimoji="1" lang="ja-JP" altLang="en-US" sz="2000" dirty="0" err="1">
              <a:solidFill>
                <a:schemeClr val="tx1"/>
              </a:solidFill>
            </a:endParaRPr>
          </a:p>
        </p:txBody>
      </p:sp>
    </p:spTree>
    <p:extLst>
      <p:ext uri="{BB962C8B-B14F-4D97-AF65-F5344CB8AC3E}">
        <p14:creationId xmlns:p14="http://schemas.microsoft.com/office/powerpoint/2010/main" val="657522631"/>
      </p:ext>
    </p:extLst>
  </p:cSld>
  <p:clrMapOvr>
    <a:masterClrMapping/>
  </p:clrMapOvr>
  <p:extLst>
    <p:ext uri="{DCECCB84-F9BA-43D5-87BE-67443E8EF086}">
      <p15:sldGuideLst xmlns:p15="http://schemas.microsoft.com/office/powerpoint/2012/main">
        <p15:guide id="1" orient="horz" pos="397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14 Content - Title, text, Red line, img. Red">
    <p:spTree>
      <p:nvGrpSpPr>
        <p:cNvPr id="1" name=""/>
        <p:cNvGrpSpPr/>
        <p:nvPr/>
      </p:nvGrpSpPr>
      <p:grpSpPr>
        <a:xfrm>
          <a:off x="0" y="0"/>
          <a:ext cx="0" cy="0"/>
          <a:chOff x="0" y="0"/>
          <a:chExt cx="0" cy="0"/>
        </a:xfrm>
      </p:grpSpPr>
      <p:sp>
        <p:nvSpPr>
          <p:cNvPr id="3" name="Picture Placeholder 7">
            <a:extLst>
              <a:ext uri="{FF2B5EF4-FFF2-40B4-BE49-F238E27FC236}">
                <a16:creationId xmlns:a16="http://schemas.microsoft.com/office/drawing/2014/main" id="{BCF1BC17-B5AD-47F5-434F-024B4536D8FE}"/>
              </a:ext>
            </a:extLst>
          </p:cNvPr>
          <p:cNvSpPr>
            <a:spLocks noGrp="1"/>
          </p:cNvSpPr>
          <p:nvPr>
            <p:ph type="pic" sz="quarter" idx="16" hasCustomPrompt="1"/>
            <p:custDataLst>
              <p:tags r:id="rId1"/>
            </p:custDataLst>
          </p:nvPr>
        </p:nvSpPr>
        <p:spPr>
          <a:xfrm>
            <a:off x="0" y="2511"/>
            <a:ext cx="12192000" cy="6865523"/>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ja-JP" altLang="en-US"/>
              <a:t> </a:t>
            </a:r>
            <a:endParaRPr lang="ja-JP" altLang="en-US" dirty="0"/>
          </a:p>
        </p:txBody>
      </p:sp>
      <p:sp>
        <p:nvSpPr>
          <p:cNvPr id="5" name="Swirl Locked">
            <a:extLst>
              <a:ext uri="{FF2B5EF4-FFF2-40B4-BE49-F238E27FC236}">
                <a16:creationId xmlns:a16="http://schemas.microsoft.com/office/drawing/2014/main" id="{2F27E30C-1902-35A9-B820-A2C9E73B5AA8}"/>
              </a:ext>
            </a:extLst>
          </p:cNvPr>
          <p:cNvSpPr>
            <a:spLocks noGrp="1"/>
          </p:cNvSpPr>
          <p:nvPr>
            <p:ph type="body" sz="quarter" idx="21" hasCustomPrompt="1"/>
            <p:custDataLst>
              <p:tags r:id="rId2"/>
            </p:custDataLst>
          </p:nvPr>
        </p:nvSpPr>
        <p:spPr>
          <a:xfrm>
            <a:off x="0" y="3697853"/>
            <a:ext cx="12193211" cy="3170181"/>
          </a:xfrm>
          <a:prstGeom prst="rect">
            <a:avLst/>
          </a:prstGeom>
          <a:blipFill>
            <a:blip>
              <a:extLst>
                <a:ext uri="{96DAC541-7B7A-43D3-8B79-37D633B846F1}">
                  <asvg:svgBlip xmlns:asvg="http://schemas.microsoft.com/office/drawing/2016/SVG/main" r:embed="rId6"/>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14" name="Title 3">
            <a:extLst>
              <a:ext uri="{FF2B5EF4-FFF2-40B4-BE49-F238E27FC236}">
                <a16:creationId xmlns:a16="http://schemas.microsoft.com/office/drawing/2014/main" id="{12C076AA-9D18-030E-05F2-18040F76C755}"/>
              </a:ext>
            </a:extLst>
          </p:cNvPr>
          <p:cNvSpPr>
            <a:spLocks noGrp="1"/>
          </p:cNvSpPr>
          <p:nvPr>
            <p:ph type="title" hasCustomPrompt="1"/>
            <p:custDataLst>
              <p:tags r:id="rId3"/>
            </p:custDataLst>
          </p:nvPr>
        </p:nvSpPr>
        <p:spPr>
          <a:xfrm>
            <a:off x="457200" y="2040875"/>
            <a:ext cx="11277600" cy="518746"/>
          </a:xfrm>
        </p:spPr>
        <p:txBody>
          <a:bodyPr/>
          <a:lstStyle>
            <a:lvl1pPr>
              <a:defRPr>
                <a:solidFill>
                  <a:schemeClr val="bg1"/>
                </a:solidFill>
              </a:defRPr>
            </a:lvl1pPr>
          </a:lstStyle>
          <a:p>
            <a:r>
              <a:rPr lang="ja-JP" altLang="en-US" dirty="0"/>
              <a:t>タイトル</a:t>
            </a:r>
          </a:p>
        </p:txBody>
      </p:sp>
      <p:sp>
        <p:nvSpPr>
          <p:cNvPr id="15" name="Logo">
            <a:extLst>
              <a:ext uri="{FF2B5EF4-FFF2-40B4-BE49-F238E27FC236}">
                <a16:creationId xmlns:a16="http://schemas.microsoft.com/office/drawing/2014/main" id="{0FE8E743-D32F-E2CE-860D-EDCD146629D4}"/>
              </a:ext>
            </a:extLst>
          </p:cNvPr>
          <p:cNvSpPr>
            <a:spLocks noGrp="1"/>
          </p:cNvSpPr>
          <p:nvPr>
            <p:ph type="body" sz="quarter" idx="20" hasCustomPrompt="1"/>
            <p:custDataLst>
              <p:tags r:id="rId4"/>
            </p:custDataLst>
          </p:nvPr>
        </p:nvSpPr>
        <p:spPr>
          <a:xfrm>
            <a:off x="454798" y="419954"/>
            <a:ext cx="1407869" cy="245006"/>
          </a:xfrm>
          <a:prstGeom prst="rect">
            <a:avLst/>
          </a:prstGeom>
          <a:blipFill>
            <a:blip>
              <a:extLst>
                <a:ext uri="{96DAC541-7B7A-43D3-8B79-37D633B846F1}">
                  <asvg:svgBlip xmlns:asvg="http://schemas.microsoft.com/office/drawing/2016/SVG/main" r:embed="rId7"/>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Tree>
    <p:extLst>
      <p:ext uri="{BB962C8B-B14F-4D97-AF65-F5344CB8AC3E}">
        <p14:creationId xmlns:p14="http://schemas.microsoft.com/office/powerpoint/2010/main" val="27207096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15 Content - Title, text, Red line, img. White">
    <p:spTree>
      <p:nvGrpSpPr>
        <p:cNvPr id="1" name=""/>
        <p:cNvGrpSpPr/>
        <p:nvPr/>
      </p:nvGrpSpPr>
      <p:grpSpPr>
        <a:xfrm>
          <a:off x="0" y="0"/>
          <a:ext cx="0" cy="0"/>
          <a:chOff x="0" y="0"/>
          <a:chExt cx="0" cy="0"/>
        </a:xfrm>
      </p:grpSpPr>
      <p:sp>
        <p:nvSpPr>
          <p:cNvPr id="3" name="Picture Placeholder 7">
            <a:extLst>
              <a:ext uri="{FF2B5EF4-FFF2-40B4-BE49-F238E27FC236}">
                <a16:creationId xmlns:a16="http://schemas.microsoft.com/office/drawing/2014/main" id="{BCF1BC17-B5AD-47F5-434F-024B4536D8FE}"/>
              </a:ext>
            </a:extLst>
          </p:cNvPr>
          <p:cNvSpPr>
            <a:spLocks noGrp="1"/>
          </p:cNvSpPr>
          <p:nvPr>
            <p:ph type="pic" sz="quarter" idx="16" hasCustomPrompt="1"/>
            <p:custDataLst>
              <p:tags r:id="rId1"/>
            </p:custDataLst>
          </p:nvPr>
        </p:nvSpPr>
        <p:spPr>
          <a:xfrm>
            <a:off x="0" y="-1"/>
            <a:ext cx="12192000" cy="6865523"/>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ja-JP" altLang="en-US"/>
              <a:t> </a:t>
            </a:r>
            <a:endParaRPr lang="ja-JP" altLang="en-US" dirty="0"/>
          </a:p>
        </p:txBody>
      </p:sp>
      <p:sp>
        <p:nvSpPr>
          <p:cNvPr id="5" name="Swirl Locked">
            <a:extLst>
              <a:ext uri="{FF2B5EF4-FFF2-40B4-BE49-F238E27FC236}">
                <a16:creationId xmlns:a16="http://schemas.microsoft.com/office/drawing/2014/main" id="{2F27E30C-1902-35A9-B820-A2C9E73B5AA8}"/>
              </a:ext>
            </a:extLst>
          </p:cNvPr>
          <p:cNvSpPr>
            <a:spLocks noGrp="1"/>
          </p:cNvSpPr>
          <p:nvPr>
            <p:ph type="body" sz="quarter" idx="21" hasCustomPrompt="1"/>
            <p:custDataLst>
              <p:tags r:id="rId2"/>
            </p:custDataLst>
          </p:nvPr>
        </p:nvSpPr>
        <p:spPr>
          <a:xfrm>
            <a:off x="0" y="3695341"/>
            <a:ext cx="12193211" cy="3170181"/>
          </a:xfrm>
          <a:prstGeom prst="rect">
            <a:avLst/>
          </a:prstGeom>
          <a:blipFill>
            <a:blip>
              <a:extLst>
                <a:ext uri="{96DAC541-7B7A-43D3-8B79-37D633B846F1}">
                  <asvg:svgBlip xmlns:asvg="http://schemas.microsoft.com/office/drawing/2016/SVG/main" r:embed="rId6"/>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14" name="Title 3">
            <a:extLst>
              <a:ext uri="{FF2B5EF4-FFF2-40B4-BE49-F238E27FC236}">
                <a16:creationId xmlns:a16="http://schemas.microsoft.com/office/drawing/2014/main" id="{12C076AA-9D18-030E-05F2-18040F76C755}"/>
              </a:ext>
            </a:extLst>
          </p:cNvPr>
          <p:cNvSpPr>
            <a:spLocks noGrp="1"/>
          </p:cNvSpPr>
          <p:nvPr>
            <p:ph type="title" hasCustomPrompt="1"/>
            <p:custDataLst>
              <p:tags r:id="rId3"/>
            </p:custDataLst>
          </p:nvPr>
        </p:nvSpPr>
        <p:spPr>
          <a:xfrm>
            <a:off x="457200" y="2040875"/>
            <a:ext cx="11277600" cy="518746"/>
          </a:xfrm>
        </p:spPr>
        <p:txBody>
          <a:bodyPr/>
          <a:lstStyle>
            <a:lvl1pPr>
              <a:defRPr>
                <a:solidFill>
                  <a:schemeClr val="bg1"/>
                </a:solidFill>
              </a:defRPr>
            </a:lvl1pPr>
          </a:lstStyle>
          <a:p>
            <a:r>
              <a:rPr lang="ja-JP" altLang="en-US" dirty="0"/>
              <a:t>タイトル</a:t>
            </a:r>
          </a:p>
        </p:txBody>
      </p:sp>
      <p:sp>
        <p:nvSpPr>
          <p:cNvPr id="15" name="Logo">
            <a:extLst>
              <a:ext uri="{FF2B5EF4-FFF2-40B4-BE49-F238E27FC236}">
                <a16:creationId xmlns:a16="http://schemas.microsoft.com/office/drawing/2014/main" id="{0FE8E743-D32F-E2CE-860D-EDCD146629D4}"/>
              </a:ext>
            </a:extLst>
          </p:cNvPr>
          <p:cNvSpPr>
            <a:spLocks noGrp="1"/>
          </p:cNvSpPr>
          <p:nvPr>
            <p:ph type="body" sz="quarter" idx="20" hasCustomPrompt="1"/>
            <p:custDataLst>
              <p:tags r:id="rId4"/>
            </p:custDataLst>
          </p:nvPr>
        </p:nvSpPr>
        <p:spPr>
          <a:xfrm>
            <a:off x="454798" y="419954"/>
            <a:ext cx="1407869" cy="245006"/>
          </a:xfrm>
          <a:prstGeom prst="rect">
            <a:avLst/>
          </a:prstGeom>
          <a:blipFill>
            <a:blip>
              <a:extLst>
                <a:ext uri="{96DAC541-7B7A-43D3-8B79-37D633B846F1}">
                  <asvg:svgBlip xmlns:asvg="http://schemas.microsoft.com/office/drawing/2016/SVG/main" r:embed="rId7"/>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Tree>
    <p:extLst>
      <p:ext uri="{BB962C8B-B14F-4D97-AF65-F5344CB8AC3E}">
        <p14:creationId xmlns:p14="http://schemas.microsoft.com/office/powerpoint/2010/main" val="34408111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16 Content - Title, text, Blue line, img. Red">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42E147B2-818D-E65C-DD3B-D6833174E1BE}"/>
              </a:ext>
            </a:extLst>
          </p:cNvPr>
          <p:cNvSpPr>
            <a:spLocks noGrp="1"/>
          </p:cNvSpPr>
          <p:nvPr>
            <p:ph type="pic" sz="quarter" idx="16" hasCustomPrompt="1"/>
            <p:custDataLst>
              <p:tags r:id="rId1"/>
            </p:custDataLst>
          </p:nvPr>
        </p:nvSpPr>
        <p:spPr>
          <a:xfrm>
            <a:off x="0" y="-19954"/>
            <a:ext cx="12192000" cy="6865523"/>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ja-JP" altLang="en-US"/>
              <a:t> </a:t>
            </a:r>
            <a:endParaRPr lang="ja-JP" altLang="en-US" dirty="0"/>
          </a:p>
        </p:txBody>
      </p:sp>
      <p:sp>
        <p:nvSpPr>
          <p:cNvPr id="7" name="Swirl Locked">
            <a:extLst>
              <a:ext uri="{FF2B5EF4-FFF2-40B4-BE49-F238E27FC236}">
                <a16:creationId xmlns:a16="http://schemas.microsoft.com/office/drawing/2014/main" id="{9529BE88-19E6-B8D3-0A3C-95E0FA13AA4C}"/>
              </a:ext>
            </a:extLst>
          </p:cNvPr>
          <p:cNvSpPr>
            <a:spLocks noGrp="1"/>
          </p:cNvSpPr>
          <p:nvPr>
            <p:ph type="body" sz="quarter" idx="21" hasCustomPrompt="1"/>
            <p:custDataLst>
              <p:tags r:id="rId2"/>
            </p:custDataLst>
          </p:nvPr>
        </p:nvSpPr>
        <p:spPr>
          <a:xfrm>
            <a:off x="0" y="3697200"/>
            <a:ext cx="12193211" cy="3170181"/>
          </a:xfrm>
          <a:prstGeom prst="rect">
            <a:avLst/>
          </a:prstGeom>
          <a:blipFill>
            <a:blip>
              <a:extLst>
                <a:ext uri="{96DAC541-7B7A-43D3-8B79-37D633B846F1}">
                  <asvg:svgBlip xmlns:asvg="http://schemas.microsoft.com/office/drawing/2016/SVG/main" r:embed="rId6"/>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14" name="Title 3">
            <a:extLst>
              <a:ext uri="{FF2B5EF4-FFF2-40B4-BE49-F238E27FC236}">
                <a16:creationId xmlns:a16="http://schemas.microsoft.com/office/drawing/2014/main" id="{FA4A66B7-5B37-0944-F05A-D86DF74D410C}"/>
              </a:ext>
            </a:extLst>
          </p:cNvPr>
          <p:cNvSpPr>
            <a:spLocks noGrp="1"/>
          </p:cNvSpPr>
          <p:nvPr>
            <p:ph type="title" hasCustomPrompt="1"/>
            <p:custDataLst>
              <p:tags r:id="rId3"/>
            </p:custDataLst>
          </p:nvPr>
        </p:nvSpPr>
        <p:spPr>
          <a:xfrm>
            <a:off x="457199" y="2040875"/>
            <a:ext cx="11276389" cy="518746"/>
          </a:xfrm>
        </p:spPr>
        <p:txBody>
          <a:bodyPr/>
          <a:lstStyle>
            <a:lvl1pPr>
              <a:defRPr>
                <a:solidFill>
                  <a:schemeClr val="bg1"/>
                </a:solidFill>
              </a:defRPr>
            </a:lvl1pPr>
          </a:lstStyle>
          <a:p>
            <a:r>
              <a:rPr lang="ja-JP" altLang="en-US" dirty="0"/>
              <a:t>タイトル</a:t>
            </a:r>
          </a:p>
        </p:txBody>
      </p:sp>
      <p:sp>
        <p:nvSpPr>
          <p:cNvPr id="2" name="Logo">
            <a:extLst>
              <a:ext uri="{FF2B5EF4-FFF2-40B4-BE49-F238E27FC236}">
                <a16:creationId xmlns:a16="http://schemas.microsoft.com/office/drawing/2014/main" id="{AE58B3A6-DE59-D3AD-631B-7104D5A5BFC9}"/>
              </a:ext>
            </a:extLst>
          </p:cNvPr>
          <p:cNvSpPr>
            <a:spLocks noGrp="1"/>
          </p:cNvSpPr>
          <p:nvPr>
            <p:ph type="body" sz="quarter" idx="20" hasCustomPrompt="1"/>
            <p:custDataLst>
              <p:tags r:id="rId4"/>
            </p:custDataLst>
          </p:nvPr>
        </p:nvSpPr>
        <p:spPr>
          <a:xfrm>
            <a:off x="454798" y="419954"/>
            <a:ext cx="1407869" cy="245006"/>
          </a:xfrm>
          <a:prstGeom prst="rect">
            <a:avLst/>
          </a:prstGeom>
          <a:blipFill>
            <a:blip>
              <a:extLst>
                <a:ext uri="{96DAC541-7B7A-43D3-8B79-37D633B846F1}">
                  <asvg:svgBlip xmlns:asvg="http://schemas.microsoft.com/office/drawing/2016/SVG/main" r:embed="rId7"/>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Tree>
    <p:extLst>
      <p:ext uri="{BB962C8B-B14F-4D97-AF65-F5344CB8AC3E}">
        <p14:creationId xmlns:p14="http://schemas.microsoft.com/office/powerpoint/2010/main" val="32968736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17 Content - Title, text, Blue line, img. White">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42E147B2-818D-E65C-DD3B-D6833174E1BE}"/>
              </a:ext>
            </a:extLst>
          </p:cNvPr>
          <p:cNvSpPr>
            <a:spLocks noGrp="1"/>
          </p:cNvSpPr>
          <p:nvPr>
            <p:ph type="pic" sz="quarter" idx="16" hasCustomPrompt="1"/>
            <p:custDataLst>
              <p:tags r:id="rId1"/>
            </p:custDataLst>
          </p:nvPr>
        </p:nvSpPr>
        <p:spPr>
          <a:xfrm>
            <a:off x="0" y="-1"/>
            <a:ext cx="12192000" cy="6865523"/>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ja-JP" altLang="en-US"/>
              <a:t> </a:t>
            </a:r>
            <a:endParaRPr lang="ja-JP" altLang="en-US" dirty="0"/>
          </a:p>
        </p:txBody>
      </p:sp>
      <p:sp>
        <p:nvSpPr>
          <p:cNvPr id="7" name="Swirl Locked">
            <a:extLst>
              <a:ext uri="{FF2B5EF4-FFF2-40B4-BE49-F238E27FC236}">
                <a16:creationId xmlns:a16="http://schemas.microsoft.com/office/drawing/2014/main" id="{9529BE88-19E6-B8D3-0A3C-95E0FA13AA4C}"/>
              </a:ext>
            </a:extLst>
          </p:cNvPr>
          <p:cNvSpPr>
            <a:spLocks noGrp="1"/>
          </p:cNvSpPr>
          <p:nvPr>
            <p:ph type="body" sz="quarter" idx="21" hasCustomPrompt="1"/>
            <p:custDataLst>
              <p:tags r:id="rId2"/>
            </p:custDataLst>
          </p:nvPr>
        </p:nvSpPr>
        <p:spPr>
          <a:xfrm>
            <a:off x="0" y="3697200"/>
            <a:ext cx="12193211" cy="3170181"/>
          </a:xfrm>
          <a:prstGeom prst="rect">
            <a:avLst/>
          </a:prstGeom>
          <a:blipFill>
            <a:blip>
              <a:extLst>
                <a:ext uri="{96DAC541-7B7A-43D3-8B79-37D633B846F1}">
                  <asvg:svgBlip xmlns:asvg="http://schemas.microsoft.com/office/drawing/2016/SVG/main" r:embed="rId6"/>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14" name="Title 3">
            <a:extLst>
              <a:ext uri="{FF2B5EF4-FFF2-40B4-BE49-F238E27FC236}">
                <a16:creationId xmlns:a16="http://schemas.microsoft.com/office/drawing/2014/main" id="{FA4A66B7-5B37-0944-F05A-D86DF74D410C}"/>
              </a:ext>
            </a:extLst>
          </p:cNvPr>
          <p:cNvSpPr>
            <a:spLocks noGrp="1"/>
          </p:cNvSpPr>
          <p:nvPr>
            <p:ph type="title" hasCustomPrompt="1"/>
            <p:custDataLst>
              <p:tags r:id="rId3"/>
            </p:custDataLst>
          </p:nvPr>
        </p:nvSpPr>
        <p:spPr>
          <a:xfrm>
            <a:off x="457199" y="2040875"/>
            <a:ext cx="11276389" cy="518746"/>
          </a:xfrm>
        </p:spPr>
        <p:txBody>
          <a:bodyPr/>
          <a:lstStyle>
            <a:lvl1pPr>
              <a:defRPr>
                <a:solidFill>
                  <a:schemeClr val="bg1"/>
                </a:solidFill>
              </a:defRPr>
            </a:lvl1pPr>
          </a:lstStyle>
          <a:p>
            <a:r>
              <a:rPr lang="ja-JP" altLang="en-US" dirty="0"/>
              <a:t>タイトル</a:t>
            </a:r>
          </a:p>
        </p:txBody>
      </p:sp>
      <p:sp>
        <p:nvSpPr>
          <p:cNvPr id="2" name="Logo">
            <a:extLst>
              <a:ext uri="{FF2B5EF4-FFF2-40B4-BE49-F238E27FC236}">
                <a16:creationId xmlns:a16="http://schemas.microsoft.com/office/drawing/2014/main" id="{73D3D20E-C554-E371-F3FA-FFA2DAACD4E9}"/>
              </a:ext>
            </a:extLst>
          </p:cNvPr>
          <p:cNvSpPr>
            <a:spLocks noGrp="1"/>
          </p:cNvSpPr>
          <p:nvPr>
            <p:ph type="body" sz="quarter" idx="20" hasCustomPrompt="1"/>
            <p:custDataLst>
              <p:tags r:id="rId4"/>
            </p:custDataLst>
          </p:nvPr>
        </p:nvSpPr>
        <p:spPr>
          <a:xfrm>
            <a:off x="454798" y="419954"/>
            <a:ext cx="1407869" cy="245006"/>
          </a:xfrm>
          <a:prstGeom prst="rect">
            <a:avLst/>
          </a:prstGeom>
          <a:blipFill>
            <a:blip>
              <a:extLst>
                <a:ext uri="{96DAC541-7B7A-43D3-8B79-37D633B846F1}">
                  <asvg:svgBlip xmlns:asvg="http://schemas.microsoft.com/office/drawing/2016/SVG/main" r:embed="rId7"/>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Tree>
    <p:extLst>
      <p:ext uri="{BB962C8B-B14F-4D97-AF65-F5344CB8AC3E}">
        <p14:creationId xmlns:p14="http://schemas.microsoft.com/office/powerpoint/2010/main" val="34617576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18 Content - Title, img. Red">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59606763-2CD6-E259-2525-CC3E8FE857AF}"/>
              </a:ext>
            </a:extLst>
          </p:cNvPr>
          <p:cNvSpPr>
            <a:spLocks noGrp="1"/>
          </p:cNvSpPr>
          <p:nvPr>
            <p:ph type="dt" sz="half" idx="10"/>
            <p:custDataLst>
              <p:tags r:id="rId1"/>
            </p:custDataLst>
          </p:nvPr>
        </p:nvSpPr>
        <p:spPr>
          <a:xfrm>
            <a:off x="2486346" y="6356350"/>
            <a:ext cx="1552254" cy="365125"/>
          </a:xfrm>
          <a:prstGeom prst="rect">
            <a:avLst/>
          </a:prstGeom>
        </p:spPr>
        <p:txBody>
          <a:bodyPr/>
          <a:lstStyle/>
          <a:p>
            <a:fld id="{66B0B57A-D896-45C0-B8AE-3A127CD02F0A}" type="datetime1">
              <a:rPr lang="en-US" altLang="ja-JP" smtClean="0"/>
              <a:t>4/13/2026</a:t>
            </a:fld>
            <a:endParaRPr lang="ja-JP" altLang="en-US" dirty="0"/>
          </a:p>
        </p:txBody>
      </p:sp>
      <p:sp>
        <p:nvSpPr>
          <p:cNvPr id="9" name="Footer Placeholder 4">
            <a:extLst>
              <a:ext uri="{FF2B5EF4-FFF2-40B4-BE49-F238E27FC236}">
                <a16:creationId xmlns:a16="http://schemas.microsoft.com/office/drawing/2014/main" id="{0A05BBA4-B4E2-DF9B-8B10-9A39E78EC2D0}"/>
              </a:ext>
            </a:extLst>
          </p:cNvPr>
          <p:cNvSpPr>
            <a:spLocks noGrp="1"/>
          </p:cNvSpPr>
          <p:nvPr>
            <p:ph type="ftr" sz="quarter" idx="11"/>
            <p:custDataLst>
              <p:tags r:id="rId2"/>
            </p:custDataLst>
          </p:nvPr>
        </p:nvSpPr>
        <p:spPr>
          <a:xfrm>
            <a:off x="4038600" y="6356350"/>
            <a:ext cx="4114800" cy="365125"/>
          </a:xfrm>
          <a:prstGeom prst="rect">
            <a:avLst/>
          </a:prstGeom>
        </p:spPr>
        <p:txBody>
          <a:bodyPr/>
          <a:lstStyle>
            <a:lvl1pPr>
              <a:defRPr lang="ja-JP" altLang="en-US" dirty="0"/>
            </a:lvl1pPr>
          </a:lstStyle>
          <a:p>
            <a:endParaRPr lang="en-SE"/>
          </a:p>
        </p:txBody>
      </p:sp>
      <p:sp>
        <p:nvSpPr>
          <p:cNvPr id="10" name="Slide Number Placeholder 5">
            <a:extLst>
              <a:ext uri="{FF2B5EF4-FFF2-40B4-BE49-F238E27FC236}">
                <a16:creationId xmlns:a16="http://schemas.microsoft.com/office/drawing/2014/main" id="{F552DFD8-D83C-81F3-5514-CD5B9D994976}"/>
              </a:ext>
            </a:extLst>
          </p:cNvPr>
          <p:cNvSpPr>
            <a:spLocks noGrp="1"/>
          </p:cNvSpPr>
          <p:nvPr>
            <p:ph type="sldNum" sz="quarter" idx="12"/>
            <p:custDataLst>
              <p:tags r:id="rId3"/>
            </p:custDataLst>
          </p:nvPr>
        </p:nvSpPr>
        <p:spPr>
          <a:xfrm>
            <a:off x="8610600" y="6356350"/>
            <a:ext cx="3124200" cy="365125"/>
          </a:xfrm>
          <a:prstGeom prst="rect">
            <a:avLst/>
          </a:prstGeom>
        </p:spPr>
        <p:txBody>
          <a:bodyPr/>
          <a:lstStyle/>
          <a:p>
            <a:fld id="{35EA36FB-EA35-45B6-87A5-93E7705983EC}" type="slidenum">
              <a:rPr lang="en-US" altLang="ja-JP" smtClean="0"/>
              <a:t>‹#›</a:t>
            </a:fld>
            <a:endParaRPr lang="ja-JP" altLang="en-US" dirty="0"/>
          </a:p>
        </p:txBody>
      </p:sp>
      <p:sp>
        <p:nvSpPr>
          <p:cNvPr id="11" name="Picture Placeholder 7">
            <a:extLst>
              <a:ext uri="{FF2B5EF4-FFF2-40B4-BE49-F238E27FC236}">
                <a16:creationId xmlns:a16="http://schemas.microsoft.com/office/drawing/2014/main" id="{5678909F-9F6A-B381-154C-E92D8EDFB50F}"/>
              </a:ext>
            </a:extLst>
          </p:cNvPr>
          <p:cNvSpPr>
            <a:spLocks noGrp="1"/>
          </p:cNvSpPr>
          <p:nvPr>
            <p:ph type="pic" sz="quarter" idx="16" hasCustomPrompt="1"/>
            <p:custDataLst>
              <p:tags r:id="rId4"/>
            </p:custDataLst>
          </p:nvPr>
        </p:nvSpPr>
        <p:spPr>
          <a:xfrm>
            <a:off x="0" y="0"/>
            <a:ext cx="12192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ja-JP" altLang="en-US"/>
              <a:t> </a:t>
            </a:r>
            <a:endParaRPr lang="ja-JP" altLang="en-US" dirty="0"/>
          </a:p>
        </p:txBody>
      </p:sp>
      <p:sp>
        <p:nvSpPr>
          <p:cNvPr id="12" name="Title 2">
            <a:extLst>
              <a:ext uri="{FF2B5EF4-FFF2-40B4-BE49-F238E27FC236}">
                <a16:creationId xmlns:a16="http://schemas.microsoft.com/office/drawing/2014/main" id="{81E2369A-A7AD-A118-819D-07886D39E77A}"/>
              </a:ext>
            </a:extLst>
          </p:cNvPr>
          <p:cNvSpPr>
            <a:spLocks noGrp="1"/>
          </p:cNvSpPr>
          <p:nvPr>
            <p:ph type="title" hasCustomPrompt="1"/>
            <p:custDataLst>
              <p:tags r:id="rId5"/>
            </p:custDataLst>
          </p:nvPr>
        </p:nvSpPr>
        <p:spPr>
          <a:xfrm>
            <a:off x="789940" y="1957750"/>
            <a:ext cx="10612120" cy="518746"/>
          </a:xfrm>
        </p:spPr>
        <p:txBody>
          <a:bodyPr/>
          <a:lstStyle>
            <a:lvl1pPr algn="ctr">
              <a:defRPr>
                <a:solidFill>
                  <a:schemeClr val="bg1"/>
                </a:solidFill>
              </a:defRPr>
            </a:lvl1pPr>
          </a:lstStyle>
          <a:p>
            <a:r>
              <a:rPr lang="ja-JP" altLang="en-US" dirty="0"/>
              <a:t>タイトル</a:t>
            </a:r>
          </a:p>
        </p:txBody>
      </p:sp>
      <p:sp>
        <p:nvSpPr>
          <p:cNvPr id="13" name="Logo">
            <a:extLst>
              <a:ext uri="{FF2B5EF4-FFF2-40B4-BE49-F238E27FC236}">
                <a16:creationId xmlns:a16="http://schemas.microsoft.com/office/drawing/2014/main" id="{BE57F742-2E2F-1439-78F6-8DFB15B4A074}"/>
              </a:ext>
            </a:extLst>
          </p:cNvPr>
          <p:cNvSpPr>
            <a:spLocks noGrp="1"/>
          </p:cNvSpPr>
          <p:nvPr>
            <p:ph type="body" sz="quarter" idx="17" hasCustomPrompt="1"/>
            <p:custDataLst>
              <p:tags r:id="rId6"/>
            </p:custDataLst>
          </p:nvPr>
        </p:nvSpPr>
        <p:spPr>
          <a:xfrm>
            <a:off x="454798" y="6444000"/>
            <a:ext cx="1407869" cy="245006"/>
          </a:xfrm>
          <a:prstGeom prst="rect">
            <a:avLst/>
          </a:prstGeom>
          <a:blipFill>
            <a:blip>
              <a:extLst>
                <a:ext uri="{96DAC541-7B7A-43D3-8B79-37D633B846F1}">
                  <asvg:svgBlip xmlns:asvg="http://schemas.microsoft.com/office/drawing/2016/SVG/main" r:embed="rId8"/>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Tree>
    <p:extLst>
      <p:ext uri="{BB962C8B-B14F-4D97-AF65-F5344CB8AC3E}">
        <p14:creationId xmlns:p14="http://schemas.microsoft.com/office/powerpoint/2010/main" val="8431574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19 Content - Title, img. White">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59606763-2CD6-E259-2525-CC3E8FE857AF}"/>
              </a:ext>
            </a:extLst>
          </p:cNvPr>
          <p:cNvSpPr>
            <a:spLocks noGrp="1"/>
          </p:cNvSpPr>
          <p:nvPr>
            <p:ph type="dt" sz="half" idx="10"/>
            <p:custDataLst>
              <p:tags r:id="rId1"/>
            </p:custDataLst>
          </p:nvPr>
        </p:nvSpPr>
        <p:spPr>
          <a:xfrm>
            <a:off x="2486346" y="6356350"/>
            <a:ext cx="1552254" cy="365125"/>
          </a:xfrm>
          <a:prstGeom prst="rect">
            <a:avLst/>
          </a:prstGeom>
        </p:spPr>
        <p:txBody>
          <a:bodyPr/>
          <a:lstStyle/>
          <a:p>
            <a:fld id="{66B0B57A-D896-45C0-B8AE-3A127CD02F0A}" type="datetime1">
              <a:rPr lang="en-US" altLang="ja-JP" smtClean="0"/>
              <a:t>4/13/2026</a:t>
            </a:fld>
            <a:endParaRPr lang="ja-JP" altLang="en-US" dirty="0"/>
          </a:p>
        </p:txBody>
      </p:sp>
      <p:sp>
        <p:nvSpPr>
          <p:cNvPr id="9" name="Footer Placeholder 4">
            <a:extLst>
              <a:ext uri="{FF2B5EF4-FFF2-40B4-BE49-F238E27FC236}">
                <a16:creationId xmlns:a16="http://schemas.microsoft.com/office/drawing/2014/main" id="{0A05BBA4-B4E2-DF9B-8B10-9A39E78EC2D0}"/>
              </a:ext>
            </a:extLst>
          </p:cNvPr>
          <p:cNvSpPr>
            <a:spLocks noGrp="1"/>
          </p:cNvSpPr>
          <p:nvPr>
            <p:ph type="ftr" sz="quarter" idx="11"/>
            <p:custDataLst>
              <p:tags r:id="rId2"/>
            </p:custDataLst>
          </p:nvPr>
        </p:nvSpPr>
        <p:spPr>
          <a:xfrm>
            <a:off x="4038600" y="6356350"/>
            <a:ext cx="4114800" cy="365125"/>
          </a:xfrm>
          <a:prstGeom prst="rect">
            <a:avLst/>
          </a:prstGeom>
        </p:spPr>
        <p:txBody>
          <a:bodyPr/>
          <a:lstStyle>
            <a:lvl1pPr>
              <a:defRPr lang="ja-JP" altLang="en-US" dirty="0"/>
            </a:lvl1pPr>
          </a:lstStyle>
          <a:p>
            <a:endParaRPr lang="en-SE"/>
          </a:p>
        </p:txBody>
      </p:sp>
      <p:sp>
        <p:nvSpPr>
          <p:cNvPr id="10" name="Slide Number Placeholder 5">
            <a:extLst>
              <a:ext uri="{FF2B5EF4-FFF2-40B4-BE49-F238E27FC236}">
                <a16:creationId xmlns:a16="http://schemas.microsoft.com/office/drawing/2014/main" id="{F552DFD8-D83C-81F3-5514-CD5B9D994976}"/>
              </a:ext>
            </a:extLst>
          </p:cNvPr>
          <p:cNvSpPr>
            <a:spLocks noGrp="1"/>
          </p:cNvSpPr>
          <p:nvPr>
            <p:ph type="sldNum" sz="quarter" idx="12"/>
            <p:custDataLst>
              <p:tags r:id="rId3"/>
            </p:custDataLst>
          </p:nvPr>
        </p:nvSpPr>
        <p:spPr>
          <a:xfrm>
            <a:off x="8610600" y="6356350"/>
            <a:ext cx="3124200" cy="365125"/>
          </a:xfrm>
          <a:prstGeom prst="rect">
            <a:avLst/>
          </a:prstGeom>
        </p:spPr>
        <p:txBody>
          <a:bodyPr/>
          <a:lstStyle/>
          <a:p>
            <a:fld id="{35EA36FB-EA35-45B6-87A5-93E7705983EC}" type="slidenum">
              <a:rPr lang="en-US" altLang="ja-JP" smtClean="0"/>
              <a:t>‹#›</a:t>
            </a:fld>
            <a:endParaRPr lang="ja-JP" altLang="en-US" dirty="0"/>
          </a:p>
        </p:txBody>
      </p:sp>
      <p:sp>
        <p:nvSpPr>
          <p:cNvPr id="11" name="Picture Placeholder 7">
            <a:extLst>
              <a:ext uri="{FF2B5EF4-FFF2-40B4-BE49-F238E27FC236}">
                <a16:creationId xmlns:a16="http://schemas.microsoft.com/office/drawing/2014/main" id="{5678909F-9F6A-B381-154C-E92D8EDFB50F}"/>
              </a:ext>
            </a:extLst>
          </p:cNvPr>
          <p:cNvSpPr>
            <a:spLocks noGrp="1"/>
          </p:cNvSpPr>
          <p:nvPr>
            <p:ph type="pic" sz="quarter" idx="16" hasCustomPrompt="1"/>
            <p:custDataLst>
              <p:tags r:id="rId4"/>
            </p:custDataLst>
          </p:nvPr>
        </p:nvSpPr>
        <p:spPr>
          <a:xfrm>
            <a:off x="0" y="0"/>
            <a:ext cx="12192000" cy="6858000"/>
          </a:xfrm>
          <a:pattFill prst="pct80">
            <a:fgClr>
              <a:srgbClr val="BFBFBF"/>
            </a:fgClr>
            <a:bgClr>
              <a:schemeClr val="bg1"/>
            </a:bgClr>
          </a:pattFill>
        </p:spPr>
        <p:txBody>
          <a:bodyPr tIns="1260000" anchor="ctr" anchorCtr="0">
            <a:normAutofit/>
          </a:bodyPr>
          <a:lstStyle>
            <a:lvl1pPr marL="0" indent="0" algn="ctr">
              <a:buFontTx/>
              <a:buNone/>
              <a:defRPr sz="1600"/>
            </a:lvl1pPr>
          </a:lstStyle>
          <a:p>
            <a:r>
              <a:rPr lang="ja-JP" altLang="en-US"/>
              <a:t> </a:t>
            </a:r>
            <a:endParaRPr lang="ja-JP" altLang="en-US" dirty="0"/>
          </a:p>
        </p:txBody>
      </p:sp>
      <p:sp>
        <p:nvSpPr>
          <p:cNvPr id="12" name="Title 2">
            <a:extLst>
              <a:ext uri="{FF2B5EF4-FFF2-40B4-BE49-F238E27FC236}">
                <a16:creationId xmlns:a16="http://schemas.microsoft.com/office/drawing/2014/main" id="{81E2369A-A7AD-A118-819D-07886D39E77A}"/>
              </a:ext>
            </a:extLst>
          </p:cNvPr>
          <p:cNvSpPr>
            <a:spLocks noGrp="1"/>
          </p:cNvSpPr>
          <p:nvPr>
            <p:ph type="title" hasCustomPrompt="1"/>
            <p:custDataLst>
              <p:tags r:id="rId5"/>
            </p:custDataLst>
          </p:nvPr>
        </p:nvSpPr>
        <p:spPr>
          <a:xfrm>
            <a:off x="789940" y="1957750"/>
            <a:ext cx="10612120" cy="518746"/>
          </a:xfrm>
        </p:spPr>
        <p:txBody>
          <a:bodyPr/>
          <a:lstStyle>
            <a:lvl1pPr algn="ctr">
              <a:defRPr>
                <a:solidFill>
                  <a:schemeClr val="bg1"/>
                </a:solidFill>
              </a:defRPr>
            </a:lvl1pPr>
          </a:lstStyle>
          <a:p>
            <a:r>
              <a:rPr lang="ja-JP" altLang="en-US" dirty="0"/>
              <a:t>タイトル</a:t>
            </a:r>
          </a:p>
        </p:txBody>
      </p:sp>
      <p:sp>
        <p:nvSpPr>
          <p:cNvPr id="13" name="Logo">
            <a:extLst>
              <a:ext uri="{FF2B5EF4-FFF2-40B4-BE49-F238E27FC236}">
                <a16:creationId xmlns:a16="http://schemas.microsoft.com/office/drawing/2014/main" id="{BE57F742-2E2F-1439-78F6-8DFB15B4A074}"/>
              </a:ext>
            </a:extLst>
          </p:cNvPr>
          <p:cNvSpPr>
            <a:spLocks noGrp="1"/>
          </p:cNvSpPr>
          <p:nvPr>
            <p:ph type="body" sz="quarter" idx="17" hasCustomPrompt="1"/>
            <p:custDataLst>
              <p:tags r:id="rId6"/>
            </p:custDataLst>
          </p:nvPr>
        </p:nvSpPr>
        <p:spPr>
          <a:xfrm>
            <a:off x="454798" y="6444000"/>
            <a:ext cx="1407869" cy="245006"/>
          </a:xfrm>
          <a:prstGeom prst="rect">
            <a:avLst/>
          </a:prstGeom>
          <a:blipFill>
            <a:blip>
              <a:extLst>
                <a:ext uri="{96DAC541-7B7A-43D3-8B79-37D633B846F1}">
                  <asvg:svgBlip xmlns:asvg="http://schemas.microsoft.com/office/drawing/2016/SVG/main" r:embed="rId8"/>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Tree>
    <p:extLst>
      <p:ext uri="{BB962C8B-B14F-4D97-AF65-F5344CB8AC3E}">
        <p14:creationId xmlns:p14="http://schemas.microsoft.com/office/powerpoint/2010/main" val="32891512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20 Content - Title, Wave, img. Red">
    <p:bg>
      <p:bgPr>
        <a:solidFill>
          <a:schemeClr val="bg1"/>
        </a:solidFill>
        <a:effectLst/>
      </p:bgPr>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071C35F-172A-5B90-5976-EE7BB7124641}"/>
              </a:ext>
            </a:extLst>
          </p:cNvPr>
          <p:cNvSpPr>
            <a:spLocks noGrp="1"/>
          </p:cNvSpPr>
          <p:nvPr>
            <p:ph type="dt" sz="half" idx="10"/>
            <p:custDataLst>
              <p:tags r:id="rId1"/>
            </p:custDataLst>
          </p:nvPr>
        </p:nvSpPr>
        <p:spPr>
          <a:xfrm>
            <a:off x="2486346" y="6356350"/>
            <a:ext cx="1552254" cy="365125"/>
          </a:xfrm>
          <a:prstGeom prst="rect">
            <a:avLst/>
          </a:prstGeom>
        </p:spPr>
        <p:txBody>
          <a:bodyPr/>
          <a:lstStyle/>
          <a:p>
            <a:fld id="{9260A7CF-A23C-41F4-8B29-AF541EA4584E}" type="datetime1">
              <a:rPr lang="en-US" altLang="ja-JP" smtClean="0"/>
              <a:t>4/13/2026</a:t>
            </a:fld>
            <a:endParaRPr lang="ja-JP" altLang="en-US" dirty="0"/>
          </a:p>
        </p:txBody>
      </p:sp>
      <p:sp>
        <p:nvSpPr>
          <p:cNvPr id="3" name="Footer Placeholder 4">
            <a:extLst>
              <a:ext uri="{FF2B5EF4-FFF2-40B4-BE49-F238E27FC236}">
                <a16:creationId xmlns:a16="http://schemas.microsoft.com/office/drawing/2014/main" id="{7292E925-F8EB-D193-F3DD-B954B717E80C}"/>
              </a:ext>
            </a:extLst>
          </p:cNvPr>
          <p:cNvSpPr>
            <a:spLocks noGrp="1"/>
          </p:cNvSpPr>
          <p:nvPr>
            <p:ph type="ftr" sz="quarter" idx="11"/>
            <p:custDataLst>
              <p:tags r:id="rId2"/>
            </p:custDataLst>
          </p:nvPr>
        </p:nvSpPr>
        <p:spPr>
          <a:xfrm>
            <a:off x="4038600" y="6356350"/>
            <a:ext cx="4114800" cy="365125"/>
          </a:xfrm>
          <a:prstGeom prst="rect">
            <a:avLst/>
          </a:prstGeom>
        </p:spPr>
        <p:txBody>
          <a:bodyPr/>
          <a:lstStyle>
            <a:lvl1pPr>
              <a:defRPr lang="ja-JP" altLang="en-US" dirty="0"/>
            </a:lvl1pPr>
          </a:lstStyle>
          <a:p>
            <a:endParaRPr lang="en-SE"/>
          </a:p>
        </p:txBody>
      </p:sp>
      <p:sp>
        <p:nvSpPr>
          <p:cNvPr id="4" name="Slide Number Placeholder 5">
            <a:extLst>
              <a:ext uri="{FF2B5EF4-FFF2-40B4-BE49-F238E27FC236}">
                <a16:creationId xmlns:a16="http://schemas.microsoft.com/office/drawing/2014/main" id="{F6B36530-686C-8B0E-0177-02C28259FC28}"/>
              </a:ext>
            </a:extLst>
          </p:cNvPr>
          <p:cNvSpPr>
            <a:spLocks noGrp="1"/>
          </p:cNvSpPr>
          <p:nvPr>
            <p:ph type="sldNum" sz="quarter" idx="12"/>
            <p:custDataLst>
              <p:tags r:id="rId3"/>
            </p:custDataLst>
          </p:nvPr>
        </p:nvSpPr>
        <p:spPr>
          <a:xfrm>
            <a:off x="8610600" y="6356350"/>
            <a:ext cx="3124200" cy="365125"/>
          </a:xfrm>
          <a:prstGeom prst="rect">
            <a:avLst/>
          </a:prstGeom>
        </p:spPr>
        <p:txBody>
          <a:bodyPr/>
          <a:lstStyle/>
          <a:p>
            <a:fld id="{35EA36FB-EA35-45B6-87A5-93E7705983EC}" type="slidenum">
              <a:rPr lang="en-US" altLang="ja-JP" smtClean="0"/>
              <a:t>‹#›</a:t>
            </a:fld>
            <a:endParaRPr lang="ja-JP" altLang="en-US" dirty="0"/>
          </a:p>
        </p:txBody>
      </p:sp>
      <p:sp>
        <p:nvSpPr>
          <p:cNvPr id="5" name="Picture Placeholder 7">
            <a:extLst>
              <a:ext uri="{FF2B5EF4-FFF2-40B4-BE49-F238E27FC236}">
                <a16:creationId xmlns:a16="http://schemas.microsoft.com/office/drawing/2014/main" id="{C18B1A80-4895-0D85-082B-F3D036A1FB16}"/>
              </a:ext>
            </a:extLst>
          </p:cNvPr>
          <p:cNvSpPr>
            <a:spLocks noGrp="1"/>
          </p:cNvSpPr>
          <p:nvPr>
            <p:ph type="pic" sz="quarter" idx="16" hasCustomPrompt="1"/>
            <p:custDataLst>
              <p:tags r:id="rId4"/>
            </p:custDataLst>
          </p:nvPr>
        </p:nvSpPr>
        <p:spPr>
          <a:xfrm>
            <a:off x="0" y="0"/>
            <a:ext cx="12192000" cy="6858000"/>
          </a:xfrm>
          <a:pattFill prst="pct80">
            <a:fgClr>
              <a:srgbClr val="BFBFBF"/>
            </a:fgClr>
            <a:bgClr>
              <a:schemeClr val="bg1"/>
            </a:bgClr>
          </a:pattFill>
        </p:spPr>
        <p:txBody>
          <a:bodyPr tIns="2988000" anchor="t" anchorCtr="0">
            <a:normAutofit/>
          </a:bodyPr>
          <a:lstStyle>
            <a:lvl1pPr marL="0" indent="0" algn="ctr">
              <a:buFontTx/>
              <a:buNone/>
              <a:defRPr sz="1600"/>
            </a:lvl1pPr>
          </a:lstStyle>
          <a:p>
            <a:r>
              <a:rPr lang="ja-JP" altLang="en-US" dirty="0"/>
              <a:t> </a:t>
            </a:r>
          </a:p>
        </p:txBody>
      </p:sp>
      <p:sp>
        <p:nvSpPr>
          <p:cNvPr id="6" name="Title 2">
            <a:extLst>
              <a:ext uri="{FF2B5EF4-FFF2-40B4-BE49-F238E27FC236}">
                <a16:creationId xmlns:a16="http://schemas.microsoft.com/office/drawing/2014/main" id="{1B97806A-E3F7-05F2-C694-BE501DF82C3A}"/>
              </a:ext>
            </a:extLst>
          </p:cNvPr>
          <p:cNvSpPr>
            <a:spLocks noGrp="1"/>
          </p:cNvSpPr>
          <p:nvPr>
            <p:ph type="title" hasCustomPrompt="1"/>
            <p:custDataLst>
              <p:tags r:id="rId5"/>
            </p:custDataLst>
          </p:nvPr>
        </p:nvSpPr>
        <p:spPr>
          <a:xfrm>
            <a:off x="454798" y="1569727"/>
            <a:ext cx="10612120" cy="518746"/>
          </a:xfrm>
        </p:spPr>
        <p:txBody>
          <a:bodyPr/>
          <a:lstStyle>
            <a:lvl1pPr>
              <a:defRPr>
                <a:solidFill>
                  <a:schemeClr val="bg1"/>
                </a:solidFill>
              </a:defRPr>
            </a:lvl1pPr>
          </a:lstStyle>
          <a:p>
            <a:r>
              <a:rPr lang="ja-JP" altLang="en-US" dirty="0"/>
              <a:t>タイトル</a:t>
            </a:r>
          </a:p>
        </p:txBody>
      </p:sp>
      <p:sp>
        <p:nvSpPr>
          <p:cNvPr id="7" name="Recolor 3">
            <a:extLst>
              <a:ext uri="{FF2B5EF4-FFF2-40B4-BE49-F238E27FC236}">
                <a16:creationId xmlns:a16="http://schemas.microsoft.com/office/drawing/2014/main" id="{B744EFA9-74E3-DAE9-718E-269A7E74B22A}"/>
              </a:ext>
            </a:extLst>
          </p:cNvPr>
          <p:cNvSpPr>
            <a:spLocks noGrp="1"/>
          </p:cNvSpPr>
          <p:nvPr>
            <p:ph type="body" sz="quarter" idx="13" hasCustomPrompt="1"/>
            <p:custDataLst>
              <p:tags r:id="rId6"/>
            </p:custDataLst>
          </p:nvPr>
        </p:nvSpPr>
        <p:spPr>
          <a:xfrm>
            <a:off x="4060192" y="3022384"/>
            <a:ext cx="8133019" cy="2286235"/>
          </a:xfrm>
          <a:custGeom>
            <a:avLst/>
            <a:gdLst>
              <a:gd name="connsiteX0" fmla="*/ 8133019 w 8133019"/>
              <a:gd name="connsiteY0" fmla="*/ 0 h 2286235"/>
              <a:gd name="connsiteX1" fmla="*/ 8133019 w 8133019"/>
              <a:gd name="connsiteY1" fmla="*/ 2286235 h 2286235"/>
              <a:gd name="connsiteX2" fmla="*/ 1892113 w 8133019"/>
              <a:gd name="connsiteY2" fmla="*/ 2286235 h 2286235"/>
              <a:gd name="connsiteX3" fmla="*/ 0 w 8133019"/>
              <a:gd name="connsiteY3" fmla="*/ 2286235 h 2286235"/>
              <a:gd name="connsiteX4" fmla="*/ 4071752 w 8133019"/>
              <a:gd name="connsiteY4" fmla="*/ 762034 h 2286235"/>
              <a:gd name="connsiteX5" fmla="*/ 8133019 w 8133019"/>
              <a:gd name="connsiteY5" fmla="*/ 0 h 228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9" h="2286235">
                <a:moveTo>
                  <a:pt x="8133019" y="0"/>
                </a:moveTo>
                <a:cubicBezTo>
                  <a:pt x="8133019" y="0"/>
                  <a:pt x="8133019" y="2286235"/>
                  <a:pt x="8133019" y="2286235"/>
                </a:cubicBezTo>
                <a:lnTo>
                  <a:pt x="1892113" y="2286235"/>
                </a:lnTo>
                <a:lnTo>
                  <a:pt x="0" y="2286235"/>
                </a:lnTo>
                <a:cubicBezTo>
                  <a:pt x="771578" y="2024651"/>
                  <a:pt x="2715039" y="1166910"/>
                  <a:pt x="4071752" y="762034"/>
                </a:cubicBezTo>
                <a:cubicBezTo>
                  <a:pt x="5326977" y="387536"/>
                  <a:pt x="6687319" y="72587"/>
                  <a:pt x="8133019" y="0"/>
                </a:cubicBezTo>
                <a:close/>
              </a:path>
            </a:pathLst>
          </a:custGeom>
          <a:solidFill>
            <a:srgbClr val="63717E">
              <a:alpha val="30000"/>
            </a:srgbClr>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8" name="Recolor 1">
            <a:extLst>
              <a:ext uri="{FF2B5EF4-FFF2-40B4-BE49-F238E27FC236}">
                <a16:creationId xmlns:a16="http://schemas.microsoft.com/office/drawing/2014/main" id="{D3B8D502-F0F1-50F5-DDED-3773CBAE1DB4}"/>
              </a:ext>
            </a:extLst>
          </p:cNvPr>
          <p:cNvSpPr>
            <a:spLocks noGrp="1"/>
          </p:cNvSpPr>
          <p:nvPr>
            <p:ph type="body" sz="quarter" idx="14" hasCustomPrompt="1"/>
            <p:custDataLst>
              <p:tags r:id="rId7"/>
            </p:custDataLst>
          </p:nvPr>
        </p:nvSpPr>
        <p:spPr>
          <a:xfrm>
            <a:off x="0" y="5308618"/>
            <a:ext cx="4060191" cy="762034"/>
          </a:xfrm>
          <a:custGeom>
            <a:avLst/>
            <a:gdLst>
              <a:gd name="connsiteX0" fmla="*/ 0 w 4060191"/>
              <a:gd name="connsiteY0" fmla="*/ 0 h 762034"/>
              <a:gd name="connsiteX1" fmla="*/ 4060191 w 4060191"/>
              <a:gd name="connsiteY1" fmla="*/ 0 h 762034"/>
              <a:gd name="connsiteX2" fmla="*/ 0 w 4060191"/>
              <a:gd name="connsiteY2" fmla="*/ 762034 h 762034"/>
            </a:gdLst>
            <a:ahLst/>
            <a:cxnLst>
              <a:cxn ang="0">
                <a:pos x="connsiteX0" y="connsiteY0"/>
              </a:cxn>
              <a:cxn ang="0">
                <a:pos x="connsiteX1" y="connsiteY1"/>
              </a:cxn>
              <a:cxn ang="0">
                <a:pos x="connsiteX2" y="connsiteY2"/>
              </a:cxn>
            </a:cxnLst>
            <a:rect l="l" t="t" r="r" b="b"/>
            <a:pathLst>
              <a:path w="4060191" h="762034">
                <a:moveTo>
                  <a:pt x="0" y="0"/>
                </a:moveTo>
                <a:lnTo>
                  <a:pt x="4060191" y="0"/>
                </a:lnTo>
                <a:cubicBezTo>
                  <a:pt x="2770286" y="437272"/>
                  <a:pt x="1364106" y="709475"/>
                  <a:pt x="0" y="762034"/>
                </a:cubicBezTo>
                <a:close/>
              </a:path>
            </a:pathLst>
          </a:custGeom>
          <a:solidFill>
            <a:srgbClr val="63717E">
              <a:alpha val="30000"/>
            </a:srgbClr>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10" name="Logo">
            <a:extLst>
              <a:ext uri="{FF2B5EF4-FFF2-40B4-BE49-F238E27FC236}">
                <a16:creationId xmlns:a16="http://schemas.microsoft.com/office/drawing/2014/main" id="{DC2627B8-99FA-AAFE-12EB-643F5BEB86DF}"/>
              </a:ext>
            </a:extLst>
          </p:cNvPr>
          <p:cNvSpPr>
            <a:spLocks noGrp="1"/>
          </p:cNvSpPr>
          <p:nvPr>
            <p:ph type="body" sz="quarter" idx="17" hasCustomPrompt="1"/>
            <p:custDataLst>
              <p:tags r:id="rId8"/>
            </p:custDataLst>
          </p:nvPr>
        </p:nvSpPr>
        <p:spPr>
          <a:xfrm>
            <a:off x="454798" y="6444000"/>
            <a:ext cx="1407869" cy="245006"/>
          </a:xfrm>
          <a:prstGeom prst="rect">
            <a:avLst/>
          </a:prstGeom>
          <a:blipFill>
            <a:blip>
              <a:extLst>
                <a:ext uri="{96DAC541-7B7A-43D3-8B79-37D633B846F1}">
                  <asvg:svgBlip xmlns:asvg="http://schemas.microsoft.com/office/drawing/2016/SVG/main" r:embed="rId1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Tree>
    <p:extLst>
      <p:ext uri="{BB962C8B-B14F-4D97-AF65-F5344CB8AC3E}">
        <p14:creationId xmlns:p14="http://schemas.microsoft.com/office/powerpoint/2010/main" val="404332660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21 Content - Title, Wave, img. White">
    <p:spTree>
      <p:nvGrpSpPr>
        <p:cNvPr id="1" name=""/>
        <p:cNvGrpSpPr/>
        <p:nvPr/>
      </p:nvGrpSpPr>
      <p:grpSpPr>
        <a:xfrm>
          <a:off x="0" y="0"/>
          <a:ext cx="0" cy="0"/>
          <a:chOff x="0" y="0"/>
          <a:chExt cx="0" cy="0"/>
        </a:xfrm>
      </p:grpSpPr>
      <p:sp>
        <p:nvSpPr>
          <p:cNvPr id="10" name="Date Placeholder 3">
            <a:extLst>
              <a:ext uri="{FF2B5EF4-FFF2-40B4-BE49-F238E27FC236}">
                <a16:creationId xmlns:a16="http://schemas.microsoft.com/office/drawing/2014/main" id="{6E34577E-A1C1-5B33-43E5-EC4352D82D7C}"/>
              </a:ext>
            </a:extLst>
          </p:cNvPr>
          <p:cNvSpPr>
            <a:spLocks noGrp="1"/>
          </p:cNvSpPr>
          <p:nvPr>
            <p:ph type="dt" sz="half" idx="10"/>
            <p:custDataLst>
              <p:tags r:id="rId1"/>
            </p:custDataLst>
          </p:nvPr>
        </p:nvSpPr>
        <p:spPr>
          <a:xfrm>
            <a:off x="2486346" y="6356350"/>
            <a:ext cx="1552254" cy="365125"/>
          </a:xfrm>
          <a:prstGeom prst="rect">
            <a:avLst/>
          </a:prstGeom>
        </p:spPr>
        <p:txBody>
          <a:bodyPr/>
          <a:lstStyle/>
          <a:p>
            <a:fld id="{9260A7CF-A23C-41F4-8B29-AF541EA4584E}" type="datetime1">
              <a:rPr lang="en-US" altLang="ja-JP" smtClean="0"/>
              <a:t>4/13/2026</a:t>
            </a:fld>
            <a:endParaRPr lang="ja-JP" altLang="en-US" dirty="0"/>
          </a:p>
        </p:txBody>
      </p:sp>
      <p:sp>
        <p:nvSpPr>
          <p:cNvPr id="11" name="Footer Placeholder 4">
            <a:extLst>
              <a:ext uri="{FF2B5EF4-FFF2-40B4-BE49-F238E27FC236}">
                <a16:creationId xmlns:a16="http://schemas.microsoft.com/office/drawing/2014/main" id="{B922D0F4-CCC3-90A6-8996-9FB13364D803}"/>
              </a:ext>
            </a:extLst>
          </p:cNvPr>
          <p:cNvSpPr>
            <a:spLocks noGrp="1"/>
          </p:cNvSpPr>
          <p:nvPr>
            <p:ph type="ftr" sz="quarter" idx="11"/>
            <p:custDataLst>
              <p:tags r:id="rId2"/>
            </p:custDataLst>
          </p:nvPr>
        </p:nvSpPr>
        <p:spPr>
          <a:xfrm>
            <a:off x="4038600" y="6356350"/>
            <a:ext cx="4114800" cy="365125"/>
          </a:xfrm>
          <a:prstGeom prst="rect">
            <a:avLst/>
          </a:prstGeom>
        </p:spPr>
        <p:txBody>
          <a:bodyPr/>
          <a:lstStyle>
            <a:lvl1pPr>
              <a:defRPr lang="ja-JP" altLang="en-US" dirty="0"/>
            </a:lvl1pPr>
          </a:lstStyle>
          <a:p>
            <a:endParaRPr lang="en-SE"/>
          </a:p>
        </p:txBody>
      </p:sp>
      <p:sp>
        <p:nvSpPr>
          <p:cNvPr id="12" name="Slide Number Placeholder 5">
            <a:extLst>
              <a:ext uri="{FF2B5EF4-FFF2-40B4-BE49-F238E27FC236}">
                <a16:creationId xmlns:a16="http://schemas.microsoft.com/office/drawing/2014/main" id="{8AA943FF-0115-2296-3AF6-766B74ADEC5F}"/>
              </a:ext>
            </a:extLst>
          </p:cNvPr>
          <p:cNvSpPr>
            <a:spLocks noGrp="1"/>
          </p:cNvSpPr>
          <p:nvPr>
            <p:ph type="sldNum" sz="quarter" idx="12"/>
            <p:custDataLst>
              <p:tags r:id="rId3"/>
            </p:custDataLst>
          </p:nvPr>
        </p:nvSpPr>
        <p:spPr>
          <a:xfrm>
            <a:off x="8610600" y="6356350"/>
            <a:ext cx="3124200" cy="365125"/>
          </a:xfrm>
          <a:prstGeom prst="rect">
            <a:avLst/>
          </a:prstGeom>
        </p:spPr>
        <p:txBody>
          <a:bodyPr/>
          <a:lstStyle/>
          <a:p>
            <a:fld id="{35EA36FB-EA35-45B6-87A5-93E7705983EC}" type="slidenum">
              <a:rPr lang="en-US" altLang="ja-JP" smtClean="0"/>
              <a:t>‹#›</a:t>
            </a:fld>
            <a:endParaRPr lang="ja-JP" altLang="en-US" dirty="0"/>
          </a:p>
        </p:txBody>
      </p:sp>
      <p:sp>
        <p:nvSpPr>
          <p:cNvPr id="13" name="Picture Placeholder 7">
            <a:extLst>
              <a:ext uri="{FF2B5EF4-FFF2-40B4-BE49-F238E27FC236}">
                <a16:creationId xmlns:a16="http://schemas.microsoft.com/office/drawing/2014/main" id="{73C672A2-160A-A13D-741D-793ACB9CAEF6}"/>
              </a:ext>
            </a:extLst>
          </p:cNvPr>
          <p:cNvSpPr>
            <a:spLocks noGrp="1"/>
          </p:cNvSpPr>
          <p:nvPr>
            <p:ph type="pic" sz="quarter" idx="16" hasCustomPrompt="1"/>
            <p:custDataLst>
              <p:tags r:id="rId4"/>
            </p:custDataLst>
          </p:nvPr>
        </p:nvSpPr>
        <p:spPr>
          <a:xfrm>
            <a:off x="0" y="0"/>
            <a:ext cx="12192000" cy="6858000"/>
          </a:xfrm>
          <a:pattFill prst="pct80">
            <a:fgClr>
              <a:srgbClr val="BFBFBF"/>
            </a:fgClr>
            <a:bgClr>
              <a:schemeClr val="bg1"/>
            </a:bgClr>
          </a:pattFill>
        </p:spPr>
        <p:txBody>
          <a:bodyPr tIns="2988000" anchor="t" anchorCtr="0">
            <a:normAutofit/>
          </a:bodyPr>
          <a:lstStyle>
            <a:lvl1pPr marL="0" indent="0" algn="ctr">
              <a:buFontTx/>
              <a:buNone/>
              <a:defRPr sz="1600"/>
            </a:lvl1pPr>
          </a:lstStyle>
          <a:p>
            <a:r>
              <a:rPr lang="ja-JP" altLang="en-US" dirty="0"/>
              <a:t> </a:t>
            </a:r>
          </a:p>
        </p:txBody>
      </p:sp>
      <p:sp>
        <p:nvSpPr>
          <p:cNvPr id="14" name="Title 2">
            <a:extLst>
              <a:ext uri="{FF2B5EF4-FFF2-40B4-BE49-F238E27FC236}">
                <a16:creationId xmlns:a16="http://schemas.microsoft.com/office/drawing/2014/main" id="{A31C1398-4AF9-9766-30F1-B8A82607E857}"/>
              </a:ext>
            </a:extLst>
          </p:cNvPr>
          <p:cNvSpPr>
            <a:spLocks noGrp="1"/>
          </p:cNvSpPr>
          <p:nvPr>
            <p:ph type="title" hasCustomPrompt="1"/>
            <p:custDataLst>
              <p:tags r:id="rId5"/>
            </p:custDataLst>
          </p:nvPr>
        </p:nvSpPr>
        <p:spPr>
          <a:xfrm>
            <a:off x="454798" y="1569727"/>
            <a:ext cx="10612120" cy="518746"/>
          </a:xfrm>
        </p:spPr>
        <p:txBody>
          <a:bodyPr/>
          <a:lstStyle>
            <a:lvl1pPr>
              <a:defRPr>
                <a:solidFill>
                  <a:schemeClr val="bg1"/>
                </a:solidFill>
              </a:defRPr>
            </a:lvl1pPr>
          </a:lstStyle>
          <a:p>
            <a:r>
              <a:rPr lang="ja-JP" altLang="en-US" dirty="0"/>
              <a:t>タイトル</a:t>
            </a:r>
          </a:p>
        </p:txBody>
      </p:sp>
      <p:sp>
        <p:nvSpPr>
          <p:cNvPr id="15" name="Recolor 3">
            <a:extLst>
              <a:ext uri="{FF2B5EF4-FFF2-40B4-BE49-F238E27FC236}">
                <a16:creationId xmlns:a16="http://schemas.microsoft.com/office/drawing/2014/main" id="{0EB27B04-F8B3-1F2C-11EA-1264AE4C842F}"/>
              </a:ext>
            </a:extLst>
          </p:cNvPr>
          <p:cNvSpPr>
            <a:spLocks noGrp="1"/>
          </p:cNvSpPr>
          <p:nvPr>
            <p:ph type="body" sz="quarter" idx="13" hasCustomPrompt="1"/>
            <p:custDataLst>
              <p:tags r:id="rId6"/>
            </p:custDataLst>
          </p:nvPr>
        </p:nvSpPr>
        <p:spPr>
          <a:xfrm>
            <a:off x="4060192" y="3022384"/>
            <a:ext cx="8133019" cy="2286235"/>
          </a:xfrm>
          <a:custGeom>
            <a:avLst/>
            <a:gdLst>
              <a:gd name="connsiteX0" fmla="*/ 8133019 w 8133019"/>
              <a:gd name="connsiteY0" fmla="*/ 0 h 2286235"/>
              <a:gd name="connsiteX1" fmla="*/ 8133019 w 8133019"/>
              <a:gd name="connsiteY1" fmla="*/ 2286235 h 2286235"/>
              <a:gd name="connsiteX2" fmla="*/ 1892113 w 8133019"/>
              <a:gd name="connsiteY2" fmla="*/ 2286235 h 2286235"/>
              <a:gd name="connsiteX3" fmla="*/ 0 w 8133019"/>
              <a:gd name="connsiteY3" fmla="*/ 2286235 h 2286235"/>
              <a:gd name="connsiteX4" fmla="*/ 4071752 w 8133019"/>
              <a:gd name="connsiteY4" fmla="*/ 762034 h 2286235"/>
              <a:gd name="connsiteX5" fmla="*/ 8133019 w 8133019"/>
              <a:gd name="connsiteY5" fmla="*/ 0 h 228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3019" h="2286235">
                <a:moveTo>
                  <a:pt x="8133019" y="0"/>
                </a:moveTo>
                <a:cubicBezTo>
                  <a:pt x="8133019" y="0"/>
                  <a:pt x="8133019" y="2286235"/>
                  <a:pt x="8133019" y="2286235"/>
                </a:cubicBezTo>
                <a:lnTo>
                  <a:pt x="1892113" y="2286235"/>
                </a:lnTo>
                <a:lnTo>
                  <a:pt x="0" y="2286235"/>
                </a:lnTo>
                <a:cubicBezTo>
                  <a:pt x="771578" y="2024651"/>
                  <a:pt x="2715039" y="1166910"/>
                  <a:pt x="4071752" y="762034"/>
                </a:cubicBezTo>
                <a:cubicBezTo>
                  <a:pt x="5326977" y="387536"/>
                  <a:pt x="6687319" y="72587"/>
                  <a:pt x="8133019" y="0"/>
                </a:cubicBezTo>
                <a:close/>
              </a:path>
            </a:pathLst>
          </a:custGeom>
          <a:solidFill>
            <a:srgbClr val="63717E">
              <a:alpha val="30000"/>
            </a:srgbClr>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16" name="Recolor 1">
            <a:extLst>
              <a:ext uri="{FF2B5EF4-FFF2-40B4-BE49-F238E27FC236}">
                <a16:creationId xmlns:a16="http://schemas.microsoft.com/office/drawing/2014/main" id="{9BCCF247-FB88-324E-1B31-9A0DB9D88257}"/>
              </a:ext>
            </a:extLst>
          </p:cNvPr>
          <p:cNvSpPr>
            <a:spLocks noGrp="1"/>
          </p:cNvSpPr>
          <p:nvPr>
            <p:ph type="body" sz="quarter" idx="14" hasCustomPrompt="1"/>
            <p:custDataLst>
              <p:tags r:id="rId7"/>
            </p:custDataLst>
          </p:nvPr>
        </p:nvSpPr>
        <p:spPr>
          <a:xfrm>
            <a:off x="0" y="5308618"/>
            <a:ext cx="4060191" cy="762034"/>
          </a:xfrm>
          <a:custGeom>
            <a:avLst/>
            <a:gdLst>
              <a:gd name="connsiteX0" fmla="*/ 0 w 4060191"/>
              <a:gd name="connsiteY0" fmla="*/ 0 h 762034"/>
              <a:gd name="connsiteX1" fmla="*/ 4060191 w 4060191"/>
              <a:gd name="connsiteY1" fmla="*/ 0 h 762034"/>
              <a:gd name="connsiteX2" fmla="*/ 0 w 4060191"/>
              <a:gd name="connsiteY2" fmla="*/ 762034 h 762034"/>
            </a:gdLst>
            <a:ahLst/>
            <a:cxnLst>
              <a:cxn ang="0">
                <a:pos x="connsiteX0" y="connsiteY0"/>
              </a:cxn>
              <a:cxn ang="0">
                <a:pos x="connsiteX1" y="connsiteY1"/>
              </a:cxn>
              <a:cxn ang="0">
                <a:pos x="connsiteX2" y="connsiteY2"/>
              </a:cxn>
            </a:cxnLst>
            <a:rect l="l" t="t" r="r" b="b"/>
            <a:pathLst>
              <a:path w="4060191" h="762034">
                <a:moveTo>
                  <a:pt x="0" y="0"/>
                </a:moveTo>
                <a:lnTo>
                  <a:pt x="4060191" y="0"/>
                </a:lnTo>
                <a:cubicBezTo>
                  <a:pt x="2770286" y="437272"/>
                  <a:pt x="1364106" y="709475"/>
                  <a:pt x="0" y="762034"/>
                </a:cubicBezTo>
                <a:close/>
              </a:path>
            </a:pathLst>
          </a:custGeom>
          <a:solidFill>
            <a:srgbClr val="63717E">
              <a:alpha val="30000"/>
            </a:srgbClr>
          </a:solid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17" name="Logo">
            <a:extLst>
              <a:ext uri="{FF2B5EF4-FFF2-40B4-BE49-F238E27FC236}">
                <a16:creationId xmlns:a16="http://schemas.microsoft.com/office/drawing/2014/main" id="{F63C480B-FAB5-C846-C250-17FA4293E407}"/>
              </a:ext>
            </a:extLst>
          </p:cNvPr>
          <p:cNvSpPr>
            <a:spLocks noGrp="1"/>
          </p:cNvSpPr>
          <p:nvPr>
            <p:ph type="body" sz="quarter" idx="17" hasCustomPrompt="1"/>
            <p:custDataLst>
              <p:tags r:id="rId8"/>
            </p:custDataLst>
          </p:nvPr>
        </p:nvSpPr>
        <p:spPr>
          <a:xfrm>
            <a:off x="454798" y="6444000"/>
            <a:ext cx="1407869" cy="245006"/>
          </a:xfrm>
          <a:prstGeom prst="rect">
            <a:avLst/>
          </a:prstGeom>
          <a:blipFill>
            <a:blip>
              <a:extLst>
                <a:ext uri="{96DAC541-7B7A-43D3-8B79-37D633B846F1}">
                  <asvg:svgBlip xmlns:asvg="http://schemas.microsoft.com/office/drawing/2016/SVG/main" r:embed="rId10"/>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Tree>
    <p:extLst>
      <p:ext uri="{BB962C8B-B14F-4D97-AF65-F5344CB8AC3E}">
        <p14:creationId xmlns:p14="http://schemas.microsoft.com/office/powerpoint/2010/main" val="38796394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1 END - Red symbol JPN">
    <p:spTree>
      <p:nvGrpSpPr>
        <p:cNvPr id="1" name=""/>
        <p:cNvGrpSpPr/>
        <p:nvPr/>
      </p:nvGrpSpPr>
      <p:grpSpPr>
        <a:xfrm>
          <a:off x="0" y="0"/>
          <a:ext cx="0" cy="0"/>
          <a:chOff x="0" y="0"/>
          <a:chExt cx="0" cy="0"/>
        </a:xfrm>
      </p:grpSpPr>
      <p:pic>
        <p:nvPicPr>
          <p:cNvPr id="6" name="図 5" descr="黒い背景に白い文字がある&#10;&#10;中程度の精度で自動的に生成された説明">
            <a:extLst>
              <a:ext uri="{FF2B5EF4-FFF2-40B4-BE49-F238E27FC236}">
                <a16:creationId xmlns:a16="http://schemas.microsoft.com/office/drawing/2014/main" id="{79FCF0F0-71C4-F66E-6475-D16BE4E344F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891644" y="1984902"/>
            <a:ext cx="6408712" cy="2308194"/>
          </a:xfrm>
          <a:prstGeom prst="rect">
            <a:avLst/>
          </a:prstGeom>
        </p:spPr>
      </p:pic>
      <p:sp>
        <p:nvSpPr>
          <p:cNvPr id="24" name="Logo ISUZU GROUP">
            <a:extLst>
              <a:ext uri="{FF2B5EF4-FFF2-40B4-BE49-F238E27FC236}">
                <a16:creationId xmlns:a16="http://schemas.microsoft.com/office/drawing/2014/main" id="{AD326F4F-D3B6-F36C-6E9E-FC0B88F937E1}"/>
              </a:ext>
            </a:extLst>
          </p:cNvPr>
          <p:cNvSpPr>
            <a:spLocks noGrp="1"/>
          </p:cNvSpPr>
          <p:nvPr>
            <p:ph type="body" sz="quarter" idx="19" hasCustomPrompt="1"/>
            <p:custDataLst>
              <p:tags r:id="rId1"/>
            </p:custDataLst>
          </p:nvPr>
        </p:nvSpPr>
        <p:spPr>
          <a:xfrm>
            <a:off x="5002296" y="6276138"/>
            <a:ext cx="2206625" cy="273690"/>
          </a:xfrm>
          <a:prstGeom prst="rect">
            <a:avLst/>
          </a:prstGeom>
          <a:blipFill>
            <a:blip>
              <a:extLst>
                <a:ext uri="{96DAC541-7B7A-43D3-8B79-37D633B846F1}">
                  <asvg:svgBlip xmlns:asvg="http://schemas.microsoft.com/office/drawing/2016/SVG/main" r:embed="rId4"/>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2" name="正方形/長方形 1">
            <a:extLst>
              <a:ext uri="{FF2B5EF4-FFF2-40B4-BE49-F238E27FC236}">
                <a16:creationId xmlns:a16="http://schemas.microsoft.com/office/drawing/2014/main" id="{53A71724-42DF-B905-839D-8F0AEDD5561B}"/>
              </a:ext>
            </a:extLst>
          </p:cNvPr>
          <p:cNvSpPr/>
          <p:nvPr userDrawn="1"/>
        </p:nvSpPr>
        <p:spPr>
          <a:xfrm>
            <a:off x="0" y="635635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sp>
        <p:nvSpPr>
          <p:cNvPr id="3" name="正方形/長方形 2">
            <a:extLst>
              <a:ext uri="{FF2B5EF4-FFF2-40B4-BE49-F238E27FC236}">
                <a16:creationId xmlns:a16="http://schemas.microsoft.com/office/drawing/2014/main" id="{1B78643E-3E1A-2209-C85D-B43450DB205C}"/>
              </a:ext>
            </a:extLst>
          </p:cNvPr>
          <p:cNvSpPr/>
          <p:nvPr userDrawn="1"/>
        </p:nvSpPr>
        <p:spPr>
          <a:xfrm>
            <a:off x="10344472" y="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spTree>
    <p:extLst>
      <p:ext uri="{BB962C8B-B14F-4D97-AF65-F5344CB8AC3E}">
        <p14:creationId xmlns:p14="http://schemas.microsoft.com/office/powerpoint/2010/main" val="38034504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2 END - Red symbol ENG">
    <p:spTree>
      <p:nvGrpSpPr>
        <p:cNvPr id="1" name=""/>
        <p:cNvGrpSpPr/>
        <p:nvPr/>
      </p:nvGrpSpPr>
      <p:grpSpPr>
        <a:xfrm>
          <a:off x="0" y="0"/>
          <a:ext cx="0" cy="0"/>
          <a:chOff x="0" y="0"/>
          <a:chExt cx="0" cy="0"/>
        </a:xfrm>
      </p:grpSpPr>
      <p:sp>
        <p:nvSpPr>
          <p:cNvPr id="24" name="Logo ISUZU GROUP">
            <a:extLst>
              <a:ext uri="{FF2B5EF4-FFF2-40B4-BE49-F238E27FC236}">
                <a16:creationId xmlns:a16="http://schemas.microsoft.com/office/drawing/2014/main" id="{AD326F4F-D3B6-F36C-6E9E-FC0B88F937E1}"/>
              </a:ext>
            </a:extLst>
          </p:cNvPr>
          <p:cNvSpPr>
            <a:spLocks noGrp="1"/>
          </p:cNvSpPr>
          <p:nvPr>
            <p:ph type="body" sz="quarter" idx="19" hasCustomPrompt="1"/>
            <p:custDataLst>
              <p:tags r:id="rId1"/>
            </p:custDataLst>
          </p:nvPr>
        </p:nvSpPr>
        <p:spPr>
          <a:xfrm>
            <a:off x="5002296" y="6276138"/>
            <a:ext cx="2206625" cy="273690"/>
          </a:xfrm>
          <a:prstGeom prst="rect">
            <a:avLst/>
          </a:prstGeom>
          <a:blipFill>
            <a:blip>
              <a:extLst>
                <a:ext uri="{96DAC541-7B7A-43D3-8B79-37D633B846F1}">
                  <asvg:svgBlip xmlns:asvg="http://schemas.microsoft.com/office/drawing/2016/SVG/main" r:embed="rId3"/>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2" name="正方形/長方形 1">
            <a:extLst>
              <a:ext uri="{FF2B5EF4-FFF2-40B4-BE49-F238E27FC236}">
                <a16:creationId xmlns:a16="http://schemas.microsoft.com/office/drawing/2014/main" id="{8CA5E05D-E336-E5D3-5C64-34EC347C7077}"/>
              </a:ext>
            </a:extLst>
          </p:cNvPr>
          <p:cNvSpPr/>
          <p:nvPr userDrawn="1"/>
        </p:nvSpPr>
        <p:spPr>
          <a:xfrm>
            <a:off x="0" y="635635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sp>
        <p:nvSpPr>
          <p:cNvPr id="3" name="正方形/長方形 2">
            <a:extLst>
              <a:ext uri="{FF2B5EF4-FFF2-40B4-BE49-F238E27FC236}">
                <a16:creationId xmlns:a16="http://schemas.microsoft.com/office/drawing/2014/main" id="{6DAD7A53-D4FC-2E1B-0ED3-B14502BA94D1}"/>
              </a:ext>
            </a:extLst>
          </p:cNvPr>
          <p:cNvSpPr/>
          <p:nvPr userDrawn="1"/>
        </p:nvSpPr>
        <p:spPr>
          <a:xfrm>
            <a:off x="10344472" y="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pic>
        <p:nvPicPr>
          <p:cNvPr id="9" name="図 8" descr="黒い背景に白い文字がある&#10;&#10;低い精度で自動的に生成された説明">
            <a:extLst>
              <a:ext uri="{FF2B5EF4-FFF2-40B4-BE49-F238E27FC236}">
                <a16:creationId xmlns:a16="http://schemas.microsoft.com/office/drawing/2014/main" id="{F8D8EBF6-C225-DAA2-8FD5-D2AEFAFFA0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91644" y="2004743"/>
            <a:ext cx="6408712" cy="2268512"/>
          </a:xfrm>
          <a:prstGeom prst="rect">
            <a:avLst/>
          </a:prstGeom>
        </p:spPr>
      </p:pic>
    </p:spTree>
    <p:extLst>
      <p:ext uri="{BB962C8B-B14F-4D97-AF65-F5344CB8AC3E}">
        <p14:creationId xmlns:p14="http://schemas.microsoft.com/office/powerpoint/2010/main" val="27049150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3 END - Contact">
    <p:spTree>
      <p:nvGrpSpPr>
        <p:cNvPr id="1" name=""/>
        <p:cNvGrpSpPr/>
        <p:nvPr/>
      </p:nvGrpSpPr>
      <p:grpSpPr>
        <a:xfrm>
          <a:off x="0" y="0"/>
          <a:ext cx="0" cy="0"/>
          <a:chOff x="0" y="0"/>
          <a:chExt cx="0" cy="0"/>
        </a:xfrm>
      </p:grpSpPr>
      <p:sp>
        <p:nvSpPr>
          <p:cNvPr id="5" name="Logo">
            <a:extLst>
              <a:ext uri="{FF2B5EF4-FFF2-40B4-BE49-F238E27FC236}">
                <a16:creationId xmlns:a16="http://schemas.microsoft.com/office/drawing/2014/main" id="{11378A08-C6BE-6D65-4DE3-3839DE2B5AE4}"/>
              </a:ext>
            </a:extLst>
          </p:cNvPr>
          <p:cNvSpPr>
            <a:spLocks noGrp="1"/>
          </p:cNvSpPr>
          <p:nvPr>
            <p:ph type="body" sz="quarter" idx="17" hasCustomPrompt="1"/>
            <p:custDataLst>
              <p:tags r:id="rId1"/>
            </p:custDataLst>
          </p:nvPr>
        </p:nvSpPr>
        <p:spPr>
          <a:xfrm>
            <a:off x="453587" y="717860"/>
            <a:ext cx="3259619" cy="567259"/>
          </a:xfrm>
          <a:prstGeom prst="rect">
            <a:avLst/>
          </a:prstGeom>
          <a:blipFill>
            <a:blip>
              <a:extLst>
                <a:ext uri="{96DAC541-7B7A-43D3-8B79-37D633B846F1}">
                  <asvg:svgBlip xmlns:asvg="http://schemas.microsoft.com/office/drawing/2016/SVG/main" r:embed="rId9"/>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2" name="正方形/長方形 1">
            <a:extLst>
              <a:ext uri="{FF2B5EF4-FFF2-40B4-BE49-F238E27FC236}">
                <a16:creationId xmlns:a16="http://schemas.microsoft.com/office/drawing/2014/main" id="{A8D5C54E-9D44-AF42-3D5A-2EA9540DDB41}"/>
              </a:ext>
            </a:extLst>
          </p:cNvPr>
          <p:cNvSpPr/>
          <p:nvPr userDrawn="1"/>
        </p:nvSpPr>
        <p:spPr>
          <a:xfrm>
            <a:off x="0" y="635635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pic>
        <p:nvPicPr>
          <p:cNvPr id="6" name="Lines locked">
            <a:extLst>
              <a:ext uri="{FF2B5EF4-FFF2-40B4-BE49-F238E27FC236}">
                <a16:creationId xmlns:a16="http://schemas.microsoft.com/office/drawing/2014/main" id="{2648F619-0335-3E65-6113-E86D6437ED43}"/>
              </a:ext>
            </a:extLst>
          </p:cNvPr>
          <p:cNvPicPr/>
          <p:nvPr userDrawn="1">
            <p:custDataLst>
              <p:tags r:id="rId2"/>
            </p:custDataLst>
          </p:nvPr>
        </p:nvPicPr>
        <p:blipFill>
          <a:blip>
            <a:extLst>
              <a:ext uri="{96DAC541-7B7A-43D3-8B79-37D633B846F1}">
                <asvg:svgBlip xmlns:asvg="http://schemas.microsoft.com/office/drawing/2016/SVG/main" r:embed="rId10"/>
              </a:ext>
            </a:extLst>
          </a:blip>
          <a:stretch>
            <a:fillRect/>
          </a:stretch>
        </p:blipFill>
        <p:spPr>
          <a:xfrm>
            <a:off x="0" y="3691253"/>
            <a:ext cx="12192000" cy="3064803"/>
          </a:xfrm>
          <a:prstGeom prst="rect">
            <a:avLst/>
          </a:prstGeom>
        </p:spPr>
      </p:pic>
      <p:sp>
        <p:nvSpPr>
          <p:cNvPr id="10" name="Logo ISUZU GROUP">
            <a:extLst>
              <a:ext uri="{FF2B5EF4-FFF2-40B4-BE49-F238E27FC236}">
                <a16:creationId xmlns:a16="http://schemas.microsoft.com/office/drawing/2014/main" id="{3D8D0F4E-6E36-3CB8-A800-8A84F5F522D0}"/>
              </a:ext>
            </a:extLst>
          </p:cNvPr>
          <p:cNvSpPr>
            <a:spLocks noGrp="1"/>
          </p:cNvSpPr>
          <p:nvPr>
            <p:ph type="body" sz="quarter" idx="19" hasCustomPrompt="1"/>
            <p:custDataLst>
              <p:tags r:id="rId3"/>
            </p:custDataLst>
          </p:nvPr>
        </p:nvSpPr>
        <p:spPr>
          <a:xfrm>
            <a:off x="9548761" y="6276138"/>
            <a:ext cx="2206625" cy="273690"/>
          </a:xfrm>
          <a:prstGeom prst="rect">
            <a:avLst/>
          </a:prstGeom>
          <a:blipFill>
            <a:blip>
              <a:extLst>
                <a:ext uri="{96DAC541-7B7A-43D3-8B79-37D633B846F1}">
                  <asvg:svgBlip xmlns:asvg="http://schemas.microsoft.com/office/drawing/2016/SVG/main" r:embed="rId11"/>
                </a:ext>
              </a:extLst>
            </a:blip>
            <a:stretch>
              <a:fillRect/>
            </a:stretch>
          </a:blipFill>
        </p:spPr>
        <p:txBody>
          <a:bodyPr wrap="square">
            <a:noAutofit/>
          </a:bodyPr>
          <a:lstStyle>
            <a:lvl1pPr marL="0" indent="0">
              <a:buFontTx/>
              <a:buNone/>
              <a:defRPr sz="100">
                <a:solidFill>
                  <a:schemeClr val="tx1">
                    <a:alpha val="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  </a:t>
            </a:r>
            <a:endParaRPr lang="ja-JP" altLang="en-US" dirty="0"/>
          </a:p>
        </p:txBody>
      </p:sp>
      <p:sp>
        <p:nvSpPr>
          <p:cNvPr id="18" name="テキスト プレースホルダー 3">
            <a:extLst>
              <a:ext uri="{FF2B5EF4-FFF2-40B4-BE49-F238E27FC236}">
                <a16:creationId xmlns:a16="http://schemas.microsoft.com/office/drawing/2014/main" id="{98806B19-72E7-AB86-4EA0-13418424690B}"/>
              </a:ext>
            </a:extLst>
          </p:cNvPr>
          <p:cNvSpPr>
            <a:spLocks noGrp="1"/>
          </p:cNvSpPr>
          <p:nvPr>
            <p:ph type="body" sz="quarter" idx="20" hasCustomPrompt="1"/>
            <p:custDataLst>
              <p:tags r:id="rId4"/>
            </p:custDataLst>
          </p:nvPr>
        </p:nvSpPr>
        <p:spPr>
          <a:xfrm>
            <a:off x="453587" y="1958799"/>
            <a:ext cx="5076688" cy="414625"/>
          </a:xfrm>
          <a:prstGeom prst="rect">
            <a:avLst/>
          </a:prstGeom>
        </p:spPr>
        <p:txBody>
          <a:bodyPr lIns="0" tIns="0" rIns="0" bIns="0" anchor="b" anchorCtr="0"/>
          <a:lstStyle>
            <a:lvl1pPr marL="0" indent="0" algn="l">
              <a:buFontTx/>
              <a:buNone/>
              <a:defRPr sz="2200" b="0" i="0">
                <a:solidFill>
                  <a:schemeClr val="tx1"/>
                </a:solidFill>
                <a:latin typeface="+mn-lt"/>
                <a:cs typeface="+mn-cs"/>
              </a:defRPr>
            </a:lvl1pPr>
            <a:lvl3pPr marL="1219095" indent="0" algn="l">
              <a:buFontTx/>
              <a:buNone/>
              <a:defRPr b="0" i="0">
                <a:latin typeface="+mn-lt"/>
                <a:cs typeface="+mn-cs"/>
              </a:defRPr>
            </a:lvl3pPr>
          </a:lstStyle>
          <a:p>
            <a:pPr lvl="0"/>
            <a:r>
              <a:rPr kumimoji="1" lang="ja-JP" altLang="en-US" dirty="0"/>
              <a:t>連絡先</a:t>
            </a:r>
          </a:p>
        </p:txBody>
      </p:sp>
      <p:sp>
        <p:nvSpPr>
          <p:cNvPr id="19" name="テキスト プレースホルダー 3">
            <a:extLst>
              <a:ext uri="{FF2B5EF4-FFF2-40B4-BE49-F238E27FC236}">
                <a16:creationId xmlns:a16="http://schemas.microsoft.com/office/drawing/2014/main" id="{EABEF0F1-6631-18B7-22FB-78A972082F05}"/>
              </a:ext>
            </a:extLst>
          </p:cNvPr>
          <p:cNvSpPr>
            <a:spLocks noGrp="1"/>
          </p:cNvSpPr>
          <p:nvPr>
            <p:ph type="body" sz="quarter" idx="21" hasCustomPrompt="1"/>
            <p:custDataLst>
              <p:tags r:id="rId5"/>
            </p:custDataLst>
          </p:nvPr>
        </p:nvSpPr>
        <p:spPr>
          <a:xfrm>
            <a:off x="453587" y="2453635"/>
            <a:ext cx="5076688" cy="414625"/>
          </a:xfrm>
          <a:prstGeom prst="rect">
            <a:avLst/>
          </a:prstGeom>
        </p:spPr>
        <p:txBody>
          <a:bodyPr lIns="0" tIns="108000" rIns="0" bIns="0"/>
          <a:lstStyle>
            <a:lvl1pPr marL="0" indent="0" algn="l">
              <a:buFontTx/>
              <a:buNone/>
              <a:defRPr sz="2000" b="0" i="0">
                <a:solidFill>
                  <a:schemeClr val="tx1"/>
                </a:solidFill>
                <a:latin typeface="+mn-lt"/>
                <a:cs typeface="+mn-cs"/>
              </a:defRPr>
            </a:lvl1pPr>
            <a:lvl3pPr marL="1219095" indent="0" algn="l">
              <a:buFontTx/>
              <a:buNone/>
              <a:defRPr b="0" i="0">
                <a:latin typeface="+mn-lt"/>
                <a:cs typeface="+mn-cs"/>
              </a:defRPr>
            </a:lvl3pPr>
          </a:lstStyle>
          <a:p>
            <a:pPr lvl="0"/>
            <a:r>
              <a:rPr kumimoji="1" lang="ja-JP" altLang="en-US" dirty="0"/>
              <a:t>氏名</a:t>
            </a:r>
          </a:p>
        </p:txBody>
      </p:sp>
      <p:sp>
        <p:nvSpPr>
          <p:cNvPr id="20" name="テキスト プレースホルダー 3">
            <a:extLst>
              <a:ext uri="{FF2B5EF4-FFF2-40B4-BE49-F238E27FC236}">
                <a16:creationId xmlns:a16="http://schemas.microsoft.com/office/drawing/2014/main" id="{A56789F0-9B9E-2AAD-12FB-A04118D8C121}"/>
              </a:ext>
            </a:extLst>
          </p:cNvPr>
          <p:cNvSpPr>
            <a:spLocks noGrp="1"/>
          </p:cNvSpPr>
          <p:nvPr>
            <p:ph type="body" sz="quarter" idx="22" hasCustomPrompt="1"/>
            <p:custDataLst>
              <p:tags r:id="rId6"/>
            </p:custDataLst>
          </p:nvPr>
        </p:nvSpPr>
        <p:spPr>
          <a:xfrm>
            <a:off x="453587" y="2930499"/>
            <a:ext cx="5076688" cy="414625"/>
          </a:xfrm>
          <a:prstGeom prst="rect">
            <a:avLst/>
          </a:prstGeom>
        </p:spPr>
        <p:txBody>
          <a:bodyPr lIns="0" tIns="108000" rIns="0" bIns="0"/>
          <a:lstStyle>
            <a:lvl1pPr marL="0" indent="0" algn="l">
              <a:buFontTx/>
              <a:buNone/>
              <a:defRPr sz="2000" b="0" i="0">
                <a:solidFill>
                  <a:schemeClr val="tx1"/>
                </a:solidFill>
                <a:latin typeface="+mn-lt"/>
                <a:cs typeface="+mn-cs"/>
              </a:defRPr>
            </a:lvl1pPr>
            <a:lvl3pPr marL="1219095" indent="0" algn="l">
              <a:buFontTx/>
              <a:buNone/>
              <a:defRPr b="0" i="0">
                <a:latin typeface="+mn-lt"/>
                <a:cs typeface="+mn-cs"/>
              </a:defRPr>
            </a:lvl3pPr>
          </a:lstStyle>
          <a:p>
            <a:pPr lvl="0"/>
            <a:r>
              <a:rPr kumimoji="1" lang="ja-JP" altLang="en-US" dirty="0"/>
              <a:t>電話</a:t>
            </a:r>
          </a:p>
        </p:txBody>
      </p:sp>
      <p:sp>
        <p:nvSpPr>
          <p:cNvPr id="21" name="テキスト プレースホルダー 3">
            <a:extLst>
              <a:ext uri="{FF2B5EF4-FFF2-40B4-BE49-F238E27FC236}">
                <a16:creationId xmlns:a16="http://schemas.microsoft.com/office/drawing/2014/main" id="{6FC3E352-2D9B-226F-802E-F4484031C5A5}"/>
              </a:ext>
            </a:extLst>
          </p:cNvPr>
          <p:cNvSpPr>
            <a:spLocks noGrp="1"/>
          </p:cNvSpPr>
          <p:nvPr>
            <p:ph type="body" sz="quarter" idx="23" hasCustomPrompt="1"/>
            <p:custDataLst>
              <p:tags r:id="rId7"/>
            </p:custDataLst>
          </p:nvPr>
        </p:nvSpPr>
        <p:spPr>
          <a:xfrm>
            <a:off x="453587" y="3407364"/>
            <a:ext cx="5076688" cy="414625"/>
          </a:xfrm>
          <a:prstGeom prst="rect">
            <a:avLst/>
          </a:prstGeom>
        </p:spPr>
        <p:txBody>
          <a:bodyPr lIns="0" tIns="108000" rIns="0" bIns="0"/>
          <a:lstStyle>
            <a:lvl1pPr marL="0" indent="0" algn="l">
              <a:buFontTx/>
              <a:buNone/>
              <a:defRPr sz="2000" b="0" i="0">
                <a:solidFill>
                  <a:schemeClr val="tx1"/>
                </a:solidFill>
                <a:latin typeface="+mn-lt"/>
                <a:cs typeface="+mn-cs"/>
              </a:defRPr>
            </a:lvl1pPr>
            <a:lvl3pPr marL="1219095" indent="0" algn="l">
              <a:buFontTx/>
              <a:buNone/>
              <a:defRPr b="0" i="0">
                <a:latin typeface="+mn-lt"/>
                <a:cs typeface="+mn-cs"/>
              </a:defRPr>
            </a:lvl3pPr>
          </a:lstStyle>
          <a:p>
            <a:pPr lvl="0"/>
            <a:r>
              <a:rPr kumimoji="1" lang="ja-JP" altLang="en-US" dirty="0"/>
              <a:t>Ｅメール</a:t>
            </a:r>
          </a:p>
        </p:txBody>
      </p:sp>
      <p:sp>
        <p:nvSpPr>
          <p:cNvPr id="3" name="正方形/長方形 2">
            <a:extLst>
              <a:ext uri="{FF2B5EF4-FFF2-40B4-BE49-F238E27FC236}">
                <a16:creationId xmlns:a16="http://schemas.microsoft.com/office/drawing/2014/main" id="{EF9C18C4-731B-F286-4B32-F6EF4C43453A}"/>
              </a:ext>
            </a:extLst>
          </p:cNvPr>
          <p:cNvSpPr/>
          <p:nvPr userDrawn="1"/>
        </p:nvSpPr>
        <p:spPr>
          <a:xfrm>
            <a:off x="10344472" y="0"/>
            <a:ext cx="1847528" cy="501650"/>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spTree>
    <p:extLst>
      <p:ext uri="{BB962C8B-B14F-4D97-AF65-F5344CB8AC3E}">
        <p14:creationId xmlns:p14="http://schemas.microsoft.com/office/powerpoint/2010/main" val="26363171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4.2 Content - Title, Text_Top symbol">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E9BA90B4-646B-0DB5-F397-680E642A0DEE}"/>
              </a:ext>
            </a:extLst>
          </p:cNvPr>
          <p:cNvSpPr>
            <a:spLocks noGrp="1"/>
          </p:cNvSpPr>
          <p:nvPr>
            <p:ph type="body" sz="quarter" idx="13" hasCustomPrompt="1"/>
            <p:custDataLst>
              <p:tags r:id="rId1"/>
            </p:custDataLst>
          </p:nvPr>
        </p:nvSpPr>
        <p:spPr>
          <a:xfrm>
            <a:off x="457200" y="1196975"/>
            <a:ext cx="11280002" cy="5111750"/>
          </a:xfrm>
        </p:spPr>
        <p:txBody>
          <a:bodyPr lIns="0"/>
          <a:lstStyle/>
          <a:p>
            <a:pPr lvl="0"/>
            <a:r>
              <a:rPr lang="ja-JP" altLang="en-US"/>
              <a:t>テキスト</a:t>
            </a:r>
          </a:p>
        </p:txBody>
      </p:sp>
      <p:grpSp>
        <p:nvGrpSpPr>
          <p:cNvPr id="2" name="LOGO RED">
            <a:extLst>
              <a:ext uri="{FF2B5EF4-FFF2-40B4-BE49-F238E27FC236}">
                <a16:creationId xmlns:a16="http://schemas.microsoft.com/office/drawing/2014/main" id="{9AAE67B5-0022-1E2A-1CF7-C34C60CB9E9A}"/>
              </a:ext>
            </a:extLst>
          </p:cNvPr>
          <p:cNvGrpSpPr/>
          <p:nvPr userDrawn="1">
            <p:custDataLst>
              <p:tags r:id="rId2"/>
            </p:custDataLst>
          </p:nvPr>
        </p:nvGrpSpPr>
        <p:grpSpPr>
          <a:xfrm>
            <a:off x="10326931" y="419954"/>
            <a:ext cx="1407869" cy="245006"/>
            <a:chOff x="3245241" y="3110528"/>
            <a:chExt cx="5696307" cy="991307"/>
          </a:xfrm>
          <a:solidFill>
            <a:srgbClr val="ED1C24"/>
          </a:solidFill>
        </p:grpSpPr>
        <p:sp>
          <p:nvSpPr>
            <p:cNvPr id="3" name="Freeform: Shape 2">
              <a:extLst>
                <a:ext uri="{FF2B5EF4-FFF2-40B4-BE49-F238E27FC236}">
                  <a16:creationId xmlns:a16="http://schemas.microsoft.com/office/drawing/2014/main" id="{CAE16E92-F4FC-8810-4D05-72995848F81E}"/>
                </a:ext>
              </a:extLst>
            </p:cNvPr>
            <p:cNvSpPr/>
            <p:nvPr/>
          </p:nvSpPr>
          <p:spPr>
            <a:xfrm>
              <a:off x="3245241" y="3114772"/>
              <a:ext cx="325211" cy="987063"/>
            </a:xfrm>
            <a:custGeom>
              <a:avLst/>
              <a:gdLst>
                <a:gd name="connsiteX0" fmla="*/ 285689 w 325211"/>
                <a:gd name="connsiteY0" fmla="*/ 1849 h 987063"/>
                <a:gd name="connsiteX1" fmla="*/ 43037 w 325211"/>
                <a:gd name="connsiteY1" fmla="*/ 1849 h 987063"/>
                <a:gd name="connsiteX2" fmla="*/ 0 w 325211"/>
                <a:gd name="connsiteY2" fmla="*/ 51753 h 987063"/>
                <a:gd name="connsiteX3" fmla="*/ 0 w 325211"/>
                <a:gd name="connsiteY3" fmla="*/ 945359 h 987063"/>
                <a:gd name="connsiteX4" fmla="*/ 56402 w 325211"/>
                <a:gd name="connsiteY4" fmla="*/ 986312 h 987063"/>
                <a:gd name="connsiteX5" fmla="*/ 279558 w 325211"/>
                <a:gd name="connsiteY5" fmla="*/ 986067 h 987063"/>
                <a:gd name="connsiteX6" fmla="*/ 325048 w 325211"/>
                <a:gd name="connsiteY6" fmla="*/ 923534 h 987063"/>
                <a:gd name="connsiteX7" fmla="*/ 325048 w 325211"/>
                <a:gd name="connsiteY7" fmla="*/ 48320 h 987063"/>
                <a:gd name="connsiteX8" fmla="*/ 285689 w 325211"/>
                <a:gd name="connsiteY8" fmla="*/ 1727 h 98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11" h="987063">
                  <a:moveTo>
                    <a:pt x="285689" y="1849"/>
                  </a:moveTo>
                  <a:cubicBezTo>
                    <a:pt x="265213" y="-235"/>
                    <a:pt x="73568" y="-971"/>
                    <a:pt x="43037" y="1849"/>
                  </a:cubicBezTo>
                  <a:cubicBezTo>
                    <a:pt x="10790" y="4915"/>
                    <a:pt x="0" y="18280"/>
                    <a:pt x="0" y="51753"/>
                  </a:cubicBezTo>
                  <a:lnTo>
                    <a:pt x="0" y="945359"/>
                  </a:lnTo>
                  <a:cubicBezTo>
                    <a:pt x="0" y="985821"/>
                    <a:pt x="27956" y="984718"/>
                    <a:pt x="56402" y="986312"/>
                  </a:cubicBezTo>
                  <a:cubicBezTo>
                    <a:pt x="75530" y="987293"/>
                    <a:pt x="258837" y="987415"/>
                    <a:pt x="279558" y="986067"/>
                  </a:cubicBezTo>
                  <a:cubicBezTo>
                    <a:pt x="322718" y="983124"/>
                    <a:pt x="324803" y="960931"/>
                    <a:pt x="325048" y="923534"/>
                  </a:cubicBezTo>
                  <a:cubicBezTo>
                    <a:pt x="325416" y="859530"/>
                    <a:pt x="325048" y="112447"/>
                    <a:pt x="325048" y="48320"/>
                  </a:cubicBezTo>
                  <a:cubicBezTo>
                    <a:pt x="325048" y="18034"/>
                    <a:pt x="317691" y="5160"/>
                    <a:pt x="285689" y="1727"/>
                  </a:cubicBezTo>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10" name="Freeform: Shape 9">
              <a:extLst>
                <a:ext uri="{FF2B5EF4-FFF2-40B4-BE49-F238E27FC236}">
                  <a16:creationId xmlns:a16="http://schemas.microsoft.com/office/drawing/2014/main" id="{7C20955C-4547-78D6-2FF4-A07A4E7E23A1}"/>
                </a:ext>
              </a:extLst>
            </p:cNvPr>
            <p:cNvSpPr/>
            <p:nvPr/>
          </p:nvSpPr>
          <p:spPr>
            <a:xfrm>
              <a:off x="3759805" y="3115696"/>
              <a:ext cx="1190133" cy="983603"/>
            </a:xfrm>
            <a:custGeom>
              <a:avLst/>
              <a:gdLst>
                <a:gd name="connsiteX0" fmla="*/ 1147704 w 1190133"/>
                <a:gd name="connsiteY0" fmla="*/ 876875 h 983603"/>
                <a:gd name="connsiteX1" fmla="*/ 1058441 w 1190133"/>
                <a:gd name="connsiteY1" fmla="*/ 529511 h 983603"/>
                <a:gd name="connsiteX2" fmla="*/ 385785 w 1190133"/>
                <a:gd name="connsiteY2" fmla="*/ 283426 h 983603"/>
                <a:gd name="connsiteX3" fmla="*/ 353660 w 1190133"/>
                <a:gd name="connsiteY3" fmla="*/ 243454 h 983603"/>
                <a:gd name="connsiteX4" fmla="*/ 397556 w 1190133"/>
                <a:gd name="connsiteY4" fmla="*/ 224081 h 983603"/>
                <a:gd name="connsiteX5" fmla="*/ 1105893 w 1190133"/>
                <a:gd name="connsiteY5" fmla="*/ 227024 h 983603"/>
                <a:gd name="connsiteX6" fmla="*/ 1158739 w 1190133"/>
                <a:gd name="connsiteY6" fmla="*/ 184232 h 983603"/>
                <a:gd name="connsiteX7" fmla="*/ 1159352 w 1190133"/>
                <a:gd name="connsiteY7" fmla="*/ 55243 h 983603"/>
                <a:gd name="connsiteX8" fmla="*/ 1107732 w 1190133"/>
                <a:gd name="connsiteY8" fmla="*/ 435 h 983603"/>
                <a:gd name="connsiteX9" fmla="*/ 285978 w 1190133"/>
                <a:gd name="connsiteY9" fmla="*/ 4726 h 983603"/>
                <a:gd name="connsiteX10" fmla="*/ 2986 w 1190133"/>
                <a:gd name="connsiteY10" fmla="*/ 208877 h 983603"/>
                <a:gd name="connsiteX11" fmla="*/ 118120 w 1190133"/>
                <a:gd name="connsiteY11" fmla="*/ 454595 h 983603"/>
                <a:gd name="connsiteX12" fmla="*/ 795559 w 1190133"/>
                <a:gd name="connsiteY12" fmla="*/ 704848 h 983603"/>
                <a:gd name="connsiteX13" fmla="*/ 837860 w 1190133"/>
                <a:gd name="connsiteY13" fmla="*/ 752177 h 983603"/>
                <a:gd name="connsiteX14" fmla="*/ 785382 w 1190133"/>
                <a:gd name="connsiteY14" fmla="*/ 764193 h 983603"/>
                <a:gd name="connsiteX15" fmla="*/ 78271 w 1190133"/>
                <a:gd name="connsiteY15" fmla="*/ 756223 h 983603"/>
                <a:gd name="connsiteX16" fmla="*/ 25302 w 1190133"/>
                <a:gd name="connsiteY16" fmla="*/ 816059 h 983603"/>
                <a:gd name="connsiteX17" fmla="*/ 25302 w 1190133"/>
                <a:gd name="connsiteY17" fmla="*/ 921261 h 983603"/>
                <a:gd name="connsiteX18" fmla="*/ 75819 w 1190133"/>
                <a:gd name="connsiteY18" fmla="*/ 980361 h 983603"/>
                <a:gd name="connsiteX19" fmla="*/ 862138 w 1190133"/>
                <a:gd name="connsiteY19" fmla="*/ 982200 h 983603"/>
                <a:gd name="connsiteX20" fmla="*/ 1147459 w 1190133"/>
                <a:gd name="connsiteY20" fmla="*/ 876630 h 98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133" h="983603">
                  <a:moveTo>
                    <a:pt x="1147704" y="876875"/>
                  </a:moveTo>
                  <a:cubicBezTo>
                    <a:pt x="1210972" y="792394"/>
                    <a:pt x="1219923" y="617793"/>
                    <a:pt x="1058441" y="529511"/>
                  </a:cubicBezTo>
                  <a:cubicBezTo>
                    <a:pt x="966359" y="479240"/>
                    <a:pt x="484979" y="323153"/>
                    <a:pt x="385785" y="283426"/>
                  </a:cubicBezTo>
                  <a:cubicBezTo>
                    <a:pt x="358074" y="272269"/>
                    <a:pt x="349982" y="259762"/>
                    <a:pt x="353660" y="243454"/>
                  </a:cubicBezTo>
                  <a:cubicBezTo>
                    <a:pt x="358197" y="223836"/>
                    <a:pt x="385662" y="224327"/>
                    <a:pt x="397556" y="224081"/>
                  </a:cubicBezTo>
                  <a:cubicBezTo>
                    <a:pt x="408101" y="223836"/>
                    <a:pt x="507295" y="224940"/>
                    <a:pt x="1105893" y="227024"/>
                  </a:cubicBezTo>
                  <a:cubicBezTo>
                    <a:pt x="1139489" y="227024"/>
                    <a:pt x="1154815" y="218686"/>
                    <a:pt x="1158739" y="184232"/>
                  </a:cubicBezTo>
                  <a:cubicBezTo>
                    <a:pt x="1160701" y="166821"/>
                    <a:pt x="1159720" y="66156"/>
                    <a:pt x="1159352" y="55243"/>
                  </a:cubicBezTo>
                  <a:cubicBezTo>
                    <a:pt x="1157881" y="16497"/>
                    <a:pt x="1151750" y="557"/>
                    <a:pt x="1107732" y="435"/>
                  </a:cubicBezTo>
                  <a:cubicBezTo>
                    <a:pt x="1058564" y="435"/>
                    <a:pt x="470633" y="-2018"/>
                    <a:pt x="285978" y="4726"/>
                  </a:cubicBezTo>
                  <a:cubicBezTo>
                    <a:pt x="78884" y="12206"/>
                    <a:pt x="17700" y="109438"/>
                    <a:pt x="2986" y="208877"/>
                  </a:cubicBezTo>
                  <a:cubicBezTo>
                    <a:pt x="-11237" y="305987"/>
                    <a:pt x="25057" y="397825"/>
                    <a:pt x="118120" y="454595"/>
                  </a:cubicBezTo>
                  <a:cubicBezTo>
                    <a:pt x="206770" y="508667"/>
                    <a:pt x="513057" y="602957"/>
                    <a:pt x="795559" y="704848"/>
                  </a:cubicBezTo>
                  <a:cubicBezTo>
                    <a:pt x="841048" y="721279"/>
                    <a:pt x="844972" y="737464"/>
                    <a:pt x="837860" y="752177"/>
                  </a:cubicBezTo>
                  <a:cubicBezTo>
                    <a:pt x="832956" y="762231"/>
                    <a:pt x="812479" y="763948"/>
                    <a:pt x="785382" y="764193"/>
                  </a:cubicBezTo>
                  <a:cubicBezTo>
                    <a:pt x="715002" y="764806"/>
                    <a:pt x="114074" y="755242"/>
                    <a:pt x="78271" y="756223"/>
                  </a:cubicBezTo>
                  <a:cubicBezTo>
                    <a:pt x="34375" y="757449"/>
                    <a:pt x="26283" y="770201"/>
                    <a:pt x="25302" y="816059"/>
                  </a:cubicBezTo>
                  <a:cubicBezTo>
                    <a:pt x="25057" y="826971"/>
                    <a:pt x="25302" y="909122"/>
                    <a:pt x="25302" y="921261"/>
                  </a:cubicBezTo>
                  <a:cubicBezTo>
                    <a:pt x="25792" y="963930"/>
                    <a:pt x="33149" y="979993"/>
                    <a:pt x="75819" y="980361"/>
                  </a:cubicBezTo>
                  <a:cubicBezTo>
                    <a:pt x="330364" y="982935"/>
                    <a:pt x="769319" y="985142"/>
                    <a:pt x="862138" y="982200"/>
                  </a:cubicBezTo>
                  <a:cubicBezTo>
                    <a:pt x="1009764" y="977418"/>
                    <a:pt x="1090811" y="952282"/>
                    <a:pt x="1147459" y="876630"/>
                  </a:cubicBezTo>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11" name="Freeform: Shape 10">
              <a:extLst>
                <a:ext uri="{FF2B5EF4-FFF2-40B4-BE49-F238E27FC236}">
                  <a16:creationId xmlns:a16="http://schemas.microsoft.com/office/drawing/2014/main" id="{B7681201-3CFD-98D8-8456-A6BDB3111A18}"/>
                </a:ext>
              </a:extLst>
            </p:cNvPr>
            <p:cNvSpPr/>
            <p:nvPr/>
          </p:nvSpPr>
          <p:spPr>
            <a:xfrm>
              <a:off x="6425095" y="3112314"/>
              <a:ext cx="1195260" cy="985036"/>
            </a:xfrm>
            <a:custGeom>
              <a:avLst/>
              <a:gdLst>
                <a:gd name="connsiteX0" fmla="*/ 1177332 w 1195260"/>
                <a:gd name="connsiteY0" fmla="*/ 129741 h 985036"/>
                <a:gd name="connsiteX1" fmla="*/ 907951 w 1195260"/>
                <a:gd name="connsiteY1" fmla="*/ 1978 h 985036"/>
                <a:gd name="connsiteX2" fmla="*/ 86687 w 1195260"/>
                <a:gd name="connsiteY2" fmla="*/ 1732 h 985036"/>
                <a:gd name="connsiteX3" fmla="*/ 34699 w 1195260"/>
                <a:gd name="connsiteY3" fmla="*/ 63775 h 985036"/>
                <a:gd name="connsiteX4" fmla="*/ 35924 w 1195260"/>
                <a:gd name="connsiteY4" fmla="*/ 186879 h 985036"/>
                <a:gd name="connsiteX5" fmla="*/ 87177 w 1195260"/>
                <a:gd name="connsiteY5" fmla="*/ 225870 h 985036"/>
                <a:gd name="connsiteX6" fmla="*/ 810596 w 1195260"/>
                <a:gd name="connsiteY6" fmla="*/ 221701 h 985036"/>
                <a:gd name="connsiteX7" fmla="*/ 841985 w 1195260"/>
                <a:gd name="connsiteY7" fmla="*/ 242422 h 985036"/>
                <a:gd name="connsiteX8" fmla="*/ 820650 w 1195260"/>
                <a:gd name="connsiteY8" fmla="*/ 268784 h 985036"/>
                <a:gd name="connsiteX9" fmla="*/ 175336 w 1195260"/>
                <a:gd name="connsiteY9" fmla="*/ 559623 h 985036"/>
                <a:gd name="connsiteX10" fmla="*/ 1102 w 1195260"/>
                <a:gd name="connsiteY10" fmla="*/ 799700 h 985036"/>
                <a:gd name="connsiteX11" fmla="*/ 276369 w 1195260"/>
                <a:gd name="connsiteY11" fmla="*/ 982884 h 985036"/>
                <a:gd name="connsiteX12" fmla="*/ 1115289 w 1195260"/>
                <a:gd name="connsiteY12" fmla="*/ 977980 h 985036"/>
                <a:gd name="connsiteX13" fmla="*/ 1167891 w 1195260"/>
                <a:gd name="connsiteY13" fmla="*/ 926728 h 985036"/>
                <a:gd name="connsiteX14" fmla="*/ 1168504 w 1195260"/>
                <a:gd name="connsiteY14" fmla="*/ 828146 h 985036"/>
                <a:gd name="connsiteX15" fmla="*/ 1110630 w 1195260"/>
                <a:gd name="connsiteY15" fmla="*/ 755927 h 985036"/>
                <a:gd name="connsiteX16" fmla="*/ 408301 w 1195260"/>
                <a:gd name="connsiteY16" fmla="*/ 764878 h 985036"/>
                <a:gd name="connsiteX17" fmla="*/ 386108 w 1195260"/>
                <a:gd name="connsiteY17" fmla="*/ 738639 h 985036"/>
                <a:gd name="connsiteX18" fmla="*/ 435644 w 1195260"/>
                <a:gd name="connsiteY18" fmla="*/ 708966 h 985036"/>
                <a:gd name="connsiteX19" fmla="*/ 1067838 w 1195260"/>
                <a:gd name="connsiteY19" fmla="*/ 411016 h 985036"/>
                <a:gd name="connsiteX20" fmla="*/ 1177454 w 1195260"/>
                <a:gd name="connsiteY20" fmla="*/ 129741 h 98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260" h="985036">
                  <a:moveTo>
                    <a:pt x="1177332" y="129741"/>
                  </a:moveTo>
                  <a:cubicBezTo>
                    <a:pt x="1140057" y="42440"/>
                    <a:pt x="1063301" y="7373"/>
                    <a:pt x="907951" y="1978"/>
                  </a:cubicBezTo>
                  <a:cubicBezTo>
                    <a:pt x="787667" y="-2191"/>
                    <a:pt x="102872" y="1487"/>
                    <a:pt x="86687" y="1732"/>
                  </a:cubicBezTo>
                  <a:cubicBezTo>
                    <a:pt x="38500" y="2468"/>
                    <a:pt x="35434" y="21473"/>
                    <a:pt x="34699" y="63775"/>
                  </a:cubicBezTo>
                  <a:cubicBezTo>
                    <a:pt x="34453" y="74565"/>
                    <a:pt x="34453" y="170816"/>
                    <a:pt x="35924" y="186879"/>
                  </a:cubicBezTo>
                  <a:cubicBezTo>
                    <a:pt x="39113" y="222069"/>
                    <a:pt x="62532" y="225870"/>
                    <a:pt x="87177" y="225870"/>
                  </a:cubicBezTo>
                  <a:cubicBezTo>
                    <a:pt x="103117" y="225870"/>
                    <a:pt x="765229" y="221578"/>
                    <a:pt x="810596" y="221701"/>
                  </a:cubicBezTo>
                  <a:cubicBezTo>
                    <a:pt x="831930" y="221701"/>
                    <a:pt x="840636" y="228935"/>
                    <a:pt x="841985" y="242422"/>
                  </a:cubicBezTo>
                  <a:cubicBezTo>
                    <a:pt x="843088" y="254071"/>
                    <a:pt x="836344" y="261550"/>
                    <a:pt x="820650" y="268784"/>
                  </a:cubicBezTo>
                  <a:cubicBezTo>
                    <a:pt x="617357" y="362706"/>
                    <a:pt x="276737" y="510210"/>
                    <a:pt x="175336" y="559623"/>
                  </a:cubicBezTo>
                  <a:cubicBezTo>
                    <a:pt x="27342" y="631842"/>
                    <a:pt x="-6990" y="715710"/>
                    <a:pt x="1102" y="799700"/>
                  </a:cubicBezTo>
                  <a:cubicBezTo>
                    <a:pt x="10053" y="893009"/>
                    <a:pt x="67191" y="976141"/>
                    <a:pt x="276369" y="982884"/>
                  </a:cubicBezTo>
                  <a:cubicBezTo>
                    <a:pt x="460167" y="988770"/>
                    <a:pt x="986300" y="981045"/>
                    <a:pt x="1115289" y="977980"/>
                  </a:cubicBezTo>
                  <a:cubicBezTo>
                    <a:pt x="1161883" y="976876"/>
                    <a:pt x="1163967" y="959833"/>
                    <a:pt x="1167891" y="926728"/>
                  </a:cubicBezTo>
                  <a:cubicBezTo>
                    <a:pt x="1169485" y="912750"/>
                    <a:pt x="1168626" y="839059"/>
                    <a:pt x="1168504" y="828146"/>
                  </a:cubicBezTo>
                  <a:cubicBezTo>
                    <a:pt x="1167891" y="769415"/>
                    <a:pt x="1161883" y="755559"/>
                    <a:pt x="1110630" y="755927"/>
                  </a:cubicBezTo>
                  <a:cubicBezTo>
                    <a:pt x="1070903" y="756295"/>
                    <a:pt x="555315" y="766349"/>
                    <a:pt x="408301" y="764878"/>
                  </a:cubicBezTo>
                  <a:cubicBezTo>
                    <a:pt x="385005" y="764633"/>
                    <a:pt x="378261" y="752126"/>
                    <a:pt x="386108" y="738639"/>
                  </a:cubicBezTo>
                  <a:cubicBezTo>
                    <a:pt x="391135" y="730056"/>
                    <a:pt x="406340" y="722086"/>
                    <a:pt x="435644" y="708966"/>
                  </a:cubicBezTo>
                  <a:cubicBezTo>
                    <a:pt x="558748" y="653545"/>
                    <a:pt x="897528" y="513153"/>
                    <a:pt x="1067838" y="411016"/>
                  </a:cubicBezTo>
                  <a:cubicBezTo>
                    <a:pt x="1169117" y="350322"/>
                    <a:pt x="1226500" y="244507"/>
                    <a:pt x="1177454" y="129741"/>
                  </a:cubicBezTo>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12" name="Freeform: Shape 11">
              <a:extLst>
                <a:ext uri="{FF2B5EF4-FFF2-40B4-BE49-F238E27FC236}">
                  <a16:creationId xmlns:a16="http://schemas.microsoft.com/office/drawing/2014/main" id="{38EDBE2B-4E80-08A8-1467-FF71E661305B}"/>
                </a:ext>
              </a:extLst>
            </p:cNvPr>
            <p:cNvSpPr/>
            <p:nvPr/>
          </p:nvSpPr>
          <p:spPr>
            <a:xfrm>
              <a:off x="5124603" y="3113017"/>
              <a:ext cx="1126334" cy="986320"/>
            </a:xfrm>
            <a:custGeom>
              <a:avLst/>
              <a:gdLst>
                <a:gd name="connsiteX0" fmla="*/ 1083833 w 1126334"/>
                <a:gd name="connsiteY0" fmla="*/ 1888 h 986320"/>
                <a:gd name="connsiteX1" fmla="*/ 849519 w 1126334"/>
                <a:gd name="connsiteY1" fmla="*/ 1520 h 986320"/>
                <a:gd name="connsiteX2" fmla="*/ 805011 w 1126334"/>
                <a:gd name="connsiteY2" fmla="*/ 51914 h 986320"/>
                <a:gd name="connsiteX3" fmla="*/ 805011 w 1126334"/>
                <a:gd name="connsiteY3" fmla="*/ 576209 h 986320"/>
                <a:gd name="connsiteX4" fmla="*/ 661798 w 1126334"/>
                <a:gd name="connsiteY4" fmla="*/ 757309 h 986320"/>
                <a:gd name="connsiteX5" fmla="*/ 462674 w 1126334"/>
                <a:gd name="connsiteY5" fmla="*/ 755715 h 986320"/>
                <a:gd name="connsiteX6" fmla="*/ 319707 w 1126334"/>
                <a:gd name="connsiteY6" fmla="*/ 559656 h 986320"/>
                <a:gd name="connsiteX7" fmla="*/ 320688 w 1126334"/>
                <a:gd name="connsiteY7" fmla="*/ 60007 h 986320"/>
                <a:gd name="connsiteX8" fmla="*/ 272869 w 1126334"/>
                <a:gd name="connsiteY8" fmla="*/ 2378 h 986320"/>
                <a:gd name="connsiteX9" fmla="*/ 47874 w 1126334"/>
                <a:gd name="connsiteY9" fmla="*/ 2378 h 986320"/>
                <a:gd name="connsiteX10" fmla="*/ 1035 w 1126334"/>
                <a:gd name="connsiteY10" fmla="*/ 53631 h 986320"/>
                <a:gd name="connsiteX11" fmla="*/ 1035 w 1126334"/>
                <a:gd name="connsiteY11" fmla="*/ 647692 h 986320"/>
                <a:gd name="connsiteX12" fmla="*/ 338222 w 1126334"/>
                <a:gd name="connsiteY12" fmla="*/ 982059 h 986320"/>
                <a:gd name="connsiteX13" fmla="*/ 818744 w 1126334"/>
                <a:gd name="connsiteY13" fmla="*/ 979239 h 986320"/>
                <a:gd name="connsiteX14" fmla="*/ 1121108 w 1126334"/>
                <a:gd name="connsiteY14" fmla="*/ 672215 h 986320"/>
                <a:gd name="connsiteX15" fmla="*/ 1125890 w 1126334"/>
                <a:gd name="connsiteY15" fmla="*/ 59026 h 986320"/>
                <a:gd name="connsiteX16" fmla="*/ 1083588 w 1126334"/>
                <a:gd name="connsiteY16" fmla="*/ 1888 h 9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334" h="986320">
                  <a:moveTo>
                    <a:pt x="1083833" y="1888"/>
                  </a:moveTo>
                  <a:cubicBezTo>
                    <a:pt x="1053671" y="-564"/>
                    <a:pt x="868524" y="-564"/>
                    <a:pt x="849519" y="1520"/>
                  </a:cubicBezTo>
                  <a:cubicBezTo>
                    <a:pt x="825732" y="4218"/>
                    <a:pt x="805011" y="8141"/>
                    <a:pt x="805011" y="51914"/>
                  </a:cubicBezTo>
                  <a:cubicBezTo>
                    <a:pt x="805011" y="80115"/>
                    <a:pt x="805011" y="495775"/>
                    <a:pt x="805011" y="576209"/>
                  </a:cubicBezTo>
                  <a:cubicBezTo>
                    <a:pt x="805011" y="679695"/>
                    <a:pt x="788213" y="749094"/>
                    <a:pt x="661798" y="757309"/>
                  </a:cubicBezTo>
                  <a:cubicBezTo>
                    <a:pt x="587127" y="762091"/>
                    <a:pt x="533545" y="762091"/>
                    <a:pt x="462674" y="755715"/>
                  </a:cubicBezTo>
                  <a:cubicBezTo>
                    <a:pt x="342759" y="744925"/>
                    <a:pt x="319707" y="703972"/>
                    <a:pt x="319707" y="559656"/>
                  </a:cubicBezTo>
                  <a:cubicBezTo>
                    <a:pt x="319707" y="469658"/>
                    <a:pt x="320811" y="96423"/>
                    <a:pt x="320688" y="60007"/>
                  </a:cubicBezTo>
                  <a:cubicBezTo>
                    <a:pt x="320688" y="23468"/>
                    <a:pt x="316887" y="4095"/>
                    <a:pt x="272869" y="2378"/>
                  </a:cubicBezTo>
                  <a:cubicBezTo>
                    <a:pt x="241358" y="1152"/>
                    <a:pt x="67369" y="1152"/>
                    <a:pt x="47874" y="2378"/>
                  </a:cubicBezTo>
                  <a:cubicBezTo>
                    <a:pt x="24455" y="3727"/>
                    <a:pt x="1035" y="8632"/>
                    <a:pt x="1035" y="53631"/>
                  </a:cubicBezTo>
                  <a:cubicBezTo>
                    <a:pt x="1035" y="80483"/>
                    <a:pt x="-1294" y="389469"/>
                    <a:pt x="1035" y="647692"/>
                  </a:cubicBezTo>
                  <a:cubicBezTo>
                    <a:pt x="4101" y="981201"/>
                    <a:pt x="231426" y="972863"/>
                    <a:pt x="338222" y="982059"/>
                  </a:cubicBezTo>
                  <a:cubicBezTo>
                    <a:pt x="402962" y="987577"/>
                    <a:pt x="690490" y="988803"/>
                    <a:pt x="818744" y="979239"/>
                  </a:cubicBezTo>
                  <a:cubicBezTo>
                    <a:pt x="1051464" y="961950"/>
                    <a:pt x="1115835" y="841789"/>
                    <a:pt x="1121108" y="672215"/>
                  </a:cubicBezTo>
                  <a:cubicBezTo>
                    <a:pt x="1124541" y="560514"/>
                    <a:pt x="1127484" y="157730"/>
                    <a:pt x="1125890" y="59026"/>
                  </a:cubicBezTo>
                  <a:cubicBezTo>
                    <a:pt x="1125277" y="22242"/>
                    <a:pt x="1119391" y="4708"/>
                    <a:pt x="1083588" y="1888"/>
                  </a:cubicBezTo>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メイリオ"/>
                <a:cs typeface="+mn-cs"/>
              </a:endParaRPr>
            </a:p>
          </p:txBody>
        </p:sp>
        <p:sp>
          <p:nvSpPr>
            <p:cNvPr id="13" name="Freeform: Shape 12">
              <a:extLst>
                <a:ext uri="{FF2B5EF4-FFF2-40B4-BE49-F238E27FC236}">
                  <a16:creationId xmlns:a16="http://schemas.microsoft.com/office/drawing/2014/main" id="{18244B78-A35B-FC76-EC6C-C91331357073}"/>
                </a:ext>
              </a:extLst>
            </p:cNvPr>
            <p:cNvSpPr/>
            <p:nvPr/>
          </p:nvSpPr>
          <p:spPr>
            <a:xfrm>
              <a:off x="7821760" y="3110528"/>
              <a:ext cx="1119788" cy="983926"/>
            </a:xfrm>
            <a:custGeom>
              <a:avLst/>
              <a:gdLst>
                <a:gd name="connsiteX0" fmla="*/ 1119236 w 1119788"/>
                <a:gd name="connsiteY0" fmla="*/ 55139 h 983926"/>
                <a:gd name="connsiteX1" fmla="*/ 1076321 w 1119788"/>
                <a:gd name="connsiteY1" fmla="*/ 1557 h 983926"/>
                <a:gd name="connsiteX2" fmla="*/ 849977 w 1119788"/>
                <a:gd name="connsiteY2" fmla="*/ 1312 h 983926"/>
                <a:gd name="connsiteX3" fmla="*/ 802035 w 1119788"/>
                <a:gd name="connsiteY3" fmla="*/ 50235 h 983926"/>
                <a:gd name="connsiteX4" fmla="*/ 799828 w 1119788"/>
                <a:gd name="connsiteY4" fmla="*/ 601995 h 983926"/>
                <a:gd name="connsiteX5" fmla="*/ 703086 w 1119788"/>
                <a:gd name="connsiteY5" fmla="*/ 748027 h 983926"/>
                <a:gd name="connsiteX6" fmla="*/ 443269 w 1119788"/>
                <a:gd name="connsiteY6" fmla="*/ 755261 h 983926"/>
                <a:gd name="connsiteX7" fmla="*/ 326786 w 1119788"/>
                <a:gd name="connsiteY7" fmla="*/ 603098 h 983926"/>
                <a:gd name="connsiteX8" fmla="*/ 325560 w 1119788"/>
                <a:gd name="connsiteY8" fmla="*/ 51338 h 983926"/>
                <a:gd name="connsiteX9" fmla="*/ 280438 w 1119788"/>
                <a:gd name="connsiteY9" fmla="*/ 2661 h 983926"/>
                <a:gd name="connsiteX10" fmla="*/ 49557 w 1119788"/>
                <a:gd name="connsiteY10" fmla="*/ 2661 h 983926"/>
                <a:gd name="connsiteX11" fmla="*/ 880 w 1119788"/>
                <a:gd name="connsiteY11" fmla="*/ 59185 h 983926"/>
                <a:gd name="connsiteX12" fmla="*/ 5662 w 1119788"/>
                <a:gd name="connsiteY12" fmla="*/ 692115 h 983926"/>
                <a:gd name="connsiteX13" fmla="*/ 278844 w 1119788"/>
                <a:gd name="connsiteY13" fmla="*/ 974862 h 983926"/>
                <a:gd name="connsiteX14" fmla="*/ 897183 w 1119788"/>
                <a:gd name="connsiteY14" fmla="*/ 964194 h 983926"/>
                <a:gd name="connsiteX15" fmla="*/ 1117029 w 1119788"/>
                <a:gd name="connsiteY15" fmla="*/ 612171 h 983926"/>
                <a:gd name="connsiteX16" fmla="*/ 1119236 w 1119788"/>
                <a:gd name="connsiteY16" fmla="*/ 54894 h 98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19788" h="983926">
                  <a:moveTo>
                    <a:pt x="1119236" y="55139"/>
                  </a:moveTo>
                  <a:cubicBezTo>
                    <a:pt x="1119236" y="22034"/>
                    <a:pt x="1111389" y="4132"/>
                    <a:pt x="1076321" y="1557"/>
                  </a:cubicBezTo>
                  <a:cubicBezTo>
                    <a:pt x="1042847" y="-895"/>
                    <a:pt x="865917" y="-37"/>
                    <a:pt x="849977" y="1312"/>
                  </a:cubicBezTo>
                  <a:cubicBezTo>
                    <a:pt x="812212" y="4377"/>
                    <a:pt x="802648" y="15045"/>
                    <a:pt x="802035" y="50235"/>
                  </a:cubicBezTo>
                  <a:cubicBezTo>
                    <a:pt x="801545" y="78436"/>
                    <a:pt x="801422" y="523032"/>
                    <a:pt x="799828" y="601995"/>
                  </a:cubicBezTo>
                  <a:cubicBezTo>
                    <a:pt x="797499" y="718355"/>
                    <a:pt x="758753" y="733927"/>
                    <a:pt x="703086" y="748027"/>
                  </a:cubicBezTo>
                  <a:cubicBezTo>
                    <a:pt x="647052" y="762250"/>
                    <a:pt x="466197" y="758204"/>
                    <a:pt x="443269" y="755261"/>
                  </a:cubicBezTo>
                  <a:cubicBezTo>
                    <a:pt x="373134" y="746065"/>
                    <a:pt x="328380" y="718109"/>
                    <a:pt x="326786" y="603098"/>
                  </a:cubicBezTo>
                  <a:cubicBezTo>
                    <a:pt x="325315" y="492010"/>
                    <a:pt x="325560" y="87632"/>
                    <a:pt x="325560" y="51338"/>
                  </a:cubicBezTo>
                  <a:cubicBezTo>
                    <a:pt x="325560" y="15045"/>
                    <a:pt x="310846" y="4377"/>
                    <a:pt x="280438" y="2661"/>
                  </a:cubicBezTo>
                  <a:cubicBezTo>
                    <a:pt x="253586" y="1067"/>
                    <a:pt x="88671" y="454"/>
                    <a:pt x="49557" y="2661"/>
                  </a:cubicBezTo>
                  <a:cubicBezTo>
                    <a:pt x="3577" y="5358"/>
                    <a:pt x="1493" y="24731"/>
                    <a:pt x="880" y="59185"/>
                  </a:cubicBezTo>
                  <a:cubicBezTo>
                    <a:pt x="-224" y="127236"/>
                    <a:pt x="-1573" y="611191"/>
                    <a:pt x="5662" y="692115"/>
                  </a:cubicBezTo>
                  <a:cubicBezTo>
                    <a:pt x="22950" y="883392"/>
                    <a:pt x="116014" y="961252"/>
                    <a:pt x="278844" y="974862"/>
                  </a:cubicBezTo>
                  <a:cubicBezTo>
                    <a:pt x="429536" y="987491"/>
                    <a:pt x="788548" y="989453"/>
                    <a:pt x="897183" y="964194"/>
                  </a:cubicBezTo>
                  <a:cubicBezTo>
                    <a:pt x="1073011" y="923119"/>
                    <a:pt x="1108813" y="785547"/>
                    <a:pt x="1117029" y="612171"/>
                  </a:cubicBezTo>
                  <a:cubicBezTo>
                    <a:pt x="1121320" y="521070"/>
                    <a:pt x="1119358" y="96705"/>
                    <a:pt x="1119236" y="54894"/>
                  </a:cubicBezTo>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メイリオ"/>
                <a:cs typeface="+mn-cs"/>
              </a:endParaRPr>
            </a:p>
          </p:txBody>
        </p:sp>
      </p:grpSp>
      <p:sp>
        <p:nvSpPr>
          <p:cNvPr id="14" name="Date Placeholder 13">
            <a:extLst>
              <a:ext uri="{FF2B5EF4-FFF2-40B4-BE49-F238E27FC236}">
                <a16:creationId xmlns:a16="http://schemas.microsoft.com/office/drawing/2014/main" id="{2A4872FD-E674-A0A3-1BF2-2BF061982F8B}"/>
              </a:ext>
            </a:extLst>
          </p:cNvPr>
          <p:cNvSpPr>
            <a:spLocks noGrp="1"/>
          </p:cNvSpPr>
          <p:nvPr>
            <p:ph type="dt" sz="half" idx="14"/>
            <p:custDataLst>
              <p:tags r:id="rId3"/>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2862787-5728-4106-B48F-7EDD6AFD7F32}" type="datetime1">
              <a:rPr kumimoji="0" lang="en-US" altLang="ja-JP" sz="1800" b="0" i="0" u="none" strike="noStrike" kern="1200" cap="none" spc="0" normalizeH="0" baseline="0" noProof="0" smtClean="0">
                <a:ln>
                  <a:noFill/>
                </a:ln>
                <a:solidFill>
                  <a:srgbClr val="000000"/>
                </a:solidFill>
                <a:effectLst/>
                <a:uLnTx/>
                <a:uFillTx/>
                <a:latin typeface="Arial"/>
                <a:ea typeface="メイリオ"/>
                <a:cs typeface="+mn-cs"/>
              </a:rPr>
              <a:pPr marL="0" marR="0" lvl="0" indent="0" algn="l" defTabSz="914400" rtl="0" eaLnBrk="1" fontAlgn="auto" latinLnBrk="0" hangingPunct="1">
                <a:lnSpc>
                  <a:spcPct val="100000"/>
                </a:lnSpc>
                <a:spcBef>
                  <a:spcPts val="0"/>
                </a:spcBef>
                <a:spcAft>
                  <a:spcPts val="0"/>
                </a:spcAft>
                <a:buClrTx/>
                <a:buSzTx/>
                <a:buFontTx/>
                <a:buNone/>
                <a:tabLst/>
                <a:defRPr/>
              </a:pPr>
              <a:t>4/13/2026</a:t>
            </a:fld>
            <a:endParaRPr kumimoji="0" lang="ja-JP" altLang="en-US" sz="1800" b="0" i="0" u="none" strike="noStrike" kern="1200" cap="none" spc="0" normalizeH="0" baseline="0" noProof="0">
              <a:ln>
                <a:noFill/>
              </a:ln>
              <a:solidFill>
                <a:srgbClr val="000000"/>
              </a:solidFill>
              <a:effectLst/>
              <a:uLnTx/>
              <a:uFillTx/>
              <a:latin typeface="Arial"/>
              <a:ea typeface="メイリオ"/>
              <a:cs typeface="+mn-cs"/>
            </a:endParaRPr>
          </a:p>
        </p:txBody>
      </p:sp>
      <p:sp>
        <p:nvSpPr>
          <p:cNvPr id="15" name="Footer Placeholder 14">
            <a:extLst>
              <a:ext uri="{FF2B5EF4-FFF2-40B4-BE49-F238E27FC236}">
                <a16:creationId xmlns:a16="http://schemas.microsoft.com/office/drawing/2014/main" id="{2C7429F2-01F7-7986-A76C-1FC08769BF9B}"/>
              </a:ext>
            </a:extLst>
          </p:cNvPr>
          <p:cNvSpPr>
            <a:spLocks noGrp="1"/>
          </p:cNvSpPr>
          <p:nvPr>
            <p:ph type="ftr" sz="quarter" idx="15"/>
            <p:custDataLst>
              <p:tags r:id="rId4"/>
            </p:custDataLst>
          </p:nvPr>
        </p:nvSpPr>
        <p:spPr/>
        <p:txBody>
          <a:bodyPr/>
          <a:lstStyle>
            <a:lvl1pPr>
              <a:defRPr lang="ja-JP" altLang="en-US" dirty="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E" altLang="en-US" sz="1800" b="0" i="0" u="none" strike="noStrike" kern="1200" cap="none" spc="0" normalizeH="0" baseline="0" noProof="0">
              <a:ln>
                <a:noFill/>
              </a:ln>
              <a:solidFill>
                <a:srgbClr val="000000"/>
              </a:solidFill>
              <a:effectLst/>
              <a:uLnTx/>
              <a:uFillTx/>
              <a:latin typeface="Arial"/>
              <a:ea typeface="メイリオ"/>
              <a:cs typeface="+mn-cs"/>
            </a:endParaRPr>
          </a:p>
        </p:txBody>
      </p:sp>
      <p:sp>
        <p:nvSpPr>
          <p:cNvPr id="16" name="Slide Number Placeholder 15">
            <a:extLst>
              <a:ext uri="{FF2B5EF4-FFF2-40B4-BE49-F238E27FC236}">
                <a16:creationId xmlns:a16="http://schemas.microsoft.com/office/drawing/2014/main" id="{B44F69F9-A571-CE39-1831-6D21BF3B7034}"/>
              </a:ext>
            </a:extLst>
          </p:cNvPr>
          <p:cNvSpPr>
            <a:spLocks noGrp="1"/>
          </p:cNvSpPr>
          <p:nvPr>
            <p:ph type="sldNum" sz="quarter" idx="16"/>
            <p:custDataLst>
              <p:tags r:id="rId5"/>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EA36FB-EA35-45B6-87A5-93E7705983EC}" type="slidenum">
              <a:rPr kumimoji="0" lang="en-US" altLang="ja-JP" sz="800" b="0" i="0" u="none" strike="noStrike" kern="1200" cap="none" spc="0" normalizeH="0" baseline="0" noProof="0" smtClean="0">
                <a:ln>
                  <a:noFill/>
                </a:ln>
                <a:solidFill>
                  <a:srgbClr val="000000">
                    <a:tint val="82000"/>
                  </a:srgbClr>
                </a:solidFill>
                <a:effectLst/>
                <a:uLnTx/>
                <a:uFillTx/>
                <a:latin typeface="Arial"/>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ja-JP" altLang="en-US" sz="800" b="0" i="0" u="none" strike="noStrike" kern="1200" cap="none" spc="0" normalizeH="0" baseline="0" noProof="0">
              <a:ln>
                <a:noFill/>
              </a:ln>
              <a:solidFill>
                <a:srgbClr val="000000">
                  <a:tint val="82000"/>
                </a:srgbClr>
              </a:solidFill>
              <a:effectLst/>
              <a:uLnTx/>
              <a:uFillTx/>
              <a:latin typeface="Arial"/>
              <a:ea typeface="メイリオ"/>
              <a:cs typeface="+mn-cs"/>
            </a:endParaRPr>
          </a:p>
        </p:txBody>
      </p:sp>
      <p:sp>
        <p:nvSpPr>
          <p:cNvPr id="4" name="Title 3">
            <a:extLst>
              <a:ext uri="{FF2B5EF4-FFF2-40B4-BE49-F238E27FC236}">
                <a16:creationId xmlns:a16="http://schemas.microsoft.com/office/drawing/2014/main" id="{48B9BA77-F92B-81EE-6C99-81A193831470}"/>
              </a:ext>
            </a:extLst>
          </p:cNvPr>
          <p:cNvSpPr>
            <a:spLocks noGrp="1"/>
          </p:cNvSpPr>
          <p:nvPr>
            <p:ph type="title" hasCustomPrompt="1"/>
            <p:custDataLst>
              <p:tags r:id="rId6"/>
            </p:custDataLst>
          </p:nvPr>
        </p:nvSpPr>
        <p:spPr>
          <a:xfrm>
            <a:off x="457200" y="419954"/>
            <a:ext cx="9481495" cy="518746"/>
          </a:xfrm>
        </p:spPr>
        <p:txBody>
          <a:bodyPr tIns="93600" anchor="t" anchorCtr="0"/>
          <a:lstStyle/>
          <a:p>
            <a:r>
              <a:rPr lang="ja-JP" altLang="en-US"/>
              <a:t>タイトル</a:t>
            </a:r>
          </a:p>
        </p:txBody>
      </p:sp>
    </p:spTree>
    <p:extLst>
      <p:ext uri="{BB962C8B-B14F-4D97-AF65-F5344CB8AC3E}">
        <p14:creationId xmlns:p14="http://schemas.microsoft.com/office/powerpoint/2010/main" val="1592517121"/>
      </p:ext>
    </p:extLst>
  </p:cSld>
  <p:clrMapOvr>
    <a:masterClrMapping/>
  </p:clrMapOvr>
  <p:extLst>
    <p:ext uri="{DCECCB84-F9BA-43D5-87BE-67443E8EF086}">
      <p15:sldGuideLst xmlns:p15="http://schemas.microsoft.com/office/powerpoint/2012/main">
        <p15:guide id="1" orient="horz" pos="397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211DE3-ED50-7E85-B531-40A7C7B5554E}"/>
              </a:ext>
            </a:extLst>
          </p:cNvPr>
          <p:cNvSpPr>
            <a:spLocks noGrp="1"/>
          </p:cNvSpPr>
          <p:nvPr>
            <p:ph type="dt" sz="half" idx="10"/>
          </p:nvPr>
        </p:nvSpPr>
        <p:spPr/>
        <p:txBody>
          <a:bodyPr/>
          <a:lstStyle/>
          <a:p>
            <a:fld id="{A1C2CD57-D07C-4F58-B684-DD0694764F2C}" type="datetimeFigureOut">
              <a:rPr lang="en-GB" smtClean="0"/>
              <a:t>13/04/2026</a:t>
            </a:fld>
            <a:endParaRPr lang="en-GB"/>
          </a:p>
        </p:txBody>
      </p:sp>
      <p:sp>
        <p:nvSpPr>
          <p:cNvPr id="3" name="Footer Placeholder 2">
            <a:extLst>
              <a:ext uri="{FF2B5EF4-FFF2-40B4-BE49-F238E27FC236}">
                <a16:creationId xmlns:a16="http://schemas.microsoft.com/office/drawing/2014/main" id="{E2ED1FC4-5992-DFAC-88FB-F02145917B0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5B5E284-F115-4140-5AC3-8115B0850852}"/>
              </a:ext>
            </a:extLst>
          </p:cNvPr>
          <p:cNvSpPr>
            <a:spLocks noGrp="1"/>
          </p:cNvSpPr>
          <p:nvPr>
            <p:ph type="sldNum" sz="quarter" idx="12"/>
          </p:nvPr>
        </p:nvSpPr>
        <p:spPr/>
        <p:txBody>
          <a:bodyPr/>
          <a:lstStyle/>
          <a:p>
            <a:fld id="{D25A253E-0C63-4E4E-90F7-CB3C81971826}" type="slidenum">
              <a:rPr lang="en-GB" smtClean="0"/>
              <a:t>‹#›</a:t>
            </a:fld>
            <a:endParaRPr lang="en-GB"/>
          </a:p>
        </p:txBody>
      </p:sp>
    </p:spTree>
    <p:extLst>
      <p:ext uri="{BB962C8B-B14F-4D97-AF65-F5344CB8AC3E}">
        <p14:creationId xmlns:p14="http://schemas.microsoft.com/office/powerpoint/2010/main" val="419705243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3.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2AE600-C2A6-1EDB-B246-A18C04F0670A}"/>
              </a:ext>
            </a:extLst>
          </p:cNvPr>
          <p:cNvSpPr>
            <a:spLocks noGrp="1"/>
          </p:cNvSpPr>
          <p:nvPr>
            <p:ph type="title"/>
            <p:custDataLst>
              <p:tags r:id="rId44"/>
            </p:custDataLst>
          </p:nvPr>
        </p:nvSpPr>
        <p:spPr>
          <a:xfrm>
            <a:off x="457200" y="419954"/>
            <a:ext cx="11277600" cy="518746"/>
          </a:xfrm>
          <a:prstGeom prst="rect">
            <a:avLst/>
          </a:prstGeom>
        </p:spPr>
        <p:txBody>
          <a:bodyPr vert="horz" lIns="0" tIns="108000" rIns="0" bIns="0" rtlCol="0" anchor="ctr">
            <a:noAutofit/>
          </a:bodyPr>
          <a:lstStyle/>
          <a:p>
            <a:r>
              <a:rPr lang="ja-JP" altLang="en-US" dirty="0"/>
              <a:t>タイトル</a:t>
            </a:r>
          </a:p>
        </p:txBody>
      </p:sp>
      <p:sp>
        <p:nvSpPr>
          <p:cNvPr id="3" name="Text Placeholder 2">
            <a:extLst>
              <a:ext uri="{FF2B5EF4-FFF2-40B4-BE49-F238E27FC236}">
                <a16:creationId xmlns:a16="http://schemas.microsoft.com/office/drawing/2014/main" id="{C52097CC-E049-FF7A-0DA3-BE73850E959E}"/>
              </a:ext>
            </a:extLst>
          </p:cNvPr>
          <p:cNvSpPr>
            <a:spLocks noGrp="1"/>
          </p:cNvSpPr>
          <p:nvPr>
            <p:ph type="body" idx="1"/>
            <p:custDataLst>
              <p:tags r:id="rId45"/>
            </p:custDataLst>
          </p:nvPr>
        </p:nvSpPr>
        <p:spPr>
          <a:xfrm>
            <a:off x="457200" y="1196975"/>
            <a:ext cx="11277600" cy="5111750"/>
          </a:xfrm>
          <a:prstGeom prst="rect">
            <a:avLst/>
          </a:prstGeom>
        </p:spPr>
        <p:txBody>
          <a:bodyPr vert="horz" lIns="0" tIns="45720" rIns="91440" bIns="45720" rtlCol="0">
            <a:noAutofit/>
          </a:bodyPr>
          <a:lstStyle/>
          <a:p>
            <a:pPr lvl="0"/>
            <a:r>
              <a:rPr lang="ja-JP" altLang="en-US" dirty="0"/>
              <a:t>テキスト</a:t>
            </a:r>
          </a:p>
          <a:p>
            <a:pPr lvl="1"/>
            <a:r>
              <a:rPr lang="ja-JP" altLang="en-US" dirty="0"/>
              <a:t>テキスト</a:t>
            </a:r>
          </a:p>
          <a:p>
            <a:pPr lvl="2"/>
            <a:r>
              <a:rPr lang="ja-JP" altLang="en-US" dirty="0"/>
              <a:t>テキスト</a:t>
            </a:r>
          </a:p>
          <a:p>
            <a:pPr lvl="3"/>
            <a:r>
              <a:rPr lang="ja-JP" altLang="en-US" dirty="0"/>
              <a:t>テキスト</a:t>
            </a:r>
          </a:p>
          <a:p>
            <a:pPr lvl="4"/>
            <a:r>
              <a:rPr lang="ja-JP" altLang="en-US" dirty="0"/>
              <a:t>テキスト</a:t>
            </a:r>
          </a:p>
        </p:txBody>
      </p:sp>
      <p:sp>
        <p:nvSpPr>
          <p:cNvPr id="5" name="Slide Number Placeholder 5">
            <a:extLst>
              <a:ext uri="{FF2B5EF4-FFF2-40B4-BE49-F238E27FC236}">
                <a16:creationId xmlns:a16="http://schemas.microsoft.com/office/drawing/2014/main" id="{2831B75F-BB6F-7E47-4AAE-6F750726F451}"/>
              </a:ext>
            </a:extLst>
          </p:cNvPr>
          <p:cNvSpPr>
            <a:spLocks noGrp="1"/>
          </p:cNvSpPr>
          <p:nvPr>
            <p:ph type="sldNum" sz="quarter" idx="4"/>
            <p:custDataLst>
              <p:tags r:id="rId46"/>
            </p:custDataLst>
          </p:nvPr>
        </p:nvSpPr>
        <p:spPr>
          <a:xfrm>
            <a:off x="8610600" y="6357488"/>
            <a:ext cx="3124200" cy="365125"/>
          </a:xfrm>
          <a:prstGeom prst="rect">
            <a:avLst/>
          </a:prstGeom>
        </p:spPr>
        <p:txBody>
          <a:bodyPr vert="horz" lIns="91440" tIns="45720" rIns="91440" bIns="45720" rtlCol="0" anchor="ctr"/>
          <a:lstStyle>
            <a:lvl1pPr algn="r">
              <a:defRPr sz="800">
                <a:solidFill>
                  <a:schemeClr val="tx1">
                    <a:tint val="82000"/>
                  </a:schemeClr>
                </a:solidFill>
              </a:defRPr>
            </a:lvl1pPr>
          </a:lstStyle>
          <a:p>
            <a:fld id="{35EA36FB-EA35-45B6-87A5-93E7705983EC}" type="slidenum">
              <a:rPr lang="en-US" altLang="ja-JP" smtClean="0"/>
              <a:pPr/>
              <a:t>‹#›</a:t>
            </a:fld>
            <a:endParaRPr lang="ja-JP" altLang="en-US" dirty="0"/>
          </a:p>
        </p:txBody>
      </p:sp>
    </p:spTree>
    <p:extLst>
      <p:ext uri="{BB962C8B-B14F-4D97-AF65-F5344CB8AC3E}">
        <p14:creationId xmlns:p14="http://schemas.microsoft.com/office/powerpoint/2010/main" val="33443711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Lst>
  <p:hf sldNum="0" hdr="0" ftr="0" dt="0"/>
  <p:txStyles>
    <p:titleStyle>
      <a:lvl1pPr algn="l" defTabSz="914400" rtl="0" eaLnBrk="1" latinLnBrk="0" hangingPunct="1">
        <a:lnSpc>
          <a:spcPct val="90000"/>
        </a:lnSpc>
        <a:spcBef>
          <a:spcPct val="0"/>
        </a:spcBef>
        <a:buNone/>
        <a:defRPr kumimoji="1" sz="3200" b="1" kern="1200">
          <a:solidFill>
            <a:schemeClr val="tx1"/>
          </a:solidFill>
          <a:latin typeface="+mj-lt"/>
          <a:ea typeface="+mj-ea"/>
          <a:cs typeface="+mj-cs"/>
        </a:defRPr>
      </a:lvl1pPr>
    </p:titleStyle>
    <p:bodyStyle>
      <a:lvl1pPr marL="226800" indent="-226800" algn="l" defTabSz="914400" rtl="0" eaLnBrk="1" latinLnBrk="0" hangingPunct="1">
        <a:lnSpc>
          <a:spcPct val="90000"/>
        </a:lnSpc>
        <a:spcBef>
          <a:spcPts val="1000"/>
        </a:spcBef>
        <a:buSzPct val="120000"/>
        <a:buFont typeface="Arial" panose="020B0604020202020204" pitchFamily="34" charset="0"/>
        <a:buChar char="•"/>
        <a:defRPr kumimoji="1" sz="2000" kern="1200">
          <a:solidFill>
            <a:schemeClr val="tx1"/>
          </a:solidFill>
          <a:latin typeface="+mn-lt"/>
          <a:ea typeface="+mn-ea"/>
          <a:cs typeface="+mn-cs"/>
        </a:defRPr>
      </a:lvl1pPr>
      <a:lvl2pPr marL="464400" indent="-237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2pPr>
      <a:lvl3pPr marL="687600" indent="-2268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3pPr>
      <a:lvl4pPr marL="914400" indent="-2268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4pPr>
      <a:lvl5pPr marL="1141200" indent="-2268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SE"/>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754">
          <p15:clr>
            <a:srgbClr val="F26B43"/>
          </p15:clr>
        </p15:guide>
        <p15:guide id="4" orient="horz" pos="397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chart" Target="../charts/chart3.xml"/><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8.xml"/><Relationship Id="rId5" Type="http://schemas.openxmlformats.org/officeDocument/2006/relationships/chart" Target="../charts/chart6.xml"/><Relationship Id="rId4" Type="http://schemas.openxmlformats.org/officeDocument/2006/relationships/chart" Target="../charts/chart5.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7.xml"/><Relationship Id="rId1" Type="http://schemas.openxmlformats.org/officeDocument/2006/relationships/slideLayout" Target="../slideLayouts/slideLayout18.xml"/><Relationship Id="rId5" Type="http://schemas.openxmlformats.org/officeDocument/2006/relationships/chart" Target="../charts/chart9.xml"/><Relationship Id="rId4" Type="http://schemas.openxmlformats.org/officeDocument/2006/relationships/chart" Target="../charts/chart8.xml"/></Relationships>
</file>

<file path=ppt/slides/_rels/slide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chart" Target="../charts/chart11.xml"/></Relationships>
</file>

<file path=ppt/slides/_rels/slide9.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360.png"/></Relationships>
</file>

<file path=ppt/slides/_rels/slide1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8" Type="http://schemas.openxmlformats.org/officeDocument/2006/relationships/chart" Target="../charts/chart17.xml"/><Relationship Id="rId3" Type="http://schemas.openxmlformats.org/officeDocument/2006/relationships/chart" Target="../charts/chart12.xml"/><Relationship Id="rId7" Type="http://schemas.openxmlformats.org/officeDocument/2006/relationships/chart" Target="../charts/chart16.xml"/><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chart" Target="../charts/chart15.xml"/><Relationship Id="rId5" Type="http://schemas.openxmlformats.org/officeDocument/2006/relationships/chart" Target="../charts/chart14.xml"/><Relationship Id="rId4" Type="http://schemas.openxmlformats.org/officeDocument/2006/relationships/chart" Target="../charts/char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30.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26.jpe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24.xml"/><Relationship Id="rId1" Type="http://schemas.openxmlformats.org/officeDocument/2006/relationships/slideLayout" Target="../slideLayouts/slideLayout18.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5" Type="http://schemas.openxmlformats.org/officeDocument/2006/relationships/image" Target="../media/image32.svg"/><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jpeg"/><Relationship Id="rId2" Type="http://schemas.openxmlformats.org/officeDocument/2006/relationships/notesSlide" Target="../notesSlides/notesSlide25.xml"/><Relationship Id="rId1" Type="http://schemas.openxmlformats.org/officeDocument/2006/relationships/slideLayout" Target="../slideLayouts/slideLayout4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42.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2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18.xml"/><Relationship Id="rId5" Type="http://schemas.openxmlformats.org/officeDocument/2006/relationships/image" Target="../media/image48.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8" Type="http://schemas.openxmlformats.org/officeDocument/2006/relationships/image" Target="../media/image55.jpeg"/><Relationship Id="rId3" Type="http://schemas.openxmlformats.org/officeDocument/2006/relationships/image" Target="../media/image50.png"/><Relationship Id="rId7" Type="http://schemas.openxmlformats.org/officeDocument/2006/relationships/image" Target="../media/image54.jpeg"/><Relationship Id="rId2" Type="http://schemas.openxmlformats.org/officeDocument/2006/relationships/notesSlide" Target="../notesSlides/notesSlide30.xml"/><Relationship Id="rId1" Type="http://schemas.openxmlformats.org/officeDocument/2006/relationships/slideLayout" Target="../slideLayouts/slideLayout24.xml"/><Relationship Id="rId6" Type="http://schemas.openxmlformats.org/officeDocument/2006/relationships/image" Target="../media/image53.emf"/><Relationship Id="rId5" Type="http://schemas.openxmlformats.org/officeDocument/2006/relationships/image" Target="../media/image52.png"/><Relationship Id="rId4" Type="http://schemas.openxmlformats.org/officeDocument/2006/relationships/image" Target="../media/image51.png"/><Relationship Id="rId9" Type="http://schemas.openxmlformats.org/officeDocument/2006/relationships/image" Target="../media/image5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183E7-54A5-8272-8C54-A85855082EA4}"/>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E388F2F1-2D0B-E17A-E1DA-B2105652FC65}"/>
              </a:ext>
            </a:extLst>
          </p:cNvPr>
          <p:cNvSpPr>
            <a:spLocks noGrp="1"/>
          </p:cNvSpPr>
          <p:nvPr>
            <p:ph type="title"/>
          </p:nvPr>
        </p:nvSpPr>
        <p:spPr/>
        <p:txBody>
          <a:bodyPr/>
          <a:lstStyle/>
          <a:p>
            <a:r>
              <a:rPr lang="en-US" altLang="ja-JP" dirty="0">
                <a:solidFill>
                  <a:srgbClr val="344251"/>
                </a:solidFill>
              </a:rPr>
              <a:t>Isuzu Truck (UK) Ltd - Executive Summary</a:t>
            </a:r>
            <a:endParaRPr kumimoji="1" lang="ja-JP" altLang="en-US">
              <a:solidFill>
                <a:srgbClr val="344251"/>
              </a:solidFill>
            </a:endParaRPr>
          </a:p>
        </p:txBody>
      </p:sp>
      <p:graphicFrame>
        <p:nvGraphicFramePr>
          <p:cNvPr id="17" name="表 16">
            <a:extLst>
              <a:ext uri="{FF2B5EF4-FFF2-40B4-BE49-F238E27FC236}">
                <a16:creationId xmlns:a16="http://schemas.microsoft.com/office/drawing/2014/main" id="{F8455236-4606-A02B-4270-4032361D4847}"/>
              </a:ext>
            </a:extLst>
          </p:cNvPr>
          <p:cNvGraphicFramePr>
            <a:graphicFrameLocks noGrp="1"/>
          </p:cNvGraphicFramePr>
          <p:nvPr/>
        </p:nvGraphicFramePr>
        <p:xfrm>
          <a:off x="345342" y="5295028"/>
          <a:ext cx="3437528" cy="1421999"/>
        </p:xfrm>
        <a:graphic>
          <a:graphicData uri="http://schemas.openxmlformats.org/drawingml/2006/table">
            <a:tbl>
              <a:tblPr firstRow="1" bandRow="1">
                <a:tableStyleId>{073A0DAA-6AF3-43AB-8588-CEC1D06C72B9}</a:tableStyleId>
              </a:tblPr>
              <a:tblGrid>
                <a:gridCol w="804528">
                  <a:extLst>
                    <a:ext uri="{9D8B030D-6E8A-4147-A177-3AD203B41FA5}">
                      <a16:colId xmlns:a16="http://schemas.microsoft.com/office/drawing/2014/main" val="606294999"/>
                    </a:ext>
                  </a:extLst>
                </a:gridCol>
                <a:gridCol w="658250">
                  <a:extLst>
                    <a:ext uri="{9D8B030D-6E8A-4147-A177-3AD203B41FA5}">
                      <a16:colId xmlns:a16="http://schemas.microsoft.com/office/drawing/2014/main" val="3984952181"/>
                    </a:ext>
                  </a:extLst>
                </a:gridCol>
                <a:gridCol w="658250">
                  <a:extLst>
                    <a:ext uri="{9D8B030D-6E8A-4147-A177-3AD203B41FA5}">
                      <a16:colId xmlns:a16="http://schemas.microsoft.com/office/drawing/2014/main" val="274241929"/>
                    </a:ext>
                  </a:extLst>
                </a:gridCol>
                <a:gridCol w="658250">
                  <a:extLst>
                    <a:ext uri="{9D8B030D-6E8A-4147-A177-3AD203B41FA5}">
                      <a16:colId xmlns:a16="http://schemas.microsoft.com/office/drawing/2014/main" val="4122449212"/>
                    </a:ext>
                  </a:extLst>
                </a:gridCol>
                <a:gridCol w="658250">
                  <a:extLst>
                    <a:ext uri="{9D8B030D-6E8A-4147-A177-3AD203B41FA5}">
                      <a16:colId xmlns:a16="http://schemas.microsoft.com/office/drawing/2014/main" val="3340005417"/>
                    </a:ext>
                  </a:extLst>
                </a:gridCol>
              </a:tblGrid>
              <a:tr h="505355">
                <a:tc>
                  <a:txBody>
                    <a:bodyPr/>
                    <a:lstStyle/>
                    <a:p>
                      <a:pPr algn="ctr"/>
                      <a:r>
                        <a:rPr kumimoji="1" lang="en-US" altLang="ja-JP" sz="1200" dirty="0"/>
                        <a:t>PL</a:t>
                      </a:r>
                      <a:endParaRPr kumimoji="1" lang="ja-JP" altLang="en-US" sz="1200" dirty="0"/>
                    </a:p>
                  </a:txBody>
                  <a:tcPr anchor="ctr">
                    <a:solidFill>
                      <a:srgbClr val="344251"/>
                    </a:solidFill>
                  </a:tcPr>
                </a:tc>
                <a:tc>
                  <a:txBody>
                    <a:bodyPr/>
                    <a:lstStyle/>
                    <a:p>
                      <a:pPr algn="ctr"/>
                      <a:r>
                        <a:rPr kumimoji="1" lang="en-US" altLang="ja-JP" sz="1200" dirty="0"/>
                        <a:t>FY25</a:t>
                      </a:r>
                    </a:p>
                    <a:p>
                      <a:pPr algn="ctr"/>
                      <a:r>
                        <a:rPr kumimoji="1" lang="en-US" altLang="ja-JP" sz="900" dirty="0"/>
                        <a:t>Plan</a:t>
                      </a:r>
                      <a:endParaRPr kumimoji="1" lang="ja-JP" altLang="en-US" sz="900" dirty="0"/>
                    </a:p>
                  </a:txBody>
                  <a:tcPr anchor="ctr">
                    <a:solidFill>
                      <a:srgbClr val="344251"/>
                    </a:solidFill>
                  </a:tcPr>
                </a:tc>
                <a:tc>
                  <a:txBody>
                    <a:bodyPr/>
                    <a:lstStyle/>
                    <a:p>
                      <a:pPr algn="ctr"/>
                      <a:r>
                        <a:rPr kumimoji="1" lang="en-US" altLang="ja-JP" sz="1200" dirty="0"/>
                        <a:t>FY25</a:t>
                      </a:r>
                    </a:p>
                    <a:p>
                      <a:pPr algn="ctr"/>
                      <a:r>
                        <a:rPr kumimoji="1" lang="en-US" altLang="ja-JP" sz="900" dirty="0"/>
                        <a:t>Revised</a:t>
                      </a:r>
                      <a:endParaRPr kumimoji="1" lang="ja-JP" altLang="en-US" sz="900" dirty="0"/>
                    </a:p>
                  </a:txBody>
                  <a:tcPr anchor="ctr">
                    <a:solidFill>
                      <a:srgbClr val="344251"/>
                    </a:solidFill>
                  </a:tcPr>
                </a:tc>
                <a:tc>
                  <a:txBody>
                    <a:bodyPr/>
                    <a:lstStyle/>
                    <a:p>
                      <a:pPr algn="ctr"/>
                      <a:r>
                        <a:rPr kumimoji="1" lang="en-US" altLang="ja-JP" sz="1200" dirty="0"/>
                        <a:t>FY26</a:t>
                      </a:r>
                      <a:endParaRPr kumimoji="1" lang="ja-JP" altLang="en-US" sz="1200" dirty="0"/>
                    </a:p>
                  </a:txBody>
                  <a:tcPr anchor="ctr">
                    <a:solidFill>
                      <a:srgbClr val="344251"/>
                    </a:solidFill>
                  </a:tcPr>
                </a:tc>
                <a:tc>
                  <a:txBody>
                    <a:bodyPr/>
                    <a:lstStyle/>
                    <a:p>
                      <a:pPr algn="ctr"/>
                      <a:r>
                        <a:rPr kumimoji="1" lang="en-GB" altLang="ja-JP" sz="1200" dirty="0"/>
                        <a:t>FY27</a:t>
                      </a:r>
                      <a:endParaRPr kumimoji="1" lang="ja-JP" altLang="en-US" sz="1200" dirty="0"/>
                    </a:p>
                  </a:txBody>
                  <a:tcPr anchor="ctr">
                    <a:solidFill>
                      <a:srgbClr val="344251"/>
                    </a:solidFill>
                  </a:tcPr>
                </a:tc>
                <a:extLst>
                  <a:ext uri="{0D108BD9-81ED-4DB2-BD59-A6C34878D82A}">
                    <a16:rowId xmlns:a16="http://schemas.microsoft.com/office/drawing/2014/main" val="2762648966"/>
                  </a:ext>
                </a:extLst>
              </a:tr>
              <a:tr h="305548">
                <a:tc>
                  <a:txBody>
                    <a:bodyPr/>
                    <a:lstStyle/>
                    <a:p>
                      <a:pPr algn="ctr"/>
                      <a:r>
                        <a:rPr kumimoji="1" lang="en-US" altLang="ja-JP" sz="1200" b="1" dirty="0">
                          <a:solidFill>
                            <a:srgbClr val="344251"/>
                          </a:solidFill>
                        </a:rPr>
                        <a:t>VOL</a:t>
                      </a:r>
                      <a:endParaRPr kumimoji="1" lang="ja-JP" altLang="en-US" sz="1200" b="1" dirty="0">
                        <a:solidFill>
                          <a:srgbClr val="344251"/>
                        </a:solidFill>
                      </a:endParaRPr>
                    </a:p>
                  </a:txBody>
                  <a:tcPr anchor="ctr"/>
                </a:tc>
                <a:tc>
                  <a:txBody>
                    <a:bodyPr/>
                    <a:lstStyle/>
                    <a:p>
                      <a:pPr algn="r"/>
                      <a:r>
                        <a:rPr kumimoji="1" lang="en-GB" altLang="ja-JP" sz="1200" b="0" dirty="0">
                          <a:solidFill>
                            <a:srgbClr val="344251"/>
                          </a:solidFill>
                        </a:rPr>
                        <a:t>2,250</a:t>
                      </a:r>
                      <a:endParaRPr kumimoji="1" lang="ja-JP" altLang="en-US" sz="1200" b="0">
                        <a:solidFill>
                          <a:srgbClr val="344251"/>
                        </a:solidFill>
                      </a:endParaRPr>
                    </a:p>
                  </a:txBody>
                  <a:tcPr anchor="ctr"/>
                </a:tc>
                <a:tc>
                  <a:txBody>
                    <a:bodyPr/>
                    <a:lstStyle/>
                    <a:p>
                      <a:pPr algn="r"/>
                      <a:r>
                        <a:rPr kumimoji="1" lang="en-GB" altLang="ja-JP" sz="1200" b="0" dirty="0">
                          <a:solidFill>
                            <a:srgbClr val="344251"/>
                          </a:solidFill>
                        </a:rPr>
                        <a:t>2,070</a:t>
                      </a:r>
                      <a:endParaRPr kumimoji="1" lang="ja-JP" altLang="en-US" sz="1200" b="0" dirty="0">
                        <a:solidFill>
                          <a:srgbClr val="344251"/>
                        </a:solidFill>
                      </a:endParaRPr>
                    </a:p>
                  </a:txBody>
                  <a:tcPr anchor="ctr"/>
                </a:tc>
                <a:tc>
                  <a:txBody>
                    <a:bodyPr/>
                    <a:lstStyle/>
                    <a:p>
                      <a:pPr algn="r"/>
                      <a:r>
                        <a:rPr kumimoji="1" lang="en-GB" altLang="ja-JP" sz="1200" b="0" dirty="0">
                          <a:solidFill>
                            <a:srgbClr val="344251"/>
                          </a:solidFill>
                        </a:rPr>
                        <a:t>2,212</a:t>
                      </a:r>
                      <a:endParaRPr kumimoji="1" lang="ja-JP" altLang="en-US" sz="1200" b="0" dirty="0">
                        <a:solidFill>
                          <a:srgbClr val="344251"/>
                        </a:solidFill>
                      </a:endParaRPr>
                    </a:p>
                  </a:txBody>
                  <a:tcPr anchor="ctr"/>
                </a:tc>
                <a:tc>
                  <a:txBody>
                    <a:bodyPr/>
                    <a:lstStyle/>
                    <a:p>
                      <a:pPr algn="r"/>
                      <a:r>
                        <a:rPr kumimoji="1" lang="en-GB" altLang="ja-JP" sz="1200" b="0" dirty="0">
                          <a:solidFill>
                            <a:srgbClr val="344251"/>
                          </a:solidFill>
                        </a:rPr>
                        <a:t>2,716</a:t>
                      </a:r>
                      <a:endParaRPr kumimoji="1" lang="ja-JP" altLang="en-US" sz="1200" b="0" dirty="0">
                        <a:solidFill>
                          <a:srgbClr val="344251"/>
                        </a:solidFill>
                      </a:endParaRPr>
                    </a:p>
                  </a:txBody>
                  <a:tcPr anchor="ctr"/>
                </a:tc>
                <a:extLst>
                  <a:ext uri="{0D108BD9-81ED-4DB2-BD59-A6C34878D82A}">
                    <a16:rowId xmlns:a16="http://schemas.microsoft.com/office/drawing/2014/main" val="416426308"/>
                  </a:ext>
                </a:extLst>
              </a:tr>
              <a:tr h="305548">
                <a:tc>
                  <a:txBody>
                    <a:bodyPr/>
                    <a:lstStyle/>
                    <a:p>
                      <a:pPr algn="ctr"/>
                      <a:r>
                        <a:rPr kumimoji="1" lang="en-US" altLang="ja-JP" sz="1200" b="1" dirty="0">
                          <a:solidFill>
                            <a:srgbClr val="344251"/>
                          </a:solidFill>
                        </a:rPr>
                        <a:t>Sales</a:t>
                      </a:r>
                      <a:r>
                        <a:rPr kumimoji="1" lang="en-US" altLang="ja-JP" sz="800" b="1" dirty="0">
                          <a:solidFill>
                            <a:srgbClr val="344251"/>
                          </a:solidFill>
                        </a:rPr>
                        <a:t>(£M)</a:t>
                      </a:r>
                      <a:endParaRPr kumimoji="1" lang="ja-JP" altLang="en-US" sz="1200" b="1" dirty="0">
                        <a:solidFill>
                          <a:srgbClr val="344251"/>
                        </a:solidFill>
                      </a:endParaRPr>
                    </a:p>
                  </a:txBody>
                  <a:tcPr anchor="ctr"/>
                </a:tc>
                <a:tc>
                  <a:txBody>
                    <a:bodyPr/>
                    <a:lstStyle/>
                    <a:p>
                      <a:pPr algn="r"/>
                      <a:r>
                        <a:rPr kumimoji="1" lang="en-GB" altLang="ja-JP" sz="1200" b="0" dirty="0">
                          <a:solidFill>
                            <a:srgbClr val="344251"/>
                          </a:solidFill>
                        </a:rPr>
                        <a:t>100.3</a:t>
                      </a:r>
                      <a:endParaRPr kumimoji="1" lang="ja-JP" altLang="en-US" sz="1200" b="0" dirty="0">
                        <a:solidFill>
                          <a:srgbClr val="344251"/>
                        </a:solidFill>
                      </a:endParaRPr>
                    </a:p>
                  </a:txBody>
                  <a:tcPr anchor="ctr"/>
                </a:tc>
                <a:tc>
                  <a:txBody>
                    <a:bodyPr/>
                    <a:lstStyle/>
                    <a:p>
                      <a:pPr algn="r"/>
                      <a:r>
                        <a:rPr kumimoji="1" lang="en-GB" altLang="ja-JP" sz="1200" b="0" dirty="0">
                          <a:solidFill>
                            <a:srgbClr val="344251"/>
                          </a:solidFill>
                        </a:rPr>
                        <a:t>93.8</a:t>
                      </a:r>
                      <a:endParaRPr kumimoji="1" lang="ja-JP" altLang="en-US" sz="1200" b="0" dirty="0">
                        <a:solidFill>
                          <a:srgbClr val="344251"/>
                        </a:solidFill>
                      </a:endParaRPr>
                    </a:p>
                  </a:txBody>
                  <a:tcPr anchor="ctr"/>
                </a:tc>
                <a:tc>
                  <a:txBody>
                    <a:bodyPr/>
                    <a:lstStyle/>
                    <a:p>
                      <a:pPr algn="r"/>
                      <a:r>
                        <a:rPr kumimoji="1" lang="en-GB" altLang="ja-JP" sz="1200" b="0" dirty="0">
                          <a:solidFill>
                            <a:srgbClr val="344251"/>
                          </a:solidFill>
                        </a:rPr>
                        <a:t>103.4</a:t>
                      </a:r>
                      <a:endParaRPr kumimoji="1" lang="ja-JP" altLang="en-US" sz="1200" b="0" dirty="0">
                        <a:solidFill>
                          <a:srgbClr val="344251"/>
                        </a:solidFill>
                      </a:endParaRPr>
                    </a:p>
                  </a:txBody>
                  <a:tcPr anchor="ctr"/>
                </a:tc>
                <a:tc>
                  <a:txBody>
                    <a:bodyPr/>
                    <a:lstStyle/>
                    <a:p>
                      <a:pPr algn="r"/>
                      <a:r>
                        <a:rPr kumimoji="1" lang="en-GB" altLang="ja-JP" sz="1200" b="0" dirty="0">
                          <a:solidFill>
                            <a:srgbClr val="344251"/>
                          </a:solidFill>
                        </a:rPr>
                        <a:t>121.4</a:t>
                      </a:r>
                      <a:endParaRPr kumimoji="1" lang="ja-JP" altLang="en-US" sz="1200" b="0" dirty="0">
                        <a:solidFill>
                          <a:srgbClr val="344251"/>
                        </a:solidFill>
                      </a:endParaRPr>
                    </a:p>
                  </a:txBody>
                  <a:tcPr anchor="ctr"/>
                </a:tc>
                <a:extLst>
                  <a:ext uri="{0D108BD9-81ED-4DB2-BD59-A6C34878D82A}">
                    <a16:rowId xmlns:a16="http://schemas.microsoft.com/office/drawing/2014/main" val="4098641788"/>
                  </a:ext>
                </a:extLst>
              </a:tr>
              <a:tr h="305548">
                <a:tc>
                  <a:txBody>
                    <a:bodyPr/>
                    <a:lstStyle/>
                    <a:p>
                      <a:pPr algn="ctr"/>
                      <a:r>
                        <a:rPr kumimoji="1" lang="en-US" altLang="ja-JP" sz="1200" b="1" dirty="0">
                          <a:solidFill>
                            <a:srgbClr val="344251"/>
                          </a:solidFill>
                        </a:rPr>
                        <a:t>OP</a:t>
                      </a:r>
                      <a:r>
                        <a:rPr kumimoji="1" lang="en-US" altLang="ja-JP" sz="800" b="1" dirty="0">
                          <a:solidFill>
                            <a:srgbClr val="344251"/>
                          </a:solidFill>
                        </a:rPr>
                        <a:t>(£M)</a:t>
                      </a:r>
                      <a:endParaRPr kumimoji="1" lang="ja-JP" altLang="en-US" sz="1200" b="1">
                        <a:solidFill>
                          <a:srgbClr val="344251"/>
                        </a:solidFill>
                      </a:endParaRPr>
                    </a:p>
                  </a:txBody>
                  <a:tcPr anchor="ctr"/>
                </a:tc>
                <a:tc>
                  <a:txBody>
                    <a:bodyPr/>
                    <a:lstStyle/>
                    <a:p>
                      <a:pPr algn="r"/>
                      <a:r>
                        <a:rPr kumimoji="1" lang="en-GB" altLang="ja-JP" sz="1200" b="0" dirty="0">
                          <a:solidFill>
                            <a:srgbClr val="344251"/>
                          </a:solidFill>
                        </a:rPr>
                        <a:t>8.4</a:t>
                      </a:r>
                      <a:endParaRPr kumimoji="1" lang="ja-JP" altLang="en-US" sz="1200" b="0" dirty="0">
                        <a:solidFill>
                          <a:srgbClr val="344251"/>
                        </a:solidFill>
                      </a:endParaRPr>
                    </a:p>
                  </a:txBody>
                  <a:tcPr anchor="ctr"/>
                </a:tc>
                <a:tc>
                  <a:txBody>
                    <a:bodyPr/>
                    <a:lstStyle/>
                    <a:p>
                      <a:pPr algn="r"/>
                      <a:r>
                        <a:rPr kumimoji="1" lang="en-GB" altLang="ja-JP" sz="1200" b="0" dirty="0">
                          <a:solidFill>
                            <a:srgbClr val="344251"/>
                          </a:solidFill>
                        </a:rPr>
                        <a:t>8.2</a:t>
                      </a:r>
                      <a:endParaRPr kumimoji="1" lang="ja-JP" altLang="en-US" sz="1200" b="0" dirty="0">
                        <a:solidFill>
                          <a:srgbClr val="344251"/>
                        </a:solidFill>
                      </a:endParaRPr>
                    </a:p>
                  </a:txBody>
                  <a:tcPr anchor="ctr"/>
                </a:tc>
                <a:tc>
                  <a:txBody>
                    <a:bodyPr/>
                    <a:lstStyle/>
                    <a:p>
                      <a:pPr algn="r"/>
                      <a:r>
                        <a:rPr kumimoji="1" lang="en-GB" altLang="ja-JP" sz="1200" b="0" dirty="0">
                          <a:solidFill>
                            <a:srgbClr val="344251"/>
                          </a:solidFill>
                        </a:rPr>
                        <a:t>8.9</a:t>
                      </a:r>
                      <a:endParaRPr kumimoji="1" lang="ja-JP" altLang="en-US" sz="1200" b="0" dirty="0">
                        <a:solidFill>
                          <a:srgbClr val="344251"/>
                        </a:solidFill>
                      </a:endParaRPr>
                    </a:p>
                  </a:txBody>
                  <a:tcPr anchor="ctr"/>
                </a:tc>
                <a:tc>
                  <a:txBody>
                    <a:bodyPr/>
                    <a:lstStyle/>
                    <a:p>
                      <a:pPr algn="r"/>
                      <a:r>
                        <a:rPr kumimoji="1" lang="en-GB" altLang="ja-JP" sz="1200" b="0" dirty="0">
                          <a:solidFill>
                            <a:srgbClr val="344251"/>
                          </a:solidFill>
                        </a:rPr>
                        <a:t>11.9</a:t>
                      </a:r>
                      <a:endParaRPr kumimoji="1" lang="ja-JP" altLang="en-US" sz="1200" b="0" dirty="0">
                        <a:solidFill>
                          <a:srgbClr val="344251"/>
                        </a:solidFill>
                      </a:endParaRPr>
                    </a:p>
                  </a:txBody>
                  <a:tcPr anchor="ctr"/>
                </a:tc>
                <a:extLst>
                  <a:ext uri="{0D108BD9-81ED-4DB2-BD59-A6C34878D82A}">
                    <a16:rowId xmlns:a16="http://schemas.microsoft.com/office/drawing/2014/main" val="2808846489"/>
                  </a:ext>
                </a:extLst>
              </a:tr>
            </a:tbl>
          </a:graphicData>
        </a:graphic>
      </p:graphicFrame>
      <p:graphicFrame>
        <p:nvGraphicFramePr>
          <p:cNvPr id="19" name="表 18">
            <a:extLst>
              <a:ext uri="{FF2B5EF4-FFF2-40B4-BE49-F238E27FC236}">
                <a16:creationId xmlns:a16="http://schemas.microsoft.com/office/drawing/2014/main" id="{DE70D8F0-2816-7149-1AE8-42EEE2B4AE1D}"/>
              </a:ext>
            </a:extLst>
          </p:cNvPr>
          <p:cNvGraphicFramePr>
            <a:graphicFrameLocks noGrp="1"/>
          </p:cNvGraphicFramePr>
          <p:nvPr>
            <p:extLst>
              <p:ext uri="{D42A27DB-BD31-4B8C-83A1-F6EECF244321}">
                <p14:modId xmlns:p14="http://schemas.microsoft.com/office/powerpoint/2010/main" val="757553535"/>
              </p:ext>
            </p:extLst>
          </p:nvPr>
        </p:nvGraphicFramePr>
        <p:xfrm>
          <a:off x="4056079" y="1029602"/>
          <a:ext cx="7756188" cy="4183592"/>
        </p:xfrm>
        <a:graphic>
          <a:graphicData uri="http://schemas.openxmlformats.org/drawingml/2006/table">
            <a:tbl>
              <a:tblPr firstRow="1" bandRow="1">
                <a:tableStyleId>{073A0DAA-6AF3-43AB-8588-CEC1D06C72B9}</a:tableStyleId>
              </a:tblPr>
              <a:tblGrid>
                <a:gridCol w="1302183">
                  <a:extLst>
                    <a:ext uri="{9D8B030D-6E8A-4147-A177-3AD203B41FA5}">
                      <a16:colId xmlns:a16="http://schemas.microsoft.com/office/drawing/2014/main" val="606294999"/>
                    </a:ext>
                  </a:extLst>
                </a:gridCol>
                <a:gridCol w="491061">
                  <a:extLst>
                    <a:ext uri="{9D8B030D-6E8A-4147-A177-3AD203B41FA5}">
                      <a16:colId xmlns:a16="http://schemas.microsoft.com/office/drawing/2014/main" val="1186670030"/>
                    </a:ext>
                  </a:extLst>
                </a:gridCol>
                <a:gridCol w="5962944">
                  <a:extLst>
                    <a:ext uri="{9D8B030D-6E8A-4147-A177-3AD203B41FA5}">
                      <a16:colId xmlns:a16="http://schemas.microsoft.com/office/drawing/2014/main" val="3592338489"/>
                    </a:ext>
                  </a:extLst>
                </a:gridCol>
              </a:tblGrid>
              <a:tr h="303734">
                <a:tc>
                  <a:txBody>
                    <a:bodyPr/>
                    <a:lstStyle/>
                    <a:p>
                      <a:pPr algn="ctr"/>
                      <a:r>
                        <a:rPr kumimoji="1" lang="en-US" altLang="ja-JP" sz="1200" dirty="0"/>
                        <a:t>Assessment</a:t>
                      </a:r>
                      <a:endParaRPr kumimoji="1" lang="ja-JP" altLang="en-US" sz="1200" dirty="0"/>
                    </a:p>
                  </a:txBody>
                  <a:tcPr anchor="ctr">
                    <a:solidFill>
                      <a:srgbClr val="344251"/>
                    </a:solidFill>
                  </a:tcPr>
                </a:tc>
                <a:tc>
                  <a:txBody>
                    <a:bodyPr/>
                    <a:lstStyle/>
                    <a:p>
                      <a:pPr algn="ctr"/>
                      <a:r>
                        <a:rPr kumimoji="1" lang="en-US" altLang="ja-JP" sz="1200" dirty="0"/>
                        <a:t>No.</a:t>
                      </a:r>
                      <a:endParaRPr kumimoji="1" lang="ja-JP" altLang="en-US" sz="1200" dirty="0"/>
                    </a:p>
                  </a:txBody>
                  <a:tcPr anchor="ctr">
                    <a:solidFill>
                      <a:srgbClr val="344251"/>
                    </a:solidFill>
                  </a:tcPr>
                </a:tc>
                <a:tc>
                  <a:txBody>
                    <a:bodyPr/>
                    <a:lstStyle/>
                    <a:p>
                      <a:pPr algn="ctr"/>
                      <a:r>
                        <a:rPr kumimoji="1" lang="en-US" altLang="ja-JP" sz="1200" dirty="0"/>
                        <a:t>Mid-term</a:t>
                      </a:r>
                      <a:r>
                        <a:rPr kumimoji="1" lang="ja-JP" altLang="en-US" sz="1200" dirty="0"/>
                        <a:t> </a:t>
                      </a:r>
                      <a:r>
                        <a:rPr kumimoji="1" lang="en-US" altLang="ja-JP" sz="1200" dirty="0"/>
                        <a:t>Plan</a:t>
                      </a:r>
                      <a:r>
                        <a:rPr kumimoji="1" lang="ja-JP" altLang="en-US" sz="1200" dirty="0"/>
                        <a:t> </a:t>
                      </a:r>
                      <a:r>
                        <a:rPr kumimoji="1" lang="en-US" altLang="ja-JP" sz="1200" dirty="0"/>
                        <a:t>tasks</a:t>
                      </a:r>
                      <a:endParaRPr kumimoji="1" lang="ja-JP" altLang="en-US" sz="1200" dirty="0"/>
                    </a:p>
                  </a:txBody>
                  <a:tcPr anchor="ctr">
                    <a:solidFill>
                      <a:srgbClr val="344251"/>
                    </a:solidFill>
                  </a:tcPr>
                </a:tc>
                <a:extLst>
                  <a:ext uri="{0D108BD9-81ED-4DB2-BD59-A6C34878D82A}">
                    <a16:rowId xmlns:a16="http://schemas.microsoft.com/office/drawing/2014/main" val="2762648966"/>
                  </a:ext>
                </a:extLst>
              </a:tr>
              <a:tr h="2141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GB" altLang="ja-JP" sz="1200" b="0" dirty="0">
                          <a:solidFill>
                            <a:srgbClr val="344251"/>
                          </a:solidFill>
                        </a:rPr>
                        <a:t>Governance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GB" altLang="ja-JP" sz="1050" b="0" dirty="0">
                          <a:solidFill>
                            <a:srgbClr val="344251"/>
                          </a:solidFill>
                        </a:rPr>
                        <a:t>(Additional)</a:t>
                      </a:r>
                      <a:endParaRPr kumimoji="1" lang="ja-JP" altLang="en-US" sz="1050" b="0" dirty="0">
                        <a:solidFill>
                          <a:srgbClr val="344251"/>
                        </a:solidFill>
                      </a:endParaRPr>
                    </a:p>
                  </a:txBody>
                  <a:tcPr anchor="ctr">
                    <a:solidFill>
                      <a:srgbClr val="00B050"/>
                    </a:solidFill>
                  </a:tcPr>
                </a:tc>
                <a:tc>
                  <a:txBody>
                    <a:bodyPr/>
                    <a:lstStyle/>
                    <a:p>
                      <a:pPr algn="ctr"/>
                      <a:r>
                        <a:rPr kumimoji="1" lang="en-US" altLang="ja-JP" sz="1200" b="0" dirty="0">
                          <a:solidFill>
                            <a:srgbClr val="344251"/>
                          </a:solidFill>
                        </a:rPr>
                        <a:t>1</a:t>
                      </a:r>
                      <a:endParaRPr kumimoji="1" lang="ja-JP" altLang="en-US" sz="1200" b="0" dirty="0">
                        <a:solidFill>
                          <a:srgbClr val="34425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344251"/>
                          </a:solidFill>
                        </a:rPr>
                        <a:t>Review Credit Management Rules - Now implemented</a:t>
                      </a:r>
                    </a:p>
                  </a:txBody>
                  <a:tcPr anchor="ctr"/>
                </a:tc>
                <a:extLst>
                  <a:ext uri="{0D108BD9-81ED-4DB2-BD59-A6C34878D82A}">
                    <a16:rowId xmlns:a16="http://schemas.microsoft.com/office/drawing/2014/main" val="3446306370"/>
                  </a:ext>
                </a:extLst>
              </a:tr>
              <a:tr h="506224">
                <a:tc>
                  <a:txBody>
                    <a:bodyPr/>
                    <a:lstStyle/>
                    <a:p>
                      <a:pPr algn="ctr"/>
                      <a:r>
                        <a:rPr kumimoji="1" lang="en-US" altLang="ja-JP" sz="1200" b="0" dirty="0">
                          <a:solidFill>
                            <a:srgbClr val="344251"/>
                          </a:solidFill>
                        </a:rPr>
                        <a:t>Governance</a:t>
                      </a:r>
                    </a:p>
                    <a:p>
                      <a:pPr algn="ctr"/>
                      <a:r>
                        <a:rPr kumimoji="1" lang="en-US" altLang="ja-JP" sz="1050" b="0" dirty="0">
                          <a:solidFill>
                            <a:srgbClr val="344251"/>
                          </a:solidFill>
                        </a:rPr>
                        <a:t>(Additional)</a:t>
                      </a:r>
                      <a:endParaRPr kumimoji="1" lang="ja-JP" altLang="en-US" sz="1050" b="0" dirty="0">
                        <a:solidFill>
                          <a:srgbClr val="344251"/>
                        </a:solidFill>
                      </a:endParaRPr>
                    </a:p>
                  </a:txBody>
                  <a:tcPr anchor="ctr">
                    <a:solidFill>
                      <a:srgbClr val="00B050"/>
                    </a:solidFill>
                  </a:tcPr>
                </a:tc>
                <a:tc>
                  <a:txBody>
                    <a:bodyPr/>
                    <a:lstStyle/>
                    <a:p>
                      <a:pPr algn="ctr"/>
                      <a:r>
                        <a:rPr kumimoji="1" lang="en-US" altLang="ja-JP" sz="1200" b="0" dirty="0">
                          <a:solidFill>
                            <a:srgbClr val="344251"/>
                          </a:solidFill>
                        </a:rPr>
                        <a:t>2</a:t>
                      </a:r>
                      <a:endParaRPr kumimoji="1" lang="ja-JP" altLang="en-US" sz="1200" b="0" dirty="0">
                        <a:solidFill>
                          <a:srgbClr val="344251"/>
                        </a:solidFill>
                      </a:endParaRPr>
                    </a:p>
                  </a:txBody>
                  <a:tcPr anchor="ctr"/>
                </a:tc>
                <a:tc>
                  <a:txBody>
                    <a:bodyPr/>
                    <a:lstStyle/>
                    <a:p>
                      <a:pPr algn="l"/>
                      <a:r>
                        <a:rPr kumimoji="1" lang="en-US" altLang="ja-JP" sz="1200" b="0" dirty="0">
                          <a:solidFill>
                            <a:srgbClr val="344251"/>
                          </a:solidFill>
                        </a:rPr>
                        <a:t>Develop system to consolidate accurate data sources for body build completion and payment timescales - Now implemented using Dealer Connect and agreed terms</a:t>
                      </a:r>
                      <a:endParaRPr kumimoji="1" lang="ja-JP" altLang="en-US" sz="1200" b="0" dirty="0">
                        <a:solidFill>
                          <a:srgbClr val="344251"/>
                        </a:solidFill>
                      </a:endParaRPr>
                    </a:p>
                  </a:txBody>
                  <a:tcPr anchor="ctr"/>
                </a:tc>
                <a:extLst>
                  <a:ext uri="{0D108BD9-81ED-4DB2-BD59-A6C34878D82A}">
                    <a16:rowId xmlns:a16="http://schemas.microsoft.com/office/drawing/2014/main" val="3845031304"/>
                  </a:ext>
                </a:extLst>
              </a:tr>
              <a:tr h="506224">
                <a:tc>
                  <a:txBody>
                    <a:bodyPr/>
                    <a:lstStyle/>
                    <a:p>
                      <a:pPr algn="ctr"/>
                      <a:r>
                        <a:rPr kumimoji="1" lang="en-GB" altLang="ja-JP" sz="1050" b="0" dirty="0">
                          <a:solidFill>
                            <a:srgbClr val="344251"/>
                          </a:solidFill>
                        </a:rPr>
                        <a:t>Finance</a:t>
                      </a:r>
                      <a:endParaRPr kumimoji="1" lang="ja-JP" altLang="en-US" sz="1050" b="0" dirty="0">
                        <a:solidFill>
                          <a:srgbClr val="344251"/>
                        </a:solidFill>
                      </a:endParaRPr>
                    </a:p>
                  </a:txBody>
                  <a:tcPr anchor="ctr">
                    <a:solidFill>
                      <a:srgbClr val="00B050"/>
                    </a:solidFill>
                  </a:tcPr>
                </a:tc>
                <a:tc>
                  <a:txBody>
                    <a:bodyPr/>
                    <a:lstStyle/>
                    <a:p>
                      <a:pPr algn="ctr"/>
                      <a:r>
                        <a:rPr kumimoji="1" lang="en-GB" altLang="ja-JP" sz="1200" b="0" dirty="0">
                          <a:solidFill>
                            <a:srgbClr val="344251"/>
                          </a:solidFill>
                        </a:rPr>
                        <a:t>3</a:t>
                      </a:r>
                      <a:endParaRPr kumimoji="1" lang="ja-JP" altLang="en-US" sz="1200" b="0" dirty="0">
                        <a:solidFill>
                          <a:srgbClr val="34425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GB" altLang="ja-JP"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Examine suitability/viability of current </a:t>
                      </a:r>
                      <a:r>
                        <a:rPr kumimoji="1" lang="en-GB" altLang="ja-JP" sz="1200" b="0" i="0" u="none" strike="noStrike" kern="1200" cap="none" spc="0" normalizeH="0" baseline="0" noProof="0" dirty="0" err="1">
                          <a:ln>
                            <a:noFill/>
                          </a:ln>
                          <a:solidFill>
                            <a:srgbClr val="344251"/>
                          </a:solidFill>
                          <a:effectLst/>
                          <a:uLnTx/>
                          <a:uFillTx/>
                          <a:latin typeface="+mn-lt"/>
                          <a:ea typeface="Roboto" panose="02000000000000000000" pitchFamily="2" charset="0"/>
                          <a:cs typeface="Roboto" panose="02000000000000000000" pitchFamily="2" charset="0"/>
                        </a:rPr>
                        <a:t>Pentana</a:t>
                      </a:r>
                      <a:r>
                        <a:rPr kumimoji="1" lang="en-GB" altLang="ja-JP"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 DMS : New</a:t>
                      </a:r>
                      <a:r>
                        <a:rPr kumimoji="1" lang="ja-JP" altLang="en-US"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 </a:t>
                      </a:r>
                      <a:r>
                        <a:rPr kumimoji="1" lang="en-GB" altLang="ja-JP"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supplier</a:t>
                      </a:r>
                      <a:r>
                        <a:rPr kumimoji="1" lang="ja-JP" altLang="en-US"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 </a:t>
                      </a:r>
                      <a:r>
                        <a:rPr kumimoji="1" lang="en-GB" altLang="ja-JP"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contract</a:t>
                      </a:r>
                      <a:r>
                        <a:rPr kumimoji="1" lang="ja-JP" altLang="en-US"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 </a:t>
                      </a:r>
                      <a:r>
                        <a:rPr kumimoji="1" lang="en-GB" altLang="ja-JP"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with </a:t>
                      </a:r>
                      <a:r>
                        <a:rPr kumimoji="1" lang="en-GB" altLang="ja-JP" sz="1200" b="0" i="0" u="none" strike="noStrike" kern="1200" cap="none" spc="0" normalizeH="0" baseline="0" noProof="0" dirty="0" err="1">
                          <a:ln>
                            <a:noFill/>
                          </a:ln>
                          <a:solidFill>
                            <a:srgbClr val="344251"/>
                          </a:solidFill>
                          <a:effectLst/>
                          <a:uLnTx/>
                          <a:uFillTx/>
                          <a:latin typeface="+mn-lt"/>
                          <a:ea typeface="Roboto" panose="02000000000000000000" pitchFamily="2" charset="0"/>
                          <a:cs typeface="Roboto" panose="02000000000000000000" pitchFamily="2" charset="0"/>
                        </a:rPr>
                        <a:t>Keyloop</a:t>
                      </a:r>
                      <a:r>
                        <a:rPr kumimoji="1" lang="en-GB" altLang="ja-JP"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 now signed -</a:t>
                      </a:r>
                      <a:r>
                        <a:rPr kumimoji="1" lang="ja-JP" altLang="en-US"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 </a:t>
                      </a:r>
                      <a:r>
                        <a:rPr kumimoji="1" lang="en-GB" altLang="ja-JP"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Implementation</a:t>
                      </a:r>
                      <a:r>
                        <a:rPr kumimoji="1" lang="ja-JP" altLang="en-US"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 </a:t>
                      </a:r>
                      <a:r>
                        <a:rPr kumimoji="1" lang="en-GB" altLang="ja-JP"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planned</a:t>
                      </a:r>
                      <a:r>
                        <a:rPr kumimoji="1" lang="ja-JP" altLang="en-US"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 </a:t>
                      </a:r>
                      <a:r>
                        <a:rPr kumimoji="1" lang="en-GB" altLang="ja-JP"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to</a:t>
                      </a:r>
                      <a:r>
                        <a:rPr kumimoji="1" lang="ja-JP" altLang="en-US"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 </a:t>
                      </a:r>
                      <a:r>
                        <a:rPr kumimoji="1" lang="en-GB" altLang="ja-JP"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original timescale</a:t>
                      </a:r>
                    </a:p>
                  </a:txBody>
                  <a:tcPr anchor="ctr"/>
                </a:tc>
                <a:extLst>
                  <a:ext uri="{0D108BD9-81ED-4DB2-BD59-A6C34878D82A}">
                    <a16:rowId xmlns:a16="http://schemas.microsoft.com/office/drawing/2014/main" val="3155318036"/>
                  </a:ext>
                </a:extLst>
              </a:tr>
              <a:tr h="3037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GB" altLang="ja-JP" sz="1050" b="0" i="0" u="none" strike="noStrike" kern="1200" cap="none" spc="0" normalizeH="0" baseline="0" noProof="0" dirty="0">
                          <a:ln>
                            <a:noFill/>
                          </a:ln>
                          <a:solidFill>
                            <a:srgbClr val="344251"/>
                          </a:solidFill>
                          <a:effectLst/>
                          <a:uLnTx/>
                          <a:uFillTx/>
                          <a:latin typeface="+mn-lt"/>
                          <a:ea typeface="Meiryo UI"/>
                          <a:cs typeface="Roboto" panose="02000000000000000000" pitchFamily="2" charset="0"/>
                        </a:rPr>
                        <a:t>Sales &amp; Marketing</a:t>
                      </a:r>
                      <a:endParaRPr kumimoji="1" lang="ja-JP" altLang="en-US" sz="1200" b="1" dirty="0">
                        <a:solidFill>
                          <a:srgbClr val="344251"/>
                        </a:solidFill>
                      </a:endParaRPr>
                    </a:p>
                  </a:txBody>
                  <a:tcPr anchor="ctr">
                    <a:solidFill>
                      <a:srgbClr val="FFC000"/>
                    </a:solidFill>
                  </a:tcPr>
                </a:tc>
                <a:tc>
                  <a:txBody>
                    <a:bodyPr/>
                    <a:lstStyle/>
                    <a:p>
                      <a:pPr algn="ctr"/>
                      <a:r>
                        <a:rPr kumimoji="1" lang="en-GB" altLang="ja-JP" sz="1200" b="0" dirty="0">
                          <a:solidFill>
                            <a:srgbClr val="344251"/>
                          </a:solidFill>
                        </a:rPr>
                        <a:t>4</a:t>
                      </a:r>
                    </a:p>
                  </a:txBody>
                  <a:tcPr anchor="ctr"/>
                </a:tc>
                <a:tc>
                  <a:txBody>
                    <a:bodyPr/>
                    <a:lstStyle/>
                    <a:p>
                      <a:pPr algn="l"/>
                      <a:r>
                        <a:rPr kumimoji="1" lang="en-GB" altLang="ja-JP"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Launch New P700 &amp; VK11 Product Range in 2026 – SOP from May 26 </a:t>
                      </a:r>
                      <a:endParaRPr kumimoji="1" lang="ja-JP" altLang="en-US" sz="1200" b="0" dirty="0">
                        <a:solidFill>
                          <a:srgbClr val="344251"/>
                        </a:solidFill>
                      </a:endParaRPr>
                    </a:p>
                  </a:txBody>
                  <a:tcPr anchor="ctr"/>
                </a:tc>
                <a:extLst>
                  <a:ext uri="{0D108BD9-81ED-4DB2-BD59-A6C34878D82A}">
                    <a16:rowId xmlns:a16="http://schemas.microsoft.com/office/drawing/2014/main" val="416426308"/>
                  </a:ext>
                </a:extLst>
              </a:tr>
              <a:tr h="0">
                <a:tc>
                  <a:txBody>
                    <a:bodyPr/>
                    <a:lstStyle/>
                    <a:p>
                      <a:pPr algn="ctr"/>
                      <a:r>
                        <a:rPr kumimoji="1" lang="en-US" altLang="ja-JP" sz="1050" b="0" i="0" u="none" strike="noStrike" kern="1200" cap="none" spc="0" normalizeH="0" baseline="0" noProof="0" dirty="0">
                          <a:ln>
                            <a:noFill/>
                          </a:ln>
                          <a:solidFill>
                            <a:srgbClr val="344251"/>
                          </a:solidFill>
                          <a:effectLst/>
                          <a:uLnTx/>
                          <a:uFillTx/>
                          <a:latin typeface="+mn-lt"/>
                          <a:ea typeface="Meiryo UI"/>
                          <a:cs typeface="Roboto" panose="02000000000000000000" pitchFamily="2" charset="0"/>
                        </a:rPr>
                        <a:t>Sales &amp; Marketing</a:t>
                      </a:r>
                      <a:endParaRPr kumimoji="1" lang="ja-JP" altLang="en-US" sz="1050" b="1" dirty="0">
                        <a:solidFill>
                          <a:srgbClr val="344251"/>
                        </a:solidFill>
                      </a:endParaRPr>
                    </a:p>
                  </a:txBody>
                  <a:tcPr anchor="ctr">
                    <a:solidFill>
                      <a:srgbClr val="00B050"/>
                    </a:solidFill>
                  </a:tcPr>
                </a:tc>
                <a:tc>
                  <a:txBody>
                    <a:bodyPr/>
                    <a:lstStyle/>
                    <a:p>
                      <a:pPr algn="ctr"/>
                      <a:r>
                        <a:rPr kumimoji="1" lang="en-GB" altLang="ja-JP" sz="1200" b="0" dirty="0">
                          <a:solidFill>
                            <a:srgbClr val="344251"/>
                          </a:solidFill>
                        </a:rPr>
                        <a:t>5</a:t>
                      </a:r>
                      <a:endParaRPr kumimoji="1" lang="ja-JP" altLang="en-US" sz="1200" b="0" dirty="0">
                        <a:solidFill>
                          <a:srgbClr val="34425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dirty="0">
                          <a:solidFill>
                            <a:srgbClr val="344251"/>
                          </a:solidFill>
                          <a:effectLst/>
                          <a:latin typeface="+mn-lt"/>
                          <a:ea typeface="Roboto" panose="02000000000000000000" pitchFamily="2" charset="0"/>
                          <a:cs typeface="Roboto" panose="02000000000000000000" pitchFamily="2" charset="0"/>
                        </a:rPr>
                        <a:t>Revise Dealer Registration Rewards process : Change to inbound Wholesale Bonus, post P700 Launch allows greater flexibility for Dealers to “rescue” achievement </a:t>
                      </a:r>
                      <a:endParaRPr kumimoji="1" lang="ja-JP" altLang="en-US" sz="1200" b="0" dirty="0">
                        <a:solidFill>
                          <a:srgbClr val="344251"/>
                        </a:solidFill>
                      </a:endParaRPr>
                    </a:p>
                  </a:txBody>
                  <a:tcPr anchor="ctr"/>
                </a:tc>
                <a:extLst>
                  <a:ext uri="{0D108BD9-81ED-4DB2-BD59-A6C34878D82A}">
                    <a16:rowId xmlns:a16="http://schemas.microsoft.com/office/drawing/2014/main" val="4098641788"/>
                  </a:ext>
                </a:extLst>
              </a:tr>
              <a:tr h="3037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344251"/>
                          </a:solidFill>
                          <a:effectLst/>
                          <a:uLnTx/>
                          <a:uFillTx/>
                          <a:latin typeface="+mn-lt"/>
                          <a:ea typeface="Meiryo UI"/>
                          <a:cs typeface="Roboto" panose="02000000000000000000" pitchFamily="2" charset="0"/>
                        </a:rPr>
                        <a:t>Sales &amp; Marketing</a:t>
                      </a:r>
                      <a:endParaRPr kumimoji="1" lang="ja-JP" altLang="en-US" sz="1800" b="1" dirty="0">
                        <a:solidFill>
                          <a:srgbClr val="344251"/>
                        </a:solidFill>
                      </a:endParaRPr>
                    </a:p>
                  </a:txBody>
                  <a:tcPr anchor="ctr">
                    <a:solidFill>
                      <a:srgbClr val="00B050"/>
                    </a:solidFill>
                  </a:tcPr>
                </a:tc>
                <a:tc>
                  <a:txBody>
                    <a:bodyPr/>
                    <a:lstStyle/>
                    <a:p>
                      <a:pPr algn="ctr"/>
                      <a:r>
                        <a:rPr kumimoji="1" lang="en-GB" altLang="ja-JP" sz="1200" b="0" dirty="0">
                          <a:solidFill>
                            <a:srgbClr val="344251"/>
                          </a:solidFill>
                        </a:rPr>
                        <a:t>6</a:t>
                      </a:r>
                      <a:endParaRPr kumimoji="1" lang="ja-JP" altLang="en-US" sz="1200" b="0" dirty="0">
                        <a:solidFill>
                          <a:srgbClr val="34425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GB" altLang="ja-JP" sz="1200" b="0" dirty="0">
                          <a:solidFill>
                            <a:srgbClr val="344251"/>
                          </a:solidFill>
                        </a:rPr>
                        <a:t>Introduce financial incentive to expand Extended Warranty/R&amp;M - Retail Challenging</a:t>
                      </a:r>
                      <a:endParaRPr kumimoji="1" lang="ja-JP" altLang="en-US" sz="1200" b="0" dirty="0">
                        <a:solidFill>
                          <a:srgbClr val="344251"/>
                        </a:solidFill>
                      </a:endParaRPr>
                    </a:p>
                  </a:txBody>
                  <a:tcPr anchor="ctr"/>
                </a:tc>
                <a:extLst>
                  <a:ext uri="{0D108BD9-81ED-4DB2-BD59-A6C34878D82A}">
                    <a16:rowId xmlns:a16="http://schemas.microsoft.com/office/drawing/2014/main" val="2808846489"/>
                  </a:ext>
                </a:extLst>
              </a:tr>
              <a:tr h="303734">
                <a:tc>
                  <a:txBody>
                    <a:bodyPr/>
                    <a:lstStyle/>
                    <a:p>
                      <a:pPr algn="ctr"/>
                      <a:r>
                        <a:rPr kumimoji="1" lang="en-US" altLang="ja-JP" sz="1050" b="0" i="0" u="none" strike="noStrike" kern="1200" cap="none" spc="0" normalizeH="0" baseline="0" noProof="0" dirty="0">
                          <a:ln>
                            <a:noFill/>
                          </a:ln>
                          <a:solidFill>
                            <a:srgbClr val="344251"/>
                          </a:solidFill>
                          <a:effectLst/>
                          <a:uLnTx/>
                          <a:uFillTx/>
                          <a:latin typeface="+mn-lt"/>
                          <a:ea typeface="Meiryo UI"/>
                          <a:cs typeface="Roboto" panose="02000000000000000000" pitchFamily="2" charset="0"/>
                        </a:rPr>
                        <a:t>Sales &amp; Marketing</a:t>
                      </a:r>
                      <a:endParaRPr kumimoji="1" lang="ja-JP" altLang="en-US" sz="1050" b="0" dirty="0">
                        <a:solidFill>
                          <a:srgbClr val="344251"/>
                        </a:solidFill>
                      </a:endParaRPr>
                    </a:p>
                  </a:txBody>
                  <a:tcPr anchor="ctr">
                    <a:solidFill>
                      <a:srgbClr val="00B050"/>
                    </a:solidFill>
                  </a:tcPr>
                </a:tc>
                <a:tc>
                  <a:txBody>
                    <a:bodyPr/>
                    <a:lstStyle/>
                    <a:p>
                      <a:pPr algn="ctr"/>
                      <a:r>
                        <a:rPr kumimoji="1" lang="en-GB" altLang="ja-JP" sz="1200" b="0" dirty="0">
                          <a:solidFill>
                            <a:srgbClr val="344251"/>
                          </a:solidFill>
                        </a:rPr>
                        <a:t>7</a:t>
                      </a:r>
                      <a:endParaRPr kumimoji="1" lang="ja-JP" altLang="en-US" sz="1200" b="0" dirty="0">
                        <a:solidFill>
                          <a:srgbClr val="34425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GB" altLang="ja-JP" sz="1200" b="0" i="0" u="none" strike="noStrike" kern="1200" cap="none" spc="0" normalizeH="0" baseline="0" noProof="0" dirty="0">
                          <a:ln>
                            <a:noFill/>
                          </a:ln>
                          <a:solidFill>
                            <a:srgbClr val="344251"/>
                          </a:solidFill>
                          <a:effectLst/>
                          <a:uLnTx/>
                          <a:uFillTx/>
                          <a:latin typeface="+mn-lt"/>
                          <a:ea typeface="Meiryo UI"/>
                          <a:cs typeface="Roboto" panose="02000000000000000000" pitchFamily="2" charset="0"/>
                        </a:rPr>
                        <a:t>Annual i</a:t>
                      </a:r>
                      <a:r>
                        <a:rPr kumimoji="1" lang="en-GB" altLang="ja-JP"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ncrease all Outbound Vehicle Sales Pricing, above IML additional cost FY25 – prices since 2023 artificially increased to reduce impact of P700 severe price step</a:t>
                      </a:r>
                      <a:endParaRPr kumimoji="1" lang="ja-JP" altLang="en-US" sz="1200" b="0" dirty="0">
                        <a:solidFill>
                          <a:srgbClr val="344251"/>
                        </a:solidFill>
                      </a:endParaRPr>
                    </a:p>
                  </a:txBody>
                  <a:tcPr anchor="ctr"/>
                </a:tc>
                <a:extLst>
                  <a:ext uri="{0D108BD9-81ED-4DB2-BD59-A6C34878D82A}">
                    <a16:rowId xmlns:a16="http://schemas.microsoft.com/office/drawing/2014/main" val="5252274"/>
                  </a:ext>
                </a:extLst>
              </a:tr>
              <a:tr h="303734">
                <a:tc>
                  <a:txBody>
                    <a:bodyPr/>
                    <a:lstStyle/>
                    <a:p>
                      <a:pPr algn="ctr"/>
                      <a:r>
                        <a:rPr kumimoji="1" lang="en-US" altLang="ja-JP" sz="1050" b="0" i="0" u="none" strike="noStrike" kern="1200" cap="none" spc="0" normalizeH="0" baseline="0" noProof="0" dirty="0">
                          <a:ln>
                            <a:noFill/>
                          </a:ln>
                          <a:solidFill>
                            <a:srgbClr val="344251"/>
                          </a:solidFill>
                          <a:effectLst/>
                          <a:uLnTx/>
                          <a:uFillTx/>
                          <a:latin typeface="+mn-lt"/>
                          <a:ea typeface="Meiryo UI"/>
                          <a:cs typeface="Roboto" panose="02000000000000000000" pitchFamily="2" charset="0"/>
                        </a:rPr>
                        <a:t>Parts</a:t>
                      </a:r>
                      <a:endParaRPr kumimoji="1" lang="ja-JP" altLang="en-US" sz="1050" b="1" dirty="0">
                        <a:solidFill>
                          <a:srgbClr val="344251"/>
                        </a:solidFill>
                      </a:endParaRPr>
                    </a:p>
                  </a:txBody>
                  <a:tcPr anchor="ctr">
                    <a:solidFill>
                      <a:srgbClr val="FFC000"/>
                    </a:solidFill>
                  </a:tcPr>
                </a:tc>
                <a:tc>
                  <a:txBody>
                    <a:bodyPr/>
                    <a:lstStyle/>
                    <a:p>
                      <a:pPr algn="ctr"/>
                      <a:r>
                        <a:rPr kumimoji="1" lang="en-GB" altLang="ja-JP" sz="1200" b="0" dirty="0">
                          <a:solidFill>
                            <a:srgbClr val="344251"/>
                          </a:solidFill>
                        </a:rPr>
                        <a:t>8</a:t>
                      </a:r>
                      <a:endParaRPr kumimoji="1" lang="ja-JP" altLang="en-US" sz="1200" b="0" dirty="0">
                        <a:solidFill>
                          <a:srgbClr val="34425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GB" altLang="ja-JP"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Expand Parts Sales to strategic 3</a:t>
                      </a:r>
                      <a:r>
                        <a:rPr kumimoji="1" lang="en-GB" altLang="ja-JP" sz="1200" b="0" i="0" u="none" strike="noStrike" kern="1200" cap="none" spc="0" normalizeH="0" baseline="30000" noProof="0" dirty="0">
                          <a:ln>
                            <a:noFill/>
                          </a:ln>
                          <a:solidFill>
                            <a:srgbClr val="344251"/>
                          </a:solidFill>
                          <a:effectLst/>
                          <a:uLnTx/>
                          <a:uFillTx/>
                          <a:latin typeface="+mn-lt"/>
                          <a:ea typeface="Roboto" panose="02000000000000000000" pitchFamily="2" charset="0"/>
                          <a:cs typeface="Roboto" panose="02000000000000000000" pitchFamily="2" charset="0"/>
                        </a:rPr>
                        <a:t>rd</a:t>
                      </a:r>
                      <a:r>
                        <a:rPr kumimoji="1" lang="en-GB" altLang="ja-JP" sz="1200" b="0" i="0" u="none" strike="noStrike" kern="1200" cap="none" spc="0" normalizeH="0" baseline="0" noProof="0" dirty="0">
                          <a:ln>
                            <a:noFill/>
                          </a:ln>
                          <a:solidFill>
                            <a:srgbClr val="344251"/>
                          </a:solidFill>
                          <a:effectLst/>
                          <a:uLnTx/>
                          <a:uFillTx/>
                          <a:latin typeface="+mn-lt"/>
                          <a:ea typeface="Roboto" panose="02000000000000000000" pitchFamily="2" charset="0"/>
                          <a:cs typeface="Roboto" panose="02000000000000000000" pitchFamily="2" charset="0"/>
                        </a:rPr>
                        <a:t> Party Repairers – impacted by E-commerce delay </a:t>
                      </a:r>
                      <a:endParaRPr kumimoji="1" lang="ja-JP" altLang="en-US" sz="1200" b="0" dirty="0">
                        <a:solidFill>
                          <a:srgbClr val="344251"/>
                        </a:solidFill>
                      </a:endParaRPr>
                    </a:p>
                  </a:txBody>
                  <a:tcPr anchor="ctr"/>
                </a:tc>
                <a:extLst>
                  <a:ext uri="{0D108BD9-81ED-4DB2-BD59-A6C34878D82A}">
                    <a16:rowId xmlns:a16="http://schemas.microsoft.com/office/drawing/2014/main" val="4037916945"/>
                  </a:ext>
                </a:extLst>
              </a:tr>
              <a:tr h="3037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GB" altLang="ja-JP" sz="1050" b="0" i="0" u="none" strike="noStrike" kern="1200" cap="none" spc="0" normalizeH="0" baseline="0" dirty="0">
                          <a:ln>
                            <a:noFill/>
                          </a:ln>
                          <a:solidFill>
                            <a:srgbClr val="344251"/>
                          </a:solidFill>
                          <a:effectLst/>
                          <a:uLnTx/>
                          <a:uFillTx/>
                          <a:latin typeface="+mn-lt"/>
                          <a:ea typeface="Meiryo UI"/>
                          <a:cs typeface="Roboto" panose="02000000000000000000" pitchFamily="2" charset="0"/>
                        </a:rPr>
                        <a:t>Operations</a:t>
                      </a:r>
                      <a:endParaRPr kumimoji="1" lang="ja-JP" altLang="en-US" sz="1050" b="0" i="0" u="none" strike="noStrike" kern="1200" cap="none" spc="0" normalizeH="0" baseline="0" dirty="0">
                        <a:ln>
                          <a:noFill/>
                        </a:ln>
                        <a:solidFill>
                          <a:srgbClr val="344251"/>
                        </a:solidFill>
                        <a:effectLst/>
                        <a:uLnTx/>
                        <a:uFillTx/>
                        <a:latin typeface="+mn-lt"/>
                        <a:ea typeface="Meiryo UI"/>
                        <a:cs typeface="Roboto" panose="02000000000000000000" pitchFamily="2" charset="0"/>
                      </a:endParaRPr>
                    </a:p>
                  </a:txBody>
                  <a:tcPr anchor="ctr">
                    <a:solidFill>
                      <a:srgbClr val="FFC000"/>
                    </a:solidFill>
                  </a:tcPr>
                </a:tc>
                <a:tc>
                  <a:txBody>
                    <a:bodyPr/>
                    <a:lstStyle/>
                    <a:p>
                      <a:pPr algn="ctr"/>
                      <a:r>
                        <a:rPr kumimoji="1" lang="en-GB" altLang="ja-JP" sz="1200" b="0" dirty="0">
                          <a:solidFill>
                            <a:srgbClr val="344251"/>
                          </a:solidFill>
                        </a:rPr>
                        <a:t>9</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GB" altLang="ja-JP" sz="1200" b="0" dirty="0">
                          <a:solidFill>
                            <a:srgbClr val="344251"/>
                          </a:solidFill>
                        </a:rPr>
                        <a:t>Launch Connected Solution for all models  - change of strategy due to functionality </a:t>
                      </a:r>
                      <a:endParaRPr kumimoji="1" lang="ja-JP" altLang="en-US" sz="1200" b="0" dirty="0">
                        <a:solidFill>
                          <a:srgbClr val="344251"/>
                        </a:solidFill>
                      </a:endParaRPr>
                    </a:p>
                  </a:txBody>
                  <a:tcPr anchor="ctr"/>
                </a:tc>
                <a:extLst>
                  <a:ext uri="{0D108BD9-81ED-4DB2-BD59-A6C34878D82A}">
                    <a16:rowId xmlns:a16="http://schemas.microsoft.com/office/drawing/2014/main" val="1658173930"/>
                  </a:ext>
                </a:extLst>
              </a:tr>
              <a:tr h="303734">
                <a:tc>
                  <a:txBody>
                    <a:bodyPr/>
                    <a:lstStyle/>
                    <a:p>
                      <a:pPr algn="ctr"/>
                      <a:r>
                        <a:rPr kumimoji="1" lang="en-GB" altLang="ja-JP" sz="1050" b="0" dirty="0">
                          <a:solidFill>
                            <a:srgbClr val="344251"/>
                          </a:solidFill>
                        </a:rPr>
                        <a:t>CARE &amp; Ops </a:t>
                      </a:r>
                      <a:endParaRPr kumimoji="1" lang="ja-JP" altLang="en-US" sz="1050" b="0" dirty="0">
                        <a:solidFill>
                          <a:srgbClr val="344251"/>
                        </a:solidFill>
                      </a:endParaRPr>
                    </a:p>
                  </a:txBody>
                  <a:tcPr anchor="ctr">
                    <a:solidFill>
                      <a:srgbClr val="00B050"/>
                    </a:solidFill>
                  </a:tcPr>
                </a:tc>
                <a:tc>
                  <a:txBody>
                    <a:bodyPr/>
                    <a:lstStyle/>
                    <a:p>
                      <a:pPr algn="ctr"/>
                      <a:r>
                        <a:rPr kumimoji="1" lang="en-GB" altLang="ja-JP" sz="1200" b="0" dirty="0">
                          <a:solidFill>
                            <a:srgbClr val="344251"/>
                          </a:solidFill>
                        </a:rPr>
                        <a:t>10</a:t>
                      </a:r>
                      <a:endParaRPr kumimoji="1" lang="ja-JP" altLang="en-US" sz="1200" b="0" dirty="0">
                        <a:solidFill>
                          <a:srgbClr val="344251"/>
                        </a:solidFill>
                      </a:endParaRPr>
                    </a:p>
                  </a:txBody>
                  <a:tcPr anchor="ctr"/>
                </a:tc>
                <a:tc>
                  <a:txBody>
                    <a:bodyPr/>
                    <a:lstStyle/>
                    <a:p>
                      <a:pPr algn="l"/>
                      <a:r>
                        <a:rPr kumimoji="1" lang="en-GB" altLang="ja-JP" sz="1200" b="0" dirty="0">
                          <a:solidFill>
                            <a:srgbClr val="344251"/>
                          </a:solidFill>
                        </a:rPr>
                        <a:t>Introduce anti-corrosion chassis treatment facility at port – operational &amp; very effective  </a:t>
                      </a:r>
                      <a:endParaRPr kumimoji="1" lang="ja-JP" altLang="en-US" sz="1200" b="0" dirty="0">
                        <a:solidFill>
                          <a:srgbClr val="344251"/>
                        </a:solidFill>
                      </a:endParaRPr>
                    </a:p>
                  </a:txBody>
                  <a:tcPr anchor="ctr"/>
                </a:tc>
                <a:extLst>
                  <a:ext uri="{0D108BD9-81ED-4DB2-BD59-A6C34878D82A}">
                    <a16:rowId xmlns:a16="http://schemas.microsoft.com/office/drawing/2014/main" val="4006111676"/>
                  </a:ext>
                </a:extLst>
              </a:tr>
            </a:tbl>
          </a:graphicData>
        </a:graphic>
      </p:graphicFrame>
      <p:graphicFrame>
        <p:nvGraphicFramePr>
          <p:cNvPr id="32" name="表 31">
            <a:extLst>
              <a:ext uri="{FF2B5EF4-FFF2-40B4-BE49-F238E27FC236}">
                <a16:creationId xmlns:a16="http://schemas.microsoft.com/office/drawing/2014/main" id="{0793F2DF-E7AB-300D-74FA-2E66BB97932B}"/>
              </a:ext>
            </a:extLst>
          </p:cNvPr>
          <p:cNvGraphicFramePr>
            <a:graphicFrameLocks noGrp="1"/>
          </p:cNvGraphicFramePr>
          <p:nvPr/>
        </p:nvGraphicFramePr>
        <p:xfrm>
          <a:off x="4056079" y="5295028"/>
          <a:ext cx="7756188" cy="1422000"/>
        </p:xfrm>
        <a:graphic>
          <a:graphicData uri="http://schemas.openxmlformats.org/drawingml/2006/table">
            <a:tbl>
              <a:tblPr firstRow="1" bandRow="1">
                <a:tableStyleId>{073A0DAA-6AF3-43AB-8588-CEC1D06C72B9}</a:tableStyleId>
              </a:tblPr>
              <a:tblGrid>
                <a:gridCol w="1247347">
                  <a:extLst>
                    <a:ext uri="{9D8B030D-6E8A-4147-A177-3AD203B41FA5}">
                      <a16:colId xmlns:a16="http://schemas.microsoft.com/office/drawing/2014/main" val="1315231023"/>
                    </a:ext>
                  </a:extLst>
                </a:gridCol>
                <a:gridCol w="1069775">
                  <a:extLst>
                    <a:ext uri="{9D8B030D-6E8A-4147-A177-3AD203B41FA5}">
                      <a16:colId xmlns:a16="http://schemas.microsoft.com/office/drawing/2014/main" val="3866955069"/>
                    </a:ext>
                  </a:extLst>
                </a:gridCol>
                <a:gridCol w="687712">
                  <a:extLst>
                    <a:ext uri="{9D8B030D-6E8A-4147-A177-3AD203B41FA5}">
                      <a16:colId xmlns:a16="http://schemas.microsoft.com/office/drawing/2014/main" val="1077324482"/>
                    </a:ext>
                  </a:extLst>
                </a:gridCol>
                <a:gridCol w="687712">
                  <a:extLst>
                    <a:ext uri="{9D8B030D-6E8A-4147-A177-3AD203B41FA5}">
                      <a16:colId xmlns:a16="http://schemas.microsoft.com/office/drawing/2014/main" val="531796516"/>
                    </a:ext>
                  </a:extLst>
                </a:gridCol>
                <a:gridCol w="4063642">
                  <a:extLst>
                    <a:ext uri="{9D8B030D-6E8A-4147-A177-3AD203B41FA5}">
                      <a16:colId xmlns:a16="http://schemas.microsoft.com/office/drawing/2014/main" val="3389240280"/>
                    </a:ext>
                  </a:extLst>
                </a:gridCol>
              </a:tblGrid>
              <a:tr h="284400">
                <a:tc>
                  <a:txBody>
                    <a:bodyPr/>
                    <a:lstStyle/>
                    <a:p>
                      <a:pPr algn="ctr"/>
                      <a:r>
                        <a:rPr kumimoji="1" lang="en-US" altLang="ja-JP" sz="1100" dirty="0">
                          <a:solidFill>
                            <a:schemeClr val="bg1"/>
                          </a:solidFill>
                        </a:rPr>
                        <a:t>Price</a:t>
                      </a:r>
                      <a:r>
                        <a:rPr kumimoji="1" lang="ja-JP" altLang="en-US" sz="1100" dirty="0">
                          <a:solidFill>
                            <a:schemeClr val="bg1"/>
                          </a:solidFill>
                        </a:rPr>
                        <a:t> </a:t>
                      </a:r>
                      <a:r>
                        <a:rPr kumimoji="1" lang="en-US" altLang="ja-JP" sz="1100" dirty="0">
                          <a:solidFill>
                            <a:schemeClr val="bg1"/>
                          </a:solidFill>
                        </a:rPr>
                        <a:t>Increase</a:t>
                      </a:r>
                      <a:endParaRPr kumimoji="1" lang="ja-JP" altLang="en-US" sz="1100" dirty="0">
                        <a:solidFill>
                          <a:schemeClr val="bg1"/>
                        </a:solidFill>
                      </a:endParaRPr>
                    </a:p>
                  </a:txBody>
                  <a:tcPr>
                    <a:solidFill>
                      <a:srgbClr val="344251"/>
                    </a:solidFill>
                  </a:tcPr>
                </a:tc>
                <a:tc>
                  <a:txBody>
                    <a:bodyPr/>
                    <a:lstStyle/>
                    <a:p>
                      <a:pPr algn="ctr"/>
                      <a:r>
                        <a:rPr kumimoji="1" lang="en-US" altLang="ja-JP" sz="1100" dirty="0">
                          <a:solidFill>
                            <a:schemeClr val="bg1"/>
                          </a:solidFill>
                        </a:rPr>
                        <a:t>Timing</a:t>
                      </a:r>
                      <a:endParaRPr kumimoji="1" lang="ja-JP" altLang="en-US" sz="1100" dirty="0">
                        <a:solidFill>
                          <a:schemeClr val="bg1"/>
                        </a:solidFill>
                      </a:endParaRPr>
                    </a:p>
                  </a:txBody>
                  <a:tcPr>
                    <a:solidFill>
                      <a:srgbClr val="344251"/>
                    </a:solidFill>
                  </a:tcPr>
                </a:tc>
                <a:tc>
                  <a:txBody>
                    <a:bodyPr/>
                    <a:lstStyle/>
                    <a:p>
                      <a:pPr algn="ctr"/>
                      <a:r>
                        <a:rPr kumimoji="1" lang="en-US" altLang="ja-JP" sz="1100" dirty="0">
                          <a:solidFill>
                            <a:schemeClr val="bg1"/>
                          </a:solidFill>
                        </a:rPr>
                        <a:t>N</a:t>
                      </a:r>
                      <a:endParaRPr kumimoji="1" lang="ja-JP" altLang="en-US" sz="1100" dirty="0">
                        <a:solidFill>
                          <a:schemeClr val="bg1"/>
                        </a:solidFill>
                      </a:endParaRPr>
                    </a:p>
                  </a:txBody>
                  <a:tcPr>
                    <a:solidFill>
                      <a:srgbClr val="344251"/>
                    </a:solidFill>
                  </a:tcPr>
                </a:tc>
                <a:tc>
                  <a:txBody>
                    <a:bodyPr/>
                    <a:lstStyle/>
                    <a:p>
                      <a:pPr algn="ctr"/>
                      <a:r>
                        <a:rPr kumimoji="1" lang="en-US" altLang="ja-JP" sz="1100" dirty="0">
                          <a:solidFill>
                            <a:schemeClr val="bg1"/>
                          </a:solidFill>
                        </a:rPr>
                        <a:t>F</a:t>
                      </a:r>
                      <a:endParaRPr kumimoji="1" lang="ja-JP" altLang="en-US" sz="1100" dirty="0">
                        <a:solidFill>
                          <a:schemeClr val="bg1"/>
                        </a:solidFill>
                      </a:endParaRPr>
                    </a:p>
                  </a:txBody>
                  <a:tcPr>
                    <a:solidFill>
                      <a:srgbClr val="344251"/>
                    </a:solidFill>
                  </a:tcPr>
                </a:tc>
                <a:tc>
                  <a:txBody>
                    <a:bodyPr/>
                    <a:lstStyle/>
                    <a:p>
                      <a:pPr algn="ctr"/>
                      <a:r>
                        <a:rPr kumimoji="1" lang="en-US" altLang="ja-JP" sz="1100">
                          <a:solidFill>
                            <a:schemeClr val="bg1"/>
                          </a:solidFill>
                        </a:rPr>
                        <a:t>Comment</a:t>
                      </a:r>
                      <a:endParaRPr kumimoji="1" lang="ja-JP" altLang="en-US" sz="1100">
                        <a:solidFill>
                          <a:schemeClr val="bg1"/>
                        </a:solidFill>
                      </a:endParaRPr>
                    </a:p>
                  </a:txBody>
                  <a:tcPr>
                    <a:solidFill>
                      <a:srgbClr val="344251"/>
                    </a:solidFill>
                  </a:tcPr>
                </a:tc>
                <a:extLst>
                  <a:ext uri="{0D108BD9-81ED-4DB2-BD59-A6C34878D82A}">
                    <a16:rowId xmlns:a16="http://schemas.microsoft.com/office/drawing/2014/main" val="2688227051"/>
                  </a:ext>
                </a:extLst>
              </a:tr>
              <a:tr h="284400">
                <a:tc>
                  <a:txBody>
                    <a:bodyPr/>
                    <a:lstStyle/>
                    <a:p>
                      <a:pPr algn="ctr"/>
                      <a:r>
                        <a:rPr kumimoji="1" lang="en-GB" altLang="ja-JP" sz="1100" b="1" dirty="0">
                          <a:solidFill>
                            <a:srgbClr val="344251"/>
                          </a:solidFill>
                        </a:rPr>
                        <a:t>FY23</a:t>
                      </a:r>
                      <a:endParaRPr kumimoji="1" lang="ja-JP" altLang="en-US" sz="1100" b="1">
                        <a:solidFill>
                          <a:srgbClr val="344251"/>
                        </a:solidFill>
                      </a:endParaRPr>
                    </a:p>
                  </a:txBody>
                  <a:tcPr anchor="ctr"/>
                </a:tc>
                <a:tc>
                  <a:txBody>
                    <a:bodyPr/>
                    <a:lstStyle/>
                    <a:p>
                      <a:pPr algn="ctr"/>
                      <a:r>
                        <a:rPr kumimoji="1" lang="en-GB" altLang="ja-JP" sz="1100" b="1" dirty="0">
                          <a:solidFill>
                            <a:srgbClr val="344251"/>
                          </a:solidFill>
                        </a:rPr>
                        <a:t>Jan. 2023</a:t>
                      </a:r>
                      <a:endParaRPr kumimoji="1" lang="ja-JP" altLang="en-US" sz="1100" b="1">
                        <a:solidFill>
                          <a:srgbClr val="344251"/>
                        </a:solidFill>
                      </a:endParaRPr>
                    </a:p>
                  </a:txBody>
                  <a:tcPr anchor="ctr"/>
                </a:tc>
                <a:tc>
                  <a:txBody>
                    <a:bodyPr/>
                    <a:lstStyle/>
                    <a:p>
                      <a:pPr algn="r"/>
                      <a:r>
                        <a:rPr kumimoji="1" lang="en-GB" altLang="ja-JP" sz="1050" dirty="0">
                          <a:solidFill>
                            <a:srgbClr val="344251"/>
                          </a:solidFill>
                        </a:rPr>
                        <a:t>+5.5%</a:t>
                      </a:r>
                      <a:endParaRPr kumimoji="1" lang="ja-JP" altLang="en-US" sz="1050">
                        <a:solidFill>
                          <a:srgbClr val="344251"/>
                        </a:solidFill>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GB" altLang="ja-JP" sz="1050" dirty="0">
                          <a:solidFill>
                            <a:srgbClr val="344251"/>
                          </a:solidFill>
                        </a:rPr>
                        <a:t>+5.5%</a:t>
                      </a:r>
                      <a:endParaRPr kumimoji="1" lang="ja-JP" altLang="en-US" sz="1050" dirty="0">
                        <a:solidFill>
                          <a:srgbClr val="344251"/>
                        </a:solidFill>
                      </a:endParaRPr>
                    </a:p>
                  </a:txBody>
                  <a:tcPr anchor="ctr"/>
                </a:tc>
                <a:tc>
                  <a:txBody>
                    <a:bodyPr/>
                    <a:lstStyle/>
                    <a:p>
                      <a:r>
                        <a:rPr kumimoji="1" lang="en-GB" altLang="ja-JP" sz="1100" dirty="0">
                          <a:solidFill>
                            <a:srgbClr val="344251"/>
                          </a:solidFill>
                        </a:rPr>
                        <a:t>Outbound Price Increase 01/01/23, April 2023 CBU</a:t>
                      </a:r>
                      <a:endParaRPr kumimoji="1" lang="ja-JP" altLang="en-US" sz="1100" dirty="0">
                        <a:solidFill>
                          <a:srgbClr val="344251"/>
                        </a:solidFill>
                      </a:endParaRPr>
                    </a:p>
                  </a:txBody>
                  <a:tcPr anchor="ctr"/>
                </a:tc>
                <a:extLst>
                  <a:ext uri="{0D108BD9-81ED-4DB2-BD59-A6C34878D82A}">
                    <a16:rowId xmlns:a16="http://schemas.microsoft.com/office/drawing/2014/main" val="4096534519"/>
                  </a:ext>
                </a:extLst>
              </a:tr>
              <a:tr h="284400">
                <a:tc>
                  <a:txBody>
                    <a:bodyPr/>
                    <a:lstStyle/>
                    <a:p>
                      <a:pPr algn="ctr"/>
                      <a:r>
                        <a:rPr kumimoji="1" lang="en-US" altLang="ja-JP" sz="1100" b="1" dirty="0">
                          <a:solidFill>
                            <a:srgbClr val="344251"/>
                          </a:solidFill>
                        </a:rPr>
                        <a:t>FY24</a:t>
                      </a:r>
                      <a:endParaRPr kumimoji="1" lang="ja-JP" altLang="en-US" sz="1100" b="1">
                        <a:solidFill>
                          <a:srgbClr val="344251"/>
                        </a:solidFill>
                      </a:endParaRPr>
                    </a:p>
                  </a:txBody>
                  <a:tcPr anchor="ctr"/>
                </a:tc>
                <a:tc>
                  <a:txBody>
                    <a:bodyPr/>
                    <a:lstStyle/>
                    <a:p>
                      <a:pPr algn="ctr"/>
                      <a:r>
                        <a:rPr kumimoji="1" lang="en-US" altLang="ja-JP" sz="1100" b="1" dirty="0">
                          <a:solidFill>
                            <a:srgbClr val="344251"/>
                          </a:solidFill>
                        </a:rPr>
                        <a:t>Feb. 2024</a:t>
                      </a:r>
                      <a:endParaRPr kumimoji="1" lang="ja-JP" altLang="en-US" sz="1100" b="1">
                        <a:solidFill>
                          <a:srgbClr val="344251"/>
                        </a:solidFill>
                      </a:endParaRPr>
                    </a:p>
                  </a:txBody>
                  <a:tcPr anchor="ctr"/>
                </a:tc>
                <a:tc>
                  <a:txBody>
                    <a:bodyPr/>
                    <a:lstStyle/>
                    <a:p>
                      <a:pPr algn="r"/>
                      <a:r>
                        <a:rPr kumimoji="1" lang="ja-JP" altLang="en-US" sz="1050">
                          <a:solidFill>
                            <a:srgbClr val="344251"/>
                          </a:solidFill>
                        </a:rPr>
                        <a:t>＋</a:t>
                      </a:r>
                      <a:r>
                        <a:rPr kumimoji="1" lang="en-US" altLang="ja-JP" sz="1050" dirty="0">
                          <a:solidFill>
                            <a:srgbClr val="344251"/>
                          </a:solidFill>
                        </a:rPr>
                        <a:t>6.0</a:t>
                      </a:r>
                      <a:r>
                        <a:rPr kumimoji="1" lang="ja-JP" altLang="en-US" sz="1050">
                          <a:solidFill>
                            <a:srgbClr val="344251"/>
                          </a:solidFill>
                        </a:rPr>
                        <a:t>％</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srgbClr val="344251"/>
                          </a:solidFill>
                        </a:rPr>
                        <a:t>＋</a:t>
                      </a:r>
                      <a:r>
                        <a:rPr kumimoji="1" lang="en-US" altLang="ja-JP" sz="1050" dirty="0">
                          <a:solidFill>
                            <a:srgbClr val="344251"/>
                          </a:solidFill>
                        </a:rPr>
                        <a:t>6.0</a:t>
                      </a:r>
                      <a:r>
                        <a:rPr kumimoji="1" lang="ja-JP" altLang="en-US" sz="1050" dirty="0">
                          <a:solidFill>
                            <a:srgbClr val="344251"/>
                          </a:solidFill>
                        </a:rPr>
                        <a:t>％</a:t>
                      </a:r>
                    </a:p>
                  </a:txBody>
                  <a:tcPr anchor="ctr"/>
                </a:tc>
                <a:tc>
                  <a:txBody>
                    <a:bodyPr/>
                    <a:lstStyle/>
                    <a:p>
                      <a:r>
                        <a:rPr kumimoji="1" lang="en-GB" altLang="ja-JP" sz="1100" dirty="0">
                          <a:solidFill>
                            <a:srgbClr val="344251"/>
                          </a:solidFill>
                        </a:rPr>
                        <a:t>Outbound Price Increase 01/02/24, April 2024 CBU</a:t>
                      </a:r>
                      <a:endParaRPr kumimoji="1" lang="ja-JP" altLang="en-US" sz="1100" dirty="0">
                        <a:solidFill>
                          <a:srgbClr val="344251"/>
                        </a:solidFill>
                      </a:endParaRPr>
                    </a:p>
                  </a:txBody>
                  <a:tcPr anchor="ctr"/>
                </a:tc>
                <a:extLst>
                  <a:ext uri="{0D108BD9-81ED-4DB2-BD59-A6C34878D82A}">
                    <a16:rowId xmlns:a16="http://schemas.microsoft.com/office/drawing/2014/main" val="3455103048"/>
                  </a:ext>
                </a:extLst>
              </a:tr>
              <a:tr h="284400">
                <a:tc>
                  <a:txBody>
                    <a:bodyPr/>
                    <a:lstStyle/>
                    <a:p>
                      <a:pPr algn="ctr"/>
                      <a:r>
                        <a:rPr kumimoji="1" lang="en-US" altLang="ja-JP" sz="1100" b="1" dirty="0">
                          <a:solidFill>
                            <a:srgbClr val="344251"/>
                          </a:solidFill>
                        </a:rPr>
                        <a:t>FY25</a:t>
                      </a:r>
                      <a:endParaRPr kumimoji="1" lang="ja-JP" altLang="en-US" sz="1100" b="1" dirty="0">
                        <a:solidFill>
                          <a:srgbClr val="344251"/>
                        </a:solidFill>
                      </a:endParaRPr>
                    </a:p>
                  </a:txBody>
                  <a:tcPr anchor="ctr"/>
                </a:tc>
                <a:tc>
                  <a:txBody>
                    <a:bodyPr/>
                    <a:lstStyle/>
                    <a:p>
                      <a:pPr algn="ctr"/>
                      <a:r>
                        <a:rPr kumimoji="1" lang="en-US" altLang="ja-JP" sz="1100" b="1" dirty="0">
                          <a:solidFill>
                            <a:srgbClr val="344251"/>
                          </a:solidFill>
                        </a:rPr>
                        <a:t>Feb. 2025</a:t>
                      </a:r>
                      <a:endParaRPr kumimoji="1" lang="ja-JP" altLang="en-US" sz="1100" b="1">
                        <a:solidFill>
                          <a:srgbClr val="344251"/>
                        </a:solidFill>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050">
                          <a:solidFill>
                            <a:srgbClr val="344251"/>
                          </a:solidFill>
                        </a:rPr>
                        <a:t>＋</a:t>
                      </a:r>
                      <a:r>
                        <a:rPr kumimoji="1" lang="en-US" altLang="ja-JP" sz="1050" dirty="0">
                          <a:solidFill>
                            <a:srgbClr val="344251"/>
                          </a:solidFill>
                        </a:rPr>
                        <a:t>3.2</a:t>
                      </a:r>
                      <a:r>
                        <a:rPr kumimoji="1" lang="ja-JP" altLang="en-US" sz="1050">
                          <a:solidFill>
                            <a:srgbClr val="344251"/>
                          </a:solidFill>
                        </a:rPr>
                        <a:t>％</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srgbClr val="344251"/>
                          </a:solidFill>
                        </a:rPr>
                        <a:t>＋</a:t>
                      </a:r>
                      <a:r>
                        <a:rPr kumimoji="1" lang="en-US" altLang="ja-JP" sz="1050" dirty="0">
                          <a:solidFill>
                            <a:srgbClr val="344251"/>
                          </a:solidFill>
                        </a:rPr>
                        <a:t>3.2</a:t>
                      </a:r>
                      <a:r>
                        <a:rPr kumimoji="1" lang="ja-JP" altLang="en-US" sz="1050" dirty="0">
                          <a:solidFill>
                            <a:srgbClr val="344251"/>
                          </a:solidFill>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GB" altLang="ja-JP" sz="1100" dirty="0">
                          <a:solidFill>
                            <a:srgbClr val="344251"/>
                          </a:solidFill>
                        </a:rPr>
                        <a:t>Outbound Price Increase 01/02/25, April 2025 CBU</a:t>
                      </a:r>
                      <a:endParaRPr kumimoji="1" lang="ja-JP" altLang="en-US" sz="1100" dirty="0">
                        <a:solidFill>
                          <a:srgbClr val="344251"/>
                        </a:solidFill>
                      </a:endParaRPr>
                    </a:p>
                  </a:txBody>
                  <a:tcPr anchor="ctr"/>
                </a:tc>
                <a:extLst>
                  <a:ext uri="{0D108BD9-81ED-4DB2-BD59-A6C34878D82A}">
                    <a16:rowId xmlns:a16="http://schemas.microsoft.com/office/drawing/2014/main" val="2431294139"/>
                  </a:ext>
                </a:extLst>
              </a:tr>
              <a:tr h="284400">
                <a:tc>
                  <a:txBody>
                    <a:bodyPr/>
                    <a:lstStyle/>
                    <a:p>
                      <a:pPr algn="ctr"/>
                      <a:r>
                        <a:rPr kumimoji="1" lang="en-GB" altLang="ja-JP" sz="1100" b="1" dirty="0">
                          <a:solidFill>
                            <a:srgbClr val="344251"/>
                          </a:solidFill>
                        </a:rPr>
                        <a:t>P700 Launch</a:t>
                      </a:r>
                      <a:endParaRPr kumimoji="1" lang="ja-JP" altLang="en-US" sz="1100" b="1" dirty="0">
                        <a:solidFill>
                          <a:srgbClr val="344251"/>
                        </a:solidFill>
                      </a:endParaRPr>
                    </a:p>
                  </a:txBody>
                  <a:tcPr anchor="ctr"/>
                </a:tc>
                <a:tc>
                  <a:txBody>
                    <a:bodyPr/>
                    <a:lstStyle/>
                    <a:p>
                      <a:pPr algn="ctr"/>
                      <a:r>
                        <a:rPr kumimoji="1" lang="en-GB" altLang="ja-JP" sz="1100" b="1" dirty="0">
                          <a:solidFill>
                            <a:srgbClr val="344251"/>
                          </a:solidFill>
                        </a:rPr>
                        <a:t>SOP May 26</a:t>
                      </a:r>
                      <a:endParaRPr kumimoji="1" lang="ja-JP" altLang="en-US" sz="1100" b="1" dirty="0">
                        <a:solidFill>
                          <a:srgbClr val="344251"/>
                        </a:solidFill>
                      </a:endParaRPr>
                    </a:p>
                  </a:txBody>
                  <a:tcPr anchor="ctr"/>
                </a:tc>
                <a:tc>
                  <a:txBody>
                    <a:bodyPr/>
                    <a:lstStyle/>
                    <a:p>
                      <a:pPr algn="ctr"/>
                      <a:r>
                        <a:rPr kumimoji="1" lang="en-GB" altLang="ja-JP" sz="1050" dirty="0">
                          <a:solidFill>
                            <a:srgbClr val="344251"/>
                          </a:solidFill>
                        </a:rPr>
                        <a:t>+5/6%</a:t>
                      </a:r>
                      <a:endParaRPr kumimoji="1" lang="ja-JP" altLang="en-US" sz="1050" dirty="0">
                        <a:solidFill>
                          <a:srgbClr val="344251"/>
                        </a:solidFill>
                      </a:endParaRPr>
                    </a:p>
                  </a:txBody>
                  <a:tcPr anchor="ctr"/>
                </a:tc>
                <a:tc>
                  <a:txBody>
                    <a:bodyPr/>
                    <a:lstStyle/>
                    <a:p>
                      <a:pPr algn="ctr"/>
                      <a:r>
                        <a:rPr kumimoji="1" lang="en-GB" altLang="ja-JP" sz="1050" dirty="0">
                          <a:solidFill>
                            <a:srgbClr val="344251"/>
                          </a:solidFill>
                        </a:rPr>
                        <a:t>+8%</a:t>
                      </a:r>
                      <a:endParaRPr kumimoji="1" lang="ja-JP" altLang="en-US" sz="1050" dirty="0">
                        <a:solidFill>
                          <a:srgbClr val="34425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GB" altLang="ja-JP" sz="1100" dirty="0">
                          <a:solidFill>
                            <a:srgbClr val="344251"/>
                          </a:solidFill>
                        </a:rPr>
                        <a:t>N35 +5%, N55-75 +6% Outbound Price Increase from SOS</a:t>
                      </a:r>
                      <a:endParaRPr kumimoji="1" lang="ja-JP" altLang="en-US" sz="1100" dirty="0">
                        <a:solidFill>
                          <a:srgbClr val="344251"/>
                        </a:solidFill>
                      </a:endParaRPr>
                    </a:p>
                  </a:txBody>
                  <a:tcPr anchor="ctr"/>
                </a:tc>
                <a:extLst>
                  <a:ext uri="{0D108BD9-81ED-4DB2-BD59-A6C34878D82A}">
                    <a16:rowId xmlns:a16="http://schemas.microsoft.com/office/drawing/2014/main" val="2642768396"/>
                  </a:ext>
                </a:extLst>
              </a:tr>
            </a:tbl>
          </a:graphicData>
        </a:graphic>
      </p:graphicFrame>
      <p:graphicFrame>
        <p:nvGraphicFramePr>
          <p:cNvPr id="11" name="Chart 10">
            <a:extLst>
              <a:ext uri="{FF2B5EF4-FFF2-40B4-BE49-F238E27FC236}">
                <a16:creationId xmlns:a16="http://schemas.microsoft.com/office/drawing/2014/main" id="{6CBA6D12-9BE0-F68F-4380-6C70DAEA1956}"/>
              </a:ext>
            </a:extLst>
          </p:cNvPr>
          <p:cNvGraphicFramePr/>
          <p:nvPr>
            <p:extLst>
              <p:ext uri="{D42A27DB-BD31-4B8C-83A1-F6EECF244321}">
                <p14:modId xmlns:p14="http://schemas.microsoft.com/office/powerpoint/2010/main" val="823373874"/>
              </p:ext>
            </p:extLst>
          </p:nvPr>
        </p:nvGraphicFramePr>
        <p:xfrm>
          <a:off x="345342" y="1055666"/>
          <a:ext cx="3437528" cy="204896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AD2E3346-F1D1-3CF8-9B14-8A80C60A8232}"/>
              </a:ext>
            </a:extLst>
          </p:cNvPr>
          <p:cNvGraphicFramePr/>
          <p:nvPr>
            <p:extLst>
              <p:ext uri="{D42A27DB-BD31-4B8C-83A1-F6EECF244321}">
                <p14:modId xmlns:p14="http://schemas.microsoft.com/office/powerpoint/2010/main" val="2875297487"/>
              </p:ext>
            </p:extLst>
          </p:nvPr>
        </p:nvGraphicFramePr>
        <p:xfrm>
          <a:off x="345342" y="3212975"/>
          <a:ext cx="3437528" cy="2037351"/>
        </p:xfrm>
        <a:graphic>
          <a:graphicData uri="http://schemas.openxmlformats.org/drawingml/2006/chart">
            <c:chart xmlns:c="http://schemas.openxmlformats.org/drawingml/2006/chart" xmlns:r="http://schemas.openxmlformats.org/officeDocument/2006/relationships" r:id="rId4"/>
          </a:graphicData>
        </a:graphic>
      </p:graphicFrame>
      <p:sp>
        <p:nvSpPr>
          <p:cNvPr id="14" name="正方形/長方形 17">
            <a:extLst>
              <a:ext uri="{FF2B5EF4-FFF2-40B4-BE49-F238E27FC236}">
                <a16:creationId xmlns:a16="http://schemas.microsoft.com/office/drawing/2014/main" id="{E5AF88D7-B075-CF5B-44A6-C80B9BCBC5C4}"/>
              </a:ext>
            </a:extLst>
          </p:cNvPr>
          <p:cNvSpPr/>
          <p:nvPr/>
        </p:nvSpPr>
        <p:spPr>
          <a:xfrm>
            <a:off x="3138985" y="3598208"/>
            <a:ext cx="519172" cy="1198944"/>
          </a:xfrm>
          <a:prstGeom prst="rect">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600"/>
              </a:spcBef>
              <a:spcAft>
                <a:spcPts val="0"/>
              </a:spcAft>
              <a:buClrTx/>
              <a:buSzTx/>
              <a:buFontTx/>
              <a:buNone/>
              <a:tabLst/>
              <a:defRPr/>
            </a:pPr>
            <a:endParaRPr kumimoji="1" lang="ja-JP" altLang="en-US" sz="2000" b="0" i="0" u="none" strike="noStrike" kern="1200" cap="none" spc="0" normalizeH="0" baseline="0" noProof="0" err="1">
              <a:ln>
                <a:noFill/>
              </a:ln>
              <a:solidFill>
                <a:srgbClr val="000000"/>
              </a:solidFill>
              <a:effectLst/>
              <a:uLnTx/>
              <a:uFillTx/>
              <a:latin typeface="Arial"/>
              <a:ea typeface="メイリオ"/>
              <a:cs typeface="+mn-cs"/>
            </a:endParaRPr>
          </a:p>
        </p:txBody>
      </p:sp>
    </p:spTree>
    <p:extLst>
      <p:ext uri="{BB962C8B-B14F-4D97-AF65-F5344CB8AC3E}">
        <p14:creationId xmlns:p14="http://schemas.microsoft.com/office/powerpoint/2010/main" val="659456791"/>
      </p:ext>
    </p:extLst>
  </p:cSld>
  <p:clrMapOvr>
    <a:masterClrMapping/>
  </p:clrMapOvr>
  <mc:AlternateContent xmlns:mc="http://schemas.openxmlformats.org/markup-compatibility/2006" xmlns:p14="http://schemas.microsoft.com/office/powerpoint/2010/main">
    <mc:Choice Requires="p14">
      <p:transition spd="slow" p14:dur="2000" advTm="98889"/>
    </mc:Choice>
    <mc:Fallback xmlns="">
      <p:transition spd="slow" advTm="9888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C2972-4156-52A6-FBCB-7F316704E404}"/>
              </a:ext>
            </a:extLst>
          </p:cNvPr>
          <p:cNvSpPr>
            <a:spLocks noGrp="1"/>
          </p:cNvSpPr>
          <p:nvPr>
            <p:ph type="ctrTitle"/>
          </p:nvPr>
        </p:nvSpPr>
        <p:spPr/>
        <p:txBody>
          <a:bodyPr/>
          <a:lstStyle/>
          <a:p>
            <a:r>
              <a:rPr lang="en-US" dirty="0"/>
              <a:t>KOSHA Presentation</a:t>
            </a:r>
          </a:p>
        </p:txBody>
      </p:sp>
      <p:sp>
        <p:nvSpPr>
          <p:cNvPr id="3" name="Subtitle 2">
            <a:extLst>
              <a:ext uri="{FF2B5EF4-FFF2-40B4-BE49-F238E27FC236}">
                <a16:creationId xmlns:a16="http://schemas.microsoft.com/office/drawing/2014/main" id="{7E350806-2E46-D214-2BE1-FF55366ED67B}"/>
              </a:ext>
            </a:extLst>
          </p:cNvPr>
          <p:cNvSpPr>
            <a:spLocks noGrp="1"/>
          </p:cNvSpPr>
          <p:nvPr>
            <p:ph type="subTitle" idx="1"/>
          </p:nvPr>
        </p:nvSpPr>
        <p:spPr/>
        <p:txBody>
          <a:bodyPr/>
          <a:lstStyle/>
          <a:p>
            <a:r>
              <a:rPr lang="en-US" dirty="0"/>
              <a:t>3</a:t>
            </a:r>
            <a:r>
              <a:rPr lang="en-US" baseline="30000" dirty="0"/>
              <a:t>rd</a:t>
            </a:r>
            <a:r>
              <a:rPr lang="en-US" dirty="0"/>
              <a:t> February 2026</a:t>
            </a:r>
          </a:p>
          <a:p>
            <a:r>
              <a:rPr lang="en-US" dirty="0"/>
              <a:t>ISUZU Truck (UK) Ltd</a:t>
            </a:r>
          </a:p>
        </p:txBody>
      </p:sp>
      <p:sp>
        <p:nvSpPr>
          <p:cNvPr id="4" name="Text Placeholder 3">
            <a:extLst>
              <a:ext uri="{FF2B5EF4-FFF2-40B4-BE49-F238E27FC236}">
                <a16:creationId xmlns:a16="http://schemas.microsoft.com/office/drawing/2014/main" id="{C15BABC0-ECE9-9888-2896-6DF90F619ABA}"/>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2823913645"/>
      </p:ext>
    </p:extLst>
  </p:cSld>
  <p:clrMapOvr>
    <a:masterClrMapping/>
  </p:clrMapOvr>
  <mc:AlternateContent xmlns:mc="http://schemas.openxmlformats.org/markup-compatibility/2006" xmlns:p14="http://schemas.microsoft.com/office/powerpoint/2010/main">
    <mc:Choice Requires="p14">
      <p:transition spd="slow" p14:dur="2000" advTm="15797"/>
    </mc:Choice>
    <mc:Fallback xmlns="">
      <p:transition spd="slow" advTm="1579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truck driving down a street&#10;&#10;AI-generated content may be incorrect.">
            <a:extLst>
              <a:ext uri="{FF2B5EF4-FFF2-40B4-BE49-F238E27FC236}">
                <a16:creationId xmlns:a16="http://schemas.microsoft.com/office/drawing/2014/main" id="{5482DD66-62BE-B49E-8FEF-17D0A31AAB4F}"/>
              </a:ext>
            </a:extLst>
          </p:cNvPr>
          <p:cNvPicPr>
            <a:picLocks noGrp="1" noChangeAspect="1"/>
          </p:cNvPicPr>
          <p:nvPr>
            <p:ph type="pic" sz="quarter" idx="17"/>
          </p:nvPr>
        </p:nvPicPr>
        <p:blipFill>
          <a:blip r:embed="rId3">
            <a:extLst>
              <a:ext uri="{28A0092B-C50C-407E-A947-70E740481C1C}">
                <a14:useLocalDpi xmlns:a14="http://schemas.microsoft.com/office/drawing/2010/main" val="0"/>
              </a:ext>
            </a:extLst>
          </a:blip>
          <a:srcRect l="6350" r="6350"/>
          <a:stretch>
            <a:fillRect/>
          </a:stretch>
        </p:blipFill>
        <p:spPr/>
      </p:pic>
      <p:sp>
        <p:nvSpPr>
          <p:cNvPr id="3" name="Text Placeholder 2">
            <a:extLst>
              <a:ext uri="{FF2B5EF4-FFF2-40B4-BE49-F238E27FC236}">
                <a16:creationId xmlns:a16="http://schemas.microsoft.com/office/drawing/2014/main" id="{B75AC48E-4C11-40E6-06EC-874D4ABBCB66}"/>
              </a:ext>
            </a:extLst>
          </p:cNvPr>
          <p:cNvSpPr>
            <a:spLocks noGrp="1"/>
          </p:cNvSpPr>
          <p:nvPr>
            <p:ph type="body" sz="quarter" idx="19"/>
          </p:nvPr>
        </p:nvSpPr>
        <p:spPr>
          <a:xfrm>
            <a:off x="641445" y="1433944"/>
            <a:ext cx="6065689" cy="4925291"/>
          </a:xfrm>
        </p:spPr>
        <p:txBody>
          <a:bodyPr/>
          <a:lstStyle/>
          <a:p>
            <a:pPr marL="342900" indent="-342900">
              <a:buFont typeface="Arial" panose="020B0604020202020204" pitchFamily="34" charset="0"/>
              <a:buChar char="•"/>
            </a:pPr>
            <a:r>
              <a:rPr lang="en-US" dirty="0"/>
              <a:t>Executive Summary </a:t>
            </a:r>
          </a:p>
          <a:p>
            <a:pPr marL="342900" indent="-342900">
              <a:buFont typeface="Arial" panose="020B0604020202020204" pitchFamily="34" charset="0"/>
              <a:buChar char="•"/>
            </a:pPr>
            <a:r>
              <a:rPr lang="en-US" dirty="0"/>
              <a:t>Economic &amp; Political Summary and BP Forecast</a:t>
            </a:r>
          </a:p>
          <a:p>
            <a:pPr marL="342900" indent="-342900">
              <a:buFont typeface="Arial" panose="020B0604020202020204" pitchFamily="34" charset="0"/>
              <a:buChar char="•"/>
            </a:pPr>
            <a:r>
              <a:rPr lang="en-US" dirty="0"/>
              <a:t>Operational Summary</a:t>
            </a:r>
          </a:p>
          <a:p>
            <a:pPr marL="342900" indent="-342900">
              <a:buFont typeface="Arial" panose="020B0604020202020204" pitchFamily="34" charset="0"/>
              <a:buChar char="•"/>
            </a:pPr>
            <a:r>
              <a:rPr lang="en-GB" dirty="0"/>
              <a:t>Demand Trends, Competition &amp; Registrations </a:t>
            </a:r>
          </a:p>
          <a:p>
            <a:pPr marL="342900" indent="-342900">
              <a:buFont typeface="Arial" panose="020B0604020202020204" pitchFamily="34" charset="0"/>
              <a:buChar char="•"/>
            </a:pPr>
            <a:r>
              <a:rPr lang="en-US" dirty="0"/>
              <a:t>FY25 &amp; FY26 Forecast &amp; Initiatives</a:t>
            </a:r>
          </a:p>
          <a:p>
            <a:pPr marL="342900" indent="-342900">
              <a:buFont typeface="Arial" panose="020B0604020202020204" pitchFamily="34" charset="0"/>
              <a:buChar char="•"/>
            </a:pPr>
            <a:r>
              <a:rPr lang="en-US" dirty="0"/>
              <a:t>Current Legislation Challenges </a:t>
            </a:r>
          </a:p>
          <a:p>
            <a:pPr marL="342900" indent="-342900">
              <a:buFont typeface="Arial" panose="020B0604020202020204" pitchFamily="34" charset="0"/>
              <a:buChar char="•"/>
            </a:pPr>
            <a:r>
              <a:rPr lang="en-US" dirty="0"/>
              <a:t>FY25 Aftersales Forecast and FY26 Outlook</a:t>
            </a:r>
          </a:p>
          <a:p>
            <a:pPr marL="342900" indent="-342900">
              <a:buFont typeface="Arial" panose="020B0604020202020204" pitchFamily="34" charset="0"/>
              <a:buChar char="•"/>
            </a:pPr>
            <a:r>
              <a:rPr lang="en-US" dirty="0"/>
              <a:t>Connected Project </a:t>
            </a:r>
          </a:p>
          <a:p>
            <a:pPr marL="342900" indent="-342900">
              <a:buFont typeface="Arial" panose="020B0604020202020204" pitchFamily="34" charset="0"/>
              <a:buChar char="•"/>
            </a:pPr>
            <a:r>
              <a:rPr lang="en-US" dirty="0"/>
              <a:t>ITUK Governance</a:t>
            </a:r>
          </a:p>
          <a:p>
            <a:pPr marL="342900" indent="-342900">
              <a:buFont typeface="Arial" panose="020B0604020202020204" pitchFamily="34" charset="0"/>
              <a:buChar char="•"/>
            </a:pPr>
            <a:r>
              <a:rPr lang="en-US" altLang="ja-JP" kern="0" dirty="0">
                <a:ea typeface="Meiryo UI" panose="020B0604030504040204" pitchFamily="50" charset="-128"/>
                <a:cs typeface="Calibri" panose="020F0502020204030204" pitchFamily="34" charset="0"/>
              </a:rPr>
              <a:t>Progress Assessment of Mid-Term Tasks and Policies</a:t>
            </a:r>
            <a:r>
              <a:rPr lang="ja-JP" altLang="en-US">
                <a:ea typeface="Meiryo UI" panose="020B0604030504040204" pitchFamily="50" charset="-128"/>
              </a:rPr>
              <a:t> </a:t>
            </a:r>
            <a:r>
              <a:rPr lang="en-US" altLang="ja-JP" dirty="0">
                <a:ea typeface="Meiryo UI" panose="020B0604030504040204" pitchFamily="50" charset="-128"/>
              </a:rPr>
              <a:t>FY25</a:t>
            </a:r>
          </a:p>
          <a:p>
            <a:pPr marL="342900" indent="-342900">
              <a:buFont typeface="Arial" panose="020B0604020202020204" pitchFamily="34" charset="0"/>
              <a:buChar char="•"/>
            </a:pPr>
            <a:r>
              <a:rPr lang="en-US" dirty="0">
                <a:ea typeface="Meiryo UI" panose="020B0604030504040204" pitchFamily="50" charset="-128"/>
              </a:rPr>
              <a:t>Appendices </a:t>
            </a:r>
            <a:endParaRPr lang="en-US" dirty="0"/>
          </a:p>
          <a:p>
            <a:endParaRPr lang="en-US" dirty="0"/>
          </a:p>
        </p:txBody>
      </p:sp>
      <p:sp>
        <p:nvSpPr>
          <p:cNvPr id="4" name="Title 3">
            <a:extLst>
              <a:ext uri="{FF2B5EF4-FFF2-40B4-BE49-F238E27FC236}">
                <a16:creationId xmlns:a16="http://schemas.microsoft.com/office/drawing/2014/main" id="{C8D8D49F-DA1B-0EB7-307F-89B22EAC0055}"/>
              </a:ext>
            </a:extLst>
          </p:cNvPr>
          <p:cNvSpPr>
            <a:spLocks noGrp="1"/>
          </p:cNvSpPr>
          <p:nvPr>
            <p:ph type="title"/>
          </p:nvPr>
        </p:nvSpPr>
        <p:spPr>
          <a:xfrm>
            <a:off x="740839" y="615451"/>
            <a:ext cx="5866900" cy="482514"/>
          </a:xfrm>
        </p:spPr>
        <p:txBody>
          <a:bodyPr>
            <a:normAutofit fontScale="90000"/>
          </a:bodyPr>
          <a:lstStyle/>
          <a:p>
            <a:r>
              <a:rPr lang="en-US" dirty="0"/>
              <a:t>    Table of Contents</a:t>
            </a:r>
          </a:p>
        </p:txBody>
      </p:sp>
      <p:sp>
        <p:nvSpPr>
          <p:cNvPr id="5" name="Text Placeholder 4">
            <a:extLst>
              <a:ext uri="{FF2B5EF4-FFF2-40B4-BE49-F238E27FC236}">
                <a16:creationId xmlns:a16="http://schemas.microsoft.com/office/drawing/2014/main" id="{2911473A-717B-B964-3851-D3626C13BB3D}"/>
              </a:ext>
            </a:extLst>
          </p:cNvPr>
          <p:cNvSpPr>
            <a:spLocks noGrp="1"/>
          </p:cNvSpPr>
          <p:nvPr>
            <p:ph type="body" sz="quarter" idx="24"/>
          </p:nvPr>
        </p:nvSpPr>
        <p:spPr/>
        <p:txBody>
          <a:bodyPr/>
          <a:lstStyle/>
          <a:p>
            <a:endParaRPr lang="en-US"/>
          </a:p>
        </p:txBody>
      </p:sp>
      <p:sp>
        <p:nvSpPr>
          <p:cNvPr id="6" name="Rectangle 5">
            <a:extLst>
              <a:ext uri="{FF2B5EF4-FFF2-40B4-BE49-F238E27FC236}">
                <a16:creationId xmlns:a16="http://schemas.microsoft.com/office/drawing/2014/main" id="{FCF3F5F3-42DC-A1EE-5CCD-BBC70F2EC662}"/>
              </a:ext>
            </a:extLst>
          </p:cNvPr>
          <p:cNvSpPr/>
          <p:nvPr/>
        </p:nvSpPr>
        <p:spPr>
          <a:xfrm>
            <a:off x="641446" y="617515"/>
            <a:ext cx="99394" cy="482514"/>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spTree>
    <p:extLst>
      <p:ext uri="{BB962C8B-B14F-4D97-AF65-F5344CB8AC3E}">
        <p14:creationId xmlns:p14="http://schemas.microsoft.com/office/powerpoint/2010/main" val="3267733406"/>
      </p:ext>
    </p:extLst>
  </p:cSld>
  <p:clrMapOvr>
    <a:masterClrMapping/>
  </p:clrMapOvr>
  <mc:AlternateContent xmlns:mc="http://schemas.openxmlformats.org/markup-compatibility/2006" xmlns:p14="http://schemas.microsoft.com/office/powerpoint/2010/main">
    <mc:Choice Requires="p14">
      <p:transition spd="slow" p14:dur="2000" advTm="5548"/>
    </mc:Choice>
    <mc:Fallback xmlns="">
      <p:transition spd="slow" advTm="554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CEFEC-A601-A204-EF28-C3E3076181DC}"/>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0B34416-7D51-65F8-A9A3-6D33506C5BC4}"/>
              </a:ext>
            </a:extLst>
          </p:cNvPr>
          <p:cNvSpPr>
            <a:spLocks noGrp="1"/>
          </p:cNvSpPr>
          <p:nvPr>
            <p:ph type="title"/>
          </p:nvPr>
        </p:nvSpPr>
        <p:spPr>
          <a:xfrm>
            <a:off x="695400" y="376801"/>
            <a:ext cx="9361040" cy="518746"/>
          </a:xfrm>
        </p:spPr>
        <p:txBody>
          <a:bodyPr/>
          <a:lstStyle/>
          <a:p>
            <a:r>
              <a:rPr lang="en-US" dirty="0">
                <a:solidFill>
                  <a:srgbClr val="344251"/>
                </a:solidFill>
              </a:rPr>
              <a:t>Economic &amp; Political Summary and BP Forecast</a:t>
            </a:r>
          </a:p>
        </p:txBody>
      </p:sp>
      <p:cxnSp>
        <p:nvCxnSpPr>
          <p:cNvPr id="13" name="Straight Connector 12">
            <a:extLst>
              <a:ext uri="{FF2B5EF4-FFF2-40B4-BE49-F238E27FC236}">
                <a16:creationId xmlns:a16="http://schemas.microsoft.com/office/drawing/2014/main" id="{F2354D47-90E0-C856-97EA-A9BA83879D99}"/>
              </a:ext>
            </a:extLst>
          </p:cNvPr>
          <p:cNvCxnSpPr>
            <a:cxnSpLocks/>
          </p:cNvCxnSpPr>
          <p:nvPr/>
        </p:nvCxnSpPr>
        <p:spPr>
          <a:xfrm>
            <a:off x="10248900" y="1531120"/>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AutoShape 6" descr="UK inflation rate: How quickly are prices rising? - BBC News">
            <a:extLst>
              <a:ext uri="{FF2B5EF4-FFF2-40B4-BE49-F238E27FC236}">
                <a16:creationId xmlns:a16="http://schemas.microsoft.com/office/drawing/2014/main" id="{A7F488B6-18F1-D8CB-2741-3A1E1EE8E38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344251"/>
              </a:solidFill>
              <a:effectLst/>
              <a:uLnTx/>
              <a:uFillTx/>
              <a:latin typeface="Arial"/>
              <a:ea typeface="メイリオ"/>
              <a:cs typeface="+mn-cs"/>
            </a:endParaRPr>
          </a:p>
        </p:txBody>
      </p:sp>
      <p:graphicFrame>
        <p:nvGraphicFramePr>
          <p:cNvPr id="2" name="Table 1">
            <a:extLst>
              <a:ext uri="{FF2B5EF4-FFF2-40B4-BE49-F238E27FC236}">
                <a16:creationId xmlns:a16="http://schemas.microsoft.com/office/drawing/2014/main" id="{D2D2C9DA-DD6A-B26E-BE7E-227C467A13D7}"/>
              </a:ext>
            </a:extLst>
          </p:cNvPr>
          <p:cNvGraphicFramePr>
            <a:graphicFrameLocks noGrp="1"/>
          </p:cNvGraphicFramePr>
          <p:nvPr>
            <p:extLst>
              <p:ext uri="{D42A27DB-BD31-4B8C-83A1-F6EECF244321}">
                <p14:modId xmlns:p14="http://schemas.microsoft.com/office/powerpoint/2010/main" val="3751988594"/>
              </p:ext>
            </p:extLst>
          </p:nvPr>
        </p:nvGraphicFramePr>
        <p:xfrm>
          <a:off x="462157" y="1104429"/>
          <a:ext cx="11572485" cy="5710711"/>
        </p:xfrm>
        <a:graphic>
          <a:graphicData uri="http://schemas.openxmlformats.org/drawingml/2006/table">
            <a:tbl>
              <a:tblPr firstRow="1" bandRow="1">
                <a:tableStyleId>{5940675A-B579-460E-94D1-54222C63F5DA}</a:tableStyleId>
              </a:tblPr>
              <a:tblGrid>
                <a:gridCol w="7084257">
                  <a:extLst>
                    <a:ext uri="{9D8B030D-6E8A-4147-A177-3AD203B41FA5}">
                      <a16:colId xmlns:a16="http://schemas.microsoft.com/office/drawing/2014/main" val="220259892"/>
                    </a:ext>
                  </a:extLst>
                </a:gridCol>
                <a:gridCol w="4488228">
                  <a:extLst>
                    <a:ext uri="{9D8B030D-6E8A-4147-A177-3AD203B41FA5}">
                      <a16:colId xmlns:a16="http://schemas.microsoft.com/office/drawing/2014/main" val="1868931334"/>
                    </a:ext>
                  </a:extLst>
                </a:gridCol>
              </a:tblGrid>
              <a:tr h="358489">
                <a:tc>
                  <a:txBody>
                    <a:bodyPr/>
                    <a:lstStyle/>
                    <a:p>
                      <a:pPr algn="ctr"/>
                      <a:r>
                        <a:rPr lang="en-US" sz="1200" dirty="0">
                          <a:solidFill>
                            <a:srgbClr val="344251"/>
                          </a:solidFill>
                        </a:rPr>
                        <a:t>FY25 Macroeconomy</a:t>
                      </a:r>
                    </a:p>
                  </a:txBody>
                  <a:tcPr anchor="ctr">
                    <a:lnL w="6350" cap="flat" cmpd="sng" algn="ctr">
                      <a:solidFill>
                        <a:srgbClr val="405C8B"/>
                      </a:solidFill>
                      <a:prstDash val="solid"/>
                      <a:round/>
                      <a:headEnd type="none" w="med" len="med"/>
                      <a:tailEnd type="none" w="med" len="med"/>
                    </a:lnL>
                    <a:lnR w="6350" cap="flat" cmpd="sng" algn="ctr">
                      <a:solidFill>
                        <a:srgbClr val="405C8B"/>
                      </a:solidFill>
                      <a:prstDash val="solid"/>
                      <a:round/>
                      <a:headEnd type="none" w="med" len="med"/>
                      <a:tailEnd type="none" w="med" len="med"/>
                    </a:lnR>
                    <a:lnT w="6350" cap="flat" cmpd="sng" algn="ctr">
                      <a:solidFill>
                        <a:srgbClr val="405C8B"/>
                      </a:solidFill>
                      <a:prstDash val="solid"/>
                      <a:round/>
                      <a:headEnd type="none" w="med" len="med"/>
                      <a:tailEnd type="none" w="med" len="med"/>
                    </a:lnT>
                    <a:lnB w="6350" cap="flat" cmpd="sng" algn="ctr">
                      <a:solidFill>
                        <a:srgbClr val="405C8B"/>
                      </a:solidFill>
                      <a:prstDash val="solid"/>
                      <a:round/>
                      <a:headEnd type="none" w="med" len="med"/>
                      <a:tailEnd type="none" w="med" len="med"/>
                    </a:lnB>
                    <a:lnTlToBr w="12700" cmpd="sng">
                      <a:noFill/>
                      <a:prstDash val="solid"/>
                    </a:lnTlToBr>
                    <a:lnBlToTr w="12700" cmpd="sng">
                      <a:noFill/>
                      <a:prstDash val="solid"/>
                    </a:lnBlToTr>
                    <a:solidFill>
                      <a:srgbClr val="DDEBF9"/>
                    </a:solidFill>
                  </a:tcPr>
                </a:tc>
                <a:tc>
                  <a:txBody>
                    <a:bodyPr/>
                    <a:lstStyle/>
                    <a:p>
                      <a:pPr algn="ctr"/>
                      <a:r>
                        <a:rPr lang="en-US" sz="1200" dirty="0">
                          <a:solidFill>
                            <a:srgbClr val="344251"/>
                          </a:solidFill>
                        </a:rPr>
                        <a:t>Key UK Economic Factors</a:t>
                      </a:r>
                    </a:p>
                  </a:txBody>
                  <a:tcPr anchor="ctr">
                    <a:lnL w="6350" cap="flat" cmpd="sng" algn="ctr">
                      <a:solidFill>
                        <a:srgbClr val="405C8B"/>
                      </a:solidFill>
                      <a:prstDash val="solid"/>
                      <a:round/>
                      <a:headEnd type="none" w="med" len="med"/>
                      <a:tailEnd type="none" w="med" len="med"/>
                    </a:lnL>
                    <a:lnR w="6350" cap="flat" cmpd="sng" algn="ctr">
                      <a:solidFill>
                        <a:srgbClr val="405C8B"/>
                      </a:solidFill>
                      <a:prstDash val="solid"/>
                      <a:round/>
                      <a:headEnd type="none" w="med" len="med"/>
                      <a:tailEnd type="none" w="med" len="med"/>
                    </a:lnR>
                    <a:lnT w="6350" cap="flat" cmpd="sng" algn="ctr">
                      <a:solidFill>
                        <a:srgbClr val="405C8B"/>
                      </a:solidFill>
                      <a:prstDash val="solid"/>
                      <a:round/>
                      <a:headEnd type="none" w="med" len="med"/>
                      <a:tailEnd type="none" w="med" len="med"/>
                    </a:lnT>
                    <a:lnB w="6350" cap="flat" cmpd="sng" algn="ctr">
                      <a:solidFill>
                        <a:srgbClr val="405C8B"/>
                      </a:solidFill>
                      <a:prstDash val="solid"/>
                      <a:round/>
                      <a:headEnd type="none" w="med" len="med"/>
                      <a:tailEnd type="none" w="med" len="med"/>
                    </a:lnB>
                    <a:lnTlToBr w="12700" cmpd="sng">
                      <a:noFill/>
                      <a:prstDash val="solid"/>
                    </a:lnTlToBr>
                    <a:lnBlToTr w="12700" cmpd="sng">
                      <a:noFill/>
                      <a:prstDash val="solid"/>
                    </a:lnBlToTr>
                    <a:solidFill>
                      <a:srgbClr val="DDEBF9"/>
                    </a:solidFill>
                  </a:tcPr>
                </a:tc>
                <a:extLst>
                  <a:ext uri="{0D108BD9-81ED-4DB2-BD59-A6C34878D82A}">
                    <a16:rowId xmlns:a16="http://schemas.microsoft.com/office/drawing/2014/main" val="1782387273"/>
                  </a:ext>
                </a:extLst>
              </a:tr>
              <a:tr h="2041891">
                <a:tc>
                  <a:txBody>
                    <a:bodyPr/>
                    <a:lstStyle/>
                    <a:p>
                      <a:endParaRPr lang="en-US" dirty="0"/>
                    </a:p>
                  </a:txBody>
                  <a:tcPr>
                    <a:lnL w="6350" cap="flat" cmpd="sng" algn="ctr">
                      <a:solidFill>
                        <a:srgbClr val="405C8B"/>
                      </a:solidFill>
                      <a:prstDash val="solid"/>
                      <a:round/>
                      <a:headEnd type="none" w="med" len="med"/>
                      <a:tailEnd type="none" w="med" len="med"/>
                    </a:lnL>
                    <a:lnR w="6350" cap="flat" cmpd="sng" algn="ctr">
                      <a:solidFill>
                        <a:srgbClr val="405C8B"/>
                      </a:solidFill>
                      <a:prstDash val="solid"/>
                      <a:round/>
                      <a:headEnd type="none" w="med" len="med"/>
                      <a:tailEnd type="none" w="med" len="med"/>
                    </a:lnR>
                    <a:lnT w="6350" cap="flat" cmpd="sng" algn="ctr">
                      <a:solidFill>
                        <a:srgbClr val="405C8B"/>
                      </a:solidFill>
                      <a:prstDash val="solid"/>
                      <a:round/>
                      <a:headEnd type="none" w="med" len="med"/>
                      <a:tailEnd type="none" w="med" len="med"/>
                    </a:lnT>
                    <a:lnB w="6350" cap="flat" cmpd="sng" algn="ctr">
                      <a:solidFill>
                        <a:srgbClr val="405C8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lvl="0" indent="-285750">
                        <a:buFont typeface="Wingdings" panose="05000000000000000000" pitchFamily="2" charset="2"/>
                        <a:buChar char="§"/>
                        <a:defRPr/>
                      </a:pPr>
                      <a:r>
                        <a:rPr kumimoji="0" lang="en-GB" sz="900" b="1"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rPr>
                        <a:t>Inflation 12/2025 </a:t>
                      </a:r>
                      <a:r>
                        <a:rPr kumimoji="1" lang="en-GB" sz="900" b="1" kern="1200" dirty="0">
                          <a:solidFill>
                            <a:schemeClr val="tx1">
                              <a:lumMod val="75000"/>
                              <a:lumOff val="25000"/>
                            </a:schemeClr>
                          </a:solidFill>
                          <a:latin typeface="+mn-lt"/>
                          <a:ea typeface="Roboto" panose="02000000000000000000" pitchFamily="2" charset="0"/>
                          <a:cs typeface="Roboto" panose="02000000000000000000" pitchFamily="2" charset="0"/>
                        </a:rPr>
                        <a:t>:</a:t>
                      </a:r>
                      <a:r>
                        <a:rPr kumimoji="0" lang="en-GB" sz="900" b="1"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rPr>
                        <a:t> 3.4% </a:t>
                      </a:r>
                      <a:r>
                        <a:rPr lang="en-GB" sz="900" b="1" dirty="0">
                          <a:solidFill>
                            <a:srgbClr val="E60012"/>
                          </a:solidFill>
                          <a:ea typeface="Roboto" panose="02000000000000000000" pitchFamily="2" charset="0"/>
                          <a:cs typeface="Roboto" panose="02000000000000000000" pitchFamily="2" charset="0"/>
                        </a:rPr>
                        <a:t>↑</a:t>
                      </a:r>
                      <a:r>
                        <a:rPr lang="en-GB" sz="900" b="1" dirty="0">
                          <a:solidFill>
                            <a:schemeClr val="tx1">
                              <a:lumMod val="75000"/>
                              <a:lumOff val="25000"/>
                            </a:schemeClr>
                          </a:solidFill>
                          <a:ea typeface="Roboto" panose="02000000000000000000" pitchFamily="2" charset="0"/>
                          <a:cs typeface="Roboto" panose="02000000000000000000" pitchFamily="2" charset="0"/>
                        </a:rPr>
                        <a:t> </a:t>
                      </a:r>
                      <a:r>
                        <a:rPr kumimoji="0" lang="en-GB" sz="900" b="1"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rPr>
                        <a:t>0.2%  </a:t>
                      </a:r>
                      <a:r>
                        <a:rPr kumimoji="0" lang="en-US" sz="900" b="0"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rPr>
                        <a:t>The UK inflation rate rose to the highest rate in 5-months partly due to higher tobacco duty &amp; air fares</a:t>
                      </a:r>
                    </a:p>
                    <a:p>
                      <a:pPr marL="285750" lvl="0" indent="-285750">
                        <a:buFont typeface="Wingdings" panose="05000000000000000000" pitchFamily="2" charset="2"/>
                        <a:buChar char="§"/>
                        <a:defRPr/>
                      </a:pPr>
                      <a:endParaRPr kumimoji="0" lang="en-US" sz="900" b="0"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endParaRPr>
                    </a:p>
                    <a:p>
                      <a:pPr marL="285750" lvl="0" indent="-285750">
                        <a:buFont typeface="Wingdings" panose="05000000000000000000" pitchFamily="2" charset="2"/>
                        <a:buChar char="§"/>
                        <a:defRPr/>
                      </a:pPr>
                      <a:r>
                        <a:rPr kumimoji="0" lang="en-GB" sz="900" b="1"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rPr>
                        <a:t>Unemployment</a:t>
                      </a:r>
                      <a:r>
                        <a:rPr kumimoji="1" lang="en-GB" sz="900" b="1" kern="1200" dirty="0">
                          <a:solidFill>
                            <a:schemeClr val="tx1">
                              <a:lumMod val="75000"/>
                              <a:lumOff val="25000"/>
                            </a:schemeClr>
                          </a:solidFill>
                          <a:latin typeface="+mn-lt"/>
                          <a:ea typeface="Roboto" panose="02000000000000000000" pitchFamily="2" charset="0"/>
                          <a:cs typeface="Roboto" panose="02000000000000000000" pitchFamily="2" charset="0"/>
                        </a:rPr>
                        <a:t> </a:t>
                      </a:r>
                      <a:r>
                        <a:rPr kumimoji="0" lang="en-GB" sz="900" b="1"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rPr>
                        <a:t>3 Months to </a:t>
                      </a:r>
                      <a:r>
                        <a:rPr kumimoji="1" lang="en-GB" sz="900" b="1"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rPr>
                        <a:t>Oct</a:t>
                      </a:r>
                      <a:r>
                        <a:rPr kumimoji="0" lang="en-GB" sz="900" b="1"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rPr>
                        <a:t> 25 : 5.1% </a:t>
                      </a:r>
                      <a:r>
                        <a:rPr lang="en-GB" sz="900" b="1" dirty="0">
                          <a:solidFill>
                            <a:srgbClr val="E60012"/>
                          </a:solidFill>
                          <a:ea typeface="Roboto" panose="02000000000000000000" pitchFamily="2" charset="0"/>
                          <a:cs typeface="Roboto" panose="02000000000000000000" pitchFamily="2" charset="0"/>
                        </a:rPr>
                        <a:t>↑</a:t>
                      </a:r>
                      <a:r>
                        <a:rPr lang="en-GB" sz="900" b="1" dirty="0">
                          <a:solidFill>
                            <a:schemeClr val="tx1">
                              <a:lumMod val="75000"/>
                              <a:lumOff val="25000"/>
                            </a:schemeClr>
                          </a:solidFill>
                          <a:ea typeface="Roboto" panose="02000000000000000000" pitchFamily="2" charset="0"/>
                          <a:cs typeface="Roboto" panose="02000000000000000000" pitchFamily="2" charset="0"/>
                        </a:rPr>
                        <a:t> </a:t>
                      </a:r>
                      <a:r>
                        <a:rPr kumimoji="0" lang="en-GB" sz="900" b="1"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rPr>
                        <a:t>0.1%</a:t>
                      </a:r>
                      <a:r>
                        <a:rPr kumimoji="0" lang="en-GB" sz="900" b="0"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sym typeface="Wingdings" panose="05000000000000000000" pitchFamily="2" charset="2"/>
                        </a:rPr>
                        <a:t> </a:t>
                      </a:r>
                      <a:r>
                        <a:rPr kumimoji="0" lang="en-US" sz="900" b="0"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sym typeface="Wingdings" panose="05000000000000000000" pitchFamily="2" charset="2"/>
                        </a:rPr>
                        <a:t>Unemployment </a:t>
                      </a:r>
                      <a:r>
                        <a:rPr kumimoji="1" lang="en-US" sz="900" kern="1200" dirty="0">
                          <a:solidFill>
                            <a:schemeClr val="tx1">
                              <a:lumMod val="75000"/>
                              <a:lumOff val="25000"/>
                            </a:schemeClr>
                          </a:solidFill>
                          <a:latin typeface="+mn-lt"/>
                          <a:ea typeface="Roboto" panose="02000000000000000000" pitchFamily="2" charset="0"/>
                          <a:cs typeface="Roboto" panose="02000000000000000000" pitchFamily="2" charset="0"/>
                          <a:sym typeface="Wingdings" panose="05000000000000000000" pitchFamily="2" charset="2"/>
                        </a:rPr>
                        <a:t>at </a:t>
                      </a:r>
                      <a:r>
                        <a:rPr kumimoji="0" lang="en-US" sz="900" b="0"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sym typeface="Wingdings" panose="05000000000000000000" pitchFamily="2" charset="2"/>
                        </a:rPr>
                        <a:t>highest level since Jan 2021.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900" b="1"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900" b="1"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rPr>
                        <a:t>BoE Interest Rate</a:t>
                      </a:r>
                      <a:r>
                        <a:rPr kumimoji="1" lang="en-GB" sz="900" b="1" kern="1200" dirty="0">
                          <a:solidFill>
                            <a:schemeClr val="tx1">
                              <a:lumMod val="75000"/>
                              <a:lumOff val="25000"/>
                            </a:schemeClr>
                          </a:solidFill>
                          <a:latin typeface="+mn-lt"/>
                          <a:ea typeface="Roboto" panose="02000000000000000000" pitchFamily="2" charset="0"/>
                          <a:cs typeface="Roboto" panose="02000000000000000000" pitchFamily="2" charset="0"/>
                        </a:rPr>
                        <a:t> </a:t>
                      </a:r>
                      <a:r>
                        <a:rPr kumimoji="0" lang="en-GB" sz="900" b="1"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rPr>
                        <a:t>12/2025 : 3.75% </a:t>
                      </a:r>
                      <a:r>
                        <a:rPr kumimoji="0" lang="en-GB" sz="900" b="1" i="0" u="none" strike="noStrike" kern="1200" cap="none" spc="0" normalizeH="0" baseline="0" noProof="0" dirty="0">
                          <a:ln>
                            <a:noFill/>
                          </a:ln>
                          <a:solidFill>
                            <a:srgbClr val="00B050"/>
                          </a:solidFill>
                          <a:effectLst/>
                          <a:uLnTx/>
                          <a:uFillTx/>
                          <a:latin typeface="+mn-lt"/>
                          <a:ea typeface="Roboto" panose="02000000000000000000" pitchFamily="2" charset="0"/>
                          <a:cs typeface="Roboto" panose="02000000000000000000" pitchFamily="2" charset="0"/>
                        </a:rPr>
                        <a:t>↓</a:t>
                      </a:r>
                      <a:r>
                        <a:rPr kumimoji="0" lang="en-GB" sz="900" b="1"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rPr>
                        <a:t> 0.25%  </a:t>
                      </a:r>
                      <a:r>
                        <a:rPr kumimoji="0" lang="en-US" sz="900" b="0"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rPr>
                        <a:t>Bank of England interest rates reduced by 0.25% in December review – lowest since Jan 2023.</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900" b="0"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endParaRPr>
                    </a:p>
                    <a:p>
                      <a:pPr marL="285750" lvl="0" indent="-285750">
                        <a:buFont typeface="Wingdings" panose="05000000000000000000" pitchFamily="2" charset="2"/>
                        <a:buChar char="§"/>
                        <a:defRPr/>
                      </a:pPr>
                      <a:r>
                        <a:rPr kumimoji="0" lang="en-GB" sz="900" b="1"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rPr>
                        <a:t>UK GDP</a:t>
                      </a:r>
                      <a:r>
                        <a:rPr kumimoji="1" lang="en-GB" sz="900" b="1" kern="1200" dirty="0">
                          <a:solidFill>
                            <a:schemeClr val="tx1">
                              <a:lumMod val="75000"/>
                              <a:lumOff val="25000"/>
                            </a:schemeClr>
                          </a:solidFill>
                          <a:latin typeface="+mn-lt"/>
                          <a:ea typeface="Roboto" panose="02000000000000000000" pitchFamily="2" charset="0"/>
                          <a:cs typeface="Roboto" panose="02000000000000000000" pitchFamily="2" charset="0"/>
                        </a:rPr>
                        <a:t> 11/25 : 0.3%</a:t>
                      </a:r>
                      <a:r>
                        <a:rPr kumimoji="0" lang="en-GB" sz="900" b="1" i="0" u="none" strike="noStrike" kern="1200" cap="none" spc="0" normalizeH="0" baseline="0" noProof="0" dirty="0">
                          <a:ln>
                            <a:noFill/>
                          </a:ln>
                          <a:solidFill>
                            <a:srgbClr val="00B050"/>
                          </a:solidFill>
                          <a:effectLst/>
                          <a:uLnTx/>
                          <a:uFillTx/>
                          <a:latin typeface="+mn-lt"/>
                          <a:ea typeface="Roboto" panose="02000000000000000000" pitchFamily="2" charset="0"/>
                          <a:cs typeface="Roboto" panose="02000000000000000000" pitchFamily="2" charset="0"/>
                        </a:rPr>
                        <a:t> ↑</a:t>
                      </a:r>
                      <a:r>
                        <a:rPr kumimoji="0" lang="en-GB" sz="900" b="1" i="0"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rPr>
                        <a:t> 0.4% </a:t>
                      </a:r>
                      <a:r>
                        <a:rPr kumimoji="1" lang="en-GB" sz="900" b="0" i="0" kern="1200" dirty="0">
                          <a:solidFill>
                            <a:schemeClr val="tx1">
                              <a:lumMod val="75000"/>
                              <a:lumOff val="25000"/>
                            </a:schemeClr>
                          </a:solidFill>
                          <a:effectLst/>
                          <a:latin typeface="+mn-lt"/>
                          <a:ea typeface="+mn-ea"/>
                          <a:cs typeface="+mn-cs"/>
                        </a:rPr>
                        <a:t>November's growth figure was stronger than analysts' expectations and followed a 0.1% contraction in October. Economy grew by 0.1% compared with the previous three months</a:t>
                      </a:r>
                    </a:p>
                    <a:p>
                      <a:pPr marL="285750" lvl="0" indent="-285750">
                        <a:buFont typeface="Wingdings" panose="05000000000000000000" pitchFamily="2" charset="2"/>
                        <a:buChar char="§"/>
                        <a:defRPr/>
                      </a:pPr>
                      <a:endParaRPr kumimoji="1" lang="en-GB" sz="900" b="0" i="0" kern="1200" dirty="0">
                        <a:solidFill>
                          <a:schemeClr val="tx1">
                            <a:lumMod val="75000"/>
                            <a:lumOff val="25000"/>
                          </a:schemeClr>
                        </a:solidFill>
                        <a:effectLst/>
                        <a:latin typeface="+mn-lt"/>
                        <a:ea typeface="+mn-ea"/>
                        <a:cs typeface="+mn-cs"/>
                      </a:endParaRPr>
                    </a:p>
                    <a:p>
                      <a:pPr marL="285750" lvl="0" indent="-285750">
                        <a:buFont typeface="Wingdings" panose="05000000000000000000" pitchFamily="2" charset="2"/>
                        <a:buChar char="§"/>
                        <a:defRPr/>
                      </a:pPr>
                      <a:r>
                        <a:rPr lang="en-GB" sz="900" b="1" dirty="0">
                          <a:solidFill>
                            <a:schemeClr val="tx1">
                              <a:lumMod val="75000"/>
                              <a:lumOff val="25000"/>
                            </a:schemeClr>
                          </a:solidFill>
                        </a:rPr>
                        <a:t>GDP Growth f/c</a:t>
                      </a:r>
                      <a:r>
                        <a:rPr lang="en-GB" sz="900" dirty="0">
                          <a:solidFill>
                            <a:schemeClr val="tx1">
                              <a:lumMod val="75000"/>
                              <a:lumOff val="25000"/>
                            </a:schemeClr>
                          </a:solidFill>
                        </a:rPr>
                        <a:t> revised downward over the next 5-years and expected to be stable at circa 1.5% per annum</a:t>
                      </a:r>
                      <a:endParaRPr kumimoji="0" lang="en-GB" sz="900" b="0" i="1" u="none" strike="noStrike" kern="1200" cap="none" spc="0" normalizeH="0" baseline="0" noProof="0" dirty="0">
                        <a:ln>
                          <a:noFill/>
                        </a:ln>
                        <a:solidFill>
                          <a:schemeClr val="tx1">
                            <a:lumMod val="75000"/>
                            <a:lumOff val="25000"/>
                          </a:schemeClr>
                        </a:solidFill>
                        <a:effectLst/>
                        <a:uLnTx/>
                        <a:uFillTx/>
                        <a:latin typeface="+mn-lt"/>
                        <a:ea typeface="Roboto" panose="02000000000000000000" pitchFamily="2" charset="0"/>
                        <a:cs typeface="Roboto" panose="02000000000000000000" pitchFamily="2" charset="0"/>
                      </a:endParaRPr>
                    </a:p>
                  </a:txBody>
                  <a:tcPr>
                    <a:lnL w="6350" cap="flat" cmpd="sng" algn="ctr">
                      <a:solidFill>
                        <a:srgbClr val="405C8B"/>
                      </a:solidFill>
                      <a:prstDash val="solid"/>
                      <a:round/>
                      <a:headEnd type="none" w="med" len="med"/>
                      <a:tailEnd type="none" w="med" len="med"/>
                    </a:lnL>
                    <a:lnR w="6350" cap="flat" cmpd="sng" algn="ctr">
                      <a:solidFill>
                        <a:srgbClr val="405C8B"/>
                      </a:solidFill>
                      <a:prstDash val="solid"/>
                      <a:round/>
                      <a:headEnd type="none" w="med" len="med"/>
                      <a:tailEnd type="none" w="med" len="med"/>
                    </a:lnR>
                    <a:lnT w="6350" cap="flat" cmpd="sng" algn="ctr">
                      <a:solidFill>
                        <a:srgbClr val="405C8B"/>
                      </a:solidFill>
                      <a:prstDash val="solid"/>
                      <a:round/>
                      <a:headEnd type="none" w="med" len="med"/>
                      <a:tailEnd type="none" w="med" len="med"/>
                    </a:lnT>
                    <a:lnB w="6350" cap="flat" cmpd="sng" algn="ctr">
                      <a:solidFill>
                        <a:srgbClr val="405C8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7031293"/>
                  </a:ext>
                </a:extLst>
              </a:tr>
              <a:tr h="358489">
                <a:tc>
                  <a:txBody>
                    <a:bodyPr/>
                    <a:lstStyle/>
                    <a:p>
                      <a:pPr algn="ctr"/>
                      <a:r>
                        <a:rPr lang="en-US" sz="1200" dirty="0">
                          <a:solidFill>
                            <a:srgbClr val="344251"/>
                          </a:solidFill>
                        </a:rPr>
                        <a:t>FY25 BP Forecast &amp; FY26/27 Plan</a:t>
                      </a:r>
                    </a:p>
                  </a:txBody>
                  <a:tcPr anchor="ctr">
                    <a:lnL w="6350" cap="flat" cmpd="sng" algn="ctr">
                      <a:solidFill>
                        <a:srgbClr val="405C8B"/>
                      </a:solidFill>
                      <a:prstDash val="solid"/>
                      <a:round/>
                      <a:headEnd type="none" w="med" len="med"/>
                      <a:tailEnd type="none" w="med" len="med"/>
                    </a:lnL>
                    <a:lnR w="6350" cap="flat" cmpd="sng" algn="ctr">
                      <a:solidFill>
                        <a:srgbClr val="405C8B"/>
                      </a:solidFill>
                      <a:prstDash val="solid"/>
                      <a:round/>
                      <a:headEnd type="none" w="med" len="med"/>
                      <a:tailEnd type="none" w="med" len="med"/>
                    </a:lnR>
                    <a:lnT w="6350" cap="flat" cmpd="sng" algn="ctr">
                      <a:solidFill>
                        <a:srgbClr val="405C8B"/>
                      </a:solidFill>
                      <a:prstDash val="solid"/>
                      <a:round/>
                      <a:headEnd type="none" w="med" len="med"/>
                      <a:tailEnd type="none" w="med" len="med"/>
                    </a:lnT>
                    <a:lnB w="6350" cap="flat" cmpd="sng" algn="ctr">
                      <a:solidFill>
                        <a:srgbClr val="405C8B"/>
                      </a:solidFill>
                      <a:prstDash val="solid"/>
                      <a:round/>
                      <a:headEnd type="none" w="med" len="med"/>
                      <a:tailEnd type="none" w="med" len="med"/>
                    </a:lnB>
                    <a:lnTlToBr w="12700" cmpd="sng">
                      <a:noFill/>
                      <a:prstDash val="solid"/>
                    </a:lnTlToBr>
                    <a:lnBlToTr w="12700" cmpd="sng">
                      <a:noFill/>
                      <a:prstDash val="solid"/>
                    </a:lnBlToTr>
                    <a:solidFill>
                      <a:srgbClr val="DDEBF9"/>
                    </a:solidFill>
                  </a:tcPr>
                </a:tc>
                <a:tc>
                  <a:txBody>
                    <a:bodyPr/>
                    <a:lstStyle/>
                    <a:p>
                      <a:pPr algn="ctr"/>
                      <a:r>
                        <a:rPr lang="en-US" sz="1200" dirty="0">
                          <a:solidFill>
                            <a:srgbClr val="344251"/>
                          </a:solidFill>
                        </a:rPr>
                        <a:t>Political Issues &amp; Automotive Impact</a:t>
                      </a:r>
                    </a:p>
                  </a:txBody>
                  <a:tcPr anchor="ctr">
                    <a:lnL w="6350" cap="flat" cmpd="sng" algn="ctr">
                      <a:solidFill>
                        <a:srgbClr val="405C8B"/>
                      </a:solidFill>
                      <a:prstDash val="solid"/>
                      <a:round/>
                      <a:headEnd type="none" w="med" len="med"/>
                      <a:tailEnd type="none" w="med" len="med"/>
                    </a:lnL>
                    <a:lnR w="6350" cap="flat" cmpd="sng" algn="ctr">
                      <a:solidFill>
                        <a:srgbClr val="405C8B"/>
                      </a:solidFill>
                      <a:prstDash val="solid"/>
                      <a:round/>
                      <a:headEnd type="none" w="med" len="med"/>
                      <a:tailEnd type="none" w="med" len="med"/>
                    </a:lnR>
                    <a:lnT w="6350" cap="flat" cmpd="sng" algn="ctr">
                      <a:solidFill>
                        <a:srgbClr val="405C8B"/>
                      </a:solidFill>
                      <a:prstDash val="solid"/>
                      <a:round/>
                      <a:headEnd type="none" w="med" len="med"/>
                      <a:tailEnd type="none" w="med" len="med"/>
                    </a:lnT>
                    <a:lnB w="6350" cap="flat" cmpd="sng" algn="ctr">
                      <a:solidFill>
                        <a:srgbClr val="405C8B"/>
                      </a:solidFill>
                      <a:prstDash val="solid"/>
                      <a:round/>
                      <a:headEnd type="none" w="med" len="med"/>
                      <a:tailEnd type="none" w="med" len="med"/>
                    </a:lnB>
                    <a:lnTlToBr w="12700" cmpd="sng">
                      <a:noFill/>
                      <a:prstDash val="solid"/>
                    </a:lnTlToBr>
                    <a:lnBlToTr w="12700" cmpd="sng">
                      <a:noFill/>
                      <a:prstDash val="solid"/>
                    </a:lnBlToTr>
                    <a:solidFill>
                      <a:srgbClr val="DDEBF9"/>
                    </a:solidFill>
                  </a:tcPr>
                </a:tc>
                <a:extLst>
                  <a:ext uri="{0D108BD9-81ED-4DB2-BD59-A6C34878D82A}">
                    <a16:rowId xmlns:a16="http://schemas.microsoft.com/office/drawing/2014/main" val="212420974"/>
                  </a:ext>
                </a:extLst>
              </a:tr>
              <a:tr h="2844893">
                <a:tc>
                  <a:txBody>
                    <a:bodyPr/>
                    <a:lstStyle/>
                    <a:p>
                      <a:pPr marL="171450" indent="-171450" algn="l" fontAlgn="b">
                        <a:buFont typeface="Arial" panose="020B0604020202020204" pitchFamily="34" charset="0"/>
                        <a:buChar char="•"/>
                      </a:pPr>
                      <a:r>
                        <a:rPr lang="en-US" sz="1050" dirty="0">
                          <a:solidFill>
                            <a:srgbClr val="344251"/>
                          </a:solidFill>
                        </a:rPr>
                        <a:t>Vehicle sales in FY25 reduced due to impact of R51 noise regulation and derogation not being granted to date.</a:t>
                      </a:r>
                    </a:p>
                    <a:p>
                      <a:pPr marL="171450" indent="-171450" algn="l" fontAlgn="b">
                        <a:buFont typeface="Arial" panose="020B0604020202020204" pitchFamily="34" charset="0"/>
                        <a:buChar char="•"/>
                      </a:pPr>
                      <a:r>
                        <a:rPr lang="en-US" sz="1050" dirty="0">
                          <a:solidFill>
                            <a:srgbClr val="344251"/>
                          </a:solidFill>
                        </a:rPr>
                        <a:t>OP slightly reduced as a result by £0.2m  Management will continue to endeavor to close this gap.</a:t>
                      </a:r>
                    </a:p>
                    <a:p>
                      <a:pPr marL="171450" indent="-171450" algn="l" fontAlgn="b">
                        <a:buFont typeface="Arial" panose="020B0604020202020204" pitchFamily="34" charset="0"/>
                        <a:buChar char="•"/>
                      </a:pPr>
                      <a:r>
                        <a:rPr lang="en-US" sz="1050" dirty="0">
                          <a:solidFill>
                            <a:srgbClr val="344251"/>
                          </a:solidFill>
                        </a:rPr>
                        <a:t>Parts sales behind August forecast by £0.1m; mainly due to slower growth in vehicle parc.</a:t>
                      </a:r>
                    </a:p>
                    <a:p>
                      <a:pPr marL="171450" indent="-171450" algn="l" fontAlgn="b">
                        <a:buFont typeface="Arial" panose="020B0604020202020204" pitchFamily="34" charset="0"/>
                        <a:buChar char="•"/>
                      </a:pPr>
                      <a:r>
                        <a:rPr lang="en-US" sz="1050" dirty="0">
                          <a:solidFill>
                            <a:srgbClr val="344251"/>
                          </a:solidFill>
                        </a:rPr>
                        <a:t>FY26 will see transition to new P700 model line up.  Legislative challenges and SOP delays result in w/s volume target of 2,212 units.</a:t>
                      </a:r>
                    </a:p>
                    <a:p>
                      <a:pPr marL="171450" indent="-171450" algn="l" fontAlgn="b">
                        <a:buFont typeface="Arial" panose="020B0604020202020204" pitchFamily="34" charset="0"/>
                        <a:buChar char="•"/>
                      </a:pPr>
                      <a:r>
                        <a:rPr lang="en-US" sz="1050" dirty="0">
                          <a:solidFill>
                            <a:srgbClr val="344251"/>
                          </a:solidFill>
                        </a:rPr>
                        <a:t>FY26 OP increased versus Aug forecast despite reduced volume - improved sales model mix.</a:t>
                      </a:r>
                    </a:p>
                    <a:p>
                      <a:pPr marL="171450" indent="-171450" algn="l" fontAlgn="b">
                        <a:buFont typeface="Arial" panose="020B0604020202020204" pitchFamily="34" charset="0"/>
                        <a:buChar char="•"/>
                      </a:pPr>
                      <a:r>
                        <a:rPr lang="en-US" sz="1050" dirty="0">
                          <a:solidFill>
                            <a:srgbClr val="344251"/>
                          </a:solidFill>
                        </a:rPr>
                        <a:t>FY27 anticipated to see strong growth in N35 sales with forecast recovery of the UK construction sector.</a:t>
                      </a:r>
                    </a:p>
                    <a:p>
                      <a:pPr marL="171450" indent="-171450" algn="l" fontAlgn="b">
                        <a:buFont typeface="Arial" panose="020B0604020202020204" pitchFamily="34" charset="0"/>
                        <a:buChar char="•"/>
                      </a:pPr>
                      <a:r>
                        <a:rPr lang="en-US" sz="1050" dirty="0">
                          <a:solidFill>
                            <a:srgbClr val="344251"/>
                          </a:solidFill>
                        </a:rPr>
                        <a:t>Strong OP and retained earnings growth from FY24-FY27 (£5.9m→£11.9m) in constantly challenging markets and economic environments.</a:t>
                      </a:r>
                    </a:p>
                  </a:txBody>
                  <a:tcPr>
                    <a:lnL w="6350" cap="flat" cmpd="sng" algn="ctr">
                      <a:solidFill>
                        <a:srgbClr val="405C8B"/>
                      </a:solidFill>
                      <a:prstDash val="solid"/>
                      <a:round/>
                      <a:headEnd type="none" w="med" len="med"/>
                      <a:tailEnd type="none" w="med" len="med"/>
                    </a:lnL>
                    <a:lnR w="6350" cap="flat" cmpd="sng" algn="ctr">
                      <a:solidFill>
                        <a:srgbClr val="405C8B"/>
                      </a:solidFill>
                      <a:prstDash val="solid"/>
                      <a:round/>
                      <a:headEnd type="none" w="med" len="med"/>
                      <a:tailEnd type="none" w="med" len="med"/>
                    </a:lnR>
                    <a:lnT w="6350" cap="flat" cmpd="sng" algn="ctr">
                      <a:solidFill>
                        <a:srgbClr val="405C8B"/>
                      </a:solidFill>
                      <a:prstDash val="solid"/>
                      <a:round/>
                      <a:headEnd type="none" w="med" len="med"/>
                      <a:tailEnd type="none" w="med" len="med"/>
                    </a:lnT>
                    <a:lnB w="6350" cap="flat" cmpd="sng" algn="ctr">
                      <a:solidFill>
                        <a:srgbClr val="405C8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050" b="0" i="0" u="none" strike="noStrike" kern="1200" cap="none" spc="0" normalizeH="0" baseline="0" noProof="0" dirty="0">
                        <a:ln>
                          <a:noFill/>
                        </a:ln>
                        <a:solidFill>
                          <a:srgbClr val="002664">
                            <a:lumMod val="50000"/>
                            <a:lumOff val="50000"/>
                          </a:srgbClr>
                        </a:solidFill>
                        <a:effectLst/>
                        <a:highlight>
                          <a:srgbClr val="FFFFFF"/>
                        </a:highlight>
                        <a:uLnTx/>
                        <a:uFillTx/>
                        <a:latin typeface="Roboto" panose="02000000000000000000" pitchFamily="2" charset="0"/>
                        <a:ea typeface="Roboto" panose="02000000000000000000" pitchFamily="2" charset="0"/>
                        <a:cs typeface="Roboto" panose="02000000000000000000" pitchFamily="2" charset="0"/>
                      </a:endParaRPr>
                    </a:p>
                  </a:txBody>
                  <a:tcPr anchor="ctr">
                    <a:lnL w="6350" cap="flat" cmpd="sng" algn="ctr">
                      <a:solidFill>
                        <a:srgbClr val="405C8B"/>
                      </a:solidFill>
                      <a:prstDash val="solid"/>
                      <a:round/>
                      <a:headEnd type="none" w="med" len="med"/>
                      <a:tailEnd type="none" w="med" len="med"/>
                    </a:lnL>
                    <a:lnR w="6350" cap="flat" cmpd="sng" algn="ctr">
                      <a:solidFill>
                        <a:srgbClr val="405C8B"/>
                      </a:solidFill>
                      <a:prstDash val="solid"/>
                      <a:round/>
                      <a:headEnd type="none" w="med" len="med"/>
                      <a:tailEnd type="none" w="med" len="med"/>
                    </a:lnR>
                    <a:lnT w="6350" cap="flat" cmpd="sng" algn="ctr">
                      <a:solidFill>
                        <a:srgbClr val="405C8B"/>
                      </a:solidFill>
                      <a:prstDash val="solid"/>
                      <a:round/>
                      <a:headEnd type="none" w="med" len="med"/>
                      <a:tailEnd type="none" w="med" len="med"/>
                    </a:lnT>
                    <a:lnB w="6350" cap="flat" cmpd="sng" algn="ctr">
                      <a:solidFill>
                        <a:srgbClr val="405C8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7403136"/>
                  </a:ext>
                </a:extLst>
              </a:tr>
            </a:tbl>
          </a:graphicData>
        </a:graphic>
      </p:graphicFrame>
      <p:pic>
        <p:nvPicPr>
          <p:cNvPr id="4" name="Picture 3">
            <a:extLst>
              <a:ext uri="{FF2B5EF4-FFF2-40B4-BE49-F238E27FC236}">
                <a16:creationId xmlns:a16="http://schemas.microsoft.com/office/drawing/2014/main" id="{BE74C8A8-53A4-0C4D-CC80-63A177A3D257}"/>
              </a:ext>
            </a:extLst>
          </p:cNvPr>
          <p:cNvPicPr>
            <a:picLocks noChangeAspect="1"/>
          </p:cNvPicPr>
          <p:nvPr/>
        </p:nvPicPr>
        <p:blipFill>
          <a:blip r:embed="rId3"/>
          <a:stretch>
            <a:fillRect/>
          </a:stretch>
        </p:blipFill>
        <p:spPr>
          <a:xfrm>
            <a:off x="5332351" y="1529843"/>
            <a:ext cx="2103811" cy="2027802"/>
          </a:xfrm>
          <a:prstGeom prst="rect">
            <a:avLst/>
          </a:prstGeom>
        </p:spPr>
      </p:pic>
      <p:pic>
        <p:nvPicPr>
          <p:cNvPr id="7" name="Picture 2" descr="A bar chart showing the estimated monthly GDP growth of the UK economy, from November 2023 to 2025. The figures are as follows: Nov 2023 (0.3%), Dec 2023 (-0.3%), Jan 2024 (0.5%), Feb 2024 (0.2%), Mar 2024 (0.5%), Apr 2024 (0.0%), May 2024 (0.4%), Jun 2024 (-0.1%), Jul 2024 (0.0%), Aug 2024 (0.3%), Sep 2024 (-0.1%), Oct 2024 (0.0%), Nov 2024 (0.0%), Dec 2024 (0.5%), Jan 2025 (-0.1%), Feb 2025 (0.4%), Mar 2025 (0.3%), Apr 2025 (-0.2%), May 2025 (0.0%), Jun 2025 (0.4%), Jul 2025 (-0.1%), and Aug 2025 (-0.1%), Sep 2025 (0.1%), Oct 2025 (-0.1%), Nov 2025 (0.3%).">
            <a:extLst>
              <a:ext uri="{FF2B5EF4-FFF2-40B4-BE49-F238E27FC236}">
                <a16:creationId xmlns:a16="http://schemas.microsoft.com/office/drawing/2014/main" id="{6EF7326B-2CFF-3ABC-2C3E-6705928404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3330" y="1529843"/>
            <a:ext cx="2595772" cy="20278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1FFDACC-E624-9BDD-5C57-56A9CB943C3B}"/>
              </a:ext>
            </a:extLst>
          </p:cNvPr>
          <p:cNvSpPr txBox="1"/>
          <p:nvPr/>
        </p:nvSpPr>
        <p:spPr>
          <a:xfrm>
            <a:off x="7464152" y="3977174"/>
            <a:ext cx="4625918" cy="3662541"/>
          </a:xfrm>
          <a:prstGeom prst="rect">
            <a:avLst/>
          </a:prstGeom>
          <a:noFill/>
        </p:spPr>
        <p:txBody>
          <a:bodyPr wrap="square">
            <a:spAutoFit/>
          </a:bodyPr>
          <a:lstStyle/>
          <a:p>
            <a:pPr marL="171450" indent="-171450">
              <a:buFont typeface="Wingdings" panose="05000000000000000000" pitchFamily="2" charset="2"/>
              <a:buChar char="§"/>
            </a:pPr>
            <a:r>
              <a:rPr lang="en-GB" sz="1000" b="0" i="0" dirty="0">
                <a:solidFill>
                  <a:srgbClr val="344251"/>
                </a:solidFill>
                <a:effectLst/>
              </a:rPr>
              <a:t>Geopolitical </a:t>
            </a:r>
            <a:r>
              <a:rPr lang="en-GB" sz="1000" dirty="0">
                <a:solidFill>
                  <a:srgbClr val="344251"/>
                </a:solidFill>
              </a:rPr>
              <a:t>economic disruptions</a:t>
            </a:r>
            <a:r>
              <a:rPr lang="en-GB" sz="1000" b="0" i="0" dirty="0">
                <a:solidFill>
                  <a:srgbClr val="344251"/>
                </a:solidFill>
                <a:effectLst/>
              </a:rPr>
              <a:t> continue during FY25 with ongoing Russia/Ukraine &amp; </a:t>
            </a:r>
            <a:r>
              <a:rPr lang="en-GB" sz="1000" dirty="0">
                <a:solidFill>
                  <a:srgbClr val="344251"/>
                </a:solidFill>
              </a:rPr>
              <a:t>Isreal/Palestine </a:t>
            </a:r>
            <a:r>
              <a:rPr lang="en-GB" sz="1000" b="0" i="0" dirty="0">
                <a:solidFill>
                  <a:srgbClr val="344251"/>
                </a:solidFill>
                <a:effectLst/>
              </a:rPr>
              <a:t>conflicts, </a:t>
            </a:r>
            <a:r>
              <a:rPr lang="en-GB" sz="1000" dirty="0">
                <a:solidFill>
                  <a:srgbClr val="344251"/>
                </a:solidFill>
              </a:rPr>
              <a:t>Iranian unrest and extremely serious potential impact of USA threat to annex Greenland</a:t>
            </a:r>
          </a:p>
          <a:p>
            <a:pPr marL="171450" indent="-171450">
              <a:buFont typeface="Wingdings" panose="05000000000000000000" pitchFamily="2" charset="2"/>
              <a:buChar char="§"/>
            </a:pPr>
            <a:r>
              <a:rPr lang="en-GB" sz="1000" dirty="0">
                <a:solidFill>
                  <a:srgbClr val="344251"/>
                </a:solidFill>
              </a:rPr>
              <a:t>USA and European Nato relations currently very strained with potential for new additional tariffs.</a:t>
            </a:r>
            <a:endParaRPr lang="en-GB" sz="1000" b="0" i="0" dirty="0">
              <a:solidFill>
                <a:srgbClr val="344251"/>
              </a:solidFill>
              <a:effectLst/>
            </a:endParaRPr>
          </a:p>
          <a:p>
            <a:pPr marL="171450" indent="-171450">
              <a:buFont typeface="Wingdings" panose="05000000000000000000" pitchFamily="2" charset="2"/>
              <a:buChar char="§"/>
            </a:pPr>
            <a:r>
              <a:rPr lang="en-GB" sz="1000" b="0" i="0" dirty="0">
                <a:solidFill>
                  <a:srgbClr val="344251"/>
                </a:solidFill>
                <a:effectLst/>
              </a:rPr>
              <a:t>Bank of England governor Andrew Bailey warned  “we have to remain very alert</a:t>
            </a:r>
            <a:r>
              <a:rPr lang="en-GB" sz="1000" dirty="0">
                <a:solidFill>
                  <a:srgbClr val="344251"/>
                </a:solidFill>
              </a:rPr>
              <a:t> </a:t>
            </a:r>
            <a:r>
              <a:rPr lang="en-GB" sz="1000" b="0" i="0" dirty="0">
                <a:solidFill>
                  <a:srgbClr val="344251"/>
                </a:solidFill>
                <a:effectLst/>
              </a:rPr>
              <a:t>to rising geopolitical tensions” adding “growing uncertainty around global politics </a:t>
            </a:r>
            <a:r>
              <a:rPr lang="en-GB" sz="1000" dirty="0">
                <a:solidFill>
                  <a:srgbClr val="344251"/>
                </a:solidFill>
              </a:rPr>
              <a:t>&amp;</a:t>
            </a:r>
            <a:r>
              <a:rPr lang="en-GB" sz="1000" b="0" i="0" dirty="0">
                <a:solidFill>
                  <a:srgbClr val="344251"/>
                </a:solidFill>
                <a:effectLst/>
              </a:rPr>
              <a:t> trade poses a significant risk to financial stability”</a:t>
            </a:r>
            <a:endParaRPr lang="en-GB" sz="1000" dirty="0">
              <a:solidFill>
                <a:srgbClr val="344251"/>
              </a:solidFill>
            </a:endParaRPr>
          </a:p>
          <a:p>
            <a:pPr marL="171450" indent="-171450">
              <a:buFont typeface="Wingdings" panose="05000000000000000000" pitchFamily="2" charset="2"/>
              <a:buChar char="§"/>
            </a:pPr>
            <a:r>
              <a:rPr lang="en-GB" sz="1000" b="0" i="0" dirty="0">
                <a:solidFill>
                  <a:srgbClr val="344251"/>
                </a:solidFill>
                <a:effectLst/>
              </a:rPr>
              <a:t>Additional BoE concerns over weakening of Labour Market from increase in minimum wage and N.I. contributions in new Government policy</a:t>
            </a:r>
          </a:p>
          <a:p>
            <a:pPr marL="171450" indent="-171450">
              <a:buFont typeface="Wingdings" panose="05000000000000000000" pitchFamily="2" charset="2"/>
              <a:buChar char="§"/>
            </a:pPr>
            <a:r>
              <a:rPr lang="en-GB" sz="1000" dirty="0">
                <a:solidFill>
                  <a:srgbClr val="344251"/>
                </a:solidFill>
              </a:rPr>
              <a:t>UK Government facing increased pressure from Business Leaders, due to policy introductions that significantly impact overheads</a:t>
            </a:r>
          </a:p>
          <a:p>
            <a:pPr marL="171450" indent="-171450">
              <a:buFont typeface="Wingdings" panose="05000000000000000000" pitchFamily="2" charset="2"/>
              <a:buChar char="§"/>
            </a:pPr>
            <a:r>
              <a:rPr lang="en-GB" sz="1000" dirty="0">
                <a:solidFill>
                  <a:srgbClr val="344251"/>
                </a:solidFill>
              </a:rPr>
              <a:t>VET Scheme under pressure – “Government must bring forward a review of the ZEV transition to ensure a sustainable market that aligns ambition with real-world demand. The review must also consider unique challenges in the new van market, which declined by -10.3% in 2025, amid a challenging economic environment for fleet renewal. While EV uptake rose significantly it remains well below the 16% mandated last year” – </a:t>
            </a:r>
            <a:r>
              <a:rPr lang="en-GB" sz="1000" i="1" dirty="0">
                <a:solidFill>
                  <a:srgbClr val="344251"/>
                </a:solidFill>
              </a:rPr>
              <a:t>Mike Hawes SMMT</a:t>
            </a:r>
          </a:p>
          <a:p>
            <a:pPr marL="171450" indent="-171450">
              <a:buFont typeface="Wingdings" panose="05000000000000000000" pitchFamily="2" charset="2"/>
              <a:buChar char="§"/>
            </a:pPr>
            <a:endParaRPr lang="en-GB" sz="1000" dirty="0">
              <a:solidFill>
                <a:srgbClr val="344251"/>
              </a:solidFill>
            </a:endParaRPr>
          </a:p>
          <a:p>
            <a:pPr marL="171450" indent="-171450">
              <a:buFont typeface="Wingdings" panose="05000000000000000000" pitchFamily="2" charset="2"/>
              <a:buChar char="§"/>
            </a:pPr>
            <a:endParaRPr lang="en-GB" sz="1000" dirty="0">
              <a:solidFill>
                <a:srgbClr val="344251"/>
              </a:solidFill>
            </a:endParaRPr>
          </a:p>
          <a:p>
            <a:pPr marL="171450" indent="-171450">
              <a:buFont typeface="Wingdings" panose="05000000000000000000" pitchFamily="2" charset="2"/>
              <a:buChar char="§"/>
            </a:pPr>
            <a:endParaRPr lang="en-GB" sz="1100" b="0" i="0" dirty="0">
              <a:solidFill>
                <a:srgbClr val="344251"/>
              </a:solidFill>
              <a:effectLst/>
            </a:endParaRPr>
          </a:p>
          <a:p>
            <a:pPr marL="171450" indent="-171450">
              <a:buFont typeface="Arial" panose="020B0604020202020204" pitchFamily="34" charset="0"/>
              <a:buChar char="•"/>
            </a:pPr>
            <a:endParaRPr lang="en-GB" sz="1100" dirty="0">
              <a:solidFill>
                <a:srgbClr val="344251"/>
              </a:solidFill>
            </a:endParaRPr>
          </a:p>
          <a:p>
            <a:pPr marL="171450" indent="-171450">
              <a:buFont typeface="Arial" panose="020B0604020202020204" pitchFamily="34" charset="0"/>
              <a:buChar char="•"/>
            </a:pPr>
            <a:endParaRPr lang="en-GB" sz="1000" dirty="0">
              <a:solidFill>
                <a:srgbClr val="344251"/>
              </a:solidFill>
            </a:endParaRPr>
          </a:p>
        </p:txBody>
      </p:sp>
      <p:pic>
        <p:nvPicPr>
          <p:cNvPr id="10" name="Picture 9">
            <a:extLst>
              <a:ext uri="{FF2B5EF4-FFF2-40B4-BE49-F238E27FC236}">
                <a16:creationId xmlns:a16="http://schemas.microsoft.com/office/drawing/2014/main" id="{99293FE3-9509-43AC-7C99-ABC532A85E03}"/>
              </a:ext>
            </a:extLst>
          </p:cNvPr>
          <p:cNvPicPr>
            <a:picLocks noChangeAspect="1"/>
          </p:cNvPicPr>
          <p:nvPr/>
        </p:nvPicPr>
        <p:blipFill>
          <a:blip r:embed="rId5"/>
          <a:srcRect l="31829" t="18536" r="35335" b="24391"/>
          <a:stretch>
            <a:fillRect/>
          </a:stretch>
        </p:blipFill>
        <p:spPr>
          <a:xfrm>
            <a:off x="540338" y="1543915"/>
            <a:ext cx="2009743" cy="1964958"/>
          </a:xfrm>
          <a:prstGeom prst="rect">
            <a:avLst/>
          </a:prstGeom>
        </p:spPr>
      </p:pic>
      <p:pic>
        <p:nvPicPr>
          <p:cNvPr id="5" name="Picture 4">
            <a:extLst>
              <a:ext uri="{FF2B5EF4-FFF2-40B4-BE49-F238E27FC236}">
                <a16:creationId xmlns:a16="http://schemas.microsoft.com/office/drawing/2014/main" id="{3FAECC2D-FE67-4E6D-7817-564520C9CAA5}"/>
              </a:ext>
            </a:extLst>
          </p:cNvPr>
          <p:cNvPicPr>
            <a:picLocks noChangeAspect="1"/>
          </p:cNvPicPr>
          <p:nvPr/>
        </p:nvPicPr>
        <p:blipFill>
          <a:blip r:embed="rId6"/>
          <a:stretch>
            <a:fillRect/>
          </a:stretch>
        </p:blipFill>
        <p:spPr>
          <a:xfrm>
            <a:off x="503100" y="5449046"/>
            <a:ext cx="7013007" cy="1331683"/>
          </a:xfrm>
          <a:prstGeom prst="rect">
            <a:avLst/>
          </a:prstGeom>
        </p:spPr>
      </p:pic>
    </p:spTree>
    <p:extLst>
      <p:ext uri="{BB962C8B-B14F-4D97-AF65-F5344CB8AC3E}">
        <p14:creationId xmlns:p14="http://schemas.microsoft.com/office/powerpoint/2010/main" val="447068753"/>
      </p:ext>
    </p:extLst>
  </p:cSld>
  <p:clrMapOvr>
    <a:masterClrMapping/>
  </p:clrMapOvr>
  <mc:AlternateContent xmlns:mc="http://schemas.openxmlformats.org/markup-compatibility/2006" xmlns:p14="http://schemas.microsoft.com/office/powerpoint/2010/main">
    <mc:Choice Requires="p14">
      <p:transition spd="slow" p14:dur="2000" advTm="100775"/>
    </mc:Choice>
    <mc:Fallback xmlns="">
      <p:transition spd="slow" advTm="10077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2E9EA-4855-B5EB-18AE-9284B8EB2A4A}"/>
            </a:ext>
          </a:extLst>
        </p:cNvPr>
        <p:cNvGrpSpPr/>
        <p:nvPr/>
      </p:nvGrpSpPr>
      <p:grpSpPr>
        <a:xfrm>
          <a:off x="0" y="0"/>
          <a:ext cx="0" cy="0"/>
          <a:chOff x="0" y="0"/>
          <a:chExt cx="0" cy="0"/>
        </a:xfrm>
      </p:grpSpPr>
      <p:sp>
        <p:nvSpPr>
          <p:cNvPr id="28" name="TextBox 27">
            <a:extLst>
              <a:ext uri="{FF2B5EF4-FFF2-40B4-BE49-F238E27FC236}">
                <a16:creationId xmlns:a16="http://schemas.microsoft.com/office/drawing/2014/main" id="{21EB6AF6-6B87-C443-97E2-DD12EECBF2D5}"/>
              </a:ext>
            </a:extLst>
          </p:cNvPr>
          <p:cNvSpPr txBox="1"/>
          <p:nvPr/>
        </p:nvSpPr>
        <p:spPr>
          <a:xfrm>
            <a:off x="263351" y="3889495"/>
            <a:ext cx="4104457" cy="2868478"/>
          </a:xfrm>
          <a:prstGeom prst="rect">
            <a:avLst/>
          </a:prstGeom>
          <a:noFill/>
          <a:ln>
            <a:solidFill>
              <a:srgbClr val="405C8B"/>
            </a:solidFill>
          </a:ln>
        </p:spPr>
        <p:txBody>
          <a:bodyPr wrap="square" rtlCol="0">
            <a:spAutoFit/>
          </a:bodyPr>
          <a:lstStyle/>
          <a:p>
            <a:pPr algn="ctr">
              <a:lnSpc>
                <a:spcPct val="90000"/>
              </a:lnSpc>
              <a:spcBef>
                <a:spcPts val="600"/>
              </a:spcBef>
            </a:pPr>
            <a:r>
              <a:rPr lang="en-US" sz="1200" dirty="0">
                <a:solidFill>
                  <a:srgbClr val="344251"/>
                </a:solidFill>
              </a:rPr>
              <a:t>Connected Project</a:t>
            </a:r>
          </a:p>
          <a:p>
            <a:pPr algn="ctr">
              <a:lnSpc>
                <a:spcPct val="90000"/>
              </a:lnSpc>
              <a:spcBef>
                <a:spcPts val="600"/>
              </a:spcBef>
            </a:pPr>
            <a:endParaRPr lang="en-US" sz="1200" dirty="0">
              <a:solidFill>
                <a:srgbClr val="344251"/>
              </a:solidFill>
            </a:endParaRPr>
          </a:p>
          <a:p>
            <a:pPr algn="ctr">
              <a:lnSpc>
                <a:spcPct val="90000"/>
              </a:lnSpc>
              <a:spcBef>
                <a:spcPts val="600"/>
              </a:spcBef>
            </a:pPr>
            <a:endParaRPr lang="en-US" sz="1200" dirty="0">
              <a:solidFill>
                <a:srgbClr val="344251"/>
              </a:solidFill>
            </a:endParaRPr>
          </a:p>
          <a:p>
            <a:pPr algn="ctr">
              <a:lnSpc>
                <a:spcPct val="90000"/>
              </a:lnSpc>
              <a:spcBef>
                <a:spcPts val="600"/>
              </a:spcBef>
            </a:pPr>
            <a:endParaRPr lang="en-US" sz="1200" dirty="0">
              <a:solidFill>
                <a:srgbClr val="344251"/>
              </a:solidFill>
            </a:endParaRPr>
          </a:p>
          <a:p>
            <a:pPr algn="ctr">
              <a:lnSpc>
                <a:spcPct val="90000"/>
              </a:lnSpc>
              <a:spcBef>
                <a:spcPts val="600"/>
              </a:spcBef>
            </a:pPr>
            <a:endParaRPr lang="en-US" sz="1200" dirty="0">
              <a:solidFill>
                <a:srgbClr val="344251"/>
              </a:solidFill>
            </a:endParaRPr>
          </a:p>
          <a:p>
            <a:pPr marL="171450" indent="-171450">
              <a:lnSpc>
                <a:spcPct val="90000"/>
              </a:lnSpc>
              <a:spcBef>
                <a:spcPts val="600"/>
              </a:spcBef>
              <a:buFont typeface="Arial" panose="020B0604020202020204" pitchFamily="34" charset="0"/>
              <a:buChar char="•"/>
            </a:pPr>
            <a:r>
              <a:rPr lang="en-US" sz="1200" dirty="0">
                <a:solidFill>
                  <a:srgbClr val="344251"/>
                </a:solidFill>
              </a:rPr>
              <a:t>Misalignment of development schedule between in-car and out-car team.</a:t>
            </a:r>
          </a:p>
          <a:p>
            <a:pPr marL="171450" indent="-171450">
              <a:lnSpc>
                <a:spcPct val="90000"/>
              </a:lnSpc>
              <a:spcBef>
                <a:spcPts val="600"/>
              </a:spcBef>
              <a:buFont typeface="Arial" panose="020B0604020202020204" pitchFamily="34" charset="0"/>
              <a:buChar char="•"/>
            </a:pPr>
            <a:r>
              <a:rPr lang="en-US" sz="1200" dirty="0">
                <a:solidFill>
                  <a:srgbClr val="344251"/>
                </a:solidFill>
              </a:rPr>
              <a:t>No Odometer from IPC or Digital Tachograph Integration.</a:t>
            </a:r>
          </a:p>
          <a:p>
            <a:pPr marL="171450" indent="-171450">
              <a:lnSpc>
                <a:spcPct val="90000"/>
              </a:lnSpc>
              <a:spcBef>
                <a:spcPts val="600"/>
              </a:spcBef>
              <a:buFont typeface="Arial" panose="020B0604020202020204" pitchFamily="34" charset="0"/>
              <a:buChar char="•"/>
            </a:pPr>
            <a:r>
              <a:rPr lang="en-US" sz="1200" dirty="0">
                <a:solidFill>
                  <a:srgbClr val="344251"/>
                </a:solidFill>
              </a:rPr>
              <a:t>Cannot use Connected to support PMS activity due to inaccurate odometer data.</a:t>
            </a:r>
          </a:p>
          <a:p>
            <a:pPr marL="171450" indent="-171450">
              <a:lnSpc>
                <a:spcPct val="90000"/>
              </a:lnSpc>
              <a:spcBef>
                <a:spcPts val="600"/>
              </a:spcBef>
              <a:buFont typeface="Arial" panose="020B0604020202020204" pitchFamily="34" charset="0"/>
              <a:buChar char="•"/>
            </a:pPr>
            <a:r>
              <a:rPr lang="en-US" sz="1200" dirty="0">
                <a:solidFill>
                  <a:srgbClr val="344251"/>
                </a:solidFill>
              </a:rPr>
              <a:t>Future strategy to support uptime only - missed opportunity to utilize for increased parts sales</a:t>
            </a:r>
          </a:p>
        </p:txBody>
      </p:sp>
      <p:sp>
        <p:nvSpPr>
          <p:cNvPr id="3" name="Title 2">
            <a:extLst>
              <a:ext uri="{FF2B5EF4-FFF2-40B4-BE49-F238E27FC236}">
                <a16:creationId xmlns:a16="http://schemas.microsoft.com/office/drawing/2014/main" id="{9AA643EE-22D7-293D-A3E7-AE0A268B8D9D}"/>
              </a:ext>
            </a:extLst>
          </p:cNvPr>
          <p:cNvSpPr>
            <a:spLocks noGrp="1"/>
          </p:cNvSpPr>
          <p:nvPr>
            <p:ph type="title"/>
          </p:nvPr>
        </p:nvSpPr>
        <p:spPr/>
        <p:txBody>
          <a:bodyPr/>
          <a:lstStyle/>
          <a:p>
            <a:r>
              <a:rPr lang="en-US" dirty="0">
                <a:solidFill>
                  <a:srgbClr val="344251"/>
                </a:solidFill>
              </a:rPr>
              <a:t>Operational Summary</a:t>
            </a:r>
          </a:p>
        </p:txBody>
      </p:sp>
      <p:graphicFrame>
        <p:nvGraphicFramePr>
          <p:cNvPr id="2" name="Chart 1">
            <a:extLst>
              <a:ext uri="{FF2B5EF4-FFF2-40B4-BE49-F238E27FC236}">
                <a16:creationId xmlns:a16="http://schemas.microsoft.com/office/drawing/2014/main" id="{8AAF12B0-02E0-CA4C-8FDC-719C3DA3DC5D}"/>
              </a:ext>
            </a:extLst>
          </p:cNvPr>
          <p:cNvGraphicFramePr/>
          <p:nvPr/>
        </p:nvGraphicFramePr>
        <p:xfrm>
          <a:off x="263352" y="1196975"/>
          <a:ext cx="4104456" cy="2664073"/>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CB847560-E178-7736-2692-6BF2D22080E7}"/>
              </a:ext>
            </a:extLst>
          </p:cNvPr>
          <p:cNvSpPr txBox="1"/>
          <p:nvPr/>
        </p:nvSpPr>
        <p:spPr>
          <a:xfrm>
            <a:off x="263351" y="1252852"/>
            <a:ext cx="864096" cy="313932"/>
          </a:xfrm>
          <a:prstGeom prst="rect">
            <a:avLst/>
          </a:prstGeom>
          <a:noFill/>
        </p:spPr>
        <p:txBody>
          <a:bodyPr wrap="square" rtlCol="0">
            <a:spAutoFit/>
          </a:bodyPr>
          <a:lstStyle/>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344251"/>
                </a:solidFill>
                <a:effectLst/>
                <a:uLnTx/>
                <a:uFillTx/>
                <a:latin typeface="Arial"/>
                <a:ea typeface="メイリオ"/>
                <a:cs typeface="+mn-cs"/>
              </a:rPr>
              <a:t>ITUK Market Sector </a:t>
            </a:r>
          </a:p>
        </p:txBody>
      </p:sp>
      <p:cxnSp>
        <p:nvCxnSpPr>
          <p:cNvPr id="10" name="Straight Arrow Connector 9">
            <a:extLst>
              <a:ext uri="{FF2B5EF4-FFF2-40B4-BE49-F238E27FC236}">
                <a16:creationId xmlns:a16="http://schemas.microsoft.com/office/drawing/2014/main" id="{F075AE99-26DD-9E76-6570-96B496A1C39F}"/>
              </a:ext>
            </a:extLst>
          </p:cNvPr>
          <p:cNvCxnSpPr>
            <a:cxnSpLocks/>
          </p:cNvCxnSpPr>
          <p:nvPr/>
        </p:nvCxnSpPr>
        <p:spPr>
          <a:xfrm>
            <a:off x="767408" y="1426673"/>
            <a:ext cx="144016" cy="435476"/>
          </a:xfrm>
          <a:prstGeom prst="straightConnector1">
            <a:avLst/>
          </a:prstGeom>
          <a:ln w="19050">
            <a:solidFill>
              <a:srgbClr val="344251"/>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B0C9D7CC-A038-A9CD-2A7D-9017336F7934}"/>
              </a:ext>
            </a:extLst>
          </p:cNvPr>
          <p:cNvSpPr txBox="1"/>
          <p:nvPr/>
        </p:nvSpPr>
        <p:spPr>
          <a:xfrm>
            <a:off x="2896474" y="2785213"/>
            <a:ext cx="1017319" cy="203133"/>
          </a:xfrm>
          <a:prstGeom prst="rect">
            <a:avLst/>
          </a:prstGeom>
          <a:noFill/>
        </p:spPr>
        <p:txBody>
          <a:bodyPr wrap="square" rtlCol="0">
            <a:spAutoFit/>
          </a:bodyPr>
          <a:lstStyle/>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800" b="1" i="0" u="none" strike="noStrike" kern="1200" cap="none" spc="0" normalizeH="0" baseline="0" noProof="0" dirty="0">
                <a:ln>
                  <a:noFill/>
                </a:ln>
                <a:solidFill>
                  <a:srgbClr val="344251"/>
                </a:solidFill>
                <a:effectLst/>
                <a:uLnTx/>
                <a:uFillTx/>
                <a:latin typeface="Arial"/>
                <a:ea typeface="メイリオ"/>
                <a:cs typeface="+mn-cs"/>
              </a:rPr>
              <a:t>Total Market 25</a:t>
            </a:r>
          </a:p>
        </p:txBody>
      </p:sp>
      <p:sp>
        <p:nvSpPr>
          <p:cNvPr id="13" name="TextBox 12">
            <a:extLst>
              <a:ext uri="{FF2B5EF4-FFF2-40B4-BE49-F238E27FC236}">
                <a16:creationId xmlns:a16="http://schemas.microsoft.com/office/drawing/2014/main" id="{2FCF240D-F035-DCA1-0632-A6872F296044}"/>
              </a:ext>
            </a:extLst>
          </p:cNvPr>
          <p:cNvSpPr txBox="1"/>
          <p:nvPr/>
        </p:nvSpPr>
        <p:spPr>
          <a:xfrm>
            <a:off x="3785511" y="2785213"/>
            <a:ext cx="792088" cy="203133"/>
          </a:xfrm>
          <a:prstGeom prst="rect">
            <a:avLst/>
          </a:prstGeom>
          <a:noFill/>
        </p:spPr>
        <p:txBody>
          <a:bodyPr wrap="square" rtlCol="0">
            <a:spAutoFit/>
          </a:bodyPr>
          <a:lstStyle/>
          <a:p>
            <a:pPr marL="0" marR="0" lvl="0" indent="0" algn="l" defTabSz="914400" rtl="0" eaLnBrk="1" fontAlgn="auto" latinLnBrk="0" hangingPunct="1">
              <a:lnSpc>
                <a:spcPct val="90000"/>
              </a:lnSpc>
              <a:spcBef>
                <a:spcPts val="600"/>
              </a:spcBef>
              <a:spcAft>
                <a:spcPts val="0"/>
              </a:spcAft>
              <a:buClrTx/>
              <a:buSzTx/>
              <a:buFontTx/>
              <a:buNone/>
              <a:tabLst/>
              <a:defRPr/>
            </a:pPr>
            <a:r>
              <a:rPr lang="en-US" sz="800" b="1" dirty="0">
                <a:solidFill>
                  <a:srgbClr val="344251"/>
                </a:solidFill>
                <a:latin typeface="Arial"/>
                <a:ea typeface="メイリオ"/>
              </a:rPr>
              <a:t>358,776</a:t>
            </a:r>
            <a:endParaRPr kumimoji="0" lang="en-US" sz="800" b="1" i="0" u="none" strike="noStrike" kern="1200" cap="none" spc="0" normalizeH="0" baseline="0" noProof="0" dirty="0">
              <a:ln>
                <a:noFill/>
              </a:ln>
              <a:solidFill>
                <a:srgbClr val="344251"/>
              </a:solidFill>
              <a:effectLst/>
              <a:uLnTx/>
              <a:uFillTx/>
              <a:latin typeface="Arial"/>
              <a:ea typeface="メイリオ"/>
              <a:cs typeface="+mn-cs"/>
            </a:endParaRPr>
          </a:p>
        </p:txBody>
      </p:sp>
      <p:sp>
        <p:nvSpPr>
          <p:cNvPr id="14" name="TextBox 13">
            <a:extLst>
              <a:ext uri="{FF2B5EF4-FFF2-40B4-BE49-F238E27FC236}">
                <a16:creationId xmlns:a16="http://schemas.microsoft.com/office/drawing/2014/main" id="{07DCBA75-894D-FFF3-85A1-4DAE07976B1D}"/>
              </a:ext>
            </a:extLst>
          </p:cNvPr>
          <p:cNvSpPr txBox="1"/>
          <p:nvPr/>
        </p:nvSpPr>
        <p:spPr>
          <a:xfrm>
            <a:off x="2911749" y="2226643"/>
            <a:ext cx="945549" cy="203133"/>
          </a:xfrm>
          <a:prstGeom prst="rect">
            <a:avLst/>
          </a:prstGeom>
          <a:noFill/>
        </p:spPr>
        <p:txBody>
          <a:bodyPr wrap="square" rtlCol="0">
            <a:spAutoFit/>
          </a:bodyPr>
          <a:lstStyle/>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800" b="1" i="0" u="none" strike="noStrike" kern="1200" cap="none" spc="0" normalizeH="0" baseline="0" noProof="0" dirty="0">
                <a:ln>
                  <a:noFill/>
                </a:ln>
                <a:solidFill>
                  <a:srgbClr val="344251"/>
                </a:solidFill>
                <a:effectLst/>
                <a:uLnTx/>
                <a:uFillTx/>
                <a:latin typeface="Arial"/>
                <a:ea typeface="メイリオ"/>
                <a:cs typeface="+mn-cs"/>
              </a:rPr>
              <a:t>Total Market 24</a:t>
            </a:r>
          </a:p>
        </p:txBody>
      </p:sp>
      <p:sp>
        <p:nvSpPr>
          <p:cNvPr id="15" name="TextBox 14">
            <a:extLst>
              <a:ext uri="{FF2B5EF4-FFF2-40B4-BE49-F238E27FC236}">
                <a16:creationId xmlns:a16="http://schemas.microsoft.com/office/drawing/2014/main" id="{F9B6F098-5A6C-C406-AC27-EED987D8A43A}"/>
              </a:ext>
            </a:extLst>
          </p:cNvPr>
          <p:cNvSpPr txBox="1"/>
          <p:nvPr/>
        </p:nvSpPr>
        <p:spPr>
          <a:xfrm>
            <a:off x="3785511" y="2231328"/>
            <a:ext cx="792088" cy="203133"/>
          </a:xfrm>
          <a:prstGeom prst="rect">
            <a:avLst/>
          </a:prstGeom>
          <a:noFill/>
        </p:spPr>
        <p:txBody>
          <a:bodyPr wrap="square" rtlCol="0">
            <a:spAutoFit/>
          </a:bodyPr>
          <a:lstStyle/>
          <a:p>
            <a:pPr marL="0" marR="0" lvl="0" indent="0" algn="l" defTabSz="914400" rtl="0" eaLnBrk="1" fontAlgn="auto" latinLnBrk="0" hangingPunct="1">
              <a:lnSpc>
                <a:spcPct val="90000"/>
              </a:lnSpc>
              <a:spcBef>
                <a:spcPts val="600"/>
              </a:spcBef>
              <a:spcAft>
                <a:spcPts val="0"/>
              </a:spcAft>
              <a:buClrTx/>
              <a:buSzTx/>
              <a:buFontTx/>
              <a:buNone/>
              <a:tabLst/>
              <a:defRPr/>
            </a:pPr>
            <a:r>
              <a:rPr lang="en-US" sz="800" b="1" dirty="0">
                <a:solidFill>
                  <a:srgbClr val="344251"/>
                </a:solidFill>
                <a:latin typeface="Arial"/>
                <a:ea typeface="メイリオ"/>
              </a:rPr>
              <a:t>398,284</a:t>
            </a:r>
            <a:endParaRPr kumimoji="0" lang="en-US" sz="800" b="1" i="0" u="none" strike="noStrike" kern="1200" cap="none" spc="0" normalizeH="0" baseline="0" noProof="0" dirty="0">
              <a:ln>
                <a:noFill/>
              </a:ln>
              <a:solidFill>
                <a:srgbClr val="344251"/>
              </a:solidFill>
              <a:effectLst/>
              <a:uLnTx/>
              <a:uFillTx/>
              <a:latin typeface="Arial"/>
              <a:ea typeface="メイリオ"/>
              <a:cs typeface="+mn-cs"/>
            </a:endParaRPr>
          </a:p>
        </p:txBody>
      </p:sp>
      <p:cxnSp>
        <p:nvCxnSpPr>
          <p:cNvPr id="16" name="Straight Arrow Connector 15">
            <a:extLst>
              <a:ext uri="{FF2B5EF4-FFF2-40B4-BE49-F238E27FC236}">
                <a16:creationId xmlns:a16="http://schemas.microsoft.com/office/drawing/2014/main" id="{64419B2B-4312-327E-B447-C85E044FA3AF}"/>
              </a:ext>
            </a:extLst>
          </p:cNvPr>
          <p:cNvCxnSpPr>
            <a:cxnSpLocks/>
          </p:cNvCxnSpPr>
          <p:nvPr/>
        </p:nvCxnSpPr>
        <p:spPr>
          <a:xfrm>
            <a:off x="3872971" y="2492896"/>
            <a:ext cx="0" cy="313932"/>
          </a:xfrm>
          <a:prstGeom prst="straightConnector1">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6F6427FA-35F0-94FD-1024-DD0EC8A33204}"/>
              </a:ext>
            </a:extLst>
          </p:cNvPr>
          <p:cNvSpPr txBox="1"/>
          <p:nvPr/>
        </p:nvSpPr>
        <p:spPr>
          <a:xfrm>
            <a:off x="2927422" y="1677443"/>
            <a:ext cx="1224362" cy="203133"/>
          </a:xfrm>
          <a:prstGeom prst="rect">
            <a:avLst/>
          </a:prstGeom>
          <a:noFill/>
        </p:spPr>
        <p:txBody>
          <a:bodyPr wrap="square" rtlCol="0">
            <a:spAutoFit/>
          </a:bodyPr>
          <a:lstStyle/>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Arial"/>
                <a:ea typeface="メイリオ"/>
                <a:cs typeface="+mn-cs"/>
              </a:rPr>
              <a:t>ITUK Sector </a:t>
            </a:r>
            <a:r>
              <a:rPr kumimoji="0" lang="en-GB" sz="800" b="1" i="0" u="none" strike="noStrike" kern="1200" cap="none" spc="0" normalizeH="0" baseline="0" noProof="0" dirty="0">
                <a:ln>
                  <a:noFill/>
                </a:ln>
                <a:solidFill>
                  <a:srgbClr val="C00000"/>
                </a:solidFill>
                <a:effectLst/>
                <a:uLnTx/>
                <a:uFillTx/>
                <a:latin typeface="Arial"/>
                <a:ea typeface="Meiryo" panose="020B0604030504040204" pitchFamily="34" charset="-128"/>
                <a:cs typeface="Arial" panose="020B0604020202020204" pitchFamily="34" charset="0"/>
              </a:rPr>
              <a:t>Δ9.26%</a:t>
            </a:r>
            <a:endParaRPr kumimoji="0" lang="en-US" sz="800" b="1" i="0" u="none" strike="noStrike" kern="1200" cap="none" spc="0" normalizeH="0" baseline="0" noProof="0" dirty="0">
              <a:ln>
                <a:noFill/>
              </a:ln>
              <a:solidFill>
                <a:srgbClr val="C00000"/>
              </a:solidFill>
              <a:effectLst/>
              <a:uLnTx/>
              <a:uFillTx/>
              <a:latin typeface="Arial"/>
              <a:ea typeface="メイリオ"/>
              <a:cs typeface="+mn-cs"/>
            </a:endParaRPr>
          </a:p>
        </p:txBody>
      </p:sp>
      <p:cxnSp>
        <p:nvCxnSpPr>
          <p:cNvPr id="18" name="Straight Arrow Connector 17">
            <a:extLst>
              <a:ext uri="{FF2B5EF4-FFF2-40B4-BE49-F238E27FC236}">
                <a16:creationId xmlns:a16="http://schemas.microsoft.com/office/drawing/2014/main" id="{8E368C44-907D-8649-B3E4-13DCBCFB544C}"/>
              </a:ext>
            </a:extLst>
          </p:cNvPr>
          <p:cNvCxnSpPr>
            <a:cxnSpLocks/>
            <a:stCxn id="17" idx="1"/>
          </p:cNvCxnSpPr>
          <p:nvPr/>
        </p:nvCxnSpPr>
        <p:spPr>
          <a:xfrm flipH="1">
            <a:off x="1487488" y="1779010"/>
            <a:ext cx="1439934" cy="409245"/>
          </a:xfrm>
          <a:prstGeom prst="straightConnector1">
            <a:avLst/>
          </a:prstGeom>
          <a:ln w="25400">
            <a:solidFill>
              <a:srgbClr val="304352"/>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7F67B884-6352-7309-42E2-B2FA5F0FD819}"/>
              </a:ext>
            </a:extLst>
          </p:cNvPr>
          <p:cNvSpPr txBox="1"/>
          <p:nvPr/>
        </p:nvSpPr>
        <p:spPr>
          <a:xfrm>
            <a:off x="3863752" y="2492896"/>
            <a:ext cx="792088" cy="203133"/>
          </a:xfrm>
          <a:prstGeom prst="rect">
            <a:avLst/>
          </a:prstGeom>
          <a:noFill/>
        </p:spPr>
        <p:txBody>
          <a:bodyPr wrap="square" rtlCol="0">
            <a:spAutoFit/>
          </a:bodyPr>
          <a:lstStyle/>
          <a:p>
            <a:pPr marL="0" marR="0" lvl="0" indent="0" algn="l" defTabSz="914400" rtl="0" eaLnBrk="1" fontAlgn="auto" latinLnBrk="0" hangingPunct="1">
              <a:lnSpc>
                <a:spcPct val="90000"/>
              </a:lnSpc>
              <a:spcBef>
                <a:spcPts val="600"/>
              </a:spcBef>
              <a:spcAft>
                <a:spcPts val="0"/>
              </a:spcAft>
              <a:buClrTx/>
              <a:buSzTx/>
              <a:buFontTx/>
              <a:buNone/>
              <a:tabLst/>
              <a:defRPr/>
            </a:pPr>
            <a:r>
              <a:rPr lang="en-US" sz="800" b="1" dirty="0">
                <a:solidFill>
                  <a:srgbClr val="C00000"/>
                </a:solidFill>
                <a:latin typeface="Arial"/>
                <a:ea typeface="メイリオ"/>
              </a:rPr>
              <a:t>9</a:t>
            </a:r>
            <a:r>
              <a:rPr kumimoji="0" lang="en-US" sz="800" b="1" i="0" u="none" strike="noStrike" kern="1200" cap="none" spc="0" normalizeH="0" baseline="0" noProof="0" dirty="0">
                <a:ln>
                  <a:noFill/>
                </a:ln>
                <a:solidFill>
                  <a:srgbClr val="C00000"/>
                </a:solidFill>
                <a:effectLst/>
                <a:uLnTx/>
                <a:uFillTx/>
                <a:latin typeface="Arial"/>
                <a:ea typeface="メイリオ"/>
                <a:cs typeface="+mn-cs"/>
              </a:rPr>
              <a:t>.92%</a:t>
            </a:r>
          </a:p>
        </p:txBody>
      </p:sp>
      <p:sp>
        <p:nvSpPr>
          <p:cNvPr id="19" name="Text Placeholder 1">
            <a:extLst>
              <a:ext uri="{FF2B5EF4-FFF2-40B4-BE49-F238E27FC236}">
                <a16:creationId xmlns:a16="http://schemas.microsoft.com/office/drawing/2014/main" id="{0A072981-1DE8-9144-DF92-9DD7662EBDD8}"/>
              </a:ext>
            </a:extLst>
          </p:cNvPr>
          <p:cNvSpPr>
            <a:spLocks noGrp="1"/>
          </p:cNvSpPr>
          <p:nvPr>
            <p:ph type="body" sz="quarter" idx="13"/>
          </p:nvPr>
        </p:nvSpPr>
        <p:spPr>
          <a:xfrm>
            <a:off x="4511825" y="1196975"/>
            <a:ext cx="7513408" cy="5560997"/>
          </a:xfrm>
          <a:ln>
            <a:solidFill>
              <a:srgbClr val="405C8B"/>
            </a:solidFill>
          </a:ln>
        </p:spPr>
        <p:txBody>
          <a:bodyPr/>
          <a:lstStyle/>
          <a:p>
            <a:pPr marL="225425" indent="-139700"/>
            <a:r>
              <a:rPr lang="en-US" sz="1300" dirty="0">
                <a:solidFill>
                  <a:srgbClr val="344251"/>
                </a:solidFill>
                <a:ea typeface="Roboto" panose="02000000000000000000" pitchFamily="2" charset="0"/>
                <a:cs typeface="Roboto" panose="02000000000000000000" pitchFamily="2" charset="0"/>
              </a:rPr>
              <a:t>UK CV Market continues to be extremely competitive with 9% reduction of GVW Sectors within which Isuzu offer product during CY2025</a:t>
            </a:r>
          </a:p>
          <a:p>
            <a:pPr marL="225425" indent="-139700"/>
            <a:r>
              <a:rPr lang="en-US" sz="1300" dirty="0">
                <a:solidFill>
                  <a:srgbClr val="344251"/>
                </a:solidFill>
                <a:ea typeface="Roboto" panose="02000000000000000000" pitchFamily="2" charset="0"/>
                <a:cs typeface="Roboto" panose="02000000000000000000" pitchFamily="2" charset="0"/>
              </a:rPr>
              <a:t>Competitor European OEM’s continue to heavily discount slow-moving stock as a result</a:t>
            </a:r>
          </a:p>
          <a:p>
            <a:pPr marL="225425" indent="-139700"/>
            <a:r>
              <a:rPr lang="en-US" sz="1300" dirty="0">
                <a:solidFill>
                  <a:srgbClr val="344251"/>
                </a:solidFill>
                <a:ea typeface="Roboto" panose="02000000000000000000" pitchFamily="2" charset="0"/>
                <a:cs typeface="Roboto" panose="02000000000000000000" pitchFamily="2" charset="0"/>
              </a:rPr>
              <a:t>ITUK Wholesale Price increased above 3% since 2023 to reduce P700 increase impact</a:t>
            </a:r>
          </a:p>
          <a:p>
            <a:pPr marL="225425" indent="-139700"/>
            <a:r>
              <a:rPr lang="en-US" sz="1300" dirty="0">
                <a:solidFill>
                  <a:srgbClr val="344251"/>
                </a:solidFill>
                <a:ea typeface="Roboto" panose="02000000000000000000" pitchFamily="2" charset="0"/>
                <a:cs typeface="Roboto" panose="02000000000000000000" pitchFamily="2" charset="0"/>
              </a:rPr>
              <a:t>Construction Industry Sector particularly severely underperformed during FY25, negatively impacting key Isuzu tipper &amp; </a:t>
            </a:r>
            <a:r>
              <a:rPr lang="en-US" sz="1300" dirty="0" err="1">
                <a:solidFill>
                  <a:srgbClr val="344251"/>
                </a:solidFill>
                <a:ea typeface="Roboto" panose="02000000000000000000" pitchFamily="2" charset="0"/>
                <a:cs typeface="Roboto" panose="02000000000000000000" pitchFamily="2" charset="0"/>
              </a:rPr>
              <a:t>dropside</a:t>
            </a:r>
            <a:r>
              <a:rPr lang="en-US" sz="1300" dirty="0">
                <a:solidFill>
                  <a:srgbClr val="344251"/>
                </a:solidFill>
                <a:ea typeface="Roboto" panose="02000000000000000000" pitchFamily="2" charset="0"/>
                <a:cs typeface="Roboto" panose="02000000000000000000" pitchFamily="2" charset="0"/>
              </a:rPr>
              <a:t> body sector sales – recovery f/c from 2026</a:t>
            </a:r>
          </a:p>
          <a:p>
            <a:pPr marL="225425" indent="-139700"/>
            <a:r>
              <a:rPr lang="en-US" sz="1300" dirty="0">
                <a:solidFill>
                  <a:srgbClr val="344251"/>
                </a:solidFill>
                <a:ea typeface="Roboto" panose="02000000000000000000" pitchFamily="2" charset="0"/>
                <a:cs typeface="Roboto" panose="02000000000000000000" pitchFamily="2" charset="0"/>
              </a:rPr>
              <a:t>New Customer “Cash-Back” incentive successful with follow up Dealer Wholesale incentive proving very popular also - Inspiration for Registration Bonus revision </a:t>
            </a:r>
          </a:p>
          <a:p>
            <a:pPr marL="225425" indent="-139700"/>
            <a:r>
              <a:rPr lang="en-US" sz="1300" dirty="0">
                <a:solidFill>
                  <a:srgbClr val="344251"/>
                </a:solidFill>
                <a:ea typeface="Roboto" panose="02000000000000000000" pitchFamily="2" charset="0"/>
                <a:cs typeface="Roboto" panose="02000000000000000000" pitchFamily="2" charset="0"/>
              </a:rPr>
              <a:t>Growing deep concern no derogation will be granted for R51-regulation – all 700P NLR stock must be sold and registered by end June 2026 </a:t>
            </a:r>
          </a:p>
          <a:p>
            <a:pPr marL="225425" indent="-139700"/>
            <a:r>
              <a:rPr lang="en-US" sz="1300" dirty="0">
                <a:solidFill>
                  <a:srgbClr val="344251"/>
                </a:solidFill>
                <a:ea typeface="Roboto" panose="02000000000000000000" pitchFamily="2" charset="0"/>
                <a:cs typeface="Roboto" panose="02000000000000000000" pitchFamily="2" charset="0"/>
              </a:rPr>
              <a:t>No NLR stock production at Fujisawa for 4-6 months due to lack of derogation confirmation </a:t>
            </a:r>
          </a:p>
          <a:p>
            <a:pPr marL="225425" indent="-139700"/>
            <a:r>
              <a:rPr lang="en-US" sz="1300" dirty="0">
                <a:solidFill>
                  <a:srgbClr val="344251"/>
                </a:solidFill>
                <a:ea typeface="Roboto" panose="02000000000000000000" pitchFamily="2" charset="0"/>
                <a:cs typeface="Roboto" panose="02000000000000000000" pitchFamily="2" charset="0"/>
              </a:rPr>
              <a:t>Additional possible legislation issue with initial P700 NLR model due to 2g/3g </a:t>
            </a:r>
            <a:r>
              <a:rPr lang="en-US" sz="1300" dirty="0" err="1">
                <a:solidFill>
                  <a:srgbClr val="344251"/>
                </a:solidFill>
                <a:ea typeface="Roboto" panose="02000000000000000000" pitchFamily="2" charset="0"/>
                <a:cs typeface="Roboto" panose="02000000000000000000" pitchFamily="2" charset="0"/>
              </a:rPr>
              <a:t>eCall</a:t>
            </a:r>
            <a:r>
              <a:rPr lang="en-US" sz="1300" dirty="0">
                <a:solidFill>
                  <a:srgbClr val="344251"/>
                </a:solidFill>
                <a:ea typeface="Roboto" panose="02000000000000000000" pitchFamily="2" charset="0"/>
                <a:cs typeface="Roboto" panose="02000000000000000000" pitchFamily="2" charset="0"/>
              </a:rPr>
              <a:t> regulation </a:t>
            </a:r>
          </a:p>
          <a:p>
            <a:pPr marL="225425" indent="-139700"/>
            <a:r>
              <a:rPr lang="en-US" sz="1300" dirty="0">
                <a:solidFill>
                  <a:srgbClr val="344251"/>
                </a:solidFill>
                <a:ea typeface="Roboto" panose="02000000000000000000" pitchFamily="2" charset="0"/>
                <a:cs typeface="Roboto" panose="02000000000000000000" pitchFamily="2" charset="0"/>
              </a:rPr>
              <a:t>Contracts signed with Alternative Stocking Plan funder in Q3 FY25 – future retail funding offers more competitive with promise of enhanced service levels</a:t>
            </a:r>
            <a:endParaRPr kumimoji="0" lang="en-GB" sz="1300" b="0" i="0" u="none" strike="noStrike" kern="1200" cap="none" spc="0" normalizeH="0" baseline="0" noProof="0" dirty="0">
              <a:ln>
                <a:noFill/>
              </a:ln>
              <a:solidFill>
                <a:srgbClr val="344251"/>
              </a:solidFill>
              <a:effectLst/>
              <a:uLnTx/>
              <a:uFillTx/>
              <a:ea typeface="Roboto" panose="02000000000000000000" pitchFamily="2" charset="0"/>
              <a:cs typeface="+mn-cs"/>
            </a:endParaRPr>
          </a:p>
          <a:p>
            <a:pPr marL="225425" indent="-139700"/>
            <a:r>
              <a:rPr lang="en-GB" sz="1300" dirty="0">
                <a:solidFill>
                  <a:srgbClr val="344251"/>
                </a:solidFill>
                <a:ea typeface="Roboto" panose="02000000000000000000" pitchFamily="2" charset="0"/>
                <a:cs typeface="Roboto" panose="02000000000000000000" pitchFamily="2" charset="0"/>
              </a:rPr>
              <a:t>Terms of Supply with number of Key Fleet Customers improved and </a:t>
            </a:r>
            <a:r>
              <a:rPr lang="en-US" sz="1300" dirty="0">
                <a:solidFill>
                  <a:srgbClr val="344251"/>
                </a:solidFill>
                <a:ea typeface="Roboto" panose="02000000000000000000" pitchFamily="2" charset="0"/>
                <a:cs typeface="Roboto" panose="02000000000000000000" pitchFamily="2" charset="0"/>
              </a:rPr>
              <a:t>total Direct Accounts reduced</a:t>
            </a:r>
            <a:endParaRPr lang="en-GB" sz="1300" dirty="0">
              <a:solidFill>
                <a:srgbClr val="344251"/>
              </a:solidFill>
              <a:ea typeface="Roboto" panose="02000000000000000000" pitchFamily="2" charset="0"/>
              <a:cs typeface="Roboto" panose="02000000000000000000" pitchFamily="2" charset="0"/>
            </a:endParaRPr>
          </a:p>
          <a:p>
            <a:pPr marL="225425" indent="-139700"/>
            <a:r>
              <a:rPr lang="en-GB" sz="1300" dirty="0">
                <a:solidFill>
                  <a:srgbClr val="344251"/>
                </a:solidFill>
                <a:highlight>
                  <a:srgbClr val="FFFFFF"/>
                </a:highlight>
                <a:ea typeface="Roboto" panose="02000000000000000000" pitchFamily="2" charset="0"/>
                <a:cs typeface="Roboto" panose="02000000000000000000" pitchFamily="2" charset="0"/>
              </a:rPr>
              <a:t>European OEM 3.5t EV range and specification continues to improve and 7.5t EV’s launched by Chinese OEM’s</a:t>
            </a:r>
          </a:p>
          <a:p>
            <a:pPr marL="225425" indent="-139700"/>
            <a:r>
              <a:rPr lang="en-GB" sz="1300" dirty="0">
                <a:solidFill>
                  <a:srgbClr val="344251"/>
                </a:solidFill>
                <a:highlight>
                  <a:srgbClr val="FFFFFF"/>
                </a:highlight>
                <a:ea typeface="Roboto" panose="02000000000000000000" pitchFamily="2" charset="0"/>
                <a:cs typeface="Roboto" panose="02000000000000000000" pitchFamily="2" charset="0"/>
              </a:rPr>
              <a:t>UK Government consultation on HGV Co2 Emissions &amp; GSR2 compliance launched Jan 26 </a:t>
            </a:r>
          </a:p>
          <a:p>
            <a:pPr marL="227013" indent="-141288"/>
            <a:r>
              <a:rPr lang="en-GB" sz="1300" dirty="0">
                <a:solidFill>
                  <a:srgbClr val="344251"/>
                </a:solidFill>
                <a:highlight>
                  <a:srgbClr val="FFFFFF"/>
                </a:highlight>
                <a:ea typeface="Roboto" panose="02000000000000000000" pitchFamily="2" charset="0"/>
                <a:cs typeface="Roboto" panose="02000000000000000000" pitchFamily="2" charset="0"/>
              </a:rPr>
              <a:t>Concern regarding proposed DTU functionality for UK Market – No IPC Odometer reading or Tachograph integration</a:t>
            </a:r>
          </a:p>
          <a:p>
            <a:pPr marL="227013" indent="-141288"/>
            <a:endParaRPr lang="en-GB" sz="1300" dirty="0">
              <a:solidFill>
                <a:srgbClr val="344251"/>
              </a:solidFill>
              <a:highlight>
                <a:srgbClr val="FFFFFF"/>
              </a:highlight>
              <a:ea typeface="Roboto" panose="02000000000000000000" pitchFamily="2" charset="0"/>
              <a:cs typeface="Roboto" panose="02000000000000000000" pitchFamily="2" charset="0"/>
            </a:endParaRPr>
          </a:p>
          <a:p>
            <a:pPr marL="85725" indent="0">
              <a:buNone/>
            </a:pPr>
            <a:endParaRPr lang="en-GB" sz="1300" dirty="0">
              <a:solidFill>
                <a:srgbClr val="00B050"/>
              </a:solidFill>
              <a:highlight>
                <a:srgbClr val="FFFFFF"/>
              </a:highlight>
              <a:ea typeface="Roboto" panose="02000000000000000000" pitchFamily="2" charset="0"/>
              <a:cs typeface="Roboto" panose="02000000000000000000" pitchFamily="2" charset="0"/>
            </a:endParaRPr>
          </a:p>
          <a:p>
            <a:pPr marL="85725" indent="0">
              <a:buNone/>
            </a:pPr>
            <a:endParaRPr lang="en-GB" sz="1300" dirty="0">
              <a:solidFill>
                <a:srgbClr val="00B050"/>
              </a:solidFill>
              <a:highlight>
                <a:srgbClr val="FFFFFF"/>
              </a:highlight>
              <a:ea typeface="Roboto" panose="02000000000000000000" pitchFamily="2" charset="0"/>
              <a:cs typeface="Roboto" panose="02000000000000000000" pitchFamily="2" charset="0"/>
            </a:endParaRPr>
          </a:p>
          <a:p>
            <a:pPr marL="85725" indent="0">
              <a:buNone/>
            </a:pPr>
            <a:endParaRPr lang="en-GB" sz="1400" dirty="0">
              <a:solidFill>
                <a:srgbClr val="00B050"/>
              </a:solidFill>
              <a:highlight>
                <a:srgbClr val="FFFFFF"/>
              </a:highlight>
              <a:ea typeface="Roboto" panose="02000000000000000000" pitchFamily="2" charset="0"/>
            </a:endParaRPr>
          </a:p>
          <a:p>
            <a:pPr marL="85725" indent="0">
              <a:buNone/>
            </a:pPr>
            <a:endParaRPr lang="en-GB" sz="1400" dirty="0">
              <a:solidFill>
                <a:srgbClr val="344251"/>
              </a:solidFill>
              <a:highlight>
                <a:srgbClr val="FFFFFF"/>
              </a:highlight>
              <a:ea typeface="Roboto" panose="02000000000000000000" pitchFamily="2" charset="0"/>
            </a:endParaRPr>
          </a:p>
          <a:p>
            <a:pPr marL="225425" indent="-139700"/>
            <a:endParaRPr lang="en-GB" sz="800" dirty="0">
              <a:solidFill>
                <a:srgbClr val="344251"/>
              </a:solidFill>
              <a:highlight>
                <a:srgbClr val="FFFFFF"/>
              </a:highlight>
              <a:ea typeface="Roboto" panose="02000000000000000000" pitchFamily="2" charset="0"/>
            </a:endParaRPr>
          </a:p>
          <a:p>
            <a:pPr marL="0" indent="0">
              <a:buNone/>
            </a:pPr>
            <a:r>
              <a:rPr lang="en-GB" sz="1000" dirty="0">
                <a:solidFill>
                  <a:srgbClr val="344251"/>
                </a:solidFill>
                <a:highlight>
                  <a:srgbClr val="FFFFFF"/>
                </a:highlight>
                <a:ea typeface="Roboto" panose="02000000000000000000" pitchFamily="2" charset="0"/>
              </a:rPr>
              <a:t>				</a:t>
            </a:r>
          </a:p>
        </p:txBody>
      </p:sp>
      <p:pic>
        <p:nvPicPr>
          <p:cNvPr id="6" name="Picture 5" descr="A grey scale with red circles and numbers&#10;&#10;AI-generated content may be incorrect.">
            <a:extLst>
              <a:ext uri="{FF2B5EF4-FFF2-40B4-BE49-F238E27FC236}">
                <a16:creationId xmlns:a16="http://schemas.microsoft.com/office/drawing/2014/main" id="{AB29F35F-3609-4F7B-41FA-249D560D61D2}"/>
              </a:ext>
            </a:extLst>
          </p:cNvPr>
          <p:cNvPicPr>
            <a:picLocks noChangeAspect="1"/>
          </p:cNvPicPr>
          <p:nvPr/>
        </p:nvPicPr>
        <p:blipFill>
          <a:blip r:embed="rId4"/>
          <a:stretch>
            <a:fillRect/>
          </a:stretch>
        </p:blipFill>
        <p:spPr>
          <a:xfrm>
            <a:off x="465476" y="4256244"/>
            <a:ext cx="1525084" cy="500555"/>
          </a:xfrm>
          <a:prstGeom prst="rect">
            <a:avLst/>
          </a:prstGeom>
        </p:spPr>
      </p:pic>
      <p:pic>
        <p:nvPicPr>
          <p:cNvPr id="20" name="Picture 19">
            <a:extLst>
              <a:ext uri="{FF2B5EF4-FFF2-40B4-BE49-F238E27FC236}">
                <a16:creationId xmlns:a16="http://schemas.microsoft.com/office/drawing/2014/main" id="{AB9AFE7D-AEA1-B4B0-066A-164F47A901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8044" y="4756800"/>
            <a:ext cx="1592881" cy="398220"/>
          </a:xfrm>
          <a:prstGeom prst="rect">
            <a:avLst/>
          </a:prstGeom>
        </p:spPr>
      </p:pic>
      <p:grpSp>
        <p:nvGrpSpPr>
          <p:cNvPr id="21" name="グループ化 34">
            <a:extLst>
              <a:ext uri="{FF2B5EF4-FFF2-40B4-BE49-F238E27FC236}">
                <a16:creationId xmlns:a16="http://schemas.microsoft.com/office/drawing/2014/main" id="{D1FCC408-0FDB-0C20-23F8-A98337C441CB}"/>
              </a:ext>
            </a:extLst>
          </p:cNvPr>
          <p:cNvGrpSpPr/>
          <p:nvPr/>
        </p:nvGrpSpPr>
        <p:grpSpPr>
          <a:xfrm>
            <a:off x="2646073" y="4257041"/>
            <a:ext cx="1493094" cy="914210"/>
            <a:chOff x="8036800" y="5565219"/>
            <a:chExt cx="1493094" cy="914210"/>
          </a:xfrm>
        </p:grpSpPr>
        <p:pic>
          <p:nvPicPr>
            <p:cNvPr id="22" name="グラフィックス 35" descr="トラック">
              <a:extLst>
                <a:ext uri="{FF2B5EF4-FFF2-40B4-BE49-F238E27FC236}">
                  <a16:creationId xmlns:a16="http://schemas.microsoft.com/office/drawing/2014/main" id="{663DE020-F0C6-9A8C-6E36-BF99280EF6E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18762" y="5704445"/>
              <a:ext cx="688661" cy="710989"/>
            </a:xfrm>
            <a:prstGeom prst="rect">
              <a:avLst/>
            </a:prstGeom>
          </p:spPr>
        </p:pic>
        <p:pic>
          <p:nvPicPr>
            <p:cNvPr id="23" name="図 36">
              <a:extLst>
                <a:ext uri="{FF2B5EF4-FFF2-40B4-BE49-F238E27FC236}">
                  <a16:creationId xmlns:a16="http://schemas.microsoft.com/office/drawing/2014/main" id="{72FE097B-0C3A-6517-0935-99C583480212}"/>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4425" b="91372" l="3211" r="96024">
                          <a14:foregroundMark x1="92661" y1="55752" x2="92661" y2="55752"/>
                          <a14:foregroundMark x1="38991" y1="4646" x2="38991" y2="4646"/>
                          <a14:foregroundMark x1="22477" y1="60398" x2="22477" y2="60398"/>
                          <a14:foregroundMark x1="7187" y1="38274" x2="7187" y2="38274"/>
                          <a14:foregroundMark x1="96330" y1="59735" x2="96330" y2="59735"/>
                          <a14:foregroundMark x1="27829" y1="61504" x2="27829" y2="61504"/>
                          <a14:foregroundMark x1="23242" y1="60398" x2="23242" y2="60398"/>
                          <a14:foregroundMark x1="20642" y1="59735" x2="20642" y2="59735"/>
                          <a14:foregroundMark x1="25076" y1="61062" x2="25076" y2="61062"/>
                          <a14:foregroundMark x1="29052" y1="64823" x2="29052" y2="64823"/>
                          <a14:foregroundMark x1="27829" y1="66814" x2="27829" y2="66814"/>
                          <a14:foregroundMark x1="59174" y1="91372" x2="59174" y2="91372"/>
                          <a14:foregroundMark x1="25535" y1="59735" x2="25535" y2="59735"/>
                          <a14:foregroundMark x1="51988" y1="58407" x2="51988" y2="58407"/>
                          <a14:foregroundMark x1="3211" y1="40929" x2="3211" y2="40929"/>
                        </a14:backgroundRemoval>
                      </a14:imgEffect>
                      <a14:imgEffect>
                        <a14:saturation sat="0"/>
                      </a14:imgEffect>
                    </a14:imgLayer>
                  </a14:imgProps>
                </a:ext>
                <a:ext uri="{28A0092B-C50C-407E-A947-70E740481C1C}">
                  <a14:useLocalDpi xmlns:a14="http://schemas.microsoft.com/office/drawing/2010/main" val="0"/>
                </a:ext>
              </a:extLst>
            </a:blip>
            <a:stretch>
              <a:fillRect/>
            </a:stretch>
          </p:blipFill>
          <p:spPr>
            <a:xfrm>
              <a:off x="8458897" y="5763422"/>
              <a:ext cx="374662" cy="258940"/>
            </a:xfrm>
            <a:prstGeom prst="rect">
              <a:avLst/>
            </a:prstGeom>
            <a:ln w="31750">
              <a:noFill/>
            </a:ln>
          </p:spPr>
        </p:pic>
        <p:sp>
          <p:nvSpPr>
            <p:cNvPr id="24" name="正方形/長方形 37">
              <a:extLst>
                <a:ext uri="{FF2B5EF4-FFF2-40B4-BE49-F238E27FC236}">
                  <a16:creationId xmlns:a16="http://schemas.microsoft.com/office/drawing/2014/main" id="{511F4A03-E302-9FC1-1BA6-A995E6256452}"/>
                </a:ext>
              </a:extLst>
            </p:cNvPr>
            <p:cNvSpPr/>
            <p:nvPr/>
          </p:nvSpPr>
          <p:spPr>
            <a:xfrm>
              <a:off x="8891424" y="6205220"/>
              <a:ext cx="638470" cy="274209"/>
            </a:xfrm>
            <a:prstGeom prst="rect">
              <a:avLst/>
            </a:prstGeom>
            <a:noFill/>
            <a:ln w="12700" cap="flat" cmpd="sng" algn="ctr">
              <a:noFill/>
              <a:prstDash val="solid"/>
              <a:miter lim="800000"/>
            </a:ln>
            <a:effectLst/>
          </p:spPr>
          <p:txBody>
            <a:bodyPr rtlCol="0" anchor="ct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Die</a:t>
              </a:r>
            </a:p>
          </p:txBody>
        </p:sp>
        <p:sp>
          <p:nvSpPr>
            <p:cNvPr id="25" name="正方形/長方形 38">
              <a:extLst>
                <a:ext uri="{FF2B5EF4-FFF2-40B4-BE49-F238E27FC236}">
                  <a16:creationId xmlns:a16="http://schemas.microsoft.com/office/drawing/2014/main" id="{A398A482-AC70-E3AE-1766-80565A0EBCE7}"/>
                </a:ext>
              </a:extLst>
            </p:cNvPr>
            <p:cNvSpPr/>
            <p:nvPr/>
          </p:nvSpPr>
          <p:spPr>
            <a:xfrm>
              <a:off x="8036800" y="5565219"/>
              <a:ext cx="893951" cy="110106"/>
            </a:xfrm>
            <a:prstGeom prst="rect">
              <a:avLst/>
            </a:prstGeom>
            <a:noFill/>
            <a:ln w="25400" cap="flat" cmpd="sng" algn="ctr">
              <a:noFill/>
              <a:prstDash val="solid"/>
            </a:ln>
            <a:effectLst/>
          </p:spPr>
          <p:txBody>
            <a:bodyPr rtlCol="0" anchor="ctr"/>
            <a:lstStyle/>
            <a:p>
              <a:pPr marL="0" marR="0" lvl="0" indent="0" algn="ctr" defTabSz="685783"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panose="020B0604020202020204" pitchFamily="34" charset="0"/>
                </a:rPr>
                <a:t>DTU</a:t>
              </a:r>
            </a:p>
          </p:txBody>
        </p:sp>
      </p:grpSp>
      <p:sp>
        <p:nvSpPr>
          <p:cNvPr id="26" name="Right Arrow 25">
            <a:extLst>
              <a:ext uri="{FF2B5EF4-FFF2-40B4-BE49-F238E27FC236}">
                <a16:creationId xmlns:a16="http://schemas.microsoft.com/office/drawing/2014/main" id="{8FFD9C13-C6A0-7F37-D5B6-69F0C3B55DD2}"/>
              </a:ext>
            </a:extLst>
          </p:cNvPr>
          <p:cNvSpPr/>
          <p:nvPr/>
        </p:nvSpPr>
        <p:spPr>
          <a:xfrm>
            <a:off x="2186373" y="4584714"/>
            <a:ext cx="795528" cy="312328"/>
          </a:xfrm>
          <a:prstGeom prst="rightArrow">
            <a:avLst/>
          </a:prstGeom>
          <a:solidFill>
            <a:schemeClr val="accent2"/>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sp>
        <p:nvSpPr>
          <p:cNvPr id="27" name="Multiply 26">
            <a:extLst>
              <a:ext uri="{FF2B5EF4-FFF2-40B4-BE49-F238E27FC236}">
                <a16:creationId xmlns:a16="http://schemas.microsoft.com/office/drawing/2014/main" id="{6BA449AC-E8A6-F124-08CB-342B46289B79}"/>
              </a:ext>
            </a:extLst>
          </p:cNvPr>
          <p:cNvSpPr/>
          <p:nvPr/>
        </p:nvSpPr>
        <p:spPr>
          <a:xfrm>
            <a:off x="2098155" y="4342132"/>
            <a:ext cx="839100" cy="765124"/>
          </a:xfrm>
          <a:prstGeom prst="mathMultiply">
            <a:avLst/>
          </a:prstGeom>
          <a:solidFill>
            <a:schemeClr val="bg2">
              <a:lumMod val="20000"/>
              <a:lumOff val="80000"/>
            </a:schemeClr>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spTree>
    <p:extLst>
      <p:ext uri="{BB962C8B-B14F-4D97-AF65-F5344CB8AC3E}">
        <p14:creationId xmlns:p14="http://schemas.microsoft.com/office/powerpoint/2010/main" val="846926157"/>
      </p:ext>
    </p:extLst>
  </p:cSld>
  <p:clrMapOvr>
    <a:masterClrMapping/>
  </p:clrMapOvr>
  <mc:AlternateContent xmlns:mc="http://schemas.openxmlformats.org/markup-compatibility/2006" xmlns:p14="http://schemas.microsoft.com/office/powerpoint/2010/main">
    <mc:Choice Requires="p14">
      <p:transition spd="slow" p14:dur="2000" advTm="113115"/>
    </mc:Choice>
    <mc:Fallback xmlns="">
      <p:transition spd="slow" advTm="11311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069684E-67CB-16C8-98CF-BCA3F7B30A6C}"/>
              </a:ext>
            </a:extLst>
          </p:cNvPr>
          <p:cNvSpPr>
            <a:spLocks noGrp="1"/>
          </p:cNvSpPr>
          <p:nvPr>
            <p:ph type="title"/>
          </p:nvPr>
        </p:nvSpPr>
        <p:spPr/>
        <p:txBody>
          <a:bodyPr/>
          <a:lstStyle/>
          <a:p>
            <a:r>
              <a:rPr lang="en-GB" noProof="0" dirty="0">
                <a:solidFill>
                  <a:srgbClr val="344251"/>
                </a:solidFill>
              </a:rPr>
              <a:t>Demand Trends, Competition &amp; Registrations </a:t>
            </a:r>
          </a:p>
        </p:txBody>
      </p:sp>
      <p:graphicFrame>
        <p:nvGraphicFramePr>
          <p:cNvPr id="4" name="Chart 3">
            <a:extLst>
              <a:ext uri="{FF2B5EF4-FFF2-40B4-BE49-F238E27FC236}">
                <a16:creationId xmlns:a16="http://schemas.microsoft.com/office/drawing/2014/main" id="{20BAAD19-A23E-183C-5AF9-324FBB9ABD64}"/>
              </a:ext>
            </a:extLst>
          </p:cNvPr>
          <p:cNvGraphicFramePr/>
          <p:nvPr/>
        </p:nvGraphicFramePr>
        <p:xfrm>
          <a:off x="166767" y="1196752"/>
          <a:ext cx="5857226" cy="1800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8D3BC8EB-CB8E-2F33-CFE4-698164F299C5}"/>
              </a:ext>
            </a:extLst>
          </p:cNvPr>
          <p:cNvGraphicFramePr/>
          <p:nvPr/>
        </p:nvGraphicFramePr>
        <p:xfrm>
          <a:off x="166767" y="2996952"/>
          <a:ext cx="5857226" cy="1800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CD436C4D-F646-253F-3306-D5AD57ADE8E8}"/>
              </a:ext>
            </a:extLst>
          </p:cNvPr>
          <p:cNvGraphicFramePr/>
          <p:nvPr/>
        </p:nvGraphicFramePr>
        <p:xfrm>
          <a:off x="166767" y="4797152"/>
          <a:ext cx="5857226" cy="1800200"/>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 Placeholder 1">
            <a:extLst>
              <a:ext uri="{FF2B5EF4-FFF2-40B4-BE49-F238E27FC236}">
                <a16:creationId xmlns:a16="http://schemas.microsoft.com/office/drawing/2014/main" id="{C96E1B83-4E21-1503-B696-F2BB3CF9B45E}"/>
              </a:ext>
            </a:extLst>
          </p:cNvPr>
          <p:cNvSpPr>
            <a:spLocks noGrp="1"/>
          </p:cNvSpPr>
          <p:nvPr>
            <p:ph type="body" sz="quarter" idx="13"/>
          </p:nvPr>
        </p:nvSpPr>
        <p:spPr>
          <a:xfrm>
            <a:off x="6168008" y="1196975"/>
            <a:ext cx="5857223" cy="1799977"/>
          </a:xfrm>
          <a:ln>
            <a:solidFill>
              <a:srgbClr val="405C8B"/>
            </a:solidFill>
          </a:ln>
        </p:spPr>
        <p:txBody>
          <a:bodyPr anchor="ctr"/>
          <a:lstStyle/>
          <a:p>
            <a:pPr marL="225425" indent="-136525">
              <a:lnSpc>
                <a:spcPct val="80000"/>
              </a:lnSpc>
            </a:pPr>
            <a:r>
              <a:rPr lang="en-GB" sz="1200" noProof="0" dirty="0">
                <a:solidFill>
                  <a:srgbClr val="344251"/>
                </a:solidFill>
              </a:rPr>
              <a:t>3.5t Chassis Cab </a:t>
            </a:r>
            <a:r>
              <a:rPr lang="en-GB" sz="1200" b="0" i="0" u="none" strike="noStrike" noProof="0" dirty="0">
                <a:solidFill>
                  <a:srgbClr val="344251"/>
                </a:solidFill>
                <a:effectLst/>
                <a:ea typeface="Meiryo" panose="020B0604030504040204" pitchFamily="34" charset="-128"/>
                <a:cs typeface="Arial" panose="020B0604020202020204" pitchFamily="34" charset="0"/>
              </a:rPr>
              <a:t>Δ</a:t>
            </a:r>
            <a:r>
              <a:rPr lang="en-GB" sz="1200" noProof="0" dirty="0">
                <a:solidFill>
                  <a:srgbClr val="344251"/>
                </a:solidFill>
                <a:ea typeface="Meiryo" panose="020B0604030504040204" pitchFamily="34" charset="-128"/>
                <a:cs typeface="Arial" panose="020B0604020202020204" pitchFamily="34" charset="0"/>
              </a:rPr>
              <a:t>1</a:t>
            </a:r>
            <a:r>
              <a:rPr lang="en-GB" sz="1200" b="0" i="0" u="none" strike="noStrike" dirty="0">
                <a:solidFill>
                  <a:srgbClr val="344251"/>
                </a:solidFill>
                <a:effectLst/>
                <a:ea typeface="Meiryo" panose="020B0604030504040204" pitchFamily="34" charset="-128"/>
                <a:cs typeface="Arial" panose="020B0604020202020204" pitchFamily="34" charset="0"/>
              </a:rPr>
              <a:t>5.28</a:t>
            </a:r>
            <a:r>
              <a:rPr lang="en-GB" sz="1200" noProof="0" dirty="0">
                <a:solidFill>
                  <a:srgbClr val="344251"/>
                </a:solidFill>
              </a:rPr>
              <a:t>%</a:t>
            </a:r>
            <a:r>
              <a:rPr lang="en-GB" sz="1200" dirty="0">
                <a:solidFill>
                  <a:srgbClr val="344251"/>
                </a:solidFill>
              </a:rPr>
              <a:t> - CY</a:t>
            </a:r>
            <a:r>
              <a:rPr lang="en-GB" sz="1200" noProof="0" dirty="0">
                <a:solidFill>
                  <a:srgbClr val="344251"/>
                </a:solidFill>
              </a:rPr>
              <a:t>25 Versus </a:t>
            </a:r>
            <a:r>
              <a:rPr lang="en-GB" sz="1200" dirty="0">
                <a:solidFill>
                  <a:srgbClr val="344251"/>
                </a:solidFill>
              </a:rPr>
              <a:t>CY</a:t>
            </a:r>
            <a:r>
              <a:rPr lang="en-GB" sz="1200" noProof="0" dirty="0">
                <a:solidFill>
                  <a:srgbClr val="344251"/>
                </a:solidFill>
              </a:rPr>
              <a:t>24 – CY24 </a:t>
            </a:r>
            <a:r>
              <a:rPr lang="en-GB" sz="1200" dirty="0">
                <a:solidFill>
                  <a:srgbClr val="344251"/>
                </a:solidFill>
                <a:ea typeface="Meiryo" panose="020B0604030504040204" pitchFamily="34" charset="-128"/>
                <a:cs typeface="Arial" panose="020B0604020202020204" pitchFamily="34" charset="0"/>
              </a:rPr>
              <a:t>Δ10.47</a:t>
            </a:r>
            <a:r>
              <a:rPr lang="en-GB" sz="1200" dirty="0">
                <a:solidFill>
                  <a:srgbClr val="344251"/>
                </a:solidFill>
              </a:rPr>
              <a:t>% Versus CY23</a:t>
            </a:r>
            <a:endParaRPr lang="en-GB" sz="1200" noProof="0" dirty="0">
              <a:solidFill>
                <a:srgbClr val="344251"/>
              </a:solidFill>
            </a:endParaRPr>
          </a:p>
          <a:p>
            <a:pPr marL="225425" indent="-136525">
              <a:lnSpc>
                <a:spcPct val="80000"/>
              </a:lnSpc>
            </a:pPr>
            <a:r>
              <a:rPr lang="en-GB" sz="1200" dirty="0">
                <a:solidFill>
                  <a:srgbClr val="344251"/>
                </a:solidFill>
              </a:rPr>
              <a:t>Market Leader, Ford +1.52% YoY Distorting the Overall CY25 Market Result </a:t>
            </a:r>
          </a:p>
          <a:p>
            <a:pPr marL="225425" indent="-136525">
              <a:lnSpc>
                <a:spcPct val="80000"/>
              </a:lnSpc>
            </a:pPr>
            <a:r>
              <a:rPr lang="en-GB" sz="1200" dirty="0">
                <a:solidFill>
                  <a:srgbClr val="344251"/>
                </a:solidFill>
              </a:rPr>
              <a:t>Mercedes #2 </a:t>
            </a:r>
            <a:r>
              <a:rPr lang="en-GB" sz="1200" dirty="0">
                <a:solidFill>
                  <a:srgbClr val="344251"/>
                </a:solidFill>
                <a:ea typeface="Meiryo" panose="020B0604030504040204" pitchFamily="34" charset="-128"/>
                <a:cs typeface="Arial" panose="020B0604020202020204" pitchFamily="34" charset="0"/>
              </a:rPr>
              <a:t>Δ25</a:t>
            </a:r>
            <a:r>
              <a:rPr lang="en-GB" sz="1200" dirty="0">
                <a:solidFill>
                  <a:srgbClr val="344251"/>
                </a:solidFill>
              </a:rPr>
              <a:t>.40% YoY Iveco #3 </a:t>
            </a:r>
            <a:r>
              <a:rPr lang="en-GB" sz="1200" dirty="0">
                <a:solidFill>
                  <a:srgbClr val="344251"/>
                </a:solidFill>
                <a:ea typeface="Meiryo" panose="020B0604030504040204" pitchFamily="34" charset="-128"/>
                <a:cs typeface="Arial" panose="020B0604020202020204" pitchFamily="34" charset="0"/>
              </a:rPr>
              <a:t>Δ35</a:t>
            </a:r>
            <a:r>
              <a:rPr lang="en-GB" sz="1200" dirty="0">
                <a:solidFill>
                  <a:srgbClr val="344251"/>
                </a:solidFill>
              </a:rPr>
              <a:t>.94% YoY</a:t>
            </a:r>
          </a:p>
          <a:p>
            <a:pPr marL="225425" indent="-136525">
              <a:lnSpc>
                <a:spcPct val="80000"/>
              </a:lnSpc>
            </a:pPr>
            <a:r>
              <a:rPr lang="en-GB" sz="1200" dirty="0">
                <a:solidFill>
                  <a:srgbClr val="344251"/>
                </a:solidFill>
              </a:rPr>
              <a:t>3.5t Market </a:t>
            </a:r>
            <a:r>
              <a:rPr lang="en-GB" sz="1200" dirty="0">
                <a:solidFill>
                  <a:srgbClr val="344251"/>
                </a:solidFill>
                <a:ea typeface="Meiryo" panose="020B0604030504040204" pitchFamily="34" charset="-128"/>
                <a:cs typeface="Arial" panose="020B0604020202020204" pitchFamily="34" charset="0"/>
              </a:rPr>
              <a:t>Δ21</a:t>
            </a:r>
            <a:r>
              <a:rPr lang="en-GB" sz="1200" dirty="0">
                <a:solidFill>
                  <a:srgbClr val="344251"/>
                </a:solidFill>
              </a:rPr>
              <a:t>.03% when Insulated, Luton &amp; Caravan Body Types Removed</a:t>
            </a:r>
            <a:endParaRPr lang="en-GB" sz="1200" noProof="0" dirty="0">
              <a:solidFill>
                <a:srgbClr val="344251"/>
              </a:solidFill>
            </a:endParaRPr>
          </a:p>
          <a:p>
            <a:pPr marL="225425" indent="-136525">
              <a:lnSpc>
                <a:spcPct val="80000"/>
              </a:lnSpc>
            </a:pPr>
            <a:r>
              <a:rPr lang="en-GB" sz="1200" dirty="0">
                <a:solidFill>
                  <a:srgbClr val="344251"/>
                </a:solidFill>
              </a:rPr>
              <a:t>Tippers </a:t>
            </a:r>
            <a:r>
              <a:rPr lang="en-GB" sz="1200" dirty="0">
                <a:solidFill>
                  <a:srgbClr val="344251"/>
                </a:solidFill>
                <a:ea typeface="Meiryo" panose="020B0604030504040204" pitchFamily="34" charset="-128"/>
                <a:cs typeface="Arial" panose="020B0604020202020204" pitchFamily="34" charset="0"/>
              </a:rPr>
              <a:t>Δ26.61</a:t>
            </a:r>
            <a:r>
              <a:rPr lang="en-GB" sz="1200" dirty="0">
                <a:solidFill>
                  <a:srgbClr val="344251"/>
                </a:solidFill>
              </a:rPr>
              <a:t>% Dropside </a:t>
            </a:r>
            <a:r>
              <a:rPr lang="en-GB" sz="1200" dirty="0">
                <a:solidFill>
                  <a:srgbClr val="344251"/>
                </a:solidFill>
                <a:ea typeface="Meiryo" panose="020B0604030504040204" pitchFamily="34" charset="-128"/>
                <a:cs typeface="Arial" panose="020B0604020202020204" pitchFamily="34" charset="0"/>
              </a:rPr>
              <a:t>Δ14.81</a:t>
            </a:r>
            <a:r>
              <a:rPr lang="en-GB" sz="1200" dirty="0">
                <a:solidFill>
                  <a:srgbClr val="344251"/>
                </a:solidFill>
              </a:rPr>
              <a:t>% Insulated </a:t>
            </a:r>
            <a:r>
              <a:rPr lang="en-GB" sz="1200" dirty="0">
                <a:solidFill>
                  <a:srgbClr val="344251"/>
                </a:solidFill>
                <a:ea typeface="Meiryo" panose="020B0604030504040204" pitchFamily="34" charset="-128"/>
                <a:cs typeface="Arial" panose="020B0604020202020204" pitchFamily="34" charset="0"/>
              </a:rPr>
              <a:t>Δ11.46</a:t>
            </a:r>
            <a:r>
              <a:rPr lang="en-GB" sz="1200" dirty="0">
                <a:solidFill>
                  <a:srgbClr val="344251"/>
                </a:solidFill>
              </a:rPr>
              <a:t>% Box </a:t>
            </a:r>
            <a:r>
              <a:rPr lang="en-GB" sz="1200" dirty="0">
                <a:solidFill>
                  <a:srgbClr val="344251"/>
                </a:solidFill>
                <a:ea typeface="Meiryo" panose="020B0604030504040204" pitchFamily="34" charset="-128"/>
                <a:cs typeface="Arial" panose="020B0604020202020204" pitchFamily="34" charset="0"/>
              </a:rPr>
              <a:t>Δ42.59</a:t>
            </a:r>
            <a:r>
              <a:rPr lang="en-GB" sz="1200" dirty="0">
                <a:solidFill>
                  <a:srgbClr val="344251"/>
                </a:solidFill>
              </a:rPr>
              <a:t>% </a:t>
            </a:r>
            <a:endParaRPr lang="en-GB" sz="1200" noProof="0" dirty="0">
              <a:solidFill>
                <a:srgbClr val="344251"/>
              </a:solidFill>
            </a:endParaRPr>
          </a:p>
          <a:p>
            <a:pPr marL="225425" indent="-136525">
              <a:lnSpc>
                <a:spcPct val="100000"/>
              </a:lnSpc>
            </a:pPr>
            <a:r>
              <a:rPr lang="en-GB" sz="1200" noProof="0" dirty="0">
                <a:solidFill>
                  <a:srgbClr val="344251"/>
                </a:solidFill>
              </a:rPr>
              <a:t>Market Leader Ford </a:t>
            </a:r>
            <a:r>
              <a:rPr lang="en-GB" sz="1200" dirty="0">
                <a:solidFill>
                  <a:srgbClr val="344251"/>
                </a:solidFill>
              </a:rPr>
              <a:t>42.63</a:t>
            </a:r>
            <a:r>
              <a:rPr lang="en-GB" sz="1200" noProof="0" dirty="0">
                <a:solidFill>
                  <a:srgbClr val="344251"/>
                </a:solidFill>
              </a:rPr>
              <a:t>% #2 Mercedes </a:t>
            </a:r>
            <a:r>
              <a:rPr lang="en-GB" sz="1200" dirty="0">
                <a:solidFill>
                  <a:srgbClr val="344251"/>
                </a:solidFill>
              </a:rPr>
              <a:t>18.49</a:t>
            </a:r>
            <a:r>
              <a:rPr lang="en-GB" sz="1200" noProof="0" dirty="0">
                <a:solidFill>
                  <a:srgbClr val="344251"/>
                </a:solidFill>
              </a:rPr>
              <a:t>% #3 Iveco 12.38%                    #4 Isuzu Truck 4</a:t>
            </a:r>
            <a:r>
              <a:rPr lang="en-GB" sz="1200" dirty="0">
                <a:solidFill>
                  <a:srgbClr val="344251"/>
                </a:solidFill>
              </a:rPr>
              <a:t>.34</a:t>
            </a:r>
            <a:r>
              <a:rPr lang="en-GB" sz="1200" noProof="0" dirty="0">
                <a:solidFill>
                  <a:srgbClr val="344251"/>
                </a:solidFill>
              </a:rPr>
              <a:t>%</a:t>
            </a:r>
          </a:p>
        </p:txBody>
      </p:sp>
      <p:sp>
        <p:nvSpPr>
          <p:cNvPr id="11" name="Text Placeholder 1">
            <a:extLst>
              <a:ext uri="{FF2B5EF4-FFF2-40B4-BE49-F238E27FC236}">
                <a16:creationId xmlns:a16="http://schemas.microsoft.com/office/drawing/2014/main" id="{3F5A0B98-9E4C-98B3-57F6-9A2CA31B492C}"/>
              </a:ext>
            </a:extLst>
          </p:cNvPr>
          <p:cNvSpPr txBox="1">
            <a:spLocks/>
          </p:cNvSpPr>
          <p:nvPr/>
        </p:nvSpPr>
        <p:spPr>
          <a:xfrm>
            <a:off x="6168006" y="2997175"/>
            <a:ext cx="5857225" cy="1799977"/>
          </a:xfrm>
          <a:prstGeom prst="rect">
            <a:avLst/>
          </a:prstGeom>
          <a:ln>
            <a:solidFill>
              <a:srgbClr val="405C8B"/>
            </a:solidFill>
          </a:ln>
        </p:spPr>
        <p:txBody>
          <a:bodyPr vert="horz" lIns="0" tIns="45720" rIns="91440" bIns="45720" rtlCol="0" anchor="ctr">
            <a:noAutofit/>
          </a:bodyPr>
          <a:lstStyle>
            <a:lvl1pPr marL="226800" indent="-226800">
              <a:lnSpc>
                <a:spcPct val="80000"/>
              </a:lnSpc>
              <a:spcBef>
                <a:spcPts val="1000"/>
              </a:spcBef>
              <a:buSzPct val="120000"/>
              <a:buFont typeface="Arial" panose="020B0604020202020204" pitchFamily="34" charset="0"/>
              <a:buChar char="•"/>
              <a:defRPr kumimoji="1" sz="1200">
                <a:solidFill>
                  <a:srgbClr val="344251"/>
                </a:solidFill>
              </a:defRPr>
            </a:lvl1pPr>
            <a:lvl2pPr marL="464400" indent="-237600">
              <a:lnSpc>
                <a:spcPct val="90000"/>
              </a:lnSpc>
              <a:spcBef>
                <a:spcPts val="500"/>
              </a:spcBef>
              <a:buFont typeface="Arial" panose="020B0604020202020204" pitchFamily="34" charset="0"/>
              <a:buChar char="–"/>
              <a:defRPr kumimoji="1" sz="2000"/>
            </a:lvl2pPr>
            <a:lvl3pPr marL="687600" indent="-226800">
              <a:lnSpc>
                <a:spcPct val="90000"/>
              </a:lnSpc>
              <a:spcBef>
                <a:spcPts val="500"/>
              </a:spcBef>
              <a:buFont typeface="Arial" panose="020B0604020202020204" pitchFamily="34" charset="0"/>
              <a:buChar char="•"/>
              <a:defRPr kumimoji="1"/>
            </a:lvl3pPr>
            <a:lvl4pPr marL="914400" indent="-226800">
              <a:lnSpc>
                <a:spcPct val="90000"/>
              </a:lnSpc>
              <a:spcBef>
                <a:spcPts val="500"/>
              </a:spcBef>
              <a:buFont typeface="Arial" panose="020B0604020202020204" pitchFamily="34" charset="0"/>
              <a:buChar char="–"/>
              <a:defRPr kumimoji="1" sz="1600"/>
            </a:lvl4pPr>
            <a:lvl5pPr marL="1141200" indent="-226800">
              <a:lnSpc>
                <a:spcPct val="90000"/>
              </a:lnSpc>
              <a:spcBef>
                <a:spcPts val="500"/>
              </a:spcBef>
              <a:buFont typeface="Arial" panose="020B0604020202020204" pitchFamily="34" charset="0"/>
              <a:buChar char="•"/>
              <a:defRPr kumimoji="1" sz="1400"/>
            </a:lvl5pPr>
            <a:lvl6pPr marL="2514600" indent="-228600">
              <a:lnSpc>
                <a:spcPct val="90000"/>
              </a:lnSpc>
              <a:spcBef>
                <a:spcPts val="500"/>
              </a:spcBef>
              <a:buFont typeface="Arial" panose="020B0604020202020204" pitchFamily="34" charset="0"/>
              <a:buChar char="•"/>
              <a:defRPr kumimoji="1"/>
            </a:lvl6pPr>
            <a:lvl7pPr marL="2971800" indent="-228600">
              <a:lnSpc>
                <a:spcPct val="90000"/>
              </a:lnSpc>
              <a:spcBef>
                <a:spcPts val="500"/>
              </a:spcBef>
              <a:buFont typeface="Arial" panose="020B0604020202020204" pitchFamily="34" charset="0"/>
              <a:buChar char="•"/>
              <a:defRPr kumimoji="1"/>
            </a:lvl7pPr>
            <a:lvl8pPr marL="3429000" indent="-228600">
              <a:lnSpc>
                <a:spcPct val="90000"/>
              </a:lnSpc>
              <a:spcBef>
                <a:spcPts val="500"/>
              </a:spcBef>
              <a:buFont typeface="Arial" panose="020B0604020202020204" pitchFamily="34" charset="0"/>
              <a:buChar char="•"/>
              <a:defRPr kumimoji="1"/>
            </a:lvl8pPr>
            <a:lvl9pPr marL="3886200" indent="-228600">
              <a:lnSpc>
                <a:spcPct val="90000"/>
              </a:lnSpc>
              <a:spcBef>
                <a:spcPts val="500"/>
              </a:spcBef>
              <a:buFont typeface="Arial" panose="020B0604020202020204" pitchFamily="34" charset="0"/>
              <a:buChar char="•"/>
              <a:defRPr kumimoji="1"/>
            </a:lvl9pPr>
          </a:lstStyle>
          <a:p>
            <a:pPr marL="225425" marR="0" lvl="0" indent="-136525" algn="l" defTabSz="914400" rtl="0" eaLnBrk="1" fontAlgn="auto" latinLnBrk="0" hangingPunct="1">
              <a:lnSpc>
                <a:spcPct val="8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7.5t Market </a:t>
            </a:r>
            <a:r>
              <a:rPr kumimoji="1" lang="en-GB" sz="1200" b="0" i="0" u="none" strike="noStrike" kern="1200" cap="none" spc="0" normalizeH="0" baseline="0" noProof="0" dirty="0">
                <a:ln>
                  <a:noFill/>
                </a:ln>
                <a:solidFill>
                  <a:srgbClr val="344251"/>
                </a:solidFill>
                <a:effectLst/>
                <a:uLnTx/>
                <a:uFillTx/>
                <a:latin typeface="Arial"/>
                <a:ea typeface="Meiryo" panose="020B0604030504040204" pitchFamily="34" charset="-128"/>
                <a:cs typeface="Arial" panose="020B0604020202020204" pitchFamily="34" charset="0"/>
              </a:rPr>
              <a:t>Δ21.43</a:t>
            </a:r>
            <a:r>
              <a:rPr kumimoji="1" lang="en-GB" sz="1200" b="0" i="0" u="none" strike="noStrike" kern="1200" cap="none" spc="0" normalizeH="0" baseline="0" noProof="0" dirty="0">
                <a:ln>
                  <a:noFill/>
                </a:ln>
                <a:solidFill>
                  <a:srgbClr val="344251"/>
                </a:solidFill>
                <a:effectLst/>
                <a:uLnTx/>
                <a:uFillTx/>
                <a:latin typeface="Arial"/>
                <a:ea typeface="メイリオ"/>
                <a:cs typeface="+mn-cs"/>
              </a:rPr>
              <a:t>% - CY25 Versus CY24 </a:t>
            </a:r>
          </a:p>
          <a:p>
            <a:pPr marL="225425" marR="0" lvl="0" indent="-136525" algn="l" defTabSz="914400" rtl="0" eaLnBrk="1" fontAlgn="auto" latinLnBrk="0" hangingPunct="1">
              <a:lnSpc>
                <a:spcPct val="8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Tippers </a:t>
            </a:r>
            <a:r>
              <a:rPr kumimoji="1" lang="en-GB" sz="1200" b="0" i="0" u="none" strike="noStrike" kern="1200" cap="none" spc="0" normalizeH="0" baseline="0" noProof="0" dirty="0">
                <a:ln>
                  <a:noFill/>
                </a:ln>
                <a:solidFill>
                  <a:srgbClr val="344251"/>
                </a:solidFill>
                <a:effectLst/>
                <a:uLnTx/>
                <a:uFillTx/>
                <a:latin typeface="Arial"/>
                <a:ea typeface="Meiryo" panose="020B0604030504040204" pitchFamily="34" charset="-128"/>
                <a:cs typeface="Arial" panose="020B0604020202020204" pitchFamily="34" charset="0"/>
              </a:rPr>
              <a:t>Δ34.50</a:t>
            </a:r>
            <a:r>
              <a:rPr kumimoji="1" lang="en-GB" sz="1200" b="0" i="0" u="none" strike="noStrike" kern="1200" cap="none" spc="0" normalizeH="0" baseline="0" noProof="0" dirty="0">
                <a:ln>
                  <a:noFill/>
                </a:ln>
                <a:solidFill>
                  <a:srgbClr val="344251"/>
                </a:solidFill>
                <a:effectLst/>
                <a:uLnTx/>
                <a:uFillTx/>
                <a:latin typeface="Arial"/>
                <a:ea typeface="メイリオ"/>
                <a:cs typeface="+mn-cs"/>
              </a:rPr>
              <a:t>% Dropside </a:t>
            </a:r>
            <a:r>
              <a:rPr kumimoji="1" lang="en-GB" sz="1200" b="0" i="0" u="none" strike="noStrike" kern="1200" cap="none" spc="0" normalizeH="0" baseline="0" noProof="0" dirty="0">
                <a:ln>
                  <a:noFill/>
                </a:ln>
                <a:solidFill>
                  <a:srgbClr val="344251"/>
                </a:solidFill>
                <a:effectLst/>
                <a:uLnTx/>
                <a:uFillTx/>
                <a:latin typeface="Arial"/>
                <a:ea typeface="Meiryo" panose="020B0604030504040204" pitchFamily="34" charset="-128"/>
                <a:cs typeface="Arial" panose="020B0604020202020204" pitchFamily="34" charset="0"/>
              </a:rPr>
              <a:t>Δ24.54</a:t>
            </a:r>
            <a:r>
              <a:rPr kumimoji="1" lang="en-GB" sz="1200" b="0" i="0" u="none" strike="noStrike" kern="1200" cap="none" spc="0" normalizeH="0" baseline="0" noProof="0" dirty="0">
                <a:ln>
                  <a:noFill/>
                </a:ln>
                <a:solidFill>
                  <a:srgbClr val="344251"/>
                </a:solidFill>
                <a:effectLst/>
                <a:uLnTx/>
                <a:uFillTx/>
                <a:latin typeface="Arial"/>
                <a:ea typeface="メイリオ"/>
                <a:cs typeface="+mn-cs"/>
              </a:rPr>
              <a:t>% - 35% of ITUK Registrations in 2024</a:t>
            </a:r>
          </a:p>
          <a:p>
            <a:pPr marL="225425" marR="0" lvl="0" indent="-136525" algn="l" defTabSz="914400" rtl="0" eaLnBrk="1" fontAlgn="auto" latinLnBrk="0" hangingPunct="1">
              <a:lnSpc>
                <a:spcPct val="8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Dry Freight Body Types = 55.77% of 7.5t Market - Box 46.09% &amp; C/Side 9.68%</a:t>
            </a:r>
          </a:p>
          <a:p>
            <a:pPr marL="225425" marR="0" lvl="0" indent="-136525" algn="l" defTabSz="914400" rtl="0" eaLnBrk="1" fontAlgn="auto" latinLnBrk="0" hangingPunct="1">
              <a:lnSpc>
                <a:spcPct val="8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Market Leader DAF 47.20% #2 Isuzu Truck 30.13% #3 MAN &amp; Mercedes 7.13%</a:t>
            </a:r>
          </a:p>
          <a:p>
            <a:pPr marL="225425" marR="0" lvl="0" indent="-136525" algn="l" defTabSz="914400" rtl="0" eaLnBrk="1" fontAlgn="auto" latinLnBrk="0" hangingPunct="1">
              <a:lnSpc>
                <a:spcPct val="10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DAF Continue to Win Key Fleet Orders in the Parcel Delivery &amp; Rental Sectors for ‘Highway’ 7.5t Vehicles for Customers Operating in all HCV Weight Sectors</a:t>
            </a:r>
          </a:p>
          <a:p>
            <a:pPr marL="225425" marR="0" lvl="0" indent="-136525" algn="l" defTabSz="914400" rtl="0" eaLnBrk="1" fontAlgn="auto" latinLnBrk="0" hangingPunct="1">
              <a:lnSpc>
                <a:spcPct val="8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Iveco 7.2t Daily taking business from the 7.5t Sector, 1,382 Units in CY25 </a:t>
            </a:r>
          </a:p>
        </p:txBody>
      </p:sp>
      <p:sp>
        <p:nvSpPr>
          <p:cNvPr id="12" name="Text Placeholder 1">
            <a:extLst>
              <a:ext uri="{FF2B5EF4-FFF2-40B4-BE49-F238E27FC236}">
                <a16:creationId xmlns:a16="http://schemas.microsoft.com/office/drawing/2014/main" id="{F36DEBA1-0584-88F0-05D9-4CEBF52B6366}"/>
              </a:ext>
            </a:extLst>
          </p:cNvPr>
          <p:cNvSpPr txBox="1">
            <a:spLocks/>
          </p:cNvSpPr>
          <p:nvPr/>
        </p:nvSpPr>
        <p:spPr>
          <a:xfrm>
            <a:off x="6168006" y="4797375"/>
            <a:ext cx="5857225" cy="1799977"/>
          </a:xfrm>
          <a:prstGeom prst="rect">
            <a:avLst/>
          </a:prstGeom>
          <a:ln>
            <a:solidFill>
              <a:srgbClr val="405C8B"/>
            </a:solidFill>
          </a:ln>
        </p:spPr>
        <p:txBody>
          <a:bodyPr vert="horz" lIns="0" tIns="45720" rIns="91440" bIns="45720" rtlCol="0" anchor="ctr">
            <a:noAutofit/>
          </a:bodyPr>
          <a:lstStyle>
            <a:lvl1pPr marL="226800" indent="-226800">
              <a:lnSpc>
                <a:spcPct val="80000"/>
              </a:lnSpc>
              <a:spcBef>
                <a:spcPts val="1000"/>
              </a:spcBef>
              <a:buSzPct val="120000"/>
              <a:buFont typeface="Arial" panose="020B0604020202020204" pitchFamily="34" charset="0"/>
              <a:buChar char="•"/>
              <a:defRPr kumimoji="1" sz="1200">
                <a:solidFill>
                  <a:srgbClr val="344251"/>
                </a:solidFill>
              </a:defRPr>
            </a:lvl1pPr>
            <a:lvl2pPr marL="464400" indent="-237600">
              <a:lnSpc>
                <a:spcPct val="90000"/>
              </a:lnSpc>
              <a:spcBef>
                <a:spcPts val="500"/>
              </a:spcBef>
              <a:buFont typeface="Arial" panose="020B0604020202020204" pitchFamily="34" charset="0"/>
              <a:buChar char="–"/>
              <a:defRPr kumimoji="1" sz="2000"/>
            </a:lvl2pPr>
            <a:lvl3pPr marL="687600" indent="-226800">
              <a:lnSpc>
                <a:spcPct val="90000"/>
              </a:lnSpc>
              <a:spcBef>
                <a:spcPts val="500"/>
              </a:spcBef>
              <a:buFont typeface="Arial" panose="020B0604020202020204" pitchFamily="34" charset="0"/>
              <a:buChar char="•"/>
              <a:defRPr kumimoji="1"/>
            </a:lvl3pPr>
            <a:lvl4pPr marL="914400" indent="-226800">
              <a:lnSpc>
                <a:spcPct val="90000"/>
              </a:lnSpc>
              <a:spcBef>
                <a:spcPts val="500"/>
              </a:spcBef>
              <a:buFont typeface="Arial" panose="020B0604020202020204" pitchFamily="34" charset="0"/>
              <a:buChar char="–"/>
              <a:defRPr kumimoji="1" sz="1600"/>
            </a:lvl4pPr>
            <a:lvl5pPr marL="1141200" indent="-226800">
              <a:lnSpc>
                <a:spcPct val="90000"/>
              </a:lnSpc>
              <a:spcBef>
                <a:spcPts val="500"/>
              </a:spcBef>
              <a:buFont typeface="Arial" panose="020B0604020202020204" pitchFamily="34" charset="0"/>
              <a:buChar char="•"/>
              <a:defRPr kumimoji="1" sz="1400"/>
            </a:lvl5pPr>
            <a:lvl6pPr marL="2514600" indent="-228600">
              <a:lnSpc>
                <a:spcPct val="90000"/>
              </a:lnSpc>
              <a:spcBef>
                <a:spcPts val="500"/>
              </a:spcBef>
              <a:buFont typeface="Arial" panose="020B0604020202020204" pitchFamily="34" charset="0"/>
              <a:buChar char="•"/>
              <a:defRPr kumimoji="1"/>
            </a:lvl6pPr>
            <a:lvl7pPr marL="2971800" indent="-228600">
              <a:lnSpc>
                <a:spcPct val="90000"/>
              </a:lnSpc>
              <a:spcBef>
                <a:spcPts val="500"/>
              </a:spcBef>
              <a:buFont typeface="Arial" panose="020B0604020202020204" pitchFamily="34" charset="0"/>
              <a:buChar char="•"/>
              <a:defRPr kumimoji="1"/>
            </a:lvl7pPr>
            <a:lvl8pPr marL="3429000" indent="-228600">
              <a:lnSpc>
                <a:spcPct val="90000"/>
              </a:lnSpc>
              <a:spcBef>
                <a:spcPts val="500"/>
              </a:spcBef>
              <a:buFont typeface="Arial" panose="020B0604020202020204" pitchFamily="34" charset="0"/>
              <a:buChar char="•"/>
              <a:defRPr kumimoji="1"/>
            </a:lvl8pPr>
            <a:lvl9pPr marL="3886200" indent="-228600">
              <a:lnSpc>
                <a:spcPct val="90000"/>
              </a:lnSpc>
              <a:spcBef>
                <a:spcPts val="500"/>
              </a:spcBef>
              <a:buFont typeface="Arial" panose="020B0604020202020204" pitchFamily="34" charset="0"/>
              <a:buChar char="•"/>
              <a:defRPr kumimoji="1"/>
            </a:lvl9pPr>
          </a:lstStyle>
          <a:p>
            <a:pPr marL="225425" marR="0" lvl="0" indent="-136525" algn="l" defTabSz="914400" rtl="0" eaLnBrk="1" fontAlgn="auto" latinLnBrk="0" hangingPunct="1">
              <a:lnSpc>
                <a:spcPct val="8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10t to 14t Market </a:t>
            </a:r>
            <a:r>
              <a:rPr kumimoji="1" lang="en-GB" sz="1200" b="0" i="0" u="none" strike="noStrike" kern="1200" cap="none" spc="0" normalizeH="0" baseline="0" noProof="0" dirty="0">
                <a:ln>
                  <a:noFill/>
                </a:ln>
                <a:solidFill>
                  <a:srgbClr val="344251"/>
                </a:solidFill>
                <a:effectLst/>
                <a:uLnTx/>
                <a:uFillTx/>
                <a:latin typeface="Arial"/>
                <a:ea typeface="Meiryo" panose="020B0604030504040204" pitchFamily="34" charset="-128"/>
                <a:cs typeface="Arial" panose="020B0604020202020204" pitchFamily="34" charset="0"/>
              </a:rPr>
              <a:t>Δ11.87</a:t>
            </a:r>
            <a:r>
              <a:rPr kumimoji="1" lang="en-GB" sz="1200" b="0" i="0" u="none" strike="noStrike" kern="1200" cap="none" spc="0" normalizeH="0" baseline="0" noProof="0" dirty="0">
                <a:ln>
                  <a:noFill/>
                </a:ln>
                <a:solidFill>
                  <a:srgbClr val="344251"/>
                </a:solidFill>
                <a:effectLst/>
                <a:uLnTx/>
                <a:uFillTx/>
                <a:latin typeface="Arial"/>
                <a:ea typeface="メイリオ"/>
                <a:cs typeface="+mn-cs"/>
              </a:rPr>
              <a:t>% - CY25 Versus CY24</a:t>
            </a:r>
            <a:endParaRPr kumimoji="1" lang="en-GB" sz="1000" b="0" i="0" u="none" strike="noStrike" kern="1200" cap="none" spc="0" normalizeH="0" baseline="0" noProof="0" dirty="0">
              <a:ln>
                <a:noFill/>
              </a:ln>
              <a:solidFill>
                <a:srgbClr val="344251"/>
              </a:solidFill>
              <a:effectLst/>
              <a:uLnTx/>
              <a:uFillTx/>
              <a:latin typeface="Arial"/>
              <a:ea typeface="メイリオ"/>
              <a:cs typeface="+mn-cs"/>
            </a:endParaRPr>
          </a:p>
          <a:p>
            <a:pPr marL="225425" marR="0" lvl="0" indent="-136525" algn="l" defTabSz="914400" rtl="0" eaLnBrk="1" fontAlgn="auto" latinLnBrk="0" hangingPunct="1">
              <a:lnSpc>
                <a:spcPct val="10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DAF Dominate this sector with 59.05% Market Share – Customers Operating in all HCV Weight Sectors, 18t, 26t, &amp; Tractors, that take a ‘One / Two Brand’ approach</a:t>
            </a:r>
          </a:p>
          <a:p>
            <a:pPr marL="225425" marR="0" lvl="0" indent="-136525" algn="l" defTabSz="914400" rtl="0" eaLnBrk="1" fontAlgn="auto" latinLnBrk="0" hangingPunct="1">
              <a:lnSpc>
                <a:spcPct val="8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#2 Mercedes 10.66% #3 MAN 9.32% #4 Iveco 6.47% #6 Isuzu Truck 5.04%</a:t>
            </a:r>
          </a:p>
          <a:p>
            <a:pPr marL="225425" marR="0" lvl="0" indent="-136525" algn="l" defTabSz="914400" rtl="0" eaLnBrk="1" fontAlgn="auto" latinLnBrk="0" hangingPunct="1">
              <a:lnSpc>
                <a:spcPct val="8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Box Bodies </a:t>
            </a:r>
            <a:r>
              <a:rPr kumimoji="1" lang="en-GB" sz="1200" b="0" i="0" u="none" strike="noStrike" kern="1200" cap="none" spc="0" normalizeH="0" baseline="0" noProof="0" dirty="0">
                <a:ln>
                  <a:noFill/>
                </a:ln>
                <a:solidFill>
                  <a:srgbClr val="344251"/>
                </a:solidFill>
                <a:effectLst/>
                <a:uLnTx/>
                <a:uFillTx/>
                <a:latin typeface="Arial"/>
                <a:ea typeface="Meiryo" panose="020B0604030504040204" pitchFamily="34" charset="-128"/>
                <a:cs typeface="Arial" panose="020B0604020202020204" pitchFamily="34" charset="0"/>
              </a:rPr>
              <a:t>Δ39.17</a:t>
            </a:r>
            <a:r>
              <a:rPr kumimoji="1" lang="en-GB" sz="1200" b="0" i="0" u="none" strike="noStrike" kern="1200" cap="none" spc="0" normalizeH="0" baseline="0" noProof="0" dirty="0">
                <a:ln>
                  <a:noFill/>
                </a:ln>
                <a:solidFill>
                  <a:srgbClr val="344251"/>
                </a:solidFill>
                <a:effectLst/>
                <a:uLnTx/>
                <a:uFillTx/>
                <a:latin typeface="Arial"/>
                <a:ea typeface="メイリオ"/>
                <a:cs typeface="+mn-cs"/>
              </a:rPr>
              <a:t>% Insulated </a:t>
            </a:r>
            <a:r>
              <a:rPr kumimoji="1" lang="en-GB" sz="1200" b="0" i="0" u="none" strike="noStrike" kern="1200" cap="none" spc="0" normalizeH="0" baseline="0" noProof="0" dirty="0">
                <a:ln>
                  <a:noFill/>
                </a:ln>
                <a:solidFill>
                  <a:srgbClr val="344251"/>
                </a:solidFill>
                <a:effectLst/>
                <a:uLnTx/>
                <a:uFillTx/>
                <a:latin typeface="Arial"/>
                <a:ea typeface="Meiryo" panose="020B0604030504040204" pitchFamily="34" charset="-128"/>
                <a:cs typeface="Arial" panose="020B0604020202020204" pitchFamily="34" charset="0"/>
              </a:rPr>
              <a:t>Δ35.10</a:t>
            </a:r>
            <a:r>
              <a:rPr kumimoji="1" lang="en-GB" sz="1200" b="0" i="0" u="none" strike="noStrike" kern="1200" cap="none" spc="0" normalizeH="0" baseline="0" noProof="0" dirty="0">
                <a:ln>
                  <a:noFill/>
                </a:ln>
                <a:solidFill>
                  <a:srgbClr val="344251"/>
                </a:solidFill>
                <a:effectLst/>
                <a:uLnTx/>
                <a:uFillTx/>
                <a:latin typeface="Arial"/>
                <a:ea typeface="メイリオ"/>
                <a:cs typeface="+mn-cs"/>
              </a:rPr>
              <a:t>% Curtainside Bodies </a:t>
            </a:r>
            <a:r>
              <a:rPr kumimoji="1" lang="en-GB" sz="1200" b="0" i="0" u="none" strike="noStrike" kern="1200" cap="none" spc="0" normalizeH="0" baseline="0" noProof="0" dirty="0">
                <a:ln>
                  <a:noFill/>
                </a:ln>
                <a:solidFill>
                  <a:srgbClr val="344251"/>
                </a:solidFill>
                <a:effectLst/>
                <a:uLnTx/>
                <a:uFillTx/>
                <a:latin typeface="Arial"/>
                <a:ea typeface="Meiryo" panose="020B0604030504040204" pitchFamily="34" charset="-128"/>
                <a:cs typeface="Arial" panose="020B0604020202020204" pitchFamily="34" charset="0"/>
              </a:rPr>
              <a:t>Δ14.07</a:t>
            </a:r>
            <a:r>
              <a:rPr kumimoji="1" lang="en-GB" sz="1200" b="0" i="0" u="none" strike="noStrike" kern="1200" cap="none" spc="0" normalizeH="0" baseline="0" noProof="0" dirty="0">
                <a:ln>
                  <a:noFill/>
                </a:ln>
                <a:solidFill>
                  <a:srgbClr val="344251"/>
                </a:solidFill>
                <a:effectLst/>
                <a:uLnTx/>
                <a:uFillTx/>
                <a:latin typeface="Arial"/>
                <a:ea typeface="メイリオ"/>
                <a:cs typeface="+mn-cs"/>
              </a:rPr>
              <a:t>%</a:t>
            </a:r>
          </a:p>
          <a:p>
            <a:pPr marL="225425" marR="0" lvl="0" indent="-136525" algn="l" defTabSz="914400" rtl="0" eaLnBrk="1" fontAlgn="auto" latinLnBrk="0" hangingPunct="1">
              <a:lnSpc>
                <a:spcPct val="10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Refuse / Municipal +73.57% as Local Authorities prepare for new Food Waste Collection Legislation &amp; Increased Recycling Activity Requirements</a:t>
            </a:r>
          </a:p>
        </p:txBody>
      </p:sp>
    </p:spTree>
    <p:extLst>
      <p:ext uri="{BB962C8B-B14F-4D97-AF65-F5344CB8AC3E}">
        <p14:creationId xmlns:p14="http://schemas.microsoft.com/office/powerpoint/2010/main" val="2266899215"/>
      </p:ext>
    </p:extLst>
  </p:cSld>
  <p:clrMapOvr>
    <a:masterClrMapping/>
  </p:clrMapOvr>
  <mc:AlternateContent xmlns:mc="http://schemas.openxmlformats.org/markup-compatibility/2006" xmlns:p14="http://schemas.microsoft.com/office/powerpoint/2010/main">
    <mc:Choice Requires="p14">
      <p:transition spd="slow" p14:dur="2000" advTm="100101"/>
    </mc:Choice>
    <mc:Fallback xmlns="">
      <p:transition spd="slow" advTm="10010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5210E-C20B-51A1-488D-B636AE45553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5117CAB-3F06-0D97-F558-6309789EEA5C}"/>
              </a:ext>
            </a:extLst>
          </p:cNvPr>
          <p:cNvSpPr>
            <a:spLocks noGrp="1"/>
          </p:cNvSpPr>
          <p:nvPr>
            <p:ph type="title"/>
          </p:nvPr>
        </p:nvSpPr>
        <p:spPr/>
        <p:txBody>
          <a:bodyPr/>
          <a:lstStyle/>
          <a:p>
            <a:r>
              <a:rPr lang="en-GB" noProof="0" dirty="0">
                <a:solidFill>
                  <a:srgbClr val="344251"/>
                </a:solidFill>
              </a:rPr>
              <a:t>Demand Trends &amp; Registrations</a:t>
            </a:r>
          </a:p>
        </p:txBody>
      </p:sp>
      <p:graphicFrame>
        <p:nvGraphicFramePr>
          <p:cNvPr id="4" name="Chart 3">
            <a:extLst>
              <a:ext uri="{FF2B5EF4-FFF2-40B4-BE49-F238E27FC236}">
                <a16:creationId xmlns:a16="http://schemas.microsoft.com/office/drawing/2014/main" id="{390C7658-0117-4C74-2849-31B6F4365E23}"/>
              </a:ext>
            </a:extLst>
          </p:cNvPr>
          <p:cNvGraphicFramePr/>
          <p:nvPr/>
        </p:nvGraphicFramePr>
        <p:xfrm>
          <a:off x="166767" y="1196975"/>
          <a:ext cx="5857226" cy="1800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AE208868-57A3-5CEF-492F-DDBFEA1A6DED}"/>
              </a:ext>
            </a:extLst>
          </p:cNvPr>
          <p:cNvGraphicFramePr/>
          <p:nvPr/>
        </p:nvGraphicFramePr>
        <p:xfrm>
          <a:off x="166767" y="2993819"/>
          <a:ext cx="5857226" cy="1800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E8424FC6-06F6-F3A1-A381-38A86111C287}"/>
              </a:ext>
            </a:extLst>
          </p:cNvPr>
          <p:cNvGraphicFramePr/>
          <p:nvPr/>
        </p:nvGraphicFramePr>
        <p:xfrm>
          <a:off x="166767" y="4797151"/>
          <a:ext cx="5857226" cy="1989399"/>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 Placeholder 1">
            <a:extLst>
              <a:ext uri="{FF2B5EF4-FFF2-40B4-BE49-F238E27FC236}">
                <a16:creationId xmlns:a16="http://schemas.microsoft.com/office/drawing/2014/main" id="{C749198C-C2A0-1A28-388D-20918FFAC911}"/>
              </a:ext>
            </a:extLst>
          </p:cNvPr>
          <p:cNvSpPr>
            <a:spLocks noGrp="1"/>
          </p:cNvSpPr>
          <p:nvPr>
            <p:ph type="body" sz="quarter" idx="13"/>
          </p:nvPr>
        </p:nvSpPr>
        <p:spPr>
          <a:xfrm>
            <a:off x="6168007" y="1196974"/>
            <a:ext cx="5857225" cy="1796845"/>
          </a:xfrm>
          <a:ln>
            <a:solidFill>
              <a:srgbClr val="405C8B"/>
            </a:solidFill>
          </a:ln>
        </p:spPr>
        <p:txBody>
          <a:bodyPr vert="horz" lIns="0" tIns="45720" rIns="91440" bIns="45720" rtlCol="0" anchor="ctr">
            <a:noAutofit/>
          </a:bodyPr>
          <a:lstStyle/>
          <a:p>
            <a:pPr marL="225425" indent="-136525">
              <a:lnSpc>
                <a:spcPct val="80000"/>
              </a:lnSpc>
            </a:pPr>
            <a:r>
              <a:rPr lang="en-GB" sz="1200" noProof="0" dirty="0">
                <a:solidFill>
                  <a:srgbClr val="344251"/>
                </a:solidFill>
              </a:rPr>
              <a:t>Isuzu Truck Registrations </a:t>
            </a:r>
            <a:r>
              <a:rPr lang="en-GB" sz="1200" b="0" i="0" u="none" strike="noStrike" noProof="0" dirty="0">
                <a:solidFill>
                  <a:srgbClr val="344251"/>
                </a:solidFill>
                <a:effectLst/>
                <a:ea typeface="Meiryo" panose="020B0604030504040204" pitchFamily="34" charset="-128"/>
                <a:cs typeface="Arial" panose="020B0604020202020204" pitchFamily="34" charset="0"/>
              </a:rPr>
              <a:t>Δ</a:t>
            </a:r>
            <a:r>
              <a:rPr lang="en-GB" sz="1200" b="0" i="0" u="none" strike="noStrike" dirty="0">
                <a:solidFill>
                  <a:srgbClr val="344251"/>
                </a:solidFill>
                <a:effectLst/>
                <a:ea typeface="Meiryo" panose="020B0604030504040204" pitchFamily="34" charset="-128"/>
                <a:cs typeface="Arial" panose="020B0604020202020204" pitchFamily="34" charset="0"/>
              </a:rPr>
              <a:t>21</a:t>
            </a:r>
            <a:r>
              <a:rPr lang="en-GB" sz="1200" noProof="0" dirty="0">
                <a:solidFill>
                  <a:srgbClr val="344251"/>
                </a:solidFill>
              </a:rPr>
              <a:t>.60% on Prior Year – 987 Versus 1,259 </a:t>
            </a:r>
            <a:r>
              <a:rPr lang="en-GB" sz="1200" b="0" i="0" u="none" strike="noStrike" noProof="0" dirty="0">
                <a:solidFill>
                  <a:srgbClr val="344251"/>
                </a:solidFill>
                <a:effectLst/>
                <a:ea typeface="Meiryo" panose="020B0604030504040204" pitchFamily="34" charset="-128"/>
                <a:cs typeface="Arial" panose="020B0604020202020204" pitchFamily="34" charset="0"/>
              </a:rPr>
              <a:t>Δ272</a:t>
            </a:r>
          </a:p>
          <a:p>
            <a:pPr marL="225425" indent="-136525">
              <a:lnSpc>
                <a:spcPct val="80000"/>
              </a:lnSpc>
            </a:pPr>
            <a:r>
              <a:rPr lang="en-GB" sz="1200" dirty="0">
                <a:solidFill>
                  <a:srgbClr val="344251"/>
                </a:solidFill>
                <a:ea typeface="Meiryo" panose="020B0604030504040204" pitchFamily="34" charset="-128"/>
                <a:cs typeface="Arial" panose="020B0604020202020204" pitchFamily="34" charset="0"/>
              </a:rPr>
              <a:t>2025 Market Δ20.9% 22,739 Units on Prior 6-Year Average, 28,745 Units</a:t>
            </a:r>
            <a:endParaRPr lang="en-GB" sz="1200" noProof="0" dirty="0">
              <a:solidFill>
                <a:srgbClr val="344251"/>
              </a:solidFill>
            </a:endParaRPr>
          </a:p>
          <a:p>
            <a:pPr marL="225425" indent="-136525">
              <a:lnSpc>
                <a:spcPct val="80000"/>
              </a:lnSpc>
            </a:pPr>
            <a:r>
              <a:rPr lang="en-GB" sz="1200" dirty="0">
                <a:solidFill>
                  <a:srgbClr val="344251"/>
                </a:solidFill>
              </a:rPr>
              <a:t>Key ITUK Body Sectors - Tippers </a:t>
            </a:r>
            <a:r>
              <a:rPr lang="en-GB" sz="1200" dirty="0">
                <a:solidFill>
                  <a:srgbClr val="344251"/>
                </a:solidFill>
                <a:ea typeface="Meiryo" panose="020B0604030504040204" pitchFamily="34" charset="-128"/>
                <a:cs typeface="Arial" panose="020B0604020202020204" pitchFamily="34" charset="0"/>
              </a:rPr>
              <a:t>Δ26.61</a:t>
            </a:r>
            <a:r>
              <a:rPr lang="en-GB" sz="1200" dirty="0">
                <a:solidFill>
                  <a:srgbClr val="344251"/>
                </a:solidFill>
              </a:rPr>
              <a:t>% Dropside </a:t>
            </a:r>
            <a:r>
              <a:rPr lang="en-GB" sz="1200" dirty="0">
                <a:solidFill>
                  <a:srgbClr val="344251"/>
                </a:solidFill>
                <a:ea typeface="Meiryo" panose="020B0604030504040204" pitchFamily="34" charset="-128"/>
                <a:cs typeface="Arial" panose="020B0604020202020204" pitchFamily="34" charset="0"/>
              </a:rPr>
              <a:t>Δ14.81</a:t>
            </a:r>
            <a:r>
              <a:rPr lang="en-GB" sz="1200" dirty="0">
                <a:solidFill>
                  <a:srgbClr val="344251"/>
                </a:solidFill>
              </a:rPr>
              <a:t>%</a:t>
            </a:r>
          </a:p>
          <a:p>
            <a:pPr marL="225425" indent="-136525">
              <a:lnSpc>
                <a:spcPct val="80000"/>
              </a:lnSpc>
            </a:pPr>
            <a:r>
              <a:rPr lang="en-GB" sz="1200" noProof="0" dirty="0">
                <a:solidFill>
                  <a:srgbClr val="344251"/>
                </a:solidFill>
              </a:rPr>
              <a:t>Tippers Accounted for 51% of ITUK Registrations &amp; Dropsides 33% in 2024</a:t>
            </a:r>
          </a:p>
          <a:p>
            <a:pPr marL="225425" indent="-136525">
              <a:lnSpc>
                <a:spcPct val="100000"/>
              </a:lnSpc>
              <a:defRPr/>
            </a:pPr>
            <a:r>
              <a:rPr lang="en-GB" sz="1200" dirty="0">
                <a:solidFill>
                  <a:srgbClr val="344251"/>
                </a:solidFill>
                <a:latin typeface="Arial"/>
                <a:ea typeface="メイリオ"/>
              </a:rPr>
              <a:t>Construction Industry Sector continued to decline - Total Output Fell, during         3-Months to November, by the largest margin since March 2023 (</a:t>
            </a:r>
            <a:r>
              <a:rPr lang="en-GB" sz="1000" i="1" dirty="0">
                <a:solidFill>
                  <a:srgbClr val="344251"/>
                </a:solidFill>
                <a:latin typeface="Arial"/>
                <a:ea typeface="メイリオ"/>
              </a:rPr>
              <a:t>Source ONS)</a:t>
            </a:r>
          </a:p>
          <a:p>
            <a:pPr marL="225425" indent="-136525">
              <a:lnSpc>
                <a:spcPct val="80000"/>
              </a:lnSpc>
            </a:pPr>
            <a:r>
              <a:rPr lang="en-GB" sz="1200" dirty="0">
                <a:solidFill>
                  <a:srgbClr val="344251"/>
                </a:solidFill>
                <a:ea typeface="Meiryo" panose="020B0604030504040204" pitchFamily="34" charset="-128"/>
                <a:cs typeface="Arial" panose="020B0604020202020204" pitchFamily="34" charset="0"/>
              </a:rPr>
              <a:t>Isuzu Truck Cab Size only considered suitable for Two-Man Operations</a:t>
            </a:r>
          </a:p>
        </p:txBody>
      </p:sp>
      <p:sp>
        <p:nvSpPr>
          <p:cNvPr id="11" name="Text Placeholder 1">
            <a:extLst>
              <a:ext uri="{FF2B5EF4-FFF2-40B4-BE49-F238E27FC236}">
                <a16:creationId xmlns:a16="http://schemas.microsoft.com/office/drawing/2014/main" id="{266507EB-85C5-DC8B-DA05-DA5761292DCA}"/>
              </a:ext>
            </a:extLst>
          </p:cNvPr>
          <p:cNvSpPr txBox="1">
            <a:spLocks/>
          </p:cNvSpPr>
          <p:nvPr/>
        </p:nvSpPr>
        <p:spPr>
          <a:xfrm>
            <a:off x="6168007" y="2997174"/>
            <a:ext cx="5857225" cy="1796845"/>
          </a:xfrm>
          <a:prstGeom prst="rect">
            <a:avLst/>
          </a:prstGeom>
          <a:ln>
            <a:solidFill>
              <a:srgbClr val="405C8B"/>
            </a:solidFill>
          </a:ln>
        </p:spPr>
        <p:txBody>
          <a:bodyPr vert="horz" lIns="0" tIns="45720" rIns="91440" bIns="45720" rtlCol="0" anchor="ctr">
            <a:noAutofit/>
          </a:bodyPr>
          <a:lstStyle>
            <a:lvl1pPr marL="226800" indent="-226800" algn="l" defTabSz="914400" rtl="0" eaLnBrk="1" latinLnBrk="0" hangingPunct="1">
              <a:lnSpc>
                <a:spcPct val="90000"/>
              </a:lnSpc>
              <a:spcBef>
                <a:spcPts val="1000"/>
              </a:spcBef>
              <a:buSzPct val="120000"/>
              <a:buFont typeface="Arial" panose="020B0604020202020204" pitchFamily="34" charset="0"/>
              <a:buChar char="•"/>
              <a:defRPr kumimoji="1" sz="2000" kern="1200">
                <a:solidFill>
                  <a:schemeClr val="tx1"/>
                </a:solidFill>
                <a:latin typeface="+mn-lt"/>
                <a:ea typeface="+mn-ea"/>
                <a:cs typeface="+mn-cs"/>
              </a:defRPr>
            </a:lvl1pPr>
            <a:lvl2pPr marL="464400" indent="-237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2pPr>
            <a:lvl3pPr marL="687600" indent="-2268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3pPr>
            <a:lvl4pPr marL="914400" indent="-2268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4pPr>
            <a:lvl5pPr marL="1141200" indent="-2268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25425" marR="0" lvl="0" indent="-136525" algn="l" defTabSz="914400" rtl="0" eaLnBrk="1" fontAlgn="auto" latinLnBrk="0" hangingPunct="1">
              <a:lnSpc>
                <a:spcPct val="8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Isuzu Truck Registrations </a:t>
            </a:r>
            <a:r>
              <a:rPr kumimoji="1" lang="en-GB" sz="1200" b="0" i="0" u="none" strike="noStrike" kern="1200" cap="none" spc="0" normalizeH="0" baseline="0" noProof="0" dirty="0">
                <a:ln>
                  <a:noFill/>
                </a:ln>
                <a:solidFill>
                  <a:srgbClr val="344251"/>
                </a:solidFill>
                <a:effectLst/>
                <a:uLnTx/>
                <a:uFillTx/>
                <a:latin typeface="Arial"/>
                <a:ea typeface="Meiryo" panose="020B0604030504040204" pitchFamily="34" charset="-128"/>
                <a:cs typeface="Arial" panose="020B0604020202020204" pitchFamily="34" charset="0"/>
              </a:rPr>
              <a:t>Δ</a:t>
            </a:r>
            <a:r>
              <a:rPr kumimoji="1" lang="en-GB" sz="1200" b="0" i="0" u="none" strike="noStrike" kern="1200" cap="none" spc="0" normalizeH="0" baseline="0" noProof="0" dirty="0">
                <a:ln>
                  <a:noFill/>
                </a:ln>
                <a:solidFill>
                  <a:srgbClr val="344251"/>
                </a:solidFill>
                <a:effectLst/>
                <a:uLnTx/>
                <a:uFillTx/>
                <a:latin typeface="Arial"/>
                <a:ea typeface="メイリオ"/>
                <a:cs typeface="+mn-cs"/>
              </a:rPr>
              <a:t>14.23% on Prior Year – 844 Versus 984 </a:t>
            </a:r>
            <a:r>
              <a:rPr kumimoji="1" lang="en-GB" sz="1200" b="0" i="0" u="none" strike="noStrike" kern="1200" cap="none" spc="0" normalizeH="0" baseline="0" noProof="0" dirty="0">
                <a:ln>
                  <a:noFill/>
                </a:ln>
                <a:solidFill>
                  <a:srgbClr val="344251"/>
                </a:solidFill>
                <a:effectLst/>
                <a:uLnTx/>
                <a:uFillTx/>
                <a:latin typeface="Arial"/>
                <a:ea typeface="Meiryo" panose="020B0604030504040204" pitchFamily="34" charset="-128"/>
                <a:cs typeface="Arial" panose="020B0604020202020204" pitchFamily="34" charset="0"/>
              </a:rPr>
              <a:t>Δ140</a:t>
            </a:r>
            <a:endParaRPr kumimoji="1" lang="en-GB" sz="1200" b="0" i="0" u="none" strike="noStrike" kern="1200" cap="none" spc="0" normalizeH="0" baseline="0" noProof="0" dirty="0">
              <a:ln>
                <a:noFill/>
              </a:ln>
              <a:solidFill>
                <a:srgbClr val="344251"/>
              </a:solidFill>
              <a:effectLst/>
              <a:uLnTx/>
              <a:uFillTx/>
              <a:latin typeface="Arial"/>
              <a:ea typeface="メイリオ"/>
              <a:cs typeface="+mn-cs"/>
            </a:endParaRPr>
          </a:p>
          <a:p>
            <a:pPr marL="225425" marR="0" lvl="0" indent="-136525" algn="l" defTabSz="914400" rtl="0" eaLnBrk="1" fontAlgn="auto" latinLnBrk="0" hangingPunct="1">
              <a:lnSpc>
                <a:spcPct val="8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Tippers Account for 24% of ITUK Registrations, Dropsides 11% Insulated 13%</a:t>
            </a:r>
          </a:p>
          <a:p>
            <a:pPr marL="225425" marR="0" lvl="0" indent="-136525" algn="l" defTabSz="914400" rtl="0" eaLnBrk="1" fontAlgn="auto" latinLnBrk="0" hangingPunct="1">
              <a:lnSpc>
                <a:spcPct val="8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Refuse Collection Body Type +72.78% - Isuzu Truck +67.48% In this Sector</a:t>
            </a:r>
          </a:p>
          <a:p>
            <a:pPr marL="225425" marR="0" lvl="0" indent="-136525" algn="l" defTabSz="914400" rtl="0" eaLnBrk="1" fontAlgn="auto" latinLnBrk="0" hangingPunct="1">
              <a:lnSpc>
                <a:spcPct val="10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Isuzu Truck ‘Compact’ Cab Design, Footprint &amp; Payload considered ideally suited for shorter distance, Tipper, Dropside &amp; Refuse Customer applications and not regarded as suitable for longer “Highway” Delivery Operations, a ‘Historically Weak’ sector for ITUK  </a:t>
            </a:r>
          </a:p>
        </p:txBody>
      </p:sp>
      <p:sp>
        <p:nvSpPr>
          <p:cNvPr id="12" name="Text Placeholder 1">
            <a:extLst>
              <a:ext uri="{FF2B5EF4-FFF2-40B4-BE49-F238E27FC236}">
                <a16:creationId xmlns:a16="http://schemas.microsoft.com/office/drawing/2014/main" id="{12939175-5374-DFA9-FFBD-5D3381D32696}"/>
              </a:ext>
            </a:extLst>
          </p:cNvPr>
          <p:cNvSpPr txBox="1">
            <a:spLocks/>
          </p:cNvSpPr>
          <p:nvPr/>
        </p:nvSpPr>
        <p:spPr>
          <a:xfrm>
            <a:off x="6168007" y="4800506"/>
            <a:ext cx="5857225" cy="1989399"/>
          </a:xfrm>
          <a:prstGeom prst="rect">
            <a:avLst/>
          </a:prstGeom>
          <a:ln>
            <a:solidFill>
              <a:srgbClr val="405C8B"/>
            </a:solidFill>
          </a:ln>
        </p:spPr>
        <p:txBody>
          <a:bodyPr vert="horz" lIns="0" tIns="45720" rIns="91440" bIns="45720" rtlCol="0" anchor="ctr">
            <a:noAutofit/>
          </a:bodyPr>
          <a:lstStyle>
            <a:lvl1pPr marL="226800" indent="-226800" algn="l" defTabSz="914400" rtl="0" eaLnBrk="1" latinLnBrk="0" hangingPunct="1">
              <a:lnSpc>
                <a:spcPct val="90000"/>
              </a:lnSpc>
              <a:spcBef>
                <a:spcPts val="1000"/>
              </a:spcBef>
              <a:buSzPct val="120000"/>
              <a:buFont typeface="Arial" panose="020B0604020202020204" pitchFamily="34" charset="0"/>
              <a:buChar char="•"/>
              <a:defRPr kumimoji="1" sz="2000" kern="1200">
                <a:solidFill>
                  <a:schemeClr val="tx1"/>
                </a:solidFill>
                <a:latin typeface="+mn-lt"/>
                <a:ea typeface="+mn-ea"/>
                <a:cs typeface="+mn-cs"/>
              </a:defRPr>
            </a:lvl1pPr>
            <a:lvl2pPr marL="464400" indent="-237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2pPr>
            <a:lvl3pPr marL="687600" indent="-2268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3pPr>
            <a:lvl4pPr marL="914400" indent="-2268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4pPr>
            <a:lvl5pPr marL="1141200" indent="-2268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25425" marR="0" lvl="0" indent="-136525" algn="l" defTabSz="914400" rtl="0" eaLnBrk="1" fontAlgn="auto" latinLnBrk="0" hangingPunct="1">
              <a:lnSpc>
                <a:spcPct val="8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Isuzu Truck Registrations </a:t>
            </a:r>
            <a:r>
              <a:rPr kumimoji="1" lang="en-GB" sz="1200" b="0" i="0" u="none" strike="noStrike" kern="1200" cap="none" spc="0" normalizeH="0" baseline="0" noProof="0" dirty="0">
                <a:ln>
                  <a:noFill/>
                </a:ln>
                <a:solidFill>
                  <a:srgbClr val="344251"/>
                </a:solidFill>
                <a:effectLst/>
                <a:uLnTx/>
                <a:uFillTx/>
                <a:latin typeface="Arial"/>
                <a:ea typeface="Meiryo" panose="020B0604030504040204" pitchFamily="34" charset="-128"/>
                <a:cs typeface="Arial" panose="020B0604020202020204" pitchFamily="34" charset="0"/>
              </a:rPr>
              <a:t>Δ34.30</a:t>
            </a:r>
            <a:r>
              <a:rPr kumimoji="1" lang="en-GB" sz="1200" b="0" i="0" u="none" strike="noStrike" kern="1200" cap="none" spc="0" normalizeH="0" baseline="0" noProof="0" dirty="0">
                <a:ln>
                  <a:noFill/>
                </a:ln>
                <a:solidFill>
                  <a:srgbClr val="344251"/>
                </a:solidFill>
                <a:effectLst/>
                <a:uLnTx/>
                <a:uFillTx/>
                <a:latin typeface="Arial"/>
                <a:ea typeface="メイリオ"/>
                <a:cs typeface="+mn-cs"/>
              </a:rPr>
              <a:t>% on Prior Year – 113 Versus 172 </a:t>
            </a:r>
            <a:r>
              <a:rPr kumimoji="1" lang="en-GB" sz="1200" b="0" i="0" u="none" strike="noStrike" kern="1200" cap="none" spc="0" normalizeH="0" baseline="0" noProof="0" dirty="0">
                <a:ln>
                  <a:noFill/>
                </a:ln>
                <a:solidFill>
                  <a:srgbClr val="344251"/>
                </a:solidFill>
                <a:effectLst/>
                <a:uLnTx/>
                <a:uFillTx/>
                <a:latin typeface="Arial"/>
                <a:ea typeface="Meiryo" panose="020B0604030504040204" pitchFamily="34" charset="-128"/>
                <a:cs typeface="Arial" panose="020B0604020202020204" pitchFamily="34" charset="0"/>
              </a:rPr>
              <a:t>Δ59</a:t>
            </a:r>
            <a:r>
              <a:rPr kumimoji="1" lang="en-GB" sz="1200" b="0" i="0" u="none" strike="noStrike" kern="1200" cap="none" spc="0" normalizeH="0" baseline="0" noProof="0" dirty="0">
                <a:ln>
                  <a:noFill/>
                </a:ln>
                <a:solidFill>
                  <a:srgbClr val="344251"/>
                </a:solidFill>
                <a:effectLst/>
                <a:uLnTx/>
                <a:uFillTx/>
                <a:latin typeface="Arial"/>
                <a:ea typeface="メイリオ"/>
                <a:cs typeface="+mn-cs"/>
              </a:rPr>
              <a:t> </a:t>
            </a:r>
          </a:p>
          <a:p>
            <a:pPr marL="225425" marR="0" lvl="0" indent="-136525" algn="l" defTabSz="914400" rtl="0" eaLnBrk="1" fontAlgn="auto" latinLnBrk="0" hangingPunct="1">
              <a:lnSpc>
                <a:spcPct val="8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Key Body Types – Box 24% Refuse 17.5% Curtainside 12.5% Tankers 7%</a:t>
            </a:r>
          </a:p>
          <a:p>
            <a:pPr marL="225425" marR="0" lvl="0" indent="-136525" algn="l" defTabSz="914400" rtl="0" eaLnBrk="1" fontAlgn="auto" latinLnBrk="0" hangingPunct="1">
              <a:lnSpc>
                <a:spcPct val="8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ITUK Registrations – Box 2.6% Refuse 55.7% Curtainside 8% Tankers 1.7%</a:t>
            </a:r>
          </a:p>
          <a:p>
            <a:pPr marL="225425" marR="0" lvl="0" indent="-136525" algn="l" defTabSz="914400" rtl="0" eaLnBrk="1" fontAlgn="auto" latinLnBrk="0" hangingPunct="1">
              <a:lnSpc>
                <a:spcPct val="10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F-Series, Footprint &amp; Payload capabilities are a key advantage to Customers operating Refuse &amp; Insulated Body Types </a:t>
            </a:r>
          </a:p>
          <a:p>
            <a:pPr marL="225425" marR="0" lvl="0" indent="-136525" algn="l" defTabSz="914400" rtl="0" eaLnBrk="1" fontAlgn="auto" latinLnBrk="0" hangingPunct="1">
              <a:lnSpc>
                <a:spcPct val="8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The 10t - 14t Market is important for ITUK as it portrays our ‘True </a:t>
            </a:r>
            <a:r>
              <a:rPr kumimoji="1" lang="en-GB" sz="1200" b="1" i="0" u="none" strike="noStrike" kern="1200" cap="none" spc="0" normalizeH="0" baseline="0" noProof="0" dirty="0">
                <a:ln>
                  <a:noFill/>
                </a:ln>
                <a:solidFill>
                  <a:srgbClr val="344251"/>
                </a:solidFill>
                <a:effectLst/>
                <a:uLnTx/>
                <a:uFillTx/>
                <a:latin typeface="Arial"/>
                <a:ea typeface="メイリオ"/>
                <a:cs typeface="+mn-cs"/>
              </a:rPr>
              <a:t>Truck’</a:t>
            </a:r>
            <a:r>
              <a:rPr kumimoji="1" lang="en-GB" sz="1200" b="0" i="0" u="none" strike="noStrike" kern="1200" cap="none" spc="0" normalizeH="0" baseline="0" noProof="0" dirty="0">
                <a:ln>
                  <a:noFill/>
                </a:ln>
                <a:solidFill>
                  <a:srgbClr val="344251"/>
                </a:solidFill>
                <a:effectLst/>
                <a:uLnTx/>
                <a:uFillTx/>
                <a:latin typeface="Arial"/>
                <a:ea typeface="メイリオ"/>
                <a:cs typeface="+mn-cs"/>
              </a:rPr>
              <a:t> Culture </a:t>
            </a:r>
          </a:p>
          <a:p>
            <a:pPr marL="225425" marR="0" lvl="0" indent="-136525" algn="l" defTabSz="914400" rtl="0" eaLnBrk="1" fontAlgn="auto" latinLnBrk="0" hangingPunct="1">
              <a:lnSpc>
                <a:spcPct val="10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18t &amp; 26t Product would generate additional volume where Customers require OEM Brand Alignment – Greatly Required</a:t>
            </a:r>
          </a:p>
        </p:txBody>
      </p:sp>
    </p:spTree>
    <p:extLst>
      <p:ext uri="{BB962C8B-B14F-4D97-AF65-F5344CB8AC3E}">
        <p14:creationId xmlns:p14="http://schemas.microsoft.com/office/powerpoint/2010/main" val="290466414"/>
      </p:ext>
    </p:extLst>
  </p:cSld>
  <p:clrMapOvr>
    <a:masterClrMapping/>
  </p:clrMapOvr>
  <mc:AlternateContent xmlns:mc="http://schemas.openxmlformats.org/markup-compatibility/2006" xmlns:p14="http://schemas.microsoft.com/office/powerpoint/2010/main">
    <mc:Choice Requires="p14">
      <p:transition spd="slow" p14:dur="2000" advTm="100315"/>
    </mc:Choice>
    <mc:Fallback xmlns="">
      <p:transition spd="slow" advTm="10031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04E2D-BCB6-0896-BB62-0B1BB4C12D44}"/>
            </a:ext>
          </a:extLst>
        </p:cNvPr>
        <p:cNvGrpSpPr/>
        <p:nvPr/>
      </p:nvGrpSpPr>
      <p:grpSpPr>
        <a:xfrm>
          <a:off x="0" y="0"/>
          <a:ext cx="0" cy="0"/>
          <a:chOff x="0" y="0"/>
          <a:chExt cx="0" cy="0"/>
        </a:xfrm>
      </p:grpSpPr>
      <p:sp>
        <p:nvSpPr>
          <p:cNvPr id="9" name="Title 2">
            <a:extLst>
              <a:ext uri="{FF2B5EF4-FFF2-40B4-BE49-F238E27FC236}">
                <a16:creationId xmlns:a16="http://schemas.microsoft.com/office/drawing/2014/main" id="{A25BAF49-0C4F-6D74-013F-B792091678DE}"/>
              </a:ext>
            </a:extLst>
          </p:cNvPr>
          <p:cNvSpPr>
            <a:spLocks noGrp="1"/>
          </p:cNvSpPr>
          <p:nvPr>
            <p:ph type="title"/>
          </p:nvPr>
        </p:nvSpPr>
        <p:spPr>
          <a:xfrm>
            <a:off x="695400" y="376801"/>
            <a:ext cx="9505056" cy="518746"/>
          </a:xfrm>
        </p:spPr>
        <p:txBody>
          <a:bodyPr/>
          <a:lstStyle/>
          <a:p>
            <a:r>
              <a:rPr lang="en-US" dirty="0">
                <a:solidFill>
                  <a:srgbClr val="344251"/>
                </a:solidFill>
              </a:rPr>
              <a:t>FY25 Sales Forecast &amp; Initiative Update</a:t>
            </a:r>
          </a:p>
        </p:txBody>
      </p:sp>
      <p:graphicFrame>
        <p:nvGraphicFramePr>
          <p:cNvPr id="7" name="Table 6">
            <a:extLst>
              <a:ext uri="{FF2B5EF4-FFF2-40B4-BE49-F238E27FC236}">
                <a16:creationId xmlns:a16="http://schemas.microsoft.com/office/drawing/2014/main" id="{A2B41556-769B-E9AA-F59B-8E3CD1946ABE}"/>
              </a:ext>
            </a:extLst>
          </p:cNvPr>
          <p:cNvGraphicFramePr>
            <a:graphicFrameLocks noGrp="1"/>
          </p:cNvGraphicFramePr>
          <p:nvPr/>
        </p:nvGraphicFramePr>
        <p:xfrm>
          <a:off x="5447928" y="1197642"/>
          <a:ext cx="6565698" cy="3364646"/>
        </p:xfrm>
        <a:graphic>
          <a:graphicData uri="http://schemas.openxmlformats.org/drawingml/2006/table">
            <a:tbl>
              <a:tblPr firstRow="1" bandRow="1">
                <a:tableStyleId>{5C22544A-7EE6-4342-B048-85BDC9FD1C3A}</a:tableStyleId>
              </a:tblPr>
              <a:tblGrid>
                <a:gridCol w="448635">
                  <a:extLst>
                    <a:ext uri="{9D8B030D-6E8A-4147-A177-3AD203B41FA5}">
                      <a16:colId xmlns:a16="http://schemas.microsoft.com/office/drawing/2014/main" val="491847254"/>
                    </a:ext>
                  </a:extLst>
                </a:gridCol>
                <a:gridCol w="1185173">
                  <a:extLst>
                    <a:ext uri="{9D8B030D-6E8A-4147-A177-3AD203B41FA5}">
                      <a16:colId xmlns:a16="http://schemas.microsoft.com/office/drawing/2014/main" val="3621296876"/>
                    </a:ext>
                  </a:extLst>
                </a:gridCol>
                <a:gridCol w="1634247">
                  <a:extLst>
                    <a:ext uri="{9D8B030D-6E8A-4147-A177-3AD203B41FA5}">
                      <a16:colId xmlns:a16="http://schemas.microsoft.com/office/drawing/2014/main" val="1502130772"/>
                    </a:ext>
                  </a:extLst>
                </a:gridCol>
                <a:gridCol w="612843">
                  <a:extLst>
                    <a:ext uri="{9D8B030D-6E8A-4147-A177-3AD203B41FA5}">
                      <a16:colId xmlns:a16="http://schemas.microsoft.com/office/drawing/2014/main" val="2063138262"/>
                    </a:ext>
                  </a:extLst>
                </a:gridCol>
                <a:gridCol w="632297">
                  <a:extLst>
                    <a:ext uri="{9D8B030D-6E8A-4147-A177-3AD203B41FA5}">
                      <a16:colId xmlns:a16="http://schemas.microsoft.com/office/drawing/2014/main" val="145356186"/>
                    </a:ext>
                  </a:extLst>
                </a:gridCol>
                <a:gridCol w="496111">
                  <a:extLst>
                    <a:ext uri="{9D8B030D-6E8A-4147-A177-3AD203B41FA5}">
                      <a16:colId xmlns:a16="http://schemas.microsoft.com/office/drawing/2014/main" val="3550115091"/>
                    </a:ext>
                  </a:extLst>
                </a:gridCol>
                <a:gridCol w="1556392">
                  <a:extLst>
                    <a:ext uri="{9D8B030D-6E8A-4147-A177-3AD203B41FA5}">
                      <a16:colId xmlns:a16="http://schemas.microsoft.com/office/drawing/2014/main" val="2688852905"/>
                    </a:ext>
                  </a:extLst>
                </a:gridCol>
              </a:tblGrid>
              <a:tr h="421058">
                <a:tc>
                  <a:txBody>
                    <a:bodyPr/>
                    <a:lstStyle/>
                    <a:p>
                      <a:pPr algn="ctr"/>
                      <a:r>
                        <a:rPr lang="en-GB" sz="1100" b="0" dirty="0">
                          <a:solidFill>
                            <a:srgbClr val="344251"/>
                          </a:solidFill>
                        </a:rPr>
                        <a:t>No:</a:t>
                      </a:r>
                    </a:p>
                  </a:txBody>
                  <a:tcPr>
                    <a:solidFill>
                      <a:srgbClr val="DDEBF8"/>
                    </a:solidFill>
                  </a:tcPr>
                </a:tc>
                <a:tc>
                  <a:txBody>
                    <a:bodyPr/>
                    <a:lstStyle/>
                    <a:p>
                      <a:pPr algn="ctr"/>
                      <a:r>
                        <a:rPr lang="en-GB" sz="1100" b="0" dirty="0">
                          <a:solidFill>
                            <a:srgbClr val="344251"/>
                          </a:solidFill>
                        </a:rPr>
                        <a:t>Action</a:t>
                      </a:r>
                    </a:p>
                  </a:txBody>
                  <a:tcPr>
                    <a:solidFill>
                      <a:srgbClr val="DDEBF8"/>
                    </a:solidFill>
                  </a:tcPr>
                </a:tc>
                <a:tc>
                  <a:txBody>
                    <a:bodyPr/>
                    <a:lstStyle/>
                    <a:p>
                      <a:pPr algn="ctr"/>
                      <a:r>
                        <a:rPr lang="en-GB" sz="1100" b="0" dirty="0">
                          <a:solidFill>
                            <a:srgbClr val="344251"/>
                          </a:solidFill>
                        </a:rPr>
                        <a:t>Details</a:t>
                      </a:r>
                    </a:p>
                  </a:txBody>
                  <a:tcPr>
                    <a:solidFill>
                      <a:srgbClr val="DDEBF8"/>
                    </a:solidFill>
                  </a:tcPr>
                </a:tc>
                <a:tc>
                  <a:txBody>
                    <a:bodyPr/>
                    <a:lstStyle/>
                    <a:p>
                      <a:pPr algn="ctr"/>
                      <a:r>
                        <a:rPr lang="en-GB" sz="1100" b="0" dirty="0">
                          <a:solidFill>
                            <a:srgbClr val="344251"/>
                          </a:solidFill>
                        </a:rPr>
                        <a:t>Target Qty</a:t>
                      </a:r>
                    </a:p>
                  </a:txBody>
                  <a:tcPr>
                    <a:solidFill>
                      <a:srgbClr val="DDEBF8"/>
                    </a:solidFill>
                  </a:tcPr>
                </a:tc>
                <a:tc>
                  <a:txBody>
                    <a:bodyPr/>
                    <a:lstStyle/>
                    <a:p>
                      <a:pPr algn="ctr"/>
                      <a:r>
                        <a:rPr lang="en-GB" sz="1100" b="0" dirty="0">
                          <a:solidFill>
                            <a:srgbClr val="344251"/>
                          </a:solidFill>
                        </a:rPr>
                        <a:t>Actual</a:t>
                      </a:r>
                    </a:p>
                    <a:p>
                      <a:pPr algn="ctr"/>
                      <a:r>
                        <a:rPr lang="en-GB" sz="1100" b="0" dirty="0">
                          <a:solidFill>
                            <a:srgbClr val="344251"/>
                          </a:solidFill>
                        </a:rPr>
                        <a:t>F/Cast</a:t>
                      </a:r>
                    </a:p>
                  </a:txBody>
                  <a:tcPr>
                    <a:solidFill>
                      <a:srgbClr val="DDEBF8"/>
                    </a:solidFill>
                  </a:tcPr>
                </a:tc>
                <a:tc>
                  <a:txBody>
                    <a:bodyPr/>
                    <a:lstStyle/>
                    <a:p>
                      <a:pPr algn="ctr"/>
                      <a:r>
                        <a:rPr lang="en-GB" sz="1100" b="0" dirty="0">
                          <a:solidFill>
                            <a:srgbClr val="344251"/>
                          </a:solidFill>
                        </a:rPr>
                        <a:t>RAG</a:t>
                      </a:r>
                    </a:p>
                  </a:txBody>
                  <a:tcPr>
                    <a:solidFill>
                      <a:srgbClr val="DDEBF8"/>
                    </a:solidFill>
                  </a:tcPr>
                </a:tc>
                <a:tc>
                  <a:txBody>
                    <a:bodyPr/>
                    <a:lstStyle/>
                    <a:p>
                      <a:pPr algn="ctr"/>
                      <a:r>
                        <a:rPr lang="en-GB" sz="1100" b="0" dirty="0">
                          <a:solidFill>
                            <a:srgbClr val="344251"/>
                          </a:solidFill>
                        </a:rPr>
                        <a:t>Status</a:t>
                      </a:r>
                    </a:p>
                  </a:txBody>
                  <a:tcPr>
                    <a:solidFill>
                      <a:srgbClr val="DDEBF8"/>
                    </a:solidFill>
                  </a:tcPr>
                </a:tc>
                <a:extLst>
                  <a:ext uri="{0D108BD9-81ED-4DB2-BD59-A6C34878D82A}">
                    <a16:rowId xmlns:a16="http://schemas.microsoft.com/office/drawing/2014/main" val="2230810559"/>
                  </a:ext>
                </a:extLst>
              </a:tr>
              <a:tr h="631586">
                <a:tc>
                  <a:txBody>
                    <a:bodyPr/>
                    <a:lstStyle/>
                    <a:p>
                      <a:pPr algn="ctr"/>
                      <a:r>
                        <a:rPr lang="en-GB" sz="1000" dirty="0">
                          <a:solidFill>
                            <a:srgbClr val="344251"/>
                          </a:solidFill>
                        </a:rPr>
                        <a:t>1</a:t>
                      </a:r>
                    </a:p>
                  </a:txBody>
                  <a:tcPr>
                    <a:solidFill>
                      <a:schemeClr val="bg1">
                        <a:lumMod val="95000"/>
                      </a:schemeClr>
                    </a:solidFill>
                  </a:tcPr>
                </a:tc>
                <a:tc>
                  <a:txBody>
                    <a:bodyPr/>
                    <a:lstStyle/>
                    <a:p>
                      <a:pPr algn="ctr"/>
                      <a:r>
                        <a:rPr lang="en-GB" sz="1000" dirty="0">
                          <a:solidFill>
                            <a:srgbClr val="344251"/>
                          </a:solidFill>
                        </a:rPr>
                        <a:t>Increase Regional Fleet Activity</a:t>
                      </a:r>
                    </a:p>
                  </a:txBody>
                  <a:tcPr>
                    <a:solidFill>
                      <a:schemeClr val="bg1">
                        <a:lumMod val="95000"/>
                      </a:schemeClr>
                    </a:solidFill>
                  </a:tcPr>
                </a:tc>
                <a:tc>
                  <a:txBody>
                    <a:bodyPr/>
                    <a:lstStyle/>
                    <a:p>
                      <a:pPr marL="171450" indent="-171450">
                        <a:buFont typeface="Arial" panose="020B0604020202020204" pitchFamily="34" charset="0"/>
                        <a:buChar char="•"/>
                      </a:pPr>
                      <a:r>
                        <a:rPr lang="en-GB" sz="900" dirty="0">
                          <a:solidFill>
                            <a:srgbClr val="344251"/>
                          </a:solidFill>
                        </a:rPr>
                        <a:t>Focus on Medium-Size Regional Fleet</a:t>
                      </a:r>
                    </a:p>
                    <a:p>
                      <a:pPr marL="171450" indent="-171450">
                        <a:buFont typeface="Arial" panose="020B0604020202020204" pitchFamily="34" charset="0"/>
                        <a:buChar char="•"/>
                      </a:pPr>
                      <a:r>
                        <a:rPr lang="en-GB" sz="900" dirty="0">
                          <a:solidFill>
                            <a:srgbClr val="344251"/>
                          </a:solidFill>
                        </a:rPr>
                        <a:t>All Industry Sectors by Dealer</a:t>
                      </a:r>
                    </a:p>
                  </a:txBody>
                  <a:tcPr>
                    <a:solidFill>
                      <a:schemeClr val="bg1">
                        <a:lumMod val="95000"/>
                      </a:schemeClr>
                    </a:solidFill>
                  </a:tcPr>
                </a:tc>
                <a:tc>
                  <a:txBody>
                    <a:bodyPr/>
                    <a:lstStyle/>
                    <a:p>
                      <a:pPr algn="ctr"/>
                      <a:r>
                        <a:rPr lang="en-GB" sz="900" dirty="0">
                          <a:solidFill>
                            <a:srgbClr val="344251"/>
                          </a:solidFill>
                        </a:rPr>
                        <a:t>20</a:t>
                      </a:r>
                    </a:p>
                  </a:txBody>
                  <a:tcPr anchor="ctr">
                    <a:solidFill>
                      <a:schemeClr val="bg1">
                        <a:lumMod val="95000"/>
                      </a:schemeClr>
                    </a:solidFill>
                  </a:tcPr>
                </a:tc>
                <a:tc>
                  <a:txBody>
                    <a:bodyPr/>
                    <a:lstStyle/>
                    <a:p>
                      <a:pPr algn="ctr"/>
                      <a:r>
                        <a:rPr lang="en-GB" sz="900" dirty="0">
                          <a:solidFill>
                            <a:srgbClr val="344251"/>
                          </a:solidFill>
                        </a:rPr>
                        <a:t>70</a:t>
                      </a:r>
                    </a:p>
                  </a:txBody>
                  <a:tcPr anchor="ctr">
                    <a:solidFill>
                      <a:schemeClr val="bg1">
                        <a:lumMod val="95000"/>
                      </a:schemeClr>
                    </a:solidFill>
                  </a:tcPr>
                </a:tc>
                <a:tc>
                  <a:txBody>
                    <a:bodyPr/>
                    <a:lstStyle/>
                    <a:p>
                      <a:endParaRPr lang="en-GB" sz="900" dirty="0">
                        <a:solidFill>
                          <a:srgbClr val="344251"/>
                        </a:solidFill>
                      </a:endParaRPr>
                    </a:p>
                  </a:txBody>
                  <a:tcPr>
                    <a:solidFill>
                      <a:srgbClr val="00B050"/>
                    </a:solidFill>
                  </a:tcPr>
                </a:tc>
                <a:tc>
                  <a:txBody>
                    <a:bodyPr/>
                    <a:lstStyle/>
                    <a:p>
                      <a:pPr marL="171450" indent="-171450">
                        <a:buFont typeface="Arial" panose="020B0604020202020204" pitchFamily="34" charset="0"/>
                        <a:buChar char="•"/>
                      </a:pPr>
                      <a:r>
                        <a:rPr lang="en-GB" sz="900" dirty="0">
                          <a:solidFill>
                            <a:srgbClr val="344251"/>
                          </a:solidFill>
                        </a:rPr>
                        <a:t>Ongoing Regular Activity</a:t>
                      </a:r>
                    </a:p>
                    <a:p>
                      <a:pPr marL="171450" indent="-171450">
                        <a:buFont typeface="Arial" panose="020B0604020202020204" pitchFamily="34" charset="0"/>
                        <a:buChar char="•"/>
                      </a:pPr>
                      <a:r>
                        <a:rPr lang="en-GB" sz="900" dirty="0">
                          <a:solidFill>
                            <a:srgbClr val="344251"/>
                          </a:solidFill>
                        </a:rPr>
                        <a:t>Target Lis by Dealer CY26</a:t>
                      </a:r>
                    </a:p>
                  </a:txBody>
                  <a:tcPr>
                    <a:solidFill>
                      <a:schemeClr val="bg1">
                        <a:lumMod val="95000"/>
                      </a:schemeClr>
                    </a:solidFill>
                  </a:tcPr>
                </a:tc>
                <a:extLst>
                  <a:ext uri="{0D108BD9-81ED-4DB2-BD59-A6C34878D82A}">
                    <a16:rowId xmlns:a16="http://schemas.microsoft.com/office/drawing/2014/main" val="408401288"/>
                  </a:ext>
                </a:extLst>
              </a:tr>
              <a:tr h="691738">
                <a:tc>
                  <a:txBody>
                    <a:bodyPr/>
                    <a:lstStyle/>
                    <a:p>
                      <a:pPr algn="ctr"/>
                      <a:r>
                        <a:rPr lang="en-GB" sz="1000" dirty="0">
                          <a:solidFill>
                            <a:srgbClr val="344251"/>
                          </a:solidFill>
                        </a:rPr>
                        <a:t>2</a:t>
                      </a:r>
                    </a:p>
                  </a:txBody>
                  <a:tcPr>
                    <a:solidFill>
                      <a:schemeClr val="bg2">
                        <a:lumMod val="20000"/>
                        <a:lumOff val="80000"/>
                      </a:schemeClr>
                    </a:solidFill>
                  </a:tcPr>
                </a:tc>
                <a:tc>
                  <a:txBody>
                    <a:bodyPr/>
                    <a:lstStyle/>
                    <a:p>
                      <a:pPr algn="ctr"/>
                      <a:r>
                        <a:rPr lang="en-GB" sz="1000" dirty="0">
                          <a:solidFill>
                            <a:srgbClr val="344251"/>
                          </a:solidFill>
                        </a:rPr>
                        <a:t>Advertised Weekly Finance Offer</a:t>
                      </a:r>
                    </a:p>
                    <a:p>
                      <a:pPr algn="ctr"/>
                      <a:r>
                        <a:rPr lang="en-GB" sz="1000" dirty="0">
                          <a:solidFill>
                            <a:srgbClr val="344251"/>
                          </a:solidFill>
                        </a:rPr>
                        <a:t>N35 Tipper </a:t>
                      </a:r>
                    </a:p>
                  </a:txBody>
                  <a:tcPr>
                    <a:solidFill>
                      <a:schemeClr val="bg2">
                        <a:lumMod val="20000"/>
                        <a:lumOff val="80000"/>
                      </a:schemeClr>
                    </a:solidFill>
                  </a:tcPr>
                </a:tc>
                <a:tc>
                  <a:txBody>
                    <a:bodyPr/>
                    <a:lstStyle/>
                    <a:p>
                      <a:pPr marL="171450" indent="-171450">
                        <a:buFont typeface="Arial" panose="020B0604020202020204" pitchFamily="34" charset="0"/>
                        <a:buChar char="•"/>
                      </a:pPr>
                      <a:r>
                        <a:rPr lang="en-GB" sz="1000" dirty="0">
                          <a:solidFill>
                            <a:srgbClr val="344251"/>
                          </a:solidFill>
                        </a:rPr>
                        <a:t>‘Headline’ Offer Price to generate New Customer Enquiries</a:t>
                      </a:r>
                    </a:p>
                  </a:txBody>
                  <a:tcPr>
                    <a:solidFill>
                      <a:schemeClr val="bg2">
                        <a:lumMod val="20000"/>
                        <a:lumOff val="80000"/>
                      </a:schemeClr>
                    </a:solidFill>
                  </a:tcPr>
                </a:tc>
                <a:tc>
                  <a:txBody>
                    <a:bodyPr/>
                    <a:lstStyle/>
                    <a:p>
                      <a:pPr algn="ctr"/>
                      <a:r>
                        <a:rPr lang="en-GB" sz="1000" dirty="0">
                          <a:solidFill>
                            <a:srgbClr val="344251"/>
                          </a:solidFill>
                        </a:rPr>
                        <a:t>50</a:t>
                      </a:r>
                    </a:p>
                  </a:txBody>
                  <a:tcPr anchor="ctr">
                    <a:solidFill>
                      <a:schemeClr val="bg2">
                        <a:lumMod val="20000"/>
                        <a:lumOff val="80000"/>
                      </a:schemeClr>
                    </a:solidFill>
                  </a:tcPr>
                </a:tc>
                <a:tc>
                  <a:txBody>
                    <a:bodyPr/>
                    <a:lstStyle/>
                    <a:p>
                      <a:pPr algn="ctr"/>
                      <a:r>
                        <a:rPr lang="en-GB" sz="1000" dirty="0">
                          <a:solidFill>
                            <a:srgbClr val="344251"/>
                          </a:solidFill>
                        </a:rPr>
                        <a:t>0</a:t>
                      </a:r>
                    </a:p>
                  </a:txBody>
                  <a:tcPr anchor="ctr">
                    <a:solidFill>
                      <a:schemeClr val="bg2">
                        <a:lumMod val="20000"/>
                        <a:lumOff val="80000"/>
                      </a:schemeClr>
                    </a:solidFill>
                  </a:tcPr>
                </a:tc>
                <a:tc>
                  <a:txBody>
                    <a:bodyPr/>
                    <a:lstStyle/>
                    <a:p>
                      <a:endParaRPr lang="en-GB" sz="1000" dirty="0">
                        <a:solidFill>
                          <a:srgbClr val="344251"/>
                        </a:solidFill>
                      </a:endParaRPr>
                    </a:p>
                  </a:txBody>
                  <a:tcPr>
                    <a:solidFill>
                      <a:srgbClr val="FFC000"/>
                    </a:solidFill>
                  </a:tcPr>
                </a:tc>
                <a:tc>
                  <a:txBody>
                    <a:bodyPr/>
                    <a:lstStyle/>
                    <a:p>
                      <a:pPr marL="171450" indent="-171450">
                        <a:buFont typeface="Arial" panose="020B0604020202020204" pitchFamily="34" charset="0"/>
                        <a:buChar char="•"/>
                      </a:pPr>
                      <a:r>
                        <a:rPr lang="en-GB" sz="1000" dirty="0">
                          <a:solidFill>
                            <a:srgbClr val="344251"/>
                          </a:solidFill>
                        </a:rPr>
                        <a:t>Delayed due to New Finance Partner Appointment</a:t>
                      </a:r>
                    </a:p>
                    <a:p>
                      <a:pPr marL="171450" indent="-171450">
                        <a:buFont typeface="Arial" panose="020B0604020202020204" pitchFamily="34" charset="0"/>
                        <a:buChar char="•"/>
                      </a:pPr>
                      <a:r>
                        <a:rPr lang="en-GB" sz="1000" dirty="0">
                          <a:solidFill>
                            <a:srgbClr val="344251"/>
                          </a:solidFill>
                        </a:rPr>
                        <a:t>R51 Derogation?</a:t>
                      </a:r>
                    </a:p>
                  </a:txBody>
                  <a:tcPr>
                    <a:solidFill>
                      <a:schemeClr val="bg2">
                        <a:lumMod val="20000"/>
                        <a:lumOff val="80000"/>
                      </a:schemeClr>
                    </a:solidFill>
                  </a:tcPr>
                </a:tc>
                <a:extLst>
                  <a:ext uri="{0D108BD9-81ED-4DB2-BD59-A6C34878D82A}">
                    <a16:rowId xmlns:a16="http://schemas.microsoft.com/office/drawing/2014/main" val="3182690986"/>
                  </a:ext>
                </a:extLst>
              </a:tr>
              <a:tr h="691738">
                <a:tc>
                  <a:txBody>
                    <a:bodyPr/>
                    <a:lstStyle/>
                    <a:p>
                      <a:pPr algn="ctr"/>
                      <a:r>
                        <a:rPr lang="en-GB" sz="1000" dirty="0">
                          <a:solidFill>
                            <a:srgbClr val="344251"/>
                          </a:solidFill>
                        </a:rPr>
                        <a:t>3</a:t>
                      </a:r>
                    </a:p>
                  </a:txBody>
                  <a:tcPr>
                    <a:solidFill>
                      <a:schemeClr val="bg1">
                        <a:lumMod val="95000"/>
                      </a:schemeClr>
                    </a:solidFill>
                  </a:tcPr>
                </a:tc>
                <a:tc>
                  <a:txBody>
                    <a:bodyPr/>
                    <a:lstStyle/>
                    <a:p>
                      <a:pPr algn="ctr"/>
                      <a:r>
                        <a:rPr lang="en-GB" sz="1000" dirty="0">
                          <a:solidFill>
                            <a:srgbClr val="344251"/>
                          </a:solidFill>
                        </a:rPr>
                        <a:t>Enhanced Dealer Demonstrator Programme</a:t>
                      </a:r>
                    </a:p>
                  </a:txBody>
                  <a:tcPr>
                    <a:solidFill>
                      <a:schemeClr val="bg1">
                        <a:lumMod val="95000"/>
                      </a:schemeClr>
                    </a:solidFill>
                  </a:tcPr>
                </a:tc>
                <a:tc>
                  <a:txBody>
                    <a:bodyPr/>
                    <a:lstStyle/>
                    <a:p>
                      <a:pPr marL="171450" indent="-171450">
                        <a:buFont typeface="Arial" panose="020B0604020202020204" pitchFamily="34" charset="0"/>
                        <a:buChar char="•"/>
                      </a:pPr>
                      <a:r>
                        <a:rPr lang="en-GB" sz="1000" dirty="0">
                          <a:solidFill>
                            <a:srgbClr val="344251"/>
                          </a:solidFill>
                        </a:rPr>
                        <a:t>Dealer Demonstrator Financial Funding Support</a:t>
                      </a:r>
                    </a:p>
                  </a:txBody>
                  <a:tcPr>
                    <a:solidFill>
                      <a:schemeClr val="bg1">
                        <a:lumMod val="95000"/>
                      </a:schemeClr>
                    </a:solidFill>
                  </a:tcPr>
                </a:tc>
                <a:tc>
                  <a:txBody>
                    <a:bodyPr/>
                    <a:lstStyle/>
                    <a:p>
                      <a:pPr algn="ctr"/>
                      <a:r>
                        <a:rPr lang="en-GB" sz="1000" dirty="0">
                          <a:solidFill>
                            <a:srgbClr val="344251"/>
                          </a:solidFill>
                        </a:rPr>
                        <a:t>25</a:t>
                      </a:r>
                    </a:p>
                  </a:txBody>
                  <a:tcPr anchor="ctr">
                    <a:solidFill>
                      <a:schemeClr val="bg1">
                        <a:lumMod val="95000"/>
                      </a:schemeClr>
                    </a:solidFill>
                  </a:tcPr>
                </a:tc>
                <a:tc>
                  <a:txBody>
                    <a:bodyPr/>
                    <a:lstStyle/>
                    <a:p>
                      <a:pPr algn="ctr"/>
                      <a:r>
                        <a:rPr lang="en-GB" sz="1000" dirty="0">
                          <a:solidFill>
                            <a:srgbClr val="344251"/>
                          </a:solidFill>
                        </a:rPr>
                        <a:t>0</a:t>
                      </a:r>
                    </a:p>
                  </a:txBody>
                  <a:tcPr anchor="ctr">
                    <a:solidFill>
                      <a:schemeClr val="bg1">
                        <a:lumMod val="95000"/>
                      </a:schemeClr>
                    </a:solidFill>
                  </a:tcPr>
                </a:tc>
                <a:tc>
                  <a:txBody>
                    <a:bodyPr/>
                    <a:lstStyle/>
                    <a:p>
                      <a:endParaRPr lang="en-GB" sz="1000" dirty="0">
                        <a:solidFill>
                          <a:srgbClr val="344251"/>
                        </a:solidFill>
                      </a:endParaRPr>
                    </a:p>
                  </a:txBody>
                  <a:tcPr>
                    <a:solidFill>
                      <a:srgbClr val="FFC000"/>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dirty="0">
                          <a:solidFill>
                            <a:srgbClr val="344251"/>
                          </a:solidFill>
                        </a:rPr>
                        <a:t>Delayed due to New Finance Partner Appointment</a:t>
                      </a:r>
                    </a:p>
                    <a:p>
                      <a:pPr marL="171450" indent="-171450">
                        <a:buFont typeface="Arial" panose="020B0604020202020204" pitchFamily="34" charset="0"/>
                        <a:buChar char="•"/>
                      </a:pPr>
                      <a:r>
                        <a:rPr lang="en-GB" sz="1000" dirty="0">
                          <a:solidFill>
                            <a:srgbClr val="344251"/>
                          </a:solidFill>
                        </a:rPr>
                        <a:t>Align to P700 SoS</a:t>
                      </a:r>
                    </a:p>
                  </a:txBody>
                  <a:tcPr>
                    <a:solidFill>
                      <a:schemeClr val="bg1">
                        <a:lumMod val="95000"/>
                      </a:schemeClr>
                    </a:solidFill>
                  </a:tcPr>
                </a:tc>
                <a:extLst>
                  <a:ext uri="{0D108BD9-81ED-4DB2-BD59-A6C34878D82A}">
                    <a16:rowId xmlns:a16="http://schemas.microsoft.com/office/drawing/2014/main" val="1047981564"/>
                  </a:ext>
                </a:extLst>
              </a:tr>
              <a:tr h="447883">
                <a:tc>
                  <a:txBody>
                    <a:bodyPr/>
                    <a:lstStyle/>
                    <a:p>
                      <a:pPr algn="ctr"/>
                      <a:r>
                        <a:rPr lang="en-GB" sz="1000" dirty="0">
                          <a:solidFill>
                            <a:srgbClr val="344251"/>
                          </a:solidFill>
                        </a:rPr>
                        <a:t>4</a:t>
                      </a:r>
                    </a:p>
                  </a:txBody>
                  <a:tcPr>
                    <a:solidFill>
                      <a:schemeClr val="bg2">
                        <a:lumMod val="20000"/>
                        <a:lumOff val="80000"/>
                      </a:schemeClr>
                    </a:solidFill>
                  </a:tcPr>
                </a:tc>
                <a:tc>
                  <a:txBody>
                    <a:bodyPr/>
                    <a:lstStyle/>
                    <a:p>
                      <a:pPr algn="ctr"/>
                      <a:r>
                        <a:rPr lang="en-GB" sz="1000" dirty="0">
                          <a:solidFill>
                            <a:srgbClr val="344251"/>
                          </a:solidFill>
                        </a:rPr>
                        <a:t>Retail R&amp;M Headline Offer</a:t>
                      </a:r>
                    </a:p>
                  </a:txBody>
                  <a:tcPr>
                    <a:solidFill>
                      <a:schemeClr val="bg2">
                        <a:lumMod val="20000"/>
                        <a:lumOff val="80000"/>
                      </a:schemeClr>
                    </a:solidFill>
                  </a:tcPr>
                </a:tc>
                <a:tc>
                  <a:txBody>
                    <a:bodyPr/>
                    <a:lstStyle/>
                    <a:p>
                      <a:pPr marL="171450" indent="-171450">
                        <a:buFont typeface="Arial" panose="020B0604020202020204" pitchFamily="34" charset="0"/>
                        <a:buChar char="•"/>
                      </a:pPr>
                      <a:r>
                        <a:rPr lang="en-GB" sz="1000" dirty="0">
                          <a:solidFill>
                            <a:srgbClr val="344251"/>
                          </a:solidFill>
                        </a:rPr>
                        <a:t>Retail Sales Team R&amp;M Pricing Matrix</a:t>
                      </a:r>
                    </a:p>
                  </a:txBody>
                  <a:tcPr>
                    <a:solidFill>
                      <a:schemeClr val="bg2">
                        <a:lumMod val="20000"/>
                        <a:lumOff val="80000"/>
                      </a:schemeClr>
                    </a:solidFill>
                  </a:tcPr>
                </a:tc>
                <a:tc>
                  <a:txBody>
                    <a:bodyPr/>
                    <a:lstStyle/>
                    <a:p>
                      <a:pPr algn="ctr"/>
                      <a:r>
                        <a:rPr lang="en-GB" sz="1000" dirty="0">
                          <a:solidFill>
                            <a:srgbClr val="344251"/>
                          </a:solidFill>
                        </a:rPr>
                        <a:t>20</a:t>
                      </a:r>
                    </a:p>
                  </a:txBody>
                  <a:tcPr anchor="ctr">
                    <a:solidFill>
                      <a:schemeClr val="bg2">
                        <a:lumMod val="20000"/>
                        <a:lumOff val="80000"/>
                      </a:schemeClr>
                    </a:solidFill>
                  </a:tcPr>
                </a:tc>
                <a:tc>
                  <a:txBody>
                    <a:bodyPr/>
                    <a:lstStyle/>
                    <a:p>
                      <a:pPr algn="ctr"/>
                      <a:r>
                        <a:rPr lang="en-GB" sz="1000" dirty="0">
                          <a:solidFill>
                            <a:srgbClr val="344251"/>
                          </a:solidFill>
                        </a:rPr>
                        <a:t>0</a:t>
                      </a:r>
                    </a:p>
                  </a:txBody>
                  <a:tcPr anchor="ctr">
                    <a:solidFill>
                      <a:schemeClr val="bg2">
                        <a:lumMod val="20000"/>
                        <a:lumOff val="80000"/>
                      </a:schemeClr>
                    </a:solidFill>
                  </a:tcPr>
                </a:tc>
                <a:tc>
                  <a:txBody>
                    <a:bodyPr/>
                    <a:lstStyle/>
                    <a:p>
                      <a:endParaRPr lang="en-GB" sz="1000" dirty="0">
                        <a:solidFill>
                          <a:srgbClr val="344251"/>
                        </a:solidFill>
                      </a:endParaRPr>
                    </a:p>
                  </a:txBody>
                  <a:tcPr>
                    <a:solidFill>
                      <a:srgbClr val="C00000"/>
                    </a:solidFill>
                  </a:tcPr>
                </a:tc>
                <a:tc>
                  <a:txBody>
                    <a:bodyPr/>
                    <a:lstStyle/>
                    <a:p>
                      <a:pPr marL="171450" indent="-171450">
                        <a:buFont typeface="Arial" panose="020B0604020202020204" pitchFamily="34" charset="0"/>
                        <a:buChar char="•"/>
                      </a:pPr>
                      <a:r>
                        <a:rPr lang="en-GB" sz="1000" dirty="0">
                          <a:solidFill>
                            <a:srgbClr val="344251"/>
                          </a:solidFill>
                        </a:rPr>
                        <a:t>Cancelled due to sensitivity of Data</a:t>
                      </a:r>
                    </a:p>
                  </a:txBody>
                  <a:tcPr>
                    <a:solidFill>
                      <a:schemeClr val="bg2">
                        <a:lumMod val="20000"/>
                        <a:lumOff val="80000"/>
                      </a:schemeClr>
                    </a:solidFill>
                  </a:tcPr>
                </a:tc>
                <a:extLst>
                  <a:ext uri="{0D108BD9-81ED-4DB2-BD59-A6C34878D82A}">
                    <a16:rowId xmlns:a16="http://schemas.microsoft.com/office/drawing/2014/main" val="1904824637"/>
                  </a:ext>
                </a:extLst>
              </a:tr>
              <a:tr h="447883">
                <a:tc>
                  <a:txBody>
                    <a:bodyPr/>
                    <a:lstStyle/>
                    <a:p>
                      <a:pPr algn="ctr"/>
                      <a:r>
                        <a:rPr lang="en-GB" sz="1000" dirty="0">
                          <a:solidFill>
                            <a:srgbClr val="344251"/>
                          </a:solidFill>
                        </a:rPr>
                        <a:t>5</a:t>
                      </a:r>
                    </a:p>
                  </a:txBody>
                  <a:tcPr>
                    <a:solidFill>
                      <a:schemeClr val="bg1">
                        <a:lumMod val="95000"/>
                      </a:schemeClr>
                    </a:solidFill>
                  </a:tcPr>
                </a:tc>
                <a:tc>
                  <a:txBody>
                    <a:bodyPr/>
                    <a:lstStyle/>
                    <a:p>
                      <a:pPr algn="ctr"/>
                      <a:r>
                        <a:rPr lang="en-GB" sz="1000" dirty="0">
                          <a:solidFill>
                            <a:srgbClr val="344251"/>
                          </a:solidFill>
                        </a:rPr>
                        <a:t>Increased Annual Dealer Bonus</a:t>
                      </a:r>
                    </a:p>
                  </a:txBody>
                  <a:tcPr>
                    <a:solidFill>
                      <a:schemeClr val="bg1">
                        <a:lumMod val="95000"/>
                      </a:schemeClr>
                    </a:solidFill>
                  </a:tcPr>
                </a:tc>
                <a:tc>
                  <a:txBody>
                    <a:bodyPr/>
                    <a:lstStyle/>
                    <a:p>
                      <a:pPr marL="171450" indent="-171450">
                        <a:buFont typeface="Arial" panose="020B0604020202020204" pitchFamily="34" charset="0"/>
                        <a:buChar char="•"/>
                      </a:pPr>
                      <a:r>
                        <a:rPr lang="en-GB" sz="1000" dirty="0">
                          <a:solidFill>
                            <a:srgbClr val="344251"/>
                          </a:solidFill>
                        </a:rPr>
                        <a:t>Dealer Bonus for ‘Stretch’ Target</a:t>
                      </a:r>
                    </a:p>
                  </a:txBody>
                  <a:tcPr>
                    <a:solidFill>
                      <a:schemeClr val="bg1">
                        <a:lumMod val="95000"/>
                      </a:schemeClr>
                    </a:solidFill>
                  </a:tcPr>
                </a:tc>
                <a:tc>
                  <a:txBody>
                    <a:bodyPr/>
                    <a:lstStyle/>
                    <a:p>
                      <a:pPr algn="ctr"/>
                      <a:r>
                        <a:rPr lang="en-GB" sz="1000" dirty="0">
                          <a:solidFill>
                            <a:srgbClr val="344251"/>
                          </a:solidFill>
                        </a:rPr>
                        <a:t>100</a:t>
                      </a:r>
                    </a:p>
                  </a:txBody>
                  <a:tcPr anchor="ctr">
                    <a:solidFill>
                      <a:schemeClr val="bg1">
                        <a:lumMod val="95000"/>
                      </a:schemeClr>
                    </a:solidFill>
                  </a:tcPr>
                </a:tc>
                <a:tc>
                  <a:txBody>
                    <a:bodyPr/>
                    <a:lstStyle/>
                    <a:p>
                      <a:pPr algn="ctr"/>
                      <a:r>
                        <a:rPr lang="en-GB" sz="1000" dirty="0">
                          <a:solidFill>
                            <a:srgbClr val="344251"/>
                          </a:solidFill>
                        </a:rPr>
                        <a:t>60</a:t>
                      </a:r>
                    </a:p>
                  </a:txBody>
                  <a:tcPr anchor="ctr">
                    <a:solidFill>
                      <a:schemeClr val="bg1">
                        <a:lumMod val="95000"/>
                      </a:schemeClr>
                    </a:solidFill>
                  </a:tcPr>
                </a:tc>
                <a:tc>
                  <a:txBody>
                    <a:bodyPr/>
                    <a:lstStyle/>
                    <a:p>
                      <a:endParaRPr lang="en-GB" sz="1000" dirty="0">
                        <a:solidFill>
                          <a:srgbClr val="344251"/>
                        </a:solidFill>
                      </a:endParaRPr>
                    </a:p>
                  </a:txBody>
                  <a:tcPr>
                    <a:solidFill>
                      <a:srgbClr val="00B050"/>
                    </a:solidFill>
                  </a:tcPr>
                </a:tc>
                <a:tc>
                  <a:txBody>
                    <a:bodyPr/>
                    <a:lstStyle/>
                    <a:p>
                      <a:pPr marL="171450" indent="-171450">
                        <a:buFont typeface="Arial" panose="020B0604020202020204" pitchFamily="34" charset="0"/>
                        <a:buChar char="•"/>
                      </a:pPr>
                      <a:r>
                        <a:rPr lang="en-GB" sz="1000" dirty="0">
                          <a:solidFill>
                            <a:srgbClr val="344251"/>
                          </a:solidFill>
                        </a:rPr>
                        <a:t>8 x Dealers &gt;90%</a:t>
                      </a:r>
                    </a:p>
                    <a:p>
                      <a:pPr marL="171450" indent="-171450">
                        <a:buFont typeface="Arial" panose="020B0604020202020204" pitchFamily="34" charset="0"/>
                        <a:buChar char="•"/>
                      </a:pPr>
                      <a:r>
                        <a:rPr lang="en-GB" sz="1000" dirty="0">
                          <a:solidFill>
                            <a:srgbClr val="344251"/>
                          </a:solidFill>
                        </a:rPr>
                        <a:t>Market Conditions</a:t>
                      </a:r>
                    </a:p>
                  </a:txBody>
                  <a:tcPr>
                    <a:solidFill>
                      <a:schemeClr val="bg1">
                        <a:lumMod val="95000"/>
                      </a:schemeClr>
                    </a:solidFill>
                  </a:tcPr>
                </a:tc>
                <a:extLst>
                  <a:ext uri="{0D108BD9-81ED-4DB2-BD59-A6C34878D82A}">
                    <a16:rowId xmlns:a16="http://schemas.microsoft.com/office/drawing/2014/main" val="2379285956"/>
                  </a:ext>
                </a:extLst>
              </a:tr>
            </a:tbl>
          </a:graphicData>
        </a:graphic>
      </p:graphicFrame>
      <p:sp>
        <p:nvSpPr>
          <p:cNvPr id="10" name="TextBox 9">
            <a:extLst>
              <a:ext uri="{FF2B5EF4-FFF2-40B4-BE49-F238E27FC236}">
                <a16:creationId xmlns:a16="http://schemas.microsoft.com/office/drawing/2014/main" id="{34916F52-DC0B-8CD7-B10E-952E99B23F00}"/>
              </a:ext>
            </a:extLst>
          </p:cNvPr>
          <p:cNvSpPr txBox="1"/>
          <p:nvPr/>
        </p:nvSpPr>
        <p:spPr>
          <a:xfrm>
            <a:off x="5447928" y="935222"/>
            <a:ext cx="6565698" cy="262420"/>
          </a:xfrm>
          <a:prstGeom prst="rect">
            <a:avLst/>
          </a:prstGeom>
          <a:solidFill>
            <a:srgbClr val="DDEBF8"/>
          </a:solidFill>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GB" sz="1200" b="1" i="0" u="none" strike="noStrike" kern="1200" cap="none" spc="0" normalizeH="0" baseline="0" noProof="0" dirty="0">
                <a:ln>
                  <a:noFill/>
                </a:ln>
                <a:solidFill>
                  <a:srgbClr val="344251"/>
                </a:solidFill>
                <a:effectLst/>
                <a:uLnTx/>
                <a:uFillTx/>
                <a:latin typeface="Arial"/>
                <a:ea typeface="メイリオ"/>
                <a:cs typeface="+mn-cs"/>
              </a:rPr>
              <a:t>*KOSHA Plan</a:t>
            </a:r>
          </a:p>
        </p:txBody>
      </p:sp>
      <p:sp>
        <p:nvSpPr>
          <p:cNvPr id="11" name="TextBox 10">
            <a:extLst>
              <a:ext uri="{FF2B5EF4-FFF2-40B4-BE49-F238E27FC236}">
                <a16:creationId xmlns:a16="http://schemas.microsoft.com/office/drawing/2014/main" id="{DC2E2F10-1D72-40C7-774A-47665009A3EE}"/>
              </a:ext>
            </a:extLst>
          </p:cNvPr>
          <p:cNvSpPr txBox="1"/>
          <p:nvPr/>
        </p:nvSpPr>
        <p:spPr>
          <a:xfrm>
            <a:off x="5447928" y="4618718"/>
            <a:ext cx="6565698" cy="258532"/>
          </a:xfrm>
          <a:prstGeom prst="rect">
            <a:avLst/>
          </a:prstGeom>
          <a:solidFill>
            <a:srgbClr val="DDEBF8"/>
          </a:solidFill>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GB" sz="1200" b="1" i="0" u="none" strike="noStrike" kern="1200" cap="none" spc="0" normalizeH="0" baseline="0" noProof="0" dirty="0">
                <a:ln>
                  <a:noFill/>
                </a:ln>
                <a:solidFill>
                  <a:srgbClr val="344251"/>
                </a:solidFill>
                <a:effectLst/>
                <a:uLnTx/>
                <a:uFillTx/>
                <a:latin typeface="Arial"/>
                <a:ea typeface="メイリオ"/>
                <a:cs typeface="+mn-cs"/>
              </a:rPr>
              <a:t>*Post KOSHA Actions – UK Market Conditions</a:t>
            </a:r>
          </a:p>
        </p:txBody>
      </p:sp>
      <p:sp>
        <p:nvSpPr>
          <p:cNvPr id="12" name="TextBox 11">
            <a:extLst>
              <a:ext uri="{FF2B5EF4-FFF2-40B4-BE49-F238E27FC236}">
                <a16:creationId xmlns:a16="http://schemas.microsoft.com/office/drawing/2014/main" id="{5938DE1C-8014-D618-D23A-EF47548AE24E}"/>
              </a:ext>
            </a:extLst>
          </p:cNvPr>
          <p:cNvSpPr txBox="1"/>
          <p:nvPr/>
        </p:nvSpPr>
        <p:spPr>
          <a:xfrm>
            <a:off x="10566622" y="6688507"/>
            <a:ext cx="1754501" cy="216982"/>
          </a:xfrm>
          <a:prstGeom prst="rect">
            <a:avLst/>
          </a:prstGeom>
          <a:noFill/>
        </p:spPr>
        <p:txBody>
          <a:bodyPr wrap="square" rtlCol="0">
            <a:spAutoFit/>
          </a:bodyPr>
          <a:lstStyle/>
          <a:p>
            <a:pPr marL="0" marR="0" lvl="0" indent="0" algn="l" defTabSz="914400" rtl="0" eaLnBrk="1" fontAlgn="auto" latinLnBrk="0" hangingPunct="1">
              <a:lnSpc>
                <a:spcPct val="90000"/>
              </a:lnSpc>
              <a:spcBef>
                <a:spcPts val="600"/>
              </a:spcBef>
              <a:spcAft>
                <a:spcPts val="0"/>
              </a:spcAft>
              <a:buClrTx/>
              <a:buSzTx/>
              <a:buFontTx/>
              <a:buNone/>
              <a:tabLst/>
              <a:defRPr/>
            </a:pPr>
            <a:r>
              <a:rPr kumimoji="0" lang="en-GB" sz="900" b="0" i="0" u="none" strike="noStrike" kern="1200" cap="none" spc="0" normalizeH="0" baseline="0" noProof="0" dirty="0">
                <a:ln>
                  <a:noFill/>
                </a:ln>
                <a:solidFill>
                  <a:srgbClr val="344251"/>
                </a:solidFill>
                <a:effectLst/>
                <a:uLnTx/>
                <a:uFillTx/>
                <a:latin typeface="Arial"/>
                <a:ea typeface="メイリオ"/>
                <a:cs typeface="+mn-cs"/>
              </a:rPr>
              <a:t>*See Detailed Appendices</a:t>
            </a:r>
          </a:p>
        </p:txBody>
      </p:sp>
      <p:graphicFrame>
        <p:nvGraphicFramePr>
          <p:cNvPr id="15" name="Table 14">
            <a:extLst>
              <a:ext uri="{FF2B5EF4-FFF2-40B4-BE49-F238E27FC236}">
                <a16:creationId xmlns:a16="http://schemas.microsoft.com/office/drawing/2014/main" id="{9904AC71-DABD-12D1-D6A4-4FF5FDAF5355}"/>
              </a:ext>
            </a:extLst>
          </p:cNvPr>
          <p:cNvGraphicFramePr>
            <a:graphicFrameLocks noGrp="1"/>
          </p:cNvGraphicFramePr>
          <p:nvPr/>
        </p:nvGraphicFramePr>
        <p:xfrm>
          <a:off x="5447928" y="4933680"/>
          <a:ext cx="6565698" cy="1789616"/>
        </p:xfrm>
        <a:graphic>
          <a:graphicData uri="http://schemas.openxmlformats.org/drawingml/2006/table">
            <a:tbl>
              <a:tblPr firstRow="1" bandRow="1">
                <a:tableStyleId>{5C22544A-7EE6-4342-B048-85BDC9FD1C3A}</a:tableStyleId>
              </a:tblPr>
              <a:tblGrid>
                <a:gridCol w="448635">
                  <a:extLst>
                    <a:ext uri="{9D8B030D-6E8A-4147-A177-3AD203B41FA5}">
                      <a16:colId xmlns:a16="http://schemas.microsoft.com/office/drawing/2014/main" val="491847254"/>
                    </a:ext>
                  </a:extLst>
                </a:gridCol>
                <a:gridCol w="1185173">
                  <a:extLst>
                    <a:ext uri="{9D8B030D-6E8A-4147-A177-3AD203B41FA5}">
                      <a16:colId xmlns:a16="http://schemas.microsoft.com/office/drawing/2014/main" val="3621296876"/>
                    </a:ext>
                  </a:extLst>
                </a:gridCol>
                <a:gridCol w="1634247">
                  <a:extLst>
                    <a:ext uri="{9D8B030D-6E8A-4147-A177-3AD203B41FA5}">
                      <a16:colId xmlns:a16="http://schemas.microsoft.com/office/drawing/2014/main" val="1502130772"/>
                    </a:ext>
                  </a:extLst>
                </a:gridCol>
                <a:gridCol w="612843">
                  <a:extLst>
                    <a:ext uri="{9D8B030D-6E8A-4147-A177-3AD203B41FA5}">
                      <a16:colId xmlns:a16="http://schemas.microsoft.com/office/drawing/2014/main" val="2063138262"/>
                    </a:ext>
                  </a:extLst>
                </a:gridCol>
                <a:gridCol w="632297">
                  <a:extLst>
                    <a:ext uri="{9D8B030D-6E8A-4147-A177-3AD203B41FA5}">
                      <a16:colId xmlns:a16="http://schemas.microsoft.com/office/drawing/2014/main" val="145356186"/>
                    </a:ext>
                  </a:extLst>
                </a:gridCol>
                <a:gridCol w="496111">
                  <a:extLst>
                    <a:ext uri="{9D8B030D-6E8A-4147-A177-3AD203B41FA5}">
                      <a16:colId xmlns:a16="http://schemas.microsoft.com/office/drawing/2014/main" val="3550115091"/>
                    </a:ext>
                  </a:extLst>
                </a:gridCol>
                <a:gridCol w="1556392">
                  <a:extLst>
                    <a:ext uri="{9D8B030D-6E8A-4147-A177-3AD203B41FA5}">
                      <a16:colId xmlns:a16="http://schemas.microsoft.com/office/drawing/2014/main" val="2688852905"/>
                    </a:ext>
                  </a:extLst>
                </a:gridCol>
              </a:tblGrid>
              <a:tr h="431976">
                <a:tc>
                  <a:txBody>
                    <a:bodyPr/>
                    <a:lstStyle/>
                    <a:p>
                      <a:pPr algn="ctr"/>
                      <a:r>
                        <a:rPr lang="en-GB" sz="1100" b="0" dirty="0">
                          <a:solidFill>
                            <a:srgbClr val="344251"/>
                          </a:solidFill>
                        </a:rPr>
                        <a:t>No:</a:t>
                      </a:r>
                    </a:p>
                  </a:txBody>
                  <a:tcPr>
                    <a:solidFill>
                      <a:srgbClr val="DDEBF8"/>
                    </a:solidFill>
                  </a:tcPr>
                </a:tc>
                <a:tc>
                  <a:txBody>
                    <a:bodyPr/>
                    <a:lstStyle/>
                    <a:p>
                      <a:pPr algn="ctr"/>
                      <a:r>
                        <a:rPr lang="en-GB" sz="1100" b="0" dirty="0">
                          <a:solidFill>
                            <a:srgbClr val="344251"/>
                          </a:solidFill>
                        </a:rPr>
                        <a:t>Action</a:t>
                      </a:r>
                    </a:p>
                  </a:txBody>
                  <a:tcPr>
                    <a:solidFill>
                      <a:srgbClr val="DDEBF8"/>
                    </a:solidFill>
                  </a:tcPr>
                </a:tc>
                <a:tc>
                  <a:txBody>
                    <a:bodyPr/>
                    <a:lstStyle/>
                    <a:p>
                      <a:pPr algn="ctr"/>
                      <a:r>
                        <a:rPr lang="en-GB" sz="1100" b="0" dirty="0">
                          <a:solidFill>
                            <a:srgbClr val="344251"/>
                          </a:solidFill>
                        </a:rPr>
                        <a:t>Details</a:t>
                      </a:r>
                    </a:p>
                  </a:txBody>
                  <a:tcPr>
                    <a:solidFill>
                      <a:srgbClr val="DDEBF8"/>
                    </a:solidFill>
                  </a:tcPr>
                </a:tc>
                <a:tc>
                  <a:txBody>
                    <a:bodyPr/>
                    <a:lstStyle/>
                    <a:p>
                      <a:pPr algn="ctr"/>
                      <a:r>
                        <a:rPr lang="en-GB" sz="1100" b="0" dirty="0">
                          <a:solidFill>
                            <a:srgbClr val="344251"/>
                          </a:solidFill>
                        </a:rPr>
                        <a:t>Target Qty</a:t>
                      </a:r>
                    </a:p>
                  </a:txBody>
                  <a:tcPr>
                    <a:solidFill>
                      <a:srgbClr val="DDEBF8"/>
                    </a:solidFill>
                  </a:tcPr>
                </a:tc>
                <a:tc>
                  <a:txBody>
                    <a:bodyPr/>
                    <a:lstStyle/>
                    <a:p>
                      <a:pPr algn="ctr"/>
                      <a:r>
                        <a:rPr lang="en-GB" sz="1100" b="0" dirty="0">
                          <a:solidFill>
                            <a:srgbClr val="344251"/>
                          </a:solidFill>
                        </a:rPr>
                        <a:t>Actual</a:t>
                      </a:r>
                    </a:p>
                    <a:p>
                      <a:pPr algn="ctr"/>
                      <a:r>
                        <a:rPr lang="en-GB" sz="1100" b="0" dirty="0">
                          <a:solidFill>
                            <a:srgbClr val="344251"/>
                          </a:solidFill>
                        </a:rPr>
                        <a:t>F/Cast</a:t>
                      </a:r>
                    </a:p>
                  </a:txBody>
                  <a:tcPr>
                    <a:solidFill>
                      <a:srgbClr val="DDEBF8"/>
                    </a:solidFill>
                  </a:tcPr>
                </a:tc>
                <a:tc>
                  <a:txBody>
                    <a:bodyPr/>
                    <a:lstStyle/>
                    <a:p>
                      <a:pPr algn="ctr"/>
                      <a:r>
                        <a:rPr lang="en-GB" sz="1100" b="0" dirty="0">
                          <a:solidFill>
                            <a:srgbClr val="344251"/>
                          </a:solidFill>
                        </a:rPr>
                        <a:t>RAG</a:t>
                      </a:r>
                    </a:p>
                  </a:txBody>
                  <a:tcPr>
                    <a:solidFill>
                      <a:srgbClr val="DDEBF8"/>
                    </a:solidFill>
                  </a:tcPr>
                </a:tc>
                <a:tc>
                  <a:txBody>
                    <a:bodyPr/>
                    <a:lstStyle/>
                    <a:p>
                      <a:pPr algn="ctr"/>
                      <a:r>
                        <a:rPr lang="en-GB" sz="1100" b="0" dirty="0">
                          <a:solidFill>
                            <a:srgbClr val="344251"/>
                          </a:solidFill>
                        </a:rPr>
                        <a:t>Status</a:t>
                      </a:r>
                    </a:p>
                  </a:txBody>
                  <a:tcPr>
                    <a:solidFill>
                      <a:srgbClr val="DDEBF8"/>
                    </a:solidFill>
                  </a:tcPr>
                </a:tc>
                <a:extLst>
                  <a:ext uri="{0D108BD9-81ED-4DB2-BD59-A6C34878D82A}">
                    <a16:rowId xmlns:a16="http://schemas.microsoft.com/office/drawing/2014/main" val="2230810559"/>
                  </a:ext>
                </a:extLst>
              </a:tr>
              <a:tr h="647965">
                <a:tc>
                  <a:txBody>
                    <a:bodyPr/>
                    <a:lstStyle/>
                    <a:p>
                      <a:pPr algn="ctr"/>
                      <a:r>
                        <a:rPr lang="en-GB" sz="1000" dirty="0">
                          <a:solidFill>
                            <a:srgbClr val="344251"/>
                          </a:solidFill>
                        </a:rPr>
                        <a:t>1</a:t>
                      </a:r>
                    </a:p>
                  </a:txBody>
                  <a:tcPr>
                    <a:solidFill>
                      <a:schemeClr val="bg1">
                        <a:lumMod val="95000"/>
                      </a:schemeClr>
                    </a:solidFill>
                  </a:tcPr>
                </a:tc>
                <a:tc>
                  <a:txBody>
                    <a:bodyPr/>
                    <a:lstStyle/>
                    <a:p>
                      <a:pPr algn="ctr"/>
                      <a:r>
                        <a:rPr lang="en-GB" sz="1000" dirty="0">
                          <a:solidFill>
                            <a:srgbClr val="344251"/>
                          </a:solidFill>
                        </a:rPr>
                        <a:t>Customer Cashback</a:t>
                      </a:r>
                    </a:p>
                    <a:p>
                      <a:pPr algn="ctr"/>
                      <a:r>
                        <a:rPr lang="en-GB" sz="1000" dirty="0">
                          <a:solidFill>
                            <a:srgbClr val="344251"/>
                          </a:solidFill>
                        </a:rPr>
                        <a:t>£1,000</a:t>
                      </a:r>
                    </a:p>
                  </a:txBody>
                  <a:tcPr>
                    <a:solidFill>
                      <a:schemeClr val="bg1">
                        <a:lumMod val="95000"/>
                      </a:schemeClr>
                    </a:solidFill>
                  </a:tcPr>
                </a:tc>
                <a:tc>
                  <a:txBody>
                    <a:bodyPr/>
                    <a:lstStyle/>
                    <a:p>
                      <a:pPr marL="171450" indent="-171450">
                        <a:buFont typeface="Arial" panose="020B0604020202020204" pitchFamily="34" charset="0"/>
                        <a:buChar char="•"/>
                      </a:pPr>
                      <a:r>
                        <a:rPr lang="en-GB" sz="900" dirty="0">
                          <a:solidFill>
                            <a:srgbClr val="344251"/>
                          </a:solidFill>
                        </a:rPr>
                        <a:t>Direct Offer to Customers</a:t>
                      </a:r>
                    </a:p>
                    <a:p>
                      <a:pPr marL="171450" indent="-171450">
                        <a:buFont typeface="Arial" panose="020B0604020202020204" pitchFamily="34" charset="0"/>
                        <a:buChar char="•"/>
                      </a:pPr>
                      <a:r>
                        <a:rPr lang="en-GB" sz="900" dirty="0">
                          <a:solidFill>
                            <a:srgbClr val="344251"/>
                          </a:solidFill>
                        </a:rPr>
                        <a:t>New Dealer Order</a:t>
                      </a:r>
                    </a:p>
                    <a:p>
                      <a:pPr marL="171450" indent="-171450">
                        <a:buFont typeface="Arial" panose="020B0604020202020204" pitchFamily="34" charset="0"/>
                        <a:buChar char="•"/>
                      </a:pPr>
                      <a:r>
                        <a:rPr lang="en-GB" sz="900" dirty="0">
                          <a:solidFill>
                            <a:srgbClr val="344251"/>
                          </a:solidFill>
                        </a:rPr>
                        <a:t>Positive Impact on FY25</a:t>
                      </a:r>
                    </a:p>
                  </a:txBody>
                  <a:tcPr>
                    <a:solidFill>
                      <a:schemeClr val="bg1">
                        <a:lumMod val="95000"/>
                      </a:schemeClr>
                    </a:solidFill>
                  </a:tcPr>
                </a:tc>
                <a:tc>
                  <a:txBody>
                    <a:bodyPr/>
                    <a:lstStyle/>
                    <a:p>
                      <a:pPr algn="ctr"/>
                      <a:r>
                        <a:rPr lang="en-GB" sz="1000" dirty="0">
                          <a:solidFill>
                            <a:srgbClr val="344251"/>
                          </a:solidFill>
                        </a:rPr>
                        <a:t>200</a:t>
                      </a:r>
                    </a:p>
                  </a:txBody>
                  <a:tcPr anchor="ctr">
                    <a:solidFill>
                      <a:schemeClr val="bg1">
                        <a:lumMod val="95000"/>
                      </a:schemeClr>
                    </a:solidFill>
                  </a:tcPr>
                </a:tc>
                <a:tc>
                  <a:txBody>
                    <a:bodyPr/>
                    <a:lstStyle/>
                    <a:p>
                      <a:pPr algn="ctr"/>
                      <a:r>
                        <a:rPr lang="en-GB" sz="1000" dirty="0">
                          <a:solidFill>
                            <a:srgbClr val="344251"/>
                          </a:solidFill>
                        </a:rPr>
                        <a:t>233</a:t>
                      </a:r>
                    </a:p>
                  </a:txBody>
                  <a:tcPr anchor="ctr">
                    <a:solidFill>
                      <a:schemeClr val="bg1">
                        <a:lumMod val="95000"/>
                      </a:schemeClr>
                    </a:solidFill>
                  </a:tcPr>
                </a:tc>
                <a:tc>
                  <a:txBody>
                    <a:bodyPr/>
                    <a:lstStyle/>
                    <a:p>
                      <a:endParaRPr lang="en-GB" sz="900" dirty="0">
                        <a:solidFill>
                          <a:srgbClr val="344251"/>
                        </a:solidFill>
                      </a:endParaRPr>
                    </a:p>
                  </a:txBody>
                  <a:tcPr>
                    <a:solidFill>
                      <a:srgbClr val="00B050"/>
                    </a:solidFill>
                  </a:tcPr>
                </a:tc>
                <a:tc>
                  <a:txBody>
                    <a:bodyPr/>
                    <a:lstStyle/>
                    <a:p>
                      <a:pPr marL="171450" indent="-171450">
                        <a:buFont typeface="Arial" panose="020B0604020202020204" pitchFamily="34" charset="0"/>
                        <a:buChar char="•"/>
                      </a:pPr>
                      <a:r>
                        <a:rPr lang="en-GB" sz="900" dirty="0">
                          <a:solidFill>
                            <a:srgbClr val="344251"/>
                          </a:solidFill>
                        </a:rPr>
                        <a:t>Positive Result         233 x Customer Sales 233 x Dealer Orders</a:t>
                      </a:r>
                    </a:p>
                    <a:p>
                      <a:pPr marL="171450" indent="-171450">
                        <a:buFont typeface="Arial" panose="020B0604020202020204" pitchFamily="34" charset="0"/>
                        <a:buChar char="•"/>
                      </a:pPr>
                      <a:endParaRPr lang="en-GB" sz="900" dirty="0">
                        <a:solidFill>
                          <a:srgbClr val="344251"/>
                        </a:solidFill>
                      </a:endParaRPr>
                    </a:p>
                  </a:txBody>
                  <a:tcPr>
                    <a:solidFill>
                      <a:schemeClr val="bg1">
                        <a:lumMod val="95000"/>
                      </a:schemeClr>
                    </a:solidFill>
                  </a:tcPr>
                </a:tc>
                <a:extLst>
                  <a:ext uri="{0D108BD9-81ED-4DB2-BD59-A6C34878D82A}">
                    <a16:rowId xmlns:a16="http://schemas.microsoft.com/office/drawing/2014/main" val="408401288"/>
                  </a:ext>
                </a:extLst>
              </a:tr>
              <a:tr h="709675">
                <a:tc>
                  <a:txBody>
                    <a:bodyPr/>
                    <a:lstStyle/>
                    <a:p>
                      <a:pPr algn="ctr"/>
                      <a:r>
                        <a:rPr lang="en-GB" sz="1000" dirty="0">
                          <a:solidFill>
                            <a:srgbClr val="344251"/>
                          </a:solidFill>
                        </a:rPr>
                        <a:t>2</a:t>
                      </a:r>
                    </a:p>
                  </a:txBody>
                  <a:tcPr>
                    <a:solidFill>
                      <a:schemeClr val="bg2">
                        <a:lumMod val="20000"/>
                        <a:lumOff val="80000"/>
                      </a:schemeClr>
                    </a:solidFill>
                  </a:tcPr>
                </a:tc>
                <a:tc>
                  <a:txBody>
                    <a:bodyPr/>
                    <a:lstStyle/>
                    <a:p>
                      <a:pPr algn="ctr"/>
                      <a:r>
                        <a:rPr lang="en-GB" sz="1000" dirty="0">
                          <a:solidFill>
                            <a:srgbClr val="344251"/>
                          </a:solidFill>
                        </a:rPr>
                        <a:t>N35 Dealer Inbound Order Incentive</a:t>
                      </a:r>
                    </a:p>
                    <a:p>
                      <a:pPr algn="ctr"/>
                      <a:r>
                        <a:rPr lang="en-GB" sz="1000" dirty="0">
                          <a:solidFill>
                            <a:srgbClr val="344251"/>
                          </a:solidFill>
                        </a:rPr>
                        <a:t>£1,000</a:t>
                      </a:r>
                    </a:p>
                  </a:txBody>
                  <a:tcPr>
                    <a:solidFill>
                      <a:schemeClr val="bg2">
                        <a:lumMod val="20000"/>
                        <a:lumOff val="80000"/>
                      </a:schemeClr>
                    </a:solidFill>
                  </a:tcPr>
                </a:tc>
                <a:tc>
                  <a:txBody>
                    <a:bodyPr/>
                    <a:lstStyle/>
                    <a:p>
                      <a:pPr marL="171450" indent="-171450">
                        <a:buFont typeface="Arial" panose="020B0604020202020204" pitchFamily="34" charset="0"/>
                        <a:buChar char="•"/>
                      </a:pPr>
                      <a:r>
                        <a:rPr lang="en-GB" sz="1000" dirty="0">
                          <a:solidFill>
                            <a:srgbClr val="344251"/>
                          </a:solidFill>
                        </a:rPr>
                        <a:t>‘Headline’ Offer Price to generate New Customer Enquiries</a:t>
                      </a:r>
                    </a:p>
                  </a:txBody>
                  <a:tcPr>
                    <a:solidFill>
                      <a:schemeClr val="bg2">
                        <a:lumMod val="20000"/>
                        <a:lumOff val="80000"/>
                      </a:schemeClr>
                    </a:solidFill>
                  </a:tcPr>
                </a:tc>
                <a:tc>
                  <a:txBody>
                    <a:bodyPr/>
                    <a:lstStyle/>
                    <a:p>
                      <a:pPr algn="ctr"/>
                      <a:r>
                        <a:rPr lang="en-GB" sz="1000" dirty="0">
                          <a:solidFill>
                            <a:srgbClr val="344251"/>
                          </a:solidFill>
                        </a:rPr>
                        <a:t>236</a:t>
                      </a:r>
                    </a:p>
                  </a:txBody>
                  <a:tcPr anchor="ctr">
                    <a:solidFill>
                      <a:schemeClr val="bg2">
                        <a:lumMod val="20000"/>
                        <a:lumOff val="80000"/>
                      </a:schemeClr>
                    </a:solidFill>
                  </a:tcPr>
                </a:tc>
                <a:tc>
                  <a:txBody>
                    <a:bodyPr/>
                    <a:lstStyle/>
                    <a:p>
                      <a:pPr algn="ctr"/>
                      <a:r>
                        <a:rPr lang="en-GB" sz="1000" dirty="0">
                          <a:solidFill>
                            <a:srgbClr val="344251"/>
                          </a:solidFill>
                        </a:rPr>
                        <a:t>203</a:t>
                      </a:r>
                    </a:p>
                  </a:txBody>
                  <a:tcPr anchor="ctr">
                    <a:solidFill>
                      <a:schemeClr val="bg2">
                        <a:lumMod val="20000"/>
                        <a:lumOff val="80000"/>
                      </a:schemeClr>
                    </a:solidFill>
                  </a:tcPr>
                </a:tc>
                <a:tc>
                  <a:txBody>
                    <a:bodyPr/>
                    <a:lstStyle/>
                    <a:p>
                      <a:endParaRPr lang="en-GB" sz="1000" dirty="0">
                        <a:solidFill>
                          <a:srgbClr val="344251"/>
                        </a:solidFill>
                      </a:endParaRPr>
                    </a:p>
                  </a:txBody>
                  <a:tcPr>
                    <a:solidFill>
                      <a:srgbClr val="00B050"/>
                    </a:solidFill>
                  </a:tcPr>
                </a:tc>
                <a:tc>
                  <a:txBody>
                    <a:bodyPr/>
                    <a:lstStyle/>
                    <a:p>
                      <a:pPr marL="171450" indent="-171450">
                        <a:buFont typeface="Arial" panose="020B0604020202020204" pitchFamily="34" charset="0"/>
                        <a:buChar char="•"/>
                      </a:pPr>
                      <a:r>
                        <a:rPr lang="en-GB" sz="1000" dirty="0">
                          <a:solidFill>
                            <a:srgbClr val="344251"/>
                          </a:solidFill>
                        </a:rPr>
                        <a:t>78 x Dealer Orders in Dec 2025</a:t>
                      </a:r>
                    </a:p>
                    <a:p>
                      <a:pPr marL="171450" indent="-171450">
                        <a:buFont typeface="Arial" panose="020B0604020202020204" pitchFamily="34" charset="0"/>
                        <a:buChar char="•"/>
                      </a:pPr>
                      <a:r>
                        <a:rPr lang="en-GB" sz="1000" dirty="0">
                          <a:solidFill>
                            <a:srgbClr val="344251"/>
                          </a:solidFill>
                        </a:rPr>
                        <a:t>125 x Dealer Orders Forecast in Jan 2026</a:t>
                      </a:r>
                    </a:p>
                  </a:txBody>
                  <a:tcPr>
                    <a:solidFill>
                      <a:schemeClr val="bg2">
                        <a:lumMod val="20000"/>
                        <a:lumOff val="80000"/>
                      </a:schemeClr>
                    </a:solidFill>
                  </a:tcPr>
                </a:tc>
                <a:extLst>
                  <a:ext uri="{0D108BD9-81ED-4DB2-BD59-A6C34878D82A}">
                    <a16:rowId xmlns:a16="http://schemas.microsoft.com/office/drawing/2014/main" val="3182690986"/>
                  </a:ext>
                </a:extLst>
              </a:tr>
            </a:tbl>
          </a:graphicData>
        </a:graphic>
      </p:graphicFrame>
      <p:graphicFrame>
        <p:nvGraphicFramePr>
          <p:cNvPr id="16" name="Chart 15">
            <a:extLst>
              <a:ext uri="{FF2B5EF4-FFF2-40B4-BE49-F238E27FC236}">
                <a16:creationId xmlns:a16="http://schemas.microsoft.com/office/drawing/2014/main" id="{8F4B1B37-DF1F-AC78-E62C-1F7363308310}"/>
              </a:ext>
            </a:extLst>
          </p:cNvPr>
          <p:cNvGraphicFramePr/>
          <p:nvPr/>
        </p:nvGraphicFramePr>
        <p:xfrm>
          <a:off x="178373" y="1952629"/>
          <a:ext cx="5193755" cy="18768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Table 16">
            <a:extLst>
              <a:ext uri="{FF2B5EF4-FFF2-40B4-BE49-F238E27FC236}">
                <a16:creationId xmlns:a16="http://schemas.microsoft.com/office/drawing/2014/main" id="{095951D4-AAC0-8764-14C1-3B7298695AA2}"/>
              </a:ext>
            </a:extLst>
          </p:cNvPr>
          <p:cNvGraphicFramePr>
            <a:graphicFrameLocks noGrp="1"/>
          </p:cNvGraphicFramePr>
          <p:nvPr>
            <p:extLst>
              <p:ext uri="{D42A27DB-BD31-4B8C-83A1-F6EECF244321}">
                <p14:modId xmlns:p14="http://schemas.microsoft.com/office/powerpoint/2010/main" val="601903151"/>
              </p:ext>
            </p:extLst>
          </p:nvPr>
        </p:nvGraphicFramePr>
        <p:xfrm>
          <a:off x="178374" y="935221"/>
          <a:ext cx="5193756" cy="912702"/>
        </p:xfrm>
        <a:graphic>
          <a:graphicData uri="http://schemas.openxmlformats.org/drawingml/2006/table">
            <a:tbl>
              <a:tblPr firstRow="1" bandRow="1">
                <a:tableStyleId>{5940675A-B579-460E-94D1-54222C63F5DA}</a:tableStyleId>
              </a:tblPr>
              <a:tblGrid>
                <a:gridCol w="1298439">
                  <a:extLst>
                    <a:ext uri="{9D8B030D-6E8A-4147-A177-3AD203B41FA5}">
                      <a16:colId xmlns:a16="http://schemas.microsoft.com/office/drawing/2014/main" val="450495673"/>
                    </a:ext>
                  </a:extLst>
                </a:gridCol>
                <a:gridCol w="1298439">
                  <a:extLst>
                    <a:ext uri="{9D8B030D-6E8A-4147-A177-3AD203B41FA5}">
                      <a16:colId xmlns:a16="http://schemas.microsoft.com/office/drawing/2014/main" val="2094977082"/>
                    </a:ext>
                  </a:extLst>
                </a:gridCol>
                <a:gridCol w="1298439">
                  <a:extLst>
                    <a:ext uri="{9D8B030D-6E8A-4147-A177-3AD203B41FA5}">
                      <a16:colId xmlns:a16="http://schemas.microsoft.com/office/drawing/2014/main" val="3230823899"/>
                    </a:ext>
                  </a:extLst>
                </a:gridCol>
                <a:gridCol w="1298439">
                  <a:extLst>
                    <a:ext uri="{9D8B030D-6E8A-4147-A177-3AD203B41FA5}">
                      <a16:colId xmlns:a16="http://schemas.microsoft.com/office/drawing/2014/main" val="4142788731"/>
                    </a:ext>
                  </a:extLst>
                </a:gridCol>
              </a:tblGrid>
              <a:tr h="304234">
                <a:tc rowSpan="2">
                  <a:txBody>
                    <a:bodyPr/>
                    <a:lstStyle/>
                    <a:p>
                      <a:pPr algn="ctr"/>
                      <a:r>
                        <a:rPr lang="en-GB" sz="1100" noProof="0" dirty="0">
                          <a:solidFill>
                            <a:srgbClr val="344251"/>
                          </a:solidFill>
                        </a:rPr>
                        <a:t>Order Intake</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solidFill>
                      <a:srgbClr val="DDEBF8"/>
                    </a:solidFill>
                  </a:tcPr>
                </a:tc>
                <a:tc gridSpan="3">
                  <a:txBody>
                    <a:bodyPr/>
                    <a:lstStyle/>
                    <a:p>
                      <a:pPr algn="ctr"/>
                      <a:r>
                        <a:rPr lang="en-GB" sz="1100" noProof="0" dirty="0">
                          <a:solidFill>
                            <a:srgbClr val="344251"/>
                          </a:solidFill>
                        </a:rPr>
                        <a:t>FY 2025 9+3</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solidFill>
                      <a:srgbClr val="DDEBF8"/>
                    </a:solidFill>
                  </a:tcPr>
                </a:tc>
                <a:tc hMerge="1">
                  <a:txBody>
                    <a:bodyPr/>
                    <a:lstStyle/>
                    <a:p>
                      <a:endParaRPr lang="en-US" sz="1100" dirty="0"/>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hMerge="1">
                  <a:txBody>
                    <a:bodyPr/>
                    <a:lstStyle/>
                    <a:p>
                      <a:endParaRPr lang="en-US" sz="1100" dirty="0"/>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659335083"/>
                  </a:ext>
                </a:extLst>
              </a:tr>
              <a:tr h="304234">
                <a:tc vMerge="1">
                  <a:txBody>
                    <a:bodyPr/>
                    <a:lstStyle/>
                    <a:p>
                      <a:endParaRPr lang="en-US" sz="1200" dirty="0"/>
                    </a:p>
                  </a:txBody>
                  <a:tcPr/>
                </a:tc>
                <a:tc>
                  <a:txBody>
                    <a:bodyPr/>
                    <a:lstStyle/>
                    <a:p>
                      <a:pPr algn="ctr"/>
                      <a:r>
                        <a:rPr lang="en-GB" sz="1100" noProof="0" dirty="0">
                          <a:solidFill>
                            <a:srgbClr val="344251"/>
                          </a:solidFill>
                        </a:rPr>
                        <a:t>F/C Actual</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ctr"/>
                      <a:r>
                        <a:rPr lang="en-GB" sz="1100" noProof="0" dirty="0">
                          <a:solidFill>
                            <a:srgbClr val="344251"/>
                          </a:solidFill>
                        </a:rPr>
                        <a:t>Vs Original Plan</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ctr"/>
                      <a:r>
                        <a:rPr lang="en-GB" sz="1100" noProof="0" dirty="0">
                          <a:solidFill>
                            <a:srgbClr val="344251"/>
                          </a:solidFill>
                        </a:rPr>
                        <a:t>Vs August - R</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extLst>
                  <a:ext uri="{0D108BD9-81ED-4DB2-BD59-A6C34878D82A}">
                    <a16:rowId xmlns:a16="http://schemas.microsoft.com/office/drawing/2014/main" val="369432905"/>
                  </a:ext>
                </a:extLst>
              </a:tr>
              <a:tr h="304234">
                <a:tc>
                  <a:txBody>
                    <a:bodyPr/>
                    <a:lstStyle/>
                    <a:p>
                      <a:pPr algn="ctr"/>
                      <a:r>
                        <a:rPr lang="en-GB" sz="1100" noProof="0" dirty="0">
                          <a:solidFill>
                            <a:srgbClr val="344251"/>
                          </a:solidFill>
                        </a:rPr>
                        <a:t>Units</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ctr"/>
                      <a:r>
                        <a:rPr lang="en-GB" sz="1100" noProof="0" dirty="0">
                          <a:solidFill>
                            <a:srgbClr val="344251"/>
                          </a:solidFill>
                        </a:rPr>
                        <a:t>1,890</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ctr"/>
                      <a:r>
                        <a:rPr lang="en-GB" sz="1100" b="0" i="0" u="none" strike="noStrike" noProof="0" dirty="0">
                          <a:solidFill>
                            <a:srgbClr val="344251"/>
                          </a:solidFill>
                          <a:effectLst/>
                          <a:latin typeface="Arial" panose="020B0604020202020204" pitchFamily="34" charset="0"/>
                          <a:ea typeface="Meiryo" panose="020B0604030504040204" pitchFamily="34" charset="-128"/>
                          <a:cs typeface="Arial" panose="020B0604020202020204" pitchFamily="34" charset="0"/>
                        </a:rPr>
                        <a:t>Δ698</a:t>
                      </a:r>
                      <a:endParaRPr lang="en-GB" sz="1100" noProof="0" dirty="0">
                        <a:solidFill>
                          <a:srgbClr val="344251"/>
                        </a:solidFill>
                      </a:endParaRP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ctr"/>
                      <a:r>
                        <a:rPr lang="en-GB" sz="1100" b="0" i="0" u="none" strike="noStrike" noProof="0" dirty="0">
                          <a:solidFill>
                            <a:srgbClr val="344251"/>
                          </a:solidFill>
                          <a:effectLst/>
                          <a:latin typeface="Arial" panose="020B0604020202020204" pitchFamily="34" charset="0"/>
                          <a:ea typeface="Meiryo" panose="020B0604030504040204" pitchFamily="34" charset="-128"/>
                          <a:cs typeface="Arial" panose="020B0604020202020204" pitchFamily="34" charset="0"/>
                        </a:rPr>
                        <a:t>Δ360</a:t>
                      </a:r>
                      <a:endParaRPr lang="en-GB" sz="1100" noProof="0" dirty="0">
                        <a:solidFill>
                          <a:srgbClr val="344251"/>
                        </a:solidFill>
                      </a:endParaRP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extLst>
                  <a:ext uri="{0D108BD9-81ED-4DB2-BD59-A6C34878D82A}">
                    <a16:rowId xmlns:a16="http://schemas.microsoft.com/office/drawing/2014/main" val="2855759138"/>
                  </a:ext>
                </a:extLst>
              </a:tr>
            </a:tbl>
          </a:graphicData>
        </a:graphic>
      </p:graphicFrame>
      <p:graphicFrame>
        <p:nvGraphicFramePr>
          <p:cNvPr id="18" name="Table 17">
            <a:extLst>
              <a:ext uri="{FF2B5EF4-FFF2-40B4-BE49-F238E27FC236}">
                <a16:creationId xmlns:a16="http://schemas.microsoft.com/office/drawing/2014/main" id="{2673C0A6-DBB2-855D-83CD-06DCCB6917D9}"/>
              </a:ext>
            </a:extLst>
          </p:cNvPr>
          <p:cNvGraphicFramePr>
            <a:graphicFrameLocks noGrp="1"/>
          </p:cNvGraphicFramePr>
          <p:nvPr>
            <p:extLst>
              <p:ext uri="{D42A27DB-BD31-4B8C-83A1-F6EECF244321}">
                <p14:modId xmlns:p14="http://schemas.microsoft.com/office/powerpoint/2010/main" val="1746494033"/>
              </p:ext>
            </p:extLst>
          </p:nvPr>
        </p:nvGraphicFramePr>
        <p:xfrm>
          <a:off x="178372" y="3934207"/>
          <a:ext cx="5193756" cy="912702"/>
        </p:xfrm>
        <a:graphic>
          <a:graphicData uri="http://schemas.openxmlformats.org/drawingml/2006/table">
            <a:tbl>
              <a:tblPr firstRow="1" bandRow="1">
                <a:tableStyleId>{5940675A-B579-460E-94D1-54222C63F5DA}</a:tableStyleId>
              </a:tblPr>
              <a:tblGrid>
                <a:gridCol w="1298439">
                  <a:extLst>
                    <a:ext uri="{9D8B030D-6E8A-4147-A177-3AD203B41FA5}">
                      <a16:colId xmlns:a16="http://schemas.microsoft.com/office/drawing/2014/main" val="450495673"/>
                    </a:ext>
                  </a:extLst>
                </a:gridCol>
                <a:gridCol w="1298439">
                  <a:extLst>
                    <a:ext uri="{9D8B030D-6E8A-4147-A177-3AD203B41FA5}">
                      <a16:colId xmlns:a16="http://schemas.microsoft.com/office/drawing/2014/main" val="2094977082"/>
                    </a:ext>
                  </a:extLst>
                </a:gridCol>
                <a:gridCol w="1298439">
                  <a:extLst>
                    <a:ext uri="{9D8B030D-6E8A-4147-A177-3AD203B41FA5}">
                      <a16:colId xmlns:a16="http://schemas.microsoft.com/office/drawing/2014/main" val="3230823899"/>
                    </a:ext>
                  </a:extLst>
                </a:gridCol>
                <a:gridCol w="1298439">
                  <a:extLst>
                    <a:ext uri="{9D8B030D-6E8A-4147-A177-3AD203B41FA5}">
                      <a16:colId xmlns:a16="http://schemas.microsoft.com/office/drawing/2014/main" val="4142788731"/>
                    </a:ext>
                  </a:extLst>
                </a:gridCol>
              </a:tblGrid>
              <a:tr h="304234">
                <a:tc rowSpan="2">
                  <a:txBody>
                    <a:bodyPr/>
                    <a:lstStyle/>
                    <a:p>
                      <a:pPr algn="ctr"/>
                      <a:r>
                        <a:rPr lang="en-GB" sz="1100" noProof="0" dirty="0">
                          <a:solidFill>
                            <a:srgbClr val="344251"/>
                          </a:solidFill>
                        </a:rPr>
                        <a:t>Vehicle Invoices</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solidFill>
                      <a:srgbClr val="DDEBF8"/>
                    </a:solidFill>
                  </a:tcPr>
                </a:tc>
                <a:tc gridSpan="3">
                  <a:txBody>
                    <a:bodyPr/>
                    <a:lstStyle/>
                    <a:p>
                      <a:pPr algn="ctr"/>
                      <a:r>
                        <a:rPr lang="en-GB" sz="1100" noProof="0" dirty="0">
                          <a:solidFill>
                            <a:srgbClr val="344251"/>
                          </a:solidFill>
                        </a:rPr>
                        <a:t>FY 2025 9+3</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solidFill>
                      <a:srgbClr val="DDEBF8"/>
                    </a:solidFill>
                  </a:tcPr>
                </a:tc>
                <a:tc hMerge="1">
                  <a:txBody>
                    <a:bodyPr/>
                    <a:lstStyle/>
                    <a:p>
                      <a:endParaRPr lang="en-US" sz="1100" dirty="0"/>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hMerge="1">
                  <a:txBody>
                    <a:bodyPr/>
                    <a:lstStyle/>
                    <a:p>
                      <a:endParaRPr lang="en-US" sz="1100" dirty="0"/>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659335083"/>
                  </a:ext>
                </a:extLst>
              </a:tr>
              <a:tr h="304234">
                <a:tc vMerge="1">
                  <a:txBody>
                    <a:bodyPr/>
                    <a:lstStyle/>
                    <a:p>
                      <a:endParaRPr lang="en-US" sz="1200" dirty="0"/>
                    </a:p>
                  </a:txBody>
                  <a:tcPr/>
                </a:tc>
                <a:tc>
                  <a:txBody>
                    <a:bodyPr/>
                    <a:lstStyle/>
                    <a:p>
                      <a:pPr algn="ctr"/>
                      <a:r>
                        <a:rPr lang="en-GB" sz="1100" noProof="0" dirty="0">
                          <a:solidFill>
                            <a:srgbClr val="344251"/>
                          </a:solidFill>
                        </a:rPr>
                        <a:t>F/C Actual</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ctr"/>
                      <a:r>
                        <a:rPr lang="en-GB" sz="1100" noProof="0" dirty="0">
                          <a:solidFill>
                            <a:srgbClr val="344251"/>
                          </a:solidFill>
                        </a:rPr>
                        <a:t>Vs Original Plan</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ctr"/>
                      <a:r>
                        <a:rPr lang="en-GB" sz="1100" noProof="0" dirty="0">
                          <a:solidFill>
                            <a:srgbClr val="344251"/>
                          </a:solidFill>
                        </a:rPr>
                        <a:t>Vs August - R</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extLst>
                  <a:ext uri="{0D108BD9-81ED-4DB2-BD59-A6C34878D82A}">
                    <a16:rowId xmlns:a16="http://schemas.microsoft.com/office/drawing/2014/main" val="369432905"/>
                  </a:ext>
                </a:extLst>
              </a:tr>
              <a:tr h="304234">
                <a:tc>
                  <a:txBody>
                    <a:bodyPr/>
                    <a:lstStyle/>
                    <a:p>
                      <a:pPr algn="ctr"/>
                      <a:r>
                        <a:rPr lang="en-GB" sz="1100" noProof="0" dirty="0">
                          <a:solidFill>
                            <a:srgbClr val="344251"/>
                          </a:solidFill>
                        </a:rPr>
                        <a:t>Invoices</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ctr"/>
                      <a:r>
                        <a:rPr lang="en-GB" sz="1100" noProof="0" dirty="0">
                          <a:solidFill>
                            <a:srgbClr val="344251"/>
                          </a:solidFill>
                        </a:rPr>
                        <a:t>2,070</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0" i="0" u="none" strike="noStrike" noProof="0" dirty="0">
                          <a:solidFill>
                            <a:srgbClr val="344251"/>
                          </a:solidFill>
                          <a:effectLst/>
                          <a:latin typeface="Arial" panose="020B0604020202020204" pitchFamily="34" charset="0"/>
                          <a:ea typeface="Meiryo" panose="020B0604030504040204" pitchFamily="34" charset="-128"/>
                          <a:cs typeface="Arial" panose="020B0604020202020204" pitchFamily="34" charset="0"/>
                        </a:rPr>
                        <a:t>Δ180</a:t>
                      </a:r>
                      <a:endParaRPr lang="en-GB" sz="1100" noProof="0" dirty="0">
                        <a:solidFill>
                          <a:srgbClr val="344251"/>
                        </a:solidFill>
                      </a:endParaRP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0" i="0" u="none" strike="noStrike" noProof="0" dirty="0">
                          <a:solidFill>
                            <a:srgbClr val="344251"/>
                          </a:solidFill>
                          <a:effectLst/>
                          <a:latin typeface="Arial" panose="020B0604020202020204" pitchFamily="34" charset="0"/>
                          <a:ea typeface="Meiryo" panose="020B0604030504040204" pitchFamily="34" charset="-128"/>
                          <a:cs typeface="Arial" panose="020B0604020202020204" pitchFamily="34" charset="0"/>
                        </a:rPr>
                        <a:t>Δ180</a:t>
                      </a:r>
                      <a:endParaRPr lang="en-GB" sz="1100" noProof="0" dirty="0">
                        <a:solidFill>
                          <a:srgbClr val="344251"/>
                        </a:solidFill>
                      </a:endParaRP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extLst>
                  <a:ext uri="{0D108BD9-81ED-4DB2-BD59-A6C34878D82A}">
                    <a16:rowId xmlns:a16="http://schemas.microsoft.com/office/drawing/2014/main" val="2855759138"/>
                  </a:ext>
                </a:extLst>
              </a:tr>
            </a:tbl>
          </a:graphicData>
        </a:graphic>
      </p:graphicFrame>
      <p:graphicFrame>
        <p:nvGraphicFramePr>
          <p:cNvPr id="19" name="Chart 18">
            <a:extLst>
              <a:ext uri="{FF2B5EF4-FFF2-40B4-BE49-F238E27FC236}">
                <a16:creationId xmlns:a16="http://schemas.microsoft.com/office/drawing/2014/main" id="{E3D3DA81-0FE9-84A1-5DA4-28AB46D4E8BC}"/>
              </a:ext>
            </a:extLst>
          </p:cNvPr>
          <p:cNvGraphicFramePr/>
          <p:nvPr/>
        </p:nvGraphicFramePr>
        <p:xfrm>
          <a:off x="178372" y="4949013"/>
          <a:ext cx="5193755" cy="177428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98162733"/>
      </p:ext>
    </p:extLst>
  </p:cSld>
  <p:clrMapOvr>
    <a:masterClrMapping/>
  </p:clrMapOvr>
  <mc:AlternateContent xmlns:mc="http://schemas.openxmlformats.org/markup-compatibility/2006" xmlns:p14="http://schemas.microsoft.com/office/powerpoint/2010/main">
    <mc:Choice Requires="p14">
      <p:transition spd="slow" p14:dur="2000" advTm="94544"/>
    </mc:Choice>
    <mc:Fallback xmlns="">
      <p:transition spd="slow" advTm="9454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F4A30-7AF8-E158-199F-461683D13CE7}"/>
            </a:ext>
          </a:extLst>
        </p:cNvPr>
        <p:cNvGrpSpPr/>
        <p:nvPr/>
      </p:nvGrpSpPr>
      <p:grpSpPr>
        <a:xfrm>
          <a:off x="0" y="0"/>
          <a:ext cx="0" cy="0"/>
          <a:chOff x="0" y="0"/>
          <a:chExt cx="0" cy="0"/>
        </a:xfrm>
      </p:grpSpPr>
      <p:sp>
        <p:nvSpPr>
          <p:cNvPr id="9" name="Title 2">
            <a:extLst>
              <a:ext uri="{FF2B5EF4-FFF2-40B4-BE49-F238E27FC236}">
                <a16:creationId xmlns:a16="http://schemas.microsoft.com/office/drawing/2014/main" id="{49876328-E10A-C23D-0ECD-493DFED8021F}"/>
              </a:ext>
            </a:extLst>
          </p:cNvPr>
          <p:cNvSpPr>
            <a:spLocks noGrp="1"/>
          </p:cNvSpPr>
          <p:nvPr>
            <p:ph type="title"/>
          </p:nvPr>
        </p:nvSpPr>
        <p:spPr>
          <a:xfrm>
            <a:off x="695400" y="376801"/>
            <a:ext cx="9505056" cy="518746"/>
          </a:xfrm>
        </p:spPr>
        <p:txBody>
          <a:bodyPr/>
          <a:lstStyle/>
          <a:p>
            <a:r>
              <a:rPr lang="en-US" dirty="0">
                <a:solidFill>
                  <a:srgbClr val="344251"/>
                </a:solidFill>
              </a:rPr>
              <a:t>FY26 Sales Forecast &amp; Initiative Plan</a:t>
            </a:r>
          </a:p>
        </p:txBody>
      </p:sp>
      <mc:AlternateContent xmlns:mc="http://schemas.openxmlformats.org/markup-compatibility/2006" xmlns:cx4="http://schemas.microsoft.com/office/drawing/2016/5/10/chartex">
        <mc:Choice Requires="cx4">
          <p:graphicFrame>
            <p:nvGraphicFramePr>
              <p:cNvPr id="15" name="Chart 14">
                <a:extLst>
                  <a:ext uri="{FF2B5EF4-FFF2-40B4-BE49-F238E27FC236}">
                    <a16:creationId xmlns:a16="http://schemas.microsoft.com/office/drawing/2014/main" id="{E49EEE05-E10A-285B-400A-691650CD2C86}"/>
                  </a:ext>
                </a:extLst>
              </p:cNvPr>
              <p:cNvGraphicFramePr/>
              <p:nvPr>
                <p:extLst>
                  <p:ext uri="{D42A27DB-BD31-4B8C-83A1-F6EECF244321}">
                    <p14:modId xmlns:p14="http://schemas.microsoft.com/office/powerpoint/2010/main" val="3330851752"/>
                  </p:ext>
                </p:extLst>
              </p:nvPr>
            </p:nvGraphicFramePr>
            <p:xfrm>
              <a:off x="39724" y="937159"/>
              <a:ext cx="4685490" cy="3874906"/>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5" name="Chart 14">
                <a:extLst>
                  <a:ext uri="{FF2B5EF4-FFF2-40B4-BE49-F238E27FC236}">
                    <a16:creationId xmlns:a16="http://schemas.microsoft.com/office/drawing/2014/main" id="{E49EEE05-E10A-285B-400A-691650CD2C86}"/>
                  </a:ext>
                </a:extLst>
              </p:cNvPr>
              <p:cNvPicPr>
                <a:picLocks noGrp="1" noRot="1" noChangeAspect="1" noMove="1" noResize="1" noEditPoints="1" noAdjustHandles="1" noChangeArrowheads="1" noChangeShapeType="1"/>
              </p:cNvPicPr>
              <p:nvPr/>
            </p:nvPicPr>
            <p:blipFill>
              <a:blip r:embed="rId6"/>
              <a:stretch>
                <a:fillRect/>
              </a:stretch>
            </p:blipFill>
            <p:spPr>
              <a:xfrm>
                <a:off x="39724" y="937159"/>
                <a:ext cx="4685490" cy="3874906"/>
              </a:xfrm>
              <a:prstGeom prst="rect">
                <a:avLst/>
              </a:prstGeom>
            </p:spPr>
          </p:pic>
        </mc:Fallback>
      </mc:AlternateContent>
      <p:sp>
        <p:nvSpPr>
          <p:cNvPr id="2" name="Text Placeholder 1">
            <a:extLst>
              <a:ext uri="{FF2B5EF4-FFF2-40B4-BE49-F238E27FC236}">
                <a16:creationId xmlns:a16="http://schemas.microsoft.com/office/drawing/2014/main" id="{E514FDAE-1384-1E52-EB72-3D9B9EE02E32}"/>
              </a:ext>
            </a:extLst>
          </p:cNvPr>
          <p:cNvSpPr>
            <a:spLocks noGrp="1"/>
          </p:cNvSpPr>
          <p:nvPr>
            <p:ph type="body" sz="quarter" idx="13"/>
          </p:nvPr>
        </p:nvSpPr>
        <p:spPr>
          <a:xfrm>
            <a:off x="7396261" y="937157"/>
            <a:ext cx="4685491" cy="5894645"/>
          </a:xfrm>
          <a:ln>
            <a:solidFill>
              <a:srgbClr val="405C8B"/>
            </a:solidFill>
          </a:ln>
        </p:spPr>
        <p:txBody>
          <a:bodyPr vert="horz" lIns="0" tIns="45720" rIns="91440" bIns="45720" rtlCol="0" anchor="t" anchorCtr="0">
            <a:noAutofit/>
          </a:bodyPr>
          <a:lstStyle/>
          <a:p>
            <a:pPr marL="88900" indent="0" algn="ctr">
              <a:lnSpc>
                <a:spcPct val="80000"/>
              </a:lnSpc>
              <a:buNone/>
            </a:pPr>
            <a:r>
              <a:rPr lang="en-GB" sz="1200" b="1" u="sng" dirty="0">
                <a:solidFill>
                  <a:srgbClr val="344251"/>
                </a:solidFill>
              </a:rPr>
              <a:t>F</a:t>
            </a:r>
            <a:r>
              <a:rPr lang="en-GB" sz="1200" b="1" u="sng" noProof="0" dirty="0">
                <a:solidFill>
                  <a:srgbClr val="344251"/>
                </a:solidFill>
              </a:rPr>
              <a:t>Y26 Key Actions &amp; Initiatives (see </a:t>
            </a:r>
            <a:r>
              <a:rPr lang="en-GB" sz="1200" b="1" u="sng" noProof="0" dirty="0" err="1">
                <a:solidFill>
                  <a:srgbClr val="344251"/>
                </a:solidFill>
              </a:rPr>
              <a:t>Appendicies</a:t>
            </a:r>
            <a:r>
              <a:rPr lang="en-GB" sz="1200" b="1" u="sng" dirty="0">
                <a:solidFill>
                  <a:srgbClr val="344251"/>
                </a:solidFill>
              </a:rPr>
              <a:t>)</a:t>
            </a:r>
          </a:p>
          <a:p>
            <a:pPr marL="225425" indent="-136525">
              <a:lnSpc>
                <a:spcPct val="80000"/>
              </a:lnSpc>
            </a:pPr>
            <a:r>
              <a:rPr lang="en-GB" sz="1200" noProof="0" dirty="0">
                <a:solidFill>
                  <a:srgbClr val="344251"/>
                </a:solidFill>
              </a:rPr>
              <a:t>Introduce BPCE Equipment Solutions – New Finance Partner (4)</a:t>
            </a:r>
          </a:p>
          <a:p>
            <a:pPr marL="463025" lvl="1" indent="-136525">
              <a:lnSpc>
                <a:spcPct val="80000"/>
              </a:lnSpc>
            </a:pPr>
            <a:r>
              <a:rPr lang="en-GB" sz="1200" noProof="0" dirty="0">
                <a:solidFill>
                  <a:srgbClr val="344251"/>
                </a:solidFill>
              </a:rPr>
              <a:t>Additional New Vehicle Floorplan Stocking Option</a:t>
            </a:r>
          </a:p>
          <a:p>
            <a:pPr marL="463025" lvl="1" indent="-136525">
              <a:lnSpc>
                <a:spcPct val="80000"/>
              </a:lnSpc>
            </a:pPr>
            <a:r>
              <a:rPr lang="en-GB" sz="1200" dirty="0">
                <a:solidFill>
                  <a:srgbClr val="344251"/>
                </a:solidFill>
              </a:rPr>
              <a:t>More Competitive Retail Campaigns &amp; Initiatives offering</a:t>
            </a:r>
          </a:p>
          <a:p>
            <a:pPr marL="463025" lvl="1" indent="-136525">
              <a:lnSpc>
                <a:spcPct val="80000"/>
              </a:lnSpc>
            </a:pPr>
            <a:r>
              <a:rPr lang="en-GB" sz="1200" noProof="0" dirty="0">
                <a:solidFill>
                  <a:srgbClr val="344251"/>
                </a:solidFill>
              </a:rPr>
              <a:t>P700 Dealer Demonstrator Funding Programme</a:t>
            </a:r>
          </a:p>
          <a:p>
            <a:pPr marL="225425" indent="-136525">
              <a:lnSpc>
                <a:spcPct val="80000"/>
              </a:lnSpc>
            </a:pPr>
            <a:r>
              <a:rPr lang="en-GB" sz="1200" noProof="0" dirty="0">
                <a:solidFill>
                  <a:srgbClr val="344251"/>
                </a:solidFill>
              </a:rPr>
              <a:t>Key Rental Sector &amp; Industry Sector Focus  (5)</a:t>
            </a:r>
          </a:p>
          <a:p>
            <a:pPr marL="463025" lvl="1" indent="-136525">
              <a:lnSpc>
                <a:spcPts val="1600"/>
              </a:lnSpc>
            </a:pPr>
            <a:r>
              <a:rPr lang="en-GB" sz="1200" dirty="0">
                <a:solidFill>
                  <a:srgbClr val="344251"/>
                </a:solidFill>
              </a:rPr>
              <a:t>Promote P700 to Key Rental &amp; Industry Sectors</a:t>
            </a:r>
          </a:p>
          <a:p>
            <a:pPr marL="463025" lvl="1" indent="-136525">
              <a:lnSpc>
                <a:spcPts val="1600"/>
              </a:lnSpc>
            </a:pPr>
            <a:r>
              <a:rPr lang="en-GB" sz="1200" dirty="0">
                <a:solidFill>
                  <a:srgbClr val="344251"/>
                </a:solidFill>
              </a:rPr>
              <a:t>Rental Sector Demonstrator Initiative – N35 Tipper / D/side N75 Tipper / Insulated &amp; F-Series Insulated</a:t>
            </a:r>
          </a:p>
          <a:p>
            <a:pPr marL="225425" indent="-136525">
              <a:lnSpc>
                <a:spcPct val="80000"/>
              </a:lnSpc>
            </a:pPr>
            <a:r>
              <a:rPr lang="en-GB" sz="1200" noProof="0" dirty="0">
                <a:solidFill>
                  <a:srgbClr val="344251"/>
                </a:solidFill>
              </a:rPr>
              <a:t>New Dealer Appointments (6)</a:t>
            </a:r>
          </a:p>
          <a:p>
            <a:pPr marL="463025" lvl="1" indent="-136525">
              <a:lnSpc>
                <a:spcPct val="80000"/>
              </a:lnSpc>
            </a:pPr>
            <a:r>
              <a:rPr lang="en-GB" sz="1200" dirty="0">
                <a:solidFill>
                  <a:srgbClr val="344251"/>
                </a:solidFill>
              </a:rPr>
              <a:t>Appoint New Dealer Sales Partners in Open / Strategic Areas</a:t>
            </a:r>
          </a:p>
          <a:p>
            <a:pPr marL="463025" lvl="1" indent="-136525">
              <a:lnSpc>
                <a:spcPct val="80000"/>
              </a:lnSpc>
            </a:pPr>
            <a:r>
              <a:rPr lang="en-GB" sz="1200" noProof="0" dirty="0">
                <a:solidFill>
                  <a:srgbClr val="344251"/>
                </a:solidFill>
              </a:rPr>
              <a:t>Potential </a:t>
            </a:r>
            <a:r>
              <a:rPr lang="en-GB" sz="1200" dirty="0">
                <a:solidFill>
                  <a:srgbClr val="344251"/>
                </a:solidFill>
              </a:rPr>
              <a:t>Isuzu D-Max Dealers – Very Small Number Suitable </a:t>
            </a:r>
          </a:p>
          <a:p>
            <a:pPr marL="463025" lvl="1" indent="-136525">
              <a:lnSpc>
                <a:spcPct val="80000"/>
              </a:lnSpc>
            </a:pPr>
            <a:r>
              <a:rPr lang="en-GB" sz="1200" noProof="0" dirty="0">
                <a:solidFill>
                  <a:srgbClr val="344251"/>
                </a:solidFill>
              </a:rPr>
              <a:t>Appoint ‘Disruptors’ in Underperforming Dealer Areas</a:t>
            </a:r>
          </a:p>
          <a:p>
            <a:pPr marL="463025" lvl="1" indent="-136525">
              <a:lnSpc>
                <a:spcPct val="80000"/>
              </a:lnSpc>
            </a:pPr>
            <a:r>
              <a:rPr lang="en-GB" sz="1200" dirty="0">
                <a:solidFill>
                  <a:srgbClr val="344251"/>
                </a:solidFill>
              </a:rPr>
              <a:t>Only one Key Fuso Dealer currently planned – no more due to Mercedes competition conflict </a:t>
            </a:r>
            <a:endParaRPr lang="en-GB" sz="1200" noProof="0" dirty="0">
              <a:solidFill>
                <a:srgbClr val="344251"/>
              </a:solidFill>
            </a:endParaRPr>
          </a:p>
          <a:p>
            <a:pPr marL="225425" indent="-136525">
              <a:lnSpc>
                <a:spcPct val="80000"/>
              </a:lnSpc>
            </a:pPr>
            <a:r>
              <a:rPr lang="en-GB" sz="1200" noProof="0" dirty="0">
                <a:solidFill>
                  <a:srgbClr val="344251"/>
                </a:solidFill>
              </a:rPr>
              <a:t>New P700 Model Range – Increased Profile Launch Activities</a:t>
            </a:r>
          </a:p>
          <a:p>
            <a:pPr marL="463025" lvl="1" indent="-136525">
              <a:lnSpc>
                <a:spcPct val="80000"/>
              </a:lnSpc>
            </a:pPr>
            <a:r>
              <a:rPr lang="en-GB" sz="1200" dirty="0">
                <a:solidFill>
                  <a:srgbClr val="344251"/>
                </a:solidFill>
              </a:rPr>
              <a:t>Key Dealer Visit to IML – February 2026</a:t>
            </a:r>
          </a:p>
          <a:p>
            <a:pPr marL="463025" lvl="1" indent="-136525">
              <a:lnSpc>
                <a:spcPct val="80000"/>
              </a:lnSpc>
            </a:pPr>
            <a:r>
              <a:rPr lang="en-GB" sz="1200" noProof="0" dirty="0">
                <a:solidFill>
                  <a:srgbClr val="344251"/>
                </a:solidFill>
              </a:rPr>
              <a:t>UK Press Visit to IML – May 2026</a:t>
            </a:r>
          </a:p>
          <a:p>
            <a:pPr marL="463025" lvl="1" indent="-136525">
              <a:lnSpc>
                <a:spcPct val="80000"/>
              </a:lnSpc>
            </a:pPr>
            <a:r>
              <a:rPr lang="en-GB" sz="1200" dirty="0">
                <a:solidFill>
                  <a:srgbClr val="344251"/>
                </a:solidFill>
              </a:rPr>
              <a:t>Dealer Conference &amp; Product Reveal – June 2026</a:t>
            </a:r>
          </a:p>
          <a:p>
            <a:pPr marL="463025" lvl="1" indent="-136525">
              <a:lnSpc>
                <a:spcPct val="80000"/>
              </a:lnSpc>
            </a:pPr>
            <a:r>
              <a:rPr lang="en-GB" sz="1200" noProof="0" dirty="0">
                <a:solidFill>
                  <a:srgbClr val="344251"/>
                </a:solidFill>
              </a:rPr>
              <a:t>Road Transport Expo (RTX) Public Reveal – June 2026</a:t>
            </a:r>
          </a:p>
          <a:p>
            <a:pPr marL="463025" lvl="1" indent="-136525">
              <a:lnSpc>
                <a:spcPct val="80000"/>
              </a:lnSpc>
            </a:pPr>
            <a:r>
              <a:rPr lang="en-GB" sz="1200" dirty="0">
                <a:solidFill>
                  <a:srgbClr val="344251"/>
                </a:solidFill>
              </a:rPr>
              <a:t>Ride &amp; Drive Event – Q1 FY27</a:t>
            </a:r>
            <a:endParaRPr lang="en-GB" sz="1200" noProof="0" dirty="0">
              <a:solidFill>
                <a:srgbClr val="344251"/>
              </a:solidFill>
            </a:endParaRPr>
          </a:p>
          <a:p>
            <a:pPr marL="225425" indent="-136525">
              <a:lnSpc>
                <a:spcPct val="80000"/>
              </a:lnSpc>
            </a:pPr>
            <a:r>
              <a:rPr lang="en-GB" sz="1200" noProof="0" dirty="0">
                <a:solidFill>
                  <a:srgbClr val="344251"/>
                </a:solidFill>
              </a:rPr>
              <a:t>Dealer Rewards / Bonus Scheme</a:t>
            </a:r>
          </a:p>
          <a:p>
            <a:pPr marL="463025" lvl="1" indent="-136525">
              <a:lnSpc>
                <a:spcPts val="1600"/>
              </a:lnSpc>
            </a:pPr>
            <a:r>
              <a:rPr lang="en-GB" sz="1200" dirty="0">
                <a:solidFill>
                  <a:srgbClr val="344251"/>
                </a:solidFill>
              </a:rPr>
              <a:t>Change from an Annual CY Registration Bonus Model to Inbound Order / Wholesale Initiative Aligned to ITUK FY</a:t>
            </a:r>
          </a:p>
          <a:p>
            <a:pPr marL="463025" lvl="1" indent="-136525">
              <a:lnSpc>
                <a:spcPct val="80000"/>
              </a:lnSpc>
            </a:pPr>
            <a:r>
              <a:rPr lang="en-GB" sz="1200" dirty="0">
                <a:solidFill>
                  <a:srgbClr val="344251"/>
                </a:solidFill>
              </a:rPr>
              <a:t>Launch Timing – TBA Post</a:t>
            </a:r>
            <a:r>
              <a:rPr lang="en-GB" sz="1200" noProof="0" dirty="0">
                <a:solidFill>
                  <a:srgbClr val="344251"/>
                </a:solidFill>
              </a:rPr>
              <a:t> R51 Derogation Decision</a:t>
            </a:r>
            <a:endParaRPr lang="en-GB" sz="1200" dirty="0">
              <a:solidFill>
                <a:srgbClr val="344251"/>
              </a:solidFill>
            </a:endParaRPr>
          </a:p>
          <a:p>
            <a:pPr marL="225425" marR="0" lvl="0" indent="-136525" algn="l" defTabSz="914400" rtl="0" eaLnBrk="1" fontAlgn="auto" latinLnBrk="0" hangingPunct="1">
              <a:lnSpc>
                <a:spcPct val="80000"/>
              </a:lnSpc>
              <a:spcBef>
                <a:spcPts val="1000"/>
              </a:spcBef>
              <a:spcAft>
                <a:spcPts val="0"/>
              </a:spcAft>
              <a:buClrTx/>
              <a:buSzPct val="120000"/>
              <a:buFont typeface="Arial" panose="020B0604020202020204" pitchFamily="34" charset="0"/>
              <a:buChar char="•"/>
              <a:tabLst/>
              <a:defRPr/>
            </a:pPr>
            <a:r>
              <a:rPr kumimoji="1" lang="en-GB" sz="1200" b="0" i="0" u="none" strike="noStrike" kern="1200" cap="none" spc="0" normalizeH="0" baseline="0" noProof="0" dirty="0">
                <a:ln>
                  <a:noFill/>
                </a:ln>
                <a:solidFill>
                  <a:srgbClr val="344251"/>
                </a:solidFill>
                <a:effectLst/>
                <a:uLnTx/>
                <a:uFillTx/>
                <a:latin typeface="Arial"/>
                <a:ea typeface="メイリオ"/>
                <a:cs typeface="+mn-cs"/>
              </a:rPr>
              <a:t>Continuation of Dealer Sales Training Programme</a:t>
            </a:r>
          </a:p>
          <a:p>
            <a:pPr marL="326500" lvl="1" indent="0">
              <a:lnSpc>
                <a:spcPct val="80000"/>
              </a:lnSpc>
              <a:buNone/>
            </a:pPr>
            <a:endParaRPr lang="en-GB" sz="1200" noProof="0" dirty="0">
              <a:solidFill>
                <a:srgbClr val="344251"/>
              </a:solidFill>
            </a:endParaRPr>
          </a:p>
        </p:txBody>
      </p:sp>
      <p:sp>
        <p:nvSpPr>
          <p:cNvPr id="8" name="TextBox 7">
            <a:extLst>
              <a:ext uri="{FF2B5EF4-FFF2-40B4-BE49-F238E27FC236}">
                <a16:creationId xmlns:a16="http://schemas.microsoft.com/office/drawing/2014/main" id="{53BD5CD2-2F9B-4C49-BD69-1AAA0B9D635B}"/>
              </a:ext>
            </a:extLst>
          </p:cNvPr>
          <p:cNvSpPr txBox="1"/>
          <p:nvPr/>
        </p:nvSpPr>
        <p:spPr>
          <a:xfrm>
            <a:off x="4795740" y="937158"/>
            <a:ext cx="2551075" cy="3999556"/>
          </a:xfrm>
          <a:prstGeom prst="rect">
            <a:avLst/>
          </a:prstGeom>
          <a:noFill/>
          <a:ln>
            <a:solidFill>
              <a:srgbClr val="002664"/>
            </a:solidFill>
          </a:ln>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Pct val="120000"/>
              <a:buFontTx/>
              <a:buNone/>
              <a:tabLst/>
              <a:defRPr/>
            </a:pPr>
            <a:r>
              <a:rPr kumimoji="1" lang="en-GB" sz="900" b="1" i="0" u="sng" strike="noStrike" kern="1200" cap="none" spc="0" normalizeH="0" baseline="0" noProof="0" dirty="0">
                <a:ln>
                  <a:noFill/>
                </a:ln>
                <a:solidFill>
                  <a:srgbClr val="344251"/>
                </a:solidFill>
                <a:effectLst/>
                <a:uLnTx/>
                <a:uFillTx/>
                <a:latin typeface="Arial"/>
                <a:ea typeface="メイリオ"/>
                <a:cs typeface="+mn-cs"/>
              </a:rPr>
              <a:t>Legend</a:t>
            </a:r>
          </a:p>
          <a:p>
            <a:pPr marL="0" marR="0" lvl="0" indent="0" algn="l" defTabSz="914400" rtl="0" eaLnBrk="1" fontAlgn="auto" latinLnBrk="0" hangingPunct="1">
              <a:lnSpc>
                <a:spcPct val="90000"/>
              </a:lnSpc>
              <a:spcBef>
                <a:spcPts val="1000"/>
              </a:spcBef>
              <a:spcAft>
                <a:spcPts val="0"/>
              </a:spcAft>
              <a:buClrTx/>
              <a:buSzPct val="120000"/>
              <a:buFontTx/>
              <a:buNone/>
              <a:tabLst/>
              <a:defRPr/>
            </a:pPr>
            <a:r>
              <a:rPr kumimoji="1" lang="en-GB" sz="900" b="0" i="0" u="none" strike="noStrike" kern="1200" cap="none" spc="0" normalizeH="0" baseline="0" noProof="0" dirty="0">
                <a:ln>
                  <a:noFill/>
                </a:ln>
                <a:solidFill>
                  <a:srgbClr val="344251"/>
                </a:solidFill>
                <a:effectLst/>
                <a:uLnTx/>
                <a:uFillTx/>
                <a:latin typeface="Arial"/>
                <a:ea typeface="メイリオ"/>
                <a:cs typeface="+mn-cs"/>
              </a:rPr>
              <a:t>1) FY25 Wholesale Plan</a:t>
            </a:r>
          </a:p>
          <a:p>
            <a:pPr marL="0" marR="0" lvl="0" indent="0" algn="l" defTabSz="914400" rtl="0" eaLnBrk="1" fontAlgn="auto" latinLnBrk="0" hangingPunct="1">
              <a:lnSpc>
                <a:spcPct val="90000"/>
              </a:lnSpc>
              <a:spcBef>
                <a:spcPts val="1000"/>
              </a:spcBef>
              <a:spcAft>
                <a:spcPts val="0"/>
              </a:spcAft>
              <a:buClrTx/>
              <a:buSzPct val="120000"/>
              <a:buFontTx/>
              <a:buNone/>
              <a:tabLst/>
              <a:defRPr/>
            </a:pPr>
            <a:r>
              <a:rPr kumimoji="0" lang="en-GB" sz="900" b="0" i="0" u="none" strike="noStrike" kern="1200" cap="none" spc="0" normalizeH="0" baseline="0" noProof="0" dirty="0">
                <a:ln>
                  <a:noFill/>
                </a:ln>
                <a:solidFill>
                  <a:srgbClr val="344251"/>
                </a:solidFill>
                <a:effectLst/>
                <a:uLnTx/>
                <a:uFillTx/>
                <a:latin typeface="Arial"/>
                <a:ea typeface="メイリオ"/>
                <a:cs typeface="+mn-cs"/>
                <a:sym typeface="Symbol" panose="05050102010706020507" pitchFamily="18" charset="2"/>
              </a:rPr>
              <a:t>2) FY25 NLR Wholesale Order Reduction –                                             No R51 Derogation</a:t>
            </a:r>
          </a:p>
          <a:p>
            <a:pPr marL="0" marR="0" lvl="0" indent="0" algn="l" defTabSz="914400" rtl="0" eaLnBrk="1" fontAlgn="auto" latinLnBrk="0" hangingPunct="1">
              <a:lnSpc>
                <a:spcPct val="90000"/>
              </a:lnSpc>
              <a:spcBef>
                <a:spcPts val="1000"/>
              </a:spcBef>
              <a:spcAft>
                <a:spcPts val="0"/>
              </a:spcAft>
              <a:buClrTx/>
              <a:buSzPct val="120000"/>
              <a:buFontTx/>
              <a:buNone/>
              <a:tabLst/>
              <a:defRPr/>
            </a:pPr>
            <a:r>
              <a:rPr kumimoji="1" lang="en-GB" sz="900" b="0" i="0" u="none" strike="noStrike" kern="1200" cap="none" spc="0" normalizeH="0" baseline="0" noProof="0" dirty="0">
                <a:ln>
                  <a:noFill/>
                </a:ln>
                <a:solidFill>
                  <a:srgbClr val="344251"/>
                </a:solidFill>
                <a:effectLst/>
                <a:uLnTx/>
                <a:uFillTx/>
                <a:latin typeface="Arial"/>
                <a:ea typeface="メイリオ"/>
                <a:cs typeface="+mn-cs"/>
                <a:sym typeface="Symbol" panose="05050102010706020507" pitchFamily="18" charset="2"/>
              </a:rPr>
              <a:t>3) FY26 Sales Volume – Base Level Mid-Term Plan</a:t>
            </a:r>
          </a:p>
          <a:p>
            <a:pPr marL="0" marR="0" lvl="0" indent="0" algn="l" defTabSz="914400" rtl="0" eaLnBrk="1" fontAlgn="auto" latinLnBrk="0" hangingPunct="1">
              <a:lnSpc>
                <a:spcPct val="90000"/>
              </a:lnSpc>
              <a:spcBef>
                <a:spcPts val="1000"/>
              </a:spcBef>
              <a:spcAft>
                <a:spcPts val="0"/>
              </a:spcAft>
              <a:buClrTx/>
              <a:buSzPct val="120000"/>
              <a:buFontTx/>
              <a:buNone/>
              <a:tabLst/>
              <a:defRPr/>
            </a:pPr>
            <a:r>
              <a:rPr kumimoji="0" lang="en-GB" sz="900" b="0" i="0" u="none" strike="noStrike" kern="1200" cap="none" spc="0" normalizeH="0" baseline="0" noProof="0" dirty="0">
                <a:ln>
                  <a:noFill/>
                </a:ln>
                <a:solidFill>
                  <a:srgbClr val="344251"/>
                </a:solidFill>
                <a:effectLst/>
                <a:uLnTx/>
                <a:uFillTx/>
                <a:latin typeface="Arial"/>
                <a:ea typeface="メイリオ"/>
                <a:cs typeface="+mn-cs"/>
                <a:sym typeface="Symbol" panose="05050102010706020507" pitchFamily="18" charset="2"/>
              </a:rPr>
              <a:t>4) BPCE Equipment Solutions – New Finance Partner</a:t>
            </a:r>
          </a:p>
          <a:p>
            <a:pPr marL="0" marR="0" lvl="0" indent="0" algn="l" defTabSz="914400" rtl="0" eaLnBrk="1" fontAlgn="auto" latinLnBrk="0" hangingPunct="1">
              <a:lnSpc>
                <a:spcPct val="90000"/>
              </a:lnSpc>
              <a:spcBef>
                <a:spcPts val="1000"/>
              </a:spcBef>
              <a:spcAft>
                <a:spcPts val="0"/>
              </a:spcAft>
              <a:buClrTx/>
              <a:buSzPct val="120000"/>
              <a:buFontTx/>
              <a:buNone/>
              <a:tabLst/>
              <a:defRPr/>
            </a:pPr>
            <a:r>
              <a:rPr kumimoji="1" lang="en-GB" sz="900" b="0" i="0" u="none" strike="noStrike" kern="1200" cap="none" spc="0" normalizeH="0" baseline="0" noProof="0" dirty="0">
                <a:ln>
                  <a:noFill/>
                </a:ln>
                <a:solidFill>
                  <a:srgbClr val="344251"/>
                </a:solidFill>
                <a:effectLst/>
                <a:uLnTx/>
                <a:uFillTx/>
                <a:latin typeface="Arial"/>
                <a:ea typeface="メイリオ"/>
                <a:cs typeface="+mn-cs"/>
                <a:sym typeface="Symbol" panose="05050102010706020507" pitchFamily="18" charset="2"/>
              </a:rPr>
              <a:t>5) Key Rental &amp; Industry Sector Sales</a:t>
            </a:r>
          </a:p>
          <a:p>
            <a:pPr marL="0" marR="0" lvl="0" indent="0" algn="l" defTabSz="914400" rtl="0" eaLnBrk="1" fontAlgn="auto" latinLnBrk="0" hangingPunct="1">
              <a:lnSpc>
                <a:spcPct val="90000"/>
              </a:lnSpc>
              <a:spcBef>
                <a:spcPts val="1000"/>
              </a:spcBef>
              <a:spcAft>
                <a:spcPts val="0"/>
              </a:spcAft>
              <a:buClrTx/>
              <a:buSzPct val="120000"/>
              <a:buFontTx/>
              <a:buNone/>
              <a:tabLst/>
              <a:defRPr/>
            </a:pPr>
            <a:r>
              <a:rPr kumimoji="1" lang="en-GB" sz="900" b="0" i="0" u="none" strike="noStrike" kern="1200" cap="none" spc="0" normalizeH="0" baseline="0" noProof="0" dirty="0">
                <a:ln>
                  <a:noFill/>
                </a:ln>
                <a:solidFill>
                  <a:srgbClr val="344251"/>
                </a:solidFill>
                <a:effectLst/>
                <a:uLnTx/>
                <a:uFillTx/>
                <a:latin typeface="Arial"/>
                <a:ea typeface="メイリオ"/>
                <a:cs typeface="+mn-cs"/>
                <a:sym typeface="Symbol" panose="05050102010706020507" pitchFamily="18" charset="2"/>
              </a:rPr>
              <a:t>6) </a:t>
            </a:r>
            <a:r>
              <a:rPr kumimoji="0" lang="en-GB" sz="900" b="0" i="0" u="none" strike="noStrike" kern="1200" cap="none" spc="0" normalizeH="0" baseline="0" noProof="0" dirty="0">
                <a:ln>
                  <a:noFill/>
                </a:ln>
                <a:solidFill>
                  <a:srgbClr val="344251"/>
                </a:solidFill>
                <a:effectLst/>
                <a:uLnTx/>
                <a:uFillTx/>
                <a:latin typeface="Arial"/>
                <a:ea typeface="メイリオ"/>
                <a:cs typeface="+mn-cs"/>
                <a:sym typeface="Symbol" panose="05050102010706020507" pitchFamily="18" charset="2"/>
              </a:rPr>
              <a:t>New Dealer Appointments</a:t>
            </a:r>
          </a:p>
          <a:p>
            <a:pPr marL="0" marR="0" lvl="0" indent="0" algn="l" defTabSz="914400" rtl="0" eaLnBrk="1" fontAlgn="auto" latinLnBrk="0" hangingPunct="1">
              <a:lnSpc>
                <a:spcPct val="90000"/>
              </a:lnSpc>
              <a:spcBef>
                <a:spcPts val="1000"/>
              </a:spcBef>
              <a:spcAft>
                <a:spcPts val="0"/>
              </a:spcAft>
              <a:buClrTx/>
              <a:buSzPct val="120000"/>
              <a:buFontTx/>
              <a:buNone/>
              <a:tabLst/>
              <a:defRPr/>
            </a:pPr>
            <a:r>
              <a:rPr kumimoji="1" lang="en-GB" sz="900" b="0" i="0" u="none" strike="noStrike" kern="1200" cap="none" spc="0" normalizeH="0" baseline="0" noProof="0" dirty="0">
                <a:ln>
                  <a:noFill/>
                </a:ln>
                <a:solidFill>
                  <a:srgbClr val="344251"/>
                </a:solidFill>
                <a:effectLst/>
                <a:uLnTx/>
                <a:uFillTx/>
                <a:latin typeface="Arial"/>
                <a:ea typeface="メイリオ"/>
                <a:cs typeface="+mn-cs"/>
                <a:sym typeface="Symbol" panose="05050102010706020507" pitchFamily="18" charset="2"/>
              </a:rPr>
              <a:t>7) Partial Construction Sector Recovery</a:t>
            </a:r>
          </a:p>
          <a:p>
            <a:pPr marL="0" marR="0" lvl="0" indent="0" algn="l" defTabSz="914400" rtl="0" eaLnBrk="1" fontAlgn="auto" latinLnBrk="0" hangingPunct="1">
              <a:lnSpc>
                <a:spcPct val="90000"/>
              </a:lnSpc>
              <a:spcBef>
                <a:spcPts val="1000"/>
              </a:spcBef>
              <a:spcAft>
                <a:spcPts val="0"/>
              </a:spcAft>
              <a:buClrTx/>
              <a:buSzPct val="120000"/>
              <a:buFontTx/>
              <a:buNone/>
              <a:tabLst/>
              <a:defRPr/>
            </a:pPr>
            <a:r>
              <a:rPr kumimoji="0" lang="en-GB" sz="900" b="0" i="0" u="none" strike="noStrike" kern="1200" cap="none" spc="0" normalizeH="0" baseline="0" noProof="0" dirty="0">
                <a:ln>
                  <a:noFill/>
                </a:ln>
                <a:solidFill>
                  <a:srgbClr val="344251"/>
                </a:solidFill>
                <a:effectLst/>
                <a:uLnTx/>
                <a:uFillTx/>
                <a:latin typeface="Arial"/>
                <a:ea typeface="メイリオ"/>
                <a:cs typeface="+mn-cs"/>
                <a:sym typeface="Symbol" panose="05050102010706020507" pitchFamily="18" charset="2"/>
              </a:rPr>
              <a:t>8) Sub-Total Number of Units</a:t>
            </a:r>
          </a:p>
          <a:p>
            <a:pPr marL="0" marR="0" lvl="0" indent="0" algn="l" defTabSz="914400" rtl="0" eaLnBrk="1" fontAlgn="auto" latinLnBrk="0" hangingPunct="1">
              <a:lnSpc>
                <a:spcPct val="90000"/>
              </a:lnSpc>
              <a:spcBef>
                <a:spcPts val="1000"/>
              </a:spcBef>
              <a:spcAft>
                <a:spcPts val="0"/>
              </a:spcAft>
              <a:buClrTx/>
              <a:buSzPct val="120000"/>
              <a:buFontTx/>
              <a:buNone/>
              <a:tabLst/>
              <a:defRPr/>
            </a:pPr>
            <a:r>
              <a:rPr kumimoji="1" lang="en-GB" sz="900" b="0" i="0" u="none" strike="noStrike" kern="1200" cap="none" spc="0" normalizeH="0" baseline="0" noProof="0" dirty="0">
                <a:ln>
                  <a:noFill/>
                </a:ln>
                <a:solidFill>
                  <a:srgbClr val="344251"/>
                </a:solidFill>
                <a:effectLst/>
                <a:uLnTx/>
                <a:uFillTx/>
                <a:latin typeface="Arial"/>
                <a:ea typeface="メイリオ"/>
                <a:cs typeface="+mn-cs"/>
                <a:sym typeface="Symbol" panose="05050102010706020507" pitchFamily="18" charset="2"/>
              </a:rPr>
              <a:t>9) Jan-April 26 – No NLR Production – No R51 Derogation</a:t>
            </a:r>
          </a:p>
          <a:p>
            <a:pPr marL="0" marR="0" lvl="0" indent="0" algn="l" defTabSz="914400" rtl="0" eaLnBrk="1" fontAlgn="auto" latinLnBrk="0" hangingPunct="1">
              <a:lnSpc>
                <a:spcPct val="90000"/>
              </a:lnSpc>
              <a:spcBef>
                <a:spcPts val="1000"/>
              </a:spcBef>
              <a:spcAft>
                <a:spcPts val="0"/>
              </a:spcAft>
              <a:buClrTx/>
              <a:buSzPct val="120000"/>
              <a:buFontTx/>
              <a:buNone/>
              <a:tabLst/>
              <a:defRPr/>
            </a:pPr>
            <a:r>
              <a:rPr kumimoji="1" lang="en-GB" sz="900" b="0" i="0" u="none" strike="noStrike" kern="1200" cap="none" spc="0" normalizeH="0" baseline="0" noProof="0" dirty="0">
                <a:ln>
                  <a:noFill/>
                </a:ln>
                <a:solidFill>
                  <a:srgbClr val="344251"/>
                </a:solidFill>
                <a:effectLst/>
                <a:uLnTx/>
                <a:uFillTx/>
                <a:latin typeface="Arial"/>
                <a:ea typeface="メイリオ"/>
                <a:cs typeface="+mn-cs"/>
                <a:sym typeface="Symbol" panose="05050102010706020507" pitchFamily="18" charset="2"/>
              </a:rPr>
              <a:t>10) </a:t>
            </a:r>
            <a:r>
              <a:rPr kumimoji="0" lang="en-GB" sz="900" b="0" i="0" u="none" strike="noStrike" kern="1200" cap="none" spc="0" normalizeH="0" baseline="0" noProof="0" dirty="0">
                <a:ln>
                  <a:noFill/>
                </a:ln>
                <a:solidFill>
                  <a:srgbClr val="344251"/>
                </a:solidFill>
                <a:effectLst/>
                <a:uLnTx/>
                <a:uFillTx/>
                <a:latin typeface="Arial"/>
                <a:ea typeface="メイリオ"/>
                <a:cs typeface="+mn-cs"/>
                <a:sym typeface="Symbol" panose="05050102010706020507" pitchFamily="18" charset="2"/>
              </a:rPr>
              <a:t>Recoup Effect of New P700 Model Range (only if DTU &amp; </a:t>
            </a:r>
            <a:r>
              <a:rPr lang="en-GB" sz="900" dirty="0" err="1">
                <a:solidFill>
                  <a:srgbClr val="344251"/>
                </a:solidFill>
                <a:latin typeface="Arial"/>
                <a:ea typeface="メイリオ"/>
                <a:sym typeface="Symbol" panose="05050102010706020507" pitchFamily="18" charset="2"/>
              </a:rPr>
              <a:t>eC</a:t>
            </a:r>
            <a:r>
              <a:rPr kumimoji="0" lang="en-GB" sz="900" b="0" i="0" u="none" strike="noStrike" kern="1200" cap="none" spc="0" normalizeH="0" baseline="0" noProof="0" dirty="0">
                <a:ln>
                  <a:noFill/>
                </a:ln>
                <a:solidFill>
                  <a:srgbClr val="344251"/>
                </a:solidFill>
                <a:effectLst/>
                <a:uLnTx/>
                <a:uFillTx/>
                <a:latin typeface="Arial"/>
                <a:ea typeface="メイリオ"/>
                <a:cs typeface="+mn-cs"/>
                <a:sym typeface="Symbol" panose="05050102010706020507" pitchFamily="18" charset="2"/>
              </a:rPr>
              <a:t>all retrofit is possible)</a:t>
            </a:r>
          </a:p>
          <a:p>
            <a:pPr marL="0" marR="0" lvl="0" indent="0" algn="l" defTabSz="914400" rtl="0" eaLnBrk="1" fontAlgn="auto" latinLnBrk="0" hangingPunct="1">
              <a:lnSpc>
                <a:spcPct val="90000"/>
              </a:lnSpc>
              <a:spcBef>
                <a:spcPts val="1000"/>
              </a:spcBef>
              <a:spcAft>
                <a:spcPts val="0"/>
              </a:spcAft>
              <a:buClrTx/>
              <a:buSzPct val="120000"/>
              <a:buFontTx/>
              <a:buNone/>
              <a:tabLst/>
              <a:defRPr/>
            </a:pPr>
            <a:r>
              <a:rPr kumimoji="1" lang="en-GB" sz="900" b="0" i="0" u="none" strike="noStrike" kern="1200" cap="none" spc="0" normalizeH="0" baseline="0" noProof="0" dirty="0">
                <a:ln>
                  <a:noFill/>
                </a:ln>
                <a:solidFill>
                  <a:srgbClr val="344251"/>
                </a:solidFill>
                <a:effectLst/>
                <a:uLnTx/>
                <a:uFillTx/>
                <a:latin typeface="Arial"/>
                <a:ea typeface="メイリオ"/>
                <a:cs typeface="+mn-cs"/>
                <a:sym typeface="Symbol" panose="05050102010706020507" pitchFamily="18" charset="2"/>
              </a:rPr>
              <a:t>11)  FY26 Wholesale Target</a:t>
            </a:r>
          </a:p>
          <a:p>
            <a:pPr marL="0" marR="0" lvl="0" indent="0" algn="l" defTabSz="914400" rtl="0" eaLnBrk="1" fontAlgn="auto" latinLnBrk="0" hangingPunct="1">
              <a:lnSpc>
                <a:spcPct val="90000"/>
              </a:lnSpc>
              <a:spcBef>
                <a:spcPts val="1000"/>
              </a:spcBef>
              <a:spcAft>
                <a:spcPts val="0"/>
              </a:spcAft>
              <a:buClrTx/>
              <a:buSzPct val="120000"/>
              <a:buFontTx/>
              <a:buNone/>
              <a:tabLst/>
              <a:defRPr/>
            </a:pPr>
            <a:r>
              <a:rPr kumimoji="0" lang="en-GB" sz="900" b="0" i="0" u="none" strike="noStrike" kern="1200" cap="none" spc="0" normalizeH="0" baseline="0" noProof="0" dirty="0">
                <a:ln>
                  <a:noFill/>
                </a:ln>
                <a:solidFill>
                  <a:srgbClr val="344251"/>
                </a:solidFill>
                <a:effectLst/>
                <a:uLnTx/>
                <a:uFillTx/>
                <a:latin typeface="Arial"/>
                <a:ea typeface="メイリオ"/>
                <a:cs typeface="+mn-cs"/>
                <a:sym typeface="Symbol" panose="05050102010706020507" pitchFamily="18" charset="2"/>
              </a:rPr>
              <a:t>12) Risk – NLR SOP Delay Until Group D – July 26</a:t>
            </a:r>
          </a:p>
        </p:txBody>
      </p:sp>
      <p:graphicFrame>
        <p:nvGraphicFramePr>
          <p:cNvPr id="10" name="Table 9">
            <a:extLst>
              <a:ext uri="{FF2B5EF4-FFF2-40B4-BE49-F238E27FC236}">
                <a16:creationId xmlns:a16="http://schemas.microsoft.com/office/drawing/2014/main" id="{E9F6E42E-36E5-EC2E-00F6-6F909D749B68}"/>
              </a:ext>
            </a:extLst>
          </p:cNvPr>
          <p:cNvGraphicFramePr>
            <a:graphicFrameLocks noGrp="1"/>
          </p:cNvGraphicFramePr>
          <p:nvPr>
            <p:extLst>
              <p:ext uri="{D42A27DB-BD31-4B8C-83A1-F6EECF244321}">
                <p14:modId xmlns:p14="http://schemas.microsoft.com/office/powerpoint/2010/main" val="3494312327"/>
              </p:ext>
            </p:extLst>
          </p:nvPr>
        </p:nvGraphicFramePr>
        <p:xfrm>
          <a:off x="39723" y="4853677"/>
          <a:ext cx="7307092" cy="1978126"/>
        </p:xfrm>
        <a:graphic>
          <a:graphicData uri="http://schemas.openxmlformats.org/drawingml/2006/table">
            <a:tbl>
              <a:tblPr firstRow="1" bandRow="1">
                <a:tableStyleId>{5C22544A-7EE6-4342-B048-85BDC9FD1C3A}</a:tableStyleId>
              </a:tblPr>
              <a:tblGrid>
                <a:gridCol w="2800754">
                  <a:extLst>
                    <a:ext uri="{9D8B030D-6E8A-4147-A177-3AD203B41FA5}">
                      <a16:colId xmlns:a16="http://schemas.microsoft.com/office/drawing/2014/main" val="3290866031"/>
                    </a:ext>
                  </a:extLst>
                </a:gridCol>
                <a:gridCol w="852792">
                  <a:extLst>
                    <a:ext uri="{9D8B030D-6E8A-4147-A177-3AD203B41FA5}">
                      <a16:colId xmlns:a16="http://schemas.microsoft.com/office/drawing/2014/main" val="1670061625"/>
                    </a:ext>
                  </a:extLst>
                </a:gridCol>
                <a:gridCol w="2765897">
                  <a:extLst>
                    <a:ext uri="{9D8B030D-6E8A-4147-A177-3AD203B41FA5}">
                      <a16:colId xmlns:a16="http://schemas.microsoft.com/office/drawing/2014/main" val="2810774696"/>
                    </a:ext>
                  </a:extLst>
                </a:gridCol>
                <a:gridCol w="887649">
                  <a:extLst>
                    <a:ext uri="{9D8B030D-6E8A-4147-A177-3AD203B41FA5}">
                      <a16:colId xmlns:a16="http://schemas.microsoft.com/office/drawing/2014/main" val="966555522"/>
                    </a:ext>
                  </a:extLst>
                </a:gridCol>
              </a:tblGrid>
              <a:tr h="406286">
                <a:tc>
                  <a:txBody>
                    <a:bodyPr/>
                    <a:lstStyle/>
                    <a:p>
                      <a:pPr algn="ctr"/>
                      <a:r>
                        <a:rPr lang="en-GB" sz="1200" dirty="0"/>
                        <a:t>Industry Sector (Column 5)</a:t>
                      </a:r>
                    </a:p>
                  </a:txBody>
                  <a:tcPr>
                    <a:solidFill>
                      <a:srgbClr val="002664"/>
                    </a:solidFill>
                  </a:tcPr>
                </a:tc>
                <a:tc>
                  <a:txBody>
                    <a:bodyPr/>
                    <a:lstStyle/>
                    <a:p>
                      <a:pPr algn="ctr"/>
                      <a:r>
                        <a:rPr lang="en-GB" sz="1200" dirty="0"/>
                        <a:t>Potential</a:t>
                      </a:r>
                    </a:p>
                    <a:p>
                      <a:pPr algn="ctr"/>
                      <a:r>
                        <a:rPr lang="en-GB" sz="1200" dirty="0"/>
                        <a:t>Volume</a:t>
                      </a:r>
                    </a:p>
                  </a:txBody>
                  <a:tcPr>
                    <a:solidFill>
                      <a:srgbClr val="00266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dirty="0"/>
                        <a:t>Industry Sector (Column 5)</a:t>
                      </a:r>
                    </a:p>
                  </a:txBody>
                  <a:tcPr>
                    <a:solidFill>
                      <a:srgbClr val="00266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GB" sz="1200" b="1" i="0" u="none" strike="noStrike" kern="1200" cap="none" spc="0" normalizeH="0" baseline="0" noProof="0" dirty="0">
                          <a:ln>
                            <a:noFill/>
                          </a:ln>
                          <a:solidFill>
                            <a:srgbClr val="FFFFFF"/>
                          </a:solidFill>
                          <a:effectLst/>
                          <a:uLnTx/>
                          <a:uFillTx/>
                          <a:latin typeface="+mn-lt"/>
                          <a:ea typeface="+mn-ea"/>
                          <a:cs typeface="+mn-cs"/>
                        </a:rPr>
                        <a:t>Potential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GB" sz="1200" b="1" i="0" u="none" strike="noStrike" kern="1200" cap="none" spc="0" normalizeH="0" baseline="0" noProof="0" dirty="0">
                          <a:ln>
                            <a:noFill/>
                          </a:ln>
                          <a:solidFill>
                            <a:srgbClr val="FFFFFF"/>
                          </a:solidFill>
                          <a:effectLst/>
                          <a:uLnTx/>
                          <a:uFillTx/>
                          <a:latin typeface="+mn-lt"/>
                          <a:ea typeface="+mn-ea"/>
                          <a:cs typeface="+mn-cs"/>
                        </a:rPr>
                        <a:t>Volume</a:t>
                      </a:r>
                    </a:p>
                  </a:txBody>
                  <a:tcPr>
                    <a:solidFill>
                      <a:srgbClr val="002664"/>
                    </a:solidFill>
                  </a:tcPr>
                </a:tc>
                <a:extLst>
                  <a:ext uri="{0D108BD9-81ED-4DB2-BD59-A6C34878D82A}">
                    <a16:rowId xmlns:a16="http://schemas.microsoft.com/office/drawing/2014/main" val="2822363320"/>
                  </a:ext>
                </a:extLst>
              </a:tr>
              <a:tr h="264237">
                <a:tc>
                  <a:txBody>
                    <a:bodyPr/>
                    <a:lstStyle/>
                    <a:p>
                      <a:pPr algn="l"/>
                      <a:r>
                        <a:rPr lang="en-GB" sz="1200" dirty="0">
                          <a:solidFill>
                            <a:srgbClr val="344251"/>
                          </a:solidFill>
                        </a:rPr>
                        <a:t>Rental, Contract Hire &amp; Leasing</a:t>
                      </a:r>
                    </a:p>
                  </a:txBody>
                  <a:tcPr anchor="ctr">
                    <a:solidFill>
                      <a:schemeClr val="bg1">
                        <a:lumMod val="95000"/>
                      </a:schemeClr>
                    </a:solidFill>
                  </a:tcPr>
                </a:tc>
                <a:tc>
                  <a:txBody>
                    <a:bodyPr/>
                    <a:lstStyle/>
                    <a:p>
                      <a:pPr algn="ctr"/>
                      <a:r>
                        <a:rPr lang="en-GB" sz="1200" dirty="0">
                          <a:solidFill>
                            <a:srgbClr val="344251"/>
                          </a:solidFill>
                        </a:rPr>
                        <a:t>50</a:t>
                      </a:r>
                    </a:p>
                  </a:txBody>
                  <a:tcPr anchor="ctr">
                    <a:solidFill>
                      <a:schemeClr val="bg1">
                        <a:lumMod val="95000"/>
                      </a:schemeClr>
                    </a:solidFill>
                  </a:tcPr>
                </a:tc>
                <a:tc>
                  <a:txBody>
                    <a:bodyPr/>
                    <a:lstStyle/>
                    <a:p>
                      <a:pPr algn="l"/>
                      <a:r>
                        <a:rPr lang="en-GB" sz="1200" dirty="0">
                          <a:solidFill>
                            <a:srgbClr val="344251"/>
                          </a:solidFill>
                        </a:rPr>
                        <a:t>Landscaping &amp; Arboriculture</a:t>
                      </a:r>
                    </a:p>
                  </a:txBody>
                  <a:tcPr anchor="ctr">
                    <a:solidFill>
                      <a:schemeClr val="bg1">
                        <a:lumMod val="95000"/>
                      </a:schemeClr>
                    </a:solidFill>
                  </a:tcPr>
                </a:tc>
                <a:tc>
                  <a:txBody>
                    <a:bodyPr/>
                    <a:lstStyle/>
                    <a:p>
                      <a:pPr algn="ctr"/>
                      <a:r>
                        <a:rPr lang="en-GB" sz="1200" dirty="0">
                          <a:solidFill>
                            <a:srgbClr val="344251"/>
                          </a:solidFill>
                        </a:rPr>
                        <a:t>25</a:t>
                      </a:r>
                    </a:p>
                  </a:txBody>
                  <a:tcPr anchor="ctr">
                    <a:solidFill>
                      <a:schemeClr val="bg1">
                        <a:lumMod val="95000"/>
                      </a:schemeClr>
                    </a:solidFill>
                  </a:tcPr>
                </a:tc>
                <a:extLst>
                  <a:ext uri="{0D108BD9-81ED-4DB2-BD59-A6C34878D82A}">
                    <a16:rowId xmlns:a16="http://schemas.microsoft.com/office/drawing/2014/main" val="1622088566"/>
                  </a:ext>
                </a:extLst>
              </a:tr>
              <a:tr h="340249">
                <a:tc>
                  <a:txBody>
                    <a:bodyPr/>
                    <a:lstStyle/>
                    <a:p>
                      <a:pPr algn="l"/>
                      <a:r>
                        <a:rPr lang="en-GB" sz="1200" dirty="0">
                          <a:solidFill>
                            <a:srgbClr val="344251"/>
                          </a:solidFill>
                        </a:rPr>
                        <a:t>Construction</a:t>
                      </a:r>
                    </a:p>
                  </a:txBody>
                  <a:tcPr anchor="ctr">
                    <a:solidFill>
                      <a:schemeClr val="bg1">
                        <a:lumMod val="85000"/>
                      </a:schemeClr>
                    </a:solidFill>
                  </a:tcPr>
                </a:tc>
                <a:tc>
                  <a:txBody>
                    <a:bodyPr/>
                    <a:lstStyle/>
                    <a:p>
                      <a:pPr algn="ctr"/>
                      <a:r>
                        <a:rPr lang="en-GB" sz="1200" dirty="0">
                          <a:solidFill>
                            <a:srgbClr val="344251"/>
                          </a:solidFill>
                        </a:rPr>
                        <a:t>25</a:t>
                      </a:r>
                    </a:p>
                  </a:txBody>
                  <a:tcPr anchor="c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344251"/>
                          </a:solidFill>
                        </a:rPr>
                        <a:t>Recovery</a:t>
                      </a:r>
                    </a:p>
                  </a:txBody>
                  <a:tcPr anchor="ctr">
                    <a:solidFill>
                      <a:schemeClr val="bg1">
                        <a:lumMod val="85000"/>
                      </a:schemeClr>
                    </a:solidFill>
                  </a:tcPr>
                </a:tc>
                <a:tc>
                  <a:txBody>
                    <a:bodyPr/>
                    <a:lstStyle/>
                    <a:p>
                      <a:pPr algn="ctr"/>
                      <a:r>
                        <a:rPr lang="en-GB" sz="1200" dirty="0">
                          <a:solidFill>
                            <a:srgbClr val="344251"/>
                          </a:solidFill>
                        </a:rPr>
                        <a:t>25</a:t>
                      </a:r>
                    </a:p>
                  </a:txBody>
                  <a:tcPr anchor="ctr">
                    <a:solidFill>
                      <a:schemeClr val="bg1">
                        <a:lumMod val="85000"/>
                      </a:schemeClr>
                    </a:solidFill>
                  </a:tcPr>
                </a:tc>
                <a:extLst>
                  <a:ext uri="{0D108BD9-81ED-4DB2-BD59-A6C34878D82A}">
                    <a16:rowId xmlns:a16="http://schemas.microsoft.com/office/drawing/2014/main" val="3620034946"/>
                  </a:ext>
                </a:extLst>
              </a:tr>
              <a:tr h="264237">
                <a:tc>
                  <a:txBody>
                    <a:bodyPr/>
                    <a:lstStyle/>
                    <a:p>
                      <a:pPr algn="l"/>
                      <a:r>
                        <a:rPr lang="en-GB" sz="1200" dirty="0">
                          <a:solidFill>
                            <a:srgbClr val="344251"/>
                          </a:solidFill>
                        </a:rPr>
                        <a:t>Plant Hire</a:t>
                      </a:r>
                    </a:p>
                  </a:txBody>
                  <a:tcPr anchor="ctr">
                    <a:solidFill>
                      <a:schemeClr val="bg1">
                        <a:lumMod val="95000"/>
                      </a:schemeClr>
                    </a:solidFill>
                  </a:tcPr>
                </a:tc>
                <a:tc>
                  <a:txBody>
                    <a:bodyPr/>
                    <a:lstStyle/>
                    <a:p>
                      <a:pPr algn="ctr"/>
                      <a:r>
                        <a:rPr lang="en-GB" sz="1200" dirty="0">
                          <a:solidFill>
                            <a:srgbClr val="344251"/>
                          </a:solidFill>
                        </a:rPr>
                        <a:t>25</a:t>
                      </a:r>
                    </a:p>
                  </a:txBody>
                  <a:tcPr anchor="ctr">
                    <a:solidFill>
                      <a:schemeClr val="bg1">
                        <a:lumMod val="95000"/>
                      </a:schemeClr>
                    </a:solidFill>
                  </a:tcPr>
                </a:tc>
                <a:tc>
                  <a:txBody>
                    <a:bodyPr/>
                    <a:lstStyle/>
                    <a:p>
                      <a:pPr algn="l"/>
                      <a:r>
                        <a:rPr lang="en-GB" sz="1200" dirty="0">
                          <a:solidFill>
                            <a:srgbClr val="344251"/>
                          </a:solidFill>
                        </a:rPr>
                        <a:t>Utilities &amp; Municipal</a:t>
                      </a:r>
                    </a:p>
                  </a:txBody>
                  <a:tcPr anchor="ctr">
                    <a:solidFill>
                      <a:schemeClr val="bg1">
                        <a:lumMod val="95000"/>
                      </a:schemeClr>
                    </a:solidFill>
                  </a:tcPr>
                </a:tc>
                <a:tc>
                  <a:txBody>
                    <a:bodyPr/>
                    <a:lstStyle/>
                    <a:p>
                      <a:pPr algn="ctr"/>
                      <a:r>
                        <a:rPr lang="en-GB" sz="1200" dirty="0">
                          <a:solidFill>
                            <a:srgbClr val="344251"/>
                          </a:solidFill>
                        </a:rPr>
                        <a:t>25</a:t>
                      </a:r>
                    </a:p>
                  </a:txBody>
                  <a:tcPr anchor="ctr">
                    <a:solidFill>
                      <a:schemeClr val="bg1">
                        <a:lumMod val="95000"/>
                      </a:schemeClr>
                    </a:solidFill>
                  </a:tcPr>
                </a:tc>
                <a:extLst>
                  <a:ext uri="{0D108BD9-81ED-4DB2-BD59-A6C34878D82A}">
                    <a16:rowId xmlns:a16="http://schemas.microsoft.com/office/drawing/2014/main" val="469823551"/>
                  </a:ext>
                </a:extLst>
              </a:tr>
              <a:tr h="367800">
                <a:tc>
                  <a:txBody>
                    <a:bodyPr/>
                    <a:lstStyle/>
                    <a:p>
                      <a:pPr algn="l"/>
                      <a:r>
                        <a:rPr lang="en-GB" sz="1200" dirty="0">
                          <a:solidFill>
                            <a:srgbClr val="344251"/>
                          </a:solidFill>
                        </a:rPr>
                        <a:t>Builders Merchants</a:t>
                      </a:r>
                    </a:p>
                  </a:txBody>
                  <a:tcPr anchor="ctr">
                    <a:solidFill>
                      <a:schemeClr val="bg1">
                        <a:lumMod val="85000"/>
                      </a:schemeClr>
                    </a:solidFill>
                  </a:tcPr>
                </a:tc>
                <a:tc>
                  <a:txBody>
                    <a:bodyPr/>
                    <a:lstStyle/>
                    <a:p>
                      <a:pPr algn="ctr"/>
                      <a:r>
                        <a:rPr lang="en-GB" sz="1200" dirty="0">
                          <a:solidFill>
                            <a:srgbClr val="344251"/>
                          </a:solidFill>
                        </a:rPr>
                        <a:t>25</a:t>
                      </a:r>
                    </a:p>
                  </a:txBody>
                  <a:tcPr anchor="c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344251"/>
                          </a:solidFill>
                        </a:rPr>
                        <a:t>Refrigerated Goods - Insulated</a:t>
                      </a:r>
                    </a:p>
                  </a:txBody>
                  <a:tcPr anchor="ctr">
                    <a:solidFill>
                      <a:schemeClr val="bg1">
                        <a:lumMod val="85000"/>
                      </a:schemeClr>
                    </a:solidFill>
                  </a:tcPr>
                </a:tc>
                <a:tc>
                  <a:txBody>
                    <a:bodyPr/>
                    <a:lstStyle/>
                    <a:p>
                      <a:pPr algn="ctr"/>
                      <a:r>
                        <a:rPr lang="en-GB" sz="1200" dirty="0">
                          <a:solidFill>
                            <a:srgbClr val="344251"/>
                          </a:solidFill>
                        </a:rPr>
                        <a:t>25</a:t>
                      </a:r>
                    </a:p>
                  </a:txBody>
                  <a:tcPr anchor="ctr">
                    <a:solidFill>
                      <a:schemeClr val="bg1">
                        <a:lumMod val="85000"/>
                      </a:schemeClr>
                    </a:solidFill>
                  </a:tcPr>
                </a:tc>
                <a:extLst>
                  <a:ext uri="{0D108BD9-81ED-4DB2-BD59-A6C34878D82A}">
                    <a16:rowId xmlns:a16="http://schemas.microsoft.com/office/drawing/2014/main" val="3559470231"/>
                  </a:ext>
                </a:extLst>
              </a:tr>
              <a:tr h="264237">
                <a:tc gridSpan="4">
                  <a:txBody>
                    <a:bodyPr/>
                    <a:lstStyle/>
                    <a:p>
                      <a:pPr algn="l"/>
                      <a:r>
                        <a:rPr lang="en-GB" sz="800" dirty="0">
                          <a:solidFill>
                            <a:srgbClr val="344251"/>
                          </a:solidFill>
                        </a:rPr>
                        <a:t>Regional Fleet Industry Sector Focus To Achieve FY26 Wholesale Plan Shown Above</a:t>
                      </a:r>
                    </a:p>
                  </a:txBody>
                  <a:tcPr anchor="ctr">
                    <a:solidFill>
                      <a:schemeClr val="bg1">
                        <a:lumMod val="85000"/>
                      </a:schemeClr>
                    </a:solidFill>
                  </a:tcPr>
                </a:tc>
                <a:tc hMerge="1">
                  <a:txBody>
                    <a:bodyPr/>
                    <a:lstStyle/>
                    <a:p>
                      <a:pPr algn="ctr"/>
                      <a:endParaRPr lang="en-GB" sz="1200" dirty="0">
                        <a:solidFill>
                          <a:srgbClr val="344251"/>
                        </a:solidFill>
                      </a:endParaRPr>
                    </a:p>
                  </a:txBody>
                  <a:tcPr anchor="ctr">
                    <a:solidFill>
                      <a:schemeClr val="bg1">
                        <a:lumMod val="85000"/>
                      </a:schemeClr>
                    </a:solidFill>
                  </a:tcPr>
                </a:tc>
                <a:tc hMerge="1">
                  <a:txBody>
                    <a:bodyPr/>
                    <a:lstStyle/>
                    <a:p>
                      <a:pPr algn="l"/>
                      <a:endParaRPr lang="en-GB" sz="1200" dirty="0">
                        <a:solidFill>
                          <a:srgbClr val="344251"/>
                        </a:solidFill>
                      </a:endParaRPr>
                    </a:p>
                  </a:txBody>
                  <a:tcPr anchor="ctr">
                    <a:solidFill>
                      <a:schemeClr val="bg1">
                        <a:lumMod val="85000"/>
                      </a:schemeClr>
                    </a:solidFill>
                  </a:tcPr>
                </a:tc>
                <a:tc hMerge="1">
                  <a:txBody>
                    <a:bodyPr/>
                    <a:lstStyle/>
                    <a:p>
                      <a:pPr algn="ctr"/>
                      <a:endParaRPr lang="en-GB" sz="1200" dirty="0">
                        <a:solidFill>
                          <a:srgbClr val="344251"/>
                        </a:solidFill>
                      </a:endParaRPr>
                    </a:p>
                  </a:txBody>
                  <a:tcPr anchor="ctr">
                    <a:solidFill>
                      <a:schemeClr val="bg1">
                        <a:lumMod val="85000"/>
                      </a:schemeClr>
                    </a:solidFill>
                  </a:tcPr>
                </a:tc>
                <a:extLst>
                  <a:ext uri="{0D108BD9-81ED-4DB2-BD59-A6C34878D82A}">
                    <a16:rowId xmlns:a16="http://schemas.microsoft.com/office/drawing/2014/main" val="1043878921"/>
                  </a:ext>
                </a:extLst>
              </a:tr>
            </a:tbl>
          </a:graphicData>
        </a:graphic>
      </p:graphicFrame>
    </p:spTree>
    <p:extLst>
      <p:ext uri="{BB962C8B-B14F-4D97-AF65-F5344CB8AC3E}">
        <p14:creationId xmlns:p14="http://schemas.microsoft.com/office/powerpoint/2010/main" val="2829837283"/>
      </p:ext>
    </p:extLst>
  </p:cSld>
  <p:clrMapOvr>
    <a:masterClrMapping/>
  </p:clrMapOvr>
  <mc:AlternateContent xmlns:mc="http://schemas.openxmlformats.org/markup-compatibility/2006" xmlns:p14="http://schemas.microsoft.com/office/powerpoint/2010/main">
    <mc:Choice Requires="p14">
      <p:transition spd="slow" p14:dur="2000" advTm="134146"/>
    </mc:Choice>
    <mc:Fallback xmlns="">
      <p:transition spd="slow" advTm="13414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3E282-7822-90B0-DBDC-8F691E09681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2F68698-17F6-7CB6-38BD-1634F3F4BE33}"/>
              </a:ext>
            </a:extLst>
          </p:cNvPr>
          <p:cNvGraphicFramePr>
            <a:graphicFrameLocks noGrp="1"/>
          </p:cNvGraphicFramePr>
          <p:nvPr>
            <p:extLst>
              <p:ext uri="{D42A27DB-BD31-4B8C-83A1-F6EECF244321}">
                <p14:modId xmlns:p14="http://schemas.microsoft.com/office/powerpoint/2010/main" val="1357327963"/>
              </p:ext>
            </p:extLst>
          </p:nvPr>
        </p:nvGraphicFramePr>
        <p:xfrm>
          <a:off x="191340" y="1359567"/>
          <a:ext cx="11691104" cy="5264748"/>
        </p:xfrm>
        <a:graphic>
          <a:graphicData uri="http://schemas.openxmlformats.org/drawingml/2006/table">
            <a:tbl>
              <a:tblPr firstRow="1" bandRow="1">
                <a:tableStyleId>{21E4AEA4-8DFA-4A89-87EB-49C32662AFE0}</a:tableStyleId>
              </a:tblPr>
              <a:tblGrid>
                <a:gridCol w="730694">
                  <a:extLst>
                    <a:ext uri="{9D8B030D-6E8A-4147-A177-3AD203B41FA5}">
                      <a16:colId xmlns:a16="http://schemas.microsoft.com/office/drawing/2014/main" val="3844626300"/>
                    </a:ext>
                  </a:extLst>
                </a:gridCol>
                <a:gridCol w="730694">
                  <a:extLst>
                    <a:ext uri="{9D8B030D-6E8A-4147-A177-3AD203B41FA5}">
                      <a16:colId xmlns:a16="http://schemas.microsoft.com/office/drawing/2014/main" val="3460760738"/>
                    </a:ext>
                  </a:extLst>
                </a:gridCol>
                <a:gridCol w="730694">
                  <a:extLst>
                    <a:ext uri="{9D8B030D-6E8A-4147-A177-3AD203B41FA5}">
                      <a16:colId xmlns:a16="http://schemas.microsoft.com/office/drawing/2014/main" val="1347188127"/>
                    </a:ext>
                  </a:extLst>
                </a:gridCol>
                <a:gridCol w="730694">
                  <a:extLst>
                    <a:ext uri="{9D8B030D-6E8A-4147-A177-3AD203B41FA5}">
                      <a16:colId xmlns:a16="http://schemas.microsoft.com/office/drawing/2014/main" val="722719720"/>
                    </a:ext>
                  </a:extLst>
                </a:gridCol>
                <a:gridCol w="730694">
                  <a:extLst>
                    <a:ext uri="{9D8B030D-6E8A-4147-A177-3AD203B41FA5}">
                      <a16:colId xmlns:a16="http://schemas.microsoft.com/office/drawing/2014/main" val="2359243490"/>
                    </a:ext>
                  </a:extLst>
                </a:gridCol>
                <a:gridCol w="730694">
                  <a:extLst>
                    <a:ext uri="{9D8B030D-6E8A-4147-A177-3AD203B41FA5}">
                      <a16:colId xmlns:a16="http://schemas.microsoft.com/office/drawing/2014/main" val="1022169572"/>
                    </a:ext>
                  </a:extLst>
                </a:gridCol>
                <a:gridCol w="730694">
                  <a:extLst>
                    <a:ext uri="{9D8B030D-6E8A-4147-A177-3AD203B41FA5}">
                      <a16:colId xmlns:a16="http://schemas.microsoft.com/office/drawing/2014/main" val="171093957"/>
                    </a:ext>
                  </a:extLst>
                </a:gridCol>
                <a:gridCol w="730694">
                  <a:extLst>
                    <a:ext uri="{9D8B030D-6E8A-4147-A177-3AD203B41FA5}">
                      <a16:colId xmlns:a16="http://schemas.microsoft.com/office/drawing/2014/main" val="1449063638"/>
                    </a:ext>
                  </a:extLst>
                </a:gridCol>
                <a:gridCol w="730694">
                  <a:extLst>
                    <a:ext uri="{9D8B030D-6E8A-4147-A177-3AD203B41FA5}">
                      <a16:colId xmlns:a16="http://schemas.microsoft.com/office/drawing/2014/main" val="2334449672"/>
                    </a:ext>
                  </a:extLst>
                </a:gridCol>
                <a:gridCol w="730694">
                  <a:extLst>
                    <a:ext uri="{9D8B030D-6E8A-4147-A177-3AD203B41FA5}">
                      <a16:colId xmlns:a16="http://schemas.microsoft.com/office/drawing/2014/main" val="2331030412"/>
                    </a:ext>
                  </a:extLst>
                </a:gridCol>
                <a:gridCol w="730694">
                  <a:extLst>
                    <a:ext uri="{9D8B030D-6E8A-4147-A177-3AD203B41FA5}">
                      <a16:colId xmlns:a16="http://schemas.microsoft.com/office/drawing/2014/main" val="2463156659"/>
                    </a:ext>
                  </a:extLst>
                </a:gridCol>
                <a:gridCol w="730694">
                  <a:extLst>
                    <a:ext uri="{9D8B030D-6E8A-4147-A177-3AD203B41FA5}">
                      <a16:colId xmlns:a16="http://schemas.microsoft.com/office/drawing/2014/main" val="3084775681"/>
                    </a:ext>
                  </a:extLst>
                </a:gridCol>
                <a:gridCol w="730694">
                  <a:extLst>
                    <a:ext uri="{9D8B030D-6E8A-4147-A177-3AD203B41FA5}">
                      <a16:colId xmlns:a16="http://schemas.microsoft.com/office/drawing/2014/main" val="349333766"/>
                    </a:ext>
                  </a:extLst>
                </a:gridCol>
                <a:gridCol w="730694">
                  <a:extLst>
                    <a:ext uri="{9D8B030D-6E8A-4147-A177-3AD203B41FA5}">
                      <a16:colId xmlns:a16="http://schemas.microsoft.com/office/drawing/2014/main" val="3864830936"/>
                    </a:ext>
                  </a:extLst>
                </a:gridCol>
                <a:gridCol w="730694">
                  <a:extLst>
                    <a:ext uri="{9D8B030D-6E8A-4147-A177-3AD203B41FA5}">
                      <a16:colId xmlns:a16="http://schemas.microsoft.com/office/drawing/2014/main" val="641272745"/>
                    </a:ext>
                  </a:extLst>
                </a:gridCol>
                <a:gridCol w="730694">
                  <a:extLst>
                    <a:ext uri="{9D8B030D-6E8A-4147-A177-3AD203B41FA5}">
                      <a16:colId xmlns:a16="http://schemas.microsoft.com/office/drawing/2014/main" val="1586836628"/>
                    </a:ext>
                  </a:extLst>
                </a:gridCol>
              </a:tblGrid>
              <a:tr h="493920">
                <a:tc gridSpan="2">
                  <a:txBody>
                    <a:bodyPr/>
                    <a:lstStyle/>
                    <a:p>
                      <a:pPr algn="ctr"/>
                      <a:r>
                        <a:rPr lang="en-US" dirty="0"/>
                        <a:t>2025</a:t>
                      </a:r>
                    </a:p>
                  </a:txBody>
                  <a:tcPr>
                    <a:lnB w="12700" cap="flat" cmpd="sng" algn="ctr">
                      <a:solidFill>
                        <a:schemeClr val="bg1"/>
                      </a:solidFill>
                      <a:prstDash val="solid"/>
                      <a:round/>
                      <a:headEnd type="none" w="med" len="med"/>
                      <a:tailEnd type="none" w="med" len="med"/>
                    </a:lnB>
                  </a:tcPr>
                </a:tc>
                <a:tc hMerge="1">
                  <a:txBody>
                    <a:bodyPr/>
                    <a:lstStyle/>
                    <a:p>
                      <a:pPr algn="ctr"/>
                      <a:endParaRPr lang="en-US" dirty="0"/>
                    </a:p>
                  </a:txBody>
                  <a:tcPr/>
                </a:tc>
                <a:tc gridSpan="12">
                  <a:txBody>
                    <a:bodyPr/>
                    <a:lstStyle/>
                    <a:p>
                      <a:pPr algn="ctr"/>
                      <a:r>
                        <a:rPr lang="en-US" dirty="0"/>
                        <a:t>2026</a:t>
                      </a:r>
                    </a:p>
                  </a:txBody>
                  <a:tcPr>
                    <a:lnB w="12700" cap="flat" cmpd="sng" algn="ctr">
                      <a:solidFill>
                        <a:schemeClr val="bg1"/>
                      </a:solidFill>
                      <a:prstDash val="solid"/>
                      <a:round/>
                      <a:headEnd type="none" w="med" len="med"/>
                      <a:tailEnd type="none" w="med" len="med"/>
                    </a:lnB>
                  </a:tcPr>
                </a:tc>
                <a:tc hMerge="1">
                  <a:txBody>
                    <a:bodyPr/>
                    <a:lstStyle/>
                    <a:p>
                      <a:endParaRPr dirty="0"/>
                    </a:p>
                  </a:txBody>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gridSpan="2">
                  <a:txBody>
                    <a:bodyPr/>
                    <a:lstStyle/>
                    <a:p>
                      <a:pPr algn="ctr"/>
                      <a:r>
                        <a:rPr lang="en-US" dirty="0"/>
                        <a:t>2027</a:t>
                      </a:r>
                    </a:p>
                  </a:txBody>
                  <a:tcPr>
                    <a:lnB w="12700" cap="flat" cmpd="sng" algn="ctr">
                      <a:solidFill>
                        <a:schemeClr val="bg1"/>
                      </a:solidFill>
                      <a:prstDash val="solid"/>
                      <a:round/>
                      <a:headEnd type="none" w="med" len="med"/>
                      <a:tailEnd type="none" w="med" len="med"/>
                    </a:lnB>
                  </a:tcPr>
                </a:tc>
                <a:tc hMerge="1">
                  <a:txBody>
                    <a:bodyPr/>
                    <a:lstStyle/>
                    <a:p>
                      <a:pPr algn="ctr"/>
                      <a:endParaRPr lang="en-US" dirty="0"/>
                    </a:p>
                  </a:txBody>
                  <a:tcPr/>
                </a:tc>
                <a:extLst>
                  <a:ext uri="{0D108BD9-81ED-4DB2-BD59-A6C34878D82A}">
                    <a16:rowId xmlns:a16="http://schemas.microsoft.com/office/drawing/2014/main" val="890456686"/>
                  </a:ext>
                </a:extLst>
              </a:tr>
              <a:tr h="568003">
                <a:tc>
                  <a:txBody>
                    <a:bodyPr/>
                    <a:lstStyle/>
                    <a:p>
                      <a:pPr algn="ctr"/>
                      <a:r>
                        <a:rPr lang="en-US" dirty="0">
                          <a:solidFill>
                            <a:schemeClr val="bg1"/>
                          </a:solidFill>
                        </a:rPr>
                        <a:t>NOV</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dirty="0">
                          <a:solidFill>
                            <a:schemeClr val="bg1"/>
                          </a:solidFill>
                        </a:rPr>
                        <a:t>DEC</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dirty="0">
                          <a:solidFill>
                            <a:schemeClr val="bg1"/>
                          </a:solidFill>
                        </a:rPr>
                        <a:t>JAN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dirty="0">
                          <a:solidFill>
                            <a:schemeClr val="bg1"/>
                          </a:solidFill>
                        </a:rPr>
                        <a:t>FEB</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dirty="0">
                          <a:solidFill>
                            <a:schemeClr val="bg1"/>
                          </a:solidFill>
                        </a:rPr>
                        <a:t>MAR</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dirty="0">
                          <a:solidFill>
                            <a:schemeClr val="bg1"/>
                          </a:solidFill>
                        </a:rPr>
                        <a:t>APR</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dirty="0">
                          <a:solidFill>
                            <a:schemeClr val="bg1"/>
                          </a:solidFill>
                        </a:rPr>
                        <a:t>MAY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dirty="0">
                          <a:solidFill>
                            <a:schemeClr val="bg1"/>
                          </a:solidFill>
                        </a:rPr>
                        <a:t>JUN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dirty="0">
                          <a:solidFill>
                            <a:schemeClr val="bg1"/>
                          </a:solidFill>
                        </a:rPr>
                        <a:t>JUL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dirty="0">
                          <a:solidFill>
                            <a:schemeClr val="bg1"/>
                          </a:solidFill>
                        </a:rPr>
                        <a:t>AUG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dirty="0">
                          <a:solidFill>
                            <a:schemeClr val="bg1"/>
                          </a:solidFill>
                        </a:rPr>
                        <a:t>SEP</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dirty="0">
                          <a:solidFill>
                            <a:schemeClr val="bg1"/>
                          </a:solidFill>
                        </a:rPr>
                        <a:t>OCT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dirty="0">
                          <a:solidFill>
                            <a:schemeClr val="bg1"/>
                          </a:solidFill>
                        </a:rPr>
                        <a:t>NOV</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dirty="0">
                          <a:solidFill>
                            <a:schemeClr val="bg1"/>
                          </a:solidFill>
                        </a:rPr>
                        <a:t>DEC</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dirty="0">
                          <a:solidFill>
                            <a:schemeClr val="bg1"/>
                          </a:solidFill>
                        </a:rPr>
                        <a:t>JAN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dirty="0">
                          <a:solidFill>
                            <a:schemeClr val="bg1"/>
                          </a:solidFill>
                        </a:rPr>
                        <a:t>FEB</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141860105"/>
                  </a:ext>
                </a:extLst>
              </a:tr>
              <a:tr h="840565">
                <a:tc rowSpan="3">
                  <a:txBody>
                    <a:bodyPr/>
                    <a:lstStyle/>
                    <a:p>
                      <a:pPr algn="ctr"/>
                      <a:r>
                        <a:rPr lang="en-US" sz="1200" dirty="0">
                          <a:solidFill>
                            <a:srgbClr val="344251"/>
                          </a:solidFill>
                        </a:rPr>
                        <a:t>N1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16810308"/>
                  </a:ext>
                </a:extLst>
              </a:tr>
              <a:tr h="840565">
                <a:tc vMerge="1">
                  <a:txBody>
                    <a:bodyPr/>
                    <a:lstStyle/>
                    <a:p>
                      <a:pPr algn="ctr"/>
                      <a:endParaRPr lang="en-US" dirty="0">
                        <a:solidFill>
                          <a:schemeClr val="bg1"/>
                        </a:solidFill>
                      </a:endParaRPr>
                    </a:p>
                  </a:txBody>
                  <a:tcP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200" dirty="0">
                        <a:solidFill>
                          <a:srgbClr val="34425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49445028"/>
                  </a:ext>
                </a:extLst>
              </a:tr>
              <a:tr h="840565">
                <a:tc vMerge="1">
                  <a:txBody>
                    <a:bodyPr/>
                    <a:lstStyle/>
                    <a:p>
                      <a:pPr algn="ctr"/>
                      <a:endParaRPr lang="en-US" dirty="0">
                        <a:solidFill>
                          <a:schemeClr val="bg1"/>
                        </a:solidFill>
                      </a:endParaRPr>
                    </a:p>
                  </a:txBody>
                  <a:tcP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rgbClr val="34425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30454027"/>
                  </a:ext>
                </a:extLst>
              </a:tr>
              <a:tr h="840565">
                <a:tc>
                  <a:txBody>
                    <a:bodyPr/>
                    <a:lstStyle/>
                    <a:p>
                      <a:pPr algn="ctr"/>
                      <a:r>
                        <a:rPr lang="en-US" sz="1200" dirty="0">
                          <a:solidFill>
                            <a:srgbClr val="344251"/>
                          </a:solidFill>
                        </a:rPr>
                        <a:t>N2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11557684"/>
                  </a:ext>
                </a:extLst>
              </a:tr>
              <a:tr h="840565">
                <a:tc>
                  <a:txBody>
                    <a:bodyPr/>
                    <a:lstStyle/>
                    <a:p>
                      <a:pPr algn="ctr"/>
                      <a:r>
                        <a:rPr lang="en-US" sz="1200" dirty="0">
                          <a:solidFill>
                            <a:srgbClr val="344251"/>
                          </a:solidFill>
                        </a:rPr>
                        <a:t>EV</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412659930"/>
                  </a:ext>
                </a:extLst>
              </a:tr>
            </a:tbl>
          </a:graphicData>
        </a:graphic>
      </p:graphicFrame>
      <p:sp>
        <p:nvSpPr>
          <p:cNvPr id="44" name="Rectangle 43">
            <a:extLst>
              <a:ext uri="{FF2B5EF4-FFF2-40B4-BE49-F238E27FC236}">
                <a16:creationId xmlns:a16="http://schemas.microsoft.com/office/drawing/2014/main" id="{F670D250-410E-BE49-EBE7-3C0A9CF49A99}"/>
              </a:ext>
            </a:extLst>
          </p:cNvPr>
          <p:cNvSpPr/>
          <p:nvPr/>
        </p:nvSpPr>
        <p:spPr>
          <a:xfrm>
            <a:off x="8958129" y="4622010"/>
            <a:ext cx="2924315" cy="2002304"/>
          </a:xfrm>
          <a:prstGeom prst="rect">
            <a:avLst/>
          </a:prstGeom>
          <a:solidFill>
            <a:schemeClr val="accent2">
              <a:lumMod val="10000"/>
              <a:lumOff val="90000"/>
              <a:alpha val="29190"/>
            </a:schemeClr>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lnSpc>
                <a:spcPct val="90000"/>
              </a:lnSpc>
              <a:spcBef>
                <a:spcPts val="600"/>
              </a:spcBef>
            </a:pPr>
            <a:r>
              <a:rPr lang="en-US" sz="1050" dirty="0">
                <a:solidFill>
                  <a:srgbClr val="344251"/>
                </a:solidFill>
              </a:rPr>
              <a:t>Introduction of DTU</a:t>
            </a:r>
          </a:p>
        </p:txBody>
      </p:sp>
      <p:sp>
        <p:nvSpPr>
          <p:cNvPr id="21" name="Title 20">
            <a:extLst>
              <a:ext uri="{FF2B5EF4-FFF2-40B4-BE49-F238E27FC236}">
                <a16:creationId xmlns:a16="http://schemas.microsoft.com/office/drawing/2014/main" id="{E454C054-80D3-0F11-90EB-A75F98DF7482}"/>
              </a:ext>
            </a:extLst>
          </p:cNvPr>
          <p:cNvSpPr>
            <a:spLocks noGrp="1"/>
          </p:cNvSpPr>
          <p:nvPr>
            <p:ph type="title"/>
          </p:nvPr>
        </p:nvSpPr>
        <p:spPr/>
        <p:txBody>
          <a:bodyPr/>
          <a:lstStyle/>
          <a:p>
            <a:r>
              <a:rPr lang="en-US" dirty="0">
                <a:solidFill>
                  <a:srgbClr val="344251"/>
                </a:solidFill>
              </a:rPr>
              <a:t>Current Legislation Challenges VK05</a:t>
            </a:r>
          </a:p>
        </p:txBody>
      </p:sp>
      <p:sp>
        <p:nvSpPr>
          <p:cNvPr id="3" name="Rectangle 2">
            <a:extLst>
              <a:ext uri="{FF2B5EF4-FFF2-40B4-BE49-F238E27FC236}">
                <a16:creationId xmlns:a16="http://schemas.microsoft.com/office/drawing/2014/main" id="{D32F25B5-5E7B-E584-8E6A-F41F97EEEF09}"/>
              </a:ext>
            </a:extLst>
          </p:cNvPr>
          <p:cNvSpPr/>
          <p:nvPr/>
        </p:nvSpPr>
        <p:spPr>
          <a:xfrm>
            <a:off x="2189704" y="2483417"/>
            <a:ext cx="3108014" cy="330506"/>
          </a:xfrm>
          <a:prstGeom prst="rect">
            <a:avLst/>
          </a:prstGeom>
          <a:solidFill>
            <a:schemeClr val="bg2">
              <a:lumMod val="20000"/>
              <a:lumOff val="80000"/>
            </a:schemeClr>
          </a:solid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100" dirty="0">
                <a:solidFill>
                  <a:srgbClr val="344251"/>
                </a:solidFill>
              </a:rPr>
              <a:t>R51 Drive By Noise Regulation Implementation</a:t>
            </a:r>
          </a:p>
        </p:txBody>
      </p:sp>
      <p:cxnSp>
        <p:nvCxnSpPr>
          <p:cNvPr id="6" name="Straight Arrow Connector 5">
            <a:extLst>
              <a:ext uri="{FF2B5EF4-FFF2-40B4-BE49-F238E27FC236}">
                <a16:creationId xmlns:a16="http://schemas.microsoft.com/office/drawing/2014/main" id="{7038C4FF-1ED5-BA64-3315-9981433C3599}"/>
              </a:ext>
            </a:extLst>
          </p:cNvPr>
          <p:cNvCxnSpPr>
            <a:cxnSpLocks/>
            <a:stCxn id="3" idx="3"/>
          </p:cNvCxnSpPr>
          <p:nvPr/>
        </p:nvCxnSpPr>
        <p:spPr>
          <a:xfrm>
            <a:off x="5297718" y="2648670"/>
            <a:ext cx="739174" cy="0"/>
          </a:xfrm>
          <a:prstGeom prst="straightConnector1">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081E614-DD0B-A7B2-705A-47B2EA09304F}"/>
              </a:ext>
            </a:extLst>
          </p:cNvPr>
          <p:cNvSpPr txBox="1"/>
          <p:nvPr/>
        </p:nvSpPr>
        <p:spPr>
          <a:xfrm>
            <a:off x="4609707" y="5023527"/>
            <a:ext cx="657750" cy="744819"/>
          </a:xfrm>
          <a:prstGeom prst="rect">
            <a:avLst/>
          </a:prstGeom>
          <a:solidFill>
            <a:schemeClr val="bg1"/>
          </a:solid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dirty="0">
                <a:ln>
                  <a:noFill/>
                </a:ln>
                <a:solidFill>
                  <a:srgbClr val="344251"/>
                </a:solidFill>
                <a:effectLst/>
                <a:uLnTx/>
                <a:uFillTx/>
                <a:latin typeface="Arial"/>
                <a:ea typeface="メイリオ"/>
                <a:cs typeface="+mn-cs"/>
              </a:rPr>
              <a:t>VK05 </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dirty="0">
                <a:ln>
                  <a:noFill/>
                </a:ln>
                <a:solidFill>
                  <a:srgbClr val="344251"/>
                </a:solidFill>
                <a:effectLst/>
                <a:uLnTx/>
                <a:uFillTx/>
                <a:latin typeface="Arial"/>
                <a:ea typeface="メイリオ"/>
                <a:cs typeface="+mn-cs"/>
              </a:rPr>
              <a:t>(Gr B) SOP</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dirty="0">
                <a:ln>
                  <a:noFill/>
                </a:ln>
                <a:solidFill>
                  <a:srgbClr val="344251"/>
                </a:solidFill>
                <a:effectLst/>
                <a:uLnTx/>
                <a:uFillTx/>
                <a:latin typeface="Arial"/>
                <a:ea typeface="メイリオ"/>
                <a:cs typeface="+mn-cs"/>
              </a:rPr>
              <a:t>w/o DTU</a:t>
            </a:r>
          </a:p>
        </p:txBody>
      </p:sp>
      <p:sp>
        <p:nvSpPr>
          <p:cNvPr id="10" name="Rectangle 9">
            <a:extLst>
              <a:ext uri="{FF2B5EF4-FFF2-40B4-BE49-F238E27FC236}">
                <a16:creationId xmlns:a16="http://schemas.microsoft.com/office/drawing/2014/main" id="{54961C91-6E8C-D996-5669-3687776654DD}"/>
              </a:ext>
            </a:extLst>
          </p:cNvPr>
          <p:cNvSpPr/>
          <p:nvPr/>
        </p:nvSpPr>
        <p:spPr>
          <a:xfrm>
            <a:off x="10475994" y="3318158"/>
            <a:ext cx="1310326" cy="1045992"/>
          </a:xfrm>
          <a:prstGeom prst="rect">
            <a:avLst/>
          </a:prstGeom>
          <a:solidFill>
            <a:schemeClr val="bg2">
              <a:lumMod val="20000"/>
              <a:lumOff val="80000"/>
            </a:schemeClr>
          </a:solid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200" dirty="0">
                <a:solidFill>
                  <a:srgbClr val="344251"/>
                </a:solidFill>
              </a:rPr>
              <a:t>New 5g/5g </a:t>
            </a:r>
            <a:r>
              <a:rPr lang="en-US" sz="1200" dirty="0" err="1">
                <a:solidFill>
                  <a:srgbClr val="344251"/>
                </a:solidFill>
              </a:rPr>
              <a:t>eCall</a:t>
            </a:r>
            <a:r>
              <a:rPr lang="en-US" sz="1200" dirty="0">
                <a:solidFill>
                  <a:srgbClr val="344251"/>
                </a:solidFill>
              </a:rPr>
              <a:t> Regulation Implementation Date</a:t>
            </a:r>
          </a:p>
          <a:p>
            <a:pPr algn="ctr">
              <a:lnSpc>
                <a:spcPct val="90000"/>
              </a:lnSpc>
              <a:spcBef>
                <a:spcPts val="600"/>
              </a:spcBef>
            </a:pPr>
            <a:r>
              <a:rPr lang="en-US" sz="1200" dirty="0">
                <a:solidFill>
                  <a:srgbClr val="344251"/>
                </a:solidFill>
              </a:rPr>
              <a:t>N1 Vehicles only</a:t>
            </a:r>
          </a:p>
        </p:txBody>
      </p:sp>
      <p:cxnSp>
        <p:nvCxnSpPr>
          <p:cNvPr id="12" name="Straight Arrow Connector 11">
            <a:extLst>
              <a:ext uri="{FF2B5EF4-FFF2-40B4-BE49-F238E27FC236}">
                <a16:creationId xmlns:a16="http://schemas.microsoft.com/office/drawing/2014/main" id="{CD989871-D619-8A71-5645-9B6E15BF8B15}"/>
              </a:ext>
            </a:extLst>
          </p:cNvPr>
          <p:cNvCxnSpPr>
            <a:cxnSpLocks/>
          </p:cNvCxnSpPr>
          <p:nvPr/>
        </p:nvCxnSpPr>
        <p:spPr>
          <a:xfrm flipV="1">
            <a:off x="6026759" y="3469060"/>
            <a:ext cx="4380433" cy="12295"/>
          </a:xfrm>
          <a:prstGeom prst="straightConnector1">
            <a:avLst/>
          </a:prstGeom>
          <a:ln w="19050">
            <a:solidFill>
              <a:srgbClr val="C0000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0FCF4816-8423-3C13-A23C-EA052A32491B}"/>
              </a:ext>
            </a:extLst>
          </p:cNvPr>
          <p:cNvSpPr/>
          <p:nvPr/>
        </p:nvSpPr>
        <p:spPr>
          <a:xfrm>
            <a:off x="7039264" y="3300000"/>
            <a:ext cx="2355422" cy="330506"/>
          </a:xfrm>
          <a:prstGeom prst="rect">
            <a:avLst/>
          </a:prstGeom>
          <a:solidFill>
            <a:schemeClr val="bg2">
              <a:lumMod val="20000"/>
              <a:lumOff val="80000"/>
            </a:schemeClr>
          </a:solid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000" dirty="0">
                <a:solidFill>
                  <a:srgbClr val="344251"/>
                </a:solidFill>
              </a:rPr>
              <a:t>All VK05 (Gr A) Must be Sold, Built and Registered before end December</a:t>
            </a:r>
          </a:p>
        </p:txBody>
      </p:sp>
      <p:cxnSp>
        <p:nvCxnSpPr>
          <p:cNvPr id="15" name="Straight Arrow Connector 14">
            <a:extLst>
              <a:ext uri="{FF2B5EF4-FFF2-40B4-BE49-F238E27FC236}">
                <a16:creationId xmlns:a16="http://schemas.microsoft.com/office/drawing/2014/main" id="{5B50F00D-A90B-1F3C-4EA9-CCA9C0B2CB0C}"/>
              </a:ext>
            </a:extLst>
          </p:cNvPr>
          <p:cNvCxnSpPr>
            <a:cxnSpLocks/>
          </p:cNvCxnSpPr>
          <p:nvPr/>
        </p:nvCxnSpPr>
        <p:spPr>
          <a:xfrm>
            <a:off x="1649691" y="3459633"/>
            <a:ext cx="3635915" cy="0"/>
          </a:xfrm>
          <a:prstGeom prst="straightConnector1">
            <a:avLst/>
          </a:prstGeom>
          <a:ln w="19050">
            <a:solidFill>
              <a:schemeClr val="tx2"/>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C6D2A477-0320-3447-68E1-0F8EBEE6E957}"/>
              </a:ext>
            </a:extLst>
          </p:cNvPr>
          <p:cNvSpPr/>
          <p:nvPr/>
        </p:nvSpPr>
        <p:spPr>
          <a:xfrm>
            <a:off x="2020764" y="3307146"/>
            <a:ext cx="2909456" cy="330506"/>
          </a:xfrm>
          <a:prstGeom prst="rect">
            <a:avLst/>
          </a:prstGeom>
          <a:solidFill>
            <a:schemeClr val="bg2">
              <a:lumMod val="20000"/>
              <a:lumOff val="80000"/>
            </a:schemeClr>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000" dirty="0">
                <a:solidFill>
                  <a:srgbClr val="344251"/>
                </a:solidFill>
              </a:rPr>
              <a:t>No Factory Production for N1 Category Vehicles</a:t>
            </a:r>
          </a:p>
        </p:txBody>
      </p:sp>
      <p:sp>
        <p:nvSpPr>
          <p:cNvPr id="17" name="TextBox 16">
            <a:extLst>
              <a:ext uri="{FF2B5EF4-FFF2-40B4-BE49-F238E27FC236}">
                <a16:creationId xmlns:a16="http://schemas.microsoft.com/office/drawing/2014/main" id="{40AB7C5B-BA8A-40C4-27DF-A24B97E11419}"/>
              </a:ext>
            </a:extLst>
          </p:cNvPr>
          <p:cNvSpPr txBox="1"/>
          <p:nvPr/>
        </p:nvSpPr>
        <p:spPr>
          <a:xfrm>
            <a:off x="6036892" y="4176036"/>
            <a:ext cx="731021" cy="744819"/>
          </a:xfrm>
          <a:prstGeom prst="rect">
            <a:avLst/>
          </a:prstGeom>
          <a:solidFill>
            <a:schemeClr val="bg1"/>
          </a:solid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dirty="0">
                <a:ln>
                  <a:noFill/>
                </a:ln>
                <a:solidFill>
                  <a:srgbClr val="344251"/>
                </a:solidFill>
                <a:effectLst/>
                <a:uLnTx/>
                <a:uFillTx/>
                <a:latin typeface="Arial"/>
                <a:ea typeface="メイリオ"/>
                <a:cs typeface="+mn-cs"/>
              </a:rPr>
              <a:t>VK05 </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dirty="0">
                <a:ln>
                  <a:noFill/>
                </a:ln>
                <a:solidFill>
                  <a:srgbClr val="344251"/>
                </a:solidFill>
                <a:effectLst/>
                <a:uLnTx/>
                <a:uFillTx/>
                <a:latin typeface="Arial"/>
                <a:ea typeface="メイリオ"/>
                <a:cs typeface="+mn-cs"/>
              </a:rPr>
              <a:t>(Gr D) SOP</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dirty="0">
                <a:ln>
                  <a:noFill/>
                </a:ln>
                <a:solidFill>
                  <a:srgbClr val="344251"/>
                </a:solidFill>
                <a:effectLst/>
                <a:uLnTx/>
                <a:uFillTx/>
                <a:latin typeface="Arial"/>
                <a:ea typeface="メイリオ"/>
                <a:cs typeface="+mn-cs"/>
              </a:rPr>
              <a:t>w/o DTU</a:t>
            </a:r>
          </a:p>
        </p:txBody>
      </p:sp>
      <p:cxnSp>
        <p:nvCxnSpPr>
          <p:cNvPr id="19" name="Straight Arrow Connector 18">
            <a:extLst>
              <a:ext uri="{FF2B5EF4-FFF2-40B4-BE49-F238E27FC236}">
                <a16:creationId xmlns:a16="http://schemas.microsoft.com/office/drawing/2014/main" id="{E61A8E77-91BD-2DCF-9DB3-D6BEB656808C}"/>
              </a:ext>
            </a:extLst>
          </p:cNvPr>
          <p:cNvCxnSpPr>
            <a:cxnSpLocks/>
          </p:cNvCxnSpPr>
          <p:nvPr/>
        </p:nvCxnSpPr>
        <p:spPr>
          <a:xfrm>
            <a:off x="6767913" y="4418504"/>
            <a:ext cx="5114531" cy="0"/>
          </a:xfrm>
          <a:prstGeom prst="straightConnector1">
            <a:avLst/>
          </a:prstGeom>
          <a:ln w="19050">
            <a:solidFill>
              <a:schemeClr val="tx2"/>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609953CE-B02A-A7B6-000A-BBE2B9E40087}"/>
              </a:ext>
            </a:extLst>
          </p:cNvPr>
          <p:cNvSpPr/>
          <p:nvPr/>
        </p:nvSpPr>
        <p:spPr>
          <a:xfrm>
            <a:off x="7780418" y="4237149"/>
            <a:ext cx="2355422" cy="330506"/>
          </a:xfrm>
          <a:prstGeom prst="rect">
            <a:avLst/>
          </a:prstGeom>
          <a:solidFill>
            <a:schemeClr val="bg2">
              <a:lumMod val="20000"/>
              <a:lumOff val="80000"/>
            </a:schemeClr>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000" dirty="0">
                <a:solidFill>
                  <a:srgbClr val="344251"/>
                </a:solidFill>
              </a:rPr>
              <a:t>All VK05 (Gr D) Can Continue to be Sold, after end December</a:t>
            </a:r>
          </a:p>
        </p:txBody>
      </p:sp>
      <p:sp>
        <p:nvSpPr>
          <p:cNvPr id="27" name="Rectangle 26">
            <a:extLst>
              <a:ext uri="{FF2B5EF4-FFF2-40B4-BE49-F238E27FC236}">
                <a16:creationId xmlns:a16="http://schemas.microsoft.com/office/drawing/2014/main" id="{B11C9D37-2179-3171-62C2-5CB1594352F5}"/>
              </a:ext>
            </a:extLst>
          </p:cNvPr>
          <p:cNvSpPr/>
          <p:nvPr/>
        </p:nvSpPr>
        <p:spPr>
          <a:xfrm>
            <a:off x="1501693" y="4346869"/>
            <a:ext cx="3108014" cy="330506"/>
          </a:xfrm>
          <a:prstGeom prst="rect">
            <a:avLst/>
          </a:prstGeom>
          <a:solidFill>
            <a:schemeClr val="bg2">
              <a:lumMod val="20000"/>
              <a:lumOff val="80000"/>
            </a:schemeClr>
          </a:solid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000" dirty="0">
                <a:solidFill>
                  <a:srgbClr val="344251"/>
                </a:solidFill>
              </a:rPr>
              <a:t>Suspension of NLR88 with 4JZ1 engine due to R51 Regulation </a:t>
            </a:r>
          </a:p>
        </p:txBody>
      </p:sp>
      <p:cxnSp>
        <p:nvCxnSpPr>
          <p:cNvPr id="28" name="Straight Arrow Connector 27">
            <a:extLst>
              <a:ext uri="{FF2B5EF4-FFF2-40B4-BE49-F238E27FC236}">
                <a16:creationId xmlns:a16="http://schemas.microsoft.com/office/drawing/2014/main" id="{60B7273D-1A2F-ADA2-8779-6FDA2AD0228F}"/>
              </a:ext>
            </a:extLst>
          </p:cNvPr>
          <p:cNvCxnSpPr>
            <a:cxnSpLocks/>
          </p:cNvCxnSpPr>
          <p:nvPr/>
        </p:nvCxnSpPr>
        <p:spPr>
          <a:xfrm>
            <a:off x="4609707" y="4512122"/>
            <a:ext cx="1417052" cy="0"/>
          </a:xfrm>
          <a:prstGeom prst="straightConnector1">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3E7CE864-EE3E-3EC1-0F33-AFFA5E1DF478}"/>
              </a:ext>
            </a:extLst>
          </p:cNvPr>
          <p:cNvCxnSpPr>
            <a:cxnSpLocks/>
          </p:cNvCxnSpPr>
          <p:nvPr/>
        </p:nvCxnSpPr>
        <p:spPr>
          <a:xfrm flipV="1">
            <a:off x="5267457" y="5234727"/>
            <a:ext cx="6614987" cy="17876"/>
          </a:xfrm>
          <a:prstGeom prst="straightConnector1">
            <a:avLst/>
          </a:prstGeom>
          <a:ln w="19050">
            <a:solidFill>
              <a:schemeClr val="tx2"/>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89C8EA68-DC57-93E0-D4BA-34C154BFCD4C}"/>
              </a:ext>
            </a:extLst>
          </p:cNvPr>
          <p:cNvSpPr/>
          <p:nvPr/>
        </p:nvSpPr>
        <p:spPr>
          <a:xfrm>
            <a:off x="6402402" y="5078686"/>
            <a:ext cx="2355422" cy="330506"/>
          </a:xfrm>
          <a:prstGeom prst="rect">
            <a:avLst/>
          </a:prstGeom>
          <a:solidFill>
            <a:schemeClr val="bg2">
              <a:lumMod val="20000"/>
              <a:lumOff val="80000"/>
            </a:schemeClr>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000" dirty="0">
                <a:solidFill>
                  <a:srgbClr val="344251"/>
                </a:solidFill>
              </a:rPr>
              <a:t>All VK05 (Gr B) Can Continue to be Sold after December</a:t>
            </a:r>
          </a:p>
        </p:txBody>
      </p:sp>
      <p:sp>
        <p:nvSpPr>
          <p:cNvPr id="34" name="TextBox 33">
            <a:extLst>
              <a:ext uri="{FF2B5EF4-FFF2-40B4-BE49-F238E27FC236}">
                <a16:creationId xmlns:a16="http://schemas.microsoft.com/office/drawing/2014/main" id="{2E5FA7DD-A78A-809F-CEEC-77A83D32ACD7}"/>
              </a:ext>
            </a:extLst>
          </p:cNvPr>
          <p:cNvSpPr txBox="1"/>
          <p:nvPr/>
        </p:nvSpPr>
        <p:spPr>
          <a:xfrm>
            <a:off x="8996303" y="5847547"/>
            <a:ext cx="657750" cy="620170"/>
          </a:xfrm>
          <a:prstGeom prst="rect">
            <a:avLst/>
          </a:prstGeom>
          <a:solidFill>
            <a:schemeClr val="bg1"/>
          </a:solid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dirty="0">
                <a:ln>
                  <a:noFill/>
                </a:ln>
                <a:solidFill>
                  <a:srgbClr val="344251"/>
                </a:solidFill>
                <a:effectLst/>
                <a:uLnTx/>
                <a:uFillTx/>
                <a:latin typeface="Arial"/>
                <a:ea typeface="メイリオ"/>
                <a:cs typeface="+mn-cs"/>
              </a:rPr>
              <a:t>VK11 </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dirty="0">
                <a:ln>
                  <a:noFill/>
                </a:ln>
                <a:solidFill>
                  <a:srgbClr val="344251"/>
                </a:solidFill>
                <a:effectLst/>
                <a:uLnTx/>
                <a:uFillTx/>
                <a:latin typeface="Arial"/>
                <a:ea typeface="メイリオ"/>
                <a:cs typeface="+mn-cs"/>
              </a:rPr>
              <a:t>SOP</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dirty="0">
                <a:ln>
                  <a:noFill/>
                </a:ln>
                <a:solidFill>
                  <a:srgbClr val="344251"/>
                </a:solidFill>
                <a:effectLst/>
                <a:uLnTx/>
                <a:uFillTx/>
                <a:latin typeface="Arial"/>
                <a:ea typeface="メイリオ"/>
                <a:cs typeface="+mn-cs"/>
              </a:rPr>
              <a:t>w</a:t>
            </a:r>
            <a:r>
              <a:rPr lang="en-US" sz="900" dirty="0" err="1">
                <a:solidFill>
                  <a:srgbClr val="344251"/>
                </a:solidFill>
                <a:latin typeface="Arial"/>
                <a:ea typeface="メイリオ"/>
              </a:rPr>
              <a:t>ith</a:t>
            </a:r>
            <a:r>
              <a:rPr kumimoji="0" lang="en-US" sz="900" b="0" i="0" u="none" strike="noStrike" kern="1200" cap="none" spc="0" normalizeH="0" baseline="0" noProof="0" dirty="0">
                <a:ln>
                  <a:noFill/>
                </a:ln>
                <a:solidFill>
                  <a:srgbClr val="344251"/>
                </a:solidFill>
                <a:effectLst/>
                <a:uLnTx/>
                <a:uFillTx/>
                <a:latin typeface="Arial"/>
                <a:ea typeface="メイリオ"/>
                <a:cs typeface="+mn-cs"/>
              </a:rPr>
              <a:t> DTU</a:t>
            </a:r>
          </a:p>
        </p:txBody>
      </p:sp>
      <p:sp>
        <p:nvSpPr>
          <p:cNvPr id="35" name="TextBox 34">
            <a:extLst>
              <a:ext uri="{FF2B5EF4-FFF2-40B4-BE49-F238E27FC236}">
                <a16:creationId xmlns:a16="http://schemas.microsoft.com/office/drawing/2014/main" id="{BE72977D-B482-821C-DB5B-8C4822858763}"/>
              </a:ext>
            </a:extLst>
          </p:cNvPr>
          <p:cNvSpPr txBox="1"/>
          <p:nvPr/>
        </p:nvSpPr>
        <p:spPr>
          <a:xfrm>
            <a:off x="9748379" y="4670829"/>
            <a:ext cx="657750" cy="744819"/>
          </a:xfrm>
          <a:prstGeom prst="rect">
            <a:avLst/>
          </a:prstGeom>
          <a:solidFill>
            <a:schemeClr val="bg1"/>
          </a:solid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dirty="0">
                <a:ln>
                  <a:noFill/>
                </a:ln>
                <a:solidFill>
                  <a:srgbClr val="344251"/>
                </a:solidFill>
                <a:effectLst/>
                <a:uLnTx/>
                <a:uFillTx/>
                <a:latin typeface="Arial"/>
                <a:ea typeface="メイリオ"/>
                <a:cs typeface="+mn-cs"/>
              </a:rPr>
              <a:t>VK05 </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dirty="0">
                <a:ln>
                  <a:noFill/>
                </a:ln>
                <a:solidFill>
                  <a:srgbClr val="344251"/>
                </a:solidFill>
                <a:effectLst/>
                <a:uLnTx/>
                <a:uFillTx/>
                <a:latin typeface="Arial"/>
                <a:ea typeface="メイリオ"/>
                <a:cs typeface="+mn-cs"/>
              </a:rPr>
              <a:t>(Gr H) SOP</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dirty="0">
                <a:ln>
                  <a:noFill/>
                </a:ln>
                <a:solidFill>
                  <a:srgbClr val="344251"/>
                </a:solidFill>
                <a:effectLst/>
                <a:uLnTx/>
                <a:uFillTx/>
                <a:latin typeface="Arial"/>
                <a:ea typeface="メイリオ"/>
                <a:cs typeface="+mn-cs"/>
              </a:rPr>
              <a:t>w</a:t>
            </a:r>
            <a:r>
              <a:rPr lang="en-US" sz="900" dirty="0" err="1">
                <a:solidFill>
                  <a:srgbClr val="344251"/>
                </a:solidFill>
                <a:latin typeface="Arial"/>
                <a:ea typeface="メイリオ"/>
              </a:rPr>
              <a:t>ith</a:t>
            </a:r>
            <a:r>
              <a:rPr kumimoji="0" lang="en-US" sz="900" b="0" i="0" u="none" strike="noStrike" kern="1200" cap="none" spc="0" normalizeH="0" baseline="0" noProof="0" dirty="0">
                <a:ln>
                  <a:noFill/>
                </a:ln>
                <a:solidFill>
                  <a:srgbClr val="344251"/>
                </a:solidFill>
                <a:effectLst/>
                <a:uLnTx/>
                <a:uFillTx/>
                <a:latin typeface="Arial"/>
                <a:ea typeface="メイリオ"/>
                <a:cs typeface="+mn-cs"/>
              </a:rPr>
              <a:t> DTU</a:t>
            </a:r>
          </a:p>
        </p:txBody>
      </p:sp>
      <p:cxnSp>
        <p:nvCxnSpPr>
          <p:cNvPr id="36" name="Straight Arrow Connector 35">
            <a:extLst>
              <a:ext uri="{FF2B5EF4-FFF2-40B4-BE49-F238E27FC236}">
                <a16:creationId xmlns:a16="http://schemas.microsoft.com/office/drawing/2014/main" id="{B2295AC3-33B8-E0CF-AA3A-489BE3EE5798}"/>
              </a:ext>
            </a:extLst>
          </p:cNvPr>
          <p:cNvCxnSpPr>
            <a:cxnSpLocks/>
          </p:cNvCxnSpPr>
          <p:nvPr/>
        </p:nvCxnSpPr>
        <p:spPr>
          <a:xfrm>
            <a:off x="9654053" y="6217287"/>
            <a:ext cx="2228391" cy="0"/>
          </a:xfrm>
          <a:prstGeom prst="straightConnector1">
            <a:avLst/>
          </a:prstGeom>
          <a:ln w="19050">
            <a:solidFill>
              <a:schemeClr val="tx2"/>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BD98729F-4493-61F3-75BB-8D3F2BA505EC}"/>
              </a:ext>
            </a:extLst>
          </p:cNvPr>
          <p:cNvCxnSpPr>
            <a:cxnSpLocks/>
          </p:cNvCxnSpPr>
          <p:nvPr/>
        </p:nvCxnSpPr>
        <p:spPr>
          <a:xfrm flipV="1">
            <a:off x="10406129" y="4851186"/>
            <a:ext cx="1476315" cy="1"/>
          </a:xfrm>
          <a:prstGeom prst="straightConnector1">
            <a:avLst/>
          </a:prstGeom>
          <a:ln w="19050">
            <a:solidFill>
              <a:schemeClr val="tx2"/>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4DA3CEA2-A9E4-ED74-D48C-1394E07534C1}"/>
              </a:ext>
            </a:extLst>
          </p:cNvPr>
          <p:cNvSpPr txBox="1"/>
          <p:nvPr/>
        </p:nvSpPr>
        <p:spPr>
          <a:xfrm>
            <a:off x="5295738" y="3300000"/>
            <a:ext cx="731021" cy="739788"/>
          </a:xfrm>
          <a:prstGeom prst="rect">
            <a:avLst/>
          </a:prstGeom>
          <a:solidFill>
            <a:schemeClr val="bg1"/>
          </a:solid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dirty="0">
                <a:ln>
                  <a:noFill/>
                </a:ln>
                <a:solidFill>
                  <a:srgbClr val="344251"/>
                </a:solidFill>
                <a:effectLst/>
                <a:uLnTx/>
                <a:uFillTx/>
                <a:latin typeface="Arial"/>
                <a:ea typeface="メイリオ"/>
                <a:cs typeface="+mn-cs"/>
              </a:rPr>
              <a:t>VK05 </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dirty="0">
                <a:ln>
                  <a:noFill/>
                </a:ln>
                <a:solidFill>
                  <a:srgbClr val="344251"/>
                </a:solidFill>
                <a:effectLst/>
                <a:uLnTx/>
                <a:uFillTx/>
                <a:latin typeface="Arial"/>
                <a:ea typeface="メイリオ"/>
                <a:cs typeface="+mn-cs"/>
              </a:rPr>
              <a:t>(Gr </a:t>
            </a:r>
            <a:r>
              <a:rPr lang="en-US" sz="900" dirty="0">
                <a:solidFill>
                  <a:srgbClr val="344251"/>
                </a:solidFill>
                <a:latin typeface="Arial"/>
                <a:ea typeface="メイリオ"/>
              </a:rPr>
              <a:t>A</a:t>
            </a:r>
            <a:r>
              <a:rPr kumimoji="0" lang="en-US" sz="900" b="0" i="0" u="none" strike="noStrike" kern="1200" cap="none" spc="0" normalizeH="0" baseline="0" noProof="0" dirty="0">
                <a:ln>
                  <a:noFill/>
                </a:ln>
                <a:solidFill>
                  <a:srgbClr val="344251"/>
                </a:solidFill>
                <a:effectLst/>
                <a:uLnTx/>
                <a:uFillTx/>
                <a:latin typeface="Arial"/>
                <a:ea typeface="メイリオ"/>
                <a:cs typeface="+mn-cs"/>
              </a:rPr>
              <a:t>) SOP</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dirty="0">
                <a:ln>
                  <a:noFill/>
                </a:ln>
                <a:solidFill>
                  <a:srgbClr val="344251"/>
                </a:solidFill>
                <a:effectLst/>
                <a:uLnTx/>
                <a:uFillTx/>
                <a:latin typeface="Arial"/>
                <a:ea typeface="メイリオ"/>
                <a:cs typeface="+mn-cs"/>
              </a:rPr>
              <a:t>w/o DTU</a:t>
            </a:r>
          </a:p>
        </p:txBody>
      </p:sp>
      <p:pic>
        <p:nvPicPr>
          <p:cNvPr id="54" name="Picture 53" descr="A couple of white trucks&#10;&#10;AI-generated content may be incorrect.">
            <a:extLst>
              <a:ext uri="{FF2B5EF4-FFF2-40B4-BE49-F238E27FC236}">
                <a16:creationId xmlns:a16="http://schemas.microsoft.com/office/drawing/2014/main" id="{827F8376-746C-6191-0C03-AEF98ABCA54F}"/>
              </a:ext>
            </a:extLst>
          </p:cNvPr>
          <p:cNvPicPr>
            <a:picLocks noChangeAspect="1"/>
          </p:cNvPicPr>
          <p:nvPr/>
        </p:nvPicPr>
        <p:blipFill>
          <a:blip r:embed="rId3">
            <a:extLst>
              <a:ext uri="{28A0092B-C50C-407E-A947-70E740481C1C}">
                <a14:useLocalDpi xmlns:a14="http://schemas.microsoft.com/office/drawing/2010/main" val="0"/>
              </a:ext>
            </a:extLst>
          </a:blip>
          <a:srcRect t="26865" r="48128" b="8672"/>
          <a:stretch>
            <a:fillRect/>
          </a:stretch>
        </p:blipFill>
        <p:spPr>
          <a:xfrm>
            <a:off x="8749354" y="315900"/>
            <a:ext cx="1126458" cy="989312"/>
          </a:xfrm>
          <a:prstGeom prst="rect">
            <a:avLst/>
          </a:prstGeom>
        </p:spPr>
      </p:pic>
      <p:cxnSp>
        <p:nvCxnSpPr>
          <p:cNvPr id="11" name="Straight Arrow Connector 10">
            <a:extLst>
              <a:ext uri="{FF2B5EF4-FFF2-40B4-BE49-F238E27FC236}">
                <a16:creationId xmlns:a16="http://schemas.microsoft.com/office/drawing/2014/main" id="{1B91CC5B-E1D2-8D81-7AAF-F4E5C608D730}"/>
              </a:ext>
            </a:extLst>
          </p:cNvPr>
          <p:cNvCxnSpPr>
            <a:cxnSpLocks/>
          </p:cNvCxnSpPr>
          <p:nvPr/>
        </p:nvCxnSpPr>
        <p:spPr>
          <a:xfrm flipH="1">
            <a:off x="1649691" y="3012141"/>
            <a:ext cx="4377068" cy="0"/>
          </a:xfrm>
          <a:prstGeom prst="straightConnector1">
            <a:avLst/>
          </a:prstGeom>
          <a:ln w="19050">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5" name="Rectangle 44">
            <a:extLst>
              <a:ext uri="{FF2B5EF4-FFF2-40B4-BE49-F238E27FC236}">
                <a16:creationId xmlns:a16="http://schemas.microsoft.com/office/drawing/2014/main" id="{37F6C354-69EB-DE09-7891-D7C7E3934090}"/>
              </a:ext>
            </a:extLst>
          </p:cNvPr>
          <p:cNvSpPr/>
          <p:nvPr/>
        </p:nvSpPr>
        <p:spPr>
          <a:xfrm>
            <a:off x="2189704" y="2871547"/>
            <a:ext cx="3108014" cy="330506"/>
          </a:xfrm>
          <a:prstGeom prst="rect">
            <a:avLst/>
          </a:prstGeom>
          <a:solidFill>
            <a:schemeClr val="bg2">
              <a:lumMod val="20000"/>
              <a:lumOff val="80000"/>
            </a:schemeClr>
          </a:solid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000" dirty="0">
                <a:solidFill>
                  <a:srgbClr val="344251"/>
                </a:solidFill>
              </a:rPr>
              <a:t>Currently no Derogation Granted for R51 Regulation to sell existing vehicle stock</a:t>
            </a:r>
          </a:p>
        </p:txBody>
      </p:sp>
      <p:sp>
        <p:nvSpPr>
          <p:cNvPr id="18" name="Rectangular Callout 17">
            <a:extLst>
              <a:ext uri="{FF2B5EF4-FFF2-40B4-BE49-F238E27FC236}">
                <a16:creationId xmlns:a16="http://schemas.microsoft.com/office/drawing/2014/main" id="{511248D8-212E-A3AC-2585-CF2F32AB2126}"/>
              </a:ext>
            </a:extLst>
          </p:cNvPr>
          <p:cNvSpPr/>
          <p:nvPr/>
        </p:nvSpPr>
        <p:spPr>
          <a:xfrm>
            <a:off x="932494" y="3778296"/>
            <a:ext cx="1310326" cy="427289"/>
          </a:xfrm>
          <a:prstGeom prst="wedgeRectCallout">
            <a:avLst>
              <a:gd name="adj1" fmla="val 92248"/>
              <a:gd name="adj2" fmla="val 83268"/>
            </a:avLst>
          </a:prstGeom>
          <a:solidFill>
            <a:schemeClr val="bg2">
              <a:lumMod val="20000"/>
              <a:lumOff val="80000"/>
            </a:schemeClr>
          </a:solid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000" dirty="0">
                <a:solidFill>
                  <a:srgbClr val="344251"/>
                </a:solidFill>
              </a:rPr>
              <a:t>Average loss of 150 units per annum</a:t>
            </a:r>
          </a:p>
        </p:txBody>
      </p:sp>
    </p:spTree>
    <p:extLst>
      <p:ext uri="{BB962C8B-B14F-4D97-AF65-F5344CB8AC3E}">
        <p14:creationId xmlns:p14="http://schemas.microsoft.com/office/powerpoint/2010/main" val="4220940186"/>
      </p:ext>
    </p:extLst>
  </p:cSld>
  <p:clrMapOvr>
    <a:masterClrMapping/>
  </p:clrMapOvr>
  <mc:AlternateContent xmlns:mc="http://schemas.openxmlformats.org/markup-compatibility/2006" xmlns:p14="http://schemas.microsoft.com/office/powerpoint/2010/main">
    <mc:Choice Requires="p14">
      <p:transition spd="slow" p14:dur="2000" advTm="59914"/>
    </mc:Choice>
    <mc:Fallback xmlns="">
      <p:transition spd="slow" advTm="5991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57C24-198E-DF44-5889-8BF31BDAE7E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E5D714-D0E5-8789-7DF3-F81C2BE62B95}"/>
              </a:ext>
            </a:extLst>
          </p:cNvPr>
          <p:cNvSpPr>
            <a:spLocks noGrp="1"/>
          </p:cNvSpPr>
          <p:nvPr>
            <p:ph type="title"/>
          </p:nvPr>
        </p:nvSpPr>
        <p:spPr>
          <a:xfrm>
            <a:off x="695400" y="376801"/>
            <a:ext cx="9505056" cy="518746"/>
          </a:xfrm>
        </p:spPr>
        <p:txBody>
          <a:bodyPr/>
          <a:lstStyle/>
          <a:p>
            <a:r>
              <a:rPr lang="en-US" dirty="0">
                <a:solidFill>
                  <a:srgbClr val="344251"/>
                </a:solidFill>
              </a:rPr>
              <a:t>FY25 Aftersales Forecast and FY26 Outlook </a:t>
            </a:r>
          </a:p>
        </p:txBody>
      </p:sp>
      <p:graphicFrame>
        <p:nvGraphicFramePr>
          <p:cNvPr id="6" name="Chart 5">
            <a:extLst>
              <a:ext uri="{FF2B5EF4-FFF2-40B4-BE49-F238E27FC236}">
                <a16:creationId xmlns:a16="http://schemas.microsoft.com/office/drawing/2014/main" id="{0ABCAA85-D9CF-3845-6634-62DE6737DB8F}"/>
              </a:ext>
            </a:extLst>
          </p:cNvPr>
          <p:cNvGraphicFramePr/>
          <p:nvPr>
            <p:extLst>
              <p:ext uri="{D42A27DB-BD31-4B8C-83A1-F6EECF244321}">
                <p14:modId xmlns:p14="http://schemas.microsoft.com/office/powerpoint/2010/main" val="245739235"/>
              </p:ext>
            </p:extLst>
          </p:nvPr>
        </p:nvGraphicFramePr>
        <p:xfrm>
          <a:off x="83331" y="4923857"/>
          <a:ext cx="4151209" cy="184618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8">
            <a:extLst>
              <a:ext uri="{FF2B5EF4-FFF2-40B4-BE49-F238E27FC236}">
                <a16:creationId xmlns:a16="http://schemas.microsoft.com/office/drawing/2014/main" id="{22EFE045-5032-1D75-7EC3-DA0E9723E135}"/>
              </a:ext>
            </a:extLst>
          </p:cNvPr>
          <p:cNvGraphicFramePr>
            <a:graphicFrameLocks noGrp="1"/>
          </p:cNvGraphicFramePr>
          <p:nvPr>
            <p:extLst>
              <p:ext uri="{D42A27DB-BD31-4B8C-83A1-F6EECF244321}">
                <p14:modId xmlns:p14="http://schemas.microsoft.com/office/powerpoint/2010/main" val="510068724"/>
              </p:ext>
            </p:extLst>
          </p:nvPr>
        </p:nvGraphicFramePr>
        <p:xfrm>
          <a:off x="83332" y="3313647"/>
          <a:ext cx="4151210" cy="1577551"/>
        </p:xfrm>
        <a:graphic>
          <a:graphicData uri="http://schemas.openxmlformats.org/drawingml/2006/table">
            <a:tbl>
              <a:tblPr firstRow="1" bandRow="1">
                <a:tableStyleId>{5940675A-B579-460E-94D1-54222C63F5DA}</a:tableStyleId>
              </a:tblPr>
              <a:tblGrid>
                <a:gridCol w="830242">
                  <a:extLst>
                    <a:ext uri="{9D8B030D-6E8A-4147-A177-3AD203B41FA5}">
                      <a16:colId xmlns:a16="http://schemas.microsoft.com/office/drawing/2014/main" val="450495673"/>
                    </a:ext>
                  </a:extLst>
                </a:gridCol>
                <a:gridCol w="830242">
                  <a:extLst>
                    <a:ext uri="{9D8B030D-6E8A-4147-A177-3AD203B41FA5}">
                      <a16:colId xmlns:a16="http://schemas.microsoft.com/office/drawing/2014/main" val="2094977082"/>
                    </a:ext>
                  </a:extLst>
                </a:gridCol>
                <a:gridCol w="830242">
                  <a:extLst>
                    <a:ext uri="{9D8B030D-6E8A-4147-A177-3AD203B41FA5}">
                      <a16:colId xmlns:a16="http://schemas.microsoft.com/office/drawing/2014/main" val="3230823899"/>
                    </a:ext>
                  </a:extLst>
                </a:gridCol>
                <a:gridCol w="830242">
                  <a:extLst>
                    <a:ext uri="{9D8B030D-6E8A-4147-A177-3AD203B41FA5}">
                      <a16:colId xmlns:a16="http://schemas.microsoft.com/office/drawing/2014/main" val="4142788731"/>
                    </a:ext>
                  </a:extLst>
                </a:gridCol>
                <a:gridCol w="830242">
                  <a:extLst>
                    <a:ext uri="{9D8B030D-6E8A-4147-A177-3AD203B41FA5}">
                      <a16:colId xmlns:a16="http://schemas.microsoft.com/office/drawing/2014/main" val="3307481001"/>
                    </a:ext>
                  </a:extLst>
                </a:gridCol>
              </a:tblGrid>
              <a:tr h="248519">
                <a:tc rowSpan="2">
                  <a:txBody>
                    <a:bodyPr/>
                    <a:lstStyle/>
                    <a:p>
                      <a:pPr algn="ctr"/>
                      <a:r>
                        <a:rPr lang="en-US" sz="900" dirty="0">
                          <a:solidFill>
                            <a:srgbClr val="344251"/>
                          </a:solidFill>
                        </a:rPr>
                        <a:t>Parts Sales (£)</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solidFill>
                      <a:srgbClr val="DDEBF8"/>
                    </a:solidFill>
                  </a:tcPr>
                </a:tc>
                <a:tc gridSpan="3">
                  <a:txBody>
                    <a:bodyPr/>
                    <a:lstStyle/>
                    <a:p>
                      <a:pPr algn="ctr"/>
                      <a:r>
                        <a:rPr lang="en-US" sz="900" dirty="0">
                          <a:solidFill>
                            <a:srgbClr val="344251"/>
                          </a:solidFill>
                        </a:rPr>
                        <a:t>FY 2025</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solidFill>
                      <a:srgbClr val="DDEBF8"/>
                    </a:solidFill>
                  </a:tcPr>
                </a:tc>
                <a:tc hMerge="1">
                  <a:txBody>
                    <a:bodyPr/>
                    <a:lstStyle/>
                    <a:p>
                      <a:endParaRPr lang="en-US" sz="1100" dirty="0"/>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hMerge="1">
                  <a:txBody>
                    <a:bodyPr/>
                    <a:lstStyle/>
                    <a:p>
                      <a:endParaRPr lang="en-US" sz="1100" dirty="0"/>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ctr"/>
                      <a:r>
                        <a:rPr lang="en-US" sz="900" dirty="0">
                          <a:solidFill>
                            <a:srgbClr val="344251"/>
                          </a:solidFill>
                        </a:rPr>
                        <a:t>FY 2026</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solidFill>
                      <a:srgbClr val="DDEBF8"/>
                    </a:solidFill>
                  </a:tcPr>
                </a:tc>
                <a:extLst>
                  <a:ext uri="{0D108BD9-81ED-4DB2-BD59-A6C34878D82A}">
                    <a16:rowId xmlns:a16="http://schemas.microsoft.com/office/drawing/2014/main" val="1659335083"/>
                  </a:ext>
                </a:extLst>
              </a:tr>
              <a:tr h="332258">
                <a:tc vMerge="1">
                  <a:txBody>
                    <a:bodyPr/>
                    <a:lstStyle/>
                    <a:p>
                      <a:endParaRPr lang="en-US" sz="1200" dirty="0"/>
                    </a:p>
                  </a:txBody>
                  <a:tcPr/>
                </a:tc>
                <a:tc>
                  <a:txBody>
                    <a:bodyPr/>
                    <a:lstStyle/>
                    <a:p>
                      <a:pPr algn="ctr"/>
                      <a:r>
                        <a:rPr lang="en-US" sz="900" dirty="0">
                          <a:solidFill>
                            <a:srgbClr val="344251"/>
                          </a:solidFill>
                        </a:rPr>
                        <a:t>9+3 </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ctr"/>
                      <a:r>
                        <a:rPr lang="en-US" sz="900" dirty="0">
                          <a:solidFill>
                            <a:srgbClr val="344251"/>
                          </a:solidFill>
                        </a:rPr>
                        <a:t>Plan</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ctr"/>
                      <a:r>
                        <a:rPr lang="en-US" sz="900" dirty="0">
                          <a:solidFill>
                            <a:srgbClr val="344251"/>
                          </a:solidFill>
                        </a:rPr>
                        <a:t>Variance</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ctr"/>
                      <a:r>
                        <a:rPr lang="en-US" sz="900" dirty="0">
                          <a:solidFill>
                            <a:srgbClr val="344251"/>
                          </a:solidFill>
                        </a:rPr>
                        <a:t>Plan</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extLst>
                  <a:ext uri="{0D108BD9-81ED-4DB2-BD59-A6C34878D82A}">
                    <a16:rowId xmlns:a16="http://schemas.microsoft.com/office/drawing/2014/main" val="369432905"/>
                  </a:ext>
                </a:extLst>
              </a:tr>
              <a:tr h="332258">
                <a:tc>
                  <a:txBody>
                    <a:bodyPr/>
                    <a:lstStyle/>
                    <a:p>
                      <a:pPr algn="ctr"/>
                      <a:r>
                        <a:rPr lang="en-US" sz="900" dirty="0">
                          <a:solidFill>
                            <a:srgbClr val="344251"/>
                          </a:solidFill>
                        </a:rPr>
                        <a:t>True Sales</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r"/>
                      <a:r>
                        <a:rPr lang="en-US" sz="900" dirty="0">
                          <a:solidFill>
                            <a:srgbClr val="344251"/>
                          </a:solidFill>
                        </a:rPr>
                        <a:t>10,817,300</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r"/>
                      <a:r>
                        <a:rPr lang="en-US" sz="900" dirty="0">
                          <a:solidFill>
                            <a:srgbClr val="344251"/>
                          </a:solidFill>
                        </a:rPr>
                        <a:t>11,117,181</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r"/>
                      <a:r>
                        <a:rPr lang="en-US" altLang="ja-JP" sz="900" b="0" i="0" u="none" strike="noStrike" dirty="0">
                          <a:solidFill>
                            <a:srgbClr val="344251"/>
                          </a:solidFill>
                          <a:effectLst/>
                          <a:latin typeface="Arial" panose="020B0604020202020204" pitchFamily="34" charset="0"/>
                          <a:ea typeface="Meiryo" panose="020B0604030504040204" pitchFamily="34" charset="-128"/>
                          <a:cs typeface="Arial" panose="020B0604020202020204" pitchFamily="34" charset="0"/>
                        </a:rPr>
                        <a:t>Δ </a:t>
                      </a:r>
                      <a:r>
                        <a:rPr lang="en-US" sz="900" dirty="0">
                          <a:solidFill>
                            <a:srgbClr val="344251"/>
                          </a:solidFill>
                        </a:rPr>
                        <a:t>299,881</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r"/>
                      <a:r>
                        <a:rPr lang="en-US" sz="900" dirty="0">
                          <a:solidFill>
                            <a:srgbClr val="344251"/>
                          </a:solidFill>
                        </a:rPr>
                        <a:t>11,532,200</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extLst>
                  <a:ext uri="{0D108BD9-81ED-4DB2-BD59-A6C34878D82A}">
                    <a16:rowId xmlns:a16="http://schemas.microsoft.com/office/drawing/2014/main" val="2855759138"/>
                  </a:ext>
                </a:extLst>
              </a:tr>
              <a:tr h="332258">
                <a:tc>
                  <a:txBody>
                    <a:bodyPr/>
                    <a:lstStyle/>
                    <a:p>
                      <a:pPr algn="ctr"/>
                      <a:r>
                        <a:rPr lang="en-US" sz="900" dirty="0">
                          <a:solidFill>
                            <a:srgbClr val="344251"/>
                          </a:solidFill>
                        </a:rPr>
                        <a:t>Warranty</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r"/>
                      <a:r>
                        <a:rPr lang="en-US" sz="900" dirty="0">
                          <a:solidFill>
                            <a:srgbClr val="344251"/>
                          </a:solidFill>
                        </a:rPr>
                        <a:t>1,782,700</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r"/>
                      <a:r>
                        <a:rPr lang="en-US" sz="900" dirty="0">
                          <a:solidFill>
                            <a:srgbClr val="344251"/>
                          </a:solidFill>
                        </a:rPr>
                        <a:t>1,572,819</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r"/>
                      <a:r>
                        <a:rPr lang="en-US" altLang="ja-JP" sz="900" b="0" i="0" u="none" strike="noStrike" dirty="0">
                          <a:solidFill>
                            <a:srgbClr val="344251"/>
                          </a:solidFill>
                          <a:effectLst/>
                          <a:latin typeface="Arial" panose="020B0604020202020204" pitchFamily="34" charset="0"/>
                          <a:ea typeface="Meiryo" panose="020B0604030504040204" pitchFamily="34" charset="-128"/>
                          <a:cs typeface="Arial" panose="020B0604020202020204" pitchFamily="34" charset="0"/>
                        </a:rPr>
                        <a:t>+ 209,881</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r"/>
                      <a:r>
                        <a:rPr lang="en-US" sz="900" dirty="0">
                          <a:solidFill>
                            <a:srgbClr val="344251"/>
                          </a:solidFill>
                        </a:rPr>
                        <a:t>1,597,000</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extLst>
                  <a:ext uri="{0D108BD9-81ED-4DB2-BD59-A6C34878D82A}">
                    <a16:rowId xmlns:a16="http://schemas.microsoft.com/office/drawing/2014/main" val="1727694467"/>
                  </a:ext>
                </a:extLst>
              </a:tr>
              <a:tr h="332258">
                <a:tc>
                  <a:txBody>
                    <a:bodyPr/>
                    <a:lstStyle/>
                    <a:p>
                      <a:pPr algn="ctr"/>
                      <a:r>
                        <a:rPr lang="en-US" sz="900" dirty="0">
                          <a:solidFill>
                            <a:srgbClr val="344251"/>
                          </a:solidFill>
                        </a:rPr>
                        <a:t>Total Sales</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dirty="0">
                          <a:solidFill>
                            <a:srgbClr val="344251"/>
                          </a:solidFill>
                        </a:rPr>
                        <a:t>12,600,000</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dirty="0">
                          <a:solidFill>
                            <a:srgbClr val="344251"/>
                          </a:solidFill>
                        </a:rPr>
                        <a:t>12,690,000</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algn="r"/>
                      <a:r>
                        <a:rPr lang="en-US" altLang="ja-JP" sz="900" b="0" i="0" u="none" strike="noStrike" dirty="0">
                          <a:solidFill>
                            <a:srgbClr val="344251"/>
                          </a:solidFill>
                          <a:effectLst/>
                          <a:latin typeface="Arial" panose="020B0604020202020204" pitchFamily="34" charset="0"/>
                          <a:ea typeface="Meiryo" panose="020B0604030504040204" pitchFamily="34" charset="-128"/>
                          <a:cs typeface="Arial" panose="020B0604020202020204" pitchFamily="34" charset="0"/>
                        </a:rPr>
                        <a:t>Δ 90,000</a:t>
                      </a:r>
                      <a:endParaRPr lang="en-US" sz="900" dirty="0">
                        <a:solidFill>
                          <a:srgbClr val="344251"/>
                        </a:solidFill>
                      </a:endParaRP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dirty="0">
                          <a:solidFill>
                            <a:srgbClr val="344251"/>
                          </a:solidFill>
                        </a:rPr>
                        <a:t>13,129,200</a:t>
                      </a:r>
                    </a:p>
                  </a:txBody>
                  <a:tcPr anchor="ctr">
                    <a:lnL w="9525" cap="flat" cmpd="sng" algn="ctr">
                      <a:solidFill>
                        <a:srgbClr val="405C8B"/>
                      </a:solidFill>
                      <a:prstDash val="solid"/>
                      <a:round/>
                      <a:headEnd type="none" w="med" len="med"/>
                      <a:tailEnd type="none" w="med" len="med"/>
                    </a:lnL>
                    <a:lnR w="9525" cap="flat" cmpd="sng" algn="ctr">
                      <a:solidFill>
                        <a:srgbClr val="405C8B"/>
                      </a:solidFill>
                      <a:prstDash val="solid"/>
                      <a:round/>
                      <a:headEnd type="none" w="med" len="med"/>
                      <a:tailEnd type="none" w="med" len="med"/>
                    </a:lnR>
                    <a:lnT w="9525" cap="flat" cmpd="sng" algn="ctr">
                      <a:solidFill>
                        <a:srgbClr val="405C8B"/>
                      </a:solidFill>
                      <a:prstDash val="solid"/>
                      <a:round/>
                      <a:headEnd type="none" w="med" len="med"/>
                      <a:tailEnd type="none" w="med" len="med"/>
                    </a:lnT>
                    <a:lnB w="9525" cap="flat" cmpd="sng" algn="ctr">
                      <a:solidFill>
                        <a:srgbClr val="405C8B"/>
                      </a:solidFill>
                      <a:prstDash val="solid"/>
                      <a:round/>
                      <a:headEnd type="none" w="med" len="med"/>
                      <a:tailEnd type="none" w="med" len="med"/>
                    </a:lnB>
                  </a:tcPr>
                </a:tc>
                <a:extLst>
                  <a:ext uri="{0D108BD9-81ED-4DB2-BD59-A6C34878D82A}">
                    <a16:rowId xmlns:a16="http://schemas.microsoft.com/office/drawing/2014/main" val="3687111448"/>
                  </a:ext>
                </a:extLst>
              </a:tr>
            </a:tbl>
          </a:graphicData>
        </a:graphic>
      </p:graphicFrame>
      <p:graphicFrame>
        <p:nvGraphicFramePr>
          <p:cNvPr id="17" name="Chart 16">
            <a:extLst>
              <a:ext uri="{FF2B5EF4-FFF2-40B4-BE49-F238E27FC236}">
                <a16:creationId xmlns:a16="http://schemas.microsoft.com/office/drawing/2014/main" id="{687E617E-FA83-CBB7-C567-0CA638C04780}"/>
              </a:ext>
            </a:extLst>
          </p:cNvPr>
          <p:cNvGraphicFramePr/>
          <p:nvPr>
            <p:extLst>
              <p:ext uri="{D42A27DB-BD31-4B8C-83A1-F6EECF244321}">
                <p14:modId xmlns:p14="http://schemas.microsoft.com/office/powerpoint/2010/main" val="4253925516"/>
              </p:ext>
            </p:extLst>
          </p:nvPr>
        </p:nvGraphicFramePr>
        <p:xfrm>
          <a:off x="8148227" y="1043710"/>
          <a:ext cx="3960441" cy="218381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9" name="Chart 18">
            <a:extLst>
              <a:ext uri="{FF2B5EF4-FFF2-40B4-BE49-F238E27FC236}">
                <a16:creationId xmlns:a16="http://schemas.microsoft.com/office/drawing/2014/main" id="{5C51B456-2A02-F685-2304-891F193AD548}"/>
              </a:ext>
            </a:extLst>
          </p:cNvPr>
          <p:cNvGraphicFramePr>
            <a:graphicFrameLocks/>
          </p:cNvGraphicFramePr>
          <p:nvPr>
            <p:extLst>
              <p:ext uri="{D42A27DB-BD31-4B8C-83A1-F6EECF244321}">
                <p14:modId xmlns:p14="http://schemas.microsoft.com/office/powerpoint/2010/main" val="3128803251"/>
              </p:ext>
            </p:extLst>
          </p:nvPr>
        </p:nvGraphicFramePr>
        <p:xfrm>
          <a:off x="4242840" y="3313647"/>
          <a:ext cx="3913687" cy="1577551"/>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Group 1">
            <a:extLst>
              <a:ext uri="{FF2B5EF4-FFF2-40B4-BE49-F238E27FC236}">
                <a16:creationId xmlns:a16="http://schemas.microsoft.com/office/drawing/2014/main" id="{A76D87C0-D412-0DD4-6E7C-A8BA53829BAF}"/>
              </a:ext>
            </a:extLst>
          </p:cNvPr>
          <p:cNvGrpSpPr/>
          <p:nvPr/>
        </p:nvGrpSpPr>
        <p:grpSpPr>
          <a:xfrm>
            <a:off x="8164825" y="3313647"/>
            <a:ext cx="3943843" cy="3456391"/>
            <a:chOff x="454100" y="1079466"/>
            <a:chExt cx="8131100" cy="5401733"/>
          </a:xfrm>
        </p:grpSpPr>
        <p:graphicFrame>
          <p:nvGraphicFramePr>
            <p:cNvPr id="5" name="Chart 4">
              <a:extLst>
                <a:ext uri="{FF2B5EF4-FFF2-40B4-BE49-F238E27FC236}">
                  <a16:creationId xmlns:a16="http://schemas.microsoft.com/office/drawing/2014/main" id="{3EFE8732-F87A-FAAA-265B-1E772EA4551F}"/>
                </a:ext>
              </a:extLst>
            </p:cNvPr>
            <p:cNvGraphicFramePr/>
            <p:nvPr>
              <p:extLst>
                <p:ext uri="{D42A27DB-BD31-4B8C-83A1-F6EECF244321}">
                  <p14:modId xmlns:p14="http://schemas.microsoft.com/office/powerpoint/2010/main" val="1612648159"/>
                </p:ext>
              </p:extLst>
            </p:nvPr>
          </p:nvGraphicFramePr>
          <p:xfrm>
            <a:off x="454100" y="1079466"/>
            <a:ext cx="8131100" cy="540173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7" name="Chart 6">
              <a:extLst>
                <a:ext uri="{FF2B5EF4-FFF2-40B4-BE49-F238E27FC236}">
                  <a16:creationId xmlns:a16="http://schemas.microsoft.com/office/drawing/2014/main" id="{6FFB9D61-AC87-1DC6-4501-65D0EC606E33}"/>
                </a:ext>
              </a:extLst>
            </p:cNvPr>
            <p:cNvGraphicFramePr/>
            <p:nvPr>
              <p:extLst>
                <p:ext uri="{D42A27DB-BD31-4B8C-83A1-F6EECF244321}">
                  <p14:modId xmlns:p14="http://schemas.microsoft.com/office/powerpoint/2010/main" val="2819801702"/>
                </p:ext>
              </p:extLst>
            </p:nvPr>
          </p:nvGraphicFramePr>
          <p:xfrm>
            <a:off x="6426200" y="1397000"/>
            <a:ext cx="2019300" cy="4982599"/>
          </p:xfrm>
          <a:graphic>
            <a:graphicData uri="http://schemas.openxmlformats.org/drawingml/2006/chart">
              <c:chart xmlns:c="http://schemas.openxmlformats.org/drawingml/2006/chart" xmlns:r="http://schemas.openxmlformats.org/officeDocument/2006/relationships" r:id="rId7"/>
            </a:graphicData>
          </a:graphic>
        </p:graphicFrame>
      </p:grpSp>
      <p:graphicFrame>
        <p:nvGraphicFramePr>
          <p:cNvPr id="11" name="Chart 10">
            <a:extLst>
              <a:ext uri="{FF2B5EF4-FFF2-40B4-BE49-F238E27FC236}">
                <a16:creationId xmlns:a16="http://schemas.microsoft.com/office/drawing/2014/main" id="{3C563C78-2096-FADC-F4A1-46F7AFC3FDCD}"/>
              </a:ext>
            </a:extLst>
          </p:cNvPr>
          <p:cNvGraphicFramePr>
            <a:graphicFrameLocks/>
          </p:cNvGraphicFramePr>
          <p:nvPr>
            <p:extLst>
              <p:ext uri="{D42A27DB-BD31-4B8C-83A1-F6EECF244321}">
                <p14:modId xmlns:p14="http://schemas.microsoft.com/office/powerpoint/2010/main" val="1772875653"/>
              </p:ext>
            </p:extLst>
          </p:nvPr>
        </p:nvGraphicFramePr>
        <p:xfrm>
          <a:off x="4242838" y="4923857"/>
          <a:ext cx="3913687" cy="1846181"/>
        </p:xfrm>
        <a:graphic>
          <a:graphicData uri="http://schemas.openxmlformats.org/drawingml/2006/chart">
            <c:chart xmlns:c="http://schemas.openxmlformats.org/drawingml/2006/chart" xmlns:r="http://schemas.openxmlformats.org/officeDocument/2006/relationships" r:id="rId8"/>
          </a:graphicData>
        </a:graphic>
      </p:graphicFrame>
      <p:sp>
        <p:nvSpPr>
          <p:cNvPr id="12" name="TextBox 11">
            <a:extLst>
              <a:ext uri="{FF2B5EF4-FFF2-40B4-BE49-F238E27FC236}">
                <a16:creationId xmlns:a16="http://schemas.microsoft.com/office/drawing/2014/main" id="{ED868FDF-F307-FCF3-DA1E-D7BB8F35CFB8}"/>
              </a:ext>
            </a:extLst>
          </p:cNvPr>
          <p:cNvSpPr txBox="1"/>
          <p:nvPr/>
        </p:nvSpPr>
        <p:spPr>
          <a:xfrm>
            <a:off x="6356498" y="4977319"/>
            <a:ext cx="1740567" cy="446276"/>
          </a:xfrm>
          <a:prstGeom prst="rect">
            <a:avLst/>
          </a:prstGeom>
          <a:solidFill>
            <a:schemeClr val="bg1"/>
          </a:solidFill>
        </p:spPr>
        <p:txBody>
          <a:bodyPr wrap="square" rtlCol="0">
            <a:spAutoFit/>
          </a:bodyPr>
          <a:lstStyle/>
          <a:p>
            <a:pPr algn="l">
              <a:lnSpc>
                <a:spcPct val="90000"/>
              </a:lnSpc>
              <a:spcBef>
                <a:spcPts val="600"/>
              </a:spcBef>
            </a:pPr>
            <a:r>
              <a:rPr lang="en-US" sz="1000" dirty="0">
                <a:solidFill>
                  <a:srgbClr val="344251"/>
                </a:solidFill>
              </a:rPr>
              <a:t>Reasons Customers </a:t>
            </a:r>
          </a:p>
          <a:p>
            <a:pPr algn="l">
              <a:lnSpc>
                <a:spcPct val="90000"/>
              </a:lnSpc>
              <a:spcBef>
                <a:spcPts val="600"/>
              </a:spcBef>
            </a:pPr>
            <a:r>
              <a:rPr lang="en-US" sz="1000" dirty="0">
                <a:solidFill>
                  <a:srgbClr val="344251"/>
                </a:solidFill>
              </a:rPr>
              <a:t>Don’t Use the Network</a:t>
            </a:r>
          </a:p>
        </p:txBody>
      </p:sp>
      <p:sp>
        <p:nvSpPr>
          <p:cNvPr id="13" name="Text Placeholder 1">
            <a:extLst>
              <a:ext uri="{FF2B5EF4-FFF2-40B4-BE49-F238E27FC236}">
                <a16:creationId xmlns:a16="http://schemas.microsoft.com/office/drawing/2014/main" id="{E80AF500-B645-ACFB-03A0-6A724F10AD12}"/>
              </a:ext>
            </a:extLst>
          </p:cNvPr>
          <p:cNvSpPr>
            <a:spLocks noGrp="1"/>
          </p:cNvSpPr>
          <p:nvPr>
            <p:ph type="body" sz="quarter" idx="13"/>
          </p:nvPr>
        </p:nvSpPr>
        <p:spPr>
          <a:xfrm>
            <a:off x="83333" y="1043710"/>
            <a:ext cx="8064894" cy="2183816"/>
          </a:xfrm>
          <a:ln>
            <a:solidFill>
              <a:srgbClr val="405C8B"/>
            </a:solidFill>
          </a:ln>
        </p:spPr>
        <p:txBody>
          <a:bodyPr anchor="ctr"/>
          <a:lstStyle/>
          <a:p>
            <a:pPr marL="171450" indent="-85725">
              <a:spcBef>
                <a:spcPts val="400"/>
              </a:spcBef>
              <a:buFont typeface="Arial" panose="020B0604020202020204" pitchFamily="34" charset="0"/>
              <a:buChar char="•"/>
            </a:pPr>
            <a:r>
              <a:rPr lang="en-GB" sz="1100" dirty="0">
                <a:solidFill>
                  <a:srgbClr val="344251"/>
                </a:solidFill>
                <a:ea typeface="Roboto" panose="02000000000000000000" pitchFamily="2" charset="0"/>
              </a:rPr>
              <a:t>YTD parts sales at £9.2m vs £9.5m y-t-d plan to end-December 2025</a:t>
            </a:r>
          </a:p>
          <a:p>
            <a:pPr marL="171450" indent="-85725">
              <a:spcBef>
                <a:spcPts val="400"/>
              </a:spcBef>
              <a:buFont typeface="Arial" panose="020B0604020202020204" pitchFamily="34" charset="0"/>
              <a:buChar char="•"/>
            </a:pPr>
            <a:r>
              <a:rPr lang="en-GB" sz="1100" dirty="0">
                <a:solidFill>
                  <a:srgbClr val="344251"/>
                </a:solidFill>
                <a:ea typeface="Roboto" panose="02000000000000000000" pitchFamily="2" charset="0"/>
              </a:rPr>
              <a:t>Corrective actions implemented in January expected to improve performance over the remainder of the fiscal year. </a:t>
            </a:r>
          </a:p>
          <a:p>
            <a:pPr marL="171450" indent="-85725">
              <a:spcBef>
                <a:spcPts val="400"/>
              </a:spcBef>
              <a:buFont typeface="Arial" panose="020B0604020202020204" pitchFamily="34" charset="0"/>
              <a:buChar char="•"/>
            </a:pPr>
            <a:r>
              <a:rPr lang="en-GB" sz="1100" dirty="0">
                <a:solidFill>
                  <a:srgbClr val="344251"/>
                </a:solidFill>
                <a:ea typeface="Roboto" panose="02000000000000000000" pitchFamily="2" charset="0"/>
              </a:rPr>
              <a:t>The winter period traditionally generates increased demand for high-value accident repair parts, which should further support recovery.</a:t>
            </a:r>
          </a:p>
          <a:p>
            <a:pPr marL="171450" indent="-85725">
              <a:spcBef>
                <a:spcPts val="400"/>
              </a:spcBef>
              <a:buFont typeface="Arial" panose="020B0604020202020204" pitchFamily="34" charset="0"/>
              <a:buChar char="•"/>
            </a:pPr>
            <a:r>
              <a:rPr lang="en-GB" sz="1100" dirty="0">
                <a:solidFill>
                  <a:srgbClr val="344251"/>
                </a:solidFill>
                <a:ea typeface="Roboto" panose="02000000000000000000" pitchFamily="2" charset="0"/>
              </a:rPr>
              <a:t>Ongoing focus on dealer engagement &amp; support for FY26. Using postcode-based vehicle parc re-tax data to identify and grow dealer AOR opportunities.</a:t>
            </a:r>
          </a:p>
          <a:p>
            <a:pPr marL="171450" indent="-85725">
              <a:spcBef>
                <a:spcPts val="400"/>
              </a:spcBef>
              <a:buFont typeface="Arial" panose="020B0604020202020204" pitchFamily="34" charset="0"/>
              <a:buChar char="•"/>
            </a:pPr>
            <a:r>
              <a:rPr lang="en-GB" sz="1100" dirty="0">
                <a:solidFill>
                  <a:srgbClr val="344251"/>
                </a:solidFill>
                <a:ea typeface="Roboto" panose="02000000000000000000" pitchFamily="2" charset="0"/>
              </a:rPr>
              <a:t>E-Commerce launch now planned for H1 FY26 - drives 3rd Party Repairer initiative</a:t>
            </a:r>
          </a:p>
          <a:p>
            <a:pPr marL="171450" indent="-85725">
              <a:spcBef>
                <a:spcPts val="400"/>
              </a:spcBef>
              <a:buFont typeface="Arial" panose="020B0604020202020204" pitchFamily="34" charset="0"/>
              <a:buChar char="•"/>
            </a:pPr>
            <a:r>
              <a:rPr lang="en-GB" sz="1100" dirty="0">
                <a:solidFill>
                  <a:srgbClr val="344251"/>
                </a:solidFill>
                <a:ea typeface="Roboto" panose="02000000000000000000" pitchFamily="2" charset="0"/>
              </a:rPr>
              <a:t>Stock and MOS reduced to 5-months ahead of GSCM rollout – key focus remains on First Time Parts Fill Rate.</a:t>
            </a:r>
          </a:p>
          <a:p>
            <a:pPr marL="171450" indent="-85725">
              <a:spcBef>
                <a:spcPts val="400"/>
              </a:spcBef>
              <a:buFont typeface="Arial" panose="020B0604020202020204" pitchFamily="34" charset="0"/>
              <a:buChar char="•"/>
            </a:pPr>
            <a:r>
              <a:rPr lang="en-GB" sz="1100" dirty="0">
                <a:solidFill>
                  <a:schemeClr val="tx1">
                    <a:lumMod val="75000"/>
                    <a:lumOff val="25000"/>
                  </a:schemeClr>
                </a:solidFill>
                <a:ea typeface="Roboto" panose="02000000000000000000" pitchFamily="2" charset="0"/>
              </a:rPr>
              <a:t>Ongoing discussions with DSV reference potential move to MDI system with possible rollout in Q2FY26 to ensure Dealers have parts required TO </a:t>
            </a:r>
          </a:p>
          <a:p>
            <a:pPr marL="171450" indent="-85725">
              <a:spcBef>
                <a:spcPts val="400"/>
              </a:spcBef>
              <a:buFont typeface="Arial" panose="020B0604020202020204" pitchFamily="34" charset="0"/>
              <a:buChar char="•"/>
            </a:pPr>
            <a:r>
              <a:rPr lang="en-GB" sz="1100" dirty="0">
                <a:solidFill>
                  <a:schemeClr val="tx1">
                    <a:lumMod val="75000"/>
                    <a:lumOff val="25000"/>
                  </a:schemeClr>
                </a:solidFill>
                <a:ea typeface="Roboto" panose="02000000000000000000" pitchFamily="2" charset="0"/>
              </a:rPr>
              <a:t>Repair &amp; Maintenance incentive planned for FY26 to drive PMS based parts sales with our dealer network.</a:t>
            </a:r>
          </a:p>
        </p:txBody>
      </p:sp>
    </p:spTree>
    <p:extLst>
      <p:ext uri="{BB962C8B-B14F-4D97-AF65-F5344CB8AC3E}">
        <p14:creationId xmlns:p14="http://schemas.microsoft.com/office/powerpoint/2010/main" val="3711713907"/>
      </p:ext>
    </p:extLst>
  </p:cSld>
  <p:clrMapOvr>
    <a:masterClrMapping/>
  </p:clrMapOvr>
  <p:transition spd="med" advTm="6633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1B9D4-11D7-A4C9-9624-FA635C81009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4319A6-602C-302B-1B56-C4DF4B7E93CF}"/>
              </a:ext>
            </a:extLst>
          </p:cNvPr>
          <p:cNvSpPr>
            <a:spLocks noGrp="1"/>
          </p:cNvSpPr>
          <p:nvPr>
            <p:ph type="title"/>
          </p:nvPr>
        </p:nvSpPr>
        <p:spPr/>
        <p:txBody>
          <a:bodyPr/>
          <a:lstStyle/>
          <a:p>
            <a:r>
              <a:rPr lang="en-US" dirty="0">
                <a:solidFill>
                  <a:srgbClr val="344251"/>
                </a:solidFill>
              </a:rPr>
              <a:t>Connected Project - </a:t>
            </a:r>
            <a:r>
              <a:rPr lang="en-US" dirty="0" err="1">
                <a:solidFill>
                  <a:srgbClr val="344251"/>
                </a:solidFill>
              </a:rPr>
              <a:t>Maximise</a:t>
            </a:r>
            <a:r>
              <a:rPr lang="en-US" dirty="0">
                <a:solidFill>
                  <a:srgbClr val="344251"/>
                </a:solidFill>
              </a:rPr>
              <a:t> Aftersales (PMS)</a:t>
            </a:r>
          </a:p>
        </p:txBody>
      </p:sp>
      <p:sp>
        <p:nvSpPr>
          <p:cNvPr id="2" name="Text Placeholder 1">
            <a:extLst>
              <a:ext uri="{FF2B5EF4-FFF2-40B4-BE49-F238E27FC236}">
                <a16:creationId xmlns:a16="http://schemas.microsoft.com/office/drawing/2014/main" id="{35685361-027E-0B10-6D66-3A2D7B742EAC}"/>
              </a:ext>
            </a:extLst>
          </p:cNvPr>
          <p:cNvSpPr>
            <a:spLocks noGrp="1"/>
          </p:cNvSpPr>
          <p:nvPr>
            <p:ph type="body" sz="quarter" idx="13"/>
          </p:nvPr>
        </p:nvSpPr>
        <p:spPr>
          <a:xfrm>
            <a:off x="457200" y="1196975"/>
            <a:ext cx="11280002" cy="5111750"/>
          </a:xfrm>
        </p:spPr>
        <p:txBody>
          <a:bodyPr/>
          <a:lstStyle/>
          <a:p>
            <a:r>
              <a:rPr lang="en-US" b="1" dirty="0">
                <a:solidFill>
                  <a:srgbClr val="344251"/>
                </a:solidFill>
              </a:rPr>
              <a:t>Original</a:t>
            </a:r>
            <a:r>
              <a:rPr lang="en-US" dirty="0">
                <a:solidFill>
                  <a:srgbClr val="344251"/>
                </a:solidFill>
              </a:rPr>
              <a:t> - ITUK plan to utilize connected systems to support additional aftersales activity including maximizing PMS opportunities.</a:t>
            </a:r>
          </a:p>
          <a:p>
            <a:r>
              <a:rPr lang="en-US" dirty="0">
                <a:solidFill>
                  <a:srgbClr val="344251"/>
                </a:solidFill>
              </a:rPr>
              <a:t>To support this activity, ITUK require two key pieces of information from the GATEX satellite so that ITUK and our Dealers can assess Customer vehicle maintenance requirements.</a:t>
            </a:r>
          </a:p>
          <a:p>
            <a:pPr marL="684000" lvl="1" indent="-457200">
              <a:buFont typeface="+mj-lt"/>
              <a:buAutoNum type="arabicPeriod"/>
            </a:pPr>
            <a:r>
              <a:rPr lang="en-US" b="1" dirty="0">
                <a:solidFill>
                  <a:srgbClr val="344251"/>
                </a:solidFill>
              </a:rPr>
              <a:t>Determine Customer type (S1,S2,S3,S4) </a:t>
            </a:r>
            <a:r>
              <a:rPr lang="en-US" dirty="0">
                <a:solidFill>
                  <a:srgbClr val="344251"/>
                </a:solidFill>
              </a:rPr>
              <a:t>- Locate Customer vehicles relative to ITUK’s Dealer sites using geofence to determine if Customers currently visit Dealer for maintenance.</a:t>
            </a:r>
          </a:p>
          <a:p>
            <a:pPr marL="684000" lvl="1" indent="-457200">
              <a:buFont typeface="+mj-lt"/>
              <a:buAutoNum type="arabicPeriod"/>
            </a:pPr>
            <a:r>
              <a:rPr lang="en-US" b="1" dirty="0">
                <a:solidFill>
                  <a:srgbClr val="344251"/>
                </a:solidFill>
              </a:rPr>
              <a:t>Determine Maintenance Type (mileage interval)</a:t>
            </a:r>
            <a:r>
              <a:rPr lang="en-US" dirty="0">
                <a:solidFill>
                  <a:srgbClr val="344251"/>
                </a:solidFill>
              </a:rPr>
              <a:t> - Gather the maintenance requirement based on the ISUZU maintenance schedule using the odometer data from the GATEX server.</a:t>
            </a:r>
            <a:endParaRPr lang="en-US" b="1" dirty="0">
              <a:solidFill>
                <a:srgbClr val="344251"/>
              </a:solidFill>
            </a:endParaRPr>
          </a:p>
        </p:txBody>
      </p:sp>
      <p:pic>
        <p:nvPicPr>
          <p:cNvPr id="5" name="図 45">
            <a:extLst>
              <a:ext uri="{FF2B5EF4-FFF2-40B4-BE49-F238E27FC236}">
                <a16:creationId xmlns:a16="http://schemas.microsoft.com/office/drawing/2014/main" id="{C8F9FF61-4621-1A90-E7D9-CAE27E1B3748}"/>
              </a:ext>
            </a:extLst>
          </p:cNvPr>
          <p:cNvPicPr>
            <a:picLocks noChangeAspect="1"/>
          </p:cNvPicPr>
          <p:nvPr/>
        </p:nvPicPr>
        <p:blipFill rotWithShape="1">
          <a:blip r:embed="rId3">
            <a:extLst>
              <a:ext uri="{28A0092B-C50C-407E-A947-70E740481C1C}">
                <a14:useLocalDpi xmlns:a14="http://schemas.microsoft.com/office/drawing/2010/main" val="0"/>
              </a:ext>
            </a:extLst>
          </a:blip>
          <a:srcRect l="5725" t="53160" r="59601"/>
          <a:stretch>
            <a:fillRect/>
          </a:stretch>
        </p:blipFill>
        <p:spPr>
          <a:xfrm>
            <a:off x="71266" y="4571009"/>
            <a:ext cx="2379039" cy="1862335"/>
          </a:xfrm>
          <a:prstGeom prst="rect">
            <a:avLst/>
          </a:prstGeom>
          <a:ln>
            <a:solidFill>
              <a:srgbClr val="344251"/>
            </a:solidFill>
          </a:ln>
          <a:effectLst/>
        </p:spPr>
      </p:pic>
      <p:sp>
        <p:nvSpPr>
          <p:cNvPr id="6" name="TextBox 5">
            <a:extLst>
              <a:ext uri="{FF2B5EF4-FFF2-40B4-BE49-F238E27FC236}">
                <a16:creationId xmlns:a16="http://schemas.microsoft.com/office/drawing/2014/main" id="{A97676C5-797B-A477-FFCA-8FF761F65E57}"/>
              </a:ext>
            </a:extLst>
          </p:cNvPr>
          <p:cNvSpPr txBox="1"/>
          <p:nvPr/>
        </p:nvSpPr>
        <p:spPr>
          <a:xfrm>
            <a:off x="214225" y="4310358"/>
            <a:ext cx="2043113" cy="286232"/>
          </a:xfrm>
          <a:prstGeom prst="rect">
            <a:avLst/>
          </a:prstGeom>
          <a:noFill/>
        </p:spPr>
        <p:txBody>
          <a:bodyPr wrap="square" rtlCol="0">
            <a:spAutoFit/>
          </a:bodyPr>
          <a:lstStyle/>
          <a:p>
            <a:pPr algn="ctr">
              <a:lnSpc>
                <a:spcPct val="90000"/>
              </a:lnSpc>
              <a:spcBef>
                <a:spcPts val="600"/>
              </a:spcBef>
            </a:pPr>
            <a:r>
              <a:rPr lang="en-US" sz="1400" b="1" dirty="0">
                <a:solidFill>
                  <a:srgbClr val="344251"/>
                </a:solidFill>
              </a:rPr>
              <a:t>GATEX Server</a:t>
            </a:r>
          </a:p>
        </p:txBody>
      </p:sp>
      <p:sp>
        <p:nvSpPr>
          <p:cNvPr id="10" name="Right Arrow 9">
            <a:extLst>
              <a:ext uri="{FF2B5EF4-FFF2-40B4-BE49-F238E27FC236}">
                <a16:creationId xmlns:a16="http://schemas.microsoft.com/office/drawing/2014/main" id="{E7D5FD87-E4C4-A9BF-8FBD-5B95D2CB77C2}"/>
              </a:ext>
            </a:extLst>
          </p:cNvPr>
          <p:cNvSpPr/>
          <p:nvPr/>
        </p:nvSpPr>
        <p:spPr>
          <a:xfrm>
            <a:off x="2450305" y="4571010"/>
            <a:ext cx="1785937" cy="832264"/>
          </a:xfrm>
          <a:prstGeom prst="rightArrow">
            <a:avLst>
              <a:gd name="adj1" fmla="val 50000"/>
              <a:gd name="adj2" fmla="val 50582"/>
            </a:avLst>
          </a:prstGeom>
          <a:solidFill>
            <a:schemeClr val="bg2">
              <a:lumMod val="20000"/>
              <a:lumOff val="80000"/>
            </a:schemeClr>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100" dirty="0">
                <a:solidFill>
                  <a:srgbClr val="344251"/>
                </a:solidFill>
              </a:rPr>
              <a:t>Is Maintenance Due?</a:t>
            </a:r>
          </a:p>
        </p:txBody>
      </p:sp>
      <p:sp>
        <p:nvSpPr>
          <p:cNvPr id="11" name="Rounded Rectangle 10">
            <a:extLst>
              <a:ext uri="{FF2B5EF4-FFF2-40B4-BE49-F238E27FC236}">
                <a16:creationId xmlns:a16="http://schemas.microsoft.com/office/drawing/2014/main" id="{0301BAA4-95AB-C428-8EE9-F1EE5C654B73}"/>
              </a:ext>
            </a:extLst>
          </p:cNvPr>
          <p:cNvSpPr/>
          <p:nvPr/>
        </p:nvSpPr>
        <p:spPr>
          <a:xfrm>
            <a:off x="1943100" y="4667052"/>
            <a:ext cx="507205" cy="1641673"/>
          </a:xfrm>
          <a:prstGeom prst="roundRect">
            <a:avLst>
              <a:gd name="adj" fmla="val 6863"/>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pic>
        <p:nvPicPr>
          <p:cNvPr id="13" name="Picture 12" descr="A map of a city&#10;&#10;AI-generated content may be incorrect.">
            <a:extLst>
              <a:ext uri="{FF2B5EF4-FFF2-40B4-BE49-F238E27FC236}">
                <a16:creationId xmlns:a16="http://schemas.microsoft.com/office/drawing/2014/main" id="{848EB63C-4925-294A-32E4-D2238E99C5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36242" y="4318722"/>
            <a:ext cx="3179279" cy="2291431"/>
          </a:xfrm>
          <a:prstGeom prst="rect">
            <a:avLst/>
          </a:prstGeom>
        </p:spPr>
      </p:pic>
      <p:sp>
        <p:nvSpPr>
          <p:cNvPr id="14" name="Oval 13">
            <a:extLst>
              <a:ext uri="{FF2B5EF4-FFF2-40B4-BE49-F238E27FC236}">
                <a16:creationId xmlns:a16="http://schemas.microsoft.com/office/drawing/2014/main" id="{FEC5285B-F8BE-0E47-739A-11477DEC9DF4}"/>
              </a:ext>
            </a:extLst>
          </p:cNvPr>
          <p:cNvSpPr/>
          <p:nvPr/>
        </p:nvSpPr>
        <p:spPr>
          <a:xfrm>
            <a:off x="5049981" y="4873337"/>
            <a:ext cx="696191" cy="694170"/>
          </a:xfrm>
          <a:prstGeom prst="ellipse">
            <a:avLst/>
          </a:prstGeom>
          <a:solidFill>
            <a:srgbClr val="00B0F0">
              <a:alpha val="25000"/>
            </a:srgbClr>
          </a:solid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sp>
        <p:nvSpPr>
          <p:cNvPr id="15" name="TextBox 14">
            <a:extLst>
              <a:ext uri="{FF2B5EF4-FFF2-40B4-BE49-F238E27FC236}">
                <a16:creationId xmlns:a16="http://schemas.microsoft.com/office/drawing/2014/main" id="{3DEF18A2-CC50-D8A9-8A9A-4383F4AE7DBC}"/>
              </a:ext>
            </a:extLst>
          </p:cNvPr>
          <p:cNvSpPr txBox="1"/>
          <p:nvPr/>
        </p:nvSpPr>
        <p:spPr>
          <a:xfrm>
            <a:off x="4407522" y="4032490"/>
            <a:ext cx="2836718" cy="286232"/>
          </a:xfrm>
          <a:prstGeom prst="rect">
            <a:avLst/>
          </a:prstGeom>
          <a:noFill/>
        </p:spPr>
        <p:txBody>
          <a:bodyPr wrap="square" rtlCol="0">
            <a:spAutoFit/>
          </a:bodyPr>
          <a:lstStyle/>
          <a:p>
            <a:pPr algn="ctr">
              <a:lnSpc>
                <a:spcPct val="90000"/>
              </a:lnSpc>
              <a:spcBef>
                <a:spcPts val="600"/>
              </a:spcBef>
            </a:pPr>
            <a:r>
              <a:rPr lang="en-US" sz="1400" b="1" dirty="0">
                <a:solidFill>
                  <a:srgbClr val="344251"/>
                </a:solidFill>
              </a:rPr>
              <a:t>Geofence Dealers</a:t>
            </a:r>
          </a:p>
        </p:txBody>
      </p:sp>
      <p:sp>
        <p:nvSpPr>
          <p:cNvPr id="17" name="Right Arrow 16">
            <a:extLst>
              <a:ext uri="{FF2B5EF4-FFF2-40B4-BE49-F238E27FC236}">
                <a16:creationId xmlns:a16="http://schemas.microsoft.com/office/drawing/2014/main" id="{70EB54F0-18AD-C911-901F-0DECADF1167A}"/>
              </a:ext>
            </a:extLst>
          </p:cNvPr>
          <p:cNvSpPr/>
          <p:nvPr/>
        </p:nvSpPr>
        <p:spPr>
          <a:xfrm>
            <a:off x="2450304" y="5601081"/>
            <a:ext cx="1785937" cy="832264"/>
          </a:xfrm>
          <a:prstGeom prst="rightArrow">
            <a:avLst>
              <a:gd name="adj1" fmla="val 50000"/>
              <a:gd name="adj2" fmla="val 50582"/>
            </a:avLst>
          </a:prstGeom>
          <a:solidFill>
            <a:schemeClr val="bg2">
              <a:lumMod val="20000"/>
              <a:lumOff val="80000"/>
            </a:schemeClr>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100" dirty="0">
                <a:solidFill>
                  <a:srgbClr val="344251"/>
                </a:solidFill>
              </a:rPr>
              <a:t>Is Maintenance Due?</a:t>
            </a:r>
          </a:p>
        </p:txBody>
      </p:sp>
      <p:sp>
        <p:nvSpPr>
          <p:cNvPr id="18" name="TextBox 17">
            <a:extLst>
              <a:ext uri="{FF2B5EF4-FFF2-40B4-BE49-F238E27FC236}">
                <a16:creationId xmlns:a16="http://schemas.microsoft.com/office/drawing/2014/main" id="{8FDC9C10-35CE-3A57-BB9A-18CED9260A59}"/>
              </a:ext>
            </a:extLst>
          </p:cNvPr>
          <p:cNvSpPr txBox="1"/>
          <p:nvPr/>
        </p:nvSpPr>
        <p:spPr>
          <a:xfrm>
            <a:off x="2693280" y="4510086"/>
            <a:ext cx="883227" cy="313932"/>
          </a:xfrm>
          <a:prstGeom prst="rect">
            <a:avLst/>
          </a:prstGeom>
          <a:noFill/>
        </p:spPr>
        <p:txBody>
          <a:bodyPr wrap="square" rtlCol="0">
            <a:spAutoFit/>
          </a:bodyPr>
          <a:lstStyle/>
          <a:p>
            <a:pPr algn="ctr">
              <a:lnSpc>
                <a:spcPct val="90000"/>
              </a:lnSpc>
              <a:spcBef>
                <a:spcPts val="600"/>
              </a:spcBef>
            </a:pPr>
            <a:r>
              <a:rPr lang="en-US" sz="1600" b="1" dirty="0">
                <a:solidFill>
                  <a:srgbClr val="344251"/>
                </a:solidFill>
              </a:rPr>
              <a:t>YES</a:t>
            </a:r>
          </a:p>
        </p:txBody>
      </p:sp>
      <p:sp>
        <p:nvSpPr>
          <p:cNvPr id="19" name="TextBox 18">
            <a:extLst>
              <a:ext uri="{FF2B5EF4-FFF2-40B4-BE49-F238E27FC236}">
                <a16:creationId xmlns:a16="http://schemas.microsoft.com/office/drawing/2014/main" id="{6D34B1D8-983C-533E-B3F7-9BA5842536B8}"/>
              </a:ext>
            </a:extLst>
          </p:cNvPr>
          <p:cNvSpPr txBox="1"/>
          <p:nvPr/>
        </p:nvSpPr>
        <p:spPr>
          <a:xfrm>
            <a:off x="2693280" y="5542067"/>
            <a:ext cx="883227" cy="313932"/>
          </a:xfrm>
          <a:prstGeom prst="rect">
            <a:avLst/>
          </a:prstGeom>
          <a:noFill/>
        </p:spPr>
        <p:txBody>
          <a:bodyPr wrap="square" rtlCol="0">
            <a:spAutoFit/>
          </a:bodyPr>
          <a:lstStyle/>
          <a:p>
            <a:pPr algn="ctr">
              <a:lnSpc>
                <a:spcPct val="90000"/>
              </a:lnSpc>
              <a:spcBef>
                <a:spcPts val="600"/>
              </a:spcBef>
            </a:pPr>
            <a:r>
              <a:rPr lang="en-US" sz="1600" b="1" dirty="0">
                <a:solidFill>
                  <a:srgbClr val="344251"/>
                </a:solidFill>
              </a:rPr>
              <a:t>NO</a:t>
            </a:r>
          </a:p>
        </p:txBody>
      </p:sp>
      <p:sp>
        <p:nvSpPr>
          <p:cNvPr id="20" name="TextBox 19">
            <a:extLst>
              <a:ext uri="{FF2B5EF4-FFF2-40B4-BE49-F238E27FC236}">
                <a16:creationId xmlns:a16="http://schemas.microsoft.com/office/drawing/2014/main" id="{80D4F2B6-F5EE-D243-EE7A-6D24DBE2FCFB}"/>
              </a:ext>
            </a:extLst>
          </p:cNvPr>
          <p:cNvSpPr txBox="1"/>
          <p:nvPr/>
        </p:nvSpPr>
        <p:spPr>
          <a:xfrm>
            <a:off x="2458508" y="6208037"/>
            <a:ext cx="1352769" cy="216982"/>
          </a:xfrm>
          <a:prstGeom prst="rect">
            <a:avLst/>
          </a:prstGeom>
          <a:noFill/>
        </p:spPr>
        <p:txBody>
          <a:bodyPr wrap="square" rtlCol="0">
            <a:spAutoFit/>
          </a:bodyPr>
          <a:lstStyle/>
          <a:p>
            <a:pPr algn="ctr">
              <a:lnSpc>
                <a:spcPct val="90000"/>
              </a:lnSpc>
              <a:spcBef>
                <a:spcPts val="600"/>
              </a:spcBef>
            </a:pPr>
            <a:r>
              <a:rPr lang="en-US" sz="900" dirty="0">
                <a:solidFill>
                  <a:srgbClr val="344251"/>
                </a:solidFill>
              </a:rPr>
              <a:t>No further action</a:t>
            </a:r>
          </a:p>
        </p:txBody>
      </p:sp>
      <p:sp>
        <p:nvSpPr>
          <p:cNvPr id="21" name="TextBox 20">
            <a:extLst>
              <a:ext uri="{FF2B5EF4-FFF2-40B4-BE49-F238E27FC236}">
                <a16:creationId xmlns:a16="http://schemas.microsoft.com/office/drawing/2014/main" id="{54D2BA5C-1640-8A81-BEAF-64FAB3F7705C}"/>
              </a:ext>
            </a:extLst>
          </p:cNvPr>
          <p:cNvSpPr txBox="1"/>
          <p:nvPr/>
        </p:nvSpPr>
        <p:spPr>
          <a:xfrm>
            <a:off x="2476603" y="5156885"/>
            <a:ext cx="1352769" cy="216982"/>
          </a:xfrm>
          <a:prstGeom prst="rect">
            <a:avLst/>
          </a:prstGeom>
          <a:noFill/>
        </p:spPr>
        <p:txBody>
          <a:bodyPr wrap="square" rtlCol="0">
            <a:spAutoFit/>
          </a:bodyPr>
          <a:lstStyle/>
          <a:p>
            <a:pPr algn="l">
              <a:lnSpc>
                <a:spcPct val="90000"/>
              </a:lnSpc>
              <a:spcBef>
                <a:spcPts val="600"/>
              </a:spcBef>
            </a:pPr>
            <a:r>
              <a:rPr lang="en-US" sz="900" dirty="0">
                <a:solidFill>
                  <a:srgbClr val="344251"/>
                </a:solidFill>
              </a:rPr>
              <a:t>Check Customer Type</a:t>
            </a:r>
          </a:p>
        </p:txBody>
      </p:sp>
      <p:sp>
        <p:nvSpPr>
          <p:cNvPr id="22" name="Right Arrow 21">
            <a:extLst>
              <a:ext uri="{FF2B5EF4-FFF2-40B4-BE49-F238E27FC236}">
                <a16:creationId xmlns:a16="http://schemas.microsoft.com/office/drawing/2014/main" id="{20F935C2-8A7D-A676-CA19-5295F72EE8CD}"/>
              </a:ext>
            </a:extLst>
          </p:cNvPr>
          <p:cNvSpPr/>
          <p:nvPr/>
        </p:nvSpPr>
        <p:spPr>
          <a:xfrm>
            <a:off x="7415521" y="4571010"/>
            <a:ext cx="1785937" cy="832264"/>
          </a:xfrm>
          <a:prstGeom prst="rightArrow">
            <a:avLst>
              <a:gd name="adj1" fmla="val 50000"/>
              <a:gd name="adj2" fmla="val 50582"/>
            </a:avLst>
          </a:prstGeom>
          <a:solidFill>
            <a:schemeClr val="bg2">
              <a:lumMod val="20000"/>
              <a:lumOff val="80000"/>
            </a:schemeClr>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100" dirty="0">
                <a:solidFill>
                  <a:srgbClr val="344251"/>
                </a:solidFill>
              </a:rPr>
              <a:t>Does Customer Visit the Dealer?</a:t>
            </a:r>
          </a:p>
        </p:txBody>
      </p:sp>
      <p:sp>
        <p:nvSpPr>
          <p:cNvPr id="23" name="Right Arrow 22">
            <a:extLst>
              <a:ext uri="{FF2B5EF4-FFF2-40B4-BE49-F238E27FC236}">
                <a16:creationId xmlns:a16="http://schemas.microsoft.com/office/drawing/2014/main" id="{68E783FA-933D-55E6-B5D6-548F16281D7E}"/>
              </a:ext>
            </a:extLst>
          </p:cNvPr>
          <p:cNvSpPr/>
          <p:nvPr/>
        </p:nvSpPr>
        <p:spPr>
          <a:xfrm>
            <a:off x="7415521" y="5601081"/>
            <a:ext cx="1785937" cy="832264"/>
          </a:xfrm>
          <a:prstGeom prst="rightArrow">
            <a:avLst>
              <a:gd name="adj1" fmla="val 50000"/>
              <a:gd name="adj2" fmla="val 50582"/>
            </a:avLst>
          </a:prstGeom>
          <a:solidFill>
            <a:schemeClr val="bg2">
              <a:lumMod val="20000"/>
              <a:lumOff val="80000"/>
            </a:schemeClr>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100" dirty="0">
                <a:solidFill>
                  <a:srgbClr val="344251"/>
                </a:solidFill>
              </a:rPr>
              <a:t>Does Customer Visit the Dealer?</a:t>
            </a:r>
          </a:p>
        </p:txBody>
      </p:sp>
      <p:sp>
        <p:nvSpPr>
          <p:cNvPr id="24" name="TextBox 23">
            <a:extLst>
              <a:ext uri="{FF2B5EF4-FFF2-40B4-BE49-F238E27FC236}">
                <a16:creationId xmlns:a16="http://schemas.microsoft.com/office/drawing/2014/main" id="{F91CDE80-AD92-1EB2-B719-D6CCA7044492}"/>
              </a:ext>
            </a:extLst>
          </p:cNvPr>
          <p:cNvSpPr txBox="1"/>
          <p:nvPr/>
        </p:nvSpPr>
        <p:spPr>
          <a:xfrm>
            <a:off x="7658496" y="4522011"/>
            <a:ext cx="883227" cy="313932"/>
          </a:xfrm>
          <a:prstGeom prst="rect">
            <a:avLst/>
          </a:prstGeom>
          <a:noFill/>
        </p:spPr>
        <p:txBody>
          <a:bodyPr wrap="square" rtlCol="0">
            <a:spAutoFit/>
          </a:bodyPr>
          <a:lstStyle/>
          <a:p>
            <a:pPr algn="ctr">
              <a:lnSpc>
                <a:spcPct val="90000"/>
              </a:lnSpc>
              <a:spcBef>
                <a:spcPts val="600"/>
              </a:spcBef>
            </a:pPr>
            <a:r>
              <a:rPr lang="en-US" sz="1600" b="1" dirty="0">
                <a:solidFill>
                  <a:srgbClr val="344251"/>
                </a:solidFill>
              </a:rPr>
              <a:t>YES</a:t>
            </a:r>
          </a:p>
        </p:txBody>
      </p:sp>
      <p:sp>
        <p:nvSpPr>
          <p:cNvPr id="25" name="TextBox 24">
            <a:extLst>
              <a:ext uri="{FF2B5EF4-FFF2-40B4-BE49-F238E27FC236}">
                <a16:creationId xmlns:a16="http://schemas.microsoft.com/office/drawing/2014/main" id="{F075FDDE-65EA-D7C2-5ED2-CA7FDF447D4D}"/>
              </a:ext>
            </a:extLst>
          </p:cNvPr>
          <p:cNvSpPr txBox="1"/>
          <p:nvPr/>
        </p:nvSpPr>
        <p:spPr>
          <a:xfrm>
            <a:off x="7423724" y="5176705"/>
            <a:ext cx="1352769" cy="216982"/>
          </a:xfrm>
          <a:prstGeom prst="rect">
            <a:avLst/>
          </a:prstGeom>
          <a:noFill/>
        </p:spPr>
        <p:txBody>
          <a:bodyPr wrap="square" rtlCol="0">
            <a:spAutoFit/>
          </a:bodyPr>
          <a:lstStyle/>
          <a:p>
            <a:pPr algn="ctr">
              <a:lnSpc>
                <a:spcPct val="90000"/>
              </a:lnSpc>
              <a:spcBef>
                <a:spcPts val="600"/>
              </a:spcBef>
            </a:pPr>
            <a:r>
              <a:rPr lang="en-US" sz="900" dirty="0">
                <a:solidFill>
                  <a:srgbClr val="344251"/>
                </a:solidFill>
              </a:rPr>
              <a:t>S1, S2 Customer</a:t>
            </a:r>
          </a:p>
        </p:txBody>
      </p:sp>
      <p:sp>
        <p:nvSpPr>
          <p:cNvPr id="26" name="TextBox 25">
            <a:extLst>
              <a:ext uri="{FF2B5EF4-FFF2-40B4-BE49-F238E27FC236}">
                <a16:creationId xmlns:a16="http://schemas.microsoft.com/office/drawing/2014/main" id="{BD0B813D-51AA-FE13-5F1C-BD0E8E9F641C}"/>
              </a:ext>
            </a:extLst>
          </p:cNvPr>
          <p:cNvSpPr txBox="1"/>
          <p:nvPr/>
        </p:nvSpPr>
        <p:spPr>
          <a:xfrm>
            <a:off x="7658496" y="5538652"/>
            <a:ext cx="883227" cy="313932"/>
          </a:xfrm>
          <a:prstGeom prst="rect">
            <a:avLst/>
          </a:prstGeom>
          <a:noFill/>
        </p:spPr>
        <p:txBody>
          <a:bodyPr wrap="square" rtlCol="0">
            <a:spAutoFit/>
          </a:bodyPr>
          <a:lstStyle/>
          <a:p>
            <a:pPr algn="ctr">
              <a:lnSpc>
                <a:spcPct val="90000"/>
              </a:lnSpc>
              <a:spcBef>
                <a:spcPts val="600"/>
              </a:spcBef>
            </a:pPr>
            <a:r>
              <a:rPr lang="en-US" sz="1600" b="1" dirty="0">
                <a:solidFill>
                  <a:srgbClr val="344251"/>
                </a:solidFill>
              </a:rPr>
              <a:t>NO</a:t>
            </a:r>
          </a:p>
        </p:txBody>
      </p:sp>
      <p:sp>
        <p:nvSpPr>
          <p:cNvPr id="27" name="TextBox 26">
            <a:extLst>
              <a:ext uri="{FF2B5EF4-FFF2-40B4-BE49-F238E27FC236}">
                <a16:creationId xmlns:a16="http://schemas.microsoft.com/office/drawing/2014/main" id="{CE2732FD-214F-78F7-DE78-DC42848392E4}"/>
              </a:ext>
            </a:extLst>
          </p:cNvPr>
          <p:cNvSpPr txBox="1"/>
          <p:nvPr/>
        </p:nvSpPr>
        <p:spPr>
          <a:xfrm>
            <a:off x="7423724" y="6204622"/>
            <a:ext cx="1352769" cy="216982"/>
          </a:xfrm>
          <a:prstGeom prst="rect">
            <a:avLst/>
          </a:prstGeom>
          <a:noFill/>
        </p:spPr>
        <p:txBody>
          <a:bodyPr wrap="square" rtlCol="0">
            <a:spAutoFit/>
          </a:bodyPr>
          <a:lstStyle/>
          <a:p>
            <a:pPr algn="ctr">
              <a:lnSpc>
                <a:spcPct val="90000"/>
              </a:lnSpc>
              <a:spcBef>
                <a:spcPts val="600"/>
              </a:spcBef>
            </a:pPr>
            <a:r>
              <a:rPr lang="en-US" sz="900" dirty="0">
                <a:solidFill>
                  <a:srgbClr val="344251"/>
                </a:solidFill>
              </a:rPr>
              <a:t>S3, S4 Customer</a:t>
            </a:r>
          </a:p>
        </p:txBody>
      </p:sp>
      <p:sp>
        <p:nvSpPr>
          <p:cNvPr id="28" name="Rectangle 27">
            <a:extLst>
              <a:ext uri="{FF2B5EF4-FFF2-40B4-BE49-F238E27FC236}">
                <a16:creationId xmlns:a16="http://schemas.microsoft.com/office/drawing/2014/main" id="{789E58A8-FB21-DB26-C48F-934B6D5EF1C8}"/>
              </a:ext>
            </a:extLst>
          </p:cNvPr>
          <p:cNvSpPr/>
          <p:nvPr/>
        </p:nvSpPr>
        <p:spPr>
          <a:xfrm>
            <a:off x="9209661" y="4782455"/>
            <a:ext cx="2872778" cy="411904"/>
          </a:xfrm>
          <a:prstGeom prst="rect">
            <a:avLst/>
          </a:prstGeom>
          <a:solidFill>
            <a:schemeClr val="bg2">
              <a:lumMod val="20000"/>
              <a:lumOff val="80000"/>
            </a:schemeClr>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100" dirty="0">
                <a:solidFill>
                  <a:srgbClr val="344251"/>
                </a:solidFill>
              </a:rPr>
              <a:t>No Action Needed Loyal ISUZU Customer- Using Dealer - </a:t>
            </a:r>
            <a:r>
              <a:rPr lang="en-US" sz="1100" dirty="0">
                <a:solidFill>
                  <a:srgbClr val="0070C0"/>
                </a:solidFill>
              </a:rPr>
              <a:t>No Further Opportunity</a:t>
            </a:r>
            <a:endParaRPr lang="en-US" sz="1100" dirty="0">
              <a:solidFill>
                <a:srgbClr val="344251"/>
              </a:solidFill>
            </a:endParaRPr>
          </a:p>
        </p:txBody>
      </p:sp>
      <p:sp>
        <p:nvSpPr>
          <p:cNvPr id="29" name="Rectangle 28">
            <a:extLst>
              <a:ext uri="{FF2B5EF4-FFF2-40B4-BE49-F238E27FC236}">
                <a16:creationId xmlns:a16="http://schemas.microsoft.com/office/drawing/2014/main" id="{0D31911D-8F57-757B-5459-2E21EC31E444}"/>
              </a:ext>
            </a:extLst>
          </p:cNvPr>
          <p:cNvSpPr/>
          <p:nvPr/>
        </p:nvSpPr>
        <p:spPr>
          <a:xfrm>
            <a:off x="9209661" y="5811261"/>
            <a:ext cx="2872778" cy="411904"/>
          </a:xfrm>
          <a:prstGeom prst="rect">
            <a:avLst/>
          </a:prstGeom>
          <a:solidFill>
            <a:schemeClr val="bg2">
              <a:lumMod val="20000"/>
              <a:lumOff val="80000"/>
            </a:schemeClr>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100" dirty="0">
                <a:solidFill>
                  <a:srgbClr val="344251"/>
                </a:solidFill>
              </a:rPr>
              <a:t>ITUK/Dealer Contact Customer - Maintenance Needed - </a:t>
            </a:r>
            <a:r>
              <a:rPr lang="en-US" sz="1200" b="1" dirty="0">
                <a:solidFill>
                  <a:srgbClr val="00B050"/>
                </a:solidFill>
              </a:rPr>
              <a:t>Opportunity</a:t>
            </a:r>
            <a:endParaRPr lang="en-US" sz="1100" b="1" dirty="0">
              <a:solidFill>
                <a:srgbClr val="00B050"/>
              </a:solidFill>
            </a:endParaRPr>
          </a:p>
        </p:txBody>
      </p:sp>
    </p:spTree>
    <p:extLst>
      <p:ext uri="{BB962C8B-B14F-4D97-AF65-F5344CB8AC3E}">
        <p14:creationId xmlns:p14="http://schemas.microsoft.com/office/powerpoint/2010/main" val="3148954054"/>
      </p:ext>
    </p:extLst>
  </p:cSld>
  <p:clrMapOvr>
    <a:masterClrMapping/>
  </p:clrMapOvr>
  <mc:AlternateContent xmlns:mc="http://schemas.openxmlformats.org/markup-compatibility/2006" xmlns:p14="http://schemas.microsoft.com/office/powerpoint/2010/main">
    <mc:Choice Requires="p14">
      <p:transition spd="slow" p14:dur="2000" advTm="36829"/>
    </mc:Choice>
    <mc:Fallback xmlns="">
      <p:transition spd="slow" advTm="36829"/>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E32BEE9-A982-6F12-1999-2B98F7153863}"/>
              </a:ext>
            </a:extLst>
          </p:cNvPr>
          <p:cNvSpPr>
            <a:spLocks noGrp="1"/>
          </p:cNvSpPr>
          <p:nvPr>
            <p:ph type="title"/>
          </p:nvPr>
        </p:nvSpPr>
        <p:spPr/>
        <p:txBody>
          <a:bodyPr/>
          <a:lstStyle/>
          <a:p>
            <a:r>
              <a:rPr lang="en-US" dirty="0">
                <a:solidFill>
                  <a:srgbClr val="344251"/>
                </a:solidFill>
              </a:rPr>
              <a:t>Connected Project - </a:t>
            </a:r>
            <a:r>
              <a:rPr lang="en-US" dirty="0" err="1">
                <a:solidFill>
                  <a:srgbClr val="344251"/>
                </a:solidFill>
              </a:rPr>
              <a:t>Maximise</a:t>
            </a:r>
            <a:r>
              <a:rPr lang="en-US" dirty="0">
                <a:solidFill>
                  <a:srgbClr val="344251"/>
                </a:solidFill>
              </a:rPr>
              <a:t> Aftersales (PMS)</a:t>
            </a:r>
          </a:p>
        </p:txBody>
      </p:sp>
      <p:grpSp>
        <p:nvGrpSpPr>
          <p:cNvPr id="47" name="Group 46">
            <a:extLst>
              <a:ext uri="{FF2B5EF4-FFF2-40B4-BE49-F238E27FC236}">
                <a16:creationId xmlns:a16="http://schemas.microsoft.com/office/drawing/2014/main" id="{21DC2CFD-5D6F-B8D5-31DC-D4E77A8D01ED}"/>
              </a:ext>
            </a:extLst>
          </p:cNvPr>
          <p:cNvGrpSpPr/>
          <p:nvPr/>
        </p:nvGrpSpPr>
        <p:grpSpPr>
          <a:xfrm>
            <a:off x="4464627" y="1184963"/>
            <a:ext cx="7481398" cy="2698513"/>
            <a:chOff x="453736" y="1268090"/>
            <a:chExt cx="7481398" cy="2698513"/>
          </a:xfrm>
        </p:grpSpPr>
        <p:grpSp>
          <p:nvGrpSpPr>
            <p:cNvPr id="41" name="Group 40">
              <a:extLst>
                <a:ext uri="{FF2B5EF4-FFF2-40B4-BE49-F238E27FC236}">
                  <a16:creationId xmlns:a16="http://schemas.microsoft.com/office/drawing/2014/main" id="{5D2E092A-F1E0-D6E1-39FF-9C1A213DC449}"/>
                </a:ext>
              </a:extLst>
            </p:cNvPr>
            <p:cNvGrpSpPr/>
            <p:nvPr/>
          </p:nvGrpSpPr>
          <p:grpSpPr>
            <a:xfrm>
              <a:off x="453736" y="1268090"/>
              <a:ext cx="7481398" cy="2698513"/>
              <a:chOff x="453736" y="1268090"/>
              <a:chExt cx="7481398" cy="2698513"/>
            </a:xfrm>
          </p:grpSpPr>
          <p:pic>
            <p:nvPicPr>
              <p:cNvPr id="4" name="Picture 3">
                <a:extLst>
                  <a:ext uri="{FF2B5EF4-FFF2-40B4-BE49-F238E27FC236}">
                    <a16:creationId xmlns:a16="http://schemas.microsoft.com/office/drawing/2014/main" id="{8D700A6D-EB76-167F-63BC-823F3AA1C008}"/>
                  </a:ext>
                </a:extLst>
              </p:cNvPr>
              <p:cNvPicPr>
                <a:picLocks noChangeAspect="1"/>
              </p:cNvPicPr>
              <p:nvPr/>
            </p:nvPicPr>
            <p:blipFill>
              <a:blip r:embed="rId3"/>
              <a:stretch>
                <a:fillRect/>
              </a:stretch>
            </p:blipFill>
            <p:spPr>
              <a:xfrm>
                <a:off x="453736" y="1523211"/>
                <a:ext cx="7481398" cy="2443392"/>
              </a:xfrm>
              <a:prstGeom prst="rect">
                <a:avLst/>
              </a:prstGeom>
            </p:spPr>
          </p:pic>
          <p:sp>
            <p:nvSpPr>
              <p:cNvPr id="38" name="TextBox 37">
                <a:extLst>
                  <a:ext uri="{FF2B5EF4-FFF2-40B4-BE49-F238E27FC236}">
                    <a16:creationId xmlns:a16="http://schemas.microsoft.com/office/drawing/2014/main" id="{C4F9149C-7466-B37F-A294-9D6E3E4215A6}"/>
                  </a:ext>
                </a:extLst>
              </p:cNvPr>
              <p:cNvSpPr txBox="1"/>
              <p:nvPr/>
            </p:nvSpPr>
            <p:spPr>
              <a:xfrm>
                <a:off x="3127664" y="1268090"/>
                <a:ext cx="2431473" cy="369332"/>
              </a:xfrm>
              <a:prstGeom prst="rect">
                <a:avLst/>
              </a:prstGeom>
              <a:noFill/>
            </p:spPr>
            <p:txBody>
              <a:bodyPr wrap="square" rtlCol="0">
                <a:spAutoFit/>
              </a:bodyPr>
              <a:lstStyle/>
              <a:p>
                <a:pPr algn="ctr">
                  <a:lnSpc>
                    <a:spcPct val="90000"/>
                  </a:lnSpc>
                  <a:spcBef>
                    <a:spcPts val="600"/>
                  </a:spcBef>
                </a:pPr>
                <a:r>
                  <a:rPr lang="en-US" sz="2000" b="1" dirty="0">
                    <a:solidFill>
                      <a:srgbClr val="344251"/>
                    </a:solidFill>
                  </a:rPr>
                  <a:t>3.5t Vehicles</a:t>
                </a:r>
              </a:p>
            </p:txBody>
          </p:sp>
          <p:sp>
            <p:nvSpPr>
              <p:cNvPr id="40" name="Rectangle 39">
                <a:extLst>
                  <a:ext uri="{FF2B5EF4-FFF2-40B4-BE49-F238E27FC236}">
                    <a16:creationId xmlns:a16="http://schemas.microsoft.com/office/drawing/2014/main" id="{7A9C97C2-48EC-2F88-714F-D75EB9173518}"/>
                  </a:ext>
                </a:extLst>
              </p:cNvPr>
              <p:cNvSpPr/>
              <p:nvPr/>
            </p:nvSpPr>
            <p:spPr>
              <a:xfrm>
                <a:off x="453736" y="1268090"/>
                <a:ext cx="7481397" cy="2698513"/>
              </a:xfrm>
              <a:prstGeom prst="rect">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grpSp>
        <p:sp>
          <p:nvSpPr>
            <p:cNvPr id="44" name="TextBox 43">
              <a:extLst>
                <a:ext uri="{FF2B5EF4-FFF2-40B4-BE49-F238E27FC236}">
                  <a16:creationId xmlns:a16="http://schemas.microsoft.com/office/drawing/2014/main" id="{AF490F1F-91C5-12B3-0EA9-AB51B9239DC3}"/>
                </a:ext>
              </a:extLst>
            </p:cNvPr>
            <p:cNvSpPr txBox="1"/>
            <p:nvPr/>
          </p:nvSpPr>
          <p:spPr>
            <a:xfrm>
              <a:off x="6137564" y="1361209"/>
              <a:ext cx="1291936" cy="216982"/>
            </a:xfrm>
            <a:prstGeom prst="rect">
              <a:avLst/>
            </a:prstGeom>
            <a:noFill/>
          </p:spPr>
          <p:txBody>
            <a:bodyPr wrap="square" rtlCol="0">
              <a:spAutoFit/>
            </a:bodyPr>
            <a:lstStyle/>
            <a:p>
              <a:pPr algn="ctr">
                <a:lnSpc>
                  <a:spcPct val="90000"/>
                </a:lnSpc>
                <a:spcBef>
                  <a:spcPts val="600"/>
                </a:spcBef>
              </a:pPr>
              <a:r>
                <a:rPr lang="en-US" sz="900" b="1" dirty="0"/>
                <a:t>GATEX U/I</a:t>
              </a:r>
            </a:p>
          </p:txBody>
        </p:sp>
      </p:grpSp>
      <p:grpSp>
        <p:nvGrpSpPr>
          <p:cNvPr id="46" name="Group 45">
            <a:extLst>
              <a:ext uri="{FF2B5EF4-FFF2-40B4-BE49-F238E27FC236}">
                <a16:creationId xmlns:a16="http://schemas.microsoft.com/office/drawing/2014/main" id="{8EA418BC-113E-8E5E-9934-760B4639A3B3}"/>
              </a:ext>
            </a:extLst>
          </p:cNvPr>
          <p:cNvGrpSpPr/>
          <p:nvPr/>
        </p:nvGrpSpPr>
        <p:grpSpPr>
          <a:xfrm>
            <a:off x="4464626" y="4000898"/>
            <a:ext cx="7481398" cy="2698513"/>
            <a:chOff x="453735" y="4084025"/>
            <a:chExt cx="7481398" cy="2698513"/>
          </a:xfrm>
        </p:grpSpPr>
        <p:grpSp>
          <p:nvGrpSpPr>
            <p:cNvPr id="43" name="Group 42">
              <a:extLst>
                <a:ext uri="{FF2B5EF4-FFF2-40B4-BE49-F238E27FC236}">
                  <a16:creationId xmlns:a16="http://schemas.microsoft.com/office/drawing/2014/main" id="{2D6FE0F1-2084-D374-A08B-BF100B6FE8D0}"/>
                </a:ext>
              </a:extLst>
            </p:cNvPr>
            <p:cNvGrpSpPr/>
            <p:nvPr/>
          </p:nvGrpSpPr>
          <p:grpSpPr>
            <a:xfrm>
              <a:off x="453735" y="4084025"/>
              <a:ext cx="7481398" cy="2698513"/>
              <a:chOff x="453735" y="4084025"/>
              <a:chExt cx="7481398" cy="2698513"/>
            </a:xfrm>
          </p:grpSpPr>
          <p:pic>
            <p:nvPicPr>
              <p:cNvPr id="35" name="Picture 34">
                <a:extLst>
                  <a:ext uri="{FF2B5EF4-FFF2-40B4-BE49-F238E27FC236}">
                    <a16:creationId xmlns:a16="http://schemas.microsoft.com/office/drawing/2014/main" id="{9C1D8252-D8C4-47BE-E139-A7073C199EAA}"/>
                  </a:ext>
                </a:extLst>
              </p:cNvPr>
              <p:cNvPicPr>
                <a:picLocks noChangeAspect="1"/>
              </p:cNvPicPr>
              <p:nvPr/>
            </p:nvPicPr>
            <p:blipFill>
              <a:blip r:embed="rId4"/>
              <a:stretch>
                <a:fillRect/>
              </a:stretch>
            </p:blipFill>
            <p:spPr>
              <a:xfrm>
                <a:off x="453736" y="4339146"/>
                <a:ext cx="7481397" cy="2443392"/>
              </a:xfrm>
              <a:prstGeom prst="rect">
                <a:avLst/>
              </a:prstGeom>
            </p:spPr>
          </p:pic>
          <p:sp>
            <p:nvSpPr>
              <p:cNvPr id="39" name="TextBox 38">
                <a:extLst>
                  <a:ext uri="{FF2B5EF4-FFF2-40B4-BE49-F238E27FC236}">
                    <a16:creationId xmlns:a16="http://schemas.microsoft.com/office/drawing/2014/main" id="{F87AC8C5-445E-EFE5-9654-18416371FC64}"/>
                  </a:ext>
                </a:extLst>
              </p:cNvPr>
              <p:cNvSpPr txBox="1"/>
              <p:nvPr/>
            </p:nvSpPr>
            <p:spPr>
              <a:xfrm>
                <a:off x="3002973" y="4154480"/>
                <a:ext cx="2680854" cy="369332"/>
              </a:xfrm>
              <a:prstGeom prst="rect">
                <a:avLst/>
              </a:prstGeom>
              <a:noFill/>
            </p:spPr>
            <p:txBody>
              <a:bodyPr wrap="square" rtlCol="0">
                <a:spAutoFit/>
              </a:bodyPr>
              <a:lstStyle/>
              <a:p>
                <a:pPr algn="ctr">
                  <a:lnSpc>
                    <a:spcPct val="90000"/>
                  </a:lnSpc>
                  <a:spcBef>
                    <a:spcPts val="600"/>
                  </a:spcBef>
                </a:pPr>
                <a:r>
                  <a:rPr lang="en-US" sz="2000" b="1" dirty="0">
                    <a:solidFill>
                      <a:srgbClr val="344251"/>
                    </a:solidFill>
                  </a:rPr>
                  <a:t>Above 3.5t Vehicles</a:t>
                </a:r>
              </a:p>
            </p:txBody>
          </p:sp>
          <p:sp>
            <p:nvSpPr>
              <p:cNvPr id="42" name="Rectangle 41">
                <a:extLst>
                  <a:ext uri="{FF2B5EF4-FFF2-40B4-BE49-F238E27FC236}">
                    <a16:creationId xmlns:a16="http://schemas.microsoft.com/office/drawing/2014/main" id="{9F98FA46-4379-C79B-FDF5-49C130CF9A58}"/>
                  </a:ext>
                </a:extLst>
              </p:cNvPr>
              <p:cNvSpPr/>
              <p:nvPr/>
            </p:nvSpPr>
            <p:spPr>
              <a:xfrm>
                <a:off x="453735" y="4084025"/>
                <a:ext cx="7481397" cy="2698513"/>
              </a:xfrm>
              <a:prstGeom prst="rect">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grpSp>
        <p:sp>
          <p:nvSpPr>
            <p:cNvPr id="45" name="TextBox 44">
              <a:extLst>
                <a:ext uri="{FF2B5EF4-FFF2-40B4-BE49-F238E27FC236}">
                  <a16:creationId xmlns:a16="http://schemas.microsoft.com/office/drawing/2014/main" id="{168A3CC6-23E0-D370-2D24-296D6B61FB27}"/>
                </a:ext>
              </a:extLst>
            </p:cNvPr>
            <p:cNvSpPr txBox="1"/>
            <p:nvPr/>
          </p:nvSpPr>
          <p:spPr>
            <a:xfrm>
              <a:off x="6137564" y="4171944"/>
              <a:ext cx="1291936" cy="216982"/>
            </a:xfrm>
            <a:prstGeom prst="rect">
              <a:avLst/>
            </a:prstGeom>
            <a:noFill/>
          </p:spPr>
          <p:txBody>
            <a:bodyPr wrap="square" rtlCol="0">
              <a:spAutoFit/>
            </a:bodyPr>
            <a:lstStyle/>
            <a:p>
              <a:pPr algn="ctr">
                <a:lnSpc>
                  <a:spcPct val="90000"/>
                </a:lnSpc>
                <a:spcBef>
                  <a:spcPts val="600"/>
                </a:spcBef>
              </a:pPr>
              <a:r>
                <a:rPr lang="en-US" sz="900" b="1" dirty="0"/>
                <a:t>GATEX U/I</a:t>
              </a:r>
            </a:p>
          </p:txBody>
        </p:sp>
      </p:grpSp>
      <p:sp>
        <p:nvSpPr>
          <p:cNvPr id="48" name="Text Placeholder 1">
            <a:extLst>
              <a:ext uri="{FF2B5EF4-FFF2-40B4-BE49-F238E27FC236}">
                <a16:creationId xmlns:a16="http://schemas.microsoft.com/office/drawing/2014/main" id="{2C347997-DE31-4769-C135-B3A6C9666810}"/>
              </a:ext>
            </a:extLst>
          </p:cNvPr>
          <p:cNvSpPr>
            <a:spLocks noGrp="1"/>
          </p:cNvSpPr>
          <p:nvPr>
            <p:ph type="body" sz="quarter" idx="13"/>
          </p:nvPr>
        </p:nvSpPr>
        <p:spPr>
          <a:xfrm>
            <a:off x="245975" y="1196975"/>
            <a:ext cx="4097425" cy="5111750"/>
          </a:xfrm>
        </p:spPr>
        <p:txBody>
          <a:bodyPr/>
          <a:lstStyle/>
          <a:p>
            <a:r>
              <a:rPr lang="en-US" b="1" dirty="0">
                <a:solidFill>
                  <a:srgbClr val="344251"/>
                </a:solidFill>
              </a:rPr>
              <a:t>Original</a:t>
            </a:r>
            <a:r>
              <a:rPr lang="en-US" dirty="0">
                <a:solidFill>
                  <a:srgbClr val="344251"/>
                </a:solidFill>
              </a:rPr>
              <a:t> - ITUK plan cannot be used due to inconsistencies in GATEX and vehicle odometer values.</a:t>
            </a:r>
          </a:p>
          <a:p>
            <a:r>
              <a:rPr lang="en-US" dirty="0">
                <a:solidFill>
                  <a:srgbClr val="344251"/>
                </a:solidFill>
              </a:rPr>
              <a:t>The odometer values from GATEX are displayed using </a:t>
            </a:r>
            <a:r>
              <a:rPr lang="en-US" b="1" dirty="0">
                <a:solidFill>
                  <a:srgbClr val="344251"/>
                </a:solidFill>
              </a:rPr>
              <a:t>MMU</a:t>
            </a:r>
            <a:r>
              <a:rPr lang="en-US" dirty="0">
                <a:solidFill>
                  <a:srgbClr val="344251"/>
                </a:solidFill>
              </a:rPr>
              <a:t> data, not IPC or Digital Tachograph data - Values differ from what the Customer can see.</a:t>
            </a:r>
          </a:p>
          <a:p>
            <a:r>
              <a:rPr lang="en-US" dirty="0">
                <a:solidFill>
                  <a:srgbClr val="344251"/>
                </a:solidFill>
              </a:rPr>
              <a:t>Therefore, ITUK cannot employ plan to use connected systems to enhance aftersales opportunities.</a:t>
            </a:r>
          </a:p>
          <a:p>
            <a:r>
              <a:rPr lang="en-US" dirty="0">
                <a:solidFill>
                  <a:srgbClr val="344251"/>
                </a:solidFill>
              </a:rPr>
              <a:t>ITUK connected strategy now is to </a:t>
            </a:r>
            <a:r>
              <a:rPr lang="en-US" b="1" dirty="0">
                <a:solidFill>
                  <a:srgbClr val="344251"/>
                </a:solidFill>
              </a:rPr>
              <a:t>support vehicle uptime only</a:t>
            </a:r>
            <a:r>
              <a:rPr lang="en-US" dirty="0">
                <a:solidFill>
                  <a:srgbClr val="344251"/>
                </a:solidFill>
              </a:rPr>
              <a:t>.</a:t>
            </a:r>
          </a:p>
        </p:txBody>
      </p:sp>
    </p:spTree>
    <p:extLst>
      <p:ext uri="{BB962C8B-B14F-4D97-AF65-F5344CB8AC3E}">
        <p14:creationId xmlns:p14="http://schemas.microsoft.com/office/powerpoint/2010/main" val="2470437475"/>
      </p:ext>
    </p:extLst>
  </p:cSld>
  <p:clrMapOvr>
    <a:masterClrMapping/>
  </p:clrMapOvr>
  <mc:AlternateContent xmlns:mc="http://schemas.openxmlformats.org/markup-compatibility/2006" xmlns:p14="http://schemas.microsoft.com/office/powerpoint/2010/main">
    <mc:Choice Requires="p14">
      <p:transition spd="slow" p14:dur="2000" advTm="41827"/>
    </mc:Choice>
    <mc:Fallback xmlns="">
      <p:transition spd="slow" advTm="4182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C80EA-6496-DCDD-8AAD-C4F907D3CA2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22D7ED-A9D3-DDA8-3F7D-B6E839249F83}"/>
              </a:ext>
            </a:extLst>
          </p:cNvPr>
          <p:cNvSpPr>
            <a:spLocks noGrp="1"/>
          </p:cNvSpPr>
          <p:nvPr>
            <p:ph type="title"/>
          </p:nvPr>
        </p:nvSpPr>
        <p:spPr/>
        <p:txBody>
          <a:bodyPr/>
          <a:lstStyle/>
          <a:p>
            <a:r>
              <a:rPr lang="en-US" dirty="0">
                <a:solidFill>
                  <a:srgbClr val="344251"/>
                </a:solidFill>
              </a:rPr>
              <a:t>Strengthen ITUK Governance</a:t>
            </a:r>
          </a:p>
        </p:txBody>
      </p:sp>
      <p:sp>
        <p:nvSpPr>
          <p:cNvPr id="9" name="TextBox 8">
            <a:extLst>
              <a:ext uri="{FF2B5EF4-FFF2-40B4-BE49-F238E27FC236}">
                <a16:creationId xmlns:a16="http://schemas.microsoft.com/office/drawing/2014/main" id="{829409BE-28D8-7653-2B01-503B735DCEEF}"/>
              </a:ext>
            </a:extLst>
          </p:cNvPr>
          <p:cNvSpPr txBox="1"/>
          <p:nvPr/>
        </p:nvSpPr>
        <p:spPr>
          <a:xfrm>
            <a:off x="487505" y="1016325"/>
            <a:ext cx="11233247" cy="612475"/>
          </a:xfrm>
          <a:prstGeom prst="rect">
            <a:avLst/>
          </a:prstGeom>
          <a:noFill/>
          <a:ln>
            <a:noFill/>
          </a:ln>
        </p:spPr>
        <p:txBody>
          <a:bodyPr wrap="square" rtlCol="0" anchor="ctr">
            <a:spAutoFit/>
          </a:bodyPr>
          <a:lstStyle/>
          <a:p>
            <a:pPr marL="179388" indent="-179388" algn="l">
              <a:lnSpc>
                <a:spcPct val="90000"/>
              </a:lnSpc>
              <a:spcBef>
                <a:spcPts val="600"/>
              </a:spcBef>
              <a:buFont typeface="Arial" panose="020B0604020202020204" pitchFamily="34" charset="0"/>
              <a:buChar char="•"/>
            </a:pPr>
            <a:r>
              <a:rPr lang="en-US" sz="1600" dirty="0">
                <a:solidFill>
                  <a:srgbClr val="344251"/>
                </a:solidFill>
              </a:rPr>
              <a:t>Strengthening of ITUK Governance continues to be a management priority.</a:t>
            </a:r>
          </a:p>
          <a:p>
            <a:pPr marL="179388" indent="-179388" algn="l">
              <a:lnSpc>
                <a:spcPct val="90000"/>
              </a:lnSpc>
              <a:spcBef>
                <a:spcPts val="600"/>
              </a:spcBef>
              <a:buFont typeface="Arial" panose="020B0604020202020204" pitchFamily="34" charset="0"/>
              <a:buChar char="•"/>
            </a:pPr>
            <a:r>
              <a:rPr lang="en-US" sz="1600" dirty="0">
                <a:solidFill>
                  <a:srgbClr val="344251"/>
                </a:solidFill>
              </a:rPr>
              <a:t>Measures highlighted in early 2025 and the August Kosha review have been achieved.</a:t>
            </a:r>
          </a:p>
        </p:txBody>
      </p:sp>
      <p:graphicFrame>
        <p:nvGraphicFramePr>
          <p:cNvPr id="4" name="Table 3">
            <a:extLst>
              <a:ext uri="{FF2B5EF4-FFF2-40B4-BE49-F238E27FC236}">
                <a16:creationId xmlns:a16="http://schemas.microsoft.com/office/drawing/2014/main" id="{F52EC0DE-A896-DE4A-9DA6-F76C131123AC}"/>
              </a:ext>
            </a:extLst>
          </p:cNvPr>
          <p:cNvGraphicFramePr>
            <a:graphicFrameLocks noGrp="1"/>
          </p:cNvGraphicFramePr>
          <p:nvPr>
            <p:extLst>
              <p:ext uri="{D42A27DB-BD31-4B8C-83A1-F6EECF244321}">
                <p14:modId xmlns:p14="http://schemas.microsoft.com/office/powerpoint/2010/main" val="280530889"/>
              </p:ext>
            </p:extLst>
          </p:nvPr>
        </p:nvGraphicFramePr>
        <p:xfrm>
          <a:off x="497973" y="1700808"/>
          <a:ext cx="11249505" cy="1993160"/>
        </p:xfrm>
        <a:graphic>
          <a:graphicData uri="http://schemas.openxmlformats.org/drawingml/2006/table">
            <a:tbl>
              <a:tblPr firstRow="1" bandRow="1">
                <a:tableStyleId>{21E4AEA4-8DFA-4A89-87EB-49C32662AFE0}</a:tableStyleId>
              </a:tblPr>
              <a:tblGrid>
                <a:gridCol w="5336722">
                  <a:extLst>
                    <a:ext uri="{9D8B030D-6E8A-4147-A177-3AD203B41FA5}">
                      <a16:colId xmlns:a16="http://schemas.microsoft.com/office/drawing/2014/main" val="620326347"/>
                    </a:ext>
                  </a:extLst>
                </a:gridCol>
                <a:gridCol w="5472608">
                  <a:extLst>
                    <a:ext uri="{9D8B030D-6E8A-4147-A177-3AD203B41FA5}">
                      <a16:colId xmlns:a16="http://schemas.microsoft.com/office/drawing/2014/main" val="2016547764"/>
                    </a:ext>
                  </a:extLst>
                </a:gridCol>
                <a:gridCol w="440175">
                  <a:extLst>
                    <a:ext uri="{9D8B030D-6E8A-4147-A177-3AD203B41FA5}">
                      <a16:colId xmlns:a16="http://schemas.microsoft.com/office/drawing/2014/main" val="938219274"/>
                    </a:ext>
                  </a:extLst>
                </a:gridCol>
              </a:tblGrid>
              <a:tr h="327137">
                <a:tc gridSpan="3">
                  <a:txBody>
                    <a:bodyPr/>
                    <a:lstStyle/>
                    <a:p>
                      <a:r>
                        <a:rPr lang="en-US" sz="1400" dirty="0">
                          <a:latin typeface="+mn-lt"/>
                        </a:rPr>
                        <a:t>Top priority issue (see Appendices for outline of measures taken)</a:t>
                      </a:r>
                    </a:p>
                  </a:txBody>
                  <a:tcPr anchor="ct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86176862"/>
                  </a:ext>
                </a:extLst>
              </a:tr>
              <a:tr h="294423">
                <a:tc>
                  <a:txBody>
                    <a:bodyPr/>
                    <a:lstStyle/>
                    <a:p>
                      <a:pPr marL="88900" indent="-88900">
                        <a:buFont typeface="Arial" panose="020B0604020202020204" pitchFamily="34" charset="0"/>
                        <a:buChar char="•"/>
                      </a:pPr>
                      <a:r>
                        <a:rPr lang="en-US" altLang="ja-JP" sz="1200" dirty="0">
                          <a:solidFill>
                            <a:srgbClr val="344251"/>
                          </a:solidFill>
                          <a:latin typeface="+mn-lt"/>
                        </a:rPr>
                        <a:t>Develop company regulations &amp; Implementation / J-SOX compliance.</a:t>
                      </a:r>
                    </a:p>
                  </a:txBody>
                  <a:tcPr anchor="ctr"/>
                </a:tc>
                <a:tc>
                  <a:txBody>
                    <a:bodyPr/>
                    <a:lstStyle/>
                    <a:p>
                      <a:pPr marL="88900" indent="-88900">
                        <a:buFont typeface="Arial" panose="020B0604020202020204" pitchFamily="34" charset="0"/>
                        <a:buChar char="•"/>
                      </a:pPr>
                      <a:r>
                        <a:rPr lang="en-US" altLang="ja-JP" sz="1200" dirty="0">
                          <a:solidFill>
                            <a:srgbClr val="344251"/>
                          </a:solidFill>
                          <a:latin typeface="+mn-lt"/>
                        </a:rPr>
                        <a:t>FY2024</a:t>
                      </a:r>
                      <a:r>
                        <a:rPr lang="ja-JP" altLang="en-US" sz="1200" dirty="0">
                          <a:solidFill>
                            <a:srgbClr val="344251"/>
                          </a:solidFill>
                          <a:latin typeface="+mn-lt"/>
                        </a:rPr>
                        <a:t> </a:t>
                      </a:r>
                      <a:r>
                        <a:rPr lang="en-US" altLang="ja-JP" sz="1200" dirty="0">
                          <a:solidFill>
                            <a:srgbClr val="344251"/>
                          </a:solidFill>
                          <a:latin typeface="+mn-lt"/>
                        </a:rPr>
                        <a:t>Results:</a:t>
                      </a:r>
                      <a:r>
                        <a:rPr lang="ja-JP" altLang="en-US" sz="1200" dirty="0">
                          <a:solidFill>
                            <a:srgbClr val="344251"/>
                          </a:solidFill>
                          <a:latin typeface="+mn-lt"/>
                        </a:rPr>
                        <a:t> </a:t>
                      </a:r>
                      <a:r>
                        <a:rPr lang="en-US" altLang="ja-JP" sz="1200" dirty="0">
                          <a:solidFill>
                            <a:srgbClr val="344251"/>
                          </a:solidFill>
                          <a:latin typeface="+mn-lt"/>
                        </a:rPr>
                        <a:t>“The</a:t>
                      </a:r>
                      <a:r>
                        <a:rPr lang="ja-JP" altLang="en-US" sz="1200" dirty="0">
                          <a:solidFill>
                            <a:srgbClr val="344251"/>
                          </a:solidFill>
                          <a:latin typeface="+mn-lt"/>
                        </a:rPr>
                        <a:t> </a:t>
                      </a:r>
                      <a:r>
                        <a:rPr lang="en-US" altLang="ja-JP" sz="1200" dirty="0">
                          <a:solidFill>
                            <a:srgbClr val="344251"/>
                          </a:solidFill>
                          <a:latin typeface="+mn-lt"/>
                        </a:rPr>
                        <a:t>Company</a:t>
                      </a:r>
                      <a:r>
                        <a:rPr lang="ja-JP" altLang="en-US" sz="1200" dirty="0">
                          <a:solidFill>
                            <a:srgbClr val="344251"/>
                          </a:solidFill>
                          <a:latin typeface="+mn-lt"/>
                        </a:rPr>
                        <a:t> </a:t>
                      </a:r>
                      <a:r>
                        <a:rPr lang="en-US" altLang="ja-JP" sz="1200" dirty="0">
                          <a:solidFill>
                            <a:srgbClr val="344251"/>
                          </a:solidFill>
                          <a:latin typeface="+mn-lt"/>
                        </a:rPr>
                        <a:t>has</a:t>
                      </a:r>
                      <a:r>
                        <a:rPr lang="ja-JP" altLang="en-US" sz="1200" dirty="0">
                          <a:solidFill>
                            <a:srgbClr val="344251"/>
                          </a:solidFill>
                          <a:latin typeface="+mn-lt"/>
                        </a:rPr>
                        <a:t> </a:t>
                      </a:r>
                      <a:r>
                        <a:rPr lang="en-US" altLang="ja-JP" sz="1200" dirty="0">
                          <a:solidFill>
                            <a:srgbClr val="344251"/>
                          </a:solidFill>
                          <a:latin typeface="+mn-lt"/>
                        </a:rPr>
                        <a:t>no</a:t>
                      </a:r>
                      <a:r>
                        <a:rPr lang="ja-JP" altLang="en-US" sz="1200" dirty="0">
                          <a:solidFill>
                            <a:srgbClr val="344251"/>
                          </a:solidFill>
                          <a:latin typeface="+mn-lt"/>
                        </a:rPr>
                        <a:t> </a:t>
                      </a:r>
                      <a:r>
                        <a:rPr lang="en-US" altLang="ja-JP" sz="1200" dirty="0">
                          <a:solidFill>
                            <a:srgbClr val="344251"/>
                          </a:solidFill>
                          <a:latin typeface="+mn-lt"/>
                        </a:rPr>
                        <a:t>significant</a:t>
                      </a:r>
                      <a:r>
                        <a:rPr lang="ja-JP" altLang="en-US" sz="1200" dirty="0">
                          <a:solidFill>
                            <a:srgbClr val="344251"/>
                          </a:solidFill>
                          <a:latin typeface="+mn-lt"/>
                        </a:rPr>
                        <a:t> </a:t>
                      </a:r>
                      <a:r>
                        <a:rPr lang="en-US" altLang="ja-JP" sz="1200" dirty="0">
                          <a:solidFill>
                            <a:srgbClr val="344251"/>
                          </a:solidFill>
                          <a:latin typeface="+mn-lt"/>
                        </a:rPr>
                        <a:t>deficiency.” </a:t>
                      </a:r>
                    </a:p>
                  </a:txBody>
                  <a:tcPr anchor="ctr"/>
                </a:tc>
                <a:tc>
                  <a:txBody>
                    <a:bodyPr/>
                    <a:lstStyle/>
                    <a:p>
                      <a:pPr marL="0" indent="0">
                        <a:buFont typeface="Arial" panose="020B0604020202020204" pitchFamily="34" charset="0"/>
                        <a:buNone/>
                      </a:pPr>
                      <a:endParaRPr lang="en-US" altLang="ja-JP" sz="1200" dirty="0">
                        <a:latin typeface="+mn-lt"/>
                      </a:endParaRPr>
                    </a:p>
                  </a:txBody>
                  <a:tcPr anchor="ctr">
                    <a:solidFill>
                      <a:srgbClr val="00B050"/>
                    </a:solidFill>
                  </a:tcPr>
                </a:tc>
                <a:extLst>
                  <a:ext uri="{0D108BD9-81ED-4DB2-BD59-A6C34878D82A}">
                    <a16:rowId xmlns:a16="http://schemas.microsoft.com/office/drawing/2014/main" val="1933917047"/>
                  </a:ext>
                </a:extLst>
              </a:tr>
              <a:tr h="490706">
                <a:tc>
                  <a:txBody>
                    <a:bodyPr/>
                    <a:lstStyle/>
                    <a:p>
                      <a:pPr marL="88900" indent="-88900" algn="l" defTabSz="914400" rtl="0" eaLnBrk="1" latinLnBrk="0" hangingPunct="1">
                        <a:buFont typeface="Arial" panose="020B0604020202020204" pitchFamily="34" charset="0"/>
                        <a:buChar char="•"/>
                      </a:pPr>
                      <a:r>
                        <a:rPr kumimoji="1" lang="en-US" altLang="ja-JP" sz="1200" kern="1200" dirty="0">
                          <a:solidFill>
                            <a:srgbClr val="344251"/>
                          </a:solidFill>
                          <a:latin typeface="+mn-lt"/>
                          <a:ea typeface="+mn-ea"/>
                          <a:cs typeface="+mn-cs"/>
                        </a:rPr>
                        <a:t>Strengthening receivables management</a:t>
                      </a:r>
                      <a:br>
                        <a:rPr kumimoji="1" lang="en-US" altLang="ja-JP" sz="1200" kern="1200" dirty="0">
                          <a:solidFill>
                            <a:srgbClr val="344251"/>
                          </a:solidFill>
                          <a:latin typeface="+mn-lt"/>
                          <a:ea typeface="+mn-ea"/>
                          <a:cs typeface="+mn-cs"/>
                        </a:rPr>
                      </a:br>
                      <a:r>
                        <a:rPr kumimoji="1" lang="en-US" altLang="ja-JP" sz="1200" kern="1200" dirty="0">
                          <a:solidFill>
                            <a:srgbClr val="344251"/>
                          </a:solidFill>
                          <a:latin typeface="+mn-lt"/>
                          <a:ea typeface="+mn-ea"/>
                          <a:cs typeface="+mn-cs"/>
                        </a:rPr>
                        <a:t>(Collection target management &amp; Credit management)</a:t>
                      </a:r>
                      <a:endParaRPr kumimoji="1" lang="ja-JP" altLang="en-US" sz="1200" kern="1200" dirty="0">
                        <a:solidFill>
                          <a:srgbClr val="344251"/>
                        </a:solidFill>
                        <a:latin typeface="+mn-lt"/>
                        <a:ea typeface="+mn-ea"/>
                        <a:cs typeface="+mn-cs"/>
                      </a:endParaRPr>
                    </a:p>
                  </a:txBody>
                  <a:tcPr anchor="ctr"/>
                </a:tc>
                <a:tc>
                  <a:txBody>
                    <a:bodyPr/>
                    <a:lstStyle/>
                    <a:p>
                      <a:pPr marL="88900" indent="-88900" algn="l" defTabSz="914400" rtl="0" eaLnBrk="1" latinLnBrk="0" hangingPunct="1">
                        <a:buFont typeface="Arial" panose="020B0604020202020204" pitchFamily="34" charset="0"/>
                        <a:buChar char="•"/>
                      </a:pPr>
                      <a:r>
                        <a:rPr kumimoji="1" lang="en-US" altLang="ja-JP" sz="1200" kern="1200" dirty="0">
                          <a:solidFill>
                            <a:srgbClr val="344251"/>
                          </a:solidFill>
                          <a:latin typeface="+mn-lt"/>
                          <a:ea typeface="+mn-ea"/>
                          <a:cs typeface="+mn-cs"/>
                        </a:rPr>
                        <a:t>To accurately forecast invoicing, a process flow covering order to receivables collection was created.</a:t>
                      </a:r>
                      <a:r>
                        <a:rPr kumimoji="1" lang="ja-JP" altLang="en-US" sz="1200" kern="1200" dirty="0">
                          <a:solidFill>
                            <a:srgbClr val="344251"/>
                          </a:solidFill>
                          <a:latin typeface="+mn-lt"/>
                          <a:ea typeface="+mn-ea"/>
                          <a:cs typeface="+mn-cs"/>
                        </a:rPr>
                        <a:t> </a:t>
                      </a:r>
                      <a:r>
                        <a:rPr kumimoji="1" lang="en-GB" altLang="ja-JP" sz="1200" kern="1200" dirty="0">
                          <a:solidFill>
                            <a:srgbClr val="344251"/>
                          </a:solidFill>
                          <a:latin typeface="+mn-lt"/>
                          <a:ea typeface="+mn-ea"/>
                          <a:cs typeface="+mn-cs"/>
                        </a:rPr>
                        <a:t>Monthly regular meetings </a:t>
                      </a:r>
                      <a:r>
                        <a:rPr kumimoji="1" lang="en-US" altLang="ja-JP" sz="1200" kern="1200" dirty="0">
                          <a:solidFill>
                            <a:srgbClr val="344251"/>
                          </a:solidFill>
                          <a:latin typeface="+mn-lt"/>
                          <a:ea typeface="+mn-ea"/>
                          <a:cs typeface="+mn-cs"/>
                        </a:rPr>
                        <a:t>with IML to report on actual collections and expected collections have also been implemented.</a:t>
                      </a:r>
                      <a:endParaRPr kumimoji="1" lang="ja-JP" altLang="en-US" sz="1200" kern="1200" dirty="0">
                        <a:solidFill>
                          <a:srgbClr val="344251"/>
                        </a:solidFill>
                        <a:latin typeface="+mn-lt"/>
                        <a:ea typeface="+mn-ea"/>
                        <a:cs typeface="+mn-cs"/>
                      </a:endParaRPr>
                    </a:p>
                  </a:txBody>
                  <a:tcPr anchor="ctr"/>
                </a:tc>
                <a:tc>
                  <a:txBody>
                    <a:bodyPr/>
                    <a:lstStyle/>
                    <a:p>
                      <a:pPr marL="88900" indent="-88900" algn="l" defTabSz="914400" rtl="0" eaLnBrk="1" latinLnBrk="0" hangingPunct="1">
                        <a:buFont typeface="Arial" panose="020B0604020202020204" pitchFamily="34" charset="0"/>
                        <a:buChar char="•"/>
                      </a:pPr>
                      <a:endParaRPr kumimoji="1" lang="ja-JP" altLang="en-US" sz="1200" kern="1200" dirty="0">
                        <a:solidFill>
                          <a:schemeClr val="dk1"/>
                        </a:solidFill>
                        <a:latin typeface="+mn-lt"/>
                        <a:ea typeface="+mn-ea"/>
                        <a:cs typeface="+mn-cs"/>
                      </a:endParaRPr>
                    </a:p>
                  </a:txBody>
                  <a:tcPr anchor="ctr">
                    <a:solidFill>
                      <a:srgbClr val="00B050"/>
                    </a:solidFill>
                  </a:tcPr>
                </a:tc>
                <a:extLst>
                  <a:ext uri="{0D108BD9-81ED-4DB2-BD59-A6C34878D82A}">
                    <a16:rowId xmlns:a16="http://schemas.microsoft.com/office/drawing/2014/main" val="1066738169"/>
                  </a:ext>
                </a:extLst>
              </a:tr>
              <a:tr h="294423">
                <a:tc>
                  <a:txBody>
                    <a:bodyPr/>
                    <a:lstStyle/>
                    <a:p>
                      <a:pPr marL="88900" indent="-88900" algn="l" defTabSz="914400" rtl="0" eaLnBrk="1" latinLnBrk="0" hangingPunct="1">
                        <a:buFont typeface="Arial" panose="020B0604020202020204" pitchFamily="34" charset="0"/>
                        <a:buChar char="•"/>
                      </a:pPr>
                      <a:r>
                        <a:rPr kumimoji="1" lang="en-US" altLang="ja-JP" sz="1200" kern="1200" dirty="0">
                          <a:solidFill>
                            <a:srgbClr val="344251"/>
                          </a:solidFill>
                          <a:latin typeface="+mn-lt"/>
                          <a:ea typeface="+mn-ea"/>
                          <a:cs typeface="+mn-cs"/>
                        </a:rPr>
                        <a:t>Departmental expense management</a:t>
                      </a:r>
                      <a:endParaRPr kumimoji="1" lang="ja-JP" altLang="en-US" sz="1200" kern="1200" dirty="0">
                        <a:solidFill>
                          <a:srgbClr val="344251"/>
                        </a:solidFill>
                        <a:latin typeface="+mn-lt"/>
                        <a:ea typeface="+mn-ea"/>
                        <a:cs typeface="+mn-cs"/>
                      </a:endParaRPr>
                    </a:p>
                  </a:txBody>
                  <a:tcPr anchor="ctr"/>
                </a:tc>
                <a:tc>
                  <a:txBody>
                    <a:bodyPr/>
                    <a:lstStyle/>
                    <a:p>
                      <a:pPr marL="88900" indent="-88900" algn="l" defTabSz="914400" rtl="0" eaLnBrk="1" latinLnBrk="0" hangingPunct="1">
                        <a:buFont typeface="Arial" panose="020B0604020202020204" pitchFamily="34" charset="0"/>
                        <a:buChar char="•"/>
                      </a:pPr>
                      <a:r>
                        <a:rPr kumimoji="1" lang="en-US" altLang="ja-JP" sz="1200" kern="1200" dirty="0">
                          <a:solidFill>
                            <a:srgbClr val="344251"/>
                          </a:solidFill>
                          <a:latin typeface="+mn-lt"/>
                          <a:ea typeface="+mn-ea"/>
                          <a:cs typeface="+mn-cs"/>
                        </a:rPr>
                        <a:t>Department expense reviews conducted monthly at each management meeting.  </a:t>
                      </a:r>
                      <a:endParaRPr kumimoji="1" lang="ja-JP" altLang="en-US" sz="1050" kern="1200" dirty="0">
                        <a:solidFill>
                          <a:srgbClr val="344251"/>
                        </a:solidFill>
                        <a:latin typeface="+mn-lt"/>
                        <a:ea typeface="+mn-ea"/>
                        <a:cs typeface="+mn-cs"/>
                      </a:endParaRPr>
                    </a:p>
                  </a:txBody>
                  <a:tcPr anchor="ctr"/>
                </a:tc>
                <a:tc>
                  <a:txBody>
                    <a:bodyPr/>
                    <a:lstStyle/>
                    <a:p>
                      <a:pPr marL="88900" indent="-88900" algn="l" defTabSz="914400" rtl="0" eaLnBrk="1" latinLnBrk="0" hangingPunct="1">
                        <a:buFont typeface="Arial" panose="020B0604020202020204" pitchFamily="34" charset="0"/>
                        <a:buChar char="•"/>
                      </a:pPr>
                      <a:endParaRPr kumimoji="1" lang="ja-JP" altLang="en-US" sz="1200" kern="1200" dirty="0">
                        <a:solidFill>
                          <a:schemeClr val="dk1"/>
                        </a:solidFill>
                        <a:latin typeface="+mn-lt"/>
                        <a:ea typeface="+mn-ea"/>
                        <a:cs typeface="+mn-cs"/>
                      </a:endParaRPr>
                    </a:p>
                  </a:txBody>
                  <a:tcPr anchor="ctr">
                    <a:solidFill>
                      <a:srgbClr val="00B050"/>
                    </a:solidFill>
                  </a:tcPr>
                </a:tc>
                <a:extLst>
                  <a:ext uri="{0D108BD9-81ED-4DB2-BD59-A6C34878D82A}">
                    <a16:rowId xmlns:a16="http://schemas.microsoft.com/office/drawing/2014/main" val="378181755"/>
                  </a:ext>
                </a:extLst>
              </a:tr>
              <a:tr h="172129">
                <a:tc>
                  <a:txBody>
                    <a:bodyPr/>
                    <a:lstStyle/>
                    <a:p>
                      <a:pPr marL="88900" indent="-88900" algn="l" defTabSz="914400" rtl="0" eaLnBrk="1" latinLnBrk="0" hangingPunct="1">
                        <a:buFont typeface="Arial" panose="020B0604020202020204" pitchFamily="34" charset="0"/>
                        <a:buChar char="•"/>
                      </a:pPr>
                      <a:r>
                        <a:rPr kumimoji="1" lang="en-US" altLang="ja-JP" sz="1200" kern="1200" dirty="0">
                          <a:solidFill>
                            <a:srgbClr val="344251"/>
                          </a:solidFill>
                          <a:latin typeface="+mn-lt"/>
                          <a:ea typeface="+mn-ea"/>
                          <a:cs typeface="+mn-cs"/>
                        </a:rPr>
                        <a:t>Finance and accounting system renewal</a:t>
                      </a:r>
                      <a:endParaRPr kumimoji="1" lang="ja-JP" altLang="en-US" sz="1200" kern="1200" dirty="0">
                        <a:solidFill>
                          <a:srgbClr val="344251"/>
                        </a:solidFill>
                        <a:latin typeface="+mn-lt"/>
                        <a:ea typeface="+mn-ea"/>
                        <a:cs typeface="+mn-cs"/>
                      </a:endParaRPr>
                    </a:p>
                  </a:txBody>
                  <a:tcPr anchor="ctr"/>
                </a:tc>
                <a:tc>
                  <a:txBody>
                    <a:bodyPr/>
                    <a:lstStyle/>
                    <a:p>
                      <a:pPr marL="88900" indent="-88900" algn="l" defTabSz="914400" rtl="0" eaLnBrk="1" latinLnBrk="0" hangingPunct="1">
                        <a:buFont typeface="Arial" panose="020B0604020202020204" pitchFamily="34" charset="0"/>
                        <a:buChar char="•"/>
                      </a:pPr>
                      <a:r>
                        <a:rPr kumimoji="1" lang="en-US" altLang="ja-JP" sz="1200" kern="1200" dirty="0">
                          <a:solidFill>
                            <a:srgbClr val="344251"/>
                          </a:solidFill>
                          <a:latin typeface="+mn-lt"/>
                          <a:ea typeface="+mn-ea"/>
                          <a:cs typeface="+mn-cs"/>
                        </a:rPr>
                        <a:t>Contract with </a:t>
                      </a:r>
                      <a:r>
                        <a:rPr kumimoji="1" lang="en-US" altLang="ja-JP" sz="1200" kern="1200" dirty="0" err="1">
                          <a:solidFill>
                            <a:srgbClr val="344251"/>
                          </a:solidFill>
                          <a:latin typeface="+mn-lt"/>
                          <a:ea typeface="+mn-ea"/>
                          <a:cs typeface="+mn-cs"/>
                        </a:rPr>
                        <a:t>Keyloop</a:t>
                      </a:r>
                      <a:r>
                        <a:rPr kumimoji="1" lang="en-US" altLang="ja-JP" sz="1200" kern="1200" dirty="0">
                          <a:solidFill>
                            <a:srgbClr val="344251"/>
                          </a:solidFill>
                          <a:latin typeface="+mn-lt"/>
                          <a:ea typeface="+mn-ea"/>
                          <a:cs typeface="+mn-cs"/>
                        </a:rPr>
                        <a:t> as preferred provider signed.</a:t>
                      </a:r>
                      <a:endParaRPr kumimoji="1" lang="ja-JP" altLang="en-US" sz="1200" kern="1200" dirty="0">
                        <a:solidFill>
                          <a:srgbClr val="344251"/>
                        </a:solidFill>
                        <a:latin typeface="+mn-lt"/>
                        <a:ea typeface="+mn-ea"/>
                        <a:cs typeface="+mn-cs"/>
                      </a:endParaRPr>
                    </a:p>
                  </a:txBody>
                  <a:tcPr anchor="ctr"/>
                </a:tc>
                <a:tc>
                  <a:txBody>
                    <a:bodyPr/>
                    <a:lstStyle/>
                    <a:p>
                      <a:pPr marL="88900" indent="-88900" algn="l" defTabSz="914400" rtl="0" eaLnBrk="1" latinLnBrk="0" hangingPunct="1">
                        <a:buFont typeface="Arial" panose="020B0604020202020204" pitchFamily="34" charset="0"/>
                        <a:buChar char="•"/>
                      </a:pPr>
                      <a:endParaRPr kumimoji="1" lang="ja-JP" altLang="en-US" sz="1200" kern="1200" dirty="0">
                        <a:solidFill>
                          <a:schemeClr val="dk1"/>
                        </a:solidFill>
                        <a:latin typeface="+mn-lt"/>
                        <a:ea typeface="+mn-ea"/>
                        <a:cs typeface="+mn-cs"/>
                      </a:endParaRPr>
                    </a:p>
                  </a:txBody>
                  <a:tcPr anchor="ctr">
                    <a:solidFill>
                      <a:srgbClr val="00B050"/>
                    </a:solidFill>
                  </a:tcPr>
                </a:tc>
                <a:extLst>
                  <a:ext uri="{0D108BD9-81ED-4DB2-BD59-A6C34878D82A}">
                    <a16:rowId xmlns:a16="http://schemas.microsoft.com/office/drawing/2014/main" val="2305936403"/>
                  </a:ext>
                </a:extLst>
              </a:tr>
            </a:tbl>
          </a:graphicData>
        </a:graphic>
      </p:graphicFrame>
      <p:sp>
        <p:nvSpPr>
          <p:cNvPr id="8" name="TextBox 7">
            <a:extLst>
              <a:ext uri="{FF2B5EF4-FFF2-40B4-BE49-F238E27FC236}">
                <a16:creationId xmlns:a16="http://schemas.microsoft.com/office/drawing/2014/main" id="{C395689C-85E8-32DB-1087-072630B53888}"/>
              </a:ext>
            </a:extLst>
          </p:cNvPr>
          <p:cNvSpPr txBox="1"/>
          <p:nvPr/>
        </p:nvSpPr>
        <p:spPr>
          <a:xfrm>
            <a:off x="497973" y="3931368"/>
            <a:ext cx="9846499" cy="2643801"/>
          </a:xfrm>
          <a:prstGeom prst="rect">
            <a:avLst/>
          </a:prstGeom>
          <a:noFill/>
          <a:ln>
            <a:noFill/>
          </a:ln>
        </p:spPr>
        <p:txBody>
          <a:bodyPr wrap="square" rtlCol="0" anchor="ctr">
            <a:spAutoFit/>
          </a:bodyPr>
          <a:lstStyle/>
          <a:p>
            <a:pPr algn="l">
              <a:lnSpc>
                <a:spcPct val="90000"/>
              </a:lnSpc>
              <a:spcBef>
                <a:spcPts val="600"/>
              </a:spcBef>
            </a:pPr>
            <a:r>
              <a:rPr lang="en-US" sz="1600" dirty="0">
                <a:solidFill>
                  <a:srgbClr val="344251"/>
                </a:solidFill>
              </a:rPr>
              <a:t>Future proposed enhancements to ITUK Governance are as follows:</a:t>
            </a:r>
          </a:p>
          <a:p>
            <a:pPr>
              <a:lnSpc>
                <a:spcPct val="90000"/>
              </a:lnSpc>
              <a:spcBef>
                <a:spcPts val="600"/>
              </a:spcBef>
            </a:pPr>
            <a:endParaRPr lang="en-US" sz="1000" dirty="0">
              <a:solidFill>
                <a:srgbClr val="344251"/>
              </a:solidFill>
            </a:endParaRPr>
          </a:p>
          <a:p>
            <a:pPr marL="179388" indent="-179388">
              <a:lnSpc>
                <a:spcPct val="90000"/>
              </a:lnSpc>
              <a:spcBef>
                <a:spcPts val="600"/>
              </a:spcBef>
              <a:buFont typeface="Arial" panose="020B0604020202020204" pitchFamily="34" charset="0"/>
              <a:buChar char="•"/>
            </a:pPr>
            <a:r>
              <a:rPr lang="en-US" sz="1600" dirty="0">
                <a:solidFill>
                  <a:srgbClr val="344251"/>
                </a:solidFill>
              </a:rPr>
              <a:t>Widen scope of Governance across the whole business through training for all staff (potentially online training as is conducted with Health &amp; Safety)</a:t>
            </a:r>
            <a:br>
              <a:rPr lang="en-US" sz="1600" dirty="0">
                <a:solidFill>
                  <a:srgbClr val="344251"/>
                </a:solidFill>
              </a:rPr>
            </a:br>
            <a:endParaRPr lang="en-US" sz="1200" dirty="0">
              <a:solidFill>
                <a:srgbClr val="344251"/>
              </a:solidFill>
            </a:endParaRPr>
          </a:p>
          <a:p>
            <a:pPr marL="179388" indent="-179388">
              <a:lnSpc>
                <a:spcPct val="90000"/>
              </a:lnSpc>
              <a:spcBef>
                <a:spcPts val="600"/>
              </a:spcBef>
              <a:buFont typeface="Arial" panose="020B0604020202020204" pitchFamily="34" charset="0"/>
              <a:buChar char="•"/>
            </a:pPr>
            <a:r>
              <a:rPr lang="en-US" sz="1600" dirty="0">
                <a:solidFill>
                  <a:srgbClr val="344251"/>
                </a:solidFill>
              </a:rPr>
              <a:t>As part of Human Capital Management - design and implement a succession plan spanning the whole business to include training and development of potential successors.  This will ensure a smooth transition upon future colleague changeover.</a:t>
            </a:r>
            <a:br>
              <a:rPr lang="en-US" sz="1600" dirty="0">
                <a:solidFill>
                  <a:srgbClr val="344251"/>
                </a:solidFill>
              </a:rPr>
            </a:br>
            <a:endParaRPr lang="en-US" sz="1200" dirty="0">
              <a:solidFill>
                <a:srgbClr val="344251"/>
              </a:solidFill>
            </a:endParaRPr>
          </a:p>
          <a:p>
            <a:pPr marL="179388" indent="-179388">
              <a:lnSpc>
                <a:spcPct val="90000"/>
              </a:lnSpc>
              <a:spcBef>
                <a:spcPts val="600"/>
              </a:spcBef>
              <a:buFont typeface="Arial" panose="020B0604020202020204" pitchFamily="34" charset="0"/>
              <a:buChar char="•"/>
            </a:pPr>
            <a:r>
              <a:rPr lang="en-US" sz="1600" dirty="0">
                <a:solidFill>
                  <a:srgbClr val="344251"/>
                </a:solidFill>
              </a:rPr>
              <a:t>Develop a framework and policy for the </a:t>
            </a:r>
            <a:r>
              <a:rPr lang="en-US" sz="1600" dirty="0" err="1">
                <a:solidFill>
                  <a:srgbClr val="344251"/>
                </a:solidFill>
              </a:rPr>
              <a:t>utilisation</a:t>
            </a:r>
            <a:r>
              <a:rPr lang="en-US" sz="1600" dirty="0">
                <a:solidFill>
                  <a:srgbClr val="344251"/>
                </a:solidFill>
              </a:rPr>
              <a:t> of AI in the business.  Work with the IML </a:t>
            </a:r>
            <a:r>
              <a:rPr lang="en-US" sz="1600" dirty="0" err="1">
                <a:solidFill>
                  <a:srgbClr val="344251"/>
                </a:solidFill>
              </a:rPr>
              <a:t>programme</a:t>
            </a:r>
            <a:r>
              <a:rPr lang="en-US" sz="1600" dirty="0">
                <a:solidFill>
                  <a:srgbClr val="344251"/>
                </a:solidFill>
              </a:rPr>
              <a:t> to enhance data sharing and drive operational benefits from the private Group AI database.</a:t>
            </a:r>
          </a:p>
        </p:txBody>
      </p:sp>
      <p:sp>
        <p:nvSpPr>
          <p:cNvPr id="13" name="TextBox 12">
            <a:extLst>
              <a:ext uri="{FF2B5EF4-FFF2-40B4-BE49-F238E27FC236}">
                <a16:creationId xmlns:a16="http://schemas.microsoft.com/office/drawing/2014/main" id="{FC062154-CD6F-53D8-3077-3933AEE8039F}"/>
              </a:ext>
            </a:extLst>
          </p:cNvPr>
          <p:cNvSpPr txBox="1"/>
          <p:nvPr/>
        </p:nvSpPr>
        <p:spPr>
          <a:xfrm>
            <a:off x="10614776" y="3789040"/>
            <a:ext cx="1005404" cy="2714589"/>
          </a:xfrm>
          <a:prstGeom prst="rect">
            <a:avLst/>
          </a:prstGeom>
          <a:noFill/>
        </p:spPr>
        <p:txBody>
          <a:bodyPr wrap="none" rtlCol="0">
            <a:spAutoFit/>
          </a:bodyPr>
          <a:lstStyle/>
          <a:p>
            <a:pPr algn="ctr">
              <a:lnSpc>
                <a:spcPct val="90000"/>
              </a:lnSpc>
              <a:spcBef>
                <a:spcPts val="600"/>
              </a:spcBef>
            </a:pPr>
            <a:r>
              <a:rPr lang="en-GB" sz="1600" dirty="0">
                <a:solidFill>
                  <a:srgbClr val="344251"/>
                </a:solidFill>
              </a:rPr>
              <a:t>Target</a:t>
            </a:r>
          </a:p>
          <a:p>
            <a:pPr algn="ctr">
              <a:lnSpc>
                <a:spcPct val="90000"/>
              </a:lnSpc>
              <a:spcBef>
                <a:spcPts val="600"/>
              </a:spcBef>
            </a:pPr>
            <a:endParaRPr lang="en-GB" sz="1600" dirty="0">
              <a:solidFill>
                <a:srgbClr val="344251"/>
              </a:solidFill>
            </a:endParaRPr>
          </a:p>
          <a:p>
            <a:pPr algn="ctr">
              <a:lnSpc>
                <a:spcPct val="90000"/>
              </a:lnSpc>
              <a:spcBef>
                <a:spcPts val="600"/>
              </a:spcBef>
            </a:pPr>
            <a:r>
              <a:rPr lang="en-GB" sz="1600" dirty="0">
                <a:solidFill>
                  <a:srgbClr val="344251"/>
                </a:solidFill>
              </a:rPr>
              <a:t>Q4/FY26</a:t>
            </a:r>
          </a:p>
          <a:p>
            <a:pPr algn="ctr">
              <a:lnSpc>
                <a:spcPct val="90000"/>
              </a:lnSpc>
              <a:spcBef>
                <a:spcPts val="600"/>
              </a:spcBef>
            </a:pPr>
            <a:endParaRPr lang="en-GB" sz="2000" dirty="0">
              <a:solidFill>
                <a:srgbClr val="344251"/>
              </a:solidFill>
            </a:endParaRPr>
          </a:p>
          <a:p>
            <a:pPr algn="ctr">
              <a:lnSpc>
                <a:spcPct val="90000"/>
              </a:lnSpc>
              <a:spcBef>
                <a:spcPts val="600"/>
              </a:spcBef>
            </a:pPr>
            <a:br>
              <a:rPr lang="en-GB" sz="1600" dirty="0">
                <a:solidFill>
                  <a:srgbClr val="344251"/>
                </a:solidFill>
              </a:rPr>
            </a:br>
            <a:r>
              <a:rPr lang="en-GB" sz="1600" dirty="0">
                <a:solidFill>
                  <a:srgbClr val="344251"/>
                </a:solidFill>
              </a:rPr>
              <a:t>Q4/FY27</a:t>
            </a:r>
          </a:p>
          <a:p>
            <a:pPr algn="ctr">
              <a:lnSpc>
                <a:spcPct val="90000"/>
              </a:lnSpc>
              <a:spcBef>
                <a:spcPts val="600"/>
              </a:spcBef>
            </a:pPr>
            <a:endParaRPr lang="en-GB" sz="4000" dirty="0">
              <a:solidFill>
                <a:srgbClr val="344251"/>
              </a:solidFill>
            </a:endParaRPr>
          </a:p>
          <a:p>
            <a:pPr algn="ctr">
              <a:lnSpc>
                <a:spcPct val="90000"/>
              </a:lnSpc>
              <a:spcBef>
                <a:spcPts val="600"/>
              </a:spcBef>
            </a:pPr>
            <a:r>
              <a:rPr lang="en-GB" sz="1600" dirty="0">
                <a:solidFill>
                  <a:srgbClr val="344251"/>
                </a:solidFill>
              </a:rPr>
              <a:t>Q2/FY26</a:t>
            </a:r>
            <a:endParaRPr lang="en-GB" dirty="0">
              <a:solidFill>
                <a:srgbClr val="344251"/>
              </a:solidFill>
            </a:endParaRPr>
          </a:p>
        </p:txBody>
      </p:sp>
      <p:sp>
        <p:nvSpPr>
          <p:cNvPr id="2" name="Rectangle 1">
            <a:extLst>
              <a:ext uri="{FF2B5EF4-FFF2-40B4-BE49-F238E27FC236}">
                <a16:creationId xmlns:a16="http://schemas.microsoft.com/office/drawing/2014/main" id="{A266D87C-8919-6047-E24D-E46795A32EC9}"/>
              </a:ext>
            </a:extLst>
          </p:cNvPr>
          <p:cNvSpPr/>
          <p:nvPr/>
        </p:nvSpPr>
        <p:spPr>
          <a:xfrm>
            <a:off x="487505" y="3789040"/>
            <a:ext cx="11185431" cy="2862131"/>
          </a:xfrm>
          <a:prstGeom prst="rect">
            <a:avLst/>
          </a:prstGeom>
          <a:noFill/>
          <a:ln w="9525">
            <a:solidFill>
              <a:srgbClr val="405C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dirty="0" err="1">
              <a:solidFill>
                <a:schemeClr val="tx1"/>
              </a:solidFill>
            </a:endParaRPr>
          </a:p>
        </p:txBody>
      </p:sp>
    </p:spTree>
    <p:extLst>
      <p:ext uri="{BB962C8B-B14F-4D97-AF65-F5344CB8AC3E}">
        <p14:creationId xmlns:p14="http://schemas.microsoft.com/office/powerpoint/2010/main" val="3896605727"/>
      </p:ext>
    </p:extLst>
  </p:cSld>
  <p:clrMapOvr>
    <a:masterClrMapping/>
  </p:clrMapOvr>
  <mc:AlternateContent xmlns:mc="http://schemas.openxmlformats.org/markup-compatibility/2006" xmlns:p14="http://schemas.microsoft.com/office/powerpoint/2010/main">
    <mc:Choice Requires="p14">
      <p:transition spd="slow" p14:dur="2000" advTm="67721"/>
    </mc:Choice>
    <mc:Fallback xmlns="">
      <p:transition spd="slow" advTm="6772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AB2C8-E325-BD0F-4CD1-697BFAF9053C}"/>
            </a:ext>
          </a:extLst>
        </p:cNvPr>
        <p:cNvGrpSpPr/>
        <p:nvPr/>
      </p:nvGrpSpPr>
      <p:grpSpPr>
        <a:xfrm>
          <a:off x="0" y="0"/>
          <a:ext cx="0" cy="0"/>
          <a:chOff x="0" y="0"/>
          <a:chExt cx="0" cy="0"/>
        </a:xfrm>
      </p:grpSpPr>
      <p:sp>
        <p:nvSpPr>
          <p:cNvPr id="8" name="Text Box 294">
            <a:extLst>
              <a:ext uri="{FF2B5EF4-FFF2-40B4-BE49-F238E27FC236}">
                <a16:creationId xmlns:a16="http://schemas.microsoft.com/office/drawing/2014/main" id="{A4EE67D3-6CB6-D3A5-5D0F-226B8E584F20}"/>
              </a:ext>
            </a:extLst>
          </p:cNvPr>
          <p:cNvSpPr txBox="1">
            <a:spLocks noChangeArrowheads="1"/>
          </p:cNvSpPr>
          <p:nvPr/>
        </p:nvSpPr>
        <p:spPr bwMode="auto">
          <a:xfrm>
            <a:off x="5554928" y="1484374"/>
            <a:ext cx="1704588"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dirty="0">
                <a:ln>
                  <a:noFill/>
                </a:ln>
                <a:solidFill>
                  <a:srgbClr val="344251"/>
                </a:solidFill>
                <a:effectLst/>
                <a:uLnTx/>
                <a:uFillTx/>
                <a:latin typeface="Arial"/>
                <a:ea typeface="Meiryo UI"/>
                <a:cs typeface="+mn-cs"/>
              </a:rPr>
              <a:t>KPI</a:t>
            </a:r>
          </a:p>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dirty="0">
                <a:ln>
                  <a:noFill/>
                </a:ln>
                <a:solidFill>
                  <a:srgbClr val="344251"/>
                </a:solidFill>
                <a:effectLst/>
                <a:uLnTx/>
                <a:uFillTx/>
                <a:latin typeface="Arial"/>
                <a:ea typeface="Meiryo UI"/>
                <a:cs typeface="+mn-cs"/>
              </a:rPr>
              <a:t>(Closing</a:t>
            </a:r>
            <a:r>
              <a:rPr kumimoji="1" lang="ja-JP" altLang="en-US" sz="800" b="1"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800" b="1" i="0" u="none" strike="noStrike" kern="1200" cap="none" spc="0" normalizeH="0" baseline="0" noProof="0" dirty="0">
                <a:ln>
                  <a:noFill/>
                </a:ln>
                <a:solidFill>
                  <a:srgbClr val="344251"/>
                </a:solidFill>
                <a:effectLst/>
                <a:uLnTx/>
                <a:uFillTx/>
                <a:latin typeface="Arial"/>
                <a:ea typeface="Meiryo UI"/>
                <a:cs typeface="+mn-cs"/>
              </a:rPr>
              <a:t>Conditions)</a:t>
            </a:r>
          </a:p>
        </p:txBody>
      </p:sp>
      <p:sp>
        <p:nvSpPr>
          <p:cNvPr id="11" name="Text Box 294">
            <a:extLst>
              <a:ext uri="{FF2B5EF4-FFF2-40B4-BE49-F238E27FC236}">
                <a16:creationId xmlns:a16="http://schemas.microsoft.com/office/drawing/2014/main" id="{4E4857D8-BFE0-5165-DF13-B790E9F52871}"/>
              </a:ext>
            </a:extLst>
          </p:cNvPr>
          <p:cNvSpPr txBox="1">
            <a:spLocks noChangeArrowheads="1"/>
          </p:cNvSpPr>
          <p:nvPr/>
        </p:nvSpPr>
        <p:spPr bwMode="auto">
          <a:xfrm>
            <a:off x="5554928" y="2108952"/>
            <a:ext cx="1704588" cy="576222"/>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Planned sales volumes (can be  achieved and high level of positive Customer experience can result</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14" name="Text Box 294">
            <a:extLst>
              <a:ext uri="{FF2B5EF4-FFF2-40B4-BE49-F238E27FC236}">
                <a16:creationId xmlns:a16="http://schemas.microsoft.com/office/drawing/2014/main" id="{A7347591-1238-C63F-3EDB-E312658B10A0}"/>
              </a:ext>
            </a:extLst>
          </p:cNvPr>
          <p:cNvSpPr txBox="1">
            <a:spLocks noChangeArrowheads="1"/>
          </p:cNvSpPr>
          <p:nvPr/>
        </p:nvSpPr>
        <p:spPr bwMode="auto">
          <a:xfrm>
            <a:off x="5576912" y="2807275"/>
            <a:ext cx="1672101" cy="583561"/>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High demand for new products and distress selling of current model avoided </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19" name="Text Box 294">
            <a:extLst>
              <a:ext uri="{FF2B5EF4-FFF2-40B4-BE49-F238E27FC236}">
                <a16:creationId xmlns:a16="http://schemas.microsoft.com/office/drawing/2014/main" id="{EAAED508-2663-F1DC-E667-EAF9584C6FEA}"/>
              </a:ext>
            </a:extLst>
          </p:cNvPr>
          <p:cNvSpPr txBox="1">
            <a:spLocks noChangeArrowheads="1"/>
          </p:cNvSpPr>
          <p:nvPr/>
        </p:nvSpPr>
        <p:spPr bwMode="auto">
          <a:xfrm>
            <a:off x="5577115" y="3504727"/>
            <a:ext cx="1671898" cy="576475"/>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Increased prospects, where Isuzu product offers operational advantages, identified and contacted </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20" name="Text Box 294">
            <a:extLst>
              <a:ext uri="{FF2B5EF4-FFF2-40B4-BE49-F238E27FC236}">
                <a16:creationId xmlns:a16="http://schemas.microsoft.com/office/drawing/2014/main" id="{448F152D-9C5F-3BF6-5028-666CE5EBE286}"/>
              </a:ext>
            </a:extLst>
          </p:cNvPr>
          <p:cNvSpPr txBox="1">
            <a:spLocks noChangeArrowheads="1"/>
          </p:cNvSpPr>
          <p:nvPr/>
        </p:nvSpPr>
        <p:spPr bwMode="auto">
          <a:xfrm>
            <a:off x="5562289" y="4199225"/>
            <a:ext cx="1688865" cy="559999"/>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Improve margins by reducing instances of unplanned costs.</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21" name="Text Box 294">
            <a:extLst>
              <a:ext uri="{FF2B5EF4-FFF2-40B4-BE49-F238E27FC236}">
                <a16:creationId xmlns:a16="http://schemas.microsoft.com/office/drawing/2014/main" id="{164468CF-DDD7-B112-373F-9BD6EED8ED04}"/>
              </a:ext>
            </a:extLst>
          </p:cNvPr>
          <p:cNvSpPr txBox="1">
            <a:spLocks noChangeArrowheads="1"/>
          </p:cNvSpPr>
          <p:nvPr/>
        </p:nvSpPr>
        <p:spPr bwMode="auto">
          <a:xfrm>
            <a:off x="5554928" y="4831931"/>
            <a:ext cx="1704588" cy="604746"/>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More Dealers are motivated to achieve/exceed Plan</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26" name="Text Box 294">
            <a:extLst>
              <a:ext uri="{FF2B5EF4-FFF2-40B4-BE49-F238E27FC236}">
                <a16:creationId xmlns:a16="http://schemas.microsoft.com/office/drawing/2014/main" id="{FFA1C291-9690-A618-111B-91F30C6ADD3C}"/>
              </a:ext>
            </a:extLst>
          </p:cNvPr>
          <p:cNvSpPr txBox="1">
            <a:spLocks noChangeArrowheads="1"/>
          </p:cNvSpPr>
          <p:nvPr/>
        </p:nvSpPr>
        <p:spPr bwMode="auto">
          <a:xfrm>
            <a:off x="335360" y="1472471"/>
            <a:ext cx="1300799"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dirty="0">
                <a:ln>
                  <a:noFill/>
                </a:ln>
                <a:solidFill>
                  <a:srgbClr val="344251"/>
                </a:solidFill>
                <a:effectLst/>
                <a:uLnTx/>
                <a:uFillTx/>
                <a:latin typeface="Arial"/>
                <a:ea typeface="Meiryo UI"/>
                <a:cs typeface="+mn-cs"/>
              </a:rPr>
              <a:t>Policies &amp; Tasks</a:t>
            </a:r>
          </a:p>
        </p:txBody>
      </p:sp>
      <p:sp>
        <p:nvSpPr>
          <p:cNvPr id="27" name="Text Box 294">
            <a:extLst>
              <a:ext uri="{FF2B5EF4-FFF2-40B4-BE49-F238E27FC236}">
                <a16:creationId xmlns:a16="http://schemas.microsoft.com/office/drawing/2014/main" id="{854A3FEB-223E-8B5D-F06A-A111C4E490A6}"/>
              </a:ext>
            </a:extLst>
          </p:cNvPr>
          <p:cNvSpPr txBox="1">
            <a:spLocks noChangeArrowheads="1"/>
          </p:cNvSpPr>
          <p:nvPr/>
        </p:nvSpPr>
        <p:spPr bwMode="auto">
          <a:xfrm>
            <a:off x="335361" y="961413"/>
            <a:ext cx="1300798" cy="43311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477" b="1" i="0" u="none" strike="noStrike" kern="1200" cap="none" spc="0" normalizeH="0" baseline="0" noProof="0" dirty="0">
                <a:ln>
                  <a:noFill/>
                </a:ln>
                <a:solidFill>
                  <a:srgbClr val="344251"/>
                </a:solidFill>
                <a:effectLst/>
                <a:uLnTx/>
                <a:uFillTx/>
                <a:latin typeface="Arial"/>
                <a:ea typeface="Meiryo UI"/>
                <a:cs typeface="+mn-cs"/>
              </a:rPr>
              <a:t>Major</a:t>
            </a:r>
            <a:r>
              <a:rPr kumimoji="1" lang="ja-JP" altLang="en-US" sz="1477" b="1"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1477" b="1" i="0" u="none" strike="noStrike" kern="1200" cap="none" spc="0" normalizeH="0" baseline="0" noProof="0" dirty="0">
                <a:ln>
                  <a:noFill/>
                </a:ln>
                <a:solidFill>
                  <a:srgbClr val="344251"/>
                </a:solidFill>
                <a:effectLst/>
                <a:uLnTx/>
                <a:uFillTx/>
                <a:latin typeface="Arial"/>
                <a:ea typeface="Meiryo UI"/>
                <a:cs typeface="+mn-cs"/>
              </a:rPr>
              <a:t>Policy</a:t>
            </a:r>
          </a:p>
        </p:txBody>
      </p:sp>
      <p:sp>
        <p:nvSpPr>
          <p:cNvPr id="28" name="Text Box 294">
            <a:extLst>
              <a:ext uri="{FF2B5EF4-FFF2-40B4-BE49-F238E27FC236}">
                <a16:creationId xmlns:a16="http://schemas.microsoft.com/office/drawing/2014/main" id="{E421EF64-3550-E357-0F68-5F098F07DF5E}"/>
              </a:ext>
            </a:extLst>
          </p:cNvPr>
          <p:cNvSpPr txBox="1">
            <a:spLocks noChangeArrowheads="1"/>
          </p:cNvSpPr>
          <p:nvPr/>
        </p:nvSpPr>
        <p:spPr bwMode="auto">
          <a:xfrm>
            <a:off x="1726421" y="961413"/>
            <a:ext cx="9486835" cy="433114"/>
          </a:xfrm>
          <a:prstGeom prst="rect">
            <a:avLst/>
          </a:prstGeom>
          <a:solidFill>
            <a:schemeClr val="bg1"/>
          </a:solidFill>
          <a:ln w="9525">
            <a:solidFill>
              <a:schemeClr val="tx1">
                <a:lumMod val="50000"/>
                <a:lumOff val="50000"/>
              </a:schemeClr>
            </a:solidFill>
            <a:miter lim="800000"/>
            <a:headEnd/>
            <a:tailEnd/>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1292" b="1" i="0" u="none" strike="noStrike" kern="1200" cap="none" spc="0" normalizeH="0" baseline="0" noProof="0" dirty="0">
                <a:ln>
                  <a:noFill/>
                </a:ln>
                <a:solidFill>
                  <a:srgbClr val="344251"/>
                </a:solidFill>
                <a:effectLst/>
                <a:uLnTx/>
                <a:uFillTx/>
                <a:latin typeface="Meiryo UI"/>
                <a:ea typeface="Meiryo UI"/>
                <a:cs typeface="+mn-cs"/>
              </a:rPr>
              <a:t>Increase Market Share </a:t>
            </a:r>
          </a:p>
        </p:txBody>
      </p:sp>
      <p:sp>
        <p:nvSpPr>
          <p:cNvPr id="29" name="Text Box 294">
            <a:extLst>
              <a:ext uri="{FF2B5EF4-FFF2-40B4-BE49-F238E27FC236}">
                <a16:creationId xmlns:a16="http://schemas.microsoft.com/office/drawing/2014/main" id="{3A8ADBDE-A973-CA7C-5F48-3B39A514A66C}"/>
              </a:ext>
            </a:extLst>
          </p:cNvPr>
          <p:cNvSpPr txBox="1">
            <a:spLocks noChangeArrowheads="1"/>
          </p:cNvSpPr>
          <p:nvPr/>
        </p:nvSpPr>
        <p:spPr bwMode="auto">
          <a:xfrm>
            <a:off x="335360" y="2103453"/>
            <a:ext cx="1300799" cy="3313912"/>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0" fontAlgn="auto" latinLnBrk="0" hangingPunct="0">
              <a:lnSpc>
                <a:spcPct val="100000"/>
              </a:lnSpc>
              <a:spcBef>
                <a:spcPct val="20000"/>
              </a:spcBef>
              <a:spcAft>
                <a:spcPts val="0"/>
              </a:spcAft>
              <a:buClrTx/>
              <a:buSzTx/>
              <a:buFontTx/>
              <a:buNone/>
              <a:tabLst/>
              <a:defRPr/>
            </a:pPr>
            <a:r>
              <a:rPr kumimoji="1" lang="en-US" sz="16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Sales &amp; Marketing</a:t>
            </a:r>
            <a:endParaRPr kumimoji="1" lang="en-US" sz="16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32" name="Text Box 294">
            <a:extLst>
              <a:ext uri="{FF2B5EF4-FFF2-40B4-BE49-F238E27FC236}">
                <a16:creationId xmlns:a16="http://schemas.microsoft.com/office/drawing/2014/main" id="{2127C8DB-B5FC-9318-8847-3B14AD1D33E9}"/>
              </a:ext>
            </a:extLst>
          </p:cNvPr>
          <p:cNvSpPr txBox="1">
            <a:spLocks noChangeArrowheads="1"/>
          </p:cNvSpPr>
          <p:nvPr/>
        </p:nvSpPr>
        <p:spPr bwMode="auto">
          <a:xfrm>
            <a:off x="1720579" y="1472471"/>
            <a:ext cx="3783539"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344251"/>
                </a:solidFill>
                <a:effectLst/>
                <a:uLnTx/>
                <a:uFillTx/>
                <a:latin typeface="Arial"/>
                <a:ea typeface="Meiryo UI"/>
                <a:cs typeface="+mn-cs"/>
              </a:rPr>
              <a:t>●</a:t>
            </a:r>
            <a:r>
              <a:rPr kumimoji="1" lang="en-US" altLang="ja-JP" sz="1200" b="1" i="0" u="none" strike="noStrike" kern="1200" cap="none" spc="0" normalizeH="0" baseline="0" noProof="0">
                <a:ln>
                  <a:noFill/>
                </a:ln>
                <a:solidFill>
                  <a:srgbClr val="344251"/>
                </a:solidFill>
                <a:effectLst/>
                <a:uLnTx/>
                <a:uFillTx/>
                <a:latin typeface="Arial"/>
                <a:ea typeface="Meiryo UI"/>
                <a:cs typeface="+mn-cs"/>
              </a:rPr>
              <a:t>Priority</a:t>
            </a:r>
            <a:r>
              <a:rPr kumimoji="1" lang="ja-JP" altLang="en-US" sz="1200" b="1" i="0" u="none" strike="noStrike" kern="1200" cap="none" spc="0" normalizeH="0" baseline="0" noProof="0">
                <a:ln>
                  <a:noFill/>
                </a:ln>
                <a:solidFill>
                  <a:srgbClr val="344251"/>
                </a:solidFill>
                <a:effectLst/>
                <a:uLnTx/>
                <a:uFillTx/>
                <a:latin typeface="Arial"/>
                <a:ea typeface="Meiryo UI"/>
                <a:cs typeface="+mn-cs"/>
              </a:rPr>
              <a:t> </a:t>
            </a:r>
            <a:r>
              <a:rPr kumimoji="1" lang="en-US" altLang="ja-JP" sz="1200" b="1" i="0" u="none" strike="noStrike" kern="1200" cap="none" spc="0" normalizeH="0" baseline="0" noProof="0">
                <a:ln>
                  <a:noFill/>
                </a:ln>
                <a:solidFill>
                  <a:srgbClr val="344251"/>
                </a:solidFill>
                <a:effectLst/>
                <a:uLnTx/>
                <a:uFillTx/>
                <a:latin typeface="Arial"/>
                <a:ea typeface="Meiryo UI"/>
                <a:cs typeface="+mn-cs"/>
              </a:rPr>
              <a:t>Measures</a:t>
            </a:r>
          </a:p>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344251"/>
                </a:solidFill>
                <a:effectLst/>
                <a:uLnTx/>
                <a:uFillTx/>
                <a:latin typeface="Arial"/>
                <a:ea typeface="Meiryo UI"/>
                <a:cs typeface="+mn-cs"/>
              </a:rPr>
              <a:t>Outline(Methods/Strategies)</a:t>
            </a:r>
          </a:p>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344251"/>
                </a:solidFill>
                <a:effectLst/>
                <a:uLnTx/>
                <a:uFillTx/>
                <a:latin typeface="Arial"/>
                <a:ea typeface="Meiryo UI"/>
                <a:cs typeface="+mn-cs"/>
              </a:rPr>
              <a:t>Original Aim</a:t>
            </a:r>
          </a:p>
        </p:txBody>
      </p:sp>
      <p:sp>
        <p:nvSpPr>
          <p:cNvPr id="33" name="Text Box 294">
            <a:extLst>
              <a:ext uri="{FF2B5EF4-FFF2-40B4-BE49-F238E27FC236}">
                <a16:creationId xmlns:a16="http://schemas.microsoft.com/office/drawing/2014/main" id="{C7800C9E-95E4-E5D6-2AD3-CDEE190C7CAE}"/>
              </a:ext>
            </a:extLst>
          </p:cNvPr>
          <p:cNvSpPr txBox="1">
            <a:spLocks noChangeArrowheads="1"/>
          </p:cNvSpPr>
          <p:nvPr/>
        </p:nvSpPr>
        <p:spPr bwMode="auto">
          <a:xfrm>
            <a:off x="1720579" y="2108699"/>
            <a:ext cx="3783539"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344251"/>
                </a:solidFill>
                <a:effectLst/>
                <a:uLnTx/>
                <a:uFillTx/>
                <a:latin typeface="Arial"/>
                <a:ea typeface="Meiryo UI"/>
                <a:cs typeface="+mn-cs"/>
              </a:rPr>
              <a:t>●</a:t>
            </a:r>
            <a:r>
              <a:rPr kumimoji="1" lang="en-GB"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Electric Vehicle Launch</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dirty="0">
                <a:ln>
                  <a:noFill/>
                </a:ln>
                <a:solidFill>
                  <a:srgbClr val="344251"/>
                </a:solidFill>
                <a:effectLst/>
                <a:uLnTx/>
                <a:uFillTx/>
                <a:latin typeface="Arial"/>
                <a:ea typeface="Meiryo UI"/>
                <a:cs typeface="+mn-cs"/>
              </a:rPr>
              <a:t>Outline</a:t>
            </a: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GB"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Finalise EV Strategy Development</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dirty="0">
                <a:ln>
                  <a:noFill/>
                </a:ln>
                <a:solidFill>
                  <a:srgbClr val="344251"/>
                </a:solidFill>
                <a:effectLst/>
                <a:uLnTx/>
                <a:uFillTx/>
                <a:latin typeface="Arial"/>
                <a:ea typeface="Meiryo UI"/>
                <a:cs typeface="+mn-cs"/>
              </a:rPr>
              <a:t>Original</a:t>
            </a:r>
            <a:r>
              <a:rPr kumimoji="1" lang="ja-JP" altLang="en-US" sz="900" b="1"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900" b="1" i="0" u="none" strike="noStrike" kern="1200" cap="none" spc="0" normalizeH="0" baseline="0" noProof="0" dirty="0">
                <a:ln>
                  <a:noFill/>
                </a:ln>
                <a:solidFill>
                  <a:srgbClr val="344251"/>
                </a:solidFill>
                <a:effectLst/>
                <a:uLnTx/>
                <a:uFillTx/>
                <a:latin typeface="Arial"/>
                <a:ea typeface="Meiryo UI"/>
                <a:cs typeface="+mn-cs"/>
              </a:rPr>
              <a:t>Aim</a:t>
            </a: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GB"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Ensure all key requirements are implemented relative to established planned sales volumes objectives </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p:txBody>
      </p:sp>
      <p:sp>
        <p:nvSpPr>
          <p:cNvPr id="34" name="Text Box 294">
            <a:extLst>
              <a:ext uri="{FF2B5EF4-FFF2-40B4-BE49-F238E27FC236}">
                <a16:creationId xmlns:a16="http://schemas.microsoft.com/office/drawing/2014/main" id="{8D159270-73D2-B4E3-0880-C87945D6036A}"/>
              </a:ext>
            </a:extLst>
          </p:cNvPr>
          <p:cNvSpPr txBox="1">
            <a:spLocks noChangeArrowheads="1"/>
          </p:cNvSpPr>
          <p:nvPr/>
        </p:nvSpPr>
        <p:spPr bwMode="auto">
          <a:xfrm>
            <a:off x="8186237" y="1469877"/>
            <a:ext cx="2985796"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344251"/>
                </a:solidFill>
                <a:effectLst/>
                <a:uLnTx/>
                <a:uFillTx/>
                <a:latin typeface="Arial"/>
                <a:ea typeface="Meiryo UI"/>
                <a:cs typeface="+mn-cs"/>
              </a:rPr>
              <a:t>Progress</a:t>
            </a:r>
          </a:p>
        </p:txBody>
      </p:sp>
      <p:sp>
        <p:nvSpPr>
          <p:cNvPr id="61" name="Text Box 294">
            <a:extLst>
              <a:ext uri="{FF2B5EF4-FFF2-40B4-BE49-F238E27FC236}">
                <a16:creationId xmlns:a16="http://schemas.microsoft.com/office/drawing/2014/main" id="{425F04F0-11E7-0274-EDC4-BF851953B81A}"/>
              </a:ext>
            </a:extLst>
          </p:cNvPr>
          <p:cNvSpPr txBox="1">
            <a:spLocks noChangeArrowheads="1"/>
          </p:cNvSpPr>
          <p:nvPr/>
        </p:nvSpPr>
        <p:spPr bwMode="auto">
          <a:xfrm>
            <a:off x="8165954" y="2116294"/>
            <a:ext cx="3016221" cy="576223"/>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Completion now planned end Q4 FY2026, which is closer to delayed SOP and reduced volume f/c</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67" name="Text Box 294">
            <a:extLst>
              <a:ext uri="{FF2B5EF4-FFF2-40B4-BE49-F238E27FC236}">
                <a16:creationId xmlns:a16="http://schemas.microsoft.com/office/drawing/2014/main" id="{9CDCDF2A-8ABB-0A01-D401-6E57CA184085}"/>
              </a:ext>
            </a:extLst>
          </p:cNvPr>
          <p:cNvSpPr txBox="1">
            <a:spLocks noChangeArrowheads="1"/>
          </p:cNvSpPr>
          <p:nvPr/>
        </p:nvSpPr>
        <p:spPr bwMode="auto">
          <a:xfrm>
            <a:off x="11280640" y="1481081"/>
            <a:ext cx="576000"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err="1">
                <a:ln>
                  <a:noFill/>
                </a:ln>
                <a:solidFill>
                  <a:srgbClr val="344251"/>
                </a:solidFill>
                <a:effectLst/>
                <a:uLnTx/>
                <a:uFillTx/>
                <a:latin typeface="Arial"/>
                <a:ea typeface="Meiryo UI"/>
                <a:cs typeface="+mn-cs"/>
              </a:rPr>
              <a:t>Assmt</a:t>
            </a:r>
            <a:r>
              <a:rPr kumimoji="1" lang="en-US" altLang="ja-JP" sz="900" b="1" i="0" u="none" strike="noStrike" kern="1200" cap="none" spc="0" normalizeH="0" baseline="0" noProof="0">
                <a:ln>
                  <a:noFill/>
                </a:ln>
                <a:solidFill>
                  <a:srgbClr val="344251"/>
                </a:solidFill>
                <a:effectLst/>
                <a:uLnTx/>
                <a:uFillTx/>
                <a:latin typeface="Arial"/>
                <a:ea typeface="Meiryo UI"/>
                <a:cs typeface="+mn-cs"/>
              </a:rPr>
              <a:t>.</a:t>
            </a:r>
          </a:p>
        </p:txBody>
      </p:sp>
      <p:sp>
        <p:nvSpPr>
          <p:cNvPr id="80" name="Text Box 294">
            <a:extLst>
              <a:ext uri="{FF2B5EF4-FFF2-40B4-BE49-F238E27FC236}">
                <a16:creationId xmlns:a16="http://schemas.microsoft.com/office/drawing/2014/main" id="{1CEED28D-E320-A5D9-2809-17FB35565D52}"/>
              </a:ext>
            </a:extLst>
          </p:cNvPr>
          <p:cNvSpPr txBox="1">
            <a:spLocks noChangeArrowheads="1"/>
          </p:cNvSpPr>
          <p:nvPr/>
        </p:nvSpPr>
        <p:spPr bwMode="auto">
          <a:xfrm>
            <a:off x="8165954" y="2796465"/>
            <a:ext cx="3006079" cy="594372"/>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Launch delayed until June 2026 due to delayed  P700 SOP </a:t>
            </a:r>
          </a:p>
        </p:txBody>
      </p:sp>
      <p:sp>
        <p:nvSpPr>
          <p:cNvPr id="81" name="Text Box 294">
            <a:extLst>
              <a:ext uri="{FF2B5EF4-FFF2-40B4-BE49-F238E27FC236}">
                <a16:creationId xmlns:a16="http://schemas.microsoft.com/office/drawing/2014/main" id="{26C3E4E0-A00C-670B-3D9A-DBEC7D369484}"/>
              </a:ext>
            </a:extLst>
          </p:cNvPr>
          <p:cNvSpPr txBox="1">
            <a:spLocks noChangeArrowheads="1"/>
          </p:cNvSpPr>
          <p:nvPr/>
        </p:nvSpPr>
        <p:spPr bwMode="auto">
          <a:xfrm>
            <a:off x="335360" y="5521050"/>
            <a:ext cx="1300799" cy="716262"/>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sz="16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Operations</a:t>
            </a:r>
            <a:endParaRPr kumimoji="1" lang="en-US" altLang="ja-JP" sz="16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83" name="Text Box 294">
            <a:extLst>
              <a:ext uri="{FF2B5EF4-FFF2-40B4-BE49-F238E27FC236}">
                <a16:creationId xmlns:a16="http://schemas.microsoft.com/office/drawing/2014/main" id="{3DB240F3-303F-27CD-8AC9-6ED774DC47D8}"/>
              </a:ext>
            </a:extLst>
          </p:cNvPr>
          <p:cNvSpPr txBox="1">
            <a:spLocks noChangeArrowheads="1"/>
          </p:cNvSpPr>
          <p:nvPr/>
        </p:nvSpPr>
        <p:spPr bwMode="auto">
          <a:xfrm>
            <a:off x="8165954" y="3501444"/>
            <a:ext cx="3016221" cy="579758"/>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Initiative completed on time but Dealer focus, from all Network members, was not at requested levels. “Stern” letter sent to Network, followed by Senior Management visit, with additional module on Dealer Sales Training</a:t>
            </a:r>
          </a:p>
        </p:txBody>
      </p:sp>
      <p:sp>
        <p:nvSpPr>
          <p:cNvPr id="86" name="Text Box 294">
            <a:extLst>
              <a:ext uri="{FF2B5EF4-FFF2-40B4-BE49-F238E27FC236}">
                <a16:creationId xmlns:a16="http://schemas.microsoft.com/office/drawing/2014/main" id="{6A1C6A7C-BB1E-6D74-27B5-9004118C7446}"/>
              </a:ext>
            </a:extLst>
          </p:cNvPr>
          <p:cNvSpPr txBox="1">
            <a:spLocks noChangeArrowheads="1"/>
          </p:cNvSpPr>
          <p:nvPr/>
        </p:nvSpPr>
        <p:spPr bwMode="auto">
          <a:xfrm>
            <a:off x="8186237" y="4194610"/>
            <a:ext cx="2995938" cy="538760"/>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Completion now planned end Q1 FY2026, which is closer to delayed P700 launch date</a:t>
            </a:r>
            <a:endParaRPr kumimoji="1" lang="en-US" altLang="ja-JP" sz="9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88" name="Text Box 294">
            <a:extLst>
              <a:ext uri="{FF2B5EF4-FFF2-40B4-BE49-F238E27FC236}">
                <a16:creationId xmlns:a16="http://schemas.microsoft.com/office/drawing/2014/main" id="{09E86BA0-6F54-1ECB-5540-16200B027C04}"/>
              </a:ext>
            </a:extLst>
          </p:cNvPr>
          <p:cNvSpPr txBox="1">
            <a:spLocks noChangeArrowheads="1"/>
          </p:cNvSpPr>
          <p:nvPr/>
        </p:nvSpPr>
        <p:spPr bwMode="auto">
          <a:xfrm>
            <a:off x="8180684" y="4841876"/>
            <a:ext cx="3016221" cy="576475"/>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pitchFamily="34" charset="0"/>
                <a:ea typeface="Meiryo UI"/>
                <a:cs typeface="+mn-cs"/>
              </a:rPr>
              <a:t>Revised Dealer Registration rewards implemented on time but due to poor market conditions only 8-Dealers achieved above 90% of stretch plan. Revision planned for P700 and may change to wholesale incentive</a:t>
            </a:r>
          </a:p>
        </p:txBody>
      </p:sp>
      <p:sp>
        <p:nvSpPr>
          <p:cNvPr id="90" name="Text Box 294">
            <a:extLst>
              <a:ext uri="{FF2B5EF4-FFF2-40B4-BE49-F238E27FC236}">
                <a16:creationId xmlns:a16="http://schemas.microsoft.com/office/drawing/2014/main" id="{8A7E5CA4-5EDC-551F-F67E-9958FC379704}"/>
              </a:ext>
            </a:extLst>
          </p:cNvPr>
          <p:cNvSpPr txBox="1">
            <a:spLocks noChangeArrowheads="1"/>
          </p:cNvSpPr>
          <p:nvPr/>
        </p:nvSpPr>
        <p:spPr bwMode="auto">
          <a:xfrm>
            <a:off x="7320136" y="4194610"/>
            <a:ext cx="789969" cy="542009"/>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Q1 CY 25 </a:t>
            </a:r>
            <a:r>
              <a:rPr kumimoji="1" lang="en-GB" altLang="ja-JP" sz="900" b="0" i="0" u="none" strike="noStrike" kern="1200" cap="none" spc="0" normalizeH="0" baseline="0" noProof="0" dirty="0">
                <a:ln>
                  <a:noFill/>
                </a:ln>
                <a:solidFill>
                  <a:srgbClr val="344251"/>
                </a:solidFill>
                <a:effectLst/>
                <a:uLnTx/>
                <a:uFillTx/>
                <a:latin typeface="Arial" pitchFamily="34" charset="0"/>
                <a:ea typeface="Meiryo UI"/>
                <a:cs typeface="+mn-cs"/>
              </a:rPr>
              <a:t>→ Q4 FY25 → Q1 FY26 </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p:txBody>
      </p:sp>
      <p:sp>
        <p:nvSpPr>
          <p:cNvPr id="91" name="Text Box 294">
            <a:extLst>
              <a:ext uri="{FF2B5EF4-FFF2-40B4-BE49-F238E27FC236}">
                <a16:creationId xmlns:a16="http://schemas.microsoft.com/office/drawing/2014/main" id="{74ABCEE9-0A73-B8A7-AE04-E378B8F0DCA5}"/>
              </a:ext>
            </a:extLst>
          </p:cNvPr>
          <p:cNvSpPr txBox="1">
            <a:spLocks noChangeArrowheads="1"/>
          </p:cNvSpPr>
          <p:nvPr/>
        </p:nvSpPr>
        <p:spPr bwMode="auto">
          <a:xfrm>
            <a:off x="7320136" y="4831931"/>
            <a:ext cx="783931" cy="604746"/>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End Q4 2024 &amp; ongoing each year</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92" name="Text Box 294">
            <a:extLst>
              <a:ext uri="{FF2B5EF4-FFF2-40B4-BE49-F238E27FC236}">
                <a16:creationId xmlns:a16="http://schemas.microsoft.com/office/drawing/2014/main" id="{1CDD7B55-5819-BF68-735D-639EE262D920}"/>
              </a:ext>
            </a:extLst>
          </p:cNvPr>
          <p:cNvSpPr txBox="1">
            <a:spLocks noChangeArrowheads="1"/>
          </p:cNvSpPr>
          <p:nvPr/>
        </p:nvSpPr>
        <p:spPr bwMode="auto">
          <a:xfrm>
            <a:off x="7320136" y="2798835"/>
            <a:ext cx="798116" cy="583561"/>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End Q2 CY25 </a:t>
            </a:r>
            <a:r>
              <a:rPr kumimoji="1" lang="en-GB" altLang="ja-JP" sz="900" b="0" i="0" u="none" strike="noStrike" kern="1200" cap="none" spc="0" normalizeH="0" baseline="0" noProof="0" dirty="0">
                <a:ln>
                  <a:noFill/>
                </a:ln>
                <a:solidFill>
                  <a:srgbClr val="344251"/>
                </a:solidFill>
                <a:effectLst/>
                <a:uLnTx/>
                <a:uFillTx/>
                <a:latin typeface="Arial" pitchFamily="34" charset="0"/>
                <a:ea typeface="Meiryo UI"/>
                <a:cs typeface="+mn-cs"/>
              </a:rPr>
              <a:t>→ End Q2 26</a:t>
            </a: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 </a:t>
            </a:r>
          </a:p>
        </p:txBody>
      </p:sp>
      <p:sp>
        <p:nvSpPr>
          <p:cNvPr id="93" name="Text Box 294">
            <a:extLst>
              <a:ext uri="{FF2B5EF4-FFF2-40B4-BE49-F238E27FC236}">
                <a16:creationId xmlns:a16="http://schemas.microsoft.com/office/drawing/2014/main" id="{AD52DA33-0786-5779-E5E3-C9F1E6BD5FA3}"/>
              </a:ext>
            </a:extLst>
          </p:cNvPr>
          <p:cNvSpPr txBox="1">
            <a:spLocks noChangeArrowheads="1"/>
          </p:cNvSpPr>
          <p:nvPr/>
        </p:nvSpPr>
        <p:spPr bwMode="auto">
          <a:xfrm>
            <a:off x="7320136" y="1470507"/>
            <a:ext cx="805481"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850" b="1" i="0" u="none" strike="noStrike" kern="1200" cap="none" spc="0" normalizeH="0" baseline="0" noProof="0" dirty="0">
                <a:ln>
                  <a:noFill/>
                </a:ln>
                <a:solidFill>
                  <a:srgbClr val="344251"/>
                </a:solidFill>
                <a:effectLst/>
                <a:uLnTx/>
                <a:uFillTx/>
                <a:latin typeface="Arial"/>
                <a:ea typeface="Meiryo UI"/>
                <a:cs typeface="+mn-cs"/>
              </a:rPr>
              <a:t>Completion</a:t>
            </a:r>
            <a:r>
              <a:rPr kumimoji="1" lang="ja-JP" altLang="en-US" sz="850" b="1"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850" b="1" i="0" u="none" strike="noStrike" kern="1200" cap="none" spc="0" normalizeH="0" baseline="0" noProof="0" dirty="0">
                <a:ln>
                  <a:noFill/>
                </a:ln>
                <a:solidFill>
                  <a:srgbClr val="344251"/>
                </a:solidFill>
                <a:effectLst/>
                <a:uLnTx/>
                <a:uFillTx/>
                <a:latin typeface="Arial"/>
                <a:ea typeface="Meiryo UI"/>
                <a:cs typeface="+mn-cs"/>
              </a:rPr>
              <a:t>Date</a:t>
            </a:r>
          </a:p>
        </p:txBody>
      </p:sp>
      <p:sp>
        <p:nvSpPr>
          <p:cNvPr id="94" name="Text Box 294">
            <a:extLst>
              <a:ext uri="{FF2B5EF4-FFF2-40B4-BE49-F238E27FC236}">
                <a16:creationId xmlns:a16="http://schemas.microsoft.com/office/drawing/2014/main" id="{DEB09D21-8967-95DE-08E8-F23B9E656CB5}"/>
              </a:ext>
            </a:extLst>
          </p:cNvPr>
          <p:cNvSpPr txBox="1">
            <a:spLocks noChangeArrowheads="1"/>
          </p:cNvSpPr>
          <p:nvPr/>
        </p:nvSpPr>
        <p:spPr bwMode="auto">
          <a:xfrm>
            <a:off x="7320136" y="2103454"/>
            <a:ext cx="790752" cy="58906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Q4 24 </a:t>
            </a:r>
            <a:r>
              <a:rPr kumimoji="1" lang="en-GB" altLang="ja-JP" sz="900" b="0" i="0" u="none" strike="noStrike" kern="1200" cap="none" spc="0" normalizeH="0" baseline="0" noProof="0" dirty="0">
                <a:ln>
                  <a:noFill/>
                </a:ln>
                <a:solidFill>
                  <a:srgbClr val="344251"/>
                </a:solidFill>
                <a:effectLst/>
                <a:uLnTx/>
                <a:uFillTx/>
                <a:latin typeface="Arial"/>
                <a:ea typeface="Meiryo UI"/>
                <a:cs typeface="+mn-cs"/>
              </a:rPr>
              <a:t>→ Q3 FY25 → Q4 FY26</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p:txBody>
      </p:sp>
      <p:sp>
        <p:nvSpPr>
          <p:cNvPr id="95" name="Text Box 294">
            <a:extLst>
              <a:ext uri="{FF2B5EF4-FFF2-40B4-BE49-F238E27FC236}">
                <a16:creationId xmlns:a16="http://schemas.microsoft.com/office/drawing/2014/main" id="{B1A0EB45-7065-C533-EEBD-64537FB00D3F}"/>
              </a:ext>
            </a:extLst>
          </p:cNvPr>
          <p:cNvSpPr txBox="1">
            <a:spLocks noChangeArrowheads="1"/>
          </p:cNvSpPr>
          <p:nvPr/>
        </p:nvSpPr>
        <p:spPr bwMode="auto">
          <a:xfrm>
            <a:off x="7320136" y="3490368"/>
            <a:ext cx="789968" cy="586908"/>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Intro Q1 25 and ongoing</a:t>
            </a:r>
          </a:p>
        </p:txBody>
      </p:sp>
      <p:sp>
        <p:nvSpPr>
          <p:cNvPr id="7" name="タイトル 6">
            <a:extLst>
              <a:ext uri="{FF2B5EF4-FFF2-40B4-BE49-F238E27FC236}">
                <a16:creationId xmlns:a16="http://schemas.microsoft.com/office/drawing/2014/main" id="{AB73D080-BF21-1C4D-E6F1-95842FF1147F}"/>
              </a:ext>
            </a:extLst>
          </p:cNvPr>
          <p:cNvSpPr>
            <a:spLocks noGrp="1"/>
          </p:cNvSpPr>
          <p:nvPr>
            <p:ph type="title"/>
          </p:nvPr>
        </p:nvSpPr>
        <p:spPr/>
        <p:txBody>
          <a:bodyPr/>
          <a:lstStyle/>
          <a:p>
            <a:r>
              <a:rPr lang="en-US" altLang="ja-JP" sz="2400" kern="0" dirty="0">
                <a:solidFill>
                  <a:srgbClr val="344251"/>
                </a:solidFill>
                <a:ea typeface="Meiryo UI" panose="020B0604030504040204" pitchFamily="50" charset="-128"/>
                <a:cs typeface="Calibri" panose="020F0502020204030204" pitchFamily="34" charset="0"/>
              </a:rPr>
              <a:t>Progress Assessment of Mid-Term Tasks and Policies</a:t>
            </a:r>
            <a:r>
              <a:rPr lang="ja-JP" altLang="en-US" sz="2400">
                <a:solidFill>
                  <a:srgbClr val="344251"/>
                </a:solidFill>
                <a:ea typeface="Meiryo UI" panose="020B0604030504040204" pitchFamily="50" charset="-128"/>
              </a:rPr>
              <a:t> </a:t>
            </a:r>
            <a:r>
              <a:rPr lang="en-US" altLang="ja-JP" sz="2400" dirty="0">
                <a:solidFill>
                  <a:srgbClr val="344251"/>
                </a:solidFill>
                <a:ea typeface="Meiryo UI" panose="020B0604030504040204" pitchFamily="50" charset="-128"/>
              </a:rPr>
              <a:t>FY25</a:t>
            </a:r>
            <a:br>
              <a:rPr lang="ja-JP" altLang="en-US" sz="2400">
                <a:solidFill>
                  <a:srgbClr val="344251"/>
                </a:solidFill>
                <a:ea typeface="Meiryo UI" panose="020B0604030504040204" pitchFamily="50" charset="-128"/>
              </a:rPr>
            </a:br>
            <a:endParaRPr lang="ja-JP" altLang="en-US" sz="2400" dirty="0">
              <a:solidFill>
                <a:srgbClr val="344251"/>
              </a:solidFill>
            </a:endParaRPr>
          </a:p>
        </p:txBody>
      </p:sp>
      <p:sp>
        <p:nvSpPr>
          <p:cNvPr id="12" name="Text Box 294">
            <a:extLst>
              <a:ext uri="{FF2B5EF4-FFF2-40B4-BE49-F238E27FC236}">
                <a16:creationId xmlns:a16="http://schemas.microsoft.com/office/drawing/2014/main" id="{5B6E1BD5-FA7B-2C0A-6272-165A62B9BC76}"/>
              </a:ext>
            </a:extLst>
          </p:cNvPr>
          <p:cNvSpPr txBox="1">
            <a:spLocks noChangeArrowheads="1"/>
          </p:cNvSpPr>
          <p:nvPr/>
        </p:nvSpPr>
        <p:spPr bwMode="auto">
          <a:xfrm>
            <a:off x="11295218" y="4191219"/>
            <a:ext cx="576000" cy="533590"/>
          </a:xfrm>
          <a:prstGeom prst="rect">
            <a:avLst/>
          </a:prstGeom>
          <a:solidFill>
            <a:srgbClr val="92D05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3" name="Text Box 294">
            <a:extLst>
              <a:ext uri="{FF2B5EF4-FFF2-40B4-BE49-F238E27FC236}">
                <a16:creationId xmlns:a16="http://schemas.microsoft.com/office/drawing/2014/main" id="{4230861C-F059-191D-6363-23FD95847AC4}"/>
              </a:ext>
            </a:extLst>
          </p:cNvPr>
          <p:cNvSpPr txBox="1">
            <a:spLocks noChangeArrowheads="1"/>
          </p:cNvSpPr>
          <p:nvPr/>
        </p:nvSpPr>
        <p:spPr bwMode="auto">
          <a:xfrm>
            <a:off x="1720579" y="2814362"/>
            <a:ext cx="3783539"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GB"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New Model Launch</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dirty="0">
                <a:ln>
                  <a:noFill/>
                </a:ln>
                <a:solidFill>
                  <a:srgbClr val="344251"/>
                </a:solidFill>
                <a:effectLst/>
                <a:uLnTx/>
                <a:uFillTx/>
                <a:latin typeface="Arial"/>
                <a:ea typeface="Meiryo UI"/>
                <a:cs typeface="+mn-cs"/>
              </a:rPr>
              <a:t>Outline</a:t>
            </a: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GB"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Launch New P700 &amp; VL26 Product Range</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dirty="0">
                <a:ln>
                  <a:noFill/>
                </a:ln>
                <a:solidFill>
                  <a:srgbClr val="344251"/>
                </a:solidFill>
                <a:effectLst/>
                <a:uLnTx/>
                <a:uFillTx/>
                <a:latin typeface="Arial"/>
                <a:ea typeface="Meiryo UI"/>
                <a:cs typeface="+mn-cs"/>
              </a:rPr>
              <a:t>Original</a:t>
            </a:r>
            <a:r>
              <a:rPr kumimoji="1" lang="ja-JP" altLang="en-US" sz="900" b="1"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900" b="1" i="0" u="none" strike="noStrike" kern="1200" cap="none" spc="0" normalizeH="0" baseline="0" noProof="0" dirty="0">
                <a:ln>
                  <a:noFill/>
                </a:ln>
                <a:solidFill>
                  <a:srgbClr val="344251"/>
                </a:solidFill>
                <a:effectLst/>
                <a:uLnTx/>
                <a:uFillTx/>
                <a:latin typeface="Arial"/>
                <a:ea typeface="Meiryo UI"/>
                <a:cs typeface="+mn-cs"/>
              </a:rPr>
              <a:t>Aim</a:t>
            </a: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GB"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Introduce products seamlessly with maximum level of  positive exposure</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p:txBody>
      </p:sp>
      <p:sp>
        <p:nvSpPr>
          <p:cNvPr id="4" name="Text Box 294">
            <a:extLst>
              <a:ext uri="{FF2B5EF4-FFF2-40B4-BE49-F238E27FC236}">
                <a16:creationId xmlns:a16="http://schemas.microsoft.com/office/drawing/2014/main" id="{1D9064B9-01DA-E82D-32E0-2B4BB935F83F}"/>
              </a:ext>
            </a:extLst>
          </p:cNvPr>
          <p:cNvSpPr txBox="1">
            <a:spLocks noChangeArrowheads="1"/>
          </p:cNvSpPr>
          <p:nvPr/>
        </p:nvSpPr>
        <p:spPr bwMode="auto">
          <a:xfrm>
            <a:off x="1715692" y="3504728"/>
            <a:ext cx="3788426"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US"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Increase Vehicle Sales</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dirty="0">
                <a:ln>
                  <a:noFill/>
                </a:ln>
                <a:solidFill>
                  <a:srgbClr val="344251"/>
                </a:solidFill>
                <a:effectLst/>
                <a:uLnTx/>
                <a:uFillTx/>
                <a:latin typeface="Arial"/>
                <a:ea typeface="Meiryo UI"/>
                <a:cs typeface="+mn-cs"/>
              </a:rPr>
              <a:t>Outline</a:t>
            </a: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GB"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Closer focus of Market Sectors utilising ITUK Insights system in conjunction with “</a:t>
            </a:r>
            <a:r>
              <a:rPr kumimoji="1" lang="en-GB" altLang="ja-JP" sz="900" b="0" i="0" u="none" strike="noStrike" kern="1200" cap="none" spc="0" normalizeH="0" baseline="0" noProof="0" dirty="0" err="1">
                <a:ln>
                  <a:noFill/>
                </a:ln>
                <a:solidFill>
                  <a:srgbClr val="344251"/>
                </a:solidFill>
                <a:effectLst/>
                <a:uLnTx/>
                <a:uFillTx/>
                <a:latin typeface="Arial" pitchFamily="34" charset="0"/>
                <a:ea typeface="ＭＳ Ｐゴシック" pitchFamily="50" charset="-128"/>
                <a:cs typeface="+mn-cs"/>
              </a:rPr>
              <a:t>Endole</a:t>
            </a:r>
            <a:r>
              <a:rPr kumimoji="1" lang="en-GB"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 marketing tool </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dirty="0">
                <a:ln>
                  <a:noFill/>
                </a:ln>
                <a:solidFill>
                  <a:srgbClr val="344251"/>
                </a:solidFill>
                <a:effectLst/>
                <a:uLnTx/>
                <a:uFillTx/>
                <a:latin typeface="Arial"/>
                <a:ea typeface="Meiryo UI"/>
                <a:cs typeface="+mn-cs"/>
              </a:rPr>
              <a:t>Original</a:t>
            </a:r>
            <a:r>
              <a:rPr kumimoji="1" lang="ja-JP" altLang="en-US" sz="900" b="1"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900" b="1" i="0" u="none" strike="noStrike" kern="1200" cap="none" spc="0" normalizeH="0" baseline="0" noProof="0" dirty="0">
                <a:ln>
                  <a:noFill/>
                </a:ln>
                <a:solidFill>
                  <a:srgbClr val="344251"/>
                </a:solidFill>
                <a:effectLst/>
                <a:uLnTx/>
                <a:uFillTx/>
                <a:latin typeface="Arial"/>
                <a:ea typeface="Meiryo UI"/>
                <a:cs typeface="+mn-cs"/>
              </a:rPr>
              <a:t>Aim</a:t>
            </a: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GB"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Increase prospect activity within target industry sectors</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p:txBody>
      </p:sp>
      <p:sp>
        <p:nvSpPr>
          <p:cNvPr id="5" name="Text Box 294">
            <a:extLst>
              <a:ext uri="{FF2B5EF4-FFF2-40B4-BE49-F238E27FC236}">
                <a16:creationId xmlns:a16="http://schemas.microsoft.com/office/drawing/2014/main" id="{C20395B7-A111-6DC8-3E05-468A1A5A781F}"/>
              </a:ext>
            </a:extLst>
          </p:cNvPr>
          <p:cNvSpPr txBox="1">
            <a:spLocks noChangeArrowheads="1"/>
          </p:cNvSpPr>
          <p:nvPr/>
        </p:nvSpPr>
        <p:spPr bwMode="auto">
          <a:xfrm>
            <a:off x="1726421" y="4182750"/>
            <a:ext cx="3777697"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US"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Increase Vehicle Sales</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dirty="0">
                <a:ln>
                  <a:noFill/>
                </a:ln>
                <a:solidFill>
                  <a:srgbClr val="344251"/>
                </a:solidFill>
                <a:effectLst/>
                <a:uLnTx/>
                <a:uFillTx/>
                <a:latin typeface="Arial"/>
                <a:ea typeface="Meiryo UI"/>
                <a:cs typeface="+mn-cs"/>
              </a:rPr>
              <a:t>Outline</a:t>
            </a: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GB"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Develop Electronic Dealer Order System</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dirty="0">
                <a:ln>
                  <a:noFill/>
                </a:ln>
                <a:solidFill>
                  <a:srgbClr val="344251"/>
                </a:solidFill>
                <a:effectLst/>
                <a:uLnTx/>
                <a:uFillTx/>
                <a:latin typeface="Arial"/>
                <a:ea typeface="Meiryo UI"/>
                <a:cs typeface="+mn-cs"/>
              </a:rPr>
              <a:t>Original</a:t>
            </a:r>
            <a:r>
              <a:rPr kumimoji="1" lang="ja-JP" altLang="en-US" sz="900" b="1"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900" b="1" i="0" u="none" strike="noStrike" kern="1200" cap="none" spc="0" normalizeH="0" baseline="0" noProof="0" dirty="0">
                <a:ln>
                  <a:noFill/>
                </a:ln>
                <a:solidFill>
                  <a:srgbClr val="344251"/>
                </a:solidFill>
                <a:effectLst/>
                <a:uLnTx/>
                <a:uFillTx/>
                <a:latin typeface="Arial"/>
                <a:ea typeface="Meiryo UI"/>
                <a:cs typeface="+mn-cs"/>
              </a:rPr>
              <a:t>Aim</a:t>
            </a: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GB"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Strengthen </a:t>
            </a:r>
            <a:r>
              <a:rPr kumimoji="1" lang="en-GB"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Terms &amp; Conditions of Sale </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p:txBody>
      </p:sp>
      <p:sp>
        <p:nvSpPr>
          <p:cNvPr id="6" name="Text Box 294">
            <a:extLst>
              <a:ext uri="{FF2B5EF4-FFF2-40B4-BE49-F238E27FC236}">
                <a16:creationId xmlns:a16="http://schemas.microsoft.com/office/drawing/2014/main" id="{6FB70BC2-A5C7-F0F6-BE0B-AAF34E11A488}"/>
              </a:ext>
            </a:extLst>
          </p:cNvPr>
          <p:cNvSpPr txBox="1">
            <a:spLocks noChangeArrowheads="1"/>
          </p:cNvSpPr>
          <p:nvPr/>
        </p:nvSpPr>
        <p:spPr bwMode="auto">
          <a:xfrm>
            <a:off x="1726567" y="4840891"/>
            <a:ext cx="3781850"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US"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Increase Vehicle Sales</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Outline</a:t>
            </a: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GB"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Revise Dealer Registration Rewards process </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Original</a:t>
            </a: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Aim</a:t>
            </a: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GB"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increase Dealer incentive to achieve annual Sales Plan</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p:txBody>
      </p:sp>
      <p:sp>
        <p:nvSpPr>
          <p:cNvPr id="9" name="Text Box 294">
            <a:extLst>
              <a:ext uri="{FF2B5EF4-FFF2-40B4-BE49-F238E27FC236}">
                <a16:creationId xmlns:a16="http://schemas.microsoft.com/office/drawing/2014/main" id="{D1E37132-8012-DFE1-51F5-94C63740E6BB}"/>
              </a:ext>
            </a:extLst>
          </p:cNvPr>
          <p:cNvSpPr txBox="1">
            <a:spLocks noChangeArrowheads="1"/>
          </p:cNvSpPr>
          <p:nvPr/>
        </p:nvSpPr>
        <p:spPr bwMode="auto">
          <a:xfrm>
            <a:off x="1730866" y="5521050"/>
            <a:ext cx="3773252" cy="716262"/>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US"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Enhance Product Offering</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Outline</a:t>
            </a: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GB"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Introduce Connected Solution for All Models</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Original</a:t>
            </a: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Aim</a:t>
            </a:r>
            <a:r>
              <a:rPr kumimoji="1" lang="ja-JP" altLang="en-US" sz="900" b="0" i="0" u="none" strike="noStrike" kern="1200" cap="none" spc="0" normalizeH="0" baseline="0" noProof="0" dirty="0">
                <a:ln>
                  <a:noFill/>
                </a:ln>
                <a:solidFill>
                  <a:srgbClr val="344251"/>
                </a:solidFill>
                <a:effectLst/>
                <a:uLnTx/>
                <a:uFillTx/>
                <a:latin typeface="Arial"/>
                <a:ea typeface="Meiryo UI"/>
                <a:cs typeface="+mn-cs"/>
              </a:rPr>
              <a:t>：</a:t>
            </a:r>
            <a:r>
              <a:rPr kumimoji="1" lang="en-GB"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increase sales by through increased uptime and driver performance visibility/allows  ITUK/IML vital vehicle usage information.</a:t>
            </a:r>
            <a:endParaRPr kumimoji="1" lang="en-US"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p:txBody>
      </p:sp>
      <p:sp>
        <p:nvSpPr>
          <p:cNvPr id="23" name="Text Box 294">
            <a:extLst>
              <a:ext uri="{FF2B5EF4-FFF2-40B4-BE49-F238E27FC236}">
                <a16:creationId xmlns:a16="http://schemas.microsoft.com/office/drawing/2014/main" id="{68E9B365-2FD7-4E28-F544-A4AE0BDC461B}"/>
              </a:ext>
            </a:extLst>
          </p:cNvPr>
          <p:cNvSpPr txBox="1">
            <a:spLocks noChangeArrowheads="1"/>
          </p:cNvSpPr>
          <p:nvPr/>
        </p:nvSpPr>
        <p:spPr bwMode="auto">
          <a:xfrm>
            <a:off x="5569134" y="5521050"/>
            <a:ext cx="1682020" cy="710269"/>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When highly effective, comprehensive &amp;  customer friendly, connected device is seamlessly integrated into all P700  vehicles from launch.</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24" name="Text Box 294">
            <a:extLst>
              <a:ext uri="{FF2B5EF4-FFF2-40B4-BE49-F238E27FC236}">
                <a16:creationId xmlns:a16="http://schemas.microsoft.com/office/drawing/2014/main" id="{A8E6F57D-B6C6-6055-607B-7AFE1DC3E5F6}"/>
              </a:ext>
            </a:extLst>
          </p:cNvPr>
          <p:cNvSpPr txBox="1">
            <a:spLocks noChangeArrowheads="1"/>
          </p:cNvSpPr>
          <p:nvPr/>
        </p:nvSpPr>
        <p:spPr bwMode="auto">
          <a:xfrm>
            <a:off x="7320136" y="5506585"/>
            <a:ext cx="798116" cy="718278"/>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Q1 FY25 </a:t>
            </a:r>
            <a:r>
              <a:rPr kumimoji="1" lang="en-GB" altLang="ja-JP" sz="900" b="0" i="0" u="none" strike="noStrike" kern="1200" cap="none" spc="0" normalizeH="0" baseline="0" noProof="0" dirty="0">
                <a:ln>
                  <a:noFill/>
                </a:ln>
                <a:solidFill>
                  <a:srgbClr val="344251"/>
                </a:solidFill>
                <a:effectLst/>
                <a:uLnTx/>
                <a:uFillTx/>
                <a:latin typeface="Arial" pitchFamily="34" charset="0"/>
                <a:ea typeface="Meiryo UI"/>
                <a:cs typeface="+mn-cs"/>
              </a:rPr>
              <a:t>→ Q2 FY26 at the earliest</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25" name="Text Box 294">
            <a:extLst>
              <a:ext uri="{FF2B5EF4-FFF2-40B4-BE49-F238E27FC236}">
                <a16:creationId xmlns:a16="http://schemas.microsoft.com/office/drawing/2014/main" id="{A8C3096B-0DF4-039B-1990-5021E8017AFC}"/>
              </a:ext>
            </a:extLst>
          </p:cNvPr>
          <p:cNvSpPr txBox="1">
            <a:spLocks noChangeArrowheads="1"/>
          </p:cNvSpPr>
          <p:nvPr/>
        </p:nvSpPr>
        <p:spPr bwMode="auto">
          <a:xfrm>
            <a:off x="8176095" y="5513668"/>
            <a:ext cx="3015882" cy="711195"/>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DTU will not be fitted in Japan until Dec 26. We are requesting supply of DTU 22, if it is compatible with diesel P700, so that we have connected capability from the initial launch date in July</a:t>
            </a:r>
          </a:p>
        </p:txBody>
      </p:sp>
      <p:sp>
        <p:nvSpPr>
          <p:cNvPr id="30" name="Text Box 294">
            <a:extLst>
              <a:ext uri="{FF2B5EF4-FFF2-40B4-BE49-F238E27FC236}">
                <a16:creationId xmlns:a16="http://schemas.microsoft.com/office/drawing/2014/main" id="{766AEDE8-BB0F-8851-1E9D-B62825613FA0}"/>
              </a:ext>
            </a:extLst>
          </p:cNvPr>
          <p:cNvSpPr txBox="1">
            <a:spLocks noChangeArrowheads="1"/>
          </p:cNvSpPr>
          <p:nvPr/>
        </p:nvSpPr>
        <p:spPr bwMode="auto">
          <a:xfrm>
            <a:off x="11295218" y="5513668"/>
            <a:ext cx="576000" cy="703813"/>
          </a:xfrm>
          <a:prstGeom prst="rect">
            <a:avLst/>
          </a:prstGeom>
          <a:solidFill>
            <a:srgbClr val="FFFF0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18" name="Text Box 294">
            <a:extLst>
              <a:ext uri="{FF2B5EF4-FFF2-40B4-BE49-F238E27FC236}">
                <a16:creationId xmlns:a16="http://schemas.microsoft.com/office/drawing/2014/main" id="{E9ABC54C-4E80-D4B4-D4CB-EB7AFD3FDB78}"/>
              </a:ext>
            </a:extLst>
          </p:cNvPr>
          <p:cNvSpPr txBox="1">
            <a:spLocks noChangeArrowheads="1"/>
          </p:cNvSpPr>
          <p:nvPr/>
        </p:nvSpPr>
        <p:spPr bwMode="auto">
          <a:xfrm>
            <a:off x="11279678" y="3487019"/>
            <a:ext cx="576000" cy="590257"/>
          </a:xfrm>
          <a:prstGeom prst="rect">
            <a:avLst/>
          </a:prstGeom>
          <a:solidFill>
            <a:srgbClr val="92D05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344251"/>
              </a:solidFill>
              <a:effectLst/>
              <a:uLnTx/>
              <a:uFillTx/>
              <a:latin typeface="Meiryo UI"/>
              <a:ea typeface="Meiryo UI"/>
              <a:cs typeface="+mn-cs"/>
            </a:endParaRPr>
          </a:p>
        </p:txBody>
      </p:sp>
      <p:sp>
        <p:nvSpPr>
          <p:cNvPr id="31" name="Text Box 294">
            <a:extLst>
              <a:ext uri="{FF2B5EF4-FFF2-40B4-BE49-F238E27FC236}">
                <a16:creationId xmlns:a16="http://schemas.microsoft.com/office/drawing/2014/main" id="{E994F548-1296-73A4-0F1D-CD0BB10930DD}"/>
              </a:ext>
            </a:extLst>
          </p:cNvPr>
          <p:cNvSpPr txBox="1">
            <a:spLocks noChangeArrowheads="1"/>
          </p:cNvSpPr>
          <p:nvPr/>
        </p:nvSpPr>
        <p:spPr bwMode="auto">
          <a:xfrm>
            <a:off x="11295218" y="4831931"/>
            <a:ext cx="576000" cy="585434"/>
          </a:xfrm>
          <a:prstGeom prst="rect">
            <a:avLst/>
          </a:prstGeom>
          <a:solidFill>
            <a:srgbClr val="92D05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10" name="Text Box 294">
            <a:extLst>
              <a:ext uri="{FF2B5EF4-FFF2-40B4-BE49-F238E27FC236}">
                <a16:creationId xmlns:a16="http://schemas.microsoft.com/office/drawing/2014/main" id="{41C58357-BCD1-1DC5-FE74-28BF0D8DAE45}"/>
              </a:ext>
            </a:extLst>
          </p:cNvPr>
          <p:cNvSpPr txBox="1">
            <a:spLocks noChangeArrowheads="1"/>
          </p:cNvSpPr>
          <p:nvPr/>
        </p:nvSpPr>
        <p:spPr bwMode="auto">
          <a:xfrm>
            <a:off x="11279678" y="2116294"/>
            <a:ext cx="576000" cy="565801"/>
          </a:xfrm>
          <a:prstGeom prst="rect">
            <a:avLst/>
          </a:prstGeom>
          <a:solidFill>
            <a:srgbClr val="FFFF0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13" name="Text Box 294">
            <a:extLst>
              <a:ext uri="{FF2B5EF4-FFF2-40B4-BE49-F238E27FC236}">
                <a16:creationId xmlns:a16="http://schemas.microsoft.com/office/drawing/2014/main" id="{12929807-9BA9-CEC9-DD9F-314DEBD0AAC6}"/>
              </a:ext>
            </a:extLst>
          </p:cNvPr>
          <p:cNvSpPr txBox="1">
            <a:spLocks noChangeArrowheads="1"/>
          </p:cNvSpPr>
          <p:nvPr/>
        </p:nvSpPr>
        <p:spPr bwMode="auto">
          <a:xfrm>
            <a:off x="11279678" y="2807275"/>
            <a:ext cx="591540" cy="565801"/>
          </a:xfrm>
          <a:prstGeom prst="rect">
            <a:avLst/>
          </a:prstGeom>
          <a:solidFill>
            <a:srgbClr val="FFFF0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p:txBody>
      </p:sp>
    </p:spTree>
    <p:extLst>
      <p:ext uri="{BB962C8B-B14F-4D97-AF65-F5344CB8AC3E}">
        <p14:creationId xmlns:p14="http://schemas.microsoft.com/office/powerpoint/2010/main" val="1022215714"/>
      </p:ext>
    </p:extLst>
  </p:cSld>
  <p:clrMapOvr>
    <a:masterClrMapping/>
  </p:clrMapOvr>
  <mc:AlternateContent xmlns:mc="http://schemas.openxmlformats.org/markup-compatibility/2006" xmlns:p14="http://schemas.microsoft.com/office/powerpoint/2010/main">
    <mc:Choice Requires="p14">
      <p:transition spd="slow" p14:dur="2000" advTm="28773"/>
    </mc:Choice>
    <mc:Fallback xmlns="">
      <p:transition spd="slow" advTm="2877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4A8F8-5BD3-9AAD-6299-368AFD76FDCF}"/>
            </a:ext>
          </a:extLst>
        </p:cNvPr>
        <p:cNvGrpSpPr/>
        <p:nvPr/>
      </p:nvGrpSpPr>
      <p:grpSpPr>
        <a:xfrm>
          <a:off x="0" y="0"/>
          <a:ext cx="0" cy="0"/>
          <a:chOff x="0" y="0"/>
          <a:chExt cx="0" cy="0"/>
        </a:xfrm>
      </p:grpSpPr>
      <p:sp>
        <p:nvSpPr>
          <p:cNvPr id="8" name="Text Box 294">
            <a:extLst>
              <a:ext uri="{FF2B5EF4-FFF2-40B4-BE49-F238E27FC236}">
                <a16:creationId xmlns:a16="http://schemas.microsoft.com/office/drawing/2014/main" id="{90A0F1EF-1587-9E86-D25A-E6B20AE8600B}"/>
              </a:ext>
            </a:extLst>
          </p:cNvPr>
          <p:cNvSpPr txBox="1">
            <a:spLocks noChangeArrowheads="1"/>
          </p:cNvSpPr>
          <p:nvPr/>
        </p:nvSpPr>
        <p:spPr bwMode="auto">
          <a:xfrm>
            <a:off x="5554928" y="1484374"/>
            <a:ext cx="1704588"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dirty="0">
                <a:ln>
                  <a:noFill/>
                </a:ln>
                <a:solidFill>
                  <a:srgbClr val="344251"/>
                </a:solidFill>
                <a:effectLst/>
                <a:uLnTx/>
                <a:uFillTx/>
                <a:latin typeface="Arial"/>
                <a:ea typeface="Meiryo UI"/>
                <a:cs typeface="+mn-cs"/>
              </a:rPr>
              <a:t>KPI</a:t>
            </a:r>
          </a:p>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dirty="0">
                <a:ln>
                  <a:noFill/>
                </a:ln>
                <a:solidFill>
                  <a:srgbClr val="344251"/>
                </a:solidFill>
                <a:effectLst/>
                <a:uLnTx/>
                <a:uFillTx/>
                <a:latin typeface="Arial"/>
                <a:ea typeface="Meiryo UI"/>
                <a:cs typeface="+mn-cs"/>
              </a:rPr>
              <a:t>(Closing</a:t>
            </a:r>
            <a:r>
              <a:rPr kumimoji="1" lang="ja-JP" altLang="en-US" sz="800" b="1"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800" b="1" i="0" u="none" strike="noStrike" kern="1200" cap="none" spc="0" normalizeH="0" baseline="0" noProof="0" dirty="0">
                <a:ln>
                  <a:noFill/>
                </a:ln>
                <a:solidFill>
                  <a:srgbClr val="344251"/>
                </a:solidFill>
                <a:effectLst/>
                <a:uLnTx/>
                <a:uFillTx/>
                <a:latin typeface="Arial"/>
                <a:ea typeface="Meiryo UI"/>
                <a:cs typeface="+mn-cs"/>
              </a:rPr>
              <a:t>Conditions)</a:t>
            </a:r>
          </a:p>
        </p:txBody>
      </p:sp>
      <p:sp>
        <p:nvSpPr>
          <p:cNvPr id="11" name="Text Box 294">
            <a:extLst>
              <a:ext uri="{FF2B5EF4-FFF2-40B4-BE49-F238E27FC236}">
                <a16:creationId xmlns:a16="http://schemas.microsoft.com/office/drawing/2014/main" id="{71CCA456-22DD-42F1-CC27-CA5CBE887FBC}"/>
              </a:ext>
            </a:extLst>
          </p:cNvPr>
          <p:cNvSpPr txBox="1">
            <a:spLocks noChangeArrowheads="1"/>
          </p:cNvSpPr>
          <p:nvPr/>
        </p:nvSpPr>
        <p:spPr bwMode="auto">
          <a:xfrm>
            <a:off x="5554928" y="2108952"/>
            <a:ext cx="1704588" cy="576222"/>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Dealer and Fleet Customer prices are increased annually but planned sales volumes are achieved each year</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14" name="Text Box 294">
            <a:extLst>
              <a:ext uri="{FF2B5EF4-FFF2-40B4-BE49-F238E27FC236}">
                <a16:creationId xmlns:a16="http://schemas.microsoft.com/office/drawing/2014/main" id="{6B1A3967-681B-19D6-6C78-75564FCBDA3B}"/>
              </a:ext>
            </a:extLst>
          </p:cNvPr>
          <p:cNvSpPr txBox="1">
            <a:spLocks noChangeArrowheads="1"/>
          </p:cNvSpPr>
          <p:nvPr/>
        </p:nvSpPr>
        <p:spPr bwMode="auto">
          <a:xfrm>
            <a:off x="5576912" y="2807275"/>
            <a:ext cx="1672101" cy="583561"/>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Increase Dealer stock supply level &amp; speedy registration : Deliver improved value for ITUK support budget</a:t>
            </a:r>
          </a:p>
        </p:txBody>
      </p:sp>
      <p:sp>
        <p:nvSpPr>
          <p:cNvPr id="19" name="Text Box 294">
            <a:extLst>
              <a:ext uri="{FF2B5EF4-FFF2-40B4-BE49-F238E27FC236}">
                <a16:creationId xmlns:a16="http://schemas.microsoft.com/office/drawing/2014/main" id="{8690E447-45ED-0DD4-08D6-E8B85DF29580}"/>
              </a:ext>
            </a:extLst>
          </p:cNvPr>
          <p:cNvSpPr txBox="1">
            <a:spLocks noChangeArrowheads="1"/>
          </p:cNvSpPr>
          <p:nvPr/>
        </p:nvSpPr>
        <p:spPr bwMode="auto">
          <a:xfrm>
            <a:off x="5577115" y="3504727"/>
            <a:ext cx="1671898" cy="576475"/>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Try to Improve Port of Entry efficiency for faster chassis  movement to body builder &amp; increased Dealer visibility</a:t>
            </a:r>
          </a:p>
        </p:txBody>
      </p:sp>
      <p:sp>
        <p:nvSpPr>
          <p:cNvPr id="20" name="Text Box 294">
            <a:extLst>
              <a:ext uri="{FF2B5EF4-FFF2-40B4-BE49-F238E27FC236}">
                <a16:creationId xmlns:a16="http://schemas.microsoft.com/office/drawing/2014/main" id="{7861C31B-D877-55AA-3F98-81A3C354CDF3}"/>
              </a:ext>
            </a:extLst>
          </p:cNvPr>
          <p:cNvSpPr txBox="1">
            <a:spLocks noChangeArrowheads="1"/>
          </p:cNvSpPr>
          <p:nvPr/>
        </p:nvSpPr>
        <p:spPr bwMode="auto">
          <a:xfrm>
            <a:off x="5562289" y="4199225"/>
            <a:ext cx="1688865" cy="559999"/>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Targeted 3</a:t>
            </a:r>
            <a:r>
              <a:rPr kumimoji="1" lang="en-US" sz="900" b="0" i="0" u="none" strike="noStrike" kern="1200" cap="none" spc="0" normalizeH="0" baseline="30000" noProof="0">
                <a:ln>
                  <a:noFill/>
                </a:ln>
                <a:solidFill>
                  <a:srgbClr val="344251"/>
                </a:solidFill>
                <a:effectLst/>
                <a:uLnTx/>
                <a:uFillTx/>
                <a:latin typeface="Arial" pitchFamily="34" charset="0"/>
                <a:ea typeface="ＭＳ Ｐゴシック" pitchFamily="50" charset="-128"/>
                <a:cs typeface="+mn-cs"/>
              </a:rPr>
              <a:t>rd</a:t>
            </a: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party repairers are identified and offered use of online facility with parts sales discount matrix</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21" name="Text Box 294">
            <a:extLst>
              <a:ext uri="{FF2B5EF4-FFF2-40B4-BE49-F238E27FC236}">
                <a16:creationId xmlns:a16="http://schemas.microsoft.com/office/drawing/2014/main" id="{5CF3D665-8268-4D67-AA33-9EF3110BBF6E}"/>
              </a:ext>
            </a:extLst>
          </p:cNvPr>
          <p:cNvSpPr txBox="1">
            <a:spLocks noChangeArrowheads="1"/>
          </p:cNvSpPr>
          <p:nvPr/>
        </p:nvSpPr>
        <p:spPr bwMode="auto">
          <a:xfrm>
            <a:off x="5554928" y="4831931"/>
            <a:ext cx="1704588" cy="604746"/>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More Customers regard monthly R&amp;M Contract Charge as value for money - ITUK margins increase</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26" name="Text Box 294">
            <a:extLst>
              <a:ext uri="{FF2B5EF4-FFF2-40B4-BE49-F238E27FC236}">
                <a16:creationId xmlns:a16="http://schemas.microsoft.com/office/drawing/2014/main" id="{F1ECBEBD-7735-0A17-DBB7-CC531CAA66A7}"/>
              </a:ext>
            </a:extLst>
          </p:cNvPr>
          <p:cNvSpPr txBox="1">
            <a:spLocks noChangeArrowheads="1"/>
          </p:cNvSpPr>
          <p:nvPr/>
        </p:nvSpPr>
        <p:spPr bwMode="auto">
          <a:xfrm>
            <a:off x="335360" y="1472471"/>
            <a:ext cx="1300799"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dirty="0">
                <a:ln>
                  <a:noFill/>
                </a:ln>
                <a:solidFill>
                  <a:srgbClr val="344251"/>
                </a:solidFill>
                <a:effectLst/>
                <a:uLnTx/>
                <a:uFillTx/>
                <a:latin typeface="Arial"/>
                <a:ea typeface="Meiryo UI"/>
                <a:cs typeface="+mn-cs"/>
              </a:rPr>
              <a:t>Policies &amp; Tasks</a:t>
            </a:r>
          </a:p>
        </p:txBody>
      </p:sp>
      <p:sp>
        <p:nvSpPr>
          <p:cNvPr id="27" name="Text Box 294">
            <a:extLst>
              <a:ext uri="{FF2B5EF4-FFF2-40B4-BE49-F238E27FC236}">
                <a16:creationId xmlns:a16="http://schemas.microsoft.com/office/drawing/2014/main" id="{177F86A3-CA55-CE65-34A5-A5084991793E}"/>
              </a:ext>
            </a:extLst>
          </p:cNvPr>
          <p:cNvSpPr txBox="1">
            <a:spLocks noChangeArrowheads="1"/>
          </p:cNvSpPr>
          <p:nvPr/>
        </p:nvSpPr>
        <p:spPr bwMode="auto">
          <a:xfrm>
            <a:off x="335361" y="961413"/>
            <a:ext cx="1300798" cy="43311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477" b="1" i="0" u="none" strike="noStrike" kern="1200" cap="none" spc="0" normalizeH="0" baseline="0" noProof="0" dirty="0">
                <a:ln>
                  <a:noFill/>
                </a:ln>
                <a:solidFill>
                  <a:srgbClr val="344251"/>
                </a:solidFill>
                <a:effectLst/>
                <a:uLnTx/>
                <a:uFillTx/>
                <a:latin typeface="Arial"/>
                <a:ea typeface="Meiryo UI"/>
                <a:cs typeface="+mn-cs"/>
              </a:rPr>
              <a:t>Major</a:t>
            </a:r>
            <a:r>
              <a:rPr kumimoji="1" lang="ja-JP" altLang="en-US" sz="1477" b="1"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1477" b="1" i="0" u="none" strike="noStrike" kern="1200" cap="none" spc="0" normalizeH="0" baseline="0" noProof="0" dirty="0">
                <a:ln>
                  <a:noFill/>
                </a:ln>
                <a:solidFill>
                  <a:srgbClr val="344251"/>
                </a:solidFill>
                <a:effectLst/>
                <a:uLnTx/>
                <a:uFillTx/>
                <a:latin typeface="Arial"/>
                <a:ea typeface="Meiryo UI"/>
                <a:cs typeface="+mn-cs"/>
              </a:rPr>
              <a:t>Policy</a:t>
            </a:r>
          </a:p>
        </p:txBody>
      </p:sp>
      <p:sp>
        <p:nvSpPr>
          <p:cNvPr id="28" name="Text Box 294">
            <a:extLst>
              <a:ext uri="{FF2B5EF4-FFF2-40B4-BE49-F238E27FC236}">
                <a16:creationId xmlns:a16="http://schemas.microsoft.com/office/drawing/2014/main" id="{8DAD1B40-4FC4-779B-6AE9-D97F11EA5DD6}"/>
              </a:ext>
            </a:extLst>
          </p:cNvPr>
          <p:cNvSpPr txBox="1">
            <a:spLocks noChangeArrowheads="1"/>
          </p:cNvSpPr>
          <p:nvPr/>
        </p:nvSpPr>
        <p:spPr bwMode="auto">
          <a:xfrm>
            <a:off x="1726421" y="961413"/>
            <a:ext cx="9486835" cy="433114"/>
          </a:xfrm>
          <a:prstGeom prst="rect">
            <a:avLst/>
          </a:prstGeom>
          <a:solidFill>
            <a:schemeClr val="bg1"/>
          </a:solidFill>
          <a:ln w="9525">
            <a:solidFill>
              <a:schemeClr val="tx1">
                <a:lumMod val="50000"/>
                <a:lumOff val="50000"/>
              </a:schemeClr>
            </a:solidFill>
            <a:miter lim="800000"/>
            <a:headEnd/>
            <a:tailEnd/>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1292" b="1" i="0" u="none" strike="noStrike" kern="1200" cap="none" spc="0" normalizeH="0" baseline="0" noProof="0" dirty="0">
                <a:ln>
                  <a:noFill/>
                </a:ln>
                <a:solidFill>
                  <a:srgbClr val="344251"/>
                </a:solidFill>
                <a:effectLst/>
                <a:uLnTx/>
                <a:uFillTx/>
                <a:latin typeface="Meiryo UI"/>
                <a:ea typeface="Meiryo UI"/>
                <a:cs typeface="+mn-cs"/>
              </a:rPr>
              <a:t>Strengthen Margin - Increase Profit </a:t>
            </a:r>
          </a:p>
        </p:txBody>
      </p:sp>
      <p:sp>
        <p:nvSpPr>
          <p:cNvPr id="29" name="Text Box 294">
            <a:extLst>
              <a:ext uri="{FF2B5EF4-FFF2-40B4-BE49-F238E27FC236}">
                <a16:creationId xmlns:a16="http://schemas.microsoft.com/office/drawing/2014/main" id="{9378CA4D-8953-731E-1828-5A8F11AC014E}"/>
              </a:ext>
            </a:extLst>
          </p:cNvPr>
          <p:cNvSpPr txBox="1">
            <a:spLocks noChangeArrowheads="1"/>
          </p:cNvSpPr>
          <p:nvPr/>
        </p:nvSpPr>
        <p:spPr bwMode="auto">
          <a:xfrm>
            <a:off x="335360" y="2103453"/>
            <a:ext cx="1300799" cy="1977749"/>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0" fontAlgn="auto" latinLnBrk="0" hangingPunct="0">
              <a:lnSpc>
                <a:spcPct val="100000"/>
              </a:lnSpc>
              <a:spcBef>
                <a:spcPct val="20000"/>
              </a:spcBef>
              <a:spcAft>
                <a:spcPts val="0"/>
              </a:spcAft>
              <a:buClrTx/>
              <a:buSzTx/>
              <a:buFontTx/>
              <a:buNone/>
              <a:tabLst/>
              <a:defRPr/>
            </a:pPr>
            <a:r>
              <a:rPr kumimoji="1" lang="en-US" sz="16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Sales &amp; Marketing</a:t>
            </a:r>
            <a:endParaRPr kumimoji="1" lang="en-US" sz="16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32" name="Text Box 294">
            <a:extLst>
              <a:ext uri="{FF2B5EF4-FFF2-40B4-BE49-F238E27FC236}">
                <a16:creationId xmlns:a16="http://schemas.microsoft.com/office/drawing/2014/main" id="{A6486674-8906-EADB-1613-98CC13FFEF70}"/>
              </a:ext>
            </a:extLst>
          </p:cNvPr>
          <p:cNvSpPr txBox="1">
            <a:spLocks noChangeArrowheads="1"/>
          </p:cNvSpPr>
          <p:nvPr/>
        </p:nvSpPr>
        <p:spPr bwMode="auto">
          <a:xfrm>
            <a:off x="1720579" y="1472471"/>
            <a:ext cx="3783539"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344251"/>
                </a:solidFill>
                <a:effectLst/>
                <a:uLnTx/>
                <a:uFillTx/>
                <a:latin typeface="Arial"/>
                <a:ea typeface="Meiryo UI"/>
                <a:cs typeface="+mn-cs"/>
              </a:rPr>
              <a:t>●</a:t>
            </a:r>
            <a:r>
              <a:rPr kumimoji="1" lang="en-US" altLang="ja-JP" sz="1200" b="1" i="0" u="none" strike="noStrike" kern="1200" cap="none" spc="0" normalizeH="0" baseline="0" noProof="0">
                <a:ln>
                  <a:noFill/>
                </a:ln>
                <a:solidFill>
                  <a:srgbClr val="344251"/>
                </a:solidFill>
                <a:effectLst/>
                <a:uLnTx/>
                <a:uFillTx/>
                <a:latin typeface="Arial"/>
                <a:ea typeface="Meiryo UI"/>
                <a:cs typeface="+mn-cs"/>
              </a:rPr>
              <a:t>Priority</a:t>
            </a:r>
            <a:r>
              <a:rPr kumimoji="1" lang="ja-JP" altLang="en-US" sz="1200" b="1" i="0" u="none" strike="noStrike" kern="1200" cap="none" spc="0" normalizeH="0" baseline="0" noProof="0">
                <a:ln>
                  <a:noFill/>
                </a:ln>
                <a:solidFill>
                  <a:srgbClr val="344251"/>
                </a:solidFill>
                <a:effectLst/>
                <a:uLnTx/>
                <a:uFillTx/>
                <a:latin typeface="Arial"/>
                <a:ea typeface="Meiryo UI"/>
                <a:cs typeface="+mn-cs"/>
              </a:rPr>
              <a:t> </a:t>
            </a:r>
            <a:r>
              <a:rPr kumimoji="1" lang="en-US" altLang="ja-JP" sz="1200" b="1" i="0" u="none" strike="noStrike" kern="1200" cap="none" spc="0" normalizeH="0" baseline="0" noProof="0">
                <a:ln>
                  <a:noFill/>
                </a:ln>
                <a:solidFill>
                  <a:srgbClr val="344251"/>
                </a:solidFill>
                <a:effectLst/>
                <a:uLnTx/>
                <a:uFillTx/>
                <a:latin typeface="Arial"/>
                <a:ea typeface="Meiryo UI"/>
                <a:cs typeface="+mn-cs"/>
              </a:rPr>
              <a:t>Measures</a:t>
            </a:r>
          </a:p>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344251"/>
                </a:solidFill>
                <a:effectLst/>
                <a:uLnTx/>
                <a:uFillTx/>
                <a:latin typeface="Arial"/>
                <a:ea typeface="Meiryo UI"/>
                <a:cs typeface="+mn-cs"/>
              </a:rPr>
              <a:t>Outline(Methods/Strategies)</a:t>
            </a:r>
          </a:p>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344251"/>
                </a:solidFill>
                <a:effectLst/>
                <a:uLnTx/>
                <a:uFillTx/>
                <a:latin typeface="Arial"/>
                <a:ea typeface="Meiryo UI"/>
                <a:cs typeface="+mn-cs"/>
              </a:rPr>
              <a:t>Original Aim</a:t>
            </a:r>
          </a:p>
        </p:txBody>
      </p:sp>
      <p:sp>
        <p:nvSpPr>
          <p:cNvPr id="33" name="Text Box 294">
            <a:extLst>
              <a:ext uri="{FF2B5EF4-FFF2-40B4-BE49-F238E27FC236}">
                <a16:creationId xmlns:a16="http://schemas.microsoft.com/office/drawing/2014/main" id="{D4954440-33D2-E3B5-EAD2-63BDB1F5C412}"/>
              </a:ext>
            </a:extLst>
          </p:cNvPr>
          <p:cNvSpPr txBox="1">
            <a:spLocks noChangeArrowheads="1"/>
          </p:cNvSpPr>
          <p:nvPr/>
        </p:nvSpPr>
        <p:spPr bwMode="auto">
          <a:xfrm>
            <a:off x="1720579" y="2108699"/>
            <a:ext cx="3783539"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Sales Pricing</a:t>
            </a:r>
          </a:p>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Annual increase of all Outbound Vehicle Sales Pricing, above IML additional cost</a:t>
            </a:r>
            <a:endPar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Achieve increased gross profit, per chassis, throughout Mid-Term</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34" name="Text Box 294">
            <a:extLst>
              <a:ext uri="{FF2B5EF4-FFF2-40B4-BE49-F238E27FC236}">
                <a16:creationId xmlns:a16="http://schemas.microsoft.com/office/drawing/2014/main" id="{640C1193-2BE7-6610-E1C6-4287335D032B}"/>
              </a:ext>
            </a:extLst>
          </p:cNvPr>
          <p:cNvSpPr txBox="1">
            <a:spLocks noChangeArrowheads="1"/>
          </p:cNvSpPr>
          <p:nvPr/>
        </p:nvSpPr>
        <p:spPr bwMode="auto">
          <a:xfrm>
            <a:off x="8186237" y="1469877"/>
            <a:ext cx="2985796"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344251"/>
                </a:solidFill>
                <a:effectLst/>
                <a:uLnTx/>
                <a:uFillTx/>
                <a:latin typeface="Arial"/>
                <a:ea typeface="Meiryo UI"/>
                <a:cs typeface="+mn-cs"/>
              </a:rPr>
              <a:t>Progress</a:t>
            </a:r>
          </a:p>
        </p:txBody>
      </p:sp>
      <p:sp>
        <p:nvSpPr>
          <p:cNvPr id="61" name="Text Box 294">
            <a:extLst>
              <a:ext uri="{FF2B5EF4-FFF2-40B4-BE49-F238E27FC236}">
                <a16:creationId xmlns:a16="http://schemas.microsoft.com/office/drawing/2014/main" id="{C4629481-B03F-D9D2-D461-23463510EC93}"/>
              </a:ext>
            </a:extLst>
          </p:cNvPr>
          <p:cNvSpPr txBox="1">
            <a:spLocks noChangeArrowheads="1"/>
          </p:cNvSpPr>
          <p:nvPr/>
        </p:nvSpPr>
        <p:spPr bwMode="auto">
          <a:xfrm>
            <a:off x="8165954" y="2116294"/>
            <a:ext cx="3016221" cy="576223"/>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Chassis Pricing increased as planned each year and  2026 price increase will be for new P700 model </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67" name="Text Box 294">
            <a:extLst>
              <a:ext uri="{FF2B5EF4-FFF2-40B4-BE49-F238E27FC236}">
                <a16:creationId xmlns:a16="http://schemas.microsoft.com/office/drawing/2014/main" id="{1EE81DC1-E7B5-49E3-BA40-7447DE49D6E1}"/>
              </a:ext>
            </a:extLst>
          </p:cNvPr>
          <p:cNvSpPr txBox="1">
            <a:spLocks noChangeArrowheads="1"/>
          </p:cNvSpPr>
          <p:nvPr/>
        </p:nvSpPr>
        <p:spPr bwMode="auto">
          <a:xfrm>
            <a:off x="11280640" y="1481081"/>
            <a:ext cx="576000"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err="1">
                <a:ln>
                  <a:noFill/>
                </a:ln>
                <a:solidFill>
                  <a:srgbClr val="344251"/>
                </a:solidFill>
                <a:effectLst/>
                <a:uLnTx/>
                <a:uFillTx/>
                <a:latin typeface="Arial"/>
                <a:ea typeface="Meiryo UI"/>
                <a:cs typeface="+mn-cs"/>
              </a:rPr>
              <a:t>Assmt</a:t>
            </a:r>
            <a:r>
              <a:rPr kumimoji="1" lang="en-US" altLang="ja-JP" sz="900" b="1" i="0" u="none" strike="noStrike" kern="1200" cap="none" spc="0" normalizeH="0" baseline="0" noProof="0">
                <a:ln>
                  <a:noFill/>
                </a:ln>
                <a:solidFill>
                  <a:srgbClr val="344251"/>
                </a:solidFill>
                <a:effectLst/>
                <a:uLnTx/>
                <a:uFillTx/>
                <a:latin typeface="Arial"/>
                <a:ea typeface="Meiryo UI"/>
                <a:cs typeface="+mn-cs"/>
              </a:rPr>
              <a:t>.</a:t>
            </a:r>
          </a:p>
        </p:txBody>
      </p:sp>
      <p:sp>
        <p:nvSpPr>
          <p:cNvPr id="80" name="Text Box 294">
            <a:extLst>
              <a:ext uri="{FF2B5EF4-FFF2-40B4-BE49-F238E27FC236}">
                <a16:creationId xmlns:a16="http://schemas.microsoft.com/office/drawing/2014/main" id="{311B7495-56DC-5C5D-BFB1-D26E8636F396}"/>
              </a:ext>
            </a:extLst>
          </p:cNvPr>
          <p:cNvSpPr txBox="1">
            <a:spLocks noChangeArrowheads="1"/>
          </p:cNvSpPr>
          <p:nvPr/>
        </p:nvSpPr>
        <p:spPr bwMode="auto">
          <a:xfrm>
            <a:off x="8165954" y="2796465"/>
            <a:ext cx="3006079" cy="594372"/>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Review completed on time but contract negotiations, to appoint chosen additional supplier, took longer than planned but now completed.</a:t>
            </a:r>
          </a:p>
        </p:txBody>
      </p:sp>
      <p:sp>
        <p:nvSpPr>
          <p:cNvPr id="81" name="Text Box 294">
            <a:extLst>
              <a:ext uri="{FF2B5EF4-FFF2-40B4-BE49-F238E27FC236}">
                <a16:creationId xmlns:a16="http://schemas.microsoft.com/office/drawing/2014/main" id="{6EBF7E2A-7104-129F-3E65-E0E3142AB593}"/>
              </a:ext>
            </a:extLst>
          </p:cNvPr>
          <p:cNvSpPr txBox="1">
            <a:spLocks noChangeArrowheads="1"/>
          </p:cNvSpPr>
          <p:nvPr/>
        </p:nvSpPr>
        <p:spPr bwMode="auto">
          <a:xfrm>
            <a:off x="335360" y="5521050"/>
            <a:ext cx="1300799"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344251"/>
                </a:solidFill>
                <a:effectLst/>
                <a:uLnTx/>
                <a:uFillTx/>
                <a:latin typeface="Arial" pitchFamily="34" charset="0"/>
                <a:ea typeface="Meiryo UI"/>
                <a:cs typeface="+mn-cs"/>
              </a:rPr>
              <a:t>Finance</a:t>
            </a:r>
            <a:endParaRPr kumimoji="1" lang="en-US" altLang="ja-JP" sz="16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83" name="Text Box 294">
            <a:extLst>
              <a:ext uri="{FF2B5EF4-FFF2-40B4-BE49-F238E27FC236}">
                <a16:creationId xmlns:a16="http://schemas.microsoft.com/office/drawing/2014/main" id="{59E682A2-B3B1-51CA-40CD-67BA1D91FD57}"/>
              </a:ext>
            </a:extLst>
          </p:cNvPr>
          <p:cNvSpPr txBox="1">
            <a:spLocks noChangeArrowheads="1"/>
          </p:cNvSpPr>
          <p:nvPr/>
        </p:nvSpPr>
        <p:spPr bwMode="auto">
          <a:xfrm>
            <a:off x="8165954" y="3501444"/>
            <a:ext cx="3016221" cy="579758"/>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Review completed on time, easily achievable </a:t>
            </a:r>
            <a:r>
              <a:rPr lang="en-US" altLang="ja-JP" sz="900" dirty="0">
                <a:solidFill>
                  <a:srgbClr val="344251"/>
                </a:solidFill>
                <a:latin typeface="Arial"/>
                <a:ea typeface="Meiryo UI"/>
              </a:rPr>
              <a:t>improvement actions implemented, with further enhancements planned in line with DMS upgrade  </a:t>
            </a: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 </a:t>
            </a:r>
          </a:p>
        </p:txBody>
      </p:sp>
      <p:sp>
        <p:nvSpPr>
          <p:cNvPr id="86" name="Text Box 294">
            <a:extLst>
              <a:ext uri="{FF2B5EF4-FFF2-40B4-BE49-F238E27FC236}">
                <a16:creationId xmlns:a16="http://schemas.microsoft.com/office/drawing/2014/main" id="{E777ABA6-0FC6-AE41-E5FB-1747D2D2E36B}"/>
              </a:ext>
            </a:extLst>
          </p:cNvPr>
          <p:cNvSpPr txBox="1">
            <a:spLocks noChangeArrowheads="1"/>
          </p:cNvSpPr>
          <p:nvPr/>
        </p:nvSpPr>
        <p:spPr bwMode="auto">
          <a:xfrm>
            <a:off x="8186237" y="4194610"/>
            <a:ext cx="2995938" cy="538760"/>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Delayed due to issues with E-Commerce system access, initially from IML until Q3 FY25, and now supplier having image download difficulties.</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88" name="Text Box 294">
            <a:extLst>
              <a:ext uri="{FF2B5EF4-FFF2-40B4-BE49-F238E27FC236}">
                <a16:creationId xmlns:a16="http://schemas.microsoft.com/office/drawing/2014/main" id="{407FD8A1-9A37-A492-6589-138A35BD7DC9}"/>
              </a:ext>
            </a:extLst>
          </p:cNvPr>
          <p:cNvSpPr txBox="1">
            <a:spLocks noChangeArrowheads="1"/>
          </p:cNvSpPr>
          <p:nvPr/>
        </p:nvSpPr>
        <p:spPr bwMode="auto">
          <a:xfrm>
            <a:off x="8180684" y="4841876"/>
            <a:ext cx="3016221" cy="576475"/>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pitchFamily="34" charset="0"/>
                <a:ea typeface="Meiryo UI"/>
                <a:cs typeface="+mn-cs"/>
              </a:rPr>
              <a:t>Completed on time with number of BVP parts usage slightly increased where available </a:t>
            </a:r>
          </a:p>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900" b="0" i="0" u="none" strike="noStrike" kern="1200" cap="none" spc="0" normalizeH="0" baseline="0" noProof="0" dirty="0">
              <a:ln>
                <a:noFill/>
              </a:ln>
              <a:solidFill>
                <a:srgbClr val="344251"/>
              </a:solidFill>
              <a:effectLst/>
              <a:uLnTx/>
              <a:uFillTx/>
              <a:latin typeface="Arial" pitchFamily="34" charset="0"/>
              <a:ea typeface="Meiryo UI"/>
              <a:cs typeface="+mn-cs"/>
            </a:endParaRPr>
          </a:p>
        </p:txBody>
      </p:sp>
      <p:sp>
        <p:nvSpPr>
          <p:cNvPr id="90" name="Text Box 294">
            <a:extLst>
              <a:ext uri="{FF2B5EF4-FFF2-40B4-BE49-F238E27FC236}">
                <a16:creationId xmlns:a16="http://schemas.microsoft.com/office/drawing/2014/main" id="{89AC3648-A680-1CA6-4BD3-7ADFCCFBCDE0}"/>
              </a:ext>
            </a:extLst>
          </p:cNvPr>
          <p:cNvSpPr txBox="1">
            <a:spLocks noChangeArrowheads="1"/>
          </p:cNvSpPr>
          <p:nvPr/>
        </p:nvSpPr>
        <p:spPr bwMode="auto">
          <a:xfrm>
            <a:off x="7327498" y="4194610"/>
            <a:ext cx="789969" cy="542009"/>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Q1 2025 </a:t>
            </a:r>
            <a:r>
              <a:rPr kumimoji="1" lang="en-GB" altLang="ja-JP" sz="900" b="0" i="0" u="none" strike="noStrike" kern="1200" cap="none" spc="0" normalizeH="0" baseline="0" noProof="0" dirty="0">
                <a:ln>
                  <a:noFill/>
                </a:ln>
                <a:solidFill>
                  <a:srgbClr val="344251"/>
                </a:solidFill>
                <a:effectLst/>
                <a:uLnTx/>
                <a:uFillTx/>
                <a:latin typeface="Arial" pitchFamily="34" charset="0"/>
                <a:ea typeface="Meiryo UI"/>
                <a:cs typeface="+mn-cs"/>
              </a:rPr>
              <a:t>→ Q3 2026</a:t>
            </a: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 </a:t>
            </a: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p:txBody>
      </p:sp>
      <p:sp>
        <p:nvSpPr>
          <p:cNvPr id="91" name="Text Box 294">
            <a:extLst>
              <a:ext uri="{FF2B5EF4-FFF2-40B4-BE49-F238E27FC236}">
                <a16:creationId xmlns:a16="http://schemas.microsoft.com/office/drawing/2014/main" id="{E9AD41DA-7CEE-A375-5B53-D8E78600C512}"/>
              </a:ext>
            </a:extLst>
          </p:cNvPr>
          <p:cNvSpPr txBox="1">
            <a:spLocks noChangeArrowheads="1"/>
          </p:cNvSpPr>
          <p:nvPr/>
        </p:nvSpPr>
        <p:spPr bwMode="auto">
          <a:xfrm>
            <a:off x="7327497" y="4831931"/>
            <a:ext cx="783931" cy="604746"/>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Q1 FY25 </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92" name="Text Box 294">
            <a:extLst>
              <a:ext uri="{FF2B5EF4-FFF2-40B4-BE49-F238E27FC236}">
                <a16:creationId xmlns:a16="http://schemas.microsoft.com/office/drawing/2014/main" id="{4E6605D3-532C-62F0-52FB-7FF6B4520BF7}"/>
              </a:ext>
            </a:extLst>
          </p:cNvPr>
          <p:cNvSpPr txBox="1">
            <a:spLocks noChangeArrowheads="1"/>
          </p:cNvSpPr>
          <p:nvPr/>
        </p:nvSpPr>
        <p:spPr bwMode="auto">
          <a:xfrm>
            <a:off x="7320136" y="2798835"/>
            <a:ext cx="798116" cy="583561"/>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End Q4 2024 </a:t>
            </a:r>
            <a:r>
              <a:rPr kumimoji="1" lang="en-GB" altLang="ja-JP" sz="900" b="0" i="0" u="none" strike="noStrike" kern="1200" cap="none" spc="0" normalizeH="0" baseline="0" noProof="0" dirty="0">
                <a:ln>
                  <a:noFill/>
                </a:ln>
                <a:solidFill>
                  <a:srgbClr val="344251"/>
                </a:solidFill>
                <a:effectLst/>
                <a:uLnTx/>
                <a:uFillTx/>
                <a:latin typeface="Arial" pitchFamily="34" charset="0"/>
                <a:ea typeface="Meiryo UI"/>
                <a:cs typeface="+mn-cs"/>
              </a:rPr>
              <a:t>→ Q4 2025</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93" name="Text Box 294">
            <a:extLst>
              <a:ext uri="{FF2B5EF4-FFF2-40B4-BE49-F238E27FC236}">
                <a16:creationId xmlns:a16="http://schemas.microsoft.com/office/drawing/2014/main" id="{B9BBC81C-6FFE-E24F-3D65-531E49AAADA5}"/>
              </a:ext>
            </a:extLst>
          </p:cNvPr>
          <p:cNvSpPr txBox="1">
            <a:spLocks noChangeArrowheads="1"/>
          </p:cNvSpPr>
          <p:nvPr/>
        </p:nvSpPr>
        <p:spPr bwMode="auto">
          <a:xfrm>
            <a:off x="7320136" y="1470507"/>
            <a:ext cx="805481"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850" b="1" i="0" u="none" strike="noStrike" kern="1200" cap="none" spc="0" normalizeH="0" baseline="0" noProof="0" dirty="0">
                <a:ln>
                  <a:noFill/>
                </a:ln>
                <a:solidFill>
                  <a:srgbClr val="344251"/>
                </a:solidFill>
                <a:effectLst/>
                <a:uLnTx/>
                <a:uFillTx/>
                <a:latin typeface="Arial"/>
                <a:ea typeface="Meiryo UI"/>
                <a:cs typeface="+mn-cs"/>
              </a:rPr>
              <a:t>Completion</a:t>
            </a:r>
            <a:r>
              <a:rPr kumimoji="1" lang="ja-JP" altLang="en-US" sz="850" b="1"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850" b="1" i="0" u="none" strike="noStrike" kern="1200" cap="none" spc="0" normalizeH="0" baseline="0" noProof="0" dirty="0">
                <a:ln>
                  <a:noFill/>
                </a:ln>
                <a:solidFill>
                  <a:srgbClr val="344251"/>
                </a:solidFill>
                <a:effectLst/>
                <a:uLnTx/>
                <a:uFillTx/>
                <a:latin typeface="Arial"/>
                <a:ea typeface="Meiryo UI"/>
                <a:cs typeface="+mn-cs"/>
              </a:rPr>
              <a:t>Date</a:t>
            </a:r>
          </a:p>
        </p:txBody>
      </p:sp>
      <p:sp>
        <p:nvSpPr>
          <p:cNvPr id="94" name="Text Box 294">
            <a:extLst>
              <a:ext uri="{FF2B5EF4-FFF2-40B4-BE49-F238E27FC236}">
                <a16:creationId xmlns:a16="http://schemas.microsoft.com/office/drawing/2014/main" id="{4D7262BC-5BF6-F305-54E7-D54D47A72635}"/>
              </a:ext>
            </a:extLst>
          </p:cNvPr>
          <p:cNvSpPr txBox="1">
            <a:spLocks noChangeArrowheads="1"/>
          </p:cNvSpPr>
          <p:nvPr/>
        </p:nvSpPr>
        <p:spPr bwMode="auto">
          <a:xfrm>
            <a:off x="7327500" y="2103454"/>
            <a:ext cx="790752" cy="58906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Q2 24 &amp; ongoing  </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900" b="0" i="0" u="none" strike="noStrike" kern="1200" cap="none" spc="0" normalizeH="0" baseline="0" noProof="0" dirty="0">
              <a:ln>
                <a:noFill/>
              </a:ln>
              <a:solidFill>
                <a:srgbClr val="344251"/>
              </a:solidFill>
              <a:effectLst/>
              <a:uLnTx/>
              <a:uFillTx/>
              <a:latin typeface="Arial"/>
              <a:ea typeface="Meiryo UI"/>
              <a:cs typeface="+mn-cs"/>
            </a:endParaRPr>
          </a:p>
        </p:txBody>
      </p:sp>
      <p:sp>
        <p:nvSpPr>
          <p:cNvPr id="95" name="Text Box 294">
            <a:extLst>
              <a:ext uri="{FF2B5EF4-FFF2-40B4-BE49-F238E27FC236}">
                <a16:creationId xmlns:a16="http://schemas.microsoft.com/office/drawing/2014/main" id="{FEA3EC76-B8FE-0190-529B-FEF34A232813}"/>
              </a:ext>
            </a:extLst>
          </p:cNvPr>
          <p:cNvSpPr txBox="1">
            <a:spLocks noChangeArrowheads="1"/>
          </p:cNvSpPr>
          <p:nvPr/>
        </p:nvSpPr>
        <p:spPr bwMode="auto">
          <a:xfrm>
            <a:off x="7327500" y="3490368"/>
            <a:ext cx="789968" cy="583561"/>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End Q4 2024 </a:t>
            </a:r>
            <a:r>
              <a:rPr kumimoji="1" lang="en-GB" altLang="ja-JP" sz="900" b="0" i="0" u="none" strike="noStrike" kern="1200" cap="none" spc="0" normalizeH="0" baseline="0" noProof="0" dirty="0">
                <a:ln>
                  <a:noFill/>
                </a:ln>
                <a:solidFill>
                  <a:srgbClr val="344251"/>
                </a:solidFill>
                <a:effectLst/>
                <a:uLnTx/>
                <a:uFillTx/>
                <a:latin typeface="Arial" pitchFamily="34" charset="0"/>
                <a:ea typeface="Meiryo UI"/>
                <a:cs typeface="+mn-cs"/>
              </a:rPr>
              <a:t>→ Q2 2025</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7" name="タイトル 6">
            <a:extLst>
              <a:ext uri="{FF2B5EF4-FFF2-40B4-BE49-F238E27FC236}">
                <a16:creationId xmlns:a16="http://schemas.microsoft.com/office/drawing/2014/main" id="{E70A440A-C889-7503-B375-8DB1CA8ECA87}"/>
              </a:ext>
            </a:extLst>
          </p:cNvPr>
          <p:cNvSpPr>
            <a:spLocks noGrp="1"/>
          </p:cNvSpPr>
          <p:nvPr>
            <p:ph type="title"/>
          </p:nvPr>
        </p:nvSpPr>
        <p:spPr/>
        <p:txBody>
          <a:bodyPr/>
          <a:lstStyle/>
          <a:p>
            <a:r>
              <a:rPr lang="en-US" altLang="ja-JP" sz="2400" kern="0" dirty="0">
                <a:solidFill>
                  <a:srgbClr val="344251"/>
                </a:solidFill>
                <a:ea typeface="Meiryo UI" panose="020B0604030504040204" pitchFamily="50" charset="-128"/>
                <a:cs typeface="Calibri" panose="020F0502020204030204" pitchFamily="34" charset="0"/>
              </a:rPr>
              <a:t>Progress Assessment of Mid-Term Tasks and Policies</a:t>
            </a:r>
            <a:r>
              <a:rPr lang="ja-JP" altLang="en-US" sz="2400">
                <a:solidFill>
                  <a:srgbClr val="344251"/>
                </a:solidFill>
                <a:ea typeface="Meiryo UI" panose="020B0604030504040204" pitchFamily="50" charset="-128"/>
              </a:rPr>
              <a:t> </a:t>
            </a:r>
            <a:r>
              <a:rPr lang="en-US" altLang="ja-JP" sz="2400" dirty="0">
                <a:solidFill>
                  <a:srgbClr val="344251"/>
                </a:solidFill>
                <a:ea typeface="Meiryo UI" panose="020B0604030504040204" pitchFamily="50" charset="-128"/>
              </a:rPr>
              <a:t>FY25</a:t>
            </a:r>
            <a:br>
              <a:rPr lang="ja-JP" altLang="en-US" sz="2400">
                <a:solidFill>
                  <a:srgbClr val="344251"/>
                </a:solidFill>
                <a:ea typeface="Meiryo UI" panose="020B0604030504040204" pitchFamily="50" charset="-128"/>
              </a:rPr>
            </a:br>
            <a:endParaRPr lang="ja-JP" altLang="en-US" sz="2400" dirty="0">
              <a:solidFill>
                <a:srgbClr val="344251"/>
              </a:solidFill>
            </a:endParaRPr>
          </a:p>
        </p:txBody>
      </p:sp>
      <p:sp>
        <p:nvSpPr>
          <p:cNvPr id="16" name="Text Box 294">
            <a:extLst>
              <a:ext uri="{FF2B5EF4-FFF2-40B4-BE49-F238E27FC236}">
                <a16:creationId xmlns:a16="http://schemas.microsoft.com/office/drawing/2014/main" id="{1353BEFA-4DAF-7A63-13BC-EFEF0BC74BC7}"/>
              </a:ext>
            </a:extLst>
          </p:cNvPr>
          <p:cNvSpPr txBox="1">
            <a:spLocks noChangeArrowheads="1"/>
          </p:cNvSpPr>
          <p:nvPr/>
        </p:nvSpPr>
        <p:spPr bwMode="auto">
          <a:xfrm>
            <a:off x="11280640" y="2114854"/>
            <a:ext cx="576000" cy="565801"/>
          </a:xfrm>
          <a:prstGeom prst="rect">
            <a:avLst/>
          </a:prstGeom>
          <a:solidFill>
            <a:srgbClr val="92D05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344251"/>
              </a:solidFill>
              <a:effectLst/>
              <a:uLnTx/>
              <a:uFillTx/>
              <a:latin typeface="Meiryo UI"/>
              <a:ea typeface="Meiryo UI"/>
              <a:cs typeface="+mn-cs"/>
            </a:endParaRPr>
          </a:p>
        </p:txBody>
      </p:sp>
      <p:sp>
        <p:nvSpPr>
          <p:cNvPr id="3" name="Text Box 294">
            <a:extLst>
              <a:ext uri="{FF2B5EF4-FFF2-40B4-BE49-F238E27FC236}">
                <a16:creationId xmlns:a16="http://schemas.microsoft.com/office/drawing/2014/main" id="{D27596E9-259F-4CC3-8E83-BCE0A791497F}"/>
              </a:ext>
            </a:extLst>
          </p:cNvPr>
          <p:cNvSpPr txBox="1">
            <a:spLocks noChangeArrowheads="1"/>
          </p:cNvSpPr>
          <p:nvPr/>
        </p:nvSpPr>
        <p:spPr bwMode="auto">
          <a:xfrm>
            <a:off x="1720579" y="2814362"/>
            <a:ext cx="3783539"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Dealer Stock Finance</a:t>
            </a:r>
            <a:endPar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Review Current Dealer Stocking Facility Method &amp; Provider </a:t>
            </a:r>
            <a:endPar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Explore alternative providers to deliver increased value for ITUK &amp;  Incentivise Dealer Network stock orders and earlier vehicle reg</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4" name="Text Box 294">
            <a:extLst>
              <a:ext uri="{FF2B5EF4-FFF2-40B4-BE49-F238E27FC236}">
                <a16:creationId xmlns:a16="http://schemas.microsoft.com/office/drawing/2014/main" id="{F1C803D0-D073-3FAD-2261-696D49CE0E70}"/>
              </a:ext>
            </a:extLst>
          </p:cNvPr>
          <p:cNvSpPr txBox="1">
            <a:spLocks noChangeArrowheads="1"/>
          </p:cNvSpPr>
          <p:nvPr/>
        </p:nvSpPr>
        <p:spPr bwMode="auto">
          <a:xfrm>
            <a:off x="1715692" y="3504728"/>
            <a:ext cx="3788426"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Vehicle Administration</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Review current UK logistics planning &amp; delivery process</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Increase co-ordination/communication/efficiency - reduce unnecessary delay &amp; associated cost</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5" name="Text Box 294">
            <a:extLst>
              <a:ext uri="{FF2B5EF4-FFF2-40B4-BE49-F238E27FC236}">
                <a16:creationId xmlns:a16="http://schemas.microsoft.com/office/drawing/2014/main" id="{2A8E6230-BD6C-62EC-95AD-7320141E8561}"/>
              </a:ext>
            </a:extLst>
          </p:cNvPr>
          <p:cNvSpPr txBox="1">
            <a:spLocks noChangeArrowheads="1"/>
          </p:cNvSpPr>
          <p:nvPr/>
        </p:nvSpPr>
        <p:spPr bwMode="auto">
          <a:xfrm>
            <a:off x="1726421" y="4182750"/>
            <a:ext cx="3777697"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Parts Sales Increase</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Expand Parts Sales to strategic 3</a:t>
            </a:r>
            <a:r>
              <a:rPr kumimoji="1" lang="en-GB" altLang="ja-JP" sz="900" b="0" i="0" u="none" strike="noStrike" kern="1200" cap="none" spc="0" normalizeH="0" baseline="30000" noProof="0">
                <a:ln>
                  <a:noFill/>
                </a:ln>
                <a:solidFill>
                  <a:srgbClr val="344251"/>
                </a:solidFill>
                <a:effectLst/>
                <a:uLnTx/>
                <a:uFillTx/>
                <a:latin typeface="Arial" pitchFamily="34" charset="0"/>
                <a:ea typeface="ＭＳ Ｐゴシック" pitchFamily="50" charset="-128"/>
                <a:cs typeface="+mn-cs"/>
              </a:rPr>
              <a:t>rd</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Party Repairers </a:t>
            </a:r>
            <a:endPar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Utilise E-Commerce platform to facilitate structured and effective regular parts ordering from Local ITUK Dealer</a:t>
            </a:r>
            <a:endParaRPr kumimoji="1" lang="en-US" sz="11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6" name="Text Box 294">
            <a:extLst>
              <a:ext uri="{FF2B5EF4-FFF2-40B4-BE49-F238E27FC236}">
                <a16:creationId xmlns:a16="http://schemas.microsoft.com/office/drawing/2014/main" id="{41E9EA98-C6AB-B51B-6359-4E3D546F4626}"/>
              </a:ext>
            </a:extLst>
          </p:cNvPr>
          <p:cNvSpPr txBox="1">
            <a:spLocks noChangeArrowheads="1"/>
          </p:cNvSpPr>
          <p:nvPr/>
        </p:nvSpPr>
        <p:spPr bwMode="auto">
          <a:xfrm>
            <a:off x="1726567" y="4840891"/>
            <a:ext cx="3781850"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Maintenance Contracts</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Review R&amp;M Cost Matrices and Outbound Pricing to increase margin.</a:t>
            </a:r>
            <a:endPar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Establish if increased use of BVP’s could reduce monthly costs </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9" name="Text Box 294">
            <a:extLst>
              <a:ext uri="{FF2B5EF4-FFF2-40B4-BE49-F238E27FC236}">
                <a16:creationId xmlns:a16="http://schemas.microsoft.com/office/drawing/2014/main" id="{47121213-1FCB-9E00-9F0A-8EAE73AFE7C6}"/>
              </a:ext>
            </a:extLst>
          </p:cNvPr>
          <p:cNvSpPr txBox="1">
            <a:spLocks noChangeArrowheads="1"/>
          </p:cNvSpPr>
          <p:nvPr/>
        </p:nvSpPr>
        <p:spPr bwMode="auto">
          <a:xfrm>
            <a:off x="1730866" y="5521050"/>
            <a:ext cx="3773252"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 IT Systems</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Examine suitability/viability of current </a:t>
            </a:r>
            <a:r>
              <a:rPr kumimoji="1" lang="en-GB" altLang="ja-JP" sz="900" b="0" i="0" u="none" strike="noStrike" kern="1200" cap="none" spc="0" normalizeH="0" baseline="0" noProof="0" dirty="0" err="1">
                <a:ln>
                  <a:noFill/>
                </a:ln>
                <a:solidFill>
                  <a:srgbClr val="344251"/>
                </a:solidFill>
                <a:effectLst/>
                <a:uLnTx/>
                <a:uFillTx/>
                <a:latin typeface="Arial" pitchFamily="34" charset="0"/>
                <a:ea typeface="ＭＳ Ｐゴシック" pitchFamily="50" charset="-128"/>
                <a:cs typeface="+mn-cs"/>
              </a:rPr>
              <a:t>Pentana</a:t>
            </a:r>
            <a:r>
              <a:rPr kumimoji="1" lang="en-GB"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 DMS </a:t>
            </a:r>
            <a:endParaRPr kumimoji="1" lang="en-US"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introduce more effective Management System Software</a:t>
            </a:r>
            <a:endParaRPr kumimoji="1" lang="en-US" sz="11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23" name="Text Box 294">
            <a:extLst>
              <a:ext uri="{FF2B5EF4-FFF2-40B4-BE49-F238E27FC236}">
                <a16:creationId xmlns:a16="http://schemas.microsoft.com/office/drawing/2014/main" id="{1D0D339D-F526-3A3C-5A0E-92CA1BFC3973}"/>
              </a:ext>
            </a:extLst>
          </p:cNvPr>
          <p:cNvSpPr txBox="1">
            <a:spLocks noChangeArrowheads="1"/>
          </p:cNvSpPr>
          <p:nvPr/>
        </p:nvSpPr>
        <p:spPr bwMode="auto">
          <a:xfrm>
            <a:off x="5569134" y="5521051"/>
            <a:ext cx="1682020" cy="576473"/>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Evaluate three alternative systems and complete full cost/efficiency benefit analysis</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24" name="Text Box 294">
            <a:extLst>
              <a:ext uri="{FF2B5EF4-FFF2-40B4-BE49-F238E27FC236}">
                <a16:creationId xmlns:a16="http://schemas.microsoft.com/office/drawing/2014/main" id="{A14CD500-7347-339A-A377-C7EF4C1E958D}"/>
              </a:ext>
            </a:extLst>
          </p:cNvPr>
          <p:cNvSpPr txBox="1">
            <a:spLocks noChangeArrowheads="1"/>
          </p:cNvSpPr>
          <p:nvPr/>
        </p:nvSpPr>
        <p:spPr bwMode="auto">
          <a:xfrm>
            <a:off x="7324017" y="5506585"/>
            <a:ext cx="798116" cy="590939"/>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End H2 2026</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25" name="Text Box 294">
            <a:extLst>
              <a:ext uri="{FF2B5EF4-FFF2-40B4-BE49-F238E27FC236}">
                <a16:creationId xmlns:a16="http://schemas.microsoft.com/office/drawing/2014/main" id="{C37A4C30-6225-54E0-5B14-62ED7A5A4E41}"/>
              </a:ext>
            </a:extLst>
          </p:cNvPr>
          <p:cNvSpPr txBox="1">
            <a:spLocks noChangeArrowheads="1"/>
          </p:cNvSpPr>
          <p:nvPr/>
        </p:nvSpPr>
        <p:spPr bwMode="auto">
          <a:xfrm>
            <a:off x="8176095" y="5513669"/>
            <a:ext cx="3015882"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System provider now identified and contracts signed, with integration planned as per original timescale </a:t>
            </a:r>
          </a:p>
        </p:txBody>
      </p:sp>
      <p:sp>
        <p:nvSpPr>
          <p:cNvPr id="18" name="Text Box 294">
            <a:extLst>
              <a:ext uri="{FF2B5EF4-FFF2-40B4-BE49-F238E27FC236}">
                <a16:creationId xmlns:a16="http://schemas.microsoft.com/office/drawing/2014/main" id="{D7B8B38D-071B-C48E-D20E-F5E30734836B}"/>
              </a:ext>
            </a:extLst>
          </p:cNvPr>
          <p:cNvSpPr txBox="1">
            <a:spLocks noChangeArrowheads="1"/>
          </p:cNvSpPr>
          <p:nvPr/>
        </p:nvSpPr>
        <p:spPr bwMode="auto">
          <a:xfrm>
            <a:off x="11279678" y="3487019"/>
            <a:ext cx="576000" cy="590257"/>
          </a:xfrm>
          <a:prstGeom prst="rect">
            <a:avLst/>
          </a:prstGeom>
          <a:solidFill>
            <a:srgbClr val="92D05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344251"/>
              </a:solidFill>
              <a:effectLst/>
              <a:uLnTx/>
              <a:uFillTx/>
              <a:latin typeface="Meiryo UI"/>
              <a:ea typeface="Meiryo UI"/>
              <a:cs typeface="+mn-cs"/>
            </a:endParaRPr>
          </a:p>
        </p:txBody>
      </p:sp>
      <p:sp>
        <p:nvSpPr>
          <p:cNvPr id="22" name="Text Box 294">
            <a:extLst>
              <a:ext uri="{FF2B5EF4-FFF2-40B4-BE49-F238E27FC236}">
                <a16:creationId xmlns:a16="http://schemas.microsoft.com/office/drawing/2014/main" id="{E2D45B0E-CB89-EE13-A6C8-444797DDCC44}"/>
              </a:ext>
            </a:extLst>
          </p:cNvPr>
          <p:cNvSpPr txBox="1">
            <a:spLocks noChangeArrowheads="1"/>
          </p:cNvSpPr>
          <p:nvPr/>
        </p:nvSpPr>
        <p:spPr bwMode="auto">
          <a:xfrm>
            <a:off x="11279678" y="2807275"/>
            <a:ext cx="576000" cy="565801"/>
          </a:xfrm>
          <a:prstGeom prst="rect">
            <a:avLst/>
          </a:prstGeom>
          <a:solidFill>
            <a:srgbClr val="92D05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344251"/>
              </a:solidFill>
              <a:effectLst/>
              <a:uLnTx/>
              <a:uFillTx/>
              <a:latin typeface="Meiryo UI"/>
              <a:ea typeface="Meiryo UI"/>
              <a:cs typeface="+mn-cs"/>
            </a:endParaRPr>
          </a:p>
        </p:txBody>
      </p:sp>
      <p:sp>
        <p:nvSpPr>
          <p:cNvPr id="31" name="Text Box 294">
            <a:extLst>
              <a:ext uri="{FF2B5EF4-FFF2-40B4-BE49-F238E27FC236}">
                <a16:creationId xmlns:a16="http://schemas.microsoft.com/office/drawing/2014/main" id="{854E50A9-6043-C3F2-7D74-D818BEC7E6CC}"/>
              </a:ext>
            </a:extLst>
          </p:cNvPr>
          <p:cNvSpPr txBox="1">
            <a:spLocks noChangeArrowheads="1"/>
          </p:cNvSpPr>
          <p:nvPr/>
        </p:nvSpPr>
        <p:spPr bwMode="auto">
          <a:xfrm>
            <a:off x="11299141" y="5532089"/>
            <a:ext cx="576000" cy="585434"/>
          </a:xfrm>
          <a:prstGeom prst="rect">
            <a:avLst/>
          </a:prstGeom>
          <a:solidFill>
            <a:srgbClr val="92D05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10" name="Text Box 294">
            <a:extLst>
              <a:ext uri="{FF2B5EF4-FFF2-40B4-BE49-F238E27FC236}">
                <a16:creationId xmlns:a16="http://schemas.microsoft.com/office/drawing/2014/main" id="{3F4C6891-E93F-FBF4-B4E6-91BAD5852EF4}"/>
              </a:ext>
            </a:extLst>
          </p:cNvPr>
          <p:cNvSpPr txBox="1">
            <a:spLocks noChangeArrowheads="1"/>
          </p:cNvSpPr>
          <p:nvPr/>
        </p:nvSpPr>
        <p:spPr bwMode="auto">
          <a:xfrm>
            <a:off x="335360" y="6179769"/>
            <a:ext cx="1300799"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sz="16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Governance</a:t>
            </a:r>
            <a:endParaRPr kumimoji="1" lang="en-US" altLang="ja-JP" sz="16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13" name="Text Box 294">
            <a:extLst>
              <a:ext uri="{FF2B5EF4-FFF2-40B4-BE49-F238E27FC236}">
                <a16:creationId xmlns:a16="http://schemas.microsoft.com/office/drawing/2014/main" id="{03238E58-47EB-42BC-B5DE-15B6B0C1BF8D}"/>
              </a:ext>
            </a:extLst>
          </p:cNvPr>
          <p:cNvSpPr txBox="1">
            <a:spLocks noChangeArrowheads="1"/>
          </p:cNvSpPr>
          <p:nvPr/>
        </p:nvSpPr>
        <p:spPr bwMode="auto">
          <a:xfrm>
            <a:off x="1730866" y="6179769"/>
            <a:ext cx="3773252"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 Customer Credit Terms</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Review credit management rules and follow up with Fleet visits</a:t>
            </a:r>
            <a:r>
              <a:rPr kumimoji="1" lang="en-GB"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 </a:t>
            </a:r>
            <a:endParaRPr kumimoji="1" lang="en-US"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Roboto" panose="02000000000000000000" pitchFamily="2" charset="0"/>
              </a:rPr>
              <a:t>Build system to prevent increase in outstanding receivables </a:t>
            </a:r>
            <a:endParaRPr kumimoji="1" lang="en-US" sz="11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15" name="Text Box 294">
            <a:extLst>
              <a:ext uri="{FF2B5EF4-FFF2-40B4-BE49-F238E27FC236}">
                <a16:creationId xmlns:a16="http://schemas.microsoft.com/office/drawing/2014/main" id="{C22408C3-AA2D-B9DF-9C52-845BF124C937}"/>
              </a:ext>
            </a:extLst>
          </p:cNvPr>
          <p:cNvSpPr txBox="1">
            <a:spLocks noChangeArrowheads="1"/>
          </p:cNvSpPr>
          <p:nvPr/>
        </p:nvSpPr>
        <p:spPr bwMode="auto">
          <a:xfrm>
            <a:off x="5569134" y="6179770"/>
            <a:ext cx="1682020" cy="576473"/>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a:ln>
                  <a:noFill/>
                </a:ln>
                <a:solidFill>
                  <a:srgbClr val="344251"/>
                </a:solidFill>
                <a:effectLst/>
                <a:uLnTx/>
                <a:uFillTx/>
                <a:latin typeface="Arial" pitchFamily="34" charset="0"/>
                <a:ea typeface="Roboto" panose="02000000000000000000" pitchFamily="2" charset="0"/>
                <a:cs typeface="+mn-cs"/>
              </a:rPr>
              <a:t>Establish credit </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limit setting, settlement terms &amp; late payment penalties (if possible)</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35" name="Text Box 294">
            <a:extLst>
              <a:ext uri="{FF2B5EF4-FFF2-40B4-BE49-F238E27FC236}">
                <a16:creationId xmlns:a16="http://schemas.microsoft.com/office/drawing/2014/main" id="{AFB17235-3A29-160A-F23E-33568EB4AF2E}"/>
              </a:ext>
            </a:extLst>
          </p:cNvPr>
          <p:cNvSpPr txBox="1">
            <a:spLocks noChangeArrowheads="1"/>
          </p:cNvSpPr>
          <p:nvPr/>
        </p:nvSpPr>
        <p:spPr bwMode="auto">
          <a:xfrm>
            <a:off x="7324017" y="6165304"/>
            <a:ext cx="798116" cy="590939"/>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0" fontAlgn="auto" latinLnBrk="0" hangingPunct="0">
              <a:lnSpc>
                <a:spcPct val="100000"/>
              </a:lnSpc>
              <a:spcBef>
                <a:spcPct val="2000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rPr>
              <a:t>End Q2 FY2025</a:t>
            </a:r>
          </a:p>
        </p:txBody>
      </p:sp>
      <p:sp>
        <p:nvSpPr>
          <p:cNvPr id="36" name="Text Box 294">
            <a:extLst>
              <a:ext uri="{FF2B5EF4-FFF2-40B4-BE49-F238E27FC236}">
                <a16:creationId xmlns:a16="http://schemas.microsoft.com/office/drawing/2014/main" id="{9AE325BA-BFF0-B8FB-D406-99B44BC6A560}"/>
              </a:ext>
            </a:extLst>
          </p:cNvPr>
          <p:cNvSpPr txBox="1">
            <a:spLocks noChangeArrowheads="1"/>
          </p:cNvSpPr>
          <p:nvPr/>
        </p:nvSpPr>
        <p:spPr bwMode="auto">
          <a:xfrm>
            <a:off x="8176095" y="6172388"/>
            <a:ext cx="3015882"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Direct Fleet Customer list reduced to 33 </a:t>
            </a:r>
            <a:r>
              <a:rPr lang="en-US" altLang="ja-JP" sz="900" dirty="0">
                <a:solidFill>
                  <a:srgbClr val="344251"/>
                </a:solidFill>
                <a:latin typeface="Arial"/>
                <a:ea typeface="Meiryo UI"/>
              </a:rPr>
              <a:t>Key Customers</a:t>
            </a: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   22 x Signed Terms now in place with </a:t>
            </a:r>
            <a:r>
              <a:rPr lang="en-US" altLang="ja-JP" sz="900" dirty="0">
                <a:solidFill>
                  <a:srgbClr val="344251"/>
                </a:solidFill>
                <a:latin typeface="Arial"/>
                <a:ea typeface="Meiryo UI"/>
              </a:rPr>
              <a:t>outstanding</a:t>
            </a: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 Contracts / Visits scheduled in Jan/Feb</a:t>
            </a:r>
          </a:p>
        </p:txBody>
      </p:sp>
      <p:sp>
        <p:nvSpPr>
          <p:cNvPr id="37" name="Text Box 294">
            <a:extLst>
              <a:ext uri="{FF2B5EF4-FFF2-40B4-BE49-F238E27FC236}">
                <a16:creationId xmlns:a16="http://schemas.microsoft.com/office/drawing/2014/main" id="{10CD58B3-7C73-2568-0C14-ECAB6BDD9911}"/>
              </a:ext>
            </a:extLst>
          </p:cNvPr>
          <p:cNvSpPr txBox="1">
            <a:spLocks noChangeArrowheads="1"/>
          </p:cNvSpPr>
          <p:nvPr/>
        </p:nvSpPr>
        <p:spPr bwMode="auto">
          <a:xfrm>
            <a:off x="11295218" y="6172388"/>
            <a:ext cx="576000" cy="590940"/>
          </a:xfrm>
          <a:prstGeom prst="rect">
            <a:avLst/>
          </a:prstGeom>
          <a:solidFill>
            <a:srgbClr val="92D05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344251"/>
              </a:solidFill>
              <a:effectLst/>
              <a:uLnTx/>
              <a:uFillTx/>
              <a:latin typeface="Meiryo UI"/>
              <a:ea typeface="Meiryo UI"/>
              <a:cs typeface="+mn-cs"/>
            </a:endParaRPr>
          </a:p>
        </p:txBody>
      </p:sp>
      <p:sp>
        <p:nvSpPr>
          <p:cNvPr id="38" name="Text Box 294">
            <a:extLst>
              <a:ext uri="{FF2B5EF4-FFF2-40B4-BE49-F238E27FC236}">
                <a16:creationId xmlns:a16="http://schemas.microsoft.com/office/drawing/2014/main" id="{E398DC4A-8D5B-EFA2-361B-E5B633C84530}"/>
              </a:ext>
            </a:extLst>
          </p:cNvPr>
          <p:cNvSpPr txBox="1">
            <a:spLocks noChangeArrowheads="1"/>
          </p:cNvSpPr>
          <p:nvPr/>
        </p:nvSpPr>
        <p:spPr bwMode="auto">
          <a:xfrm>
            <a:off x="345931" y="4184555"/>
            <a:ext cx="1300799" cy="546917"/>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344251"/>
                </a:solidFill>
                <a:effectLst/>
                <a:uLnTx/>
                <a:uFillTx/>
                <a:latin typeface="Arial"/>
                <a:ea typeface="Meiryo UI"/>
                <a:cs typeface="+mn-cs"/>
              </a:rPr>
              <a:t>Parts </a:t>
            </a:r>
          </a:p>
        </p:txBody>
      </p:sp>
      <p:sp>
        <p:nvSpPr>
          <p:cNvPr id="39" name="Text Box 294">
            <a:extLst>
              <a:ext uri="{FF2B5EF4-FFF2-40B4-BE49-F238E27FC236}">
                <a16:creationId xmlns:a16="http://schemas.microsoft.com/office/drawing/2014/main" id="{AFB92DFC-0CFB-E922-43C5-BE6AF01F201A}"/>
              </a:ext>
            </a:extLst>
          </p:cNvPr>
          <p:cNvSpPr txBox="1">
            <a:spLocks noChangeArrowheads="1"/>
          </p:cNvSpPr>
          <p:nvPr/>
        </p:nvSpPr>
        <p:spPr bwMode="auto">
          <a:xfrm>
            <a:off x="335360" y="4840891"/>
            <a:ext cx="1300799"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sz="16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Operations</a:t>
            </a:r>
            <a:endParaRPr kumimoji="1" lang="en-US" altLang="ja-JP" sz="16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41" name="Text Box 294">
            <a:extLst>
              <a:ext uri="{FF2B5EF4-FFF2-40B4-BE49-F238E27FC236}">
                <a16:creationId xmlns:a16="http://schemas.microsoft.com/office/drawing/2014/main" id="{5E6DBED5-787C-DC5E-9C5B-3A55A4FB6473}"/>
              </a:ext>
            </a:extLst>
          </p:cNvPr>
          <p:cNvSpPr txBox="1">
            <a:spLocks noChangeArrowheads="1"/>
          </p:cNvSpPr>
          <p:nvPr/>
        </p:nvSpPr>
        <p:spPr bwMode="auto">
          <a:xfrm>
            <a:off x="11295218" y="4839668"/>
            <a:ext cx="576000" cy="585434"/>
          </a:xfrm>
          <a:prstGeom prst="rect">
            <a:avLst/>
          </a:prstGeom>
          <a:solidFill>
            <a:srgbClr val="92D05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12" name="Text Box 294">
            <a:extLst>
              <a:ext uri="{FF2B5EF4-FFF2-40B4-BE49-F238E27FC236}">
                <a16:creationId xmlns:a16="http://schemas.microsoft.com/office/drawing/2014/main" id="{C41E197C-CA0D-FC1B-0E8F-BDF3960E7905}"/>
              </a:ext>
            </a:extLst>
          </p:cNvPr>
          <p:cNvSpPr txBox="1">
            <a:spLocks noChangeArrowheads="1"/>
          </p:cNvSpPr>
          <p:nvPr/>
        </p:nvSpPr>
        <p:spPr bwMode="auto">
          <a:xfrm>
            <a:off x="11279678" y="4191219"/>
            <a:ext cx="576000" cy="538760"/>
          </a:xfrm>
          <a:prstGeom prst="rect">
            <a:avLst/>
          </a:prstGeom>
          <a:solidFill>
            <a:srgbClr val="FFFF0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344251"/>
              </a:solidFill>
              <a:effectLst/>
              <a:uLnTx/>
              <a:uFillTx/>
              <a:latin typeface="Meiryo UI"/>
              <a:ea typeface="Meiryo UI"/>
              <a:cs typeface="+mn-cs"/>
            </a:endParaRPr>
          </a:p>
        </p:txBody>
      </p:sp>
    </p:spTree>
    <p:extLst>
      <p:ext uri="{BB962C8B-B14F-4D97-AF65-F5344CB8AC3E}">
        <p14:creationId xmlns:p14="http://schemas.microsoft.com/office/powerpoint/2010/main" val="4231415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32B28-BFBB-6AA6-EAE1-A508BD1808A9}"/>
            </a:ext>
          </a:extLst>
        </p:cNvPr>
        <p:cNvGrpSpPr/>
        <p:nvPr/>
      </p:nvGrpSpPr>
      <p:grpSpPr>
        <a:xfrm>
          <a:off x="0" y="0"/>
          <a:ext cx="0" cy="0"/>
          <a:chOff x="0" y="0"/>
          <a:chExt cx="0" cy="0"/>
        </a:xfrm>
      </p:grpSpPr>
      <p:sp>
        <p:nvSpPr>
          <p:cNvPr id="8" name="Text Box 294">
            <a:extLst>
              <a:ext uri="{FF2B5EF4-FFF2-40B4-BE49-F238E27FC236}">
                <a16:creationId xmlns:a16="http://schemas.microsoft.com/office/drawing/2014/main" id="{5E8FE5D9-A412-547E-EC65-85A56B687939}"/>
              </a:ext>
            </a:extLst>
          </p:cNvPr>
          <p:cNvSpPr txBox="1">
            <a:spLocks noChangeArrowheads="1"/>
          </p:cNvSpPr>
          <p:nvPr/>
        </p:nvSpPr>
        <p:spPr bwMode="auto">
          <a:xfrm>
            <a:off x="5554928" y="1484374"/>
            <a:ext cx="1704588"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dirty="0">
                <a:ln>
                  <a:noFill/>
                </a:ln>
                <a:solidFill>
                  <a:srgbClr val="344251"/>
                </a:solidFill>
                <a:effectLst/>
                <a:uLnTx/>
                <a:uFillTx/>
                <a:latin typeface="Arial"/>
                <a:ea typeface="Meiryo UI"/>
                <a:cs typeface="+mn-cs"/>
              </a:rPr>
              <a:t>KPI</a:t>
            </a:r>
          </a:p>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dirty="0">
                <a:ln>
                  <a:noFill/>
                </a:ln>
                <a:solidFill>
                  <a:srgbClr val="344251"/>
                </a:solidFill>
                <a:effectLst/>
                <a:uLnTx/>
                <a:uFillTx/>
                <a:latin typeface="Arial"/>
                <a:ea typeface="Meiryo UI"/>
                <a:cs typeface="+mn-cs"/>
              </a:rPr>
              <a:t>(Closing</a:t>
            </a:r>
            <a:r>
              <a:rPr kumimoji="1" lang="ja-JP" altLang="en-US" sz="800" b="1"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800" b="1" i="0" u="none" strike="noStrike" kern="1200" cap="none" spc="0" normalizeH="0" baseline="0" noProof="0" dirty="0">
                <a:ln>
                  <a:noFill/>
                </a:ln>
                <a:solidFill>
                  <a:srgbClr val="344251"/>
                </a:solidFill>
                <a:effectLst/>
                <a:uLnTx/>
                <a:uFillTx/>
                <a:latin typeface="Arial"/>
                <a:ea typeface="Meiryo UI"/>
                <a:cs typeface="+mn-cs"/>
              </a:rPr>
              <a:t>Conditions)</a:t>
            </a:r>
          </a:p>
        </p:txBody>
      </p:sp>
      <p:sp>
        <p:nvSpPr>
          <p:cNvPr id="11" name="Text Box 294">
            <a:extLst>
              <a:ext uri="{FF2B5EF4-FFF2-40B4-BE49-F238E27FC236}">
                <a16:creationId xmlns:a16="http://schemas.microsoft.com/office/drawing/2014/main" id="{431337BA-6542-CAC3-7896-D04F8570DCDF}"/>
              </a:ext>
            </a:extLst>
          </p:cNvPr>
          <p:cNvSpPr txBox="1">
            <a:spLocks noChangeArrowheads="1"/>
          </p:cNvSpPr>
          <p:nvPr/>
        </p:nvSpPr>
        <p:spPr bwMode="auto">
          <a:xfrm>
            <a:off x="5554928" y="2108952"/>
            <a:ext cx="1704588" cy="576222"/>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Introduce new financial incentive scheme for Salespeople and Dealership with % target achievement</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14" name="Text Box 294">
            <a:extLst>
              <a:ext uri="{FF2B5EF4-FFF2-40B4-BE49-F238E27FC236}">
                <a16:creationId xmlns:a16="http://schemas.microsoft.com/office/drawing/2014/main" id="{C9582FAC-E10D-F3FC-AFE0-697E969BEFC8}"/>
              </a:ext>
            </a:extLst>
          </p:cNvPr>
          <p:cNvSpPr txBox="1">
            <a:spLocks noChangeArrowheads="1"/>
          </p:cNvSpPr>
          <p:nvPr/>
        </p:nvSpPr>
        <p:spPr bwMode="auto">
          <a:xfrm>
            <a:off x="5570670" y="2796465"/>
            <a:ext cx="1672101" cy="583561"/>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3.5t BVP braking related products introduced when available from IML</a:t>
            </a:r>
          </a:p>
        </p:txBody>
      </p:sp>
      <p:sp>
        <p:nvSpPr>
          <p:cNvPr id="19" name="Text Box 294">
            <a:extLst>
              <a:ext uri="{FF2B5EF4-FFF2-40B4-BE49-F238E27FC236}">
                <a16:creationId xmlns:a16="http://schemas.microsoft.com/office/drawing/2014/main" id="{29183DF9-37CE-29AF-7348-AE412373A4AE}"/>
              </a:ext>
            </a:extLst>
          </p:cNvPr>
          <p:cNvSpPr txBox="1">
            <a:spLocks noChangeArrowheads="1"/>
          </p:cNvSpPr>
          <p:nvPr/>
        </p:nvSpPr>
        <p:spPr bwMode="auto">
          <a:xfrm>
            <a:off x="5577115" y="3504727"/>
            <a:ext cx="1671898" cy="576475"/>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Response times for customers reduce and increased value for ITUK </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20" name="Text Box 294">
            <a:extLst>
              <a:ext uri="{FF2B5EF4-FFF2-40B4-BE49-F238E27FC236}">
                <a16:creationId xmlns:a16="http://schemas.microsoft.com/office/drawing/2014/main" id="{5DA9813B-A328-40D6-D522-4F2845E5B279}"/>
              </a:ext>
            </a:extLst>
          </p:cNvPr>
          <p:cNvSpPr txBox="1">
            <a:spLocks noChangeArrowheads="1"/>
          </p:cNvSpPr>
          <p:nvPr/>
        </p:nvSpPr>
        <p:spPr bwMode="auto">
          <a:xfrm>
            <a:off x="5562289" y="4199225"/>
            <a:ext cx="1688865" cy="559999"/>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Examine port of entry options to attempt  introduction of new chassis  treatment facility</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21" name="Text Box 294">
            <a:extLst>
              <a:ext uri="{FF2B5EF4-FFF2-40B4-BE49-F238E27FC236}">
                <a16:creationId xmlns:a16="http://schemas.microsoft.com/office/drawing/2014/main" id="{65BB1B95-1191-3B3D-F81A-43EAE934B6BD}"/>
              </a:ext>
            </a:extLst>
          </p:cNvPr>
          <p:cNvSpPr txBox="1">
            <a:spLocks noChangeArrowheads="1"/>
          </p:cNvSpPr>
          <p:nvPr/>
        </p:nvSpPr>
        <p:spPr bwMode="auto">
          <a:xfrm>
            <a:off x="5554928" y="4831931"/>
            <a:ext cx="1704588" cy="604746"/>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Network meets all ITUK EV related Dealers standards and performs remedial work safely &amp; compliantly </a:t>
            </a:r>
          </a:p>
        </p:txBody>
      </p:sp>
      <p:sp>
        <p:nvSpPr>
          <p:cNvPr id="26" name="Text Box 294">
            <a:extLst>
              <a:ext uri="{FF2B5EF4-FFF2-40B4-BE49-F238E27FC236}">
                <a16:creationId xmlns:a16="http://schemas.microsoft.com/office/drawing/2014/main" id="{6ACAD8C3-0C7B-8856-15AB-C53006656901}"/>
              </a:ext>
            </a:extLst>
          </p:cNvPr>
          <p:cNvSpPr txBox="1">
            <a:spLocks noChangeArrowheads="1"/>
          </p:cNvSpPr>
          <p:nvPr/>
        </p:nvSpPr>
        <p:spPr bwMode="auto">
          <a:xfrm>
            <a:off x="335360" y="1472471"/>
            <a:ext cx="1300799"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dirty="0">
                <a:ln>
                  <a:noFill/>
                </a:ln>
                <a:solidFill>
                  <a:srgbClr val="344251"/>
                </a:solidFill>
                <a:effectLst/>
                <a:uLnTx/>
                <a:uFillTx/>
                <a:latin typeface="Arial"/>
                <a:ea typeface="Meiryo UI"/>
                <a:cs typeface="+mn-cs"/>
              </a:rPr>
              <a:t>Policies &amp; Tasks</a:t>
            </a:r>
          </a:p>
        </p:txBody>
      </p:sp>
      <p:sp>
        <p:nvSpPr>
          <p:cNvPr id="27" name="Text Box 294">
            <a:extLst>
              <a:ext uri="{FF2B5EF4-FFF2-40B4-BE49-F238E27FC236}">
                <a16:creationId xmlns:a16="http://schemas.microsoft.com/office/drawing/2014/main" id="{642DD92F-A423-6E50-3E40-6D4991F23310}"/>
              </a:ext>
            </a:extLst>
          </p:cNvPr>
          <p:cNvSpPr txBox="1">
            <a:spLocks noChangeArrowheads="1"/>
          </p:cNvSpPr>
          <p:nvPr/>
        </p:nvSpPr>
        <p:spPr bwMode="auto">
          <a:xfrm>
            <a:off x="335361" y="961413"/>
            <a:ext cx="1300798" cy="43311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477" b="1" i="0" u="none" strike="noStrike" kern="1200" cap="none" spc="0" normalizeH="0" baseline="0" noProof="0" dirty="0">
                <a:ln>
                  <a:noFill/>
                </a:ln>
                <a:solidFill>
                  <a:srgbClr val="344251"/>
                </a:solidFill>
                <a:effectLst/>
                <a:uLnTx/>
                <a:uFillTx/>
                <a:latin typeface="Arial"/>
                <a:ea typeface="Meiryo UI"/>
                <a:cs typeface="+mn-cs"/>
              </a:rPr>
              <a:t>Major</a:t>
            </a:r>
            <a:r>
              <a:rPr kumimoji="1" lang="ja-JP" altLang="en-US" sz="1477" b="1"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1477" b="1" i="0" u="none" strike="noStrike" kern="1200" cap="none" spc="0" normalizeH="0" baseline="0" noProof="0" dirty="0">
                <a:ln>
                  <a:noFill/>
                </a:ln>
                <a:solidFill>
                  <a:srgbClr val="344251"/>
                </a:solidFill>
                <a:effectLst/>
                <a:uLnTx/>
                <a:uFillTx/>
                <a:latin typeface="Arial"/>
                <a:ea typeface="Meiryo UI"/>
                <a:cs typeface="+mn-cs"/>
              </a:rPr>
              <a:t>Policy</a:t>
            </a:r>
          </a:p>
        </p:txBody>
      </p:sp>
      <p:sp>
        <p:nvSpPr>
          <p:cNvPr id="28" name="Text Box 294">
            <a:extLst>
              <a:ext uri="{FF2B5EF4-FFF2-40B4-BE49-F238E27FC236}">
                <a16:creationId xmlns:a16="http://schemas.microsoft.com/office/drawing/2014/main" id="{9EAAEE24-C934-AC78-7C46-B2FF18722015}"/>
              </a:ext>
            </a:extLst>
          </p:cNvPr>
          <p:cNvSpPr txBox="1">
            <a:spLocks noChangeArrowheads="1"/>
          </p:cNvSpPr>
          <p:nvPr/>
        </p:nvSpPr>
        <p:spPr bwMode="auto">
          <a:xfrm>
            <a:off x="1726421" y="961413"/>
            <a:ext cx="9486835" cy="433114"/>
          </a:xfrm>
          <a:prstGeom prst="rect">
            <a:avLst/>
          </a:prstGeom>
          <a:solidFill>
            <a:schemeClr val="bg1"/>
          </a:solidFill>
          <a:ln w="9525">
            <a:solidFill>
              <a:schemeClr val="tx1">
                <a:lumMod val="50000"/>
                <a:lumOff val="50000"/>
              </a:schemeClr>
            </a:solidFill>
            <a:miter lim="800000"/>
            <a:headEnd/>
            <a:tailEnd/>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1" lang="en-US" altLang="ja-JP" sz="1292" b="1" i="0" u="none" strike="noStrike" kern="1200" cap="none" spc="0" normalizeH="0" baseline="0" noProof="0" dirty="0">
              <a:ln>
                <a:noFill/>
              </a:ln>
              <a:solidFill>
                <a:srgbClr val="344251"/>
              </a:solidFill>
              <a:effectLst/>
              <a:uLnTx/>
              <a:uFillTx/>
              <a:latin typeface="Meiryo UI"/>
              <a:ea typeface="Meiryo UI"/>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1292" b="1" i="0" u="none" strike="noStrike" kern="1200" cap="none" spc="0" normalizeH="0" baseline="0" noProof="0" dirty="0">
                <a:ln>
                  <a:noFill/>
                </a:ln>
                <a:solidFill>
                  <a:srgbClr val="344251"/>
                </a:solidFill>
                <a:effectLst/>
                <a:uLnTx/>
                <a:uFillTx/>
                <a:latin typeface="Meiryo UI"/>
                <a:ea typeface="Meiryo UI"/>
                <a:cs typeface="+mn-cs"/>
              </a:rPr>
              <a:t>Increase Customer Uptime &amp; Satisfaction/Retention  </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1292" b="1" i="0" u="none" strike="noStrike" kern="1200" cap="none" spc="0" normalizeH="0" baseline="0" noProof="0" dirty="0">
                <a:ln>
                  <a:noFill/>
                </a:ln>
                <a:solidFill>
                  <a:srgbClr val="344251"/>
                </a:solidFill>
                <a:effectLst/>
                <a:uLnTx/>
                <a:uFillTx/>
                <a:latin typeface="Meiryo UI"/>
                <a:ea typeface="Meiryo UI"/>
                <a:cs typeface="+mn-cs"/>
              </a:rPr>
              <a:t> </a:t>
            </a:r>
          </a:p>
        </p:txBody>
      </p:sp>
      <p:sp>
        <p:nvSpPr>
          <p:cNvPr id="29" name="Text Box 294">
            <a:extLst>
              <a:ext uri="{FF2B5EF4-FFF2-40B4-BE49-F238E27FC236}">
                <a16:creationId xmlns:a16="http://schemas.microsoft.com/office/drawing/2014/main" id="{9E613ABD-A606-685F-439D-534774F6A146}"/>
              </a:ext>
            </a:extLst>
          </p:cNvPr>
          <p:cNvSpPr txBox="1">
            <a:spLocks noChangeArrowheads="1"/>
          </p:cNvSpPr>
          <p:nvPr/>
        </p:nvSpPr>
        <p:spPr bwMode="auto">
          <a:xfrm>
            <a:off x="325535" y="3524609"/>
            <a:ext cx="1300799" cy="1234615"/>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sz="16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Care &amp; Operations</a:t>
            </a:r>
            <a:endParaRPr kumimoji="1" lang="en-US" altLang="ja-JP" sz="16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32" name="Text Box 294">
            <a:extLst>
              <a:ext uri="{FF2B5EF4-FFF2-40B4-BE49-F238E27FC236}">
                <a16:creationId xmlns:a16="http://schemas.microsoft.com/office/drawing/2014/main" id="{C8D85B0C-9FCC-3AE3-B11F-76D2E364A8A7}"/>
              </a:ext>
            </a:extLst>
          </p:cNvPr>
          <p:cNvSpPr txBox="1">
            <a:spLocks noChangeArrowheads="1"/>
          </p:cNvSpPr>
          <p:nvPr/>
        </p:nvSpPr>
        <p:spPr bwMode="auto">
          <a:xfrm>
            <a:off x="1720579" y="1472471"/>
            <a:ext cx="3783539"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344251"/>
                </a:solidFill>
                <a:effectLst/>
                <a:uLnTx/>
                <a:uFillTx/>
                <a:latin typeface="Arial"/>
                <a:ea typeface="Meiryo UI"/>
                <a:cs typeface="+mn-cs"/>
              </a:rPr>
              <a:t>●</a:t>
            </a:r>
            <a:r>
              <a:rPr kumimoji="1" lang="en-US" altLang="ja-JP" sz="1200" b="1" i="0" u="none" strike="noStrike" kern="1200" cap="none" spc="0" normalizeH="0" baseline="0" noProof="0">
                <a:ln>
                  <a:noFill/>
                </a:ln>
                <a:solidFill>
                  <a:srgbClr val="344251"/>
                </a:solidFill>
                <a:effectLst/>
                <a:uLnTx/>
                <a:uFillTx/>
                <a:latin typeface="Arial"/>
                <a:ea typeface="Meiryo UI"/>
                <a:cs typeface="+mn-cs"/>
              </a:rPr>
              <a:t>Priority</a:t>
            </a:r>
            <a:r>
              <a:rPr kumimoji="1" lang="ja-JP" altLang="en-US" sz="1200" b="1" i="0" u="none" strike="noStrike" kern="1200" cap="none" spc="0" normalizeH="0" baseline="0" noProof="0">
                <a:ln>
                  <a:noFill/>
                </a:ln>
                <a:solidFill>
                  <a:srgbClr val="344251"/>
                </a:solidFill>
                <a:effectLst/>
                <a:uLnTx/>
                <a:uFillTx/>
                <a:latin typeface="Arial"/>
                <a:ea typeface="Meiryo UI"/>
                <a:cs typeface="+mn-cs"/>
              </a:rPr>
              <a:t> </a:t>
            </a:r>
            <a:r>
              <a:rPr kumimoji="1" lang="en-US" altLang="ja-JP" sz="1200" b="1" i="0" u="none" strike="noStrike" kern="1200" cap="none" spc="0" normalizeH="0" baseline="0" noProof="0">
                <a:ln>
                  <a:noFill/>
                </a:ln>
                <a:solidFill>
                  <a:srgbClr val="344251"/>
                </a:solidFill>
                <a:effectLst/>
                <a:uLnTx/>
                <a:uFillTx/>
                <a:latin typeface="Arial"/>
                <a:ea typeface="Meiryo UI"/>
                <a:cs typeface="+mn-cs"/>
              </a:rPr>
              <a:t>Measures</a:t>
            </a:r>
          </a:p>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344251"/>
                </a:solidFill>
                <a:effectLst/>
                <a:uLnTx/>
                <a:uFillTx/>
                <a:latin typeface="Arial"/>
                <a:ea typeface="Meiryo UI"/>
                <a:cs typeface="+mn-cs"/>
              </a:rPr>
              <a:t>Outline(Methods/Strategies)</a:t>
            </a:r>
          </a:p>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344251"/>
                </a:solidFill>
                <a:effectLst/>
                <a:uLnTx/>
                <a:uFillTx/>
                <a:latin typeface="Arial"/>
                <a:ea typeface="Meiryo UI"/>
                <a:cs typeface="+mn-cs"/>
              </a:rPr>
              <a:t>Original Aim</a:t>
            </a:r>
          </a:p>
        </p:txBody>
      </p:sp>
      <p:sp>
        <p:nvSpPr>
          <p:cNvPr id="33" name="Text Box 294">
            <a:extLst>
              <a:ext uri="{FF2B5EF4-FFF2-40B4-BE49-F238E27FC236}">
                <a16:creationId xmlns:a16="http://schemas.microsoft.com/office/drawing/2014/main" id="{6F57DB29-BD75-DE4E-AFBF-816E0CFAE3FD}"/>
              </a:ext>
            </a:extLst>
          </p:cNvPr>
          <p:cNvSpPr txBox="1">
            <a:spLocks noChangeArrowheads="1"/>
          </p:cNvSpPr>
          <p:nvPr/>
        </p:nvSpPr>
        <p:spPr bwMode="auto">
          <a:xfrm>
            <a:off x="1720579" y="2108699"/>
            <a:ext cx="3783539"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Long Term Customer Engagement</a:t>
            </a:r>
            <a:endPar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endParaRPr>
          </a:p>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Expand Extended Warranty/R&amp;M Penetration </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Increase After Sales Revenue and maximise positive long-term customer relationships </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34" name="Text Box 294">
            <a:extLst>
              <a:ext uri="{FF2B5EF4-FFF2-40B4-BE49-F238E27FC236}">
                <a16:creationId xmlns:a16="http://schemas.microsoft.com/office/drawing/2014/main" id="{276FD3DA-51EB-A75F-0D45-C8991EFF2B58}"/>
              </a:ext>
            </a:extLst>
          </p:cNvPr>
          <p:cNvSpPr txBox="1">
            <a:spLocks noChangeArrowheads="1"/>
          </p:cNvSpPr>
          <p:nvPr/>
        </p:nvSpPr>
        <p:spPr bwMode="auto">
          <a:xfrm>
            <a:off x="8186237" y="1469877"/>
            <a:ext cx="2985796"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344251"/>
                </a:solidFill>
                <a:effectLst/>
                <a:uLnTx/>
                <a:uFillTx/>
                <a:latin typeface="Arial"/>
                <a:ea typeface="Meiryo UI"/>
                <a:cs typeface="+mn-cs"/>
              </a:rPr>
              <a:t>Progress</a:t>
            </a:r>
          </a:p>
        </p:txBody>
      </p:sp>
      <p:sp>
        <p:nvSpPr>
          <p:cNvPr id="61" name="Text Box 294">
            <a:extLst>
              <a:ext uri="{FF2B5EF4-FFF2-40B4-BE49-F238E27FC236}">
                <a16:creationId xmlns:a16="http://schemas.microsoft.com/office/drawing/2014/main" id="{FC15B77C-CF13-0DD6-3FBF-9834A5E4E8BF}"/>
              </a:ext>
            </a:extLst>
          </p:cNvPr>
          <p:cNvSpPr txBox="1">
            <a:spLocks noChangeArrowheads="1"/>
          </p:cNvSpPr>
          <p:nvPr/>
        </p:nvSpPr>
        <p:spPr bwMode="auto">
          <a:xfrm>
            <a:off x="8165954" y="2116294"/>
            <a:ext cx="3016221" cy="576223"/>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Completed as planned and ongoing review of incentive scheme until End of FY2026 </a:t>
            </a:r>
            <a:r>
              <a:rPr lang="en-US" sz="900" dirty="0">
                <a:solidFill>
                  <a:srgbClr val="344251"/>
                </a:solidFill>
              </a:rPr>
              <a:t>– Extended Warranty more popular than R&amp;M with Dealer Sales </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67" name="Text Box 294">
            <a:extLst>
              <a:ext uri="{FF2B5EF4-FFF2-40B4-BE49-F238E27FC236}">
                <a16:creationId xmlns:a16="http://schemas.microsoft.com/office/drawing/2014/main" id="{95C32444-BD41-F74D-5B18-B47B3C10C2B4}"/>
              </a:ext>
            </a:extLst>
          </p:cNvPr>
          <p:cNvSpPr txBox="1">
            <a:spLocks noChangeArrowheads="1"/>
          </p:cNvSpPr>
          <p:nvPr/>
        </p:nvSpPr>
        <p:spPr bwMode="auto">
          <a:xfrm>
            <a:off x="11280640" y="1481081"/>
            <a:ext cx="576000"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err="1">
                <a:ln>
                  <a:noFill/>
                </a:ln>
                <a:solidFill>
                  <a:srgbClr val="344251"/>
                </a:solidFill>
                <a:effectLst/>
                <a:uLnTx/>
                <a:uFillTx/>
                <a:latin typeface="Arial"/>
                <a:ea typeface="Meiryo UI"/>
                <a:cs typeface="+mn-cs"/>
              </a:rPr>
              <a:t>Assmt</a:t>
            </a:r>
            <a:r>
              <a:rPr kumimoji="1" lang="en-US" altLang="ja-JP" sz="900" b="1" i="0" u="none" strike="noStrike" kern="1200" cap="none" spc="0" normalizeH="0" baseline="0" noProof="0">
                <a:ln>
                  <a:noFill/>
                </a:ln>
                <a:solidFill>
                  <a:srgbClr val="344251"/>
                </a:solidFill>
                <a:effectLst/>
                <a:uLnTx/>
                <a:uFillTx/>
                <a:latin typeface="Arial"/>
                <a:ea typeface="Meiryo UI"/>
                <a:cs typeface="+mn-cs"/>
              </a:rPr>
              <a:t>.</a:t>
            </a:r>
          </a:p>
        </p:txBody>
      </p:sp>
      <p:sp>
        <p:nvSpPr>
          <p:cNvPr id="80" name="Text Box 294">
            <a:extLst>
              <a:ext uri="{FF2B5EF4-FFF2-40B4-BE49-F238E27FC236}">
                <a16:creationId xmlns:a16="http://schemas.microsoft.com/office/drawing/2014/main" id="{19C22FA3-FD6B-342F-2CF1-5290BF403754}"/>
              </a:ext>
            </a:extLst>
          </p:cNvPr>
          <p:cNvSpPr txBox="1">
            <a:spLocks noChangeArrowheads="1"/>
          </p:cNvSpPr>
          <p:nvPr/>
        </p:nvSpPr>
        <p:spPr bwMode="auto">
          <a:xfrm>
            <a:off x="8165954" y="2796465"/>
            <a:ext cx="3006079" cy="594372"/>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IML indicate that 3.5t BVP braking items may be sourced eventually from Europe to achieve this</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83" name="Text Box 294">
            <a:extLst>
              <a:ext uri="{FF2B5EF4-FFF2-40B4-BE49-F238E27FC236}">
                <a16:creationId xmlns:a16="http://schemas.microsoft.com/office/drawing/2014/main" id="{C064A70F-777D-D7BD-A4AA-ED0A64BBF5B4}"/>
              </a:ext>
            </a:extLst>
          </p:cNvPr>
          <p:cNvSpPr txBox="1">
            <a:spLocks noChangeArrowheads="1"/>
          </p:cNvSpPr>
          <p:nvPr/>
        </p:nvSpPr>
        <p:spPr bwMode="auto">
          <a:xfrm>
            <a:off x="8165954" y="3501444"/>
            <a:ext cx="3016221" cy="579758"/>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Service level improvement with current provider and Contract renewal completed. Full review originally due H2 FY2025 now suspended until Q2 FY2027, due to increased satisfaction levels and P700 related priorities</a:t>
            </a:r>
          </a:p>
        </p:txBody>
      </p:sp>
      <p:sp>
        <p:nvSpPr>
          <p:cNvPr id="86" name="Text Box 294">
            <a:extLst>
              <a:ext uri="{FF2B5EF4-FFF2-40B4-BE49-F238E27FC236}">
                <a16:creationId xmlns:a16="http://schemas.microsoft.com/office/drawing/2014/main" id="{610C5703-F5D3-0E6F-1549-2B2C74862639}"/>
              </a:ext>
            </a:extLst>
          </p:cNvPr>
          <p:cNvSpPr txBox="1">
            <a:spLocks noChangeArrowheads="1"/>
          </p:cNvSpPr>
          <p:nvPr/>
        </p:nvSpPr>
        <p:spPr bwMode="auto">
          <a:xfrm>
            <a:off x="8186237" y="4194610"/>
            <a:ext cx="2995938" cy="538760"/>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Wax treatment now introduced after slight delay and working well due to requirement to find alternative supplier</a:t>
            </a:r>
            <a:endParaRPr kumimoji="1" lang="en-US" altLang="ja-JP" sz="9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88" name="Text Box 294">
            <a:extLst>
              <a:ext uri="{FF2B5EF4-FFF2-40B4-BE49-F238E27FC236}">
                <a16:creationId xmlns:a16="http://schemas.microsoft.com/office/drawing/2014/main" id="{84946858-E296-D836-B869-DD5C54C405A6}"/>
              </a:ext>
            </a:extLst>
          </p:cNvPr>
          <p:cNvSpPr txBox="1">
            <a:spLocks noChangeArrowheads="1"/>
          </p:cNvSpPr>
          <p:nvPr/>
        </p:nvSpPr>
        <p:spPr bwMode="auto">
          <a:xfrm>
            <a:off x="8180684" y="4841876"/>
            <a:ext cx="3016221" cy="594801"/>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Original timeline moved twice due to delayed VL26/VK11 launch</a:t>
            </a:r>
          </a:p>
        </p:txBody>
      </p:sp>
      <p:sp>
        <p:nvSpPr>
          <p:cNvPr id="90" name="Text Box 294">
            <a:extLst>
              <a:ext uri="{FF2B5EF4-FFF2-40B4-BE49-F238E27FC236}">
                <a16:creationId xmlns:a16="http://schemas.microsoft.com/office/drawing/2014/main" id="{62F764C0-0619-3CB8-DECB-2807244DA1F2}"/>
              </a:ext>
            </a:extLst>
          </p:cNvPr>
          <p:cNvSpPr txBox="1">
            <a:spLocks noChangeArrowheads="1"/>
          </p:cNvSpPr>
          <p:nvPr/>
        </p:nvSpPr>
        <p:spPr bwMode="auto">
          <a:xfrm>
            <a:off x="7327498" y="4194610"/>
            <a:ext cx="789969" cy="542009"/>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End Q4 2024 </a:t>
            </a:r>
            <a:r>
              <a:rPr kumimoji="1" lang="en-GB" altLang="ja-JP" sz="900" b="0" i="0" u="none" strike="noStrike" kern="1200" cap="none" spc="0" normalizeH="0" baseline="0" noProof="0" dirty="0">
                <a:ln>
                  <a:noFill/>
                </a:ln>
                <a:solidFill>
                  <a:srgbClr val="344251"/>
                </a:solidFill>
                <a:effectLst/>
                <a:uLnTx/>
                <a:uFillTx/>
                <a:latin typeface="Arial" pitchFamily="34" charset="0"/>
                <a:ea typeface="Meiryo UI"/>
                <a:cs typeface="+mn-cs"/>
              </a:rPr>
              <a:t>→ Q2 2025 </a:t>
            </a: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 </a:t>
            </a:r>
          </a:p>
        </p:txBody>
      </p:sp>
      <p:sp>
        <p:nvSpPr>
          <p:cNvPr id="91" name="Text Box 294">
            <a:extLst>
              <a:ext uri="{FF2B5EF4-FFF2-40B4-BE49-F238E27FC236}">
                <a16:creationId xmlns:a16="http://schemas.microsoft.com/office/drawing/2014/main" id="{12EFE153-4D25-F08E-2815-B754B72289A2}"/>
              </a:ext>
            </a:extLst>
          </p:cNvPr>
          <p:cNvSpPr txBox="1">
            <a:spLocks noChangeArrowheads="1"/>
          </p:cNvSpPr>
          <p:nvPr/>
        </p:nvSpPr>
        <p:spPr bwMode="auto">
          <a:xfrm>
            <a:off x="7327497" y="4831931"/>
            <a:ext cx="783931" cy="604746"/>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Q1 2025 </a:t>
            </a:r>
            <a:r>
              <a:rPr kumimoji="1" lang="en-GB" altLang="ja-JP" sz="900" b="0" i="0" u="none" strike="noStrike" kern="1200" cap="none" spc="0" normalizeH="0" baseline="0" noProof="0" dirty="0">
                <a:ln>
                  <a:noFill/>
                </a:ln>
                <a:solidFill>
                  <a:srgbClr val="344251"/>
                </a:solidFill>
                <a:effectLst/>
                <a:uLnTx/>
                <a:uFillTx/>
                <a:latin typeface="Arial" pitchFamily="34" charset="0"/>
                <a:ea typeface="Meiryo UI"/>
                <a:cs typeface="+mn-cs"/>
              </a:rPr>
              <a:t>→ Q4 FY25 → </a:t>
            </a: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 Q3 FY26</a:t>
            </a:r>
          </a:p>
        </p:txBody>
      </p:sp>
      <p:sp>
        <p:nvSpPr>
          <p:cNvPr id="92" name="Text Box 294">
            <a:extLst>
              <a:ext uri="{FF2B5EF4-FFF2-40B4-BE49-F238E27FC236}">
                <a16:creationId xmlns:a16="http://schemas.microsoft.com/office/drawing/2014/main" id="{B1672047-3604-EE4B-3BFD-E86EE9CEF3DD}"/>
              </a:ext>
            </a:extLst>
          </p:cNvPr>
          <p:cNvSpPr txBox="1">
            <a:spLocks noChangeArrowheads="1"/>
          </p:cNvSpPr>
          <p:nvPr/>
        </p:nvSpPr>
        <p:spPr bwMode="auto">
          <a:xfrm>
            <a:off x="7320136" y="2798835"/>
            <a:ext cx="798116" cy="583561"/>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Q2 FY2025 latest f/c</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93" name="Text Box 294">
            <a:extLst>
              <a:ext uri="{FF2B5EF4-FFF2-40B4-BE49-F238E27FC236}">
                <a16:creationId xmlns:a16="http://schemas.microsoft.com/office/drawing/2014/main" id="{5CF48276-D8CC-23FB-E2D9-81617D5EA1A1}"/>
              </a:ext>
            </a:extLst>
          </p:cNvPr>
          <p:cNvSpPr txBox="1">
            <a:spLocks noChangeArrowheads="1"/>
          </p:cNvSpPr>
          <p:nvPr/>
        </p:nvSpPr>
        <p:spPr bwMode="auto">
          <a:xfrm>
            <a:off x="7320136" y="1470507"/>
            <a:ext cx="805481"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850" b="1" i="0" u="none" strike="noStrike" kern="1200" cap="none" spc="0" normalizeH="0" baseline="0" noProof="0" dirty="0">
                <a:ln>
                  <a:noFill/>
                </a:ln>
                <a:solidFill>
                  <a:srgbClr val="344251"/>
                </a:solidFill>
                <a:effectLst/>
                <a:uLnTx/>
                <a:uFillTx/>
                <a:latin typeface="Arial"/>
                <a:ea typeface="Meiryo UI"/>
                <a:cs typeface="+mn-cs"/>
              </a:rPr>
              <a:t>Completion</a:t>
            </a:r>
            <a:r>
              <a:rPr kumimoji="1" lang="ja-JP" altLang="en-US" sz="850" b="1"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850" b="1" i="0" u="none" strike="noStrike" kern="1200" cap="none" spc="0" normalizeH="0" baseline="0" noProof="0" dirty="0">
                <a:ln>
                  <a:noFill/>
                </a:ln>
                <a:solidFill>
                  <a:srgbClr val="344251"/>
                </a:solidFill>
                <a:effectLst/>
                <a:uLnTx/>
                <a:uFillTx/>
                <a:latin typeface="Arial"/>
                <a:ea typeface="Meiryo UI"/>
                <a:cs typeface="+mn-cs"/>
              </a:rPr>
              <a:t>Date</a:t>
            </a:r>
          </a:p>
        </p:txBody>
      </p:sp>
      <p:sp>
        <p:nvSpPr>
          <p:cNvPr id="94" name="Text Box 294">
            <a:extLst>
              <a:ext uri="{FF2B5EF4-FFF2-40B4-BE49-F238E27FC236}">
                <a16:creationId xmlns:a16="http://schemas.microsoft.com/office/drawing/2014/main" id="{D59D8735-8147-E018-1C40-D63605EF335B}"/>
              </a:ext>
            </a:extLst>
          </p:cNvPr>
          <p:cNvSpPr txBox="1">
            <a:spLocks noChangeArrowheads="1"/>
          </p:cNvSpPr>
          <p:nvPr/>
        </p:nvSpPr>
        <p:spPr bwMode="auto">
          <a:xfrm>
            <a:off x="7327500" y="2103454"/>
            <a:ext cx="790752" cy="58906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End Q4 2024</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95" name="Text Box 294">
            <a:extLst>
              <a:ext uri="{FF2B5EF4-FFF2-40B4-BE49-F238E27FC236}">
                <a16:creationId xmlns:a16="http://schemas.microsoft.com/office/drawing/2014/main" id="{B37FF1A6-DA9B-6B50-8FD6-1BE83E16D518}"/>
              </a:ext>
            </a:extLst>
          </p:cNvPr>
          <p:cNvSpPr txBox="1">
            <a:spLocks noChangeArrowheads="1"/>
          </p:cNvSpPr>
          <p:nvPr/>
        </p:nvSpPr>
        <p:spPr bwMode="auto">
          <a:xfrm>
            <a:off x="7327500" y="3490368"/>
            <a:ext cx="789968" cy="583561"/>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End Q4 2024</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7" name="タイトル 6">
            <a:extLst>
              <a:ext uri="{FF2B5EF4-FFF2-40B4-BE49-F238E27FC236}">
                <a16:creationId xmlns:a16="http://schemas.microsoft.com/office/drawing/2014/main" id="{D489C872-D9BF-8BD0-6046-0194B74C61E0}"/>
              </a:ext>
            </a:extLst>
          </p:cNvPr>
          <p:cNvSpPr>
            <a:spLocks noGrp="1"/>
          </p:cNvSpPr>
          <p:nvPr>
            <p:ph type="title"/>
          </p:nvPr>
        </p:nvSpPr>
        <p:spPr/>
        <p:txBody>
          <a:bodyPr/>
          <a:lstStyle/>
          <a:p>
            <a:r>
              <a:rPr lang="en-US" altLang="ja-JP" sz="2400" kern="0" dirty="0">
                <a:solidFill>
                  <a:srgbClr val="344251"/>
                </a:solidFill>
                <a:ea typeface="Meiryo UI" panose="020B0604030504040204" pitchFamily="50" charset="-128"/>
                <a:cs typeface="Calibri" panose="020F0502020204030204" pitchFamily="34" charset="0"/>
              </a:rPr>
              <a:t>Progress Assessment of Mid-Term Tasks and Policies</a:t>
            </a:r>
            <a:r>
              <a:rPr lang="ja-JP" altLang="en-US" sz="2400">
                <a:solidFill>
                  <a:srgbClr val="344251"/>
                </a:solidFill>
                <a:ea typeface="Meiryo UI" panose="020B0604030504040204" pitchFamily="50" charset="-128"/>
              </a:rPr>
              <a:t> </a:t>
            </a:r>
            <a:r>
              <a:rPr lang="en-US" altLang="ja-JP" sz="2400" dirty="0">
                <a:solidFill>
                  <a:srgbClr val="344251"/>
                </a:solidFill>
                <a:ea typeface="Meiryo UI" panose="020B0604030504040204" pitchFamily="50" charset="-128"/>
              </a:rPr>
              <a:t>FY25</a:t>
            </a:r>
            <a:br>
              <a:rPr lang="ja-JP" altLang="en-US" sz="2400">
                <a:solidFill>
                  <a:srgbClr val="344251"/>
                </a:solidFill>
                <a:ea typeface="Meiryo UI" panose="020B0604030504040204" pitchFamily="50" charset="-128"/>
              </a:rPr>
            </a:br>
            <a:endParaRPr lang="ja-JP" altLang="en-US" sz="2400" dirty="0">
              <a:solidFill>
                <a:srgbClr val="344251"/>
              </a:solidFill>
            </a:endParaRPr>
          </a:p>
        </p:txBody>
      </p:sp>
      <p:sp>
        <p:nvSpPr>
          <p:cNvPr id="12" name="Text Box 294">
            <a:extLst>
              <a:ext uri="{FF2B5EF4-FFF2-40B4-BE49-F238E27FC236}">
                <a16:creationId xmlns:a16="http://schemas.microsoft.com/office/drawing/2014/main" id="{147960F9-9270-99A1-EAAE-50330C6EEAEA}"/>
              </a:ext>
            </a:extLst>
          </p:cNvPr>
          <p:cNvSpPr txBox="1">
            <a:spLocks noChangeArrowheads="1"/>
          </p:cNvSpPr>
          <p:nvPr/>
        </p:nvSpPr>
        <p:spPr bwMode="auto">
          <a:xfrm>
            <a:off x="11295218" y="4191219"/>
            <a:ext cx="576000" cy="533590"/>
          </a:xfrm>
          <a:prstGeom prst="rect">
            <a:avLst/>
          </a:prstGeom>
          <a:solidFill>
            <a:srgbClr val="92D05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16" name="Text Box 294">
            <a:extLst>
              <a:ext uri="{FF2B5EF4-FFF2-40B4-BE49-F238E27FC236}">
                <a16:creationId xmlns:a16="http://schemas.microsoft.com/office/drawing/2014/main" id="{9C949286-3C8B-A28B-A5F3-7379F3041392}"/>
              </a:ext>
            </a:extLst>
          </p:cNvPr>
          <p:cNvSpPr txBox="1">
            <a:spLocks noChangeArrowheads="1"/>
          </p:cNvSpPr>
          <p:nvPr/>
        </p:nvSpPr>
        <p:spPr bwMode="auto">
          <a:xfrm>
            <a:off x="11280640" y="2114854"/>
            <a:ext cx="576000" cy="565801"/>
          </a:xfrm>
          <a:prstGeom prst="rect">
            <a:avLst/>
          </a:prstGeom>
          <a:solidFill>
            <a:srgbClr val="92D05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344251"/>
              </a:solidFill>
              <a:effectLst/>
              <a:uLnTx/>
              <a:uFillTx/>
              <a:latin typeface="Meiryo UI"/>
              <a:ea typeface="Meiryo UI"/>
              <a:cs typeface="+mn-cs"/>
            </a:endParaRPr>
          </a:p>
        </p:txBody>
      </p:sp>
      <p:sp>
        <p:nvSpPr>
          <p:cNvPr id="3" name="Text Box 294">
            <a:extLst>
              <a:ext uri="{FF2B5EF4-FFF2-40B4-BE49-F238E27FC236}">
                <a16:creationId xmlns:a16="http://schemas.microsoft.com/office/drawing/2014/main" id="{C909AFA3-A50E-3AD9-BB6A-6F9307BAC55C}"/>
              </a:ext>
            </a:extLst>
          </p:cNvPr>
          <p:cNvSpPr txBox="1">
            <a:spLocks noChangeArrowheads="1"/>
          </p:cNvSpPr>
          <p:nvPr/>
        </p:nvSpPr>
        <p:spPr bwMode="auto">
          <a:xfrm>
            <a:off x="1720579" y="2814362"/>
            <a:ext cx="3783539"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Increase Customer Value</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Reduce brake component costs</a:t>
            </a:r>
            <a:endPar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Introduce BVP braking products</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4" name="Text Box 294">
            <a:extLst>
              <a:ext uri="{FF2B5EF4-FFF2-40B4-BE49-F238E27FC236}">
                <a16:creationId xmlns:a16="http://schemas.microsoft.com/office/drawing/2014/main" id="{259F2DF7-68F3-C543-2B99-96B3F0C1A4B7}"/>
              </a:ext>
            </a:extLst>
          </p:cNvPr>
          <p:cNvSpPr txBox="1">
            <a:spLocks noChangeArrowheads="1"/>
          </p:cNvSpPr>
          <p:nvPr/>
        </p:nvSpPr>
        <p:spPr bwMode="auto">
          <a:xfrm>
            <a:off x="1715692" y="3504728"/>
            <a:ext cx="3788426"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Reduce Customer Downtime</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Improve Roadside Customer Assistance Experience </a:t>
            </a:r>
            <a:endPar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Complete study of Service Providers develop new Process delivering better service and improved value </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5" name="Text Box 294">
            <a:extLst>
              <a:ext uri="{FF2B5EF4-FFF2-40B4-BE49-F238E27FC236}">
                <a16:creationId xmlns:a16="http://schemas.microsoft.com/office/drawing/2014/main" id="{AA172C3D-275C-331D-E23B-4AD35A843D05}"/>
              </a:ext>
            </a:extLst>
          </p:cNvPr>
          <p:cNvSpPr txBox="1">
            <a:spLocks noChangeArrowheads="1"/>
          </p:cNvSpPr>
          <p:nvPr/>
        </p:nvSpPr>
        <p:spPr bwMode="auto">
          <a:xfrm>
            <a:off x="1726421" y="4182750"/>
            <a:ext cx="3777697"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 Increase Customer Satisfaction</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a:t>
            </a: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Corrosion prevention</a:t>
            </a:r>
            <a:endParaRPr kumimoji="1" lang="en-US" altLang="ja-JP"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a:t>
            </a: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Develop UK facility &amp;  procedure to prevent chassis rust </a:t>
            </a:r>
          </a:p>
        </p:txBody>
      </p:sp>
      <p:sp>
        <p:nvSpPr>
          <p:cNvPr id="6" name="Text Box 294">
            <a:extLst>
              <a:ext uri="{FF2B5EF4-FFF2-40B4-BE49-F238E27FC236}">
                <a16:creationId xmlns:a16="http://schemas.microsoft.com/office/drawing/2014/main" id="{509B8F23-BAE0-1C1C-9BE9-7F1757807934}"/>
              </a:ext>
            </a:extLst>
          </p:cNvPr>
          <p:cNvSpPr txBox="1">
            <a:spLocks noChangeArrowheads="1"/>
          </p:cNvSpPr>
          <p:nvPr/>
        </p:nvSpPr>
        <p:spPr bwMode="auto">
          <a:xfrm>
            <a:off x="1726567" y="4840891"/>
            <a:ext cx="3781850"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VL26 Launch Preparation </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Prepare for EV Maintenance </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Ensure Dealer Network completes VL26 Training Program and conforms to all required Health &amp; Safety legislation </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18" name="Text Box 294">
            <a:extLst>
              <a:ext uri="{FF2B5EF4-FFF2-40B4-BE49-F238E27FC236}">
                <a16:creationId xmlns:a16="http://schemas.microsoft.com/office/drawing/2014/main" id="{269AE6C4-61EB-F127-E437-DD4009AABC78}"/>
              </a:ext>
            </a:extLst>
          </p:cNvPr>
          <p:cNvSpPr txBox="1">
            <a:spLocks noChangeArrowheads="1"/>
          </p:cNvSpPr>
          <p:nvPr/>
        </p:nvSpPr>
        <p:spPr bwMode="auto">
          <a:xfrm>
            <a:off x="11279678" y="3487019"/>
            <a:ext cx="576000" cy="590257"/>
          </a:xfrm>
          <a:prstGeom prst="rect">
            <a:avLst/>
          </a:prstGeom>
          <a:solidFill>
            <a:srgbClr val="92D05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344251"/>
              </a:solidFill>
              <a:effectLst/>
              <a:uLnTx/>
              <a:uFillTx/>
              <a:latin typeface="Meiryo UI"/>
              <a:ea typeface="Meiryo UI"/>
              <a:cs typeface="+mn-cs"/>
            </a:endParaRPr>
          </a:p>
        </p:txBody>
      </p:sp>
      <p:sp>
        <p:nvSpPr>
          <p:cNvPr id="31" name="Text Box 294">
            <a:extLst>
              <a:ext uri="{FF2B5EF4-FFF2-40B4-BE49-F238E27FC236}">
                <a16:creationId xmlns:a16="http://schemas.microsoft.com/office/drawing/2014/main" id="{7F4991E4-6B6D-11F3-41C5-83ECCDBD4F80}"/>
              </a:ext>
            </a:extLst>
          </p:cNvPr>
          <p:cNvSpPr txBox="1">
            <a:spLocks noChangeArrowheads="1"/>
          </p:cNvSpPr>
          <p:nvPr/>
        </p:nvSpPr>
        <p:spPr bwMode="auto">
          <a:xfrm>
            <a:off x="11295218" y="4831931"/>
            <a:ext cx="576000" cy="585434"/>
          </a:xfrm>
          <a:prstGeom prst="rect">
            <a:avLst/>
          </a:prstGeom>
          <a:solidFill>
            <a:srgbClr val="FFFF0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10" name="Text Box 294">
            <a:extLst>
              <a:ext uri="{FF2B5EF4-FFF2-40B4-BE49-F238E27FC236}">
                <a16:creationId xmlns:a16="http://schemas.microsoft.com/office/drawing/2014/main" id="{DE1CA0EE-7CC8-8D76-9CC7-580743E2AD43}"/>
              </a:ext>
            </a:extLst>
          </p:cNvPr>
          <p:cNvSpPr txBox="1">
            <a:spLocks noChangeArrowheads="1"/>
          </p:cNvSpPr>
          <p:nvPr/>
        </p:nvSpPr>
        <p:spPr bwMode="auto">
          <a:xfrm>
            <a:off x="335360" y="2107477"/>
            <a:ext cx="1300799" cy="573178"/>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600" b="0" i="0" u="none" strike="noStrike" kern="1200" cap="none" spc="0" normalizeH="0" baseline="0" noProof="0" dirty="0">
              <a:ln>
                <a:noFill/>
              </a:ln>
              <a:solidFill>
                <a:srgbClr val="344251"/>
              </a:solidFill>
              <a:effectLst/>
              <a:uLnTx/>
              <a:uFillTx/>
              <a:latin typeface="Arial" pitchFamily="34" charset="0"/>
              <a:ea typeface="Meiryo UI"/>
              <a:cs typeface="+mn-cs"/>
            </a:endParaRPr>
          </a:p>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344251"/>
                </a:solidFill>
                <a:effectLst/>
                <a:uLnTx/>
                <a:uFillTx/>
                <a:latin typeface="Arial" pitchFamily="34" charset="0"/>
                <a:ea typeface="Meiryo UI"/>
                <a:cs typeface="+mn-cs"/>
              </a:rPr>
              <a:t>Sales &amp; Marketing </a:t>
            </a:r>
          </a:p>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6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13" name="Text Box 294">
            <a:extLst>
              <a:ext uri="{FF2B5EF4-FFF2-40B4-BE49-F238E27FC236}">
                <a16:creationId xmlns:a16="http://schemas.microsoft.com/office/drawing/2014/main" id="{244881A9-FC00-EB72-56F7-8BB2EE197612}"/>
              </a:ext>
            </a:extLst>
          </p:cNvPr>
          <p:cNvSpPr txBox="1">
            <a:spLocks noChangeArrowheads="1"/>
          </p:cNvSpPr>
          <p:nvPr/>
        </p:nvSpPr>
        <p:spPr bwMode="auto">
          <a:xfrm>
            <a:off x="325535" y="2799100"/>
            <a:ext cx="1300799" cy="583296"/>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344251"/>
                </a:solidFill>
                <a:effectLst/>
                <a:uLnTx/>
                <a:uFillTx/>
                <a:latin typeface="+mn-lt"/>
                <a:ea typeface="Meiryo UI"/>
                <a:cs typeface="+mn-cs"/>
              </a:rPr>
              <a:t>Parts </a:t>
            </a:r>
          </a:p>
        </p:txBody>
      </p:sp>
      <p:sp>
        <p:nvSpPr>
          <p:cNvPr id="15" name="Text Box 294">
            <a:extLst>
              <a:ext uri="{FF2B5EF4-FFF2-40B4-BE49-F238E27FC236}">
                <a16:creationId xmlns:a16="http://schemas.microsoft.com/office/drawing/2014/main" id="{25DFE52A-2A4D-985C-682C-E35B000302F4}"/>
              </a:ext>
            </a:extLst>
          </p:cNvPr>
          <p:cNvSpPr txBox="1">
            <a:spLocks noChangeArrowheads="1"/>
          </p:cNvSpPr>
          <p:nvPr/>
        </p:nvSpPr>
        <p:spPr bwMode="auto">
          <a:xfrm>
            <a:off x="335360" y="4846749"/>
            <a:ext cx="1300799" cy="583296"/>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sz="16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Operations</a:t>
            </a:r>
            <a:endParaRPr kumimoji="1" lang="en-US" altLang="ja-JP" sz="16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35" name="Text Box 294">
            <a:extLst>
              <a:ext uri="{FF2B5EF4-FFF2-40B4-BE49-F238E27FC236}">
                <a16:creationId xmlns:a16="http://schemas.microsoft.com/office/drawing/2014/main" id="{563F50D0-DB2D-5BC5-C91A-396F960E2049}"/>
              </a:ext>
            </a:extLst>
          </p:cNvPr>
          <p:cNvSpPr txBox="1">
            <a:spLocks noChangeArrowheads="1"/>
          </p:cNvSpPr>
          <p:nvPr/>
        </p:nvSpPr>
        <p:spPr bwMode="auto">
          <a:xfrm>
            <a:off x="11270378" y="2814362"/>
            <a:ext cx="576000" cy="590940"/>
          </a:xfrm>
          <a:prstGeom prst="rect">
            <a:avLst/>
          </a:prstGeom>
          <a:solidFill>
            <a:srgbClr val="FFFF0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p:txBody>
      </p:sp>
    </p:spTree>
    <p:extLst>
      <p:ext uri="{BB962C8B-B14F-4D97-AF65-F5344CB8AC3E}">
        <p14:creationId xmlns:p14="http://schemas.microsoft.com/office/powerpoint/2010/main" val="86323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A2DB3-1C9A-1C45-4949-C9947F12913F}"/>
            </a:ext>
          </a:extLst>
        </p:cNvPr>
        <p:cNvGrpSpPr/>
        <p:nvPr/>
      </p:nvGrpSpPr>
      <p:grpSpPr>
        <a:xfrm>
          <a:off x="0" y="0"/>
          <a:ext cx="0" cy="0"/>
          <a:chOff x="0" y="0"/>
          <a:chExt cx="0" cy="0"/>
        </a:xfrm>
      </p:grpSpPr>
      <p:sp>
        <p:nvSpPr>
          <p:cNvPr id="8" name="Text Box 294">
            <a:extLst>
              <a:ext uri="{FF2B5EF4-FFF2-40B4-BE49-F238E27FC236}">
                <a16:creationId xmlns:a16="http://schemas.microsoft.com/office/drawing/2014/main" id="{1794F1B9-7126-AECC-6FEE-30CD52867447}"/>
              </a:ext>
            </a:extLst>
          </p:cNvPr>
          <p:cNvSpPr txBox="1">
            <a:spLocks noChangeArrowheads="1"/>
          </p:cNvSpPr>
          <p:nvPr/>
        </p:nvSpPr>
        <p:spPr bwMode="auto">
          <a:xfrm>
            <a:off x="5554928" y="1484374"/>
            <a:ext cx="1704588"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dirty="0">
                <a:ln>
                  <a:noFill/>
                </a:ln>
                <a:solidFill>
                  <a:srgbClr val="344251"/>
                </a:solidFill>
                <a:effectLst/>
                <a:uLnTx/>
                <a:uFillTx/>
                <a:latin typeface="Arial"/>
                <a:ea typeface="Meiryo UI"/>
                <a:cs typeface="+mn-cs"/>
              </a:rPr>
              <a:t>KPI</a:t>
            </a:r>
          </a:p>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dirty="0">
                <a:ln>
                  <a:noFill/>
                </a:ln>
                <a:solidFill>
                  <a:srgbClr val="344251"/>
                </a:solidFill>
                <a:effectLst/>
                <a:uLnTx/>
                <a:uFillTx/>
                <a:latin typeface="Arial"/>
                <a:ea typeface="Meiryo UI"/>
                <a:cs typeface="+mn-cs"/>
              </a:rPr>
              <a:t>(Closing</a:t>
            </a:r>
            <a:r>
              <a:rPr kumimoji="1" lang="ja-JP" altLang="en-US" sz="800" b="1"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800" b="1" i="0" u="none" strike="noStrike" kern="1200" cap="none" spc="0" normalizeH="0" baseline="0" noProof="0" dirty="0">
                <a:ln>
                  <a:noFill/>
                </a:ln>
                <a:solidFill>
                  <a:srgbClr val="344251"/>
                </a:solidFill>
                <a:effectLst/>
                <a:uLnTx/>
                <a:uFillTx/>
                <a:latin typeface="Arial"/>
                <a:ea typeface="Meiryo UI"/>
                <a:cs typeface="+mn-cs"/>
              </a:rPr>
              <a:t>Conditions)</a:t>
            </a:r>
          </a:p>
        </p:txBody>
      </p:sp>
      <p:sp>
        <p:nvSpPr>
          <p:cNvPr id="11" name="Text Box 294">
            <a:extLst>
              <a:ext uri="{FF2B5EF4-FFF2-40B4-BE49-F238E27FC236}">
                <a16:creationId xmlns:a16="http://schemas.microsoft.com/office/drawing/2014/main" id="{D2D37C08-128C-AAF2-2079-B441F393FA09}"/>
              </a:ext>
            </a:extLst>
          </p:cNvPr>
          <p:cNvSpPr txBox="1">
            <a:spLocks noChangeArrowheads="1"/>
          </p:cNvSpPr>
          <p:nvPr/>
        </p:nvSpPr>
        <p:spPr bwMode="auto">
          <a:xfrm>
            <a:off x="5554928" y="2108952"/>
            <a:ext cx="1704588" cy="576222"/>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When Dealer Reviews are concluded and full presentations received </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14" name="Text Box 294">
            <a:extLst>
              <a:ext uri="{FF2B5EF4-FFF2-40B4-BE49-F238E27FC236}">
                <a16:creationId xmlns:a16="http://schemas.microsoft.com/office/drawing/2014/main" id="{3E8ABCEF-075E-97A7-86B9-EE769FB4976D}"/>
              </a:ext>
            </a:extLst>
          </p:cNvPr>
          <p:cNvSpPr txBox="1">
            <a:spLocks noChangeArrowheads="1"/>
          </p:cNvSpPr>
          <p:nvPr/>
        </p:nvSpPr>
        <p:spPr bwMode="auto">
          <a:xfrm>
            <a:off x="5576912" y="2807275"/>
            <a:ext cx="1672101" cy="583561"/>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Increased Prospect customer records and consistent use of professional quotation template </a:t>
            </a:r>
          </a:p>
        </p:txBody>
      </p:sp>
      <p:sp>
        <p:nvSpPr>
          <p:cNvPr id="19" name="Text Box 294">
            <a:extLst>
              <a:ext uri="{FF2B5EF4-FFF2-40B4-BE49-F238E27FC236}">
                <a16:creationId xmlns:a16="http://schemas.microsoft.com/office/drawing/2014/main" id="{85275C01-2EAB-B912-A544-7804BD59F3B1}"/>
              </a:ext>
            </a:extLst>
          </p:cNvPr>
          <p:cNvSpPr txBox="1">
            <a:spLocks noChangeArrowheads="1"/>
          </p:cNvSpPr>
          <p:nvPr/>
        </p:nvSpPr>
        <p:spPr bwMode="auto">
          <a:xfrm>
            <a:off x="5577115" y="3504727"/>
            <a:ext cx="1671898" cy="576475"/>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Communication between ITUK &amp; Dealer improved and  negative Customer Service feedback reduces further</a:t>
            </a:r>
          </a:p>
        </p:txBody>
      </p:sp>
      <p:sp>
        <p:nvSpPr>
          <p:cNvPr id="20" name="Text Box 294">
            <a:extLst>
              <a:ext uri="{FF2B5EF4-FFF2-40B4-BE49-F238E27FC236}">
                <a16:creationId xmlns:a16="http://schemas.microsoft.com/office/drawing/2014/main" id="{E2773229-5004-3BD6-A7D9-9CD2B2EDC8F7}"/>
              </a:ext>
            </a:extLst>
          </p:cNvPr>
          <p:cNvSpPr txBox="1">
            <a:spLocks noChangeArrowheads="1"/>
          </p:cNvSpPr>
          <p:nvPr/>
        </p:nvSpPr>
        <p:spPr bwMode="auto">
          <a:xfrm>
            <a:off x="5562289" y="4199225"/>
            <a:ext cx="1688865" cy="559999"/>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System is being utilized and increased level of After Sales data collected </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21" name="Text Box 294">
            <a:extLst>
              <a:ext uri="{FF2B5EF4-FFF2-40B4-BE49-F238E27FC236}">
                <a16:creationId xmlns:a16="http://schemas.microsoft.com/office/drawing/2014/main" id="{D6EC1799-D3B4-21C9-7FF0-94DD74589C8A}"/>
              </a:ext>
            </a:extLst>
          </p:cNvPr>
          <p:cNvSpPr txBox="1">
            <a:spLocks noChangeArrowheads="1"/>
          </p:cNvSpPr>
          <p:nvPr/>
        </p:nvSpPr>
        <p:spPr bwMode="auto">
          <a:xfrm>
            <a:off x="5554928" y="4831931"/>
            <a:ext cx="1704588" cy="604746"/>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Dealer DMS links established and auto download of composite data available</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26" name="Text Box 294">
            <a:extLst>
              <a:ext uri="{FF2B5EF4-FFF2-40B4-BE49-F238E27FC236}">
                <a16:creationId xmlns:a16="http://schemas.microsoft.com/office/drawing/2014/main" id="{C6284720-78EF-012B-0743-896377650C9E}"/>
              </a:ext>
            </a:extLst>
          </p:cNvPr>
          <p:cNvSpPr txBox="1">
            <a:spLocks noChangeArrowheads="1"/>
          </p:cNvSpPr>
          <p:nvPr/>
        </p:nvSpPr>
        <p:spPr bwMode="auto">
          <a:xfrm>
            <a:off x="335360" y="1472471"/>
            <a:ext cx="1300799"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dirty="0">
                <a:ln>
                  <a:noFill/>
                </a:ln>
                <a:solidFill>
                  <a:srgbClr val="344251"/>
                </a:solidFill>
                <a:effectLst/>
                <a:uLnTx/>
                <a:uFillTx/>
                <a:latin typeface="Arial"/>
                <a:ea typeface="Meiryo UI"/>
                <a:cs typeface="+mn-cs"/>
              </a:rPr>
              <a:t>Policies &amp; Tasks</a:t>
            </a:r>
          </a:p>
        </p:txBody>
      </p:sp>
      <p:sp>
        <p:nvSpPr>
          <p:cNvPr id="27" name="Text Box 294">
            <a:extLst>
              <a:ext uri="{FF2B5EF4-FFF2-40B4-BE49-F238E27FC236}">
                <a16:creationId xmlns:a16="http://schemas.microsoft.com/office/drawing/2014/main" id="{B7929419-F151-2DEA-9901-3569FFD0CCEB}"/>
              </a:ext>
            </a:extLst>
          </p:cNvPr>
          <p:cNvSpPr txBox="1">
            <a:spLocks noChangeArrowheads="1"/>
          </p:cNvSpPr>
          <p:nvPr/>
        </p:nvSpPr>
        <p:spPr bwMode="auto">
          <a:xfrm>
            <a:off x="335361" y="961413"/>
            <a:ext cx="1300798" cy="43311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477" b="1" i="0" u="none" strike="noStrike" kern="1200" cap="none" spc="0" normalizeH="0" baseline="0" noProof="0" dirty="0">
                <a:ln>
                  <a:noFill/>
                </a:ln>
                <a:solidFill>
                  <a:srgbClr val="344251"/>
                </a:solidFill>
                <a:effectLst/>
                <a:uLnTx/>
                <a:uFillTx/>
                <a:latin typeface="Arial"/>
                <a:ea typeface="Meiryo UI"/>
                <a:cs typeface="+mn-cs"/>
              </a:rPr>
              <a:t>Major</a:t>
            </a:r>
            <a:r>
              <a:rPr kumimoji="1" lang="ja-JP" altLang="en-US" sz="1477" b="1"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1477" b="1" i="0" u="none" strike="noStrike" kern="1200" cap="none" spc="0" normalizeH="0" baseline="0" noProof="0" dirty="0">
                <a:ln>
                  <a:noFill/>
                </a:ln>
                <a:solidFill>
                  <a:srgbClr val="344251"/>
                </a:solidFill>
                <a:effectLst/>
                <a:uLnTx/>
                <a:uFillTx/>
                <a:latin typeface="Arial"/>
                <a:ea typeface="Meiryo UI"/>
                <a:cs typeface="+mn-cs"/>
              </a:rPr>
              <a:t>Policy</a:t>
            </a:r>
          </a:p>
        </p:txBody>
      </p:sp>
      <p:sp>
        <p:nvSpPr>
          <p:cNvPr id="29" name="Text Box 294">
            <a:extLst>
              <a:ext uri="{FF2B5EF4-FFF2-40B4-BE49-F238E27FC236}">
                <a16:creationId xmlns:a16="http://schemas.microsoft.com/office/drawing/2014/main" id="{326592DC-6404-9236-2819-DA531BAB3097}"/>
              </a:ext>
            </a:extLst>
          </p:cNvPr>
          <p:cNvSpPr txBox="1">
            <a:spLocks noChangeArrowheads="1"/>
          </p:cNvSpPr>
          <p:nvPr/>
        </p:nvSpPr>
        <p:spPr bwMode="auto">
          <a:xfrm>
            <a:off x="335360" y="4182749"/>
            <a:ext cx="1300799" cy="1234615"/>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sz="16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Operations</a:t>
            </a:r>
            <a:endParaRPr kumimoji="1" lang="en-US" altLang="ja-JP" sz="16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32" name="Text Box 294">
            <a:extLst>
              <a:ext uri="{FF2B5EF4-FFF2-40B4-BE49-F238E27FC236}">
                <a16:creationId xmlns:a16="http://schemas.microsoft.com/office/drawing/2014/main" id="{AD42A76B-2F3A-FFA9-A851-8154CC12645C}"/>
              </a:ext>
            </a:extLst>
          </p:cNvPr>
          <p:cNvSpPr txBox="1">
            <a:spLocks noChangeArrowheads="1"/>
          </p:cNvSpPr>
          <p:nvPr/>
        </p:nvSpPr>
        <p:spPr bwMode="auto">
          <a:xfrm>
            <a:off x="1720579" y="1472471"/>
            <a:ext cx="3783539"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344251"/>
                </a:solidFill>
                <a:effectLst/>
                <a:uLnTx/>
                <a:uFillTx/>
                <a:latin typeface="Arial"/>
                <a:ea typeface="Meiryo UI"/>
                <a:cs typeface="+mn-cs"/>
              </a:rPr>
              <a:t>●</a:t>
            </a:r>
            <a:r>
              <a:rPr kumimoji="1" lang="en-US" altLang="ja-JP" sz="1200" b="1" i="0" u="none" strike="noStrike" kern="1200" cap="none" spc="0" normalizeH="0" baseline="0" noProof="0">
                <a:ln>
                  <a:noFill/>
                </a:ln>
                <a:solidFill>
                  <a:srgbClr val="344251"/>
                </a:solidFill>
                <a:effectLst/>
                <a:uLnTx/>
                <a:uFillTx/>
                <a:latin typeface="Arial"/>
                <a:ea typeface="Meiryo UI"/>
                <a:cs typeface="+mn-cs"/>
              </a:rPr>
              <a:t>Priority</a:t>
            </a:r>
            <a:r>
              <a:rPr kumimoji="1" lang="ja-JP" altLang="en-US" sz="1200" b="1" i="0" u="none" strike="noStrike" kern="1200" cap="none" spc="0" normalizeH="0" baseline="0" noProof="0">
                <a:ln>
                  <a:noFill/>
                </a:ln>
                <a:solidFill>
                  <a:srgbClr val="344251"/>
                </a:solidFill>
                <a:effectLst/>
                <a:uLnTx/>
                <a:uFillTx/>
                <a:latin typeface="Arial"/>
                <a:ea typeface="Meiryo UI"/>
                <a:cs typeface="+mn-cs"/>
              </a:rPr>
              <a:t> </a:t>
            </a:r>
            <a:r>
              <a:rPr kumimoji="1" lang="en-US" altLang="ja-JP" sz="1200" b="1" i="0" u="none" strike="noStrike" kern="1200" cap="none" spc="0" normalizeH="0" baseline="0" noProof="0">
                <a:ln>
                  <a:noFill/>
                </a:ln>
                <a:solidFill>
                  <a:srgbClr val="344251"/>
                </a:solidFill>
                <a:effectLst/>
                <a:uLnTx/>
                <a:uFillTx/>
                <a:latin typeface="Arial"/>
                <a:ea typeface="Meiryo UI"/>
                <a:cs typeface="+mn-cs"/>
              </a:rPr>
              <a:t>Measures</a:t>
            </a:r>
          </a:p>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344251"/>
                </a:solidFill>
                <a:effectLst/>
                <a:uLnTx/>
                <a:uFillTx/>
                <a:latin typeface="Arial"/>
                <a:ea typeface="Meiryo UI"/>
                <a:cs typeface="+mn-cs"/>
              </a:rPr>
              <a:t>Outline(Methods/Strategies)</a:t>
            </a:r>
          </a:p>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344251"/>
                </a:solidFill>
                <a:effectLst/>
                <a:uLnTx/>
                <a:uFillTx/>
                <a:latin typeface="Arial"/>
                <a:ea typeface="Meiryo UI"/>
                <a:cs typeface="+mn-cs"/>
              </a:rPr>
              <a:t>Original Aim</a:t>
            </a:r>
          </a:p>
        </p:txBody>
      </p:sp>
      <p:sp>
        <p:nvSpPr>
          <p:cNvPr id="33" name="Text Box 294">
            <a:extLst>
              <a:ext uri="{FF2B5EF4-FFF2-40B4-BE49-F238E27FC236}">
                <a16:creationId xmlns:a16="http://schemas.microsoft.com/office/drawing/2014/main" id="{8FDC7B98-9344-AD1D-8E83-3EC32137056D}"/>
              </a:ext>
            </a:extLst>
          </p:cNvPr>
          <p:cNvSpPr txBox="1">
            <a:spLocks noChangeArrowheads="1"/>
          </p:cNvSpPr>
          <p:nvPr/>
        </p:nvSpPr>
        <p:spPr bwMode="auto">
          <a:xfrm>
            <a:off x="1720579" y="2108699"/>
            <a:ext cx="3783539"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Dealer Engagement</a:t>
            </a:r>
            <a:endPar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Repeat National Dealer Reviews in 2026</a:t>
            </a:r>
            <a:endPar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Gain complete understanding of all Dealership functions, performance and Area of Responsibility market conditions </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34" name="Text Box 294">
            <a:extLst>
              <a:ext uri="{FF2B5EF4-FFF2-40B4-BE49-F238E27FC236}">
                <a16:creationId xmlns:a16="http://schemas.microsoft.com/office/drawing/2014/main" id="{90784A1A-F2E4-FB49-11CA-C0AFA80BD480}"/>
              </a:ext>
            </a:extLst>
          </p:cNvPr>
          <p:cNvSpPr txBox="1">
            <a:spLocks noChangeArrowheads="1"/>
          </p:cNvSpPr>
          <p:nvPr/>
        </p:nvSpPr>
        <p:spPr bwMode="auto">
          <a:xfrm>
            <a:off x="8186237" y="1469877"/>
            <a:ext cx="2985796"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344251"/>
                </a:solidFill>
                <a:effectLst/>
                <a:uLnTx/>
                <a:uFillTx/>
                <a:latin typeface="Arial"/>
                <a:ea typeface="Meiryo UI"/>
                <a:cs typeface="+mn-cs"/>
              </a:rPr>
              <a:t>Progress</a:t>
            </a:r>
          </a:p>
        </p:txBody>
      </p:sp>
      <p:sp>
        <p:nvSpPr>
          <p:cNvPr id="61" name="Text Box 294">
            <a:extLst>
              <a:ext uri="{FF2B5EF4-FFF2-40B4-BE49-F238E27FC236}">
                <a16:creationId xmlns:a16="http://schemas.microsoft.com/office/drawing/2014/main" id="{5B78DE13-1190-8199-B734-F36424FB8EA8}"/>
              </a:ext>
            </a:extLst>
          </p:cNvPr>
          <p:cNvSpPr txBox="1">
            <a:spLocks noChangeArrowheads="1"/>
          </p:cNvSpPr>
          <p:nvPr/>
        </p:nvSpPr>
        <p:spPr bwMode="auto">
          <a:xfrm>
            <a:off x="8165954" y="2116294"/>
            <a:ext cx="3016221" cy="576223"/>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rPr>
              <a:t>Plan to move into 2027 due to delayed Launch of P700 in 2026</a:t>
            </a:r>
          </a:p>
        </p:txBody>
      </p:sp>
      <p:sp>
        <p:nvSpPr>
          <p:cNvPr id="67" name="Text Box 294">
            <a:extLst>
              <a:ext uri="{FF2B5EF4-FFF2-40B4-BE49-F238E27FC236}">
                <a16:creationId xmlns:a16="http://schemas.microsoft.com/office/drawing/2014/main" id="{57FBE013-B108-9B5D-54EE-1F0ED1EF065E}"/>
              </a:ext>
            </a:extLst>
          </p:cNvPr>
          <p:cNvSpPr txBox="1">
            <a:spLocks noChangeArrowheads="1"/>
          </p:cNvSpPr>
          <p:nvPr/>
        </p:nvSpPr>
        <p:spPr bwMode="auto">
          <a:xfrm>
            <a:off x="11280640" y="1481081"/>
            <a:ext cx="576000"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err="1">
                <a:ln>
                  <a:noFill/>
                </a:ln>
                <a:solidFill>
                  <a:srgbClr val="344251"/>
                </a:solidFill>
                <a:effectLst/>
                <a:uLnTx/>
                <a:uFillTx/>
                <a:latin typeface="Arial"/>
                <a:ea typeface="Meiryo UI"/>
                <a:cs typeface="+mn-cs"/>
              </a:rPr>
              <a:t>Assmt</a:t>
            </a:r>
            <a:r>
              <a:rPr kumimoji="1" lang="en-US" altLang="ja-JP" sz="900" b="1" i="0" u="none" strike="noStrike" kern="1200" cap="none" spc="0" normalizeH="0" baseline="0" noProof="0">
                <a:ln>
                  <a:noFill/>
                </a:ln>
                <a:solidFill>
                  <a:srgbClr val="344251"/>
                </a:solidFill>
                <a:effectLst/>
                <a:uLnTx/>
                <a:uFillTx/>
                <a:latin typeface="Arial"/>
                <a:ea typeface="Meiryo UI"/>
                <a:cs typeface="+mn-cs"/>
              </a:rPr>
              <a:t>.</a:t>
            </a:r>
          </a:p>
        </p:txBody>
      </p:sp>
      <p:sp>
        <p:nvSpPr>
          <p:cNvPr id="80" name="Text Box 294">
            <a:extLst>
              <a:ext uri="{FF2B5EF4-FFF2-40B4-BE49-F238E27FC236}">
                <a16:creationId xmlns:a16="http://schemas.microsoft.com/office/drawing/2014/main" id="{9FC70073-F386-58D3-2421-DFE086AD768B}"/>
              </a:ext>
            </a:extLst>
          </p:cNvPr>
          <p:cNvSpPr txBox="1">
            <a:spLocks noChangeArrowheads="1"/>
          </p:cNvSpPr>
          <p:nvPr/>
        </p:nvSpPr>
        <p:spPr bwMode="auto">
          <a:xfrm>
            <a:off x="8165954" y="2796465"/>
            <a:ext cx="3006079" cy="594372"/>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System development planned to coincide with delayed launch of P700 and connected (to obtain consents for data collection) </a:t>
            </a:r>
          </a:p>
        </p:txBody>
      </p:sp>
      <p:sp>
        <p:nvSpPr>
          <p:cNvPr id="81" name="Text Box 294">
            <a:extLst>
              <a:ext uri="{FF2B5EF4-FFF2-40B4-BE49-F238E27FC236}">
                <a16:creationId xmlns:a16="http://schemas.microsoft.com/office/drawing/2014/main" id="{B04DC806-843C-0C0F-AD5E-061C4D4D9FB6}"/>
              </a:ext>
            </a:extLst>
          </p:cNvPr>
          <p:cNvSpPr txBox="1">
            <a:spLocks noChangeArrowheads="1"/>
          </p:cNvSpPr>
          <p:nvPr/>
        </p:nvSpPr>
        <p:spPr bwMode="auto">
          <a:xfrm>
            <a:off x="335360" y="5521050"/>
            <a:ext cx="1300799" cy="716262"/>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sz="16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Governance</a:t>
            </a:r>
            <a:endParaRPr kumimoji="1" lang="en-US" altLang="ja-JP" sz="1600" b="0" i="0" u="none" strike="noStrike" kern="1200" cap="none" spc="0" normalizeH="0" baseline="0" noProof="0" dirty="0">
              <a:ln>
                <a:noFill/>
              </a:ln>
              <a:solidFill>
                <a:srgbClr val="344251"/>
              </a:solidFill>
              <a:effectLst/>
              <a:uLnTx/>
              <a:uFillTx/>
              <a:latin typeface="Meiryo UI"/>
              <a:ea typeface="Meiryo UI"/>
              <a:cs typeface="+mn-cs"/>
            </a:endParaRPr>
          </a:p>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6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83" name="Text Box 294">
            <a:extLst>
              <a:ext uri="{FF2B5EF4-FFF2-40B4-BE49-F238E27FC236}">
                <a16:creationId xmlns:a16="http://schemas.microsoft.com/office/drawing/2014/main" id="{5F63CC8D-ABD8-33DA-E8C2-E819F8C9D990}"/>
              </a:ext>
            </a:extLst>
          </p:cNvPr>
          <p:cNvSpPr txBox="1">
            <a:spLocks noChangeArrowheads="1"/>
          </p:cNvSpPr>
          <p:nvPr/>
        </p:nvSpPr>
        <p:spPr bwMode="auto">
          <a:xfrm>
            <a:off x="8165954" y="3501444"/>
            <a:ext cx="3016221" cy="579758"/>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Launched within planned timescale </a:t>
            </a:r>
          </a:p>
        </p:txBody>
      </p:sp>
      <p:sp>
        <p:nvSpPr>
          <p:cNvPr id="86" name="Text Box 294">
            <a:extLst>
              <a:ext uri="{FF2B5EF4-FFF2-40B4-BE49-F238E27FC236}">
                <a16:creationId xmlns:a16="http://schemas.microsoft.com/office/drawing/2014/main" id="{7DCD1685-110F-B22A-0F54-FBD2277CC18B}"/>
              </a:ext>
            </a:extLst>
          </p:cNvPr>
          <p:cNvSpPr txBox="1">
            <a:spLocks noChangeArrowheads="1"/>
          </p:cNvSpPr>
          <p:nvPr/>
        </p:nvSpPr>
        <p:spPr bwMode="auto">
          <a:xfrm>
            <a:off x="8186237" y="4194610"/>
            <a:ext cx="2995938" cy="538760"/>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Delayed until real time odometer values can be provided through P700 connected systems </a:t>
            </a:r>
          </a:p>
        </p:txBody>
      </p:sp>
      <p:sp>
        <p:nvSpPr>
          <p:cNvPr id="88" name="Text Box 294">
            <a:extLst>
              <a:ext uri="{FF2B5EF4-FFF2-40B4-BE49-F238E27FC236}">
                <a16:creationId xmlns:a16="http://schemas.microsoft.com/office/drawing/2014/main" id="{8D590CB8-20F4-5977-EB09-7654563BD86B}"/>
              </a:ext>
            </a:extLst>
          </p:cNvPr>
          <p:cNvSpPr txBox="1">
            <a:spLocks noChangeArrowheads="1"/>
          </p:cNvSpPr>
          <p:nvPr/>
        </p:nvSpPr>
        <p:spPr bwMode="auto">
          <a:xfrm>
            <a:off x="8180684" y="4841876"/>
            <a:ext cx="3016221" cy="576475"/>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pitchFamily="34" charset="0"/>
                <a:ea typeface="Meiryo UI"/>
                <a:cs typeface="+mn-cs"/>
              </a:rPr>
              <a:t>Delayed until real time odometer values can be provided through P700 connected systems and introduction of new DMS</a:t>
            </a:r>
          </a:p>
        </p:txBody>
      </p:sp>
      <p:sp>
        <p:nvSpPr>
          <p:cNvPr id="90" name="Text Box 294">
            <a:extLst>
              <a:ext uri="{FF2B5EF4-FFF2-40B4-BE49-F238E27FC236}">
                <a16:creationId xmlns:a16="http://schemas.microsoft.com/office/drawing/2014/main" id="{3448B65C-BC24-64D6-157F-F54106D51EB3}"/>
              </a:ext>
            </a:extLst>
          </p:cNvPr>
          <p:cNvSpPr txBox="1">
            <a:spLocks noChangeArrowheads="1"/>
          </p:cNvSpPr>
          <p:nvPr/>
        </p:nvSpPr>
        <p:spPr bwMode="auto">
          <a:xfrm>
            <a:off x="7327498" y="4194610"/>
            <a:ext cx="789969" cy="542009"/>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End 2024 </a:t>
            </a:r>
            <a:r>
              <a:rPr kumimoji="1" lang="en-GB" altLang="ja-JP" sz="900" b="0" i="0" u="none" strike="noStrike" kern="1200" cap="none" spc="0" normalizeH="0" baseline="0" noProof="0" dirty="0">
                <a:ln>
                  <a:noFill/>
                </a:ln>
                <a:solidFill>
                  <a:srgbClr val="344251"/>
                </a:solidFill>
                <a:effectLst/>
                <a:uLnTx/>
                <a:uFillTx/>
                <a:latin typeface="Arial" pitchFamily="34" charset="0"/>
                <a:ea typeface="Meiryo UI"/>
                <a:cs typeface="+mn-cs"/>
              </a:rPr>
              <a:t>→ Q4 FY25 → </a:t>
            </a: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Q4 FY26</a:t>
            </a:r>
          </a:p>
        </p:txBody>
      </p:sp>
      <p:sp>
        <p:nvSpPr>
          <p:cNvPr id="91" name="Text Box 294">
            <a:extLst>
              <a:ext uri="{FF2B5EF4-FFF2-40B4-BE49-F238E27FC236}">
                <a16:creationId xmlns:a16="http://schemas.microsoft.com/office/drawing/2014/main" id="{7C0566F2-16C8-FBEF-0B7F-B3A45B9AD1C1}"/>
              </a:ext>
            </a:extLst>
          </p:cNvPr>
          <p:cNvSpPr txBox="1">
            <a:spLocks noChangeArrowheads="1"/>
          </p:cNvSpPr>
          <p:nvPr/>
        </p:nvSpPr>
        <p:spPr bwMode="auto">
          <a:xfrm>
            <a:off x="7327497" y="4831931"/>
            <a:ext cx="783931" cy="604746"/>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Q4 FY2025 </a:t>
            </a:r>
            <a:r>
              <a:rPr kumimoji="1" lang="en-GB" altLang="ja-JP" sz="900" b="0" i="0" u="none" strike="noStrike" kern="1200" cap="none" spc="0" normalizeH="0" baseline="0" noProof="0" dirty="0">
                <a:ln>
                  <a:noFill/>
                </a:ln>
                <a:solidFill>
                  <a:srgbClr val="344251"/>
                </a:solidFill>
                <a:effectLst/>
                <a:uLnTx/>
                <a:uFillTx/>
                <a:latin typeface="Arial" pitchFamily="34" charset="0"/>
                <a:ea typeface="Meiryo UI"/>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GB" sz="900" b="0" i="0" u="none" strike="noStrike" kern="1200" cap="none" spc="0" normalizeH="0" baseline="0" noProof="0" dirty="0">
                <a:ln>
                  <a:noFill/>
                </a:ln>
                <a:solidFill>
                  <a:srgbClr val="344251"/>
                </a:solidFill>
                <a:effectLst/>
                <a:uLnTx/>
                <a:uFillTx/>
                <a:latin typeface="Arial" pitchFamily="34" charset="0"/>
                <a:ea typeface="Meiryo UI"/>
                <a:cs typeface="+mn-cs"/>
              </a:rPr>
              <a:t>Q4 FY2026</a:t>
            </a: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 </a:t>
            </a:r>
          </a:p>
        </p:txBody>
      </p:sp>
      <p:sp>
        <p:nvSpPr>
          <p:cNvPr id="92" name="Text Box 294">
            <a:extLst>
              <a:ext uri="{FF2B5EF4-FFF2-40B4-BE49-F238E27FC236}">
                <a16:creationId xmlns:a16="http://schemas.microsoft.com/office/drawing/2014/main" id="{65AEB8C2-5745-F222-D2E5-9953B5465A76}"/>
              </a:ext>
            </a:extLst>
          </p:cNvPr>
          <p:cNvSpPr txBox="1">
            <a:spLocks noChangeArrowheads="1"/>
          </p:cNvSpPr>
          <p:nvPr/>
        </p:nvSpPr>
        <p:spPr bwMode="auto">
          <a:xfrm>
            <a:off x="7320136" y="2798835"/>
            <a:ext cx="798116" cy="583561"/>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Q1 FY25 </a:t>
            </a:r>
            <a:r>
              <a:rPr kumimoji="1" lang="en-GB" altLang="ja-JP" sz="900" b="0" i="0" u="none" strike="noStrike" kern="1200" cap="none" spc="0" normalizeH="0" baseline="0" noProof="0" dirty="0">
                <a:ln>
                  <a:noFill/>
                </a:ln>
                <a:solidFill>
                  <a:srgbClr val="344251"/>
                </a:solidFill>
                <a:effectLst/>
                <a:uLnTx/>
                <a:uFillTx/>
                <a:latin typeface="Arial" pitchFamily="34" charset="0"/>
                <a:ea typeface="Meiryo UI"/>
                <a:cs typeface="+mn-cs"/>
              </a:rPr>
              <a:t>→ Q4 FY25 → Q1 FY26</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93" name="Text Box 294">
            <a:extLst>
              <a:ext uri="{FF2B5EF4-FFF2-40B4-BE49-F238E27FC236}">
                <a16:creationId xmlns:a16="http://schemas.microsoft.com/office/drawing/2014/main" id="{098CBD57-B9ED-095B-4388-1020B6D70EC3}"/>
              </a:ext>
            </a:extLst>
          </p:cNvPr>
          <p:cNvSpPr txBox="1">
            <a:spLocks noChangeArrowheads="1"/>
          </p:cNvSpPr>
          <p:nvPr/>
        </p:nvSpPr>
        <p:spPr bwMode="auto">
          <a:xfrm>
            <a:off x="7320136" y="1470507"/>
            <a:ext cx="805481" cy="576474"/>
          </a:xfrm>
          <a:prstGeom prst="rect">
            <a:avLst/>
          </a:prstGeom>
          <a:solidFill>
            <a:schemeClr val="bg1">
              <a:lumMod val="85000"/>
            </a:schemeClr>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850" b="1" i="0" u="none" strike="noStrike" kern="1200" cap="none" spc="0" normalizeH="0" baseline="0" noProof="0" dirty="0">
                <a:ln>
                  <a:noFill/>
                </a:ln>
                <a:solidFill>
                  <a:srgbClr val="344251"/>
                </a:solidFill>
                <a:effectLst/>
                <a:uLnTx/>
                <a:uFillTx/>
                <a:latin typeface="Arial"/>
                <a:ea typeface="Meiryo UI"/>
                <a:cs typeface="+mn-cs"/>
              </a:rPr>
              <a:t>Completion</a:t>
            </a:r>
            <a:r>
              <a:rPr kumimoji="1" lang="ja-JP" altLang="en-US" sz="850" b="1" i="0" u="none" strike="noStrike" kern="1200" cap="none" spc="0" normalizeH="0" baseline="0" noProof="0" dirty="0">
                <a:ln>
                  <a:noFill/>
                </a:ln>
                <a:solidFill>
                  <a:srgbClr val="344251"/>
                </a:solidFill>
                <a:effectLst/>
                <a:uLnTx/>
                <a:uFillTx/>
                <a:latin typeface="Arial"/>
                <a:ea typeface="Meiryo UI"/>
                <a:cs typeface="+mn-cs"/>
              </a:rPr>
              <a:t> </a:t>
            </a:r>
            <a:r>
              <a:rPr kumimoji="1" lang="en-US" altLang="ja-JP" sz="850" b="1" i="0" u="none" strike="noStrike" kern="1200" cap="none" spc="0" normalizeH="0" baseline="0" noProof="0" dirty="0">
                <a:ln>
                  <a:noFill/>
                </a:ln>
                <a:solidFill>
                  <a:srgbClr val="344251"/>
                </a:solidFill>
                <a:effectLst/>
                <a:uLnTx/>
                <a:uFillTx/>
                <a:latin typeface="Arial"/>
                <a:ea typeface="Meiryo UI"/>
                <a:cs typeface="+mn-cs"/>
              </a:rPr>
              <a:t>Date</a:t>
            </a:r>
          </a:p>
        </p:txBody>
      </p:sp>
      <p:sp>
        <p:nvSpPr>
          <p:cNvPr id="94" name="Text Box 294">
            <a:extLst>
              <a:ext uri="{FF2B5EF4-FFF2-40B4-BE49-F238E27FC236}">
                <a16:creationId xmlns:a16="http://schemas.microsoft.com/office/drawing/2014/main" id="{363EBF3A-CEA2-DDF9-5E7B-A6802D0778C2}"/>
              </a:ext>
            </a:extLst>
          </p:cNvPr>
          <p:cNvSpPr txBox="1">
            <a:spLocks noChangeArrowheads="1"/>
          </p:cNvSpPr>
          <p:nvPr/>
        </p:nvSpPr>
        <p:spPr bwMode="auto">
          <a:xfrm>
            <a:off x="7327500" y="2103454"/>
            <a:ext cx="790752" cy="58906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End 2026 </a:t>
            </a:r>
            <a:r>
              <a:rPr kumimoji="1" lang="en-GB" altLang="ja-JP" sz="900" b="0" i="0" u="none" strike="noStrike" kern="1200" cap="none" spc="0" normalizeH="0" baseline="0" noProof="0" dirty="0">
                <a:ln>
                  <a:noFill/>
                </a:ln>
                <a:solidFill>
                  <a:srgbClr val="344251"/>
                </a:solidFill>
                <a:effectLst/>
                <a:uLnTx/>
                <a:uFillTx/>
                <a:latin typeface="Arial" pitchFamily="34" charset="0"/>
                <a:ea typeface="Meiryo UI"/>
                <a:cs typeface="+mn-cs"/>
              </a:rPr>
              <a:t>→ Q2 FY 2027</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95" name="Text Box 294">
            <a:extLst>
              <a:ext uri="{FF2B5EF4-FFF2-40B4-BE49-F238E27FC236}">
                <a16:creationId xmlns:a16="http://schemas.microsoft.com/office/drawing/2014/main" id="{A91DCF22-B561-4529-A677-0D2CFA5ADF18}"/>
              </a:ext>
            </a:extLst>
          </p:cNvPr>
          <p:cNvSpPr txBox="1">
            <a:spLocks noChangeArrowheads="1"/>
          </p:cNvSpPr>
          <p:nvPr/>
        </p:nvSpPr>
        <p:spPr bwMode="auto">
          <a:xfrm>
            <a:off x="7327500" y="3490368"/>
            <a:ext cx="789968" cy="583561"/>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Q1 FY2025</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7" name="タイトル 6">
            <a:extLst>
              <a:ext uri="{FF2B5EF4-FFF2-40B4-BE49-F238E27FC236}">
                <a16:creationId xmlns:a16="http://schemas.microsoft.com/office/drawing/2014/main" id="{B9CCC722-2492-DF01-7E25-F6BEB821F137}"/>
              </a:ext>
            </a:extLst>
          </p:cNvPr>
          <p:cNvSpPr>
            <a:spLocks noGrp="1"/>
          </p:cNvSpPr>
          <p:nvPr>
            <p:ph type="title"/>
          </p:nvPr>
        </p:nvSpPr>
        <p:spPr/>
        <p:txBody>
          <a:bodyPr/>
          <a:lstStyle/>
          <a:p>
            <a:r>
              <a:rPr lang="en-US" altLang="ja-JP" sz="2400" kern="0" dirty="0">
                <a:solidFill>
                  <a:srgbClr val="344251"/>
                </a:solidFill>
                <a:ea typeface="Meiryo UI" panose="020B0604030504040204" pitchFamily="50" charset="-128"/>
                <a:cs typeface="Calibri" panose="020F0502020204030204" pitchFamily="34" charset="0"/>
              </a:rPr>
              <a:t>Progress Assessment of Mid-Term Tasks and Policies</a:t>
            </a:r>
            <a:r>
              <a:rPr lang="ja-JP" altLang="en-US" sz="2400">
                <a:solidFill>
                  <a:srgbClr val="344251"/>
                </a:solidFill>
                <a:ea typeface="Meiryo UI" panose="020B0604030504040204" pitchFamily="50" charset="-128"/>
              </a:rPr>
              <a:t> </a:t>
            </a:r>
            <a:r>
              <a:rPr lang="en-US" altLang="ja-JP" sz="2400" dirty="0">
                <a:solidFill>
                  <a:srgbClr val="344251"/>
                </a:solidFill>
                <a:ea typeface="Meiryo UI" panose="020B0604030504040204" pitchFamily="50" charset="-128"/>
              </a:rPr>
              <a:t>FY25</a:t>
            </a:r>
            <a:br>
              <a:rPr lang="ja-JP" altLang="en-US" sz="2400">
                <a:solidFill>
                  <a:srgbClr val="344251"/>
                </a:solidFill>
                <a:ea typeface="Meiryo UI" panose="020B0604030504040204" pitchFamily="50" charset="-128"/>
              </a:rPr>
            </a:br>
            <a:br>
              <a:rPr lang="en-GB" altLang="ja-JP" sz="2400" dirty="0">
                <a:solidFill>
                  <a:srgbClr val="344251"/>
                </a:solidFill>
                <a:ea typeface="Meiryo UI" panose="020B0604030504040204" pitchFamily="50" charset="-128"/>
              </a:rPr>
            </a:br>
            <a:endParaRPr lang="ja-JP" altLang="en-US" sz="2400" dirty="0">
              <a:solidFill>
                <a:srgbClr val="344251"/>
              </a:solidFill>
            </a:endParaRPr>
          </a:p>
        </p:txBody>
      </p:sp>
      <p:sp>
        <p:nvSpPr>
          <p:cNvPr id="12" name="Text Box 294">
            <a:extLst>
              <a:ext uri="{FF2B5EF4-FFF2-40B4-BE49-F238E27FC236}">
                <a16:creationId xmlns:a16="http://schemas.microsoft.com/office/drawing/2014/main" id="{5A59B47F-0413-8F91-9139-74F170BB608A}"/>
              </a:ext>
            </a:extLst>
          </p:cNvPr>
          <p:cNvSpPr txBox="1">
            <a:spLocks noChangeArrowheads="1"/>
          </p:cNvSpPr>
          <p:nvPr/>
        </p:nvSpPr>
        <p:spPr bwMode="auto">
          <a:xfrm>
            <a:off x="11295218" y="4191219"/>
            <a:ext cx="576000" cy="533590"/>
          </a:xfrm>
          <a:prstGeom prst="rect">
            <a:avLst/>
          </a:prstGeom>
          <a:solidFill>
            <a:srgbClr val="FFFF0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3" name="Text Box 294">
            <a:extLst>
              <a:ext uri="{FF2B5EF4-FFF2-40B4-BE49-F238E27FC236}">
                <a16:creationId xmlns:a16="http://schemas.microsoft.com/office/drawing/2014/main" id="{276439CE-8DBF-223D-917C-0524565DE761}"/>
              </a:ext>
            </a:extLst>
          </p:cNvPr>
          <p:cNvSpPr txBox="1">
            <a:spLocks noChangeArrowheads="1"/>
          </p:cNvSpPr>
          <p:nvPr/>
        </p:nvSpPr>
        <p:spPr bwMode="auto">
          <a:xfrm>
            <a:off x="1720579" y="2814362"/>
            <a:ext cx="3783539"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IT Systems</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D</a:t>
            </a: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evelop new Sales Prospecting &amp; quotation system</a:t>
            </a:r>
            <a:endPar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Increase visibility of Dealer outbound sales activity levels</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4" name="Text Box 294">
            <a:extLst>
              <a:ext uri="{FF2B5EF4-FFF2-40B4-BE49-F238E27FC236}">
                <a16:creationId xmlns:a16="http://schemas.microsoft.com/office/drawing/2014/main" id="{EF59EE22-F1A2-3A9D-823A-DC7DE2CAFB80}"/>
              </a:ext>
            </a:extLst>
          </p:cNvPr>
          <p:cNvSpPr txBox="1">
            <a:spLocks noChangeArrowheads="1"/>
          </p:cNvSpPr>
          <p:nvPr/>
        </p:nvSpPr>
        <p:spPr bwMode="auto">
          <a:xfrm>
            <a:off x="1715692" y="3504728"/>
            <a:ext cx="3788426"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Dealer KPI’s </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Introduce Joint Customer Service &amp; After Sales KPI incentive </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Utilize significant financial incentives to ensure Dealers increase  Customer support levels &amp; provide improved visibility of repair process</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5" name="Text Box 294">
            <a:extLst>
              <a:ext uri="{FF2B5EF4-FFF2-40B4-BE49-F238E27FC236}">
                <a16:creationId xmlns:a16="http://schemas.microsoft.com/office/drawing/2014/main" id="{E7B1F978-31D6-7EDA-B9FC-3FDECAA9210A}"/>
              </a:ext>
            </a:extLst>
          </p:cNvPr>
          <p:cNvSpPr txBox="1">
            <a:spLocks noChangeArrowheads="1"/>
          </p:cNvSpPr>
          <p:nvPr/>
        </p:nvSpPr>
        <p:spPr bwMode="auto">
          <a:xfrm>
            <a:off x="1726421" y="4182750"/>
            <a:ext cx="3777697"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Dealer Management</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Extend functionality of I-Maintain System </a:t>
            </a:r>
            <a:endPar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Incentive I-Maintain System use for retail customer maintenance increasing comprehensive reporting of Dealer After Sales activity </a:t>
            </a:r>
            <a:endParaRPr kumimoji="1" lang="en-US" altLang="ja-JP"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Roboto" panose="02000000000000000000" pitchFamily="2" charset="0"/>
            </a:endParaRPr>
          </a:p>
        </p:txBody>
      </p:sp>
      <p:sp>
        <p:nvSpPr>
          <p:cNvPr id="6" name="Text Box 294">
            <a:extLst>
              <a:ext uri="{FF2B5EF4-FFF2-40B4-BE49-F238E27FC236}">
                <a16:creationId xmlns:a16="http://schemas.microsoft.com/office/drawing/2014/main" id="{470813FE-B49D-A2F0-F694-17F1BD2FEBFA}"/>
              </a:ext>
            </a:extLst>
          </p:cNvPr>
          <p:cNvSpPr txBox="1">
            <a:spLocks noChangeArrowheads="1"/>
          </p:cNvSpPr>
          <p:nvPr/>
        </p:nvSpPr>
        <p:spPr bwMode="auto">
          <a:xfrm>
            <a:off x="1726567" y="4840891"/>
            <a:ext cx="3781850" cy="576474"/>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Dealer Management</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Composite data</a:t>
            </a:r>
            <a:endPar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Collect dealer composite data via DMS </a:t>
            </a:r>
            <a:endPar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9" name="Text Box 294">
            <a:extLst>
              <a:ext uri="{FF2B5EF4-FFF2-40B4-BE49-F238E27FC236}">
                <a16:creationId xmlns:a16="http://schemas.microsoft.com/office/drawing/2014/main" id="{635E2334-1FB9-E0C0-8065-DCF5DDE132AC}"/>
              </a:ext>
            </a:extLst>
          </p:cNvPr>
          <p:cNvSpPr txBox="1">
            <a:spLocks noChangeArrowheads="1"/>
          </p:cNvSpPr>
          <p:nvPr/>
        </p:nvSpPr>
        <p:spPr bwMode="auto">
          <a:xfrm>
            <a:off x="1730866" y="5521050"/>
            <a:ext cx="3773252" cy="716262"/>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 Receivables Management </a:t>
            </a: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Outline</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Develop system to </a:t>
            </a:r>
            <a:r>
              <a:rPr kumimoji="1" lang="en-US"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consolidate accurate data sources for body build completion and payment timescales</a:t>
            </a:r>
            <a:endPar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endParaRPr>
          </a:p>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Aim</a:t>
            </a:r>
            <a:r>
              <a:rPr kumimoji="1" lang="ja-JP" altLang="en-US"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a:t>
            </a:r>
            <a:r>
              <a:rPr kumimoji="1" lang="en-GB" altLang="ja-JP" sz="9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Improve cash flow accuracy </a:t>
            </a:r>
            <a:endParaRPr kumimoji="1" lang="en-US" sz="9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endParaRPr>
          </a:p>
        </p:txBody>
      </p:sp>
      <p:sp>
        <p:nvSpPr>
          <p:cNvPr id="23" name="Text Box 294">
            <a:extLst>
              <a:ext uri="{FF2B5EF4-FFF2-40B4-BE49-F238E27FC236}">
                <a16:creationId xmlns:a16="http://schemas.microsoft.com/office/drawing/2014/main" id="{BFC14636-F4E9-91D0-BB33-6CE32BD6FF13}"/>
              </a:ext>
            </a:extLst>
          </p:cNvPr>
          <p:cNvSpPr txBox="1">
            <a:spLocks noChangeArrowheads="1"/>
          </p:cNvSpPr>
          <p:nvPr/>
        </p:nvSpPr>
        <p:spPr bwMode="auto">
          <a:xfrm>
            <a:off x="5569134" y="5521050"/>
            <a:ext cx="1682020" cy="710269"/>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rPr>
              <a:t>Increased visibility of vehicle completion dates allowing much greater receivables f/c accuracy </a:t>
            </a:r>
          </a:p>
        </p:txBody>
      </p:sp>
      <p:sp>
        <p:nvSpPr>
          <p:cNvPr id="24" name="Text Box 294">
            <a:extLst>
              <a:ext uri="{FF2B5EF4-FFF2-40B4-BE49-F238E27FC236}">
                <a16:creationId xmlns:a16="http://schemas.microsoft.com/office/drawing/2014/main" id="{B83B0D96-2164-74C9-5B58-067BF92E4391}"/>
              </a:ext>
            </a:extLst>
          </p:cNvPr>
          <p:cNvSpPr txBox="1">
            <a:spLocks noChangeArrowheads="1"/>
          </p:cNvSpPr>
          <p:nvPr/>
        </p:nvSpPr>
        <p:spPr bwMode="auto">
          <a:xfrm>
            <a:off x="7324017" y="5506585"/>
            <a:ext cx="798116" cy="718278"/>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0" fontAlgn="auto" latinLnBrk="0" hangingPunct="0">
              <a:lnSpc>
                <a:spcPct val="100000"/>
              </a:lnSpc>
              <a:spcBef>
                <a:spcPct val="20000"/>
              </a:spcBef>
              <a:spcAft>
                <a:spcPts val="0"/>
              </a:spcAft>
              <a:buClrTx/>
              <a:buSzTx/>
              <a:buFontTx/>
              <a:buNone/>
              <a:tabLst/>
              <a:defRPr/>
            </a:pPr>
            <a:r>
              <a:rPr kumimoji="1" lang="en-US" sz="9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rPr>
              <a:t>End Q2 FY2025</a:t>
            </a:r>
          </a:p>
        </p:txBody>
      </p:sp>
      <p:sp>
        <p:nvSpPr>
          <p:cNvPr id="25" name="Text Box 294">
            <a:extLst>
              <a:ext uri="{FF2B5EF4-FFF2-40B4-BE49-F238E27FC236}">
                <a16:creationId xmlns:a16="http://schemas.microsoft.com/office/drawing/2014/main" id="{C257FE18-3DB3-21ED-8A21-ABD0EDA34AA2}"/>
              </a:ext>
            </a:extLst>
          </p:cNvPr>
          <p:cNvSpPr txBox="1">
            <a:spLocks noChangeArrowheads="1"/>
          </p:cNvSpPr>
          <p:nvPr/>
        </p:nvSpPr>
        <p:spPr bwMode="auto">
          <a:xfrm>
            <a:off x="8176095" y="5513668"/>
            <a:ext cx="3015882" cy="711195"/>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Using Dealer Connect, agreed customer terms and weekly reviews by management of the enhanced debtor report, cash flow accuracy has improved.  </a:t>
            </a:r>
          </a:p>
          <a:p>
            <a:pPr marL="0" marR="0" lvl="0" indent="0" defTabSz="844083"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344251"/>
                </a:solidFill>
                <a:effectLst/>
                <a:uLnTx/>
                <a:uFillTx/>
                <a:latin typeface="Arial"/>
                <a:ea typeface="Meiryo UI"/>
                <a:cs typeface="+mn-cs"/>
              </a:rPr>
              <a:t>Operational challenges remain as anticipated in the supply of completed built units to direct customers.</a:t>
            </a:r>
          </a:p>
        </p:txBody>
      </p:sp>
      <p:sp>
        <p:nvSpPr>
          <p:cNvPr id="30" name="Text Box 294">
            <a:extLst>
              <a:ext uri="{FF2B5EF4-FFF2-40B4-BE49-F238E27FC236}">
                <a16:creationId xmlns:a16="http://schemas.microsoft.com/office/drawing/2014/main" id="{5E51834C-E263-9D71-ED3E-E7A9BE0F5725}"/>
              </a:ext>
            </a:extLst>
          </p:cNvPr>
          <p:cNvSpPr txBox="1">
            <a:spLocks noChangeArrowheads="1"/>
          </p:cNvSpPr>
          <p:nvPr/>
        </p:nvSpPr>
        <p:spPr bwMode="auto">
          <a:xfrm>
            <a:off x="11295218" y="5513668"/>
            <a:ext cx="576000" cy="703813"/>
          </a:xfrm>
          <a:prstGeom prst="rect">
            <a:avLst/>
          </a:prstGeom>
          <a:solidFill>
            <a:srgbClr val="92D05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344251"/>
              </a:solidFill>
              <a:effectLst/>
              <a:uLnTx/>
              <a:uFillTx/>
              <a:latin typeface="Meiryo UI"/>
              <a:ea typeface="Meiryo UI"/>
              <a:cs typeface="+mn-cs"/>
            </a:endParaRPr>
          </a:p>
        </p:txBody>
      </p:sp>
      <p:sp>
        <p:nvSpPr>
          <p:cNvPr id="18" name="Text Box 294">
            <a:extLst>
              <a:ext uri="{FF2B5EF4-FFF2-40B4-BE49-F238E27FC236}">
                <a16:creationId xmlns:a16="http://schemas.microsoft.com/office/drawing/2014/main" id="{0A6695E4-775C-131C-4B05-7B0A6F3032B0}"/>
              </a:ext>
            </a:extLst>
          </p:cNvPr>
          <p:cNvSpPr txBox="1">
            <a:spLocks noChangeArrowheads="1"/>
          </p:cNvSpPr>
          <p:nvPr/>
        </p:nvSpPr>
        <p:spPr bwMode="auto">
          <a:xfrm>
            <a:off x="11279678" y="3487019"/>
            <a:ext cx="576000" cy="590257"/>
          </a:xfrm>
          <a:prstGeom prst="rect">
            <a:avLst/>
          </a:prstGeom>
          <a:solidFill>
            <a:srgbClr val="92D05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344251"/>
              </a:solidFill>
              <a:effectLst/>
              <a:uLnTx/>
              <a:uFillTx/>
              <a:latin typeface="Meiryo UI"/>
              <a:ea typeface="Meiryo UI"/>
              <a:cs typeface="+mn-cs"/>
            </a:endParaRPr>
          </a:p>
        </p:txBody>
      </p:sp>
      <p:sp>
        <p:nvSpPr>
          <p:cNvPr id="22" name="Text Box 294">
            <a:extLst>
              <a:ext uri="{FF2B5EF4-FFF2-40B4-BE49-F238E27FC236}">
                <a16:creationId xmlns:a16="http://schemas.microsoft.com/office/drawing/2014/main" id="{0EE817DB-635D-0512-4EBE-7D01BEDC55DB}"/>
              </a:ext>
            </a:extLst>
          </p:cNvPr>
          <p:cNvSpPr txBox="1">
            <a:spLocks noChangeArrowheads="1"/>
          </p:cNvSpPr>
          <p:nvPr/>
        </p:nvSpPr>
        <p:spPr bwMode="auto">
          <a:xfrm>
            <a:off x="11279678" y="2807275"/>
            <a:ext cx="576000" cy="565801"/>
          </a:xfrm>
          <a:prstGeom prst="rect">
            <a:avLst/>
          </a:prstGeom>
          <a:solidFill>
            <a:srgbClr val="FFFF0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31" name="Text Box 294">
            <a:extLst>
              <a:ext uri="{FF2B5EF4-FFF2-40B4-BE49-F238E27FC236}">
                <a16:creationId xmlns:a16="http://schemas.microsoft.com/office/drawing/2014/main" id="{0022E0BB-198E-96CD-E793-8F3045CCB758}"/>
              </a:ext>
            </a:extLst>
          </p:cNvPr>
          <p:cNvSpPr txBox="1">
            <a:spLocks noChangeArrowheads="1"/>
          </p:cNvSpPr>
          <p:nvPr/>
        </p:nvSpPr>
        <p:spPr bwMode="auto">
          <a:xfrm>
            <a:off x="11295218" y="4831931"/>
            <a:ext cx="576000" cy="585434"/>
          </a:xfrm>
          <a:prstGeom prst="rect">
            <a:avLst/>
          </a:prstGeom>
          <a:solidFill>
            <a:srgbClr val="FFFF0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10" name="Text Box 294">
            <a:extLst>
              <a:ext uri="{FF2B5EF4-FFF2-40B4-BE49-F238E27FC236}">
                <a16:creationId xmlns:a16="http://schemas.microsoft.com/office/drawing/2014/main" id="{65312A6A-1ED5-0B07-DB1D-61301FB4B3A3}"/>
              </a:ext>
            </a:extLst>
          </p:cNvPr>
          <p:cNvSpPr txBox="1">
            <a:spLocks noChangeArrowheads="1"/>
          </p:cNvSpPr>
          <p:nvPr/>
        </p:nvSpPr>
        <p:spPr bwMode="auto">
          <a:xfrm>
            <a:off x="1715692" y="981988"/>
            <a:ext cx="9476285" cy="433114"/>
          </a:xfrm>
          <a:prstGeom prst="rect">
            <a:avLst/>
          </a:prstGeom>
          <a:solidFill>
            <a:schemeClr val="bg1"/>
          </a:solidFill>
          <a:ln w="9525">
            <a:solidFill>
              <a:schemeClr val="tx1">
                <a:lumMod val="50000"/>
                <a:lumOff val="50000"/>
              </a:schemeClr>
            </a:solidFill>
            <a:miter lim="800000"/>
            <a:headEnd/>
            <a:tailEnd/>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1292" b="1" i="0" u="none" strike="noStrike" kern="1200" cap="none" spc="0" normalizeH="0" baseline="0" noProof="0" dirty="0">
                <a:ln>
                  <a:noFill/>
                </a:ln>
                <a:solidFill>
                  <a:srgbClr val="344251"/>
                </a:solidFill>
                <a:effectLst/>
                <a:uLnTx/>
                <a:uFillTx/>
                <a:latin typeface="Meiryo UI"/>
                <a:ea typeface="Meiryo UI"/>
                <a:cs typeface="+mn-cs"/>
              </a:rPr>
              <a:t>Increase Visibility of Dealer Activity </a:t>
            </a:r>
          </a:p>
        </p:txBody>
      </p:sp>
      <p:sp>
        <p:nvSpPr>
          <p:cNvPr id="13" name="Text Box 294">
            <a:extLst>
              <a:ext uri="{FF2B5EF4-FFF2-40B4-BE49-F238E27FC236}">
                <a16:creationId xmlns:a16="http://schemas.microsoft.com/office/drawing/2014/main" id="{E2A41A0A-7BEC-1874-500D-A3549741ADB7}"/>
              </a:ext>
            </a:extLst>
          </p:cNvPr>
          <p:cNvSpPr txBox="1">
            <a:spLocks noChangeArrowheads="1"/>
          </p:cNvSpPr>
          <p:nvPr/>
        </p:nvSpPr>
        <p:spPr bwMode="auto">
          <a:xfrm>
            <a:off x="335360" y="2101675"/>
            <a:ext cx="1300799" cy="576222"/>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344251"/>
                </a:solidFill>
                <a:effectLst/>
                <a:uLnTx/>
                <a:uFillTx/>
                <a:latin typeface="Arial"/>
                <a:ea typeface="Meiryo UI"/>
                <a:cs typeface="+mn-cs"/>
              </a:rPr>
              <a:t>General</a:t>
            </a:r>
            <a:r>
              <a:rPr kumimoji="1" lang="en-US" altLang="ja-JP" sz="1600" b="0" i="0" u="none" strike="noStrike" kern="1200" cap="none" spc="0" normalizeH="0" baseline="0" noProof="0" dirty="0">
                <a:ln>
                  <a:noFill/>
                </a:ln>
                <a:solidFill>
                  <a:srgbClr val="344251"/>
                </a:solidFill>
                <a:effectLst/>
                <a:uLnTx/>
                <a:uFillTx/>
                <a:latin typeface="Meiryo UI"/>
                <a:ea typeface="Meiryo UI"/>
                <a:cs typeface="+mn-cs"/>
              </a:rPr>
              <a:t> </a:t>
            </a:r>
          </a:p>
        </p:txBody>
      </p:sp>
      <p:sp>
        <p:nvSpPr>
          <p:cNvPr id="15" name="Text Box 294">
            <a:extLst>
              <a:ext uri="{FF2B5EF4-FFF2-40B4-BE49-F238E27FC236}">
                <a16:creationId xmlns:a16="http://schemas.microsoft.com/office/drawing/2014/main" id="{6C208953-D1CE-3270-1598-DCC7D838A42F}"/>
              </a:ext>
            </a:extLst>
          </p:cNvPr>
          <p:cNvSpPr txBox="1">
            <a:spLocks noChangeArrowheads="1"/>
          </p:cNvSpPr>
          <p:nvPr/>
        </p:nvSpPr>
        <p:spPr bwMode="auto">
          <a:xfrm>
            <a:off x="335360" y="2814362"/>
            <a:ext cx="1300799" cy="576222"/>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914400" rtl="0" eaLnBrk="0" fontAlgn="auto" latinLnBrk="0" hangingPunct="0">
              <a:lnSpc>
                <a:spcPct val="100000"/>
              </a:lnSpc>
              <a:spcBef>
                <a:spcPct val="20000"/>
              </a:spcBef>
              <a:spcAft>
                <a:spcPts val="0"/>
              </a:spcAft>
              <a:buClrTx/>
              <a:buSzTx/>
              <a:buFontTx/>
              <a:buNone/>
              <a:tabLst/>
              <a:defRPr/>
            </a:pPr>
            <a:r>
              <a:rPr kumimoji="1" lang="en-US" sz="1600" b="0" i="0" u="none" strike="noStrike" kern="1200" cap="none" spc="0" normalizeH="0" baseline="0" noProof="0">
                <a:ln>
                  <a:noFill/>
                </a:ln>
                <a:solidFill>
                  <a:srgbClr val="344251"/>
                </a:solidFill>
                <a:effectLst/>
                <a:uLnTx/>
                <a:uFillTx/>
                <a:latin typeface="Arial" pitchFamily="34" charset="0"/>
                <a:ea typeface="ＭＳ Ｐゴシック" pitchFamily="50" charset="-128"/>
                <a:cs typeface="+mn-cs"/>
              </a:rPr>
              <a:t>Sales &amp; Marketing</a:t>
            </a:r>
            <a:endParaRPr kumimoji="1" lang="en-US" sz="1600" b="0" i="0" u="none" strike="noStrike" kern="1200" cap="none" spc="0" normalizeH="0" baseline="0" noProof="0" dirty="0">
              <a:ln>
                <a:noFill/>
              </a:ln>
              <a:solidFill>
                <a:srgbClr val="344251"/>
              </a:solidFill>
              <a:effectLst/>
              <a:uLnTx/>
              <a:uFillTx/>
              <a:latin typeface="Arial" pitchFamily="34" charset="0"/>
              <a:ea typeface="Roboto" panose="02000000000000000000" pitchFamily="2" charset="0"/>
              <a:cs typeface="+mn-cs"/>
            </a:endParaRPr>
          </a:p>
        </p:txBody>
      </p:sp>
      <p:sp>
        <p:nvSpPr>
          <p:cNvPr id="35" name="Text Box 294">
            <a:extLst>
              <a:ext uri="{FF2B5EF4-FFF2-40B4-BE49-F238E27FC236}">
                <a16:creationId xmlns:a16="http://schemas.microsoft.com/office/drawing/2014/main" id="{97A4F502-A26E-0389-EB1E-816C95A5114C}"/>
              </a:ext>
            </a:extLst>
          </p:cNvPr>
          <p:cNvSpPr txBox="1">
            <a:spLocks noChangeArrowheads="1"/>
          </p:cNvSpPr>
          <p:nvPr/>
        </p:nvSpPr>
        <p:spPr bwMode="auto">
          <a:xfrm>
            <a:off x="342790" y="3493309"/>
            <a:ext cx="1300799" cy="576222"/>
          </a:xfrm>
          <a:prstGeom prst="rect">
            <a:avLst/>
          </a:prstGeom>
          <a:no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en-US" sz="1600" b="0" i="0" u="none" strike="noStrike" kern="1200" cap="none" spc="0" normalizeH="0" baseline="0" noProof="0" dirty="0">
                <a:ln>
                  <a:noFill/>
                </a:ln>
                <a:solidFill>
                  <a:srgbClr val="344251"/>
                </a:solidFill>
                <a:effectLst/>
                <a:uLnTx/>
                <a:uFillTx/>
                <a:latin typeface="Arial" pitchFamily="34" charset="0"/>
                <a:ea typeface="ＭＳ Ｐゴシック" pitchFamily="50" charset="-128"/>
                <a:cs typeface="+mn-cs"/>
              </a:rPr>
              <a:t>Care &amp; Operations</a:t>
            </a:r>
            <a:endParaRPr kumimoji="1" lang="en-US" altLang="ja-JP" sz="1600" b="0" i="0" u="none" strike="noStrike" kern="1200" cap="none" spc="0" normalizeH="0" baseline="0" noProof="0" dirty="0">
              <a:ln>
                <a:noFill/>
              </a:ln>
              <a:solidFill>
                <a:srgbClr val="344251"/>
              </a:solidFill>
              <a:effectLst/>
              <a:uLnTx/>
              <a:uFillTx/>
              <a:latin typeface="Meiryo UI"/>
              <a:ea typeface="Meiryo UI"/>
              <a:cs typeface="+mn-cs"/>
            </a:endParaRPr>
          </a:p>
        </p:txBody>
      </p:sp>
      <p:sp>
        <p:nvSpPr>
          <p:cNvPr id="36" name="Text Box 294">
            <a:extLst>
              <a:ext uri="{FF2B5EF4-FFF2-40B4-BE49-F238E27FC236}">
                <a16:creationId xmlns:a16="http://schemas.microsoft.com/office/drawing/2014/main" id="{1DDDC428-DEFA-FEBD-2E4E-127C554B73CB}"/>
              </a:ext>
            </a:extLst>
          </p:cNvPr>
          <p:cNvSpPr txBox="1">
            <a:spLocks noChangeArrowheads="1"/>
          </p:cNvSpPr>
          <p:nvPr/>
        </p:nvSpPr>
        <p:spPr bwMode="auto">
          <a:xfrm>
            <a:off x="11271920" y="2110550"/>
            <a:ext cx="576000" cy="574624"/>
          </a:xfrm>
          <a:prstGeom prst="rect">
            <a:avLst/>
          </a:prstGeom>
          <a:solidFill>
            <a:srgbClr val="FFFF00"/>
          </a:solidFill>
          <a:ln>
            <a:solidFill>
              <a:schemeClr val="tx1">
                <a:lumMod val="50000"/>
                <a:lumOff val="50000"/>
              </a:schemeClr>
            </a:solidFill>
          </a:ln>
          <a:effectLst/>
        </p:spPr>
        <p:txBody>
          <a:bodyPr wrap="square" anchor="ctr">
            <a:noAutofit/>
          </a:bodyPr>
          <a:lstStyle>
            <a:lvl1pPr algn="l"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algn="l"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algn="l"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algn="l"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algn="l"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344251"/>
              </a:solidFill>
              <a:effectLst/>
              <a:uLnTx/>
              <a:uFillTx/>
              <a:latin typeface="Meiryo UI"/>
              <a:ea typeface="Meiryo UI"/>
              <a:cs typeface="+mn-cs"/>
            </a:endParaRPr>
          </a:p>
        </p:txBody>
      </p:sp>
    </p:spTree>
    <p:extLst>
      <p:ext uri="{BB962C8B-B14F-4D97-AF65-F5344CB8AC3E}">
        <p14:creationId xmlns:p14="http://schemas.microsoft.com/office/powerpoint/2010/main" val="1495539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ABFD9-20C2-A90B-3A55-166BC4F47FD1}"/>
              </a:ext>
            </a:extLst>
          </p:cNvPr>
          <p:cNvSpPr>
            <a:spLocks noGrp="1"/>
          </p:cNvSpPr>
          <p:nvPr>
            <p:ph type="ctrTitle"/>
          </p:nvPr>
        </p:nvSpPr>
        <p:spPr/>
        <p:txBody>
          <a:bodyPr/>
          <a:lstStyle/>
          <a:p>
            <a:r>
              <a:rPr lang="en-US" dirty="0">
                <a:solidFill>
                  <a:srgbClr val="344251"/>
                </a:solidFill>
              </a:rPr>
              <a:t>Appendices</a:t>
            </a:r>
          </a:p>
        </p:txBody>
      </p:sp>
      <p:sp>
        <p:nvSpPr>
          <p:cNvPr id="3" name="Subtitle 2">
            <a:extLst>
              <a:ext uri="{FF2B5EF4-FFF2-40B4-BE49-F238E27FC236}">
                <a16:creationId xmlns:a16="http://schemas.microsoft.com/office/drawing/2014/main" id="{F0FD2157-FED2-B95B-7231-E0D1C3C7A708}"/>
              </a:ext>
            </a:extLst>
          </p:cNvPr>
          <p:cNvSpPr>
            <a:spLocks noGrp="1"/>
          </p:cNvSpPr>
          <p:nvPr>
            <p:ph type="subTitle" idx="1"/>
          </p:nvPr>
        </p:nvSpPr>
        <p:spPr/>
        <p:txBody>
          <a:bodyPr/>
          <a:lstStyle/>
          <a:p>
            <a:endParaRPr lang="en-US">
              <a:solidFill>
                <a:srgbClr val="344251"/>
              </a:solidFill>
            </a:endParaRPr>
          </a:p>
        </p:txBody>
      </p:sp>
      <p:sp>
        <p:nvSpPr>
          <p:cNvPr id="4" name="Text Placeholder 3">
            <a:extLst>
              <a:ext uri="{FF2B5EF4-FFF2-40B4-BE49-F238E27FC236}">
                <a16:creationId xmlns:a16="http://schemas.microsoft.com/office/drawing/2014/main" id="{E5A9A962-27D9-2ABE-2266-A06E8B4B1E2A}"/>
              </a:ext>
            </a:extLst>
          </p:cNvPr>
          <p:cNvSpPr>
            <a:spLocks noGrp="1"/>
          </p:cNvSpPr>
          <p:nvPr>
            <p:ph type="body" sz="quarter" idx="17"/>
          </p:nvPr>
        </p:nvSpPr>
        <p:spPr/>
        <p:txBody>
          <a:bodyPr/>
          <a:lstStyle/>
          <a:p>
            <a:endParaRPr lang="en-US">
              <a:solidFill>
                <a:srgbClr val="344251"/>
              </a:solidFill>
            </a:endParaRPr>
          </a:p>
        </p:txBody>
      </p:sp>
    </p:spTree>
    <p:extLst>
      <p:ext uri="{BB962C8B-B14F-4D97-AF65-F5344CB8AC3E}">
        <p14:creationId xmlns:p14="http://schemas.microsoft.com/office/powerpoint/2010/main" val="2857433331"/>
      </p:ext>
    </p:extLst>
  </p:cSld>
  <p:clrMapOvr>
    <a:masterClrMapping/>
  </p:clrMapOvr>
  <mc:AlternateContent xmlns:mc="http://schemas.openxmlformats.org/markup-compatibility/2006" xmlns:p14="http://schemas.microsoft.com/office/powerpoint/2010/main">
    <mc:Choice Requires="p14">
      <p:transition spd="slow" p14:dur="2000" advTm="11764"/>
    </mc:Choice>
    <mc:Fallback xmlns="">
      <p:transition spd="slow" advTm="1176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9BF2B-7760-689A-9A49-391754F884DD}"/>
            </a:ext>
          </a:extLst>
        </p:cNvPr>
        <p:cNvGrpSpPr/>
        <p:nvPr/>
      </p:nvGrpSpPr>
      <p:grpSpPr>
        <a:xfrm>
          <a:off x="0" y="0"/>
          <a:ext cx="0" cy="0"/>
          <a:chOff x="0" y="0"/>
          <a:chExt cx="0" cy="0"/>
        </a:xfrm>
      </p:grpSpPr>
      <p:sp>
        <p:nvSpPr>
          <p:cNvPr id="9" name="Title 2">
            <a:extLst>
              <a:ext uri="{FF2B5EF4-FFF2-40B4-BE49-F238E27FC236}">
                <a16:creationId xmlns:a16="http://schemas.microsoft.com/office/drawing/2014/main" id="{1B2F0D91-8F1C-EB5E-1823-120714BB8553}"/>
              </a:ext>
            </a:extLst>
          </p:cNvPr>
          <p:cNvSpPr>
            <a:spLocks noGrp="1"/>
          </p:cNvSpPr>
          <p:nvPr>
            <p:ph type="title"/>
          </p:nvPr>
        </p:nvSpPr>
        <p:spPr>
          <a:xfrm>
            <a:off x="695400" y="376801"/>
            <a:ext cx="9505056" cy="518746"/>
          </a:xfrm>
        </p:spPr>
        <p:txBody>
          <a:bodyPr/>
          <a:lstStyle/>
          <a:p>
            <a:r>
              <a:rPr lang="en-US" dirty="0">
                <a:solidFill>
                  <a:srgbClr val="344251"/>
                </a:solidFill>
              </a:rPr>
              <a:t>FY25 Key Actions / Initiatives Update</a:t>
            </a:r>
          </a:p>
        </p:txBody>
      </p:sp>
      <p:graphicFrame>
        <p:nvGraphicFramePr>
          <p:cNvPr id="3" name="表 2">
            <a:extLst>
              <a:ext uri="{FF2B5EF4-FFF2-40B4-BE49-F238E27FC236}">
                <a16:creationId xmlns:a16="http://schemas.microsoft.com/office/drawing/2014/main" id="{A64A6B08-2369-D841-6F62-404A04B17059}"/>
              </a:ext>
            </a:extLst>
          </p:cNvPr>
          <p:cNvGraphicFramePr>
            <a:graphicFrameLocks noGrp="1"/>
          </p:cNvGraphicFramePr>
          <p:nvPr/>
        </p:nvGraphicFramePr>
        <p:xfrm>
          <a:off x="0" y="988652"/>
          <a:ext cx="12192000" cy="5869346"/>
        </p:xfrm>
        <a:graphic>
          <a:graphicData uri="http://schemas.openxmlformats.org/drawingml/2006/table">
            <a:tbl>
              <a:tblPr firstRow="1" bandRow="1">
                <a:tableStyleId>{5C22544A-7EE6-4342-B048-85BDC9FD1C3A}</a:tableStyleId>
              </a:tblPr>
              <a:tblGrid>
                <a:gridCol w="506317">
                  <a:extLst>
                    <a:ext uri="{9D8B030D-6E8A-4147-A177-3AD203B41FA5}">
                      <a16:colId xmlns:a16="http://schemas.microsoft.com/office/drawing/2014/main" val="2267410105"/>
                    </a:ext>
                  </a:extLst>
                </a:gridCol>
                <a:gridCol w="1469507">
                  <a:extLst>
                    <a:ext uri="{9D8B030D-6E8A-4147-A177-3AD203B41FA5}">
                      <a16:colId xmlns:a16="http://schemas.microsoft.com/office/drawing/2014/main" val="1803834067"/>
                    </a:ext>
                  </a:extLst>
                </a:gridCol>
                <a:gridCol w="1798722">
                  <a:extLst>
                    <a:ext uri="{9D8B030D-6E8A-4147-A177-3AD203B41FA5}">
                      <a16:colId xmlns:a16="http://schemas.microsoft.com/office/drawing/2014/main" val="1113225083"/>
                    </a:ext>
                  </a:extLst>
                </a:gridCol>
                <a:gridCol w="812471">
                  <a:extLst>
                    <a:ext uri="{9D8B030D-6E8A-4147-A177-3AD203B41FA5}">
                      <a16:colId xmlns:a16="http://schemas.microsoft.com/office/drawing/2014/main" val="3379383129"/>
                    </a:ext>
                  </a:extLst>
                </a:gridCol>
                <a:gridCol w="1207713">
                  <a:extLst>
                    <a:ext uri="{9D8B030D-6E8A-4147-A177-3AD203B41FA5}">
                      <a16:colId xmlns:a16="http://schemas.microsoft.com/office/drawing/2014/main" val="988449274"/>
                    </a:ext>
                  </a:extLst>
                </a:gridCol>
                <a:gridCol w="980623">
                  <a:extLst>
                    <a:ext uri="{9D8B030D-6E8A-4147-A177-3AD203B41FA5}">
                      <a16:colId xmlns:a16="http://schemas.microsoft.com/office/drawing/2014/main" val="3893911641"/>
                    </a:ext>
                  </a:extLst>
                </a:gridCol>
                <a:gridCol w="928559">
                  <a:extLst>
                    <a:ext uri="{9D8B030D-6E8A-4147-A177-3AD203B41FA5}">
                      <a16:colId xmlns:a16="http://schemas.microsoft.com/office/drawing/2014/main" val="2085556933"/>
                    </a:ext>
                  </a:extLst>
                </a:gridCol>
                <a:gridCol w="1114203">
                  <a:extLst>
                    <a:ext uri="{9D8B030D-6E8A-4147-A177-3AD203B41FA5}">
                      <a16:colId xmlns:a16="http://schemas.microsoft.com/office/drawing/2014/main" val="53525984"/>
                    </a:ext>
                  </a:extLst>
                </a:gridCol>
                <a:gridCol w="1119119">
                  <a:extLst>
                    <a:ext uri="{9D8B030D-6E8A-4147-A177-3AD203B41FA5}">
                      <a16:colId xmlns:a16="http://schemas.microsoft.com/office/drawing/2014/main" val="4063720484"/>
                    </a:ext>
                  </a:extLst>
                </a:gridCol>
                <a:gridCol w="211608">
                  <a:extLst>
                    <a:ext uri="{9D8B030D-6E8A-4147-A177-3AD203B41FA5}">
                      <a16:colId xmlns:a16="http://schemas.microsoft.com/office/drawing/2014/main" val="392362036"/>
                    </a:ext>
                  </a:extLst>
                </a:gridCol>
                <a:gridCol w="2043158">
                  <a:extLst>
                    <a:ext uri="{9D8B030D-6E8A-4147-A177-3AD203B41FA5}">
                      <a16:colId xmlns:a16="http://schemas.microsoft.com/office/drawing/2014/main" val="2366652690"/>
                    </a:ext>
                  </a:extLst>
                </a:gridCol>
              </a:tblGrid>
              <a:tr h="400822">
                <a:tc rowSpan="2">
                  <a:txBody>
                    <a:bodyPr/>
                    <a:lstStyle/>
                    <a:p>
                      <a:pPr algn="ctr"/>
                      <a:r>
                        <a:rPr kumimoji="1" lang="en-US"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No</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rowSpan="2">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Details</a:t>
                      </a:r>
                      <a:r>
                        <a:rPr kumimoji="1" lang="ja-JP" altLang="en-US"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 </a:t>
                      </a: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action</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rowSpan="2">
                  <a:txBody>
                    <a:bodyPr/>
                    <a:lstStyle/>
                    <a:p>
                      <a:pPr algn="ctr"/>
                      <a:r>
                        <a:rPr kumimoji="1" lang="en-US"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Details</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rowSpan="2">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Target</a:t>
                      </a:r>
                      <a:b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b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Q’ty</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rowSpan="2">
                  <a:txBody>
                    <a:bodyPr/>
                    <a:lstStyle/>
                    <a:p>
                      <a:pPr algn="ctr"/>
                      <a:r>
                        <a:rPr kumimoji="1" lang="en-US"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Estimated</a:t>
                      </a:r>
                      <a:r>
                        <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 </a:t>
                      </a:r>
                      <a:br>
                        <a:rPr kumimoji="1" lang="en-US"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b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Q’ty</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gridSpan="4">
                  <a:txBody>
                    <a:bodyPr/>
                    <a:lstStyle/>
                    <a:p>
                      <a:pPr algn="ctr"/>
                      <a:r>
                        <a:rPr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Progess in FY25</a:t>
                      </a:r>
                      <a:endParaRPr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hMerge="1">
                  <a:txBody>
                    <a:bodyPr/>
                    <a:lstStyle/>
                    <a:p>
                      <a:endParaRPr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tc rowSpan="2">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GYR</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rowSpan="2">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Progess</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0425571"/>
                  </a:ext>
                </a:extLst>
              </a:tr>
              <a:tr h="44059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Q1</a:t>
                      </a:r>
                    </a:p>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(Actual)</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Q2</a:t>
                      </a:r>
                    </a:p>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(Actual)</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Q3</a:t>
                      </a:r>
                    </a:p>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 (Actual)</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Q4</a:t>
                      </a:r>
                    </a:p>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(Plan)</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vMerge="1">
                  <a:txBody>
                    <a:bodyPr/>
                    <a:lstStyle/>
                    <a:p>
                      <a:endParaRPr kumimoji="1" lang="ja-JP" altLang="en-US"/>
                    </a:p>
                  </a:txBody>
                  <a:tcPr/>
                </a:tc>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7583122"/>
                  </a:ext>
                </a:extLst>
              </a:tr>
              <a:tr h="313828">
                <a:tc rowSpan="2">
                  <a:txBody>
                    <a:bodyPr/>
                    <a:lstStyle/>
                    <a:p>
                      <a:pPr algn="ctr" fontAlgn="ctr"/>
                      <a:r>
                        <a:rPr lang="ja-JP" altLang="en-US" sz="1100" b="0" i="0" u="none" strike="noStrike" dirty="0">
                          <a:solidFill>
                            <a:schemeClr val="tx1"/>
                          </a:solidFill>
                          <a:effectLst/>
                          <a:latin typeface="Calibri Light" panose="020F0302020204030204" pitchFamily="34" charset="0"/>
                          <a:ea typeface="Meiryo UI" panose="020B0604030504040204" pitchFamily="50" charset="-128"/>
                          <a:cs typeface="Calibri Light" panose="020F0302020204030204" pitchFamily="34" charset="0"/>
                        </a:rPr>
                        <a:t>①</a:t>
                      </a:r>
                      <a:endParaRPr lang="en-US" altLang="ja-JP" sz="1100" b="0" i="0" u="none" strike="noStrike" dirty="0">
                        <a:solidFill>
                          <a:schemeClr val="tx1"/>
                        </a:solidFill>
                        <a:effectLst/>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100" b="0" i="0" u="none" strike="noStrike" dirty="0">
                          <a:solidFill>
                            <a:schemeClr val="tx1"/>
                          </a:solidFill>
                          <a:effectLst/>
                          <a:latin typeface="Calibri Light" panose="020F0302020204030204" pitchFamily="34" charset="0"/>
                          <a:ea typeface="Meiryo UI" panose="020B0604030504040204" pitchFamily="50" charset="-128"/>
                          <a:cs typeface="Calibri Light" panose="020F0302020204030204" pitchFamily="34" charset="0"/>
                        </a:rPr>
                        <a:t>Increase Regional Fleet Target Customer Focus-ITUK fleet Team Lead</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marL="171450" indent="-171450" algn="l">
                        <a:buFont typeface="Arial" panose="020B0604020202020204" pitchFamily="34" charset="0"/>
                        <a:buChar char="•"/>
                      </a:pPr>
                      <a:r>
                        <a:rPr kumimoji="1" lang="en-GB"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Focus on Medium-Size Regional Fleets</a:t>
                      </a:r>
                    </a:p>
                    <a:p>
                      <a:pPr marL="171450" indent="-171450" algn="l">
                        <a:buFont typeface="Arial" panose="020B0604020202020204" pitchFamily="34" charset="0"/>
                        <a:buChar char="•"/>
                      </a:pPr>
                      <a:r>
                        <a:rPr kumimoji="1" lang="en-GB"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All Industry Sectors by Dealer</a:t>
                      </a:r>
                      <a:endParaRPr kumimoji="1" lang="ja-JP" altLang="en-US"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algn="ctr"/>
                      <a:r>
                        <a:rPr kumimoji="1" lang="en-US"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20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60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ctr"/>
                      <a:r>
                        <a:rPr kumimoji="1" lang="en-US" altLang="ja-JP"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28</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95000"/>
                      </a:schemeClr>
                    </a:solid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33</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marL="0" algn="ctr" defTabSz="914400" rtl="0" eaLnBrk="1" latinLnBrk="0" hangingPunct="1"/>
                      <a:r>
                        <a:rPr kumimoji="1" lang="en-GB" altLang="ja-JP" sz="1100" b="1" kern="12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9</a:t>
                      </a:r>
                      <a:endParaRPr kumimoji="1" lang="ja-JP" altLang="en-US" sz="1100" b="1" kern="12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10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algn="ct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92D050"/>
                    </a:solidFill>
                  </a:tcPr>
                </a:tc>
                <a:tc rowSpan="2">
                  <a:txBody>
                    <a:bodyPr/>
                    <a:lstStyle/>
                    <a:p>
                      <a:pPr algn="l"/>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Ongoing Regular Activity</a:t>
                      </a:r>
                    </a:p>
                    <a:p>
                      <a:pPr algn="l"/>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RSM’s preparing Regional Fleet Target Customer Lists Per Dealer for CY26</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2445523560"/>
                  </a:ext>
                </a:extLst>
              </a:tr>
              <a:tr h="61368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Positive Result in Q1</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Positive Result in Q2</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marL="0" algn="ctr" defTabSz="914400" rtl="0" eaLnBrk="1" latinLnBrk="0" hangingPunct="1"/>
                      <a:r>
                        <a:rPr kumimoji="1" lang="en-GB" altLang="ja-JP" sz="1100" kern="12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Limited Fleet Sales Resource in Q3</a:t>
                      </a:r>
                      <a:endParaRPr kumimoji="1" lang="ja-JP" altLang="en-US" sz="1100" kern="12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l"/>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vMerge="1">
                  <a:txBody>
                    <a:bodyPr/>
                    <a:lstStyle/>
                    <a:p>
                      <a:endParaRPr kumimoji="1" lang="ja-JP" altLang="en-US"/>
                    </a:p>
                  </a:txBody>
                  <a:tcPr/>
                </a:tc>
                <a:tc vMerge="1">
                  <a:txBody>
                    <a:bodyPr/>
                    <a:lstStyle/>
                    <a:p>
                      <a:endParaRPr lang="en-US"/>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89066698"/>
                  </a:ext>
                </a:extLst>
              </a:tr>
              <a:tr h="31382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②</a:t>
                      </a:r>
                      <a:endPar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Q2 2025-Strongly Advertised Finance Offer-Weekly Tipper Price Promotion</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GB" altLang="ja-JP" sz="1100" kern="12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‘Headline’ Offer Price to generate New Customer Enquiries</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algn="ctr"/>
                      <a:r>
                        <a:rPr kumimoji="1" lang="en-US"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50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50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ctr"/>
                      <a:r>
                        <a:rPr kumimoji="1" lang="en-US" altLang="ja-JP"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0</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95000"/>
                      </a:schemeClr>
                    </a:solid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marL="0" algn="ctr" defTabSz="914400" rtl="0" eaLnBrk="1" latinLnBrk="0" hangingPunct="1"/>
                      <a:r>
                        <a:rPr kumimoji="1" lang="en-GB" altLang="ja-JP" sz="1100" b="1" kern="12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0</a:t>
                      </a:r>
                      <a:endParaRPr kumimoji="1" lang="ja-JP" altLang="en-US" sz="1100" b="1" kern="12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rowSpan="2">
                  <a:txBody>
                    <a:bodyPr/>
                    <a:lstStyle/>
                    <a:p>
                      <a:pPr algn="ct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FC000"/>
                    </a:solidFill>
                  </a:tcPr>
                </a:tc>
                <a:tc rowSpan="2">
                  <a:txBody>
                    <a:bodyPr/>
                    <a:lstStyle/>
                    <a:p>
                      <a:pPr algn="l"/>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Initial Delay Pending New Finance Partner Appointment</a:t>
                      </a:r>
                    </a:p>
                    <a:p>
                      <a:pPr algn="l"/>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Market Conditions in Q3 Required a Revised Approach, Customer Cashback Offer</a:t>
                      </a:r>
                    </a:p>
                    <a:p>
                      <a:pPr algn="l"/>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Now Postponed Awaiting R51 Derogation Decision</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2414416752"/>
                  </a:ext>
                </a:extLst>
              </a:tr>
              <a:tr h="992219">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a:txBody>
                    <a:bodyPr/>
                    <a:lstStyle/>
                    <a:p>
                      <a:pPr algn="l"/>
                      <a:endPar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95000"/>
                      </a:schemeClr>
                    </a:solidFill>
                  </a:tcPr>
                </a:tc>
                <a:tc>
                  <a:txBody>
                    <a:bodyPr/>
                    <a:lstStyle/>
                    <a:p>
                      <a:pPr algn="l"/>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l"/>
                      <a:endParaRPr kumimoji="1" lang="ja-JP" altLang="en-US"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marL="0" algn="ctr" defTabSz="914400" rtl="0" eaLnBrk="1" latinLnBrk="0" hangingPunct="1"/>
                      <a:endParaRPr kumimoji="1" lang="ja-JP" altLang="en-US" sz="1100" b="1" kern="12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vMerge="1">
                  <a:txBody>
                    <a:bodyPr/>
                    <a:lstStyle/>
                    <a:p>
                      <a:endParaRPr kumimoji="1" lang="ja-JP" altLang="en-US"/>
                    </a:p>
                  </a:txBody>
                  <a:tcPr/>
                </a:tc>
                <a:tc vMerge="1">
                  <a:txBody>
                    <a:bodyPr/>
                    <a:lstStyle/>
                    <a:p>
                      <a:endParaRPr lang="en-US"/>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17743734"/>
                  </a:ext>
                </a:extLst>
              </a:tr>
              <a:tr h="31382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③</a:t>
                      </a:r>
                      <a:endPar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Enhanced Dealer Demonstrator Incentive Programme</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marL="171450" indent="-171450" algn="l">
                        <a:buFont typeface="Arial" panose="020B0604020202020204" pitchFamily="34" charset="0"/>
                        <a:buChar char="•"/>
                      </a:pPr>
                      <a:r>
                        <a:rPr kumimoji="1" lang="en-GB"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Dealer Financial Funding support for  Demonstration Vehicles</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algn="ctr"/>
                      <a:r>
                        <a:rPr kumimoji="1" lang="en-US" altLang="ja-JP"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25</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25</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ctr"/>
                      <a:r>
                        <a:rPr kumimoji="1" lang="en-US" altLang="ja-JP"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0</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95000"/>
                      </a:schemeClr>
                    </a:solid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rowSpan="2">
                  <a:txBody>
                    <a:bodyPr/>
                    <a:lstStyle/>
                    <a:p>
                      <a:pPr algn="ct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FC000"/>
                    </a:solidFill>
                  </a:tcPr>
                </a:tc>
                <a:tc rowSpan="2">
                  <a:txBody>
                    <a:bodyPr/>
                    <a:lstStyle/>
                    <a:p>
                      <a:pPr algn="l"/>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Delayed Pending New Finance Partner Appointment; BPCE Equipment Solutions</a:t>
                      </a:r>
                    </a:p>
                    <a:p>
                      <a:pPr algn="l"/>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Enhanced Dealer Demo Programme to be Aligned to P700 Launch</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2441973890"/>
                  </a:ext>
                </a:extLst>
              </a:tr>
              <a:tr h="819128">
                <a:tc vMerge="1">
                  <a:txBody>
                    <a:bodyPr/>
                    <a:lstStyle/>
                    <a:p>
                      <a:endParaRPr kumimoji="1" lang="ja-JP" altLang="en-US"/>
                    </a:p>
                  </a:txBody>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a:txBody>
                    <a:bodyPr/>
                    <a:lstStyle/>
                    <a:p>
                      <a:pPr algn="l"/>
                      <a:endParaRPr kumimoji="1" lang="ja-JP" altLang="en-US"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95000"/>
                      </a:schemeClr>
                    </a:solidFill>
                  </a:tcPr>
                </a:tc>
                <a:tc>
                  <a:txBody>
                    <a:bodyPr/>
                    <a:lstStyle/>
                    <a:p>
                      <a:pPr algn="l"/>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l"/>
                      <a:endParaRPr kumimoji="1" lang="ja-JP" altLang="en-US"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l"/>
                      <a:endParaRPr kumimoji="1" lang="ja-JP" altLang="en-US"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v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vMerge="1">
                  <a:txBody>
                    <a:bodyPr/>
                    <a:lstStyle/>
                    <a:p>
                      <a:endParaRPr lang="en-US"/>
                    </a:p>
                  </a:txBody>
                  <a:tcPr/>
                </a:tc>
                <a:extLst>
                  <a:ext uri="{0D108BD9-81ED-4DB2-BD59-A6C34878D82A}">
                    <a16:rowId xmlns:a16="http://schemas.microsoft.com/office/drawing/2014/main" val="1091701805"/>
                  </a:ext>
                </a:extLst>
              </a:tr>
              <a:tr h="31382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④</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Retail R&amp;M Initiative Supported Headline Offer – Weekly Cost</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marL="171450" indent="-171450" algn="l">
                        <a:buFont typeface="Arial" panose="020B0604020202020204" pitchFamily="34" charset="0"/>
                        <a:buChar char="•"/>
                      </a:pPr>
                      <a:r>
                        <a:rPr kumimoji="1" lang="en-GB"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To Provide the Dealer Retail Sales Teams with a simple R&amp;M Pricing Matrix</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algn="ctr"/>
                      <a:r>
                        <a:rPr kumimoji="1" lang="en-US"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20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20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ctr"/>
                      <a:r>
                        <a:rPr kumimoji="1" lang="en-US" altLang="ja-JP"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0</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95000"/>
                      </a:schemeClr>
                    </a:solid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marL="0" algn="ctr" defTabSz="914400" rtl="0" eaLnBrk="1" latinLnBrk="0" hangingPunct="1"/>
                      <a:r>
                        <a:rPr kumimoji="1" lang="en-GB" altLang="ja-JP" sz="1100" b="1" kern="12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0</a:t>
                      </a:r>
                      <a:endParaRPr kumimoji="1" lang="ja-JP" altLang="en-US" sz="1100" b="1" kern="12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rowSpan="2">
                  <a:txBody>
                    <a:bodyPr/>
                    <a:lstStyle/>
                    <a:p>
                      <a:pPr algn="ct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F0000"/>
                    </a:solidFill>
                  </a:tcPr>
                </a:tc>
                <a:tc rowSpan="2">
                  <a:txBody>
                    <a:bodyPr/>
                    <a:lstStyle/>
                    <a:p>
                      <a:pPr algn="l"/>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This initiative was Cancelled due to the sensitivity of the information being made available in the Public Domain</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1852747689"/>
                  </a:ext>
                </a:extLst>
              </a:tr>
              <a:tr h="516878">
                <a:tc vMerge="1">
                  <a:txBody>
                    <a:bodyPr/>
                    <a:lstStyle/>
                    <a:p>
                      <a:endParaRPr kumimoji="1" lang="ja-JP" altLang="en-US"/>
                    </a:p>
                  </a:txBody>
                  <a:tcPr/>
                </a:tc>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kumimoji="1" lang="ja-JP" altLang="en-US" sz="1100" b="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95000"/>
                      </a:schemeClr>
                    </a:solidFill>
                  </a:tcPr>
                </a:tc>
                <a:tc>
                  <a:txBody>
                    <a:bodyPr/>
                    <a:lstStyle/>
                    <a:p>
                      <a:pPr algn="l"/>
                      <a:endParaRPr kumimoji="1" lang="ja-JP" altLang="en-US"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ctr"/>
                      <a:endParaRPr kumimoji="1" lang="ja-JP" altLang="en-US" sz="1100" b="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l"/>
                      <a:endParaRPr kumimoji="1" lang="ja-JP" altLang="en-US" sz="1100" b="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vMerge="1">
                  <a:txBody>
                    <a:bodyPr/>
                    <a:lstStyle/>
                    <a:p>
                      <a:pPr algn="ctr"/>
                      <a:endParaRPr kumimoji="1" lang="ja-JP" altLang="en-US" sz="160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vMerge="1">
                  <a:txBody>
                    <a:bodyPr/>
                    <a:lstStyle/>
                    <a:p>
                      <a:endParaRPr lang="en-US"/>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0749628"/>
                  </a:ext>
                </a:extLst>
              </a:tr>
              <a:tr h="8307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⑤</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Increased Dealer Annual Bonus Potential for Target Achievement</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en-GB"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Dealer Bonus for Achivevemnet of Annual  Registration Target</a:t>
                      </a:r>
                      <a:endParaRPr kumimoji="1" lang="ja-JP" altLang="en-US"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ctr"/>
                      <a:r>
                        <a:rPr kumimoji="1" lang="en-US"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100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60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The Dealer Annual Bonus is reconciled at the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‘Calendar Year-End’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Dealer Performance Versus Objective is monitored on a weekly basis  </a:t>
                      </a:r>
                    </a:p>
                    <a:p>
                      <a:pPr algn="ctr"/>
                      <a:endParaRPr kumimoji="1" lang="ja-JP" altLang="en-US" sz="1100" b="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95000"/>
                      </a:schemeClr>
                    </a:solidFill>
                  </a:tcPr>
                </a:tc>
                <a:tc hMerge="1">
                  <a:txBody>
                    <a:bodyPr/>
                    <a:lstStyle/>
                    <a:p>
                      <a:pPr algn="ctr"/>
                      <a:endParaRPr kumimoji="1" lang="ja-JP" altLang="en-US" sz="14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hMerge="1">
                  <a:txBody>
                    <a:bodyPr/>
                    <a:lstStyle/>
                    <a:p>
                      <a:pPr algn="ctr"/>
                      <a:endParaRPr kumimoji="1" lang="ja-JP" altLang="en-US" sz="14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hMerge="1">
                  <a:txBody>
                    <a:bodyPr/>
                    <a:lstStyle/>
                    <a:p>
                      <a:pPr algn="ctr"/>
                      <a:endParaRPr kumimoji="1" lang="ja-JP" altLang="en-US" sz="14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ct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92D050"/>
                    </a:solidFill>
                  </a:tcPr>
                </a:tc>
                <a:tc>
                  <a:txBody>
                    <a:bodyPr/>
                    <a:lstStyle/>
                    <a:p>
                      <a:pPr algn="l"/>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Due to Market Conditions in CY25 only Eight Dealers Achieved &gt;90% of Stretch Target  </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1809651967"/>
                  </a:ext>
                </a:extLst>
              </a:tr>
            </a:tbl>
          </a:graphicData>
        </a:graphic>
      </p:graphicFrame>
    </p:spTree>
    <p:extLst>
      <p:ext uri="{BB962C8B-B14F-4D97-AF65-F5344CB8AC3E}">
        <p14:creationId xmlns:p14="http://schemas.microsoft.com/office/powerpoint/2010/main" val="3790323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D4E65-8746-B7C4-2F3D-AC04D138C66F}"/>
            </a:ext>
          </a:extLst>
        </p:cNvPr>
        <p:cNvGrpSpPr/>
        <p:nvPr/>
      </p:nvGrpSpPr>
      <p:grpSpPr>
        <a:xfrm>
          <a:off x="0" y="0"/>
          <a:ext cx="0" cy="0"/>
          <a:chOff x="0" y="0"/>
          <a:chExt cx="0" cy="0"/>
        </a:xfrm>
      </p:grpSpPr>
      <p:sp>
        <p:nvSpPr>
          <p:cNvPr id="9" name="Title 2">
            <a:extLst>
              <a:ext uri="{FF2B5EF4-FFF2-40B4-BE49-F238E27FC236}">
                <a16:creationId xmlns:a16="http://schemas.microsoft.com/office/drawing/2014/main" id="{45F3DF6A-EB6B-6169-10C3-1A690C8FDEE6}"/>
              </a:ext>
            </a:extLst>
          </p:cNvPr>
          <p:cNvSpPr>
            <a:spLocks noGrp="1"/>
          </p:cNvSpPr>
          <p:nvPr>
            <p:ph type="title"/>
          </p:nvPr>
        </p:nvSpPr>
        <p:spPr>
          <a:xfrm>
            <a:off x="695400" y="376801"/>
            <a:ext cx="9505056" cy="518746"/>
          </a:xfrm>
        </p:spPr>
        <p:txBody>
          <a:bodyPr/>
          <a:lstStyle/>
          <a:p>
            <a:r>
              <a:rPr lang="en-US" dirty="0">
                <a:solidFill>
                  <a:srgbClr val="344251"/>
                </a:solidFill>
              </a:rPr>
              <a:t>FY25 Additional Key Actions / Initiative</a:t>
            </a:r>
          </a:p>
        </p:txBody>
      </p:sp>
      <p:graphicFrame>
        <p:nvGraphicFramePr>
          <p:cNvPr id="15" name="表 2">
            <a:extLst>
              <a:ext uri="{FF2B5EF4-FFF2-40B4-BE49-F238E27FC236}">
                <a16:creationId xmlns:a16="http://schemas.microsoft.com/office/drawing/2014/main" id="{411AA6DA-2073-C472-32E4-A4172289FAB2}"/>
              </a:ext>
            </a:extLst>
          </p:cNvPr>
          <p:cNvGraphicFramePr>
            <a:graphicFrameLocks noGrp="1"/>
          </p:cNvGraphicFramePr>
          <p:nvPr/>
        </p:nvGraphicFramePr>
        <p:xfrm>
          <a:off x="0" y="1543725"/>
          <a:ext cx="12170981" cy="5314275"/>
        </p:xfrm>
        <a:graphic>
          <a:graphicData uri="http://schemas.openxmlformats.org/drawingml/2006/table">
            <a:tbl>
              <a:tblPr firstRow="1" bandRow="1">
                <a:tableStyleId>{5C22544A-7EE6-4342-B048-85BDC9FD1C3A}</a:tableStyleId>
              </a:tblPr>
              <a:tblGrid>
                <a:gridCol w="505444">
                  <a:extLst>
                    <a:ext uri="{9D8B030D-6E8A-4147-A177-3AD203B41FA5}">
                      <a16:colId xmlns:a16="http://schemas.microsoft.com/office/drawing/2014/main" val="2267410105"/>
                    </a:ext>
                  </a:extLst>
                </a:gridCol>
                <a:gridCol w="1466974">
                  <a:extLst>
                    <a:ext uri="{9D8B030D-6E8A-4147-A177-3AD203B41FA5}">
                      <a16:colId xmlns:a16="http://schemas.microsoft.com/office/drawing/2014/main" val="1803834067"/>
                    </a:ext>
                  </a:extLst>
                </a:gridCol>
                <a:gridCol w="1795621">
                  <a:extLst>
                    <a:ext uri="{9D8B030D-6E8A-4147-A177-3AD203B41FA5}">
                      <a16:colId xmlns:a16="http://schemas.microsoft.com/office/drawing/2014/main" val="1113225083"/>
                    </a:ext>
                  </a:extLst>
                </a:gridCol>
                <a:gridCol w="811070">
                  <a:extLst>
                    <a:ext uri="{9D8B030D-6E8A-4147-A177-3AD203B41FA5}">
                      <a16:colId xmlns:a16="http://schemas.microsoft.com/office/drawing/2014/main" val="3379383129"/>
                    </a:ext>
                  </a:extLst>
                </a:gridCol>
                <a:gridCol w="1205631">
                  <a:extLst>
                    <a:ext uri="{9D8B030D-6E8A-4147-A177-3AD203B41FA5}">
                      <a16:colId xmlns:a16="http://schemas.microsoft.com/office/drawing/2014/main" val="988449274"/>
                    </a:ext>
                  </a:extLst>
                </a:gridCol>
                <a:gridCol w="781430">
                  <a:extLst>
                    <a:ext uri="{9D8B030D-6E8A-4147-A177-3AD203B41FA5}">
                      <a16:colId xmlns:a16="http://schemas.microsoft.com/office/drawing/2014/main" val="3893911641"/>
                    </a:ext>
                  </a:extLst>
                </a:gridCol>
                <a:gridCol w="1332690">
                  <a:extLst>
                    <a:ext uri="{9D8B030D-6E8A-4147-A177-3AD203B41FA5}">
                      <a16:colId xmlns:a16="http://schemas.microsoft.com/office/drawing/2014/main" val="2085556933"/>
                    </a:ext>
                  </a:extLst>
                </a:gridCol>
                <a:gridCol w="1050587">
                  <a:extLst>
                    <a:ext uri="{9D8B030D-6E8A-4147-A177-3AD203B41FA5}">
                      <a16:colId xmlns:a16="http://schemas.microsoft.com/office/drawing/2014/main" val="53525984"/>
                    </a:ext>
                  </a:extLst>
                </a:gridCol>
                <a:gridCol w="865762">
                  <a:extLst>
                    <a:ext uri="{9D8B030D-6E8A-4147-A177-3AD203B41FA5}">
                      <a16:colId xmlns:a16="http://schemas.microsoft.com/office/drawing/2014/main" val="4063720484"/>
                    </a:ext>
                  </a:extLst>
                </a:gridCol>
                <a:gridCol w="252919">
                  <a:extLst>
                    <a:ext uri="{9D8B030D-6E8A-4147-A177-3AD203B41FA5}">
                      <a16:colId xmlns:a16="http://schemas.microsoft.com/office/drawing/2014/main" val="392362036"/>
                    </a:ext>
                  </a:extLst>
                </a:gridCol>
                <a:gridCol w="2102853">
                  <a:extLst>
                    <a:ext uri="{9D8B030D-6E8A-4147-A177-3AD203B41FA5}">
                      <a16:colId xmlns:a16="http://schemas.microsoft.com/office/drawing/2014/main" val="2366652690"/>
                    </a:ext>
                  </a:extLst>
                </a:gridCol>
              </a:tblGrid>
              <a:tr h="301032">
                <a:tc rowSpan="2">
                  <a:txBody>
                    <a:bodyPr/>
                    <a:lstStyle/>
                    <a:p>
                      <a:pPr algn="ctr"/>
                      <a:r>
                        <a:rPr kumimoji="1" lang="en-US"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No</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rowSpan="2">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Details</a:t>
                      </a:r>
                      <a:r>
                        <a:rPr kumimoji="1" lang="ja-JP" altLang="en-US"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 </a:t>
                      </a: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action</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rowSpan="2">
                  <a:txBody>
                    <a:bodyPr/>
                    <a:lstStyle/>
                    <a:p>
                      <a:pPr algn="ctr"/>
                      <a:r>
                        <a:rPr kumimoji="1" lang="en-US"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Details</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rowSpan="2">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Target</a:t>
                      </a:r>
                      <a:b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b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Q’ty</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rowSpan="2">
                  <a:txBody>
                    <a:bodyPr/>
                    <a:lstStyle/>
                    <a:p>
                      <a:pPr algn="ctr"/>
                      <a:r>
                        <a:rPr kumimoji="1" lang="en-US"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Actual  / Estimated</a:t>
                      </a:r>
                      <a:r>
                        <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 </a:t>
                      </a:r>
                      <a:br>
                        <a:rPr kumimoji="1" lang="en-US"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b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Q’ty</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gridSpan="4">
                  <a:txBody>
                    <a:bodyPr/>
                    <a:lstStyle/>
                    <a:p>
                      <a:pPr algn="ctr"/>
                      <a:r>
                        <a:rPr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Progess in FY25</a:t>
                      </a:r>
                      <a:endParaRPr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hMerge="1">
                  <a:txBody>
                    <a:bodyPr/>
                    <a:lstStyle/>
                    <a:p>
                      <a:endParaRPr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tc rowSpan="2">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GYR</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rowSpan="2">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Progess</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0425571"/>
                  </a:ext>
                </a:extLst>
              </a:tr>
              <a:tr h="46523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Q1</a:t>
                      </a:r>
                    </a:p>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(Actual)</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Q2</a:t>
                      </a:r>
                    </a:p>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(Actual)</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Q3</a:t>
                      </a:r>
                    </a:p>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 (Actual)</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Q4</a:t>
                      </a:r>
                    </a:p>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(Plan)</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vMerge="1">
                  <a:txBody>
                    <a:bodyPr/>
                    <a:lstStyle/>
                    <a:p>
                      <a:endParaRPr kumimoji="1" lang="ja-JP" altLang="en-US"/>
                    </a:p>
                  </a:txBody>
                  <a:tcPr/>
                </a:tc>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7583122"/>
                  </a:ext>
                </a:extLst>
              </a:tr>
              <a:tr h="273666">
                <a:tc rowSpan="2">
                  <a:txBody>
                    <a:bodyPr/>
                    <a:lstStyle/>
                    <a:p>
                      <a:pPr algn="ctr" fontAlgn="ctr"/>
                      <a:r>
                        <a:rPr lang="ja-JP" altLang="en-US" sz="1100" b="0" i="0" u="none" strike="noStrike" dirty="0">
                          <a:solidFill>
                            <a:schemeClr val="tx1"/>
                          </a:solidFill>
                          <a:effectLst/>
                          <a:latin typeface="Calibri Light" panose="020F0302020204030204" pitchFamily="34" charset="0"/>
                          <a:ea typeface="Meiryo UI" panose="020B0604030504040204" pitchFamily="50" charset="-128"/>
                          <a:cs typeface="Calibri Light" panose="020F0302020204030204" pitchFamily="34" charset="0"/>
                        </a:rPr>
                        <a:t>①</a:t>
                      </a:r>
                      <a:endParaRPr lang="en-US" altLang="ja-JP" sz="1100" b="0" i="0" u="none" strike="noStrike" dirty="0">
                        <a:solidFill>
                          <a:schemeClr val="tx1"/>
                        </a:solidFill>
                        <a:effectLst/>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100" b="0" i="0" u="none" strike="noStrike" dirty="0">
                          <a:solidFill>
                            <a:schemeClr val="tx1"/>
                          </a:solidFill>
                          <a:effectLst/>
                          <a:latin typeface="Calibri Light" panose="020F0302020204030204" pitchFamily="34" charset="0"/>
                          <a:ea typeface="Meiryo UI" panose="020B0604030504040204" pitchFamily="50" charset="-128"/>
                          <a:cs typeface="Calibri Light" panose="020F0302020204030204" pitchFamily="34" charset="0"/>
                        </a:rPr>
                        <a:t>Customer £1,000 ‘Cashback’ Initiative</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marL="171450" indent="-171450" algn="l">
                        <a:buFont typeface="Arial" panose="020B0604020202020204" pitchFamily="34" charset="0"/>
                        <a:buChar char="•"/>
                      </a:pPr>
                      <a:r>
                        <a:rPr kumimoji="1" lang="en-GB"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Advertised Direct Offer to Customers</a:t>
                      </a:r>
                    </a:p>
                    <a:p>
                      <a:pPr marL="171450" indent="-171450" algn="l">
                        <a:buFont typeface="Arial" panose="020B0604020202020204" pitchFamily="34" charset="0"/>
                        <a:buChar char="•"/>
                      </a:pPr>
                      <a:r>
                        <a:rPr kumimoji="1" lang="en-GB"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Social Media Promotion</a:t>
                      </a:r>
                    </a:p>
                    <a:p>
                      <a:pPr marL="171450" indent="-171450" algn="l">
                        <a:buFont typeface="Arial" panose="020B0604020202020204" pitchFamily="34" charset="0"/>
                        <a:buChar char="•"/>
                      </a:pPr>
                      <a:r>
                        <a:rPr kumimoji="1" lang="en-GB"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Dealers Submit New Inbound Order</a:t>
                      </a:r>
                    </a:p>
                    <a:p>
                      <a:pPr marL="171450" indent="-171450" algn="l">
                        <a:buFont typeface="Arial" panose="020B0604020202020204" pitchFamily="34" charset="0"/>
                        <a:buChar char="•"/>
                      </a:pPr>
                      <a:r>
                        <a:rPr kumimoji="1" lang="en-GB"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Outbound Sale</a:t>
                      </a:r>
                    </a:p>
                    <a:p>
                      <a:pPr marL="171450" indent="-171450" algn="l">
                        <a:buFont typeface="Arial" panose="020B0604020202020204" pitchFamily="34" charset="0"/>
                        <a:buChar char="•"/>
                      </a:pPr>
                      <a:r>
                        <a:rPr kumimoji="1" lang="en-GB"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Inbound Order</a:t>
                      </a:r>
                    </a:p>
                    <a:p>
                      <a:pPr marL="171450" indent="-171450" algn="l">
                        <a:buFont typeface="Arial" panose="020B0604020202020204" pitchFamily="34" charset="0"/>
                        <a:buChar char="•"/>
                      </a:pPr>
                      <a:r>
                        <a:rPr kumimoji="1" lang="en-GB"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Positive Impact on FY25 Wholesale</a:t>
                      </a:r>
                      <a:endParaRPr kumimoji="1" lang="ja-JP" altLang="en-US"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200</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233</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ctr"/>
                      <a:r>
                        <a:rPr kumimoji="1" lang="en-US" altLang="ja-JP"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95000"/>
                      </a:schemeClr>
                    </a:solid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Aug &amp; Sept</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marL="0" algn="ctr" defTabSz="914400" rtl="0" eaLnBrk="1" latinLnBrk="0" hangingPunct="1"/>
                      <a:r>
                        <a:rPr kumimoji="1" lang="en-GB" altLang="ja-JP" sz="1100" b="1" kern="12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Oct &amp; Nov</a:t>
                      </a:r>
                      <a:endParaRPr kumimoji="1" lang="ja-JP" altLang="en-US" sz="1100" b="1" kern="12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rowSpan="2">
                  <a:txBody>
                    <a:bodyPr/>
                    <a:lstStyle/>
                    <a:p>
                      <a:pPr algn="ct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92D050"/>
                    </a:solidFill>
                  </a:tcPr>
                </a:tc>
                <a:tc rowSpan="2">
                  <a:txBody>
                    <a:bodyPr/>
                    <a:lstStyle/>
                    <a:p>
                      <a:pPr algn="l"/>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Positive Result:</a:t>
                      </a:r>
                    </a:p>
                    <a:p>
                      <a:pPr algn="l"/>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233 x Customer Cashback Sales</a:t>
                      </a:r>
                    </a:p>
                    <a:p>
                      <a:pPr algn="l"/>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233 x New Inbound Orders Received from Dealers</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2445523560"/>
                  </a:ext>
                </a:extLst>
              </a:tr>
              <a:tr h="137253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75</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marL="0" algn="ctr" defTabSz="914400" rtl="0" eaLnBrk="1" latinLnBrk="0" hangingPunct="1"/>
                      <a:r>
                        <a:rPr kumimoji="1" lang="en-GB" altLang="ja-JP" sz="1100" b="1" kern="12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158</a:t>
                      </a:r>
                      <a:endParaRPr kumimoji="1" lang="ja-JP" altLang="en-US" sz="1100" b="1" kern="12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ctr"/>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vMerge="1">
                  <a:txBody>
                    <a:bodyPr/>
                    <a:lstStyle/>
                    <a:p>
                      <a:endParaRPr kumimoji="1" lang="ja-JP" altLang="en-US"/>
                    </a:p>
                  </a:txBody>
                  <a:tcPr/>
                </a:tc>
                <a:tc vMerge="1">
                  <a:txBody>
                    <a:bodyPr/>
                    <a:lstStyle/>
                    <a:p>
                      <a:endParaRPr lang="en-US"/>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89066698"/>
                  </a:ext>
                </a:extLst>
              </a:tr>
              <a:tr h="273666">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②</a:t>
                      </a:r>
                      <a:endPar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N35 Dealer Inbound Order Incentive £1,000 Per Vehicle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December 2025 &amp; January 2026</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GB" altLang="ja-JP" sz="1100" kern="12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Individual Dealer Objectives – December &amp; January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GB" altLang="ja-JP" sz="1100" kern="12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Vehicles must be Invoiced &amp; Delivered by 13/03/26</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GB" altLang="ja-JP" sz="1100" kern="12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Initiative Designed to have a Positive Impact on the FY25 Result</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236</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203</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ctr"/>
                      <a:r>
                        <a:rPr kumimoji="1" lang="en-US" altLang="ja-JP"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95000"/>
                      </a:schemeClr>
                    </a:solid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Dec Only</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Jan Only</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algn="ct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92D050"/>
                    </a:solidFill>
                  </a:tcPr>
                </a:tc>
                <a:tc rowSpan="2">
                  <a:txBody>
                    <a:bodyPr/>
                    <a:lstStyle/>
                    <a:p>
                      <a:pPr algn="l"/>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Positive Impact in December 78 x Inbound Orders</a:t>
                      </a:r>
                    </a:p>
                    <a:p>
                      <a:pPr algn="l"/>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125 Forecast in January 2026</a:t>
                      </a:r>
                    </a:p>
                    <a:p>
                      <a:pPr algn="l"/>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RSM’s Proactively Tracking Performance Versus Objective </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2414416752"/>
                  </a:ext>
                </a:extLst>
              </a:tr>
              <a:tr h="137253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95000"/>
                      </a:schemeClr>
                    </a:solidFill>
                  </a:tcPr>
                </a:tc>
                <a:tc>
                  <a:txBody>
                    <a:bodyPr/>
                    <a:lstStyle/>
                    <a:p>
                      <a:pPr algn="ctr"/>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ctr"/>
                      <a:r>
                        <a:rPr kumimoji="1" lang="en-GB" altLang="ja-JP"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78</a:t>
                      </a:r>
                      <a:endParaRPr kumimoji="1" lang="ja-JP" altLang="en-US"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ctr"/>
                      <a:r>
                        <a:rPr kumimoji="1" lang="en-GB" altLang="ja-JP"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125</a:t>
                      </a:r>
                    </a:p>
                    <a:p>
                      <a:pPr algn="ctr"/>
                      <a:r>
                        <a:rPr kumimoji="1" lang="en-GB" altLang="ja-JP"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Forecast</a:t>
                      </a:r>
                      <a:endParaRPr kumimoji="1" lang="ja-JP" altLang="en-US"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vMerge="1">
                  <a:txBody>
                    <a:bodyPr/>
                    <a:lstStyle/>
                    <a:p>
                      <a:endParaRPr kumimoji="1" lang="ja-JP" altLang="en-US"/>
                    </a:p>
                  </a:txBody>
                  <a:tcPr/>
                </a:tc>
                <a:tc vMerge="1">
                  <a:txBody>
                    <a:bodyPr/>
                    <a:lstStyle/>
                    <a:p>
                      <a:endParaRPr lang="en-US"/>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17743734"/>
                  </a:ext>
                </a:extLst>
              </a:tr>
              <a:tr h="125561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③</a:t>
                      </a:r>
                      <a:endPar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Sales Training</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GB" altLang="ja-JP" sz="1100" kern="12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Regional Sales Training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GB" altLang="ja-JP" sz="1100" kern="12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Sales Skills Modules 1-3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GB" altLang="ja-JP" sz="1100" kern="12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Dealer Sales Team Delegates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GB" altLang="ja-JP" sz="1100" kern="12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ITUK Regional &amp; Fleet Sales Managers Attend</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ctr"/>
                      <a:r>
                        <a:rPr kumimoji="1" lang="en-GB" altLang="ja-JP"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a:t>
                      </a:r>
                      <a:endParaRPr kumimoji="1" lang="ja-JP" altLang="en-US" sz="1100" b="1"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ctr"/>
                      <a:r>
                        <a:rPr kumimoji="1" lang="en-US" altLang="ja-JP" sz="11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95000"/>
                      </a:schemeClr>
                    </a:solidFill>
                  </a:tcPr>
                </a:tc>
                <a:tc>
                  <a:txBody>
                    <a:bodyPr/>
                    <a:lstStyle/>
                    <a:p>
                      <a:pPr algn="ctr"/>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a:t>
                      </a: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ctr"/>
                      <a:r>
                        <a:rPr kumimoji="1" lang="en-GB" altLang="ja-JP"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t>
                      </a:r>
                      <a:endParaRPr kumimoji="1" lang="ja-JP" altLang="en-US"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2F2F2"/>
                    </a:solidFill>
                  </a:tcPr>
                </a:tc>
                <a:tc>
                  <a:txBody>
                    <a:bodyPr/>
                    <a:lstStyle/>
                    <a:p>
                      <a:pPr algn="ctr"/>
                      <a:r>
                        <a:rPr kumimoji="1" lang="en-GB" altLang="ja-JP"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t>
                      </a:r>
                      <a:endParaRPr kumimoji="1" lang="ja-JP" altLang="en-US" sz="1100" b="1"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algn="ctr"/>
                      <a:endParaRPr kumimoji="1" lang="ja-JP" altLang="en-US"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92D050"/>
                    </a:solidFill>
                  </a:tcPr>
                </a:tc>
                <a:tc>
                  <a:txBody>
                    <a:bodyPr/>
                    <a:lstStyle/>
                    <a:p>
                      <a:pPr algn="l"/>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Sales Skills Modules 1-3</a:t>
                      </a:r>
                    </a:p>
                    <a:p>
                      <a:pPr algn="l"/>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May 2025 to September 2025</a:t>
                      </a:r>
                    </a:p>
                    <a:p>
                      <a:pPr algn="l"/>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28 Dealer Delegates Attended</a:t>
                      </a:r>
                    </a:p>
                    <a:p>
                      <a:pPr algn="l"/>
                      <a:r>
                        <a:rPr kumimoji="1" lang="en-GB" altLang="ja-JP" sz="11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Sales Skills Modules 4&amp;5 Planned for March &amp; June 2026</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2892715889"/>
                  </a:ext>
                </a:extLst>
              </a:tr>
            </a:tbl>
          </a:graphicData>
        </a:graphic>
      </p:graphicFrame>
      <p:sp>
        <p:nvSpPr>
          <p:cNvPr id="2" name="Title 2">
            <a:extLst>
              <a:ext uri="{FF2B5EF4-FFF2-40B4-BE49-F238E27FC236}">
                <a16:creationId xmlns:a16="http://schemas.microsoft.com/office/drawing/2014/main" id="{9D46BF0A-EA19-FFA6-FB67-B71ACDD00CCD}"/>
              </a:ext>
            </a:extLst>
          </p:cNvPr>
          <p:cNvSpPr txBox="1">
            <a:spLocks/>
          </p:cNvSpPr>
          <p:nvPr/>
        </p:nvSpPr>
        <p:spPr>
          <a:xfrm>
            <a:off x="695400" y="1024979"/>
            <a:ext cx="9505056" cy="518746"/>
          </a:xfrm>
          <a:prstGeom prst="rect">
            <a:avLst/>
          </a:prstGeom>
        </p:spPr>
        <p:txBody>
          <a:bodyPr vert="horz" lIns="0" tIns="93600" rIns="0" bIns="0" rtlCol="0" anchor="t" anchorCtr="0">
            <a:noAutofit/>
          </a:bodyPr>
          <a:lstStyle>
            <a:lvl1pPr algn="l" defTabSz="914400" rtl="0" eaLnBrk="1" latinLnBrk="0" hangingPunct="1">
              <a:lnSpc>
                <a:spcPct val="90000"/>
              </a:lnSpc>
              <a:spcBef>
                <a:spcPct val="0"/>
              </a:spcBef>
              <a:buNone/>
              <a:defRPr kumimoji="1" sz="3200" b="1" kern="1200">
                <a:solidFill>
                  <a:schemeClr val="tx1"/>
                </a:solidFill>
                <a:latin typeface="+mj-lt"/>
                <a:ea typeface="+mj-ea"/>
                <a:cs typeface="+mj-cs"/>
              </a:defRPr>
            </a:lvl1pPr>
          </a:lstStyle>
          <a:p>
            <a:r>
              <a:rPr lang="en-US" sz="2400" dirty="0">
                <a:solidFill>
                  <a:srgbClr val="344251"/>
                </a:solidFill>
              </a:rPr>
              <a:t>Post KOSHA Plan</a:t>
            </a:r>
          </a:p>
        </p:txBody>
      </p:sp>
    </p:spTree>
    <p:extLst>
      <p:ext uri="{BB962C8B-B14F-4D97-AF65-F5344CB8AC3E}">
        <p14:creationId xmlns:p14="http://schemas.microsoft.com/office/powerpoint/2010/main" val="35414245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9BF2B-7760-689A-9A49-391754F884DD}"/>
            </a:ext>
          </a:extLst>
        </p:cNvPr>
        <p:cNvGrpSpPr/>
        <p:nvPr/>
      </p:nvGrpSpPr>
      <p:grpSpPr>
        <a:xfrm>
          <a:off x="0" y="0"/>
          <a:ext cx="0" cy="0"/>
          <a:chOff x="0" y="0"/>
          <a:chExt cx="0" cy="0"/>
        </a:xfrm>
      </p:grpSpPr>
      <p:sp>
        <p:nvSpPr>
          <p:cNvPr id="9" name="Title 2">
            <a:extLst>
              <a:ext uri="{FF2B5EF4-FFF2-40B4-BE49-F238E27FC236}">
                <a16:creationId xmlns:a16="http://schemas.microsoft.com/office/drawing/2014/main" id="{1B2F0D91-8F1C-EB5E-1823-120714BB8553}"/>
              </a:ext>
            </a:extLst>
          </p:cNvPr>
          <p:cNvSpPr>
            <a:spLocks noGrp="1"/>
          </p:cNvSpPr>
          <p:nvPr>
            <p:ph type="title"/>
          </p:nvPr>
        </p:nvSpPr>
        <p:spPr>
          <a:xfrm>
            <a:off x="695400" y="376801"/>
            <a:ext cx="9505056" cy="518746"/>
          </a:xfrm>
        </p:spPr>
        <p:txBody>
          <a:bodyPr/>
          <a:lstStyle/>
          <a:p>
            <a:r>
              <a:rPr lang="en-US" dirty="0">
                <a:solidFill>
                  <a:srgbClr val="344251"/>
                </a:solidFill>
              </a:rPr>
              <a:t>FY26 Key Actions / Initiatives</a:t>
            </a:r>
          </a:p>
        </p:txBody>
      </p:sp>
      <p:graphicFrame>
        <p:nvGraphicFramePr>
          <p:cNvPr id="3" name="表 2">
            <a:extLst>
              <a:ext uri="{FF2B5EF4-FFF2-40B4-BE49-F238E27FC236}">
                <a16:creationId xmlns:a16="http://schemas.microsoft.com/office/drawing/2014/main" id="{A64A6B08-2369-D841-6F62-404A04B17059}"/>
              </a:ext>
            </a:extLst>
          </p:cNvPr>
          <p:cNvGraphicFramePr>
            <a:graphicFrameLocks noGrp="1"/>
          </p:cNvGraphicFramePr>
          <p:nvPr>
            <p:extLst>
              <p:ext uri="{D42A27DB-BD31-4B8C-83A1-F6EECF244321}">
                <p14:modId xmlns:p14="http://schemas.microsoft.com/office/powerpoint/2010/main" val="1843697930"/>
              </p:ext>
            </p:extLst>
          </p:nvPr>
        </p:nvGraphicFramePr>
        <p:xfrm>
          <a:off x="0" y="988652"/>
          <a:ext cx="12191999" cy="5621153"/>
        </p:xfrm>
        <a:graphic>
          <a:graphicData uri="http://schemas.openxmlformats.org/drawingml/2006/table">
            <a:tbl>
              <a:tblPr firstRow="1" bandRow="1">
                <a:tableStyleId>{5C22544A-7EE6-4342-B048-85BDC9FD1C3A}</a:tableStyleId>
              </a:tblPr>
              <a:tblGrid>
                <a:gridCol w="502395">
                  <a:extLst>
                    <a:ext uri="{9D8B030D-6E8A-4147-A177-3AD203B41FA5}">
                      <a16:colId xmlns:a16="http://schemas.microsoft.com/office/drawing/2014/main" val="2267410105"/>
                    </a:ext>
                  </a:extLst>
                </a:gridCol>
                <a:gridCol w="1458123">
                  <a:extLst>
                    <a:ext uri="{9D8B030D-6E8A-4147-A177-3AD203B41FA5}">
                      <a16:colId xmlns:a16="http://schemas.microsoft.com/office/drawing/2014/main" val="1803834067"/>
                    </a:ext>
                  </a:extLst>
                </a:gridCol>
                <a:gridCol w="1784788">
                  <a:extLst>
                    <a:ext uri="{9D8B030D-6E8A-4147-A177-3AD203B41FA5}">
                      <a16:colId xmlns:a16="http://schemas.microsoft.com/office/drawing/2014/main" val="1113225083"/>
                    </a:ext>
                  </a:extLst>
                </a:gridCol>
                <a:gridCol w="806177">
                  <a:extLst>
                    <a:ext uri="{9D8B030D-6E8A-4147-A177-3AD203B41FA5}">
                      <a16:colId xmlns:a16="http://schemas.microsoft.com/office/drawing/2014/main" val="3379383129"/>
                    </a:ext>
                  </a:extLst>
                </a:gridCol>
                <a:gridCol w="1198357">
                  <a:extLst>
                    <a:ext uri="{9D8B030D-6E8A-4147-A177-3AD203B41FA5}">
                      <a16:colId xmlns:a16="http://schemas.microsoft.com/office/drawing/2014/main" val="988449274"/>
                    </a:ext>
                  </a:extLst>
                </a:gridCol>
                <a:gridCol w="973026">
                  <a:extLst>
                    <a:ext uri="{9D8B030D-6E8A-4147-A177-3AD203B41FA5}">
                      <a16:colId xmlns:a16="http://schemas.microsoft.com/office/drawing/2014/main" val="3893911641"/>
                    </a:ext>
                  </a:extLst>
                </a:gridCol>
                <a:gridCol w="982724">
                  <a:extLst>
                    <a:ext uri="{9D8B030D-6E8A-4147-A177-3AD203B41FA5}">
                      <a16:colId xmlns:a16="http://schemas.microsoft.com/office/drawing/2014/main" val="2085556933"/>
                    </a:ext>
                  </a:extLst>
                </a:gridCol>
                <a:gridCol w="1105572">
                  <a:extLst>
                    <a:ext uri="{9D8B030D-6E8A-4147-A177-3AD203B41FA5}">
                      <a16:colId xmlns:a16="http://schemas.microsoft.com/office/drawing/2014/main" val="53525984"/>
                    </a:ext>
                  </a:extLst>
                </a:gridCol>
                <a:gridCol w="1143538">
                  <a:extLst>
                    <a:ext uri="{9D8B030D-6E8A-4147-A177-3AD203B41FA5}">
                      <a16:colId xmlns:a16="http://schemas.microsoft.com/office/drawing/2014/main" val="4063720484"/>
                    </a:ext>
                  </a:extLst>
                </a:gridCol>
                <a:gridCol w="209969">
                  <a:extLst>
                    <a:ext uri="{9D8B030D-6E8A-4147-A177-3AD203B41FA5}">
                      <a16:colId xmlns:a16="http://schemas.microsoft.com/office/drawing/2014/main" val="392362036"/>
                    </a:ext>
                  </a:extLst>
                </a:gridCol>
                <a:gridCol w="2027330">
                  <a:extLst>
                    <a:ext uri="{9D8B030D-6E8A-4147-A177-3AD203B41FA5}">
                      <a16:colId xmlns:a16="http://schemas.microsoft.com/office/drawing/2014/main" val="2366652690"/>
                    </a:ext>
                  </a:extLst>
                </a:gridCol>
              </a:tblGrid>
              <a:tr h="464440">
                <a:tc rowSpan="2">
                  <a:txBody>
                    <a:bodyPr/>
                    <a:lstStyle/>
                    <a:p>
                      <a:pPr algn="ctr"/>
                      <a:r>
                        <a:rPr kumimoji="1" lang="en-US" altLang="ja-JP"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No</a:t>
                      </a:r>
                      <a:endParaRPr kumimoji="1" lang="ja-JP" altLang="en-US"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rowSpan="2">
                  <a:txBody>
                    <a:bodyPr/>
                    <a:lstStyle/>
                    <a:p>
                      <a:pPr algn="ctr"/>
                      <a:r>
                        <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Details</a:t>
                      </a:r>
                      <a:r>
                        <a:rPr kumimoji="1" lang="ja-JP" altLang="en-US"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 </a:t>
                      </a:r>
                      <a:r>
                        <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action</a:t>
                      </a:r>
                      <a:endParaRPr kumimoji="1" lang="ja-JP" altLang="en-US"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lumMod val="85000"/>
                      </a:schemeClr>
                    </a:solidFill>
                  </a:tcPr>
                </a:tc>
                <a:tc rowSpan="2">
                  <a:txBody>
                    <a:bodyPr/>
                    <a:lstStyle/>
                    <a:p>
                      <a:pPr algn="ctr"/>
                      <a:r>
                        <a:rPr kumimoji="1" lang="en-US" altLang="ja-JP"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Details</a:t>
                      </a:r>
                      <a:endParaRPr kumimoji="1" lang="ja-JP" altLang="en-US"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lumMod val="85000"/>
                      </a:schemeClr>
                    </a:solidFill>
                  </a:tcPr>
                </a:tc>
                <a:tc rowSpan="2">
                  <a:txBody>
                    <a:bodyPr/>
                    <a:lstStyle/>
                    <a:p>
                      <a:pPr algn="ctr"/>
                      <a:r>
                        <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Target</a:t>
                      </a:r>
                      <a:br>
                        <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br>
                      <a:r>
                        <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Q’ty</a:t>
                      </a:r>
                      <a:endParaRPr kumimoji="1" lang="ja-JP" altLang="en-US"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lumMod val="85000"/>
                      </a:schemeClr>
                    </a:solidFill>
                  </a:tcPr>
                </a:tc>
                <a:tc rowSpan="2">
                  <a:txBody>
                    <a:bodyPr/>
                    <a:lstStyle/>
                    <a:p>
                      <a:pPr algn="ctr"/>
                      <a:r>
                        <a:rPr kumimoji="1" lang="en-US" altLang="ja-JP"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Estimated</a:t>
                      </a:r>
                      <a:r>
                        <a:rPr kumimoji="1" lang="ja-JP" altLang="en-US"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 </a:t>
                      </a:r>
                      <a:br>
                        <a:rPr kumimoji="1" lang="en-US" altLang="ja-JP"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br>
                      <a:r>
                        <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Q’ty</a:t>
                      </a:r>
                      <a:endParaRPr kumimoji="1" lang="ja-JP" altLang="en-US"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lumMod val="85000"/>
                      </a:schemeClr>
                    </a:solidFill>
                  </a:tcPr>
                </a:tc>
                <a:tc gridSpan="4">
                  <a:txBody>
                    <a:bodyPr/>
                    <a:lstStyle/>
                    <a:p>
                      <a:pPr algn="ctr"/>
                      <a:r>
                        <a:rPr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Progess in FY26</a:t>
                      </a:r>
                      <a:endParaRPr lang="ja-JP" altLang="en-US"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ja-JP" altLang="en-US"/>
                    </a:p>
                  </a:txBody>
                  <a:tcPr>
                    <a:lnL w="12700" cap="flat" cmpd="sng" algn="ctr">
                      <a:solidFill>
                        <a:schemeClr val="bg2">
                          <a:lumMod val="20000"/>
                          <a:lumOff val="8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kumimoji="1" lang="ja-JP" altLang="en-US"/>
                    </a:p>
                  </a:txBody>
                  <a:tcPr>
                    <a:lnL w="12700" cap="flat" cmpd="sng" algn="ctr">
                      <a:solidFill>
                        <a:schemeClr val="bg2">
                          <a:lumMod val="20000"/>
                          <a:lumOff val="80000"/>
                        </a:schemeClr>
                      </a:solidFill>
                      <a:prstDash val="solid"/>
                      <a:round/>
                      <a:headEnd type="none" w="med" len="med"/>
                      <a:tailEnd type="none" w="med" len="med"/>
                    </a:lnL>
                  </a:tcPr>
                </a:tc>
                <a:tc rowSpan="2">
                  <a:txBody>
                    <a:bodyPr/>
                    <a:lstStyle/>
                    <a:p>
                      <a:pPr algn="ctr"/>
                      <a:r>
                        <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GYR</a:t>
                      </a:r>
                      <a:endParaRPr kumimoji="1" lang="ja-JP" altLang="en-US"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no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tc rowSpan="2">
                  <a:txBody>
                    <a:bodyPr/>
                    <a:lstStyle/>
                    <a:p>
                      <a:pPr algn="ctr"/>
                      <a:r>
                        <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Progess</a:t>
                      </a:r>
                      <a:endParaRPr kumimoji="1" lang="ja-JP" altLang="en-US"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0425571"/>
                  </a:ext>
                </a:extLst>
              </a:tr>
              <a:tr h="51052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a:txBody>
                    <a:bodyPr/>
                    <a:lstStyle/>
                    <a:p>
                      <a:pPr algn="ctr"/>
                      <a:r>
                        <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Q1</a:t>
                      </a:r>
                    </a:p>
                    <a:p>
                      <a:pPr algn="ctr"/>
                      <a:r>
                        <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(Actual)</a:t>
                      </a:r>
                      <a:endParaRPr kumimoji="1" lang="ja-JP" altLang="en-US"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Q2</a:t>
                      </a:r>
                    </a:p>
                    <a:p>
                      <a:pPr algn="ctr"/>
                      <a:r>
                        <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(Actual)</a:t>
                      </a:r>
                      <a:endParaRPr kumimoji="1" lang="ja-JP" altLang="en-US"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Q3</a:t>
                      </a:r>
                    </a:p>
                    <a:p>
                      <a:pPr algn="ctr"/>
                      <a:r>
                        <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 (Actual)</a:t>
                      </a:r>
                      <a:endParaRPr kumimoji="1" lang="ja-JP" altLang="en-US"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Q4</a:t>
                      </a:r>
                    </a:p>
                    <a:p>
                      <a:pPr algn="ctr"/>
                      <a:r>
                        <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(Plan)</a:t>
                      </a:r>
                      <a:endParaRPr kumimoji="1" lang="ja-JP" altLang="en-US"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vMerge="1">
                  <a:txBody>
                    <a:bodyPr/>
                    <a:lstStyle/>
                    <a:p>
                      <a:endParaRPr kumimoji="1" lang="ja-JP" altLang="en-US"/>
                    </a:p>
                  </a:txBody>
                  <a:tcPr/>
                </a:tc>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7583122"/>
                  </a:ext>
                </a:extLst>
              </a:tr>
              <a:tr h="363638">
                <a:tc rowSpan="2">
                  <a:txBody>
                    <a:bodyPr/>
                    <a:lstStyle/>
                    <a:p>
                      <a:pPr algn="ctr" fontAlgn="ctr"/>
                      <a:r>
                        <a:rPr lang="ja-JP" altLang="en-US" sz="1000" b="0" i="0" u="none" strike="noStrike" dirty="0">
                          <a:solidFill>
                            <a:schemeClr val="tx1"/>
                          </a:solidFill>
                          <a:effectLst/>
                          <a:latin typeface="Calibri Light" panose="020F0302020204030204" pitchFamily="34" charset="0"/>
                          <a:ea typeface="Meiryo UI" panose="020B0604030504040204" pitchFamily="50" charset="-128"/>
                          <a:cs typeface="Calibri Light" panose="020F0302020204030204" pitchFamily="34" charset="0"/>
                        </a:rPr>
                        <a:t>①</a:t>
                      </a:r>
                      <a:endParaRPr lang="en-US" altLang="ja-JP" sz="1000" b="0" i="0" u="none" strike="noStrike" dirty="0">
                        <a:solidFill>
                          <a:schemeClr val="tx1"/>
                        </a:solidFill>
                        <a:effectLst/>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rgbClr val="344251"/>
                          </a:solidFill>
                          <a:effectLst/>
                          <a:latin typeface="Calibri Light" panose="020F0302020204030204" pitchFamily="34" charset="0"/>
                          <a:ea typeface="Meiryo UI" panose="020B0604030504040204" pitchFamily="50" charset="-128"/>
                          <a:cs typeface="Calibri Light" panose="020F0302020204030204" pitchFamily="34" charset="0"/>
                        </a:rPr>
                        <a:t>Introduce BPCE Equipment Solutions, New Finance Partner</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rowSpan="2">
                  <a:txBody>
                    <a:bodyPr/>
                    <a:lstStyle/>
                    <a:p>
                      <a:pPr marL="171450" indent="-171450" algn="l">
                        <a:buFont typeface="Arial" panose="020B0604020202020204" pitchFamily="34" charset="0"/>
                        <a:buChar char="•"/>
                      </a:pPr>
                      <a:r>
                        <a:rPr kumimoji="1" lang="en-GB"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Additional New Floorplan</a:t>
                      </a:r>
                    </a:p>
                    <a:p>
                      <a:pPr marL="171450" indent="-171450" algn="l">
                        <a:buFont typeface="Arial" panose="020B0604020202020204" pitchFamily="34" charset="0"/>
                        <a:buChar char="•"/>
                      </a:pPr>
                      <a:r>
                        <a:rPr kumimoji="1" lang="en-GB"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More Competitive Campaigns</a:t>
                      </a:r>
                    </a:p>
                    <a:p>
                      <a:pPr marL="171450" indent="-171450" algn="l">
                        <a:buFont typeface="Arial" panose="020B0604020202020204" pitchFamily="34" charset="0"/>
                        <a:buChar char="•"/>
                      </a:pPr>
                      <a:r>
                        <a:rPr kumimoji="1" lang="en-GB"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P700 Demonstrators</a:t>
                      </a:r>
                      <a:endParaRPr kumimoji="1" lang="ja-JP" altLang="en-US"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rowSpan="2">
                  <a:txBody>
                    <a:bodyPr/>
                    <a:lstStyle/>
                    <a:p>
                      <a:pPr algn="ctr"/>
                      <a:r>
                        <a:rPr kumimoji="1" lang="en-GB" altLang="ja-JP"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125</a:t>
                      </a: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rowSpan="2">
                  <a:txBody>
                    <a:bodyPr/>
                    <a:lstStyle/>
                    <a:p>
                      <a:pPr algn="ctr"/>
                      <a:r>
                        <a:rPr kumimoji="1" lang="en-GB" altLang="ja-JP"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125</a:t>
                      </a: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r>
                        <a:rPr kumimoji="1" lang="en-US" altLang="ja-JP" sz="1000" b="1"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20</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r>
                        <a:rPr kumimoji="1" lang="en-GB" altLang="ja-JP"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30</a:t>
                      </a: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algn="ctr" defTabSz="914400" rtl="0" eaLnBrk="1" latinLnBrk="0" hangingPunct="1"/>
                      <a:r>
                        <a:rPr kumimoji="1" lang="en-GB" altLang="ja-JP" sz="1000" b="1" kern="12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40</a:t>
                      </a:r>
                      <a:endParaRPr kumimoji="1" lang="ja-JP" altLang="en-US" sz="1000" b="1" kern="12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r>
                        <a:rPr kumimoji="1" lang="en-GB" altLang="ja-JP"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35</a:t>
                      </a: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rowSpan="2">
                  <a:txBody>
                    <a:bodyPr/>
                    <a:lstStyle/>
                    <a:p>
                      <a:pPr algn="ctr"/>
                      <a:endParaRPr kumimoji="1" lang="ja-JP" altLang="en-US" sz="10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92D050"/>
                    </a:solidFill>
                  </a:tcPr>
                </a:tc>
                <a:tc rowSpan="2">
                  <a:txBody>
                    <a:bodyPr/>
                    <a:lstStyle/>
                    <a:p>
                      <a:pPr algn="l"/>
                      <a:endParaRPr kumimoji="1" lang="en-US"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2445523560"/>
                  </a:ext>
                </a:extLst>
              </a:tr>
              <a:tr h="502698">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a:txBody>
                    <a:bodyPr/>
                    <a:lstStyle/>
                    <a:p>
                      <a:pPr algn="ctr"/>
                      <a:endParaRPr kumimoji="1" lang="en-US"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algn="ctr" defTabSz="914400" rtl="0" eaLnBrk="1" latinLnBrk="0" hangingPunct="1"/>
                      <a:endParaRPr kumimoji="1" lang="ja-JP" altLang="en-US" sz="1000" kern="12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endParaRPr kumimoji="1" lang="ja-JP" altLang="en-US" sz="10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vMerge="1">
                  <a:txBody>
                    <a:bodyPr/>
                    <a:lstStyle/>
                    <a:p>
                      <a:endParaRPr kumimoji="1" lang="ja-JP" altLang="en-US"/>
                    </a:p>
                  </a:txBody>
                  <a:tcPr>
                    <a:lnL w="12700" cap="flat" cmpd="sng" algn="ctr">
                      <a:solidFill>
                        <a:schemeClr val="bg2">
                          <a:lumMod val="20000"/>
                          <a:lumOff val="80000"/>
                        </a:schemeClr>
                      </a:solidFill>
                      <a:prstDash val="solid"/>
                      <a:round/>
                      <a:headEnd type="none" w="med" len="med"/>
                      <a:tailEnd type="none" w="med" len="med"/>
                    </a:lnL>
                  </a:tcPr>
                </a:tc>
                <a:tc vMerge="1">
                  <a:txBody>
                    <a:bodyPr/>
                    <a:lstStyle/>
                    <a:p>
                      <a:endParaRPr lang="en-US"/>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89066698"/>
                  </a:ext>
                </a:extLst>
              </a:tr>
              <a:tr h="36363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②</a:t>
                      </a:r>
                      <a:endPar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Key Rental &amp; Industry Sector Focus</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GB" altLang="ja-JP" sz="1000" kern="12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Promote P700 to Key Rental &amp; Industry Sectors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GB" altLang="ja-JP" sz="1000" kern="12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Rental Sector Demo Initiative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rowSpan="2">
                  <a:txBody>
                    <a:bodyPr/>
                    <a:lstStyle/>
                    <a:p>
                      <a:pPr algn="ctr"/>
                      <a:r>
                        <a:rPr kumimoji="1" lang="en-GB" altLang="ja-JP"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225</a:t>
                      </a: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rowSpan="2">
                  <a:txBody>
                    <a:bodyPr/>
                    <a:lstStyle/>
                    <a:p>
                      <a:pPr algn="ctr"/>
                      <a:r>
                        <a:rPr kumimoji="1" lang="en-GB" altLang="ja-JP"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225</a:t>
                      </a: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r>
                        <a:rPr kumimoji="1" lang="en-US" altLang="ja-JP" sz="1000" b="1"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0</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r>
                        <a:rPr kumimoji="1" lang="en-GB" altLang="ja-JP"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0</a:t>
                      </a: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r>
                        <a:rPr kumimoji="1" lang="en-GB" altLang="ja-JP"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100</a:t>
                      </a: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algn="ctr" defTabSz="914400" rtl="0" eaLnBrk="1" latinLnBrk="0" hangingPunct="1"/>
                      <a:r>
                        <a:rPr kumimoji="1" lang="en-GB" altLang="ja-JP" sz="1000" b="1" kern="12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125</a:t>
                      </a:r>
                      <a:endParaRPr kumimoji="1" lang="ja-JP" altLang="en-US" sz="1000" b="1" kern="12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rowSpan="2">
                  <a:txBody>
                    <a:bodyPr/>
                    <a:lstStyle/>
                    <a:p>
                      <a:pPr algn="ctr"/>
                      <a:endParaRPr kumimoji="1" lang="ja-JP" altLang="en-US" sz="10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92D050"/>
                    </a:solidFill>
                  </a:tcPr>
                </a:tc>
                <a:tc rowSpan="2">
                  <a:txBody>
                    <a:bodyPr/>
                    <a:lstStyle/>
                    <a:p>
                      <a:pPr algn="l"/>
                      <a:endParaRPr kumimoji="1" lang="en-GB" altLang="ja-JP" sz="10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2414416752"/>
                  </a:ext>
                </a:extLst>
              </a:tr>
              <a:tr h="44867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a:txBody>
                    <a:bodyPr/>
                    <a:lstStyle/>
                    <a:p>
                      <a:pPr algn="l"/>
                      <a:endParaRPr kumimoji="1" lang="en-US"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endParaRPr kumimoji="1" lang="ja-JP" altLang="en-US" sz="10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endParaRPr kumimoji="1" lang="ja-JP" altLang="en-US"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algn="ctr" defTabSz="914400" rtl="0" eaLnBrk="1" latinLnBrk="0" hangingPunct="1"/>
                      <a:endParaRPr kumimoji="1" lang="ja-JP" altLang="en-US" sz="1000" b="1" kern="12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vMerge="1">
                  <a:txBody>
                    <a:bodyPr/>
                    <a:lstStyle/>
                    <a:p>
                      <a:endParaRPr kumimoji="1" lang="ja-JP" altLang="en-US"/>
                    </a:p>
                  </a:txBody>
                  <a:tcPr/>
                </a:tc>
                <a:tc vMerge="1">
                  <a:txBody>
                    <a:bodyPr/>
                    <a:lstStyle/>
                    <a:p>
                      <a:endParaRPr lang="en-US"/>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17743734"/>
                  </a:ext>
                </a:extLst>
              </a:tr>
              <a:tr h="36363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rPr>
                        <a:t>③</a:t>
                      </a:r>
                      <a:endParaRPr kumimoji="1" lang="en-US" altLang="ja-JP" sz="1000" noProof="1">
                        <a:solidFill>
                          <a:schemeClr val="tx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New Dealer Appointments</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rowSpan="2">
                  <a:txBody>
                    <a:bodyPr/>
                    <a:lstStyle/>
                    <a:p>
                      <a:pPr marL="171450" indent="-171450" algn="l">
                        <a:buFont typeface="Arial" panose="020B0604020202020204" pitchFamily="34" charset="0"/>
                        <a:buChar char="•"/>
                      </a:pPr>
                      <a:r>
                        <a:rPr kumimoji="1" lang="en-GB"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Appoint New Partners in Open Areas</a:t>
                      </a:r>
                    </a:p>
                    <a:p>
                      <a:pPr marL="171450" indent="-171450" algn="l">
                        <a:buFont typeface="Arial" panose="020B0604020202020204" pitchFamily="34" charset="0"/>
                        <a:buChar char="•"/>
                      </a:pPr>
                      <a:r>
                        <a:rPr kumimoji="1" lang="en-GB"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Potential Dmax Dealers</a:t>
                      </a:r>
                    </a:p>
                    <a:p>
                      <a:pPr marL="171450" indent="-171450" algn="l">
                        <a:buFont typeface="Arial" panose="020B0604020202020204" pitchFamily="34" charset="0"/>
                        <a:buChar char="•"/>
                      </a:pPr>
                      <a:r>
                        <a:rPr kumimoji="1" lang="en-GB"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Appoint Disruptors in Underperforming Areas</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rowSpan="2">
                  <a:txBody>
                    <a:bodyPr/>
                    <a:lstStyle/>
                    <a:p>
                      <a:pPr algn="ctr"/>
                      <a:r>
                        <a:rPr kumimoji="1" lang="en-US" altLang="ja-JP" sz="1000" b="1"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125</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rowSpan="2">
                  <a:txBody>
                    <a:bodyPr/>
                    <a:lstStyle/>
                    <a:p>
                      <a:pPr algn="ctr"/>
                      <a:r>
                        <a:rPr kumimoji="1" lang="en-GB" altLang="ja-JP"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125</a:t>
                      </a: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r>
                        <a:rPr kumimoji="1" lang="en-US" altLang="ja-JP" sz="1000" b="1"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0</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r>
                        <a:rPr kumimoji="1" lang="en-GB" altLang="ja-JP"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0</a:t>
                      </a: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r>
                        <a:rPr kumimoji="1" lang="en-GB" altLang="ja-JP"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50</a:t>
                      </a: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r>
                        <a:rPr kumimoji="1" lang="en-GB" altLang="ja-JP"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75</a:t>
                      </a: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rowSpan="2">
                  <a:txBody>
                    <a:bodyPr/>
                    <a:lstStyle/>
                    <a:p>
                      <a:pPr algn="ctr"/>
                      <a:endParaRPr kumimoji="1" lang="ja-JP" altLang="en-US" sz="10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92D050"/>
                    </a:solidFill>
                  </a:tcPr>
                </a:tc>
                <a:tc rowSpan="2">
                  <a:txBody>
                    <a:bodyPr/>
                    <a:lstStyle/>
                    <a:p>
                      <a:pPr algn="l"/>
                      <a:endParaRPr kumimoji="1" lang="en-GB" altLang="ja-JP" sz="10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2441973890"/>
                  </a:ext>
                </a:extLst>
              </a:tr>
              <a:tr h="625258">
                <a:tc vMerge="1">
                  <a:txBody>
                    <a:bodyPr/>
                    <a:lstStyle/>
                    <a:p>
                      <a:endParaRPr kumimoji="1" lang="ja-JP" altLang="en-US"/>
                    </a:p>
                  </a:txBody>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a:txBody>
                    <a:bodyPr/>
                    <a:lstStyle/>
                    <a:p>
                      <a:pPr algn="l"/>
                      <a:endParaRPr kumimoji="1" lang="ja-JP" altLang="en-US" sz="1000" b="1"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endParaRPr kumimoji="1" lang="ja-JP" altLang="en-US"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endParaRPr kumimoji="1" lang="ja-JP" altLang="en-US"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v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vMerge="1">
                  <a:txBody>
                    <a:bodyPr/>
                    <a:lstStyle/>
                    <a:p>
                      <a:endParaRPr lang="en-US"/>
                    </a:p>
                  </a:txBody>
                  <a:tcPr/>
                </a:tc>
                <a:extLst>
                  <a:ext uri="{0D108BD9-81ED-4DB2-BD59-A6C34878D82A}">
                    <a16:rowId xmlns:a16="http://schemas.microsoft.com/office/drawing/2014/main" val="1091701805"/>
                  </a:ext>
                </a:extLst>
              </a:tr>
              <a:tr h="36363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④</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GB" altLang="ja-JP" sz="10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New P700 Model Increased Profile Through Launch Activity</a:t>
                      </a:r>
                      <a:endParaRPr kumimoji="1" lang="ja-JP" altLang="en-US" sz="10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rowSpan="2">
                  <a:txBody>
                    <a:bodyPr/>
                    <a:lstStyle/>
                    <a:p>
                      <a:pPr marL="171450" indent="-171450" algn="l">
                        <a:buFont typeface="Arial" panose="020B0604020202020204" pitchFamily="34" charset="0"/>
                        <a:buChar char="•"/>
                      </a:pPr>
                      <a:r>
                        <a:rPr kumimoji="1" lang="en-GB"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Key Dealer Visit to IML</a:t>
                      </a:r>
                    </a:p>
                    <a:p>
                      <a:pPr marL="171450" indent="-171450" algn="l">
                        <a:buFont typeface="Arial" panose="020B0604020202020204" pitchFamily="34" charset="0"/>
                        <a:buChar char="•"/>
                      </a:pPr>
                      <a:r>
                        <a:rPr kumimoji="1" lang="en-GB"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UK Press Trip to IML</a:t>
                      </a:r>
                    </a:p>
                    <a:p>
                      <a:pPr marL="171450" indent="-171450" algn="l">
                        <a:buFont typeface="Arial" panose="020B0604020202020204" pitchFamily="34" charset="0"/>
                        <a:buChar char="•"/>
                      </a:pPr>
                      <a:r>
                        <a:rPr kumimoji="1" lang="en-GB"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Dealer Conference &amp; Product Reveal</a:t>
                      </a:r>
                    </a:p>
                    <a:p>
                      <a:pPr marL="171450" indent="-171450" algn="l">
                        <a:buFont typeface="Arial" panose="020B0604020202020204" pitchFamily="34" charset="0"/>
                        <a:buChar char="•"/>
                      </a:pPr>
                      <a:r>
                        <a:rPr kumimoji="1" lang="en-GB"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RTX Public Reveal</a:t>
                      </a:r>
                    </a:p>
                    <a:p>
                      <a:pPr marL="171450" indent="-171450" algn="l">
                        <a:buFont typeface="Arial" panose="020B0604020202020204" pitchFamily="34" charset="0"/>
                        <a:buChar char="•"/>
                      </a:pPr>
                      <a:r>
                        <a:rPr kumimoji="1" lang="en-GB"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Ride &amp; Drive Event</a:t>
                      </a:r>
                    </a:p>
                    <a:p>
                      <a:pPr marL="171450" indent="-171450" algn="l">
                        <a:buFont typeface="Arial" panose="020B0604020202020204" pitchFamily="34" charset="0"/>
                        <a:buChar char="•"/>
                      </a:pPr>
                      <a:endParaRPr kumimoji="1" lang="en-GB"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rowSpan="2">
                  <a:txBody>
                    <a:bodyPr/>
                    <a:lstStyle/>
                    <a:p>
                      <a:pPr algn="ctr"/>
                      <a:r>
                        <a:rPr kumimoji="1" lang="en-GB" altLang="ja-JP"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125</a:t>
                      </a: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rowSpan="2">
                  <a:txBody>
                    <a:bodyPr/>
                    <a:lstStyle/>
                    <a:p>
                      <a:pPr algn="ctr"/>
                      <a:r>
                        <a:rPr kumimoji="1" lang="en-GB" altLang="ja-JP"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125</a:t>
                      </a: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r>
                        <a:rPr kumimoji="1" lang="en-US" altLang="ja-JP" sz="1000" b="1"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0</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r>
                        <a:rPr kumimoji="1" lang="en-GB" altLang="ja-JP"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0</a:t>
                      </a: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r>
                        <a:rPr kumimoji="1" lang="en-GB" altLang="ja-JP"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50</a:t>
                      </a: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algn="ctr" defTabSz="914400" rtl="0" eaLnBrk="1" latinLnBrk="0" hangingPunct="1"/>
                      <a:r>
                        <a:rPr kumimoji="1" lang="en-GB" altLang="ja-JP" sz="1000" b="1" kern="12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75</a:t>
                      </a:r>
                      <a:endParaRPr kumimoji="1" lang="ja-JP" altLang="en-US" sz="1000" b="1" kern="12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rowSpan="2">
                  <a:txBody>
                    <a:bodyPr/>
                    <a:lstStyle/>
                    <a:p>
                      <a:pPr algn="ctr"/>
                      <a:endParaRPr kumimoji="1" lang="ja-JP" altLang="en-US" sz="10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92D050"/>
                    </a:solidFill>
                  </a:tcPr>
                </a:tc>
                <a:tc rowSpan="2">
                  <a:txBody>
                    <a:bodyPr/>
                    <a:lstStyle/>
                    <a:p>
                      <a:pPr algn="l"/>
                      <a:endParaRPr kumimoji="1" lang="ja-JP" altLang="en-US" sz="10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1852747689"/>
                  </a:ext>
                </a:extLst>
              </a:tr>
              <a:tr h="801847">
                <a:tc vMerge="1">
                  <a:txBody>
                    <a:bodyPr/>
                    <a:lstStyle/>
                    <a:p>
                      <a:endParaRPr kumimoji="1" lang="ja-JP" altLang="en-US"/>
                    </a:p>
                  </a:txBody>
                  <a:tcPr/>
                </a:tc>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kumimoji="1" lang="ja-JP" altLang="en-US" sz="1000" b="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endParaRPr kumimoji="1" lang="ja-JP" altLang="en-US" sz="1000" b="1"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endParaRPr kumimoji="1" lang="ja-JP" altLang="en-US" sz="1000" b="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l"/>
                      <a:endParaRPr kumimoji="1" lang="ja-JP" altLang="en-US" sz="1000" b="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vMerge="1">
                  <a:txBody>
                    <a:bodyPr/>
                    <a:lstStyle/>
                    <a:p>
                      <a:pPr algn="ctr"/>
                      <a:endParaRPr kumimoji="1" lang="ja-JP" altLang="en-US" sz="160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vMerge="1">
                  <a:txBody>
                    <a:bodyPr/>
                    <a:lstStyle/>
                    <a:p>
                      <a:endParaRPr lang="en-US"/>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0749628"/>
                  </a:ext>
                </a:extLst>
              </a:tr>
              <a:tr h="8131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dirty="0">
                          <a:solidFill>
                            <a:schemeClr val="tx1"/>
                          </a:solidFill>
                          <a:latin typeface="Calibri Light" panose="020F0302020204030204" pitchFamily="34" charset="0"/>
                          <a:ea typeface="Meiryo UI" panose="020B0604030504040204" pitchFamily="50" charset="-128"/>
                          <a:cs typeface="Calibri Light" panose="020F0302020204030204" pitchFamily="34" charset="0"/>
                        </a:rPr>
                        <a:t>⑤</a:t>
                      </a: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GB" altLang="ja-JP" sz="10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rPr>
                        <a:t>Dealer Rewards/Bonus Scheme</a:t>
                      </a:r>
                      <a:endParaRPr kumimoji="1" lang="ja-JP" altLang="en-US" sz="10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en-GB" altLang="ja-JP" sz="100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Change from Annual CY Registration Bonus to Inbound Order Wholesale Initiaitive</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endParaRPr kumimoji="1" lang="ja-JP" altLang="en-US" sz="10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gridSpan="4">
                  <a:txBody>
                    <a:bodyPr/>
                    <a:lstStyle/>
                    <a:p>
                      <a:pPr algn="ctr"/>
                      <a:r>
                        <a:rPr kumimoji="1" lang="en-GB" altLang="ja-JP" sz="1000" b="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rPr>
                        <a:t>50% increase in Dealers Achieving Annual  target in FY26 </a:t>
                      </a:r>
                      <a:endParaRPr kumimoji="1" lang="ja-JP" altLang="en-US" sz="1000" b="0" noProof="1">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hMerge="1">
                  <a:txBody>
                    <a:bodyPr/>
                    <a:lstStyle/>
                    <a:p>
                      <a:pPr algn="ctr"/>
                      <a:endParaRPr kumimoji="1" lang="ja-JP" altLang="en-US" sz="11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hMerge="1">
                  <a:txBody>
                    <a:bodyPr/>
                    <a:lstStyle/>
                    <a:p>
                      <a:pPr algn="ctr"/>
                      <a:endParaRPr kumimoji="1" lang="ja-JP" altLang="en-US" sz="1100" b="1"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hMerge="1">
                  <a:txBody>
                    <a:bodyPr/>
                    <a:lstStyle/>
                    <a:p>
                      <a:pPr algn="ctr"/>
                      <a:endParaRPr kumimoji="1" lang="ja-JP" altLang="en-US" sz="11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endParaRPr kumimoji="1" lang="ja-JP" altLang="en-US" sz="10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92D050"/>
                    </a:solidFill>
                  </a:tcPr>
                </a:tc>
                <a:tc>
                  <a:txBody>
                    <a:bodyPr/>
                    <a:lstStyle/>
                    <a:p>
                      <a:pPr algn="l"/>
                      <a:endParaRPr kumimoji="1" lang="ja-JP" altLang="en-US" sz="1000" dirty="0">
                        <a:solidFill>
                          <a:srgbClr val="344251"/>
                        </a:solidFill>
                        <a:latin typeface="Calibri Light" panose="020F0302020204030204" pitchFamily="34" charset="0"/>
                        <a:ea typeface="Meiryo UI" panose="020B0604030504040204" pitchFamily="50" charset="-128"/>
                        <a:cs typeface="Calibri Light" panose="020F0302020204030204" pitchFamily="34" charset="0"/>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1809651967"/>
                  </a:ext>
                </a:extLst>
              </a:tr>
            </a:tbl>
          </a:graphicData>
        </a:graphic>
      </p:graphicFrame>
    </p:spTree>
    <p:extLst>
      <p:ext uri="{BB962C8B-B14F-4D97-AF65-F5344CB8AC3E}">
        <p14:creationId xmlns:p14="http://schemas.microsoft.com/office/powerpoint/2010/main" val="2707655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2F8C1-93B0-583B-C079-D62FE482DF00}"/>
            </a:ext>
          </a:extLst>
        </p:cNvPr>
        <p:cNvGrpSpPr/>
        <p:nvPr/>
      </p:nvGrpSpPr>
      <p:grpSpPr>
        <a:xfrm>
          <a:off x="0" y="0"/>
          <a:ext cx="0" cy="0"/>
          <a:chOff x="0" y="0"/>
          <a:chExt cx="0" cy="0"/>
        </a:xfrm>
      </p:grpSpPr>
      <p:pic>
        <p:nvPicPr>
          <p:cNvPr id="26" name="Picture 25" descr="A couple of white trucks&#10;&#10;AI-generated content may be incorrect.">
            <a:extLst>
              <a:ext uri="{FF2B5EF4-FFF2-40B4-BE49-F238E27FC236}">
                <a16:creationId xmlns:a16="http://schemas.microsoft.com/office/drawing/2014/main" id="{E4C8E62F-70FB-C321-7B38-60B276924519}"/>
              </a:ext>
            </a:extLst>
          </p:cNvPr>
          <p:cNvPicPr>
            <a:picLocks noChangeAspect="1"/>
          </p:cNvPicPr>
          <p:nvPr/>
        </p:nvPicPr>
        <p:blipFill>
          <a:blip r:embed="rId3">
            <a:extLst>
              <a:ext uri="{28A0092B-C50C-407E-A947-70E740481C1C}">
                <a14:useLocalDpi xmlns:a14="http://schemas.microsoft.com/office/drawing/2010/main" val="0"/>
              </a:ext>
            </a:extLst>
          </a:blip>
          <a:srcRect r="45331"/>
          <a:stretch>
            <a:fillRect/>
          </a:stretch>
        </p:blipFill>
        <p:spPr>
          <a:xfrm>
            <a:off x="6600059" y="3812741"/>
            <a:ext cx="720086" cy="930870"/>
          </a:xfrm>
          <a:prstGeom prst="rect">
            <a:avLst/>
          </a:prstGeom>
        </p:spPr>
      </p:pic>
      <p:sp>
        <p:nvSpPr>
          <p:cNvPr id="3" name="Title 2">
            <a:extLst>
              <a:ext uri="{FF2B5EF4-FFF2-40B4-BE49-F238E27FC236}">
                <a16:creationId xmlns:a16="http://schemas.microsoft.com/office/drawing/2014/main" id="{0A7DF319-9E39-B3C8-A4A7-6F577A1B8DFB}"/>
              </a:ext>
            </a:extLst>
          </p:cNvPr>
          <p:cNvSpPr>
            <a:spLocks noGrp="1"/>
          </p:cNvSpPr>
          <p:nvPr>
            <p:ph type="title"/>
          </p:nvPr>
        </p:nvSpPr>
        <p:spPr/>
        <p:txBody>
          <a:bodyPr/>
          <a:lstStyle/>
          <a:p>
            <a:r>
              <a:rPr lang="en-US" dirty="0">
                <a:solidFill>
                  <a:srgbClr val="344251"/>
                </a:solidFill>
              </a:rPr>
              <a:t>Current Sales Legislation Challenges N35</a:t>
            </a:r>
          </a:p>
        </p:txBody>
      </p:sp>
      <p:graphicFrame>
        <p:nvGraphicFramePr>
          <p:cNvPr id="4" name="Table 3">
            <a:extLst>
              <a:ext uri="{FF2B5EF4-FFF2-40B4-BE49-F238E27FC236}">
                <a16:creationId xmlns:a16="http://schemas.microsoft.com/office/drawing/2014/main" id="{ED39442B-CD04-46FC-6D30-8653E53318D0}"/>
              </a:ext>
            </a:extLst>
          </p:cNvPr>
          <p:cNvGraphicFramePr>
            <a:graphicFrameLocks noGrp="1"/>
          </p:cNvGraphicFramePr>
          <p:nvPr/>
        </p:nvGraphicFramePr>
        <p:xfrm>
          <a:off x="191346" y="3058160"/>
          <a:ext cx="11809305" cy="741680"/>
        </p:xfrm>
        <a:graphic>
          <a:graphicData uri="http://schemas.openxmlformats.org/drawingml/2006/table">
            <a:tbl>
              <a:tblPr firstRow="1" bandRow="1">
                <a:tableStyleId>{5C22544A-7EE6-4342-B048-85BDC9FD1C3A}</a:tableStyleId>
              </a:tblPr>
              <a:tblGrid>
                <a:gridCol w="694665">
                  <a:extLst>
                    <a:ext uri="{9D8B030D-6E8A-4147-A177-3AD203B41FA5}">
                      <a16:colId xmlns:a16="http://schemas.microsoft.com/office/drawing/2014/main" val="3844626300"/>
                    </a:ext>
                  </a:extLst>
                </a:gridCol>
                <a:gridCol w="694665">
                  <a:extLst>
                    <a:ext uri="{9D8B030D-6E8A-4147-A177-3AD203B41FA5}">
                      <a16:colId xmlns:a16="http://schemas.microsoft.com/office/drawing/2014/main" val="3460760738"/>
                    </a:ext>
                  </a:extLst>
                </a:gridCol>
                <a:gridCol w="694665">
                  <a:extLst>
                    <a:ext uri="{9D8B030D-6E8A-4147-A177-3AD203B41FA5}">
                      <a16:colId xmlns:a16="http://schemas.microsoft.com/office/drawing/2014/main" val="1347188127"/>
                    </a:ext>
                  </a:extLst>
                </a:gridCol>
                <a:gridCol w="694665">
                  <a:extLst>
                    <a:ext uri="{9D8B030D-6E8A-4147-A177-3AD203B41FA5}">
                      <a16:colId xmlns:a16="http://schemas.microsoft.com/office/drawing/2014/main" val="722719720"/>
                    </a:ext>
                  </a:extLst>
                </a:gridCol>
                <a:gridCol w="694665">
                  <a:extLst>
                    <a:ext uri="{9D8B030D-6E8A-4147-A177-3AD203B41FA5}">
                      <a16:colId xmlns:a16="http://schemas.microsoft.com/office/drawing/2014/main" val="2359243490"/>
                    </a:ext>
                  </a:extLst>
                </a:gridCol>
                <a:gridCol w="694665">
                  <a:extLst>
                    <a:ext uri="{9D8B030D-6E8A-4147-A177-3AD203B41FA5}">
                      <a16:colId xmlns:a16="http://schemas.microsoft.com/office/drawing/2014/main" val="1022169572"/>
                    </a:ext>
                  </a:extLst>
                </a:gridCol>
                <a:gridCol w="694665">
                  <a:extLst>
                    <a:ext uri="{9D8B030D-6E8A-4147-A177-3AD203B41FA5}">
                      <a16:colId xmlns:a16="http://schemas.microsoft.com/office/drawing/2014/main" val="171093957"/>
                    </a:ext>
                  </a:extLst>
                </a:gridCol>
                <a:gridCol w="694665">
                  <a:extLst>
                    <a:ext uri="{9D8B030D-6E8A-4147-A177-3AD203B41FA5}">
                      <a16:colId xmlns:a16="http://schemas.microsoft.com/office/drawing/2014/main" val="1449063638"/>
                    </a:ext>
                  </a:extLst>
                </a:gridCol>
                <a:gridCol w="694665">
                  <a:extLst>
                    <a:ext uri="{9D8B030D-6E8A-4147-A177-3AD203B41FA5}">
                      <a16:colId xmlns:a16="http://schemas.microsoft.com/office/drawing/2014/main" val="2334449672"/>
                    </a:ext>
                  </a:extLst>
                </a:gridCol>
                <a:gridCol w="694665">
                  <a:extLst>
                    <a:ext uri="{9D8B030D-6E8A-4147-A177-3AD203B41FA5}">
                      <a16:colId xmlns:a16="http://schemas.microsoft.com/office/drawing/2014/main" val="2331030412"/>
                    </a:ext>
                  </a:extLst>
                </a:gridCol>
                <a:gridCol w="694665">
                  <a:extLst>
                    <a:ext uri="{9D8B030D-6E8A-4147-A177-3AD203B41FA5}">
                      <a16:colId xmlns:a16="http://schemas.microsoft.com/office/drawing/2014/main" val="2463156659"/>
                    </a:ext>
                  </a:extLst>
                </a:gridCol>
                <a:gridCol w="694665">
                  <a:extLst>
                    <a:ext uri="{9D8B030D-6E8A-4147-A177-3AD203B41FA5}">
                      <a16:colId xmlns:a16="http://schemas.microsoft.com/office/drawing/2014/main" val="3084775681"/>
                    </a:ext>
                  </a:extLst>
                </a:gridCol>
                <a:gridCol w="694665">
                  <a:extLst>
                    <a:ext uri="{9D8B030D-6E8A-4147-A177-3AD203B41FA5}">
                      <a16:colId xmlns:a16="http://schemas.microsoft.com/office/drawing/2014/main" val="349333766"/>
                    </a:ext>
                  </a:extLst>
                </a:gridCol>
                <a:gridCol w="694665">
                  <a:extLst>
                    <a:ext uri="{9D8B030D-6E8A-4147-A177-3AD203B41FA5}">
                      <a16:colId xmlns:a16="http://schemas.microsoft.com/office/drawing/2014/main" val="3864830936"/>
                    </a:ext>
                  </a:extLst>
                </a:gridCol>
                <a:gridCol w="694665">
                  <a:extLst>
                    <a:ext uri="{9D8B030D-6E8A-4147-A177-3AD203B41FA5}">
                      <a16:colId xmlns:a16="http://schemas.microsoft.com/office/drawing/2014/main" val="3269171306"/>
                    </a:ext>
                  </a:extLst>
                </a:gridCol>
                <a:gridCol w="694665">
                  <a:extLst>
                    <a:ext uri="{9D8B030D-6E8A-4147-A177-3AD203B41FA5}">
                      <a16:colId xmlns:a16="http://schemas.microsoft.com/office/drawing/2014/main" val="1564909632"/>
                    </a:ext>
                  </a:extLst>
                </a:gridCol>
                <a:gridCol w="694665">
                  <a:extLst>
                    <a:ext uri="{9D8B030D-6E8A-4147-A177-3AD203B41FA5}">
                      <a16:colId xmlns:a16="http://schemas.microsoft.com/office/drawing/2014/main" val="3506750872"/>
                    </a:ext>
                  </a:extLst>
                </a:gridCol>
              </a:tblGrid>
              <a:tr h="370840">
                <a:tc gridSpan="3">
                  <a:txBody>
                    <a:bodyPr/>
                    <a:lstStyle/>
                    <a:p>
                      <a:pPr algn="ctr"/>
                      <a:r>
                        <a:rPr lang="en-US" dirty="0"/>
                        <a:t>2025</a:t>
                      </a:r>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gridSpan="11">
                  <a:txBody>
                    <a:bodyPr/>
                    <a:lstStyle/>
                    <a:p>
                      <a:pPr algn="ctr"/>
                      <a:r>
                        <a:rPr lang="en-US" dirty="0"/>
                        <a:t>2026</a:t>
                      </a:r>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gridSpan="3">
                  <a:txBody>
                    <a:bodyPr/>
                    <a:lstStyle/>
                    <a:p>
                      <a:pPr algn="ctr"/>
                      <a:r>
                        <a:rPr lang="en-US" dirty="0"/>
                        <a:t>2027</a:t>
                      </a:r>
                    </a:p>
                  </a:txBody>
                  <a:tcPr>
                    <a:solidFill>
                      <a:srgbClr val="344251"/>
                    </a:solidFill>
                  </a:tcPr>
                </a:tc>
                <a:tc hMerge="1">
                  <a:txBody>
                    <a:bodyPr/>
                    <a:lstStyle/>
                    <a:p>
                      <a:pPr algn="ctr"/>
                      <a:endParaRPr lang="en-US" dirty="0"/>
                    </a:p>
                  </a:txBody>
                  <a:tcPr>
                    <a:solidFill>
                      <a:srgbClr val="344251"/>
                    </a:solidFill>
                  </a:tcPr>
                </a:tc>
                <a:tc hMerge="1">
                  <a:txBody>
                    <a:bodyPr/>
                    <a:lstStyle/>
                    <a:p>
                      <a:pPr algn="ctr"/>
                      <a:endParaRPr lang="en-US" dirty="0"/>
                    </a:p>
                  </a:txBody>
                  <a:tcPr>
                    <a:solidFill>
                      <a:srgbClr val="344251"/>
                    </a:solidFill>
                  </a:tcPr>
                </a:tc>
                <a:extLst>
                  <a:ext uri="{0D108BD9-81ED-4DB2-BD59-A6C34878D82A}">
                    <a16:rowId xmlns:a16="http://schemas.microsoft.com/office/drawing/2014/main" val="890456686"/>
                  </a:ext>
                </a:extLst>
              </a:tr>
              <a:tr h="370840">
                <a:tc>
                  <a:txBody>
                    <a:bodyPr/>
                    <a:lstStyle/>
                    <a:p>
                      <a:pPr algn="ctr"/>
                      <a:r>
                        <a:rPr lang="en-US" dirty="0">
                          <a:solidFill>
                            <a:schemeClr val="bg1"/>
                          </a:solidFill>
                        </a:rPr>
                        <a:t>NOV</a:t>
                      </a:r>
                    </a:p>
                  </a:txBody>
                  <a:tcPr>
                    <a:solidFill>
                      <a:srgbClr val="344251"/>
                    </a:solidFill>
                  </a:tcPr>
                </a:tc>
                <a:tc>
                  <a:txBody>
                    <a:bodyPr/>
                    <a:lstStyle/>
                    <a:p>
                      <a:pPr algn="ctr"/>
                      <a:r>
                        <a:rPr lang="en-US" dirty="0">
                          <a:solidFill>
                            <a:schemeClr val="bg1"/>
                          </a:solidFill>
                        </a:rPr>
                        <a:t>DEC</a:t>
                      </a:r>
                    </a:p>
                  </a:txBody>
                  <a:tcPr>
                    <a:solidFill>
                      <a:srgbClr val="344251"/>
                    </a:solidFill>
                  </a:tcPr>
                </a:tc>
                <a:tc>
                  <a:txBody>
                    <a:bodyPr/>
                    <a:lstStyle/>
                    <a:p>
                      <a:pPr algn="ctr"/>
                      <a:r>
                        <a:rPr lang="en-US" dirty="0">
                          <a:solidFill>
                            <a:schemeClr val="bg1"/>
                          </a:solidFill>
                        </a:rPr>
                        <a:t>JAN</a:t>
                      </a:r>
                    </a:p>
                  </a:txBody>
                  <a:tcPr>
                    <a:solidFill>
                      <a:srgbClr val="344251"/>
                    </a:solidFill>
                  </a:tcPr>
                </a:tc>
                <a:tc>
                  <a:txBody>
                    <a:bodyPr/>
                    <a:lstStyle/>
                    <a:p>
                      <a:pPr algn="ctr"/>
                      <a:r>
                        <a:rPr lang="en-US" dirty="0">
                          <a:solidFill>
                            <a:schemeClr val="bg1"/>
                          </a:solidFill>
                        </a:rPr>
                        <a:t>FEB</a:t>
                      </a:r>
                    </a:p>
                  </a:txBody>
                  <a:tcPr>
                    <a:solidFill>
                      <a:srgbClr val="344251"/>
                    </a:solidFill>
                  </a:tcPr>
                </a:tc>
                <a:tc>
                  <a:txBody>
                    <a:bodyPr/>
                    <a:lstStyle/>
                    <a:p>
                      <a:pPr algn="ctr"/>
                      <a:r>
                        <a:rPr lang="en-US" dirty="0">
                          <a:solidFill>
                            <a:schemeClr val="bg1"/>
                          </a:solidFill>
                        </a:rPr>
                        <a:t>MAR</a:t>
                      </a:r>
                    </a:p>
                  </a:txBody>
                  <a:tcPr>
                    <a:solidFill>
                      <a:srgbClr val="344251"/>
                    </a:solidFill>
                  </a:tcPr>
                </a:tc>
                <a:tc>
                  <a:txBody>
                    <a:bodyPr/>
                    <a:lstStyle/>
                    <a:p>
                      <a:pPr algn="ctr"/>
                      <a:r>
                        <a:rPr lang="en-US" dirty="0">
                          <a:solidFill>
                            <a:schemeClr val="bg1"/>
                          </a:solidFill>
                        </a:rPr>
                        <a:t>APR</a:t>
                      </a:r>
                    </a:p>
                  </a:txBody>
                  <a:tcPr>
                    <a:solidFill>
                      <a:srgbClr val="344251"/>
                    </a:solidFill>
                  </a:tcPr>
                </a:tc>
                <a:tc>
                  <a:txBody>
                    <a:bodyPr/>
                    <a:lstStyle/>
                    <a:p>
                      <a:pPr algn="ctr"/>
                      <a:r>
                        <a:rPr lang="en-US" dirty="0">
                          <a:solidFill>
                            <a:schemeClr val="bg1"/>
                          </a:solidFill>
                        </a:rPr>
                        <a:t>MAY</a:t>
                      </a:r>
                    </a:p>
                  </a:txBody>
                  <a:tcPr>
                    <a:solidFill>
                      <a:srgbClr val="344251"/>
                    </a:solidFill>
                  </a:tcPr>
                </a:tc>
                <a:tc>
                  <a:txBody>
                    <a:bodyPr/>
                    <a:lstStyle/>
                    <a:p>
                      <a:pPr algn="ctr"/>
                      <a:r>
                        <a:rPr lang="en-US" dirty="0">
                          <a:solidFill>
                            <a:schemeClr val="bg1"/>
                          </a:solidFill>
                        </a:rPr>
                        <a:t>JUN</a:t>
                      </a:r>
                    </a:p>
                  </a:txBody>
                  <a:tcPr>
                    <a:solidFill>
                      <a:srgbClr val="344251"/>
                    </a:solidFill>
                  </a:tcPr>
                </a:tc>
                <a:tc>
                  <a:txBody>
                    <a:bodyPr/>
                    <a:lstStyle/>
                    <a:p>
                      <a:pPr algn="ctr"/>
                      <a:r>
                        <a:rPr lang="en-US" dirty="0">
                          <a:solidFill>
                            <a:schemeClr val="bg1"/>
                          </a:solidFill>
                        </a:rPr>
                        <a:t>JUL</a:t>
                      </a:r>
                    </a:p>
                  </a:txBody>
                  <a:tcPr>
                    <a:solidFill>
                      <a:srgbClr val="344251"/>
                    </a:solidFill>
                  </a:tcPr>
                </a:tc>
                <a:tc>
                  <a:txBody>
                    <a:bodyPr/>
                    <a:lstStyle/>
                    <a:p>
                      <a:pPr algn="ctr"/>
                      <a:r>
                        <a:rPr lang="en-US" dirty="0">
                          <a:solidFill>
                            <a:schemeClr val="bg1"/>
                          </a:solidFill>
                        </a:rPr>
                        <a:t>AUG</a:t>
                      </a:r>
                    </a:p>
                  </a:txBody>
                  <a:tcPr>
                    <a:solidFill>
                      <a:srgbClr val="344251"/>
                    </a:solidFill>
                  </a:tcPr>
                </a:tc>
                <a:tc>
                  <a:txBody>
                    <a:bodyPr/>
                    <a:lstStyle/>
                    <a:p>
                      <a:pPr algn="ctr"/>
                      <a:r>
                        <a:rPr lang="en-US" dirty="0">
                          <a:solidFill>
                            <a:schemeClr val="bg1"/>
                          </a:solidFill>
                        </a:rPr>
                        <a:t>SEP</a:t>
                      </a:r>
                    </a:p>
                  </a:txBody>
                  <a:tcPr>
                    <a:solidFill>
                      <a:srgbClr val="344251"/>
                    </a:solidFill>
                  </a:tcPr>
                </a:tc>
                <a:tc>
                  <a:txBody>
                    <a:bodyPr/>
                    <a:lstStyle/>
                    <a:p>
                      <a:pPr algn="ctr"/>
                      <a:r>
                        <a:rPr lang="en-US" dirty="0">
                          <a:solidFill>
                            <a:schemeClr val="bg1"/>
                          </a:solidFill>
                        </a:rPr>
                        <a:t>OCT</a:t>
                      </a:r>
                    </a:p>
                  </a:txBody>
                  <a:tcPr>
                    <a:solidFill>
                      <a:srgbClr val="344251"/>
                    </a:solidFill>
                  </a:tcPr>
                </a:tc>
                <a:tc>
                  <a:txBody>
                    <a:bodyPr/>
                    <a:lstStyle/>
                    <a:p>
                      <a:pPr algn="ctr"/>
                      <a:r>
                        <a:rPr lang="en-US" dirty="0">
                          <a:solidFill>
                            <a:schemeClr val="bg1"/>
                          </a:solidFill>
                        </a:rPr>
                        <a:t>NOV</a:t>
                      </a:r>
                    </a:p>
                  </a:txBody>
                  <a:tcPr>
                    <a:solidFill>
                      <a:srgbClr val="344251"/>
                    </a:solidFill>
                  </a:tcPr>
                </a:tc>
                <a:tc>
                  <a:txBody>
                    <a:bodyPr/>
                    <a:lstStyle/>
                    <a:p>
                      <a:pPr algn="ctr"/>
                      <a:r>
                        <a:rPr lang="en-US" dirty="0">
                          <a:solidFill>
                            <a:schemeClr val="bg1"/>
                          </a:solidFill>
                        </a:rPr>
                        <a:t>DEC</a:t>
                      </a:r>
                    </a:p>
                  </a:txBody>
                  <a:tcPr>
                    <a:solidFill>
                      <a:srgbClr val="344251"/>
                    </a:solidFill>
                  </a:tcPr>
                </a:tc>
                <a:tc>
                  <a:txBody>
                    <a:bodyPr/>
                    <a:lstStyle/>
                    <a:p>
                      <a:pPr algn="ctr"/>
                      <a:r>
                        <a:rPr lang="en-US" dirty="0">
                          <a:solidFill>
                            <a:schemeClr val="bg1"/>
                          </a:solidFill>
                        </a:rPr>
                        <a:t>JAN</a:t>
                      </a:r>
                    </a:p>
                  </a:txBody>
                  <a:tcPr>
                    <a:solidFill>
                      <a:srgbClr val="344251"/>
                    </a:solidFill>
                  </a:tcPr>
                </a:tc>
                <a:tc>
                  <a:txBody>
                    <a:bodyPr/>
                    <a:lstStyle/>
                    <a:p>
                      <a:pPr algn="ctr"/>
                      <a:r>
                        <a:rPr lang="en-US" dirty="0">
                          <a:solidFill>
                            <a:schemeClr val="bg1"/>
                          </a:solidFill>
                        </a:rPr>
                        <a:t>FEB</a:t>
                      </a:r>
                    </a:p>
                  </a:txBody>
                  <a:tcPr>
                    <a:solidFill>
                      <a:srgbClr val="344251"/>
                    </a:solidFill>
                  </a:tcPr>
                </a:tc>
                <a:tc>
                  <a:txBody>
                    <a:bodyPr/>
                    <a:lstStyle/>
                    <a:p>
                      <a:pPr algn="ctr"/>
                      <a:r>
                        <a:rPr lang="en-US" dirty="0">
                          <a:solidFill>
                            <a:schemeClr val="bg1"/>
                          </a:solidFill>
                        </a:rPr>
                        <a:t>MAR</a:t>
                      </a:r>
                    </a:p>
                  </a:txBody>
                  <a:tcPr>
                    <a:solidFill>
                      <a:srgbClr val="344251"/>
                    </a:solidFill>
                  </a:tcPr>
                </a:tc>
                <a:extLst>
                  <a:ext uri="{0D108BD9-81ED-4DB2-BD59-A6C34878D82A}">
                    <a16:rowId xmlns:a16="http://schemas.microsoft.com/office/drawing/2014/main" val="1141860105"/>
                  </a:ext>
                </a:extLst>
              </a:tr>
            </a:tbl>
          </a:graphicData>
        </a:graphic>
      </p:graphicFrame>
      <p:cxnSp>
        <p:nvCxnSpPr>
          <p:cNvPr id="6" name="Straight Connector 5">
            <a:extLst>
              <a:ext uri="{FF2B5EF4-FFF2-40B4-BE49-F238E27FC236}">
                <a16:creationId xmlns:a16="http://schemas.microsoft.com/office/drawing/2014/main" id="{CD53A24E-86DA-F28C-349D-F14641E789FC}"/>
              </a:ext>
            </a:extLst>
          </p:cNvPr>
          <p:cNvCxnSpPr>
            <a:cxnSpLocks/>
          </p:cNvCxnSpPr>
          <p:nvPr/>
        </p:nvCxnSpPr>
        <p:spPr>
          <a:xfrm>
            <a:off x="5735960" y="1916832"/>
            <a:ext cx="0" cy="4752528"/>
          </a:xfrm>
          <a:prstGeom prst="line">
            <a:avLst/>
          </a:prstGeom>
          <a:ln w="2540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2A67398-FEFE-5E85-BCE4-B65762A75EA6}"/>
              </a:ext>
            </a:extLst>
          </p:cNvPr>
          <p:cNvSpPr txBox="1"/>
          <p:nvPr/>
        </p:nvSpPr>
        <p:spPr>
          <a:xfrm>
            <a:off x="4799858" y="1415156"/>
            <a:ext cx="1872206" cy="501676"/>
          </a:xfrm>
          <a:prstGeom prst="rect">
            <a:avLst/>
          </a:prstGeom>
          <a:noFill/>
          <a:ln>
            <a:solidFill>
              <a:srgbClr val="C00000"/>
            </a:solidFill>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1</a:t>
            </a:r>
            <a:r>
              <a:rPr kumimoji="0" lang="en-US" sz="1200" b="0" i="0" u="none" strike="noStrike" kern="1200" cap="none" spc="0" normalizeH="0" baseline="30000" noProof="0" dirty="0">
                <a:ln>
                  <a:noFill/>
                </a:ln>
                <a:solidFill>
                  <a:srgbClr val="344251"/>
                </a:solidFill>
                <a:effectLst/>
                <a:uLnTx/>
                <a:uFillTx/>
                <a:latin typeface="Arial"/>
                <a:ea typeface="メイリオ"/>
                <a:cs typeface="+mn-cs"/>
              </a:rPr>
              <a:t>st</a:t>
            </a:r>
            <a:r>
              <a:rPr kumimoji="0" lang="en-US" sz="1200" b="0" i="0" u="none" strike="noStrike" kern="1200" cap="none" spc="0" normalizeH="0" baseline="0" noProof="0" dirty="0">
                <a:ln>
                  <a:noFill/>
                </a:ln>
                <a:solidFill>
                  <a:srgbClr val="344251"/>
                </a:solidFill>
                <a:effectLst/>
                <a:uLnTx/>
                <a:uFillTx/>
                <a:latin typeface="Arial"/>
                <a:ea typeface="メイリオ"/>
                <a:cs typeface="+mn-cs"/>
              </a:rPr>
              <a:t> July R51 Phase 3</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Currently No Derogation</a:t>
            </a:r>
          </a:p>
        </p:txBody>
      </p:sp>
      <p:cxnSp>
        <p:nvCxnSpPr>
          <p:cNvPr id="8" name="Straight Connector 7">
            <a:extLst>
              <a:ext uri="{FF2B5EF4-FFF2-40B4-BE49-F238E27FC236}">
                <a16:creationId xmlns:a16="http://schemas.microsoft.com/office/drawing/2014/main" id="{906C1934-CF4A-5DBC-D390-1A7BD28C2C63}"/>
              </a:ext>
            </a:extLst>
          </p:cNvPr>
          <p:cNvCxnSpPr>
            <a:cxnSpLocks/>
          </p:cNvCxnSpPr>
          <p:nvPr/>
        </p:nvCxnSpPr>
        <p:spPr>
          <a:xfrm>
            <a:off x="3647728" y="1916832"/>
            <a:ext cx="0" cy="3215449"/>
          </a:xfrm>
          <a:prstGeom prst="line">
            <a:avLst/>
          </a:prstGeom>
          <a:ln w="2540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B46F072-07AA-8E0E-CA33-A5A736E17151}"/>
              </a:ext>
            </a:extLst>
          </p:cNvPr>
          <p:cNvSpPr txBox="1"/>
          <p:nvPr/>
        </p:nvSpPr>
        <p:spPr>
          <a:xfrm>
            <a:off x="3700833" y="2071849"/>
            <a:ext cx="2000312" cy="923330"/>
          </a:xfrm>
          <a:prstGeom prst="rect">
            <a:avLst/>
          </a:prstGeom>
          <a:noFill/>
          <a:ln>
            <a:solidFill>
              <a:srgbClr val="C00000"/>
            </a:solidFill>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If R51 Derogation is granted end SOP for current model, no more production can be derogated</a:t>
            </a:r>
          </a:p>
        </p:txBody>
      </p:sp>
      <p:sp>
        <p:nvSpPr>
          <p:cNvPr id="18" name="TextBox 17">
            <a:extLst>
              <a:ext uri="{FF2B5EF4-FFF2-40B4-BE49-F238E27FC236}">
                <a16:creationId xmlns:a16="http://schemas.microsoft.com/office/drawing/2014/main" id="{46D9A658-236B-F879-0760-70CFD4137A8B}"/>
              </a:ext>
            </a:extLst>
          </p:cNvPr>
          <p:cNvSpPr txBox="1"/>
          <p:nvPr/>
        </p:nvSpPr>
        <p:spPr>
          <a:xfrm>
            <a:off x="5745280" y="3933056"/>
            <a:ext cx="789418" cy="834074"/>
          </a:xfrm>
          <a:prstGeom prst="rect">
            <a:avLst/>
          </a:prstGeom>
          <a:solidFill>
            <a:schemeClr val="bg1"/>
          </a:solid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P700 (Gr A/B) SOP</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w/o DTU</a:t>
            </a:r>
          </a:p>
        </p:txBody>
      </p:sp>
      <p:cxnSp>
        <p:nvCxnSpPr>
          <p:cNvPr id="20" name="Straight Connector 19">
            <a:extLst>
              <a:ext uri="{FF2B5EF4-FFF2-40B4-BE49-F238E27FC236}">
                <a16:creationId xmlns:a16="http://schemas.microsoft.com/office/drawing/2014/main" id="{8E22C39C-6134-A962-BB17-F920322B0667}"/>
              </a:ext>
            </a:extLst>
          </p:cNvPr>
          <p:cNvCxnSpPr>
            <a:cxnSpLocks/>
          </p:cNvCxnSpPr>
          <p:nvPr/>
        </p:nvCxnSpPr>
        <p:spPr>
          <a:xfrm>
            <a:off x="5735960" y="2852936"/>
            <a:ext cx="0" cy="1914194"/>
          </a:xfrm>
          <a:prstGeom prst="line">
            <a:avLst/>
          </a:prstGeom>
          <a:ln w="9525">
            <a:solidFill>
              <a:srgbClr val="848E9A"/>
            </a:solidFill>
            <a:prstDash val="sysDash"/>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B1D38F43-F913-8CF0-374A-D9B3C2226EDD}"/>
              </a:ext>
            </a:extLst>
          </p:cNvPr>
          <p:cNvCxnSpPr>
            <a:cxnSpLocks/>
          </p:cNvCxnSpPr>
          <p:nvPr/>
        </p:nvCxnSpPr>
        <p:spPr>
          <a:xfrm>
            <a:off x="3647728" y="1988840"/>
            <a:ext cx="2088232" cy="0"/>
          </a:xfrm>
          <a:prstGeom prst="straightConnector1">
            <a:avLst/>
          </a:prstGeom>
          <a:ln w="19050">
            <a:solidFill>
              <a:srgbClr val="C00000"/>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36CCF328-644D-89E6-C640-DA042DB3A2F7}"/>
              </a:ext>
            </a:extLst>
          </p:cNvPr>
          <p:cNvSpPr txBox="1"/>
          <p:nvPr/>
        </p:nvSpPr>
        <p:spPr>
          <a:xfrm>
            <a:off x="1629805" y="3861048"/>
            <a:ext cx="1872206" cy="1000274"/>
          </a:xfrm>
          <a:prstGeom prst="rect">
            <a:avLst/>
          </a:prstGeom>
          <a:noFill/>
          <a:ln>
            <a:solidFill>
              <a:srgbClr val="C00000"/>
            </a:solidFill>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If delayed due to harness &amp; homologation issues worst case July</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All groups slip by 3 months</a:t>
            </a:r>
          </a:p>
        </p:txBody>
      </p:sp>
      <p:cxnSp>
        <p:nvCxnSpPr>
          <p:cNvPr id="30" name="Straight Arrow Connector 29">
            <a:extLst>
              <a:ext uri="{FF2B5EF4-FFF2-40B4-BE49-F238E27FC236}">
                <a16:creationId xmlns:a16="http://schemas.microsoft.com/office/drawing/2014/main" id="{8780391F-0C92-5CD9-9483-0B14528C899C}"/>
              </a:ext>
            </a:extLst>
          </p:cNvPr>
          <p:cNvCxnSpPr>
            <a:stCxn id="28" idx="3"/>
            <a:endCxn id="18" idx="1"/>
          </p:cNvCxnSpPr>
          <p:nvPr/>
        </p:nvCxnSpPr>
        <p:spPr>
          <a:xfrm flipV="1">
            <a:off x="3502011" y="4350093"/>
            <a:ext cx="2243269" cy="11092"/>
          </a:xfrm>
          <a:prstGeom prst="straightConnector1">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056D6A82-78D4-C77F-FD92-11C6B1A908B2}"/>
              </a:ext>
            </a:extLst>
          </p:cNvPr>
          <p:cNvSpPr txBox="1"/>
          <p:nvPr/>
        </p:nvSpPr>
        <p:spPr>
          <a:xfrm>
            <a:off x="1928140" y="1252560"/>
            <a:ext cx="2318561" cy="424732"/>
          </a:xfrm>
          <a:prstGeom prst="rect">
            <a:avLst/>
          </a:prstGeom>
          <a:noFill/>
          <a:ln>
            <a:solidFill>
              <a:srgbClr val="C00000"/>
            </a:solidFill>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All N1 category vehicles must be built and registered</a:t>
            </a:r>
          </a:p>
        </p:txBody>
      </p:sp>
      <p:cxnSp>
        <p:nvCxnSpPr>
          <p:cNvPr id="35" name="Straight Arrow Connector 34">
            <a:extLst>
              <a:ext uri="{FF2B5EF4-FFF2-40B4-BE49-F238E27FC236}">
                <a16:creationId xmlns:a16="http://schemas.microsoft.com/office/drawing/2014/main" id="{67A96AB9-D4B0-1B92-2FBE-65C13829F913}"/>
              </a:ext>
            </a:extLst>
          </p:cNvPr>
          <p:cNvCxnSpPr>
            <a:stCxn id="33" idx="3"/>
            <a:endCxn id="7" idx="1"/>
          </p:cNvCxnSpPr>
          <p:nvPr/>
        </p:nvCxnSpPr>
        <p:spPr>
          <a:xfrm>
            <a:off x="4246701" y="1464926"/>
            <a:ext cx="553157" cy="201068"/>
          </a:xfrm>
          <a:prstGeom prst="straightConnector1">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166A3F51-AE57-4C82-91C4-79CAD6F8C47F}"/>
              </a:ext>
            </a:extLst>
          </p:cNvPr>
          <p:cNvSpPr txBox="1"/>
          <p:nvPr/>
        </p:nvSpPr>
        <p:spPr>
          <a:xfrm>
            <a:off x="623392" y="1964866"/>
            <a:ext cx="2592288" cy="757130"/>
          </a:xfrm>
          <a:prstGeom prst="rect">
            <a:avLst/>
          </a:prstGeom>
          <a:noFill/>
          <a:ln>
            <a:solidFill>
              <a:srgbClr val="C00000"/>
            </a:solidFill>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If R51 Derogation is granted it will follow 3-month rule, fixed VIN list must include all derogated vehicles both stock, body build and Dealer</a:t>
            </a:r>
          </a:p>
        </p:txBody>
      </p:sp>
      <p:cxnSp>
        <p:nvCxnSpPr>
          <p:cNvPr id="38" name="Straight Arrow Connector 37">
            <a:extLst>
              <a:ext uri="{FF2B5EF4-FFF2-40B4-BE49-F238E27FC236}">
                <a16:creationId xmlns:a16="http://schemas.microsoft.com/office/drawing/2014/main" id="{15E9436D-301F-9B88-6D25-A83CDBC103FB}"/>
              </a:ext>
            </a:extLst>
          </p:cNvPr>
          <p:cNvCxnSpPr>
            <a:cxnSpLocks/>
          </p:cNvCxnSpPr>
          <p:nvPr/>
        </p:nvCxnSpPr>
        <p:spPr>
          <a:xfrm flipH="1">
            <a:off x="191346" y="2721996"/>
            <a:ext cx="3456382" cy="0"/>
          </a:xfrm>
          <a:prstGeom prst="straightConnector1">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27B8F75C-5C94-AC85-FB64-70EE7B577AD4}"/>
              </a:ext>
            </a:extLst>
          </p:cNvPr>
          <p:cNvCxnSpPr>
            <a:cxnSpLocks/>
          </p:cNvCxnSpPr>
          <p:nvPr/>
        </p:nvCxnSpPr>
        <p:spPr>
          <a:xfrm>
            <a:off x="7348165" y="4350093"/>
            <a:ext cx="4639085" cy="0"/>
          </a:xfrm>
          <a:prstGeom prst="straightConnector1">
            <a:avLst/>
          </a:prstGeom>
          <a:ln w="12700">
            <a:solidFill>
              <a:srgbClr val="304352"/>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20B4847B-BE6E-4537-FBA5-E57B15D83469}"/>
              </a:ext>
            </a:extLst>
          </p:cNvPr>
          <p:cNvSpPr txBox="1"/>
          <p:nvPr/>
        </p:nvSpPr>
        <p:spPr>
          <a:xfrm>
            <a:off x="7826862" y="3963078"/>
            <a:ext cx="782777" cy="834074"/>
          </a:xfrm>
          <a:prstGeom prst="rect">
            <a:avLst/>
          </a:prstGeom>
          <a:solidFill>
            <a:schemeClr val="bg1"/>
          </a:solid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P700 (Gr D) SOP</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w/o DTU</a:t>
            </a:r>
          </a:p>
        </p:txBody>
      </p:sp>
      <p:sp>
        <p:nvSpPr>
          <p:cNvPr id="43" name="TextBox 42">
            <a:extLst>
              <a:ext uri="{FF2B5EF4-FFF2-40B4-BE49-F238E27FC236}">
                <a16:creationId xmlns:a16="http://schemas.microsoft.com/office/drawing/2014/main" id="{4EBC8522-B23D-170D-5495-631E1EB04F31}"/>
              </a:ext>
            </a:extLst>
          </p:cNvPr>
          <p:cNvSpPr txBox="1"/>
          <p:nvPr/>
        </p:nvSpPr>
        <p:spPr>
          <a:xfrm>
            <a:off x="5883650" y="5060154"/>
            <a:ext cx="1847908" cy="424732"/>
          </a:xfrm>
          <a:prstGeom prst="rect">
            <a:avLst/>
          </a:prstGeom>
          <a:no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Includes </a:t>
            </a:r>
            <a:r>
              <a:rPr kumimoji="0" lang="en-US" sz="1200" b="0" i="0" u="none" strike="noStrike" kern="1200" cap="none" spc="0" normalizeH="0" baseline="0" noProof="0" dirty="0" err="1">
                <a:ln>
                  <a:noFill/>
                </a:ln>
                <a:solidFill>
                  <a:srgbClr val="344251"/>
                </a:solidFill>
                <a:effectLst/>
                <a:uLnTx/>
                <a:uFillTx/>
                <a:latin typeface="Arial"/>
                <a:ea typeface="メイリオ"/>
                <a:cs typeface="+mn-cs"/>
              </a:rPr>
              <a:t>eCall</a:t>
            </a:r>
            <a:r>
              <a:rPr kumimoji="0" lang="en-US" sz="1200" b="0" i="0" u="none" strike="noStrike" kern="1200" cap="none" spc="0" normalizeH="0" baseline="0" noProof="0" dirty="0">
                <a:ln>
                  <a:noFill/>
                </a:ln>
                <a:solidFill>
                  <a:srgbClr val="344251"/>
                </a:solidFill>
                <a:effectLst/>
                <a:uLnTx/>
                <a:uFillTx/>
                <a:latin typeface="Arial"/>
                <a:ea typeface="メイリオ"/>
                <a:cs typeface="+mn-cs"/>
              </a:rPr>
              <a:t> 4G/5G to meet 2024/1180</a:t>
            </a:r>
          </a:p>
        </p:txBody>
      </p:sp>
      <p:cxnSp>
        <p:nvCxnSpPr>
          <p:cNvPr id="45" name="Straight Arrow Connector 44">
            <a:extLst>
              <a:ext uri="{FF2B5EF4-FFF2-40B4-BE49-F238E27FC236}">
                <a16:creationId xmlns:a16="http://schemas.microsoft.com/office/drawing/2014/main" id="{34AD1A95-E759-1D44-D0BF-31181956DA7D}"/>
              </a:ext>
            </a:extLst>
          </p:cNvPr>
          <p:cNvCxnSpPr>
            <a:cxnSpLocks/>
            <a:stCxn id="43" idx="0"/>
            <a:endCxn id="42" idx="2"/>
          </p:cNvCxnSpPr>
          <p:nvPr/>
        </p:nvCxnSpPr>
        <p:spPr>
          <a:xfrm flipV="1">
            <a:off x="6807604" y="4797152"/>
            <a:ext cx="1410647" cy="263002"/>
          </a:xfrm>
          <a:prstGeom prst="straightConnector1">
            <a:avLst/>
          </a:prstGeom>
          <a:ln w="9525">
            <a:solidFill>
              <a:srgbClr val="848E9A"/>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1B68AF21-88F8-407C-2B87-400B238CEF5E}"/>
              </a:ext>
            </a:extLst>
          </p:cNvPr>
          <p:cNvSpPr txBox="1"/>
          <p:nvPr/>
        </p:nvSpPr>
        <p:spPr>
          <a:xfrm>
            <a:off x="10632504" y="3963078"/>
            <a:ext cx="688338" cy="1000274"/>
          </a:xfrm>
          <a:prstGeom prst="rect">
            <a:avLst/>
          </a:prstGeom>
          <a:solidFill>
            <a:schemeClr val="bg1"/>
          </a:solid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P700 (Gr H) SOP</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with DTU</a:t>
            </a:r>
          </a:p>
        </p:txBody>
      </p:sp>
      <p:sp>
        <p:nvSpPr>
          <p:cNvPr id="50" name="TextBox 49">
            <a:extLst>
              <a:ext uri="{FF2B5EF4-FFF2-40B4-BE49-F238E27FC236}">
                <a16:creationId xmlns:a16="http://schemas.microsoft.com/office/drawing/2014/main" id="{B57E8EE5-2C41-23EE-98B6-561AC612B501}"/>
              </a:ext>
            </a:extLst>
          </p:cNvPr>
          <p:cNvSpPr txBox="1"/>
          <p:nvPr/>
        </p:nvSpPr>
        <p:spPr>
          <a:xfrm>
            <a:off x="7826862" y="4954728"/>
            <a:ext cx="789418" cy="590931"/>
          </a:xfrm>
          <a:prstGeom prst="rect">
            <a:avLst/>
          </a:prstGeom>
          <a:solidFill>
            <a:schemeClr val="bg1"/>
          </a:solid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N35.125(Gr A/B) SOS</a:t>
            </a:r>
          </a:p>
        </p:txBody>
      </p:sp>
      <p:cxnSp>
        <p:nvCxnSpPr>
          <p:cNvPr id="51" name="Straight Arrow Connector 50">
            <a:extLst>
              <a:ext uri="{FF2B5EF4-FFF2-40B4-BE49-F238E27FC236}">
                <a16:creationId xmlns:a16="http://schemas.microsoft.com/office/drawing/2014/main" id="{3D32A9B0-6024-3F27-F827-239B11088720}"/>
              </a:ext>
            </a:extLst>
          </p:cNvPr>
          <p:cNvCxnSpPr>
            <a:cxnSpLocks/>
            <a:stCxn id="50" idx="3"/>
          </p:cNvCxnSpPr>
          <p:nvPr/>
        </p:nvCxnSpPr>
        <p:spPr>
          <a:xfrm>
            <a:off x="8616280" y="5250194"/>
            <a:ext cx="1294209" cy="0"/>
          </a:xfrm>
          <a:prstGeom prst="straightConnector1">
            <a:avLst/>
          </a:prstGeom>
          <a:ln w="12700">
            <a:solidFill>
              <a:srgbClr val="304352"/>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E98AD97D-E9EA-2EA4-DCCC-7F24E21F8F66}"/>
              </a:ext>
            </a:extLst>
          </p:cNvPr>
          <p:cNvSpPr txBox="1"/>
          <p:nvPr/>
        </p:nvSpPr>
        <p:spPr>
          <a:xfrm>
            <a:off x="2927648" y="5669136"/>
            <a:ext cx="1872206" cy="424732"/>
          </a:xfrm>
          <a:prstGeom prst="rect">
            <a:avLst/>
          </a:prstGeom>
          <a:noFill/>
          <a:ln w="19050">
            <a:solidFill>
              <a:srgbClr val="C00000"/>
            </a:solidFill>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N35.150 Suspended unable to meet R51</a:t>
            </a:r>
          </a:p>
        </p:txBody>
      </p:sp>
      <p:cxnSp>
        <p:nvCxnSpPr>
          <p:cNvPr id="55" name="Straight Arrow Connector 54">
            <a:extLst>
              <a:ext uri="{FF2B5EF4-FFF2-40B4-BE49-F238E27FC236}">
                <a16:creationId xmlns:a16="http://schemas.microsoft.com/office/drawing/2014/main" id="{96FC07DE-9192-E72E-4DDD-21BE762B3A6A}"/>
              </a:ext>
            </a:extLst>
          </p:cNvPr>
          <p:cNvCxnSpPr>
            <a:cxnSpLocks/>
            <a:stCxn id="54" idx="3"/>
          </p:cNvCxnSpPr>
          <p:nvPr/>
        </p:nvCxnSpPr>
        <p:spPr>
          <a:xfrm>
            <a:off x="4799854" y="5881502"/>
            <a:ext cx="901291" cy="0"/>
          </a:xfrm>
          <a:prstGeom prst="straightConnector1">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D4C8B491-DFCE-3E09-22E2-535534761312}"/>
              </a:ext>
            </a:extLst>
          </p:cNvPr>
          <p:cNvSpPr txBox="1"/>
          <p:nvPr/>
        </p:nvSpPr>
        <p:spPr>
          <a:xfrm>
            <a:off x="3575721" y="4856447"/>
            <a:ext cx="2160240" cy="590931"/>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1" i="0" u="none" strike="noStrike" kern="1200" cap="none" spc="0" normalizeH="0" baseline="0" noProof="0" dirty="0">
                <a:ln>
                  <a:noFill/>
                </a:ln>
                <a:solidFill>
                  <a:srgbClr val="C00000"/>
                </a:solidFill>
                <a:effectLst/>
                <a:uLnTx/>
                <a:uFillTx/>
                <a:latin typeface="Arial"/>
                <a:ea typeface="メイリオ"/>
                <a:cs typeface="+mn-cs"/>
              </a:rPr>
              <a:t>Assuming derogation, if SOP delayed risk of production gap</a:t>
            </a:r>
          </a:p>
        </p:txBody>
      </p:sp>
      <p:cxnSp>
        <p:nvCxnSpPr>
          <p:cNvPr id="60" name="Straight Arrow Connector 59">
            <a:extLst>
              <a:ext uri="{FF2B5EF4-FFF2-40B4-BE49-F238E27FC236}">
                <a16:creationId xmlns:a16="http://schemas.microsoft.com/office/drawing/2014/main" id="{E9AF7B29-EC8F-9CF4-9474-A41F2E197C44}"/>
              </a:ext>
            </a:extLst>
          </p:cNvPr>
          <p:cNvCxnSpPr>
            <a:cxnSpLocks/>
          </p:cNvCxnSpPr>
          <p:nvPr/>
        </p:nvCxnSpPr>
        <p:spPr>
          <a:xfrm>
            <a:off x="3709075" y="4799582"/>
            <a:ext cx="1983651" cy="0"/>
          </a:xfrm>
          <a:prstGeom prst="straightConnector1">
            <a:avLst/>
          </a:prstGeom>
          <a:ln w="28575">
            <a:solidFill>
              <a:srgbClr val="C00000"/>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994A154C-2C2B-88EC-E504-49780AC6D527}"/>
              </a:ext>
            </a:extLst>
          </p:cNvPr>
          <p:cNvSpPr txBox="1"/>
          <p:nvPr/>
        </p:nvSpPr>
        <p:spPr>
          <a:xfrm>
            <a:off x="5770776" y="5733256"/>
            <a:ext cx="6229871" cy="313932"/>
          </a:xfrm>
          <a:prstGeom prst="rect">
            <a:avLst/>
          </a:prstGeom>
          <a:solidFill>
            <a:srgbClr val="344251"/>
          </a:solidFill>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a:ea typeface="メイリオ"/>
                <a:cs typeface="+mn-cs"/>
              </a:rPr>
              <a:t>Only N35.125 will be available</a:t>
            </a:r>
          </a:p>
        </p:txBody>
      </p:sp>
      <p:sp>
        <p:nvSpPr>
          <p:cNvPr id="63" name="TextBox 62">
            <a:extLst>
              <a:ext uri="{FF2B5EF4-FFF2-40B4-BE49-F238E27FC236}">
                <a16:creationId xmlns:a16="http://schemas.microsoft.com/office/drawing/2014/main" id="{C44EA49C-3661-A00B-D674-7A9976F3043A}"/>
              </a:ext>
            </a:extLst>
          </p:cNvPr>
          <p:cNvSpPr txBox="1"/>
          <p:nvPr/>
        </p:nvSpPr>
        <p:spPr>
          <a:xfrm>
            <a:off x="8544272" y="3963078"/>
            <a:ext cx="789418" cy="834074"/>
          </a:xfrm>
          <a:prstGeom prst="rect">
            <a:avLst/>
          </a:prstGeom>
          <a:solidFill>
            <a:schemeClr val="bg1"/>
          </a:solid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VK11 SOP</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with DTU</a:t>
            </a:r>
          </a:p>
        </p:txBody>
      </p:sp>
      <p:sp>
        <p:nvSpPr>
          <p:cNvPr id="2" name="TextBox 1">
            <a:extLst>
              <a:ext uri="{FF2B5EF4-FFF2-40B4-BE49-F238E27FC236}">
                <a16:creationId xmlns:a16="http://schemas.microsoft.com/office/drawing/2014/main" id="{1E1FC1FF-C62E-0D9F-F93B-A33351703354}"/>
              </a:ext>
            </a:extLst>
          </p:cNvPr>
          <p:cNvSpPr txBox="1"/>
          <p:nvPr/>
        </p:nvSpPr>
        <p:spPr>
          <a:xfrm>
            <a:off x="8038283" y="1990701"/>
            <a:ext cx="1872206" cy="424732"/>
          </a:xfrm>
          <a:prstGeom prst="rect">
            <a:avLst/>
          </a:prstGeom>
          <a:noFill/>
          <a:ln>
            <a:solidFill>
              <a:srgbClr val="C00000"/>
            </a:solidFill>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1</a:t>
            </a:r>
            <a:r>
              <a:rPr kumimoji="0" lang="en-US" sz="1200" b="0" i="0" u="none" strike="noStrike" kern="1200" cap="none" spc="0" normalizeH="0" baseline="30000" noProof="0" dirty="0">
                <a:ln>
                  <a:noFill/>
                </a:ln>
                <a:solidFill>
                  <a:srgbClr val="344251"/>
                </a:solidFill>
                <a:effectLst/>
                <a:uLnTx/>
                <a:uFillTx/>
                <a:latin typeface="Arial"/>
                <a:ea typeface="メイリオ"/>
                <a:cs typeface="+mn-cs"/>
              </a:rPr>
              <a:t>st</a:t>
            </a:r>
            <a:r>
              <a:rPr kumimoji="0" lang="en-US" sz="1200" b="0" i="0" u="none" strike="noStrike" kern="1200" cap="none" spc="0" normalizeH="0" baseline="0" noProof="0" dirty="0">
                <a:ln>
                  <a:noFill/>
                </a:ln>
                <a:solidFill>
                  <a:srgbClr val="344251"/>
                </a:solidFill>
                <a:effectLst/>
                <a:uLnTx/>
                <a:uFillTx/>
                <a:latin typeface="Arial"/>
                <a:ea typeface="メイリオ"/>
                <a:cs typeface="+mn-cs"/>
              </a:rPr>
              <a:t> Jan 2027 EU Reg 2024/1180</a:t>
            </a:r>
          </a:p>
        </p:txBody>
      </p:sp>
      <p:cxnSp>
        <p:nvCxnSpPr>
          <p:cNvPr id="5" name="Straight Connector 4">
            <a:extLst>
              <a:ext uri="{FF2B5EF4-FFF2-40B4-BE49-F238E27FC236}">
                <a16:creationId xmlns:a16="http://schemas.microsoft.com/office/drawing/2014/main" id="{9CF14342-6453-EDD3-E832-9C0C00F75606}"/>
              </a:ext>
            </a:extLst>
          </p:cNvPr>
          <p:cNvCxnSpPr>
            <a:cxnSpLocks/>
          </p:cNvCxnSpPr>
          <p:nvPr/>
        </p:nvCxnSpPr>
        <p:spPr>
          <a:xfrm>
            <a:off x="9912424" y="1916832"/>
            <a:ext cx="0" cy="4752528"/>
          </a:xfrm>
          <a:prstGeom prst="line">
            <a:avLst/>
          </a:prstGeom>
          <a:ln w="2540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0DAA95B-6412-6480-12C5-642A4C2F3FCE}"/>
              </a:ext>
            </a:extLst>
          </p:cNvPr>
          <p:cNvSpPr txBox="1"/>
          <p:nvPr/>
        </p:nvSpPr>
        <p:spPr>
          <a:xfrm>
            <a:off x="5745279" y="6132733"/>
            <a:ext cx="2179857" cy="701731"/>
          </a:xfrm>
          <a:prstGeom prst="rect">
            <a:avLst/>
          </a:prstGeom>
          <a:noFill/>
          <a:ln w="19050">
            <a:solidFill>
              <a:srgbClr val="C00000"/>
            </a:solidFill>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100" b="0" i="0" u="none" strike="noStrike" kern="1200" cap="none" spc="0" normalizeH="0" baseline="0" noProof="0" dirty="0">
                <a:ln>
                  <a:noFill/>
                </a:ln>
                <a:solidFill>
                  <a:srgbClr val="344251"/>
                </a:solidFill>
                <a:effectLst/>
                <a:uLnTx/>
                <a:uFillTx/>
                <a:latin typeface="Arial"/>
                <a:ea typeface="メイリオ"/>
                <a:cs typeface="+mn-cs"/>
              </a:rPr>
              <a:t>Assuming no derogation for 2024/1180, all P700 (Gr A/B) will need to registered before 31</a:t>
            </a:r>
            <a:r>
              <a:rPr kumimoji="0" lang="en-US" sz="1100" b="0" i="0" u="none" strike="noStrike" kern="1200" cap="none" spc="0" normalizeH="0" baseline="30000" noProof="0" dirty="0">
                <a:ln>
                  <a:noFill/>
                </a:ln>
                <a:solidFill>
                  <a:srgbClr val="344251"/>
                </a:solidFill>
                <a:effectLst/>
                <a:uLnTx/>
                <a:uFillTx/>
                <a:latin typeface="Arial"/>
                <a:ea typeface="メイリオ"/>
                <a:cs typeface="+mn-cs"/>
              </a:rPr>
              <a:t>st</a:t>
            </a:r>
            <a:r>
              <a:rPr kumimoji="0" lang="en-US" sz="1100" b="0" i="0" u="none" strike="noStrike" kern="1200" cap="none" spc="0" normalizeH="0" baseline="0" noProof="0" dirty="0">
                <a:ln>
                  <a:noFill/>
                </a:ln>
                <a:solidFill>
                  <a:srgbClr val="344251"/>
                </a:solidFill>
                <a:effectLst/>
                <a:uLnTx/>
                <a:uFillTx/>
                <a:latin typeface="Arial"/>
                <a:ea typeface="メイリオ"/>
                <a:cs typeface="+mn-cs"/>
              </a:rPr>
              <a:t> December 2026</a:t>
            </a:r>
          </a:p>
        </p:txBody>
      </p:sp>
      <p:cxnSp>
        <p:nvCxnSpPr>
          <p:cNvPr id="10" name="Straight Arrow Connector 9">
            <a:extLst>
              <a:ext uri="{FF2B5EF4-FFF2-40B4-BE49-F238E27FC236}">
                <a16:creationId xmlns:a16="http://schemas.microsoft.com/office/drawing/2014/main" id="{32CEBC8B-6D70-4ECF-3023-C4EC44491A69}"/>
              </a:ext>
            </a:extLst>
          </p:cNvPr>
          <p:cNvCxnSpPr>
            <a:cxnSpLocks/>
            <a:stCxn id="9" idx="1"/>
          </p:cNvCxnSpPr>
          <p:nvPr/>
        </p:nvCxnSpPr>
        <p:spPr>
          <a:xfrm flipH="1">
            <a:off x="189417" y="6483599"/>
            <a:ext cx="5555862" cy="0"/>
          </a:xfrm>
          <a:prstGeom prst="straightConnector1">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541FEAAF-73C9-69CD-3B7C-8C196D89643F}"/>
              </a:ext>
            </a:extLst>
          </p:cNvPr>
          <p:cNvSpPr txBox="1"/>
          <p:nvPr/>
        </p:nvSpPr>
        <p:spPr>
          <a:xfrm>
            <a:off x="277669" y="5101188"/>
            <a:ext cx="1872206" cy="923330"/>
          </a:xfrm>
          <a:prstGeom prst="rect">
            <a:avLst/>
          </a:prstGeom>
          <a:noFill/>
          <a:ln>
            <a:solidFill>
              <a:srgbClr val="344251"/>
            </a:solidFill>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Likely consultation on mandating Euro6e which could result in loss of N35.125 manual due to non conformance of </a:t>
            </a:r>
            <a:r>
              <a:rPr kumimoji="0" lang="en-US" sz="1200" b="0" i="0" u="none" strike="noStrike" kern="1200" cap="none" spc="0" normalizeH="0" baseline="0" noProof="0" dirty="0" err="1">
                <a:ln>
                  <a:noFill/>
                </a:ln>
                <a:solidFill>
                  <a:srgbClr val="344251"/>
                </a:solidFill>
                <a:effectLst/>
                <a:uLnTx/>
                <a:uFillTx/>
                <a:latin typeface="Arial"/>
                <a:ea typeface="メイリオ"/>
                <a:cs typeface="+mn-cs"/>
              </a:rPr>
              <a:t>NoX</a:t>
            </a:r>
            <a:endParaRPr kumimoji="0" lang="en-US" sz="1200" b="0" i="0" u="none" strike="noStrike" kern="1200" cap="none" spc="0" normalizeH="0" baseline="0" noProof="0" dirty="0">
              <a:ln>
                <a:noFill/>
              </a:ln>
              <a:solidFill>
                <a:srgbClr val="344251"/>
              </a:solidFill>
              <a:effectLst/>
              <a:uLnTx/>
              <a:uFillTx/>
              <a:latin typeface="Arial"/>
              <a:ea typeface="メイリオ"/>
              <a:cs typeface="+mn-cs"/>
            </a:endParaRPr>
          </a:p>
        </p:txBody>
      </p:sp>
      <p:cxnSp>
        <p:nvCxnSpPr>
          <p:cNvPr id="14" name="Straight Arrow Connector 13">
            <a:extLst>
              <a:ext uri="{FF2B5EF4-FFF2-40B4-BE49-F238E27FC236}">
                <a16:creationId xmlns:a16="http://schemas.microsoft.com/office/drawing/2014/main" id="{7C85CF46-3165-3C38-DC94-9A913F4F0906}"/>
              </a:ext>
            </a:extLst>
          </p:cNvPr>
          <p:cNvCxnSpPr>
            <a:stCxn id="12" idx="0"/>
          </p:cNvCxnSpPr>
          <p:nvPr/>
        </p:nvCxnSpPr>
        <p:spPr>
          <a:xfrm flipV="1">
            <a:off x="1213772" y="3799840"/>
            <a:ext cx="201708" cy="1301348"/>
          </a:xfrm>
          <a:prstGeom prst="straightConnector1">
            <a:avLst/>
          </a:prstGeom>
          <a:ln w="19050">
            <a:solidFill>
              <a:srgbClr val="34425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09C152CC-9265-F97A-7478-2052FE4D8542}"/>
              </a:ext>
            </a:extLst>
          </p:cNvPr>
          <p:cNvCxnSpPr>
            <a:cxnSpLocks/>
            <a:stCxn id="9" idx="3"/>
          </p:cNvCxnSpPr>
          <p:nvPr/>
        </p:nvCxnSpPr>
        <p:spPr>
          <a:xfrm>
            <a:off x="7925136" y="6483599"/>
            <a:ext cx="1950676" cy="12731"/>
          </a:xfrm>
          <a:prstGeom prst="straightConnector1">
            <a:avLst/>
          </a:prstGeom>
          <a:ln w="190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8761D0D1-30D2-82D1-549B-A313AB0A4854}"/>
              </a:ext>
            </a:extLst>
          </p:cNvPr>
          <p:cNvCxnSpPr>
            <a:cxnSpLocks/>
          </p:cNvCxnSpPr>
          <p:nvPr/>
        </p:nvCxnSpPr>
        <p:spPr>
          <a:xfrm>
            <a:off x="7824192" y="3789040"/>
            <a:ext cx="0" cy="963846"/>
          </a:xfrm>
          <a:prstGeom prst="line">
            <a:avLst/>
          </a:prstGeom>
          <a:ln w="9525">
            <a:solidFill>
              <a:srgbClr val="848E9A"/>
            </a:solidFill>
            <a:prstDash val="sysDash"/>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D7CB8C6B-9098-D0E6-8F13-ECBDFB8FF0B8}"/>
              </a:ext>
            </a:extLst>
          </p:cNvPr>
          <p:cNvCxnSpPr>
            <a:cxnSpLocks/>
          </p:cNvCxnSpPr>
          <p:nvPr/>
        </p:nvCxnSpPr>
        <p:spPr>
          <a:xfrm>
            <a:off x="10632504" y="2762038"/>
            <a:ext cx="0" cy="1990848"/>
          </a:xfrm>
          <a:prstGeom prst="line">
            <a:avLst/>
          </a:prstGeom>
          <a:ln w="9525">
            <a:solidFill>
              <a:srgbClr val="848E9A"/>
            </a:solidFill>
            <a:prstDash val="sysDash"/>
          </a:ln>
        </p:spPr>
        <p:style>
          <a:lnRef idx="2">
            <a:schemeClr val="accent1"/>
          </a:lnRef>
          <a:fillRef idx="0">
            <a:schemeClr val="accent1"/>
          </a:fillRef>
          <a:effectRef idx="1">
            <a:schemeClr val="accent1"/>
          </a:effectRef>
          <a:fontRef idx="minor">
            <a:schemeClr val="tx1"/>
          </a:fontRef>
        </p:style>
      </p:cxnSp>
      <p:sp>
        <p:nvSpPr>
          <p:cNvPr id="66" name="Rectangle 65">
            <a:extLst>
              <a:ext uri="{FF2B5EF4-FFF2-40B4-BE49-F238E27FC236}">
                <a16:creationId xmlns:a16="http://schemas.microsoft.com/office/drawing/2014/main" id="{2ACA600B-5BCD-18C4-0E2F-3C307F5E097F}"/>
              </a:ext>
            </a:extLst>
          </p:cNvPr>
          <p:cNvSpPr/>
          <p:nvPr/>
        </p:nvSpPr>
        <p:spPr>
          <a:xfrm>
            <a:off x="7812001" y="4896000"/>
            <a:ext cx="2098488" cy="706543"/>
          </a:xfrm>
          <a:prstGeom prst="rect">
            <a:avLst/>
          </a:prstGeom>
          <a:noFill/>
          <a:ln w="19050">
            <a:solidFill>
              <a:srgbClr val="E6001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600"/>
              </a:spcBef>
              <a:spcAft>
                <a:spcPts val="0"/>
              </a:spcAft>
              <a:buClrTx/>
              <a:buSzTx/>
              <a:buFontTx/>
              <a:buNone/>
              <a:tabLst/>
              <a:defRPr/>
            </a:pPr>
            <a:endParaRPr kumimoji="0" lang="en-US" sz="2000" b="0" i="0" u="none" strike="noStrike" kern="1200" cap="none" spc="0" normalizeH="0" baseline="0" noProof="0" dirty="0" err="1">
              <a:ln>
                <a:noFill/>
              </a:ln>
              <a:solidFill>
                <a:srgbClr val="000000"/>
              </a:solidFill>
              <a:effectLst/>
              <a:uLnTx/>
              <a:uFillTx/>
              <a:latin typeface="Arial"/>
              <a:ea typeface="メイリオ"/>
              <a:cs typeface="+mn-cs"/>
            </a:endParaRPr>
          </a:p>
        </p:txBody>
      </p:sp>
      <p:cxnSp>
        <p:nvCxnSpPr>
          <p:cNvPr id="68" name="Straight Arrow Connector 67">
            <a:extLst>
              <a:ext uri="{FF2B5EF4-FFF2-40B4-BE49-F238E27FC236}">
                <a16:creationId xmlns:a16="http://schemas.microsoft.com/office/drawing/2014/main" id="{282E9019-EA9E-E821-75AE-66221823CD08}"/>
              </a:ext>
            </a:extLst>
          </p:cNvPr>
          <p:cNvCxnSpPr>
            <a:cxnSpLocks/>
            <a:stCxn id="9" idx="3"/>
            <a:endCxn id="66" idx="2"/>
          </p:cNvCxnSpPr>
          <p:nvPr/>
        </p:nvCxnSpPr>
        <p:spPr>
          <a:xfrm flipV="1">
            <a:off x="7925136" y="5602543"/>
            <a:ext cx="936109" cy="881056"/>
          </a:xfrm>
          <a:prstGeom prst="straightConnector1">
            <a:avLst/>
          </a:prstGeom>
          <a:ln w="19050">
            <a:solidFill>
              <a:srgbClr val="E60012"/>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723516B3-A28B-4024-AFCC-E93C41F0C8C3}"/>
              </a:ext>
            </a:extLst>
          </p:cNvPr>
          <p:cNvSpPr txBox="1"/>
          <p:nvPr/>
        </p:nvSpPr>
        <p:spPr>
          <a:xfrm>
            <a:off x="7925141" y="1058785"/>
            <a:ext cx="3499445" cy="757130"/>
          </a:xfrm>
          <a:prstGeom prst="rect">
            <a:avLst/>
          </a:prstGeom>
          <a:noFill/>
          <a:ln w="19050">
            <a:solidFill>
              <a:srgbClr val="C00000"/>
            </a:solidFill>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1" i="0" u="none" strike="noStrike" kern="1200" cap="none" spc="0" normalizeH="0" baseline="0" noProof="0" dirty="0">
                <a:ln>
                  <a:noFill/>
                </a:ln>
                <a:solidFill>
                  <a:srgbClr val="344251"/>
                </a:solidFill>
                <a:effectLst/>
                <a:uLnTx/>
                <a:uFillTx/>
                <a:latin typeface="Arial"/>
                <a:ea typeface="メイリオ"/>
                <a:cs typeface="+mn-cs"/>
              </a:rPr>
              <a:t>Based on the assumption that if P700 (Gr A/B) slips by 3 months due to harness issues, (Gr D) and (Gr H) will also slip by 3 months</a:t>
            </a:r>
          </a:p>
        </p:txBody>
      </p:sp>
      <p:cxnSp>
        <p:nvCxnSpPr>
          <p:cNvPr id="17" name="Straight Arrow Connector 16">
            <a:extLst>
              <a:ext uri="{FF2B5EF4-FFF2-40B4-BE49-F238E27FC236}">
                <a16:creationId xmlns:a16="http://schemas.microsoft.com/office/drawing/2014/main" id="{D707B3D3-CD5C-85A2-6DB3-52A89395BF58}"/>
              </a:ext>
            </a:extLst>
          </p:cNvPr>
          <p:cNvCxnSpPr>
            <a:cxnSpLocks/>
          </p:cNvCxnSpPr>
          <p:nvPr/>
        </p:nvCxnSpPr>
        <p:spPr>
          <a:xfrm>
            <a:off x="5745280" y="2914678"/>
            <a:ext cx="4887224" cy="0"/>
          </a:xfrm>
          <a:prstGeom prst="straightConnector1">
            <a:avLst/>
          </a:prstGeom>
          <a:ln w="19050">
            <a:solidFill>
              <a:srgbClr val="304352"/>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2AEBF33B-1D13-9356-D3A7-DC06A23051A2}"/>
              </a:ext>
            </a:extLst>
          </p:cNvPr>
          <p:cNvSpPr txBox="1"/>
          <p:nvPr/>
        </p:nvSpPr>
        <p:spPr>
          <a:xfrm>
            <a:off x="6168007" y="2636912"/>
            <a:ext cx="3700275" cy="258532"/>
          </a:xfrm>
          <a:prstGeom prst="rect">
            <a:avLst/>
          </a:prstGeom>
          <a:noFill/>
          <a:ln>
            <a:solidFill>
              <a:srgbClr val="344251"/>
            </a:solidFill>
          </a:ln>
        </p:spPr>
        <p:txBody>
          <a:bodyPr wrap="square" rtlCol="0">
            <a:spAutoFit/>
          </a:bodyPr>
          <a:lstStyle/>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Is there a possibility to retrofit DTU to Gr A/B &amp; D?</a:t>
            </a:r>
          </a:p>
        </p:txBody>
      </p:sp>
    </p:spTree>
    <p:extLst>
      <p:ext uri="{BB962C8B-B14F-4D97-AF65-F5344CB8AC3E}">
        <p14:creationId xmlns:p14="http://schemas.microsoft.com/office/powerpoint/2010/main" val="26341792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68AD06-98C4-D3FC-4404-11EB7D9FE579}"/>
              </a:ext>
            </a:extLst>
          </p:cNvPr>
          <p:cNvSpPr>
            <a:spLocks noGrp="1"/>
          </p:cNvSpPr>
          <p:nvPr>
            <p:ph type="title"/>
          </p:nvPr>
        </p:nvSpPr>
        <p:spPr/>
        <p:txBody>
          <a:bodyPr/>
          <a:lstStyle/>
          <a:p>
            <a:r>
              <a:rPr lang="en-US" dirty="0">
                <a:solidFill>
                  <a:srgbClr val="344251"/>
                </a:solidFill>
              </a:rPr>
              <a:t>Connected Project – Now Uptime Strategy Only</a:t>
            </a:r>
          </a:p>
        </p:txBody>
      </p:sp>
      <p:pic>
        <p:nvPicPr>
          <p:cNvPr id="21" name="Picture 20" descr="A couple of white trucks&#10;&#10;AI-generated content may be incorrect.">
            <a:extLst>
              <a:ext uri="{FF2B5EF4-FFF2-40B4-BE49-F238E27FC236}">
                <a16:creationId xmlns:a16="http://schemas.microsoft.com/office/drawing/2014/main" id="{BE5CA99A-3140-9907-348A-43774E5066BD}"/>
              </a:ext>
            </a:extLst>
          </p:cNvPr>
          <p:cNvPicPr>
            <a:picLocks noChangeAspect="1"/>
          </p:cNvPicPr>
          <p:nvPr/>
        </p:nvPicPr>
        <p:blipFill>
          <a:blip r:embed="rId3">
            <a:extLst>
              <a:ext uri="{28A0092B-C50C-407E-A947-70E740481C1C}">
                <a14:useLocalDpi xmlns:a14="http://schemas.microsoft.com/office/drawing/2010/main" val="0"/>
              </a:ext>
            </a:extLst>
          </a:blip>
          <a:srcRect r="45331"/>
          <a:stretch>
            <a:fillRect/>
          </a:stretch>
        </p:blipFill>
        <p:spPr>
          <a:xfrm>
            <a:off x="8002601" y="2254812"/>
            <a:ext cx="720086" cy="930870"/>
          </a:xfrm>
          <a:prstGeom prst="rect">
            <a:avLst/>
          </a:prstGeom>
        </p:spPr>
      </p:pic>
      <p:graphicFrame>
        <p:nvGraphicFramePr>
          <p:cNvPr id="22" name="Table 21">
            <a:extLst>
              <a:ext uri="{FF2B5EF4-FFF2-40B4-BE49-F238E27FC236}">
                <a16:creationId xmlns:a16="http://schemas.microsoft.com/office/drawing/2014/main" id="{46661264-71A5-0347-047F-16C8E749DF52}"/>
              </a:ext>
            </a:extLst>
          </p:cNvPr>
          <p:cNvGraphicFramePr>
            <a:graphicFrameLocks noGrp="1"/>
          </p:cNvGraphicFramePr>
          <p:nvPr/>
        </p:nvGraphicFramePr>
        <p:xfrm>
          <a:off x="65546" y="1369292"/>
          <a:ext cx="12067825" cy="741680"/>
        </p:xfrm>
        <a:graphic>
          <a:graphicData uri="http://schemas.openxmlformats.org/drawingml/2006/table">
            <a:tbl>
              <a:tblPr firstRow="1" bandRow="1">
                <a:tableStyleId>{5C22544A-7EE6-4342-B048-85BDC9FD1C3A}</a:tableStyleId>
              </a:tblPr>
              <a:tblGrid>
                <a:gridCol w="1097075">
                  <a:extLst>
                    <a:ext uri="{9D8B030D-6E8A-4147-A177-3AD203B41FA5}">
                      <a16:colId xmlns:a16="http://schemas.microsoft.com/office/drawing/2014/main" val="722719720"/>
                    </a:ext>
                  </a:extLst>
                </a:gridCol>
                <a:gridCol w="1097075">
                  <a:extLst>
                    <a:ext uri="{9D8B030D-6E8A-4147-A177-3AD203B41FA5}">
                      <a16:colId xmlns:a16="http://schemas.microsoft.com/office/drawing/2014/main" val="2359243490"/>
                    </a:ext>
                  </a:extLst>
                </a:gridCol>
                <a:gridCol w="1097075">
                  <a:extLst>
                    <a:ext uri="{9D8B030D-6E8A-4147-A177-3AD203B41FA5}">
                      <a16:colId xmlns:a16="http://schemas.microsoft.com/office/drawing/2014/main" val="1022169572"/>
                    </a:ext>
                  </a:extLst>
                </a:gridCol>
                <a:gridCol w="1097075">
                  <a:extLst>
                    <a:ext uri="{9D8B030D-6E8A-4147-A177-3AD203B41FA5}">
                      <a16:colId xmlns:a16="http://schemas.microsoft.com/office/drawing/2014/main" val="171093957"/>
                    </a:ext>
                  </a:extLst>
                </a:gridCol>
                <a:gridCol w="1097075">
                  <a:extLst>
                    <a:ext uri="{9D8B030D-6E8A-4147-A177-3AD203B41FA5}">
                      <a16:colId xmlns:a16="http://schemas.microsoft.com/office/drawing/2014/main" val="1449063638"/>
                    </a:ext>
                  </a:extLst>
                </a:gridCol>
                <a:gridCol w="1097075">
                  <a:extLst>
                    <a:ext uri="{9D8B030D-6E8A-4147-A177-3AD203B41FA5}">
                      <a16:colId xmlns:a16="http://schemas.microsoft.com/office/drawing/2014/main" val="2334449672"/>
                    </a:ext>
                  </a:extLst>
                </a:gridCol>
                <a:gridCol w="1097075">
                  <a:extLst>
                    <a:ext uri="{9D8B030D-6E8A-4147-A177-3AD203B41FA5}">
                      <a16:colId xmlns:a16="http://schemas.microsoft.com/office/drawing/2014/main" val="2331030412"/>
                    </a:ext>
                  </a:extLst>
                </a:gridCol>
                <a:gridCol w="1097075">
                  <a:extLst>
                    <a:ext uri="{9D8B030D-6E8A-4147-A177-3AD203B41FA5}">
                      <a16:colId xmlns:a16="http://schemas.microsoft.com/office/drawing/2014/main" val="2463156659"/>
                    </a:ext>
                  </a:extLst>
                </a:gridCol>
                <a:gridCol w="1097075">
                  <a:extLst>
                    <a:ext uri="{9D8B030D-6E8A-4147-A177-3AD203B41FA5}">
                      <a16:colId xmlns:a16="http://schemas.microsoft.com/office/drawing/2014/main" val="3084775681"/>
                    </a:ext>
                  </a:extLst>
                </a:gridCol>
                <a:gridCol w="1097075">
                  <a:extLst>
                    <a:ext uri="{9D8B030D-6E8A-4147-A177-3AD203B41FA5}">
                      <a16:colId xmlns:a16="http://schemas.microsoft.com/office/drawing/2014/main" val="349333766"/>
                    </a:ext>
                  </a:extLst>
                </a:gridCol>
                <a:gridCol w="1097075">
                  <a:extLst>
                    <a:ext uri="{9D8B030D-6E8A-4147-A177-3AD203B41FA5}">
                      <a16:colId xmlns:a16="http://schemas.microsoft.com/office/drawing/2014/main" val="3864830936"/>
                    </a:ext>
                  </a:extLst>
                </a:gridCol>
              </a:tblGrid>
              <a:tr h="370840">
                <a:tc gridSpan="11">
                  <a:txBody>
                    <a:bodyPr/>
                    <a:lstStyle/>
                    <a:p>
                      <a:pPr algn="ctr"/>
                      <a:r>
                        <a:rPr lang="en-US" dirty="0"/>
                        <a:t>2026</a:t>
                      </a:r>
                    </a:p>
                  </a:txBody>
                  <a:tcPr>
                    <a:solidFill>
                      <a:schemeClr val="accent2"/>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tc hMerge="1">
                  <a:txBody>
                    <a:bodyPr/>
                    <a:lstStyle/>
                    <a:p>
                      <a:endParaRPr lang="en-US" dirty="0"/>
                    </a:p>
                  </a:txBody>
                  <a:tcPr>
                    <a:solidFill>
                      <a:srgbClr val="344251"/>
                    </a:solidFill>
                  </a:tcPr>
                </a:tc>
                <a:extLst>
                  <a:ext uri="{0D108BD9-81ED-4DB2-BD59-A6C34878D82A}">
                    <a16:rowId xmlns:a16="http://schemas.microsoft.com/office/drawing/2014/main" val="890456686"/>
                  </a:ext>
                </a:extLst>
              </a:tr>
              <a:tr h="370840">
                <a:tc>
                  <a:txBody>
                    <a:bodyPr/>
                    <a:lstStyle/>
                    <a:p>
                      <a:pPr algn="ctr"/>
                      <a:r>
                        <a:rPr lang="en-US" dirty="0">
                          <a:solidFill>
                            <a:schemeClr val="bg1"/>
                          </a:solidFill>
                        </a:rPr>
                        <a:t>FEB</a:t>
                      </a:r>
                    </a:p>
                  </a:txBody>
                  <a:tcPr>
                    <a:solidFill>
                      <a:schemeClr val="accent2"/>
                    </a:solidFill>
                  </a:tcPr>
                </a:tc>
                <a:tc>
                  <a:txBody>
                    <a:bodyPr/>
                    <a:lstStyle/>
                    <a:p>
                      <a:pPr algn="ctr"/>
                      <a:r>
                        <a:rPr lang="en-US" dirty="0">
                          <a:solidFill>
                            <a:schemeClr val="bg1"/>
                          </a:solidFill>
                        </a:rPr>
                        <a:t>MAR</a:t>
                      </a:r>
                    </a:p>
                  </a:txBody>
                  <a:tcPr>
                    <a:solidFill>
                      <a:schemeClr val="accent2"/>
                    </a:solidFill>
                  </a:tcPr>
                </a:tc>
                <a:tc>
                  <a:txBody>
                    <a:bodyPr/>
                    <a:lstStyle/>
                    <a:p>
                      <a:pPr algn="ctr"/>
                      <a:r>
                        <a:rPr lang="en-US" dirty="0">
                          <a:solidFill>
                            <a:schemeClr val="bg1"/>
                          </a:solidFill>
                        </a:rPr>
                        <a:t>APR</a:t>
                      </a:r>
                    </a:p>
                  </a:txBody>
                  <a:tcPr>
                    <a:solidFill>
                      <a:schemeClr val="accent2"/>
                    </a:solidFill>
                  </a:tcPr>
                </a:tc>
                <a:tc>
                  <a:txBody>
                    <a:bodyPr/>
                    <a:lstStyle/>
                    <a:p>
                      <a:pPr algn="ctr"/>
                      <a:r>
                        <a:rPr lang="en-US" dirty="0">
                          <a:solidFill>
                            <a:schemeClr val="bg1"/>
                          </a:solidFill>
                        </a:rPr>
                        <a:t>MAY</a:t>
                      </a:r>
                    </a:p>
                  </a:txBody>
                  <a:tcPr>
                    <a:solidFill>
                      <a:schemeClr val="accent2"/>
                    </a:solidFill>
                  </a:tcPr>
                </a:tc>
                <a:tc>
                  <a:txBody>
                    <a:bodyPr/>
                    <a:lstStyle/>
                    <a:p>
                      <a:pPr algn="ctr"/>
                      <a:r>
                        <a:rPr lang="en-US" dirty="0">
                          <a:solidFill>
                            <a:schemeClr val="bg1"/>
                          </a:solidFill>
                        </a:rPr>
                        <a:t>JUN</a:t>
                      </a:r>
                    </a:p>
                  </a:txBody>
                  <a:tcPr>
                    <a:solidFill>
                      <a:schemeClr val="accent2"/>
                    </a:solidFill>
                  </a:tcPr>
                </a:tc>
                <a:tc>
                  <a:txBody>
                    <a:bodyPr/>
                    <a:lstStyle/>
                    <a:p>
                      <a:pPr algn="ctr"/>
                      <a:r>
                        <a:rPr lang="en-US" dirty="0">
                          <a:solidFill>
                            <a:schemeClr val="bg1"/>
                          </a:solidFill>
                        </a:rPr>
                        <a:t>JUL</a:t>
                      </a:r>
                    </a:p>
                  </a:txBody>
                  <a:tcPr>
                    <a:solidFill>
                      <a:schemeClr val="accent2"/>
                    </a:solidFill>
                  </a:tcPr>
                </a:tc>
                <a:tc>
                  <a:txBody>
                    <a:bodyPr/>
                    <a:lstStyle/>
                    <a:p>
                      <a:pPr algn="ctr"/>
                      <a:r>
                        <a:rPr lang="en-US" dirty="0">
                          <a:solidFill>
                            <a:schemeClr val="bg1"/>
                          </a:solidFill>
                        </a:rPr>
                        <a:t>AUG</a:t>
                      </a:r>
                    </a:p>
                  </a:txBody>
                  <a:tcPr>
                    <a:solidFill>
                      <a:schemeClr val="accent2"/>
                    </a:solidFill>
                  </a:tcPr>
                </a:tc>
                <a:tc>
                  <a:txBody>
                    <a:bodyPr/>
                    <a:lstStyle/>
                    <a:p>
                      <a:pPr algn="ctr"/>
                      <a:r>
                        <a:rPr lang="en-US" dirty="0">
                          <a:solidFill>
                            <a:schemeClr val="bg1"/>
                          </a:solidFill>
                        </a:rPr>
                        <a:t>SEP</a:t>
                      </a:r>
                    </a:p>
                  </a:txBody>
                  <a:tcPr>
                    <a:solidFill>
                      <a:schemeClr val="accent2"/>
                    </a:solidFill>
                  </a:tcPr>
                </a:tc>
                <a:tc>
                  <a:txBody>
                    <a:bodyPr/>
                    <a:lstStyle/>
                    <a:p>
                      <a:pPr algn="ctr"/>
                      <a:r>
                        <a:rPr lang="en-US" dirty="0">
                          <a:solidFill>
                            <a:schemeClr val="bg1"/>
                          </a:solidFill>
                        </a:rPr>
                        <a:t>OCT</a:t>
                      </a:r>
                    </a:p>
                  </a:txBody>
                  <a:tcPr>
                    <a:solidFill>
                      <a:schemeClr val="accent2"/>
                    </a:solidFill>
                  </a:tcPr>
                </a:tc>
                <a:tc>
                  <a:txBody>
                    <a:bodyPr/>
                    <a:lstStyle/>
                    <a:p>
                      <a:pPr algn="ctr"/>
                      <a:r>
                        <a:rPr lang="en-US" dirty="0">
                          <a:solidFill>
                            <a:schemeClr val="bg1"/>
                          </a:solidFill>
                        </a:rPr>
                        <a:t>NOV</a:t>
                      </a:r>
                    </a:p>
                  </a:txBody>
                  <a:tcPr>
                    <a:solidFill>
                      <a:schemeClr val="accent2"/>
                    </a:solidFill>
                  </a:tcPr>
                </a:tc>
                <a:tc>
                  <a:txBody>
                    <a:bodyPr/>
                    <a:lstStyle/>
                    <a:p>
                      <a:pPr algn="ctr"/>
                      <a:r>
                        <a:rPr lang="en-US" dirty="0">
                          <a:solidFill>
                            <a:schemeClr val="bg1"/>
                          </a:solidFill>
                        </a:rPr>
                        <a:t>DEC</a:t>
                      </a:r>
                    </a:p>
                  </a:txBody>
                  <a:tcPr>
                    <a:solidFill>
                      <a:schemeClr val="accent2"/>
                    </a:solidFill>
                  </a:tcPr>
                </a:tc>
                <a:extLst>
                  <a:ext uri="{0D108BD9-81ED-4DB2-BD59-A6C34878D82A}">
                    <a16:rowId xmlns:a16="http://schemas.microsoft.com/office/drawing/2014/main" val="1141860105"/>
                  </a:ext>
                </a:extLst>
              </a:tr>
            </a:tbl>
          </a:graphicData>
        </a:graphic>
      </p:graphicFrame>
      <p:sp>
        <p:nvSpPr>
          <p:cNvPr id="23" name="TextBox 22">
            <a:extLst>
              <a:ext uri="{FF2B5EF4-FFF2-40B4-BE49-F238E27FC236}">
                <a16:creationId xmlns:a16="http://schemas.microsoft.com/office/drawing/2014/main" id="{0FF31B46-F78B-54E7-B7F6-FA72B52C156F}"/>
              </a:ext>
            </a:extLst>
          </p:cNvPr>
          <p:cNvSpPr txBox="1"/>
          <p:nvPr/>
        </p:nvSpPr>
        <p:spPr>
          <a:xfrm>
            <a:off x="3364264" y="2400116"/>
            <a:ext cx="789418" cy="834074"/>
          </a:xfrm>
          <a:prstGeom prst="rect">
            <a:avLst/>
          </a:prstGeom>
          <a:solidFill>
            <a:schemeClr val="bg1"/>
          </a:solid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VK05 (Gr B) SOP</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w/o DTU</a:t>
            </a:r>
          </a:p>
        </p:txBody>
      </p:sp>
      <p:cxnSp>
        <p:nvCxnSpPr>
          <p:cNvPr id="24" name="Straight Connector 23">
            <a:extLst>
              <a:ext uri="{FF2B5EF4-FFF2-40B4-BE49-F238E27FC236}">
                <a16:creationId xmlns:a16="http://schemas.microsoft.com/office/drawing/2014/main" id="{C0C953D1-F078-9534-6098-4B7A36CBECB4}"/>
              </a:ext>
            </a:extLst>
          </p:cNvPr>
          <p:cNvCxnSpPr>
            <a:cxnSpLocks/>
          </p:cNvCxnSpPr>
          <p:nvPr/>
        </p:nvCxnSpPr>
        <p:spPr>
          <a:xfrm>
            <a:off x="3369412" y="1189056"/>
            <a:ext cx="0" cy="2045134"/>
          </a:xfrm>
          <a:prstGeom prst="line">
            <a:avLst/>
          </a:prstGeom>
          <a:ln w="9525">
            <a:solidFill>
              <a:srgbClr val="848E9A"/>
            </a:solidFill>
            <a:prstDash val="sysDash"/>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9E0EEB8B-A655-1E9B-26A9-E90B33F835D4}"/>
              </a:ext>
            </a:extLst>
          </p:cNvPr>
          <p:cNvSpPr txBox="1"/>
          <p:nvPr/>
        </p:nvSpPr>
        <p:spPr>
          <a:xfrm>
            <a:off x="5554224" y="2400116"/>
            <a:ext cx="789418" cy="834074"/>
          </a:xfrm>
          <a:prstGeom prst="rect">
            <a:avLst/>
          </a:prstGeom>
          <a:solidFill>
            <a:schemeClr val="bg1"/>
          </a:solid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VK05 (Gr D) SOP</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w/o DTU</a:t>
            </a:r>
          </a:p>
        </p:txBody>
      </p:sp>
      <p:sp>
        <p:nvSpPr>
          <p:cNvPr id="26" name="TextBox 25">
            <a:extLst>
              <a:ext uri="{FF2B5EF4-FFF2-40B4-BE49-F238E27FC236}">
                <a16:creationId xmlns:a16="http://schemas.microsoft.com/office/drawing/2014/main" id="{6C5C8947-5ECF-E09D-85FB-3C3284BDB29F}"/>
              </a:ext>
            </a:extLst>
          </p:cNvPr>
          <p:cNvSpPr txBox="1"/>
          <p:nvPr/>
        </p:nvSpPr>
        <p:spPr>
          <a:xfrm>
            <a:off x="11022201" y="2400116"/>
            <a:ext cx="938152" cy="911019"/>
          </a:xfrm>
          <a:prstGeom prst="rect">
            <a:avLst/>
          </a:prstGeom>
          <a:solidFill>
            <a:schemeClr val="bg1"/>
          </a:solid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VK05 </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(Gr H) SOP</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with DTU</a:t>
            </a:r>
          </a:p>
        </p:txBody>
      </p:sp>
      <p:sp>
        <p:nvSpPr>
          <p:cNvPr id="27" name="TextBox 26">
            <a:extLst>
              <a:ext uri="{FF2B5EF4-FFF2-40B4-BE49-F238E27FC236}">
                <a16:creationId xmlns:a16="http://schemas.microsoft.com/office/drawing/2014/main" id="{D2FFC96D-EAA9-0E7D-20D0-520F080266D4}"/>
              </a:ext>
            </a:extLst>
          </p:cNvPr>
          <p:cNvSpPr txBox="1"/>
          <p:nvPr/>
        </p:nvSpPr>
        <p:spPr>
          <a:xfrm>
            <a:off x="9624392" y="2400116"/>
            <a:ext cx="789418" cy="834074"/>
          </a:xfrm>
          <a:prstGeom prst="rect">
            <a:avLst/>
          </a:prstGeom>
          <a:solidFill>
            <a:schemeClr val="bg1"/>
          </a:solid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VK11 SOP</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with DTU</a:t>
            </a:r>
          </a:p>
        </p:txBody>
      </p:sp>
      <p:cxnSp>
        <p:nvCxnSpPr>
          <p:cNvPr id="28" name="Straight Connector 27">
            <a:extLst>
              <a:ext uri="{FF2B5EF4-FFF2-40B4-BE49-F238E27FC236}">
                <a16:creationId xmlns:a16="http://schemas.microsoft.com/office/drawing/2014/main" id="{02B3B38B-D7ED-5B9C-064F-1359D3DB9F5A}"/>
              </a:ext>
            </a:extLst>
          </p:cNvPr>
          <p:cNvCxnSpPr>
            <a:cxnSpLocks/>
          </p:cNvCxnSpPr>
          <p:nvPr/>
        </p:nvCxnSpPr>
        <p:spPr>
          <a:xfrm>
            <a:off x="11019129" y="1189056"/>
            <a:ext cx="3072" cy="2122079"/>
          </a:xfrm>
          <a:prstGeom prst="line">
            <a:avLst/>
          </a:prstGeom>
          <a:ln w="9525">
            <a:solidFill>
              <a:srgbClr val="848E9A"/>
            </a:solidFill>
            <a:prstDash val="sysDash"/>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BB9EFC99-43B4-2CEF-888C-B6323245B6D5}"/>
              </a:ext>
            </a:extLst>
          </p:cNvPr>
          <p:cNvCxnSpPr>
            <a:cxnSpLocks/>
          </p:cNvCxnSpPr>
          <p:nvPr/>
        </p:nvCxnSpPr>
        <p:spPr>
          <a:xfrm>
            <a:off x="3364264" y="1225171"/>
            <a:ext cx="7654865" cy="0"/>
          </a:xfrm>
          <a:prstGeom prst="straightConnector1">
            <a:avLst/>
          </a:prstGeom>
          <a:ln w="19050">
            <a:solidFill>
              <a:srgbClr val="304352"/>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25A11819-B9F6-5EE7-593C-2699878F46DA}"/>
              </a:ext>
            </a:extLst>
          </p:cNvPr>
          <p:cNvSpPr txBox="1"/>
          <p:nvPr/>
        </p:nvSpPr>
        <p:spPr>
          <a:xfrm>
            <a:off x="4943872" y="1095905"/>
            <a:ext cx="4536501" cy="258532"/>
          </a:xfrm>
          <a:prstGeom prst="rect">
            <a:avLst/>
          </a:prstGeom>
          <a:solidFill>
            <a:schemeClr val="bg1"/>
          </a:solidFill>
          <a:ln>
            <a:solidFill>
              <a:srgbClr val="344251"/>
            </a:solidFill>
          </a:ln>
        </p:spPr>
        <p:txBody>
          <a:bodyPr wrap="square" rtlCol="0">
            <a:spAutoFit/>
          </a:bodyPr>
          <a:lstStyle/>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1200" b="1" i="0" u="none" strike="noStrike" kern="1200" cap="none" spc="0" normalizeH="0" baseline="0" noProof="0" dirty="0">
                <a:ln>
                  <a:noFill/>
                </a:ln>
                <a:solidFill>
                  <a:srgbClr val="344251"/>
                </a:solidFill>
                <a:effectLst/>
                <a:uLnTx/>
                <a:uFillTx/>
                <a:latin typeface="Arial"/>
                <a:ea typeface="メイリオ"/>
                <a:cs typeface="+mn-cs"/>
              </a:rPr>
              <a:t>Undetermined if we can retrofit DTU to VK05 Gr A/B &amp; D?</a:t>
            </a:r>
          </a:p>
        </p:txBody>
      </p:sp>
      <p:cxnSp>
        <p:nvCxnSpPr>
          <p:cNvPr id="31" name="Straight Connector 30">
            <a:extLst>
              <a:ext uri="{FF2B5EF4-FFF2-40B4-BE49-F238E27FC236}">
                <a16:creationId xmlns:a16="http://schemas.microsoft.com/office/drawing/2014/main" id="{785AFB6B-482D-14E6-14A8-B80709B2DC5E}"/>
              </a:ext>
            </a:extLst>
          </p:cNvPr>
          <p:cNvCxnSpPr>
            <a:cxnSpLocks/>
          </p:cNvCxnSpPr>
          <p:nvPr/>
        </p:nvCxnSpPr>
        <p:spPr>
          <a:xfrm>
            <a:off x="5554224" y="1369292"/>
            <a:ext cx="0" cy="1864898"/>
          </a:xfrm>
          <a:prstGeom prst="line">
            <a:avLst/>
          </a:prstGeom>
          <a:ln w="9525">
            <a:solidFill>
              <a:srgbClr val="848E9A"/>
            </a:solidFill>
            <a:prstDash val="sysDash"/>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83563FC-CAB9-6F1F-35CE-4F8157F10F91}"/>
              </a:ext>
            </a:extLst>
          </p:cNvPr>
          <p:cNvSpPr txBox="1"/>
          <p:nvPr/>
        </p:nvSpPr>
        <p:spPr>
          <a:xfrm>
            <a:off x="6635735" y="2400116"/>
            <a:ext cx="789418" cy="834074"/>
          </a:xfrm>
          <a:prstGeom prst="rect">
            <a:avLst/>
          </a:prstGeom>
          <a:solidFill>
            <a:schemeClr val="bg1"/>
          </a:solid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VR05 SOP</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with DTU</a:t>
            </a:r>
          </a:p>
        </p:txBody>
      </p:sp>
      <p:cxnSp>
        <p:nvCxnSpPr>
          <p:cNvPr id="33" name="Straight Connector 32">
            <a:extLst>
              <a:ext uri="{FF2B5EF4-FFF2-40B4-BE49-F238E27FC236}">
                <a16:creationId xmlns:a16="http://schemas.microsoft.com/office/drawing/2014/main" id="{55EF6B50-02FD-5B3A-0D01-46A98FB85042}"/>
              </a:ext>
            </a:extLst>
          </p:cNvPr>
          <p:cNvCxnSpPr>
            <a:cxnSpLocks/>
          </p:cNvCxnSpPr>
          <p:nvPr/>
        </p:nvCxnSpPr>
        <p:spPr>
          <a:xfrm>
            <a:off x="6635735" y="1389110"/>
            <a:ext cx="0" cy="1845080"/>
          </a:xfrm>
          <a:prstGeom prst="line">
            <a:avLst/>
          </a:prstGeom>
          <a:ln w="9525">
            <a:solidFill>
              <a:srgbClr val="848E9A"/>
            </a:solidFill>
            <a:prstDash val="sysDash"/>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960A698-5B37-067F-1CAA-A9D0C92AE7AE}"/>
              </a:ext>
            </a:extLst>
          </p:cNvPr>
          <p:cNvCxnSpPr>
            <a:cxnSpLocks/>
          </p:cNvCxnSpPr>
          <p:nvPr/>
        </p:nvCxnSpPr>
        <p:spPr>
          <a:xfrm>
            <a:off x="9624392" y="1389110"/>
            <a:ext cx="0" cy="1845080"/>
          </a:xfrm>
          <a:prstGeom prst="line">
            <a:avLst/>
          </a:prstGeom>
          <a:ln w="9525">
            <a:solidFill>
              <a:srgbClr val="848E9A"/>
            </a:solidFill>
            <a:prstDash val="sysDash"/>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06680846-F72A-99EF-549B-0E8BA3F94628}"/>
              </a:ext>
            </a:extLst>
          </p:cNvPr>
          <p:cNvSpPr txBox="1"/>
          <p:nvPr/>
        </p:nvSpPr>
        <p:spPr>
          <a:xfrm>
            <a:off x="4454500" y="2389705"/>
            <a:ext cx="789418" cy="834074"/>
          </a:xfrm>
          <a:prstGeom prst="rect">
            <a:avLst/>
          </a:prstGeom>
          <a:solidFill>
            <a:schemeClr val="bg1"/>
          </a:solidFill>
          <a:ln>
            <a:solidFill>
              <a:srgbClr val="848E9A"/>
            </a:solidFill>
            <a:prstDash val="sysDash"/>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VK05 (Gr A) SOP</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344251"/>
                </a:solidFill>
                <a:effectLst/>
                <a:uLnTx/>
                <a:uFillTx/>
                <a:latin typeface="Arial"/>
                <a:ea typeface="メイリオ"/>
                <a:cs typeface="+mn-cs"/>
              </a:rPr>
              <a:t>w/o DTU</a:t>
            </a:r>
          </a:p>
        </p:txBody>
      </p:sp>
      <p:cxnSp>
        <p:nvCxnSpPr>
          <p:cNvPr id="37" name="Straight Connector 36">
            <a:extLst>
              <a:ext uri="{FF2B5EF4-FFF2-40B4-BE49-F238E27FC236}">
                <a16:creationId xmlns:a16="http://schemas.microsoft.com/office/drawing/2014/main" id="{839DB54A-7588-5C43-B854-9F772E634194}"/>
              </a:ext>
            </a:extLst>
          </p:cNvPr>
          <p:cNvCxnSpPr>
            <a:cxnSpLocks/>
          </p:cNvCxnSpPr>
          <p:nvPr/>
        </p:nvCxnSpPr>
        <p:spPr>
          <a:xfrm>
            <a:off x="4454500" y="1189056"/>
            <a:ext cx="0" cy="2045134"/>
          </a:xfrm>
          <a:prstGeom prst="line">
            <a:avLst/>
          </a:prstGeom>
          <a:ln w="9525">
            <a:solidFill>
              <a:srgbClr val="848E9A"/>
            </a:solidFill>
            <a:prstDash val="sysDash"/>
          </a:ln>
        </p:spPr>
        <p:style>
          <a:lnRef idx="2">
            <a:schemeClr val="accent1"/>
          </a:lnRef>
          <a:fillRef idx="0">
            <a:schemeClr val="accent1"/>
          </a:fillRef>
          <a:effectRef idx="1">
            <a:schemeClr val="accent1"/>
          </a:effectRef>
          <a:fontRef idx="minor">
            <a:schemeClr val="tx1"/>
          </a:fontRef>
        </p:style>
      </p:cxnSp>
      <p:graphicFrame>
        <p:nvGraphicFramePr>
          <p:cNvPr id="38" name="Diagram 37">
            <a:extLst>
              <a:ext uri="{FF2B5EF4-FFF2-40B4-BE49-F238E27FC236}">
                <a16:creationId xmlns:a16="http://schemas.microsoft.com/office/drawing/2014/main" id="{AB033539-7B63-E4A7-4A17-47F3AEC1BAA2}"/>
              </a:ext>
            </a:extLst>
          </p:cNvPr>
          <p:cNvGraphicFramePr/>
          <p:nvPr/>
        </p:nvGraphicFramePr>
        <p:xfrm>
          <a:off x="-291137" y="2166911"/>
          <a:ext cx="3954405" cy="213455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39" name="Diagram 38">
            <a:extLst>
              <a:ext uri="{FF2B5EF4-FFF2-40B4-BE49-F238E27FC236}">
                <a16:creationId xmlns:a16="http://schemas.microsoft.com/office/drawing/2014/main" id="{136280E7-E422-4AEA-571F-4C961EEC68ED}"/>
              </a:ext>
            </a:extLst>
          </p:cNvPr>
          <p:cNvGraphicFramePr/>
          <p:nvPr/>
        </p:nvGraphicFramePr>
        <p:xfrm>
          <a:off x="-291137" y="4421429"/>
          <a:ext cx="3954405" cy="213455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45" name="Right Bracket 44">
            <a:extLst>
              <a:ext uri="{FF2B5EF4-FFF2-40B4-BE49-F238E27FC236}">
                <a16:creationId xmlns:a16="http://schemas.microsoft.com/office/drawing/2014/main" id="{448AA58C-5D9A-D3D1-BE05-CF8EC3F0B611}"/>
              </a:ext>
            </a:extLst>
          </p:cNvPr>
          <p:cNvSpPr/>
          <p:nvPr/>
        </p:nvSpPr>
        <p:spPr>
          <a:xfrm>
            <a:off x="2686639" y="3987538"/>
            <a:ext cx="509048" cy="2281287"/>
          </a:xfrm>
          <a:prstGeom prst="rightBracket">
            <a:avLst/>
          </a:prstGeom>
          <a:ln w="19050">
            <a:solidFill>
              <a:srgbClr val="002664"/>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メイリオ"/>
              <a:cs typeface="+mn-cs"/>
            </a:endParaRPr>
          </a:p>
        </p:txBody>
      </p:sp>
      <p:sp>
        <p:nvSpPr>
          <p:cNvPr id="46" name="TextBox 45">
            <a:extLst>
              <a:ext uri="{FF2B5EF4-FFF2-40B4-BE49-F238E27FC236}">
                <a16:creationId xmlns:a16="http://schemas.microsoft.com/office/drawing/2014/main" id="{9DDA60F1-6757-0669-DFCF-48FC4CE79D50}"/>
              </a:ext>
            </a:extLst>
          </p:cNvPr>
          <p:cNvSpPr txBox="1"/>
          <p:nvPr/>
        </p:nvSpPr>
        <p:spPr>
          <a:xfrm rot="16200000">
            <a:off x="2235466" y="4867017"/>
            <a:ext cx="1960775" cy="549381"/>
          </a:xfrm>
          <a:prstGeom prst="rect">
            <a:avLst/>
          </a:prstGeom>
          <a:solidFill>
            <a:schemeClr val="bg1"/>
          </a:solidFill>
          <a:ln w="25400">
            <a:solidFill>
              <a:srgbClr val="002664"/>
            </a:solidFill>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1100" b="0" i="0" u="none" strike="noStrike" kern="1200" cap="none" spc="0" normalizeH="0" baseline="0" noProof="0" dirty="0">
                <a:ln>
                  <a:noFill/>
                </a:ln>
                <a:solidFill>
                  <a:srgbClr val="344251"/>
                </a:solidFill>
                <a:effectLst/>
                <a:uLnTx/>
                <a:uFillTx/>
                <a:latin typeface="Arial"/>
                <a:ea typeface="メイリオ"/>
                <a:cs typeface="+mn-cs"/>
              </a:rPr>
              <a:t>Key Considerations for Customer Satisfaction &amp; Parts Sales Increase</a:t>
            </a:r>
          </a:p>
        </p:txBody>
      </p:sp>
      <p:grpSp>
        <p:nvGrpSpPr>
          <p:cNvPr id="72" name="Group 71">
            <a:extLst>
              <a:ext uri="{FF2B5EF4-FFF2-40B4-BE49-F238E27FC236}">
                <a16:creationId xmlns:a16="http://schemas.microsoft.com/office/drawing/2014/main" id="{8377CD8E-8C65-AFA6-AA97-BE6E4497122E}"/>
              </a:ext>
            </a:extLst>
          </p:cNvPr>
          <p:cNvGrpSpPr/>
          <p:nvPr/>
        </p:nvGrpSpPr>
        <p:grpSpPr>
          <a:xfrm>
            <a:off x="3659884" y="5424471"/>
            <a:ext cx="2567975" cy="1074336"/>
            <a:chOff x="5181993" y="5762096"/>
            <a:chExt cx="2481983" cy="578087"/>
          </a:xfrm>
        </p:grpSpPr>
        <p:grpSp>
          <p:nvGrpSpPr>
            <p:cNvPr id="50" name="Group 49">
              <a:extLst>
                <a:ext uri="{FF2B5EF4-FFF2-40B4-BE49-F238E27FC236}">
                  <a16:creationId xmlns:a16="http://schemas.microsoft.com/office/drawing/2014/main" id="{FAC507A1-38B8-BF45-8462-4DAAC38898F8}"/>
                </a:ext>
              </a:extLst>
            </p:cNvPr>
            <p:cNvGrpSpPr/>
            <p:nvPr/>
          </p:nvGrpSpPr>
          <p:grpSpPr>
            <a:xfrm>
              <a:off x="5181993" y="5762096"/>
              <a:ext cx="2481983" cy="578087"/>
              <a:chOff x="6478388" y="3782042"/>
              <a:chExt cx="2481983" cy="578087"/>
            </a:xfrm>
          </p:grpSpPr>
          <p:pic>
            <p:nvPicPr>
              <p:cNvPr id="48" name="Picture 47" descr="A screenshot of a computer&#10;&#10;AI-generated content may be incorrect.">
                <a:extLst>
                  <a:ext uri="{FF2B5EF4-FFF2-40B4-BE49-F238E27FC236}">
                    <a16:creationId xmlns:a16="http://schemas.microsoft.com/office/drawing/2014/main" id="{40F1BD36-B488-3C53-2909-A71CC254899B}"/>
                  </a:ext>
                </a:extLst>
              </p:cNvPr>
              <p:cNvPicPr>
                <a:picLocks noChangeAspect="1"/>
              </p:cNvPicPr>
              <p:nvPr/>
            </p:nvPicPr>
            <p:blipFill>
              <a:blip r:embed="rId14">
                <a:extLst>
                  <a:ext uri="{28A0092B-C50C-407E-A947-70E740481C1C}">
                    <a14:useLocalDpi xmlns:a14="http://schemas.microsoft.com/office/drawing/2010/main" val="0"/>
                  </a:ext>
                </a:extLst>
              </a:blip>
              <a:srcRect l="1960" t="42291" r="49783"/>
              <a:stretch>
                <a:fillRect/>
              </a:stretch>
            </p:blipFill>
            <p:spPr>
              <a:xfrm>
                <a:off x="6615880" y="3807997"/>
                <a:ext cx="2216166" cy="511889"/>
              </a:xfrm>
              <a:prstGeom prst="rect">
                <a:avLst/>
              </a:prstGeom>
            </p:spPr>
          </p:pic>
          <p:sp>
            <p:nvSpPr>
              <p:cNvPr id="49" name="Rectangular Callout 48">
                <a:extLst>
                  <a:ext uri="{FF2B5EF4-FFF2-40B4-BE49-F238E27FC236}">
                    <a16:creationId xmlns:a16="http://schemas.microsoft.com/office/drawing/2014/main" id="{82B05B04-9493-0D61-5A6D-99FDD5033899}"/>
                  </a:ext>
                </a:extLst>
              </p:cNvPr>
              <p:cNvSpPr/>
              <p:nvPr/>
            </p:nvSpPr>
            <p:spPr>
              <a:xfrm>
                <a:off x="6478388" y="3782042"/>
                <a:ext cx="2481983" cy="578087"/>
              </a:xfrm>
              <a:prstGeom prst="wedgeRectCallout">
                <a:avLst>
                  <a:gd name="adj1" fmla="val -36043"/>
                  <a:gd name="adj2" fmla="val -107312"/>
                </a:avLst>
              </a:prstGeom>
              <a:noFill/>
              <a:ln w="19050">
                <a:solidFill>
                  <a:srgbClr val="3442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600"/>
                  </a:spcBef>
                  <a:spcAft>
                    <a:spcPts val="0"/>
                  </a:spcAft>
                  <a:buClrTx/>
                  <a:buSzTx/>
                  <a:buFontTx/>
                  <a:buNone/>
                  <a:tabLst/>
                  <a:defRPr/>
                </a:pPr>
                <a:endParaRPr kumimoji="0" lang="en-US" sz="2000" b="0" i="0" u="none" strike="noStrike" kern="1200" cap="none" spc="0" normalizeH="0" baseline="0" noProof="0" dirty="0" err="1">
                  <a:ln>
                    <a:noFill/>
                  </a:ln>
                  <a:solidFill>
                    <a:srgbClr val="000000"/>
                  </a:solidFill>
                  <a:effectLst/>
                  <a:uLnTx/>
                  <a:uFillTx/>
                  <a:latin typeface="Arial"/>
                  <a:ea typeface="メイリオ"/>
                  <a:cs typeface="+mn-cs"/>
                </a:endParaRPr>
              </a:p>
            </p:txBody>
          </p:sp>
        </p:grpSp>
        <p:sp>
          <p:nvSpPr>
            <p:cNvPr id="51" name="Rounded Rectangle 50">
              <a:extLst>
                <a:ext uri="{FF2B5EF4-FFF2-40B4-BE49-F238E27FC236}">
                  <a16:creationId xmlns:a16="http://schemas.microsoft.com/office/drawing/2014/main" id="{BCCC26FE-1D3B-D173-E39B-4D6D71A635FF}"/>
                </a:ext>
              </a:extLst>
            </p:cNvPr>
            <p:cNvSpPr/>
            <p:nvPr/>
          </p:nvSpPr>
          <p:spPr>
            <a:xfrm>
              <a:off x="5319485" y="5788052"/>
              <a:ext cx="2203185" cy="242634"/>
            </a:xfrm>
            <a:prstGeom prst="roundRect">
              <a:avLst/>
            </a:prstGeom>
            <a:noFill/>
            <a:ln w="190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600"/>
                </a:spcBef>
                <a:spcAft>
                  <a:spcPts val="0"/>
                </a:spcAft>
                <a:buClrTx/>
                <a:buSzTx/>
                <a:buFontTx/>
                <a:buNone/>
                <a:tabLst/>
                <a:defRPr/>
              </a:pPr>
              <a:endParaRPr kumimoji="0" lang="en-US" sz="2000" b="0" i="0" u="none" strike="noStrike" kern="1200" cap="none" spc="0" normalizeH="0" baseline="0" noProof="0" dirty="0" err="1">
                <a:ln>
                  <a:noFill/>
                </a:ln>
                <a:solidFill>
                  <a:srgbClr val="000000"/>
                </a:solidFill>
                <a:effectLst/>
                <a:uLnTx/>
                <a:uFillTx/>
                <a:latin typeface="Arial"/>
                <a:ea typeface="メイリオ"/>
                <a:cs typeface="+mn-cs"/>
              </a:endParaRPr>
            </a:p>
          </p:txBody>
        </p:sp>
      </p:grpSp>
      <p:grpSp>
        <p:nvGrpSpPr>
          <p:cNvPr id="57" name="Group 56">
            <a:extLst>
              <a:ext uri="{FF2B5EF4-FFF2-40B4-BE49-F238E27FC236}">
                <a16:creationId xmlns:a16="http://schemas.microsoft.com/office/drawing/2014/main" id="{951403CE-E68F-96A4-4BD7-C14DACCC6332}"/>
              </a:ext>
            </a:extLst>
          </p:cNvPr>
          <p:cNvGrpSpPr/>
          <p:nvPr/>
        </p:nvGrpSpPr>
        <p:grpSpPr>
          <a:xfrm>
            <a:off x="3252686" y="3191487"/>
            <a:ext cx="1705479" cy="1733972"/>
            <a:chOff x="3275071" y="3467395"/>
            <a:chExt cx="1395968" cy="1395968"/>
          </a:xfrm>
        </p:grpSpPr>
        <p:pic>
          <p:nvPicPr>
            <p:cNvPr id="55" name="Graphic 54" descr="Closed book with solid fill">
              <a:extLst>
                <a:ext uri="{FF2B5EF4-FFF2-40B4-BE49-F238E27FC236}">
                  <a16:creationId xmlns:a16="http://schemas.microsoft.com/office/drawing/2014/main" id="{97C6B141-BEA6-083C-738A-D626CF041351}"/>
                </a:ext>
              </a:extLst>
            </p:cNvPr>
            <p:cNvPicPr>
              <a:picLocks noChangeAspect="1"/>
            </p:cNvPicPr>
            <p:nvPr/>
          </p:nvPicPr>
          <p:blipFill>
            <a:blip>
              <a:duotone>
                <a:schemeClr val="bg2">
                  <a:shade val="45000"/>
                  <a:satMod val="135000"/>
                </a:schemeClr>
                <a:prstClr val="white"/>
              </a:duotone>
              <a:extLst>
                <a:ext uri="{96DAC541-7B7A-43D3-8B79-37D633B846F1}">
                  <asvg:svgBlip xmlns:asvg="http://schemas.microsoft.com/office/drawing/2016/SVG/main" r:embed="rId15"/>
                </a:ext>
              </a:extLst>
            </a:blip>
            <a:stretch>
              <a:fillRect/>
            </a:stretch>
          </p:blipFill>
          <p:spPr>
            <a:xfrm>
              <a:off x="3275071" y="3467395"/>
              <a:ext cx="1395968" cy="1395968"/>
            </a:xfrm>
            <a:prstGeom prst="rect">
              <a:avLst/>
            </a:prstGeom>
          </p:spPr>
        </p:pic>
        <p:sp>
          <p:nvSpPr>
            <p:cNvPr id="56" name="TextBox 55">
              <a:extLst>
                <a:ext uri="{FF2B5EF4-FFF2-40B4-BE49-F238E27FC236}">
                  <a16:creationId xmlns:a16="http://schemas.microsoft.com/office/drawing/2014/main" id="{920BE9F1-678A-EB59-3FAA-8DC61E331FA0}"/>
                </a:ext>
              </a:extLst>
            </p:cNvPr>
            <p:cNvSpPr txBox="1"/>
            <p:nvPr/>
          </p:nvSpPr>
          <p:spPr>
            <a:xfrm>
              <a:off x="3771900" y="3869134"/>
              <a:ext cx="549382" cy="363176"/>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Arial"/>
                  <a:ea typeface="メイリオ"/>
                  <a:cs typeface="+mn-cs"/>
                </a:rPr>
                <a:t>Owners </a:t>
              </a:r>
            </a:p>
            <a:p>
              <a:pPr marL="0" marR="0" lvl="0" indent="0" algn="ctr" defTabSz="914400" rtl="0" eaLnBrk="1" fontAlgn="auto" latinLnBrk="0" hangingPunct="1">
                <a:lnSpc>
                  <a:spcPct val="90000"/>
                </a:lnSpc>
                <a:spcBef>
                  <a:spcPts val="60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Arial"/>
                  <a:ea typeface="メイリオ"/>
                  <a:cs typeface="+mn-cs"/>
                </a:rPr>
                <a:t>Manual</a:t>
              </a:r>
            </a:p>
          </p:txBody>
        </p:sp>
      </p:grpSp>
      <p:sp>
        <p:nvSpPr>
          <p:cNvPr id="73" name="Text Placeholder 1">
            <a:extLst>
              <a:ext uri="{FF2B5EF4-FFF2-40B4-BE49-F238E27FC236}">
                <a16:creationId xmlns:a16="http://schemas.microsoft.com/office/drawing/2014/main" id="{2350E843-4CFC-8214-4F57-61400D0C8DBA}"/>
              </a:ext>
            </a:extLst>
          </p:cNvPr>
          <p:cNvSpPr>
            <a:spLocks noGrp="1"/>
          </p:cNvSpPr>
          <p:nvPr>
            <p:ph type="body" sz="quarter" idx="13"/>
          </p:nvPr>
        </p:nvSpPr>
        <p:spPr>
          <a:xfrm>
            <a:off x="6321801" y="3474826"/>
            <a:ext cx="5811578" cy="3319166"/>
          </a:xfrm>
          <a:ln>
            <a:solidFill>
              <a:srgbClr val="67717C"/>
            </a:solidFill>
          </a:ln>
        </p:spPr>
        <p:txBody>
          <a:bodyPr/>
          <a:lstStyle/>
          <a:p>
            <a:pPr marL="237600" lvl="1" indent="0">
              <a:buNone/>
            </a:pPr>
            <a:r>
              <a:rPr lang="en-US" sz="1400" b="1" dirty="0">
                <a:solidFill>
                  <a:srgbClr val="344251"/>
                </a:solidFill>
              </a:rPr>
              <a:t>Original Connected Strategy using IPC Odometer Information</a:t>
            </a:r>
          </a:p>
          <a:p>
            <a:pPr marL="237600" lvl="1" indent="0">
              <a:buNone/>
            </a:pPr>
            <a:endParaRPr lang="en-US" sz="800" b="1" dirty="0">
              <a:solidFill>
                <a:srgbClr val="344251"/>
              </a:solidFill>
            </a:endParaRPr>
          </a:p>
          <a:p>
            <a:pPr lvl="1">
              <a:buFont typeface="Arial" panose="020B0604020202020204" pitchFamily="34" charset="0"/>
              <a:buChar char="•"/>
            </a:pPr>
            <a:r>
              <a:rPr lang="en-US" sz="1200" dirty="0">
                <a:solidFill>
                  <a:srgbClr val="344251"/>
                </a:solidFill>
              </a:rPr>
              <a:t>ITUK plan to utilize live IPC odometer data via Dealers to pro-actively contact P700 Customers for PMS and other maintenance activity.</a:t>
            </a:r>
          </a:p>
          <a:p>
            <a:pPr lvl="1">
              <a:buFont typeface="Arial" panose="020B0604020202020204" pitchFamily="34" charset="0"/>
              <a:buChar char="•"/>
            </a:pPr>
            <a:r>
              <a:rPr lang="en-US" sz="1200" dirty="0">
                <a:solidFill>
                  <a:srgbClr val="344251"/>
                </a:solidFill>
              </a:rPr>
              <a:t>All maintenance planning is driven via service interval mileage - current 700P model cannot send odometer reading to ITUK or Dealer.</a:t>
            </a:r>
          </a:p>
          <a:p>
            <a:pPr lvl="1">
              <a:buFont typeface="Arial" panose="020B0604020202020204" pitchFamily="34" charset="0"/>
              <a:buChar char="•"/>
            </a:pPr>
            <a:r>
              <a:rPr lang="en-US" sz="1200" dirty="0">
                <a:solidFill>
                  <a:srgbClr val="344251"/>
                </a:solidFill>
              </a:rPr>
              <a:t>P700 model using DTU can transmit </a:t>
            </a:r>
            <a:r>
              <a:rPr lang="en-US" sz="1200" b="1" dirty="0">
                <a:solidFill>
                  <a:srgbClr val="344251"/>
                </a:solidFill>
              </a:rPr>
              <a:t>only MMU Odometer </a:t>
            </a:r>
            <a:r>
              <a:rPr lang="en-US" sz="1200" dirty="0">
                <a:solidFill>
                  <a:srgbClr val="344251"/>
                </a:solidFill>
              </a:rPr>
              <a:t>reading to ITUK and Dealer which does not align with IPC odometer and will confuse Customer.</a:t>
            </a:r>
          </a:p>
          <a:p>
            <a:pPr lvl="1">
              <a:buFont typeface="Arial" panose="020B0604020202020204" pitchFamily="34" charset="0"/>
              <a:buChar char="•"/>
            </a:pPr>
            <a:r>
              <a:rPr lang="en-US" sz="1200" dirty="0">
                <a:solidFill>
                  <a:srgbClr val="344251"/>
                </a:solidFill>
              </a:rPr>
              <a:t>UK Customer operating vehicles above 3.5t prefers odometer reading from digital tachograph which also cannot be transmitted.</a:t>
            </a:r>
          </a:p>
          <a:p>
            <a:pPr lvl="1">
              <a:buFont typeface="Arial" panose="020B0604020202020204" pitchFamily="34" charset="0"/>
              <a:buChar char="•"/>
            </a:pPr>
            <a:r>
              <a:rPr lang="en-US" sz="1200" dirty="0">
                <a:solidFill>
                  <a:srgbClr val="344251"/>
                </a:solidFill>
              </a:rPr>
              <a:t>ITUK has requested IPC odometer transmitted via DTU, unfortunately IML cannot achieve this.</a:t>
            </a:r>
          </a:p>
          <a:p>
            <a:pPr lvl="1">
              <a:buFont typeface="Arial" panose="020B0604020202020204" pitchFamily="34" charset="0"/>
              <a:buChar char="•"/>
            </a:pPr>
            <a:r>
              <a:rPr lang="en-US" sz="1200" dirty="0">
                <a:solidFill>
                  <a:srgbClr val="344251"/>
                </a:solidFill>
              </a:rPr>
              <a:t>As a result, ITUK cannot use connected system for parts expansion or PMS activity due to inaccurate odometer data.</a:t>
            </a:r>
          </a:p>
          <a:p>
            <a:pPr lvl="1">
              <a:buFont typeface="Arial" panose="020B0604020202020204" pitchFamily="34" charset="0"/>
              <a:buChar char="•"/>
            </a:pPr>
            <a:r>
              <a:rPr lang="en-US" sz="1200" dirty="0">
                <a:solidFill>
                  <a:srgbClr val="344251"/>
                </a:solidFill>
              </a:rPr>
              <a:t>ITUK connected strategy can </a:t>
            </a:r>
            <a:r>
              <a:rPr lang="en-US" sz="1200" b="1" dirty="0">
                <a:solidFill>
                  <a:srgbClr val="344251"/>
                </a:solidFill>
              </a:rPr>
              <a:t>only include Uptime Support, not maintenance planning.</a:t>
            </a:r>
            <a:endParaRPr lang="en-US" sz="1200" dirty="0">
              <a:solidFill>
                <a:srgbClr val="344251"/>
              </a:solidFill>
            </a:endParaRPr>
          </a:p>
        </p:txBody>
      </p:sp>
      <p:sp>
        <p:nvSpPr>
          <p:cNvPr id="2" name="TextBox 1">
            <a:extLst>
              <a:ext uri="{FF2B5EF4-FFF2-40B4-BE49-F238E27FC236}">
                <a16:creationId xmlns:a16="http://schemas.microsoft.com/office/drawing/2014/main" id="{C31DBC0F-B066-901C-3188-BF64483746F4}"/>
              </a:ext>
            </a:extLst>
          </p:cNvPr>
          <p:cNvSpPr txBox="1"/>
          <p:nvPr/>
        </p:nvSpPr>
        <p:spPr>
          <a:xfrm rot="16200000">
            <a:off x="-1868152" y="4108191"/>
            <a:ext cx="4389078" cy="535531"/>
          </a:xfrm>
          <a:prstGeom prst="rect">
            <a:avLst/>
          </a:prstGeom>
          <a:solidFill>
            <a:schemeClr val="bg1"/>
          </a:solidFill>
          <a:ln w="25400">
            <a:solidFill>
              <a:schemeClr val="accent2"/>
            </a:solidFill>
          </a:ln>
        </p:spPr>
        <p:txBody>
          <a:bodyPr wrap="square" rtlCol="0">
            <a:spAutoFit/>
          </a:bodyPr>
          <a:lstStyle/>
          <a:p>
            <a:pPr marL="0" marR="0" lvl="0" indent="0" algn="ctr" defTabSz="914400" rtl="0" eaLnBrk="1" fontAlgn="auto" latinLnBrk="0" hangingPunct="1">
              <a:lnSpc>
                <a:spcPct val="90000"/>
              </a:lnSpc>
              <a:spcBef>
                <a:spcPts val="600"/>
              </a:spcBef>
              <a:spcAft>
                <a:spcPts val="0"/>
              </a:spcAft>
              <a:buClrTx/>
              <a:buSzTx/>
              <a:buFontTx/>
              <a:buNone/>
              <a:tabLst/>
              <a:defRPr/>
            </a:pPr>
            <a:r>
              <a:rPr lang="en-US" sz="1600" b="1" dirty="0">
                <a:solidFill>
                  <a:srgbClr val="344251"/>
                </a:solidFill>
                <a:latin typeface="Arial"/>
                <a:ea typeface="メイリオ"/>
              </a:rPr>
              <a:t>Original Planned Benefits of Connected –  Now Not Possible </a:t>
            </a:r>
            <a:endParaRPr kumimoji="0" lang="en-US" sz="1600" b="1" i="0" u="none" strike="noStrike" kern="1200" cap="none" spc="0" normalizeH="0" baseline="0" noProof="0" dirty="0">
              <a:ln>
                <a:noFill/>
              </a:ln>
              <a:solidFill>
                <a:srgbClr val="344251"/>
              </a:solidFill>
              <a:effectLst/>
              <a:uLnTx/>
              <a:uFillTx/>
              <a:latin typeface="Arial"/>
              <a:ea typeface="メイリオ"/>
              <a:cs typeface="+mn-cs"/>
            </a:endParaRPr>
          </a:p>
        </p:txBody>
      </p:sp>
    </p:spTree>
    <p:extLst>
      <p:ext uri="{BB962C8B-B14F-4D97-AF65-F5344CB8AC3E}">
        <p14:creationId xmlns:p14="http://schemas.microsoft.com/office/powerpoint/2010/main" val="4022644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A8F4B3C1-50F9-7145-FE05-E63405ADCF92}"/>
              </a:ext>
            </a:extLst>
          </p:cNvPr>
          <p:cNvPicPr>
            <a:picLocks noChangeAspect="1"/>
          </p:cNvPicPr>
          <p:nvPr/>
        </p:nvPicPr>
        <p:blipFill>
          <a:blip r:embed="rId3"/>
          <a:srcRect l="12143" t="31111" r="35446" b="20317"/>
          <a:stretch>
            <a:fillRect/>
          </a:stretch>
        </p:blipFill>
        <p:spPr>
          <a:xfrm>
            <a:off x="5709424" y="2797845"/>
            <a:ext cx="6389915" cy="3331029"/>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0494404C-8878-1D19-061B-D9F2F5E6FAE1}"/>
              </a:ext>
            </a:extLst>
          </p:cNvPr>
          <p:cNvPicPr>
            <a:picLocks noChangeAspect="1"/>
          </p:cNvPicPr>
          <p:nvPr/>
        </p:nvPicPr>
        <p:blipFill>
          <a:blip r:embed="rId4"/>
          <a:srcRect l="7679" t="21587" r="35089" b="35079"/>
          <a:stretch>
            <a:fillRect/>
          </a:stretch>
        </p:blipFill>
        <p:spPr>
          <a:xfrm>
            <a:off x="5766507" y="125022"/>
            <a:ext cx="6275748" cy="2672823"/>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0559303B-F4B3-3785-60E7-8271000578F5}"/>
              </a:ext>
            </a:extLst>
          </p:cNvPr>
          <p:cNvPicPr>
            <a:picLocks noChangeAspect="1"/>
          </p:cNvPicPr>
          <p:nvPr/>
        </p:nvPicPr>
        <p:blipFill>
          <a:blip r:embed="rId5"/>
          <a:srcRect l="8839" t="51428" r="34822" b="38413"/>
          <a:stretch>
            <a:fillRect/>
          </a:stretch>
        </p:blipFill>
        <p:spPr>
          <a:xfrm>
            <a:off x="5709424" y="6128874"/>
            <a:ext cx="6332831" cy="642317"/>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8E50B889-2C7A-B556-3AAE-775E2C83D339}"/>
              </a:ext>
            </a:extLst>
          </p:cNvPr>
          <p:cNvPicPr>
            <a:picLocks noChangeAspect="1"/>
          </p:cNvPicPr>
          <p:nvPr/>
        </p:nvPicPr>
        <p:blipFill>
          <a:blip r:embed="rId6"/>
          <a:srcRect l="21518" t="31623" r="43387" b="6824"/>
          <a:stretch>
            <a:fillRect/>
          </a:stretch>
        </p:blipFill>
        <p:spPr>
          <a:xfrm>
            <a:off x="366728" y="1515893"/>
            <a:ext cx="5123057" cy="5255298"/>
          </a:xfrm>
          <a:prstGeom prst="rect">
            <a:avLst/>
          </a:prstGeom>
        </p:spPr>
      </p:pic>
      <p:pic>
        <p:nvPicPr>
          <p:cNvPr id="2050" name="Picture 2" descr="Confederation of British Industry | CBI">
            <a:extLst>
              <a:ext uri="{FF2B5EF4-FFF2-40B4-BE49-F238E27FC236}">
                <a16:creationId xmlns:a16="http://schemas.microsoft.com/office/drawing/2014/main" id="{4B84C6D6-90F6-473A-C869-0CDB860627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0957" y="51733"/>
            <a:ext cx="2514600"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29987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4174986C-E741-D493-8E4A-1196718DED23}"/>
              </a:ext>
            </a:extLst>
          </p:cNvPr>
          <p:cNvPicPr>
            <a:picLocks noChangeAspect="1"/>
          </p:cNvPicPr>
          <p:nvPr/>
        </p:nvPicPr>
        <p:blipFill>
          <a:blip r:embed="rId3"/>
          <a:srcRect l="12478" t="37302" r="37732" b="15238"/>
          <a:stretch>
            <a:fillRect/>
          </a:stretch>
        </p:blipFill>
        <p:spPr>
          <a:xfrm>
            <a:off x="2" y="2122713"/>
            <a:ext cx="5998028" cy="4495802"/>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F0E5C208-C9D9-E3E1-F1DF-261631F38C8E}"/>
              </a:ext>
            </a:extLst>
          </p:cNvPr>
          <p:cNvPicPr>
            <a:picLocks noChangeAspect="1"/>
          </p:cNvPicPr>
          <p:nvPr/>
        </p:nvPicPr>
        <p:blipFill>
          <a:blip r:embed="rId4"/>
          <a:srcRect l="19106" t="33016" r="21786" b="24285"/>
          <a:stretch>
            <a:fillRect/>
          </a:stretch>
        </p:blipFill>
        <p:spPr>
          <a:xfrm>
            <a:off x="6193971" y="2242458"/>
            <a:ext cx="5998028" cy="4495801"/>
          </a:xfrm>
          <a:prstGeom prst="rect">
            <a:avLst/>
          </a:prstGeom>
        </p:spPr>
      </p:pic>
      <p:pic>
        <p:nvPicPr>
          <p:cNvPr id="1026" name="Picture 2" descr="PwC launches new brand positioning and 'So You Can' campaign">
            <a:extLst>
              <a:ext uri="{FF2B5EF4-FFF2-40B4-BE49-F238E27FC236}">
                <a16:creationId xmlns:a16="http://schemas.microsoft.com/office/drawing/2014/main" id="{CA62DC0F-1A89-53D4-2E7F-5EA44D1C52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32914" y="119742"/>
            <a:ext cx="3494315" cy="18832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ritish Chambers of Commerce - Surrey Chambers">
            <a:extLst>
              <a:ext uri="{FF2B5EF4-FFF2-40B4-BE49-F238E27FC236}">
                <a16:creationId xmlns:a16="http://schemas.microsoft.com/office/drawing/2014/main" id="{ED5EC2C4-B60D-2B7D-34C8-C31E3EB037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570" y="119742"/>
            <a:ext cx="3766455" cy="1883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7978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EE957-8800-3B82-8626-394900DCD574}"/>
              </a:ext>
            </a:extLst>
          </p:cNvPr>
          <p:cNvSpPr>
            <a:spLocks noGrp="1"/>
          </p:cNvSpPr>
          <p:nvPr>
            <p:ph type="title"/>
          </p:nvPr>
        </p:nvSpPr>
        <p:spPr/>
        <p:txBody>
          <a:bodyPr/>
          <a:lstStyle/>
          <a:p>
            <a:r>
              <a:rPr lang="en-GB" dirty="0"/>
              <a:t>Construction Industry First Reaction to Budget </a:t>
            </a:r>
          </a:p>
        </p:txBody>
      </p:sp>
      <p:pic>
        <p:nvPicPr>
          <p:cNvPr id="5" name="Picture 4">
            <a:extLst>
              <a:ext uri="{FF2B5EF4-FFF2-40B4-BE49-F238E27FC236}">
                <a16:creationId xmlns:a16="http://schemas.microsoft.com/office/drawing/2014/main" id="{DE3ACF5C-6D6B-BF62-0D70-399365E8A1DE}"/>
              </a:ext>
            </a:extLst>
          </p:cNvPr>
          <p:cNvPicPr>
            <a:picLocks noChangeAspect="1"/>
          </p:cNvPicPr>
          <p:nvPr/>
        </p:nvPicPr>
        <p:blipFill>
          <a:blip r:embed="rId3"/>
          <a:srcRect l="12861" t="14533" r="15555" b="5495"/>
          <a:stretch>
            <a:fillRect/>
          </a:stretch>
        </p:blipFill>
        <p:spPr>
          <a:xfrm>
            <a:off x="483108" y="1016087"/>
            <a:ext cx="3721608" cy="2598594"/>
          </a:xfrm>
          <a:prstGeom prst="rect">
            <a:avLst/>
          </a:prstGeom>
        </p:spPr>
      </p:pic>
      <p:pic>
        <p:nvPicPr>
          <p:cNvPr id="7" name="Picture 6">
            <a:extLst>
              <a:ext uri="{FF2B5EF4-FFF2-40B4-BE49-F238E27FC236}">
                <a16:creationId xmlns:a16="http://schemas.microsoft.com/office/drawing/2014/main" id="{95CC11A0-1041-E137-D05B-80DCA432D173}"/>
              </a:ext>
            </a:extLst>
          </p:cNvPr>
          <p:cNvPicPr>
            <a:picLocks noChangeAspect="1"/>
          </p:cNvPicPr>
          <p:nvPr/>
        </p:nvPicPr>
        <p:blipFill>
          <a:blip r:embed="rId4"/>
          <a:srcRect l="22195" t="14933" r="23639" b="5494"/>
          <a:stretch>
            <a:fillRect/>
          </a:stretch>
        </p:blipFill>
        <p:spPr>
          <a:xfrm>
            <a:off x="4611624" y="1142935"/>
            <a:ext cx="4059936" cy="3727599"/>
          </a:xfrm>
          <a:prstGeom prst="rect">
            <a:avLst/>
          </a:prstGeom>
        </p:spPr>
      </p:pic>
      <p:pic>
        <p:nvPicPr>
          <p:cNvPr id="9" name="Picture 8">
            <a:extLst>
              <a:ext uri="{FF2B5EF4-FFF2-40B4-BE49-F238E27FC236}">
                <a16:creationId xmlns:a16="http://schemas.microsoft.com/office/drawing/2014/main" id="{61EAC103-C17D-2E57-DD7D-47FEC3AFD107}"/>
              </a:ext>
            </a:extLst>
          </p:cNvPr>
          <p:cNvPicPr>
            <a:picLocks noChangeAspect="1"/>
          </p:cNvPicPr>
          <p:nvPr/>
        </p:nvPicPr>
        <p:blipFill>
          <a:blip r:embed="rId5"/>
          <a:srcRect l="27861" t="14667" r="28472" b="11467"/>
          <a:stretch>
            <a:fillRect/>
          </a:stretch>
        </p:blipFill>
        <p:spPr>
          <a:xfrm>
            <a:off x="7687375" y="2366399"/>
            <a:ext cx="3891977" cy="4114800"/>
          </a:xfrm>
          <a:prstGeom prst="rect">
            <a:avLst/>
          </a:prstGeom>
        </p:spPr>
      </p:pic>
      <p:pic>
        <p:nvPicPr>
          <p:cNvPr id="11" name="Picture 10">
            <a:extLst>
              <a:ext uri="{FF2B5EF4-FFF2-40B4-BE49-F238E27FC236}">
                <a16:creationId xmlns:a16="http://schemas.microsoft.com/office/drawing/2014/main" id="{8AC13E81-63AF-D23A-51FF-F638E3CF30BE}"/>
              </a:ext>
            </a:extLst>
          </p:cNvPr>
          <p:cNvPicPr>
            <a:picLocks noChangeAspect="1"/>
          </p:cNvPicPr>
          <p:nvPr/>
        </p:nvPicPr>
        <p:blipFill>
          <a:blip r:embed="rId6"/>
          <a:srcRect l="2861" t="16666" r="21722" b="8400"/>
          <a:stretch>
            <a:fillRect/>
          </a:stretch>
        </p:blipFill>
        <p:spPr>
          <a:xfrm>
            <a:off x="158496" y="3487832"/>
            <a:ext cx="4453128" cy="2765403"/>
          </a:xfrm>
          <a:prstGeom prst="rect">
            <a:avLst/>
          </a:prstGeom>
        </p:spPr>
      </p:pic>
    </p:spTree>
    <p:extLst>
      <p:ext uri="{BB962C8B-B14F-4D97-AF65-F5344CB8AC3E}">
        <p14:creationId xmlns:p14="http://schemas.microsoft.com/office/powerpoint/2010/main" val="22045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BA5710-C1FA-73D7-6F61-AE34AB349770}"/>
              </a:ext>
            </a:extLst>
          </p:cNvPr>
          <p:cNvSpPr>
            <a:spLocks noGrp="1"/>
          </p:cNvSpPr>
          <p:nvPr>
            <p:ph type="title"/>
          </p:nvPr>
        </p:nvSpPr>
        <p:spPr/>
        <p:txBody>
          <a:bodyPr/>
          <a:lstStyle/>
          <a:p>
            <a:r>
              <a:rPr lang="en-GB" dirty="0"/>
              <a:t>Construction Sector Recovery F/C FY26 &amp; FY27</a:t>
            </a:r>
          </a:p>
        </p:txBody>
      </p:sp>
      <p:pic>
        <p:nvPicPr>
          <p:cNvPr id="5" name="Picture 4">
            <a:extLst>
              <a:ext uri="{FF2B5EF4-FFF2-40B4-BE49-F238E27FC236}">
                <a16:creationId xmlns:a16="http://schemas.microsoft.com/office/drawing/2014/main" id="{4C89B392-CBE3-90A1-9C90-C06FA70020F4}"/>
              </a:ext>
            </a:extLst>
          </p:cNvPr>
          <p:cNvPicPr>
            <a:picLocks noChangeAspect="1"/>
          </p:cNvPicPr>
          <p:nvPr/>
        </p:nvPicPr>
        <p:blipFill>
          <a:blip r:embed="rId3"/>
          <a:srcRect l="51083" t="39590" r="28758" b="9574"/>
          <a:stretch>
            <a:fillRect/>
          </a:stretch>
        </p:blipFill>
        <p:spPr>
          <a:xfrm>
            <a:off x="8147111" y="1139514"/>
            <a:ext cx="3914258" cy="5552337"/>
          </a:xfrm>
          <a:prstGeom prst="rect">
            <a:avLst/>
          </a:prstGeom>
        </p:spPr>
      </p:pic>
      <p:pic>
        <p:nvPicPr>
          <p:cNvPr id="7" name="Picture 6">
            <a:extLst>
              <a:ext uri="{FF2B5EF4-FFF2-40B4-BE49-F238E27FC236}">
                <a16:creationId xmlns:a16="http://schemas.microsoft.com/office/drawing/2014/main" id="{493E919C-BB9E-106D-C61B-0BDDB10A018C}"/>
              </a:ext>
            </a:extLst>
          </p:cNvPr>
          <p:cNvPicPr>
            <a:picLocks noChangeAspect="1"/>
          </p:cNvPicPr>
          <p:nvPr/>
        </p:nvPicPr>
        <p:blipFill>
          <a:blip r:embed="rId4"/>
          <a:srcRect l="50880" t="25216" r="28898" b="23248"/>
          <a:stretch>
            <a:fillRect/>
          </a:stretch>
        </p:blipFill>
        <p:spPr>
          <a:xfrm>
            <a:off x="118451" y="1139515"/>
            <a:ext cx="3873192" cy="5552337"/>
          </a:xfrm>
          <a:prstGeom prst="rect">
            <a:avLst/>
          </a:prstGeom>
        </p:spPr>
      </p:pic>
      <p:pic>
        <p:nvPicPr>
          <p:cNvPr id="9" name="Picture 8">
            <a:extLst>
              <a:ext uri="{FF2B5EF4-FFF2-40B4-BE49-F238E27FC236}">
                <a16:creationId xmlns:a16="http://schemas.microsoft.com/office/drawing/2014/main" id="{D65A6F0C-AB36-CF6B-49DB-6899EE6AE918}"/>
              </a:ext>
            </a:extLst>
          </p:cNvPr>
          <p:cNvPicPr>
            <a:picLocks noChangeAspect="1"/>
          </p:cNvPicPr>
          <p:nvPr/>
        </p:nvPicPr>
        <p:blipFill>
          <a:blip r:embed="rId5"/>
          <a:srcRect l="50982" t="29682" r="28482" b="18571"/>
          <a:stretch>
            <a:fillRect/>
          </a:stretch>
        </p:blipFill>
        <p:spPr>
          <a:xfrm>
            <a:off x="4100503" y="1139514"/>
            <a:ext cx="3917294" cy="5552337"/>
          </a:xfrm>
          <a:prstGeom prst="rect">
            <a:avLst/>
          </a:prstGeom>
        </p:spPr>
      </p:pic>
    </p:spTree>
    <p:extLst>
      <p:ext uri="{BB962C8B-B14F-4D97-AF65-F5344CB8AC3E}">
        <p14:creationId xmlns:p14="http://schemas.microsoft.com/office/powerpoint/2010/main" val="27945053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9FCFAE-866D-EA29-E098-AF3DC19FD14E}"/>
              </a:ext>
            </a:extLst>
          </p:cNvPr>
          <p:cNvSpPr>
            <a:spLocks noGrp="1"/>
          </p:cNvSpPr>
          <p:nvPr>
            <p:ph type="title"/>
          </p:nvPr>
        </p:nvSpPr>
        <p:spPr/>
        <p:txBody>
          <a:bodyPr/>
          <a:lstStyle/>
          <a:p>
            <a:r>
              <a:rPr lang="en-GB" dirty="0"/>
              <a:t>Institute of Directors </a:t>
            </a:r>
          </a:p>
        </p:txBody>
      </p:sp>
      <p:pic>
        <p:nvPicPr>
          <p:cNvPr id="5" name="Picture 4">
            <a:extLst>
              <a:ext uri="{FF2B5EF4-FFF2-40B4-BE49-F238E27FC236}">
                <a16:creationId xmlns:a16="http://schemas.microsoft.com/office/drawing/2014/main" id="{1C1FEC82-84DC-A0D6-2DA0-EC9BF6DA37DF}"/>
              </a:ext>
            </a:extLst>
          </p:cNvPr>
          <p:cNvPicPr>
            <a:picLocks noChangeAspect="1"/>
          </p:cNvPicPr>
          <p:nvPr/>
        </p:nvPicPr>
        <p:blipFill>
          <a:blip r:embed="rId3"/>
          <a:srcRect t="17517"/>
          <a:stretch>
            <a:fillRect/>
          </a:stretch>
        </p:blipFill>
        <p:spPr>
          <a:xfrm>
            <a:off x="0" y="1349828"/>
            <a:ext cx="12192000" cy="5279571"/>
          </a:xfrm>
          <a:prstGeom prst="rect">
            <a:avLst/>
          </a:prstGeom>
        </p:spPr>
      </p:pic>
    </p:spTree>
    <p:extLst>
      <p:ext uri="{BB962C8B-B14F-4D97-AF65-F5344CB8AC3E}">
        <p14:creationId xmlns:p14="http://schemas.microsoft.com/office/powerpoint/2010/main" val="34970718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B00B0-2F97-33AF-0FE0-76AEB521852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E9B5752-E985-B6A4-468C-05C4BC1293EA}"/>
              </a:ext>
            </a:extLst>
          </p:cNvPr>
          <p:cNvPicPr>
            <a:picLocks noChangeAspect="1"/>
          </p:cNvPicPr>
          <p:nvPr/>
        </p:nvPicPr>
        <p:blipFill>
          <a:blip r:embed="rId3"/>
          <a:stretch>
            <a:fillRect/>
          </a:stretch>
        </p:blipFill>
        <p:spPr>
          <a:xfrm>
            <a:off x="5230441" y="2204174"/>
            <a:ext cx="1728345" cy="2449651"/>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8" name="Picture 7">
            <a:extLst>
              <a:ext uri="{FF2B5EF4-FFF2-40B4-BE49-F238E27FC236}">
                <a16:creationId xmlns:a16="http://schemas.microsoft.com/office/drawing/2014/main" id="{A956BFB3-1EA3-58DA-754A-D44BF60BDA0B}"/>
              </a:ext>
            </a:extLst>
          </p:cNvPr>
          <p:cNvPicPr>
            <a:picLocks noChangeAspect="1"/>
          </p:cNvPicPr>
          <p:nvPr/>
        </p:nvPicPr>
        <p:blipFill>
          <a:blip r:embed="rId4"/>
          <a:stretch>
            <a:fillRect/>
          </a:stretch>
        </p:blipFill>
        <p:spPr>
          <a:xfrm>
            <a:off x="7059028" y="2204174"/>
            <a:ext cx="1724861" cy="244268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9" name="Text Placeholder 2">
            <a:extLst>
              <a:ext uri="{FF2B5EF4-FFF2-40B4-BE49-F238E27FC236}">
                <a16:creationId xmlns:a16="http://schemas.microsoft.com/office/drawing/2014/main" id="{940B2983-4A79-7BF5-D410-29C6BB95C2F4}"/>
              </a:ext>
            </a:extLst>
          </p:cNvPr>
          <p:cNvSpPr>
            <a:spLocks noGrp="1"/>
          </p:cNvSpPr>
          <p:nvPr>
            <p:ph type="body" sz="quarter" idx="13"/>
          </p:nvPr>
        </p:nvSpPr>
        <p:spPr>
          <a:xfrm>
            <a:off x="236705" y="1070515"/>
            <a:ext cx="4908177" cy="5410683"/>
          </a:xfrm>
        </p:spPr>
        <p:txBody>
          <a:bodyPr/>
          <a:lstStyle/>
          <a:p>
            <a:pPr>
              <a:buFont typeface="Wingdings" panose="05000000000000000000" pitchFamily="2" charset="2"/>
              <a:buChar char="§"/>
            </a:pPr>
            <a:r>
              <a:rPr lang="en-GB" dirty="0">
                <a:solidFill>
                  <a:srgbClr val="344251"/>
                </a:solidFill>
              </a:rPr>
              <a:t>Sales Skills – Modules 1-3</a:t>
            </a:r>
          </a:p>
          <a:p>
            <a:pPr lvl="1">
              <a:buFont typeface="Wingdings" panose="05000000000000000000" pitchFamily="2" charset="2"/>
              <a:buChar char="§"/>
            </a:pPr>
            <a:r>
              <a:rPr lang="en-GB" sz="1600" dirty="0">
                <a:solidFill>
                  <a:srgbClr val="344251"/>
                </a:solidFill>
              </a:rPr>
              <a:t>Prospecting</a:t>
            </a:r>
          </a:p>
          <a:p>
            <a:pPr lvl="1">
              <a:buFont typeface="Wingdings" panose="05000000000000000000" pitchFamily="2" charset="2"/>
              <a:buChar char="§"/>
            </a:pPr>
            <a:r>
              <a:rPr lang="en-GB" sz="1600" dirty="0">
                <a:solidFill>
                  <a:srgbClr val="344251"/>
                </a:solidFill>
              </a:rPr>
              <a:t>Building &amp; Maintaining Customer Relationships</a:t>
            </a:r>
          </a:p>
          <a:p>
            <a:pPr lvl="1">
              <a:buFont typeface="Wingdings" panose="05000000000000000000" pitchFamily="2" charset="2"/>
              <a:buChar char="§"/>
            </a:pPr>
            <a:r>
              <a:rPr lang="en-GB" sz="1600" dirty="0">
                <a:solidFill>
                  <a:srgbClr val="344251"/>
                </a:solidFill>
              </a:rPr>
              <a:t>Territory Planning &amp; Efficient Management</a:t>
            </a:r>
          </a:p>
          <a:p>
            <a:pPr lvl="1">
              <a:buFont typeface="Wingdings" panose="05000000000000000000" pitchFamily="2" charset="2"/>
              <a:buChar char="§"/>
            </a:pPr>
            <a:r>
              <a:rPr lang="en-GB" sz="1600" dirty="0">
                <a:solidFill>
                  <a:srgbClr val="344251"/>
                </a:solidFill>
              </a:rPr>
              <a:t>Value / Investment Selling </a:t>
            </a:r>
          </a:p>
          <a:p>
            <a:pPr lvl="1">
              <a:buFont typeface="Wingdings" panose="05000000000000000000" pitchFamily="2" charset="2"/>
              <a:buChar char="§"/>
            </a:pPr>
            <a:r>
              <a:rPr lang="en-GB" sz="1600" dirty="0">
                <a:solidFill>
                  <a:srgbClr val="344251"/>
                </a:solidFill>
              </a:rPr>
              <a:t>Behavioural Profiling</a:t>
            </a:r>
          </a:p>
          <a:p>
            <a:pPr lvl="1">
              <a:buFont typeface="Wingdings" panose="05000000000000000000" pitchFamily="2" charset="2"/>
              <a:buChar char="§"/>
            </a:pPr>
            <a:r>
              <a:rPr lang="en-GB" sz="1600" dirty="0">
                <a:solidFill>
                  <a:srgbClr val="344251"/>
                </a:solidFill>
              </a:rPr>
              <a:t>Closing Skills</a:t>
            </a:r>
          </a:p>
          <a:p>
            <a:pPr>
              <a:buFont typeface="Wingdings" panose="05000000000000000000" pitchFamily="2" charset="2"/>
              <a:buChar char="§"/>
            </a:pPr>
            <a:r>
              <a:rPr lang="en-GB" dirty="0">
                <a:solidFill>
                  <a:srgbClr val="344251"/>
                </a:solidFill>
              </a:rPr>
              <a:t>Regional Training Modules</a:t>
            </a:r>
          </a:p>
          <a:p>
            <a:pPr>
              <a:buFont typeface="Wingdings" panose="05000000000000000000" pitchFamily="2" charset="2"/>
              <a:buChar char="§"/>
            </a:pPr>
            <a:r>
              <a:rPr lang="en-GB" dirty="0">
                <a:solidFill>
                  <a:srgbClr val="344251"/>
                </a:solidFill>
              </a:rPr>
              <a:t>28 Dealer Delegates Attended</a:t>
            </a:r>
          </a:p>
          <a:p>
            <a:pPr>
              <a:buFont typeface="Wingdings" panose="05000000000000000000" pitchFamily="2" charset="2"/>
              <a:buChar char="§"/>
            </a:pPr>
            <a:endParaRPr lang="it-IT" dirty="0">
              <a:solidFill>
                <a:srgbClr val="344251"/>
              </a:solidFill>
            </a:endParaRPr>
          </a:p>
          <a:p>
            <a:pPr>
              <a:buFont typeface="Wingdings" panose="05000000000000000000" pitchFamily="2" charset="2"/>
              <a:buChar char="§"/>
            </a:pPr>
            <a:endParaRPr lang="en-GB" dirty="0">
              <a:solidFill>
                <a:srgbClr val="344251"/>
              </a:solidFill>
            </a:endParaRPr>
          </a:p>
          <a:p>
            <a:pPr>
              <a:buFont typeface="Wingdings" panose="05000000000000000000" pitchFamily="2" charset="2"/>
              <a:buChar char="§"/>
            </a:pPr>
            <a:endParaRPr lang="en-GB" dirty="0">
              <a:solidFill>
                <a:srgbClr val="344251"/>
              </a:solidFill>
            </a:endParaRPr>
          </a:p>
          <a:p>
            <a:pPr>
              <a:buFont typeface="Wingdings" panose="05000000000000000000" pitchFamily="2" charset="2"/>
              <a:buChar char="§"/>
            </a:pPr>
            <a:endParaRPr lang="en-GB" dirty="0">
              <a:solidFill>
                <a:srgbClr val="344251"/>
              </a:solidFill>
            </a:endParaRPr>
          </a:p>
          <a:p>
            <a:pPr>
              <a:buFont typeface="Wingdings" panose="05000000000000000000" pitchFamily="2" charset="2"/>
              <a:buChar char="§"/>
            </a:pPr>
            <a:endParaRPr lang="en-GB" dirty="0">
              <a:solidFill>
                <a:srgbClr val="344251"/>
              </a:solidFill>
            </a:endParaRPr>
          </a:p>
          <a:p>
            <a:pPr>
              <a:buFont typeface="Wingdings" panose="05000000000000000000" pitchFamily="2" charset="2"/>
              <a:buChar char="§"/>
            </a:pPr>
            <a:endParaRPr lang="en-GB" dirty="0">
              <a:solidFill>
                <a:srgbClr val="344251"/>
              </a:solidFill>
            </a:endParaRPr>
          </a:p>
          <a:p>
            <a:pPr marL="226800" lvl="1" indent="0">
              <a:buNone/>
            </a:pPr>
            <a:endParaRPr lang="en-GB" sz="1800" dirty="0">
              <a:solidFill>
                <a:srgbClr val="344251"/>
              </a:solidFill>
            </a:endParaRPr>
          </a:p>
        </p:txBody>
      </p:sp>
      <p:pic>
        <p:nvPicPr>
          <p:cNvPr id="11" name="Picture 10" descr="A group of people holding papers&#10;&#10;AI-generated content may be incorrect.">
            <a:extLst>
              <a:ext uri="{FF2B5EF4-FFF2-40B4-BE49-F238E27FC236}">
                <a16:creationId xmlns:a16="http://schemas.microsoft.com/office/drawing/2014/main" id="{B148A3B2-8AE2-A45F-C90E-4076A2C3C3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36200" y="3929627"/>
            <a:ext cx="3619095" cy="24296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itle 1">
            <a:extLst>
              <a:ext uri="{FF2B5EF4-FFF2-40B4-BE49-F238E27FC236}">
                <a16:creationId xmlns:a16="http://schemas.microsoft.com/office/drawing/2014/main" id="{52A1BD08-C792-2199-8458-08FCEF17D2CF}"/>
              </a:ext>
            </a:extLst>
          </p:cNvPr>
          <p:cNvSpPr>
            <a:spLocks noGrp="1"/>
          </p:cNvSpPr>
          <p:nvPr>
            <p:ph type="title"/>
          </p:nvPr>
        </p:nvSpPr>
        <p:spPr/>
        <p:txBody>
          <a:bodyPr vert="horz" lIns="0" tIns="93600" rIns="0" bIns="0" rtlCol="0" anchor="t" anchorCtr="0">
            <a:noAutofit/>
          </a:bodyPr>
          <a:lstStyle/>
          <a:p>
            <a:r>
              <a:rPr lang="en-GB" dirty="0">
                <a:solidFill>
                  <a:srgbClr val="344251"/>
                </a:solidFill>
              </a:rPr>
              <a:t>Truck Sales Academy – 2025 Sales Training </a:t>
            </a:r>
          </a:p>
        </p:txBody>
      </p:sp>
      <p:pic>
        <p:nvPicPr>
          <p:cNvPr id="3" name="Picture 2">
            <a:extLst>
              <a:ext uri="{FF2B5EF4-FFF2-40B4-BE49-F238E27FC236}">
                <a16:creationId xmlns:a16="http://schemas.microsoft.com/office/drawing/2014/main" id="{530CBAE5-F450-8741-658C-5F486D82BC8A}"/>
              </a:ext>
            </a:extLst>
          </p:cNvPr>
          <p:cNvPicPr>
            <a:picLocks noChangeAspect="1"/>
          </p:cNvPicPr>
          <p:nvPr/>
        </p:nvPicPr>
        <p:blipFill>
          <a:blip r:embed="rId6"/>
          <a:stretch>
            <a:fillRect/>
          </a:stretch>
        </p:blipFill>
        <p:spPr>
          <a:xfrm>
            <a:off x="5245124" y="1051532"/>
            <a:ext cx="6993427" cy="1244668"/>
          </a:xfrm>
          <a:prstGeom prst="rect">
            <a:avLst/>
          </a:prstGeom>
        </p:spPr>
      </p:pic>
      <p:pic>
        <p:nvPicPr>
          <p:cNvPr id="15" name="Picture 14" descr="A group of men holding certificates&#10;&#10;AI-generated content may be incorrect.">
            <a:extLst>
              <a:ext uri="{FF2B5EF4-FFF2-40B4-BE49-F238E27FC236}">
                <a16:creationId xmlns:a16="http://schemas.microsoft.com/office/drawing/2014/main" id="{3291351E-5016-713A-0105-ABE7DEE11C6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6705" y="3930191"/>
            <a:ext cx="3674997" cy="24101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descr="A group of people holding signs&#10;&#10;AI-generated content may be incorrect.">
            <a:extLst>
              <a:ext uri="{FF2B5EF4-FFF2-40B4-BE49-F238E27FC236}">
                <a16:creationId xmlns:a16="http://schemas.microsoft.com/office/drawing/2014/main" id="{17244D3F-4A07-167C-A312-4C539948E99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05168" y="3930191"/>
            <a:ext cx="3618064" cy="24426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16">
            <a:extLst>
              <a:ext uri="{FF2B5EF4-FFF2-40B4-BE49-F238E27FC236}">
                <a16:creationId xmlns:a16="http://schemas.microsoft.com/office/drawing/2014/main" id="{FD20FE0F-7C4C-6543-0BE6-D5D402016BA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121479" y="2204174"/>
            <a:ext cx="1974402" cy="1579521"/>
          </a:xfrm>
          <a:prstGeom prst="rect">
            <a:avLst/>
          </a:prstGeom>
        </p:spPr>
      </p:pic>
    </p:spTree>
    <p:extLst>
      <p:ext uri="{BB962C8B-B14F-4D97-AF65-F5344CB8AC3E}">
        <p14:creationId xmlns:p14="http://schemas.microsoft.com/office/powerpoint/2010/main" val="35436101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32BD5A3-EC71-A5BB-1AE7-FA5B0506E271}"/>
              </a:ext>
            </a:extLst>
          </p:cNvPr>
          <p:cNvSpPr>
            <a:spLocks noGrp="1"/>
          </p:cNvSpPr>
          <p:nvPr>
            <p:ph type="body" sz="quarter" idx="19"/>
          </p:nvPr>
        </p:nvSpPr>
        <p:spPr/>
        <p:txBody>
          <a:bodyPr/>
          <a:lstStyle/>
          <a:p>
            <a:endParaRPr lang="en-US"/>
          </a:p>
        </p:txBody>
      </p:sp>
    </p:spTree>
    <p:extLst>
      <p:ext uri="{BB962C8B-B14F-4D97-AF65-F5344CB8AC3E}">
        <p14:creationId xmlns:p14="http://schemas.microsoft.com/office/powerpoint/2010/main" val="8326968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HAPE" val="OLD"/>
</p:tagLst>
</file>

<file path=ppt/tags/tag2.xml><?xml version="1.0" encoding="utf-8"?>
<p:tagLst xmlns:a="http://schemas.openxmlformats.org/drawingml/2006/main" xmlns:r="http://schemas.openxmlformats.org/officeDocument/2006/relationships" xmlns:p="http://schemas.openxmlformats.org/presentationml/2006/main">
  <p:tag name="SHAPE" val="OLD"/>
</p:tagLst>
</file>

<file path=ppt/tags/tag3.xml><?xml version="1.0" encoding="utf-8"?>
<p:tagLst xmlns:a="http://schemas.openxmlformats.org/drawingml/2006/main" xmlns:r="http://schemas.openxmlformats.org/officeDocument/2006/relationships" xmlns:p="http://schemas.openxmlformats.org/presentationml/2006/main">
  <p:tag name="SHAPE" val="OLD"/>
</p:tagLst>
</file>

<file path=ppt/tags/tag4.xml><?xml version="1.0" encoding="utf-8"?>
<p:tagLst xmlns:a="http://schemas.openxmlformats.org/drawingml/2006/main" xmlns:r="http://schemas.openxmlformats.org/officeDocument/2006/relationships" xmlns:p="http://schemas.openxmlformats.org/presentationml/2006/main">
  <p:tag name="SHAPE" val="OLD"/>
</p:tagLst>
</file>

<file path=ppt/tags/tag5.xml><?xml version="1.0" encoding="utf-8"?>
<p:tagLst xmlns:a="http://schemas.openxmlformats.org/drawingml/2006/main" xmlns:r="http://schemas.openxmlformats.org/officeDocument/2006/relationships" xmlns:p="http://schemas.openxmlformats.org/presentationml/2006/main">
  <p:tag name="SHAPE" val="OLD"/>
</p:tagLst>
</file>

<file path=ppt/tags/tag6.xml><?xml version="1.0" encoding="utf-8"?>
<p:tagLst xmlns:a="http://schemas.openxmlformats.org/drawingml/2006/main" xmlns:r="http://schemas.openxmlformats.org/officeDocument/2006/relationships" xmlns:p="http://schemas.openxmlformats.org/presentationml/2006/main">
  <p:tag name="SHAPE" val="OLD"/>
</p:tagLst>
</file>

<file path=ppt/tags/tag7.xml><?xml version="1.0" encoding="utf-8"?>
<p:tagLst xmlns:a="http://schemas.openxmlformats.org/drawingml/2006/main" xmlns:r="http://schemas.openxmlformats.org/officeDocument/2006/relationships" xmlns:p="http://schemas.openxmlformats.org/presentationml/2006/main">
  <p:tag name="SHAPE" val="OLD"/>
</p:tagLst>
</file>

<file path=ppt/tags/tag8.xml><?xml version="1.0" encoding="utf-8"?>
<p:tagLst xmlns:a="http://schemas.openxmlformats.org/drawingml/2006/main" xmlns:r="http://schemas.openxmlformats.org/officeDocument/2006/relationships" xmlns:p="http://schemas.openxmlformats.org/presentationml/2006/main">
  <p:tag name="SHAPE" val="OLD"/>
</p:tagLst>
</file>

<file path=ppt/tags/tag9.xml><?xml version="1.0" encoding="utf-8"?>
<p:tagLst xmlns:a="http://schemas.openxmlformats.org/drawingml/2006/main" xmlns:r="http://schemas.openxmlformats.org/officeDocument/2006/relationships" xmlns:p="http://schemas.openxmlformats.org/presentationml/2006/main">
  <p:tag name="SHAPE" val="OLD"/>
</p:tagLst>
</file>

<file path=ppt/tags/tag10.xml><?xml version="1.0" encoding="utf-8"?>
<p:tagLst xmlns:a="http://schemas.openxmlformats.org/drawingml/2006/main" xmlns:r="http://schemas.openxmlformats.org/officeDocument/2006/relationships" xmlns:p="http://schemas.openxmlformats.org/presentationml/2006/main">
  <p:tag name="SHAPE" val="OLD"/>
</p:tagLst>
</file>

<file path=ppt/tags/tag11.xml><?xml version="1.0" encoding="utf-8"?>
<p:tagLst xmlns:a="http://schemas.openxmlformats.org/drawingml/2006/main" xmlns:r="http://schemas.openxmlformats.org/officeDocument/2006/relationships" xmlns:p="http://schemas.openxmlformats.org/presentationml/2006/main">
  <p:tag name="SHAPE" val="OLD"/>
</p:tagLst>
</file>

<file path=ppt/tags/tag12.xml><?xml version="1.0" encoding="utf-8"?>
<p:tagLst xmlns:a="http://schemas.openxmlformats.org/drawingml/2006/main" xmlns:r="http://schemas.openxmlformats.org/officeDocument/2006/relationships" xmlns:p="http://schemas.openxmlformats.org/presentationml/2006/main">
  <p:tag name="SHAPE" val="OLD"/>
</p:tagLst>
</file>

<file path=ppt/tags/tag13.xml><?xml version="1.0" encoding="utf-8"?>
<p:tagLst xmlns:a="http://schemas.openxmlformats.org/drawingml/2006/main" xmlns:r="http://schemas.openxmlformats.org/officeDocument/2006/relationships" xmlns:p="http://schemas.openxmlformats.org/presentationml/2006/main">
  <p:tag name="SHAPE" val="OLD"/>
</p:tagLst>
</file>

<file path=ppt/tags/tag14.xml><?xml version="1.0" encoding="utf-8"?>
<p:tagLst xmlns:a="http://schemas.openxmlformats.org/drawingml/2006/main" xmlns:r="http://schemas.openxmlformats.org/officeDocument/2006/relationships" xmlns:p="http://schemas.openxmlformats.org/presentationml/2006/main">
  <p:tag name="SHAPE" val="OLD"/>
</p:tagLst>
</file>

<file path=ppt/tags/tag15.xml><?xml version="1.0" encoding="utf-8"?>
<p:tagLst xmlns:a="http://schemas.openxmlformats.org/drawingml/2006/main" xmlns:r="http://schemas.openxmlformats.org/officeDocument/2006/relationships" xmlns:p="http://schemas.openxmlformats.org/presentationml/2006/main">
  <p:tag name="SHAPE" val="OLD"/>
</p:tagLst>
</file>

<file path=ppt/tags/tag16.xml><?xml version="1.0" encoding="utf-8"?>
<p:tagLst xmlns:a="http://schemas.openxmlformats.org/drawingml/2006/main" xmlns:r="http://schemas.openxmlformats.org/officeDocument/2006/relationships" xmlns:p="http://schemas.openxmlformats.org/presentationml/2006/main">
  <p:tag name="SHAPE" val="OLD"/>
</p:tagLst>
</file>

<file path=ppt/tags/tag17.xml><?xml version="1.0" encoding="utf-8"?>
<p:tagLst xmlns:a="http://schemas.openxmlformats.org/drawingml/2006/main" xmlns:r="http://schemas.openxmlformats.org/officeDocument/2006/relationships" xmlns:p="http://schemas.openxmlformats.org/presentationml/2006/main">
  <p:tag name="SHAPE" val="OLD"/>
</p:tagLst>
</file>

<file path=ppt/tags/tag18.xml><?xml version="1.0" encoding="utf-8"?>
<p:tagLst xmlns:a="http://schemas.openxmlformats.org/drawingml/2006/main" xmlns:r="http://schemas.openxmlformats.org/officeDocument/2006/relationships" xmlns:p="http://schemas.openxmlformats.org/presentationml/2006/main">
  <p:tag name="SHAPE" val="OLD"/>
</p:tagLst>
</file>

<file path=ppt/tags/tag19.xml><?xml version="1.0" encoding="utf-8"?>
<p:tagLst xmlns:a="http://schemas.openxmlformats.org/drawingml/2006/main" xmlns:r="http://schemas.openxmlformats.org/officeDocument/2006/relationships" xmlns:p="http://schemas.openxmlformats.org/presentationml/2006/main">
  <p:tag name="SHAPE" val="OLD"/>
</p:tagLst>
</file>

<file path=ppt/tags/tag20.xml><?xml version="1.0" encoding="utf-8"?>
<p:tagLst xmlns:a="http://schemas.openxmlformats.org/drawingml/2006/main" xmlns:r="http://schemas.openxmlformats.org/officeDocument/2006/relationships" xmlns:p="http://schemas.openxmlformats.org/presentationml/2006/main">
  <p:tag name="SHAPE" val="OLD"/>
</p:tagLst>
</file>

<file path=ppt/tags/tag21.xml><?xml version="1.0" encoding="utf-8"?>
<p:tagLst xmlns:a="http://schemas.openxmlformats.org/drawingml/2006/main" xmlns:r="http://schemas.openxmlformats.org/officeDocument/2006/relationships" xmlns:p="http://schemas.openxmlformats.org/presentationml/2006/main">
  <p:tag name="SHAPE" val="OLD"/>
</p:tagLst>
</file>

<file path=ppt/tags/tag22.xml><?xml version="1.0" encoding="utf-8"?>
<p:tagLst xmlns:a="http://schemas.openxmlformats.org/drawingml/2006/main" xmlns:r="http://schemas.openxmlformats.org/officeDocument/2006/relationships" xmlns:p="http://schemas.openxmlformats.org/presentationml/2006/main">
  <p:tag name="SHAPE" val="OLD"/>
</p:tagLst>
</file>

<file path=ppt/tags/tag23.xml><?xml version="1.0" encoding="utf-8"?>
<p:tagLst xmlns:a="http://schemas.openxmlformats.org/drawingml/2006/main" xmlns:r="http://schemas.openxmlformats.org/officeDocument/2006/relationships" xmlns:p="http://schemas.openxmlformats.org/presentationml/2006/main">
  <p:tag name="SHAPE" val="OLD"/>
</p:tagLst>
</file>

<file path=ppt/tags/tag24.xml><?xml version="1.0" encoding="utf-8"?>
<p:tagLst xmlns:a="http://schemas.openxmlformats.org/drawingml/2006/main" xmlns:r="http://schemas.openxmlformats.org/officeDocument/2006/relationships" xmlns:p="http://schemas.openxmlformats.org/presentationml/2006/main">
  <p:tag name="SHAPE" val="OLD"/>
</p:tagLst>
</file>

<file path=ppt/tags/tag25.xml><?xml version="1.0" encoding="utf-8"?>
<p:tagLst xmlns:a="http://schemas.openxmlformats.org/drawingml/2006/main" xmlns:r="http://schemas.openxmlformats.org/officeDocument/2006/relationships" xmlns:p="http://schemas.openxmlformats.org/presentationml/2006/main">
  <p:tag name="SHAPE" val="OLD"/>
</p:tagLst>
</file>

<file path=ppt/tags/tag26.xml><?xml version="1.0" encoding="utf-8"?>
<p:tagLst xmlns:a="http://schemas.openxmlformats.org/drawingml/2006/main" xmlns:r="http://schemas.openxmlformats.org/officeDocument/2006/relationships" xmlns:p="http://schemas.openxmlformats.org/presentationml/2006/main">
  <p:tag name="SHAPE" val="OLD"/>
</p:tagLst>
</file>

<file path=ppt/tags/tag27.xml><?xml version="1.0" encoding="utf-8"?>
<p:tagLst xmlns:a="http://schemas.openxmlformats.org/drawingml/2006/main" xmlns:r="http://schemas.openxmlformats.org/officeDocument/2006/relationships" xmlns:p="http://schemas.openxmlformats.org/presentationml/2006/main">
  <p:tag name="SHAPE" val="OLD"/>
</p:tagLst>
</file>

<file path=ppt/tags/tag28.xml><?xml version="1.0" encoding="utf-8"?>
<p:tagLst xmlns:a="http://schemas.openxmlformats.org/drawingml/2006/main" xmlns:r="http://schemas.openxmlformats.org/officeDocument/2006/relationships" xmlns:p="http://schemas.openxmlformats.org/presentationml/2006/main">
  <p:tag name="SHAPE" val="OLD"/>
</p:tagLst>
</file>

<file path=ppt/tags/tag29.xml><?xml version="1.0" encoding="utf-8"?>
<p:tagLst xmlns:a="http://schemas.openxmlformats.org/drawingml/2006/main" xmlns:r="http://schemas.openxmlformats.org/officeDocument/2006/relationships" xmlns:p="http://schemas.openxmlformats.org/presentationml/2006/main">
  <p:tag name="SHAPE" val="OLD"/>
</p:tagLst>
</file>

<file path=ppt/tags/tag30.xml><?xml version="1.0" encoding="utf-8"?>
<p:tagLst xmlns:a="http://schemas.openxmlformats.org/drawingml/2006/main" xmlns:r="http://schemas.openxmlformats.org/officeDocument/2006/relationships" xmlns:p="http://schemas.openxmlformats.org/presentationml/2006/main">
  <p:tag name="SHAPE" val="OLD"/>
</p:tagLst>
</file>

<file path=ppt/tags/tag31.xml><?xml version="1.0" encoding="utf-8"?>
<p:tagLst xmlns:a="http://schemas.openxmlformats.org/drawingml/2006/main" xmlns:r="http://schemas.openxmlformats.org/officeDocument/2006/relationships" xmlns:p="http://schemas.openxmlformats.org/presentationml/2006/main">
  <p:tag name="SHAPE" val="OLD"/>
</p:tagLst>
</file>

<file path=ppt/tags/tag32.xml><?xml version="1.0" encoding="utf-8"?>
<p:tagLst xmlns:a="http://schemas.openxmlformats.org/drawingml/2006/main" xmlns:r="http://schemas.openxmlformats.org/officeDocument/2006/relationships" xmlns:p="http://schemas.openxmlformats.org/presentationml/2006/main">
  <p:tag name="SHAPE" val="OLD"/>
</p:tagLst>
</file>

<file path=ppt/tags/tag33.xml><?xml version="1.0" encoding="utf-8"?>
<p:tagLst xmlns:a="http://schemas.openxmlformats.org/drawingml/2006/main" xmlns:r="http://schemas.openxmlformats.org/officeDocument/2006/relationships" xmlns:p="http://schemas.openxmlformats.org/presentationml/2006/main">
  <p:tag name="SHAPE" val="OLD"/>
</p:tagLst>
</file>

<file path=ppt/tags/tag34.xml><?xml version="1.0" encoding="utf-8"?>
<p:tagLst xmlns:a="http://schemas.openxmlformats.org/drawingml/2006/main" xmlns:r="http://schemas.openxmlformats.org/officeDocument/2006/relationships" xmlns:p="http://schemas.openxmlformats.org/presentationml/2006/main">
  <p:tag name="SHAPE" val="OLD"/>
</p:tagLst>
</file>

<file path=ppt/tags/tag35.xml><?xml version="1.0" encoding="utf-8"?>
<p:tagLst xmlns:a="http://schemas.openxmlformats.org/drawingml/2006/main" xmlns:r="http://schemas.openxmlformats.org/officeDocument/2006/relationships" xmlns:p="http://schemas.openxmlformats.org/presentationml/2006/main">
  <p:tag name="SHAPE" val="OLD"/>
</p:tagLst>
</file>

<file path=ppt/tags/tag36.xml><?xml version="1.0" encoding="utf-8"?>
<p:tagLst xmlns:a="http://schemas.openxmlformats.org/drawingml/2006/main" xmlns:r="http://schemas.openxmlformats.org/officeDocument/2006/relationships" xmlns:p="http://schemas.openxmlformats.org/presentationml/2006/main">
  <p:tag name="SHAPE" val="OLD"/>
</p:tagLst>
</file>

<file path=ppt/tags/tag37.xml><?xml version="1.0" encoding="utf-8"?>
<p:tagLst xmlns:a="http://schemas.openxmlformats.org/drawingml/2006/main" xmlns:r="http://schemas.openxmlformats.org/officeDocument/2006/relationships" xmlns:p="http://schemas.openxmlformats.org/presentationml/2006/main">
  <p:tag name="SHAPE" val="OLD"/>
</p:tagLst>
</file>

<file path=ppt/tags/tag38.xml><?xml version="1.0" encoding="utf-8"?>
<p:tagLst xmlns:a="http://schemas.openxmlformats.org/drawingml/2006/main" xmlns:r="http://schemas.openxmlformats.org/officeDocument/2006/relationships" xmlns:p="http://schemas.openxmlformats.org/presentationml/2006/main">
  <p:tag name="SHAPE" val="OLD"/>
</p:tagLst>
</file>

<file path=ppt/tags/tag39.xml><?xml version="1.0" encoding="utf-8"?>
<p:tagLst xmlns:a="http://schemas.openxmlformats.org/drawingml/2006/main" xmlns:r="http://schemas.openxmlformats.org/officeDocument/2006/relationships" xmlns:p="http://schemas.openxmlformats.org/presentationml/2006/main">
  <p:tag name="SHAPE" val="OLD"/>
</p:tagLst>
</file>

<file path=ppt/tags/tag40.xml><?xml version="1.0" encoding="utf-8"?>
<p:tagLst xmlns:a="http://schemas.openxmlformats.org/drawingml/2006/main" xmlns:r="http://schemas.openxmlformats.org/officeDocument/2006/relationships" xmlns:p="http://schemas.openxmlformats.org/presentationml/2006/main">
  <p:tag name="SHAPE" val="OLD"/>
</p:tagLst>
</file>

<file path=ppt/tags/tag41.xml><?xml version="1.0" encoding="utf-8"?>
<p:tagLst xmlns:a="http://schemas.openxmlformats.org/drawingml/2006/main" xmlns:r="http://schemas.openxmlformats.org/officeDocument/2006/relationships" xmlns:p="http://schemas.openxmlformats.org/presentationml/2006/main">
  <p:tag name="SHAPE" val="OLD"/>
</p:tagLst>
</file>

<file path=ppt/tags/tag42.xml><?xml version="1.0" encoding="utf-8"?>
<p:tagLst xmlns:a="http://schemas.openxmlformats.org/drawingml/2006/main" xmlns:r="http://schemas.openxmlformats.org/officeDocument/2006/relationships" xmlns:p="http://schemas.openxmlformats.org/presentationml/2006/main">
  <p:tag name="SHAPE" val="OLD"/>
</p:tagLst>
</file>

<file path=ppt/tags/tag43.xml><?xml version="1.0" encoding="utf-8"?>
<p:tagLst xmlns:a="http://schemas.openxmlformats.org/drawingml/2006/main" xmlns:r="http://schemas.openxmlformats.org/officeDocument/2006/relationships" xmlns:p="http://schemas.openxmlformats.org/presentationml/2006/main">
  <p:tag name="SHAPE" val="OLD"/>
</p:tagLst>
</file>

<file path=ppt/tags/tag44.xml><?xml version="1.0" encoding="utf-8"?>
<p:tagLst xmlns:a="http://schemas.openxmlformats.org/drawingml/2006/main" xmlns:r="http://schemas.openxmlformats.org/officeDocument/2006/relationships" xmlns:p="http://schemas.openxmlformats.org/presentationml/2006/main">
  <p:tag name="SHAPE" val="OLD"/>
</p:tagLst>
</file>

<file path=ppt/tags/tag45.xml><?xml version="1.0" encoding="utf-8"?>
<p:tagLst xmlns:a="http://schemas.openxmlformats.org/drawingml/2006/main" xmlns:r="http://schemas.openxmlformats.org/officeDocument/2006/relationships" xmlns:p="http://schemas.openxmlformats.org/presentationml/2006/main">
  <p:tag name="SHAPE" val="OLD"/>
</p:tagLst>
</file>

<file path=ppt/tags/tag46.xml><?xml version="1.0" encoding="utf-8"?>
<p:tagLst xmlns:a="http://schemas.openxmlformats.org/drawingml/2006/main" xmlns:r="http://schemas.openxmlformats.org/officeDocument/2006/relationships" xmlns:p="http://schemas.openxmlformats.org/presentationml/2006/main">
  <p:tag name="SHAPE" val="OLD"/>
</p:tagLst>
</file>

<file path=ppt/tags/tag47.xml><?xml version="1.0" encoding="utf-8"?>
<p:tagLst xmlns:a="http://schemas.openxmlformats.org/drawingml/2006/main" xmlns:r="http://schemas.openxmlformats.org/officeDocument/2006/relationships" xmlns:p="http://schemas.openxmlformats.org/presentationml/2006/main">
  <p:tag name="SHAPE" val="OLD"/>
</p:tagLst>
</file>

<file path=ppt/tags/tag48.xml><?xml version="1.0" encoding="utf-8"?>
<p:tagLst xmlns:a="http://schemas.openxmlformats.org/drawingml/2006/main" xmlns:r="http://schemas.openxmlformats.org/officeDocument/2006/relationships" xmlns:p="http://schemas.openxmlformats.org/presentationml/2006/main">
  <p:tag name="SHAPE" val="OLD"/>
</p:tagLst>
</file>

<file path=ppt/tags/tag49.xml><?xml version="1.0" encoding="utf-8"?>
<p:tagLst xmlns:a="http://schemas.openxmlformats.org/drawingml/2006/main" xmlns:r="http://schemas.openxmlformats.org/officeDocument/2006/relationships" xmlns:p="http://schemas.openxmlformats.org/presentationml/2006/main">
  <p:tag name="SHAPE" val="OLD"/>
</p:tagLst>
</file>

<file path=ppt/tags/tag50.xml><?xml version="1.0" encoding="utf-8"?>
<p:tagLst xmlns:a="http://schemas.openxmlformats.org/drawingml/2006/main" xmlns:r="http://schemas.openxmlformats.org/officeDocument/2006/relationships" xmlns:p="http://schemas.openxmlformats.org/presentationml/2006/main">
  <p:tag name="SHAPE" val="OLD"/>
</p:tagLst>
</file>

<file path=ppt/tags/tag51.xml><?xml version="1.0" encoding="utf-8"?>
<p:tagLst xmlns:a="http://schemas.openxmlformats.org/drawingml/2006/main" xmlns:r="http://schemas.openxmlformats.org/officeDocument/2006/relationships" xmlns:p="http://schemas.openxmlformats.org/presentationml/2006/main">
  <p:tag name="SHAPE" val="OLD"/>
</p:tagLst>
</file>

<file path=ppt/tags/tag52.xml><?xml version="1.0" encoding="utf-8"?>
<p:tagLst xmlns:a="http://schemas.openxmlformats.org/drawingml/2006/main" xmlns:r="http://schemas.openxmlformats.org/officeDocument/2006/relationships" xmlns:p="http://schemas.openxmlformats.org/presentationml/2006/main">
  <p:tag name="SHAPE" val="OLD"/>
</p:tagLst>
</file>

<file path=ppt/tags/tag53.xml><?xml version="1.0" encoding="utf-8"?>
<p:tagLst xmlns:a="http://schemas.openxmlformats.org/drawingml/2006/main" xmlns:r="http://schemas.openxmlformats.org/officeDocument/2006/relationships" xmlns:p="http://schemas.openxmlformats.org/presentationml/2006/main">
  <p:tag name="SHAPE" val="OLD"/>
</p:tagLst>
</file>

<file path=ppt/tags/tag54.xml><?xml version="1.0" encoding="utf-8"?>
<p:tagLst xmlns:a="http://schemas.openxmlformats.org/drawingml/2006/main" xmlns:r="http://schemas.openxmlformats.org/officeDocument/2006/relationships" xmlns:p="http://schemas.openxmlformats.org/presentationml/2006/main">
  <p:tag name="SHAPE" val="OLD"/>
</p:tagLst>
</file>

<file path=ppt/tags/tag55.xml><?xml version="1.0" encoding="utf-8"?>
<p:tagLst xmlns:a="http://schemas.openxmlformats.org/drawingml/2006/main" xmlns:r="http://schemas.openxmlformats.org/officeDocument/2006/relationships" xmlns:p="http://schemas.openxmlformats.org/presentationml/2006/main">
  <p:tag name="SHAPE" val="OLD"/>
</p:tagLst>
</file>

<file path=ppt/tags/tag56.xml><?xml version="1.0" encoding="utf-8"?>
<p:tagLst xmlns:a="http://schemas.openxmlformats.org/drawingml/2006/main" xmlns:r="http://schemas.openxmlformats.org/officeDocument/2006/relationships" xmlns:p="http://schemas.openxmlformats.org/presentationml/2006/main">
  <p:tag name="SHAPE" val="OLD"/>
</p:tagLst>
</file>

<file path=ppt/tags/tag57.xml><?xml version="1.0" encoding="utf-8"?>
<p:tagLst xmlns:a="http://schemas.openxmlformats.org/drawingml/2006/main" xmlns:r="http://schemas.openxmlformats.org/officeDocument/2006/relationships" xmlns:p="http://schemas.openxmlformats.org/presentationml/2006/main">
  <p:tag name="SHAPE" val="OLD"/>
</p:tagLst>
</file>

<file path=ppt/tags/tag58.xml><?xml version="1.0" encoding="utf-8"?>
<p:tagLst xmlns:a="http://schemas.openxmlformats.org/drawingml/2006/main" xmlns:r="http://schemas.openxmlformats.org/officeDocument/2006/relationships" xmlns:p="http://schemas.openxmlformats.org/presentationml/2006/main">
  <p:tag name="SHAPE" val="OLD"/>
</p:tagLst>
</file>

<file path=ppt/tags/tag59.xml><?xml version="1.0" encoding="utf-8"?>
<p:tagLst xmlns:a="http://schemas.openxmlformats.org/drawingml/2006/main" xmlns:r="http://schemas.openxmlformats.org/officeDocument/2006/relationships" xmlns:p="http://schemas.openxmlformats.org/presentationml/2006/main">
  <p:tag name="SHAPE" val="OLD"/>
</p:tagLst>
</file>

<file path=ppt/tags/tag60.xml><?xml version="1.0" encoding="utf-8"?>
<p:tagLst xmlns:a="http://schemas.openxmlformats.org/drawingml/2006/main" xmlns:r="http://schemas.openxmlformats.org/officeDocument/2006/relationships" xmlns:p="http://schemas.openxmlformats.org/presentationml/2006/main">
  <p:tag name="SHAPE" val="OLD"/>
</p:tagLst>
</file>

<file path=ppt/tags/tag61.xml><?xml version="1.0" encoding="utf-8"?>
<p:tagLst xmlns:a="http://schemas.openxmlformats.org/drawingml/2006/main" xmlns:r="http://schemas.openxmlformats.org/officeDocument/2006/relationships" xmlns:p="http://schemas.openxmlformats.org/presentationml/2006/main">
  <p:tag name="SHAPE" val="OLD"/>
</p:tagLst>
</file>

<file path=ppt/tags/tag62.xml><?xml version="1.0" encoding="utf-8"?>
<p:tagLst xmlns:a="http://schemas.openxmlformats.org/drawingml/2006/main" xmlns:r="http://schemas.openxmlformats.org/officeDocument/2006/relationships" xmlns:p="http://schemas.openxmlformats.org/presentationml/2006/main">
  <p:tag name="SHAPE" val="OLD"/>
</p:tagLst>
</file>

<file path=ppt/tags/tag63.xml><?xml version="1.0" encoding="utf-8"?>
<p:tagLst xmlns:a="http://schemas.openxmlformats.org/drawingml/2006/main" xmlns:r="http://schemas.openxmlformats.org/officeDocument/2006/relationships" xmlns:p="http://schemas.openxmlformats.org/presentationml/2006/main">
  <p:tag name="SHAPE" val="OLD"/>
</p:tagLst>
</file>

<file path=ppt/tags/tag64.xml><?xml version="1.0" encoding="utf-8"?>
<p:tagLst xmlns:a="http://schemas.openxmlformats.org/drawingml/2006/main" xmlns:r="http://schemas.openxmlformats.org/officeDocument/2006/relationships" xmlns:p="http://schemas.openxmlformats.org/presentationml/2006/main">
  <p:tag name="SHAPE" val="OLD"/>
</p:tagLst>
</file>

<file path=ppt/tags/tag65.xml><?xml version="1.0" encoding="utf-8"?>
<p:tagLst xmlns:a="http://schemas.openxmlformats.org/drawingml/2006/main" xmlns:r="http://schemas.openxmlformats.org/officeDocument/2006/relationships" xmlns:p="http://schemas.openxmlformats.org/presentationml/2006/main">
  <p:tag name="SHAPE" val="OLD"/>
</p:tagLst>
</file>

<file path=ppt/tags/tag66.xml><?xml version="1.0" encoding="utf-8"?>
<p:tagLst xmlns:a="http://schemas.openxmlformats.org/drawingml/2006/main" xmlns:r="http://schemas.openxmlformats.org/officeDocument/2006/relationships" xmlns:p="http://schemas.openxmlformats.org/presentationml/2006/main">
  <p:tag name="SHAPE" val="OLD"/>
</p:tagLst>
</file>

<file path=ppt/tags/tag67.xml><?xml version="1.0" encoding="utf-8"?>
<p:tagLst xmlns:a="http://schemas.openxmlformats.org/drawingml/2006/main" xmlns:r="http://schemas.openxmlformats.org/officeDocument/2006/relationships" xmlns:p="http://schemas.openxmlformats.org/presentationml/2006/main">
  <p:tag name="SHAPE" val="OLD"/>
</p:tagLst>
</file>

<file path=ppt/tags/tag68.xml><?xml version="1.0" encoding="utf-8"?>
<p:tagLst xmlns:a="http://schemas.openxmlformats.org/drawingml/2006/main" xmlns:r="http://schemas.openxmlformats.org/officeDocument/2006/relationships" xmlns:p="http://schemas.openxmlformats.org/presentationml/2006/main">
  <p:tag name="SHAPE" val="OLD"/>
</p:tagLst>
</file>

<file path=ppt/tags/tag69.xml><?xml version="1.0" encoding="utf-8"?>
<p:tagLst xmlns:a="http://schemas.openxmlformats.org/drawingml/2006/main" xmlns:r="http://schemas.openxmlformats.org/officeDocument/2006/relationships" xmlns:p="http://schemas.openxmlformats.org/presentationml/2006/main">
  <p:tag name="SHAPE" val="OLD"/>
</p:tagLst>
</file>

<file path=ppt/tags/tag70.xml><?xml version="1.0" encoding="utf-8"?>
<p:tagLst xmlns:a="http://schemas.openxmlformats.org/drawingml/2006/main" xmlns:r="http://schemas.openxmlformats.org/officeDocument/2006/relationships" xmlns:p="http://schemas.openxmlformats.org/presentationml/2006/main">
  <p:tag name="SHAPE" val="OLD"/>
</p:tagLst>
</file>

<file path=ppt/tags/tag71.xml><?xml version="1.0" encoding="utf-8"?>
<p:tagLst xmlns:a="http://schemas.openxmlformats.org/drawingml/2006/main" xmlns:r="http://schemas.openxmlformats.org/officeDocument/2006/relationships" xmlns:p="http://schemas.openxmlformats.org/presentationml/2006/main">
  <p:tag name="SHAPE" val="OLD"/>
</p:tagLst>
</file>

<file path=ppt/tags/tag72.xml><?xml version="1.0" encoding="utf-8"?>
<p:tagLst xmlns:a="http://schemas.openxmlformats.org/drawingml/2006/main" xmlns:r="http://schemas.openxmlformats.org/officeDocument/2006/relationships" xmlns:p="http://schemas.openxmlformats.org/presentationml/2006/main">
  <p:tag name="SHAPE" val="OLD"/>
</p:tagLst>
</file>

<file path=ppt/tags/tag73.xml><?xml version="1.0" encoding="utf-8"?>
<p:tagLst xmlns:a="http://schemas.openxmlformats.org/drawingml/2006/main" xmlns:r="http://schemas.openxmlformats.org/officeDocument/2006/relationships" xmlns:p="http://schemas.openxmlformats.org/presentationml/2006/main">
  <p:tag name="SHAPE" val="OLD"/>
</p:tagLst>
</file>

<file path=ppt/tags/tag74.xml><?xml version="1.0" encoding="utf-8"?>
<p:tagLst xmlns:a="http://schemas.openxmlformats.org/drawingml/2006/main" xmlns:r="http://schemas.openxmlformats.org/officeDocument/2006/relationships" xmlns:p="http://schemas.openxmlformats.org/presentationml/2006/main">
  <p:tag name="SHAPE" val="OLD"/>
</p:tagLst>
</file>

<file path=ppt/tags/tag75.xml><?xml version="1.0" encoding="utf-8"?>
<p:tagLst xmlns:a="http://schemas.openxmlformats.org/drawingml/2006/main" xmlns:r="http://schemas.openxmlformats.org/officeDocument/2006/relationships" xmlns:p="http://schemas.openxmlformats.org/presentationml/2006/main">
  <p:tag name="SHAPE" val="OLD"/>
</p:tagLst>
</file>

<file path=ppt/tags/tag76.xml><?xml version="1.0" encoding="utf-8"?>
<p:tagLst xmlns:a="http://schemas.openxmlformats.org/drawingml/2006/main" xmlns:r="http://schemas.openxmlformats.org/officeDocument/2006/relationships" xmlns:p="http://schemas.openxmlformats.org/presentationml/2006/main">
  <p:tag name="SHAPE" val="OLD"/>
</p:tagLst>
</file>

<file path=ppt/tags/tag77.xml><?xml version="1.0" encoding="utf-8"?>
<p:tagLst xmlns:a="http://schemas.openxmlformats.org/drawingml/2006/main" xmlns:r="http://schemas.openxmlformats.org/officeDocument/2006/relationships" xmlns:p="http://schemas.openxmlformats.org/presentationml/2006/main">
  <p:tag name="SHAPE" val="OLD"/>
</p:tagLst>
</file>

<file path=ppt/tags/tag78.xml><?xml version="1.0" encoding="utf-8"?>
<p:tagLst xmlns:a="http://schemas.openxmlformats.org/drawingml/2006/main" xmlns:r="http://schemas.openxmlformats.org/officeDocument/2006/relationships" xmlns:p="http://schemas.openxmlformats.org/presentationml/2006/main">
  <p:tag name="SHAPE" val="OLD"/>
</p:tagLst>
</file>

<file path=ppt/tags/tag79.xml><?xml version="1.0" encoding="utf-8"?>
<p:tagLst xmlns:a="http://schemas.openxmlformats.org/drawingml/2006/main" xmlns:r="http://schemas.openxmlformats.org/officeDocument/2006/relationships" xmlns:p="http://schemas.openxmlformats.org/presentationml/2006/main">
  <p:tag name="SHAPE" val="OLD"/>
</p:tagLst>
</file>

<file path=ppt/tags/tag80.xml><?xml version="1.0" encoding="utf-8"?>
<p:tagLst xmlns:a="http://schemas.openxmlformats.org/drawingml/2006/main" xmlns:r="http://schemas.openxmlformats.org/officeDocument/2006/relationships" xmlns:p="http://schemas.openxmlformats.org/presentationml/2006/main">
  <p:tag name="SHAPE" val="OLD"/>
</p:tagLst>
</file>

<file path=ppt/tags/tag81.xml><?xml version="1.0" encoding="utf-8"?>
<p:tagLst xmlns:a="http://schemas.openxmlformats.org/drawingml/2006/main" xmlns:r="http://schemas.openxmlformats.org/officeDocument/2006/relationships" xmlns:p="http://schemas.openxmlformats.org/presentationml/2006/main">
  <p:tag name="SHAPE" val="OLD"/>
</p:tagLst>
</file>

<file path=ppt/tags/tag82.xml><?xml version="1.0" encoding="utf-8"?>
<p:tagLst xmlns:a="http://schemas.openxmlformats.org/drawingml/2006/main" xmlns:r="http://schemas.openxmlformats.org/officeDocument/2006/relationships" xmlns:p="http://schemas.openxmlformats.org/presentationml/2006/main">
  <p:tag name="SHAPE" val="OLD"/>
</p:tagLst>
</file>

<file path=ppt/tags/tag83.xml><?xml version="1.0" encoding="utf-8"?>
<p:tagLst xmlns:a="http://schemas.openxmlformats.org/drawingml/2006/main" xmlns:r="http://schemas.openxmlformats.org/officeDocument/2006/relationships" xmlns:p="http://schemas.openxmlformats.org/presentationml/2006/main">
  <p:tag name="SHAPE" val="OLD"/>
</p:tagLst>
</file>

<file path=ppt/tags/tag84.xml><?xml version="1.0" encoding="utf-8"?>
<p:tagLst xmlns:a="http://schemas.openxmlformats.org/drawingml/2006/main" xmlns:r="http://schemas.openxmlformats.org/officeDocument/2006/relationships" xmlns:p="http://schemas.openxmlformats.org/presentationml/2006/main">
  <p:tag name="SHAPE" val="OLD"/>
</p:tagLst>
</file>

<file path=ppt/tags/tag85.xml><?xml version="1.0" encoding="utf-8"?>
<p:tagLst xmlns:a="http://schemas.openxmlformats.org/drawingml/2006/main" xmlns:r="http://schemas.openxmlformats.org/officeDocument/2006/relationships" xmlns:p="http://schemas.openxmlformats.org/presentationml/2006/main">
  <p:tag name="SHAPE" val="OLD"/>
</p:tagLst>
</file>

<file path=ppt/tags/tag86.xml><?xml version="1.0" encoding="utf-8"?>
<p:tagLst xmlns:a="http://schemas.openxmlformats.org/drawingml/2006/main" xmlns:r="http://schemas.openxmlformats.org/officeDocument/2006/relationships" xmlns:p="http://schemas.openxmlformats.org/presentationml/2006/main">
  <p:tag name="SHAPE" val="OLD"/>
</p:tagLst>
</file>

<file path=ppt/tags/tag87.xml><?xml version="1.0" encoding="utf-8"?>
<p:tagLst xmlns:a="http://schemas.openxmlformats.org/drawingml/2006/main" xmlns:r="http://schemas.openxmlformats.org/officeDocument/2006/relationships" xmlns:p="http://schemas.openxmlformats.org/presentationml/2006/main">
  <p:tag name="SHAPE" val="OLD"/>
</p:tagLst>
</file>

<file path=ppt/tags/tag88.xml><?xml version="1.0" encoding="utf-8"?>
<p:tagLst xmlns:a="http://schemas.openxmlformats.org/drawingml/2006/main" xmlns:r="http://schemas.openxmlformats.org/officeDocument/2006/relationships" xmlns:p="http://schemas.openxmlformats.org/presentationml/2006/main">
  <p:tag name="SHAPE" val="OLD"/>
</p:tagLst>
</file>

<file path=ppt/tags/tag89.xml><?xml version="1.0" encoding="utf-8"?>
<p:tagLst xmlns:a="http://schemas.openxmlformats.org/drawingml/2006/main" xmlns:r="http://schemas.openxmlformats.org/officeDocument/2006/relationships" xmlns:p="http://schemas.openxmlformats.org/presentationml/2006/main">
  <p:tag name="SHAPE" val="OLD"/>
</p:tagLst>
</file>

<file path=ppt/tags/tag90.xml><?xml version="1.0" encoding="utf-8"?>
<p:tagLst xmlns:a="http://schemas.openxmlformats.org/drawingml/2006/main" xmlns:r="http://schemas.openxmlformats.org/officeDocument/2006/relationships" xmlns:p="http://schemas.openxmlformats.org/presentationml/2006/main">
  <p:tag name="SHAPE" val="OLD"/>
</p:tagLst>
</file>

<file path=ppt/tags/tag91.xml><?xml version="1.0" encoding="utf-8"?>
<p:tagLst xmlns:a="http://schemas.openxmlformats.org/drawingml/2006/main" xmlns:r="http://schemas.openxmlformats.org/officeDocument/2006/relationships" xmlns:p="http://schemas.openxmlformats.org/presentationml/2006/main">
  <p:tag name="SHAPE" val="OLD"/>
</p:tagLst>
</file>

<file path=ppt/tags/tag92.xml><?xml version="1.0" encoding="utf-8"?>
<p:tagLst xmlns:a="http://schemas.openxmlformats.org/drawingml/2006/main" xmlns:r="http://schemas.openxmlformats.org/officeDocument/2006/relationships" xmlns:p="http://schemas.openxmlformats.org/presentationml/2006/main">
  <p:tag name="SHAPE" val="OLD"/>
</p:tagLst>
</file>

<file path=ppt/tags/tag93.xml><?xml version="1.0" encoding="utf-8"?>
<p:tagLst xmlns:a="http://schemas.openxmlformats.org/drawingml/2006/main" xmlns:r="http://schemas.openxmlformats.org/officeDocument/2006/relationships" xmlns:p="http://schemas.openxmlformats.org/presentationml/2006/main">
  <p:tag name="SHAPE" val="OLD"/>
</p:tagLst>
</file>

<file path=ppt/tags/tag94.xml><?xml version="1.0" encoding="utf-8"?>
<p:tagLst xmlns:a="http://schemas.openxmlformats.org/drawingml/2006/main" xmlns:r="http://schemas.openxmlformats.org/officeDocument/2006/relationships" xmlns:p="http://schemas.openxmlformats.org/presentationml/2006/main">
  <p:tag name="SHAPE" val="OLD"/>
</p:tagLst>
</file>

<file path=ppt/tags/tag95.xml><?xml version="1.0" encoding="utf-8"?>
<p:tagLst xmlns:a="http://schemas.openxmlformats.org/drawingml/2006/main" xmlns:r="http://schemas.openxmlformats.org/officeDocument/2006/relationships" xmlns:p="http://schemas.openxmlformats.org/presentationml/2006/main">
  <p:tag name="SHAPE" val="OLD"/>
</p:tagLst>
</file>

<file path=ppt/tags/tag96.xml><?xml version="1.0" encoding="utf-8"?>
<p:tagLst xmlns:a="http://schemas.openxmlformats.org/drawingml/2006/main" xmlns:r="http://schemas.openxmlformats.org/officeDocument/2006/relationships" xmlns:p="http://schemas.openxmlformats.org/presentationml/2006/main">
  <p:tag name="SHAPE" val="OLD"/>
</p:tagLst>
</file>

<file path=ppt/tags/tag97.xml><?xml version="1.0" encoding="utf-8"?>
<p:tagLst xmlns:a="http://schemas.openxmlformats.org/drawingml/2006/main" xmlns:r="http://schemas.openxmlformats.org/officeDocument/2006/relationships" xmlns:p="http://schemas.openxmlformats.org/presentationml/2006/main">
  <p:tag name="SHAPE" val="OLD"/>
</p:tagLst>
</file>

<file path=ppt/tags/tag98.xml><?xml version="1.0" encoding="utf-8"?>
<p:tagLst xmlns:a="http://schemas.openxmlformats.org/drawingml/2006/main" xmlns:r="http://schemas.openxmlformats.org/officeDocument/2006/relationships" xmlns:p="http://schemas.openxmlformats.org/presentationml/2006/main">
  <p:tag name="SHAPE" val="OLD"/>
</p:tagLst>
</file>

<file path=ppt/tags/tag99.xml><?xml version="1.0" encoding="utf-8"?>
<p:tagLst xmlns:a="http://schemas.openxmlformats.org/drawingml/2006/main" xmlns:r="http://schemas.openxmlformats.org/officeDocument/2006/relationships" xmlns:p="http://schemas.openxmlformats.org/presentationml/2006/main">
  <p:tag name="SHAPE" val="OLD"/>
</p:tagLst>
</file>

<file path=ppt/tags/tag100.xml><?xml version="1.0" encoding="utf-8"?>
<p:tagLst xmlns:a="http://schemas.openxmlformats.org/drawingml/2006/main" xmlns:r="http://schemas.openxmlformats.org/officeDocument/2006/relationships" xmlns:p="http://schemas.openxmlformats.org/presentationml/2006/main">
  <p:tag name="SHAPE" val="OLD"/>
</p:tagLst>
</file>

<file path=ppt/tags/tag101.xml><?xml version="1.0" encoding="utf-8"?>
<p:tagLst xmlns:a="http://schemas.openxmlformats.org/drawingml/2006/main" xmlns:r="http://schemas.openxmlformats.org/officeDocument/2006/relationships" xmlns:p="http://schemas.openxmlformats.org/presentationml/2006/main">
  <p:tag name="SHAPE" val="OLD"/>
</p:tagLst>
</file>

<file path=ppt/tags/tag102.xml><?xml version="1.0" encoding="utf-8"?>
<p:tagLst xmlns:a="http://schemas.openxmlformats.org/drawingml/2006/main" xmlns:r="http://schemas.openxmlformats.org/officeDocument/2006/relationships" xmlns:p="http://schemas.openxmlformats.org/presentationml/2006/main">
  <p:tag name="SHAPE" val="OLD"/>
</p:tagLst>
</file>

<file path=ppt/tags/tag103.xml><?xml version="1.0" encoding="utf-8"?>
<p:tagLst xmlns:a="http://schemas.openxmlformats.org/drawingml/2006/main" xmlns:r="http://schemas.openxmlformats.org/officeDocument/2006/relationships" xmlns:p="http://schemas.openxmlformats.org/presentationml/2006/main">
  <p:tag name="SHAPE" val="OLD"/>
</p:tagLst>
</file>

<file path=ppt/tags/tag104.xml><?xml version="1.0" encoding="utf-8"?>
<p:tagLst xmlns:a="http://schemas.openxmlformats.org/drawingml/2006/main" xmlns:r="http://schemas.openxmlformats.org/officeDocument/2006/relationships" xmlns:p="http://schemas.openxmlformats.org/presentationml/2006/main">
  <p:tag name="SHAPE" val="OLD"/>
</p:tagLst>
</file>

<file path=ppt/tags/tag105.xml><?xml version="1.0" encoding="utf-8"?>
<p:tagLst xmlns:a="http://schemas.openxmlformats.org/drawingml/2006/main" xmlns:r="http://schemas.openxmlformats.org/officeDocument/2006/relationships" xmlns:p="http://schemas.openxmlformats.org/presentationml/2006/main">
  <p:tag name="SHAPE" val="OLD"/>
</p:tagLst>
</file>

<file path=ppt/tags/tag106.xml><?xml version="1.0" encoding="utf-8"?>
<p:tagLst xmlns:a="http://schemas.openxmlformats.org/drawingml/2006/main" xmlns:r="http://schemas.openxmlformats.org/officeDocument/2006/relationships" xmlns:p="http://schemas.openxmlformats.org/presentationml/2006/main">
  <p:tag name="SHAPE" val="OLD"/>
</p:tagLst>
</file>

<file path=ppt/tags/tag107.xml><?xml version="1.0" encoding="utf-8"?>
<p:tagLst xmlns:a="http://schemas.openxmlformats.org/drawingml/2006/main" xmlns:r="http://schemas.openxmlformats.org/officeDocument/2006/relationships" xmlns:p="http://schemas.openxmlformats.org/presentationml/2006/main">
  <p:tag name="SHAPE" val="OLD"/>
</p:tagLst>
</file>

<file path=ppt/tags/tag108.xml><?xml version="1.0" encoding="utf-8"?>
<p:tagLst xmlns:a="http://schemas.openxmlformats.org/drawingml/2006/main" xmlns:r="http://schemas.openxmlformats.org/officeDocument/2006/relationships" xmlns:p="http://schemas.openxmlformats.org/presentationml/2006/main">
  <p:tag name="SHAPE" val="OLD"/>
</p:tagLst>
</file>

<file path=ppt/tags/tag109.xml><?xml version="1.0" encoding="utf-8"?>
<p:tagLst xmlns:a="http://schemas.openxmlformats.org/drawingml/2006/main" xmlns:r="http://schemas.openxmlformats.org/officeDocument/2006/relationships" xmlns:p="http://schemas.openxmlformats.org/presentationml/2006/main">
  <p:tag name="SHAPE" val="OLD"/>
</p:tagLst>
</file>

<file path=ppt/tags/tag110.xml><?xml version="1.0" encoding="utf-8"?>
<p:tagLst xmlns:a="http://schemas.openxmlformats.org/drawingml/2006/main" xmlns:r="http://schemas.openxmlformats.org/officeDocument/2006/relationships" xmlns:p="http://schemas.openxmlformats.org/presentationml/2006/main">
  <p:tag name="SHAPE" val="OLD"/>
</p:tagLst>
</file>

<file path=ppt/tags/tag111.xml><?xml version="1.0" encoding="utf-8"?>
<p:tagLst xmlns:a="http://schemas.openxmlformats.org/drawingml/2006/main" xmlns:r="http://schemas.openxmlformats.org/officeDocument/2006/relationships" xmlns:p="http://schemas.openxmlformats.org/presentationml/2006/main">
  <p:tag name="SHAPE" val="OLD"/>
</p:tagLst>
</file>

<file path=ppt/tags/tag112.xml><?xml version="1.0" encoding="utf-8"?>
<p:tagLst xmlns:a="http://schemas.openxmlformats.org/drawingml/2006/main" xmlns:r="http://schemas.openxmlformats.org/officeDocument/2006/relationships" xmlns:p="http://schemas.openxmlformats.org/presentationml/2006/main">
  <p:tag name="SHAPE" val="OLD"/>
</p:tagLst>
</file>

<file path=ppt/tags/tag113.xml><?xml version="1.0" encoding="utf-8"?>
<p:tagLst xmlns:a="http://schemas.openxmlformats.org/drawingml/2006/main" xmlns:r="http://schemas.openxmlformats.org/officeDocument/2006/relationships" xmlns:p="http://schemas.openxmlformats.org/presentationml/2006/main">
  <p:tag name="SHAPE" val="OLD"/>
</p:tagLst>
</file>

<file path=ppt/tags/tag114.xml><?xml version="1.0" encoding="utf-8"?>
<p:tagLst xmlns:a="http://schemas.openxmlformats.org/drawingml/2006/main" xmlns:r="http://schemas.openxmlformats.org/officeDocument/2006/relationships" xmlns:p="http://schemas.openxmlformats.org/presentationml/2006/main">
  <p:tag name="SHAPE" val="OLD"/>
</p:tagLst>
</file>

<file path=ppt/tags/tag115.xml><?xml version="1.0" encoding="utf-8"?>
<p:tagLst xmlns:a="http://schemas.openxmlformats.org/drawingml/2006/main" xmlns:r="http://schemas.openxmlformats.org/officeDocument/2006/relationships" xmlns:p="http://schemas.openxmlformats.org/presentationml/2006/main">
  <p:tag name="SHAPE" val="OLD"/>
</p:tagLst>
</file>

<file path=ppt/tags/tag116.xml><?xml version="1.0" encoding="utf-8"?>
<p:tagLst xmlns:a="http://schemas.openxmlformats.org/drawingml/2006/main" xmlns:r="http://schemas.openxmlformats.org/officeDocument/2006/relationships" xmlns:p="http://schemas.openxmlformats.org/presentationml/2006/main">
  <p:tag name="SHAPE" val="OLD"/>
</p:tagLst>
</file>

<file path=ppt/tags/tag117.xml><?xml version="1.0" encoding="utf-8"?>
<p:tagLst xmlns:a="http://schemas.openxmlformats.org/drawingml/2006/main" xmlns:r="http://schemas.openxmlformats.org/officeDocument/2006/relationships" xmlns:p="http://schemas.openxmlformats.org/presentationml/2006/main">
  <p:tag name="SHAPE" val="OLD"/>
</p:tagLst>
</file>

<file path=ppt/tags/tag118.xml><?xml version="1.0" encoding="utf-8"?>
<p:tagLst xmlns:a="http://schemas.openxmlformats.org/drawingml/2006/main" xmlns:r="http://schemas.openxmlformats.org/officeDocument/2006/relationships" xmlns:p="http://schemas.openxmlformats.org/presentationml/2006/main">
  <p:tag name="SHAPE" val="OLD"/>
</p:tagLst>
</file>

<file path=ppt/tags/tag119.xml><?xml version="1.0" encoding="utf-8"?>
<p:tagLst xmlns:a="http://schemas.openxmlformats.org/drawingml/2006/main" xmlns:r="http://schemas.openxmlformats.org/officeDocument/2006/relationships" xmlns:p="http://schemas.openxmlformats.org/presentationml/2006/main">
  <p:tag name="SHAPE" val="OLD"/>
</p:tagLst>
</file>

<file path=ppt/tags/tag120.xml><?xml version="1.0" encoding="utf-8"?>
<p:tagLst xmlns:a="http://schemas.openxmlformats.org/drawingml/2006/main" xmlns:r="http://schemas.openxmlformats.org/officeDocument/2006/relationships" xmlns:p="http://schemas.openxmlformats.org/presentationml/2006/main">
  <p:tag name="SHAPE" val="OLD"/>
</p:tagLst>
</file>

<file path=ppt/tags/tag121.xml><?xml version="1.0" encoding="utf-8"?>
<p:tagLst xmlns:a="http://schemas.openxmlformats.org/drawingml/2006/main" xmlns:r="http://schemas.openxmlformats.org/officeDocument/2006/relationships" xmlns:p="http://schemas.openxmlformats.org/presentationml/2006/main">
  <p:tag name="SHAPE" val="OLD"/>
</p:tagLst>
</file>

<file path=ppt/tags/tag122.xml><?xml version="1.0" encoding="utf-8"?>
<p:tagLst xmlns:a="http://schemas.openxmlformats.org/drawingml/2006/main" xmlns:r="http://schemas.openxmlformats.org/officeDocument/2006/relationships" xmlns:p="http://schemas.openxmlformats.org/presentationml/2006/main">
  <p:tag name="SHAPE" val="OLD"/>
</p:tagLst>
</file>

<file path=ppt/tags/tag123.xml><?xml version="1.0" encoding="utf-8"?>
<p:tagLst xmlns:a="http://schemas.openxmlformats.org/drawingml/2006/main" xmlns:r="http://schemas.openxmlformats.org/officeDocument/2006/relationships" xmlns:p="http://schemas.openxmlformats.org/presentationml/2006/main">
  <p:tag name="SHAPE" val="OLD"/>
</p:tagLst>
</file>

<file path=ppt/tags/tag124.xml><?xml version="1.0" encoding="utf-8"?>
<p:tagLst xmlns:a="http://schemas.openxmlformats.org/drawingml/2006/main" xmlns:r="http://schemas.openxmlformats.org/officeDocument/2006/relationships" xmlns:p="http://schemas.openxmlformats.org/presentationml/2006/main">
  <p:tag name="SHAPE" val="OLD"/>
</p:tagLst>
</file>

<file path=ppt/tags/tag125.xml><?xml version="1.0" encoding="utf-8"?>
<p:tagLst xmlns:a="http://schemas.openxmlformats.org/drawingml/2006/main" xmlns:r="http://schemas.openxmlformats.org/officeDocument/2006/relationships" xmlns:p="http://schemas.openxmlformats.org/presentationml/2006/main">
  <p:tag name="SHAPE" val="OLD"/>
</p:tagLst>
</file>

<file path=ppt/tags/tag126.xml><?xml version="1.0" encoding="utf-8"?>
<p:tagLst xmlns:a="http://schemas.openxmlformats.org/drawingml/2006/main" xmlns:r="http://schemas.openxmlformats.org/officeDocument/2006/relationships" xmlns:p="http://schemas.openxmlformats.org/presentationml/2006/main">
  <p:tag name="SHAPE" val="OLD"/>
</p:tagLst>
</file>

<file path=ppt/tags/tag127.xml><?xml version="1.0" encoding="utf-8"?>
<p:tagLst xmlns:a="http://schemas.openxmlformats.org/drawingml/2006/main" xmlns:r="http://schemas.openxmlformats.org/officeDocument/2006/relationships" xmlns:p="http://schemas.openxmlformats.org/presentationml/2006/main">
  <p:tag name="SHAPE" val="OLD"/>
</p:tagLst>
</file>

<file path=ppt/tags/tag128.xml><?xml version="1.0" encoding="utf-8"?>
<p:tagLst xmlns:a="http://schemas.openxmlformats.org/drawingml/2006/main" xmlns:r="http://schemas.openxmlformats.org/officeDocument/2006/relationships" xmlns:p="http://schemas.openxmlformats.org/presentationml/2006/main">
  <p:tag name="SHAPE" val="OLD"/>
</p:tagLst>
</file>

<file path=ppt/tags/tag129.xml><?xml version="1.0" encoding="utf-8"?>
<p:tagLst xmlns:a="http://schemas.openxmlformats.org/drawingml/2006/main" xmlns:r="http://schemas.openxmlformats.org/officeDocument/2006/relationships" xmlns:p="http://schemas.openxmlformats.org/presentationml/2006/main">
  <p:tag name="SHAPE" val="OLD"/>
</p:tagLst>
</file>

<file path=ppt/tags/tag130.xml><?xml version="1.0" encoding="utf-8"?>
<p:tagLst xmlns:a="http://schemas.openxmlformats.org/drawingml/2006/main" xmlns:r="http://schemas.openxmlformats.org/officeDocument/2006/relationships" xmlns:p="http://schemas.openxmlformats.org/presentationml/2006/main">
  <p:tag name="SHAPE" val="OLD"/>
</p:tagLst>
</file>

<file path=ppt/tags/tag131.xml><?xml version="1.0" encoding="utf-8"?>
<p:tagLst xmlns:a="http://schemas.openxmlformats.org/drawingml/2006/main" xmlns:r="http://schemas.openxmlformats.org/officeDocument/2006/relationships" xmlns:p="http://schemas.openxmlformats.org/presentationml/2006/main">
  <p:tag name="SHAPE" val="OLD"/>
</p:tagLst>
</file>

<file path=ppt/tags/tag132.xml><?xml version="1.0" encoding="utf-8"?>
<p:tagLst xmlns:a="http://schemas.openxmlformats.org/drawingml/2006/main" xmlns:r="http://schemas.openxmlformats.org/officeDocument/2006/relationships" xmlns:p="http://schemas.openxmlformats.org/presentationml/2006/main">
  <p:tag name="SHAPE" val="OLD"/>
</p:tagLst>
</file>

<file path=ppt/tags/tag133.xml><?xml version="1.0" encoding="utf-8"?>
<p:tagLst xmlns:a="http://schemas.openxmlformats.org/drawingml/2006/main" xmlns:r="http://schemas.openxmlformats.org/officeDocument/2006/relationships" xmlns:p="http://schemas.openxmlformats.org/presentationml/2006/main">
  <p:tag name="SHAPE" val="OLD"/>
</p:tagLst>
</file>

<file path=ppt/tags/tag134.xml><?xml version="1.0" encoding="utf-8"?>
<p:tagLst xmlns:a="http://schemas.openxmlformats.org/drawingml/2006/main" xmlns:r="http://schemas.openxmlformats.org/officeDocument/2006/relationships" xmlns:p="http://schemas.openxmlformats.org/presentationml/2006/main">
  <p:tag name="SHAPE" val="OLD"/>
</p:tagLst>
</file>

<file path=ppt/tags/tag135.xml><?xml version="1.0" encoding="utf-8"?>
<p:tagLst xmlns:a="http://schemas.openxmlformats.org/drawingml/2006/main" xmlns:r="http://schemas.openxmlformats.org/officeDocument/2006/relationships" xmlns:p="http://schemas.openxmlformats.org/presentationml/2006/main">
  <p:tag name="SHAPE" val="OLD"/>
</p:tagLst>
</file>

<file path=ppt/tags/tag136.xml><?xml version="1.0" encoding="utf-8"?>
<p:tagLst xmlns:a="http://schemas.openxmlformats.org/drawingml/2006/main" xmlns:r="http://schemas.openxmlformats.org/officeDocument/2006/relationships" xmlns:p="http://schemas.openxmlformats.org/presentationml/2006/main">
  <p:tag name="SHAPE" val="OLD"/>
</p:tagLst>
</file>

<file path=ppt/tags/tag137.xml><?xml version="1.0" encoding="utf-8"?>
<p:tagLst xmlns:a="http://schemas.openxmlformats.org/drawingml/2006/main" xmlns:r="http://schemas.openxmlformats.org/officeDocument/2006/relationships" xmlns:p="http://schemas.openxmlformats.org/presentationml/2006/main">
  <p:tag name="SHAPE" val="OLD"/>
</p:tagLst>
</file>

<file path=ppt/tags/tag138.xml><?xml version="1.0" encoding="utf-8"?>
<p:tagLst xmlns:a="http://schemas.openxmlformats.org/drawingml/2006/main" xmlns:r="http://schemas.openxmlformats.org/officeDocument/2006/relationships" xmlns:p="http://schemas.openxmlformats.org/presentationml/2006/main">
  <p:tag name="SHAPE" val="OLD"/>
</p:tagLst>
</file>

<file path=ppt/tags/tag139.xml><?xml version="1.0" encoding="utf-8"?>
<p:tagLst xmlns:a="http://schemas.openxmlformats.org/drawingml/2006/main" xmlns:r="http://schemas.openxmlformats.org/officeDocument/2006/relationships" xmlns:p="http://schemas.openxmlformats.org/presentationml/2006/main">
  <p:tag name="SHAPE" val="OLD"/>
</p:tagLst>
</file>

<file path=ppt/tags/tag140.xml><?xml version="1.0" encoding="utf-8"?>
<p:tagLst xmlns:a="http://schemas.openxmlformats.org/drawingml/2006/main" xmlns:r="http://schemas.openxmlformats.org/officeDocument/2006/relationships" xmlns:p="http://schemas.openxmlformats.org/presentationml/2006/main">
  <p:tag name="SHAPE" val="OLD"/>
</p:tagLst>
</file>

<file path=ppt/tags/tag141.xml><?xml version="1.0" encoding="utf-8"?>
<p:tagLst xmlns:a="http://schemas.openxmlformats.org/drawingml/2006/main" xmlns:r="http://schemas.openxmlformats.org/officeDocument/2006/relationships" xmlns:p="http://schemas.openxmlformats.org/presentationml/2006/main">
  <p:tag name="SHAPE" val="OLD"/>
</p:tagLst>
</file>

<file path=ppt/tags/tag142.xml><?xml version="1.0" encoding="utf-8"?>
<p:tagLst xmlns:a="http://schemas.openxmlformats.org/drawingml/2006/main" xmlns:r="http://schemas.openxmlformats.org/officeDocument/2006/relationships" xmlns:p="http://schemas.openxmlformats.org/presentationml/2006/main">
  <p:tag name="SHAPE" val="OLD"/>
</p:tagLst>
</file>

<file path=ppt/tags/tag143.xml><?xml version="1.0" encoding="utf-8"?>
<p:tagLst xmlns:a="http://schemas.openxmlformats.org/drawingml/2006/main" xmlns:r="http://schemas.openxmlformats.org/officeDocument/2006/relationships" xmlns:p="http://schemas.openxmlformats.org/presentationml/2006/main">
  <p:tag name="SHAPE" val="OLD"/>
</p:tagLst>
</file>

<file path=ppt/tags/tag144.xml><?xml version="1.0" encoding="utf-8"?>
<p:tagLst xmlns:a="http://schemas.openxmlformats.org/drawingml/2006/main" xmlns:r="http://schemas.openxmlformats.org/officeDocument/2006/relationships" xmlns:p="http://schemas.openxmlformats.org/presentationml/2006/main">
  <p:tag name="SHAPE" val="OLD"/>
</p:tagLst>
</file>

<file path=ppt/tags/tag145.xml><?xml version="1.0" encoding="utf-8"?>
<p:tagLst xmlns:a="http://schemas.openxmlformats.org/drawingml/2006/main" xmlns:r="http://schemas.openxmlformats.org/officeDocument/2006/relationships" xmlns:p="http://schemas.openxmlformats.org/presentationml/2006/main">
  <p:tag name="SHAPE" val="OLD"/>
</p:tagLst>
</file>

<file path=ppt/tags/tag146.xml><?xml version="1.0" encoding="utf-8"?>
<p:tagLst xmlns:a="http://schemas.openxmlformats.org/drawingml/2006/main" xmlns:r="http://schemas.openxmlformats.org/officeDocument/2006/relationships" xmlns:p="http://schemas.openxmlformats.org/presentationml/2006/main">
  <p:tag name="SHAPE" val="OLD"/>
</p:tagLst>
</file>

<file path=ppt/tags/tag147.xml><?xml version="1.0" encoding="utf-8"?>
<p:tagLst xmlns:a="http://schemas.openxmlformats.org/drawingml/2006/main" xmlns:r="http://schemas.openxmlformats.org/officeDocument/2006/relationships" xmlns:p="http://schemas.openxmlformats.org/presentationml/2006/main">
  <p:tag name="SHAPE" val="OLD"/>
</p:tagLst>
</file>

<file path=ppt/tags/tag148.xml><?xml version="1.0" encoding="utf-8"?>
<p:tagLst xmlns:a="http://schemas.openxmlformats.org/drawingml/2006/main" xmlns:r="http://schemas.openxmlformats.org/officeDocument/2006/relationships" xmlns:p="http://schemas.openxmlformats.org/presentationml/2006/main">
  <p:tag name="SHAPE" val="OLD"/>
</p:tagLst>
</file>

<file path=ppt/tags/tag149.xml><?xml version="1.0" encoding="utf-8"?>
<p:tagLst xmlns:a="http://schemas.openxmlformats.org/drawingml/2006/main" xmlns:r="http://schemas.openxmlformats.org/officeDocument/2006/relationships" xmlns:p="http://schemas.openxmlformats.org/presentationml/2006/main">
  <p:tag name="SHAPE" val="OLD"/>
</p:tagLst>
</file>

<file path=ppt/tags/tag150.xml><?xml version="1.0" encoding="utf-8"?>
<p:tagLst xmlns:a="http://schemas.openxmlformats.org/drawingml/2006/main" xmlns:r="http://schemas.openxmlformats.org/officeDocument/2006/relationships" xmlns:p="http://schemas.openxmlformats.org/presentationml/2006/main">
  <p:tag name="SHAPE" val="OLD"/>
</p:tagLst>
</file>

<file path=ppt/tags/tag151.xml><?xml version="1.0" encoding="utf-8"?>
<p:tagLst xmlns:a="http://schemas.openxmlformats.org/drawingml/2006/main" xmlns:r="http://schemas.openxmlformats.org/officeDocument/2006/relationships" xmlns:p="http://schemas.openxmlformats.org/presentationml/2006/main">
  <p:tag name="SHAPE" val="OLD"/>
</p:tagLst>
</file>

<file path=ppt/tags/tag152.xml><?xml version="1.0" encoding="utf-8"?>
<p:tagLst xmlns:a="http://schemas.openxmlformats.org/drawingml/2006/main" xmlns:r="http://schemas.openxmlformats.org/officeDocument/2006/relationships" xmlns:p="http://schemas.openxmlformats.org/presentationml/2006/main">
  <p:tag name="SHAPE" val="OLD"/>
</p:tagLst>
</file>

<file path=ppt/tags/tag153.xml><?xml version="1.0" encoding="utf-8"?>
<p:tagLst xmlns:a="http://schemas.openxmlformats.org/drawingml/2006/main" xmlns:r="http://schemas.openxmlformats.org/officeDocument/2006/relationships" xmlns:p="http://schemas.openxmlformats.org/presentationml/2006/main">
  <p:tag name="SHAPE" val="OLD"/>
</p:tagLst>
</file>

<file path=ppt/tags/tag154.xml><?xml version="1.0" encoding="utf-8"?>
<p:tagLst xmlns:a="http://schemas.openxmlformats.org/drawingml/2006/main" xmlns:r="http://schemas.openxmlformats.org/officeDocument/2006/relationships" xmlns:p="http://schemas.openxmlformats.org/presentationml/2006/main">
  <p:tag name="SHAPE" val="OLD"/>
</p:tagLst>
</file>

<file path=ppt/tags/tag155.xml><?xml version="1.0" encoding="utf-8"?>
<p:tagLst xmlns:a="http://schemas.openxmlformats.org/drawingml/2006/main" xmlns:r="http://schemas.openxmlformats.org/officeDocument/2006/relationships" xmlns:p="http://schemas.openxmlformats.org/presentationml/2006/main">
  <p:tag name="SHAPE" val="OLD"/>
</p:tagLst>
</file>

<file path=ppt/tags/tag156.xml><?xml version="1.0" encoding="utf-8"?>
<p:tagLst xmlns:a="http://schemas.openxmlformats.org/drawingml/2006/main" xmlns:r="http://schemas.openxmlformats.org/officeDocument/2006/relationships" xmlns:p="http://schemas.openxmlformats.org/presentationml/2006/main">
  <p:tag name="SHAPE" val="OLD"/>
</p:tagLst>
</file>

<file path=ppt/tags/tag157.xml><?xml version="1.0" encoding="utf-8"?>
<p:tagLst xmlns:a="http://schemas.openxmlformats.org/drawingml/2006/main" xmlns:r="http://schemas.openxmlformats.org/officeDocument/2006/relationships" xmlns:p="http://schemas.openxmlformats.org/presentationml/2006/main">
  <p:tag name="SHAPE" val="OLD"/>
</p:tagLst>
</file>

<file path=ppt/tags/tag158.xml><?xml version="1.0" encoding="utf-8"?>
<p:tagLst xmlns:a="http://schemas.openxmlformats.org/drawingml/2006/main" xmlns:r="http://schemas.openxmlformats.org/officeDocument/2006/relationships" xmlns:p="http://schemas.openxmlformats.org/presentationml/2006/main">
  <p:tag name="SHAPE" val="OLD"/>
</p:tagLst>
</file>

<file path=ppt/tags/tag159.xml><?xml version="1.0" encoding="utf-8"?>
<p:tagLst xmlns:a="http://schemas.openxmlformats.org/drawingml/2006/main" xmlns:r="http://schemas.openxmlformats.org/officeDocument/2006/relationships" xmlns:p="http://schemas.openxmlformats.org/presentationml/2006/main">
  <p:tag name="SHAPE" val="OLD"/>
</p:tagLst>
</file>

<file path=ppt/tags/tag160.xml><?xml version="1.0" encoding="utf-8"?>
<p:tagLst xmlns:a="http://schemas.openxmlformats.org/drawingml/2006/main" xmlns:r="http://schemas.openxmlformats.org/officeDocument/2006/relationships" xmlns:p="http://schemas.openxmlformats.org/presentationml/2006/main">
  <p:tag name="SHAPE" val="OLD"/>
</p:tagLst>
</file>

<file path=ppt/tags/tag161.xml><?xml version="1.0" encoding="utf-8"?>
<p:tagLst xmlns:a="http://schemas.openxmlformats.org/drawingml/2006/main" xmlns:r="http://schemas.openxmlformats.org/officeDocument/2006/relationships" xmlns:p="http://schemas.openxmlformats.org/presentationml/2006/main">
  <p:tag name="SHAPE" val="OLD"/>
</p:tagLst>
</file>

<file path=ppt/tags/tag162.xml><?xml version="1.0" encoding="utf-8"?>
<p:tagLst xmlns:a="http://schemas.openxmlformats.org/drawingml/2006/main" xmlns:r="http://schemas.openxmlformats.org/officeDocument/2006/relationships" xmlns:p="http://schemas.openxmlformats.org/presentationml/2006/main">
  <p:tag name="SHAPE" val="OLD"/>
</p:tagLst>
</file>

<file path=ppt/tags/tag163.xml><?xml version="1.0" encoding="utf-8"?>
<p:tagLst xmlns:a="http://schemas.openxmlformats.org/drawingml/2006/main" xmlns:r="http://schemas.openxmlformats.org/officeDocument/2006/relationships" xmlns:p="http://schemas.openxmlformats.org/presentationml/2006/main">
  <p:tag name="SHAPE" val="OLD"/>
</p:tagLst>
</file>

<file path=ppt/tags/tag164.xml><?xml version="1.0" encoding="utf-8"?>
<p:tagLst xmlns:a="http://schemas.openxmlformats.org/drawingml/2006/main" xmlns:r="http://schemas.openxmlformats.org/officeDocument/2006/relationships" xmlns:p="http://schemas.openxmlformats.org/presentationml/2006/main">
  <p:tag name="SHAPE" val="OLD"/>
</p:tagLst>
</file>

<file path=ppt/tags/tag165.xml><?xml version="1.0" encoding="utf-8"?>
<p:tagLst xmlns:a="http://schemas.openxmlformats.org/drawingml/2006/main" xmlns:r="http://schemas.openxmlformats.org/officeDocument/2006/relationships" xmlns:p="http://schemas.openxmlformats.org/presentationml/2006/main">
  <p:tag name="SHAPE" val="OLD"/>
</p:tagLst>
</file>

<file path=ppt/tags/tag166.xml><?xml version="1.0" encoding="utf-8"?>
<p:tagLst xmlns:a="http://schemas.openxmlformats.org/drawingml/2006/main" xmlns:r="http://schemas.openxmlformats.org/officeDocument/2006/relationships" xmlns:p="http://schemas.openxmlformats.org/presentationml/2006/main">
  <p:tag name="SHAPE" val="OLD"/>
</p:tagLst>
</file>

<file path=ppt/tags/tag167.xml><?xml version="1.0" encoding="utf-8"?>
<p:tagLst xmlns:a="http://schemas.openxmlformats.org/drawingml/2006/main" xmlns:r="http://schemas.openxmlformats.org/officeDocument/2006/relationships" xmlns:p="http://schemas.openxmlformats.org/presentationml/2006/main">
  <p:tag name="SHAPE" val="OLD"/>
</p:tagLst>
</file>

<file path=ppt/tags/tag168.xml><?xml version="1.0" encoding="utf-8"?>
<p:tagLst xmlns:a="http://schemas.openxmlformats.org/drawingml/2006/main" xmlns:r="http://schemas.openxmlformats.org/officeDocument/2006/relationships" xmlns:p="http://schemas.openxmlformats.org/presentationml/2006/main">
  <p:tag name="SHAPE" val="OLD"/>
</p:tagLst>
</file>

<file path=ppt/tags/tag169.xml><?xml version="1.0" encoding="utf-8"?>
<p:tagLst xmlns:a="http://schemas.openxmlformats.org/drawingml/2006/main" xmlns:r="http://schemas.openxmlformats.org/officeDocument/2006/relationships" xmlns:p="http://schemas.openxmlformats.org/presentationml/2006/main">
  <p:tag name="SHAPE" val="OLD"/>
</p:tagLst>
</file>

<file path=ppt/tags/tag170.xml><?xml version="1.0" encoding="utf-8"?>
<p:tagLst xmlns:a="http://schemas.openxmlformats.org/drawingml/2006/main" xmlns:r="http://schemas.openxmlformats.org/officeDocument/2006/relationships" xmlns:p="http://schemas.openxmlformats.org/presentationml/2006/main">
  <p:tag name="SHAPE" val="OLD"/>
</p:tagLst>
</file>

<file path=ppt/tags/tag171.xml><?xml version="1.0" encoding="utf-8"?>
<p:tagLst xmlns:a="http://schemas.openxmlformats.org/drawingml/2006/main" xmlns:r="http://schemas.openxmlformats.org/officeDocument/2006/relationships" xmlns:p="http://schemas.openxmlformats.org/presentationml/2006/main">
  <p:tag name="SHAPE" val="OLD"/>
</p:tagLst>
</file>

<file path=ppt/tags/tag172.xml><?xml version="1.0" encoding="utf-8"?>
<p:tagLst xmlns:a="http://schemas.openxmlformats.org/drawingml/2006/main" xmlns:r="http://schemas.openxmlformats.org/officeDocument/2006/relationships" xmlns:p="http://schemas.openxmlformats.org/presentationml/2006/main">
  <p:tag name="SHAPE" val="OLD"/>
</p:tagLst>
</file>

<file path=ppt/tags/tag173.xml><?xml version="1.0" encoding="utf-8"?>
<p:tagLst xmlns:a="http://schemas.openxmlformats.org/drawingml/2006/main" xmlns:r="http://schemas.openxmlformats.org/officeDocument/2006/relationships" xmlns:p="http://schemas.openxmlformats.org/presentationml/2006/main">
  <p:tag name="SHAPE" val="OLD"/>
</p:tagLst>
</file>

<file path=ppt/tags/tag174.xml><?xml version="1.0" encoding="utf-8"?>
<p:tagLst xmlns:a="http://schemas.openxmlformats.org/drawingml/2006/main" xmlns:r="http://schemas.openxmlformats.org/officeDocument/2006/relationships" xmlns:p="http://schemas.openxmlformats.org/presentationml/2006/main">
  <p:tag name="SHAPE" val="OLD"/>
</p:tagLst>
</file>

<file path=ppt/tags/tag175.xml><?xml version="1.0" encoding="utf-8"?>
<p:tagLst xmlns:a="http://schemas.openxmlformats.org/drawingml/2006/main" xmlns:r="http://schemas.openxmlformats.org/officeDocument/2006/relationships" xmlns:p="http://schemas.openxmlformats.org/presentationml/2006/main">
  <p:tag name="SHAPE" val="OLD"/>
</p:tagLst>
</file>

<file path=ppt/tags/tag176.xml><?xml version="1.0" encoding="utf-8"?>
<p:tagLst xmlns:a="http://schemas.openxmlformats.org/drawingml/2006/main" xmlns:r="http://schemas.openxmlformats.org/officeDocument/2006/relationships" xmlns:p="http://schemas.openxmlformats.org/presentationml/2006/main">
  <p:tag name="SHAPE" val="OLD"/>
</p:tagLst>
</file>

<file path=ppt/tags/tag177.xml><?xml version="1.0" encoding="utf-8"?>
<p:tagLst xmlns:a="http://schemas.openxmlformats.org/drawingml/2006/main" xmlns:r="http://schemas.openxmlformats.org/officeDocument/2006/relationships" xmlns:p="http://schemas.openxmlformats.org/presentationml/2006/main">
  <p:tag name="SHAPE" val="OLD"/>
</p:tagLst>
</file>

<file path=ppt/tags/tag178.xml><?xml version="1.0" encoding="utf-8"?>
<p:tagLst xmlns:a="http://schemas.openxmlformats.org/drawingml/2006/main" xmlns:r="http://schemas.openxmlformats.org/officeDocument/2006/relationships" xmlns:p="http://schemas.openxmlformats.org/presentationml/2006/main">
  <p:tag name="SHAPE" val="OLD"/>
</p:tagLst>
</file>

<file path=ppt/tags/tag179.xml><?xml version="1.0" encoding="utf-8"?>
<p:tagLst xmlns:a="http://schemas.openxmlformats.org/drawingml/2006/main" xmlns:r="http://schemas.openxmlformats.org/officeDocument/2006/relationships" xmlns:p="http://schemas.openxmlformats.org/presentationml/2006/main">
  <p:tag name="SHAPE" val="OLD"/>
</p:tagLst>
</file>

<file path=ppt/tags/tag180.xml><?xml version="1.0" encoding="utf-8"?>
<p:tagLst xmlns:a="http://schemas.openxmlformats.org/drawingml/2006/main" xmlns:r="http://schemas.openxmlformats.org/officeDocument/2006/relationships" xmlns:p="http://schemas.openxmlformats.org/presentationml/2006/main">
  <p:tag name="SHAPE" val="OLD"/>
</p:tagLst>
</file>

<file path=ppt/tags/tag181.xml><?xml version="1.0" encoding="utf-8"?>
<p:tagLst xmlns:a="http://schemas.openxmlformats.org/drawingml/2006/main" xmlns:r="http://schemas.openxmlformats.org/officeDocument/2006/relationships" xmlns:p="http://schemas.openxmlformats.org/presentationml/2006/main">
  <p:tag name="SHAPE" val="OLD"/>
</p:tagLst>
</file>

<file path=ppt/tags/tag182.xml><?xml version="1.0" encoding="utf-8"?>
<p:tagLst xmlns:a="http://schemas.openxmlformats.org/drawingml/2006/main" xmlns:r="http://schemas.openxmlformats.org/officeDocument/2006/relationships" xmlns:p="http://schemas.openxmlformats.org/presentationml/2006/main">
  <p:tag name="SHAPE" val="OLD"/>
</p:tagLst>
</file>

<file path=ppt/tags/tag183.xml><?xml version="1.0" encoding="utf-8"?>
<p:tagLst xmlns:a="http://schemas.openxmlformats.org/drawingml/2006/main" xmlns:r="http://schemas.openxmlformats.org/officeDocument/2006/relationships" xmlns:p="http://schemas.openxmlformats.org/presentationml/2006/main">
  <p:tag name="SHAPE" val="OLD"/>
</p:tagLst>
</file>

<file path=ppt/tags/tag184.xml><?xml version="1.0" encoding="utf-8"?>
<p:tagLst xmlns:a="http://schemas.openxmlformats.org/drawingml/2006/main" xmlns:r="http://schemas.openxmlformats.org/officeDocument/2006/relationships" xmlns:p="http://schemas.openxmlformats.org/presentationml/2006/main">
  <p:tag name="SHAPE" val="OLD"/>
</p:tagLst>
</file>

<file path=ppt/tags/tag185.xml><?xml version="1.0" encoding="utf-8"?>
<p:tagLst xmlns:a="http://schemas.openxmlformats.org/drawingml/2006/main" xmlns:r="http://schemas.openxmlformats.org/officeDocument/2006/relationships" xmlns:p="http://schemas.openxmlformats.org/presentationml/2006/main">
  <p:tag name="SHAPE" val="OLD"/>
</p:tagLst>
</file>

<file path=ppt/tags/tag186.xml><?xml version="1.0" encoding="utf-8"?>
<p:tagLst xmlns:a="http://schemas.openxmlformats.org/drawingml/2006/main" xmlns:r="http://schemas.openxmlformats.org/officeDocument/2006/relationships" xmlns:p="http://schemas.openxmlformats.org/presentationml/2006/main">
  <p:tag name="SHAPE" val="OLD"/>
</p:tagLst>
</file>

<file path=ppt/tags/tag187.xml><?xml version="1.0" encoding="utf-8"?>
<p:tagLst xmlns:a="http://schemas.openxmlformats.org/drawingml/2006/main" xmlns:r="http://schemas.openxmlformats.org/officeDocument/2006/relationships" xmlns:p="http://schemas.openxmlformats.org/presentationml/2006/main">
  <p:tag name="SHAPE" val="OLD"/>
</p:tagLst>
</file>

<file path=ppt/tags/tag188.xml><?xml version="1.0" encoding="utf-8"?>
<p:tagLst xmlns:a="http://schemas.openxmlformats.org/drawingml/2006/main" xmlns:r="http://schemas.openxmlformats.org/officeDocument/2006/relationships" xmlns:p="http://schemas.openxmlformats.org/presentationml/2006/main">
  <p:tag name="SHAPE" val="OLD"/>
</p:tagLst>
</file>

<file path=ppt/tags/tag189.xml><?xml version="1.0" encoding="utf-8"?>
<p:tagLst xmlns:a="http://schemas.openxmlformats.org/drawingml/2006/main" xmlns:r="http://schemas.openxmlformats.org/officeDocument/2006/relationships" xmlns:p="http://schemas.openxmlformats.org/presentationml/2006/main">
  <p:tag name="SHAPE" val="OLD"/>
</p:tagLst>
</file>

<file path=ppt/tags/tag190.xml><?xml version="1.0" encoding="utf-8"?>
<p:tagLst xmlns:a="http://schemas.openxmlformats.org/drawingml/2006/main" xmlns:r="http://schemas.openxmlformats.org/officeDocument/2006/relationships" xmlns:p="http://schemas.openxmlformats.org/presentationml/2006/main">
  <p:tag name="SHAPE" val="OLD"/>
</p:tagLst>
</file>

<file path=ppt/tags/tag191.xml><?xml version="1.0" encoding="utf-8"?>
<p:tagLst xmlns:a="http://schemas.openxmlformats.org/drawingml/2006/main" xmlns:r="http://schemas.openxmlformats.org/officeDocument/2006/relationships" xmlns:p="http://schemas.openxmlformats.org/presentationml/2006/main">
  <p:tag name="SHAPE" val="OLD"/>
</p:tagLst>
</file>

<file path=ppt/tags/tag192.xml><?xml version="1.0" encoding="utf-8"?>
<p:tagLst xmlns:a="http://schemas.openxmlformats.org/drawingml/2006/main" xmlns:r="http://schemas.openxmlformats.org/officeDocument/2006/relationships" xmlns:p="http://schemas.openxmlformats.org/presentationml/2006/main">
  <p:tag name="SHAPE" val="OLD"/>
</p:tagLst>
</file>

<file path=ppt/tags/tag193.xml><?xml version="1.0" encoding="utf-8"?>
<p:tagLst xmlns:a="http://schemas.openxmlformats.org/drawingml/2006/main" xmlns:r="http://schemas.openxmlformats.org/officeDocument/2006/relationships" xmlns:p="http://schemas.openxmlformats.org/presentationml/2006/main">
  <p:tag name="SHAPE" val="OLD"/>
</p:tagLst>
</file>

<file path=ppt/tags/tag194.xml><?xml version="1.0" encoding="utf-8"?>
<p:tagLst xmlns:a="http://schemas.openxmlformats.org/drawingml/2006/main" xmlns:r="http://schemas.openxmlformats.org/officeDocument/2006/relationships" xmlns:p="http://schemas.openxmlformats.org/presentationml/2006/main">
  <p:tag name="SHAPE" val="OLD"/>
</p:tagLst>
</file>

<file path=ppt/tags/tag195.xml><?xml version="1.0" encoding="utf-8"?>
<p:tagLst xmlns:a="http://schemas.openxmlformats.org/drawingml/2006/main" xmlns:r="http://schemas.openxmlformats.org/officeDocument/2006/relationships" xmlns:p="http://schemas.openxmlformats.org/presentationml/2006/main">
  <p:tag name="SHAPE" val="OLD"/>
</p:tagLst>
</file>

<file path=ppt/tags/tag196.xml><?xml version="1.0" encoding="utf-8"?>
<p:tagLst xmlns:a="http://schemas.openxmlformats.org/drawingml/2006/main" xmlns:r="http://schemas.openxmlformats.org/officeDocument/2006/relationships" xmlns:p="http://schemas.openxmlformats.org/presentationml/2006/main">
  <p:tag name="SHAPE" val="OLD"/>
</p:tagLst>
</file>

<file path=ppt/tags/tag197.xml><?xml version="1.0" encoding="utf-8"?>
<p:tagLst xmlns:a="http://schemas.openxmlformats.org/drawingml/2006/main" xmlns:r="http://schemas.openxmlformats.org/officeDocument/2006/relationships" xmlns:p="http://schemas.openxmlformats.org/presentationml/2006/main">
  <p:tag name="SHAPE" val="OLD"/>
</p:tagLst>
</file>

<file path=ppt/tags/tag198.xml><?xml version="1.0" encoding="utf-8"?>
<p:tagLst xmlns:a="http://schemas.openxmlformats.org/drawingml/2006/main" xmlns:r="http://schemas.openxmlformats.org/officeDocument/2006/relationships" xmlns:p="http://schemas.openxmlformats.org/presentationml/2006/main">
  <p:tag name="SHAPE" val="OLD"/>
</p:tagLst>
</file>

<file path=ppt/tags/tag199.xml><?xml version="1.0" encoding="utf-8"?>
<p:tagLst xmlns:a="http://schemas.openxmlformats.org/drawingml/2006/main" xmlns:r="http://schemas.openxmlformats.org/officeDocument/2006/relationships" xmlns:p="http://schemas.openxmlformats.org/presentationml/2006/main">
  <p:tag name="SHAPE" val="OLD"/>
</p:tagLst>
</file>

<file path=ppt/tags/tag200.xml><?xml version="1.0" encoding="utf-8"?>
<p:tagLst xmlns:a="http://schemas.openxmlformats.org/drawingml/2006/main" xmlns:r="http://schemas.openxmlformats.org/officeDocument/2006/relationships" xmlns:p="http://schemas.openxmlformats.org/presentationml/2006/main">
  <p:tag name="SHAPE" val="OLD"/>
</p:tagLst>
</file>

<file path=ppt/tags/tag201.xml><?xml version="1.0" encoding="utf-8"?>
<p:tagLst xmlns:a="http://schemas.openxmlformats.org/drawingml/2006/main" xmlns:r="http://schemas.openxmlformats.org/officeDocument/2006/relationships" xmlns:p="http://schemas.openxmlformats.org/presentationml/2006/main">
  <p:tag name="SHAPE" val="OLD"/>
</p:tagLst>
</file>

<file path=ppt/tags/tag202.xml><?xml version="1.0" encoding="utf-8"?>
<p:tagLst xmlns:a="http://schemas.openxmlformats.org/drawingml/2006/main" xmlns:r="http://schemas.openxmlformats.org/officeDocument/2006/relationships" xmlns:p="http://schemas.openxmlformats.org/presentationml/2006/main">
  <p:tag name="SHAPE" val="OLD"/>
</p:tagLst>
</file>

<file path=ppt/tags/tag203.xml><?xml version="1.0" encoding="utf-8"?>
<p:tagLst xmlns:a="http://schemas.openxmlformats.org/drawingml/2006/main" xmlns:r="http://schemas.openxmlformats.org/officeDocument/2006/relationships" xmlns:p="http://schemas.openxmlformats.org/presentationml/2006/main">
  <p:tag name="SHAPE" val="OLD"/>
</p:tagLst>
</file>

<file path=ppt/tags/tag204.xml><?xml version="1.0" encoding="utf-8"?>
<p:tagLst xmlns:a="http://schemas.openxmlformats.org/drawingml/2006/main" xmlns:r="http://schemas.openxmlformats.org/officeDocument/2006/relationships" xmlns:p="http://schemas.openxmlformats.org/presentationml/2006/main">
  <p:tag name="SHAPE" val="OLD"/>
</p:tagLst>
</file>

<file path=ppt/tags/tag205.xml><?xml version="1.0" encoding="utf-8"?>
<p:tagLst xmlns:a="http://schemas.openxmlformats.org/drawingml/2006/main" xmlns:r="http://schemas.openxmlformats.org/officeDocument/2006/relationships" xmlns:p="http://schemas.openxmlformats.org/presentationml/2006/main">
  <p:tag name="SHAPE" val="OLD"/>
</p:tagLst>
</file>

<file path=ppt/tags/tag206.xml><?xml version="1.0" encoding="utf-8"?>
<p:tagLst xmlns:a="http://schemas.openxmlformats.org/drawingml/2006/main" xmlns:r="http://schemas.openxmlformats.org/officeDocument/2006/relationships" xmlns:p="http://schemas.openxmlformats.org/presentationml/2006/main">
  <p:tag name="SHAPE" val="OLD"/>
</p:tagLst>
</file>

<file path=ppt/tags/tag207.xml><?xml version="1.0" encoding="utf-8"?>
<p:tagLst xmlns:a="http://schemas.openxmlformats.org/drawingml/2006/main" xmlns:r="http://schemas.openxmlformats.org/officeDocument/2006/relationships" xmlns:p="http://schemas.openxmlformats.org/presentationml/2006/main">
  <p:tag name="SHAPE" val="OLD"/>
</p:tagLst>
</file>

<file path=ppt/tags/tag208.xml><?xml version="1.0" encoding="utf-8"?>
<p:tagLst xmlns:a="http://schemas.openxmlformats.org/drawingml/2006/main" xmlns:r="http://schemas.openxmlformats.org/officeDocument/2006/relationships" xmlns:p="http://schemas.openxmlformats.org/presentationml/2006/main">
  <p:tag name="SHAPE" val="OLD"/>
</p:tagLst>
</file>

<file path=ppt/tags/tag209.xml><?xml version="1.0" encoding="utf-8"?>
<p:tagLst xmlns:a="http://schemas.openxmlformats.org/drawingml/2006/main" xmlns:r="http://schemas.openxmlformats.org/officeDocument/2006/relationships" xmlns:p="http://schemas.openxmlformats.org/presentationml/2006/main">
  <p:tag name="SHAPE" val="OLD"/>
</p:tagLst>
</file>

<file path=ppt/tags/tag210.xml><?xml version="1.0" encoding="utf-8"?>
<p:tagLst xmlns:a="http://schemas.openxmlformats.org/drawingml/2006/main" xmlns:r="http://schemas.openxmlformats.org/officeDocument/2006/relationships" xmlns:p="http://schemas.openxmlformats.org/presentationml/2006/main">
  <p:tag name="SHAPE" val="OLD"/>
</p:tagLst>
</file>

<file path=ppt/tags/tag211.xml><?xml version="1.0" encoding="utf-8"?>
<p:tagLst xmlns:a="http://schemas.openxmlformats.org/drawingml/2006/main" xmlns:r="http://schemas.openxmlformats.org/officeDocument/2006/relationships" xmlns:p="http://schemas.openxmlformats.org/presentationml/2006/main">
  <p:tag name="SHAPE" val="OLD"/>
</p:tagLst>
</file>

<file path=ppt/tags/tag212.xml><?xml version="1.0" encoding="utf-8"?>
<p:tagLst xmlns:a="http://schemas.openxmlformats.org/drawingml/2006/main" xmlns:r="http://schemas.openxmlformats.org/officeDocument/2006/relationships" xmlns:p="http://schemas.openxmlformats.org/presentationml/2006/main">
  <p:tag name="SHAPE" val="OLD"/>
</p:tagLst>
</file>

<file path=ppt/tags/tag213.xml><?xml version="1.0" encoding="utf-8"?>
<p:tagLst xmlns:a="http://schemas.openxmlformats.org/drawingml/2006/main" xmlns:r="http://schemas.openxmlformats.org/officeDocument/2006/relationships" xmlns:p="http://schemas.openxmlformats.org/presentationml/2006/main">
  <p:tag name="SHAPE" val="OLD"/>
</p:tagLst>
</file>

<file path=ppt/theme/theme1.xml><?xml version="1.0" encoding="utf-8"?>
<a:theme xmlns:a="http://schemas.openxmlformats.org/drawingml/2006/main" name="ISUZU GROUP PPT Template 202410">
  <a:themeElements>
    <a:clrScheme name="ISUZU Colors 240404">
      <a:dk1>
        <a:srgbClr val="000000"/>
      </a:dk1>
      <a:lt1>
        <a:srgbClr val="FFFFFF"/>
      </a:lt1>
      <a:dk2>
        <a:srgbClr val="344251"/>
      </a:dk2>
      <a:lt2>
        <a:srgbClr val="848E9A"/>
      </a:lt2>
      <a:accent1>
        <a:srgbClr val="B5091F"/>
      </a:accent1>
      <a:accent2>
        <a:srgbClr val="002664"/>
      </a:accent2>
      <a:accent3>
        <a:srgbClr val="21585A"/>
      </a:accent3>
      <a:accent4>
        <a:srgbClr val="DF621D"/>
      </a:accent4>
      <a:accent5>
        <a:srgbClr val="008FB8"/>
      </a:accent5>
      <a:accent6>
        <a:srgbClr val="80B129"/>
      </a:accent6>
      <a:hlink>
        <a:srgbClr val="72C2D6"/>
      </a:hlink>
      <a:folHlink>
        <a:srgbClr val="344251"/>
      </a:folHlink>
    </a:clrScheme>
    <a:fontScheme name="ユーザー定義 1">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lumMod val="20000"/>
            <a:lumOff val="80000"/>
          </a:schemeClr>
        </a:solidFill>
        <a:ln w="19050">
          <a:solidFill>
            <a:schemeClr val="tx2"/>
          </a:solidFill>
        </a:ln>
      </a:spPr>
      <a:bodyPr rtlCol="0" anchor="ctr"/>
      <a:lstStyle>
        <a:defPPr algn="ctr">
          <a:lnSpc>
            <a:spcPct val="90000"/>
          </a:lnSpc>
          <a:spcBef>
            <a:spcPts val="600"/>
          </a:spcBef>
          <a:defRPr sz="2000" dirty="0" err="1">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9050">
          <a:solidFill>
            <a:srgbClr val="304352"/>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lnSpc>
            <a:spcPct val="90000"/>
          </a:lnSpc>
          <a:spcBef>
            <a:spcPts val="600"/>
          </a:spcBef>
          <a:defRPr sz="2000" dirty="0" err="1" smtClean="0"/>
        </a:defPPr>
      </a:lstStyle>
    </a:txDef>
  </a:objectDefaults>
  <a:extraClrSchemeLst/>
  <a:custClrLst>
    <a:custClr name="ISUZU Corporate Red">
      <a:srgbClr val="E60012"/>
    </a:custClr>
    <a:custClr name="ISUZU Light Grey">
      <a:srgbClr val="848E9A"/>
    </a:custClr>
    <a:custClr name="ISUZU Dark Grey">
      <a:srgbClr val="344251"/>
    </a:custClr>
    <a:custClr name="ISUZU Dark Red">
      <a:srgbClr val="B5091F"/>
    </a:custClr>
    <a:custClr name="Dark Blue">
      <a:srgbClr val="002664"/>
    </a:custClr>
    <a:custClr name="Dark Green">
      <a:srgbClr val="21585A"/>
    </a:custClr>
    <a:custClr name="Dark Orange">
      <a:srgbClr val="DF621D"/>
    </a:custClr>
    <a:custClr name="Dark Blue">
      <a:srgbClr val="002664"/>
    </a:custClr>
    <a:custClr name="Dark Green">
      <a:srgbClr val="21585A"/>
    </a:custClr>
    <a:custClr name="Dark Orange">
      <a:srgbClr val="DF621D"/>
    </a:custClr>
    <a:custClr name="Black">
      <a:srgbClr val="000000"/>
    </a:custClr>
    <a:custClr name="Light Grey 80">
      <a:srgbClr val="9DA5AE"/>
    </a:custClr>
    <a:custClr name="Dark Grey 80">
      <a:srgbClr val="5D6874"/>
    </a:custClr>
    <a:custClr name="Dark Red 80">
      <a:srgbClr val="C43A4C"/>
    </a:custClr>
    <a:custClr name="Dark Blue 80">
      <a:srgbClr val="335183"/>
    </a:custClr>
    <a:custClr name="Dark Green 80">
      <a:srgbClr val="4D797B"/>
    </a:custClr>
    <a:custClr name="Dark Orange 80">
      <a:srgbClr val="E5814A"/>
    </a:custClr>
    <a:custClr name="Blue">
      <a:srgbClr val="008FB8"/>
    </a:custClr>
    <a:custClr name="Green">
      <a:srgbClr val="80B129"/>
    </a:custClr>
    <a:custClr name="Yellow">
      <a:srgbClr val="F5A200"/>
    </a:custClr>
    <a:custClr name="White">
      <a:srgbClr val="FFFFFF"/>
    </a:custClr>
    <a:custClr name="Light Grey 75">
      <a:srgbClr val="A3AAB3"/>
    </a:custClr>
    <a:custClr name="Dark Grey 75">
      <a:srgbClr val="67717C"/>
    </a:custClr>
    <a:custClr name="Dark Red 75">
      <a:srgbClr val="C74657"/>
    </a:custClr>
    <a:custClr name="Dark Blue 75">
      <a:srgbClr val="405C8B"/>
    </a:custClr>
    <a:custClr name="Dark Green 75">
      <a:srgbClr val="588283"/>
    </a:custClr>
    <a:custClr name="Dark Orange 75">
      <a:srgbClr val="E78955"/>
    </a:custClr>
    <a:custClr name="Light Blue">
      <a:srgbClr val="72C2D6"/>
    </a:custClr>
    <a:custClr name="Light Green">
      <a:srgbClr val="B6D55D"/>
    </a:custClr>
    <a:custClr name="Light Orange">
      <a:srgbClr val="FDD34E"/>
    </a:custClr>
    <a:custClr name="BLANK">
      <a:srgbClr val="FFFFFF"/>
    </a:custClr>
    <a:custClr name="Light Grey 60">
      <a:srgbClr val="B5BBC2"/>
    </a:custClr>
    <a:custClr name="Dark Grey 60">
      <a:srgbClr val="858E97"/>
    </a:custClr>
    <a:custClr name="Dark Red 60">
      <a:srgbClr val="D36B79"/>
    </a:custClr>
    <a:custClr name="Dark Blue 60">
      <a:srgbClr val="667DA2"/>
    </a:custClr>
    <a:custClr name="Dark Green 60">
      <a:srgbClr val="7A9B9C"/>
    </a:custClr>
    <a:custClr name="Dark Orange 60">
      <a:srgbClr val="ECA17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ISUZU GROUP PPT Template_JPN_202410.pptx" id="{DAFEDCD1-E6D8-4F1D-B930-9B1B06933545}" vid="{3F159DE2-77F8-4152-B7E9-A68242AE27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ISUZU Colors 240404">
    <a:dk1>
      <a:srgbClr val="000000"/>
    </a:dk1>
    <a:lt1>
      <a:srgbClr val="FFFFFF"/>
    </a:lt1>
    <a:dk2>
      <a:srgbClr val="344251"/>
    </a:dk2>
    <a:lt2>
      <a:srgbClr val="848E9A"/>
    </a:lt2>
    <a:accent1>
      <a:srgbClr val="B5091F"/>
    </a:accent1>
    <a:accent2>
      <a:srgbClr val="002664"/>
    </a:accent2>
    <a:accent3>
      <a:srgbClr val="21585A"/>
    </a:accent3>
    <a:accent4>
      <a:srgbClr val="DF621D"/>
    </a:accent4>
    <a:accent5>
      <a:srgbClr val="008FB8"/>
    </a:accent5>
    <a:accent6>
      <a:srgbClr val="80B129"/>
    </a:accent6>
    <a:hlink>
      <a:srgbClr val="72C2D6"/>
    </a:hlink>
    <a:folHlink>
      <a:srgbClr val="344251"/>
    </a:folHlink>
  </a:clrScheme>
  <a:fontScheme name="ユーザー定義 1">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3787</TotalTime>
  <Words>8752</Words>
  <Application>Microsoft Office PowerPoint</Application>
  <PresentationFormat>Widescreen</PresentationFormat>
  <Paragraphs>1181</Paragraphs>
  <Slides>31</Slides>
  <Notes>31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Meiryo</vt:lpstr>
      <vt:lpstr>Meiryo UI</vt:lpstr>
      <vt:lpstr>ＭＳ Ｐゴシック</vt:lpstr>
      <vt:lpstr>游ゴシック</vt:lpstr>
      <vt:lpstr>游明朝</vt:lpstr>
      <vt:lpstr>Aptos</vt:lpstr>
      <vt:lpstr>Arial</vt:lpstr>
      <vt:lpstr>Calibri Light</vt:lpstr>
      <vt:lpstr>Roboto</vt:lpstr>
      <vt:lpstr>Wingdings</vt:lpstr>
      <vt:lpstr>ISUZU GROUP PPT Template 202410</vt:lpstr>
      <vt:lpstr>Isuzu Truck (UK) Ltd - Executive Summary</vt:lpstr>
      <vt:lpstr>KOSHA Presentation</vt:lpstr>
      <vt:lpstr>    Table of Contents</vt:lpstr>
      <vt:lpstr>Economic &amp; Political Summary and BP Forecast</vt:lpstr>
      <vt:lpstr>Operational Summary</vt:lpstr>
      <vt:lpstr>Demand Trends, Competition &amp; Registrations </vt:lpstr>
      <vt:lpstr>Demand Trends &amp; Registrations</vt:lpstr>
      <vt:lpstr>FY25 Sales Forecast &amp; Initiative Update</vt:lpstr>
      <vt:lpstr>FY26 Sales Forecast &amp; Initiative Plan</vt:lpstr>
      <vt:lpstr>Current Legislation Challenges VK05</vt:lpstr>
      <vt:lpstr>FY25 Aftersales Forecast and FY26 Outlook </vt:lpstr>
      <vt:lpstr>Connected Project - Maximise Aftersales (PMS)</vt:lpstr>
      <vt:lpstr>Connected Project - Maximise Aftersales (PMS)</vt:lpstr>
      <vt:lpstr>Strengthen ITUK Governance</vt:lpstr>
      <vt:lpstr>Progress Assessment of Mid-Term Tasks and Policies FY25 </vt:lpstr>
      <vt:lpstr>Progress Assessment of Mid-Term Tasks and Policies FY25 </vt:lpstr>
      <vt:lpstr>Progress Assessment of Mid-Term Tasks and Policies FY25 </vt:lpstr>
      <vt:lpstr>Progress Assessment of Mid-Term Tasks and Policies FY25  </vt:lpstr>
      <vt:lpstr>Appendices</vt:lpstr>
      <vt:lpstr>FY25 Key Actions / Initiatives Update</vt:lpstr>
      <vt:lpstr>FY25 Additional Key Actions / Initiative</vt:lpstr>
      <vt:lpstr>FY26 Key Actions / Initiatives</vt:lpstr>
      <vt:lpstr>Current Sales Legislation Challenges N35</vt:lpstr>
      <vt:lpstr>Connected Project – Now Uptime Strategy Only</vt:lpstr>
      <vt:lpstr>PowerPoint Presentation</vt:lpstr>
      <vt:lpstr>PowerPoint Presentation</vt:lpstr>
      <vt:lpstr>Construction Industry First Reaction to Budget </vt:lpstr>
      <vt:lpstr>Construction Sector Recovery F/C FY26 &amp; FY27</vt:lpstr>
      <vt:lpstr>Institute of Directors </vt:lpstr>
      <vt:lpstr>Truck Sales Academy – 2025 Sales Training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Murphy</dc:creator>
  <cp:lastModifiedBy>Masumi Hayakawa</cp:lastModifiedBy>
  <cp:revision>214</cp:revision>
  <cp:lastPrinted>2026-01-27T18:45:52Z</cp:lastPrinted>
  <dcterms:created xsi:type="dcterms:W3CDTF">2026-01-14T16:52:10Z</dcterms:created>
  <dcterms:modified xsi:type="dcterms:W3CDTF">2026-04-13T11:25:14Z</dcterms:modified>
</cp:coreProperties>
</file>