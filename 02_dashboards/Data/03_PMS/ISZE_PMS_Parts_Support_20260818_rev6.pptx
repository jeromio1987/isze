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1" r:id="rId8"/>
    <p:sldId id="260" r:id="rId7"/>
    <p:sldId id="262" r:id="rId9"/>
    <p:sldId id="263" r:id="rId10"/>
    <p:sldId id="264" r:id="rId11"/>
    <p:sldId id="265" r:id="rId12"/>
    <p:sldId id="266" r:id="rId13"/>
    <p:sldId id="268" r:id="rId15"/>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7" Type="http://schemas.openxmlformats.org/officeDocument/2006/relationships/slide" Target="slides/slide6.xml"/><Relationship Id="rId8" Type="http://schemas.openxmlformats.org/officeDocument/2006/relationships/slide" Target="slides/slide5.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cover_bleed.jp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54864"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680960" y="6364224"/>
            <a:ext cx="4507992" cy="402336"/>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827264" y="6364224"/>
            <a:ext cx="4114800" cy="402336"/>
          </a:xfrm>
          <a:prstGeom prst="rect">
            <a:avLst/>
          </a:prstGeom>
          <a:noFill/>
        </p:spPr>
        <p:txBody>
          <a:bodyPr wrap="square" anchor="ctr">
            <a:spAutoFit/>
          </a:bodyPr>
          <a:lstStyle/>
          <a:p>
            <a:pPr algn="l"/>
            <a:r>
              <a:rPr sz="1300" b="1">
                <a:solidFill>
                  <a:srgbClr val="FFFFFF"/>
                </a:solidFill>
                <a:latin typeface="Calibri"/>
              </a:rPr>
              <a:t>P700</a:t>
            </a:r>
          </a:p>
        </p:txBody>
      </p:sp>
      <p:sp>
        <p:nvSpPr>
          <p:cNvPr id="6" name="Rectangle 5"/>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417320"/>
            <a:ext cx="6858000" cy="292608"/>
          </a:xfrm>
          <a:prstGeom prst="rect">
            <a:avLst/>
          </a:prstGeom>
          <a:noFill/>
        </p:spPr>
        <p:txBody>
          <a:bodyPr wrap="square" anchor="t">
            <a:spAutoFit/>
          </a:bodyPr>
          <a:lstStyle/>
          <a:p>
            <a:pPr algn="l"/>
            <a:r>
              <a:rPr sz="1200" b="1">
                <a:solidFill>
                  <a:srgbClr val="ED1C24"/>
                </a:solidFill>
                <a:latin typeface="Calibri"/>
              </a:rPr>
              <a:t>ISUZU MOTORS EUROPE</a:t>
            </a:r>
          </a:p>
        </p:txBody>
      </p:sp>
      <p:sp>
        <p:nvSpPr>
          <p:cNvPr id="8" name="TextBox 7"/>
          <p:cNvSpPr txBox="1"/>
          <p:nvPr/>
        </p:nvSpPr>
        <p:spPr>
          <a:xfrm>
            <a:off x="502920" y="1874519"/>
            <a:ext cx="6858000" cy="1051560"/>
          </a:xfrm>
          <a:prstGeom prst="rect">
            <a:avLst/>
          </a:prstGeom>
          <a:noFill/>
        </p:spPr>
        <p:txBody>
          <a:bodyPr wrap="square" anchor="t">
            <a:spAutoFit/>
          </a:bodyPr>
          <a:lstStyle/>
          <a:p>
            <a:pPr algn="l"/>
            <a:r>
              <a:rPr sz="3200" b="1">
                <a:solidFill>
                  <a:srgbClr val="1B2733"/>
                </a:solidFill>
                <a:latin typeface="Calibri"/>
              </a:rPr>
              <a:t>Parts support for scheduled PMS</a:t>
            </a:r>
          </a:p>
        </p:txBody>
      </p:sp>
      <p:sp>
        <p:nvSpPr>
          <p:cNvPr id="9" name="TextBox 8"/>
          <p:cNvSpPr txBox="1"/>
          <p:nvPr/>
        </p:nvSpPr>
        <p:spPr>
          <a:xfrm>
            <a:off x="502920" y="3063240"/>
            <a:ext cx="6766560" cy="1051560"/>
          </a:xfrm>
          <a:prstGeom prst="rect">
            <a:avLst/>
          </a:prstGeom>
          <a:noFill/>
        </p:spPr>
        <p:txBody>
          <a:bodyPr wrap="square" anchor="t">
            <a:spAutoFit/>
          </a:bodyPr>
          <a:lstStyle/>
          <a:p>
            <a:pPr algn="l"/>
            <a:r>
              <a:rPr sz="1500" b="0">
                <a:solidFill>
                  <a:srgbClr val="344251"/>
                </a:solidFill>
                <a:latin typeface="Calibri"/>
              </a:rPr>
              <a:t>Phase 1 covers the N75 fleet. Oil and fuel filters form the core service pack, with the air filter as the primary attach. Genuine parts are proposed first, unless a genuine SPA or a BVP offers the lower price.</a:t>
            </a:r>
          </a:p>
        </p:txBody>
      </p:sp>
      <p:sp>
        <p:nvSpPr>
          <p:cNvPr id="10" name="TextBox 9"/>
          <p:cNvSpPr txBox="1"/>
          <p:nvPr/>
        </p:nvSpPr>
        <p:spPr>
          <a:xfrm>
            <a:off x="502920" y="5074920"/>
            <a:ext cx="6766560" cy="329184"/>
          </a:xfrm>
          <a:prstGeom prst="rect">
            <a:avLst/>
          </a:prstGeom>
          <a:noFill/>
        </p:spPr>
        <p:txBody>
          <a:bodyPr wrap="square" anchor="t">
            <a:spAutoFit/>
          </a:bodyPr>
          <a:lstStyle/>
          <a:p>
            <a:pPr algn="l"/>
            <a:r>
              <a:rPr sz="1400" b="1">
                <a:solidFill>
                  <a:srgbClr val="1B2733"/>
                </a:solidFill>
                <a:latin typeface="Calibri"/>
              </a:rPr>
              <a:t>18 August 2026  ·  complementary to the ITUK PMS pack</a:t>
            </a:r>
          </a:p>
        </p:txBody>
      </p:sp>
      <p:pic>
        <p:nvPicPr>
          <p:cNvPr id="11" name="Picture 10" descr="isuzu_logo_red.png"/>
          <p:cNvPicPr>
            <a:picLocks noChangeAspect="1"/>
          </p:cNvPicPr>
          <p:nvPr/>
        </p:nvPicPr>
        <p:blipFill>
          <a:blip r:embed="rId3"/>
          <a:stretch>
            <a:fillRect/>
          </a:stretch>
        </p:blipFill>
        <p:spPr>
          <a:xfrm>
            <a:off x="502920" y="5925312"/>
            <a:ext cx="1679787" cy="292608"/>
          </a:xfrm>
          <a:prstGeom prst="rect">
            <a:avLst/>
          </a:prstGeom>
        </p:spPr>
      </p:pic>
      <p:sp>
        <p:nvSpPr>
          <p:cNvPr id="12" name="Rectangle 11"/>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Contents</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2</a:t>
            </a:r>
          </a:p>
        </p:txBody>
      </p:sp>
      <p:sp>
        <p:nvSpPr>
          <p:cNvPr id="9" name="Rectangle 8"/>
          <p:cNvSpPr/>
          <p:nvPr/>
        </p:nvSpPr>
        <p:spPr>
          <a:xfrm>
            <a:off x="438912" y="1115568"/>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8912" y="1115568"/>
            <a:ext cx="640080" cy="640080"/>
          </a:xfrm>
          <a:prstGeom prst="rect">
            <a:avLst/>
          </a:prstGeom>
          <a:noFill/>
        </p:spPr>
        <p:txBody>
          <a:bodyPr wrap="square" anchor="ctr">
            <a:spAutoFit/>
          </a:bodyPr>
          <a:lstStyle/>
          <a:p>
            <a:pPr algn="ctr"/>
            <a:r>
              <a:rPr sz="1400" b="1">
                <a:solidFill>
                  <a:srgbClr val="FFFFFF"/>
                </a:solidFill>
                <a:latin typeface="Calibri"/>
              </a:rPr>
              <a:t>01</a:t>
            </a:r>
          </a:p>
        </p:txBody>
      </p:sp>
      <p:sp>
        <p:nvSpPr>
          <p:cNvPr id="11" name="TextBox 10"/>
          <p:cNvSpPr txBox="1"/>
          <p:nvPr/>
        </p:nvSpPr>
        <p:spPr>
          <a:xfrm>
            <a:off x="1261872" y="1152144"/>
            <a:ext cx="10241280" cy="274320"/>
          </a:xfrm>
          <a:prstGeom prst="rect">
            <a:avLst/>
          </a:prstGeom>
          <a:noFill/>
        </p:spPr>
        <p:txBody>
          <a:bodyPr wrap="square" anchor="t">
            <a:spAutoFit/>
          </a:bodyPr>
          <a:lstStyle/>
          <a:p>
            <a:pPr algn="l"/>
            <a:r>
              <a:rPr sz="1600" b="1">
                <a:solidFill>
                  <a:srgbClr val="1B2733"/>
                </a:solidFill>
                <a:latin typeface="Calibri"/>
              </a:rPr>
              <a:t>Where this sits</a:t>
            </a:r>
          </a:p>
        </p:txBody>
      </p:sp>
      <p:sp>
        <p:nvSpPr>
          <p:cNvPr id="12" name="TextBox 11"/>
          <p:cNvSpPr txBox="1"/>
          <p:nvPr/>
        </p:nvSpPr>
        <p:spPr>
          <a:xfrm>
            <a:off x="1261872" y="1426464"/>
            <a:ext cx="10241280" cy="292608"/>
          </a:xfrm>
          <a:prstGeom prst="rect">
            <a:avLst/>
          </a:prstGeom>
          <a:noFill/>
        </p:spPr>
        <p:txBody>
          <a:bodyPr wrap="square" anchor="t">
            <a:spAutoFit/>
          </a:bodyPr>
          <a:lstStyle/>
          <a:p>
            <a:pPr algn="l"/>
            <a:r>
              <a:rPr sz="1300" b="0">
                <a:solidFill>
                  <a:srgbClr val="344251"/>
                </a:solidFill>
                <a:latin typeface="Calibri"/>
              </a:rPr>
              <a:t>The same N75 scope and 40,000 km interval as the ITUK pack, with ISZE figures applied to it.</a:t>
            </a:r>
          </a:p>
        </p:txBody>
      </p:sp>
      <p:sp>
        <p:nvSpPr>
          <p:cNvPr id="13" name="Rectangle 12"/>
          <p:cNvSpPr/>
          <p:nvPr/>
        </p:nvSpPr>
        <p:spPr>
          <a:xfrm>
            <a:off x="438912" y="1865376"/>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 y="1865376"/>
            <a:ext cx="640080" cy="640080"/>
          </a:xfrm>
          <a:prstGeom prst="rect">
            <a:avLst/>
          </a:prstGeom>
          <a:noFill/>
        </p:spPr>
        <p:txBody>
          <a:bodyPr wrap="square" anchor="ctr">
            <a:spAutoFit/>
          </a:bodyPr>
          <a:lstStyle/>
          <a:p>
            <a:pPr algn="ctr"/>
            <a:r>
              <a:rPr sz="1400" b="1">
                <a:solidFill>
                  <a:srgbClr val="FFFFFF"/>
                </a:solidFill>
                <a:latin typeface="Calibri"/>
              </a:rPr>
              <a:t>02</a:t>
            </a:r>
          </a:p>
        </p:txBody>
      </p:sp>
      <p:sp>
        <p:nvSpPr>
          <p:cNvPr id="15" name="TextBox 14"/>
          <p:cNvSpPr txBox="1"/>
          <p:nvPr/>
        </p:nvSpPr>
        <p:spPr>
          <a:xfrm>
            <a:off x="1261872" y="1901952"/>
            <a:ext cx="10241280" cy="274320"/>
          </a:xfrm>
          <a:prstGeom prst="rect">
            <a:avLst/>
          </a:prstGeom>
          <a:noFill/>
        </p:spPr>
        <p:txBody>
          <a:bodyPr wrap="square" anchor="t">
            <a:spAutoFit/>
          </a:bodyPr>
          <a:lstStyle/>
          <a:p>
            <a:pPr algn="l"/>
            <a:r>
              <a:rPr sz="1600" b="1">
                <a:solidFill>
                  <a:srgbClr val="1B2733"/>
                </a:solidFill>
                <a:latin typeface="Calibri"/>
              </a:rPr>
              <a:t>The one percent</a:t>
            </a:r>
          </a:p>
        </p:txBody>
      </p:sp>
      <p:sp>
        <p:nvSpPr>
          <p:cNvPr id="16" name="TextBox 15"/>
          <p:cNvSpPr txBox="1"/>
          <p:nvPr/>
        </p:nvSpPr>
        <p:spPr>
          <a:xfrm>
            <a:off x="1261872" y="2176272"/>
            <a:ext cx="10241280" cy="292608"/>
          </a:xfrm>
          <a:prstGeom prst="rect">
            <a:avLst/>
          </a:prstGeom>
          <a:noFill/>
        </p:spPr>
        <p:txBody>
          <a:bodyPr wrap="square" anchor="t">
            <a:spAutoFit/>
          </a:bodyPr>
          <a:lstStyle/>
          <a:p>
            <a:pPr algn="l"/>
            <a:r>
              <a:rPr sz="1300" b="0">
                <a:solidFill>
                  <a:srgbClr val="344251"/>
                </a:solidFill>
                <a:latin typeface="Calibri"/>
              </a:rPr>
              <a:t>A one percent uplift across all PMS parts sold to dealers: 182 units, approximately EUR 4,207.</a:t>
            </a:r>
          </a:p>
        </p:txBody>
      </p:sp>
      <p:sp>
        <p:nvSpPr>
          <p:cNvPr id="17" name="Rectangle 16"/>
          <p:cNvSpPr/>
          <p:nvPr/>
        </p:nvSpPr>
        <p:spPr>
          <a:xfrm>
            <a:off x="438912" y="2615184"/>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38912" y="2615184"/>
            <a:ext cx="640080" cy="640080"/>
          </a:xfrm>
          <a:prstGeom prst="rect">
            <a:avLst/>
          </a:prstGeom>
          <a:noFill/>
        </p:spPr>
        <p:txBody>
          <a:bodyPr wrap="square" anchor="ctr">
            <a:spAutoFit/>
          </a:bodyPr>
          <a:lstStyle/>
          <a:p>
            <a:pPr algn="ctr"/>
            <a:r>
              <a:rPr sz="1400" b="1">
                <a:solidFill>
                  <a:srgbClr val="FFFFFF"/>
                </a:solidFill>
                <a:latin typeface="Calibri"/>
              </a:rPr>
              <a:t>03</a:t>
            </a:r>
          </a:p>
        </p:txBody>
      </p:sp>
      <p:sp>
        <p:nvSpPr>
          <p:cNvPr id="19" name="TextBox 18"/>
          <p:cNvSpPr txBox="1"/>
          <p:nvPr/>
        </p:nvSpPr>
        <p:spPr>
          <a:xfrm>
            <a:off x="1261872" y="2651760"/>
            <a:ext cx="10241280" cy="274320"/>
          </a:xfrm>
          <a:prstGeom prst="rect">
            <a:avLst/>
          </a:prstGeom>
          <a:noFill/>
        </p:spPr>
        <p:txBody>
          <a:bodyPr wrap="square" anchor="t">
            <a:spAutoFit/>
          </a:bodyPr>
          <a:lstStyle/>
          <a:p>
            <a:pPr algn="l"/>
            <a:r>
              <a:rPr sz="1600" b="1">
                <a:solidFill>
                  <a:srgbClr val="1B2733"/>
                </a:solidFill>
                <a:latin typeface="Calibri"/>
              </a:rPr>
              <a:t>Coverage</a:t>
            </a:r>
          </a:p>
        </p:txBody>
      </p:sp>
      <p:sp>
        <p:nvSpPr>
          <p:cNvPr id="20" name="TextBox 19"/>
          <p:cNvSpPr txBox="1"/>
          <p:nvPr/>
        </p:nvSpPr>
        <p:spPr>
          <a:xfrm>
            <a:off x="1261872" y="2926080"/>
            <a:ext cx="10241280" cy="292608"/>
          </a:xfrm>
          <a:prstGeom prst="rect">
            <a:avLst/>
          </a:prstGeom>
          <a:noFill/>
        </p:spPr>
        <p:txBody>
          <a:bodyPr wrap="square" anchor="t">
            <a:spAutoFit/>
          </a:bodyPr>
          <a:lstStyle/>
          <a:p>
            <a:pPr algn="l"/>
            <a:r>
              <a:rPr sz="1300" b="0">
                <a:solidFill>
                  <a:srgbClr val="344251"/>
                </a:solidFill>
                <a:latin typeface="Calibri"/>
              </a:rPr>
              <a:t>The air filter is the largest gap. The fuel filter is approximately two thirds covered. The method follows.</a:t>
            </a:r>
          </a:p>
        </p:txBody>
      </p:sp>
      <p:sp>
        <p:nvSpPr>
          <p:cNvPr id="21" name="Rectangle 20"/>
          <p:cNvSpPr/>
          <p:nvPr/>
        </p:nvSpPr>
        <p:spPr>
          <a:xfrm>
            <a:off x="438912" y="3364992"/>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38912" y="3364992"/>
            <a:ext cx="640080" cy="640080"/>
          </a:xfrm>
          <a:prstGeom prst="rect">
            <a:avLst/>
          </a:prstGeom>
          <a:noFill/>
        </p:spPr>
        <p:txBody>
          <a:bodyPr wrap="square" anchor="ctr">
            <a:spAutoFit/>
          </a:bodyPr>
          <a:lstStyle/>
          <a:p>
            <a:pPr algn="ctr"/>
            <a:r>
              <a:rPr sz="1400" b="1">
                <a:solidFill>
                  <a:srgbClr val="FFFFFF"/>
                </a:solidFill>
                <a:latin typeface="Calibri"/>
              </a:rPr>
              <a:t>04</a:t>
            </a:r>
          </a:p>
        </p:txBody>
      </p:sp>
      <p:sp>
        <p:nvSpPr>
          <p:cNvPr id="23" name="TextBox 22"/>
          <p:cNvSpPr txBox="1"/>
          <p:nvPr/>
        </p:nvSpPr>
        <p:spPr>
          <a:xfrm>
            <a:off x="1261872" y="3401568"/>
            <a:ext cx="10241280" cy="274320"/>
          </a:xfrm>
          <a:prstGeom prst="rect">
            <a:avLst/>
          </a:prstGeom>
          <a:noFill/>
        </p:spPr>
        <p:txBody>
          <a:bodyPr wrap="square" anchor="t">
            <a:spAutoFit/>
          </a:bodyPr>
          <a:lstStyle/>
          <a:p>
            <a:pPr algn="l"/>
            <a:r>
              <a:rPr sz="1600" b="1">
                <a:solidFill>
                  <a:srgbClr val="1B2733"/>
                </a:solidFill>
                <a:latin typeface="Calibri"/>
              </a:rPr>
              <a:t>Price route</a:t>
            </a:r>
          </a:p>
        </p:txBody>
      </p:sp>
      <p:sp>
        <p:nvSpPr>
          <p:cNvPr id="24" name="TextBox 23"/>
          <p:cNvSpPr txBox="1"/>
          <p:nvPr/>
        </p:nvSpPr>
        <p:spPr>
          <a:xfrm>
            <a:off x="1261872" y="3675888"/>
            <a:ext cx="10241280" cy="292608"/>
          </a:xfrm>
          <a:prstGeom prst="rect">
            <a:avLst/>
          </a:prstGeom>
          <a:noFill/>
        </p:spPr>
        <p:txBody>
          <a:bodyPr wrap="square" anchor="t">
            <a:spAutoFit/>
          </a:bodyPr>
          <a:lstStyle/>
          <a:p>
            <a:pPr algn="l"/>
            <a:r>
              <a:rPr sz="1300" b="0">
                <a:solidFill>
                  <a:srgbClr val="344251"/>
                </a:solidFill>
                <a:latin typeface="Calibri"/>
              </a:rPr>
              <a:t>A BVP where genuine demand is low, or an SPA where genuine can be brought in at a lower price.</a:t>
            </a:r>
          </a:p>
        </p:txBody>
      </p:sp>
      <p:sp>
        <p:nvSpPr>
          <p:cNvPr id="25" name="Rectangle 24"/>
          <p:cNvSpPr/>
          <p:nvPr/>
        </p:nvSpPr>
        <p:spPr>
          <a:xfrm>
            <a:off x="438912" y="4114800"/>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38912" y="4114800"/>
            <a:ext cx="640080" cy="640080"/>
          </a:xfrm>
          <a:prstGeom prst="rect">
            <a:avLst/>
          </a:prstGeom>
          <a:noFill/>
        </p:spPr>
        <p:txBody>
          <a:bodyPr wrap="square" anchor="ctr">
            <a:spAutoFit/>
          </a:bodyPr>
          <a:lstStyle/>
          <a:p>
            <a:pPr algn="ctr"/>
            <a:r>
              <a:rPr sz="1400" b="1">
                <a:solidFill>
                  <a:srgbClr val="FFFFFF"/>
                </a:solidFill>
                <a:latin typeface="Calibri"/>
              </a:rPr>
              <a:t>05</a:t>
            </a:r>
          </a:p>
        </p:txBody>
      </p:sp>
      <p:sp>
        <p:nvSpPr>
          <p:cNvPr id="27" name="TextBox 26"/>
          <p:cNvSpPr txBox="1"/>
          <p:nvPr/>
        </p:nvSpPr>
        <p:spPr>
          <a:xfrm>
            <a:off x="1261872" y="4151376"/>
            <a:ext cx="10241280" cy="274320"/>
          </a:xfrm>
          <a:prstGeom prst="rect">
            <a:avLst/>
          </a:prstGeom>
          <a:noFill/>
        </p:spPr>
        <p:txBody>
          <a:bodyPr wrap="square" anchor="t">
            <a:spAutoFit/>
          </a:bodyPr>
          <a:lstStyle/>
          <a:p>
            <a:pPr algn="l"/>
            <a:r>
              <a:rPr sz="1600" b="1">
                <a:solidFill>
                  <a:srgbClr val="1B2733"/>
                </a:solidFill>
                <a:latin typeface="Calibri"/>
              </a:rPr>
              <a:t>Urea, brakes, clutch</a:t>
            </a:r>
          </a:p>
        </p:txBody>
      </p:sp>
      <p:sp>
        <p:nvSpPr>
          <p:cNvPr id="28" name="TextBox 27"/>
          <p:cNvSpPr txBox="1"/>
          <p:nvPr/>
        </p:nvSpPr>
        <p:spPr>
          <a:xfrm>
            <a:off x="1261872" y="4425696"/>
            <a:ext cx="10241280" cy="292608"/>
          </a:xfrm>
          <a:prstGeom prst="rect">
            <a:avLst/>
          </a:prstGeom>
          <a:noFill/>
        </p:spPr>
        <p:txBody>
          <a:bodyPr wrap="square" anchor="t">
            <a:spAutoFit/>
          </a:bodyPr>
          <a:lstStyle/>
          <a:p>
            <a:pPr algn="l"/>
            <a:r>
              <a:rPr sz="1300" b="0">
                <a:solidFill>
                  <a:srgbClr val="344251"/>
                </a:solidFill>
                <a:latin typeface="Calibri"/>
              </a:rPr>
              <a:t>The urea filter kit is retained. Brakes remain condition-based across both pad numbers. The clutch is supplied as a kit for manual transmissions only.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The actions we will take</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3</a:t>
            </a:r>
          </a:p>
        </p:txBody>
      </p:sp>
      <p:sp>
        <p:nvSpPr>
          <p:cNvPr id="9" name="TextBox 8"/>
          <p:cNvSpPr txBox="1"/>
          <p:nvPr/>
        </p:nvSpPr>
        <p:spPr>
          <a:xfrm>
            <a:off x="438912" y="1042415"/>
            <a:ext cx="11338560" cy="329184"/>
          </a:xfrm>
          <a:prstGeom prst="rect">
            <a:avLst/>
          </a:prstGeom>
          <a:noFill/>
        </p:spPr>
        <p:txBody>
          <a:bodyPr wrap="square" anchor="t">
            <a:spAutoFit/>
          </a:bodyPr>
          <a:lstStyle/>
          <a:p>
            <a:pPr algn="l"/>
            <a:r>
              <a:rPr sz="1400" b="0">
                <a:solidFill>
                  <a:srgbClr val="344251"/>
                </a:solidFill>
                <a:latin typeface="Calibri"/>
              </a:rPr>
              <a:t>Phase 1 covers the N75 fleet on the 40,000 km interval, scheduled PMS only. No additional visits are to be generated.</a:t>
            </a:r>
          </a:p>
        </p:txBody>
      </p:sp>
      <p:sp>
        <p:nvSpPr>
          <p:cNvPr id="10" name="Rounded Rectangle 9"/>
          <p:cNvSpPr/>
          <p:nvPr/>
        </p:nvSpPr>
        <p:spPr>
          <a:xfrm>
            <a:off x="438912" y="1481328"/>
            <a:ext cx="2743200" cy="23317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5216" y="1645920"/>
            <a:ext cx="2450592" cy="292608"/>
          </a:xfrm>
          <a:prstGeom prst="rect">
            <a:avLst/>
          </a:prstGeom>
          <a:noFill/>
        </p:spPr>
        <p:txBody>
          <a:bodyPr wrap="square" anchor="t">
            <a:spAutoFit/>
          </a:bodyPr>
          <a:lstStyle/>
          <a:p>
            <a:pPr algn="l"/>
            <a:r>
              <a:rPr sz="1600" b="1">
                <a:solidFill>
                  <a:srgbClr val="1B2733"/>
                </a:solidFill>
                <a:latin typeface="Calibri"/>
              </a:rPr>
              <a:t>Filter pack</a:t>
            </a:r>
          </a:p>
        </p:txBody>
      </p:sp>
      <p:sp>
        <p:nvSpPr>
          <p:cNvPr id="13" name="TextBox 12"/>
          <p:cNvSpPr txBox="1"/>
          <p:nvPr/>
        </p:nvSpPr>
        <p:spPr>
          <a:xfrm>
            <a:off x="585216" y="1938528"/>
            <a:ext cx="2450592" cy="256032"/>
          </a:xfrm>
          <a:prstGeom prst="rect">
            <a:avLst/>
          </a:prstGeom>
          <a:noFill/>
        </p:spPr>
        <p:txBody>
          <a:bodyPr wrap="square" anchor="t">
            <a:spAutoFit/>
          </a:bodyPr>
          <a:lstStyle/>
          <a:p>
            <a:pPr algn="l"/>
            <a:r>
              <a:rPr sz="1200" b="1">
                <a:solidFill>
                  <a:srgbClr val="ED1C24"/>
                </a:solidFill>
                <a:latin typeface="Calibri"/>
              </a:rPr>
              <a:t>Oil, fuel and air</a:t>
            </a:r>
          </a:p>
        </p:txBody>
      </p:sp>
      <p:sp>
        <p:nvSpPr>
          <p:cNvPr id="14" name="TextBox 13"/>
          <p:cNvSpPr txBox="1"/>
          <p:nvPr/>
        </p:nvSpPr>
        <p:spPr>
          <a:xfrm>
            <a:off x="585216" y="2359152"/>
            <a:ext cx="2450592" cy="1874519"/>
          </a:xfrm>
          <a:prstGeom prst="rect">
            <a:avLst/>
          </a:prstGeom>
          <a:noFill/>
        </p:spPr>
        <p:txBody>
          <a:bodyPr wrap="square" anchor="t">
            <a:spAutoFit/>
          </a:bodyPr>
          <a:lstStyle/>
          <a:p>
            <a:pPr algn="l"/>
            <a:r>
              <a:rPr sz="1200" b="0">
                <a:solidFill>
                  <a:srgbClr val="344251"/>
                </a:solidFill>
                <a:latin typeface="Calibri"/>
              </a:rPr>
              <a:t>All three filters go out as one set on the scheduled service. Oil and fuel are already established; the air filter is the one most often left off. Selling the three together is the primary action.</a:t>
            </a:r>
          </a:p>
        </p:txBody>
      </p:sp>
      <p:sp>
        <p:nvSpPr>
          <p:cNvPr id="15" name="Rounded Rectangle 14"/>
          <p:cNvSpPr/>
          <p:nvPr/>
        </p:nvSpPr>
        <p:spPr>
          <a:xfrm>
            <a:off x="3328416" y="1481328"/>
            <a:ext cx="2743200" cy="23317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328416"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74720" y="1645920"/>
            <a:ext cx="2450592" cy="292608"/>
          </a:xfrm>
          <a:prstGeom prst="rect">
            <a:avLst/>
          </a:prstGeom>
          <a:noFill/>
        </p:spPr>
        <p:txBody>
          <a:bodyPr wrap="square" anchor="t">
            <a:spAutoFit/>
          </a:bodyPr>
          <a:lstStyle/>
          <a:p>
            <a:pPr algn="l"/>
            <a:r>
              <a:rPr sz="1600" b="1">
                <a:solidFill>
                  <a:srgbClr val="1B2733"/>
                </a:solidFill>
                <a:latin typeface="Calibri"/>
              </a:rPr>
              <a:t>BVP</a:t>
            </a:r>
          </a:p>
        </p:txBody>
      </p:sp>
      <p:sp>
        <p:nvSpPr>
          <p:cNvPr id="18" name="TextBox 17"/>
          <p:cNvSpPr txBox="1"/>
          <p:nvPr/>
        </p:nvSpPr>
        <p:spPr>
          <a:xfrm>
            <a:off x="3474720" y="1938528"/>
            <a:ext cx="2450592" cy="256032"/>
          </a:xfrm>
          <a:prstGeom prst="rect">
            <a:avLst/>
          </a:prstGeom>
          <a:noFill/>
        </p:spPr>
        <p:txBody>
          <a:bodyPr wrap="square" anchor="t">
            <a:spAutoFit/>
          </a:bodyPr>
          <a:lstStyle/>
          <a:p>
            <a:pPr algn="l"/>
            <a:r>
              <a:rPr sz="1200" b="1">
                <a:solidFill>
                  <a:srgbClr val="ED1C24"/>
                </a:solidFill>
                <a:latin typeface="Calibri"/>
              </a:rPr>
              <a:t>Where genuine is quiet</a:t>
            </a:r>
          </a:p>
        </p:txBody>
      </p:sp>
      <p:sp>
        <p:nvSpPr>
          <p:cNvPr id="19" name="TextBox 18"/>
          <p:cNvSpPr txBox="1"/>
          <p:nvPr/>
        </p:nvSpPr>
        <p:spPr>
          <a:xfrm>
            <a:off x="3474720" y="2359152"/>
            <a:ext cx="2450592" cy="1874519"/>
          </a:xfrm>
          <a:prstGeom prst="rect">
            <a:avLst/>
          </a:prstGeom>
          <a:noFill/>
        </p:spPr>
        <p:txBody>
          <a:bodyPr wrap="square" anchor="t">
            <a:spAutoFit/>
          </a:bodyPr>
          <a:lstStyle/>
          <a:p>
            <a:pPr algn="l"/>
            <a:r>
              <a:rPr sz="1200" b="0">
                <a:solidFill>
                  <a:srgbClr val="344251"/>
                </a:solidFill>
                <a:latin typeface="Calibri"/>
              </a:rPr>
              <a:t>A BVP equivalent exists for the oil, fuel and air filter. It is used where genuine demand is low, or where the BVP wins on price.</a:t>
            </a:r>
          </a:p>
        </p:txBody>
      </p:sp>
      <p:sp>
        <p:nvSpPr>
          <p:cNvPr id="20" name="Rounded Rectangle 19"/>
          <p:cNvSpPr/>
          <p:nvPr/>
        </p:nvSpPr>
        <p:spPr>
          <a:xfrm>
            <a:off x="6217920" y="1481328"/>
            <a:ext cx="2743200" cy="23317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17920"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64224" y="1645920"/>
            <a:ext cx="2450592" cy="292608"/>
          </a:xfrm>
          <a:prstGeom prst="rect">
            <a:avLst/>
          </a:prstGeom>
          <a:noFill/>
        </p:spPr>
        <p:txBody>
          <a:bodyPr wrap="square" anchor="t">
            <a:spAutoFit/>
          </a:bodyPr>
          <a:lstStyle/>
          <a:p>
            <a:pPr algn="l"/>
            <a:r>
              <a:rPr sz="1600" b="1">
                <a:solidFill>
                  <a:srgbClr val="1B2733"/>
                </a:solidFill>
                <a:latin typeface="Calibri"/>
              </a:rPr>
              <a:t>SPA</a:t>
            </a:r>
          </a:p>
        </p:txBody>
      </p:sp>
      <p:sp>
        <p:nvSpPr>
          <p:cNvPr id="23" name="TextBox 22"/>
          <p:cNvSpPr txBox="1"/>
          <p:nvPr/>
        </p:nvSpPr>
        <p:spPr>
          <a:xfrm>
            <a:off x="6364224" y="1938528"/>
            <a:ext cx="2450592" cy="256032"/>
          </a:xfrm>
          <a:prstGeom prst="rect">
            <a:avLst/>
          </a:prstGeom>
          <a:noFill/>
        </p:spPr>
        <p:txBody>
          <a:bodyPr wrap="square" anchor="t">
            <a:spAutoFit/>
          </a:bodyPr>
          <a:lstStyle/>
          <a:p>
            <a:pPr algn="l"/>
            <a:r>
              <a:rPr sz="1200" b="1">
                <a:solidFill>
                  <a:srgbClr val="ED1C24"/>
                </a:solidFill>
                <a:latin typeface="Calibri"/>
              </a:rPr>
              <a:t>Where price is the barrier</a:t>
            </a:r>
          </a:p>
        </p:txBody>
      </p:sp>
      <p:sp>
        <p:nvSpPr>
          <p:cNvPr id="24" name="TextBox 23"/>
          <p:cNvSpPr txBox="1"/>
          <p:nvPr/>
        </p:nvSpPr>
        <p:spPr>
          <a:xfrm>
            <a:off x="6364224" y="2359152"/>
            <a:ext cx="2450592" cy="1874519"/>
          </a:xfrm>
          <a:prstGeom prst="rect">
            <a:avLst/>
          </a:prstGeom>
          <a:noFill/>
        </p:spPr>
        <p:txBody>
          <a:bodyPr wrap="square" anchor="t">
            <a:spAutoFit/>
          </a:bodyPr>
          <a:lstStyle/>
          <a:p>
            <a:pPr algn="l"/>
            <a:r>
              <a:rPr sz="1200" b="0">
                <a:solidFill>
                  <a:srgbClr val="344251"/>
                </a:solidFill>
                <a:latin typeface="Calibri"/>
              </a:rPr>
              <a:t>No BVP exists for the R90 brake pad, so an SPA on genuine is the only lever. Brakes stay condition-based and are supplied when the repair requires them.</a:t>
            </a:r>
          </a:p>
        </p:txBody>
      </p:sp>
      <p:sp>
        <p:nvSpPr>
          <p:cNvPr id="25" name="Rounded Rectangle 24"/>
          <p:cNvSpPr/>
          <p:nvPr/>
        </p:nvSpPr>
        <p:spPr>
          <a:xfrm>
            <a:off x="9107424" y="1481328"/>
            <a:ext cx="2743200" cy="23317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107424"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253728" y="1645920"/>
            <a:ext cx="2450592" cy="292608"/>
          </a:xfrm>
          <a:prstGeom prst="rect">
            <a:avLst/>
          </a:prstGeom>
          <a:noFill/>
        </p:spPr>
        <p:txBody>
          <a:bodyPr wrap="square" anchor="t">
            <a:spAutoFit/>
          </a:bodyPr>
          <a:lstStyle/>
          <a:p>
            <a:pPr algn="l"/>
            <a:r>
              <a:rPr sz="1600" b="1">
                <a:solidFill>
                  <a:srgbClr val="1B2733"/>
                </a:solidFill>
                <a:latin typeface="Calibri"/>
              </a:rPr>
              <a:t>Clutch kit</a:t>
            </a:r>
          </a:p>
        </p:txBody>
      </p:sp>
      <p:sp>
        <p:nvSpPr>
          <p:cNvPr id="28" name="TextBox 27"/>
          <p:cNvSpPr txBox="1"/>
          <p:nvPr/>
        </p:nvSpPr>
        <p:spPr>
          <a:xfrm>
            <a:off x="9253728" y="1938528"/>
            <a:ext cx="2450592" cy="256032"/>
          </a:xfrm>
          <a:prstGeom prst="rect">
            <a:avLst/>
          </a:prstGeom>
          <a:noFill/>
        </p:spPr>
        <p:txBody>
          <a:bodyPr wrap="square" anchor="t">
            <a:spAutoFit/>
          </a:bodyPr>
          <a:lstStyle/>
          <a:p>
            <a:pPr algn="l"/>
            <a:r>
              <a:rPr sz="1200" b="1">
                <a:solidFill>
                  <a:srgbClr val="ED1C24"/>
                </a:solidFill>
                <a:latin typeface="Calibri"/>
              </a:rPr>
              <a:t>Manual transmissions only</a:t>
            </a:r>
          </a:p>
        </p:txBody>
      </p:sp>
      <p:sp>
        <p:nvSpPr>
          <p:cNvPr id="29" name="TextBox 28"/>
          <p:cNvSpPr txBox="1"/>
          <p:nvPr/>
        </p:nvSpPr>
        <p:spPr>
          <a:xfrm>
            <a:off x="9253728" y="2359152"/>
            <a:ext cx="2450592" cy="1874519"/>
          </a:xfrm>
          <a:prstGeom prst="rect">
            <a:avLst/>
          </a:prstGeom>
          <a:noFill/>
        </p:spPr>
        <p:txBody>
          <a:bodyPr wrap="square" anchor="t">
            <a:spAutoFit/>
          </a:bodyPr>
          <a:lstStyle/>
          <a:p>
            <a:pPr algn="l"/>
            <a:r>
              <a:rPr sz="1200" b="0">
                <a:solidFill>
                  <a:srgbClr val="344251"/>
                </a:solidFill>
                <a:latin typeface="Calibri"/>
              </a:rPr>
              <a:t>No broad campaign. Kit 5876102320 on identified manual units, until transmission data is available.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One percent uplift on all PMS parts</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4</a:t>
            </a:r>
          </a:p>
        </p:txBody>
      </p:sp>
      <p:sp>
        <p:nvSpPr>
          <p:cNvPr id="9" name="Rounded Rectangle 8"/>
          <p:cNvSpPr/>
          <p:nvPr/>
        </p:nvSpPr>
        <p:spPr>
          <a:xfrm>
            <a:off x="438912" y="1115568"/>
            <a:ext cx="5532120" cy="23317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261872"/>
            <a:ext cx="5120640" cy="256032"/>
          </a:xfrm>
          <a:prstGeom prst="rect">
            <a:avLst/>
          </a:prstGeom>
          <a:noFill/>
        </p:spPr>
        <p:txBody>
          <a:bodyPr wrap="square" anchor="t">
            <a:spAutoFit/>
          </a:bodyPr>
          <a:lstStyle/>
          <a:p>
            <a:pPr algn="l"/>
            <a:r>
              <a:rPr sz="1200" b="1">
                <a:solidFill>
                  <a:srgbClr val="ED1C24"/>
                </a:solidFill>
                <a:latin typeface="Calibri"/>
              </a:rPr>
              <a:t>ITUK to dealer, calendar 2025</a:t>
            </a:r>
          </a:p>
        </p:txBody>
      </p:sp>
      <p:sp>
        <p:nvSpPr>
          <p:cNvPr id="11" name="TextBox 10"/>
          <p:cNvSpPr txBox="1"/>
          <p:nvPr/>
        </p:nvSpPr>
        <p:spPr>
          <a:xfrm>
            <a:off x="640080" y="1554480"/>
            <a:ext cx="5120640" cy="777240"/>
          </a:xfrm>
          <a:prstGeom prst="rect">
            <a:avLst/>
          </a:prstGeom>
          <a:noFill/>
        </p:spPr>
        <p:txBody>
          <a:bodyPr wrap="square" anchor="t">
            <a:spAutoFit/>
          </a:bodyPr>
          <a:lstStyle/>
          <a:p>
            <a:pPr algn="l"/>
            <a:r>
              <a:rPr sz="5400" b="1">
                <a:solidFill>
                  <a:srgbClr val="1B2733"/>
                </a:solidFill>
                <a:latin typeface="Calibri"/>
              </a:rPr>
              <a:t>+1%</a:t>
            </a:r>
          </a:p>
        </p:txBody>
      </p:sp>
      <p:sp>
        <p:nvSpPr>
          <p:cNvPr id="12" name="TextBox 11"/>
          <p:cNvSpPr txBox="1"/>
          <p:nvPr/>
        </p:nvSpPr>
        <p:spPr>
          <a:xfrm>
            <a:off x="640080" y="2377440"/>
            <a:ext cx="5120640" cy="640080"/>
          </a:xfrm>
          <a:prstGeom prst="rect">
            <a:avLst/>
          </a:prstGeom>
          <a:noFill/>
        </p:spPr>
        <p:txBody>
          <a:bodyPr wrap="square" anchor="t">
            <a:spAutoFit/>
          </a:bodyPr>
          <a:lstStyle/>
          <a:p>
            <a:pPr algn="l"/>
            <a:r>
              <a:rPr sz="1600" b="0">
                <a:solidFill>
                  <a:srgbClr val="344251"/>
                </a:solidFill>
                <a:latin typeface="Calibri"/>
              </a:rPr>
              <a:t>on the mix of PMS parts already sold today</a:t>
            </a:r>
          </a:p>
        </p:txBody>
      </p:sp>
      <p:sp>
        <p:nvSpPr>
          <p:cNvPr id="12" name="TextBox 11"/>
          <p:cNvSpPr txBox="1"/>
          <p:nvPr/>
        </p:nvSpPr>
        <p:spPr>
          <a:xfrm>
            <a:off x="530352" y="4069080"/>
            <a:ext cx="11247120" cy="822960"/>
          </a:xfrm>
          <a:prstGeom prst="rect">
            <a:avLst/>
          </a:prstGeom>
          <a:noFill/>
        </p:spPr>
        <p:txBody>
          <a:bodyPr wrap="square" anchor="t">
            <a:spAutoFit/>
          </a:bodyPr>
          <a:lstStyle/>
          <a:p>
            <a:pPr algn="l"/>
            <a:r>
              <a:rPr sz="1600" b="0">
                <a:solidFill>
                  <a:srgbClr val="344251"/>
                </a:solidFill>
                <a:latin typeface="Calibri"/>
              </a:rPr>
              <a:t>Delivered through three actions: the complete filter pack on every scheduled service, BVP where genuine is quiet, and SPA where price is the barrier.</a:t>
            </a:r>
          </a:p>
        </p:txBody>
      </p:sp>
      <p:sp>
        <p:nvSpPr>
          <p:cNvPr id="13" name="Rounded Rectangle 12"/>
          <p:cNvSpPr/>
          <p:nvPr/>
        </p:nvSpPr>
        <p:spPr>
          <a:xfrm>
            <a:off x="6172200" y="1115568"/>
            <a:ext cx="5623560" cy="2331720"/>
          </a:xfrm>
          <a:prstGeom prst="roundRect">
            <a:avLst>
              <a:gd name="adj" fmla="val 6000"/>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55080" y="1325880"/>
            <a:ext cx="5257800" cy="640080"/>
          </a:xfrm>
          <a:prstGeom prst="rect">
            <a:avLst/>
          </a:prstGeom>
          <a:noFill/>
        </p:spPr>
        <p:txBody>
          <a:bodyPr wrap="square" anchor="t">
            <a:spAutoFit/>
          </a:bodyPr>
          <a:lstStyle/>
          <a:p>
            <a:pPr algn="l"/>
            <a:r>
              <a:rPr sz="1400" b="0">
                <a:solidFill>
                  <a:srgbClr val="FFFFFF"/>
                </a:solidFill>
                <a:latin typeface="Calibri"/>
              </a:rPr>
              <a:t>A one percent uplift on the parts the network already moves. No change to the mix.</a:t>
            </a:r>
          </a:p>
        </p:txBody>
      </p:sp>
      <p:sp>
        <p:nvSpPr>
          <p:cNvPr id="15" name="TextBox 14"/>
          <p:cNvSpPr txBox="1"/>
          <p:nvPr/>
        </p:nvSpPr>
        <p:spPr>
          <a:xfrm>
            <a:off x="6355080" y="2057400"/>
            <a:ext cx="5257800" cy="1051560"/>
          </a:xfrm>
          <a:prstGeom prst="rect">
            <a:avLst/>
          </a:prstGeom>
          <a:noFill/>
        </p:spPr>
        <p:txBody>
          <a:bodyPr wrap="square" anchor="t">
            <a:spAutoFit/>
          </a:bodyPr>
          <a:lstStyle/>
          <a:p>
            <a:pPr algn="l"/>
            <a:r>
              <a:rPr sz="1400" b="0">
                <a:solidFill>
                  <a:srgbClr val="FFFFFF"/>
                </a:solidFill>
                <a:latin typeface="Calibri"/>
              </a:rPr>
              <a:t>This is not a volume campaign and not additional services. It is better capture of the scheduled work that already takes place.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How the cover percentages are built</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6</a:t>
            </a:r>
          </a:p>
        </p:txBody>
      </p:sp>
      <p:sp>
        <p:nvSpPr>
          <p:cNvPr id="9" name="Rounded Rectangle 8"/>
          <p:cNvSpPr/>
          <p:nvPr/>
        </p:nvSpPr>
        <p:spPr>
          <a:xfrm>
            <a:off x="438912" y="1060704"/>
            <a:ext cx="11356848" cy="658368"/>
          </a:xfrm>
          <a:prstGeom prst="roundRect">
            <a:avLst>
              <a:gd name="adj" fmla="val 6000"/>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060704"/>
            <a:ext cx="10972800" cy="658368"/>
          </a:xfrm>
          <a:prstGeom prst="rect">
            <a:avLst/>
          </a:prstGeom>
          <a:noFill/>
        </p:spPr>
        <p:txBody>
          <a:bodyPr wrap="square" anchor="ctr">
            <a:spAutoFit/>
          </a:bodyPr>
          <a:lstStyle/>
          <a:p>
            <a:pPr algn="l"/>
            <a:r>
              <a:rPr sz="1600" b="1">
                <a:solidFill>
                  <a:srgbClr val="FFFFFF"/>
                </a:solidFill>
                <a:latin typeface="Calibri"/>
              </a:rPr>
              <a:t>Cover %  =  units sold in calendar 2025  /  units the service schedule expects</a:t>
            </a:r>
          </a:p>
        </p:txBody>
      </p:sp>
      <p:sp>
        <p:nvSpPr>
          <p:cNvPr id="11" name="Rounded Rectangle 10"/>
          <p:cNvSpPr/>
          <p:nvPr/>
        </p:nvSpPr>
        <p:spPr>
          <a:xfrm>
            <a:off x="438912" y="1883664"/>
            <a:ext cx="3657600" cy="17830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8912" y="1883664"/>
            <a:ext cx="36576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85216" y="2048256"/>
            <a:ext cx="3364992" cy="292608"/>
          </a:xfrm>
          <a:prstGeom prst="rect">
            <a:avLst/>
          </a:prstGeom>
          <a:noFill/>
        </p:spPr>
        <p:txBody>
          <a:bodyPr wrap="square" anchor="t">
            <a:spAutoFit/>
          </a:bodyPr>
          <a:lstStyle/>
          <a:p>
            <a:pPr algn="l"/>
            <a:r>
              <a:rPr sz="1600" b="1">
                <a:solidFill>
                  <a:srgbClr val="1B2733"/>
                </a:solidFill>
                <a:latin typeface="Calibri"/>
              </a:rPr>
              <a:t>1.  The car park</a:t>
            </a:r>
          </a:p>
        </p:txBody>
      </p:sp>
      <p:sp>
        <p:nvSpPr>
          <p:cNvPr id="14" name="TextBox 13"/>
          <p:cNvSpPr txBox="1"/>
          <p:nvPr/>
        </p:nvSpPr>
        <p:spPr>
          <a:xfrm>
            <a:off x="585216" y="2340864"/>
            <a:ext cx="3364992" cy="256032"/>
          </a:xfrm>
          <a:prstGeom prst="rect">
            <a:avLst/>
          </a:prstGeom>
          <a:noFill/>
        </p:spPr>
        <p:txBody>
          <a:bodyPr wrap="square" anchor="t">
            <a:spAutoFit/>
          </a:bodyPr>
          <a:lstStyle/>
          <a:p>
            <a:pPr algn="l"/>
            <a:r>
              <a:rPr sz="1200" b="1">
                <a:solidFill>
                  <a:srgbClr val="ED1C24"/>
                </a:solidFill>
                <a:latin typeface="Calibri"/>
              </a:rPr>
              <a:t>9,359 N75</a:t>
            </a:r>
          </a:p>
        </p:txBody>
      </p:sp>
      <p:sp>
        <p:nvSpPr>
          <p:cNvPr id="15" name="TextBox 14"/>
          <p:cNvSpPr txBox="1"/>
          <p:nvPr/>
        </p:nvSpPr>
        <p:spPr>
          <a:xfrm>
            <a:off x="585216" y="2633472"/>
            <a:ext cx="3364992" cy="905256"/>
          </a:xfrm>
          <a:prstGeom prst="rect">
            <a:avLst/>
          </a:prstGeom>
          <a:noFill/>
        </p:spPr>
        <p:txBody>
          <a:bodyPr wrap="square" anchor="t">
            <a:spAutoFit/>
          </a:bodyPr>
          <a:lstStyle/>
          <a:p>
            <a:pPr algn="l"/>
            <a:r>
              <a:rPr sz="1200" b="0">
                <a:solidFill>
                  <a:srgbClr val="344251"/>
                </a:solidFill>
                <a:latin typeface="Calibri"/>
              </a:rPr>
              <a:t>N75 units in operation, DVLA 2024, covering both engine generations. This is not the 22,389 complete UK parc.</a:t>
            </a:r>
          </a:p>
        </p:txBody>
      </p:sp>
      <p:sp>
        <p:nvSpPr>
          <p:cNvPr id="16" name="Rounded Rectangle 15"/>
          <p:cNvSpPr/>
          <p:nvPr/>
        </p:nvSpPr>
        <p:spPr>
          <a:xfrm>
            <a:off x="4288536" y="1883664"/>
            <a:ext cx="3657600" cy="17830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288536" y="1883664"/>
            <a:ext cx="36576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434840" y="2048256"/>
            <a:ext cx="3364992" cy="292608"/>
          </a:xfrm>
          <a:prstGeom prst="rect">
            <a:avLst/>
          </a:prstGeom>
          <a:noFill/>
        </p:spPr>
        <p:txBody>
          <a:bodyPr wrap="square" anchor="t">
            <a:spAutoFit/>
          </a:bodyPr>
          <a:lstStyle/>
          <a:p>
            <a:pPr algn="l"/>
            <a:r>
              <a:rPr sz="1600" b="1">
                <a:solidFill>
                  <a:srgbClr val="1B2733"/>
                </a:solidFill>
                <a:latin typeface="Calibri"/>
              </a:rPr>
              <a:t>2.  How often</a:t>
            </a:r>
          </a:p>
        </p:txBody>
      </p:sp>
      <p:sp>
        <p:nvSpPr>
          <p:cNvPr id="19" name="TextBox 18"/>
          <p:cNvSpPr txBox="1"/>
          <p:nvPr/>
        </p:nvSpPr>
        <p:spPr>
          <a:xfrm>
            <a:off x="4434840" y="2340864"/>
            <a:ext cx="3364992" cy="256032"/>
          </a:xfrm>
          <a:prstGeom prst="rect">
            <a:avLst/>
          </a:prstGeom>
          <a:noFill/>
        </p:spPr>
        <p:txBody>
          <a:bodyPr wrap="square" anchor="t">
            <a:spAutoFit/>
          </a:bodyPr>
          <a:lstStyle/>
          <a:p>
            <a:pPr algn="l"/>
            <a:r>
              <a:rPr sz="1200" b="1">
                <a:solidFill>
                  <a:srgbClr val="ED1C24"/>
                </a:solidFill>
                <a:latin typeface="Calibri"/>
              </a:rPr>
              <a:t>1.25 services / year</a:t>
            </a:r>
          </a:p>
        </p:txBody>
      </p:sp>
      <p:sp>
        <p:nvSpPr>
          <p:cNvPr id="20" name="TextBox 19"/>
          <p:cNvSpPr txBox="1"/>
          <p:nvPr/>
        </p:nvSpPr>
        <p:spPr>
          <a:xfrm>
            <a:off x="4434840" y="2633472"/>
            <a:ext cx="3364992" cy="905256"/>
          </a:xfrm>
          <a:prstGeom prst="rect">
            <a:avLst/>
          </a:prstGeom>
          <a:noFill/>
        </p:spPr>
        <p:txBody>
          <a:bodyPr wrap="square" anchor="t">
            <a:spAutoFit/>
          </a:bodyPr>
          <a:lstStyle/>
          <a:p>
            <a:pPr algn="l"/>
            <a:r>
              <a:rPr sz="1200" b="0">
                <a:solidFill>
                  <a:srgbClr val="344251"/>
                </a:solidFill>
                <a:latin typeface="Calibri"/>
              </a:rPr>
              <a:t>Planning basis: 50,000 km per year against a 40,000 km filter interval. 50,000 ÷ 40,000 = 1.25.</a:t>
            </a:r>
          </a:p>
        </p:txBody>
      </p:sp>
      <p:sp>
        <p:nvSpPr>
          <p:cNvPr id="21" name="Rounded Rectangle 20"/>
          <p:cNvSpPr/>
          <p:nvPr/>
        </p:nvSpPr>
        <p:spPr>
          <a:xfrm>
            <a:off x="8138160" y="1883664"/>
            <a:ext cx="3657600" cy="17830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138160" y="1883664"/>
            <a:ext cx="36576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84464" y="2048256"/>
            <a:ext cx="3364992" cy="292608"/>
          </a:xfrm>
          <a:prstGeom prst="rect">
            <a:avLst/>
          </a:prstGeom>
          <a:noFill/>
        </p:spPr>
        <p:txBody>
          <a:bodyPr wrap="square" anchor="t">
            <a:spAutoFit/>
          </a:bodyPr>
          <a:lstStyle/>
          <a:p>
            <a:pPr algn="l"/>
            <a:r>
              <a:rPr sz="1600" b="1">
                <a:solidFill>
                  <a:srgbClr val="1B2733"/>
                </a:solidFill>
                <a:latin typeface="Calibri"/>
              </a:rPr>
              <a:t>3.  Expected units</a:t>
            </a:r>
          </a:p>
        </p:txBody>
      </p:sp>
      <p:sp>
        <p:nvSpPr>
          <p:cNvPr id="24" name="TextBox 23"/>
          <p:cNvSpPr txBox="1"/>
          <p:nvPr/>
        </p:nvSpPr>
        <p:spPr>
          <a:xfrm>
            <a:off x="8284464" y="2340864"/>
            <a:ext cx="3364992" cy="256032"/>
          </a:xfrm>
          <a:prstGeom prst="rect">
            <a:avLst/>
          </a:prstGeom>
          <a:noFill/>
        </p:spPr>
        <p:txBody>
          <a:bodyPr wrap="square" anchor="t">
            <a:spAutoFit/>
          </a:bodyPr>
          <a:lstStyle/>
          <a:p>
            <a:pPr algn="l"/>
            <a:r>
              <a:rPr sz="1200" b="1">
                <a:solidFill>
                  <a:srgbClr val="ED1C24"/>
                </a:solidFill>
                <a:latin typeface="Calibri"/>
              </a:rPr>
              <a:t>11,699 filters</a:t>
            </a:r>
          </a:p>
        </p:txBody>
      </p:sp>
      <p:sp>
        <p:nvSpPr>
          <p:cNvPr id="25" name="TextBox 24"/>
          <p:cNvSpPr txBox="1"/>
          <p:nvPr/>
        </p:nvSpPr>
        <p:spPr>
          <a:xfrm>
            <a:off x="8284464" y="2633472"/>
            <a:ext cx="3364992" cy="905256"/>
          </a:xfrm>
          <a:prstGeom prst="rect">
            <a:avLst/>
          </a:prstGeom>
          <a:noFill/>
        </p:spPr>
        <p:txBody>
          <a:bodyPr wrap="square" anchor="t">
            <a:spAutoFit/>
          </a:bodyPr>
          <a:lstStyle/>
          <a:p>
            <a:pPr algn="l"/>
            <a:r>
              <a:rPr sz="1200" b="0">
                <a:solidFill>
                  <a:srgbClr val="344251"/>
                </a:solidFill>
                <a:latin typeface="Calibri"/>
              </a:rPr>
              <a:t>9,359 × 1.25. The same expected quantity applies to oil, fuel and air. This is the denominator.</a:t>
            </a:r>
          </a:p>
        </p:txBody>
      </p:sp>
      <p:sp>
        <p:nvSpPr>
          <p:cNvPr id="26" name="Rectangle 25"/>
          <p:cNvSpPr/>
          <p:nvPr/>
        </p:nvSpPr>
        <p:spPr>
          <a:xfrm>
            <a:off x="438912" y="3822191"/>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30352" y="3822191"/>
            <a:ext cx="3694176" cy="329184"/>
          </a:xfrm>
          <a:prstGeom prst="rect">
            <a:avLst/>
          </a:prstGeom>
          <a:noFill/>
        </p:spPr>
        <p:txBody>
          <a:bodyPr wrap="square" anchor="ctr">
            <a:spAutoFit/>
          </a:bodyPr>
          <a:lstStyle/>
          <a:p>
            <a:pPr algn="l"/>
            <a:r>
              <a:rPr sz="1100" b="1">
                <a:solidFill>
                  <a:srgbClr val="FFFFFF"/>
                </a:solidFill>
                <a:latin typeface="Calibri"/>
              </a:rPr>
              <a:t>Worked example</a:t>
            </a:r>
          </a:p>
        </p:txBody>
      </p:sp>
      <p:sp>
        <p:nvSpPr>
          <p:cNvPr id="28" name="TextBox 27"/>
          <p:cNvSpPr txBox="1"/>
          <p:nvPr/>
        </p:nvSpPr>
        <p:spPr>
          <a:xfrm>
            <a:off x="4370832" y="3822191"/>
            <a:ext cx="2359152" cy="329184"/>
          </a:xfrm>
          <a:prstGeom prst="rect">
            <a:avLst/>
          </a:prstGeom>
          <a:noFill/>
        </p:spPr>
        <p:txBody>
          <a:bodyPr wrap="square" anchor="ctr">
            <a:spAutoFit/>
          </a:bodyPr>
          <a:lstStyle/>
          <a:p>
            <a:pPr algn="r"/>
            <a:r>
              <a:rPr sz="1100" b="1">
                <a:solidFill>
                  <a:srgbClr val="FFFFFF"/>
                </a:solidFill>
                <a:latin typeface="Calibri"/>
              </a:rPr>
              <a:t>Sold 2025</a:t>
            </a:r>
          </a:p>
        </p:txBody>
      </p:sp>
      <p:sp>
        <p:nvSpPr>
          <p:cNvPr id="29" name="TextBox 28"/>
          <p:cNvSpPr txBox="1"/>
          <p:nvPr/>
        </p:nvSpPr>
        <p:spPr>
          <a:xfrm>
            <a:off x="6876288" y="3822191"/>
            <a:ext cx="2359152" cy="329184"/>
          </a:xfrm>
          <a:prstGeom prst="rect">
            <a:avLst/>
          </a:prstGeom>
          <a:noFill/>
        </p:spPr>
        <p:txBody>
          <a:bodyPr wrap="square" anchor="ctr">
            <a:spAutoFit/>
          </a:bodyPr>
          <a:lstStyle/>
          <a:p>
            <a:pPr algn="r"/>
            <a:r>
              <a:rPr sz="1100" b="1">
                <a:solidFill>
                  <a:srgbClr val="FFFFFF"/>
                </a:solidFill>
                <a:latin typeface="Calibri"/>
              </a:rPr>
              <a:t>Expected</a:t>
            </a:r>
          </a:p>
        </p:txBody>
      </p:sp>
      <p:sp>
        <p:nvSpPr>
          <p:cNvPr id="30" name="TextBox 29"/>
          <p:cNvSpPr txBox="1"/>
          <p:nvPr/>
        </p:nvSpPr>
        <p:spPr>
          <a:xfrm>
            <a:off x="9381744" y="3822191"/>
            <a:ext cx="2359152" cy="329184"/>
          </a:xfrm>
          <a:prstGeom prst="rect">
            <a:avLst/>
          </a:prstGeom>
          <a:noFill/>
        </p:spPr>
        <p:txBody>
          <a:bodyPr wrap="square" anchor="ctr">
            <a:spAutoFit/>
          </a:bodyPr>
          <a:lstStyle/>
          <a:p>
            <a:pPr algn="r"/>
            <a:r>
              <a:rPr sz="1100" b="1">
                <a:solidFill>
                  <a:srgbClr val="FFFFFF"/>
                </a:solidFill>
                <a:latin typeface="Calibri"/>
              </a:rPr>
              <a:t>Cover</a:t>
            </a:r>
          </a:p>
        </p:txBody>
      </p:sp>
      <p:sp>
        <p:nvSpPr>
          <p:cNvPr id="31" name="TextBox 30"/>
          <p:cNvSpPr txBox="1"/>
          <p:nvPr/>
        </p:nvSpPr>
        <p:spPr>
          <a:xfrm>
            <a:off x="530352" y="4151375"/>
            <a:ext cx="3694176" cy="347472"/>
          </a:xfrm>
          <a:prstGeom prst="rect">
            <a:avLst/>
          </a:prstGeom>
          <a:noFill/>
        </p:spPr>
        <p:txBody>
          <a:bodyPr wrap="square" anchor="ctr">
            <a:spAutoFit/>
          </a:bodyPr>
          <a:lstStyle/>
          <a:p>
            <a:pPr algn="l"/>
            <a:r>
              <a:rPr sz="1300" b="1">
                <a:solidFill>
                  <a:srgbClr val="1B2733"/>
                </a:solidFill>
                <a:latin typeface="Calibri"/>
              </a:rPr>
              <a:t>Oil, ITUK to dealer</a:t>
            </a:r>
          </a:p>
        </p:txBody>
      </p:sp>
      <p:sp>
        <p:nvSpPr>
          <p:cNvPr id="32" name="TextBox 31"/>
          <p:cNvSpPr txBox="1"/>
          <p:nvPr/>
        </p:nvSpPr>
        <p:spPr>
          <a:xfrm>
            <a:off x="4370832" y="4151375"/>
            <a:ext cx="2359152" cy="347472"/>
          </a:xfrm>
          <a:prstGeom prst="rect">
            <a:avLst/>
          </a:prstGeom>
          <a:noFill/>
        </p:spPr>
        <p:txBody>
          <a:bodyPr wrap="square" anchor="ctr">
            <a:spAutoFit/>
          </a:bodyPr>
          <a:lstStyle/>
          <a:p>
            <a:pPr algn="r"/>
            <a:r>
              <a:rPr sz="1300" b="0">
                <a:solidFill>
                  <a:srgbClr val="344251"/>
                </a:solidFill>
                <a:latin typeface="Calibri"/>
              </a:rPr>
              <a:t>5,335</a:t>
            </a:r>
          </a:p>
        </p:txBody>
      </p:sp>
      <p:sp>
        <p:nvSpPr>
          <p:cNvPr id="33" name="TextBox 32"/>
          <p:cNvSpPr txBox="1"/>
          <p:nvPr/>
        </p:nvSpPr>
        <p:spPr>
          <a:xfrm>
            <a:off x="6876288" y="4151375"/>
            <a:ext cx="2359152" cy="347472"/>
          </a:xfrm>
          <a:prstGeom prst="rect">
            <a:avLst/>
          </a:prstGeom>
          <a:noFill/>
        </p:spPr>
        <p:txBody>
          <a:bodyPr wrap="square" anchor="ctr">
            <a:spAutoFit/>
          </a:bodyPr>
          <a:lstStyle/>
          <a:p>
            <a:pPr algn="r"/>
            <a:r>
              <a:rPr sz="1300" b="0">
                <a:solidFill>
                  <a:srgbClr val="344251"/>
                </a:solidFill>
                <a:latin typeface="Calibri"/>
              </a:rPr>
              <a:t>11,699</a:t>
            </a:r>
          </a:p>
        </p:txBody>
      </p:sp>
      <p:sp>
        <p:nvSpPr>
          <p:cNvPr id="34" name="TextBox 33"/>
          <p:cNvSpPr txBox="1"/>
          <p:nvPr/>
        </p:nvSpPr>
        <p:spPr>
          <a:xfrm>
            <a:off x="9381744" y="4151375"/>
            <a:ext cx="2359152" cy="347472"/>
          </a:xfrm>
          <a:prstGeom prst="rect">
            <a:avLst/>
          </a:prstGeom>
          <a:noFill/>
        </p:spPr>
        <p:txBody>
          <a:bodyPr wrap="square" anchor="ctr">
            <a:spAutoFit/>
          </a:bodyPr>
          <a:lstStyle/>
          <a:p>
            <a:pPr algn="r"/>
            <a:r>
              <a:rPr sz="1300" b="0">
                <a:solidFill>
                  <a:srgbClr val="344251"/>
                </a:solidFill>
                <a:latin typeface="Calibri"/>
              </a:rPr>
              <a:t>45.6%</a:t>
            </a:r>
          </a:p>
        </p:txBody>
      </p:sp>
      <p:sp>
        <p:nvSpPr>
          <p:cNvPr id="35" name="Rectangle 34"/>
          <p:cNvSpPr/>
          <p:nvPr/>
        </p:nvSpPr>
        <p:spPr>
          <a:xfrm>
            <a:off x="438912" y="4498847"/>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30352" y="4498847"/>
            <a:ext cx="3694176" cy="347472"/>
          </a:xfrm>
          <a:prstGeom prst="rect">
            <a:avLst/>
          </a:prstGeom>
          <a:noFill/>
        </p:spPr>
        <p:txBody>
          <a:bodyPr wrap="square" anchor="ctr">
            <a:spAutoFit/>
          </a:bodyPr>
          <a:lstStyle/>
          <a:p>
            <a:pPr algn="l"/>
            <a:r>
              <a:rPr sz="1300" b="1">
                <a:solidFill>
                  <a:srgbClr val="1B2733"/>
                </a:solidFill>
                <a:latin typeface="Calibri"/>
              </a:rPr>
              <a:t>Oil, ISZE to ITUK</a:t>
            </a:r>
          </a:p>
        </p:txBody>
      </p:sp>
      <p:sp>
        <p:nvSpPr>
          <p:cNvPr id="37" name="TextBox 36"/>
          <p:cNvSpPr txBox="1"/>
          <p:nvPr/>
        </p:nvSpPr>
        <p:spPr>
          <a:xfrm>
            <a:off x="4370832" y="4498847"/>
            <a:ext cx="2359152" cy="347472"/>
          </a:xfrm>
          <a:prstGeom prst="rect">
            <a:avLst/>
          </a:prstGeom>
          <a:noFill/>
        </p:spPr>
        <p:txBody>
          <a:bodyPr wrap="square" anchor="ctr">
            <a:spAutoFit/>
          </a:bodyPr>
          <a:lstStyle/>
          <a:p>
            <a:pPr algn="r"/>
            <a:r>
              <a:rPr sz="1300" b="0">
                <a:solidFill>
                  <a:srgbClr val="344251"/>
                </a:solidFill>
                <a:latin typeface="Calibri"/>
              </a:rPr>
              <a:t>4,691</a:t>
            </a:r>
          </a:p>
        </p:txBody>
      </p:sp>
      <p:sp>
        <p:nvSpPr>
          <p:cNvPr id="38" name="TextBox 37"/>
          <p:cNvSpPr txBox="1"/>
          <p:nvPr/>
        </p:nvSpPr>
        <p:spPr>
          <a:xfrm>
            <a:off x="6876288" y="4498847"/>
            <a:ext cx="2359152" cy="347472"/>
          </a:xfrm>
          <a:prstGeom prst="rect">
            <a:avLst/>
          </a:prstGeom>
          <a:noFill/>
        </p:spPr>
        <p:txBody>
          <a:bodyPr wrap="square" anchor="ctr">
            <a:spAutoFit/>
          </a:bodyPr>
          <a:lstStyle/>
          <a:p>
            <a:pPr algn="r"/>
            <a:r>
              <a:rPr sz="1300" b="0">
                <a:solidFill>
                  <a:srgbClr val="344251"/>
                </a:solidFill>
                <a:latin typeface="Calibri"/>
              </a:rPr>
              <a:t>11,699</a:t>
            </a:r>
          </a:p>
        </p:txBody>
      </p:sp>
      <p:sp>
        <p:nvSpPr>
          <p:cNvPr id="39" name="TextBox 38"/>
          <p:cNvSpPr txBox="1"/>
          <p:nvPr/>
        </p:nvSpPr>
        <p:spPr>
          <a:xfrm>
            <a:off x="9381744" y="4498847"/>
            <a:ext cx="2359152" cy="347472"/>
          </a:xfrm>
          <a:prstGeom prst="rect">
            <a:avLst/>
          </a:prstGeom>
          <a:noFill/>
        </p:spPr>
        <p:txBody>
          <a:bodyPr wrap="square" anchor="ctr">
            <a:spAutoFit/>
          </a:bodyPr>
          <a:lstStyle/>
          <a:p>
            <a:pPr algn="r"/>
            <a:r>
              <a:rPr sz="1300" b="0">
                <a:solidFill>
                  <a:srgbClr val="344251"/>
                </a:solidFill>
                <a:latin typeface="Calibri"/>
              </a:rPr>
              <a:t>40.1%</a:t>
            </a:r>
          </a:p>
        </p:txBody>
      </p:sp>
      <p:sp>
        <p:nvSpPr>
          <p:cNvPr id="40" name="TextBox 39"/>
          <p:cNvSpPr txBox="1"/>
          <p:nvPr/>
        </p:nvSpPr>
        <p:spPr>
          <a:xfrm>
            <a:off x="530352" y="4846319"/>
            <a:ext cx="3694176" cy="347472"/>
          </a:xfrm>
          <a:prstGeom prst="rect">
            <a:avLst/>
          </a:prstGeom>
          <a:noFill/>
        </p:spPr>
        <p:txBody>
          <a:bodyPr wrap="square" anchor="ctr">
            <a:spAutoFit/>
          </a:bodyPr>
          <a:lstStyle/>
          <a:p>
            <a:pPr algn="l"/>
            <a:r>
              <a:rPr sz="1300" b="1">
                <a:solidFill>
                  <a:srgbClr val="1B2733"/>
                </a:solidFill>
                <a:latin typeface="Calibri"/>
              </a:rPr>
              <a:t>Fuel, ITUK to dealer</a:t>
            </a:r>
          </a:p>
        </p:txBody>
      </p:sp>
      <p:sp>
        <p:nvSpPr>
          <p:cNvPr id="41" name="TextBox 40"/>
          <p:cNvSpPr txBox="1"/>
          <p:nvPr/>
        </p:nvSpPr>
        <p:spPr>
          <a:xfrm>
            <a:off x="4370832" y="4846319"/>
            <a:ext cx="2359152" cy="347472"/>
          </a:xfrm>
          <a:prstGeom prst="rect">
            <a:avLst/>
          </a:prstGeom>
          <a:noFill/>
        </p:spPr>
        <p:txBody>
          <a:bodyPr wrap="square" anchor="ctr">
            <a:spAutoFit/>
          </a:bodyPr>
          <a:lstStyle/>
          <a:p>
            <a:pPr algn="r"/>
            <a:r>
              <a:rPr sz="1300" b="0">
                <a:solidFill>
                  <a:srgbClr val="344251"/>
                </a:solidFill>
                <a:latin typeface="Calibri"/>
              </a:rPr>
              <a:t>7,415</a:t>
            </a:r>
          </a:p>
        </p:txBody>
      </p:sp>
      <p:sp>
        <p:nvSpPr>
          <p:cNvPr id="42" name="TextBox 41"/>
          <p:cNvSpPr txBox="1"/>
          <p:nvPr/>
        </p:nvSpPr>
        <p:spPr>
          <a:xfrm>
            <a:off x="6876288" y="4846319"/>
            <a:ext cx="2359152" cy="347472"/>
          </a:xfrm>
          <a:prstGeom prst="rect">
            <a:avLst/>
          </a:prstGeom>
          <a:noFill/>
        </p:spPr>
        <p:txBody>
          <a:bodyPr wrap="square" anchor="ctr">
            <a:spAutoFit/>
          </a:bodyPr>
          <a:lstStyle/>
          <a:p>
            <a:pPr algn="r"/>
            <a:r>
              <a:rPr sz="1300" b="0">
                <a:solidFill>
                  <a:srgbClr val="344251"/>
                </a:solidFill>
                <a:latin typeface="Calibri"/>
              </a:rPr>
              <a:t>11,699</a:t>
            </a:r>
          </a:p>
        </p:txBody>
      </p:sp>
      <p:sp>
        <p:nvSpPr>
          <p:cNvPr id="43" name="TextBox 42"/>
          <p:cNvSpPr txBox="1"/>
          <p:nvPr/>
        </p:nvSpPr>
        <p:spPr>
          <a:xfrm>
            <a:off x="9381744" y="4846319"/>
            <a:ext cx="2359152" cy="347472"/>
          </a:xfrm>
          <a:prstGeom prst="rect">
            <a:avLst/>
          </a:prstGeom>
          <a:noFill/>
        </p:spPr>
        <p:txBody>
          <a:bodyPr wrap="square" anchor="ctr">
            <a:spAutoFit/>
          </a:bodyPr>
          <a:lstStyle/>
          <a:p>
            <a:pPr algn="r"/>
            <a:r>
              <a:rPr sz="1300" b="0">
                <a:solidFill>
                  <a:srgbClr val="344251"/>
                </a:solidFill>
                <a:latin typeface="Calibri"/>
              </a:rPr>
              <a:t>63.4%</a:t>
            </a:r>
          </a:p>
        </p:txBody>
      </p:sp>
      <p:sp>
        <p:nvSpPr>
          <p:cNvPr id="44" name="Rectangle 43"/>
          <p:cNvSpPr/>
          <p:nvPr/>
        </p:nvSpPr>
        <p:spPr>
          <a:xfrm>
            <a:off x="438912" y="5193791"/>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30352" y="5193791"/>
            <a:ext cx="3694176" cy="347472"/>
          </a:xfrm>
          <a:prstGeom prst="rect">
            <a:avLst/>
          </a:prstGeom>
          <a:noFill/>
        </p:spPr>
        <p:txBody>
          <a:bodyPr wrap="square" anchor="ctr">
            <a:spAutoFit/>
          </a:bodyPr>
          <a:lstStyle/>
          <a:p>
            <a:pPr algn="l"/>
            <a:r>
              <a:rPr sz="1300" b="1">
                <a:solidFill>
                  <a:srgbClr val="1B2733"/>
                </a:solidFill>
                <a:latin typeface="Calibri"/>
              </a:rPr>
              <a:t>Air, ITUK to dealer</a:t>
            </a:r>
          </a:p>
        </p:txBody>
      </p:sp>
      <p:sp>
        <p:nvSpPr>
          <p:cNvPr id="46" name="TextBox 45"/>
          <p:cNvSpPr txBox="1"/>
          <p:nvPr/>
        </p:nvSpPr>
        <p:spPr>
          <a:xfrm>
            <a:off x="4370832" y="5193791"/>
            <a:ext cx="2359152" cy="347472"/>
          </a:xfrm>
          <a:prstGeom prst="rect">
            <a:avLst/>
          </a:prstGeom>
          <a:noFill/>
        </p:spPr>
        <p:txBody>
          <a:bodyPr wrap="square" anchor="ctr">
            <a:spAutoFit/>
          </a:bodyPr>
          <a:lstStyle/>
          <a:p>
            <a:pPr algn="r"/>
            <a:r>
              <a:rPr sz="1300" b="0">
                <a:solidFill>
                  <a:srgbClr val="344251"/>
                </a:solidFill>
                <a:latin typeface="Calibri"/>
              </a:rPr>
              <a:t>2,284</a:t>
            </a:r>
          </a:p>
        </p:txBody>
      </p:sp>
      <p:sp>
        <p:nvSpPr>
          <p:cNvPr id="47" name="TextBox 46"/>
          <p:cNvSpPr txBox="1"/>
          <p:nvPr/>
        </p:nvSpPr>
        <p:spPr>
          <a:xfrm>
            <a:off x="6876288" y="5193791"/>
            <a:ext cx="2359152" cy="347472"/>
          </a:xfrm>
          <a:prstGeom prst="rect">
            <a:avLst/>
          </a:prstGeom>
          <a:noFill/>
        </p:spPr>
        <p:txBody>
          <a:bodyPr wrap="square" anchor="ctr">
            <a:spAutoFit/>
          </a:bodyPr>
          <a:lstStyle/>
          <a:p>
            <a:pPr algn="r"/>
            <a:r>
              <a:rPr sz="1300" b="0">
                <a:solidFill>
                  <a:srgbClr val="344251"/>
                </a:solidFill>
                <a:latin typeface="Calibri"/>
              </a:rPr>
              <a:t>11,699</a:t>
            </a:r>
          </a:p>
        </p:txBody>
      </p:sp>
      <p:sp>
        <p:nvSpPr>
          <p:cNvPr id="48" name="TextBox 47"/>
          <p:cNvSpPr txBox="1"/>
          <p:nvPr/>
        </p:nvSpPr>
        <p:spPr>
          <a:xfrm>
            <a:off x="9381744" y="5193791"/>
            <a:ext cx="2359152" cy="347472"/>
          </a:xfrm>
          <a:prstGeom prst="rect">
            <a:avLst/>
          </a:prstGeom>
          <a:noFill/>
        </p:spPr>
        <p:txBody>
          <a:bodyPr wrap="square" anchor="ctr">
            <a:spAutoFit/>
          </a:bodyPr>
          <a:lstStyle/>
          <a:p>
            <a:pPr algn="r"/>
            <a:r>
              <a:rPr sz="1300" b="0">
                <a:solidFill>
                  <a:srgbClr val="344251"/>
                </a:solidFill>
                <a:latin typeface="Calibri"/>
              </a:rPr>
              <a:t>19.5%</a:t>
            </a:r>
          </a:p>
        </p:txBody>
      </p:sp>
      <p:sp>
        <p:nvSpPr>
          <p:cNvPr id="49" name="TextBox 48"/>
          <p:cNvSpPr txBox="1"/>
          <p:nvPr/>
        </p:nvSpPr>
        <p:spPr>
          <a:xfrm>
            <a:off x="438912" y="5650992"/>
            <a:ext cx="11338560" cy="384048"/>
          </a:xfrm>
          <a:prstGeom prst="rect">
            <a:avLst/>
          </a:prstGeom>
          <a:noFill/>
        </p:spPr>
        <p:txBody>
          <a:bodyPr wrap="square" anchor="t">
            <a:spAutoFit/>
          </a:bodyPr>
          <a:lstStyle/>
          <a:p>
            <a:pPr algn="l"/>
            <a:r>
              <a:rPr sz="1300" b="0">
                <a:solidFill>
                  <a:srgbClr val="344251"/>
                </a:solidFill>
                <a:latin typeface="Calibri"/>
              </a:rPr>
              <a:t>The same method applies to both layers. Scope is the 37 N75 part numbers in the ITUK pack. Pad coverage uses 0.5 events per year rather than 1.25. The one percent figure is one percent of actual 2025 mix, not of expected services. Air uses the same 1.25 as oil and fuel; on a 0.5 air interval it would read 39 percent.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N75 filter coverage, calendar 2025</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5</a:t>
            </a:r>
          </a:p>
        </p:txBody>
      </p:sp>
      <p:sp>
        <p:nvSpPr>
          <p:cNvPr id="9" name="TextBox 8"/>
          <p:cNvSpPr txBox="1"/>
          <p:nvPr/>
        </p:nvSpPr>
        <p:spPr>
          <a:xfrm>
            <a:off x="438912" y="1042415"/>
            <a:ext cx="11338560" cy="694944"/>
          </a:xfrm>
          <a:prstGeom prst="rect">
            <a:avLst/>
          </a:prstGeom>
          <a:noFill/>
        </p:spPr>
        <p:txBody>
          <a:bodyPr wrap="square" anchor="t">
            <a:spAutoFit/>
          </a:bodyPr>
          <a:lstStyle/>
          <a:p>
            <a:pPr algn="l"/>
            <a:r>
              <a:rPr sz="1400" b="0">
                <a:solidFill>
                  <a:srgbClr val="344251"/>
                </a:solidFill>
                <a:latin typeface="Calibri"/>
              </a:rPr>
              <a:t>Quantity sold divided by the quantity expected under the IML service schedule. N75 units in operation: 9,359 (DVLA 2024), at 1.25 services per year. Expected oil, fuel and air filters: 11,699. Scope is the 37 N75 part numbers in the ITUK pack.</a:t>
            </a:r>
          </a:p>
        </p:txBody>
      </p:sp>
      <p:sp>
        <p:nvSpPr>
          <p:cNvPr id="11" name="Rectangle 10"/>
          <p:cNvSpPr/>
          <p:nvPr/>
        </p:nvSpPr>
        <p:spPr>
          <a:xfrm>
            <a:off x="438912" y="4160520"/>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4160520"/>
            <a:ext cx="2048256" cy="329184"/>
          </a:xfrm>
          <a:prstGeom prst="rect">
            <a:avLst/>
          </a:prstGeom>
          <a:noFill/>
        </p:spPr>
        <p:txBody>
          <a:bodyPr wrap="square" anchor="ctr">
            <a:spAutoFit/>
          </a:bodyPr>
          <a:lstStyle/>
          <a:p>
            <a:pPr algn="l"/>
            <a:endParaRPr/>
          </a:p>
        </p:txBody>
      </p:sp>
      <p:sp>
        <p:nvSpPr>
          <p:cNvPr id="13" name="TextBox 12"/>
          <p:cNvSpPr txBox="1"/>
          <p:nvPr/>
        </p:nvSpPr>
        <p:spPr>
          <a:xfrm>
            <a:off x="2724912" y="4160520"/>
            <a:ext cx="1682496" cy="329184"/>
          </a:xfrm>
          <a:prstGeom prst="rect">
            <a:avLst/>
          </a:prstGeom>
          <a:noFill/>
        </p:spPr>
        <p:txBody>
          <a:bodyPr wrap="square" anchor="ctr">
            <a:spAutoFit/>
          </a:bodyPr>
          <a:lstStyle/>
          <a:p>
            <a:pPr algn="r"/>
            <a:r>
              <a:rPr sz="1100" b="1">
                <a:solidFill>
                  <a:srgbClr val="FFFFFF"/>
                </a:solidFill>
                <a:latin typeface="Calibri"/>
              </a:rPr>
              <a:t>Expected</a:t>
            </a:r>
          </a:p>
        </p:txBody>
      </p:sp>
      <p:sp>
        <p:nvSpPr>
          <p:cNvPr id="14" name="TextBox 13"/>
          <p:cNvSpPr txBox="1"/>
          <p:nvPr/>
        </p:nvSpPr>
        <p:spPr>
          <a:xfrm>
            <a:off x="4553712" y="4160520"/>
            <a:ext cx="1865376" cy="329184"/>
          </a:xfrm>
          <a:prstGeom prst="rect">
            <a:avLst/>
          </a:prstGeom>
          <a:noFill/>
        </p:spPr>
        <p:txBody>
          <a:bodyPr wrap="square" anchor="ctr">
            <a:spAutoFit/>
          </a:bodyPr>
          <a:lstStyle/>
          <a:p>
            <a:pPr algn="r"/>
            <a:r>
              <a:rPr sz="1100" b="1">
                <a:solidFill>
                  <a:srgbClr val="FFFFFF"/>
                </a:solidFill>
                <a:latin typeface="Calibri"/>
              </a:rPr>
              <a:t>ITUK to dealer</a:t>
            </a:r>
          </a:p>
        </p:txBody>
      </p:sp>
      <p:sp>
        <p:nvSpPr>
          <p:cNvPr id="15" name="TextBox 14"/>
          <p:cNvSpPr txBox="1"/>
          <p:nvPr/>
        </p:nvSpPr>
        <p:spPr>
          <a:xfrm>
            <a:off x="6565392" y="4160520"/>
            <a:ext cx="1499616" cy="329184"/>
          </a:xfrm>
          <a:prstGeom prst="rect">
            <a:avLst/>
          </a:prstGeom>
          <a:noFill/>
        </p:spPr>
        <p:txBody>
          <a:bodyPr wrap="square" anchor="ctr">
            <a:spAutoFit/>
          </a:bodyPr>
          <a:lstStyle/>
          <a:p>
            <a:pPr algn="r"/>
            <a:r>
              <a:rPr sz="1100" b="1">
                <a:solidFill>
                  <a:srgbClr val="FFFFFF"/>
                </a:solidFill>
                <a:latin typeface="Calibri"/>
              </a:rPr>
              <a:t>Cover</a:t>
            </a:r>
          </a:p>
        </p:txBody>
      </p:sp>
      <p:sp>
        <p:nvSpPr>
          <p:cNvPr id="16" name="TextBox 15"/>
          <p:cNvSpPr txBox="1"/>
          <p:nvPr/>
        </p:nvSpPr>
        <p:spPr>
          <a:xfrm>
            <a:off x="8211312" y="4160520"/>
            <a:ext cx="1865376" cy="329184"/>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17" name="TextBox 16"/>
          <p:cNvSpPr txBox="1"/>
          <p:nvPr/>
        </p:nvSpPr>
        <p:spPr>
          <a:xfrm>
            <a:off x="10222992" y="4160520"/>
            <a:ext cx="1517904" cy="329184"/>
          </a:xfrm>
          <a:prstGeom prst="rect">
            <a:avLst/>
          </a:prstGeom>
          <a:noFill/>
        </p:spPr>
        <p:txBody>
          <a:bodyPr wrap="square" anchor="ctr">
            <a:spAutoFit/>
          </a:bodyPr>
          <a:lstStyle/>
          <a:p>
            <a:pPr algn="r"/>
            <a:r>
              <a:rPr sz="1100" b="1">
                <a:solidFill>
                  <a:srgbClr val="FFFFFF"/>
                </a:solidFill>
                <a:latin typeface="Calibri"/>
              </a:rPr>
              <a:t>Cover</a:t>
            </a:r>
          </a:p>
        </p:txBody>
      </p:sp>
      <p:sp>
        <p:nvSpPr>
          <p:cNvPr id="18" name="TextBox 17"/>
          <p:cNvSpPr txBox="1"/>
          <p:nvPr/>
        </p:nvSpPr>
        <p:spPr>
          <a:xfrm>
            <a:off x="530352" y="4489704"/>
            <a:ext cx="2048256" cy="384048"/>
          </a:xfrm>
          <a:prstGeom prst="rect">
            <a:avLst/>
          </a:prstGeom>
          <a:noFill/>
        </p:spPr>
        <p:txBody>
          <a:bodyPr wrap="square" anchor="ctr">
            <a:spAutoFit/>
          </a:bodyPr>
          <a:lstStyle/>
          <a:p>
            <a:pPr algn="l"/>
            <a:r>
              <a:rPr sz="1300" b="1">
                <a:solidFill>
                  <a:srgbClr val="1B2733"/>
                </a:solidFill>
                <a:latin typeface="Calibri"/>
              </a:rPr>
              <a:t>Oil filter</a:t>
            </a:r>
          </a:p>
        </p:txBody>
      </p:sp>
      <p:sp>
        <p:nvSpPr>
          <p:cNvPr id="19" name="TextBox 18"/>
          <p:cNvSpPr txBox="1"/>
          <p:nvPr/>
        </p:nvSpPr>
        <p:spPr>
          <a:xfrm>
            <a:off x="2724912" y="4489704"/>
            <a:ext cx="1682496" cy="384048"/>
          </a:xfrm>
          <a:prstGeom prst="rect">
            <a:avLst/>
          </a:prstGeom>
          <a:noFill/>
        </p:spPr>
        <p:txBody>
          <a:bodyPr wrap="square" anchor="ctr">
            <a:spAutoFit/>
          </a:bodyPr>
          <a:lstStyle/>
          <a:p>
            <a:pPr algn="r"/>
            <a:r>
              <a:rPr sz="1300" b="0">
                <a:solidFill>
                  <a:srgbClr val="344251"/>
                </a:solidFill>
                <a:latin typeface="Calibri"/>
              </a:rPr>
              <a:t>11,699</a:t>
            </a:r>
          </a:p>
        </p:txBody>
      </p:sp>
      <p:sp>
        <p:nvSpPr>
          <p:cNvPr id="20" name="TextBox 19"/>
          <p:cNvSpPr txBox="1"/>
          <p:nvPr/>
        </p:nvSpPr>
        <p:spPr>
          <a:xfrm>
            <a:off x="4553712" y="4489704"/>
            <a:ext cx="1865376" cy="384048"/>
          </a:xfrm>
          <a:prstGeom prst="rect">
            <a:avLst/>
          </a:prstGeom>
          <a:noFill/>
        </p:spPr>
        <p:txBody>
          <a:bodyPr wrap="square" anchor="ctr">
            <a:spAutoFit/>
          </a:bodyPr>
          <a:lstStyle/>
          <a:p>
            <a:pPr algn="r"/>
            <a:r>
              <a:rPr sz="1300" b="0">
                <a:solidFill>
                  <a:srgbClr val="344251"/>
                </a:solidFill>
                <a:latin typeface="Calibri"/>
              </a:rPr>
              <a:t>5,335</a:t>
            </a:r>
          </a:p>
        </p:txBody>
      </p:sp>
      <p:sp>
        <p:nvSpPr>
          <p:cNvPr id="21" name="TextBox 20"/>
          <p:cNvSpPr txBox="1"/>
          <p:nvPr/>
        </p:nvSpPr>
        <p:spPr>
          <a:xfrm>
            <a:off x="6565392" y="4489704"/>
            <a:ext cx="1499616" cy="384048"/>
          </a:xfrm>
          <a:prstGeom prst="rect">
            <a:avLst/>
          </a:prstGeom>
          <a:noFill/>
        </p:spPr>
        <p:txBody>
          <a:bodyPr wrap="square" anchor="ctr">
            <a:spAutoFit/>
          </a:bodyPr>
          <a:lstStyle/>
          <a:p>
            <a:pPr algn="r"/>
            <a:r>
              <a:rPr sz="1300" b="0">
                <a:solidFill>
                  <a:srgbClr val="344251"/>
                </a:solidFill>
                <a:latin typeface="Calibri"/>
              </a:rPr>
              <a:t>45.6%</a:t>
            </a:r>
          </a:p>
        </p:txBody>
      </p:sp>
      <p:sp>
        <p:nvSpPr>
          <p:cNvPr id="22" name="TextBox 21"/>
          <p:cNvSpPr txBox="1"/>
          <p:nvPr/>
        </p:nvSpPr>
        <p:spPr>
          <a:xfrm>
            <a:off x="8211312" y="4489704"/>
            <a:ext cx="1865376" cy="384048"/>
          </a:xfrm>
          <a:prstGeom prst="rect">
            <a:avLst/>
          </a:prstGeom>
          <a:noFill/>
        </p:spPr>
        <p:txBody>
          <a:bodyPr wrap="square" anchor="ctr">
            <a:spAutoFit/>
          </a:bodyPr>
          <a:lstStyle/>
          <a:p>
            <a:pPr algn="r"/>
            <a:r>
              <a:rPr sz="1300" b="0">
                <a:solidFill>
                  <a:srgbClr val="344251"/>
                </a:solidFill>
                <a:latin typeface="Calibri"/>
              </a:rPr>
              <a:t>4,691</a:t>
            </a:r>
          </a:p>
        </p:txBody>
      </p:sp>
      <p:sp>
        <p:nvSpPr>
          <p:cNvPr id="23" name="TextBox 22"/>
          <p:cNvSpPr txBox="1"/>
          <p:nvPr/>
        </p:nvSpPr>
        <p:spPr>
          <a:xfrm>
            <a:off x="10222992" y="4489704"/>
            <a:ext cx="1517904" cy="384048"/>
          </a:xfrm>
          <a:prstGeom prst="rect">
            <a:avLst/>
          </a:prstGeom>
          <a:noFill/>
        </p:spPr>
        <p:txBody>
          <a:bodyPr wrap="square" anchor="ctr">
            <a:spAutoFit/>
          </a:bodyPr>
          <a:lstStyle/>
          <a:p>
            <a:pPr algn="r"/>
            <a:r>
              <a:rPr sz="1300" b="0">
                <a:solidFill>
                  <a:srgbClr val="344251"/>
                </a:solidFill>
                <a:latin typeface="Calibri"/>
              </a:rPr>
              <a:t>40.1%</a:t>
            </a:r>
          </a:p>
        </p:txBody>
      </p:sp>
      <p:sp>
        <p:nvSpPr>
          <p:cNvPr id="24" name="Rectangle 23"/>
          <p:cNvSpPr/>
          <p:nvPr/>
        </p:nvSpPr>
        <p:spPr>
          <a:xfrm>
            <a:off x="438912" y="4873752"/>
            <a:ext cx="11356848" cy="384048"/>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30352" y="4873752"/>
            <a:ext cx="2048256" cy="384048"/>
          </a:xfrm>
          <a:prstGeom prst="rect">
            <a:avLst/>
          </a:prstGeom>
          <a:noFill/>
        </p:spPr>
        <p:txBody>
          <a:bodyPr wrap="square" anchor="ctr">
            <a:spAutoFit/>
          </a:bodyPr>
          <a:lstStyle/>
          <a:p>
            <a:pPr algn="l"/>
            <a:r>
              <a:rPr sz="1300" b="1">
                <a:solidFill>
                  <a:srgbClr val="1B2733"/>
                </a:solidFill>
                <a:latin typeface="Calibri"/>
              </a:rPr>
              <a:t>Fuel filter</a:t>
            </a:r>
          </a:p>
        </p:txBody>
      </p:sp>
      <p:sp>
        <p:nvSpPr>
          <p:cNvPr id="26" name="TextBox 25"/>
          <p:cNvSpPr txBox="1"/>
          <p:nvPr/>
        </p:nvSpPr>
        <p:spPr>
          <a:xfrm>
            <a:off x="2724912" y="4873752"/>
            <a:ext cx="1682496" cy="384048"/>
          </a:xfrm>
          <a:prstGeom prst="rect">
            <a:avLst/>
          </a:prstGeom>
          <a:noFill/>
        </p:spPr>
        <p:txBody>
          <a:bodyPr wrap="square" anchor="ctr">
            <a:spAutoFit/>
          </a:bodyPr>
          <a:lstStyle/>
          <a:p>
            <a:pPr algn="r"/>
            <a:r>
              <a:rPr sz="1300" b="0">
                <a:solidFill>
                  <a:srgbClr val="344251"/>
                </a:solidFill>
                <a:latin typeface="Calibri"/>
              </a:rPr>
              <a:t>11,699</a:t>
            </a:r>
          </a:p>
        </p:txBody>
      </p:sp>
      <p:sp>
        <p:nvSpPr>
          <p:cNvPr id="27" name="TextBox 26"/>
          <p:cNvSpPr txBox="1"/>
          <p:nvPr/>
        </p:nvSpPr>
        <p:spPr>
          <a:xfrm>
            <a:off x="4553712" y="4873752"/>
            <a:ext cx="1865376" cy="384048"/>
          </a:xfrm>
          <a:prstGeom prst="rect">
            <a:avLst/>
          </a:prstGeom>
          <a:noFill/>
        </p:spPr>
        <p:txBody>
          <a:bodyPr wrap="square" anchor="ctr">
            <a:spAutoFit/>
          </a:bodyPr>
          <a:lstStyle/>
          <a:p>
            <a:pPr algn="r"/>
            <a:r>
              <a:rPr sz="1300" b="0">
                <a:solidFill>
                  <a:srgbClr val="344251"/>
                </a:solidFill>
                <a:latin typeface="Calibri"/>
              </a:rPr>
              <a:t>7,415</a:t>
            </a:r>
          </a:p>
        </p:txBody>
      </p:sp>
      <p:sp>
        <p:nvSpPr>
          <p:cNvPr id="28" name="TextBox 27"/>
          <p:cNvSpPr txBox="1"/>
          <p:nvPr/>
        </p:nvSpPr>
        <p:spPr>
          <a:xfrm>
            <a:off x="6565392" y="4873752"/>
            <a:ext cx="1499616" cy="384048"/>
          </a:xfrm>
          <a:prstGeom prst="rect">
            <a:avLst/>
          </a:prstGeom>
          <a:noFill/>
        </p:spPr>
        <p:txBody>
          <a:bodyPr wrap="square" anchor="ctr">
            <a:spAutoFit/>
          </a:bodyPr>
          <a:lstStyle/>
          <a:p>
            <a:pPr algn="r"/>
            <a:r>
              <a:rPr sz="1300" b="0">
                <a:solidFill>
                  <a:srgbClr val="344251"/>
                </a:solidFill>
                <a:latin typeface="Calibri"/>
              </a:rPr>
              <a:t>63.4%</a:t>
            </a:r>
          </a:p>
        </p:txBody>
      </p:sp>
      <p:sp>
        <p:nvSpPr>
          <p:cNvPr id="29" name="TextBox 28"/>
          <p:cNvSpPr txBox="1"/>
          <p:nvPr/>
        </p:nvSpPr>
        <p:spPr>
          <a:xfrm>
            <a:off x="8211312" y="4873752"/>
            <a:ext cx="1865376" cy="384048"/>
          </a:xfrm>
          <a:prstGeom prst="rect">
            <a:avLst/>
          </a:prstGeom>
          <a:noFill/>
        </p:spPr>
        <p:txBody>
          <a:bodyPr wrap="square" anchor="ctr">
            <a:spAutoFit/>
          </a:bodyPr>
          <a:lstStyle/>
          <a:p>
            <a:pPr algn="r"/>
            <a:r>
              <a:rPr sz="1300" b="0">
                <a:solidFill>
                  <a:srgbClr val="344251"/>
                </a:solidFill>
                <a:latin typeface="Calibri"/>
              </a:rPr>
              <a:t>3,632</a:t>
            </a:r>
          </a:p>
        </p:txBody>
      </p:sp>
      <p:sp>
        <p:nvSpPr>
          <p:cNvPr id="30" name="TextBox 29"/>
          <p:cNvSpPr txBox="1"/>
          <p:nvPr/>
        </p:nvSpPr>
        <p:spPr>
          <a:xfrm>
            <a:off x="10222992" y="4873752"/>
            <a:ext cx="1517904" cy="384048"/>
          </a:xfrm>
          <a:prstGeom prst="rect">
            <a:avLst/>
          </a:prstGeom>
          <a:noFill/>
        </p:spPr>
        <p:txBody>
          <a:bodyPr wrap="square" anchor="ctr">
            <a:spAutoFit/>
          </a:bodyPr>
          <a:lstStyle/>
          <a:p>
            <a:pPr algn="r"/>
            <a:r>
              <a:rPr sz="1300" b="0">
                <a:solidFill>
                  <a:srgbClr val="344251"/>
                </a:solidFill>
                <a:latin typeface="Calibri"/>
              </a:rPr>
              <a:t>31.0%</a:t>
            </a:r>
          </a:p>
        </p:txBody>
      </p:sp>
      <p:sp>
        <p:nvSpPr>
          <p:cNvPr id="31" name="TextBox 30"/>
          <p:cNvSpPr txBox="1"/>
          <p:nvPr/>
        </p:nvSpPr>
        <p:spPr>
          <a:xfrm>
            <a:off x="530352" y="5257800"/>
            <a:ext cx="2048256" cy="384048"/>
          </a:xfrm>
          <a:prstGeom prst="rect">
            <a:avLst/>
          </a:prstGeom>
          <a:noFill/>
        </p:spPr>
        <p:txBody>
          <a:bodyPr wrap="square" anchor="ctr">
            <a:spAutoFit/>
          </a:bodyPr>
          <a:lstStyle/>
          <a:p>
            <a:pPr algn="l"/>
            <a:r>
              <a:rPr sz="1300" b="1">
                <a:solidFill>
                  <a:srgbClr val="1B2733"/>
                </a:solidFill>
                <a:latin typeface="Calibri"/>
              </a:rPr>
              <a:t>Air filter</a:t>
            </a:r>
          </a:p>
        </p:txBody>
      </p:sp>
      <p:sp>
        <p:nvSpPr>
          <p:cNvPr id="32" name="TextBox 31"/>
          <p:cNvSpPr txBox="1"/>
          <p:nvPr/>
        </p:nvSpPr>
        <p:spPr>
          <a:xfrm>
            <a:off x="2724912" y="5257800"/>
            <a:ext cx="1682496" cy="384048"/>
          </a:xfrm>
          <a:prstGeom prst="rect">
            <a:avLst/>
          </a:prstGeom>
          <a:noFill/>
        </p:spPr>
        <p:txBody>
          <a:bodyPr wrap="square" anchor="ctr">
            <a:spAutoFit/>
          </a:bodyPr>
          <a:lstStyle/>
          <a:p>
            <a:pPr algn="r"/>
            <a:r>
              <a:rPr sz="1300" b="0">
                <a:solidFill>
                  <a:srgbClr val="344251"/>
                </a:solidFill>
                <a:latin typeface="Calibri"/>
              </a:rPr>
              <a:t>11,699</a:t>
            </a:r>
          </a:p>
        </p:txBody>
      </p:sp>
      <p:sp>
        <p:nvSpPr>
          <p:cNvPr id="33" name="TextBox 32"/>
          <p:cNvSpPr txBox="1"/>
          <p:nvPr/>
        </p:nvSpPr>
        <p:spPr>
          <a:xfrm>
            <a:off x="4553712" y="5257800"/>
            <a:ext cx="1865376" cy="384048"/>
          </a:xfrm>
          <a:prstGeom prst="rect">
            <a:avLst/>
          </a:prstGeom>
          <a:noFill/>
        </p:spPr>
        <p:txBody>
          <a:bodyPr wrap="square" anchor="ctr">
            <a:spAutoFit/>
          </a:bodyPr>
          <a:lstStyle/>
          <a:p>
            <a:pPr algn="r"/>
            <a:r>
              <a:rPr sz="1300" b="0">
                <a:solidFill>
                  <a:srgbClr val="344251"/>
                </a:solidFill>
                <a:latin typeface="Calibri"/>
              </a:rPr>
              <a:t>2,284</a:t>
            </a:r>
          </a:p>
        </p:txBody>
      </p:sp>
      <p:sp>
        <p:nvSpPr>
          <p:cNvPr id="34" name="TextBox 33"/>
          <p:cNvSpPr txBox="1"/>
          <p:nvPr/>
        </p:nvSpPr>
        <p:spPr>
          <a:xfrm>
            <a:off x="6565392" y="5257800"/>
            <a:ext cx="1499616" cy="384048"/>
          </a:xfrm>
          <a:prstGeom prst="rect">
            <a:avLst/>
          </a:prstGeom>
          <a:noFill/>
        </p:spPr>
        <p:txBody>
          <a:bodyPr wrap="square" anchor="ctr">
            <a:spAutoFit/>
          </a:bodyPr>
          <a:lstStyle/>
          <a:p>
            <a:pPr algn="r"/>
            <a:r>
              <a:rPr sz="1300" b="0">
                <a:solidFill>
                  <a:srgbClr val="344251"/>
                </a:solidFill>
                <a:latin typeface="Calibri"/>
              </a:rPr>
              <a:t>19.5%</a:t>
            </a:r>
          </a:p>
        </p:txBody>
      </p:sp>
      <p:sp>
        <p:nvSpPr>
          <p:cNvPr id="35" name="TextBox 34"/>
          <p:cNvSpPr txBox="1"/>
          <p:nvPr/>
        </p:nvSpPr>
        <p:spPr>
          <a:xfrm>
            <a:off x="8211312" y="5257800"/>
            <a:ext cx="1865376" cy="384048"/>
          </a:xfrm>
          <a:prstGeom prst="rect">
            <a:avLst/>
          </a:prstGeom>
          <a:noFill/>
        </p:spPr>
        <p:txBody>
          <a:bodyPr wrap="square" anchor="ctr">
            <a:spAutoFit/>
          </a:bodyPr>
          <a:lstStyle/>
          <a:p>
            <a:pPr algn="r"/>
            <a:r>
              <a:rPr sz="1300" b="0">
                <a:solidFill>
                  <a:srgbClr val="344251"/>
                </a:solidFill>
                <a:latin typeface="Calibri"/>
              </a:rPr>
              <a:t>2,204</a:t>
            </a:r>
          </a:p>
        </p:txBody>
      </p:sp>
      <p:sp>
        <p:nvSpPr>
          <p:cNvPr id="36" name="TextBox 35"/>
          <p:cNvSpPr txBox="1"/>
          <p:nvPr/>
        </p:nvSpPr>
        <p:spPr>
          <a:xfrm>
            <a:off x="10222992" y="5257800"/>
            <a:ext cx="1517904" cy="384048"/>
          </a:xfrm>
          <a:prstGeom prst="rect">
            <a:avLst/>
          </a:prstGeom>
          <a:noFill/>
        </p:spPr>
        <p:txBody>
          <a:bodyPr wrap="square" anchor="ctr">
            <a:spAutoFit/>
          </a:bodyPr>
          <a:lstStyle/>
          <a:p>
            <a:pPr algn="r"/>
            <a:r>
              <a:rPr sz="1300" b="0">
                <a:solidFill>
                  <a:srgbClr val="344251"/>
                </a:solidFill>
                <a:latin typeface="Calibri"/>
              </a:rPr>
              <a:t>18.8%</a:t>
            </a:r>
          </a:p>
        </p:txBody>
      </p:sp>
      <p:pic>
        <p:nvPicPr>
          <p:cNvPr id="37" name="Picture 36" descr="new_s6.png"/>
          <p:cNvPicPr>
            <a:picLocks noChangeAspect="1"/>
          </p:cNvPicPr>
          <p:nvPr/>
        </p:nvPicPr>
        <p:blipFill>
          <a:blip r:embed="rId4"/>
          <a:stretch>
            <a:fillRect/>
          </a:stretch>
        </p:blipFill>
        <p:spPr>
          <a:xfrm>
            <a:off x="438912" y="1481328"/>
            <a:ext cx="11356848" cy="26060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Price route: the lower of genuine or BVP</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7</a:t>
            </a:r>
          </a:p>
        </p:txBody>
      </p:sp>
      <p:sp>
        <p:nvSpPr>
          <p:cNvPr id="9" name="TextBox 8"/>
          <p:cNvSpPr txBox="1"/>
          <p:nvPr/>
        </p:nvSpPr>
        <p:spPr>
          <a:xfrm>
            <a:off x="438912" y="1042415"/>
            <a:ext cx="11338560" cy="502920"/>
          </a:xfrm>
          <a:prstGeom prst="rect">
            <a:avLst/>
          </a:prstGeom>
          <a:noFill/>
        </p:spPr>
        <p:txBody>
          <a:bodyPr wrap="square" anchor="t">
            <a:spAutoFit/>
          </a:bodyPr>
          <a:lstStyle/>
          <a:p>
            <a:pPr algn="l"/>
            <a:r>
              <a:rPr sz="1400" b="0">
                <a:solidFill>
                  <a:srgbClr val="344251"/>
                </a:solidFill>
                <a:latin typeface="Calibri"/>
              </a:rPr>
              <a:t>A BVP applies where genuine demand is low, unless an SPA on genuine achieves a lower price. Across the set, genuine is proposed first unless it is already cheaper than the BVP.</a:t>
            </a:r>
          </a:p>
        </p:txBody>
      </p:sp>
      <p:sp>
        <p:nvSpPr>
          <p:cNvPr id="10" name="Rounded Rectangle 9"/>
          <p:cNvSpPr/>
          <p:nvPr/>
        </p:nvSpPr>
        <p:spPr>
          <a:xfrm>
            <a:off x="438912" y="166420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03504" y="195681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3504" y="1956816"/>
            <a:ext cx="329184" cy="329184"/>
          </a:xfrm>
          <a:prstGeom prst="rect">
            <a:avLst/>
          </a:prstGeom>
          <a:noFill/>
        </p:spPr>
        <p:txBody>
          <a:bodyPr wrap="square" anchor="ctr">
            <a:spAutoFit/>
          </a:bodyPr>
          <a:lstStyle/>
          <a:p>
            <a:pPr algn="ctr"/>
            <a:r>
              <a:rPr sz="1200" b="1">
                <a:solidFill>
                  <a:srgbClr val="FFFFFF"/>
                </a:solidFill>
                <a:latin typeface="Calibri"/>
              </a:rPr>
              <a:t>1</a:t>
            </a:r>
          </a:p>
        </p:txBody>
      </p:sp>
      <p:sp>
        <p:nvSpPr>
          <p:cNvPr id="13" name="TextBox 12"/>
          <p:cNvSpPr txBox="1"/>
          <p:nvPr/>
        </p:nvSpPr>
        <p:spPr>
          <a:xfrm>
            <a:off x="1097280" y="1773936"/>
            <a:ext cx="2011680" cy="694944"/>
          </a:xfrm>
          <a:prstGeom prst="rect">
            <a:avLst/>
          </a:prstGeom>
          <a:noFill/>
        </p:spPr>
        <p:txBody>
          <a:bodyPr wrap="square" anchor="ctr">
            <a:spAutoFit/>
          </a:bodyPr>
          <a:lstStyle/>
          <a:p>
            <a:pPr algn="l"/>
            <a:r>
              <a:rPr sz="1600" b="1">
                <a:solidFill>
                  <a:srgbClr val="1B2733"/>
                </a:solidFill>
                <a:latin typeface="Calibri"/>
              </a:rPr>
              <a:t>Fuel</a:t>
            </a:r>
          </a:p>
        </p:txBody>
      </p:sp>
      <p:sp>
        <p:nvSpPr>
          <p:cNvPr id="14" name="TextBox 13"/>
          <p:cNvSpPr txBox="1"/>
          <p:nvPr/>
        </p:nvSpPr>
        <p:spPr>
          <a:xfrm>
            <a:off x="3200400" y="1773936"/>
            <a:ext cx="3931920" cy="694944"/>
          </a:xfrm>
          <a:prstGeom prst="rect">
            <a:avLst/>
          </a:prstGeom>
          <a:noFill/>
        </p:spPr>
        <p:txBody>
          <a:bodyPr wrap="square" anchor="ctr">
            <a:spAutoFit/>
          </a:bodyPr>
          <a:lstStyle/>
          <a:p>
            <a:pPr algn="l"/>
            <a:r>
              <a:rPr sz="1400" b="0">
                <a:solidFill>
                  <a:srgbClr val="344251"/>
                </a:solidFill>
                <a:latin typeface="Calibri"/>
              </a:rPr>
              <a:t>Genuine demand is established.</a:t>
            </a:r>
          </a:p>
        </p:txBody>
      </p:sp>
      <p:sp>
        <p:nvSpPr>
          <p:cNvPr id="15" name="TextBox 14"/>
          <p:cNvSpPr txBox="1"/>
          <p:nvPr/>
        </p:nvSpPr>
        <p:spPr>
          <a:xfrm>
            <a:off x="7223760" y="1773936"/>
            <a:ext cx="4297680" cy="694944"/>
          </a:xfrm>
          <a:prstGeom prst="rect">
            <a:avLst/>
          </a:prstGeom>
          <a:noFill/>
        </p:spPr>
        <p:txBody>
          <a:bodyPr wrap="square" anchor="ctr">
            <a:spAutoFit/>
          </a:bodyPr>
          <a:lstStyle/>
          <a:p>
            <a:pPr algn="l"/>
            <a:r>
              <a:rPr sz="1400" b="0">
                <a:solidFill>
                  <a:srgbClr val="1B2733"/>
                </a:solidFill>
                <a:latin typeface="Calibri"/>
              </a:rPr>
              <a:t>Retain genuine. A BVP equivalent is available if required.</a:t>
            </a:r>
          </a:p>
        </p:txBody>
      </p:sp>
      <p:sp>
        <p:nvSpPr>
          <p:cNvPr id="16" name="Rounded Rectangle 15"/>
          <p:cNvSpPr/>
          <p:nvPr/>
        </p:nvSpPr>
        <p:spPr>
          <a:xfrm>
            <a:off x="438912" y="267004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03504" y="296265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03504" y="2962656"/>
            <a:ext cx="329184" cy="329184"/>
          </a:xfrm>
          <a:prstGeom prst="rect">
            <a:avLst/>
          </a:prstGeom>
          <a:noFill/>
        </p:spPr>
        <p:txBody>
          <a:bodyPr wrap="square" anchor="ctr">
            <a:spAutoFit/>
          </a:bodyPr>
          <a:lstStyle/>
          <a:p>
            <a:pPr algn="ctr"/>
            <a:r>
              <a:rPr sz="1200" b="1">
                <a:solidFill>
                  <a:srgbClr val="FFFFFF"/>
                </a:solidFill>
                <a:latin typeface="Calibri"/>
              </a:rPr>
              <a:t>2</a:t>
            </a:r>
          </a:p>
        </p:txBody>
      </p:sp>
      <p:sp>
        <p:nvSpPr>
          <p:cNvPr id="19" name="TextBox 18"/>
          <p:cNvSpPr txBox="1"/>
          <p:nvPr/>
        </p:nvSpPr>
        <p:spPr>
          <a:xfrm>
            <a:off x="1097280" y="2779776"/>
            <a:ext cx="2011680" cy="694944"/>
          </a:xfrm>
          <a:prstGeom prst="rect">
            <a:avLst/>
          </a:prstGeom>
          <a:noFill/>
        </p:spPr>
        <p:txBody>
          <a:bodyPr wrap="square" anchor="ctr">
            <a:spAutoFit/>
          </a:bodyPr>
          <a:lstStyle/>
          <a:p>
            <a:pPr algn="l"/>
            <a:r>
              <a:rPr sz="1600" b="1">
                <a:solidFill>
                  <a:srgbClr val="1B2733"/>
                </a:solidFill>
                <a:latin typeface="Calibri"/>
              </a:rPr>
              <a:t>Air</a:t>
            </a:r>
          </a:p>
        </p:txBody>
      </p:sp>
      <p:sp>
        <p:nvSpPr>
          <p:cNvPr id="20" name="TextBox 19"/>
          <p:cNvSpPr txBox="1"/>
          <p:nvPr/>
        </p:nvSpPr>
        <p:spPr>
          <a:xfrm>
            <a:off x="3200400" y="2779776"/>
            <a:ext cx="3931920" cy="694944"/>
          </a:xfrm>
          <a:prstGeom prst="rect">
            <a:avLst/>
          </a:prstGeom>
          <a:noFill/>
        </p:spPr>
        <p:txBody>
          <a:bodyPr wrap="square" anchor="ctr">
            <a:spAutoFit/>
          </a:bodyPr>
          <a:lstStyle/>
          <a:p>
            <a:pPr algn="l"/>
            <a:r>
              <a:rPr sz="1400" b="0">
                <a:solidFill>
                  <a:srgbClr val="344251"/>
                </a:solidFill>
                <a:latin typeface="Calibri"/>
              </a:rPr>
              <a:t>Genuine coverage is 20 percent.</a:t>
            </a:r>
          </a:p>
        </p:txBody>
      </p:sp>
      <p:sp>
        <p:nvSpPr>
          <p:cNvPr id="21" name="TextBox 20"/>
          <p:cNvSpPr txBox="1"/>
          <p:nvPr/>
        </p:nvSpPr>
        <p:spPr>
          <a:xfrm>
            <a:off x="7223760" y="2779776"/>
            <a:ext cx="4297680" cy="694944"/>
          </a:xfrm>
          <a:prstGeom prst="rect">
            <a:avLst/>
          </a:prstGeom>
          <a:noFill/>
        </p:spPr>
        <p:txBody>
          <a:bodyPr wrap="square" anchor="ctr">
            <a:spAutoFit/>
          </a:bodyPr>
          <a:lstStyle/>
          <a:p>
            <a:pPr algn="l"/>
            <a:r>
              <a:rPr sz="1400" b="0">
                <a:solidFill>
                  <a:srgbClr val="1B2733"/>
                </a:solidFill>
                <a:latin typeface="Calibri"/>
              </a:rPr>
              <a:t>BVP 5876102500, or an SPA on genuine where that is lower.</a:t>
            </a:r>
          </a:p>
        </p:txBody>
      </p:sp>
      <p:sp>
        <p:nvSpPr>
          <p:cNvPr id="22" name="Rounded Rectangle 21"/>
          <p:cNvSpPr/>
          <p:nvPr/>
        </p:nvSpPr>
        <p:spPr>
          <a:xfrm>
            <a:off x="438912" y="367588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603504" y="396849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03504" y="3968496"/>
            <a:ext cx="329184" cy="329184"/>
          </a:xfrm>
          <a:prstGeom prst="rect">
            <a:avLst/>
          </a:prstGeom>
          <a:noFill/>
        </p:spPr>
        <p:txBody>
          <a:bodyPr wrap="square" anchor="ctr">
            <a:spAutoFit/>
          </a:bodyPr>
          <a:lstStyle/>
          <a:p>
            <a:pPr algn="ctr"/>
            <a:r>
              <a:rPr sz="1200" b="1">
                <a:solidFill>
                  <a:srgbClr val="FFFFFF"/>
                </a:solidFill>
                <a:latin typeface="Calibri"/>
              </a:rPr>
              <a:t>3</a:t>
            </a:r>
          </a:p>
        </p:txBody>
      </p:sp>
      <p:sp>
        <p:nvSpPr>
          <p:cNvPr id="25" name="TextBox 24"/>
          <p:cNvSpPr txBox="1"/>
          <p:nvPr/>
        </p:nvSpPr>
        <p:spPr>
          <a:xfrm>
            <a:off x="1097280" y="3785616"/>
            <a:ext cx="2011680" cy="694944"/>
          </a:xfrm>
          <a:prstGeom prst="rect">
            <a:avLst/>
          </a:prstGeom>
          <a:noFill/>
        </p:spPr>
        <p:txBody>
          <a:bodyPr wrap="square" anchor="ctr">
            <a:spAutoFit/>
          </a:bodyPr>
          <a:lstStyle/>
          <a:p>
            <a:pPr algn="l"/>
            <a:r>
              <a:rPr sz="1600" b="1">
                <a:solidFill>
                  <a:srgbClr val="1B2733"/>
                </a:solidFill>
                <a:latin typeface="Calibri"/>
              </a:rPr>
              <a:t>Oil</a:t>
            </a:r>
          </a:p>
        </p:txBody>
      </p:sp>
      <p:sp>
        <p:nvSpPr>
          <p:cNvPr id="26" name="TextBox 25"/>
          <p:cNvSpPr txBox="1"/>
          <p:nvPr/>
        </p:nvSpPr>
        <p:spPr>
          <a:xfrm>
            <a:off x="3200400" y="3785616"/>
            <a:ext cx="3931920" cy="694944"/>
          </a:xfrm>
          <a:prstGeom prst="rect">
            <a:avLst/>
          </a:prstGeom>
          <a:noFill/>
        </p:spPr>
        <p:txBody>
          <a:bodyPr wrap="square" anchor="ctr">
            <a:spAutoFit/>
          </a:bodyPr>
          <a:lstStyle/>
          <a:p>
            <a:pPr algn="l"/>
            <a:r>
              <a:rPr sz="1400" b="0">
                <a:solidFill>
                  <a:srgbClr val="344251"/>
                </a:solidFill>
                <a:latin typeface="Calibri"/>
              </a:rPr>
              <a:t>The BVP is already supplied.</a:t>
            </a:r>
          </a:p>
        </p:txBody>
      </p:sp>
      <p:sp>
        <p:nvSpPr>
          <p:cNvPr id="27" name="TextBox 26"/>
          <p:cNvSpPr txBox="1"/>
          <p:nvPr/>
        </p:nvSpPr>
        <p:spPr>
          <a:xfrm>
            <a:off x="7223760" y="3785616"/>
            <a:ext cx="4297680" cy="694944"/>
          </a:xfrm>
          <a:prstGeom prst="rect">
            <a:avLst/>
          </a:prstGeom>
          <a:noFill/>
        </p:spPr>
        <p:txBody>
          <a:bodyPr wrap="square" anchor="ctr">
            <a:spAutoFit/>
          </a:bodyPr>
          <a:lstStyle/>
          <a:p>
            <a:pPr algn="l"/>
            <a:r>
              <a:rPr sz="1400" b="0">
                <a:solidFill>
                  <a:srgbClr val="1B2733"/>
                </a:solidFill>
                <a:latin typeface="Calibri"/>
              </a:rPr>
              <a:t>Remains in the set. Not a separate campaign.</a:t>
            </a:r>
          </a:p>
        </p:txBody>
      </p:sp>
      <p:sp>
        <p:nvSpPr>
          <p:cNvPr id="28" name="Rounded Rectangle 27"/>
          <p:cNvSpPr/>
          <p:nvPr/>
        </p:nvSpPr>
        <p:spPr>
          <a:xfrm>
            <a:off x="438912" y="468172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603504" y="497433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03504" y="4974336"/>
            <a:ext cx="329184" cy="329184"/>
          </a:xfrm>
          <a:prstGeom prst="rect">
            <a:avLst/>
          </a:prstGeom>
          <a:noFill/>
        </p:spPr>
        <p:txBody>
          <a:bodyPr wrap="square" anchor="ctr">
            <a:spAutoFit/>
          </a:bodyPr>
          <a:lstStyle/>
          <a:p>
            <a:pPr algn="ctr"/>
            <a:r>
              <a:rPr sz="1200" b="1">
                <a:solidFill>
                  <a:srgbClr val="FFFFFF"/>
                </a:solidFill>
                <a:latin typeface="Calibri"/>
              </a:rPr>
              <a:t>4</a:t>
            </a:r>
          </a:p>
        </p:txBody>
      </p:sp>
      <p:sp>
        <p:nvSpPr>
          <p:cNvPr id="31" name="TextBox 30"/>
          <p:cNvSpPr txBox="1"/>
          <p:nvPr/>
        </p:nvSpPr>
        <p:spPr>
          <a:xfrm>
            <a:off x="1097280" y="4791456"/>
            <a:ext cx="2011680" cy="694944"/>
          </a:xfrm>
          <a:prstGeom prst="rect">
            <a:avLst/>
          </a:prstGeom>
          <a:noFill/>
        </p:spPr>
        <p:txBody>
          <a:bodyPr wrap="square" anchor="ctr">
            <a:spAutoFit/>
          </a:bodyPr>
          <a:lstStyle/>
          <a:p>
            <a:pPr algn="l"/>
            <a:r>
              <a:rPr sz="1600" b="1">
                <a:solidFill>
                  <a:srgbClr val="1B2733"/>
                </a:solidFill>
                <a:latin typeface="Calibri"/>
              </a:rPr>
              <a:t>Pad</a:t>
            </a:r>
          </a:p>
        </p:txBody>
      </p:sp>
      <p:sp>
        <p:nvSpPr>
          <p:cNvPr id="32" name="TextBox 31"/>
          <p:cNvSpPr txBox="1"/>
          <p:nvPr/>
        </p:nvSpPr>
        <p:spPr>
          <a:xfrm>
            <a:off x="3200400" y="4791456"/>
            <a:ext cx="3931920" cy="694944"/>
          </a:xfrm>
          <a:prstGeom prst="rect">
            <a:avLst/>
          </a:prstGeom>
          <a:noFill/>
        </p:spPr>
        <p:txBody>
          <a:bodyPr wrap="square" anchor="ctr">
            <a:spAutoFit/>
          </a:bodyPr>
          <a:lstStyle/>
          <a:p>
            <a:pPr algn="l"/>
            <a:r>
              <a:rPr sz="1400" b="0">
                <a:solidFill>
                  <a:srgbClr val="344251"/>
                </a:solidFill>
                <a:latin typeface="Calibri"/>
              </a:rPr>
              <a:t>No BVP available.</a:t>
            </a:r>
          </a:p>
        </p:txBody>
      </p:sp>
      <p:sp>
        <p:nvSpPr>
          <p:cNvPr id="33" name="TextBox 32"/>
          <p:cNvSpPr txBox="1"/>
          <p:nvPr/>
        </p:nvSpPr>
        <p:spPr>
          <a:xfrm>
            <a:off x="7223760" y="4791456"/>
            <a:ext cx="4297680" cy="694944"/>
          </a:xfrm>
          <a:prstGeom prst="rect">
            <a:avLst/>
          </a:prstGeom>
          <a:noFill/>
        </p:spPr>
        <p:txBody>
          <a:bodyPr wrap="square" anchor="ctr">
            <a:spAutoFit/>
          </a:bodyPr>
          <a:lstStyle/>
          <a:p>
            <a:pPr algn="l"/>
            <a:r>
              <a:rPr sz="1400" b="0">
                <a:solidFill>
                  <a:srgbClr val="1B2733"/>
                </a:solidFill>
                <a:latin typeface="Calibri"/>
              </a:rPr>
              <a:t>SPA on genuine only, and only where the repair requires the pad.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One scheduled service, three filters</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5980176"/>
            <a:ext cx="1364827" cy="237744"/>
          </a:xfrm>
          <a:prstGeom prst="rect">
            <a:avLst/>
          </a:prstGeom>
        </p:spPr>
      </p:pic>
      <p:sp>
        <p:nvSpPr>
          <p:cNvPr id="7" name="Rectangle 6"/>
          <p:cNvSpPr/>
          <p:nvPr/>
        </p:nvSpPr>
        <p:spPr>
          <a:xfrm>
            <a:off x="0" y="6419088"/>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126480"/>
            <a:ext cx="365760" cy="274320"/>
          </a:xfrm>
          <a:prstGeom prst="rect">
            <a:avLst/>
          </a:prstGeom>
          <a:noFill/>
        </p:spPr>
        <p:txBody>
          <a:bodyPr wrap="square">
            <a:spAutoFit/>
          </a:bodyPr>
          <a:lstStyle/>
          <a:p>
            <a:pPr algn="r"/>
            <a:r>
              <a:rPr sz="1000" b="0">
                <a:solidFill>
                  <a:srgbClr val="5A5A5A"/>
                </a:solidFill>
                <a:latin typeface="Calibri"/>
              </a:rPr>
              <a:t>8</a:t>
            </a:r>
          </a:p>
        </p:txBody>
      </p:sp>
      <p:sp>
        <p:nvSpPr>
          <p:cNvPr id="9" name="TextBox 8"/>
          <p:cNvSpPr txBox="1"/>
          <p:nvPr/>
        </p:nvSpPr>
        <p:spPr>
          <a:xfrm>
            <a:off x="438912" y="1042415"/>
            <a:ext cx="11338560" cy="731520"/>
          </a:xfrm>
          <a:prstGeom prst="rect">
            <a:avLst/>
          </a:prstGeom>
          <a:noFill/>
        </p:spPr>
        <p:txBody>
          <a:bodyPr wrap="square" anchor="t">
            <a:spAutoFit/>
          </a:bodyPr>
          <a:lstStyle/>
          <a:p>
            <a:pPr algn="l"/>
            <a:r>
              <a:rPr sz="1400" b="0">
                <a:solidFill>
                  <a:srgbClr val="344251"/>
                </a:solidFill>
                <a:latin typeface="Calibri"/>
              </a:rPr>
              <a:t>The genuine set is proposed first. A BVP applies only where genuine is not taken up, or is not the lower price. The air BVP is 44 percent below genuine.</a:t>
            </a:r>
          </a:p>
        </p:txBody>
      </p:sp>
      <p:sp>
        <p:nvSpPr>
          <p:cNvPr id="11" name="Rectangle 10"/>
          <p:cNvSpPr/>
          <p:nvPr/>
        </p:nvSpPr>
        <p:spPr>
          <a:xfrm>
            <a:off x="438912" y="3950208"/>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3950208"/>
            <a:ext cx="2688336" cy="329184"/>
          </a:xfrm>
          <a:prstGeom prst="rect">
            <a:avLst/>
          </a:prstGeom>
          <a:noFill/>
        </p:spPr>
        <p:txBody>
          <a:bodyPr wrap="square" anchor="ctr">
            <a:spAutoFit/>
          </a:bodyPr>
          <a:lstStyle/>
          <a:p>
            <a:pPr algn="l"/>
            <a:endParaRPr/>
          </a:p>
        </p:txBody>
      </p:sp>
      <p:sp>
        <p:nvSpPr>
          <p:cNvPr id="13" name="TextBox 12"/>
          <p:cNvSpPr txBox="1"/>
          <p:nvPr/>
        </p:nvSpPr>
        <p:spPr>
          <a:xfrm>
            <a:off x="3364992" y="3950208"/>
            <a:ext cx="1984248" cy="329184"/>
          </a:xfrm>
          <a:prstGeom prst="rect">
            <a:avLst/>
          </a:prstGeom>
          <a:noFill/>
        </p:spPr>
        <p:txBody>
          <a:bodyPr wrap="square" anchor="ctr">
            <a:spAutoFit/>
          </a:bodyPr>
          <a:lstStyle/>
          <a:p>
            <a:pPr algn="r"/>
            <a:r>
              <a:rPr sz="1100" b="1">
                <a:solidFill>
                  <a:srgbClr val="FFFFFF"/>
                </a:solidFill>
                <a:latin typeface="Calibri"/>
              </a:rPr>
              <a:t>Oil</a:t>
            </a:r>
          </a:p>
        </p:txBody>
      </p:sp>
      <p:sp>
        <p:nvSpPr>
          <p:cNvPr id="14" name="TextBox 13"/>
          <p:cNvSpPr txBox="1"/>
          <p:nvPr/>
        </p:nvSpPr>
        <p:spPr>
          <a:xfrm>
            <a:off x="5495544" y="3950208"/>
            <a:ext cx="1984248" cy="329184"/>
          </a:xfrm>
          <a:prstGeom prst="rect">
            <a:avLst/>
          </a:prstGeom>
          <a:noFill/>
        </p:spPr>
        <p:txBody>
          <a:bodyPr wrap="square" anchor="ctr">
            <a:spAutoFit/>
          </a:bodyPr>
          <a:lstStyle/>
          <a:p>
            <a:pPr algn="r"/>
            <a:r>
              <a:rPr sz="1100" b="1">
                <a:solidFill>
                  <a:srgbClr val="FFFFFF"/>
                </a:solidFill>
                <a:latin typeface="Calibri"/>
              </a:rPr>
              <a:t>Fuel</a:t>
            </a:r>
          </a:p>
        </p:txBody>
      </p:sp>
      <p:sp>
        <p:nvSpPr>
          <p:cNvPr id="15" name="TextBox 14"/>
          <p:cNvSpPr txBox="1"/>
          <p:nvPr/>
        </p:nvSpPr>
        <p:spPr>
          <a:xfrm>
            <a:off x="7626096" y="3950208"/>
            <a:ext cx="1984248" cy="329184"/>
          </a:xfrm>
          <a:prstGeom prst="rect">
            <a:avLst/>
          </a:prstGeom>
          <a:noFill/>
        </p:spPr>
        <p:txBody>
          <a:bodyPr wrap="square" anchor="ctr">
            <a:spAutoFit/>
          </a:bodyPr>
          <a:lstStyle/>
          <a:p>
            <a:pPr algn="r"/>
            <a:r>
              <a:rPr sz="1100" b="1">
                <a:solidFill>
                  <a:srgbClr val="FFFFFF"/>
                </a:solidFill>
                <a:latin typeface="Calibri"/>
              </a:rPr>
              <a:t>Air</a:t>
            </a:r>
          </a:p>
        </p:txBody>
      </p:sp>
      <p:sp>
        <p:nvSpPr>
          <p:cNvPr id="16" name="TextBox 15"/>
          <p:cNvSpPr txBox="1"/>
          <p:nvPr/>
        </p:nvSpPr>
        <p:spPr>
          <a:xfrm>
            <a:off x="9756648" y="3950208"/>
            <a:ext cx="1984248" cy="329184"/>
          </a:xfrm>
          <a:prstGeom prst="rect">
            <a:avLst/>
          </a:prstGeom>
          <a:noFill/>
        </p:spPr>
        <p:txBody>
          <a:bodyPr wrap="square" anchor="ctr">
            <a:spAutoFit/>
          </a:bodyPr>
          <a:lstStyle/>
          <a:p>
            <a:pPr algn="r"/>
            <a:r>
              <a:rPr sz="1100" b="1">
                <a:solidFill>
                  <a:srgbClr val="FFFFFF"/>
                </a:solidFill>
                <a:latin typeface="Calibri"/>
              </a:rPr>
              <a:t>Set</a:t>
            </a:r>
          </a:p>
        </p:txBody>
      </p:sp>
      <p:sp>
        <p:nvSpPr>
          <p:cNvPr id="17" name="TextBox 16"/>
          <p:cNvSpPr txBox="1"/>
          <p:nvPr/>
        </p:nvSpPr>
        <p:spPr>
          <a:xfrm>
            <a:off x="530352" y="4279392"/>
            <a:ext cx="2688336" cy="347472"/>
          </a:xfrm>
          <a:prstGeom prst="rect">
            <a:avLst/>
          </a:prstGeom>
          <a:noFill/>
        </p:spPr>
        <p:txBody>
          <a:bodyPr wrap="square" anchor="ctr">
            <a:spAutoFit/>
          </a:bodyPr>
          <a:lstStyle/>
          <a:p>
            <a:pPr algn="l"/>
            <a:r>
              <a:rPr sz="1300" b="1">
                <a:solidFill>
                  <a:srgbClr val="1B2733"/>
                </a:solidFill>
                <a:latin typeface="Calibri"/>
              </a:rPr>
              <a:t>Genuine PN</a:t>
            </a:r>
          </a:p>
        </p:txBody>
      </p:sp>
      <p:sp>
        <p:nvSpPr>
          <p:cNvPr id="18" name="TextBox 17"/>
          <p:cNvSpPr txBox="1"/>
          <p:nvPr/>
        </p:nvSpPr>
        <p:spPr>
          <a:xfrm>
            <a:off x="3364992" y="4279392"/>
            <a:ext cx="1984248" cy="347472"/>
          </a:xfrm>
          <a:prstGeom prst="rect">
            <a:avLst/>
          </a:prstGeom>
          <a:noFill/>
        </p:spPr>
        <p:txBody>
          <a:bodyPr wrap="square" anchor="ctr">
            <a:spAutoFit/>
          </a:bodyPr>
          <a:lstStyle/>
          <a:p>
            <a:pPr algn="r"/>
            <a:r>
              <a:rPr sz="1300" b="0">
                <a:solidFill>
                  <a:srgbClr val="344251"/>
                </a:solidFill>
                <a:latin typeface="Calibri"/>
              </a:rPr>
              <a:t>8983282070</a:t>
            </a:r>
          </a:p>
        </p:txBody>
      </p:sp>
      <p:sp>
        <p:nvSpPr>
          <p:cNvPr id="19" name="TextBox 18"/>
          <p:cNvSpPr txBox="1"/>
          <p:nvPr/>
        </p:nvSpPr>
        <p:spPr>
          <a:xfrm>
            <a:off x="5495544" y="4279392"/>
            <a:ext cx="1984248" cy="347472"/>
          </a:xfrm>
          <a:prstGeom prst="rect">
            <a:avLst/>
          </a:prstGeom>
          <a:noFill/>
        </p:spPr>
        <p:txBody>
          <a:bodyPr wrap="square" anchor="ctr">
            <a:spAutoFit/>
          </a:bodyPr>
          <a:lstStyle/>
          <a:p>
            <a:pPr algn="r"/>
            <a:r>
              <a:rPr sz="1300" b="0">
                <a:solidFill>
                  <a:srgbClr val="344251"/>
                </a:solidFill>
                <a:latin typeface="Calibri"/>
              </a:rPr>
              <a:t>8975425400</a:t>
            </a:r>
          </a:p>
        </p:txBody>
      </p:sp>
      <p:sp>
        <p:nvSpPr>
          <p:cNvPr id="20" name="TextBox 19"/>
          <p:cNvSpPr txBox="1"/>
          <p:nvPr/>
        </p:nvSpPr>
        <p:spPr>
          <a:xfrm>
            <a:off x="7626096" y="4279392"/>
            <a:ext cx="1984248" cy="347472"/>
          </a:xfrm>
          <a:prstGeom prst="rect">
            <a:avLst/>
          </a:prstGeom>
          <a:noFill/>
        </p:spPr>
        <p:txBody>
          <a:bodyPr wrap="square" anchor="ctr">
            <a:spAutoFit/>
          </a:bodyPr>
          <a:lstStyle/>
          <a:p>
            <a:pPr algn="r"/>
            <a:r>
              <a:rPr sz="1300" b="0">
                <a:solidFill>
                  <a:srgbClr val="344251"/>
                </a:solidFill>
                <a:latin typeface="Calibri"/>
              </a:rPr>
              <a:t>8981772710</a:t>
            </a:r>
          </a:p>
        </p:txBody>
      </p:sp>
      <p:sp>
        <p:nvSpPr>
          <p:cNvPr id="21" name="TextBox 20"/>
          <p:cNvSpPr txBox="1"/>
          <p:nvPr/>
        </p:nvSpPr>
        <p:spPr>
          <a:xfrm>
            <a:off x="9756648" y="4279392"/>
            <a:ext cx="1984248" cy="347472"/>
          </a:xfrm>
          <a:prstGeom prst="rect">
            <a:avLst/>
          </a:prstGeom>
          <a:noFill/>
        </p:spPr>
        <p:txBody>
          <a:bodyPr wrap="square" anchor="ctr">
            <a:spAutoFit/>
          </a:bodyPr>
          <a:lstStyle/>
          <a:p>
            <a:pPr algn="r"/>
            <a:r>
              <a:rPr sz="1300" b="0">
                <a:solidFill>
                  <a:srgbClr val="344251"/>
                </a:solidFill>
                <a:latin typeface="Calibri"/>
              </a:rPr>
              <a:t>3 part numbers</a:t>
            </a:r>
          </a:p>
        </p:txBody>
      </p:sp>
      <p:sp>
        <p:nvSpPr>
          <p:cNvPr id="22" name="Rectangle 21"/>
          <p:cNvSpPr/>
          <p:nvPr/>
        </p:nvSpPr>
        <p:spPr>
          <a:xfrm>
            <a:off x="438912" y="4626864"/>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30352" y="4626864"/>
            <a:ext cx="2688336" cy="347472"/>
          </a:xfrm>
          <a:prstGeom prst="rect">
            <a:avLst/>
          </a:prstGeom>
          <a:noFill/>
        </p:spPr>
        <p:txBody>
          <a:bodyPr wrap="square" anchor="ctr">
            <a:spAutoFit/>
          </a:bodyPr>
          <a:lstStyle/>
          <a:p>
            <a:pPr algn="l"/>
            <a:r>
              <a:rPr sz="1300" b="1">
                <a:solidFill>
                  <a:srgbClr val="1B2733"/>
                </a:solidFill>
                <a:latin typeface="Calibri"/>
              </a:rPr>
              <a:t>ISZE to ITUK EUR</a:t>
            </a:r>
          </a:p>
        </p:txBody>
      </p:sp>
      <p:sp>
        <p:nvSpPr>
          <p:cNvPr id="24" name="TextBox 23"/>
          <p:cNvSpPr txBox="1"/>
          <p:nvPr/>
        </p:nvSpPr>
        <p:spPr>
          <a:xfrm>
            <a:off x="3364992" y="4626864"/>
            <a:ext cx="1984248" cy="347472"/>
          </a:xfrm>
          <a:prstGeom prst="rect">
            <a:avLst/>
          </a:prstGeom>
          <a:noFill/>
        </p:spPr>
        <p:txBody>
          <a:bodyPr wrap="square" anchor="ctr">
            <a:spAutoFit/>
          </a:bodyPr>
          <a:lstStyle/>
          <a:p>
            <a:pPr algn="r"/>
            <a:r>
              <a:rPr sz="1300" b="0">
                <a:solidFill>
                  <a:srgbClr val="344251"/>
                </a:solidFill>
                <a:latin typeface="Calibri"/>
              </a:rPr>
              <a:t>14.45</a:t>
            </a:r>
          </a:p>
        </p:txBody>
      </p:sp>
      <p:sp>
        <p:nvSpPr>
          <p:cNvPr id="25" name="TextBox 24"/>
          <p:cNvSpPr txBox="1"/>
          <p:nvPr/>
        </p:nvSpPr>
        <p:spPr>
          <a:xfrm>
            <a:off x="5495544" y="4626864"/>
            <a:ext cx="1984248" cy="347472"/>
          </a:xfrm>
          <a:prstGeom prst="rect">
            <a:avLst/>
          </a:prstGeom>
          <a:noFill/>
        </p:spPr>
        <p:txBody>
          <a:bodyPr wrap="square" anchor="ctr">
            <a:spAutoFit/>
          </a:bodyPr>
          <a:lstStyle/>
          <a:p>
            <a:pPr algn="r"/>
            <a:r>
              <a:rPr sz="1300" b="0">
                <a:solidFill>
                  <a:srgbClr val="344251"/>
                </a:solidFill>
                <a:latin typeface="Calibri"/>
              </a:rPr>
              <a:t>12.56</a:t>
            </a:r>
          </a:p>
        </p:txBody>
      </p:sp>
      <p:sp>
        <p:nvSpPr>
          <p:cNvPr id="26" name="TextBox 25"/>
          <p:cNvSpPr txBox="1"/>
          <p:nvPr/>
        </p:nvSpPr>
        <p:spPr>
          <a:xfrm>
            <a:off x="7626096" y="4626864"/>
            <a:ext cx="1984248" cy="347472"/>
          </a:xfrm>
          <a:prstGeom prst="rect">
            <a:avLst/>
          </a:prstGeom>
          <a:noFill/>
        </p:spPr>
        <p:txBody>
          <a:bodyPr wrap="square" anchor="ctr">
            <a:spAutoFit/>
          </a:bodyPr>
          <a:lstStyle/>
          <a:p>
            <a:pPr algn="r"/>
            <a:r>
              <a:rPr sz="1300" b="0">
                <a:solidFill>
                  <a:srgbClr val="344251"/>
                </a:solidFill>
                <a:latin typeface="Calibri"/>
              </a:rPr>
              <a:t>31.36</a:t>
            </a:r>
          </a:p>
        </p:txBody>
      </p:sp>
      <p:sp>
        <p:nvSpPr>
          <p:cNvPr id="27" name="TextBox 26"/>
          <p:cNvSpPr txBox="1"/>
          <p:nvPr/>
        </p:nvSpPr>
        <p:spPr>
          <a:xfrm>
            <a:off x="9756648" y="4626864"/>
            <a:ext cx="1984248" cy="347472"/>
          </a:xfrm>
          <a:prstGeom prst="rect">
            <a:avLst/>
          </a:prstGeom>
          <a:noFill/>
        </p:spPr>
        <p:txBody>
          <a:bodyPr wrap="square" anchor="ctr">
            <a:spAutoFit/>
          </a:bodyPr>
          <a:lstStyle/>
          <a:p>
            <a:pPr algn="r"/>
            <a:r>
              <a:rPr sz="1300" b="0">
                <a:solidFill>
                  <a:srgbClr val="344251"/>
                </a:solidFill>
                <a:latin typeface="Calibri"/>
              </a:rPr>
              <a:t>58.37</a:t>
            </a:r>
          </a:p>
        </p:txBody>
      </p:sp>
      <p:sp>
        <p:nvSpPr>
          <p:cNvPr id="33" name="Rectangle 32"/>
          <p:cNvSpPr/>
          <p:nvPr/>
        </p:nvSpPr>
        <p:spPr>
          <a:xfrm>
            <a:off x="438912" y="4974336"/>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30352" y="4974336"/>
            <a:ext cx="2688336" cy="347472"/>
          </a:xfrm>
          <a:prstGeom prst="rect">
            <a:avLst/>
          </a:prstGeom>
          <a:noFill/>
        </p:spPr>
        <p:txBody>
          <a:bodyPr wrap="square" anchor="ctr">
            <a:spAutoFit/>
          </a:bodyPr>
          <a:lstStyle/>
          <a:p>
            <a:pPr algn="l"/>
            <a:r>
              <a:rPr sz="1300" b="1">
                <a:solidFill>
                  <a:srgbClr val="1B2733"/>
                </a:solidFill>
                <a:latin typeface="Calibri"/>
              </a:rPr>
              <a:t>BVP PN</a:t>
            </a:r>
          </a:p>
        </p:txBody>
      </p:sp>
      <p:sp>
        <p:nvSpPr>
          <p:cNvPr id="34" name="TextBox 33"/>
          <p:cNvSpPr txBox="1"/>
          <p:nvPr/>
        </p:nvSpPr>
        <p:spPr>
          <a:xfrm>
            <a:off x="530352" y="5321808"/>
            <a:ext cx="2688336" cy="347472"/>
          </a:xfrm>
          <a:prstGeom prst="rect">
            <a:avLst/>
          </a:prstGeom>
          <a:noFill/>
        </p:spPr>
        <p:txBody>
          <a:bodyPr wrap="square" anchor="ctr">
            <a:spAutoFit/>
          </a:bodyPr>
          <a:lstStyle/>
          <a:p>
            <a:pPr algn="l"/>
            <a:r>
              <a:rPr sz="1300" b="1">
                <a:solidFill>
                  <a:srgbClr val="1B2733"/>
                </a:solidFill>
                <a:latin typeface="Calibri"/>
              </a:rPr>
              <a:t>BVP ISZE to ITUK EUR</a:t>
            </a:r>
          </a:p>
        </p:txBody>
      </p:sp>
      <p:sp>
        <p:nvSpPr>
          <p:cNvPr id="35" name="TextBox 34"/>
          <p:cNvSpPr txBox="1"/>
          <p:nvPr/>
        </p:nvSpPr>
        <p:spPr>
          <a:xfrm>
            <a:off x="3364992" y="4974336"/>
            <a:ext cx="1984248" cy="347472"/>
          </a:xfrm>
          <a:prstGeom prst="rect">
            <a:avLst/>
          </a:prstGeom>
          <a:noFill/>
        </p:spPr>
        <p:txBody>
          <a:bodyPr wrap="square" anchor="ctr">
            <a:spAutoFit/>
          </a:bodyPr>
          <a:lstStyle/>
          <a:p>
            <a:pPr algn="r"/>
            <a:r>
              <a:rPr sz="1300" b="0">
                <a:solidFill>
                  <a:srgbClr val="344251"/>
                </a:solidFill>
                <a:latin typeface="Calibri"/>
              </a:rPr>
              <a:t>1876102890</a:t>
            </a:r>
          </a:p>
        </p:txBody>
      </p:sp>
      <p:sp>
        <p:nvSpPr>
          <p:cNvPr id="35" name="TextBox 34"/>
          <p:cNvSpPr txBox="1"/>
          <p:nvPr/>
        </p:nvSpPr>
        <p:spPr>
          <a:xfrm>
            <a:off x="3364992" y="5321808"/>
            <a:ext cx="1984248" cy="347472"/>
          </a:xfrm>
          <a:prstGeom prst="rect">
            <a:avLst/>
          </a:prstGeom>
          <a:noFill/>
        </p:spPr>
        <p:txBody>
          <a:bodyPr wrap="square" anchor="ctr">
            <a:spAutoFit/>
          </a:bodyPr>
          <a:lstStyle/>
          <a:p>
            <a:pPr algn="r"/>
            <a:r>
              <a:rPr sz="1300" b="0">
                <a:solidFill>
                  <a:srgbClr val="344251"/>
                </a:solidFill>
                <a:latin typeface="Calibri"/>
              </a:rPr>
              <a:t>9.96</a:t>
            </a:r>
          </a:p>
        </p:txBody>
      </p:sp>
      <p:sp>
        <p:nvSpPr>
          <p:cNvPr id="36" name="TextBox 35"/>
          <p:cNvSpPr txBox="1"/>
          <p:nvPr/>
        </p:nvSpPr>
        <p:spPr>
          <a:xfrm>
            <a:off x="5495544" y="4974336"/>
            <a:ext cx="1984248" cy="347472"/>
          </a:xfrm>
          <a:prstGeom prst="rect">
            <a:avLst/>
          </a:prstGeom>
          <a:noFill/>
        </p:spPr>
        <p:txBody>
          <a:bodyPr wrap="square" anchor="ctr">
            <a:spAutoFit/>
          </a:bodyPr>
          <a:lstStyle/>
          <a:p>
            <a:pPr algn="r"/>
            <a:r>
              <a:rPr sz="1300" b="0">
                <a:solidFill>
                  <a:srgbClr val="344251"/>
                </a:solidFill>
                <a:latin typeface="Calibri"/>
              </a:rPr>
              <a:t>1876102860</a:t>
            </a:r>
          </a:p>
        </p:txBody>
      </p:sp>
      <p:sp>
        <p:nvSpPr>
          <p:cNvPr id="36" name="TextBox 35"/>
          <p:cNvSpPr txBox="1"/>
          <p:nvPr/>
        </p:nvSpPr>
        <p:spPr>
          <a:xfrm>
            <a:off x="5495544" y="5321808"/>
            <a:ext cx="1984248" cy="347472"/>
          </a:xfrm>
          <a:prstGeom prst="rect">
            <a:avLst/>
          </a:prstGeom>
          <a:noFill/>
        </p:spPr>
        <p:txBody>
          <a:bodyPr wrap="square" anchor="ctr">
            <a:spAutoFit/>
          </a:bodyPr>
          <a:lstStyle/>
          <a:p>
            <a:pPr algn="r"/>
            <a:r>
              <a:rPr sz="1300" b="0">
                <a:solidFill>
                  <a:srgbClr val="344251"/>
                </a:solidFill>
                <a:latin typeface="Calibri"/>
              </a:rPr>
              <a:t>8.05</a:t>
            </a:r>
          </a:p>
        </p:txBody>
      </p:sp>
      <p:sp>
        <p:nvSpPr>
          <p:cNvPr id="37" name="TextBox 36"/>
          <p:cNvSpPr txBox="1"/>
          <p:nvPr/>
        </p:nvSpPr>
        <p:spPr>
          <a:xfrm>
            <a:off x="7626096" y="4974336"/>
            <a:ext cx="1984248" cy="347472"/>
          </a:xfrm>
          <a:prstGeom prst="rect">
            <a:avLst/>
          </a:prstGeom>
          <a:noFill/>
        </p:spPr>
        <p:txBody>
          <a:bodyPr wrap="square" anchor="ctr">
            <a:spAutoFit/>
          </a:bodyPr>
          <a:lstStyle/>
          <a:p>
            <a:pPr algn="r"/>
            <a:r>
              <a:rPr sz="1300" b="0">
                <a:solidFill>
                  <a:srgbClr val="344251"/>
                </a:solidFill>
                <a:latin typeface="Calibri"/>
              </a:rPr>
              <a:t>5876102500</a:t>
            </a:r>
          </a:p>
        </p:txBody>
      </p:sp>
      <p:sp>
        <p:nvSpPr>
          <p:cNvPr id="37" name="TextBox 36"/>
          <p:cNvSpPr txBox="1"/>
          <p:nvPr/>
        </p:nvSpPr>
        <p:spPr>
          <a:xfrm>
            <a:off x="7626096" y="5321808"/>
            <a:ext cx="1984248" cy="347472"/>
          </a:xfrm>
          <a:prstGeom prst="rect">
            <a:avLst/>
          </a:prstGeom>
          <a:noFill/>
        </p:spPr>
        <p:txBody>
          <a:bodyPr wrap="square" anchor="ctr">
            <a:spAutoFit/>
          </a:bodyPr>
          <a:lstStyle/>
          <a:p>
            <a:pPr algn="r"/>
            <a:r>
              <a:rPr sz="1300" b="0">
                <a:solidFill>
                  <a:srgbClr val="344251"/>
                </a:solidFill>
                <a:latin typeface="Calibri"/>
              </a:rPr>
              <a:t>17.49</a:t>
            </a:r>
          </a:p>
        </p:txBody>
      </p:sp>
      <p:sp>
        <p:nvSpPr>
          <p:cNvPr id="38" name="TextBox 37"/>
          <p:cNvSpPr txBox="1"/>
          <p:nvPr/>
        </p:nvSpPr>
        <p:spPr>
          <a:xfrm>
            <a:off x="9756648" y="4974336"/>
            <a:ext cx="1984248" cy="347472"/>
          </a:xfrm>
          <a:prstGeom prst="rect">
            <a:avLst/>
          </a:prstGeom>
          <a:noFill/>
        </p:spPr>
        <p:txBody>
          <a:bodyPr wrap="square" anchor="ctr">
            <a:spAutoFit/>
          </a:bodyPr>
          <a:lstStyle/>
          <a:p>
            <a:pPr algn="r"/>
            <a:r>
              <a:rPr sz="1300" b="0">
                <a:solidFill>
                  <a:srgbClr val="344251"/>
                </a:solidFill>
                <a:latin typeface="Calibri"/>
              </a:rPr>
              <a:t>if required</a:t>
            </a:r>
          </a:p>
        </p:txBody>
      </p:sp>
      <p:sp>
        <p:nvSpPr>
          <p:cNvPr id="38" name="TextBox 37"/>
          <p:cNvSpPr txBox="1"/>
          <p:nvPr/>
        </p:nvSpPr>
        <p:spPr>
          <a:xfrm>
            <a:off x="9756648" y="5321808"/>
            <a:ext cx="1984248" cy="347472"/>
          </a:xfrm>
          <a:prstGeom prst="rect">
            <a:avLst/>
          </a:prstGeom>
          <a:noFill/>
        </p:spPr>
        <p:txBody>
          <a:bodyPr wrap="square" anchor="ctr">
            <a:spAutoFit/>
          </a:bodyPr>
          <a:lstStyle/>
          <a:p>
            <a:pPr algn="r"/>
            <a:r>
              <a:rPr sz="1300" b="0">
                <a:solidFill>
                  <a:srgbClr val="344251"/>
                </a:solidFill>
                <a:latin typeface="Calibri"/>
              </a:rPr>
              <a:t>35.50</a:t>
            </a:r>
          </a:p>
        </p:txBody>
      </p:sp>
      <p:pic>
        <p:nvPicPr>
          <p:cNvPr id="39" name="Picture 38" descr="new_s8.png"/>
          <p:cNvPicPr>
            <a:picLocks noChangeAspect="1"/>
          </p:cNvPicPr>
          <p:nvPr/>
        </p:nvPicPr>
        <p:blipFill>
          <a:blip r:embed="rId4"/>
          <a:stretch>
            <a:fillRect/>
          </a:stretch>
        </p:blipFill>
        <p:spPr>
          <a:xfrm>
            <a:off x="438912" y="1481328"/>
            <a:ext cx="11356848" cy="239572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Urea filter kit is retained</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9</a:t>
            </a:r>
          </a:p>
        </p:txBody>
      </p:sp>
      <p:sp>
        <p:nvSpPr>
          <p:cNvPr id="9" name="TextBox 8"/>
          <p:cNvSpPr txBox="1"/>
          <p:nvPr/>
        </p:nvSpPr>
        <p:spPr>
          <a:xfrm>
            <a:off x="438912" y="1042415"/>
            <a:ext cx="11338560" cy="438912"/>
          </a:xfrm>
          <a:prstGeom prst="rect">
            <a:avLst/>
          </a:prstGeom>
          <a:noFill/>
        </p:spPr>
        <p:txBody>
          <a:bodyPr wrap="square" anchor="t">
            <a:spAutoFit/>
          </a:bodyPr>
          <a:lstStyle/>
          <a:p>
            <a:pPr algn="l"/>
            <a:r>
              <a:rPr sz="1400" b="0">
                <a:solidFill>
                  <a:srgbClr val="344251"/>
                </a:solidFill>
                <a:latin typeface="Calibri"/>
              </a:rPr>
              <a:t>ITUK requested that this item be retained, and that is confirmed. It sits outside the 37 N75 part numbers and is treated as a separate line. The item is the DEF pump filter kit, not bulk fluid.</a:t>
            </a:r>
          </a:p>
        </p:txBody>
      </p:sp>
      <p:sp>
        <p:nvSpPr>
          <p:cNvPr id="10" name="Rounded Rectangle 9"/>
          <p:cNvSpPr/>
          <p:nvPr/>
        </p:nvSpPr>
        <p:spPr>
          <a:xfrm>
            <a:off x="438912" y="1554480"/>
            <a:ext cx="5577840" cy="20116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 y="1554480"/>
            <a:ext cx="557784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5216" y="1719072"/>
            <a:ext cx="5285232" cy="292608"/>
          </a:xfrm>
          <a:prstGeom prst="rect">
            <a:avLst/>
          </a:prstGeom>
          <a:noFill/>
        </p:spPr>
        <p:txBody>
          <a:bodyPr wrap="square" anchor="t">
            <a:spAutoFit/>
          </a:bodyPr>
          <a:lstStyle/>
          <a:p>
            <a:pPr algn="l"/>
            <a:r>
              <a:rPr sz="1600" b="1">
                <a:solidFill>
                  <a:srgbClr val="1B2733"/>
                </a:solidFill>
                <a:latin typeface="Calibri"/>
              </a:rPr>
              <a:t>Genuine  8983507161</a:t>
            </a:r>
          </a:p>
        </p:txBody>
      </p:sp>
      <p:sp>
        <p:nvSpPr>
          <p:cNvPr id="13" name="TextBox 12"/>
          <p:cNvSpPr txBox="1"/>
          <p:nvPr/>
        </p:nvSpPr>
        <p:spPr>
          <a:xfrm>
            <a:off x="585216" y="2011680"/>
            <a:ext cx="5285232" cy="256032"/>
          </a:xfrm>
          <a:prstGeom prst="rect">
            <a:avLst/>
          </a:prstGeom>
          <a:noFill/>
        </p:spPr>
        <p:txBody>
          <a:bodyPr wrap="square" anchor="t">
            <a:spAutoFit/>
          </a:bodyPr>
          <a:lstStyle/>
          <a:p>
            <a:pPr algn="l"/>
            <a:r>
              <a:rPr sz="1200" b="1">
                <a:solidFill>
                  <a:srgbClr val="ED1C24"/>
                </a:solidFill>
                <a:latin typeface="Calibri"/>
              </a:rPr>
              <a:t>Current kit</a:t>
            </a:r>
          </a:p>
        </p:txBody>
      </p:sp>
      <p:sp>
        <p:nvSpPr>
          <p:cNvPr id="14" name="TextBox 13"/>
          <p:cNvSpPr txBox="1"/>
          <p:nvPr/>
        </p:nvSpPr>
        <p:spPr>
          <a:xfrm>
            <a:off x="585216" y="2304288"/>
            <a:ext cx="5285232" cy="1133856"/>
          </a:xfrm>
          <a:prstGeom prst="rect">
            <a:avLst/>
          </a:prstGeom>
          <a:noFill/>
        </p:spPr>
        <p:txBody>
          <a:bodyPr wrap="square" anchor="t">
            <a:spAutoFit/>
          </a:bodyPr>
          <a:lstStyle/>
          <a:p>
            <a:pPr algn="l"/>
            <a:r>
              <a:rPr sz="1200" b="0">
                <a:solidFill>
                  <a:srgbClr val="344251"/>
                </a:solidFill>
                <a:latin typeface="Calibri"/>
              </a:rPr>
              <a:t>Genuine remains the first choice for this item.</a:t>
            </a:r>
          </a:p>
        </p:txBody>
      </p:sp>
      <p:sp>
        <p:nvSpPr>
          <p:cNvPr id="15" name="Rounded Rectangle 14"/>
          <p:cNvSpPr/>
          <p:nvPr/>
        </p:nvSpPr>
        <p:spPr>
          <a:xfrm>
            <a:off x="6217920" y="1554480"/>
            <a:ext cx="5577840" cy="20116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17920" y="1554480"/>
            <a:ext cx="557784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64224" y="1719072"/>
            <a:ext cx="5285232" cy="292608"/>
          </a:xfrm>
          <a:prstGeom prst="rect">
            <a:avLst/>
          </a:prstGeom>
          <a:noFill/>
        </p:spPr>
        <p:txBody>
          <a:bodyPr wrap="square" anchor="t">
            <a:spAutoFit/>
          </a:bodyPr>
          <a:lstStyle/>
          <a:p>
            <a:pPr algn="l"/>
            <a:r>
              <a:rPr sz="1600" b="1">
                <a:solidFill>
                  <a:srgbClr val="1B2733"/>
                </a:solidFill>
                <a:latin typeface="Calibri"/>
              </a:rPr>
              <a:t>BVP  1876102341</a:t>
            </a:r>
          </a:p>
        </p:txBody>
      </p:sp>
      <p:sp>
        <p:nvSpPr>
          <p:cNvPr id="18" name="TextBox 17"/>
          <p:cNvSpPr txBox="1"/>
          <p:nvPr/>
        </p:nvSpPr>
        <p:spPr>
          <a:xfrm>
            <a:off x="6364224" y="2011680"/>
            <a:ext cx="5285232" cy="256032"/>
          </a:xfrm>
          <a:prstGeom prst="rect">
            <a:avLst/>
          </a:prstGeom>
          <a:noFill/>
        </p:spPr>
        <p:txBody>
          <a:bodyPr wrap="square" anchor="t">
            <a:spAutoFit/>
          </a:bodyPr>
          <a:lstStyle/>
          <a:p>
            <a:pPr algn="l"/>
            <a:r>
              <a:rPr sz="1200" b="1">
                <a:solidFill>
                  <a:srgbClr val="ED1C24"/>
                </a:solidFill>
                <a:latin typeface="Calibri"/>
              </a:rPr>
              <a:t>If genuine is not taken up</a:t>
            </a:r>
          </a:p>
        </p:txBody>
      </p:sp>
      <p:sp>
        <p:nvSpPr>
          <p:cNvPr id="19" name="TextBox 18"/>
          <p:cNvSpPr txBox="1"/>
          <p:nvPr/>
        </p:nvSpPr>
        <p:spPr>
          <a:xfrm>
            <a:off x="6364224" y="2304288"/>
            <a:ext cx="5285232" cy="1133856"/>
          </a:xfrm>
          <a:prstGeom prst="rect">
            <a:avLst/>
          </a:prstGeom>
          <a:noFill/>
        </p:spPr>
        <p:txBody>
          <a:bodyPr wrap="square" anchor="t">
            <a:spAutoFit/>
          </a:bodyPr>
          <a:lstStyle/>
          <a:p>
            <a:pPr algn="l"/>
            <a:r>
              <a:rPr sz="1200" b="0">
                <a:solidFill>
                  <a:srgbClr val="344251"/>
                </a:solidFill>
                <a:latin typeface="Calibri"/>
              </a:rPr>
              <a:t>Use the BVP where genuine is not taken up, unless a genuine SPA achieves a lower price.</a:t>
            </a:r>
          </a:p>
        </p:txBody>
      </p:sp>
      <p:sp>
        <p:nvSpPr>
          <p:cNvPr id="20" name="Rectangle 19"/>
          <p:cNvSpPr/>
          <p:nvPr/>
        </p:nvSpPr>
        <p:spPr>
          <a:xfrm>
            <a:off x="438912" y="3730752"/>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30352" y="3730752"/>
            <a:ext cx="3639311" cy="329184"/>
          </a:xfrm>
          <a:prstGeom prst="rect">
            <a:avLst/>
          </a:prstGeom>
          <a:noFill/>
        </p:spPr>
        <p:txBody>
          <a:bodyPr wrap="square" anchor="ctr">
            <a:spAutoFit/>
          </a:bodyPr>
          <a:lstStyle/>
          <a:p>
            <a:pPr algn="l"/>
            <a:endParaRPr/>
          </a:p>
        </p:txBody>
      </p:sp>
      <p:sp>
        <p:nvSpPr>
          <p:cNvPr id="22" name="TextBox 21"/>
          <p:cNvSpPr txBox="1"/>
          <p:nvPr/>
        </p:nvSpPr>
        <p:spPr>
          <a:xfrm>
            <a:off x="4315967" y="3730752"/>
            <a:ext cx="3639311" cy="329184"/>
          </a:xfrm>
          <a:prstGeom prst="rect">
            <a:avLst/>
          </a:prstGeom>
          <a:noFill/>
        </p:spPr>
        <p:txBody>
          <a:bodyPr wrap="square" anchor="ctr">
            <a:spAutoFit/>
          </a:bodyPr>
          <a:lstStyle/>
          <a:p>
            <a:pPr algn="r"/>
            <a:r>
              <a:rPr sz="1100" b="1">
                <a:solidFill>
                  <a:srgbClr val="FFFFFF"/>
                </a:solidFill>
                <a:latin typeface="Calibri"/>
              </a:rPr>
              <a:t>Genuine 8983507161</a:t>
            </a:r>
          </a:p>
        </p:txBody>
      </p:sp>
      <p:sp>
        <p:nvSpPr>
          <p:cNvPr id="23" name="TextBox 22"/>
          <p:cNvSpPr txBox="1"/>
          <p:nvPr/>
        </p:nvSpPr>
        <p:spPr>
          <a:xfrm>
            <a:off x="8101582" y="3730752"/>
            <a:ext cx="3639311" cy="329184"/>
          </a:xfrm>
          <a:prstGeom prst="rect">
            <a:avLst/>
          </a:prstGeom>
          <a:noFill/>
        </p:spPr>
        <p:txBody>
          <a:bodyPr wrap="square" anchor="ctr">
            <a:spAutoFit/>
          </a:bodyPr>
          <a:lstStyle/>
          <a:p>
            <a:pPr algn="r"/>
            <a:r>
              <a:rPr sz="1100" b="1">
                <a:solidFill>
                  <a:srgbClr val="FFFFFF"/>
                </a:solidFill>
                <a:latin typeface="Calibri"/>
              </a:rPr>
              <a:t>BVP 1876102341</a:t>
            </a:r>
          </a:p>
        </p:txBody>
      </p:sp>
      <p:sp>
        <p:nvSpPr>
          <p:cNvPr id="24" name="TextBox 23"/>
          <p:cNvSpPr txBox="1"/>
          <p:nvPr/>
        </p:nvSpPr>
        <p:spPr>
          <a:xfrm>
            <a:off x="530352" y="4059936"/>
            <a:ext cx="3639311" cy="384048"/>
          </a:xfrm>
          <a:prstGeom prst="rect">
            <a:avLst/>
          </a:prstGeom>
          <a:noFill/>
        </p:spPr>
        <p:txBody>
          <a:bodyPr wrap="square" anchor="ctr">
            <a:spAutoFit/>
          </a:bodyPr>
          <a:lstStyle/>
          <a:p>
            <a:pPr algn="l"/>
            <a:r>
              <a:rPr sz="1300" b="1">
                <a:solidFill>
                  <a:srgbClr val="1B2733"/>
                </a:solidFill>
                <a:latin typeface="Calibri"/>
              </a:rPr>
              <a:t>ITUK to dealer qty</a:t>
            </a:r>
          </a:p>
        </p:txBody>
      </p:sp>
      <p:sp>
        <p:nvSpPr>
          <p:cNvPr id="25" name="TextBox 24"/>
          <p:cNvSpPr txBox="1"/>
          <p:nvPr/>
        </p:nvSpPr>
        <p:spPr>
          <a:xfrm>
            <a:off x="4315967" y="4059936"/>
            <a:ext cx="3639311" cy="384048"/>
          </a:xfrm>
          <a:prstGeom prst="rect">
            <a:avLst/>
          </a:prstGeom>
          <a:noFill/>
        </p:spPr>
        <p:txBody>
          <a:bodyPr wrap="square" anchor="ctr">
            <a:spAutoFit/>
          </a:bodyPr>
          <a:lstStyle/>
          <a:p>
            <a:pPr algn="r"/>
            <a:r>
              <a:rPr sz="1300" b="0">
                <a:solidFill>
                  <a:srgbClr val="344251"/>
                </a:solidFill>
                <a:latin typeface="Calibri"/>
              </a:rPr>
              <a:t>541</a:t>
            </a:r>
          </a:p>
        </p:txBody>
      </p:sp>
      <p:sp>
        <p:nvSpPr>
          <p:cNvPr id="26" name="TextBox 25"/>
          <p:cNvSpPr txBox="1"/>
          <p:nvPr/>
        </p:nvSpPr>
        <p:spPr>
          <a:xfrm>
            <a:off x="8101582" y="4059936"/>
            <a:ext cx="3639311" cy="384048"/>
          </a:xfrm>
          <a:prstGeom prst="rect">
            <a:avLst/>
          </a:prstGeom>
          <a:noFill/>
        </p:spPr>
        <p:txBody>
          <a:bodyPr wrap="square" anchor="ctr">
            <a:spAutoFit/>
          </a:bodyPr>
          <a:lstStyle/>
          <a:p>
            <a:pPr algn="r"/>
            <a:r>
              <a:rPr sz="1300" b="0">
                <a:solidFill>
                  <a:srgbClr val="344251"/>
                </a:solidFill>
                <a:latin typeface="Calibri"/>
              </a:rPr>
              <a:t>34</a:t>
            </a:r>
          </a:p>
        </p:txBody>
      </p:sp>
      <p:sp>
        <p:nvSpPr>
          <p:cNvPr id="27" name="Rectangle 26"/>
          <p:cNvSpPr/>
          <p:nvPr/>
        </p:nvSpPr>
        <p:spPr>
          <a:xfrm>
            <a:off x="438912" y="4443984"/>
            <a:ext cx="11356848" cy="384048"/>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30352" y="4443984"/>
            <a:ext cx="3639311" cy="384048"/>
          </a:xfrm>
          <a:prstGeom prst="rect">
            <a:avLst/>
          </a:prstGeom>
          <a:noFill/>
        </p:spPr>
        <p:txBody>
          <a:bodyPr wrap="square" anchor="ctr">
            <a:spAutoFit/>
          </a:bodyPr>
          <a:lstStyle/>
          <a:p>
            <a:pPr algn="l"/>
            <a:r>
              <a:rPr sz="1300" b="1">
                <a:solidFill>
                  <a:srgbClr val="1B2733"/>
                </a:solidFill>
                <a:latin typeface="Calibri"/>
              </a:rPr>
              <a:t>ISZE to ITUK qty</a:t>
            </a:r>
          </a:p>
        </p:txBody>
      </p:sp>
      <p:sp>
        <p:nvSpPr>
          <p:cNvPr id="29" name="TextBox 28"/>
          <p:cNvSpPr txBox="1"/>
          <p:nvPr/>
        </p:nvSpPr>
        <p:spPr>
          <a:xfrm>
            <a:off x="4315967" y="4443984"/>
            <a:ext cx="3639311" cy="384048"/>
          </a:xfrm>
          <a:prstGeom prst="rect">
            <a:avLst/>
          </a:prstGeom>
          <a:noFill/>
        </p:spPr>
        <p:txBody>
          <a:bodyPr wrap="square" anchor="ctr">
            <a:spAutoFit/>
          </a:bodyPr>
          <a:lstStyle/>
          <a:p>
            <a:pPr algn="r"/>
            <a:r>
              <a:rPr sz="1300" b="0">
                <a:solidFill>
                  <a:srgbClr val="344251"/>
                </a:solidFill>
                <a:latin typeface="Calibri"/>
              </a:rPr>
              <a:t>506</a:t>
            </a:r>
          </a:p>
        </p:txBody>
      </p:sp>
      <p:sp>
        <p:nvSpPr>
          <p:cNvPr id="30" name="TextBox 29"/>
          <p:cNvSpPr txBox="1"/>
          <p:nvPr/>
        </p:nvSpPr>
        <p:spPr>
          <a:xfrm>
            <a:off x="8101582" y="4443984"/>
            <a:ext cx="3639311" cy="384048"/>
          </a:xfrm>
          <a:prstGeom prst="rect">
            <a:avLst/>
          </a:prstGeom>
          <a:noFill/>
        </p:spPr>
        <p:txBody>
          <a:bodyPr wrap="square" anchor="ctr">
            <a:spAutoFit/>
          </a:bodyPr>
          <a:lstStyle/>
          <a:p>
            <a:pPr algn="r"/>
            <a:r>
              <a:rPr sz="1300" b="0">
                <a:solidFill>
                  <a:srgbClr val="344251"/>
                </a:solidFill>
                <a:latin typeface="Calibri"/>
              </a:rPr>
              <a:t>46</a:t>
            </a:r>
          </a:p>
        </p:txBody>
      </p:sp>
      <p:sp>
        <p:nvSpPr>
          <p:cNvPr id="31" name="TextBox 30"/>
          <p:cNvSpPr txBox="1"/>
          <p:nvPr/>
        </p:nvSpPr>
        <p:spPr>
          <a:xfrm>
            <a:off x="530352" y="4828032"/>
            <a:ext cx="3639311" cy="384048"/>
          </a:xfrm>
          <a:prstGeom prst="rect">
            <a:avLst/>
          </a:prstGeom>
          <a:noFill/>
        </p:spPr>
        <p:txBody>
          <a:bodyPr wrap="square" anchor="ctr">
            <a:spAutoFit/>
          </a:bodyPr>
          <a:lstStyle/>
          <a:p>
            <a:pPr algn="l"/>
            <a:r>
              <a:rPr sz="1300" b="1">
                <a:solidFill>
                  <a:srgbClr val="1B2733"/>
                </a:solidFill>
                <a:latin typeface="Calibri"/>
              </a:rPr>
              <a:t>ISZE to ITUK EUR</a:t>
            </a:r>
          </a:p>
        </p:txBody>
      </p:sp>
      <p:sp>
        <p:nvSpPr>
          <p:cNvPr id="32" name="TextBox 31"/>
          <p:cNvSpPr txBox="1"/>
          <p:nvPr/>
        </p:nvSpPr>
        <p:spPr>
          <a:xfrm>
            <a:off x="4315967" y="4828032"/>
            <a:ext cx="3639311" cy="384048"/>
          </a:xfrm>
          <a:prstGeom prst="rect">
            <a:avLst/>
          </a:prstGeom>
          <a:noFill/>
        </p:spPr>
        <p:txBody>
          <a:bodyPr wrap="square" anchor="ctr">
            <a:spAutoFit/>
          </a:bodyPr>
          <a:lstStyle/>
          <a:p>
            <a:pPr algn="r"/>
            <a:r>
              <a:rPr sz="1300" b="0">
                <a:solidFill>
                  <a:srgbClr val="344251"/>
                </a:solidFill>
                <a:latin typeface="Calibri"/>
              </a:rPr>
              <a:t>70.53</a:t>
            </a:r>
          </a:p>
        </p:txBody>
      </p:sp>
      <p:sp>
        <p:nvSpPr>
          <p:cNvPr id="33" name="TextBox 32"/>
          <p:cNvSpPr txBox="1"/>
          <p:nvPr/>
        </p:nvSpPr>
        <p:spPr>
          <a:xfrm>
            <a:off x="8101582" y="4828032"/>
            <a:ext cx="3639311" cy="384048"/>
          </a:xfrm>
          <a:prstGeom prst="rect">
            <a:avLst/>
          </a:prstGeom>
          <a:noFill/>
        </p:spPr>
        <p:txBody>
          <a:bodyPr wrap="square" anchor="ctr">
            <a:spAutoFit/>
          </a:bodyPr>
          <a:lstStyle/>
          <a:p>
            <a:pPr algn="r"/>
            <a:r>
              <a:rPr sz="1300" b="0">
                <a:solidFill>
                  <a:srgbClr val="344251"/>
                </a:solidFill>
                <a:latin typeface="Calibri"/>
              </a:rPr>
              <a:t>30.72</a:t>
            </a:r>
          </a:p>
        </p:txBody>
      </p:sp>
      <p:sp>
        <p:nvSpPr>
          <p:cNvPr id="38" name="TextBox 37"/>
          <p:cNvSpPr txBox="1"/>
          <p:nvPr/>
        </p:nvSpPr>
        <p:spPr>
          <a:xfrm>
            <a:off x="438912" y="5833872"/>
            <a:ext cx="11338560" cy="256032"/>
          </a:xfrm>
          <a:prstGeom prst="rect">
            <a:avLst/>
          </a:prstGeom>
          <a:noFill/>
        </p:spPr>
        <p:txBody>
          <a:bodyPr wrap="square" anchor="t">
            <a:spAutoFit/>
          </a:bodyPr>
          <a:lstStyle/>
          <a:p>
            <a:pPr algn="l"/>
            <a:r>
              <a:rPr sz="1200" b="0">
                <a:solidFill>
                  <a:srgbClr val="344251"/>
                </a:solidFill>
                <a:latin typeface="Calibri"/>
              </a:rPr>
              <a:t>Prices shown are ISZE to ITUK, PR00 IE40, valid 13 March 2026.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Brakes remain condition-based</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10</a:t>
            </a:r>
          </a:p>
        </p:txBody>
      </p:sp>
      <p:sp>
        <p:nvSpPr>
          <p:cNvPr id="9" name="TextBox 8"/>
          <p:cNvSpPr txBox="1"/>
          <p:nvPr/>
        </p:nvSpPr>
        <p:spPr>
          <a:xfrm>
            <a:off x="438912" y="1042415"/>
            <a:ext cx="11338560" cy="502920"/>
          </a:xfrm>
          <a:prstGeom prst="rect">
            <a:avLst/>
          </a:prstGeom>
          <a:noFill/>
        </p:spPr>
        <p:txBody>
          <a:bodyPr wrap="square" anchor="t">
            <a:spAutoFit/>
          </a:bodyPr>
          <a:lstStyle/>
          <a:p>
            <a:pPr algn="l"/>
            <a:r>
              <a:rPr sz="1400" b="0">
                <a:solidFill>
                  <a:srgbClr val="344251"/>
                </a:solidFill>
                <a:latin typeface="Calibri"/>
              </a:rPr>
              <a:t>No promotional trigger. Where the pad is required for the repair, no BVP exists and an SPA applies. Both N75 pad numbers are included.</a:t>
            </a:r>
          </a:p>
        </p:txBody>
      </p:sp>
      <p:sp>
        <p:nvSpPr>
          <p:cNvPr id="11" name="Rectangle 10"/>
          <p:cNvSpPr/>
          <p:nvPr/>
        </p:nvSpPr>
        <p:spPr>
          <a:xfrm>
            <a:off x="438912" y="3584448"/>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3584448"/>
            <a:ext cx="3694176" cy="329184"/>
          </a:xfrm>
          <a:prstGeom prst="rect">
            <a:avLst/>
          </a:prstGeom>
          <a:noFill/>
        </p:spPr>
        <p:txBody>
          <a:bodyPr wrap="square" anchor="ctr">
            <a:spAutoFit/>
          </a:bodyPr>
          <a:lstStyle/>
          <a:p>
            <a:pPr algn="l"/>
            <a:endParaRPr/>
          </a:p>
        </p:txBody>
      </p:sp>
      <p:sp>
        <p:nvSpPr>
          <p:cNvPr id="13" name="TextBox 12"/>
          <p:cNvSpPr txBox="1"/>
          <p:nvPr/>
        </p:nvSpPr>
        <p:spPr>
          <a:xfrm>
            <a:off x="4370832" y="3584448"/>
            <a:ext cx="2359152" cy="329184"/>
          </a:xfrm>
          <a:prstGeom prst="rect">
            <a:avLst/>
          </a:prstGeom>
          <a:noFill/>
        </p:spPr>
        <p:txBody>
          <a:bodyPr wrap="square" anchor="ctr">
            <a:spAutoFit/>
          </a:bodyPr>
          <a:lstStyle/>
          <a:p>
            <a:pPr algn="r"/>
            <a:r>
              <a:rPr sz="1100" b="1">
                <a:solidFill>
                  <a:srgbClr val="FFFFFF"/>
                </a:solidFill>
                <a:latin typeface="Calibri"/>
              </a:rPr>
              <a:t>ITUK to dealer</a:t>
            </a:r>
          </a:p>
        </p:txBody>
      </p:sp>
      <p:sp>
        <p:nvSpPr>
          <p:cNvPr id="14" name="TextBox 13"/>
          <p:cNvSpPr txBox="1"/>
          <p:nvPr/>
        </p:nvSpPr>
        <p:spPr>
          <a:xfrm>
            <a:off x="6876288" y="3584448"/>
            <a:ext cx="2359152" cy="329184"/>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15" name="TextBox 14"/>
          <p:cNvSpPr txBox="1"/>
          <p:nvPr/>
        </p:nvSpPr>
        <p:spPr>
          <a:xfrm>
            <a:off x="9381744" y="3584448"/>
            <a:ext cx="2359152" cy="329184"/>
          </a:xfrm>
          <a:prstGeom prst="rect">
            <a:avLst/>
          </a:prstGeom>
          <a:noFill/>
        </p:spPr>
        <p:txBody>
          <a:bodyPr wrap="square" anchor="ctr">
            <a:spAutoFit/>
          </a:bodyPr>
          <a:lstStyle/>
          <a:p>
            <a:pPr algn="r"/>
            <a:r>
              <a:rPr sz="1100" b="1">
                <a:solidFill>
                  <a:srgbClr val="FFFFFF"/>
                </a:solidFill>
                <a:latin typeface="Calibri"/>
              </a:rPr>
              <a:t>Inspect interval</a:t>
            </a:r>
          </a:p>
        </p:txBody>
      </p:sp>
      <p:sp>
        <p:nvSpPr>
          <p:cNvPr id="16" name="TextBox 15"/>
          <p:cNvSpPr txBox="1"/>
          <p:nvPr/>
        </p:nvSpPr>
        <p:spPr>
          <a:xfrm>
            <a:off x="530352" y="3913632"/>
            <a:ext cx="3694176" cy="402336"/>
          </a:xfrm>
          <a:prstGeom prst="rect">
            <a:avLst/>
          </a:prstGeom>
          <a:noFill/>
        </p:spPr>
        <p:txBody>
          <a:bodyPr wrap="square" anchor="ctr">
            <a:spAutoFit/>
          </a:bodyPr>
          <a:lstStyle/>
          <a:p>
            <a:pPr algn="l"/>
            <a:r>
              <a:rPr sz="1300" b="1">
                <a:solidFill>
                  <a:srgbClr val="1B2733"/>
                </a:solidFill>
                <a:latin typeface="Calibri"/>
              </a:rPr>
              <a:t>Pad 8982447940 + 8982169220</a:t>
            </a:r>
          </a:p>
        </p:txBody>
      </p:sp>
      <p:sp>
        <p:nvSpPr>
          <p:cNvPr id="17" name="TextBox 16"/>
          <p:cNvSpPr txBox="1"/>
          <p:nvPr/>
        </p:nvSpPr>
        <p:spPr>
          <a:xfrm>
            <a:off x="4370832" y="3913632"/>
            <a:ext cx="2359152" cy="402336"/>
          </a:xfrm>
          <a:prstGeom prst="rect">
            <a:avLst/>
          </a:prstGeom>
          <a:noFill/>
        </p:spPr>
        <p:txBody>
          <a:bodyPr wrap="square" anchor="ctr">
            <a:spAutoFit/>
          </a:bodyPr>
          <a:lstStyle/>
          <a:p>
            <a:pPr algn="r"/>
            <a:r>
              <a:rPr sz="1300" b="0">
                <a:solidFill>
                  <a:srgbClr val="344251"/>
                </a:solidFill>
                <a:latin typeface="Calibri"/>
              </a:rPr>
              <a:t>2,900</a:t>
            </a:r>
          </a:p>
        </p:txBody>
      </p:sp>
      <p:sp>
        <p:nvSpPr>
          <p:cNvPr id="18" name="TextBox 17"/>
          <p:cNvSpPr txBox="1"/>
          <p:nvPr/>
        </p:nvSpPr>
        <p:spPr>
          <a:xfrm>
            <a:off x="6876288" y="3913632"/>
            <a:ext cx="2359152" cy="402336"/>
          </a:xfrm>
          <a:prstGeom prst="rect">
            <a:avLst/>
          </a:prstGeom>
          <a:noFill/>
        </p:spPr>
        <p:txBody>
          <a:bodyPr wrap="square" anchor="ctr">
            <a:spAutoFit/>
          </a:bodyPr>
          <a:lstStyle/>
          <a:p>
            <a:pPr algn="r"/>
            <a:r>
              <a:rPr sz="1300" b="0">
                <a:solidFill>
                  <a:srgbClr val="344251"/>
                </a:solidFill>
                <a:latin typeface="Calibri"/>
              </a:rPr>
              <a:t>2,730</a:t>
            </a:r>
          </a:p>
        </p:txBody>
      </p:sp>
      <p:sp>
        <p:nvSpPr>
          <p:cNvPr id="19" name="TextBox 18"/>
          <p:cNvSpPr txBox="1"/>
          <p:nvPr/>
        </p:nvSpPr>
        <p:spPr>
          <a:xfrm>
            <a:off x="9381744" y="3913632"/>
            <a:ext cx="2359152" cy="402336"/>
          </a:xfrm>
          <a:prstGeom prst="rect">
            <a:avLst/>
          </a:prstGeom>
          <a:noFill/>
        </p:spPr>
        <p:txBody>
          <a:bodyPr wrap="square" anchor="ctr">
            <a:spAutoFit/>
          </a:bodyPr>
          <a:lstStyle/>
          <a:p>
            <a:pPr algn="r"/>
            <a:r>
              <a:rPr sz="1300" b="0">
                <a:solidFill>
                  <a:srgbClr val="344251"/>
                </a:solidFill>
                <a:latin typeface="Calibri"/>
              </a:rPr>
              <a:t>20,000 km / 12 months</a:t>
            </a:r>
          </a:p>
        </p:txBody>
      </p:sp>
      <p:sp>
        <p:nvSpPr>
          <p:cNvPr id="20" name="Rectangle 19"/>
          <p:cNvSpPr/>
          <p:nvPr/>
        </p:nvSpPr>
        <p:spPr>
          <a:xfrm>
            <a:off x="438912" y="4315968"/>
            <a:ext cx="11356848" cy="402336"/>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30352" y="4315968"/>
            <a:ext cx="3694176" cy="402336"/>
          </a:xfrm>
          <a:prstGeom prst="rect">
            <a:avLst/>
          </a:prstGeom>
          <a:noFill/>
        </p:spPr>
        <p:txBody>
          <a:bodyPr wrap="square" anchor="ctr">
            <a:spAutoFit/>
          </a:bodyPr>
          <a:lstStyle/>
          <a:p>
            <a:pPr algn="l"/>
            <a:r>
              <a:rPr sz="1300" b="1">
                <a:solidFill>
                  <a:srgbClr val="1B2733"/>
                </a:solidFill>
                <a:latin typeface="Calibri"/>
              </a:rPr>
              <a:t>Disc rear 8981919560</a:t>
            </a:r>
          </a:p>
        </p:txBody>
      </p:sp>
      <p:sp>
        <p:nvSpPr>
          <p:cNvPr id="22" name="TextBox 21"/>
          <p:cNvSpPr txBox="1"/>
          <p:nvPr/>
        </p:nvSpPr>
        <p:spPr>
          <a:xfrm>
            <a:off x="4370832" y="4315968"/>
            <a:ext cx="2359152" cy="402336"/>
          </a:xfrm>
          <a:prstGeom prst="rect">
            <a:avLst/>
          </a:prstGeom>
          <a:noFill/>
        </p:spPr>
        <p:txBody>
          <a:bodyPr wrap="square" anchor="ctr">
            <a:spAutoFit/>
          </a:bodyPr>
          <a:lstStyle/>
          <a:p>
            <a:pPr algn="r"/>
            <a:r>
              <a:rPr sz="1300" b="0">
                <a:solidFill>
                  <a:srgbClr val="344251"/>
                </a:solidFill>
                <a:latin typeface="Calibri"/>
              </a:rPr>
              <a:t>487</a:t>
            </a:r>
          </a:p>
        </p:txBody>
      </p:sp>
      <p:sp>
        <p:nvSpPr>
          <p:cNvPr id="23" name="TextBox 22"/>
          <p:cNvSpPr txBox="1"/>
          <p:nvPr/>
        </p:nvSpPr>
        <p:spPr>
          <a:xfrm>
            <a:off x="6876288" y="4315968"/>
            <a:ext cx="2359152" cy="402336"/>
          </a:xfrm>
          <a:prstGeom prst="rect">
            <a:avLst/>
          </a:prstGeom>
          <a:noFill/>
        </p:spPr>
        <p:txBody>
          <a:bodyPr wrap="square" anchor="ctr">
            <a:spAutoFit/>
          </a:bodyPr>
          <a:lstStyle/>
          <a:p>
            <a:pPr algn="r"/>
            <a:r>
              <a:rPr sz="1300" b="0">
                <a:solidFill>
                  <a:srgbClr val="344251"/>
                </a:solidFill>
                <a:latin typeface="Calibri"/>
              </a:rPr>
              <a:t>0</a:t>
            </a:r>
          </a:p>
        </p:txBody>
      </p:sp>
      <p:sp>
        <p:nvSpPr>
          <p:cNvPr id="24" name="TextBox 23"/>
          <p:cNvSpPr txBox="1"/>
          <p:nvPr/>
        </p:nvSpPr>
        <p:spPr>
          <a:xfrm>
            <a:off x="9381744" y="4315968"/>
            <a:ext cx="2359152" cy="402336"/>
          </a:xfrm>
          <a:prstGeom prst="rect">
            <a:avLst/>
          </a:prstGeom>
          <a:noFill/>
        </p:spPr>
        <p:txBody>
          <a:bodyPr wrap="square" anchor="ctr">
            <a:spAutoFit/>
          </a:bodyPr>
          <a:lstStyle/>
          <a:p>
            <a:pPr algn="r"/>
            <a:r>
              <a:rPr sz="1300" b="0">
                <a:solidFill>
                  <a:srgbClr val="344251"/>
                </a:solidFill>
                <a:latin typeface="Calibri"/>
              </a:rPr>
              <a:t>—</a:t>
            </a:r>
          </a:p>
        </p:txBody>
      </p:sp>
      <p:sp>
        <p:nvSpPr>
          <p:cNvPr id="25" name="TextBox 24"/>
          <p:cNvSpPr txBox="1"/>
          <p:nvPr/>
        </p:nvSpPr>
        <p:spPr>
          <a:xfrm>
            <a:off x="530352" y="4718304"/>
            <a:ext cx="3694176" cy="402336"/>
          </a:xfrm>
          <a:prstGeom prst="rect">
            <a:avLst/>
          </a:prstGeom>
          <a:noFill/>
        </p:spPr>
        <p:txBody>
          <a:bodyPr wrap="square" anchor="ctr">
            <a:spAutoFit/>
          </a:bodyPr>
          <a:lstStyle/>
          <a:p>
            <a:pPr algn="l"/>
            <a:r>
              <a:rPr sz="1300" b="1">
                <a:solidFill>
                  <a:srgbClr val="1B2733"/>
                </a:solidFill>
                <a:latin typeface="Calibri"/>
              </a:rPr>
              <a:t>Disc front 8982488951</a:t>
            </a:r>
          </a:p>
        </p:txBody>
      </p:sp>
      <p:sp>
        <p:nvSpPr>
          <p:cNvPr id="26" name="TextBox 25"/>
          <p:cNvSpPr txBox="1"/>
          <p:nvPr/>
        </p:nvSpPr>
        <p:spPr>
          <a:xfrm>
            <a:off x="4370832" y="4718304"/>
            <a:ext cx="2359152" cy="402336"/>
          </a:xfrm>
          <a:prstGeom prst="rect">
            <a:avLst/>
          </a:prstGeom>
          <a:noFill/>
        </p:spPr>
        <p:txBody>
          <a:bodyPr wrap="square" anchor="ctr">
            <a:spAutoFit/>
          </a:bodyPr>
          <a:lstStyle/>
          <a:p>
            <a:pPr algn="r"/>
            <a:r>
              <a:rPr sz="1300" b="0">
                <a:solidFill>
                  <a:srgbClr val="344251"/>
                </a:solidFill>
                <a:latin typeface="Calibri"/>
              </a:rPr>
              <a:t>393</a:t>
            </a:r>
          </a:p>
        </p:txBody>
      </p:sp>
      <p:sp>
        <p:nvSpPr>
          <p:cNvPr id="27" name="TextBox 26"/>
          <p:cNvSpPr txBox="1"/>
          <p:nvPr/>
        </p:nvSpPr>
        <p:spPr>
          <a:xfrm>
            <a:off x="6876288" y="4718304"/>
            <a:ext cx="2359152" cy="402336"/>
          </a:xfrm>
          <a:prstGeom prst="rect">
            <a:avLst/>
          </a:prstGeom>
          <a:noFill/>
        </p:spPr>
        <p:txBody>
          <a:bodyPr wrap="square" anchor="ctr">
            <a:spAutoFit/>
          </a:bodyPr>
          <a:lstStyle/>
          <a:p>
            <a:pPr algn="r"/>
            <a:r>
              <a:rPr sz="1300" b="0">
                <a:solidFill>
                  <a:srgbClr val="344251"/>
                </a:solidFill>
                <a:latin typeface="Calibri"/>
              </a:rPr>
              <a:t>0</a:t>
            </a:r>
          </a:p>
        </p:txBody>
      </p:sp>
      <p:sp>
        <p:nvSpPr>
          <p:cNvPr id="28" name="TextBox 27"/>
          <p:cNvSpPr txBox="1"/>
          <p:nvPr/>
        </p:nvSpPr>
        <p:spPr>
          <a:xfrm>
            <a:off x="9381744" y="4718304"/>
            <a:ext cx="2359152" cy="402336"/>
          </a:xfrm>
          <a:prstGeom prst="rect">
            <a:avLst/>
          </a:prstGeom>
          <a:noFill/>
        </p:spPr>
        <p:txBody>
          <a:bodyPr wrap="square" anchor="ctr">
            <a:spAutoFit/>
          </a:bodyPr>
          <a:lstStyle/>
          <a:p>
            <a:pPr algn="r"/>
            <a:r>
              <a:rPr sz="1300" b="0">
                <a:solidFill>
                  <a:srgbClr val="344251"/>
                </a:solidFill>
                <a:latin typeface="Calibri"/>
              </a:rPr>
              <a:t>—</a:t>
            </a:r>
          </a:p>
        </p:txBody>
      </p:sp>
      <p:sp>
        <p:nvSpPr>
          <p:cNvPr id="29" name="TextBox 28"/>
          <p:cNvSpPr txBox="1"/>
          <p:nvPr/>
        </p:nvSpPr>
        <p:spPr>
          <a:xfrm>
            <a:off x="438912" y="5230368"/>
            <a:ext cx="11338560" cy="365760"/>
          </a:xfrm>
          <a:prstGeom prst="rect">
            <a:avLst/>
          </a:prstGeom>
          <a:noFill/>
        </p:spPr>
        <p:txBody>
          <a:bodyPr wrap="square" anchor="t">
            <a:spAutoFit/>
          </a:bodyPr>
          <a:lstStyle/>
          <a:p>
            <a:pPr algn="l"/>
            <a:r>
              <a:rPr sz="1300" b="0">
                <a:solidFill>
                  <a:srgbClr val="344251"/>
                </a:solidFill>
                <a:latin typeface="Calibri"/>
              </a:rPr>
              <a:t>The rotors fit N75 NPR and carry over to P700. They are not on the ITUK PMS list, and ISZE has never supplied them: 880 rotors a year to dealers, none from ISZE.</a:t>
            </a:r>
          </a:p>
        </p:txBody>
      </p:sp>
      <p:sp>
        <p:nvSpPr>
          <p:cNvPr id="30" name="TextBox 29"/>
          <p:cNvSpPr txBox="1"/>
          <p:nvPr/>
        </p:nvSpPr>
        <p:spPr>
          <a:xfrm>
            <a:off x="438912" y="5596128"/>
            <a:ext cx="11338560" cy="292608"/>
          </a:xfrm>
          <a:prstGeom prst="rect">
            <a:avLst/>
          </a:prstGeom>
          <a:noFill/>
        </p:spPr>
        <p:txBody>
          <a:bodyPr wrap="square" anchor="t">
            <a:spAutoFit/>
          </a:bodyPr>
          <a:lstStyle/>
          <a:p>
            <a:pPr algn="l"/>
            <a:r>
              <a:rPr sz="1300" b="1">
                <a:solidFill>
                  <a:srgbClr val="1B2733"/>
                </a:solidFill>
                <a:latin typeface="Calibri"/>
              </a:rPr>
              <a:t>Brake pad inspection every 20,000 km or 12 months, from the IMG N-series maintenance schedule (NPR75 / 4HK1). No schedule sets a pad replacement interval: brakes are condition-based. No BVP exists for the R90 pad; SPA on genuine only.</a:t>
            </a:r>
          </a:p>
        </p:txBody>
      </p:sp>
      <p:pic>
        <p:nvPicPr>
          <p:cNvPr id="31" name="Picture 30" descr="new_s10.png"/>
          <p:cNvPicPr>
            <a:picLocks noChangeAspect="1"/>
          </p:cNvPicPr>
          <p:nvPr/>
        </p:nvPicPr>
        <p:blipFill>
          <a:blip r:embed="rId5"/>
          <a:stretch>
            <a:fillRect/>
          </a:stretch>
        </p:blipFill>
        <p:spPr>
          <a:xfrm>
            <a:off x="438912" y="1700784"/>
            <a:ext cx="11356848" cy="175564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Clutch supplied as a kit, manual transmissions only</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11</a:t>
            </a:r>
          </a:p>
        </p:txBody>
      </p:sp>
      <p:sp>
        <p:nvSpPr>
          <p:cNvPr id="9" name="TextBox 8"/>
          <p:cNvSpPr txBox="1"/>
          <p:nvPr/>
        </p:nvSpPr>
        <p:spPr>
          <a:xfrm>
            <a:off x="438912" y="1042415"/>
            <a:ext cx="11338560" cy="365760"/>
          </a:xfrm>
          <a:prstGeom prst="rect">
            <a:avLst/>
          </a:prstGeom>
          <a:noFill/>
        </p:spPr>
        <p:txBody>
          <a:bodyPr wrap="square" anchor="t">
            <a:spAutoFit/>
          </a:bodyPr>
          <a:lstStyle/>
          <a:p>
            <a:pPr algn="l"/>
            <a:r>
              <a:rPr sz="1400" b="0">
                <a:solidFill>
                  <a:srgbClr val="344251"/>
                </a:solidFill>
                <a:latin typeface="Calibri"/>
              </a:rPr>
              <a:t>No broad campaign; VIN and manual transmission only. Applied on identified manual units until transmission data is available. Disc 8981649181 is not to be included.</a:t>
            </a:r>
          </a:p>
        </p:txBody>
      </p:sp>
      <p:sp>
        <p:nvSpPr>
          <p:cNvPr id="10" name="Rounded Rectangle 9"/>
          <p:cNvSpPr/>
          <p:nvPr/>
        </p:nvSpPr>
        <p:spPr>
          <a:xfrm>
            <a:off x="438912" y="1536192"/>
            <a:ext cx="5577840" cy="14173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 y="1536192"/>
            <a:ext cx="557784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5216" y="1700784"/>
            <a:ext cx="5285232" cy="292608"/>
          </a:xfrm>
          <a:prstGeom prst="rect">
            <a:avLst/>
          </a:prstGeom>
          <a:noFill/>
        </p:spPr>
        <p:txBody>
          <a:bodyPr wrap="square" anchor="t">
            <a:spAutoFit/>
          </a:bodyPr>
          <a:lstStyle/>
          <a:p>
            <a:pPr algn="l"/>
            <a:r>
              <a:rPr sz="1600" b="1">
                <a:solidFill>
                  <a:srgbClr val="1B2733"/>
                </a:solidFill>
                <a:latin typeface="Calibri"/>
              </a:rPr>
              <a:t>BVP kit  5876102320</a:t>
            </a:r>
          </a:p>
        </p:txBody>
      </p:sp>
      <p:sp>
        <p:nvSpPr>
          <p:cNvPr id="13" name="TextBox 12"/>
          <p:cNvSpPr txBox="1"/>
          <p:nvPr/>
        </p:nvSpPr>
        <p:spPr>
          <a:xfrm>
            <a:off x="585216" y="1993392"/>
            <a:ext cx="5285232" cy="256032"/>
          </a:xfrm>
          <a:prstGeom prst="rect">
            <a:avLst/>
          </a:prstGeom>
          <a:noFill/>
        </p:spPr>
        <p:txBody>
          <a:bodyPr wrap="square" anchor="t">
            <a:spAutoFit/>
          </a:bodyPr>
          <a:lstStyle/>
          <a:p>
            <a:pPr algn="l"/>
            <a:r>
              <a:rPr sz="1200" b="1">
                <a:solidFill>
                  <a:srgbClr val="ED1C24"/>
                </a:solidFill>
                <a:latin typeface="Calibri"/>
              </a:rPr>
              <a:t>Single part number</a:t>
            </a:r>
          </a:p>
        </p:txBody>
      </p:sp>
      <p:sp>
        <p:nvSpPr>
          <p:cNvPr id="14" name="TextBox 13"/>
          <p:cNvSpPr txBox="1"/>
          <p:nvPr/>
        </p:nvSpPr>
        <p:spPr>
          <a:xfrm>
            <a:off x="585216" y="2286000"/>
            <a:ext cx="5285232" cy="777240"/>
          </a:xfrm>
          <a:prstGeom prst="rect">
            <a:avLst/>
          </a:prstGeom>
          <a:noFill/>
        </p:spPr>
        <p:txBody>
          <a:bodyPr wrap="square" anchor="t">
            <a:spAutoFit/>
          </a:bodyPr>
          <a:lstStyle/>
          <a:p>
            <a:pPr algn="l"/>
            <a:r>
              <a:rPr sz="1200" b="0">
                <a:solidFill>
                  <a:srgbClr val="344251"/>
                </a:solidFill>
                <a:latin typeface="Calibri"/>
              </a:rPr>
              <a:t>ITUK to dealer 63 units. ISZE to ITUK 78 units at EUR 194.69.</a:t>
            </a:r>
          </a:p>
        </p:txBody>
      </p:sp>
      <p:sp>
        <p:nvSpPr>
          <p:cNvPr id="15" name="Rounded Rectangle 14"/>
          <p:cNvSpPr/>
          <p:nvPr/>
        </p:nvSpPr>
        <p:spPr>
          <a:xfrm>
            <a:off x="6217920" y="1536192"/>
            <a:ext cx="5577840" cy="14173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17920" y="1536192"/>
            <a:ext cx="557784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64224" y="1700784"/>
            <a:ext cx="5285232" cy="292608"/>
          </a:xfrm>
          <a:prstGeom prst="rect">
            <a:avLst/>
          </a:prstGeom>
          <a:noFill/>
        </p:spPr>
        <p:txBody>
          <a:bodyPr wrap="square" anchor="t">
            <a:spAutoFit/>
          </a:bodyPr>
          <a:lstStyle/>
          <a:p>
            <a:pPr algn="l"/>
            <a:r>
              <a:rPr sz="1600" b="1">
                <a:solidFill>
                  <a:srgbClr val="1B2733"/>
                </a:solidFill>
                <a:latin typeface="Calibri"/>
              </a:rPr>
              <a:t>Genuine three pieces</a:t>
            </a:r>
          </a:p>
        </p:txBody>
      </p:sp>
      <p:sp>
        <p:nvSpPr>
          <p:cNvPr id="18" name="TextBox 17"/>
          <p:cNvSpPr txBox="1"/>
          <p:nvPr/>
        </p:nvSpPr>
        <p:spPr>
          <a:xfrm>
            <a:off x="6364224" y="1993392"/>
            <a:ext cx="5285232" cy="256032"/>
          </a:xfrm>
          <a:prstGeom prst="rect">
            <a:avLst/>
          </a:prstGeom>
          <a:noFill/>
        </p:spPr>
        <p:txBody>
          <a:bodyPr wrap="square" anchor="t">
            <a:spAutoFit/>
          </a:bodyPr>
          <a:lstStyle/>
          <a:p>
            <a:pPr algn="l"/>
            <a:r>
              <a:rPr sz="1200" b="1">
                <a:solidFill>
                  <a:srgbClr val="ED1C24"/>
                </a:solidFill>
                <a:latin typeface="Calibri"/>
              </a:rPr>
              <a:t>If the workshop requires individual pieces</a:t>
            </a:r>
          </a:p>
        </p:txBody>
      </p:sp>
      <p:sp>
        <p:nvSpPr>
          <p:cNvPr id="19" name="TextBox 18"/>
          <p:cNvSpPr txBox="1"/>
          <p:nvPr/>
        </p:nvSpPr>
        <p:spPr>
          <a:xfrm>
            <a:off x="6364224" y="2286000"/>
            <a:ext cx="5285232" cy="777240"/>
          </a:xfrm>
          <a:prstGeom prst="rect">
            <a:avLst/>
          </a:prstGeom>
          <a:noFill/>
        </p:spPr>
        <p:txBody>
          <a:bodyPr wrap="square" anchor="t">
            <a:spAutoFit/>
          </a:bodyPr>
          <a:lstStyle/>
          <a:p>
            <a:pPr algn="l"/>
            <a:r>
              <a:rPr sz="1200" b="0">
                <a:solidFill>
                  <a:srgbClr val="344251"/>
                </a:solidFill>
                <a:latin typeface="Calibri"/>
              </a:rPr>
              <a:t>8981649171 + 8970388314 + 1313100120, ISZE to ITUK EUR 282.08. The kit is 31 percent lower.</a:t>
            </a:r>
          </a:p>
        </p:txBody>
      </p:sp>
      <p:sp>
        <p:nvSpPr>
          <p:cNvPr id="20" name="Rectangle 19"/>
          <p:cNvSpPr/>
          <p:nvPr/>
        </p:nvSpPr>
        <p:spPr>
          <a:xfrm>
            <a:off x="438912" y="3566160"/>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30352" y="3566160"/>
            <a:ext cx="2962656" cy="329184"/>
          </a:xfrm>
          <a:prstGeom prst="rect">
            <a:avLst/>
          </a:prstGeom>
          <a:noFill/>
        </p:spPr>
        <p:txBody>
          <a:bodyPr wrap="square" anchor="ctr">
            <a:spAutoFit/>
          </a:bodyPr>
          <a:lstStyle/>
          <a:p>
            <a:pPr algn="l"/>
            <a:r>
              <a:rPr sz="1100" b="1">
                <a:solidFill>
                  <a:srgbClr val="FFFFFF"/>
                </a:solidFill>
                <a:latin typeface="Calibri"/>
              </a:rPr>
              <a:t>Piece</a:t>
            </a:r>
          </a:p>
        </p:txBody>
      </p:sp>
      <p:sp>
        <p:nvSpPr>
          <p:cNvPr id="22" name="TextBox 21"/>
          <p:cNvSpPr txBox="1"/>
          <p:nvPr/>
        </p:nvSpPr>
        <p:spPr>
          <a:xfrm>
            <a:off x="3639312" y="3566160"/>
            <a:ext cx="2907792" cy="329184"/>
          </a:xfrm>
          <a:prstGeom prst="rect">
            <a:avLst/>
          </a:prstGeom>
          <a:noFill/>
        </p:spPr>
        <p:txBody>
          <a:bodyPr wrap="square" anchor="ctr">
            <a:spAutoFit/>
          </a:bodyPr>
          <a:lstStyle/>
          <a:p>
            <a:pPr algn="r"/>
            <a:r>
              <a:rPr sz="1100" b="1">
                <a:solidFill>
                  <a:srgbClr val="FFFFFF"/>
                </a:solidFill>
                <a:latin typeface="Calibri"/>
              </a:rPr>
              <a:t>PN</a:t>
            </a:r>
          </a:p>
        </p:txBody>
      </p:sp>
      <p:sp>
        <p:nvSpPr>
          <p:cNvPr id="23" name="TextBox 22"/>
          <p:cNvSpPr txBox="1"/>
          <p:nvPr/>
        </p:nvSpPr>
        <p:spPr>
          <a:xfrm>
            <a:off x="6693408" y="3566160"/>
            <a:ext cx="2450592" cy="329184"/>
          </a:xfrm>
          <a:prstGeom prst="rect">
            <a:avLst/>
          </a:prstGeom>
          <a:noFill/>
        </p:spPr>
        <p:txBody>
          <a:bodyPr wrap="square" anchor="ctr">
            <a:spAutoFit/>
          </a:bodyPr>
          <a:lstStyle/>
          <a:p>
            <a:pPr algn="r"/>
            <a:r>
              <a:rPr sz="1100" b="1">
                <a:solidFill>
                  <a:srgbClr val="FFFFFF"/>
                </a:solidFill>
                <a:latin typeface="Calibri"/>
              </a:rPr>
              <a:t>ITUK to dealer</a:t>
            </a:r>
          </a:p>
        </p:txBody>
      </p:sp>
      <p:sp>
        <p:nvSpPr>
          <p:cNvPr id="24" name="TextBox 23"/>
          <p:cNvSpPr txBox="1"/>
          <p:nvPr/>
        </p:nvSpPr>
        <p:spPr>
          <a:xfrm>
            <a:off x="9290304" y="3566160"/>
            <a:ext cx="2450592" cy="329184"/>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25" name="TextBox 24"/>
          <p:cNvSpPr txBox="1"/>
          <p:nvPr/>
        </p:nvSpPr>
        <p:spPr>
          <a:xfrm>
            <a:off x="530352" y="3895344"/>
            <a:ext cx="2962656" cy="420624"/>
          </a:xfrm>
          <a:prstGeom prst="rect">
            <a:avLst/>
          </a:prstGeom>
          <a:noFill/>
        </p:spPr>
        <p:txBody>
          <a:bodyPr wrap="square" anchor="ctr">
            <a:spAutoFit/>
          </a:bodyPr>
          <a:lstStyle/>
          <a:p>
            <a:pPr algn="l"/>
            <a:r>
              <a:rPr sz="1300" b="1">
                <a:solidFill>
                  <a:srgbClr val="1B2733"/>
                </a:solidFill>
                <a:latin typeface="Calibri"/>
              </a:rPr>
              <a:t>Disc</a:t>
            </a:r>
          </a:p>
        </p:txBody>
      </p:sp>
      <p:sp>
        <p:nvSpPr>
          <p:cNvPr id="26" name="TextBox 25"/>
          <p:cNvSpPr txBox="1"/>
          <p:nvPr/>
        </p:nvSpPr>
        <p:spPr>
          <a:xfrm>
            <a:off x="3639312" y="3895344"/>
            <a:ext cx="2907792" cy="420624"/>
          </a:xfrm>
          <a:prstGeom prst="rect">
            <a:avLst/>
          </a:prstGeom>
          <a:noFill/>
        </p:spPr>
        <p:txBody>
          <a:bodyPr wrap="square" anchor="ctr">
            <a:spAutoFit/>
          </a:bodyPr>
          <a:lstStyle/>
          <a:p>
            <a:pPr algn="r"/>
            <a:r>
              <a:rPr sz="1300" b="0">
                <a:solidFill>
                  <a:srgbClr val="344251"/>
                </a:solidFill>
                <a:latin typeface="Calibri"/>
              </a:rPr>
              <a:t>8981649171</a:t>
            </a:r>
          </a:p>
        </p:txBody>
      </p:sp>
      <p:sp>
        <p:nvSpPr>
          <p:cNvPr id="27" name="TextBox 26"/>
          <p:cNvSpPr txBox="1"/>
          <p:nvPr/>
        </p:nvSpPr>
        <p:spPr>
          <a:xfrm>
            <a:off x="6693408" y="3895344"/>
            <a:ext cx="2450592" cy="420624"/>
          </a:xfrm>
          <a:prstGeom prst="rect">
            <a:avLst/>
          </a:prstGeom>
          <a:noFill/>
        </p:spPr>
        <p:txBody>
          <a:bodyPr wrap="square" anchor="ctr">
            <a:spAutoFit/>
          </a:bodyPr>
          <a:lstStyle/>
          <a:p>
            <a:pPr algn="r"/>
            <a:r>
              <a:rPr sz="1300" b="0">
                <a:solidFill>
                  <a:srgbClr val="344251"/>
                </a:solidFill>
                <a:latin typeface="Calibri"/>
              </a:rPr>
              <a:t>50</a:t>
            </a:r>
          </a:p>
        </p:txBody>
      </p:sp>
      <p:sp>
        <p:nvSpPr>
          <p:cNvPr id="28" name="TextBox 27"/>
          <p:cNvSpPr txBox="1"/>
          <p:nvPr/>
        </p:nvSpPr>
        <p:spPr>
          <a:xfrm>
            <a:off x="9290304" y="3895344"/>
            <a:ext cx="2450592" cy="420624"/>
          </a:xfrm>
          <a:prstGeom prst="rect">
            <a:avLst/>
          </a:prstGeom>
          <a:noFill/>
        </p:spPr>
        <p:txBody>
          <a:bodyPr wrap="square" anchor="ctr">
            <a:spAutoFit/>
          </a:bodyPr>
          <a:lstStyle/>
          <a:p>
            <a:pPr algn="r"/>
            <a:r>
              <a:rPr sz="1300" b="0">
                <a:solidFill>
                  <a:srgbClr val="344251"/>
                </a:solidFill>
                <a:latin typeface="Calibri"/>
              </a:rPr>
              <a:t>47</a:t>
            </a:r>
          </a:p>
        </p:txBody>
      </p:sp>
      <p:sp>
        <p:nvSpPr>
          <p:cNvPr id="29" name="Rectangle 28"/>
          <p:cNvSpPr/>
          <p:nvPr/>
        </p:nvSpPr>
        <p:spPr>
          <a:xfrm>
            <a:off x="438912" y="4315968"/>
            <a:ext cx="11356848" cy="420624"/>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30352" y="4315968"/>
            <a:ext cx="2962656" cy="420624"/>
          </a:xfrm>
          <a:prstGeom prst="rect">
            <a:avLst/>
          </a:prstGeom>
          <a:noFill/>
        </p:spPr>
        <p:txBody>
          <a:bodyPr wrap="square" anchor="ctr">
            <a:spAutoFit/>
          </a:bodyPr>
          <a:lstStyle/>
          <a:p>
            <a:pPr algn="l"/>
            <a:r>
              <a:rPr sz="1300" b="1">
                <a:solidFill>
                  <a:srgbClr val="1B2733"/>
                </a:solidFill>
                <a:latin typeface="Calibri"/>
              </a:rPr>
              <a:t>Pressure plate</a:t>
            </a:r>
          </a:p>
        </p:txBody>
      </p:sp>
      <p:sp>
        <p:nvSpPr>
          <p:cNvPr id="31" name="TextBox 30"/>
          <p:cNvSpPr txBox="1"/>
          <p:nvPr/>
        </p:nvSpPr>
        <p:spPr>
          <a:xfrm>
            <a:off x="3639312" y="4315968"/>
            <a:ext cx="2907792" cy="420624"/>
          </a:xfrm>
          <a:prstGeom prst="rect">
            <a:avLst/>
          </a:prstGeom>
          <a:noFill/>
        </p:spPr>
        <p:txBody>
          <a:bodyPr wrap="square" anchor="ctr">
            <a:spAutoFit/>
          </a:bodyPr>
          <a:lstStyle/>
          <a:p>
            <a:pPr algn="r"/>
            <a:r>
              <a:rPr sz="1300" b="0">
                <a:solidFill>
                  <a:srgbClr val="344251"/>
                </a:solidFill>
                <a:latin typeface="Calibri"/>
              </a:rPr>
              <a:t>8970388314</a:t>
            </a:r>
          </a:p>
        </p:txBody>
      </p:sp>
      <p:sp>
        <p:nvSpPr>
          <p:cNvPr id="32" name="TextBox 31"/>
          <p:cNvSpPr txBox="1"/>
          <p:nvPr/>
        </p:nvSpPr>
        <p:spPr>
          <a:xfrm>
            <a:off x="6693408" y="4315968"/>
            <a:ext cx="2450592" cy="420624"/>
          </a:xfrm>
          <a:prstGeom prst="rect">
            <a:avLst/>
          </a:prstGeom>
          <a:noFill/>
        </p:spPr>
        <p:txBody>
          <a:bodyPr wrap="square" anchor="ctr">
            <a:spAutoFit/>
          </a:bodyPr>
          <a:lstStyle/>
          <a:p>
            <a:pPr algn="r"/>
            <a:r>
              <a:rPr sz="1300" b="0">
                <a:solidFill>
                  <a:srgbClr val="344251"/>
                </a:solidFill>
                <a:latin typeface="Calibri"/>
              </a:rPr>
              <a:t>9</a:t>
            </a:r>
          </a:p>
        </p:txBody>
      </p:sp>
      <p:sp>
        <p:nvSpPr>
          <p:cNvPr id="33" name="TextBox 32"/>
          <p:cNvSpPr txBox="1"/>
          <p:nvPr/>
        </p:nvSpPr>
        <p:spPr>
          <a:xfrm>
            <a:off x="9290304" y="4315968"/>
            <a:ext cx="2450592" cy="420624"/>
          </a:xfrm>
          <a:prstGeom prst="rect">
            <a:avLst/>
          </a:prstGeom>
          <a:noFill/>
        </p:spPr>
        <p:txBody>
          <a:bodyPr wrap="square" anchor="ctr">
            <a:spAutoFit/>
          </a:bodyPr>
          <a:lstStyle/>
          <a:p>
            <a:pPr algn="r"/>
            <a:r>
              <a:rPr sz="1300" b="0">
                <a:solidFill>
                  <a:srgbClr val="344251"/>
                </a:solidFill>
                <a:latin typeface="Calibri"/>
              </a:rPr>
              <a:t>54</a:t>
            </a:r>
          </a:p>
        </p:txBody>
      </p:sp>
      <p:sp>
        <p:nvSpPr>
          <p:cNvPr id="34" name="TextBox 33"/>
          <p:cNvSpPr txBox="1"/>
          <p:nvPr/>
        </p:nvSpPr>
        <p:spPr>
          <a:xfrm>
            <a:off x="530352" y="4736592"/>
            <a:ext cx="2962656" cy="420624"/>
          </a:xfrm>
          <a:prstGeom prst="rect">
            <a:avLst/>
          </a:prstGeom>
          <a:noFill/>
        </p:spPr>
        <p:txBody>
          <a:bodyPr wrap="square" anchor="ctr">
            <a:spAutoFit/>
          </a:bodyPr>
          <a:lstStyle/>
          <a:p>
            <a:pPr algn="l"/>
            <a:r>
              <a:rPr sz="1300" b="1">
                <a:solidFill>
                  <a:srgbClr val="1B2733"/>
                </a:solidFill>
                <a:latin typeface="Calibri"/>
              </a:rPr>
              <a:t>Release bearing</a:t>
            </a:r>
          </a:p>
        </p:txBody>
      </p:sp>
      <p:sp>
        <p:nvSpPr>
          <p:cNvPr id="35" name="TextBox 34"/>
          <p:cNvSpPr txBox="1"/>
          <p:nvPr/>
        </p:nvSpPr>
        <p:spPr>
          <a:xfrm>
            <a:off x="3639312" y="4736592"/>
            <a:ext cx="2907792" cy="420624"/>
          </a:xfrm>
          <a:prstGeom prst="rect">
            <a:avLst/>
          </a:prstGeom>
          <a:noFill/>
        </p:spPr>
        <p:txBody>
          <a:bodyPr wrap="square" anchor="ctr">
            <a:spAutoFit/>
          </a:bodyPr>
          <a:lstStyle/>
          <a:p>
            <a:pPr algn="r"/>
            <a:r>
              <a:rPr sz="1300" b="0">
                <a:solidFill>
                  <a:srgbClr val="344251"/>
                </a:solidFill>
                <a:latin typeface="Calibri"/>
              </a:rPr>
              <a:t>1313100120</a:t>
            </a:r>
          </a:p>
        </p:txBody>
      </p:sp>
      <p:sp>
        <p:nvSpPr>
          <p:cNvPr id="36" name="TextBox 35"/>
          <p:cNvSpPr txBox="1"/>
          <p:nvPr/>
        </p:nvSpPr>
        <p:spPr>
          <a:xfrm>
            <a:off x="6693408" y="4736592"/>
            <a:ext cx="2450592" cy="420624"/>
          </a:xfrm>
          <a:prstGeom prst="rect">
            <a:avLst/>
          </a:prstGeom>
          <a:noFill/>
        </p:spPr>
        <p:txBody>
          <a:bodyPr wrap="square" anchor="ctr">
            <a:spAutoFit/>
          </a:bodyPr>
          <a:lstStyle/>
          <a:p>
            <a:pPr algn="r"/>
            <a:r>
              <a:rPr sz="1300" b="0">
                <a:solidFill>
                  <a:srgbClr val="344251"/>
                </a:solidFill>
                <a:latin typeface="Calibri"/>
              </a:rPr>
              <a:t>38</a:t>
            </a:r>
          </a:p>
        </p:txBody>
      </p:sp>
      <p:sp>
        <p:nvSpPr>
          <p:cNvPr id="37" name="TextBox 36"/>
          <p:cNvSpPr txBox="1"/>
          <p:nvPr/>
        </p:nvSpPr>
        <p:spPr>
          <a:xfrm>
            <a:off x="9290304" y="4736592"/>
            <a:ext cx="2450592" cy="420624"/>
          </a:xfrm>
          <a:prstGeom prst="rect">
            <a:avLst/>
          </a:prstGeom>
          <a:noFill/>
        </p:spPr>
        <p:txBody>
          <a:bodyPr wrap="square" anchor="ctr">
            <a:spAutoFit/>
          </a:bodyPr>
          <a:lstStyle/>
          <a:p>
            <a:pPr algn="r"/>
            <a:r>
              <a:rPr sz="1300" b="0">
                <a:solidFill>
                  <a:srgbClr val="344251"/>
                </a:solidFill>
                <a:latin typeface="Calibri"/>
              </a:rPr>
              <a:t>21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cover_bleed.jp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54864"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680960" y="6364224"/>
            <a:ext cx="4507992" cy="402336"/>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827264" y="6364224"/>
            <a:ext cx="4114800" cy="402336"/>
          </a:xfrm>
          <a:prstGeom prst="rect">
            <a:avLst/>
          </a:prstGeom>
          <a:noFill/>
        </p:spPr>
        <p:txBody>
          <a:bodyPr wrap="square" anchor="ctr">
            <a:spAutoFit/>
          </a:bodyPr>
          <a:lstStyle/>
          <a:p>
            <a:pPr algn="l"/>
            <a:r>
              <a:rPr sz="1300" b="1">
                <a:solidFill>
                  <a:srgbClr val="FFFFFF"/>
                </a:solidFill>
                <a:latin typeface="Calibri"/>
              </a:rPr>
              <a:t>P700</a:t>
            </a:r>
          </a:p>
        </p:txBody>
      </p:sp>
      <p:sp>
        <p:nvSpPr>
          <p:cNvPr id="6" name="Rectangle 5"/>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2148840"/>
            <a:ext cx="6858000" cy="640080"/>
          </a:xfrm>
          <a:prstGeom prst="rect">
            <a:avLst/>
          </a:prstGeom>
          <a:noFill/>
        </p:spPr>
        <p:txBody>
          <a:bodyPr wrap="square" anchor="t">
            <a:spAutoFit/>
          </a:bodyPr>
          <a:lstStyle/>
          <a:p>
            <a:pPr algn="l"/>
            <a:r>
              <a:rPr sz="3200" b="1">
                <a:solidFill>
                  <a:srgbClr val="1B2733"/>
                </a:solidFill>
                <a:latin typeface="Calibri"/>
              </a:rPr>
              <a:t>Thank you</a:t>
            </a:r>
          </a:p>
        </p:txBody>
      </p:sp>
      <p:sp>
        <p:nvSpPr>
          <p:cNvPr id="8" name="TextBox 7"/>
          <p:cNvSpPr txBox="1"/>
          <p:nvPr/>
        </p:nvSpPr>
        <p:spPr>
          <a:xfrm>
            <a:off x="502920" y="2926080"/>
            <a:ext cx="6766560" cy="914400"/>
          </a:xfrm>
          <a:prstGeom prst="rect">
            <a:avLst/>
          </a:prstGeom>
          <a:noFill/>
        </p:spPr>
        <p:txBody>
          <a:bodyPr wrap="square" anchor="t">
            <a:spAutoFit/>
          </a:bodyPr>
          <a:lstStyle/>
          <a:p>
            <a:pPr algn="l"/>
            <a:r>
              <a:rPr sz="1600" b="0">
                <a:solidFill>
                  <a:srgbClr val="344251"/>
                </a:solidFill>
                <a:latin typeface="Calibri"/>
              </a:rPr>
              <a:t>Questions and next steps</a:t>
            </a:r>
          </a:p>
        </p:txBody>
      </p:sp>
      <p:pic>
        <p:nvPicPr>
          <p:cNvPr id="9" name="Picture 8" descr="isuzu_logo_red.png"/>
          <p:cNvPicPr>
            <a:picLocks noChangeAspect="1"/>
          </p:cNvPicPr>
          <p:nvPr/>
        </p:nvPicPr>
        <p:blipFill>
          <a:blip r:embed="rId3"/>
          <a:stretch>
            <a:fillRect/>
          </a:stretch>
        </p:blipFill>
        <p:spPr>
          <a:xfrm>
            <a:off x="502920" y="5925312"/>
            <a:ext cx="1679787" cy="292608"/>
          </a:xfrm>
          <a:prstGeom prst="rect">
            <a:avLst/>
          </a:prstGeom>
        </p:spPr>
      </p:pic>
      <p:sp>
        <p:nvSpPr>
          <p:cNvPr id="10" name="Rectangle 9"/>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164</TotalTime>
  <Words>1677</Words>
  <Application>Microsoft Office PowerPoint</Application>
  <PresentationFormat>Custom</PresentationFormat>
  <Paragraphs>327</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jerom</dc:creator>
  <cp:keywords/>
  <dc:description>generated using python-pptx</dc:description>
  <cp:lastModifiedBy>Jerome Van Der Pluym</cp:lastModifiedBy>
  <cp:revision>2</cp:revision>
  <dcterms:created xsi:type="dcterms:W3CDTF">2013-01-27T09:14:16Z</dcterms:created>
  <dcterms:modified xsi:type="dcterms:W3CDTF">2026-08-17T17:52:57Z</dcterms:modified>
  <cp:category/>
</cp:coreProperties>
</file>