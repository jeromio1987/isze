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heme/theme2.xml" ContentType="application/vnd.openxmlformats-officedocument.them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heme/theme3.xml" ContentType="application/vnd.openxmlformats-officedocument.theme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20" r:id="rId5"/>
    <p:sldId id="421" r:id="rId6"/>
    <p:sldId id="2147483643" r:id="rId7"/>
    <p:sldId id="2147469618" r:id="rId8"/>
    <p:sldId id="512" r:id="rId9"/>
    <p:sldId id="356" r:id="rId10"/>
    <p:sldId id="504" r:id="rId11"/>
    <p:sldId id="505" r:id="rId12"/>
    <p:sldId id="506" r:id="rId13"/>
    <p:sldId id="507" r:id="rId14"/>
    <p:sldId id="508" r:id="rId15"/>
    <p:sldId id="509" r:id="rId16"/>
    <p:sldId id="510" r:id="rId17"/>
  </p:sldIdLst>
  <p:sldSz cx="12192000" cy="6858000"/>
  <p:notesSz cx="6858000" cy="9144000"/>
  <p:custDataLst>
    <p:tags r:id="rId20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818E9C"/>
    <a:srgbClr val="A3C460"/>
    <a:srgbClr val="B6CF81"/>
    <a:srgbClr val="84B8D3"/>
    <a:srgbClr val="5BA8C8"/>
    <a:srgbClr val="EDA370"/>
    <a:srgbClr val="E78B4F"/>
    <a:srgbClr val="E68344"/>
    <a:srgbClr val="84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660"/>
  </p:normalViewPr>
  <p:slideViewPr>
    <p:cSldViewPr snapToGrid="0">
      <p:cViewPr varScale="1">
        <p:scale>
          <a:sx n="39" d="100"/>
          <a:sy n="39" d="100"/>
        </p:scale>
        <p:origin x="4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515260\Desktop\&#12304;PMS&#20998;&#26512;&#12305;%20&#12465;&#12491;&#12450;&#65288;IEA&#6528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B6D55D"/>
            </a:solidFill>
          </c:spPr>
          <c:explosion val="3"/>
          <c:dPt>
            <c:idx val="0"/>
            <c:bubble3D val="0"/>
            <c:spPr>
              <a:solidFill>
                <a:srgbClr val="B6D55D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123-43A3-AD69-8E052E59A7F3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123-43A3-AD69-8E052E59A7F3}"/>
              </c:ext>
            </c:extLst>
          </c:dPt>
          <c:dLbls>
            <c:delete val="1"/>
          </c:dLbls>
          <c:cat>
            <c:strRef>
              <c:f>Summary!$CI$100:$CI$101</c:f>
              <c:strCache>
                <c:ptCount val="2"/>
                <c:pt idx="0">
                  <c:v>Actual</c:v>
                </c:pt>
                <c:pt idx="1">
                  <c:v>Lost</c:v>
                </c:pt>
              </c:strCache>
            </c:strRef>
          </c:cat>
          <c:val>
            <c:numRef>
              <c:f>Summary!$CJ$100:$CJ$101</c:f>
              <c:numCache>
                <c:formatCode>#,##0_);[Red]\(#,##0\)</c:formatCode>
                <c:ptCount val="2"/>
                <c:pt idx="0">
                  <c:v>21022</c:v>
                </c:pt>
                <c:pt idx="1">
                  <c:v>115130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23-43A3-AD69-8E052E59A7F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D60537-533C-4957-AFEC-D762358833C3}" type="doc">
      <dgm:prSet loTypeId="urn:microsoft.com/office/officeart/2005/8/layout/funnel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9CDF53B2-166E-4C9F-9763-921C8B88F26D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PMS Sales</a:t>
          </a:r>
          <a:endParaRPr kumimoji="1" lang="ja-JP" altLang="en-US" dirty="0">
            <a:latin typeface="+mj-lt"/>
          </a:endParaRPr>
        </a:p>
      </dgm:t>
    </dgm:pt>
    <dgm:pt modelId="{F03DAEC2-B744-4E14-8B00-B52FE5879860}" type="par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0858A0A6-11D2-4335-A191-0909F971008F}" type="sib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5D604BC-1852-41FA-A275-1F279CB39B99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Market Info</a:t>
          </a:r>
          <a:endParaRPr kumimoji="1" lang="ja-JP" altLang="en-US" dirty="0">
            <a:latin typeface="+mj-lt"/>
          </a:endParaRPr>
        </a:p>
      </dgm:t>
    </dgm:pt>
    <dgm:pt modelId="{7A7C8AC2-6DEE-4C3F-8312-AA266F27E9DA}" type="par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54F01E57-9390-4CD2-B9F6-D511B71A34FD}" type="sib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7C0C23D3-1A18-4423-9605-38941FDFA7FD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Vehicle UIO</a:t>
          </a:r>
          <a:endParaRPr kumimoji="1" lang="ja-JP" altLang="en-US" dirty="0">
            <a:latin typeface="+mj-lt"/>
          </a:endParaRPr>
        </a:p>
      </dgm:t>
    </dgm:pt>
    <dgm:pt modelId="{864851FF-B7FF-44FF-9973-3E7F198D93A9}" type="par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0E94C94-317A-4431-8C94-C5A79C59D6DD}" type="sib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B0C3E1AB-CBA2-46F5-B1F3-92864D7C029C}">
      <dgm:prSet phldrT="[テキスト]" phldr="1"/>
      <dgm:spPr/>
      <dgm:t>
        <a:bodyPr/>
        <a:lstStyle/>
        <a:p>
          <a:endParaRPr kumimoji="1" lang="ja-JP" altLang="en-US" dirty="0">
            <a:latin typeface="+mj-lt"/>
          </a:endParaRPr>
        </a:p>
      </dgm:t>
    </dgm:pt>
    <dgm:pt modelId="{DE1148B1-02C4-4FFB-B982-BF8EAE1683C6}" type="sib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FCCBB38C-7786-4AAE-9A26-F76819902A98}" type="par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851EB2F1-EF0A-48F6-9E88-ADD223E56851}">
      <dgm:prSet phldrT="[テキスト]" custT="1"/>
      <dgm:spPr/>
      <dgm:t>
        <a:bodyPr/>
        <a:lstStyle/>
        <a:p>
          <a:r>
            <a:rPr kumimoji="1" lang="en-US" altLang="ja-JP" sz="2000" b="1" u="sng" dirty="0">
              <a:solidFill>
                <a:schemeClr val="bg1"/>
              </a:solidFill>
              <a:latin typeface="+mj-lt"/>
            </a:rPr>
            <a:t>PMS Cover Ratio and Sales Trend Analysis</a:t>
          </a:r>
          <a:endParaRPr kumimoji="1" lang="ja-JP" altLang="en-US" sz="2000" b="1" u="sng" dirty="0">
            <a:solidFill>
              <a:schemeClr val="bg1"/>
            </a:solidFill>
            <a:latin typeface="+mj-lt"/>
          </a:endParaRPr>
        </a:p>
      </dgm:t>
    </dgm:pt>
    <dgm:pt modelId="{4B0F4DCF-849B-454F-971F-215582B2DC81}" type="sib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E430270F-7BF3-424C-98F8-2D7E629C5C74}" type="par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18232524-476E-49D5-ABE5-5EED248FBF13}" type="pres">
      <dgm:prSet presAssocID="{56D60537-533C-4957-AFEC-D762358833C3}" presName="Name0" presStyleCnt="0">
        <dgm:presLayoutVars>
          <dgm:chMax val="4"/>
          <dgm:resizeHandles val="exact"/>
        </dgm:presLayoutVars>
      </dgm:prSet>
      <dgm:spPr/>
    </dgm:pt>
    <dgm:pt modelId="{E24A8DB3-9BB2-486E-80D4-53EAB4FBADB0}" type="pres">
      <dgm:prSet presAssocID="{56D60537-533C-4957-AFEC-D762358833C3}" presName="ellipse" presStyleLbl="trBgShp" presStyleIdx="0" presStyleCnt="1" custAng="16200000" custLinFactNeighborX="-42250" custLinFactNeighborY="87626"/>
      <dgm:spPr/>
    </dgm:pt>
    <dgm:pt modelId="{DFE953CB-B3FC-4B66-BF77-61015547CB19}" type="pres">
      <dgm:prSet presAssocID="{56D60537-533C-4957-AFEC-D762358833C3}" presName="arrow1" presStyleLbl="fgShp" presStyleIdx="0" presStyleCnt="1" custAng="16200000" custScaleX="158438" custScaleY="186439" custLinFactX="23979" custLinFactY="-164921" custLinFactNeighborX="100000" custLinFactNeighborY="-200000"/>
      <dgm:spPr>
        <a:solidFill>
          <a:srgbClr val="FFFFFF"/>
        </a:solidFill>
      </dgm:spPr>
    </dgm:pt>
    <dgm:pt modelId="{D6AF285A-3571-4374-A8DF-BE72830680B6}" type="pres">
      <dgm:prSet presAssocID="{56D60537-533C-4957-AFEC-D762358833C3}" presName="rectangle" presStyleLbl="revTx" presStyleIdx="0" presStyleCnt="1" custAng="10800000" custFlipVert="1" custScaleX="169919" custScaleY="79572" custLinFactNeighborX="-6213" custLinFactNeighborY="8440">
        <dgm:presLayoutVars>
          <dgm:bulletEnabled val="1"/>
        </dgm:presLayoutVars>
      </dgm:prSet>
      <dgm:spPr/>
    </dgm:pt>
    <dgm:pt modelId="{156A96D6-76F4-4215-81B3-6BFCCF384564}" type="pres">
      <dgm:prSet presAssocID="{7C0C23D3-1A18-4423-9605-38941FDFA7FD}" presName="item1" presStyleLbl="node1" presStyleIdx="0" presStyleCnt="3" custLinFactX="-15215" custLinFactNeighborX="-100000" custLinFactNeighborY="45493">
        <dgm:presLayoutVars>
          <dgm:bulletEnabled val="1"/>
        </dgm:presLayoutVars>
      </dgm:prSet>
      <dgm:spPr/>
    </dgm:pt>
    <dgm:pt modelId="{81D8A529-3C14-46A6-8641-CF05F5D0A4CD}" type="pres">
      <dgm:prSet presAssocID="{C5D604BC-1852-41FA-A275-1F279CB39B99}" presName="item2" presStyleLbl="node1" presStyleIdx="1" presStyleCnt="3" custLinFactNeighborX="-43660" custLinFactNeighborY="-28584">
        <dgm:presLayoutVars>
          <dgm:bulletEnabled val="1"/>
        </dgm:presLayoutVars>
      </dgm:prSet>
      <dgm:spPr/>
    </dgm:pt>
    <dgm:pt modelId="{34E07E67-EE8E-45B8-AB08-488D70EBBFB4}" type="pres">
      <dgm:prSet presAssocID="{851EB2F1-EF0A-48F6-9E88-ADD223E56851}" presName="item3" presStyleLbl="node1" presStyleIdx="2" presStyleCnt="3" custLinFactNeighborX="-85138" custLinFactNeighborY="67382">
        <dgm:presLayoutVars>
          <dgm:bulletEnabled val="1"/>
        </dgm:presLayoutVars>
      </dgm:prSet>
      <dgm:spPr/>
    </dgm:pt>
    <dgm:pt modelId="{204BB5E4-0178-4943-8177-E6021D658FC5}" type="pres">
      <dgm:prSet presAssocID="{56D60537-533C-4957-AFEC-D762358833C3}" presName="funnel" presStyleLbl="trAlignAcc1" presStyleIdx="0" presStyleCnt="1" custAng="16200000" custLinFactNeighborX="-18623" custLinFactNeighborY="9488"/>
      <dgm:spPr/>
    </dgm:pt>
  </dgm:ptLst>
  <dgm:cxnLst>
    <dgm:cxn modelId="{45B39E18-36C8-4F97-8DB4-DFE2314E1E3E}" srcId="{56D60537-533C-4957-AFEC-D762358833C3}" destId="{C5D604BC-1852-41FA-A275-1F279CB39B99}" srcOrd="2" destOrd="0" parTransId="{7A7C8AC2-6DEE-4C3F-8312-AA266F27E9DA}" sibTransId="{54F01E57-9390-4CD2-B9F6-D511B71A34FD}"/>
    <dgm:cxn modelId="{6D9EA823-D073-4AB8-850C-D1260DFF7850}" srcId="{56D60537-533C-4957-AFEC-D762358833C3}" destId="{B0C3E1AB-CBA2-46F5-B1F3-92864D7C029C}" srcOrd="4" destOrd="0" parTransId="{FCCBB38C-7786-4AAE-9A26-F76819902A98}" sibTransId="{DE1148B1-02C4-4FFB-B982-BF8EAE1683C6}"/>
    <dgm:cxn modelId="{82A6F925-8B98-42E8-92E4-BE071E1CC227}" type="presOf" srcId="{9CDF53B2-166E-4C9F-9763-921C8B88F26D}" destId="{34E07E67-EE8E-45B8-AB08-488D70EBBFB4}" srcOrd="0" destOrd="0" presId="urn:microsoft.com/office/officeart/2005/8/layout/funnel1"/>
    <dgm:cxn modelId="{F0E6092D-59CA-43FF-8706-EA0EFAE1E7C3}" srcId="{56D60537-533C-4957-AFEC-D762358833C3}" destId="{7C0C23D3-1A18-4423-9605-38941FDFA7FD}" srcOrd="1" destOrd="0" parTransId="{864851FF-B7FF-44FF-9973-3E7F198D93A9}" sibTransId="{C0E94C94-317A-4431-8C94-C5A79C59D6DD}"/>
    <dgm:cxn modelId="{9EE94B38-36CA-4CB8-BCC7-7A5F6AB28D1D}" type="presOf" srcId="{56D60537-533C-4957-AFEC-D762358833C3}" destId="{18232524-476E-49D5-ABE5-5EED248FBF13}" srcOrd="0" destOrd="0" presId="urn:microsoft.com/office/officeart/2005/8/layout/funnel1"/>
    <dgm:cxn modelId="{5FAC273C-9FB4-42BD-8FB2-204719E1B107}" type="presOf" srcId="{C5D604BC-1852-41FA-A275-1F279CB39B99}" destId="{156A96D6-76F4-4215-81B3-6BFCCF384564}" srcOrd="0" destOrd="0" presId="urn:microsoft.com/office/officeart/2005/8/layout/funnel1"/>
    <dgm:cxn modelId="{34FF1B40-96F2-43FF-ABB8-6AC910FFA2C7}" srcId="{56D60537-533C-4957-AFEC-D762358833C3}" destId="{851EB2F1-EF0A-48F6-9E88-ADD223E56851}" srcOrd="3" destOrd="0" parTransId="{E430270F-7BF3-424C-98F8-2D7E629C5C74}" sibTransId="{4B0F4DCF-849B-454F-971F-215582B2DC81}"/>
    <dgm:cxn modelId="{352DCD42-2502-4528-9663-E9CD4EBFF447}" type="presOf" srcId="{851EB2F1-EF0A-48F6-9E88-ADD223E56851}" destId="{D6AF285A-3571-4374-A8DF-BE72830680B6}" srcOrd="0" destOrd="0" presId="urn:microsoft.com/office/officeart/2005/8/layout/funnel1"/>
    <dgm:cxn modelId="{BCA5595A-0B29-4199-8679-A3DFC585F34E}" srcId="{56D60537-533C-4957-AFEC-D762358833C3}" destId="{9CDF53B2-166E-4C9F-9763-921C8B88F26D}" srcOrd="0" destOrd="0" parTransId="{F03DAEC2-B744-4E14-8B00-B52FE5879860}" sibTransId="{0858A0A6-11D2-4335-A191-0909F971008F}"/>
    <dgm:cxn modelId="{198A6FD1-E56D-4CCC-8FEE-7CBE029997F3}" type="presOf" srcId="{7C0C23D3-1A18-4423-9605-38941FDFA7FD}" destId="{81D8A529-3C14-46A6-8641-CF05F5D0A4CD}" srcOrd="0" destOrd="0" presId="urn:microsoft.com/office/officeart/2005/8/layout/funnel1"/>
    <dgm:cxn modelId="{89E93599-380B-4B4E-8D3A-38A8BEECDA26}" type="presParOf" srcId="{18232524-476E-49D5-ABE5-5EED248FBF13}" destId="{E24A8DB3-9BB2-486E-80D4-53EAB4FBADB0}" srcOrd="0" destOrd="0" presId="urn:microsoft.com/office/officeart/2005/8/layout/funnel1"/>
    <dgm:cxn modelId="{67F0F15B-48A8-4CA2-AC9C-DF3CE67967E6}" type="presParOf" srcId="{18232524-476E-49D5-ABE5-5EED248FBF13}" destId="{DFE953CB-B3FC-4B66-BF77-61015547CB19}" srcOrd="1" destOrd="0" presId="urn:microsoft.com/office/officeart/2005/8/layout/funnel1"/>
    <dgm:cxn modelId="{9A15BF13-56B8-42ED-8C7C-15865604088A}" type="presParOf" srcId="{18232524-476E-49D5-ABE5-5EED248FBF13}" destId="{D6AF285A-3571-4374-A8DF-BE72830680B6}" srcOrd="2" destOrd="0" presId="urn:microsoft.com/office/officeart/2005/8/layout/funnel1"/>
    <dgm:cxn modelId="{B80F5528-D444-4E38-87DC-326FC1213F10}" type="presParOf" srcId="{18232524-476E-49D5-ABE5-5EED248FBF13}" destId="{156A96D6-76F4-4215-81B3-6BFCCF384564}" srcOrd="3" destOrd="0" presId="urn:microsoft.com/office/officeart/2005/8/layout/funnel1"/>
    <dgm:cxn modelId="{A5EA9C26-6D50-46AE-893B-2FF47DD8FB5D}" type="presParOf" srcId="{18232524-476E-49D5-ABE5-5EED248FBF13}" destId="{81D8A529-3C14-46A6-8641-CF05F5D0A4CD}" srcOrd="4" destOrd="0" presId="urn:microsoft.com/office/officeart/2005/8/layout/funnel1"/>
    <dgm:cxn modelId="{03AF95D7-54A1-4639-8E36-A5C7137BD026}" type="presParOf" srcId="{18232524-476E-49D5-ABE5-5EED248FBF13}" destId="{34E07E67-EE8E-45B8-AB08-488D70EBBFB4}" srcOrd="5" destOrd="0" presId="urn:microsoft.com/office/officeart/2005/8/layout/funnel1"/>
    <dgm:cxn modelId="{2C6E91D3-1952-45DD-9BDD-288F7AE5AED7}" type="presParOf" srcId="{18232524-476E-49D5-ABE5-5EED248FBF13}" destId="{204BB5E4-0178-4943-8177-E6021D658FC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D60537-533C-4957-AFEC-D762358833C3}" type="doc">
      <dgm:prSet loTypeId="urn:microsoft.com/office/officeart/2005/8/layout/funnel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9CDF53B2-166E-4C9F-9763-921C8B88F26D}">
      <dgm:prSet phldrT="[テキスト]"/>
      <dgm:spPr>
        <a:solidFill>
          <a:srgbClr val="E5814A"/>
        </a:solidFill>
      </dgm:spPr>
      <dgm:t>
        <a:bodyPr/>
        <a:lstStyle/>
        <a:p>
          <a:r>
            <a:rPr kumimoji="1" lang="en-US" altLang="ja-JP" dirty="0">
              <a:latin typeface="+mj-lt"/>
            </a:rPr>
            <a:t>Incentive Program</a:t>
          </a:r>
          <a:endParaRPr kumimoji="1" lang="ja-JP" altLang="en-US" dirty="0">
            <a:latin typeface="+mj-lt"/>
          </a:endParaRPr>
        </a:p>
      </dgm:t>
    </dgm:pt>
    <dgm:pt modelId="{F03DAEC2-B744-4E14-8B00-B52FE5879860}" type="par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0858A0A6-11D2-4335-A191-0909F971008F}" type="sib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5D604BC-1852-41FA-A275-1F279CB39B99}">
      <dgm:prSet phldrT="[テキスト]" custT="1"/>
      <dgm:spPr>
        <a:solidFill>
          <a:srgbClr val="80B129"/>
        </a:solidFill>
      </dgm:spPr>
      <dgm:t>
        <a:bodyPr/>
        <a:lstStyle/>
        <a:p>
          <a:r>
            <a:rPr kumimoji="1" lang="en-US" altLang="ja-JP" sz="1400" dirty="0">
              <a:latin typeface="+mj-lt"/>
            </a:rPr>
            <a:t>Maintenance Package</a:t>
          </a:r>
          <a:endParaRPr kumimoji="1" lang="ja-JP" altLang="en-US" sz="1400" dirty="0">
            <a:latin typeface="+mj-lt"/>
          </a:endParaRPr>
        </a:p>
      </dgm:t>
    </dgm:pt>
    <dgm:pt modelId="{7A7C8AC2-6DEE-4C3F-8312-AA266F27E9DA}" type="par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54F01E57-9390-4CD2-B9F6-D511B71A34FD}" type="sib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7C0C23D3-1A18-4423-9605-38941FDFA7FD}">
      <dgm:prSet phldrT="[テキスト]"/>
      <dgm:spPr>
        <a:solidFill>
          <a:srgbClr val="C43A4C"/>
        </a:solidFill>
      </dgm:spPr>
      <dgm:t>
        <a:bodyPr/>
        <a:lstStyle/>
        <a:p>
          <a:r>
            <a:rPr kumimoji="1" lang="en-US" altLang="ja-JP" dirty="0">
              <a:latin typeface="+mj-lt"/>
            </a:rPr>
            <a:t>Pricing Strategy</a:t>
          </a:r>
          <a:endParaRPr kumimoji="1" lang="ja-JP" altLang="en-US" dirty="0">
            <a:latin typeface="+mj-lt"/>
          </a:endParaRPr>
        </a:p>
      </dgm:t>
    </dgm:pt>
    <dgm:pt modelId="{864851FF-B7FF-44FF-9973-3E7F198D93A9}" type="par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0E94C94-317A-4431-8C94-C5A79C59D6DD}" type="sib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B0C3E1AB-CBA2-46F5-B1F3-92864D7C029C}">
      <dgm:prSet phldrT="[テキスト]" phldr="1"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DE1148B1-02C4-4FFB-B982-BF8EAE1683C6}" type="sib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FCCBB38C-7786-4AAE-9A26-F76819902A98}" type="par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851EB2F1-EF0A-48F6-9E88-ADD223E56851}">
      <dgm:prSet phldrT="[テキスト]" custT="1"/>
      <dgm:spPr/>
      <dgm:t>
        <a:bodyPr/>
        <a:lstStyle/>
        <a:p>
          <a:r>
            <a:rPr kumimoji="1" lang="en-US" altLang="ja-JP" sz="2000" b="1" u="sng" dirty="0">
              <a:solidFill>
                <a:schemeClr val="bg1"/>
              </a:solidFill>
              <a:latin typeface="+mj-lt"/>
            </a:rPr>
            <a:t>Output of PMS Analysis </a:t>
          </a:r>
          <a:r>
            <a:rPr kumimoji="1" lang="en-US" altLang="ja-JP" sz="2000" b="1" u="sng" dirty="0">
              <a:solidFill>
                <a:schemeClr val="bg1"/>
              </a:solidFill>
              <a:latin typeface="+mj-lt"/>
              <a:sym typeface="Wingdings" panose="05000000000000000000" pitchFamily="2" charset="2"/>
            </a:rPr>
            <a:t> Sales Activity Ideas </a:t>
          </a:r>
          <a:endParaRPr kumimoji="1" lang="ja-JP" altLang="en-US" sz="2000" b="1" u="sng" dirty="0">
            <a:solidFill>
              <a:schemeClr val="bg1"/>
            </a:solidFill>
            <a:latin typeface="+mj-lt"/>
          </a:endParaRPr>
        </a:p>
      </dgm:t>
    </dgm:pt>
    <dgm:pt modelId="{4B0F4DCF-849B-454F-971F-215582B2DC81}" type="sib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E430270F-7BF3-424C-98F8-2D7E629C5C74}" type="par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18232524-476E-49D5-ABE5-5EED248FBF13}" type="pres">
      <dgm:prSet presAssocID="{56D60537-533C-4957-AFEC-D762358833C3}" presName="Name0" presStyleCnt="0">
        <dgm:presLayoutVars>
          <dgm:chMax val="4"/>
          <dgm:resizeHandles val="exact"/>
        </dgm:presLayoutVars>
      </dgm:prSet>
      <dgm:spPr/>
    </dgm:pt>
    <dgm:pt modelId="{E24A8DB3-9BB2-486E-80D4-53EAB4FBADB0}" type="pres">
      <dgm:prSet presAssocID="{56D60537-533C-4957-AFEC-D762358833C3}" presName="ellipse" presStyleLbl="trBgShp" presStyleIdx="0" presStyleCnt="1" custAng="16200000" custLinFactNeighborX="23246" custLinFactNeighborY="98720"/>
      <dgm:spPr/>
    </dgm:pt>
    <dgm:pt modelId="{DFE953CB-B3FC-4B66-BF77-61015547CB19}" type="pres">
      <dgm:prSet presAssocID="{56D60537-533C-4957-AFEC-D762358833C3}" presName="arrow1" presStyleLbl="fgShp" presStyleIdx="0" presStyleCnt="1" custAng="16200000" custScaleX="158438" custScaleY="186439" custLinFactX="-86370" custLinFactY="-133318" custLinFactNeighborX="-100000" custLinFactNeighborY="-200000"/>
      <dgm:spPr>
        <a:solidFill>
          <a:srgbClr val="FFFFFF"/>
        </a:solidFill>
      </dgm:spPr>
    </dgm:pt>
    <dgm:pt modelId="{D6AF285A-3571-4374-A8DF-BE72830680B6}" type="pres">
      <dgm:prSet presAssocID="{56D60537-533C-4957-AFEC-D762358833C3}" presName="rectangle" presStyleLbl="revTx" presStyleIdx="0" presStyleCnt="1" custAng="10800000" custFlipVert="1" custScaleX="166667" custScaleY="79572" custLinFactNeighborX="6462" custLinFactNeighborY="17042">
        <dgm:presLayoutVars>
          <dgm:bulletEnabled val="1"/>
        </dgm:presLayoutVars>
      </dgm:prSet>
      <dgm:spPr/>
    </dgm:pt>
    <dgm:pt modelId="{156A96D6-76F4-4215-81B3-6BFCCF384564}" type="pres">
      <dgm:prSet presAssocID="{7C0C23D3-1A18-4423-9605-38941FDFA7FD}" presName="item1" presStyleLbl="node1" presStyleIdx="0" presStyleCnt="3" custScaleX="126229" custLinFactNeighborX="72538" custLinFactNeighborY="64951">
        <dgm:presLayoutVars>
          <dgm:bulletEnabled val="1"/>
        </dgm:presLayoutVars>
      </dgm:prSet>
      <dgm:spPr/>
    </dgm:pt>
    <dgm:pt modelId="{81D8A529-3C14-46A6-8641-CF05F5D0A4CD}" type="pres">
      <dgm:prSet presAssocID="{C5D604BC-1852-41FA-A275-1F279CB39B99}" presName="item2" presStyleLbl="node1" presStyleIdx="1" presStyleCnt="3" custLinFactX="33050" custLinFactNeighborX="100000" custLinFactNeighborY="-16938">
        <dgm:presLayoutVars>
          <dgm:bulletEnabled val="1"/>
        </dgm:presLayoutVars>
      </dgm:prSet>
      <dgm:spPr/>
    </dgm:pt>
    <dgm:pt modelId="{34E07E67-EE8E-45B8-AB08-488D70EBBFB4}" type="pres">
      <dgm:prSet presAssocID="{851EB2F1-EF0A-48F6-9E88-ADD223E56851}" presName="item3" presStyleLbl="node1" presStyleIdx="2" presStyleCnt="3" custLinFactNeighborX="-21980" custLinFactNeighborY="90072">
        <dgm:presLayoutVars>
          <dgm:bulletEnabled val="1"/>
        </dgm:presLayoutVars>
      </dgm:prSet>
      <dgm:spPr/>
    </dgm:pt>
    <dgm:pt modelId="{204BB5E4-0178-4943-8177-E6021D658FC5}" type="pres">
      <dgm:prSet presAssocID="{56D60537-533C-4957-AFEC-D762358833C3}" presName="funnel" presStyleLbl="trAlignAcc1" presStyleIdx="0" presStyleCnt="1" custAng="5400000" custLinFactNeighborX="902" custLinFactNeighborY="13568"/>
      <dgm:spPr/>
    </dgm:pt>
  </dgm:ptLst>
  <dgm:cxnLst>
    <dgm:cxn modelId="{45B39E18-36C8-4F97-8DB4-DFE2314E1E3E}" srcId="{56D60537-533C-4957-AFEC-D762358833C3}" destId="{C5D604BC-1852-41FA-A275-1F279CB39B99}" srcOrd="2" destOrd="0" parTransId="{7A7C8AC2-6DEE-4C3F-8312-AA266F27E9DA}" sibTransId="{54F01E57-9390-4CD2-B9F6-D511B71A34FD}"/>
    <dgm:cxn modelId="{6D9EA823-D073-4AB8-850C-D1260DFF7850}" srcId="{56D60537-533C-4957-AFEC-D762358833C3}" destId="{B0C3E1AB-CBA2-46F5-B1F3-92864D7C029C}" srcOrd="4" destOrd="0" parTransId="{FCCBB38C-7786-4AAE-9A26-F76819902A98}" sibTransId="{DE1148B1-02C4-4FFB-B982-BF8EAE1683C6}"/>
    <dgm:cxn modelId="{82A6F925-8B98-42E8-92E4-BE071E1CC227}" type="presOf" srcId="{9CDF53B2-166E-4C9F-9763-921C8B88F26D}" destId="{34E07E67-EE8E-45B8-AB08-488D70EBBFB4}" srcOrd="0" destOrd="0" presId="urn:microsoft.com/office/officeart/2005/8/layout/funnel1"/>
    <dgm:cxn modelId="{F0E6092D-59CA-43FF-8706-EA0EFAE1E7C3}" srcId="{56D60537-533C-4957-AFEC-D762358833C3}" destId="{7C0C23D3-1A18-4423-9605-38941FDFA7FD}" srcOrd="1" destOrd="0" parTransId="{864851FF-B7FF-44FF-9973-3E7F198D93A9}" sibTransId="{C0E94C94-317A-4431-8C94-C5A79C59D6DD}"/>
    <dgm:cxn modelId="{9EE94B38-36CA-4CB8-BCC7-7A5F6AB28D1D}" type="presOf" srcId="{56D60537-533C-4957-AFEC-D762358833C3}" destId="{18232524-476E-49D5-ABE5-5EED248FBF13}" srcOrd="0" destOrd="0" presId="urn:microsoft.com/office/officeart/2005/8/layout/funnel1"/>
    <dgm:cxn modelId="{5FAC273C-9FB4-42BD-8FB2-204719E1B107}" type="presOf" srcId="{C5D604BC-1852-41FA-A275-1F279CB39B99}" destId="{156A96D6-76F4-4215-81B3-6BFCCF384564}" srcOrd="0" destOrd="0" presId="urn:microsoft.com/office/officeart/2005/8/layout/funnel1"/>
    <dgm:cxn modelId="{34FF1B40-96F2-43FF-ABB8-6AC910FFA2C7}" srcId="{56D60537-533C-4957-AFEC-D762358833C3}" destId="{851EB2F1-EF0A-48F6-9E88-ADD223E56851}" srcOrd="3" destOrd="0" parTransId="{E430270F-7BF3-424C-98F8-2D7E629C5C74}" sibTransId="{4B0F4DCF-849B-454F-971F-215582B2DC81}"/>
    <dgm:cxn modelId="{352DCD42-2502-4528-9663-E9CD4EBFF447}" type="presOf" srcId="{851EB2F1-EF0A-48F6-9E88-ADD223E56851}" destId="{D6AF285A-3571-4374-A8DF-BE72830680B6}" srcOrd="0" destOrd="0" presId="urn:microsoft.com/office/officeart/2005/8/layout/funnel1"/>
    <dgm:cxn modelId="{BCA5595A-0B29-4199-8679-A3DFC585F34E}" srcId="{56D60537-533C-4957-AFEC-D762358833C3}" destId="{9CDF53B2-166E-4C9F-9763-921C8B88F26D}" srcOrd="0" destOrd="0" parTransId="{F03DAEC2-B744-4E14-8B00-B52FE5879860}" sibTransId="{0858A0A6-11D2-4335-A191-0909F971008F}"/>
    <dgm:cxn modelId="{198A6FD1-E56D-4CCC-8FEE-7CBE029997F3}" type="presOf" srcId="{7C0C23D3-1A18-4423-9605-38941FDFA7FD}" destId="{81D8A529-3C14-46A6-8641-CF05F5D0A4CD}" srcOrd="0" destOrd="0" presId="urn:microsoft.com/office/officeart/2005/8/layout/funnel1"/>
    <dgm:cxn modelId="{89E93599-380B-4B4E-8D3A-38A8BEECDA26}" type="presParOf" srcId="{18232524-476E-49D5-ABE5-5EED248FBF13}" destId="{E24A8DB3-9BB2-486E-80D4-53EAB4FBADB0}" srcOrd="0" destOrd="0" presId="urn:microsoft.com/office/officeart/2005/8/layout/funnel1"/>
    <dgm:cxn modelId="{67F0F15B-48A8-4CA2-AC9C-DF3CE67967E6}" type="presParOf" srcId="{18232524-476E-49D5-ABE5-5EED248FBF13}" destId="{DFE953CB-B3FC-4B66-BF77-61015547CB19}" srcOrd="1" destOrd="0" presId="urn:microsoft.com/office/officeart/2005/8/layout/funnel1"/>
    <dgm:cxn modelId="{9A15BF13-56B8-42ED-8C7C-15865604088A}" type="presParOf" srcId="{18232524-476E-49D5-ABE5-5EED248FBF13}" destId="{D6AF285A-3571-4374-A8DF-BE72830680B6}" srcOrd="2" destOrd="0" presId="urn:microsoft.com/office/officeart/2005/8/layout/funnel1"/>
    <dgm:cxn modelId="{B80F5528-D444-4E38-87DC-326FC1213F10}" type="presParOf" srcId="{18232524-476E-49D5-ABE5-5EED248FBF13}" destId="{156A96D6-76F4-4215-81B3-6BFCCF384564}" srcOrd="3" destOrd="0" presId="urn:microsoft.com/office/officeart/2005/8/layout/funnel1"/>
    <dgm:cxn modelId="{A5EA9C26-6D50-46AE-893B-2FF47DD8FB5D}" type="presParOf" srcId="{18232524-476E-49D5-ABE5-5EED248FBF13}" destId="{81D8A529-3C14-46A6-8641-CF05F5D0A4CD}" srcOrd="4" destOrd="0" presId="urn:microsoft.com/office/officeart/2005/8/layout/funnel1"/>
    <dgm:cxn modelId="{03AF95D7-54A1-4639-8E36-A5C7137BD026}" type="presParOf" srcId="{18232524-476E-49D5-ABE5-5EED248FBF13}" destId="{34E07E67-EE8E-45B8-AB08-488D70EBBFB4}" srcOrd="5" destOrd="0" presId="urn:microsoft.com/office/officeart/2005/8/layout/funnel1"/>
    <dgm:cxn modelId="{2C6E91D3-1952-45DD-9BDD-288F7AE5AED7}" type="presParOf" srcId="{18232524-476E-49D5-ABE5-5EED248FBF13}" destId="{204BB5E4-0178-4943-8177-E6021D658FC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A8DB3-9BB2-486E-80D4-53EAB4FBADB0}">
      <dsp:nvSpPr>
        <dsp:cNvPr id="0" name=""/>
        <dsp:cNvSpPr/>
      </dsp:nvSpPr>
      <dsp:spPr>
        <a:xfrm rot="16200000">
          <a:off x="-499884" y="1370296"/>
          <a:ext cx="3738078" cy="1298185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53CB-B3FC-4B66-BF77-61015547CB19}">
      <dsp:nvSpPr>
        <dsp:cNvPr id="0" name=""/>
        <dsp:cNvSpPr/>
      </dsp:nvSpPr>
      <dsp:spPr>
        <a:xfrm rot="16200000">
          <a:off x="3278544" y="1519271"/>
          <a:ext cx="1147778" cy="864401"/>
        </a:xfrm>
        <a:prstGeom prst="downArrow">
          <a:avLst/>
        </a:prstGeom>
        <a:solidFill>
          <a:srgbClr val="FFFF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6AF285A-3571-4374-A8DF-BE72830680B6}">
      <dsp:nvSpPr>
        <dsp:cNvPr id="0" name=""/>
        <dsp:cNvSpPr/>
      </dsp:nvSpPr>
      <dsp:spPr>
        <a:xfrm rot="10800000" flipV="1">
          <a:off x="0" y="3944637"/>
          <a:ext cx="5908562" cy="691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</a:rPr>
            <a:t>PMS Cover Ratio and Sales Trend Analysis</a:t>
          </a:r>
          <a:endParaRPr kumimoji="1" lang="ja-JP" altLang="en-US" sz="2000" b="1" u="sng" kern="1200" dirty="0">
            <a:solidFill>
              <a:schemeClr val="bg1"/>
            </a:solidFill>
            <a:latin typeface="+mj-lt"/>
          </a:endParaRPr>
        </a:p>
      </dsp:txBody>
      <dsp:txXfrm rot="-10800000">
        <a:off x="0" y="3944637"/>
        <a:ext cx="5908562" cy="691735"/>
      </dsp:txXfrm>
    </dsp:sp>
    <dsp:sp modelId="{156A96D6-76F4-4215-81B3-6BFCCF384564}">
      <dsp:nvSpPr>
        <dsp:cNvPr id="0" name=""/>
        <dsp:cNvSpPr/>
      </dsp:nvSpPr>
      <dsp:spPr>
        <a:xfrm>
          <a:off x="936109" y="2224415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Market Info</a:t>
          </a:r>
          <a:endParaRPr kumimoji="1" lang="ja-JP" altLang="en-US" sz="2100" kern="1200" dirty="0">
            <a:latin typeface="+mj-lt"/>
          </a:endParaRPr>
        </a:p>
      </dsp:txBody>
      <dsp:txXfrm>
        <a:off x="1127072" y="2415378"/>
        <a:ext cx="922054" cy="922054"/>
      </dsp:txXfrm>
    </dsp:sp>
    <dsp:sp modelId="{81D8A529-3C14-46A6-8641-CF05F5D0A4CD}">
      <dsp:nvSpPr>
        <dsp:cNvPr id="0" name=""/>
        <dsp:cNvSpPr/>
      </dsp:nvSpPr>
      <dsp:spPr>
        <a:xfrm>
          <a:off x="936102" y="280190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-1052953"/>
                <a:satOff val="-26831"/>
                <a:lumOff val="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52953"/>
                <a:satOff val="-26831"/>
                <a:lumOff val="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52953"/>
                <a:satOff val="-26831"/>
                <a:lumOff val="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Vehicle UIO</a:t>
          </a:r>
          <a:endParaRPr kumimoji="1" lang="ja-JP" altLang="en-US" sz="2100" kern="1200" dirty="0">
            <a:latin typeface="+mj-lt"/>
          </a:endParaRPr>
        </a:p>
      </dsp:txBody>
      <dsp:txXfrm>
        <a:off x="1127065" y="471153"/>
        <a:ext cx="922054" cy="922054"/>
      </dsp:txXfrm>
    </dsp:sp>
    <dsp:sp modelId="{34E07E67-EE8E-45B8-AB08-488D70EBBFB4}">
      <dsp:nvSpPr>
        <dsp:cNvPr id="0" name=""/>
        <dsp:cNvSpPr/>
      </dsp:nvSpPr>
      <dsp:spPr>
        <a:xfrm>
          <a:off x="1728195" y="1216295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-2105905"/>
                <a:satOff val="-53661"/>
                <a:lumOff val="45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105905"/>
                <a:satOff val="-53661"/>
                <a:lumOff val="45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105905"/>
                <a:satOff val="-53661"/>
                <a:lumOff val="45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PMS Sales</a:t>
          </a:r>
          <a:endParaRPr kumimoji="1" lang="ja-JP" altLang="en-US" sz="2100" kern="1200" dirty="0">
            <a:latin typeface="+mj-lt"/>
          </a:endParaRPr>
        </a:p>
      </dsp:txBody>
      <dsp:txXfrm>
        <a:off x="1919158" y="1407258"/>
        <a:ext cx="922054" cy="922054"/>
      </dsp:txXfrm>
    </dsp:sp>
    <dsp:sp modelId="{204BB5E4-0178-4943-8177-E6021D658FC5}">
      <dsp:nvSpPr>
        <dsp:cNvPr id="0" name=""/>
        <dsp:cNvSpPr/>
      </dsp:nvSpPr>
      <dsp:spPr>
        <a:xfrm rot="16200000">
          <a:off x="170370" y="381303"/>
          <a:ext cx="4056829" cy="324546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A8DB3-9BB2-486E-80D4-53EAB4FBADB0}">
      <dsp:nvSpPr>
        <dsp:cNvPr id="0" name=""/>
        <dsp:cNvSpPr/>
      </dsp:nvSpPr>
      <dsp:spPr>
        <a:xfrm rot="16200000">
          <a:off x="1928776" y="1606640"/>
          <a:ext cx="3811031" cy="1323521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53CB-B3FC-4B66-BF77-61015547CB19}">
      <dsp:nvSpPr>
        <dsp:cNvPr id="0" name=""/>
        <dsp:cNvSpPr/>
      </dsp:nvSpPr>
      <dsp:spPr>
        <a:xfrm rot="16200000">
          <a:off x="992722" y="1761074"/>
          <a:ext cx="1170178" cy="881271"/>
        </a:xfrm>
        <a:prstGeom prst="downArrow">
          <a:avLst/>
        </a:prstGeom>
        <a:solidFill>
          <a:srgbClr val="FFFF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6AF285A-3571-4374-A8DF-BE72830680B6}">
      <dsp:nvSpPr>
        <dsp:cNvPr id="0" name=""/>
        <dsp:cNvSpPr/>
      </dsp:nvSpPr>
      <dsp:spPr>
        <a:xfrm rot="10800000" flipV="1">
          <a:off x="-5" y="4147163"/>
          <a:ext cx="5908587" cy="70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</a:rPr>
            <a:t>Output of PMS Analysis </a:t>
          </a: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  <a:sym typeface="Wingdings" panose="05000000000000000000" pitchFamily="2" charset="2"/>
            </a:rPr>
            <a:t> Sales Activity Ideas </a:t>
          </a:r>
          <a:endParaRPr kumimoji="1" lang="ja-JP" altLang="en-US" sz="2000" b="1" u="sng" kern="1200" dirty="0">
            <a:solidFill>
              <a:schemeClr val="bg1"/>
            </a:solidFill>
            <a:latin typeface="+mj-lt"/>
          </a:endParaRPr>
        </a:p>
      </dsp:txBody>
      <dsp:txXfrm rot="-10800000">
        <a:off x="-5" y="4147163"/>
        <a:ext cx="5908587" cy="705235"/>
      </dsp:txXfrm>
    </dsp:sp>
    <dsp:sp modelId="{156A96D6-76F4-4215-81B3-6BFCCF384564}">
      <dsp:nvSpPr>
        <dsp:cNvPr id="0" name=""/>
        <dsp:cNvSpPr/>
      </dsp:nvSpPr>
      <dsp:spPr>
        <a:xfrm>
          <a:off x="3218418" y="2589277"/>
          <a:ext cx="1678125" cy="1329429"/>
        </a:xfrm>
        <a:prstGeom prst="ellipse">
          <a:avLst/>
        </a:prstGeom>
        <a:solidFill>
          <a:srgbClr val="80B12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>
              <a:latin typeface="+mj-lt"/>
            </a:rPr>
            <a:t>Maintenance Package</a:t>
          </a:r>
          <a:endParaRPr kumimoji="1" lang="ja-JP" altLang="en-US" sz="1400" kern="1200" dirty="0">
            <a:latin typeface="+mj-lt"/>
          </a:endParaRPr>
        </a:p>
      </dsp:txBody>
      <dsp:txXfrm>
        <a:off x="3464174" y="2783967"/>
        <a:ext cx="1186613" cy="940049"/>
      </dsp:txXfrm>
    </dsp:sp>
    <dsp:sp modelId="{81D8A529-3C14-46A6-8641-CF05F5D0A4CD}">
      <dsp:nvSpPr>
        <dsp:cNvPr id="0" name=""/>
        <dsp:cNvSpPr/>
      </dsp:nvSpPr>
      <dsp:spPr>
        <a:xfrm>
          <a:off x="3245950" y="503253"/>
          <a:ext cx="1329429" cy="1329429"/>
        </a:xfrm>
        <a:prstGeom prst="ellipse">
          <a:avLst/>
        </a:prstGeom>
        <a:solidFill>
          <a:srgbClr val="C43A4C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 dirty="0">
              <a:latin typeface="+mj-lt"/>
            </a:rPr>
            <a:t>Pricing Strategy</a:t>
          </a:r>
          <a:endParaRPr kumimoji="1" lang="ja-JP" altLang="en-US" sz="1700" kern="1200" dirty="0">
            <a:latin typeface="+mj-lt"/>
          </a:endParaRPr>
        </a:p>
      </dsp:txBody>
      <dsp:txXfrm>
        <a:off x="3440640" y="697943"/>
        <a:ext cx="940049" cy="940049"/>
      </dsp:txXfrm>
    </dsp:sp>
    <dsp:sp modelId="{34E07E67-EE8E-45B8-AB08-488D70EBBFB4}">
      <dsp:nvSpPr>
        <dsp:cNvPr id="0" name=""/>
        <dsp:cNvSpPr/>
      </dsp:nvSpPr>
      <dsp:spPr>
        <a:xfrm>
          <a:off x="2543907" y="1604449"/>
          <a:ext cx="1329429" cy="1329429"/>
        </a:xfrm>
        <a:prstGeom prst="ellipse">
          <a:avLst/>
        </a:prstGeom>
        <a:solidFill>
          <a:srgbClr val="E5814A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 dirty="0">
              <a:latin typeface="+mj-lt"/>
            </a:rPr>
            <a:t>Incentive Program</a:t>
          </a:r>
          <a:endParaRPr kumimoji="1" lang="ja-JP" altLang="en-US" sz="1700" kern="1200" dirty="0">
            <a:latin typeface="+mj-lt"/>
          </a:endParaRPr>
        </a:p>
      </dsp:txBody>
      <dsp:txXfrm>
        <a:off x="2738597" y="1799139"/>
        <a:ext cx="940049" cy="940049"/>
      </dsp:txXfrm>
    </dsp:sp>
    <dsp:sp modelId="{204BB5E4-0178-4943-8177-E6021D658FC5}">
      <dsp:nvSpPr>
        <dsp:cNvPr id="0" name=""/>
        <dsp:cNvSpPr/>
      </dsp:nvSpPr>
      <dsp:spPr>
        <a:xfrm rot="5400000">
          <a:off x="923593" y="586512"/>
          <a:ext cx="4136003" cy="330880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heme" Target="../theme/theme3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5/28/2026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3" Type="http://schemas.openxmlformats.org/officeDocument/2006/relationships/tags" Target="../tags/tag270.xml"/><Relationship Id="rId7" Type="http://schemas.openxmlformats.org/officeDocument/2006/relationships/tags" Target="../tags/tag274.xml"/><Relationship Id="rId2" Type="http://schemas.openxmlformats.org/officeDocument/2006/relationships/tags" Target="../tags/tag269.xml"/><Relationship Id="rId1" Type="http://schemas.openxmlformats.org/officeDocument/2006/relationships/theme" Target="../theme/theme2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5/28/2026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213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5.sv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1.xml"/><Relationship Id="rId7" Type="http://schemas.openxmlformats.org/officeDocument/2006/relationships/image" Target="../media/image7.sv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6.xml"/><Relationship Id="rId7" Type="http://schemas.openxmlformats.org/officeDocument/2006/relationships/image" Target="../media/image5.sv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1.xml"/><Relationship Id="rId7" Type="http://schemas.openxmlformats.org/officeDocument/2006/relationships/image" Target="../media/image7.sv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1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1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image" Target="../media/image13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12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6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image" Target="../media/image13.pn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7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7" Type="http://schemas.openxmlformats.org/officeDocument/2006/relationships/image" Target="../media/image14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12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7" Type="http://schemas.openxmlformats.org/officeDocument/2006/relationships/image" Target="../media/image14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7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8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5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15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10" Type="http://schemas.openxmlformats.org/officeDocument/2006/relationships/image" Target="../media/image5.svg"/><Relationship Id="rId4" Type="http://schemas.openxmlformats.org/officeDocument/2006/relationships/tags" Target="../tags/tag164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7.svg"/><Relationship Id="rId4" Type="http://schemas.openxmlformats.org/officeDocument/2006/relationships/tags" Target="../tags/tag172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tags" Target="../tags/tag17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9" Type="http://schemas.openxmlformats.org/officeDocument/2006/relationships/image" Target="../media/image1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9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9" Type="http://schemas.openxmlformats.org/officeDocument/2006/relationships/image" Target="../media/image5.sv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9" Type="http://schemas.openxmlformats.org/officeDocument/2006/relationships/image" Target="../media/image7.sv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9" Type="http://schemas.openxmlformats.org/officeDocument/2006/relationships/image" Target="../media/image5.sv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9" Type="http://schemas.openxmlformats.org/officeDocument/2006/relationships/image" Target="../media/image7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24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ags" Target="../tags/tag25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tags" Target="../tags/tag2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47C5D-9DF1-B128-A6C9-49B6A1491B14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B540F4-7B65-E887-23C5-13D881A3F232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E28073-1A55-2B51-A00A-6D1DD9C7E0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>
            <a:off x="0" y="3697200"/>
            <a:ext cx="12192000" cy="3160800"/>
          </a:xfrm>
          <a:prstGeom prst="rect">
            <a:avLst/>
          </a:prstGeom>
        </p:spPr>
      </p:pic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D153F50-91C6-85A8-54DD-B987B0C2A77C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222254B-28BA-62B9-FE56-FA76CECD4DE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5FA87A0-FCD8-C951-E360-19BD63D475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3697201"/>
            <a:ext cx="12192000" cy="3160800"/>
          </a:xfrm>
          <a:prstGeom prst="rect">
            <a:avLst/>
          </a:prstGeom>
        </p:spPr>
      </p:pic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D55C834-0C90-6CDF-81F4-E107616D2DD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5889E5-A66B-E49E-E296-924EE50D1A5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5554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図 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93B2510-DCC9-C25A-8A2E-8544C253E3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>
            <a:off x="10510" y="3697201"/>
            <a:ext cx="12192000" cy="3160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A42B89-B30B-B826-8B40-718EB1A20DC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56059DA-984D-B3EF-1059-0FFA54D2207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2F437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FA6E1D5D-537E-AA10-29C9-FDB4ACF80D3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3697201"/>
            <a:ext cx="12192000" cy="3160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206BA2D-AD44-D68C-E179-3D0C0C74E8AC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30B8C81-0AB8-7A13-96BF-AA8528E7BA4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Swirl Locked">
            <a:extLst>
              <a:ext uri="{FF2B5EF4-FFF2-40B4-BE49-F238E27FC236}">
                <a16:creationId xmlns:a16="http://schemas.microsoft.com/office/drawing/2014/main" id="{5FB9E093-BE67-DE96-4307-3A432C37E05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644423-307F-D894-B9F1-D4126F65537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D99FFEE-AEBA-AF22-C5E9-056B91568CA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E93E4DBB-4310-2DAC-F9C5-8CB9A2EFC1A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ADEF19-FE5C-7100-205F-DB43D2C536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733B0-F304-7DB5-E201-305000FA1CF4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63C16CE8-5C64-B6AB-EE45-384DEA058FB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E6D298-4BBA-FFDB-6DEA-F5ECEA5A834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A7740-B97B-57A2-CDA0-F7334D031731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6C320A50-F362-E05D-7456-0A13C8EBA24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5602EF5-7A3D-24EF-B2C3-970CA1550A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5BC8A-0749-37A3-16E2-9672A380D440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pic>
        <p:nvPicPr>
          <p:cNvPr id="5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515456" y="2567025"/>
            <a:ext cx="6857999" cy="172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pic>
        <p:nvPicPr>
          <p:cNvPr id="2" name="図 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B4BE683C-F660-75E1-9729-60972B2422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 rot="5400000">
            <a:off x="-2540026" y="2540026"/>
            <a:ext cx="6858003" cy="1777951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CC1A9608-4293-7D8C-67FE-7BC31B532E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2D7AE1-6643-CB97-887A-B901D3604738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03A42F23-E70A-8DDB-F1C9-02B52899315D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 rot="5400000">
            <a:off x="-2539591" y="2539590"/>
            <a:ext cx="6858000" cy="1778819"/>
            <a:chOff x="0" y="3699103"/>
            <a:chExt cx="12193209" cy="316265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2CC0EAB-3DCE-C88F-E57F-B552078343B4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7F78FE0-CD76-A45B-8021-8A9C9785B201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id="{7B22D23C-9E4A-F6A9-A2D4-443CC588899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6">
            <a:extLst>
              <a:ext uri="{FF2B5EF4-FFF2-40B4-BE49-F238E27FC236}">
                <a16:creationId xmlns:a16="http://schemas.microsoft.com/office/drawing/2014/main" id="{236300C9-A527-F54A-327D-FCAA9E87AB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7A5840-ACFD-478B-6EDB-1CF42DBF02A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E89D1165-E043-8FC2-CDDA-6294779F6E0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" y="1"/>
            <a:ext cx="12192000" cy="611999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0DDD7B-5BCF-3A8E-517E-3CA7E02881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0" y="1057747"/>
            <a:ext cx="7848000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olor 4">
            <a:extLst>
              <a:ext uri="{FF2B5EF4-FFF2-40B4-BE49-F238E27FC236}">
                <a16:creationId xmlns:a16="http://schemas.microsoft.com/office/drawing/2014/main" id="{C34CB5BD-8B63-74AB-8915-6F7290ECD094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Swirl Locked">
            <a:extLst>
              <a:ext uri="{FF2B5EF4-FFF2-40B4-BE49-F238E27FC236}">
                <a16:creationId xmlns:a16="http://schemas.microsoft.com/office/drawing/2014/main" id="{0A6DFC0D-A319-57C1-7D94-D050F7F3B9A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" y="1"/>
            <a:ext cx="12192000" cy="611999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DD9251-D596-E236-9881-BF33966D0B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0" y="1057747"/>
            <a:ext cx="7848000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9E13313-5907-F8FA-03A6-232364530D2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554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47F634D-978A-442F-A40F-FCD5C65DEEC3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9E3A5D5-6561-341B-FC0B-1D6BC939ECB5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7FA0DC-43CD-C672-56B5-7DC77CF8FA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6" name="Swirl">
            <a:extLst>
              <a:ext uri="{FF2B5EF4-FFF2-40B4-BE49-F238E27FC236}">
                <a16:creationId xmlns:a16="http://schemas.microsoft.com/office/drawing/2014/main" id="{05233926-3E71-E33D-C4D3-D721C9EF68C1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72952" y="0"/>
            <a:ext cx="1699200" cy="68580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A5CA167-228A-5640-4765-2080B98894A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437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D52A2FD-6FDD-6D73-3E41-77720228B948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2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F6E5DF-58D1-7558-5546-05A71205D82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61E7236-6DC5-A527-F9FB-AB9A058D9C98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4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Swirl">
            <a:extLst>
              <a:ext uri="{FF2B5EF4-FFF2-40B4-BE49-F238E27FC236}">
                <a16:creationId xmlns:a16="http://schemas.microsoft.com/office/drawing/2014/main" id="{2326CF35-DBA2-85B0-40E6-26F6BC8A2B31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72952" y="0"/>
            <a:ext cx="1699200" cy="68580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pic>
        <p:nvPicPr>
          <p:cNvPr id="11" name="図 1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09BC884-AB48-14F6-425F-59E859FAB0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 rot="16200000" flipH="1">
            <a:off x="7884597" y="2540026"/>
            <a:ext cx="6858003" cy="17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14" name="Swirl Locked">
            <a:extLst>
              <a:ext uri="{FF2B5EF4-FFF2-40B4-BE49-F238E27FC236}">
                <a16:creationId xmlns:a16="http://schemas.microsoft.com/office/drawing/2014/main" id="{515BC9B0-9CFB-E96B-71D8-6E50F0B8EF2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 rot="16200000" flipH="1">
            <a:off x="7885447" y="2539590"/>
            <a:ext cx="6858000" cy="1778819"/>
            <a:chOff x="0" y="3699103"/>
            <a:chExt cx="12193209" cy="3162659"/>
          </a:xfrm>
        </p:grpSpPr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id="{FF467601-22CC-DDEC-7D04-DCFB46F03B95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5">
              <a:extLst>
                <a:ext uri="{FF2B5EF4-FFF2-40B4-BE49-F238E27FC236}">
                  <a16:creationId xmlns:a16="http://schemas.microsoft.com/office/drawing/2014/main" id="{F89BF55C-AA98-1ED3-EBDF-A6049DDB35A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D16F323F-B637-CBD6-6A73-C3746CEFDF4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271EA54-B294-E2E2-95C0-8661A3DC8D25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84D0E48B-D527-375C-F2BE-CEEEC7EA58C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9B2CD425-1B76-72A6-D0F4-6FF3E83F81D0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851C323E-A7D8-7B42-C2B8-73CB8B693DA7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651D09-A3D1-B8E3-FAA4-08C2D9609B9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E0511AF9-6487-6B2F-3588-9B959DF23BA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45A1BDD-0519-A2E8-D7A3-69D8018EC8A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5/28/2026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5/28/2026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5/28/2026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327536" y="6473207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Recolor 3">
            <a:extLst>
              <a:ext uri="{FF2B5EF4-FFF2-40B4-BE49-F238E27FC236}">
                <a16:creationId xmlns:a16="http://schemas.microsoft.com/office/drawing/2014/main" id="{61BCDC54-4F42-112F-9076-C2A24A76719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060192" y="3697200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Recolor 1">
            <a:extLst>
              <a:ext uri="{FF2B5EF4-FFF2-40B4-BE49-F238E27FC236}">
                <a16:creationId xmlns:a16="http://schemas.microsoft.com/office/drawing/2014/main" id="{6ADE13F6-D5C1-4310-D1ED-C4A995FA0952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0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5/28/2026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Recolor 3">
            <a:extLst>
              <a:ext uri="{FF2B5EF4-FFF2-40B4-BE49-F238E27FC236}">
                <a16:creationId xmlns:a16="http://schemas.microsoft.com/office/drawing/2014/main" id="{23435891-67EA-2EFD-EA76-0F8C85DFB2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697200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Recolor 1">
            <a:extLst>
              <a:ext uri="{FF2B5EF4-FFF2-40B4-BE49-F238E27FC236}">
                <a16:creationId xmlns:a16="http://schemas.microsoft.com/office/drawing/2014/main" id="{443F31EB-0EC8-AC45-1A06-E5C176EE8F0B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B3092A70-60C8-572B-2F8B-F59325861A6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8"/>
            </p:custDataLst>
          </p:nvPr>
        </p:nvSpPr>
        <p:spPr>
          <a:xfrm>
            <a:off x="10327233" y="6473207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連絡先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5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電話</a:t>
            </a:r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6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Ｅメール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 Adjust - Bottom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2">
            <a:extLst>
              <a:ext uri="{FF2B5EF4-FFF2-40B4-BE49-F238E27FC236}">
                <a16:creationId xmlns:a16="http://schemas.microsoft.com/office/drawing/2014/main" id="{E78CDE6C-1337-25FB-4663-56CD88ECBD6D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A8227DF1-413E-4664-AB27-9EF2E88907A5}" type="datetime1">
              <a:rPr lang="en-US" altLang="ja-JP" smtClean="0"/>
              <a:t>5/28/2026</a:t>
            </a:fld>
            <a:endParaRPr lang="ja-JP" altLang="en-US"/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33E26293-8F60-0DE8-FF59-F9DBA480171E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grpSp>
        <p:nvGrpSpPr>
          <p:cNvPr id="22" name="LOGO RED">
            <a:extLst>
              <a:ext uri="{FF2B5EF4-FFF2-40B4-BE49-F238E27FC236}">
                <a16:creationId xmlns:a16="http://schemas.microsoft.com/office/drawing/2014/main" id="{6AF4002B-CFE2-B18B-BF54-C037BEA16AB6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3" name="Freeform: Shape 7">
              <a:extLst>
                <a:ext uri="{FF2B5EF4-FFF2-40B4-BE49-F238E27FC236}">
                  <a16:creationId xmlns:a16="http://schemas.microsoft.com/office/drawing/2014/main" id="{3A17A6AD-4DB3-1498-9B61-A88F5423523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1642E669-77EC-DE10-2D4A-8E0CCC30155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9">
              <a:extLst>
                <a:ext uri="{FF2B5EF4-FFF2-40B4-BE49-F238E27FC236}">
                  <a16:creationId xmlns:a16="http://schemas.microsoft.com/office/drawing/2014/main" id="{AFF91D01-9705-60BD-ED37-38628F262BB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0">
              <a:extLst>
                <a:ext uri="{FF2B5EF4-FFF2-40B4-BE49-F238E27FC236}">
                  <a16:creationId xmlns:a16="http://schemas.microsoft.com/office/drawing/2014/main" id="{820590F9-6CD3-F657-9E19-3752EB3D9C2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1">
              <a:extLst>
                <a:ext uri="{FF2B5EF4-FFF2-40B4-BE49-F238E27FC236}">
                  <a16:creationId xmlns:a16="http://schemas.microsoft.com/office/drawing/2014/main" id="{84A1C273-54C7-3B92-9B02-8E99F1A51A9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Recolor 2">
            <a:extLst>
              <a:ext uri="{FF2B5EF4-FFF2-40B4-BE49-F238E27FC236}">
                <a16:creationId xmlns:a16="http://schemas.microsoft.com/office/drawing/2014/main" id="{98B54AA0-43D7-36B8-1B41-BBF37634BE01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371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9" name="Recolor 3">
            <a:extLst>
              <a:ext uri="{FF2B5EF4-FFF2-40B4-BE49-F238E27FC236}">
                <a16:creationId xmlns:a16="http://schemas.microsoft.com/office/drawing/2014/main" id="{A8D3303D-317A-CBD4-AE80-7DC95975669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060192" y="369534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18E9C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0" name="Recolor 1">
            <a:extLst>
              <a:ext uri="{FF2B5EF4-FFF2-40B4-BE49-F238E27FC236}">
                <a16:creationId xmlns:a16="http://schemas.microsoft.com/office/drawing/2014/main" id="{03AA5945-21A4-2B5F-7D5F-A992DB3BB0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34425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289530-B8C6-623F-81F5-8B793C37CC7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8A6C38B-F19F-4C9C-2EAA-9C7870367F8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72798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 Adjust - Top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2">
            <a:extLst>
              <a:ext uri="{FF2B5EF4-FFF2-40B4-BE49-F238E27FC236}">
                <a16:creationId xmlns:a16="http://schemas.microsoft.com/office/drawing/2014/main" id="{90BD0252-86B7-C2F3-CF13-09FC918A353B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1"/>
            </p:custDataLst>
          </p:nvPr>
        </p:nvSpPr>
        <p:spPr>
          <a:xfrm>
            <a:off x="0" y="-2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6777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3">
            <a:extLst>
              <a:ext uri="{FF2B5EF4-FFF2-40B4-BE49-F238E27FC236}">
                <a16:creationId xmlns:a16="http://schemas.microsoft.com/office/drawing/2014/main" id="{4722198C-5D94-738C-9AA2-7E26C2BCB584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8F8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Recolor 1">
            <a:extLst>
              <a:ext uri="{FF2B5EF4-FFF2-40B4-BE49-F238E27FC236}">
                <a16:creationId xmlns:a16="http://schemas.microsoft.com/office/drawing/2014/main" id="{C5141A41-D19E-73A7-EA15-333FC214443C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21585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4454C84-21B2-A491-1A32-39A0FA2C853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6D2567-30FB-F460-DF22-806768E163F9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89DA737A-56D4-795F-DF54-5FEB76C3DC59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6300000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7" name="Freeform: Shape 21">
              <a:extLst>
                <a:ext uri="{FF2B5EF4-FFF2-40B4-BE49-F238E27FC236}">
                  <a16:creationId xmlns:a16="http://schemas.microsoft.com/office/drawing/2014/main" id="{89C5B57E-860C-E54D-4950-75690D9AF1E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2">
              <a:extLst>
                <a:ext uri="{FF2B5EF4-FFF2-40B4-BE49-F238E27FC236}">
                  <a16:creationId xmlns:a16="http://schemas.microsoft.com/office/drawing/2014/main" id="{1BE89B4F-7AD8-8AFE-76A3-FFC3D44A40F0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3">
              <a:extLst>
                <a:ext uri="{FF2B5EF4-FFF2-40B4-BE49-F238E27FC236}">
                  <a16:creationId xmlns:a16="http://schemas.microsoft.com/office/drawing/2014/main" id="{F2960768-01E4-DBBE-55C3-C5212B93D08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4">
              <a:extLst>
                <a:ext uri="{FF2B5EF4-FFF2-40B4-BE49-F238E27FC236}">
                  <a16:creationId xmlns:a16="http://schemas.microsoft.com/office/drawing/2014/main" id="{3A3C10EE-3D64-3B24-AD3C-DA7CFC445AB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25">
              <a:extLst>
                <a:ext uri="{FF2B5EF4-FFF2-40B4-BE49-F238E27FC236}">
                  <a16:creationId xmlns:a16="http://schemas.microsoft.com/office/drawing/2014/main" id="{D441F57A-5D49-3FDE-EB24-0EFD44E00F75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C301109B-EB18-E543-72D7-A552F06894F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40000" y="2088000"/>
            <a:ext cx="6660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37553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 Adjust - Bottom Full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olor 4">
            <a:extLst>
              <a:ext uri="{FF2B5EF4-FFF2-40B4-BE49-F238E27FC236}">
                <a16:creationId xmlns:a16="http://schemas.microsoft.com/office/drawing/2014/main" id="{9747BBC4-62A0-7030-61B4-85A52631C023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0" y="964641"/>
            <a:ext cx="12193211" cy="5042503"/>
          </a:xfrm>
          <a:prstGeom prst="rect">
            <a:avLst/>
          </a:prstGeom>
          <a:solidFill>
            <a:srgbClr val="E6834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2">
            <a:extLst>
              <a:ext uri="{FF2B5EF4-FFF2-40B4-BE49-F238E27FC236}">
                <a16:creationId xmlns:a16="http://schemas.microsoft.com/office/drawing/2014/main" id="{CB714E06-B0BF-13BE-CA9B-7168C99995D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E78B4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1" name="Recolor 3">
            <a:extLst>
              <a:ext uri="{FF2B5EF4-FFF2-40B4-BE49-F238E27FC236}">
                <a16:creationId xmlns:a16="http://schemas.microsoft.com/office/drawing/2014/main" id="{004E1D6D-583D-B375-2D2D-579A5B27A96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060192" y="369534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EDA37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2" name="Recolor 1">
            <a:extLst>
              <a:ext uri="{FF2B5EF4-FFF2-40B4-BE49-F238E27FC236}">
                <a16:creationId xmlns:a16="http://schemas.microsoft.com/office/drawing/2014/main" id="{975AE489-914A-DDBA-6858-8C8AEFBC25A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DF621D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8" name="LOGO RED">
            <a:extLst>
              <a:ext uri="{FF2B5EF4-FFF2-40B4-BE49-F238E27FC236}">
                <a16:creationId xmlns:a16="http://schemas.microsoft.com/office/drawing/2014/main" id="{A5C6DE14-D3E8-C549-CF43-39C4E3623DC5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id="{6AFB65CE-4169-2399-8555-11920EA4EE3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id="{4701ADC0-2699-2027-94F2-54DA6359F85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776861BD-086C-D620-6137-F091709EEC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9">
              <a:extLst>
                <a:ext uri="{FF2B5EF4-FFF2-40B4-BE49-F238E27FC236}">
                  <a16:creationId xmlns:a16="http://schemas.microsoft.com/office/drawing/2014/main" id="{2EF2EDDE-2772-B02D-C350-46CC4B5F428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26">
              <a:extLst>
                <a:ext uri="{FF2B5EF4-FFF2-40B4-BE49-F238E27FC236}">
                  <a16:creationId xmlns:a16="http://schemas.microsoft.com/office/drawing/2014/main" id="{B58390C4-2FE3-B744-EEEA-E74F6C6DEB89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8AB192B4-0EC0-7285-1C2C-3A398FB1A7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0FD3BDD-0F8C-4FB0-8E38-19EA100A3B95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2637906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4 Adjust - Top Full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olor 4">
            <a:extLst>
              <a:ext uri="{FF2B5EF4-FFF2-40B4-BE49-F238E27FC236}">
                <a16:creationId xmlns:a16="http://schemas.microsoft.com/office/drawing/2014/main" id="{F161CDD7-E20C-C70C-C444-112F6BDCB8EB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-1211" y="616069"/>
            <a:ext cx="12193211" cy="5093053"/>
          </a:xfrm>
          <a:prstGeom prst="rect">
            <a:avLst/>
          </a:prstGeom>
          <a:solidFill>
            <a:srgbClr val="2F437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C92072-2399-0212-E64B-BE014E0BE2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39999" y="2088000"/>
            <a:ext cx="6660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356DC8E-E021-2666-26E0-87AEAB624A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11" name="Recolor 2">
            <a:extLst>
              <a:ext uri="{FF2B5EF4-FFF2-40B4-BE49-F238E27FC236}">
                <a16:creationId xmlns:a16="http://schemas.microsoft.com/office/drawing/2014/main" id="{2D504371-9AE1-AC99-29C7-90AACF42A4F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0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3C4B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Recolor 3">
            <a:extLst>
              <a:ext uri="{FF2B5EF4-FFF2-40B4-BE49-F238E27FC236}">
                <a16:creationId xmlns:a16="http://schemas.microsoft.com/office/drawing/2014/main" id="{C1883742-E150-7679-D23A-1BD2BCA7C00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 flipV="1">
            <a:off x="4060192" y="87636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5F6796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76D2F402-FA54-3072-DD85-98FEE1B2100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 flipV="1">
            <a:off x="0" y="114327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79B408CD-27C8-90E3-FC4C-B2136AC33598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>
          <a:xfrm>
            <a:off x="454798" y="6180032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23">
              <a:extLst>
                <a:ext uri="{FF2B5EF4-FFF2-40B4-BE49-F238E27FC236}">
                  <a16:creationId xmlns:a16="http://schemas.microsoft.com/office/drawing/2014/main" id="{72C46E28-A7BB-15C8-EBB2-6DE712C4035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Freeform: Shape 24">
              <a:extLst>
                <a:ext uri="{FF2B5EF4-FFF2-40B4-BE49-F238E27FC236}">
                  <a16:creationId xmlns:a16="http://schemas.microsoft.com/office/drawing/2014/main" id="{52C9B038-1630-24DD-80CC-2B061CE5927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44548A81-E491-A563-7CDE-4F7D83A722FF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A6668A77-17F2-C41E-BCE0-3C6704A3085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Freeform: Shape 28">
              <a:extLst>
                <a:ext uri="{FF2B5EF4-FFF2-40B4-BE49-F238E27FC236}">
                  <a16:creationId xmlns:a16="http://schemas.microsoft.com/office/drawing/2014/main" id="{F5839DEE-E154-CE7A-C2F1-B0E2EA2708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050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5 Adjust - Bottom swirl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FB05953C-76E3-B003-5F41-2AB5C797FC3C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22D3269-2FEC-AF1D-00E9-BE3AE649E4B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5BA8C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49CE10A-4E3A-79B2-C7E0-90CF5AF798C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060193" y="3695341"/>
            <a:ext cx="8131808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B8D3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5F3C05-02D9-5597-BD01-13B98E215E7C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2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8FB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FEF9C693-F0FC-EF4E-3B59-85A7F441F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8EA819-DB9D-C6D5-60A2-768D87EEB7B9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DC8C8D-173B-A2E2-189E-E8BB9E3922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8826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6 Adjust - Bottom swirl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3030A44B-B2A3-A745-48B4-7E2EC82CA4D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387D3F89-019A-FC60-AC83-C90BA3F1C2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7B6E16F-9B18-74E0-A18A-6A3FF8D89B6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5BA8C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73CAAE3E-D49E-B7AA-7B1A-1B54CBA9CA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060193" y="3695341"/>
            <a:ext cx="8131808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B8D3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16BA4515-8E95-FA49-3688-959019365EEE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8FB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4C05ECF-6091-F59C-A1D2-B839BDEC16F2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日付、氏名、もしくはコンテンツ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DED2A8-9122-C648-1391-2B9FA24D71E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301148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7 Adjust - Top swirl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39E24924-144A-CEFD-1B36-00B6A2F36BD7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1"/>
            </p:custDataLst>
          </p:nvPr>
        </p:nvSpPr>
        <p:spPr>
          <a:xfrm>
            <a:off x="0" y="0"/>
            <a:ext cx="12192000" cy="6858124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9" name="Recolor 2">
            <a:extLst>
              <a:ext uri="{FF2B5EF4-FFF2-40B4-BE49-F238E27FC236}">
                <a16:creationId xmlns:a16="http://schemas.microsoft.com/office/drawing/2014/main" id="{47E681F3-A80C-A361-0F16-94417557516E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0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Recolor 3">
            <a:extLst>
              <a:ext uri="{FF2B5EF4-FFF2-40B4-BE49-F238E27FC236}">
                <a16:creationId xmlns:a16="http://schemas.microsoft.com/office/drawing/2014/main" id="{7B53F0BF-E31E-63C2-AF78-1D50EAEEF27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B6CF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Recolor 1">
            <a:extLst>
              <a:ext uri="{FF2B5EF4-FFF2-40B4-BE49-F238E27FC236}">
                <a16:creationId xmlns:a16="http://schemas.microsoft.com/office/drawing/2014/main" id="{F376552D-2C76-D26D-5D6E-C0457137B81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CC01011-640C-C45B-3875-59E3FD0051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1" name="Logo">
            <a:extLst>
              <a:ext uri="{FF2B5EF4-FFF2-40B4-BE49-F238E27FC236}">
                <a16:creationId xmlns:a16="http://schemas.microsoft.com/office/drawing/2014/main" id="{1C01C423-19D6-98C9-53D4-BB0CF7CF3264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454798" y="6300000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2E7AAD-8AEE-23C1-CF7C-B4573E2F134D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4536000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15450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8 Adjust - Top swirl img.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0904E94-267A-7C58-7217-7D96169A09E9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1"/>
            </p:custDataLst>
          </p:nvPr>
        </p:nvSpPr>
        <p:spPr>
          <a:xfrm>
            <a:off x="0" y="0"/>
            <a:ext cx="12192000" cy="6858124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0844918-0AD4-8D5C-3166-E565267912E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49A33F0A-9E24-624D-98B0-6FA9205B7E1A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3"/>
            </p:custDataLst>
          </p:nvPr>
        </p:nvSpPr>
        <p:spPr>
          <a:xfrm>
            <a:off x="454798" y="6300000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Recolor 2">
            <a:extLst>
              <a:ext uri="{FF2B5EF4-FFF2-40B4-BE49-F238E27FC236}">
                <a16:creationId xmlns:a16="http://schemas.microsoft.com/office/drawing/2014/main" id="{8D080C02-6E8F-56FF-1F13-8FC63441109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-2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Recolor 3">
            <a:extLst>
              <a:ext uri="{FF2B5EF4-FFF2-40B4-BE49-F238E27FC236}">
                <a16:creationId xmlns:a16="http://schemas.microsoft.com/office/drawing/2014/main" id="{AB8EC896-5EED-7DEF-F4EB-6C5F5AB3FBC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B6CF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Recolor 1">
            <a:extLst>
              <a:ext uri="{FF2B5EF4-FFF2-40B4-BE49-F238E27FC236}">
                <a16:creationId xmlns:a16="http://schemas.microsoft.com/office/drawing/2014/main" id="{DA76C3D8-26A4-B363-63F6-7041C5C839A1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A75117-24EA-B6DC-CE9F-AF6DA20B456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4536000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4528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9 Content Adjust -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0E0F45E0-B4D3-D7ED-14A7-1104244B4BB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6371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64D2869C-769F-B58B-A255-7FBD0AF739E8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Recolor 3">
            <a:extLst>
              <a:ext uri="{FF2B5EF4-FFF2-40B4-BE49-F238E27FC236}">
                <a16:creationId xmlns:a16="http://schemas.microsoft.com/office/drawing/2014/main" id="{96FA1FFA-900B-B933-FCFC-52218848824C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 rot="16200000" flipH="1">
            <a:off x="5183477" y="4025479"/>
            <a:ext cx="4421999" cy="1243048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18E9C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3" name="Recolor 1">
            <a:extLst>
              <a:ext uri="{FF2B5EF4-FFF2-40B4-BE49-F238E27FC236}">
                <a16:creationId xmlns:a16="http://schemas.microsoft.com/office/drawing/2014/main" id="{3FA93231-3DF9-DBCB-14F2-807EEDDA428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 rot="16200000" flipH="1">
            <a:off x="7026600" y="989403"/>
            <a:ext cx="2436001" cy="457199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34425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C29FCA-620F-DE0D-F159-AE9E544A09A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C461FA-BF51-4592-2276-99AE9726B20B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1736734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0 Content Adjust -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2B0927-7B39-F690-C9D3-00147A868594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Recolor 2">
            <a:extLst>
              <a:ext uri="{FF2B5EF4-FFF2-40B4-BE49-F238E27FC236}">
                <a16:creationId xmlns:a16="http://schemas.microsoft.com/office/drawing/2014/main" id="{4436AC51-49FF-A57D-43E4-9F359EDCEC86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1"/>
            </p:custDataLst>
          </p:nvPr>
        </p:nvSpPr>
        <p:spPr>
          <a:xfrm rot="5400000">
            <a:off x="8516399" y="3182402"/>
            <a:ext cx="6858001" cy="493200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6777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Recolor 3">
            <a:extLst>
              <a:ext uri="{FF2B5EF4-FFF2-40B4-BE49-F238E27FC236}">
                <a16:creationId xmlns:a16="http://schemas.microsoft.com/office/drawing/2014/main" id="{9859DDD9-6AD0-749F-DE29-4FF46FE26429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 rot="16200000" flipH="1">
            <a:off x="8845199" y="4004404"/>
            <a:ext cx="4421999" cy="1285200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8F8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Recolor 1">
            <a:extLst>
              <a:ext uri="{FF2B5EF4-FFF2-40B4-BE49-F238E27FC236}">
                <a16:creationId xmlns:a16="http://schemas.microsoft.com/office/drawing/2014/main" id="{EC96D5F8-83E9-62EA-DDB0-A675EA07072E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rot="16200000" flipH="1">
            <a:off x="10694998" y="1003802"/>
            <a:ext cx="2436001" cy="428400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21585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0A3CC6-CDA2-ACCC-4974-F10620A36332}"/>
              </a:ext>
            </a:extLst>
          </p:cNvPr>
          <p:cNvSpPr/>
          <p:nvPr userDrawn="1"/>
        </p:nvSpPr>
        <p:spPr>
          <a:xfrm>
            <a:off x="0" y="6356350"/>
            <a:ext cx="2135560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2DDA231D-4A13-2CC5-7EA8-62E2E126EBDE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6227B536-7C61-B918-D1E7-D083B3749C9E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BCDD2A20-BD39-7280-4AAA-9EB9E434700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1C3A1CE3-33EB-BCB9-0BBC-CE3593DFEAB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75FE9AB9-AF15-BEFD-41DE-952410216C7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087F45CA-CBD2-61CE-2903-253B44E8BCC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FA8D5191-8EC2-446A-394F-DC77670C306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7200" y="1196975"/>
            <a:ext cx="9579754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8A6F453-88ED-000A-2A11-19E6FD39A76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246915-3CF8-BD10-399A-CF367761652F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21585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6403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1 Content Adjust -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1775106B-CF2A-03B1-0FAD-A92E09AA6F7B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1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1" name="Recolor 3">
            <a:extLst>
              <a:ext uri="{FF2B5EF4-FFF2-40B4-BE49-F238E27FC236}">
                <a16:creationId xmlns:a16="http://schemas.microsoft.com/office/drawing/2014/main" id="{B36B1A78-DFAD-149C-0C21-1DAE5DEF8B34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2"/>
            </p:custDataLst>
          </p:nvPr>
        </p:nvSpPr>
        <p:spPr>
          <a:xfrm rot="16200000" flipH="1">
            <a:off x="5183477" y="4025479"/>
            <a:ext cx="4421999" cy="1243048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EDA37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Recolor 1">
            <a:extLst>
              <a:ext uri="{FF2B5EF4-FFF2-40B4-BE49-F238E27FC236}">
                <a16:creationId xmlns:a16="http://schemas.microsoft.com/office/drawing/2014/main" id="{16DD0D8D-9174-E70A-8CEC-A55206A289E1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rot="16200000" flipH="1">
            <a:off x="7026600" y="989403"/>
            <a:ext cx="2436001" cy="457199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DF621D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72AF93-EF4B-ECC4-5A12-A9CE28B8CFE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D2B56C39-ED13-377F-3016-A46A26C1B9A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8D908BE9-26D0-B4B3-CC4E-49CCBB8FFD5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617528C1-4112-7EEE-04A5-29172A8655C0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99CE8083-E1E4-00F5-3219-5236E36085CF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56D4244E-7F71-D8EA-A918-DEEF85BDCA6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876E4843-2F20-026B-2AB9-66390A90F8C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B619DEF-90DC-EDD7-E1AD-B2BA440E9566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6046208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38DBAF8-9699-97BD-7286-7EEF3127859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5400" y="376801"/>
            <a:ext cx="5808008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D421C5-06E7-D3C7-9B97-5B0024CBD262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DF621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97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2 Content Adjust - Title, Text; lin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898F61-379A-8A01-442D-05D9D13C4049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792FF54B-36C3-0B3D-35A3-891B7793A8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8C2F490A-BE5F-9845-B9A1-395849A8837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37131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Recolor 3">
            <a:extLst>
              <a:ext uri="{FF2B5EF4-FFF2-40B4-BE49-F238E27FC236}">
                <a16:creationId xmlns:a16="http://schemas.microsoft.com/office/drawing/2014/main" id="{4942B2B9-3202-B13B-A1CE-DE646FD30B1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059305" y="3695339"/>
            <a:ext cx="8132400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CA6A6F62-BA23-01EC-8CD8-AE028C01C8C1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0" y="5981574"/>
            <a:ext cx="12192000" cy="876427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18811715-4AF5-3190-510B-5500B2391945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620584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3 Content Adjust - Title, Text;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589A6EE-915F-4DC6-E865-52FB607413EC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 dirty="0"/>
              <a:t> </a:t>
            </a:r>
          </a:p>
        </p:txBody>
      </p:sp>
      <p:sp>
        <p:nvSpPr>
          <p:cNvPr id="14" name="Recolor 3">
            <a:extLst>
              <a:ext uri="{FF2B5EF4-FFF2-40B4-BE49-F238E27FC236}">
                <a16:creationId xmlns:a16="http://schemas.microsoft.com/office/drawing/2014/main" id="{5B339359-E096-48C1-E08C-29F5AA5B35F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4059305" y="3695339"/>
            <a:ext cx="8132400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39B55A02-DA05-418A-DB0E-2F51D611930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0" name="Logo">
            <a:extLst>
              <a:ext uri="{FF2B5EF4-FFF2-40B4-BE49-F238E27FC236}">
                <a16:creationId xmlns:a16="http://schemas.microsoft.com/office/drawing/2014/main" id="{3E792A37-09BE-9629-793B-ABD21820DFD0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37131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C908541-0EED-7EC1-9604-FDB6702572C0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0" y="5981574"/>
            <a:ext cx="12192000" cy="876427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BCD4B2A6-05DB-824D-545C-14EDCD5A0C09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6223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55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56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ja-JP" altLang="en-US"/>
              <a:t>テキスト</a:t>
            </a:r>
          </a:p>
          <a:p>
            <a:pPr lvl="1"/>
            <a:r>
              <a:rPr lang="ja-JP" altLang="en-US"/>
              <a:t>テキスト</a:t>
            </a:r>
          </a:p>
          <a:p>
            <a:pPr lvl="2"/>
            <a:r>
              <a:rPr lang="ja-JP" altLang="en-US"/>
              <a:t>テキスト</a:t>
            </a:r>
          </a:p>
          <a:p>
            <a:pPr lvl="3"/>
            <a:r>
              <a:rPr lang="ja-JP" altLang="en-US"/>
              <a:t>テキスト</a:t>
            </a:r>
          </a:p>
          <a:p>
            <a:pPr lvl="4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7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  <p:sldLayoutId id="2147483695" r:id="rId41"/>
    <p:sldLayoutId id="2147483696" r:id="rId42"/>
    <p:sldLayoutId id="2147483697" r:id="rId43"/>
    <p:sldLayoutId id="2147483706" r:id="rId44"/>
    <p:sldLayoutId id="2147483698" r:id="rId45"/>
    <p:sldLayoutId id="2147483719" r:id="rId46"/>
    <p:sldLayoutId id="2147483722" r:id="rId47"/>
    <p:sldLayoutId id="2147483699" r:id="rId48"/>
    <p:sldLayoutId id="2147483700" r:id="rId49"/>
    <p:sldLayoutId id="2147483701" r:id="rId50"/>
    <p:sldLayoutId id="2147483702" r:id="rId51"/>
    <p:sldLayoutId id="2147483704" r:id="rId52"/>
    <p:sldLayoutId id="2147483721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emf"/><Relationship Id="rId5" Type="http://schemas.openxmlformats.org/officeDocument/2006/relationships/chart" Target="../charts/char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4.png"/><Relationship Id="rId14" Type="http://schemas.microsoft.com/office/2007/relationships/diagramDrawing" Target="../diagrams/drawin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AACB784-3EC5-CE8E-B66B-7CF23D0E4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99" y="2088000"/>
            <a:ext cx="10119035" cy="1584000"/>
          </a:xfrm>
        </p:spPr>
        <p:txBody>
          <a:bodyPr anchor="ctr"/>
          <a:lstStyle/>
          <a:p>
            <a:r>
              <a:rPr lang="en-US" altLang="ja-JP" dirty="0">
                <a:latin typeface="+mn-lt"/>
              </a:rPr>
              <a:t>ISZE-ISZJ</a:t>
            </a:r>
            <a:br>
              <a:rPr lang="en-US" altLang="ja-JP" dirty="0">
                <a:latin typeface="+mn-lt"/>
              </a:rPr>
            </a:br>
            <a:r>
              <a:rPr lang="en-US" altLang="ja-JP" dirty="0">
                <a:latin typeface="+mn-lt"/>
              </a:rPr>
              <a:t>PMS sales promotion project</a:t>
            </a:r>
            <a:endParaRPr kumimoji="1" lang="ja-JP" altLang="en-US" dirty="0">
              <a:latin typeface="+mn-lt"/>
            </a:endParaRP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ACBF12FC-8BDE-483E-CEF4-4D56C0051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679999"/>
            <a:ext cx="4175713" cy="1227741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International Parts Sales Dept</a:t>
            </a:r>
          </a:p>
          <a:p>
            <a:r>
              <a:rPr kumimoji="1" lang="en-US" altLang="ja-JP" dirty="0"/>
              <a:t>Gr</a:t>
            </a:r>
            <a:r>
              <a:rPr lang="en-US" altLang="ja-JP" dirty="0"/>
              <a:t>oup No.1</a:t>
            </a:r>
          </a:p>
          <a:p>
            <a:r>
              <a:rPr kumimoji="1" lang="en-US" altLang="ja-JP" dirty="0"/>
              <a:t>15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Jan, 2026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966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97C5-EDBC-B273-E028-9AC7454C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FAEB3C9-FCC9-9BA9-41AD-9CB54FBC05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96975"/>
            <a:ext cx="11280002" cy="5490696"/>
          </a:xfrm>
        </p:spPr>
        <p:txBody>
          <a:bodyPr/>
          <a:lstStyle/>
          <a:p>
            <a:r>
              <a:rPr lang="en-US" dirty="0"/>
              <a:t>ISZE is required OP+20% in FY27, it is essential to plan activities and implement immediately </a:t>
            </a:r>
          </a:p>
          <a:p>
            <a:r>
              <a:rPr lang="en-US" dirty="0"/>
              <a:t>ISZJ would like to grasp if we have been able to have parts sales for demand in vehicle life cycle</a:t>
            </a:r>
          </a:p>
          <a:p>
            <a:r>
              <a:rPr lang="en-US" dirty="0"/>
              <a:t>At first, it focus on PMS*, which is required for stable vehicle operation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3753ECE-3F13-731B-C389-DEDCB78D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Research(PMS parts* sales)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DF1969-CCC8-BE99-47CD-60CB87726F7D}"/>
              </a:ext>
            </a:extLst>
          </p:cNvPr>
          <p:cNvSpPr txBox="1"/>
          <p:nvPr/>
        </p:nvSpPr>
        <p:spPr>
          <a:xfrm>
            <a:off x="6012750" y="841314"/>
            <a:ext cx="58923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*Periodic Maintenance Service parts(oil/fuel/air filter, clutch, brake) </a:t>
            </a:r>
            <a:endParaRPr kumimoji="1" lang="ja-JP" altLang="en-US" sz="1400" dirty="0" err="1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229922-2A03-5DCF-D23D-92F4D5E2FA9E}"/>
              </a:ext>
            </a:extLst>
          </p:cNvPr>
          <p:cNvSpPr txBox="1"/>
          <p:nvPr/>
        </p:nvSpPr>
        <p:spPr>
          <a:xfrm>
            <a:off x="631411" y="2465442"/>
            <a:ext cx="10672315" cy="102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u="sng" dirty="0"/>
              <a:t>Approach to each customer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/>
              <a:t>- PMS Coverage calculation method is just one possible approach to identify sales potential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/>
              <a:t>- After analysis, it should discuss how to address to market for taking sales potential</a:t>
            </a:r>
            <a:endParaRPr kumimoji="1" lang="ja-JP" altLang="en-US" dirty="0" err="1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C430C53-A218-4D6A-78EA-A3C214D6C053}"/>
              </a:ext>
            </a:extLst>
          </p:cNvPr>
          <p:cNvSpPr txBox="1"/>
          <p:nvPr/>
        </p:nvSpPr>
        <p:spPr>
          <a:xfrm>
            <a:off x="6592386" y="3640998"/>
            <a:ext cx="5520845" cy="254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【Action】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To grasp the sales potential and current sales situation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1) Vehicle UIO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2) Potential Units</a:t>
            </a:r>
            <a:r>
              <a:rPr kumimoji="1" lang="en-US" altLang="ja-JP" sz="1400" dirty="0"/>
              <a:t>(discuss the ratio depend on market)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3) Potential Demand</a:t>
            </a:r>
            <a:r>
              <a:rPr kumimoji="1" lang="en-US" altLang="ja-JP" sz="1400" dirty="0"/>
              <a:t>(discuss the frequency depend on market)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4) Actual Demand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5) Coverage Calculation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endParaRPr kumimoji="1" lang="en-US" altLang="ja-JP" sz="500" dirty="0"/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To plan sales promotion activities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107942-4BB4-3152-8722-6F41EA7B034C}"/>
              </a:ext>
            </a:extLst>
          </p:cNvPr>
          <p:cNvSpPr txBox="1"/>
          <p:nvPr/>
        </p:nvSpPr>
        <p:spPr>
          <a:xfrm>
            <a:off x="6348549" y="6544555"/>
            <a:ext cx="4674741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&lt;CV Conference 2025_breakout Parts session&gt;</a:t>
            </a:r>
            <a:endParaRPr kumimoji="1" lang="ja-JP" altLang="en-US" sz="1400" dirty="0" err="1"/>
          </a:p>
        </p:txBody>
      </p:sp>
      <p:pic>
        <p:nvPicPr>
          <p:cNvPr id="19" name="図 18" descr="タイムライ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1D17A55-AD76-4015-FD59-1205C15D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55" y="3640997"/>
            <a:ext cx="5650494" cy="31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4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98350D7-8D34-28F8-24A8-AEF5E2E110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>
                <a:latin typeface="+mn-ea"/>
              </a:rPr>
              <a:t>ISZE and ISZJ working together promoting activities in ITUK as a target market          (on a business trip basis)</a:t>
            </a:r>
          </a:p>
          <a:p>
            <a:r>
              <a:rPr lang="en-US" altLang="ja-JP" dirty="0">
                <a:latin typeface="+mn-ea"/>
              </a:rPr>
              <a:t>Target sales increase(QTY): filters +1%</a:t>
            </a:r>
            <a:r>
              <a:rPr lang="ja-JP" altLang="en-US" dirty="0">
                <a:latin typeface="+mn-ea"/>
              </a:rPr>
              <a:t>、</a:t>
            </a:r>
            <a:r>
              <a:rPr lang="en-US" altLang="ja-JP" dirty="0">
                <a:latin typeface="+mn-ea"/>
              </a:rPr>
              <a:t>clutch</a:t>
            </a:r>
            <a:r>
              <a:rPr lang="ja-JP" altLang="en-US" dirty="0">
                <a:latin typeface="+mn-ea"/>
              </a:rPr>
              <a:t>、 </a:t>
            </a:r>
            <a:r>
              <a:rPr lang="en-US" altLang="ja-JP" dirty="0">
                <a:latin typeface="+mn-ea"/>
              </a:rPr>
              <a:t>brake +3%</a:t>
            </a:r>
            <a:endParaRPr kumimoji="1" lang="ja-JP" altLang="en-US" dirty="0">
              <a:latin typeface="+mn-ea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3DF13B7-BB0B-9895-BB35-6E8C7BBE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 and Activities </a:t>
            </a:r>
            <a:r>
              <a:rPr lang="en-US" altLang="ja-JP" dirty="0"/>
              <a:t>in </a:t>
            </a:r>
            <a:r>
              <a:rPr kumimoji="1" lang="en-US" altLang="ja-JP" dirty="0"/>
              <a:t>ITUK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EA2961-4ED0-A824-929B-618112943C65}"/>
              </a:ext>
            </a:extLst>
          </p:cNvPr>
          <p:cNvSpPr txBox="1"/>
          <p:nvPr/>
        </p:nvSpPr>
        <p:spPr>
          <a:xfrm>
            <a:off x="441802" y="2358975"/>
            <a:ext cx="11481820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90000"/>
              </a:lnSpc>
              <a:spcBef>
                <a:spcPts val="600"/>
              </a:spcBef>
              <a:buAutoNum type="arabicParenR"/>
            </a:pPr>
            <a:r>
              <a:rPr kumimoji="1" lang="en-US" altLang="ja-JP" sz="2000" dirty="0">
                <a:latin typeface="+mn-ea"/>
              </a:rPr>
              <a:t>PMS parts sales data analysis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latin typeface="+mn-ea"/>
              </a:rPr>
              <a:t>  </a:t>
            </a:r>
            <a:r>
              <a:rPr kumimoji="1" lang="en-US" altLang="ja-JP" sz="1600" dirty="0">
                <a:latin typeface="+mn-ea"/>
              </a:rPr>
              <a:t>-</a:t>
            </a:r>
            <a:r>
              <a:rPr kumimoji="1" lang="ja-JP" altLang="en-US" sz="1600" dirty="0">
                <a:latin typeface="+mn-ea"/>
              </a:rPr>
              <a:t> </a:t>
            </a:r>
            <a:r>
              <a:rPr kumimoji="1" lang="en-US" altLang="ja-JP" sz="1600" dirty="0">
                <a:latin typeface="+mn-ea"/>
              </a:rPr>
              <a:t>select target vehicle model(N35/N75?) and part numbers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endParaRPr kumimoji="1" lang="en-US" altLang="ja-JP" sz="500" dirty="0">
              <a:latin typeface="+mn-ea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latin typeface="+mn-ea"/>
              </a:rPr>
              <a:t>2) Market analysis and plan activities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- PMS parts sales promotion</a:t>
            </a:r>
            <a:r>
              <a:rPr kumimoji="1" lang="ja-JP" altLang="en-US" sz="1600" dirty="0">
                <a:latin typeface="+mn-ea"/>
              </a:rPr>
              <a:t>、</a:t>
            </a:r>
            <a:r>
              <a:rPr kumimoji="1" lang="en-US" altLang="ja-JP" sz="1600" dirty="0">
                <a:latin typeface="+mn-ea"/>
              </a:rPr>
              <a:t>ISZE and ISZE visit ITUK in order to plan activities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ja-JP" altLang="en-US" sz="1600" dirty="0">
                <a:latin typeface="+mn-ea"/>
              </a:rPr>
              <a:t>    </a:t>
            </a:r>
            <a:r>
              <a:rPr kumimoji="1" lang="en-US" altLang="ja-JP" sz="1600" dirty="0">
                <a:latin typeface="+mn-ea"/>
              </a:rPr>
              <a:t>It is essential to delve deeper into the market and DB/DLR activities to identify effective actions     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  external/internal sales enhance, sales to independent repair facility, service contract with fleet </a:t>
            </a:r>
            <a:r>
              <a:rPr kumimoji="1" lang="en-US" altLang="ja-JP" sz="1600" dirty="0" err="1">
                <a:latin typeface="+mn-ea"/>
              </a:rPr>
              <a:t>etc</a:t>
            </a:r>
            <a:endParaRPr kumimoji="1" lang="en-US" altLang="ja-JP" sz="1600" dirty="0">
              <a:latin typeface="+mn-ea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  Clarifying points of appeal and presenting concrete measures</a:t>
            </a:r>
          </a:p>
        </p:txBody>
      </p:sp>
      <p:graphicFrame>
        <p:nvGraphicFramePr>
          <p:cNvPr id="5" name="表 33">
            <a:extLst>
              <a:ext uri="{FF2B5EF4-FFF2-40B4-BE49-F238E27FC236}">
                <a16:creationId xmlns:a16="http://schemas.microsoft.com/office/drawing/2014/main" id="{6EB5E495-E998-6F34-A1F9-7076E982B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660557"/>
              </p:ext>
            </p:extLst>
          </p:nvPr>
        </p:nvGraphicFramePr>
        <p:xfrm>
          <a:off x="621051" y="5088209"/>
          <a:ext cx="11338351" cy="1737360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181627">
                  <a:extLst>
                    <a:ext uri="{9D8B030D-6E8A-4147-A177-3AD203B41FA5}">
                      <a16:colId xmlns:a16="http://schemas.microsoft.com/office/drawing/2014/main" val="1625872594"/>
                    </a:ext>
                  </a:extLst>
                </a:gridCol>
                <a:gridCol w="346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0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3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728668424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80691489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54553126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54824215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756360252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0979780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518732420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46889623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382492835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61268403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1314905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93895957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3993188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595235376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312164114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412710974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72262193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895040419"/>
                    </a:ext>
                  </a:extLst>
                </a:gridCol>
              </a:tblGrid>
              <a:tr h="215396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26.1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3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FY27 1Q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400" b="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400" b="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3Q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4Q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Explain activity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en-US" altLang="ja-JP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parts sales analysis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Market analysis and plan activities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4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Implement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activities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78689"/>
                  </a:ext>
                </a:extLst>
              </a:tr>
            </a:tbl>
          </a:graphicData>
        </a:graphic>
      </p:graphicFrame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ACADAB6-484D-C5CB-056A-C14B1EC7C355}"/>
              </a:ext>
            </a:extLst>
          </p:cNvPr>
          <p:cNvSpPr/>
          <p:nvPr/>
        </p:nvSpPr>
        <p:spPr>
          <a:xfrm>
            <a:off x="3366002" y="5445709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DC3A43-8E48-E5C1-AEF5-E27EFE184071}"/>
              </a:ext>
            </a:extLst>
          </p:cNvPr>
          <p:cNvSpPr txBox="1"/>
          <p:nvPr/>
        </p:nvSpPr>
        <p:spPr>
          <a:xfrm>
            <a:off x="3088920" y="5566607"/>
            <a:ext cx="1290970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Proposal to ITUK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8" name="ホームベース 9">
            <a:extLst>
              <a:ext uri="{FF2B5EF4-FFF2-40B4-BE49-F238E27FC236}">
                <a16:creationId xmlns:a16="http://schemas.microsoft.com/office/drawing/2014/main" id="{C33CFF6B-4DF7-BA35-03FD-D97839E74A78}"/>
              </a:ext>
            </a:extLst>
          </p:cNvPr>
          <p:cNvSpPr/>
          <p:nvPr/>
        </p:nvSpPr>
        <p:spPr>
          <a:xfrm>
            <a:off x="3513785" y="5780503"/>
            <a:ext cx="1332000" cy="161252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data collection/analysis</a:t>
            </a:r>
            <a:endParaRPr kumimoji="0" lang="ja-JP" altLang="en-US" sz="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ホームベース 9">
            <a:extLst>
              <a:ext uri="{FF2B5EF4-FFF2-40B4-BE49-F238E27FC236}">
                <a16:creationId xmlns:a16="http://schemas.microsoft.com/office/drawing/2014/main" id="{1D342F14-FC2B-A79B-3328-51604CDD292B}"/>
              </a:ext>
            </a:extLst>
          </p:cNvPr>
          <p:cNvSpPr/>
          <p:nvPr/>
        </p:nvSpPr>
        <p:spPr>
          <a:xfrm>
            <a:off x="4901434" y="6147079"/>
            <a:ext cx="1476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study item/activity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40C307BD-1722-26DF-D727-73947A6F5665}"/>
              </a:ext>
            </a:extLst>
          </p:cNvPr>
          <p:cNvSpPr/>
          <p:nvPr/>
        </p:nvSpPr>
        <p:spPr>
          <a:xfrm>
            <a:off x="5684993" y="6418979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5F349B-9E96-771F-E15A-840EE132657A}"/>
              </a:ext>
            </a:extLst>
          </p:cNvPr>
          <p:cNvSpPr txBox="1"/>
          <p:nvPr/>
        </p:nvSpPr>
        <p:spPr>
          <a:xfrm>
            <a:off x="5421115" y="6571776"/>
            <a:ext cx="863587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discussion</a:t>
            </a:r>
          </a:p>
        </p:txBody>
      </p:sp>
      <p:sp>
        <p:nvSpPr>
          <p:cNvPr id="14" name="ホームベース 9">
            <a:extLst>
              <a:ext uri="{FF2B5EF4-FFF2-40B4-BE49-F238E27FC236}">
                <a16:creationId xmlns:a16="http://schemas.microsoft.com/office/drawing/2014/main" id="{17274B36-D54B-3858-BCD3-419319C7716C}"/>
              </a:ext>
            </a:extLst>
          </p:cNvPr>
          <p:cNvSpPr/>
          <p:nvPr/>
        </p:nvSpPr>
        <p:spPr>
          <a:xfrm>
            <a:off x="7264898" y="6606613"/>
            <a:ext cx="4680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implementation/feedback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ホームベース 9">
            <a:extLst>
              <a:ext uri="{FF2B5EF4-FFF2-40B4-BE49-F238E27FC236}">
                <a16:creationId xmlns:a16="http://schemas.microsoft.com/office/drawing/2014/main" id="{323F9541-070F-3122-EAB2-A59EC6D30556}"/>
              </a:ext>
            </a:extLst>
          </p:cNvPr>
          <p:cNvSpPr/>
          <p:nvPr/>
        </p:nvSpPr>
        <p:spPr>
          <a:xfrm>
            <a:off x="3513785" y="6157322"/>
            <a:ext cx="1332000" cy="161252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m</a:t>
            </a: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arket</a:t>
            </a:r>
            <a:r>
              <a:rPr kumimoji="0" lang="en-US" altLang="ja-JP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analysis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88B65E0-DA4A-F649-AE81-486E8924EEB2}"/>
              </a:ext>
            </a:extLst>
          </p:cNvPr>
          <p:cNvSpPr txBox="1"/>
          <p:nvPr/>
        </p:nvSpPr>
        <p:spPr>
          <a:xfrm>
            <a:off x="532816" y="4827065"/>
            <a:ext cx="2752437" cy="263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200" dirty="0">
                <a:latin typeface="+mn-ea"/>
              </a:rPr>
              <a:t>Tentative Schedule</a:t>
            </a:r>
            <a:endParaRPr kumimoji="1" lang="ja-JP" altLang="en-US" sz="1200" dirty="0" err="1">
              <a:latin typeface="+mn-ea"/>
            </a:endParaRP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AEC5B680-578B-9E1B-C4BE-E76D3D02360D}"/>
              </a:ext>
            </a:extLst>
          </p:cNvPr>
          <p:cNvSpPr/>
          <p:nvPr/>
        </p:nvSpPr>
        <p:spPr>
          <a:xfrm>
            <a:off x="4722030" y="6430982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318F1F9-1E4B-7494-ED73-EE38D9C1095E}"/>
              </a:ext>
            </a:extLst>
          </p:cNvPr>
          <p:cNvSpPr txBox="1"/>
          <p:nvPr/>
        </p:nvSpPr>
        <p:spPr>
          <a:xfrm>
            <a:off x="4455762" y="6562340"/>
            <a:ext cx="845919" cy="3450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proposal/discussion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E363887E-0ED2-7220-4178-988023E85FCF}"/>
              </a:ext>
            </a:extLst>
          </p:cNvPr>
          <p:cNvSpPr/>
          <p:nvPr/>
        </p:nvSpPr>
        <p:spPr>
          <a:xfrm>
            <a:off x="6280741" y="6414364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9A56003-84D0-DC3A-29E8-F8F8700CDFE2}"/>
              </a:ext>
            </a:extLst>
          </p:cNvPr>
          <p:cNvSpPr txBox="1"/>
          <p:nvPr/>
        </p:nvSpPr>
        <p:spPr>
          <a:xfrm>
            <a:off x="6379756" y="6342476"/>
            <a:ext cx="863587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decision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21" name="ホームベース 9">
            <a:extLst>
              <a:ext uri="{FF2B5EF4-FFF2-40B4-BE49-F238E27FC236}">
                <a16:creationId xmlns:a16="http://schemas.microsoft.com/office/drawing/2014/main" id="{57B22ECE-5D7B-AFB9-B332-A452E816FE9B}"/>
              </a:ext>
            </a:extLst>
          </p:cNvPr>
          <p:cNvSpPr/>
          <p:nvPr/>
        </p:nvSpPr>
        <p:spPr>
          <a:xfrm>
            <a:off x="6512134" y="6601999"/>
            <a:ext cx="720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p</a:t>
            </a:r>
            <a:r>
              <a:rPr kumimoji="0" lang="en-US" altLang="ja-JP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reparation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08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F22F-232D-AFF6-3FB7-8115703F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F12877F-1905-1080-3472-4DE28BF15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96975"/>
            <a:ext cx="11280002" cy="2393689"/>
          </a:xfrm>
        </p:spPr>
        <p:txBody>
          <a:bodyPr/>
          <a:lstStyle/>
          <a:p>
            <a:r>
              <a:rPr lang="en-US" dirty="0"/>
              <a:t>It focus on the most popular vehicle model to check sales potential with lower workload.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98BD70D-8E2E-1785-2218-5DED7186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Research(PMS parts* sales)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AD8803-974B-01D8-F6E7-F70D32398D6F}"/>
              </a:ext>
            </a:extLst>
          </p:cNvPr>
          <p:cNvSpPr txBox="1"/>
          <p:nvPr/>
        </p:nvSpPr>
        <p:spPr>
          <a:xfrm>
            <a:off x="6012750" y="947642"/>
            <a:ext cx="58923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*Periodic Maintenance Service parts(oil/fuel/air filter, clutch, brake) </a:t>
            </a:r>
            <a:endParaRPr kumimoji="1" lang="ja-JP" altLang="en-US" sz="1400" dirty="0" err="1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8BFEBE-39A5-7BA7-CBC8-C50FBE1DCDB0}"/>
              </a:ext>
            </a:extLst>
          </p:cNvPr>
          <p:cNvSpPr txBox="1"/>
          <p:nvPr/>
        </p:nvSpPr>
        <p:spPr>
          <a:xfrm>
            <a:off x="631411" y="1590116"/>
            <a:ext cx="1127371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u="sng" dirty="0"/>
              <a:t>Process</a:t>
            </a:r>
          </a:p>
          <a:p>
            <a:pPr marL="457200" indent="-457200" algn="l">
              <a:lnSpc>
                <a:spcPct val="90000"/>
              </a:lnSpc>
              <a:spcBef>
                <a:spcPts val="600"/>
              </a:spcBef>
              <a:buAutoNum type="arabicParenR"/>
            </a:pPr>
            <a:r>
              <a:rPr kumimoji="1" lang="en-US" altLang="ja-JP" sz="1600" dirty="0"/>
              <a:t>check popular vehicle model from VIN and select the target</a:t>
            </a:r>
            <a:r>
              <a:rPr kumimoji="1" lang="en-US" altLang="ja-JP" sz="1600" dirty="0">
                <a:solidFill>
                  <a:srgbClr val="0070C0"/>
                </a:solidFill>
              </a:rPr>
              <a:t>【(1) vehicle UIO】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decide potential UIO and replacement frequency </a:t>
            </a:r>
            <a:r>
              <a:rPr kumimoji="1" lang="en-US" altLang="ja-JP" sz="1600" dirty="0">
                <a:solidFill>
                  <a:srgbClr val="0070C0"/>
                </a:solidFill>
              </a:rPr>
              <a:t>【(2) Potential Units/(3) Potential Demand】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find part numbers of PMS items in EQ-HIT and check sales QTY</a:t>
            </a:r>
            <a:r>
              <a:rPr kumimoji="1" lang="en-US" altLang="ja-JP" sz="1600" dirty="0">
                <a:solidFill>
                  <a:srgbClr val="0070C0"/>
                </a:solidFill>
              </a:rPr>
              <a:t>【(4) Actual Demand】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calculate coverage </a:t>
            </a:r>
            <a:r>
              <a:rPr kumimoji="1" lang="en-US" altLang="ja-JP" sz="1600" dirty="0">
                <a:solidFill>
                  <a:srgbClr val="0070C0"/>
                </a:solidFill>
              </a:rPr>
              <a:t>【(5) Coverage Calculation】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study effective promotion activities and implement it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F4B8FD8-B948-E66D-877C-1BAFDACB23B8}"/>
              </a:ext>
            </a:extLst>
          </p:cNvPr>
          <p:cNvSpPr txBox="1"/>
          <p:nvPr/>
        </p:nvSpPr>
        <p:spPr>
          <a:xfrm>
            <a:off x="3178628" y="35322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Ex) JAANLR87EM7105702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3D79B2A-13E4-E5FC-29FC-BF19328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405556"/>
              </p:ext>
            </p:extLst>
          </p:nvPr>
        </p:nvGraphicFramePr>
        <p:xfrm>
          <a:off x="3458093" y="3983805"/>
          <a:ext cx="82623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218">
                  <a:extLst>
                    <a:ext uri="{9D8B030D-6E8A-4147-A177-3AD203B41FA5}">
                      <a16:colId xmlns:a16="http://schemas.microsoft.com/office/drawing/2014/main" val="803432604"/>
                    </a:ext>
                  </a:extLst>
                </a:gridCol>
                <a:gridCol w="927418">
                  <a:extLst>
                    <a:ext uri="{9D8B030D-6E8A-4147-A177-3AD203B41FA5}">
                      <a16:colId xmlns:a16="http://schemas.microsoft.com/office/drawing/2014/main" val="1811687961"/>
                    </a:ext>
                  </a:extLst>
                </a:gridCol>
                <a:gridCol w="1643834">
                  <a:extLst>
                    <a:ext uri="{9D8B030D-6E8A-4147-A177-3AD203B41FA5}">
                      <a16:colId xmlns:a16="http://schemas.microsoft.com/office/drawing/2014/main" val="2400881456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408553518"/>
                    </a:ext>
                  </a:extLst>
                </a:gridCol>
                <a:gridCol w="819468">
                  <a:extLst>
                    <a:ext uri="{9D8B030D-6E8A-4147-A177-3AD203B41FA5}">
                      <a16:colId xmlns:a16="http://schemas.microsoft.com/office/drawing/2014/main" val="3413390262"/>
                    </a:ext>
                  </a:extLst>
                </a:gridCol>
                <a:gridCol w="1492568">
                  <a:extLst>
                    <a:ext uri="{9D8B030D-6E8A-4147-A177-3AD203B41FA5}">
                      <a16:colId xmlns:a16="http://schemas.microsoft.com/office/drawing/2014/main" val="3344876400"/>
                    </a:ext>
                  </a:extLst>
                </a:gridCol>
                <a:gridCol w="820939">
                  <a:extLst>
                    <a:ext uri="{9D8B030D-6E8A-4147-A177-3AD203B41FA5}">
                      <a16:colId xmlns:a16="http://schemas.microsoft.com/office/drawing/2014/main" val="4147506920"/>
                    </a:ext>
                  </a:extLst>
                </a:gridCol>
              </a:tblGrid>
              <a:tr h="163173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Category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Genuine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BVP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Qty/Unit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Replacement(km)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Qty/Year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89147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Oil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58855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Fuel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50396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Air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31197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Clutch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Disc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80685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Brake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Shoe front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65142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Shoe rear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91288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Lining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060240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5E35FFF-DFDF-B12B-6939-F4A48E5C6607}"/>
              </a:ext>
            </a:extLst>
          </p:cNvPr>
          <p:cNvSpPr/>
          <p:nvPr/>
        </p:nvSpPr>
        <p:spPr>
          <a:xfrm>
            <a:off x="4302826" y="5068389"/>
            <a:ext cx="940526" cy="110997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29C76C-4EBB-8A01-C71A-53D3AB973957}"/>
              </a:ext>
            </a:extLst>
          </p:cNvPr>
          <p:cNvSpPr txBox="1"/>
          <p:nvPr/>
        </p:nvSpPr>
        <p:spPr>
          <a:xfrm>
            <a:off x="3445028" y="6140445"/>
            <a:ext cx="6274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We have to discuss which item should focus on in UK market</a:t>
            </a:r>
          </a:p>
          <a:p>
            <a:r>
              <a:rPr lang="en-US" altLang="ja-JP" sz="1200" dirty="0"/>
              <a:t> - clutch: clutch disc, pressure plate, release bearing, pilot bearing </a:t>
            </a:r>
            <a:r>
              <a:rPr lang="en-US" altLang="ja-JP" sz="1200" dirty="0" err="1"/>
              <a:t>etc</a:t>
            </a:r>
            <a:endParaRPr lang="en-US" altLang="ja-JP" sz="1200" dirty="0"/>
          </a:p>
          <a:p>
            <a:r>
              <a:rPr lang="en-US" altLang="ja-JP" sz="1200" dirty="0"/>
              <a:t> - brake:  brake ASM, Kit, Lining, pad, caliper, rotor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5E0DB74-5E15-45B0-4335-D7AB982C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99" y="3537964"/>
            <a:ext cx="2244816" cy="32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8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0DA9326-5AB6-9FA8-000E-7BEA8F22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733" y="2861965"/>
            <a:ext cx="8532000" cy="1224000"/>
          </a:xfrm>
        </p:spPr>
        <p:txBody>
          <a:bodyPr anchor="ctr"/>
          <a:lstStyle/>
          <a:p>
            <a:pPr algn="ctr"/>
            <a:r>
              <a:rPr lang="en-US" altLang="ja-JP" dirty="0"/>
              <a:t>(reference)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CV Conference presentation material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031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E9EF1-C9BB-220B-7A2F-774F1F328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8" y="1052736"/>
            <a:ext cx="10828706" cy="1609862"/>
          </a:xfrm>
        </p:spPr>
        <p:txBody>
          <a:bodyPr/>
          <a:lstStyle/>
          <a:p>
            <a:r>
              <a:rPr lang="en-US" dirty="0"/>
              <a:t>PMS Parts Sales </a:t>
            </a:r>
            <a:r>
              <a:rPr lang="en-US" altLang="ja-JP" dirty="0"/>
              <a:t>Potential</a:t>
            </a:r>
            <a:endParaRPr lang="en-US" dirty="0"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B5789351-0DE9-7553-4194-0AABF8B028E3}"/>
              </a:ext>
            </a:extLst>
          </p:cNvPr>
          <p:cNvSpPr txBox="1">
            <a:spLocks/>
          </p:cNvSpPr>
          <p:nvPr/>
        </p:nvSpPr>
        <p:spPr>
          <a:xfrm>
            <a:off x="526518" y="4293096"/>
            <a:ext cx="4382366" cy="120640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226800" indent="-22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0000"/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4400" indent="-237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12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Tomoaki</a:t>
            </a:r>
            <a:r>
              <a:rPr lang="ja-JP" altLang="en-US" dirty="0"/>
              <a:t> </a:t>
            </a:r>
            <a:r>
              <a:rPr lang="en-US" altLang="ja-JP" dirty="0"/>
              <a:t>Hiratsuka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International</a:t>
            </a:r>
            <a:r>
              <a:rPr lang="ja-JP" altLang="en-US" dirty="0"/>
              <a:t> </a:t>
            </a:r>
            <a:r>
              <a:rPr lang="en-US" altLang="ja-JP" dirty="0"/>
              <a:t>Parts</a:t>
            </a:r>
            <a:r>
              <a:rPr lang="ja-JP" altLang="en-US" dirty="0"/>
              <a:t> </a:t>
            </a:r>
            <a:r>
              <a:rPr lang="en-US" altLang="ja-JP" dirty="0"/>
              <a:t>Sales</a:t>
            </a:r>
            <a:r>
              <a:rPr lang="ja-JP" altLang="en-US" dirty="0"/>
              <a:t> </a:t>
            </a:r>
            <a:r>
              <a:rPr lang="en-US" altLang="ja-JP" dirty="0"/>
              <a:t>Dept.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Isuzu Motors Limited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28</a:t>
            </a:r>
            <a:r>
              <a:rPr lang="en-US" altLang="ja-JP" baseline="30000" dirty="0"/>
              <a:t>th</a:t>
            </a:r>
            <a:r>
              <a:rPr lang="en-US" altLang="ja-JP" dirty="0"/>
              <a:t> Oct 2025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674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51A0547-6111-B4C8-1DCF-4A0FA2528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90" y="1045154"/>
            <a:ext cx="8700454" cy="4253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4F47386-5BEC-1FB8-DF20-B813E0BCC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448" y="3630045"/>
            <a:ext cx="1277649" cy="171784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AA39E3C-6715-F783-20F5-9C26BF2E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CV Conference Review (PMS Coverage)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F6E2C9-82A5-00AE-74A8-DF7C6BCBCF49}"/>
              </a:ext>
            </a:extLst>
          </p:cNvPr>
          <p:cNvSpPr txBox="1"/>
          <p:nvPr/>
        </p:nvSpPr>
        <p:spPr>
          <a:xfrm>
            <a:off x="491890" y="5408213"/>
            <a:ext cx="6903374" cy="4347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rgbClr val="5D6874"/>
                </a:solidFill>
              </a:rPr>
              <a:t>*From CV Conference Material</a:t>
            </a:r>
            <a:endParaRPr kumimoji="1" lang="ja-JP" altLang="en-US" sz="2000" dirty="0">
              <a:solidFill>
                <a:srgbClr val="5D6874"/>
              </a:solidFill>
            </a:endParaRPr>
          </a:p>
        </p:txBody>
      </p:sp>
      <p:sp>
        <p:nvSpPr>
          <p:cNvPr id="9" name="思考の吹き出し: 雲形 8">
            <a:extLst>
              <a:ext uri="{FF2B5EF4-FFF2-40B4-BE49-F238E27FC236}">
                <a16:creationId xmlns:a16="http://schemas.microsoft.com/office/drawing/2014/main" id="{1F11E514-BBC9-5252-073A-E62EB8B31B5A}"/>
              </a:ext>
            </a:extLst>
          </p:cNvPr>
          <p:cNvSpPr/>
          <p:nvPr/>
        </p:nvSpPr>
        <p:spPr>
          <a:xfrm>
            <a:off x="6744072" y="1450139"/>
            <a:ext cx="4281205" cy="1800200"/>
          </a:xfrm>
          <a:prstGeom prst="cloudCallout">
            <a:avLst>
              <a:gd name="adj1" fmla="val 31691"/>
              <a:gd name="adj2" fmla="val 77986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is this Cover Ratio calculated?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3AC3BD-856A-17A3-C93B-4FF1F6540E69}"/>
              </a:ext>
            </a:extLst>
          </p:cNvPr>
          <p:cNvSpPr txBox="1"/>
          <p:nvPr/>
        </p:nvSpPr>
        <p:spPr>
          <a:xfrm>
            <a:off x="2657064" y="5960912"/>
            <a:ext cx="9333951" cy="3711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Periodic Maintenance Service Parts. (Ex. Filter, Clutch, Brakes, Oil, etc.)   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22373B7D-8B5A-4697-BEB3-55DC9FF86089}"/>
              </a:ext>
            </a:extLst>
          </p:cNvPr>
          <p:cNvSpPr/>
          <p:nvPr/>
        </p:nvSpPr>
        <p:spPr>
          <a:xfrm>
            <a:off x="1216904" y="5960913"/>
            <a:ext cx="1440160" cy="371141"/>
          </a:xfrm>
          <a:prstGeom prst="homePlate">
            <a:avLst>
              <a:gd name="adj" fmla="val 0"/>
            </a:avLst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PMS Parts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A962D4A6-178A-F23B-C04F-E0B820B10770}"/>
              </a:ext>
            </a:extLst>
          </p:cNvPr>
          <p:cNvSpPr/>
          <p:nvPr/>
        </p:nvSpPr>
        <p:spPr>
          <a:xfrm>
            <a:off x="1216904" y="6384299"/>
            <a:ext cx="1440160" cy="371141"/>
          </a:xfrm>
          <a:prstGeom prst="homePlate">
            <a:avLst>
              <a:gd name="adj" fmla="val 0"/>
            </a:avLst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Vehicle UIO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98D4C5-0588-4A67-0487-CD08A59B58D1}"/>
              </a:ext>
            </a:extLst>
          </p:cNvPr>
          <p:cNvSpPr txBox="1"/>
          <p:nvPr/>
        </p:nvSpPr>
        <p:spPr>
          <a:xfrm>
            <a:off x="2657063" y="6384299"/>
            <a:ext cx="9333951" cy="3711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Vehicle Units in Operation. (Number of vehicles still running in market)  </a:t>
            </a:r>
          </a:p>
        </p:txBody>
      </p:sp>
    </p:spTree>
    <p:extLst>
      <p:ext uri="{BB962C8B-B14F-4D97-AF65-F5344CB8AC3E}">
        <p14:creationId xmlns:p14="http://schemas.microsoft.com/office/powerpoint/2010/main" val="82135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372B-FD50-A454-6C30-26AD81FC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CEDAAE5-F205-B214-C310-69D94C6277A1}"/>
              </a:ext>
            </a:extLst>
          </p:cNvPr>
          <p:cNvSpPr/>
          <p:nvPr/>
        </p:nvSpPr>
        <p:spPr>
          <a:xfrm>
            <a:off x="6150002" y="1052736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1EC03B-D844-508F-7E2E-3194D8C7E942}"/>
              </a:ext>
            </a:extLst>
          </p:cNvPr>
          <p:cNvSpPr/>
          <p:nvPr/>
        </p:nvSpPr>
        <p:spPr>
          <a:xfrm>
            <a:off x="470392" y="1052736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B245CCB-D0B8-D2BA-AE97-7F6724A6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Coverage Calculation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E4B5BA-CFA8-7D54-3D69-F5447F7D759C}"/>
              </a:ext>
            </a:extLst>
          </p:cNvPr>
          <p:cNvSpPr/>
          <p:nvPr/>
        </p:nvSpPr>
        <p:spPr>
          <a:xfrm>
            <a:off x="470392" y="1052737"/>
            <a:ext cx="5562622" cy="266032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61BCC2E3-F9B5-CB84-7BFB-76A115D6E86E}"/>
              </a:ext>
            </a:extLst>
          </p:cNvPr>
          <p:cNvSpPr/>
          <p:nvPr/>
        </p:nvSpPr>
        <p:spPr>
          <a:xfrm>
            <a:off x="6150001" y="1052736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(3) Potential Demand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6BD74E-E0CC-9035-956A-74ECA9358A35}"/>
              </a:ext>
            </a:extLst>
          </p:cNvPr>
          <p:cNvSpPr/>
          <p:nvPr/>
        </p:nvSpPr>
        <p:spPr>
          <a:xfrm>
            <a:off x="470392" y="3934438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4661BA9-BE92-3C1F-02CF-74A4F87C1FC9}"/>
              </a:ext>
            </a:extLst>
          </p:cNvPr>
          <p:cNvSpPr/>
          <p:nvPr/>
        </p:nvSpPr>
        <p:spPr>
          <a:xfrm>
            <a:off x="6150002" y="3934437"/>
            <a:ext cx="5562622" cy="961969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B2558501-B0E6-CE48-210D-85D8D2C14A86}"/>
              </a:ext>
            </a:extLst>
          </p:cNvPr>
          <p:cNvSpPr/>
          <p:nvPr/>
        </p:nvSpPr>
        <p:spPr>
          <a:xfrm>
            <a:off x="479374" y="3936749"/>
            <a:ext cx="3925707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(2) Potential Units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983641BF-F794-7C0E-FB2E-FB160D3C507D}"/>
              </a:ext>
            </a:extLst>
          </p:cNvPr>
          <p:cNvSpPr/>
          <p:nvPr/>
        </p:nvSpPr>
        <p:spPr>
          <a:xfrm>
            <a:off x="6150001" y="3936749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(4) Actual Demand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534DAB8-A57B-1786-5310-145FA19EBFB7}"/>
              </a:ext>
            </a:extLst>
          </p:cNvPr>
          <p:cNvSpPr/>
          <p:nvPr/>
        </p:nvSpPr>
        <p:spPr>
          <a:xfrm>
            <a:off x="470391" y="1052736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(1) Vehicle UIO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21378B9-9738-1FD6-4628-610433518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616110"/>
            <a:ext cx="3722462" cy="2181952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59365EB-9D57-BDE5-C0FA-886DD051A271}"/>
              </a:ext>
            </a:extLst>
          </p:cNvPr>
          <p:cNvSpPr/>
          <p:nvPr/>
        </p:nvSpPr>
        <p:spPr>
          <a:xfrm>
            <a:off x="3386183" y="1912863"/>
            <a:ext cx="887663" cy="1512168"/>
          </a:xfrm>
          <a:prstGeom prst="roundRect">
            <a:avLst/>
          </a:prstGeom>
          <a:noFill/>
          <a:ln w="38100">
            <a:solidFill>
              <a:srgbClr val="B5091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2159A48-86B8-5FEC-4850-489926D5EB12}"/>
              </a:ext>
            </a:extLst>
          </p:cNvPr>
          <p:cNvSpPr txBox="1"/>
          <p:nvPr/>
        </p:nvSpPr>
        <p:spPr>
          <a:xfrm>
            <a:off x="4252428" y="1408409"/>
            <a:ext cx="1885142" cy="9647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Based on </a:t>
            </a:r>
            <a:r>
              <a:rPr lang="en-US" altLang="ja-JP" sz="2000" b="1" dirty="0">
                <a:solidFill>
                  <a:srgbClr val="B5091F"/>
                </a:solidFill>
              </a:rPr>
              <a:t>UIO within 5 years</a:t>
            </a:r>
            <a:r>
              <a:rPr lang="en-US" altLang="ja-JP" sz="2000" dirty="0">
                <a:solidFill>
                  <a:schemeClr val="tx1"/>
                </a:solidFill>
              </a:rPr>
              <a:t> as of 2024.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0DC3722-2AAF-967C-9E38-73FCD1217ABD}"/>
              </a:ext>
            </a:extLst>
          </p:cNvPr>
          <p:cNvSpPr txBox="1"/>
          <p:nvPr/>
        </p:nvSpPr>
        <p:spPr>
          <a:xfrm>
            <a:off x="470392" y="4465949"/>
            <a:ext cx="4896543" cy="40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Assuming </a:t>
            </a:r>
            <a:r>
              <a:rPr lang="en-US" altLang="ja-JP" sz="2000" b="1" dirty="0">
                <a:solidFill>
                  <a:srgbClr val="B5091F"/>
                </a:solidFill>
              </a:rPr>
              <a:t>50% of the UIO</a:t>
            </a:r>
            <a:r>
              <a:rPr lang="en-US" altLang="ja-JP" sz="2000" dirty="0">
                <a:solidFill>
                  <a:schemeClr val="tx1"/>
                </a:solidFill>
              </a:rPr>
              <a:t> within 5 years.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F17BFE5B-04F0-E188-55A6-81B9826C1452}"/>
              </a:ext>
            </a:extLst>
          </p:cNvPr>
          <p:cNvGraphicFramePr>
            <a:graphicFrameLocks noGrp="1"/>
          </p:cNvGraphicFramePr>
          <p:nvPr/>
        </p:nvGraphicFramePr>
        <p:xfrm>
          <a:off x="551384" y="4845197"/>
          <a:ext cx="52512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68">
                  <a:extLst>
                    <a:ext uri="{9D8B030D-6E8A-4147-A177-3AD203B41FA5}">
                      <a16:colId xmlns:a16="http://schemas.microsoft.com/office/drawing/2014/main" val="3291369496"/>
                    </a:ext>
                  </a:extLst>
                </a:gridCol>
                <a:gridCol w="1298068">
                  <a:extLst>
                    <a:ext uri="{9D8B030D-6E8A-4147-A177-3AD203B41FA5}">
                      <a16:colId xmlns:a16="http://schemas.microsoft.com/office/drawing/2014/main" val="3431188332"/>
                    </a:ext>
                  </a:extLst>
                </a:gridCol>
                <a:gridCol w="1298068">
                  <a:extLst>
                    <a:ext uri="{9D8B030D-6E8A-4147-A177-3AD203B41FA5}">
                      <a16:colId xmlns:a16="http://schemas.microsoft.com/office/drawing/2014/main" val="1400193068"/>
                    </a:ext>
                  </a:extLst>
                </a:gridCol>
                <a:gridCol w="1357072">
                  <a:extLst>
                    <a:ext uri="{9D8B030D-6E8A-4147-A177-3AD203B41FA5}">
                      <a16:colId xmlns:a16="http://schemas.microsoft.com/office/drawing/2014/main" val="3529527417"/>
                    </a:ext>
                  </a:extLst>
                </a:gridCol>
              </a:tblGrid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CY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UIO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Total</a:t>
                      </a:r>
                      <a:endParaRPr lang="en-US" altLang="ja-JP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Potential Unit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427548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2020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2,476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ＭＳ ゴシック" panose="020B0609070205080204" pitchFamily="49" charset="-128"/>
                        </a:rPr>
                        <a:t>19,926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000" b="1" u="none" strike="noStrike" dirty="0">
                          <a:solidFill>
                            <a:srgbClr val="B5091F"/>
                          </a:solidFill>
                          <a:effectLst/>
                          <a:latin typeface="+mj-lt"/>
                        </a:rPr>
                        <a:t>9,963</a:t>
                      </a:r>
                      <a:endParaRPr lang="en-US" altLang="ja-JP" sz="2000" b="1" i="0" u="none" strike="noStrike" dirty="0">
                        <a:solidFill>
                          <a:srgbClr val="B5091F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881624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2021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4,460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252491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2022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4,892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81978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2023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4,117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43505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2024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3,981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92949"/>
                  </a:ext>
                </a:extLst>
              </a:tr>
            </a:tbl>
          </a:graphicData>
        </a:graphic>
      </p:graphicFrame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7D28EEB-BD0A-2797-CD65-CBF8DB143E1C}"/>
              </a:ext>
            </a:extLst>
          </p:cNvPr>
          <p:cNvCxnSpPr>
            <a:cxnSpLocks/>
          </p:cNvCxnSpPr>
          <p:nvPr/>
        </p:nvCxnSpPr>
        <p:spPr>
          <a:xfrm>
            <a:off x="4125297" y="5912719"/>
            <a:ext cx="674559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A85C7AB-EBA1-456E-206B-E3767EBA339A}"/>
              </a:ext>
            </a:extLst>
          </p:cNvPr>
          <p:cNvSpPr/>
          <p:nvPr/>
        </p:nvSpPr>
        <p:spPr>
          <a:xfrm>
            <a:off x="4439816" y="4867293"/>
            <a:ext cx="1362844" cy="1828799"/>
          </a:xfrm>
          <a:prstGeom prst="rect">
            <a:avLst/>
          </a:prstGeom>
          <a:noFill/>
          <a:ln w="57150">
            <a:solidFill>
              <a:srgbClr val="B50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36" name="右中かっこ 35">
            <a:extLst>
              <a:ext uri="{FF2B5EF4-FFF2-40B4-BE49-F238E27FC236}">
                <a16:creationId xmlns:a16="http://schemas.microsoft.com/office/drawing/2014/main" id="{846DD447-03F4-F363-1F71-2B3C9E07C1DA}"/>
              </a:ext>
            </a:extLst>
          </p:cNvPr>
          <p:cNvSpPr/>
          <p:nvPr/>
        </p:nvSpPr>
        <p:spPr>
          <a:xfrm>
            <a:off x="2812902" y="5200222"/>
            <a:ext cx="454002" cy="1427453"/>
          </a:xfrm>
          <a:prstGeom prst="rightBrac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Picture 4" descr="画像が生成されました">
            <a:extLst>
              <a:ext uri="{FF2B5EF4-FFF2-40B4-BE49-F238E27FC236}">
                <a16:creationId xmlns:a16="http://schemas.microsoft.com/office/drawing/2014/main" id="{868F6A8A-E692-543C-3E6C-442D46E44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20156" r="63786" b="29350"/>
          <a:stretch>
            <a:fillRect/>
          </a:stretch>
        </p:blipFill>
        <p:spPr bwMode="auto">
          <a:xfrm>
            <a:off x="10096641" y="2800209"/>
            <a:ext cx="864600" cy="82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画像が生成されました">
            <a:extLst>
              <a:ext uri="{FF2B5EF4-FFF2-40B4-BE49-F238E27FC236}">
                <a16:creationId xmlns:a16="http://schemas.microsoft.com/office/drawing/2014/main" id="{CDB822B9-A004-B4F2-C05B-5CE4DFE23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22700" r="40901" b="32151"/>
          <a:stretch>
            <a:fillRect/>
          </a:stretch>
        </p:blipFill>
        <p:spPr bwMode="auto">
          <a:xfrm rot="715736">
            <a:off x="7382984" y="2693696"/>
            <a:ext cx="659110" cy="104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画像が生成されました">
            <a:extLst>
              <a:ext uri="{FF2B5EF4-FFF2-40B4-BE49-F238E27FC236}">
                <a16:creationId xmlns:a16="http://schemas.microsoft.com/office/drawing/2014/main" id="{F2FAB603-5F09-B202-BC9E-CF926DD0A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0" t="22700" r="3800" b="31101"/>
          <a:stretch>
            <a:fillRect/>
          </a:stretch>
        </p:blipFill>
        <p:spPr bwMode="auto">
          <a:xfrm>
            <a:off x="8648452" y="2766179"/>
            <a:ext cx="947332" cy="9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18ECC9-9854-663B-66B5-8A3B70AE6F25}"/>
              </a:ext>
            </a:extLst>
          </p:cNvPr>
          <p:cNvSpPr txBox="1"/>
          <p:nvPr/>
        </p:nvSpPr>
        <p:spPr>
          <a:xfrm>
            <a:off x="6158988" y="1575391"/>
            <a:ext cx="548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Potential Units × </a:t>
            </a:r>
            <a:r>
              <a:rPr lang="en-US" altLang="ja-JP" sz="2000" b="1" dirty="0">
                <a:solidFill>
                  <a:srgbClr val="B5091F"/>
                </a:solidFill>
              </a:rPr>
              <a:t>*Replacement Frequency</a:t>
            </a:r>
            <a:endParaRPr lang="en-US" altLang="ja-JP" sz="20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B5D97AD-9C45-C5CC-13BB-172E527E1A4B}"/>
              </a:ext>
            </a:extLst>
          </p:cNvPr>
          <p:cNvSpPr txBox="1"/>
          <p:nvPr/>
        </p:nvSpPr>
        <p:spPr>
          <a:xfrm>
            <a:off x="6137570" y="4465949"/>
            <a:ext cx="4896543" cy="40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Based on 2024CY IML</a:t>
            </a:r>
            <a:r>
              <a:rPr lang="ja-JP" altLang="en-US" sz="2000" dirty="0">
                <a:solidFill>
                  <a:schemeClr val="tx1"/>
                </a:solidFill>
              </a:rPr>
              <a:t> </a:t>
            </a:r>
            <a:r>
              <a:rPr lang="en-US" altLang="ja-JP" sz="2000" b="1" dirty="0">
                <a:solidFill>
                  <a:srgbClr val="B5091F"/>
                </a:solidFill>
              </a:rPr>
              <a:t>Order Result</a:t>
            </a:r>
            <a:r>
              <a:rPr lang="en-US" altLang="ja-JP" sz="2000" dirty="0">
                <a:solidFill>
                  <a:schemeClr val="tx1"/>
                </a:solidFill>
              </a:rPr>
              <a:t>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37A8FD1-518C-8367-7EC8-CFB5CD968A1A}"/>
              </a:ext>
            </a:extLst>
          </p:cNvPr>
          <p:cNvSpPr/>
          <p:nvPr/>
        </p:nvSpPr>
        <p:spPr>
          <a:xfrm>
            <a:off x="6158988" y="4968349"/>
            <a:ext cx="5553636" cy="1770432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45" name="矢印: 五方向 44">
            <a:extLst>
              <a:ext uri="{FF2B5EF4-FFF2-40B4-BE49-F238E27FC236}">
                <a16:creationId xmlns:a16="http://schemas.microsoft.com/office/drawing/2014/main" id="{30225F4F-9B17-7317-01BF-936E0C70B19D}"/>
              </a:ext>
            </a:extLst>
          </p:cNvPr>
          <p:cNvSpPr/>
          <p:nvPr/>
        </p:nvSpPr>
        <p:spPr>
          <a:xfrm>
            <a:off x="6158987" y="4971492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(5) Coverage Calculation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CC86FEE-B4A8-F12B-37FF-B670395CF622}"/>
              </a:ext>
            </a:extLst>
          </p:cNvPr>
          <p:cNvSpPr txBox="1"/>
          <p:nvPr/>
        </p:nvSpPr>
        <p:spPr>
          <a:xfrm>
            <a:off x="6312025" y="6221838"/>
            <a:ext cx="2222467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Potential Demand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E169C8C-681D-555E-CDB1-531840D9A5F0}"/>
              </a:ext>
            </a:extLst>
          </p:cNvPr>
          <p:cNvSpPr txBox="1"/>
          <p:nvPr/>
        </p:nvSpPr>
        <p:spPr>
          <a:xfrm>
            <a:off x="6312024" y="5573727"/>
            <a:ext cx="2222467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Actual Demand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24FA0AF-6C54-B669-8AF3-0D877C649ECD}"/>
              </a:ext>
            </a:extLst>
          </p:cNvPr>
          <p:cNvCxnSpPr>
            <a:cxnSpLocks/>
          </p:cNvCxnSpPr>
          <p:nvPr/>
        </p:nvCxnSpPr>
        <p:spPr>
          <a:xfrm>
            <a:off x="6240016" y="6093296"/>
            <a:ext cx="2345825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次の値と等しい 51">
            <a:extLst>
              <a:ext uri="{FF2B5EF4-FFF2-40B4-BE49-F238E27FC236}">
                <a16:creationId xmlns:a16="http://schemas.microsoft.com/office/drawing/2014/main" id="{BE49BDF9-02D5-AAA3-AB6E-FB31668A8A48}"/>
              </a:ext>
            </a:extLst>
          </p:cNvPr>
          <p:cNvSpPr/>
          <p:nvPr/>
        </p:nvSpPr>
        <p:spPr>
          <a:xfrm>
            <a:off x="8585841" y="5800367"/>
            <a:ext cx="832288" cy="581468"/>
          </a:xfrm>
          <a:prstGeom prst="mathEqual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graphicFrame>
        <p:nvGraphicFramePr>
          <p:cNvPr id="55" name="グラフ 54">
            <a:extLst>
              <a:ext uri="{FF2B5EF4-FFF2-40B4-BE49-F238E27FC236}">
                <a16:creationId xmlns:a16="http://schemas.microsoft.com/office/drawing/2014/main" id="{FCD7EB3F-DACB-4865-894A-FECEF42E2ECB}"/>
              </a:ext>
            </a:extLst>
          </p:cNvPr>
          <p:cNvGraphicFramePr>
            <a:graphicFrameLocks/>
          </p:cNvGraphicFramePr>
          <p:nvPr/>
        </p:nvGraphicFramePr>
        <p:xfrm>
          <a:off x="9794706" y="5222317"/>
          <a:ext cx="1541340" cy="1553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F2310F6-ACEA-95C6-125B-860F54017F1E}"/>
              </a:ext>
            </a:extLst>
          </p:cNvPr>
          <p:cNvSpPr txBox="1"/>
          <p:nvPr/>
        </p:nvSpPr>
        <p:spPr>
          <a:xfrm>
            <a:off x="9582229" y="5877272"/>
            <a:ext cx="1981283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PMS </a:t>
            </a:r>
            <a:r>
              <a:rPr kumimoji="1" lang="en-US" altLang="ja-JP" sz="2000" dirty="0">
                <a:solidFill>
                  <a:schemeClr val="tx1"/>
                </a:solidFill>
              </a:rPr>
              <a:t>Coverage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92C369-1932-3476-650D-CFBB7C76F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4838" y="2316520"/>
            <a:ext cx="1597146" cy="1426784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6139C3-A583-F403-D1AF-8B51984601FD}"/>
              </a:ext>
            </a:extLst>
          </p:cNvPr>
          <p:cNvSpPr txBox="1"/>
          <p:nvPr/>
        </p:nvSpPr>
        <p:spPr>
          <a:xfrm>
            <a:off x="6190499" y="1981793"/>
            <a:ext cx="5481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*Calculated based on 80,000km annual milage and items recommended replacement interval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2C8B79-F51D-A5C4-EC44-62B05EEE8C9D}"/>
              </a:ext>
            </a:extLst>
          </p:cNvPr>
          <p:cNvSpPr txBox="1"/>
          <p:nvPr/>
        </p:nvSpPr>
        <p:spPr>
          <a:xfrm>
            <a:off x="3953844" y="5483572"/>
            <a:ext cx="854476" cy="244066"/>
          </a:xfrm>
          <a:prstGeom prst="rect">
            <a:avLst/>
          </a:prstGeom>
          <a:solidFill>
            <a:schemeClr val="bg1"/>
          </a:solidFill>
          <a:ln>
            <a:solidFill>
              <a:srgbClr val="C74657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1600" dirty="0">
                <a:solidFill>
                  <a:schemeClr val="tx1"/>
                </a:solidFill>
              </a:rPr>
              <a:t>50%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0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5" grpId="0"/>
      <p:bldP spid="26" grpId="0"/>
      <p:bldP spid="35" grpId="0" animBg="1"/>
      <p:bldP spid="36" grpId="0" animBg="1"/>
      <p:bldP spid="41" grpId="0"/>
      <p:bldP spid="43" grpId="0"/>
      <p:bldP spid="44" grpId="0" animBg="1"/>
      <p:bldP spid="45" grpId="0" animBg="1"/>
      <p:bldP spid="46" grpId="0" animBg="1"/>
      <p:bldP spid="47" grpId="0" animBg="1"/>
      <p:bldP spid="52" grpId="0" animBg="1"/>
      <p:bldGraphic spid="55" grpId="0">
        <p:bldAsOne/>
      </p:bldGraphic>
      <p:bldP spid="53" grpId="0" animBg="1"/>
      <p:bldP spid="21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AF68-9F63-880C-2730-C7B37670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02C56E-1059-E315-14D5-38CA7B88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20" y="1150425"/>
            <a:ext cx="1601340" cy="16013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195E89A-DA37-6633-B26C-95F0B021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10" y="3429000"/>
            <a:ext cx="1268760" cy="12687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71C1848-3C7A-E1EA-8C87-E0545AD54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0" y="5413104"/>
            <a:ext cx="1167961" cy="1167961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DA6E205-E61F-0047-1AD4-CEDF72E4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Coverage Calculation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F4C023-5BB0-2F86-99EB-FB9793B912FD}"/>
              </a:ext>
            </a:extLst>
          </p:cNvPr>
          <p:cNvSpPr/>
          <p:nvPr/>
        </p:nvSpPr>
        <p:spPr>
          <a:xfrm>
            <a:off x="1847528" y="1124744"/>
            <a:ext cx="9865096" cy="604855"/>
          </a:xfrm>
          <a:prstGeom prst="rect">
            <a:avLst/>
          </a:prstGeom>
          <a:solidFill>
            <a:srgbClr val="B5BBC2">
              <a:alpha val="20000"/>
            </a:srgbClr>
          </a:solidFill>
          <a:ln w="7620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The cover ratio calculation method introduced earlier is </a:t>
            </a: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just one possible approach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.</a:t>
            </a:r>
            <a:endParaRPr kumimoji="1" lang="es-419" altLang="ja-JP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6886E0-02F4-3C68-3A17-5EA580AB3838}"/>
              </a:ext>
            </a:extLst>
          </p:cNvPr>
          <p:cNvSpPr/>
          <p:nvPr/>
        </p:nvSpPr>
        <p:spPr>
          <a:xfrm>
            <a:off x="1847528" y="1873615"/>
            <a:ext cx="9865096" cy="735698"/>
          </a:xfrm>
          <a:prstGeom prst="rect">
            <a:avLst/>
          </a:prstGeom>
          <a:solidFill>
            <a:srgbClr val="B5BBC2">
              <a:alpha val="20000"/>
            </a:srgbClr>
          </a:solidFill>
          <a:ln w="7620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Actual UIO and Replacement Frequency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 of each item differ across markets, 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depending on the local environment and operating conditions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.</a:t>
            </a:r>
            <a:endParaRPr kumimoji="1" lang="es-419" altLang="ja-JP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664D61A0-A32A-0F7B-4C9B-AB1BA0AF4C64}"/>
              </a:ext>
            </a:extLst>
          </p:cNvPr>
          <p:cNvSpPr/>
          <p:nvPr/>
        </p:nvSpPr>
        <p:spPr>
          <a:xfrm rot="5400000">
            <a:off x="6410883" y="2656229"/>
            <a:ext cx="450354" cy="648072"/>
          </a:xfrm>
          <a:prstGeom prst="chevron">
            <a:avLst/>
          </a:prstGeom>
          <a:solidFill>
            <a:srgbClr val="C74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648C558E-7258-3735-DA64-BACA7AE454B5}"/>
              </a:ext>
            </a:extLst>
          </p:cNvPr>
          <p:cNvSpPr/>
          <p:nvPr/>
        </p:nvSpPr>
        <p:spPr>
          <a:xfrm rot="5400000">
            <a:off x="6410883" y="3011375"/>
            <a:ext cx="450354" cy="648072"/>
          </a:xfrm>
          <a:prstGeom prst="chevron">
            <a:avLst/>
          </a:prstGeom>
          <a:solidFill>
            <a:srgbClr val="C74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DFB2FE-230D-93BE-E8D4-739F104EA576}"/>
              </a:ext>
            </a:extLst>
          </p:cNvPr>
          <p:cNvSpPr/>
          <p:nvPr/>
        </p:nvSpPr>
        <p:spPr>
          <a:xfrm>
            <a:off x="1847528" y="3717032"/>
            <a:ext cx="9865096" cy="604855"/>
          </a:xfrm>
          <a:prstGeom prst="rect">
            <a:avLst/>
          </a:prstGeom>
          <a:solidFill>
            <a:srgbClr val="D36B79">
              <a:alpha val="20000"/>
            </a:srgbClr>
          </a:solidFill>
          <a:ln w="76200" cmpd="tri">
            <a:solidFill>
              <a:srgbClr val="C43A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rgbClr val="B5091F"/>
                </a:solidFill>
              </a:rPr>
              <a:t>Discussion of cover ratio figures is out of scope </a:t>
            </a:r>
            <a:r>
              <a:rPr kumimoji="1" lang="en-US" altLang="ja-JP" sz="2000" dirty="0">
                <a:solidFill>
                  <a:schemeClr val="tx1"/>
                </a:solidFill>
              </a:rPr>
              <a:t>for this presentation.</a:t>
            </a:r>
            <a:endParaRPr kumimoji="1" lang="es-419" altLang="ja-JP" sz="2000" dirty="0">
              <a:solidFill>
                <a:schemeClr val="tx1"/>
              </a:solidFill>
            </a:endParaRPr>
          </a:p>
        </p:txBody>
      </p:sp>
      <p:sp>
        <p:nvSpPr>
          <p:cNvPr id="16" name="矢印: 山形 15">
            <a:extLst>
              <a:ext uri="{FF2B5EF4-FFF2-40B4-BE49-F238E27FC236}">
                <a16:creationId xmlns:a16="http://schemas.microsoft.com/office/drawing/2014/main" id="{98FEF78D-A35A-A257-71FF-3098EC333AA7}"/>
              </a:ext>
            </a:extLst>
          </p:cNvPr>
          <p:cNvSpPr/>
          <p:nvPr/>
        </p:nvSpPr>
        <p:spPr>
          <a:xfrm rot="5400000">
            <a:off x="6410883" y="4365941"/>
            <a:ext cx="450354" cy="648072"/>
          </a:xfrm>
          <a:prstGeom prst="chevron">
            <a:avLst/>
          </a:prstGeom>
          <a:solidFill>
            <a:srgbClr val="40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7" name="矢印: 山形 16">
            <a:extLst>
              <a:ext uri="{FF2B5EF4-FFF2-40B4-BE49-F238E27FC236}">
                <a16:creationId xmlns:a16="http://schemas.microsoft.com/office/drawing/2014/main" id="{3C3E88C6-AB48-7D72-4603-8F9F496DA4DE}"/>
              </a:ext>
            </a:extLst>
          </p:cNvPr>
          <p:cNvSpPr/>
          <p:nvPr/>
        </p:nvSpPr>
        <p:spPr>
          <a:xfrm rot="5400000">
            <a:off x="6410883" y="4721087"/>
            <a:ext cx="450354" cy="648072"/>
          </a:xfrm>
          <a:prstGeom prst="chevron">
            <a:avLst/>
          </a:prstGeom>
          <a:solidFill>
            <a:srgbClr val="40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BDC302C-D12A-B7EE-01D9-21D366B47D06}"/>
              </a:ext>
            </a:extLst>
          </p:cNvPr>
          <p:cNvSpPr/>
          <p:nvPr/>
        </p:nvSpPr>
        <p:spPr>
          <a:xfrm>
            <a:off x="1847528" y="5413104"/>
            <a:ext cx="9865096" cy="604855"/>
          </a:xfrm>
          <a:prstGeom prst="rect">
            <a:avLst/>
          </a:prstGeom>
          <a:solidFill>
            <a:srgbClr val="72C2D6">
              <a:alpha val="20000"/>
            </a:srgbClr>
          </a:solidFill>
          <a:ln w="76200" cmpd="tri">
            <a:solidFill>
              <a:srgbClr val="0026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Purpose is to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make a relative comparison</a:t>
            </a:r>
            <a:r>
              <a:rPr kumimoji="1" lang="en-US" altLang="ja-JP" sz="20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ja-JP" sz="2000" dirty="0">
                <a:solidFill>
                  <a:schemeClr val="tx1"/>
                </a:solidFill>
              </a:rPr>
              <a:t>of cover ratios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under same conditions.</a:t>
            </a:r>
            <a:endParaRPr kumimoji="1" lang="es-419" altLang="ja-JP" sz="2000" b="1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12386D4-771A-5234-B100-94817AEE1A1E}"/>
              </a:ext>
            </a:extLst>
          </p:cNvPr>
          <p:cNvSpPr/>
          <p:nvPr/>
        </p:nvSpPr>
        <p:spPr>
          <a:xfrm>
            <a:off x="1847622" y="6141187"/>
            <a:ext cx="9868345" cy="604855"/>
          </a:xfrm>
          <a:prstGeom prst="rect">
            <a:avLst/>
          </a:prstGeom>
          <a:solidFill>
            <a:srgbClr val="72C2D6">
              <a:alpha val="20000"/>
            </a:srgbClr>
          </a:solidFill>
          <a:ln w="76200" cmpd="tri">
            <a:solidFill>
              <a:srgbClr val="0026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To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lead the discussion </a:t>
            </a:r>
            <a:r>
              <a:rPr kumimoji="1" lang="en-US" altLang="ja-JP" sz="2000" dirty="0">
                <a:solidFill>
                  <a:schemeClr val="tx1"/>
                </a:solidFill>
              </a:rPr>
              <a:t>toward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identifying the sales potential of PMS parts</a:t>
            </a:r>
            <a:r>
              <a:rPr kumimoji="1" lang="en-US" altLang="ja-JP" sz="2000" dirty="0">
                <a:solidFill>
                  <a:schemeClr val="tx1"/>
                </a:solidFill>
              </a:rPr>
              <a:t>.</a:t>
            </a:r>
            <a:endParaRPr kumimoji="1" lang="es-419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1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27D6-EDCF-CC67-2EEB-6FFF8A5B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CE417B3-F4B6-BE37-3A19-B3E2E2BE8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64" y="3616702"/>
            <a:ext cx="3196674" cy="3196674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E944598-67FB-0CF5-7A36-64494274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4EFB4B1-37DB-F5D7-E4ED-2480BBA1B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710011"/>
            <a:ext cx="7920880" cy="471480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C44A20-A51E-BCB8-BF1C-4300BCCCF2F3}"/>
              </a:ext>
            </a:extLst>
          </p:cNvPr>
          <p:cNvSpPr txBox="1"/>
          <p:nvPr/>
        </p:nvSpPr>
        <p:spPr>
          <a:xfrm rot="1078222">
            <a:off x="5551721" y="1610500"/>
            <a:ext cx="208823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Sample</a:t>
            </a:r>
            <a:endParaRPr kumimoji="1" lang="ja-JP" altLang="en-US" sz="3600" b="1" dirty="0" err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思考の吹き出し: 雲形 7">
            <a:extLst>
              <a:ext uri="{FF2B5EF4-FFF2-40B4-BE49-F238E27FC236}">
                <a16:creationId xmlns:a16="http://schemas.microsoft.com/office/drawing/2014/main" id="{27799E0A-FD73-E6EF-F251-67A5D0C0B1A9}"/>
              </a:ext>
            </a:extLst>
          </p:cNvPr>
          <p:cNvSpPr/>
          <p:nvPr/>
        </p:nvSpPr>
        <p:spPr>
          <a:xfrm>
            <a:off x="7503427" y="1257467"/>
            <a:ext cx="4281205" cy="1999195"/>
          </a:xfrm>
          <a:prstGeom prst="cloudCallout">
            <a:avLst>
              <a:gd name="adj1" fmla="val 8306"/>
              <a:gd name="adj2" fmla="val 87533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r>
              <a:rPr kumimoji="1" lang="en-US" altLang="ja-JP" sz="2800" dirty="0">
                <a:solidFill>
                  <a:srgbClr val="FDD3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Fuel Filter </a:t>
            </a: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 is much lower than </a:t>
            </a:r>
            <a:r>
              <a:rPr kumimoji="1" lang="en-US" altLang="ja-JP" sz="2800" dirty="0">
                <a:solidFill>
                  <a:srgbClr val="FDD3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Oil Filter</a:t>
            </a: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02919001-5979-99B7-72CF-4EC45B69BA51}"/>
              </a:ext>
            </a:extLst>
          </p:cNvPr>
          <p:cNvSpPr/>
          <p:nvPr/>
        </p:nvSpPr>
        <p:spPr>
          <a:xfrm>
            <a:off x="470391" y="1052736"/>
            <a:ext cx="5481593" cy="500087"/>
          </a:xfrm>
          <a:prstGeom prst="homePlate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PMS Items Comparison Approach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03A746-CE57-CE2A-C916-1E1D50FE5609}"/>
              </a:ext>
            </a:extLst>
          </p:cNvPr>
          <p:cNvSpPr/>
          <p:nvPr/>
        </p:nvSpPr>
        <p:spPr>
          <a:xfrm>
            <a:off x="911425" y="2257064"/>
            <a:ext cx="1440160" cy="523864"/>
          </a:xfrm>
          <a:prstGeom prst="rect">
            <a:avLst/>
          </a:prstGeom>
          <a:noFill/>
          <a:ln w="57150">
            <a:solidFill>
              <a:srgbClr val="FDD3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046E8-0AA6-47AF-C9E9-D79ABC87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5C78558F-07AD-405A-A291-8C5F1B4B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63" y="4516120"/>
            <a:ext cx="2241825" cy="2241825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B637A1D3-D208-E91C-B7A5-142DDC9A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FDBCB9D-523F-C363-470D-1B1BD0C2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1772816"/>
            <a:ext cx="11212490" cy="2905530"/>
          </a:xfrm>
          <a:prstGeom prst="rect">
            <a:avLst/>
          </a:prstGeom>
          <a:ln>
            <a:solidFill>
              <a:srgbClr val="A3AAB3"/>
            </a:solidFill>
          </a:ln>
        </p:spPr>
      </p:pic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A67D3232-4990-09B4-D2B4-F0CFF4B3D3EA}"/>
              </a:ext>
            </a:extLst>
          </p:cNvPr>
          <p:cNvSpPr/>
          <p:nvPr/>
        </p:nvSpPr>
        <p:spPr>
          <a:xfrm>
            <a:off x="470391" y="1052736"/>
            <a:ext cx="4833521" cy="500087"/>
          </a:xfrm>
          <a:prstGeom prst="homePlate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Market Comparison Approach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BE0372-7672-B509-E4E2-B9CEE2BDC241}"/>
              </a:ext>
            </a:extLst>
          </p:cNvPr>
          <p:cNvSpPr txBox="1"/>
          <p:nvPr/>
        </p:nvSpPr>
        <p:spPr>
          <a:xfrm rot="1078222">
            <a:off x="9916034" y="1360458"/>
            <a:ext cx="208823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Sample</a:t>
            </a:r>
            <a:endParaRPr kumimoji="1" lang="ja-JP" altLang="en-US" sz="3600" b="1" dirty="0" err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1CA95CA-02CC-A629-C6CF-87365F437C71}"/>
              </a:ext>
            </a:extLst>
          </p:cNvPr>
          <p:cNvSpPr txBox="1"/>
          <p:nvPr/>
        </p:nvSpPr>
        <p:spPr>
          <a:xfrm>
            <a:off x="4007768" y="6426017"/>
            <a:ext cx="5184575" cy="38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Distributor’s Parts Manager from Market “Y”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思考の吹き出し: 雲形 13">
            <a:extLst>
              <a:ext uri="{FF2B5EF4-FFF2-40B4-BE49-F238E27FC236}">
                <a16:creationId xmlns:a16="http://schemas.microsoft.com/office/drawing/2014/main" id="{3046805D-C49F-883C-21EC-076F851E328E}"/>
              </a:ext>
            </a:extLst>
          </p:cNvPr>
          <p:cNvSpPr/>
          <p:nvPr/>
        </p:nvSpPr>
        <p:spPr>
          <a:xfrm>
            <a:off x="470391" y="4898339"/>
            <a:ext cx="4545489" cy="1499685"/>
          </a:xfrm>
          <a:prstGeom prst="cloudCallout">
            <a:avLst>
              <a:gd name="adj1" fmla="val 67045"/>
              <a:gd name="adj2" fmla="val -7991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region, Similar UIO - Yet low Cover Ratio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思考の吹き出し: 雲形 16">
            <a:extLst>
              <a:ext uri="{FF2B5EF4-FFF2-40B4-BE49-F238E27FC236}">
                <a16:creationId xmlns:a16="http://schemas.microsoft.com/office/drawing/2014/main" id="{5A287DDD-D701-1935-AADC-116BDCECBF53}"/>
              </a:ext>
            </a:extLst>
          </p:cNvPr>
          <p:cNvSpPr/>
          <p:nvPr/>
        </p:nvSpPr>
        <p:spPr>
          <a:xfrm>
            <a:off x="8040216" y="4826331"/>
            <a:ext cx="3651293" cy="1499685"/>
          </a:xfrm>
          <a:prstGeom prst="cloudCallout">
            <a:avLst>
              <a:gd name="adj1" fmla="val -66395"/>
              <a:gd name="adj2" fmla="val 3526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potential do we have?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60AAA7-FC5F-051B-84D8-B9425EC42B63}"/>
              </a:ext>
            </a:extLst>
          </p:cNvPr>
          <p:cNvSpPr/>
          <p:nvPr/>
        </p:nvSpPr>
        <p:spPr>
          <a:xfrm>
            <a:off x="470391" y="3429000"/>
            <a:ext cx="11231854" cy="1249346"/>
          </a:xfrm>
          <a:prstGeom prst="rect">
            <a:avLst/>
          </a:prstGeom>
          <a:noFill/>
          <a:ln w="57150">
            <a:solidFill>
              <a:srgbClr val="FDD3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5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4" grpId="0" animBg="1"/>
      <p:bldP spid="17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2297-1F8D-B2AD-F460-760F91EA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C5A67D33-8B00-8623-727C-35E6DD86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09" y="3014464"/>
            <a:ext cx="2344178" cy="234417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FBCDA834-E7A2-E305-277B-FB46AC6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45830"/>
            <a:ext cx="9180412" cy="518746"/>
          </a:xfrm>
        </p:spPr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B6A5B462-182A-C4FD-F9FE-A3621CAE2F3B}"/>
              </a:ext>
            </a:extLst>
          </p:cNvPr>
          <p:cNvGraphicFramePr/>
          <p:nvPr/>
        </p:nvGraphicFramePr>
        <p:xfrm>
          <a:off x="43408" y="1168888"/>
          <a:ext cx="5908576" cy="463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7EC5012C-2425-9F47-586B-B91CB09F26EB}"/>
              </a:ext>
            </a:extLst>
          </p:cNvPr>
          <p:cNvSpPr/>
          <p:nvPr/>
        </p:nvSpPr>
        <p:spPr>
          <a:xfrm>
            <a:off x="3863752" y="1021047"/>
            <a:ext cx="2232248" cy="1660009"/>
          </a:xfrm>
          <a:prstGeom prst="flowChartDocumen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B5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solidFill>
                  <a:schemeClr val="tx1"/>
                </a:solidFill>
                <a:latin typeface="+mj-lt"/>
              </a:rPr>
              <a:t>Why does PMS Cover Ratio is low?</a:t>
            </a:r>
          </a:p>
        </p:txBody>
      </p:sp>
      <p:sp>
        <p:nvSpPr>
          <p:cNvPr id="6" name="フローチャート: 書類 5">
            <a:extLst>
              <a:ext uri="{FF2B5EF4-FFF2-40B4-BE49-F238E27FC236}">
                <a16:creationId xmlns:a16="http://schemas.microsoft.com/office/drawing/2014/main" id="{25B613B8-FAFA-6460-BCCE-E55ED90B93EA}"/>
              </a:ext>
            </a:extLst>
          </p:cNvPr>
          <p:cNvSpPr/>
          <p:nvPr/>
        </p:nvSpPr>
        <p:spPr>
          <a:xfrm>
            <a:off x="5267910" y="1336943"/>
            <a:ext cx="2344178" cy="1804025"/>
          </a:xfrm>
          <a:prstGeom prst="flowChartDocumen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B5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solidFill>
                  <a:schemeClr val="tx1"/>
                </a:solidFill>
              </a:rPr>
              <a:t>Why does PMS Sales Trend is declined?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F542B26-A574-D11B-C8F4-B39212063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401" y="1964146"/>
            <a:ext cx="987258" cy="98725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0E8AD52-2238-A0E6-B31D-7902AF451F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3453" y="1544325"/>
            <a:ext cx="966347" cy="966347"/>
          </a:xfrm>
          <a:prstGeom prst="rect">
            <a:avLst/>
          </a:prstGeom>
        </p:spPr>
      </p:pic>
      <p:graphicFrame>
        <p:nvGraphicFramePr>
          <p:cNvPr id="9" name="図表 8">
            <a:extLst>
              <a:ext uri="{FF2B5EF4-FFF2-40B4-BE49-F238E27FC236}">
                <a16:creationId xmlns:a16="http://schemas.microsoft.com/office/drawing/2014/main" id="{E286A51A-803E-9785-2101-8C4EAE7209F0}"/>
              </a:ext>
            </a:extLst>
          </p:cNvPr>
          <p:cNvGraphicFramePr/>
          <p:nvPr/>
        </p:nvGraphicFramePr>
        <p:xfrm>
          <a:off x="6236096" y="925001"/>
          <a:ext cx="5908576" cy="4852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622210-E1A1-6996-79ED-F04D68790F3F}"/>
              </a:ext>
            </a:extLst>
          </p:cNvPr>
          <p:cNvSpPr txBox="1"/>
          <p:nvPr/>
        </p:nvSpPr>
        <p:spPr>
          <a:xfrm>
            <a:off x="883441" y="5567291"/>
            <a:ext cx="2808312" cy="923330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Visualize</a:t>
            </a:r>
            <a:r>
              <a:rPr kumimoji="1" lang="en-US" altLang="ja-JP" sz="2000" dirty="0">
                <a:latin typeface="+mj-lt"/>
              </a:rPr>
              <a:t> PMS Trends and Cover Ratio using multiple data sources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7871C0-D132-DE56-FCA0-7DA2CA8156F3}"/>
              </a:ext>
            </a:extLst>
          </p:cNvPr>
          <p:cNvSpPr txBox="1"/>
          <p:nvPr/>
        </p:nvSpPr>
        <p:spPr>
          <a:xfrm>
            <a:off x="4727848" y="5567291"/>
            <a:ext cx="2916324" cy="923330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dirty="0">
                <a:latin typeface="+mj-lt"/>
              </a:rPr>
              <a:t>Analyze and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discuss</a:t>
            </a:r>
            <a:r>
              <a:rPr kumimoji="1" lang="en-US" altLang="ja-JP" sz="2000" dirty="0">
                <a:latin typeface="+mj-lt"/>
              </a:rPr>
              <a:t>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together</a:t>
            </a:r>
            <a:r>
              <a:rPr kumimoji="1" lang="en-US" altLang="ja-JP" sz="2000" dirty="0">
                <a:latin typeface="+mj-lt"/>
              </a:rPr>
              <a:t> to identify the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potential </a:t>
            </a:r>
            <a:r>
              <a:rPr kumimoji="1" lang="en-US" altLang="ja-JP" sz="2000" dirty="0">
                <a:latin typeface="+mj-lt"/>
              </a:rPr>
              <a:t>coverage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6FE8120-76C0-BF74-E0A9-B396197B750F}"/>
              </a:ext>
            </a:extLst>
          </p:cNvPr>
          <p:cNvSpPr txBox="1"/>
          <p:nvPr/>
        </p:nvSpPr>
        <p:spPr>
          <a:xfrm>
            <a:off x="8706986" y="5705790"/>
            <a:ext cx="2916324" cy="646331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dirty="0">
                <a:latin typeface="+mj-lt"/>
              </a:rPr>
              <a:t>Come up with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ideas</a:t>
            </a:r>
            <a:r>
              <a:rPr kumimoji="1" lang="en-US" altLang="ja-JP" sz="2000" dirty="0">
                <a:latin typeface="+mj-lt"/>
              </a:rPr>
              <a:t> for sales activity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solutions</a:t>
            </a:r>
            <a:endParaRPr kumimoji="1" lang="ja-JP" altLang="en-US" sz="2000" b="1" kern="1200" dirty="0">
              <a:solidFill>
                <a:srgbClr val="B5091F"/>
              </a:solidFill>
              <a:latin typeface="+mj-lt"/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DB6840FD-7D04-EE47-3509-1F9F1BC6926E}"/>
              </a:ext>
            </a:extLst>
          </p:cNvPr>
          <p:cNvSpPr/>
          <p:nvPr/>
        </p:nvSpPr>
        <p:spPr>
          <a:xfrm>
            <a:off x="3804009" y="5567291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32CF048D-425F-0B3F-CBCF-F6C8FFE31C3B}"/>
              </a:ext>
            </a:extLst>
          </p:cNvPr>
          <p:cNvSpPr/>
          <p:nvPr/>
        </p:nvSpPr>
        <p:spPr>
          <a:xfrm>
            <a:off x="7738739" y="5567291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A1E56881-B51F-4A5E-CCE8-A9340678A8A6}"/>
              </a:ext>
            </a:extLst>
          </p:cNvPr>
          <p:cNvSpPr/>
          <p:nvPr/>
        </p:nvSpPr>
        <p:spPr>
          <a:xfrm>
            <a:off x="3540348" y="2658513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AF7C7BC-7160-45F5-780C-06DFDE890099}"/>
              </a:ext>
            </a:extLst>
          </p:cNvPr>
          <p:cNvSpPr/>
          <p:nvPr/>
        </p:nvSpPr>
        <p:spPr>
          <a:xfrm>
            <a:off x="7285157" y="2658513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 animBg="1"/>
      <p:bldGraphic spid="9" grpId="0">
        <p:bldAsOne/>
      </p:bldGraphic>
      <p:bldP spid="16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A9E7-D102-8256-04E5-88ECFB99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12EA55EC-1959-A8CE-CF72-640D6CA7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609" y="3483718"/>
            <a:ext cx="2780928" cy="278092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E07D1552-A7FD-B4E1-2931-E312A23E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C89675A-B5AD-3E0E-2418-7CDE4B33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775365"/>
            <a:ext cx="4871873" cy="3472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92DAD9A-A2BA-5A15-5972-FB7055739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840" y="2309100"/>
            <a:ext cx="5048769" cy="3472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085343-76D2-FE98-D658-273F9513C537}"/>
              </a:ext>
            </a:extLst>
          </p:cNvPr>
          <p:cNvSpPr txBox="1"/>
          <p:nvPr/>
        </p:nvSpPr>
        <p:spPr>
          <a:xfrm>
            <a:off x="263352" y="1076273"/>
            <a:ext cx="7632848" cy="6379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tx1"/>
                </a:solidFill>
              </a:rPr>
              <a:t>“PMS Dashboard Demo” are ready at Booth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AE2390-8902-D7B1-4E29-F2E0F6492F95}"/>
              </a:ext>
            </a:extLst>
          </p:cNvPr>
          <p:cNvSpPr txBox="1"/>
          <p:nvPr/>
        </p:nvSpPr>
        <p:spPr>
          <a:xfrm>
            <a:off x="2135560" y="6119581"/>
            <a:ext cx="7920880" cy="3917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u="sng" dirty="0">
                <a:solidFill>
                  <a:srgbClr val="B509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discover our market potential together!!</a:t>
            </a:r>
            <a:endParaRPr kumimoji="1" lang="ja-JP" altLang="en-US" sz="2800" u="sng" dirty="0">
              <a:solidFill>
                <a:srgbClr val="B509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12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509">
  <a:themeElements>
    <a:clrScheme name="I.BIS">
      <a:dk1>
        <a:sysClr val="windowText" lastClr="000000"/>
      </a:dk1>
      <a:lt1>
        <a:sysClr val="window" lastClr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F5A200"/>
      </a:hlink>
      <a:folHlink>
        <a:srgbClr val="72C2D6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CA5B0"/>
    </a:custClr>
    <a:custClr name="Dark Grey 80">
      <a:srgbClr val="5A6777"/>
    </a:custClr>
    <a:custClr name="Dark Red 80">
      <a:srgbClr val="C55541"/>
    </a:custClr>
    <a:custClr name="Dark Blue 80">
      <a:srgbClr val="2F437A"/>
    </a:custClr>
    <a:custClr name="Dark Green 80">
      <a:srgbClr val="5A7071"/>
    </a:custClr>
    <a:custClr name="Dark Orange 80">
      <a:srgbClr val="E68344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2ABB5"/>
    </a:custClr>
    <a:custClr name="Dark Grey 75">
      <a:srgbClr val="637181"/>
    </a:custClr>
    <a:custClr name="Dark Red 75">
      <a:srgbClr val="C55541"/>
    </a:custClr>
    <a:custClr name="Dark Blue 75">
      <a:srgbClr val="3C4B81"/>
    </a:custClr>
    <a:custClr name="Dark Green 75">
      <a:srgbClr val="667778"/>
    </a:custClr>
    <a:custClr name="Dark Orange 75">
      <a:srgbClr val="E78B4F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DC5"/>
    </a:custClr>
    <a:custClr name="Dark Grey 60">
      <a:srgbClr val="818E9C"/>
    </a:custClr>
    <a:custClr name="Dark Red 60">
      <a:srgbClr val="D07760"/>
    </a:custClr>
    <a:custClr name="Dark Blue 60">
      <a:srgbClr val="5F6796"/>
    </a:custClr>
    <a:custClr name="Dark Green 60">
      <a:srgbClr val="848F8F"/>
    </a:custClr>
    <a:custClr name="Dark Orange 60">
      <a:srgbClr val="EDA37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PPT Template_JPN_250925.pptx" id="{BF7812C8-28CB-4C91-8D95-F22F6D4A5591}" vid="{F18CA8ED-8C6F-4D55-A188-6AF98CA3A23C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2A16FF-65AA-4DDF-A9DE-9103101A5C5B}">
  <we:reference id="53c624bc-beeb-4b9d-a732-d4850792e7dc" version="1.5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7016B3C018A2A4BA5A3EB640F255286" ma:contentTypeVersion="4" ma:contentTypeDescription="新しいドキュメントを作成します。" ma:contentTypeScope="" ma:versionID="a00377141c866233674131eced27b11b">
  <xsd:schema xmlns:xsd="http://www.w3.org/2001/XMLSchema" xmlns:xs="http://www.w3.org/2001/XMLSchema" xmlns:p="http://schemas.microsoft.com/office/2006/metadata/properties" xmlns:ns2="c265205b-075d-4819-8990-0e0d66b2fa01" targetNamespace="http://schemas.microsoft.com/office/2006/metadata/properties" ma:root="true" ma:fieldsID="19f5a6d9ddf918819f73b5ae5622a06a" ns2:_="">
    <xsd:import namespace="c265205b-075d-4819-8990-0e0d66b2fa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5205b-075d-4819-8990-0e0d66b2fa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383D4A-78E7-44CE-ADFC-39E7E727F4A6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265205b-075d-4819-8990-0e0d66b2fa01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B0A314E-7022-4276-804C-2AD4925CF974}">
  <ds:schemaRefs>
    <ds:schemaRef ds:uri="c265205b-075d-4819-8990-0e0d66b2fa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PPT Template_JPN_250925</Template>
  <TotalTime>2360</TotalTime>
  <Words>984</Words>
  <Application>Microsoft Office PowerPoint</Application>
  <PresentationFormat>Widescreen</PresentationFormat>
  <Paragraphs>196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ISUZU GROUP PPT Template 202509</vt:lpstr>
      <vt:lpstr>ISZE-ISZJ PMS sales promotion project</vt:lpstr>
      <vt:lpstr>Market Research(PMS parts* sales)</vt:lpstr>
      <vt:lpstr>PMS Analysis and Activities in ITUK</vt:lpstr>
      <vt:lpstr>Market Research(PMS parts* sales)</vt:lpstr>
      <vt:lpstr>(reference)  CV Conference presentation material</vt:lpstr>
      <vt:lpstr>PMS Parts Sales Potential</vt:lpstr>
      <vt:lpstr>CV Conference Review (PMS Coverage)</vt:lpstr>
      <vt:lpstr>PMS Coverage Calculation</vt:lpstr>
      <vt:lpstr>PMS Coverage Calculation</vt:lpstr>
      <vt:lpstr>PMS Analysis</vt:lpstr>
      <vt:lpstr>PMS Analysis</vt:lpstr>
      <vt:lpstr>Summary</vt:lpstr>
      <vt:lpstr>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Takayoshi Suzuki ISZJ</dc:creator>
  <cp:lastModifiedBy>Takayoshi Suzuki ISZJ</cp:lastModifiedBy>
  <cp:revision>139</cp:revision>
  <cp:lastPrinted>2024-10-15T01:06:05Z</cp:lastPrinted>
  <dcterms:created xsi:type="dcterms:W3CDTF">2025-12-16T01:54:16Z</dcterms:created>
  <dcterms:modified xsi:type="dcterms:W3CDTF">2026-05-28T09:09:36Z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0x010100D7016B3C018A2A4BA5A3EB640F255286</vt:lpwstr>
  </property>
</Properties>
</file>