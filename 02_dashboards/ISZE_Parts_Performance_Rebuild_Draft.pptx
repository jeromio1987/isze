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User-provided ISZE commercial data pack: wallet_waterfall.csv, gps_spu_by_distributor.csv, pms_capture_by_db_year.csv, pms_opportunity_matrix.csv, capture_recovery_model.csv, mix_genuine_bvp_pms.csv; README.md states aggregates only and no raw billing lines/full price list.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Opening numbers calculated from wallet_waterfall.csv: trucks in service, theoretical target spend, captured total and uncaptured opportunity for CY2025. README.md hard rules: gaps must show euro + service family + trucks in service; use spoken names, not pipeline filenames.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Map uses CY2025 core market model from wallet_waterfall.csv. Extended parts-network markets are shown separately because the README/catalog states the performance bridge should not be forced where the model coverage differs. Armenia, Ukraine, Kazakhstan and Palestine are treated as extended view only.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Calculated from wallet_waterfall.csv for 18 core markets. CY2025: 163,198 trucks in service, EUR 55.253M target spend ceiling, EUR 30.757M parts billed, EUR 24.728M uncaptured opportunity, 55.7% coverage.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Top market gaps calculated from wallet_waterfall.csv, CY2025. ITUK EUR 6.65M, IUK EUR 5.81M, UTI EUR 4.94M, Portugal EUR 1.34M, UMI EUR 1.32M. Top five sum is 81% of the CY2025 market-level gap.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Bubble plot from wallet_waterfall.csv, CY2025. X-axis is gps_pct / 100; Y-axis is uncaptured_eur / uio_units. Bubble size reflects uio_units. IUK and UTI are not blended; they are highlighted because their management problems differ.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Network motion calculated from wallet_waterfall.csv for 18 core markets. Shows target spend ceiling and measured parts billed for CY2023, CY2024, CY2025, plus trucks in service.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Family gaps calculated from pms_capture_by_db_year.csv with year=2025 and line_type=total. Top categories are clutch disc, brake pad, brake shoe, clutch pressure plate. Use total PMS first per README hard rule.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Heatmap from pms_opportunity_matrix.csv for CY2025. Market rows are selected action markets. Categories selected from top PMS gap families and filters. Each cell is revenue_gap_eur; labels only appear on cells above about EUR 0.3M to avoid clutter.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IUK metrics from wallet_waterfall.csv CY2025. PMS category gaps from pms_opportunity_matrix.csv CY2025 for IUK. The slide intentionally leads with euro gap and fleet, not a standalone capture percentage.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Israel split based on README hard rule and wallet/PMS data. UTI and UMI are separate distributors. UTI: Universal Trucks Israel, N+F commercial vehicles. UMI: Universal Motors Israel, TF/pickup. Metrics from wallet_waterfall.csv; PMS top gaps from pms_opportunity_matrix.csv.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Market value-parts shares from mix_genuine_bvp_pms.csv, CY2025, aggregated across product families. Slide uses spoken terms original and value-parts per README, avoiding BVP as slide headline.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Recovery model from capture_recovery_model.csv, CY2025. gap_revenue_at_genuine is summed by gap_type and by distributor/gap_type. Labels use plain English but keep the distinction of under-service, substitution and catalogue-type gaps.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Focus rows derive from market concentration and PMS family analyses: wallet_waterfall.csv for fleet/gap; pms_opportunity_matrix.csv for family gaps; capture_recovery_model.csv for gap types. Language follows README wording rules.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
Basis and caveats summarized from README.md and FILE_CATALOG.csv in user-provided commercial data pack. These notes should stay available if the deck is shared internally.
Data definitions: parts billed = measured ISZE billing aggregate; target spend = modelled spend ceiling. UTI and UMI are separate distributors and are not blended.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high_end_commercial_vehicle_studio_shot_w_batch_2.png">    </p:cNvPr>
          <p:cNvPicPr>
            <a:picLocks noChangeAspect="1"/>
          </p:cNvPicPr>
          <p:nvPr/>
        </p:nvPicPr>
        <p:blipFill>
          <a:blip r:embed="rId1"/>
          <a:srcRect l="21372" r="21372" t="0" b="0"/>
          <a:stretch/>
        </p:blipFill>
        <p:spPr>
          <a:xfrm>
            <a:off x="5212080" y="0"/>
            <a:ext cx="6976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1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457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12648" y="14173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D0DA"/>
                </a:solidFill>
              </a:rPr>
              <a:t>ISZE · AFTERSALES BOARDROOM PACK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6072" y="1755648"/>
            <a:ext cx="4434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Parts performance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fleet to demand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12648" y="3127248"/>
            <a:ext cx="658368" cy="5486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E6EAF0"/>
                </a:solidFill>
              </a:rPr>
              <a:t>CY2025 view · 18 core markets · aggregates only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12648" y="46177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163k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12648" y="5120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trucks in service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057400" y="46177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55.3M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057400" y="512064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target spend ceiling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749040" y="461772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30.8M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749040" y="5120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parts billed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 commercial data · 2026-09-19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BOARDROOM THESIS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story is no longer a percentage; it is a fleet-to-euro bridge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Measured billing meets a modelled target-spend ceiling. The gap then has to become market and service-family specific.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0574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57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12B"/>
                </a:solidFill>
              </a:rPr>
              <a:t>163k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" y="248716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Trucks in service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7614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18 core markets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61488" y="2487168"/>
            <a:ext cx="109728" cy="0"/>
          </a:xfrm>
          <a:prstGeom prst="line">
            <a:avLst/>
          </a:prstGeom>
          <a:noFill/>
          <a:ln w="16510">
            <a:solidFill>
              <a:srgbClr val="E3061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16936" y="1828800"/>
            <a:ext cx="20574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057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536170"/>
                </a:solidFill>
              </a:rPr>
              <a:t>EUR 55.3M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248716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Target spend ceiling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63240" y="27614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modelled ceiling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0056" y="2487168"/>
            <a:ext cx="109728" cy="0"/>
          </a:xfrm>
          <a:prstGeom prst="line">
            <a:avLst/>
          </a:prstGeom>
          <a:noFill/>
          <a:ln w="16510">
            <a:solidFill>
              <a:srgbClr val="E3061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5504" y="1828800"/>
            <a:ext cx="2057400" cy="1325880"/>
          </a:xfrm>
          <a:prstGeom prst="rect">
            <a:avLst/>
          </a:prstGeom>
          <a:solidFill>
            <a:srgbClr val="EFF8F4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057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9A68"/>
                </a:solidFill>
              </a:rPr>
              <a:t>EUR 30.8M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21808" y="248716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Parts billed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21808" y="27614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measured ISZE billing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78624" y="2487168"/>
            <a:ext cx="109728" cy="0"/>
          </a:xfrm>
          <a:prstGeom prst="line">
            <a:avLst/>
          </a:prstGeom>
          <a:noFill/>
          <a:ln w="16510">
            <a:solidFill>
              <a:srgbClr val="E3061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34072" y="1828800"/>
            <a:ext cx="2057400" cy="1325880"/>
          </a:xfrm>
          <a:prstGeom prst="rect">
            <a:avLst/>
          </a:prstGeom>
          <a:solidFill>
            <a:srgbClr val="FFF1F2"/>
          </a:solidFill>
          <a:ln w="6350">
            <a:solidFill>
              <a:srgbClr val="F2B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0376" y="2057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30613"/>
                </a:solidFill>
              </a:rPr>
              <a:t>EUR 24.7M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80376" y="248716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Uncaptured opportunity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0376" y="27614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not a forecast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537192" y="2487168"/>
            <a:ext cx="109728" cy="0"/>
          </a:xfrm>
          <a:prstGeom prst="line">
            <a:avLst/>
          </a:prstGeom>
          <a:noFill/>
          <a:ln w="16510">
            <a:solidFill>
              <a:srgbClr val="E3061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1828800"/>
            <a:ext cx="2057400" cy="1325880"/>
          </a:xfrm>
          <a:prstGeom prst="rect">
            <a:avLst/>
          </a:prstGeom>
          <a:solidFill>
            <a:srgbClr val="F7F8FA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38944" y="205740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9E0B16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38944" y="2487168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Main action markets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38944" y="2761488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81% of market gap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One rule for the rebuild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170"/>
                </a:solidFill>
              </a:rPr>
              <a:t>Every later gap carries three things on the same frame: euro value, service family, and trucks in service. A rate by itself is not a finding.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3822192"/>
            <a:ext cx="6080760" cy="1243584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050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the previous deck missed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4389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CE3EA"/>
                </a:solidFill>
              </a:rPr>
              <a:t>Different chart forms were not enough. The page architecture also had to change: map as story, bridge as argument, market pages as diagnosis.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User-provided commercial data pack; CY2025 full-year aggregate.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EUROPEAN FOOTPRINT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 the network honestly: 18 core markets plus an extended parts network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Core markets have the full fleet × target-spend × service-demand model. Extended markets have parts activity but not the same model coverage.</a:t>
            </a:r>
            <a:endParaRPr lang="en-US" sz="1150" dirty="0"/>
          </a:p>
        </p:txBody>
      </p:sp>
      <p:pic>
        <p:nvPicPr>
          <p:cNvPr id="6" name="Image 0" descr="/mnt/data/wide_minimalist_clean_vector_3d_styled_map_illus_batch_1.png">    </p:cNvPr>
          <p:cNvPicPr>
            <a:picLocks noChangeAspect="1"/>
          </p:cNvPicPr>
          <p:nvPr/>
        </p:nvPicPr>
        <p:blipFill>
          <a:blip r:embed="rId1"/>
          <a:srcRect l="0" r="0" t="445" b="445"/>
          <a:stretch/>
        </p:blipFill>
        <p:spPr>
          <a:xfrm>
            <a:off x="2743200" y="1170432"/>
            <a:ext cx="909828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1170432"/>
            <a:ext cx="9098280" cy="5074920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87968" y="135331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36170"/>
                </a:solidFill>
              </a:rPr>
              <a:t>Extended parts network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360920" y="1536192"/>
            <a:ext cx="2971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536170"/>
                </a:solidFill>
              </a:rPr>
              <a:t>Armenia · Ukraine · Kazakhstan · Palestine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295910" y="3084386"/>
            <a:ext cx="292608" cy="292608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42214" y="3230690"/>
            <a:ext cx="-210312" cy="-283464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82094" y="288321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ITUK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82094" y="302952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6.6M gap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4125445" y="2986413"/>
            <a:ext cx="280756" cy="280756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65823" y="3126791"/>
            <a:ext cx="-256032" cy="155448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59983" y="3218231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IUK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59983" y="3364535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5.8M gap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9274603" y="5475127"/>
            <a:ext cx="267377" cy="267377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08291" y="5608815"/>
            <a:ext cx="164592" cy="109728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572883" y="5654535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UTI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572883" y="5800839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4.9M gap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9272034" y="5490175"/>
            <a:ext cx="191103" cy="191103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367586" y="5585727"/>
            <a:ext cx="137160" cy="-265176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04746" y="5256543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UMI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504746" y="5402847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1.3M gap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5907727" y="3308988"/>
            <a:ext cx="189732" cy="189732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002594" y="3403854"/>
            <a:ext cx="128016" cy="-27432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30610" y="3312414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GERMANY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130610" y="345871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1.3M gap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3464307" y="4635495"/>
            <a:ext cx="191907" cy="191907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60261" y="4731449"/>
            <a:ext cx="-210312" cy="137160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00141" y="4804601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PORTUGAL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600141" y="4950905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1.3M gap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7141345" y="3783211"/>
            <a:ext cx="164830" cy="164830"/>
          </a:xfrm>
          <a:prstGeom prst="ellipse">
            <a:avLst/>
          </a:prstGeom>
          <a:solidFill>
            <a:srgbClr val="E30613">
              <a:alpha val="90000"/>
            </a:srgbClr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23760" y="3865626"/>
            <a:ext cx="146304" cy="118872"/>
          </a:xfrm>
          <a:prstGeom prst="line">
            <a:avLst/>
          </a:prstGeom>
          <a:noFill/>
          <a:ln w="10160">
            <a:solidFill>
              <a:srgbClr val="E30613">
                <a:alpha val="9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70064" y="3920490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HUNGARY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70064" y="406679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1B1F24"/>
                </a:solidFill>
              </a:rPr>
              <a:t>EUR 603K gap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566928" y="15727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map should explain data coverage, not just decorate the title.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66928" y="2322576"/>
            <a:ext cx="23317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36170"/>
                </a:solidFill>
              </a:rPr>
              <a:t>The core performance network is where the full model joins. CIS/East markets should be shown as an extended parts network when they are outside the comparable bridge.</a:t>
            </a:r>
            <a:endParaRPr lang="en-US" sz="1220" dirty="0"/>
          </a:p>
        </p:txBody>
      </p:sp>
      <p:sp>
        <p:nvSpPr>
          <p:cNvPr id="40" name="Shape 37"/>
          <p:cNvSpPr/>
          <p:nvPr/>
        </p:nvSpPr>
        <p:spPr>
          <a:xfrm>
            <a:off x="566928" y="3886200"/>
            <a:ext cx="1554480" cy="228600"/>
          </a:xfrm>
          <a:prstGeom prst="roundRect">
            <a:avLst>
              <a:gd name="adj" fmla="val 32000"/>
            </a:avLst>
          </a:prstGeom>
          <a:solidFill>
            <a:srgbClr val="FDEEEF"/>
          </a:solidFill>
          <a:ln w="12700">
            <a:solidFill>
              <a:srgbClr val="FDEEEF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2648" y="393649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30613"/>
                </a:solidFill>
              </a:rPr>
              <a:t>Core performance markets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66928" y="4206240"/>
            <a:ext cx="1554480" cy="228600"/>
          </a:xfrm>
          <a:prstGeom prst="roundRect">
            <a:avLst>
              <a:gd name="adj" fmla="val 32000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648" y="425653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170"/>
                </a:solidFill>
              </a:rPr>
              <a:t>Extended parts network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566928" y="4709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</a:rPr>
              <a:t>18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566928" y="49743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core markets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783080" y="4709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36170"/>
                </a:solidFill>
              </a:rPr>
              <a:t>4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783080" y="49743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shown as extended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 for core markets; README/File Catalog for extended parts-network treatment.</a:t>
            </a:r>
            <a:endParaRPr lang="en-US" sz="680" dirty="0"/>
          </a:p>
        </p:txBody>
      </p:sp>
      <p:sp>
        <p:nvSpPr>
          <p:cNvPr id="49" name="Shape 4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FLEET TO EURO BRIDGE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CY2025: EUR 24.7M is the space between a modelled ceiling and measured billing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The bridge gives the 55.7% coverage rate its commercial meaning.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258568"/>
            <a:ext cx="10652760" cy="347472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58568"/>
            <a:ext cx="5929862" cy="347472"/>
          </a:xfrm>
          <a:prstGeom prst="rect">
            <a:avLst/>
          </a:prstGeom>
          <a:solidFill>
            <a:srgbClr val="1E9A68"/>
          </a:solidFill>
          <a:ln w="12700">
            <a:solidFill>
              <a:srgbClr val="1E9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07102" y="2258568"/>
            <a:ext cx="4767463" cy="34747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A68"/>
                </a:solidFill>
              </a:rPr>
              <a:t>Parts billed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0" y="19659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36170"/>
                </a:solidFill>
              </a:rPr>
              <a:t>Target spend ceiling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8072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9A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30.8M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310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measured parts billed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780254" y="28072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24.7M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80254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uncaptured opportunity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052560" y="280720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55.3M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052560" y="33101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modelled target spend ceiling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</a:rPr>
              <a:t>Same bridge over time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26110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4206240"/>
            <a:ext cx="4114800" cy="201168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17320" y="4206240"/>
            <a:ext cx="2108576" cy="201168"/>
          </a:xfrm>
          <a:prstGeom prst="rect">
            <a:avLst/>
          </a:prstGeom>
          <a:solidFill>
            <a:srgbClr val="1E9A68"/>
          </a:solidFill>
          <a:ln w="12700">
            <a:solidFill>
              <a:srgbClr val="1E9A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5896" y="4206240"/>
            <a:ext cx="1717035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424281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EUR 28.3M billed / EUR 51.0M target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001000" y="424281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55.5%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76402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417320" y="4709160"/>
            <a:ext cx="4114800" cy="201168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4709160"/>
            <a:ext cx="2380009" cy="201168"/>
          </a:xfrm>
          <a:prstGeom prst="rect">
            <a:avLst/>
          </a:prstGeom>
          <a:solidFill>
            <a:srgbClr val="1E9A68"/>
          </a:solidFill>
          <a:ln w="12700">
            <a:solidFill>
              <a:srgbClr val="1E9A6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7329" y="4709160"/>
            <a:ext cx="1679055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474573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EUR 32.0M billed / EUR 54.1M target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01000" y="474573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59.0%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5266944"/>
            <a:ext cx="502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417320" y="5212080"/>
            <a:ext cx="4114800" cy="201168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5212080"/>
            <a:ext cx="2290505" cy="201168"/>
          </a:xfrm>
          <a:prstGeom prst="rect">
            <a:avLst/>
          </a:prstGeom>
          <a:solidFill>
            <a:srgbClr val="1E9A68"/>
          </a:solidFill>
          <a:ln w="12700">
            <a:solidFill>
              <a:srgbClr val="1E9A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07825" y="5212080"/>
            <a:ext cx="1841509" cy="201168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5248656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EUR 30.8M billed / EUR 55.3M target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01000" y="5248656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55.7%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915400" y="3840480"/>
            <a:ext cx="2148840" cy="1508760"/>
          </a:xfrm>
          <a:prstGeom prst="rect">
            <a:avLst/>
          </a:prstGeom>
          <a:solidFill>
            <a:srgbClr val="FFF5F6"/>
          </a:solidFill>
          <a:ln w="12700">
            <a:solidFill>
              <a:srgbClr val="F2B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40782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0613"/>
                </a:solidFill>
              </a:rPr>
              <a:t>Why 2025 matters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62288" y="441655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</a:rPr>
              <a:t>Fleet and target spend increased, but parts billed moved down versus 2024.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wallet_waterfall.csv, CY2023–CY2025. Target spend is modelled; parts billed is measured.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MARKET CONCENTRATION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markets hold 81% of the market-level uncaptured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Rank by euro first; rate alone hides where the commercial work sits.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36170"/>
                </a:solidFill>
              </a:rPr>
              <a:t>of the CY2025 gap is in the first five markets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27432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36170"/>
                </a:solidFill>
              </a:rPr>
              <a:t>This is the commercial reason to stop reading Europe as one network average.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4630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Isuzu Truck UK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94760" y="166420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36170"/>
                </a:solidFill>
              </a:rPr>
              <a:t>23k trucks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5623560" y="1536192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1536192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0" y="15087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EUR 6.6M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95560" y="171907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170"/>
                </a:solidFill>
              </a:rPr>
              <a:t>45.6% billed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94760" y="20848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Isuzu UK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4760" y="228600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36170"/>
                </a:solidFill>
              </a:rPr>
              <a:t>48k trucks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623560" y="2157984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157984"/>
            <a:ext cx="3398824" cy="237744"/>
          </a:xfrm>
          <a:prstGeom prst="roundRect">
            <a:avLst>
              <a:gd name="adj" fmla="val 23077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0" y="21305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EUR 5.8M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95560" y="234086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170"/>
                </a:solidFill>
              </a:rPr>
              <a:t>51.3% billed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794760" y="270662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Universal Trucks Israel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907792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36170"/>
                </a:solidFill>
              </a:rPr>
              <a:t>10k trucks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623560" y="2779776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2779776"/>
            <a:ext cx="2887850" cy="237744"/>
          </a:xfrm>
          <a:prstGeom prst="roundRect">
            <a:avLst>
              <a:gd name="adj" fmla="val 23077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7523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EUR 4.9M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95560" y="296265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170"/>
                </a:solidFill>
              </a:rPr>
              <a:t>40.3% billed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94760" y="332841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Portugal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94760" y="3529584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36170"/>
                </a:solidFill>
              </a:rPr>
              <a:t>7.2k trucks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623560" y="3401568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3560" y="3401568"/>
            <a:ext cx="784718" cy="237744"/>
          </a:xfrm>
          <a:prstGeom prst="roundRect">
            <a:avLst>
              <a:gd name="adj" fmla="val 23077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33741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EUR 1.3M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195560" y="358444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170"/>
                </a:solidFill>
              </a:rPr>
              <a:t>56.0% billed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94760" y="39502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1F24"/>
                </a:solidFill>
              </a:rPr>
              <a:t>Universal Motors Israel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94760" y="4151376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36170"/>
                </a:solidFill>
              </a:rPr>
              <a:t>19k trucks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5623560" y="4023360"/>
            <a:ext cx="3886200" cy="237744"/>
          </a:xfrm>
          <a:prstGeom prst="roundRect">
            <a:avLst>
              <a:gd name="adj" fmla="val 23077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4023360"/>
            <a:ext cx="769438" cy="237744"/>
          </a:xfrm>
          <a:prstGeom prst="roundRect">
            <a:avLst>
              <a:gd name="adj" fmla="val 23077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39959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EUR 1.3M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195560" y="420624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36170"/>
                </a:solidFill>
              </a:rPr>
              <a:t>71.6% billed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794760" y="4663440"/>
            <a:ext cx="6949440" cy="0"/>
          </a:xfrm>
          <a:prstGeom prst="line">
            <a:avLst/>
          </a:prstGeom>
          <a:noFill/>
          <a:ln w="12700">
            <a:solidFill>
              <a:srgbClr val="D8DE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170"/>
                </a:solidFill>
              </a:rPr>
              <a:t>Remaining 13 markets: EUR 4.7M combined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wallet_waterfall.csv, CY2025, 18 core markets.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MARKET ARCHETYPES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IUK is a scale problem; UTI is an intensity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Plotting gap per truck against the share billed separates very different management conversations.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88920" y="1417320"/>
            <a:ext cx="7818120" cy="4407408"/>
          </a:xfrm>
          <a:prstGeom prst="rect">
            <a:avLst/>
          </a:prstGeom>
          <a:solidFill>
            <a:srgbClr val="FAFBFC"/>
          </a:solidFill>
          <a:ln w="10160">
            <a:solidFill>
              <a:srgbClr val="D8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5413248"/>
            <a:ext cx="7040880" cy="0"/>
          </a:xfrm>
          <a:prstGeom prst="line">
            <a:avLst/>
          </a:prstGeom>
          <a:noFill/>
          <a:ln w="12700">
            <a:solidFill>
              <a:srgbClr val="1B1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1737360"/>
            <a:ext cx="0" cy="3675888"/>
          </a:xfrm>
          <a:prstGeom prst="line">
            <a:avLst/>
          </a:prstGeom>
          <a:noFill/>
          <a:ln w="12700">
            <a:solidFill>
              <a:srgbClr val="1B1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57150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share of target spend billed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 rot="16200000">
            <a:off x="2834640" y="16459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gap per truck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71312" y="1737360"/>
            <a:ext cx="0" cy="3675888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4152" y="5513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50%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6577374" y="1737360"/>
            <a:ext cx="0" cy="3675888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0214" y="5513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60%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7783436" y="1737360"/>
            <a:ext cx="0" cy="3675888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6276" y="551383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70%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3200400" y="4715139"/>
            <a:ext cx="704088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2072" y="4660275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100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200400" y="3667975"/>
            <a:ext cx="704088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3613111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250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200400" y="2620811"/>
            <a:ext cx="704088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62072" y="2565947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400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667775" y="3228550"/>
            <a:ext cx="345738" cy="345738"/>
          </a:xfrm>
          <a:prstGeom prst="ellipse">
            <a:avLst/>
          </a:prstGeom>
          <a:solidFill>
            <a:srgbClr val="E30613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3796" y="3355699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ITUK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03395" y="4339143"/>
            <a:ext cx="449409" cy="449409"/>
          </a:xfrm>
          <a:prstGeom prst="ellipse">
            <a:avLst/>
          </a:prstGeom>
          <a:solidFill>
            <a:srgbClr val="E30613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01252" y="451812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IUK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67576" y="1942984"/>
            <a:ext cx="267711" cy="267711"/>
          </a:xfrm>
          <a:prstGeom prst="ellipse">
            <a:avLst/>
          </a:prstGeom>
          <a:solidFill>
            <a:srgbClr val="E30613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4584" y="20311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UTI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74120" y="3992382"/>
            <a:ext cx="241658" cy="241658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8101" y="406749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6170"/>
                </a:solidFill>
              </a:rPr>
              <a:t>PORTUGAL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15742" y="4757050"/>
            <a:ext cx="321327" cy="321327"/>
          </a:xfrm>
          <a:prstGeom prst="ellipse">
            <a:avLst/>
          </a:prstGeom>
          <a:solidFill>
            <a:srgbClr val="E30613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9558" y="4871993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UMI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27303" y="4622669"/>
            <a:ext cx="292143" cy="292143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23481" y="4598814"/>
            <a:ext cx="252513" cy="252513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8119" y="4182659"/>
            <a:ext cx="204684" cy="204684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3613" y="4239281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36170"/>
                </a:solidFill>
              </a:rPr>
              <a:t>HUNGARY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40296" y="4791129"/>
            <a:ext cx="248099" cy="248099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82172" y="5031818"/>
            <a:ext cx="261927" cy="261927"/>
          </a:xfrm>
          <a:prstGeom prst="ellipse">
            <a:avLst/>
          </a:prstGeom>
          <a:solidFill>
            <a:srgbClr val="536170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15544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give IUK and UTI the same treatment.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66928" y="2304288"/>
            <a:ext cx="1965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536170"/>
                </a:solidFill>
              </a:rPr>
              <a:t>IUK has the largest light-commercial fleet. Universal Trucks Israel has a smaller fleet but the missing euro per truck is much higher.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566928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</a:rPr>
              <a:t>EUR 122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66928" y="43342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IUK gap / truck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627632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9E0B16"/>
                </a:solidFill>
              </a:rPr>
              <a:t>EUR 478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627632" y="43342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UTI gap / truck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wallet_waterfall.csv, CY2025. Bubble size = trucks in service.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NETWORK MOTION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 did not fail on fleet; it failed on turning the larger fleet into billed parts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The modelled opportunity rises from 2023 to 2025, while parts billed falls back from the 2024 peak.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508760" y="4526280"/>
            <a:ext cx="914400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462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0M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508760" y="3771900"/>
            <a:ext cx="914400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70789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15M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508760" y="3017520"/>
            <a:ext cx="914400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5351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30M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508760" y="2263140"/>
            <a:ext cx="914400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1991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45M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508760" y="1508760"/>
            <a:ext cx="9144000" cy="0"/>
          </a:xfrm>
          <a:prstGeom prst="line">
            <a:avLst/>
          </a:prstGeom>
          <a:noFill/>
          <a:ln w="7620">
            <a:solidFill>
              <a:srgbClr val="D8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14447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EUR 60M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737360" y="1961010"/>
            <a:ext cx="4160520" cy="-156877"/>
          </a:xfrm>
          <a:prstGeom prst="line">
            <a:avLst/>
          </a:prstGeom>
          <a:noFill/>
          <a:ln w="27940">
            <a:solidFill>
              <a:srgbClr val="5361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3102320"/>
            <a:ext cx="4160520" cy="-183304"/>
          </a:xfrm>
          <a:prstGeom prst="line">
            <a:avLst/>
          </a:prstGeom>
          <a:noFill/>
          <a:ln w="31750">
            <a:solidFill>
              <a:srgbClr val="E306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804133"/>
            <a:ext cx="4160520" cy="-56653"/>
          </a:xfrm>
          <a:prstGeom prst="line">
            <a:avLst/>
          </a:prstGeom>
          <a:noFill/>
          <a:ln w="27940">
            <a:solidFill>
              <a:srgbClr val="5361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2919016"/>
            <a:ext cx="4160520" cy="60444"/>
          </a:xfrm>
          <a:prstGeom prst="line">
            <a:avLst/>
          </a:prstGeom>
          <a:noFill/>
          <a:ln w="31750">
            <a:solidFill>
              <a:srgbClr val="E306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6212" y="1919862"/>
            <a:ext cx="82296" cy="82296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96212" y="3061172"/>
            <a:ext cx="82296" cy="82296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6908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17320" y="49103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152k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56732" y="1762985"/>
            <a:ext cx="82296" cy="82296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6732" y="2877868"/>
            <a:ext cx="82296" cy="82296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46908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49103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160k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017252" y="1706332"/>
            <a:ext cx="82296" cy="82296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7252" y="2938312"/>
            <a:ext cx="82296" cy="82296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46908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F24"/>
                </a:solidFill>
              </a:rPr>
              <a:t>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38360" y="4910328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163k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778240" y="1554480"/>
            <a:ext cx="1325880" cy="228600"/>
          </a:xfrm>
          <a:prstGeom prst="roundRect">
            <a:avLst>
              <a:gd name="adj" fmla="val 32000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23960" y="16047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36170"/>
                </a:solidFill>
              </a:rPr>
              <a:t>target spend ceiling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195560" y="1554480"/>
            <a:ext cx="868680" cy="228600"/>
          </a:xfrm>
          <a:prstGeom prst="roundRect">
            <a:avLst>
              <a:gd name="adj" fmla="val 32000"/>
            </a:avLst>
          </a:prstGeom>
          <a:solidFill>
            <a:srgbClr val="FDEEEF"/>
          </a:solidFill>
          <a:ln w="12700">
            <a:solidFill>
              <a:srgbClr val="FDEEE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160477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30613"/>
                </a:solidFill>
              </a:rPr>
              <a:t>parts billed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822960" y="4983480"/>
            <a:ext cx="10515600" cy="594360"/>
          </a:xfrm>
          <a:prstGeom prst="rect">
            <a:avLst/>
          </a:prstGeom>
          <a:solidFill>
            <a:srgbClr val="FFF4F5"/>
          </a:solidFill>
          <a:ln w="12700">
            <a:solidFill>
              <a:srgbClr val="F2B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5157216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30613"/>
                </a:solidFill>
              </a:rPr>
              <a:t>Plain reading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057400" y="513892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</a:rPr>
              <a:t>The network carries 11.5k more trucks than in 2023. The commercial question is why the 2024 billing peak did not hold while the target ceiling continued to rise.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wallet_waterfall.csv, CY2023–CY2025.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SERVICE-FAMILY LANDSCAPE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gaps are clutch and brake, not a generic “filters” story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PMS should lead with total parts sales and total coverage; original vs value-parts is the second lens.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4538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Clutch Disc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587752" y="1417320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87752" y="1417320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2864" y="144475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E30613"/>
                </a:solidFill>
              </a:rPr>
              <a:t>EUR 3.3M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7976528" y="1481328"/>
            <a:ext cx="64008" cy="64008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470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Brake Pad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587752" y="1810512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810512"/>
            <a:ext cx="3877867" cy="201168"/>
          </a:xfrm>
          <a:prstGeom prst="roundRect">
            <a:avLst>
              <a:gd name="adj" fmla="val 27273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1837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E30613"/>
                </a:solidFill>
              </a:rPr>
              <a:t>EUR 3.0M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479292" y="1874520"/>
            <a:ext cx="64008" cy="64008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2402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Brake Shoe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587752" y="2203704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7752" y="2203704"/>
            <a:ext cx="3359502" cy="201168"/>
          </a:xfrm>
          <a:prstGeom prst="roundRect">
            <a:avLst>
              <a:gd name="adj" fmla="val 27273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23113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E30613"/>
                </a:solidFill>
              </a:rPr>
              <a:t>EUR 2.6M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059789" y="2267712"/>
            <a:ext cx="64008" cy="64008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6334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Clutch Pressure Plate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587752" y="2596896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2596896"/>
            <a:ext cx="2692937" cy="201168"/>
          </a:xfrm>
          <a:prstGeom prst="roundRect">
            <a:avLst>
              <a:gd name="adj" fmla="val 27273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262432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E30613"/>
                </a:solidFill>
              </a:rPr>
              <a:t>EUR 2.1M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993526" y="2660904"/>
            <a:ext cx="64008" cy="64008"/>
          </a:xfrm>
          <a:prstGeom prst="ellipse">
            <a:avLst/>
          </a:prstGeom>
          <a:solidFill>
            <a:srgbClr val="E3061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0266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Blower Unit Filter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587752" y="2990088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87752" y="2990088"/>
            <a:ext cx="1847842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301752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1.4M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200959" y="3054096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4198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Brake Rotor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2587752" y="3383280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87752" y="3383280"/>
            <a:ext cx="1816765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341071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1.4M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004309" y="3447288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81304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Clutch Kit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587752" y="3776472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87752" y="3776472"/>
            <a:ext cx="1335188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38039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1.0M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8071077" y="3840480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062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Fuel Filter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587752" y="4169664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87752" y="4169664"/>
            <a:ext cx="1322622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419709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1.0M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8838099" y="4233672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" y="459943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Clutch Booster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2587752" y="4562856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87752" y="4562856"/>
            <a:ext cx="1023186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459028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0.8M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863690" y="4626864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" y="499262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70"/>
                </a:solidFill>
              </a:rPr>
              <a:t>Air Filter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2587752" y="4956048"/>
            <a:ext cx="4206240" cy="201168"/>
          </a:xfrm>
          <a:prstGeom prst="roundRect">
            <a:avLst>
              <a:gd name="adj" fmla="val 27273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87752" y="4956048"/>
            <a:ext cx="952276" cy="201168"/>
          </a:xfrm>
          <a:prstGeom prst="roundRect">
            <a:avLst>
              <a:gd name="adj" fmla="val 27273"/>
            </a:avLst>
          </a:prstGeom>
          <a:solidFill>
            <a:srgbClr val="536170"/>
          </a:solidFill>
          <a:ln w="12700">
            <a:solidFill>
              <a:srgbClr val="53617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12864" y="498348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536170"/>
                </a:solidFill>
              </a:rPr>
              <a:t>EUR 0.7M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8991039" y="5020056"/>
            <a:ext cx="64008" cy="64008"/>
          </a:xfrm>
          <a:prstGeom prst="ellipse">
            <a:avLst/>
          </a:prstGeom>
          <a:solidFill>
            <a:srgbClr val="53617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91272" y="5394960"/>
            <a:ext cx="2194560" cy="0"/>
          </a:xfrm>
          <a:prstGeom prst="line">
            <a:avLst/>
          </a:prstGeom>
          <a:noFill/>
          <a:ln w="10160">
            <a:solidFill>
              <a:srgbClr val="D8DE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99832" y="54772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0%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9262872" y="547725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536170"/>
                </a:solidFill>
              </a:rPr>
              <a:t>100% total coverage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439912" y="115214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6170"/>
                </a:solidFill>
              </a:rPr>
              <a:t>coverage dot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77240" y="56235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Four service families carry EUR 11.0M of the total service-demand gap.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77240" y="592531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170"/>
                </a:solidFill>
              </a:rPr>
              <a:t>This is why the action story must start in service bays: clutch disc, brake pad, brake shoe, and clutch pressure plate.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pms_capture_by_db_year.csv, CY2025, line_type = total.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WHERE THE SERVICE-FAMILY WORK SITS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families recur, but the market priority is not the same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A heatmap makes the action list more legible than another ranked bar chart.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508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Clutch Disc</a:t>
            </a:r>
            <a:endParaRPr lang="en-US" sz="710" dirty="0"/>
          </a:p>
        </p:txBody>
      </p:sp>
      <p:sp>
        <p:nvSpPr>
          <p:cNvPr id="7" name="Text 5"/>
          <p:cNvSpPr/>
          <p:nvPr/>
        </p:nvSpPr>
        <p:spPr>
          <a:xfrm>
            <a:off x="2651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Brake Pad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3794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Brake Shoe</a:t>
            </a:r>
            <a:endParaRPr lang="en-US" sz="710" dirty="0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Clutch Pressure</a:t>
            </a:r>
            <a:endParaRPr lang="en-US" sz="710" dirty="0"/>
          </a:p>
        </p:txBody>
      </p:sp>
      <p:sp>
        <p:nvSpPr>
          <p:cNvPr id="10" name="Text 8"/>
          <p:cNvSpPr/>
          <p:nvPr/>
        </p:nvSpPr>
        <p:spPr>
          <a:xfrm>
            <a:off x="6080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Brake Rotor</a:t>
            </a:r>
            <a:endParaRPr lang="en-US" sz="710" dirty="0"/>
          </a:p>
        </p:txBody>
      </p:sp>
      <p:sp>
        <p:nvSpPr>
          <p:cNvPr id="11" name="Text 9"/>
          <p:cNvSpPr/>
          <p:nvPr/>
        </p:nvSpPr>
        <p:spPr>
          <a:xfrm>
            <a:off x="7223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Fuel Filter</a:t>
            </a:r>
            <a:endParaRPr lang="en-US" sz="710" dirty="0"/>
          </a:p>
        </p:txBody>
      </p:sp>
      <p:sp>
        <p:nvSpPr>
          <p:cNvPr id="12" name="Text 10"/>
          <p:cNvSpPr/>
          <p:nvPr/>
        </p:nvSpPr>
        <p:spPr>
          <a:xfrm>
            <a:off x="8366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Oil Filter</a:t>
            </a:r>
            <a:endParaRPr lang="en-US" sz="710" dirty="0"/>
          </a:p>
        </p:txBody>
      </p:sp>
      <p:sp>
        <p:nvSpPr>
          <p:cNvPr id="13" name="Text 11"/>
          <p:cNvSpPr/>
          <p:nvPr/>
        </p:nvSpPr>
        <p:spPr>
          <a:xfrm>
            <a:off x="9509760" y="1033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536170"/>
                </a:solidFill>
              </a:rPr>
              <a:t>Blower Filter</a:t>
            </a:r>
            <a:endParaRPr lang="en-US" sz="710" dirty="0"/>
          </a:p>
        </p:txBody>
      </p:sp>
      <p:sp>
        <p:nvSpPr>
          <p:cNvPr id="14" name="Text 12"/>
          <p:cNvSpPr/>
          <p:nvPr/>
        </p:nvSpPr>
        <p:spPr>
          <a:xfrm>
            <a:off x="731520" y="152704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IUK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08760" y="1417320"/>
            <a:ext cx="1097280" cy="365760"/>
          </a:xfrm>
          <a:prstGeom prst="rect">
            <a:avLst/>
          </a:prstGeom>
          <a:solidFill>
            <a:srgbClr val="E30613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1.3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651760" y="1417320"/>
            <a:ext cx="1097280" cy="365760"/>
          </a:xfrm>
          <a:prstGeom prst="rect">
            <a:avLst/>
          </a:prstGeom>
          <a:solidFill>
            <a:srgbClr val="E30613">
              <a:alpha val="6219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0.8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94760" y="1417320"/>
            <a:ext cx="1097280" cy="365760"/>
          </a:xfrm>
          <a:prstGeom prst="rect">
            <a:avLst/>
          </a:prstGeom>
          <a:solidFill>
            <a:srgbClr val="E30613">
              <a:alpha val="5630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0.7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937760" y="1417320"/>
            <a:ext cx="1097280" cy="365760"/>
          </a:xfrm>
          <a:prstGeom prst="rect">
            <a:avLst/>
          </a:prstGeom>
          <a:solidFill>
            <a:srgbClr val="E30613">
              <a:alpha val="4955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0.6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080760" y="1417320"/>
            <a:ext cx="1097280" cy="365760"/>
          </a:xfrm>
          <a:prstGeom prst="rect">
            <a:avLst/>
          </a:prstGeom>
          <a:solidFill>
            <a:srgbClr val="E30613">
              <a:alpha val="4454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0.5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223760" y="1417320"/>
            <a:ext cx="1097280" cy="365760"/>
          </a:xfrm>
          <a:prstGeom prst="rect">
            <a:avLst/>
          </a:prstGeom>
          <a:solidFill>
            <a:srgbClr val="E30613">
              <a:alpha val="4536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0.5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366760" y="1417320"/>
            <a:ext cx="1097280" cy="365760"/>
          </a:xfrm>
          <a:prstGeom prst="rect">
            <a:avLst/>
          </a:prstGeom>
          <a:solidFill>
            <a:srgbClr val="E30613">
              <a:alpha val="2732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9760" y="1417320"/>
            <a:ext cx="1097280" cy="365760"/>
          </a:xfrm>
          <a:prstGeom prst="rect">
            <a:avLst/>
          </a:prstGeom>
          <a:solidFill>
            <a:srgbClr val="E30613">
              <a:alpha val="4459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15270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0.5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731520" y="19385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ITUK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508760" y="1828800"/>
            <a:ext cx="1097280" cy="365760"/>
          </a:xfrm>
          <a:prstGeom prst="rect">
            <a:avLst/>
          </a:prstGeom>
          <a:solidFill>
            <a:srgbClr val="E30613">
              <a:alpha val="3491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1828800"/>
            <a:ext cx="1097280" cy="365760"/>
          </a:xfrm>
          <a:prstGeom prst="rect">
            <a:avLst/>
          </a:prstGeom>
          <a:solidFill>
            <a:srgbClr val="E30613">
              <a:alpha val="3631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71800" y="193852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0.3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794760" y="1828800"/>
            <a:ext cx="1097280" cy="365760"/>
          </a:xfrm>
          <a:prstGeom prst="rect">
            <a:avLst/>
          </a:prstGeom>
          <a:solidFill>
            <a:srgbClr val="E30613">
              <a:alpha val="3703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193852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0.3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937760" y="1828800"/>
            <a:ext cx="1097280" cy="365760"/>
          </a:xfrm>
          <a:prstGeom prst="rect">
            <a:avLst/>
          </a:prstGeom>
          <a:solidFill>
            <a:srgbClr val="E30613">
              <a:alpha val="3324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828800"/>
            <a:ext cx="1097280" cy="365760"/>
          </a:xfrm>
          <a:prstGeom prst="rect">
            <a:avLst/>
          </a:prstGeom>
          <a:solidFill>
            <a:srgbClr val="E3061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1828800"/>
            <a:ext cx="1097280" cy="365760"/>
          </a:xfrm>
          <a:prstGeom prst="rect">
            <a:avLst/>
          </a:prstGeom>
          <a:solidFill>
            <a:srgbClr val="E3061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66760" y="1828800"/>
            <a:ext cx="1097280" cy="365760"/>
          </a:xfrm>
          <a:prstGeom prst="rect">
            <a:avLst/>
          </a:prstGeom>
          <a:solidFill>
            <a:srgbClr val="E30613">
              <a:alpha val="2136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9760" y="1828800"/>
            <a:ext cx="1097280" cy="365760"/>
          </a:xfrm>
          <a:prstGeom prst="rect">
            <a:avLst/>
          </a:prstGeom>
          <a:solidFill>
            <a:srgbClr val="E3061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23500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UTI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508760" y="2240280"/>
            <a:ext cx="1097280" cy="365760"/>
          </a:xfrm>
          <a:prstGeom prst="rect">
            <a:avLst/>
          </a:prstGeom>
          <a:solidFill>
            <a:srgbClr val="E30613">
              <a:alpha val="28726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2240280"/>
            <a:ext cx="1097280" cy="365760"/>
          </a:xfrm>
          <a:prstGeom prst="rect">
            <a:avLst/>
          </a:prstGeom>
          <a:solidFill>
            <a:srgbClr val="E30613">
              <a:alpha val="43858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71800" y="235000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0.5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794760" y="2240280"/>
            <a:ext cx="1097280" cy="365760"/>
          </a:xfrm>
          <a:prstGeom prst="rect">
            <a:avLst/>
          </a:prstGeom>
          <a:solidFill>
            <a:srgbClr val="E30613">
              <a:alpha val="2404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2240280"/>
            <a:ext cx="1097280" cy="365760"/>
          </a:xfrm>
          <a:prstGeom prst="rect">
            <a:avLst/>
          </a:prstGeom>
          <a:solidFill>
            <a:srgbClr val="E30613">
              <a:alpha val="3313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2240280"/>
            <a:ext cx="1097280" cy="365760"/>
          </a:xfrm>
          <a:prstGeom prst="rect">
            <a:avLst/>
          </a:prstGeom>
          <a:solidFill>
            <a:srgbClr val="E30613">
              <a:alpha val="3129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2240280"/>
            <a:ext cx="1097280" cy="365760"/>
          </a:xfrm>
          <a:prstGeom prst="rect">
            <a:avLst/>
          </a:prstGeom>
          <a:solidFill>
            <a:srgbClr val="E3061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66760" y="2240280"/>
            <a:ext cx="1097280" cy="365760"/>
          </a:xfrm>
          <a:prstGeom prst="rect">
            <a:avLst/>
          </a:prstGeom>
          <a:solidFill>
            <a:srgbClr val="E30613">
              <a:alpha val="2065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09760" y="2240280"/>
            <a:ext cx="1097280" cy="365760"/>
          </a:xfrm>
          <a:prstGeom prst="rect">
            <a:avLst/>
          </a:prstGeom>
          <a:solidFill>
            <a:srgbClr val="E30613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276148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30613"/>
                </a:solidFill>
              </a:rPr>
              <a:t>UMI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508760" y="2651760"/>
            <a:ext cx="1097280" cy="365760"/>
          </a:xfrm>
          <a:prstGeom prst="rect">
            <a:avLst/>
          </a:prstGeom>
          <a:solidFill>
            <a:srgbClr val="E30613">
              <a:alpha val="34338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51760" y="2651760"/>
            <a:ext cx="1097280" cy="365760"/>
          </a:xfrm>
          <a:prstGeom prst="rect">
            <a:avLst/>
          </a:prstGeom>
          <a:solidFill>
            <a:srgbClr val="E30613">
              <a:alpha val="37384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71800" y="276148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0.3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3794760" y="2651760"/>
            <a:ext cx="1097280" cy="365760"/>
          </a:xfrm>
          <a:prstGeom prst="rect">
            <a:avLst/>
          </a:prstGeom>
          <a:solidFill>
            <a:srgbClr val="E30613">
              <a:alpha val="3175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2651760"/>
            <a:ext cx="1097280" cy="365760"/>
          </a:xfrm>
          <a:prstGeom prst="rect">
            <a:avLst/>
          </a:prstGeom>
          <a:solidFill>
            <a:srgbClr val="E30613">
              <a:alpha val="28694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2651760"/>
            <a:ext cx="1097280" cy="365760"/>
          </a:xfrm>
          <a:prstGeom prst="rect">
            <a:avLst/>
          </a:prstGeom>
          <a:solidFill>
            <a:srgbClr val="E30613">
              <a:alpha val="3134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2651760"/>
            <a:ext cx="1097280" cy="365760"/>
          </a:xfrm>
          <a:prstGeom prst="rect">
            <a:avLst/>
          </a:prstGeom>
          <a:solidFill>
            <a:srgbClr val="E30613">
              <a:alpha val="2504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66760" y="2651760"/>
            <a:ext cx="1097280" cy="365760"/>
          </a:xfrm>
          <a:prstGeom prst="rect">
            <a:avLst/>
          </a:prstGeom>
          <a:solidFill>
            <a:srgbClr val="E30613">
              <a:alpha val="2058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2651760"/>
            <a:ext cx="1097280" cy="365760"/>
          </a:xfrm>
          <a:prstGeom prst="rect">
            <a:avLst/>
          </a:prstGeom>
          <a:solidFill>
            <a:srgbClr val="E30613">
              <a:alpha val="3289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317296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PORTUGAL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508760" y="3063240"/>
            <a:ext cx="1097280" cy="365760"/>
          </a:xfrm>
          <a:prstGeom prst="rect">
            <a:avLst/>
          </a:prstGeom>
          <a:solidFill>
            <a:srgbClr val="E30613">
              <a:alpha val="259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51760" y="3063240"/>
            <a:ext cx="1097280" cy="365760"/>
          </a:xfrm>
          <a:prstGeom prst="rect">
            <a:avLst/>
          </a:prstGeom>
          <a:solidFill>
            <a:srgbClr val="E30613">
              <a:alpha val="2380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94760" y="3063240"/>
            <a:ext cx="1097280" cy="365760"/>
          </a:xfrm>
          <a:prstGeom prst="rect">
            <a:avLst/>
          </a:prstGeom>
          <a:solidFill>
            <a:srgbClr val="E30613">
              <a:alpha val="27386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37760" y="3063240"/>
            <a:ext cx="1097280" cy="365760"/>
          </a:xfrm>
          <a:prstGeom prst="rect">
            <a:avLst/>
          </a:prstGeom>
          <a:solidFill>
            <a:srgbClr val="E30613">
              <a:alpha val="2530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80760" y="3063240"/>
            <a:ext cx="1097280" cy="365760"/>
          </a:xfrm>
          <a:prstGeom prst="rect">
            <a:avLst/>
          </a:prstGeom>
          <a:solidFill>
            <a:srgbClr val="E30613">
              <a:alpha val="2336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23760" y="3063240"/>
            <a:ext cx="1097280" cy="365760"/>
          </a:xfrm>
          <a:prstGeom prst="rect">
            <a:avLst/>
          </a:prstGeom>
          <a:solidFill>
            <a:srgbClr val="E30613">
              <a:alpha val="2177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66760" y="3063240"/>
            <a:ext cx="1097280" cy="365760"/>
          </a:xfrm>
          <a:prstGeom prst="rect">
            <a:avLst/>
          </a:prstGeom>
          <a:solidFill>
            <a:srgbClr val="E30613">
              <a:alpha val="20946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09760" y="3063240"/>
            <a:ext cx="1097280" cy="365760"/>
          </a:xfrm>
          <a:prstGeom prst="rect">
            <a:avLst/>
          </a:prstGeom>
          <a:solidFill>
            <a:srgbClr val="E30613">
              <a:alpha val="2296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358444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GERMANY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508760" y="3474720"/>
            <a:ext cx="1097280" cy="365760"/>
          </a:xfrm>
          <a:prstGeom prst="rect">
            <a:avLst/>
          </a:prstGeom>
          <a:solidFill>
            <a:srgbClr val="E30613">
              <a:alpha val="3683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828800" y="358444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0.3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2651760" y="3474720"/>
            <a:ext cx="1097280" cy="365760"/>
          </a:xfrm>
          <a:prstGeom prst="rect">
            <a:avLst/>
          </a:prstGeom>
          <a:solidFill>
            <a:srgbClr val="E30613">
              <a:alpha val="3124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94760" y="3474720"/>
            <a:ext cx="1097280" cy="365760"/>
          </a:xfrm>
          <a:prstGeom prst="rect">
            <a:avLst/>
          </a:prstGeom>
          <a:solidFill>
            <a:srgbClr val="E30613">
              <a:alpha val="3268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37760" y="3474720"/>
            <a:ext cx="1097280" cy="365760"/>
          </a:xfrm>
          <a:prstGeom prst="rect">
            <a:avLst/>
          </a:prstGeom>
          <a:solidFill>
            <a:srgbClr val="E30613">
              <a:alpha val="28837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3474720"/>
            <a:ext cx="1097280" cy="365760"/>
          </a:xfrm>
          <a:prstGeom prst="rect">
            <a:avLst/>
          </a:prstGeom>
          <a:solidFill>
            <a:srgbClr val="E30613">
              <a:alpha val="2567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23760" y="3474720"/>
            <a:ext cx="1097280" cy="365760"/>
          </a:xfrm>
          <a:prstGeom prst="rect">
            <a:avLst/>
          </a:prstGeom>
          <a:solidFill>
            <a:srgbClr val="E30613">
              <a:alpha val="2801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66760" y="3474720"/>
            <a:ext cx="1097280" cy="365760"/>
          </a:xfrm>
          <a:prstGeom prst="rect">
            <a:avLst/>
          </a:prstGeom>
          <a:solidFill>
            <a:srgbClr val="E30613">
              <a:alpha val="23176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509760" y="3474720"/>
            <a:ext cx="1097280" cy="365760"/>
          </a:xfrm>
          <a:prstGeom prst="rect">
            <a:avLst/>
          </a:prstGeom>
          <a:solidFill>
            <a:srgbClr val="E30613">
              <a:alpha val="2936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1520" y="39959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BELGIUM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508760" y="3886200"/>
            <a:ext cx="1097280" cy="365760"/>
          </a:xfrm>
          <a:prstGeom prst="rect">
            <a:avLst/>
          </a:prstGeom>
          <a:solidFill>
            <a:srgbClr val="E30613">
              <a:alpha val="28403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51760" y="3886200"/>
            <a:ext cx="1097280" cy="365760"/>
          </a:xfrm>
          <a:prstGeom prst="rect">
            <a:avLst/>
          </a:prstGeom>
          <a:solidFill>
            <a:srgbClr val="E30613">
              <a:alpha val="30606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94760" y="3886200"/>
            <a:ext cx="1097280" cy="365760"/>
          </a:xfrm>
          <a:prstGeom prst="rect">
            <a:avLst/>
          </a:prstGeom>
          <a:solidFill>
            <a:srgbClr val="E30613">
              <a:alpha val="38112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114800" y="399592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1F24"/>
                </a:solidFill>
              </a:rPr>
              <a:t>0.3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937760" y="3886200"/>
            <a:ext cx="1097280" cy="365760"/>
          </a:xfrm>
          <a:prstGeom prst="rect">
            <a:avLst/>
          </a:prstGeom>
          <a:solidFill>
            <a:srgbClr val="E30613">
              <a:alpha val="27944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3886200"/>
            <a:ext cx="1097280" cy="365760"/>
          </a:xfrm>
          <a:prstGeom prst="rect">
            <a:avLst/>
          </a:prstGeom>
          <a:solidFill>
            <a:srgbClr val="E30613">
              <a:alpha val="2450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223760" y="3886200"/>
            <a:ext cx="1097280" cy="365760"/>
          </a:xfrm>
          <a:prstGeom prst="rect">
            <a:avLst/>
          </a:prstGeom>
          <a:solidFill>
            <a:srgbClr val="E30613">
              <a:alpha val="2278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366760" y="3886200"/>
            <a:ext cx="1097280" cy="365760"/>
          </a:xfrm>
          <a:prstGeom prst="rect">
            <a:avLst/>
          </a:prstGeom>
          <a:solidFill>
            <a:srgbClr val="E30613">
              <a:alpha val="2100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509760" y="3886200"/>
            <a:ext cx="1097280" cy="365760"/>
          </a:xfrm>
          <a:prstGeom prst="rect">
            <a:avLst/>
          </a:prstGeom>
          <a:solidFill>
            <a:srgbClr val="E30613">
              <a:alpha val="26388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1520" y="44074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F24"/>
                </a:solidFill>
              </a:rPr>
              <a:t>HUNGARY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508760" y="4297680"/>
            <a:ext cx="1097280" cy="365760"/>
          </a:xfrm>
          <a:prstGeom prst="rect">
            <a:avLst/>
          </a:prstGeom>
          <a:solidFill>
            <a:srgbClr val="E30613">
              <a:alpha val="2577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51760" y="4297680"/>
            <a:ext cx="1097280" cy="365760"/>
          </a:xfrm>
          <a:prstGeom prst="rect">
            <a:avLst/>
          </a:prstGeom>
          <a:solidFill>
            <a:srgbClr val="E30613">
              <a:alpha val="2509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94760" y="4297680"/>
            <a:ext cx="1097280" cy="365760"/>
          </a:xfrm>
          <a:prstGeom prst="rect">
            <a:avLst/>
          </a:prstGeom>
          <a:solidFill>
            <a:srgbClr val="E30613">
              <a:alpha val="2372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37760" y="4297680"/>
            <a:ext cx="1097280" cy="365760"/>
          </a:xfrm>
          <a:prstGeom prst="rect">
            <a:avLst/>
          </a:prstGeom>
          <a:solidFill>
            <a:srgbClr val="E30613">
              <a:alpha val="22914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80760" y="4297680"/>
            <a:ext cx="1097280" cy="365760"/>
          </a:xfrm>
          <a:prstGeom prst="rect">
            <a:avLst/>
          </a:prstGeom>
          <a:solidFill>
            <a:srgbClr val="E30613">
              <a:alpha val="22389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3760" y="4297680"/>
            <a:ext cx="1097280" cy="365760"/>
          </a:xfrm>
          <a:prstGeom prst="rect">
            <a:avLst/>
          </a:prstGeom>
          <a:solidFill>
            <a:srgbClr val="E30613">
              <a:alpha val="21111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66760" y="4297680"/>
            <a:ext cx="1097280" cy="365760"/>
          </a:xfrm>
          <a:prstGeom prst="rect">
            <a:avLst/>
          </a:prstGeom>
          <a:solidFill>
            <a:srgbClr val="E30613">
              <a:alpha val="20528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509760" y="4297680"/>
            <a:ext cx="1097280" cy="365760"/>
          </a:xfrm>
          <a:prstGeom prst="rect">
            <a:avLst/>
          </a:prstGeom>
          <a:solidFill>
            <a:srgbClr val="E30613">
              <a:alpha val="2251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321040" y="5010912"/>
            <a:ext cx="1371600" cy="228600"/>
          </a:xfrm>
          <a:prstGeom prst="roundRect">
            <a:avLst>
              <a:gd name="adj" fmla="val 32000"/>
            </a:avLst>
          </a:prstGeom>
          <a:solidFill>
            <a:srgbClr val="FDEEEF"/>
          </a:solidFill>
          <a:ln w="12700">
            <a:solidFill>
              <a:srgbClr val="FDEEEF">
                <a:alpha val="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366760" y="50612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30613"/>
                </a:solidFill>
              </a:rPr>
              <a:t>darker = larger euro gap</a:t>
            </a:r>
            <a:endParaRPr lang="en-US" sz="780" dirty="0"/>
          </a:p>
        </p:txBody>
      </p:sp>
      <p:sp>
        <p:nvSpPr>
          <p:cNvPr id="101" name="Text 99"/>
          <p:cNvSpPr/>
          <p:nvPr/>
        </p:nvSpPr>
        <p:spPr>
          <a:xfrm>
            <a:off x="960120" y="5349240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Read this as an action map: IUK is broad and large, UTI is intense in brake/clutch, and UMI still matters despite higher overall GPS coverage.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pms_opportunity_matrix.csv, CY2025. Values shown are EUR gaps by market and PMS family.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5DD"/>
                </a:solidFill>
              </a:rPr>
              <a:t>IUK FORENSIC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IUK is the scale problem: 47.8k trucks and EUR 5.8M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3EA"/>
                </a:solidFill>
              </a:rPr>
              <a:t>The question is not whether the rate is the lowest; it is where the light-commercial fleet converts poorly into billed parts.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trucks in service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23160" y="155448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5.8M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uncaptured opportunity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0" y="15544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51.3%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C7D0DA"/>
                </a:solidFill>
              </a:rPr>
              <a:t>of target spend billed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299008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CE3EA"/>
                </a:solidFill>
              </a:rPr>
              <a:t>Clutch Disc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423160" y="2971800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2971800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97180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EUR 1.3M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822960" y="337413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CE3EA"/>
                </a:solidFill>
              </a:rPr>
              <a:t>Brake Pad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423160" y="3355848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3355848"/>
            <a:ext cx="1956884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355848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EUR 807K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822960" y="375818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CE3EA"/>
                </a:solidFill>
              </a:rPr>
              <a:t>Brake Shoe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423160" y="3739896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23160" y="3739896"/>
            <a:ext cx="1683372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739896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EUR 694K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822960" y="414223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3EA"/>
                </a:solidFill>
              </a:rPr>
              <a:t>Clutch Pressure Plate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423160" y="4123944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4123944"/>
            <a:ext cx="1370634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41239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EUR 565K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822960" y="452628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3EA"/>
                </a:solidFill>
              </a:rPr>
              <a:t>Fuel Filter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423160" y="4507992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23160" y="4507992"/>
            <a:ext cx="1176432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45079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EUR 485K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822960" y="491032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CE3EA"/>
                </a:solidFill>
              </a:rPr>
              <a:t>Blower Filter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423160" y="4892040"/>
            <a:ext cx="3246120" cy="173736"/>
          </a:xfrm>
          <a:prstGeom prst="roundRect">
            <a:avLst>
              <a:gd name="adj" fmla="val 31579"/>
            </a:avLst>
          </a:prstGeom>
          <a:solidFill>
            <a:srgbClr val="364658"/>
          </a:solidFill>
          <a:ln w="12700">
            <a:solidFill>
              <a:srgbClr val="36465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23160" y="4892040"/>
            <a:ext cx="1140477" cy="173736"/>
          </a:xfrm>
          <a:prstGeom prst="roundRect">
            <a:avLst>
              <a:gd name="adj" fmla="val 31579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4892040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</a:rPr>
              <a:t>EUR 470K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629400" y="1645920"/>
            <a:ext cx="4434840" cy="3337560"/>
          </a:xfrm>
          <a:prstGeom prst="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3847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19659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Commercial interpretation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23957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4EA"/>
                </a:solidFill>
              </a:rPr>
              <a:t>IUK needs a service-family recovery plan, not a general “sell more parts” message.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03720" y="3063240"/>
            <a:ext cx="3566160" cy="0"/>
          </a:xfrm>
          <a:prstGeom prst="line">
            <a:avLst/>
          </a:prstGeom>
          <a:noFill/>
          <a:ln w="12700">
            <a:solidFill>
              <a:srgbClr val="5765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33101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DE4EA"/>
                </a:solidFill>
              </a:rPr>
              <a:t>First page of the plan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03720" y="358444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4EA"/>
                </a:solidFill>
              </a:rPr>
              <a:t>Clutch disc · brake pad · brake shoe · clutch pressure plate. Keep the fleet figure on the same page so the scale is impossible to miss.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 and pms_opportunity_matrix.csv, CY2025.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market · IUK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ISRAEL IS TWO OPERATING CONVERSATIONS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Universal Trucks Israel and Universal Motors Israel must not be blended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Same country, different fleets, different gaps, different service-family patterns.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37760" cy="4526280"/>
          </a:xfrm>
          <a:prstGeom prst="rect">
            <a:avLst/>
          </a:prstGeom>
          <a:solidFill>
            <a:srgbClr val="FFF3F4"/>
          </a:solidFill>
          <a:ln w="12700">
            <a:solidFill>
              <a:srgbClr val="F0BD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118872" cy="452628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824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Universal Trucks Israel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75104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N+F commercial vehicles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4505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953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trucks in service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50592" y="24505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4.9M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2953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uncaptured opportunity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0" y="24505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of target spend billed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6758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Brake Pad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2377440" y="3657600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F7DADC"/>
          </a:solidFill>
          <a:ln w="12700">
            <a:solidFill>
              <a:srgbClr val="F7DAD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657600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666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30613"/>
                </a:solidFill>
              </a:rPr>
              <a:t>EUR 456K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Clutch Booster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2377440" y="4005072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F7DADC"/>
          </a:solidFill>
          <a:ln w="12700">
            <a:solidFill>
              <a:srgbClr val="F7DAD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005072"/>
            <a:ext cx="1906131" cy="146304"/>
          </a:xfrm>
          <a:prstGeom prst="roundRect">
            <a:avLst>
              <a:gd name="adj" fmla="val 37500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401421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30613"/>
                </a:solidFill>
              </a:rPr>
              <a:t>EUR 388K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005840" y="43708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Clutch Pressure Plate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2377440" y="4352544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F7DADC"/>
          </a:solidFill>
          <a:ln w="12700">
            <a:solidFill>
              <a:srgbClr val="F7DAD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352544"/>
            <a:ext cx="1233091" cy="146304"/>
          </a:xfrm>
          <a:prstGeom prst="roundRect">
            <a:avLst>
              <a:gd name="adj" fmla="val 37500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3616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30613"/>
                </a:solidFill>
              </a:rPr>
              <a:t>EUR 251K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005840" y="47183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Brake Rotor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377440" y="4700016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F7DADC"/>
          </a:solidFill>
          <a:ln w="12700">
            <a:solidFill>
              <a:srgbClr val="F7DAD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0" y="4700016"/>
            <a:ext cx="1060353" cy="146304"/>
          </a:xfrm>
          <a:prstGeom prst="roundRect">
            <a:avLst>
              <a:gd name="adj" fmla="val 37500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470916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E30613"/>
                </a:solidFill>
              </a:rPr>
              <a:t>EUR 216K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6355080" y="1417320"/>
            <a:ext cx="4937760" cy="4526280"/>
          </a:xfrm>
          <a:prstGeom prst="rect">
            <a:avLst/>
          </a:prstGeom>
          <a:solidFill>
            <a:srgbClr val="F3F5F7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417320"/>
            <a:ext cx="118872" cy="4526280"/>
          </a:xfrm>
          <a:prstGeom prst="rect">
            <a:avLst/>
          </a:prstGeom>
          <a:solidFill>
            <a:srgbClr val="243142"/>
          </a:solidFill>
          <a:ln w="12700">
            <a:solidFill>
              <a:srgbClr val="2431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6824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Universal Motors Israel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75120" y="1975104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6170"/>
                </a:solidFill>
              </a:rPr>
              <a:t>TF / pickup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75120" y="245059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19k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2953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trucks in service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19872" y="24505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1.3M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119872" y="2953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uncaptured opportunity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875520" y="24505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431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71.6%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875520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170"/>
                </a:solidFill>
              </a:rPr>
              <a:t>of target spend billed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36758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Brake Pad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8046720" y="3657600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E4E8EC"/>
          </a:solidFill>
          <a:ln w="12700">
            <a:solidFill>
              <a:srgbClr val="E4E8E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3657600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0152" y="366674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43142"/>
                </a:solidFill>
              </a:rPr>
              <a:t>EUR 332K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6675120" y="40233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Clutch Disc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8046720" y="4005072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E4E8EC"/>
          </a:solidFill>
          <a:ln w="12700">
            <a:solidFill>
              <a:srgbClr val="E4E8EC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46720" y="4005072"/>
            <a:ext cx="1847739" cy="146304"/>
          </a:xfrm>
          <a:prstGeom prst="roundRect">
            <a:avLst>
              <a:gd name="adj" fmla="val 37500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360152" y="401421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43142"/>
                </a:solidFill>
              </a:rPr>
              <a:t>EUR 274K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6675120" y="43708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Blower Filter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8046720" y="4352544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E4E8EC"/>
          </a:solidFill>
          <a:ln w="12700">
            <a:solidFill>
              <a:srgbClr val="E4E8E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46720" y="4352544"/>
            <a:ext cx="1662066" cy="146304"/>
          </a:xfrm>
          <a:prstGeom prst="roundRect">
            <a:avLst>
              <a:gd name="adj" fmla="val 37500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360152" y="436168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43142"/>
                </a:solidFill>
              </a:rPr>
              <a:t>EUR 247K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6675120" y="471830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B1F24"/>
                </a:solidFill>
              </a:rPr>
              <a:t>Brake Shoe</a:t>
            </a:r>
            <a:endParaRPr lang="en-US" sz="760" dirty="0"/>
          </a:p>
        </p:txBody>
      </p:sp>
      <p:sp>
        <p:nvSpPr>
          <p:cNvPr id="55" name="Shape 53"/>
          <p:cNvSpPr/>
          <p:nvPr/>
        </p:nvSpPr>
        <p:spPr>
          <a:xfrm>
            <a:off x="8046720" y="4700016"/>
            <a:ext cx="2240280" cy="146304"/>
          </a:xfrm>
          <a:prstGeom prst="roundRect">
            <a:avLst>
              <a:gd name="adj" fmla="val 37500"/>
            </a:avLst>
          </a:prstGeom>
          <a:solidFill>
            <a:srgbClr val="E4E8EC"/>
          </a:solidFill>
          <a:ln w="12700">
            <a:solidFill>
              <a:srgbClr val="E4E8EC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4700016"/>
            <a:ext cx="1514905" cy="146304"/>
          </a:xfrm>
          <a:prstGeom prst="roundRect">
            <a:avLst>
              <a:gd name="adj" fmla="val 37500"/>
            </a:avLst>
          </a:prstGeom>
          <a:solidFill>
            <a:srgbClr val="243142"/>
          </a:solidFill>
          <a:ln w="12700">
            <a:solidFill>
              <a:srgbClr val="24314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60152" y="470916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243142"/>
                </a:solidFill>
              </a:rPr>
              <a:t>EUR 225K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6053328" y="1417320"/>
            <a:ext cx="0" cy="4526280"/>
          </a:xfrm>
          <a:prstGeom prst="line">
            <a:avLst/>
          </a:prstGeom>
          <a:noFill/>
          <a:ln w="15240">
            <a:solidFill>
              <a:srgbClr val="D8DE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 and pms_opportunity_matrix.csv, CY2025. UTI and UMI kept separate.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market · Israel split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ORIGINAL VS VALUE-PARTS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Value-parts mix is not one signal; it is a market strategy lens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Israel behaves very differently from UK and northern markets, so the deck should not rank all markets against one artificial answer.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Universal Trucks Israel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834640" y="14173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1417320"/>
            <a:ext cx="3561208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4538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86.5% value-parts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777240" y="1920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Universal Motors Israel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834640" y="18745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874520"/>
            <a:ext cx="3358036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9110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81.6% value-parts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1F24"/>
                </a:solidFill>
              </a:rPr>
              <a:t>Portugal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2331720"/>
            <a:ext cx="2390418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3682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58.1% value-parts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77240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1F24"/>
                </a:solidFill>
              </a:rPr>
              <a:t>Belgium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834640" y="27889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788920"/>
            <a:ext cx="1699210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8254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41.3% value-parts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777240" y="32918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Isuzu UK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834640" y="32461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3246120"/>
            <a:ext cx="947246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2826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23.0% value-parts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777240" y="37490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B1F24"/>
                </a:solidFill>
              </a:rPr>
              <a:t>Isuzu Truck UK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834640" y="37033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3703320"/>
            <a:ext cx="631313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7398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15.3% value-parts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777240" y="4206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1F24"/>
                </a:solidFill>
              </a:rPr>
              <a:t>Germany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834640" y="41605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4160520"/>
            <a:ext cx="1088197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41970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26.4% value-parts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777240" y="46634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B1F24"/>
                </a:solidFill>
              </a:rPr>
              <a:t>Sweden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834640" y="4617720"/>
            <a:ext cx="4114800" cy="219456"/>
          </a:xfrm>
          <a:prstGeom prst="rect">
            <a:avLst/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617720"/>
            <a:ext cx="476422" cy="219456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4654296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E30613"/>
                </a:solidFill>
              </a:rPr>
              <a:t>11.6% value-parts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8458200" y="1444752"/>
            <a:ext cx="2651760" cy="297180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17830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Second lens only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732520" y="21945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DE3EA"/>
                </a:solidFill>
              </a:rPr>
              <a:t>Service-demand coverage remains the main PMS story. Original vs value-parts explains how the billed euro is being won.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8732520" y="3172968"/>
            <a:ext cx="1920240" cy="0"/>
          </a:xfrm>
          <a:prstGeom prst="line">
            <a:avLst/>
          </a:prstGeom>
          <a:noFill/>
          <a:ln w="12700">
            <a:solidFill>
              <a:srgbClr val="5361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32520" y="34290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73252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DE3EA"/>
                </a:solidFill>
              </a:rPr>
              <a:t>of clutch original + value-parts sales are value-parts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mix_genuine_bvp_pms.csv, CY2025. “Value-parts” = BVP in data; “original” = genuine in data.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RECOVERY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splits into under-service, substitution and catalogue-type effects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This is useful because Sales, Planning and technical/product teams do not solve the same gap in the same way.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208253" cy="566928"/>
          </a:xfrm>
          <a:prstGeom prst="rect">
            <a:avLst/>
          </a:prstGeom>
          <a:solidFill>
            <a:srgbClr val="E3061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116813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Under Service · EUR 10.1M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939773" y="1417320"/>
            <a:ext cx="4682864" cy="566928"/>
          </a:xfrm>
          <a:prstGeom prst="rect">
            <a:avLst/>
          </a:prstGeom>
          <a:solidFill>
            <a:srgbClr val="F2A5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5493" y="1600200"/>
            <a:ext cx="45914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Substitution · EUR 9.1M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10622637" y="1417320"/>
            <a:ext cx="715923" cy="566928"/>
          </a:xfrm>
          <a:prstGeom prst="rect">
            <a:avLst/>
          </a:prstGeom>
          <a:solidFill>
            <a:srgbClr val="5361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68357" y="1600200"/>
            <a:ext cx="624483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Catalog Gap · EUR 1.4M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Largest market × gap-type blocks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99923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IUK · Under Service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971800" y="2971800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2971800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99008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30613"/>
                </a:solidFill>
              </a:rPr>
              <a:t>EUR 3.7M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IUK · Substitution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971800" y="3264408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3264408"/>
            <a:ext cx="2306656" cy="155448"/>
          </a:xfrm>
          <a:prstGeom prst="roundRect">
            <a:avLst>
              <a:gd name="adj" fmla="val 35294"/>
            </a:avLst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3282696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2A51A"/>
                </a:solidFill>
              </a:rPr>
              <a:t>EUR 2.2M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822960" y="358444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BELGIUM · Substitution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971800" y="3557016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3557016"/>
            <a:ext cx="1542340" cy="155448"/>
          </a:xfrm>
          <a:prstGeom prst="roundRect">
            <a:avLst>
              <a:gd name="adj" fmla="val 35294"/>
            </a:avLst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575304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2A51A"/>
                </a:solidFill>
              </a:rPr>
              <a:t>EUR 1.5M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22960" y="387705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GERMANY · Substitution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971800" y="3849624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3849624"/>
            <a:ext cx="1281692" cy="155448"/>
          </a:xfrm>
          <a:prstGeom prst="roundRect">
            <a:avLst>
              <a:gd name="adj" fmla="val 35294"/>
            </a:avLst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386791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2A51A"/>
                </a:solidFill>
              </a:rPr>
              <a:t>EUR 1.2M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22960" y="416966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ITUK · Under Service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971800" y="4142232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4142232"/>
            <a:ext cx="1253681" cy="155448"/>
          </a:xfrm>
          <a:prstGeom prst="roundRect">
            <a:avLst>
              <a:gd name="adj" fmla="val 35294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4160520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30613"/>
                </a:solidFill>
              </a:rPr>
              <a:t>EUR 1.2M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822960" y="4462272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UMI · Substitution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971800" y="4434840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4434840"/>
            <a:ext cx="1216314" cy="155448"/>
          </a:xfrm>
          <a:prstGeom prst="roundRect">
            <a:avLst>
              <a:gd name="adj" fmla="val 35294"/>
            </a:avLst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4453128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2A51A"/>
                </a:solidFill>
              </a:rPr>
              <a:t>EUR 1.2M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22960" y="4754880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GERMANY · Under Service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2971800" y="4727448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4727448"/>
            <a:ext cx="1194737" cy="155448"/>
          </a:xfrm>
          <a:prstGeom prst="roundRect">
            <a:avLst>
              <a:gd name="adj" fmla="val 35294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745736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30613"/>
                </a:solidFill>
              </a:rPr>
              <a:t>EUR 1.1M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822960" y="5047488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UTI · Under Service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971800" y="5020056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71800" y="5020056"/>
            <a:ext cx="1106373" cy="155448"/>
          </a:xfrm>
          <a:prstGeom prst="roundRect">
            <a:avLst>
              <a:gd name="adj" fmla="val 35294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40880" y="5038344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30613"/>
                </a:solidFill>
              </a:rPr>
              <a:t>EUR 1.1M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822960" y="534009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UMI · Under Service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2971800" y="5312664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71800" y="5312664"/>
            <a:ext cx="648250" cy="155448"/>
          </a:xfrm>
          <a:prstGeom prst="roundRect">
            <a:avLst>
              <a:gd name="adj" fmla="val 35294"/>
            </a:avLst>
          </a:prstGeom>
          <a:solidFill>
            <a:srgbClr val="E30613"/>
          </a:solidFill>
          <a:ln w="12700">
            <a:solidFill>
              <a:srgbClr val="E3061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40880" y="5330952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E30613"/>
                </a:solidFill>
              </a:rPr>
              <a:t>EUR 616K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822960" y="5632704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B1F24"/>
                </a:solidFill>
              </a:rPr>
              <a:t>UTI · Substitution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971800" y="5605272"/>
            <a:ext cx="3886200" cy="155448"/>
          </a:xfrm>
          <a:prstGeom prst="roundRect">
            <a:avLst>
              <a:gd name="adj" fmla="val 35294"/>
            </a:avLst>
          </a:prstGeom>
          <a:solidFill>
            <a:srgbClr val="EEF1F4"/>
          </a:solidFill>
          <a:ln w="12700">
            <a:solidFill>
              <a:srgbClr val="EEF1F4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71800" y="5605272"/>
            <a:ext cx="621320" cy="155448"/>
          </a:xfrm>
          <a:prstGeom prst="roundRect">
            <a:avLst>
              <a:gd name="adj" fmla="val 35294"/>
            </a:avLst>
          </a:prstGeom>
          <a:solidFill>
            <a:srgbClr val="F2A51A"/>
          </a:solidFill>
          <a:ln w="12700">
            <a:solidFill>
              <a:srgbClr val="F2A51A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5623560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2A51A"/>
                </a:solidFill>
              </a:rPr>
              <a:t>EUR 590K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458200" y="2816352"/>
            <a:ext cx="2651760" cy="2103120"/>
          </a:xfrm>
          <a:prstGeom prst="rect">
            <a:avLst/>
          </a:prstGeom>
          <a:solidFill>
            <a:srgbClr val="FAFBFC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3127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</a:rPr>
              <a:t>How to use it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732520" y="3493008"/>
            <a:ext cx="1920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170"/>
                </a:solidFill>
              </a:rPr>
              <a:t>Under-service: service demand not turning into billed parts.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36170"/>
                </a:solidFill>
              </a:rPr>
              <a:t>Substitution: value-parts or alternatives are already involved.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536170"/>
                </a:solidFill>
              </a:rPr>
              <a:t>Catalogue-type gap: product / matching issue to investigate.</a:t>
            </a:r>
            <a:endParaRPr lang="en-US" sz="970" dirty="0"/>
          </a:p>
        </p:txBody>
      </p:sp>
      <p:sp>
        <p:nvSpPr>
          <p:cNvPr id="56" name="Text 54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capture_recovery_model.csv, CY2025.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ISZE · Parts performance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5DD"/>
                </a:solidFill>
              </a:rPr>
              <a:t>EXECUTIVE FOCUS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next euro of attention should go where fleet, euro gap and service family overlap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DE3EA"/>
                </a:solidFill>
              </a:rPr>
              <a:t>This page is deliberately operational, but phrased in boardroom English. No pipeline wording, no analyst shorthand. 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975104"/>
            <a:ext cx="9921240" cy="0"/>
          </a:xfrm>
          <a:prstGeom prst="line">
            <a:avLst/>
          </a:prstGeom>
          <a:noFill/>
          <a:ln w="12700">
            <a:solidFill>
              <a:srgbClr val="344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00784"/>
            <a:ext cx="182880" cy="18288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1627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0613"/>
                </a:solidFill>
              </a:rPr>
              <a:t>IUK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16276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</a:rPr>
              <a:t>Open the light-commercial recovery conversation on clutch and brake, using EUR gap and 47.8k trucks on the same page.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" y="2779776"/>
            <a:ext cx="9921240" cy="0"/>
          </a:xfrm>
          <a:prstGeom prst="line">
            <a:avLst/>
          </a:prstGeom>
          <a:noFill/>
          <a:ln w="12700">
            <a:solidFill>
              <a:srgbClr val="3443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505456"/>
            <a:ext cx="182880" cy="182880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432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432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0613"/>
                </a:solidFill>
              </a:rPr>
              <a:t>UTI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24323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</a:rPr>
              <a:t>Treat Universal Trucks Israel as an intensity case: smaller fleet, much higher missing euro per truck.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9921240" cy="0"/>
          </a:xfrm>
          <a:prstGeom prst="line">
            <a:avLst/>
          </a:prstGeom>
          <a:noFill/>
          <a:ln w="12700">
            <a:solidFill>
              <a:srgbClr val="3443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10128"/>
            <a:ext cx="182880" cy="182880"/>
          </a:xfrm>
          <a:prstGeom prst="ellipse">
            <a:avLst/>
          </a:prstGeom>
          <a:solidFill>
            <a:srgbClr val="F2A51A"/>
          </a:solidFill>
          <a:ln w="12700">
            <a:solidFill>
              <a:srgbClr val="F2A5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2369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Planning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2369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1A"/>
                </a:solidFill>
              </a:rPr>
              <a:t>IUK / UTI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32369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</a:rPr>
              <a:t>Align stock planning to the first wear-part list: clutch disc, brake pad, brake shoe, clutch pressure plate.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9808" y="4389120"/>
            <a:ext cx="9921240" cy="0"/>
          </a:xfrm>
          <a:prstGeom prst="line">
            <a:avLst/>
          </a:prstGeom>
          <a:noFill/>
          <a:ln w="12700">
            <a:solidFill>
              <a:srgbClr val="3443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114800"/>
            <a:ext cx="182880" cy="182880"/>
          </a:xfrm>
          <a:prstGeom prst="ellipse">
            <a:avLst/>
          </a:prstGeom>
          <a:solidFill>
            <a:srgbClr val="3A78C2"/>
          </a:solidFill>
          <a:ln w="12700">
            <a:solidFill>
              <a:srgbClr val="3A78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Distributor review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4041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8C2"/>
                </a:solidFill>
              </a:rPr>
              <a:t>UMI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94760" y="404164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3EA"/>
                </a:solidFill>
              </a:rPr>
              <a:t>Keep Universal Motors Israel separate: higher overall share billed, but material brake and clutch gaps remain.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9921240" cy="685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361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4772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Quality rule for every future slide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127248" y="5477256"/>
            <a:ext cx="7178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CE3EA"/>
                </a:solidFill>
              </a:rPr>
              <a:t>Export PNG, inspect the actual rendered slide, and fix every clipped label, crowded map, weak composition and empty percentage before delivery.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wallet_waterfall.csv, pms_opportunity_matrix.csv, capture_recovery_model.csv, mix_genuine_bvp_pms.csv, CY2025.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focus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54864" cy="50292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566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36170"/>
                </a:solidFill>
              </a:rPr>
              <a:t>BASIS AND CAVEATS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53949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billing and modelled target spend are deliberately kept separate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36170"/>
                </a:solidFill>
              </a:rPr>
              <a:t>This is a boardroom working pack, not a raw-data extract.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10469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02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B1F24"/>
                </a:solidFill>
              </a:rPr>
              <a:t>Measured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606040" y="15910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170"/>
                </a:solidFill>
              </a:rPr>
              <a:t>Parts billed is measured from ISZE aggregate billing data. No raw billing lines or full price list are used in this deck.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749808" y="2167128"/>
            <a:ext cx="10469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3500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B1F24"/>
                </a:solidFill>
              </a:rPr>
              <a:t>Modelled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606040" y="23408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170"/>
                </a:solidFill>
              </a:rPr>
              <a:t>Target spend is a ceiling based on target spend per truck. It is not a forecast and not an automatic recoverable amount.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49808" y="2916936"/>
            <a:ext cx="10469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099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B1F24"/>
                </a:solidFill>
              </a:rPr>
              <a:t>Comparable network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606040" y="309067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170"/>
                </a:solidFill>
              </a:rPr>
              <a:t>The core bridge uses 18 markets with joined fleet, target-spend and PMS logic. Extended parts-network markets are shown separately.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3666744"/>
            <a:ext cx="10469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496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E30613"/>
                </a:solidFill>
              </a:rPr>
              <a:t>Israel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606040" y="38404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170"/>
                </a:solidFill>
              </a:rPr>
              <a:t>UTI and UMI are separate distributors. UMI can use IDS Israel dealer geography; UTI needs a public/other dealer source if a dealer map is required.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9808" y="4416552"/>
            <a:ext cx="1046988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5994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B1F24"/>
                </a:solidFill>
              </a:rPr>
              <a:t>Language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2606040" y="45902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170"/>
                </a:solidFill>
              </a:rPr>
              <a:t>Slides use parts billed, target spend per truck, sales to dealer, reference dealer price, trucks in service. Pipeline filenames are not slide language.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10789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36170"/>
                </a:solidFill>
              </a:rPr>
              <a:t>Source: README.md and FILE_CATALOG.csv from the ISZE commercial data pack.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670548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Definitions and caveats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475720" y="665226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0917936" y="228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ISUZU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Isuzu Motors Europe 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ISZE Parts Performance Boardroom Pack</dc:title>
  <dc:subject>ISZE parts performance boardroom pack</dc:subject>
  <dc:creator>OpenAI</dc:creator>
  <cp:lastModifiedBy>OpenAI</cp:lastModifiedBy>
  <cp:revision>1</cp:revision>
  <dcterms:created xsi:type="dcterms:W3CDTF">2026-09-19T14:35:20Z</dcterms:created>
  <dcterms:modified xsi:type="dcterms:W3CDTF">2026-09-19T14:35:20Z</dcterms:modified>
</cp:coreProperties>
</file>