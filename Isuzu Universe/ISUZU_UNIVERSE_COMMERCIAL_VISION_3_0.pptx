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6692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Universe
An Isuzu commercial programme that connects product knowledge, deep purchasing analysis and dealer development with practical ways to grow the parts business.
AIM / ATLAS  |  IDS  |  PRISM
Explore the opportunity. Develop the offer. See what changes.
22 September 2026  /  White paper for discussion
[Sources]
Companion White Paper 3.0, page 1.
U; W; C
Programme design and illustrative applications: 22 September 2026.
[/Sources]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reason to participate
Universe is a proposed commercial programme for Isuzu Motors Europe (ISZE), national distributors and their dealers. It brings together an unusually specific combination: Isuzu parts knowledge, the composition of the parts business, dealer self-assessment and the market in which vehicles operate. The purpose is to help participants make stronger commercial choices, individually and with the relevant Isuzu functions.
The programme starts with recognisable foundations. The Aftermarket Intelligence Model (AIM) and the Atlas make the product range and purchasing history explorable. Isuzu Dealer Standards (IDS) supplies a recorded self-assessment and a basis for development. PRISM contributes commercial and historical fleet context. Universe connects these capabilities without requiring every commercial activity to use all of them.
Three developed examples show the ambition: a coordinated tender proposition for headquarters, an interactive dealer-development record showing progress, and a data-informed Deal of the Day. These are examples of what the programme could enable, not a closed application catalogue. Future additions should earn their place through a clear participant benefit and a workable information exchange.
The relationship is private and purposeful. Each distributor works with ISZE on its own information; a tender can include specifically authorised Isuzu entities. Participants gain useful tools and commercial opportunities. ISZE gains better evidence for where to direct effort, how to improve the offer and what the resulting activity achieved.
[Sources]
Companion White Paper 3.0, page 2.
U; C pp. 6, 8-9; W pp. 43-49
Programme design and illustrative applications: 22 September 2026.
[/Sources]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 knowledge. A stronger combined offer.
The architecture is commercial rather than organisational. Product knowledge explains what is being bought. Account history explains where and when recorded purchasing changes. Dealer assessment describes declared practices. Fleet and market information help establish whether a proposed initiative is relevant.
The same foundations can support several applications. A tender proposal draws on vehicle, parts and market knowledge. An IDS development project uses the assessment and selected commercial context. A Deal of the Day uses an eligible product selection, a defined audience and a supported commercial scenario. Each retains the distributor, reporting period and source basis it actually uses.
[Sources]
Companion White Paper 3.0, page 3.
U; C p. 6; W pp. 48-50
Programme design and illustrative applications: 22 September 2026.
[/Sources]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Private relationships. Selected collaboration.
Each distributor has its own analytical context, initiatives and authorised outputs. ISZE can compare supported evidence internally where permitted, but one distributor does not gain access to another distributor's commercial submissions, campaign plans, comments or pending support requests.
A joint tender is a specific collaboration, not a general network discussion. The lead distributor and the relevant vehicle, parts and headquarters functions work on a defined opportunity. Access follows the role in that opportunity and the information each function needs. Membership is deliberate and can change when the work changes.
Useful learning can still travel. ISZE may publish a reviewed product explanation, method or appropriately controlled example after checking its confidentiality and scope. The original commercial record remains private. Contributors retain a route to correct factual errors in an account of their work.
The result is a network that benefits from shared expertise while each distributor retains a private commercial relationship with ISZE. Information access must ultimately be enforced by the operating application and by the contents of exports, not merely by hidden menus.
[Sources]
Companion White Paper 3.0, page 8.
U; W pp. 44-49, 68-69; R p. 8
Programme design and illustrative applications: 22 September 2026.
[/Sources]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Useful tools earn better context
The proposed reinforcing mechanism begins with a useful capability. A participant uses it to understand a relevant issue or develop an offer. A visible benefit provides a reason to return. The participant can then correct the evidence or add the specific context that makes the next analysis better.
This mechanism is conditional. Repeated requests, unclear benefits or an unreliable interpretation can weaken participation. The programme should observe whether people return for eligible commercial work and whether the extra information actually changes the analysis. Submission counts alone do not establish voluntary value.
Learning should accumulate in the product and the method: a better account relationship, a clearer product definition, a more relevant selection rule or a reviewed example. It need not accumulate as unrestricted copies of each participant's commercially sensitive records.
[Sources]
Companion White Paper 3.0, page 7.
P; W pp. 43-47, 55-58
Programme design and illustrative applications: 22 September 2026.
[/Sources]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Applications can develop as value becomes clear
Tender collaboration, IDS progress and Deal of the Day demonstrate different types of value: a coordinated commercial proposition, a visible development journey and a targeted offer informed by data. They provide concrete ways to test the programme without defining its permanent limits.
Other applications could follow when a participant need, usable evidence and an accountable operating method are established. Possibilities include selected fleet-cost comparisons, privately prepared range studies and product-value evidence. These remain candidate applications, not a commitment to commission every idea.
A new application should explain what becomes possible, who benefits, what additional information is required and what the programme must do in return. It should reuse the existing product and account context wherever that context is fit for purpose.
Expandability is a product choice, not an access policy. The programme can be open to further useful applications while keeping participant information private and the scope of every collaboration controlled.
[Sources]
Companion White Paper 3.0, page 10.
U; P; W pp. 53-59
Programme design and illustrative applications: 22 September 2026.
[/Sources]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product range becomes a commercial language
The Atlas should make AIM's detailed classification useful to a commercial reader. Start with the covered business, then navigate through families, product groups, detailed product types and original references. At each level, show the composition, the period and the evidence that explains a movement.
This is more than a catalogue tree. The same structure can support the comparison of Genuine and Best Value Parts (BVP), the identification of the references behind a change and the preparation of a selected campaign. It can also show where a category definition is too broad for the decision being considered.
The participant should be able to explore beyond a ranked exception list. A range that is growing may reveal a development opportunity, and a stable range may be important to protect. The useful tool supports curiosity as well as prioritisation.
[Sources]
Companion White Paper 3.0, page 11.
C p. 6; W pp. 15, 24, 48-51
Programme design and illustrative applications: 22 September 2026.
[/Sources]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filter element is not a filter housing
The commercial meaning of a category depends on what it contains. An element, housing, assembly and service kit can sit near each other in a product tree while having very different prices and use. Combining them into one average unit price may describe a changing mix rather than a change in price.
AIM provides the grouping language. The original reference remains the identity of the transaction. Catalogue relationships describe successors or candidate alternatives on their documented basis. Technical application evidence supplies a separate judgement about fitment. These distinctions should survive every chart and export.
For a commercial comparison, product form and contents matter alongside the price. An axle kit and a single component cannot be compared as though they were equal quantities. A cheaper offer may have different contents; a more expensive one may not be more complete. The Atlas should help the user identify the precise comparison before discussing the commercial response.
A missing relationship should remain a visible gap in the selected analysis. It should not be filled with a plausible match based only on similar wording. Conversely, a missing pairing for one reference should not be described as proof that no BVP range exists in the wider family.
[Sources]
Companion White Paper 3.0, page 12.
C p. 6; W pp. 24-25, 50-51
Programme design and illustrative applications: 22 September 2026.
[/Sources]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revenue-only view misses part of the change
ISZE parts billed in the supplied brake-pad source category declined from EUR 347,389.58 in 2024 to EUR 302,366.25 in 2025, a reduction of EUR 45,023.33 or 13.0%. Recorded quantity moved from 4,562 to 3,402, a reduction of 25.4%. The difference merits a closer look at the contributing references and commercial mix.
The comparison describes ITUK distributor purchasing. It does not establish a like-for-like price increase, lost customer demand or a justified discount. The contextual fleet is 22,389 trucks on the supplied calendar-2025 spend-per-truck basis, using the March 2026 vehicle register. It is not the eligible population for every pad reference.
The practical value of the Atlas is the next level of explanation: which original references contributed, whether product composition changed and what a compatible sales-to-dealer view adds. A single percentage cannot answer those questions.
[Sources]
Companion White Paper 3.0, page 14.
M: ITUK brake-pad category, CY2024/2025, source 19 Sep 2026; F: 2025 context; C pp. 7, 10; arithmetic checked 22 Sep 2026
Programme design and illustrative applications: 22 September 2026.
[/Sources]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Concentrate the review where the change sits
The selected brake-pad, rotor and shoe categories declined by EUR 47,068.77 in ISZE parts billed to ITUK between full calendar years 2024 and 2025. Brake pads contributed EUR 45,023.33, rotors EUR 1,260.48 and shoes EUR 784.96. This is a comparison of the selected source categories, not the entire AIM braking family.
The result helps prioritise investigation. It does not support applying the same remedy to every braking product. A category can have a different quantity pattern, composition and local explanation even when all three billing totals are lower.
The contextual fleet remains 22,389 ITUK trucks on the stated 2025 basis; no dealer allocation is made. The next commercial decision should be based on the eligible references and their evidence, rather than treating the historical reduction as recoverable revenue.
[Sources]
Companion White Paper 3.0, page 15.
M: ITUK selected brake categories, CY2024/2025; F; C p. 11; arithmetic checked 22 Sep 2026
Programme design and illustrative applications: 22 September 2026.
[/Sources]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Genuine and BVP together
For I Motors, Portugal, the supplied clutch-kit source category shows Genuine billing of EUR 2,901.92 in 2024 and EUR 2,057.86 in 2025. BVP billing moved from EUR 27,057.95 to EUR 29,644.61. Combined ISZE parts billed increased from EUR 29,959.87 to EUR 31,702.47: EUR 1,742.60 or 5.8%, across two full calendar years.
Recorded quantity was almost unchanged at 462 kits in 2024 and 461 in 2025. A Genuine-only view would present an incomplete commercial picture. The useful question concerns the combined offer, product contents and contribution, rather than assuming every Genuine reduction is business lost to a competitor.
The supplied 2025 market context is 8,176 vehicles. It is not the eligible fleet for these kit references and cannot be allocated to Portuguese dealers. The data does not establish individual customer switching or the gross-profit effect of the change.
[Sources]
Companion White Paper 3.0, page 16.
M: Portugal clutch-kit category, CY2024/2025; F: 2025 context; C p. 12; arithmetic checked 22 Sep 2026
Programme design and illustrative applications: 22 September 2026.
[/Sources]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Carry the useful context forward
An Atlas selection can carry its market, purchasing account or national scope, original references, comparison period and source version into a Deal of the Day proposal. Relevant product evidence can be reused in a tender proposal. A commercial pattern can inform a dealer-development discussion where the assessment relationship is validated.
The application adds what is missing for its own purpose. Deal of the Day adds campaign timing, audience, eligible quantities and proposed terms. A tender adds requirements, participating entities and requested headquarters decisions. IDS development adds an agreed objective, evidence of implementation and review milestones.
This connection does not turn every analytical observation into an instruction to launch activity. It makes a chosen initiative easier to prepare and its result easier to interpret. The user should also be able to keep an analysis as a saved review with no further action.
[Sources]
Companion White Paper 3.0, page 21.
P; W pp. 48-54; R pp. 3-6
Programme design and illustrative applications: 22 September 2026.
[/Sources]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development visible
Isuzu Dealer Standards records the dealer's self-assessment. Universe can make that information easier to explore by section and question, retain its source wording and help the dealer turn a relevant priority into a development project. The product value is the ability to understand, choose, act and review in one coherent view.
The dealer remains an active participant. A development objective is selected with the distributor, rather than automatically imposed by a low score. The objective can concern the way the business manages its range, plans commercial activity or develops a relevant customer segment, where the actual questionnaire and commercial evidence support that discussion.
Progress is then visible through dated actions and evidence. A milestone can be planned, under way, submitted for review or completed on an agreed basis. These are states of the development work, not new IDS scores. The original assessment remains unchanged until a later actual assessment is recorded.
[Sources]
Companion White Paper 3.0, page 22.
U; W pp. 25-27, 64-65; C p. 6
Programme design and illustrative applications: 22 September 2026.
[/Sources]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 with the dealer's own profile
The profile should show the actual questionnaire version, section, question and recorded answer. A recorded date or round identifies the assessment; an import date must not be substituted for a missing assessment date. Unanswered, not applicable and not supplied remain distinct states.
A section view helps a dealer locate topics worth examining. A question view retains the detail that explains the section. Where a comparison group is appropriate and permitted, it must use a compatible questionnaire and a defined population. The comparison provides context, not a distributor audit or a ranking of personal competence.
The dealer should be able to bookmark a relevant topic, add a clarification and nominate a development ambition. That preserves the distinction between what the assessment recorded and what the dealer now intends to do.
The interactive showcase demonstrates the development behaviour using an explicitly illustrative project. It does not invent a dealer score, question response or historical improvement. A production profile would use the authorised actual assessment and validated dealer relationship.
[Sources]
Companion White Paper 3.0, page 23.
W pp. 25-27, 49, 56-57; P
Programme design and illustrative applications: 22 September 2026.
[/Sources]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records tell three different stories
The first record is the original assessment. It describes what the dealer reported on the stated questionnaire and available date. The second is the development project: agreed work, owner, milestone, evidence and review. The third is a later assessment, if one actually takes place on a compatible basis.
The interface should allow the user to move along the development timeline and inspect each recorded change. Completing a milestone can advance project progress. It does not amend the original answer, raise an assessment score or prove a commercial outcome.
A later reassessment can add new evidence. Comparison is useful only where the questionnaire, scoring basis and relevant population are compatible. Where they are not, the tool can still show both records accurately without presenting a misleading trend.
This separation makes progress credible. A dealer can demonstrate implemented work before another assessment round exists, and an incomplete project can remain visible without erasing the value of the original assessment.
[Sources]
Companion White Paper 3.0, page 25.
W pp. 25-27, 64-65; P
Programme design and illustrative applications: 22 September 2026.
[/Sources]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See the work move, not the score
Consider a proposed project called "Establish a regular parts-range review". The dealer and distributor first agree the objective and starting position. They then prepare a repeatable review method, test it on a selected range and review the evidence of use. These milestone names are a design illustration, not copied IDS questionnaire items.
The user can record a milestone state, date and evidence note, then inspect the resulting timeline. A completed state should identify what was completed and how it was reviewed. A change or deferral records its reason rather than simply resetting the progress view.
The original assessment appears as a separate source panel. Where no actual assessment has been connected, the panel says so. Later reassessment remains unavailable until a real record exists. Project completion and business benefit are evaluated separately.
The showcase stores only this demonstration record locally in the browser, where storage is available, and offers an export. It is not a company project register or evidence that a dealer has implemented the example.
[Sources]
Companion White Paper 3.0, page 26.
U; P; W pp. 26, 64-65
Programme design and illustrative applications: 22 September 2026.
[/Sources]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commercial evidence where it helps
A dealer-development conversation can be more useful when it includes an appropriate commercial observation. A range review may examine the composition of recorded purchasing. A commercial-planning project may use a selected campaign baseline. The observation should retain its own period and transaction meaning.
The link requires a validated relationship between the source account and the assessment. A country name, similar dealer name or submission group is not sufficient. When the relationship is unresolved, the sources can remain available separately rather than be forced into a combined judgement.
An assessment answer does not establish why purchasing changed. A strong self-assessment and a low measured spend per vehicle can concern different populations, definitions and time periods. The value of the connection is a better development question, not a causal verdict.
The dealer should see the original wording and be able to correct the interpretation. That can improve both the commercial review and the relevance of the selected project. A correction that reduces the apparent problem is useful information.
[Sources]
Companion White Paper 3.0, page 27.
W pp. 26, 49-51, 56-57; C p. 8
Programme design and illustrative applications: 22 September 2026.
[/Sources]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useful practice travel through reviewed examples
An implemented project may contain a lesson worth sharing: a clearer review method, a useful product comparison or an effective way to organise a commercial initiative. ISZE and the distributor can prepare a reviewed example describing its purpose, conditions, effort and evidence.
The shared example should contain only the information required to understand the method. Private comments, detailed financial terms and sensitive business circumstances remain in the original project. The contributor can correct the account and decide whether an identifiable example may be published.
Recognition can acknowledge a useful correction, an implemented improvement or a transferable method. It should not become a public league table based on turnover, uploaded records or self-assessment scores. A dealer can decline publicity without losing access to the useful tools.
This creates a controlled learning mechanism. One participant's experience improves the resources available to another, while the distributor relationship and original confidentiality remain intact.
[Sources]
Companion White Paper 3.0, page 30.
U; C p. 20; W pp. 31, 44-46
Programme design and illustrative applications: 22 September 2026.
[/Sources]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the parts business in its market
PRISM supplies a wider view around the product and purchasing analysis. Relevant historical fleet structure, spend per vehicle and explicitly modelled service expectations can help a distributor understand the scale and character of its market. Sourced tender opportunities add a possible route to new business.
The useful question is not simply which market has the largest number. It is which comparison fits the commercial decision. A different vehicle mix, reporting period or source definition can change the interpretation of an apparent shortfall. A national average can conceal the product or account issue that matters.
The application should retain the actual distributor identity. ITUK and IUK are different UK businesses; UMI and UTI are different Israeli businesses. Country aggregation must not silently combine their fleets or purchasing behaviour.
PRISM can inform a tender or a Deal of the Day, but it does not have to participate in every initiative. The connection is justified when relevant market context changes the product selection, commercial rationale or evaluation.
[Sources]
Companion White Paper 3.0, page 31.
N; O; C pp. 6, 8; W pp. 28-30, 50-51
Programme design and illustrative applications: 22 September 2026.
[/Sources]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fleet is a defined population
Historical fleet information is useful when its market, vehicle classes, date and method are known. It can describe the setting for a range study or provide an eligible population for a model where technical applicability is established. A contextual market total does not become the fleet for every part in that market.
The same discipline applies at dealer level. National vehicles should not be allocated among dealers by sales, geography or workshop visits to create a rate. A vehicle observed at a workshop is evidence about that observation, not proof of exclusive service responsibility.
The supplied fleet projection beyond 2025 is not a usable forecasting basis. This paper therefore does not extend the historical fleet into a future market-size chart. A future tender can instead use its own documented vehicle scope, with provisional quantities clearly identified as requirements or assumptions.
A fleet view should help the participant ask a better commercial question: which application, vehicle segment or usage profile matters for the proposed offer? The strength of the answer depends on the definition of that population, not on the visual detail of a map.
[Sources]
Companion White Paper 3.0, page 32.
N sections 2, 11-12; O section 6.2; W pp. 28, 50-51
Programme design and illustrative applications: 22 September 2026.
[/Sources]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 the relevant Isuzu entities around one opportunity
The lead distributor can use a shared, restricted tender framework to define the opportunity, the intended vehicle and aftersales offer, the participating Isuzu functions and the specific support needed. PRISM contributes relevant market context; AIM contributes the parts structure; the vehicle and technical functions contribute their own evidence.
The framework turns a local request into a decision-ready commercial proposal. It should explain why the opportunity is relevant, what could make the offer competitive, what each party intends to contribute and which decisions are required by which dates. A complete proposal is not an approval; it makes the approval question clearer.
The distributor retains the national bid and customer relationship. The collaboration includes only the relevant entities and permitted material. Another distributor does not gain visibility merely because it participates elsewhere in Universe.
This application can begin as a structured proposal and evidence record. It does not require a new tender collector or an automated submission service. The practical contribution is coordination of the commercial case across vehicle, parts and manufacturer responsibilities.
[Sources]
Companion White Paper 3.0, page 35.
U; business context section 1; W pp. 29-30; P
Programme design and illustrative applications: 22 September 2026.
[/Sources]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proposal does not merge responsibilities
The distributor qualifies the local opportunity, owns the national commercial relationship and confirms the intended bid. Isuzu Motors International Europe (IMIE), where relevant, contributes the European vehicle-sales perspective. ISZE contributes parts-business analysis and any parts support within its remit.
Isuzu Motors Limited (IML) or the relevant manufacturer/source function may be needed for technical, product, supply-capacity or commercial decisions beyond regional authority. The actual participants depend on the opportunity; the framework should not presume a universal headquarters committee.
Each contribution has a defined owner, evidence and decision state. A vehicle commitment cannot be inferred from a parts analysis. A technical confirmation is not a financial concession. One function's agreement should not automatically display the whole proposal as approved.
[Sources]
Companion White Paper 3.0, page 36.
Business context, 19 Sep 2026, section 1; U; P
Programme design and illustrative applications: 22 September 2026.
[/Sources]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requested decision unmistakable
The opening of the brief should identify the lead market, the actual tender or fleet opportunity, its documented requirements and the decision requested. It should distinguish what is known, what is proposed and what remains dependent on another function.
The commercial section explains the intended offer and the reason for support. It can show the eligible scope, relevant economics and alternatives, including a proposal without additional support. Vehicle revenue, parts revenue and a tender's total advertised value must remain separate concepts.
The supporting section identifies the responsibilities, material deadlines, conditions and evidence. The requested response might be a technical confirmation, defined product contribution or a financial-support decision. It should be specific enough for the appropriate authority to accept, amend or decline.
The benefit is not a longer document. It is less reconstruction between functions and a clearer discussion of the trade-off. The same evidence can remain available behind a concise decision summary.
[Sources]
Companion White Paper 3.0, page 37.
U; W pp. 29-30, 36-39; P
Programme design and illustrative applications: 22 September 2026.
[/Sources]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what is ready for a decision
The framework can show separate evidence checks: opportunity requirements identified, lead distributor confirmed, relevant functions assigned, eligible offer scope described, commercial assumptions stated and requested support defined. A missing item identifies the decision it prevents and the role that can resolve it.
These checks do not establish the likelihood of winning. They describe the preparation of the proposal. A complete set can make a proposal ready for review while approval and award remain unknown.
The interactive example lets a user work through a fictional preparation checklist. It can distinguish an incomplete preparation from a complete draft. It cannot produce an approval, grant access to headquarters or claim that a real tender has been accepted.
The operating version would retain actual documents, accountable owners and source dates. Changes to requirements or deadlines would be versioned so that each function can see whether the proposal it reviewed is still the one being pursued.
[Sources]
Companion White Paper 3.0, page 38.
P; U; W pp. 29-30; R pp. 7-8
Programme design and illustrative applications: 22 September 2026.
[/Sources]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a local ambition to a joint proposal
The distributor identifies a relevant opportunity and confirms an intention to investigate. It records the source requirements and the open questions. PRISM adds the supported market context, while the vehicle function describes the possible vehicle offer and ISZE identifies the relevant parts scope.
The participating functions review the intended proposition together. The distributor explains the local competitive challenge; the Isuzu functions identify which contributions are possible within their authority and which require headquarters review. The proposal retains an unchanged-offer alternative so that the requested support has a clear comparison.
A concise headquarters brief then states the requested decision, supporting evidence, conditions and deadline. The response may confirm a contribution, amend the scope or decline the request. The distributor decides how to proceed with the actual bid through its existing route.
The record later distinguishes the submitted bid, known award result and any documented related business. A reviewed lesson may improve the next proposal without distributing the original bid evidence to other distributors.
[Sources]
Companion White Paper 3.0, page 40.
U; P; W pp. 29-31
Programme design and illustrative applications: 22 September 2026.
[/Sources]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opportunity should improve the next proposal
The programme can learn which requirements repeatedly create difficulty, which evidence headquarters needs and which contributions proved useful. The resulting improvement may be a better proposal template, clearer technical reference or a more realistic commercial assumption.
Learning should include opportunities not pursued and support not approved, as well as awarded tenders. A reasoned decision can prevent wasted effort. A reported reason for losing remains attributed unless the evidence supports a stronger conclusion.
The record should keep the preparation effort, quality of the decision and commercial outcome distinct. Less preparation time can be useful even when the tender is not won. An award can occur for reasons unrelated to the framework. The programme should avoid selecting only favourable outcomes when evaluating its usefulness.
The positive dynamic is a distributor bringing a qualified opportunity, Isuzu contributing a stronger combined proposition and the experience improving the next opportunity. That is a collaboration mechanism worth testing in its own right.
[Sources]
Companion White Paper 3.0, page 41.
U; W pp. 30-31, 43-44, 67-68; P
Programme design and illustrative applications: 22 September 2026.
[/Sources]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next offer more relevant
Deal of the Day is a proposed application through which ISZE can help a distributor prepare a specific, time-limited commercial offer. The distinctive value is the preparation behind it: a reasoned product selection, relevant audience, transparent economics and a way to learn from what follows.
The distributor's usable data makes this assistance more precise. Purchasing history can help identify relevant ranges and account patterns. Campaign information can show what was offered, when and to whom. A later compatible observation can help evaluate whether the activity was useful.
ISZE's contribution could include product analysis, audience-selection support, approved product material and a bounded commercial-support proposal. Financial assistance remains a separate decision based on the eligible campaign and its economics. Providing data does not automatically create a discount entitlement.
The application is a concrete example within a broader Universe, not a commitment to issue a promotion every day. The name describes a possible offer format. The operating cadence should follow relevance, preparation capacity and the distributor's commercial plan.
[Sources]
Companion White Paper 3.0, page 42.
U; P; AIM v0.3 scenario rules
Programme design and illustrative applications: 22 September 2026.
[/Sources]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the commercial purpose first
A proposed offer might introduce an eligible range to relevant accounts, develop repeat purchasing in a selected product group or test a better-composed Genuine/BVP proposition. A clearance objective is another possible purpose, but it needs actual stock evidence and should be identified as such rather than presented as market development.
The objective determines the audience and evaluation. A range-introduction test should observe whether relevant accounts start and continue purchasing. A repeat-purchasing initiative should use a meaningful pre-offer baseline. A clearance exercise should examine the stock and contribution outcome on its own basis.
The distributor should be able to compare alternative approaches. A product explanation or targeted range package may be more appropriate than a price reduction. Where a discount is proposed, its eligible scope and financial effect should be visible before approval.
A concise objective becomes the reference for all subsequent decisions: which parts qualify, what information is needed, what ISZE can contribute and which later observations would count as success.
[Sources]
Companion White Paper 3.0, page 43.
U; P; C pp. 9, 13, 27; W pp. 36-39
Programme design and illustrative applications: 22 September 2026.
[/Sources]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 the Atlas into a selection tool
The distributor starts with an AIM product group or a selected set of original references. The Atlas shows the covered purchasing pattern, product composition and relevant Genuine/BVP relationships. The candidate list should explain its selection rather than rely on a universal opportunity score.
A candidate could have a relevant application, an established purchasing base and a specific development objective. Another could require a product-content comparison before it is suitable for promotion. An unexplained purchasing decline alone is not a sufficient reason to discount.
The selected offer needs a technically supported product scope and a practical fulfilment check through the existing supply process before launch. Universe can retain those confirmations as campaign conditions; it does not need to operate a parallel availability-enquiry service.
A useful selection record includes the product rationale, eligible references, relevant application evidence, planned objective and unresolved conditions. It should also retain rejected candidates and reasons where this improves the next selection.
[Sources]
Companion White Paper 3.0, page 44.
U; P; C pp. 6, 13-14; W pp. 24-25
Programme design and illustrative applications: 22 September 2026.
[/Sources]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data means fit for the campaign
The minimum useful contribution depends on the proposed offer. For a product-level national campaign, consistent part, period and quantity information with declared coverage can support a range review. Individual account targeting additionally needs stable account identities and sufficient comparable history. Neither requires dealer resale prices by default.
Good data has an understandable transaction meaning, a clear source period, stable original product identity and a correction procedure. It distinguishes genuine zero activity from missing information. A larger file is not necessarily a better contribution, and an honest correction should improve rather than damage the participant's standing.
ISZE can explain the additional assistance that a usable contribution enables: a more precise product shortlist, supported account selection, a better scenario or a credible post-campaign review. Where the information is not sufficient, the offer preparation remains narrower or the affected analysis waits for clarification.
The campaign-specific requirements and any support conditions should be agreed before the campaign. They are not a second payment for an existing reporting obligation and do not change access to ordinary services.
[Sources]
Companion White Paper 3.0, page 45.
U; C pp. 19, 21-22; W pp. 62-64; P
Programme design and illustrative applications: 22 September 2026.
[/Sources]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Offer something relevant to the right business
The distributor can use covered account purchasing to identify businesses with a relevant range history. Depending on the objective, the selected audience may include established buyers, accounts purchasing related products or accounts participating in a specific development initiative. Each inclusion should have an explainable commercial rationale.
A missing purchase is not proof that an account needs the part. Product applicability, source coverage and local relevance must be considered before describing the selection as an opportunity. The distributor retains the final audience decision and the relationship with its dealers.
Where only national information is available, the tool can still help prepare the product selection and campaign design. The distributor may select the audience locally without sending personal customer information or pretending the national source contains individual dealer history.
Only the authorised distributor sees its selected accounts and terms. ISZE receives the information needed for the agreed preparation and evaluation. Other distributors do not see the audience, its response or the planned offer.
[Sources]
Companion White Paper 3.0, page 46.
C pp. 8, 21-22, 25; W pp. 49-50, 68-69; P
Programme design and illustrative applications: 22 September 2026.
[/Sources]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assistance visible before asking for more
With a usable product history, ISZE can help prepare a product shortlist and explain the selection. With validated account-level purchasing, it can help develop a more specific audience. With a dated campaign record and a compatible later period, it can prepare a meaningful result review.
Other assistance could include selected product imagery, factual campaign material, language adaptation and a scoped support proposal. The availability of these contributions depends on accepted content, operating capacity and the particular campaign; none is an automatic entitlement created by an uploaded file.
Financial assistance should have its own commercial case: recipient, eligible references, dates, quantities, support mechanism, cost basis and approving authority. A fixed campaign contribution and a unit concession are different mechanisms. Where support is already included in the net price, it must not be deducted again in the economics.
The positive exchange is explicit: relevant information makes the offer preparation and evaluation better, and the participant receives a stronger commercial tool in return. It is not a reward for the volume of data disclosed.
[Sources]
Companion White Paper 3.0, page 48.
U; P; C pp. 19, 21-22, 27; W pp. 36-39
Programme design and illustrative applications: 22 September 2026.
[/Sources]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commercial proposition specific
The draft identifies the selected products, application and pack basis, intended audience, commercial purpose, validity period and eligible quantities. It retains the unchanged-offer comparison and the proposed net terms at the correct commercial stage. Any additional assistance is described separately.
The distributor controls its own selling proposition. ISZE can contribute a product story, factual range material and any approved terms within its authority. The tool should not prescribe dealer resale prices, assume that a concession will be passed through or reveal another participant's future prices.
A genuine time-limited offer needs real dates and conditions. The showcase should not manufacture a countdown, stock scarcity or "today only" claim. In the operating application, the offer would remain a draft until the relevant commercial and practical conditions are confirmed.
The participant should leave with a usable campaign brief: what to offer, why it was selected, what support is confirmed, how it will be presented and what will be evaluated afterwards.
[Sources]
Companion White Paper 3.0, page 47.
U; P; W pp. 36-39, 45; AIM v0.3
Programme design and illustrative applications: 22 September 2026.
[/Sources]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revenue, gross profit and campaign cost together
Assume a comparable unchanged offer with 100 eligible units, a net unit selling price of EUR 100 and parts purchase cost of EUR 70. Revenue is EUR 10,000, gross profit EUR 3,000 and gross margin 30.0%. These are illustrative inputs only.
At a proposed net price of EUR 95 and 120 units, with the same unit cost, revenue is EUR 11,400, gross profit EUR 3,000 and gross margin 26.3%. Revenue rises but gross profit does not. The additional quantity is an assumption, not something the price reduction guarantees.
An additional EUR 300 campaign cost, assumed outside those net prices and unit costs, would reduce campaign contribution to EUR 2,700. Compared with the EUR 3,000 baseline, contribution would then be EUR 300 lower. The recipient and treatment of any support must be identified so that it is not counted twice.
The tool should show both the result and the threshold. In this illustration, 120 units preserve gross profit; 132 units are needed to preserve the baseline contribution after the additional EUR 300 cost.
[Sources]
Companion White Paper 3.0, page 49.
P: hypothetical inputs and arithmetic, 22 Sep 2026; AIM v0.3 measure definitions
Programme design and illustrative applications: 22 September 2026.
[/Sources]</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threshold is more honest than a volume promise
For the hypothetical baseline of EUR 100 net price, EUR 70 parts purchase cost and 100 units, reducing the net price to EUR 95 reduces unit gross profit from EUR 30 to EUR 25. Preserving EUR 3,000 of baseline gross profit requires 120 units, 20% more than the baseline. No such response is assumed to occur.
The required quantity rises quickly as the proposed unit gross profit narrows. At zero or negative unit gross profit, an ordinary positive-volume break-even does not exist for a positive baseline. The tool must explain that condition rather than display infinity as a target.
A fixed campaign cost changes the threshold again. A discount applied to the existing base has a different economic effect from support confined to additional eligible units. The scenario should state which structure is being tested and keep the baseline scope unchanged.
The chart is a mathematical sensitivity, not an estimated customer response curve. It is useful for deciding what evidence or commitment would be needed before taking a commercial risk.
[Sources]
Companion White Paper 3.0, page 50.
P: hypothetical baseline EUR 100 / EUR 70 / 100 units, 22 Sep 2026; AIM v0.3
Programme design and illustrative applications: 22 September 2026.
[/Sources]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Protect the base while testing the opportunity
A blanket concession can reduce contribution on quantities that would have been bought anyway. A narrower structure may limit the concession to explicitly eligible additional activity, a selected account population or a bounded campaign. The right structure depends on the commercial objective and the ability to verify eligibility.
In the hypothetical example, retaining the original EUR 100 price on the 100-unit baseline and applying EUR 95 only to 20 additional units produces EUR 3,500 of gross profit before other campaign costs. Applying EUR 95 to all 120 units produces EUR 3,000. The EUR 500 difference follows from the support scope, not from a prediction about which proposal customers would accept.
An incremental-only mechanism requires a credible baseline, terms and evidence. It must not label ordinary replenishment as additional activity or reward moving purchases between periods. The programme should test the method before treating it as a standard commercial scheme.
The tool's contribution is to make these alternatives transparent. The authorised commercial decision remains with the relevant functions, using current eligible prices and documented costs.
[Sources]
Companion White Paper 3.0, page 51.
P: hypothetical comparison, 22 Sep 2026; AIM v0.3; W pp. 36-39
Programme design and illustrative applications: 22 September 2026.
[/Sources]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beyond the order spike
The result review should compare the original baseline, campaign-period activity and an appropriate follow-up period. Use the same product scope and commercial stage. If the source covers sales to dealer, describe sales to dealer rather than infer retail demand.
The review should consider returns, later purchasing reductions, stock accumulation and movement between Genuine and BVP. An order placed earlier than usual may increase campaign-period billing without increasing the business over the full comparison window. A change in mix may improve or reduce contribution even when unit volume grows.
Where appropriate, a preselected comparison group or staged introduction can help separate the campaign from other changes. The method should be chosen before examining the result. A simple before-and-after comparison can still be informative if its limitations are clear.
The participant should receive a practical conclusion: repeat the approach, narrow the audience, change the offer or stop. Unknown customer outcomes and incomplete follow-up remain visible rather than being converted into success.
[Sources]
Companion White Paper 3.0, page 53.
W pp. 36-39, 43-44, 67-68; P
Programme design and illustrative applications: 22 September 2026.
[/Sources]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Better information should improve the next offer
A usable contribution supports a selected offer. The distributor receives analysis, material or approved assistance that makes the offer more practical. The campaign leaves a dated result, allowing the participant and ISZE to improve the next selection.
The learning can be about relevance, not just discount depth. A product may appeal to a different account group, a package may need different contents or a campaign may be better timed less frequently. A disappointing result can be useful when it prevents repeating the same ineffective activity.
This is a stronger reason to contribute than an abstract promise of better visibility. The participant can see what its information changed and which benefit it received. The programme can then ask for the smallest additional context that would improve the next offer.
The operating test is continued useful participation: relevant offers prepared, decisions improved, effort understood and results reviewed. More uploads, more promotions or more daily visits are not substitutes for that test.
[Sources]
Companion White Paper 3.0, page 54.
U; P; W pp. 43-44, 67-68
Programme design and illustrative applications: 22 September 2026.
[/Sources]</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 with value already prepared
ISZE can begin with the sources already accepted for a participant. A national range review, a dealer's actual IDS profile or a selected tender framework provides a concrete entry point. The recipient should see the commercial purpose and what the tool can do at its current level of information.
The next contribution is specific. It may confirm an account relationship, correct a reporting definition, add a project milestone or provide the campaign dates needed for a result review. The participant should understand which output becomes better as a result.
An effective exchange also reduces repeated preparation. Stable definitions can be agreed once, existing distributor submissions reused and only genuine exceptions returned for clarification. The person producing the information should experience that improvement directly.
The programme must observe whether the proposed benefit is sufficient. A technically successful submission does not show that a distributor or dealer values the tool. The first-use design should therefore include the participant's judgement and the total effort required.
[Sources]
Companion White Paper 3.0, page 55.
C pp. 18, 21-22; W pp. 32-35, 43-44; P
Programme design and illustrative applications: 22 September 2026.
[/Sources]</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Separate reporting, enablement and commercial assistance
The existing reporting arrangement remains the starting point. The documented programme history records a 2025 major-KPI initiative with 20% of the normal distributor rebate linked to reporting, as stated on 22 September 2026. This describes a share of the existing rebate, not a percentage of parts purchases or a new Universe payment; the actual agreement determines the conditions.
Enablement is a different mechanism. It can support a defined setup or improvement activity that makes useful participation possible. A payment per record or per sensitive field would reward disclosure volume rather than useful work.
Deal of the Day assistance is campaign-specific. Good data can make a more precise offer and evaluation possible, and a defined commercial proposal can be considered for additional support. Approval should follow that campaign's purpose, eligible scope and economics rather than a general data-completeness score.
Continued use should be observed independently of these mechanisms. A participant may comply with reporting and never use the tool, or use the tool productively without making every optional contribution. Those are different behaviours and should be understood separately.
[Sources]
Companion White Paper 3.0, page 59.
C pp. 3-5, 19, 21-22; U; P
Programme design and illustrative applications: 22 September 2026.
[/Sources]</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Prove usefulness at the level of the task
The programme should assess whether the participant completed useful work correctly, whether the result changed a decision, how much effort was required and whether a comparable later task occurred. These questions should be answered for the selected application, not compressed into one universal programme score.
Tender collaboration can be evaluated through proposal quality, preparation effort and the decisions obtained, with award results recorded separately. IDS progress can be evaluated through implementation evidence and use of the development practice, with reassessment separate. Deal of the Day can be evaluated through eligible activity, contribution and repeat purchasing on the agreed basis.
The eligible population and observation period matter. A dealer without a relevant project or a distributor without a suitable campaign is not disengaged because it did not open the tool that day. A result cannot be judged before the necessary follow-up period has occurred.
The measurement design should include incomplete, corrected and unsuccessful examples. A programme that learns from those cases is more useful than one that reports only successful screenshots.
[Sources]
Companion White Paper 3.0, page 61.
W pp. 43-44, 67-68; R p. 15; P
Programme design and illustrative applications: 22 September 2026.
[/Sources]</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the business case from decisions and effort
Possible economic benefits include better-targeted commercial activity, more relevant product positioning, improved preparation capacity and additional contribution where supported. Each needs its own beneficiary, baseline and observation. The same increase in business must not be counted separately in the Atlas, a campaign and a tender.
The cost case includes source preparation, relationship validation, content maintenance, analytical work, participant effort, coordination, evaluation and any purchased capability. Initial development and continuing operation are different cost objects. An owner-built tool can reduce external cash needs while still requiring substantial internal capacity.
Financial comparisons should retain the agreed measure. Parts gross profit uses revenue less documented parts purchase cost. Programme contribution additionally considers costs and support not already included. Capacity released is time available for other work, not automatically a reduction in cash expenditure.
The proposed programme should be funded against defined deliverables and reviewed against observed usefulness. No realised Universe return, universal recovery rate or automatic conversion of a service-demand gap into revenue is established by the supplied material.
[Sources]
Companion White Paper 3.0, page 62.
W pp. 36-39, 66-68; C pp. 27-39; AIM v0.3; P
Programme design and illustrative applications: 22 September 2026.
[/Sources]</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Scale the investment to accepted work
The commercial planning paper dated 22 September 2026 sets out alternative incremental external cash envelopes of EUR 0, EUR 100,000 and EUR 300,000 for the first twelve months from approval. They exclude recoverable value-added tax. Internal effort and later operating costs are separate. The alternatives are not cumulative.
The EUR 100,000 and EUR 300,000 allocations cover dealer enablement, onboarding, selected engineering, mapping and quality, tools and hosting, independent assurance, evaluation and reserve. The EUR 300,000 option is EUR 200,000 above the EUR 100,000 total, not an additional EUR 300,000.
These envelopes remain discussion references. The selected applications, actual capacity, quotations and acceptance requirements determine any expenditure proposal. Deal of the Day support needs its own approved commercial treatment; it is not automatically funded by an enablement allocation.
The no-additional-external-cash route remains meaningful for a bounded owner-led proposition using authorised tools and controlled outputs. Its limits are the available time, expertise and continuity arrangements, not an assumption that operation is free.
[Sources]
Companion White Paper 3.0, page 63.
C pp. 29-36; R p. 12; planning basis 22 Sep 2026; P
Programme design and illustrative applications: 22 September 2026.
[/Sources]</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commercial logic close to the business
The business owner can define the commercial question, design the information exchange, prepare analytical examples and establish what a useful output should contain. Existing AIM, Atlas, PRISM and IDS work should be inspected and reused where fit for purpose rather than reproduced as parallel calculations.
Specialist work may be needed for access isolation, durable shared records, reliable imports, recovery or an agreed connection to company systems. Those are bounded implementation tasks with an accepted deliverable and a handover. A software label is not a substitute for the specific behaviour required.
Continuing operation needs a named owner and an absence arrangement. Source changes, corrections and revised programme content will occur even when the interface is stable. A second authorised person should be able to recover the selected version and reproduce an accepted result.
The first shared use can remain distributor-led and document-based where appropriate. A usable commercial proposition does not need to wait for every future integration, but an attractive HTML demonstration does not establish secure multi-user operation.
[Sources]
Companion White Paper 3.0, page 64.
C pp. 35-36; R pp. 3, 13-16; P
Programme design and illustrative applications: 22 September 2026.
[/Sources]</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Prove, repeat, then extend
The first stage establishes the supported source and the commercial output: a valid Atlas review, an actual IDS profile or a defined application draft. The next tests an end-to-end participant task with the appropriate audience and accountable functions.
Repetition then tests a genuinely later compatible source, a correction, the participant's continued use and the work required to maintain the result. A re-export of the same information is not a new commercial cycle. A synthetic demonstration can test behaviour but not prove recurring participation.
The application examples can progress at different speeds. IDS progress may begin with a defined development record; tender collaboration needs a real opportunity and participating functions; Deal of the Day needs an eligible commercial design and launch conditions. None should be shown as live merely because it appears on the map.
Broader participation should be based on the useful result, source coverage and operating capacity actually demonstrated. A narrower proposition that works repeatedly is a better foundation than an ambitious catalogue that nobody can maintain.
[Sources]
Companion White Paper 3.0, page 65.
P; W pp. 53-55; R pp. 13-16
Programme design and illustrative applications: 22 September 2026.
[/Sources]</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starting positions, two useful tests
ITUK provides a candidate for a purchasing-account Atlas review using the supplied calendar-2025 named-account information. The pilot can test whether product detail makes a commercial review more useful and whether a selected application preserves the correct account, period and evidence.
I Motors provides a national-analysis starting point, alongside separate dealer self-assessment information. The pilot can test the national product view and an IDS development example without assigning national purchasing to individual Portuguese dealers.
Tender collaboration should begin when a lead distributor and a real opportunity are selected. Deal of the Day should begin with a campaign scope that can be prepared and evaluated on accepted evidence. Neither application requires an invented participant count or a fabricated live example.
The evaluator should record the actual task, existing process, effort, useful output and reason for any non-use. The pilot proves what it demonstrates, not the readiness of the entire European network.
[Sources]
Companion White Paper 3.0, page 66.
C pp. 8, 37; W pp. 54-57; R p. 15; U; P
Programme design and illustrative applications: 22 September 2026.
[/Sources]</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Participation creates work as well as opportunity
More participants can provide richer evidence and create opportunities to reuse successful methods. They also introduce more account structures, source definitions, corrections and local commercial conditions. The effort does not disappear because the tools share one visual identity.
The programme should measure preparation, correction and maintenance effort by task. A more automated source is useful when it reduces recurring effort on a stable definition. A one-off aggregate may be better where the decision is narrow and the information rarely changes.
Expansion becomes counterproductive if source quality falls, private information is exposed or participants cannot obtain the promised analytical return. The correct response may be to narrow an application, improve the method or pause additional onboarding.
The positive mechanism and its limit should be reviewed together: useful tools encourage participation; participation increases learning and workload; operating capacity determines whether the next interaction remains useful.
[Sources]
Companion White Paper 3.0, page 67.
W pp. 42-44, 57-58; C pp. 34-35; P
Programme design and illustrative applications: 22 September 2026.
[/Sources]</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next possibilities visible
A fleet-cost comparison could deepen the tender proposition where approved technical schedules and an eligible operating profile exist. It should begin with the cost components the evidence supports and should not be labelled a complete total-cost-of-ownership analysis prematurely.
A private range-development study could help a distributor and ISZE assemble a product case. ISZE may review related evidence centrally, while distributor comments and intentions remain private. No shared proposal board or automatic disclosure to other distributors is required.
A product-value evidence application could organise authorised specifications, product contents and reviewed comparative evidence. Technical claims would remain with the responsible authority. A missing demonstrated advantage can be a useful reason to improve the offer rather than create a stronger marketing claim.
Each possibility should state the decision it improves, the participant return, the smallest adequate information contribution and the resources needed to operate it. The programme remains open to better examples as its use develops.
[Sources]
Companion White Paper 3.0, page 69.
U; P; W pp. 58-59
Programme design and illustrative applications: 22 September 2026.
[/Sources]</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AI to reduce effort, not replace judgement
Artificial intelligence (AI) could help locate permitted evidence, explain a product comparison, draft a tender brief or summarise a development record. It can reduce navigation and writing effort when it uses the same distributor, period and source basis as the underlying tool.
Exact arithmetic, access restrictions and consequential approvals should remain outside generated prose. The assistant must distinguish recorded information, participant statements and proposed scenarios. It should not generate a confident explanation for a purchasing change when the source only records the change.
The user should be able to inspect the underlying evidence and use the essential functions without AI. A generated summary should identify what it relied on, preserve uncertainty and remain reviewable before external use.
A useful future assistant would help the user complete the commercial application already selected. It would not turn Universe into a generic question box, invent additional data rights or make ordinary support the programme's defining purpose.
[Sources]
Companion White Paper 3.0, page 70.
W pp. 51-53; R p. 9; P
Programme design and illustrative applications: 22 September 2026.
[/Sources]</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282C"/>
        </a:solidFill>
        <a:effectLst/>
      </p:bgPr>
    </p:bg>
    <p:spTree>
      <p:nvGrpSpPr>
        <p:cNvPr id="1" name=""/>
        <p:cNvGrpSpPr/>
        <p:nvPr/>
      </p:nvGrpSpPr>
      <p:grpSpPr>
        <a:xfrm>
          <a:off x="0" y="0"/>
          <a:ext cx="0" cy="0"/>
          <a:chOff x="0" y="0"/>
          <a:chExt cx="0" cy="0"/>
        </a:xfrm>
      </p:grpSpPr>
      <p:sp>
        <p:nvSpPr>
          <p:cNvPr id="2" name="Text 0"/>
          <p:cNvSpPr/>
          <p:nvPr/>
        </p:nvSpPr>
        <p:spPr>
          <a:xfrm>
            <a:off x="8046720" y="173736"/>
            <a:ext cx="3657600" cy="201168"/>
          </a:xfrm>
          <a:prstGeom prst="rect">
            <a:avLst/>
          </a:prstGeom>
          <a:noFill/>
          <a:ln/>
        </p:spPr>
        <p:txBody>
          <a:bodyPr wrap="square" lIns="0" tIns="0" rIns="0" bIns="0" rtlCol="0" anchor="t">
            <a:normAutofit/>
          </a:bodyPr>
          <a:lstStyle/>
          <a:p>
            <a:pPr marL="0" indent="0" algn="r">
              <a:buNone/>
            </a:pPr>
            <a:r>
              <a:rPr lang="en-US" sz="900" dirty="0">
                <a:solidFill>
                  <a:srgbClr val="BDC4C9"/>
                </a:solidFill>
                <a:latin typeface="Arial" pitchFamily="34" charset="0"/>
                <a:ea typeface="Arial" pitchFamily="34" charset="-122"/>
                <a:cs typeface="Arial" pitchFamily="34" charset="-120"/>
              </a:rPr>
              <a:t>COMMERCIAL VISION  /  3.0</a:t>
            </a:r>
            <a:endParaRPr lang="en-US" sz="900" dirty="0"/>
          </a:p>
        </p:txBody>
      </p:sp>
      <p:sp>
        <p:nvSpPr>
          <p:cNvPr id="3" name="Shape 1"/>
          <p:cNvSpPr/>
          <p:nvPr/>
        </p:nvSpPr>
        <p:spPr>
          <a:xfrm>
            <a:off x="484632" y="6446520"/>
            <a:ext cx="11219688" cy="914"/>
          </a:xfrm>
          <a:prstGeom prst="line">
            <a:avLst/>
          </a:prstGeom>
          <a:noFill/>
          <a:ln w="6350">
            <a:solidFill>
              <a:srgbClr val="647078"/>
            </a:solidFill>
            <a:prstDash val="solid"/>
          </a:ln>
        </p:spPr>
        <p:txBody>
          <a:bodyPr/>
          <a:lstStyle/>
          <a:p>
            <a:endParaRPr lang="nl-NL"/>
          </a:p>
        </p:txBody>
      </p:sp>
      <p:sp>
        <p:nvSpPr>
          <p:cNvPr id="4" name="Text 2"/>
          <p:cNvSpPr/>
          <p:nvPr/>
        </p:nvSpPr>
        <p:spPr>
          <a:xfrm>
            <a:off x="484632" y="6556248"/>
            <a:ext cx="9144000" cy="146304"/>
          </a:xfrm>
          <a:prstGeom prst="rect">
            <a:avLst/>
          </a:prstGeom>
          <a:noFill/>
          <a:ln/>
        </p:spPr>
        <p:txBody>
          <a:bodyPr wrap="square" lIns="0" tIns="0" rIns="0" bIns="0" rtlCol="0" anchor="t">
            <a:normAutofit/>
          </a:bodyPr>
          <a:lstStyle/>
          <a:p>
            <a:pPr marL="0" indent="0" algn="l">
              <a:buNone/>
            </a:pPr>
            <a:r>
              <a:rPr lang="en-US" sz="750" dirty="0">
                <a:solidFill>
                  <a:srgbClr val="BDC4C9"/>
                </a:solidFill>
                <a:latin typeface="Arial" pitchFamily="34" charset="0"/>
                <a:ea typeface="Arial" pitchFamily="34" charset="-122"/>
                <a:cs typeface="Arial" pitchFamily="34" charset="-120"/>
              </a:rPr>
              <a:t>22 SEPTEMBER 2026  /  CONCEPT AND APPLICATION EXAMPLES</a:t>
            </a:r>
            <a:endParaRPr lang="en-US" sz="750" dirty="0"/>
          </a:p>
        </p:txBody>
      </p:sp>
      <p:sp>
        <p:nvSpPr>
          <p:cNvPr id="5" name="Text 3"/>
          <p:cNvSpPr/>
          <p:nvPr/>
        </p:nvSpPr>
        <p:spPr>
          <a:xfrm>
            <a:off x="10789920" y="6547104"/>
            <a:ext cx="914400" cy="173736"/>
          </a:xfrm>
          <a:prstGeom prst="rect">
            <a:avLst/>
          </a:prstGeom>
          <a:noFill/>
          <a:ln/>
        </p:spPr>
        <p:txBody>
          <a:bodyPr wrap="square" lIns="0" tIns="0" rIns="0" bIns="0" rtlCol="0" anchor="t">
            <a:normAutofit/>
          </a:bodyPr>
          <a:lstStyle/>
          <a:p>
            <a:pPr marL="0" indent="0" algn="r">
              <a:buNone/>
            </a:pPr>
            <a:r>
              <a:rPr lang="en-US" sz="850" dirty="0">
                <a:solidFill>
                  <a:srgbClr val="BDC4C9"/>
                </a:solidFill>
                <a:latin typeface="Arial" pitchFamily="34" charset="0"/>
                <a:ea typeface="Arial" pitchFamily="34" charset="-122"/>
                <a:cs typeface="Arial" pitchFamily="34" charset="-120"/>
              </a:rPr>
              <a:t>01 / 49</a:t>
            </a:r>
            <a:endParaRPr lang="en-US" sz="850" dirty="0"/>
          </a:p>
        </p:txBody>
      </p:sp>
      <p:sp>
        <p:nvSpPr>
          <p:cNvPr id="6" name="Shape 4"/>
          <p:cNvSpPr/>
          <p:nvPr/>
        </p:nvSpPr>
        <p:spPr>
          <a:xfrm>
            <a:off x="0" y="0"/>
            <a:ext cx="2999232" cy="1207008"/>
          </a:xfrm>
          <a:prstGeom prst="rect">
            <a:avLst/>
          </a:prstGeom>
          <a:solidFill>
            <a:srgbClr val="D71920"/>
          </a:solidFill>
          <a:ln w="12700">
            <a:solidFill>
              <a:srgbClr val="D71920">
                <a:alpha val="0"/>
              </a:srgbClr>
            </a:solidFill>
            <a:prstDash val="solid"/>
          </a:ln>
        </p:spPr>
        <p:txBody>
          <a:bodyPr/>
          <a:lstStyle/>
          <a:p>
            <a:endParaRPr lang="nl-NL"/>
          </a:p>
        </p:txBody>
      </p:sp>
      <p:sp>
        <p:nvSpPr>
          <p:cNvPr id="7" name="Text 5"/>
          <p:cNvSpPr/>
          <p:nvPr/>
        </p:nvSpPr>
        <p:spPr>
          <a:xfrm>
            <a:off x="484632" y="320040"/>
            <a:ext cx="1920240" cy="438912"/>
          </a:xfrm>
          <a:prstGeom prst="rect">
            <a:avLst/>
          </a:prstGeom>
          <a:noFill/>
          <a:ln/>
        </p:spPr>
        <p:txBody>
          <a:bodyPr wrap="square" lIns="0" tIns="0" rIns="0" bIns="0" rtlCol="0" anchor="t">
            <a:normAutofit/>
          </a:bodyPr>
          <a:lstStyle/>
          <a:p>
            <a:pPr marL="0" indent="0" algn="l">
              <a:buNone/>
            </a:pPr>
            <a:r>
              <a:rPr lang="en-US" sz="2900" b="1" dirty="0">
                <a:solidFill>
                  <a:srgbClr val="F5F6F7"/>
                </a:solidFill>
                <a:latin typeface="Arial" pitchFamily="34" charset="0"/>
                <a:ea typeface="Arial" pitchFamily="34" charset="-122"/>
                <a:cs typeface="Arial" pitchFamily="34" charset="-120"/>
              </a:rPr>
              <a:t>ISUZU</a:t>
            </a:r>
            <a:endParaRPr lang="en-US" sz="2900" dirty="0"/>
          </a:p>
        </p:txBody>
      </p:sp>
      <p:sp>
        <p:nvSpPr>
          <p:cNvPr id="8" name="Text 6"/>
          <p:cNvSpPr/>
          <p:nvPr/>
        </p:nvSpPr>
        <p:spPr>
          <a:xfrm>
            <a:off x="502920" y="850392"/>
            <a:ext cx="2194560" cy="182880"/>
          </a:xfrm>
          <a:prstGeom prst="rect">
            <a:avLst/>
          </a:prstGeom>
          <a:noFill/>
          <a:ln/>
        </p:spPr>
        <p:txBody>
          <a:bodyPr wrap="square" lIns="0" tIns="0" rIns="0" bIns="0" rtlCol="0" anchor="t">
            <a:normAutofit/>
          </a:bodyPr>
          <a:lstStyle/>
          <a:p>
            <a:pPr marL="0" indent="0" algn="l">
              <a:buNone/>
            </a:pPr>
            <a:r>
              <a:rPr lang="en-US" sz="880" dirty="0">
                <a:solidFill>
                  <a:srgbClr val="F5F6F7"/>
                </a:solidFill>
                <a:latin typeface="Arial" pitchFamily="34" charset="0"/>
                <a:ea typeface="Arial" pitchFamily="34" charset="-122"/>
                <a:cs typeface="Arial" pitchFamily="34" charset="-120"/>
              </a:rPr>
              <a:t>M O T O R S  E U R O P E</a:t>
            </a:r>
            <a:endParaRPr lang="en-US" sz="880" dirty="0"/>
          </a:p>
        </p:txBody>
      </p:sp>
      <p:sp>
        <p:nvSpPr>
          <p:cNvPr id="9" name="Text 7"/>
          <p:cNvSpPr/>
          <p:nvPr/>
        </p:nvSpPr>
        <p:spPr>
          <a:xfrm>
            <a:off x="548640" y="1719072"/>
            <a:ext cx="7040880" cy="914400"/>
          </a:xfrm>
          <a:prstGeom prst="rect">
            <a:avLst/>
          </a:prstGeom>
          <a:noFill/>
          <a:ln/>
        </p:spPr>
        <p:txBody>
          <a:bodyPr wrap="square" lIns="0" tIns="0" rIns="0" bIns="0" rtlCol="0" anchor="t">
            <a:normAutofit/>
          </a:bodyPr>
          <a:lstStyle/>
          <a:p>
            <a:pPr marL="0" indent="0" algn="l">
              <a:buNone/>
            </a:pPr>
            <a:r>
              <a:rPr lang="en-US" sz="6500" b="1" dirty="0">
                <a:solidFill>
                  <a:srgbClr val="F5F6F7"/>
                </a:solidFill>
                <a:latin typeface="Arial" pitchFamily="34" charset="0"/>
                <a:ea typeface="Arial" pitchFamily="34" charset="-122"/>
                <a:cs typeface="Arial" pitchFamily="34" charset="-120"/>
              </a:rPr>
              <a:t>Universe</a:t>
            </a:r>
            <a:endParaRPr lang="en-US" sz="6500" dirty="0"/>
          </a:p>
        </p:txBody>
      </p:sp>
      <p:sp>
        <p:nvSpPr>
          <p:cNvPr id="10" name="Text 8"/>
          <p:cNvSpPr/>
          <p:nvPr/>
        </p:nvSpPr>
        <p:spPr>
          <a:xfrm>
            <a:off x="594360" y="2816352"/>
            <a:ext cx="6675120" cy="1078992"/>
          </a:xfrm>
          <a:prstGeom prst="rect">
            <a:avLst/>
          </a:prstGeom>
          <a:noFill/>
          <a:ln/>
        </p:spPr>
        <p:txBody>
          <a:bodyPr wrap="square" lIns="0" tIns="0" rIns="0" bIns="0" rtlCol="0" anchor="t">
            <a:normAutofit/>
          </a:bodyPr>
          <a:lstStyle/>
          <a:p>
            <a:pPr marL="0" indent="0" algn="l">
              <a:buNone/>
            </a:pPr>
            <a:r>
              <a:rPr lang="en-US" sz="3400" b="1" dirty="0">
                <a:solidFill>
                  <a:srgbClr val="F5F6F7"/>
                </a:solidFill>
                <a:latin typeface="Arial" pitchFamily="34" charset="0"/>
                <a:ea typeface="Arial" pitchFamily="34" charset="-122"/>
                <a:cs typeface="Arial" pitchFamily="34" charset="-120"/>
              </a:rPr>
              <a:t>Stronger businesses.</a:t>
            </a:r>
            <a:endParaRPr lang="en-US" sz="3400" dirty="0"/>
          </a:p>
          <a:p>
            <a:pPr marL="0" indent="0" algn="l">
              <a:buNone/>
            </a:pPr>
            <a:r>
              <a:rPr lang="en-US" sz="3400" b="1" dirty="0">
                <a:solidFill>
                  <a:srgbClr val="F5F6F7"/>
                </a:solidFill>
                <a:latin typeface="Arial" pitchFamily="34" charset="0"/>
                <a:ea typeface="Arial" pitchFamily="34" charset="-122"/>
                <a:cs typeface="Arial" pitchFamily="34" charset="-120"/>
              </a:rPr>
              <a:t>Connected intelligence.</a:t>
            </a:r>
            <a:endParaRPr lang="en-US" sz="3400" dirty="0"/>
          </a:p>
        </p:txBody>
      </p:sp>
      <p:sp>
        <p:nvSpPr>
          <p:cNvPr id="11" name="Text 9"/>
          <p:cNvSpPr/>
          <p:nvPr/>
        </p:nvSpPr>
        <p:spPr>
          <a:xfrm>
            <a:off x="621792" y="4407408"/>
            <a:ext cx="6675120" cy="320040"/>
          </a:xfrm>
          <a:prstGeom prst="rect">
            <a:avLst/>
          </a:prstGeom>
          <a:noFill/>
          <a:ln/>
        </p:spPr>
        <p:txBody>
          <a:bodyPr wrap="square" lIns="0" tIns="0" rIns="0" bIns="0" rtlCol="0" anchor="t">
            <a:normAutofit/>
          </a:bodyPr>
          <a:lstStyle/>
          <a:p>
            <a:pPr marL="0" indent="0" algn="l">
              <a:buNone/>
            </a:pPr>
            <a:r>
              <a:rPr lang="en-US" sz="1700" b="1" dirty="0">
                <a:solidFill>
                  <a:srgbClr val="BDC4C9"/>
                </a:solidFill>
                <a:latin typeface="Arial" pitchFamily="34" charset="0"/>
                <a:ea typeface="Arial" pitchFamily="34" charset="-122"/>
                <a:cs typeface="Arial" pitchFamily="34" charset="-120"/>
              </a:rPr>
              <a:t>AIM / ATLAS   |   IDS   |   PRISM</a:t>
            </a:r>
            <a:endParaRPr lang="en-US" sz="1700" dirty="0"/>
          </a:p>
        </p:txBody>
      </p:sp>
      <p:sp>
        <p:nvSpPr>
          <p:cNvPr id="12" name="Shape 10"/>
          <p:cNvSpPr/>
          <p:nvPr/>
        </p:nvSpPr>
        <p:spPr>
          <a:xfrm>
            <a:off x="8703259" y="2076602"/>
            <a:ext cx="1430122" cy="1430122"/>
          </a:xfrm>
          <a:prstGeom prst="ellipse">
            <a:avLst/>
          </a:prstGeom>
          <a:solidFill>
            <a:srgbClr val="24282C">
              <a:alpha val="0"/>
            </a:srgbClr>
          </a:solidFill>
          <a:ln w="8890">
            <a:solidFill>
              <a:srgbClr val="3F484F"/>
            </a:solidFill>
            <a:prstDash val="solid"/>
          </a:ln>
        </p:spPr>
        <p:txBody>
          <a:bodyPr/>
          <a:lstStyle/>
          <a:p>
            <a:endParaRPr lang="nl-NL"/>
          </a:p>
        </p:txBody>
      </p:sp>
      <p:sp>
        <p:nvSpPr>
          <p:cNvPr id="13" name="Shape 11"/>
          <p:cNvSpPr/>
          <p:nvPr/>
        </p:nvSpPr>
        <p:spPr>
          <a:xfrm>
            <a:off x="8429854" y="1803197"/>
            <a:ext cx="1976933" cy="1976933"/>
          </a:xfrm>
          <a:prstGeom prst="ellipse">
            <a:avLst/>
          </a:prstGeom>
          <a:solidFill>
            <a:srgbClr val="24282C">
              <a:alpha val="0"/>
            </a:srgbClr>
          </a:solidFill>
          <a:ln w="8890">
            <a:solidFill>
              <a:srgbClr val="3F484F"/>
            </a:solidFill>
            <a:prstDash val="solid"/>
          </a:ln>
        </p:spPr>
        <p:txBody>
          <a:bodyPr/>
          <a:lstStyle/>
          <a:p>
            <a:endParaRPr lang="nl-NL"/>
          </a:p>
        </p:txBody>
      </p:sp>
      <p:sp>
        <p:nvSpPr>
          <p:cNvPr id="14" name="Shape 12"/>
          <p:cNvSpPr/>
          <p:nvPr/>
        </p:nvSpPr>
        <p:spPr>
          <a:xfrm>
            <a:off x="8198510" y="1571854"/>
            <a:ext cx="2439619" cy="2439619"/>
          </a:xfrm>
          <a:prstGeom prst="ellipse">
            <a:avLst/>
          </a:prstGeom>
          <a:solidFill>
            <a:srgbClr val="24282C">
              <a:alpha val="0"/>
            </a:srgbClr>
          </a:solidFill>
          <a:ln w="8890">
            <a:solidFill>
              <a:srgbClr val="3F484F"/>
            </a:solidFill>
            <a:prstDash val="solid"/>
          </a:ln>
        </p:spPr>
        <p:txBody>
          <a:bodyPr/>
          <a:lstStyle/>
          <a:p>
            <a:endParaRPr lang="nl-NL"/>
          </a:p>
        </p:txBody>
      </p:sp>
      <p:sp>
        <p:nvSpPr>
          <p:cNvPr id="15" name="Shape 13"/>
          <p:cNvSpPr/>
          <p:nvPr/>
        </p:nvSpPr>
        <p:spPr>
          <a:xfrm flipV="1">
            <a:off x="9418320" y="1719072"/>
            <a:ext cx="914" cy="1072591"/>
          </a:xfrm>
          <a:prstGeom prst="line">
            <a:avLst/>
          </a:prstGeom>
          <a:noFill/>
          <a:ln w="8412">
            <a:solidFill>
              <a:srgbClr val="D71920"/>
            </a:solidFill>
            <a:prstDash val="solid"/>
          </a:ln>
        </p:spPr>
        <p:txBody>
          <a:bodyPr/>
          <a:lstStyle/>
          <a:p>
            <a:endParaRPr lang="nl-NL"/>
          </a:p>
        </p:txBody>
      </p:sp>
      <p:sp>
        <p:nvSpPr>
          <p:cNvPr id="16" name="Shape 14"/>
          <p:cNvSpPr/>
          <p:nvPr/>
        </p:nvSpPr>
        <p:spPr>
          <a:xfrm>
            <a:off x="9224833" y="1525585"/>
            <a:ext cx="386974" cy="386974"/>
          </a:xfrm>
          <a:prstGeom prst="ellipse">
            <a:avLst/>
          </a:prstGeom>
          <a:solidFill>
            <a:srgbClr val="30363B"/>
          </a:solidFill>
          <a:ln w="8890">
            <a:solidFill>
              <a:srgbClr val="7B8790"/>
            </a:solidFill>
            <a:prstDash val="solid"/>
          </a:ln>
        </p:spPr>
        <p:txBody>
          <a:bodyPr/>
          <a:lstStyle/>
          <a:p>
            <a:endParaRPr lang="nl-NL"/>
          </a:p>
        </p:txBody>
      </p:sp>
      <p:sp>
        <p:nvSpPr>
          <p:cNvPr id="17" name="Text 15"/>
          <p:cNvSpPr/>
          <p:nvPr/>
        </p:nvSpPr>
        <p:spPr>
          <a:xfrm>
            <a:off x="9115471" y="1677010"/>
            <a:ext cx="605699" cy="252374"/>
          </a:xfrm>
          <a:prstGeom prst="rect">
            <a:avLst/>
          </a:prstGeom>
          <a:noFill/>
          <a:ln/>
        </p:spPr>
        <p:txBody>
          <a:bodyPr wrap="square" lIns="0" tIns="0" rIns="0" bIns="0" rtlCol="0" anchor="t">
            <a:normAutofit/>
          </a:bodyPr>
          <a:lstStyle/>
          <a:p>
            <a:pPr marL="0" indent="0" algn="ctr">
              <a:buNone/>
            </a:pPr>
            <a:r>
              <a:rPr lang="en-US" sz="795" b="1" dirty="0">
                <a:solidFill>
                  <a:srgbClr val="F5F6F7"/>
                </a:solidFill>
                <a:latin typeface="Arial" pitchFamily="34" charset="0"/>
                <a:ea typeface="Arial" pitchFamily="34" charset="-122"/>
                <a:cs typeface="Arial" pitchFamily="34" charset="-120"/>
              </a:rPr>
              <a:t>AIM</a:t>
            </a:r>
            <a:endParaRPr lang="en-US" sz="795" dirty="0"/>
          </a:p>
        </p:txBody>
      </p:sp>
      <p:sp>
        <p:nvSpPr>
          <p:cNvPr id="18" name="Shape 16"/>
          <p:cNvSpPr/>
          <p:nvPr/>
        </p:nvSpPr>
        <p:spPr>
          <a:xfrm>
            <a:off x="9418320" y="2791663"/>
            <a:ext cx="1064179" cy="914"/>
          </a:xfrm>
          <a:prstGeom prst="line">
            <a:avLst/>
          </a:prstGeom>
          <a:noFill/>
          <a:ln w="8412">
            <a:solidFill>
              <a:srgbClr val="D71920"/>
            </a:solidFill>
            <a:prstDash val="solid"/>
          </a:ln>
        </p:spPr>
        <p:txBody>
          <a:bodyPr/>
          <a:lstStyle/>
          <a:p>
            <a:endParaRPr lang="nl-NL"/>
          </a:p>
        </p:txBody>
      </p:sp>
      <p:sp>
        <p:nvSpPr>
          <p:cNvPr id="19" name="Shape 17"/>
          <p:cNvSpPr/>
          <p:nvPr/>
        </p:nvSpPr>
        <p:spPr>
          <a:xfrm>
            <a:off x="10289012" y="2598176"/>
            <a:ext cx="386974" cy="386974"/>
          </a:xfrm>
          <a:prstGeom prst="ellipse">
            <a:avLst/>
          </a:prstGeom>
          <a:solidFill>
            <a:srgbClr val="30363B"/>
          </a:solidFill>
          <a:ln w="8890">
            <a:solidFill>
              <a:srgbClr val="7B8790"/>
            </a:solidFill>
            <a:prstDash val="solid"/>
          </a:ln>
        </p:spPr>
        <p:txBody>
          <a:bodyPr/>
          <a:lstStyle/>
          <a:p>
            <a:endParaRPr lang="nl-NL"/>
          </a:p>
        </p:txBody>
      </p:sp>
      <p:sp>
        <p:nvSpPr>
          <p:cNvPr id="20" name="Text 18"/>
          <p:cNvSpPr/>
          <p:nvPr/>
        </p:nvSpPr>
        <p:spPr>
          <a:xfrm>
            <a:off x="10179649" y="2749601"/>
            <a:ext cx="605699" cy="252374"/>
          </a:xfrm>
          <a:prstGeom prst="rect">
            <a:avLst/>
          </a:prstGeom>
          <a:noFill/>
          <a:ln/>
        </p:spPr>
        <p:txBody>
          <a:bodyPr wrap="square" lIns="0" tIns="0" rIns="0" bIns="0" rtlCol="0" anchor="t">
            <a:normAutofit/>
          </a:bodyPr>
          <a:lstStyle/>
          <a:p>
            <a:pPr marL="0" indent="0" algn="ctr">
              <a:buNone/>
            </a:pPr>
            <a:r>
              <a:rPr lang="en-US" sz="795" b="1" dirty="0">
                <a:solidFill>
                  <a:srgbClr val="F5F6F7"/>
                </a:solidFill>
                <a:latin typeface="Arial" pitchFamily="34" charset="0"/>
                <a:ea typeface="Arial" pitchFamily="34" charset="-122"/>
                <a:cs typeface="Arial" pitchFamily="34" charset="-120"/>
              </a:rPr>
              <a:t>PRISM</a:t>
            </a:r>
            <a:endParaRPr lang="en-US" sz="795" dirty="0"/>
          </a:p>
        </p:txBody>
      </p:sp>
      <p:sp>
        <p:nvSpPr>
          <p:cNvPr id="21" name="Shape 19"/>
          <p:cNvSpPr/>
          <p:nvPr/>
        </p:nvSpPr>
        <p:spPr>
          <a:xfrm>
            <a:off x="9418320" y="2791663"/>
            <a:ext cx="914" cy="1072591"/>
          </a:xfrm>
          <a:prstGeom prst="line">
            <a:avLst/>
          </a:prstGeom>
          <a:noFill/>
          <a:ln w="8412">
            <a:solidFill>
              <a:srgbClr val="D71920"/>
            </a:solidFill>
            <a:prstDash val="solid"/>
          </a:ln>
        </p:spPr>
        <p:txBody>
          <a:bodyPr/>
          <a:lstStyle/>
          <a:p>
            <a:endParaRPr lang="nl-NL"/>
          </a:p>
        </p:txBody>
      </p:sp>
      <p:sp>
        <p:nvSpPr>
          <p:cNvPr id="22" name="Shape 20"/>
          <p:cNvSpPr/>
          <p:nvPr/>
        </p:nvSpPr>
        <p:spPr>
          <a:xfrm>
            <a:off x="9224833" y="3670767"/>
            <a:ext cx="386974" cy="386974"/>
          </a:xfrm>
          <a:prstGeom prst="ellipse">
            <a:avLst/>
          </a:prstGeom>
          <a:solidFill>
            <a:srgbClr val="30363B"/>
          </a:solidFill>
          <a:ln w="8890">
            <a:solidFill>
              <a:srgbClr val="7B8790"/>
            </a:solidFill>
            <a:prstDash val="solid"/>
          </a:ln>
        </p:spPr>
        <p:txBody>
          <a:bodyPr/>
          <a:lstStyle/>
          <a:p>
            <a:endParaRPr lang="nl-NL"/>
          </a:p>
        </p:txBody>
      </p:sp>
      <p:sp>
        <p:nvSpPr>
          <p:cNvPr id="23" name="Text 21"/>
          <p:cNvSpPr/>
          <p:nvPr/>
        </p:nvSpPr>
        <p:spPr>
          <a:xfrm>
            <a:off x="9115471" y="3822192"/>
            <a:ext cx="605699" cy="252374"/>
          </a:xfrm>
          <a:prstGeom prst="rect">
            <a:avLst/>
          </a:prstGeom>
          <a:noFill/>
          <a:ln/>
        </p:spPr>
        <p:txBody>
          <a:bodyPr wrap="square" lIns="0" tIns="0" rIns="0" bIns="0" rtlCol="0" anchor="t">
            <a:normAutofit/>
          </a:bodyPr>
          <a:lstStyle/>
          <a:p>
            <a:pPr marL="0" indent="0" algn="ctr">
              <a:buNone/>
            </a:pPr>
            <a:r>
              <a:rPr lang="en-US" sz="795" b="1" dirty="0">
                <a:solidFill>
                  <a:srgbClr val="F5F6F7"/>
                </a:solidFill>
                <a:latin typeface="Arial" pitchFamily="34" charset="0"/>
                <a:ea typeface="Arial" pitchFamily="34" charset="-122"/>
                <a:cs typeface="Arial" pitchFamily="34" charset="-120"/>
              </a:rPr>
              <a:t>IDS</a:t>
            </a:r>
            <a:endParaRPr lang="en-US" sz="795" dirty="0"/>
          </a:p>
        </p:txBody>
      </p:sp>
      <p:sp>
        <p:nvSpPr>
          <p:cNvPr id="24" name="Shape 22"/>
          <p:cNvSpPr/>
          <p:nvPr/>
        </p:nvSpPr>
        <p:spPr>
          <a:xfrm flipH="1">
            <a:off x="8345729" y="2791663"/>
            <a:ext cx="1072591" cy="914"/>
          </a:xfrm>
          <a:prstGeom prst="line">
            <a:avLst/>
          </a:prstGeom>
          <a:noFill/>
          <a:ln w="8412">
            <a:solidFill>
              <a:srgbClr val="D71920"/>
            </a:solidFill>
            <a:prstDash val="solid"/>
          </a:ln>
        </p:spPr>
        <p:txBody>
          <a:bodyPr/>
          <a:lstStyle/>
          <a:p>
            <a:endParaRPr lang="nl-NL"/>
          </a:p>
        </p:txBody>
      </p:sp>
      <p:sp>
        <p:nvSpPr>
          <p:cNvPr id="25" name="Shape 23"/>
          <p:cNvSpPr/>
          <p:nvPr/>
        </p:nvSpPr>
        <p:spPr>
          <a:xfrm>
            <a:off x="8152242" y="2598176"/>
            <a:ext cx="386974" cy="386974"/>
          </a:xfrm>
          <a:prstGeom prst="ellipse">
            <a:avLst/>
          </a:prstGeom>
          <a:solidFill>
            <a:srgbClr val="D71920"/>
          </a:solidFill>
          <a:ln w="8890">
            <a:solidFill>
              <a:srgbClr val="7B8790"/>
            </a:solidFill>
            <a:prstDash val="solid"/>
          </a:ln>
        </p:spPr>
        <p:txBody>
          <a:bodyPr/>
          <a:lstStyle/>
          <a:p>
            <a:endParaRPr lang="nl-NL"/>
          </a:p>
        </p:txBody>
      </p:sp>
      <p:sp>
        <p:nvSpPr>
          <p:cNvPr id="26" name="Text 24"/>
          <p:cNvSpPr/>
          <p:nvPr/>
        </p:nvSpPr>
        <p:spPr>
          <a:xfrm>
            <a:off x="8042880" y="2749601"/>
            <a:ext cx="605699" cy="252374"/>
          </a:xfrm>
          <a:prstGeom prst="rect">
            <a:avLst/>
          </a:prstGeom>
          <a:noFill/>
          <a:ln/>
        </p:spPr>
        <p:txBody>
          <a:bodyPr wrap="square" lIns="0" tIns="0" rIns="0" bIns="0" rtlCol="0" anchor="t">
            <a:normAutofit/>
          </a:bodyPr>
          <a:lstStyle/>
          <a:p>
            <a:pPr marL="0" indent="0" algn="ctr">
              <a:buNone/>
            </a:pPr>
            <a:r>
              <a:rPr lang="en-US" sz="795" b="1" dirty="0">
                <a:solidFill>
                  <a:srgbClr val="F5F6F7"/>
                </a:solidFill>
                <a:latin typeface="Arial" pitchFamily="34" charset="0"/>
                <a:ea typeface="Arial" pitchFamily="34" charset="-122"/>
                <a:cs typeface="Arial" pitchFamily="34" charset="-120"/>
              </a:rPr>
              <a:t>VALUE</a:t>
            </a:r>
            <a:endParaRPr lang="en-US" sz="795" dirty="0"/>
          </a:p>
        </p:txBody>
      </p:sp>
      <p:sp>
        <p:nvSpPr>
          <p:cNvPr id="27" name="Shape 25"/>
          <p:cNvSpPr/>
          <p:nvPr/>
        </p:nvSpPr>
        <p:spPr>
          <a:xfrm>
            <a:off x="8955634" y="2328977"/>
            <a:ext cx="925373" cy="925373"/>
          </a:xfrm>
          <a:prstGeom prst="ellipse">
            <a:avLst/>
          </a:prstGeom>
          <a:solidFill>
            <a:srgbClr val="30363B"/>
          </a:solidFill>
          <a:ln w="8890">
            <a:solidFill>
              <a:srgbClr val="D71920"/>
            </a:solidFill>
            <a:prstDash val="solid"/>
          </a:ln>
        </p:spPr>
        <p:txBody>
          <a:bodyPr/>
          <a:lstStyle/>
          <a:p>
            <a:endParaRPr lang="nl-NL"/>
          </a:p>
        </p:txBody>
      </p:sp>
      <p:sp>
        <p:nvSpPr>
          <p:cNvPr id="28" name="Text 26"/>
          <p:cNvSpPr/>
          <p:nvPr/>
        </p:nvSpPr>
        <p:spPr>
          <a:xfrm>
            <a:off x="8879921" y="2732776"/>
            <a:ext cx="1076797" cy="252374"/>
          </a:xfrm>
          <a:prstGeom prst="rect">
            <a:avLst/>
          </a:prstGeom>
          <a:noFill/>
          <a:ln/>
        </p:spPr>
        <p:txBody>
          <a:bodyPr wrap="square" lIns="0" tIns="0" rIns="0" bIns="0" rtlCol="0" anchor="t">
            <a:normAutofit/>
          </a:bodyPr>
          <a:lstStyle/>
          <a:p>
            <a:pPr marL="0" indent="0" algn="ctr">
              <a:buNone/>
            </a:pPr>
            <a:r>
              <a:rPr lang="en-US" sz="994" b="1" dirty="0">
                <a:solidFill>
                  <a:srgbClr val="F5F6F7"/>
                </a:solidFill>
                <a:latin typeface="Arial" pitchFamily="34" charset="0"/>
                <a:ea typeface="Arial" pitchFamily="34" charset="-122"/>
                <a:cs typeface="Arial" pitchFamily="34" charset="-120"/>
              </a:rPr>
              <a:t>UNIVERSE</a:t>
            </a:r>
            <a:endParaRPr lang="en-US" sz="994" dirty="0"/>
          </a:p>
        </p:txBody>
      </p:sp>
      <p:sp>
        <p:nvSpPr>
          <p:cNvPr id="29" name="Text 27"/>
          <p:cNvSpPr/>
          <p:nvPr/>
        </p:nvSpPr>
        <p:spPr>
          <a:xfrm>
            <a:off x="621792" y="5769864"/>
            <a:ext cx="10607040" cy="292608"/>
          </a:xfrm>
          <a:prstGeom prst="rect">
            <a:avLst/>
          </a:prstGeom>
          <a:noFill/>
          <a:ln/>
        </p:spPr>
        <p:txBody>
          <a:bodyPr wrap="square" lIns="0" tIns="0" rIns="0" bIns="0" rtlCol="0" anchor="t">
            <a:normAutofit/>
          </a:bodyPr>
          <a:lstStyle/>
          <a:p>
            <a:pPr marL="0" indent="0" algn="l">
              <a:buNone/>
            </a:pPr>
            <a:r>
              <a:rPr lang="en-US" sz="1700" dirty="0">
                <a:solidFill>
                  <a:srgbClr val="BDC4C9"/>
                </a:solidFill>
                <a:latin typeface="Arial" pitchFamily="34" charset="0"/>
                <a:ea typeface="Arial" pitchFamily="34" charset="-122"/>
                <a:cs typeface="Arial" pitchFamily="34" charset="-120"/>
              </a:rPr>
              <a:t>Commercial vision and participation</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4282C"/>
        </a:solidFill>
        <a:effectLst/>
      </p:bgPr>
    </p:bg>
    <p:spTree>
      <p:nvGrpSpPr>
        <p:cNvPr id="1" name=""/>
        <p:cNvGrpSpPr/>
        <p:nvPr/>
      </p:nvGrpSpPr>
      <p:grpSpPr>
        <a:xfrm>
          <a:off x="0" y="0"/>
          <a:ext cx="0" cy="0"/>
          <a:chOff x="0" y="0"/>
          <a:chExt cx="0" cy="0"/>
        </a:xfrm>
      </p:grpSpPr>
      <p:sp>
        <p:nvSpPr>
          <p:cNvPr id="2" name="Text 0"/>
          <p:cNvSpPr/>
          <p:nvPr/>
        </p:nvSpPr>
        <p:spPr>
          <a:xfrm>
            <a:off x="484632" y="173736"/>
            <a:ext cx="2743200" cy="201168"/>
          </a:xfrm>
          <a:prstGeom prst="rect">
            <a:avLst/>
          </a:prstGeom>
          <a:noFill/>
          <a:ln/>
        </p:spPr>
        <p:txBody>
          <a:bodyPr wrap="square" lIns="0" tIns="0" rIns="0" bIns="0" rtlCol="0" anchor="t">
            <a:normAutofit/>
          </a:bodyPr>
          <a:lstStyle/>
          <a:p>
            <a:pPr marL="0" indent="0" algn="l">
              <a:buNone/>
            </a:pPr>
            <a:r>
              <a:rPr lang="en-US" sz="1000" b="1" dirty="0">
                <a:solidFill>
                  <a:srgbClr val="F5F6F7"/>
                </a:solidFill>
                <a:latin typeface="Arial" pitchFamily="34" charset="0"/>
                <a:ea typeface="Arial" pitchFamily="34" charset="-122"/>
                <a:cs typeface="Arial" pitchFamily="34" charset="-120"/>
              </a:rPr>
              <a:t>ISUZU / UNIVERSE</a:t>
            </a:r>
            <a:endParaRPr lang="en-US" sz="1000" dirty="0"/>
          </a:p>
        </p:txBody>
      </p:sp>
      <p:sp>
        <p:nvSpPr>
          <p:cNvPr id="3" name="Text 1"/>
          <p:cNvSpPr/>
          <p:nvPr/>
        </p:nvSpPr>
        <p:spPr>
          <a:xfrm>
            <a:off x="8046720" y="173736"/>
            <a:ext cx="3657600" cy="201168"/>
          </a:xfrm>
          <a:prstGeom prst="rect">
            <a:avLst/>
          </a:prstGeom>
          <a:noFill/>
          <a:ln/>
        </p:spPr>
        <p:txBody>
          <a:bodyPr wrap="square" lIns="0" tIns="0" rIns="0" bIns="0" rtlCol="0" anchor="t">
            <a:normAutofit/>
          </a:bodyPr>
          <a:lstStyle/>
          <a:p>
            <a:pPr marL="0" indent="0" algn="r">
              <a:buNone/>
            </a:pPr>
            <a:r>
              <a:rPr lang="en-US" sz="900" dirty="0">
                <a:solidFill>
                  <a:srgbClr val="BDC4C9"/>
                </a:solidFill>
                <a:latin typeface="Arial" pitchFamily="34" charset="0"/>
                <a:ea typeface="Arial" pitchFamily="34" charset="-122"/>
                <a:cs typeface="Arial" pitchFamily="34" charset="-120"/>
              </a:rPr>
              <a:t>COMMERCIAL VISION  /  3.0</a:t>
            </a:r>
            <a:endParaRPr lang="en-US" sz="900" dirty="0"/>
          </a:p>
        </p:txBody>
      </p:sp>
      <p:sp>
        <p:nvSpPr>
          <p:cNvPr id="4" name="Shape 2"/>
          <p:cNvSpPr/>
          <p:nvPr/>
        </p:nvSpPr>
        <p:spPr>
          <a:xfrm>
            <a:off x="484632" y="512064"/>
            <a:ext cx="475488" cy="22860"/>
          </a:xfrm>
          <a:prstGeom prst="rect">
            <a:avLst/>
          </a:prstGeom>
          <a:solidFill>
            <a:srgbClr val="D71920"/>
          </a:solidFill>
          <a:ln w="12700">
            <a:solidFill>
              <a:srgbClr val="D71920">
                <a:alpha val="0"/>
              </a:srgbClr>
            </a:solidFill>
            <a:prstDash val="solid"/>
          </a:ln>
        </p:spPr>
        <p:txBody>
          <a:bodyPr/>
          <a:lstStyle/>
          <a:p>
            <a:endParaRPr lang="nl-NL"/>
          </a:p>
        </p:txBody>
      </p:sp>
      <p:sp>
        <p:nvSpPr>
          <p:cNvPr id="5" name="Text 3"/>
          <p:cNvSpPr/>
          <p:nvPr/>
        </p:nvSpPr>
        <p:spPr>
          <a:xfrm>
            <a:off x="484632" y="658368"/>
            <a:ext cx="11064240" cy="219456"/>
          </a:xfrm>
          <a:prstGeom prst="rect">
            <a:avLst/>
          </a:prstGeom>
          <a:noFill/>
          <a:ln/>
        </p:spPr>
        <p:txBody>
          <a:bodyPr wrap="square" lIns="0" tIns="0" rIns="0" bIns="0" rtlCol="0" anchor="t">
            <a:normAutofit/>
          </a:bodyPr>
          <a:lstStyle/>
          <a:p>
            <a:pPr marL="0" indent="0" algn="l">
              <a:buNone/>
            </a:pPr>
            <a:r>
              <a:rPr lang="en-US" sz="1000" b="1" dirty="0">
                <a:solidFill>
                  <a:srgbClr val="D71920"/>
                </a:solidFill>
                <a:latin typeface="Arial" pitchFamily="34" charset="0"/>
                <a:ea typeface="Arial" pitchFamily="34" charset="-122"/>
                <a:cs typeface="Arial" pitchFamily="34" charset="-120"/>
              </a:rPr>
              <a:t>THE PROPOSITION</a:t>
            </a:r>
            <a:endParaRPr lang="en-US" sz="1000" dirty="0"/>
          </a:p>
        </p:txBody>
      </p:sp>
      <p:sp>
        <p:nvSpPr>
          <p:cNvPr id="6" name="Shape 4"/>
          <p:cNvSpPr/>
          <p:nvPr/>
        </p:nvSpPr>
        <p:spPr>
          <a:xfrm>
            <a:off x="484632" y="6446520"/>
            <a:ext cx="11219688" cy="914"/>
          </a:xfrm>
          <a:prstGeom prst="line">
            <a:avLst/>
          </a:prstGeom>
          <a:noFill/>
          <a:ln w="6350">
            <a:solidFill>
              <a:srgbClr val="647078"/>
            </a:solidFill>
            <a:prstDash val="solid"/>
          </a:ln>
        </p:spPr>
        <p:txBody>
          <a:bodyPr/>
          <a:lstStyle/>
          <a:p>
            <a:endParaRPr lang="nl-NL"/>
          </a:p>
        </p:txBody>
      </p:sp>
      <p:sp>
        <p:nvSpPr>
          <p:cNvPr id="7" name="Text 5"/>
          <p:cNvSpPr/>
          <p:nvPr/>
        </p:nvSpPr>
        <p:spPr>
          <a:xfrm>
            <a:off x="484632" y="6556248"/>
            <a:ext cx="9144000" cy="146304"/>
          </a:xfrm>
          <a:prstGeom prst="rect">
            <a:avLst/>
          </a:prstGeom>
          <a:noFill/>
          <a:ln/>
        </p:spPr>
        <p:txBody>
          <a:bodyPr wrap="square" lIns="0" tIns="0" rIns="0" bIns="0" rtlCol="0" anchor="t">
            <a:normAutofit/>
          </a:bodyPr>
          <a:lstStyle/>
          <a:p>
            <a:pPr marL="0" indent="0" algn="l">
              <a:buNone/>
            </a:pPr>
            <a:r>
              <a:rPr lang="en-US" sz="750" dirty="0">
                <a:solidFill>
                  <a:srgbClr val="BDC4C9"/>
                </a:solidFill>
                <a:latin typeface="Arial" pitchFamily="34" charset="0"/>
                <a:ea typeface="Arial" pitchFamily="34" charset="-122"/>
                <a:cs typeface="Arial" pitchFamily="34" charset="-120"/>
              </a:rPr>
              <a:t>22 SEPTEMBER 2026  /  CONCEPT AND APPLICATION EXAMPLES</a:t>
            </a:r>
            <a:endParaRPr lang="en-US" sz="750" dirty="0"/>
          </a:p>
        </p:txBody>
      </p:sp>
      <p:sp>
        <p:nvSpPr>
          <p:cNvPr id="8" name="Text 6"/>
          <p:cNvSpPr/>
          <p:nvPr/>
        </p:nvSpPr>
        <p:spPr>
          <a:xfrm>
            <a:off x="10789920" y="6547104"/>
            <a:ext cx="914400" cy="173736"/>
          </a:xfrm>
          <a:prstGeom prst="rect">
            <a:avLst/>
          </a:prstGeom>
          <a:noFill/>
          <a:ln/>
        </p:spPr>
        <p:txBody>
          <a:bodyPr wrap="square" lIns="0" tIns="0" rIns="0" bIns="0" rtlCol="0" anchor="t">
            <a:normAutofit/>
          </a:bodyPr>
          <a:lstStyle/>
          <a:p>
            <a:pPr marL="0" indent="0" algn="r">
              <a:buNone/>
            </a:pPr>
            <a:r>
              <a:rPr lang="en-US" sz="850" dirty="0">
                <a:solidFill>
                  <a:srgbClr val="BDC4C9"/>
                </a:solidFill>
                <a:latin typeface="Arial" pitchFamily="34" charset="0"/>
                <a:ea typeface="Arial" pitchFamily="34" charset="-122"/>
                <a:cs typeface="Arial" pitchFamily="34" charset="-120"/>
              </a:rPr>
              <a:t>02 / 49</a:t>
            </a:r>
            <a:endParaRPr lang="en-US" sz="850" dirty="0"/>
          </a:p>
        </p:txBody>
      </p:sp>
      <p:sp>
        <p:nvSpPr>
          <p:cNvPr id="9" name="Text 7"/>
          <p:cNvSpPr/>
          <p:nvPr/>
        </p:nvSpPr>
        <p:spPr>
          <a:xfrm>
            <a:off x="502920" y="1078992"/>
            <a:ext cx="10835640" cy="1133856"/>
          </a:xfrm>
          <a:prstGeom prst="rect">
            <a:avLst/>
          </a:prstGeom>
          <a:noFill/>
          <a:ln/>
        </p:spPr>
        <p:txBody>
          <a:bodyPr wrap="square" lIns="0" tIns="0" rIns="0" bIns="0" rtlCol="0" anchor="t">
            <a:normAutofit/>
          </a:bodyPr>
          <a:lstStyle/>
          <a:p>
            <a:pPr marL="0" indent="0" algn="l">
              <a:buNone/>
            </a:pPr>
            <a:r>
              <a:rPr lang="en-US" sz="4100" b="1" dirty="0">
                <a:solidFill>
                  <a:srgbClr val="F5F6F7"/>
                </a:solidFill>
                <a:latin typeface="Arial" pitchFamily="34" charset="0"/>
                <a:ea typeface="Arial" pitchFamily="34" charset="-122"/>
                <a:cs typeface="Arial" pitchFamily="34" charset="-120"/>
              </a:rPr>
              <a:t>Give the network capabilities worth using.</a:t>
            </a:r>
            <a:endParaRPr lang="en-US" sz="4100" dirty="0"/>
          </a:p>
        </p:txBody>
      </p:sp>
      <p:sp>
        <p:nvSpPr>
          <p:cNvPr id="10" name="Text 8"/>
          <p:cNvSpPr/>
          <p:nvPr/>
        </p:nvSpPr>
        <p:spPr>
          <a:xfrm>
            <a:off x="530352" y="2532888"/>
            <a:ext cx="9921240" cy="950976"/>
          </a:xfrm>
          <a:prstGeom prst="rect">
            <a:avLst/>
          </a:prstGeom>
          <a:noFill/>
          <a:ln/>
        </p:spPr>
        <p:txBody>
          <a:bodyPr wrap="square" lIns="0" tIns="0" rIns="0" bIns="0" rtlCol="0" anchor="t">
            <a:normAutofit/>
          </a:bodyPr>
          <a:lstStyle/>
          <a:p>
            <a:pPr marL="0" indent="0" algn="l">
              <a:buNone/>
            </a:pPr>
            <a:r>
              <a:rPr lang="en-US" sz="2500" dirty="0">
                <a:solidFill>
                  <a:srgbClr val="BDC4C9"/>
                </a:solidFill>
                <a:latin typeface="Arial" pitchFamily="34" charset="0"/>
                <a:ea typeface="Arial" pitchFamily="34" charset="-122"/>
                <a:cs typeface="Arial" pitchFamily="34" charset="-120"/>
              </a:rPr>
              <a:t>Product knowledge, deep purchasing analysis and visible dealer development become useful commercial choices.</a:t>
            </a:r>
            <a:endParaRPr lang="en-US" sz="2500" dirty="0"/>
          </a:p>
        </p:txBody>
      </p:sp>
      <p:sp>
        <p:nvSpPr>
          <p:cNvPr id="11" name="Shape 9"/>
          <p:cNvSpPr/>
          <p:nvPr/>
        </p:nvSpPr>
        <p:spPr>
          <a:xfrm>
            <a:off x="521208" y="3886200"/>
            <a:ext cx="11064240" cy="1527048"/>
          </a:xfrm>
          <a:prstGeom prst="rect">
            <a:avLst/>
          </a:prstGeom>
          <a:solidFill>
            <a:srgbClr val="30363B"/>
          </a:solidFill>
          <a:ln w="12700">
            <a:solidFill>
              <a:srgbClr val="30363B">
                <a:alpha val="0"/>
              </a:srgbClr>
            </a:solidFill>
            <a:prstDash val="solid"/>
          </a:ln>
        </p:spPr>
        <p:txBody>
          <a:bodyPr/>
          <a:lstStyle/>
          <a:p>
            <a:endParaRPr lang="nl-NL"/>
          </a:p>
        </p:txBody>
      </p:sp>
      <p:sp>
        <p:nvSpPr>
          <p:cNvPr id="12" name="Shape 10"/>
          <p:cNvSpPr/>
          <p:nvPr/>
        </p:nvSpPr>
        <p:spPr>
          <a:xfrm>
            <a:off x="521208" y="3886200"/>
            <a:ext cx="45720" cy="1527048"/>
          </a:xfrm>
          <a:prstGeom prst="rect">
            <a:avLst/>
          </a:prstGeom>
          <a:solidFill>
            <a:srgbClr val="D71920"/>
          </a:solidFill>
          <a:ln w="12700">
            <a:solidFill>
              <a:srgbClr val="D71920">
                <a:alpha val="0"/>
              </a:srgbClr>
            </a:solidFill>
            <a:prstDash val="solid"/>
          </a:ln>
        </p:spPr>
        <p:txBody>
          <a:bodyPr/>
          <a:lstStyle/>
          <a:p>
            <a:endParaRPr lang="nl-NL"/>
          </a:p>
        </p:txBody>
      </p:sp>
      <p:sp>
        <p:nvSpPr>
          <p:cNvPr id="13" name="Text 11"/>
          <p:cNvSpPr/>
          <p:nvPr/>
        </p:nvSpPr>
        <p:spPr>
          <a:xfrm>
            <a:off x="786384" y="4206240"/>
            <a:ext cx="10424160" cy="914400"/>
          </a:xfrm>
          <a:prstGeom prst="rect">
            <a:avLst/>
          </a:prstGeom>
          <a:noFill/>
          <a:ln/>
        </p:spPr>
        <p:txBody>
          <a:bodyPr wrap="square" lIns="0" tIns="0" rIns="0" bIns="0" rtlCol="0" anchor="t">
            <a:normAutofit/>
          </a:bodyPr>
          <a:lstStyle/>
          <a:p>
            <a:pPr marL="0" indent="0" algn="l">
              <a:buNone/>
            </a:pPr>
            <a:r>
              <a:rPr lang="en-US" sz="2600" b="1" dirty="0">
                <a:solidFill>
                  <a:srgbClr val="F5F6F7"/>
                </a:solidFill>
                <a:latin typeface="Arial" pitchFamily="34" charset="0"/>
                <a:ea typeface="Arial" pitchFamily="34" charset="-122"/>
                <a:cs typeface="Arial" pitchFamily="34" charset="-120"/>
              </a:rPr>
              <a:t>Tender collaboration, IDS progress and Deal of the Day are examples, not a fixed product catalogue.</a:t>
            </a:r>
            <a:endParaRPr lang="en-US" sz="2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4282C"/>
        </a:solidFill>
        <a:effectLst/>
      </p:bgPr>
    </p:bg>
    <p:spTree>
      <p:nvGrpSpPr>
        <p:cNvPr id="1" name=""/>
        <p:cNvGrpSpPr/>
        <p:nvPr/>
      </p:nvGrpSpPr>
      <p:grpSpPr>
        <a:xfrm>
          <a:off x="0" y="0"/>
          <a:ext cx="0" cy="0"/>
          <a:chOff x="0" y="0"/>
          <a:chExt cx="0" cy="0"/>
        </a:xfrm>
      </p:grpSpPr>
      <p:sp>
        <p:nvSpPr>
          <p:cNvPr id="2" name="Text 0"/>
          <p:cNvSpPr/>
          <p:nvPr/>
        </p:nvSpPr>
        <p:spPr>
          <a:xfrm>
            <a:off x="484632" y="173736"/>
            <a:ext cx="2743200" cy="201168"/>
          </a:xfrm>
          <a:prstGeom prst="rect">
            <a:avLst/>
          </a:prstGeom>
          <a:noFill/>
          <a:ln/>
        </p:spPr>
        <p:txBody>
          <a:bodyPr wrap="square" lIns="0" tIns="0" rIns="0" bIns="0" rtlCol="0" anchor="t">
            <a:normAutofit/>
          </a:bodyPr>
          <a:lstStyle/>
          <a:p>
            <a:pPr marL="0" indent="0" algn="l">
              <a:buNone/>
            </a:pPr>
            <a:r>
              <a:rPr lang="en-US" sz="1000" b="1" dirty="0">
                <a:solidFill>
                  <a:srgbClr val="F5F6F7"/>
                </a:solidFill>
                <a:latin typeface="Arial" pitchFamily="34" charset="0"/>
                <a:ea typeface="Arial" pitchFamily="34" charset="-122"/>
                <a:cs typeface="Arial" pitchFamily="34" charset="-120"/>
              </a:rPr>
              <a:t>ISUZU / UNIVERSE</a:t>
            </a:r>
            <a:endParaRPr lang="en-US" sz="1000" dirty="0"/>
          </a:p>
        </p:txBody>
      </p:sp>
      <p:sp>
        <p:nvSpPr>
          <p:cNvPr id="3" name="Text 1"/>
          <p:cNvSpPr/>
          <p:nvPr/>
        </p:nvSpPr>
        <p:spPr>
          <a:xfrm>
            <a:off x="8046720" y="173736"/>
            <a:ext cx="3657600" cy="201168"/>
          </a:xfrm>
          <a:prstGeom prst="rect">
            <a:avLst/>
          </a:prstGeom>
          <a:noFill/>
          <a:ln/>
        </p:spPr>
        <p:txBody>
          <a:bodyPr wrap="square" lIns="0" tIns="0" rIns="0" bIns="0" rtlCol="0" anchor="t">
            <a:normAutofit/>
          </a:bodyPr>
          <a:lstStyle/>
          <a:p>
            <a:pPr marL="0" indent="0" algn="r">
              <a:buNone/>
            </a:pPr>
            <a:r>
              <a:rPr lang="en-US" sz="900" dirty="0">
                <a:solidFill>
                  <a:srgbClr val="BDC4C9"/>
                </a:solidFill>
                <a:latin typeface="Arial" pitchFamily="34" charset="0"/>
                <a:ea typeface="Arial" pitchFamily="34" charset="-122"/>
                <a:cs typeface="Arial" pitchFamily="34" charset="-120"/>
              </a:rPr>
              <a:t>COMMERCIAL VISION  /  3.0</a:t>
            </a:r>
            <a:endParaRPr lang="en-US" sz="900" dirty="0"/>
          </a:p>
        </p:txBody>
      </p:sp>
      <p:sp>
        <p:nvSpPr>
          <p:cNvPr id="4" name="Shape 2"/>
          <p:cNvSpPr/>
          <p:nvPr/>
        </p:nvSpPr>
        <p:spPr>
          <a:xfrm>
            <a:off x="484632" y="512064"/>
            <a:ext cx="475488" cy="22860"/>
          </a:xfrm>
          <a:prstGeom prst="rect">
            <a:avLst/>
          </a:prstGeom>
          <a:solidFill>
            <a:srgbClr val="D71920"/>
          </a:solidFill>
          <a:ln w="12700">
            <a:solidFill>
              <a:srgbClr val="D71920">
                <a:alpha val="0"/>
              </a:srgbClr>
            </a:solidFill>
            <a:prstDash val="solid"/>
          </a:ln>
        </p:spPr>
        <p:txBody>
          <a:bodyPr/>
          <a:lstStyle/>
          <a:p>
            <a:endParaRPr lang="nl-NL"/>
          </a:p>
        </p:txBody>
      </p:sp>
      <p:sp>
        <p:nvSpPr>
          <p:cNvPr id="5" name="Text 3"/>
          <p:cNvSpPr/>
          <p:nvPr/>
        </p:nvSpPr>
        <p:spPr>
          <a:xfrm>
            <a:off x="484632" y="658368"/>
            <a:ext cx="11064240" cy="219456"/>
          </a:xfrm>
          <a:prstGeom prst="rect">
            <a:avLst/>
          </a:prstGeom>
          <a:noFill/>
          <a:ln/>
        </p:spPr>
        <p:txBody>
          <a:bodyPr wrap="square" lIns="0" tIns="0" rIns="0" bIns="0" rtlCol="0" anchor="t">
            <a:normAutofit/>
          </a:bodyPr>
          <a:lstStyle/>
          <a:p>
            <a:pPr marL="0" indent="0" algn="l">
              <a:buNone/>
            </a:pPr>
            <a:r>
              <a:rPr lang="en-US" sz="1000" b="1" dirty="0">
                <a:solidFill>
                  <a:srgbClr val="D71920"/>
                </a:solidFill>
                <a:latin typeface="Arial" pitchFamily="34" charset="0"/>
                <a:ea typeface="Arial" pitchFamily="34" charset="-122"/>
                <a:cs typeface="Arial" pitchFamily="34" charset="-120"/>
              </a:rPr>
              <a:t>THE WHOLE UNIVERSE</a:t>
            </a:r>
            <a:endParaRPr lang="en-US" sz="1000" dirty="0"/>
          </a:p>
        </p:txBody>
      </p:sp>
      <p:sp>
        <p:nvSpPr>
          <p:cNvPr id="6" name="Shape 4"/>
          <p:cNvSpPr/>
          <p:nvPr/>
        </p:nvSpPr>
        <p:spPr>
          <a:xfrm>
            <a:off x="484632" y="6446520"/>
            <a:ext cx="11219688" cy="914"/>
          </a:xfrm>
          <a:prstGeom prst="line">
            <a:avLst/>
          </a:prstGeom>
          <a:noFill/>
          <a:ln w="6350">
            <a:solidFill>
              <a:srgbClr val="647078"/>
            </a:solidFill>
            <a:prstDash val="solid"/>
          </a:ln>
        </p:spPr>
        <p:txBody>
          <a:bodyPr/>
          <a:lstStyle/>
          <a:p>
            <a:endParaRPr lang="nl-NL"/>
          </a:p>
        </p:txBody>
      </p:sp>
      <p:sp>
        <p:nvSpPr>
          <p:cNvPr id="7" name="Text 5"/>
          <p:cNvSpPr/>
          <p:nvPr/>
        </p:nvSpPr>
        <p:spPr>
          <a:xfrm>
            <a:off x="484632" y="6556248"/>
            <a:ext cx="9144000" cy="146304"/>
          </a:xfrm>
          <a:prstGeom prst="rect">
            <a:avLst/>
          </a:prstGeom>
          <a:noFill/>
          <a:ln/>
        </p:spPr>
        <p:txBody>
          <a:bodyPr wrap="square" lIns="0" tIns="0" rIns="0" bIns="0" rtlCol="0" anchor="t">
            <a:normAutofit/>
          </a:bodyPr>
          <a:lstStyle/>
          <a:p>
            <a:pPr marL="0" indent="0" algn="l">
              <a:buNone/>
            </a:pPr>
            <a:r>
              <a:rPr lang="en-US" sz="750" dirty="0">
                <a:solidFill>
                  <a:srgbClr val="BDC4C9"/>
                </a:solidFill>
                <a:latin typeface="Arial" pitchFamily="34" charset="0"/>
                <a:ea typeface="Arial" pitchFamily="34" charset="-122"/>
                <a:cs typeface="Arial" pitchFamily="34" charset="-120"/>
              </a:rPr>
              <a:t>22 SEPTEMBER 2026  /  CONCEPT AND APPLICATION EXAMPLES</a:t>
            </a:r>
            <a:endParaRPr lang="en-US" sz="750" dirty="0"/>
          </a:p>
        </p:txBody>
      </p:sp>
      <p:sp>
        <p:nvSpPr>
          <p:cNvPr id="8" name="Text 6"/>
          <p:cNvSpPr/>
          <p:nvPr/>
        </p:nvSpPr>
        <p:spPr>
          <a:xfrm>
            <a:off x="10789920" y="6547104"/>
            <a:ext cx="914400" cy="173736"/>
          </a:xfrm>
          <a:prstGeom prst="rect">
            <a:avLst/>
          </a:prstGeom>
          <a:noFill/>
          <a:ln/>
        </p:spPr>
        <p:txBody>
          <a:bodyPr wrap="square" lIns="0" tIns="0" rIns="0" bIns="0" rtlCol="0" anchor="t">
            <a:normAutofit/>
          </a:bodyPr>
          <a:lstStyle/>
          <a:p>
            <a:pPr marL="0" indent="0" algn="r">
              <a:buNone/>
            </a:pPr>
            <a:r>
              <a:rPr lang="en-US" sz="850" dirty="0">
                <a:solidFill>
                  <a:srgbClr val="BDC4C9"/>
                </a:solidFill>
                <a:latin typeface="Arial" pitchFamily="34" charset="0"/>
                <a:ea typeface="Arial" pitchFamily="34" charset="-122"/>
                <a:cs typeface="Arial" pitchFamily="34" charset="-120"/>
              </a:rPr>
              <a:t>03 / 49</a:t>
            </a:r>
            <a:endParaRPr lang="en-US" sz="850" dirty="0"/>
          </a:p>
        </p:txBody>
      </p:sp>
      <p:sp>
        <p:nvSpPr>
          <p:cNvPr id="9" name="Text 7"/>
          <p:cNvSpPr/>
          <p:nvPr/>
        </p:nvSpPr>
        <p:spPr>
          <a:xfrm>
            <a:off x="502920" y="1005840"/>
            <a:ext cx="11036808" cy="841248"/>
          </a:xfrm>
          <a:prstGeom prst="rect">
            <a:avLst/>
          </a:prstGeom>
          <a:noFill/>
          <a:ln/>
        </p:spPr>
        <p:txBody>
          <a:bodyPr wrap="square" lIns="0" tIns="0" rIns="0" bIns="0" rtlCol="0" anchor="t">
            <a:normAutofit/>
          </a:bodyPr>
          <a:lstStyle/>
          <a:p>
            <a:pPr marL="0" indent="0" algn="l">
              <a:buNone/>
            </a:pPr>
            <a:r>
              <a:rPr lang="en-US" sz="3400" b="1" dirty="0">
                <a:solidFill>
                  <a:srgbClr val="F5F6F7"/>
                </a:solidFill>
                <a:latin typeface="Arial" pitchFamily="34" charset="0"/>
                <a:ea typeface="Arial" pitchFamily="34" charset="-122"/>
                <a:cs typeface="Arial" pitchFamily="34" charset="-120"/>
              </a:rPr>
              <a:t>Different knowledge. A stronger combined offer.</a:t>
            </a:r>
            <a:endParaRPr lang="en-US" sz="3400" dirty="0"/>
          </a:p>
        </p:txBody>
      </p:sp>
      <p:sp>
        <p:nvSpPr>
          <p:cNvPr id="10" name="Text 8"/>
          <p:cNvSpPr/>
          <p:nvPr/>
        </p:nvSpPr>
        <p:spPr>
          <a:xfrm>
            <a:off x="530352" y="1865376"/>
            <a:ext cx="10954512" cy="566928"/>
          </a:xfrm>
          <a:prstGeom prst="rect">
            <a:avLst/>
          </a:prstGeom>
          <a:noFill/>
          <a:ln/>
        </p:spPr>
        <p:txBody>
          <a:bodyPr wrap="square" lIns="0" tIns="0" rIns="0" bIns="0" rtlCol="0" anchor="t">
            <a:normAutofit/>
          </a:bodyPr>
          <a:lstStyle/>
          <a:p>
            <a:pPr marL="0" indent="0" algn="l">
              <a:buNone/>
            </a:pPr>
            <a:r>
              <a:rPr lang="en-US" sz="1800" dirty="0">
                <a:solidFill>
                  <a:srgbClr val="BDC4C9"/>
                </a:solidFill>
                <a:latin typeface="Arial" pitchFamily="34" charset="0"/>
                <a:ea typeface="Arial" pitchFamily="34" charset="-122"/>
                <a:cs typeface="Arial" pitchFamily="34" charset="-120"/>
              </a:rPr>
              <a:t>AIM, IDS and PRISM connect to the application the participant chooses.</a:t>
            </a:r>
            <a:endParaRPr lang="en-US" sz="1800" dirty="0"/>
          </a:p>
        </p:txBody>
      </p:sp>
      <p:sp>
        <p:nvSpPr>
          <p:cNvPr id="11" name="Shape 9"/>
          <p:cNvSpPr/>
          <p:nvPr/>
        </p:nvSpPr>
        <p:spPr>
          <a:xfrm>
            <a:off x="2521604" y="2837947"/>
            <a:ext cx="1557982" cy="814400"/>
          </a:xfrm>
          <a:prstGeom prst="roundRect">
            <a:avLst>
              <a:gd name="adj" fmla="val 4491"/>
            </a:avLst>
          </a:prstGeom>
          <a:solidFill>
            <a:srgbClr val="30363B"/>
          </a:solidFill>
          <a:ln w="8890">
            <a:solidFill>
              <a:srgbClr val="48525B"/>
            </a:solidFill>
            <a:prstDash val="solid"/>
          </a:ln>
        </p:spPr>
        <p:txBody>
          <a:bodyPr/>
          <a:lstStyle/>
          <a:p>
            <a:endParaRPr lang="nl-NL"/>
          </a:p>
        </p:txBody>
      </p:sp>
      <p:sp>
        <p:nvSpPr>
          <p:cNvPr id="12" name="Shape 10"/>
          <p:cNvSpPr/>
          <p:nvPr/>
        </p:nvSpPr>
        <p:spPr>
          <a:xfrm>
            <a:off x="2521604" y="2937092"/>
            <a:ext cx="28327" cy="616111"/>
          </a:xfrm>
          <a:prstGeom prst="rect">
            <a:avLst/>
          </a:prstGeom>
          <a:solidFill>
            <a:srgbClr val="82909A"/>
          </a:solidFill>
          <a:ln w="12700">
            <a:solidFill>
              <a:srgbClr val="24282C">
                <a:alpha val="0"/>
              </a:srgbClr>
            </a:solidFill>
            <a:prstDash val="solid"/>
          </a:ln>
        </p:spPr>
        <p:txBody>
          <a:bodyPr/>
          <a:lstStyle/>
          <a:p>
            <a:endParaRPr lang="nl-NL"/>
          </a:p>
        </p:txBody>
      </p:sp>
      <p:sp>
        <p:nvSpPr>
          <p:cNvPr id="13" name="Text 11"/>
          <p:cNvSpPr/>
          <p:nvPr/>
        </p:nvSpPr>
        <p:spPr>
          <a:xfrm>
            <a:off x="2641993" y="2951255"/>
            <a:ext cx="1317203" cy="347005"/>
          </a:xfrm>
          <a:prstGeom prst="rect">
            <a:avLst/>
          </a:prstGeom>
          <a:noFill/>
          <a:ln/>
        </p:spPr>
        <p:txBody>
          <a:bodyPr wrap="square" lIns="0" tIns="0" rIns="0" bIns="0" rtlCol="0" anchor="t">
            <a:normAutofit/>
          </a:bodyPr>
          <a:lstStyle/>
          <a:p>
            <a:pPr marL="0" indent="0" algn="l">
              <a:buNone/>
            </a:pPr>
            <a:r>
              <a:rPr lang="en-US" sz="1227" b="1" dirty="0">
                <a:solidFill>
                  <a:srgbClr val="F5F6F7"/>
                </a:solidFill>
                <a:latin typeface="Arial" pitchFamily="34" charset="0"/>
                <a:ea typeface="Arial" pitchFamily="34" charset="-122"/>
                <a:cs typeface="Arial" pitchFamily="34" charset="-120"/>
              </a:rPr>
              <a:t>Distributor</a:t>
            </a:r>
            <a:endParaRPr lang="en-US" sz="1227" dirty="0"/>
          </a:p>
        </p:txBody>
      </p:sp>
      <p:sp>
        <p:nvSpPr>
          <p:cNvPr id="14" name="Text 12"/>
          <p:cNvSpPr/>
          <p:nvPr/>
        </p:nvSpPr>
        <p:spPr>
          <a:xfrm>
            <a:off x="2641993" y="3255770"/>
            <a:ext cx="1317203" cy="347005"/>
          </a:xfrm>
          <a:prstGeom prst="rect">
            <a:avLst/>
          </a:prstGeom>
          <a:noFill/>
          <a:ln/>
        </p:spPr>
        <p:txBody>
          <a:bodyPr wrap="square" lIns="0" tIns="0" rIns="0" bIns="0" rtlCol="0" anchor="t">
            <a:normAutofit/>
          </a:bodyPr>
          <a:lstStyle/>
          <a:p>
            <a:pPr marL="0" indent="0" algn="l">
              <a:buNone/>
            </a:pPr>
            <a:r>
              <a:rPr lang="en-US" sz="1004" dirty="0">
                <a:solidFill>
                  <a:srgbClr val="BDC4C9"/>
                </a:solidFill>
                <a:latin typeface="Arial" pitchFamily="34" charset="0"/>
                <a:ea typeface="Arial" pitchFamily="34" charset="-122"/>
                <a:cs typeface="Arial" pitchFamily="34" charset="-120"/>
              </a:rPr>
              <a:t>National business and local priorities</a:t>
            </a:r>
            <a:endParaRPr lang="en-US" sz="1004" dirty="0"/>
          </a:p>
        </p:txBody>
      </p:sp>
      <p:sp>
        <p:nvSpPr>
          <p:cNvPr id="15" name="Shape 13"/>
          <p:cNvSpPr/>
          <p:nvPr/>
        </p:nvSpPr>
        <p:spPr>
          <a:xfrm>
            <a:off x="2521604" y="3864799"/>
            <a:ext cx="1557982" cy="814400"/>
          </a:xfrm>
          <a:prstGeom prst="roundRect">
            <a:avLst>
              <a:gd name="adj" fmla="val 4491"/>
            </a:avLst>
          </a:prstGeom>
          <a:solidFill>
            <a:srgbClr val="30363B"/>
          </a:solidFill>
          <a:ln w="8890">
            <a:solidFill>
              <a:srgbClr val="48525B"/>
            </a:solidFill>
            <a:prstDash val="solid"/>
          </a:ln>
        </p:spPr>
        <p:txBody>
          <a:bodyPr/>
          <a:lstStyle/>
          <a:p>
            <a:endParaRPr lang="nl-NL"/>
          </a:p>
        </p:txBody>
      </p:sp>
      <p:sp>
        <p:nvSpPr>
          <p:cNvPr id="16" name="Shape 14"/>
          <p:cNvSpPr/>
          <p:nvPr/>
        </p:nvSpPr>
        <p:spPr>
          <a:xfrm>
            <a:off x="2521604" y="3963943"/>
            <a:ext cx="28327" cy="616111"/>
          </a:xfrm>
          <a:prstGeom prst="rect">
            <a:avLst/>
          </a:prstGeom>
          <a:solidFill>
            <a:srgbClr val="82909A"/>
          </a:solidFill>
          <a:ln w="12700">
            <a:solidFill>
              <a:srgbClr val="24282C">
                <a:alpha val="0"/>
              </a:srgbClr>
            </a:solidFill>
            <a:prstDash val="solid"/>
          </a:ln>
        </p:spPr>
        <p:txBody>
          <a:bodyPr/>
          <a:lstStyle/>
          <a:p>
            <a:endParaRPr lang="nl-NL"/>
          </a:p>
        </p:txBody>
      </p:sp>
      <p:sp>
        <p:nvSpPr>
          <p:cNvPr id="17" name="Text 15"/>
          <p:cNvSpPr/>
          <p:nvPr/>
        </p:nvSpPr>
        <p:spPr>
          <a:xfrm>
            <a:off x="2641993" y="3978107"/>
            <a:ext cx="1317203" cy="347005"/>
          </a:xfrm>
          <a:prstGeom prst="rect">
            <a:avLst/>
          </a:prstGeom>
          <a:noFill/>
          <a:ln/>
        </p:spPr>
        <p:txBody>
          <a:bodyPr wrap="square" lIns="0" tIns="0" rIns="0" bIns="0" rtlCol="0" anchor="t">
            <a:normAutofit/>
          </a:bodyPr>
          <a:lstStyle/>
          <a:p>
            <a:pPr marL="0" indent="0" algn="l">
              <a:buNone/>
            </a:pPr>
            <a:r>
              <a:rPr lang="en-US" sz="1227" b="1" dirty="0">
                <a:solidFill>
                  <a:srgbClr val="F5F6F7"/>
                </a:solidFill>
                <a:latin typeface="Arial" pitchFamily="34" charset="0"/>
                <a:ea typeface="Arial" pitchFamily="34" charset="-122"/>
                <a:cs typeface="Arial" pitchFamily="34" charset="-120"/>
              </a:rPr>
              <a:t>Dealer</a:t>
            </a:r>
            <a:endParaRPr lang="en-US" sz="1227" dirty="0"/>
          </a:p>
        </p:txBody>
      </p:sp>
      <p:sp>
        <p:nvSpPr>
          <p:cNvPr id="18" name="Text 16"/>
          <p:cNvSpPr/>
          <p:nvPr/>
        </p:nvSpPr>
        <p:spPr>
          <a:xfrm>
            <a:off x="2641993" y="4282622"/>
            <a:ext cx="1317203" cy="347005"/>
          </a:xfrm>
          <a:prstGeom prst="rect">
            <a:avLst/>
          </a:prstGeom>
          <a:noFill/>
          <a:ln/>
        </p:spPr>
        <p:txBody>
          <a:bodyPr wrap="square" lIns="0" tIns="0" rIns="0" bIns="0" rtlCol="0" anchor="t">
            <a:normAutofit/>
          </a:bodyPr>
          <a:lstStyle/>
          <a:p>
            <a:pPr marL="0" indent="0" algn="l">
              <a:buNone/>
            </a:pPr>
            <a:r>
              <a:rPr lang="en-US" sz="1004" dirty="0">
                <a:solidFill>
                  <a:srgbClr val="BDC4C9"/>
                </a:solidFill>
                <a:latin typeface="Arial" pitchFamily="34" charset="0"/>
                <a:ea typeface="Arial" pitchFamily="34" charset="-122"/>
                <a:cs typeface="Arial" pitchFamily="34" charset="-120"/>
              </a:rPr>
              <a:t>Own business and development</a:t>
            </a:r>
            <a:endParaRPr lang="en-US" sz="1004" dirty="0"/>
          </a:p>
        </p:txBody>
      </p:sp>
      <p:sp>
        <p:nvSpPr>
          <p:cNvPr id="19" name="Shape 17"/>
          <p:cNvSpPr/>
          <p:nvPr/>
        </p:nvSpPr>
        <p:spPr>
          <a:xfrm>
            <a:off x="2521604" y="4891651"/>
            <a:ext cx="1557982" cy="814400"/>
          </a:xfrm>
          <a:prstGeom prst="roundRect">
            <a:avLst>
              <a:gd name="adj" fmla="val 4491"/>
            </a:avLst>
          </a:prstGeom>
          <a:solidFill>
            <a:srgbClr val="30363B"/>
          </a:solidFill>
          <a:ln w="8890">
            <a:solidFill>
              <a:srgbClr val="48525B"/>
            </a:solidFill>
            <a:prstDash val="solid"/>
          </a:ln>
        </p:spPr>
        <p:txBody>
          <a:bodyPr/>
          <a:lstStyle/>
          <a:p>
            <a:endParaRPr lang="nl-NL"/>
          </a:p>
        </p:txBody>
      </p:sp>
      <p:sp>
        <p:nvSpPr>
          <p:cNvPr id="20" name="Shape 18"/>
          <p:cNvSpPr/>
          <p:nvPr/>
        </p:nvSpPr>
        <p:spPr>
          <a:xfrm>
            <a:off x="2521604" y="4990795"/>
            <a:ext cx="28327" cy="616111"/>
          </a:xfrm>
          <a:prstGeom prst="rect">
            <a:avLst/>
          </a:prstGeom>
          <a:solidFill>
            <a:srgbClr val="82909A"/>
          </a:solidFill>
          <a:ln w="12700">
            <a:solidFill>
              <a:srgbClr val="24282C">
                <a:alpha val="0"/>
              </a:srgbClr>
            </a:solidFill>
            <a:prstDash val="solid"/>
          </a:ln>
        </p:spPr>
        <p:txBody>
          <a:bodyPr/>
          <a:lstStyle/>
          <a:p>
            <a:endParaRPr lang="nl-NL"/>
          </a:p>
        </p:txBody>
      </p:sp>
      <p:sp>
        <p:nvSpPr>
          <p:cNvPr id="21" name="Text 19"/>
          <p:cNvSpPr/>
          <p:nvPr/>
        </p:nvSpPr>
        <p:spPr>
          <a:xfrm>
            <a:off x="2641993" y="5004959"/>
            <a:ext cx="1317203" cy="347005"/>
          </a:xfrm>
          <a:prstGeom prst="rect">
            <a:avLst/>
          </a:prstGeom>
          <a:noFill/>
          <a:ln/>
        </p:spPr>
        <p:txBody>
          <a:bodyPr wrap="square" lIns="0" tIns="0" rIns="0" bIns="0" rtlCol="0" anchor="t">
            <a:normAutofit/>
          </a:bodyPr>
          <a:lstStyle/>
          <a:p>
            <a:pPr marL="0" indent="0" algn="l">
              <a:buNone/>
            </a:pPr>
            <a:r>
              <a:rPr lang="en-US" sz="1227" b="1" dirty="0">
                <a:solidFill>
                  <a:srgbClr val="F5F6F7"/>
                </a:solidFill>
                <a:latin typeface="Arial" pitchFamily="34" charset="0"/>
                <a:ea typeface="Arial" pitchFamily="34" charset="-122"/>
                <a:cs typeface="Arial" pitchFamily="34" charset="-120"/>
              </a:rPr>
              <a:t>Isuzu functions</a:t>
            </a:r>
            <a:endParaRPr lang="en-US" sz="1227" dirty="0"/>
          </a:p>
        </p:txBody>
      </p:sp>
      <p:sp>
        <p:nvSpPr>
          <p:cNvPr id="22" name="Text 20"/>
          <p:cNvSpPr/>
          <p:nvPr/>
        </p:nvSpPr>
        <p:spPr>
          <a:xfrm>
            <a:off x="2641993" y="5309473"/>
            <a:ext cx="1317203" cy="347005"/>
          </a:xfrm>
          <a:prstGeom prst="rect">
            <a:avLst/>
          </a:prstGeom>
          <a:noFill/>
          <a:ln/>
        </p:spPr>
        <p:txBody>
          <a:bodyPr wrap="square" lIns="0" tIns="0" rIns="0" bIns="0" rtlCol="0" anchor="t">
            <a:normAutofit/>
          </a:bodyPr>
          <a:lstStyle/>
          <a:p>
            <a:pPr marL="0" indent="0" algn="l">
              <a:buNone/>
            </a:pPr>
            <a:r>
              <a:rPr lang="en-US" sz="1004" dirty="0">
                <a:solidFill>
                  <a:srgbClr val="BDC4C9"/>
                </a:solidFill>
                <a:latin typeface="Arial" pitchFamily="34" charset="0"/>
                <a:ea typeface="Arial" pitchFamily="34" charset="-122"/>
                <a:cs typeface="Arial" pitchFamily="34" charset="-120"/>
              </a:rPr>
              <a:t>Products, vehicles and decisions</a:t>
            </a:r>
            <a:endParaRPr lang="en-US" sz="1004" dirty="0"/>
          </a:p>
        </p:txBody>
      </p:sp>
      <p:sp>
        <p:nvSpPr>
          <p:cNvPr id="23" name="Shape 21"/>
          <p:cNvSpPr/>
          <p:nvPr/>
        </p:nvSpPr>
        <p:spPr>
          <a:xfrm>
            <a:off x="4929394" y="2837947"/>
            <a:ext cx="1770434" cy="814400"/>
          </a:xfrm>
          <a:prstGeom prst="roundRect">
            <a:avLst>
              <a:gd name="adj" fmla="val 4491"/>
            </a:avLst>
          </a:prstGeom>
          <a:solidFill>
            <a:srgbClr val="383F44"/>
          </a:solidFill>
          <a:ln w="8890">
            <a:solidFill>
              <a:srgbClr val="D71920"/>
            </a:solidFill>
            <a:prstDash val="solid"/>
          </a:ln>
        </p:spPr>
        <p:txBody>
          <a:bodyPr/>
          <a:lstStyle/>
          <a:p>
            <a:endParaRPr lang="nl-NL"/>
          </a:p>
        </p:txBody>
      </p:sp>
      <p:sp>
        <p:nvSpPr>
          <p:cNvPr id="24" name="Shape 22"/>
          <p:cNvSpPr/>
          <p:nvPr/>
        </p:nvSpPr>
        <p:spPr>
          <a:xfrm>
            <a:off x="4929394" y="2937092"/>
            <a:ext cx="28327" cy="616111"/>
          </a:xfrm>
          <a:prstGeom prst="rect">
            <a:avLst/>
          </a:prstGeom>
          <a:solidFill>
            <a:srgbClr val="D71920"/>
          </a:solidFill>
          <a:ln w="12700">
            <a:solidFill>
              <a:srgbClr val="24282C">
                <a:alpha val="0"/>
              </a:srgbClr>
            </a:solidFill>
            <a:prstDash val="solid"/>
          </a:ln>
        </p:spPr>
        <p:txBody>
          <a:bodyPr/>
          <a:lstStyle/>
          <a:p>
            <a:endParaRPr lang="nl-NL"/>
          </a:p>
        </p:txBody>
      </p:sp>
      <p:sp>
        <p:nvSpPr>
          <p:cNvPr id="25" name="Text 23"/>
          <p:cNvSpPr/>
          <p:nvPr/>
        </p:nvSpPr>
        <p:spPr>
          <a:xfrm>
            <a:off x="5049784" y="2951255"/>
            <a:ext cx="1529655" cy="347005"/>
          </a:xfrm>
          <a:prstGeom prst="rect">
            <a:avLst/>
          </a:prstGeom>
          <a:noFill/>
          <a:ln/>
        </p:spPr>
        <p:txBody>
          <a:bodyPr wrap="square" lIns="0" tIns="0" rIns="0" bIns="0" rtlCol="0" anchor="t">
            <a:normAutofit/>
          </a:bodyPr>
          <a:lstStyle/>
          <a:p>
            <a:pPr marL="0" indent="0" algn="l">
              <a:buNone/>
            </a:pPr>
            <a:r>
              <a:rPr lang="en-US" sz="1227" b="1" dirty="0">
                <a:solidFill>
                  <a:srgbClr val="F5F6F7"/>
                </a:solidFill>
                <a:latin typeface="Arial" pitchFamily="34" charset="0"/>
                <a:ea typeface="Arial" pitchFamily="34" charset="-122"/>
                <a:cs typeface="Arial" pitchFamily="34" charset="-120"/>
              </a:rPr>
              <a:t>AIM / ATLAS</a:t>
            </a:r>
            <a:endParaRPr lang="en-US" sz="1227" dirty="0"/>
          </a:p>
        </p:txBody>
      </p:sp>
      <p:sp>
        <p:nvSpPr>
          <p:cNvPr id="26" name="Text 24"/>
          <p:cNvSpPr/>
          <p:nvPr/>
        </p:nvSpPr>
        <p:spPr>
          <a:xfrm>
            <a:off x="5049784" y="3255770"/>
            <a:ext cx="1529655" cy="347005"/>
          </a:xfrm>
          <a:prstGeom prst="rect">
            <a:avLst/>
          </a:prstGeom>
          <a:noFill/>
          <a:ln/>
        </p:spPr>
        <p:txBody>
          <a:bodyPr wrap="square" lIns="0" tIns="0" rIns="0" bIns="0" rtlCol="0" anchor="t">
            <a:normAutofit/>
          </a:bodyPr>
          <a:lstStyle/>
          <a:p>
            <a:pPr marL="0" indent="0" algn="l">
              <a:buNone/>
            </a:pPr>
            <a:r>
              <a:rPr lang="en-US" sz="1004" dirty="0">
                <a:solidFill>
                  <a:srgbClr val="BDC4C9"/>
                </a:solidFill>
                <a:latin typeface="Arial" pitchFamily="34" charset="0"/>
                <a:ea typeface="Arial" pitchFamily="34" charset="-122"/>
                <a:cs typeface="Arial" pitchFamily="34" charset="-120"/>
              </a:rPr>
              <a:t>Product and purchasing detail</a:t>
            </a:r>
            <a:endParaRPr lang="en-US" sz="1004" dirty="0"/>
          </a:p>
        </p:txBody>
      </p:sp>
      <p:sp>
        <p:nvSpPr>
          <p:cNvPr id="27" name="Shape 25"/>
          <p:cNvSpPr/>
          <p:nvPr/>
        </p:nvSpPr>
        <p:spPr>
          <a:xfrm>
            <a:off x="4929394" y="3864799"/>
            <a:ext cx="1770434" cy="814400"/>
          </a:xfrm>
          <a:prstGeom prst="roundRect">
            <a:avLst>
              <a:gd name="adj" fmla="val 4491"/>
            </a:avLst>
          </a:prstGeom>
          <a:solidFill>
            <a:srgbClr val="383F44"/>
          </a:solidFill>
          <a:ln w="8890">
            <a:solidFill>
              <a:srgbClr val="D71920"/>
            </a:solidFill>
            <a:prstDash val="solid"/>
          </a:ln>
        </p:spPr>
        <p:txBody>
          <a:bodyPr/>
          <a:lstStyle/>
          <a:p>
            <a:endParaRPr lang="nl-NL"/>
          </a:p>
        </p:txBody>
      </p:sp>
      <p:sp>
        <p:nvSpPr>
          <p:cNvPr id="28" name="Shape 26"/>
          <p:cNvSpPr/>
          <p:nvPr/>
        </p:nvSpPr>
        <p:spPr>
          <a:xfrm>
            <a:off x="4929394" y="3963943"/>
            <a:ext cx="28327" cy="616111"/>
          </a:xfrm>
          <a:prstGeom prst="rect">
            <a:avLst/>
          </a:prstGeom>
          <a:solidFill>
            <a:srgbClr val="D71920"/>
          </a:solidFill>
          <a:ln w="12700">
            <a:solidFill>
              <a:srgbClr val="24282C">
                <a:alpha val="0"/>
              </a:srgbClr>
            </a:solidFill>
            <a:prstDash val="solid"/>
          </a:ln>
        </p:spPr>
        <p:txBody>
          <a:bodyPr/>
          <a:lstStyle/>
          <a:p>
            <a:endParaRPr lang="nl-NL"/>
          </a:p>
        </p:txBody>
      </p:sp>
      <p:sp>
        <p:nvSpPr>
          <p:cNvPr id="29" name="Text 27"/>
          <p:cNvSpPr/>
          <p:nvPr/>
        </p:nvSpPr>
        <p:spPr>
          <a:xfrm>
            <a:off x="5049784" y="3978107"/>
            <a:ext cx="1529655" cy="347005"/>
          </a:xfrm>
          <a:prstGeom prst="rect">
            <a:avLst/>
          </a:prstGeom>
          <a:noFill/>
          <a:ln/>
        </p:spPr>
        <p:txBody>
          <a:bodyPr wrap="square" lIns="0" tIns="0" rIns="0" bIns="0" rtlCol="0" anchor="t">
            <a:normAutofit/>
          </a:bodyPr>
          <a:lstStyle/>
          <a:p>
            <a:pPr marL="0" indent="0" algn="l">
              <a:buNone/>
            </a:pPr>
            <a:r>
              <a:rPr lang="en-US" sz="1227" b="1" dirty="0">
                <a:solidFill>
                  <a:srgbClr val="F5F6F7"/>
                </a:solidFill>
                <a:latin typeface="Arial" pitchFamily="34" charset="0"/>
                <a:ea typeface="Arial" pitchFamily="34" charset="-122"/>
                <a:cs typeface="Arial" pitchFamily="34" charset="-120"/>
              </a:rPr>
              <a:t>IDS</a:t>
            </a:r>
            <a:endParaRPr lang="en-US" sz="1227" dirty="0"/>
          </a:p>
        </p:txBody>
      </p:sp>
      <p:sp>
        <p:nvSpPr>
          <p:cNvPr id="30" name="Text 28"/>
          <p:cNvSpPr/>
          <p:nvPr/>
        </p:nvSpPr>
        <p:spPr>
          <a:xfrm>
            <a:off x="5049784" y="4282622"/>
            <a:ext cx="1529655" cy="347005"/>
          </a:xfrm>
          <a:prstGeom prst="rect">
            <a:avLst/>
          </a:prstGeom>
          <a:noFill/>
          <a:ln/>
        </p:spPr>
        <p:txBody>
          <a:bodyPr wrap="square" lIns="0" tIns="0" rIns="0" bIns="0" rtlCol="0" anchor="t">
            <a:normAutofit/>
          </a:bodyPr>
          <a:lstStyle/>
          <a:p>
            <a:pPr marL="0" indent="0" algn="l">
              <a:buNone/>
            </a:pPr>
            <a:r>
              <a:rPr lang="en-US" sz="1004" dirty="0">
                <a:solidFill>
                  <a:srgbClr val="BDC4C9"/>
                </a:solidFill>
                <a:latin typeface="Arial" pitchFamily="34" charset="0"/>
                <a:ea typeface="Arial" pitchFamily="34" charset="-122"/>
                <a:cs typeface="Arial" pitchFamily="34" charset="-120"/>
              </a:rPr>
              <a:t>Assessment and development</a:t>
            </a:r>
            <a:endParaRPr lang="en-US" sz="1004" dirty="0"/>
          </a:p>
        </p:txBody>
      </p:sp>
      <p:sp>
        <p:nvSpPr>
          <p:cNvPr id="31" name="Shape 29"/>
          <p:cNvSpPr/>
          <p:nvPr/>
        </p:nvSpPr>
        <p:spPr>
          <a:xfrm>
            <a:off x="4929394" y="4891651"/>
            <a:ext cx="1770434" cy="814400"/>
          </a:xfrm>
          <a:prstGeom prst="roundRect">
            <a:avLst>
              <a:gd name="adj" fmla="val 4491"/>
            </a:avLst>
          </a:prstGeom>
          <a:solidFill>
            <a:srgbClr val="383F44"/>
          </a:solidFill>
          <a:ln w="8890">
            <a:solidFill>
              <a:srgbClr val="D71920"/>
            </a:solidFill>
            <a:prstDash val="solid"/>
          </a:ln>
        </p:spPr>
        <p:txBody>
          <a:bodyPr/>
          <a:lstStyle/>
          <a:p>
            <a:endParaRPr lang="nl-NL"/>
          </a:p>
        </p:txBody>
      </p:sp>
      <p:sp>
        <p:nvSpPr>
          <p:cNvPr id="32" name="Shape 30"/>
          <p:cNvSpPr/>
          <p:nvPr/>
        </p:nvSpPr>
        <p:spPr>
          <a:xfrm>
            <a:off x="4929394" y="4990795"/>
            <a:ext cx="28327" cy="616111"/>
          </a:xfrm>
          <a:prstGeom prst="rect">
            <a:avLst/>
          </a:prstGeom>
          <a:solidFill>
            <a:srgbClr val="D71920"/>
          </a:solidFill>
          <a:ln w="12700">
            <a:solidFill>
              <a:srgbClr val="24282C">
                <a:alpha val="0"/>
              </a:srgbClr>
            </a:solidFill>
            <a:prstDash val="solid"/>
          </a:ln>
        </p:spPr>
        <p:txBody>
          <a:bodyPr/>
          <a:lstStyle/>
          <a:p>
            <a:endParaRPr lang="nl-NL"/>
          </a:p>
        </p:txBody>
      </p:sp>
      <p:sp>
        <p:nvSpPr>
          <p:cNvPr id="33" name="Text 31"/>
          <p:cNvSpPr/>
          <p:nvPr/>
        </p:nvSpPr>
        <p:spPr>
          <a:xfrm>
            <a:off x="5049784" y="5004959"/>
            <a:ext cx="1529655" cy="347005"/>
          </a:xfrm>
          <a:prstGeom prst="rect">
            <a:avLst/>
          </a:prstGeom>
          <a:noFill/>
          <a:ln/>
        </p:spPr>
        <p:txBody>
          <a:bodyPr wrap="square" lIns="0" tIns="0" rIns="0" bIns="0" rtlCol="0" anchor="t">
            <a:normAutofit/>
          </a:bodyPr>
          <a:lstStyle/>
          <a:p>
            <a:pPr marL="0" indent="0" algn="l">
              <a:buNone/>
            </a:pPr>
            <a:r>
              <a:rPr lang="en-US" sz="1227" b="1" dirty="0">
                <a:solidFill>
                  <a:srgbClr val="F5F6F7"/>
                </a:solidFill>
                <a:latin typeface="Arial" pitchFamily="34" charset="0"/>
                <a:ea typeface="Arial" pitchFamily="34" charset="-122"/>
                <a:cs typeface="Arial" pitchFamily="34" charset="-120"/>
              </a:rPr>
              <a:t>PRISM</a:t>
            </a:r>
            <a:endParaRPr lang="en-US" sz="1227" dirty="0"/>
          </a:p>
        </p:txBody>
      </p:sp>
      <p:sp>
        <p:nvSpPr>
          <p:cNvPr id="34" name="Text 32"/>
          <p:cNvSpPr/>
          <p:nvPr/>
        </p:nvSpPr>
        <p:spPr>
          <a:xfrm>
            <a:off x="5049784" y="5309473"/>
            <a:ext cx="1529655" cy="347005"/>
          </a:xfrm>
          <a:prstGeom prst="rect">
            <a:avLst/>
          </a:prstGeom>
          <a:noFill/>
          <a:ln/>
        </p:spPr>
        <p:txBody>
          <a:bodyPr wrap="square" lIns="0" tIns="0" rIns="0" bIns="0" rtlCol="0" anchor="t">
            <a:normAutofit/>
          </a:bodyPr>
          <a:lstStyle/>
          <a:p>
            <a:pPr marL="0" indent="0" algn="l">
              <a:buNone/>
            </a:pPr>
            <a:r>
              <a:rPr lang="en-US" sz="1004" dirty="0">
                <a:solidFill>
                  <a:srgbClr val="BDC4C9"/>
                </a:solidFill>
                <a:latin typeface="Arial" pitchFamily="34" charset="0"/>
                <a:ea typeface="Arial" pitchFamily="34" charset="-122"/>
                <a:cs typeface="Arial" pitchFamily="34" charset="-120"/>
              </a:rPr>
              <a:t>Market and fleet context</a:t>
            </a:r>
            <a:endParaRPr lang="en-US" sz="1004" dirty="0"/>
          </a:p>
        </p:txBody>
      </p:sp>
      <p:sp>
        <p:nvSpPr>
          <p:cNvPr id="35" name="Shape 33"/>
          <p:cNvSpPr/>
          <p:nvPr/>
        </p:nvSpPr>
        <p:spPr>
          <a:xfrm>
            <a:off x="7691271" y="2837947"/>
            <a:ext cx="1912069" cy="814400"/>
          </a:xfrm>
          <a:prstGeom prst="roundRect">
            <a:avLst>
              <a:gd name="adj" fmla="val 4491"/>
            </a:avLst>
          </a:prstGeom>
          <a:solidFill>
            <a:srgbClr val="30363B"/>
          </a:solidFill>
          <a:ln w="8890">
            <a:solidFill>
              <a:srgbClr val="48525B"/>
            </a:solidFill>
            <a:prstDash val="solid"/>
          </a:ln>
        </p:spPr>
        <p:txBody>
          <a:bodyPr/>
          <a:lstStyle/>
          <a:p>
            <a:endParaRPr lang="nl-NL"/>
          </a:p>
        </p:txBody>
      </p:sp>
      <p:sp>
        <p:nvSpPr>
          <p:cNvPr id="36" name="Shape 34"/>
          <p:cNvSpPr/>
          <p:nvPr/>
        </p:nvSpPr>
        <p:spPr>
          <a:xfrm>
            <a:off x="7691271" y="2937092"/>
            <a:ext cx="28327" cy="616111"/>
          </a:xfrm>
          <a:prstGeom prst="rect">
            <a:avLst/>
          </a:prstGeom>
          <a:solidFill>
            <a:srgbClr val="82909A"/>
          </a:solidFill>
          <a:ln w="12700">
            <a:solidFill>
              <a:srgbClr val="24282C">
                <a:alpha val="0"/>
              </a:srgbClr>
            </a:solidFill>
            <a:prstDash val="solid"/>
          </a:ln>
        </p:spPr>
        <p:txBody>
          <a:bodyPr/>
          <a:lstStyle/>
          <a:p>
            <a:endParaRPr lang="nl-NL"/>
          </a:p>
        </p:txBody>
      </p:sp>
      <p:sp>
        <p:nvSpPr>
          <p:cNvPr id="37" name="Text 35"/>
          <p:cNvSpPr/>
          <p:nvPr/>
        </p:nvSpPr>
        <p:spPr>
          <a:xfrm>
            <a:off x="7811661" y="2951255"/>
            <a:ext cx="1671290" cy="347005"/>
          </a:xfrm>
          <a:prstGeom prst="rect">
            <a:avLst/>
          </a:prstGeom>
          <a:noFill/>
          <a:ln/>
        </p:spPr>
        <p:txBody>
          <a:bodyPr wrap="square" lIns="0" tIns="0" rIns="0" bIns="0" rtlCol="0" anchor="t">
            <a:normAutofit/>
          </a:bodyPr>
          <a:lstStyle/>
          <a:p>
            <a:pPr marL="0" indent="0" algn="l">
              <a:buNone/>
            </a:pPr>
            <a:r>
              <a:rPr lang="en-US" sz="1227" b="1" dirty="0">
                <a:solidFill>
                  <a:srgbClr val="F5F6F7"/>
                </a:solidFill>
                <a:latin typeface="Arial" pitchFamily="34" charset="0"/>
                <a:ea typeface="Arial" pitchFamily="34" charset="-122"/>
                <a:cs typeface="Arial" pitchFamily="34" charset="-120"/>
              </a:rPr>
              <a:t>Tenders</a:t>
            </a:r>
            <a:endParaRPr lang="en-US" sz="1227" dirty="0"/>
          </a:p>
        </p:txBody>
      </p:sp>
      <p:sp>
        <p:nvSpPr>
          <p:cNvPr id="38" name="Text 36"/>
          <p:cNvSpPr/>
          <p:nvPr/>
        </p:nvSpPr>
        <p:spPr>
          <a:xfrm>
            <a:off x="7811661" y="3255770"/>
            <a:ext cx="1671290" cy="347005"/>
          </a:xfrm>
          <a:prstGeom prst="rect">
            <a:avLst/>
          </a:prstGeom>
          <a:noFill/>
          <a:ln/>
        </p:spPr>
        <p:txBody>
          <a:bodyPr wrap="square" lIns="0" tIns="0" rIns="0" bIns="0" rtlCol="0" anchor="t">
            <a:normAutofit/>
          </a:bodyPr>
          <a:lstStyle/>
          <a:p>
            <a:pPr marL="0" indent="0" algn="l">
              <a:buNone/>
            </a:pPr>
            <a:r>
              <a:rPr lang="en-US" sz="1004" dirty="0">
                <a:solidFill>
                  <a:srgbClr val="BDC4C9"/>
                </a:solidFill>
                <a:latin typeface="Arial" pitchFamily="34" charset="0"/>
                <a:ea typeface="Arial" pitchFamily="34" charset="-122"/>
                <a:cs typeface="Arial" pitchFamily="34" charset="-120"/>
              </a:rPr>
              <a:t>A joint headquarters proposition</a:t>
            </a:r>
            <a:endParaRPr lang="en-US" sz="1004" dirty="0"/>
          </a:p>
        </p:txBody>
      </p:sp>
      <p:sp>
        <p:nvSpPr>
          <p:cNvPr id="39" name="Shape 37"/>
          <p:cNvSpPr/>
          <p:nvPr/>
        </p:nvSpPr>
        <p:spPr>
          <a:xfrm>
            <a:off x="7691271" y="3864799"/>
            <a:ext cx="1912069" cy="814400"/>
          </a:xfrm>
          <a:prstGeom prst="roundRect">
            <a:avLst>
              <a:gd name="adj" fmla="val 4491"/>
            </a:avLst>
          </a:prstGeom>
          <a:solidFill>
            <a:srgbClr val="30363B"/>
          </a:solidFill>
          <a:ln w="8890">
            <a:solidFill>
              <a:srgbClr val="48525B"/>
            </a:solidFill>
            <a:prstDash val="solid"/>
          </a:ln>
        </p:spPr>
        <p:txBody>
          <a:bodyPr/>
          <a:lstStyle/>
          <a:p>
            <a:endParaRPr lang="nl-NL"/>
          </a:p>
        </p:txBody>
      </p:sp>
      <p:sp>
        <p:nvSpPr>
          <p:cNvPr id="40" name="Shape 38"/>
          <p:cNvSpPr/>
          <p:nvPr/>
        </p:nvSpPr>
        <p:spPr>
          <a:xfrm>
            <a:off x="7691271" y="3963943"/>
            <a:ext cx="28327" cy="616111"/>
          </a:xfrm>
          <a:prstGeom prst="rect">
            <a:avLst/>
          </a:prstGeom>
          <a:solidFill>
            <a:srgbClr val="82909A"/>
          </a:solidFill>
          <a:ln w="12700">
            <a:solidFill>
              <a:srgbClr val="24282C">
                <a:alpha val="0"/>
              </a:srgbClr>
            </a:solidFill>
            <a:prstDash val="solid"/>
          </a:ln>
        </p:spPr>
        <p:txBody>
          <a:bodyPr/>
          <a:lstStyle/>
          <a:p>
            <a:endParaRPr lang="nl-NL"/>
          </a:p>
        </p:txBody>
      </p:sp>
      <p:sp>
        <p:nvSpPr>
          <p:cNvPr id="41" name="Text 39"/>
          <p:cNvSpPr/>
          <p:nvPr/>
        </p:nvSpPr>
        <p:spPr>
          <a:xfrm>
            <a:off x="7811661" y="3978107"/>
            <a:ext cx="1671290" cy="347005"/>
          </a:xfrm>
          <a:prstGeom prst="rect">
            <a:avLst/>
          </a:prstGeom>
          <a:noFill/>
          <a:ln/>
        </p:spPr>
        <p:txBody>
          <a:bodyPr wrap="square" lIns="0" tIns="0" rIns="0" bIns="0" rtlCol="0" anchor="t">
            <a:normAutofit/>
          </a:bodyPr>
          <a:lstStyle/>
          <a:p>
            <a:pPr marL="0" indent="0" algn="l">
              <a:buNone/>
            </a:pPr>
            <a:r>
              <a:rPr lang="en-US" sz="1227" b="1" dirty="0">
                <a:solidFill>
                  <a:srgbClr val="F5F6F7"/>
                </a:solidFill>
                <a:latin typeface="Arial" pitchFamily="34" charset="0"/>
                <a:ea typeface="Arial" pitchFamily="34" charset="-122"/>
                <a:cs typeface="Arial" pitchFamily="34" charset="-120"/>
              </a:rPr>
              <a:t>IDS progress</a:t>
            </a:r>
            <a:endParaRPr lang="en-US" sz="1227" dirty="0"/>
          </a:p>
        </p:txBody>
      </p:sp>
      <p:sp>
        <p:nvSpPr>
          <p:cNvPr id="42" name="Text 40"/>
          <p:cNvSpPr/>
          <p:nvPr/>
        </p:nvSpPr>
        <p:spPr>
          <a:xfrm>
            <a:off x="7811661" y="4282622"/>
            <a:ext cx="1671290" cy="347005"/>
          </a:xfrm>
          <a:prstGeom prst="rect">
            <a:avLst/>
          </a:prstGeom>
          <a:noFill/>
          <a:ln/>
        </p:spPr>
        <p:txBody>
          <a:bodyPr wrap="square" lIns="0" tIns="0" rIns="0" bIns="0" rtlCol="0" anchor="t">
            <a:normAutofit/>
          </a:bodyPr>
          <a:lstStyle/>
          <a:p>
            <a:pPr marL="0" indent="0" algn="l">
              <a:buNone/>
            </a:pPr>
            <a:r>
              <a:rPr lang="en-US" sz="1004" dirty="0">
                <a:solidFill>
                  <a:srgbClr val="BDC4C9"/>
                </a:solidFill>
                <a:latin typeface="Arial" pitchFamily="34" charset="0"/>
                <a:ea typeface="Arial" pitchFamily="34" charset="-122"/>
                <a:cs typeface="Arial" pitchFamily="34" charset="-120"/>
              </a:rPr>
              <a:t>Visible improvement over time</a:t>
            </a:r>
            <a:endParaRPr lang="en-US" sz="1004" dirty="0"/>
          </a:p>
        </p:txBody>
      </p:sp>
      <p:sp>
        <p:nvSpPr>
          <p:cNvPr id="43" name="Shape 41"/>
          <p:cNvSpPr/>
          <p:nvPr/>
        </p:nvSpPr>
        <p:spPr>
          <a:xfrm>
            <a:off x="7691271" y="4891651"/>
            <a:ext cx="1912069" cy="814400"/>
          </a:xfrm>
          <a:prstGeom prst="roundRect">
            <a:avLst>
              <a:gd name="adj" fmla="val 4491"/>
            </a:avLst>
          </a:prstGeom>
          <a:solidFill>
            <a:srgbClr val="30363B"/>
          </a:solidFill>
          <a:ln w="8890">
            <a:solidFill>
              <a:srgbClr val="48525B"/>
            </a:solidFill>
            <a:prstDash val="solid"/>
          </a:ln>
        </p:spPr>
        <p:txBody>
          <a:bodyPr/>
          <a:lstStyle/>
          <a:p>
            <a:endParaRPr lang="nl-NL"/>
          </a:p>
        </p:txBody>
      </p:sp>
      <p:sp>
        <p:nvSpPr>
          <p:cNvPr id="44" name="Shape 42"/>
          <p:cNvSpPr/>
          <p:nvPr/>
        </p:nvSpPr>
        <p:spPr>
          <a:xfrm>
            <a:off x="7691271" y="4990795"/>
            <a:ext cx="28327" cy="616111"/>
          </a:xfrm>
          <a:prstGeom prst="rect">
            <a:avLst/>
          </a:prstGeom>
          <a:solidFill>
            <a:srgbClr val="82909A"/>
          </a:solidFill>
          <a:ln w="12700">
            <a:solidFill>
              <a:srgbClr val="24282C">
                <a:alpha val="0"/>
              </a:srgbClr>
            </a:solidFill>
            <a:prstDash val="solid"/>
          </a:ln>
        </p:spPr>
        <p:txBody>
          <a:bodyPr/>
          <a:lstStyle/>
          <a:p>
            <a:endParaRPr lang="nl-NL"/>
          </a:p>
        </p:txBody>
      </p:sp>
      <p:sp>
        <p:nvSpPr>
          <p:cNvPr id="45" name="Text 43"/>
          <p:cNvSpPr/>
          <p:nvPr/>
        </p:nvSpPr>
        <p:spPr>
          <a:xfrm>
            <a:off x="7811661" y="5004959"/>
            <a:ext cx="1671290" cy="347005"/>
          </a:xfrm>
          <a:prstGeom prst="rect">
            <a:avLst/>
          </a:prstGeom>
          <a:noFill/>
          <a:ln/>
        </p:spPr>
        <p:txBody>
          <a:bodyPr wrap="square" lIns="0" tIns="0" rIns="0" bIns="0" rtlCol="0" anchor="t">
            <a:normAutofit/>
          </a:bodyPr>
          <a:lstStyle/>
          <a:p>
            <a:pPr marL="0" indent="0" algn="l">
              <a:buNone/>
            </a:pPr>
            <a:r>
              <a:rPr lang="en-US" sz="1227" b="1" dirty="0">
                <a:solidFill>
                  <a:srgbClr val="F5F6F7"/>
                </a:solidFill>
                <a:latin typeface="Arial" pitchFamily="34" charset="0"/>
                <a:ea typeface="Arial" pitchFamily="34" charset="-122"/>
                <a:cs typeface="Arial" pitchFamily="34" charset="-120"/>
              </a:rPr>
              <a:t>Deal of the Day</a:t>
            </a:r>
            <a:endParaRPr lang="en-US" sz="1227" dirty="0"/>
          </a:p>
        </p:txBody>
      </p:sp>
      <p:sp>
        <p:nvSpPr>
          <p:cNvPr id="46" name="Text 44"/>
          <p:cNvSpPr/>
          <p:nvPr/>
        </p:nvSpPr>
        <p:spPr>
          <a:xfrm>
            <a:off x="7811661" y="5309473"/>
            <a:ext cx="1671290" cy="347005"/>
          </a:xfrm>
          <a:prstGeom prst="rect">
            <a:avLst/>
          </a:prstGeom>
          <a:noFill/>
          <a:ln/>
        </p:spPr>
        <p:txBody>
          <a:bodyPr wrap="square" lIns="0" tIns="0" rIns="0" bIns="0" rtlCol="0" anchor="t">
            <a:normAutofit/>
          </a:bodyPr>
          <a:lstStyle/>
          <a:p>
            <a:pPr marL="0" indent="0" algn="l">
              <a:buNone/>
            </a:pPr>
            <a:r>
              <a:rPr lang="en-US" sz="1004" dirty="0">
                <a:solidFill>
                  <a:srgbClr val="BDC4C9"/>
                </a:solidFill>
                <a:latin typeface="Arial" pitchFamily="34" charset="0"/>
                <a:ea typeface="Arial" pitchFamily="34" charset="-122"/>
                <a:cs typeface="Arial" pitchFamily="34" charset="-120"/>
              </a:rPr>
              <a:t>Data-informed commercial offers</a:t>
            </a:r>
            <a:endParaRPr lang="en-US" sz="1004" dirty="0"/>
          </a:p>
        </p:txBody>
      </p:sp>
      <p:sp>
        <p:nvSpPr>
          <p:cNvPr id="47" name="Shape 45"/>
          <p:cNvSpPr/>
          <p:nvPr/>
        </p:nvSpPr>
        <p:spPr>
          <a:xfrm>
            <a:off x="4136240" y="3241606"/>
            <a:ext cx="722337" cy="914"/>
          </a:xfrm>
          <a:prstGeom prst="line">
            <a:avLst/>
          </a:prstGeom>
          <a:noFill/>
          <a:ln w="14163">
            <a:solidFill>
              <a:srgbClr val="D71920"/>
            </a:solidFill>
            <a:prstDash val="solid"/>
            <a:tailEnd type="triangle"/>
          </a:ln>
        </p:spPr>
        <p:txBody>
          <a:bodyPr/>
          <a:lstStyle/>
          <a:p>
            <a:endParaRPr lang="nl-NL"/>
          </a:p>
        </p:txBody>
      </p:sp>
      <p:sp>
        <p:nvSpPr>
          <p:cNvPr id="48" name="Shape 46"/>
          <p:cNvSpPr/>
          <p:nvPr/>
        </p:nvSpPr>
        <p:spPr>
          <a:xfrm>
            <a:off x="6756482" y="3241606"/>
            <a:ext cx="863972" cy="914"/>
          </a:xfrm>
          <a:prstGeom prst="line">
            <a:avLst/>
          </a:prstGeom>
          <a:noFill/>
          <a:ln w="14163">
            <a:solidFill>
              <a:srgbClr val="D71920"/>
            </a:solidFill>
            <a:prstDash val="solid"/>
            <a:tailEnd type="triangle"/>
          </a:ln>
        </p:spPr>
        <p:txBody>
          <a:bodyPr/>
          <a:lstStyle/>
          <a:p>
            <a:endParaRPr lang="nl-NL"/>
          </a:p>
        </p:txBody>
      </p:sp>
      <p:sp>
        <p:nvSpPr>
          <p:cNvPr id="49" name="Shape 47"/>
          <p:cNvSpPr/>
          <p:nvPr/>
        </p:nvSpPr>
        <p:spPr>
          <a:xfrm>
            <a:off x="4136240" y="4268458"/>
            <a:ext cx="722337" cy="914"/>
          </a:xfrm>
          <a:prstGeom prst="line">
            <a:avLst/>
          </a:prstGeom>
          <a:noFill/>
          <a:ln w="14163">
            <a:solidFill>
              <a:srgbClr val="D71920"/>
            </a:solidFill>
            <a:prstDash val="solid"/>
            <a:tailEnd type="triangle"/>
          </a:ln>
        </p:spPr>
        <p:txBody>
          <a:bodyPr/>
          <a:lstStyle/>
          <a:p>
            <a:endParaRPr lang="nl-NL"/>
          </a:p>
        </p:txBody>
      </p:sp>
      <p:sp>
        <p:nvSpPr>
          <p:cNvPr id="50" name="Shape 48"/>
          <p:cNvSpPr/>
          <p:nvPr/>
        </p:nvSpPr>
        <p:spPr>
          <a:xfrm>
            <a:off x="6756482" y="4268458"/>
            <a:ext cx="863972" cy="914"/>
          </a:xfrm>
          <a:prstGeom prst="line">
            <a:avLst/>
          </a:prstGeom>
          <a:noFill/>
          <a:ln w="14163">
            <a:solidFill>
              <a:srgbClr val="D71920"/>
            </a:solidFill>
            <a:prstDash val="solid"/>
            <a:tailEnd type="triangle"/>
          </a:ln>
        </p:spPr>
        <p:txBody>
          <a:bodyPr/>
          <a:lstStyle/>
          <a:p>
            <a:endParaRPr lang="nl-NL"/>
          </a:p>
        </p:txBody>
      </p:sp>
      <p:sp>
        <p:nvSpPr>
          <p:cNvPr id="51" name="Shape 49"/>
          <p:cNvSpPr/>
          <p:nvPr/>
        </p:nvSpPr>
        <p:spPr>
          <a:xfrm>
            <a:off x="4136240" y="5295310"/>
            <a:ext cx="722337" cy="914"/>
          </a:xfrm>
          <a:prstGeom prst="line">
            <a:avLst/>
          </a:prstGeom>
          <a:noFill/>
          <a:ln w="14163">
            <a:solidFill>
              <a:srgbClr val="D71920"/>
            </a:solidFill>
            <a:prstDash val="solid"/>
            <a:tailEnd type="triangle"/>
          </a:ln>
        </p:spPr>
        <p:txBody>
          <a:bodyPr/>
          <a:lstStyle/>
          <a:p>
            <a:endParaRPr lang="nl-NL"/>
          </a:p>
        </p:txBody>
      </p:sp>
      <p:sp>
        <p:nvSpPr>
          <p:cNvPr id="52" name="Shape 50"/>
          <p:cNvSpPr/>
          <p:nvPr/>
        </p:nvSpPr>
        <p:spPr>
          <a:xfrm>
            <a:off x="6756482" y="5295310"/>
            <a:ext cx="863972" cy="914"/>
          </a:xfrm>
          <a:prstGeom prst="line">
            <a:avLst/>
          </a:prstGeom>
          <a:noFill/>
          <a:ln w="14163">
            <a:solidFill>
              <a:srgbClr val="D71920"/>
            </a:solidFill>
            <a:prstDash val="solid"/>
            <a:tailEnd type="triangle"/>
          </a:ln>
        </p:spPr>
        <p:txBody>
          <a:bodyPr/>
          <a:lstStyle/>
          <a:p>
            <a:endParaRPr lang="nl-NL"/>
          </a:p>
        </p:txBody>
      </p:sp>
      <p:sp>
        <p:nvSpPr>
          <p:cNvPr id="53" name="Shape 51"/>
          <p:cNvSpPr/>
          <p:nvPr/>
        </p:nvSpPr>
        <p:spPr>
          <a:xfrm flipH="1">
            <a:off x="3336004" y="5769786"/>
            <a:ext cx="5240485" cy="914"/>
          </a:xfrm>
          <a:prstGeom prst="line">
            <a:avLst/>
          </a:prstGeom>
          <a:noFill/>
          <a:ln w="14163">
            <a:solidFill>
              <a:srgbClr val="8B969E"/>
            </a:solidFill>
            <a:prstDash val="dash"/>
            <a:tailEnd type="triangle"/>
          </a:ln>
        </p:spPr>
        <p:txBody>
          <a:bodyPr/>
          <a:lstStyle/>
          <a:p>
            <a:endParaRPr lang="nl-NL"/>
          </a:p>
        </p:txBody>
      </p:sp>
      <p:sp>
        <p:nvSpPr>
          <p:cNvPr id="54" name="Text 52"/>
          <p:cNvSpPr/>
          <p:nvPr/>
        </p:nvSpPr>
        <p:spPr>
          <a:xfrm>
            <a:off x="4433673" y="5798113"/>
            <a:ext cx="4815581" cy="424904"/>
          </a:xfrm>
          <a:prstGeom prst="rect">
            <a:avLst/>
          </a:prstGeom>
          <a:noFill/>
          <a:ln/>
        </p:spPr>
        <p:txBody>
          <a:bodyPr wrap="square" lIns="0" tIns="0" rIns="0" bIns="0" rtlCol="0" anchor="t">
            <a:normAutofit/>
          </a:bodyPr>
          <a:lstStyle/>
          <a:p>
            <a:pPr marL="0" indent="0" algn="l">
              <a:buNone/>
            </a:pPr>
            <a:r>
              <a:rPr lang="en-US" sz="948" dirty="0">
                <a:solidFill>
                  <a:srgbClr val="BDC4C9"/>
                </a:solidFill>
                <a:latin typeface="Arial" pitchFamily="34" charset="0"/>
                <a:ea typeface="Arial" pitchFamily="34" charset="-122"/>
                <a:cs typeface="Arial" pitchFamily="34" charset="-120"/>
              </a:rPr>
              <a:t>Useful results and reviewed learning improve the next interaction</a:t>
            </a:r>
            <a:endParaRPr lang="en-US" sz="948" dirty="0"/>
          </a:p>
        </p:txBody>
      </p:sp>
      <p:sp>
        <p:nvSpPr>
          <p:cNvPr id="55" name="Text 53"/>
          <p:cNvSpPr/>
          <p:nvPr/>
        </p:nvSpPr>
        <p:spPr>
          <a:xfrm>
            <a:off x="548640" y="6035040"/>
            <a:ext cx="10954512" cy="219456"/>
          </a:xfrm>
          <a:prstGeom prst="rect">
            <a:avLst/>
          </a:prstGeom>
          <a:noFill/>
          <a:ln/>
        </p:spPr>
        <p:txBody>
          <a:bodyPr wrap="square" lIns="0" tIns="0" rIns="0" bIns="0" rtlCol="0" anchor="t">
            <a:normAutofit/>
          </a:bodyPr>
          <a:lstStyle/>
          <a:p>
            <a:pPr marL="0" indent="0" algn="l">
              <a:buNone/>
            </a:pPr>
            <a:r>
              <a:rPr lang="en-US" sz="840" dirty="0">
                <a:solidFill>
                  <a:srgbClr val="BDC4C9"/>
                </a:solidFill>
                <a:latin typeface="Arial" pitchFamily="34" charset="0"/>
                <a:ea typeface="Arial" pitchFamily="34" charset="-122"/>
                <a:cs typeface="Arial" pitchFamily="34" charset="-120"/>
              </a:rPr>
              <a:t>Proposed design / relationships, not measured effects.</a:t>
            </a:r>
            <a:endParaRPr lang="en-US" sz="8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4282C"/>
        </a:solidFill>
        <a:effectLst/>
      </p:bgPr>
    </p:bg>
    <p:spTree>
      <p:nvGrpSpPr>
        <p:cNvPr id="1" name=""/>
        <p:cNvGrpSpPr/>
        <p:nvPr/>
      </p:nvGrpSpPr>
      <p:grpSpPr>
        <a:xfrm>
          <a:off x="0" y="0"/>
          <a:ext cx="0" cy="0"/>
          <a:chOff x="0" y="0"/>
          <a:chExt cx="0" cy="0"/>
        </a:xfrm>
      </p:grpSpPr>
      <p:sp>
        <p:nvSpPr>
          <p:cNvPr id="2" name="Text 0"/>
          <p:cNvSpPr/>
          <p:nvPr/>
        </p:nvSpPr>
        <p:spPr>
          <a:xfrm>
            <a:off x="484632" y="173736"/>
            <a:ext cx="2743200" cy="201168"/>
          </a:xfrm>
          <a:prstGeom prst="rect">
            <a:avLst/>
          </a:prstGeom>
          <a:noFill/>
          <a:ln/>
        </p:spPr>
        <p:txBody>
          <a:bodyPr wrap="square" lIns="0" tIns="0" rIns="0" bIns="0" rtlCol="0" anchor="t">
            <a:normAutofit/>
          </a:bodyPr>
          <a:lstStyle/>
          <a:p>
            <a:pPr marL="0" indent="0" algn="l">
              <a:buNone/>
            </a:pPr>
            <a:r>
              <a:rPr lang="en-US" sz="1000" b="1" dirty="0">
                <a:solidFill>
                  <a:srgbClr val="F5F6F7"/>
                </a:solidFill>
                <a:latin typeface="Arial" pitchFamily="34" charset="0"/>
                <a:ea typeface="Arial" pitchFamily="34" charset="-122"/>
                <a:cs typeface="Arial" pitchFamily="34" charset="-120"/>
              </a:rPr>
              <a:t>ISUZU / UNIVERSE</a:t>
            </a:r>
            <a:endParaRPr lang="en-US" sz="1000" dirty="0"/>
          </a:p>
        </p:txBody>
      </p:sp>
      <p:sp>
        <p:nvSpPr>
          <p:cNvPr id="3" name="Text 1"/>
          <p:cNvSpPr/>
          <p:nvPr/>
        </p:nvSpPr>
        <p:spPr>
          <a:xfrm>
            <a:off x="8046720" y="173736"/>
            <a:ext cx="3657600" cy="201168"/>
          </a:xfrm>
          <a:prstGeom prst="rect">
            <a:avLst/>
          </a:prstGeom>
          <a:noFill/>
          <a:ln/>
        </p:spPr>
        <p:txBody>
          <a:bodyPr wrap="square" lIns="0" tIns="0" rIns="0" bIns="0" rtlCol="0" anchor="t">
            <a:normAutofit/>
          </a:bodyPr>
          <a:lstStyle/>
          <a:p>
            <a:pPr marL="0" indent="0" algn="r">
              <a:buNone/>
            </a:pPr>
            <a:r>
              <a:rPr lang="en-US" sz="900" dirty="0">
                <a:solidFill>
                  <a:srgbClr val="BDC4C9"/>
                </a:solidFill>
                <a:latin typeface="Arial" pitchFamily="34" charset="0"/>
                <a:ea typeface="Arial" pitchFamily="34" charset="-122"/>
                <a:cs typeface="Arial" pitchFamily="34" charset="-120"/>
              </a:rPr>
              <a:t>COMMERCIAL VISION  /  3.0</a:t>
            </a:r>
            <a:endParaRPr lang="en-US" sz="900" dirty="0"/>
          </a:p>
        </p:txBody>
      </p:sp>
      <p:sp>
        <p:nvSpPr>
          <p:cNvPr id="4" name="Shape 2"/>
          <p:cNvSpPr/>
          <p:nvPr/>
        </p:nvSpPr>
        <p:spPr>
          <a:xfrm>
            <a:off x="484632" y="512064"/>
            <a:ext cx="475488" cy="22860"/>
          </a:xfrm>
          <a:prstGeom prst="rect">
            <a:avLst/>
          </a:prstGeom>
          <a:solidFill>
            <a:srgbClr val="D71920"/>
          </a:solidFill>
          <a:ln w="12700">
            <a:solidFill>
              <a:srgbClr val="D71920">
                <a:alpha val="0"/>
              </a:srgbClr>
            </a:solidFill>
            <a:prstDash val="solid"/>
          </a:ln>
        </p:spPr>
        <p:txBody>
          <a:bodyPr/>
          <a:lstStyle/>
          <a:p>
            <a:endParaRPr lang="nl-NL"/>
          </a:p>
        </p:txBody>
      </p:sp>
      <p:sp>
        <p:nvSpPr>
          <p:cNvPr id="5" name="Text 3"/>
          <p:cNvSpPr/>
          <p:nvPr/>
        </p:nvSpPr>
        <p:spPr>
          <a:xfrm>
            <a:off x="484632" y="658368"/>
            <a:ext cx="11064240" cy="219456"/>
          </a:xfrm>
          <a:prstGeom prst="rect">
            <a:avLst/>
          </a:prstGeom>
          <a:noFill/>
          <a:ln/>
        </p:spPr>
        <p:txBody>
          <a:bodyPr wrap="square" lIns="0" tIns="0" rIns="0" bIns="0" rtlCol="0" anchor="t">
            <a:normAutofit/>
          </a:bodyPr>
          <a:lstStyle/>
          <a:p>
            <a:pPr marL="0" indent="0" algn="l">
              <a:buNone/>
            </a:pPr>
            <a:r>
              <a:rPr lang="en-US" sz="1000" b="1" dirty="0">
                <a:solidFill>
                  <a:srgbClr val="D71920"/>
                </a:solidFill>
                <a:latin typeface="Arial" pitchFamily="34" charset="0"/>
                <a:ea typeface="Arial" pitchFamily="34" charset="-122"/>
                <a:cs typeface="Arial" pitchFamily="34" charset="-120"/>
              </a:rPr>
              <a:t>THE RELATIONSHIP MODEL</a:t>
            </a:r>
            <a:endParaRPr lang="en-US" sz="1000" dirty="0"/>
          </a:p>
        </p:txBody>
      </p:sp>
      <p:sp>
        <p:nvSpPr>
          <p:cNvPr id="6" name="Shape 4"/>
          <p:cNvSpPr/>
          <p:nvPr/>
        </p:nvSpPr>
        <p:spPr>
          <a:xfrm>
            <a:off x="484632" y="6446520"/>
            <a:ext cx="11219688" cy="914"/>
          </a:xfrm>
          <a:prstGeom prst="line">
            <a:avLst/>
          </a:prstGeom>
          <a:noFill/>
          <a:ln w="6350">
            <a:solidFill>
              <a:srgbClr val="647078"/>
            </a:solidFill>
            <a:prstDash val="solid"/>
          </a:ln>
        </p:spPr>
        <p:txBody>
          <a:bodyPr/>
          <a:lstStyle/>
          <a:p>
            <a:endParaRPr lang="nl-NL"/>
          </a:p>
        </p:txBody>
      </p:sp>
      <p:sp>
        <p:nvSpPr>
          <p:cNvPr id="7" name="Text 5"/>
          <p:cNvSpPr/>
          <p:nvPr/>
        </p:nvSpPr>
        <p:spPr>
          <a:xfrm>
            <a:off x="484632" y="6556248"/>
            <a:ext cx="9144000" cy="146304"/>
          </a:xfrm>
          <a:prstGeom prst="rect">
            <a:avLst/>
          </a:prstGeom>
          <a:noFill/>
          <a:ln/>
        </p:spPr>
        <p:txBody>
          <a:bodyPr wrap="square" lIns="0" tIns="0" rIns="0" bIns="0" rtlCol="0" anchor="t">
            <a:normAutofit/>
          </a:bodyPr>
          <a:lstStyle/>
          <a:p>
            <a:pPr marL="0" indent="0" algn="l">
              <a:buNone/>
            </a:pPr>
            <a:r>
              <a:rPr lang="en-US" sz="750" dirty="0">
                <a:solidFill>
                  <a:srgbClr val="BDC4C9"/>
                </a:solidFill>
                <a:latin typeface="Arial" pitchFamily="34" charset="0"/>
                <a:ea typeface="Arial" pitchFamily="34" charset="-122"/>
                <a:cs typeface="Arial" pitchFamily="34" charset="-120"/>
              </a:rPr>
              <a:t>22 SEPTEMBER 2026  /  CONCEPT AND APPLICATION EXAMPLES</a:t>
            </a:r>
            <a:endParaRPr lang="en-US" sz="750" dirty="0"/>
          </a:p>
        </p:txBody>
      </p:sp>
      <p:sp>
        <p:nvSpPr>
          <p:cNvPr id="8" name="Text 6"/>
          <p:cNvSpPr/>
          <p:nvPr/>
        </p:nvSpPr>
        <p:spPr>
          <a:xfrm>
            <a:off x="10789920" y="6547104"/>
            <a:ext cx="914400" cy="173736"/>
          </a:xfrm>
          <a:prstGeom prst="rect">
            <a:avLst/>
          </a:prstGeom>
          <a:noFill/>
          <a:ln/>
        </p:spPr>
        <p:txBody>
          <a:bodyPr wrap="square" lIns="0" tIns="0" rIns="0" bIns="0" rtlCol="0" anchor="t">
            <a:normAutofit/>
          </a:bodyPr>
          <a:lstStyle/>
          <a:p>
            <a:pPr marL="0" indent="0" algn="r">
              <a:buNone/>
            </a:pPr>
            <a:r>
              <a:rPr lang="en-US" sz="850" dirty="0">
                <a:solidFill>
                  <a:srgbClr val="BDC4C9"/>
                </a:solidFill>
                <a:latin typeface="Arial" pitchFamily="34" charset="0"/>
                <a:ea typeface="Arial" pitchFamily="34" charset="-122"/>
                <a:cs typeface="Arial" pitchFamily="34" charset="-120"/>
              </a:rPr>
              <a:t>04 / 49</a:t>
            </a:r>
            <a:endParaRPr lang="en-US" sz="850" dirty="0"/>
          </a:p>
        </p:txBody>
      </p:sp>
      <p:sp>
        <p:nvSpPr>
          <p:cNvPr id="9" name="Text 7"/>
          <p:cNvSpPr/>
          <p:nvPr/>
        </p:nvSpPr>
        <p:spPr>
          <a:xfrm>
            <a:off x="502920" y="1005840"/>
            <a:ext cx="11036808" cy="841248"/>
          </a:xfrm>
          <a:prstGeom prst="rect">
            <a:avLst/>
          </a:prstGeom>
          <a:noFill/>
          <a:ln/>
        </p:spPr>
        <p:txBody>
          <a:bodyPr wrap="square" lIns="0" tIns="0" rIns="0" bIns="0" rtlCol="0" anchor="t">
            <a:normAutofit/>
          </a:bodyPr>
          <a:lstStyle/>
          <a:p>
            <a:pPr marL="0" indent="0" algn="l">
              <a:buNone/>
            </a:pPr>
            <a:r>
              <a:rPr lang="en-US" sz="3400" b="1" dirty="0">
                <a:solidFill>
                  <a:srgbClr val="F5F6F7"/>
                </a:solidFill>
                <a:latin typeface="Arial" pitchFamily="34" charset="0"/>
                <a:ea typeface="Arial" pitchFamily="34" charset="-122"/>
                <a:cs typeface="Arial" pitchFamily="34" charset="-120"/>
              </a:rPr>
              <a:t>Private relationships. Selected collaboration.</a:t>
            </a:r>
            <a:endParaRPr lang="en-US" sz="3400" dirty="0"/>
          </a:p>
        </p:txBody>
      </p:sp>
      <p:sp>
        <p:nvSpPr>
          <p:cNvPr id="10" name="Text 8"/>
          <p:cNvSpPr/>
          <p:nvPr/>
        </p:nvSpPr>
        <p:spPr>
          <a:xfrm>
            <a:off x="530352" y="1865376"/>
            <a:ext cx="10954512" cy="566928"/>
          </a:xfrm>
          <a:prstGeom prst="rect">
            <a:avLst/>
          </a:prstGeom>
          <a:noFill/>
          <a:ln/>
        </p:spPr>
        <p:txBody>
          <a:bodyPr wrap="square" lIns="0" tIns="0" rIns="0" bIns="0" rtlCol="0" anchor="t">
            <a:normAutofit/>
          </a:bodyPr>
          <a:lstStyle/>
          <a:p>
            <a:pPr marL="0" indent="0" algn="l">
              <a:buNone/>
            </a:pPr>
            <a:r>
              <a:rPr lang="en-US" sz="1800" dirty="0">
                <a:solidFill>
                  <a:srgbClr val="BDC4C9"/>
                </a:solidFill>
                <a:latin typeface="Arial" pitchFamily="34" charset="0"/>
                <a:ea typeface="Arial" pitchFamily="34" charset="-122"/>
                <a:cs typeface="Arial" pitchFamily="34" charset="-120"/>
              </a:rPr>
              <a:t>Each distributor keeps its own data and commercial initiatives. A tender includes only the relevant authorised Isuzu functions.</a:t>
            </a:r>
            <a:endParaRPr lang="en-US" sz="1800" dirty="0"/>
          </a:p>
        </p:txBody>
      </p:sp>
      <p:sp>
        <p:nvSpPr>
          <p:cNvPr id="11" name="Shape 9"/>
          <p:cNvSpPr/>
          <p:nvPr/>
        </p:nvSpPr>
        <p:spPr>
          <a:xfrm>
            <a:off x="2052332" y="2901512"/>
            <a:ext cx="2165475" cy="1002535"/>
          </a:xfrm>
          <a:prstGeom prst="roundRect">
            <a:avLst>
              <a:gd name="adj" fmla="val 3648"/>
            </a:avLst>
          </a:prstGeom>
          <a:solidFill>
            <a:srgbClr val="30363B"/>
          </a:solidFill>
          <a:ln w="8890">
            <a:solidFill>
              <a:srgbClr val="48525B"/>
            </a:solidFill>
            <a:prstDash val="solid"/>
          </a:ln>
        </p:spPr>
        <p:txBody>
          <a:bodyPr/>
          <a:lstStyle/>
          <a:p>
            <a:endParaRPr lang="nl-NL"/>
          </a:p>
        </p:txBody>
      </p:sp>
      <p:sp>
        <p:nvSpPr>
          <p:cNvPr id="12" name="Shape 10"/>
          <p:cNvSpPr/>
          <p:nvPr/>
        </p:nvSpPr>
        <p:spPr>
          <a:xfrm>
            <a:off x="2052332" y="3013796"/>
            <a:ext cx="32081" cy="777967"/>
          </a:xfrm>
          <a:prstGeom prst="rect">
            <a:avLst/>
          </a:prstGeom>
          <a:solidFill>
            <a:srgbClr val="82909A"/>
          </a:solidFill>
          <a:ln w="12700">
            <a:solidFill>
              <a:srgbClr val="24282C">
                <a:alpha val="0"/>
              </a:srgbClr>
            </a:solidFill>
            <a:prstDash val="solid"/>
          </a:ln>
        </p:spPr>
        <p:txBody>
          <a:bodyPr/>
          <a:lstStyle/>
          <a:p>
            <a:endParaRPr lang="nl-NL"/>
          </a:p>
        </p:txBody>
      </p:sp>
      <p:sp>
        <p:nvSpPr>
          <p:cNvPr id="13" name="Text 11"/>
          <p:cNvSpPr/>
          <p:nvPr/>
        </p:nvSpPr>
        <p:spPr>
          <a:xfrm>
            <a:off x="2188677" y="3029837"/>
            <a:ext cx="1892786" cy="392994"/>
          </a:xfrm>
          <a:prstGeom prst="rect">
            <a:avLst/>
          </a:prstGeom>
          <a:noFill/>
          <a:ln/>
        </p:spPr>
        <p:txBody>
          <a:bodyPr wrap="square" lIns="0" tIns="0" rIns="0" bIns="0" rtlCol="0" anchor="t">
            <a:normAutofit/>
          </a:bodyPr>
          <a:lstStyle/>
          <a:p>
            <a:pPr marL="0" indent="0" algn="l">
              <a:buNone/>
            </a:pPr>
            <a:r>
              <a:rPr lang="en-US" sz="1389" b="1" dirty="0">
                <a:solidFill>
                  <a:srgbClr val="F5F6F7"/>
                </a:solidFill>
                <a:latin typeface="Arial" pitchFamily="34" charset="0"/>
                <a:ea typeface="Arial" pitchFamily="34" charset="-122"/>
                <a:cs typeface="Arial" pitchFamily="34" charset="-120"/>
              </a:rPr>
              <a:t>One distributor</a:t>
            </a:r>
            <a:endParaRPr lang="en-US" sz="1389" dirty="0"/>
          </a:p>
        </p:txBody>
      </p:sp>
      <p:sp>
        <p:nvSpPr>
          <p:cNvPr id="14" name="Text 12"/>
          <p:cNvSpPr/>
          <p:nvPr/>
        </p:nvSpPr>
        <p:spPr>
          <a:xfrm>
            <a:off x="2188677" y="3374709"/>
            <a:ext cx="1892786" cy="473196"/>
          </a:xfrm>
          <a:prstGeom prst="rect">
            <a:avLst/>
          </a:prstGeom>
          <a:noFill/>
          <a:ln/>
        </p:spPr>
        <p:txBody>
          <a:bodyPr wrap="square" lIns="0" tIns="0" rIns="0" bIns="0" rtlCol="0" anchor="t">
            <a:normAutofit/>
          </a:bodyPr>
          <a:lstStyle/>
          <a:p>
            <a:pPr marL="0" indent="0" algn="l">
              <a:buNone/>
            </a:pPr>
            <a:r>
              <a:rPr lang="en-US" sz="1137" dirty="0">
                <a:solidFill>
                  <a:srgbClr val="BDC4C9"/>
                </a:solidFill>
                <a:latin typeface="Arial" pitchFamily="34" charset="0"/>
                <a:ea typeface="Arial" pitchFamily="34" charset="-122"/>
                <a:cs typeface="Arial" pitchFamily="34" charset="-120"/>
              </a:rPr>
              <a:t>Its own data and initiatives</a:t>
            </a:r>
            <a:endParaRPr lang="en-US" sz="1137" dirty="0"/>
          </a:p>
        </p:txBody>
      </p:sp>
      <p:sp>
        <p:nvSpPr>
          <p:cNvPr id="15" name="Shape 13"/>
          <p:cNvSpPr/>
          <p:nvPr/>
        </p:nvSpPr>
        <p:spPr>
          <a:xfrm>
            <a:off x="2052332" y="4585771"/>
            <a:ext cx="2165475" cy="1002535"/>
          </a:xfrm>
          <a:prstGeom prst="roundRect">
            <a:avLst>
              <a:gd name="adj" fmla="val 3648"/>
            </a:avLst>
          </a:prstGeom>
          <a:solidFill>
            <a:srgbClr val="30363B"/>
          </a:solidFill>
          <a:ln w="8890">
            <a:solidFill>
              <a:srgbClr val="48525B"/>
            </a:solidFill>
            <a:prstDash val="solid"/>
          </a:ln>
        </p:spPr>
        <p:txBody>
          <a:bodyPr/>
          <a:lstStyle/>
          <a:p>
            <a:endParaRPr lang="nl-NL"/>
          </a:p>
        </p:txBody>
      </p:sp>
      <p:sp>
        <p:nvSpPr>
          <p:cNvPr id="16" name="Shape 14"/>
          <p:cNvSpPr/>
          <p:nvPr/>
        </p:nvSpPr>
        <p:spPr>
          <a:xfrm>
            <a:off x="2052332" y="4698055"/>
            <a:ext cx="32081" cy="777967"/>
          </a:xfrm>
          <a:prstGeom prst="rect">
            <a:avLst/>
          </a:prstGeom>
          <a:solidFill>
            <a:srgbClr val="82909A"/>
          </a:solidFill>
          <a:ln w="12700">
            <a:solidFill>
              <a:srgbClr val="24282C">
                <a:alpha val="0"/>
              </a:srgbClr>
            </a:solidFill>
            <a:prstDash val="solid"/>
          </a:ln>
        </p:spPr>
        <p:txBody>
          <a:bodyPr/>
          <a:lstStyle/>
          <a:p>
            <a:endParaRPr lang="nl-NL"/>
          </a:p>
        </p:txBody>
      </p:sp>
      <p:sp>
        <p:nvSpPr>
          <p:cNvPr id="17" name="Text 15"/>
          <p:cNvSpPr/>
          <p:nvPr/>
        </p:nvSpPr>
        <p:spPr>
          <a:xfrm>
            <a:off x="2188677" y="4714096"/>
            <a:ext cx="1892786" cy="392994"/>
          </a:xfrm>
          <a:prstGeom prst="rect">
            <a:avLst/>
          </a:prstGeom>
          <a:noFill/>
          <a:ln/>
        </p:spPr>
        <p:txBody>
          <a:bodyPr wrap="square" lIns="0" tIns="0" rIns="0" bIns="0" rtlCol="0" anchor="t">
            <a:normAutofit/>
          </a:bodyPr>
          <a:lstStyle/>
          <a:p>
            <a:pPr marL="0" indent="0" algn="l">
              <a:buNone/>
            </a:pPr>
            <a:r>
              <a:rPr lang="en-US" sz="1389" b="1" dirty="0">
                <a:solidFill>
                  <a:srgbClr val="F5F6F7"/>
                </a:solidFill>
                <a:latin typeface="Arial" pitchFamily="34" charset="0"/>
                <a:ea typeface="Arial" pitchFamily="34" charset="-122"/>
                <a:cs typeface="Arial" pitchFamily="34" charset="-120"/>
              </a:rPr>
              <a:t>Another distributor</a:t>
            </a:r>
            <a:endParaRPr lang="en-US" sz="1389" dirty="0"/>
          </a:p>
        </p:txBody>
      </p:sp>
      <p:sp>
        <p:nvSpPr>
          <p:cNvPr id="18" name="Text 16"/>
          <p:cNvSpPr/>
          <p:nvPr/>
        </p:nvSpPr>
        <p:spPr>
          <a:xfrm>
            <a:off x="2188677" y="5058968"/>
            <a:ext cx="1892786" cy="473196"/>
          </a:xfrm>
          <a:prstGeom prst="rect">
            <a:avLst/>
          </a:prstGeom>
          <a:noFill/>
          <a:ln/>
        </p:spPr>
        <p:txBody>
          <a:bodyPr wrap="square" lIns="0" tIns="0" rIns="0" bIns="0" rtlCol="0" anchor="t">
            <a:normAutofit/>
          </a:bodyPr>
          <a:lstStyle/>
          <a:p>
            <a:pPr marL="0" indent="0" algn="l">
              <a:buNone/>
            </a:pPr>
            <a:r>
              <a:rPr lang="en-US" sz="1137" dirty="0">
                <a:solidFill>
                  <a:srgbClr val="BDC4C9"/>
                </a:solidFill>
                <a:latin typeface="Arial" pitchFamily="34" charset="0"/>
                <a:ea typeface="Arial" pitchFamily="34" charset="-122"/>
                <a:cs typeface="Arial" pitchFamily="34" charset="-120"/>
              </a:rPr>
              <a:t>A separate private relationship</a:t>
            </a:r>
            <a:endParaRPr lang="en-US" sz="1137" dirty="0"/>
          </a:p>
        </p:txBody>
      </p:sp>
      <p:sp>
        <p:nvSpPr>
          <p:cNvPr id="19" name="Shape 17"/>
          <p:cNvSpPr/>
          <p:nvPr/>
        </p:nvSpPr>
        <p:spPr>
          <a:xfrm>
            <a:off x="5164201" y="3647398"/>
            <a:ext cx="1844664" cy="1283245"/>
          </a:xfrm>
          <a:prstGeom prst="roundRect">
            <a:avLst>
              <a:gd name="adj" fmla="val 2850"/>
            </a:avLst>
          </a:prstGeom>
          <a:solidFill>
            <a:srgbClr val="383F44"/>
          </a:solidFill>
          <a:ln w="8890">
            <a:solidFill>
              <a:srgbClr val="D71920"/>
            </a:solidFill>
            <a:prstDash val="solid"/>
          </a:ln>
        </p:spPr>
        <p:txBody>
          <a:bodyPr/>
          <a:lstStyle/>
          <a:p>
            <a:endParaRPr lang="nl-NL"/>
          </a:p>
        </p:txBody>
      </p:sp>
      <p:sp>
        <p:nvSpPr>
          <p:cNvPr id="20" name="Shape 18"/>
          <p:cNvSpPr/>
          <p:nvPr/>
        </p:nvSpPr>
        <p:spPr>
          <a:xfrm>
            <a:off x="5164201" y="3759682"/>
            <a:ext cx="32081" cy="1058677"/>
          </a:xfrm>
          <a:prstGeom prst="rect">
            <a:avLst/>
          </a:prstGeom>
          <a:solidFill>
            <a:srgbClr val="D71920"/>
          </a:solidFill>
          <a:ln w="12700">
            <a:solidFill>
              <a:srgbClr val="24282C">
                <a:alpha val="0"/>
              </a:srgbClr>
            </a:solidFill>
            <a:prstDash val="solid"/>
          </a:ln>
        </p:spPr>
        <p:txBody>
          <a:bodyPr/>
          <a:lstStyle/>
          <a:p>
            <a:endParaRPr lang="nl-NL"/>
          </a:p>
        </p:txBody>
      </p:sp>
      <p:sp>
        <p:nvSpPr>
          <p:cNvPr id="21" name="Text 19"/>
          <p:cNvSpPr/>
          <p:nvPr/>
        </p:nvSpPr>
        <p:spPr>
          <a:xfrm>
            <a:off x="5300545" y="3775723"/>
            <a:ext cx="1571975" cy="513298"/>
          </a:xfrm>
          <a:prstGeom prst="rect">
            <a:avLst/>
          </a:prstGeom>
          <a:noFill/>
          <a:ln/>
        </p:spPr>
        <p:txBody>
          <a:bodyPr wrap="square" lIns="0" tIns="0" rIns="0" bIns="0" rtlCol="0" anchor="t">
            <a:normAutofit/>
          </a:bodyPr>
          <a:lstStyle/>
          <a:p>
            <a:pPr marL="0" indent="0" algn="l">
              <a:buNone/>
            </a:pPr>
            <a:r>
              <a:rPr lang="en-US" sz="1579" b="1" dirty="0">
                <a:solidFill>
                  <a:srgbClr val="F5F6F7"/>
                </a:solidFill>
                <a:latin typeface="Arial" pitchFamily="34" charset="0"/>
                <a:ea typeface="Arial" pitchFamily="34" charset="-122"/>
                <a:cs typeface="Arial" pitchFamily="34" charset="-120"/>
              </a:rPr>
              <a:t>ISZE</a:t>
            </a:r>
            <a:endParaRPr lang="en-US" sz="1579" dirty="0"/>
          </a:p>
        </p:txBody>
      </p:sp>
      <p:sp>
        <p:nvSpPr>
          <p:cNvPr id="22" name="Text 20"/>
          <p:cNvSpPr/>
          <p:nvPr/>
        </p:nvSpPr>
        <p:spPr>
          <a:xfrm>
            <a:off x="5300545" y="4345163"/>
            <a:ext cx="1571975" cy="489237"/>
          </a:xfrm>
          <a:prstGeom prst="rect">
            <a:avLst/>
          </a:prstGeom>
          <a:noFill/>
          <a:ln/>
        </p:spPr>
        <p:txBody>
          <a:bodyPr wrap="square" lIns="0" tIns="0" rIns="0" bIns="0" rtlCol="0" anchor="t">
            <a:normAutofit/>
          </a:bodyPr>
          <a:lstStyle/>
          <a:p>
            <a:pPr marL="0" indent="0" algn="l">
              <a:buNone/>
            </a:pPr>
            <a:r>
              <a:rPr lang="en-US" sz="1263" dirty="0">
                <a:solidFill>
                  <a:srgbClr val="BDC4C9"/>
                </a:solidFill>
                <a:latin typeface="Arial" pitchFamily="34" charset="0"/>
                <a:ea typeface="Arial" pitchFamily="34" charset="-122"/>
                <a:cs typeface="Arial" pitchFamily="34" charset="-120"/>
              </a:rPr>
              <a:t>Selected analysis and controlled learning</a:t>
            </a:r>
            <a:endParaRPr lang="en-US" sz="1263" dirty="0"/>
          </a:p>
        </p:txBody>
      </p:sp>
      <p:sp>
        <p:nvSpPr>
          <p:cNvPr id="23" name="Shape 21"/>
          <p:cNvSpPr/>
          <p:nvPr/>
        </p:nvSpPr>
        <p:spPr>
          <a:xfrm>
            <a:off x="8043481" y="2901512"/>
            <a:ext cx="2029131" cy="1002535"/>
          </a:xfrm>
          <a:prstGeom prst="roundRect">
            <a:avLst>
              <a:gd name="adj" fmla="val 3648"/>
            </a:avLst>
          </a:prstGeom>
          <a:solidFill>
            <a:srgbClr val="30363B"/>
          </a:solidFill>
          <a:ln w="8890">
            <a:solidFill>
              <a:srgbClr val="48525B"/>
            </a:solidFill>
            <a:prstDash val="solid"/>
          </a:ln>
        </p:spPr>
        <p:txBody>
          <a:bodyPr/>
          <a:lstStyle/>
          <a:p>
            <a:endParaRPr lang="nl-NL"/>
          </a:p>
        </p:txBody>
      </p:sp>
      <p:sp>
        <p:nvSpPr>
          <p:cNvPr id="24" name="Shape 22"/>
          <p:cNvSpPr/>
          <p:nvPr/>
        </p:nvSpPr>
        <p:spPr>
          <a:xfrm>
            <a:off x="8043481" y="3013796"/>
            <a:ext cx="32081" cy="777967"/>
          </a:xfrm>
          <a:prstGeom prst="rect">
            <a:avLst/>
          </a:prstGeom>
          <a:solidFill>
            <a:srgbClr val="82909A"/>
          </a:solidFill>
          <a:ln w="12700">
            <a:solidFill>
              <a:srgbClr val="24282C">
                <a:alpha val="0"/>
              </a:srgbClr>
            </a:solidFill>
            <a:prstDash val="solid"/>
          </a:ln>
        </p:spPr>
        <p:txBody>
          <a:bodyPr/>
          <a:lstStyle/>
          <a:p>
            <a:endParaRPr lang="nl-NL"/>
          </a:p>
        </p:txBody>
      </p:sp>
      <p:sp>
        <p:nvSpPr>
          <p:cNvPr id="25" name="Text 23"/>
          <p:cNvSpPr/>
          <p:nvPr/>
        </p:nvSpPr>
        <p:spPr>
          <a:xfrm>
            <a:off x="8179826" y="3029837"/>
            <a:ext cx="1756441" cy="392994"/>
          </a:xfrm>
          <a:prstGeom prst="rect">
            <a:avLst/>
          </a:prstGeom>
          <a:noFill/>
          <a:ln/>
        </p:spPr>
        <p:txBody>
          <a:bodyPr wrap="square" lIns="0" tIns="0" rIns="0" bIns="0" rtlCol="0" anchor="t">
            <a:normAutofit/>
          </a:bodyPr>
          <a:lstStyle/>
          <a:p>
            <a:pPr marL="0" indent="0" algn="l">
              <a:buNone/>
            </a:pPr>
            <a:r>
              <a:rPr lang="en-US" sz="1389" b="1" dirty="0">
                <a:solidFill>
                  <a:srgbClr val="F5F6F7"/>
                </a:solidFill>
                <a:latin typeface="Arial" pitchFamily="34" charset="0"/>
                <a:ea typeface="Arial" pitchFamily="34" charset="-122"/>
                <a:cs typeface="Arial" pitchFamily="34" charset="-120"/>
              </a:rPr>
              <a:t>Selected Isuzu team</a:t>
            </a:r>
            <a:endParaRPr lang="en-US" sz="1389" dirty="0"/>
          </a:p>
        </p:txBody>
      </p:sp>
      <p:sp>
        <p:nvSpPr>
          <p:cNvPr id="26" name="Text 24"/>
          <p:cNvSpPr/>
          <p:nvPr/>
        </p:nvSpPr>
        <p:spPr>
          <a:xfrm>
            <a:off x="8179826" y="3374709"/>
            <a:ext cx="1756441" cy="473196"/>
          </a:xfrm>
          <a:prstGeom prst="rect">
            <a:avLst/>
          </a:prstGeom>
          <a:noFill/>
          <a:ln/>
        </p:spPr>
        <p:txBody>
          <a:bodyPr wrap="square" lIns="0" tIns="0" rIns="0" bIns="0" rtlCol="0" anchor="t">
            <a:normAutofit/>
          </a:bodyPr>
          <a:lstStyle/>
          <a:p>
            <a:pPr marL="0" indent="0" algn="l">
              <a:buNone/>
            </a:pPr>
            <a:r>
              <a:rPr lang="en-US" sz="1137" dirty="0">
                <a:solidFill>
                  <a:srgbClr val="BDC4C9"/>
                </a:solidFill>
                <a:latin typeface="Arial" pitchFamily="34" charset="0"/>
                <a:ea typeface="Arial" pitchFamily="34" charset="-122"/>
                <a:cs typeface="Arial" pitchFamily="34" charset="-120"/>
              </a:rPr>
              <a:t>Only the relevant tender scope</a:t>
            </a:r>
            <a:endParaRPr lang="en-US" sz="1137" dirty="0"/>
          </a:p>
        </p:txBody>
      </p:sp>
      <p:sp>
        <p:nvSpPr>
          <p:cNvPr id="27" name="Shape 25"/>
          <p:cNvSpPr/>
          <p:nvPr/>
        </p:nvSpPr>
        <p:spPr>
          <a:xfrm>
            <a:off x="8043481" y="4585771"/>
            <a:ext cx="2029131" cy="1002535"/>
          </a:xfrm>
          <a:prstGeom prst="roundRect">
            <a:avLst>
              <a:gd name="adj" fmla="val 3648"/>
            </a:avLst>
          </a:prstGeom>
          <a:solidFill>
            <a:srgbClr val="30363B"/>
          </a:solidFill>
          <a:ln w="8890">
            <a:solidFill>
              <a:srgbClr val="48525B"/>
            </a:solidFill>
            <a:prstDash val="solid"/>
          </a:ln>
        </p:spPr>
        <p:txBody>
          <a:bodyPr/>
          <a:lstStyle/>
          <a:p>
            <a:endParaRPr lang="nl-NL"/>
          </a:p>
        </p:txBody>
      </p:sp>
      <p:sp>
        <p:nvSpPr>
          <p:cNvPr id="28" name="Shape 26"/>
          <p:cNvSpPr/>
          <p:nvPr/>
        </p:nvSpPr>
        <p:spPr>
          <a:xfrm>
            <a:off x="8043481" y="4698055"/>
            <a:ext cx="32081" cy="777967"/>
          </a:xfrm>
          <a:prstGeom prst="rect">
            <a:avLst/>
          </a:prstGeom>
          <a:solidFill>
            <a:srgbClr val="82909A"/>
          </a:solidFill>
          <a:ln w="12700">
            <a:solidFill>
              <a:srgbClr val="24282C">
                <a:alpha val="0"/>
              </a:srgbClr>
            </a:solidFill>
            <a:prstDash val="solid"/>
          </a:ln>
        </p:spPr>
        <p:txBody>
          <a:bodyPr/>
          <a:lstStyle/>
          <a:p>
            <a:endParaRPr lang="nl-NL"/>
          </a:p>
        </p:txBody>
      </p:sp>
      <p:sp>
        <p:nvSpPr>
          <p:cNvPr id="29" name="Text 27"/>
          <p:cNvSpPr/>
          <p:nvPr/>
        </p:nvSpPr>
        <p:spPr>
          <a:xfrm>
            <a:off x="8179826" y="4714096"/>
            <a:ext cx="1756441" cy="392994"/>
          </a:xfrm>
          <a:prstGeom prst="rect">
            <a:avLst/>
          </a:prstGeom>
          <a:noFill/>
          <a:ln/>
        </p:spPr>
        <p:txBody>
          <a:bodyPr wrap="square" lIns="0" tIns="0" rIns="0" bIns="0" rtlCol="0" anchor="t">
            <a:normAutofit/>
          </a:bodyPr>
          <a:lstStyle/>
          <a:p>
            <a:pPr marL="0" indent="0" algn="l">
              <a:buNone/>
            </a:pPr>
            <a:r>
              <a:rPr lang="en-US" sz="1389" b="1" dirty="0">
                <a:solidFill>
                  <a:srgbClr val="F5F6F7"/>
                </a:solidFill>
                <a:latin typeface="Arial" pitchFamily="34" charset="0"/>
                <a:ea typeface="Arial" pitchFamily="34" charset="-122"/>
                <a:cs typeface="Arial" pitchFamily="34" charset="-120"/>
              </a:rPr>
              <a:t>Reviewed learning</a:t>
            </a:r>
            <a:endParaRPr lang="en-US" sz="1389" dirty="0"/>
          </a:p>
        </p:txBody>
      </p:sp>
      <p:sp>
        <p:nvSpPr>
          <p:cNvPr id="30" name="Text 28"/>
          <p:cNvSpPr/>
          <p:nvPr/>
        </p:nvSpPr>
        <p:spPr>
          <a:xfrm>
            <a:off x="8179826" y="5058968"/>
            <a:ext cx="1756441" cy="473196"/>
          </a:xfrm>
          <a:prstGeom prst="rect">
            <a:avLst/>
          </a:prstGeom>
          <a:noFill/>
          <a:ln/>
        </p:spPr>
        <p:txBody>
          <a:bodyPr wrap="square" lIns="0" tIns="0" rIns="0" bIns="0" rtlCol="0" anchor="t">
            <a:normAutofit/>
          </a:bodyPr>
          <a:lstStyle/>
          <a:p>
            <a:pPr marL="0" indent="0" algn="l">
              <a:buNone/>
            </a:pPr>
            <a:r>
              <a:rPr lang="en-US" sz="1137" dirty="0">
                <a:solidFill>
                  <a:srgbClr val="BDC4C9"/>
                </a:solidFill>
                <a:latin typeface="Arial" pitchFamily="34" charset="0"/>
                <a:ea typeface="Arial" pitchFamily="34" charset="-122"/>
                <a:cs typeface="Arial" pitchFamily="34" charset="-120"/>
              </a:rPr>
              <a:t>Methods and permitted examples</a:t>
            </a:r>
            <a:endParaRPr lang="en-US" sz="1137" dirty="0"/>
          </a:p>
        </p:txBody>
      </p:sp>
      <p:sp>
        <p:nvSpPr>
          <p:cNvPr id="31" name="Shape 29"/>
          <p:cNvSpPr/>
          <p:nvPr/>
        </p:nvSpPr>
        <p:spPr>
          <a:xfrm>
            <a:off x="4257909" y="3398770"/>
            <a:ext cx="842129" cy="585480"/>
          </a:xfrm>
          <a:prstGeom prst="line">
            <a:avLst/>
          </a:prstGeom>
          <a:noFill/>
          <a:ln w="16041">
            <a:solidFill>
              <a:srgbClr val="D71920"/>
            </a:solidFill>
            <a:prstDash val="solid"/>
            <a:tailEnd type="triangle"/>
          </a:ln>
        </p:spPr>
        <p:txBody>
          <a:bodyPr/>
          <a:lstStyle/>
          <a:p>
            <a:endParaRPr lang="nl-NL"/>
          </a:p>
        </p:txBody>
      </p:sp>
      <p:sp>
        <p:nvSpPr>
          <p:cNvPr id="32" name="Shape 30"/>
          <p:cNvSpPr/>
          <p:nvPr/>
        </p:nvSpPr>
        <p:spPr>
          <a:xfrm flipV="1">
            <a:off x="4257909" y="4665974"/>
            <a:ext cx="842129" cy="417055"/>
          </a:xfrm>
          <a:prstGeom prst="line">
            <a:avLst/>
          </a:prstGeom>
          <a:noFill/>
          <a:ln w="16041">
            <a:solidFill>
              <a:srgbClr val="D71920"/>
            </a:solidFill>
            <a:prstDash val="solid"/>
            <a:tailEnd type="triangle"/>
          </a:ln>
        </p:spPr>
        <p:txBody>
          <a:bodyPr/>
          <a:lstStyle/>
          <a:p>
            <a:endParaRPr lang="nl-NL"/>
          </a:p>
        </p:txBody>
      </p:sp>
      <p:sp>
        <p:nvSpPr>
          <p:cNvPr id="33" name="Shape 31"/>
          <p:cNvSpPr/>
          <p:nvPr/>
        </p:nvSpPr>
        <p:spPr>
          <a:xfrm flipV="1">
            <a:off x="7056987" y="3398770"/>
            <a:ext cx="922332" cy="585480"/>
          </a:xfrm>
          <a:prstGeom prst="line">
            <a:avLst/>
          </a:prstGeom>
          <a:noFill/>
          <a:ln w="16041">
            <a:solidFill>
              <a:srgbClr val="D71920"/>
            </a:solidFill>
            <a:prstDash val="solid"/>
            <a:tailEnd type="triangle"/>
          </a:ln>
        </p:spPr>
        <p:txBody>
          <a:bodyPr/>
          <a:lstStyle/>
          <a:p>
            <a:endParaRPr lang="nl-NL"/>
          </a:p>
        </p:txBody>
      </p:sp>
      <p:sp>
        <p:nvSpPr>
          <p:cNvPr id="34" name="Shape 32"/>
          <p:cNvSpPr/>
          <p:nvPr/>
        </p:nvSpPr>
        <p:spPr>
          <a:xfrm>
            <a:off x="7056987" y="4665974"/>
            <a:ext cx="922332" cy="417055"/>
          </a:xfrm>
          <a:prstGeom prst="line">
            <a:avLst/>
          </a:prstGeom>
          <a:noFill/>
          <a:ln w="16041">
            <a:solidFill>
              <a:srgbClr val="D71920"/>
            </a:solidFill>
            <a:prstDash val="solid"/>
            <a:tailEnd type="triangle"/>
          </a:ln>
        </p:spPr>
        <p:txBody>
          <a:bodyPr/>
          <a:lstStyle/>
          <a:p>
            <a:endParaRPr lang="nl-NL"/>
          </a:p>
        </p:txBody>
      </p:sp>
      <p:sp>
        <p:nvSpPr>
          <p:cNvPr id="35" name="Shape 33"/>
          <p:cNvSpPr/>
          <p:nvPr/>
        </p:nvSpPr>
        <p:spPr>
          <a:xfrm>
            <a:off x="3143090" y="3960189"/>
            <a:ext cx="914" cy="561420"/>
          </a:xfrm>
          <a:prstGeom prst="line">
            <a:avLst/>
          </a:prstGeom>
          <a:noFill/>
          <a:ln w="16041">
            <a:solidFill>
              <a:srgbClr val="646E76"/>
            </a:solidFill>
            <a:prstDash val="dash"/>
          </a:ln>
        </p:spPr>
        <p:txBody>
          <a:bodyPr/>
          <a:lstStyle/>
          <a:p>
            <a:endParaRPr lang="nl-NL"/>
          </a:p>
        </p:txBody>
      </p:sp>
      <p:sp>
        <p:nvSpPr>
          <p:cNvPr id="36" name="Shape 34"/>
          <p:cNvSpPr/>
          <p:nvPr/>
        </p:nvSpPr>
        <p:spPr>
          <a:xfrm>
            <a:off x="2910502" y="4080493"/>
            <a:ext cx="465176" cy="328831"/>
          </a:xfrm>
          <a:prstGeom prst="rect">
            <a:avLst/>
          </a:prstGeom>
          <a:solidFill>
            <a:srgbClr val="24282C"/>
          </a:solidFill>
          <a:ln w="12700">
            <a:solidFill>
              <a:srgbClr val="24282C">
                <a:alpha val="0"/>
              </a:srgbClr>
            </a:solidFill>
            <a:prstDash val="solid"/>
          </a:ln>
        </p:spPr>
        <p:txBody>
          <a:bodyPr/>
          <a:lstStyle/>
          <a:p>
            <a:endParaRPr lang="nl-NL"/>
          </a:p>
        </p:txBody>
      </p:sp>
      <p:sp>
        <p:nvSpPr>
          <p:cNvPr id="37" name="Text 35"/>
          <p:cNvSpPr/>
          <p:nvPr/>
        </p:nvSpPr>
        <p:spPr>
          <a:xfrm>
            <a:off x="2958624" y="4136635"/>
            <a:ext cx="368933" cy="481217"/>
          </a:xfrm>
          <a:prstGeom prst="rect">
            <a:avLst/>
          </a:prstGeom>
          <a:noFill/>
          <a:ln/>
        </p:spPr>
        <p:txBody>
          <a:bodyPr wrap="square" lIns="0" tIns="0" rIns="0" bIns="0" rtlCol="0" anchor="t">
            <a:normAutofit/>
          </a:bodyPr>
          <a:lstStyle/>
          <a:p>
            <a:pPr marL="0" indent="0" algn="ctr">
              <a:buNone/>
            </a:pPr>
            <a:r>
              <a:rPr lang="en-US" sz="1200" b="1" dirty="0">
                <a:solidFill>
                  <a:srgbClr val="BDC4C9"/>
                </a:solidFill>
                <a:latin typeface="Arial" pitchFamily="34" charset="0"/>
                <a:ea typeface="Arial" pitchFamily="34" charset="-122"/>
                <a:cs typeface="Arial" pitchFamily="34" charset="-120"/>
              </a:rPr>
              <a:t>NO</a:t>
            </a:r>
            <a:endParaRPr lang="en-US" sz="1200" dirty="0"/>
          </a:p>
        </p:txBody>
      </p:sp>
      <p:sp>
        <p:nvSpPr>
          <p:cNvPr id="38" name="Text 36"/>
          <p:cNvSpPr/>
          <p:nvPr/>
        </p:nvSpPr>
        <p:spPr>
          <a:xfrm>
            <a:off x="548640" y="6035040"/>
            <a:ext cx="10954512" cy="219456"/>
          </a:xfrm>
          <a:prstGeom prst="rect">
            <a:avLst/>
          </a:prstGeom>
          <a:noFill/>
          <a:ln/>
        </p:spPr>
        <p:txBody>
          <a:bodyPr wrap="square" lIns="0" tIns="0" rIns="0" bIns="0" rtlCol="0" anchor="t">
            <a:normAutofit/>
          </a:bodyPr>
          <a:lstStyle/>
          <a:p>
            <a:pPr marL="0" indent="0" algn="l">
              <a:buNone/>
            </a:pPr>
            <a:r>
              <a:rPr lang="en-US" sz="840" dirty="0">
                <a:solidFill>
                  <a:srgbClr val="BDC4C9"/>
                </a:solidFill>
                <a:latin typeface="Arial" pitchFamily="34" charset="0"/>
                <a:ea typeface="Arial" pitchFamily="34" charset="-122"/>
                <a:cs typeface="Arial" pitchFamily="34" charset="-120"/>
              </a:rPr>
              <a:t>Proposed access pattern / distinct private relationships and explicitly selected collaboration.</a:t>
            </a:r>
            <a:endParaRPr lang="en-US" sz="8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4282C"/>
        </a:solidFill>
        <a:effectLst/>
      </p:bgPr>
    </p:bg>
    <p:spTree>
      <p:nvGrpSpPr>
        <p:cNvPr id="1" name=""/>
        <p:cNvGrpSpPr/>
        <p:nvPr/>
      </p:nvGrpSpPr>
      <p:grpSpPr>
        <a:xfrm>
          <a:off x="0" y="0"/>
          <a:ext cx="0" cy="0"/>
          <a:chOff x="0" y="0"/>
          <a:chExt cx="0" cy="0"/>
        </a:xfrm>
      </p:grpSpPr>
      <p:sp>
        <p:nvSpPr>
          <p:cNvPr id="2" name="Text 0"/>
          <p:cNvSpPr/>
          <p:nvPr/>
        </p:nvSpPr>
        <p:spPr>
          <a:xfrm>
            <a:off x="484632" y="173736"/>
            <a:ext cx="2743200" cy="201168"/>
          </a:xfrm>
          <a:prstGeom prst="rect">
            <a:avLst/>
          </a:prstGeom>
          <a:noFill/>
          <a:ln/>
        </p:spPr>
        <p:txBody>
          <a:bodyPr wrap="square" lIns="0" tIns="0" rIns="0" bIns="0" rtlCol="0" anchor="t">
            <a:normAutofit/>
          </a:bodyPr>
          <a:lstStyle/>
          <a:p>
            <a:pPr marL="0" indent="0" algn="l">
              <a:buNone/>
            </a:pPr>
            <a:r>
              <a:rPr lang="en-US" sz="1000" b="1" dirty="0">
                <a:solidFill>
                  <a:srgbClr val="F5F6F7"/>
                </a:solidFill>
                <a:latin typeface="Arial" pitchFamily="34" charset="0"/>
                <a:ea typeface="Arial" pitchFamily="34" charset="-122"/>
                <a:cs typeface="Arial" pitchFamily="34" charset="-120"/>
              </a:rPr>
              <a:t>ISUZU / UNIVERSE</a:t>
            </a:r>
            <a:endParaRPr lang="en-US" sz="1000" dirty="0"/>
          </a:p>
        </p:txBody>
      </p:sp>
      <p:sp>
        <p:nvSpPr>
          <p:cNvPr id="3" name="Text 1"/>
          <p:cNvSpPr/>
          <p:nvPr/>
        </p:nvSpPr>
        <p:spPr>
          <a:xfrm>
            <a:off x="8046720" y="173736"/>
            <a:ext cx="3657600" cy="201168"/>
          </a:xfrm>
          <a:prstGeom prst="rect">
            <a:avLst/>
          </a:prstGeom>
          <a:noFill/>
          <a:ln/>
        </p:spPr>
        <p:txBody>
          <a:bodyPr wrap="square" lIns="0" tIns="0" rIns="0" bIns="0" rtlCol="0" anchor="t">
            <a:normAutofit/>
          </a:bodyPr>
          <a:lstStyle/>
          <a:p>
            <a:pPr marL="0" indent="0" algn="r">
              <a:buNone/>
            </a:pPr>
            <a:r>
              <a:rPr lang="en-US" sz="900" dirty="0">
                <a:solidFill>
                  <a:srgbClr val="BDC4C9"/>
                </a:solidFill>
                <a:latin typeface="Arial" pitchFamily="34" charset="0"/>
                <a:ea typeface="Arial" pitchFamily="34" charset="-122"/>
                <a:cs typeface="Arial" pitchFamily="34" charset="-120"/>
              </a:rPr>
              <a:t>COMMERCIAL VISION  /  3.0</a:t>
            </a:r>
            <a:endParaRPr lang="en-US" sz="900" dirty="0"/>
          </a:p>
        </p:txBody>
      </p:sp>
      <p:sp>
        <p:nvSpPr>
          <p:cNvPr id="4" name="Shape 2"/>
          <p:cNvSpPr/>
          <p:nvPr/>
        </p:nvSpPr>
        <p:spPr>
          <a:xfrm>
            <a:off x="484632" y="512064"/>
            <a:ext cx="475488" cy="22860"/>
          </a:xfrm>
          <a:prstGeom prst="rect">
            <a:avLst/>
          </a:prstGeom>
          <a:solidFill>
            <a:srgbClr val="D71920"/>
          </a:solidFill>
          <a:ln w="12700">
            <a:solidFill>
              <a:srgbClr val="D71920">
                <a:alpha val="0"/>
              </a:srgbClr>
            </a:solidFill>
            <a:prstDash val="solid"/>
          </a:ln>
        </p:spPr>
        <p:txBody>
          <a:bodyPr/>
          <a:lstStyle/>
          <a:p>
            <a:endParaRPr lang="nl-NL"/>
          </a:p>
        </p:txBody>
      </p:sp>
      <p:sp>
        <p:nvSpPr>
          <p:cNvPr id="5" name="Text 3"/>
          <p:cNvSpPr/>
          <p:nvPr/>
        </p:nvSpPr>
        <p:spPr>
          <a:xfrm>
            <a:off x="484632" y="658368"/>
            <a:ext cx="11064240" cy="219456"/>
          </a:xfrm>
          <a:prstGeom prst="rect">
            <a:avLst/>
          </a:prstGeom>
          <a:noFill/>
          <a:ln/>
        </p:spPr>
        <p:txBody>
          <a:bodyPr wrap="square" lIns="0" tIns="0" rIns="0" bIns="0" rtlCol="0" anchor="t">
            <a:normAutofit/>
          </a:bodyPr>
          <a:lstStyle/>
          <a:p>
            <a:pPr marL="0" indent="0" algn="l">
              <a:buNone/>
            </a:pPr>
            <a:r>
              <a:rPr lang="en-US" sz="1000" b="1" dirty="0">
                <a:solidFill>
                  <a:srgbClr val="D71920"/>
                </a:solidFill>
                <a:latin typeface="Arial" pitchFamily="34" charset="0"/>
                <a:ea typeface="Arial" pitchFamily="34" charset="-122"/>
                <a:cs typeface="Arial" pitchFamily="34" charset="-120"/>
              </a:rPr>
              <a:t>POSITIVE DYNAMICS</a:t>
            </a:r>
            <a:endParaRPr lang="en-US" sz="1000" dirty="0"/>
          </a:p>
        </p:txBody>
      </p:sp>
      <p:sp>
        <p:nvSpPr>
          <p:cNvPr id="6" name="Shape 4"/>
          <p:cNvSpPr/>
          <p:nvPr/>
        </p:nvSpPr>
        <p:spPr>
          <a:xfrm>
            <a:off x="484632" y="6446520"/>
            <a:ext cx="11219688" cy="914"/>
          </a:xfrm>
          <a:prstGeom prst="line">
            <a:avLst/>
          </a:prstGeom>
          <a:noFill/>
          <a:ln w="6350">
            <a:solidFill>
              <a:srgbClr val="647078"/>
            </a:solidFill>
            <a:prstDash val="solid"/>
          </a:ln>
        </p:spPr>
        <p:txBody>
          <a:bodyPr/>
          <a:lstStyle/>
          <a:p>
            <a:endParaRPr lang="nl-NL"/>
          </a:p>
        </p:txBody>
      </p:sp>
      <p:sp>
        <p:nvSpPr>
          <p:cNvPr id="7" name="Text 5"/>
          <p:cNvSpPr/>
          <p:nvPr/>
        </p:nvSpPr>
        <p:spPr>
          <a:xfrm>
            <a:off x="484632" y="6556248"/>
            <a:ext cx="9144000" cy="146304"/>
          </a:xfrm>
          <a:prstGeom prst="rect">
            <a:avLst/>
          </a:prstGeom>
          <a:noFill/>
          <a:ln/>
        </p:spPr>
        <p:txBody>
          <a:bodyPr wrap="square" lIns="0" tIns="0" rIns="0" bIns="0" rtlCol="0" anchor="t">
            <a:normAutofit/>
          </a:bodyPr>
          <a:lstStyle/>
          <a:p>
            <a:pPr marL="0" indent="0" algn="l">
              <a:buNone/>
            </a:pPr>
            <a:r>
              <a:rPr lang="en-US" sz="750" dirty="0">
                <a:solidFill>
                  <a:srgbClr val="BDC4C9"/>
                </a:solidFill>
                <a:latin typeface="Arial" pitchFamily="34" charset="0"/>
                <a:ea typeface="Arial" pitchFamily="34" charset="-122"/>
                <a:cs typeface="Arial" pitchFamily="34" charset="-120"/>
              </a:rPr>
              <a:t>22 SEPTEMBER 2026  /  CONCEPT AND APPLICATION EXAMPLES</a:t>
            </a:r>
            <a:endParaRPr lang="en-US" sz="750" dirty="0"/>
          </a:p>
        </p:txBody>
      </p:sp>
      <p:sp>
        <p:nvSpPr>
          <p:cNvPr id="8" name="Text 6"/>
          <p:cNvSpPr/>
          <p:nvPr/>
        </p:nvSpPr>
        <p:spPr>
          <a:xfrm>
            <a:off x="10789920" y="6547104"/>
            <a:ext cx="914400" cy="173736"/>
          </a:xfrm>
          <a:prstGeom prst="rect">
            <a:avLst/>
          </a:prstGeom>
          <a:noFill/>
          <a:ln/>
        </p:spPr>
        <p:txBody>
          <a:bodyPr wrap="square" lIns="0" tIns="0" rIns="0" bIns="0" rtlCol="0" anchor="t">
            <a:normAutofit/>
          </a:bodyPr>
          <a:lstStyle/>
          <a:p>
            <a:pPr marL="0" indent="0" algn="r">
              <a:buNone/>
            </a:pPr>
            <a:r>
              <a:rPr lang="en-US" sz="850" dirty="0">
                <a:solidFill>
                  <a:srgbClr val="BDC4C9"/>
                </a:solidFill>
                <a:latin typeface="Arial" pitchFamily="34" charset="0"/>
                <a:ea typeface="Arial" pitchFamily="34" charset="-122"/>
                <a:cs typeface="Arial" pitchFamily="34" charset="-120"/>
              </a:rPr>
              <a:t>05 / 49</a:t>
            </a:r>
            <a:endParaRPr lang="en-US" sz="850" dirty="0"/>
          </a:p>
        </p:txBody>
      </p:sp>
      <p:sp>
        <p:nvSpPr>
          <p:cNvPr id="9" name="Text 7"/>
          <p:cNvSpPr/>
          <p:nvPr/>
        </p:nvSpPr>
        <p:spPr>
          <a:xfrm>
            <a:off x="502920" y="1005840"/>
            <a:ext cx="11036808" cy="841248"/>
          </a:xfrm>
          <a:prstGeom prst="rect">
            <a:avLst/>
          </a:prstGeom>
          <a:noFill/>
          <a:ln/>
        </p:spPr>
        <p:txBody>
          <a:bodyPr wrap="square" lIns="0" tIns="0" rIns="0" bIns="0" rtlCol="0" anchor="t">
            <a:normAutofit/>
          </a:bodyPr>
          <a:lstStyle/>
          <a:p>
            <a:pPr marL="0" indent="0" algn="l">
              <a:buNone/>
            </a:pPr>
            <a:r>
              <a:rPr lang="en-US" sz="3400" b="1" dirty="0">
                <a:solidFill>
                  <a:srgbClr val="F5F6F7"/>
                </a:solidFill>
                <a:latin typeface="Arial" pitchFamily="34" charset="0"/>
                <a:ea typeface="Arial" pitchFamily="34" charset="-122"/>
                <a:cs typeface="Arial" pitchFamily="34" charset="-120"/>
              </a:rPr>
              <a:t>Useful tools earn better context.</a:t>
            </a:r>
            <a:endParaRPr lang="en-US" sz="3400" dirty="0"/>
          </a:p>
        </p:txBody>
      </p:sp>
      <p:sp>
        <p:nvSpPr>
          <p:cNvPr id="10" name="Text 8"/>
          <p:cNvSpPr/>
          <p:nvPr/>
        </p:nvSpPr>
        <p:spPr>
          <a:xfrm>
            <a:off x="530352" y="1865376"/>
            <a:ext cx="10954512" cy="566928"/>
          </a:xfrm>
          <a:prstGeom prst="rect">
            <a:avLst/>
          </a:prstGeom>
          <a:noFill/>
          <a:ln/>
        </p:spPr>
        <p:txBody>
          <a:bodyPr wrap="square" lIns="0" tIns="0" rIns="0" bIns="0" rtlCol="0" anchor="t">
            <a:normAutofit/>
          </a:bodyPr>
          <a:lstStyle/>
          <a:p>
            <a:pPr marL="0" indent="0" algn="l">
              <a:buNone/>
            </a:pPr>
            <a:r>
              <a:rPr lang="en-US" sz="1800" dirty="0">
                <a:solidFill>
                  <a:srgbClr val="BDC4C9"/>
                </a:solidFill>
                <a:latin typeface="Arial" pitchFamily="34" charset="0"/>
                <a:ea typeface="Arial" pitchFamily="34" charset="-122"/>
                <a:cs typeface="Arial" pitchFamily="34" charset="-120"/>
              </a:rPr>
              <a:t>Visible value creates a reason to return. A relevant contribution improves the next analysis.</a:t>
            </a:r>
            <a:endParaRPr lang="en-US" sz="1800" dirty="0"/>
          </a:p>
        </p:txBody>
      </p:sp>
      <p:sp>
        <p:nvSpPr>
          <p:cNvPr id="11" name="Shape 9"/>
          <p:cNvSpPr/>
          <p:nvPr/>
        </p:nvSpPr>
        <p:spPr>
          <a:xfrm>
            <a:off x="7008051" y="3497180"/>
            <a:ext cx="511091" cy="187019"/>
          </a:xfrm>
          <a:prstGeom prst="line">
            <a:avLst/>
          </a:prstGeom>
          <a:noFill/>
          <a:ln w="14471">
            <a:solidFill>
              <a:srgbClr val="D71920"/>
            </a:solidFill>
            <a:prstDash val="solid"/>
            <a:tailEnd type="triangle"/>
          </a:ln>
        </p:spPr>
        <p:txBody>
          <a:bodyPr/>
          <a:lstStyle/>
          <a:p>
            <a:endParaRPr lang="nl-NL"/>
          </a:p>
        </p:txBody>
      </p:sp>
      <p:sp>
        <p:nvSpPr>
          <p:cNvPr id="12" name="Shape 10"/>
          <p:cNvSpPr/>
          <p:nvPr/>
        </p:nvSpPr>
        <p:spPr>
          <a:xfrm flipH="1">
            <a:off x="7967241" y="4592326"/>
            <a:ext cx="235210" cy="348326"/>
          </a:xfrm>
          <a:prstGeom prst="line">
            <a:avLst/>
          </a:prstGeom>
          <a:noFill/>
          <a:ln w="14471">
            <a:solidFill>
              <a:srgbClr val="D71920"/>
            </a:solidFill>
            <a:prstDash val="solid"/>
            <a:tailEnd type="triangle"/>
          </a:ln>
        </p:spPr>
        <p:txBody>
          <a:bodyPr/>
          <a:lstStyle/>
          <a:p>
            <a:endParaRPr lang="nl-NL"/>
          </a:p>
        </p:txBody>
      </p:sp>
      <p:sp>
        <p:nvSpPr>
          <p:cNvPr id="13" name="Shape 11"/>
          <p:cNvSpPr/>
          <p:nvPr/>
        </p:nvSpPr>
        <p:spPr>
          <a:xfrm flipH="1">
            <a:off x="5411260" y="5468351"/>
            <a:ext cx="1092589" cy="914"/>
          </a:xfrm>
          <a:prstGeom prst="line">
            <a:avLst/>
          </a:prstGeom>
          <a:noFill/>
          <a:ln w="14471">
            <a:solidFill>
              <a:srgbClr val="D71920"/>
            </a:solidFill>
            <a:prstDash val="solid"/>
            <a:tailEnd type="triangle"/>
          </a:ln>
        </p:spPr>
        <p:txBody>
          <a:bodyPr/>
          <a:lstStyle/>
          <a:p>
            <a:endParaRPr lang="nl-NL"/>
          </a:p>
        </p:txBody>
      </p:sp>
      <p:sp>
        <p:nvSpPr>
          <p:cNvPr id="14" name="Shape 12"/>
          <p:cNvSpPr/>
          <p:nvPr/>
        </p:nvSpPr>
        <p:spPr>
          <a:xfrm flipH="1" flipV="1">
            <a:off x="3807050" y="4614836"/>
            <a:ext cx="176668" cy="303306"/>
          </a:xfrm>
          <a:prstGeom prst="line">
            <a:avLst/>
          </a:prstGeom>
          <a:noFill/>
          <a:ln w="14471">
            <a:solidFill>
              <a:srgbClr val="D71920"/>
            </a:solidFill>
            <a:prstDash val="solid"/>
            <a:tailEnd type="triangle"/>
          </a:ln>
        </p:spPr>
        <p:txBody>
          <a:bodyPr/>
          <a:lstStyle/>
          <a:p>
            <a:endParaRPr lang="nl-NL"/>
          </a:p>
        </p:txBody>
      </p:sp>
      <p:sp>
        <p:nvSpPr>
          <p:cNvPr id="15" name="Shape 13"/>
          <p:cNvSpPr/>
          <p:nvPr/>
        </p:nvSpPr>
        <p:spPr>
          <a:xfrm flipV="1">
            <a:off x="4520767" y="3511738"/>
            <a:ext cx="413442" cy="157903"/>
          </a:xfrm>
          <a:prstGeom prst="line">
            <a:avLst/>
          </a:prstGeom>
          <a:noFill/>
          <a:ln w="14471">
            <a:solidFill>
              <a:srgbClr val="D71920"/>
            </a:solidFill>
            <a:prstDash val="solid"/>
            <a:tailEnd type="triangle"/>
          </a:ln>
        </p:spPr>
        <p:txBody>
          <a:bodyPr/>
          <a:lstStyle/>
          <a:p>
            <a:endParaRPr lang="nl-NL"/>
          </a:p>
        </p:txBody>
      </p:sp>
      <p:sp>
        <p:nvSpPr>
          <p:cNvPr id="16" name="Shape 14"/>
          <p:cNvSpPr/>
          <p:nvPr/>
        </p:nvSpPr>
        <p:spPr>
          <a:xfrm>
            <a:off x="4926469" y="2718789"/>
            <a:ext cx="2083878" cy="803161"/>
          </a:xfrm>
          <a:prstGeom prst="roundRect">
            <a:avLst>
              <a:gd name="adj" fmla="val 4554"/>
            </a:avLst>
          </a:prstGeom>
          <a:solidFill>
            <a:srgbClr val="30363B"/>
          </a:solidFill>
          <a:ln w="8890">
            <a:solidFill>
              <a:srgbClr val="D71920"/>
            </a:solidFill>
            <a:prstDash val="solid"/>
          </a:ln>
        </p:spPr>
        <p:txBody>
          <a:bodyPr/>
          <a:lstStyle/>
          <a:p>
            <a:endParaRPr lang="nl-NL"/>
          </a:p>
        </p:txBody>
      </p:sp>
      <p:sp>
        <p:nvSpPr>
          <p:cNvPr id="17" name="Text 15"/>
          <p:cNvSpPr/>
          <p:nvPr/>
        </p:nvSpPr>
        <p:spPr>
          <a:xfrm>
            <a:off x="5035004" y="2812853"/>
            <a:ext cx="1866807" cy="274956"/>
          </a:xfrm>
          <a:prstGeom prst="rect">
            <a:avLst/>
          </a:prstGeom>
          <a:noFill/>
          <a:ln/>
        </p:spPr>
        <p:txBody>
          <a:bodyPr wrap="square" lIns="0" tIns="0" rIns="0" bIns="0" rtlCol="0" anchor="t">
            <a:normAutofit/>
          </a:bodyPr>
          <a:lstStyle/>
          <a:p>
            <a:pPr marL="0" indent="0" algn="l">
              <a:buNone/>
            </a:pPr>
            <a:r>
              <a:rPr lang="en-US" sz="1310" b="1" dirty="0">
                <a:solidFill>
                  <a:srgbClr val="F5F6F7"/>
                </a:solidFill>
                <a:latin typeface="Arial" pitchFamily="34" charset="0"/>
                <a:ea typeface="Arial" pitchFamily="34" charset="-122"/>
                <a:cs typeface="Arial" pitchFamily="34" charset="-120"/>
              </a:rPr>
              <a:t>Useful tool</a:t>
            </a:r>
            <a:endParaRPr lang="en-US" sz="1310" dirty="0"/>
          </a:p>
        </p:txBody>
      </p:sp>
      <p:sp>
        <p:nvSpPr>
          <p:cNvPr id="18" name="Text 16"/>
          <p:cNvSpPr/>
          <p:nvPr/>
        </p:nvSpPr>
        <p:spPr>
          <a:xfrm>
            <a:off x="5035004" y="3095045"/>
            <a:ext cx="1866807" cy="405198"/>
          </a:xfrm>
          <a:prstGeom prst="rect">
            <a:avLst/>
          </a:prstGeom>
          <a:noFill/>
          <a:ln/>
        </p:spPr>
        <p:txBody>
          <a:bodyPr wrap="square" lIns="0" tIns="0" rIns="0" bIns="0" rtlCol="0" anchor="t">
            <a:normAutofit/>
          </a:bodyPr>
          <a:lstStyle/>
          <a:p>
            <a:pPr marL="0" indent="0" algn="l">
              <a:buNone/>
            </a:pPr>
            <a:r>
              <a:rPr lang="en-US" sz="1026" dirty="0">
                <a:solidFill>
                  <a:srgbClr val="BDC4C9"/>
                </a:solidFill>
                <a:latin typeface="Arial" pitchFamily="34" charset="0"/>
                <a:ea typeface="Arial" pitchFamily="34" charset="-122"/>
                <a:cs typeface="Arial" pitchFamily="34" charset="-120"/>
              </a:rPr>
              <a:t>Relevant commercial work</a:t>
            </a:r>
            <a:endParaRPr lang="en-US" sz="1026" dirty="0"/>
          </a:p>
        </p:txBody>
      </p:sp>
      <p:sp>
        <p:nvSpPr>
          <p:cNvPr id="19" name="Shape 17"/>
          <p:cNvSpPr/>
          <p:nvPr/>
        </p:nvSpPr>
        <p:spPr>
          <a:xfrm>
            <a:off x="7516845" y="3666664"/>
            <a:ext cx="2083878" cy="803161"/>
          </a:xfrm>
          <a:prstGeom prst="roundRect">
            <a:avLst>
              <a:gd name="adj" fmla="val 4554"/>
            </a:avLst>
          </a:prstGeom>
          <a:solidFill>
            <a:srgbClr val="30363B"/>
          </a:solidFill>
          <a:ln w="8890">
            <a:solidFill>
              <a:srgbClr val="48525B"/>
            </a:solidFill>
            <a:prstDash val="solid"/>
          </a:ln>
        </p:spPr>
        <p:txBody>
          <a:bodyPr/>
          <a:lstStyle/>
          <a:p>
            <a:endParaRPr lang="nl-NL"/>
          </a:p>
        </p:txBody>
      </p:sp>
      <p:sp>
        <p:nvSpPr>
          <p:cNvPr id="20" name="Text 18"/>
          <p:cNvSpPr/>
          <p:nvPr/>
        </p:nvSpPr>
        <p:spPr>
          <a:xfrm>
            <a:off x="7625380" y="3760728"/>
            <a:ext cx="1866807" cy="274956"/>
          </a:xfrm>
          <a:prstGeom prst="rect">
            <a:avLst/>
          </a:prstGeom>
          <a:noFill/>
          <a:ln/>
        </p:spPr>
        <p:txBody>
          <a:bodyPr wrap="square" lIns="0" tIns="0" rIns="0" bIns="0" rtlCol="0" anchor="t">
            <a:normAutofit/>
          </a:bodyPr>
          <a:lstStyle/>
          <a:p>
            <a:pPr marL="0" indent="0" algn="l">
              <a:buNone/>
            </a:pPr>
            <a:r>
              <a:rPr lang="en-US" sz="1310" b="1" dirty="0">
                <a:solidFill>
                  <a:srgbClr val="F5F6F7"/>
                </a:solidFill>
                <a:latin typeface="Arial" pitchFamily="34" charset="0"/>
                <a:ea typeface="Arial" pitchFamily="34" charset="-122"/>
                <a:cs typeface="Arial" pitchFamily="34" charset="-120"/>
              </a:rPr>
              <a:t>Better choice</a:t>
            </a:r>
            <a:endParaRPr lang="en-US" sz="1310" dirty="0"/>
          </a:p>
        </p:txBody>
      </p:sp>
      <p:sp>
        <p:nvSpPr>
          <p:cNvPr id="21" name="Text 19"/>
          <p:cNvSpPr/>
          <p:nvPr/>
        </p:nvSpPr>
        <p:spPr>
          <a:xfrm>
            <a:off x="7625380" y="4042920"/>
            <a:ext cx="1866807" cy="405198"/>
          </a:xfrm>
          <a:prstGeom prst="rect">
            <a:avLst/>
          </a:prstGeom>
          <a:noFill/>
          <a:ln/>
        </p:spPr>
        <p:txBody>
          <a:bodyPr wrap="square" lIns="0" tIns="0" rIns="0" bIns="0" rtlCol="0" anchor="t">
            <a:normAutofit/>
          </a:bodyPr>
          <a:lstStyle/>
          <a:p>
            <a:pPr marL="0" indent="0" algn="l">
              <a:buNone/>
            </a:pPr>
            <a:r>
              <a:rPr lang="en-US" sz="1026" dirty="0">
                <a:solidFill>
                  <a:srgbClr val="BDC4C9"/>
                </a:solidFill>
                <a:latin typeface="Arial" pitchFamily="34" charset="0"/>
                <a:ea typeface="Arial" pitchFamily="34" charset="-122"/>
                <a:cs typeface="Arial" pitchFamily="34" charset="-120"/>
              </a:rPr>
              <a:t>A usable output or decision</a:t>
            </a:r>
            <a:endParaRPr lang="en-US" sz="1026" dirty="0"/>
          </a:p>
        </p:txBody>
      </p:sp>
      <p:sp>
        <p:nvSpPr>
          <p:cNvPr id="22" name="Shape 20"/>
          <p:cNvSpPr/>
          <p:nvPr/>
        </p:nvSpPr>
        <p:spPr>
          <a:xfrm>
            <a:off x="6568970" y="5070388"/>
            <a:ext cx="2083878" cy="803161"/>
          </a:xfrm>
          <a:prstGeom prst="roundRect">
            <a:avLst>
              <a:gd name="adj" fmla="val 4554"/>
            </a:avLst>
          </a:prstGeom>
          <a:solidFill>
            <a:srgbClr val="30363B"/>
          </a:solidFill>
          <a:ln w="8890">
            <a:solidFill>
              <a:srgbClr val="48525B"/>
            </a:solidFill>
            <a:prstDash val="solid"/>
          </a:ln>
        </p:spPr>
        <p:txBody>
          <a:bodyPr/>
          <a:lstStyle/>
          <a:p>
            <a:endParaRPr lang="nl-NL"/>
          </a:p>
        </p:txBody>
      </p:sp>
      <p:sp>
        <p:nvSpPr>
          <p:cNvPr id="23" name="Text 21"/>
          <p:cNvSpPr/>
          <p:nvPr/>
        </p:nvSpPr>
        <p:spPr>
          <a:xfrm>
            <a:off x="6677505" y="5164452"/>
            <a:ext cx="1866807" cy="274956"/>
          </a:xfrm>
          <a:prstGeom prst="rect">
            <a:avLst/>
          </a:prstGeom>
          <a:noFill/>
          <a:ln/>
        </p:spPr>
        <p:txBody>
          <a:bodyPr wrap="square" lIns="0" tIns="0" rIns="0" bIns="0" rtlCol="0" anchor="t">
            <a:normAutofit/>
          </a:bodyPr>
          <a:lstStyle/>
          <a:p>
            <a:pPr marL="0" indent="0" algn="l">
              <a:buNone/>
            </a:pPr>
            <a:r>
              <a:rPr lang="en-US" sz="1310" b="1" dirty="0">
                <a:solidFill>
                  <a:srgbClr val="F5F6F7"/>
                </a:solidFill>
                <a:latin typeface="Arial" pitchFamily="34" charset="0"/>
                <a:ea typeface="Arial" pitchFamily="34" charset="-122"/>
                <a:cs typeface="Arial" pitchFamily="34" charset="-120"/>
              </a:rPr>
              <a:t>Visible value</a:t>
            </a:r>
            <a:endParaRPr lang="en-US" sz="1310" dirty="0"/>
          </a:p>
        </p:txBody>
      </p:sp>
      <p:sp>
        <p:nvSpPr>
          <p:cNvPr id="24" name="Text 22"/>
          <p:cNvSpPr/>
          <p:nvPr/>
        </p:nvSpPr>
        <p:spPr>
          <a:xfrm>
            <a:off x="6677505" y="5446643"/>
            <a:ext cx="1866807" cy="405198"/>
          </a:xfrm>
          <a:prstGeom prst="rect">
            <a:avLst/>
          </a:prstGeom>
          <a:noFill/>
          <a:ln/>
        </p:spPr>
        <p:txBody>
          <a:bodyPr wrap="square" lIns="0" tIns="0" rIns="0" bIns="0" rtlCol="0" anchor="t">
            <a:normAutofit/>
          </a:bodyPr>
          <a:lstStyle/>
          <a:p>
            <a:pPr marL="0" indent="0" algn="l">
              <a:buNone/>
            </a:pPr>
            <a:r>
              <a:rPr lang="en-US" sz="1026" dirty="0">
                <a:solidFill>
                  <a:srgbClr val="BDC4C9"/>
                </a:solidFill>
                <a:latin typeface="Arial" pitchFamily="34" charset="0"/>
                <a:ea typeface="Arial" pitchFamily="34" charset="-122"/>
                <a:cs typeface="Arial" pitchFamily="34" charset="-120"/>
              </a:rPr>
              <a:t>The participant can explain it</a:t>
            </a:r>
            <a:endParaRPr lang="en-US" sz="1026" dirty="0"/>
          </a:p>
        </p:txBody>
      </p:sp>
      <p:sp>
        <p:nvSpPr>
          <p:cNvPr id="25" name="Shape 23"/>
          <p:cNvSpPr/>
          <p:nvPr/>
        </p:nvSpPr>
        <p:spPr>
          <a:xfrm>
            <a:off x="3262261" y="5070388"/>
            <a:ext cx="2083878" cy="803161"/>
          </a:xfrm>
          <a:prstGeom prst="roundRect">
            <a:avLst>
              <a:gd name="adj" fmla="val 4554"/>
            </a:avLst>
          </a:prstGeom>
          <a:solidFill>
            <a:srgbClr val="30363B"/>
          </a:solidFill>
          <a:ln w="8890">
            <a:solidFill>
              <a:srgbClr val="48525B"/>
            </a:solidFill>
            <a:prstDash val="solid"/>
          </a:ln>
        </p:spPr>
        <p:txBody>
          <a:bodyPr/>
          <a:lstStyle/>
          <a:p>
            <a:endParaRPr lang="nl-NL"/>
          </a:p>
        </p:txBody>
      </p:sp>
      <p:sp>
        <p:nvSpPr>
          <p:cNvPr id="26" name="Text 24"/>
          <p:cNvSpPr/>
          <p:nvPr/>
        </p:nvSpPr>
        <p:spPr>
          <a:xfrm>
            <a:off x="3370796" y="5164452"/>
            <a:ext cx="1866807" cy="274956"/>
          </a:xfrm>
          <a:prstGeom prst="rect">
            <a:avLst/>
          </a:prstGeom>
          <a:noFill/>
          <a:ln/>
        </p:spPr>
        <p:txBody>
          <a:bodyPr wrap="square" lIns="0" tIns="0" rIns="0" bIns="0" rtlCol="0" anchor="t">
            <a:normAutofit/>
          </a:bodyPr>
          <a:lstStyle/>
          <a:p>
            <a:pPr marL="0" indent="0" algn="l">
              <a:buNone/>
            </a:pPr>
            <a:r>
              <a:rPr lang="en-US" sz="1310" b="1" dirty="0">
                <a:solidFill>
                  <a:srgbClr val="F5F6F7"/>
                </a:solidFill>
                <a:latin typeface="Arial" pitchFamily="34" charset="0"/>
                <a:ea typeface="Arial" pitchFamily="34" charset="-122"/>
                <a:cs typeface="Arial" pitchFamily="34" charset="-120"/>
              </a:rPr>
              <a:t>Repeat use</a:t>
            </a:r>
            <a:endParaRPr lang="en-US" sz="1310" dirty="0"/>
          </a:p>
        </p:txBody>
      </p:sp>
      <p:sp>
        <p:nvSpPr>
          <p:cNvPr id="27" name="Text 25"/>
          <p:cNvSpPr/>
          <p:nvPr/>
        </p:nvSpPr>
        <p:spPr>
          <a:xfrm>
            <a:off x="3370796" y="5446643"/>
            <a:ext cx="1866807" cy="405198"/>
          </a:xfrm>
          <a:prstGeom prst="rect">
            <a:avLst/>
          </a:prstGeom>
          <a:noFill/>
          <a:ln/>
        </p:spPr>
        <p:txBody>
          <a:bodyPr wrap="square" lIns="0" tIns="0" rIns="0" bIns="0" rtlCol="0" anchor="t">
            <a:normAutofit/>
          </a:bodyPr>
          <a:lstStyle/>
          <a:p>
            <a:pPr marL="0" indent="0" algn="l">
              <a:buNone/>
            </a:pPr>
            <a:r>
              <a:rPr lang="en-US" sz="1026" dirty="0">
                <a:solidFill>
                  <a:srgbClr val="BDC4C9"/>
                </a:solidFill>
                <a:latin typeface="Arial" pitchFamily="34" charset="0"/>
                <a:ea typeface="Arial" pitchFamily="34" charset="-122"/>
                <a:cs typeface="Arial" pitchFamily="34" charset="-120"/>
              </a:rPr>
              <a:t>Another eligible task</a:t>
            </a:r>
            <a:endParaRPr lang="en-US" sz="1026" dirty="0"/>
          </a:p>
        </p:txBody>
      </p:sp>
      <p:sp>
        <p:nvSpPr>
          <p:cNvPr id="28" name="Shape 26"/>
          <p:cNvSpPr/>
          <p:nvPr/>
        </p:nvSpPr>
        <p:spPr>
          <a:xfrm>
            <a:off x="2444629" y="3666664"/>
            <a:ext cx="2083878" cy="803161"/>
          </a:xfrm>
          <a:prstGeom prst="roundRect">
            <a:avLst>
              <a:gd name="adj" fmla="val 4554"/>
            </a:avLst>
          </a:prstGeom>
          <a:solidFill>
            <a:srgbClr val="30363B"/>
          </a:solidFill>
          <a:ln w="8890">
            <a:solidFill>
              <a:srgbClr val="48525B"/>
            </a:solidFill>
            <a:prstDash val="solid"/>
          </a:ln>
        </p:spPr>
        <p:txBody>
          <a:bodyPr/>
          <a:lstStyle/>
          <a:p>
            <a:endParaRPr lang="nl-NL"/>
          </a:p>
        </p:txBody>
      </p:sp>
      <p:sp>
        <p:nvSpPr>
          <p:cNvPr id="29" name="Text 27"/>
          <p:cNvSpPr/>
          <p:nvPr/>
        </p:nvSpPr>
        <p:spPr>
          <a:xfrm>
            <a:off x="2553164" y="3760728"/>
            <a:ext cx="1866807" cy="274956"/>
          </a:xfrm>
          <a:prstGeom prst="rect">
            <a:avLst/>
          </a:prstGeom>
          <a:noFill/>
          <a:ln/>
        </p:spPr>
        <p:txBody>
          <a:bodyPr wrap="square" lIns="0" tIns="0" rIns="0" bIns="0" rtlCol="0" anchor="t">
            <a:normAutofit/>
          </a:bodyPr>
          <a:lstStyle/>
          <a:p>
            <a:pPr marL="0" indent="0" algn="l">
              <a:buNone/>
            </a:pPr>
            <a:r>
              <a:rPr lang="en-US" sz="1310" b="1" dirty="0">
                <a:solidFill>
                  <a:srgbClr val="F5F6F7"/>
                </a:solidFill>
                <a:latin typeface="Arial" pitchFamily="34" charset="0"/>
                <a:ea typeface="Arial" pitchFamily="34" charset="-122"/>
                <a:cs typeface="Arial" pitchFamily="34" charset="-120"/>
              </a:rPr>
              <a:t>Better context</a:t>
            </a:r>
            <a:endParaRPr lang="en-US" sz="1310" dirty="0"/>
          </a:p>
        </p:txBody>
      </p:sp>
      <p:sp>
        <p:nvSpPr>
          <p:cNvPr id="30" name="Text 28"/>
          <p:cNvSpPr/>
          <p:nvPr/>
        </p:nvSpPr>
        <p:spPr>
          <a:xfrm>
            <a:off x="2553164" y="4042920"/>
            <a:ext cx="1866807" cy="405198"/>
          </a:xfrm>
          <a:prstGeom prst="rect">
            <a:avLst/>
          </a:prstGeom>
          <a:noFill/>
          <a:ln/>
        </p:spPr>
        <p:txBody>
          <a:bodyPr wrap="square" lIns="0" tIns="0" rIns="0" bIns="0" rtlCol="0" anchor="t">
            <a:normAutofit/>
          </a:bodyPr>
          <a:lstStyle/>
          <a:p>
            <a:pPr marL="0" indent="0" algn="l">
              <a:buNone/>
            </a:pPr>
            <a:r>
              <a:rPr lang="en-US" sz="1026" dirty="0">
                <a:solidFill>
                  <a:srgbClr val="BDC4C9"/>
                </a:solidFill>
                <a:latin typeface="Arial" pitchFamily="34" charset="0"/>
                <a:ea typeface="Arial" pitchFamily="34" charset="-122"/>
                <a:cs typeface="Arial" pitchFamily="34" charset="-120"/>
              </a:rPr>
              <a:t>A correction or useful addition</a:t>
            </a:r>
            <a:endParaRPr lang="en-US" sz="1026" dirty="0"/>
          </a:p>
        </p:txBody>
      </p:sp>
      <p:sp>
        <p:nvSpPr>
          <p:cNvPr id="31" name="Text 29"/>
          <p:cNvSpPr/>
          <p:nvPr/>
        </p:nvSpPr>
        <p:spPr>
          <a:xfrm>
            <a:off x="4760048" y="4013977"/>
            <a:ext cx="2677204" cy="651212"/>
          </a:xfrm>
          <a:prstGeom prst="rect">
            <a:avLst/>
          </a:prstGeom>
          <a:noFill/>
          <a:ln/>
        </p:spPr>
        <p:txBody>
          <a:bodyPr wrap="square" lIns="0" tIns="0" rIns="0" bIns="0" rtlCol="0" anchor="t">
            <a:normAutofit/>
          </a:bodyPr>
          <a:lstStyle/>
          <a:p>
            <a:pPr marL="0" indent="0" algn="ctr">
              <a:buNone/>
            </a:pPr>
            <a:r>
              <a:rPr lang="en-US" sz="1709" b="1" dirty="0">
                <a:solidFill>
                  <a:srgbClr val="F5F6F7"/>
                </a:solidFill>
                <a:latin typeface="Arial" pitchFamily="34" charset="0"/>
                <a:ea typeface="Arial" pitchFamily="34" charset="-122"/>
                <a:cs typeface="Arial" pitchFamily="34" charset="-120"/>
              </a:rPr>
              <a:t>VALUE</a:t>
            </a:r>
            <a:endParaRPr lang="en-US" sz="1709" dirty="0"/>
          </a:p>
          <a:p>
            <a:pPr marL="0" indent="0" algn="ctr">
              <a:buNone/>
            </a:pPr>
            <a:r>
              <a:rPr lang="en-US" sz="1709" b="1" dirty="0">
                <a:solidFill>
                  <a:srgbClr val="F5F6F7"/>
                </a:solidFill>
                <a:latin typeface="Arial" pitchFamily="34" charset="0"/>
                <a:ea typeface="Arial" pitchFamily="34" charset="-122"/>
                <a:cs typeface="Arial" pitchFamily="34" charset="-120"/>
              </a:rPr>
              <a:t>THROUGH USE</a:t>
            </a:r>
            <a:endParaRPr lang="en-US" sz="1709" dirty="0"/>
          </a:p>
        </p:txBody>
      </p:sp>
      <p:sp>
        <p:nvSpPr>
          <p:cNvPr id="32" name="Text 30"/>
          <p:cNvSpPr/>
          <p:nvPr/>
        </p:nvSpPr>
        <p:spPr>
          <a:xfrm>
            <a:off x="548640" y="6035040"/>
            <a:ext cx="10954512" cy="219456"/>
          </a:xfrm>
          <a:prstGeom prst="rect">
            <a:avLst/>
          </a:prstGeom>
          <a:noFill/>
          <a:ln/>
        </p:spPr>
        <p:txBody>
          <a:bodyPr wrap="square" lIns="0" tIns="0" rIns="0" bIns="0" rtlCol="0" anchor="t">
            <a:normAutofit/>
          </a:bodyPr>
          <a:lstStyle/>
          <a:p>
            <a:pPr marL="0" indent="0" algn="l">
              <a:buNone/>
            </a:pPr>
            <a:r>
              <a:rPr lang="en-US" sz="840" dirty="0">
                <a:solidFill>
                  <a:srgbClr val="BDC4C9"/>
                </a:solidFill>
                <a:latin typeface="Arial" pitchFamily="34" charset="0"/>
                <a:ea typeface="Arial" pitchFamily="34" charset="-122"/>
                <a:cs typeface="Arial" pitchFamily="34" charset="-120"/>
              </a:rPr>
              <a:t>Proposed feedback mechanism / no measured causal effect is implied.</a:t>
            </a:r>
            <a:endParaRPr lang="en-US" sz="84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4282C"/>
        </a:solidFill>
        <a:effectLst/>
      </p:bgPr>
    </p:bg>
    <p:spTree>
      <p:nvGrpSpPr>
        <p:cNvPr id="1" name=""/>
        <p:cNvGrpSpPr/>
        <p:nvPr/>
      </p:nvGrpSpPr>
      <p:grpSpPr>
        <a:xfrm>
          <a:off x="0" y="0"/>
          <a:ext cx="0" cy="0"/>
          <a:chOff x="0" y="0"/>
          <a:chExt cx="0" cy="0"/>
        </a:xfrm>
      </p:grpSpPr>
      <p:sp>
        <p:nvSpPr>
          <p:cNvPr id="2" name="Text 0"/>
          <p:cNvSpPr/>
          <p:nvPr/>
        </p:nvSpPr>
        <p:spPr>
          <a:xfrm>
            <a:off x="484632" y="173736"/>
            <a:ext cx="2743200" cy="201168"/>
          </a:xfrm>
          <a:prstGeom prst="rect">
            <a:avLst/>
          </a:prstGeom>
          <a:noFill/>
          <a:ln/>
        </p:spPr>
        <p:txBody>
          <a:bodyPr wrap="square" lIns="0" tIns="0" rIns="0" bIns="0" rtlCol="0" anchor="t">
            <a:normAutofit/>
          </a:bodyPr>
          <a:lstStyle/>
          <a:p>
            <a:pPr marL="0" indent="0" algn="l">
              <a:buNone/>
            </a:pPr>
            <a:r>
              <a:rPr lang="en-US" sz="1000" b="1" dirty="0">
                <a:solidFill>
                  <a:srgbClr val="F5F6F7"/>
                </a:solidFill>
                <a:latin typeface="Arial" pitchFamily="34" charset="0"/>
                <a:ea typeface="Arial" pitchFamily="34" charset="-122"/>
                <a:cs typeface="Arial" pitchFamily="34" charset="-120"/>
              </a:rPr>
              <a:t>ISUZU / UNIVERSE</a:t>
            </a:r>
            <a:endParaRPr lang="en-US" sz="1000" dirty="0"/>
          </a:p>
        </p:txBody>
      </p:sp>
      <p:sp>
        <p:nvSpPr>
          <p:cNvPr id="3" name="Text 1"/>
          <p:cNvSpPr/>
          <p:nvPr/>
        </p:nvSpPr>
        <p:spPr>
          <a:xfrm>
            <a:off x="8046720" y="173736"/>
            <a:ext cx="3657600" cy="201168"/>
          </a:xfrm>
          <a:prstGeom prst="rect">
            <a:avLst/>
          </a:prstGeom>
          <a:noFill/>
          <a:ln/>
        </p:spPr>
        <p:txBody>
          <a:bodyPr wrap="square" lIns="0" tIns="0" rIns="0" bIns="0" rtlCol="0" anchor="t">
            <a:normAutofit/>
          </a:bodyPr>
          <a:lstStyle/>
          <a:p>
            <a:pPr marL="0" indent="0" algn="r">
              <a:buNone/>
            </a:pPr>
            <a:r>
              <a:rPr lang="en-US" sz="900" dirty="0">
                <a:solidFill>
                  <a:srgbClr val="BDC4C9"/>
                </a:solidFill>
                <a:latin typeface="Arial" pitchFamily="34" charset="0"/>
                <a:ea typeface="Arial" pitchFamily="34" charset="-122"/>
                <a:cs typeface="Arial" pitchFamily="34" charset="-120"/>
              </a:rPr>
              <a:t>COMMERCIAL VISION  /  3.0</a:t>
            </a:r>
            <a:endParaRPr lang="en-US" sz="900" dirty="0"/>
          </a:p>
        </p:txBody>
      </p:sp>
      <p:sp>
        <p:nvSpPr>
          <p:cNvPr id="4" name="Shape 2"/>
          <p:cNvSpPr/>
          <p:nvPr/>
        </p:nvSpPr>
        <p:spPr>
          <a:xfrm>
            <a:off x="484632" y="512064"/>
            <a:ext cx="475488" cy="22860"/>
          </a:xfrm>
          <a:prstGeom prst="rect">
            <a:avLst/>
          </a:prstGeom>
          <a:solidFill>
            <a:srgbClr val="D71920"/>
          </a:solidFill>
          <a:ln w="12700">
            <a:solidFill>
              <a:srgbClr val="D71920">
                <a:alpha val="0"/>
              </a:srgbClr>
            </a:solidFill>
            <a:prstDash val="solid"/>
          </a:ln>
        </p:spPr>
        <p:txBody>
          <a:bodyPr/>
          <a:lstStyle/>
          <a:p>
            <a:endParaRPr lang="nl-NL"/>
          </a:p>
        </p:txBody>
      </p:sp>
      <p:sp>
        <p:nvSpPr>
          <p:cNvPr id="5" name="Text 3"/>
          <p:cNvSpPr/>
          <p:nvPr/>
        </p:nvSpPr>
        <p:spPr>
          <a:xfrm>
            <a:off x="484632" y="658368"/>
            <a:ext cx="11064240" cy="219456"/>
          </a:xfrm>
          <a:prstGeom prst="rect">
            <a:avLst/>
          </a:prstGeom>
          <a:noFill/>
          <a:ln/>
        </p:spPr>
        <p:txBody>
          <a:bodyPr wrap="square" lIns="0" tIns="0" rIns="0" bIns="0" rtlCol="0" anchor="t">
            <a:normAutofit/>
          </a:bodyPr>
          <a:lstStyle/>
          <a:p>
            <a:pPr marL="0" indent="0" algn="l">
              <a:buNone/>
            </a:pPr>
            <a:r>
              <a:rPr lang="en-US" sz="1000" b="1" dirty="0">
                <a:solidFill>
                  <a:srgbClr val="D71920"/>
                </a:solidFill>
                <a:latin typeface="Arial" pitchFamily="34" charset="0"/>
                <a:ea typeface="Arial" pitchFamily="34" charset="-122"/>
                <a:cs typeface="Arial" pitchFamily="34" charset="-120"/>
              </a:rPr>
              <a:t>AN EXPANDABLE PROGRAMME</a:t>
            </a:r>
            <a:endParaRPr lang="en-US" sz="1000" dirty="0"/>
          </a:p>
        </p:txBody>
      </p:sp>
      <p:sp>
        <p:nvSpPr>
          <p:cNvPr id="6" name="Shape 4"/>
          <p:cNvSpPr/>
          <p:nvPr/>
        </p:nvSpPr>
        <p:spPr>
          <a:xfrm>
            <a:off x="484632" y="6446520"/>
            <a:ext cx="11219688" cy="914"/>
          </a:xfrm>
          <a:prstGeom prst="line">
            <a:avLst/>
          </a:prstGeom>
          <a:noFill/>
          <a:ln w="6350">
            <a:solidFill>
              <a:srgbClr val="647078"/>
            </a:solidFill>
            <a:prstDash val="solid"/>
          </a:ln>
        </p:spPr>
        <p:txBody>
          <a:bodyPr/>
          <a:lstStyle/>
          <a:p>
            <a:endParaRPr lang="nl-NL"/>
          </a:p>
        </p:txBody>
      </p:sp>
      <p:sp>
        <p:nvSpPr>
          <p:cNvPr id="7" name="Text 5"/>
          <p:cNvSpPr/>
          <p:nvPr/>
        </p:nvSpPr>
        <p:spPr>
          <a:xfrm>
            <a:off x="484632" y="6556248"/>
            <a:ext cx="9144000" cy="146304"/>
          </a:xfrm>
          <a:prstGeom prst="rect">
            <a:avLst/>
          </a:prstGeom>
          <a:noFill/>
          <a:ln/>
        </p:spPr>
        <p:txBody>
          <a:bodyPr wrap="square" lIns="0" tIns="0" rIns="0" bIns="0" rtlCol="0" anchor="t">
            <a:normAutofit/>
          </a:bodyPr>
          <a:lstStyle/>
          <a:p>
            <a:pPr marL="0" indent="0" algn="l">
              <a:buNone/>
            </a:pPr>
            <a:r>
              <a:rPr lang="en-US" sz="750" dirty="0">
                <a:solidFill>
                  <a:srgbClr val="BDC4C9"/>
                </a:solidFill>
                <a:latin typeface="Arial" pitchFamily="34" charset="0"/>
                <a:ea typeface="Arial" pitchFamily="34" charset="-122"/>
                <a:cs typeface="Arial" pitchFamily="34" charset="-120"/>
              </a:rPr>
              <a:t>22 SEPTEMBER 2026  /  CONCEPT AND APPLICATION EXAMPLES</a:t>
            </a:r>
            <a:endParaRPr lang="en-US" sz="750" dirty="0"/>
          </a:p>
        </p:txBody>
      </p:sp>
      <p:sp>
        <p:nvSpPr>
          <p:cNvPr id="8" name="Text 6"/>
          <p:cNvSpPr/>
          <p:nvPr/>
        </p:nvSpPr>
        <p:spPr>
          <a:xfrm>
            <a:off x="10789920" y="6547104"/>
            <a:ext cx="914400" cy="173736"/>
          </a:xfrm>
          <a:prstGeom prst="rect">
            <a:avLst/>
          </a:prstGeom>
          <a:noFill/>
          <a:ln/>
        </p:spPr>
        <p:txBody>
          <a:bodyPr wrap="square" lIns="0" tIns="0" rIns="0" bIns="0" rtlCol="0" anchor="t">
            <a:normAutofit/>
          </a:bodyPr>
          <a:lstStyle/>
          <a:p>
            <a:pPr marL="0" indent="0" algn="r">
              <a:buNone/>
            </a:pPr>
            <a:r>
              <a:rPr lang="en-US" sz="850" dirty="0">
                <a:solidFill>
                  <a:srgbClr val="BDC4C9"/>
                </a:solidFill>
                <a:latin typeface="Arial" pitchFamily="34" charset="0"/>
                <a:ea typeface="Arial" pitchFamily="34" charset="-122"/>
                <a:cs typeface="Arial" pitchFamily="34" charset="-120"/>
              </a:rPr>
              <a:t>06 / 49</a:t>
            </a:r>
            <a:endParaRPr lang="en-US" sz="850" dirty="0"/>
          </a:p>
        </p:txBody>
      </p:sp>
      <p:sp>
        <p:nvSpPr>
          <p:cNvPr id="9" name="Text 7"/>
          <p:cNvSpPr/>
          <p:nvPr/>
        </p:nvSpPr>
        <p:spPr>
          <a:xfrm>
            <a:off x="502920" y="1005840"/>
            <a:ext cx="11036808" cy="841248"/>
          </a:xfrm>
          <a:prstGeom prst="rect">
            <a:avLst/>
          </a:prstGeom>
          <a:noFill/>
          <a:ln/>
        </p:spPr>
        <p:txBody>
          <a:bodyPr wrap="square" lIns="0" tIns="0" rIns="0" bIns="0" rtlCol="0" anchor="t">
            <a:normAutofit/>
          </a:bodyPr>
          <a:lstStyle/>
          <a:p>
            <a:pPr marL="0" indent="0" algn="l">
              <a:buNone/>
            </a:pPr>
            <a:r>
              <a:rPr lang="en-US" sz="3400" b="1" dirty="0">
                <a:solidFill>
                  <a:srgbClr val="F5F6F7"/>
                </a:solidFill>
                <a:latin typeface="Arial" pitchFamily="34" charset="0"/>
                <a:ea typeface="Arial" pitchFamily="34" charset="-122"/>
                <a:cs typeface="Arial" pitchFamily="34" charset="-120"/>
              </a:rPr>
              <a:t>The programme stays open to useful applications.</a:t>
            </a:r>
            <a:endParaRPr lang="en-US" sz="3400" dirty="0"/>
          </a:p>
        </p:txBody>
      </p:sp>
      <p:sp>
        <p:nvSpPr>
          <p:cNvPr id="10" name="Text 8"/>
          <p:cNvSpPr/>
          <p:nvPr/>
        </p:nvSpPr>
        <p:spPr>
          <a:xfrm>
            <a:off x="530352" y="1865376"/>
            <a:ext cx="10954512" cy="566928"/>
          </a:xfrm>
          <a:prstGeom prst="rect">
            <a:avLst/>
          </a:prstGeom>
          <a:noFill/>
          <a:ln/>
        </p:spPr>
        <p:txBody>
          <a:bodyPr wrap="square" lIns="0" tIns="0" rIns="0" bIns="0" rtlCol="0" anchor="t">
            <a:normAutofit/>
          </a:bodyPr>
          <a:lstStyle/>
          <a:p>
            <a:pPr marL="0" indent="0" algn="l">
              <a:buNone/>
            </a:pPr>
            <a:r>
              <a:rPr lang="en-US" sz="1800" dirty="0">
                <a:solidFill>
                  <a:srgbClr val="BDC4C9"/>
                </a:solidFill>
                <a:latin typeface="Arial" pitchFamily="34" charset="0"/>
                <a:ea typeface="Arial" pitchFamily="34" charset="-122"/>
                <a:cs typeface="Arial" pitchFamily="34" charset="-120"/>
              </a:rPr>
              <a:t>A stable foundation; a portfolio that develops through use.</a:t>
            </a:r>
            <a:endParaRPr lang="en-US" sz="1800" dirty="0"/>
          </a:p>
        </p:txBody>
      </p:sp>
      <p:sp>
        <p:nvSpPr>
          <p:cNvPr id="11" name="Shape 9"/>
          <p:cNvSpPr/>
          <p:nvPr/>
        </p:nvSpPr>
        <p:spPr>
          <a:xfrm>
            <a:off x="1817043" y="2966575"/>
            <a:ext cx="2683111" cy="2343477"/>
          </a:xfrm>
          <a:prstGeom prst="roundRect">
            <a:avLst>
              <a:gd name="adj" fmla="val 1561"/>
            </a:avLst>
          </a:prstGeom>
          <a:solidFill>
            <a:srgbClr val="383F44"/>
          </a:solidFill>
          <a:ln w="8890">
            <a:solidFill>
              <a:srgbClr val="D71920"/>
            </a:solidFill>
            <a:prstDash val="solid"/>
          </a:ln>
        </p:spPr>
        <p:txBody>
          <a:bodyPr/>
          <a:lstStyle/>
          <a:p>
            <a:endParaRPr lang="nl-NL"/>
          </a:p>
        </p:txBody>
      </p:sp>
      <p:sp>
        <p:nvSpPr>
          <p:cNvPr id="12" name="Shape 10"/>
          <p:cNvSpPr/>
          <p:nvPr/>
        </p:nvSpPr>
        <p:spPr>
          <a:xfrm>
            <a:off x="1817043" y="3085447"/>
            <a:ext cx="33963" cy="2105733"/>
          </a:xfrm>
          <a:prstGeom prst="rect">
            <a:avLst/>
          </a:prstGeom>
          <a:solidFill>
            <a:srgbClr val="D71920"/>
          </a:solidFill>
          <a:ln w="12700">
            <a:solidFill>
              <a:srgbClr val="24282C">
                <a:alpha val="0"/>
              </a:srgbClr>
            </a:solidFill>
            <a:prstDash val="solid"/>
          </a:ln>
        </p:spPr>
        <p:txBody>
          <a:bodyPr/>
          <a:lstStyle/>
          <a:p>
            <a:endParaRPr lang="nl-NL"/>
          </a:p>
        </p:txBody>
      </p:sp>
      <p:sp>
        <p:nvSpPr>
          <p:cNvPr id="13" name="Text 11"/>
          <p:cNvSpPr/>
          <p:nvPr/>
        </p:nvSpPr>
        <p:spPr>
          <a:xfrm>
            <a:off x="1961388" y="3102429"/>
            <a:ext cx="2394422" cy="543415"/>
          </a:xfrm>
          <a:prstGeom prst="rect">
            <a:avLst/>
          </a:prstGeom>
          <a:noFill/>
          <a:ln/>
        </p:spPr>
        <p:txBody>
          <a:bodyPr wrap="square" lIns="0" tIns="0" rIns="0" bIns="0" rtlCol="0" anchor="t">
            <a:normAutofit/>
          </a:bodyPr>
          <a:lstStyle/>
          <a:p>
            <a:pPr marL="0" indent="0" algn="l">
              <a:buNone/>
            </a:pPr>
            <a:r>
              <a:rPr lang="en-US" sz="1671" b="1" dirty="0">
                <a:solidFill>
                  <a:srgbClr val="F5F6F7"/>
                </a:solidFill>
                <a:latin typeface="Arial" pitchFamily="34" charset="0"/>
                <a:ea typeface="Arial" pitchFamily="34" charset="-122"/>
                <a:cs typeface="Arial" pitchFamily="34" charset="-120"/>
              </a:rPr>
              <a:t>Tenders</a:t>
            </a:r>
            <a:endParaRPr lang="en-US" sz="1671" dirty="0"/>
          </a:p>
        </p:txBody>
      </p:sp>
      <p:sp>
        <p:nvSpPr>
          <p:cNvPr id="14" name="Text 12"/>
          <p:cNvSpPr/>
          <p:nvPr/>
        </p:nvSpPr>
        <p:spPr>
          <a:xfrm>
            <a:off x="1961388" y="3705279"/>
            <a:ext cx="2394422" cy="1502882"/>
          </a:xfrm>
          <a:prstGeom prst="rect">
            <a:avLst/>
          </a:prstGeom>
          <a:noFill/>
          <a:ln/>
        </p:spPr>
        <p:txBody>
          <a:bodyPr wrap="square" lIns="0" tIns="0" rIns="0" bIns="0" rtlCol="0" anchor="t">
            <a:normAutofit/>
          </a:bodyPr>
          <a:lstStyle/>
          <a:p>
            <a:pPr marL="0" indent="0" algn="l">
              <a:buNone/>
            </a:pPr>
            <a:r>
              <a:rPr lang="en-US" sz="1337" dirty="0">
                <a:solidFill>
                  <a:srgbClr val="BDC4C9"/>
                </a:solidFill>
                <a:latin typeface="Arial" pitchFamily="34" charset="0"/>
                <a:ea typeface="Arial" pitchFamily="34" charset="-122"/>
                <a:cs typeface="Arial" pitchFamily="34" charset="-120"/>
              </a:rPr>
              <a:t>A coordinated proposal for the relevant Isuzu entities and headquarters.</a:t>
            </a:r>
            <a:endParaRPr lang="en-US" sz="1337" dirty="0"/>
          </a:p>
        </p:txBody>
      </p:sp>
      <p:sp>
        <p:nvSpPr>
          <p:cNvPr id="15" name="Shape 13"/>
          <p:cNvSpPr/>
          <p:nvPr/>
        </p:nvSpPr>
        <p:spPr>
          <a:xfrm>
            <a:off x="4720917" y="2966575"/>
            <a:ext cx="2683111" cy="2343477"/>
          </a:xfrm>
          <a:prstGeom prst="roundRect">
            <a:avLst>
              <a:gd name="adj" fmla="val 1561"/>
            </a:avLst>
          </a:prstGeom>
          <a:solidFill>
            <a:srgbClr val="30363B"/>
          </a:solidFill>
          <a:ln w="8890">
            <a:solidFill>
              <a:srgbClr val="48525B"/>
            </a:solidFill>
            <a:prstDash val="solid"/>
          </a:ln>
        </p:spPr>
        <p:txBody>
          <a:bodyPr/>
          <a:lstStyle/>
          <a:p>
            <a:endParaRPr lang="nl-NL"/>
          </a:p>
        </p:txBody>
      </p:sp>
      <p:sp>
        <p:nvSpPr>
          <p:cNvPr id="16" name="Shape 14"/>
          <p:cNvSpPr/>
          <p:nvPr/>
        </p:nvSpPr>
        <p:spPr>
          <a:xfrm>
            <a:off x="4720917" y="3085447"/>
            <a:ext cx="33963" cy="2105733"/>
          </a:xfrm>
          <a:prstGeom prst="rect">
            <a:avLst/>
          </a:prstGeom>
          <a:solidFill>
            <a:srgbClr val="82909A"/>
          </a:solidFill>
          <a:ln w="12700">
            <a:solidFill>
              <a:srgbClr val="24282C">
                <a:alpha val="0"/>
              </a:srgbClr>
            </a:solidFill>
            <a:prstDash val="solid"/>
          </a:ln>
        </p:spPr>
        <p:txBody>
          <a:bodyPr/>
          <a:lstStyle/>
          <a:p>
            <a:endParaRPr lang="nl-NL"/>
          </a:p>
        </p:txBody>
      </p:sp>
      <p:sp>
        <p:nvSpPr>
          <p:cNvPr id="17" name="Text 15"/>
          <p:cNvSpPr/>
          <p:nvPr/>
        </p:nvSpPr>
        <p:spPr>
          <a:xfrm>
            <a:off x="4865261" y="3102429"/>
            <a:ext cx="2394422" cy="543415"/>
          </a:xfrm>
          <a:prstGeom prst="rect">
            <a:avLst/>
          </a:prstGeom>
          <a:noFill/>
          <a:ln/>
        </p:spPr>
        <p:txBody>
          <a:bodyPr wrap="square" lIns="0" tIns="0" rIns="0" bIns="0" rtlCol="0" anchor="t">
            <a:normAutofit/>
          </a:bodyPr>
          <a:lstStyle/>
          <a:p>
            <a:pPr marL="0" indent="0" algn="l">
              <a:buNone/>
            </a:pPr>
            <a:r>
              <a:rPr lang="en-US" sz="1671" b="1" dirty="0">
                <a:solidFill>
                  <a:srgbClr val="F5F6F7"/>
                </a:solidFill>
                <a:latin typeface="Arial" pitchFamily="34" charset="0"/>
                <a:ea typeface="Arial" pitchFamily="34" charset="-122"/>
                <a:cs typeface="Arial" pitchFamily="34" charset="-120"/>
              </a:rPr>
              <a:t>IDS progress</a:t>
            </a:r>
            <a:endParaRPr lang="en-US" sz="1671" dirty="0"/>
          </a:p>
        </p:txBody>
      </p:sp>
      <p:sp>
        <p:nvSpPr>
          <p:cNvPr id="18" name="Text 16"/>
          <p:cNvSpPr/>
          <p:nvPr/>
        </p:nvSpPr>
        <p:spPr>
          <a:xfrm>
            <a:off x="4865261" y="3705279"/>
            <a:ext cx="2394422" cy="1502882"/>
          </a:xfrm>
          <a:prstGeom prst="rect">
            <a:avLst/>
          </a:prstGeom>
          <a:noFill/>
          <a:ln/>
        </p:spPr>
        <p:txBody>
          <a:bodyPr wrap="square" lIns="0" tIns="0" rIns="0" bIns="0" rtlCol="0" anchor="t">
            <a:normAutofit/>
          </a:bodyPr>
          <a:lstStyle/>
          <a:p>
            <a:pPr marL="0" indent="0" algn="l">
              <a:buNone/>
            </a:pPr>
            <a:r>
              <a:rPr lang="en-US" sz="1337" dirty="0">
                <a:solidFill>
                  <a:srgbClr val="BDC4C9"/>
                </a:solidFill>
                <a:latin typeface="Arial" pitchFamily="34" charset="0"/>
                <a:ea typeface="Arial" pitchFamily="34" charset="-122"/>
                <a:cs typeface="Arial" pitchFamily="34" charset="-120"/>
              </a:rPr>
              <a:t>An interactive development record with evidence of implementation.</a:t>
            </a:r>
            <a:endParaRPr lang="en-US" sz="1337" dirty="0"/>
          </a:p>
        </p:txBody>
      </p:sp>
      <p:sp>
        <p:nvSpPr>
          <p:cNvPr id="19" name="Shape 17"/>
          <p:cNvSpPr/>
          <p:nvPr/>
        </p:nvSpPr>
        <p:spPr>
          <a:xfrm>
            <a:off x="7624790" y="2966575"/>
            <a:ext cx="2683111" cy="2343477"/>
          </a:xfrm>
          <a:prstGeom prst="roundRect">
            <a:avLst>
              <a:gd name="adj" fmla="val 1561"/>
            </a:avLst>
          </a:prstGeom>
          <a:solidFill>
            <a:srgbClr val="30363B"/>
          </a:solidFill>
          <a:ln w="8890">
            <a:solidFill>
              <a:srgbClr val="48525B"/>
            </a:solidFill>
            <a:prstDash val="solid"/>
          </a:ln>
        </p:spPr>
        <p:txBody>
          <a:bodyPr/>
          <a:lstStyle/>
          <a:p>
            <a:endParaRPr lang="nl-NL"/>
          </a:p>
        </p:txBody>
      </p:sp>
      <p:sp>
        <p:nvSpPr>
          <p:cNvPr id="20" name="Shape 18"/>
          <p:cNvSpPr/>
          <p:nvPr/>
        </p:nvSpPr>
        <p:spPr>
          <a:xfrm>
            <a:off x="7624790" y="3085447"/>
            <a:ext cx="33963" cy="2105733"/>
          </a:xfrm>
          <a:prstGeom prst="rect">
            <a:avLst/>
          </a:prstGeom>
          <a:solidFill>
            <a:srgbClr val="82909A"/>
          </a:solidFill>
          <a:ln w="12700">
            <a:solidFill>
              <a:srgbClr val="24282C">
                <a:alpha val="0"/>
              </a:srgbClr>
            </a:solidFill>
            <a:prstDash val="solid"/>
          </a:ln>
        </p:spPr>
        <p:txBody>
          <a:bodyPr/>
          <a:lstStyle/>
          <a:p>
            <a:endParaRPr lang="nl-NL"/>
          </a:p>
        </p:txBody>
      </p:sp>
      <p:sp>
        <p:nvSpPr>
          <p:cNvPr id="21" name="Text 19"/>
          <p:cNvSpPr/>
          <p:nvPr/>
        </p:nvSpPr>
        <p:spPr>
          <a:xfrm>
            <a:off x="7769134" y="3102429"/>
            <a:ext cx="2394422" cy="543415"/>
          </a:xfrm>
          <a:prstGeom prst="rect">
            <a:avLst/>
          </a:prstGeom>
          <a:noFill/>
          <a:ln/>
        </p:spPr>
        <p:txBody>
          <a:bodyPr wrap="square" lIns="0" tIns="0" rIns="0" bIns="0" rtlCol="0" anchor="t">
            <a:normAutofit/>
          </a:bodyPr>
          <a:lstStyle/>
          <a:p>
            <a:pPr marL="0" indent="0" algn="l">
              <a:buNone/>
            </a:pPr>
            <a:r>
              <a:rPr lang="en-US" sz="1671" b="1" dirty="0">
                <a:solidFill>
                  <a:srgbClr val="F5F6F7"/>
                </a:solidFill>
                <a:latin typeface="Arial" pitchFamily="34" charset="0"/>
                <a:ea typeface="Arial" pitchFamily="34" charset="-122"/>
                <a:cs typeface="Arial" pitchFamily="34" charset="-120"/>
              </a:rPr>
              <a:t>Deal of the Day</a:t>
            </a:r>
            <a:endParaRPr lang="en-US" sz="1671" dirty="0"/>
          </a:p>
        </p:txBody>
      </p:sp>
      <p:sp>
        <p:nvSpPr>
          <p:cNvPr id="22" name="Text 20"/>
          <p:cNvSpPr/>
          <p:nvPr/>
        </p:nvSpPr>
        <p:spPr>
          <a:xfrm>
            <a:off x="7769134" y="3705279"/>
            <a:ext cx="2394422" cy="1502882"/>
          </a:xfrm>
          <a:prstGeom prst="rect">
            <a:avLst/>
          </a:prstGeom>
          <a:noFill/>
          <a:ln/>
        </p:spPr>
        <p:txBody>
          <a:bodyPr wrap="square" lIns="0" tIns="0" rIns="0" bIns="0" rtlCol="0" anchor="t">
            <a:normAutofit/>
          </a:bodyPr>
          <a:lstStyle/>
          <a:p>
            <a:pPr marL="0" indent="0" algn="l">
              <a:buNone/>
            </a:pPr>
            <a:r>
              <a:rPr lang="en-US" sz="1337" dirty="0">
                <a:solidFill>
                  <a:srgbClr val="BDC4C9"/>
                </a:solidFill>
                <a:latin typeface="Arial" pitchFamily="34" charset="0"/>
                <a:ea typeface="Arial" pitchFamily="34" charset="-122"/>
                <a:cs typeface="Arial" pitchFamily="34" charset="-120"/>
              </a:rPr>
              <a:t>Selected products, relevant audiences and transparent campaign economics.</a:t>
            </a:r>
            <a:endParaRPr lang="en-US" sz="1337" dirty="0"/>
          </a:p>
        </p:txBody>
      </p:sp>
      <p:sp>
        <p:nvSpPr>
          <p:cNvPr id="23" name="Text 21"/>
          <p:cNvSpPr/>
          <p:nvPr/>
        </p:nvSpPr>
        <p:spPr>
          <a:xfrm>
            <a:off x="548640" y="5678424"/>
            <a:ext cx="10954512" cy="219456"/>
          </a:xfrm>
          <a:prstGeom prst="rect">
            <a:avLst/>
          </a:prstGeom>
          <a:noFill/>
          <a:ln/>
        </p:spPr>
        <p:txBody>
          <a:bodyPr wrap="square" lIns="0" tIns="0" rIns="0" bIns="0" rtlCol="0" anchor="t">
            <a:normAutofit/>
          </a:bodyPr>
          <a:lstStyle/>
          <a:p>
            <a:pPr marL="0" indent="0" algn="l">
              <a:buNone/>
            </a:pPr>
            <a:r>
              <a:rPr lang="en-US" sz="840" dirty="0">
                <a:solidFill>
                  <a:srgbClr val="BDC4C9"/>
                </a:solidFill>
                <a:latin typeface="Arial" pitchFamily="34" charset="0"/>
                <a:ea typeface="Arial" pitchFamily="34" charset="-122"/>
                <a:cs typeface="Arial" pitchFamily="34" charset="-120"/>
              </a:rPr>
              <a:t>Illustrative design / independent requirements and outputs.</a:t>
            </a:r>
            <a:endParaRPr lang="en-US" sz="840" dirty="0"/>
          </a:p>
        </p:txBody>
      </p:sp>
      <p:sp>
        <p:nvSpPr>
          <p:cNvPr id="24" name="Text 22"/>
          <p:cNvSpPr/>
          <p:nvPr/>
        </p:nvSpPr>
        <p:spPr>
          <a:xfrm>
            <a:off x="603504" y="5925312"/>
            <a:ext cx="10917936" cy="347472"/>
          </a:xfrm>
          <a:prstGeom prst="rect">
            <a:avLst/>
          </a:prstGeom>
          <a:noFill/>
          <a:ln/>
        </p:spPr>
        <p:txBody>
          <a:bodyPr wrap="square" lIns="0" tIns="0" rIns="0" bIns="0" rtlCol="0" anchor="t">
            <a:normAutofit/>
          </a:bodyPr>
          <a:lstStyle/>
          <a:p>
            <a:pPr marL="0" indent="0" algn="l">
              <a:buNone/>
            </a:pPr>
            <a:r>
              <a:rPr lang="en-US" sz="1320" dirty="0">
                <a:solidFill>
                  <a:srgbClr val="F5F6F7"/>
                </a:solidFill>
                <a:latin typeface="Arial" pitchFamily="34" charset="0"/>
                <a:ea typeface="Arial" pitchFamily="34" charset="-122"/>
                <a:cs typeface="Arial" pitchFamily="34" charset="-120"/>
              </a:rPr>
              <a:t>Expandability is a product choice, not an access policy.</a:t>
            </a:r>
            <a:endParaRPr lang="en-US" sz="13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4282C"/>
        </a:solidFill>
        <a:effectLst/>
      </p:bgPr>
    </p:bg>
    <p:spTree>
      <p:nvGrpSpPr>
        <p:cNvPr id="1" name=""/>
        <p:cNvGrpSpPr/>
        <p:nvPr/>
      </p:nvGrpSpPr>
      <p:grpSpPr>
        <a:xfrm>
          <a:off x="0" y="0"/>
          <a:ext cx="0" cy="0"/>
          <a:chOff x="0" y="0"/>
          <a:chExt cx="0" cy="0"/>
        </a:xfrm>
      </p:grpSpPr>
      <p:sp>
        <p:nvSpPr>
          <p:cNvPr id="2" name="Text 0"/>
          <p:cNvSpPr/>
          <p:nvPr/>
        </p:nvSpPr>
        <p:spPr>
          <a:xfrm>
            <a:off x="484632" y="173736"/>
            <a:ext cx="2743200" cy="201168"/>
          </a:xfrm>
          <a:prstGeom prst="rect">
            <a:avLst/>
          </a:prstGeom>
          <a:noFill/>
          <a:ln/>
        </p:spPr>
        <p:txBody>
          <a:bodyPr wrap="square" lIns="0" tIns="0" rIns="0" bIns="0" rtlCol="0" anchor="t">
            <a:normAutofit/>
          </a:bodyPr>
          <a:lstStyle/>
          <a:p>
            <a:pPr marL="0" indent="0" algn="l">
              <a:buNone/>
            </a:pPr>
            <a:r>
              <a:rPr lang="en-US" sz="1000" b="1" dirty="0">
                <a:solidFill>
                  <a:srgbClr val="F5F6F7"/>
                </a:solidFill>
                <a:latin typeface="Arial" pitchFamily="34" charset="0"/>
                <a:ea typeface="Arial" pitchFamily="34" charset="-122"/>
                <a:cs typeface="Arial" pitchFamily="34" charset="-120"/>
              </a:rPr>
              <a:t>ISUZU / UNIVERSE</a:t>
            </a:r>
            <a:endParaRPr lang="en-US" sz="1000" dirty="0"/>
          </a:p>
        </p:txBody>
      </p:sp>
      <p:sp>
        <p:nvSpPr>
          <p:cNvPr id="3" name="Text 1"/>
          <p:cNvSpPr/>
          <p:nvPr/>
        </p:nvSpPr>
        <p:spPr>
          <a:xfrm>
            <a:off x="8046720" y="173736"/>
            <a:ext cx="3657600" cy="201168"/>
          </a:xfrm>
          <a:prstGeom prst="rect">
            <a:avLst/>
          </a:prstGeom>
          <a:noFill/>
          <a:ln/>
        </p:spPr>
        <p:txBody>
          <a:bodyPr wrap="square" lIns="0" tIns="0" rIns="0" bIns="0" rtlCol="0" anchor="t">
            <a:normAutofit/>
          </a:bodyPr>
          <a:lstStyle/>
          <a:p>
            <a:pPr marL="0" indent="0" algn="r">
              <a:buNone/>
            </a:pPr>
            <a:r>
              <a:rPr lang="en-US" sz="900" dirty="0">
                <a:solidFill>
                  <a:srgbClr val="BDC4C9"/>
                </a:solidFill>
                <a:latin typeface="Arial" pitchFamily="34" charset="0"/>
                <a:ea typeface="Arial" pitchFamily="34" charset="-122"/>
                <a:cs typeface="Arial" pitchFamily="34" charset="-120"/>
              </a:rPr>
              <a:t>COMMERCIAL VISION  /  3.0</a:t>
            </a:r>
            <a:endParaRPr lang="en-US" sz="900" dirty="0"/>
          </a:p>
        </p:txBody>
      </p:sp>
      <p:sp>
        <p:nvSpPr>
          <p:cNvPr id="4" name="Shape 2"/>
          <p:cNvSpPr/>
          <p:nvPr/>
        </p:nvSpPr>
        <p:spPr>
          <a:xfrm>
            <a:off x="484632" y="512064"/>
            <a:ext cx="475488" cy="22860"/>
          </a:xfrm>
          <a:prstGeom prst="rect">
            <a:avLst/>
          </a:prstGeom>
          <a:solidFill>
            <a:srgbClr val="D71920"/>
          </a:solidFill>
          <a:ln w="12700">
            <a:solidFill>
              <a:srgbClr val="D71920">
                <a:alpha val="0"/>
              </a:srgbClr>
            </a:solidFill>
            <a:prstDash val="solid"/>
          </a:ln>
        </p:spPr>
        <p:txBody>
          <a:bodyPr/>
          <a:lstStyle/>
          <a:p>
            <a:endParaRPr lang="nl-NL"/>
          </a:p>
        </p:txBody>
      </p:sp>
      <p:sp>
        <p:nvSpPr>
          <p:cNvPr id="5" name="Text 3"/>
          <p:cNvSpPr/>
          <p:nvPr/>
        </p:nvSpPr>
        <p:spPr>
          <a:xfrm>
            <a:off x="484632" y="658368"/>
            <a:ext cx="11064240" cy="219456"/>
          </a:xfrm>
          <a:prstGeom prst="rect">
            <a:avLst/>
          </a:prstGeom>
          <a:noFill/>
          <a:ln/>
        </p:spPr>
        <p:txBody>
          <a:bodyPr wrap="square" lIns="0" tIns="0" rIns="0" bIns="0" rtlCol="0" anchor="t">
            <a:normAutofit/>
          </a:bodyPr>
          <a:lstStyle/>
          <a:p>
            <a:pPr marL="0" indent="0" algn="l">
              <a:buNone/>
            </a:pPr>
            <a:r>
              <a:rPr lang="en-US" sz="1000" b="1" dirty="0">
                <a:solidFill>
                  <a:srgbClr val="D71920"/>
                </a:solidFill>
                <a:latin typeface="Arial" pitchFamily="34" charset="0"/>
                <a:ea typeface="Arial" pitchFamily="34" charset="-122"/>
                <a:cs typeface="Arial" pitchFamily="34" charset="-120"/>
              </a:rPr>
              <a:t>AIM / COMMERCIAL ATLAS</a:t>
            </a:r>
            <a:endParaRPr lang="en-US" sz="1000" dirty="0"/>
          </a:p>
        </p:txBody>
      </p:sp>
      <p:sp>
        <p:nvSpPr>
          <p:cNvPr id="6" name="Shape 4"/>
          <p:cNvSpPr/>
          <p:nvPr/>
        </p:nvSpPr>
        <p:spPr>
          <a:xfrm>
            <a:off x="484632" y="6446520"/>
            <a:ext cx="11219688" cy="914"/>
          </a:xfrm>
          <a:prstGeom prst="line">
            <a:avLst/>
          </a:prstGeom>
          <a:noFill/>
          <a:ln w="6350">
            <a:solidFill>
              <a:srgbClr val="647078"/>
            </a:solidFill>
            <a:prstDash val="solid"/>
          </a:ln>
        </p:spPr>
        <p:txBody>
          <a:bodyPr/>
          <a:lstStyle/>
          <a:p>
            <a:endParaRPr lang="nl-NL"/>
          </a:p>
        </p:txBody>
      </p:sp>
      <p:sp>
        <p:nvSpPr>
          <p:cNvPr id="7" name="Text 5"/>
          <p:cNvSpPr/>
          <p:nvPr/>
        </p:nvSpPr>
        <p:spPr>
          <a:xfrm>
            <a:off x="484632" y="6556248"/>
            <a:ext cx="9144000" cy="146304"/>
          </a:xfrm>
          <a:prstGeom prst="rect">
            <a:avLst/>
          </a:prstGeom>
          <a:noFill/>
          <a:ln/>
        </p:spPr>
        <p:txBody>
          <a:bodyPr wrap="square" lIns="0" tIns="0" rIns="0" bIns="0" rtlCol="0" anchor="t">
            <a:normAutofit/>
          </a:bodyPr>
          <a:lstStyle/>
          <a:p>
            <a:pPr marL="0" indent="0" algn="l">
              <a:buNone/>
            </a:pPr>
            <a:r>
              <a:rPr lang="en-US" sz="750" dirty="0">
                <a:solidFill>
                  <a:srgbClr val="BDC4C9"/>
                </a:solidFill>
                <a:latin typeface="Arial" pitchFamily="34" charset="0"/>
                <a:ea typeface="Arial" pitchFamily="34" charset="-122"/>
                <a:cs typeface="Arial" pitchFamily="34" charset="-120"/>
              </a:rPr>
              <a:t>22 SEPTEMBER 2026  /  CONCEPT AND APPLICATION EXAMPLES</a:t>
            </a:r>
            <a:endParaRPr lang="en-US" sz="750" dirty="0"/>
          </a:p>
        </p:txBody>
      </p:sp>
      <p:sp>
        <p:nvSpPr>
          <p:cNvPr id="8" name="Text 6"/>
          <p:cNvSpPr/>
          <p:nvPr/>
        </p:nvSpPr>
        <p:spPr>
          <a:xfrm>
            <a:off x="10789920" y="6547104"/>
            <a:ext cx="914400" cy="173736"/>
          </a:xfrm>
          <a:prstGeom prst="rect">
            <a:avLst/>
          </a:prstGeom>
          <a:noFill/>
          <a:ln/>
        </p:spPr>
        <p:txBody>
          <a:bodyPr wrap="square" lIns="0" tIns="0" rIns="0" bIns="0" rtlCol="0" anchor="t">
            <a:normAutofit/>
          </a:bodyPr>
          <a:lstStyle/>
          <a:p>
            <a:pPr marL="0" indent="0" algn="r">
              <a:buNone/>
            </a:pPr>
            <a:r>
              <a:rPr lang="en-US" sz="850" dirty="0">
                <a:solidFill>
                  <a:srgbClr val="BDC4C9"/>
                </a:solidFill>
                <a:latin typeface="Arial" pitchFamily="34" charset="0"/>
                <a:ea typeface="Arial" pitchFamily="34" charset="-122"/>
                <a:cs typeface="Arial" pitchFamily="34" charset="-120"/>
              </a:rPr>
              <a:t>07 / 49</a:t>
            </a:r>
            <a:endParaRPr lang="en-US" sz="850" dirty="0"/>
          </a:p>
        </p:txBody>
      </p:sp>
      <p:sp>
        <p:nvSpPr>
          <p:cNvPr id="9" name="Text 7"/>
          <p:cNvSpPr/>
          <p:nvPr/>
        </p:nvSpPr>
        <p:spPr>
          <a:xfrm>
            <a:off x="502920" y="1005840"/>
            <a:ext cx="11036808" cy="841248"/>
          </a:xfrm>
          <a:prstGeom prst="rect">
            <a:avLst/>
          </a:prstGeom>
          <a:noFill/>
          <a:ln/>
        </p:spPr>
        <p:txBody>
          <a:bodyPr wrap="square" lIns="0" tIns="0" rIns="0" bIns="0" rtlCol="0" anchor="t">
            <a:normAutofit/>
          </a:bodyPr>
          <a:lstStyle/>
          <a:p>
            <a:pPr marL="0" indent="0" algn="l">
              <a:buNone/>
            </a:pPr>
            <a:r>
              <a:rPr lang="en-US" sz="3400" b="1" dirty="0">
                <a:solidFill>
                  <a:srgbClr val="F5F6F7"/>
                </a:solidFill>
                <a:latin typeface="Arial" pitchFamily="34" charset="0"/>
                <a:ea typeface="Arial" pitchFamily="34" charset="-122"/>
                <a:cs typeface="Arial" pitchFamily="34" charset="-120"/>
              </a:rPr>
              <a:t>Make the product range commercially explorable.</a:t>
            </a:r>
            <a:endParaRPr lang="en-US" sz="3400" dirty="0"/>
          </a:p>
        </p:txBody>
      </p:sp>
      <p:sp>
        <p:nvSpPr>
          <p:cNvPr id="10" name="Text 8"/>
          <p:cNvSpPr/>
          <p:nvPr/>
        </p:nvSpPr>
        <p:spPr>
          <a:xfrm>
            <a:off x="530352" y="1865376"/>
            <a:ext cx="10954512" cy="566928"/>
          </a:xfrm>
          <a:prstGeom prst="rect">
            <a:avLst/>
          </a:prstGeom>
          <a:noFill/>
          <a:ln/>
        </p:spPr>
        <p:txBody>
          <a:bodyPr wrap="square" lIns="0" tIns="0" rIns="0" bIns="0" rtlCol="0" anchor="t">
            <a:normAutofit/>
          </a:bodyPr>
          <a:lstStyle/>
          <a:p>
            <a:pPr marL="0" indent="0" algn="l">
              <a:buNone/>
            </a:pPr>
            <a:r>
              <a:rPr lang="en-US" sz="1800" dirty="0">
                <a:solidFill>
                  <a:srgbClr val="BDC4C9"/>
                </a:solidFill>
                <a:latin typeface="Arial" pitchFamily="34" charset="0"/>
                <a:ea typeface="Arial" pitchFamily="34" charset="-122"/>
                <a:cs typeface="Arial" pitchFamily="34" charset="-120"/>
              </a:rPr>
              <a:t>Move from a covered business to families, product forms and original references.</a:t>
            </a:r>
            <a:endParaRPr lang="en-US" sz="1800" dirty="0"/>
          </a:p>
        </p:txBody>
      </p:sp>
      <p:sp>
        <p:nvSpPr>
          <p:cNvPr id="11" name="Shape 9"/>
          <p:cNvSpPr/>
          <p:nvPr/>
        </p:nvSpPr>
        <p:spPr>
          <a:xfrm>
            <a:off x="2347722" y="2660904"/>
            <a:ext cx="7429500" cy="549783"/>
          </a:xfrm>
          <a:prstGeom prst="roundRect">
            <a:avLst>
              <a:gd name="adj" fmla="val 6653"/>
            </a:avLst>
          </a:prstGeom>
          <a:solidFill>
            <a:srgbClr val="30363B"/>
          </a:solidFill>
          <a:ln w="8890">
            <a:solidFill>
              <a:srgbClr val="D71920"/>
            </a:solidFill>
            <a:prstDash val="solid"/>
          </a:ln>
        </p:spPr>
        <p:txBody>
          <a:bodyPr/>
          <a:lstStyle/>
          <a:p>
            <a:endParaRPr lang="nl-NL"/>
          </a:p>
        </p:txBody>
      </p:sp>
      <p:sp>
        <p:nvSpPr>
          <p:cNvPr id="12" name="Text 10"/>
          <p:cNvSpPr/>
          <p:nvPr/>
        </p:nvSpPr>
        <p:spPr>
          <a:xfrm>
            <a:off x="2496312" y="2750058"/>
            <a:ext cx="3417570" cy="445770"/>
          </a:xfrm>
          <a:prstGeom prst="rect">
            <a:avLst/>
          </a:prstGeom>
          <a:noFill/>
          <a:ln/>
        </p:spPr>
        <p:txBody>
          <a:bodyPr wrap="square" lIns="0" tIns="0" rIns="0" bIns="0" rtlCol="0" anchor="t">
            <a:normAutofit/>
          </a:bodyPr>
          <a:lstStyle/>
          <a:p>
            <a:pPr marL="0" indent="0" algn="l">
              <a:buNone/>
            </a:pPr>
            <a:r>
              <a:rPr lang="en-US" sz="1580" b="1" dirty="0">
                <a:solidFill>
                  <a:srgbClr val="F5F6F7"/>
                </a:solidFill>
                <a:latin typeface="Arial" pitchFamily="34" charset="0"/>
                <a:ea typeface="Arial" pitchFamily="34" charset="-122"/>
                <a:cs typeface="Arial" pitchFamily="34" charset="-120"/>
              </a:rPr>
              <a:t>Parts business</a:t>
            </a:r>
            <a:endParaRPr lang="en-US" sz="1580" dirty="0"/>
          </a:p>
        </p:txBody>
      </p:sp>
      <p:sp>
        <p:nvSpPr>
          <p:cNvPr id="13" name="Text 11"/>
          <p:cNvSpPr/>
          <p:nvPr/>
        </p:nvSpPr>
        <p:spPr>
          <a:xfrm>
            <a:off x="5839587" y="2824353"/>
            <a:ext cx="3566160" cy="445770"/>
          </a:xfrm>
          <a:prstGeom prst="rect">
            <a:avLst/>
          </a:prstGeom>
          <a:noFill/>
          <a:ln/>
        </p:spPr>
        <p:txBody>
          <a:bodyPr wrap="square" lIns="0" tIns="0" rIns="0" bIns="0" rtlCol="0" anchor="t">
            <a:normAutofit/>
          </a:bodyPr>
          <a:lstStyle/>
          <a:p>
            <a:pPr marL="0" indent="0" algn="l">
              <a:buNone/>
            </a:pPr>
            <a:r>
              <a:rPr lang="en-US" sz="1112" dirty="0">
                <a:solidFill>
                  <a:srgbClr val="BDC4C9"/>
                </a:solidFill>
                <a:latin typeface="Arial" pitchFamily="34" charset="0"/>
                <a:ea typeface="Arial" pitchFamily="34" charset="-122"/>
                <a:cs typeface="Arial" pitchFamily="34" charset="-120"/>
              </a:rPr>
              <a:t>One scope and reporting period</a:t>
            </a:r>
            <a:endParaRPr lang="en-US" sz="1112" dirty="0"/>
          </a:p>
        </p:txBody>
      </p:sp>
      <p:sp>
        <p:nvSpPr>
          <p:cNvPr id="14" name="Shape 12"/>
          <p:cNvSpPr/>
          <p:nvPr/>
        </p:nvSpPr>
        <p:spPr>
          <a:xfrm>
            <a:off x="2570607" y="3388995"/>
            <a:ext cx="4903470" cy="549783"/>
          </a:xfrm>
          <a:prstGeom prst="roundRect">
            <a:avLst>
              <a:gd name="adj" fmla="val 6653"/>
            </a:avLst>
          </a:prstGeom>
          <a:solidFill>
            <a:srgbClr val="30363B"/>
          </a:solidFill>
          <a:ln w="8890">
            <a:solidFill>
              <a:srgbClr val="46525A"/>
            </a:solidFill>
            <a:prstDash val="solid"/>
          </a:ln>
        </p:spPr>
        <p:txBody>
          <a:bodyPr/>
          <a:lstStyle/>
          <a:p>
            <a:endParaRPr lang="nl-NL"/>
          </a:p>
        </p:txBody>
      </p:sp>
      <p:sp>
        <p:nvSpPr>
          <p:cNvPr id="15" name="Text 13"/>
          <p:cNvSpPr/>
          <p:nvPr/>
        </p:nvSpPr>
        <p:spPr>
          <a:xfrm>
            <a:off x="2719197" y="3478149"/>
            <a:ext cx="2255596" cy="445770"/>
          </a:xfrm>
          <a:prstGeom prst="rect">
            <a:avLst/>
          </a:prstGeom>
          <a:noFill/>
          <a:ln/>
        </p:spPr>
        <p:txBody>
          <a:bodyPr wrap="square" lIns="0" tIns="0" rIns="0" bIns="0" rtlCol="0" anchor="t">
            <a:normAutofit/>
          </a:bodyPr>
          <a:lstStyle/>
          <a:p>
            <a:pPr marL="0" indent="0" algn="l">
              <a:buNone/>
            </a:pPr>
            <a:r>
              <a:rPr lang="en-US" sz="1580" b="1" dirty="0">
                <a:solidFill>
                  <a:srgbClr val="F5F6F7"/>
                </a:solidFill>
                <a:latin typeface="Arial" pitchFamily="34" charset="0"/>
                <a:ea typeface="Arial" pitchFamily="34" charset="-122"/>
                <a:cs typeface="Arial" pitchFamily="34" charset="-120"/>
              </a:rPr>
              <a:t>Family</a:t>
            </a:r>
            <a:endParaRPr lang="en-US" sz="1580" dirty="0"/>
          </a:p>
        </p:txBody>
      </p:sp>
      <p:sp>
        <p:nvSpPr>
          <p:cNvPr id="16" name="Text 14"/>
          <p:cNvSpPr/>
          <p:nvPr/>
        </p:nvSpPr>
        <p:spPr>
          <a:xfrm>
            <a:off x="4875238" y="3552444"/>
            <a:ext cx="2353666" cy="445770"/>
          </a:xfrm>
          <a:prstGeom prst="rect">
            <a:avLst/>
          </a:prstGeom>
          <a:noFill/>
          <a:ln/>
        </p:spPr>
        <p:txBody>
          <a:bodyPr wrap="square" lIns="0" tIns="0" rIns="0" bIns="0" rtlCol="0" anchor="t">
            <a:normAutofit/>
          </a:bodyPr>
          <a:lstStyle/>
          <a:p>
            <a:pPr marL="0" indent="0" algn="l">
              <a:buNone/>
            </a:pPr>
            <a:r>
              <a:rPr lang="en-US" sz="1112" dirty="0">
                <a:solidFill>
                  <a:srgbClr val="BDC4C9"/>
                </a:solidFill>
                <a:latin typeface="Arial" pitchFamily="34" charset="0"/>
                <a:ea typeface="Arial" pitchFamily="34" charset="-122"/>
                <a:cs typeface="Arial" pitchFamily="34" charset="-120"/>
              </a:rPr>
              <a:t>Commercial grouping</a:t>
            </a:r>
            <a:endParaRPr lang="en-US" sz="1112" dirty="0"/>
          </a:p>
        </p:txBody>
      </p:sp>
      <p:sp>
        <p:nvSpPr>
          <p:cNvPr id="17" name="Shape 15"/>
          <p:cNvSpPr/>
          <p:nvPr/>
        </p:nvSpPr>
        <p:spPr>
          <a:xfrm>
            <a:off x="2830640" y="4117086"/>
            <a:ext cx="4383405" cy="549783"/>
          </a:xfrm>
          <a:prstGeom prst="roundRect">
            <a:avLst>
              <a:gd name="adj" fmla="val 6653"/>
            </a:avLst>
          </a:prstGeom>
          <a:solidFill>
            <a:srgbClr val="30363B"/>
          </a:solidFill>
          <a:ln w="8890">
            <a:solidFill>
              <a:srgbClr val="46525A"/>
            </a:solidFill>
            <a:prstDash val="solid"/>
          </a:ln>
        </p:spPr>
        <p:txBody>
          <a:bodyPr/>
          <a:lstStyle/>
          <a:p>
            <a:endParaRPr lang="nl-NL"/>
          </a:p>
        </p:txBody>
      </p:sp>
      <p:sp>
        <p:nvSpPr>
          <p:cNvPr id="18" name="Text 16"/>
          <p:cNvSpPr/>
          <p:nvPr/>
        </p:nvSpPr>
        <p:spPr>
          <a:xfrm>
            <a:off x="2979229" y="4206240"/>
            <a:ext cx="2016366" cy="445770"/>
          </a:xfrm>
          <a:prstGeom prst="rect">
            <a:avLst/>
          </a:prstGeom>
          <a:noFill/>
          <a:ln/>
        </p:spPr>
        <p:txBody>
          <a:bodyPr wrap="square" lIns="0" tIns="0" rIns="0" bIns="0" rtlCol="0" anchor="t">
            <a:normAutofit/>
          </a:bodyPr>
          <a:lstStyle/>
          <a:p>
            <a:pPr marL="0" indent="0" algn="l">
              <a:buNone/>
            </a:pPr>
            <a:r>
              <a:rPr lang="en-US" sz="1580" b="1" dirty="0">
                <a:solidFill>
                  <a:srgbClr val="F5F6F7"/>
                </a:solidFill>
                <a:latin typeface="Arial" pitchFamily="34" charset="0"/>
                <a:ea typeface="Arial" pitchFamily="34" charset="-122"/>
                <a:cs typeface="Arial" pitchFamily="34" charset="-120"/>
              </a:rPr>
              <a:t>Product type</a:t>
            </a:r>
            <a:endParaRPr lang="en-US" sz="1580" dirty="0"/>
          </a:p>
        </p:txBody>
      </p:sp>
      <p:sp>
        <p:nvSpPr>
          <p:cNvPr id="19" name="Text 17"/>
          <p:cNvSpPr/>
          <p:nvPr/>
        </p:nvSpPr>
        <p:spPr>
          <a:xfrm>
            <a:off x="4890840" y="4280535"/>
            <a:ext cx="2104034" cy="445770"/>
          </a:xfrm>
          <a:prstGeom prst="rect">
            <a:avLst/>
          </a:prstGeom>
          <a:noFill/>
          <a:ln/>
        </p:spPr>
        <p:txBody>
          <a:bodyPr wrap="square" lIns="0" tIns="0" rIns="0" bIns="0" rtlCol="0" anchor="t">
            <a:normAutofit/>
          </a:bodyPr>
          <a:lstStyle/>
          <a:p>
            <a:pPr marL="0" indent="0" algn="l">
              <a:buNone/>
            </a:pPr>
            <a:r>
              <a:rPr lang="en-US" sz="1112" dirty="0">
                <a:solidFill>
                  <a:srgbClr val="BDC4C9"/>
                </a:solidFill>
                <a:latin typeface="Arial" pitchFamily="34" charset="0"/>
                <a:ea typeface="Arial" pitchFamily="34" charset="-122"/>
                <a:cs typeface="Arial" pitchFamily="34" charset="-120"/>
              </a:rPr>
              <a:t>Element, housing, assembly or kit</a:t>
            </a:r>
            <a:endParaRPr lang="en-US" sz="1112" dirty="0"/>
          </a:p>
        </p:txBody>
      </p:sp>
      <p:sp>
        <p:nvSpPr>
          <p:cNvPr id="20" name="Shape 18"/>
          <p:cNvSpPr/>
          <p:nvPr/>
        </p:nvSpPr>
        <p:spPr>
          <a:xfrm>
            <a:off x="3090672" y="4845177"/>
            <a:ext cx="3863340" cy="549783"/>
          </a:xfrm>
          <a:prstGeom prst="roundRect">
            <a:avLst>
              <a:gd name="adj" fmla="val 6653"/>
            </a:avLst>
          </a:prstGeom>
          <a:solidFill>
            <a:srgbClr val="30363B"/>
          </a:solidFill>
          <a:ln w="8890">
            <a:solidFill>
              <a:srgbClr val="46525A"/>
            </a:solidFill>
            <a:prstDash val="solid"/>
          </a:ln>
        </p:spPr>
        <p:txBody>
          <a:bodyPr/>
          <a:lstStyle/>
          <a:p>
            <a:endParaRPr lang="nl-NL"/>
          </a:p>
        </p:txBody>
      </p:sp>
      <p:sp>
        <p:nvSpPr>
          <p:cNvPr id="21" name="Text 19"/>
          <p:cNvSpPr/>
          <p:nvPr/>
        </p:nvSpPr>
        <p:spPr>
          <a:xfrm>
            <a:off x="3239262" y="4934331"/>
            <a:ext cx="1777136" cy="445770"/>
          </a:xfrm>
          <a:prstGeom prst="rect">
            <a:avLst/>
          </a:prstGeom>
          <a:noFill/>
          <a:ln/>
        </p:spPr>
        <p:txBody>
          <a:bodyPr wrap="square" lIns="0" tIns="0" rIns="0" bIns="0" rtlCol="0" anchor="t">
            <a:normAutofit/>
          </a:bodyPr>
          <a:lstStyle/>
          <a:p>
            <a:pPr marL="0" indent="0" algn="l">
              <a:buNone/>
            </a:pPr>
            <a:r>
              <a:rPr lang="en-US" sz="1580" b="1" dirty="0">
                <a:solidFill>
                  <a:srgbClr val="F5F6F7"/>
                </a:solidFill>
                <a:latin typeface="Arial" pitchFamily="34" charset="0"/>
                <a:ea typeface="Arial" pitchFamily="34" charset="-122"/>
                <a:cs typeface="Arial" pitchFamily="34" charset="-120"/>
              </a:rPr>
              <a:t>Original reference</a:t>
            </a:r>
            <a:endParaRPr lang="en-US" sz="1580" dirty="0"/>
          </a:p>
        </p:txBody>
      </p:sp>
      <p:sp>
        <p:nvSpPr>
          <p:cNvPr id="22" name="Text 20"/>
          <p:cNvSpPr/>
          <p:nvPr/>
        </p:nvSpPr>
        <p:spPr>
          <a:xfrm>
            <a:off x="4906442" y="5008626"/>
            <a:ext cx="1854403" cy="445770"/>
          </a:xfrm>
          <a:prstGeom prst="rect">
            <a:avLst/>
          </a:prstGeom>
          <a:noFill/>
          <a:ln/>
        </p:spPr>
        <p:txBody>
          <a:bodyPr wrap="square" lIns="0" tIns="0" rIns="0" bIns="0" rtlCol="0" anchor="t">
            <a:normAutofit/>
          </a:bodyPr>
          <a:lstStyle/>
          <a:p>
            <a:pPr marL="0" indent="0" algn="l">
              <a:buNone/>
            </a:pPr>
            <a:r>
              <a:rPr lang="en-US" sz="1112" dirty="0">
                <a:solidFill>
                  <a:srgbClr val="BDC4C9"/>
                </a:solidFill>
                <a:latin typeface="Arial" pitchFamily="34" charset="0"/>
                <a:ea typeface="Arial" pitchFamily="34" charset="-122"/>
                <a:cs typeface="Arial" pitchFamily="34" charset="-120"/>
              </a:rPr>
              <a:t>The item actually purchased</a:t>
            </a:r>
            <a:endParaRPr lang="en-US" sz="1112" dirty="0"/>
          </a:p>
        </p:txBody>
      </p:sp>
      <p:sp>
        <p:nvSpPr>
          <p:cNvPr id="23" name="Shape 21"/>
          <p:cNvSpPr/>
          <p:nvPr/>
        </p:nvSpPr>
        <p:spPr>
          <a:xfrm>
            <a:off x="7860411" y="3753041"/>
            <a:ext cx="1916811" cy="1448753"/>
          </a:xfrm>
          <a:prstGeom prst="roundRect">
            <a:avLst>
              <a:gd name="adj" fmla="val 2525"/>
            </a:avLst>
          </a:prstGeom>
          <a:solidFill>
            <a:srgbClr val="383F44"/>
          </a:solidFill>
          <a:ln w="8890">
            <a:solidFill>
              <a:srgbClr val="D71920"/>
            </a:solidFill>
            <a:prstDash val="solid"/>
          </a:ln>
        </p:spPr>
        <p:txBody>
          <a:bodyPr/>
          <a:lstStyle/>
          <a:p>
            <a:endParaRPr lang="nl-NL"/>
          </a:p>
        </p:txBody>
      </p:sp>
      <p:sp>
        <p:nvSpPr>
          <p:cNvPr id="24" name="Shape 22"/>
          <p:cNvSpPr/>
          <p:nvPr/>
        </p:nvSpPr>
        <p:spPr>
          <a:xfrm>
            <a:off x="7860411" y="3857054"/>
            <a:ext cx="29718" cy="1240727"/>
          </a:xfrm>
          <a:prstGeom prst="rect">
            <a:avLst/>
          </a:prstGeom>
          <a:solidFill>
            <a:srgbClr val="D71920"/>
          </a:solidFill>
          <a:ln w="12700">
            <a:solidFill>
              <a:srgbClr val="24282C">
                <a:alpha val="0"/>
              </a:srgbClr>
            </a:solidFill>
            <a:prstDash val="solid"/>
          </a:ln>
        </p:spPr>
        <p:txBody>
          <a:bodyPr/>
          <a:lstStyle/>
          <a:p>
            <a:endParaRPr lang="nl-NL"/>
          </a:p>
        </p:txBody>
      </p:sp>
      <p:sp>
        <p:nvSpPr>
          <p:cNvPr id="25" name="Text 23"/>
          <p:cNvSpPr/>
          <p:nvPr/>
        </p:nvSpPr>
        <p:spPr>
          <a:xfrm>
            <a:off x="7986713" y="3871913"/>
            <a:ext cx="1664208" cy="475488"/>
          </a:xfrm>
          <a:prstGeom prst="rect">
            <a:avLst/>
          </a:prstGeom>
          <a:noFill/>
          <a:ln/>
        </p:spPr>
        <p:txBody>
          <a:bodyPr wrap="square" lIns="0" tIns="0" rIns="0" bIns="0" rtlCol="0" anchor="t">
            <a:normAutofit/>
          </a:bodyPr>
          <a:lstStyle/>
          <a:p>
            <a:pPr marL="0" indent="0" algn="l">
              <a:buNone/>
            </a:pPr>
            <a:r>
              <a:rPr lang="en-US" sz="1463" b="1" dirty="0">
                <a:solidFill>
                  <a:srgbClr val="F5F6F7"/>
                </a:solidFill>
                <a:latin typeface="Arial" pitchFamily="34" charset="0"/>
                <a:ea typeface="Arial" pitchFamily="34" charset="-122"/>
                <a:cs typeface="Arial" pitchFamily="34" charset="-120"/>
              </a:rPr>
              <a:t>Commercial choice</a:t>
            </a:r>
            <a:endParaRPr lang="en-US" sz="1463" dirty="0"/>
          </a:p>
        </p:txBody>
      </p:sp>
      <p:sp>
        <p:nvSpPr>
          <p:cNvPr id="26" name="Text 24"/>
          <p:cNvSpPr/>
          <p:nvPr/>
        </p:nvSpPr>
        <p:spPr>
          <a:xfrm>
            <a:off x="7986713" y="4399407"/>
            <a:ext cx="1664208" cy="713232"/>
          </a:xfrm>
          <a:prstGeom prst="rect">
            <a:avLst/>
          </a:prstGeom>
          <a:noFill/>
          <a:ln/>
        </p:spPr>
        <p:txBody>
          <a:bodyPr wrap="square" lIns="0" tIns="0" rIns="0" bIns="0" rtlCol="0" anchor="t">
            <a:normAutofit/>
          </a:bodyPr>
          <a:lstStyle/>
          <a:p>
            <a:pPr marL="0" indent="0" algn="l">
              <a:buNone/>
            </a:pPr>
            <a:r>
              <a:rPr lang="en-US" sz="1170" dirty="0">
                <a:solidFill>
                  <a:srgbClr val="BDC4C9"/>
                </a:solidFill>
                <a:latin typeface="Arial" pitchFamily="34" charset="0"/>
                <a:ea typeface="Arial" pitchFamily="34" charset="-122"/>
                <a:cs typeface="Arial" pitchFamily="34" charset="-120"/>
              </a:rPr>
              <a:t>Explore composition, compare the offer and select an initiative.</a:t>
            </a:r>
            <a:endParaRPr lang="en-US" sz="1170" dirty="0"/>
          </a:p>
        </p:txBody>
      </p:sp>
      <p:sp>
        <p:nvSpPr>
          <p:cNvPr id="27" name="Shape 25"/>
          <p:cNvSpPr/>
          <p:nvPr/>
        </p:nvSpPr>
        <p:spPr>
          <a:xfrm>
            <a:off x="7251192" y="4384548"/>
            <a:ext cx="557213" cy="914"/>
          </a:xfrm>
          <a:prstGeom prst="line">
            <a:avLst/>
          </a:prstGeom>
          <a:noFill/>
          <a:ln w="22289">
            <a:solidFill>
              <a:srgbClr val="D71920"/>
            </a:solidFill>
            <a:prstDash val="solid"/>
            <a:tailEnd type="triangle"/>
          </a:ln>
        </p:spPr>
        <p:txBody>
          <a:bodyPr/>
          <a:lstStyle/>
          <a:p>
            <a:endParaRPr lang="nl-NL"/>
          </a:p>
        </p:txBody>
      </p:sp>
      <p:sp>
        <p:nvSpPr>
          <p:cNvPr id="28" name="Text 26"/>
          <p:cNvSpPr/>
          <p:nvPr/>
        </p:nvSpPr>
        <p:spPr>
          <a:xfrm>
            <a:off x="548640" y="5678424"/>
            <a:ext cx="10954512" cy="219456"/>
          </a:xfrm>
          <a:prstGeom prst="rect">
            <a:avLst/>
          </a:prstGeom>
          <a:noFill/>
          <a:ln/>
        </p:spPr>
        <p:txBody>
          <a:bodyPr wrap="square" lIns="0" tIns="0" rIns="0" bIns="0" rtlCol="0" anchor="t">
            <a:normAutofit/>
          </a:bodyPr>
          <a:lstStyle/>
          <a:p>
            <a:pPr marL="0" indent="0" algn="l">
              <a:buNone/>
            </a:pPr>
            <a:r>
              <a:rPr lang="en-US" sz="840" dirty="0">
                <a:solidFill>
                  <a:srgbClr val="BDC4C9"/>
                </a:solidFill>
                <a:latin typeface="Arial" pitchFamily="34" charset="0"/>
                <a:ea typeface="Arial" pitchFamily="34" charset="-122"/>
                <a:cs typeface="Arial" pitchFamily="34" charset="-120"/>
              </a:rPr>
              <a:t>Proposed design / relationships, not measured effects.</a:t>
            </a:r>
            <a:endParaRPr lang="en-US" sz="840" dirty="0"/>
          </a:p>
        </p:txBody>
      </p:sp>
      <p:sp>
        <p:nvSpPr>
          <p:cNvPr id="29" name="Text 27"/>
          <p:cNvSpPr/>
          <p:nvPr/>
        </p:nvSpPr>
        <p:spPr>
          <a:xfrm>
            <a:off x="603504" y="5925312"/>
            <a:ext cx="10917936" cy="347472"/>
          </a:xfrm>
          <a:prstGeom prst="rect">
            <a:avLst/>
          </a:prstGeom>
          <a:noFill/>
          <a:ln/>
        </p:spPr>
        <p:txBody>
          <a:bodyPr wrap="square" lIns="0" tIns="0" rIns="0" bIns="0" rtlCol="0" anchor="t">
            <a:normAutofit/>
          </a:bodyPr>
          <a:lstStyle/>
          <a:p>
            <a:pPr marL="0" indent="0" algn="l">
              <a:buNone/>
            </a:pPr>
            <a:r>
              <a:rPr lang="en-US" sz="1320" dirty="0">
                <a:solidFill>
                  <a:srgbClr val="F5F6F7"/>
                </a:solidFill>
                <a:latin typeface="Arial" pitchFamily="34" charset="0"/>
                <a:ea typeface="Arial" pitchFamily="34" charset="-122"/>
                <a:cs typeface="Arial" pitchFamily="34" charset="-120"/>
              </a:rPr>
              <a:t>The participant should be able to explore beyond a ranked exception list.</a:t>
            </a:r>
            <a:endParaRPr lang="en-US" sz="13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4282C"/>
        </a:solidFill>
        <a:effectLst/>
      </p:bgPr>
    </p:bg>
    <p:spTree>
      <p:nvGrpSpPr>
        <p:cNvPr id="1" name=""/>
        <p:cNvGrpSpPr/>
        <p:nvPr/>
      </p:nvGrpSpPr>
      <p:grpSpPr>
        <a:xfrm>
          <a:off x="0" y="0"/>
          <a:ext cx="0" cy="0"/>
          <a:chOff x="0" y="0"/>
          <a:chExt cx="0" cy="0"/>
        </a:xfrm>
      </p:grpSpPr>
      <p:sp>
        <p:nvSpPr>
          <p:cNvPr id="2" name="Text 0"/>
          <p:cNvSpPr/>
          <p:nvPr/>
        </p:nvSpPr>
        <p:spPr>
          <a:xfrm>
            <a:off x="484632" y="173736"/>
            <a:ext cx="2743200" cy="201168"/>
          </a:xfrm>
          <a:prstGeom prst="rect">
            <a:avLst/>
          </a:prstGeom>
          <a:noFill/>
          <a:ln/>
        </p:spPr>
        <p:txBody>
          <a:bodyPr wrap="square" lIns="0" tIns="0" rIns="0" bIns="0" rtlCol="0" anchor="t">
            <a:normAutofit/>
          </a:bodyPr>
          <a:lstStyle/>
          <a:p>
            <a:pPr marL="0" indent="0" algn="l">
              <a:buNone/>
            </a:pPr>
            <a:r>
              <a:rPr lang="en-US" sz="1000" b="1" dirty="0">
                <a:solidFill>
                  <a:srgbClr val="F5F6F7"/>
                </a:solidFill>
                <a:latin typeface="Arial" pitchFamily="34" charset="0"/>
                <a:ea typeface="Arial" pitchFamily="34" charset="-122"/>
                <a:cs typeface="Arial" pitchFamily="34" charset="-120"/>
              </a:rPr>
              <a:t>ISUZU / UNIVERSE</a:t>
            </a:r>
            <a:endParaRPr lang="en-US" sz="1000" dirty="0"/>
          </a:p>
        </p:txBody>
      </p:sp>
      <p:sp>
        <p:nvSpPr>
          <p:cNvPr id="3" name="Text 1"/>
          <p:cNvSpPr/>
          <p:nvPr/>
        </p:nvSpPr>
        <p:spPr>
          <a:xfrm>
            <a:off x="8046720" y="173736"/>
            <a:ext cx="3657600" cy="201168"/>
          </a:xfrm>
          <a:prstGeom prst="rect">
            <a:avLst/>
          </a:prstGeom>
          <a:noFill/>
          <a:ln/>
        </p:spPr>
        <p:txBody>
          <a:bodyPr wrap="square" lIns="0" tIns="0" rIns="0" bIns="0" rtlCol="0" anchor="t">
            <a:normAutofit/>
          </a:bodyPr>
          <a:lstStyle/>
          <a:p>
            <a:pPr marL="0" indent="0" algn="r">
              <a:buNone/>
            </a:pPr>
            <a:r>
              <a:rPr lang="en-US" sz="900" dirty="0">
                <a:solidFill>
                  <a:srgbClr val="BDC4C9"/>
                </a:solidFill>
                <a:latin typeface="Arial" pitchFamily="34" charset="0"/>
                <a:ea typeface="Arial" pitchFamily="34" charset="-122"/>
                <a:cs typeface="Arial" pitchFamily="34" charset="-120"/>
              </a:rPr>
              <a:t>COMMERCIAL VISION  /  3.0</a:t>
            </a:r>
            <a:endParaRPr lang="en-US" sz="900" dirty="0"/>
          </a:p>
        </p:txBody>
      </p:sp>
      <p:sp>
        <p:nvSpPr>
          <p:cNvPr id="4" name="Shape 2"/>
          <p:cNvSpPr/>
          <p:nvPr/>
        </p:nvSpPr>
        <p:spPr>
          <a:xfrm>
            <a:off x="484632" y="512064"/>
            <a:ext cx="475488" cy="22860"/>
          </a:xfrm>
          <a:prstGeom prst="rect">
            <a:avLst/>
          </a:prstGeom>
          <a:solidFill>
            <a:srgbClr val="D71920"/>
          </a:solidFill>
          <a:ln w="12700">
            <a:solidFill>
              <a:srgbClr val="D71920">
                <a:alpha val="0"/>
              </a:srgbClr>
            </a:solidFill>
            <a:prstDash val="solid"/>
          </a:ln>
        </p:spPr>
        <p:txBody>
          <a:bodyPr/>
          <a:lstStyle/>
          <a:p>
            <a:endParaRPr lang="nl-NL"/>
          </a:p>
        </p:txBody>
      </p:sp>
      <p:sp>
        <p:nvSpPr>
          <p:cNvPr id="5" name="Text 3"/>
          <p:cNvSpPr/>
          <p:nvPr/>
        </p:nvSpPr>
        <p:spPr>
          <a:xfrm>
            <a:off x="484632" y="658368"/>
            <a:ext cx="11064240" cy="219456"/>
          </a:xfrm>
          <a:prstGeom prst="rect">
            <a:avLst/>
          </a:prstGeom>
          <a:noFill/>
          <a:ln/>
        </p:spPr>
        <p:txBody>
          <a:bodyPr wrap="square" lIns="0" tIns="0" rIns="0" bIns="0" rtlCol="0" anchor="t">
            <a:normAutofit/>
          </a:bodyPr>
          <a:lstStyle/>
          <a:p>
            <a:pPr marL="0" indent="0" algn="l">
              <a:buNone/>
            </a:pPr>
            <a:r>
              <a:rPr lang="en-US" sz="1000" b="1" dirty="0">
                <a:solidFill>
                  <a:srgbClr val="D71920"/>
                </a:solidFill>
                <a:latin typeface="Arial" pitchFamily="34" charset="0"/>
                <a:ea typeface="Arial" pitchFamily="34" charset="-122"/>
                <a:cs typeface="Arial" pitchFamily="34" charset="-120"/>
              </a:rPr>
              <a:t>AIM / PRODUCT MEANING</a:t>
            </a:r>
            <a:endParaRPr lang="en-US" sz="1000" dirty="0"/>
          </a:p>
        </p:txBody>
      </p:sp>
      <p:sp>
        <p:nvSpPr>
          <p:cNvPr id="6" name="Shape 4"/>
          <p:cNvSpPr/>
          <p:nvPr/>
        </p:nvSpPr>
        <p:spPr>
          <a:xfrm>
            <a:off x="484632" y="6446520"/>
            <a:ext cx="11219688" cy="914"/>
          </a:xfrm>
          <a:prstGeom prst="line">
            <a:avLst/>
          </a:prstGeom>
          <a:noFill/>
          <a:ln w="6350">
            <a:solidFill>
              <a:srgbClr val="647078"/>
            </a:solidFill>
            <a:prstDash val="solid"/>
          </a:ln>
        </p:spPr>
        <p:txBody>
          <a:bodyPr/>
          <a:lstStyle/>
          <a:p>
            <a:endParaRPr lang="nl-NL"/>
          </a:p>
        </p:txBody>
      </p:sp>
      <p:sp>
        <p:nvSpPr>
          <p:cNvPr id="7" name="Text 5"/>
          <p:cNvSpPr/>
          <p:nvPr/>
        </p:nvSpPr>
        <p:spPr>
          <a:xfrm>
            <a:off x="484632" y="6556248"/>
            <a:ext cx="9144000" cy="146304"/>
          </a:xfrm>
          <a:prstGeom prst="rect">
            <a:avLst/>
          </a:prstGeom>
          <a:noFill/>
          <a:ln/>
        </p:spPr>
        <p:txBody>
          <a:bodyPr wrap="square" lIns="0" tIns="0" rIns="0" bIns="0" rtlCol="0" anchor="t">
            <a:normAutofit/>
          </a:bodyPr>
          <a:lstStyle/>
          <a:p>
            <a:pPr marL="0" indent="0" algn="l">
              <a:buNone/>
            </a:pPr>
            <a:r>
              <a:rPr lang="en-US" sz="750" dirty="0">
                <a:solidFill>
                  <a:srgbClr val="BDC4C9"/>
                </a:solidFill>
                <a:latin typeface="Arial" pitchFamily="34" charset="0"/>
                <a:ea typeface="Arial" pitchFamily="34" charset="-122"/>
                <a:cs typeface="Arial" pitchFamily="34" charset="-120"/>
              </a:rPr>
              <a:t>22 SEPTEMBER 2026  /  CONCEPT AND APPLICATION EXAMPLES</a:t>
            </a:r>
            <a:endParaRPr lang="en-US" sz="750" dirty="0"/>
          </a:p>
        </p:txBody>
      </p:sp>
      <p:sp>
        <p:nvSpPr>
          <p:cNvPr id="8" name="Text 6"/>
          <p:cNvSpPr/>
          <p:nvPr/>
        </p:nvSpPr>
        <p:spPr>
          <a:xfrm>
            <a:off x="10789920" y="6547104"/>
            <a:ext cx="914400" cy="173736"/>
          </a:xfrm>
          <a:prstGeom prst="rect">
            <a:avLst/>
          </a:prstGeom>
          <a:noFill/>
          <a:ln/>
        </p:spPr>
        <p:txBody>
          <a:bodyPr wrap="square" lIns="0" tIns="0" rIns="0" bIns="0" rtlCol="0" anchor="t">
            <a:normAutofit/>
          </a:bodyPr>
          <a:lstStyle/>
          <a:p>
            <a:pPr marL="0" indent="0" algn="r">
              <a:buNone/>
            </a:pPr>
            <a:r>
              <a:rPr lang="en-US" sz="850" dirty="0">
                <a:solidFill>
                  <a:srgbClr val="BDC4C9"/>
                </a:solidFill>
                <a:latin typeface="Arial" pitchFamily="34" charset="0"/>
                <a:ea typeface="Arial" pitchFamily="34" charset="-122"/>
                <a:cs typeface="Arial" pitchFamily="34" charset="-120"/>
              </a:rPr>
              <a:t>08 / 49</a:t>
            </a:r>
            <a:endParaRPr lang="en-US" sz="850" dirty="0"/>
          </a:p>
        </p:txBody>
      </p:sp>
      <p:sp>
        <p:nvSpPr>
          <p:cNvPr id="9" name="Text 7"/>
          <p:cNvSpPr/>
          <p:nvPr/>
        </p:nvSpPr>
        <p:spPr>
          <a:xfrm>
            <a:off x="502920" y="1005840"/>
            <a:ext cx="11036808" cy="841248"/>
          </a:xfrm>
          <a:prstGeom prst="rect">
            <a:avLst/>
          </a:prstGeom>
          <a:noFill/>
          <a:ln/>
        </p:spPr>
        <p:txBody>
          <a:bodyPr wrap="square" lIns="0" tIns="0" rIns="0" bIns="0" rtlCol="0" anchor="t">
            <a:normAutofit/>
          </a:bodyPr>
          <a:lstStyle/>
          <a:p>
            <a:pPr marL="0" indent="0" algn="l">
              <a:buNone/>
            </a:pPr>
            <a:r>
              <a:rPr lang="en-US" sz="3400" b="1" dirty="0">
                <a:solidFill>
                  <a:srgbClr val="F5F6F7"/>
                </a:solidFill>
                <a:latin typeface="Arial" pitchFamily="34" charset="0"/>
                <a:ea typeface="Arial" pitchFamily="34" charset="-122"/>
                <a:cs typeface="Arial" pitchFamily="34" charset="-120"/>
              </a:rPr>
              <a:t>A filter element is not a filter housing.</a:t>
            </a:r>
            <a:endParaRPr lang="en-US" sz="3400" dirty="0"/>
          </a:p>
        </p:txBody>
      </p:sp>
      <p:sp>
        <p:nvSpPr>
          <p:cNvPr id="10" name="Text 8"/>
          <p:cNvSpPr/>
          <p:nvPr/>
        </p:nvSpPr>
        <p:spPr>
          <a:xfrm>
            <a:off x="530352" y="1865376"/>
            <a:ext cx="10954512" cy="566928"/>
          </a:xfrm>
          <a:prstGeom prst="rect">
            <a:avLst/>
          </a:prstGeom>
          <a:noFill/>
          <a:ln/>
        </p:spPr>
        <p:txBody>
          <a:bodyPr wrap="square" lIns="0" tIns="0" rIns="0" bIns="0" rtlCol="0" anchor="t">
            <a:normAutofit/>
          </a:bodyPr>
          <a:lstStyle/>
          <a:p>
            <a:pPr marL="0" indent="0" algn="l">
              <a:buNone/>
            </a:pPr>
            <a:r>
              <a:rPr lang="en-US" sz="1800" dirty="0">
                <a:solidFill>
                  <a:srgbClr val="BDC4C9"/>
                </a:solidFill>
                <a:latin typeface="Arial" pitchFamily="34" charset="0"/>
                <a:ea typeface="Arial" pitchFamily="34" charset="-122"/>
                <a:cs typeface="Arial" pitchFamily="34" charset="-120"/>
              </a:rPr>
              <a:t>A meaningful price or range comparison starts with the product contents.</a:t>
            </a:r>
            <a:endParaRPr lang="en-US" sz="1800" dirty="0"/>
          </a:p>
        </p:txBody>
      </p:sp>
      <p:sp>
        <p:nvSpPr>
          <p:cNvPr id="11" name="Shape 9"/>
          <p:cNvSpPr/>
          <p:nvPr/>
        </p:nvSpPr>
        <p:spPr>
          <a:xfrm>
            <a:off x="4596927" y="2660904"/>
            <a:ext cx="2931090" cy="814192"/>
          </a:xfrm>
          <a:prstGeom prst="roundRect">
            <a:avLst>
              <a:gd name="adj" fmla="val 4492"/>
            </a:avLst>
          </a:prstGeom>
          <a:solidFill>
            <a:srgbClr val="383F44"/>
          </a:solidFill>
          <a:ln w="8890">
            <a:solidFill>
              <a:srgbClr val="D71920"/>
            </a:solidFill>
            <a:prstDash val="solid"/>
          </a:ln>
        </p:spPr>
        <p:txBody>
          <a:bodyPr/>
          <a:lstStyle/>
          <a:p>
            <a:endParaRPr lang="nl-NL"/>
          </a:p>
        </p:txBody>
      </p:sp>
      <p:sp>
        <p:nvSpPr>
          <p:cNvPr id="12" name="Shape 10"/>
          <p:cNvSpPr/>
          <p:nvPr/>
        </p:nvSpPr>
        <p:spPr>
          <a:xfrm>
            <a:off x="4596927" y="2774891"/>
            <a:ext cx="32568" cy="586218"/>
          </a:xfrm>
          <a:prstGeom prst="rect">
            <a:avLst/>
          </a:prstGeom>
          <a:solidFill>
            <a:srgbClr val="D71920"/>
          </a:solidFill>
          <a:ln w="12700">
            <a:solidFill>
              <a:srgbClr val="24282C">
                <a:alpha val="0"/>
              </a:srgbClr>
            </a:solidFill>
            <a:prstDash val="solid"/>
          </a:ln>
        </p:spPr>
        <p:txBody>
          <a:bodyPr/>
          <a:lstStyle/>
          <a:p>
            <a:endParaRPr lang="nl-NL"/>
          </a:p>
        </p:txBody>
      </p:sp>
      <p:sp>
        <p:nvSpPr>
          <p:cNvPr id="13" name="Text 11"/>
          <p:cNvSpPr/>
          <p:nvPr/>
        </p:nvSpPr>
        <p:spPr>
          <a:xfrm>
            <a:off x="4735339" y="2791175"/>
            <a:ext cx="2654265" cy="398954"/>
          </a:xfrm>
          <a:prstGeom prst="rect">
            <a:avLst/>
          </a:prstGeom>
          <a:noFill/>
          <a:ln/>
        </p:spPr>
        <p:txBody>
          <a:bodyPr wrap="square" lIns="0" tIns="0" rIns="0" bIns="0" rtlCol="0" anchor="t">
            <a:normAutofit/>
          </a:bodyPr>
          <a:lstStyle/>
          <a:p>
            <a:pPr marL="0" indent="0" algn="l">
              <a:buNone/>
            </a:pPr>
            <a:r>
              <a:rPr lang="en-US" sz="1410" b="1" dirty="0">
                <a:solidFill>
                  <a:srgbClr val="F5F6F7"/>
                </a:solidFill>
                <a:latin typeface="Arial" pitchFamily="34" charset="0"/>
                <a:ea typeface="Arial" pitchFamily="34" charset="-122"/>
                <a:cs typeface="Arial" pitchFamily="34" charset="-120"/>
              </a:rPr>
              <a:t>One broad family</a:t>
            </a:r>
            <a:endParaRPr lang="en-US" sz="1410" dirty="0"/>
          </a:p>
        </p:txBody>
      </p:sp>
      <p:sp>
        <p:nvSpPr>
          <p:cNvPr id="14" name="Text 12"/>
          <p:cNvSpPr/>
          <p:nvPr/>
        </p:nvSpPr>
        <p:spPr>
          <a:xfrm>
            <a:off x="4735339" y="3141277"/>
            <a:ext cx="2654265" cy="276825"/>
          </a:xfrm>
          <a:prstGeom prst="rect">
            <a:avLst/>
          </a:prstGeom>
          <a:noFill/>
          <a:ln/>
        </p:spPr>
        <p:txBody>
          <a:bodyPr wrap="square" lIns="0" tIns="0" rIns="0" bIns="0" rtlCol="0" anchor="t">
            <a:normAutofit/>
          </a:bodyPr>
          <a:lstStyle/>
          <a:p>
            <a:pPr marL="0" indent="0" algn="l">
              <a:buNone/>
            </a:pPr>
            <a:r>
              <a:rPr lang="en-US" sz="1154" dirty="0">
                <a:solidFill>
                  <a:srgbClr val="BDC4C9"/>
                </a:solidFill>
                <a:latin typeface="Arial" pitchFamily="34" charset="0"/>
                <a:ea typeface="Arial" pitchFamily="34" charset="-122"/>
                <a:cs typeface="Arial" pitchFamily="34" charset="-120"/>
              </a:rPr>
              <a:t>Different commercial product forms</a:t>
            </a:r>
            <a:endParaRPr lang="en-US" sz="1154" dirty="0"/>
          </a:p>
        </p:txBody>
      </p:sp>
      <p:sp>
        <p:nvSpPr>
          <p:cNvPr id="15" name="Shape 13"/>
          <p:cNvSpPr/>
          <p:nvPr/>
        </p:nvSpPr>
        <p:spPr>
          <a:xfrm flipH="1">
            <a:off x="2911550" y="3548373"/>
            <a:ext cx="3150922" cy="643212"/>
          </a:xfrm>
          <a:prstGeom prst="line">
            <a:avLst/>
          </a:prstGeom>
          <a:noFill/>
          <a:ln w="16284">
            <a:solidFill>
              <a:srgbClr val="646E76"/>
            </a:solidFill>
            <a:prstDash val="solid"/>
            <a:tailEnd type="triangle"/>
          </a:ln>
        </p:spPr>
        <p:txBody>
          <a:bodyPr/>
          <a:lstStyle/>
          <a:p>
            <a:endParaRPr lang="nl-NL"/>
          </a:p>
        </p:txBody>
      </p:sp>
      <p:sp>
        <p:nvSpPr>
          <p:cNvPr id="16" name="Shape 14"/>
          <p:cNvSpPr/>
          <p:nvPr/>
        </p:nvSpPr>
        <p:spPr>
          <a:xfrm>
            <a:off x="1991513" y="4248578"/>
            <a:ext cx="1840073" cy="1261997"/>
          </a:xfrm>
          <a:prstGeom prst="roundRect">
            <a:avLst>
              <a:gd name="adj" fmla="val 2898"/>
            </a:avLst>
          </a:prstGeom>
          <a:solidFill>
            <a:srgbClr val="30363B"/>
          </a:solidFill>
          <a:ln w="8890">
            <a:solidFill>
              <a:srgbClr val="48525B"/>
            </a:solidFill>
            <a:prstDash val="solid"/>
          </a:ln>
        </p:spPr>
        <p:txBody>
          <a:bodyPr/>
          <a:lstStyle/>
          <a:p>
            <a:endParaRPr lang="nl-NL"/>
          </a:p>
        </p:txBody>
      </p:sp>
      <p:sp>
        <p:nvSpPr>
          <p:cNvPr id="17" name="Shape 15"/>
          <p:cNvSpPr/>
          <p:nvPr/>
        </p:nvSpPr>
        <p:spPr>
          <a:xfrm>
            <a:off x="1991513" y="4362565"/>
            <a:ext cx="32568" cy="1034024"/>
          </a:xfrm>
          <a:prstGeom prst="rect">
            <a:avLst/>
          </a:prstGeom>
          <a:solidFill>
            <a:srgbClr val="82909A"/>
          </a:solidFill>
          <a:ln w="12700">
            <a:solidFill>
              <a:srgbClr val="24282C">
                <a:alpha val="0"/>
              </a:srgbClr>
            </a:solidFill>
            <a:prstDash val="solid"/>
          </a:ln>
        </p:spPr>
        <p:txBody>
          <a:bodyPr/>
          <a:lstStyle/>
          <a:p>
            <a:endParaRPr lang="nl-NL"/>
          </a:p>
        </p:txBody>
      </p:sp>
      <p:sp>
        <p:nvSpPr>
          <p:cNvPr id="18" name="Text 16"/>
          <p:cNvSpPr/>
          <p:nvPr/>
        </p:nvSpPr>
        <p:spPr>
          <a:xfrm>
            <a:off x="2129926" y="4378849"/>
            <a:ext cx="1563248" cy="521083"/>
          </a:xfrm>
          <a:prstGeom prst="rect">
            <a:avLst/>
          </a:prstGeom>
          <a:noFill/>
          <a:ln/>
        </p:spPr>
        <p:txBody>
          <a:bodyPr wrap="square" lIns="0" tIns="0" rIns="0" bIns="0" rtlCol="0" anchor="t">
            <a:normAutofit/>
          </a:bodyPr>
          <a:lstStyle/>
          <a:p>
            <a:pPr marL="0" indent="0" algn="l">
              <a:buNone/>
            </a:pPr>
            <a:r>
              <a:rPr lang="en-US" sz="1603" b="1" dirty="0">
                <a:solidFill>
                  <a:srgbClr val="F5F6F7"/>
                </a:solidFill>
                <a:latin typeface="Arial" pitchFamily="34" charset="0"/>
                <a:ea typeface="Arial" pitchFamily="34" charset="-122"/>
                <a:cs typeface="Arial" pitchFamily="34" charset="-120"/>
              </a:rPr>
              <a:t>Element</a:t>
            </a:r>
            <a:endParaRPr lang="en-US" sz="1603" dirty="0"/>
          </a:p>
        </p:txBody>
      </p:sp>
      <p:sp>
        <p:nvSpPr>
          <p:cNvPr id="19" name="Text 17"/>
          <p:cNvSpPr/>
          <p:nvPr/>
        </p:nvSpPr>
        <p:spPr>
          <a:xfrm>
            <a:off x="2129926" y="4956925"/>
            <a:ext cx="1563248" cy="455947"/>
          </a:xfrm>
          <a:prstGeom prst="rect">
            <a:avLst/>
          </a:prstGeom>
          <a:noFill/>
          <a:ln/>
        </p:spPr>
        <p:txBody>
          <a:bodyPr wrap="square" lIns="0" tIns="0" rIns="0" bIns="0" rtlCol="0" anchor="t">
            <a:normAutofit/>
          </a:bodyPr>
          <a:lstStyle/>
          <a:p>
            <a:pPr marL="0" indent="0" algn="l">
              <a:buNone/>
            </a:pPr>
            <a:r>
              <a:rPr lang="en-US" sz="1282" dirty="0">
                <a:solidFill>
                  <a:srgbClr val="BDC4C9"/>
                </a:solidFill>
                <a:latin typeface="Arial" pitchFamily="34" charset="0"/>
                <a:ea typeface="Arial" pitchFamily="34" charset="-122"/>
                <a:cs typeface="Arial" pitchFamily="34" charset="-120"/>
              </a:rPr>
              <a:t>A consumable component</a:t>
            </a:r>
            <a:endParaRPr lang="en-US" sz="1282" dirty="0"/>
          </a:p>
        </p:txBody>
      </p:sp>
      <p:sp>
        <p:nvSpPr>
          <p:cNvPr id="20" name="Shape 18"/>
          <p:cNvSpPr/>
          <p:nvPr/>
        </p:nvSpPr>
        <p:spPr>
          <a:xfrm flipH="1">
            <a:off x="5012165" y="3548373"/>
            <a:ext cx="1050307" cy="643212"/>
          </a:xfrm>
          <a:prstGeom prst="line">
            <a:avLst/>
          </a:prstGeom>
          <a:noFill/>
          <a:ln w="16284">
            <a:solidFill>
              <a:srgbClr val="646E76"/>
            </a:solidFill>
            <a:prstDash val="solid"/>
            <a:tailEnd type="triangle"/>
          </a:ln>
        </p:spPr>
        <p:txBody>
          <a:bodyPr/>
          <a:lstStyle/>
          <a:p>
            <a:endParaRPr lang="nl-NL"/>
          </a:p>
        </p:txBody>
      </p:sp>
      <p:sp>
        <p:nvSpPr>
          <p:cNvPr id="21" name="Shape 19"/>
          <p:cNvSpPr/>
          <p:nvPr/>
        </p:nvSpPr>
        <p:spPr>
          <a:xfrm>
            <a:off x="4092128" y="4248578"/>
            <a:ext cx="1840073" cy="1261997"/>
          </a:xfrm>
          <a:prstGeom prst="roundRect">
            <a:avLst>
              <a:gd name="adj" fmla="val 2898"/>
            </a:avLst>
          </a:prstGeom>
          <a:solidFill>
            <a:srgbClr val="30363B"/>
          </a:solidFill>
          <a:ln w="8890">
            <a:solidFill>
              <a:srgbClr val="48525B"/>
            </a:solidFill>
            <a:prstDash val="solid"/>
          </a:ln>
        </p:spPr>
        <p:txBody>
          <a:bodyPr/>
          <a:lstStyle/>
          <a:p>
            <a:endParaRPr lang="nl-NL"/>
          </a:p>
        </p:txBody>
      </p:sp>
      <p:sp>
        <p:nvSpPr>
          <p:cNvPr id="22" name="Shape 20"/>
          <p:cNvSpPr/>
          <p:nvPr/>
        </p:nvSpPr>
        <p:spPr>
          <a:xfrm>
            <a:off x="4092128" y="4362565"/>
            <a:ext cx="32568" cy="1034024"/>
          </a:xfrm>
          <a:prstGeom prst="rect">
            <a:avLst/>
          </a:prstGeom>
          <a:solidFill>
            <a:srgbClr val="82909A"/>
          </a:solidFill>
          <a:ln w="12700">
            <a:solidFill>
              <a:srgbClr val="24282C">
                <a:alpha val="0"/>
              </a:srgbClr>
            </a:solidFill>
            <a:prstDash val="solid"/>
          </a:ln>
        </p:spPr>
        <p:txBody>
          <a:bodyPr/>
          <a:lstStyle/>
          <a:p>
            <a:endParaRPr lang="nl-NL"/>
          </a:p>
        </p:txBody>
      </p:sp>
      <p:sp>
        <p:nvSpPr>
          <p:cNvPr id="23" name="Text 21"/>
          <p:cNvSpPr/>
          <p:nvPr/>
        </p:nvSpPr>
        <p:spPr>
          <a:xfrm>
            <a:off x="4230540" y="4378849"/>
            <a:ext cx="1563248" cy="521083"/>
          </a:xfrm>
          <a:prstGeom prst="rect">
            <a:avLst/>
          </a:prstGeom>
          <a:noFill/>
          <a:ln/>
        </p:spPr>
        <p:txBody>
          <a:bodyPr wrap="square" lIns="0" tIns="0" rIns="0" bIns="0" rtlCol="0" anchor="t">
            <a:normAutofit/>
          </a:bodyPr>
          <a:lstStyle/>
          <a:p>
            <a:pPr marL="0" indent="0" algn="l">
              <a:buNone/>
            </a:pPr>
            <a:r>
              <a:rPr lang="en-US" sz="1603" b="1" dirty="0">
                <a:solidFill>
                  <a:srgbClr val="F5F6F7"/>
                </a:solidFill>
                <a:latin typeface="Arial" pitchFamily="34" charset="0"/>
                <a:ea typeface="Arial" pitchFamily="34" charset="-122"/>
                <a:cs typeface="Arial" pitchFamily="34" charset="-120"/>
              </a:rPr>
              <a:t>Housing</a:t>
            </a:r>
            <a:endParaRPr lang="en-US" sz="1603" dirty="0"/>
          </a:p>
        </p:txBody>
      </p:sp>
      <p:sp>
        <p:nvSpPr>
          <p:cNvPr id="24" name="Text 22"/>
          <p:cNvSpPr/>
          <p:nvPr/>
        </p:nvSpPr>
        <p:spPr>
          <a:xfrm>
            <a:off x="4230540" y="4956925"/>
            <a:ext cx="1563248" cy="455947"/>
          </a:xfrm>
          <a:prstGeom prst="rect">
            <a:avLst/>
          </a:prstGeom>
          <a:noFill/>
          <a:ln/>
        </p:spPr>
        <p:txBody>
          <a:bodyPr wrap="square" lIns="0" tIns="0" rIns="0" bIns="0" rtlCol="0" anchor="t">
            <a:normAutofit/>
          </a:bodyPr>
          <a:lstStyle/>
          <a:p>
            <a:pPr marL="0" indent="0" algn="l">
              <a:buNone/>
            </a:pPr>
            <a:r>
              <a:rPr lang="en-US" sz="1282" dirty="0">
                <a:solidFill>
                  <a:srgbClr val="BDC4C9"/>
                </a:solidFill>
                <a:latin typeface="Arial" pitchFamily="34" charset="0"/>
                <a:ea typeface="Arial" pitchFamily="34" charset="-122"/>
                <a:cs typeface="Arial" pitchFamily="34" charset="-120"/>
              </a:rPr>
              <a:t>The enclosing component</a:t>
            </a:r>
            <a:endParaRPr lang="en-US" sz="1282" dirty="0"/>
          </a:p>
        </p:txBody>
      </p:sp>
      <p:sp>
        <p:nvSpPr>
          <p:cNvPr id="25" name="Shape 23"/>
          <p:cNvSpPr/>
          <p:nvPr/>
        </p:nvSpPr>
        <p:spPr>
          <a:xfrm>
            <a:off x="6062472" y="3548373"/>
            <a:ext cx="1050307" cy="643212"/>
          </a:xfrm>
          <a:prstGeom prst="line">
            <a:avLst/>
          </a:prstGeom>
          <a:noFill/>
          <a:ln w="16284">
            <a:solidFill>
              <a:srgbClr val="646E76"/>
            </a:solidFill>
            <a:prstDash val="solid"/>
            <a:tailEnd type="triangle"/>
          </a:ln>
        </p:spPr>
        <p:txBody>
          <a:bodyPr/>
          <a:lstStyle/>
          <a:p>
            <a:endParaRPr lang="nl-NL"/>
          </a:p>
        </p:txBody>
      </p:sp>
      <p:sp>
        <p:nvSpPr>
          <p:cNvPr id="26" name="Shape 24"/>
          <p:cNvSpPr/>
          <p:nvPr/>
        </p:nvSpPr>
        <p:spPr>
          <a:xfrm>
            <a:off x="6192743" y="4248578"/>
            <a:ext cx="1840073" cy="1261997"/>
          </a:xfrm>
          <a:prstGeom prst="roundRect">
            <a:avLst>
              <a:gd name="adj" fmla="val 2898"/>
            </a:avLst>
          </a:prstGeom>
          <a:solidFill>
            <a:srgbClr val="30363B"/>
          </a:solidFill>
          <a:ln w="8890">
            <a:solidFill>
              <a:srgbClr val="48525B"/>
            </a:solidFill>
            <a:prstDash val="solid"/>
          </a:ln>
        </p:spPr>
        <p:txBody>
          <a:bodyPr/>
          <a:lstStyle/>
          <a:p>
            <a:endParaRPr lang="nl-NL"/>
          </a:p>
        </p:txBody>
      </p:sp>
      <p:sp>
        <p:nvSpPr>
          <p:cNvPr id="27" name="Shape 25"/>
          <p:cNvSpPr/>
          <p:nvPr/>
        </p:nvSpPr>
        <p:spPr>
          <a:xfrm>
            <a:off x="6192743" y="4362565"/>
            <a:ext cx="32568" cy="1034024"/>
          </a:xfrm>
          <a:prstGeom prst="rect">
            <a:avLst/>
          </a:prstGeom>
          <a:solidFill>
            <a:srgbClr val="82909A"/>
          </a:solidFill>
          <a:ln w="12700">
            <a:solidFill>
              <a:srgbClr val="24282C">
                <a:alpha val="0"/>
              </a:srgbClr>
            </a:solidFill>
            <a:prstDash val="solid"/>
          </a:ln>
        </p:spPr>
        <p:txBody>
          <a:bodyPr/>
          <a:lstStyle/>
          <a:p>
            <a:endParaRPr lang="nl-NL"/>
          </a:p>
        </p:txBody>
      </p:sp>
      <p:sp>
        <p:nvSpPr>
          <p:cNvPr id="28" name="Text 26"/>
          <p:cNvSpPr/>
          <p:nvPr/>
        </p:nvSpPr>
        <p:spPr>
          <a:xfrm>
            <a:off x="6331155" y="4378849"/>
            <a:ext cx="1563248" cy="521083"/>
          </a:xfrm>
          <a:prstGeom prst="rect">
            <a:avLst/>
          </a:prstGeom>
          <a:noFill/>
          <a:ln/>
        </p:spPr>
        <p:txBody>
          <a:bodyPr wrap="square" lIns="0" tIns="0" rIns="0" bIns="0" rtlCol="0" anchor="t">
            <a:normAutofit/>
          </a:bodyPr>
          <a:lstStyle/>
          <a:p>
            <a:pPr marL="0" indent="0" algn="l">
              <a:buNone/>
            </a:pPr>
            <a:r>
              <a:rPr lang="en-US" sz="1603" b="1" dirty="0">
                <a:solidFill>
                  <a:srgbClr val="F5F6F7"/>
                </a:solidFill>
                <a:latin typeface="Arial" pitchFamily="34" charset="0"/>
                <a:ea typeface="Arial" pitchFamily="34" charset="-122"/>
                <a:cs typeface="Arial" pitchFamily="34" charset="-120"/>
              </a:rPr>
              <a:t>Assembly</a:t>
            </a:r>
            <a:endParaRPr lang="en-US" sz="1603" dirty="0"/>
          </a:p>
        </p:txBody>
      </p:sp>
      <p:sp>
        <p:nvSpPr>
          <p:cNvPr id="29" name="Text 27"/>
          <p:cNvSpPr/>
          <p:nvPr/>
        </p:nvSpPr>
        <p:spPr>
          <a:xfrm>
            <a:off x="6331155" y="4956925"/>
            <a:ext cx="1563248" cy="455947"/>
          </a:xfrm>
          <a:prstGeom prst="rect">
            <a:avLst/>
          </a:prstGeom>
          <a:noFill/>
          <a:ln/>
        </p:spPr>
        <p:txBody>
          <a:bodyPr wrap="square" lIns="0" tIns="0" rIns="0" bIns="0" rtlCol="0" anchor="t">
            <a:normAutofit/>
          </a:bodyPr>
          <a:lstStyle/>
          <a:p>
            <a:pPr marL="0" indent="0" algn="l">
              <a:buNone/>
            </a:pPr>
            <a:r>
              <a:rPr lang="en-US" sz="1282" dirty="0">
                <a:solidFill>
                  <a:srgbClr val="BDC4C9"/>
                </a:solidFill>
                <a:latin typeface="Arial" pitchFamily="34" charset="0"/>
                <a:ea typeface="Arial" pitchFamily="34" charset="-122"/>
                <a:cs typeface="Arial" pitchFamily="34" charset="-120"/>
              </a:rPr>
              <a:t>A larger defined product</a:t>
            </a:r>
            <a:endParaRPr lang="en-US" sz="1282" dirty="0"/>
          </a:p>
        </p:txBody>
      </p:sp>
      <p:sp>
        <p:nvSpPr>
          <p:cNvPr id="30" name="Shape 28"/>
          <p:cNvSpPr/>
          <p:nvPr/>
        </p:nvSpPr>
        <p:spPr>
          <a:xfrm>
            <a:off x="6062472" y="3548373"/>
            <a:ext cx="3150922" cy="643212"/>
          </a:xfrm>
          <a:prstGeom prst="line">
            <a:avLst/>
          </a:prstGeom>
          <a:noFill/>
          <a:ln w="16284">
            <a:solidFill>
              <a:srgbClr val="646E76"/>
            </a:solidFill>
            <a:prstDash val="solid"/>
            <a:tailEnd type="triangle"/>
          </a:ln>
        </p:spPr>
        <p:txBody>
          <a:bodyPr/>
          <a:lstStyle/>
          <a:p>
            <a:endParaRPr lang="nl-NL"/>
          </a:p>
        </p:txBody>
      </p:sp>
      <p:sp>
        <p:nvSpPr>
          <p:cNvPr id="31" name="Shape 29"/>
          <p:cNvSpPr/>
          <p:nvPr/>
        </p:nvSpPr>
        <p:spPr>
          <a:xfrm>
            <a:off x="8293357" y="4248578"/>
            <a:ext cx="1840073" cy="1261997"/>
          </a:xfrm>
          <a:prstGeom prst="roundRect">
            <a:avLst>
              <a:gd name="adj" fmla="val 2898"/>
            </a:avLst>
          </a:prstGeom>
          <a:solidFill>
            <a:srgbClr val="30363B"/>
          </a:solidFill>
          <a:ln w="8890">
            <a:solidFill>
              <a:srgbClr val="48525B"/>
            </a:solidFill>
            <a:prstDash val="solid"/>
          </a:ln>
        </p:spPr>
        <p:txBody>
          <a:bodyPr/>
          <a:lstStyle/>
          <a:p>
            <a:endParaRPr lang="nl-NL"/>
          </a:p>
        </p:txBody>
      </p:sp>
      <p:sp>
        <p:nvSpPr>
          <p:cNvPr id="32" name="Shape 30"/>
          <p:cNvSpPr/>
          <p:nvPr/>
        </p:nvSpPr>
        <p:spPr>
          <a:xfrm>
            <a:off x="8293357" y="4362565"/>
            <a:ext cx="32568" cy="1034024"/>
          </a:xfrm>
          <a:prstGeom prst="rect">
            <a:avLst/>
          </a:prstGeom>
          <a:solidFill>
            <a:srgbClr val="82909A"/>
          </a:solidFill>
          <a:ln w="12700">
            <a:solidFill>
              <a:srgbClr val="24282C">
                <a:alpha val="0"/>
              </a:srgbClr>
            </a:solidFill>
            <a:prstDash val="solid"/>
          </a:ln>
        </p:spPr>
        <p:txBody>
          <a:bodyPr/>
          <a:lstStyle/>
          <a:p>
            <a:endParaRPr lang="nl-NL"/>
          </a:p>
        </p:txBody>
      </p:sp>
      <p:sp>
        <p:nvSpPr>
          <p:cNvPr id="33" name="Text 31"/>
          <p:cNvSpPr/>
          <p:nvPr/>
        </p:nvSpPr>
        <p:spPr>
          <a:xfrm>
            <a:off x="8431770" y="4378849"/>
            <a:ext cx="1563248" cy="521083"/>
          </a:xfrm>
          <a:prstGeom prst="rect">
            <a:avLst/>
          </a:prstGeom>
          <a:noFill/>
          <a:ln/>
        </p:spPr>
        <p:txBody>
          <a:bodyPr wrap="square" lIns="0" tIns="0" rIns="0" bIns="0" rtlCol="0" anchor="t">
            <a:normAutofit/>
          </a:bodyPr>
          <a:lstStyle/>
          <a:p>
            <a:pPr marL="0" indent="0" algn="l">
              <a:buNone/>
            </a:pPr>
            <a:r>
              <a:rPr lang="en-US" sz="1603" b="1" dirty="0">
                <a:solidFill>
                  <a:srgbClr val="F5F6F7"/>
                </a:solidFill>
                <a:latin typeface="Arial" pitchFamily="34" charset="0"/>
                <a:ea typeface="Arial" pitchFamily="34" charset="-122"/>
                <a:cs typeface="Arial" pitchFamily="34" charset="-120"/>
              </a:rPr>
              <a:t>Kit</a:t>
            </a:r>
            <a:endParaRPr lang="en-US" sz="1603" dirty="0"/>
          </a:p>
        </p:txBody>
      </p:sp>
      <p:sp>
        <p:nvSpPr>
          <p:cNvPr id="34" name="Text 32"/>
          <p:cNvSpPr/>
          <p:nvPr/>
        </p:nvSpPr>
        <p:spPr>
          <a:xfrm>
            <a:off x="8431770" y="4956925"/>
            <a:ext cx="1563248" cy="455947"/>
          </a:xfrm>
          <a:prstGeom prst="rect">
            <a:avLst/>
          </a:prstGeom>
          <a:noFill/>
          <a:ln/>
        </p:spPr>
        <p:txBody>
          <a:bodyPr wrap="square" lIns="0" tIns="0" rIns="0" bIns="0" rtlCol="0" anchor="t">
            <a:normAutofit/>
          </a:bodyPr>
          <a:lstStyle/>
          <a:p>
            <a:pPr marL="0" indent="0" algn="l">
              <a:buNone/>
            </a:pPr>
            <a:r>
              <a:rPr lang="en-US" sz="1282" dirty="0">
                <a:solidFill>
                  <a:srgbClr val="BDC4C9"/>
                </a:solidFill>
                <a:latin typeface="Arial" pitchFamily="34" charset="0"/>
                <a:ea typeface="Arial" pitchFamily="34" charset="-122"/>
                <a:cs typeface="Arial" pitchFamily="34" charset="-120"/>
              </a:rPr>
              <a:t>A specified set of contents</a:t>
            </a:r>
            <a:endParaRPr lang="en-US" sz="1282" dirty="0"/>
          </a:p>
        </p:txBody>
      </p:sp>
      <p:sp>
        <p:nvSpPr>
          <p:cNvPr id="35" name="Text 33"/>
          <p:cNvSpPr/>
          <p:nvPr/>
        </p:nvSpPr>
        <p:spPr>
          <a:xfrm>
            <a:off x="548640" y="5678424"/>
            <a:ext cx="10954512" cy="219456"/>
          </a:xfrm>
          <a:prstGeom prst="rect">
            <a:avLst/>
          </a:prstGeom>
          <a:noFill/>
          <a:ln/>
        </p:spPr>
        <p:txBody>
          <a:bodyPr wrap="square" lIns="0" tIns="0" rIns="0" bIns="0" rtlCol="0" anchor="t">
            <a:normAutofit/>
          </a:bodyPr>
          <a:lstStyle/>
          <a:p>
            <a:pPr marL="0" indent="0" algn="l">
              <a:buNone/>
            </a:pPr>
            <a:r>
              <a:rPr lang="en-US" sz="840" dirty="0">
                <a:solidFill>
                  <a:srgbClr val="BDC4C9"/>
                </a:solidFill>
                <a:latin typeface="Arial" pitchFamily="34" charset="0"/>
                <a:ea typeface="Arial" pitchFamily="34" charset="-122"/>
                <a:cs typeface="Arial" pitchFamily="34" charset="-120"/>
              </a:rPr>
              <a:t>Proposed design / relationships, not measured effects.</a:t>
            </a:r>
            <a:endParaRPr lang="en-US" sz="840" dirty="0"/>
          </a:p>
        </p:txBody>
      </p:sp>
      <p:sp>
        <p:nvSpPr>
          <p:cNvPr id="36" name="Text 34"/>
          <p:cNvSpPr/>
          <p:nvPr/>
        </p:nvSpPr>
        <p:spPr>
          <a:xfrm>
            <a:off x="603504" y="5925312"/>
            <a:ext cx="10917936" cy="347472"/>
          </a:xfrm>
          <a:prstGeom prst="rect">
            <a:avLst/>
          </a:prstGeom>
          <a:noFill/>
          <a:ln/>
        </p:spPr>
        <p:txBody>
          <a:bodyPr wrap="square" lIns="0" tIns="0" rIns="0" bIns="0" rtlCol="0" anchor="t">
            <a:normAutofit/>
          </a:bodyPr>
          <a:lstStyle/>
          <a:p>
            <a:pPr marL="0" indent="0" algn="l">
              <a:buNone/>
            </a:pPr>
            <a:r>
              <a:rPr lang="en-US" sz="1320" dirty="0">
                <a:solidFill>
                  <a:srgbClr val="F5F6F7"/>
                </a:solidFill>
                <a:latin typeface="Arial" pitchFamily="34" charset="0"/>
                <a:ea typeface="Arial" pitchFamily="34" charset="-122"/>
                <a:cs typeface="Arial" pitchFamily="34" charset="-120"/>
              </a:rPr>
              <a:t>A missing relationship should remain a visible gap in the selected analysis.</a:t>
            </a:r>
            <a:endParaRPr lang="en-US" sz="13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4282C"/>
        </a:solidFill>
        <a:effectLst/>
      </p:bgPr>
    </p:bg>
    <p:spTree>
      <p:nvGrpSpPr>
        <p:cNvPr id="1" name=""/>
        <p:cNvGrpSpPr/>
        <p:nvPr/>
      </p:nvGrpSpPr>
      <p:grpSpPr>
        <a:xfrm>
          <a:off x="0" y="0"/>
          <a:ext cx="0" cy="0"/>
          <a:chOff x="0" y="0"/>
          <a:chExt cx="0" cy="0"/>
        </a:xfrm>
      </p:grpSpPr>
      <p:sp>
        <p:nvSpPr>
          <p:cNvPr id="2" name="Text 0"/>
          <p:cNvSpPr/>
          <p:nvPr/>
        </p:nvSpPr>
        <p:spPr>
          <a:xfrm>
            <a:off x="484632" y="173736"/>
            <a:ext cx="2743200" cy="201168"/>
          </a:xfrm>
          <a:prstGeom prst="rect">
            <a:avLst/>
          </a:prstGeom>
          <a:noFill/>
          <a:ln/>
        </p:spPr>
        <p:txBody>
          <a:bodyPr wrap="square" lIns="0" tIns="0" rIns="0" bIns="0" rtlCol="0" anchor="t">
            <a:normAutofit/>
          </a:bodyPr>
          <a:lstStyle/>
          <a:p>
            <a:pPr marL="0" indent="0" algn="l">
              <a:buNone/>
            </a:pPr>
            <a:r>
              <a:rPr lang="en-US" sz="1000" b="1" dirty="0">
                <a:solidFill>
                  <a:srgbClr val="F5F6F7"/>
                </a:solidFill>
                <a:latin typeface="Arial" pitchFamily="34" charset="0"/>
                <a:ea typeface="Arial" pitchFamily="34" charset="-122"/>
                <a:cs typeface="Arial" pitchFamily="34" charset="-120"/>
              </a:rPr>
              <a:t>ISUZU / UNIVERSE</a:t>
            </a:r>
            <a:endParaRPr lang="en-US" sz="1000" dirty="0"/>
          </a:p>
        </p:txBody>
      </p:sp>
      <p:sp>
        <p:nvSpPr>
          <p:cNvPr id="3" name="Text 1"/>
          <p:cNvSpPr/>
          <p:nvPr/>
        </p:nvSpPr>
        <p:spPr>
          <a:xfrm>
            <a:off x="8046720" y="173736"/>
            <a:ext cx="3657600" cy="201168"/>
          </a:xfrm>
          <a:prstGeom prst="rect">
            <a:avLst/>
          </a:prstGeom>
          <a:noFill/>
          <a:ln/>
        </p:spPr>
        <p:txBody>
          <a:bodyPr wrap="square" lIns="0" tIns="0" rIns="0" bIns="0" rtlCol="0" anchor="t">
            <a:normAutofit/>
          </a:bodyPr>
          <a:lstStyle/>
          <a:p>
            <a:pPr marL="0" indent="0" algn="r">
              <a:buNone/>
            </a:pPr>
            <a:r>
              <a:rPr lang="en-US" sz="900" dirty="0">
                <a:solidFill>
                  <a:srgbClr val="BDC4C9"/>
                </a:solidFill>
                <a:latin typeface="Arial" pitchFamily="34" charset="0"/>
                <a:ea typeface="Arial" pitchFamily="34" charset="-122"/>
                <a:cs typeface="Arial" pitchFamily="34" charset="-120"/>
              </a:rPr>
              <a:t>COMMERCIAL VISION  /  3.0</a:t>
            </a:r>
            <a:endParaRPr lang="en-US" sz="900" dirty="0"/>
          </a:p>
        </p:txBody>
      </p:sp>
      <p:sp>
        <p:nvSpPr>
          <p:cNvPr id="4" name="Shape 2"/>
          <p:cNvSpPr/>
          <p:nvPr/>
        </p:nvSpPr>
        <p:spPr>
          <a:xfrm>
            <a:off x="484632" y="512064"/>
            <a:ext cx="475488" cy="22860"/>
          </a:xfrm>
          <a:prstGeom prst="rect">
            <a:avLst/>
          </a:prstGeom>
          <a:solidFill>
            <a:srgbClr val="D71920"/>
          </a:solidFill>
          <a:ln w="12700">
            <a:solidFill>
              <a:srgbClr val="D71920">
                <a:alpha val="0"/>
              </a:srgbClr>
            </a:solidFill>
            <a:prstDash val="solid"/>
          </a:ln>
        </p:spPr>
        <p:txBody>
          <a:bodyPr/>
          <a:lstStyle/>
          <a:p>
            <a:endParaRPr lang="nl-NL"/>
          </a:p>
        </p:txBody>
      </p:sp>
      <p:sp>
        <p:nvSpPr>
          <p:cNvPr id="5" name="Text 3"/>
          <p:cNvSpPr/>
          <p:nvPr/>
        </p:nvSpPr>
        <p:spPr>
          <a:xfrm>
            <a:off x="484632" y="658368"/>
            <a:ext cx="11064240" cy="219456"/>
          </a:xfrm>
          <a:prstGeom prst="rect">
            <a:avLst/>
          </a:prstGeom>
          <a:noFill/>
          <a:ln/>
        </p:spPr>
        <p:txBody>
          <a:bodyPr wrap="square" lIns="0" tIns="0" rIns="0" bIns="0" rtlCol="0" anchor="t">
            <a:normAutofit/>
          </a:bodyPr>
          <a:lstStyle/>
          <a:p>
            <a:pPr marL="0" indent="0" algn="l">
              <a:buNone/>
            </a:pPr>
            <a:r>
              <a:rPr lang="en-US" sz="1000" b="1" dirty="0">
                <a:solidFill>
                  <a:srgbClr val="D71920"/>
                </a:solidFill>
                <a:latin typeface="Arial" pitchFamily="34" charset="0"/>
                <a:ea typeface="Arial" pitchFamily="34" charset="-122"/>
                <a:cs typeface="Arial" pitchFamily="34" charset="-120"/>
              </a:rPr>
              <a:t>HISTORICAL EXAMPLE / ITUK</a:t>
            </a:r>
            <a:endParaRPr lang="en-US" sz="1000" dirty="0"/>
          </a:p>
        </p:txBody>
      </p:sp>
      <p:sp>
        <p:nvSpPr>
          <p:cNvPr id="6" name="Shape 4"/>
          <p:cNvSpPr/>
          <p:nvPr/>
        </p:nvSpPr>
        <p:spPr>
          <a:xfrm>
            <a:off x="484632" y="6446520"/>
            <a:ext cx="11219688" cy="914"/>
          </a:xfrm>
          <a:prstGeom prst="line">
            <a:avLst/>
          </a:prstGeom>
          <a:noFill/>
          <a:ln w="6350">
            <a:solidFill>
              <a:srgbClr val="647078"/>
            </a:solidFill>
            <a:prstDash val="solid"/>
          </a:ln>
        </p:spPr>
        <p:txBody>
          <a:bodyPr/>
          <a:lstStyle/>
          <a:p>
            <a:endParaRPr lang="nl-NL"/>
          </a:p>
        </p:txBody>
      </p:sp>
      <p:sp>
        <p:nvSpPr>
          <p:cNvPr id="7" name="Text 5"/>
          <p:cNvSpPr/>
          <p:nvPr/>
        </p:nvSpPr>
        <p:spPr>
          <a:xfrm>
            <a:off x="484632" y="6556248"/>
            <a:ext cx="9144000" cy="146304"/>
          </a:xfrm>
          <a:prstGeom prst="rect">
            <a:avLst/>
          </a:prstGeom>
          <a:noFill/>
          <a:ln/>
        </p:spPr>
        <p:txBody>
          <a:bodyPr wrap="square" lIns="0" tIns="0" rIns="0" bIns="0" rtlCol="0" anchor="t">
            <a:normAutofit/>
          </a:bodyPr>
          <a:lstStyle/>
          <a:p>
            <a:pPr marL="0" indent="0" algn="l">
              <a:buNone/>
            </a:pPr>
            <a:r>
              <a:rPr lang="en-US" sz="750" dirty="0">
                <a:solidFill>
                  <a:srgbClr val="BDC4C9"/>
                </a:solidFill>
                <a:latin typeface="Arial" pitchFamily="34" charset="0"/>
                <a:ea typeface="Arial" pitchFamily="34" charset="-122"/>
                <a:cs typeface="Arial" pitchFamily="34" charset="-120"/>
              </a:rPr>
              <a:t>22 SEPTEMBER 2026  /  CONCEPT AND APPLICATION EXAMPLES</a:t>
            </a:r>
            <a:endParaRPr lang="en-US" sz="750" dirty="0"/>
          </a:p>
        </p:txBody>
      </p:sp>
      <p:sp>
        <p:nvSpPr>
          <p:cNvPr id="8" name="Text 6"/>
          <p:cNvSpPr/>
          <p:nvPr/>
        </p:nvSpPr>
        <p:spPr>
          <a:xfrm>
            <a:off x="10789920" y="6547104"/>
            <a:ext cx="914400" cy="173736"/>
          </a:xfrm>
          <a:prstGeom prst="rect">
            <a:avLst/>
          </a:prstGeom>
          <a:noFill/>
          <a:ln/>
        </p:spPr>
        <p:txBody>
          <a:bodyPr wrap="square" lIns="0" tIns="0" rIns="0" bIns="0" rtlCol="0" anchor="t">
            <a:normAutofit/>
          </a:bodyPr>
          <a:lstStyle/>
          <a:p>
            <a:pPr marL="0" indent="0" algn="r">
              <a:buNone/>
            </a:pPr>
            <a:r>
              <a:rPr lang="en-US" sz="850" dirty="0">
                <a:solidFill>
                  <a:srgbClr val="BDC4C9"/>
                </a:solidFill>
                <a:latin typeface="Arial" pitchFamily="34" charset="0"/>
                <a:ea typeface="Arial" pitchFamily="34" charset="-122"/>
                <a:cs typeface="Arial" pitchFamily="34" charset="-120"/>
              </a:rPr>
              <a:t>09 / 49</a:t>
            </a:r>
            <a:endParaRPr lang="en-US" sz="850" dirty="0"/>
          </a:p>
        </p:txBody>
      </p:sp>
      <p:sp>
        <p:nvSpPr>
          <p:cNvPr id="9" name="Text 7"/>
          <p:cNvSpPr/>
          <p:nvPr/>
        </p:nvSpPr>
        <p:spPr>
          <a:xfrm>
            <a:off x="502920" y="1005840"/>
            <a:ext cx="11036808" cy="841248"/>
          </a:xfrm>
          <a:prstGeom prst="rect">
            <a:avLst/>
          </a:prstGeom>
          <a:noFill/>
          <a:ln/>
        </p:spPr>
        <p:txBody>
          <a:bodyPr wrap="square" lIns="0" tIns="0" rIns="0" bIns="0" rtlCol="0" anchor="t">
            <a:normAutofit/>
          </a:bodyPr>
          <a:lstStyle/>
          <a:p>
            <a:pPr marL="0" indent="0" algn="l">
              <a:buNone/>
            </a:pPr>
            <a:r>
              <a:rPr lang="en-US" sz="3400" b="1" dirty="0">
                <a:solidFill>
                  <a:srgbClr val="F5F6F7"/>
                </a:solidFill>
                <a:latin typeface="Arial" pitchFamily="34" charset="0"/>
                <a:ea typeface="Arial" pitchFamily="34" charset="-122"/>
                <a:cs typeface="Arial" pitchFamily="34" charset="-120"/>
              </a:rPr>
              <a:t>Revenue alone does not explain the movement.</a:t>
            </a:r>
            <a:endParaRPr lang="en-US" sz="3400" dirty="0"/>
          </a:p>
        </p:txBody>
      </p:sp>
      <p:sp>
        <p:nvSpPr>
          <p:cNvPr id="10" name="Text 8"/>
          <p:cNvSpPr/>
          <p:nvPr/>
        </p:nvSpPr>
        <p:spPr>
          <a:xfrm>
            <a:off x="530352" y="1865376"/>
            <a:ext cx="10954512" cy="566928"/>
          </a:xfrm>
          <a:prstGeom prst="rect">
            <a:avLst/>
          </a:prstGeom>
          <a:noFill/>
          <a:ln/>
        </p:spPr>
        <p:txBody>
          <a:bodyPr wrap="square" lIns="0" tIns="0" rIns="0" bIns="0" rtlCol="0" anchor="t">
            <a:normAutofit/>
          </a:bodyPr>
          <a:lstStyle/>
          <a:p>
            <a:pPr marL="0" indent="0" algn="l">
              <a:buNone/>
            </a:pPr>
            <a:r>
              <a:rPr lang="en-US" sz="1800" dirty="0">
                <a:solidFill>
                  <a:srgbClr val="BDC4C9"/>
                </a:solidFill>
                <a:latin typeface="Arial" pitchFamily="34" charset="0"/>
                <a:ea typeface="Arial" pitchFamily="34" charset="-122"/>
                <a:cs typeface="Arial" pitchFamily="34" charset="-120"/>
              </a:rPr>
              <a:t>ITUK brake-pad source category / full calendar 2024 versus 2025.</a:t>
            </a:r>
            <a:endParaRPr lang="en-US" sz="1800" dirty="0"/>
          </a:p>
        </p:txBody>
      </p:sp>
      <p:sp>
        <p:nvSpPr>
          <p:cNvPr id="11" name="Shape 9"/>
          <p:cNvSpPr/>
          <p:nvPr/>
        </p:nvSpPr>
        <p:spPr>
          <a:xfrm>
            <a:off x="2576631" y="5070472"/>
            <a:ext cx="4586210" cy="914"/>
          </a:xfrm>
          <a:prstGeom prst="line">
            <a:avLst/>
          </a:prstGeom>
          <a:noFill/>
          <a:ln w="8032">
            <a:solidFill>
              <a:srgbClr val="414B53"/>
            </a:solidFill>
            <a:prstDash val="solid"/>
          </a:ln>
        </p:spPr>
        <p:txBody>
          <a:bodyPr/>
          <a:lstStyle/>
          <a:p>
            <a:endParaRPr lang="nl-NL"/>
          </a:p>
        </p:txBody>
      </p:sp>
      <p:sp>
        <p:nvSpPr>
          <p:cNvPr id="12" name="Text 10"/>
          <p:cNvSpPr/>
          <p:nvPr/>
        </p:nvSpPr>
        <p:spPr>
          <a:xfrm>
            <a:off x="2046526" y="4990153"/>
            <a:ext cx="449786" cy="481914"/>
          </a:xfrm>
          <a:prstGeom prst="rect">
            <a:avLst/>
          </a:prstGeom>
          <a:noFill/>
          <a:ln/>
        </p:spPr>
        <p:txBody>
          <a:bodyPr wrap="square" lIns="0" tIns="0" rIns="0" bIns="0" rtlCol="0" anchor="t">
            <a:normAutofit/>
          </a:bodyPr>
          <a:lstStyle/>
          <a:p>
            <a:pPr marL="0" indent="0" algn="r">
              <a:buNone/>
            </a:pPr>
            <a:r>
              <a:rPr lang="en-US" sz="1138" dirty="0">
                <a:solidFill>
                  <a:srgbClr val="BDC4C9"/>
                </a:solidFill>
                <a:latin typeface="Arial" pitchFamily="34" charset="0"/>
                <a:ea typeface="Arial" pitchFamily="34" charset="-122"/>
                <a:cs typeface="Arial" pitchFamily="34" charset="-120"/>
              </a:rPr>
              <a:t>0k</a:t>
            </a:r>
            <a:endParaRPr lang="en-US" sz="1138" dirty="0"/>
          </a:p>
        </p:txBody>
      </p:sp>
      <p:sp>
        <p:nvSpPr>
          <p:cNvPr id="13" name="Shape 11"/>
          <p:cNvSpPr/>
          <p:nvPr/>
        </p:nvSpPr>
        <p:spPr>
          <a:xfrm>
            <a:off x="2576631" y="4588558"/>
            <a:ext cx="4586210" cy="914"/>
          </a:xfrm>
          <a:prstGeom prst="line">
            <a:avLst/>
          </a:prstGeom>
          <a:noFill/>
          <a:ln w="8032">
            <a:solidFill>
              <a:srgbClr val="414B53"/>
            </a:solidFill>
            <a:prstDash val="solid"/>
          </a:ln>
        </p:spPr>
        <p:txBody>
          <a:bodyPr/>
          <a:lstStyle/>
          <a:p>
            <a:endParaRPr lang="nl-NL"/>
          </a:p>
        </p:txBody>
      </p:sp>
      <p:sp>
        <p:nvSpPr>
          <p:cNvPr id="14" name="Text 12"/>
          <p:cNvSpPr/>
          <p:nvPr/>
        </p:nvSpPr>
        <p:spPr>
          <a:xfrm>
            <a:off x="2046526" y="4508239"/>
            <a:ext cx="449786" cy="481914"/>
          </a:xfrm>
          <a:prstGeom prst="rect">
            <a:avLst/>
          </a:prstGeom>
          <a:noFill/>
          <a:ln/>
        </p:spPr>
        <p:txBody>
          <a:bodyPr wrap="square" lIns="0" tIns="0" rIns="0" bIns="0" rtlCol="0" anchor="t">
            <a:normAutofit/>
          </a:bodyPr>
          <a:lstStyle/>
          <a:p>
            <a:pPr marL="0" indent="0" algn="r">
              <a:buNone/>
            </a:pPr>
            <a:r>
              <a:rPr lang="en-US" sz="1138" dirty="0">
                <a:solidFill>
                  <a:srgbClr val="BDC4C9"/>
                </a:solidFill>
                <a:latin typeface="Arial" pitchFamily="34" charset="0"/>
                <a:ea typeface="Arial" pitchFamily="34" charset="-122"/>
                <a:cs typeface="Arial" pitchFamily="34" charset="-120"/>
              </a:rPr>
              <a:t>100k</a:t>
            </a:r>
            <a:endParaRPr lang="en-US" sz="1138" dirty="0"/>
          </a:p>
        </p:txBody>
      </p:sp>
      <p:sp>
        <p:nvSpPr>
          <p:cNvPr id="15" name="Shape 13"/>
          <p:cNvSpPr/>
          <p:nvPr/>
        </p:nvSpPr>
        <p:spPr>
          <a:xfrm>
            <a:off x="2576631" y="4106645"/>
            <a:ext cx="4586210" cy="914"/>
          </a:xfrm>
          <a:prstGeom prst="line">
            <a:avLst/>
          </a:prstGeom>
          <a:noFill/>
          <a:ln w="8032">
            <a:solidFill>
              <a:srgbClr val="414B53"/>
            </a:solidFill>
            <a:prstDash val="solid"/>
          </a:ln>
        </p:spPr>
        <p:txBody>
          <a:bodyPr/>
          <a:lstStyle/>
          <a:p>
            <a:endParaRPr lang="nl-NL"/>
          </a:p>
        </p:txBody>
      </p:sp>
      <p:sp>
        <p:nvSpPr>
          <p:cNvPr id="16" name="Text 14"/>
          <p:cNvSpPr/>
          <p:nvPr/>
        </p:nvSpPr>
        <p:spPr>
          <a:xfrm>
            <a:off x="2046526" y="4026326"/>
            <a:ext cx="449786" cy="481914"/>
          </a:xfrm>
          <a:prstGeom prst="rect">
            <a:avLst/>
          </a:prstGeom>
          <a:noFill/>
          <a:ln/>
        </p:spPr>
        <p:txBody>
          <a:bodyPr wrap="square" lIns="0" tIns="0" rIns="0" bIns="0" rtlCol="0" anchor="t">
            <a:normAutofit/>
          </a:bodyPr>
          <a:lstStyle/>
          <a:p>
            <a:pPr marL="0" indent="0" algn="r">
              <a:buNone/>
            </a:pPr>
            <a:r>
              <a:rPr lang="en-US" sz="1138" dirty="0">
                <a:solidFill>
                  <a:srgbClr val="BDC4C9"/>
                </a:solidFill>
                <a:latin typeface="Arial" pitchFamily="34" charset="0"/>
                <a:ea typeface="Arial" pitchFamily="34" charset="-122"/>
                <a:cs typeface="Arial" pitchFamily="34" charset="-120"/>
              </a:rPr>
              <a:t>200k</a:t>
            </a:r>
            <a:endParaRPr lang="en-US" sz="1138" dirty="0"/>
          </a:p>
        </p:txBody>
      </p:sp>
      <p:sp>
        <p:nvSpPr>
          <p:cNvPr id="17" name="Shape 15"/>
          <p:cNvSpPr/>
          <p:nvPr/>
        </p:nvSpPr>
        <p:spPr>
          <a:xfrm>
            <a:off x="2576631" y="3624731"/>
            <a:ext cx="4586210" cy="914"/>
          </a:xfrm>
          <a:prstGeom prst="line">
            <a:avLst/>
          </a:prstGeom>
          <a:noFill/>
          <a:ln w="8032">
            <a:solidFill>
              <a:srgbClr val="414B53"/>
            </a:solidFill>
            <a:prstDash val="solid"/>
          </a:ln>
        </p:spPr>
        <p:txBody>
          <a:bodyPr/>
          <a:lstStyle/>
          <a:p>
            <a:endParaRPr lang="nl-NL"/>
          </a:p>
        </p:txBody>
      </p:sp>
      <p:sp>
        <p:nvSpPr>
          <p:cNvPr id="18" name="Text 16"/>
          <p:cNvSpPr/>
          <p:nvPr/>
        </p:nvSpPr>
        <p:spPr>
          <a:xfrm>
            <a:off x="2046526" y="3544412"/>
            <a:ext cx="449786" cy="481914"/>
          </a:xfrm>
          <a:prstGeom prst="rect">
            <a:avLst/>
          </a:prstGeom>
          <a:noFill/>
          <a:ln/>
        </p:spPr>
        <p:txBody>
          <a:bodyPr wrap="square" lIns="0" tIns="0" rIns="0" bIns="0" rtlCol="0" anchor="t">
            <a:normAutofit/>
          </a:bodyPr>
          <a:lstStyle/>
          <a:p>
            <a:pPr marL="0" indent="0" algn="r">
              <a:buNone/>
            </a:pPr>
            <a:r>
              <a:rPr lang="en-US" sz="1138" dirty="0">
                <a:solidFill>
                  <a:srgbClr val="BDC4C9"/>
                </a:solidFill>
                <a:latin typeface="Arial" pitchFamily="34" charset="0"/>
                <a:ea typeface="Arial" pitchFamily="34" charset="-122"/>
                <a:cs typeface="Arial" pitchFamily="34" charset="-120"/>
              </a:rPr>
              <a:t>300k</a:t>
            </a:r>
            <a:endParaRPr lang="en-US" sz="1138" dirty="0"/>
          </a:p>
        </p:txBody>
      </p:sp>
      <p:sp>
        <p:nvSpPr>
          <p:cNvPr id="19" name="Shape 17"/>
          <p:cNvSpPr/>
          <p:nvPr/>
        </p:nvSpPr>
        <p:spPr>
          <a:xfrm>
            <a:off x="2576631" y="3142818"/>
            <a:ext cx="4586210" cy="914"/>
          </a:xfrm>
          <a:prstGeom prst="line">
            <a:avLst/>
          </a:prstGeom>
          <a:noFill/>
          <a:ln w="8032">
            <a:solidFill>
              <a:srgbClr val="414B53"/>
            </a:solidFill>
            <a:prstDash val="solid"/>
          </a:ln>
        </p:spPr>
        <p:txBody>
          <a:bodyPr/>
          <a:lstStyle/>
          <a:p>
            <a:endParaRPr lang="nl-NL"/>
          </a:p>
        </p:txBody>
      </p:sp>
      <p:sp>
        <p:nvSpPr>
          <p:cNvPr id="20" name="Text 18"/>
          <p:cNvSpPr/>
          <p:nvPr/>
        </p:nvSpPr>
        <p:spPr>
          <a:xfrm>
            <a:off x="2046526" y="3062499"/>
            <a:ext cx="449786" cy="481914"/>
          </a:xfrm>
          <a:prstGeom prst="rect">
            <a:avLst/>
          </a:prstGeom>
          <a:noFill/>
          <a:ln/>
        </p:spPr>
        <p:txBody>
          <a:bodyPr wrap="square" lIns="0" tIns="0" rIns="0" bIns="0" rtlCol="0" anchor="t">
            <a:normAutofit/>
          </a:bodyPr>
          <a:lstStyle/>
          <a:p>
            <a:pPr marL="0" indent="0" algn="r">
              <a:buNone/>
            </a:pPr>
            <a:r>
              <a:rPr lang="en-US" sz="1138" dirty="0">
                <a:solidFill>
                  <a:srgbClr val="BDC4C9"/>
                </a:solidFill>
                <a:latin typeface="Arial" pitchFamily="34" charset="0"/>
                <a:ea typeface="Arial" pitchFamily="34" charset="-122"/>
                <a:cs typeface="Arial" pitchFamily="34" charset="-120"/>
              </a:rPr>
              <a:t>400k</a:t>
            </a:r>
            <a:endParaRPr lang="en-US" sz="1138" dirty="0"/>
          </a:p>
        </p:txBody>
      </p:sp>
      <p:sp>
        <p:nvSpPr>
          <p:cNvPr id="21" name="Shape 19"/>
          <p:cNvSpPr/>
          <p:nvPr/>
        </p:nvSpPr>
        <p:spPr>
          <a:xfrm>
            <a:off x="2809556" y="3396354"/>
            <a:ext cx="1365422" cy="1674117"/>
          </a:xfrm>
          <a:prstGeom prst="rect">
            <a:avLst/>
          </a:prstGeom>
          <a:solidFill>
            <a:srgbClr val="F5F6F7"/>
          </a:solidFill>
          <a:ln w="12700">
            <a:solidFill>
              <a:srgbClr val="24282C">
                <a:alpha val="0"/>
              </a:srgbClr>
            </a:solidFill>
            <a:prstDash val="solid"/>
          </a:ln>
        </p:spPr>
        <p:txBody>
          <a:bodyPr/>
          <a:lstStyle/>
          <a:p>
            <a:endParaRPr lang="nl-NL"/>
          </a:p>
        </p:txBody>
      </p:sp>
      <p:sp>
        <p:nvSpPr>
          <p:cNvPr id="22" name="Text 20"/>
          <p:cNvSpPr/>
          <p:nvPr/>
        </p:nvSpPr>
        <p:spPr>
          <a:xfrm>
            <a:off x="2600727" y="3115238"/>
            <a:ext cx="1791112" cy="481914"/>
          </a:xfrm>
          <a:prstGeom prst="rect">
            <a:avLst/>
          </a:prstGeom>
          <a:noFill/>
          <a:ln/>
        </p:spPr>
        <p:txBody>
          <a:bodyPr wrap="square" lIns="0" tIns="0" rIns="0" bIns="0" rtlCol="0" anchor="t">
            <a:normAutofit/>
          </a:bodyPr>
          <a:lstStyle/>
          <a:p>
            <a:pPr marL="0" indent="0" algn="ctr">
              <a:buNone/>
            </a:pPr>
            <a:r>
              <a:rPr lang="en-US" sz="1391" b="1" dirty="0">
                <a:solidFill>
                  <a:srgbClr val="F5F6F7"/>
                </a:solidFill>
                <a:latin typeface="Arial" pitchFamily="34" charset="0"/>
                <a:ea typeface="Arial" pitchFamily="34" charset="-122"/>
                <a:cs typeface="Arial" pitchFamily="34" charset="-120"/>
              </a:rPr>
              <a:t>EUR 347,389.58</a:t>
            </a:r>
            <a:endParaRPr lang="en-US" sz="1391" dirty="0"/>
          </a:p>
        </p:txBody>
      </p:sp>
      <p:sp>
        <p:nvSpPr>
          <p:cNvPr id="23" name="Text 21"/>
          <p:cNvSpPr/>
          <p:nvPr/>
        </p:nvSpPr>
        <p:spPr>
          <a:xfrm>
            <a:off x="3050513" y="5215046"/>
            <a:ext cx="883508" cy="481914"/>
          </a:xfrm>
          <a:prstGeom prst="rect">
            <a:avLst/>
          </a:prstGeom>
          <a:noFill/>
          <a:ln/>
        </p:spPr>
        <p:txBody>
          <a:bodyPr wrap="square" lIns="0" tIns="0" rIns="0" bIns="0" rtlCol="0" anchor="t">
            <a:normAutofit/>
          </a:bodyPr>
          <a:lstStyle/>
          <a:p>
            <a:pPr marL="0" indent="0" algn="ctr">
              <a:buNone/>
            </a:pPr>
            <a:r>
              <a:rPr lang="en-US" sz="1455" dirty="0">
                <a:solidFill>
                  <a:srgbClr val="BDC4C9"/>
                </a:solidFill>
                <a:latin typeface="Arial" pitchFamily="34" charset="0"/>
                <a:ea typeface="Arial" pitchFamily="34" charset="-122"/>
                <a:cs typeface="Arial" pitchFamily="34" charset="-120"/>
              </a:rPr>
              <a:t>2024</a:t>
            </a:r>
            <a:endParaRPr lang="en-US" sz="1455" dirty="0"/>
          </a:p>
        </p:txBody>
      </p:sp>
      <p:sp>
        <p:nvSpPr>
          <p:cNvPr id="24" name="Shape 22"/>
          <p:cNvSpPr/>
          <p:nvPr/>
        </p:nvSpPr>
        <p:spPr>
          <a:xfrm>
            <a:off x="4777369" y="3613328"/>
            <a:ext cx="1365422" cy="1457144"/>
          </a:xfrm>
          <a:prstGeom prst="rect">
            <a:avLst/>
          </a:prstGeom>
          <a:solidFill>
            <a:srgbClr val="D71920"/>
          </a:solidFill>
          <a:ln w="12700">
            <a:solidFill>
              <a:srgbClr val="24282C">
                <a:alpha val="0"/>
              </a:srgbClr>
            </a:solidFill>
            <a:prstDash val="solid"/>
          </a:ln>
        </p:spPr>
        <p:txBody>
          <a:bodyPr/>
          <a:lstStyle/>
          <a:p>
            <a:endParaRPr lang="nl-NL"/>
          </a:p>
        </p:txBody>
      </p:sp>
      <p:sp>
        <p:nvSpPr>
          <p:cNvPr id="25" name="Text 23"/>
          <p:cNvSpPr/>
          <p:nvPr/>
        </p:nvSpPr>
        <p:spPr>
          <a:xfrm>
            <a:off x="4568540" y="3332212"/>
            <a:ext cx="1791112" cy="481914"/>
          </a:xfrm>
          <a:prstGeom prst="rect">
            <a:avLst/>
          </a:prstGeom>
          <a:noFill/>
          <a:ln/>
        </p:spPr>
        <p:txBody>
          <a:bodyPr wrap="square" lIns="0" tIns="0" rIns="0" bIns="0" rtlCol="0" anchor="t">
            <a:normAutofit/>
          </a:bodyPr>
          <a:lstStyle/>
          <a:p>
            <a:pPr marL="0" indent="0" algn="ctr">
              <a:buNone/>
            </a:pPr>
            <a:r>
              <a:rPr lang="en-US" sz="1391" b="1" dirty="0">
                <a:solidFill>
                  <a:srgbClr val="F5F6F7"/>
                </a:solidFill>
                <a:latin typeface="Arial" pitchFamily="34" charset="0"/>
                <a:ea typeface="Arial" pitchFamily="34" charset="-122"/>
                <a:cs typeface="Arial" pitchFamily="34" charset="-120"/>
              </a:rPr>
              <a:t>EUR 302,366.25</a:t>
            </a:r>
            <a:endParaRPr lang="en-US" sz="1391" dirty="0"/>
          </a:p>
        </p:txBody>
      </p:sp>
      <p:sp>
        <p:nvSpPr>
          <p:cNvPr id="26" name="Text 24"/>
          <p:cNvSpPr/>
          <p:nvPr/>
        </p:nvSpPr>
        <p:spPr>
          <a:xfrm>
            <a:off x="5018326" y="5215046"/>
            <a:ext cx="883508" cy="481914"/>
          </a:xfrm>
          <a:prstGeom prst="rect">
            <a:avLst/>
          </a:prstGeom>
          <a:noFill/>
          <a:ln/>
        </p:spPr>
        <p:txBody>
          <a:bodyPr wrap="square" lIns="0" tIns="0" rIns="0" bIns="0" rtlCol="0" anchor="t">
            <a:normAutofit/>
          </a:bodyPr>
          <a:lstStyle/>
          <a:p>
            <a:pPr marL="0" indent="0" algn="ctr">
              <a:buNone/>
            </a:pPr>
            <a:r>
              <a:rPr lang="en-US" sz="1455" dirty="0">
                <a:solidFill>
                  <a:srgbClr val="BDC4C9"/>
                </a:solidFill>
                <a:latin typeface="Arial" pitchFamily="34" charset="0"/>
                <a:ea typeface="Arial" pitchFamily="34" charset="-122"/>
                <a:cs typeface="Arial" pitchFamily="34" charset="-120"/>
              </a:rPr>
              <a:t>2025</a:t>
            </a:r>
            <a:endParaRPr lang="en-US" sz="1455" dirty="0"/>
          </a:p>
        </p:txBody>
      </p:sp>
      <p:sp>
        <p:nvSpPr>
          <p:cNvPr id="27" name="Text 25"/>
          <p:cNvSpPr/>
          <p:nvPr/>
        </p:nvSpPr>
        <p:spPr>
          <a:xfrm>
            <a:off x="7660818" y="3150849"/>
            <a:ext cx="2248930" cy="542956"/>
          </a:xfrm>
          <a:prstGeom prst="rect">
            <a:avLst/>
          </a:prstGeom>
          <a:noFill/>
          <a:ln/>
        </p:spPr>
        <p:txBody>
          <a:bodyPr wrap="square" lIns="0" tIns="0" rIns="0" bIns="0" rtlCol="0" anchor="t">
            <a:normAutofit/>
          </a:bodyPr>
          <a:lstStyle/>
          <a:p>
            <a:pPr marL="0" indent="0" algn="l">
              <a:buNone/>
            </a:pPr>
            <a:r>
              <a:rPr lang="en-US" sz="3289" b="1" dirty="0">
                <a:solidFill>
                  <a:srgbClr val="F5F6F7"/>
                </a:solidFill>
                <a:latin typeface="Arial" pitchFamily="34" charset="0"/>
                <a:ea typeface="Arial" pitchFamily="34" charset="-122"/>
                <a:cs typeface="Arial" pitchFamily="34" charset="-120"/>
              </a:rPr>
              <a:t>-13.0%</a:t>
            </a:r>
            <a:endParaRPr lang="en-US" sz="3289" dirty="0"/>
          </a:p>
        </p:txBody>
      </p:sp>
      <p:sp>
        <p:nvSpPr>
          <p:cNvPr id="28" name="Text 26"/>
          <p:cNvSpPr/>
          <p:nvPr/>
        </p:nvSpPr>
        <p:spPr>
          <a:xfrm>
            <a:off x="7709010" y="3640795"/>
            <a:ext cx="2007973" cy="481914"/>
          </a:xfrm>
          <a:prstGeom prst="rect">
            <a:avLst/>
          </a:prstGeom>
          <a:noFill/>
          <a:ln/>
        </p:spPr>
        <p:txBody>
          <a:bodyPr wrap="square" lIns="0" tIns="0" rIns="0" bIns="0" rtlCol="0" anchor="t">
            <a:normAutofit/>
          </a:bodyPr>
          <a:lstStyle/>
          <a:p>
            <a:pPr marL="0" indent="0" algn="l">
              <a:buNone/>
            </a:pPr>
            <a:r>
              <a:rPr lang="en-US" sz="1391" dirty="0">
                <a:solidFill>
                  <a:srgbClr val="BDC4C9"/>
                </a:solidFill>
                <a:latin typeface="Arial" pitchFamily="34" charset="0"/>
                <a:ea typeface="Arial" pitchFamily="34" charset="-122"/>
                <a:cs typeface="Arial" pitchFamily="34" charset="-120"/>
              </a:rPr>
              <a:t>Parts billed</a:t>
            </a:r>
            <a:endParaRPr lang="en-US" sz="1391" dirty="0"/>
          </a:p>
        </p:txBody>
      </p:sp>
      <p:sp>
        <p:nvSpPr>
          <p:cNvPr id="29" name="Text 27"/>
          <p:cNvSpPr/>
          <p:nvPr/>
        </p:nvSpPr>
        <p:spPr>
          <a:xfrm>
            <a:off x="7660818" y="4178932"/>
            <a:ext cx="2248930" cy="481914"/>
          </a:xfrm>
          <a:prstGeom prst="rect">
            <a:avLst/>
          </a:prstGeom>
          <a:noFill/>
          <a:ln/>
        </p:spPr>
        <p:txBody>
          <a:bodyPr wrap="square" lIns="0" tIns="0" rIns="0" bIns="0" rtlCol="0" anchor="t">
            <a:normAutofit/>
          </a:bodyPr>
          <a:lstStyle/>
          <a:p>
            <a:pPr marL="0" indent="0" algn="l">
              <a:buNone/>
            </a:pPr>
            <a:r>
              <a:rPr lang="en-US" sz="2783" b="1" dirty="0">
                <a:solidFill>
                  <a:srgbClr val="F5F6F7"/>
                </a:solidFill>
                <a:latin typeface="Arial" pitchFamily="34" charset="0"/>
                <a:ea typeface="Arial" pitchFamily="34" charset="-122"/>
                <a:cs typeface="Arial" pitchFamily="34" charset="-120"/>
              </a:rPr>
              <a:t>-25.4%</a:t>
            </a:r>
            <a:endParaRPr lang="en-US" sz="2783" dirty="0"/>
          </a:p>
        </p:txBody>
      </p:sp>
      <p:sp>
        <p:nvSpPr>
          <p:cNvPr id="30" name="Text 28"/>
          <p:cNvSpPr/>
          <p:nvPr/>
        </p:nvSpPr>
        <p:spPr>
          <a:xfrm>
            <a:off x="7709010" y="4620686"/>
            <a:ext cx="2088292" cy="481914"/>
          </a:xfrm>
          <a:prstGeom prst="rect">
            <a:avLst/>
          </a:prstGeom>
          <a:noFill/>
          <a:ln/>
        </p:spPr>
        <p:txBody>
          <a:bodyPr wrap="square" lIns="0" tIns="0" rIns="0" bIns="0" rtlCol="0" anchor="t">
            <a:normAutofit/>
          </a:bodyPr>
          <a:lstStyle/>
          <a:p>
            <a:pPr marL="0" indent="0" algn="l">
              <a:buNone/>
            </a:pPr>
            <a:r>
              <a:rPr lang="en-US" sz="1328" dirty="0">
                <a:solidFill>
                  <a:srgbClr val="BDC4C9"/>
                </a:solidFill>
                <a:latin typeface="Arial" pitchFamily="34" charset="0"/>
                <a:ea typeface="Arial" pitchFamily="34" charset="-122"/>
                <a:cs typeface="Arial" pitchFamily="34" charset="-120"/>
              </a:rPr>
              <a:t>Recorded quantity</a:t>
            </a:r>
            <a:endParaRPr lang="en-US" sz="1328" dirty="0"/>
          </a:p>
        </p:txBody>
      </p:sp>
      <p:sp>
        <p:nvSpPr>
          <p:cNvPr id="31" name="Text 29"/>
          <p:cNvSpPr/>
          <p:nvPr/>
        </p:nvSpPr>
        <p:spPr>
          <a:xfrm>
            <a:off x="7644755" y="5030312"/>
            <a:ext cx="2289089" cy="481914"/>
          </a:xfrm>
          <a:prstGeom prst="rect">
            <a:avLst/>
          </a:prstGeom>
          <a:noFill/>
          <a:ln/>
        </p:spPr>
        <p:txBody>
          <a:bodyPr wrap="square" lIns="0" tIns="0" rIns="0" bIns="0" rtlCol="0" anchor="t">
            <a:normAutofit/>
          </a:bodyPr>
          <a:lstStyle/>
          <a:p>
            <a:pPr marL="0" indent="0" algn="l">
              <a:buNone/>
            </a:pPr>
            <a:r>
              <a:rPr lang="en-US" sz="1138" dirty="0">
                <a:solidFill>
                  <a:srgbClr val="BDC4C9"/>
                </a:solidFill>
                <a:latin typeface="Arial" pitchFamily="34" charset="0"/>
                <a:ea typeface="Arial" pitchFamily="34" charset="-122"/>
                <a:cs typeface="Arial" pitchFamily="34" charset="-120"/>
              </a:rPr>
              <a:t>22,389 trucks: market context, not the eligible pad fleet.</a:t>
            </a:r>
            <a:endParaRPr lang="en-US" sz="1138" dirty="0"/>
          </a:p>
        </p:txBody>
      </p:sp>
      <p:sp>
        <p:nvSpPr>
          <p:cNvPr id="32" name="Text 30"/>
          <p:cNvSpPr/>
          <p:nvPr/>
        </p:nvSpPr>
        <p:spPr>
          <a:xfrm>
            <a:off x="548640" y="5678424"/>
            <a:ext cx="10954512" cy="219456"/>
          </a:xfrm>
          <a:prstGeom prst="rect">
            <a:avLst/>
          </a:prstGeom>
          <a:noFill/>
          <a:ln/>
        </p:spPr>
        <p:txBody>
          <a:bodyPr wrap="square" lIns="0" tIns="0" rIns="0" bIns="0" rtlCol="0" anchor="t">
            <a:normAutofit/>
          </a:bodyPr>
          <a:lstStyle/>
          <a:p>
            <a:pPr marL="0" indent="0" algn="l">
              <a:buNone/>
            </a:pPr>
            <a:r>
              <a:rPr lang="en-US" sz="840" dirty="0">
                <a:solidFill>
                  <a:srgbClr val="BDC4C9"/>
                </a:solidFill>
                <a:latin typeface="Arial" pitchFamily="34" charset="0"/>
                <a:ea typeface="Arial" pitchFamily="34" charset="-122"/>
                <a:cs typeface="Arial" pitchFamily="34" charset="-120"/>
              </a:rPr>
              <a:t>Recorded ISZE billing / ITUK brake-pad source category, CY2024 vs CY2025. M; F; source 19 Sep 2026.</a:t>
            </a:r>
            <a:endParaRPr lang="en-US" sz="840" dirty="0"/>
          </a:p>
        </p:txBody>
      </p:sp>
      <p:sp>
        <p:nvSpPr>
          <p:cNvPr id="33" name="Text 31"/>
          <p:cNvSpPr/>
          <p:nvPr/>
        </p:nvSpPr>
        <p:spPr>
          <a:xfrm>
            <a:off x="603504" y="5925312"/>
            <a:ext cx="10917936" cy="347472"/>
          </a:xfrm>
          <a:prstGeom prst="rect">
            <a:avLst/>
          </a:prstGeom>
          <a:noFill/>
          <a:ln/>
        </p:spPr>
        <p:txBody>
          <a:bodyPr wrap="square" lIns="0" tIns="0" rIns="0" bIns="0" rtlCol="0" anchor="t">
            <a:normAutofit/>
          </a:bodyPr>
          <a:lstStyle/>
          <a:p>
            <a:pPr marL="0" indent="0" algn="l">
              <a:buNone/>
            </a:pPr>
            <a:r>
              <a:rPr lang="en-US" sz="1320" dirty="0">
                <a:solidFill>
                  <a:srgbClr val="F5F6F7"/>
                </a:solidFill>
                <a:latin typeface="Arial" pitchFamily="34" charset="0"/>
                <a:ea typeface="Arial" pitchFamily="34" charset="-122"/>
                <a:cs typeface="Arial" pitchFamily="34" charset="-120"/>
              </a:rPr>
              <a:t>The practical value of the Atlas is the next level of explanation: which original references contributed, whether product composition changed and what a compatible sales-to-dealer view adds.</a:t>
            </a:r>
            <a:endParaRPr lang="en-US" sz="13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4282C"/>
        </a:solidFill>
        <a:effectLst/>
      </p:bgPr>
    </p:bg>
    <p:spTree>
      <p:nvGrpSpPr>
        <p:cNvPr id="1" name=""/>
        <p:cNvGrpSpPr/>
        <p:nvPr/>
      </p:nvGrpSpPr>
      <p:grpSpPr>
        <a:xfrm>
          <a:off x="0" y="0"/>
          <a:ext cx="0" cy="0"/>
          <a:chOff x="0" y="0"/>
          <a:chExt cx="0" cy="0"/>
        </a:xfrm>
      </p:grpSpPr>
      <p:sp>
        <p:nvSpPr>
          <p:cNvPr id="2" name="Text 0"/>
          <p:cNvSpPr/>
          <p:nvPr/>
        </p:nvSpPr>
        <p:spPr>
          <a:xfrm>
            <a:off x="484632" y="173736"/>
            <a:ext cx="2743200" cy="201168"/>
          </a:xfrm>
          <a:prstGeom prst="rect">
            <a:avLst/>
          </a:prstGeom>
          <a:noFill/>
          <a:ln/>
        </p:spPr>
        <p:txBody>
          <a:bodyPr wrap="square" lIns="0" tIns="0" rIns="0" bIns="0" rtlCol="0" anchor="t">
            <a:normAutofit/>
          </a:bodyPr>
          <a:lstStyle/>
          <a:p>
            <a:pPr marL="0" indent="0" algn="l">
              <a:buNone/>
            </a:pPr>
            <a:r>
              <a:rPr lang="en-US" sz="1000" b="1" dirty="0">
                <a:solidFill>
                  <a:srgbClr val="F5F6F7"/>
                </a:solidFill>
                <a:latin typeface="Arial" pitchFamily="34" charset="0"/>
                <a:ea typeface="Arial" pitchFamily="34" charset="-122"/>
                <a:cs typeface="Arial" pitchFamily="34" charset="-120"/>
              </a:rPr>
              <a:t>ISUZU / UNIVERSE</a:t>
            </a:r>
            <a:endParaRPr lang="en-US" sz="1000" dirty="0"/>
          </a:p>
        </p:txBody>
      </p:sp>
      <p:sp>
        <p:nvSpPr>
          <p:cNvPr id="3" name="Text 1"/>
          <p:cNvSpPr/>
          <p:nvPr/>
        </p:nvSpPr>
        <p:spPr>
          <a:xfrm>
            <a:off x="8046720" y="173736"/>
            <a:ext cx="3657600" cy="201168"/>
          </a:xfrm>
          <a:prstGeom prst="rect">
            <a:avLst/>
          </a:prstGeom>
          <a:noFill/>
          <a:ln/>
        </p:spPr>
        <p:txBody>
          <a:bodyPr wrap="square" lIns="0" tIns="0" rIns="0" bIns="0" rtlCol="0" anchor="t">
            <a:normAutofit/>
          </a:bodyPr>
          <a:lstStyle/>
          <a:p>
            <a:pPr marL="0" indent="0" algn="r">
              <a:buNone/>
            </a:pPr>
            <a:r>
              <a:rPr lang="en-US" sz="900" dirty="0">
                <a:solidFill>
                  <a:srgbClr val="BDC4C9"/>
                </a:solidFill>
                <a:latin typeface="Arial" pitchFamily="34" charset="0"/>
                <a:ea typeface="Arial" pitchFamily="34" charset="-122"/>
                <a:cs typeface="Arial" pitchFamily="34" charset="-120"/>
              </a:rPr>
              <a:t>COMMERCIAL VISION  /  3.0</a:t>
            </a:r>
            <a:endParaRPr lang="en-US" sz="900" dirty="0"/>
          </a:p>
        </p:txBody>
      </p:sp>
      <p:sp>
        <p:nvSpPr>
          <p:cNvPr id="4" name="Shape 2"/>
          <p:cNvSpPr/>
          <p:nvPr/>
        </p:nvSpPr>
        <p:spPr>
          <a:xfrm>
            <a:off x="484632" y="512064"/>
            <a:ext cx="475488" cy="22860"/>
          </a:xfrm>
          <a:prstGeom prst="rect">
            <a:avLst/>
          </a:prstGeom>
          <a:solidFill>
            <a:srgbClr val="D71920"/>
          </a:solidFill>
          <a:ln w="12700">
            <a:solidFill>
              <a:srgbClr val="D71920">
                <a:alpha val="0"/>
              </a:srgbClr>
            </a:solidFill>
            <a:prstDash val="solid"/>
          </a:ln>
        </p:spPr>
        <p:txBody>
          <a:bodyPr/>
          <a:lstStyle/>
          <a:p>
            <a:endParaRPr lang="nl-NL"/>
          </a:p>
        </p:txBody>
      </p:sp>
      <p:sp>
        <p:nvSpPr>
          <p:cNvPr id="5" name="Text 3"/>
          <p:cNvSpPr/>
          <p:nvPr/>
        </p:nvSpPr>
        <p:spPr>
          <a:xfrm>
            <a:off x="484632" y="658368"/>
            <a:ext cx="11064240" cy="219456"/>
          </a:xfrm>
          <a:prstGeom prst="rect">
            <a:avLst/>
          </a:prstGeom>
          <a:noFill/>
          <a:ln/>
        </p:spPr>
        <p:txBody>
          <a:bodyPr wrap="square" lIns="0" tIns="0" rIns="0" bIns="0" rtlCol="0" anchor="t">
            <a:normAutofit/>
          </a:bodyPr>
          <a:lstStyle/>
          <a:p>
            <a:pPr marL="0" indent="0" algn="l">
              <a:buNone/>
            </a:pPr>
            <a:r>
              <a:rPr lang="en-US" sz="1000" b="1" dirty="0">
                <a:solidFill>
                  <a:srgbClr val="D71920"/>
                </a:solidFill>
                <a:latin typeface="Arial" pitchFamily="34" charset="0"/>
                <a:ea typeface="Arial" pitchFamily="34" charset="-122"/>
                <a:cs typeface="Arial" pitchFamily="34" charset="-120"/>
              </a:rPr>
              <a:t>HISTORICAL EXAMPLE / ITUK</a:t>
            </a:r>
            <a:endParaRPr lang="en-US" sz="1000" dirty="0"/>
          </a:p>
        </p:txBody>
      </p:sp>
      <p:sp>
        <p:nvSpPr>
          <p:cNvPr id="6" name="Shape 4"/>
          <p:cNvSpPr/>
          <p:nvPr/>
        </p:nvSpPr>
        <p:spPr>
          <a:xfrm>
            <a:off x="484632" y="6446520"/>
            <a:ext cx="11219688" cy="914"/>
          </a:xfrm>
          <a:prstGeom prst="line">
            <a:avLst/>
          </a:prstGeom>
          <a:noFill/>
          <a:ln w="6350">
            <a:solidFill>
              <a:srgbClr val="647078"/>
            </a:solidFill>
            <a:prstDash val="solid"/>
          </a:ln>
        </p:spPr>
        <p:txBody>
          <a:bodyPr/>
          <a:lstStyle/>
          <a:p>
            <a:endParaRPr lang="nl-NL"/>
          </a:p>
        </p:txBody>
      </p:sp>
      <p:sp>
        <p:nvSpPr>
          <p:cNvPr id="7" name="Text 5"/>
          <p:cNvSpPr/>
          <p:nvPr/>
        </p:nvSpPr>
        <p:spPr>
          <a:xfrm>
            <a:off x="484632" y="6556248"/>
            <a:ext cx="9144000" cy="146304"/>
          </a:xfrm>
          <a:prstGeom prst="rect">
            <a:avLst/>
          </a:prstGeom>
          <a:noFill/>
          <a:ln/>
        </p:spPr>
        <p:txBody>
          <a:bodyPr wrap="square" lIns="0" tIns="0" rIns="0" bIns="0" rtlCol="0" anchor="t">
            <a:normAutofit/>
          </a:bodyPr>
          <a:lstStyle/>
          <a:p>
            <a:pPr marL="0" indent="0" algn="l">
              <a:buNone/>
            </a:pPr>
            <a:r>
              <a:rPr lang="en-US" sz="750" dirty="0">
                <a:solidFill>
                  <a:srgbClr val="BDC4C9"/>
                </a:solidFill>
                <a:latin typeface="Arial" pitchFamily="34" charset="0"/>
                <a:ea typeface="Arial" pitchFamily="34" charset="-122"/>
                <a:cs typeface="Arial" pitchFamily="34" charset="-120"/>
              </a:rPr>
              <a:t>22 SEPTEMBER 2026  /  CONCEPT AND APPLICATION EXAMPLES</a:t>
            </a:r>
            <a:endParaRPr lang="en-US" sz="750" dirty="0"/>
          </a:p>
        </p:txBody>
      </p:sp>
      <p:sp>
        <p:nvSpPr>
          <p:cNvPr id="8" name="Text 6"/>
          <p:cNvSpPr/>
          <p:nvPr/>
        </p:nvSpPr>
        <p:spPr>
          <a:xfrm>
            <a:off x="10789920" y="6547104"/>
            <a:ext cx="914400" cy="173736"/>
          </a:xfrm>
          <a:prstGeom prst="rect">
            <a:avLst/>
          </a:prstGeom>
          <a:noFill/>
          <a:ln/>
        </p:spPr>
        <p:txBody>
          <a:bodyPr wrap="square" lIns="0" tIns="0" rIns="0" bIns="0" rtlCol="0" anchor="t">
            <a:normAutofit/>
          </a:bodyPr>
          <a:lstStyle/>
          <a:p>
            <a:pPr marL="0" indent="0" algn="r">
              <a:buNone/>
            </a:pPr>
            <a:r>
              <a:rPr lang="en-US" sz="850" dirty="0">
                <a:solidFill>
                  <a:srgbClr val="BDC4C9"/>
                </a:solidFill>
                <a:latin typeface="Arial" pitchFamily="34" charset="0"/>
                <a:ea typeface="Arial" pitchFamily="34" charset="-122"/>
                <a:cs typeface="Arial" pitchFamily="34" charset="-120"/>
              </a:rPr>
              <a:t>10 / 49</a:t>
            </a:r>
            <a:endParaRPr lang="en-US" sz="850" dirty="0"/>
          </a:p>
        </p:txBody>
      </p:sp>
      <p:sp>
        <p:nvSpPr>
          <p:cNvPr id="9" name="Text 7"/>
          <p:cNvSpPr/>
          <p:nvPr/>
        </p:nvSpPr>
        <p:spPr>
          <a:xfrm>
            <a:off x="502920" y="1005840"/>
            <a:ext cx="11036808" cy="841248"/>
          </a:xfrm>
          <a:prstGeom prst="rect">
            <a:avLst/>
          </a:prstGeom>
          <a:noFill/>
          <a:ln/>
        </p:spPr>
        <p:txBody>
          <a:bodyPr wrap="square" lIns="0" tIns="0" rIns="0" bIns="0" rtlCol="0" anchor="t">
            <a:normAutofit/>
          </a:bodyPr>
          <a:lstStyle/>
          <a:p>
            <a:pPr marL="0" indent="0" algn="l">
              <a:buNone/>
            </a:pPr>
            <a:r>
              <a:rPr lang="en-US" sz="3400" b="1" dirty="0">
                <a:solidFill>
                  <a:srgbClr val="F5F6F7"/>
                </a:solidFill>
                <a:latin typeface="Arial" pitchFamily="34" charset="0"/>
                <a:ea typeface="Arial" pitchFamily="34" charset="-122"/>
                <a:cs typeface="Arial" pitchFamily="34" charset="-120"/>
              </a:rPr>
              <a:t>Concentrate effort where the change sits.</a:t>
            </a:r>
            <a:endParaRPr lang="en-US" sz="3400" dirty="0"/>
          </a:p>
        </p:txBody>
      </p:sp>
      <p:sp>
        <p:nvSpPr>
          <p:cNvPr id="10" name="Text 8"/>
          <p:cNvSpPr/>
          <p:nvPr/>
        </p:nvSpPr>
        <p:spPr>
          <a:xfrm>
            <a:off x="530352" y="1865376"/>
            <a:ext cx="10954512" cy="566928"/>
          </a:xfrm>
          <a:prstGeom prst="rect">
            <a:avLst/>
          </a:prstGeom>
          <a:noFill/>
          <a:ln/>
        </p:spPr>
        <p:txBody>
          <a:bodyPr wrap="square" lIns="0" tIns="0" rIns="0" bIns="0" rtlCol="0" anchor="t">
            <a:normAutofit/>
          </a:bodyPr>
          <a:lstStyle/>
          <a:p>
            <a:pPr marL="0" indent="0" algn="l">
              <a:buNone/>
            </a:pPr>
            <a:r>
              <a:rPr lang="en-US" sz="1800" dirty="0">
                <a:solidFill>
                  <a:srgbClr val="BDC4C9"/>
                </a:solidFill>
                <a:latin typeface="Arial" pitchFamily="34" charset="0"/>
                <a:ea typeface="Arial" pitchFamily="34" charset="-122"/>
                <a:cs typeface="Arial" pitchFamily="34" charset="-120"/>
              </a:rPr>
              <a:t>Three selected ITUK braking source categories / not the complete AIM braking family.</a:t>
            </a:r>
            <a:endParaRPr lang="en-US" sz="1800" dirty="0"/>
          </a:p>
        </p:txBody>
      </p:sp>
      <p:sp>
        <p:nvSpPr>
          <p:cNvPr id="11" name="Text 9"/>
          <p:cNvSpPr/>
          <p:nvPr/>
        </p:nvSpPr>
        <p:spPr>
          <a:xfrm>
            <a:off x="1626950" y="3086714"/>
            <a:ext cx="1419367" cy="532263"/>
          </a:xfrm>
          <a:prstGeom prst="rect">
            <a:avLst/>
          </a:prstGeom>
          <a:noFill/>
          <a:ln/>
        </p:spPr>
        <p:txBody>
          <a:bodyPr wrap="square" lIns="0" tIns="0" rIns="0" bIns="0" rtlCol="0" anchor="t">
            <a:normAutofit/>
          </a:bodyPr>
          <a:lstStyle/>
          <a:p>
            <a:pPr marL="0" indent="0" algn="l">
              <a:buNone/>
            </a:pPr>
            <a:r>
              <a:rPr lang="en-US" sz="1676" b="1" dirty="0">
                <a:solidFill>
                  <a:srgbClr val="F5F6F7"/>
                </a:solidFill>
                <a:latin typeface="Arial" pitchFamily="34" charset="0"/>
                <a:ea typeface="Arial" pitchFamily="34" charset="-122"/>
                <a:cs typeface="Arial" pitchFamily="34" charset="-120"/>
              </a:rPr>
              <a:t>Brake pads</a:t>
            </a:r>
            <a:endParaRPr lang="en-US" sz="1676" dirty="0"/>
          </a:p>
        </p:txBody>
      </p:sp>
      <p:sp>
        <p:nvSpPr>
          <p:cNvPr id="12" name="Shape 10"/>
          <p:cNvSpPr/>
          <p:nvPr/>
        </p:nvSpPr>
        <p:spPr>
          <a:xfrm>
            <a:off x="3197125" y="3015746"/>
            <a:ext cx="5588758" cy="416939"/>
          </a:xfrm>
          <a:prstGeom prst="roundRect">
            <a:avLst>
              <a:gd name="adj" fmla="val 8773"/>
            </a:avLst>
          </a:prstGeom>
          <a:solidFill>
            <a:srgbClr val="D71920"/>
          </a:solidFill>
          <a:ln w="12700">
            <a:solidFill>
              <a:srgbClr val="24282C">
                <a:alpha val="0"/>
              </a:srgbClr>
            </a:solidFill>
            <a:prstDash val="solid"/>
          </a:ln>
        </p:spPr>
        <p:txBody>
          <a:bodyPr/>
          <a:lstStyle/>
          <a:p>
            <a:endParaRPr lang="nl-NL"/>
          </a:p>
        </p:txBody>
      </p:sp>
      <p:sp>
        <p:nvSpPr>
          <p:cNvPr id="13" name="Text 11"/>
          <p:cNvSpPr/>
          <p:nvPr/>
        </p:nvSpPr>
        <p:spPr>
          <a:xfrm>
            <a:off x="8874593" y="3113327"/>
            <a:ext cx="1862919" cy="532263"/>
          </a:xfrm>
          <a:prstGeom prst="rect">
            <a:avLst/>
          </a:prstGeom>
          <a:noFill/>
          <a:ln/>
        </p:spPr>
        <p:txBody>
          <a:bodyPr wrap="square" lIns="0" tIns="0" rIns="0" bIns="0" rtlCol="0" anchor="t">
            <a:normAutofit/>
          </a:bodyPr>
          <a:lstStyle/>
          <a:p>
            <a:pPr marL="0" indent="0" algn="l">
              <a:buNone/>
            </a:pPr>
            <a:r>
              <a:rPr lang="en-US" sz="1537" dirty="0">
                <a:solidFill>
                  <a:srgbClr val="F5F6F7"/>
                </a:solidFill>
                <a:latin typeface="Arial" pitchFamily="34" charset="0"/>
                <a:ea typeface="Arial" pitchFamily="34" charset="-122"/>
                <a:cs typeface="Arial" pitchFamily="34" charset="-120"/>
              </a:rPr>
              <a:t>EUR 45,023.33</a:t>
            </a:r>
            <a:endParaRPr lang="en-US" sz="1537" dirty="0"/>
          </a:p>
        </p:txBody>
      </p:sp>
      <p:sp>
        <p:nvSpPr>
          <p:cNvPr id="14" name="Text 12"/>
          <p:cNvSpPr/>
          <p:nvPr/>
        </p:nvSpPr>
        <p:spPr>
          <a:xfrm>
            <a:off x="1626950" y="3814140"/>
            <a:ext cx="1419367" cy="532263"/>
          </a:xfrm>
          <a:prstGeom prst="rect">
            <a:avLst/>
          </a:prstGeom>
          <a:noFill/>
          <a:ln/>
        </p:spPr>
        <p:txBody>
          <a:bodyPr wrap="square" lIns="0" tIns="0" rIns="0" bIns="0" rtlCol="0" anchor="t">
            <a:normAutofit/>
          </a:bodyPr>
          <a:lstStyle/>
          <a:p>
            <a:pPr marL="0" indent="0" algn="l">
              <a:buNone/>
            </a:pPr>
            <a:r>
              <a:rPr lang="en-US" sz="1676" b="1" dirty="0">
                <a:solidFill>
                  <a:srgbClr val="F5F6F7"/>
                </a:solidFill>
                <a:latin typeface="Arial" pitchFamily="34" charset="0"/>
                <a:ea typeface="Arial" pitchFamily="34" charset="-122"/>
                <a:cs typeface="Arial" pitchFamily="34" charset="-120"/>
              </a:rPr>
              <a:t>Rotors</a:t>
            </a:r>
            <a:endParaRPr lang="en-US" sz="1676" dirty="0"/>
          </a:p>
        </p:txBody>
      </p:sp>
      <p:sp>
        <p:nvSpPr>
          <p:cNvPr id="15" name="Shape 13"/>
          <p:cNvSpPr/>
          <p:nvPr/>
        </p:nvSpPr>
        <p:spPr>
          <a:xfrm>
            <a:off x="3197125" y="3743171"/>
            <a:ext cx="156464" cy="416939"/>
          </a:xfrm>
          <a:prstGeom prst="roundRect">
            <a:avLst>
              <a:gd name="adj" fmla="val 23377"/>
            </a:avLst>
          </a:prstGeom>
          <a:solidFill>
            <a:srgbClr val="BDC4C9"/>
          </a:solidFill>
          <a:ln w="12700">
            <a:solidFill>
              <a:srgbClr val="24282C">
                <a:alpha val="0"/>
              </a:srgbClr>
            </a:solidFill>
            <a:prstDash val="solid"/>
          </a:ln>
        </p:spPr>
        <p:txBody>
          <a:bodyPr/>
          <a:lstStyle/>
          <a:p>
            <a:endParaRPr lang="nl-NL"/>
          </a:p>
        </p:txBody>
      </p:sp>
      <p:sp>
        <p:nvSpPr>
          <p:cNvPr id="16" name="Text 14"/>
          <p:cNvSpPr/>
          <p:nvPr/>
        </p:nvSpPr>
        <p:spPr>
          <a:xfrm>
            <a:off x="3442299" y="3840753"/>
            <a:ext cx="1862919" cy="532263"/>
          </a:xfrm>
          <a:prstGeom prst="rect">
            <a:avLst/>
          </a:prstGeom>
          <a:noFill/>
          <a:ln/>
        </p:spPr>
        <p:txBody>
          <a:bodyPr wrap="square" lIns="0" tIns="0" rIns="0" bIns="0" rtlCol="0" anchor="t">
            <a:normAutofit/>
          </a:bodyPr>
          <a:lstStyle/>
          <a:p>
            <a:pPr marL="0" indent="0" algn="l">
              <a:buNone/>
            </a:pPr>
            <a:r>
              <a:rPr lang="en-US" sz="1537" dirty="0">
                <a:solidFill>
                  <a:srgbClr val="F5F6F7"/>
                </a:solidFill>
                <a:latin typeface="Arial" pitchFamily="34" charset="0"/>
                <a:ea typeface="Arial" pitchFamily="34" charset="-122"/>
                <a:cs typeface="Arial" pitchFamily="34" charset="-120"/>
              </a:rPr>
              <a:t>EUR 1,260.48</a:t>
            </a:r>
            <a:endParaRPr lang="en-US" sz="1537" dirty="0"/>
          </a:p>
        </p:txBody>
      </p:sp>
      <p:sp>
        <p:nvSpPr>
          <p:cNvPr id="17" name="Text 15"/>
          <p:cNvSpPr/>
          <p:nvPr/>
        </p:nvSpPr>
        <p:spPr>
          <a:xfrm>
            <a:off x="1626950" y="4541565"/>
            <a:ext cx="1419367" cy="532263"/>
          </a:xfrm>
          <a:prstGeom prst="rect">
            <a:avLst/>
          </a:prstGeom>
          <a:noFill/>
          <a:ln/>
        </p:spPr>
        <p:txBody>
          <a:bodyPr wrap="square" lIns="0" tIns="0" rIns="0" bIns="0" rtlCol="0" anchor="t">
            <a:normAutofit/>
          </a:bodyPr>
          <a:lstStyle/>
          <a:p>
            <a:pPr marL="0" indent="0" algn="l">
              <a:buNone/>
            </a:pPr>
            <a:r>
              <a:rPr lang="en-US" sz="1676" b="1" dirty="0">
                <a:solidFill>
                  <a:srgbClr val="F5F6F7"/>
                </a:solidFill>
                <a:latin typeface="Arial" pitchFamily="34" charset="0"/>
                <a:ea typeface="Arial" pitchFamily="34" charset="-122"/>
                <a:cs typeface="Arial" pitchFamily="34" charset="-120"/>
              </a:rPr>
              <a:t>Shoes</a:t>
            </a:r>
            <a:endParaRPr lang="en-US" sz="1676" dirty="0"/>
          </a:p>
        </p:txBody>
      </p:sp>
      <p:sp>
        <p:nvSpPr>
          <p:cNvPr id="18" name="Shape 16"/>
          <p:cNvSpPr/>
          <p:nvPr/>
        </p:nvSpPr>
        <p:spPr>
          <a:xfrm>
            <a:off x="3197125" y="4470597"/>
            <a:ext cx="97437" cy="416939"/>
          </a:xfrm>
          <a:prstGeom prst="roundRect">
            <a:avLst>
              <a:gd name="adj" fmla="val 37538"/>
            </a:avLst>
          </a:prstGeom>
          <a:solidFill>
            <a:srgbClr val="BDC4C9"/>
          </a:solidFill>
          <a:ln w="12700">
            <a:solidFill>
              <a:srgbClr val="24282C">
                <a:alpha val="0"/>
              </a:srgbClr>
            </a:solidFill>
            <a:prstDash val="solid"/>
          </a:ln>
        </p:spPr>
        <p:txBody>
          <a:bodyPr/>
          <a:lstStyle/>
          <a:p>
            <a:endParaRPr lang="nl-NL"/>
          </a:p>
        </p:txBody>
      </p:sp>
      <p:sp>
        <p:nvSpPr>
          <p:cNvPr id="19" name="Text 17"/>
          <p:cNvSpPr/>
          <p:nvPr/>
        </p:nvSpPr>
        <p:spPr>
          <a:xfrm>
            <a:off x="3383272" y="4568179"/>
            <a:ext cx="1862919" cy="532263"/>
          </a:xfrm>
          <a:prstGeom prst="rect">
            <a:avLst/>
          </a:prstGeom>
          <a:noFill/>
          <a:ln/>
        </p:spPr>
        <p:txBody>
          <a:bodyPr wrap="square" lIns="0" tIns="0" rIns="0" bIns="0" rtlCol="0" anchor="t">
            <a:normAutofit/>
          </a:bodyPr>
          <a:lstStyle/>
          <a:p>
            <a:pPr marL="0" indent="0" algn="l">
              <a:buNone/>
            </a:pPr>
            <a:r>
              <a:rPr lang="en-US" sz="1537" dirty="0">
                <a:solidFill>
                  <a:srgbClr val="F5F6F7"/>
                </a:solidFill>
                <a:latin typeface="Arial" pitchFamily="34" charset="0"/>
                <a:ea typeface="Arial" pitchFamily="34" charset="-122"/>
                <a:cs typeface="Arial" pitchFamily="34" charset="-120"/>
              </a:rPr>
              <a:t>EUR 784.96</a:t>
            </a:r>
            <a:endParaRPr lang="en-US" sz="1537" dirty="0"/>
          </a:p>
        </p:txBody>
      </p:sp>
      <p:sp>
        <p:nvSpPr>
          <p:cNvPr id="20" name="Text 18"/>
          <p:cNvSpPr/>
          <p:nvPr/>
        </p:nvSpPr>
        <p:spPr>
          <a:xfrm>
            <a:off x="1626950" y="5286733"/>
            <a:ext cx="8782334" cy="532263"/>
          </a:xfrm>
          <a:prstGeom prst="rect">
            <a:avLst/>
          </a:prstGeom>
          <a:noFill/>
          <a:ln/>
        </p:spPr>
        <p:txBody>
          <a:bodyPr wrap="square" lIns="0" tIns="0" rIns="0" bIns="0" rtlCol="0" anchor="t">
            <a:normAutofit/>
          </a:bodyPr>
          <a:lstStyle/>
          <a:p>
            <a:pPr marL="0" indent="0" algn="l">
              <a:buNone/>
            </a:pPr>
            <a:r>
              <a:rPr lang="en-US" sz="1676" b="1" dirty="0">
                <a:solidFill>
                  <a:srgbClr val="F5F6F7"/>
                </a:solidFill>
                <a:latin typeface="Arial" pitchFamily="34" charset="0"/>
                <a:ea typeface="Arial" pitchFamily="34" charset="-122"/>
                <a:cs typeface="Arial" pitchFamily="34" charset="-120"/>
              </a:rPr>
              <a:t>95.7% of this selected reduction sits in the pad category.</a:t>
            </a:r>
            <a:endParaRPr lang="en-US" sz="1676" dirty="0"/>
          </a:p>
        </p:txBody>
      </p:sp>
      <p:sp>
        <p:nvSpPr>
          <p:cNvPr id="21" name="Text 19"/>
          <p:cNvSpPr/>
          <p:nvPr/>
        </p:nvSpPr>
        <p:spPr>
          <a:xfrm>
            <a:off x="548640" y="5678424"/>
            <a:ext cx="10954512" cy="219456"/>
          </a:xfrm>
          <a:prstGeom prst="rect">
            <a:avLst/>
          </a:prstGeom>
          <a:noFill/>
          <a:ln/>
        </p:spPr>
        <p:txBody>
          <a:bodyPr wrap="square" lIns="0" tIns="0" rIns="0" bIns="0" rtlCol="0" anchor="t">
            <a:normAutofit/>
          </a:bodyPr>
          <a:lstStyle/>
          <a:p>
            <a:pPr marL="0" indent="0" algn="l">
              <a:buNone/>
            </a:pPr>
            <a:r>
              <a:rPr lang="en-US" sz="840" dirty="0">
                <a:solidFill>
                  <a:srgbClr val="BDC4C9"/>
                </a:solidFill>
                <a:latin typeface="Arial" pitchFamily="34" charset="0"/>
                <a:ea typeface="Arial" pitchFamily="34" charset="-122"/>
                <a:cs typeface="Arial" pitchFamily="34" charset="-120"/>
              </a:rPr>
              <a:t>Magnitude of billing reductions / three selected ITUK source categories, CY2025 vs CY2024. M; F.</a:t>
            </a:r>
            <a:endParaRPr lang="en-US" sz="840" dirty="0"/>
          </a:p>
        </p:txBody>
      </p:sp>
      <p:sp>
        <p:nvSpPr>
          <p:cNvPr id="22" name="Text 20"/>
          <p:cNvSpPr/>
          <p:nvPr/>
        </p:nvSpPr>
        <p:spPr>
          <a:xfrm>
            <a:off x="603504" y="5925312"/>
            <a:ext cx="10917936" cy="347472"/>
          </a:xfrm>
          <a:prstGeom prst="rect">
            <a:avLst/>
          </a:prstGeom>
          <a:noFill/>
          <a:ln/>
        </p:spPr>
        <p:txBody>
          <a:bodyPr wrap="square" lIns="0" tIns="0" rIns="0" bIns="0" rtlCol="0" anchor="t">
            <a:normAutofit/>
          </a:bodyPr>
          <a:lstStyle/>
          <a:p>
            <a:pPr marL="0" indent="0" algn="l">
              <a:buNone/>
            </a:pPr>
            <a:r>
              <a:rPr lang="en-US" sz="1320" dirty="0">
                <a:solidFill>
                  <a:srgbClr val="F5F6F7"/>
                </a:solidFill>
                <a:latin typeface="Arial" pitchFamily="34" charset="0"/>
                <a:ea typeface="Arial" pitchFamily="34" charset="-122"/>
                <a:cs typeface="Arial" pitchFamily="34" charset="-120"/>
              </a:rPr>
              <a:t>The contextual fleet remains 22,389 ITUK trucks on the stated 2025 basis; no dealer allocation is made.</a:t>
            </a:r>
            <a:endParaRPr lang="en-US" sz="13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4282C"/>
        </a:solidFill>
        <a:effectLst/>
      </p:bgPr>
    </p:bg>
    <p:spTree>
      <p:nvGrpSpPr>
        <p:cNvPr id="1" name=""/>
        <p:cNvGrpSpPr/>
        <p:nvPr/>
      </p:nvGrpSpPr>
      <p:grpSpPr>
        <a:xfrm>
          <a:off x="0" y="0"/>
          <a:ext cx="0" cy="0"/>
          <a:chOff x="0" y="0"/>
          <a:chExt cx="0" cy="0"/>
        </a:xfrm>
      </p:grpSpPr>
      <p:sp>
        <p:nvSpPr>
          <p:cNvPr id="2" name="Text 0"/>
          <p:cNvSpPr/>
          <p:nvPr/>
        </p:nvSpPr>
        <p:spPr>
          <a:xfrm>
            <a:off x="484632" y="173736"/>
            <a:ext cx="2743200" cy="201168"/>
          </a:xfrm>
          <a:prstGeom prst="rect">
            <a:avLst/>
          </a:prstGeom>
          <a:noFill/>
          <a:ln/>
        </p:spPr>
        <p:txBody>
          <a:bodyPr wrap="square" lIns="0" tIns="0" rIns="0" bIns="0" rtlCol="0" anchor="t">
            <a:normAutofit/>
          </a:bodyPr>
          <a:lstStyle/>
          <a:p>
            <a:pPr marL="0" indent="0" algn="l">
              <a:buNone/>
            </a:pPr>
            <a:r>
              <a:rPr lang="en-US" sz="1000" b="1" dirty="0">
                <a:solidFill>
                  <a:srgbClr val="F5F6F7"/>
                </a:solidFill>
                <a:latin typeface="Arial" pitchFamily="34" charset="0"/>
                <a:ea typeface="Arial" pitchFamily="34" charset="-122"/>
                <a:cs typeface="Arial" pitchFamily="34" charset="-120"/>
              </a:rPr>
              <a:t>ISUZU / UNIVERSE</a:t>
            </a:r>
            <a:endParaRPr lang="en-US" sz="1000" dirty="0"/>
          </a:p>
        </p:txBody>
      </p:sp>
      <p:sp>
        <p:nvSpPr>
          <p:cNvPr id="3" name="Text 1"/>
          <p:cNvSpPr/>
          <p:nvPr/>
        </p:nvSpPr>
        <p:spPr>
          <a:xfrm>
            <a:off x="8046720" y="173736"/>
            <a:ext cx="3657600" cy="201168"/>
          </a:xfrm>
          <a:prstGeom prst="rect">
            <a:avLst/>
          </a:prstGeom>
          <a:noFill/>
          <a:ln/>
        </p:spPr>
        <p:txBody>
          <a:bodyPr wrap="square" lIns="0" tIns="0" rIns="0" bIns="0" rtlCol="0" anchor="t">
            <a:normAutofit/>
          </a:bodyPr>
          <a:lstStyle/>
          <a:p>
            <a:pPr marL="0" indent="0" algn="r">
              <a:buNone/>
            </a:pPr>
            <a:r>
              <a:rPr lang="en-US" sz="900" dirty="0">
                <a:solidFill>
                  <a:srgbClr val="BDC4C9"/>
                </a:solidFill>
                <a:latin typeface="Arial" pitchFamily="34" charset="0"/>
                <a:ea typeface="Arial" pitchFamily="34" charset="-122"/>
                <a:cs typeface="Arial" pitchFamily="34" charset="-120"/>
              </a:rPr>
              <a:t>COMMERCIAL VISION  /  3.0</a:t>
            </a:r>
            <a:endParaRPr lang="en-US" sz="900" dirty="0"/>
          </a:p>
        </p:txBody>
      </p:sp>
      <p:sp>
        <p:nvSpPr>
          <p:cNvPr id="4" name="Shape 2"/>
          <p:cNvSpPr/>
          <p:nvPr/>
        </p:nvSpPr>
        <p:spPr>
          <a:xfrm>
            <a:off x="484632" y="512064"/>
            <a:ext cx="475488" cy="22860"/>
          </a:xfrm>
          <a:prstGeom prst="rect">
            <a:avLst/>
          </a:prstGeom>
          <a:solidFill>
            <a:srgbClr val="D71920"/>
          </a:solidFill>
          <a:ln w="12700">
            <a:solidFill>
              <a:srgbClr val="D71920">
                <a:alpha val="0"/>
              </a:srgbClr>
            </a:solidFill>
            <a:prstDash val="solid"/>
          </a:ln>
        </p:spPr>
        <p:txBody>
          <a:bodyPr/>
          <a:lstStyle/>
          <a:p>
            <a:endParaRPr lang="nl-NL"/>
          </a:p>
        </p:txBody>
      </p:sp>
      <p:sp>
        <p:nvSpPr>
          <p:cNvPr id="5" name="Text 3"/>
          <p:cNvSpPr/>
          <p:nvPr/>
        </p:nvSpPr>
        <p:spPr>
          <a:xfrm>
            <a:off x="484632" y="658368"/>
            <a:ext cx="11064240" cy="219456"/>
          </a:xfrm>
          <a:prstGeom prst="rect">
            <a:avLst/>
          </a:prstGeom>
          <a:noFill/>
          <a:ln/>
        </p:spPr>
        <p:txBody>
          <a:bodyPr wrap="square" lIns="0" tIns="0" rIns="0" bIns="0" rtlCol="0" anchor="t">
            <a:normAutofit/>
          </a:bodyPr>
          <a:lstStyle/>
          <a:p>
            <a:pPr marL="0" indent="0" algn="l">
              <a:buNone/>
            </a:pPr>
            <a:r>
              <a:rPr lang="en-US" sz="1000" b="1" dirty="0">
                <a:solidFill>
                  <a:srgbClr val="D71920"/>
                </a:solidFill>
                <a:latin typeface="Arial" pitchFamily="34" charset="0"/>
                <a:ea typeface="Arial" pitchFamily="34" charset="-122"/>
                <a:cs typeface="Arial" pitchFamily="34" charset="-120"/>
              </a:rPr>
              <a:t>HISTORICAL EXAMPLE / PORTUGAL</a:t>
            </a:r>
            <a:endParaRPr lang="en-US" sz="1000" dirty="0"/>
          </a:p>
        </p:txBody>
      </p:sp>
      <p:sp>
        <p:nvSpPr>
          <p:cNvPr id="6" name="Shape 4"/>
          <p:cNvSpPr/>
          <p:nvPr/>
        </p:nvSpPr>
        <p:spPr>
          <a:xfrm>
            <a:off x="484632" y="6446520"/>
            <a:ext cx="11219688" cy="914"/>
          </a:xfrm>
          <a:prstGeom prst="line">
            <a:avLst/>
          </a:prstGeom>
          <a:noFill/>
          <a:ln w="6350">
            <a:solidFill>
              <a:srgbClr val="647078"/>
            </a:solidFill>
            <a:prstDash val="solid"/>
          </a:ln>
        </p:spPr>
        <p:txBody>
          <a:bodyPr/>
          <a:lstStyle/>
          <a:p>
            <a:endParaRPr lang="nl-NL"/>
          </a:p>
        </p:txBody>
      </p:sp>
      <p:sp>
        <p:nvSpPr>
          <p:cNvPr id="7" name="Text 5"/>
          <p:cNvSpPr/>
          <p:nvPr/>
        </p:nvSpPr>
        <p:spPr>
          <a:xfrm>
            <a:off x="484632" y="6556248"/>
            <a:ext cx="9144000" cy="146304"/>
          </a:xfrm>
          <a:prstGeom prst="rect">
            <a:avLst/>
          </a:prstGeom>
          <a:noFill/>
          <a:ln/>
        </p:spPr>
        <p:txBody>
          <a:bodyPr wrap="square" lIns="0" tIns="0" rIns="0" bIns="0" rtlCol="0" anchor="t">
            <a:normAutofit/>
          </a:bodyPr>
          <a:lstStyle/>
          <a:p>
            <a:pPr marL="0" indent="0" algn="l">
              <a:buNone/>
            </a:pPr>
            <a:r>
              <a:rPr lang="en-US" sz="750" dirty="0">
                <a:solidFill>
                  <a:srgbClr val="BDC4C9"/>
                </a:solidFill>
                <a:latin typeface="Arial" pitchFamily="34" charset="0"/>
                <a:ea typeface="Arial" pitchFamily="34" charset="-122"/>
                <a:cs typeface="Arial" pitchFamily="34" charset="-120"/>
              </a:rPr>
              <a:t>22 SEPTEMBER 2026  /  CONCEPT AND APPLICATION EXAMPLES</a:t>
            </a:r>
            <a:endParaRPr lang="en-US" sz="750" dirty="0"/>
          </a:p>
        </p:txBody>
      </p:sp>
      <p:sp>
        <p:nvSpPr>
          <p:cNvPr id="8" name="Text 6"/>
          <p:cNvSpPr/>
          <p:nvPr/>
        </p:nvSpPr>
        <p:spPr>
          <a:xfrm>
            <a:off x="10789920" y="6547104"/>
            <a:ext cx="914400" cy="173736"/>
          </a:xfrm>
          <a:prstGeom prst="rect">
            <a:avLst/>
          </a:prstGeom>
          <a:noFill/>
          <a:ln/>
        </p:spPr>
        <p:txBody>
          <a:bodyPr wrap="square" lIns="0" tIns="0" rIns="0" bIns="0" rtlCol="0" anchor="t">
            <a:normAutofit/>
          </a:bodyPr>
          <a:lstStyle/>
          <a:p>
            <a:pPr marL="0" indent="0" algn="r">
              <a:buNone/>
            </a:pPr>
            <a:r>
              <a:rPr lang="en-US" sz="850" dirty="0">
                <a:solidFill>
                  <a:srgbClr val="BDC4C9"/>
                </a:solidFill>
                <a:latin typeface="Arial" pitchFamily="34" charset="0"/>
                <a:ea typeface="Arial" pitchFamily="34" charset="-122"/>
                <a:cs typeface="Arial" pitchFamily="34" charset="-120"/>
              </a:rPr>
              <a:t>11 / 49</a:t>
            </a:r>
            <a:endParaRPr lang="en-US" sz="850" dirty="0"/>
          </a:p>
        </p:txBody>
      </p:sp>
      <p:sp>
        <p:nvSpPr>
          <p:cNvPr id="9" name="Text 7"/>
          <p:cNvSpPr/>
          <p:nvPr/>
        </p:nvSpPr>
        <p:spPr>
          <a:xfrm>
            <a:off x="502920" y="1005840"/>
            <a:ext cx="11036808" cy="841248"/>
          </a:xfrm>
          <a:prstGeom prst="rect">
            <a:avLst/>
          </a:prstGeom>
          <a:noFill/>
          <a:ln/>
        </p:spPr>
        <p:txBody>
          <a:bodyPr wrap="square" lIns="0" tIns="0" rIns="0" bIns="0" rtlCol="0" anchor="t">
            <a:normAutofit/>
          </a:bodyPr>
          <a:lstStyle/>
          <a:p>
            <a:pPr marL="0" indent="0" algn="l">
              <a:buNone/>
            </a:pPr>
            <a:r>
              <a:rPr lang="en-US" sz="3400" b="1" dirty="0">
                <a:solidFill>
                  <a:srgbClr val="F5F6F7"/>
                </a:solidFill>
                <a:latin typeface="Arial" pitchFamily="34" charset="0"/>
                <a:ea typeface="Arial" pitchFamily="34" charset="-122"/>
                <a:cs typeface="Arial" pitchFamily="34" charset="-120"/>
              </a:rPr>
              <a:t>Read Genuine and BVP together.</a:t>
            </a:r>
            <a:endParaRPr lang="en-US" sz="3400" dirty="0"/>
          </a:p>
        </p:txBody>
      </p:sp>
      <p:sp>
        <p:nvSpPr>
          <p:cNvPr id="10" name="Text 8"/>
          <p:cNvSpPr/>
          <p:nvPr/>
        </p:nvSpPr>
        <p:spPr>
          <a:xfrm>
            <a:off x="530352" y="1865376"/>
            <a:ext cx="10954512" cy="566928"/>
          </a:xfrm>
          <a:prstGeom prst="rect">
            <a:avLst/>
          </a:prstGeom>
          <a:noFill/>
          <a:ln/>
        </p:spPr>
        <p:txBody>
          <a:bodyPr wrap="square" lIns="0" tIns="0" rIns="0" bIns="0" rtlCol="0" anchor="t">
            <a:normAutofit/>
          </a:bodyPr>
          <a:lstStyle/>
          <a:p>
            <a:pPr marL="0" indent="0" algn="l">
              <a:buNone/>
            </a:pPr>
            <a:r>
              <a:rPr lang="en-US" sz="1800" dirty="0">
                <a:solidFill>
                  <a:srgbClr val="BDC4C9"/>
                </a:solidFill>
                <a:latin typeface="Arial" pitchFamily="34" charset="0"/>
                <a:ea typeface="Arial" pitchFamily="34" charset="-122"/>
                <a:cs typeface="Arial" pitchFamily="34" charset="-120"/>
              </a:rPr>
              <a:t>I Motors clutch-kit source category / full calendar 2024 versus 2025.</a:t>
            </a:r>
            <a:endParaRPr lang="en-US" sz="1800" dirty="0"/>
          </a:p>
        </p:txBody>
      </p:sp>
      <p:sp>
        <p:nvSpPr>
          <p:cNvPr id="11" name="Shape 9"/>
          <p:cNvSpPr/>
          <p:nvPr/>
        </p:nvSpPr>
        <p:spPr>
          <a:xfrm>
            <a:off x="2852928" y="3558983"/>
            <a:ext cx="1584960" cy="1439737"/>
          </a:xfrm>
          <a:prstGeom prst="rect">
            <a:avLst/>
          </a:prstGeom>
          <a:solidFill>
            <a:srgbClr val="D71920"/>
          </a:solidFill>
          <a:ln w="12700">
            <a:solidFill>
              <a:srgbClr val="24282C">
                <a:alpha val="0"/>
              </a:srgbClr>
            </a:solidFill>
            <a:prstDash val="solid"/>
          </a:ln>
        </p:spPr>
        <p:txBody>
          <a:bodyPr/>
          <a:lstStyle/>
          <a:p>
            <a:endParaRPr lang="nl-NL"/>
          </a:p>
        </p:txBody>
      </p:sp>
      <p:sp>
        <p:nvSpPr>
          <p:cNvPr id="12" name="Shape 10"/>
          <p:cNvSpPr/>
          <p:nvPr/>
        </p:nvSpPr>
        <p:spPr>
          <a:xfrm>
            <a:off x="2852928" y="3404574"/>
            <a:ext cx="1584960" cy="154409"/>
          </a:xfrm>
          <a:prstGeom prst="rect">
            <a:avLst/>
          </a:prstGeom>
          <a:solidFill>
            <a:srgbClr val="F5F6F7"/>
          </a:solidFill>
          <a:ln w="12700">
            <a:solidFill>
              <a:srgbClr val="24282C">
                <a:alpha val="0"/>
              </a:srgbClr>
            </a:solidFill>
            <a:prstDash val="solid"/>
          </a:ln>
        </p:spPr>
        <p:txBody>
          <a:bodyPr/>
          <a:lstStyle/>
          <a:p>
            <a:endParaRPr lang="nl-NL"/>
          </a:p>
        </p:txBody>
      </p:sp>
      <p:sp>
        <p:nvSpPr>
          <p:cNvPr id="13" name="Text 11"/>
          <p:cNvSpPr/>
          <p:nvPr/>
        </p:nvSpPr>
        <p:spPr>
          <a:xfrm>
            <a:off x="2615184" y="3111357"/>
            <a:ext cx="2060448" cy="475488"/>
          </a:xfrm>
          <a:prstGeom prst="rect">
            <a:avLst/>
          </a:prstGeom>
          <a:noFill/>
          <a:ln/>
        </p:spPr>
        <p:txBody>
          <a:bodyPr wrap="square" lIns="0" tIns="0" rIns="0" bIns="0" rtlCol="0" anchor="t">
            <a:normAutofit/>
          </a:bodyPr>
          <a:lstStyle/>
          <a:p>
            <a:pPr marL="0" indent="0" algn="ctr">
              <a:buNone/>
            </a:pPr>
            <a:r>
              <a:rPr lang="en-US" sz="1435" b="1" dirty="0">
                <a:solidFill>
                  <a:srgbClr val="F5F6F7"/>
                </a:solidFill>
                <a:latin typeface="Arial" pitchFamily="34" charset="0"/>
                <a:ea typeface="Arial" pitchFamily="34" charset="-122"/>
                <a:cs typeface="Arial" pitchFamily="34" charset="-120"/>
              </a:rPr>
              <a:t>EUR 29,959.87</a:t>
            </a:r>
            <a:endParaRPr lang="en-US" sz="1435" dirty="0"/>
          </a:p>
        </p:txBody>
      </p:sp>
      <p:sp>
        <p:nvSpPr>
          <p:cNvPr id="14" name="Text 12"/>
          <p:cNvSpPr/>
          <p:nvPr/>
        </p:nvSpPr>
        <p:spPr>
          <a:xfrm>
            <a:off x="2971800" y="4087368"/>
            <a:ext cx="1347216" cy="475488"/>
          </a:xfrm>
          <a:prstGeom prst="rect">
            <a:avLst/>
          </a:prstGeom>
          <a:noFill/>
          <a:ln/>
        </p:spPr>
        <p:txBody>
          <a:bodyPr wrap="square" lIns="0" tIns="0" rIns="0" bIns="0" rtlCol="0" anchor="t">
            <a:normAutofit/>
          </a:bodyPr>
          <a:lstStyle/>
          <a:p>
            <a:pPr marL="0" indent="0" algn="ctr">
              <a:buNone/>
            </a:pPr>
            <a:r>
              <a:rPr lang="en-US" sz="1435" b="1" dirty="0">
                <a:solidFill>
                  <a:srgbClr val="F5F6F7"/>
                </a:solidFill>
                <a:latin typeface="Arial" pitchFamily="34" charset="0"/>
                <a:ea typeface="Arial" pitchFamily="34" charset="-122"/>
                <a:cs typeface="Arial" pitchFamily="34" charset="-120"/>
              </a:rPr>
              <a:t>BVP</a:t>
            </a:r>
            <a:endParaRPr lang="en-US" sz="1435" dirty="0"/>
          </a:p>
          <a:p>
            <a:pPr marL="0" indent="0" algn="ctr">
              <a:buNone/>
            </a:pPr>
            <a:r>
              <a:rPr lang="en-US" sz="1435" b="1" dirty="0">
                <a:solidFill>
                  <a:srgbClr val="F5F6F7"/>
                </a:solidFill>
                <a:latin typeface="Arial" pitchFamily="34" charset="0"/>
                <a:ea typeface="Arial" pitchFamily="34" charset="-122"/>
                <a:cs typeface="Arial" pitchFamily="34" charset="-120"/>
              </a:rPr>
              <a:t>27,057.95</a:t>
            </a:r>
            <a:endParaRPr lang="en-US" sz="1435" dirty="0"/>
          </a:p>
        </p:txBody>
      </p:sp>
      <p:sp>
        <p:nvSpPr>
          <p:cNvPr id="15" name="Text 13"/>
          <p:cNvSpPr/>
          <p:nvPr/>
        </p:nvSpPr>
        <p:spPr>
          <a:xfrm>
            <a:off x="3169920" y="5125517"/>
            <a:ext cx="950976" cy="475488"/>
          </a:xfrm>
          <a:prstGeom prst="rect">
            <a:avLst/>
          </a:prstGeom>
          <a:noFill/>
          <a:ln/>
        </p:spPr>
        <p:txBody>
          <a:bodyPr wrap="square" lIns="0" tIns="0" rIns="0" bIns="0" rtlCol="0" anchor="t">
            <a:normAutofit/>
          </a:bodyPr>
          <a:lstStyle/>
          <a:p>
            <a:pPr marL="0" indent="0" algn="ctr">
              <a:buNone/>
            </a:pPr>
            <a:r>
              <a:rPr lang="en-US" sz="1435" dirty="0">
                <a:solidFill>
                  <a:srgbClr val="BDC4C9"/>
                </a:solidFill>
                <a:latin typeface="Arial" pitchFamily="34" charset="0"/>
                <a:ea typeface="Arial" pitchFamily="34" charset="-122"/>
                <a:cs typeface="Arial" pitchFamily="34" charset="-120"/>
              </a:rPr>
              <a:t>2024</a:t>
            </a:r>
            <a:endParaRPr lang="en-US" sz="1435" dirty="0"/>
          </a:p>
        </p:txBody>
      </p:sp>
      <p:sp>
        <p:nvSpPr>
          <p:cNvPr id="16" name="Shape 14"/>
          <p:cNvSpPr/>
          <p:nvPr/>
        </p:nvSpPr>
        <p:spPr>
          <a:xfrm>
            <a:off x="5151120" y="3421349"/>
            <a:ext cx="1584960" cy="1577371"/>
          </a:xfrm>
          <a:prstGeom prst="rect">
            <a:avLst/>
          </a:prstGeom>
          <a:solidFill>
            <a:srgbClr val="D71920"/>
          </a:solidFill>
          <a:ln w="12700">
            <a:solidFill>
              <a:srgbClr val="24282C">
                <a:alpha val="0"/>
              </a:srgbClr>
            </a:solidFill>
            <a:prstDash val="solid"/>
          </a:ln>
        </p:spPr>
        <p:txBody>
          <a:bodyPr/>
          <a:lstStyle/>
          <a:p>
            <a:endParaRPr lang="nl-NL"/>
          </a:p>
        </p:txBody>
      </p:sp>
      <p:sp>
        <p:nvSpPr>
          <p:cNvPr id="17" name="Shape 15"/>
          <p:cNvSpPr/>
          <p:nvPr/>
        </p:nvSpPr>
        <p:spPr>
          <a:xfrm>
            <a:off x="5151120" y="3311851"/>
            <a:ext cx="1584960" cy="109497"/>
          </a:xfrm>
          <a:prstGeom prst="rect">
            <a:avLst/>
          </a:prstGeom>
          <a:solidFill>
            <a:srgbClr val="F5F6F7"/>
          </a:solidFill>
          <a:ln w="12700">
            <a:solidFill>
              <a:srgbClr val="24282C">
                <a:alpha val="0"/>
              </a:srgbClr>
            </a:solidFill>
            <a:prstDash val="solid"/>
          </a:ln>
        </p:spPr>
        <p:txBody>
          <a:bodyPr/>
          <a:lstStyle/>
          <a:p>
            <a:endParaRPr lang="nl-NL"/>
          </a:p>
        </p:txBody>
      </p:sp>
      <p:sp>
        <p:nvSpPr>
          <p:cNvPr id="18" name="Text 16"/>
          <p:cNvSpPr/>
          <p:nvPr/>
        </p:nvSpPr>
        <p:spPr>
          <a:xfrm>
            <a:off x="4913376" y="3018634"/>
            <a:ext cx="2060448" cy="475488"/>
          </a:xfrm>
          <a:prstGeom prst="rect">
            <a:avLst/>
          </a:prstGeom>
          <a:noFill/>
          <a:ln/>
        </p:spPr>
        <p:txBody>
          <a:bodyPr wrap="square" lIns="0" tIns="0" rIns="0" bIns="0" rtlCol="0" anchor="t">
            <a:normAutofit/>
          </a:bodyPr>
          <a:lstStyle/>
          <a:p>
            <a:pPr marL="0" indent="0" algn="ctr">
              <a:buNone/>
            </a:pPr>
            <a:r>
              <a:rPr lang="en-US" sz="1435" b="1" dirty="0">
                <a:solidFill>
                  <a:srgbClr val="F5F6F7"/>
                </a:solidFill>
                <a:latin typeface="Arial" pitchFamily="34" charset="0"/>
                <a:ea typeface="Arial" pitchFamily="34" charset="-122"/>
                <a:cs typeface="Arial" pitchFamily="34" charset="-120"/>
              </a:rPr>
              <a:t>EUR 31,702.47</a:t>
            </a:r>
            <a:endParaRPr lang="en-US" sz="1435" dirty="0"/>
          </a:p>
        </p:txBody>
      </p:sp>
      <p:sp>
        <p:nvSpPr>
          <p:cNvPr id="19" name="Text 17"/>
          <p:cNvSpPr/>
          <p:nvPr/>
        </p:nvSpPr>
        <p:spPr>
          <a:xfrm>
            <a:off x="5269992" y="4087368"/>
            <a:ext cx="1347216" cy="475488"/>
          </a:xfrm>
          <a:prstGeom prst="rect">
            <a:avLst/>
          </a:prstGeom>
          <a:noFill/>
          <a:ln/>
        </p:spPr>
        <p:txBody>
          <a:bodyPr wrap="square" lIns="0" tIns="0" rIns="0" bIns="0" rtlCol="0" anchor="t">
            <a:normAutofit/>
          </a:bodyPr>
          <a:lstStyle/>
          <a:p>
            <a:pPr marL="0" indent="0" algn="ctr">
              <a:buNone/>
            </a:pPr>
            <a:r>
              <a:rPr lang="en-US" sz="1435" b="1" dirty="0">
                <a:solidFill>
                  <a:srgbClr val="F5F6F7"/>
                </a:solidFill>
                <a:latin typeface="Arial" pitchFamily="34" charset="0"/>
                <a:ea typeface="Arial" pitchFamily="34" charset="-122"/>
                <a:cs typeface="Arial" pitchFamily="34" charset="-120"/>
              </a:rPr>
              <a:t>BVP</a:t>
            </a:r>
            <a:endParaRPr lang="en-US" sz="1435" dirty="0"/>
          </a:p>
          <a:p>
            <a:pPr marL="0" indent="0" algn="ctr">
              <a:buNone/>
            </a:pPr>
            <a:r>
              <a:rPr lang="en-US" sz="1435" b="1" dirty="0">
                <a:solidFill>
                  <a:srgbClr val="F5F6F7"/>
                </a:solidFill>
                <a:latin typeface="Arial" pitchFamily="34" charset="0"/>
                <a:ea typeface="Arial" pitchFamily="34" charset="-122"/>
                <a:cs typeface="Arial" pitchFamily="34" charset="-120"/>
              </a:rPr>
              <a:t>29,644.61</a:t>
            </a:r>
            <a:endParaRPr lang="en-US" sz="1435" dirty="0"/>
          </a:p>
        </p:txBody>
      </p:sp>
      <p:sp>
        <p:nvSpPr>
          <p:cNvPr id="20" name="Text 18"/>
          <p:cNvSpPr/>
          <p:nvPr/>
        </p:nvSpPr>
        <p:spPr>
          <a:xfrm>
            <a:off x="5468112" y="5125517"/>
            <a:ext cx="950976" cy="475488"/>
          </a:xfrm>
          <a:prstGeom prst="rect">
            <a:avLst/>
          </a:prstGeom>
          <a:noFill/>
          <a:ln/>
        </p:spPr>
        <p:txBody>
          <a:bodyPr wrap="square" lIns="0" tIns="0" rIns="0" bIns="0" rtlCol="0" anchor="t">
            <a:normAutofit/>
          </a:bodyPr>
          <a:lstStyle/>
          <a:p>
            <a:pPr marL="0" indent="0" algn="ctr">
              <a:buNone/>
            </a:pPr>
            <a:r>
              <a:rPr lang="en-US" sz="1435" dirty="0">
                <a:solidFill>
                  <a:srgbClr val="BDC4C9"/>
                </a:solidFill>
                <a:latin typeface="Arial" pitchFamily="34" charset="0"/>
                <a:ea typeface="Arial" pitchFamily="34" charset="-122"/>
                <a:cs typeface="Arial" pitchFamily="34" charset="-120"/>
              </a:rPr>
              <a:t>2025</a:t>
            </a:r>
            <a:endParaRPr lang="en-US" sz="1435" dirty="0"/>
          </a:p>
        </p:txBody>
      </p:sp>
      <p:sp>
        <p:nvSpPr>
          <p:cNvPr id="21" name="Text 19"/>
          <p:cNvSpPr/>
          <p:nvPr/>
        </p:nvSpPr>
        <p:spPr>
          <a:xfrm>
            <a:off x="7948574" y="3207715"/>
            <a:ext cx="1981200" cy="535716"/>
          </a:xfrm>
          <a:prstGeom prst="rect">
            <a:avLst/>
          </a:prstGeom>
          <a:noFill/>
          <a:ln/>
        </p:spPr>
        <p:txBody>
          <a:bodyPr wrap="square" lIns="0" tIns="0" rIns="0" bIns="0" rtlCol="0" anchor="t">
            <a:normAutofit/>
          </a:bodyPr>
          <a:lstStyle/>
          <a:p>
            <a:pPr marL="0" indent="0" algn="l">
              <a:buNone/>
            </a:pPr>
            <a:r>
              <a:rPr lang="en-US" sz="3245" b="1" dirty="0">
                <a:solidFill>
                  <a:srgbClr val="F5F6F7"/>
                </a:solidFill>
                <a:latin typeface="Arial" pitchFamily="34" charset="0"/>
                <a:ea typeface="Arial" pitchFamily="34" charset="-122"/>
                <a:cs typeface="Arial" pitchFamily="34" charset="-120"/>
              </a:rPr>
              <a:t>+5.8%</a:t>
            </a:r>
            <a:endParaRPr lang="en-US" sz="3245" dirty="0"/>
          </a:p>
        </p:txBody>
      </p:sp>
      <p:sp>
        <p:nvSpPr>
          <p:cNvPr id="22" name="Text 20"/>
          <p:cNvSpPr/>
          <p:nvPr/>
        </p:nvSpPr>
        <p:spPr>
          <a:xfrm>
            <a:off x="7996123" y="3722827"/>
            <a:ext cx="1949501" cy="475488"/>
          </a:xfrm>
          <a:prstGeom prst="rect">
            <a:avLst/>
          </a:prstGeom>
          <a:noFill/>
          <a:ln/>
        </p:spPr>
        <p:txBody>
          <a:bodyPr wrap="square" lIns="0" tIns="0" rIns="0" bIns="0" rtlCol="0" anchor="t">
            <a:normAutofit/>
          </a:bodyPr>
          <a:lstStyle/>
          <a:p>
            <a:pPr marL="0" indent="0" algn="l">
              <a:buNone/>
            </a:pPr>
            <a:r>
              <a:rPr lang="en-US" sz="1435" dirty="0">
                <a:solidFill>
                  <a:srgbClr val="BDC4C9"/>
                </a:solidFill>
                <a:latin typeface="Arial" pitchFamily="34" charset="0"/>
                <a:ea typeface="Arial" pitchFamily="34" charset="-122"/>
                <a:cs typeface="Arial" pitchFamily="34" charset="-120"/>
              </a:rPr>
              <a:t>Combined billing</a:t>
            </a:r>
            <a:endParaRPr lang="en-US" sz="1435" dirty="0"/>
          </a:p>
        </p:txBody>
      </p:sp>
      <p:sp>
        <p:nvSpPr>
          <p:cNvPr id="23" name="Text 21"/>
          <p:cNvSpPr/>
          <p:nvPr/>
        </p:nvSpPr>
        <p:spPr>
          <a:xfrm>
            <a:off x="8162544" y="4269638"/>
            <a:ext cx="1656283" cy="475488"/>
          </a:xfrm>
          <a:prstGeom prst="rect">
            <a:avLst/>
          </a:prstGeom>
          <a:noFill/>
          <a:ln/>
        </p:spPr>
        <p:txBody>
          <a:bodyPr wrap="square" lIns="0" tIns="0" rIns="0" bIns="0" rtlCol="0" anchor="t">
            <a:normAutofit/>
          </a:bodyPr>
          <a:lstStyle/>
          <a:p>
            <a:pPr marL="0" indent="0" algn="l">
              <a:buNone/>
            </a:pPr>
            <a:r>
              <a:rPr lang="en-US" sz="1248" dirty="0">
                <a:solidFill>
                  <a:srgbClr val="BDC4C9"/>
                </a:solidFill>
                <a:latin typeface="Arial" pitchFamily="34" charset="0"/>
                <a:ea typeface="Arial" pitchFamily="34" charset="-122"/>
                <a:cs typeface="Arial" pitchFamily="34" charset="-120"/>
              </a:rPr>
              <a:t>Genuine</a:t>
            </a:r>
            <a:endParaRPr lang="en-US" sz="1248" dirty="0"/>
          </a:p>
        </p:txBody>
      </p:sp>
      <p:sp>
        <p:nvSpPr>
          <p:cNvPr id="24" name="Shape 22"/>
          <p:cNvSpPr/>
          <p:nvPr/>
        </p:nvSpPr>
        <p:spPr>
          <a:xfrm>
            <a:off x="7972349" y="4309262"/>
            <a:ext cx="110947" cy="110947"/>
          </a:xfrm>
          <a:prstGeom prst="rect">
            <a:avLst/>
          </a:prstGeom>
          <a:solidFill>
            <a:srgbClr val="F5F6F7"/>
          </a:solidFill>
          <a:ln w="12700">
            <a:solidFill>
              <a:srgbClr val="24282C">
                <a:alpha val="0"/>
              </a:srgbClr>
            </a:solidFill>
            <a:prstDash val="solid"/>
          </a:ln>
        </p:spPr>
        <p:txBody>
          <a:bodyPr/>
          <a:lstStyle/>
          <a:p>
            <a:endParaRPr lang="nl-NL"/>
          </a:p>
        </p:txBody>
      </p:sp>
      <p:sp>
        <p:nvSpPr>
          <p:cNvPr id="25" name="Text 23"/>
          <p:cNvSpPr/>
          <p:nvPr/>
        </p:nvSpPr>
        <p:spPr>
          <a:xfrm>
            <a:off x="8162544" y="4523232"/>
            <a:ext cx="1656283" cy="475488"/>
          </a:xfrm>
          <a:prstGeom prst="rect">
            <a:avLst/>
          </a:prstGeom>
          <a:noFill/>
          <a:ln/>
        </p:spPr>
        <p:txBody>
          <a:bodyPr wrap="square" lIns="0" tIns="0" rIns="0" bIns="0" rtlCol="0" anchor="t">
            <a:normAutofit/>
          </a:bodyPr>
          <a:lstStyle/>
          <a:p>
            <a:pPr marL="0" indent="0" algn="l">
              <a:buNone/>
            </a:pPr>
            <a:r>
              <a:rPr lang="en-US" sz="1248" dirty="0">
                <a:solidFill>
                  <a:srgbClr val="BDC4C9"/>
                </a:solidFill>
                <a:latin typeface="Arial" pitchFamily="34" charset="0"/>
                <a:ea typeface="Arial" pitchFamily="34" charset="-122"/>
                <a:cs typeface="Arial" pitchFamily="34" charset="-120"/>
              </a:rPr>
              <a:t>BVP</a:t>
            </a:r>
            <a:endParaRPr lang="en-US" sz="1248" dirty="0"/>
          </a:p>
        </p:txBody>
      </p:sp>
      <p:sp>
        <p:nvSpPr>
          <p:cNvPr id="26" name="Shape 24"/>
          <p:cNvSpPr/>
          <p:nvPr/>
        </p:nvSpPr>
        <p:spPr>
          <a:xfrm>
            <a:off x="7972349" y="4562856"/>
            <a:ext cx="110947" cy="110947"/>
          </a:xfrm>
          <a:prstGeom prst="rect">
            <a:avLst/>
          </a:prstGeom>
          <a:solidFill>
            <a:srgbClr val="D71920"/>
          </a:solidFill>
          <a:ln w="12700">
            <a:solidFill>
              <a:srgbClr val="24282C">
                <a:alpha val="0"/>
              </a:srgbClr>
            </a:solidFill>
            <a:prstDash val="solid"/>
          </a:ln>
        </p:spPr>
        <p:txBody>
          <a:bodyPr/>
          <a:lstStyle/>
          <a:p>
            <a:endParaRPr lang="nl-NL"/>
          </a:p>
        </p:txBody>
      </p:sp>
      <p:sp>
        <p:nvSpPr>
          <p:cNvPr id="27" name="Text 25"/>
          <p:cNvSpPr/>
          <p:nvPr/>
        </p:nvSpPr>
        <p:spPr>
          <a:xfrm>
            <a:off x="7948574" y="4974946"/>
            <a:ext cx="1981200" cy="475488"/>
          </a:xfrm>
          <a:prstGeom prst="rect">
            <a:avLst/>
          </a:prstGeom>
          <a:noFill/>
          <a:ln/>
        </p:spPr>
        <p:txBody>
          <a:bodyPr wrap="square" lIns="0" tIns="0" rIns="0" bIns="0" rtlCol="0" anchor="t">
            <a:normAutofit/>
          </a:bodyPr>
          <a:lstStyle/>
          <a:p>
            <a:pPr marL="0" indent="0" algn="l">
              <a:buNone/>
            </a:pPr>
            <a:r>
              <a:rPr lang="en-US" sz="1123" dirty="0">
                <a:solidFill>
                  <a:srgbClr val="BDC4C9"/>
                </a:solidFill>
                <a:latin typeface="Arial" pitchFamily="34" charset="0"/>
                <a:ea typeface="Arial" pitchFamily="34" charset="-122"/>
                <a:cs typeface="Arial" pitchFamily="34" charset="-120"/>
              </a:rPr>
              <a:t>8,176 vehicles: market context only.</a:t>
            </a:r>
            <a:endParaRPr lang="en-US" sz="1123" dirty="0"/>
          </a:p>
        </p:txBody>
      </p:sp>
      <p:sp>
        <p:nvSpPr>
          <p:cNvPr id="28" name="Text 26"/>
          <p:cNvSpPr/>
          <p:nvPr/>
        </p:nvSpPr>
        <p:spPr>
          <a:xfrm>
            <a:off x="548640" y="5678424"/>
            <a:ext cx="10954512" cy="219456"/>
          </a:xfrm>
          <a:prstGeom prst="rect">
            <a:avLst/>
          </a:prstGeom>
          <a:noFill/>
          <a:ln/>
        </p:spPr>
        <p:txBody>
          <a:bodyPr wrap="square" lIns="0" tIns="0" rIns="0" bIns="0" rtlCol="0" anchor="t">
            <a:normAutofit/>
          </a:bodyPr>
          <a:lstStyle/>
          <a:p>
            <a:pPr marL="0" indent="0" algn="l">
              <a:buNone/>
            </a:pPr>
            <a:r>
              <a:rPr lang="en-US" sz="840" dirty="0">
                <a:solidFill>
                  <a:srgbClr val="BDC4C9"/>
                </a:solidFill>
                <a:latin typeface="Arial" pitchFamily="34" charset="0"/>
                <a:ea typeface="Arial" pitchFamily="34" charset="-122"/>
                <a:cs typeface="Arial" pitchFamily="34" charset="-120"/>
              </a:rPr>
              <a:t>Recorded ISZE billing / I Motors clutch-kit source category, full CY2024 and CY2025. M; F.</a:t>
            </a:r>
            <a:endParaRPr lang="en-US" sz="840" dirty="0"/>
          </a:p>
        </p:txBody>
      </p:sp>
      <p:sp>
        <p:nvSpPr>
          <p:cNvPr id="29" name="Text 27"/>
          <p:cNvSpPr/>
          <p:nvPr/>
        </p:nvSpPr>
        <p:spPr>
          <a:xfrm>
            <a:off x="603504" y="5925312"/>
            <a:ext cx="10917936" cy="347472"/>
          </a:xfrm>
          <a:prstGeom prst="rect">
            <a:avLst/>
          </a:prstGeom>
          <a:noFill/>
          <a:ln/>
        </p:spPr>
        <p:txBody>
          <a:bodyPr wrap="square" lIns="0" tIns="0" rIns="0" bIns="0" rtlCol="0" anchor="t">
            <a:normAutofit/>
          </a:bodyPr>
          <a:lstStyle/>
          <a:p>
            <a:pPr marL="0" indent="0" algn="l">
              <a:buNone/>
            </a:pPr>
            <a:r>
              <a:rPr lang="en-US" sz="1320" dirty="0">
                <a:solidFill>
                  <a:srgbClr val="F5F6F7"/>
                </a:solidFill>
                <a:latin typeface="Arial" pitchFamily="34" charset="0"/>
                <a:ea typeface="Arial" pitchFamily="34" charset="-122"/>
                <a:cs typeface="Arial" pitchFamily="34" charset="-120"/>
              </a:rPr>
              <a:t>The supplied 2025 market context is 8,176 vehicles.</a:t>
            </a:r>
            <a:endParaRPr lang="en-US" sz="13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4282C"/>
        </a:solidFill>
        <a:effectLst/>
      </p:bgPr>
    </p:bg>
    <p:spTree>
      <p:nvGrpSpPr>
        <p:cNvPr id="1" name=""/>
        <p:cNvGrpSpPr/>
        <p:nvPr/>
      </p:nvGrpSpPr>
      <p:grpSpPr>
        <a:xfrm>
          <a:off x="0" y="0"/>
          <a:ext cx="0" cy="0"/>
          <a:chOff x="0" y="0"/>
          <a:chExt cx="0" cy="0"/>
        </a:xfrm>
      </p:grpSpPr>
      <p:sp>
        <p:nvSpPr>
          <p:cNvPr id="2" name="Text 0"/>
          <p:cNvSpPr/>
          <p:nvPr/>
        </p:nvSpPr>
        <p:spPr>
          <a:xfrm>
            <a:off x="484632" y="173736"/>
            <a:ext cx="2743200" cy="201168"/>
          </a:xfrm>
          <a:prstGeom prst="rect">
            <a:avLst/>
          </a:prstGeom>
          <a:noFill/>
          <a:ln/>
        </p:spPr>
        <p:txBody>
          <a:bodyPr wrap="square" lIns="0" tIns="0" rIns="0" bIns="0" rtlCol="0" anchor="t">
            <a:normAutofit/>
          </a:bodyPr>
          <a:lstStyle/>
          <a:p>
            <a:pPr marL="0" indent="0" algn="l">
              <a:buNone/>
            </a:pPr>
            <a:r>
              <a:rPr lang="en-US" sz="1000" b="1" dirty="0">
                <a:solidFill>
                  <a:srgbClr val="F5F6F7"/>
                </a:solidFill>
                <a:latin typeface="Arial" pitchFamily="34" charset="0"/>
                <a:ea typeface="Arial" pitchFamily="34" charset="-122"/>
                <a:cs typeface="Arial" pitchFamily="34" charset="-120"/>
              </a:rPr>
              <a:t>ISUZU / UNIVERSE</a:t>
            </a:r>
            <a:endParaRPr lang="en-US" sz="1000" dirty="0"/>
          </a:p>
        </p:txBody>
      </p:sp>
      <p:sp>
        <p:nvSpPr>
          <p:cNvPr id="3" name="Text 1"/>
          <p:cNvSpPr/>
          <p:nvPr/>
        </p:nvSpPr>
        <p:spPr>
          <a:xfrm>
            <a:off x="8046720" y="173736"/>
            <a:ext cx="3657600" cy="201168"/>
          </a:xfrm>
          <a:prstGeom prst="rect">
            <a:avLst/>
          </a:prstGeom>
          <a:noFill/>
          <a:ln/>
        </p:spPr>
        <p:txBody>
          <a:bodyPr wrap="square" lIns="0" tIns="0" rIns="0" bIns="0" rtlCol="0" anchor="t">
            <a:normAutofit/>
          </a:bodyPr>
          <a:lstStyle/>
          <a:p>
            <a:pPr marL="0" indent="0" algn="r">
              <a:buNone/>
            </a:pPr>
            <a:r>
              <a:rPr lang="en-US" sz="900" dirty="0">
                <a:solidFill>
                  <a:srgbClr val="BDC4C9"/>
                </a:solidFill>
                <a:latin typeface="Arial" pitchFamily="34" charset="0"/>
                <a:ea typeface="Arial" pitchFamily="34" charset="-122"/>
                <a:cs typeface="Arial" pitchFamily="34" charset="-120"/>
              </a:rPr>
              <a:t>COMMERCIAL VISION  /  3.0</a:t>
            </a:r>
            <a:endParaRPr lang="en-US" sz="900" dirty="0"/>
          </a:p>
        </p:txBody>
      </p:sp>
      <p:sp>
        <p:nvSpPr>
          <p:cNvPr id="4" name="Shape 2"/>
          <p:cNvSpPr/>
          <p:nvPr/>
        </p:nvSpPr>
        <p:spPr>
          <a:xfrm>
            <a:off x="484632" y="512064"/>
            <a:ext cx="475488" cy="22860"/>
          </a:xfrm>
          <a:prstGeom prst="rect">
            <a:avLst/>
          </a:prstGeom>
          <a:solidFill>
            <a:srgbClr val="D71920"/>
          </a:solidFill>
          <a:ln w="12700">
            <a:solidFill>
              <a:srgbClr val="D71920">
                <a:alpha val="0"/>
              </a:srgbClr>
            </a:solidFill>
            <a:prstDash val="solid"/>
          </a:ln>
        </p:spPr>
        <p:txBody>
          <a:bodyPr/>
          <a:lstStyle/>
          <a:p>
            <a:endParaRPr lang="nl-NL"/>
          </a:p>
        </p:txBody>
      </p:sp>
      <p:sp>
        <p:nvSpPr>
          <p:cNvPr id="5" name="Text 3"/>
          <p:cNvSpPr/>
          <p:nvPr/>
        </p:nvSpPr>
        <p:spPr>
          <a:xfrm>
            <a:off x="484632" y="658368"/>
            <a:ext cx="11064240" cy="219456"/>
          </a:xfrm>
          <a:prstGeom prst="rect">
            <a:avLst/>
          </a:prstGeom>
          <a:noFill/>
          <a:ln/>
        </p:spPr>
        <p:txBody>
          <a:bodyPr wrap="square" lIns="0" tIns="0" rIns="0" bIns="0" rtlCol="0" anchor="t">
            <a:normAutofit/>
          </a:bodyPr>
          <a:lstStyle/>
          <a:p>
            <a:pPr marL="0" indent="0" algn="l">
              <a:buNone/>
            </a:pPr>
            <a:r>
              <a:rPr lang="en-US" sz="1000" b="1" dirty="0">
                <a:solidFill>
                  <a:srgbClr val="D71920"/>
                </a:solidFill>
                <a:latin typeface="Arial" pitchFamily="34" charset="0"/>
                <a:ea typeface="Arial" pitchFamily="34" charset="-122"/>
                <a:cs typeface="Arial" pitchFamily="34" charset="-120"/>
              </a:rPr>
              <a:t>AIM / INTO APPLICATIONS</a:t>
            </a:r>
            <a:endParaRPr lang="en-US" sz="1000" dirty="0"/>
          </a:p>
        </p:txBody>
      </p:sp>
      <p:sp>
        <p:nvSpPr>
          <p:cNvPr id="6" name="Shape 4"/>
          <p:cNvSpPr/>
          <p:nvPr/>
        </p:nvSpPr>
        <p:spPr>
          <a:xfrm>
            <a:off x="484632" y="6446520"/>
            <a:ext cx="11219688" cy="914"/>
          </a:xfrm>
          <a:prstGeom prst="line">
            <a:avLst/>
          </a:prstGeom>
          <a:noFill/>
          <a:ln w="6350">
            <a:solidFill>
              <a:srgbClr val="647078"/>
            </a:solidFill>
            <a:prstDash val="solid"/>
          </a:ln>
        </p:spPr>
        <p:txBody>
          <a:bodyPr/>
          <a:lstStyle/>
          <a:p>
            <a:endParaRPr lang="nl-NL"/>
          </a:p>
        </p:txBody>
      </p:sp>
      <p:sp>
        <p:nvSpPr>
          <p:cNvPr id="7" name="Text 5"/>
          <p:cNvSpPr/>
          <p:nvPr/>
        </p:nvSpPr>
        <p:spPr>
          <a:xfrm>
            <a:off x="484632" y="6556248"/>
            <a:ext cx="9144000" cy="146304"/>
          </a:xfrm>
          <a:prstGeom prst="rect">
            <a:avLst/>
          </a:prstGeom>
          <a:noFill/>
          <a:ln/>
        </p:spPr>
        <p:txBody>
          <a:bodyPr wrap="square" lIns="0" tIns="0" rIns="0" bIns="0" rtlCol="0" anchor="t">
            <a:normAutofit/>
          </a:bodyPr>
          <a:lstStyle/>
          <a:p>
            <a:pPr marL="0" indent="0" algn="l">
              <a:buNone/>
            </a:pPr>
            <a:r>
              <a:rPr lang="en-US" sz="750" dirty="0">
                <a:solidFill>
                  <a:srgbClr val="BDC4C9"/>
                </a:solidFill>
                <a:latin typeface="Arial" pitchFamily="34" charset="0"/>
                <a:ea typeface="Arial" pitchFamily="34" charset="-122"/>
                <a:cs typeface="Arial" pitchFamily="34" charset="-120"/>
              </a:rPr>
              <a:t>22 SEPTEMBER 2026  /  CONCEPT AND APPLICATION EXAMPLES</a:t>
            </a:r>
            <a:endParaRPr lang="en-US" sz="750" dirty="0"/>
          </a:p>
        </p:txBody>
      </p:sp>
      <p:sp>
        <p:nvSpPr>
          <p:cNvPr id="8" name="Text 6"/>
          <p:cNvSpPr/>
          <p:nvPr/>
        </p:nvSpPr>
        <p:spPr>
          <a:xfrm>
            <a:off x="10789920" y="6547104"/>
            <a:ext cx="914400" cy="173736"/>
          </a:xfrm>
          <a:prstGeom prst="rect">
            <a:avLst/>
          </a:prstGeom>
          <a:noFill/>
          <a:ln/>
        </p:spPr>
        <p:txBody>
          <a:bodyPr wrap="square" lIns="0" tIns="0" rIns="0" bIns="0" rtlCol="0" anchor="t">
            <a:normAutofit/>
          </a:bodyPr>
          <a:lstStyle/>
          <a:p>
            <a:pPr marL="0" indent="0" algn="r">
              <a:buNone/>
            </a:pPr>
            <a:r>
              <a:rPr lang="en-US" sz="850" dirty="0">
                <a:solidFill>
                  <a:srgbClr val="BDC4C9"/>
                </a:solidFill>
                <a:latin typeface="Arial" pitchFamily="34" charset="0"/>
                <a:ea typeface="Arial" pitchFamily="34" charset="-122"/>
                <a:cs typeface="Arial" pitchFamily="34" charset="-120"/>
              </a:rPr>
              <a:t>12 / 49</a:t>
            </a:r>
            <a:endParaRPr lang="en-US" sz="850" dirty="0"/>
          </a:p>
        </p:txBody>
      </p:sp>
      <p:sp>
        <p:nvSpPr>
          <p:cNvPr id="9" name="Text 7"/>
          <p:cNvSpPr/>
          <p:nvPr/>
        </p:nvSpPr>
        <p:spPr>
          <a:xfrm>
            <a:off x="502920" y="1005840"/>
            <a:ext cx="11036808" cy="841248"/>
          </a:xfrm>
          <a:prstGeom prst="rect">
            <a:avLst/>
          </a:prstGeom>
          <a:noFill/>
          <a:ln/>
        </p:spPr>
        <p:txBody>
          <a:bodyPr wrap="square" lIns="0" tIns="0" rIns="0" bIns="0" rtlCol="0" anchor="t">
            <a:normAutofit/>
          </a:bodyPr>
          <a:lstStyle/>
          <a:p>
            <a:pPr marL="0" indent="0" algn="l">
              <a:buNone/>
            </a:pPr>
            <a:r>
              <a:rPr lang="en-US" sz="3400" b="1" dirty="0">
                <a:solidFill>
                  <a:srgbClr val="F5F6F7"/>
                </a:solidFill>
                <a:latin typeface="Arial" pitchFamily="34" charset="0"/>
                <a:ea typeface="Arial" pitchFamily="34" charset="-122"/>
                <a:cs typeface="Arial" pitchFamily="34" charset="-120"/>
              </a:rPr>
              <a:t>Carry the useful context forward.</a:t>
            </a:r>
            <a:endParaRPr lang="en-US" sz="3400" dirty="0"/>
          </a:p>
        </p:txBody>
      </p:sp>
      <p:sp>
        <p:nvSpPr>
          <p:cNvPr id="10" name="Text 8"/>
          <p:cNvSpPr/>
          <p:nvPr/>
        </p:nvSpPr>
        <p:spPr>
          <a:xfrm>
            <a:off x="530352" y="1865376"/>
            <a:ext cx="10954512" cy="566928"/>
          </a:xfrm>
          <a:prstGeom prst="rect">
            <a:avLst/>
          </a:prstGeom>
          <a:noFill/>
          <a:ln/>
        </p:spPr>
        <p:txBody>
          <a:bodyPr wrap="square" lIns="0" tIns="0" rIns="0" bIns="0" rtlCol="0" anchor="t">
            <a:normAutofit/>
          </a:bodyPr>
          <a:lstStyle/>
          <a:p>
            <a:pPr marL="0" indent="0" algn="l">
              <a:buNone/>
            </a:pPr>
            <a:r>
              <a:rPr lang="en-US" sz="1800" dirty="0">
                <a:solidFill>
                  <a:srgbClr val="BDC4C9"/>
                </a:solidFill>
                <a:latin typeface="Arial" pitchFamily="34" charset="0"/>
                <a:ea typeface="Arial" pitchFamily="34" charset="-122"/>
                <a:cs typeface="Arial" pitchFamily="34" charset="-120"/>
              </a:rPr>
              <a:t>A selected product, account and period become the starting point for a chosen application.</a:t>
            </a:r>
            <a:endParaRPr lang="en-US" sz="1800" dirty="0"/>
          </a:p>
        </p:txBody>
      </p:sp>
      <p:sp>
        <p:nvSpPr>
          <p:cNvPr id="11" name="Shape 9"/>
          <p:cNvSpPr/>
          <p:nvPr/>
        </p:nvSpPr>
        <p:spPr>
          <a:xfrm>
            <a:off x="1692178" y="3132896"/>
            <a:ext cx="2034372" cy="1966632"/>
          </a:xfrm>
          <a:prstGeom prst="roundRect">
            <a:avLst>
              <a:gd name="adj" fmla="val 1860"/>
            </a:avLst>
          </a:prstGeom>
          <a:solidFill>
            <a:srgbClr val="30363B"/>
          </a:solidFill>
          <a:ln w="8890">
            <a:solidFill>
              <a:srgbClr val="48525B"/>
            </a:solidFill>
            <a:prstDash val="solid"/>
          </a:ln>
        </p:spPr>
        <p:txBody>
          <a:bodyPr/>
          <a:lstStyle/>
          <a:p>
            <a:endParaRPr lang="nl-NL"/>
          </a:p>
        </p:txBody>
      </p:sp>
      <p:sp>
        <p:nvSpPr>
          <p:cNvPr id="12" name="Shape 10"/>
          <p:cNvSpPr/>
          <p:nvPr/>
        </p:nvSpPr>
        <p:spPr>
          <a:xfrm>
            <a:off x="1692178" y="3255264"/>
            <a:ext cx="34962" cy="1721896"/>
          </a:xfrm>
          <a:prstGeom prst="rect">
            <a:avLst/>
          </a:prstGeom>
          <a:solidFill>
            <a:srgbClr val="82909A"/>
          </a:solidFill>
          <a:ln w="12700">
            <a:solidFill>
              <a:srgbClr val="24282C">
                <a:alpha val="0"/>
              </a:srgbClr>
            </a:solidFill>
            <a:prstDash val="solid"/>
          </a:ln>
        </p:spPr>
        <p:txBody>
          <a:bodyPr/>
          <a:lstStyle/>
          <a:p>
            <a:endParaRPr lang="nl-NL"/>
          </a:p>
        </p:txBody>
      </p:sp>
      <p:sp>
        <p:nvSpPr>
          <p:cNvPr id="13" name="Text 11"/>
          <p:cNvSpPr/>
          <p:nvPr/>
        </p:nvSpPr>
        <p:spPr>
          <a:xfrm>
            <a:off x="1840768" y="3272745"/>
            <a:ext cx="1737192" cy="559398"/>
          </a:xfrm>
          <a:prstGeom prst="rect">
            <a:avLst/>
          </a:prstGeom>
          <a:noFill/>
          <a:ln/>
        </p:spPr>
        <p:txBody>
          <a:bodyPr wrap="square" lIns="0" tIns="0" rIns="0" bIns="0" rtlCol="0" anchor="t">
            <a:normAutofit/>
          </a:bodyPr>
          <a:lstStyle/>
          <a:p>
            <a:pPr marL="0" indent="0" algn="l">
              <a:buNone/>
            </a:pPr>
            <a:r>
              <a:rPr lang="en-US" sz="1721" b="1" dirty="0">
                <a:solidFill>
                  <a:srgbClr val="F5F6F7"/>
                </a:solidFill>
                <a:latin typeface="Arial" pitchFamily="34" charset="0"/>
                <a:ea typeface="Arial" pitchFamily="34" charset="-122"/>
                <a:cs typeface="Arial" pitchFamily="34" charset="-120"/>
              </a:rPr>
              <a:t>Atlas selection</a:t>
            </a:r>
            <a:endParaRPr lang="en-US" sz="1721" dirty="0"/>
          </a:p>
        </p:txBody>
      </p:sp>
      <p:sp>
        <p:nvSpPr>
          <p:cNvPr id="14" name="Text 12"/>
          <p:cNvSpPr/>
          <p:nvPr/>
        </p:nvSpPr>
        <p:spPr>
          <a:xfrm>
            <a:off x="1840768" y="3893327"/>
            <a:ext cx="1737192" cy="1101314"/>
          </a:xfrm>
          <a:prstGeom prst="rect">
            <a:avLst/>
          </a:prstGeom>
          <a:noFill/>
          <a:ln/>
        </p:spPr>
        <p:txBody>
          <a:bodyPr wrap="square" lIns="0" tIns="0" rIns="0" bIns="0" rtlCol="0" anchor="t">
            <a:normAutofit/>
          </a:bodyPr>
          <a:lstStyle/>
          <a:p>
            <a:pPr marL="0" indent="0" algn="l">
              <a:buNone/>
            </a:pPr>
            <a:r>
              <a:rPr lang="en-US" sz="1376" dirty="0">
                <a:solidFill>
                  <a:srgbClr val="BDC4C9"/>
                </a:solidFill>
                <a:latin typeface="Arial" pitchFamily="34" charset="0"/>
                <a:ea typeface="Arial" pitchFamily="34" charset="-122"/>
                <a:cs typeface="Arial" pitchFamily="34" charset="-120"/>
              </a:rPr>
              <a:t>Account, products and period</a:t>
            </a:r>
            <a:endParaRPr lang="en-US" sz="1376" dirty="0"/>
          </a:p>
        </p:txBody>
      </p:sp>
      <p:sp>
        <p:nvSpPr>
          <p:cNvPr id="15" name="Text 13"/>
          <p:cNvSpPr/>
          <p:nvPr/>
        </p:nvSpPr>
        <p:spPr>
          <a:xfrm>
            <a:off x="1840768" y="2835716"/>
            <a:ext cx="1737192" cy="524435"/>
          </a:xfrm>
          <a:prstGeom prst="rect">
            <a:avLst/>
          </a:prstGeom>
          <a:noFill/>
          <a:ln/>
        </p:spPr>
        <p:txBody>
          <a:bodyPr wrap="square" lIns="0" tIns="0" rIns="0" bIns="0" rtlCol="0" anchor="t">
            <a:normAutofit/>
          </a:bodyPr>
          <a:lstStyle/>
          <a:p>
            <a:pPr marL="0" indent="0" algn="l">
              <a:buNone/>
            </a:pPr>
            <a:r>
              <a:rPr lang="en-US" sz="1239" b="1" dirty="0">
                <a:solidFill>
                  <a:srgbClr val="D71920"/>
                </a:solidFill>
                <a:latin typeface="Arial" pitchFamily="34" charset="0"/>
                <a:ea typeface="Arial" pitchFamily="34" charset="-122"/>
                <a:cs typeface="Arial" pitchFamily="34" charset="-120"/>
              </a:rPr>
              <a:t>01</a:t>
            </a:r>
            <a:endParaRPr lang="en-US" sz="1239" dirty="0"/>
          </a:p>
        </p:txBody>
      </p:sp>
      <p:sp>
        <p:nvSpPr>
          <p:cNvPr id="16" name="Shape 14"/>
          <p:cNvSpPr/>
          <p:nvPr/>
        </p:nvSpPr>
        <p:spPr>
          <a:xfrm>
            <a:off x="3752772" y="4103101"/>
            <a:ext cx="148590" cy="914"/>
          </a:xfrm>
          <a:prstGeom prst="line">
            <a:avLst/>
          </a:prstGeom>
          <a:noFill/>
          <a:ln w="17481">
            <a:solidFill>
              <a:srgbClr val="D71920"/>
            </a:solidFill>
            <a:prstDash val="solid"/>
            <a:tailEnd type="triangle"/>
          </a:ln>
        </p:spPr>
        <p:txBody>
          <a:bodyPr/>
          <a:lstStyle/>
          <a:p>
            <a:endParaRPr lang="nl-NL"/>
          </a:p>
        </p:txBody>
      </p:sp>
      <p:sp>
        <p:nvSpPr>
          <p:cNvPr id="17" name="Shape 15"/>
          <p:cNvSpPr/>
          <p:nvPr/>
        </p:nvSpPr>
        <p:spPr>
          <a:xfrm>
            <a:off x="3927583" y="3132896"/>
            <a:ext cx="2034372" cy="1966632"/>
          </a:xfrm>
          <a:prstGeom prst="roundRect">
            <a:avLst>
              <a:gd name="adj" fmla="val 1860"/>
            </a:avLst>
          </a:prstGeom>
          <a:solidFill>
            <a:srgbClr val="30363B"/>
          </a:solidFill>
          <a:ln w="8890">
            <a:solidFill>
              <a:srgbClr val="48525B"/>
            </a:solidFill>
            <a:prstDash val="solid"/>
          </a:ln>
        </p:spPr>
        <p:txBody>
          <a:bodyPr/>
          <a:lstStyle/>
          <a:p>
            <a:endParaRPr lang="nl-NL"/>
          </a:p>
        </p:txBody>
      </p:sp>
      <p:sp>
        <p:nvSpPr>
          <p:cNvPr id="18" name="Shape 16"/>
          <p:cNvSpPr/>
          <p:nvPr/>
        </p:nvSpPr>
        <p:spPr>
          <a:xfrm>
            <a:off x="3927583" y="3255264"/>
            <a:ext cx="34962" cy="1721896"/>
          </a:xfrm>
          <a:prstGeom prst="rect">
            <a:avLst/>
          </a:prstGeom>
          <a:solidFill>
            <a:srgbClr val="82909A"/>
          </a:solidFill>
          <a:ln w="12700">
            <a:solidFill>
              <a:srgbClr val="24282C">
                <a:alpha val="0"/>
              </a:srgbClr>
            </a:solidFill>
            <a:prstDash val="solid"/>
          </a:ln>
        </p:spPr>
        <p:txBody>
          <a:bodyPr/>
          <a:lstStyle/>
          <a:p>
            <a:endParaRPr lang="nl-NL"/>
          </a:p>
        </p:txBody>
      </p:sp>
      <p:sp>
        <p:nvSpPr>
          <p:cNvPr id="19" name="Text 17"/>
          <p:cNvSpPr/>
          <p:nvPr/>
        </p:nvSpPr>
        <p:spPr>
          <a:xfrm>
            <a:off x="4076173" y="3272745"/>
            <a:ext cx="1737192" cy="559398"/>
          </a:xfrm>
          <a:prstGeom prst="rect">
            <a:avLst/>
          </a:prstGeom>
          <a:noFill/>
          <a:ln/>
        </p:spPr>
        <p:txBody>
          <a:bodyPr wrap="square" lIns="0" tIns="0" rIns="0" bIns="0" rtlCol="0" anchor="t">
            <a:normAutofit/>
          </a:bodyPr>
          <a:lstStyle/>
          <a:p>
            <a:pPr marL="0" indent="0" algn="l">
              <a:buNone/>
            </a:pPr>
            <a:r>
              <a:rPr lang="en-US" sz="1721" b="1" dirty="0">
                <a:solidFill>
                  <a:srgbClr val="F5F6F7"/>
                </a:solidFill>
                <a:latin typeface="Arial" pitchFamily="34" charset="0"/>
                <a:ea typeface="Arial" pitchFamily="34" charset="-122"/>
                <a:cs typeface="Arial" pitchFamily="34" charset="-120"/>
              </a:rPr>
              <a:t>Application</a:t>
            </a:r>
            <a:endParaRPr lang="en-US" sz="1721" dirty="0"/>
          </a:p>
        </p:txBody>
      </p:sp>
      <p:sp>
        <p:nvSpPr>
          <p:cNvPr id="20" name="Text 18"/>
          <p:cNvSpPr/>
          <p:nvPr/>
        </p:nvSpPr>
        <p:spPr>
          <a:xfrm>
            <a:off x="4076173" y="3893327"/>
            <a:ext cx="1737192" cy="1101314"/>
          </a:xfrm>
          <a:prstGeom prst="rect">
            <a:avLst/>
          </a:prstGeom>
          <a:noFill/>
          <a:ln/>
        </p:spPr>
        <p:txBody>
          <a:bodyPr wrap="square" lIns="0" tIns="0" rIns="0" bIns="0" rtlCol="0" anchor="t">
            <a:normAutofit/>
          </a:bodyPr>
          <a:lstStyle/>
          <a:p>
            <a:pPr marL="0" indent="0" algn="l">
              <a:buNone/>
            </a:pPr>
            <a:r>
              <a:rPr lang="en-US" sz="1376" dirty="0">
                <a:solidFill>
                  <a:srgbClr val="BDC4C9"/>
                </a:solidFill>
                <a:latin typeface="Arial" pitchFamily="34" charset="0"/>
                <a:ea typeface="Arial" pitchFamily="34" charset="-122"/>
                <a:cs typeface="Arial" pitchFamily="34" charset="-120"/>
              </a:rPr>
              <a:t>The participant's chosen use</a:t>
            </a:r>
            <a:endParaRPr lang="en-US" sz="1376" dirty="0"/>
          </a:p>
        </p:txBody>
      </p:sp>
      <p:sp>
        <p:nvSpPr>
          <p:cNvPr id="21" name="Text 19"/>
          <p:cNvSpPr/>
          <p:nvPr/>
        </p:nvSpPr>
        <p:spPr>
          <a:xfrm>
            <a:off x="4076173" y="2835716"/>
            <a:ext cx="1737192" cy="524435"/>
          </a:xfrm>
          <a:prstGeom prst="rect">
            <a:avLst/>
          </a:prstGeom>
          <a:noFill/>
          <a:ln/>
        </p:spPr>
        <p:txBody>
          <a:bodyPr wrap="square" lIns="0" tIns="0" rIns="0" bIns="0" rtlCol="0" anchor="t">
            <a:normAutofit/>
          </a:bodyPr>
          <a:lstStyle/>
          <a:p>
            <a:pPr marL="0" indent="0" algn="l">
              <a:buNone/>
            </a:pPr>
            <a:r>
              <a:rPr lang="en-US" sz="1239" b="1" dirty="0">
                <a:solidFill>
                  <a:srgbClr val="D71920"/>
                </a:solidFill>
                <a:latin typeface="Arial" pitchFamily="34" charset="0"/>
                <a:ea typeface="Arial" pitchFamily="34" charset="-122"/>
                <a:cs typeface="Arial" pitchFamily="34" charset="-120"/>
              </a:rPr>
              <a:t>02</a:t>
            </a:r>
            <a:endParaRPr lang="en-US" sz="1239" dirty="0"/>
          </a:p>
        </p:txBody>
      </p:sp>
      <p:sp>
        <p:nvSpPr>
          <p:cNvPr id="22" name="Shape 20"/>
          <p:cNvSpPr/>
          <p:nvPr/>
        </p:nvSpPr>
        <p:spPr>
          <a:xfrm>
            <a:off x="5988177" y="4103101"/>
            <a:ext cx="148590" cy="914"/>
          </a:xfrm>
          <a:prstGeom prst="line">
            <a:avLst/>
          </a:prstGeom>
          <a:noFill/>
          <a:ln w="17481">
            <a:solidFill>
              <a:srgbClr val="D71920"/>
            </a:solidFill>
            <a:prstDash val="solid"/>
            <a:tailEnd type="triangle"/>
          </a:ln>
        </p:spPr>
        <p:txBody>
          <a:bodyPr/>
          <a:lstStyle/>
          <a:p>
            <a:endParaRPr lang="nl-NL"/>
          </a:p>
        </p:txBody>
      </p:sp>
      <p:sp>
        <p:nvSpPr>
          <p:cNvPr id="23" name="Shape 21"/>
          <p:cNvSpPr/>
          <p:nvPr/>
        </p:nvSpPr>
        <p:spPr>
          <a:xfrm>
            <a:off x="6162989" y="3132896"/>
            <a:ext cx="2034372" cy="1966632"/>
          </a:xfrm>
          <a:prstGeom prst="roundRect">
            <a:avLst>
              <a:gd name="adj" fmla="val 1860"/>
            </a:avLst>
          </a:prstGeom>
          <a:solidFill>
            <a:srgbClr val="30363B"/>
          </a:solidFill>
          <a:ln w="8890">
            <a:solidFill>
              <a:srgbClr val="48525B"/>
            </a:solidFill>
            <a:prstDash val="solid"/>
          </a:ln>
        </p:spPr>
        <p:txBody>
          <a:bodyPr/>
          <a:lstStyle/>
          <a:p>
            <a:endParaRPr lang="nl-NL"/>
          </a:p>
        </p:txBody>
      </p:sp>
      <p:sp>
        <p:nvSpPr>
          <p:cNvPr id="24" name="Shape 22"/>
          <p:cNvSpPr/>
          <p:nvPr/>
        </p:nvSpPr>
        <p:spPr>
          <a:xfrm>
            <a:off x="6162989" y="3255264"/>
            <a:ext cx="34962" cy="1721896"/>
          </a:xfrm>
          <a:prstGeom prst="rect">
            <a:avLst/>
          </a:prstGeom>
          <a:solidFill>
            <a:srgbClr val="82909A"/>
          </a:solidFill>
          <a:ln w="12700">
            <a:solidFill>
              <a:srgbClr val="24282C">
                <a:alpha val="0"/>
              </a:srgbClr>
            </a:solidFill>
            <a:prstDash val="solid"/>
          </a:ln>
        </p:spPr>
        <p:txBody>
          <a:bodyPr/>
          <a:lstStyle/>
          <a:p>
            <a:endParaRPr lang="nl-NL"/>
          </a:p>
        </p:txBody>
      </p:sp>
      <p:sp>
        <p:nvSpPr>
          <p:cNvPr id="25" name="Text 23"/>
          <p:cNvSpPr/>
          <p:nvPr/>
        </p:nvSpPr>
        <p:spPr>
          <a:xfrm>
            <a:off x="6311579" y="3272745"/>
            <a:ext cx="1737192" cy="559398"/>
          </a:xfrm>
          <a:prstGeom prst="rect">
            <a:avLst/>
          </a:prstGeom>
          <a:noFill/>
          <a:ln/>
        </p:spPr>
        <p:txBody>
          <a:bodyPr wrap="square" lIns="0" tIns="0" rIns="0" bIns="0" rtlCol="0" anchor="t">
            <a:normAutofit/>
          </a:bodyPr>
          <a:lstStyle/>
          <a:p>
            <a:pPr marL="0" indent="0" algn="l">
              <a:buNone/>
            </a:pPr>
            <a:r>
              <a:rPr lang="en-US" sz="1721" b="1" dirty="0">
                <a:solidFill>
                  <a:srgbClr val="F5F6F7"/>
                </a:solidFill>
                <a:latin typeface="Arial" pitchFamily="34" charset="0"/>
                <a:ea typeface="Arial" pitchFamily="34" charset="-122"/>
                <a:cs typeface="Arial" pitchFamily="34" charset="-120"/>
              </a:rPr>
              <a:t>Added evidence</a:t>
            </a:r>
            <a:endParaRPr lang="en-US" sz="1721" dirty="0"/>
          </a:p>
        </p:txBody>
      </p:sp>
      <p:sp>
        <p:nvSpPr>
          <p:cNvPr id="26" name="Text 24"/>
          <p:cNvSpPr/>
          <p:nvPr/>
        </p:nvSpPr>
        <p:spPr>
          <a:xfrm>
            <a:off x="6311579" y="3893327"/>
            <a:ext cx="1737192" cy="1101314"/>
          </a:xfrm>
          <a:prstGeom prst="rect">
            <a:avLst/>
          </a:prstGeom>
          <a:noFill/>
          <a:ln/>
        </p:spPr>
        <p:txBody>
          <a:bodyPr wrap="square" lIns="0" tIns="0" rIns="0" bIns="0" rtlCol="0" anchor="t">
            <a:normAutofit/>
          </a:bodyPr>
          <a:lstStyle/>
          <a:p>
            <a:pPr marL="0" indent="0" algn="l">
              <a:buNone/>
            </a:pPr>
            <a:r>
              <a:rPr lang="en-US" sz="1376" dirty="0">
                <a:solidFill>
                  <a:srgbClr val="BDC4C9"/>
                </a:solidFill>
                <a:latin typeface="Arial" pitchFamily="34" charset="0"/>
                <a:ea typeface="Arial" pitchFamily="34" charset="-122"/>
                <a:cs typeface="Arial" pitchFamily="34" charset="-120"/>
              </a:rPr>
              <a:t>Only what changes that decision</a:t>
            </a:r>
            <a:endParaRPr lang="en-US" sz="1376" dirty="0"/>
          </a:p>
        </p:txBody>
      </p:sp>
      <p:sp>
        <p:nvSpPr>
          <p:cNvPr id="27" name="Text 25"/>
          <p:cNvSpPr/>
          <p:nvPr/>
        </p:nvSpPr>
        <p:spPr>
          <a:xfrm>
            <a:off x="6311579" y="2835716"/>
            <a:ext cx="1737192" cy="524435"/>
          </a:xfrm>
          <a:prstGeom prst="rect">
            <a:avLst/>
          </a:prstGeom>
          <a:noFill/>
          <a:ln/>
        </p:spPr>
        <p:txBody>
          <a:bodyPr wrap="square" lIns="0" tIns="0" rIns="0" bIns="0" rtlCol="0" anchor="t">
            <a:normAutofit/>
          </a:bodyPr>
          <a:lstStyle/>
          <a:p>
            <a:pPr marL="0" indent="0" algn="l">
              <a:buNone/>
            </a:pPr>
            <a:r>
              <a:rPr lang="en-US" sz="1239" b="1" dirty="0">
                <a:solidFill>
                  <a:srgbClr val="D71920"/>
                </a:solidFill>
                <a:latin typeface="Arial" pitchFamily="34" charset="0"/>
                <a:ea typeface="Arial" pitchFamily="34" charset="-122"/>
                <a:cs typeface="Arial" pitchFamily="34" charset="-120"/>
              </a:rPr>
              <a:t>03</a:t>
            </a:r>
            <a:endParaRPr lang="en-US" sz="1239" dirty="0"/>
          </a:p>
        </p:txBody>
      </p:sp>
      <p:sp>
        <p:nvSpPr>
          <p:cNvPr id="28" name="Shape 26"/>
          <p:cNvSpPr/>
          <p:nvPr/>
        </p:nvSpPr>
        <p:spPr>
          <a:xfrm>
            <a:off x="8223582" y="4103101"/>
            <a:ext cx="148590" cy="914"/>
          </a:xfrm>
          <a:prstGeom prst="line">
            <a:avLst/>
          </a:prstGeom>
          <a:noFill/>
          <a:ln w="17481">
            <a:solidFill>
              <a:srgbClr val="D71920"/>
            </a:solidFill>
            <a:prstDash val="solid"/>
            <a:tailEnd type="triangle"/>
          </a:ln>
        </p:spPr>
        <p:txBody>
          <a:bodyPr/>
          <a:lstStyle/>
          <a:p>
            <a:endParaRPr lang="nl-NL"/>
          </a:p>
        </p:txBody>
      </p:sp>
      <p:sp>
        <p:nvSpPr>
          <p:cNvPr id="29" name="Shape 27"/>
          <p:cNvSpPr/>
          <p:nvPr/>
        </p:nvSpPr>
        <p:spPr>
          <a:xfrm>
            <a:off x="8398394" y="3132896"/>
            <a:ext cx="2034372" cy="1966632"/>
          </a:xfrm>
          <a:prstGeom prst="roundRect">
            <a:avLst>
              <a:gd name="adj" fmla="val 1860"/>
            </a:avLst>
          </a:prstGeom>
          <a:solidFill>
            <a:srgbClr val="383F44"/>
          </a:solidFill>
          <a:ln w="8890">
            <a:solidFill>
              <a:srgbClr val="D71920"/>
            </a:solidFill>
            <a:prstDash val="solid"/>
          </a:ln>
        </p:spPr>
        <p:txBody>
          <a:bodyPr/>
          <a:lstStyle/>
          <a:p>
            <a:endParaRPr lang="nl-NL"/>
          </a:p>
        </p:txBody>
      </p:sp>
      <p:sp>
        <p:nvSpPr>
          <p:cNvPr id="30" name="Shape 28"/>
          <p:cNvSpPr/>
          <p:nvPr/>
        </p:nvSpPr>
        <p:spPr>
          <a:xfrm>
            <a:off x="8398394" y="3255264"/>
            <a:ext cx="34962" cy="1721896"/>
          </a:xfrm>
          <a:prstGeom prst="rect">
            <a:avLst/>
          </a:prstGeom>
          <a:solidFill>
            <a:srgbClr val="D71920"/>
          </a:solidFill>
          <a:ln w="12700">
            <a:solidFill>
              <a:srgbClr val="24282C">
                <a:alpha val="0"/>
              </a:srgbClr>
            </a:solidFill>
            <a:prstDash val="solid"/>
          </a:ln>
        </p:spPr>
        <p:txBody>
          <a:bodyPr/>
          <a:lstStyle/>
          <a:p>
            <a:endParaRPr lang="nl-NL"/>
          </a:p>
        </p:txBody>
      </p:sp>
      <p:sp>
        <p:nvSpPr>
          <p:cNvPr id="31" name="Text 29"/>
          <p:cNvSpPr/>
          <p:nvPr/>
        </p:nvSpPr>
        <p:spPr>
          <a:xfrm>
            <a:off x="8546984" y="3272745"/>
            <a:ext cx="1737192" cy="559398"/>
          </a:xfrm>
          <a:prstGeom prst="rect">
            <a:avLst/>
          </a:prstGeom>
          <a:noFill/>
          <a:ln/>
        </p:spPr>
        <p:txBody>
          <a:bodyPr wrap="square" lIns="0" tIns="0" rIns="0" bIns="0" rtlCol="0" anchor="t">
            <a:normAutofit/>
          </a:bodyPr>
          <a:lstStyle/>
          <a:p>
            <a:pPr marL="0" indent="0" algn="l">
              <a:buNone/>
            </a:pPr>
            <a:r>
              <a:rPr lang="en-US" sz="1721" b="1" dirty="0">
                <a:solidFill>
                  <a:srgbClr val="F5F6F7"/>
                </a:solidFill>
                <a:latin typeface="Arial" pitchFamily="34" charset="0"/>
                <a:ea typeface="Arial" pitchFamily="34" charset="-122"/>
                <a:cs typeface="Arial" pitchFamily="34" charset="-120"/>
              </a:rPr>
              <a:t>Result</a:t>
            </a:r>
            <a:endParaRPr lang="en-US" sz="1721" dirty="0"/>
          </a:p>
        </p:txBody>
      </p:sp>
      <p:sp>
        <p:nvSpPr>
          <p:cNvPr id="32" name="Text 30"/>
          <p:cNvSpPr/>
          <p:nvPr/>
        </p:nvSpPr>
        <p:spPr>
          <a:xfrm>
            <a:off x="8546984" y="3893327"/>
            <a:ext cx="1737192" cy="1101314"/>
          </a:xfrm>
          <a:prstGeom prst="rect">
            <a:avLst/>
          </a:prstGeom>
          <a:noFill/>
          <a:ln/>
        </p:spPr>
        <p:txBody>
          <a:bodyPr wrap="square" lIns="0" tIns="0" rIns="0" bIns="0" rtlCol="0" anchor="t">
            <a:normAutofit/>
          </a:bodyPr>
          <a:lstStyle/>
          <a:p>
            <a:pPr marL="0" indent="0" algn="l">
              <a:buNone/>
            </a:pPr>
            <a:r>
              <a:rPr lang="en-US" sz="1376" dirty="0">
                <a:solidFill>
                  <a:srgbClr val="BDC4C9"/>
                </a:solidFill>
                <a:latin typeface="Arial" pitchFamily="34" charset="0"/>
                <a:ea typeface="Arial" pitchFamily="34" charset="-122"/>
                <a:cs typeface="Arial" pitchFamily="34" charset="-120"/>
              </a:rPr>
              <a:t>Retain the original baseline</a:t>
            </a:r>
            <a:endParaRPr lang="en-US" sz="1376" dirty="0"/>
          </a:p>
        </p:txBody>
      </p:sp>
      <p:sp>
        <p:nvSpPr>
          <p:cNvPr id="33" name="Text 31"/>
          <p:cNvSpPr/>
          <p:nvPr/>
        </p:nvSpPr>
        <p:spPr>
          <a:xfrm>
            <a:off x="8546984" y="2835716"/>
            <a:ext cx="1737192" cy="524435"/>
          </a:xfrm>
          <a:prstGeom prst="rect">
            <a:avLst/>
          </a:prstGeom>
          <a:noFill/>
          <a:ln/>
        </p:spPr>
        <p:txBody>
          <a:bodyPr wrap="square" lIns="0" tIns="0" rIns="0" bIns="0" rtlCol="0" anchor="t">
            <a:normAutofit/>
          </a:bodyPr>
          <a:lstStyle/>
          <a:p>
            <a:pPr marL="0" indent="0" algn="l">
              <a:buNone/>
            </a:pPr>
            <a:r>
              <a:rPr lang="en-US" sz="1239" b="1" dirty="0">
                <a:solidFill>
                  <a:srgbClr val="D71920"/>
                </a:solidFill>
                <a:latin typeface="Arial" pitchFamily="34" charset="0"/>
                <a:ea typeface="Arial" pitchFamily="34" charset="-122"/>
                <a:cs typeface="Arial" pitchFamily="34" charset="-120"/>
              </a:rPr>
              <a:t>04</a:t>
            </a:r>
            <a:endParaRPr lang="en-US" sz="1239" dirty="0"/>
          </a:p>
        </p:txBody>
      </p:sp>
      <p:sp>
        <p:nvSpPr>
          <p:cNvPr id="34" name="Text 32"/>
          <p:cNvSpPr/>
          <p:nvPr/>
        </p:nvSpPr>
        <p:spPr>
          <a:xfrm>
            <a:off x="548640" y="5678424"/>
            <a:ext cx="10954512" cy="219456"/>
          </a:xfrm>
          <a:prstGeom prst="rect">
            <a:avLst/>
          </a:prstGeom>
          <a:noFill/>
          <a:ln/>
        </p:spPr>
        <p:txBody>
          <a:bodyPr wrap="square" lIns="0" tIns="0" rIns="0" bIns="0" rtlCol="0" anchor="t">
            <a:normAutofit/>
          </a:bodyPr>
          <a:lstStyle/>
          <a:p>
            <a:pPr marL="0" indent="0" algn="l">
              <a:buNone/>
            </a:pPr>
            <a:r>
              <a:rPr lang="en-US" sz="840" dirty="0">
                <a:solidFill>
                  <a:srgbClr val="BDC4C9"/>
                </a:solidFill>
                <a:latin typeface="Arial" pitchFamily="34" charset="0"/>
                <a:ea typeface="Arial" pitchFamily="34" charset="-122"/>
                <a:cs typeface="Arial" pitchFamily="34" charset="-120"/>
              </a:rPr>
              <a:t>Proposed sequence / each stage retains its own evidence and decision.</a:t>
            </a:r>
            <a:endParaRPr lang="en-US" sz="840" dirty="0"/>
          </a:p>
        </p:txBody>
      </p:sp>
      <p:sp>
        <p:nvSpPr>
          <p:cNvPr id="35" name="Text 33"/>
          <p:cNvSpPr/>
          <p:nvPr/>
        </p:nvSpPr>
        <p:spPr>
          <a:xfrm>
            <a:off x="603504" y="5925312"/>
            <a:ext cx="10917936" cy="347472"/>
          </a:xfrm>
          <a:prstGeom prst="rect">
            <a:avLst/>
          </a:prstGeom>
          <a:noFill/>
          <a:ln/>
        </p:spPr>
        <p:txBody>
          <a:bodyPr wrap="square" lIns="0" tIns="0" rIns="0" bIns="0" rtlCol="0" anchor="t">
            <a:normAutofit/>
          </a:bodyPr>
          <a:lstStyle/>
          <a:p>
            <a:pPr marL="0" indent="0" algn="l">
              <a:buNone/>
            </a:pPr>
            <a:r>
              <a:rPr lang="en-US" sz="1320" dirty="0">
                <a:solidFill>
                  <a:srgbClr val="F5F6F7"/>
                </a:solidFill>
                <a:latin typeface="Arial" pitchFamily="34" charset="0"/>
                <a:ea typeface="Arial" pitchFamily="34" charset="-122"/>
                <a:cs typeface="Arial" pitchFamily="34" charset="-120"/>
              </a:rPr>
              <a:t>This connection does not turn every analytical observation into an instruction to launch activity.</a:t>
            </a:r>
            <a:endParaRPr lang="en-US" sz="13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4282C"/>
        </a:solidFill>
        <a:effectLst/>
      </p:bgPr>
    </p:bg>
    <p:spTree>
      <p:nvGrpSpPr>
        <p:cNvPr id="1" name=""/>
        <p:cNvGrpSpPr/>
        <p:nvPr/>
      </p:nvGrpSpPr>
      <p:grpSpPr>
        <a:xfrm>
          <a:off x="0" y="0"/>
          <a:ext cx="0" cy="0"/>
          <a:chOff x="0" y="0"/>
          <a:chExt cx="0" cy="0"/>
        </a:xfrm>
      </p:grpSpPr>
      <p:sp>
        <p:nvSpPr>
          <p:cNvPr id="2" name="Text 0"/>
          <p:cNvSpPr/>
          <p:nvPr/>
        </p:nvSpPr>
        <p:spPr>
          <a:xfrm>
            <a:off x="484632" y="173736"/>
            <a:ext cx="2743200" cy="201168"/>
          </a:xfrm>
          <a:prstGeom prst="rect">
            <a:avLst/>
          </a:prstGeom>
          <a:noFill/>
          <a:ln/>
        </p:spPr>
        <p:txBody>
          <a:bodyPr wrap="square" lIns="0" tIns="0" rIns="0" bIns="0" rtlCol="0" anchor="t">
            <a:normAutofit/>
          </a:bodyPr>
          <a:lstStyle/>
          <a:p>
            <a:pPr marL="0" indent="0" algn="l">
              <a:buNone/>
            </a:pPr>
            <a:r>
              <a:rPr lang="en-US" sz="1000" b="1" dirty="0">
                <a:solidFill>
                  <a:srgbClr val="F5F6F7"/>
                </a:solidFill>
                <a:latin typeface="Arial" pitchFamily="34" charset="0"/>
                <a:ea typeface="Arial" pitchFamily="34" charset="-122"/>
                <a:cs typeface="Arial" pitchFamily="34" charset="-120"/>
              </a:rPr>
              <a:t>ISUZU / UNIVERSE</a:t>
            </a:r>
            <a:endParaRPr lang="en-US" sz="1000" dirty="0"/>
          </a:p>
        </p:txBody>
      </p:sp>
      <p:sp>
        <p:nvSpPr>
          <p:cNvPr id="3" name="Text 1"/>
          <p:cNvSpPr/>
          <p:nvPr/>
        </p:nvSpPr>
        <p:spPr>
          <a:xfrm>
            <a:off x="8046720" y="173736"/>
            <a:ext cx="3657600" cy="201168"/>
          </a:xfrm>
          <a:prstGeom prst="rect">
            <a:avLst/>
          </a:prstGeom>
          <a:noFill/>
          <a:ln/>
        </p:spPr>
        <p:txBody>
          <a:bodyPr wrap="square" lIns="0" tIns="0" rIns="0" bIns="0" rtlCol="0" anchor="t">
            <a:normAutofit/>
          </a:bodyPr>
          <a:lstStyle/>
          <a:p>
            <a:pPr marL="0" indent="0" algn="r">
              <a:buNone/>
            </a:pPr>
            <a:r>
              <a:rPr lang="en-US" sz="900" dirty="0">
                <a:solidFill>
                  <a:srgbClr val="BDC4C9"/>
                </a:solidFill>
                <a:latin typeface="Arial" pitchFamily="34" charset="0"/>
                <a:ea typeface="Arial" pitchFamily="34" charset="-122"/>
                <a:cs typeface="Arial" pitchFamily="34" charset="-120"/>
              </a:rPr>
              <a:t>COMMERCIAL VISION  /  3.0</a:t>
            </a:r>
            <a:endParaRPr lang="en-US" sz="900" dirty="0"/>
          </a:p>
        </p:txBody>
      </p:sp>
      <p:sp>
        <p:nvSpPr>
          <p:cNvPr id="4" name="Shape 2"/>
          <p:cNvSpPr/>
          <p:nvPr/>
        </p:nvSpPr>
        <p:spPr>
          <a:xfrm>
            <a:off x="484632" y="512064"/>
            <a:ext cx="475488" cy="22860"/>
          </a:xfrm>
          <a:prstGeom prst="rect">
            <a:avLst/>
          </a:prstGeom>
          <a:solidFill>
            <a:srgbClr val="D71920"/>
          </a:solidFill>
          <a:ln w="12700">
            <a:solidFill>
              <a:srgbClr val="D71920">
                <a:alpha val="0"/>
              </a:srgbClr>
            </a:solidFill>
            <a:prstDash val="solid"/>
          </a:ln>
        </p:spPr>
        <p:txBody>
          <a:bodyPr/>
          <a:lstStyle/>
          <a:p>
            <a:endParaRPr lang="nl-NL"/>
          </a:p>
        </p:txBody>
      </p:sp>
      <p:sp>
        <p:nvSpPr>
          <p:cNvPr id="5" name="Text 3"/>
          <p:cNvSpPr/>
          <p:nvPr/>
        </p:nvSpPr>
        <p:spPr>
          <a:xfrm>
            <a:off x="484632" y="658368"/>
            <a:ext cx="11064240" cy="219456"/>
          </a:xfrm>
          <a:prstGeom prst="rect">
            <a:avLst/>
          </a:prstGeom>
          <a:noFill/>
          <a:ln/>
        </p:spPr>
        <p:txBody>
          <a:bodyPr wrap="square" lIns="0" tIns="0" rIns="0" bIns="0" rtlCol="0" anchor="t">
            <a:normAutofit/>
          </a:bodyPr>
          <a:lstStyle/>
          <a:p>
            <a:pPr marL="0" indent="0" algn="l">
              <a:buNone/>
            </a:pPr>
            <a:r>
              <a:rPr lang="en-US" sz="1000" b="1" dirty="0">
                <a:solidFill>
                  <a:srgbClr val="D71920"/>
                </a:solidFill>
                <a:latin typeface="Arial" pitchFamily="34" charset="0"/>
                <a:ea typeface="Arial" pitchFamily="34" charset="-122"/>
                <a:cs typeface="Arial" pitchFamily="34" charset="-120"/>
              </a:rPr>
              <a:t>IDS / DEVELOPMENT</a:t>
            </a:r>
            <a:endParaRPr lang="en-US" sz="1000" dirty="0"/>
          </a:p>
        </p:txBody>
      </p:sp>
      <p:sp>
        <p:nvSpPr>
          <p:cNvPr id="6" name="Shape 4"/>
          <p:cNvSpPr/>
          <p:nvPr/>
        </p:nvSpPr>
        <p:spPr>
          <a:xfrm>
            <a:off x="484632" y="6446520"/>
            <a:ext cx="11219688" cy="914"/>
          </a:xfrm>
          <a:prstGeom prst="line">
            <a:avLst/>
          </a:prstGeom>
          <a:noFill/>
          <a:ln w="6350">
            <a:solidFill>
              <a:srgbClr val="647078"/>
            </a:solidFill>
            <a:prstDash val="solid"/>
          </a:ln>
        </p:spPr>
        <p:txBody>
          <a:bodyPr/>
          <a:lstStyle/>
          <a:p>
            <a:endParaRPr lang="nl-NL"/>
          </a:p>
        </p:txBody>
      </p:sp>
      <p:sp>
        <p:nvSpPr>
          <p:cNvPr id="7" name="Text 5"/>
          <p:cNvSpPr/>
          <p:nvPr/>
        </p:nvSpPr>
        <p:spPr>
          <a:xfrm>
            <a:off x="484632" y="6556248"/>
            <a:ext cx="9144000" cy="146304"/>
          </a:xfrm>
          <a:prstGeom prst="rect">
            <a:avLst/>
          </a:prstGeom>
          <a:noFill/>
          <a:ln/>
        </p:spPr>
        <p:txBody>
          <a:bodyPr wrap="square" lIns="0" tIns="0" rIns="0" bIns="0" rtlCol="0" anchor="t">
            <a:normAutofit/>
          </a:bodyPr>
          <a:lstStyle/>
          <a:p>
            <a:pPr marL="0" indent="0" algn="l">
              <a:buNone/>
            </a:pPr>
            <a:r>
              <a:rPr lang="en-US" sz="750" dirty="0">
                <a:solidFill>
                  <a:srgbClr val="BDC4C9"/>
                </a:solidFill>
                <a:latin typeface="Arial" pitchFamily="34" charset="0"/>
                <a:ea typeface="Arial" pitchFamily="34" charset="-122"/>
                <a:cs typeface="Arial" pitchFamily="34" charset="-120"/>
              </a:rPr>
              <a:t>22 SEPTEMBER 2026  /  CONCEPT AND APPLICATION EXAMPLES</a:t>
            </a:r>
            <a:endParaRPr lang="en-US" sz="750" dirty="0"/>
          </a:p>
        </p:txBody>
      </p:sp>
      <p:sp>
        <p:nvSpPr>
          <p:cNvPr id="8" name="Text 6"/>
          <p:cNvSpPr/>
          <p:nvPr/>
        </p:nvSpPr>
        <p:spPr>
          <a:xfrm>
            <a:off x="10789920" y="6547104"/>
            <a:ext cx="914400" cy="173736"/>
          </a:xfrm>
          <a:prstGeom prst="rect">
            <a:avLst/>
          </a:prstGeom>
          <a:noFill/>
          <a:ln/>
        </p:spPr>
        <p:txBody>
          <a:bodyPr wrap="square" lIns="0" tIns="0" rIns="0" bIns="0" rtlCol="0" anchor="t">
            <a:normAutofit/>
          </a:bodyPr>
          <a:lstStyle/>
          <a:p>
            <a:pPr marL="0" indent="0" algn="r">
              <a:buNone/>
            </a:pPr>
            <a:r>
              <a:rPr lang="en-US" sz="850" dirty="0">
                <a:solidFill>
                  <a:srgbClr val="BDC4C9"/>
                </a:solidFill>
                <a:latin typeface="Arial" pitchFamily="34" charset="0"/>
                <a:ea typeface="Arial" pitchFamily="34" charset="-122"/>
                <a:cs typeface="Arial" pitchFamily="34" charset="-120"/>
              </a:rPr>
              <a:t>13 / 49</a:t>
            </a:r>
            <a:endParaRPr lang="en-US" sz="850" dirty="0"/>
          </a:p>
        </p:txBody>
      </p:sp>
      <p:sp>
        <p:nvSpPr>
          <p:cNvPr id="9" name="Text 7"/>
          <p:cNvSpPr/>
          <p:nvPr/>
        </p:nvSpPr>
        <p:spPr>
          <a:xfrm>
            <a:off x="502920" y="1005840"/>
            <a:ext cx="11036808" cy="841248"/>
          </a:xfrm>
          <a:prstGeom prst="rect">
            <a:avLst/>
          </a:prstGeom>
          <a:noFill/>
          <a:ln/>
        </p:spPr>
        <p:txBody>
          <a:bodyPr wrap="square" lIns="0" tIns="0" rIns="0" bIns="0" rtlCol="0" anchor="t">
            <a:normAutofit/>
          </a:bodyPr>
          <a:lstStyle/>
          <a:p>
            <a:pPr marL="0" indent="0" algn="l">
              <a:buNone/>
            </a:pPr>
            <a:r>
              <a:rPr lang="en-US" sz="3400" b="1" dirty="0">
                <a:solidFill>
                  <a:srgbClr val="F5F6F7"/>
                </a:solidFill>
                <a:latin typeface="Arial" pitchFamily="34" charset="0"/>
                <a:ea typeface="Arial" pitchFamily="34" charset="-122"/>
                <a:cs typeface="Arial" pitchFamily="34" charset="-120"/>
              </a:rPr>
              <a:t>Make dealer development visible.</a:t>
            </a:r>
            <a:endParaRPr lang="en-US" sz="3400" dirty="0"/>
          </a:p>
        </p:txBody>
      </p:sp>
      <p:sp>
        <p:nvSpPr>
          <p:cNvPr id="10" name="Text 8"/>
          <p:cNvSpPr/>
          <p:nvPr/>
        </p:nvSpPr>
        <p:spPr>
          <a:xfrm>
            <a:off x="530352" y="1865376"/>
            <a:ext cx="10954512" cy="566928"/>
          </a:xfrm>
          <a:prstGeom prst="rect">
            <a:avLst/>
          </a:prstGeom>
          <a:noFill/>
          <a:ln/>
        </p:spPr>
        <p:txBody>
          <a:bodyPr wrap="square" lIns="0" tIns="0" rIns="0" bIns="0" rtlCol="0" anchor="t">
            <a:normAutofit/>
          </a:bodyPr>
          <a:lstStyle/>
          <a:p>
            <a:pPr marL="0" indent="0" algn="l">
              <a:buNone/>
            </a:pPr>
            <a:r>
              <a:rPr lang="en-US" sz="1800" dirty="0">
                <a:solidFill>
                  <a:srgbClr val="BDC4C9"/>
                </a:solidFill>
                <a:latin typeface="Arial" pitchFamily="34" charset="0"/>
                <a:ea typeface="Arial" pitchFamily="34" charset="-122"/>
                <a:cs typeface="Arial" pitchFamily="34" charset="-120"/>
              </a:rPr>
              <a:t>An interactive IDS experience: explore, choose, implement and review.</a:t>
            </a:r>
            <a:endParaRPr lang="en-US" sz="1800" dirty="0"/>
          </a:p>
        </p:txBody>
      </p:sp>
      <p:sp>
        <p:nvSpPr>
          <p:cNvPr id="11" name="Shape 9"/>
          <p:cNvSpPr/>
          <p:nvPr/>
        </p:nvSpPr>
        <p:spPr>
          <a:xfrm>
            <a:off x="1692178" y="3132896"/>
            <a:ext cx="2034372" cy="1966632"/>
          </a:xfrm>
          <a:prstGeom prst="roundRect">
            <a:avLst>
              <a:gd name="adj" fmla="val 1860"/>
            </a:avLst>
          </a:prstGeom>
          <a:solidFill>
            <a:srgbClr val="30363B"/>
          </a:solidFill>
          <a:ln w="8890">
            <a:solidFill>
              <a:srgbClr val="48525B"/>
            </a:solidFill>
            <a:prstDash val="solid"/>
          </a:ln>
        </p:spPr>
        <p:txBody>
          <a:bodyPr/>
          <a:lstStyle/>
          <a:p>
            <a:endParaRPr lang="nl-NL"/>
          </a:p>
        </p:txBody>
      </p:sp>
      <p:sp>
        <p:nvSpPr>
          <p:cNvPr id="12" name="Shape 10"/>
          <p:cNvSpPr/>
          <p:nvPr/>
        </p:nvSpPr>
        <p:spPr>
          <a:xfrm>
            <a:off x="1692178" y="3255264"/>
            <a:ext cx="34962" cy="1721896"/>
          </a:xfrm>
          <a:prstGeom prst="rect">
            <a:avLst/>
          </a:prstGeom>
          <a:solidFill>
            <a:srgbClr val="82909A"/>
          </a:solidFill>
          <a:ln w="12700">
            <a:solidFill>
              <a:srgbClr val="24282C">
                <a:alpha val="0"/>
              </a:srgbClr>
            </a:solidFill>
            <a:prstDash val="solid"/>
          </a:ln>
        </p:spPr>
        <p:txBody>
          <a:bodyPr/>
          <a:lstStyle/>
          <a:p>
            <a:endParaRPr lang="nl-NL"/>
          </a:p>
        </p:txBody>
      </p:sp>
      <p:sp>
        <p:nvSpPr>
          <p:cNvPr id="13" name="Text 11"/>
          <p:cNvSpPr/>
          <p:nvPr/>
        </p:nvSpPr>
        <p:spPr>
          <a:xfrm>
            <a:off x="1840768" y="3272745"/>
            <a:ext cx="1737192" cy="559398"/>
          </a:xfrm>
          <a:prstGeom prst="rect">
            <a:avLst/>
          </a:prstGeom>
          <a:noFill/>
          <a:ln/>
        </p:spPr>
        <p:txBody>
          <a:bodyPr wrap="square" lIns="0" tIns="0" rIns="0" bIns="0" rtlCol="0" anchor="t">
            <a:normAutofit/>
          </a:bodyPr>
          <a:lstStyle/>
          <a:p>
            <a:pPr marL="0" indent="0" algn="l">
              <a:buNone/>
            </a:pPr>
            <a:r>
              <a:rPr lang="en-US" sz="1721" b="1" dirty="0">
                <a:solidFill>
                  <a:srgbClr val="F5F6F7"/>
                </a:solidFill>
                <a:latin typeface="Arial" pitchFamily="34" charset="0"/>
                <a:ea typeface="Arial" pitchFamily="34" charset="-122"/>
                <a:cs typeface="Arial" pitchFamily="34" charset="-120"/>
              </a:rPr>
              <a:t>Explore</a:t>
            </a:r>
            <a:endParaRPr lang="en-US" sz="1721" dirty="0"/>
          </a:p>
        </p:txBody>
      </p:sp>
      <p:sp>
        <p:nvSpPr>
          <p:cNvPr id="14" name="Text 12"/>
          <p:cNvSpPr/>
          <p:nvPr/>
        </p:nvSpPr>
        <p:spPr>
          <a:xfrm>
            <a:off x="1840768" y="3893327"/>
            <a:ext cx="1737192" cy="1101314"/>
          </a:xfrm>
          <a:prstGeom prst="rect">
            <a:avLst/>
          </a:prstGeom>
          <a:noFill/>
          <a:ln/>
        </p:spPr>
        <p:txBody>
          <a:bodyPr wrap="square" lIns="0" tIns="0" rIns="0" bIns="0" rtlCol="0" anchor="t">
            <a:normAutofit/>
          </a:bodyPr>
          <a:lstStyle/>
          <a:p>
            <a:pPr marL="0" indent="0" algn="l">
              <a:buNone/>
            </a:pPr>
            <a:r>
              <a:rPr lang="en-US" sz="1376" dirty="0">
                <a:solidFill>
                  <a:srgbClr val="BDC4C9"/>
                </a:solidFill>
                <a:latin typeface="Arial" pitchFamily="34" charset="0"/>
                <a:ea typeface="Arial" pitchFamily="34" charset="-122"/>
                <a:cs typeface="Arial" pitchFamily="34" charset="-120"/>
              </a:rPr>
              <a:t>Original assessment</a:t>
            </a:r>
            <a:endParaRPr lang="en-US" sz="1376" dirty="0"/>
          </a:p>
        </p:txBody>
      </p:sp>
      <p:sp>
        <p:nvSpPr>
          <p:cNvPr id="15" name="Text 13"/>
          <p:cNvSpPr/>
          <p:nvPr/>
        </p:nvSpPr>
        <p:spPr>
          <a:xfrm>
            <a:off x="1840768" y="2835716"/>
            <a:ext cx="1737192" cy="524435"/>
          </a:xfrm>
          <a:prstGeom prst="rect">
            <a:avLst/>
          </a:prstGeom>
          <a:noFill/>
          <a:ln/>
        </p:spPr>
        <p:txBody>
          <a:bodyPr wrap="square" lIns="0" tIns="0" rIns="0" bIns="0" rtlCol="0" anchor="t">
            <a:normAutofit/>
          </a:bodyPr>
          <a:lstStyle/>
          <a:p>
            <a:pPr marL="0" indent="0" algn="l">
              <a:buNone/>
            </a:pPr>
            <a:r>
              <a:rPr lang="en-US" sz="1239" b="1" dirty="0">
                <a:solidFill>
                  <a:srgbClr val="D71920"/>
                </a:solidFill>
                <a:latin typeface="Arial" pitchFamily="34" charset="0"/>
                <a:ea typeface="Arial" pitchFamily="34" charset="-122"/>
                <a:cs typeface="Arial" pitchFamily="34" charset="-120"/>
              </a:rPr>
              <a:t>01</a:t>
            </a:r>
            <a:endParaRPr lang="en-US" sz="1239" dirty="0"/>
          </a:p>
        </p:txBody>
      </p:sp>
      <p:sp>
        <p:nvSpPr>
          <p:cNvPr id="16" name="Shape 14"/>
          <p:cNvSpPr/>
          <p:nvPr/>
        </p:nvSpPr>
        <p:spPr>
          <a:xfrm>
            <a:off x="3752772" y="4103101"/>
            <a:ext cx="148590" cy="914"/>
          </a:xfrm>
          <a:prstGeom prst="line">
            <a:avLst/>
          </a:prstGeom>
          <a:noFill/>
          <a:ln w="17481">
            <a:solidFill>
              <a:srgbClr val="D71920"/>
            </a:solidFill>
            <a:prstDash val="solid"/>
            <a:tailEnd type="triangle"/>
          </a:ln>
        </p:spPr>
        <p:txBody>
          <a:bodyPr/>
          <a:lstStyle/>
          <a:p>
            <a:endParaRPr lang="nl-NL"/>
          </a:p>
        </p:txBody>
      </p:sp>
      <p:sp>
        <p:nvSpPr>
          <p:cNvPr id="17" name="Shape 15"/>
          <p:cNvSpPr/>
          <p:nvPr/>
        </p:nvSpPr>
        <p:spPr>
          <a:xfrm>
            <a:off x="3927583" y="3132896"/>
            <a:ext cx="2034372" cy="1966632"/>
          </a:xfrm>
          <a:prstGeom prst="roundRect">
            <a:avLst>
              <a:gd name="adj" fmla="val 1860"/>
            </a:avLst>
          </a:prstGeom>
          <a:solidFill>
            <a:srgbClr val="30363B"/>
          </a:solidFill>
          <a:ln w="8890">
            <a:solidFill>
              <a:srgbClr val="48525B"/>
            </a:solidFill>
            <a:prstDash val="solid"/>
          </a:ln>
        </p:spPr>
        <p:txBody>
          <a:bodyPr/>
          <a:lstStyle/>
          <a:p>
            <a:endParaRPr lang="nl-NL"/>
          </a:p>
        </p:txBody>
      </p:sp>
      <p:sp>
        <p:nvSpPr>
          <p:cNvPr id="18" name="Shape 16"/>
          <p:cNvSpPr/>
          <p:nvPr/>
        </p:nvSpPr>
        <p:spPr>
          <a:xfrm>
            <a:off x="3927583" y="3255264"/>
            <a:ext cx="34962" cy="1721896"/>
          </a:xfrm>
          <a:prstGeom prst="rect">
            <a:avLst/>
          </a:prstGeom>
          <a:solidFill>
            <a:srgbClr val="82909A"/>
          </a:solidFill>
          <a:ln w="12700">
            <a:solidFill>
              <a:srgbClr val="24282C">
                <a:alpha val="0"/>
              </a:srgbClr>
            </a:solidFill>
            <a:prstDash val="solid"/>
          </a:ln>
        </p:spPr>
        <p:txBody>
          <a:bodyPr/>
          <a:lstStyle/>
          <a:p>
            <a:endParaRPr lang="nl-NL"/>
          </a:p>
        </p:txBody>
      </p:sp>
      <p:sp>
        <p:nvSpPr>
          <p:cNvPr id="19" name="Text 17"/>
          <p:cNvSpPr/>
          <p:nvPr/>
        </p:nvSpPr>
        <p:spPr>
          <a:xfrm>
            <a:off x="4076173" y="3272745"/>
            <a:ext cx="1737192" cy="559398"/>
          </a:xfrm>
          <a:prstGeom prst="rect">
            <a:avLst/>
          </a:prstGeom>
          <a:noFill/>
          <a:ln/>
        </p:spPr>
        <p:txBody>
          <a:bodyPr wrap="square" lIns="0" tIns="0" rIns="0" bIns="0" rtlCol="0" anchor="t">
            <a:normAutofit/>
          </a:bodyPr>
          <a:lstStyle/>
          <a:p>
            <a:pPr marL="0" indent="0" algn="l">
              <a:buNone/>
            </a:pPr>
            <a:r>
              <a:rPr lang="en-US" sz="1721" b="1" dirty="0">
                <a:solidFill>
                  <a:srgbClr val="F5F6F7"/>
                </a:solidFill>
                <a:latin typeface="Arial" pitchFamily="34" charset="0"/>
                <a:ea typeface="Arial" pitchFamily="34" charset="-122"/>
                <a:cs typeface="Arial" pitchFamily="34" charset="-120"/>
              </a:rPr>
              <a:t>Choose</a:t>
            </a:r>
            <a:endParaRPr lang="en-US" sz="1721" dirty="0"/>
          </a:p>
        </p:txBody>
      </p:sp>
      <p:sp>
        <p:nvSpPr>
          <p:cNvPr id="20" name="Text 18"/>
          <p:cNvSpPr/>
          <p:nvPr/>
        </p:nvSpPr>
        <p:spPr>
          <a:xfrm>
            <a:off x="4076173" y="3893327"/>
            <a:ext cx="1737192" cy="1101314"/>
          </a:xfrm>
          <a:prstGeom prst="rect">
            <a:avLst/>
          </a:prstGeom>
          <a:noFill/>
          <a:ln/>
        </p:spPr>
        <p:txBody>
          <a:bodyPr wrap="square" lIns="0" tIns="0" rIns="0" bIns="0" rtlCol="0" anchor="t">
            <a:normAutofit/>
          </a:bodyPr>
          <a:lstStyle/>
          <a:p>
            <a:pPr marL="0" indent="0" algn="l">
              <a:buNone/>
            </a:pPr>
            <a:r>
              <a:rPr lang="en-US" sz="1376" dirty="0">
                <a:solidFill>
                  <a:srgbClr val="BDC4C9"/>
                </a:solidFill>
                <a:latin typeface="Arial" pitchFamily="34" charset="0"/>
                <a:ea typeface="Arial" pitchFamily="34" charset="-122"/>
                <a:cs typeface="Arial" pitchFamily="34" charset="-120"/>
              </a:rPr>
              <a:t>A development objective</a:t>
            </a:r>
            <a:endParaRPr lang="en-US" sz="1376" dirty="0"/>
          </a:p>
        </p:txBody>
      </p:sp>
      <p:sp>
        <p:nvSpPr>
          <p:cNvPr id="21" name="Text 19"/>
          <p:cNvSpPr/>
          <p:nvPr/>
        </p:nvSpPr>
        <p:spPr>
          <a:xfrm>
            <a:off x="4076173" y="2835716"/>
            <a:ext cx="1737192" cy="524435"/>
          </a:xfrm>
          <a:prstGeom prst="rect">
            <a:avLst/>
          </a:prstGeom>
          <a:noFill/>
          <a:ln/>
        </p:spPr>
        <p:txBody>
          <a:bodyPr wrap="square" lIns="0" tIns="0" rIns="0" bIns="0" rtlCol="0" anchor="t">
            <a:normAutofit/>
          </a:bodyPr>
          <a:lstStyle/>
          <a:p>
            <a:pPr marL="0" indent="0" algn="l">
              <a:buNone/>
            </a:pPr>
            <a:r>
              <a:rPr lang="en-US" sz="1239" b="1" dirty="0">
                <a:solidFill>
                  <a:srgbClr val="D71920"/>
                </a:solidFill>
                <a:latin typeface="Arial" pitchFamily="34" charset="0"/>
                <a:ea typeface="Arial" pitchFamily="34" charset="-122"/>
                <a:cs typeface="Arial" pitchFamily="34" charset="-120"/>
              </a:rPr>
              <a:t>02</a:t>
            </a:r>
            <a:endParaRPr lang="en-US" sz="1239" dirty="0"/>
          </a:p>
        </p:txBody>
      </p:sp>
      <p:sp>
        <p:nvSpPr>
          <p:cNvPr id="22" name="Shape 20"/>
          <p:cNvSpPr/>
          <p:nvPr/>
        </p:nvSpPr>
        <p:spPr>
          <a:xfrm>
            <a:off x="5988177" y="4103101"/>
            <a:ext cx="148590" cy="914"/>
          </a:xfrm>
          <a:prstGeom prst="line">
            <a:avLst/>
          </a:prstGeom>
          <a:noFill/>
          <a:ln w="17481">
            <a:solidFill>
              <a:srgbClr val="D71920"/>
            </a:solidFill>
            <a:prstDash val="solid"/>
            <a:tailEnd type="triangle"/>
          </a:ln>
        </p:spPr>
        <p:txBody>
          <a:bodyPr/>
          <a:lstStyle/>
          <a:p>
            <a:endParaRPr lang="nl-NL"/>
          </a:p>
        </p:txBody>
      </p:sp>
      <p:sp>
        <p:nvSpPr>
          <p:cNvPr id="23" name="Shape 21"/>
          <p:cNvSpPr/>
          <p:nvPr/>
        </p:nvSpPr>
        <p:spPr>
          <a:xfrm>
            <a:off x="6162989" y="3132896"/>
            <a:ext cx="2034372" cy="1966632"/>
          </a:xfrm>
          <a:prstGeom prst="roundRect">
            <a:avLst>
              <a:gd name="adj" fmla="val 1860"/>
            </a:avLst>
          </a:prstGeom>
          <a:solidFill>
            <a:srgbClr val="30363B"/>
          </a:solidFill>
          <a:ln w="8890">
            <a:solidFill>
              <a:srgbClr val="48525B"/>
            </a:solidFill>
            <a:prstDash val="solid"/>
          </a:ln>
        </p:spPr>
        <p:txBody>
          <a:bodyPr/>
          <a:lstStyle/>
          <a:p>
            <a:endParaRPr lang="nl-NL"/>
          </a:p>
        </p:txBody>
      </p:sp>
      <p:sp>
        <p:nvSpPr>
          <p:cNvPr id="24" name="Shape 22"/>
          <p:cNvSpPr/>
          <p:nvPr/>
        </p:nvSpPr>
        <p:spPr>
          <a:xfrm>
            <a:off x="6162989" y="3255264"/>
            <a:ext cx="34962" cy="1721896"/>
          </a:xfrm>
          <a:prstGeom prst="rect">
            <a:avLst/>
          </a:prstGeom>
          <a:solidFill>
            <a:srgbClr val="82909A"/>
          </a:solidFill>
          <a:ln w="12700">
            <a:solidFill>
              <a:srgbClr val="24282C">
                <a:alpha val="0"/>
              </a:srgbClr>
            </a:solidFill>
            <a:prstDash val="solid"/>
          </a:ln>
        </p:spPr>
        <p:txBody>
          <a:bodyPr/>
          <a:lstStyle/>
          <a:p>
            <a:endParaRPr lang="nl-NL"/>
          </a:p>
        </p:txBody>
      </p:sp>
      <p:sp>
        <p:nvSpPr>
          <p:cNvPr id="25" name="Text 23"/>
          <p:cNvSpPr/>
          <p:nvPr/>
        </p:nvSpPr>
        <p:spPr>
          <a:xfrm>
            <a:off x="6311579" y="3272745"/>
            <a:ext cx="1737192" cy="559398"/>
          </a:xfrm>
          <a:prstGeom prst="rect">
            <a:avLst/>
          </a:prstGeom>
          <a:noFill/>
          <a:ln/>
        </p:spPr>
        <p:txBody>
          <a:bodyPr wrap="square" lIns="0" tIns="0" rIns="0" bIns="0" rtlCol="0" anchor="t">
            <a:normAutofit/>
          </a:bodyPr>
          <a:lstStyle/>
          <a:p>
            <a:pPr marL="0" indent="0" algn="l">
              <a:buNone/>
            </a:pPr>
            <a:r>
              <a:rPr lang="en-US" sz="1721" b="1" dirty="0">
                <a:solidFill>
                  <a:srgbClr val="F5F6F7"/>
                </a:solidFill>
                <a:latin typeface="Arial" pitchFamily="34" charset="0"/>
                <a:ea typeface="Arial" pitchFamily="34" charset="-122"/>
                <a:cs typeface="Arial" pitchFamily="34" charset="-120"/>
              </a:rPr>
              <a:t>Implement</a:t>
            </a:r>
            <a:endParaRPr lang="en-US" sz="1721" dirty="0"/>
          </a:p>
        </p:txBody>
      </p:sp>
      <p:sp>
        <p:nvSpPr>
          <p:cNvPr id="26" name="Text 24"/>
          <p:cNvSpPr/>
          <p:nvPr/>
        </p:nvSpPr>
        <p:spPr>
          <a:xfrm>
            <a:off x="6311579" y="3893327"/>
            <a:ext cx="1737192" cy="1101314"/>
          </a:xfrm>
          <a:prstGeom prst="rect">
            <a:avLst/>
          </a:prstGeom>
          <a:noFill/>
          <a:ln/>
        </p:spPr>
        <p:txBody>
          <a:bodyPr wrap="square" lIns="0" tIns="0" rIns="0" bIns="0" rtlCol="0" anchor="t">
            <a:normAutofit/>
          </a:bodyPr>
          <a:lstStyle/>
          <a:p>
            <a:pPr marL="0" indent="0" algn="l">
              <a:buNone/>
            </a:pPr>
            <a:r>
              <a:rPr lang="en-US" sz="1376" dirty="0">
                <a:solidFill>
                  <a:srgbClr val="BDC4C9"/>
                </a:solidFill>
                <a:latin typeface="Arial" pitchFamily="34" charset="0"/>
                <a:ea typeface="Arial" pitchFamily="34" charset="-122"/>
                <a:cs typeface="Arial" pitchFamily="34" charset="-120"/>
              </a:rPr>
              <a:t>Milestones and evidence</a:t>
            </a:r>
            <a:endParaRPr lang="en-US" sz="1376" dirty="0"/>
          </a:p>
        </p:txBody>
      </p:sp>
      <p:sp>
        <p:nvSpPr>
          <p:cNvPr id="27" name="Text 25"/>
          <p:cNvSpPr/>
          <p:nvPr/>
        </p:nvSpPr>
        <p:spPr>
          <a:xfrm>
            <a:off x="6311579" y="2835716"/>
            <a:ext cx="1737192" cy="524435"/>
          </a:xfrm>
          <a:prstGeom prst="rect">
            <a:avLst/>
          </a:prstGeom>
          <a:noFill/>
          <a:ln/>
        </p:spPr>
        <p:txBody>
          <a:bodyPr wrap="square" lIns="0" tIns="0" rIns="0" bIns="0" rtlCol="0" anchor="t">
            <a:normAutofit/>
          </a:bodyPr>
          <a:lstStyle/>
          <a:p>
            <a:pPr marL="0" indent="0" algn="l">
              <a:buNone/>
            </a:pPr>
            <a:r>
              <a:rPr lang="en-US" sz="1239" b="1" dirty="0">
                <a:solidFill>
                  <a:srgbClr val="D71920"/>
                </a:solidFill>
                <a:latin typeface="Arial" pitchFamily="34" charset="0"/>
                <a:ea typeface="Arial" pitchFamily="34" charset="-122"/>
                <a:cs typeface="Arial" pitchFamily="34" charset="-120"/>
              </a:rPr>
              <a:t>03</a:t>
            </a:r>
            <a:endParaRPr lang="en-US" sz="1239" dirty="0"/>
          </a:p>
        </p:txBody>
      </p:sp>
      <p:sp>
        <p:nvSpPr>
          <p:cNvPr id="28" name="Shape 26"/>
          <p:cNvSpPr/>
          <p:nvPr/>
        </p:nvSpPr>
        <p:spPr>
          <a:xfrm>
            <a:off x="8223582" y="4103101"/>
            <a:ext cx="148590" cy="914"/>
          </a:xfrm>
          <a:prstGeom prst="line">
            <a:avLst/>
          </a:prstGeom>
          <a:noFill/>
          <a:ln w="17481">
            <a:solidFill>
              <a:srgbClr val="D71920"/>
            </a:solidFill>
            <a:prstDash val="solid"/>
            <a:tailEnd type="triangle"/>
          </a:ln>
        </p:spPr>
        <p:txBody>
          <a:bodyPr/>
          <a:lstStyle/>
          <a:p>
            <a:endParaRPr lang="nl-NL"/>
          </a:p>
        </p:txBody>
      </p:sp>
      <p:sp>
        <p:nvSpPr>
          <p:cNvPr id="29" name="Shape 27"/>
          <p:cNvSpPr/>
          <p:nvPr/>
        </p:nvSpPr>
        <p:spPr>
          <a:xfrm>
            <a:off x="8398394" y="3132896"/>
            <a:ext cx="2034372" cy="1966632"/>
          </a:xfrm>
          <a:prstGeom prst="roundRect">
            <a:avLst>
              <a:gd name="adj" fmla="val 1860"/>
            </a:avLst>
          </a:prstGeom>
          <a:solidFill>
            <a:srgbClr val="383F44"/>
          </a:solidFill>
          <a:ln w="8890">
            <a:solidFill>
              <a:srgbClr val="D71920"/>
            </a:solidFill>
            <a:prstDash val="solid"/>
          </a:ln>
        </p:spPr>
        <p:txBody>
          <a:bodyPr/>
          <a:lstStyle/>
          <a:p>
            <a:endParaRPr lang="nl-NL"/>
          </a:p>
        </p:txBody>
      </p:sp>
      <p:sp>
        <p:nvSpPr>
          <p:cNvPr id="30" name="Shape 28"/>
          <p:cNvSpPr/>
          <p:nvPr/>
        </p:nvSpPr>
        <p:spPr>
          <a:xfrm>
            <a:off x="8398394" y="3255264"/>
            <a:ext cx="34962" cy="1721896"/>
          </a:xfrm>
          <a:prstGeom prst="rect">
            <a:avLst/>
          </a:prstGeom>
          <a:solidFill>
            <a:srgbClr val="D71920"/>
          </a:solidFill>
          <a:ln w="12700">
            <a:solidFill>
              <a:srgbClr val="24282C">
                <a:alpha val="0"/>
              </a:srgbClr>
            </a:solidFill>
            <a:prstDash val="solid"/>
          </a:ln>
        </p:spPr>
        <p:txBody>
          <a:bodyPr/>
          <a:lstStyle/>
          <a:p>
            <a:endParaRPr lang="nl-NL"/>
          </a:p>
        </p:txBody>
      </p:sp>
      <p:sp>
        <p:nvSpPr>
          <p:cNvPr id="31" name="Text 29"/>
          <p:cNvSpPr/>
          <p:nvPr/>
        </p:nvSpPr>
        <p:spPr>
          <a:xfrm>
            <a:off x="8546984" y="3272745"/>
            <a:ext cx="1737192" cy="559398"/>
          </a:xfrm>
          <a:prstGeom prst="rect">
            <a:avLst/>
          </a:prstGeom>
          <a:noFill/>
          <a:ln/>
        </p:spPr>
        <p:txBody>
          <a:bodyPr wrap="square" lIns="0" tIns="0" rIns="0" bIns="0" rtlCol="0" anchor="t">
            <a:normAutofit/>
          </a:bodyPr>
          <a:lstStyle/>
          <a:p>
            <a:pPr marL="0" indent="0" algn="l">
              <a:buNone/>
            </a:pPr>
            <a:r>
              <a:rPr lang="en-US" sz="1721" b="1" dirty="0">
                <a:solidFill>
                  <a:srgbClr val="F5F6F7"/>
                </a:solidFill>
                <a:latin typeface="Arial" pitchFamily="34" charset="0"/>
                <a:ea typeface="Arial" pitchFamily="34" charset="-122"/>
                <a:cs typeface="Arial" pitchFamily="34" charset="-120"/>
              </a:rPr>
              <a:t>Review</a:t>
            </a:r>
            <a:endParaRPr lang="en-US" sz="1721" dirty="0"/>
          </a:p>
        </p:txBody>
      </p:sp>
      <p:sp>
        <p:nvSpPr>
          <p:cNvPr id="32" name="Text 30"/>
          <p:cNvSpPr/>
          <p:nvPr/>
        </p:nvSpPr>
        <p:spPr>
          <a:xfrm>
            <a:off x="8546984" y="3893327"/>
            <a:ext cx="1737192" cy="1101314"/>
          </a:xfrm>
          <a:prstGeom prst="rect">
            <a:avLst/>
          </a:prstGeom>
          <a:noFill/>
          <a:ln/>
        </p:spPr>
        <p:txBody>
          <a:bodyPr wrap="square" lIns="0" tIns="0" rIns="0" bIns="0" rtlCol="0" anchor="t">
            <a:normAutofit/>
          </a:bodyPr>
          <a:lstStyle/>
          <a:p>
            <a:pPr marL="0" indent="0" algn="l">
              <a:buNone/>
            </a:pPr>
            <a:r>
              <a:rPr lang="en-US" sz="1376" dirty="0">
                <a:solidFill>
                  <a:srgbClr val="BDC4C9"/>
                </a:solidFill>
                <a:latin typeface="Arial" pitchFamily="34" charset="0"/>
                <a:ea typeface="Arial" pitchFamily="34" charset="-122"/>
                <a:cs typeface="Arial" pitchFamily="34" charset="-120"/>
              </a:rPr>
              <a:t>Usefulness and next steps</a:t>
            </a:r>
            <a:endParaRPr lang="en-US" sz="1376" dirty="0"/>
          </a:p>
        </p:txBody>
      </p:sp>
      <p:sp>
        <p:nvSpPr>
          <p:cNvPr id="33" name="Text 31"/>
          <p:cNvSpPr/>
          <p:nvPr/>
        </p:nvSpPr>
        <p:spPr>
          <a:xfrm>
            <a:off x="8546984" y="2835716"/>
            <a:ext cx="1737192" cy="524435"/>
          </a:xfrm>
          <a:prstGeom prst="rect">
            <a:avLst/>
          </a:prstGeom>
          <a:noFill/>
          <a:ln/>
        </p:spPr>
        <p:txBody>
          <a:bodyPr wrap="square" lIns="0" tIns="0" rIns="0" bIns="0" rtlCol="0" anchor="t">
            <a:normAutofit/>
          </a:bodyPr>
          <a:lstStyle/>
          <a:p>
            <a:pPr marL="0" indent="0" algn="l">
              <a:buNone/>
            </a:pPr>
            <a:r>
              <a:rPr lang="en-US" sz="1239" b="1" dirty="0">
                <a:solidFill>
                  <a:srgbClr val="D71920"/>
                </a:solidFill>
                <a:latin typeface="Arial" pitchFamily="34" charset="0"/>
                <a:ea typeface="Arial" pitchFamily="34" charset="-122"/>
                <a:cs typeface="Arial" pitchFamily="34" charset="-120"/>
              </a:rPr>
              <a:t>04</a:t>
            </a:r>
            <a:endParaRPr lang="en-US" sz="1239" dirty="0"/>
          </a:p>
        </p:txBody>
      </p:sp>
      <p:sp>
        <p:nvSpPr>
          <p:cNvPr id="34" name="Text 32"/>
          <p:cNvSpPr/>
          <p:nvPr/>
        </p:nvSpPr>
        <p:spPr>
          <a:xfrm>
            <a:off x="548640" y="5678424"/>
            <a:ext cx="10954512" cy="219456"/>
          </a:xfrm>
          <a:prstGeom prst="rect">
            <a:avLst/>
          </a:prstGeom>
          <a:noFill/>
          <a:ln/>
        </p:spPr>
        <p:txBody>
          <a:bodyPr wrap="square" lIns="0" tIns="0" rIns="0" bIns="0" rtlCol="0" anchor="t">
            <a:normAutofit/>
          </a:bodyPr>
          <a:lstStyle/>
          <a:p>
            <a:pPr marL="0" indent="0" algn="l">
              <a:buNone/>
            </a:pPr>
            <a:r>
              <a:rPr lang="en-US" sz="840" dirty="0">
                <a:solidFill>
                  <a:srgbClr val="BDC4C9"/>
                </a:solidFill>
                <a:latin typeface="Arial" pitchFamily="34" charset="0"/>
                <a:ea typeface="Arial" pitchFamily="34" charset="-122"/>
                <a:cs typeface="Arial" pitchFamily="34" charset="-120"/>
              </a:rPr>
              <a:t>Proposed sequence / each stage retains its own evidence and decision.</a:t>
            </a:r>
            <a:endParaRPr lang="en-US" sz="840" dirty="0"/>
          </a:p>
        </p:txBody>
      </p:sp>
      <p:sp>
        <p:nvSpPr>
          <p:cNvPr id="35" name="Text 33"/>
          <p:cNvSpPr/>
          <p:nvPr/>
        </p:nvSpPr>
        <p:spPr>
          <a:xfrm>
            <a:off x="603504" y="5925312"/>
            <a:ext cx="10917936" cy="347472"/>
          </a:xfrm>
          <a:prstGeom prst="rect">
            <a:avLst/>
          </a:prstGeom>
          <a:noFill/>
          <a:ln/>
        </p:spPr>
        <p:txBody>
          <a:bodyPr wrap="square" lIns="0" tIns="0" rIns="0" bIns="0" rtlCol="0" anchor="t">
            <a:normAutofit/>
          </a:bodyPr>
          <a:lstStyle/>
          <a:p>
            <a:pPr marL="0" indent="0" algn="l">
              <a:buNone/>
            </a:pPr>
            <a:r>
              <a:rPr lang="en-US" sz="1320" dirty="0">
                <a:solidFill>
                  <a:srgbClr val="F5F6F7"/>
                </a:solidFill>
                <a:latin typeface="Arial" pitchFamily="34" charset="0"/>
                <a:ea typeface="Arial" pitchFamily="34" charset="-122"/>
                <a:cs typeface="Arial" pitchFamily="34" charset="-120"/>
              </a:rPr>
              <a:t>Progress is then visible through dated actions and evidence.</a:t>
            </a:r>
            <a:endParaRPr lang="en-US" sz="13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4282C"/>
        </a:solidFill>
        <a:effectLst/>
      </p:bgPr>
    </p:bg>
    <p:spTree>
      <p:nvGrpSpPr>
        <p:cNvPr id="1" name=""/>
        <p:cNvGrpSpPr/>
        <p:nvPr/>
      </p:nvGrpSpPr>
      <p:grpSpPr>
        <a:xfrm>
          <a:off x="0" y="0"/>
          <a:ext cx="0" cy="0"/>
          <a:chOff x="0" y="0"/>
          <a:chExt cx="0" cy="0"/>
        </a:xfrm>
      </p:grpSpPr>
      <p:sp>
        <p:nvSpPr>
          <p:cNvPr id="2" name="Text 0"/>
          <p:cNvSpPr/>
          <p:nvPr/>
        </p:nvSpPr>
        <p:spPr>
          <a:xfrm>
            <a:off x="484632" y="173736"/>
            <a:ext cx="2743200" cy="201168"/>
          </a:xfrm>
          <a:prstGeom prst="rect">
            <a:avLst/>
          </a:prstGeom>
          <a:noFill/>
          <a:ln/>
        </p:spPr>
        <p:txBody>
          <a:bodyPr wrap="square" lIns="0" tIns="0" rIns="0" bIns="0" rtlCol="0" anchor="t">
            <a:normAutofit/>
          </a:bodyPr>
          <a:lstStyle/>
          <a:p>
            <a:pPr marL="0" indent="0" algn="l">
              <a:buNone/>
            </a:pPr>
            <a:r>
              <a:rPr lang="en-US" sz="1000" b="1" dirty="0">
                <a:solidFill>
                  <a:srgbClr val="F5F6F7"/>
                </a:solidFill>
                <a:latin typeface="Arial" pitchFamily="34" charset="0"/>
                <a:ea typeface="Arial" pitchFamily="34" charset="-122"/>
                <a:cs typeface="Arial" pitchFamily="34" charset="-120"/>
              </a:rPr>
              <a:t>ISUZU / UNIVERSE</a:t>
            </a:r>
            <a:endParaRPr lang="en-US" sz="1000" dirty="0"/>
          </a:p>
        </p:txBody>
      </p:sp>
      <p:sp>
        <p:nvSpPr>
          <p:cNvPr id="3" name="Text 1"/>
          <p:cNvSpPr/>
          <p:nvPr/>
        </p:nvSpPr>
        <p:spPr>
          <a:xfrm>
            <a:off x="8046720" y="173736"/>
            <a:ext cx="3657600" cy="201168"/>
          </a:xfrm>
          <a:prstGeom prst="rect">
            <a:avLst/>
          </a:prstGeom>
          <a:noFill/>
          <a:ln/>
        </p:spPr>
        <p:txBody>
          <a:bodyPr wrap="square" lIns="0" tIns="0" rIns="0" bIns="0" rtlCol="0" anchor="t">
            <a:normAutofit/>
          </a:bodyPr>
          <a:lstStyle/>
          <a:p>
            <a:pPr marL="0" indent="0" algn="r">
              <a:buNone/>
            </a:pPr>
            <a:r>
              <a:rPr lang="en-US" sz="900" dirty="0">
                <a:solidFill>
                  <a:srgbClr val="BDC4C9"/>
                </a:solidFill>
                <a:latin typeface="Arial" pitchFamily="34" charset="0"/>
                <a:ea typeface="Arial" pitchFamily="34" charset="-122"/>
                <a:cs typeface="Arial" pitchFamily="34" charset="-120"/>
              </a:rPr>
              <a:t>COMMERCIAL VISION  /  3.0</a:t>
            </a:r>
            <a:endParaRPr lang="en-US" sz="900" dirty="0"/>
          </a:p>
        </p:txBody>
      </p:sp>
      <p:sp>
        <p:nvSpPr>
          <p:cNvPr id="4" name="Shape 2"/>
          <p:cNvSpPr/>
          <p:nvPr/>
        </p:nvSpPr>
        <p:spPr>
          <a:xfrm>
            <a:off x="484632" y="512064"/>
            <a:ext cx="475488" cy="22860"/>
          </a:xfrm>
          <a:prstGeom prst="rect">
            <a:avLst/>
          </a:prstGeom>
          <a:solidFill>
            <a:srgbClr val="D71920"/>
          </a:solidFill>
          <a:ln w="12700">
            <a:solidFill>
              <a:srgbClr val="D71920">
                <a:alpha val="0"/>
              </a:srgbClr>
            </a:solidFill>
            <a:prstDash val="solid"/>
          </a:ln>
        </p:spPr>
        <p:txBody>
          <a:bodyPr/>
          <a:lstStyle/>
          <a:p>
            <a:endParaRPr lang="nl-NL"/>
          </a:p>
        </p:txBody>
      </p:sp>
      <p:sp>
        <p:nvSpPr>
          <p:cNvPr id="5" name="Text 3"/>
          <p:cNvSpPr/>
          <p:nvPr/>
        </p:nvSpPr>
        <p:spPr>
          <a:xfrm>
            <a:off x="484632" y="658368"/>
            <a:ext cx="11064240" cy="219456"/>
          </a:xfrm>
          <a:prstGeom prst="rect">
            <a:avLst/>
          </a:prstGeom>
          <a:noFill/>
          <a:ln/>
        </p:spPr>
        <p:txBody>
          <a:bodyPr wrap="square" lIns="0" tIns="0" rIns="0" bIns="0" rtlCol="0" anchor="t">
            <a:normAutofit/>
          </a:bodyPr>
          <a:lstStyle/>
          <a:p>
            <a:pPr marL="0" indent="0" algn="l">
              <a:buNone/>
            </a:pPr>
            <a:r>
              <a:rPr lang="en-US" sz="1000" b="1" dirty="0">
                <a:solidFill>
                  <a:srgbClr val="D71920"/>
                </a:solidFill>
                <a:latin typeface="Arial" pitchFamily="34" charset="0"/>
                <a:ea typeface="Arial" pitchFamily="34" charset="-122"/>
                <a:cs typeface="Arial" pitchFamily="34" charset="-120"/>
              </a:rPr>
              <a:t>IDS / EXPLORE</a:t>
            </a:r>
            <a:endParaRPr lang="en-US" sz="1000" dirty="0"/>
          </a:p>
        </p:txBody>
      </p:sp>
      <p:sp>
        <p:nvSpPr>
          <p:cNvPr id="6" name="Shape 4"/>
          <p:cNvSpPr/>
          <p:nvPr/>
        </p:nvSpPr>
        <p:spPr>
          <a:xfrm>
            <a:off x="484632" y="6446520"/>
            <a:ext cx="11219688" cy="914"/>
          </a:xfrm>
          <a:prstGeom prst="line">
            <a:avLst/>
          </a:prstGeom>
          <a:noFill/>
          <a:ln w="6350">
            <a:solidFill>
              <a:srgbClr val="647078"/>
            </a:solidFill>
            <a:prstDash val="solid"/>
          </a:ln>
        </p:spPr>
        <p:txBody>
          <a:bodyPr/>
          <a:lstStyle/>
          <a:p>
            <a:endParaRPr lang="nl-NL"/>
          </a:p>
        </p:txBody>
      </p:sp>
      <p:sp>
        <p:nvSpPr>
          <p:cNvPr id="7" name="Text 5"/>
          <p:cNvSpPr/>
          <p:nvPr/>
        </p:nvSpPr>
        <p:spPr>
          <a:xfrm>
            <a:off x="484632" y="6556248"/>
            <a:ext cx="9144000" cy="146304"/>
          </a:xfrm>
          <a:prstGeom prst="rect">
            <a:avLst/>
          </a:prstGeom>
          <a:noFill/>
          <a:ln/>
        </p:spPr>
        <p:txBody>
          <a:bodyPr wrap="square" lIns="0" tIns="0" rIns="0" bIns="0" rtlCol="0" anchor="t">
            <a:normAutofit/>
          </a:bodyPr>
          <a:lstStyle/>
          <a:p>
            <a:pPr marL="0" indent="0" algn="l">
              <a:buNone/>
            </a:pPr>
            <a:r>
              <a:rPr lang="en-US" sz="750" dirty="0">
                <a:solidFill>
                  <a:srgbClr val="BDC4C9"/>
                </a:solidFill>
                <a:latin typeface="Arial" pitchFamily="34" charset="0"/>
                <a:ea typeface="Arial" pitchFamily="34" charset="-122"/>
                <a:cs typeface="Arial" pitchFamily="34" charset="-120"/>
              </a:rPr>
              <a:t>22 SEPTEMBER 2026  /  CONCEPT AND APPLICATION EXAMPLES</a:t>
            </a:r>
            <a:endParaRPr lang="en-US" sz="750" dirty="0"/>
          </a:p>
        </p:txBody>
      </p:sp>
      <p:sp>
        <p:nvSpPr>
          <p:cNvPr id="8" name="Text 6"/>
          <p:cNvSpPr/>
          <p:nvPr/>
        </p:nvSpPr>
        <p:spPr>
          <a:xfrm>
            <a:off x="10789920" y="6547104"/>
            <a:ext cx="914400" cy="173736"/>
          </a:xfrm>
          <a:prstGeom prst="rect">
            <a:avLst/>
          </a:prstGeom>
          <a:noFill/>
          <a:ln/>
        </p:spPr>
        <p:txBody>
          <a:bodyPr wrap="square" lIns="0" tIns="0" rIns="0" bIns="0" rtlCol="0" anchor="t">
            <a:normAutofit/>
          </a:bodyPr>
          <a:lstStyle/>
          <a:p>
            <a:pPr marL="0" indent="0" algn="r">
              <a:buNone/>
            </a:pPr>
            <a:r>
              <a:rPr lang="en-US" sz="850" dirty="0">
                <a:solidFill>
                  <a:srgbClr val="BDC4C9"/>
                </a:solidFill>
                <a:latin typeface="Arial" pitchFamily="34" charset="0"/>
                <a:ea typeface="Arial" pitchFamily="34" charset="-122"/>
                <a:cs typeface="Arial" pitchFamily="34" charset="-120"/>
              </a:rPr>
              <a:t>14 / 49</a:t>
            </a:r>
            <a:endParaRPr lang="en-US" sz="850" dirty="0"/>
          </a:p>
        </p:txBody>
      </p:sp>
      <p:sp>
        <p:nvSpPr>
          <p:cNvPr id="9" name="Text 7"/>
          <p:cNvSpPr/>
          <p:nvPr/>
        </p:nvSpPr>
        <p:spPr>
          <a:xfrm>
            <a:off x="502920" y="1005840"/>
            <a:ext cx="11036808" cy="841248"/>
          </a:xfrm>
          <a:prstGeom prst="rect">
            <a:avLst/>
          </a:prstGeom>
          <a:noFill/>
          <a:ln/>
        </p:spPr>
        <p:txBody>
          <a:bodyPr wrap="square" lIns="0" tIns="0" rIns="0" bIns="0" rtlCol="0" anchor="t">
            <a:normAutofit/>
          </a:bodyPr>
          <a:lstStyle/>
          <a:p>
            <a:pPr marL="0" indent="0" algn="l">
              <a:buNone/>
            </a:pPr>
            <a:r>
              <a:rPr lang="en-US" sz="3400" b="1" dirty="0">
                <a:solidFill>
                  <a:srgbClr val="F5F6F7"/>
                </a:solidFill>
                <a:latin typeface="Arial" pitchFamily="34" charset="0"/>
                <a:ea typeface="Arial" pitchFamily="34" charset="-122"/>
                <a:cs typeface="Arial" pitchFamily="34" charset="-120"/>
              </a:rPr>
              <a:t>Start with the dealer's actual assessment.</a:t>
            </a:r>
            <a:endParaRPr lang="en-US" sz="3400" dirty="0"/>
          </a:p>
        </p:txBody>
      </p:sp>
      <p:sp>
        <p:nvSpPr>
          <p:cNvPr id="10" name="Text 8"/>
          <p:cNvSpPr/>
          <p:nvPr/>
        </p:nvSpPr>
        <p:spPr>
          <a:xfrm>
            <a:off x="530352" y="1865376"/>
            <a:ext cx="10954512" cy="566928"/>
          </a:xfrm>
          <a:prstGeom prst="rect">
            <a:avLst/>
          </a:prstGeom>
          <a:noFill/>
          <a:ln/>
        </p:spPr>
        <p:txBody>
          <a:bodyPr wrap="square" lIns="0" tIns="0" rIns="0" bIns="0" rtlCol="0" anchor="t">
            <a:normAutofit/>
          </a:bodyPr>
          <a:lstStyle/>
          <a:p>
            <a:pPr marL="0" indent="0" algn="l">
              <a:buNone/>
            </a:pPr>
            <a:r>
              <a:rPr lang="en-US" sz="1800" dirty="0">
                <a:solidFill>
                  <a:srgbClr val="BDC4C9"/>
                </a:solidFill>
                <a:latin typeface="Arial" pitchFamily="34" charset="0"/>
                <a:ea typeface="Arial" pitchFamily="34" charset="-122"/>
                <a:cs typeface="Arial" pitchFamily="34" charset="-120"/>
              </a:rPr>
              <a:t>Keep the questionnaire, original wording and available date visible.</a:t>
            </a:r>
            <a:endParaRPr lang="en-US" sz="1800" dirty="0"/>
          </a:p>
        </p:txBody>
      </p:sp>
      <p:sp>
        <p:nvSpPr>
          <p:cNvPr id="11" name="Shape 9"/>
          <p:cNvSpPr/>
          <p:nvPr/>
        </p:nvSpPr>
        <p:spPr>
          <a:xfrm>
            <a:off x="1817043" y="2966575"/>
            <a:ext cx="2683111" cy="2343477"/>
          </a:xfrm>
          <a:prstGeom prst="roundRect">
            <a:avLst>
              <a:gd name="adj" fmla="val 1561"/>
            </a:avLst>
          </a:prstGeom>
          <a:solidFill>
            <a:srgbClr val="383F44"/>
          </a:solidFill>
          <a:ln w="8890">
            <a:solidFill>
              <a:srgbClr val="D71920"/>
            </a:solidFill>
            <a:prstDash val="solid"/>
          </a:ln>
        </p:spPr>
        <p:txBody>
          <a:bodyPr/>
          <a:lstStyle/>
          <a:p>
            <a:endParaRPr lang="nl-NL"/>
          </a:p>
        </p:txBody>
      </p:sp>
      <p:sp>
        <p:nvSpPr>
          <p:cNvPr id="12" name="Shape 10"/>
          <p:cNvSpPr/>
          <p:nvPr/>
        </p:nvSpPr>
        <p:spPr>
          <a:xfrm>
            <a:off x="1817043" y="3085447"/>
            <a:ext cx="33963" cy="2105733"/>
          </a:xfrm>
          <a:prstGeom prst="rect">
            <a:avLst/>
          </a:prstGeom>
          <a:solidFill>
            <a:srgbClr val="D71920"/>
          </a:solidFill>
          <a:ln w="12700">
            <a:solidFill>
              <a:srgbClr val="24282C">
                <a:alpha val="0"/>
              </a:srgbClr>
            </a:solidFill>
            <a:prstDash val="solid"/>
          </a:ln>
        </p:spPr>
        <p:txBody>
          <a:bodyPr/>
          <a:lstStyle/>
          <a:p>
            <a:endParaRPr lang="nl-NL"/>
          </a:p>
        </p:txBody>
      </p:sp>
      <p:sp>
        <p:nvSpPr>
          <p:cNvPr id="13" name="Text 11"/>
          <p:cNvSpPr/>
          <p:nvPr/>
        </p:nvSpPr>
        <p:spPr>
          <a:xfrm>
            <a:off x="1961388" y="3102429"/>
            <a:ext cx="2394422" cy="543415"/>
          </a:xfrm>
          <a:prstGeom prst="rect">
            <a:avLst/>
          </a:prstGeom>
          <a:noFill/>
          <a:ln/>
        </p:spPr>
        <p:txBody>
          <a:bodyPr wrap="square" lIns="0" tIns="0" rIns="0" bIns="0" rtlCol="0" anchor="t">
            <a:normAutofit/>
          </a:bodyPr>
          <a:lstStyle/>
          <a:p>
            <a:pPr marL="0" indent="0" algn="l">
              <a:buNone/>
            </a:pPr>
            <a:r>
              <a:rPr lang="en-US" sz="1671" b="1" dirty="0">
                <a:solidFill>
                  <a:srgbClr val="F5F6F7"/>
                </a:solidFill>
                <a:latin typeface="Arial" pitchFamily="34" charset="0"/>
                <a:ea typeface="Arial" pitchFamily="34" charset="-122"/>
                <a:cs typeface="Arial" pitchFamily="34" charset="-120"/>
              </a:rPr>
              <a:t>Section view</a:t>
            </a:r>
            <a:endParaRPr lang="en-US" sz="1671" dirty="0"/>
          </a:p>
        </p:txBody>
      </p:sp>
      <p:sp>
        <p:nvSpPr>
          <p:cNvPr id="14" name="Text 12"/>
          <p:cNvSpPr/>
          <p:nvPr/>
        </p:nvSpPr>
        <p:spPr>
          <a:xfrm>
            <a:off x="1961388" y="3705279"/>
            <a:ext cx="2394422" cy="1502882"/>
          </a:xfrm>
          <a:prstGeom prst="rect">
            <a:avLst/>
          </a:prstGeom>
          <a:noFill/>
          <a:ln/>
        </p:spPr>
        <p:txBody>
          <a:bodyPr wrap="square" lIns="0" tIns="0" rIns="0" bIns="0" rtlCol="0" anchor="t">
            <a:normAutofit/>
          </a:bodyPr>
          <a:lstStyle/>
          <a:p>
            <a:pPr marL="0" indent="0" algn="l">
              <a:buNone/>
            </a:pPr>
            <a:r>
              <a:rPr lang="en-US" sz="1337" dirty="0">
                <a:solidFill>
                  <a:srgbClr val="BDC4C9"/>
                </a:solidFill>
                <a:latin typeface="Arial" pitchFamily="34" charset="0"/>
                <a:ea typeface="Arial" pitchFamily="34" charset="-122"/>
                <a:cs typeface="Arial" pitchFamily="34" charset="-120"/>
              </a:rPr>
              <a:t>Locate relevant topics in the actual questionnaire.</a:t>
            </a:r>
            <a:endParaRPr lang="en-US" sz="1337" dirty="0"/>
          </a:p>
        </p:txBody>
      </p:sp>
      <p:sp>
        <p:nvSpPr>
          <p:cNvPr id="15" name="Shape 13"/>
          <p:cNvSpPr/>
          <p:nvPr/>
        </p:nvSpPr>
        <p:spPr>
          <a:xfrm>
            <a:off x="4720917" y="2966575"/>
            <a:ext cx="2683111" cy="2343477"/>
          </a:xfrm>
          <a:prstGeom prst="roundRect">
            <a:avLst>
              <a:gd name="adj" fmla="val 1561"/>
            </a:avLst>
          </a:prstGeom>
          <a:solidFill>
            <a:srgbClr val="30363B"/>
          </a:solidFill>
          <a:ln w="8890">
            <a:solidFill>
              <a:srgbClr val="48525B"/>
            </a:solidFill>
            <a:prstDash val="solid"/>
          </a:ln>
        </p:spPr>
        <p:txBody>
          <a:bodyPr/>
          <a:lstStyle/>
          <a:p>
            <a:endParaRPr lang="nl-NL"/>
          </a:p>
        </p:txBody>
      </p:sp>
      <p:sp>
        <p:nvSpPr>
          <p:cNvPr id="16" name="Shape 14"/>
          <p:cNvSpPr/>
          <p:nvPr/>
        </p:nvSpPr>
        <p:spPr>
          <a:xfrm>
            <a:off x="4720917" y="3085447"/>
            <a:ext cx="33963" cy="2105733"/>
          </a:xfrm>
          <a:prstGeom prst="rect">
            <a:avLst/>
          </a:prstGeom>
          <a:solidFill>
            <a:srgbClr val="82909A"/>
          </a:solidFill>
          <a:ln w="12700">
            <a:solidFill>
              <a:srgbClr val="24282C">
                <a:alpha val="0"/>
              </a:srgbClr>
            </a:solidFill>
            <a:prstDash val="solid"/>
          </a:ln>
        </p:spPr>
        <p:txBody>
          <a:bodyPr/>
          <a:lstStyle/>
          <a:p>
            <a:endParaRPr lang="nl-NL"/>
          </a:p>
        </p:txBody>
      </p:sp>
      <p:sp>
        <p:nvSpPr>
          <p:cNvPr id="17" name="Text 15"/>
          <p:cNvSpPr/>
          <p:nvPr/>
        </p:nvSpPr>
        <p:spPr>
          <a:xfrm>
            <a:off x="4865261" y="3102429"/>
            <a:ext cx="2394422" cy="543415"/>
          </a:xfrm>
          <a:prstGeom prst="rect">
            <a:avLst/>
          </a:prstGeom>
          <a:noFill/>
          <a:ln/>
        </p:spPr>
        <p:txBody>
          <a:bodyPr wrap="square" lIns="0" tIns="0" rIns="0" bIns="0" rtlCol="0" anchor="t">
            <a:normAutofit/>
          </a:bodyPr>
          <a:lstStyle/>
          <a:p>
            <a:pPr marL="0" indent="0" algn="l">
              <a:buNone/>
            </a:pPr>
            <a:r>
              <a:rPr lang="en-US" sz="1671" b="1" dirty="0">
                <a:solidFill>
                  <a:srgbClr val="F5F6F7"/>
                </a:solidFill>
                <a:latin typeface="Arial" pitchFamily="34" charset="0"/>
                <a:ea typeface="Arial" pitchFamily="34" charset="-122"/>
                <a:cs typeface="Arial" pitchFamily="34" charset="-120"/>
              </a:rPr>
              <a:t>Question view</a:t>
            </a:r>
            <a:endParaRPr lang="en-US" sz="1671" dirty="0"/>
          </a:p>
        </p:txBody>
      </p:sp>
      <p:sp>
        <p:nvSpPr>
          <p:cNvPr id="18" name="Text 16"/>
          <p:cNvSpPr/>
          <p:nvPr/>
        </p:nvSpPr>
        <p:spPr>
          <a:xfrm>
            <a:off x="4865261" y="3705279"/>
            <a:ext cx="2394422" cy="1502882"/>
          </a:xfrm>
          <a:prstGeom prst="rect">
            <a:avLst/>
          </a:prstGeom>
          <a:noFill/>
          <a:ln/>
        </p:spPr>
        <p:txBody>
          <a:bodyPr wrap="square" lIns="0" tIns="0" rIns="0" bIns="0" rtlCol="0" anchor="t">
            <a:normAutofit/>
          </a:bodyPr>
          <a:lstStyle/>
          <a:p>
            <a:pPr marL="0" indent="0" algn="l">
              <a:buNone/>
            </a:pPr>
            <a:r>
              <a:rPr lang="en-US" sz="1337" dirty="0">
                <a:solidFill>
                  <a:srgbClr val="BDC4C9"/>
                </a:solidFill>
                <a:latin typeface="Arial" pitchFamily="34" charset="0"/>
                <a:ea typeface="Arial" pitchFamily="34" charset="-122"/>
                <a:cs typeface="Arial" pitchFamily="34" charset="-120"/>
              </a:rPr>
              <a:t>Read the wording, recorded answer and available date.</a:t>
            </a:r>
            <a:endParaRPr lang="en-US" sz="1337" dirty="0"/>
          </a:p>
        </p:txBody>
      </p:sp>
      <p:sp>
        <p:nvSpPr>
          <p:cNvPr id="19" name="Shape 17"/>
          <p:cNvSpPr/>
          <p:nvPr/>
        </p:nvSpPr>
        <p:spPr>
          <a:xfrm>
            <a:off x="7624790" y="2966575"/>
            <a:ext cx="2683111" cy="2343477"/>
          </a:xfrm>
          <a:prstGeom prst="roundRect">
            <a:avLst>
              <a:gd name="adj" fmla="val 1561"/>
            </a:avLst>
          </a:prstGeom>
          <a:solidFill>
            <a:srgbClr val="30363B"/>
          </a:solidFill>
          <a:ln w="8890">
            <a:solidFill>
              <a:srgbClr val="48525B"/>
            </a:solidFill>
            <a:prstDash val="solid"/>
          </a:ln>
        </p:spPr>
        <p:txBody>
          <a:bodyPr/>
          <a:lstStyle/>
          <a:p>
            <a:endParaRPr lang="nl-NL"/>
          </a:p>
        </p:txBody>
      </p:sp>
      <p:sp>
        <p:nvSpPr>
          <p:cNvPr id="20" name="Shape 18"/>
          <p:cNvSpPr/>
          <p:nvPr/>
        </p:nvSpPr>
        <p:spPr>
          <a:xfrm>
            <a:off x="7624790" y="3085447"/>
            <a:ext cx="33963" cy="2105733"/>
          </a:xfrm>
          <a:prstGeom prst="rect">
            <a:avLst/>
          </a:prstGeom>
          <a:solidFill>
            <a:srgbClr val="82909A"/>
          </a:solidFill>
          <a:ln w="12700">
            <a:solidFill>
              <a:srgbClr val="24282C">
                <a:alpha val="0"/>
              </a:srgbClr>
            </a:solidFill>
            <a:prstDash val="solid"/>
          </a:ln>
        </p:spPr>
        <p:txBody>
          <a:bodyPr/>
          <a:lstStyle/>
          <a:p>
            <a:endParaRPr lang="nl-NL"/>
          </a:p>
        </p:txBody>
      </p:sp>
      <p:sp>
        <p:nvSpPr>
          <p:cNvPr id="21" name="Text 19"/>
          <p:cNvSpPr/>
          <p:nvPr/>
        </p:nvSpPr>
        <p:spPr>
          <a:xfrm>
            <a:off x="7769134" y="3102429"/>
            <a:ext cx="2394422" cy="543415"/>
          </a:xfrm>
          <a:prstGeom prst="rect">
            <a:avLst/>
          </a:prstGeom>
          <a:noFill/>
          <a:ln/>
        </p:spPr>
        <p:txBody>
          <a:bodyPr wrap="square" lIns="0" tIns="0" rIns="0" bIns="0" rtlCol="0" anchor="t">
            <a:normAutofit/>
          </a:bodyPr>
          <a:lstStyle/>
          <a:p>
            <a:pPr marL="0" indent="0" algn="l">
              <a:buNone/>
            </a:pPr>
            <a:r>
              <a:rPr lang="en-US" sz="1671" b="1" dirty="0">
                <a:solidFill>
                  <a:srgbClr val="F5F6F7"/>
                </a:solidFill>
                <a:latin typeface="Arial" pitchFamily="34" charset="0"/>
                <a:ea typeface="Arial" pitchFamily="34" charset="-122"/>
                <a:cs typeface="Arial" pitchFamily="34" charset="-120"/>
              </a:rPr>
              <a:t>Development view</a:t>
            </a:r>
            <a:endParaRPr lang="en-US" sz="1671" dirty="0"/>
          </a:p>
        </p:txBody>
      </p:sp>
      <p:sp>
        <p:nvSpPr>
          <p:cNvPr id="22" name="Text 20"/>
          <p:cNvSpPr/>
          <p:nvPr/>
        </p:nvSpPr>
        <p:spPr>
          <a:xfrm>
            <a:off x="7769134" y="3705279"/>
            <a:ext cx="2394422" cy="1502882"/>
          </a:xfrm>
          <a:prstGeom prst="rect">
            <a:avLst/>
          </a:prstGeom>
          <a:noFill/>
          <a:ln/>
        </p:spPr>
        <p:txBody>
          <a:bodyPr wrap="square" lIns="0" tIns="0" rIns="0" bIns="0" rtlCol="0" anchor="t">
            <a:normAutofit/>
          </a:bodyPr>
          <a:lstStyle/>
          <a:p>
            <a:pPr marL="0" indent="0" algn="l">
              <a:buNone/>
            </a:pPr>
            <a:r>
              <a:rPr lang="en-US" sz="1337" dirty="0">
                <a:solidFill>
                  <a:srgbClr val="BDC4C9"/>
                </a:solidFill>
                <a:latin typeface="Arial" pitchFamily="34" charset="0"/>
                <a:ea typeface="Arial" pitchFamily="34" charset="-122"/>
                <a:cs typeface="Arial" pitchFamily="34" charset="-120"/>
              </a:rPr>
              <a:t>Choose an objective and keep progress separate from scores.</a:t>
            </a:r>
            <a:endParaRPr lang="en-US" sz="1337" dirty="0"/>
          </a:p>
        </p:txBody>
      </p:sp>
      <p:sp>
        <p:nvSpPr>
          <p:cNvPr id="23" name="Text 21"/>
          <p:cNvSpPr/>
          <p:nvPr/>
        </p:nvSpPr>
        <p:spPr>
          <a:xfrm>
            <a:off x="548640" y="5678424"/>
            <a:ext cx="10954512" cy="219456"/>
          </a:xfrm>
          <a:prstGeom prst="rect">
            <a:avLst/>
          </a:prstGeom>
          <a:noFill/>
          <a:ln/>
        </p:spPr>
        <p:txBody>
          <a:bodyPr wrap="square" lIns="0" tIns="0" rIns="0" bIns="0" rtlCol="0" anchor="t">
            <a:normAutofit/>
          </a:bodyPr>
          <a:lstStyle/>
          <a:p>
            <a:pPr marL="0" indent="0" algn="l">
              <a:buNone/>
            </a:pPr>
            <a:r>
              <a:rPr lang="en-US" sz="840" dirty="0">
                <a:solidFill>
                  <a:srgbClr val="BDC4C9"/>
                </a:solidFill>
                <a:latin typeface="Arial" pitchFamily="34" charset="0"/>
                <a:ea typeface="Arial" pitchFamily="34" charset="-122"/>
                <a:cs typeface="Arial" pitchFamily="34" charset="-120"/>
              </a:rPr>
              <a:t>Illustrative design / independent requirements and outputs.</a:t>
            </a:r>
            <a:endParaRPr lang="en-US" sz="840" dirty="0"/>
          </a:p>
        </p:txBody>
      </p:sp>
      <p:sp>
        <p:nvSpPr>
          <p:cNvPr id="24" name="Text 22"/>
          <p:cNvSpPr/>
          <p:nvPr/>
        </p:nvSpPr>
        <p:spPr>
          <a:xfrm>
            <a:off x="603504" y="5925312"/>
            <a:ext cx="10917936" cy="347472"/>
          </a:xfrm>
          <a:prstGeom prst="rect">
            <a:avLst/>
          </a:prstGeom>
          <a:noFill/>
          <a:ln/>
        </p:spPr>
        <p:txBody>
          <a:bodyPr wrap="square" lIns="0" tIns="0" rIns="0" bIns="0" rtlCol="0" anchor="t">
            <a:normAutofit/>
          </a:bodyPr>
          <a:lstStyle/>
          <a:p>
            <a:pPr marL="0" indent="0" algn="l">
              <a:buNone/>
            </a:pPr>
            <a:r>
              <a:rPr lang="en-US" sz="1320" dirty="0">
                <a:solidFill>
                  <a:srgbClr val="F5F6F7"/>
                </a:solidFill>
                <a:latin typeface="Arial" pitchFamily="34" charset="0"/>
                <a:ea typeface="Arial" pitchFamily="34" charset="-122"/>
                <a:cs typeface="Arial" pitchFamily="34" charset="-120"/>
              </a:rPr>
              <a:t>The interactive showcase demonstrates the development behaviour using an explicitly illustrative project.</a:t>
            </a:r>
            <a:endParaRPr lang="en-US" sz="13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4282C"/>
        </a:solidFill>
        <a:effectLst/>
      </p:bgPr>
    </p:bg>
    <p:spTree>
      <p:nvGrpSpPr>
        <p:cNvPr id="1" name=""/>
        <p:cNvGrpSpPr/>
        <p:nvPr/>
      </p:nvGrpSpPr>
      <p:grpSpPr>
        <a:xfrm>
          <a:off x="0" y="0"/>
          <a:ext cx="0" cy="0"/>
          <a:chOff x="0" y="0"/>
          <a:chExt cx="0" cy="0"/>
        </a:xfrm>
      </p:grpSpPr>
      <p:sp>
        <p:nvSpPr>
          <p:cNvPr id="2" name="Text 0"/>
          <p:cNvSpPr/>
          <p:nvPr/>
        </p:nvSpPr>
        <p:spPr>
          <a:xfrm>
            <a:off x="484632" y="173736"/>
            <a:ext cx="2743200" cy="201168"/>
          </a:xfrm>
          <a:prstGeom prst="rect">
            <a:avLst/>
          </a:prstGeom>
          <a:noFill/>
          <a:ln/>
        </p:spPr>
        <p:txBody>
          <a:bodyPr wrap="square" lIns="0" tIns="0" rIns="0" bIns="0" rtlCol="0" anchor="t">
            <a:normAutofit/>
          </a:bodyPr>
          <a:lstStyle/>
          <a:p>
            <a:pPr marL="0" indent="0" algn="l">
              <a:buNone/>
            </a:pPr>
            <a:r>
              <a:rPr lang="en-US" sz="1000" b="1" dirty="0">
                <a:solidFill>
                  <a:srgbClr val="F5F6F7"/>
                </a:solidFill>
                <a:latin typeface="Arial" pitchFamily="34" charset="0"/>
                <a:ea typeface="Arial" pitchFamily="34" charset="-122"/>
                <a:cs typeface="Arial" pitchFamily="34" charset="-120"/>
              </a:rPr>
              <a:t>ISUZU / UNIVERSE</a:t>
            </a:r>
            <a:endParaRPr lang="en-US" sz="1000" dirty="0"/>
          </a:p>
        </p:txBody>
      </p:sp>
      <p:sp>
        <p:nvSpPr>
          <p:cNvPr id="3" name="Text 1"/>
          <p:cNvSpPr/>
          <p:nvPr/>
        </p:nvSpPr>
        <p:spPr>
          <a:xfrm>
            <a:off x="8046720" y="173736"/>
            <a:ext cx="3657600" cy="201168"/>
          </a:xfrm>
          <a:prstGeom prst="rect">
            <a:avLst/>
          </a:prstGeom>
          <a:noFill/>
          <a:ln/>
        </p:spPr>
        <p:txBody>
          <a:bodyPr wrap="square" lIns="0" tIns="0" rIns="0" bIns="0" rtlCol="0" anchor="t">
            <a:normAutofit/>
          </a:bodyPr>
          <a:lstStyle/>
          <a:p>
            <a:pPr marL="0" indent="0" algn="r">
              <a:buNone/>
            </a:pPr>
            <a:r>
              <a:rPr lang="en-US" sz="900" dirty="0">
                <a:solidFill>
                  <a:srgbClr val="BDC4C9"/>
                </a:solidFill>
                <a:latin typeface="Arial" pitchFamily="34" charset="0"/>
                <a:ea typeface="Arial" pitchFamily="34" charset="-122"/>
                <a:cs typeface="Arial" pitchFamily="34" charset="-120"/>
              </a:rPr>
              <a:t>COMMERCIAL VISION  /  3.0</a:t>
            </a:r>
            <a:endParaRPr lang="en-US" sz="900" dirty="0"/>
          </a:p>
        </p:txBody>
      </p:sp>
      <p:sp>
        <p:nvSpPr>
          <p:cNvPr id="4" name="Shape 2"/>
          <p:cNvSpPr/>
          <p:nvPr/>
        </p:nvSpPr>
        <p:spPr>
          <a:xfrm>
            <a:off x="484632" y="512064"/>
            <a:ext cx="475488" cy="22860"/>
          </a:xfrm>
          <a:prstGeom prst="rect">
            <a:avLst/>
          </a:prstGeom>
          <a:solidFill>
            <a:srgbClr val="D71920"/>
          </a:solidFill>
          <a:ln w="12700">
            <a:solidFill>
              <a:srgbClr val="D71920">
                <a:alpha val="0"/>
              </a:srgbClr>
            </a:solidFill>
            <a:prstDash val="solid"/>
          </a:ln>
        </p:spPr>
        <p:txBody>
          <a:bodyPr/>
          <a:lstStyle/>
          <a:p>
            <a:endParaRPr lang="nl-NL"/>
          </a:p>
        </p:txBody>
      </p:sp>
      <p:sp>
        <p:nvSpPr>
          <p:cNvPr id="5" name="Text 3"/>
          <p:cNvSpPr/>
          <p:nvPr/>
        </p:nvSpPr>
        <p:spPr>
          <a:xfrm>
            <a:off x="484632" y="658368"/>
            <a:ext cx="11064240" cy="219456"/>
          </a:xfrm>
          <a:prstGeom prst="rect">
            <a:avLst/>
          </a:prstGeom>
          <a:noFill/>
          <a:ln/>
        </p:spPr>
        <p:txBody>
          <a:bodyPr wrap="square" lIns="0" tIns="0" rIns="0" bIns="0" rtlCol="0" anchor="t">
            <a:normAutofit/>
          </a:bodyPr>
          <a:lstStyle/>
          <a:p>
            <a:pPr marL="0" indent="0" algn="l">
              <a:buNone/>
            </a:pPr>
            <a:r>
              <a:rPr lang="en-US" sz="1000" b="1" dirty="0">
                <a:solidFill>
                  <a:srgbClr val="D71920"/>
                </a:solidFill>
                <a:latin typeface="Arial" pitchFamily="34" charset="0"/>
                <a:ea typeface="Arial" pitchFamily="34" charset="-122"/>
                <a:cs typeface="Arial" pitchFamily="34" charset="-120"/>
              </a:rPr>
              <a:t>IDS / PROGRESS</a:t>
            </a:r>
            <a:endParaRPr lang="en-US" sz="1000" dirty="0"/>
          </a:p>
        </p:txBody>
      </p:sp>
      <p:sp>
        <p:nvSpPr>
          <p:cNvPr id="6" name="Shape 4"/>
          <p:cNvSpPr/>
          <p:nvPr/>
        </p:nvSpPr>
        <p:spPr>
          <a:xfrm>
            <a:off x="484632" y="6446520"/>
            <a:ext cx="11219688" cy="914"/>
          </a:xfrm>
          <a:prstGeom prst="line">
            <a:avLst/>
          </a:prstGeom>
          <a:noFill/>
          <a:ln w="6350">
            <a:solidFill>
              <a:srgbClr val="647078"/>
            </a:solidFill>
            <a:prstDash val="solid"/>
          </a:ln>
        </p:spPr>
        <p:txBody>
          <a:bodyPr/>
          <a:lstStyle/>
          <a:p>
            <a:endParaRPr lang="nl-NL"/>
          </a:p>
        </p:txBody>
      </p:sp>
      <p:sp>
        <p:nvSpPr>
          <p:cNvPr id="7" name="Text 5"/>
          <p:cNvSpPr/>
          <p:nvPr/>
        </p:nvSpPr>
        <p:spPr>
          <a:xfrm>
            <a:off x="484632" y="6556248"/>
            <a:ext cx="9144000" cy="146304"/>
          </a:xfrm>
          <a:prstGeom prst="rect">
            <a:avLst/>
          </a:prstGeom>
          <a:noFill/>
          <a:ln/>
        </p:spPr>
        <p:txBody>
          <a:bodyPr wrap="square" lIns="0" tIns="0" rIns="0" bIns="0" rtlCol="0" anchor="t">
            <a:normAutofit/>
          </a:bodyPr>
          <a:lstStyle/>
          <a:p>
            <a:pPr marL="0" indent="0" algn="l">
              <a:buNone/>
            </a:pPr>
            <a:r>
              <a:rPr lang="en-US" sz="750" dirty="0">
                <a:solidFill>
                  <a:srgbClr val="BDC4C9"/>
                </a:solidFill>
                <a:latin typeface="Arial" pitchFamily="34" charset="0"/>
                <a:ea typeface="Arial" pitchFamily="34" charset="-122"/>
                <a:cs typeface="Arial" pitchFamily="34" charset="-120"/>
              </a:rPr>
              <a:t>22 SEPTEMBER 2026  /  CONCEPT AND APPLICATION EXAMPLES</a:t>
            </a:r>
            <a:endParaRPr lang="en-US" sz="750" dirty="0"/>
          </a:p>
        </p:txBody>
      </p:sp>
      <p:sp>
        <p:nvSpPr>
          <p:cNvPr id="8" name="Text 6"/>
          <p:cNvSpPr/>
          <p:nvPr/>
        </p:nvSpPr>
        <p:spPr>
          <a:xfrm>
            <a:off x="10789920" y="6547104"/>
            <a:ext cx="914400" cy="173736"/>
          </a:xfrm>
          <a:prstGeom prst="rect">
            <a:avLst/>
          </a:prstGeom>
          <a:noFill/>
          <a:ln/>
        </p:spPr>
        <p:txBody>
          <a:bodyPr wrap="square" lIns="0" tIns="0" rIns="0" bIns="0" rtlCol="0" anchor="t">
            <a:normAutofit/>
          </a:bodyPr>
          <a:lstStyle/>
          <a:p>
            <a:pPr marL="0" indent="0" algn="r">
              <a:buNone/>
            </a:pPr>
            <a:r>
              <a:rPr lang="en-US" sz="850" dirty="0">
                <a:solidFill>
                  <a:srgbClr val="BDC4C9"/>
                </a:solidFill>
                <a:latin typeface="Arial" pitchFamily="34" charset="0"/>
                <a:ea typeface="Arial" pitchFamily="34" charset="-122"/>
                <a:cs typeface="Arial" pitchFamily="34" charset="-120"/>
              </a:rPr>
              <a:t>15 / 49</a:t>
            </a:r>
            <a:endParaRPr lang="en-US" sz="850" dirty="0"/>
          </a:p>
        </p:txBody>
      </p:sp>
      <p:sp>
        <p:nvSpPr>
          <p:cNvPr id="9" name="Text 7"/>
          <p:cNvSpPr/>
          <p:nvPr/>
        </p:nvSpPr>
        <p:spPr>
          <a:xfrm>
            <a:off x="502920" y="1005840"/>
            <a:ext cx="11036808" cy="841248"/>
          </a:xfrm>
          <a:prstGeom prst="rect">
            <a:avLst/>
          </a:prstGeom>
          <a:noFill/>
          <a:ln/>
        </p:spPr>
        <p:txBody>
          <a:bodyPr wrap="square" lIns="0" tIns="0" rIns="0" bIns="0" rtlCol="0" anchor="t">
            <a:normAutofit/>
          </a:bodyPr>
          <a:lstStyle/>
          <a:p>
            <a:pPr marL="0" indent="0" algn="l">
              <a:buNone/>
            </a:pPr>
            <a:r>
              <a:rPr lang="en-US" sz="3400" b="1" dirty="0">
                <a:solidFill>
                  <a:srgbClr val="F5F6F7"/>
                </a:solidFill>
                <a:latin typeface="Arial" pitchFamily="34" charset="0"/>
                <a:ea typeface="Arial" pitchFamily="34" charset="-122"/>
                <a:cs typeface="Arial" pitchFamily="34" charset="-120"/>
              </a:rPr>
              <a:t>Three records. Three different meanings.</a:t>
            </a:r>
            <a:endParaRPr lang="en-US" sz="3400" dirty="0"/>
          </a:p>
        </p:txBody>
      </p:sp>
      <p:sp>
        <p:nvSpPr>
          <p:cNvPr id="10" name="Text 8"/>
          <p:cNvSpPr/>
          <p:nvPr/>
        </p:nvSpPr>
        <p:spPr>
          <a:xfrm>
            <a:off x="530352" y="1865376"/>
            <a:ext cx="10954512" cy="566928"/>
          </a:xfrm>
          <a:prstGeom prst="rect">
            <a:avLst/>
          </a:prstGeom>
          <a:noFill/>
          <a:ln/>
        </p:spPr>
        <p:txBody>
          <a:bodyPr wrap="square" lIns="0" tIns="0" rIns="0" bIns="0" rtlCol="0" anchor="t">
            <a:normAutofit/>
          </a:bodyPr>
          <a:lstStyle/>
          <a:p>
            <a:pPr marL="0" indent="0" algn="l">
              <a:buNone/>
            </a:pPr>
            <a:r>
              <a:rPr lang="en-US" sz="1800" dirty="0">
                <a:solidFill>
                  <a:srgbClr val="BDC4C9"/>
                </a:solidFill>
                <a:latin typeface="Arial" pitchFamily="34" charset="0"/>
                <a:ea typeface="Arial" pitchFamily="34" charset="-122"/>
                <a:cs typeface="Arial" pitchFamily="34" charset="-120"/>
              </a:rPr>
              <a:t>Original assessment, project progress and later reassessment remain separate.</a:t>
            </a:r>
            <a:endParaRPr lang="en-US" sz="1800" dirty="0"/>
          </a:p>
        </p:txBody>
      </p:sp>
      <p:sp>
        <p:nvSpPr>
          <p:cNvPr id="11" name="Shape 9"/>
          <p:cNvSpPr/>
          <p:nvPr/>
        </p:nvSpPr>
        <p:spPr>
          <a:xfrm>
            <a:off x="1606093" y="2993746"/>
            <a:ext cx="221894" cy="221894"/>
          </a:xfrm>
          <a:prstGeom prst="ellipse">
            <a:avLst/>
          </a:prstGeom>
          <a:solidFill>
            <a:srgbClr val="D71920"/>
          </a:solidFill>
          <a:ln w="12700">
            <a:solidFill>
              <a:srgbClr val="24282C">
                <a:alpha val="0"/>
              </a:srgbClr>
            </a:solidFill>
            <a:prstDash val="solid"/>
          </a:ln>
        </p:spPr>
        <p:txBody>
          <a:bodyPr/>
          <a:lstStyle/>
          <a:p>
            <a:endParaRPr lang="nl-NL"/>
          </a:p>
        </p:txBody>
      </p:sp>
      <p:sp>
        <p:nvSpPr>
          <p:cNvPr id="12" name="Text 10"/>
          <p:cNvSpPr/>
          <p:nvPr/>
        </p:nvSpPr>
        <p:spPr>
          <a:xfrm>
            <a:off x="1920443" y="2975254"/>
            <a:ext cx="2496312" cy="554736"/>
          </a:xfrm>
          <a:prstGeom prst="rect">
            <a:avLst/>
          </a:prstGeom>
          <a:noFill/>
          <a:ln/>
        </p:spPr>
        <p:txBody>
          <a:bodyPr wrap="square" lIns="0" tIns="0" rIns="0" bIns="0" rtlCol="0" anchor="t">
            <a:normAutofit/>
          </a:bodyPr>
          <a:lstStyle/>
          <a:p>
            <a:pPr marL="0" indent="0" algn="l">
              <a:buNone/>
            </a:pPr>
            <a:r>
              <a:rPr lang="en-US" sz="1310" b="1" dirty="0">
                <a:solidFill>
                  <a:srgbClr val="BDC4C9"/>
                </a:solidFill>
                <a:latin typeface="Arial" pitchFamily="34" charset="0"/>
                <a:ea typeface="Arial" pitchFamily="34" charset="-122"/>
                <a:cs typeface="Arial" pitchFamily="34" charset="-120"/>
              </a:rPr>
              <a:t>ASSESSMENT</a:t>
            </a:r>
            <a:endParaRPr lang="en-US" sz="1310" dirty="0"/>
          </a:p>
        </p:txBody>
      </p:sp>
      <p:sp>
        <p:nvSpPr>
          <p:cNvPr id="13" name="Shape 11"/>
          <p:cNvSpPr/>
          <p:nvPr/>
        </p:nvSpPr>
        <p:spPr>
          <a:xfrm>
            <a:off x="1864970" y="3104693"/>
            <a:ext cx="2625750" cy="914"/>
          </a:xfrm>
          <a:prstGeom prst="line">
            <a:avLst/>
          </a:prstGeom>
          <a:noFill/>
          <a:ln w="18491">
            <a:solidFill>
              <a:srgbClr val="646E76"/>
            </a:solidFill>
            <a:prstDash val="dash"/>
          </a:ln>
        </p:spPr>
        <p:txBody>
          <a:bodyPr/>
          <a:lstStyle/>
          <a:p>
            <a:endParaRPr lang="nl-NL"/>
          </a:p>
        </p:txBody>
      </p:sp>
      <p:sp>
        <p:nvSpPr>
          <p:cNvPr id="14" name="Shape 12"/>
          <p:cNvSpPr/>
          <p:nvPr/>
        </p:nvSpPr>
        <p:spPr>
          <a:xfrm>
            <a:off x="1439672" y="3585464"/>
            <a:ext cx="2847645" cy="1997050"/>
          </a:xfrm>
          <a:prstGeom prst="roundRect">
            <a:avLst>
              <a:gd name="adj" fmla="val 1832"/>
            </a:avLst>
          </a:prstGeom>
          <a:solidFill>
            <a:srgbClr val="30363B"/>
          </a:solidFill>
          <a:ln w="8890">
            <a:solidFill>
              <a:srgbClr val="48525B"/>
            </a:solidFill>
            <a:prstDash val="solid"/>
          </a:ln>
        </p:spPr>
        <p:txBody>
          <a:bodyPr/>
          <a:lstStyle/>
          <a:p>
            <a:endParaRPr lang="nl-NL"/>
          </a:p>
        </p:txBody>
      </p:sp>
      <p:sp>
        <p:nvSpPr>
          <p:cNvPr id="15" name="Shape 13"/>
          <p:cNvSpPr/>
          <p:nvPr/>
        </p:nvSpPr>
        <p:spPr>
          <a:xfrm>
            <a:off x="1439672" y="3714902"/>
            <a:ext cx="36982" cy="1738173"/>
          </a:xfrm>
          <a:prstGeom prst="rect">
            <a:avLst/>
          </a:prstGeom>
          <a:solidFill>
            <a:srgbClr val="82909A"/>
          </a:solidFill>
          <a:ln w="12700">
            <a:solidFill>
              <a:srgbClr val="24282C">
                <a:alpha val="0"/>
              </a:srgbClr>
            </a:solidFill>
            <a:prstDash val="solid"/>
          </a:ln>
        </p:spPr>
        <p:txBody>
          <a:bodyPr/>
          <a:lstStyle/>
          <a:p>
            <a:endParaRPr lang="nl-NL"/>
          </a:p>
        </p:txBody>
      </p:sp>
      <p:sp>
        <p:nvSpPr>
          <p:cNvPr id="16" name="Text 14"/>
          <p:cNvSpPr/>
          <p:nvPr/>
        </p:nvSpPr>
        <p:spPr>
          <a:xfrm>
            <a:off x="1596847" y="3733394"/>
            <a:ext cx="2533294" cy="591718"/>
          </a:xfrm>
          <a:prstGeom prst="rect">
            <a:avLst/>
          </a:prstGeom>
          <a:noFill/>
          <a:ln/>
        </p:spPr>
        <p:txBody>
          <a:bodyPr wrap="square" lIns="0" tIns="0" rIns="0" bIns="0" rtlCol="0" anchor="t">
            <a:normAutofit/>
          </a:bodyPr>
          <a:lstStyle/>
          <a:p>
            <a:pPr marL="0" indent="0" algn="l">
              <a:buNone/>
            </a:pPr>
            <a:r>
              <a:rPr lang="en-US" sz="1820" b="1" dirty="0">
                <a:solidFill>
                  <a:srgbClr val="F5F6F7"/>
                </a:solidFill>
                <a:latin typeface="Arial" pitchFamily="34" charset="0"/>
                <a:ea typeface="Arial" pitchFamily="34" charset="-122"/>
                <a:cs typeface="Arial" pitchFamily="34" charset="-120"/>
              </a:rPr>
              <a:t>Original source record</a:t>
            </a:r>
            <a:endParaRPr lang="en-US" sz="1820" dirty="0"/>
          </a:p>
        </p:txBody>
      </p:sp>
      <p:sp>
        <p:nvSpPr>
          <p:cNvPr id="17" name="Text 15"/>
          <p:cNvSpPr/>
          <p:nvPr/>
        </p:nvSpPr>
        <p:spPr>
          <a:xfrm>
            <a:off x="1596847" y="4389831"/>
            <a:ext cx="2533294" cy="1081735"/>
          </a:xfrm>
          <a:prstGeom prst="rect">
            <a:avLst/>
          </a:prstGeom>
          <a:noFill/>
          <a:ln/>
        </p:spPr>
        <p:txBody>
          <a:bodyPr wrap="square" lIns="0" tIns="0" rIns="0" bIns="0" rtlCol="0" anchor="t">
            <a:normAutofit/>
          </a:bodyPr>
          <a:lstStyle/>
          <a:p>
            <a:pPr marL="0" indent="0" algn="l">
              <a:buNone/>
            </a:pPr>
            <a:r>
              <a:rPr lang="en-US" sz="1456" dirty="0">
                <a:solidFill>
                  <a:srgbClr val="BDC4C9"/>
                </a:solidFill>
                <a:latin typeface="Arial" pitchFamily="34" charset="0"/>
                <a:ea typeface="Arial" pitchFamily="34" charset="-122"/>
                <a:cs typeface="Arial" pitchFamily="34" charset="-120"/>
              </a:rPr>
              <a:t>Questionnaire, answer and available date</a:t>
            </a:r>
            <a:endParaRPr lang="en-US" sz="1456" dirty="0"/>
          </a:p>
        </p:txBody>
      </p:sp>
      <p:sp>
        <p:nvSpPr>
          <p:cNvPr id="18" name="Shape 16"/>
          <p:cNvSpPr/>
          <p:nvPr/>
        </p:nvSpPr>
        <p:spPr>
          <a:xfrm>
            <a:off x="4805070" y="2993746"/>
            <a:ext cx="221894" cy="221894"/>
          </a:xfrm>
          <a:prstGeom prst="ellipse">
            <a:avLst/>
          </a:prstGeom>
          <a:solidFill>
            <a:srgbClr val="D71920"/>
          </a:solidFill>
          <a:ln w="12700">
            <a:solidFill>
              <a:srgbClr val="24282C">
                <a:alpha val="0"/>
              </a:srgbClr>
            </a:solidFill>
            <a:prstDash val="solid"/>
          </a:ln>
        </p:spPr>
        <p:txBody>
          <a:bodyPr/>
          <a:lstStyle/>
          <a:p>
            <a:endParaRPr lang="nl-NL"/>
          </a:p>
        </p:txBody>
      </p:sp>
      <p:sp>
        <p:nvSpPr>
          <p:cNvPr id="19" name="Text 17"/>
          <p:cNvSpPr/>
          <p:nvPr/>
        </p:nvSpPr>
        <p:spPr>
          <a:xfrm>
            <a:off x="5119421" y="2975254"/>
            <a:ext cx="2496312" cy="554736"/>
          </a:xfrm>
          <a:prstGeom prst="rect">
            <a:avLst/>
          </a:prstGeom>
          <a:noFill/>
          <a:ln/>
        </p:spPr>
        <p:txBody>
          <a:bodyPr wrap="square" lIns="0" tIns="0" rIns="0" bIns="0" rtlCol="0" anchor="t">
            <a:normAutofit/>
          </a:bodyPr>
          <a:lstStyle/>
          <a:p>
            <a:pPr marL="0" indent="0" algn="l">
              <a:buNone/>
            </a:pPr>
            <a:r>
              <a:rPr lang="en-US" sz="1310" b="1" dirty="0">
                <a:solidFill>
                  <a:srgbClr val="BDC4C9"/>
                </a:solidFill>
                <a:latin typeface="Arial" pitchFamily="34" charset="0"/>
                <a:ea typeface="Arial" pitchFamily="34" charset="-122"/>
                <a:cs typeface="Arial" pitchFamily="34" charset="-120"/>
              </a:rPr>
              <a:t>DEVELOPMENT</a:t>
            </a:r>
            <a:endParaRPr lang="en-US" sz="1310" dirty="0"/>
          </a:p>
        </p:txBody>
      </p:sp>
      <p:sp>
        <p:nvSpPr>
          <p:cNvPr id="20" name="Shape 18"/>
          <p:cNvSpPr/>
          <p:nvPr/>
        </p:nvSpPr>
        <p:spPr>
          <a:xfrm>
            <a:off x="5063947" y="3104693"/>
            <a:ext cx="2625750" cy="914"/>
          </a:xfrm>
          <a:prstGeom prst="line">
            <a:avLst/>
          </a:prstGeom>
          <a:noFill/>
          <a:ln w="18491">
            <a:solidFill>
              <a:srgbClr val="646E76"/>
            </a:solidFill>
            <a:prstDash val="dash"/>
          </a:ln>
        </p:spPr>
        <p:txBody>
          <a:bodyPr/>
          <a:lstStyle/>
          <a:p>
            <a:endParaRPr lang="nl-NL"/>
          </a:p>
        </p:txBody>
      </p:sp>
      <p:sp>
        <p:nvSpPr>
          <p:cNvPr id="21" name="Shape 19"/>
          <p:cNvSpPr/>
          <p:nvPr/>
        </p:nvSpPr>
        <p:spPr>
          <a:xfrm>
            <a:off x="4638650" y="3585464"/>
            <a:ext cx="2847645" cy="1997050"/>
          </a:xfrm>
          <a:prstGeom prst="roundRect">
            <a:avLst>
              <a:gd name="adj" fmla="val 1832"/>
            </a:avLst>
          </a:prstGeom>
          <a:solidFill>
            <a:srgbClr val="383F44"/>
          </a:solidFill>
          <a:ln w="8890">
            <a:solidFill>
              <a:srgbClr val="D71920"/>
            </a:solidFill>
            <a:prstDash val="solid"/>
          </a:ln>
        </p:spPr>
        <p:txBody>
          <a:bodyPr/>
          <a:lstStyle/>
          <a:p>
            <a:endParaRPr lang="nl-NL"/>
          </a:p>
        </p:txBody>
      </p:sp>
      <p:sp>
        <p:nvSpPr>
          <p:cNvPr id="22" name="Shape 20"/>
          <p:cNvSpPr/>
          <p:nvPr/>
        </p:nvSpPr>
        <p:spPr>
          <a:xfrm>
            <a:off x="4638650" y="3714902"/>
            <a:ext cx="36982" cy="1738173"/>
          </a:xfrm>
          <a:prstGeom prst="rect">
            <a:avLst/>
          </a:prstGeom>
          <a:solidFill>
            <a:srgbClr val="D71920"/>
          </a:solidFill>
          <a:ln w="12700">
            <a:solidFill>
              <a:srgbClr val="24282C">
                <a:alpha val="0"/>
              </a:srgbClr>
            </a:solidFill>
            <a:prstDash val="solid"/>
          </a:ln>
        </p:spPr>
        <p:txBody>
          <a:bodyPr/>
          <a:lstStyle/>
          <a:p>
            <a:endParaRPr lang="nl-NL"/>
          </a:p>
        </p:txBody>
      </p:sp>
      <p:sp>
        <p:nvSpPr>
          <p:cNvPr id="23" name="Text 21"/>
          <p:cNvSpPr/>
          <p:nvPr/>
        </p:nvSpPr>
        <p:spPr>
          <a:xfrm>
            <a:off x="4795825" y="3733394"/>
            <a:ext cx="2533294" cy="591718"/>
          </a:xfrm>
          <a:prstGeom prst="rect">
            <a:avLst/>
          </a:prstGeom>
          <a:noFill/>
          <a:ln/>
        </p:spPr>
        <p:txBody>
          <a:bodyPr wrap="square" lIns="0" tIns="0" rIns="0" bIns="0" rtlCol="0" anchor="t">
            <a:normAutofit/>
          </a:bodyPr>
          <a:lstStyle/>
          <a:p>
            <a:pPr marL="0" indent="0" algn="l">
              <a:buNone/>
            </a:pPr>
            <a:r>
              <a:rPr lang="en-US" sz="1820" b="1" dirty="0">
                <a:solidFill>
                  <a:srgbClr val="F5F6F7"/>
                </a:solidFill>
                <a:latin typeface="Arial" pitchFamily="34" charset="0"/>
                <a:ea typeface="Arial" pitchFamily="34" charset="-122"/>
                <a:cs typeface="Arial" pitchFamily="34" charset="-120"/>
              </a:rPr>
              <a:t>Milestones and evidence</a:t>
            </a:r>
            <a:endParaRPr lang="en-US" sz="1820" dirty="0"/>
          </a:p>
        </p:txBody>
      </p:sp>
      <p:sp>
        <p:nvSpPr>
          <p:cNvPr id="24" name="Text 22"/>
          <p:cNvSpPr/>
          <p:nvPr/>
        </p:nvSpPr>
        <p:spPr>
          <a:xfrm>
            <a:off x="4795825" y="4389831"/>
            <a:ext cx="2533294" cy="1081735"/>
          </a:xfrm>
          <a:prstGeom prst="rect">
            <a:avLst/>
          </a:prstGeom>
          <a:noFill/>
          <a:ln/>
        </p:spPr>
        <p:txBody>
          <a:bodyPr wrap="square" lIns="0" tIns="0" rIns="0" bIns="0" rtlCol="0" anchor="t">
            <a:normAutofit/>
          </a:bodyPr>
          <a:lstStyle/>
          <a:p>
            <a:pPr marL="0" indent="0" algn="l">
              <a:buNone/>
            </a:pPr>
            <a:r>
              <a:rPr lang="en-US" sz="1456" dirty="0">
                <a:solidFill>
                  <a:srgbClr val="BDC4C9"/>
                </a:solidFill>
                <a:latin typeface="Arial" pitchFamily="34" charset="0"/>
                <a:ea typeface="Arial" pitchFamily="34" charset="-122"/>
                <a:cs typeface="Arial" pitchFamily="34" charset="-120"/>
              </a:rPr>
              <a:t>New project entries, owners and review</a:t>
            </a:r>
            <a:endParaRPr lang="en-US" sz="1456" dirty="0"/>
          </a:p>
        </p:txBody>
      </p:sp>
      <p:sp>
        <p:nvSpPr>
          <p:cNvPr id="25" name="Shape 23"/>
          <p:cNvSpPr/>
          <p:nvPr/>
        </p:nvSpPr>
        <p:spPr>
          <a:xfrm>
            <a:off x="8004048" y="2993746"/>
            <a:ext cx="221894" cy="221894"/>
          </a:xfrm>
          <a:prstGeom prst="ellipse">
            <a:avLst/>
          </a:prstGeom>
          <a:solidFill>
            <a:srgbClr val="D71920"/>
          </a:solidFill>
          <a:ln w="12700">
            <a:solidFill>
              <a:srgbClr val="24282C">
                <a:alpha val="0"/>
              </a:srgbClr>
            </a:solidFill>
            <a:prstDash val="solid"/>
          </a:ln>
        </p:spPr>
        <p:txBody>
          <a:bodyPr/>
          <a:lstStyle/>
          <a:p>
            <a:endParaRPr lang="nl-NL"/>
          </a:p>
        </p:txBody>
      </p:sp>
      <p:sp>
        <p:nvSpPr>
          <p:cNvPr id="26" name="Text 24"/>
          <p:cNvSpPr/>
          <p:nvPr/>
        </p:nvSpPr>
        <p:spPr>
          <a:xfrm>
            <a:off x="8318398" y="2975254"/>
            <a:ext cx="2496312" cy="554736"/>
          </a:xfrm>
          <a:prstGeom prst="rect">
            <a:avLst/>
          </a:prstGeom>
          <a:noFill/>
          <a:ln/>
        </p:spPr>
        <p:txBody>
          <a:bodyPr wrap="square" lIns="0" tIns="0" rIns="0" bIns="0" rtlCol="0" anchor="t">
            <a:normAutofit/>
          </a:bodyPr>
          <a:lstStyle/>
          <a:p>
            <a:pPr marL="0" indent="0" algn="l">
              <a:buNone/>
            </a:pPr>
            <a:r>
              <a:rPr lang="en-US" sz="1310" b="1" dirty="0">
                <a:solidFill>
                  <a:srgbClr val="BDC4C9"/>
                </a:solidFill>
                <a:latin typeface="Arial" pitchFamily="34" charset="0"/>
                <a:ea typeface="Arial" pitchFamily="34" charset="-122"/>
                <a:cs typeface="Arial" pitchFamily="34" charset="-120"/>
              </a:rPr>
              <a:t>REASSESSMENT</a:t>
            </a:r>
            <a:endParaRPr lang="en-US" sz="1310" dirty="0"/>
          </a:p>
        </p:txBody>
      </p:sp>
      <p:sp>
        <p:nvSpPr>
          <p:cNvPr id="27" name="Shape 25"/>
          <p:cNvSpPr/>
          <p:nvPr/>
        </p:nvSpPr>
        <p:spPr>
          <a:xfrm>
            <a:off x="7837627" y="3585464"/>
            <a:ext cx="2847645" cy="1997050"/>
          </a:xfrm>
          <a:prstGeom prst="roundRect">
            <a:avLst>
              <a:gd name="adj" fmla="val 1832"/>
            </a:avLst>
          </a:prstGeom>
          <a:solidFill>
            <a:srgbClr val="30363B"/>
          </a:solidFill>
          <a:ln w="8890">
            <a:solidFill>
              <a:srgbClr val="48525B"/>
            </a:solidFill>
            <a:prstDash val="solid"/>
          </a:ln>
        </p:spPr>
        <p:txBody>
          <a:bodyPr/>
          <a:lstStyle/>
          <a:p>
            <a:endParaRPr lang="nl-NL"/>
          </a:p>
        </p:txBody>
      </p:sp>
      <p:sp>
        <p:nvSpPr>
          <p:cNvPr id="28" name="Shape 26"/>
          <p:cNvSpPr/>
          <p:nvPr/>
        </p:nvSpPr>
        <p:spPr>
          <a:xfrm>
            <a:off x="7837627" y="3714902"/>
            <a:ext cx="36982" cy="1738173"/>
          </a:xfrm>
          <a:prstGeom prst="rect">
            <a:avLst/>
          </a:prstGeom>
          <a:solidFill>
            <a:srgbClr val="82909A"/>
          </a:solidFill>
          <a:ln w="12700">
            <a:solidFill>
              <a:srgbClr val="24282C">
                <a:alpha val="0"/>
              </a:srgbClr>
            </a:solidFill>
            <a:prstDash val="solid"/>
          </a:ln>
        </p:spPr>
        <p:txBody>
          <a:bodyPr/>
          <a:lstStyle/>
          <a:p>
            <a:endParaRPr lang="nl-NL"/>
          </a:p>
        </p:txBody>
      </p:sp>
      <p:sp>
        <p:nvSpPr>
          <p:cNvPr id="29" name="Text 27"/>
          <p:cNvSpPr/>
          <p:nvPr/>
        </p:nvSpPr>
        <p:spPr>
          <a:xfrm>
            <a:off x="7994802" y="3733394"/>
            <a:ext cx="2533294" cy="591718"/>
          </a:xfrm>
          <a:prstGeom prst="rect">
            <a:avLst/>
          </a:prstGeom>
          <a:noFill/>
          <a:ln/>
        </p:spPr>
        <p:txBody>
          <a:bodyPr wrap="square" lIns="0" tIns="0" rIns="0" bIns="0" rtlCol="0" anchor="t">
            <a:normAutofit/>
          </a:bodyPr>
          <a:lstStyle/>
          <a:p>
            <a:pPr marL="0" indent="0" algn="l">
              <a:buNone/>
            </a:pPr>
            <a:r>
              <a:rPr lang="en-US" sz="1820" b="1" dirty="0">
                <a:solidFill>
                  <a:srgbClr val="F5F6F7"/>
                </a:solidFill>
                <a:latin typeface="Arial" pitchFamily="34" charset="0"/>
                <a:ea typeface="Arial" pitchFamily="34" charset="-122"/>
                <a:cs typeface="Arial" pitchFamily="34" charset="-120"/>
              </a:rPr>
              <a:t>A later actual record</a:t>
            </a:r>
            <a:endParaRPr lang="en-US" sz="1820" dirty="0"/>
          </a:p>
        </p:txBody>
      </p:sp>
      <p:sp>
        <p:nvSpPr>
          <p:cNvPr id="30" name="Text 28"/>
          <p:cNvSpPr/>
          <p:nvPr/>
        </p:nvSpPr>
        <p:spPr>
          <a:xfrm>
            <a:off x="7994802" y="4389831"/>
            <a:ext cx="2533294" cy="1081735"/>
          </a:xfrm>
          <a:prstGeom prst="rect">
            <a:avLst/>
          </a:prstGeom>
          <a:noFill/>
          <a:ln/>
        </p:spPr>
        <p:txBody>
          <a:bodyPr wrap="square" lIns="0" tIns="0" rIns="0" bIns="0" rtlCol="0" anchor="t">
            <a:normAutofit/>
          </a:bodyPr>
          <a:lstStyle/>
          <a:p>
            <a:pPr marL="0" indent="0" algn="l">
              <a:buNone/>
            </a:pPr>
            <a:r>
              <a:rPr lang="en-US" sz="1456" dirty="0">
                <a:solidFill>
                  <a:srgbClr val="BDC4C9"/>
                </a:solidFill>
                <a:latin typeface="Arial" pitchFamily="34" charset="0"/>
                <a:ea typeface="Arial" pitchFamily="34" charset="-122"/>
                <a:cs typeface="Arial" pitchFamily="34" charset="-120"/>
              </a:rPr>
              <a:t>Compare only on a compatible basis</a:t>
            </a:r>
            <a:endParaRPr lang="en-US" sz="1456" dirty="0"/>
          </a:p>
        </p:txBody>
      </p:sp>
      <p:sp>
        <p:nvSpPr>
          <p:cNvPr id="31" name="Text 29"/>
          <p:cNvSpPr/>
          <p:nvPr/>
        </p:nvSpPr>
        <p:spPr>
          <a:xfrm>
            <a:off x="548640" y="6035040"/>
            <a:ext cx="10954512" cy="219456"/>
          </a:xfrm>
          <a:prstGeom prst="rect">
            <a:avLst/>
          </a:prstGeom>
          <a:noFill/>
          <a:ln/>
        </p:spPr>
        <p:txBody>
          <a:bodyPr wrap="square" lIns="0" tIns="0" rIns="0" bIns="0" rtlCol="0" anchor="t">
            <a:normAutofit/>
          </a:bodyPr>
          <a:lstStyle/>
          <a:p>
            <a:pPr marL="0" indent="0" algn="l">
              <a:buNone/>
            </a:pPr>
            <a:r>
              <a:rPr lang="en-US" sz="840" dirty="0">
                <a:solidFill>
                  <a:srgbClr val="BDC4C9"/>
                </a:solidFill>
                <a:latin typeface="Arial" pitchFamily="34" charset="0"/>
                <a:ea typeface="Arial" pitchFamily="34" charset="-122"/>
                <a:cs typeface="Arial" pitchFamily="34" charset="-120"/>
              </a:rPr>
              <a:t>Illustrative record structure / no actual dealer scores, dates or progress are represented.</a:t>
            </a:r>
            <a:endParaRPr lang="en-US" sz="84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4282C"/>
        </a:solidFill>
        <a:effectLst/>
      </p:bgPr>
    </p:bg>
    <p:spTree>
      <p:nvGrpSpPr>
        <p:cNvPr id="1" name=""/>
        <p:cNvGrpSpPr/>
        <p:nvPr/>
      </p:nvGrpSpPr>
      <p:grpSpPr>
        <a:xfrm>
          <a:off x="0" y="0"/>
          <a:ext cx="0" cy="0"/>
          <a:chOff x="0" y="0"/>
          <a:chExt cx="0" cy="0"/>
        </a:xfrm>
      </p:grpSpPr>
      <p:sp>
        <p:nvSpPr>
          <p:cNvPr id="2" name="Text 0"/>
          <p:cNvSpPr/>
          <p:nvPr/>
        </p:nvSpPr>
        <p:spPr>
          <a:xfrm>
            <a:off x="484632" y="173736"/>
            <a:ext cx="2743200" cy="201168"/>
          </a:xfrm>
          <a:prstGeom prst="rect">
            <a:avLst/>
          </a:prstGeom>
          <a:noFill/>
          <a:ln/>
        </p:spPr>
        <p:txBody>
          <a:bodyPr wrap="square" lIns="0" tIns="0" rIns="0" bIns="0" rtlCol="0" anchor="t">
            <a:normAutofit/>
          </a:bodyPr>
          <a:lstStyle/>
          <a:p>
            <a:pPr marL="0" indent="0" algn="l">
              <a:buNone/>
            </a:pPr>
            <a:r>
              <a:rPr lang="en-US" sz="1000" b="1" dirty="0">
                <a:solidFill>
                  <a:srgbClr val="F5F6F7"/>
                </a:solidFill>
                <a:latin typeface="Arial" pitchFamily="34" charset="0"/>
                <a:ea typeface="Arial" pitchFamily="34" charset="-122"/>
                <a:cs typeface="Arial" pitchFamily="34" charset="-120"/>
              </a:rPr>
              <a:t>ISUZU / UNIVERSE</a:t>
            </a:r>
            <a:endParaRPr lang="en-US" sz="1000" dirty="0"/>
          </a:p>
        </p:txBody>
      </p:sp>
      <p:sp>
        <p:nvSpPr>
          <p:cNvPr id="3" name="Text 1"/>
          <p:cNvSpPr/>
          <p:nvPr/>
        </p:nvSpPr>
        <p:spPr>
          <a:xfrm>
            <a:off x="8046720" y="173736"/>
            <a:ext cx="3657600" cy="201168"/>
          </a:xfrm>
          <a:prstGeom prst="rect">
            <a:avLst/>
          </a:prstGeom>
          <a:noFill/>
          <a:ln/>
        </p:spPr>
        <p:txBody>
          <a:bodyPr wrap="square" lIns="0" tIns="0" rIns="0" bIns="0" rtlCol="0" anchor="t">
            <a:normAutofit/>
          </a:bodyPr>
          <a:lstStyle/>
          <a:p>
            <a:pPr marL="0" indent="0" algn="r">
              <a:buNone/>
            </a:pPr>
            <a:r>
              <a:rPr lang="en-US" sz="900" dirty="0">
                <a:solidFill>
                  <a:srgbClr val="BDC4C9"/>
                </a:solidFill>
                <a:latin typeface="Arial" pitchFamily="34" charset="0"/>
                <a:ea typeface="Arial" pitchFamily="34" charset="-122"/>
                <a:cs typeface="Arial" pitchFamily="34" charset="-120"/>
              </a:rPr>
              <a:t>COMMERCIAL VISION  /  3.0</a:t>
            </a:r>
            <a:endParaRPr lang="en-US" sz="900" dirty="0"/>
          </a:p>
        </p:txBody>
      </p:sp>
      <p:sp>
        <p:nvSpPr>
          <p:cNvPr id="4" name="Shape 2"/>
          <p:cNvSpPr/>
          <p:nvPr/>
        </p:nvSpPr>
        <p:spPr>
          <a:xfrm>
            <a:off x="484632" y="512064"/>
            <a:ext cx="475488" cy="22860"/>
          </a:xfrm>
          <a:prstGeom prst="rect">
            <a:avLst/>
          </a:prstGeom>
          <a:solidFill>
            <a:srgbClr val="D71920"/>
          </a:solidFill>
          <a:ln w="12700">
            <a:solidFill>
              <a:srgbClr val="D71920">
                <a:alpha val="0"/>
              </a:srgbClr>
            </a:solidFill>
            <a:prstDash val="solid"/>
          </a:ln>
        </p:spPr>
        <p:txBody>
          <a:bodyPr/>
          <a:lstStyle/>
          <a:p>
            <a:endParaRPr lang="nl-NL"/>
          </a:p>
        </p:txBody>
      </p:sp>
      <p:sp>
        <p:nvSpPr>
          <p:cNvPr id="5" name="Text 3"/>
          <p:cNvSpPr/>
          <p:nvPr/>
        </p:nvSpPr>
        <p:spPr>
          <a:xfrm>
            <a:off x="484632" y="658368"/>
            <a:ext cx="11064240" cy="219456"/>
          </a:xfrm>
          <a:prstGeom prst="rect">
            <a:avLst/>
          </a:prstGeom>
          <a:noFill/>
          <a:ln/>
        </p:spPr>
        <p:txBody>
          <a:bodyPr wrap="square" lIns="0" tIns="0" rIns="0" bIns="0" rtlCol="0" anchor="t">
            <a:normAutofit/>
          </a:bodyPr>
          <a:lstStyle/>
          <a:p>
            <a:pPr marL="0" indent="0" algn="l">
              <a:buNone/>
            </a:pPr>
            <a:r>
              <a:rPr lang="en-US" sz="1000" b="1" dirty="0">
                <a:solidFill>
                  <a:srgbClr val="D71920"/>
                </a:solidFill>
                <a:latin typeface="Arial" pitchFamily="34" charset="0"/>
                <a:ea typeface="Arial" pitchFamily="34" charset="-122"/>
                <a:cs typeface="Arial" pitchFamily="34" charset="-120"/>
              </a:rPr>
              <a:t>IDS / INTERACTIVE EXAMPLE</a:t>
            </a:r>
            <a:endParaRPr lang="en-US" sz="1000" dirty="0"/>
          </a:p>
        </p:txBody>
      </p:sp>
      <p:sp>
        <p:nvSpPr>
          <p:cNvPr id="6" name="Shape 4"/>
          <p:cNvSpPr/>
          <p:nvPr/>
        </p:nvSpPr>
        <p:spPr>
          <a:xfrm>
            <a:off x="484632" y="6446520"/>
            <a:ext cx="11219688" cy="914"/>
          </a:xfrm>
          <a:prstGeom prst="line">
            <a:avLst/>
          </a:prstGeom>
          <a:noFill/>
          <a:ln w="6350">
            <a:solidFill>
              <a:srgbClr val="647078"/>
            </a:solidFill>
            <a:prstDash val="solid"/>
          </a:ln>
        </p:spPr>
        <p:txBody>
          <a:bodyPr/>
          <a:lstStyle/>
          <a:p>
            <a:endParaRPr lang="nl-NL"/>
          </a:p>
        </p:txBody>
      </p:sp>
      <p:sp>
        <p:nvSpPr>
          <p:cNvPr id="7" name="Text 5"/>
          <p:cNvSpPr/>
          <p:nvPr/>
        </p:nvSpPr>
        <p:spPr>
          <a:xfrm>
            <a:off x="484632" y="6556248"/>
            <a:ext cx="9144000" cy="146304"/>
          </a:xfrm>
          <a:prstGeom prst="rect">
            <a:avLst/>
          </a:prstGeom>
          <a:noFill/>
          <a:ln/>
        </p:spPr>
        <p:txBody>
          <a:bodyPr wrap="square" lIns="0" tIns="0" rIns="0" bIns="0" rtlCol="0" anchor="t">
            <a:normAutofit/>
          </a:bodyPr>
          <a:lstStyle/>
          <a:p>
            <a:pPr marL="0" indent="0" algn="l">
              <a:buNone/>
            </a:pPr>
            <a:r>
              <a:rPr lang="en-US" sz="750" dirty="0">
                <a:solidFill>
                  <a:srgbClr val="BDC4C9"/>
                </a:solidFill>
                <a:latin typeface="Arial" pitchFamily="34" charset="0"/>
                <a:ea typeface="Arial" pitchFamily="34" charset="-122"/>
                <a:cs typeface="Arial" pitchFamily="34" charset="-120"/>
              </a:rPr>
              <a:t>22 SEPTEMBER 2026  /  CONCEPT AND APPLICATION EXAMPLES</a:t>
            </a:r>
            <a:endParaRPr lang="en-US" sz="750" dirty="0"/>
          </a:p>
        </p:txBody>
      </p:sp>
      <p:sp>
        <p:nvSpPr>
          <p:cNvPr id="8" name="Text 6"/>
          <p:cNvSpPr/>
          <p:nvPr/>
        </p:nvSpPr>
        <p:spPr>
          <a:xfrm>
            <a:off x="10789920" y="6547104"/>
            <a:ext cx="914400" cy="173736"/>
          </a:xfrm>
          <a:prstGeom prst="rect">
            <a:avLst/>
          </a:prstGeom>
          <a:noFill/>
          <a:ln/>
        </p:spPr>
        <p:txBody>
          <a:bodyPr wrap="square" lIns="0" tIns="0" rIns="0" bIns="0" rtlCol="0" anchor="t">
            <a:normAutofit/>
          </a:bodyPr>
          <a:lstStyle/>
          <a:p>
            <a:pPr marL="0" indent="0" algn="r">
              <a:buNone/>
            </a:pPr>
            <a:r>
              <a:rPr lang="en-US" sz="850" dirty="0">
                <a:solidFill>
                  <a:srgbClr val="BDC4C9"/>
                </a:solidFill>
                <a:latin typeface="Arial" pitchFamily="34" charset="0"/>
                <a:ea typeface="Arial" pitchFamily="34" charset="-122"/>
                <a:cs typeface="Arial" pitchFamily="34" charset="-120"/>
              </a:rPr>
              <a:t>16 / 49</a:t>
            </a:r>
            <a:endParaRPr lang="en-US" sz="850" dirty="0"/>
          </a:p>
        </p:txBody>
      </p:sp>
      <p:sp>
        <p:nvSpPr>
          <p:cNvPr id="9" name="Text 7"/>
          <p:cNvSpPr/>
          <p:nvPr/>
        </p:nvSpPr>
        <p:spPr>
          <a:xfrm>
            <a:off x="502920" y="1005840"/>
            <a:ext cx="11036808" cy="841248"/>
          </a:xfrm>
          <a:prstGeom prst="rect">
            <a:avLst/>
          </a:prstGeom>
          <a:noFill/>
          <a:ln/>
        </p:spPr>
        <p:txBody>
          <a:bodyPr wrap="square" lIns="0" tIns="0" rIns="0" bIns="0" rtlCol="0" anchor="t">
            <a:normAutofit/>
          </a:bodyPr>
          <a:lstStyle/>
          <a:p>
            <a:pPr marL="0" indent="0" algn="l">
              <a:buNone/>
            </a:pPr>
            <a:r>
              <a:rPr lang="en-US" sz="3400" b="1" dirty="0">
                <a:solidFill>
                  <a:srgbClr val="F5F6F7"/>
                </a:solidFill>
                <a:latin typeface="Arial" pitchFamily="34" charset="0"/>
                <a:ea typeface="Arial" pitchFamily="34" charset="-122"/>
                <a:cs typeface="Arial" pitchFamily="34" charset="-120"/>
              </a:rPr>
              <a:t>See the work move, not the score.</a:t>
            </a:r>
            <a:endParaRPr lang="en-US" sz="3400" dirty="0"/>
          </a:p>
        </p:txBody>
      </p:sp>
      <p:sp>
        <p:nvSpPr>
          <p:cNvPr id="10" name="Text 8"/>
          <p:cNvSpPr/>
          <p:nvPr/>
        </p:nvSpPr>
        <p:spPr>
          <a:xfrm>
            <a:off x="530352" y="1865376"/>
            <a:ext cx="10954512" cy="566928"/>
          </a:xfrm>
          <a:prstGeom prst="rect">
            <a:avLst/>
          </a:prstGeom>
          <a:noFill/>
          <a:ln/>
        </p:spPr>
        <p:txBody>
          <a:bodyPr wrap="square" lIns="0" tIns="0" rIns="0" bIns="0" rtlCol="0" anchor="t">
            <a:normAutofit/>
          </a:bodyPr>
          <a:lstStyle/>
          <a:p>
            <a:pPr marL="0" indent="0" algn="l">
              <a:buNone/>
            </a:pPr>
            <a:r>
              <a:rPr lang="en-US" sz="1800" dirty="0">
                <a:solidFill>
                  <a:srgbClr val="BDC4C9"/>
                </a:solidFill>
                <a:latin typeface="Arial" pitchFamily="34" charset="0"/>
                <a:ea typeface="Arial" pitchFamily="34" charset="-122"/>
                <a:cs typeface="Arial" pitchFamily="34" charset="-120"/>
              </a:rPr>
              <a:t>Illustrative project: establish a regular parts-range review.</a:t>
            </a:r>
            <a:endParaRPr lang="en-US" sz="1800" dirty="0"/>
          </a:p>
        </p:txBody>
      </p:sp>
      <p:sp>
        <p:nvSpPr>
          <p:cNvPr id="11" name="Shape 9"/>
          <p:cNvSpPr/>
          <p:nvPr/>
        </p:nvSpPr>
        <p:spPr>
          <a:xfrm>
            <a:off x="1682977" y="2660904"/>
            <a:ext cx="8758989" cy="3240826"/>
          </a:xfrm>
          <a:prstGeom prst="roundRect">
            <a:avLst>
              <a:gd name="adj" fmla="val 1129"/>
            </a:avLst>
          </a:prstGeom>
          <a:solidFill>
            <a:srgbClr val="30363B"/>
          </a:solidFill>
          <a:ln w="8890">
            <a:solidFill>
              <a:srgbClr val="53606A"/>
            </a:solidFill>
            <a:prstDash val="solid"/>
          </a:ln>
        </p:spPr>
        <p:txBody>
          <a:bodyPr/>
          <a:lstStyle/>
          <a:p>
            <a:endParaRPr lang="nl-NL"/>
          </a:p>
        </p:txBody>
      </p:sp>
      <p:sp>
        <p:nvSpPr>
          <p:cNvPr id="12" name="Shape 10"/>
          <p:cNvSpPr/>
          <p:nvPr/>
        </p:nvSpPr>
        <p:spPr>
          <a:xfrm>
            <a:off x="1682977" y="2660904"/>
            <a:ext cx="8758989" cy="560575"/>
          </a:xfrm>
          <a:prstGeom prst="rect">
            <a:avLst/>
          </a:prstGeom>
          <a:solidFill>
            <a:srgbClr val="D71920"/>
          </a:solidFill>
          <a:ln w="12700">
            <a:solidFill>
              <a:srgbClr val="24282C">
                <a:alpha val="0"/>
              </a:srgbClr>
            </a:solidFill>
            <a:prstDash val="solid"/>
          </a:ln>
        </p:spPr>
        <p:txBody>
          <a:bodyPr/>
          <a:lstStyle/>
          <a:p>
            <a:endParaRPr lang="nl-NL"/>
          </a:p>
        </p:txBody>
      </p:sp>
      <p:sp>
        <p:nvSpPr>
          <p:cNvPr id="13" name="Text 11"/>
          <p:cNvSpPr/>
          <p:nvPr/>
        </p:nvSpPr>
        <p:spPr>
          <a:xfrm>
            <a:off x="1893193" y="2818566"/>
            <a:ext cx="8268486" cy="525539"/>
          </a:xfrm>
          <a:prstGeom prst="rect">
            <a:avLst/>
          </a:prstGeom>
          <a:noFill/>
          <a:ln/>
        </p:spPr>
        <p:txBody>
          <a:bodyPr wrap="square" lIns="0" tIns="0" rIns="0" bIns="0" rtlCol="0" anchor="t">
            <a:normAutofit/>
          </a:bodyPr>
          <a:lstStyle/>
          <a:p>
            <a:pPr marL="0" indent="0" algn="l">
              <a:buNone/>
            </a:pPr>
            <a:r>
              <a:rPr lang="en-US" sz="1724" b="1" dirty="0">
                <a:solidFill>
                  <a:srgbClr val="F5F6F7"/>
                </a:solidFill>
                <a:latin typeface="Arial" pitchFamily="34" charset="0"/>
                <a:ea typeface="Arial" pitchFamily="34" charset="-122"/>
                <a:cs typeface="Arial" pitchFamily="34" charset="-120"/>
              </a:rPr>
              <a:t>IDS DEVELOPMENT  /  Establish a regular parts-range review</a:t>
            </a:r>
            <a:endParaRPr lang="en-US" sz="1724" dirty="0"/>
          </a:p>
        </p:txBody>
      </p:sp>
      <p:sp>
        <p:nvSpPr>
          <p:cNvPr id="14" name="Shape 12"/>
          <p:cNvSpPr/>
          <p:nvPr/>
        </p:nvSpPr>
        <p:spPr>
          <a:xfrm>
            <a:off x="1893193" y="3528044"/>
            <a:ext cx="1926978" cy="1296330"/>
          </a:xfrm>
          <a:prstGeom prst="roundRect">
            <a:avLst>
              <a:gd name="adj" fmla="val 2822"/>
            </a:avLst>
          </a:prstGeom>
          <a:solidFill>
            <a:srgbClr val="383F44"/>
          </a:solidFill>
          <a:ln w="12700">
            <a:solidFill>
              <a:srgbClr val="24282C">
                <a:alpha val="0"/>
              </a:srgbClr>
            </a:solidFill>
            <a:prstDash val="solid"/>
          </a:ln>
        </p:spPr>
        <p:txBody>
          <a:bodyPr/>
          <a:lstStyle/>
          <a:p>
            <a:endParaRPr lang="nl-NL"/>
          </a:p>
        </p:txBody>
      </p:sp>
      <p:sp>
        <p:nvSpPr>
          <p:cNvPr id="15" name="Text 13"/>
          <p:cNvSpPr/>
          <p:nvPr/>
        </p:nvSpPr>
        <p:spPr>
          <a:xfrm>
            <a:off x="2024578" y="3703224"/>
            <a:ext cx="1664208" cy="525539"/>
          </a:xfrm>
          <a:prstGeom prst="rect">
            <a:avLst/>
          </a:prstGeom>
          <a:noFill/>
          <a:ln/>
        </p:spPr>
        <p:txBody>
          <a:bodyPr wrap="square" lIns="0" tIns="0" rIns="0" bIns="0" rtlCol="0" anchor="t">
            <a:normAutofit/>
          </a:bodyPr>
          <a:lstStyle/>
          <a:p>
            <a:pPr marL="0" indent="0" algn="l">
              <a:buNone/>
            </a:pPr>
            <a:r>
              <a:rPr lang="en-US" sz="1655" b="1" dirty="0">
                <a:solidFill>
                  <a:srgbClr val="F5F6F7"/>
                </a:solidFill>
                <a:latin typeface="Arial" pitchFamily="34" charset="0"/>
                <a:ea typeface="Arial" pitchFamily="34" charset="-122"/>
                <a:cs typeface="Arial" pitchFamily="34" charset="-120"/>
              </a:rPr>
              <a:t>Objective</a:t>
            </a:r>
            <a:endParaRPr lang="en-US" sz="1655" dirty="0"/>
          </a:p>
        </p:txBody>
      </p:sp>
      <p:sp>
        <p:nvSpPr>
          <p:cNvPr id="16" name="Text 14"/>
          <p:cNvSpPr/>
          <p:nvPr/>
        </p:nvSpPr>
        <p:spPr>
          <a:xfrm>
            <a:off x="2024578" y="4062342"/>
            <a:ext cx="1664208" cy="525539"/>
          </a:xfrm>
          <a:prstGeom prst="rect">
            <a:avLst/>
          </a:prstGeom>
          <a:noFill/>
          <a:ln/>
        </p:spPr>
        <p:txBody>
          <a:bodyPr wrap="square" lIns="0" tIns="0" rIns="0" bIns="0" rtlCol="0" anchor="t">
            <a:normAutofit/>
          </a:bodyPr>
          <a:lstStyle/>
          <a:p>
            <a:pPr marL="0" indent="0" algn="l">
              <a:buNone/>
            </a:pPr>
            <a:r>
              <a:rPr lang="en-US" sz="1448" dirty="0">
                <a:solidFill>
                  <a:srgbClr val="BDC4C9"/>
                </a:solidFill>
                <a:latin typeface="Arial" pitchFamily="34" charset="0"/>
                <a:ea typeface="Arial" pitchFamily="34" charset="-122"/>
                <a:cs typeface="Arial" pitchFamily="34" charset="-120"/>
              </a:rPr>
              <a:t>Define</a:t>
            </a:r>
            <a:endParaRPr lang="en-US" sz="1448" dirty="0"/>
          </a:p>
        </p:txBody>
      </p:sp>
      <p:sp>
        <p:nvSpPr>
          <p:cNvPr id="17" name="Text 15"/>
          <p:cNvSpPr/>
          <p:nvPr/>
        </p:nvSpPr>
        <p:spPr>
          <a:xfrm>
            <a:off x="2024578" y="4465256"/>
            <a:ext cx="1664208" cy="525539"/>
          </a:xfrm>
          <a:prstGeom prst="rect">
            <a:avLst/>
          </a:prstGeom>
          <a:noFill/>
          <a:ln/>
        </p:spPr>
        <p:txBody>
          <a:bodyPr wrap="square" lIns="0" tIns="0" rIns="0" bIns="0" rtlCol="0" anchor="t">
            <a:normAutofit/>
          </a:bodyPr>
          <a:lstStyle/>
          <a:p>
            <a:pPr marL="0" indent="0" algn="l">
              <a:buNone/>
            </a:pPr>
            <a:r>
              <a:rPr lang="en-US" sz="1172" dirty="0">
                <a:solidFill>
                  <a:srgbClr val="8B969E"/>
                </a:solidFill>
                <a:latin typeface="Arial" pitchFamily="34" charset="0"/>
                <a:ea typeface="Arial" pitchFamily="34" charset="-122"/>
                <a:cs typeface="Arial" pitchFamily="34" charset="-120"/>
              </a:rPr>
              <a:t>Not started</a:t>
            </a:r>
            <a:endParaRPr lang="en-US" sz="1172" dirty="0"/>
          </a:p>
        </p:txBody>
      </p:sp>
      <p:sp>
        <p:nvSpPr>
          <p:cNvPr id="18" name="Shape 16"/>
          <p:cNvSpPr/>
          <p:nvPr/>
        </p:nvSpPr>
        <p:spPr>
          <a:xfrm>
            <a:off x="4030386" y="3528044"/>
            <a:ext cx="1926978" cy="1296330"/>
          </a:xfrm>
          <a:prstGeom prst="roundRect">
            <a:avLst>
              <a:gd name="adj" fmla="val 2822"/>
            </a:avLst>
          </a:prstGeom>
          <a:solidFill>
            <a:srgbClr val="383F44"/>
          </a:solidFill>
          <a:ln w="12700">
            <a:solidFill>
              <a:srgbClr val="24282C">
                <a:alpha val="0"/>
              </a:srgbClr>
            </a:solidFill>
            <a:prstDash val="solid"/>
          </a:ln>
        </p:spPr>
        <p:txBody>
          <a:bodyPr/>
          <a:lstStyle/>
          <a:p>
            <a:endParaRPr lang="nl-NL"/>
          </a:p>
        </p:txBody>
      </p:sp>
      <p:sp>
        <p:nvSpPr>
          <p:cNvPr id="19" name="Text 17"/>
          <p:cNvSpPr/>
          <p:nvPr/>
        </p:nvSpPr>
        <p:spPr>
          <a:xfrm>
            <a:off x="4161771" y="3703224"/>
            <a:ext cx="1664208" cy="525539"/>
          </a:xfrm>
          <a:prstGeom prst="rect">
            <a:avLst/>
          </a:prstGeom>
          <a:noFill/>
          <a:ln/>
        </p:spPr>
        <p:txBody>
          <a:bodyPr wrap="square" lIns="0" tIns="0" rIns="0" bIns="0" rtlCol="0" anchor="t">
            <a:normAutofit/>
          </a:bodyPr>
          <a:lstStyle/>
          <a:p>
            <a:pPr marL="0" indent="0" algn="l">
              <a:buNone/>
            </a:pPr>
            <a:r>
              <a:rPr lang="en-US" sz="1655" b="1" dirty="0">
                <a:solidFill>
                  <a:srgbClr val="F5F6F7"/>
                </a:solidFill>
                <a:latin typeface="Arial" pitchFamily="34" charset="0"/>
                <a:ea typeface="Arial" pitchFamily="34" charset="-122"/>
                <a:cs typeface="Arial" pitchFamily="34" charset="-120"/>
              </a:rPr>
              <a:t>Method</a:t>
            </a:r>
            <a:endParaRPr lang="en-US" sz="1655" dirty="0"/>
          </a:p>
        </p:txBody>
      </p:sp>
      <p:sp>
        <p:nvSpPr>
          <p:cNvPr id="20" name="Text 18"/>
          <p:cNvSpPr/>
          <p:nvPr/>
        </p:nvSpPr>
        <p:spPr>
          <a:xfrm>
            <a:off x="4161771" y="4062342"/>
            <a:ext cx="1664208" cy="525539"/>
          </a:xfrm>
          <a:prstGeom prst="rect">
            <a:avLst/>
          </a:prstGeom>
          <a:noFill/>
          <a:ln/>
        </p:spPr>
        <p:txBody>
          <a:bodyPr wrap="square" lIns="0" tIns="0" rIns="0" bIns="0" rtlCol="0" anchor="t">
            <a:normAutofit/>
          </a:bodyPr>
          <a:lstStyle/>
          <a:p>
            <a:pPr marL="0" indent="0" algn="l">
              <a:buNone/>
            </a:pPr>
            <a:r>
              <a:rPr lang="en-US" sz="1448" dirty="0">
                <a:solidFill>
                  <a:srgbClr val="BDC4C9"/>
                </a:solidFill>
                <a:latin typeface="Arial" pitchFamily="34" charset="0"/>
                <a:ea typeface="Arial" pitchFamily="34" charset="-122"/>
                <a:cs typeface="Arial" pitchFamily="34" charset="-120"/>
              </a:rPr>
              <a:t>Prepare</a:t>
            </a:r>
            <a:endParaRPr lang="en-US" sz="1448" dirty="0"/>
          </a:p>
        </p:txBody>
      </p:sp>
      <p:sp>
        <p:nvSpPr>
          <p:cNvPr id="21" name="Text 19"/>
          <p:cNvSpPr/>
          <p:nvPr/>
        </p:nvSpPr>
        <p:spPr>
          <a:xfrm>
            <a:off x="4161771" y="4465256"/>
            <a:ext cx="1664208" cy="525539"/>
          </a:xfrm>
          <a:prstGeom prst="rect">
            <a:avLst/>
          </a:prstGeom>
          <a:noFill/>
          <a:ln/>
        </p:spPr>
        <p:txBody>
          <a:bodyPr wrap="square" lIns="0" tIns="0" rIns="0" bIns="0" rtlCol="0" anchor="t">
            <a:normAutofit/>
          </a:bodyPr>
          <a:lstStyle/>
          <a:p>
            <a:pPr marL="0" indent="0" algn="l">
              <a:buNone/>
            </a:pPr>
            <a:r>
              <a:rPr lang="en-US" sz="1172" dirty="0">
                <a:solidFill>
                  <a:srgbClr val="8B969E"/>
                </a:solidFill>
                <a:latin typeface="Arial" pitchFamily="34" charset="0"/>
                <a:ea typeface="Arial" pitchFamily="34" charset="-122"/>
                <a:cs typeface="Arial" pitchFamily="34" charset="-120"/>
              </a:rPr>
              <a:t>Not started</a:t>
            </a:r>
            <a:endParaRPr lang="en-US" sz="1172" dirty="0"/>
          </a:p>
        </p:txBody>
      </p:sp>
      <p:sp>
        <p:nvSpPr>
          <p:cNvPr id="22" name="Shape 20"/>
          <p:cNvSpPr/>
          <p:nvPr/>
        </p:nvSpPr>
        <p:spPr>
          <a:xfrm>
            <a:off x="6167580" y="3528044"/>
            <a:ext cx="1926978" cy="1296330"/>
          </a:xfrm>
          <a:prstGeom prst="roundRect">
            <a:avLst>
              <a:gd name="adj" fmla="val 2822"/>
            </a:avLst>
          </a:prstGeom>
          <a:solidFill>
            <a:srgbClr val="383F44"/>
          </a:solidFill>
          <a:ln w="12700">
            <a:solidFill>
              <a:srgbClr val="24282C">
                <a:alpha val="0"/>
              </a:srgbClr>
            </a:solidFill>
            <a:prstDash val="solid"/>
          </a:ln>
        </p:spPr>
        <p:txBody>
          <a:bodyPr/>
          <a:lstStyle/>
          <a:p>
            <a:endParaRPr lang="nl-NL"/>
          </a:p>
        </p:txBody>
      </p:sp>
      <p:sp>
        <p:nvSpPr>
          <p:cNvPr id="23" name="Text 21"/>
          <p:cNvSpPr/>
          <p:nvPr/>
        </p:nvSpPr>
        <p:spPr>
          <a:xfrm>
            <a:off x="6298965" y="3703224"/>
            <a:ext cx="1664208" cy="525539"/>
          </a:xfrm>
          <a:prstGeom prst="rect">
            <a:avLst/>
          </a:prstGeom>
          <a:noFill/>
          <a:ln/>
        </p:spPr>
        <p:txBody>
          <a:bodyPr wrap="square" lIns="0" tIns="0" rIns="0" bIns="0" rtlCol="0" anchor="t">
            <a:normAutofit/>
          </a:bodyPr>
          <a:lstStyle/>
          <a:p>
            <a:pPr marL="0" indent="0" algn="l">
              <a:buNone/>
            </a:pPr>
            <a:r>
              <a:rPr lang="en-US" sz="1655" b="1" dirty="0">
                <a:solidFill>
                  <a:srgbClr val="F5F6F7"/>
                </a:solidFill>
                <a:latin typeface="Arial" pitchFamily="34" charset="0"/>
                <a:ea typeface="Arial" pitchFamily="34" charset="-122"/>
                <a:cs typeface="Arial" pitchFamily="34" charset="-120"/>
              </a:rPr>
              <a:t>Trial</a:t>
            </a:r>
            <a:endParaRPr lang="en-US" sz="1655" dirty="0"/>
          </a:p>
        </p:txBody>
      </p:sp>
      <p:sp>
        <p:nvSpPr>
          <p:cNvPr id="24" name="Text 22"/>
          <p:cNvSpPr/>
          <p:nvPr/>
        </p:nvSpPr>
        <p:spPr>
          <a:xfrm>
            <a:off x="6298965" y="4062342"/>
            <a:ext cx="1664208" cy="525539"/>
          </a:xfrm>
          <a:prstGeom prst="rect">
            <a:avLst/>
          </a:prstGeom>
          <a:noFill/>
          <a:ln/>
        </p:spPr>
        <p:txBody>
          <a:bodyPr wrap="square" lIns="0" tIns="0" rIns="0" bIns="0" rtlCol="0" anchor="t">
            <a:normAutofit/>
          </a:bodyPr>
          <a:lstStyle/>
          <a:p>
            <a:pPr marL="0" indent="0" algn="l">
              <a:buNone/>
            </a:pPr>
            <a:r>
              <a:rPr lang="en-US" sz="1448" dirty="0">
                <a:solidFill>
                  <a:srgbClr val="BDC4C9"/>
                </a:solidFill>
                <a:latin typeface="Arial" pitchFamily="34" charset="0"/>
                <a:ea typeface="Arial" pitchFamily="34" charset="-122"/>
                <a:cs typeface="Arial" pitchFamily="34" charset="-120"/>
              </a:rPr>
              <a:t>Use</a:t>
            </a:r>
            <a:endParaRPr lang="en-US" sz="1448" dirty="0"/>
          </a:p>
        </p:txBody>
      </p:sp>
      <p:sp>
        <p:nvSpPr>
          <p:cNvPr id="25" name="Text 23"/>
          <p:cNvSpPr/>
          <p:nvPr/>
        </p:nvSpPr>
        <p:spPr>
          <a:xfrm>
            <a:off x="6298965" y="4465256"/>
            <a:ext cx="1664208" cy="525539"/>
          </a:xfrm>
          <a:prstGeom prst="rect">
            <a:avLst/>
          </a:prstGeom>
          <a:noFill/>
          <a:ln/>
        </p:spPr>
        <p:txBody>
          <a:bodyPr wrap="square" lIns="0" tIns="0" rIns="0" bIns="0" rtlCol="0" anchor="t">
            <a:normAutofit/>
          </a:bodyPr>
          <a:lstStyle/>
          <a:p>
            <a:pPr marL="0" indent="0" algn="l">
              <a:buNone/>
            </a:pPr>
            <a:r>
              <a:rPr lang="en-US" sz="1172" dirty="0">
                <a:solidFill>
                  <a:srgbClr val="8B969E"/>
                </a:solidFill>
                <a:latin typeface="Arial" pitchFamily="34" charset="0"/>
                <a:ea typeface="Arial" pitchFamily="34" charset="-122"/>
                <a:cs typeface="Arial" pitchFamily="34" charset="-120"/>
              </a:rPr>
              <a:t>Not started</a:t>
            </a:r>
            <a:endParaRPr lang="en-US" sz="1172" dirty="0"/>
          </a:p>
        </p:txBody>
      </p:sp>
      <p:sp>
        <p:nvSpPr>
          <p:cNvPr id="26" name="Shape 24"/>
          <p:cNvSpPr/>
          <p:nvPr/>
        </p:nvSpPr>
        <p:spPr>
          <a:xfrm>
            <a:off x="8304773" y="3528044"/>
            <a:ext cx="1926978" cy="1296330"/>
          </a:xfrm>
          <a:prstGeom prst="roundRect">
            <a:avLst>
              <a:gd name="adj" fmla="val 2822"/>
            </a:avLst>
          </a:prstGeom>
          <a:solidFill>
            <a:srgbClr val="383F44"/>
          </a:solidFill>
          <a:ln w="12700">
            <a:solidFill>
              <a:srgbClr val="24282C">
                <a:alpha val="0"/>
              </a:srgbClr>
            </a:solidFill>
            <a:prstDash val="solid"/>
          </a:ln>
        </p:spPr>
        <p:txBody>
          <a:bodyPr/>
          <a:lstStyle/>
          <a:p>
            <a:endParaRPr lang="nl-NL"/>
          </a:p>
        </p:txBody>
      </p:sp>
      <p:sp>
        <p:nvSpPr>
          <p:cNvPr id="27" name="Text 25"/>
          <p:cNvSpPr/>
          <p:nvPr/>
        </p:nvSpPr>
        <p:spPr>
          <a:xfrm>
            <a:off x="8436158" y="3703224"/>
            <a:ext cx="1664208" cy="525539"/>
          </a:xfrm>
          <a:prstGeom prst="rect">
            <a:avLst/>
          </a:prstGeom>
          <a:noFill/>
          <a:ln/>
        </p:spPr>
        <p:txBody>
          <a:bodyPr wrap="square" lIns="0" tIns="0" rIns="0" bIns="0" rtlCol="0" anchor="t">
            <a:normAutofit/>
          </a:bodyPr>
          <a:lstStyle/>
          <a:p>
            <a:pPr marL="0" indent="0" algn="l">
              <a:buNone/>
            </a:pPr>
            <a:r>
              <a:rPr lang="en-US" sz="1655" b="1" dirty="0">
                <a:solidFill>
                  <a:srgbClr val="F5F6F7"/>
                </a:solidFill>
                <a:latin typeface="Arial" pitchFamily="34" charset="0"/>
                <a:ea typeface="Arial" pitchFamily="34" charset="-122"/>
                <a:cs typeface="Arial" pitchFamily="34" charset="-120"/>
              </a:rPr>
              <a:t>Review</a:t>
            </a:r>
            <a:endParaRPr lang="en-US" sz="1655" dirty="0"/>
          </a:p>
        </p:txBody>
      </p:sp>
      <p:sp>
        <p:nvSpPr>
          <p:cNvPr id="28" name="Text 26"/>
          <p:cNvSpPr/>
          <p:nvPr/>
        </p:nvSpPr>
        <p:spPr>
          <a:xfrm>
            <a:off x="8436158" y="4062342"/>
            <a:ext cx="1664208" cy="525539"/>
          </a:xfrm>
          <a:prstGeom prst="rect">
            <a:avLst/>
          </a:prstGeom>
          <a:noFill/>
          <a:ln/>
        </p:spPr>
        <p:txBody>
          <a:bodyPr wrap="square" lIns="0" tIns="0" rIns="0" bIns="0" rtlCol="0" anchor="t">
            <a:normAutofit/>
          </a:bodyPr>
          <a:lstStyle/>
          <a:p>
            <a:pPr marL="0" indent="0" algn="l">
              <a:buNone/>
            </a:pPr>
            <a:r>
              <a:rPr lang="en-US" sz="1448" dirty="0">
                <a:solidFill>
                  <a:srgbClr val="BDC4C9"/>
                </a:solidFill>
                <a:latin typeface="Arial" pitchFamily="34" charset="0"/>
                <a:ea typeface="Arial" pitchFamily="34" charset="-122"/>
                <a:cs typeface="Arial" pitchFamily="34" charset="-120"/>
              </a:rPr>
              <a:t>Evaluate</a:t>
            </a:r>
            <a:endParaRPr lang="en-US" sz="1448" dirty="0"/>
          </a:p>
        </p:txBody>
      </p:sp>
      <p:sp>
        <p:nvSpPr>
          <p:cNvPr id="29" name="Text 27"/>
          <p:cNvSpPr/>
          <p:nvPr/>
        </p:nvSpPr>
        <p:spPr>
          <a:xfrm>
            <a:off x="8436158" y="4465256"/>
            <a:ext cx="1664208" cy="525539"/>
          </a:xfrm>
          <a:prstGeom prst="rect">
            <a:avLst/>
          </a:prstGeom>
          <a:noFill/>
          <a:ln/>
        </p:spPr>
        <p:txBody>
          <a:bodyPr wrap="square" lIns="0" tIns="0" rIns="0" bIns="0" rtlCol="0" anchor="t">
            <a:normAutofit/>
          </a:bodyPr>
          <a:lstStyle/>
          <a:p>
            <a:pPr marL="0" indent="0" algn="l">
              <a:buNone/>
            </a:pPr>
            <a:r>
              <a:rPr lang="en-US" sz="1172" dirty="0">
                <a:solidFill>
                  <a:srgbClr val="8B969E"/>
                </a:solidFill>
                <a:latin typeface="Arial" pitchFamily="34" charset="0"/>
                <a:ea typeface="Arial" pitchFamily="34" charset="-122"/>
                <a:cs typeface="Arial" pitchFamily="34" charset="-120"/>
              </a:rPr>
              <a:t>Not started</a:t>
            </a:r>
            <a:endParaRPr lang="en-US" sz="1172" dirty="0"/>
          </a:p>
        </p:txBody>
      </p:sp>
      <p:sp>
        <p:nvSpPr>
          <p:cNvPr id="30" name="Shape 28"/>
          <p:cNvSpPr/>
          <p:nvPr/>
        </p:nvSpPr>
        <p:spPr>
          <a:xfrm>
            <a:off x="1910711" y="5069626"/>
            <a:ext cx="8303522" cy="914"/>
          </a:xfrm>
          <a:prstGeom prst="line">
            <a:avLst/>
          </a:prstGeom>
          <a:noFill/>
          <a:ln w="8759">
            <a:solidFill>
              <a:srgbClr val="646E76"/>
            </a:solidFill>
            <a:prstDash val="solid"/>
          </a:ln>
        </p:spPr>
        <p:txBody>
          <a:bodyPr/>
          <a:lstStyle/>
          <a:p>
            <a:endParaRPr lang="nl-NL"/>
          </a:p>
        </p:txBody>
      </p:sp>
      <p:sp>
        <p:nvSpPr>
          <p:cNvPr id="31" name="Text 29"/>
          <p:cNvSpPr/>
          <p:nvPr/>
        </p:nvSpPr>
        <p:spPr>
          <a:xfrm>
            <a:off x="1910711" y="5271083"/>
            <a:ext cx="2496312" cy="525539"/>
          </a:xfrm>
          <a:prstGeom prst="rect">
            <a:avLst/>
          </a:prstGeom>
          <a:noFill/>
          <a:ln/>
        </p:spPr>
        <p:txBody>
          <a:bodyPr wrap="square" lIns="0" tIns="0" rIns="0" bIns="0" rtlCol="0" anchor="t">
            <a:normAutofit/>
          </a:bodyPr>
          <a:lstStyle/>
          <a:p>
            <a:pPr marL="0" indent="0" algn="l">
              <a:buNone/>
            </a:pPr>
            <a:r>
              <a:rPr lang="en-US" sz="1310" b="1" dirty="0">
                <a:solidFill>
                  <a:srgbClr val="BDC4C9"/>
                </a:solidFill>
                <a:latin typeface="Arial" pitchFamily="34" charset="0"/>
                <a:ea typeface="Arial" pitchFamily="34" charset="-122"/>
                <a:cs typeface="Arial" pitchFamily="34" charset="-120"/>
              </a:rPr>
              <a:t>Original assessment</a:t>
            </a:r>
            <a:endParaRPr lang="en-US" sz="1310" dirty="0"/>
          </a:p>
        </p:txBody>
      </p:sp>
      <p:sp>
        <p:nvSpPr>
          <p:cNvPr id="32" name="Text 30"/>
          <p:cNvSpPr/>
          <p:nvPr/>
        </p:nvSpPr>
        <p:spPr>
          <a:xfrm>
            <a:off x="4494613" y="5271083"/>
            <a:ext cx="3678776" cy="525539"/>
          </a:xfrm>
          <a:prstGeom prst="rect">
            <a:avLst/>
          </a:prstGeom>
          <a:noFill/>
          <a:ln/>
        </p:spPr>
        <p:txBody>
          <a:bodyPr wrap="square" lIns="0" tIns="0" rIns="0" bIns="0" rtlCol="0" anchor="t">
            <a:normAutofit/>
          </a:bodyPr>
          <a:lstStyle/>
          <a:p>
            <a:pPr marL="0" indent="0" algn="l">
              <a:buNone/>
            </a:pPr>
            <a:r>
              <a:rPr lang="en-US" sz="1310" dirty="0">
                <a:solidFill>
                  <a:srgbClr val="BDC4C9"/>
                </a:solidFill>
                <a:latin typeface="Arial" pitchFamily="34" charset="0"/>
                <a:ea typeface="Arial" pitchFamily="34" charset="-122"/>
                <a:cs typeface="Arial" pitchFamily="34" charset="-120"/>
              </a:rPr>
              <a:t>Not connected in this illustration</a:t>
            </a:r>
            <a:endParaRPr lang="en-US" sz="1310" dirty="0"/>
          </a:p>
        </p:txBody>
      </p:sp>
      <p:sp>
        <p:nvSpPr>
          <p:cNvPr id="33" name="Text 31"/>
          <p:cNvSpPr/>
          <p:nvPr/>
        </p:nvSpPr>
        <p:spPr>
          <a:xfrm>
            <a:off x="1910711" y="5595165"/>
            <a:ext cx="7970680" cy="525539"/>
          </a:xfrm>
          <a:prstGeom prst="rect">
            <a:avLst/>
          </a:prstGeom>
          <a:noFill/>
          <a:ln/>
        </p:spPr>
        <p:txBody>
          <a:bodyPr wrap="square" lIns="0" tIns="0" rIns="0" bIns="0" rtlCol="0" anchor="t">
            <a:normAutofit/>
          </a:bodyPr>
          <a:lstStyle/>
          <a:p>
            <a:pPr marL="0" indent="0" algn="l">
              <a:buNone/>
            </a:pPr>
            <a:r>
              <a:rPr lang="en-US" sz="1241" dirty="0">
                <a:solidFill>
                  <a:srgbClr val="BDC4C9"/>
                </a:solidFill>
                <a:latin typeface="Arial" pitchFamily="34" charset="0"/>
                <a:ea typeface="Arial" pitchFamily="34" charset="-122"/>
                <a:cs typeface="Arial" pitchFamily="34" charset="-120"/>
              </a:rPr>
              <a:t>Progress entries and evidence remain separate from later reassessment.</a:t>
            </a:r>
            <a:endParaRPr lang="en-US" sz="1241" dirty="0"/>
          </a:p>
        </p:txBody>
      </p:sp>
      <p:sp>
        <p:nvSpPr>
          <p:cNvPr id="34" name="Text 32"/>
          <p:cNvSpPr/>
          <p:nvPr/>
        </p:nvSpPr>
        <p:spPr>
          <a:xfrm>
            <a:off x="548640" y="6035040"/>
            <a:ext cx="10954512" cy="219456"/>
          </a:xfrm>
          <a:prstGeom prst="rect">
            <a:avLst/>
          </a:prstGeom>
          <a:noFill/>
          <a:ln/>
        </p:spPr>
        <p:txBody>
          <a:bodyPr wrap="square" lIns="0" tIns="0" rIns="0" bIns="0" rtlCol="0" anchor="t">
            <a:normAutofit/>
          </a:bodyPr>
          <a:lstStyle/>
          <a:p>
            <a:pPr marL="0" indent="0" algn="l">
              <a:buNone/>
            </a:pPr>
            <a:r>
              <a:rPr lang="en-US" sz="840" dirty="0">
                <a:solidFill>
                  <a:srgbClr val="BDC4C9"/>
                </a:solidFill>
                <a:latin typeface="Arial" pitchFamily="34" charset="0"/>
                <a:ea typeface="Arial" pitchFamily="34" charset="-122"/>
                <a:cs typeface="Arial" pitchFamily="34" charset="-120"/>
              </a:rPr>
              <a:t>Interface illustration / unassigned demonstration project; original assessment unchanged.</a:t>
            </a:r>
            <a:endParaRPr lang="en-US" sz="84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4282C"/>
        </a:solidFill>
        <a:effectLst/>
      </p:bgPr>
    </p:bg>
    <p:spTree>
      <p:nvGrpSpPr>
        <p:cNvPr id="1" name=""/>
        <p:cNvGrpSpPr/>
        <p:nvPr/>
      </p:nvGrpSpPr>
      <p:grpSpPr>
        <a:xfrm>
          <a:off x="0" y="0"/>
          <a:ext cx="0" cy="0"/>
          <a:chOff x="0" y="0"/>
          <a:chExt cx="0" cy="0"/>
        </a:xfrm>
      </p:grpSpPr>
      <p:sp>
        <p:nvSpPr>
          <p:cNvPr id="2" name="Text 0"/>
          <p:cNvSpPr/>
          <p:nvPr/>
        </p:nvSpPr>
        <p:spPr>
          <a:xfrm>
            <a:off x="484632" y="173736"/>
            <a:ext cx="2743200" cy="201168"/>
          </a:xfrm>
          <a:prstGeom prst="rect">
            <a:avLst/>
          </a:prstGeom>
          <a:noFill/>
          <a:ln/>
        </p:spPr>
        <p:txBody>
          <a:bodyPr wrap="square" lIns="0" tIns="0" rIns="0" bIns="0" rtlCol="0" anchor="t">
            <a:normAutofit/>
          </a:bodyPr>
          <a:lstStyle/>
          <a:p>
            <a:pPr marL="0" indent="0" algn="l">
              <a:buNone/>
            </a:pPr>
            <a:r>
              <a:rPr lang="en-US" sz="1000" b="1" dirty="0">
                <a:solidFill>
                  <a:srgbClr val="F5F6F7"/>
                </a:solidFill>
                <a:latin typeface="Arial" pitchFamily="34" charset="0"/>
                <a:ea typeface="Arial" pitchFamily="34" charset="-122"/>
                <a:cs typeface="Arial" pitchFamily="34" charset="-120"/>
              </a:rPr>
              <a:t>ISUZU / UNIVERSE</a:t>
            </a:r>
            <a:endParaRPr lang="en-US" sz="1000" dirty="0"/>
          </a:p>
        </p:txBody>
      </p:sp>
      <p:sp>
        <p:nvSpPr>
          <p:cNvPr id="3" name="Text 1"/>
          <p:cNvSpPr/>
          <p:nvPr/>
        </p:nvSpPr>
        <p:spPr>
          <a:xfrm>
            <a:off x="8046720" y="173736"/>
            <a:ext cx="3657600" cy="201168"/>
          </a:xfrm>
          <a:prstGeom prst="rect">
            <a:avLst/>
          </a:prstGeom>
          <a:noFill/>
          <a:ln/>
        </p:spPr>
        <p:txBody>
          <a:bodyPr wrap="square" lIns="0" tIns="0" rIns="0" bIns="0" rtlCol="0" anchor="t">
            <a:normAutofit/>
          </a:bodyPr>
          <a:lstStyle/>
          <a:p>
            <a:pPr marL="0" indent="0" algn="r">
              <a:buNone/>
            </a:pPr>
            <a:r>
              <a:rPr lang="en-US" sz="900" dirty="0">
                <a:solidFill>
                  <a:srgbClr val="BDC4C9"/>
                </a:solidFill>
                <a:latin typeface="Arial" pitchFamily="34" charset="0"/>
                <a:ea typeface="Arial" pitchFamily="34" charset="-122"/>
                <a:cs typeface="Arial" pitchFamily="34" charset="-120"/>
              </a:rPr>
              <a:t>COMMERCIAL VISION  /  3.0</a:t>
            </a:r>
            <a:endParaRPr lang="en-US" sz="900" dirty="0"/>
          </a:p>
        </p:txBody>
      </p:sp>
      <p:sp>
        <p:nvSpPr>
          <p:cNvPr id="4" name="Shape 2"/>
          <p:cNvSpPr/>
          <p:nvPr/>
        </p:nvSpPr>
        <p:spPr>
          <a:xfrm>
            <a:off x="484632" y="512064"/>
            <a:ext cx="475488" cy="22860"/>
          </a:xfrm>
          <a:prstGeom prst="rect">
            <a:avLst/>
          </a:prstGeom>
          <a:solidFill>
            <a:srgbClr val="D71920"/>
          </a:solidFill>
          <a:ln w="12700">
            <a:solidFill>
              <a:srgbClr val="D71920">
                <a:alpha val="0"/>
              </a:srgbClr>
            </a:solidFill>
            <a:prstDash val="solid"/>
          </a:ln>
        </p:spPr>
        <p:txBody>
          <a:bodyPr/>
          <a:lstStyle/>
          <a:p>
            <a:endParaRPr lang="nl-NL"/>
          </a:p>
        </p:txBody>
      </p:sp>
      <p:sp>
        <p:nvSpPr>
          <p:cNvPr id="5" name="Text 3"/>
          <p:cNvSpPr/>
          <p:nvPr/>
        </p:nvSpPr>
        <p:spPr>
          <a:xfrm>
            <a:off x="484632" y="658368"/>
            <a:ext cx="11064240" cy="219456"/>
          </a:xfrm>
          <a:prstGeom prst="rect">
            <a:avLst/>
          </a:prstGeom>
          <a:noFill/>
          <a:ln/>
        </p:spPr>
        <p:txBody>
          <a:bodyPr wrap="square" lIns="0" tIns="0" rIns="0" bIns="0" rtlCol="0" anchor="t">
            <a:normAutofit/>
          </a:bodyPr>
          <a:lstStyle/>
          <a:p>
            <a:pPr marL="0" indent="0" algn="l">
              <a:buNone/>
            </a:pPr>
            <a:r>
              <a:rPr lang="en-US" sz="1000" b="1" dirty="0">
                <a:solidFill>
                  <a:srgbClr val="D71920"/>
                </a:solidFill>
                <a:latin typeface="Arial" pitchFamily="34" charset="0"/>
                <a:ea typeface="Arial" pitchFamily="34" charset="-122"/>
                <a:cs typeface="Arial" pitchFamily="34" charset="-120"/>
              </a:rPr>
              <a:t>IDS / COMMERCIAL CONTEXT</a:t>
            </a:r>
            <a:endParaRPr lang="en-US" sz="1000" dirty="0"/>
          </a:p>
        </p:txBody>
      </p:sp>
      <p:sp>
        <p:nvSpPr>
          <p:cNvPr id="6" name="Shape 4"/>
          <p:cNvSpPr/>
          <p:nvPr/>
        </p:nvSpPr>
        <p:spPr>
          <a:xfrm>
            <a:off x="484632" y="6446520"/>
            <a:ext cx="11219688" cy="914"/>
          </a:xfrm>
          <a:prstGeom prst="line">
            <a:avLst/>
          </a:prstGeom>
          <a:noFill/>
          <a:ln w="6350">
            <a:solidFill>
              <a:srgbClr val="647078"/>
            </a:solidFill>
            <a:prstDash val="solid"/>
          </a:ln>
        </p:spPr>
        <p:txBody>
          <a:bodyPr/>
          <a:lstStyle/>
          <a:p>
            <a:endParaRPr lang="nl-NL"/>
          </a:p>
        </p:txBody>
      </p:sp>
      <p:sp>
        <p:nvSpPr>
          <p:cNvPr id="7" name="Text 5"/>
          <p:cNvSpPr/>
          <p:nvPr/>
        </p:nvSpPr>
        <p:spPr>
          <a:xfrm>
            <a:off x="484632" y="6556248"/>
            <a:ext cx="9144000" cy="146304"/>
          </a:xfrm>
          <a:prstGeom prst="rect">
            <a:avLst/>
          </a:prstGeom>
          <a:noFill/>
          <a:ln/>
        </p:spPr>
        <p:txBody>
          <a:bodyPr wrap="square" lIns="0" tIns="0" rIns="0" bIns="0" rtlCol="0" anchor="t">
            <a:normAutofit/>
          </a:bodyPr>
          <a:lstStyle/>
          <a:p>
            <a:pPr marL="0" indent="0" algn="l">
              <a:buNone/>
            </a:pPr>
            <a:r>
              <a:rPr lang="en-US" sz="750" dirty="0">
                <a:solidFill>
                  <a:srgbClr val="BDC4C9"/>
                </a:solidFill>
                <a:latin typeface="Arial" pitchFamily="34" charset="0"/>
                <a:ea typeface="Arial" pitchFamily="34" charset="-122"/>
                <a:cs typeface="Arial" pitchFamily="34" charset="-120"/>
              </a:rPr>
              <a:t>22 SEPTEMBER 2026  /  CONCEPT AND APPLICATION EXAMPLES</a:t>
            </a:r>
            <a:endParaRPr lang="en-US" sz="750" dirty="0"/>
          </a:p>
        </p:txBody>
      </p:sp>
      <p:sp>
        <p:nvSpPr>
          <p:cNvPr id="8" name="Text 6"/>
          <p:cNvSpPr/>
          <p:nvPr/>
        </p:nvSpPr>
        <p:spPr>
          <a:xfrm>
            <a:off x="10789920" y="6547104"/>
            <a:ext cx="914400" cy="173736"/>
          </a:xfrm>
          <a:prstGeom prst="rect">
            <a:avLst/>
          </a:prstGeom>
          <a:noFill/>
          <a:ln/>
        </p:spPr>
        <p:txBody>
          <a:bodyPr wrap="square" lIns="0" tIns="0" rIns="0" bIns="0" rtlCol="0" anchor="t">
            <a:normAutofit/>
          </a:bodyPr>
          <a:lstStyle/>
          <a:p>
            <a:pPr marL="0" indent="0" algn="r">
              <a:buNone/>
            </a:pPr>
            <a:r>
              <a:rPr lang="en-US" sz="850" dirty="0">
                <a:solidFill>
                  <a:srgbClr val="BDC4C9"/>
                </a:solidFill>
                <a:latin typeface="Arial" pitchFamily="34" charset="0"/>
                <a:ea typeface="Arial" pitchFamily="34" charset="-122"/>
                <a:cs typeface="Arial" pitchFamily="34" charset="-120"/>
              </a:rPr>
              <a:t>17 / 49</a:t>
            </a:r>
            <a:endParaRPr lang="en-US" sz="850" dirty="0"/>
          </a:p>
        </p:txBody>
      </p:sp>
      <p:sp>
        <p:nvSpPr>
          <p:cNvPr id="9" name="Text 7"/>
          <p:cNvSpPr/>
          <p:nvPr/>
        </p:nvSpPr>
        <p:spPr>
          <a:xfrm>
            <a:off x="502920" y="1005840"/>
            <a:ext cx="11036808" cy="841248"/>
          </a:xfrm>
          <a:prstGeom prst="rect">
            <a:avLst/>
          </a:prstGeom>
          <a:noFill/>
          <a:ln/>
        </p:spPr>
        <p:txBody>
          <a:bodyPr wrap="square" lIns="0" tIns="0" rIns="0" bIns="0" rtlCol="0" anchor="t">
            <a:normAutofit/>
          </a:bodyPr>
          <a:lstStyle/>
          <a:p>
            <a:pPr marL="0" indent="0" algn="l">
              <a:buNone/>
            </a:pPr>
            <a:r>
              <a:rPr lang="en-US" sz="3400" b="1" dirty="0">
                <a:solidFill>
                  <a:srgbClr val="F5F6F7"/>
                </a:solidFill>
                <a:latin typeface="Arial" pitchFamily="34" charset="0"/>
                <a:ea typeface="Arial" pitchFamily="34" charset="-122"/>
                <a:cs typeface="Arial" pitchFamily="34" charset="-120"/>
              </a:rPr>
              <a:t>Commercial evidence can sharpen the discussion.</a:t>
            </a:r>
            <a:endParaRPr lang="en-US" sz="3400" dirty="0"/>
          </a:p>
        </p:txBody>
      </p:sp>
      <p:sp>
        <p:nvSpPr>
          <p:cNvPr id="10" name="Text 8"/>
          <p:cNvSpPr/>
          <p:nvPr/>
        </p:nvSpPr>
        <p:spPr>
          <a:xfrm>
            <a:off x="530352" y="1865376"/>
            <a:ext cx="10954512" cy="566928"/>
          </a:xfrm>
          <a:prstGeom prst="rect">
            <a:avLst/>
          </a:prstGeom>
          <a:noFill/>
          <a:ln/>
        </p:spPr>
        <p:txBody>
          <a:bodyPr wrap="square" lIns="0" tIns="0" rIns="0" bIns="0" rtlCol="0" anchor="t">
            <a:normAutofit/>
          </a:bodyPr>
          <a:lstStyle/>
          <a:p>
            <a:pPr marL="0" indent="0" algn="l">
              <a:buNone/>
            </a:pPr>
            <a:r>
              <a:rPr lang="en-US" sz="1800" dirty="0">
                <a:solidFill>
                  <a:srgbClr val="BDC4C9"/>
                </a:solidFill>
                <a:latin typeface="Arial" pitchFamily="34" charset="0"/>
                <a:ea typeface="Arial" pitchFamily="34" charset="-122"/>
                <a:cs typeface="Arial" pitchFamily="34" charset="-120"/>
              </a:rPr>
              <a:t>Use validated relationships and retain each source's own period.</a:t>
            </a:r>
            <a:endParaRPr lang="en-US" sz="1800" dirty="0"/>
          </a:p>
        </p:txBody>
      </p:sp>
      <p:sp>
        <p:nvSpPr>
          <p:cNvPr id="11" name="Shape 9"/>
          <p:cNvSpPr/>
          <p:nvPr/>
        </p:nvSpPr>
        <p:spPr>
          <a:xfrm>
            <a:off x="1817043" y="2966575"/>
            <a:ext cx="2683111" cy="2343477"/>
          </a:xfrm>
          <a:prstGeom prst="roundRect">
            <a:avLst>
              <a:gd name="adj" fmla="val 1561"/>
            </a:avLst>
          </a:prstGeom>
          <a:solidFill>
            <a:srgbClr val="383F44"/>
          </a:solidFill>
          <a:ln w="8890">
            <a:solidFill>
              <a:srgbClr val="D71920"/>
            </a:solidFill>
            <a:prstDash val="solid"/>
          </a:ln>
        </p:spPr>
        <p:txBody>
          <a:bodyPr/>
          <a:lstStyle/>
          <a:p>
            <a:endParaRPr lang="nl-NL"/>
          </a:p>
        </p:txBody>
      </p:sp>
      <p:sp>
        <p:nvSpPr>
          <p:cNvPr id="12" name="Shape 10"/>
          <p:cNvSpPr/>
          <p:nvPr/>
        </p:nvSpPr>
        <p:spPr>
          <a:xfrm>
            <a:off x="1817043" y="3085447"/>
            <a:ext cx="33963" cy="2105733"/>
          </a:xfrm>
          <a:prstGeom prst="rect">
            <a:avLst/>
          </a:prstGeom>
          <a:solidFill>
            <a:srgbClr val="D71920"/>
          </a:solidFill>
          <a:ln w="12700">
            <a:solidFill>
              <a:srgbClr val="24282C">
                <a:alpha val="0"/>
              </a:srgbClr>
            </a:solidFill>
            <a:prstDash val="solid"/>
          </a:ln>
        </p:spPr>
        <p:txBody>
          <a:bodyPr/>
          <a:lstStyle/>
          <a:p>
            <a:endParaRPr lang="nl-NL"/>
          </a:p>
        </p:txBody>
      </p:sp>
      <p:sp>
        <p:nvSpPr>
          <p:cNvPr id="13" name="Text 11"/>
          <p:cNvSpPr/>
          <p:nvPr/>
        </p:nvSpPr>
        <p:spPr>
          <a:xfrm>
            <a:off x="1961388" y="3102429"/>
            <a:ext cx="2394422" cy="543415"/>
          </a:xfrm>
          <a:prstGeom prst="rect">
            <a:avLst/>
          </a:prstGeom>
          <a:noFill/>
          <a:ln/>
        </p:spPr>
        <p:txBody>
          <a:bodyPr wrap="square" lIns="0" tIns="0" rIns="0" bIns="0" rtlCol="0" anchor="t">
            <a:normAutofit/>
          </a:bodyPr>
          <a:lstStyle/>
          <a:p>
            <a:pPr marL="0" indent="0" algn="l">
              <a:buNone/>
            </a:pPr>
            <a:r>
              <a:rPr lang="en-US" sz="1671" b="1" dirty="0">
                <a:solidFill>
                  <a:srgbClr val="F5F6F7"/>
                </a:solidFill>
                <a:latin typeface="Arial" pitchFamily="34" charset="0"/>
                <a:ea typeface="Arial" pitchFamily="34" charset="-122"/>
                <a:cs typeface="Arial" pitchFamily="34" charset="-120"/>
              </a:rPr>
              <a:t>Assessment</a:t>
            </a:r>
            <a:endParaRPr lang="en-US" sz="1671" dirty="0"/>
          </a:p>
        </p:txBody>
      </p:sp>
      <p:sp>
        <p:nvSpPr>
          <p:cNvPr id="14" name="Text 12"/>
          <p:cNvSpPr/>
          <p:nvPr/>
        </p:nvSpPr>
        <p:spPr>
          <a:xfrm>
            <a:off x="1961388" y="3705279"/>
            <a:ext cx="2394422" cy="1502882"/>
          </a:xfrm>
          <a:prstGeom prst="rect">
            <a:avLst/>
          </a:prstGeom>
          <a:noFill/>
          <a:ln/>
        </p:spPr>
        <p:txBody>
          <a:bodyPr wrap="square" lIns="0" tIns="0" rIns="0" bIns="0" rtlCol="0" anchor="t">
            <a:normAutofit/>
          </a:bodyPr>
          <a:lstStyle/>
          <a:p>
            <a:pPr marL="0" indent="0" algn="l">
              <a:buNone/>
            </a:pPr>
            <a:r>
              <a:rPr lang="en-US" sz="1337" dirty="0">
                <a:solidFill>
                  <a:srgbClr val="BDC4C9"/>
                </a:solidFill>
                <a:latin typeface="Arial" pitchFamily="34" charset="0"/>
                <a:ea typeface="Arial" pitchFamily="34" charset="-122"/>
                <a:cs typeface="Arial" pitchFamily="34" charset="-120"/>
              </a:rPr>
              <a:t>A recorded statement of practice.</a:t>
            </a:r>
            <a:endParaRPr lang="en-US" sz="1337" dirty="0"/>
          </a:p>
        </p:txBody>
      </p:sp>
      <p:sp>
        <p:nvSpPr>
          <p:cNvPr id="15" name="Shape 13"/>
          <p:cNvSpPr/>
          <p:nvPr/>
        </p:nvSpPr>
        <p:spPr>
          <a:xfrm>
            <a:off x="4720917" y="2966575"/>
            <a:ext cx="2683111" cy="2343477"/>
          </a:xfrm>
          <a:prstGeom prst="roundRect">
            <a:avLst>
              <a:gd name="adj" fmla="val 1561"/>
            </a:avLst>
          </a:prstGeom>
          <a:solidFill>
            <a:srgbClr val="30363B"/>
          </a:solidFill>
          <a:ln w="8890">
            <a:solidFill>
              <a:srgbClr val="48525B"/>
            </a:solidFill>
            <a:prstDash val="solid"/>
          </a:ln>
        </p:spPr>
        <p:txBody>
          <a:bodyPr/>
          <a:lstStyle/>
          <a:p>
            <a:endParaRPr lang="nl-NL"/>
          </a:p>
        </p:txBody>
      </p:sp>
      <p:sp>
        <p:nvSpPr>
          <p:cNvPr id="16" name="Shape 14"/>
          <p:cNvSpPr/>
          <p:nvPr/>
        </p:nvSpPr>
        <p:spPr>
          <a:xfrm>
            <a:off x="4720917" y="3085447"/>
            <a:ext cx="33963" cy="2105733"/>
          </a:xfrm>
          <a:prstGeom prst="rect">
            <a:avLst/>
          </a:prstGeom>
          <a:solidFill>
            <a:srgbClr val="82909A"/>
          </a:solidFill>
          <a:ln w="12700">
            <a:solidFill>
              <a:srgbClr val="24282C">
                <a:alpha val="0"/>
              </a:srgbClr>
            </a:solidFill>
            <a:prstDash val="solid"/>
          </a:ln>
        </p:spPr>
        <p:txBody>
          <a:bodyPr/>
          <a:lstStyle/>
          <a:p>
            <a:endParaRPr lang="nl-NL"/>
          </a:p>
        </p:txBody>
      </p:sp>
      <p:sp>
        <p:nvSpPr>
          <p:cNvPr id="17" name="Text 15"/>
          <p:cNvSpPr/>
          <p:nvPr/>
        </p:nvSpPr>
        <p:spPr>
          <a:xfrm>
            <a:off x="4865261" y="3102429"/>
            <a:ext cx="2394422" cy="543415"/>
          </a:xfrm>
          <a:prstGeom prst="rect">
            <a:avLst/>
          </a:prstGeom>
          <a:noFill/>
          <a:ln/>
        </p:spPr>
        <p:txBody>
          <a:bodyPr wrap="square" lIns="0" tIns="0" rIns="0" bIns="0" rtlCol="0" anchor="t">
            <a:normAutofit/>
          </a:bodyPr>
          <a:lstStyle/>
          <a:p>
            <a:pPr marL="0" indent="0" algn="l">
              <a:buNone/>
            </a:pPr>
            <a:r>
              <a:rPr lang="en-US" sz="1671" b="1" dirty="0">
                <a:solidFill>
                  <a:srgbClr val="F5F6F7"/>
                </a:solidFill>
                <a:latin typeface="Arial" pitchFamily="34" charset="0"/>
                <a:ea typeface="Arial" pitchFamily="34" charset="-122"/>
                <a:cs typeface="Arial" pitchFamily="34" charset="-120"/>
              </a:rPr>
              <a:t>Commercial observation</a:t>
            </a:r>
            <a:endParaRPr lang="en-US" sz="1671" dirty="0"/>
          </a:p>
        </p:txBody>
      </p:sp>
      <p:sp>
        <p:nvSpPr>
          <p:cNvPr id="18" name="Text 16"/>
          <p:cNvSpPr/>
          <p:nvPr/>
        </p:nvSpPr>
        <p:spPr>
          <a:xfrm>
            <a:off x="4865261" y="3705279"/>
            <a:ext cx="2394422" cy="1502882"/>
          </a:xfrm>
          <a:prstGeom prst="rect">
            <a:avLst/>
          </a:prstGeom>
          <a:noFill/>
          <a:ln/>
        </p:spPr>
        <p:txBody>
          <a:bodyPr wrap="square" lIns="0" tIns="0" rIns="0" bIns="0" rtlCol="0" anchor="t">
            <a:normAutofit/>
          </a:bodyPr>
          <a:lstStyle/>
          <a:p>
            <a:pPr marL="0" indent="0" algn="l">
              <a:buNone/>
            </a:pPr>
            <a:r>
              <a:rPr lang="en-US" sz="1337" dirty="0">
                <a:solidFill>
                  <a:srgbClr val="BDC4C9"/>
                </a:solidFill>
                <a:latin typeface="Arial" pitchFamily="34" charset="0"/>
                <a:ea typeface="Arial" pitchFamily="34" charset="-122"/>
                <a:cs typeface="Arial" pitchFamily="34" charset="-120"/>
              </a:rPr>
              <a:t>A separate period, source and account basis.</a:t>
            </a:r>
            <a:endParaRPr lang="en-US" sz="1337" dirty="0"/>
          </a:p>
        </p:txBody>
      </p:sp>
      <p:sp>
        <p:nvSpPr>
          <p:cNvPr id="19" name="Shape 17"/>
          <p:cNvSpPr/>
          <p:nvPr/>
        </p:nvSpPr>
        <p:spPr>
          <a:xfrm>
            <a:off x="7624790" y="2966575"/>
            <a:ext cx="2683111" cy="2343477"/>
          </a:xfrm>
          <a:prstGeom prst="roundRect">
            <a:avLst>
              <a:gd name="adj" fmla="val 1561"/>
            </a:avLst>
          </a:prstGeom>
          <a:solidFill>
            <a:srgbClr val="30363B"/>
          </a:solidFill>
          <a:ln w="8890">
            <a:solidFill>
              <a:srgbClr val="48525B"/>
            </a:solidFill>
            <a:prstDash val="solid"/>
          </a:ln>
        </p:spPr>
        <p:txBody>
          <a:bodyPr/>
          <a:lstStyle/>
          <a:p>
            <a:endParaRPr lang="nl-NL"/>
          </a:p>
        </p:txBody>
      </p:sp>
      <p:sp>
        <p:nvSpPr>
          <p:cNvPr id="20" name="Shape 18"/>
          <p:cNvSpPr/>
          <p:nvPr/>
        </p:nvSpPr>
        <p:spPr>
          <a:xfrm>
            <a:off x="7624790" y="3085447"/>
            <a:ext cx="33963" cy="2105733"/>
          </a:xfrm>
          <a:prstGeom prst="rect">
            <a:avLst/>
          </a:prstGeom>
          <a:solidFill>
            <a:srgbClr val="82909A"/>
          </a:solidFill>
          <a:ln w="12700">
            <a:solidFill>
              <a:srgbClr val="24282C">
                <a:alpha val="0"/>
              </a:srgbClr>
            </a:solidFill>
            <a:prstDash val="solid"/>
          </a:ln>
        </p:spPr>
        <p:txBody>
          <a:bodyPr/>
          <a:lstStyle/>
          <a:p>
            <a:endParaRPr lang="nl-NL"/>
          </a:p>
        </p:txBody>
      </p:sp>
      <p:sp>
        <p:nvSpPr>
          <p:cNvPr id="21" name="Text 19"/>
          <p:cNvSpPr/>
          <p:nvPr/>
        </p:nvSpPr>
        <p:spPr>
          <a:xfrm>
            <a:off x="7769134" y="3102429"/>
            <a:ext cx="2394422" cy="543415"/>
          </a:xfrm>
          <a:prstGeom prst="rect">
            <a:avLst/>
          </a:prstGeom>
          <a:noFill/>
          <a:ln/>
        </p:spPr>
        <p:txBody>
          <a:bodyPr wrap="square" lIns="0" tIns="0" rIns="0" bIns="0" rtlCol="0" anchor="t">
            <a:normAutofit/>
          </a:bodyPr>
          <a:lstStyle/>
          <a:p>
            <a:pPr marL="0" indent="0" algn="l">
              <a:buNone/>
            </a:pPr>
            <a:r>
              <a:rPr lang="en-US" sz="1671" b="1" dirty="0">
                <a:solidFill>
                  <a:srgbClr val="F5F6F7"/>
                </a:solidFill>
                <a:latin typeface="Arial" pitchFamily="34" charset="0"/>
                <a:ea typeface="Arial" pitchFamily="34" charset="-122"/>
                <a:cs typeface="Arial" pitchFamily="34" charset="-120"/>
              </a:rPr>
              <a:t>Development question</a:t>
            </a:r>
            <a:endParaRPr lang="en-US" sz="1671" dirty="0"/>
          </a:p>
        </p:txBody>
      </p:sp>
      <p:sp>
        <p:nvSpPr>
          <p:cNvPr id="22" name="Text 20"/>
          <p:cNvSpPr/>
          <p:nvPr/>
        </p:nvSpPr>
        <p:spPr>
          <a:xfrm>
            <a:off x="7769134" y="3705279"/>
            <a:ext cx="2394422" cy="1502882"/>
          </a:xfrm>
          <a:prstGeom prst="rect">
            <a:avLst/>
          </a:prstGeom>
          <a:noFill/>
          <a:ln/>
        </p:spPr>
        <p:txBody>
          <a:bodyPr wrap="square" lIns="0" tIns="0" rIns="0" bIns="0" rtlCol="0" anchor="t">
            <a:normAutofit/>
          </a:bodyPr>
          <a:lstStyle/>
          <a:p>
            <a:pPr marL="0" indent="0" algn="l">
              <a:buNone/>
            </a:pPr>
            <a:r>
              <a:rPr lang="en-US" sz="1337" dirty="0">
                <a:solidFill>
                  <a:srgbClr val="BDC4C9"/>
                </a:solidFill>
                <a:latin typeface="Arial" pitchFamily="34" charset="0"/>
                <a:ea typeface="Arial" pitchFamily="34" charset="-122"/>
                <a:cs typeface="Arial" pitchFamily="34" charset="-120"/>
              </a:rPr>
              <a:t>Relevant context, not proof of causation.</a:t>
            </a:r>
            <a:endParaRPr lang="en-US" sz="1337" dirty="0"/>
          </a:p>
        </p:txBody>
      </p:sp>
      <p:sp>
        <p:nvSpPr>
          <p:cNvPr id="23" name="Text 21"/>
          <p:cNvSpPr/>
          <p:nvPr/>
        </p:nvSpPr>
        <p:spPr>
          <a:xfrm>
            <a:off x="548640" y="5678424"/>
            <a:ext cx="10954512" cy="219456"/>
          </a:xfrm>
          <a:prstGeom prst="rect">
            <a:avLst/>
          </a:prstGeom>
          <a:noFill/>
          <a:ln/>
        </p:spPr>
        <p:txBody>
          <a:bodyPr wrap="square" lIns="0" tIns="0" rIns="0" bIns="0" rtlCol="0" anchor="t">
            <a:normAutofit/>
          </a:bodyPr>
          <a:lstStyle/>
          <a:p>
            <a:pPr marL="0" indent="0" algn="l">
              <a:buNone/>
            </a:pPr>
            <a:r>
              <a:rPr lang="en-US" sz="840" dirty="0">
                <a:solidFill>
                  <a:srgbClr val="BDC4C9"/>
                </a:solidFill>
                <a:latin typeface="Arial" pitchFamily="34" charset="0"/>
                <a:ea typeface="Arial" pitchFamily="34" charset="-122"/>
                <a:cs typeface="Arial" pitchFamily="34" charset="-120"/>
              </a:rPr>
              <a:t>Illustrative design / independent requirements and outputs.</a:t>
            </a:r>
            <a:endParaRPr lang="en-US" sz="840" dirty="0"/>
          </a:p>
        </p:txBody>
      </p:sp>
      <p:sp>
        <p:nvSpPr>
          <p:cNvPr id="24" name="Text 22"/>
          <p:cNvSpPr/>
          <p:nvPr/>
        </p:nvSpPr>
        <p:spPr>
          <a:xfrm>
            <a:off x="603504" y="5925312"/>
            <a:ext cx="10917936" cy="347472"/>
          </a:xfrm>
          <a:prstGeom prst="rect">
            <a:avLst/>
          </a:prstGeom>
          <a:noFill/>
          <a:ln/>
        </p:spPr>
        <p:txBody>
          <a:bodyPr wrap="square" lIns="0" tIns="0" rIns="0" bIns="0" rtlCol="0" anchor="t">
            <a:normAutofit/>
          </a:bodyPr>
          <a:lstStyle/>
          <a:p>
            <a:pPr marL="0" indent="0" algn="l">
              <a:buNone/>
            </a:pPr>
            <a:r>
              <a:rPr lang="en-US" sz="1320" dirty="0">
                <a:solidFill>
                  <a:srgbClr val="F5F6F7"/>
                </a:solidFill>
                <a:latin typeface="Arial" pitchFamily="34" charset="0"/>
                <a:ea typeface="Arial" pitchFamily="34" charset="-122"/>
                <a:cs typeface="Arial" pitchFamily="34" charset="-120"/>
              </a:rPr>
              <a:t>The dealer should see the original wording and be able to correct the interpretation.</a:t>
            </a:r>
            <a:endParaRPr lang="en-US" sz="13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4282C"/>
        </a:solidFill>
        <a:effectLst/>
      </p:bgPr>
    </p:bg>
    <p:spTree>
      <p:nvGrpSpPr>
        <p:cNvPr id="1" name=""/>
        <p:cNvGrpSpPr/>
        <p:nvPr/>
      </p:nvGrpSpPr>
      <p:grpSpPr>
        <a:xfrm>
          <a:off x="0" y="0"/>
          <a:ext cx="0" cy="0"/>
          <a:chOff x="0" y="0"/>
          <a:chExt cx="0" cy="0"/>
        </a:xfrm>
      </p:grpSpPr>
      <p:sp>
        <p:nvSpPr>
          <p:cNvPr id="2" name="Text 0"/>
          <p:cNvSpPr/>
          <p:nvPr/>
        </p:nvSpPr>
        <p:spPr>
          <a:xfrm>
            <a:off x="484632" y="173736"/>
            <a:ext cx="2743200" cy="201168"/>
          </a:xfrm>
          <a:prstGeom prst="rect">
            <a:avLst/>
          </a:prstGeom>
          <a:noFill/>
          <a:ln/>
        </p:spPr>
        <p:txBody>
          <a:bodyPr wrap="square" lIns="0" tIns="0" rIns="0" bIns="0" rtlCol="0" anchor="t">
            <a:normAutofit/>
          </a:bodyPr>
          <a:lstStyle/>
          <a:p>
            <a:pPr marL="0" indent="0" algn="l">
              <a:buNone/>
            </a:pPr>
            <a:r>
              <a:rPr lang="en-US" sz="1000" b="1" dirty="0">
                <a:solidFill>
                  <a:srgbClr val="F5F6F7"/>
                </a:solidFill>
                <a:latin typeface="Arial" pitchFamily="34" charset="0"/>
                <a:ea typeface="Arial" pitchFamily="34" charset="-122"/>
                <a:cs typeface="Arial" pitchFamily="34" charset="-120"/>
              </a:rPr>
              <a:t>ISUZU / UNIVERSE</a:t>
            </a:r>
            <a:endParaRPr lang="en-US" sz="1000" dirty="0"/>
          </a:p>
        </p:txBody>
      </p:sp>
      <p:sp>
        <p:nvSpPr>
          <p:cNvPr id="3" name="Text 1"/>
          <p:cNvSpPr/>
          <p:nvPr/>
        </p:nvSpPr>
        <p:spPr>
          <a:xfrm>
            <a:off x="8046720" y="173736"/>
            <a:ext cx="3657600" cy="201168"/>
          </a:xfrm>
          <a:prstGeom prst="rect">
            <a:avLst/>
          </a:prstGeom>
          <a:noFill/>
          <a:ln/>
        </p:spPr>
        <p:txBody>
          <a:bodyPr wrap="square" lIns="0" tIns="0" rIns="0" bIns="0" rtlCol="0" anchor="t">
            <a:normAutofit/>
          </a:bodyPr>
          <a:lstStyle/>
          <a:p>
            <a:pPr marL="0" indent="0" algn="r">
              <a:buNone/>
            </a:pPr>
            <a:r>
              <a:rPr lang="en-US" sz="900" dirty="0">
                <a:solidFill>
                  <a:srgbClr val="BDC4C9"/>
                </a:solidFill>
                <a:latin typeface="Arial" pitchFamily="34" charset="0"/>
                <a:ea typeface="Arial" pitchFamily="34" charset="-122"/>
                <a:cs typeface="Arial" pitchFamily="34" charset="-120"/>
              </a:rPr>
              <a:t>COMMERCIAL VISION  /  3.0</a:t>
            </a:r>
            <a:endParaRPr lang="en-US" sz="900" dirty="0"/>
          </a:p>
        </p:txBody>
      </p:sp>
      <p:sp>
        <p:nvSpPr>
          <p:cNvPr id="4" name="Shape 2"/>
          <p:cNvSpPr/>
          <p:nvPr/>
        </p:nvSpPr>
        <p:spPr>
          <a:xfrm>
            <a:off x="484632" y="512064"/>
            <a:ext cx="475488" cy="22860"/>
          </a:xfrm>
          <a:prstGeom prst="rect">
            <a:avLst/>
          </a:prstGeom>
          <a:solidFill>
            <a:srgbClr val="D71920"/>
          </a:solidFill>
          <a:ln w="12700">
            <a:solidFill>
              <a:srgbClr val="D71920">
                <a:alpha val="0"/>
              </a:srgbClr>
            </a:solidFill>
            <a:prstDash val="solid"/>
          </a:ln>
        </p:spPr>
        <p:txBody>
          <a:bodyPr/>
          <a:lstStyle/>
          <a:p>
            <a:endParaRPr lang="nl-NL"/>
          </a:p>
        </p:txBody>
      </p:sp>
      <p:sp>
        <p:nvSpPr>
          <p:cNvPr id="5" name="Text 3"/>
          <p:cNvSpPr/>
          <p:nvPr/>
        </p:nvSpPr>
        <p:spPr>
          <a:xfrm>
            <a:off x="484632" y="658368"/>
            <a:ext cx="11064240" cy="219456"/>
          </a:xfrm>
          <a:prstGeom prst="rect">
            <a:avLst/>
          </a:prstGeom>
          <a:noFill/>
          <a:ln/>
        </p:spPr>
        <p:txBody>
          <a:bodyPr wrap="square" lIns="0" tIns="0" rIns="0" bIns="0" rtlCol="0" anchor="t">
            <a:normAutofit/>
          </a:bodyPr>
          <a:lstStyle/>
          <a:p>
            <a:pPr marL="0" indent="0" algn="l">
              <a:buNone/>
            </a:pPr>
            <a:r>
              <a:rPr lang="en-US" sz="1000" b="1" dirty="0">
                <a:solidFill>
                  <a:srgbClr val="D71920"/>
                </a:solidFill>
                <a:latin typeface="Arial" pitchFamily="34" charset="0"/>
                <a:ea typeface="Arial" pitchFamily="34" charset="-122"/>
                <a:cs typeface="Arial" pitchFamily="34" charset="-120"/>
              </a:rPr>
              <a:t>IDS / LEARNING</a:t>
            </a:r>
            <a:endParaRPr lang="en-US" sz="1000" dirty="0"/>
          </a:p>
        </p:txBody>
      </p:sp>
      <p:sp>
        <p:nvSpPr>
          <p:cNvPr id="6" name="Shape 4"/>
          <p:cNvSpPr/>
          <p:nvPr/>
        </p:nvSpPr>
        <p:spPr>
          <a:xfrm>
            <a:off x="484632" y="6446520"/>
            <a:ext cx="11219688" cy="914"/>
          </a:xfrm>
          <a:prstGeom prst="line">
            <a:avLst/>
          </a:prstGeom>
          <a:noFill/>
          <a:ln w="6350">
            <a:solidFill>
              <a:srgbClr val="647078"/>
            </a:solidFill>
            <a:prstDash val="solid"/>
          </a:ln>
        </p:spPr>
        <p:txBody>
          <a:bodyPr/>
          <a:lstStyle/>
          <a:p>
            <a:endParaRPr lang="nl-NL"/>
          </a:p>
        </p:txBody>
      </p:sp>
      <p:sp>
        <p:nvSpPr>
          <p:cNvPr id="7" name="Text 5"/>
          <p:cNvSpPr/>
          <p:nvPr/>
        </p:nvSpPr>
        <p:spPr>
          <a:xfrm>
            <a:off x="484632" y="6556248"/>
            <a:ext cx="9144000" cy="146304"/>
          </a:xfrm>
          <a:prstGeom prst="rect">
            <a:avLst/>
          </a:prstGeom>
          <a:noFill/>
          <a:ln/>
        </p:spPr>
        <p:txBody>
          <a:bodyPr wrap="square" lIns="0" tIns="0" rIns="0" bIns="0" rtlCol="0" anchor="t">
            <a:normAutofit/>
          </a:bodyPr>
          <a:lstStyle/>
          <a:p>
            <a:pPr marL="0" indent="0" algn="l">
              <a:buNone/>
            </a:pPr>
            <a:r>
              <a:rPr lang="en-US" sz="750" dirty="0">
                <a:solidFill>
                  <a:srgbClr val="BDC4C9"/>
                </a:solidFill>
                <a:latin typeface="Arial" pitchFamily="34" charset="0"/>
                <a:ea typeface="Arial" pitchFamily="34" charset="-122"/>
                <a:cs typeface="Arial" pitchFamily="34" charset="-120"/>
              </a:rPr>
              <a:t>22 SEPTEMBER 2026  /  CONCEPT AND APPLICATION EXAMPLES</a:t>
            </a:r>
            <a:endParaRPr lang="en-US" sz="750" dirty="0"/>
          </a:p>
        </p:txBody>
      </p:sp>
      <p:sp>
        <p:nvSpPr>
          <p:cNvPr id="8" name="Text 6"/>
          <p:cNvSpPr/>
          <p:nvPr/>
        </p:nvSpPr>
        <p:spPr>
          <a:xfrm>
            <a:off x="10789920" y="6547104"/>
            <a:ext cx="914400" cy="173736"/>
          </a:xfrm>
          <a:prstGeom prst="rect">
            <a:avLst/>
          </a:prstGeom>
          <a:noFill/>
          <a:ln/>
        </p:spPr>
        <p:txBody>
          <a:bodyPr wrap="square" lIns="0" tIns="0" rIns="0" bIns="0" rtlCol="0" anchor="t">
            <a:normAutofit/>
          </a:bodyPr>
          <a:lstStyle/>
          <a:p>
            <a:pPr marL="0" indent="0" algn="r">
              <a:buNone/>
            </a:pPr>
            <a:r>
              <a:rPr lang="en-US" sz="850" dirty="0">
                <a:solidFill>
                  <a:srgbClr val="BDC4C9"/>
                </a:solidFill>
                <a:latin typeface="Arial" pitchFamily="34" charset="0"/>
                <a:ea typeface="Arial" pitchFamily="34" charset="-122"/>
                <a:cs typeface="Arial" pitchFamily="34" charset="-120"/>
              </a:rPr>
              <a:t>18 / 49</a:t>
            </a:r>
            <a:endParaRPr lang="en-US" sz="850" dirty="0"/>
          </a:p>
        </p:txBody>
      </p:sp>
      <p:sp>
        <p:nvSpPr>
          <p:cNvPr id="9" name="Text 7"/>
          <p:cNvSpPr/>
          <p:nvPr/>
        </p:nvSpPr>
        <p:spPr>
          <a:xfrm>
            <a:off x="502920" y="1005840"/>
            <a:ext cx="11036808" cy="841248"/>
          </a:xfrm>
          <a:prstGeom prst="rect">
            <a:avLst/>
          </a:prstGeom>
          <a:noFill/>
          <a:ln/>
        </p:spPr>
        <p:txBody>
          <a:bodyPr wrap="square" lIns="0" tIns="0" rIns="0" bIns="0" rtlCol="0" anchor="t">
            <a:normAutofit/>
          </a:bodyPr>
          <a:lstStyle/>
          <a:p>
            <a:pPr marL="0" indent="0" algn="l">
              <a:buNone/>
            </a:pPr>
            <a:r>
              <a:rPr lang="en-US" sz="3400" b="1" dirty="0">
                <a:solidFill>
                  <a:srgbClr val="F5F6F7"/>
                </a:solidFill>
                <a:latin typeface="Arial" pitchFamily="34" charset="0"/>
                <a:ea typeface="Arial" pitchFamily="34" charset="-122"/>
                <a:cs typeface="Arial" pitchFamily="34" charset="-120"/>
              </a:rPr>
              <a:t>Share the method, not the private project.</a:t>
            </a:r>
            <a:endParaRPr lang="en-US" sz="3400" dirty="0"/>
          </a:p>
        </p:txBody>
      </p:sp>
      <p:sp>
        <p:nvSpPr>
          <p:cNvPr id="10" name="Text 8"/>
          <p:cNvSpPr/>
          <p:nvPr/>
        </p:nvSpPr>
        <p:spPr>
          <a:xfrm>
            <a:off x="530352" y="1865376"/>
            <a:ext cx="10954512" cy="566928"/>
          </a:xfrm>
          <a:prstGeom prst="rect">
            <a:avLst/>
          </a:prstGeom>
          <a:noFill/>
          <a:ln/>
        </p:spPr>
        <p:txBody>
          <a:bodyPr wrap="square" lIns="0" tIns="0" rIns="0" bIns="0" rtlCol="0" anchor="t">
            <a:normAutofit/>
          </a:bodyPr>
          <a:lstStyle/>
          <a:p>
            <a:pPr marL="0" indent="0" algn="l">
              <a:buNone/>
            </a:pPr>
            <a:r>
              <a:rPr lang="en-US" sz="1800" dirty="0">
                <a:solidFill>
                  <a:srgbClr val="BDC4C9"/>
                </a:solidFill>
                <a:latin typeface="Arial" pitchFamily="34" charset="0"/>
                <a:ea typeface="Arial" pitchFamily="34" charset="-122"/>
                <a:cs typeface="Arial" pitchFamily="34" charset="-120"/>
              </a:rPr>
              <a:t>ISZE reviews the useful lesson before any wider use.</a:t>
            </a:r>
            <a:endParaRPr lang="en-US" sz="1800" dirty="0"/>
          </a:p>
        </p:txBody>
      </p:sp>
      <p:sp>
        <p:nvSpPr>
          <p:cNvPr id="11" name="Shape 9"/>
          <p:cNvSpPr/>
          <p:nvPr/>
        </p:nvSpPr>
        <p:spPr>
          <a:xfrm>
            <a:off x="1692178" y="3132896"/>
            <a:ext cx="2034372" cy="1966632"/>
          </a:xfrm>
          <a:prstGeom prst="roundRect">
            <a:avLst>
              <a:gd name="adj" fmla="val 1860"/>
            </a:avLst>
          </a:prstGeom>
          <a:solidFill>
            <a:srgbClr val="30363B"/>
          </a:solidFill>
          <a:ln w="8890">
            <a:solidFill>
              <a:srgbClr val="48525B"/>
            </a:solidFill>
            <a:prstDash val="solid"/>
          </a:ln>
        </p:spPr>
        <p:txBody>
          <a:bodyPr/>
          <a:lstStyle/>
          <a:p>
            <a:endParaRPr lang="nl-NL"/>
          </a:p>
        </p:txBody>
      </p:sp>
      <p:sp>
        <p:nvSpPr>
          <p:cNvPr id="12" name="Shape 10"/>
          <p:cNvSpPr/>
          <p:nvPr/>
        </p:nvSpPr>
        <p:spPr>
          <a:xfrm>
            <a:off x="1692178" y="3255264"/>
            <a:ext cx="34962" cy="1721896"/>
          </a:xfrm>
          <a:prstGeom prst="rect">
            <a:avLst/>
          </a:prstGeom>
          <a:solidFill>
            <a:srgbClr val="82909A"/>
          </a:solidFill>
          <a:ln w="12700">
            <a:solidFill>
              <a:srgbClr val="24282C">
                <a:alpha val="0"/>
              </a:srgbClr>
            </a:solidFill>
            <a:prstDash val="solid"/>
          </a:ln>
        </p:spPr>
        <p:txBody>
          <a:bodyPr/>
          <a:lstStyle/>
          <a:p>
            <a:endParaRPr lang="nl-NL"/>
          </a:p>
        </p:txBody>
      </p:sp>
      <p:sp>
        <p:nvSpPr>
          <p:cNvPr id="13" name="Text 11"/>
          <p:cNvSpPr/>
          <p:nvPr/>
        </p:nvSpPr>
        <p:spPr>
          <a:xfrm>
            <a:off x="1840768" y="3272745"/>
            <a:ext cx="1737192" cy="559398"/>
          </a:xfrm>
          <a:prstGeom prst="rect">
            <a:avLst/>
          </a:prstGeom>
          <a:noFill/>
          <a:ln/>
        </p:spPr>
        <p:txBody>
          <a:bodyPr wrap="square" lIns="0" tIns="0" rIns="0" bIns="0" rtlCol="0" anchor="t">
            <a:normAutofit/>
          </a:bodyPr>
          <a:lstStyle/>
          <a:p>
            <a:pPr marL="0" indent="0" algn="l">
              <a:buNone/>
            </a:pPr>
            <a:r>
              <a:rPr lang="en-US" sz="1721" b="1" dirty="0">
                <a:solidFill>
                  <a:srgbClr val="F5F6F7"/>
                </a:solidFill>
                <a:latin typeface="Arial" pitchFamily="34" charset="0"/>
                <a:ea typeface="Arial" pitchFamily="34" charset="-122"/>
                <a:cs typeface="Arial" pitchFamily="34" charset="-120"/>
              </a:rPr>
              <a:t>Private project</a:t>
            </a:r>
            <a:endParaRPr lang="en-US" sz="1721" dirty="0"/>
          </a:p>
        </p:txBody>
      </p:sp>
      <p:sp>
        <p:nvSpPr>
          <p:cNvPr id="14" name="Text 12"/>
          <p:cNvSpPr/>
          <p:nvPr/>
        </p:nvSpPr>
        <p:spPr>
          <a:xfrm>
            <a:off x="1840768" y="3893327"/>
            <a:ext cx="1737192" cy="1101314"/>
          </a:xfrm>
          <a:prstGeom prst="rect">
            <a:avLst/>
          </a:prstGeom>
          <a:noFill/>
          <a:ln/>
        </p:spPr>
        <p:txBody>
          <a:bodyPr wrap="square" lIns="0" tIns="0" rIns="0" bIns="0" rtlCol="0" anchor="t">
            <a:normAutofit/>
          </a:bodyPr>
          <a:lstStyle/>
          <a:p>
            <a:pPr marL="0" indent="0" algn="l">
              <a:buNone/>
            </a:pPr>
            <a:r>
              <a:rPr lang="en-US" sz="1376" dirty="0">
                <a:solidFill>
                  <a:srgbClr val="BDC4C9"/>
                </a:solidFill>
                <a:latin typeface="Arial" pitchFamily="34" charset="0"/>
                <a:ea typeface="Arial" pitchFamily="34" charset="-122"/>
                <a:cs typeface="Arial" pitchFamily="34" charset="-120"/>
              </a:rPr>
              <a:t>Original participant evidence</a:t>
            </a:r>
            <a:endParaRPr lang="en-US" sz="1376" dirty="0"/>
          </a:p>
        </p:txBody>
      </p:sp>
      <p:sp>
        <p:nvSpPr>
          <p:cNvPr id="15" name="Text 13"/>
          <p:cNvSpPr/>
          <p:nvPr/>
        </p:nvSpPr>
        <p:spPr>
          <a:xfrm>
            <a:off x="1840768" y="2835716"/>
            <a:ext cx="1737192" cy="524435"/>
          </a:xfrm>
          <a:prstGeom prst="rect">
            <a:avLst/>
          </a:prstGeom>
          <a:noFill/>
          <a:ln/>
        </p:spPr>
        <p:txBody>
          <a:bodyPr wrap="square" lIns="0" tIns="0" rIns="0" bIns="0" rtlCol="0" anchor="t">
            <a:normAutofit/>
          </a:bodyPr>
          <a:lstStyle/>
          <a:p>
            <a:pPr marL="0" indent="0" algn="l">
              <a:buNone/>
            </a:pPr>
            <a:r>
              <a:rPr lang="en-US" sz="1239" b="1" dirty="0">
                <a:solidFill>
                  <a:srgbClr val="D71920"/>
                </a:solidFill>
                <a:latin typeface="Arial" pitchFamily="34" charset="0"/>
                <a:ea typeface="Arial" pitchFamily="34" charset="-122"/>
                <a:cs typeface="Arial" pitchFamily="34" charset="-120"/>
              </a:rPr>
              <a:t>01</a:t>
            </a:r>
            <a:endParaRPr lang="en-US" sz="1239" dirty="0"/>
          </a:p>
        </p:txBody>
      </p:sp>
      <p:sp>
        <p:nvSpPr>
          <p:cNvPr id="16" name="Shape 14"/>
          <p:cNvSpPr/>
          <p:nvPr/>
        </p:nvSpPr>
        <p:spPr>
          <a:xfrm>
            <a:off x="3752772" y="4103101"/>
            <a:ext cx="148590" cy="914"/>
          </a:xfrm>
          <a:prstGeom prst="line">
            <a:avLst/>
          </a:prstGeom>
          <a:noFill/>
          <a:ln w="17481">
            <a:solidFill>
              <a:srgbClr val="D71920"/>
            </a:solidFill>
            <a:prstDash val="solid"/>
            <a:tailEnd type="triangle"/>
          </a:ln>
        </p:spPr>
        <p:txBody>
          <a:bodyPr/>
          <a:lstStyle/>
          <a:p>
            <a:endParaRPr lang="nl-NL"/>
          </a:p>
        </p:txBody>
      </p:sp>
      <p:sp>
        <p:nvSpPr>
          <p:cNvPr id="17" name="Shape 15"/>
          <p:cNvSpPr/>
          <p:nvPr/>
        </p:nvSpPr>
        <p:spPr>
          <a:xfrm>
            <a:off x="3927583" y="3132896"/>
            <a:ext cx="2034372" cy="1966632"/>
          </a:xfrm>
          <a:prstGeom prst="roundRect">
            <a:avLst>
              <a:gd name="adj" fmla="val 1860"/>
            </a:avLst>
          </a:prstGeom>
          <a:solidFill>
            <a:srgbClr val="30363B"/>
          </a:solidFill>
          <a:ln w="8890">
            <a:solidFill>
              <a:srgbClr val="48525B"/>
            </a:solidFill>
            <a:prstDash val="solid"/>
          </a:ln>
        </p:spPr>
        <p:txBody>
          <a:bodyPr/>
          <a:lstStyle/>
          <a:p>
            <a:endParaRPr lang="nl-NL"/>
          </a:p>
        </p:txBody>
      </p:sp>
      <p:sp>
        <p:nvSpPr>
          <p:cNvPr id="18" name="Shape 16"/>
          <p:cNvSpPr/>
          <p:nvPr/>
        </p:nvSpPr>
        <p:spPr>
          <a:xfrm>
            <a:off x="3927583" y="3255264"/>
            <a:ext cx="34962" cy="1721896"/>
          </a:xfrm>
          <a:prstGeom prst="rect">
            <a:avLst/>
          </a:prstGeom>
          <a:solidFill>
            <a:srgbClr val="82909A"/>
          </a:solidFill>
          <a:ln w="12700">
            <a:solidFill>
              <a:srgbClr val="24282C">
                <a:alpha val="0"/>
              </a:srgbClr>
            </a:solidFill>
            <a:prstDash val="solid"/>
          </a:ln>
        </p:spPr>
        <p:txBody>
          <a:bodyPr/>
          <a:lstStyle/>
          <a:p>
            <a:endParaRPr lang="nl-NL"/>
          </a:p>
        </p:txBody>
      </p:sp>
      <p:sp>
        <p:nvSpPr>
          <p:cNvPr id="19" name="Text 17"/>
          <p:cNvSpPr/>
          <p:nvPr/>
        </p:nvSpPr>
        <p:spPr>
          <a:xfrm>
            <a:off x="4076173" y="3272745"/>
            <a:ext cx="1737192" cy="559398"/>
          </a:xfrm>
          <a:prstGeom prst="rect">
            <a:avLst/>
          </a:prstGeom>
          <a:noFill/>
          <a:ln/>
        </p:spPr>
        <p:txBody>
          <a:bodyPr wrap="square" lIns="0" tIns="0" rIns="0" bIns="0" rtlCol="0" anchor="t">
            <a:normAutofit/>
          </a:bodyPr>
          <a:lstStyle/>
          <a:p>
            <a:pPr marL="0" indent="0" algn="l">
              <a:buNone/>
            </a:pPr>
            <a:r>
              <a:rPr lang="en-US" sz="1721" b="1" dirty="0">
                <a:solidFill>
                  <a:srgbClr val="F5F6F7"/>
                </a:solidFill>
                <a:latin typeface="Arial" pitchFamily="34" charset="0"/>
                <a:ea typeface="Arial" pitchFamily="34" charset="-122"/>
                <a:cs typeface="Arial" pitchFamily="34" charset="-120"/>
              </a:rPr>
              <a:t>Review</a:t>
            </a:r>
            <a:endParaRPr lang="en-US" sz="1721" dirty="0"/>
          </a:p>
        </p:txBody>
      </p:sp>
      <p:sp>
        <p:nvSpPr>
          <p:cNvPr id="20" name="Text 18"/>
          <p:cNvSpPr/>
          <p:nvPr/>
        </p:nvSpPr>
        <p:spPr>
          <a:xfrm>
            <a:off x="4076173" y="3893327"/>
            <a:ext cx="1737192" cy="1101314"/>
          </a:xfrm>
          <a:prstGeom prst="rect">
            <a:avLst/>
          </a:prstGeom>
          <a:noFill/>
          <a:ln/>
        </p:spPr>
        <p:txBody>
          <a:bodyPr wrap="square" lIns="0" tIns="0" rIns="0" bIns="0" rtlCol="0" anchor="t">
            <a:normAutofit/>
          </a:bodyPr>
          <a:lstStyle/>
          <a:p>
            <a:pPr marL="0" indent="0" algn="l">
              <a:buNone/>
            </a:pPr>
            <a:r>
              <a:rPr lang="en-US" sz="1376" dirty="0">
                <a:solidFill>
                  <a:srgbClr val="BDC4C9"/>
                </a:solidFill>
                <a:latin typeface="Arial" pitchFamily="34" charset="0"/>
                <a:ea typeface="Arial" pitchFamily="34" charset="-122"/>
                <a:cs typeface="Arial" pitchFamily="34" charset="-120"/>
              </a:rPr>
              <a:t>Scope and confidentiality</a:t>
            </a:r>
            <a:endParaRPr lang="en-US" sz="1376" dirty="0"/>
          </a:p>
        </p:txBody>
      </p:sp>
      <p:sp>
        <p:nvSpPr>
          <p:cNvPr id="21" name="Text 19"/>
          <p:cNvSpPr/>
          <p:nvPr/>
        </p:nvSpPr>
        <p:spPr>
          <a:xfrm>
            <a:off x="4076173" y="2835716"/>
            <a:ext cx="1737192" cy="524435"/>
          </a:xfrm>
          <a:prstGeom prst="rect">
            <a:avLst/>
          </a:prstGeom>
          <a:noFill/>
          <a:ln/>
        </p:spPr>
        <p:txBody>
          <a:bodyPr wrap="square" lIns="0" tIns="0" rIns="0" bIns="0" rtlCol="0" anchor="t">
            <a:normAutofit/>
          </a:bodyPr>
          <a:lstStyle/>
          <a:p>
            <a:pPr marL="0" indent="0" algn="l">
              <a:buNone/>
            </a:pPr>
            <a:r>
              <a:rPr lang="en-US" sz="1239" b="1" dirty="0">
                <a:solidFill>
                  <a:srgbClr val="D71920"/>
                </a:solidFill>
                <a:latin typeface="Arial" pitchFamily="34" charset="0"/>
                <a:ea typeface="Arial" pitchFamily="34" charset="-122"/>
                <a:cs typeface="Arial" pitchFamily="34" charset="-120"/>
              </a:rPr>
              <a:t>02</a:t>
            </a:r>
            <a:endParaRPr lang="en-US" sz="1239" dirty="0"/>
          </a:p>
        </p:txBody>
      </p:sp>
      <p:sp>
        <p:nvSpPr>
          <p:cNvPr id="22" name="Shape 20"/>
          <p:cNvSpPr/>
          <p:nvPr/>
        </p:nvSpPr>
        <p:spPr>
          <a:xfrm>
            <a:off x="5988177" y="4103101"/>
            <a:ext cx="148590" cy="914"/>
          </a:xfrm>
          <a:prstGeom prst="line">
            <a:avLst/>
          </a:prstGeom>
          <a:noFill/>
          <a:ln w="17481">
            <a:solidFill>
              <a:srgbClr val="D71920"/>
            </a:solidFill>
            <a:prstDash val="solid"/>
            <a:tailEnd type="triangle"/>
          </a:ln>
        </p:spPr>
        <p:txBody>
          <a:bodyPr/>
          <a:lstStyle/>
          <a:p>
            <a:endParaRPr lang="nl-NL"/>
          </a:p>
        </p:txBody>
      </p:sp>
      <p:sp>
        <p:nvSpPr>
          <p:cNvPr id="23" name="Shape 21"/>
          <p:cNvSpPr/>
          <p:nvPr/>
        </p:nvSpPr>
        <p:spPr>
          <a:xfrm>
            <a:off x="6162989" y="3132896"/>
            <a:ext cx="2034372" cy="1966632"/>
          </a:xfrm>
          <a:prstGeom prst="roundRect">
            <a:avLst>
              <a:gd name="adj" fmla="val 1860"/>
            </a:avLst>
          </a:prstGeom>
          <a:solidFill>
            <a:srgbClr val="30363B"/>
          </a:solidFill>
          <a:ln w="8890">
            <a:solidFill>
              <a:srgbClr val="48525B"/>
            </a:solidFill>
            <a:prstDash val="solid"/>
          </a:ln>
        </p:spPr>
        <p:txBody>
          <a:bodyPr/>
          <a:lstStyle/>
          <a:p>
            <a:endParaRPr lang="nl-NL"/>
          </a:p>
        </p:txBody>
      </p:sp>
      <p:sp>
        <p:nvSpPr>
          <p:cNvPr id="24" name="Shape 22"/>
          <p:cNvSpPr/>
          <p:nvPr/>
        </p:nvSpPr>
        <p:spPr>
          <a:xfrm>
            <a:off x="6162989" y="3255264"/>
            <a:ext cx="34962" cy="1721896"/>
          </a:xfrm>
          <a:prstGeom prst="rect">
            <a:avLst/>
          </a:prstGeom>
          <a:solidFill>
            <a:srgbClr val="82909A"/>
          </a:solidFill>
          <a:ln w="12700">
            <a:solidFill>
              <a:srgbClr val="24282C">
                <a:alpha val="0"/>
              </a:srgbClr>
            </a:solidFill>
            <a:prstDash val="solid"/>
          </a:ln>
        </p:spPr>
        <p:txBody>
          <a:bodyPr/>
          <a:lstStyle/>
          <a:p>
            <a:endParaRPr lang="nl-NL"/>
          </a:p>
        </p:txBody>
      </p:sp>
      <p:sp>
        <p:nvSpPr>
          <p:cNvPr id="25" name="Text 23"/>
          <p:cNvSpPr/>
          <p:nvPr/>
        </p:nvSpPr>
        <p:spPr>
          <a:xfrm>
            <a:off x="6311579" y="3272745"/>
            <a:ext cx="1737192" cy="559398"/>
          </a:xfrm>
          <a:prstGeom prst="rect">
            <a:avLst/>
          </a:prstGeom>
          <a:noFill/>
          <a:ln/>
        </p:spPr>
        <p:txBody>
          <a:bodyPr wrap="square" lIns="0" tIns="0" rIns="0" bIns="0" rtlCol="0" anchor="t">
            <a:normAutofit/>
          </a:bodyPr>
          <a:lstStyle/>
          <a:p>
            <a:pPr marL="0" indent="0" algn="l">
              <a:buNone/>
            </a:pPr>
            <a:r>
              <a:rPr lang="en-US" sz="1721" b="1" dirty="0">
                <a:solidFill>
                  <a:srgbClr val="F5F6F7"/>
                </a:solidFill>
                <a:latin typeface="Arial" pitchFamily="34" charset="0"/>
                <a:ea typeface="Arial" pitchFamily="34" charset="-122"/>
                <a:cs typeface="Arial" pitchFamily="34" charset="-120"/>
              </a:rPr>
              <a:t>Shared method</a:t>
            </a:r>
            <a:endParaRPr lang="en-US" sz="1721" dirty="0"/>
          </a:p>
        </p:txBody>
      </p:sp>
      <p:sp>
        <p:nvSpPr>
          <p:cNvPr id="26" name="Text 24"/>
          <p:cNvSpPr/>
          <p:nvPr/>
        </p:nvSpPr>
        <p:spPr>
          <a:xfrm>
            <a:off x="6311579" y="3893327"/>
            <a:ext cx="1737192" cy="1101314"/>
          </a:xfrm>
          <a:prstGeom prst="rect">
            <a:avLst/>
          </a:prstGeom>
          <a:noFill/>
          <a:ln/>
        </p:spPr>
        <p:txBody>
          <a:bodyPr wrap="square" lIns="0" tIns="0" rIns="0" bIns="0" rtlCol="0" anchor="t">
            <a:normAutofit/>
          </a:bodyPr>
          <a:lstStyle/>
          <a:p>
            <a:pPr marL="0" indent="0" algn="l">
              <a:buNone/>
            </a:pPr>
            <a:r>
              <a:rPr lang="en-US" sz="1376" dirty="0">
                <a:solidFill>
                  <a:srgbClr val="BDC4C9"/>
                </a:solidFill>
                <a:latin typeface="Arial" pitchFamily="34" charset="0"/>
                <a:ea typeface="Arial" pitchFamily="34" charset="-122"/>
                <a:cs typeface="Arial" pitchFamily="34" charset="-120"/>
              </a:rPr>
              <a:t>Only the useful permitted lesson</a:t>
            </a:r>
            <a:endParaRPr lang="en-US" sz="1376" dirty="0"/>
          </a:p>
        </p:txBody>
      </p:sp>
      <p:sp>
        <p:nvSpPr>
          <p:cNvPr id="27" name="Text 25"/>
          <p:cNvSpPr/>
          <p:nvPr/>
        </p:nvSpPr>
        <p:spPr>
          <a:xfrm>
            <a:off x="6311579" y="2835716"/>
            <a:ext cx="1737192" cy="524435"/>
          </a:xfrm>
          <a:prstGeom prst="rect">
            <a:avLst/>
          </a:prstGeom>
          <a:noFill/>
          <a:ln/>
        </p:spPr>
        <p:txBody>
          <a:bodyPr wrap="square" lIns="0" tIns="0" rIns="0" bIns="0" rtlCol="0" anchor="t">
            <a:normAutofit/>
          </a:bodyPr>
          <a:lstStyle/>
          <a:p>
            <a:pPr marL="0" indent="0" algn="l">
              <a:buNone/>
            </a:pPr>
            <a:r>
              <a:rPr lang="en-US" sz="1239" b="1" dirty="0">
                <a:solidFill>
                  <a:srgbClr val="D71920"/>
                </a:solidFill>
                <a:latin typeface="Arial" pitchFamily="34" charset="0"/>
                <a:ea typeface="Arial" pitchFamily="34" charset="-122"/>
                <a:cs typeface="Arial" pitchFamily="34" charset="-120"/>
              </a:rPr>
              <a:t>03</a:t>
            </a:r>
            <a:endParaRPr lang="en-US" sz="1239" dirty="0"/>
          </a:p>
        </p:txBody>
      </p:sp>
      <p:sp>
        <p:nvSpPr>
          <p:cNvPr id="28" name="Shape 26"/>
          <p:cNvSpPr/>
          <p:nvPr/>
        </p:nvSpPr>
        <p:spPr>
          <a:xfrm>
            <a:off x="8223582" y="4103101"/>
            <a:ext cx="148590" cy="914"/>
          </a:xfrm>
          <a:prstGeom prst="line">
            <a:avLst/>
          </a:prstGeom>
          <a:noFill/>
          <a:ln w="17481">
            <a:solidFill>
              <a:srgbClr val="D71920"/>
            </a:solidFill>
            <a:prstDash val="solid"/>
            <a:tailEnd type="triangle"/>
          </a:ln>
        </p:spPr>
        <p:txBody>
          <a:bodyPr/>
          <a:lstStyle/>
          <a:p>
            <a:endParaRPr lang="nl-NL"/>
          </a:p>
        </p:txBody>
      </p:sp>
      <p:sp>
        <p:nvSpPr>
          <p:cNvPr id="29" name="Shape 27"/>
          <p:cNvSpPr/>
          <p:nvPr/>
        </p:nvSpPr>
        <p:spPr>
          <a:xfrm>
            <a:off x="8398394" y="3132896"/>
            <a:ext cx="2034372" cy="1966632"/>
          </a:xfrm>
          <a:prstGeom prst="roundRect">
            <a:avLst>
              <a:gd name="adj" fmla="val 1860"/>
            </a:avLst>
          </a:prstGeom>
          <a:solidFill>
            <a:srgbClr val="383F44"/>
          </a:solidFill>
          <a:ln w="8890">
            <a:solidFill>
              <a:srgbClr val="D71920"/>
            </a:solidFill>
            <a:prstDash val="solid"/>
          </a:ln>
        </p:spPr>
        <p:txBody>
          <a:bodyPr/>
          <a:lstStyle/>
          <a:p>
            <a:endParaRPr lang="nl-NL"/>
          </a:p>
        </p:txBody>
      </p:sp>
      <p:sp>
        <p:nvSpPr>
          <p:cNvPr id="30" name="Shape 28"/>
          <p:cNvSpPr/>
          <p:nvPr/>
        </p:nvSpPr>
        <p:spPr>
          <a:xfrm>
            <a:off x="8398394" y="3255264"/>
            <a:ext cx="34962" cy="1721896"/>
          </a:xfrm>
          <a:prstGeom prst="rect">
            <a:avLst/>
          </a:prstGeom>
          <a:solidFill>
            <a:srgbClr val="D71920"/>
          </a:solidFill>
          <a:ln w="12700">
            <a:solidFill>
              <a:srgbClr val="24282C">
                <a:alpha val="0"/>
              </a:srgbClr>
            </a:solidFill>
            <a:prstDash val="solid"/>
          </a:ln>
        </p:spPr>
        <p:txBody>
          <a:bodyPr/>
          <a:lstStyle/>
          <a:p>
            <a:endParaRPr lang="nl-NL"/>
          </a:p>
        </p:txBody>
      </p:sp>
      <p:sp>
        <p:nvSpPr>
          <p:cNvPr id="31" name="Text 29"/>
          <p:cNvSpPr/>
          <p:nvPr/>
        </p:nvSpPr>
        <p:spPr>
          <a:xfrm>
            <a:off x="8546984" y="3272745"/>
            <a:ext cx="1737192" cy="559398"/>
          </a:xfrm>
          <a:prstGeom prst="rect">
            <a:avLst/>
          </a:prstGeom>
          <a:noFill/>
          <a:ln/>
        </p:spPr>
        <p:txBody>
          <a:bodyPr wrap="square" lIns="0" tIns="0" rIns="0" bIns="0" rtlCol="0" anchor="t">
            <a:normAutofit/>
          </a:bodyPr>
          <a:lstStyle/>
          <a:p>
            <a:pPr marL="0" indent="0" algn="l">
              <a:buNone/>
            </a:pPr>
            <a:r>
              <a:rPr lang="en-US" sz="1721" b="1" dirty="0">
                <a:solidFill>
                  <a:srgbClr val="F5F6F7"/>
                </a:solidFill>
                <a:latin typeface="Arial" pitchFamily="34" charset="0"/>
                <a:ea typeface="Arial" pitchFamily="34" charset="-122"/>
                <a:cs typeface="Arial" pitchFamily="34" charset="-120"/>
              </a:rPr>
              <a:t>Local adaptation</a:t>
            </a:r>
            <a:endParaRPr lang="en-US" sz="1721" dirty="0"/>
          </a:p>
        </p:txBody>
      </p:sp>
      <p:sp>
        <p:nvSpPr>
          <p:cNvPr id="32" name="Text 30"/>
          <p:cNvSpPr/>
          <p:nvPr/>
        </p:nvSpPr>
        <p:spPr>
          <a:xfrm>
            <a:off x="8546984" y="3893327"/>
            <a:ext cx="1737192" cy="1101314"/>
          </a:xfrm>
          <a:prstGeom prst="rect">
            <a:avLst/>
          </a:prstGeom>
          <a:noFill/>
          <a:ln/>
        </p:spPr>
        <p:txBody>
          <a:bodyPr wrap="square" lIns="0" tIns="0" rIns="0" bIns="0" rtlCol="0" anchor="t">
            <a:normAutofit/>
          </a:bodyPr>
          <a:lstStyle/>
          <a:p>
            <a:pPr marL="0" indent="0" algn="l">
              <a:buNone/>
            </a:pPr>
            <a:r>
              <a:rPr lang="en-US" sz="1376" dirty="0">
                <a:solidFill>
                  <a:srgbClr val="BDC4C9"/>
                </a:solidFill>
                <a:latin typeface="Arial" pitchFamily="34" charset="0"/>
                <a:ea typeface="Arial" pitchFamily="34" charset="-122"/>
                <a:cs typeface="Arial" pitchFamily="34" charset="-120"/>
              </a:rPr>
              <a:t>Another participant chooses its use</a:t>
            </a:r>
            <a:endParaRPr lang="en-US" sz="1376" dirty="0"/>
          </a:p>
        </p:txBody>
      </p:sp>
      <p:sp>
        <p:nvSpPr>
          <p:cNvPr id="33" name="Text 31"/>
          <p:cNvSpPr/>
          <p:nvPr/>
        </p:nvSpPr>
        <p:spPr>
          <a:xfrm>
            <a:off x="8546984" y="2835716"/>
            <a:ext cx="1737192" cy="524435"/>
          </a:xfrm>
          <a:prstGeom prst="rect">
            <a:avLst/>
          </a:prstGeom>
          <a:noFill/>
          <a:ln/>
        </p:spPr>
        <p:txBody>
          <a:bodyPr wrap="square" lIns="0" tIns="0" rIns="0" bIns="0" rtlCol="0" anchor="t">
            <a:normAutofit/>
          </a:bodyPr>
          <a:lstStyle/>
          <a:p>
            <a:pPr marL="0" indent="0" algn="l">
              <a:buNone/>
            </a:pPr>
            <a:r>
              <a:rPr lang="en-US" sz="1239" b="1" dirty="0">
                <a:solidFill>
                  <a:srgbClr val="D71920"/>
                </a:solidFill>
                <a:latin typeface="Arial" pitchFamily="34" charset="0"/>
                <a:ea typeface="Arial" pitchFamily="34" charset="-122"/>
                <a:cs typeface="Arial" pitchFamily="34" charset="-120"/>
              </a:rPr>
              <a:t>04</a:t>
            </a:r>
            <a:endParaRPr lang="en-US" sz="1239" dirty="0"/>
          </a:p>
        </p:txBody>
      </p:sp>
      <p:sp>
        <p:nvSpPr>
          <p:cNvPr id="34" name="Text 32"/>
          <p:cNvSpPr/>
          <p:nvPr/>
        </p:nvSpPr>
        <p:spPr>
          <a:xfrm>
            <a:off x="548640" y="5678424"/>
            <a:ext cx="10954512" cy="219456"/>
          </a:xfrm>
          <a:prstGeom prst="rect">
            <a:avLst/>
          </a:prstGeom>
          <a:noFill/>
          <a:ln/>
        </p:spPr>
        <p:txBody>
          <a:bodyPr wrap="square" lIns="0" tIns="0" rIns="0" bIns="0" rtlCol="0" anchor="t">
            <a:normAutofit/>
          </a:bodyPr>
          <a:lstStyle/>
          <a:p>
            <a:pPr marL="0" indent="0" algn="l">
              <a:buNone/>
            </a:pPr>
            <a:r>
              <a:rPr lang="en-US" sz="840" dirty="0">
                <a:solidFill>
                  <a:srgbClr val="BDC4C9"/>
                </a:solidFill>
                <a:latin typeface="Arial" pitchFamily="34" charset="0"/>
                <a:ea typeface="Arial" pitchFamily="34" charset="-122"/>
                <a:cs typeface="Arial" pitchFamily="34" charset="-120"/>
              </a:rPr>
              <a:t>Proposed sequence / each stage retains its own evidence and decision.</a:t>
            </a:r>
            <a:endParaRPr lang="en-US" sz="840" dirty="0"/>
          </a:p>
        </p:txBody>
      </p:sp>
      <p:sp>
        <p:nvSpPr>
          <p:cNvPr id="35" name="Text 33"/>
          <p:cNvSpPr/>
          <p:nvPr/>
        </p:nvSpPr>
        <p:spPr>
          <a:xfrm>
            <a:off x="603504" y="5925312"/>
            <a:ext cx="10917936" cy="347472"/>
          </a:xfrm>
          <a:prstGeom prst="rect">
            <a:avLst/>
          </a:prstGeom>
          <a:noFill/>
          <a:ln/>
        </p:spPr>
        <p:txBody>
          <a:bodyPr wrap="square" lIns="0" tIns="0" rIns="0" bIns="0" rtlCol="0" anchor="t">
            <a:normAutofit/>
          </a:bodyPr>
          <a:lstStyle/>
          <a:p>
            <a:pPr marL="0" indent="0" algn="l">
              <a:buNone/>
            </a:pPr>
            <a:r>
              <a:rPr lang="en-US" sz="1320" dirty="0">
                <a:solidFill>
                  <a:srgbClr val="F5F6F7"/>
                </a:solidFill>
                <a:latin typeface="Arial" pitchFamily="34" charset="0"/>
                <a:ea typeface="Arial" pitchFamily="34" charset="-122"/>
                <a:cs typeface="Arial" pitchFamily="34" charset="-120"/>
              </a:rPr>
              <a:t>This creates a controlled learning mechanism.</a:t>
            </a:r>
            <a:endParaRPr lang="en-US" sz="13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24282C"/>
        </a:solidFill>
        <a:effectLst/>
      </p:bgPr>
    </p:bg>
    <p:spTree>
      <p:nvGrpSpPr>
        <p:cNvPr id="1" name=""/>
        <p:cNvGrpSpPr/>
        <p:nvPr/>
      </p:nvGrpSpPr>
      <p:grpSpPr>
        <a:xfrm>
          <a:off x="0" y="0"/>
          <a:ext cx="0" cy="0"/>
          <a:chOff x="0" y="0"/>
          <a:chExt cx="0" cy="0"/>
        </a:xfrm>
      </p:grpSpPr>
      <p:sp>
        <p:nvSpPr>
          <p:cNvPr id="2" name="Text 0"/>
          <p:cNvSpPr/>
          <p:nvPr/>
        </p:nvSpPr>
        <p:spPr>
          <a:xfrm>
            <a:off x="484632" y="173736"/>
            <a:ext cx="2743200" cy="201168"/>
          </a:xfrm>
          <a:prstGeom prst="rect">
            <a:avLst/>
          </a:prstGeom>
          <a:noFill/>
          <a:ln/>
        </p:spPr>
        <p:txBody>
          <a:bodyPr wrap="square" lIns="0" tIns="0" rIns="0" bIns="0" rtlCol="0" anchor="t">
            <a:normAutofit/>
          </a:bodyPr>
          <a:lstStyle/>
          <a:p>
            <a:pPr marL="0" indent="0" algn="l">
              <a:buNone/>
            </a:pPr>
            <a:r>
              <a:rPr lang="en-US" sz="1000" b="1" dirty="0">
                <a:solidFill>
                  <a:srgbClr val="F5F6F7"/>
                </a:solidFill>
                <a:latin typeface="Arial" pitchFamily="34" charset="0"/>
                <a:ea typeface="Arial" pitchFamily="34" charset="-122"/>
                <a:cs typeface="Arial" pitchFamily="34" charset="-120"/>
              </a:rPr>
              <a:t>ISUZU / UNIVERSE</a:t>
            </a:r>
            <a:endParaRPr lang="en-US" sz="1000" dirty="0"/>
          </a:p>
        </p:txBody>
      </p:sp>
      <p:sp>
        <p:nvSpPr>
          <p:cNvPr id="3" name="Text 1"/>
          <p:cNvSpPr/>
          <p:nvPr/>
        </p:nvSpPr>
        <p:spPr>
          <a:xfrm>
            <a:off x="8046720" y="173736"/>
            <a:ext cx="3657600" cy="201168"/>
          </a:xfrm>
          <a:prstGeom prst="rect">
            <a:avLst/>
          </a:prstGeom>
          <a:noFill/>
          <a:ln/>
        </p:spPr>
        <p:txBody>
          <a:bodyPr wrap="square" lIns="0" tIns="0" rIns="0" bIns="0" rtlCol="0" anchor="t">
            <a:normAutofit/>
          </a:bodyPr>
          <a:lstStyle/>
          <a:p>
            <a:pPr marL="0" indent="0" algn="r">
              <a:buNone/>
            </a:pPr>
            <a:r>
              <a:rPr lang="en-US" sz="900" dirty="0">
                <a:solidFill>
                  <a:srgbClr val="BDC4C9"/>
                </a:solidFill>
                <a:latin typeface="Arial" pitchFamily="34" charset="0"/>
                <a:ea typeface="Arial" pitchFamily="34" charset="-122"/>
                <a:cs typeface="Arial" pitchFamily="34" charset="-120"/>
              </a:rPr>
              <a:t>COMMERCIAL VISION  /  3.0</a:t>
            </a:r>
            <a:endParaRPr lang="en-US" sz="900" dirty="0"/>
          </a:p>
        </p:txBody>
      </p:sp>
      <p:sp>
        <p:nvSpPr>
          <p:cNvPr id="4" name="Shape 2"/>
          <p:cNvSpPr/>
          <p:nvPr/>
        </p:nvSpPr>
        <p:spPr>
          <a:xfrm>
            <a:off x="484632" y="512064"/>
            <a:ext cx="475488" cy="22860"/>
          </a:xfrm>
          <a:prstGeom prst="rect">
            <a:avLst/>
          </a:prstGeom>
          <a:solidFill>
            <a:srgbClr val="D71920"/>
          </a:solidFill>
          <a:ln w="12700">
            <a:solidFill>
              <a:srgbClr val="D71920">
                <a:alpha val="0"/>
              </a:srgbClr>
            </a:solidFill>
            <a:prstDash val="solid"/>
          </a:ln>
        </p:spPr>
        <p:txBody>
          <a:bodyPr/>
          <a:lstStyle/>
          <a:p>
            <a:endParaRPr lang="nl-NL"/>
          </a:p>
        </p:txBody>
      </p:sp>
      <p:sp>
        <p:nvSpPr>
          <p:cNvPr id="5" name="Text 3"/>
          <p:cNvSpPr/>
          <p:nvPr/>
        </p:nvSpPr>
        <p:spPr>
          <a:xfrm>
            <a:off x="484632" y="658368"/>
            <a:ext cx="11064240" cy="219456"/>
          </a:xfrm>
          <a:prstGeom prst="rect">
            <a:avLst/>
          </a:prstGeom>
          <a:noFill/>
          <a:ln/>
        </p:spPr>
        <p:txBody>
          <a:bodyPr wrap="square" lIns="0" tIns="0" rIns="0" bIns="0" rtlCol="0" anchor="t">
            <a:normAutofit/>
          </a:bodyPr>
          <a:lstStyle/>
          <a:p>
            <a:pPr marL="0" indent="0" algn="l">
              <a:buNone/>
            </a:pPr>
            <a:r>
              <a:rPr lang="en-US" sz="1000" b="1" dirty="0">
                <a:solidFill>
                  <a:srgbClr val="D71920"/>
                </a:solidFill>
                <a:latin typeface="Arial" pitchFamily="34" charset="0"/>
                <a:ea typeface="Arial" pitchFamily="34" charset="-122"/>
                <a:cs typeface="Arial" pitchFamily="34" charset="-120"/>
              </a:rPr>
              <a:t>PRISM / MARKET CONTEXT</a:t>
            </a:r>
            <a:endParaRPr lang="en-US" sz="1000" dirty="0"/>
          </a:p>
        </p:txBody>
      </p:sp>
      <p:sp>
        <p:nvSpPr>
          <p:cNvPr id="6" name="Shape 4"/>
          <p:cNvSpPr/>
          <p:nvPr/>
        </p:nvSpPr>
        <p:spPr>
          <a:xfrm>
            <a:off x="484632" y="6446520"/>
            <a:ext cx="11219688" cy="914"/>
          </a:xfrm>
          <a:prstGeom prst="line">
            <a:avLst/>
          </a:prstGeom>
          <a:noFill/>
          <a:ln w="6350">
            <a:solidFill>
              <a:srgbClr val="647078"/>
            </a:solidFill>
            <a:prstDash val="solid"/>
          </a:ln>
        </p:spPr>
        <p:txBody>
          <a:bodyPr/>
          <a:lstStyle/>
          <a:p>
            <a:endParaRPr lang="nl-NL"/>
          </a:p>
        </p:txBody>
      </p:sp>
      <p:sp>
        <p:nvSpPr>
          <p:cNvPr id="7" name="Text 5"/>
          <p:cNvSpPr/>
          <p:nvPr/>
        </p:nvSpPr>
        <p:spPr>
          <a:xfrm>
            <a:off x="484632" y="6556248"/>
            <a:ext cx="9144000" cy="146304"/>
          </a:xfrm>
          <a:prstGeom prst="rect">
            <a:avLst/>
          </a:prstGeom>
          <a:noFill/>
          <a:ln/>
        </p:spPr>
        <p:txBody>
          <a:bodyPr wrap="square" lIns="0" tIns="0" rIns="0" bIns="0" rtlCol="0" anchor="t">
            <a:normAutofit/>
          </a:bodyPr>
          <a:lstStyle/>
          <a:p>
            <a:pPr marL="0" indent="0" algn="l">
              <a:buNone/>
            </a:pPr>
            <a:r>
              <a:rPr lang="en-US" sz="750" dirty="0">
                <a:solidFill>
                  <a:srgbClr val="BDC4C9"/>
                </a:solidFill>
                <a:latin typeface="Arial" pitchFamily="34" charset="0"/>
                <a:ea typeface="Arial" pitchFamily="34" charset="-122"/>
                <a:cs typeface="Arial" pitchFamily="34" charset="-120"/>
              </a:rPr>
              <a:t>22 SEPTEMBER 2026  /  CONCEPT AND APPLICATION EXAMPLES</a:t>
            </a:r>
            <a:endParaRPr lang="en-US" sz="750" dirty="0"/>
          </a:p>
        </p:txBody>
      </p:sp>
      <p:sp>
        <p:nvSpPr>
          <p:cNvPr id="8" name="Text 6"/>
          <p:cNvSpPr/>
          <p:nvPr/>
        </p:nvSpPr>
        <p:spPr>
          <a:xfrm>
            <a:off x="10789920" y="6547104"/>
            <a:ext cx="914400" cy="173736"/>
          </a:xfrm>
          <a:prstGeom prst="rect">
            <a:avLst/>
          </a:prstGeom>
          <a:noFill/>
          <a:ln/>
        </p:spPr>
        <p:txBody>
          <a:bodyPr wrap="square" lIns="0" tIns="0" rIns="0" bIns="0" rtlCol="0" anchor="t">
            <a:normAutofit/>
          </a:bodyPr>
          <a:lstStyle/>
          <a:p>
            <a:pPr marL="0" indent="0" algn="r">
              <a:buNone/>
            </a:pPr>
            <a:r>
              <a:rPr lang="en-US" sz="850" dirty="0">
                <a:solidFill>
                  <a:srgbClr val="BDC4C9"/>
                </a:solidFill>
                <a:latin typeface="Arial" pitchFamily="34" charset="0"/>
                <a:ea typeface="Arial" pitchFamily="34" charset="-122"/>
                <a:cs typeface="Arial" pitchFamily="34" charset="-120"/>
              </a:rPr>
              <a:t>19 / 49</a:t>
            </a:r>
            <a:endParaRPr lang="en-US" sz="850" dirty="0"/>
          </a:p>
        </p:txBody>
      </p:sp>
      <p:sp>
        <p:nvSpPr>
          <p:cNvPr id="9" name="Text 7"/>
          <p:cNvSpPr/>
          <p:nvPr/>
        </p:nvSpPr>
        <p:spPr>
          <a:xfrm>
            <a:off x="502920" y="1005840"/>
            <a:ext cx="11036808" cy="841248"/>
          </a:xfrm>
          <a:prstGeom prst="rect">
            <a:avLst/>
          </a:prstGeom>
          <a:noFill/>
          <a:ln/>
        </p:spPr>
        <p:txBody>
          <a:bodyPr wrap="square" lIns="0" tIns="0" rIns="0" bIns="0" rtlCol="0" anchor="t">
            <a:normAutofit/>
          </a:bodyPr>
          <a:lstStyle/>
          <a:p>
            <a:pPr marL="0" indent="0" algn="l">
              <a:buNone/>
            </a:pPr>
            <a:r>
              <a:rPr lang="en-US" sz="3400" b="1" dirty="0">
                <a:solidFill>
                  <a:srgbClr val="F5F6F7"/>
                </a:solidFill>
                <a:latin typeface="Arial" pitchFamily="34" charset="0"/>
                <a:ea typeface="Arial" pitchFamily="34" charset="-122"/>
                <a:cs typeface="Arial" pitchFamily="34" charset="-120"/>
              </a:rPr>
              <a:t>Put the parts business in its market.</a:t>
            </a:r>
            <a:endParaRPr lang="en-US" sz="3400" dirty="0"/>
          </a:p>
        </p:txBody>
      </p:sp>
      <p:sp>
        <p:nvSpPr>
          <p:cNvPr id="10" name="Text 8"/>
          <p:cNvSpPr/>
          <p:nvPr/>
        </p:nvSpPr>
        <p:spPr>
          <a:xfrm>
            <a:off x="530352" y="1865376"/>
            <a:ext cx="10954512" cy="566928"/>
          </a:xfrm>
          <a:prstGeom prst="rect">
            <a:avLst/>
          </a:prstGeom>
          <a:noFill/>
          <a:ln/>
        </p:spPr>
        <p:txBody>
          <a:bodyPr wrap="square" lIns="0" tIns="0" rIns="0" bIns="0" rtlCol="0" anchor="t">
            <a:normAutofit/>
          </a:bodyPr>
          <a:lstStyle/>
          <a:p>
            <a:pPr marL="0" indent="0" algn="l">
              <a:buNone/>
            </a:pPr>
            <a:r>
              <a:rPr lang="en-US" sz="1800" dirty="0">
                <a:solidFill>
                  <a:srgbClr val="BDC4C9"/>
                </a:solidFill>
                <a:latin typeface="Arial" pitchFamily="34" charset="0"/>
                <a:ea typeface="Arial" pitchFamily="34" charset="-122"/>
                <a:cs typeface="Arial" pitchFamily="34" charset="-120"/>
              </a:rPr>
              <a:t>PRISM adds relevant historical fleet and commercial context.</a:t>
            </a:r>
            <a:endParaRPr lang="en-US" sz="1800" dirty="0"/>
          </a:p>
        </p:txBody>
      </p:sp>
      <p:sp>
        <p:nvSpPr>
          <p:cNvPr id="11" name="Shape 9"/>
          <p:cNvSpPr/>
          <p:nvPr/>
        </p:nvSpPr>
        <p:spPr>
          <a:xfrm>
            <a:off x="1692178" y="3132896"/>
            <a:ext cx="2034372" cy="1966632"/>
          </a:xfrm>
          <a:prstGeom prst="roundRect">
            <a:avLst>
              <a:gd name="adj" fmla="val 1860"/>
            </a:avLst>
          </a:prstGeom>
          <a:solidFill>
            <a:srgbClr val="30363B"/>
          </a:solidFill>
          <a:ln w="8890">
            <a:solidFill>
              <a:srgbClr val="48525B"/>
            </a:solidFill>
            <a:prstDash val="solid"/>
          </a:ln>
        </p:spPr>
        <p:txBody>
          <a:bodyPr/>
          <a:lstStyle/>
          <a:p>
            <a:endParaRPr lang="nl-NL"/>
          </a:p>
        </p:txBody>
      </p:sp>
      <p:sp>
        <p:nvSpPr>
          <p:cNvPr id="12" name="Shape 10"/>
          <p:cNvSpPr/>
          <p:nvPr/>
        </p:nvSpPr>
        <p:spPr>
          <a:xfrm>
            <a:off x="1692178" y="3255264"/>
            <a:ext cx="34962" cy="1721896"/>
          </a:xfrm>
          <a:prstGeom prst="rect">
            <a:avLst/>
          </a:prstGeom>
          <a:solidFill>
            <a:srgbClr val="82909A"/>
          </a:solidFill>
          <a:ln w="12700">
            <a:solidFill>
              <a:srgbClr val="24282C">
                <a:alpha val="0"/>
              </a:srgbClr>
            </a:solidFill>
            <a:prstDash val="solid"/>
          </a:ln>
        </p:spPr>
        <p:txBody>
          <a:bodyPr/>
          <a:lstStyle/>
          <a:p>
            <a:endParaRPr lang="nl-NL"/>
          </a:p>
        </p:txBody>
      </p:sp>
      <p:sp>
        <p:nvSpPr>
          <p:cNvPr id="13" name="Text 11"/>
          <p:cNvSpPr/>
          <p:nvPr/>
        </p:nvSpPr>
        <p:spPr>
          <a:xfrm>
            <a:off x="1840768" y="3272745"/>
            <a:ext cx="1737192" cy="559398"/>
          </a:xfrm>
          <a:prstGeom prst="rect">
            <a:avLst/>
          </a:prstGeom>
          <a:noFill/>
          <a:ln/>
        </p:spPr>
        <p:txBody>
          <a:bodyPr wrap="square" lIns="0" tIns="0" rIns="0" bIns="0" rtlCol="0" anchor="t">
            <a:normAutofit/>
          </a:bodyPr>
          <a:lstStyle/>
          <a:p>
            <a:pPr marL="0" indent="0" algn="l">
              <a:buNone/>
            </a:pPr>
            <a:r>
              <a:rPr lang="en-US" sz="1721" b="1" dirty="0">
                <a:solidFill>
                  <a:srgbClr val="F5F6F7"/>
                </a:solidFill>
                <a:latin typeface="Arial" pitchFamily="34" charset="0"/>
                <a:ea typeface="Arial" pitchFamily="34" charset="-122"/>
                <a:cs typeface="Arial" pitchFamily="34" charset="-120"/>
              </a:rPr>
              <a:t>Market</a:t>
            </a:r>
            <a:endParaRPr lang="en-US" sz="1721" dirty="0"/>
          </a:p>
        </p:txBody>
      </p:sp>
      <p:sp>
        <p:nvSpPr>
          <p:cNvPr id="14" name="Text 12"/>
          <p:cNvSpPr/>
          <p:nvPr/>
        </p:nvSpPr>
        <p:spPr>
          <a:xfrm>
            <a:off x="1840768" y="3893327"/>
            <a:ext cx="1737192" cy="1101314"/>
          </a:xfrm>
          <a:prstGeom prst="rect">
            <a:avLst/>
          </a:prstGeom>
          <a:noFill/>
          <a:ln/>
        </p:spPr>
        <p:txBody>
          <a:bodyPr wrap="square" lIns="0" tIns="0" rIns="0" bIns="0" rtlCol="0" anchor="t">
            <a:normAutofit/>
          </a:bodyPr>
          <a:lstStyle/>
          <a:p>
            <a:pPr marL="0" indent="0" algn="l">
              <a:buNone/>
            </a:pPr>
            <a:r>
              <a:rPr lang="en-US" sz="1376" dirty="0">
                <a:solidFill>
                  <a:srgbClr val="BDC4C9"/>
                </a:solidFill>
                <a:latin typeface="Arial" pitchFamily="34" charset="0"/>
                <a:ea typeface="Arial" pitchFamily="34" charset="-122"/>
                <a:cs typeface="Arial" pitchFamily="34" charset="-120"/>
              </a:rPr>
              <a:t>The actual distributor</a:t>
            </a:r>
            <a:endParaRPr lang="en-US" sz="1376" dirty="0"/>
          </a:p>
        </p:txBody>
      </p:sp>
      <p:sp>
        <p:nvSpPr>
          <p:cNvPr id="15" name="Text 13"/>
          <p:cNvSpPr/>
          <p:nvPr/>
        </p:nvSpPr>
        <p:spPr>
          <a:xfrm>
            <a:off x="1840768" y="2835716"/>
            <a:ext cx="1737192" cy="524435"/>
          </a:xfrm>
          <a:prstGeom prst="rect">
            <a:avLst/>
          </a:prstGeom>
          <a:noFill/>
          <a:ln/>
        </p:spPr>
        <p:txBody>
          <a:bodyPr wrap="square" lIns="0" tIns="0" rIns="0" bIns="0" rtlCol="0" anchor="t">
            <a:normAutofit/>
          </a:bodyPr>
          <a:lstStyle/>
          <a:p>
            <a:pPr marL="0" indent="0" algn="l">
              <a:buNone/>
            </a:pPr>
            <a:r>
              <a:rPr lang="en-US" sz="1239" b="1" dirty="0">
                <a:solidFill>
                  <a:srgbClr val="D71920"/>
                </a:solidFill>
                <a:latin typeface="Arial" pitchFamily="34" charset="0"/>
                <a:ea typeface="Arial" pitchFamily="34" charset="-122"/>
                <a:cs typeface="Arial" pitchFamily="34" charset="-120"/>
              </a:rPr>
              <a:t>01</a:t>
            </a:r>
            <a:endParaRPr lang="en-US" sz="1239" dirty="0"/>
          </a:p>
        </p:txBody>
      </p:sp>
      <p:sp>
        <p:nvSpPr>
          <p:cNvPr id="16" name="Shape 14"/>
          <p:cNvSpPr/>
          <p:nvPr/>
        </p:nvSpPr>
        <p:spPr>
          <a:xfrm>
            <a:off x="3752772" y="4103101"/>
            <a:ext cx="148590" cy="914"/>
          </a:xfrm>
          <a:prstGeom prst="line">
            <a:avLst/>
          </a:prstGeom>
          <a:noFill/>
          <a:ln w="17481">
            <a:solidFill>
              <a:srgbClr val="D71920"/>
            </a:solidFill>
            <a:prstDash val="solid"/>
            <a:tailEnd type="triangle"/>
          </a:ln>
        </p:spPr>
        <p:txBody>
          <a:bodyPr/>
          <a:lstStyle/>
          <a:p>
            <a:endParaRPr lang="nl-NL"/>
          </a:p>
        </p:txBody>
      </p:sp>
      <p:sp>
        <p:nvSpPr>
          <p:cNvPr id="17" name="Shape 15"/>
          <p:cNvSpPr/>
          <p:nvPr/>
        </p:nvSpPr>
        <p:spPr>
          <a:xfrm>
            <a:off x="3927583" y="3132896"/>
            <a:ext cx="2034372" cy="1966632"/>
          </a:xfrm>
          <a:prstGeom prst="roundRect">
            <a:avLst>
              <a:gd name="adj" fmla="val 1860"/>
            </a:avLst>
          </a:prstGeom>
          <a:solidFill>
            <a:srgbClr val="30363B"/>
          </a:solidFill>
          <a:ln w="8890">
            <a:solidFill>
              <a:srgbClr val="48525B"/>
            </a:solidFill>
            <a:prstDash val="solid"/>
          </a:ln>
        </p:spPr>
        <p:txBody>
          <a:bodyPr/>
          <a:lstStyle/>
          <a:p>
            <a:endParaRPr lang="nl-NL"/>
          </a:p>
        </p:txBody>
      </p:sp>
      <p:sp>
        <p:nvSpPr>
          <p:cNvPr id="18" name="Shape 16"/>
          <p:cNvSpPr/>
          <p:nvPr/>
        </p:nvSpPr>
        <p:spPr>
          <a:xfrm>
            <a:off x="3927583" y="3255264"/>
            <a:ext cx="34962" cy="1721896"/>
          </a:xfrm>
          <a:prstGeom prst="rect">
            <a:avLst/>
          </a:prstGeom>
          <a:solidFill>
            <a:srgbClr val="82909A"/>
          </a:solidFill>
          <a:ln w="12700">
            <a:solidFill>
              <a:srgbClr val="24282C">
                <a:alpha val="0"/>
              </a:srgbClr>
            </a:solidFill>
            <a:prstDash val="solid"/>
          </a:ln>
        </p:spPr>
        <p:txBody>
          <a:bodyPr/>
          <a:lstStyle/>
          <a:p>
            <a:endParaRPr lang="nl-NL"/>
          </a:p>
        </p:txBody>
      </p:sp>
      <p:sp>
        <p:nvSpPr>
          <p:cNvPr id="19" name="Text 17"/>
          <p:cNvSpPr/>
          <p:nvPr/>
        </p:nvSpPr>
        <p:spPr>
          <a:xfrm>
            <a:off x="4076173" y="3272745"/>
            <a:ext cx="1737192" cy="559398"/>
          </a:xfrm>
          <a:prstGeom prst="rect">
            <a:avLst/>
          </a:prstGeom>
          <a:noFill/>
          <a:ln/>
        </p:spPr>
        <p:txBody>
          <a:bodyPr wrap="square" lIns="0" tIns="0" rIns="0" bIns="0" rtlCol="0" anchor="t">
            <a:normAutofit/>
          </a:bodyPr>
          <a:lstStyle/>
          <a:p>
            <a:pPr marL="0" indent="0" algn="l">
              <a:buNone/>
            </a:pPr>
            <a:r>
              <a:rPr lang="en-US" sz="1721" b="1" dirty="0">
                <a:solidFill>
                  <a:srgbClr val="F5F6F7"/>
                </a:solidFill>
                <a:latin typeface="Arial" pitchFamily="34" charset="0"/>
                <a:ea typeface="Arial" pitchFamily="34" charset="-122"/>
                <a:cs typeface="Arial" pitchFamily="34" charset="-120"/>
              </a:rPr>
              <a:t>Fleet</a:t>
            </a:r>
            <a:endParaRPr lang="en-US" sz="1721" dirty="0"/>
          </a:p>
        </p:txBody>
      </p:sp>
      <p:sp>
        <p:nvSpPr>
          <p:cNvPr id="20" name="Text 18"/>
          <p:cNvSpPr/>
          <p:nvPr/>
        </p:nvSpPr>
        <p:spPr>
          <a:xfrm>
            <a:off x="4076173" y="3893327"/>
            <a:ext cx="1737192" cy="1101314"/>
          </a:xfrm>
          <a:prstGeom prst="rect">
            <a:avLst/>
          </a:prstGeom>
          <a:noFill/>
          <a:ln/>
        </p:spPr>
        <p:txBody>
          <a:bodyPr wrap="square" lIns="0" tIns="0" rIns="0" bIns="0" rtlCol="0" anchor="t">
            <a:normAutofit/>
          </a:bodyPr>
          <a:lstStyle/>
          <a:p>
            <a:pPr marL="0" indent="0" algn="l">
              <a:buNone/>
            </a:pPr>
            <a:r>
              <a:rPr lang="en-US" sz="1376" dirty="0">
                <a:solidFill>
                  <a:srgbClr val="BDC4C9"/>
                </a:solidFill>
                <a:latin typeface="Arial" pitchFamily="34" charset="0"/>
                <a:ea typeface="Arial" pitchFamily="34" charset="-122"/>
                <a:cs typeface="Arial" pitchFamily="34" charset="-120"/>
              </a:rPr>
              <a:t>Supported historical context</a:t>
            </a:r>
            <a:endParaRPr lang="en-US" sz="1376" dirty="0"/>
          </a:p>
        </p:txBody>
      </p:sp>
      <p:sp>
        <p:nvSpPr>
          <p:cNvPr id="21" name="Text 19"/>
          <p:cNvSpPr/>
          <p:nvPr/>
        </p:nvSpPr>
        <p:spPr>
          <a:xfrm>
            <a:off x="4076173" y="2835716"/>
            <a:ext cx="1737192" cy="524435"/>
          </a:xfrm>
          <a:prstGeom prst="rect">
            <a:avLst/>
          </a:prstGeom>
          <a:noFill/>
          <a:ln/>
        </p:spPr>
        <p:txBody>
          <a:bodyPr wrap="square" lIns="0" tIns="0" rIns="0" bIns="0" rtlCol="0" anchor="t">
            <a:normAutofit/>
          </a:bodyPr>
          <a:lstStyle/>
          <a:p>
            <a:pPr marL="0" indent="0" algn="l">
              <a:buNone/>
            </a:pPr>
            <a:r>
              <a:rPr lang="en-US" sz="1239" b="1" dirty="0">
                <a:solidFill>
                  <a:srgbClr val="D71920"/>
                </a:solidFill>
                <a:latin typeface="Arial" pitchFamily="34" charset="0"/>
                <a:ea typeface="Arial" pitchFamily="34" charset="-122"/>
                <a:cs typeface="Arial" pitchFamily="34" charset="-120"/>
              </a:rPr>
              <a:t>02</a:t>
            </a:r>
            <a:endParaRPr lang="en-US" sz="1239" dirty="0"/>
          </a:p>
        </p:txBody>
      </p:sp>
      <p:sp>
        <p:nvSpPr>
          <p:cNvPr id="22" name="Shape 20"/>
          <p:cNvSpPr/>
          <p:nvPr/>
        </p:nvSpPr>
        <p:spPr>
          <a:xfrm>
            <a:off x="5988177" y="4103101"/>
            <a:ext cx="148590" cy="914"/>
          </a:xfrm>
          <a:prstGeom prst="line">
            <a:avLst/>
          </a:prstGeom>
          <a:noFill/>
          <a:ln w="17481">
            <a:solidFill>
              <a:srgbClr val="D71920"/>
            </a:solidFill>
            <a:prstDash val="solid"/>
            <a:tailEnd type="triangle"/>
          </a:ln>
        </p:spPr>
        <p:txBody>
          <a:bodyPr/>
          <a:lstStyle/>
          <a:p>
            <a:endParaRPr lang="nl-NL"/>
          </a:p>
        </p:txBody>
      </p:sp>
      <p:sp>
        <p:nvSpPr>
          <p:cNvPr id="23" name="Shape 21"/>
          <p:cNvSpPr/>
          <p:nvPr/>
        </p:nvSpPr>
        <p:spPr>
          <a:xfrm>
            <a:off x="6162989" y="3132896"/>
            <a:ext cx="2034372" cy="1966632"/>
          </a:xfrm>
          <a:prstGeom prst="roundRect">
            <a:avLst>
              <a:gd name="adj" fmla="val 1860"/>
            </a:avLst>
          </a:prstGeom>
          <a:solidFill>
            <a:srgbClr val="30363B"/>
          </a:solidFill>
          <a:ln w="8890">
            <a:solidFill>
              <a:srgbClr val="48525B"/>
            </a:solidFill>
            <a:prstDash val="solid"/>
          </a:ln>
        </p:spPr>
        <p:txBody>
          <a:bodyPr/>
          <a:lstStyle/>
          <a:p>
            <a:endParaRPr lang="nl-NL"/>
          </a:p>
        </p:txBody>
      </p:sp>
      <p:sp>
        <p:nvSpPr>
          <p:cNvPr id="24" name="Shape 22"/>
          <p:cNvSpPr/>
          <p:nvPr/>
        </p:nvSpPr>
        <p:spPr>
          <a:xfrm>
            <a:off x="6162989" y="3255264"/>
            <a:ext cx="34962" cy="1721896"/>
          </a:xfrm>
          <a:prstGeom prst="rect">
            <a:avLst/>
          </a:prstGeom>
          <a:solidFill>
            <a:srgbClr val="82909A"/>
          </a:solidFill>
          <a:ln w="12700">
            <a:solidFill>
              <a:srgbClr val="24282C">
                <a:alpha val="0"/>
              </a:srgbClr>
            </a:solidFill>
            <a:prstDash val="solid"/>
          </a:ln>
        </p:spPr>
        <p:txBody>
          <a:bodyPr/>
          <a:lstStyle/>
          <a:p>
            <a:endParaRPr lang="nl-NL"/>
          </a:p>
        </p:txBody>
      </p:sp>
      <p:sp>
        <p:nvSpPr>
          <p:cNvPr id="25" name="Text 23"/>
          <p:cNvSpPr/>
          <p:nvPr/>
        </p:nvSpPr>
        <p:spPr>
          <a:xfrm>
            <a:off x="6311579" y="3272745"/>
            <a:ext cx="1737192" cy="559398"/>
          </a:xfrm>
          <a:prstGeom prst="rect">
            <a:avLst/>
          </a:prstGeom>
          <a:noFill/>
          <a:ln/>
        </p:spPr>
        <p:txBody>
          <a:bodyPr wrap="square" lIns="0" tIns="0" rIns="0" bIns="0" rtlCol="0" anchor="t">
            <a:normAutofit/>
          </a:bodyPr>
          <a:lstStyle/>
          <a:p>
            <a:pPr marL="0" indent="0" algn="l">
              <a:buNone/>
            </a:pPr>
            <a:r>
              <a:rPr lang="en-US" sz="1721" b="1" dirty="0">
                <a:solidFill>
                  <a:srgbClr val="F5F6F7"/>
                </a:solidFill>
                <a:latin typeface="Arial" pitchFamily="34" charset="0"/>
                <a:ea typeface="Arial" pitchFamily="34" charset="-122"/>
                <a:cs typeface="Arial" pitchFamily="34" charset="-120"/>
              </a:rPr>
              <a:t>Comparison</a:t>
            </a:r>
            <a:endParaRPr lang="en-US" sz="1721" dirty="0"/>
          </a:p>
        </p:txBody>
      </p:sp>
      <p:sp>
        <p:nvSpPr>
          <p:cNvPr id="26" name="Text 24"/>
          <p:cNvSpPr/>
          <p:nvPr/>
        </p:nvSpPr>
        <p:spPr>
          <a:xfrm>
            <a:off x="6311579" y="3893327"/>
            <a:ext cx="1737192" cy="1101314"/>
          </a:xfrm>
          <a:prstGeom prst="rect">
            <a:avLst/>
          </a:prstGeom>
          <a:noFill/>
          <a:ln/>
        </p:spPr>
        <p:txBody>
          <a:bodyPr wrap="square" lIns="0" tIns="0" rIns="0" bIns="0" rtlCol="0" anchor="t">
            <a:normAutofit/>
          </a:bodyPr>
          <a:lstStyle/>
          <a:p>
            <a:pPr marL="0" indent="0" algn="l">
              <a:buNone/>
            </a:pPr>
            <a:r>
              <a:rPr lang="en-US" sz="1376" dirty="0">
                <a:solidFill>
                  <a:srgbClr val="BDC4C9"/>
                </a:solidFill>
                <a:latin typeface="Arial" pitchFamily="34" charset="0"/>
                <a:ea typeface="Arial" pitchFamily="34" charset="-122"/>
                <a:cs typeface="Arial" pitchFamily="34" charset="-120"/>
              </a:rPr>
              <a:t>Measured versus modelled</a:t>
            </a:r>
            <a:endParaRPr lang="en-US" sz="1376" dirty="0"/>
          </a:p>
        </p:txBody>
      </p:sp>
      <p:sp>
        <p:nvSpPr>
          <p:cNvPr id="27" name="Text 25"/>
          <p:cNvSpPr/>
          <p:nvPr/>
        </p:nvSpPr>
        <p:spPr>
          <a:xfrm>
            <a:off x="6311579" y="2835716"/>
            <a:ext cx="1737192" cy="524435"/>
          </a:xfrm>
          <a:prstGeom prst="rect">
            <a:avLst/>
          </a:prstGeom>
          <a:noFill/>
          <a:ln/>
        </p:spPr>
        <p:txBody>
          <a:bodyPr wrap="square" lIns="0" tIns="0" rIns="0" bIns="0" rtlCol="0" anchor="t">
            <a:normAutofit/>
          </a:bodyPr>
          <a:lstStyle/>
          <a:p>
            <a:pPr marL="0" indent="0" algn="l">
              <a:buNone/>
            </a:pPr>
            <a:r>
              <a:rPr lang="en-US" sz="1239" b="1" dirty="0">
                <a:solidFill>
                  <a:srgbClr val="D71920"/>
                </a:solidFill>
                <a:latin typeface="Arial" pitchFamily="34" charset="0"/>
                <a:ea typeface="Arial" pitchFamily="34" charset="-122"/>
                <a:cs typeface="Arial" pitchFamily="34" charset="-120"/>
              </a:rPr>
              <a:t>03</a:t>
            </a:r>
            <a:endParaRPr lang="en-US" sz="1239" dirty="0"/>
          </a:p>
        </p:txBody>
      </p:sp>
      <p:sp>
        <p:nvSpPr>
          <p:cNvPr id="28" name="Shape 26"/>
          <p:cNvSpPr/>
          <p:nvPr/>
        </p:nvSpPr>
        <p:spPr>
          <a:xfrm>
            <a:off x="8223582" y="4103101"/>
            <a:ext cx="148590" cy="914"/>
          </a:xfrm>
          <a:prstGeom prst="line">
            <a:avLst/>
          </a:prstGeom>
          <a:noFill/>
          <a:ln w="17481">
            <a:solidFill>
              <a:srgbClr val="D71920"/>
            </a:solidFill>
            <a:prstDash val="solid"/>
            <a:tailEnd type="triangle"/>
          </a:ln>
        </p:spPr>
        <p:txBody>
          <a:bodyPr/>
          <a:lstStyle/>
          <a:p>
            <a:endParaRPr lang="nl-NL"/>
          </a:p>
        </p:txBody>
      </p:sp>
      <p:sp>
        <p:nvSpPr>
          <p:cNvPr id="29" name="Shape 27"/>
          <p:cNvSpPr/>
          <p:nvPr/>
        </p:nvSpPr>
        <p:spPr>
          <a:xfrm>
            <a:off x="8398394" y="3132896"/>
            <a:ext cx="2034372" cy="1966632"/>
          </a:xfrm>
          <a:prstGeom prst="roundRect">
            <a:avLst>
              <a:gd name="adj" fmla="val 1860"/>
            </a:avLst>
          </a:prstGeom>
          <a:solidFill>
            <a:srgbClr val="383F44"/>
          </a:solidFill>
          <a:ln w="8890">
            <a:solidFill>
              <a:srgbClr val="D71920"/>
            </a:solidFill>
            <a:prstDash val="solid"/>
          </a:ln>
        </p:spPr>
        <p:txBody>
          <a:bodyPr/>
          <a:lstStyle/>
          <a:p>
            <a:endParaRPr lang="nl-NL"/>
          </a:p>
        </p:txBody>
      </p:sp>
      <p:sp>
        <p:nvSpPr>
          <p:cNvPr id="30" name="Shape 28"/>
          <p:cNvSpPr/>
          <p:nvPr/>
        </p:nvSpPr>
        <p:spPr>
          <a:xfrm>
            <a:off x="8398394" y="3255264"/>
            <a:ext cx="34962" cy="1721896"/>
          </a:xfrm>
          <a:prstGeom prst="rect">
            <a:avLst/>
          </a:prstGeom>
          <a:solidFill>
            <a:srgbClr val="D71920"/>
          </a:solidFill>
          <a:ln w="12700">
            <a:solidFill>
              <a:srgbClr val="24282C">
                <a:alpha val="0"/>
              </a:srgbClr>
            </a:solidFill>
            <a:prstDash val="solid"/>
          </a:ln>
        </p:spPr>
        <p:txBody>
          <a:bodyPr/>
          <a:lstStyle/>
          <a:p>
            <a:endParaRPr lang="nl-NL"/>
          </a:p>
        </p:txBody>
      </p:sp>
      <p:sp>
        <p:nvSpPr>
          <p:cNvPr id="31" name="Text 29"/>
          <p:cNvSpPr/>
          <p:nvPr/>
        </p:nvSpPr>
        <p:spPr>
          <a:xfrm>
            <a:off x="8546984" y="3272745"/>
            <a:ext cx="1737192" cy="559398"/>
          </a:xfrm>
          <a:prstGeom prst="rect">
            <a:avLst/>
          </a:prstGeom>
          <a:noFill/>
          <a:ln/>
        </p:spPr>
        <p:txBody>
          <a:bodyPr wrap="square" lIns="0" tIns="0" rIns="0" bIns="0" rtlCol="0" anchor="t">
            <a:normAutofit/>
          </a:bodyPr>
          <a:lstStyle/>
          <a:p>
            <a:pPr marL="0" indent="0" algn="l">
              <a:buNone/>
            </a:pPr>
            <a:r>
              <a:rPr lang="en-US" sz="1721" b="1" dirty="0">
                <a:solidFill>
                  <a:srgbClr val="F5F6F7"/>
                </a:solidFill>
                <a:latin typeface="Arial" pitchFamily="34" charset="0"/>
                <a:ea typeface="Arial" pitchFamily="34" charset="-122"/>
                <a:cs typeface="Arial" pitchFamily="34" charset="-120"/>
              </a:rPr>
              <a:t>Opportunity</a:t>
            </a:r>
            <a:endParaRPr lang="en-US" sz="1721" dirty="0"/>
          </a:p>
        </p:txBody>
      </p:sp>
      <p:sp>
        <p:nvSpPr>
          <p:cNvPr id="32" name="Text 30"/>
          <p:cNvSpPr/>
          <p:nvPr/>
        </p:nvSpPr>
        <p:spPr>
          <a:xfrm>
            <a:off x="8546984" y="3893327"/>
            <a:ext cx="1737192" cy="1101314"/>
          </a:xfrm>
          <a:prstGeom prst="rect">
            <a:avLst/>
          </a:prstGeom>
          <a:noFill/>
          <a:ln/>
        </p:spPr>
        <p:txBody>
          <a:bodyPr wrap="square" lIns="0" tIns="0" rIns="0" bIns="0" rtlCol="0" anchor="t">
            <a:normAutofit/>
          </a:bodyPr>
          <a:lstStyle/>
          <a:p>
            <a:pPr marL="0" indent="0" algn="l">
              <a:buNone/>
            </a:pPr>
            <a:r>
              <a:rPr lang="en-US" sz="1376" dirty="0">
                <a:solidFill>
                  <a:srgbClr val="BDC4C9"/>
                </a:solidFill>
                <a:latin typeface="Arial" pitchFamily="34" charset="0"/>
                <a:ea typeface="Arial" pitchFamily="34" charset="-122"/>
                <a:cs typeface="Arial" pitchFamily="34" charset="-120"/>
              </a:rPr>
              <a:t>A relevant commercial proposition</a:t>
            </a:r>
            <a:endParaRPr lang="en-US" sz="1376" dirty="0"/>
          </a:p>
        </p:txBody>
      </p:sp>
      <p:sp>
        <p:nvSpPr>
          <p:cNvPr id="33" name="Text 31"/>
          <p:cNvSpPr/>
          <p:nvPr/>
        </p:nvSpPr>
        <p:spPr>
          <a:xfrm>
            <a:off x="8546984" y="2835716"/>
            <a:ext cx="1737192" cy="524435"/>
          </a:xfrm>
          <a:prstGeom prst="rect">
            <a:avLst/>
          </a:prstGeom>
          <a:noFill/>
          <a:ln/>
        </p:spPr>
        <p:txBody>
          <a:bodyPr wrap="square" lIns="0" tIns="0" rIns="0" bIns="0" rtlCol="0" anchor="t">
            <a:normAutofit/>
          </a:bodyPr>
          <a:lstStyle/>
          <a:p>
            <a:pPr marL="0" indent="0" algn="l">
              <a:buNone/>
            </a:pPr>
            <a:r>
              <a:rPr lang="en-US" sz="1239" b="1" dirty="0">
                <a:solidFill>
                  <a:srgbClr val="D71920"/>
                </a:solidFill>
                <a:latin typeface="Arial" pitchFamily="34" charset="0"/>
                <a:ea typeface="Arial" pitchFamily="34" charset="-122"/>
                <a:cs typeface="Arial" pitchFamily="34" charset="-120"/>
              </a:rPr>
              <a:t>04</a:t>
            </a:r>
            <a:endParaRPr lang="en-US" sz="1239" dirty="0"/>
          </a:p>
        </p:txBody>
      </p:sp>
      <p:sp>
        <p:nvSpPr>
          <p:cNvPr id="34" name="Text 32"/>
          <p:cNvSpPr/>
          <p:nvPr/>
        </p:nvSpPr>
        <p:spPr>
          <a:xfrm>
            <a:off x="548640" y="5678424"/>
            <a:ext cx="10954512" cy="219456"/>
          </a:xfrm>
          <a:prstGeom prst="rect">
            <a:avLst/>
          </a:prstGeom>
          <a:noFill/>
          <a:ln/>
        </p:spPr>
        <p:txBody>
          <a:bodyPr wrap="square" lIns="0" tIns="0" rIns="0" bIns="0" rtlCol="0" anchor="t">
            <a:normAutofit/>
          </a:bodyPr>
          <a:lstStyle/>
          <a:p>
            <a:pPr marL="0" indent="0" algn="l">
              <a:buNone/>
            </a:pPr>
            <a:r>
              <a:rPr lang="en-US" sz="840" dirty="0">
                <a:solidFill>
                  <a:srgbClr val="BDC4C9"/>
                </a:solidFill>
                <a:latin typeface="Arial" pitchFamily="34" charset="0"/>
                <a:ea typeface="Arial" pitchFamily="34" charset="-122"/>
                <a:cs typeface="Arial" pitchFamily="34" charset="-120"/>
              </a:rPr>
              <a:t>Proposed sequence / each stage retains its own evidence and decision.</a:t>
            </a:r>
            <a:endParaRPr lang="en-US" sz="840" dirty="0"/>
          </a:p>
        </p:txBody>
      </p:sp>
      <p:sp>
        <p:nvSpPr>
          <p:cNvPr id="35" name="Text 33"/>
          <p:cNvSpPr/>
          <p:nvPr/>
        </p:nvSpPr>
        <p:spPr>
          <a:xfrm>
            <a:off x="603504" y="5925312"/>
            <a:ext cx="10917936" cy="347472"/>
          </a:xfrm>
          <a:prstGeom prst="rect">
            <a:avLst/>
          </a:prstGeom>
          <a:noFill/>
          <a:ln/>
        </p:spPr>
        <p:txBody>
          <a:bodyPr wrap="square" lIns="0" tIns="0" rIns="0" bIns="0" rtlCol="0" anchor="t">
            <a:normAutofit/>
          </a:bodyPr>
          <a:lstStyle/>
          <a:p>
            <a:pPr marL="0" indent="0" algn="l">
              <a:buNone/>
            </a:pPr>
            <a:r>
              <a:rPr lang="en-US" sz="1320" dirty="0">
                <a:solidFill>
                  <a:srgbClr val="F5F6F7"/>
                </a:solidFill>
                <a:latin typeface="Arial" pitchFamily="34" charset="0"/>
                <a:ea typeface="Arial" pitchFamily="34" charset="-122"/>
                <a:cs typeface="Arial" pitchFamily="34" charset="-120"/>
              </a:rPr>
              <a:t>PRISM can inform a tender or a Deal of the Day, but it does not have to participate in every initiative.</a:t>
            </a:r>
            <a:endParaRPr lang="en-US" sz="13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24282C"/>
        </a:solidFill>
        <a:effectLst/>
      </p:bgPr>
    </p:bg>
    <p:spTree>
      <p:nvGrpSpPr>
        <p:cNvPr id="1" name=""/>
        <p:cNvGrpSpPr/>
        <p:nvPr/>
      </p:nvGrpSpPr>
      <p:grpSpPr>
        <a:xfrm>
          <a:off x="0" y="0"/>
          <a:ext cx="0" cy="0"/>
          <a:chOff x="0" y="0"/>
          <a:chExt cx="0" cy="0"/>
        </a:xfrm>
      </p:grpSpPr>
      <p:sp>
        <p:nvSpPr>
          <p:cNvPr id="2" name="Text 0"/>
          <p:cNvSpPr/>
          <p:nvPr/>
        </p:nvSpPr>
        <p:spPr>
          <a:xfrm>
            <a:off x="484632" y="173736"/>
            <a:ext cx="2743200" cy="201168"/>
          </a:xfrm>
          <a:prstGeom prst="rect">
            <a:avLst/>
          </a:prstGeom>
          <a:noFill/>
          <a:ln/>
        </p:spPr>
        <p:txBody>
          <a:bodyPr wrap="square" lIns="0" tIns="0" rIns="0" bIns="0" rtlCol="0" anchor="t">
            <a:normAutofit/>
          </a:bodyPr>
          <a:lstStyle/>
          <a:p>
            <a:pPr marL="0" indent="0" algn="l">
              <a:buNone/>
            </a:pPr>
            <a:r>
              <a:rPr lang="en-US" sz="1000" b="1" dirty="0">
                <a:solidFill>
                  <a:srgbClr val="F5F6F7"/>
                </a:solidFill>
                <a:latin typeface="Arial" pitchFamily="34" charset="0"/>
                <a:ea typeface="Arial" pitchFamily="34" charset="-122"/>
                <a:cs typeface="Arial" pitchFamily="34" charset="-120"/>
              </a:rPr>
              <a:t>ISUZU / UNIVERSE</a:t>
            </a:r>
            <a:endParaRPr lang="en-US" sz="1000" dirty="0"/>
          </a:p>
        </p:txBody>
      </p:sp>
      <p:sp>
        <p:nvSpPr>
          <p:cNvPr id="3" name="Text 1"/>
          <p:cNvSpPr/>
          <p:nvPr/>
        </p:nvSpPr>
        <p:spPr>
          <a:xfrm>
            <a:off x="8046720" y="173736"/>
            <a:ext cx="3657600" cy="201168"/>
          </a:xfrm>
          <a:prstGeom prst="rect">
            <a:avLst/>
          </a:prstGeom>
          <a:noFill/>
          <a:ln/>
        </p:spPr>
        <p:txBody>
          <a:bodyPr wrap="square" lIns="0" tIns="0" rIns="0" bIns="0" rtlCol="0" anchor="t">
            <a:normAutofit/>
          </a:bodyPr>
          <a:lstStyle/>
          <a:p>
            <a:pPr marL="0" indent="0" algn="r">
              <a:buNone/>
            </a:pPr>
            <a:r>
              <a:rPr lang="en-US" sz="900" dirty="0">
                <a:solidFill>
                  <a:srgbClr val="BDC4C9"/>
                </a:solidFill>
                <a:latin typeface="Arial" pitchFamily="34" charset="0"/>
                <a:ea typeface="Arial" pitchFamily="34" charset="-122"/>
                <a:cs typeface="Arial" pitchFamily="34" charset="-120"/>
              </a:rPr>
              <a:t>COMMERCIAL VISION  /  3.0</a:t>
            </a:r>
            <a:endParaRPr lang="en-US" sz="900" dirty="0"/>
          </a:p>
        </p:txBody>
      </p:sp>
      <p:sp>
        <p:nvSpPr>
          <p:cNvPr id="4" name="Shape 2"/>
          <p:cNvSpPr/>
          <p:nvPr/>
        </p:nvSpPr>
        <p:spPr>
          <a:xfrm>
            <a:off x="484632" y="512064"/>
            <a:ext cx="475488" cy="22860"/>
          </a:xfrm>
          <a:prstGeom prst="rect">
            <a:avLst/>
          </a:prstGeom>
          <a:solidFill>
            <a:srgbClr val="D71920"/>
          </a:solidFill>
          <a:ln w="12700">
            <a:solidFill>
              <a:srgbClr val="D71920">
                <a:alpha val="0"/>
              </a:srgbClr>
            </a:solidFill>
            <a:prstDash val="solid"/>
          </a:ln>
        </p:spPr>
        <p:txBody>
          <a:bodyPr/>
          <a:lstStyle/>
          <a:p>
            <a:endParaRPr lang="nl-NL"/>
          </a:p>
        </p:txBody>
      </p:sp>
      <p:sp>
        <p:nvSpPr>
          <p:cNvPr id="5" name="Text 3"/>
          <p:cNvSpPr/>
          <p:nvPr/>
        </p:nvSpPr>
        <p:spPr>
          <a:xfrm>
            <a:off x="484632" y="658368"/>
            <a:ext cx="11064240" cy="219456"/>
          </a:xfrm>
          <a:prstGeom prst="rect">
            <a:avLst/>
          </a:prstGeom>
          <a:noFill/>
          <a:ln/>
        </p:spPr>
        <p:txBody>
          <a:bodyPr wrap="square" lIns="0" tIns="0" rIns="0" bIns="0" rtlCol="0" anchor="t">
            <a:normAutofit/>
          </a:bodyPr>
          <a:lstStyle/>
          <a:p>
            <a:pPr marL="0" indent="0" algn="l">
              <a:buNone/>
            </a:pPr>
            <a:r>
              <a:rPr lang="en-US" sz="1000" b="1" dirty="0">
                <a:solidFill>
                  <a:srgbClr val="D71920"/>
                </a:solidFill>
                <a:latin typeface="Arial" pitchFamily="34" charset="0"/>
                <a:ea typeface="Arial" pitchFamily="34" charset="-122"/>
                <a:cs typeface="Arial" pitchFamily="34" charset="-120"/>
              </a:rPr>
              <a:t>PRISM / FLEET STRUCTURE</a:t>
            </a:r>
            <a:endParaRPr lang="en-US" sz="1000" dirty="0"/>
          </a:p>
        </p:txBody>
      </p:sp>
      <p:sp>
        <p:nvSpPr>
          <p:cNvPr id="6" name="Shape 4"/>
          <p:cNvSpPr/>
          <p:nvPr/>
        </p:nvSpPr>
        <p:spPr>
          <a:xfrm>
            <a:off x="484632" y="6446520"/>
            <a:ext cx="11219688" cy="914"/>
          </a:xfrm>
          <a:prstGeom prst="line">
            <a:avLst/>
          </a:prstGeom>
          <a:noFill/>
          <a:ln w="6350">
            <a:solidFill>
              <a:srgbClr val="647078"/>
            </a:solidFill>
            <a:prstDash val="solid"/>
          </a:ln>
        </p:spPr>
        <p:txBody>
          <a:bodyPr/>
          <a:lstStyle/>
          <a:p>
            <a:endParaRPr lang="nl-NL"/>
          </a:p>
        </p:txBody>
      </p:sp>
      <p:sp>
        <p:nvSpPr>
          <p:cNvPr id="7" name="Text 5"/>
          <p:cNvSpPr/>
          <p:nvPr/>
        </p:nvSpPr>
        <p:spPr>
          <a:xfrm>
            <a:off x="484632" y="6556248"/>
            <a:ext cx="9144000" cy="146304"/>
          </a:xfrm>
          <a:prstGeom prst="rect">
            <a:avLst/>
          </a:prstGeom>
          <a:noFill/>
          <a:ln/>
        </p:spPr>
        <p:txBody>
          <a:bodyPr wrap="square" lIns="0" tIns="0" rIns="0" bIns="0" rtlCol="0" anchor="t">
            <a:normAutofit/>
          </a:bodyPr>
          <a:lstStyle/>
          <a:p>
            <a:pPr marL="0" indent="0" algn="l">
              <a:buNone/>
            </a:pPr>
            <a:r>
              <a:rPr lang="en-US" sz="750" dirty="0">
                <a:solidFill>
                  <a:srgbClr val="BDC4C9"/>
                </a:solidFill>
                <a:latin typeface="Arial" pitchFamily="34" charset="0"/>
                <a:ea typeface="Arial" pitchFamily="34" charset="-122"/>
                <a:cs typeface="Arial" pitchFamily="34" charset="-120"/>
              </a:rPr>
              <a:t>22 SEPTEMBER 2026  /  CONCEPT AND APPLICATION EXAMPLES</a:t>
            </a:r>
            <a:endParaRPr lang="en-US" sz="750" dirty="0"/>
          </a:p>
        </p:txBody>
      </p:sp>
      <p:sp>
        <p:nvSpPr>
          <p:cNvPr id="8" name="Text 6"/>
          <p:cNvSpPr/>
          <p:nvPr/>
        </p:nvSpPr>
        <p:spPr>
          <a:xfrm>
            <a:off x="10789920" y="6547104"/>
            <a:ext cx="914400" cy="173736"/>
          </a:xfrm>
          <a:prstGeom prst="rect">
            <a:avLst/>
          </a:prstGeom>
          <a:noFill/>
          <a:ln/>
        </p:spPr>
        <p:txBody>
          <a:bodyPr wrap="square" lIns="0" tIns="0" rIns="0" bIns="0" rtlCol="0" anchor="t">
            <a:normAutofit/>
          </a:bodyPr>
          <a:lstStyle/>
          <a:p>
            <a:pPr marL="0" indent="0" algn="r">
              <a:buNone/>
            </a:pPr>
            <a:r>
              <a:rPr lang="en-US" sz="850" dirty="0">
                <a:solidFill>
                  <a:srgbClr val="BDC4C9"/>
                </a:solidFill>
                <a:latin typeface="Arial" pitchFamily="34" charset="0"/>
                <a:ea typeface="Arial" pitchFamily="34" charset="-122"/>
                <a:cs typeface="Arial" pitchFamily="34" charset="-120"/>
              </a:rPr>
              <a:t>20 / 49</a:t>
            </a:r>
            <a:endParaRPr lang="en-US" sz="850" dirty="0"/>
          </a:p>
        </p:txBody>
      </p:sp>
      <p:sp>
        <p:nvSpPr>
          <p:cNvPr id="9" name="Text 7"/>
          <p:cNvSpPr/>
          <p:nvPr/>
        </p:nvSpPr>
        <p:spPr>
          <a:xfrm>
            <a:off x="502920" y="1005840"/>
            <a:ext cx="11036808" cy="841248"/>
          </a:xfrm>
          <a:prstGeom prst="rect">
            <a:avLst/>
          </a:prstGeom>
          <a:noFill/>
          <a:ln/>
        </p:spPr>
        <p:txBody>
          <a:bodyPr wrap="square" lIns="0" tIns="0" rIns="0" bIns="0" rtlCol="0" anchor="t">
            <a:normAutofit/>
          </a:bodyPr>
          <a:lstStyle/>
          <a:p>
            <a:pPr marL="0" indent="0" algn="l">
              <a:buNone/>
            </a:pPr>
            <a:r>
              <a:rPr lang="en-US" sz="3400" b="1" dirty="0">
                <a:solidFill>
                  <a:srgbClr val="F5F6F7"/>
                </a:solidFill>
                <a:latin typeface="Arial" pitchFamily="34" charset="0"/>
                <a:ea typeface="Arial" pitchFamily="34" charset="-122"/>
                <a:cs typeface="Arial" pitchFamily="34" charset="-120"/>
              </a:rPr>
              <a:t>Choose the population before interpreting the rate.</a:t>
            </a:r>
            <a:endParaRPr lang="en-US" sz="3400" dirty="0"/>
          </a:p>
        </p:txBody>
      </p:sp>
      <p:sp>
        <p:nvSpPr>
          <p:cNvPr id="10" name="Text 8"/>
          <p:cNvSpPr/>
          <p:nvPr/>
        </p:nvSpPr>
        <p:spPr>
          <a:xfrm>
            <a:off x="530352" y="1865376"/>
            <a:ext cx="10954512" cy="566928"/>
          </a:xfrm>
          <a:prstGeom prst="rect">
            <a:avLst/>
          </a:prstGeom>
          <a:noFill/>
          <a:ln/>
        </p:spPr>
        <p:txBody>
          <a:bodyPr wrap="square" lIns="0" tIns="0" rIns="0" bIns="0" rtlCol="0" anchor="t">
            <a:normAutofit/>
          </a:bodyPr>
          <a:lstStyle/>
          <a:p>
            <a:pPr marL="0" indent="0" algn="l">
              <a:buNone/>
            </a:pPr>
            <a:r>
              <a:rPr lang="en-US" sz="1800" dirty="0">
                <a:solidFill>
                  <a:srgbClr val="BDC4C9"/>
                </a:solidFill>
                <a:latin typeface="Arial" pitchFamily="34" charset="0"/>
                <a:ea typeface="Arial" pitchFamily="34" charset="-122"/>
                <a:cs typeface="Arial" pitchFamily="34" charset="-120"/>
              </a:rPr>
              <a:t>A national fleet is context, not a dealer allocation.</a:t>
            </a:r>
            <a:endParaRPr lang="en-US" sz="1800" dirty="0"/>
          </a:p>
        </p:txBody>
      </p:sp>
      <p:sp>
        <p:nvSpPr>
          <p:cNvPr id="11" name="Shape 9"/>
          <p:cNvSpPr/>
          <p:nvPr/>
        </p:nvSpPr>
        <p:spPr>
          <a:xfrm>
            <a:off x="1817043" y="2966575"/>
            <a:ext cx="2683111" cy="2343477"/>
          </a:xfrm>
          <a:prstGeom prst="roundRect">
            <a:avLst>
              <a:gd name="adj" fmla="val 1561"/>
            </a:avLst>
          </a:prstGeom>
          <a:solidFill>
            <a:srgbClr val="383F44"/>
          </a:solidFill>
          <a:ln w="8890">
            <a:solidFill>
              <a:srgbClr val="D71920"/>
            </a:solidFill>
            <a:prstDash val="solid"/>
          </a:ln>
        </p:spPr>
        <p:txBody>
          <a:bodyPr/>
          <a:lstStyle/>
          <a:p>
            <a:endParaRPr lang="nl-NL"/>
          </a:p>
        </p:txBody>
      </p:sp>
      <p:sp>
        <p:nvSpPr>
          <p:cNvPr id="12" name="Shape 10"/>
          <p:cNvSpPr/>
          <p:nvPr/>
        </p:nvSpPr>
        <p:spPr>
          <a:xfrm>
            <a:off x="1817043" y="3085447"/>
            <a:ext cx="33963" cy="2105733"/>
          </a:xfrm>
          <a:prstGeom prst="rect">
            <a:avLst/>
          </a:prstGeom>
          <a:solidFill>
            <a:srgbClr val="D71920"/>
          </a:solidFill>
          <a:ln w="12700">
            <a:solidFill>
              <a:srgbClr val="24282C">
                <a:alpha val="0"/>
              </a:srgbClr>
            </a:solidFill>
            <a:prstDash val="solid"/>
          </a:ln>
        </p:spPr>
        <p:txBody>
          <a:bodyPr/>
          <a:lstStyle/>
          <a:p>
            <a:endParaRPr lang="nl-NL"/>
          </a:p>
        </p:txBody>
      </p:sp>
      <p:sp>
        <p:nvSpPr>
          <p:cNvPr id="13" name="Text 11"/>
          <p:cNvSpPr/>
          <p:nvPr/>
        </p:nvSpPr>
        <p:spPr>
          <a:xfrm>
            <a:off x="1961388" y="3102429"/>
            <a:ext cx="2394422" cy="543415"/>
          </a:xfrm>
          <a:prstGeom prst="rect">
            <a:avLst/>
          </a:prstGeom>
          <a:noFill/>
          <a:ln/>
        </p:spPr>
        <p:txBody>
          <a:bodyPr wrap="square" lIns="0" tIns="0" rIns="0" bIns="0" rtlCol="0" anchor="t">
            <a:normAutofit/>
          </a:bodyPr>
          <a:lstStyle/>
          <a:p>
            <a:pPr marL="0" indent="0" algn="l">
              <a:buNone/>
            </a:pPr>
            <a:r>
              <a:rPr lang="en-US" sz="1671" b="1" dirty="0">
                <a:solidFill>
                  <a:srgbClr val="F5F6F7"/>
                </a:solidFill>
                <a:latin typeface="Arial" pitchFamily="34" charset="0"/>
                <a:ea typeface="Arial" pitchFamily="34" charset="-122"/>
                <a:cs typeface="Arial" pitchFamily="34" charset="-120"/>
              </a:rPr>
              <a:t>Historical market fleet</a:t>
            </a:r>
            <a:endParaRPr lang="en-US" sz="1671" dirty="0"/>
          </a:p>
        </p:txBody>
      </p:sp>
      <p:sp>
        <p:nvSpPr>
          <p:cNvPr id="14" name="Text 12"/>
          <p:cNvSpPr/>
          <p:nvPr/>
        </p:nvSpPr>
        <p:spPr>
          <a:xfrm>
            <a:off x="1961388" y="3705279"/>
            <a:ext cx="2394422" cy="1502882"/>
          </a:xfrm>
          <a:prstGeom prst="rect">
            <a:avLst/>
          </a:prstGeom>
          <a:noFill/>
          <a:ln/>
        </p:spPr>
        <p:txBody>
          <a:bodyPr wrap="square" lIns="0" tIns="0" rIns="0" bIns="0" rtlCol="0" anchor="t">
            <a:normAutofit/>
          </a:bodyPr>
          <a:lstStyle/>
          <a:p>
            <a:pPr marL="0" indent="0" algn="l">
              <a:buNone/>
            </a:pPr>
            <a:r>
              <a:rPr lang="en-US" sz="1337" dirty="0">
                <a:solidFill>
                  <a:srgbClr val="BDC4C9"/>
                </a:solidFill>
                <a:latin typeface="Arial" pitchFamily="34" charset="0"/>
                <a:ea typeface="Arial" pitchFamily="34" charset="-122"/>
                <a:cs typeface="Arial" pitchFamily="34" charset="-120"/>
              </a:rPr>
              <a:t>Context on a stated market, date and method.</a:t>
            </a:r>
            <a:endParaRPr lang="en-US" sz="1337" dirty="0"/>
          </a:p>
        </p:txBody>
      </p:sp>
      <p:sp>
        <p:nvSpPr>
          <p:cNvPr id="15" name="Shape 13"/>
          <p:cNvSpPr/>
          <p:nvPr/>
        </p:nvSpPr>
        <p:spPr>
          <a:xfrm>
            <a:off x="4720917" y="2966575"/>
            <a:ext cx="2683111" cy="2343477"/>
          </a:xfrm>
          <a:prstGeom prst="roundRect">
            <a:avLst>
              <a:gd name="adj" fmla="val 1561"/>
            </a:avLst>
          </a:prstGeom>
          <a:solidFill>
            <a:srgbClr val="30363B"/>
          </a:solidFill>
          <a:ln w="8890">
            <a:solidFill>
              <a:srgbClr val="48525B"/>
            </a:solidFill>
            <a:prstDash val="solid"/>
          </a:ln>
        </p:spPr>
        <p:txBody>
          <a:bodyPr/>
          <a:lstStyle/>
          <a:p>
            <a:endParaRPr lang="nl-NL"/>
          </a:p>
        </p:txBody>
      </p:sp>
      <p:sp>
        <p:nvSpPr>
          <p:cNvPr id="16" name="Shape 14"/>
          <p:cNvSpPr/>
          <p:nvPr/>
        </p:nvSpPr>
        <p:spPr>
          <a:xfrm>
            <a:off x="4720917" y="3085447"/>
            <a:ext cx="33963" cy="2105733"/>
          </a:xfrm>
          <a:prstGeom prst="rect">
            <a:avLst/>
          </a:prstGeom>
          <a:solidFill>
            <a:srgbClr val="82909A"/>
          </a:solidFill>
          <a:ln w="12700">
            <a:solidFill>
              <a:srgbClr val="24282C">
                <a:alpha val="0"/>
              </a:srgbClr>
            </a:solidFill>
            <a:prstDash val="solid"/>
          </a:ln>
        </p:spPr>
        <p:txBody>
          <a:bodyPr/>
          <a:lstStyle/>
          <a:p>
            <a:endParaRPr lang="nl-NL"/>
          </a:p>
        </p:txBody>
      </p:sp>
      <p:sp>
        <p:nvSpPr>
          <p:cNvPr id="17" name="Text 15"/>
          <p:cNvSpPr/>
          <p:nvPr/>
        </p:nvSpPr>
        <p:spPr>
          <a:xfrm>
            <a:off x="4865261" y="3102429"/>
            <a:ext cx="2394422" cy="543415"/>
          </a:xfrm>
          <a:prstGeom prst="rect">
            <a:avLst/>
          </a:prstGeom>
          <a:noFill/>
          <a:ln/>
        </p:spPr>
        <p:txBody>
          <a:bodyPr wrap="square" lIns="0" tIns="0" rIns="0" bIns="0" rtlCol="0" anchor="t">
            <a:normAutofit/>
          </a:bodyPr>
          <a:lstStyle/>
          <a:p>
            <a:pPr marL="0" indent="0" algn="l">
              <a:buNone/>
            </a:pPr>
            <a:r>
              <a:rPr lang="en-US" sz="1671" b="1" dirty="0">
                <a:solidFill>
                  <a:srgbClr val="F5F6F7"/>
                </a:solidFill>
                <a:latin typeface="Arial" pitchFamily="34" charset="0"/>
                <a:ea typeface="Arial" pitchFamily="34" charset="-122"/>
                <a:cs typeface="Arial" pitchFamily="34" charset="-120"/>
              </a:rPr>
              <a:t>Eligible population</a:t>
            </a:r>
            <a:endParaRPr lang="en-US" sz="1671" dirty="0"/>
          </a:p>
        </p:txBody>
      </p:sp>
      <p:sp>
        <p:nvSpPr>
          <p:cNvPr id="18" name="Text 16"/>
          <p:cNvSpPr/>
          <p:nvPr/>
        </p:nvSpPr>
        <p:spPr>
          <a:xfrm>
            <a:off x="4865261" y="3705279"/>
            <a:ext cx="2394422" cy="1502882"/>
          </a:xfrm>
          <a:prstGeom prst="rect">
            <a:avLst/>
          </a:prstGeom>
          <a:noFill/>
          <a:ln/>
        </p:spPr>
        <p:txBody>
          <a:bodyPr wrap="square" lIns="0" tIns="0" rIns="0" bIns="0" rtlCol="0" anchor="t">
            <a:normAutofit/>
          </a:bodyPr>
          <a:lstStyle/>
          <a:p>
            <a:pPr marL="0" indent="0" algn="l">
              <a:buNone/>
            </a:pPr>
            <a:r>
              <a:rPr lang="en-US" sz="1337" dirty="0">
                <a:solidFill>
                  <a:srgbClr val="BDC4C9"/>
                </a:solidFill>
                <a:latin typeface="Arial" pitchFamily="34" charset="0"/>
                <a:ea typeface="Arial" pitchFamily="34" charset="-122"/>
                <a:cs typeface="Arial" pitchFamily="34" charset="-120"/>
              </a:rPr>
              <a:t>The vehicles supported by the selected application evidence.</a:t>
            </a:r>
            <a:endParaRPr lang="en-US" sz="1337" dirty="0"/>
          </a:p>
        </p:txBody>
      </p:sp>
      <p:sp>
        <p:nvSpPr>
          <p:cNvPr id="19" name="Shape 17"/>
          <p:cNvSpPr/>
          <p:nvPr/>
        </p:nvSpPr>
        <p:spPr>
          <a:xfrm>
            <a:off x="7624790" y="2966575"/>
            <a:ext cx="2683111" cy="2343477"/>
          </a:xfrm>
          <a:prstGeom prst="roundRect">
            <a:avLst>
              <a:gd name="adj" fmla="val 1561"/>
            </a:avLst>
          </a:prstGeom>
          <a:solidFill>
            <a:srgbClr val="30363B"/>
          </a:solidFill>
          <a:ln w="8890">
            <a:solidFill>
              <a:srgbClr val="48525B"/>
            </a:solidFill>
            <a:prstDash val="solid"/>
          </a:ln>
        </p:spPr>
        <p:txBody>
          <a:bodyPr/>
          <a:lstStyle/>
          <a:p>
            <a:endParaRPr lang="nl-NL"/>
          </a:p>
        </p:txBody>
      </p:sp>
      <p:sp>
        <p:nvSpPr>
          <p:cNvPr id="20" name="Shape 18"/>
          <p:cNvSpPr/>
          <p:nvPr/>
        </p:nvSpPr>
        <p:spPr>
          <a:xfrm>
            <a:off x="7624790" y="3085447"/>
            <a:ext cx="33963" cy="2105733"/>
          </a:xfrm>
          <a:prstGeom prst="rect">
            <a:avLst/>
          </a:prstGeom>
          <a:solidFill>
            <a:srgbClr val="82909A"/>
          </a:solidFill>
          <a:ln w="12700">
            <a:solidFill>
              <a:srgbClr val="24282C">
                <a:alpha val="0"/>
              </a:srgbClr>
            </a:solidFill>
            <a:prstDash val="solid"/>
          </a:ln>
        </p:spPr>
        <p:txBody>
          <a:bodyPr/>
          <a:lstStyle/>
          <a:p>
            <a:endParaRPr lang="nl-NL"/>
          </a:p>
        </p:txBody>
      </p:sp>
      <p:sp>
        <p:nvSpPr>
          <p:cNvPr id="21" name="Text 19"/>
          <p:cNvSpPr/>
          <p:nvPr/>
        </p:nvSpPr>
        <p:spPr>
          <a:xfrm>
            <a:off x="7769134" y="3102429"/>
            <a:ext cx="2394422" cy="543415"/>
          </a:xfrm>
          <a:prstGeom prst="rect">
            <a:avLst/>
          </a:prstGeom>
          <a:noFill/>
          <a:ln/>
        </p:spPr>
        <p:txBody>
          <a:bodyPr wrap="square" lIns="0" tIns="0" rIns="0" bIns="0" rtlCol="0" anchor="t">
            <a:normAutofit/>
          </a:bodyPr>
          <a:lstStyle/>
          <a:p>
            <a:pPr marL="0" indent="0" algn="l">
              <a:buNone/>
            </a:pPr>
            <a:r>
              <a:rPr lang="en-US" sz="1671" b="1" dirty="0">
                <a:solidFill>
                  <a:srgbClr val="F5F6F7"/>
                </a:solidFill>
                <a:latin typeface="Arial" pitchFamily="34" charset="0"/>
                <a:ea typeface="Arial" pitchFamily="34" charset="-122"/>
                <a:cs typeface="Arial" pitchFamily="34" charset="-120"/>
              </a:rPr>
              <a:t>Dealer population</a:t>
            </a:r>
            <a:endParaRPr lang="en-US" sz="1671" dirty="0"/>
          </a:p>
        </p:txBody>
      </p:sp>
      <p:sp>
        <p:nvSpPr>
          <p:cNvPr id="22" name="Text 20"/>
          <p:cNvSpPr/>
          <p:nvPr/>
        </p:nvSpPr>
        <p:spPr>
          <a:xfrm>
            <a:off x="7769134" y="3705279"/>
            <a:ext cx="2394422" cy="1502882"/>
          </a:xfrm>
          <a:prstGeom prst="rect">
            <a:avLst/>
          </a:prstGeom>
          <a:noFill/>
          <a:ln/>
        </p:spPr>
        <p:txBody>
          <a:bodyPr wrap="square" lIns="0" tIns="0" rIns="0" bIns="0" rtlCol="0" anchor="t">
            <a:normAutofit/>
          </a:bodyPr>
          <a:lstStyle/>
          <a:p>
            <a:pPr marL="0" indent="0" algn="l">
              <a:buNone/>
            </a:pPr>
            <a:r>
              <a:rPr lang="en-US" sz="1337" dirty="0">
                <a:solidFill>
                  <a:srgbClr val="BDC4C9"/>
                </a:solidFill>
                <a:latin typeface="Arial" pitchFamily="34" charset="0"/>
                <a:ea typeface="Arial" pitchFamily="34" charset="-122"/>
                <a:cs typeface="Arial" pitchFamily="34" charset="-120"/>
              </a:rPr>
              <a:t>Only where established; never allocated from a national total.</a:t>
            </a:r>
            <a:endParaRPr lang="en-US" sz="1337" dirty="0"/>
          </a:p>
        </p:txBody>
      </p:sp>
      <p:sp>
        <p:nvSpPr>
          <p:cNvPr id="23" name="Text 21"/>
          <p:cNvSpPr/>
          <p:nvPr/>
        </p:nvSpPr>
        <p:spPr>
          <a:xfrm>
            <a:off x="548640" y="5678424"/>
            <a:ext cx="10954512" cy="219456"/>
          </a:xfrm>
          <a:prstGeom prst="rect">
            <a:avLst/>
          </a:prstGeom>
          <a:noFill/>
          <a:ln/>
        </p:spPr>
        <p:txBody>
          <a:bodyPr wrap="square" lIns="0" tIns="0" rIns="0" bIns="0" rtlCol="0" anchor="t">
            <a:normAutofit/>
          </a:bodyPr>
          <a:lstStyle/>
          <a:p>
            <a:pPr marL="0" indent="0" algn="l">
              <a:buNone/>
            </a:pPr>
            <a:r>
              <a:rPr lang="en-US" sz="840" dirty="0">
                <a:solidFill>
                  <a:srgbClr val="BDC4C9"/>
                </a:solidFill>
                <a:latin typeface="Arial" pitchFamily="34" charset="0"/>
                <a:ea typeface="Arial" pitchFamily="34" charset="-122"/>
                <a:cs typeface="Arial" pitchFamily="34" charset="-120"/>
              </a:rPr>
              <a:t>Illustrative design / independent requirements and outputs.</a:t>
            </a:r>
            <a:endParaRPr lang="en-US" sz="840" dirty="0"/>
          </a:p>
        </p:txBody>
      </p:sp>
      <p:sp>
        <p:nvSpPr>
          <p:cNvPr id="24" name="Text 22"/>
          <p:cNvSpPr/>
          <p:nvPr/>
        </p:nvSpPr>
        <p:spPr>
          <a:xfrm>
            <a:off x="603504" y="5925312"/>
            <a:ext cx="10917936" cy="347472"/>
          </a:xfrm>
          <a:prstGeom prst="rect">
            <a:avLst/>
          </a:prstGeom>
          <a:noFill/>
          <a:ln/>
        </p:spPr>
        <p:txBody>
          <a:bodyPr wrap="square" lIns="0" tIns="0" rIns="0" bIns="0" rtlCol="0" anchor="t">
            <a:normAutofit/>
          </a:bodyPr>
          <a:lstStyle/>
          <a:p>
            <a:pPr marL="0" indent="0" algn="l">
              <a:buNone/>
            </a:pPr>
            <a:r>
              <a:rPr lang="en-US" sz="1320" dirty="0">
                <a:solidFill>
                  <a:srgbClr val="F5F6F7"/>
                </a:solidFill>
                <a:latin typeface="Arial" pitchFamily="34" charset="0"/>
                <a:ea typeface="Arial" pitchFamily="34" charset="-122"/>
                <a:cs typeface="Arial" pitchFamily="34" charset="-120"/>
              </a:rPr>
              <a:t>A fleet view should help the participant ask a better commercial question: which application, vehicle segment or usage profile matters for the proposed offer? The strength of the answer depends on the definition of that population, not on the...</a:t>
            </a:r>
            <a:endParaRPr lang="en-US" sz="13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24282C"/>
        </a:solidFill>
        <a:effectLst/>
      </p:bgPr>
    </p:bg>
    <p:spTree>
      <p:nvGrpSpPr>
        <p:cNvPr id="1" name=""/>
        <p:cNvGrpSpPr/>
        <p:nvPr/>
      </p:nvGrpSpPr>
      <p:grpSpPr>
        <a:xfrm>
          <a:off x="0" y="0"/>
          <a:ext cx="0" cy="0"/>
          <a:chOff x="0" y="0"/>
          <a:chExt cx="0" cy="0"/>
        </a:xfrm>
      </p:grpSpPr>
      <p:sp>
        <p:nvSpPr>
          <p:cNvPr id="2" name="Text 0"/>
          <p:cNvSpPr/>
          <p:nvPr/>
        </p:nvSpPr>
        <p:spPr>
          <a:xfrm>
            <a:off x="484632" y="173736"/>
            <a:ext cx="2743200" cy="201168"/>
          </a:xfrm>
          <a:prstGeom prst="rect">
            <a:avLst/>
          </a:prstGeom>
          <a:noFill/>
          <a:ln/>
        </p:spPr>
        <p:txBody>
          <a:bodyPr wrap="square" lIns="0" tIns="0" rIns="0" bIns="0" rtlCol="0" anchor="t">
            <a:normAutofit/>
          </a:bodyPr>
          <a:lstStyle/>
          <a:p>
            <a:pPr marL="0" indent="0" algn="l">
              <a:buNone/>
            </a:pPr>
            <a:r>
              <a:rPr lang="en-US" sz="1000" b="1" dirty="0">
                <a:solidFill>
                  <a:srgbClr val="F5F6F7"/>
                </a:solidFill>
                <a:latin typeface="Arial" pitchFamily="34" charset="0"/>
                <a:ea typeface="Arial" pitchFamily="34" charset="-122"/>
                <a:cs typeface="Arial" pitchFamily="34" charset="-120"/>
              </a:rPr>
              <a:t>ISUZU / UNIVERSE</a:t>
            </a:r>
            <a:endParaRPr lang="en-US" sz="1000" dirty="0"/>
          </a:p>
        </p:txBody>
      </p:sp>
      <p:sp>
        <p:nvSpPr>
          <p:cNvPr id="3" name="Text 1"/>
          <p:cNvSpPr/>
          <p:nvPr/>
        </p:nvSpPr>
        <p:spPr>
          <a:xfrm>
            <a:off x="8046720" y="173736"/>
            <a:ext cx="3657600" cy="201168"/>
          </a:xfrm>
          <a:prstGeom prst="rect">
            <a:avLst/>
          </a:prstGeom>
          <a:noFill/>
          <a:ln/>
        </p:spPr>
        <p:txBody>
          <a:bodyPr wrap="square" lIns="0" tIns="0" rIns="0" bIns="0" rtlCol="0" anchor="t">
            <a:normAutofit/>
          </a:bodyPr>
          <a:lstStyle/>
          <a:p>
            <a:pPr marL="0" indent="0" algn="r">
              <a:buNone/>
            </a:pPr>
            <a:r>
              <a:rPr lang="en-US" sz="900" dirty="0">
                <a:solidFill>
                  <a:srgbClr val="BDC4C9"/>
                </a:solidFill>
                <a:latin typeface="Arial" pitchFamily="34" charset="0"/>
                <a:ea typeface="Arial" pitchFamily="34" charset="-122"/>
                <a:cs typeface="Arial" pitchFamily="34" charset="-120"/>
              </a:rPr>
              <a:t>COMMERCIAL VISION  /  3.0</a:t>
            </a:r>
            <a:endParaRPr lang="en-US" sz="900" dirty="0"/>
          </a:p>
        </p:txBody>
      </p:sp>
      <p:sp>
        <p:nvSpPr>
          <p:cNvPr id="4" name="Shape 2"/>
          <p:cNvSpPr/>
          <p:nvPr/>
        </p:nvSpPr>
        <p:spPr>
          <a:xfrm>
            <a:off x="484632" y="512064"/>
            <a:ext cx="475488" cy="22860"/>
          </a:xfrm>
          <a:prstGeom prst="rect">
            <a:avLst/>
          </a:prstGeom>
          <a:solidFill>
            <a:srgbClr val="D71920"/>
          </a:solidFill>
          <a:ln w="12700">
            <a:solidFill>
              <a:srgbClr val="D71920">
                <a:alpha val="0"/>
              </a:srgbClr>
            </a:solidFill>
            <a:prstDash val="solid"/>
          </a:ln>
        </p:spPr>
        <p:txBody>
          <a:bodyPr/>
          <a:lstStyle/>
          <a:p>
            <a:endParaRPr lang="nl-NL"/>
          </a:p>
        </p:txBody>
      </p:sp>
      <p:sp>
        <p:nvSpPr>
          <p:cNvPr id="5" name="Text 3"/>
          <p:cNvSpPr/>
          <p:nvPr/>
        </p:nvSpPr>
        <p:spPr>
          <a:xfrm>
            <a:off x="484632" y="658368"/>
            <a:ext cx="11064240" cy="219456"/>
          </a:xfrm>
          <a:prstGeom prst="rect">
            <a:avLst/>
          </a:prstGeom>
          <a:noFill/>
          <a:ln/>
        </p:spPr>
        <p:txBody>
          <a:bodyPr wrap="square" lIns="0" tIns="0" rIns="0" bIns="0" rtlCol="0" anchor="t">
            <a:normAutofit/>
          </a:bodyPr>
          <a:lstStyle/>
          <a:p>
            <a:pPr marL="0" indent="0" algn="l">
              <a:buNone/>
            </a:pPr>
            <a:r>
              <a:rPr lang="en-US" sz="1000" b="1" dirty="0">
                <a:solidFill>
                  <a:srgbClr val="D71920"/>
                </a:solidFill>
                <a:latin typeface="Arial" pitchFamily="34" charset="0"/>
                <a:ea typeface="Arial" pitchFamily="34" charset="-122"/>
                <a:cs typeface="Arial" pitchFamily="34" charset="-120"/>
              </a:rPr>
              <a:t>APPLICATION EXAMPLE / TENDERS</a:t>
            </a:r>
            <a:endParaRPr lang="en-US" sz="1000" dirty="0"/>
          </a:p>
        </p:txBody>
      </p:sp>
      <p:sp>
        <p:nvSpPr>
          <p:cNvPr id="6" name="Shape 4"/>
          <p:cNvSpPr/>
          <p:nvPr/>
        </p:nvSpPr>
        <p:spPr>
          <a:xfrm>
            <a:off x="484632" y="6446520"/>
            <a:ext cx="11219688" cy="914"/>
          </a:xfrm>
          <a:prstGeom prst="line">
            <a:avLst/>
          </a:prstGeom>
          <a:noFill/>
          <a:ln w="6350">
            <a:solidFill>
              <a:srgbClr val="647078"/>
            </a:solidFill>
            <a:prstDash val="solid"/>
          </a:ln>
        </p:spPr>
        <p:txBody>
          <a:bodyPr/>
          <a:lstStyle/>
          <a:p>
            <a:endParaRPr lang="nl-NL"/>
          </a:p>
        </p:txBody>
      </p:sp>
      <p:sp>
        <p:nvSpPr>
          <p:cNvPr id="7" name="Text 5"/>
          <p:cNvSpPr/>
          <p:nvPr/>
        </p:nvSpPr>
        <p:spPr>
          <a:xfrm>
            <a:off x="484632" y="6556248"/>
            <a:ext cx="9144000" cy="146304"/>
          </a:xfrm>
          <a:prstGeom prst="rect">
            <a:avLst/>
          </a:prstGeom>
          <a:noFill/>
          <a:ln/>
        </p:spPr>
        <p:txBody>
          <a:bodyPr wrap="square" lIns="0" tIns="0" rIns="0" bIns="0" rtlCol="0" anchor="t">
            <a:normAutofit/>
          </a:bodyPr>
          <a:lstStyle/>
          <a:p>
            <a:pPr marL="0" indent="0" algn="l">
              <a:buNone/>
            </a:pPr>
            <a:r>
              <a:rPr lang="en-US" sz="750" dirty="0">
                <a:solidFill>
                  <a:srgbClr val="BDC4C9"/>
                </a:solidFill>
                <a:latin typeface="Arial" pitchFamily="34" charset="0"/>
                <a:ea typeface="Arial" pitchFamily="34" charset="-122"/>
                <a:cs typeface="Arial" pitchFamily="34" charset="-120"/>
              </a:rPr>
              <a:t>22 SEPTEMBER 2026  /  CONCEPT AND APPLICATION EXAMPLES</a:t>
            </a:r>
            <a:endParaRPr lang="en-US" sz="750" dirty="0"/>
          </a:p>
        </p:txBody>
      </p:sp>
      <p:sp>
        <p:nvSpPr>
          <p:cNvPr id="8" name="Text 6"/>
          <p:cNvSpPr/>
          <p:nvPr/>
        </p:nvSpPr>
        <p:spPr>
          <a:xfrm>
            <a:off x="10789920" y="6547104"/>
            <a:ext cx="914400" cy="173736"/>
          </a:xfrm>
          <a:prstGeom prst="rect">
            <a:avLst/>
          </a:prstGeom>
          <a:noFill/>
          <a:ln/>
        </p:spPr>
        <p:txBody>
          <a:bodyPr wrap="square" lIns="0" tIns="0" rIns="0" bIns="0" rtlCol="0" anchor="t">
            <a:normAutofit/>
          </a:bodyPr>
          <a:lstStyle/>
          <a:p>
            <a:pPr marL="0" indent="0" algn="r">
              <a:buNone/>
            </a:pPr>
            <a:r>
              <a:rPr lang="en-US" sz="850" dirty="0">
                <a:solidFill>
                  <a:srgbClr val="BDC4C9"/>
                </a:solidFill>
                <a:latin typeface="Arial" pitchFamily="34" charset="0"/>
                <a:ea typeface="Arial" pitchFamily="34" charset="-122"/>
                <a:cs typeface="Arial" pitchFamily="34" charset="-120"/>
              </a:rPr>
              <a:t>21 / 49</a:t>
            </a:r>
            <a:endParaRPr lang="en-US" sz="850" dirty="0"/>
          </a:p>
        </p:txBody>
      </p:sp>
      <p:sp>
        <p:nvSpPr>
          <p:cNvPr id="9" name="Text 7"/>
          <p:cNvSpPr/>
          <p:nvPr/>
        </p:nvSpPr>
        <p:spPr>
          <a:xfrm>
            <a:off x="502920" y="1005840"/>
            <a:ext cx="11036808" cy="841248"/>
          </a:xfrm>
          <a:prstGeom prst="rect">
            <a:avLst/>
          </a:prstGeom>
          <a:noFill/>
          <a:ln/>
        </p:spPr>
        <p:txBody>
          <a:bodyPr wrap="square" lIns="0" tIns="0" rIns="0" bIns="0" rtlCol="0" anchor="t">
            <a:normAutofit/>
          </a:bodyPr>
          <a:lstStyle/>
          <a:p>
            <a:pPr marL="0" indent="0" algn="l">
              <a:buNone/>
            </a:pPr>
            <a:r>
              <a:rPr lang="en-US" sz="3400" b="1" dirty="0">
                <a:solidFill>
                  <a:srgbClr val="F5F6F7"/>
                </a:solidFill>
                <a:latin typeface="Arial" pitchFamily="34" charset="0"/>
                <a:ea typeface="Arial" pitchFamily="34" charset="-122"/>
                <a:cs typeface="Arial" pitchFamily="34" charset="-120"/>
              </a:rPr>
              <a:t>Bring the right Isuzu entities around one opportunity.</a:t>
            </a:r>
            <a:endParaRPr lang="en-US" sz="3400" dirty="0"/>
          </a:p>
        </p:txBody>
      </p:sp>
      <p:sp>
        <p:nvSpPr>
          <p:cNvPr id="10" name="Text 8"/>
          <p:cNvSpPr/>
          <p:nvPr/>
        </p:nvSpPr>
        <p:spPr>
          <a:xfrm>
            <a:off x="530352" y="1865376"/>
            <a:ext cx="10954512" cy="566928"/>
          </a:xfrm>
          <a:prstGeom prst="rect">
            <a:avLst/>
          </a:prstGeom>
          <a:noFill/>
          <a:ln/>
        </p:spPr>
        <p:txBody>
          <a:bodyPr wrap="square" lIns="0" tIns="0" rIns="0" bIns="0" rtlCol="0" anchor="t">
            <a:normAutofit/>
          </a:bodyPr>
          <a:lstStyle/>
          <a:p>
            <a:pPr marL="0" indent="0" algn="l">
              <a:buNone/>
            </a:pPr>
            <a:r>
              <a:rPr lang="en-US" sz="1800" dirty="0">
                <a:solidFill>
                  <a:srgbClr val="BDC4C9"/>
                </a:solidFill>
                <a:latin typeface="Arial" pitchFamily="34" charset="0"/>
                <a:ea typeface="Arial" pitchFamily="34" charset="-122"/>
                <a:cs typeface="Arial" pitchFamily="34" charset="-120"/>
              </a:rPr>
              <a:t>A stronger combined proposition and a clear headquarters support request.</a:t>
            </a:r>
            <a:endParaRPr lang="en-US" sz="1800" dirty="0"/>
          </a:p>
        </p:txBody>
      </p:sp>
      <p:sp>
        <p:nvSpPr>
          <p:cNvPr id="11" name="Shape 9"/>
          <p:cNvSpPr/>
          <p:nvPr/>
        </p:nvSpPr>
        <p:spPr>
          <a:xfrm>
            <a:off x="1692178" y="3132896"/>
            <a:ext cx="2034372" cy="1966632"/>
          </a:xfrm>
          <a:prstGeom prst="roundRect">
            <a:avLst>
              <a:gd name="adj" fmla="val 1860"/>
            </a:avLst>
          </a:prstGeom>
          <a:solidFill>
            <a:srgbClr val="30363B"/>
          </a:solidFill>
          <a:ln w="8890">
            <a:solidFill>
              <a:srgbClr val="48525B"/>
            </a:solidFill>
            <a:prstDash val="solid"/>
          </a:ln>
        </p:spPr>
        <p:txBody>
          <a:bodyPr/>
          <a:lstStyle/>
          <a:p>
            <a:endParaRPr lang="nl-NL"/>
          </a:p>
        </p:txBody>
      </p:sp>
      <p:sp>
        <p:nvSpPr>
          <p:cNvPr id="12" name="Shape 10"/>
          <p:cNvSpPr/>
          <p:nvPr/>
        </p:nvSpPr>
        <p:spPr>
          <a:xfrm>
            <a:off x="1692178" y="3255264"/>
            <a:ext cx="34962" cy="1721896"/>
          </a:xfrm>
          <a:prstGeom prst="rect">
            <a:avLst/>
          </a:prstGeom>
          <a:solidFill>
            <a:srgbClr val="82909A"/>
          </a:solidFill>
          <a:ln w="12700">
            <a:solidFill>
              <a:srgbClr val="24282C">
                <a:alpha val="0"/>
              </a:srgbClr>
            </a:solidFill>
            <a:prstDash val="solid"/>
          </a:ln>
        </p:spPr>
        <p:txBody>
          <a:bodyPr/>
          <a:lstStyle/>
          <a:p>
            <a:endParaRPr lang="nl-NL"/>
          </a:p>
        </p:txBody>
      </p:sp>
      <p:sp>
        <p:nvSpPr>
          <p:cNvPr id="13" name="Text 11"/>
          <p:cNvSpPr/>
          <p:nvPr/>
        </p:nvSpPr>
        <p:spPr>
          <a:xfrm>
            <a:off x="1840768" y="3272745"/>
            <a:ext cx="1737192" cy="559398"/>
          </a:xfrm>
          <a:prstGeom prst="rect">
            <a:avLst/>
          </a:prstGeom>
          <a:noFill/>
          <a:ln/>
        </p:spPr>
        <p:txBody>
          <a:bodyPr wrap="square" lIns="0" tIns="0" rIns="0" bIns="0" rtlCol="0" anchor="t">
            <a:normAutofit/>
          </a:bodyPr>
          <a:lstStyle/>
          <a:p>
            <a:pPr marL="0" indent="0" algn="l">
              <a:buNone/>
            </a:pPr>
            <a:r>
              <a:rPr lang="en-US" sz="1721" b="1" dirty="0">
                <a:solidFill>
                  <a:srgbClr val="F5F6F7"/>
                </a:solidFill>
                <a:latin typeface="Arial" pitchFamily="34" charset="0"/>
                <a:ea typeface="Arial" pitchFamily="34" charset="-122"/>
                <a:cs typeface="Arial" pitchFamily="34" charset="-120"/>
              </a:rPr>
              <a:t>Distributor</a:t>
            </a:r>
            <a:endParaRPr lang="en-US" sz="1721" dirty="0"/>
          </a:p>
        </p:txBody>
      </p:sp>
      <p:sp>
        <p:nvSpPr>
          <p:cNvPr id="14" name="Text 12"/>
          <p:cNvSpPr/>
          <p:nvPr/>
        </p:nvSpPr>
        <p:spPr>
          <a:xfrm>
            <a:off x="1840768" y="3893327"/>
            <a:ext cx="1737192" cy="1101314"/>
          </a:xfrm>
          <a:prstGeom prst="rect">
            <a:avLst/>
          </a:prstGeom>
          <a:noFill/>
          <a:ln/>
        </p:spPr>
        <p:txBody>
          <a:bodyPr wrap="square" lIns="0" tIns="0" rIns="0" bIns="0" rtlCol="0" anchor="t">
            <a:normAutofit/>
          </a:bodyPr>
          <a:lstStyle/>
          <a:p>
            <a:pPr marL="0" indent="0" algn="l">
              <a:buNone/>
            </a:pPr>
            <a:r>
              <a:rPr lang="en-US" sz="1376" dirty="0">
                <a:solidFill>
                  <a:srgbClr val="BDC4C9"/>
                </a:solidFill>
                <a:latin typeface="Arial" pitchFamily="34" charset="0"/>
                <a:ea typeface="Arial" pitchFamily="34" charset="-122"/>
                <a:cs typeface="Arial" pitchFamily="34" charset="-120"/>
              </a:rPr>
              <a:t>Qualify the local opportunity</a:t>
            </a:r>
            <a:endParaRPr lang="en-US" sz="1376" dirty="0"/>
          </a:p>
        </p:txBody>
      </p:sp>
      <p:sp>
        <p:nvSpPr>
          <p:cNvPr id="15" name="Text 13"/>
          <p:cNvSpPr/>
          <p:nvPr/>
        </p:nvSpPr>
        <p:spPr>
          <a:xfrm>
            <a:off x="1840768" y="2835716"/>
            <a:ext cx="1737192" cy="524435"/>
          </a:xfrm>
          <a:prstGeom prst="rect">
            <a:avLst/>
          </a:prstGeom>
          <a:noFill/>
          <a:ln/>
        </p:spPr>
        <p:txBody>
          <a:bodyPr wrap="square" lIns="0" tIns="0" rIns="0" bIns="0" rtlCol="0" anchor="t">
            <a:normAutofit/>
          </a:bodyPr>
          <a:lstStyle/>
          <a:p>
            <a:pPr marL="0" indent="0" algn="l">
              <a:buNone/>
            </a:pPr>
            <a:r>
              <a:rPr lang="en-US" sz="1239" b="1" dirty="0">
                <a:solidFill>
                  <a:srgbClr val="D71920"/>
                </a:solidFill>
                <a:latin typeface="Arial" pitchFamily="34" charset="0"/>
                <a:ea typeface="Arial" pitchFamily="34" charset="-122"/>
                <a:cs typeface="Arial" pitchFamily="34" charset="-120"/>
              </a:rPr>
              <a:t>01</a:t>
            </a:r>
            <a:endParaRPr lang="en-US" sz="1239" dirty="0"/>
          </a:p>
        </p:txBody>
      </p:sp>
      <p:sp>
        <p:nvSpPr>
          <p:cNvPr id="16" name="Shape 14"/>
          <p:cNvSpPr/>
          <p:nvPr/>
        </p:nvSpPr>
        <p:spPr>
          <a:xfrm>
            <a:off x="3752772" y="4103101"/>
            <a:ext cx="148590" cy="914"/>
          </a:xfrm>
          <a:prstGeom prst="line">
            <a:avLst/>
          </a:prstGeom>
          <a:noFill/>
          <a:ln w="17481">
            <a:solidFill>
              <a:srgbClr val="D71920"/>
            </a:solidFill>
            <a:prstDash val="solid"/>
            <a:tailEnd type="triangle"/>
          </a:ln>
        </p:spPr>
        <p:txBody>
          <a:bodyPr/>
          <a:lstStyle/>
          <a:p>
            <a:endParaRPr lang="nl-NL"/>
          </a:p>
        </p:txBody>
      </p:sp>
      <p:sp>
        <p:nvSpPr>
          <p:cNvPr id="17" name="Shape 15"/>
          <p:cNvSpPr/>
          <p:nvPr/>
        </p:nvSpPr>
        <p:spPr>
          <a:xfrm>
            <a:off x="3927583" y="3132896"/>
            <a:ext cx="2034372" cy="1966632"/>
          </a:xfrm>
          <a:prstGeom prst="roundRect">
            <a:avLst>
              <a:gd name="adj" fmla="val 1860"/>
            </a:avLst>
          </a:prstGeom>
          <a:solidFill>
            <a:srgbClr val="30363B"/>
          </a:solidFill>
          <a:ln w="8890">
            <a:solidFill>
              <a:srgbClr val="48525B"/>
            </a:solidFill>
            <a:prstDash val="solid"/>
          </a:ln>
        </p:spPr>
        <p:txBody>
          <a:bodyPr/>
          <a:lstStyle/>
          <a:p>
            <a:endParaRPr lang="nl-NL"/>
          </a:p>
        </p:txBody>
      </p:sp>
      <p:sp>
        <p:nvSpPr>
          <p:cNvPr id="18" name="Shape 16"/>
          <p:cNvSpPr/>
          <p:nvPr/>
        </p:nvSpPr>
        <p:spPr>
          <a:xfrm>
            <a:off x="3927583" y="3255264"/>
            <a:ext cx="34962" cy="1721896"/>
          </a:xfrm>
          <a:prstGeom prst="rect">
            <a:avLst/>
          </a:prstGeom>
          <a:solidFill>
            <a:srgbClr val="82909A"/>
          </a:solidFill>
          <a:ln w="12700">
            <a:solidFill>
              <a:srgbClr val="24282C">
                <a:alpha val="0"/>
              </a:srgbClr>
            </a:solidFill>
            <a:prstDash val="solid"/>
          </a:ln>
        </p:spPr>
        <p:txBody>
          <a:bodyPr/>
          <a:lstStyle/>
          <a:p>
            <a:endParaRPr lang="nl-NL"/>
          </a:p>
        </p:txBody>
      </p:sp>
      <p:sp>
        <p:nvSpPr>
          <p:cNvPr id="19" name="Text 17"/>
          <p:cNvSpPr/>
          <p:nvPr/>
        </p:nvSpPr>
        <p:spPr>
          <a:xfrm>
            <a:off x="4076173" y="3272745"/>
            <a:ext cx="1737192" cy="559398"/>
          </a:xfrm>
          <a:prstGeom prst="rect">
            <a:avLst/>
          </a:prstGeom>
          <a:noFill/>
          <a:ln/>
        </p:spPr>
        <p:txBody>
          <a:bodyPr wrap="square" lIns="0" tIns="0" rIns="0" bIns="0" rtlCol="0" anchor="t">
            <a:normAutofit/>
          </a:bodyPr>
          <a:lstStyle/>
          <a:p>
            <a:pPr marL="0" indent="0" algn="l">
              <a:buNone/>
            </a:pPr>
            <a:r>
              <a:rPr lang="en-US" sz="1721" b="1" dirty="0">
                <a:solidFill>
                  <a:srgbClr val="F5F6F7"/>
                </a:solidFill>
                <a:latin typeface="Arial" pitchFamily="34" charset="0"/>
                <a:ea typeface="Arial" pitchFamily="34" charset="-122"/>
                <a:cs typeface="Arial" pitchFamily="34" charset="-120"/>
              </a:rPr>
              <a:t>Isuzu functions</a:t>
            </a:r>
            <a:endParaRPr lang="en-US" sz="1721" dirty="0"/>
          </a:p>
        </p:txBody>
      </p:sp>
      <p:sp>
        <p:nvSpPr>
          <p:cNvPr id="20" name="Text 18"/>
          <p:cNvSpPr/>
          <p:nvPr/>
        </p:nvSpPr>
        <p:spPr>
          <a:xfrm>
            <a:off x="4076173" y="3893327"/>
            <a:ext cx="1737192" cy="1101314"/>
          </a:xfrm>
          <a:prstGeom prst="rect">
            <a:avLst/>
          </a:prstGeom>
          <a:noFill/>
          <a:ln/>
        </p:spPr>
        <p:txBody>
          <a:bodyPr wrap="square" lIns="0" tIns="0" rIns="0" bIns="0" rtlCol="0" anchor="t">
            <a:normAutofit/>
          </a:bodyPr>
          <a:lstStyle/>
          <a:p>
            <a:pPr marL="0" indent="0" algn="l">
              <a:buNone/>
            </a:pPr>
            <a:r>
              <a:rPr lang="en-US" sz="1376" dirty="0">
                <a:solidFill>
                  <a:srgbClr val="BDC4C9"/>
                </a:solidFill>
                <a:latin typeface="Arial" pitchFamily="34" charset="0"/>
                <a:ea typeface="Arial" pitchFamily="34" charset="-122"/>
                <a:cs typeface="Arial" pitchFamily="34" charset="-120"/>
              </a:rPr>
              <a:t>Assemble the combined offer</a:t>
            </a:r>
            <a:endParaRPr lang="en-US" sz="1376" dirty="0"/>
          </a:p>
        </p:txBody>
      </p:sp>
      <p:sp>
        <p:nvSpPr>
          <p:cNvPr id="21" name="Text 19"/>
          <p:cNvSpPr/>
          <p:nvPr/>
        </p:nvSpPr>
        <p:spPr>
          <a:xfrm>
            <a:off x="4076173" y="2835716"/>
            <a:ext cx="1737192" cy="524435"/>
          </a:xfrm>
          <a:prstGeom prst="rect">
            <a:avLst/>
          </a:prstGeom>
          <a:noFill/>
          <a:ln/>
        </p:spPr>
        <p:txBody>
          <a:bodyPr wrap="square" lIns="0" tIns="0" rIns="0" bIns="0" rtlCol="0" anchor="t">
            <a:normAutofit/>
          </a:bodyPr>
          <a:lstStyle/>
          <a:p>
            <a:pPr marL="0" indent="0" algn="l">
              <a:buNone/>
            </a:pPr>
            <a:r>
              <a:rPr lang="en-US" sz="1239" b="1" dirty="0">
                <a:solidFill>
                  <a:srgbClr val="D71920"/>
                </a:solidFill>
                <a:latin typeface="Arial" pitchFamily="34" charset="0"/>
                <a:ea typeface="Arial" pitchFamily="34" charset="-122"/>
                <a:cs typeface="Arial" pitchFamily="34" charset="-120"/>
              </a:rPr>
              <a:t>02</a:t>
            </a:r>
            <a:endParaRPr lang="en-US" sz="1239" dirty="0"/>
          </a:p>
        </p:txBody>
      </p:sp>
      <p:sp>
        <p:nvSpPr>
          <p:cNvPr id="22" name="Shape 20"/>
          <p:cNvSpPr/>
          <p:nvPr/>
        </p:nvSpPr>
        <p:spPr>
          <a:xfrm>
            <a:off x="5988177" y="4103101"/>
            <a:ext cx="148590" cy="914"/>
          </a:xfrm>
          <a:prstGeom prst="line">
            <a:avLst/>
          </a:prstGeom>
          <a:noFill/>
          <a:ln w="17481">
            <a:solidFill>
              <a:srgbClr val="D71920"/>
            </a:solidFill>
            <a:prstDash val="solid"/>
            <a:tailEnd type="triangle"/>
          </a:ln>
        </p:spPr>
        <p:txBody>
          <a:bodyPr/>
          <a:lstStyle/>
          <a:p>
            <a:endParaRPr lang="nl-NL"/>
          </a:p>
        </p:txBody>
      </p:sp>
      <p:sp>
        <p:nvSpPr>
          <p:cNvPr id="23" name="Shape 21"/>
          <p:cNvSpPr/>
          <p:nvPr/>
        </p:nvSpPr>
        <p:spPr>
          <a:xfrm>
            <a:off x="6162989" y="3132896"/>
            <a:ext cx="2034372" cy="1966632"/>
          </a:xfrm>
          <a:prstGeom prst="roundRect">
            <a:avLst>
              <a:gd name="adj" fmla="val 1860"/>
            </a:avLst>
          </a:prstGeom>
          <a:solidFill>
            <a:srgbClr val="30363B"/>
          </a:solidFill>
          <a:ln w="8890">
            <a:solidFill>
              <a:srgbClr val="48525B"/>
            </a:solidFill>
            <a:prstDash val="solid"/>
          </a:ln>
        </p:spPr>
        <p:txBody>
          <a:bodyPr/>
          <a:lstStyle/>
          <a:p>
            <a:endParaRPr lang="nl-NL"/>
          </a:p>
        </p:txBody>
      </p:sp>
      <p:sp>
        <p:nvSpPr>
          <p:cNvPr id="24" name="Shape 22"/>
          <p:cNvSpPr/>
          <p:nvPr/>
        </p:nvSpPr>
        <p:spPr>
          <a:xfrm>
            <a:off x="6162989" y="3255264"/>
            <a:ext cx="34962" cy="1721896"/>
          </a:xfrm>
          <a:prstGeom prst="rect">
            <a:avLst/>
          </a:prstGeom>
          <a:solidFill>
            <a:srgbClr val="82909A"/>
          </a:solidFill>
          <a:ln w="12700">
            <a:solidFill>
              <a:srgbClr val="24282C">
                <a:alpha val="0"/>
              </a:srgbClr>
            </a:solidFill>
            <a:prstDash val="solid"/>
          </a:ln>
        </p:spPr>
        <p:txBody>
          <a:bodyPr/>
          <a:lstStyle/>
          <a:p>
            <a:endParaRPr lang="nl-NL"/>
          </a:p>
        </p:txBody>
      </p:sp>
      <p:sp>
        <p:nvSpPr>
          <p:cNvPr id="25" name="Text 23"/>
          <p:cNvSpPr/>
          <p:nvPr/>
        </p:nvSpPr>
        <p:spPr>
          <a:xfrm>
            <a:off x="6311579" y="3272745"/>
            <a:ext cx="1737192" cy="559398"/>
          </a:xfrm>
          <a:prstGeom prst="rect">
            <a:avLst/>
          </a:prstGeom>
          <a:noFill/>
          <a:ln/>
        </p:spPr>
        <p:txBody>
          <a:bodyPr wrap="square" lIns="0" tIns="0" rIns="0" bIns="0" rtlCol="0" anchor="t">
            <a:normAutofit/>
          </a:bodyPr>
          <a:lstStyle/>
          <a:p>
            <a:pPr marL="0" indent="0" algn="l">
              <a:buNone/>
            </a:pPr>
            <a:r>
              <a:rPr lang="en-US" sz="1721" b="1" dirty="0">
                <a:solidFill>
                  <a:srgbClr val="F5F6F7"/>
                </a:solidFill>
                <a:latin typeface="Arial" pitchFamily="34" charset="0"/>
                <a:ea typeface="Arial" pitchFamily="34" charset="-122"/>
                <a:cs typeface="Arial" pitchFamily="34" charset="-120"/>
              </a:rPr>
              <a:t>Headquarters</a:t>
            </a:r>
            <a:endParaRPr lang="en-US" sz="1721" dirty="0"/>
          </a:p>
        </p:txBody>
      </p:sp>
      <p:sp>
        <p:nvSpPr>
          <p:cNvPr id="26" name="Text 24"/>
          <p:cNvSpPr/>
          <p:nvPr/>
        </p:nvSpPr>
        <p:spPr>
          <a:xfrm>
            <a:off x="6311579" y="3893327"/>
            <a:ext cx="1737192" cy="1101314"/>
          </a:xfrm>
          <a:prstGeom prst="rect">
            <a:avLst/>
          </a:prstGeom>
          <a:noFill/>
          <a:ln/>
        </p:spPr>
        <p:txBody>
          <a:bodyPr wrap="square" lIns="0" tIns="0" rIns="0" bIns="0" rtlCol="0" anchor="t">
            <a:normAutofit/>
          </a:bodyPr>
          <a:lstStyle/>
          <a:p>
            <a:pPr marL="0" indent="0" algn="l">
              <a:buNone/>
            </a:pPr>
            <a:r>
              <a:rPr lang="en-US" sz="1376" dirty="0">
                <a:solidFill>
                  <a:srgbClr val="BDC4C9"/>
                </a:solidFill>
                <a:latin typeface="Arial" pitchFamily="34" charset="0"/>
                <a:ea typeface="Arial" pitchFamily="34" charset="-122"/>
                <a:cs typeface="Arial" pitchFamily="34" charset="-120"/>
              </a:rPr>
              <a:t>Assess the requested decision</a:t>
            </a:r>
            <a:endParaRPr lang="en-US" sz="1376" dirty="0"/>
          </a:p>
        </p:txBody>
      </p:sp>
      <p:sp>
        <p:nvSpPr>
          <p:cNvPr id="27" name="Text 25"/>
          <p:cNvSpPr/>
          <p:nvPr/>
        </p:nvSpPr>
        <p:spPr>
          <a:xfrm>
            <a:off x="6311579" y="2835716"/>
            <a:ext cx="1737192" cy="524435"/>
          </a:xfrm>
          <a:prstGeom prst="rect">
            <a:avLst/>
          </a:prstGeom>
          <a:noFill/>
          <a:ln/>
        </p:spPr>
        <p:txBody>
          <a:bodyPr wrap="square" lIns="0" tIns="0" rIns="0" bIns="0" rtlCol="0" anchor="t">
            <a:normAutofit/>
          </a:bodyPr>
          <a:lstStyle/>
          <a:p>
            <a:pPr marL="0" indent="0" algn="l">
              <a:buNone/>
            </a:pPr>
            <a:r>
              <a:rPr lang="en-US" sz="1239" b="1" dirty="0">
                <a:solidFill>
                  <a:srgbClr val="D71920"/>
                </a:solidFill>
                <a:latin typeface="Arial" pitchFamily="34" charset="0"/>
                <a:ea typeface="Arial" pitchFamily="34" charset="-122"/>
                <a:cs typeface="Arial" pitchFamily="34" charset="-120"/>
              </a:rPr>
              <a:t>03</a:t>
            </a:r>
            <a:endParaRPr lang="en-US" sz="1239" dirty="0"/>
          </a:p>
        </p:txBody>
      </p:sp>
      <p:sp>
        <p:nvSpPr>
          <p:cNvPr id="28" name="Shape 26"/>
          <p:cNvSpPr/>
          <p:nvPr/>
        </p:nvSpPr>
        <p:spPr>
          <a:xfrm>
            <a:off x="8223582" y="4103101"/>
            <a:ext cx="148590" cy="914"/>
          </a:xfrm>
          <a:prstGeom prst="line">
            <a:avLst/>
          </a:prstGeom>
          <a:noFill/>
          <a:ln w="17481">
            <a:solidFill>
              <a:srgbClr val="D71920"/>
            </a:solidFill>
            <a:prstDash val="solid"/>
            <a:tailEnd type="triangle"/>
          </a:ln>
        </p:spPr>
        <p:txBody>
          <a:bodyPr/>
          <a:lstStyle/>
          <a:p>
            <a:endParaRPr lang="nl-NL"/>
          </a:p>
        </p:txBody>
      </p:sp>
      <p:sp>
        <p:nvSpPr>
          <p:cNvPr id="29" name="Shape 27"/>
          <p:cNvSpPr/>
          <p:nvPr/>
        </p:nvSpPr>
        <p:spPr>
          <a:xfrm>
            <a:off x="8398394" y="3132896"/>
            <a:ext cx="2034372" cy="1966632"/>
          </a:xfrm>
          <a:prstGeom prst="roundRect">
            <a:avLst>
              <a:gd name="adj" fmla="val 1860"/>
            </a:avLst>
          </a:prstGeom>
          <a:solidFill>
            <a:srgbClr val="383F44"/>
          </a:solidFill>
          <a:ln w="8890">
            <a:solidFill>
              <a:srgbClr val="D71920"/>
            </a:solidFill>
            <a:prstDash val="solid"/>
          </a:ln>
        </p:spPr>
        <p:txBody>
          <a:bodyPr/>
          <a:lstStyle/>
          <a:p>
            <a:endParaRPr lang="nl-NL"/>
          </a:p>
        </p:txBody>
      </p:sp>
      <p:sp>
        <p:nvSpPr>
          <p:cNvPr id="30" name="Shape 28"/>
          <p:cNvSpPr/>
          <p:nvPr/>
        </p:nvSpPr>
        <p:spPr>
          <a:xfrm>
            <a:off x="8398394" y="3255264"/>
            <a:ext cx="34962" cy="1721896"/>
          </a:xfrm>
          <a:prstGeom prst="rect">
            <a:avLst/>
          </a:prstGeom>
          <a:solidFill>
            <a:srgbClr val="D71920"/>
          </a:solidFill>
          <a:ln w="12700">
            <a:solidFill>
              <a:srgbClr val="24282C">
                <a:alpha val="0"/>
              </a:srgbClr>
            </a:solidFill>
            <a:prstDash val="solid"/>
          </a:ln>
        </p:spPr>
        <p:txBody>
          <a:bodyPr/>
          <a:lstStyle/>
          <a:p>
            <a:endParaRPr lang="nl-NL"/>
          </a:p>
        </p:txBody>
      </p:sp>
      <p:sp>
        <p:nvSpPr>
          <p:cNvPr id="31" name="Text 29"/>
          <p:cNvSpPr/>
          <p:nvPr/>
        </p:nvSpPr>
        <p:spPr>
          <a:xfrm>
            <a:off x="8546984" y="3272745"/>
            <a:ext cx="1737192" cy="559398"/>
          </a:xfrm>
          <a:prstGeom prst="rect">
            <a:avLst/>
          </a:prstGeom>
          <a:noFill/>
          <a:ln/>
        </p:spPr>
        <p:txBody>
          <a:bodyPr wrap="square" lIns="0" tIns="0" rIns="0" bIns="0" rtlCol="0" anchor="t">
            <a:normAutofit/>
          </a:bodyPr>
          <a:lstStyle/>
          <a:p>
            <a:pPr marL="0" indent="0" algn="l">
              <a:buNone/>
            </a:pPr>
            <a:r>
              <a:rPr lang="en-US" sz="1721" b="1" dirty="0">
                <a:solidFill>
                  <a:srgbClr val="F5F6F7"/>
                </a:solidFill>
                <a:latin typeface="Arial" pitchFamily="34" charset="0"/>
                <a:ea typeface="Arial" pitchFamily="34" charset="-122"/>
                <a:cs typeface="Arial" pitchFamily="34" charset="-120"/>
              </a:rPr>
              <a:t>Distributor</a:t>
            </a:r>
            <a:endParaRPr lang="en-US" sz="1721" dirty="0"/>
          </a:p>
        </p:txBody>
      </p:sp>
      <p:sp>
        <p:nvSpPr>
          <p:cNvPr id="32" name="Text 30"/>
          <p:cNvSpPr/>
          <p:nvPr/>
        </p:nvSpPr>
        <p:spPr>
          <a:xfrm>
            <a:off x="8546984" y="3893327"/>
            <a:ext cx="1737192" cy="1101314"/>
          </a:xfrm>
          <a:prstGeom prst="rect">
            <a:avLst/>
          </a:prstGeom>
          <a:noFill/>
          <a:ln/>
        </p:spPr>
        <p:txBody>
          <a:bodyPr wrap="square" lIns="0" tIns="0" rIns="0" bIns="0" rtlCol="0" anchor="t">
            <a:normAutofit/>
          </a:bodyPr>
          <a:lstStyle/>
          <a:p>
            <a:pPr marL="0" indent="0" algn="l">
              <a:buNone/>
            </a:pPr>
            <a:r>
              <a:rPr lang="en-US" sz="1376" dirty="0">
                <a:solidFill>
                  <a:srgbClr val="BDC4C9"/>
                </a:solidFill>
                <a:latin typeface="Arial" pitchFamily="34" charset="0"/>
                <a:ea typeface="Arial" pitchFamily="34" charset="-122"/>
                <a:cs typeface="Arial" pitchFamily="34" charset="-120"/>
              </a:rPr>
              <a:t>Lead the national proposal</a:t>
            </a:r>
            <a:endParaRPr lang="en-US" sz="1376" dirty="0"/>
          </a:p>
        </p:txBody>
      </p:sp>
      <p:sp>
        <p:nvSpPr>
          <p:cNvPr id="33" name="Text 31"/>
          <p:cNvSpPr/>
          <p:nvPr/>
        </p:nvSpPr>
        <p:spPr>
          <a:xfrm>
            <a:off x="8546984" y="2835716"/>
            <a:ext cx="1737192" cy="524435"/>
          </a:xfrm>
          <a:prstGeom prst="rect">
            <a:avLst/>
          </a:prstGeom>
          <a:noFill/>
          <a:ln/>
        </p:spPr>
        <p:txBody>
          <a:bodyPr wrap="square" lIns="0" tIns="0" rIns="0" bIns="0" rtlCol="0" anchor="t">
            <a:normAutofit/>
          </a:bodyPr>
          <a:lstStyle/>
          <a:p>
            <a:pPr marL="0" indent="0" algn="l">
              <a:buNone/>
            </a:pPr>
            <a:r>
              <a:rPr lang="en-US" sz="1239" b="1" dirty="0">
                <a:solidFill>
                  <a:srgbClr val="D71920"/>
                </a:solidFill>
                <a:latin typeface="Arial" pitchFamily="34" charset="0"/>
                <a:ea typeface="Arial" pitchFamily="34" charset="-122"/>
                <a:cs typeface="Arial" pitchFamily="34" charset="-120"/>
              </a:rPr>
              <a:t>04</a:t>
            </a:r>
            <a:endParaRPr lang="en-US" sz="1239" dirty="0"/>
          </a:p>
        </p:txBody>
      </p:sp>
      <p:sp>
        <p:nvSpPr>
          <p:cNvPr id="34" name="Text 32"/>
          <p:cNvSpPr/>
          <p:nvPr/>
        </p:nvSpPr>
        <p:spPr>
          <a:xfrm>
            <a:off x="548640" y="5678424"/>
            <a:ext cx="10954512" cy="219456"/>
          </a:xfrm>
          <a:prstGeom prst="rect">
            <a:avLst/>
          </a:prstGeom>
          <a:noFill/>
          <a:ln/>
        </p:spPr>
        <p:txBody>
          <a:bodyPr wrap="square" lIns="0" tIns="0" rIns="0" bIns="0" rtlCol="0" anchor="t">
            <a:normAutofit/>
          </a:bodyPr>
          <a:lstStyle/>
          <a:p>
            <a:pPr marL="0" indent="0" algn="l">
              <a:buNone/>
            </a:pPr>
            <a:r>
              <a:rPr lang="en-US" sz="840" dirty="0">
                <a:solidFill>
                  <a:srgbClr val="BDC4C9"/>
                </a:solidFill>
                <a:latin typeface="Arial" pitchFamily="34" charset="0"/>
                <a:ea typeface="Arial" pitchFamily="34" charset="-122"/>
                <a:cs typeface="Arial" pitchFamily="34" charset="-120"/>
              </a:rPr>
              <a:t>Proposed sequence / each stage retains its own evidence and decision.</a:t>
            </a:r>
            <a:endParaRPr lang="en-US" sz="840" dirty="0"/>
          </a:p>
        </p:txBody>
      </p:sp>
      <p:sp>
        <p:nvSpPr>
          <p:cNvPr id="35" name="Text 33"/>
          <p:cNvSpPr/>
          <p:nvPr/>
        </p:nvSpPr>
        <p:spPr>
          <a:xfrm>
            <a:off x="603504" y="5925312"/>
            <a:ext cx="10917936" cy="347472"/>
          </a:xfrm>
          <a:prstGeom prst="rect">
            <a:avLst/>
          </a:prstGeom>
          <a:noFill/>
          <a:ln/>
        </p:spPr>
        <p:txBody>
          <a:bodyPr wrap="square" lIns="0" tIns="0" rIns="0" bIns="0" rtlCol="0" anchor="t">
            <a:normAutofit/>
          </a:bodyPr>
          <a:lstStyle/>
          <a:p>
            <a:pPr marL="0" indent="0" algn="l">
              <a:buNone/>
            </a:pPr>
            <a:r>
              <a:rPr lang="en-US" sz="1320" dirty="0">
                <a:solidFill>
                  <a:srgbClr val="F5F6F7"/>
                </a:solidFill>
                <a:latin typeface="Arial" pitchFamily="34" charset="0"/>
                <a:ea typeface="Arial" pitchFamily="34" charset="-122"/>
                <a:cs typeface="Arial" pitchFamily="34" charset="-120"/>
              </a:rPr>
              <a:t>This application can begin as a structured proposal and evidence record.</a:t>
            </a:r>
            <a:endParaRPr lang="en-US" sz="132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24282C"/>
        </a:solidFill>
        <a:effectLst/>
      </p:bgPr>
    </p:bg>
    <p:spTree>
      <p:nvGrpSpPr>
        <p:cNvPr id="1" name=""/>
        <p:cNvGrpSpPr/>
        <p:nvPr/>
      </p:nvGrpSpPr>
      <p:grpSpPr>
        <a:xfrm>
          <a:off x="0" y="0"/>
          <a:ext cx="0" cy="0"/>
          <a:chOff x="0" y="0"/>
          <a:chExt cx="0" cy="0"/>
        </a:xfrm>
      </p:grpSpPr>
      <p:sp>
        <p:nvSpPr>
          <p:cNvPr id="2" name="Text 0"/>
          <p:cNvSpPr/>
          <p:nvPr/>
        </p:nvSpPr>
        <p:spPr>
          <a:xfrm>
            <a:off x="484632" y="173736"/>
            <a:ext cx="2743200" cy="201168"/>
          </a:xfrm>
          <a:prstGeom prst="rect">
            <a:avLst/>
          </a:prstGeom>
          <a:noFill/>
          <a:ln/>
        </p:spPr>
        <p:txBody>
          <a:bodyPr wrap="square" lIns="0" tIns="0" rIns="0" bIns="0" rtlCol="0" anchor="t">
            <a:normAutofit/>
          </a:bodyPr>
          <a:lstStyle/>
          <a:p>
            <a:pPr marL="0" indent="0" algn="l">
              <a:buNone/>
            </a:pPr>
            <a:r>
              <a:rPr lang="en-US" sz="1000" b="1" dirty="0">
                <a:solidFill>
                  <a:srgbClr val="F5F6F7"/>
                </a:solidFill>
                <a:latin typeface="Arial" pitchFamily="34" charset="0"/>
                <a:ea typeface="Arial" pitchFamily="34" charset="-122"/>
                <a:cs typeface="Arial" pitchFamily="34" charset="-120"/>
              </a:rPr>
              <a:t>ISUZU / UNIVERSE</a:t>
            </a:r>
            <a:endParaRPr lang="en-US" sz="1000" dirty="0"/>
          </a:p>
        </p:txBody>
      </p:sp>
      <p:sp>
        <p:nvSpPr>
          <p:cNvPr id="3" name="Text 1"/>
          <p:cNvSpPr/>
          <p:nvPr/>
        </p:nvSpPr>
        <p:spPr>
          <a:xfrm>
            <a:off x="8046720" y="173736"/>
            <a:ext cx="3657600" cy="201168"/>
          </a:xfrm>
          <a:prstGeom prst="rect">
            <a:avLst/>
          </a:prstGeom>
          <a:noFill/>
          <a:ln/>
        </p:spPr>
        <p:txBody>
          <a:bodyPr wrap="square" lIns="0" tIns="0" rIns="0" bIns="0" rtlCol="0" anchor="t">
            <a:normAutofit/>
          </a:bodyPr>
          <a:lstStyle/>
          <a:p>
            <a:pPr marL="0" indent="0" algn="r">
              <a:buNone/>
            </a:pPr>
            <a:r>
              <a:rPr lang="en-US" sz="900" dirty="0">
                <a:solidFill>
                  <a:srgbClr val="BDC4C9"/>
                </a:solidFill>
                <a:latin typeface="Arial" pitchFamily="34" charset="0"/>
                <a:ea typeface="Arial" pitchFamily="34" charset="-122"/>
                <a:cs typeface="Arial" pitchFamily="34" charset="-120"/>
              </a:rPr>
              <a:t>COMMERCIAL VISION  /  3.0</a:t>
            </a:r>
            <a:endParaRPr lang="en-US" sz="900" dirty="0"/>
          </a:p>
        </p:txBody>
      </p:sp>
      <p:sp>
        <p:nvSpPr>
          <p:cNvPr id="4" name="Shape 2"/>
          <p:cNvSpPr/>
          <p:nvPr/>
        </p:nvSpPr>
        <p:spPr>
          <a:xfrm>
            <a:off x="484632" y="512064"/>
            <a:ext cx="475488" cy="22860"/>
          </a:xfrm>
          <a:prstGeom prst="rect">
            <a:avLst/>
          </a:prstGeom>
          <a:solidFill>
            <a:srgbClr val="D71920"/>
          </a:solidFill>
          <a:ln w="12700">
            <a:solidFill>
              <a:srgbClr val="D71920">
                <a:alpha val="0"/>
              </a:srgbClr>
            </a:solidFill>
            <a:prstDash val="solid"/>
          </a:ln>
        </p:spPr>
        <p:txBody>
          <a:bodyPr/>
          <a:lstStyle/>
          <a:p>
            <a:endParaRPr lang="nl-NL"/>
          </a:p>
        </p:txBody>
      </p:sp>
      <p:sp>
        <p:nvSpPr>
          <p:cNvPr id="5" name="Text 3"/>
          <p:cNvSpPr/>
          <p:nvPr/>
        </p:nvSpPr>
        <p:spPr>
          <a:xfrm>
            <a:off x="484632" y="658368"/>
            <a:ext cx="11064240" cy="219456"/>
          </a:xfrm>
          <a:prstGeom prst="rect">
            <a:avLst/>
          </a:prstGeom>
          <a:noFill/>
          <a:ln/>
        </p:spPr>
        <p:txBody>
          <a:bodyPr wrap="square" lIns="0" tIns="0" rIns="0" bIns="0" rtlCol="0" anchor="t">
            <a:normAutofit/>
          </a:bodyPr>
          <a:lstStyle/>
          <a:p>
            <a:pPr marL="0" indent="0" algn="l">
              <a:buNone/>
            </a:pPr>
            <a:r>
              <a:rPr lang="en-US" sz="1000" b="1" dirty="0">
                <a:solidFill>
                  <a:srgbClr val="D71920"/>
                </a:solidFill>
                <a:latin typeface="Arial" pitchFamily="34" charset="0"/>
                <a:ea typeface="Arial" pitchFamily="34" charset="-122"/>
                <a:cs typeface="Arial" pitchFamily="34" charset="-120"/>
              </a:rPr>
              <a:t>TENDERS / RESPONSIBILITIES</a:t>
            </a:r>
            <a:endParaRPr lang="en-US" sz="1000" dirty="0"/>
          </a:p>
        </p:txBody>
      </p:sp>
      <p:sp>
        <p:nvSpPr>
          <p:cNvPr id="6" name="Shape 4"/>
          <p:cNvSpPr/>
          <p:nvPr/>
        </p:nvSpPr>
        <p:spPr>
          <a:xfrm>
            <a:off x="484632" y="6446520"/>
            <a:ext cx="11219688" cy="914"/>
          </a:xfrm>
          <a:prstGeom prst="line">
            <a:avLst/>
          </a:prstGeom>
          <a:noFill/>
          <a:ln w="6350">
            <a:solidFill>
              <a:srgbClr val="647078"/>
            </a:solidFill>
            <a:prstDash val="solid"/>
          </a:ln>
        </p:spPr>
        <p:txBody>
          <a:bodyPr/>
          <a:lstStyle/>
          <a:p>
            <a:endParaRPr lang="nl-NL"/>
          </a:p>
        </p:txBody>
      </p:sp>
      <p:sp>
        <p:nvSpPr>
          <p:cNvPr id="7" name="Text 5"/>
          <p:cNvSpPr/>
          <p:nvPr/>
        </p:nvSpPr>
        <p:spPr>
          <a:xfrm>
            <a:off x="484632" y="6556248"/>
            <a:ext cx="9144000" cy="146304"/>
          </a:xfrm>
          <a:prstGeom prst="rect">
            <a:avLst/>
          </a:prstGeom>
          <a:noFill/>
          <a:ln/>
        </p:spPr>
        <p:txBody>
          <a:bodyPr wrap="square" lIns="0" tIns="0" rIns="0" bIns="0" rtlCol="0" anchor="t">
            <a:normAutofit/>
          </a:bodyPr>
          <a:lstStyle/>
          <a:p>
            <a:pPr marL="0" indent="0" algn="l">
              <a:buNone/>
            </a:pPr>
            <a:r>
              <a:rPr lang="en-US" sz="750" dirty="0">
                <a:solidFill>
                  <a:srgbClr val="BDC4C9"/>
                </a:solidFill>
                <a:latin typeface="Arial" pitchFamily="34" charset="0"/>
                <a:ea typeface="Arial" pitchFamily="34" charset="-122"/>
                <a:cs typeface="Arial" pitchFamily="34" charset="-120"/>
              </a:rPr>
              <a:t>22 SEPTEMBER 2026  /  CONCEPT AND APPLICATION EXAMPLES</a:t>
            </a:r>
            <a:endParaRPr lang="en-US" sz="750" dirty="0"/>
          </a:p>
        </p:txBody>
      </p:sp>
      <p:sp>
        <p:nvSpPr>
          <p:cNvPr id="8" name="Text 6"/>
          <p:cNvSpPr/>
          <p:nvPr/>
        </p:nvSpPr>
        <p:spPr>
          <a:xfrm>
            <a:off x="10789920" y="6547104"/>
            <a:ext cx="914400" cy="173736"/>
          </a:xfrm>
          <a:prstGeom prst="rect">
            <a:avLst/>
          </a:prstGeom>
          <a:noFill/>
          <a:ln/>
        </p:spPr>
        <p:txBody>
          <a:bodyPr wrap="square" lIns="0" tIns="0" rIns="0" bIns="0" rtlCol="0" anchor="t">
            <a:normAutofit/>
          </a:bodyPr>
          <a:lstStyle/>
          <a:p>
            <a:pPr marL="0" indent="0" algn="r">
              <a:buNone/>
            </a:pPr>
            <a:r>
              <a:rPr lang="en-US" sz="850" dirty="0">
                <a:solidFill>
                  <a:srgbClr val="BDC4C9"/>
                </a:solidFill>
                <a:latin typeface="Arial" pitchFamily="34" charset="0"/>
                <a:ea typeface="Arial" pitchFamily="34" charset="-122"/>
                <a:cs typeface="Arial" pitchFamily="34" charset="-120"/>
              </a:rPr>
              <a:t>22 / 49</a:t>
            </a:r>
            <a:endParaRPr lang="en-US" sz="850" dirty="0"/>
          </a:p>
        </p:txBody>
      </p:sp>
      <p:sp>
        <p:nvSpPr>
          <p:cNvPr id="9" name="Text 7"/>
          <p:cNvSpPr/>
          <p:nvPr/>
        </p:nvSpPr>
        <p:spPr>
          <a:xfrm>
            <a:off x="502920" y="1033272"/>
            <a:ext cx="10972800" cy="685800"/>
          </a:xfrm>
          <a:prstGeom prst="rect">
            <a:avLst/>
          </a:prstGeom>
          <a:noFill/>
          <a:ln/>
        </p:spPr>
        <p:txBody>
          <a:bodyPr wrap="square" lIns="0" tIns="0" rIns="0" bIns="0" rtlCol="0" anchor="t">
            <a:normAutofit/>
          </a:bodyPr>
          <a:lstStyle/>
          <a:p>
            <a:pPr marL="0" indent="0" algn="l">
              <a:buNone/>
            </a:pPr>
            <a:r>
              <a:rPr lang="en-US" sz="3500" b="1" dirty="0">
                <a:solidFill>
                  <a:srgbClr val="F5F6F7"/>
                </a:solidFill>
                <a:latin typeface="Arial" pitchFamily="34" charset="0"/>
                <a:ea typeface="Arial" pitchFamily="34" charset="-122"/>
                <a:cs typeface="Arial" pitchFamily="34" charset="-120"/>
              </a:rPr>
              <a:t>One proposal. Distinct responsibilities.</a:t>
            </a:r>
            <a:endParaRPr lang="en-US" sz="3500" dirty="0"/>
          </a:p>
        </p:txBody>
      </p:sp>
      <p:sp>
        <p:nvSpPr>
          <p:cNvPr id="10" name="Text 8"/>
          <p:cNvSpPr/>
          <p:nvPr/>
        </p:nvSpPr>
        <p:spPr>
          <a:xfrm>
            <a:off x="530352" y="1773936"/>
            <a:ext cx="10881360" cy="594360"/>
          </a:xfrm>
          <a:prstGeom prst="rect">
            <a:avLst/>
          </a:prstGeom>
          <a:noFill/>
          <a:ln/>
        </p:spPr>
        <p:txBody>
          <a:bodyPr wrap="square" lIns="0" tIns="0" rIns="0" bIns="0" rtlCol="0" anchor="t">
            <a:normAutofit/>
          </a:bodyPr>
          <a:lstStyle/>
          <a:p>
            <a:pPr marL="0" indent="0" algn="l">
              <a:buNone/>
            </a:pPr>
            <a:r>
              <a:rPr lang="en-US" sz="1900" dirty="0">
                <a:solidFill>
                  <a:srgbClr val="BDC4C9"/>
                </a:solidFill>
                <a:latin typeface="Arial" pitchFamily="34" charset="0"/>
                <a:ea typeface="Arial" pitchFamily="34" charset="-122"/>
                <a:cs typeface="Arial" pitchFamily="34" charset="-120"/>
              </a:rPr>
              <a:t>The distributor leads the national opportunity; every function confirms its own contribution.</a:t>
            </a:r>
            <a:endParaRPr lang="en-US" sz="1900" dirty="0"/>
          </a:p>
        </p:txBody>
      </p:sp>
      <p:sp>
        <p:nvSpPr>
          <p:cNvPr id="11" name="Shape 9"/>
          <p:cNvSpPr/>
          <p:nvPr/>
        </p:nvSpPr>
        <p:spPr>
          <a:xfrm>
            <a:off x="539496" y="2670048"/>
            <a:ext cx="11036808" cy="640080"/>
          </a:xfrm>
          <a:prstGeom prst="rect">
            <a:avLst/>
          </a:prstGeom>
          <a:solidFill>
            <a:srgbClr val="383F44"/>
          </a:solidFill>
          <a:ln w="12700">
            <a:solidFill>
              <a:srgbClr val="383F44">
                <a:alpha val="0"/>
              </a:srgbClr>
            </a:solidFill>
            <a:prstDash val="solid"/>
          </a:ln>
        </p:spPr>
        <p:txBody>
          <a:bodyPr/>
          <a:lstStyle/>
          <a:p>
            <a:endParaRPr lang="nl-NL"/>
          </a:p>
        </p:txBody>
      </p:sp>
      <p:sp>
        <p:nvSpPr>
          <p:cNvPr id="12" name="Text 10"/>
          <p:cNvSpPr/>
          <p:nvPr/>
        </p:nvSpPr>
        <p:spPr>
          <a:xfrm>
            <a:off x="713232" y="2807208"/>
            <a:ext cx="2834640" cy="356616"/>
          </a:xfrm>
          <a:prstGeom prst="rect">
            <a:avLst/>
          </a:prstGeom>
          <a:noFill/>
          <a:ln/>
        </p:spPr>
        <p:txBody>
          <a:bodyPr wrap="square" lIns="0" tIns="0" rIns="0" bIns="0" rtlCol="0" anchor="t">
            <a:normAutofit/>
          </a:bodyPr>
          <a:lstStyle/>
          <a:p>
            <a:pPr marL="0" indent="0" algn="l">
              <a:buNone/>
            </a:pPr>
            <a:r>
              <a:rPr lang="en-US" sz="1800" b="1" dirty="0">
                <a:solidFill>
                  <a:srgbClr val="F5F6F7"/>
                </a:solidFill>
                <a:latin typeface="Arial" pitchFamily="34" charset="0"/>
                <a:ea typeface="Arial" pitchFamily="34" charset="-122"/>
                <a:cs typeface="Arial" pitchFamily="34" charset="-120"/>
              </a:rPr>
              <a:t>Lead distributor</a:t>
            </a:r>
            <a:endParaRPr lang="en-US" sz="1800" dirty="0"/>
          </a:p>
        </p:txBody>
      </p:sp>
      <p:sp>
        <p:nvSpPr>
          <p:cNvPr id="13" name="Text 11"/>
          <p:cNvSpPr/>
          <p:nvPr/>
        </p:nvSpPr>
        <p:spPr>
          <a:xfrm>
            <a:off x="3749040" y="2807208"/>
            <a:ext cx="7534656" cy="384048"/>
          </a:xfrm>
          <a:prstGeom prst="rect">
            <a:avLst/>
          </a:prstGeom>
          <a:noFill/>
          <a:ln/>
        </p:spPr>
        <p:txBody>
          <a:bodyPr wrap="square" lIns="0" tIns="0" rIns="0" bIns="0" rtlCol="0" anchor="t">
            <a:normAutofit/>
          </a:bodyPr>
          <a:lstStyle/>
          <a:p>
            <a:pPr marL="0" indent="0" algn="l">
              <a:buNone/>
            </a:pPr>
            <a:r>
              <a:rPr lang="en-US" sz="1700" dirty="0">
                <a:solidFill>
                  <a:srgbClr val="BDC4C9"/>
                </a:solidFill>
                <a:latin typeface="Arial" pitchFamily="34" charset="0"/>
                <a:ea typeface="Arial" pitchFamily="34" charset="-122"/>
                <a:cs typeface="Arial" pitchFamily="34" charset="-120"/>
              </a:rPr>
              <a:t>Local requirements, commercial intent, bid ownership and customer relationship.</a:t>
            </a:r>
            <a:endParaRPr lang="en-US" sz="1700" dirty="0"/>
          </a:p>
        </p:txBody>
      </p:sp>
      <p:sp>
        <p:nvSpPr>
          <p:cNvPr id="14" name="Shape 12"/>
          <p:cNvSpPr/>
          <p:nvPr/>
        </p:nvSpPr>
        <p:spPr>
          <a:xfrm>
            <a:off x="539496" y="3383280"/>
            <a:ext cx="11036808" cy="640080"/>
          </a:xfrm>
          <a:prstGeom prst="rect">
            <a:avLst/>
          </a:prstGeom>
          <a:solidFill>
            <a:srgbClr val="30363B"/>
          </a:solidFill>
          <a:ln w="12700">
            <a:solidFill>
              <a:srgbClr val="30363B">
                <a:alpha val="0"/>
              </a:srgbClr>
            </a:solidFill>
            <a:prstDash val="solid"/>
          </a:ln>
        </p:spPr>
        <p:txBody>
          <a:bodyPr/>
          <a:lstStyle/>
          <a:p>
            <a:endParaRPr lang="nl-NL"/>
          </a:p>
        </p:txBody>
      </p:sp>
      <p:sp>
        <p:nvSpPr>
          <p:cNvPr id="15" name="Text 13"/>
          <p:cNvSpPr/>
          <p:nvPr/>
        </p:nvSpPr>
        <p:spPr>
          <a:xfrm>
            <a:off x="713232" y="3520440"/>
            <a:ext cx="2834640" cy="356616"/>
          </a:xfrm>
          <a:prstGeom prst="rect">
            <a:avLst/>
          </a:prstGeom>
          <a:noFill/>
          <a:ln/>
        </p:spPr>
        <p:txBody>
          <a:bodyPr wrap="square" lIns="0" tIns="0" rIns="0" bIns="0" rtlCol="0" anchor="t">
            <a:normAutofit/>
          </a:bodyPr>
          <a:lstStyle/>
          <a:p>
            <a:pPr marL="0" indent="0" algn="l">
              <a:buNone/>
            </a:pPr>
            <a:r>
              <a:rPr lang="en-US" sz="1800" b="1" dirty="0">
                <a:solidFill>
                  <a:srgbClr val="F5F6F7"/>
                </a:solidFill>
                <a:latin typeface="Arial" pitchFamily="34" charset="0"/>
                <a:ea typeface="Arial" pitchFamily="34" charset="-122"/>
                <a:cs typeface="Arial" pitchFamily="34" charset="-120"/>
              </a:rPr>
              <a:t>Vehicle-sales function</a:t>
            </a:r>
            <a:endParaRPr lang="en-US" sz="1800" dirty="0"/>
          </a:p>
        </p:txBody>
      </p:sp>
      <p:sp>
        <p:nvSpPr>
          <p:cNvPr id="16" name="Text 14"/>
          <p:cNvSpPr/>
          <p:nvPr/>
        </p:nvSpPr>
        <p:spPr>
          <a:xfrm>
            <a:off x="3749040" y="3520440"/>
            <a:ext cx="7534656" cy="384048"/>
          </a:xfrm>
          <a:prstGeom prst="rect">
            <a:avLst/>
          </a:prstGeom>
          <a:noFill/>
          <a:ln/>
        </p:spPr>
        <p:txBody>
          <a:bodyPr wrap="square" lIns="0" tIns="0" rIns="0" bIns="0" rtlCol="0" anchor="t">
            <a:normAutofit/>
          </a:bodyPr>
          <a:lstStyle/>
          <a:p>
            <a:pPr marL="0" indent="0" algn="l">
              <a:buNone/>
            </a:pPr>
            <a:r>
              <a:rPr lang="en-US" sz="1700" dirty="0">
                <a:solidFill>
                  <a:srgbClr val="BDC4C9"/>
                </a:solidFill>
                <a:latin typeface="Arial" pitchFamily="34" charset="0"/>
                <a:ea typeface="Arial" pitchFamily="34" charset="-122"/>
                <a:cs typeface="Arial" pitchFamily="34" charset="-120"/>
              </a:rPr>
              <a:t>Vehicle offer, relevant product positioning and decisions within its authority.</a:t>
            </a:r>
            <a:endParaRPr lang="en-US" sz="1700" dirty="0"/>
          </a:p>
        </p:txBody>
      </p:sp>
      <p:sp>
        <p:nvSpPr>
          <p:cNvPr id="17" name="Shape 15"/>
          <p:cNvSpPr/>
          <p:nvPr/>
        </p:nvSpPr>
        <p:spPr>
          <a:xfrm>
            <a:off x="539496" y="4096512"/>
            <a:ext cx="11036808" cy="640080"/>
          </a:xfrm>
          <a:prstGeom prst="rect">
            <a:avLst/>
          </a:prstGeom>
          <a:solidFill>
            <a:srgbClr val="383F44"/>
          </a:solidFill>
          <a:ln w="12700">
            <a:solidFill>
              <a:srgbClr val="383F44">
                <a:alpha val="0"/>
              </a:srgbClr>
            </a:solidFill>
            <a:prstDash val="solid"/>
          </a:ln>
        </p:spPr>
        <p:txBody>
          <a:bodyPr/>
          <a:lstStyle/>
          <a:p>
            <a:endParaRPr lang="nl-NL"/>
          </a:p>
        </p:txBody>
      </p:sp>
      <p:sp>
        <p:nvSpPr>
          <p:cNvPr id="18" name="Text 16"/>
          <p:cNvSpPr/>
          <p:nvPr/>
        </p:nvSpPr>
        <p:spPr>
          <a:xfrm>
            <a:off x="713232" y="4233672"/>
            <a:ext cx="2834640" cy="356616"/>
          </a:xfrm>
          <a:prstGeom prst="rect">
            <a:avLst/>
          </a:prstGeom>
          <a:noFill/>
          <a:ln/>
        </p:spPr>
        <p:txBody>
          <a:bodyPr wrap="square" lIns="0" tIns="0" rIns="0" bIns="0" rtlCol="0" anchor="t">
            <a:normAutofit/>
          </a:bodyPr>
          <a:lstStyle/>
          <a:p>
            <a:pPr marL="0" indent="0" algn="l">
              <a:buNone/>
            </a:pPr>
            <a:r>
              <a:rPr lang="en-US" sz="1800" b="1" dirty="0">
                <a:solidFill>
                  <a:srgbClr val="F5F6F7"/>
                </a:solidFill>
                <a:latin typeface="Arial" pitchFamily="34" charset="0"/>
                <a:ea typeface="Arial" pitchFamily="34" charset="-122"/>
                <a:cs typeface="Arial" pitchFamily="34" charset="-120"/>
              </a:rPr>
              <a:t>ISZE parts function</a:t>
            </a:r>
            <a:endParaRPr lang="en-US" sz="1800" dirty="0"/>
          </a:p>
        </p:txBody>
      </p:sp>
      <p:sp>
        <p:nvSpPr>
          <p:cNvPr id="19" name="Text 17"/>
          <p:cNvSpPr/>
          <p:nvPr/>
        </p:nvSpPr>
        <p:spPr>
          <a:xfrm>
            <a:off x="3749040" y="4233672"/>
            <a:ext cx="7534656" cy="384048"/>
          </a:xfrm>
          <a:prstGeom prst="rect">
            <a:avLst/>
          </a:prstGeom>
          <a:noFill/>
          <a:ln/>
        </p:spPr>
        <p:txBody>
          <a:bodyPr wrap="square" lIns="0" tIns="0" rIns="0" bIns="0" rtlCol="0" anchor="t">
            <a:normAutofit/>
          </a:bodyPr>
          <a:lstStyle/>
          <a:p>
            <a:pPr marL="0" indent="0" algn="l">
              <a:buNone/>
            </a:pPr>
            <a:r>
              <a:rPr lang="en-US" sz="1700" dirty="0">
                <a:solidFill>
                  <a:srgbClr val="BDC4C9"/>
                </a:solidFill>
                <a:latin typeface="Arial" pitchFamily="34" charset="0"/>
                <a:ea typeface="Arial" pitchFamily="34" charset="-122"/>
                <a:cs typeface="Arial" pitchFamily="34" charset="-120"/>
              </a:rPr>
              <a:t>Parts scope, supported analysis and proposed aftersales contribution.</a:t>
            </a:r>
            <a:endParaRPr lang="en-US" sz="1700" dirty="0"/>
          </a:p>
        </p:txBody>
      </p:sp>
      <p:sp>
        <p:nvSpPr>
          <p:cNvPr id="20" name="Shape 18"/>
          <p:cNvSpPr/>
          <p:nvPr/>
        </p:nvSpPr>
        <p:spPr>
          <a:xfrm>
            <a:off x="539496" y="4809744"/>
            <a:ext cx="11036808" cy="640080"/>
          </a:xfrm>
          <a:prstGeom prst="rect">
            <a:avLst/>
          </a:prstGeom>
          <a:solidFill>
            <a:srgbClr val="30363B"/>
          </a:solidFill>
          <a:ln w="12700">
            <a:solidFill>
              <a:srgbClr val="30363B">
                <a:alpha val="0"/>
              </a:srgbClr>
            </a:solidFill>
            <a:prstDash val="solid"/>
          </a:ln>
        </p:spPr>
        <p:txBody>
          <a:bodyPr/>
          <a:lstStyle/>
          <a:p>
            <a:endParaRPr lang="nl-NL"/>
          </a:p>
        </p:txBody>
      </p:sp>
      <p:sp>
        <p:nvSpPr>
          <p:cNvPr id="21" name="Text 19"/>
          <p:cNvSpPr/>
          <p:nvPr/>
        </p:nvSpPr>
        <p:spPr>
          <a:xfrm>
            <a:off x="713232" y="4946904"/>
            <a:ext cx="2834640" cy="356616"/>
          </a:xfrm>
          <a:prstGeom prst="rect">
            <a:avLst/>
          </a:prstGeom>
          <a:noFill/>
          <a:ln/>
        </p:spPr>
        <p:txBody>
          <a:bodyPr wrap="square" lIns="0" tIns="0" rIns="0" bIns="0" rtlCol="0" anchor="t">
            <a:normAutofit/>
          </a:bodyPr>
          <a:lstStyle/>
          <a:p>
            <a:pPr marL="0" indent="0" algn="l">
              <a:buNone/>
            </a:pPr>
            <a:r>
              <a:rPr lang="en-US" sz="1800" b="1" dirty="0">
                <a:solidFill>
                  <a:srgbClr val="F5F6F7"/>
                </a:solidFill>
                <a:latin typeface="Arial" pitchFamily="34" charset="0"/>
                <a:ea typeface="Arial" pitchFamily="34" charset="-122"/>
                <a:cs typeface="Arial" pitchFamily="34" charset="-120"/>
              </a:rPr>
              <a:t>Manufacturer / headquarters</a:t>
            </a:r>
            <a:endParaRPr lang="en-US" sz="1800" dirty="0"/>
          </a:p>
        </p:txBody>
      </p:sp>
      <p:sp>
        <p:nvSpPr>
          <p:cNvPr id="22" name="Text 20"/>
          <p:cNvSpPr/>
          <p:nvPr/>
        </p:nvSpPr>
        <p:spPr>
          <a:xfrm>
            <a:off x="3749040" y="4946904"/>
            <a:ext cx="7534656" cy="384048"/>
          </a:xfrm>
          <a:prstGeom prst="rect">
            <a:avLst/>
          </a:prstGeom>
          <a:noFill/>
          <a:ln/>
        </p:spPr>
        <p:txBody>
          <a:bodyPr wrap="square" lIns="0" tIns="0" rIns="0" bIns="0" rtlCol="0" anchor="t">
            <a:normAutofit/>
          </a:bodyPr>
          <a:lstStyle/>
          <a:p>
            <a:pPr marL="0" indent="0" algn="l">
              <a:buNone/>
            </a:pPr>
            <a:r>
              <a:rPr lang="en-US" sz="1700" dirty="0">
                <a:solidFill>
                  <a:srgbClr val="BDC4C9"/>
                </a:solidFill>
                <a:latin typeface="Arial" pitchFamily="34" charset="0"/>
                <a:ea typeface="Arial" pitchFamily="34" charset="-122"/>
                <a:cs typeface="Arial" pitchFamily="34" charset="-120"/>
              </a:rPr>
              <a:t>Selected technical, product or support decisions requiring its authority.</a:t>
            </a:r>
            <a:endParaRPr lang="en-US" sz="1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24282C"/>
        </a:solidFill>
        <a:effectLst/>
      </p:bgPr>
    </p:bg>
    <p:spTree>
      <p:nvGrpSpPr>
        <p:cNvPr id="1" name=""/>
        <p:cNvGrpSpPr/>
        <p:nvPr/>
      </p:nvGrpSpPr>
      <p:grpSpPr>
        <a:xfrm>
          <a:off x="0" y="0"/>
          <a:ext cx="0" cy="0"/>
          <a:chOff x="0" y="0"/>
          <a:chExt cx="0" cy="0"/>
        </a:xfrm>
      </p:grpSpPr>
      <p:sp>
        <p:nvSpPr>
          <p:cNvPr id="2" name="Text 0"/>
          <p:cNvSpPr/>
          <p:nvPr/>
        </p:nvSpPr>
        <p:spPr>
          <a:xfrm>
            <a:off x="484632" y="173736"/>
            <a:ext cx="2743200" cy="201168"/>
          </a:xfrm>
          <a:prstGeom prst="rect">
            <a:avLst/>
          </a:prstGeom>
          <a:noFill/>
          <a:ln/>
        </p:spPr>
        <p:txBody>
          <a:bodyPr wrap="square" lIns="0" tIns="0" rIns="0" bIns="0" rtlCol="0" anchor="t">
            <a:normAutofit/>
          </a:bodyPr>
          <a:lstStyle/>
          <a:p>
            <a:pPr marL="0" indent="0" algn="l">
              <a:buNone/>
            </a:pPr>
            <a:r>
              <a:rPr lang="en-US" sz="1000" b="1" dirty="0">
                <a:solidFill>
                  <a:srgbClr val="F5F6F7"/>
                </a:solidFill>
                <a:latin typeface="Arial" pitchFamily="34" charset="0"/>
                <a:ea typeface="Arial" pitchFamily="34" charset="-122"/>
                <a:cs typeface="Arial" pitchFamily="34" charset="-120"/>
              </a:rPr>
              <a:t>ISUZU / UNIVERSE</a:t>
            </a:r>
            <a:endParaRPr lang="en-US" sz="1000" dirty="0"/>
          </a:p>
        </p:txBody>
      </p:sp>
      <p:sp>
        <p:nvSpPr>
          <p:cNvPr id="3" name="Text 1"/>
          <p:cNvSpPr/>
          <p:nvPr/>
        </p:nvSpPr>
        <p:spPr>
          <a:xfrm>
            <a:off x="8046720" y="173736"/>
            <a:ext cx="3657600" cy="201168"/>
          </a:xfrm>
          <a:prstGeom prst="rect">
            <a:avLst/>
          </a:prstGeom>
          <a:noFill/>
          <a:ln/>
        </p:spPr>
        <p:txBody>
          <a:bodyPr wrap="square" lIns="0" tIns="0" rIns="0" bIns="0" rtlCol="0" anchor="t">
            <a:normAutofit/>
          </a:bodyPr>
          <a:lstStyle/>
          <a:p>
            <a:pPr marL="0" indent="0" algn="r">
              <a:buNone/>
            </a:pPr>
            <a:r>
              <a:rPr lang="en-US" sz="900" dirty="0">
                <a:solidFill>
                  <a:srgbClr val="BDC4C9"/>
                </a:solidFill>
                <a:latin typeface="Arial" pitchFamily="34" charset="0"/>
                <a:ea typeface="Arial" pitchFamily="34" charset="-122"/>
                <a:cs typeface="Arial" pitchFamily="34" charset="-120"/>
              </a:rPr>
              <a:t>COMMERCIAL VISION  /  3.0</a:t>
            </a:r>
            <a:endParaRPr lang="en-US" sz="900" dirty="0"/>
          </a:p>
        </p:txBody>
      </p:sp>
      <p:sp>
        <p:nvSpPr>
          <p:cNvPr id="4" name="Shape 2"/>
          <p:cNvSpPr/>
          <p:nvPr/>
        </p:nvSpPr>
        <p:spPr>
          <a:xfrm>
            <a:off x="484632" y="512064"/>
            <a:ext cx="475488" cy="22860"/>
          </a:xfrm>
          <a:prstGeom prst="rect">
            <a:avLst/>
          </a:prstGeom>
          <a:solidFill>
            <a:srgbClr val="D71920"/>
          </a:solidFill>
          <a:ln w="12700">
            <a:solidFill>
              <a:srgbClr val="D71920">
                <a:alpha val="0"/>
              </a:srgbClr>
            </a:solidFill>
            <a:prstDash val="solid"/>
          </a:ln>
        </p:spPr>
        <p:txBody>
          <a:bodyPr/>
          <a:lstStyle/>
          <a:p>
            <a:endParaRPr lang="nl-NL"/>
          </a:p>
        </p:txBody>
      </p:sp>
      <p:sp>
        <p:nvSpPr>
          <p:cNvPr id="5" name="Text 3"/>
          <p:cNvSpPr/>
          <p:nvPr/>
        </p:nvSpPr>
        <p:spPr>
          <a:xfrm>
            <a:off x="484632" y="658368"/>
            <a:ext cx="11064240" cy="219456"/>
          </a:xfrm>
          <a:prstGeom prst="rect">
            <a:avLst/>
          </a:prstGeom>
          <a:noFill/>
          <a:ln/>
        </p:spPr>
        <p:txBody>
          <a:bodyPr wrap="square" lIns="0" tIns="0" rIns="0" bIns="0" rtlCol="0" anchor="t">
            <a:normAutofit/>
          </a:bodyPr>
          <a:lstStyle/>
          <a:p>
            <a:pPr marL="0" indent="0" algn="l">
              <a:buNone/>
            </a:pPr>
            <a:r>
              <a:rPr lang="en-US" sz="1000" b="1" dirty="0">
                <a:solidFill>
                  <a:srgbClr val="D71920"/>
                </a:solidFill>
                <a:latin typeface="Arial" pitchFamily="34" charset="0"/>
                <a:ea typeface="Arial" pitchFamily="34" charset="-122"/>
                <a:cs typeface="Arial" pitchFamily="34" charset="-120"/>
              </a:rPr>
              <a:t>TENDERS / HEADQUARTERS CASE</a:t>
            </a:r>
            <a:endParaRPr lang="en-US" sz="1000" dirty="0"/>
          </a:p>
        </p:txBody>
      </p:sp>
      <p:sp>
        <p:nvSpPr>
          <p:cNvPr id="6" name="Shape 4"/>
          <p:cNvSpPr/>
          <p:nvPr/>
        </p:nvSpPr>
        <p:spPr>
          <a:xfrm>
            <a:off x="484632" y="6446520"/>
            <a:ext cx="11219688" cy="914"/>
          </a:xfrm>
          <a:prstGeom prst="line">
            <a:avLst/>
          </a:prstGeom>
          <a:noFill/>
          <a:ln w="6350">
            <a:solidFill>
              <a:srgbClr val="647078"/>
            </a:solidFill>
            <a:prstDash val="solid"/>
          </a:ln>
        </p:spPr>
        <p:txBody>
          <a:bodyPr/>
          <a:lstStyle/>
          <a:p>
            <a:endParaRPr lang="nl-NL"/>
          </a:p>
        </p:txBody>
      </p:sp>
      <p:sp>
        <p:nvSpPr>
          <p:cNvPr id="7" name="Text 5"/>
          <p:cNvSpPr/>
          <p:nvPr/>
        </p:nvSpPr>
        <p:spPr>
          <a:xfrm>
            <a:off x="484632" y="6556248"/>
            <a:ext cx="9144000" cy="146304"/>
          </a:xfrm>
          <a:prstGeom prst="rect">
            <a:avLst/>
          </a:prstGeom>
          <a:noFill/>
          <a:ln/>
        </p:spPr>
        <p:txBody>
          <a:bodyPr wrap="square" lIns="0" tIns="0" rIns="0" bIns="0" rtlCol="0" anchor="t">
            <a:normAutofit/>
          </a:bodyPr>
          <a:lstStyle/>
          <a:p>
            <a:pPr marL="0" indent="0" algn="l">
              <a:buNone/>
            </a:pPr>
            <a:r>
              <a:rPr lang="en-US" sz="750" dirty="0">
                <a:solidFill>
                  <a:srgbClr val="BDC4C9"/>
                </a:solidFill>
                <a:latin typeface="Arial" pitchFamily="34" charset="0"/>
                <a:ea typeface="Arial" pitchFamily="34" charset="-122"/>
                <a:cs typeface="Arial" pitchFamily="34" charset="-120"/>
              </a:rPr>
              <a:t>22 SEPTEMBER 2026  /  CONCEPT AND APPLICATION EXAMPLES</a:t>
            </a:r>
            <a:endParaRPr lang="en-US" sz="750" dirty="0"/>
          </a:p>
        </p:txBody>
      </p:sp>
      <p:sp>
        <p:nvSpPr>
          <p:cNvPr id="8" name="Text 6"/>
          <p:cNvSpPr/>
          <p:nvPr/>
        </p:nvSpPr>
        <p:spPr>
          <a:xfrm>
            <a:off x="10789920" y="6547104"/>
            <a:ext cx="914400" cy="173736"/>
          </a:xfrm>
          <a:prstGeom prst="rect">
            <a:avLst/>
          </a:prstGeom>
          <a:noFill/>
          <a:ln/>
        </p:spPr>
        <p:txBody>
          <a:bodyPr wrap="square" lIns="0" tIns="0" rIns="0" bIns="0" rtlCol="0" anchor="t">
            <a:normAutofit/>
          </a:bodyPr>
          <a:lstStyle/>
          <a:p>
            <a:pPr marL="0" indent="0" algn="r">
              <a:buNone/>
            </a:pPr>
            <a:r>
              <a:rPr lang="en-US" sz="850" dirty="0">
                <a:solidFill>
                  <a:srgbClr val="BDC4C9"/>
                </a:solidFill>
                <a:latin typeface="Arial" pitchFamily="34" charset="0"/>
                <a:ea typeface="Arial" pitchFamily="34" charset="-122"/>
                <a:cs typeface="Arial" pitchFamily="34" charset="-120"/>
              </a:rPr>
              <a:t>23 / 49</a:t>
            </a:r>
            <a:endParaRPr lang="en-US" sz="850" dirty="0"/>
          </a:p>
        </p:txBody>
      </p:sp>
      <p:sp>
        <p:nvSpPr>
          <p:cNvPr id="9" name="Text 7"/>
          <p:cNvSpPr/>
          <p:nvPr/>
        </p:nvSpPr>
        <p:spPr>
          <a:xfrm>
            <a:off x="502920" y="1005840"/>
            <a:ext cx="11036808" cy="841248"/>
          </a:xfrm>
          <a:prstGeom prst="rect">
            <a:avLst/>
          </a:prstGeom>
          <a:noFill/>
          <a:ln/>
        </p:spPr>
        <p:txBody>
          <a:bodyPr wrap="square" lIns="0" tIns="0" rIns="0" bIns="0" rtlCol="0" anchor="t">
            <a:normAutofit/>
          </a:bodyPr>
          <a:lstStyle/>
          <a:p>
            <a:pPr marL="0" indent="0" algn="l">
              <a:buNone/>
            </a:pPr>
            <a:r>
              <a:rPr lang="en-US" sz="3400" b="1" dirty="0">
                <a:solidFill>
                  <a:srgbClr val="F5F6F7"/>
                </a:solidFill>
                <a:latin typeface="Arial" pitchFamily="34" charset="0"/>
                <a:ea typeface="Arial" pitchFamily="34" charset="-122"/>
                <a:cs typeface="Arial" pitchFamily="34" charset="-120"/>
              </a:rPr>
              <a:t>Make the headquarters decision unmistakable.</a:t>
            </a:r>
            <a:endParaRPr lang="en-US" sz="3400" dirty="0"/>
          </a:p>
        </p:txBody>
      </p:sp>
      <p:sp>
        <p:nvSpPr>
          <p:cNvPr id="10" name="Text 8"/>
          <p:cNvSpPr/>
          <p:nvPr/>
        </p:nvSpPr>
        <p:spPr>
          <a:xfrm>
            <a:off x="530352" y="1865376"/>
            <a:ext cx="10954512" cy="566928"/>
          </a:xfrm>
          <a:prstGeom prst="rect">
            <a:avLst/>
          </a:prstGeom>
          <a:noFill/>
          <a:ln/>
        </p:spPr>
        <p:txBody>
          <a:bodyPr wrap="square" lIns="0" tIns="0" rIns="0" bIns="0" rtlCol="0" anchor="t">
            <a:normAutofit/>
          </a:bodyPr>
          <a:lstStyle/>
          <a:p>
            <a:pPr marL="0" indent="0" algn="l">
              <a:buNone/>
            </a:pPr>
            <a:r>
              <a:rPr lang="en-US" sz="1800" dirty="0">
                <a:solidFill>
                  <a:srgbClr val="BDC4C9"/>
                </a:solidFill>
                <a:latin typeface="Arial" pitchFamily="34" charset="0"/>
                <a:ea typeface="Arial" pitchFamily="34" charset="-122"/>
                <a:cs typeface="Arial" pitchFamily="34" charset="-120"/>
              </a:rPr>
              <a:t>Opportunity, combined offer, requested contribution, commercial basis and conditions.</a:t>
            </a:r>
            <a:endParaRPr lang="en-US" sz="1800" dirty="0"/>
          </a:p>
        </p:txBody>
      </p:sp>
      <p:sp>
        <p:nvSpPr>
          <p:cNvPr id="11" name="Shape 9"/>
          <p:cNvSpPr/>
          <p:nvPr/>
        </p:nvSpPr>
        <p:spPr>
          <a:xfrm>
            <a:off x="2280181" y="2660904"/>
            <a:ext cx="4576572" cy="3252770"/>
          </a:xfrm>
          <a:prstGeom prst="roundRect">
            <a:avLst>
              <a:gd name="adj" fmla="val 1124"/>
            </a:avLst>
          </a:prstGeom>
          <a:solidFill>
            <a:srgbClr val="30363B"/>
          </a:solidFill>
          <a:ln w="8890">
            <a:solidFill>
              <a:srgbClr val="55616A"/>
            </a:solidFill>
            <a:prstDash val="solid"/>
          </a:ln>
        </p:spPr>
        <p:txBody>
          <a:bodyPr/>
          <a:lstStyle/>
          <a:p>
            <a:endParaRPr lang="nl-NL"/>
          </a:p>
        </p:txBody>
      </p:sp>
      <p:sp>
        <p:nvSpPr>
          <p:cNvPr id="12" name="Shape 10"/>
          <p:cNvSpPr/>
          <p:nvPr/>
        </p:nvSpPr>
        <p:spPr>
          <a:xfrm>
            <a:off x="2280181" y="2660904"/>
            <a:ext cx="4576572" cy="514392"/>
          </a:xfrm>
          <a:prstGeom prst="rect">
            <a:avLst/>
          </a:prstGeom>
          <a:solidFill>
            <a:srgbClr val="D71920"/>
          </a:solidFill>
          <a:ln w="12700">
            <a:solidFill>
              <a:srgbClr val="24282C">
                <a:alpha val="0"/>
              </a:srgbClr>
            </a:solidFill>
            <a:prstDash val="solid"/>
          </a:ln>
        </p:spPr>
        <p:txBody>
          <a:bodyPr/>
          <a:lstStyle/>
          <a:p>
            <a:endParaRPr lang="nl-NL"/>
          </a:p>
        </p:txBody>
      </p:sp>
      <p:sp>
        <p:nvSpPr>
          <p:cNvPr id="13" name="Text 11"/>
          <p:cNvSpPr/>
          <p:nvPr/>
        </p:nvSpPr>
        <p:spPr>
          <a:xfrm>
            <a:off x="2454166" y="2819760"/>
            <a:ext cx="4183214" cy="453875"/>
          </a:xfrm>
          <a:prstGeom prst="rect">
            <a:avLst/>
          </a:prstGeom>
          <a:noFill/>
          <a:ln/>
        </p:spPr>
        <p:txBody>
          <a:bodyPr wrap="square" lIns="0" tIns="0" rIns="0" bIns="0" rtlCol="0" anchor="t">
            <a:normAutofit/>
          </a:bodyPr>
          <a:lstStyle/>
          <a:p>
            <a:pPr marL="0" indent="0" algn="l">
              <a:buNone/>
            </a:pPr>
            <a:r>
              <a:rPr lang="en-US" sz="1430" b="1" dirty="0">
                <a:solidFill>
                  <a:srgbClr val="F5F6F7"/>
                </a:solidFill>
                <a:latin typeface="Arial" pitchFamily="34" charset="0"/>
                <a:ea typeface="Arial" pitchFamily="34" charset="-122"/>
                <a:cs typeface="Arial" pitchFamily="34" charset="-120"/>
              </a:rPr>
              <a:t>HEADQUARTERS DECISION BRIEF</a:t>
            </a:r>
            <a:endParaRPr lang="en-US" sz="1430" dirty="0"/>
          </a:p>
        </p:txBody>
      </p:sp>
      <p:sp>
        <p:nvSpPr>
          <p:cNvPr id="14" name="Text 12"/>
          <p:cNvSpPr/>
          <p:nvPr/>
        </p:nvSpPr>
        <p:spPr>
          <a:xfrm>
            <a:off x="2454166" y="3349281"/>
            <a:ext cx="1437271" cy="453875"/>
          </a:xfrm>
          <a:prstGeom prst="rect">
            <a:avLst/>
          </a:prstGeom>
          <a:noFill/>
          <a:ln/>
        </p:spPr>
        <p:txBody>
          <a:bodyPr wrap="square" lIns="0" tIns="0" rIns="0" bIns="0" rtlCol="0" anchor="t">
            <a:normAutofit/>
          </a:bodyPr>
          <a:lstStyle/>
          <a:p>
            <a:pPr marL="0" indent="0" algn="l">
              <a:buNone/>
            </a:pPr>
            <a:r>
              <a:rPr lang="en-US" sz="1251" b="1" dirty="0">
                <a:solidFill>
                  <a:srgbClr val="F5F6F7"/>
                </a:solidFill>
                <a:latin typeface="Arial" pitchFamily="34" charset="0"/>
                <a:ea typeface="Arial" pitchFamily="34" charset="-122"/>
                <a:cs typeface="Arial" pitchFamily="34" charset="-120"/>
              </a:rPr>
              <a:t>Opportunity</a:t>
            </a:r>
            <a:endParaRPr lang="en-US" sz="1251" dirty="0"/>
          </a:p>
        </p:txBody>
      </p:sp>
      <p:sp>
        <p:nvSpPr>
          <p:cNvPr id="15" name="Text 13"/>
          <p:cNvSpPr/>
          <p:nvPr/>
        </p:nvSpPr>
        <p:spPr>
          <a:xfrm>
            <a:off x="3982212" y="3349281"/>
            <a:ext cx="2647604" cy="453875"/>
          </a:xfrm>
          <a:prstGeom prst="rect">
            <a:avLst/>
          </a:prstGeom>
          <a:noFill/>
          <a:ln/>
        </p:spPr>
        <p:txBody>
          <a:bodyPr wrap="square" lIns="0" tIns="0" rIns="0" bIns="0" rtlCol="0" anchor="t">
            <a:normAutofit/>
          </a:bodyPr>
          <a:lstStyle/>
          <a:p>
            <a:pPr marL="0" indent="0" algn="l">
              <a:buNone/>
            </a:pPr>
            <a:r>
              <a:rPr lang="en-US" sz="1132" dirty="0">
                <a:solidFill>
                  <a:srgbClr val="BDC4C9"/>
                </a:solidFill>
                <a:latin typeface="Arial" pitchFamily="34" charset="0"/>
                <a:ea typeface="Arial" pitchFamily="34" charset="-122"/>
                <a:cs typeface="Arial" pitchFamily="34" charset="-120"/>
              </a:rPr>
              <a:t>What is being pursued and why it fits.</a:t>
            </a:r>
            <a:endParaRPr lang="en-US" sz="1132" dirty="0"/>
          </a:p>
        </p:txBody>
      </p:sp>
      <p:sp>
        <p:nvSpPr>
          <p:cNvPr id="16" name="Shape 14"/>
          <p:cNvSpPr/>
          <p:nvPr/>
        </p:nvSpPr>
        <p:spPr>
          <a:xfrm>
            <a:off x="2454166" y="3697252"/>
            <a:ext cx="4175649" cy="914"/>
          </a:xfrm>
          <a:prstGeom prst="line">
            <a:avLst/>
          </a:prstGeom>
          <a:noFill/>
          <a:ln w="7565">
            <a:solidFill>
              <a:srgbClr val="4F5961"/>
            </a:solidFill>
            <a:prstDash val="solid"/>
          </a:ln>
        </p:spPr>
        <p:txBody>
          <a:bodyPr/>
          <a:lstStyle/>
          <a:p>
            <a:endParaRPr lang="nl-NL"/>
          </a:p>
        </p:txBody>
      </p:sp>
      <p:sp>
        <p:nvSpPr>
          <p:cNvPr id="17" name="Text 15"/>
          <p:cNvSpPr/>
          <p:nvPr/>
        </p:nvSpPr>
        <p:spPr>
          <a:xfrm>
            <a:off x="2454166" y="3825850"/>
            <a:ext cx="1437271" cy="453875"/>
          </a:xfrm>
          <a:prstGeom prst="rect">
            <a:avLst/>
          </a:prstGeom>
          <a:noFill/>
          <a:ln/>
        </p:spPr>
        <p:txBody>
          <a:bodyPr wrap="square" lIns="0" tIns="0" rIns="0" bIns="0" rtlCol="0" anchor="t">
            <a:normAutofit/>
          </a:bodyPr>
          <a:lstStyle/>
          <a:p>
            <a:pPr marL="0" indent="0" algn="l">
              <a:buNone/>
            </a:pPr>
            <a:r>
              <a:rPr lang="en-US" sz="1251" b="1" dirty="0">
                <a:solidFill>
                  <a:srgbClr val="F5F6F7"/>
                </a:solidFill>
                <a:latin typeface="Arial" pitchFamily="34" charset="0"/>
                <a:ea typeface="Arial" pitchFamily="34" charset="-122"/>
                <a:cs typeface="Arial" pitchFamily="34" charset="-120"/>
              </a:rPr>
              <a:t>Combined offer</a:t>
            </a:r>
            <a:endParaRPr lang="en-US" sz="1251" dirty="0"/>
          </a:p>
        </p:txBody>
      </p:sp>
      <p:sp>
        <p:nvSpPr>
          <p:cNvPr id="18" name="Text 16"/>
          <p:cNvSpPr/>
          <p:nvPr/>
        </p:nvSpPr>
        <p:spPr>
          <a:xfrm>
            <a:off x="3982212" y="3825850"/>
            <a:ext cx="2647604" cy="453875"/>
          </a:xfrm>
          <a:prstGeom prst="rect">
            <a:avLst/>
          </a:prstGeom>
          <a:noFill/>
          <a:ln/>
        </p:spPr>
        <p:txBody>
          <a:bodyPr wrap="square" lIns="0" tIns="0" rIns="0" bIns="0" rtlCol="0" anchor="t">
            <a:normAutofit/>
          </a:bodyPr>
          <a:lstStyle/>
          <a:p>
            <a:pPr marL="0" indent="0" algn="l">
              <a:buNone/>
            </a:pPr>
            <a:r>
              <a:rPr lang="en-US" sz="1132" dirty="0">
                <a:solidFill>
                  <a:srgbClr val="BDC4C9"/>
                </a:solidFill>
                <a:latin typeface="Arial" pitchFamily="34" charset="0"/>
                <a:ea typeface="Arial" pitchFamily="34" charset="-122"/>
                <a:cs typeface="Arial" pitchFamily="34" charset="-120"/>
              </a:rPr>
              <a:t>Vehicle, parts and aftersales scope.</a:t>
            </a:r>
            <a:endParaRPr lang="en-US" sz="1132" dirty="0"/>
          </a:p>
        </p:txBody>
      </p:sp>
      <p:sp>
        <p:nvSpPr>
          <p:cNvPr id="19" name="Shape 17"/>
          <p:cNvSpPr/>
          <p:nvPr/>
        </p:nvSpPr>
        <p:spPr>
          <a:xfrm>
            <a:off x="2454166" y="4173820"/>
            <a:ext cx="4175649" cy="914"/>
          </a:xfrm>
          <a:prstGeom prst="line">
            <a:avLst/>
          </a:prstGeom>
          <a:noFill/>
          <a:ln w="7565">
            <a:solidFill>
              <a:srgbClr val="4F5961"/>
            </a:solidFill>
            <a:prstDash val="solid"/>
          </a:ln>
        </p:spPr>
        <p:txBody>
          <a:bodyPr/>
          <a:lstStyle/>
          <a:p>
            <a:endParaRPr lang="nl-NL"/>
          </a:p>
        </p:txBody>
      </p:sp>
      <p:sp>
        <p:nvSpPr>
          <p:cNvPr id="20" name="Text 18"/>
          <p:cNvSpPr/>
          <p:nvPr/>
        </p:nvSpPr>
        <p:spPr>
          <a:xfrm>
            <a:off x="2454166" y="4302418"/>
            <a:ext cx="1437271" cy="453875"/>
          </a:xfrm>
          <a:prstGeom prst="rect">
            <a:avLst/>
          </a:prstGeom>
          <a:noFill/>
          <a:ln/>
        </p:spPr>
        <p:txBody>
          <a:bodyPr wrap="square" lIns="0" tIns="0" rIns="0" bIns="0" rtlCol="0" anchor="t">
            <a:normAutofit/>
          </a:bodyPr>
          <a:lstStyle/>
          <a:p>
            <a:pPr marL="0" indent="0" algn="l">
              <a:buNone/>
            </a:pPr>
            <a:r>
              <a:rPr lang="en-US" sz="1251" b="1" dirty="0">
                <a:solidFill>
                  <a:srgbClr val="F5F6F7"/>
                </a:solidFill>
                <a:latin typeface="Arial" pitchFamily="34" charset="0"/>
                <a:ea typeface="Arial" pitchFamily="34" charset="-122"/>
                <a:cs typeface="Arial" pitchFamily="34" charset="-120"/>
              </a:rPr>
              <a:t>Requested decision</a:t>
            </a:r>
            <a:endParaRPr lang="en-US" sz="1251" dirty="0"/>
          </a:p>
        </p:txBody>
      </p:sp>
      <p:sp>
        <p:nvSpPr>
          <p:cNvPr id="21" name="Text 19"/>
          <p:cNvSpPr/>
          <p:nvPr/>
        </p:nvSpPr>
        <p:spPr>
          <a:xfrm>
            <a:off x="3982212" y="4302418"/>
            <a:ext cx="2647604" cy="453875"/>
          </a:xfrm>
          <a:prstGeom prst="rect">
            <a:avLst/>
          </a:prstGeom>
          <a:noFill/>
          <a:ln/>
        </p:spPr>
        <p:txBody>
          <a:bodyPr wrap="square" lIns="0" tIns="0" rIns="0" bIns="0" rtlCol="0" anchor="t">
            <a:normAutofit/>
          </a:bodyPr>
          <a:lstStyle/>
          <a:p>
            <a:pPr marL="0" indent="0" algn="l">
              <a:buNone/>
            </a:pPr>
            <a:r>
              <a:rPr lang="en-US" sz="1132" dirty="0">
                <a:solidFill>
                  <a:srgbClr val="BDC4C9"/>
                </a:solidFill>
                <a:latin typeface="Arial" pitchFamily="34" charset="0"/>
                <a:ea typeface="Arial" pitchFamily="34" charset="-122"/>
                <a:cs typeface="Arial" pitchFamily="34" charset="-120"/>
              </a:rPr>
              <a:t>What support would change the offer.</a:t>
            </a:r>
            <a:endParaRPr lang="en-US" sz="1132" dirty="0"/>
          </a:p>
        </p:txBody>
      </p:sp>
      <p:sp>
        <p:nvSpPr>
          <p:cNvPr id="22" name="Shape 20"/>
          <p:cNvSpPr/>
          <p:nvPr/>
        </p:nvSpPr>
        <p:spPr>
          <a:xfrm>
            <a:off x="2454166" y="4650389"/>
            <a:ext cx="4175649" cy="914"/>
          </a:xfrm>
          <a:prstGeom prst="line">
            <a:avLst/>
          </a:prstGeom>
          <a:noFill/>
          <a:ln w="7565">
            <a:solidFill>
              <a:srgbClr val="4F5961"/>
            </a:solidFill>
            <a:prstDash val="solid"/>
          </a:ln>
        </p:spPr>
        <p:txBody>
          <a:bodyPr/>
          <a:lstStyle/>
          <a:p>
            <a:endParaRPr lang="nl-NL"/>
          </a:p>
        </p:txBody>
      </p:sp>
      <p:sp>
        <p:nvSpPr>
          <p:cNvPr id="23" name="Text 21"/>
          <p:cNvSpPr/>
          <p:nvPr/>
        </p:nvSpPr>
        <p:spPr>
          <a:xfrm>
            <a:off x="2454166" y="4778987"/>
            <a:ext cx="1437271" cy="453875"/>
          </a:xfrm>
          <a:prstGeom prst="rect">
            <a:avLst/>
          </a:prstGeom>
          <a:noFill/>
          <a:ln/>
        </p:spPr>
        <p:txBody>
          <a:bodyPr wrap="square" lIns="0" tIns="0" rIns="0" bIns="0" rtlCol="0" anchor="t">
            <a:normAutofit/>
          </a:bodyPr>
          <a:lstStyle/>
          <a:p>
            <a:pPr marL="0" indent="0" algn="l">
              <a:buNone/>
            </a:pPr>
            <a:r>
              <a:rPr lang="en-US" sz="1251" b="1" dirty="0">
                <a:solidFill>
                  <a:srgbClr val="F5F6F7"/>
                </a:solidFill>
                <a:latin typeface="Arial" pitchFamily="34" charset="0"/>
                <a:ea typeface="Arial" pitchFamily="34" charset="-122"/>
                <a:cs typeface="Arial" pitchFamily="34" charset="-120"/>
              </a:rPr>
              <a:t>Commercial basis</a:t>
            </a:r>
            <a:endParaRPr lang="en-US" sz="1251" dirty="0"/>
          </a:p>
        </p:txBody>
      </p:sp>
      <p:sp>
        <p:nvSpPr>
          <p:cNvPr id="24" name="Text 22"/>
          <p:cNvSpPr/>
          <p:nvPr/>
        </p:nvSpPr>
        <p:spPr>
          <a:xfrm>
            <a:off x="3982212" y="4778987"/>
            <a:ext cx="2647604" cy="453875"/>
          </a:xfrm>
          <a:prstGeom prst="rect">
            <a:avLst/>
          </a:prstGeom>
          <a:noFill/>
          <a:ln/>
        </p:spPr>
        <p:txBody>
          <a:bodyPr wrap="square" lIns="0" tIns="0" rIns="0" bIns="0" rtlCol="0" anchor="t">
            <a:normAutofit/>
          </a:bodyPr>
          <a:lstStyle/>
          <a:p>
            <a:pPr marL="0" indent="0" algn="l">
              <a:buNone/>
            </a:pPr>
            <a:r>
              <a:rPr lang="en-US" sz="1132" dirty="0">
                <a:solidFill>
                  <a:srgbClr val="BDC4C9"/>
                </a:solidFill>
                <a:latin typeface="Arial" pitchFamily="34" charset="0"/>
                <a:ea typeface="Arial" pitchFamily="34" charset="-122"/>
                <a:cs typeface="Arial" pitchFamily="34" charset="-120"/>
              </a:rPr>
              <a:t>Eligible scope, comparison and assumptions.</a:t>
            </a:r>
            <a:endParaRPr lang="en-US" sz="1132" dirty="0"/>
          </a:p>
        </p:txBody>
      </p:sp>
      <p:sp>
        <p:nvSpPr>
          <p:cNvPr id="25" name="Shape 23"/>
          <p:cNvSpPr/>
          <p:nvPr/>
        </p:nvSpPr>
        <p:spPr>
          <a:xfrm>
            <a:off x="2454166" y="5126958"/>
            <a:ext cx="4175649" cy="914"/>
          </a:xfrm>
          <a:prstGeom prst="line">
            <a:avLst/>
          </a:prstGeom>
          <a:noFill/>
          <a:ln w="7565">
            <a:solidFill>
              <a:srgbClr val="4F5961"/>
            </a:solidFill>
            <a:prstDash val="solid"/>
          </a:ln>
        </p:spPr>
        <p:txBody>
          <a:bodyPr/>
          <a:lstStyle/>
          <a:p>
            <a:endParaRPr lang="nl-NL"/>
          </a:p>
        </p:txBody>
      </p:sp>
      <p:sp>
        <p:nvSpPr>
          <p:cNvPr id="26" name="Text 24"/>
          <p:cNvSpPr/>
          <p:nvPr/>
        </p:nvSpPr>
        <p:spPr>
          <a:xfrm>
            <a:off x="2454166" y="5255556"/>
            <a:ext cx="1437271" cy="453875"/>
          </a:xfrm>
          <a:prstGeom prst="rect">
            <a:avLst/>
          </a:prstGeom>
          <a:noFill/>
          <a:ln/>
        </p:spPr>
        <p:txBody>
          <a:bodyPr wrap="square" lIns="0" tIns="0" rIns="0" bIns="0" rtlCol="0" anchor="t">
            <a:normAutofit/>
          </a:bodyPr>
          <a:lstStyle/>
          <a:p>
            <a:pPr marL="0" indent="0" algn="l">
              <a:buNone/>
            </a:pPr>
            <a:r>
              <a:rPr lang="en-US" sz="1251" b="1" dirty="0">
                <a:solidFill>
                  <a:srgbClr val="F5F6F7"/>
                </a:solidFill>
                <a:latin typeface="Arial" pitchFamily="34" charset="0"/>
                <a:ea typeface="Arial" pitchFamily="34" charset="-122"/>
                <a:cs typeface="Arial" pitchFamily="34" charset="-120"/>
              </a:rPr>
              <a:t>Conditions</a:t>
            </a:r>
            <a:endParaRPr lang="en-US" sz="1251" dirty="0"/>
          </a:p>
        </p:txBody>
      </p:sp>
      <p:sp>
        <p:nvSpPr>
          <p:cNvPr id="27" name="Text 25"/>
          <p:cNvSpPr/>
          <p:nvPr/>
        </p:nvSpPr>
        <p:spPr>
          <a:xfrm>
            <a:off x="3982212" y="5255556"/>
            <a:ext cx="2647604" cy="453875"/>
          </a:xfrm>
          <a:prstGeom prst="rect">
            <a:avLst/>
          </a:prstGeom>
          <a:noFill/>
          <a:ln/>
        </p:spPr>
        <p:txBody>
          <a:bodyPr wrap="square" lIns="0" tIns="0" rIns="0" bIns="0" rtlCol="0" anchor="t">
            <a:normAutofit/>
          </a:bodyPr>
          <a:lstStyle/>
          <a:p>
            <a:pPr marL="0" indent="0" algn="l">
              <a:buNone/>
            </a:pPr>
            <a:r>
              <a:rPr lang="en-US" sz="1132" dirty="0">
                <a:solidFill>
                  <a:srgbClr val="BDC4C9"/>
                </a:solidFill>
                <a:latin typeface="Arial" pitchFamily="34" charset="0"/>
                <a:ea typeface="Arial" pitchFamily="34" charset="-122"/>
                <a:cs typeface="Arial" pitchFamily="34" charset="-120"/>
              </a:rPr>
              <a:t>Owners, dates and unresolved requirements.</a:t>
            </a:r>
            <a:endParaRPr lang="en-US" sz="1132" dirty="0"/>
          </a:p>
        </p:txBody>
      </p:sp>
      <p:sp>
        <p:nvSpPr>
          <p:cNvPr id="28" name="Shape 26"/>
          <p:cNvSpPr/>
          <p:nvPr/>
        </p:nvSpPr>
        <p:spPr>
          <a:xfrm>
            <a:off x="2454166" y="5603526"/>
            <a:ext cx="4175649" cy="914"/>
          </a:xfrm>
          <a:prstGeom prst="line">
            <a:avLst/>
          </a:prstGeom>
          <a:noFill/>
          <a:ln w="7565">
            <a:solidFill>
              <a:srgbClr val="4F5961"/>
            </a:solidFill>
            <a:prstDash val="solid"/>
          </a:ln>
        </p:spPr>
        <p:txBody>
          <a:bodyPr/>
          <a:lstStyle/>
          <a:p>
            <a:endParaRPr lang="nl-NL"/>
          </a:p>
        </p:txBody>
      </p:sp>
      <p:sp>
        <p:nvSpPr>
          <p:cNvPr id="29" name="Shape 27"/>
          <p:cNvSpPr/>
          <p:nvPr/>
        </p:nvSpPr>
        <p:spPr>
          <a:xfrm>
            <a:off x="7446790" y="3296329"/>
            <a:ext cx="2397972" cy="1966791"/>
          </a:xfrm>
          <a:prstGeom prst="roundRect">
            <a:avLst>
              <a:gd name="adj" fmla="val 1860"/>
            </a:avLst>
          </a:prstGeom>
          <a:solidFill>
            <a:srgbClr val="383F44"/>
          </a:solidFill>
          <a:ln w="8890">
            <a:solidFill>
              <a:srgbClr val="D71920"/>
            </a:solidFill>
            <a:prstDash val="solid"/>
          </a:ln>
        </p:spPr>
        <p:txBody>
          <a:bodyPr/>
          <a:lstStyle/>
          <a:p>
            <a:endParaRPr lang="nl-NL"/>
          </a:p>
        </p:txBody>
      </p:sp>
      <p:sp>
        <p:nvSpPr>
          <p:cNvPr id="30" name="Shape 28"/>
          <p:cNvSpPr/>
          <p:nvPr/>
        </p:nvSpPr>
        <p:spPr>
          <a:xfrm>
            <a:off x="7446790" y="3402233"/>
            <a:ext cx="30258" cy="1754983"/>
          </a:xfrm>
          <a:prstGeom prst="rect">
            <a:avLst/>
          </a:prstGeom>
          <a:solidFill>
            <a:srgbClr val="D71920"/>
          </a:solidFill>
          <a:ln w="12700">
            <a:solidFill>
              <a:srgbClr val="24282C">
                <a:alpha val="0"/>
              </a:srgbClr>
            </a:solidFill>
            <a:prstDash val="solid"/>
          </a:ln>
        </p:spPr>
        <p:txBody>
          <a:bodyPr/>
          <a:lstStyle/>
          <a:p>
            <a:endParaRPr lang="nl-NL"/>
          </a:p>
        </p:txBody>
      </p:sp>
      <p:sp>
        <p:nvSpPr>
          <p:cNvPr id="31" name="Text 29"/>
          <p:cNvSpPr/>
          <p:nvPr/>
        </p:nvSpPr>
        <p:spPr>
          <a:xfrm>
            <a:off x="7575388" y="3417362"/>
            <a:ext cx="2140777" cy="484133"/>
          </a:xfrm>
          <a:prstGeom prst="rect">
            <a:avLst/>
          </a:prstGeom>
          <a:noFill/>
          <a:ln/>
        </p:spPr>
        <p:txBody>
          <a:bodyPr wrap="square" lIns="0" tIns="0" rIns="0" bIns="0" rtlCol="0" anchor="t">
            <a:normAutofit/>
          </a:bodyPr>
          <a:lstStyle/>
          <a:p>
            <a:pPr marL="0" indent="0" algn="l">
              <a:buNone/>
            </a:pPr>
            <a:r>
              <a:rPr lang="en-US" sz="1489" b="1" dirty="0">
                <a:solidFill>
                  <a:srgbClr val="F5F6F7"/>
                </a:solidFill>
                <a:latin typeface="Arial" pitchFamily="34" charset="0"/>
                <a:ea typeface="Arial" pitchFamily="34" charset="-122"/>
                <a:cs typeface="Arial" pitchFamily="34" charset="-120"/>
              </a:rPr>
              <a:t>A clear decision</a:t>
            </a:r>
            <a:endParaRPr lang="en-US" sz="1489" dirty="0"/>
          </a:p>
        </p:txBody>
      </p:sp>
      <p:sp>
        <p:nvSpPr>
          <p:cNvPr id="32" name="Text 30"/>
          <p:cNvSpPr/>
          <p:nvPr/>
        </p:nvSpPr>
        <p:spPr>
          <a:xfrm>
            <a:off x="7575388" y="3954447"/>
            <a:ext cx="2140777" cy="1217898"/>
          </a:xfrm>
          <a:prstGeom prst="rect">
            <a:avLst/>
          </a:prstGeom>
          <a:noFill/>
          <a:ln/>
        </p:spPr>
        <p:txBody>
          <a:bodyPr wrap="square" lIns="0" tIns="0" rIns="0" bIns="0" rtlCol="0" anchor="t">
            <a:normAutofit/>
          </a:bodyPr>
          <a:lstStyle/>
          <a:p>
            <a:pPr marL="0" indent="0" algn="l">
              <a:buNone/>
            </a:pPr>
            <a:r>
              <a:rPr lang="en-US" sz="1191" dirty="0">
                <a:solidFill>
                  <a:srgbClr val="BDC4C9"/>
                </a:solidFill>
                <a:latin typeface="Arial" pitchFamily="34" charset="0"/>
                <a:ea typeface="Arial" pitchFamily="34" charset="-122"/>
                <a:cs typeface="Arial" pitchFamily="34" charset="-120"/>
              </a:rPr>
              <a:t>Accept, amend, decline or identify the precise missing evidence.</a:t>
            </a:r>
            <a:endParaRPr lang="en-US" sz="1191" dirty="0"/>
          </a:p>
        </p:txBody>
      </p:sp>
      <p:sp>
        <p:nvSpPr>
          <p:cNvPr id="33" name="Shape 31"/>
          <p:cNvSpPr/>
          <p:nvPr/>
        </p:nvSpPr>
        <p:spPr>
          <a:xfrm>
            <a:off x="6917270" y="4302418"/>
            <a:ext cx="461439" cy="914"/>
          </a:xfrm>
          <a:prstGeom prst="line">
            <a:avLst/>
          </a:prstGeom>
          <a:noFill/>
          <a:ln w="22694">
            <a:solidFill>
              <a:srgbClr val="D71920"/>
            </a:solidFill>
            <a:prstDash val="solid"/>
            <a:tailEnd type="triangle"/>
          </a:ln>
        </p:spPr>
        <p:txBody>
          <a:bodyPr/>
          <a:lstStyle/>
          <a:p>
            <a:endParaRPr lang="nl-NL"/>
          </a:p>
        </p:txBody>
      </p:sp>
      <p:sp>
        <p:nvSpPr>
          <p:cNvPr id="34" name="Text 32"/>
          <p:cNvSpPr/>
          <p:nvPr/>
        </p:nvSpPr>
        <p:spPr>
          <a:xfrm>
            <a:off x="548640" y="6035040"/>
            <a:ext cx="10954512" cy="219456"/>
          </a:xfrm>
          <a:prstGeom prst="rect">
            <a:avLst/>
          </a:prstGeom>
          <a:noFill/>
          <a:ln/>
        </p:spPr>
        <p:txBody>
          <a:bodyPr wrap="square" lIns="0" tIns="0" rIns="0" bIns="0" rtlCol="0" anchor="t">
            <a:normAutofit/>
          </a:bodyPr>
          <a:lstStyle/>
          <a:p>
            <a:pPr marL="0" indent="0" algn="l">
              <a:buNone/>
            </a:pPr>
            <a:r>
              <a:rPr lang="en-US" sz="840" dirty="0">
                <a:solidFill>
                  <a:srgbClr val="BDC4C9"/>
                </a:solidFill>
                <a:latin typeface="Arial" pitchFamily="34" charset="0"/>
                <a:ea typeface="Arial" pitchFamily="34" charset="-122"/>
                <a:cs typeface="Arial" pitchFamily="34" charset="-120"/>
              </a:rPr>
              <a:t>Proposed design / relationships, not measured effects.</a:t>
            </a:r>
            <a:endParaRPr lang="en-US" sz="84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24282C"/>
        </a:solidFill>
        <a:effectLst/>
      </p:bgPr>
    </p:bg>
    <p:spTree>
      <p:nvGrpSpPr>
        <p:cNvPr id="1" name=""/>
        <p:cNvGrpSpPr/>
        <p:nvPr/>
      </p:nvGrpSpPr>
      <p:grpSpPr>
        <a:xfrm>
          <a:off x="0" y="0"/>
          <a:ext cx="0" cy="0"/>
          <a:chOff x="0" y="0"/>
          <a:chExt cx="0" cy="0"/>
        </a:xfrm>
      </p:grpSpPr>
      <p:sp>
        <p:nvSpPr>
          <p:cNvPr id="2" name="Text 0"/>
          <p:cNvSpPr/>
          <p:nvPr/>
        </p:nvSpPr>
        <p:spPr>
          <a:xfrm>
            <a:off x="484632" y="173736"/>
            <a:ext cx="2743200" cy="201168"/>
          </a:xfrm>
          <a:prstGeom prst="rect">
            <a:avLst/>
          </a:prstGeom>
          <a:noFill/>
          <a:ln/>
        </p:spPr>
        <p:txBody>
          <a:bodyPr wrap="square" lIns="0" tIns="0" rIns="0" bIns="0" rtlCol="0" anchor="t">
            <a:normAutofit/>
          </a:bodyPr>
          <a:lstStyle/>
          <a:p>
            <a:pPr marL="0" indent="0" algn="l">
              <a:buNone/>
            </a:pPr>
            <a:r>
              <a:rPr lang="en-US" sz="1000" b="1" dirty="0">
                <a:solidFill>
                  <a:srgbClr val="F5F6F7"/>
                </a:solidFill>
                <a:latin typeface="Arial" pitchFamily="34" charset="0"/>
                <a:ea typeface="Arial" pitchFamily="34" charset="-122"/>
                <a:cs typeface="Arial" pitchFamily="34" charset="-120"/>
              </a:rPr>
              <a:t>ISUZU / UNIVERSE</a:t>
            </a:r>
            <a:endParaRPr lang="en-US" sz="1000" dirty="0"/>
          </a:p>
        </p:txBody>
      </p:sp>
      <p:sp>
        <p:nvSpPr>
          <p:cNvPr id="3" name="Text 1"/>
          <p:cNvSpPr/>
          <p:nvPr/>
        </p:nvSpPr>
        <p:spPr>
          <a:xfrm>
            <a:off x="8046720" y="173736"/>
            <a:ext cx="3657600" cy="201168"/>
          </a:xfrm>
          <a:prstGeom prst="rect">
            <a:avLst/>
          </a:prstGeom>
          <a:noFill/>
          <a:ln/>
        </p:spPr>
        <p:txBody>
          <a:bodyPr wrap="square" lIns="0" tIns="0" rIns="0" bIns="0" rtlCol="0" anchor="t">
            <a:normAutofit/>
          </a:bodyPr>
          <a:lstStyle/>
          <a:p>
            <a:pPr marL="0" indent="0" algn="r">
              <a:buNone/>
            </a:pPr>
            <a:r>
              <a:rPr lang="en-US" sz="900" dirty="0">
                <a:solidFill>
                  <a:srgbClr val="BDC4C9"/>
                </a:solidFill>
                <a:latin typeface="Arial" pitchFamily="34" charset="0"/>
                <a:ea typeface="Arial" pitchFamily="34" charset="-122"/>
                <a:cs typeface="Arial" pitchFamily="34" charset="-120"/>
              </a:rPr>
              <a:t>COMMERCIAL VISION  /  3.0</a:t>
            </a:r>
            <a:endParaRPr lang="en-US" sz="900" dirty="0"/>
          </a:p>
        </p:txBody>
      </p:sp>
      <p:sp>
        <p:nvSpPr>
          <p:cNvPr id="4" name="Shape 2"/>
          <p:cNvSpPr/>
          <p:nvPr/>
        </p:nvSpPr>
        <p:spPr>
          <a:xfrm>
            <a:off x="484632" y="512064"/>
            <a:ext cx="475488" cy="22860"/>
          </a:xfrm>
          <a:prstGeom prst="rect">
            <a:avLst/>
          </a:prstGeom>
          <a:solidFill>
            <a:srgbClr val="D71920"/>
          </a:solidFill>
          <a:ln w="12700">
            <a:solidFill>
              <a:srgbClr val="D71920">
                <a:alpha val="0"/>
              </a:srgbClr>
            </a:solidFill>
            <a:prstDash val="solid"/>
          </a:ln>
        </p:spPr>
        <p:txBody>
          <a:bodyPr/>
          <a:lstStyle/>
          <a:p>
            <a:endParaRPr lang="nl-NL"/>
          </a:p>
        </p:txBody>
      </p:sp>
      <p:sp>
        <p:nvSpPr>
          <p:cNvPr id="5" name="Text 3"/>
          <p:cNvSpPr/>
          <p:nvPr/>
        </p:nvSpPr>
        <p:spPr>
          <a:xfrm>
            <a:off x="484632" y="658368"/>
            <a:ext cx="11064240" cy="219456"/>
          </a:xfrm>
          <a:prstGeom prst="rect">
            <a:avLst/>
          </a:prstGeom>
          <a:noFill/>
          <a:ln/>
        </p:spPr>
        <p:txBody>
          <a:bodyPr wrap="square" lIns="0" tIns="0" rIns="0" bIns="0" rtlCol="0" anchor="t">
            <a:normAutofit/>
          </a:bodyPr>
          <a:lstStyle/>
          <a:p>
            <a:pPr marL="0" indent="0" algn="l">
              <a:buNone/>
            </a:pPr>
            <a:r>
              <a:rPr lang="en-US" sz="1000" b="1" dirty="0">
                <a:solidFill>
                  <a:srgbClr val="D71920"/>
                </a:solidFill>
                <a:latin typeface="Arial" pitchFamily="34" charset="0"/>
                <a:ea typeface="Arial" pitchFamily="34" charset="-122"/>
                <a:cs typeface="Arial" pitchFamily="34" charset="-120"/>
              </a:rPr>
              <a:t>TENDERS / READINESS</a:t>
            </a:r>
            <a:endParaRPr lang="en-US" sz="1000" dirty="0"/>
          </a:p>
        </p:txBody>
      </p:sp>
      <p:sp>
        <p:nvSpPr>
          <p:cNvPr id="6" name="Shape 4"/>
          <p:cNvSpPr/>
          <p:nvPr/>
        </p:nvSpPr>
        <p:spPr>
          <a:xfrm>
            <a:off x="484632" y="6446520"/>
            <a:ext cx="11219688" cy="914"/>
          </a:xfrm>
          <a:prstGeom prst="line">
            <a:avLst/>
          </a:prstGeom>
          <a:noFill/>
          <a:ln w="6350">
            <a:solidFill>
              <a:srgbClr val="647078"/>
            </a:solidFill>
            <a:prstDash val="solid"/>
          </a:ln>
        </p:spPr>
        <p:txBody>
          <a:bodyPr/>
          <a:lstStyle/>
          <a:p>
            <a:endParaRPr lang="nl-NL"/>
          </a:p>
        </p:txBody>
      </p:sp>
      <p:sp>
        <p:nvSpPr>
          <p:cNvPr id="7" name="Text 5"/>
          <p:cNvSpPr/>
          <p:nvPr/>
        </p:nvSpPr>
        <p:spPr>
          <a:xfrm>
            <a:off x="484632" y="6556248"/>
            <a:ext cx="9144000" cy="146304"/>
          </a:xfrm>
          <a:prstGeom prst="rect">
            <a:avLst/>
          </a:prstGeom>
          <a:noFill/>
          <a:ln/>
        </p:spPr>
        <p:txBody>
          <a:bodyPr wrap="square" lIns="0" tIns="0" rIns="0" bIns="0" rtlCol="0" anchor="t">
            <a:normAutofit/>
          </a:bodyPr>
          <a:lstStyle/>
          <a:p>
            <a:pPr marL="0" indent="0" algn="l">
              <a:buNone/>
            </a:pPr>
            <a:r>
              <a:rPr lang="en-US" sz="750" dirty="0">
                <a:solidFill>
                  <a:srgbClr val="BDC4C9"/>
                </a:solidFill>
                <a:latin typeface="Arial" pitchFamily="34" charset="0"/>
                <a:ea typeface="Arial" pitchFamily="34" charset="-122"/>
                <a:cs typeface="Arial" pitchFamily="34" charset="-120"/>
              </a:rPr>
              <a:t>22 SEPTEMBER 2026  /  CONCEPT AND APPLICATION EXAMPLES</a:t>
            </a:r>
            <a:endParaRPr lang="en-US" sz="750" dirty="0"/>
          </a:p>
        </p:txBody>
      </p:sp>
      <p:sp>
        <p:nvSpPr>
          <p:cNvPr id="8" name="Text 6"/>
          <p:cNvSpPr/>
          <p:nvPr/>
        </p:nvSpPr>
        <p:spPr>
          <a:xfrm>
            <a:off x="10789920" y="6547104"/>
            <a:ext cx="914400" cy="173736"/>
          </a:xfrm>
          <a:prstGeom prst="rect">
            <a:avLst/>
          </a:prstGeom>
          <a:noFill/>
          <a:ln/>
        </p:spPr>
        <p:txBody>
          <a:bodyPr wrap="square" lIns="0" tIns="0" rIns="0" bIns="0" rtlCol="0" anchor="t">
            <a:normAutofit/>
          </a:bodyPr>
          <a:lstStyle/>
          <a:p>
            <a:pPr marL="0" indent="0" algn="r">
              <a:buNone/>
            </a:pPr>
            <a:r>
              <a:rPr lang="en-US" sz="850" dirty="0">
                <a:solidFill>
                  <a:srgbClr val="BDC4C9"/>
                </a:solidFill>
                <a:latin typeface="Arial" pitchFamily="34" charset="0"/>
                <a:ea typeface="Arial" pitchFamily="34" charset="-122"/>
                <a:cs typeface="Arial" pitchFamily="34" charset="-120"/>
              </a:rPr>
              <a:t>24 / 49</a:t>
            </a:r>
            <a:endParaRPr lang="en-US" sz="850" dirty="0"/>
          </a:p>
        </p:txBody>
      </p:sp>
      <p:sp>
        <p:nvSpPr>
          <p:cNvPr id="9" name="Text 7"/>
          <p:cNvSpPr/>
          <p:nvPr/>
        </p:nvSpPr>
        <p:spPr>
          <a:xfrm>
            <a:off x="502920" y="1005840"/>
            <a:ext cx="11036808" cy="841248"/>
          </a:xfrm>
          <a:prstGeom prst="rect">
            <a:avLst/>
          </a:prstGeom>
          <a:noFill/>
          <a:ln/>
        </p:spPr>
        <p:txBody>
          <a:bodyPr wrap="square" lIns="0" tIns="0" rIns="0" bIns="0" rtlCol="0" anchor="t">
            <a:normAutofit/>
          </a:bodyPr>
          <a:lstStyle/>
          <a:p>
            <a:pPr marL="0" indent="0" algn="l">
              <a:buNone/>
            </a:pPr>
            <a:r>
              <a:rPr lang="en-US" sz="3400" b="1" dirty="0">
                <a:solidFill>
                  <a:srgbClr val="F5F6F7"/>
                </a:solidFill>
                <a:latin typeface="Arial" pitchFamily="34" charset="0"/>
                <a:ea typeface="Arial" pitchFamily="34" charset="-122"/>
                <a:cs typeface="Arial" pitchFamily="34" charset="-120"/>
              </a:rPr>
              <a:t>Explain readiness without an artificial score.</a:t>
            </a:r>
            <a:endParaRPr lang="en-US" sz="3400" dirty="0"/>
          </a:p>
        </p:txBody>
      </p:sp>
      <p:sp>
        <p:nvSpPr>
          <p:cNvPr id="10" name="Text 8"/>
          <p:cNvSpPr/>
          <p:nvPr/>
        </p:nvSpPr>
        <p:spPr>
          <a:xfrm>
            <a:off x="530352" y="1865376"/>
            <a:ext cx="10954512" cy="566928"/>
          </a:xfrm>
          <a:prstGeom prst="rect">
            <a:avLst/>
          </a:prstGeom>
          <a:noFill/>
          <a:ln/>
        </p:spPr>
        <p:txBody>
          <a:bodyPr wrap="square" lIns="0" tIns="0" rIns="0" bIns="0" rtlCol="0" anchor="t">
            <a:normAutofit/>
          </a:bodyPr>
          <a:lstStyle/>
          <a:p>
            <a:pPr marL="0" indent="0" algn="l">
              <a:buNone/>
            </a:pPr>
            <a:r>
              <a:rPr lang="en-US" sz="1800" dirty="0">
                <a:solidFill>
                  <a:srgbClr val="BDC4C9"/>
                </a:solidFill>
                <a:latin typeface="Arial" pitchFamily="34" charset="0"/>
                <a:ea typeface="Arial" pitchFamily="34" charset="-122"/>
                <a:cs typeface="Arial" pitchFamily="34" charset="-120"/>
              </a:rPr>
              <a:t>Preparation is not approval, award probability or realised business.</a:t>
            </a:r>
            <a:endParaRPr lang="en-US" sz="1800" dirty="0"/>
          </a:p>
        </p:txBody>
      </p:sp>
      <p:sp>
        <p:nvSpPr>
          <p:cNvPr id="11" name="Shape 9"/>
          <p:cNvSpPr/>
          <p:nvPr/>
        </p:nvSpPr>
        <p:spPr>
          <a:xfrm>
            <a:off x="1374562" y="2773414"/>
            <a:ext cx="2981511" cy="1059468"/>
          </a:xfrm>
          <a:prstGeom prst="roundRect">
            <a:avLst>
              <a:gd name="adj" fmla="val 3452"/>
            </a:avLst>
          </a:prstGeom>
          <a:solidFill>
            <a:srgbClr val="30363B"/>
          </a:solidFill>
          <a:ln w="8890">
            <a:solidFill>
              <a:srgbClr val="4B5963"/>
            </a:solidFill>
            <a:prstDash val="solid"/>
          </a:ln>
        </p:spPr>
        <p:txBody>
          <a:bodyPr/>
          <a:lstStyle/>
          <a:p>
            <a:endParaRPr lang="nl-NL"/>
          </a:p>
        </p:txBody>
      </p:sp>
      <p:sp>
        <p:nvSpPr>
          <p:cNvPr id="12" name="Shape 10"/>
          <p:cNvSpPr/>
          <p:nvPr/>
        </p:nvSpPr>
        <p:spPr>
          <a:xfrm>
            <a:off x="1552703" y="2970306"/>
            <a:ext cx="187516" cy="187516"/>
          </a:xfrm>
          <a:prstGeom prst="ellipse">
            <a:avLst/>
          </a:prstGeom>
          <a:solidFill>
            <a:srgbClr val="24282C">
              <a:alpha val="0"/>
            </a:srgbClr>
          </a:solidFill>
          <a:ln w="8890">
            <a:solidFill>
              <a:srgbClr val="D71920"/>
            </a:solidFill>
            <a:prstDash val="solid"/>
          </a:ln>
        </p:spPr>
        <p:txBody>
          <a:bodyPr/>
          <a:lstStyle/>
          <a:p>
            <a:endParaRPr lang="nl-NL"/>
          </a:p>
        </p:txBody>
      </p:sp>
      <p:sp>
        <p:nvSpPr>
          <p:cNvPr id="13" name="Text 11"/>
          <p:cNvSpPr/>
          <p:nvPr/>
        </p:nvSpPr>
        <p:spPr>
          <a:xfrm>
            <a:off x="1843353" y="2932803"/>
            <a:ext cx="2325203" cy="562549"/>
          </a:xfrm>
          <a:prstGeom prst="rect">
            <a:avLst/>
          </a:prstGeom>
          <a:noFill/>
          <a:ln/>
        </p:spPr>
        <p:txBody>
          <a:bodyPr wrap="square" lIns="0" tIns="0" rIns="0" bIns="0" rtlCol="0" anchor="t">
            <a:normAutofit/>
          </a:bodyPr>
          <a:lstStyle/>
          <a:p>
            <a:pPr marL="0" indent="0" algn="l">
              <a:buNone/>
            </a:pPr>
            <a:r>
              <a:rPr lang="en-US" sz="1698" b="1" dirty="0">
                <a:solidFill>
                  <a:srgbClr val="F5F6F7"/>
                </a:solidFill>
                <a:latin typeface="Arial" pitchFamily="34" charset="0"/>
                <a:ea typeface="Arial" pitchFamily="34" charset="-122"/>
                <a:cs typeface="Arial" pitchFamily="34" charset="-120"/>
              </a:rPr>
              <a:t>Requirements</a:t>
            </a:r>
            <a:endParaRPr lang="en-US" sz="1698" dirty="0"/>
          </a:p>
        </p:txBody>
      </p:sp>
      <p:sp>
        <p:nvSpPr>
          <p:cNvPr id="14" name="Text 12"/>
          <p:cNvSpPr/>
          <p:nvPr/>
        </p:nvSpPr>
        <p:spPr>
          <a:xfrm>
            <a:off x="1580830" y="3410970"/>
            <a:ext cx="2550223" cy="562549"/>
          </a:xfrm>
          <a:prstGeom prst="rect">
            <a:avLst/>
          </a:prstGeom>
          <a:noFill/>
          <a:ln/>
        </p:spPr>
        <p:txBody>
          <a:bodyPr wrap="square" lIns="0" tIns="0" rIns="0" bIns="0" rtlCol="0" anchor="t">
            <a:normAutofit/>
          </a:bodyPr>
          <a:lstStyle/>
          <a:p>
            <a:pPr marL="0" indent="0" algn="l">
              <a:buNone/>
            </a:pPr>
            <a:r>
              <a:rPr lang="en-US" sz="1329" dirty="0">
                <a:solidFill>
                  <a:srgbClr val="BDC4C9"/>
                </a:solidFill>
                <a:latin typeface="Arial" pitchFamily="34" charset="0"/>
                <a:ea typeface="Arial" pitchFamily="34" charset="-122"/>
                <a:cs typeface="Arial" pitchFamily="34" charset="-120"/>
              </a:rPr>
              <a:t>Confirm in the actual proposal</a:t>
            </a:r>
            <a:endParaRPr lang="en-US" sz="1329" dirty="0"/>
          </a:p>
        </p:txBody>
      </p:sp>
      <p:sp>
        <p:nvSpPr>
          <p:cNvPr id="15" name="Shape 13"/>
          <p:cNvSpPr/>
          <p:nvPr/>
        </p:nvSpPr>
        <p:spPr>
          <a:xfrm>
            <a:off x="4571717" y="2773414"/>
            <a:ext cx="2981511" cy="1059468"/>
          </a:xfrm>
          <a:prstGeom prst="roundRect">
            <a:avLst>
              <a:gd name="adj" fmla="val 3452"/>
            </a:avLst>
          </a:prstGeom>
          <a:solidFill>
            <a:srgbClr val="30363B"/>
          </a:solidFill>
          <a:ln w="8890">
            <a:solidFill>
              <a:srgbClr val="4B5963"/>
            </a:solidFill>
            <a:prstDash val="solid"/>
          </a:ln>
        </p:spPr>
        <p:txBody>
          <a:bodyPr/>
          <a:lstStyle/>
          <a:p>
            <a:endParaRPr lang="nl-NL"/>
          </a:p>
        </p:txBody>
      </p:sp>
      <p:sp>
        <p:nvSpPr>
          <p:cNvPr id="16" name="Shape 14"/>
          <p:cNvSpPr/>
          <p:nvPr/>
        </p:nvSpPr>
        <p:spPr>
          <a:xfrm>
            <a:off x="4749857" y="2970306"/>
            <a:ext cx="187516" cy="187516"/>
          </a:xfrm>
          <a:prstGeom prst="ellipse">
            <a:avLst/>
          </a:prstGeom>
          <a:solidFill>
            <a:srgbClr val="24282C">
              <a:alpha val="0"/>
            </a:srgbClr>
          </a:solidFill>
          <a:ln w="8890">
            <a:solidFill>
              <a:srgbClr val="D71920"/>
            </a:solidFill>
            <a:prstDash val="solid"/>
          </a:ln>
        </p:spPr>
        <p:txBody>
          <a:bodyPr/>
          <a:lstStyle/>
          <a:p>
            <a:endParaRPr lang="nl-NL"/>
          </a:p>
        </p:txBody>
      </p:sp>
      <p:sp>
        <p:nvSpPr>
          <p:cNvPr id="17" name="Text 15"/>
          <p:cNvSpPr/>
          <p:nvPr/>
        </p:nvSpPr>
        <p:spPr>
          <a:xfrm>
            <a:off x="5040508" y="2932803"/>
            <a:ext cx="2325203" cy="562549"/>
          </a:xfrm>
          <a:prstGeom prst="rect">
            <a:avLst/>
          </a:prstGeom>
          <a:noFill/>
          <a:ln/>
        </p:spPr>
        <p:txBody>
          <a:bodyPr wrap="square" lIns="0" tIns="0" rIns="0" bIns="0" rtlCol="0" anchor="t">
            <a:normAutofit/>
          </a:bodyPr>
          <a:lstStyle/>
          <a:p>
            <a:pPr marL="0" indent="0" algn="l">
              <a:buNone/>
            </a:pPr>
            <a:r>
              <a:rPr lang="en-US" sz="1698" b="1" dirty="0">
                <a:solidFill>
                  <a:srgbClr val="F5F6F7"/>
                </a:solidFill>
                <a:latin typeface="Arial" pitchFamily="34" charset="0"/>
                <a:ea typeface="Arial" pitchFamily="34" charset="-122"/>
                <a:cs typeface="Arial" pitchFamily="34" charset="-120"/>
              </a:rPr>
              <a:t>Lead distributor</a:t>
            </a:r>
            <a:endParaRPr lang="en-US" sz="1698" dirty="0"/>
          </a:p>
        </p:txBody>
      </p:sp>
      <p:sp>
        <p:nvSpPr>
          <p:cNvPr id="18" name="Text 16"/>
          <p:cNvSpPr/>
          <p:nvPr/>
        </p:nvSpPr>
        <p:spPr>
          <a:xfrm>
            <a:off x="4777985" y="3410970"/>
            <a:ext cx="2550223" cy="562549"/>
          </a:xfrm>
          <a:prstGeom prst="rect">
            <a:avLst/>
          </a:prstGeom>
          <a:noFill/>
          <a:ln/>
        </p:spPr>
        <p:txBody>
          <a:bodyPr wrap="square" lIns="0" tIns="0" rIns="0" bIns="0" rtlCol="0" anchor="t">
            <a:normAutofit/>
          </a:bodyPr>
          <a:lstStyle/>
          <a:p>
            <a:pPr marL="0" indent="0" algn="l">
              <a:buNone/>
            </a:pPr>
            <a:r>
              <a:rPr lang="en-US" sz="1329" dirty="0">
                <a:solidFill>
                  <a:srgbClr val="BDC4C9"/>
                </a:solidFill>
                <a:latin typeface="Arial" pitchFamily="34" charset="0"/>
                <a:ea typeface="Arial" pitchFamily="34" charset="-122"/>
                <a:cs typeface="Arial" pitchFamily="34" charset="-120"/>
              </a:rPr>
              <a:t>Confirm in the actual proposal</a:t>
            </a:r>
            <a:endParaRPr lang="en-US" sz="1329" dirty="0"/>
          </a:p>
        </p:txBody>
      </p:sp>
      <p:sp>
        <p:nvSpPr>
          <p:cNvPr id="19" name="Shape 17"/>
          <p:cNvSpPr/>
          <p:nvPr/>
        </p:nvSpPr>
        <p:spPr>
          <a:xfrm>
            <a:off x="7768871" y="2773414"/>
            <a:ext cx="2981511" cy="1059468"/>
          </a:xfrm>
          <a:prstGeom prst="roundRect">
            <a:avLst>
              <a:gd name="adj" fmla="val 3452"/>
            </a:avLst>
          </a:prstGeom>
          <a:solidFill>
            <a:srgbClr val="30363B"/>
          </a:solidFill>
          <a:ln w="8890">
            <a:solidFill>
              <a:srgbClr val="4B5963"/>
            </a:solidFill>
            <a:prstDash val="solid"/>
          </a:ln>
        </p:spPr>
        <p:txBody>
          <a:bodyPr/>
          <a:lstStyle/>
          <a:p>
            <a:endParaRPr lang="nl-NL"/>
          </a:p>
        </p:txBody>
      </p:sp>
      <p:sp>
        <p:nvSpPr>
          <p:cNvPr id="20" name="Shape 18"/>
          <p:cNvSpPr/>
          <p:nvPr/>
        </p:nvSpPr>
        <p:spPr>
          <a:xfrm>
            <a:off x="7947012" y="2970306"/>
            <a:ext cx="187516" cy="187516"/>
          </a:xfrm>
          <a:prstGeom prst="ellipse">
            <a:avLst/>
          </a:prstGeom>
          <a:solidFill>
            <a:srgbClr val="24282C">
              <a:alpha val="0"/>
            </a:srgbClr>
          </a:solidFill>
          <a:ln w="8890">
            <a:solidFill>
              <a:srgbClr val="D71920"/>
            </a:solidFill>
            <a:prstDash val="solid"/>
          </a:ln>
        </p:spPr>
        <p:txBody>
          <a:bodyPr/>
          <a:lstStyle/>
          <a:p>
            <a:endParaRPr lang="nl-NL"/>
          </a:p>
        </p:txBody>
      </p:sp>
      <p:sp>
        <p:nvSpPr>
          <p:cNvPr id="21" name="Text 19"/>
          <p:cNvSpPr/>
          <p:nvPr/>
        </p:nvSpPr>
        <p:spPr>
          <a:xfrm>
            <a:off x="8237662" y="2932803"/>
            <a:ext cx="2325203" cy="562549"/>
          </a:xfrm>
          <a:prstGeom prst="rect">
            <a:avLst/>
          </a:prstGeom>
          <a:noFill/>
          <a:ln/>
        </p:spPr>
        <p:txBody>
          <a:bodyPr wrap="square" lIns="0" tIns="0" rIns="0" bIns="0" rtlCol="0" anchor="t">
            <a:normAutofit/>
          </a:bodyPr>
          <a:lstStyle/>
          <a:p>
            <a:pPr marL="0" indent="0" algn="l">
              <a:buNone/>
            </a:pPr>
            <a:r>
              <a:rPr lang="en-US" sz="1698" b="1" dirty="0">
                <a:solidFill>
                  <a:srgbClr val="F5F6F7"/>
                </a:solidFill>
                <a:latin typeface="Arial" pitchFamily="34" charset="0"/>
                <a:ea typeface="Arial" pitchFamily="34" charset="-122"/>
                <a:cs typeface="Arial" pitchFamily="34" charset="-120"/>
              </a:rPr>
              <a:t>Relevant functions</a:t>
            </a:r>
            <a:endParaRPr lang="en-US" sz="1698" dirty="0"/>
          </a:p>
        </p:txBody>
      </p:sp>
      <p:sp>
        <p:nvSpPr>
          <p:cNvPr id="22" name="Text 20"/>
          <p:cNvSpPr/>
          <p:nvPr/>
        </p:nvSpPr>
        <p:spPr>
          <a:xfrm>
            <a:off x="7975139" y="3410970"/>
            <a:ext cx="2550223" cy="562549"/>
          </a:xfrm>
          <a:prstGeom prst="rect">
            <a:avLst/>
          </a:prstGeom>
          <a:noFill/>
          <a:ln/>
        </p:spPr>
        <p:txBody>
          <a:bodyPr wrap="square" lIns="0" tIns="0" rIns="0" bIns="0" rtlCol="0" anchor="t">
            <a:normAutofit/>
          </a:bodyPr>
          <a:lstStyle/>
          <a:p>
            <a:pPr marL="0" indent="0" algn="l">
              <a:buNone/>
            </a:pPr>
            <a:r>
              <a:rPr lang="en-US" sz="1329" dirty="0">
                <a:solidFill>
                  <a:srgbClr val="BDC4C9"/>
                </a:solidFill>
                <a:latin typeface="Arial" pitchFamily="34" charset="0"/>
                <a:ea typeface="Arial" pitchFamily="34" charset="-122"/>
                <a:cs typeface="Arial" pitchFamily="34" charset="-120"/>
              </a:rPr>
              <a:t>Confirm in the actual proposal</a:t>
            </a:r>
            <a:endParaRPr lang="en-US" sz="1329" dirty="0"/>
          </a:p>
        </p:txBody>
      </p:sp>
      <p:sp>
        <p:nvSpPr>
          <p:cNvPr id="23" name="Shape 21"/>
          <p:cNvSpPr/>
          <p:nvPr/>
        </p:nvSpPr>
        <p:spPr>
          <a:xfrm>
            <a:off x="1374562" y="4076653"/>
            <a:ext cx="2981511" cy="1059468"/>
          </a:xfrm>
          <a:prstGeom prst="roundRect">
            <a:avLst>
              <a:gd name="adj" fmla="val 3452"/>
            </a:avLst>
          </a:prstGeom>
          <a:solidFill>
            <a:srgbClr val="30363B"/>
          </a:solidFill>
          <a:ln w="8890">
            <a:solidFill>
              <a:srgbClr val="4B5963"/>
            </a:solidFill>
            <a:prstDash val="solid"/>
          </a:ln>
        </p:spPr>
        <p:txBody>
          <a:bodyPr/>
          <a:lstStyle/>
          <a:p>
            <a:endParaRPr lang="nl-NL"/>
          </a:p>
        </p:txBody>
      </p:sp>
      <p:sp>
        <p:nvSpPr>
          <p:cNvPr id="24" name="Shape 22"/>
          <p:cNvSpPr/>
          <p:nvPr/>
        </p:nvSpPr>
        <p:spPr>
          <a:xfrm>
            <a:off x="1552703" y="4273545"/>
            <a:ext cx="187516" cy="187516"/>
          </a:xfrm>
          <a:prstGeom prst="ellipse">
            <a:avLst/>
          </a:prstGeom>
          <a:solidFill>
            <a:srgbClr val="24282C">
              <a:alpha val="0"/>
            </a:srgbClr>
          </a:solidFill>
          <a:ln w="8890">
            <a:solidFill>
              <a:srgbClr val="D71920"/>
            </a:solidFill>
            <a:prstDash val="solid"/>
          </a:ln>
        </p:spPr>
        <p:txBody>
          <a:bodyPr/>
          <a:lstStyle/>
          <a:p>
            <a:endParaRPr lang="nl-NL"/>
          </a:p>
        </p:txBody>
      </p:sp>
      <p:sp>
        <p:nvSpPr>
          <p:cNvPr id="25" name="Text 23"/>
          <p:cNvSpPr/>
          <p:nvPr/>
        </p:nvSpPr>
        <p:spPr>
          <a:xfrm>
            <a:off x="1843353" y="4236042"/>
            <a:ext cx="2325203" cy="562549"/>
          </a:xfrm>
          <a:prstGeom prst="rect">
            <a:avLst/>
          </a:prstGeom>
          <a:noFill/>
          <a:ln/>
        </p:spPr>
        <p:txBody>
          <a:bodyPr wrap="square" lIns="0" tIns="0" rIns="0" bIns="0" rtlCol="0" anchor="t">
            <a:normAutofit/>
          </a:bodyPr>
          <a:lstStyle/>
          <a:p>
            <a:pPr marL="0" indent="0" algn="l">
              <a:buNone/>
            </a:pPr>
            <a:r>
              <a:rPr lang="en-US" sz="1698" b="1" dirty="0">
                <a:solidFill>
                  <a:srgbClr val="F5F6F7"/>
                </a:solidFill>
                <a:latin typeface="Arial" pitchFamily="34" charset="0"/>
                <a:ea typeface="Arial" pitchFamily="34" charset="-122"/>
                <a:cs typeface="Arial" pitchFamily="34" charset="-120"/>
              </a:rPr>
              <a:t>Eligible scope</a:t>
            </a:r>
            <a:endParaRPr lang="en-US" sz="1698" dirty="0"/>
          </a:p>
        </p:txBody>
      </p:sp>
      <p:sp>
        <p:nvSpPr>
          <p:cNvPr id="26" name="Text 24"/>
          <p:cNvSpPr/>
          <p:nvPr/>
        </p:nvSpPr>
        <p:spPr>
          <a:xfrm>
            <a:off x="1580830" y="4714209"/>
            <a:ext cx="2550223" cy="562549"/>
          </a:xfrm>
          <a:prstGeom prst="rect">
            <a:avLst/>
          </a:prstGeom>
          <a:noFill/>
          <a:ln/>
        </p:spPr>
        <p:txBody>
          <a:bodyPr wrap="square" lIns="0" tIns="0" rIns="0" bIns="0" rtlCol="0" anchor="t">
            <a:normAutofit/>
          </a:bodyPr>
          <a:lstStyle/>
          <a:p>
            <a:pPr marL="0" indent="0" algn="l">
              <a:buNone/>
            </a:pPr>
            <a:r>
              <a:rPr lang="en-US" sz="1329" dirty="0">
                <a:solidFill>
                  <a:srgbClr val="BDC4C9"/>
                </a:solidFill>
                <a:latin typeface="Arial" pitchFamily="34" charset="0"/>
                <a:ea typeface="Arial" pitchFamily="34" charset="-122"/>
                <a:cs typeface="Arial" pitchFamily="34" charset="-120"/>
              </a:rPr>
              <a:t>Confirm in the actual proposal</a:t>
            </a:r>
            <a:endParaRPr lang="en-US" sz="1329" dirty="0"/>
          </a:p>
        </p:txBody>
      </p:sp>
      <p:sp>
        <p:nvSpPr>
          <p:cNvPr id="27" name="Shape 25"/>
          <p:cNvSpPr/>
          <p:nvPr/>
        </p:nvSpPr>
        <p:spPr>
          <a:xfrm>
            <a:off x="4571717" y="4076653"/>
            <a:ext cx="2981511" cy="1059468"/>
          </a:xfrm>
          <a:prstGeom prst="roundRect">
            <a:avLst>
              <a:gd name="adj" fmla="val 3452"/>
            </a:avLst>
          </a:prstGeom>
          <a:solidFill>
            <a:srgbClr val="30363B"/>
          </a:solidFill>
          <a:ln w="8890">
            <a:solidFill>
              <a:srgbClr val="4B5963"/>
            </a:solidFill>
            <a:prstDash val="solid"/>
          </a:ln>
        </p:spPr>
        <p:txBody>
          <a:bodyPr/>
          <a:lstStyle/>
          <a:p>
            <a:endParaRPr lang="nl-NL"/>
          </a:p>
        </p:txBody>
      </p:sp>
      <p:sp>
        <p:nvSpPr>
          <p:cNvPr id="28" name="Shape 26"/>
          <p:cNvSpPr/>
          <p:nvPr/>
        </p:nvSpPr>
        <p:spPr>
          <a:xfrm>
            <a:off x="4749857" y="4273545"/>
            <a:ext cx="187516" cy="187516"/>
          </a:xfrm>
          <a:prstGeom prst="ellipse">
            <a:avLst/>
          </a:prstGeom>
          <a:solidFill>
            <a:srgbClr val="24282C">
              <a:alpha val="0"/>
            </a:srgbClr>
          </a:solidFill>
          <a:ln w="8890">
            <a:solidFill>
              <a:srgbClr val="D71920"/>
            </a:solidFill>
            <a:prstDash val="solid"/>
          </a:ln>
        </p:spPr>
        <p:txBody>
          <a:bodyPr/>
          <a:lstStyle/>
          <a:p>
            <a:endParaRPr lang="nl-NL"/>
          </a:p>
        </p:txBody>
      </p:sp>
      <p:sp>
        <p:nvSpPr>
          <p:cNvPr id="29" name="Text 27"/>
          <p:cNvSpPr/>
          <p:nvPr/>
        </p:nvSpPr>
        <p:spPr>
          <a:xfrm>
            <a:off x="5040508" y="4236042"/>
            <a:ext cx="2325203" cy="562549"/>
          </a:xfrm>
          <a:prstGeom prst="rect">
            <a:avLst/>
          </a:prstGeom>
          <a:noFill/>
          <a:ln/>
        </p:spPr>
        <p:txBody>
          <a:bodyPr wrap="square" lIns="0" tIns="0" rIns="0" bIns="0" rtlCol="0" anchor="t">
            <a:normAutofit/>
          </a:bodyPr>
          <a:lstStyle/>
          <a:p>
            <a:pPr marL="0" indent="0" algn="l">
              <a:buNone/>
            </a:pPr>
            <a:r>
              <a:rPr lang="en-US" sz="1698" b="1" dirty="0">
                <a:solidFill>
                  <a:srgbClr val="F5F6F7"/>
                </a:solidFill>
                <a:latin typeface="Arial" pitchFamily="34" charset="0"/>
                <a:ea typeface="Arial" pitchFamily="34" charset="-122"/>
                <a:cs typeface="Arial" pitchFamily="34" charset="-120"/>
              </a:rPr>
              <a:t>Requested support</a:t>
            </a:r>
            <a:endParaRPr lang="en-US" sz="1698" dirty="0"/>
          </a:p>
        </p:txBody>
      </p:sp>
      <p:sp>
        <p:nvSpPr>
          <p:cNvPr id="30" name="Text 28"/>
          <p:cNvSpPr/>
          <p:nvPr/>
        </p:nvSpPr>
        <p:spPr>
          <a:xfrm>
            <a:off x="4777985" y="4714209"/>
            <a:ext cx="2550223" cy="562549"/>
          </a:xfrm>
          <a:prstGeom prst="rect">
            <a:avLst/>
          </a:prstGeom>
          <a:noFill/>
          <a:ln/>
        </p:spPr>
        <p:txBody>
          <a:bodyPr wrap="square" lIns="0" tIns="0" rIns="0" bIns="0" rtlCol="0" anchor="t">
            <a:normAutofit/>
          </a:bodyPr>
          <a:lstStyle/>
          <a:p>
            <a:pPr marL="0" indent="0" algn="l">
              <a:buNone/>
            </a:pPr>
            <a:r>
              <a:rPr lang="en-US" sz="1329" dirty="0">
                <a:solidFill>
                  <a:srgbClr val="BDC4C9"/>
                </a:solidFill>
                <a:latin typeface="Arial" pitchFamily="34" charset="0"/>
                <a:ea typeface="Arial" pitchFamily="34" charset="-122"/>
                <a:cs typeface="Arial" pitchFamily="34" charset="-120"/>
              </a:rPr>
              <a:t>Confirm in the actual proposal</a:t>
            </a:r>
            <a:endParaRPr lang="en-US" sz="1329" dirty="0"/>
          </a:p>
        </p:txBody>
      </p:sp>
      <p:sp>
        <p:nvSpPr>
          <p:cNvPr id="31" name="Shape 29"/>
          <p:cNvSpPr/>
          <p:nvPr/>
        </p:nvSpPr>
        <p:spPr>
          <a:xfrm>
            <a:off x="7768871" y="4076653"/>
            <a:ext cx="2981511" cy="1059468"/>
          </a:xfrm>
          <a:prstGeom prst="roundRect">
            <a:avLst>
              <a:gd name="adj" fmla="val 3452"/>
            </a:avLst>
          </a:prstGeom>
          <a:solidFill>
            <a:srgbClr val="30363B"/>
          </a:solidFill>
          <a:ln w="8890">
            <a:solidFill>
              <a:srgbClr val="4B5963"/>
            </a:solidFill>
            <a:prstDash val="solid"/>
          </a:ln>
        </p:spPr>
        <p:txBody>
          <a:bodyPr/>
          <a:lstStyle/>
          <a:p>
            <a:endParaRPr lang="nl-NL"/>
          </a:p>
        </p:txBody>
      </p:sp>
      <p:sp>
        <p:nvSpPr>
          <p:cNvPr id="32" name="Shape 30"/>
          <p:cNvSpPr/>
          <p:nvPr/>
        </p:nvSpPr>
        <p:spPr>
          <a:xfrm>
            <a:off x="7947012" y="4273545"/>
            <a:ext cx="187516" cy="187516"/>
          </a:xfrm>
          <a:prstGeom prst="ellipse">
            <a:avLst/>
          </a:prstGeom>
          <a:solidFill>
            <a:srgbClr val="24282C">
              <a:alpha val="0"/>
            </a:srgbClr>
          </a:solidFill>
          <a:ln w="8890">
            <a:solidFill>
              <a:srgbClr val="D71920"/>
            </a:solidFill>
            <a:prstDash val="solid"/>
          </a:ln>
        </p:spPr>
        <p:txBody>
          <a:bodyPr/>
          <a:lstStyle/>
          <a:p>
            <a:endParaRPr lang="nl-NL"/>
          </a:p>
        </p:txBody>
      </p:sp>
      <p:sp>
        <p:nvSpPr>
          <p:cNvPr id="33" name="Text 31"/>
          <p:cNvSpPr/>
          <p:nvPr/>
        </p:nvSpPr>
        <p:spPr>
          <a:xfrm>
            <a:off x="8237662" y="4236042"/>
            <a:ext cx="2325203" cy="562549"/>
          </a:xfrm>
          <a:prstGeom prst="rect">
            <a:avLst/>
          </a:prstGeom>
          <a:noFill/>
          <a:ln/>
        </p:spPr>
        <p:txBody>
          <a:bodyPr wrap="square" lIns="0" tIns="0" rIns="0" bIns="0" rtlCol="0" anchor="t">
            <a:normAutofit/>
          </a:bodyPr>
          <a:lstStyle/>
          <a:p>
            <a:pPr marL="0" indent="0" algn="l">
              <a:buNone/>
            </a:pPr>
            <a:r>
              <a:rPr lang="en-US" sz="1698" b="1" dirty="0">
                <a:solidFill>
                  <a:srgbClr val="F5F6F7"/>
                </a:solidFill>
                <a:latin typeface="Arial" pitchFamily="34" charset="0"/>
                <a:ea typeface="Arial" pitchFamily="34" charset="-122"/>
                <a:cs typeface="Arial" pitchFamily="34" charset="-120"/>
              </a:rPr>
              <a:t>Decision deadline</a:t>
            </a:r>
            <a:endParaRPr lang="en-US" sz="1698" dirty="0"/>
          </a:p>
        </p:txBody>
      </p:sp>
      <p:sp>
        <p:nvSpPr>
          <p:cNvPr id="34" name="Text 32"/>
          <p:cNvSpPr/>
          <p:nvPr/>
        </p:nvSpPr>
        <p:spPr>
          <a:xfrm>
            <a:off x="7975139" y="4714209"/>
            <a:ext cx="2550223" cy="562549"/>
          </a:xfrm>
          <a:prstGeom prst="rect">
            <a:avLst/>
          </a:prstGeom>
          <a:noFill/>
          <a:ln/>
        </p:spPr>
        <p:txBody>
          <a:bodyPr wrap="square" lIns="0" tIns="0" rIns="0" bIns="0" rtlCol="0" anchor="t">
            <a:normAutofit/>
          </a:bodyPr>
          <a:lstStyle/>
          <a:p>
            <a:pPr marL="0" indent="0" algn="l">
              <a:buNone/>
            </a:pPr>
            <a:r>
              <a:rPr lang="en-US" sz="1329" dirty="0">
                <a:solidFill>
                  <a:srgbClr val="BDC4C9"/>
                </a:solidFill>
                <a:latin typeface="Arial" pitchFamily="34" charset="0"/>
                <a:ea typeface="Arial" pitchFamily="34" charset="-122"/>
                <a:cs typeface="Arial" pitchFamily="34" charset="-120"/>
              </a:rPr>
              <a:t>Confirm in the actual proposal</a:t>
            </a:r>
            <a:endParaRPr lang="en-US" sz="1329" dirty="0"/>
          </a:p>
        </p:txBody>
      </p:sp>
      <p:sp>
        <p:nvSpPr>
          <p:cNvPr id="35" name="Text 33"/>
          <p:cNvSpPr/>
          <p:nvPr/>
        </p:nvSpPr>
        <p:spPr>
          <a:xfrm>
            <a:off x="1487072" y="5529905"/>
            <a:ext cx="3281537" cy="562549"/>
          </a:xfrm>
          <a:prstGeom prst="rect">
            <a:avLst/>
          </a:prstGeom>
          <a:noFill/>
          <a:ln/>
        </p:spPr>
        <p:txBody>
          <a:bodyPr wrap="square" lIns="0" tIns="0" rIns="0" bIns="0" rtlCol="0" anchor="t">
            <a:normAutofit/>
          </a:bodyPr>
          <a:lstStyle/>
          <a:p>
            <a:pPr marL="0" indent="0" algn="l">
              <a:buNone/>
            </a:pPr>
            <a:r>
              <a:rPr lang="en-US" sz="1993" b="1" dirty="0">
                <a:solidFill>
                  <a:srgbClr val="F5F6F7"/>
                </a:solidFill>
                <a:latin typeface="Arial" pitchFamily="34" charset="0"/>
                <a:ea typeface="Arial" pitchFamily="34" charset="-122"/>
                <a:cs typeface="Arial" pitchFamily="34" charset="-120"/>
              </a:rPr>
              <a:t>Prepared for review</a:t>
            </a:r>
            <a:endParaRPr lang="en-US" sz="1993" dirty="0"/>
          </a:p>
        </p:txBody>
      </p:sp>
      <p:sp>
        <p:nvSpPr>
          <p:cNvPr id="36" name="Text 34"/>
          <p:cNvSpPr/>
          <p:nvPr/>
        </p:nvSpPr>
        <p:spPr>
          <a:xfrm>
            <a:off x="5021756" y="5586160"/>
            <a:ext cx="5625492" cy="562549"/>
          </a:xfrm>
          <a:prstGeom prst="rect">
            <a:avLst/>
          </a:prstGeom>
          <a:noFill/>
          <a:ln/>
        </p:spPr>
        <p:txBody>
          <a:bodyPr wrap="square" lIns="0" tIns="0" rIns="0" bIns="0" rtlCol="0" anchor="t">
            <a:normAutofit/>
          </a:bodyPr>
          <a:lstStyle/>
          <a:p>
            <a:pPr marL="0" indent="0" algn="l">
              <a:buNone/>
            </a:pPr>
            <a:r>
              <a:rPr lang="en-US" sz="1477" dirty="0">
                <a:solidFill>
                  <a:srgbClr val="BDC4C9"/>
                </a:solidFill>
                <a:latin typeface="Arial" pitchFamily="34" charset="0"/>
                <a:ea typeface="Arial" pitchFamily="34" charset="-122"/>
                <a:cs typeface="Arial" pitchFamily="34" charset="-120"/>
              </a:rPr>
              <a:t>Support, submission and award are separate states.</a:t>
            </a:r>
            <a:endParaRPr lang="en-US" sz="1477" dirty="0"/>
          </a:p>
        </p:txBody>
      </p:sp>
      <p:sp>
        <p:nvSpPr>
          <p:cNvPr id="37" name="Text 35"/>
          <p:cNvSpPr/>
          <p:nvPr/>
        </p:nvSpPr>
        <p:spPr>
          <a:xfrm>
            <a:off x="548640" y="6035040"/>
            <a:ext cx="10954512" cy="219456"/>
          </a:xfrm>
          <a:prstGeom prst="rect">
            <a:avLst/>
          </a:prstGeom>
          <a:noFill/>
          <a:ln/>
        </p:spPr>
        <p:txBody>
          <a:bodyPr wrap="square" lIns="0" tIns="0" rIns="0" bIns="0" rtlCol="0" anchor="t">
            <a:normAutofit/>
          </a:bodyPr>
          <a:lstStyle/>
          <a:p>
            <a:pPr marL="0" indent="0" algn="l">
              <a:buNone/>
            </a:pPr>
            <a:r>
              <a:rPr lang="en-US" sz="840" dirty="0">
                <a:solidFill>
                  <a:srgbClr val="BDC4C9"/>
                </a:solidFill>
                <a:latin typeface="Arial" pitchFamily="34" charset="0"/>
                <a:ea typeface="Arial" pitchFamily="34" charset="-122"/>
                <a:cs typeface="Arial" pitchFamily="34" charset="-120"/>
              </a:rPr>
              <a:t>Illustrative preparation checklist / completeness is not approval or probability of award.</a:t>
            </a:r>
            <a:endParaRPr lang="en-US" sz="84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24282C"/>
        </a:solidFill>
        <a:effectLst/>
      </p:bgPr>
    </p:bg>
    <p:spTree>
      <p:nvGrpSpPr>
        <p:cNvPr id="1" name=""/>
        <p:cNvGrpSpPr/>
        <p:nvPr/>
      </p:nvGrpSpPr>
      <p:grpSpPr>
        <a:xfrm>
          <a:off x="0" y="0"/>
          <a:ext cx="0" cy="0"/>
          <a:chOff x="0" y="0"/>
          <a:chExt cx="0" cy="0"/>
        </a:xfrm>
      </p:grpSpPr>
      <p:sp>
        <p:nvSpPr>
          <p:cNvPr id="2" name="Text 0"/>
          <p:cNvSpPr/>
          <p:nvPr/>
        </p:nvSpPr>
        <p:spPr>
          <a:xfrm>
            <a:off x="484632" y="173736"/>
            <a:ext cx="2743200" cy="201168"/>
          </a:xfrm>
          <a:prstGeom prst="rect">
            <a:avLst/>
          </a:prstGeom>
          <a:noFill/>
          <a:ln/>
        </p:spPr>
        <p:txBody>
          <a:bodyPr wrap="square" lIns="0" tIns="0" rIns="0" bIns="0" rtlCol="0" anchor="t">
            <a:normAutofit/>
          </a:bodyPr>
          <a:lstStyle/>
          <a:p>
            <a:pPr marL="0" indent="0" algn="l">
              <a:buNone/>
            </a:pPr>
            <a:r>
              <a:rPr lang="en-US" sz="1000" b="1" dirty="0">
                <a:solidFill>
                  <a:srgbClr val="F5F6F7"/>
                </a:solidFill>
                <a:latin typeface="Arial" pitchFamily="34" charset="0"/>
                <a:ea typeface="Arial" pitchFamily="34" charset="-122"/>
                <a:cs typeface="Arial" pitchFamily="34" charset="-120"/>
              </a:rPr>
              <a:t>ISUZU / UNIVERSE</a:t>
            </a:r>
            <a:endParaRPr lang="en-US" sz="1000" dirty="0"/>
          </a:p>
        </p:txBody>
      </p:sp>
      <p:sp>
        <p:nvSpPr>
          <p:cNvPr id="3" name="Text 1"/>
          <p:cNvSpPr/>
          <p:nvPr/>
        </p:nvSpPr>
        <p:spPr>
          <a:xfrm>
            <a:off x="8046720" y="173736"/>
            <a:ext cx="3657600" cy="201168"/>
          </a:xfrm>
          <a:prstGeom prst="rect">
            <a:avLst/>
          </a:prstGeom>
          <a:noFill/>
          <a:ln/>
        </p:spPr>
        <p:txBody>
          <a:bodyPr wrap="square" lIns="0" tIns="0" rIns="0" bIns="0" rtlCol="0" anchor="t">
            <a:normAutofit/>
          </a:bodyPr>
          <a:lstStyle/>
          <a:p>
            <a:pPr marL="0" indent="0" algn="r">
              <a:buNone/>
            </a:pPr>
            <a:r>
              <a:rPr lang="en-US" sz="900" dirty="0">
                <a:solidFill>
                  <a:srgbClr val="BDC4C9"/>
                </a:solidFill>
                <a:latin typeface="Arial" pitchFamily="34" charset="0"/>
                <a:ea typeface="Arial" pitchFamily="34" charset="-122"/>
                <a:cs typeface="Arial" pitchFamily="34" charset="-120"/>
              </a:rPr>
              <a:t>COMMERCIAL VISION  /  3.0</a:t>
            </a:r>
            <a:endParaRPr lang="en-US" sz="900" dirty="0"/>
          </a:p>
        </p:txBody>
      </p:sp>
      <p:sp>
        <p:nvSpPr>
          <p:cNvPr id="4" name="Shape 2"/>
          <p:cNvSpPr/>
          <p:nvPr/>
        </p:nvSpPr>
        <p:spPr>
          <a:xfrm>
            <a:off x="484632" y="512064"/>
            <a:ext cx="475488" cy="22860"/>
          </a:xfrm>
          <a:prstGeom prst="rect">
            <a:avLst/>
          </a:prstGeom>
          <a:solidFill>
            <a:srgbClr val="D71920"/>
          </a:solidFill>
          <a:ln w="12700">
            <a:solidFill>
              <a:srgbClr val="D71920">
                <a:alpha val="0"/>
              </a:srgbClr>
            </a:solidFill>
            <a:prstDash val="solid"/>
          </a:ln>
        </p:spPr>
        <p:txBody>
          <a:bodyPr/>
          <a:lstStyle/>
          <a:p>
            <a:endParaRPr lang="nl-NL"/>
          </a:p>
        </p:txBody>
      </p:sp>
      <p:sp>
        <p:nvSpPr>
          <p:cNvPr id="5" name="Text 3"/>
          <p:cNvSpPr/>
          <p:nvPr/>
        </p:nvSpPr>
        <p:spPr>
          <a:xfrm>
            <a:off x="484632" y="658368"/>
            <a:ext cx="11064240" cy="219456"/>
          </a:xfrm>
          <a:prstGeom prst="rect">
            <a:avLst/>
          </a:prstGeom>
          <a:noFill/>
          <a:ln/>
        </p:spPr>
        <p:txBody>
          <a:bodyPr wrap="square" lIns="0" tIns="0" rIns="0" bIns="0" rtlCol="0" anchor="t">
            <a:normAutofit/>
          </a:bodyPr>
          <a:lstStyle/>
          <a:p>
            <a:pPr marL="0" indent="0" algn="l">
              <a:buNone/>
            </a:pPr>
            <a:r>
              <a:rPr lang="en-US" sz="1000" b="1" dirty="0">
                <a:solidFill>
                  <a:srgbClr val="D71920"/>
                </a:solidFill>
                <a:latin typeface="Arial" pitchFamily="34" charset="0"/>
                <a:ea typeface="Arial" pitchFamily="34" charset="-122"/>
                <a:cs typeface="Arial" pitchFamily="34" charset="-120"/>
              </a:rPr>
              <a:t>TENDERS / COMPLETE EXAMPLE</a:t>
            </a:r>
            <a:endParaRPr lang="en-US" sz="1000" dirty="0"/>
          </a:p>
        </p:txBody>
      </p:sp>
      <p:sp>
        <p:nvSpPr>
          <p:cNvPr id="6" name="Shape 4"/>
          <p:cNvSpPr/>
          <p:nvPr/>
        </p:nvSpPr>
        <p:spPr>
          <a:xfrm>
            <a:off x="484632" y="6446520"/>
            <a:ext cx="11219688" cy="914"/>
          </a:xfrm>
          <a:prstGeom prst="line">
            <a:avLst/>
          </a:prstGeom>
          <a:noFill/>
          <a:ln w="6350">
            <a:solidFill>
              <a:srgbClr val="647078"/>
            </a:solidFill>
            <a:prstDash val="solid"/>
          </a:ln>
        </p:spPr>
        <p:txBody>
          <a:bodyPr/>
          <a:lstStyle/>
          <a:p>
            <a:endParaRPr lang="nl-NL"/>
          </a:p>
        </p:txBody>
      </p:sp>
      <p:sp>
        <p:nvSpPr>
          <p:cNvPr id="7" name="Text 5"/>
          <p:cNvSpPr/>
          <p:nvPr/>
        </p:nvSpPr>
        <p:spPr>
          <a:xfrm>
            <a:off x="484632" y="6556248"/>
            <a:ext cx="9144000" cy="146304"/>
          </a:xfrm>
          <a:prstGeom prst="rect">
            <a:avLst/>
          </a:prstGeom>
          <a:noFill/>
          <a:ln/>
        </p:spPr>
        <p:txBody>
          <a:bodyPr wrap="square" lIns="0" tIns="0" rIns="0" bIns="0" rtlCol="0" anchor="t">
            <a:normAutofit/>
          </a:bodyPr>
          <a:lstStyle/>
          <a:p>
            <a:pPr marL="0" indent="0" algn="l">
              <a:buNone/>
            </a:pPr>
            <a:r>
              <a:rPr lang="en-US" sz="750" dirty="0">
                <a:solidFill>
                  <a:srgbClr val="BDC4C9"/>
                </a:solidFill>
                <a:latin typeface="Arial" pitchFamily="34" charset="0"/>
                <a:ea typeface="Arial" pitchFamily="34" charset="-122"/>
                <a:cs typeface="Arial" pitchFamily="34" charset="-120"/>
              </a:rPr>
              <a:t>22 SEPTEMBER 2026  /  CONCEPT AND APPLICATION EXAMPLES</a:t>
            </a:r>
            <a:endParaRPr lang="en-US" sz="750" dirty="0"/>
          </a:p>
        </p:txBody>
      </p:sp>
      <p:sp>
        <p:nvSpPr>
          <p:cNvPr id="8" name="Text 6"/>
          <p:cNvSpPr/>
          <p:nvPr/>
        </p:nvSpPr>
        <p:spPr>
          <a:xfrm>
            <a:off x="10789920" y="6547104"/>
            <a:ext cx="914400" cy="173736"/>
          </a:xfrm>
          <a:prstGeom prst="rect">
            <a:avLst/>
          </a:prstGeom>
          <a:noFill/>
          <a:ln/>
        </p:spPr>
        <p:txBody>
          <a:bodyPr wrap="square" lIns="0" tIns="0" rIns="0" bIns="0" rtlCol="0" anchor="t">
            <a:normAutofit/>
          </a:bodyPr>
          <a:lstStyle/>
          <a:p>
            <a:pPr marL="0" indent="0" algn="r">
              <a:buNone/>
            </a:pPr>
            <a:r>
              <a:rPr lang="en-US" sz="850" dirty="0">
                <a:solidFill>
                  <a:srgbClr val="BDC4C9"/>
                </a:solidFill>
                <a:latin typeface="Arial" pitchFamily="34" charset="0"/>
                <a:ea typeface="Arial" pitchFamily="34" charset="-122"/>
                <a:cs typeface="Arial" pitchFamily="34" charset="-120"/>
              </a:rPr>
              <a:t>25 / 49</a:t>
            </a:r>
            <a:endParaRPr lang="en-US" sz="850" dirty="0"/>
          </a:p>
        </p:txBody>
      </p:sp>
      <p:sp>
        <p:nvSpPr>
          <p:cNvPr id="9" name="Text 7"/>
          <p:cNvSpPr/>
          <p:nvPr/>
        </p:nvSpPr>
        <p:spPr>
          <a:xfrm>
            <a:off x="502920" y="1005840"/>
            <a:ext cx="11036808" cy="841248"/>
          </a:xfrm>
          <a:prstGeom prst="rect">
            <a:avLst/>
          </a:prstGeom>
          <a:noFill/>
          <a:ln/>
        </p:spPr>
        <p:txBody>
          <a:bodyPr wrap="square" lIns="0" tIns="0" rIns="0" bIns="0" rtlCol="0" anchor="t">
            <a:normAutofit/>
          </a:bodyPr>
          <a:lstStyle/>
          <a:p>
            <a:pPr marL="0" indent="0" algn="l">
              <a:buNone/>
            </a:pPr>
            <a:r>
              <a:rPr lang="en-US" sz="3400" b="1" dirty="0">
                <a:solidFill>
                  <a:srgbClr val="F5F6F7"/>
                </a:solidFill>
                <a:latin typeface="Arial" pitchFamily="34" charset="0"/>
                <a:ea typeface="Arial" pitchFamily="34" charset="-122"/>
                <a:cs typeface="Arial" pitchFamily="34" charset="-120"/>
              </a:rPr>
              <a:t>From local ambition to a joint proposition.</a:t>
            </a:r>
            <a:endParaRPr lang="en-US" sz="3400" dirty="0"/>
          </a:p>
        </p:txBody>
      </p:sp>
      <p:sp>
        <p:nvSpPr>
          <p:cNvPr id="10" name="Text 8"/>
          <p:cNvSpPr/>
          <p:nvPr/>
        </p:nvSpPr>
        <p:spPr>
          <a:xfrm>
            <a:off x="530352" y="1865376"/>
            <a:ext cx="10954512" cy="566928"/>
          </a:xfrm>
          <a:prstGeom prst="rect">
            <a:avLst/>
          </a:prstGeom>
          <a:noFill/>
          <a:ln/>
        </p:spPr>
        <p:txBody>
          <a:bodyPr wrap="square" lIns="0" tIns="0" rIns="0" bIns="0" rtlCol="0" anchor="t">
            <a:normAutofit/>
          </a:bodyPr>
          <a:lstStyle/>
          <a:p>
            <a:pPr marL="0" indent="0" algn="l">
              <a:buNone/>
            </a:pPr>
            <a:r>
              <a:rPr lang="en-US" sz="1800" dirty="0">
                <a:solidFill>
                  <a:srgbClr val="BDC4C9"/>
                </a:solidFill>
                <a:latin typeface="Arial" pitchFamily="34" charset="0"/>
                <a:ea typeface="Arial" pitchFamily="34" charset="-122"/>
                <a:cs typeface="Arial" pitchFamily="34" charset="-120"/>
              </a:rPr>
              <a:t>An illustrative route through the proposed tender collaboration.</a:t>
            </a:r>
            <a:endParaRPr lang="en-US" sz="1800" dirty="0"/>
          </a:p>
        </p:txBody>
      </p:sp>
      <p:sp>
        <p:nvSpPr>
          <p:cNvPr id="11" name="Shape 9"/>
          <p:cNvSpPr/>
          <p:nvPr/>
        </p:nvSpPr>
        <p:spPr>
          <a:xfrm>
            <a:off x="1692178" y="3132896"/>
            <a:ext cx="2034372" cy="1966632"/>
          </a:xfrm>
          <a:prstGeom prst="roundRect">
            <a:avLst>
              <a:gd name="adj" fmla="val 1860"/>
            </a:avLst>
          </a:prstGeom>
          <a:solidFill>
            <a:srgbClr val="30363B"/>
          </a:solidFill>
          <a:ln w="8890">
            <a:solidFill>
              <a:srgbClr val="48525B"/>
            </a:solidFill>
            <a:prstDash val="solid"/>
          </a:ln>
        </p:spPr>
        <p:txBody>
          <a:bodyPr/>
          <a:lstStyle/>
          <a:p>
            <a:endParaRPr lang="nl-NL"/>
          </a:p>
        </p:txBody>
      </p:sp>
      <p:sp>
        <p:nvSpPr>
          <p:cNvPr id="12" name="Shape 10"/>
          <p:cNvSpPr/>
          <p:nvPr/>
        </p:nvSpPr>
        <p:spPr>
          <a:xfrm>
            <a:off x="1692178" y="3255264"/>
            <a:ext cx="34962" cy="1721896"/>
          </a:xfrm>
          <a:prstGeom prst="rect">
            <a:avLst/>
          </a:prstGeom>
          <a:solidFill>
            <a:srgbClr val="82909A"/>
          </a:solidFill>
          <a:ln w="12700">
            <a:solidFill>
              <a:srgbClr val="24282C">
                <a:alpha val="0"/>
              </a:srgbClr>
            </a:solidFill>
            <a:prstDash val="solid"/>
          </a:ln>
        </p:spPr>
        <p:txBody>
          <a:bodyPr/>
          <a:lstStyle/>
          <a:p>
            <a:endParaRPr lang="nl-NL"/>
          </a:p>
        </p:txBody>
      </p:sp>
      <p:sp>
        <p:nvSpPr>
          <p:cNvPr id="13" name="Text 11"/>
          <p:cNvSpPr/>
          <p:nvPr/>
        </p:nvSpPr>
        <p:spPr>
          <a:xfrm>
            <a:off x="1840768" y="3272745"/>
            <a:ext cx="1737192" cy="559398"/>
          </a:xfrm>
          <a:prstGeom prst="rect">
            <a:avLst/>
          </a:prstGeom>
          <a:noFill/>
          <a:ln/>
        </p:spPr>
        <p:txBody>
          <a:bodyPr wrap="square" lIns="0" tIns="0" rIns="0" bIns="0" rtlCol="0" anchor="t">
            <a:normAutofit/>
          </a:bodyPr>
          <a:lstStyle/>
          <a:p>
            <a:pPr marL="0" indent="0" algn="l">
              <a:buNone/>
            </a:pPr>
            <a:r>
              <a:rPr lang="en-US" sz="1721" b="1" dirty="0">
                <a:solidFill>
                  <a:srgbClr val="F5F6F7"/>
                </a:solidFill>
                <a:latin typeface="Arial" pitchFamily="34" charset="0"/>
                <a:ea typeface="Arial" pitchFamily="34" charset="-122"/>
                <a:cs typeface="Arial" pitchFamily="34" charset="-120"/>
              </a:rPr>
              <a:t>Opportunity</a:t>
            </a:r>
            <a:endParaRPr lang="en-US" sz="1721" dirty="0"/>
          </a:p>
        </p:txBody>
      </p:sp>
      <p:sp>
        <p:nvSpPr>
          <p:cNvPr id="14" name="Text 12"/>
          <p:cNvSpPr/>
          <p:nvPr/>
        </p:nvSpPr>
        <p:spPr>
          <a:xfrm>
            <a:off x="1840768" y="3893327"/>
            <a:ext cx="1737192" cy="1101314"/>
          </a:xfrm>
          <a:prstGeom prst="rect">
            <a:avLst/>
          </a:prstGeom>
          <a:noFill/>
          <a:ln/>
        </p:spPr>
        <p:txBody>
          <a:bodyPr wrap="square" lIns="0" tIns="0" rIns="0" bIns="0" rtlCol="0" anchor="t">
            <a:normAutofit/>
          </a:bodyPr>
          <a:lstStyle/>
          <a:p>
            <a:pPr marL="0" indent="0" algn="l">
              <a:buNone/>
            </a:pPr>
            <a:r>
              <a:rPr lang="en-US" sz="1376" dirty="0">
                <a:solidFill>
                  <a:srgbClr val="BDC4C9"/>
                </a:solidFill>
                <a:latin typeface="Arial" pitchFamily="34" charset="0"/>
                <a:ea typeface="Arial" pitchFamily="34" charset="-122"/>
                <a:cs typeface="Arial" pitchFamily="34" charset="-120"/>
              </a:rPr>
              <a:t>Requirements and lead market</a:t>
            </a:r>
            <a:endParaRPr lang="en-US" sz="1376" dirty="0"/>
          </a:p>
        </p:txBody>
      </p:sp>
      <p:sp>
        <p:nvSpPr>
          <p:cNvPr id="15" name="Text 13"/>
          <p:cNvSpPr/>
          <p:nvPr/>
        </p:nvSpPr>
        <p:spPr>
          <a:xfrm>
            <a:off x="1840768" y="2835716"/>
            <a:ext cx="1737192" cy="524435"/>
          </a:xfrm>
          <a:prstGeom prst="rect">
            <a:avLst/>
          </a:prstGeom>
          <a:noFill/>
          <a:ln/>
        </p:spPr>
        <p:txBody>
          <a:bodyPr wrap="square" lIns="0" tIns="0" rIns="0" bIns="0" rtlCol="0" anchor="t">
            <a:normAutofit/>
          </a:bodyPr>
          <a:lstStyle/>
          <a:p>
            <a:pPr marL="0" indent="0" algn="l">
              <a:buNone/>
            </a:pPr>
            <a:r>
              <a:rPr lang="en-US" sz="1239" b="1" dirty="0">
                <a:solidFill>
                  <a:srgbClr val="D71920"/>
                </a:solidFill>
                <a:latin typeface="Arial" pitchFamily="34" charset="0"/>
                <a:ea typeface="Arial" pitchFamily="34" charset="-122"/>
                <a:cs typeface="Arial" pitchFamily="34" charset="-120"/>
              </a:rPr>
              <a:t>01</a:t>
            </a:r>
            <a:endParaRPr lang="en-US" sz="1239" dirty="0"/>
          </a:p>
        </p:txBody>
      </p:sp>
      <p:sp>
        <p:nvSpPr>
          <p:cNvPr id="16" name="Shape 14"/>
          <p:cNvSpPr/>
          <p:nvPr/>
        </p:nvSpPr>
        <p:spPr>
          <a:xfrm>
            <a:off x="3752772" y="4103101"/>
            <a:ext cx="148590" cy="914"/>
          </a:xfrm>
          <a:prstGeom prst="line">
            <a:avLst/>
          </a:prstGeom>
          <a:noFill/>
          <a:ln w="17481">
            <a:solidFill>
              <a:srgbClr val="D71920"/>
            </a:solidFill>
            <a:prstDash val="solid"/>
            <a:tailEnd type="triangle"/>
          </a:ln>
        </p:spPr>
        <p:txBody>
          <a:bodyPr/>
          <a:lstStyle/>
          <a:p>
            <a:endParaRPr lang="nl-NL"/>
          </a:p>
        </p:txBody>
      </p:sp>
      <p:sp>
        <p:nvSpPr>
          <p:cNvPr id="17" name="Shape 15"/>
          <p:cNvSpPr/>
          <p:nvPr/>
        </p:nvSpPr>
        <p:spPr>
          <a:xfrm>
            <a:off x="3927583" y="3132896"/>
            <a:ext cx="2034372" cy="1966632"/>
          </a:xfrm>
          <a:prstGeom prst="roundRect">
            <a:avLst>
              <a:gd name="adj" fmla="val 1860"/>
            </a:avLst>
          </a:prstGeom>
          <a:solidFill>
            <a:srgbClr val="30363B"/>
          </a:solidFill>
          <a:ln w="8890">
            <a:solidFill>
              <a:srgbClr val="48525B"/>
            </a:solidFill>
            <a:prstDash val="solid"/>
          </a:ln>
        </p:spPr>
        <p:txBody>
          <a:bodyPr/>
          <a:lstStyle/>
          <a:p>
            <a:endParaRPr lang="nl-NL"/>
          </a:p>
        </p:txBody>
      </p:sp>
      <p:sp>
        <p:nvSpPr>
          <p:cNvPr id="18" name="Shape 16"/>
          <p:cNvSpPr/>
          <p:nvPr/>
        </p:nvSpPr>
        <p:spPr>
          <a:xfrm>
            <a:off x="3927583" y="3255264"/>
            <a:ext cx="34962" cy="1721896"/>
          </a:xfrm>
          <a:prstGeom prst="rect">
            <a:avLst/>
          </a:prstGeom>
          <a:solidFill>
            <a:srgbClr val="82909A"/>
          </a:solidFill>
          <a:ln w="12700">
            <a:solidFill>
              <a:srgbClr val="24282C">
                <a:alpha val="0"/>
              </a:srgbClr>
            </a:solidFill>
            <a:prstDash val="solid"/>
          </a:ln>
        </p:spPr>
        <p:txBody>
          <a:bodyPr/>
          <a:lstStyle/>
          <a:p>
            <a:endParaRPr lang="nl-NL"/>
          </a:p>
        </p:txBody>
      </p:sp>
      <p:sp>
        <p:nvSpPr>
          <p:cNvPr id="19" name="Text 17"/>
          <p:cNvSpPr/>
          <p:nvPr/>
        </p:nvSpPr>
        <p:spPr>
          <a:xfrm>
            <a:off x="4076173" y="3272745"/>
            <a:ext cx="1737192" cy="559398"/>
          </a:xfrm>
          <a:prstGeom prst="rect">
            <a:avLst/>
          </a:prstGeom>
          <a:noFill/>
          <a:ln/>
        </p:spPr>
        <p:txBody>
          <a:bodyPr wrap="square" lIns="0" tIns="0" rIns="0" bIns="0" rtlCol="0" anchor="t">
            <a:normAutofit/>
          </a:bodyPr>
          <a:lstStyle/>
          <a:p>
            <a:pPr marL="0" indent="0" algn="l">
              <a:buNone/>
            </a:pPr>
            <a:r>
              <a:rPr lang="en-US" sz="1721" b="1" dirty="0">
                <a:solidFill>
                  <a:srgbClr val="F5F6F7"/>
                </a:solidFill>
                <a:latin typeface="Arial" pitchFamily="34" charset="0"/>
                <a:ea typeface="Arial" pitchFamily="34" charset="-122"/>
                <a:cs typeface="Arial" pitchFamily="34" charset="-120"/>
              </a:rPr>
              <a:t>Combined case</a:t>
            </a:r>
            <a:endParaRPr lang="en-US" sz="1721" dirty="0"/>
          </a:p>
        </p:txBody>
      </p:sp>
      <p:sp>
        <p:nvSpPr>
          <p:cNvPr id="20" name="Text 18"/>
          <p:cNvSpPr/>
          <p:nvPr/>
        </p:nvSpPr>
        <p:spPr>
          <a:xfrm>
            <a:off x="4076173" y="3893327"/>
            <a:ext cx="1737192" cy="1101314"/>
          </a:xfrm>
          <a:prstGeom prst="rect">
            <a:avLst/>
          </a:prstGeom>
          <a:noFill/>
          <a:ln/>
        </p:spPr>
        <p:txBody>
          <a:bodyPr wrap="square" lIns="0" tIns="0" rIns="0" bIns="0" rtlCol="0" anchor="t">
            <a:normAutofit/>
          </a:bodyPr>
          <a:lstStyle/>
          <a:p>
            <a:pPr marL="0" indent="0" algn="l">
              <a:buNone/>
            </a:pPr>
            <a:r>
              <a:rPr lang="en-US" sz="1376" dirty="0">
                <a:solidFill>
                  <a:srgbClr val="BDC4C9"/>
                </a:solidFill>
                <a:latin typeface="Arial" pitchFamily="34" charset="0"/>
                <a:ea typeface="Arial" pitchFamily="34" charset="-122"/>
                <a:cs typeface="Arial" pitchFamily="34" charset="-120"/>
              </a:rPr>
              <a:t>Vehicle, parts and evidence</a:t>
            </a:r>
            <a:endParaRPr lang="en-US" sz="1376" dirty="0"/>
          </a:p>
        </p:txBody>
      </p:sp>
      <p:sp>
        <p:nvSpPr>
          <p:cNvPr id="21" name="Text 19"/>
          <p:cNvSpPr/>
          <p:nvPr/>
        </p:nvSpPr>
        <p:spPr>
          <a:xfrm>
            <a:off x="4076173" y="2835716"/>
            <a:ext cx="1737192" cy="524435"/>
          </a:xfrm>
          <a:prstGeom prst="rect">
            <a:avLst/>
          </a:prstGeom>
          <a:noFill/>
          <a:ln/>
        </p:spPr>
        <p:txBody>
          <a:bodyPr wrap="square" lIns="0" tIns="0" rIns="0" bIns="0" rtlCol="0" anchor="t">
            <a:normAutofit/>
          </a:bodyPr>
          <a:lstStyle/>
          <a:p>
            <a:pPr marL="0" indent="0" algn="l">
              <a:buNone/>
            </a:pPr>
            <a:r>
              <a:rPr lang="en-US" sz="1239" b="1" dirty="0">
                <a:solidFill>
                  <a:srgbClr val="D71920"/>
                </a:solidFill>
                <a:latin typeface="Arial" pitchFamily="34" charset="0"/>
                <a:ea typeface="Arial" pitchFamily="34" charset="-122"/>
                <a:cs typeface="Arial" pitchFamily="34" charset="-120"/>
              </a:rPr>
              <a:t>02</a:t>
            </a:r>
            <a:endParaRPr lang="en-US" sz="1239" dirty="0"/>
          </a:p>
        </p:txBody>
      </p:sp>
      <p:sp>
        <p:nvSpPr>
          <p:cNvPr id="22" name="Shape 20"/>
          <p:cNvSpPr/>
          <p:nvPr/>
        </p:nvSpPr>
        <p:spPr>
          <a:xfrm>
            <a:off x="5988177" y="4103101"/>
            <a:ext cx="148590" cy="914"/>
          </a:xfrm>
          <a:prstGeom prst="line">
            <a:avLst/>
          </a:prstGeom>
          <a:noFill/>
          <a:ln w="17481">
            <a:solidFill>
              <a:srgbClr val="D71920"/>
            </a:solidFill>
            <a:prstDash val="solid"/>
            <a:tailEnd type="triangle"/>
          </a:ln>
        </p:spPr>
        <p:txBody>
          <a:bodyPr/>
          <a:lstStyle/>
          <a:p>
            <a:endParaRPr lang="nl-NL"/>
          </a:p>
        </p:txBody>
      </p:sp>
      <p:sp>
        <p:nvSpPr>
          <p:cNvPr id="23" name="Shape 21"/>
          <p:cNvSpPr/>
          <p:nvPr/>
        </p:nvSpPr>
        <p:spPr>
          <a:xfrm>
            <a:off x="6162989" y="3132896"/>
            <a:ext cx="2034372" cy="1966632"/>
          </a:xfrm>
          <a:prstGeom prst="roundRect">
            <a:avLst>
              <a:gd name="adj" fmla="val 1860"/>
            </a:avLst>
          </a:prstGeom>
          <a:solidFill>
            <a:srgbClr val="30363B"/>
          </a:solidFill>
          <a:ln w="8890">
            <a:solidFill>
              <a:srgbClr val="48525B"/>
            </a:solidFill>
            <a:prstDash val="solid"/>
          </a:ln>
        </p:spPr>
        <p:txBody>
          <a:bodyPr/>
          <a:lstStyle/>
          <a:p>
            <a:endParaRPr lang="nl-NL"/>
          </a:p>
        </p:txBody>
      </p:sp>
      <p:sp>
        <p:nvSpPr>
          <p:cNvPr id="24" name="Shape 22"/>
          <p:cNvSpPr/>
          <p:nvPr/>
        </p:nvSpPr>
        <p:spPr>
          <a:xfrm>
            <a:off x="6162989" y="3255264"/>
            <a:ext cx="34962" cy="1721896"/>
          </a:xfrm>
          <a:prstGeom prst="rect">
            <a:avLst/>
          </a:prstGeom>
          <a:solidFill>
            <a:srgbClr val="82909A"/>
          </a:solidFill>
          <a:ln w="12700">
            <a:solidFill>
              <a:srgbClr val="24282C">
                <a:alpha val="0"/>
              </a:srgbClr>
            </a:solidFill>
            <a:prstDash val="solid"/>
          </a:ln>
        </p:spPr>
        <p:txBody>
          <a:bodyPr/>
          <a:lstStyle/>
          <a:p>
            <a:endParaRPr lang="nl-NL"/>
          </a:p>
        </p:txBody>
      </p:sp>
      <p:sp>
        <p:nvSpPr>
          <p:cNvPr id="25" name="Text 23"/>
          <p:cNvSpPr/>
          <p:nvPr/>
        </p:nvSpPr>
        <p:spPr>
          <a:xfrm>
            <a:off x="6311579" y="3272745"/>
            <a:ext cx="1737192" cy="559398"/>
          </a:xfrm>
          <a:prstGeom prst="rect">
            <a:avLst/>
          </a:prstGeom>
          <a:noFill/>
          <a:ln/>
        </p:spPr>
        <p:txBody>
          <a:bodyPr wrap="square" lIns="0" tIns="0" rIns="0" bIns="0" rtlCol="0" anchor="t">
            <a:normAutofit/>
          </a:bodyPr>
          <a:lstStyle/>
          <a:p>
            <a:pPr marL="0" indent="0" algn="l">
              <a:buNone/>
            </a:pPr>
            <a:r>
              <a:rPr lang="en-US" sz="1721" b="1" dirty="0">
                <a:solidFill>
                  <a:srgbClr val="F5F6F7"/>
                </a:solidFill>
                <a:latin typeface="Arial" pitchFamily="34" charset="0"/>
                <a:ea typeface="Arial" pitchFamily="34" charset="-122"/>
                <a:cs typeface="Arial" pitchFamily="34" charset="-120"/>
              </a:rPr>
              <a:t>Support decision</a:t>
            </a:r>
            <a:endParaRPr lang="en-US" sz="1721" dirty="0"/>
          </a:p>
        </p:txBody>
      </p:sp>
      <p:sp>
        <p:nvSpPr>
          <p:cNvPr id="26" name="Text 24"/>
          <p:cNvSpPr/>
          <p:nvPr/>
        </p:nvSpPr>
        <p:spPr>
          <a:xfrm>
            <a:off x="6311579" y="3893327"/>
            <a:ext cx="1737192" cy="1101314"/>
          </a:xfrm>
          <a:prstGeom prst="rect">
            <a:avLst/>
          </a:prstGeom>
          <a:noFill/>
          <a:ln/>
        </p:spPr>
        <p:txBody>
          <a:bodyPr wrap="square" lIns="0" tIns="0" rIns="0" bIns="0" rtlCol="0" anchor="t">
            <a:normAutofit/>
          </a:bodyPr>
          <a:lstStyle/>
          <a:p>
            <a:pPr marL="0" indent="0" algn="l">
              <a:buNone/>
            </a:pPr>
            <a:r>
              <a:rPr lang="en-US" sz="1376" dirty="0">
                <a:solidFill>
                  <a:srgbClr val="BDC4C9"/>
                </a:solidFill>
                <a:latin typeface="Arial" pitchFamily="34" charset="0"/>
                <a:ea typeface="Arial" pitchFamily="34" charset="-122"/>
                <a:cs typeface="Arial" pitchFamily="34" charset="-120"/>
              </a:rPr>
              <a:t>Actual authority and conditions</a:t>
            </a:r>
            <a:endParaRPr lang="en-US" sz="1376" dirty="0"/>
          </a:p>
        </p:txBody>
      </p:sp>
      <p:sp>
        <p:nvSpPr>
          <p:cNvPr id="27" name="Text 25"/>
          <p:cNvSpPr/>
          <p:nvPr/>
        </p:nvSpPr>
        <p:spPr>
          <a:xfrm>
            <a:off x="6311579" y="2835716"/>
            <a:ext cx="1737192" cy="524435"/>
          </a:xfrm>
          <a:prstGeom prst="rect">
            <a:avLst/>
          </a:prstGeom>
          <a:noFill/>
          <a:ln/>
        </p:spPr>
        <p:txBody>
          <a:bodyPr wrap="square" lIns="0" tIns="0" rIns="0" bIns="0" rtlCol="0" anchor="t">
            <a:normAutofit/>
          </a:bodyPr>
          <a:lstStyle/>
          <a:p>
            <a:pPr marL="0" indent="0" algn="l">
              <a:buNone/>
            </a:pPr>
            <a:r>
              <a:rPr lang="en-US" sz="1239" b="1" dirty="0">
                <a:solidFill>
                  <a:srgbClr val="D71920"/>
                </a:solidFill>
                <a:latin typeface="Arial" pitchFamily="34" charset="0"/>
                <a:ea typeface="Arial" pitchFamily="34" charset="-122"/>
                <a:cs typeface="Arial" pitchFamily="34" charset="-120"/>
              </a:rPr>
              <a:t>03</a:t>
            </a:r>
            <a:endParaRPr lang="en-US" sz="1239" dirty="0"/>
          </a:p>
        </p:txBody>
      </p:sp>
      <p:sp>
        <p:nvSpPr>
          <p:cNvPr id="28" name="Shape 26"/>
          <p:cNvSpPr/>
          <p:nvPr/>
        </p:nvSpPr>
        <p:spPr>
          <a:xfrm>
            <a:off x="8223582" y="4103101"/>
            <a:ext cx="148590" cy="914"/>
          </a:xfrm>
          <a:prstGeom prst="line">
            <a:avLst/>
          </a:prstGeom>
          <a:noFill/>
          <a:ln w="17481">
            <a:solidFill>
              <a:srgbClr val="D71920"/>
            </a:solidFill>
            <a:prstDash val="solid"/>
            <a:tailEnd type="triangle"/>
          </a:ln>
        </p:spPr>
        <p:txBody>
          <a:bodyPr/>
          <a:lstStyle/>
          <a:p>
            <a:endParaRPr lang="nl-NL"/>
          </a:p>
        </p:txBody>
      </p:sp>
      <p:sp>
        <p:nvSpPr>
          <p:cNvPr id="29" name="Shape 27"/>
          <p:cNvSpPr/>
          <p:nvPr/>
        </p:nvSpPr>
        <p:spPr>
          <a:xfrm>
            <a:off x="8398394" y="3132896"/>
            <a:ext cx="2034372" cy="1966632"/>
          </a:xfrm>
          <a:prstGeom prst="roundRect">
            <a:avLst>
              <a:gd name="adj" fmla="val 1860"/>
            </a:avLst>
          </a:prstGeom>
          <a:solidFill>
            <a:srgbClr val="383F44"/>
          </a:solidFill>
          <a:ln w="8890">
            <a:solidFill>
              <a:srgbClr val="D71920"/>
            </a:solidFill>
            <a:prstDash val="solid"/>
          </a:ln>
        </p:spPr>
        <p:txBody>
          <a:bodyPr/>
          <a:lstStyle/>
          <a:p>
            <a:endParaRPr lang="nl-NL"/>
          </a:p>
        </p:txBody>
      </p:sp>
      <p:sp>
        <p:nvSpPr>
          <p:cNvPr id="30" name="Shape 28"/>
          <p:cNvSpPr/>
          <p:nvPr/>
        </p:nvSpPr>
        <p:spPr>
          <a:xfrm>
            <a:off x="8398394" y="3255264"/>
            <a:ext cx="34962" cy="1721896"/>
          </a:xfrm>
          <a:prstGeom prst="rect">
            <a:avLst/>
          </a:prstGeom>
          <a:solidFill>
            <a:srgbClr val="D71920"/>
          </a:solidFill>
          <a:ln w="12700">
            <a:solidFill>
              <a:srgbClr val="24282C">
                <a:alpha val="0"/>
              </a:srgbClr>
            </a:solidFill>
            <a:prstDash val="solid"/>
          </a:ln>
        </p:spPr>
        <p:txBody>
          <a:bodyPr/>
          <a:lstStyle/>
          <a:p>
            <a:endParaRPr lang="nl-NL"/>
          </a:p>
        </p:txBody>
      </p:sp>
      <p:sp>
        <p:nvSpPr>
          <p:cNvPr id="31" name="Text 29"/>
          <p:cNvSpPr/>
          <p:nvPr/>
        </p:nvSpPr>
        <p:spPr>
          <a:xfrm>
            <a:off x="8546984" y="3272745"/>
            <a:ext cx="1737192" cy="559398"/>
          </a:xfrm>
          <a:prstGeom prst="rect">
            <a:avLst/>
          </a:prstGeom>
          <a:noFill/>
          <a:ln/>
        </p:spPr>
        <p:txBody>
          <a:bodyPr wrap="square" lIns="0" tIns="0" rIns="0" bIns="0" rtlCol="0" anchor="t">
            <a:normAutofit/>
          </a:bodyPr>
          <a:lstStyle/>
          <a:p>
            <a:pPr marL="0" indent="0" algn="l">
              <a:buNone/>
            </a:pPr>
            <a:r>
              <a:rPr lang="en-US" sz="1721" b="1" dirty="0">
                <a:solidFill>
                  <a:srgbClr val="F5F6F7"/>
                </a:solidFill>
                <a:latin typeface="Arial" pitchFamily="34" charset="0"/>
                <a:ea typeface="Arial" pitchFamily="34" charset="-122"/>
                <a:cs typeface="Arial" pitchFamily="34" charset="-120"/>
              </a:rPr>
              <a:t>Outcome</a:t>
            </a:r>
            <a:endParaRPr lang="en-US" sz="1721" dirty="0"/>
          </a:p>
        </p:txBody>
      </p:sp>
      <p:sp>
        <p:nvSpPr>
          <p:cNvPr id="32" name="Text 30"/>
          <p:cNvSpPr/>
          <p:nvPr/>
        </p:nvSpPr>
        <p:spPr>
          <a:xfrm>
            <a:off x="8546984" y="3893327"/>
            <a:ext cx="1737192" cy="1101314"/>
          </a:xfrm>
          <a:prstGeom prst="rect">
            <a:avLst/>
          </a:prstGeom>
          <a:noFill/>
          <a:ln/>
        </p:spPr>
        <p:txBody>
          <a:bodyPr wrap="square" lIns="0" tIns="0" rIns="0" bIns="0" rtlCol="0" anchor="t">
            <a:normAutofit/>
          </a:bodyPr>
          <a:lstStyle/>
          <a:p>
            <a:pPr marL="0" indent="0" algn="l">
              <a:buNone/>
            </a:pPr>
            <a:r>
              <a:rPr lang="en-US" sz="1376" dirty="0">
                <a:solidFill>
                  <a:srgbClr val="BDC4C9"/>
                </a:solidFill>
                <a:latin typeface="Arial" pitchFamily="34" charset="0"/>
                <a:ea typeface="Arial" pitchFamily="34" charset="-122"/>
                <a:cs typeface="Arial" pitchFamily="34" charset="-120"/>
              </a:rPr>
              <a:t>Bid, award and business separately</a:t>
            </a:r>
            <a:endParaRPr lang="en-US" sz="1376" dirty="0"/>
          </a:p>
        </p:txBody>
      </p:sp>
      <p:sp>
        <p:nvSpPr>
          <p:cNvPr id="33" name="Text 31"/>
          <p:cNvSpPr/>
          <p:nvPr/>
        </p:nvSpPr>
        <p:spPr>
          <a:xfrm>
            <a:off x="8546984" y="2835716"/>
            <a:ext cx="1737192" cy="524435"/>
          </a:xfrm>
          <a:prstGeom prst="rect">
            <a:avLst/>
          </a:prstGeom>
          <a:noFill/>
          <a:ln/>
        </p:spPr>
        <p:txBody>
          <a:bodyPr wrap="square" lIns="0" tIns="0" rIns="0" bIns="0" rtlCol="0" anchor="t">
            <a:normAutofit/>
          </a:bodyPr>
          <a:lstStyle/>
          <a:p>
            <a:pPr marL="0" indent="0" algn="l">
              <a:buNone/>
            </a:pPr>
            <a:r>
              <a:rPr lang="en-US" sz="1239" b="1" dirty="0">
                <a:solidFill>
                  <a:srgbClr val="D71920"/>
                </a:solidFill>
                <a:latin typeface="Arial" pitchFamily="34" charset="0"/>
                <a:ea typeface="Arial" pitchFamily="34" charset="-122"/>
                <a:cs typeface="Arial" pitchFamily="34" charset="-120"/>
              </a:rPr>
              <a:t>04</a:t>
            </a:r>
            <a:endParaRPr lang="en-US" sz="1239" dirty="0"/>
          </a:p>
        </p:txBody>
      </p:sp>
      <p:sp>
        <p:nvSpPr>
          <p:cNvPr id="34" name="Text 32"/>
          <p:cNvSpPr/>
          <p:nvPr/>
        </p:nvSpPr>
        <p:spPr>
          <a:xfrm>
            <a:off x="548640" y="5678424"/>
            <a:ext cx="10954512" cy="219456"/>
          </a:xfrm>
          <a:prstGeom prst="rect">
            <a:avLst/>
          </a:prstGeom>
          <a:noFill/>
          <a:ln/>
        </p:spPr>
        <p:txBody>
          <a:bodyPr wrap="square" lIns="0" tIns="0" rIns="0" bIns="0" rtlCol="0" anchor="t">
            <a:normAutofit/>
          </a:bodyPr>
          <a:lstStyle/>
          <a:p>
            <a:pPr marL="0" indent="0" algn="l">
              <a:buNone/>
            </a:pPr>
            <a:r>
              <a:rPr lang="en-US" sz="840" dirty="0">
                <a:solidFill>
                  <a:srgbClr val="BDC4C9"/>
                </a:solidFill>
                <a:latin typeface="Arial" pitchFamily="34" charset="0"/>
                <a:ea typeface="Arial" pitchFamily="34" charset="-122"/>
                <a:cs typeface="Arial" pitchFamily="34" charset="-120"/>
              </a:rPr>
              <a:t>Proposed sequence / each stage retains its own evidence and decision.</a:t>
            </a:r>
            <a:endParaRPr lang="en-US" sz="840" dirty="0"/>
          </a:p>
        </p:txBody>
      </p:sp>
      <p:sp>
        <p:nvSpPr>
          <p:cNvPr id="35" name="Text 33"/>
          <p:cNvSpPr/>
          <p:nvPr/>
        </p:nvSpPr>
        <p:spPr>
          <a:xfrm>
            <a:off x="603504" y="5925312"/>
            <a:ext cx="10917936" cy="347472"/>
          </a:xfrm>
          <a:prstGeom prst="rect">
            <a:avLst/>
          </a:prstGeom>
          <a:noFill/>
          <a:ln/>
        </p:spPr>
        <p:txBody>
          <a:bodyPr wrap="square" lIns="0" tIns="0" rIns="0" bIns="0" rtlCol="0" anchor="t">
            <a:normAutofit/>
          </a:bodyPr>
          <a:lstStyle/>
          <a:p>
            <a:pPr marL="0" indent="0" algn="l">
              <a:buNone/>
            </a:pPr>
            <a:r>
              <a:rPr lang="en-US" sz="1320" dirty="0">
                <a:solidFill>
                  <a:srgbClr val="F5F6F7"/>
                </a:solidFill>
                <a:latin typeface="Arial" pitchFamily="34" charset="0"/>
                <a:ea typeface="Arial" pitchFamily="34" charset="-122"/>
                <a:cs typeface="Arial" pitchFamily="34" charset="-120"/>
              </a:rPr>
              <a:t>The record later distinguishes the submitted bid, known award result and any documented related business.</a:t>
            </a:r>
            <a:endParaRPr lang="en-US" sz="132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24282C"/>
        </a:solidFill>
        <a:effectLst/>
      </p:bgPr>
    </p:bg>
    <p:spTree>
      <p:nvGrpSpPr>
        <p:cNvPr id="1" name=""/>
        <p:cNvGrpSpPr/>
        <p:nvPr/>
      </p:nvGrpSpPr>
      <p:grpSpPr>
        <a:xfrm>
          <a:off x="0" y="0"/>
          <a:ext cx="0" cy="0"/>
          <a:chOff x="0" y="0"/>
          <a:chExt cx="0" cy="0"/>
        </a:xfrm>
      </p:grpSpPr>
      <p:sp>
        <p:nvSpPr>
          <p:cNvPr id="2" name="Text 0"/>
          <p:cNvSpPr/>
          <p:nvPr/>
        </p:nvSpPr>
        <p:spPr>
          <a:xfrm>
            <a:off x="484632" y="173736"/>
            <a:ext cx="2743200" cy="201168"/>
          </a:xfrm>
          <a:prstGeom prst="rect">
            <a:avLst/>
          </a:prstGeom>
          <a:noFill/>
          <a:ln/>
        </p:spPr>
        <p:txBody>
          <a:bodyPr wrap="square" lIns="0" tIns="0" rIns="0" bIns="0" rtlCol="0" anchor="t">
            <a:normAutofit/>
          </a:bodyPr>
          <a:lstStyle/>
          <a:p>
            <a:pPr marL="0" indent="0" algn="l">
              <a:buNone/>
            </a:pPr>
            <a:r>
              <a:rPr lang="en-US" sz="1000" b="1" dirty="0">
                <a:solidFill>
                  <a:srgbClr val="F5F6F7"/>
                </a:solidFill>
                <a:latin typeface="Arial" pitchFamily="34" charset="0"/>
                <a:ea typeface="Arial" pitchFamily="34" charset="-122"/>
                <a:cs typeface="Arial" pitchFamily="34" charset="-120"/>
              </a:rPr>
              <a:t>ISUZU / UNIVERSE</a:t>
            </a:r>
            <a:endParaRPr lang="en-US" sz="1000" dirty="0"/>
          </a:p>
        </p:txBody>
      </p:sp>
      <p:sp>
        <p:nvSpPr>
          <p:cNvPr id="3" name="Text 1"/>
          <p:cNvSpPr/>
          <p:nvPr/>
        </p:nvSpPr>
        <p:spPr>
          <a:xfrm>
            <a:off x="8046720" y="173736"/>
            <a:ext cx="3657600" cy="201168"/>
          </a:xfrm>
          <a:prstGeom prst="rect">
            <a:avLst/>
          </a:prstGeom>
          <a:noFill/>
          <a:ln/>
        </p:spPr>
        <p:txBody>
          <a:bodyPr wrap="square" lIns="0" tIns="0" rIns="0" bIns="0" rtlCol="0" anchor="t">
            <a:normAutofit/>
          </a:bodyPr>
          <a:lstStyle/>
          <a:p>
            <a:pPr marL="0" indent="0" algn="r">
              <a:buNone/>
            </a:pPr>
            <a:r>
              <a:rPr lang="en-US" sz="900" dirty="0">
                <a:solidFill>
                  <a:srgbClr val="BDC4C9"/>
                </a:solidFill>
                <a:latin typeface="Arial" pitchFamily="34" charset="0"/>
                <a:ea typeface="Arial" pitchFamily="34" charset="-122"/>
                <a:cs typeface="Arial" pitchFamily="34" charset="-120"/>
              </a:rPr>
              <a:t>COMMERCIAL VISION  /  3.0</a:t>
            </a:r>
            <a:endParaRPr lang="en-US" sz="900" dirty="0"/>
          </a:p>
        </p:txBody>
      </p:sp>
      <p:sp>
        <p:nvSpPr>
          <p:cNvPr id="4" name="Shape 2"/>
          <p:cNvSpPr/>
          <p:nvPr/>
        </p:nvSpPr>
        <p:spPr>
          <a:xfrm>
            <a:off x="484632" y="512064"/>
            <a:ext cx="475488" cy="22860"/>
          </a:xfrm>
          <a:prstGeom prst="rect">
            <a:avLst/>
          </a:prstGeom>
          <a:solidFill>
            <a:srgbClr val="D71920"/>
          </a:solidFill>
          <a:ln w="12700">
            <a:solidFill>
              <a:srgbClr val="D71920">
                <a:alpha val="0"/>
              </a:srgbClr>
            </a:solidFill>
            <a:prstDash val="solid"/>
          </a:ln>
        </p:spPr>
        <p:txBody>
          <a:bodyPr/>
          <a:lstStyle/>
          <a:p>
            <a:endParaRPr lang="nl-NL"/>
          </a:p>
        </p:txBody>
      </p:sp>
      <p:sp>
        <p:nvSpPr>
          <p:cNvPr id="5" name="Text 3"/>
          <p:cNvSpPr/>
          <p:nvPr/>
        </p:nvSpPr>
        <p:spPr>
          <a:xfrm>
            <a:off x="484632" y="658368"/>
            <a:ext cx="11064240" cy="219456"/>
          </a:xfrm>
          <a:prstGeom prst="rect">
            <a:avLst/>
          </a:prstGeom>
          <a:noFill/>
          <a:ln/>
        </p:spPr>
        <p:txBody>
          <a:bodyPr wrap="square" lIns="0" tIns="0" rIns="0" bIns="0" rtlCol="0" anchor="t">
            <a:normAutofit/>
          </a:bodyPr>
          <a:lstStyle/>
          <a:p>
            <a:pPr marL="0" indent="0" algn="l">
              <a:buNone/>
            </a:pPr>
            <a:r>
              <a:rPr lang="en-US" sz="1000" b="1" dirty="0">
                <a:solidFill>
                  <a:srgbClr val="D71920"/>
                </a:solidFill>
                <a:latin typeface="Arial" pitchFamily="34" charset="0"/>
                <a:ea typeface="Arial" pitchFamily="34" charset="-122"/>
                <a:cs typeface="Arial" pitchFamily="34" charset="-120"/>
              </a:rPr>
              <a:t>TENDERS / REPEATABLE VALUE</a:t>
            </a:r>
            <a:endParaRPr lang="en-US" sz="1000" dirty="0"/>
          </a:p>
        </p:txBody>
      </p:sp>
      <p:sp>
        <p:nvSpPr>
          <p:cNvPr id="6" name="Shape 4"/>
          <p:cNvSpPr/>
          <p:nvPr/>
        </p:nvSpPr>
        <p:spPr>
          <a:xfrm>
            <a:off x="484632" y="6446520"/>
            <a:ext cx="11219688" cy="914"/>
          </a:xfrm>
          <a:prstGeom prst="line">
            <a:avLst/>
          </a:prstGeom>
          <a:noFill/>
          <a:ln w="6350">
            <a:solidFill>
              <a:srgbClr val="647078"/>
            </a:solidFill>
            <a:prstDash val="solid"/>
          </a:ln>
        </p:spPr>
        <p:txBody>
          <a:bodyPr/>
          <a:lstStyle/>
          <a:p>
            <a:endParaRPr lang="nl-NL"/>
          </a:p>
        </p:txBody>
      </p:sp>
      <p:sp>
        <p:nvSpPr>
          <p:cNvPr id="7" name="Text 5"/>
          <p:cNvSpPr/>
          <p:nvPr/>
        </p:nvSpPr>
        <p:spPr>
          <a:xfrm>
            <a:off x="484632" y="6556248"/>
            <a:ext cx="9144000" cy="146304"/>
          </a:xfrm>
          <a:prstGeom prst="rect">
            <a:avLst/>
          </a:prstGeom>
          <a:noFill/>
          <a:ln/>
        </p:spPr>
        <p:txBody>
          <a:bodyPr wrap="square" lIns="0" tIns="0" rIns="0" bIns="0" rtlCol="0" anchor="t">
            <a:normAutofit/>
          </a:bodyPr>
          <a:lstStyle/>
          <a:p>
            <a:pPr marL="0" indent="0" algn="l">
              <a:buNone/>
            </a:pPr>
            <a:r>
              <a:rPr lang="en-US" sz="750" dirty="0">
                <a:solidFill>
                  <a:srgbClr val="BDC4C9"/>
                </a:solidFill>
                <a:latin typeface="Arial" pitchFamily="34" charset="0"/>
                <a:ea typeface="Arial" pitchFamily="34" charset="-122"/>
                <a:cs typeface="Arial" pitchFamily="34" charset="-120"/>
              </a:rPr>
              <a:t>22 SEPTEMBER 2026  /  CONCEPT AND APPLICATION EXAMPLES</a:t>
            </a:r>
            <a:endParaRPr lang="en-US" sz="750" dirty="0"/>
          </a:p>
        </p:txBody>
      </p:sp>
      <p:sp>
        <p:nvSpPr>
          <p:cNvPr id="8" name="Text 6"/>
          <p:cNvSpPr/>
          <p:nvPr/>
        </p:nvSpPr>
        <p:spPr>
          <a:xfrm>
            <a:off x="10789920" y="6547104"/>
            <a:ext cx="914400" cy="173736"/>
          </a:xfrm>
          <a:prstGeom prst="rect">
            <a:avLst/>
          </a:prstGeom>
          <a:noFill/>
          <a:ln/>
        </p:spPr>
        <p:txBody>
          <a:bodyPr wrap="square" lIns="0" tIns="0" rIns="0" bIns="0" rtlCol="0" anchor="t">
            <a:normAutofit/>
          </a:bodyPr>
          <a:lstStyle/>
          <a:p>
            <a:pPr marL="0" indent="0" algn="r">
              <a:buNone/>
            </a:pPr>
            <a:r>
              <a:rPr lang="en-US" sz="850" dirty="0">
                <a:solidFill>
                  <a:srgbClr val="BDC4C9"/>
                </a:solidFill>
                <a:latin typeface="Arial" pitchFamily="34" charset="0"/>
                <a:ea typeface="Arial" pitchFamily="34" charset="-122"/>
                <a:cs typeface="Arial" pitchFamily="34" charset="-120"/>
              </a:rPr>
              <a:t>26 / 49</a:t>
            </a:r>
            <a:endParaRPr lang="en-US" sz="850" dirty="0"/>
          </a:p>
        </p:txBody>
      </p:sp>
      <p:sp>
        <p:nvSpPr>
          <p:cNvPr id="9" name="Text 7"/>
          <p:cNvSpPr/>
          <p:nvPr/>
        </p:nvSpPr>
        <p:spPr>
          <a:xfrm>
            <a:off x="502920" y="1005840"/>
            <a:ext cx="11036808" cy="841248"/>
          </a:xfrm>
          <a:prstGeom prst="rect">
            <a:avLst/>
          </a:prstGeom>
          <a:noFill/>
          <a:ln/>
        </p:spPr>
        <p:txBody>
          <a:bodyPr wrap="square" lIns="0" tIns="0" rIns="0" bIns="0" rtlCol="0" anchor="t">
            <a:normAutofit/>
          </a:bodyPr>
          <a:lstStyle/>
          <a:p>
            <a:pPr marL="0" indent="0" algn="l">
              <a:buNone/>
            </a:pPr>
            <a:r>
              <a:rPr lang="en-US" sz="3400" b="1" dirty="0">
                <a:solidFill>
                  <a:srgbClr val="F5F6F7"/>
                </a:solidFill>
                <a:latin typeface="Arial" pitchFamily="34" charset="0"/>
                <a:ea typeface="Arial" pitchFamily="34" charset="-122"/>
                <a:cs typeface="Arial" pitchFamily="34" charset="-120"/>
              </a:rPr>
              <a:t>Improve the next proposal through experience.</a:t>
            </a:r>
            <a:endParaRPr lang="en-US" sz="3400" dirty="0"/>
          </a:p>
        </p:txBody>
      </p:sp>
      <p:sp>
        <p:nvSpPr>
          <p:cNvPr id="10" name="Text 8"/>
          <p:cNvSpPr/>
          <p:nvPr/>
        </p:nvSpPr>
        <p:spPr>
          <a:xfrm>
            <a:off x="530352" y="1865376"/>
            <a:ext cx="10954512" cy="566928"/>
          </a:xfrm>
          <a:prstGeom prst="rect">
            <a:avLst/>
          </a:prstGeom>
          <a:noFill/>
          <a:ln/>
        </p:spPr>
        <p:txBody>
          <a:bodyPr wrap="square" lIns="0" tIns="0" rIns="0" bIns="0" rtlCol="0" anchor="t">
            <a:normAutofit/>
          </a:bodyPr>
          <a:lstStyle/>
          <a:p>
            <a:pPr marL="0" indent="0" algn="l">
              <a:buNone/>
            </a:pPr>
            <a:r>
              <a:rPr lang="en-US" sz="1800" dirty="0">
                <a:solidFill>
                  <a:srgbClr val="BDC4C9"/>
                </a:solidFill>
                <a:latin typeface="Arial" pitchFamily="34" charset="0"/>
                <a:ea typeface="Arial" pitchFamily="34" charset="-122"/>
                <a:cs typeface="Arial" pitchFamily="34" charset="-120"/>
              </a:rPr>
              <a:t>Reuse the reviewed method without distributing previous bids.</a:t>
            </a:r>
            <a:endParaRPr lang="en-US" sz="1800" dirty="0"/>
          </a:p>
        </p:txBody>
      </p:sp>
      <p:sp>
        <p:nvSpPr>
          <p:cNvPr id="11" name="Shape 9"/>
          <p:cNvSpPr/>
          <p:nvPr/>
        </p:nvSpPr>
        <p:spPr>
          <a:xfrm>
            <a:off x="7008051" y="3497180"/>
            <a:ext cx="511091" cy="187019"/>
          </a:xfrm>
          <a:prstGeom prst="line">
            <a:avLst/>
          </a:prstGeom>
          <a:noFill/>
          <a:ln w="14471">
            <a:solidFill>
              <a:srgbClr val="D71920"/>
            </a:solidFill>
            <a:prstDash val="solid"/>
            <a:tailEnd type="triangle"/>
          </a:ln>
        </p:spPr>
        <p:txBody>
          <a:bodyPr/>
          <a:lstStyle/>
          <a:p>
            <a:endParaRPr lang="nl-NL"/>
          </a:p>
        </p:txBody>
      </p:sp>
      <p:sp>
        <p:nvSpPr>
          <p:cNvPr id="12" name="Shape 10"/>
          <p:cNvSpPr/>
          <p:nvPr/>
        </p:nvSpPr>
        <p:spPr>
          <a:xfrm flipH="1">
            <a:off x="7967241" y="4592326"/>
            <a:ext cx="235210" cy="348326"/>
          </a:xfrm>
          <a:prstGeom prst="line">
            <a:avLst/>
          </a:prstGeom>
          <a:noFill/>
          <a:ln w="14471">
            <a:solidFill>
              <a:srgbClr val="D71920"/>
            </a:solidFill>
            <a:prstDash val="solid"/>
            <a:tailEnd type="triangle"/>
          </a:ln>
        </p:spPr>
        <p:txBody>
          <a:bodyPr/>
          <a:lstStyle/>
          <a:p>
            <a:endParaRPr lang="nl-NL"/>
          </a:p>
        </p:txBody>
      </p:sp>
      <p:sp>
        <p:nvSpPr>
          <p:cNvPr id="13" name="Shape 11"/>
          <p:cNvSpPr/>
          <p:nvPr/>
        </p:nvSpPr>
        <p:spPr>
          <a:xfrm flipH="1">
            <a:off x="5411260" y="5468351"/>
            <a:ext cx="1092589" cy="914"/>
          </a:xfrm>
          <a:prstGeom prst="line">
            <a:avLst/>
          </a:prstGeom>
          <a:noFill/>
          <a:ln w="14471">
            <a:solidFill>
              <a:srgbClr val="D71920"/>
            </a:solidFill>
            <a:prstDash val="solid"/>
            <a:tailEnd type="triangle"/>
          </a:ln>
        </p:spPr>
        <p:txBody>
          <a:bodyPr/>
          <a:lstStyle/>
          <a:p>
            <a:endParaRPr lang="nl-NL"/>
          </a:p>
        </p:txBody>
      </p:sp>
      <p:sp>
        <p:nvSpPr>
          <p:cNvPr id="14" name="Shape 12"/>
          <p:cNvSpPr/>
          <p:nvPr/>
        </p:nvSpPr>
        <p:spPr>
          <a:xfrm flipH="1" flipV="1">
            <a:off x="3807050" y="4614836"/>
            <a:ext cx="176668" cy="303306"/>
          </a:xfrm>
          <a:prstGeom prst="line">
            <a:avLst/>
          </a:prstGeom>
          <a:noFill/>
          <a:ln w="14471">
            <a:solidFill>
              <a:srgbClr val="D71920"/>
            </a:solidFill>
            <a:prstDash val="solid"/>
            <a:tailEnd type="triangle"/>
          </a:ln>
        </p:spPr>
        <p:txBody>
          <a:bodyPr/>
          <a:lstStyle/>
          <a:p>
            <a:endParaRPr lang="nl-NL"/>
          </a:p>
        </p:txBody>
      </p:sp>
      <p:sp>
        <p:nvSpPr>
          <p:cNvPr id="15" name="Shape 13"/>
          <p:cNvSpPr/>
          <p:nvPr/>
        </p:nvSpPr>
        <p:spPr>
          <a:xfrm flipV="1">
            <a:off x="4520767" y="3511738"/>
            <a:ext cx="413442" cy="157903"/>
          </a:xfrm>
          <a:prstGeom prst="line">
            <a:avLst/>
          </a:prstGeom>
          <a:noFill/>
          <a:ln w="14471">
            <a:solidFill>
              <a:srgbClr val="D71920"/>
            </a:solidFill>
            <a:prstDash val="solid"/>
            <a:tailEnd type="triangle"/>
          </a:ln>
        </p:spPr>
        <p:txBody>
          <a:bodyPr/>
          <a:lstStyle/>
          <a:p>
            <a:endParaRPr lang="nl-NL"/>
          </a:p>
        </p:txBody>
      </p:sp>
      <p:sp>
        <p:nvSpPr>
          <p:cNvPr id="16" name="Shape 14"/>
          <p:cNvSpPr/>
          <p:nvPr/>
        </p:nvSpPr>
        <p:spPr>
          <a:xfrm>
            <a:off x="4926469" y="2718789"/>
            <a:ext cx="2083878" cy="803161"/>
          </a:xfrm>
          <a:prstGeom prst="roundRect">
            <a:avLst>
              <a:gd name="adj" fmla="val 4554"/>
            </a:avLst>
          </a:prstGeom>
          <a:solidFill>
            <a:srgbClr val="30363B"/>
          </a:solidFill>
          <a:ln w="8890">
            <a:solidFill>
              <a:srgbClr val="D71920"/>
            </a:solidFill>
            <a:prstDash val="solid"/>
          </a:ln>
        </p:spPr>
        <p:txBody>
          <a:bodyPr/>
          <a:lstStyle/>
          <a:p>
            <a:endParaRPr lang="nl-NL"/>
          </a:p>
        </p:txBody>
      </p:sp>
      <p:sp>
        <p:nvSpPr>
          <p:cNvPr id="17" name="Text 15"/>
          <p:cNvSpPr/>
          <p:nvPr/>
        </p:nvSpPr>
        <p:spPr>
          <a:xfrm>
            <a:off x="5035004" y="2812853"/>
            <a:ext cx="1866807" cy="274956"/>
          </a:xfrm>
          <a:prstGeom prst="rect">
            <a:avLst/>
          </a:prstGeom>
          <a:noFill/>
          <a:ln/>
        </p:spPr>
        <p:txBody>
          <a:bodyPr wrap="square" lIns="0" tIns="0" rIns="0" bIns="0" rtlCol="0" anchor="t">
            <a:normAutofit/>
          </a:bodyPr>
          <a:lstStyle/>
          <a:p>
            <a:pPr marL="0" indent="0" algn="l">
              <a:buNone/>
            </a:pPr>
            <a:r>
              <a:rPr lang="en-US" sz="1310" b="1" dirty="0">
                <a:solidFill>
                  <a:srgbClr val="F5F6F7"/>
                </a:solidFill>
                <a:latin typeface="Arial" pitchFamily="34" charset="0"/>
                <a:ea typeface="Arial" pitchFamily="34" charset="-122"/>
                <a:cs typeface="Arial" pitchFamily="34" charset="-120"/>
              </a:rPr>
              <a:t>Qualified opportunity</a:t>
            </a:r>
            <a:endParaRPr lang="en-US" sz="1310" dirty="0"/>
          </a:p>
        </p:txBody>
      </p:sp>
      <p:sp>
        <p:nvSpPr>
          <p:cNvPr id="18" name="Text 16"/>
          <p:cNvSpPr/>
          <p:nvPr/>
        </p:nvSpPr>
        <p:spPr>
          <a:xfrm>
            <a:off x="5035004" y="3095045"/>
            <a:ext cx="1866807" cy="405198"/>
          </a:xfrm>
          <a:prstGeom prst="rect">
            <a:avLst/>
          </a:prstGeom>
          <a:noFill/>
          <a:ln/>
        </p:spPr>
        <p:txBody>
          <a:bodyPr wrap="square" lIns="0" tIns="0" rIns="0" bIns="0" rtlCol="0" anchor="t">
            <a:normAutofit/>
          </a:bodyPr>
          <a:lstStyle/>
          <a:p>
            <a:pPr marL="0" indent="0" algn="l">
              <a:buNone/>
            </a:pPr>
            <a:r>
              <a:rPr lang="en-US" sz="1026" dirty="0">
                <a:solidFill>
                  <a:srgbClr val="BDC4C9"/>
                </a:solidFill>
                <a:latin typeface="Arial" pitchFamily="34" charset="0"/>
                <a:ea typeface="Arial" pitchFamily="34" charset="-122"/>
                <a:cs typeface="Arial" pitchFamily="34" charset="-120"/>
              </a:rPr>
              <a:t>Local relevance established</a:t>
            </a:r>
            <a:endParaRPr lang="en-US" sz="1026" dirty="0"/>
          </a:p>
        </p:txBody>
      </p:sp>
      <p:sp>
        <p:nvSpPr>
          <p:cNvPr id="19" name="Shape 17"/>
          <p:cNvSpPr/>
          <p:nvPr/>
        </p:nvSpPr>
        <p:spPr>
          <a:xfrm>
            <a:off x="7516845" y="3666664"/>
            <a:ext cx="2083878" cy="803161"/>
          </a:xfrm>
          <a:prstGeom prst="roundRect">
            <a:avLst>
              <a:gd name="adj" fmla="val 4554"/>
            </a:avLst>
          </a:prstGeom>
          <a:solidFill>
            <a:srgbClr val="30363B"/>
          </a:solidFill>
          <a:ln w="8890">
            <a:solidFill>
              <a:srgbClr val="48525B"/>
            </a:solidFill>
            <a:prstDash val="solid"/>
          </a:ln>
        </p:spPr>
        <p:txBody>
          <a:bodyPr/>
          <a:lstStyle/>
          <a:p>
            <a:endParaRPr lang="nl-NL"/>
          </a:p>
        </p:txBody>
      </p:sp>
      <p:sp>
        <p:nvSpPr>
          <p:cNvPr id="20" name="Text 18"/>
          <p:cNvSpPr/>
          <p:nvPr/>
        </p:nvSpPr>
        <p:spPr>
          <a:xfrm>
            <a:off x="7625380" y="3760728"/>
            <a:ext cx="1866807" cy="274956"/>
          </a:xfrm>
          <a:prstGeom prst="rect">
            <a:avLst/>
          </a:prstGeom>
          <a:noFill/>
          <a:ln/>
        </p:spPr>
        <p:txBody>
          <a:bodyPr wrap="square" lIns="0" tIns="0" rIns="0" bIns="0" rtlCol="0" anchor="t">
            <a:normAutofit/>
          </a:bodyPr>
          <a:lstStyle/>
          <a:p>
            <a:pPr marL="0" indent="0" algn="l">
              <a:buNone/>
            </a:pPr>
            <a:r>
              <a:rPr lang="en-US" sz="1310" b="1" dirty="0">
                <a:solidFill>
                  <a:srgbClr val="F5F6F7"/>
                </a:solidFill>
                <a:latin typeface="Arial" pitchFamily="34" charset="0"/>
                <a:ea typeface="Arial" pitchFamily="34" charset="-122"/>
                <a:cs typeface="Arial" pitchFamily="34" charset="-120"/>
              </a:rPr>
              <a:t>Combined proposition</a:t>
            </a:r>
            <a:endParaRPr lang="en-US" sz="1310" dirty="0"/>
          </a:p>
        </p:txBody>
      </p:sp>
      <p:sp>
        <p:nvSpPr>
          <p:cNvPr id="21" name="Text 19"/>
          <p:cNvSpPr/>
          <p:nvPr/>
        </p:nvSpPr>
        <p:spPr>
          <a:xfrm>
            <a:off x="7625380" y="4042920"/>
            <a:ext cx="1866807" cy="405198"/>
          </a:xfrm>
          <a:prstGeom prst="rect">
            <a:avLst/>
          </a:prstGeom>
          <a:noFill/>
          <a:ln/>
        </p:spPr>
        <p:txBody>
          <a:bodyPr wrap="square" lIns="0" tIns="0" rIns="0" bIns="0" rtlCol="0" anchor="t">
            <a:normAutofit/>
          </a:bodyPr>
          <a:lstStyle/>
          <a:p>
            <a:pPr marL="0" indent="0" algn="l">
              <a:buNone/>
            </a:pPr>
            <a:r>
              <a:rPr lang="en-US" sz="1026" dirty="0">
                <a:solidFill>
                  <a:srgbClr val="BDC4C9"/>
                </a:solidFill>
                <a:latin typeface="Arial" pitchFamily="34" charset="0"/>
                <a:ea typeface="Arial" pitchFamily="34" charset="-122"/>
                <a:cs typeface="Arial" pitchFamily="34" charset="-120"/>
              </a:rPr>
              <a:t>Vehicle and parts knowledge</a:t>
            </a:r>
            <a:endParaRPr lang="en-US" sz="1026" dirty="0"/>
          </a:p>
        </p:txBody>
      </p:sp>
      <p:sp>
        <p:nvSpPr>
          <p:cNvPr id="22" name="Shape 20"/>
          <p:cNvSpPr/>
          <p:nvPr/>
        </p:nvSpPr>
        <p:spPr>
          <a:xfrm>
            <a:off x="6568970" y="5070388"/>
            <a:ext cx="2083878" cy="803161"/>
          </a:xfrm>
          <a:prstGeom prst="roundRect">
            <a:avLst>
              <a:gd name="adj" fmla="val 4554"/>
            </a:avLst>
          </a:prstGeom>
          <a:solidFill>
            <a:srgbClr val="30363B"/>
          </a:solidFill>
          <a:ln w="8890">
            <a:solidFill>
              <a:srgbClr val="48525B"/>
            </a:solidFill>
            <a:prstDash val="solid"/>
          </a:ln>
        </p:spPr>
        <p:txBody>
          <a:bodyPr/>
          <a:lstStyle/>
          <a:p>
            <a:endParaRPr lang="nl-NL"/>
          </a:p>
        </p:txBody>
      </p:sp>
      <p:sp>
        <p:nvSpPr>
          <p:cNvPr id="23" name="Text 21"/>
          <p:cNvSpPr/>
          <p:nvPr/>
        </p:nvSpPr>
        <p:spPr>
          <a:xfrm>
            <a:off x="6677505" y="5164452"/>
            <a:ext cx="1866807" cy="274956"/>
          </a:xfrm>
          <a:prstGeom prst="rect">
            <a:avLst/>
          </a:prstGeom>
          <a:noFill/>
          <a:ln/>
        </p:spPr>
        <p:txBody>
          <a:bodyPr wrap="square" lIns="0" tIns="0" rIns="0" bIns="0" rtlCol="0" anchor="t">
            <a:normAutofit/>
          </a:bodyPr>
          <a:lstStyle/>
          <a:p>
            <a:pPr marL="0" indent="0" algn="l">
              <a:buNone/>
            </a:pPr>
            <a:r>
              <a:rPr lang="en-US" sz="1310" b="1" dirty="0">
                <a:solidFill>
                  <a:srgbClr val="F5F6F7"/>
                </a:solidFill>
                <a:latin typeface="Arial" pitchFamily="34" charset="0"/>
                <a:ea typeface="Arial" pitchFamily="34" charset="-122"/>
                <a:cs typeface="Arial" pitchFamily="34" charset="-120"/>
              </a:rPr>
              <a:t>Selected support</a:t>
            </a:r>
            <a:endParaRPr lang="en-US" sz="1310" dirty="0"/>
          </a:p>
        </p:txBody>
      </p:sp>
      <p:sp>
        <p:nvSpPr>
          <p:cNvPr id="24" name="Text 22"/>
          <p:cNvSpPr/>
          <p:nvPr/>
        </p:nvSpPr>
        <p:spPr>
          <a:xfrm>
            <a:off x="6677505" y="5446643"/>
            <a:ext cx="1866807" cy="405198"/>
          </a:xfrm>
          <a:prstGeom prst="rect">
            <a:avLst/>
          </a:prstGeom>
          <a:noFill/>
          <a:ln/>
        </p:spPr>
        <p:txBody>
          <a:bodyPr wrap="square" lIns="0" tIns="0" rIns="0" bIns="0" rtlCol="0" anchor="t">
            <a:normAutofit/>
          </a:bodyPr>
          <a:lstStyle/>
          <a:p>
            <a:pPr marL="0" indent="0" algn="l">
              <a:buNone/>
            </a:pPr>
            <a:r>
              <a:rPr lang="en-US" sz="1026" dirty="0">
                <a:solidFill>
                  <a:srgbClr val="BDC4C9"/>
                </a:solidFill>
                <a:latin typeface="Arial" pitchFamily="34" charset="0"/>
                <a:ea typeface="Arial" pitchFamily="34" charset="-122"/>
                <a:cs typeface="Arial" pitchFamily="34" charset="-120"/>
              </a:rPr>
              <a:t>A defined headquarters decision</a:t>
            </a:r>
            <a:endParaRPr lang="en-US" sz="1026" dirty="0"/>
          </a:p>
        </p:txBody>
      </p:sp>
      <p:sp>
        <p:nvSpPr>
          <p:cNvPr id="25" name="Shape 23"/>
          <p:cNvSpPr/>
          <p:nvPr/>
        </p:nvSpPr>
        <p:spPr>
          <a:xfrm>
            <a:off x="3262261" y="5070388"/>
            <a:ext cx="2083878" cy="803161"/>
          </a:xfrm>
          <a:prstGeom prst="roundRect">
            <a:avLst>
              <a:gd name="adj" fmla="val 4554"/>
            </a:avLst>
          </a:prstGeom>
          <a:solidFill>
            <a:srgbClr val="30363B"/>
          </a:solidFill>
          <a:ln w="8890">
            <a:solidFill>
              <a:srgbClr val="48525B"/>
            </a:solidFill>
            <a:prstDash val="solid"/>
          </a:ln>
        </p:spPr>
        <p:txBody>
          <a:bodyPr/>
          <a:lstStyle/>
          <a:p>
            <a:endParaRPr lang="nl-NL"/>
          </a:p>
        </p:txBody>
      </p:sp>
      <p:sp>
        <p:nvSpPr>
          <p:cNvPr id="26" name="Text 24"/>
          <p:cNvSpPr/>
          <p:nvPr/>
        </p:nvSpPr>
        <p:spPr>
          <a:xfrm>
            <a:off x="3370796" y="5164452"/>
            <a:ext cx="1866807" cy="274956"/>
          </a:xfrm>
          <a:prstGeom prst="rect">
            <a:avLst/>
          </a:prstGeom>
          <a:noFill/>
          <a:ln/>
        </p:spPr>
        <p:txBody>
          <a:bodyPr wrap="square" lIns="0" tIns="0" rIns="0" bIns="0" rtlCol="0" anchor="t">
            <a:normAutofit/>
          </a:bodyPr>
          <a:lstStyle/>
          <a:p>
            <a:pPr marL="0" indent="0" algn="l">
              <a:buNone/>
            </a:pPr>
            <a:r>
              <a:rPr lang="en-US" sz="1310" b="1" dirty="0">
                <a:solidFill>
                  <a:srgbClr val="F5F6F7"/>
                </a:solidFill>
                <a:latin typeface="Arial" pitchFamily="34" charset="0"/>
                <a:ea typeface="Arial" pitchFamily="34" charset="-122"/>
                <a:cs typeface="Arial" pitchFamily="34" charset="-120"/>
              </a:rPr>
              <a:t>Known outcome</a:t>
            </a:r>
            <a:endParaRPr lang="en-US" sz="1310" dirty="0"/>
          </a:p>
        </p:txBody>
      </p:sp>
      <p:sp>
        <p:nvSpPr>
          <p:cNvPr id="27" name="Text 25"/>
          <p:cNvSpPr/>
          <p:nvPr/>
        </p:nvSpPr>
        <p:spPr>
          <a:xfrm>
            <a:off x="3370796" y="5446643"/>
            <a:ext cx="1866807" cy="405198"/>
          </a:xfrm>
          <a:prstGeom prst="rect">
            <a:avLst/>
          </a:prstGeom>
          <a:noFill/>
          <a:ln/>
        </p:spPr>
        <p:txBody>
          <a:bodyPr wrap="square" lIns="0" tIns="0" rIns="0" bIns="0" rtlCol="0" anchor="t">
            <a:normAutofit/>
          </a:bodyPr>
          <a:lstStyle/>
          <a:p>
            <a:pPr marL="0" indent="0" algn="l">
              <a:buNone/>
            </a:pPr>
            <a:r>
              <a:rPr lang="en-US" sz="1026" dirty="0">
                <a:solidFill>
                  <a:srgbClr val="BDC4C9"/>
                </a:solidFill>
                <a:latin typeface="Arial" pitchFamily="34" charset="0"/>
                <a:ea typeface="Arial" pitchFamily="34" charset="-122"/>
                <a:cs typeface="Arial" pitchFamily="34" charset="-120"/>
              </a:rPr>
              <a:t>Record what actually happened</a:t>
            </a:r>
            <a:endParaRPr lang="en-US" sz="1026" dirty="0"/>
          </a:p>
        </p:txBody>
      </p:sp>
      <p:sp>
        <p:nvSpPr>
          <p:cNvPr id="28" name="Shape 26"/>
          <p:cNvSpPr/>
          <p:nvPr/>
        </p:nvSpPr>
        <p:spPr>
          <a:xfrm>
            <a:off x="2444629" y="3666664"/>
            <a:ext cx="2083878" cy="803161"/>
          </a:xfrm>
          <a:prstGeom prst="roundRect">
            <a:avLst>
              <a:gd name="adj" fmla="val 4554"/>
            </a:avLst>
          </a:prstGeom>
          <a:solidFill>
            <a:srgbClr val="30363B"/>
          </a:solidFill>
          <a:ln w="8890">
            <a:solidFill>
              <a:srgbClr val="48525B"/>
            </a:solidFill>
            <a:prstDash val="solid"/>
          </a:ln>
        </p:spPr>
        <p:txBody>
          <a:bodyPr/>
          <a:lstStyle/>
          <a:p>
            <a:endParaRPr lang="nl-NL"/>
          </a:p>
        </p:txBody>
      </p:sp>
      <p:sp>
        <p:nvSpPr>
          <p:cNvPr id="29" name="Text 27"/>
          <p:cNvSpPr/>
          <p:nvPr/>
        </p:nvSpPr>
        <p:spPr>
          <a:xfrm>
            <a:off x="2553164" y="3760728"/>
            <a:ext cx="1866807" cy="274956"/>
          </a:xfrm>
          <a:prstGeom prst="rect">
            <a:avLst/>
          </a:prstGeom>
          <a:noFill/>
          <a:ln/>
        </p:spPr>
        <p:txBody>
          <a:bodyPr wrap="square" lIns="0" tIns="0" rIns="0" bIns="0" rtlCol="0" anchor="t">
            <a:normAutofit/>
          </a:bodyPr>
          <a:lstStyle/>
          <a:p>
            <a:pPr marL="0" indent="0" algn="l">
              <a:buNone/>
            </a:pPr>
            <a:r>
              <a:rPr lang="en-US" sz="1310" b="1" dirty="0">
                <a:solidFill>
                  <a:srgbClr val="F5F6F7"/>
                </a:solidFill>
                <a:latin typeface="Arial" pitchFamily="34" charset="0"/>
                <a:ea typeface="Arial" pitchFamily="34" charset="-122"/>
                <a:cs typeface="Arial" pitchFamily="34" charset="-120"/>
              </a:rPr>
              <a:t>Better proposal</a:t>
            </a:r>
            <a:endParaRPr lang="en-US" sz="1310" dirty="0"/>
          </a:p>
        </p:txBody>
      </p:sp>
      <p:sp>
        <p:nvSpPr>
          <p:cNvPr id="30" name="Text 28"/>
          <p:cNvSpPr/>
          <p:nvPr/>
        </p:nvSpPr>
        <p:spPr>
          <a:xfrm>
            <a:off x="2553164" y="4042920"/>
            <a:ext cx="1866807" cy="405198"/>
          </a:xfrm>
          <a:prstGeom prst="rect">
            <a:avLst/>
          </a:prstGeom>
          <a:noFill/>
          <a:ln/>
        </p:spPr>
        <p:txBody>
          <a:bodyPr wrap="square" lIns="0" tIns="0" rIns="0" bIns="0" rtlCol="0" anchor="t">
            <a:normAutofit/>
          </a:bodyPr>
          <a:lstStyle/>
          <a:p>
            <a:pPr marL="0" indent="0" algn="l">
              <a:buNone/>
            </a:pPr>
            <a:r>
              <a:rPr lang="en-US" sz="1026" dirty="0">
                <a:solidFill>
                  <a:srgbClr val="BDC4C9"/>
                </a:solidFill>
                <a:latin typeface="Arial" pitchFamily="34" charset="0"/>
                <a:ea typeface="Arial" pitchFamily="34" charset="-122"/>
                <a:cs typeface="Arial" pitchFamily="34" charset="-120"/>
              </a:rPr>
              <a:t>Reuse the reviewed method</a:t>
            </a:r>
            <a:endParaRPr lang="en-US" sz="1026" dirty="0"/>
          </a:p>
        </p:txBody>
      </p:sp>
      <p:sp>
        <p:nvSpPr>
          <p:cNvPr id="31" name="Text 29"/>
          <p:cNvSpPr/>
          <p:nvPr/>
        </p:nvSpPr>
        <p:spPr>
          <a:xfrm>
            <a:off x="4760048" y="4013977"/>
            <a:ext cx="2677204" cy="651212"/>
          </a:xfrm>
          <a:prstGeom prst="rect">
            <a:avLst/>
          </a:prstGeom>
          <a:noFill/>
          <a:ln/>
        </p:spPr>
        <p:txBody>
          <a:bodyPr wrap="square" lIns="0" tIns="0" rIns="0" bIns="0" rtlCol="0" anchor="t">
            <a:normAutofit/>
          </a:bodyPr>
          <a:lstStyle/>
          <a:p>
            <a:pPr marL="0" indent="0" algn="ctr">
              <a:buNone/>
            </a:pPr>
            <a:r>
              <a:rPr lang="en-US" sz="1709" b="1" dirty="0">
                <a:solidFill>
                  <a:srgbClr val="F5F6F7"/>
                </a:solidFill>
                <a:latin typeface="Arial" pitchFamily="34" charset="0"/>
                <a:ea typeface="Arial" pitchFamily="34" charset="-122"/>
                <a:cs typeface="Arial" pitchFamily="34" charset="-120"/>
              </a:rPr>
              <a:t>WIN BUSINESS</a:t>
            </a:r>
            <a:endParaRPr lang="en-US" sz="1709" dirty="0"/>
          </a:p>
          <a:p>
            <a:pPr marL="0" indent="0" algn="ctr">
              <a:buNone/>
            </a:pPr>
            <a:r>
              <a:rPr lang="en-US" sz="1709" b="1" dirty="0">
                <a:solidFill>
                  <a:srgbClr val="F5F6F7"/>
                </a:solidFill>
                <a:latin typeface="Arial" pitchFamily="34" charset="0"/>
                <a:ea typeface="Arial" pitchFamily="34" charset="-122"/>
                <a:cs typeface="Arial" pitchFamily="34" charset="-120"/>
              </a:rPr>
              <a:t>TOGETHER</a:t>
            </a:r>
            <a:endParaRPr lang="en-US" sz="1709" dirty="0"/>
          </a:p>
        </p:txBody>
      </p:sp>
      <p:sp>
        <p:nvSpPr>
          <p:cNvPr id="32" name="Text 30"/>
          <p:cNvSpPr/>
          <p:nvPr/>
        </p:nvSpPr>
        <p:spPr>
          <a:xfrm>
            <a:off x="548640" y="6035040"/>
            <a:ext cx="10954512" cy="219456"/>
          </a:xfrm>
          <a:prstGeom prst="rect">
            <a:avLst/>
          </a:prstGeom>
          <a:noFill/>
          <a:ln/>
        </p:spPr>
        <p:txBody>
          <a:bodyPr wrap="square" lIns="0" tIns="0" rIns="0" bIns="0" rtlCol="0" anchor="t">
            <a:normAutofit/>
          </a:bodyPr>
          <a:lstStyle/>
          <a:p>
            <a:pPr marL="0" indent="0" algn="l">
              <a:buNone/>
            </a:pPr>
            <a:r>
              <a:rPr lang="en-US" sz="840" dirty="0">
                <a:solidFill>
                  <a:srgbClr val="BDC4C9"/>
                </a:solidFill>
                <a:latin typeface="Arial" pitchFamily="34" charset="0"/>
                <a:ea typeface="Arial" pitchFamily="34" charset="-122"/>
                <a:cs typeface="Arial" pitchFamily="34" charset="-120"/>
              </a:rPr>
              <a:t>Proposed feedback mechanism / no measured causal effect is implied.</a:t>
            </a:r>
            <a:endParaRPr lang="en-US" sz="84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24282C"/>
        </a:solidFill>
        <a:effectLst/>
      </p:bgPr>
    </p:bg>
    <p:spTree>
      <p:nvGrpSpPr>
        <p:cNvPr id="1" name=""/>
        <p:cNvGrpSpPr/>
        <p:nvPr/>
      </p:nvGrpSpPr>
      <p:grpSpPr>
        <a:xfrm>
          <a:off x="0" y="0"/>
          <a:ext cx="0" cy="0"/>
          <a:chOff x="0" y="0"/>
          <a:chExt cx="0" cy="0"/>
        </a:xfrm>
      </p:grpSpPr>
      <p:sp>
        <p:nvSpPr>
          <p:cNvPr id="2" name="Text 0"/>
          <p:cNvSpPr/>
          <p:nvPr/>
        </p:nvSpPr>
        <p:spPr>
          <a:xfrm>
            <a:off x="484632" y="173736"/>
            <a:ext cx="2743200" cy="201168"/>
          </a:xfrm>
          <a:prstGeom prst="rect">
            <a:avLst/>
          </a:prstGeom>
          <a:noFill/>
          <a:ln/>
        </p:spPr>
        <p:txBody>
          <a:bodyPr wrap="square" lIns="0" tIns="0" rIns="0" bIns="0" rtlCol="0" anchor="t">
            <a:normAutofit/>
          </a:bodyPr>
          <a:lstStyle/>
          <a:p>
            <a:pPr marL="0" indent="0" algn="l">
              <a:buNone/>
            </a:pPr>
            <a:r>
              <a:rPr lang="en-US" sz="1000" b="1" dirty="0">
                <a:solidFill>
                  <a:srgbClr val="F5F6F7"/>
                </a:solidFill>
                <a:latin typeface="Arial" pitchFamily="34" charset="0"/>
                <a:ea typeface="Arial" pitchFamily="34" charset="-122"/>
                <a:cs typeface="Arial" pitchFamily="34" charset="-120"/>
              </a:rPr>
              <a:t>ISUZU / UNIVERSE</a:t>
            </a:r>
            <a:endParaRPr lang="en-US" sz="1000" dirty="0"/>
          </a:p>
        </p:txBody>
      </p:sp>
      <p:sp>
        <p:nvSpPr>
          <p:cNvPr id="3" name="Text 1"/>
          <p:cNvSpPr/>
          <p:nvPr/>
        </p:nvSpPr>
        <p:spPr>
          <a:xfrm>
            <a:off x="8046720" y="173736"/>
            <a:ext cx="3657600" cy="201168"/>
          </a:xfrm>
          <a:prstGeom prst="rect">
            <a:avLst/>
          </a:prstGeom>
          <a:noFill/>
          <a:ln/>
        </p:spPr>
        <p:txBody>
          <a:bodyPr wrap="square" lIns="0" tIns="0" rIns="0" bIns="0" rtlCol="0" anchor="t">
            <a:normAutofit/>
          </a:bodyPr>
          <a:lstStyle/>
          <a:p>
            <a:pPr marL="0" indent="0" algn="r">
              <a:buNone/>
            </a:pPr>
            <a:r>
              <a:rPr lang="en-US" sz="900" dirty="0">
                <a:solidFill>
                  <a:srgbClr val="BDC4C9"/>
                </a:solidFill>
                <a:latin typeface="Arial" pitchFamily="34" charset="0"/>
                <a:ea typeface="Arial" pitchFamily="34" charset="-122"/>
                <a:cs typeface="Arial" pitchFamily="34" charset="-120"/>
              </a:rPr>
              <a:t>COMMERCIAL VISION  /  3.0</a:t>
            </a:r>
            <a:endParaRPr lang="en-US" sz="900" dirty="0"/>
          </a:p>
        </p:txBody>
      </p:sp>
      <p:sp>
        <p:nvSpPr>
          <p:cNvPr id="4" name="Shape 2"/>
          <p:cNvSpPr/>
          <p:nvPr/>
        </p:nvSpPr>
        <p:spPr>
          <a:xfrm>
            <a:off x="484632" y="512064"/>
            <a:ext cx="475488" cy="22860"/>
          </a:xfrm>
          <a:prstGeom prst="rect">
            <a:avLst/>
          </a:prstGeom>
          <a:solidFill>
            <a:srgbClr val="D71920"/>
          </a:solidFill>
          <a:ln w="12700">
            <a:solidFill>
              <a:srgbClr val="D71920">
                <a:alpha val="0"/>
              </a:srgbClr>
            </a:solidFill>
            <a:prstDash val="solid"/>
          </a:ln>
        </p:spPr>
        <p:txBody>
          <a:bodyPr/>
          <a:lstStyle/>
          <a:p>
            <a:endParaRPr lang="nl-NL"/>
          </a:p>
        </p:txBody>
      </p:sp>
      <p:sp>
        <p:nvSpPr>
          <p:cNvPr id="5" name="Text 3"/>
          <p:cNvSpPr/>
          <p:nvPr/>
        </p:nvSpPr>
        <p:spPr>
          <a:xfrm>
            <a:off x="484632" y="658368"/>
            <a:ext cx="11064240" cy="219456"/>
          </a:xfrm>
          <a:prstGeom prst="rect">
            <a:avLst/>
          </a:prstGeom>
          <a:noFill/>
          <a:ln/>
        </p:spPr>
        <p:txBody>
          <a:bodyPr wrap="square" lIns="0" tIns="0" rIns="0" bIns="0" rtlCol="0" anchor="t">
            <a:normAutofit/>
          </a:bodyPr>
          <a:lstStyle/>
          <a:p>
            <a:pPr marL="0" indent="0" algn="l">
              <a:buNone/>
            </a:pPr>
            <a:r>
              <a:rPr lang="en-US" sz="1000" b="1" dirty="0">
                <a:solidFill>
                  <a:srgbClr val="D71920"/>
                </a:solidFill>
                <a:latin typeface="Arial" pitchFamily="34" charset="0"/>
                <a:ea typeface="Arial" pitchFamily="34" charset="-122"/>
                <a:cs typeface="Arial" pitchFamily="34" charset="-120"/>
              </a:rPr>
              <a:t>APPLICATION EXAMPLE / DEAL OF THE DAY</a:t>
            </a:r>
            <a:endParaRPr lang="en-US" sz="1000" dirty="0"/>
          </a:p>
        </p:txBody>
      </p:sp>
      <p:sp>
        <p:nvSpPr>
          <p:cNvPr id="6" name="Shape 4"/>
          <p:cNvSpPr/>
          <p:nvPr/>
        </p:nvSpPr>
        <p:spPr>
          <a:xfrm>
            <a:off x="484632" y="6446520"/>
            <a:ext cx="11219688" cy="914"/>
          </a:xfrm>
          <a:prstGeom prst="line">
            <a:avLst/>
          </a:prstGeom>
          <a:noFill/>
          <a:ln w="6350">
            <a:solidFill>
              <a:srgbClr val="647078"/>
            </a:solidFill>
            <a:prstDash val="solid"/>
          </a:ln>
        </p:spPr>
        <p:txBody>
          <a:bodyPr/>
          <a:lstStyle/>
          <a:p>
            <a:endParaRPr lang="nl-NL"/>
          </a:p>
        </p:txBody>
      </p:sp>
      <p:sp>
        <p:nvSpPr>
          <p:cNvPr id="7" name="Text 5"/>
          <p:cNvSpPr/>
          <p:nvPr/>
        </p:nvSpPr>
        <p:spPr>
          <a:xfrm>
            <a:off x="484632" y="6556248"/>
            <a:ext cx="9144000" cy="146304"/>
          </a:xfrm>
          <a:prstGeom prst="rect">
            <a:avLst/>
          </a:prstGeom>
          <a:noFill/>
          <a:ln/>
        </p:spPr>
        <p:txBody>
          <a:bodyPr wrap="square" lIns="0" tIns="0" rIns="0" bIns="0" rtlCol="0" anchor="t">
            <a:normAutofit/>
          </a:bodyPr>
          <a:lstStyle/>
          <a:p>
            <a:pPr marL="0" indent="0" algn="l">
              <a:buNone/>
            </a:pPr>
            <a:r>
              <a:rPr lang="en-US" sz="750" dirty="0">
                <a:solidFill>
                  <a:srgbClr val="BDC4C9"/>
                </a:solidFill>
                <a:latin typeface="Arial" pitchFamily="34" charset="0"/>
                <a:ea typeface="Arial" pitchFamily="34" charset="-122"/>
                <a:cs typeface="Arial" pitchFamily="34" charset="-120"/>
              </a:rPr>
              <a:t>22 SEPTEMBER 2026  /  CONCEPT AND APPLICATION EXAMPLES</a:t>
            </a:r>
            <a:endParaRPr lang="en-US" sz="750" dirty="0"/>
          </a:p>
        </p:txBody>
      </p:sp>
      <p:sp>
        <p:nvSpPr>
          <p:cNvPr id="8" name="Text 6"/>
          <p:cNvSpPr/>
          <p:nvPr/>
        </p:nvSpPr>
        <p:spPr>
          <a:xfrm>
            <a:off x="10789920" y="6547104"/>
            <a:ext cx="914400" cy="173736"/>
          </a:xfrm>
          <a:prstGeom prst="rect">
            <a:avLst/>
          </a:prstGeom>
          <a:noFill/>
          <a:ln/>
        </p:spPr>
        <p:txBody>
          <a:bodyPr wrap="square" lIns="0" tIns="0" rIns="0" bIns="0" rtlCol="0" anchor="t">
            <a:normAutofit/>
          </a:bodyPr>
          <a:lstStyle/>
          <a:p>
            <a:pPr marL="0" indent="0" algn="r">
              <a:buNone/>
            </a:pPr>
            <a:r>
              <a:rPr lang="en-US" sz="850" dirty="0">
                <a:solidFill>
                  <a:srgbClr val="BDC4C9"/>
                </a:solidFill>
                <a:latin typeface="Arial" pitchFamily="34" charset="0"/>
                <a:ea typeface="Arial" pitchFamily="34" charset="-122"/>
                <a:cs typeface="Arial" pitchFamily="34" charset="-120"/>
              </a:rPr>
              <a:t>27 / 49</a:t>
            </a:r>
            <a:endParaRPr lang="en-US" sz="850" dirty="0"/>
          </a:p>
        </p:txBody>
      </p:sp>
      <p:sp>
        <p:nvSpPr>
          <p:cNvPr id="9" name="Text 7"/>
          <p:cNvSpPr/>
          <p:nvPr/>
        </p:nvSpPr>
        <p:spPr>
          <a:xfrm>
            <a:off x="502920" y="1005840"/>
            <a:ext cx="11036808" cy="841248"/>
          </a:xfrm>
          <a:prstGeom prst="rect">
            <a:avLst/>
          </a:prstGeom>
          <a:noFill/>
          <a:ln/>
        </p:spPr>
        <p:txBody>
          <a:bodyPr wrap="square" lIns="0" tIns="0" rIns="0" bIns="0" rtlCol="0" anchor="t">
            <a:normAutofit/>
          </a:bodyPr>
          <a:lstStyle/>
          <a:p>
            <a:pPr marL="0" indent="0" algn="l">
              <a:buNone/>
            </a:pPr>
            <a:r>
              <a:rPr lang="en-US" sz="3400" b="1" dirty="0">
                <a:solidFill>
                  <a:srgbClr val="F5F6F7"/>
                </a:solidFill>
                <a:latin typeface="Arial" pitchFamily="34" charset="0"/>
                <a:ea typeface="Arial" pitchFamily="34" charset="-122"/>
                <a:cs typeface="Arial" pitchFamily="34" charset="-120"/>
              </a:rPr>
              <a:t>Deal of the Day: make the next offer more relevant.</a:t>
            </a:r>
            <a:endParaRPr lang="en-US" sz="3400" dirty="0"/>
          </a:p>
        </p:txBody>
      </p:sp>
      <p:sp>
        <p:nvSpPr>
          <p:cNvPr id="10" name="Text 8"/>
          <p:cNvSpPr/>
          <p:nvPr/>
        </p:nvSpPr>
        <p:spPr>
          <a:xfrm>
            <a:off x="530352" y="1865376"/>
            <a:ext cx="10954512" cy="566928"/>
          </a:xfrm>
          <a:prstGeom prst="rect">
            <a:avLst/>
          </a:prstGeom>
          <a:noFill/>
          <a:ln/>
        </p:spPr>
        <p:txBody>
          <a:bodyPr wrap="square" lIns="0" tIns="0" rIns="0" bIns="0" rtlCol="0" anchor="t">
            <a:normAutofit/>
          </a:bodyPr>
          <a:lstStyle/>
          <a:p>
            <a:pPr marL="0" indent="0" algn="l">
              <a:buNone/>
            </a:pPr>
            <a:r>
              <a:rPr lang="en-US" sz="1800" dirty="0">
                <a:solidFill>
                  <a:srgbClr val="BDC4C9"/>
                </a:solidFill>
                <a:latin typeface="Arial" pitchFamily="34" charset="0"/>
                <a:ea typeface="Arial" pitchFamily="34" charset="-122"/>
                <a:cs typeface="Arial" pitchFamily="34" charset="-120"/>
              </a:rPr>
              <a:t>Good commercial information improves selection, assistance and evaluation.</a:t>
            </a:r>
            <a:endParaRPr lang="en-US" sz="1800" dirty="0"/>
          </a:p>
        </p:txBody>
      </p:sp>
      <p:sp>
        <p:nvSpPr>
          <p:cNvPr id="11" name="Shape 9"/>
          <p:cNvSpPr/>
          <p:nvPr/>
        </p:nvSpPr>
        <p:spPr>
          <a:xfrm>
            <a:off x="7008051" y="3497180"/>
            <a:ext cx="511091" cy="187019"/>
          </a:xfrm>
          <a:prstGeom prst="line">
            <a:avLst/>
          </a:prstGeom>
          <a:noFill/>
          <a:ln w="14471">
            <a:solidFill>
              <a:srgbClr val="D71920"/>
            </a:solidFill>
            <a:prstDash val="solid"/>
            <a:tailEnd type="triangle"/>
          </a:ln>
        </p:spPr>
        <p:txBody>
          <a:bodyPr/>
          <a:lstStyle/>
          <a:p>
            <a:endParaRPr lang="nl-NL"/>
          </a:p>
        </p:txBody>
      </p:sp>
      <p:sp>
        <p:nvSpPr>
          <p:cNvPr id="12" name="Shape 10"/>
          <p:cNvSpPr/>
          <p:nvPr/>
        </p:nvSpPr>
        <p:spPr>
          <a:xfrm flipH="1">
            <a:off x="7967241" y="4592326"/>
            <a:ext cx="235210" cy="348326"/>
          </a:xfrm>
          <a:prstGeom prst="line">
            <a:avLst/>
          </a:prstGeom>
          <a:noFill/>
          <a:ln w="14471">
            <a:solidFill>
              <a:srgbClr val="D71920"/>
            </a:solidFill>
            <a:prstDash val="solid"/>
            <a:tailEnd type="triangle"/>
          </a:ln>
        </p:spPr>
        <p:txBody>
          <a:bodyPr/>
          <a:lstStyle/>
          <a:p>
            <a:endParaRPr lang="nl-NL"/>
          </a:p>
        </p:txBody>
      </p:sp>
      <p:sp>
        <p:nvSpPr>
          <p:cNvPr id="13" name="Shape 11"/>
          <p:cNvSpPr/>
          <p:nvPr/>
        </p:nvSpPr>
        <p:spPr>
          <a:xfrm flipH="1">
            <a:off x="5411260" y="5468351"/>
            <a:ext cx="1092589" cy="914"/>
          </a:xfrm>
          <a:prstGeom prst="line">
            <a:avLst/>
          </a:prstGeom>
          <a:noFill/>
          <a:ln w="14471">
            <a:solidFill>
              <a:srgbClr val="D71920"/>
            </a:solidFill>
            <a:prstDash val="solid"/>
            <a:tailEnd type="triangle"/>
          </a:ln>
        </p:spPr>
        <p:txBody>
          <a:bodyPr/>
          <a:lstStyle/>
          <a:p>
            <a:endParaRPr lang="nl-NL"/>
          </a:p>
        </p:txBody>
      </p:sp>
      <p:sp>
        <p:nvSpPr>
          <p:cNvPr id="14" name="Shape 12"/>
          <p:cNvSpPr/>
          <p:nvPr/>
        </p:nvSpPr>
        <p:spPr>
          <a:xfrm flipH="1" flipV="1">
            <a:off x="3807050" y="4614836"/>
            <a:ext cx="176668" cy="303306"/>
          </a:xfrm>
          <a:prstGeom prst="line">
            <a:avLst/>
          </a:prstGeom>
          <a:noFill/>
          <a:ln w="14471">
            <a:solidFill>
              <a:srgbClr val="D71920"/>
            </a:solidFill>
            <a:prstDash val="solid"/>
            <a:tailEnd type="triangle"/>
          </a:ln>
        </p:spPr>
        <p:txBody>
          <a:bodyPr/>
          <a:lstStyle/>
          <a:p>
            <a:endParaRPr lang="nl-NL"/>
          </a:p>
        </p:txBody>
      </p:sp>
      <p:sp>
        <p:nvSpPr>
          <p:cNvPr id="15" name="Shape 13"/>
          <p:cNvSpPr/>
          <p:nvPr/>
        </p:nvSpPr>
        <p:spPr>
          <a:xfrm flipV="1">
            <a:off x="4520767" y="3511738"/>
            <a:ext cx="413442" cy="157903"/>
          </a:xfrm>
          <a:prstGeom prst="line">
            <a:avLst/>
          </a:prstGeom>
          <a:noFill/>
          <a:ln w="14471">
            <a:solidFill>
              <a:srgbClr val="D71920"/>
            </a:solidFill>
            <a:prstDash val="solid"/>
            <a:tailEnd type="triangle"/>
          </a:ln>
        </p:spPr>
        <p:txBody>
          <a:bodyPr/>
          <a:lstStyle/>
          <a:p>
            <a:endParaRPr lang="nl-NL"/>
          </a:p>
        </p:txBody>
      </p:sp>
      <p:sp>
        <p:nvSpPr>
          <p:cNvPr id="16" name="Shape 14"/>
          <p:cNvSpPr/>
          <p:nvPr/>
        </p:nvSpPr>
        <p:spPr>
          <a:xfrm>
            <a:off x="4926469" y="2718789"/>
            <a:ext cx="2083878" cy="803161"/>
          </a:xfrm>
          <a:prstGeom prst="roundRect">
            <a:avLst>
              <a:gd name="adj" fmla="val 4554"/>
            </a:avLst>
          </a:prstGeom>
          <a:solidFill>
            <a:srgbClr val="30363B"/>
          </a:solidFill>
          <a:ln w="8890">
            <a:solidFill>
              <a:srgbClr val="D71920"/>
            </a:solidFill>
            <a:prstDash val="solid"/>
          </a:ln>
        </p:spPr>
        <p:txBody>
          <a:bodyPr/>
          <a:lstStyle/>
          <a:p>
            <a:endParaRPr lang="nl-NL"/>
          </a:p>
        </p:txBody>
      </p:sp>
      <p:sp>
        <p:nvSpPr>
          <p:cNvPr id="17" name="Text 15"/>
          <p:cNvSpPr/>
          <p:nvPr/>
        </p:nvSpPr>
        <p:spPr>
          <a:xfrm>
            <a:off x="5035004" y="2812853"/>
            <a:ext cx="1866807" cy="274956"/>
          </a:xfrm>
          <a:prstGeom prst="rect">
            <a:avLst/>
          </a:prstGeom>
          <a:noFill/>
          <a:ln/>
        </p:spPr>
        <p:txBody>
          <a:bodyPr wrap="square" lIns="0" tIns="0" rIns="0" bIns="0" rtlCol="0" anchor="t">
            <a:normAutofit/>
          </a:bodyPr>
          <a:lstStyle/>
          <a:p>
            <a:pPr marL="0" indent="0" algn="l">
              <a:buNone/>
            </a:pPr>
            <a:r>
              <a:rPr lang="en-US" sz="1310" b="1" dirty="0">
                <a:solidFill>
                  <a:srgbClr val="F5F6F7"/>
                </a:solidFill>
                <a:latin typeface="Arial" pitchFamily="34" charset="0"/>
                <a:ea typeface="Arial" pitchFamily="34" charset="-122"/>
                <a:cs typeface="Arial" pitchFamily="34" charset="-120"/>
              </a:rPr>
              <a:t>Usable data</a:t>
            </a:r>
            <a:endParaRPr lang="en-US" sz="1310" dirty="0"/>
          </a:p>
        </p:txBody>
      </p:sp>
      <p:sp>
        <p:nvSpPr>
          <p:cNvPr id="18" name="Text 16"/>
          <p:cNvSpPr/>
          <p:nvPr/>
        </p:nvSpPr>
        <p:spPr>
          <a:xfrm>
            <a:off x="5035004" y="3095045"/>
            <a:ext cx="1866807" cy="405198"/>
          </a:xfrm>
          <a:prstGeom prst="rect">
            <a:avLst/>
          </a:prstGeom>
          <a:noFill/>
          <a:ln/>
        </p:spPr>
        <p:txBody>
          <a:bodyPr wrap="square" lIns="0" tIns="0" rIns="0" bIns="0" rtlCol="0" anchor="t">
            <a:normAutofit/>
          </a:bodyPr>
          <a:lstStyle/>
          <a:p>
            <a:pPr marL="0" indent="0" algn="l">
              <a:buNone/>
            </a:pPr>
            <a:r>
              <a:rPr lang="en-US" sz="1026" dirty="0">
                <a:solidFill>
                  <a:srgbClr val="BDC4C9"/>
                </a:solidFill>
                <a:latin typeface="Arial" pitchFamily="34" charset="0"/>
                <a:ea typeface="Arial" pitchFamily="34" charset="-122"/>
                <a:cs typeface="Arial" pitchFamily="34" charset="-120"/>
              </a:rPr>
              <a:t>The basis for a relevant offer</a:t>
            </a:r>
            <a:endParaRPr lang="en-US" sz="1026" dirty="0"/>
          </a:p>
        </p:txBody>
      </p:sp>
      <p:sp>
        <p:nvSpPr>
          <p:cNvPr id="19" name="Shape 17"/>
          <p:cNvSpPr/>
          <p:nvPr/>
        </p:nvSpPr>
        <p:spPr>
          <a:xfrm>
            <a:off x="7516845" y="3666664"/>
            <a:ext cx="2083878" cy="803161"/>
          </a:xfrm>
          <a:prstGeom prst="roundRect">
            <a:avLst>
              <a:gd name="adj" fmla="val 4554"/>
            </a:avLst>
          </a:prstGeom>
          <a:solidFill>
            <a:srgbClr val="30363B"/>
          </a:solidFill>
          <a:ln w="8890">
            <a:solidFill>
              <a:srgbClr val="48525B"/>
            </a:solidFill>
            <a:prstDash val="solid"/>
          </a:ln>
        </p:spPr>
        <p:txBody>
          <a:bodyPr/>
          <a:lstStyle/>
          <a:p>
            <a:endParaRPr lang="nl-NL"/>
          </a:p>
        </p:txBody>
      </p:sp>
      <p:sp>
        <p:nvSpPr>
          <p:cNvPr id="20" name="Text 18"/>
          <p:cNvSpPr/>
          <p:nvPr/>
        </p:nvSpPr>
        <p:spPr>
          <a:xfrm>
            <a:off x="7625380" y="3760728"/>
            <a:ext cx="1866807" cy="274956"/>
          </a:xfrm>
          <a:prstGeom prst="rect">
            <a:avLst/>
          </a:prstGeom>
          <a:noFill/>
          <a:ln/>
        </p:spPr>
        <p:txBody>
          <a:bodyPr wrap="square" lIns="0" tIns="0" rIns="0" bIns="0" rtlCol="0" anchor="t">
            <a:normAutofit/>
          </a:bodyPr>
          <a:lstStyle/>
          <a:p>
            <a:pPr marL="0" indent="0" algn="l">
              <a:buNone/>
            </a:pPr>
            <a:r>
              <a:rPr lang="en-US" sz="1310" b="1" dirty="0">
                <a:solidFill>
                  <a:srgbClr val="F5F6F7"/>
                </a:solidFill>
                <a:latin typeface="Arial" pitchFamily="34" charset="0"/>
                <a:ea typeface="Arial" pitchFamily="34" charset="-122"/>
                <a:cs typeface="Arial" pitchFamily="34" charset="-120"/>
              </a:rPr>
              <a:t>Selected campaign</a:t>
            </a:r>
            <a:endParaRPr lang="en-US" sz="1310" dirty="0"/>
          </a:p>
        </p:txBody>
      </p:sp>
      <p:sp>
        <p:nvSpPr>
          <p:cNvPr id="21" name="Text 19"/>
          <p:cNvSpPr/>
          <p:nvPr/>
        </p:nvSpPr>
        <p:spPr>
          <a:xfrm>
            <a:off x="7625380" y="4042920"/>
            <a:ext cx="1866807" cy="405198"/>
          </a:xfrm>
          <a:prstGeom prst="rect">
            <a:avLst/>
          </a:prstGeom>
          <a:noFill/>
          <a:ln/>
        </p:spPr>
        <p:txBody>
          <a:bodyPr wrap="square" lIns="0" tIns="0" rIns="0" bIns="0" rtlCol="0" anchor="t">
            <a:normAutofit/>
          </a:bodyPr>
          <a:lstStyle/>
          <a:p>
            <a:pPr marL="0" indent="0" algn="l">
              <a:buNone/>
            </a:pPr>
            <a:r>
              <a:rPr lang="en-US" sz="1026" dirty="0">
                <a:solidFill>
                  <a:srgbClr val="BDC4C9"/>
                </a:solidFill>
                <a:latin typeface="Arial" pitchFamily="34" charset="0"/>
                <a:ea typeface="Arial" pitchFamily="34" charset="-122"/>
                <a:cs typeface="Arial" pitchFamily="34" charset="-120"/>
              </a:rPr>
              <a:t>Product, purpose and audience</a:t>
            </a:r>
            <a:endParaRPr lang="en-US" sz="1026" dirty="0"/>
          </a:p>
        </p:txBody>
      </p:sp>
      <p:sp>
        <p:nvSpPr>
          <p:cNvPr id="22" name="Shape 20"/>
          <p:cNvSpPr/>
          <p:nvPr/>
        </p:nvSpPr>
        <p:spPr>
          <a:xfrm>
            <a:off x="6568970" y="5070388"/>
            <a:ext cx="2083878" cy="803161"/>
          </a:xfrm>
          <a:prstGeom prst="roundRect">
            <a:avLst>
              <a:gd name="adj" fmla="val 4554"/>
            </a:avLst>
          </a:prstGeom>
          <a:solidFill>
            <a:srgbClr val="30363B"/>
          </a:solidFill>
          <a:ln w="8890">
            <a:solidFill>
              <a:srgbClr val="48525B"/>
            </a:solidFill>
            <a:prstDash val="solid"/>
          </a:ln>
        </p:spPr>
        <p:txBody>
          <a:bodyPr/>
          <a:lstStyle/>
          <a:p>
            <a:endParaRPr lang="nl-NL"/>
          </a:p>
        </p:txBody>
      </p:sp>
      <p:sp>
        <p:nvSpPr>
          <p:cNvPr id="23" name="Text 21"/>
          <p:cNvSpPr/>
          <p:nvPr/>
        </p:nvSpPr>
        <p:spPr>
          <a:xfrm>
            <a:off x="6677505" y="5164452"/>
            <a:ext cx="1866807" cy="274956"/>
          </a:xfrm>
          <a:prstGeom prst="rect">
            <a:avLst/>
          </a:prstGeom>
          <a:noFill/>
          <a:ln/>
        </p:spPr>
        <p:txBody>
          <a:bodyPr wrap="square" lIns="0" tIns="0" rIns="0" bIns="0" rtlCol="0" anchor="t">
            <a:normAutofit/>
          </a:bodyPr>
          <a:lstStyle/>
          <a:p>
            <a:pPr marL="0" indent="0" algn="l">
              <a:buNone/>
            </a:pPr>
            <a:r>
              <a:rPr lang="en-US" sz="1310" b="1" dirty="0">
                <a:solidFill>
                  <a:srgbClr val="F5F6F7"/>
                </a:solidFill>
                <a:latin typeface="Arial" pitchFamily="34" charset="0"/>
                <a:ea typeface="Arial" pitchFamily="34" charset="-122"/>
                <a:cs typeface="Arial" pitchFamily="34" charset="-120"/>
              </a:rPr>
              <a:t>ISZE assistance</a:t>
            </a:r>
            <a:endParaRPr lang="en-US" sz="1310" dirty="0"/>
          </a:p>
        </p:txBody>
      </p:sp>
      <p:sp>
        <p:nvSpPr>
          <p:cNvPr id="24" name="Text 22"/>
          <p:cNvSpPr/>
          <p:nvPr/>
        </p:nvSpPr>
        <p:spPr>
          <a:xfrm>
            <a:off x="6677505" y="5446643"/>
            <a:ext cx="1866807" cy="405198"/>
          </a:xfrm>
          <a:prstGeom prst="rect">
            <a:avLst/>
          </a:prstGeom>
          <a:noFill/>
          <a:ln/>
        </p:spPr>
        <p:txBody>
          <a:bodyPr wrap="square" lIns="0" tIns="0" rIns="0" bIns="0" rtlCol="0" anchor="t">
            <a:normAutofit/>
          </a:bodyPr>
          <a:lstStyle/>
          <a:p>
            <a:pPr marL="0" indent="0" algn="l">
              <a:buNone/>
            </a:pPr>
            <a:r>
              <a:rPr lang="en-US" sz="1026" dirty="0">
                <a:solidFill>
                  <a:srgbClr val="BDC4C9"/>
                </a:solidFill>
                <a:latin typeface="Arial" pitchFamily="34" charset="0"/>
                <a:ea typeface="Arial" pitchFamily="34" charset="-122"/>
                <a:cs typeface="Arial" pitchFamily="34" charset="-120"/>
              </a:rPr>
              <a:t>Analysis and approved contribution</a:t>
            </a:r>
            <a:endParaRPr lang="en-US" sz="1026" dirty="0"/>
          </a:p>
        </p:txBody>
      </p:sp>
      <p:sp>
        <p:nvSpPr>
          <p:cNvPr id="25" name="Shape 23"/>
          <p:cNvSpPr/>
          <p:nvPr/>
        </p:nvSpPr>
        <p:spPr>
          <a:xfrm>
            <a:off x="3262261" y="5070388"/>
            <a:ext cx="2083878" cy="803161"/>
          </a:xfrm>
          <a:prstGeom prst="roundRect">
            <a:avLst>
              <a:gd name="adj" fmla="val 4554"/>
            </a:avLst>
          </a:prstGeom>
          <a:solidFill>
            <a:srgbClr val="30363B"/>
          </a:solidFill>
          <a:ln w="8890">
            <a:solidFill>
              <a:srgbClr val="48525B"/>
            </a:solidFill>
            <a:prstDash val="solid"/>
          </a:ln>
        </p:spPr>
        <p:txBody>
          <a:bodyPr/>
          <a:lstStyle/>
          <a:p>
            <a:endParaRPr lang="nl-NL"/>
          </a:p>
        </p:txBody>
      </p:sp>
      <p:sp>
        <p:nvSpPr>
          <p:cNvPr id="26" name="Text 24"/>
          <p:cNvSpPr/>
          <p:nvPr/>
        </p:nvSpPr>
        <p:spPr>
          <a:xfrm>
            <a:off x="3370796" y="5164452"/>
            <a:ext cx="1866807" cy="274956"/>
          </a:xfrm>
          <a:prstGeom prst="rect">
            <a:avLst/>
          </a:prstGeom>
          <a:noFill/>
          <a:ln/>
        </p:spPr>
        <p:txBody>
          <a:bodyPr wrap="square" lIns="0" tIns="0" rIns="0" bIns="0" rtlCol="0" anchor="t">
            <a:normAutofit/>
          </a:bodyPr>
          <a:lstStyle/>
          <a:p>
            <a:pPr marL="0" indent="0" algn="l">
              <a:buNone/>
            </a:pPr>
            <a:r>
              <a:rPr lang="en-US" sz="1310" b="1" dirty="0">
                <a:solidFill>
                  <a:srgbClr val="F5F6F7"/>
                </a:solidFill>
                <a:latin typeface="Arial" pitchFamily="34" charset="0"/>
                <a:ea typeface="Arial" pitchFamily="34" charset="-122"/>
                <a:cs typeface="Arial" pitchFamily="34" charset="-120"/>
              </a:rPr>
              <a:t>Observed activity</a:t>
            </a:r>
            <a:endParaRPr lang="en-US" sz="1310" dirty="0"/>
          </a:p>
        </p:txBody>
      </p:sp>
      <p:sp>
        <p:nvSpPr>
          <p:cNvPr id="27" name="Text 25"/>
          <p:cNvSpPr/>
          <p:nvPr/>
        </p:nvSpPr>
        <p:spPr>
          <a:xfrm>
            <a:off x="3370796" y="5446643"/>
            <a:ext cx="1866807" cy="405198"/>
          </a:xfrm>
          <a:prstGeom prst="rect">
            <a:avLst/>
          </a:prstGeom>
          <a:noFill/>
          <a:ln/>
        </p:spPr>
        <p:txBody>
          <a:bodyPr wrap="square" lIns="0" tIns="0" rIns="0" bIns="0" rtlCol="0" anchor="t">
            <a:normAutofit/>
          </a:bodyPr>
          <a:lstStyle/>
          <a:p>
            <a:pPr marL="0" indent="0" algn="l">
              <a:buNone/>
            </a:pPr>
            <a:r>
              <a:rPr lang="en-US" sz="1026" dirty="0">
                <a:solidFill>
                  <a:srgbClr val="BDC4C9"/>
                </a:solidFill>
                <a:latin typeface="Arial" pitchFamily="34" charset="0"/>
                <a:ea typeface="Arial" pitchFamily="34" charset="-122"/>
                <a:cs typeface="Arial" pitchFamily="34" charset="-120"/>
              </a:rPr>
              <a:t>Same scope and follow-up</a:t>
            </a:r>
            <a:endParaRPr lang="en-US" sz="1026" dirty="0"/>
          </a:p>
        </p:txBody>
      </p:sp>
      <p:sp>
        <p:nvSpPr>
          <p:cNvPr id="28" name="Shape 26"/>
          <p:cNvSpPr/>
          <p:nvPr/>
        </p:nvSpPr>
        <p:spPr>
          <a:xfrm>
            <a:off x="2444629" y="3666664"/>
            <a:ext cx="2083878" cy="803161"/>
          </a:xfrm>
          <a:prstGeom prst="roundRect">
            <a:avLst>
              <a:gd name="adj" fmla="val 4554"/>
            </a:avLst>
          </a:prstGeom>
          <a:solidFill>
            <a:srgbClr val="30363B"/>
          </a:solidFill>
          <a:ln w="8890">
            <a:solidFill>
              <a:srgbClr val="48525B"/>
            </a:solidFill>
            <a:prstDash val="solid"/>
          </a:ln>
        </p:spPr>
        <p:txBody>
          <a:bodyPr/>
          <a:lstStyle/>
          <a:p>
            <a:endParaRPr lang="nl-NL"/>
          </a:p>
        </p:txBody>
      </p:sp>
      <p:sp>
        <p:nvSpPr>
          <p:cNvPr id="29" name="Text 27"/>
          <p:cNvSpPr/>
          <p:nvPr/>
        </p:nvSpPr>
        <p:spPr>
          <a:xfrm>
            <a:off x="2553164" y="3760728"/>
            <a:ext cx="1866807" cy="274956"/>
          </a:xfrm>
          <a:prstGeom prst="rect">
            <a:avLst/>
          </a:prstGeom>
          <a:noFill/>
          <a:ln/>
        </p:spPr>
        <p:txBody>
          <a:bodyPr wrap="square" lIns="0" tIns="0" rIns="0" bIns="0" rtlCol="0" anchor="t">
            <a:normAutofit/>
          </a:bodyPr>
          <a:lstStyle/>
          <a:p>
            <a:pPr marL="0" indent="0" algn="l">
              <a:buNone/>
            </a:pPr>
            <a:r>
              <a:rPr lang="en-US" sz="1310" b="1" dirty="0">
                <a:solidFill>
                  <a:srgbClr val="F5F6F7"/>
                </a:solidFill>
                <a:latin typeface="Arial" pitchFamily="34" charset="0"/>
                <a:ea typeface="Arial" pitchFamily="34" charset="-122"/>
                <a:cs typeface="Arial" pitchFamily="34" charset="-120"/>
              </a:rPr>
              <a:t>Better next offer</a:t>
            </a:r>
            <a:endParaRPr lang="en-US" sz="1310" dirty="0"/>
          </a:p>
        </p:txBody>
      </p:sp>
      <p:sp>
        <p:nvSpPr>
          <p:cNvPr id="30" name="Text 28"/>
          <p:cNvSpPr/>
          <p:nvPr/>
        </p:nvSpPr>
        <p:spPr>
          <a:xfrm>
            <a:off x="2553164" y="4042920"/>
            <a:ext cx="1866807" cy="405198"/>
          </a:xfrm>
          <a:prstGeom prst="rect">
            <a:avLst/>
          </a:prstGeom>
          <a:noFill/>
          <a:ln/>
        </p:spPr>
        <p:txBody>
          <a:bodyPr wrap="square" lIns="0" tIns="0" rIns="0" bIns="0" rtlCol="0" anchor="t">
            <a:normAutofit/>
          </a:bodyPr>
          <a:lstStyle/>
          <a:p>
            <a:pPr marL="0" indent="0" algn="l">
              <a:buNone/>
            </a:pPr>
            <a:r>
              <a:rPr lang="en-US" sz="1026" dirty="0">
                <a:solidFill>
                  <a:srgbClr val="BDC4C9"/>
                </a:solidFill>
                <a:latin typeface="Arial" pitchFamily="34" charset="0"/>
                <a:ea typeface="Arial" pitchFamily="34" charset="-122"/>
                <a:cs typeface="Arial" pitchFamily="34" charset="-120"/>
              </a:rPr>
              <a:t>Selection improves through use</a:t>
            </a:r>
            <a:endParaRPr lang="en-US" sz="1026" dirty="0"/>
          </a:p>
        </p:txBody>
      </p:sp>
      <p:sp>
        <p:nvSpPr>
          <p:cNvPr id="31" name="Text 29"/>
          <p:cNvSpPr/>
          <p:nvPr/>
        </p:nvSpPr>
        <p:spPr>
          <a:xfrm>
            <a:off x="4760048" y="4013977"/>
            <a:ext cx="2677204" cy="651212"/>
          </a:xfrm>
          <a:prstGeom prst="rect">
            <a:avLst/>
          </a:prstGeom>
          <a:noFill/>
          <a:ln/>
        </p:spPr>
        <p:txBody>
          <a:bodyPr wrap="square" lIns="0" tIns="0" rIns="0" bIns="0" rtlCol="0" anchor="t">
            <a:normAutofit/>
          </a:bodyPr>
          <a:lstStyle/>
          <a:p>
            <a:pPr marL="0" indent="0" algn="ctr">
              <a:buNone/>
            </a:pPr>
            <a:r>
              <a:rPr lang="en-US" sz="1709" b="1" dirty="0">
                <a:solidFill>
                  <a:srgbClr val="F5F6F7"/>
                </a:solidFill>
                <a:latin typeface="Arial" pitchFamily="34" charset="0"/>
                <a:ea typeface="Arial" pitchFamily="34" charset="-122"/>
                <a:cs typeface="Arial" pitchFamily="34" charset="-120"/>
              </a:rPr>
              <a:t>DEAL OF</a:t>
            </a:r>
            <a:endParaRPr lang="en-US" sz="1709" dirty="0"/>
          </a:p>
          <a:p>
            <a:pPr marL="0" indent="0" algn="ctr">
              <a:buNone/>
            </a:pPr>
            <a:r>
              <a:rPr lang="en-US" sz="1709" b="1" dirty="0">
                <a:solidFill>
                  <a:srgbClr val="F5F6F7"/>
                </a:solidFill>
                <a:latin typeface="Arial" pitchFamily="34" charset="0"/>
                <a:ea typeface="Arial" pitchFamily="34" charset="-122"/>
                <a:cs typeface="Arial" pitchFamily="34" charset="-120"/>
              </a:rPr>
              <a:t>THE DAY</a:t>
            </a:r>
            <a:endParaRPr lang="en-US" sz="1709" dirty="0"/>
          </a:p>
        </p:txBody>
      </p:sp>
      <p:sp>
        <p:nvSpPr>
          <p:cNvPr id="32" name="Text 30"/>
          <p:cNvSpPr/>
          <p:nvPr/>
        </p:nvSpPr>
        <p:spPr>
          <a:xfrm>
            <a:off x="548640" y="6035040"/>
            <a:ext cx="10954512" cy="219456"/>
          </a:xfrm>
          <a:prstGeom prst="rect">
            <a:avLst/>
          </a:prstGeom>
          <a:noFill/>
          <a:ln/>
        </p:spPr>
        <p:txBody>
          <a:bodyPr wrap="square" lIns="0" tIns="0" rIns="0" bIns="0" rtlCol="0" anchor="t">
            <a:normAutofit/>
          </a:bodyPr>
          <a:lstStyle/>
          <a:p>
            <a:pPr marL="0" indent="0" algn="l">
              <a:buNone/>
            </a:pPr>
            <a:r>
              <a:rPr lang="en-US" sz="840" dirty="0">
                <a:solidFill>
                  <a:srgbClr val="BDC4C9"/>
                </a:solidFill>
                <a:latin typeface="Arial" pitchFamily="34" charset="0"/>
                <a:ea typeface="Arial" pitchFamily="34" charset="-122"/>
                <a:cs typeface="Arial" pitchFamily="34" charset="-120"/>
              </a:rPr>
              <a:t>Proposed feedback mechanism / no measured causal effect is implied.</a:t>
            </a:r>
            <a:endParaRPr lang="en-US" sz="84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24282C"/>
        </a:solidFill>
        <a:effectLst/>
      </p:bgPr>
    </p:bg>
    <p:spTree>
      <p:nvGrpSpPr>
        <p:cNvPr id="1" name=""/>
        <p:cNvGrpSpPr/>
        <p:nvPr/>
      </p:nvGrpSpPr>
      <p:grpSpPr>
        <a:xfrm>
          <a:off x="0" y="0"/>
          <a:ext cx="0" cy="0"/>
          <a:chOff x="0" y="0"/>
          <a:chExt cx="0" cy="0"/>
        </a:xfrm>
      </p:grpSpPr>
      <p:sp>
        <p:nvSpPr>
          <p:cNvPr id="2" name="Text 0"/>
          <p:cNvSpPr/>
          <p:nvPr/>
        </p:nvSpPr>
        <p:spPr>
          <a:xfrm>
            <a:off x="484632" y="173736"/>
            <a:ext cx="2743200" cy="201168"/>
          </a:xfrm>
          <a:prstGeom prst="rect">
            <a:avLst/>
          </a:prstGeom>
          <a:noFill/>
          <a:ln/>
        </p:spPr>
        <p:txBody>
          <a:bodyPr wrap="square" lIns="0" tIns="0" rIns="0" bIns="0" rtlCol="0" anchor="t">
            <a:normAutofit/>
          </a:bodyPr>
          <a:lstStyle/>
          <a:p>
            <a:pPr marL="0" indent="0" algn="l">
              <a:buNone/>
            </a:pPr>
            <a:r>
              <a:rPr lang="en-US" sz="1000" b="1" dirty="0">
                <a:solidFill>
                  <a:srgbClr val="F5F6F7"/>
                </a:solidFill>
                <a:latin typeface="Arial" pitchFamily="34" charset="0"/>
                <a:ea typeface="Arial" pitchFamily="34" charset="-122"/>
                <a:cs typeface="Arial" pitchFamily="34" charset="-120"/>
              </a:rPr>
              <a:t>ISUZU / UNIVERSE</a:t>
            </a:r>
            <a:endParaRPr lang="en-US" sz="1000" dirty="0"/>
          </a:p>
        </p:txBody>
      </p:sp>
      <p:sp>
        <p:nvSpPr>
          <p:cNvPr id="3" name="Text 1"/>
          <p:cNvSpPr/>
          <p:nvPr/>
        </p:nvSpPr>
        <p:spPr>
          <a:xfrm>
            <a:off x="8046720" y="173736"/>
            <a:ext cx="3657600" cy="201168"/>
          </a:xfrm>
          <a:prstGeom prst="rect">
            <a:avLst/>
          </a:prstGeom>
          <a:noFill/>
          <a:ln/>
        </p:spPr>
        <p:txBody>
          <a:bodyPr wrap="square" lIns="0" tIns="0" rIns="0" bIns="0" rtlCol="0" anchor="t">
            <a:normAutofit/>
          </a:bodyPr>
          <a:lstStyle/>
          <a:p>
            <a:pPr marL="0" indent="0" algn="r">
              <a:buNone/>
            </a:pPr>
            <a:r>
              <a:rPr lang="en-US" sz="900" dirty="0">
                <a:solidFill>
                  <a:srgbClr val="BDC4C9"/>
                </a:solidFill>
                <a:latin typeface="Arial" pitchFamily="34" charset="0"/>
                <a:ea typeface="Arial" pitchFamily="34" charset="-122"/>
                <a:cs typeface="Arial" pitchFamily="34" charset="-120"/>
              </a:rPr>
              <a:t>COMMERCIAL VISION  /  3.0</a:t>
            </a:r>
            <a:endParaRPr lang="en-US" sz="900" dirty="0"/>
          </a:p>
        </p:txBody>
      </p:sp>
      <p:sp>
        <p:nvSpPr>
          <p:cNvPr id="4" name="Shape 2"/>
          <p:cNvSpPr/>
          <p:nvPr/>
        </p:nvSpPr>
        <p:spPr>
          <a:xfrm>
            <a:off x="484632" y="512064"/>
            <a:ext cx="475488" cy="22860"/>
          </a:xfrm>
          <a:prstGeom prst="rect">
            <a:avLst/>
          </a:prstGeom>
          <a:solidFill>
            <a:srgbClr val="D71920"/>
          </a:solidFill>
          <a:ln w="12700">
            <a:solidFill>
              <a:srgbClr val="D71920">
                <a:alpha val="0"/>
              </a:srgbClr>
            </a:solidFill>
            <a:prstDash val="solid"/>
          </a:ln>
        </p:spPr>
        <p:txBody>
          <a:bodyPr/>
          <a:lstStyle/>
          <a:p>
            <a:endParaRPr lang="nl-NL"/>
          </a:p>
        </p:txBody>
      </p:sp>
      <p:sp>
        <p:nvSpPr>
          <p:cNvPr id="5" name="Text 3"/>
          <p:cNvSpPr/>
          <p:nvPr/>
        </p:nvSpPr>
        <p:spPr>
          <a:xfrm>
            <a:off x="484632" y="658368"/>
            <a:ext cx="11064240" cy="219456"/>
          </a:xfrm>
          <a:prstGeom prst="rect">
            <a:avLst/>
          </a:prstGeom>
          <a:noFill/>
          <a:ln/>
        </p:spPr>
        <p:txBody>
          <a:bodyPr wrap="square" lIns="0" tIns="0" rIns="0" bIns="0" rtlCol="0" anchor="t">
            <a:normAutofit/>
          </a:bodyPr>
          <a:lstStyle/>
          <a:p>
            <a:pPr marL="0" indent="0" algn="l">
              <a:buNone/>
            </a:pPr>
            <a:r>
              <a:rPr lang="en-US" sz="1000" b="1" dirty="0">
                <a:solidFill>
                  <a:srgbClr val="D71920"/>
                </a:solidFill>
                <a:latin typeface="Arial" pitchFamily="34" charset="0"/>
                <a:ea typeface="Arial" pitchFamily="34" charset="-122"/>
                <a:cs typeface="Arial" pitchFamily="34" charset="-120"/>
              </a:rPr>
              <a:t>DEAL OF THE DAY / OBJECTIVE</a:t>
            </a:r>
            <a:endParaRPr lang="en-US" sz="1000" dirty="0"/>
          </a:p>
        </p:txBody>
      </p:sp>
      <p:sp>
        <p:nvSpPr>
          <p:cNvPr id="6" name="Shape 4"/>
          <p:cNvSpPr/>
          <p:nvPr/>
        </p:nvSpPr>
        <p:spPr>
          <a:xfrm>
            <a:off x="484632" y="6446520"/>
            <a:ext cx="11219688" cy="914"/>
          </a:xfrm>
          <a:prstGeom prst="line">
            <a:avLst/>
          </a:prstGeom>
          <a:noFill/>
          <a:ln w="6350">
            <a:solidFill>
              <a:srgbClr val="647078"/>
            </a:solidFill>
            <a:prstDash val="solid"/>
          </a:ln>
        </p:spPr>
        <p:txBody>
          <a:bodyPr/>
          <a:lstStyle/>
          <a:p>
            <a:endParaRPr lang="nl-NL"/>
          </a:p>
        </p:txBody>
      </p:sp>
      <p:sp>
        <p:nvSpPr>
          <p:cNvPr id="7" name="Text 5"/>
          <p:cNvSpPr/>
          <p:nvPr/>
        </p:nvSpPr>
        <p:spPr>
          <a:xfrm>
            <a:off x="484632" y="6556248"/>
            <a:ext cx="9144000" cy="146304"/>
          </a:xfrm>
          <a:prstGeom prst="rect">
            <a:avLst/>
          </a:prstGeom>
          <a:noFill/>
          <a:ln/>
        </p:spPr>
        <p:txBody>
          <a:bodyPr wrap="square" lIns="0" tIns="0" rIns="0" bIns="0" rtlCol="0" anchor="t">
            <a:normAutofit/>
          </a:bodyPr>
          <a:lstStyle/>
          <a:p>
            <a:pPr marL="0" indent="0" algn="l">
              <a:buNone/>
            </a:pPr>
            <a:r>
              <a:rPr lang="en-US" sz="750" dirty="0">
                <a:solidFill>
                  <a:srgbClr val="BDC4C9"/>
                </a:solidFill>
                <a:latin typeface="Arial" pitchFamily="34" charset="0"/>
                <a:ea typeface="Arial" pitchFamily="34" charset="-122"/>
                <a:cs typeface="Arial" pitchFamily="34" charset="-120"/>
              </a:rPr>
              <a:t>22 SEPTEMBER 2026  /  CONCEPT AND APPLICATION EXAMPLES</a:t>
            </a:r>
            <a:endParaRPr lang="en-US" sz="750" dirty="0"/>
          </a:p>
        </p:txBody>
      </p:sp>
      <p:sp>
        <p:nvSpPr>
          <p:cNvPr id="8" name="Text 6"/>
          <p:cNvSpPr/>
          <p:nvPr/>
        </p:nvSpPr>
        <p:spPr>
          <a:xfrm>
            <a:off x="10789920" y="6547104"/>
            <a:ext cx="914400" cy="173736"/>
          </a:xfrm>
          <a:prstGeom prst="rect">
            <a:avLst/>
          </a:prstGeom>
          <a:noFill/>
          <a:ln/>
        </p:spPr>
        <p:txBody>
          <a:bodyPr wrap="square" lIns="0" tIns="0" rIns="0" bIns="0" rtlCol="0" anchor="t">
            <a:normAutofit/>
          </a:bodyPr>
          <a:lstStyle/>
          <a:p>
            <a:pPr marL="0" indent="0" algn="r">
              <a:buNone/>
            </a:pPr>
            <a:r>
              <a:rPr lang="en-US" sz="850" dirty="0">
                <a:solidFill>
                  <a:srgbClr val="BDC4C9"/>
                </a:solidFill>
                <a:latin typeface="Arial" pitchFamily="34" charset="0"/>
                <a:ea typeface="Arial" pitchFamily="34" charset="-122"/>
                <a:cs typeface="Arial" pitchFamily="34" charset="-120"/>
              </a:rPr>
              <a:t>28 / 49</a:t>
            </a:r>
            <a:endParaRPr lang="en-US" sz="850" dirty="0"/>
          </a:p>
        </p:txBody>
      </p:sp>
      <p:sp>
        <p:nvSpPr>
          <p:cNvPr id="9" name="Text 7"/>
          <p:cNvSpPr/>
          <p:nvPr/>
        </p:nvSpPr>
        <p:spPr>
          <a:xfrm>
            <a:off x="502920" y="1005840"/>
            <a:ext cx="11036808" cy="841248"/>
          </a:xfrm>
          <a:prstGeom prst="rect">
            <a:avLst/>
          </a:prstGeom>
          <a:noFill/>
          <a:ln/>
        </p:spPr>
        <p:txBody>
          <a:bodyPr wrap="square" lIns="0" tIns="0" rIns="0" bIns="0" rtlCol="0" anchor="t">
            <a:normAutofit/>
          </a:bodyPr>
          <a:lstStyle/>
          <a:p>
            <a:pPr marL="0" indent="0" algn="l">
              <a:buNone/>
            </a:pPr>
            <a:r>
              <a:rPr lang="en-US" sz="3400" b="1" dirty="0">
                <a:solidFill>
                  <a:srgbClr val="F5F6F7"/>
                </a:solidFill>
                <a:latin typeface="Arial" pitchFamily="34" charset="0"/>
                <a:ea typeface="Arial" pitchFamily="34" charset="-122"/>
                <a:cs typeface="Arial" pitchFamily="34" charset="-120"/>
              </a:rPr>
              <a:t>Choose the commercial purpose first.</a:t>
            </a:r>
            <a:endParaRPr lang="en-US" sz="3400" dirty="0"/>
          </a:p>
        </p:txBody>
      </p:sp>
      <p:sp>
        <p:nvSpPr>
          <p:cNvPr id="10" name="Text 8"/>
          <p:cNvSpPr/>
          <p:nvPr/>
        </p:nvSpPr>
        <p:spPr>
          <a:xfrm>
            <a:off x="530352" y="1865376"/>
            <a:ext cx="10954512" cy="566928"/>
          </a:xfrm>
          <a:prstGeom prst="rect">
            <a:avLst/>
          </a:prstGeom>
          <a:noFill/>
          <a:ln/>
        </p:spPr>
        <p:txBody>
          <a:bodyPr wrap="square" lIns="0" tIns="0" rIns="0" bIns="0" rtlCol="0" anchor="t">
            <a:normAutofit/>
          </a:bodyPr>
          <a:lstStyle/>
          <a:p>
            <a:pPr marL="0" indent="0" algn="l">
              <a:buNone/>
            </a:pPr>
            <a:r>
              <a:rPr lang="en-US" sz="1800" dirty="0">
                <a:solidFill>
                  <a:srgbClr val="BDC4C9"/>
                </a:solidFill>
                <a:latin typeface="Arial" pitchFamily="34" charset="0"/>
                <a:ea typeface="Arial" pitchFamily="34" charset="-122"/>
                <a:cs typeface="Arial" pitchFamily="34" charset="-120"/>
              </a:rPr>
              <a:t>The objective determines the product, audience and evaluation.</a:t>
            </a:r>
            <a:endParaRPr lang="en-US" sz="1800" dirty="0"/>
          </a:p>
        </p:txBody>
      </p:sp>
      <p:sp>
        <p:nvSpPr>
          <p:cNvPr id="11" name="Shape 9"/>
          <p:cNvSpPr/>
          <p:nvPr/>
        </p:nvSpPr>
        <p:spPr>
          <a:xfrm>
            <a:off x="1817043" y="2966575"/>
            <a:ext cx="2683111" cy="2343477"/>
          </a:xfrm>
          <a:prstGeom prst="roundRect">
            <a:avLst>
              <a:gd name="adj" fmla="val 1561"/>
            </a:avLst>
          </a:prstGeom>
          <a:solidFill>
            <a:srgbClr val="383F44"/>
          </a:solidFill>
          <a:ln w="8890">
            <a:solidFill>
              <a:srgbClr val="D71920"/>
            </a:solidFill>
            <a:prstDash val="solid"/>
          </a:ln>
        </p:spPr>
        <p:txBody>
          <a:bodyPr/>
          <a:lstStyle/>
          <a:p>
            <a:endParaRPr lang="nl-NL"/>
          </a:p>
        </p:txBody>
      </p:sp>
      <p:sp>
        <p:nvSpPr>
          <p:cNvPr id="12" name="Shape 10"/>
          <p:cNvSpPr/>
          <p:nvPr/>
        </p:nvSpPr>
        <p:spPr>
          <a:xfrm>
            <a:off x="1817043" y="3085447"/>
            <a:ext cx="33963" cy="2105733"/>
          </a:xfrm>
          <a:prstGeom prst="rect">
            <a:avLst/>
          </a:prstGeom>
          <a:solidFill>
            <a:srgbClr val="D71920"/>
          </a:solidFill>
          <a:ln w="12700">
            <a:solidFill>
              <a:srgbClr val="24282C">
                <a:alpha val="0"/>
              </a:srgbClr>
            </a:solidFill>
            <a:prstDash val="solid"/>
          </a:ln>
        </p:spPr>
        <p:txBody>
          <a:bodyPr/>
          <a:lstStyle/>
          <a:p>
            <a:endParaRPr lang="nl-NL"/>
          </a:p>
        </p:txBody>
      </p:sp>
      <p:sp>
        <p:nvSpPr>
          <p:cNvPr id="13" name="Text 11"/>
          <p:cNvSpPr/>
          <p:nvPr/>
        </p:nvSpPr>
        <p:spPr>
          <a:xfrm>
            <a:off x="1961388" y="3102429"/>
            <a:ext cx="2394422" cy="543415"/>
          </a:xfrm>
          <a:prstGeom prst="rect">
            <a:avLst/>
          </a:prstGeom>
          <a:noFill/>
          <a:ln/>
        </p:spPr>
        <p:txBody>
          <a:bodyPr wrap="square" lIns="0" tIns="0" rIns="0" bIns="0" rtlCol="0" anchor="t">
            <a:normAutofit/>
          </a:bodyPr>
          <a:lstStyle/>
          <a:p>
            <a:pPr marL="0" indent="0" algn="l">
              <a:buNone/>
            </a:pPr>
            <a:r>
              <a:rPr lang="en-US" sz="1671" b="1" dirty="0">
                <a:solidFill>
                  <a:srgbClr val="F5F6F7"/>
                </a:solidFill>
                <a:latin typeface="Arial" pitchFamily="34" charset="0"/>
                <a:ea typeface="Arial" pitchFamily="34" charset="-122"/>
                <a:cs typeface="Arial" pitchFamily="34" charset="-120"/>
              </a:rPr>
              <a:t>Develop a range</a:t>
            </a:r>
            <a:endParaRPr lang="en-US" sz="1671" dirty="0"/>
          </a:p>
        </p:txBody>
      </p:sp>
      <p:sp>
        <p:nvSpPr>
          <p:cNvPr id="14" name="Text 12"/>
          <p:cNvSpPr/>
          <p:nvPr/>
        </p:nvSpPr>
        <p:spPr>
          <a:xfrm>
            <a:off x="1961388" y="3705279"/>
            <a:ext cx="2394422" cy="1502882"/>
          </a:xfrm>
          <a:prstGeom prst="rect">
            <a:avLst/>
          </a:prstGeom>
          <a:noFill/>
          <a:ln/>
        </p:spPr>
        <p:txBody>
          <a:bodyPr wrap="square" lIns="0" tIns="0" rIns="0" bIns="0" rtlCol="0" anchor="t">
            <a:normAutofit/>
          </a:bodyPr>
          <a:lstStyle/>
          <a:p>
            <a:pPr marL="0" indent="0" algn="l">
              <a:buNone/>
            </a:pPr>
            <a:r>
              <a:rPr lang="en-US" sz="1337" dirty="0">
                <a:solidFill>
                  <a:srgbClr val="BDC4C9"/>
                </a:solidFill>
                <a:latin typeface="Arial" pitchFamily="34" charset="0"/>
                <a:ea typeface="Arial" pitchFamily="34" charset="-122"/>
                <a:cs typeface="Arial" pitchFamily="34" charset="-120"/>
              </a:rPr>
              <a:t>Relevant introduction and later repeat use.</a:t>
            </a:r>
            <a:endParaRPr lang="en-US" sz="1337" dirty="0"/>
          </a:p>
        </p:txBody>
      </p:sp>
      <p:sp>
        <p:nvSpPr>
          <p:cNvPr id="15" name="Shape 13"/>
          <p:cNvSpPr/>
          <p:nvPr/>
        </p:nvSpPr>
        <p:spPr>
          <a:xfrm>
            <a:off x="4720917" y="2966575"/>
            <a:ext cx="2683111" cy="2343477"/>
          </a:xfrm>
          <a:prstGeom prst="roundRect">
            <a:avLst>
              <a:gd name="adj" fmla="val 1561"/>
            </a:avLst>
          </a:prstGeom>
          <a:solidFill>
            <a:srgbClr val="30363B"/>
          </a:solidFill>
          <a:ln w="8890">
            <a:solidFill>
              <a:srgbClr val="48525B"/>
            </a:solidFill>
            <a:prstDash val="solid"/>
          </a:ln>
        </p:spPr>
        <p:txBody>
          <a:bodyPr/>
          <a:lstStyle/>
          <a:p>
            <a:endParaRPr lang="nl-NL"/>
          </a:p>
        </p:txBody>
      </p:sp>
      <p:sp>
        <p:nvSpPr>
          <p:cNvPr id="16" name="Shape 14"/>
          <p:cNvSpPr/>
          <p:nvPr/>
        </p:nvSpPr>
        <p:spPr>
          <a:xfrm>
            <a:off x="4720917" y="3085447"/>
            <a:ext cx="33963" cy="2105733"/>
          </a:xfrm>
          <a:prstGeom prst="rect">
            <a:avLst/>
          </a:prstGeom>
          <a:solidFill>
            <a:srgbClr val="82909A"/>
          </a:solidFill>
          <a:ln w="12700">
            <a:solidFill>
              <a:srgbClr val="24282C">
                <a:alpha val="0"/>
              </a:srgbClr>
            </a:solidFill>
            <a:prstDash val="solid"/>
          </a:ln>
        </p:spPr>
        <p:txBody>
          <a:bodyPr/>
          <a:lstStyle/>
          <a:p>
            <a:endParaRPr lang="nl-NL"/>
          </a:p>
        </p:txBody>
      </p:sp>
      <p:sp>
        <p:nvSpPr>
          <p:cNvPr id="17" name="Text 15"/>
          <p:cNvSpPr/>
          <p:nvPr/>
        </p:nvSpPr>
        <p:spPr>
          <a:xfrm>
            <a:off x="4865261" y="3102429"/>
            <a:ext cx="2394422" cy="543415"/>
          </a:xfrm>
          <a:prstGeom prst="rect">
            <a:avLst/>
          </a:prstGeom>
          <a:noFill/>
          <a:ln/>
        </p:spPr>
        <p:txBody>
          <a:bodyPr wrap="square" lIns="0" tIns="0" rIns="0" bIns="0" rtlCol="0" anchor="t">
            <a:normAutofit/>
          </a:bodyPr>
          <a:lstStyle/>
          <a:p>
            <a:pPr marL="0" indent="0" algn="l">
              <a:buNone/>
            </a:pPr>
            <a:r>
              <a:rPr lang="en-US" sz="1671" b="1" dirty="0">
                <a:solidFill>
                  <a:srgbClr val="F5F6F7"/>
                </a:solidFill>
                <a:latin typeface="Arial" pitchFamily="34" charset="0"/>
                <a:ea typeface="Arial" pitchFamily="34" charset="-122"/>
                <a:cs typeface="Arial" pitchFamily="34" charset="-120"/>
              </a:rPr>
              <a:t>Strengthen activity</a:t>
            </a:r>
            <a:endParaRPr lang="en-US" sz="1671" dirty="0"/>
          </a:p>
        </p:txBody>
      </p:sp>
      <p:sp>
        <p:nvSpPr>
          <p:cNvPr id="18" name="Text 16"/>
          <p:cNvSpPr/>
          <p:nvPr/>
        </p:nvSpPr>
        <p:spPr>
          <a:xfrm>
            <a:off x="4865261" y="3705279"/>
            <a:ext cx="2394422" cy="1502882"/>
          </a:xfrm>
          <a:prstGeom prst="rect">
            <a:avLst/>
          </a:prstGeom>
          <a:noFill/>
          <a:ln/>
        </p:spPr>
        <p:txBody>
          <a:bodyPr wrap="square" lIns="0" tIns="0" rIns="0" bIns="0" rtlCol="0" anchor="t">
            <a:normAutofit/>
          </a:bodyPr>
          <a:lstStyle/>
          <a:p>
            <a:pPr marL="0" indent="0" algn="l">
              <a:buNone/>
            </a:pPr>
            <a:r>
              <a:rPr lang="en-US" sz="1337" dirty="0">
                <a:solidFill>
                  <a:srgbClr val="BDC4C9"/>
                </a:solidFill>
                <a:latin typeface="Arial" pitchFamily="34" charset="0"/>
                <a:ea typeface="Arial" pitchFamily="34" charset="-122"/>
                <a:cs typeface="Arial" pitchFamily="34" charset="-120"/>
              </a:rPr>
              <a:t>A defined account or product objective.</a:t>
            </a:r>
            <a:endParaRPr lang="en-US" sz="1337" dirty="0"/>
          </a:p>
        </p:txBody>
      </p:sp>
      <p:sp>
        <p:nvSpPr>
          <p:cNvPr id="19" name="Shape 17"/>
          <p:cNvSpPr/>
          <p:nvPr/>
        </p:nvSpPr>
        <p:spPr>
          <a:xfrm>
            <a:off x="7624790" y="2966575"/>
            <a:ext cx="2683111" cy="2343477"/>
          </a:xfrm>
          <a:prstGeom prst="roundRect">
            <a:avLst>
              <a:gd name="adj" fmla="val 1561"/>
            </a:avLst>
          </a:prstGeom>
          <a:solidFill>
            <a:srgbClr val="30363B"/>
          </a:solidFill>
          <a:ln w="8890">
            <a:solidFill>
              <a:srgbClr val="48525B"/>
            </a:solidFill>
            <a:prstDash val="solid"/>
          </a:ln>
        </p:spPr>
        <p:txBody>
          <a:bodyPr/>
          <a:lstStyle/>
          <a:p>
            <a:endParaRPr lang="nl-NL"/>
          </a:p>
        </p:txBody>
      </p:sp>
      <p:sp>
        <p:nvSpPr>
          <p:cNvPr id="20" name="Shape 18"/>
          <p:cNvSpPr/>
          <p:nvPr/>
        </p:nvSpPr>
        <p:spPr>
          <a:xfrm>
            <a:off x="7624790" y="3085447"/>
            <a:ext cx="33963" cy="2105733"/>
          </a:xfrm>
          <a:prstGeom prst="rect">
            <a:avLst/>
          </a:prstGeom>
          <a:solidFill>
            <a:srgbClr val="82909A"/>
          </a:solidFill>
          <a:ln w="12700">
            <a:solidFill>
              <a:srgbClr val="24282C">
                <a:alpha val="0"/>
              </a:srgbClr>
            </a:solidFill>
            <a:prstDash val="solid"/>
          </a:ln>
        </p:spPr>
        <p:txBody>
          <a:bodyPr/>
          <a:lstStyle/>
          <a:p>
            <a:endParaRPr lang="nl-NL"/>
          </a:p>
        </p:txBody>
      </p:sp>
      <p:sp>
        <p:nvSpPr>
          <p:cNvPr id="21" name="Text 19"/>
          <p:cNvSpPr/>
          <p:nvPr/>
        </p:nvSpPr>
        <p:spPr>
          <a:xfrm>
            <a:off x="7769134" y="3102429"/>
            <a:ext cx="2394422" cy="543415"/>
          </a:xfrm>
          <a:prstGeom prst="rect">
            <a:avLst/>
          </a:prstGeom>
          <a:noFill/>
          <a:ln/>
        </p:spPr>
        <p:txBody>
          <a:bodyPr wrap="square" lIns="0" tIns="0" rIns="0" bIns="0" rtlCol="0" anchor="t">
            <a:normAutofit/>
          </a:bodyPr>
          <a:lstStyle/>
          <a:p>
            <a:pPr marL="0" indent="0" algn="l">
              <a:buNone/>
            </a:pPr>
            <a:r>
              <a:rPr lang="en-US" sz="1671" b="1" dirty="0">
                <a:solidFill>
                  <a:srgbClr val="F5F6F7"/>
                </a:solidFill>
                <a:latin typeface="Arial" pitchFamily="34" charset="0"/>
                <a:ea typeface="Arial" pitchFamily="34" charset="-122"/>
                <a:cs typeface="Arial" pitchFamily="34" charset="-120"/>
              </a:rPr>
              <a:t>Test the offer</a:t>
            </a:r>
            <a:endParaRPr lang="en-US" sz="1671" dirty="0"/>
          </a:p>
        </p:txBody>
      </p:sp>
      <p:sp>
        <p:nvSpPr>
          <p:cNvPr id="22" name="Text 20"/>
          <p:cNvSpPr/>
          <p:nvPr/>
        </p:nvSpPr>
        <p:spPr>
          <a:xfrm>
            <a:off x="7769134" y="3705279"/>
            <a:ext cx="2394422" cy="1502882"/>
          </a:xfrm>
          <a:prstGeom prst="rect">
            <a:avLst/>
          </a:prstGeom>
          <a:noFill/>
          <a:ln/>
        </p:spPr>
        <p:txBody>
          <a:bodyPr wrap="square" lIns="0" tIns="0" rIns="0" bIns="0" rtlCol="0" anchor="t">
            <a:normAutofit/>
          </a:bodyPr>
          <a:lstStyle/>
          <a:p>
            <a:pPr marL="0" indent="0" algn="l">
              <a:buNone/>
            </a:pPr>
            <a:r>
              <a:rPr lang="en-US" sz="1337" dirty="0">
                <a:solidFill>
                  <a:srgbClr val="BDC4C9"/>
                </a:solidFill>
                <a:latin typeface="Arial" pitchFamily="34" charset="0"/>
                <a:ea typeface="Arial" pitchFamily="34" charset="-122"/>
                <a:cs typeface="Arial" pitchFamily="34" charset="-120"/>
              </a:rPr>
              <a:t>A transparent experiment with a preserved baseline.</a:t>
            </a:r>
            <a:endParaRPr lang="en-US" sz="1337" dirty="0"/>
          </a:p>
        </p:txBody>
      </p:sp>
      <p:sp>
        <p:nvSpPr>
          <p:cNvPr id="23" name="Text 21"/>
          <p:cNvSpPr/>
          <p:nvPr/>
        </p:nvSpPr>
        <p:spPr>
          <a:xfrm>
            <a:off x="548640" y="5678424"/>
            <a:ext cx="10954512" cy="219456"/>
          </a:xfrm>
          <a:prstGeom prst="rect">
            <a:avLst/>
          </a:prstGeom>
          <a:noFill/>
          <a:ln/>
        </p:spPr>
        <p:txBody>
          <a:bodyPr wrap="square" lIns="0" tIns="0" rIns="0" bIns="0" rtlCol="0" anchor="t">
            <a:normAutofit/>
          </a:bodyPr>
          <a:lstStyle/>
          <a:p>
            <a:pPr marL="0" indent="0" algn="l">
              <a:buNone/>
            </a:pPr>
            <a:r>
              <a:rPr lang="en-US" sz="840" dirty="0">
                <a:solidFill>
                  <a:srgbClr val="BDC4C9"/>
                </a:solidFill>
                <a:latin typeface="Arial" pitchFamily="34" charset="0"/>
                <a:ea typeface="Arial" pitchFamily="34" charset="-122"/>
                <a:cs typeface="Arial" pitchFamily="34" charset="-120"/>
              </a:rPr>
              <a:t>Illustrative design / independent requirements and outputs.</a:t>
            </a:r>
            <a:endParaRPr lang="en-US" sz="840" dirty="0"/>
          </a:p>
        </p:txBody>
      </p:sp>
      <p:sp>
        <p:nvSpPr>
          <p:cNvPr id="24" name="Text 22"/>
          <p:cNvSpPr/>
          <p:nvPr/>
        </p:nvSpPr>
        <p:spPr>
          <a:xfrm>
            <a:off x="603504" y="5925312"/>
            <a:ext cx="10917936" cy="347472"/>
          </a:xfrm>
          <a:prstGeom prst="rect">
            <a:avLst/>
          </a:prstGeom>
          <a:noFill/>
          <a:ln/>
        </p:spPr>
        <p:txBody>
          <a:bodyPr wrap="square" lIns="0" tIns="0" rIns="0" bIns="0" rtlCol="0" anchor="t">
            <a:normAutofit/>
          </a:bodyPr>
          <a:lstStyle/>
          <a:p>
            <a:pPr marL="0" indent="0" algn="l">
              <a:buNone/>
            </a:pPr>
            <a:r>
              <a:rPr lang="en-US" sz="1320" dirty="0">
                <a:solidFill>
                  <a:srgbClr val="F5F6F7"/>
                </a:solidFill>
                <a:latin typeface="Arial" pitchFamily="34" charset="0"/>
                <a:ea typeface="Arial" pitchFamily="34" charset="-122"/>
                <a:cs typeface="Arial" pitchFamily="34" charset="-120"/>
              </a:rPr>
              <a:t>A concise objective becomes the reference for all subsequent decisions: which parts qualify, what information is needed, what ISZE can contribute and which later observations would count as success.</a:t>
            </a:r>
            <a:endParaRPr lang="en-US" sz="132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24282C"/>
        </a:solidFill>
        <a:effectLst/>
      </p:bgPr>
    </p:bg>
    <p:spTree>
      <p:nvGrpSpPr>
        <p:cNvPr id="1" name=""/>
        <p:cNvGrpSpPr/>
        <p:nvPr/>
      </p:nvGrpSpPr>
      <p:grpSpPr>
        <a:xfrm>
          <a:off x="0" y="0"/>
          <a:ext cx="0" cy="0"/>
          <a:chOff x="0" y="0"/>
          <a:chExt cx="0" cy="0"/>
        </a:xfrm>
      </p:grpSpPr>
      <p:sp>
        <p:nvSpPr>
          <p:cNvPr id="2" name="Text 0"/>
          <p:cNvSpPr/>
          <p:nvPr/>
        </p:nvSpPr>
        <p:spPr>
          <a:xfrm>
            <a:off x="484632" y="173736"/>
            <a:ext cx="2743200" cy="201168"/>
          </a:xfrm>
          <a:prstGeom prst="rect">
            <a:avLst/>
          </a:prstGeom>
          <a:noFill/>
          <a:ln/>
        </p:spPr>
        <p:txBody>
          <a:bodyPr wrap="square" lIns="0" tIns="0" rIns="0" bIns="0" rtlCol="0" anchor="t">
            <a:normAutofit/>
          </a:bodyPr>
          <a:lstStyle/>
          <a:p>
            <a:pPr marL="0" indent="0" algn="l">
              <a:buNone/>
            </a:pPr>
            <a:r>
              <a:rPr lang="en-US" sz="1000" b="1" dirty="0">
                <a:solidFill>
                  <a:srgbClr val="F5F6F7"/>
                </a:solidFill>
                <a:latin typeface="Arial" pitchFamily="34" charset="0"/>
                <a:ea typeface="Arial" pitchFamily="34" charset="-122"/>
                <a:cs typeface="Arial" pitchFamily="34" charset="-120"/>
              </a:rPr>
              <a:t>ISUZU / UNIVERSE</a:t>
            </a:r>
            <a:endParaRPr lang="en-US" sz="1000" dirty="0"/>
          </a:p>
        </p:txBody>
      </p:sp>
      <p:sp>
        <p:nvSpPr>
          <p:cNvPr id="3" name="Text 1"/>
          <p:cNvSpPr/>
          <p:nvPr/>
        </p:nvSpPr>
        <p:spPr>
          <a:xfrm>
            <a:off x="8046720" y="173736"/>
            <a:ext cx="3657600" cy="201168"/>
          </a:xfrm>
          <a:prstGeom prst="rect">
            <a:avLst/>
          </a:prstGeom>
          <a:noFill/>
          <a:ln/>
        </p:spPr>
        <p:txBody>
          <a:bodyPr wrap="square" lIns="0" tIns="0" rIns="0" bIns="0" rtlCol="0" anchor="t">
            <a:normAutofit/>
          </a:bodyPr>
          <a:lstStyle/>
          <a:p>
            <a:pPr marL="0" indent="0" algn="r">
              <a:buNone/>
            </a:pPr>
            <a:r>
              <a:rPr lang="en-US" sz="900" dirty="0">
                <a:solidFill>
                  <a:srgbClr val="BDC4C9"/>
                </a:solidFill>
                <a:latin typeface="Arial" pitchFamily="34" charset="0"/>
                <a:ea typeface="Arial" pitchFamily="34" charset="-122"/>
                <a:cs typeface="Arial" pitchFamily="34" charset="-120"/>
              </a:rPr>
              <a:t>COMMERCIAL VISION  /  3.0</a:t>
            </a:r>
            <a:endParaRPr lang="en-US" sz="900" dirty="0"/>
          </a:p>
        </p:txBody>
      </p:sp>
      <p:sp>
        <p:nvSpPr>
          <p:cNvPr id="4" name="Shape 2"/>
          <p:cNvSpPr/>
          <p:nvPr/>
        </p:nvSpPr>
        <p:spPr>
          <a:xfrm>
            <a:off x="484632" y="512064"/>
            <a:ext cx="475488" cy="22860"/>
          </a:xfrm>
          <a:prstGeom prst="rect">
            <a:avLst/>
          </a:prstGeom>
          <a:solidFill>
            <a:srgbClr val="D71920"/>
          </a:solidFill>
          <a:ln w="12700">
            <a:solidFill>
              <a:srgbClr val="D71920">
                <a:alpha val="0"/>
              </a:srgbClr>
            </a:solidFill>
            <a:prstDash val="solid"/>
          </a:ln>
        </p:spPr>
        <p:txBody>
          <a:bodyPr/>
          <a:lstStyle/>
          <a:p>
            <a:endParaRPr lang="nl-NL"/>
          </a:p>
        </p:txBody>
      </p:sp>
      <p:sp>
        <p:nvSpPr>
          <p:cNvPr id="5" name="Text 3"/>
          <p:cNvSpPr/>
          <p:nvPr/>
        </p:nvSpPr>
        <p:spPr>
          <a:xfrm>
            <a:off x="484632" y="658368"/>
            <a:ext cx="11064240" cy="219456"/>
          </a:xfrm>
          <a:prstGeom prst="rect">
            <a:avLst/>
          </a:prstGeom>
          <a:noFill/>
          <a:ln/>
        </p:spPr>
        <p:txBody>
          <a:bodyPr wrap="square" lIns="0" tIns="0" rIns="0" bIns="0" rtlCol="0" anchor="t">
            <a:normAutofit/>
          </a:bodyPr>
          <a:lstStyle/>
          <a:p>
            <a:pPr marL="0" indent="0" algn="l">
              <a:buNone/>
            </a:pPr>
            <a:r>
              <a:rPr lang="en-US" sz="1000" b="1" dirty="0">
                <a:solidFill>
                  <a:srgbClr val="D71920"/>
                </a:solidFill>
                <a:latin typeface="Arial" pitchFamily="34" charset="0"/>
                <a:ea typeface="Arial" pitchFamily="34" charset="-122"/>
                <a:cs typeface="Arial" pitchFamily="34" charset="-120"/>
              </a:rPr>
              <a:t>DEAL OF THE DAY / PRODUCT SELECTION</a:t>
            </a:r>
            <a:endParaRPr lang="en-US" sz="1000" dirty="0"/>
          </a:p>
        </p:txBody>
      </p:sp>
      <p:sp>
        <p:nvSpPr>
          <p:cNvPr id="6" name="Shape 4"/>
          <p:cNvSpPr/>
          <p:nvPr/>
        </p:nvSpPr>
        <p:spPr>
          <a:xfrm>
            <a:off x="484632" y="6446520"/>
            <a:ext cx="11219688" cy="914"/>
          </a:xfrm>
          <a:prstGeom prst="line">
            <a:avLst/>
          </a:prstGeom>
          <a:noFill/>
          <a:ln w="6350">
            <a:solidFill>
              <a:srgbClr val="647078"/>
            </a:solidFill>
            <a:prstDash val="solid"/>
          </a:ln>
        </p:spPr>
        <p:txBody>
          <a:bodyPr/>
          <a:lstStyle/>
          <a:p>
            <a:endParaRPr lang="nl-NL"/>
          </a:p>
        </p:txBody>
      </p:sp>
      <p:sp>
        <p:nvSpPr>
          <p:cNvPr id="7" name="Text 5"/>
          <p:cNvSpPr/>
          <p:nvPr/>
        </p:nvSpPr>
        <p:spPr>
          <a:xfrm>
            <a:off x="484632" y="6556248"/>
            <a:ext cx="9144000" cy="146304"/>
          </a:xfrm>
          <a:prstGeom prst="rect">
            <a:avLst/>
          </a:prstGeom>
          <a:noFill/>
          <a:ln/>
        </p:spPr>
        <p:txBody>
          <a:bodyPr wrap="square" lIns="0" tIns="0" rIns="0" bIns="0" rtlCol="0" anchor="t">
            <a:normAutofit/>
          </a:bodyPr>
          <a:lstStyle/>
          <a:p>
            <a:pPr marL="0" indent="0" algn="l">
              <a:buNone/>
            </a:pPr>
            <a:r>
              <a:rPr lang="en-US" sz="750" dirty="0">
                <a:solidFill>
                  <a:srgbClr val="BDC4C9"/>
                </a:solidFill>
                <a:latin typeface="Arial" pitchFamily="34" charset="0"/>
                <a:ea typeface="Arial" pitchFamily="34" charset="-122"/>
                <a:cs typeface="Arial" pitchFamily="34" charset="-120"/>
              </a:rPr>
              <a:t>22 SEPTEMBER 2026  /  CONCEPT AND APPLICATION EXAMPLES</a:t>
            </a:r>
            <a:endParaRPr lang="en-US" sz="750" dirty="0"/>
          </a:p>
        </p:txBody>
      </p:sp>
      <p:sp>
        <p:nvSpPr>
          <p:cNvPr id="8" name="Text 6"/>
          <p:cNvSpPr/>
          <p:nvPr/>
        </p:nvSpPr>
        <p:spPr>
          <a:xfrm>
            <a:off x="10789920" y="6547104"/>
            <a:ext cx="914400" cy="173736"/>
          </a:xfrm>
          <a:prstGeom prst="rect">
            <a:avLst/>
          </a:prstGeom>
          <a:noFill/>
          <a:ln/>
        </p:spPr>
        <p:txBody>
          <a:bodyPr wrap="square" lIns="0" tIns="0" rIns="0" bIns="0" rtlCol="0" anchor="t">
            <a:normAutofit/>
          </a:bodyPr>
          <a:lstStyle/>
          <a:p>
            <a:pPr marL="0" indent="0" algn="r">
              <a:buNone/>
            </a:pPr>
            <a:r>
              <a:rPr lang="en-US" sz="850" dirty="0">
                <a:solidFill>
                  <a:srgbClr val="BDC4C9"/>
                </a:solidFill>
                <a:latin typeface="Arial" pitchFamily="34" charset="0"/>
                <a:ea typeface="Arial" pitchFamily="34" charset="-122"/>
                <a:cs typeface="Arial" pitchFamily="34" charset="-120"/>
              </a:rPr>
              <a:t>29 / 49</a:t>
            </a:r>
            <a:endParaRPr lang="en-US" sz="850" dirty="0"/>
          </a:p>
        </p:txBody>
      </p:sp>
      <p:sp>
        <p:nvSpPr>
          <p:cNvPr id="9" name="Text 7"/>
          <p:cNvSpPr/>
          <p:nvPr/>
        </p:nvSpPr>
        <p:spPr>
          <a:xfrm>
            <a:off x="502920" y="1005840"/>
            <a:ext cx="11036808" cy="841248"/>
          </a:xfrm>
          <a:prstGeom prst="rect">
            <a:avLst/>
          </a:prstGeom>
          <a:noFill/>
          <a:ln/>
        </p:spPr>
        <p:txBody>
          <a:bodyPr wrap="square" lIns="0" tIns="0" rIns="0" bIns="0" rtlCol="0" anchor="t">
            <a:normAutofit/>
          </a:bodyPr>
          <a:lstStyle/>
          <a:p>
            <a:pPr marL="0" indent="0" algn="l">
              <a:buNone/>
            </a:pPr>
            <a:r>
              <a:rPr lang="en-US" sz="3400" b="1" dirty="0">
                <a:solidFill>
                  <a:srgbClr val="F5F6F7"/>
                </a:solidFill>
                <a:latin typeface="Arial" pitchFamily="34" charset="0"/>
                <a:ea typeface="Arial" pitchFamily="34" charset="-122"/>
                <a:cs typeface="Arial" pitchFamily="34" charset="-120"/>
              </a:rPr>
              <a:t>Use the Atlas to select the offer.</a:t>
            </a:r>
            <a:endParaRPr lang="en-US" sz="3400" dirty="0"/>
          </a:p>
        </p:txBody>
      </p:sp>
      <p:sp>
        <p:nvSpPr>
          <p:cNvPr id="10" name="Text 8"/>
          <p:cNvSpPr/>
          <p:nvPr/>
        </p:nvSpPr>
        <p:spPr>
          <a:xfrm>
            <a:off x="530352" y="1865376"/>
            <a:ext cx="10954512" cy="566928"/>
          </a:xfrm>
          <a:prstGeom prst="rect">
            <a:avLst/>
          </a:prstGeom>
          <a:noFill/>
          <a:ln/>
        </p:spPr>
        <p:txBody>
          <a:bodyPr wrap="square" lIns="0" tIns="0" rIns="0" bIns="0" rtlCol="0" anchor="t">
            <a:normAutofit/>
          </a:bodyPr>
          <a:lstStyle/>
          <a:p>
            <a:pPr marL="0" indent="0" algn="l">
              <a:buNone/>
            </a:pPr>
            <a:r>
              <a:rPr lang="en-US" sz="1800" dirty="0">
                <a:solidFill>
                  <a:srgbClr val="BDC4C9"/>
                </a:solidFill>
                <a:latin typeface="Arial" pitchFamily="34" charset="0"/>
                <a:ea typeface="Arial" pitchFamily="34" charset="-122"/>
                <a:cs typeface="Arial" pitchFamily="34" charset="-120"/>
              </a:rPr>
              <a:t>Explain why a product is a candidate and what would make it unsuitable.</a:t>
            </a:r>
            <a:endParaRPr lang="en-US" sz="1800" dirty="0"/>
          </a:p>
        </p:txBody>
      </p:sp>
      <p:sp>
        <p:nvSpPr>
          <p:cNvPr id="11" name="Shape 9"/>
          <p:cNvSpPr/>
          <p:nvPr/>
        </p:nvSpPr>
        <p:spPr>
          <a:xfrm>
            <a:off x="1692178" y="3132896"/>
            <a:ext cx="2034372" cy="1966632"/>
          </a:xfrm>
          <a:prstGeom prst="roundRect">
            <a:avLst>
              <a:gd name="adj" fmla="val 1860"/>
            </a:avLst>
          </a:prstGeom>
          <a:solidFill>
            <a:srgbClr val="30363B"/>
          </a:solidFill>
          <a:ln w="8890">
            <a:solidFill>
              <a:srgbClr val="48525B"/>
            </a:solidFill>
            <a:prstDash val="solid"/>
          </a:ln>
        </p:spPr>
        <p:txBody>
          <a:bodyPr/>
          <a:lstStyle/>
          <a:p>
            <a:endParaRPr lang="nl-NL"/>
          </a:p>
        </p:txBody>
      </p:sp>
      <p:sp>
        <p:nvSpPr>
          <p:cNvPr id="12" name="Shape 10"/>
          <p:cNvSpPr/>
          <p:nvPr/>
        </p:nvSpPr>
        <p:spPr>
          <a:xfrm>
            <a:off x="1692178" y="3255264"/>
            <a:ext cx="34962" cy="1721896"/>
          </a:xfrm>
          <a:prstGeom prst="rect">
            <a:avLst/>
          </a:prstGeom>
          <a:solidFill>
            <a:srgbClr val="82909A"/>
          </a:solidFill>
          <a:ln w="12700">
            <a:solidFill>
              <a:srgbClr val="24282C">
                <a:alpha val="0"/>
              </a:srgbClr>
            </a:solidFill>
            <a:prstDash val="solid"/>
          </a:ln>
        </p:spPr>
        <p:txBody>
          <a:bodyPr/>
          <a:lstStyle/>
          <a:p>
            <a:endParaRPr lang="nl-NL"/>
          </a:p>
        </p:txBody>
      </p:sp>
      <p:sp>
        <p:nvSpPr>
          <p:cNvPr id="13" name="Text 11"/>
          <p:cNvSpPr/>
          <p:nvPr/>
        </p:nvSpPr>
        <p:spPr>
          <a:xfrm>
            <a:off x="1840768" y="3272745"/>
            <a:ext cx="1737192" cy="559398"/>
          </a:xfrm>
          <a:prstGeom prst="rect">
            <a:avLst/>
          </a:prstGeom>
          <a:noFill/>
          <a:ln/>
        </p:spPr>
        <p:txBody>
          <a:bodyPr wrap="square" lIns="0" tIns="0" rIns="0" bIns="0" rtlCol="0" anchor="t">
            <a:normAutofit/>
          </a:bodyPr>
          <a:lstStyle/>
          <a:p>
            <a:pPr marL="0" indent="0" algn="l">
              <a:buNone/>
            </a:pPr>
            <a:r>
              <a:rPr lang="en-US" sz="1721" b="1" dirty="0">
                <a:solidFill>
                  <a:srgbClr val="F5F6F7"/>
                </a:solidFill>
                <a:latin typeface="Arial" pitchFamily="34" charset="0"/>
                <a:ea typeface="Arial" pitchFamily="34" charset="-122"/>
                <a:cs typeface="Arial" pitchFamily="34" charset="-120"/>
              </a:rPr>
              <a:t>Product group</a:t>
            </a:r>
            <a:endParaRPr lang="en-US" sz="1721" dirty="0"/>
          </a:p>
        </p:txBody>
      </p:sp>
      <p:sp>
        <p:nvSpPr>
          <p:cNvPr id="14" name="Text 12"/>
          <p:cNvSpPr/>
          <p:nvPr/>
        </p:nvSpPr>
        <p:spPr>
          <a:xfrm>
            <a:off x="1840768" y="3893327"/>
            <a:ext cx="1737192" cy="1101314"/>
          </a:xfrm>
          <a:prstGeom prst="rect">
            <a:avLst/>
          </a:prstGeom>
          <a:noFill/>
          <a:ln/>
        </p:spPr>
        <p:txBody>
          <a:bodyPr wrap="square" lIns="0" tIns="0" rIns="0" bIns="0" rtlCol="0" anchor="t">
            <a:normAutofit/>
          </a:bodyPr>
          <a:lstStyle/>
          <a:p>
            <a:pPr marL="0" indent="0" algn="l">
              <a:buNone/>
            </a:pPr>
            <a:r>
              <a:rPr lang="en-US" sz="1376" dirty="0">
                <a:solidFill>
                  <a:srgbClr val="BDC4C9"/>
                </a:solidFill>
                <a:latin typeface="Arial" pitchFamily="34" charset="0"/>
                <a:ea typeface="Arial" pitchFamily="34" charset="-122"/>
                <a:cs typeface="Arial" pitchFamily="34" charset="-120"/>
              </a:rPr>
              <a:t>AIM and original references</a:t>
            </a:r>
            <a:endParaRPr lang="en-US" sz="1376" dirty="0"/>
          </a:p>
        </p:txBody>
      </p:sp>
      <p:sp>
        <p:nvSpPr>
          <p:cNvPr id="15" name="Text 13"/>
          <p:cNvSpPr/>
          <p:nvPr/>
        </p:nvSpPr>
        <p:spPr>
          <a:xfrm>
            <a:off x="1840768" y="2835716"/>
            <a:ext cx="1737192" cy="524435"/>
          </a:xfrm>
          <a:prstGeom prst="rect">
            <a:avLst/>
          </a:prstGeom>
          <a:noFill/>
          <a:ln/>
        </p:spPr>
        <p:txBody>
          <a:bodyPr wrap="square" lIns="0" tIns="0" rIns="0" bIns="0" rtlCol="0" anchor="t">
            <a:normAutofit/>
          </a:bodyPr>
          <a:lstStyle/>
          <a:p>
            <a:pPr marL="0" indent="0" algn="l">
              <a:buNone/>
            </a:pPr>
            <a:r>
              <a:rPr lang="en-US" sz="1239" b="1" dirty="0">
                <a:solidFill>
                  <a:srgbClr val="D71920"/>
                </a:solidFill>
                <a:latin typeface="Arial" pitchFamily="34" charset="0"/>
                <a:ea typeface="Arial" pitchFamily="34" charset="-122"/>
                <a:cs typeface="Arial" pitchFamily="34" charset="-120"/>
              </a:rPr>
              <a:t>01</a:t>
            </a:r>
            <a:endParaRPr lang="en-US" sz="1239" dirty="0"/>
          </a:p>
        </p:txBody>
      </p:sp>
      <p:sp>
        <p:nvSpPr>
          <p:cNvPr id="16" name="Shape 14"/>
          <p:cNvSpPr/>
          <p:nvPr/>
        </p:nvSpPr>
        <p:spPr>
          <a:xfrm>
            <a:off x="3752772" y="4103101"/>
            <a:ext cx="148590" cy="914"/>
          </a:xfrm>
          <a:prstGeom prst="line">
            <a:avLst/>
          </a:prstGeom>
          <a:noFill/>
          <a:ln w="17481">
            <a:solidFill>
              <a:srgbClr val="D71920"/>
            </a:solidFill>
            <a:prstDash val="solid"/>
            <a:tailEnd type="triangle"/>
          </a:ln>
        </p:spPr>
        <p:txBody>
          <a:bodyPr/>
          <a:lstStyle/>
          <a:p>
            <a:endParaRPr lang="nl-NL"/>
          </a:p>
        </p:txBody>
      </p:sp>
      <p:sp>
        <p:nvSpPr>
          <p:cNvPr id="17" name="Shape 15"/>
          <p:cNvSpPr/>
          <p:nvPr/>
        </p:nvSpPr>
        <p:spPr>
          <a:xfrm>
            <a:off x="3927583" y="3132896"/>
            <a:ext cx="2034372" cy="1966632"/>
          </a:xfrm>
          <a:prstGeom prst="roundRect">
            <a:avLst>
              <a:gd name="adj" fmla="val 1860"/>
            </a:avLst>
          </a:prstGeom>
          <a:solidFill>
            <a:srgbClr val="30363B"/>
          </a:solidFill>
          <a:ln w="8890">
            <a:solidFill>
              <a:srgbClr val="48525B"/>
            </a:solidFill>
            <a:prstDash val="solid"/>
          </a:ln>
        </p:spPr>
        <p:txBody>
          <a:bodyPr/>
          <a:lstStyle/>
          <a:p>
            <a:endParaRPr lang="nl-NL"/>
          </a:p>
        </p:txBody>
      </p:sp>
      <p:sp>
        <p:nvSpPr>
          <p:cNvPr id="18" name="Shape 16"/>
          <p:cNvSpPr/>
          <p:nvPr/>
        </p:nvSpPr>
        <p:spPr>
          <a:xfrm>
            <a:off x="3927583" y="3255264"/>
            <a:ext cx="34962" cy="1721896"/>
          </a:xfrm>
          <a:prstGeom prst="rect">
            <a:avLst/>
          </a:prstGeom>
          <a:solidFill>
            <a:srgbClr val="82909A"/>
          </a:solidFill>
          <a:ln w="12700">
            <a:solidFill>
              <a:srgbClr val="24282C">
                <a:alpha val="0"/>
              </a:srgbClr>
            </a:solidFill>
            <a:prstDash val="solid"/>
          </a:ln>
        </p:spPr>
        <p:txBody>
          <a:bodyPr/>
          <a:lstStyle/>
          <a:p>
            <a:endParaRPr lang="nl-NL"/>
          </a:p>
        </p:txBody>
      </p:sp>
      <p:sp>
        <p:nvSpPr>
          <p:cNvPr id="19" name="Text 17"/>
          <p:cNvSpPr/>
          <p:nvPr/>
        </p:nvSpPr>
        <p:spPr>
          <a:xfrm>
            <a:off x="4076173" y="3272745"/>
            <a:ext cx="1737192" cy="559398"/>
          </a:xfrm>
          <a:prstGeom prst="rect">
            <a:avLst/>
          </a:prstGeom>
          <a:noFill/>
          <a:ln/>
        </p:spPr>
        <p:txBody>
          <a:bodyPr wrap="square" lIns="0" tIns="0" rIns="0" bIns="0" rtlCol="0" anchor="t">
            <a:normAutofit/>
          </a:bodyPr>
          <a:lstStyle/>
          <a:p>
            <a:pPr marL="0" indent="0" algn="l">
              <a:buNone/>
            </a:pPr>
            <a:r>
              <a:rPr lang="en-US" sz="1721" b="1" dirty="0">
                <a:solidFill>
                  <a:srgbClr val="F5F6F7"/>
                </a:solidFill>
                <a:latin typeface="Arial" pitchFamily="34" charset="0"/>
                <a:ea typeface="Arial" pitchFamily="34" charset="-122"/>
                <a:cs typeface="Arial" pitchFamily="34" charset="-120"/>
              </a:rPr>
              <a:t>Commercial fit</a:t>
            </a:r>
            <a:endParaRPr lang="en-US" sz="1721" dirty="0"/>
          </a:p>
        </p:txBody>
      </p:sp>
      <p:sp>
        <p:nvSpPr>
          <p:cNvPr id="20" name="Text 18"/>
          <p:cNvSpPr/>
          <p:nvPr/>
        </p:nvSpPr>
        <p:spPr>
          <a:xfrm>
            <a:off x="4076173" y="3893327"/>
            <a:ext cx="1737192" cy="1101314"/>
          </a:xfrm>
          <a:prstGeom prst="rect">
            <a:avLst/>
          </a:prstGeom>
          <a:noFill/>
          <a:ln/>
        </p:spPr>
        <p:txBody>
          <a:bodyPr wrap="square" lIns="0" tIns="0" rIns="0" bIns="0" rtlCol="0" anchor="t">
            <a:normAutofit/>
          </a:bodyPr>
          <a:lstStyle/>
          <a:p>
            <a:pPr marL="0" indent="0" algn="l">
              <a:buNone/>
            </a:pPr>
            <a:r>
              <a:rPr lang="en-US" sz="1376" dirty="0">
                <a:solidFill>
                  <a:srgbClr val="BDC4C9"/>
                </a:solidFill>
                <a:latin typeface="Arial" pitchFamily="34" charset="0"/>
                <a:ea typeface="Arial" pitchFamily="34" charset="-122"/>
                <a:cs typeface="Arial" pitchFamily="34" charset="-120"/>
              </a:rPr>
              <a:t>Purpose and relevance</a:t>
            </a:r>
            <a:endParaRPr lang="en-US" sz="1376" dirty="0"/>
          </a:p>
        </p:txBody>
      </p:sp>
      <p:sp>
        <p:nvSpPr>
          <p:cNvPr id="21" name="Text 19"/>
          <p:cNvSpPr/>
          <p:nvPr/>
        </p:nvSpPr>
        <p:spPr>
          <a:xfrm>
            <a:off x="4076173" y="2835716"/>
            <a:ext cx="1737192" cy="524435"/>
          </a:xfrm>
          <a:prstGeom prst="rect">
            <a:avLst/>
          </a:prstGeom>
          <a:noFill/>
          <a:ln/>
        </p:spPr>
        <p:txBody>
          <a:bodyPr wrap="square" lIns="0" tIns="0" rIns="0" bIns="0" rtlCol="0" anchor="t">
            <a:normAutofit/>
          </a:bodyPr>
          <a:lstStyle/>
          <a:p>
            <a:pPr marL="0" indent="0" algn="l">
              <a:buNone/>
            </a:pPr>
            <a:r>
              <a:rPr lang="en-US" sz="1239" b="1" dirty="0">
                <a:solidFill>
                  <a:srgbClr val="D71920"/>
                </a:solidFill>
                <a:latin typeface="Arial" pitchFamily="34" charset="0"/>
                <a:ea typeface="Arial" pitchFamily="34" charset="-122"/>
                <a:cs typeface="Arial" pitchFamily="34" charset="-120"/>
              </a:rPr>
              <a:t>02</a:t>
            </a:r>
            <a:endParaRPr lang="en-US" sz="1239" dirty="0"/>
          </a:p>
        </p:txBody>
      </p:sp>
      <p:sp>
        <p:nvSpPr>
          <p:cNvPr id="22" name="Shape 20"/>
          <p:cNvSpPr/>
          <p:nvPr/>
        </p:nvSpPr>
        <p:spPr>
          <a:xfrm>
            <a:off x="5988177" y="4103101"/>
            <a:ext cx="148590" cy="914"/>
          </a:xfrm>
          <a:prstGeom prst="line">
            <a:avLst/>
          </a:prstGeom>
          <a:noFill/>
          <a:ln w="17481">
            <a:solidFill>
              <a:srgbClr val="D71920"/>
            </a:solidFill>
            <a:prstDash val="solid"/>
            <a:tailEnd type="triangle"/>
          </a:ln>
        </p:spPr>
        <p:txBody>
          <a:bodyPr/>
          <a:lstStyle/>
          <a:p>
            <a:endParaRPr lang="nl-NL"/>
          </a:p>
        </p:txBody>
      </p:sp>
      <p:sp>
        <p:nvSpPr>
          <p:cNvPr id="23" name="Shape 21"/>
          <p:cNvSpPr/>
          <p:nvPr/>
        </p:nvSpPr>
        <p:spPr>
          <a:xfrm>
            <a:off x="6162989" y="3132896"/>
            <a:ext cx="2034372" cy="1966632"/>
          </a:xfrm>
          <a:prstGeom prst="roundRect">
            <a:avLst>
              <a:gd name="adj" fmla="val 1860"/>
            </a:avLst>
          </a:prstGeom>
          <a:solidFill>
            <a:srgbClr val="30363B"/>
          </a:solidFill>
          <a:ln w="8890">
            <a:solidFill>
              <a:srgbClr val="48525B"/>
            </a:solidFill>
            <a:prstDash val="solid"/>
          </a:ln>
        </p:spPr>
        <p:txBody>
          <a:bodyPr/>
          <a:lstStyle/>
          <a:p>
            <a:endParaRPr lang="nl-NL"/>
          </a:p>
        </p:txBody>
      </p:sp>
      <p:sp>
        <p:nvSpPr>
          <p:cNvPr id="24" name="Shape 22"/>
          <p:cNvSpPr/>
          <p:nvPr/>
        </p:nvSpPr>
        <p:spPr>
          <a:xfrm>
            <a:off x="6162989" y="3255264"/>
            <a:ext cx="34962" cy="1721896"/>
          </a:xfrm>
          <a:prstGeom prst="rect">
            <a:avLst/>
          </a:prstGeom>
          <a:solidFill>
            <a:srgbClr val="82909A"/>
          </a:solidFill>
          <a:ln w="12700">
            <a:solidFill>
              <a:srgbClr val="24282C">
                <a:alpha val="0"/>
              </a:srgbClr>
            </a:solidFill>
            <a:prstDash val="solid"/>
          </a:ln>
        </p:spPr>
        <p:txBody>
          <a:bodyPr/>
          <a:lstStyle/>
          <a:p>
            <a:endParaRPr lang="nl-NL"/>
          </a:p>
        </p:txBody>
      </p:sp>
      <p:sp>
        <p:nvSpPr>
          <p:cNvPr id="25" name="Text 23"/>
          <p:cNvSpPr/>
          <p:nvPr/>
        </p:nvSpPr>
        <p:spPr>
          <a:xfrm>
            <a:off x="6311579" y="3272745"/>
            <a:ext cx="1737192" cy="559398"/>
          </a:xfrm>
          <a:prstGeom prst="rect">
            <a:avLst/>
          </a:prstGeom>
          <a:noFill/>
          <a:ln/>
        </p:spPr>
        <p:txBody>
          <a:bodyPr wrap="square" lIns="0" tIns="0" rIns="0" bIns="0" rtlCol="0" anchor="t">
            <a:normAutofit/>
          </a:bodyPr>
          <a:lstStyle/>
          <a:p>
            <a:pPr marL="0" indent="0" algn="l">
              <a:buNone/>
            </a:pPr>
            <a:r>
              <a:rPr lang="en-US" sz="1721" b="1" dirty="0">
                <a:solidFill>
                  <a:srgbClr val="F5F6F7"/>
                </a:solidFill>
                <a:latin typeface="Arial" pitchFamily="34" charset="0"/>
                <a:ea typeface="Arial" pitchFamily="34" charset="-122"/>
                <a:cs typeface="Arial" pitchFamily="34" charset="-120"/>
              </a:rPr>
              <a:t>Conditions</a:t>
            </a:r>
            <a:endParaRPr lang="en-US" sz="1721" dirty="0"/>
          </a:p>
        </p:txBody>
      </p:sp>
      <p:sp>
        <p:nvSpPr>
          <p:cNvPr id="26" name="Text 24"/>
          <p:cNvSpPr/>
          <p:nvPr/>
        </p:nvSpPr>
        <p:spPr>
          <a:xfrm>
            <a:off x="6311579" y="3893327"/>
            <a:ext cx="1737192" cy="1101314"/>
          </a:xfrm>
          <a:prstGeom prst="rect">
            <a:avLst/>
          </a:prstGeom>
          <a:noFill/>
          <a:ln/>
        </p:spPr>
        <p:txBody>
          <a:bodyPr wrap="square" lIns="0" tIns="0" rIns="0" bIns="0" rtlCol="0" anchor="t">
            <a:normAutofit/>
          </a:bodyPr>
          <a:lstStyle/>
          <a:p>
            <a:pPr marL="0" indent="0" algn="l">
              <a:buNone/>
            </a:pPr>
            <a:r>
              <a:rPr lang="en-US" sz="1376" dirty="0">
                <a:solidFill>
                  <a:srgbClr val="BDC4C9"/>
                </a:solidFill>
                <a:latin typeface="Arial" pitchFamily="34" charset="0"/>
                <a:ea typeface="Arial" pitchFamily="34" charset="-122"/>
                <a:cs typeface="Arial" pitchFamily="34" charset="-120"/>
              </a:rPr>
              <a:t>Application and practical checks</a:t>
            </a:r>
            <a:endParaRPr lang="en-US" sz="1376" dirty="0"/>
          </a:p>
        </p:txBody>
      </p:sp>
      <p:sp>
        <p:nvSpPr>
          <p:cNvPr id="27" name="Text 25"/>
          <p:cNvSpPr/>
          <p:nvPr/>
        </p:nvSpPr>
        <p:spPr>
          <a:xfrm>
            <a:off x="6311579" y="2835716"/>
            <a:ext cx="1737192" cy="524435"/>
          </a:xfrm>
          <a:prstGeom prst="rect">
            <a:avLst/>
          </a:prstGeom>
          <a:noFill/>
          <a:ln/>
        </p:spPr>
        <p:txBody>
          <a:bodyPr wrap="square" lIns="0" tIns="0" rIns="0" bIns="0" rtlCol="0" anchor="t">
            <a:normAutofit/>
          </a:bodyPr>
          <a:lstStyle/>
          <a:p>
            <a:pPr marL="0" indent="0" algn="l">
              <a:buNone/>
            </a:pPr>
            <a:r>
              <a:rPr lang="en-US" sz="1239" b="1" dirty="0">
                <a:solidFill>
                  <a:srgbClr val="D71920"/>
                </a:solidFill>
                <a:latin typeface="Arial" pitchFamily="34" charset="0"/>
                <a:ea typeface="Arial" pitchFamily="34" charset="-122"/>
                <a:cs typeface="Arial" pitchFamily="34" charset="-120"/>
              </a:rPr>
              <a:t>03</a:t>
            </a:r>
            <a:endParaRPr lang="en-US" sz="1239" dirty="0"/>
          </a:p>
        </p:txBody>
      </p:sp>
      <p:sp>
        <p:nvSpPr>
          <p:cNvPr id="28" name="Shape 26"/>
          <p:cNvSpPr/>
          <p:nvPr/>
        </p:nvSpPr>
        <p:spPr>
          <a:xfrm>
            <a:off x="8223582" y="4103101"/>
            <a:ext cx="148590" cy="914"/>
          </a:xfrm>
          <a:prstGeom prst="line">
            <a:avLst/>
          </a:prstGeom>
          <a:noFill/>
          <a:ln w="17481">
            <a:solidFill>
              <a:srgbClr val="D71920"/>
            </a:solidFill>
            <a:prstDash val="solid"/>
            <a:tailEnd type="triangle"/>
          </a:ln>
        </p:spPr>
        <p:txBody>
          <a:bodyPr/>
          <a:lstStyle/>
          <a:p>
            <a:endParaRPr lang="nl-NL"/>
          </a:p>
        </p:txBody>
      </p:sp>
      <p:sp>
        <p:nvSpPr>
          <p:cNvPr id="29" name="Shape 27"/>
          <p:cNvSpPr/>
          <p:nvPr/>
        </p:nvSpPr>
        <p:spPr>
          <a:xfrm>
            <a:off x="8398394" y="3132896"/>
            <a:ext cx="2034372" cy="1966632"/>
          </a:xfrm>
          <a:prstGeom prst="roundRect">
            <a:avLst>
              <a:gd name="adj" fmla="val 1860"/>
            </a:avLst>
          </a:prstGeom>
          <a:solidFill>
            <a:srgbClr val="383F44"/>
          </a:solidFill>
          <a:ln w="8890">
            <a:solidFill>
              <a:srgbClr val="D71920"/>
            </a:solidFill>
            <a:prstDash val="solid"/>
          </a:ln>
        </p:spPr>
        <p:txBody>
          <a:bodyPr/>
          <a:lstStyle/>
          <a:p>
            <a:endParaRPr lang="nl-NL"/>
          </a:p>
        </p:txBody>
      </p:sp>
      <p:sp>
        <p:nvSpPr>
          <p:cNvPr id="30" name="Shape 28"/>
          <p:cNvSpPr/>
          <p:nvPr/>
        </p:nvSpPr>
        <p:spPr>
          <a:xfrm>
            <a:off x="8398394" y="3255264"/>
            <a:ext cx="34962" cy="1721896"/>
          </a:xfrm>
          <a:prstGeom prst="rect">
            <a:avLst/>
          </a:prstGeom>
          <a:solidFill>
            <a:srgbClr val="D71920"/>
          </a:solidFill>
          <a:ln w="12700">
            <a:solidFill>
              <a:srgbClr val="24282C">
                <a:alpha val="0"/>
              </a:srgbClr>
            </a:solidFill>
            <a:prstDash val="solid"/>
          </a:ln>
        </p:spPr>
        <p:txBody>
          <a:bodyPr/>
          <a:lstStyle/>
          <a:p>
            <a:endParaRPr lang="nl-NL"/>
          </a:p>
        </p:txBody>
      </p:sp>
      <p:sp>
        <p:nvSpPr>
          <p:cNvPr id="31" name="Text 29"/>
          <p:cNvSpPr/>
          <p:nvPr/>
        </p:nvSpPr>
        <p:spPr>
          <a:xfrm>
            <a:off x="8546984" y="3272745"/>
            <a:ext cx="1737192" cy="559398"/>
          </a:xfrm>
          <a:prstGeom prst="rect">
            <a:avLst/>
          </a:prstGeom>
          <a:noFill/>
          <a:ln/>
        </p:spPr>
        <p:txBody>
          <a:bodyPr wrap="square" lIns="0" tIns="0" rIns="0" bIns="0" rtlCol="0" anchor="t">
            <a:normAutofit/>
          </a:bodyPr>
          <a:lstStyle/>
          <a:p>
            <a:pPr marL="0" indent="0" algn="l">
              <a:buNone/>
            </a:pPr>
            <a:r>
              <a:rPr lang="en-US" sz="1721" b="1" dirty="0">
                <a:solidFill>
                  <a:srgbClr val="F5F6F7"/>
                </a:solidFill>
                <a:latin typeface="Arial" pitchFamily="34" charset="0"/>
                <a:ea typeface="Arial" pitchFamily="34" charset="-122"/>
                <a:cs typeface="Arial" pitchFamily="34" charset="-120"/>
              </a:rPr>
              <a:t>Selected offer</a:t>
            </a:r>
            <a:endParaRPr lang="en-US" sz="1721" dirty="0"/>
          </a:p>
        </p:txBody>
      </p:sp>
      <p:sp>
        <p:nvSpPr>
          <p:cNvPr id="32" name="Text 30"/>
          <p:cNvSpPr/>
          <p:nvPr/>
        </p:nvSpPr>
        <p:spPr>
          <a:xfrm>
            <a:off x="8546984" y="3893327"/>
            <a:ext cx="1737192" cy="1101314"/>
          </a:xfrm>
          <a:prstGeom prst="rect">
            <a:avLst/>
          </a:prstGeom>
          <a:noFill/>
          <a:ln/>
        </p:spPr>
        <p:txBody>
          <a:bodyPr wrap="square" lIns="0" tIns="0" rIns="0" bIns="0" rtlCol="0" anchor="t">
            <a:normAutofit/>
          </a:bodyPr>
          <a:lstStyle/>
          <a:p>
            <a:pPr marL="0" indent="0" algn="l">
              <a:buNone/>
            </a:pPr>
            <a:r>
              <a:rPr lang="en-US" sz="1376" dirty="0">
                <a:solidFill>
                  <a:srgbClr val="BDC4C9"/>
                </a:solidFill>
                <a:latin typeface="Arial" pitchFamily="34" charset="0"/>
                <a:ea typeface="Arial" pitchFamily="34" charset="-122"/>
                <a:cs typeface="Arial" pitchFamily="34" charset="-120"/>
              </a:rPr>
              <a:t>A reasoned shortlist</a:t>
            </a:r>
            <a:endParaRPr lang="en-US" sz="1376" dirty="0"/>
          </a:p>
        </p:txBody>
      </p:sp>
      <p:sp>
        <p:nvSpPr>
          <p:cNvPr id="33" name="Text 31"/>
          <p:cNvSpPr/>
          <p:nvPr/>
        </p:nvSpPr>
        <p:spPr>
          <a:xfrm>
            <a:off x="8546984" y="2835716"/>
            <a:ext cx="1737192" cy="524435"/>
          </a:xfrm>
          <a:prstGeom prst="rect">
            <a:avLst/>
          </a:prstGeom>
          <a:noFill/>
          <a:ln/>
        </p:spPr>
        <p:txBody>
          <a:bodyPr wrap="square" lIns="0" tIns="0" rIns="0" bIns="0" rtlCol="0" anchor="t">
            <a:normAutofit/>
          </a:bodyPr>
          <a:lstStyle/>
          <a:p>
            <a:pPr marL="0" indent="0" algn="l">
              <a:buNone/>
            </a:pPr>
            <a:r>
              <a:rPr lang="en-US" sz="1239" b="1" dirty="0">
                <a:solidFill>
                  <a:srgbClr val="D71920"/>
                </a:solidFill>
                <a:latin typeface="Arial" pitchFamily="34" charset="0"/>
                <a:ea typeface="Arial" pitchFamily="34" charset="-122"/>
                <a:cs typeface="Arial" pitchFamily="34" charset="-120"/>
              </a:rPr>
              <a:t>04</a:t>
            </a:r>
            <a:endParaRPr lang="en-US" sz="1239" dirty="0"/>
          </a:p>
        </p:txBody>
      </p:sp>
      <p:sp>
        <p:nvSpPr>
          <p:cNvPr id="34" name="Text 32"/>
          <p:cNvSpPr/>
          <p:nvPr/>
        </p:nvSpPr>
        <p:spPr>
          <a:xfrm>
            <a:off x="548640" y="5678424"/>
            <a:ext cx="10954512" cy="219456"/>
          </a:xfrm>
          <a:prstGeom prst="rect">
            <a:avLst/>
          </a:prstGeom>
          <a:noFill/>
          <a:ln/>
        </p:spPr>
        <p:txBody>
          <a:bodyPr wrap="square" lIns="0" tIns="0" rIns="0" bIns="0" rtlCol="0" anchor="t">
            <a:normAutofit/>
          </a:bodyPr>
          <a:lstStyle/>
          <a:p>
            <a:pPr marL="0" indent="0" algn="l">
              <a:buNone/>
            </a:pPr>
            <a:r>
              <a:rPr lang="en-US" sz="840" dirty="0">
                <a:solidFill>
                  <a:srgbClr val="BDC4C9"/>
                </a:solidFill>
                <a:latin typeface="Arial" pitchFamily="34" charset="0"/>
                <a:ea typeface="Arial" pitchFamily="34" charset="-122"/>
                <a:cs typeface="Arial" pitchFamily="34" charset="-120"/>
              </a:rPr>
              <a:t>Proposed sequence / each stage retains its own evidence and decision.</a:t>
            </a:r>
            <a:endParaRPr lang="en-US" sz="840" dirty="0"/>
          </a:p>
        </p:txBody>
      </p:sp>
      <p:sp>
        <p:nvSpPr>
          <p:cNvPr id="35" name="Text 33"/>
          <p:cNvSpPr/>
          <p:nvPr/>
        </p:nvSpPr>
        <p:spPr>
          <a:xfrm>
            <a:off x="603504" y="5925312"/>
            <a:ext cx="10917936" cy="347472"/>
          </a:xfrm>
          <a:prstGeom prst="rect">
            <a:avLst/>
          </a:prstGeom>
          <a:noFill/>
          <a:ln/>
        </p:spPr>
        <p:txBody>
          <a:bodyPr wrap="square" lIns="0" tIns="0" rIns="0" bIns="0" rtlCol="0" anchor="t">
            <a:normAutofit/>
          </a:bodyPr>
          <a:lstStyle/>
          <a:p>
            <a:pPr marL="0" indent="0" algn="l">
              <a:buNone/>
            </a:pPr>
            <a:r>
              <a:rPr lang="en-US" sz="1320" dirty="0">
                <a:solidFill>
                  <a:srgbClr val="F5F6F7"/>
                </a:solidFill>
                <a:latin typeface="Arial" pitchFamily="34" charset="0"/>
                <a:ea typeface="Arial" pitchFamily="34" charset="-122"/>
                <a:cs typeface="Arial" pitchFamily="34" charset="-120"/>
              </a:rPr>
              <a:t>A useful selection record includes the product rationale, eligible references, relevant application evidence, planned objective and unresolved conditions.</a:t>
            </a:r>
            <a:endParaRPr lang="en-US" sz="132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24282C"/>
        </a:solidFill>
        <a:effectLst/>
      </p:bgPr>
    </p:bg>
    <p:spTree>
      <p:nvGrpSpPr>
        <p:cNvPr id="1" name=""/>
        <p:cNvGrpSpPr/>
        <p:nvPr/>
      </p:nvGrpSpPr>
      <p:grpSpPr>
        <a:xfrm>
          <a:off x="0" y="0"/>
          <a:ext cx="0" cy="0"/>
          <a:chOff x="0" y="0"/>
          <a:chExt cx="0" cy="0"/>
        </a:xfrm>
      </p:grpSpPr>
      <p:sp>
        <p:nvSpPr>
          <p:cNvPr id="2" name="Text 0"/>
          <p:cNvSpPr/>
          <p:nvPr/>
        </p:nvSpPr>
        <p:spPr>
          <a:xfrm>
            <a:off x="484632" y="173736"/>
            <a:ext cx="2743200" cy="201168"/>
          </a:xfrm>
          <a:prstGeom prst="rect">
            <a:avLst/>
          </a:prstGeom>
          <a:noFill/>
          <a:ln/>
        </p:spPr>
        <p:txBody>
          <a:bodyPr wrap="square" lIns="0" tIns="0" rIns="0" bIns="0" rtlCol="0" anchor="t">
            <a:normAutofit/>
          </a:bodyPr>
          <a:lstStyle/>
          <a:p>
            <a:pPr marL="0" indent="0" algn="l">
              <a:buNone/>
            </a:pPr>
            <a:r>
              <a:rPr lang="en-US" sz="1000" b="1" dirty="0">
                <a:solidFill>
                  <a:srgbClr val="F5F6F7"/>
                </a:solidFill>
                <a:latin typeface="Arial" pitchFamily="34" charset="0"/>
                <a:ea typeface="Arial" pitchFamily="34" charset="-122"/>
                <a:cs typeface="Arial" pitchFamily="34" charset="-120"/>
              </a:rPr>
              <a:t>ISUZU / UNIVERSE</a:t>
            </a:r>
            <a:endParaRPr lang="en-US" sz="1000" dirty="0"/>
          </a:p>
        </p:txBody>
      </p:sp>
      <p:sp>
        <p:nvSpPr>
          <p:cNvPr id="3" name="Text 1"/>
          <p:cNvSpPr/>
          <p:nvPr/>
        </p:nvSpPr>
        <p:spPr>
          <a:xfrm>
            <a:off x="8046720" y="173736"/>
            <a:ext cx="3657600" cy="201168"/>
          </a:xfrm>
          <a:prstGeom prst="rect">
            <a:avLst/>
          </a:prstGeom>
          <a:noFill/>
          <a:ln/>
        </p:spPr>
        <p:txBody>
          <a:bodyPr wrap="square" lIns="0" tIns="0" rIns="0" bIns="0" rtlCol="0" anchor="t">
            <a:normAutofit/>
          </a:bodyPr>
          <a:lstStyle/>
          <a:p>
            <a:pPr marL="0" indent="0" algn="r">
              <a:buNone/>
            </a:pPr>
            <a:r>
              <a:rPr lang="en-US" sz="900" dirty="0">
                <a:solidFill>
                  <a:srgbClr val="BDC4C9"/>
                </a:solidFill>
                <a:latin typeface="Arial" pitchFamily="34" charset="0"/>
                <a:ea typeface="Arial" pitchFamily="34" charset="-122"/>
                <a:cs typeface="Arial" pitchFamily="34" charset="-120"/>
              </a:rPr>
              <a:t>COMMERCIAL VISION  /  3.0</a:t>
            </a:r>
            <a:endParaRPr lang="en-US" sz="900" dirty="0"/>
          </a:p>
        </p:txBody>
      </p:sp>
      <p:sp>
        <p:nvSpPr>
          <p:cNvPr id="4" name="Shape 2"/>
          <p:cNvSpPr/>
          <p:nvPr/>
        </p:nvSpPr>
        <p:spPr>
          <a:xfrm>
            <a:off x="484632" y="512064"/>
            <a:ext cx="475488" cy="22860"/>
          </a:xfrm>
          <a:prstGeom prst="rect">
            <a:avLst/>
          </a:prstGeom>
          <a:solidFill>
            <a:srgbClr val="D71920"/>
          </a:solidFill>
          <a:ln w="12700">
            <a:solidFill>
              <a:srgbClr val="D71920">
                <a:alpha val="0"/>
              </a:srgbClr>
            </a:solidFill>
            <a:prstDash val="solid"/>
          </a:ln>
        </p:spPr>
        <p:txBody>
          <a:bodyPr/>
          <a:lstStyle/>
          <a:p>
            <a:endParaRPr lang="nl-NL"/>
          </a:p>
        </p:txBody>
      </p:sp>
      <p:sp>
        <p:nvSpPr>
          <p:cNvPr id="5" name="Text 3"/>
          <p:cNvSpPr/>
          <p:nvPr/>
        </p:nvSpPr>
        <p:spPr>
          <a:xfrm>
            <a:off x="484632" y="658368"/>
            <a:ext cx="11064240" cy="219456"/>
          </a:xfrm>
          <a:prstGeom prst="rect">
            <a:avLst/>
          </a:prstGeom>
          <a:noFill/>
          <a:ln/>
        </p:spPr>
        <p:txBody>
          <a:bodyPr wrap="square" lIns="0" tIns="0" rIns="0" bIns="0" rtlCol="0" anchor="t">
            <a:normAutofit/>
          </a:bodyPr>
          <a:lstStyle/>
          <a:p>
            <a:pPr marL="0" indent="0" algn="l">
              <a:buNone/>
            </a:pPr>
            <a:r>
              <a:rPr lang="en-US" sz="1000" b="1" dirty="0">
                <a:solidFill>
                  <a:srgbClr val="D71920"/>
                </a:solidFill>
                <a:latin typeface="Arial" pitchFamily="34" charset="0"/>
                <a:ea typeface="Arial" pitchFamily="34" charset="-122"/>
                <a:cs typeface="Arial" pitchFamily="34" charset="-120"/>
              </a:rPr>
              <a:t>DEAL OF THE DAY / GOOD DATA</a:t>
            </a:r>
            <a:endParaRPr lang="en-US" sz="1000" dirty="0"/>
          </a:p>
        </p:txBody>
      </p:sp>
      <p:sp>
        <p:nvSpPr>
          <p:cNvPr id="6" name="Shape 4"/>
          <p:cNvSpPr/>
          <p:nvPr/>
        </p:nvSpPr>
        <p:spPr>
          <a:xfrm>
            <a:off x="484632" y="6446520"/>
            <a:ext cx="11219688" cy="914"/>
          </a:xfrm>
          <a:prstGeom prst="line">
            <a:avLst/>
          </a:prstGeom>
          <a:noFill/>
          <a:ln w="6350">
            <a:solidFill>
              <a:srgbClr val="647078"/>
            </a:solidFill>
            <a:prstDash val="solid"/>
          </a:ln>
        </p:spPr>
        <p:txBody>
          <a:bodyPr/>
          <a:lstStyle/>
          <a:p>
            <a:endParaRPr lang="nl-NL"/>
          </a:p>
        </p:txBody>
      </p:sp>
      <p:sp>
        <p:nvSpPr>
          <p:cNvPr id="7" name="Text 5"/>
          <p:cNvSpPr/>
          <p:nvPr/>
        </p:nvSpPr>
        <p:spPr>
          <a:xfrm>
            <a:off x="484632" y="6556248"/>
            <a:ext cx="9144000" cy="146304"/>
          </a:xfrm>
          <a:prstGeom prst="rect">
            <a:avLst/>
          </a:prstGeom>
          <a:noFill/>
          <a:ln/>
        </p:spPr>
        <p:txBody>
          <a:bodyPr wrap="square" lIns="0" tIns="0" rIns="0" bIns="0" rtlCol="0" anchor="t">
            <a:normAutofit/>
          </a:bodyPr>
          <a:lstStyle/>
          <a:p>
            <a:pPr marL="0" indent="0" algn="l">
              <a:buNone/>
            </a:pPr>
            <a:r>
              <a:rPr lang="en-US" sz="750" dirty="0">
                <a:solidFill>
                  <a:srgbClr val="BDC4C9"/>
                </a:solidFill>
                <a:latin typeface="Arial" pitchFamily="34" charset="0"/>
                <a:ea typeface="Arial" pitchFamily="34" charset="-122"/>
                <a:cs typeface="Arial" pitchFamily="34" charset="-120"/>
              </a:rPr>
              <a:t>22 SEPTEMBER 2026  /  CONCEPT AND APPLICATION EXAMPLES</a:t>
            </a:r>
            <a:endParaRPr lang="en-US" sz="750" dirty="0"/>
          </a:p>
        </p:txBody>
      </p:sp>
      <p:sp>
        <p:nvSpPr>
          <p:cNvPr id="8" name="Text 6"/>
          <p:cNvSpPr/>
          <p:nvPr/>
        </p:nvSpPr>
        <p:spPr>
          <a:xfrm>
            <a:off x="10789920" y="6547104"/>
            <a:ext cx="914400" cy="173736"/>
          </a:xfrm>
          <a:prstGeom prst="rect">
            <a:avLst/>
          </a:prstGeom>
          <a:noFill/>
          <a:ln/>
        </p:spPr>
        <p:txBody>
          <a:bodyPr wrap="square" lIns="0" tIns="0" rIns="0" bIns="0" rtlCol="0" anchor="t">
            <a:normAutofit/>
          </a:bodyPr>
          <a:lstStyle/>
          <a:p>
            <a:pPr marL="0" indent="0" algn="r">
              <a:buNone/>
            </a:pPr>
            <a:r>
              <a:rPr lang="en-US" sz="850" dirty="0">
                <a:solidFill>
                  <a:srgbClr val="BDC4C9"/>
                </a:solidFill>
                <a:latin typeface="Arial" pitchFamily="34" charset="0"/>
                <a:ea typeface="Arial" pitchFamily="34" charset="-122"/>
                <a:cs typeface="Arial" pitchFamily="34" charset="-120"/>
              </a:rPr>
              <a:t>30 / 49</a:t>
            </a:r>
            <a:endParaRPr lang="en-US" sz="850" dirty="0"/>
          </a:p>
        </p:txBody>
      </p:sp>
      <p:sp>
        <p:nvSpPr>
          <p:cNvPr id="9" name="Text 7"/>
          <p:cNvSpPr/>
          <p:nvPr/>
        </p:nvSpPr>
        <p:spPr>
          <a:xfrm>
            <a:off x="502920" y="1005840"/>
            <a:ext cx="11036808" cy="841248"/>
          </a:xfrm>
          <a:prstGeom prst="rect">
            <a:avLst/>
          </a:prstGeom>
          <a:noFill/>
          <a:ln/>
        </p:spPr>
        <p:txBody>
          <a:bodyPr wrap="square" lIns="0" tIns="0" rIns="0" bIns="0" rtlCol="0" anchor="t">
            <a:normAutofit/>
          </a:bodyPr>
          <a:lstStyle/>
          <a:p>
            <a:pPr marL="0" indent="0" algn="l">
              <a:buNone/>
            </a:pPr>
            <a:r>
              <a:rPr lang="en-US" sz="3400" b="1" dirty="0">
                <a:solidFill>
                  <a:srgbClr val="F5F6F7"/>
                </a:solidFill>
                <a:latin typeface="Arial" pitchFamily="34" charset="0"/>
                <a:ea typeface="Arial" pitchFamily="34" charset="-122"/>
                <a:cs typeface="Arial" pitchFamily="34" charset="-120"/>
              </a:rPr>
              <a:t>Good data is data fit for this campaign.</a:t>
            </a:r>
            <a:endParaRPr lang="en-US" sz="3400" dirty="0"/>
          </a:p>
        </p:txBody>
      </p:sp>
      <p:sp>
        <p:nvSpPr>
          <p:cNvPr id="10" name="Text 8"/>
          <p:cNvSpPr/>
          <p:nvPr/>
        </p:nvSpPr>
        <p:spPr>
          <a:xfrm>
            <a:off x="530352" y="1865376"/>
            <a:ext cx="10954512" cy="566928"/>
          </a:xfrm>
          <a:prstGeom prst="rect">
            <a:avLst/>
          </a:prstGeom>
          <a:noFill/>
          <a:ln/>
        </p:spPr>
        <p:txBody>
          <a:bodyPr wrap="square" lIns="0" tIns="0" rIns="0" bIns="0" rtlCol="0" anchor="t">
            <a:normAutofit/>
          </a:bodyPr>
          <a:lstStyle/>
          <a:p>
            <a:pPr marL="0" indent="0" algn="l">
              <a:buNone/>
            </a:pPr>
            <a:r>
              <a:rPr lang="en-US" sz="1800" dirty="0">
                <a:solidFill>
                  <a:srgbClr val="BDC4C9"/>
                </a:solidFill>
                <a:latin typeface="Arial" pitchFamily="34" charset="0"/>
                <a:ea typeface="Arial" pitchFamily="34" charset="-122"/>
                <a:cs typeface="Arial" pitchFamily="34" charset="-120"/>
              </a:rPr>
              <a:t>Defined, covered, comparable and correctable - not a reward for more disclosure.</a:t>
            </a:r>
            <a:endParaRPr lang="en-US" sz="1800" dirty="0"/>
          </a:p>
        </p:txBody>
      </p:sp>
      <p:sp>
        <p:nvSpPr>
          <p:cNvPr id="11" name="Shape 9"/>
          <p:cNvSpPr/>
          <p:nvPr/>
        </p:nvSpPr>
        <p:spPr>
          <a:xfrm>
            <a:off x="1692178" y="3132896"/>
            <a:ext cx="2034372" cy="1966632"/>
          </a:xfrm>
          <a:prstGeom prst="roundRect">
            <a:avLst>
              <a:gd name="adj" fmla="val 1860"/>
            </a:avLst>
          </a:prstGeom>
          <a:solidFill>
            <a:srgbClr val="30363B"/>
          </a:solidFill>
          <a:ln w="8890">
            <a:solidFill>
              <a:srgbClr val="48525B"/>
            </a:solidFill>
            <a:prstDash val="solid"/>
          </a:ln>
        </p:spPr>
        <p:txBody>
          <a:bodyPr/>
          <a:lstStyle/>
          <a:p>
            <a:endParaRPr lang="nl-NL"/>
          </a:p>
        </p:txBody>
      </p:sp>
      <p:sp>
        <p:nvSpPr>
          <p:cNvPr id="12" name="Shape 10"/>
          <p:cNvSpPr/>
          <p:nvPr/>
        </p:nvSpPr>
        <p:spPr>
          <a:xfrm>
            <a:off x="1692178" y="3255264"/>
            <a:ext cx="34962" cy="1721896"/>
          </a:xfrm>
          <a:prstGeom prst="rect">
            <a:avLst/>
          </a:prstGeom>
          <a:solidFill>
            <a:srgbClr val="82909A"/>
          </a:solidFill>
          <a:ln w="12700">
            <a:solidFill>
              <a:srgbClr val="24282C">
                <a:alpha val="0"/>
              </a:srgbClr>
            </a:solidFill>
            <a:prstDash val="solid"/>
          </a:ln>
        </p:spPr>
        <p:txBody>
          <a:bodyPr/>
          <a:lstStyle/>
          <a:p>
            <a:endParaRPr lang="nl-NL"/>
          </a:p>
        </p:txBody>
      </p:sp>
      <p:sp>
        <p:nvSpPr>
          <p:cNvPr id="13" name="Text 11"/>
          <p:cNvSpPr/>
          <p:nvPr/>
        </p:nvSpPr>
        <p:spPr>
          <a:xfrm>
            <a:off x="1840768" y="3272745"/>
            <a:ext cx="1737192" cy="559398"/>
          </a:xfrm>
          <a:prstGeom prst="rect">
            <a:avLst/>
          </a:prstGeom>
          <a:noFill/>
          <a:ln/>
        </p:spPr>
        <p:txBody>
          <a:bodyPr wrap="square" lIns="0" tIns="0" rIns="0" bIns="0" rtlCol="0" anchor="t">
            <a:normAutofit/>
          </a:bodyPr>
          <a:lstStyle/>
          <a:p>
            <a:pPr marL="0" indent="0" algn="l">
              <a:buNone/>
            </a:pPr>
            <a:r>
              <a:rPr lang="en-US" sz="1721" b="1" dirty="0">
                <a:solidFill>
                  <a:srgbClr val="F5F6F7"/>
                </a:solidFill>
                <a:latin typeface="Arial" pitchFamily="34" charset="0"/>
                <a:ea typeface="Arial" pitchFamily="34" charset="-122"/>
                <a:cs typeface="Arial" pitchFamily="34" charset="-120"/>
              </a:rPr>
              <a:t>Defined</a:t>
            </a:r>
            <a:endParaRPr lang="en-US" sz="1721" dirty="0"/>
          </a:p>
        </p:txBody>
      </p:sp>
      <p:sp>
        <p:nvSpPr>
          <p:cNvPr id="14" name="Text 12"/>
          <p:cNvSpPr/>
          <p:nvPr/>
        </p:nvSpPr>
        <p:spPr>
          <a:xfrm>
            <a:off x="1840768" y="3893327"/>
            <a:ext cx="1737192" cy="1101314"/>
          </a:xfrm>
          <a:prstGeom prst="rect">
            <a:avLst/>
          </a:prstGeom>
          <a:noFill/>
          <a:ln/>
        </p:spPr>
        <p:txBody>
          <a:bodyPr wrap="square" lIns="0" tIns="0" rIns="0" bIns="0" rtlCol="0" anchor="t">
            <a:normAutofit/>
          </a:bodyPr>
          <a:lstStyle/>
          <a:p>
            <a:pPr marL="0" indent="0" algn="l">
              <a:buNone/>
            </a:pPr>
            <a:r>
              <a:rPr lang="en-US" sz="1376" dirty="0">
                <a:solidFill>
                  <a:srgbClr val="BDC4C9"/>
                </a:solidFill>
                <a:latin typeface="Arial" pitchFamily="34" charset="0"/>
                <a:ea typeface="Arial" pitchFamily="34" charset="-122"/>
                <a:cs typeface="Arial" pitchFamily="34" charset="-120"/>
              </a:rPr>
              <a:t>Identity, period and unit</a:t>
            </a:r>
            <a:endParaRPr lang="en-US" sz="1376" dirty="0"/>
          </a:p>
        </p:txBody>
      </p:sp>
      <p:sp>
        <p:nvSpPr>
          <p:cNvPr id="15" name="Text 13"/>
          <p:cNvSpPr/>
          <p:nvPr/>
        </p:nvSpPr>
        <p:spPr>
          <a:xfrm>
            <a:off x="1840768" y="2835716"/>
            <a:ext cx="1737192" cy="524435"/>
          </a:xfrm>
          <a:prstGeom prst="rect">
            <a:avLst/>
          </a:prstGeom>
          <a:noFill/>
          <a:ln/>
        </p:spPr>
        <p:txBody>
          <a:bodyPr wrap="square" lIns="0" tIns="0" rIns="0" bIns="0" rtlCol="0" anchor="t">
            <a:normAutofit/>
          </a:bodyPr>
          <a:lstStyle/>
          <a:p>
            <a:pPr marL="0" indent="0" algn="l">
              <a:buNone/>
            </a:pPr>
            <a:r>
              <a:rPr lang="en-US" sz="1239" b="1" dirty="0">
                <a:solidFill>
                  <a:srgbClr val="D71920"/>
                </a:solidFill>
                <a:latin typeface="Arial" pitchFamily="34" charset="0"/>
                <a:ea typeface="Arial" pitchFamily="34" charset="-122"/>
                <a:cs typeface="Arial" pitchFamily="34" charset="-120"/>
              </a:rPr>
              <a:t>01</a:t>
            </a:r>
            <a:endParaRPr lang="en-US" sz="1239" dirty="0"/>
          </a:p>
        </p:txBody>
      </p:sp>
      <p:sp>
        <p:nvSpPr>
          <p:cNvPr id="16" name="Shape 14"/>
          <p:cNvSpPr/>
          <p:nvPr/>
        </p:nvSpPr>
        <p:spPr>
          <a:xfrm>
            <a:off x="3752772" y="4103101"/>
            <a:ext cx="148590" cy="914"/>
          </a:xfrm>
          <a:prstGeom prst="line">
            <a:avLst/>
          </a:prstGeom>
          <a:noFill/>
          <a:ln w="17481">
            <a:solidFill>
              <a:srgbClr val="D71920"/>
            </a:solidFill>
            <a:prstDash val="solid"/>
            <a:tailEnd type="triangle"/>
          </a:ln>
        </p:spPr>
        <p:txBody>
          <a:bodyPr/>
          <a:lstStyle/>
          <a:p>
            <a:endParaRPr lang="nl-NL"/>
          </a:p>
        </p:txBody>
      </p:sp>
      <p:sp>
        <p:nvSpPr>
          <p:cNvPr id="17" name="Shape 15"/>
          <p:cNvSpPr/>
          <p:nvPr/>
        </p:nvSpPr>
        <p:spPr>
          <a:xfrm>
            <a:off x="3927583" y="3132896"/>
            <a:ext cx="2034372" cy="1966632"/>
          </a:xfrm>
          <a:prstGeom prst="roundRect">
            <a:avLst>
              <a:gd name="adj" fmla="val 1860"/>
            </a:avLst>
          </a:prstGeom>
          <a:solidFill>
            <a:srgbClr val="30363B"/>
          </a:solidFill>
          <a:ln w="8890">
            <a:solidFill>
              <a:srgbClr val="48525B"/>
            </a:solidFill>
            <a:prstDash val="solid"/>
          </a:ln>
        </p:spPr>
        <p:txBody>
          <a:bodyPr/>
          <a:lstStyle/>
          <a:p>
            <a:endParaRPr lang="nl-NL"/>
          </a:p>
        </p:txBody>
      </p:sp>
      <p:sp>
        <p:nvSpPr>
          <p:cNvPr id="18" name="Shape 16"/>
          <p:cNvSpPr/>
          <p:nvPr/>
        </p:nvSpPr>
        <p:spPr>
          <a:xfrm>
            <a:off x="3927583" y="3255264"/>
            <a:ext cx="34962" cy="1721896"/>
          </a:xfrm>
          <a:prstGeom prst="rect">
            <a:avLst/>
          </a:prstGeom>
          <a:solidFill>
            <a:srgbClr val="82909A"/>
          </a:solidFill>
          <a:ln w="12700">
            <a:solidFill>
              <a:srgbClr val="24282C">
                <a:alpha val="0"/>
              </a:srgbClr>
            </a:solidFill>
            <a:prstDash val="solid"/>
          </a:ln>
        </p:spPr>
        <p:txBody>
          <a:bodyPr/>
          <a:lstStyle/>
          <a:p>
            <a:endParaRPr lang="nl-NL"/>
          </a:p>
        </p:txBody>
      </p:sp>
      <p:sp>
        <p:nvSpPr>
          <p:cNvPr id="19" name="Text 17"/>
          <p:cNvSpPr/>
          <p:nvPr/>
        </p:nvSpPr>
        <p:spPr>
          <a:xfrm>
            <a:off x="4076173" y="3272745"/>
            <a:ext cx="1737192" cy="559398"/>
          </a:xfrm>
          <a:prstGeom prst="rect">
            <a:avLst/>
          </a:prstGeom>
          <a:noFill/>
          <a:ln/>
        </p:spPr>
        <p:txBody>
          <a:bodyPr wrap="square" lIns="0" tIns="0" rIns="0" bIns="0" rtlCol="0" anchor="t">
            <a:normAutofit/>
          </a:bodyPr>
          <a:lstStyle/>
          <a:p>
            <a:pPr marL="0" indent="0" algn="l">
              <a:buNone/>
            </a:pPr>
            <a:r>
              <a:rPr lang="en-US" sz="1721" b="1" dirty="0">
                <a:solidFill>
                  <a:srgbClr val="F5F6F7"/>
                </a:solidFill>
                <a:latin typeface="Arial" pitchFamily="34" charset="0"/>
                <a:ea typeface="Arial" pitchFamily="34" charset="-122"/>
                <a:cs typeface="Arial" pitchFamily="34" charset="-120"/>
              </a:rPr>
              <a:t>Covered</a:t>
            </a:r>
            <a:endParaRPr lang="en-US" sz="1721" dirty="0"/>
          </a:p>
        </p:txBody>
      </p:sp>
      <p:sp>
        <p:nvSpPr>
          <p:cNvPr id="20" name="Text 18"/>
          <p:cNvSpPr/>
          <p:nvPr/>
        </p:nvSpPr>
        <p:spPr>
          <a:xfrm>
            <a:off x="4076173" y="3893327"/>
            <a:ext cx="1737192" cy="1101314"/>
          </a:xfrm>
          <a:prstGeom prst="rect">
            <a:avLst/>
          </a:prstGeom>
          <a:noFill/>
          <a:ln/>
        </p:spPr>
        <p:txBody>
          <a:bodyPr wrap="square" lIns="0" tIns="0" rIns="0" bIns="0" rtlCol="0" anchor="t">
            <a:normAutofit/>
          </a:bodyPr>
          <a:lstStyle/>
          <a:p>
            <a:pPr marL="0" indent="0" algn="l">
              <a:buNone/>
            </a:pPr>
            <a:r>
              <a:rPr lang="en-US" sz="1376" dirty="0">
                <a:solidFill>
                  <a:srgbClr val="BDC4C9"/>
                </a:solidFill>
                <a:latin typeface="Arial" pitchFamily="34" charset="0"/>
                <a:ea typeface="Arial" pitchFamily="34" charset="-122"/>
                <a:cs typeface="Arial" pitchFamily="34" charset="-120"/>
              </a:rPr>
              <a:t>Accounts, products and channels</a:t>
            </a:r>
            <a:endParaRPr lang="en-US" sz="1376" dirty="0"/>
          </a:p>
        </p:txBody>
      </p:sp>
      <p:sp>
        <p:nvSpPr>
          <p:cNvPr id="21" name="Text 19"/>
          <p:cNvSpPr/>
          <p:nvPr/>
        </p:nvSpPr>
        <p:spPr>
          <a:xfrm>
            <a:off x="4076173" y="2835716"/>
            <a:ext cx="1737192" cy="524435"/>
          </a:xfrm>
          <a:prstGeom prst="rect">
            <a:avLst/>
          </a:prstGeom>
          <a:noFill/>
          <a:ln/>
        </p:spPr>
        <p:txBody>
          <a:bodyPr wrap="square" lIns="0" tIns="0" rIns="0" bIns="0" rtlCol="0" anchor="t">
            <a:normAutofit/>
          </a:bodyPr>
          <a:lstStyle/>
          <a:p>
            <a:pPr marL="0" indent="0" algn="l">
              <a:buNone/>
            </a:pPr>
            <a:r>
              <a:rPr lang="en-US" sz="1239" b="1" dirty="0">
                <a:solidFill>
                  <a:srgbClr val="D71920"/>
                </a:solidFill>
                <a:latin typeface="Arial" pitchFamily="34" charset="0"/>
                <a:ea typeface="Arial" pitchFamily="34" charset="-122"/>
                <a:cs typeface="Arial" pitchFamily="34" charset="-120"/>
              </a:rPr>
              <a:t>02</a:t>
            </a:r>
            <a:endParaRPr lang="en-US" sz="1239" dirty="0"/>
          </a:p>
        </p:txBody>
      </p:sp>
      <p:sp>
        <p:nvSpPr>
          <p:cNvPr id="22" name="Shape 20"/>
          <p:cNvSpPr/>
          <p:nvPr/>
        </p:nvSpPr>
        <p:spPr>
          <a:xfrm>
            <a:off x="5988177" y="4103101"/>
            <a:ext cx="148590" cy="914"/>
          </a:xfrm>
          <a:prstGeom prst="line">
            <a:avLst/>
          </a:prstGeom>
          <a:noFill/>
          <a:ln w="17481">
            <a:solidFill>
              <a:srgbClr val="D71920"/>
            </a:solidFill>
            <a:prstDash val="solid"/>
            <a:tailEnd type="triangle"/>
          </a:ln>
        </p:spPr>
        <p:txBody>
          <a:bodyPr/>
          <a:lstStyle/>
          <a:p>
            <a:endParaRPr lang="nl-NL"/>
          </a:p>
        </p:txBody>
      </p:sp>
      <p:sp>
        <p:nvSpPr>
          <p:cNvPr id="23" name="Shape 21"/>
          <p:cNvSpPr/>
          <p:nvPr/>
        </p:nvSpPr>
        <p:spPr>
          <a:xfrm>
            <a:off x="6162989" y="3132896"/>
            <a:ext cx="2034372" cy="1966632"/>
          </a:xfrm>
          <a:prstGeom prst="roundRect">
            <a:avLst>
              <a:gd name="adj" fmla="val 1860"/>
            </a:avLst>
          </a:prstGeom>
          <a:solidFill>
            <a:srgbClr val="30363B"/>
          </a:solidFill>
          <a:ln w="8890">
            <a:solidFill>
              <a:srgbClr val="48525B"/>
            </a:solidFill>
            <a:prstDash val="solid"/>
          </a:ln>
        </p:spPr>
        <p:txBody>
          <a:bodyPr/>
          <a:lstStyle/>
          <a:p>
            <a:endParaRPr lang="nl-NL"/>
          </a:p>
        </p:txBody>
      </p:sp>
      <p:sp>
        <p:nvSpPr>
          <p:cNvPr id="24" name="Shape 22"/>
          <p:cNvSpPr/>
          <p:nvPr/>
        </p:nvSpPr>
        <p:spPr>
          <a:xfrm>
            <a:off x="6162989" y="3255264"/>
            <a:ext cx="34962" cy="1721896"/>
          </a:xfrm>
          <a:prstGeom prst="rect">
            <a:avLst/>
          </a:prstGeom>
          <a:solidFill>
            <a:srgbClr val="82909A"/>
          </a:solidFill>
          <a:ln w="12700">
            <a:solidFill>
              <a:srgbClr val="24282C">
                <a:alpha val="0"/>
              </a:srgbClr>
            </a:solidFill>
            <a:prstDash val="solid"/>
          </a:ln>
        </p:spPr>
        <p:txBody>
          <a:bodyPr/>
          <a:lstStyle/>
          <a:p>
            <a:endParaRPr lang="nl-NL"/>
          </a:p>
        </p:txBody>
      </p:sp>
      <p:sp>
        <p:nvSpPr>
          <p:cNvPr id="25" name="Text 23"/>
          <p:cNvSpPr/>
          <p:nvPr/>
        </p:nvSpPr>
        <p:spPr>
          <a:xfrm>
            <a:off x="6311579" y="3272745"/>
            <a:ext cx="1737192" cy="559398"/>
          </a:xfrm>
          <a:prstGeom prst="rect">
            <a:avLst/>
          </a:prstGeom>
          <a:noFill/>
          <a:ln/>
        </p:spPr>
        <p:txBody>
          <a:bodyPr wrap="square" lIns="0" tIns="0" rIns="0" bIns="0" rtlCol="0" anchor="t">
            <a:normAutofit/>
          </a:bodyPr>
          <a:lstStyle/>
          <a:p>
            <a:pPr marL="0" indent="0" algn="l">
              <a:buNone/>
            </a:pPr>
            <a:r>
              <a:rPr lang="en-US" sz="1721" b="1" dirty="0">
                <a:solidFill>
                  <a:srgbClr val="F5F6F7"/>
                </a:solidFill>
                <a:latin typeface="Arial" pitchFamily="34" charset="0"/>
                <a:ea typeface="Arial" pitchFamily="34" charset="-122"/>
                <a:cs typeface="Arial" pitchFamily="34" charset="-120"/>
              </a:rPr>
              <a:t>Comparable</a:t>
            </a:r>
            <a:endParaRPr lang="en-US" sz="1721" dirty="0"/>
          </a:p>
        </p:txBody>
      </p:sp>
      <p:sp>
        <p:nvSpPr>
          <p:cNvPr id="26" name="Text 24"/>
          <p:cNvSpPr/>
          <p:nvPr/>
        </p:nvSpPr>
        <p:spPr>
          <a:xfrm>
            <a:off x="6311579" y="3893327"/>
            <a:ext cx="1737192" cy="1101314"/>
          </a:xfrm>
          <a:prstGeom prst="rect">
            <a:avLst/>
          </a:prstGeom>
          <a:noFill/>
          <a:ln/>
        </p:spPr>
        <p:txBody>
          <a:bodyPr wrap="square" lIns="0" tIns="0" rIns="0" bIns="0" rtlCol="0" anchor="t">
            <a:normAutofit/>
          </a:bodyPr>
          <a:lstStyle/>
          <a:p>
            <a:pPr marL="0" indent="0" algn="l">
              <a:buNone/>
            </a:pPr>
            <a:r>
              <a:rPr lang="en-US" sz="1376" dirty="0">
                <a:solidFill>
                  <a:srgbClr val="BDC4C9"/>
                </a:solidFill>
                <a:latin typeface="Arial" pitchFamily="34" charset="0"/>
                <a:ea typeface="Arial" pitchFamily="34" charset="-122"/>
                <a:cs typeface="Arial" pitchFamily="34" charset="-120"/>
              </a:rPr>
              <a:t>A valid baseline and follow-up</a:t>
            </a:r>
            <a:endParaRPr lang="en-US" sz="1376" dirty="0"/>
          </a:p>
        </p:txBody>
      </p:sp>
      <p:sp>
        <p:nvSpPr>
          <p:cNvPr id="27" name="Text 25"/>
          <p:cNvSpPr/>
          <p:nvPr/>
        </p:nvSpPr>
        <p:spPr>
          <a:xfrm>
            <a:off x="6311579" y="2835716"/>
            <a:ext cx="1737192" cy="524435"/>
          </a:xfrm>
          <a:prstGeom prst="rect">
            <a:avLst/>
          </a:prstGeom>
          <a:noFill/>
          <a:ln/>
        </p:spPr>
        <p:txBody>
          <a:bodyPr wrap="square" lIns="0" tIns="0" rIns="0" bIns="0" rtlCol="0" anchor="t">
            <a:normAutofit/>
          </a:bodyPr>
          <a:lstStyle/>
          <a:p>
            <a:pPr marL="0" indent="0" algn="l">
              <a:buNone/>
            </a:pPr>
            <a:r>
              <a:rPr lang="en-US" sz="1239" b="1" dirty="0">
                <a:solidFill>
                  <a:srgbClr val="D71920"/>
                </a:solidFill>
                <a:latin typeface="Arial" pitchFamily="34" charset="0"/>
                <a:ea typeface="Arial" pitchFamily="34" charset="-122"/>
                <a:cs typeface="Arial" pitchFamily="34" charset="-120"/>
              </a:rPr>
              <a:t>03</a:t>
            </a:r>
            <a:endParaRPr lang="en-US" sz="1239" dirty="0"/>
          </a:p>
        </p:txBody>
      </p:sp>
      <p:sp>
        <p:nvSpPr>
          <p:cNvPr id="28" name="Shape 26"/>
          <p:cNvSpPr/>
          <p:nvPr/>
        </p:nvSpPr>
        <p:spPr>
          <a:xfrm>
            <a:off x="8223582" y="4103101"/>
            <a:ext cx="148590" cy="914"/>
          </a:xfrm>
          <a:prstGeom prst="line">
            <a:avLst/>
          </a:prstGeom>
          <a:noFill/>
          <a:ln w="17481">
            <a:solidFill>
              <a:srgbClr val="D71920"/>
            </a:solidFill>
            <a:prstDash val="solid"/>
            <a:tailEnd type="triangle"/>
          </a:ln>
        </p:spPr>
        <p:txBody>
          <a:bodyPr/>
          <a:lstStyle/>
          <a:p>
            <a:endParaRPr lang="nl-NL"/>
          </a:p>
        </p:txBody>
      </p:sp>
      <p:sp>
        <p:nvSpPr>
          <p:cNvPr id="29" name="Shape 27"/>
          <p:cNvSpPr/>
          <p:nvPr/>
        </p:nvSpPr>
        <p:spPr>
          <a:xfrm>
            <a:off x="8398394" y="3132896"/>
            <a:ext cx="2034372" cy="1966632"/>
          </a:xfrm>
          <a:prstGeom prst="roundRect">
            <a:avLst>
              <a:gd name="adj" fmla="val 1860"/>
            </a:avLst>
          </a:prstGeom>
          <a:solidFill>
            <a:srgbClr val="383F44"/>
          </a:solidFill>
          <a:ln w="8890">
            <a:solidFill>
              <a:srgbClr val="D71920"/>
            </a:solidFill>
            <a:prstDash val="solid"/>
          </a:ln>
        </p:spPr>
        <p:txBody>
          <a:bodyPr/>
          <a:lstStyle/>
          <a:p>
            <a:endParaRPr lang="nl-NL"/>
          </a:p>
        </p:txBody>
      </p:sp>
      <p:sp>
        <p:nvSpPr>
          <p:cNvPr id="30" name="Shape 28"/>
          <p:cNvSpPr/>
          <p:nvPr/>
        </p:nvSpPr>
        <p:spPr>
          <a:xfrm>
            <a:off x="8398394" y="3255264"/>
            <a:ext cx="34962" cy="1721896"/>
          </a:xfrm>
          <a:prstGeom prst="rect">
            <a:avLst/>
          </a:prstGeom>
          <a:solidFill>
            <a:srgbClr val="D71920"/>
          </a:solidFill>
          <a:ln w="12700">
            <a:solidFill>
              <a:srgbClr val="24282C">
                <a:alpha val="0"/>
              </a:srgbClr>
            </a:solidFill>
            <a:prstDash val="solid"/>
          </a:ln>
        </p:spPr>
        <p:txBody>
          <a:bodyPr/>
          <a:lstStyle/>
          <a:p>
            <a:endParaRPr lang="nl-NL"/>
          </a:p>
        </p:txBody>
      </p:sp>
      <p:sp>
        <p:nvSpPr>
          <p:cNvPr id="31" name="Text 29"/>
          <p:cNvSpPr/>
          <p:nvPr/>
        </p:nvSpPr>
        <p:spPr>
          <a:xfrm>
            <a:off x="8546984" y="3272745"/>
            <a:ext cx="1737192" cy="559398"/>
          </a:xfrm>
          <a:prstGeom prst="rect">
            <a:avLst/>
          </a:prstGeom>
          <a:noFill/>
          <a:ln/>
        </p:spPr>
        <p:txBody>
          <a:bodyPr wrap="square" lIns="0" tIns="0" rIns="0" bIns="0" rtlCol="0" anchor="t">
            <a:normAutofit/>
          </a:bodyPr>
          <a:lstStyle/>
          <a:p>
            <a:pPr marL="0" indent="0" algn="l">
              <a:buNone/>
            </a:pPr>
            <a:r>
              <a:rPr lang="en-US" sz="1721" b="1" dirty="0">
                <a:solidFill>
                  <a:srgbClr val="F5F6F7"/>
                </a:solidFill>
                <a:latin typeface="Arial" pitchFamily="34" charset="0"/>
                <a:ea typeface="Arial" pitchFamily="34" charset="-122"/>
                <a:cs typeface="Arial" pitchFamily="34" charset="-120"/>
              </a:rPr>
              <a:t>Correctable</a:t>
            </a:r>
            <a:endParaRPr lang="en-US" sz="1721" dirty="0"/>
          </a:p>
        </p:txBody>
      </p:sp>
      <p:sp>
        <p:nvSpPr>
          <p:cNvPr id="32" name="Text 30"/>
          <p:cNvSpPr/>
          <p:nvPr/>
        </p:nvSpPr>
        <p:spPr>
          <a:xfrm>
            <a:off x="8546984" y="3893327"/>
            <a:ext cx="1737192" cy="1101314"/>
          </a:xfrm>
          <a:prstGeom prst="rect">
            <a:avLst/>
          </a:prstGeom>
          <a:noFill/>
          <a:ln/>
        </p:spPr>
        <p:txBody>
          <a:bodyPr wrap="square" lIns="0" tIns="0" rIns="0" bIns="0" rtlCol="0" anchor="t">
            <a:normAutofit/>
          </a:bodyPr>
          <a:lstStyle/>
          <a:p>
            <a:pPr marL="0" indent="0" algn="l">
              <a:buNone/>
            </a:pPr>
            <a:r>
              <a:rPr lang="en-US" sz="1376" dirty="0">
                <a:solidFill>
                  <a:srgbClr val="BDC4C9"/>
                </a:solidFill>
                <a:latin typeface="Arial" pitchFamily="34" charset="0"/>
                <a:ea typeface="Arial" pitchFamily="34" charset="-122"/>
                <a:cs typeface="Arial" pitchFamily="34" charset="-120"/>
              </a:rPr>
              <a:t>Versions and source owner</a:t>
            </a:r>
            <a:endParaRPr lang="en-US" sz="1376" dirty="0"/>
          </a:p>
        </p:txBody>
      </p:sp>
      <p:sp>
        <p:nvSpPr>
          <p:cNvPr id="33" name="Text 31"/>
          <p:cNvSpPr/>
          <p:nvPr/>
        </p:nvSpPr>
        <p:spPr>
          <a:xfrm>
            <a:off x="8546984" y="2835716"/>
            <a:ext cx="1737192" cy="524435"/>
          </a:xfrm>
          <a:prstGeom prst="rect">
            <a:avLst/>
          </a:prstGeom>
          <a:noFill/>
          <a:ln/>
        </p:spPr>
        <p:txBody>
          <a:bodyPr wrap="square" lIns="0" tIns="0" rIns="0" bIns="0" rtlCol="0" anchor="t">
            <a:normAutofit/>
          </a:bodyPr>
          <a:lstStyle/>
          <a:p>
            <a:pPr marL="0" indent="0" algn="l">
              <a:buNone/>
            </a:pPr>
            <a:r>
              <a:rPr lang="en-US" sz="1239" b="1" dirty="0">
                <a:solidFill>
                  <a:srgbClr val="D71920"/>
                </a:solidFill>
                <a:latin typeface="Arial" pitchFamily="34" charset="0"/>
                <a:ea typeface="Arial" pitchFamily="34" charset="-122"/>
                <a:cs typeface="Arial" pitchFamily="34" charset="-120"/>
              </a:rPr>
              <a:t>04</a:t>
            </a:r>
            <a:endParaRPr lang="en-US" sz="1239" dirty="0"/>
          </a:p>
        </p:txBody>
      </p:sp>
      <p:sp>
        <p:nvSpPr>
          <p:cNvPr id="34" name="Text 32"/>
          <p:cNvSpPr/>
          <p:nvPr/>
        </p:nvSpPr>
        <p:spPr>
          <a:xfrm>
            <a:off x="548640" y="5678424"/>
            <a:ext cx="10954512" cy="219456"/>
          </a:xfrm>
          <a:prstGeom prst="rect">
            <a:avLst/>
          </a:prstGeom>
          <a:noFill/>
          <a:ln/>
        </p:spPr>
        <p:txBody>
          <a:bodyPr wrap="square" lIns="0" tIns="0" rIns="0" bIns="0" rtlCol="0" anchor="t">
            <a:normAutofit/>
          </a:bodyPr>
          <a:lstStyle/>
          <a:p>
            <a:pPr marL="0" indent="0" algn="l">
              <a:buNone/>
            </a:pPr>
            <a:r>
              <a:rPr lang="en-US" sz="840" dirty="0">
                <a:solidFill>
                  <a:srgbClr val="BDC4C9"/>
                </a:solidFill>
                <a:latin typeface="Arial" pitchFamily="34" charset="0"/>
                <a:ea typeface="Arial" pitchFamily="34" charset="-122"/>
                <a:cs typeface="Arial" pitchFamily="34" charset="-120"/>
              </a:rPr>
              <a:t>Proposed sequence / each stage retains its own evidence and decision.</a:t>
            </a:r>
            <a:endParaRPr lang="en-US" sz="840" dirty="0"/>
          </a:p>
        </p:txBody>
      </p:sp>
      <p:sp>
        <p:nvSpPr>
          <p:cNvPr id="35" name="Text 33"/>
          <p:cNvSpPr/>
          <p:nvPr/>
        </p:nvSpPr>
        <p:spPr>
          <a:xfrm>
            <a:off x="603504" y="5925312"/>
            <a:ext cx="10917936" cy="347472"/>
          </a:xfrm>
          <a:prstGeom prst="rect">
            <a:avLst/>
          </a:prstGeom>
          <a:noFill/>
          <a:ln/>
        </p:spPr>
        <p:txBody>
          <a:bodyPr wrap="square" lIns="0" tIns="0" rIns="0" bIns="0" rtlCol="0" anchor="t">
            <a:normAutofit/>
          </a:bodyPr>
          <a:lstStyle/>
          <a:p>
            <a:pPr marL="0" indent="0" algn="l">
              <a:buNone/>
            </a:pPr>
            <a:r>
              <a:rPr lang="en-US" sz="1320" dirty="0">
                <a:solidFill>
                  <a:srgbClr val="F5F6F7"/>
                </a:solidFill>
                <a:latin typeface="Arial" pitchFamily="34" charset="0"/>
                <a:ea typeface="Arial" pitchFamily="34" charset="-122"/>
                <a:cs typeface="Arial" pitchFamily="34" charset="-120"/>
              </a:rPr>
              <a:t>The campaign-specific requirements and any support conditions should be agreed before the campaign.</a:t>
            </a:r>
            <a:endParaRPr lang="en-US" sz="132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24282C"/>
        </a:solidFill>
        <a:effectLst/>
      </p:bgPr>
    </p:bg>
    <p:spTree>
      <p:nvGrpSpPr>
        <p:cNvPr id="1" name=""/>
        <p:cNvGrpSpPr/>
        <p:nvPr/>
      </p:nvGrpSpPr>
      <p:grpSpPr>
        <a:xfrm>
          <a:off x="0" y="0"/>
          <a:ext cx="0" cy="0"/>
          <a:chOff x="0" y="0"/>
          <a:chExt cx="0" cy="0"/>
        </a:xfrm>
      </p:grpSpPr>
      <p:sp>
        <p:nvSpPr>
          <p:cNvPr id="2" name="Text 0"/>
          <p:cNvSpPr/>
          <p:nvPr/>
        </p:nvSpPr>
        <p:spPr>
          <a:xfrm>
            <a:off x="484632" y="173736"/>
            <a:ext cx="2743200" cy="201168"/>
          </a:xfrm>
          <a:prstGeom prst="rect">
            <a:avLst/>
          </a:prstGeom>
          <a:noFill/>
          <a:ln/>
        </p:spPr>
        <p:txBody>
          <a:bodyPr wrap="square" lIns="0" tIns="0" rIns="0" bIns="0" rtlCol="0" anchor="t">
            <a:normAutofit/>
          </a:bodyPr>
          <a:lstStyle/>
          <a:p>
            <a:pPr marL="0" indent="0" algn="l">
              <a:buNone/>
            </a:pPr>
            <a:r>
              <a:rPr lang="en-US" sz="1000" b="1" dirty="0">
                <a:solidFill>
                  <a:srgbClr val="F5F6F7"/>
                </a:solidFill>
                <a:latin typeface="Arial" pitchFamily="34" charset="0"/>
                <a:ea typeface="Arial" pitchFamily="34" charset="-122"/>
                <a:cs typeface="Arial" pitchFamily="34" charset="-120"/>
              </a:rPr>
              <a:t>ISUZU / UNIVERSE</a:t>
            </a:r>
            <a:endParaRPr lang="en-US" sz="1000" dirty="0"/>
          </a:p>
        </p:txBody>
      </p:sp>
      <p:sp>
        <p:nvSpPr>
          <p:cNvPr id="3" name="Text 1"/>
          <p:cNvSpPr/>
          <p:nvPr/>
        </p:nvSpPr>
        <p:spPr>
          <a:xfrm>
            <a:off x="8046720" y="173736"/>
            <a:ext cx="3657600" cy="201168"/>
          </a:xfrm>
          <a:prstGeom prst="rect">
            <a:avLst/>
          </a:prstGeom>
          <a:noFill/>
          <a:ln/>
        </p:spPr>
        <p:txBody>
          <a:bodyPr wrap="square" lIns="0" tIns="0" rIns="0" bIns="0" rtlCol="0" anchor="t">
            <a:normAutofit/>
          </a:bodyPr>
          <a:lstStyle/>
          <a:p>
            <a:pPr marL="0" indent="0" algn="r">
              <a:buNone/>
            </a:pPr>
            <a:r>
              <a:rPr lang="en-US" sz="900" dirty="0">
                <a:solidFill>
                  <a:srgbClr val="BDC4C9"/>
                </a:solidFill>
                <a:latin typeface="Arial" pitchFamily="34" charset="0"/>
                <a:ea typeface="Arial" pitchFamily="34" charset="-122"/>
                <a:cs typeface="Arial" pitchFamily="34" charset="-120"/>
              </a:rPr>
              <a:t>COMMERCIAL VISION  /  3.0</a:t>
            </a:r>
            <a:endParaRPr lang="en-US" sz="900" dirty="0"/>
          </a:p>
        </p:txBody>
      </p:sp>
      <p:sp>
        <p:nvSpPr>
          <p:cNvPr id="4" name="Shape 2"/>
          <p:cNvSpPr/>
          <p:nvPr/>
        </p:nvSpPr>
        <p:spPr>
          <a:xfrm>
            <a:off x="484632" y="512064"/>
            <a:ext cx="475488" cy="22860"/>
          </a:xfrm>
          <a:prstGeom prst="rect">
            <a:avLst/>
          </a:prstGeom>
          <a:solidFill>
            <a:srgbClr val="D71920"/>
          </a:solidFill>
          <a:ln w="12700">
            <a:solidFill>
              <a:srgbClr val="D71920">
                <a:alpha val="0"/>
              </a:srgbClr>
            </a:solidFill>
            <a:prstDash val="solid"/>
          </a:ln>
        </p:spPr>
        <p:txBody>
          <a:bodyPr/>
          <a:lstStyle/>
          <a:p>
            <a:endParaRPr lang="nl-NL"/>
          </a:p>
        </p:txBody>
      </p:sp>
      <p:sp>
        <p:nvSpPr>
          <p:cNvPr id="5" name="Text 3"/>
          <p:cNvSpPr/>
          <p:nvPr/>
        </p:nvSpPr>
        <p:spPr>
          <a:xfrm>
            <a:off x="484632" y="658368"/>
            <a:ext cx="11064240" cy="219456"/>
          </a:xfrm>
          <a:prstGeom prst="rect">
            <a:avLst/>
          </a:prstGeom>
          <a:noFill/>
          <a:ln/>
        </p:spPr>
        <p:txBody>
          <a:bodyPr wrap="square" lIns="0" tIns="0" rIns="0" bIns="0" rtlCol="0" anchor="t">
            <a:normAutofit/>
          </a:bodyPr>
          <a:lstStyle/>
          <a:p>
            <a:pPr marL="0" indent="0" algn="l">
              <a:buNone/>
            </a:pPr>
            <a:r>
              <a:rPr lang="en-US" sz="1000" b="1" dirty="0">
                <a:solidFill>
                  <a:srgbClr val="D71920"/>
                </a:solidFill>
                <a:latin typeface="Arial" pitchFamily="34" charset="0"/>
                <a:ea typeface="Arial" pitchFamily="34" charset="-122"/>
                <a:cs typeface="Arial" pitchFamily="34" charset="-120"/>
              </a:rPr>
              <a:t>DEAL OF THE DAY / AUDIENCE</a:t>
            </a:r>
            <a:endParaRPr lang="en-US" sz="1000" dirty="0"/>
          </a:p>
        </p:txBody>
      </p:sp>
      <p:sp>
        <p:nvSpPr>
          <p:cNvPr id="6" name="Shape 4"/>
          <p:cNvSpPr/>
          <p:nvPr/>
        </p:nvSpPr>
        <p:spPr>
          <a:xfrm>
            <a:off x="484632" y="6446520"/>
            <a:ext cx="11219688" cy="914"/>
          </a:xfrm>
          <a:prstGeom prst="line">
            <a:avLst/>
          </a:prstGeom>
          <a:noFill/>
          <a:ln w="6350">
            <a:solidFill>
              <a:srgbClr val="647078"/>
            </a:solidFill>
            <a:prstDash val="solid"/>
          </a:ln>
        </p:spPr>
        <p:txBody>
          <a:bodyPr/>
          <a:lstStyle/>
          <a:p>
            <a:endParaRPr lang="nl-NL"/>
          </a:p>
        </p:txBody>
      </p:sp>
      <p:sp>
        <p:nvSpPr>
          <p:cNvPr id="7" name="Text 5"/>
          <p:cNvSpPr/>
          <p:nvPr/>
        </p:nvSpPr>
        <p:spPr>
          <a:xfrm>
            <a:off x="484632" y="6556248"/>
            <a:ext cx="9144000" cy="146304"/>
          </a:xfrm>
          <a:prstGeom prst="rect">
            <a:avLst/>
          </a:prstGeom>
          <a:noFill/>
          <a:ln/>
        </p:spPr>
        <p:txBody>
          <a:bodyPr wrap="square" lIns="0" tIns="0" rIns="0" bIns="0" rtlCol="0" anchor="t">
            <a:normAutofit/>
          </a:bodyPr>
          <a:lstStyle/>
          <a:p>
            <a:pPr marL="0" indent="0" algn="l">
              <a:buNone/>
            </a:pPr>
            <a:r>
              <a:rPr lang="en-US" sz="750" dirty="0">
                <a:solidFill>
                  <a:srgbClr val="BDC4C9"/>
                </a:solidFill>
                <a:latin typeface="Arial" pitchFamily="34" charset="0"/>
                <a:ea typeface="Arial" pitchFamily="34" charset="-122"/>
                <a:cs typeface="Arial" pitchFamily="34" charset="-120"/>
              </a:rPr>
              <a:t>22 SEPTEMBER 2026  /  CONCEPT AND APPLICATION EXAMPLES</a:t>
            </a:r>
            <a:endParaRPr lang="en-US" sz="750" dirty="0"/>
          </a:p>
        </p:txBody>
      </p:sp>
      <p:sp>
        <p:nvSpPr>
          <p:cNvPr id="8" name="Text 6"/>
          <p:cNvSpPr/>
          <p:nvPr/>
        </p:nvSpPr>
        <p:spPr>
          <a:xfrm>
            <a:off x="10789920" y="6547104"/>
            <a:ext cx="914400" cy="173736"/>
          </a:xfrm>
          <a:prstGeom prst="rect">
            <a:avLst/>
          </a:prstGeom>
          <a:noFill/>
          <a:ln/>
        </p:spPr>
        <p:txBody>
          <a:bodyPr wrap="square" lIns="0" tIns="0" rIns="0" bIns="0" rtlCol="0" anchor="t">
            <a:normAutofit/>
          </a:bodyPr>
          <a:lstStyle/>
          <a:p>
            <a:pPr marL="0" indent="0" algn="r">
              <a:buNone/>
            </a:pPr>
            <a:r>
              <a:rPr lang="en-US" sz="850" dirty="0">
                <a:solidFill>
                  <a:srgbClr val="BDC4C9"/>
                </a:solidFill>
                <a:latin typeface="Arial" pitchFamily="34" charset="0"/>
                <a:ea typeface="Arial" pitchFamily="34" charset="-122"/>
                <a:cs typeface="Arial" pitchFamily="34" charset="-120"/>
              </a:rPr>
              <a:t>31 / 49</a:t>
            </a:r>
            <a:endParaRPr lang="en-US" sz="850" dirty="0"/>
          </a:p>
        </p:txBody>
      </p:sp>
      <p:sp>
        <p:nvSpPr>
          <p:cNvPr id="9" name="Text 7"/>
          <p:cNvSpPr/>
          <p:nvPr/>
        </p:nvSpPr>
        <p:spPr>
          <a:xfrm>
            <a:off x="502920" y="1005840"/>
            <a:ext cx="11036808" cy="841248"/>
          </a:xfrm>
          <a:prstGeom prst="rect">
            <a:avLst/>
          </a:prstGeom>
          <a:noFill/>
          <a:ln/>
        </p:spPr>
        <p:txBody>
          <a:bodyPr wrap="square" lIns="0" tIns="0" rIns="0" bIns="0" rtlCol="0" anchor="t">
            <a:normAutofit/>
          </a:bodyPr>
          <a:lstStyle/>
          <a:p>
            <a:pPr marL="0" indent="0" algn="l">
              <a:buNone/>
            </a:pPr>
            <a:r>
              <a:rPr lang="en-US" sz="3400" b="1" dirty="0">
                <a:solidFill>
                  <a:srgbClr val="F5F6F7"/>
                </a:solidFill>
                <a:latin typeface="Arial" pitchFamily="34" charset="0"/>
                <a:ea typeface="Arial" pitchFamily="34" charset="-122"/>
                <a:cs typeface="Arial" pitchFamily="34" charset="-120"/>
              </a:rPr>
              <a:t>Match the offer to a relevant audience.</a:t>
            </a:r>
            <a:endParaRPr lang="en-US" sz="3400" dirty="0"/>
          </a:p>
        </p:txBody>
      </p:sp>
      <p:sp>
        <p:nvSpPr>
          <p:cNvPr id="10" name="Text 8"/>
          <p:cNvSpPr/>
          <p:nvPr/>
        </p:nvSpPr>
        <p:spPr>
          <a:xfrm>
            <a:off x="530352" y="1865376"/>
            <a:ext cx="10954512" cy="566928"/>
          </a:xfrm>
          <a:prstGeom prst="rect">
            <a:avLst/>
          </a:prstGeom>
          <a:noFill/>
          <a:ln/>
        </p:spPr>
        <p:txBody>
          <a:bodyPr wrap="square" lIns="0" tIns="0" rIns="0" bIns="0" rtlCol="0" anchor="t">
            <a:normAutofit/>
          </a:bodyPr>
          <a:lstStyle/>
          <a:p>
            <a:pPr marL="0" indent="0" algn="l">
              <a:buNone/>
            </a:pPr>
            <a:r>
              <a:rPr lang="en-US" sz="1800" dirty="0">
                <a:solidFill>
                  <a:srgbClr val="BDC4C9"/>
                </a:solidFill>
                <a:latin typeface="Arial" pitchFamily="34" charset="0"/>
                <a:ea typeface="Arial" pitchFamily="34" charset="-122"/>
                <a:cs typeface="Arial" pitchFamily="34" charset="-120"/>
              </a:rPr>
              <a:t>National information supports range design; account targeting needs account evidence.</a:t>
            </a:r>
            <a:endParaRPr lang="en-US" sz="1800" dirty="0"/>
          </a:p>
        </p:txBody>
      </p:sp>
      <p:sp>
        <p:nvSpPr>
          <p:cNvPr id="11" name="Shape 9"/>
          <p:cNvSpPr/>
          <p:nvPr/>
        </p:nvSpPr>
        <p:spPr>
          <a:xfrm>
            <a:off x="1817043" y="2966575"/>
            <a:ext cx="2683111" cy="2343477"/>
          </a:xfrm>
          <a:prstGeom prst="roundRect">
            <a:avLst>
              <a:gd name="adj" fmla="val 1561"/>
            </a:avLst>
          </a:prstGeom>
          <a:solidFill>
            <a:srgbClr val="383F44"/>
          </a:solidFill>
          <a:ln w="8890">
            <a:solidFill>
              <a:srgbClr val="D71920"/>
            </a:solidFill>
            <a:prstDash val="solid"/>
          </a:ln>
        </p:spPr>
        <p:txBody>
          <a:bodyPr/>
          <a:lstStyle/>
          <a:p>
            <a:endParaRPr lang="nl-NL"/>
          </a:p>
        </p:txBody>
      </p:sp>
      <p:sp>
        <p:nvSpPr>
          <p:cNvPr id="12" name="Shape 10"/>
          <p:cNvSpPr/>
          <p:nvPr/>
        </p:nvSpPr>
        <p:spPr>
          <a:xfrm>
            <a:off x="1817043" y="3085447"/>
            <a:ext cx="33963" cy="2105733"/>
          </a:xfrm>
          <a:prstGeom prst="rect">
            <a:avLst/>
          </a:prstGeom>
          <a:solidFill>
            <a:srgbClr val="D71920"/>
          </a:solidFill>
          <a:ln w="12700">
            <a:solidFill>
              <a:srgbClr val="24282C">
                <a:alpha val="0"/>
              </a:srgbClr>
            </a:solidFill>
            <a:prstDash val="solid"/>
          </a:ln>
        </p:spPr>
        <p:txBody>
          <a:bodyPr/>
          <a:lstStyle/>
          <a:p>
            <a:endParaRPr lang="nl-NL"/>
          </a:p>
        </p:txBody>
      </p:sp>
      <p:sp>
        <p:nvSpPr>
          <p:cNvPr id="13" name="Text 11"/>
          <p:cNvSpPr/>
          <p:nvPr/>
        </p:nvSpPr>
        <p:spPr>
          <a:xfrm>
            <a:off x="1961388" y="3102429"/>
            <a:ext cx="2394422" cy="543415"/>
          </a:xfrm>
          <a:prstGeom prst="rect">
            <a:avLst/>
          </a:prstGeom>
          <a:noFill/>
          <a:ln/>
        </p:spPr>
        <p:txBody>
          <a:bodyPr wrap="square" lIns="0" tIns="0" rIns="0" bIns="0" rtlCol="0" anchor="t">
            <a:normAutofit/>
          </a:bodyPr>
          <a:lstStyle/>
          <a:p>
            <a:pPr marL="0" indent="0" algn="l">
              <a:buNone/>
            </a:pPr>
            <a:r>
              <a:rPr lang="en-US" sz="1671" b="1" dirty="0">
                <a:solidFill>
                  <a:srgbClr val="F5F6F7"/>
                </a:solidFill>
                <a:latin typeface="Arial" pitchFamily="34" charset="0"/>
                <a:ea typeface="Arial" pitchFamily="34" charset="-122"/>
                <a:cs typeface="Arial" pitchFamily="34" charset="-120"/>
              </a:rPr>
              <a:t>National source</a:t>
            </a:r>
            <a:endParaRPr lang="en-US" sz="1671" dirty="0"/>
          </a:p>
        </p:txBody>
      </p:sp>
      <p:sp>
        <p:nvSpPr>
          <p:cNvPr id="14" name="Text 12"/>
          <p:cNvSpPr/>
          <p:nvPr/>
        </p:nvSpPr>
        <p:spPr>
          <a:xfrm>
            <a:off x="1961388" y="3705279"/>
            <a:ext cx="2394422" cy="1502882"/>
          </a:xfrm>
          <a:prstGeom prst="rect">
            <a:avLst/>
          </a:prstGeom>
          <a:noFill/>
          <a:ln/>
        </p:spPr>
        <p:txBody>
          <a:bodyPr wrap="square" lIns="0" tIns="0" rIns="0" bIns="0" rtlCol="0" anchor="t">
            <a:normAutofit/>
          </a:bodyPr>
          <a:lstStyle/>
          <a:p>
            <a:pPr marL="0" indent="0" algn="l">
              <a:buNone/>
            </a:pPr>
            <a:r>
              <a:rPr lang="en-US" sz="1337" dirty="0">
                <a:solidFill>
                  <a:srgbClr val="BDC4C9"/>
                </a:solidFill>
                <a:latin typeface="Arial" pitchFamily="34" charset="0"/>
                <a:ea typeface="Arial" pitchFamily="34" charset="-122"/>
                <a:cs typeface="Arial" pitchFamily="34" charset="-120"/>
              </a:rPr>
              <a:t>Prepare the range and campaign framework.</a:t>
            </a:r>
            <a:endParaRPr lang="en-US" sz="1337" dirty="0"/>
          </a:p>
        </p:txBody>
      </p:sp>
      <p:sp>
        <p:nvSpPr>
          <p:cNvPr id="15" name="Shape 13"/>
          <p:cNvSpPr/>
          <p:nvPr/>
        </p:nvSpPr>
        <p:spPr>
          <a:xfrm>
            <a:off x="4720917" y="2966575"/>
            <a:ext cx="2683111" cy="2343477"/>
          </a:xfrm>
          <a:prstGeom prst="roundRect">
            <a:avLst>
              <a:gd name="adj" fmla="val 1561"/>
            </a:avLst>
          </a:prstGeom>
          <a:solidFill>
            <a:srgbClr val="30363B"/>
          </a:solidFill>
          <a:ln w="8890">
            <a:solidFill>
              <a:srgbClr val="48525B"/>
            </a:solidFill>
            <a:prstDash val="solid"/>
          </a:ln>
        </p:spPr>
        <p:txBody>
          <a:bodyPr/>
          <a:lstStyle/>
          <a:p>
            <a:endParaRPr lang="nl-NL"/>
          </a:p>
        </p:txBody>
      </p:sp>
      <p:sp>
        <p:nvSpPr>
          <p:cNvPr id="16" name="Shape 14"/>
          <p:cNvSpPr/>
          <p:nvPr/>
        </p:nvSpPr>
        <p:spPr>
          <a:xfrm>
            <a:off x="4720917" y="3085447"/>
            <a:ext cx="33963" cy="2105733"/>
          </a:xfrm>
          <a:prstGeom prst="rect">
            <a:avLst/>
          </a:prstGeom>
          <a:solidFill>
            <a:srgbClr val="82909A"/>
          </a:solidFill>
          <a:ln w="12700">
            <a:solidFill>
              <a:srgbClr val="24282C">
                <a:alpha val="0"/>
              </a:srgbClr>
            </a:solidFill>
            <a:prstDash val="solid"/>
          </a:ln>
        </p:spPr>
        <p:txBody>
          <a:bodyPr/>
          <a:lstStyle/>
          <a:p>
            <a:endParaRPr lang="nl-NL"/>
          </a:p>
        </p:txBody>
      </p:sp>
      <p:sp>
        <p:nvSpPr>
          <p:cNvPr id="17" name="Text 15"/>
          <p:cNvSpPr/>
          <p:nvPr/>
        </p:nvSpPr>
        <p:spPr>
          <a:xfrm>
            <a:off x="4865261" y="3102429"/>
            <a:ext cx="2394422" cy="543415"/>
          </a:xfrm>
          <a:prstGeom prst="rect">
            <a:avLst/>
          </a:prstGeom>
          <a:noFill/>
          <a:ln/>
        </p:spPr>
        <p:txBody>
          <a:bodyPr wrap="square" lIns="0" tIns="0" rIns="0" bIns="0" rtlCol="0" anchor="t">
            <a:normAutofit/>
          </a:bodyPr>
          <a:lstStyle/>
          <a:p>
            <a:pPr marL="0" indent="0" algn="l">
              <a:buNone/>
            </a:pPr>
            <a:r>
              <a:rPr lang="en-US" sz="1671" b="1" dirty="0">
                <a:solidFill>
                  <a:srgbClr val="F5F6F7"/>
                </a:solidFill>
                <a:latin typeface="Arial" pitchFamily="34" charset="0"/>
                <a:ea typeface="Arial" pitchFamily="34" charset="-122"/>
                <a:cs typeface="Arial" pitchFamily="34" charset="-120"/>
              </a:rPr>
              <a:t>Account source</a:t>
            </a:r>
            <a:endParaRPr lang="en-US" sz="1671" dirty="0"/>
          </a:p>
        </p:txBody>
      </p:sp>
      <p:sp>
        <p:nvSpPr>
          <p:cNvPr id="18" name="Text 16"/>
          <p:cNvSpPr/>
          <p:nvPr/>
        </p:nvSpPr>
        <p:spPr>
          <a:xfrm>
            <a:off x="4865261" y="3705279"/>
            <a:ext cx="2394422" cy="1502882"/>
          </a:xfrm>
          <a:prstGeom prst="rect">
            <a:avLst/>
          </a:prstGeom>
          <a:noFill/>
          <a:ln/>
        </p:spPr>
        <p:txBody>
          <a:bodyPr wrap="square" lIns="0" tIns="0" rIns="0" bIns="0" rtlCol="0" anchor="t">
            <a:normAutofit/>
          </a:bodyPr>
          <a:lstStyle/>
          <a:p>
            <a:pPr marL="0" indent="0" algn="l">
              <a:buNone/>
            </a:pPr>
            <a:r>
              <a:rPr lang="en-US" sz="1337" dirty="0">
                <a:solidFill>
                  <a:srgbClr val="BDC4C9"/>
                </a:solidFill>
                <a:latin typeface="Arial" pitchFamily="34" charset="0"/>
                <a:ea typeface="Arial" pitchFamily="34" charset="-122"/>
                <a:cs typeface="Arial" pitchFamily="34" charset="-120"/>
              </a:rPr>
              <a:t>Add supported account targeting where available.</a:t>
            </a:r>
            <a:endParaRPr lang="en-US" sz="1337" dirty="0"/>
          </a:p>
        </p:txBody>
      </p:sp>
      <p:sp>
        <p:nvSpPr>
          <p:cNvPr id="19" name="Shape 17"/>
          <p:cNvSpPr/>
          <p:nvPr/>
        </p:nvSpPr>
        <p:spPr>
          <a:xfrm>
            <a:off x="7624790" y="2966575"/>
            <a:ext cx="2683111" cy="2343477"/>
          </a:xfrm>
          <a:prstGeom prst="roundRect">
            <a:avLst>
              <a:gd name="adj" fmla="val 1561"/>
            </a:avLst>
          </a:prstGeom>
          <a:solidFill>
            <a:srgbClr val="30363B"/>
          </a:solidFill>
          <a:ln w="8890">
            <a:solidFill>
              <a:srgbClr val="48525B"/>
            </a:solidFill>
            <a:prstDash val="solid"/>
          </a:ln>
        </p:spPr>
        <p:txBody>
          <a:bodyPr/>
          <a:lstStyle/>
          <a:p>
            <a:endParaRPr lang="nl-NL"/>
          </a:p>
        </p:txBody>
      </p:sp>
      <p:sp>
        <p:nvSpPr>
          <p:cNvPr id="20" name="Shape 18"/>
          <p:cNvSpPr/>
          <p:nvPr/>
        </p:nvSpPr>
        <p:spPr>
          <a:xfrm>
            <a:off x="7624790" y="3085447"/>
            <a:ext cx="33963" cy="2105733"/>
          </a:xfrm>
          <a:prstGeom prst="rect">
            <a:avLst/>
          </a:prstGeom>
          <a:solidFill>
            <a:srgbClr val="82909A"/>
          </a:solidFill>
          <a:ln w="12700">
            <a:solidFill>
              <a:srgbClr val="24282C">
                <a:alpha val="0"/>
              </a:srgbClr>
            </a:solidFill>
            <a:prstDash val="solid"/>
          </a:ln>
        </p:spPr>
        <p:txBody>
          <a:bodyPr/>
          <a:lstStyle/>
          <a:p>
            <a:endParaRPr lang="nl-NL"/>
          </a:p>
        </p:txBody>
      </p:sp>
      <p:sp>
        <p:nvSpPr>
          <p:cNvPr id="21" name="Text 19"/>
          <p:cNvSpPr/>
          <p:nvPr/>
        </p:nvSpPr>
        <p:spPr>
          <a:xfrm>
            <a:off x="7769134" y="3102429"/>
            <a:ext cx="2394422" cy="543415"/>
          </a:xfrm>
          <a:prstGeom prst="rect">
            <a:avLst/>
          </a:prstGeom>
          <a:noFill/>
          <a:ln/>
        </p:spPr>
        <p:txBody>
          <a:bodyPr wrap="square" lIns="0" tIns="0" rIns="0" bIns="0" rtlCol="0" anchor="t">
            <a:normAutofit/>
          </a:bodyPr>
          <a:lstStyle/>
          <a:p>
            <a:pPr marL="0" indent="0" algn="l">
              <a:buNone/>
            </a:pPr>
            <a:r>
              <a:rPr lang="en-US" sz="1671" b="1" dirty="0">
                <a:solidFill>
                  <a:srgbClr val="F5F6F7"/>
                </a:solidFill>
                <a:latin typeface="Arial" pitchFamily="34" charset="0"/>
                <a:ea typeface="Arial" pitchFamily="34" charset="-122"/>
                <a:cs typeface="Arial" pitchFamily="34" charset="-120"/>
              </a:rPr>
              <a:t>Local judgement</a:t>
            </a:r>
            <a:endParaRPr lang="en-US" sz="1671" dirty="0"/>
          </a:p>
        </p:txBody>
      </p:sp>
      <p:sp>
        <p:nvSpPr>
          <p:cNvPr id="22" name="Text 20"/>
          <p:cNvSpPr/>
          <p:nvPr/>
        </p:nvSpPr>
        <p:spPr>
          <a:xfrm>
            <a:off x="7769134" y="3705279"/>
            <a:ext cx="2394422" cy="1502882"/>
          </a:xfrm>
          <a:prstGeom prst="rect">
            <a:avLst/>
          </a:prstGeom>
          <a:noFill/>
          <a:ln/>
        </p:spPr>
        <p:txBody>
          <a:bodyPr wrap="square" lIns="0" tIns="0" rIns="0" bIns="0" rtlCol="0" anchor="t">
            <a:normAutofit/>
          </a:bodyPr>
          <a:lstStyle/>
          <a:p>
            <a:pPr marL="0" indent="0" algn="l">
              <a:buNone/>
            </a:pPr>
            <a:r>
              <a:rPr lang="en-US" sz="1337" dirty="0">
                <a:solidFill>
                  <a:srgbClr val="BDC4C9"/>
                </a:solidFill>
                <a:latin typeface="Arial" pitchFamily="34" charset="0"/>
                <a:ea typeface="Arial" pitchFamily="34" charset="-122"/>
                <a:cs typeface="Arial" pitchFamily="34" charset="-120"/>
              </a:rPr>
              <a:t>Distributor confirms the relevant audience.</a:t>
            </a:r>
            <a:endParaRPr lang="en-US" sz="1337" dirty="0"/>
          </a:p>
        </p:txBody>
      </p:sp>
      <p:sp>
        <p:nvSpPr>
          <p:cNvPr id="23" name="Text 21"/>
          <p:cNvSpPr/>
          <p:nvPr/>
        </p:nvSpPr>
        <p:spPr>
          <a:xfrm>
            <a:off x="548640" y="5678424"/>
            <a:ext cx="10954512" cy="219456"/>
          </a:xfrm>
          <a:prstGeom prst="rect">
            <a:avLst/>
          </a:prstGeom>
          <a:noFill/>
          <a:ln/>
        </p:spPr>
        <p:txBody>
          <a:bodyPr wrap="square" lIns="0" tIns="0" rIns="0" bIns="0" rtlCol="0" anchor="t">
            <a:normAutofit/>
          </a:bodyPr>
          <a:lstStyle/>
          <a:p>
            <a:pPr marL="0" indent="0" algn="l">
              <a:buNone/>
            </a:pPr>
            <a:r>
              <a:rPr lang="en-US" sz="840" dirty="0">
                <a:solidFill>
                  <a:srgbClr val="BDC4C9"/>
                </a:solidFill>
                <a:latin typeface="Arial" pitchFamily="34" charset="0"/>
                <a:ea typeface="Arial" pitchFamily="34" charset="-122"/>
                <a:cs typeface="Arial" pitchFamily="34" charset="-120"/>
              </a:rPr>
              <a:t>Illustrative design / independent requirements and outputs.</a:t>
            </a:r>
            <a:endParaRPr lang="en-US" sz="840" dirty="0"/>
          </a:p>
        </p:txBody>
      </p:sp>
      <p:sp>
        <p:nvSpPr>
          <p:cNvPr id="24" name="Text 22"/>
          <p:cNvSpPr/>
          <p:nvPr/>
        </p:nvSpPr>
        <p:spPr>
          <a:xfrm>
            <a:off x="603504" y="5925312"/>
            <a:ext cx="10917936" cy="347472"/>
          </a:xfrm>
          <a:prstGeom prst="rect">
            <a:avLst/>
          </a:prstGeom>
          <a:noFill/>
          <a:ln/>
        </p:spPr>
        <p:txBody>
          <a:bodyPr wrap="square" lIns="0" tIns="0" rIns="0" bIns="0" rtlCol="0" anchor="t">
            <a:normAutofit/>
          </a:bodyPr>
          <a:lstStyle/>
          <a:p>
            <a:pPr marL="0" indent="0" algn="l">
              <a:buNone/>
            </a:pPr>
            <a:r>
              <a:rPr lang="en-US" sz="1320" dirty="0">
                <a:solidFill>
                  <a:srgbClr val="F5F6F7"/>
                </a:solidFill>
                <a:latin typeface="Arial" pitchFamily="34" charset="0"/>
                <a:ea typeface="Arial" pitchFamily="34" charset="-122"/>
                <a:cs typeface="Arial" pitchFamily="34" charset="-120"/>
              </a:rPr>
              <a:t>Only the authorised distributor sees its selected accounts and terms.</a:t>
            </a:r>
            <a:endParaRPr lang="en-US" sz="132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24282C"/>
        </a:solidFill>
        <a:effectLst/>
      </p:bgPr>
    </p:bg>
    <p:spTree>
      <p:nvGrpSpPr>
        <p:cNvPr id="1" name=""/>
        <p:cNvGrpSpPr/>
        <p:nvPr/>
      </p:nvGrpSpPr>
      <p:grpSpPr>
        <a:xfrm>
          <a:off x="0" y="0"/>
          <a:ext cx="0" cy="0"/>
          <a:chOff x="0" y="0"/>
          <a:chExt cx="0" cy="0"/>
        </a:xfrm>
      </p:grpSpPr>
      <p:sp>
        <p:nvSpPr>
          <p:cNvPr id="2" name="Text 0"/>
          <p:cNvSpPr/>
          <p:nvPr/>
        </p:nvSpPr>
        <p:spPr>
          <a:xfrm>
            <a:off x="484632" y="173736"/>
            <a:ext cx="2743200" cy="201168"/>
          </a:xfrm>
          <a:prstGeom prst="rect">
            <a:avLst/>
          </a:prstGeom>
          <a:noFill/>
          <a:ln/>
        </p:spPr>
        <p:txBody>
          <a:bodyPr wrap="square" lIns="0" tIns="0" rIns="0" bIns="0" rtlCol="0" anchor="t">
            <a:normAutofit/>
          </a:bodyPr>
          <a:lstStyle/>
          <a:p>
            <a:pPr marL="0" indent="0" algn="l">
              <a:buNone/>
            </a:pPr>
            <a:r>
              <a:rPr lang="en-US" sz="1000" b="1" dirty="0">
                <a:solidFill>
                  <a:srgbClr val="F5F6F7"/>
                </a:solidFill>
                <a:latin typeface="Arial" pitchFamily="34" charset="0"/>
                <a:ea typeface="Arial" pitchFamily="34" charset="-122"/>
                <a:cs typeface="Arial" pitchFamily="34" charset="-120"/>
              </a:rPr>
              <a:t>ISUZU / UNIVERSE</a:t>
            </a:r>
            <a:endParaRPr lang="en-US" sz="1000" dirty="0"/>
          </a:p>
        </p:txBody>
      </p:sp>
      <p:sp>
        <p:nvSpPr>
          <p:cNvPr id="3" name="Text 1"/>
          <p:cNvSpPr/>
          <p:nvPr/>
        </p:nvSpPr>
        <p:spPr>
          <a:xfrm>
            <a:off x="8046720" y="173736"/>
            <a:ext cx="3657600" cy="201168"/>
          </a:xfrm>
          <a:prstGeom prst="rect">
            <a:avLst/>
          </a:prstGeom>
          <a:noFill/>
          <a:ln/>
        </p:spPr>
        <p:txBody>
          <a:bodyPr wrap="square" lIns="0" tIns="0" rIns="0" bIns="0" rtlCol="0" anchor="t">
            <a:normAutofit/>
          </a:bodyPr>
          <a:lstStyle/>
          <a:p>
            <a:pPr marL="0" indent="0" algn="r">
              <a:buNone/>
            </a:pPr>
            <a:r>
              <a:rPr lang="en-US" sz="900" dirty="0">
                <a:solidFill>
                  <a:srgbClr val="BDC4C9"/>
                </a:solidFill>
                <a:latin typeface="Arial" pitchFamily="34" charset="0"/>
                <a:ea typeface="Arial" pitchFamily="34" charset="-122"/>
                <a:cs typeface="Arial" pitchFamily="34" charset="-120"/>
              </a:rPr>
              <a:t>COMMERCIAL VISION  /  3.0</a:t>
            </a:r>
            <a:endParaRPr lang="en-US" sz="900" dirty="0"/>
          </a:p>
        </p:txBody>
      </p:sp>
      <p:sp>
        <p:nvSpPr>
          <p:cNvPr id="4" name="Shape 2"/>
          <p:cNvSpPr/>
          <p:nvPr/>
        </p:nvSpPr>
        <p:spPr>
          <a:xfrm>
            <a:off x="484632" y="512064"/>
            <a:ext cx="475488" cy="22860"/>
          </a:xfrm>
          <a:prstGeom prst="rect">
            <a:avLst/>
          </a:prstGeom>
          <a:solidFill>
            <a:srgbClr val="D71920"/>
          </a:solidFill>
          <a:ln w="12700">
            <a:solidFill>
              <a:srgbClr val="D71920">
                <a:alpha val="0"/>
              </a:srgbClr>
            </a:solidFill>
            <a:prstDash val="solid"/>
          </a:ln>
        </p:spPr>
        <p:txBody>
          <a:bodyPr/>
          <a:lstStyle/>
          <a:p>
            <a:endParaRPr lang="nl-NL"/>
          </a:p>
        </p:txBody>
      </p:sp>
      <p:sp>
        <p:nvSpPr>
          <p:cNvPr id="5" name="Text 3"/>
          <p:cNvSpPr/>
          <p:nvPr/>
        </p:nvSpPr>
        <p:spPr>
          <a:xfrm>
            <a:off x="484632" y="658368"/>
            <a:ext cx="11064240" cy="219456"/>
          </a:xfrm>
          <a:prstGeom prst="rect">
            <a:avLst/>
          </a:prstGeom>
          <a:noFill/>
          <a:ln/>
        </p:spPr>
        <p:txBody>
          <a:bodyPr wrap="square" lIns="0" tIns="0" rIns="0" bIns="0" rtlCol="0" anchor="t">
            <a:normAutofit/>
          </a:bodyPr>
          <a:lstStyle/>
          <a:p>
            <a:pPr marL="0" indent="0" algn="l">
              <a:buNone/>
            </a:pPr>
            <a:r>
              <a:rPr lang="en-US" sz="1000" b="1" dirty="0">
                <a:solidFill>
                  <a:srgbClr val="D71920"/>
                </a:solidFill>
                <a:latin typeface="Arial" pitchFamily="34" charset="0"/>
                <a:ea typeface="Arial" pitchFamily="34" charset="-122"/>
                <a:cs typeface="Arial" pitchFamily="34" charset="-120"/>
              </a:rPr>
              <a:t>DEAL OF THE DAY / ISZE CONTRIBUTION</a:t>
            </a:r>
            <a:endParaRPr lang="en-US" sz="1000" dirty="0"/>
          </a:p>
        </p:txBody>
      </p:sp>
      <p:sp>
        <p:nvSpPr>
          <p:cNvPr id="6" name="Shape 4"/>
          <p:cNvSpPr/>
          <p:nvPr/>
        </p:nvSpPr>
        <p:spPr>
          <a:xfrm>
            <a:off x="484632" y="6446520"/>
            <a:ext cx="11219688" cy="914"/>
          </a:xfrm>
          <a:prstGeom prst="line">
            <a:avLst/>
          </a:prstGeom>
          <a:noFill/>
          <a:ln w="6350">
            <a:solidFill>
              <a:srgbClr val="647078"/>
            </a:solidFill>
            <a:prstDash val="solid"/>
          </a:ln>
        </p:spPr>
        <p:txBody>
          <a:bodyPr/>
          <a:lstStyle/>
          <a:p>
            <a:endParaRPr lang="nl-NL"/>
          </a:p>
        </p:txBody>
      </p:sp>
      <p:sp>
        <p:nvSpPr>
          <p:cNvPr id="7" name="Text 5"/>
          <p:cNvSpPr/>
          <p:nvPr/>
        </p:nvSpPr>
        <p:spPr>
          <a:xfrm>
            <a:off x="484632" y="6556248"/>
            <a:ext cx="9144000" cy="146304"/>
          </a:xfrm>
          <a:prstGeom prst="rect">
            <a:avLst/>
          </a:prstGeom>
          <a:noFill/>
          <a:ln/>
        </p:spPr>
        <p:txBody>
          <a:bodyPr wrap="square" lIns="0" tIns="0" rIns="0" bIns="0" rtlCol="0" anchor="t">
            <a:normAutofit/>
          </a:bodyPr>
          <a:lstStyle/>
          <a:p>
            <a:pPr marL="0" indent="0" algn="l">
              <a:buNone/>
            </a:pPr>
            <a:r>
              <a:rPr lang="en-US" sz="750" dirty="0">
                <a:solidFill>
                  <a:srgbClr val="BDC4C9"/>
                </a:solidFill>
                <a:latin typeface="Arial" pitchFamily="34" charset="0"/>
                <a:ea typeface="Arial" pitchFamily="34" charset="-122"/>
                <a:cs typeface="Arial" pitchFamily="34" charset="-120"/>
              </a:rPr>
              <a:t>22 SEPTEMBER 2026  /  CONCEPT AND APPLICATION EXAMPLES</a:t>
            </a:r>
            <a:endParaRPr lang="en-US" sz="750" dirty="0"/>
          </a:p>
        </p:txBody>
      </p:sp>
      <p:sp>
        <p:nvSpPr>
          <p:cNvPr id="8" name="Text 6"/>
          <p:cNvSpPr/>
          <p:nvPr/>
        </p:nvSpPr>
        <p:spPr>
          <a:xfrm>
            <a:off x="10789920" y="6547104"/>
            <a:ext cx="914400" cy="173736"/>
          </a:xfrm>
          <a:prstGeom prst="rect">
            <a:avLst/>
          </a:prstGeom>
          <a:noFill/>
          <a:ln/>
        </p:spPr>
        <p:txBody>
          <a:bodyPr wrap="square" lIns="0" tIns="0" rIns="0" bIns="0" rtlCol="0" anchor="t">
            <a:normAutofit/>
          </a:bodyPr>
          <a:lstStyle/>
          <a:p>
            <a:pPr marL="0" indent="0" algn="r">
              <a:buNone/>
            </a:pPr>
            <a:r>
              <a:rPr lang="en-US" sz="850" dirty="0">
                <a:solidFill>
                  <a:srgbClr val="BDC4C9"/>
                </a:solidFill>
                <a:latin typeface="Arial" pitchFamily="34" charset="0"/>
                <a:ea typeface="Arial" pitchFamily="34" charset="-122"/>
                <a:cs typeface="Arial" pitchFamily="34" charset="-120"/>
              </a:rPr>
              <a:t>32 / 49</a:t>
            </a:r>
            <a:endParaRPr lang="en-US" sz="850" dirty="0"/>
          </a:p>
        </p:txBody>
      </p:sp>
      <p:sp>
        <p:nvSpPr>
          <p:cNvPr id="9" name="Text 7"/>
          <p:cNvSpPr/>
          <p:nvPr/>
        </p:nvSpPr>
        <p:spPr>
          <a:xfrm>
            <a:off x="502920" y="1005840"/>
            <a:ext cx="11036808" cy="841248"/>
          </a:xfrm>
          <a:prstGeom prst="rect">
            <a:avLst/>
          </a:prstGeom>
          <a:noFill/>
          <a:ln/>
        </p:spPr>
        <p:txBody>
          <a:bodyPr wrap="square" lIns="0" tIns="0" rIns="0" bIns="0" rtlCol="0" anchor="t">
            <a:normAutofit/>
          </a:bodyPr>
          <a:lstStyle/>
          <a:p>
            <a:pPr marL="0" indent="0" algn="l">
              <a:buNone/>
            </a:pPr>
            <a:r>
              <a:rPr lang="en-US" sz="3400" b="1" dirty="0">
                <a:solidFill>
                  <a:srgbClr val="F5F6F7"/>
                </a:solidFill>
                <a:latin typeface="Arial" pitchFamily="34" charset="0"/>
                <a:ea typeface="Arial" pitchFamily="34" charset="-122"/>
                <a:cs typeface="Arial" pitchFamily="34" charset="-120"/>
              </a:rPr>
              <a:t>Make the ISZE contribution concrete.</a:t>
            </a:r>
            <a:endParaRPr lang="en-US" sz="3400" dirty="0"/>
          </a:p>
        </p:txBody>
      </p:sp>
      <p:sp>
        <p:nvSpPr>
          <p:cNvPr id="10" name="Text 8"/>
          <p:cNvSpPr/>
          <p:nvPr/>
        </p:nvSpPr>
        <p:spPr>
          <a:xfrm>
            <a:off x="530352" y="1865376"/>
            <a:ext cx="10954512" cy="566928"/>
          </a:xfrm>
          <a:prstGeom prst="rect">
            <a:avLst/>
          </a:prstGeom>
          <a:noFill/>
          <a:ln/>
        </p:spPr>
        <p:txBody>
          <a:bodyPr wrap="square" lIns="0" tIns="0" rIns="0" bIns="0" rtlCol="0" anchor="t">
            <a:normAutofit/>
          </a:bodyPr>
          <a:lstStyle/>
          <a:p>
            <a:pPr marL="0" indent="0" algn="l">
              <a:buNone/>
            </a:pPr>
            <a:r>
              <a:rPr lang="en-US" sz="1800" dirty="0">
                <a:solidFill>
                  <a:srgbClr val="BDC4C9"/>
                </a:solidFill>
                <a:latin typeface="Arial" pitchFamily="34" charset="0"/>
                <a:ea typeface="Arial" pitchFamily="34" charset="-122"/>
                <a:cs typeface="Arial" pitchFamily="34" charset="-120"/>
              </a:rPr>
              <a:t>Show the additional preparation and assistance a usable contribution enables.</a:t>
            </a:r>
            <a:endParaRPr lang="en-US" sz="1800" dirty="0"/>
          </a:p>
        </p:txBody>
      </p:sp>
      <p:sp>
        <p:nvSpPr>
          <p:cNvPr id="11" name="Shape 9"/>
          <p:cNvSpPr/>
          <p:nvPr/>
        </p:nvSpPr>
        <p:spPr>
          <a:xfrm>
            <a:off x="1817043" y="2966575"/>
            <a:ext cx="2683111" cy="2343477"/>
          </a:xfrm>
          <a:prstGeom prst="roundRect">
            <a:avLst>
              <a:gd name="adj" fmla="val 1561"/>
            </a:avLst>
          </a:prstGeom>
          <a:solidFill>
            <a:srgbClr val="383F44"/>
          </a:solidFill>
          <a:ln w="8890">
            <a:solidFill>
              <a:srgbClr val="D71920"/>
            </a:solidFill>
            <a:prstDash val="solid"/>
          </a:ln>
        </p:spPr>
        <p:txBody>
          <a:bodyPr/>
          <a:lstStyle/>
          <a:p>
            <a:endParaRPr lang="nl-NL"/>
          </a:p>
        </p:txBody>
      </p:sp>
      <p:sp>
        <p:nvSpPr>
          <p:cNvPr id="12" name="Shape 10"/>
          <p:cNvSpPr/>
          <p:nvPr/>
        </p:nvSpPr>
        <p:spPr>
          <a:xfrm>
            <a:off x="1817043" y="3085447"/>
            <a:ext cx="33963" cy="2105733"/>
          </a:xfrm>
          <a:prstGeom prst="rect">
            <a:avLst/>
          </a:prstGeom>
          <a:solidFill>
            <a:srgbClr val="D71920"/>
          </a:solidFill>
          <a:ln w="12700">
            <a:solidFill>
              <a:srgbClr val="24282C">
                <a:alpha val="0"/>
              </a:srgbClr>
            </a:solidFill>
            <a:prstDash val="solid"/>
          </a:ln>
        </p:spPr>
        <p:txBody>
          <a:bodyPr/>
          <a:lstStyle/>
          <a:p>
            <a:endParaRPr lang="nl-NL"/>
          </a:p>
        </p:txBody>
      </p:sp>
      <p:sp>
        <p:nvSpPr>
          <p:cNvPr id="13" name="Text 11"/>
          <p:cNvSpPr/>
          <p:nvPr/>
        </p:nvSpPr>
        <p:spPr>
          <a:xfrm>
            <a:off x="1961388" y="3102429"/>
            <a:ext cx="2394422" cy="543415"/>
          </a:xfrm>
          <a:prstGeom prst="rect">
            <a:avLst/>
          </a:prstGeom>
          <a:noFill/>
          <a:ln/>
        </p:spPr>
        <p:txBody>
          <a:bodyPr wrap="square" lIns="0" tIns="0" rIns="0" bIns="0" rtlCol="0" anchor="t">
            <a:normAutofit/>
          </a:bodyPr>
          <a:lstStyle/>
          <a:p>
            <a:pPr marL="0" indent="0" algn="l">
              <a:buNone/>
            </a:pPr>
            <a:r>
              <a:rPr lang="en-US" sz="1671" b="1" dirty="0">
                <a:solidFill>
                  <a:srgbClr val="F5F6F7"/>
                </a:solidFill>
                <a:latin typeface="Arial" pitchFamily="34" charset="0"/>
                <a:ea typeface="Arial" pitchFamily="34" charset="-122"/>
                <a:cs typeface="Arial" pitchFamily="34" charset="-120"/>
              </a:rPr>
              <a:t>Analytical assistance</a:t>
            </a:r>
            <a:endParaRPr lang="en-US" sz="1671" dirty="0"/>
          </a:p>
        </p:txBody>
      </p:sp>
      <p:sp>
        <p:nvSpPr>
          <p:cNvPr id="14" name="Text 12"/>
          <p:cNvSpPr/>
          <p:nvPr/>
        </p:nvSpPr>
        <p:spPr>
          <a:xfrm>
            <a:off x="1961388" y="3705279"/>
            <a:ext cx="2394422" cy="1502882"/>
          </a:xfrm>
          <a:prstGeom prst="rect">
            <a:avLst/>
          </a:prstGeom>
          <a:noFill/>
          <a:ln/>
        </p:spPr>
        <p:txBody>
          <a:bodyPr wrap="square" lIns="0" tIns="0" rIns="0" bIns="0" rtlCol="0" anchor="t">
            <a:normAutofit/>
          </a:bodyPr>
          <a:lstStyle/>
          <a:p>
            <a:pPr marL="0" indent="0" algn="l">
              <a:buNone/>
            </a:pPr>
            <a:r>
              <a:rPr lang="en-US" sz="1337" dirty="0">
                <a:solidFill>
                  <a:srgbClr val="BDC4C9"/>
                </a:solidFill>
                <a:latin typeface="Arial" pitchFamily="34" charset="0"/>
                <a:ea typeface="Arial" pitchFamily="34" charset="-122"/>
                <a:cs typeface="Arial" pitchFamily="34" charset="-120"/>
              </a:rPr>
              <a:t>Product selection, audience method and scenario.</a:t>
            </a:r>
            <a:endParaRPr lang="en-US" sz="1337" dirty="0"/>
          </a:p>
        </p:txBody>
      </p:sp>
      <p:sp>
        <p:nvSpPr>
          <p:cNvPr id="15" name="Shape 13"/>
          <p:cNvSpPr/>
          <p:nvPr/>
        </p:nvSpPr>
        <p:spPr>
          <a:xfrm>
            <a:off x="4720917" y="2966575"/>
            <a:ext cx="2683111" cy="2343477"/>
          </a:xfrm>
          <a:prstGeom prst="roundRect">
            <a:avLst>
              <a:gd name="adj" fmla="val 1561"/>
            </a:avLst>
          </a:prstGeom>
          <a:solidFill>
            <a:srgbClr val="30363B"/>
          </a:solidFill>
          <a:ln w="8890">
            <a:solidFill>
              <a:srgbClr val="48525B"/>
            </a:solidFill>
            <a:prstDash val="solid"/>
          </a:ln>
        </p:spPr>
        <p:txBody>
          <a:bodyPr/>
          <a:lstStyle/>
          <a:p>
            <a:endParaRPr lang="nl-NL"/>
          </a:p>
        </p:txBody>
      </p:sp>
      <p:sp>
        <p:nvSpPr>
          <p:cNvPr id="16" name="Shape 14"/>
          <p:cNvSpPr/>
          <p:nvPr/>
        </p:nvSpPr>
        <p:spPr>
          <a:xfrm>
            <a:off x="4720917" y="3085447"/>
            <a:ext cx="33963" cy="2105733"/>
          </a:xfrm>
          <a:prstGeom prst="rect">
            <a:avLst/>
          </a:prstGeom>
          <a:solidFill>
            <a:srgbClr val="82909A"/>
          </a:solidFill>
          <a:ln w="12700">
            <a:solidFill>
              <a:srgbClr val="24282C">
                <a:alpha val="0"/>
              </a:srgbClr>
            </a:solidFill>
            <a:prstDash val="solid"/>
          </a:ln>
        </p:spPr>
        <p:txBody>
          <a:bodyPr/>
          <a:lstStyle/>
          <a:p>
            <a:endParaRPr lang="nl-NL"/>
          </a:p>
        </p:txBody>
      </p:sp>
      <p:sp>
        <p:nvSpPr>
          <p:cNvPr id="17" name="Text 15"/>
          <p:cNvSpPr/>
          <p:nvPr/>
        </p:nvSpPr>
        <p:spPr>
          <a:xfrm>
            <a:off x="4865261" y="3102429"/>
            <a:ext cx="2394422" cy="543415"/>
          </a:xfrm>
          <a:prstGeom prst="rect">
            <a:avLst/>
          </a:prstGeom>
          <a:noFill/>
          <a:ln/>
        </p:spPr>
        <p:txBody>
          <a:bodyPr wrap="square" lIns="0" tIns="0" rIns="0" bIns="0" rtlCol="0" anchor="t">
            <a:normAutofit/>
          </a:bodyPr>
          <a:lstStyle/>
          <a:p>
            <a:pPr marL="0" indent="0" algn="l">
              <a:buNone/>
            </a:pPr>
            <a:r>
              <a:rPr lang="en-US" sz="1671" b="1" dirty="0">
                <a:solidFill>
                  <a:srgbClr val="F5F6F7"/>
                </a:solidFill>
                <a:latin typeface="Arial" pitchFamily="34" charset="0"/>
                <a:ea typeface="Arial" pitchFamily="34" charset="-122"/>
                <a:cs typeface="Arial" pitchFamily="34" charset="-120"/>
              </a:rPr>
              <a:t>Campaign preparation</a:t>
            </a:r>
            <a:endParaRPr lang="en-US" sz="1671" dirty="0"/>
          </a:p>
        </p:txBody>
      </p:sp>
      <p:sp>
        <p:nvSpPr>
          <p:cNvPr id="18" name="Text 16"/>
          <p:cNvSpPr/>
          <p:nvPr/>
        </p:nvSpPr>
        <p:spPr>
          <a:xfrm>
            <a:off x="4865261" y="3705279"/>
            <a:ext cx="2394422" cy="1502882"/>
          </a:xfrm>
          <a:prstGeom prst="rect">
            <a:avLst/>
          </a:prstGeom>
          <a:noFill/>
          <a:ln/>
        </p:spPr>
        <p:txBody>
          <a:bodyPr wrap="square" lIns="0" tIns="0" rIns="0" bIns="0" rtlCol="0" anchor="t">
            <a:normAutofit/>
          </a:bodyPr>
          <a:lstStyle/>
          <a:p>
            <a:pPr marL="0" indent="0" algn="l">
              <a:buNone/>
            </a:pPr>
            <a:r>
              <a:rPr lang="en-US" sz="1337" dirty="0">
                <a:solidFill>
                  <a:srgbClr val="BDC4C9"/>
                </a:solidFill>
                <a:latin typeface="Arial" pitchFamily="34" charset="0"/>
                <a:ea typeface="Arial" pitchFamily="34" charset="-122"/>
                <a:cs typeface="Arial" pitchFamily="34" charset="-120"/>
              </a:rPr>
              <a:t>Permitted product material and local adaptation.</a:t>
            </a:r>
            <a:endParaRPr lang="en-US" sz="1337" dirty="0"/>
          </a:p>
        </p:txBody>
      </p:sp>
      <p:sp>
        <p:nvSpPr>
          <p:cNvPr id="19" name="Shape 17"/>
          <p:cNvSpPr/>
          <p:nvPr/>
        </p:nvSpPr>
        <p:spPr>
          <a:xfrm>
            <a:off x="7624790" y="2966575"/>
            <a:ext cx="2683111" cy="2343477"/>
          </a:xfrm>
          <a:prstGeom prst="roundRect">
            <a:avLst>
              <a:gd name="adj" fmla="val 1561"/>
            </a:avLst>
          </a:prstGeom>
          <a:solidFill>
            <a:srgbClr val="30363B"/>
          </a:solidFill>
          <a:ln w="8890">
            <a:solidFill>
              <a:srgbClr val="48525B"/>
            </a:solidFill>
            <a:prstDash val="solid"/>
          </a:ln>
        </p:spPr>
        <p:txBody>
          <a:bodyPr/>
          <a:lstStyle/>
          <a:p>
            <a:endParaRPr lang="nl-NL"/>
          </a:p>
        </p:txBody>
      </p:sp>
      <p:sp>
        <p:nvSpPr>
          <p:cNvPr id="20" name="Shape 18"/>
          <p:cNvSpPr/>
          <p:nvPr/>
        </p:nvSpPr>
        <p:spPr>
          <a:xfrm>
            <a:off x="7624790" y="3085447"/>
            <a:ext cx="33963" cy="2105733"/>
          </a:xfrm>
          <a:prstGeom prst="rect">
            <a:avLst/>
          </a:prstGeom>
          <a:solidFill>
            <a:srgbClr val="82909A"/>
          </a:solidFill>
          <a:ln w="12700">
            <a:solidFill>
              <a:srgbClr val="24282C">
                <a:alpha val="0"/>
              </a:srgbClr>
            </a:solidFill>
            <a:prstDash val="solid"/>
          </a:ln>
        </p:spPr>
        <p:txBody>
          <a:bodyPr/>
          <a:lstStyle/>
          <a:p>
            <a:endParaRPr lang="nl-NL"/>
          </a:p>
        </p:txBody>
      </p:sp>
      <p:sp>
        <p:nvSpPr>
          <p:cNvPr id="21" name="Text 19"/>
          <p:cNvSpPr/>
          <p:nvPr/>
        </p:nvSpPr>
        <p:spPr>
          <a:xfrm>
            <a:off x="7769134" y="3102429"/>
            <a:ext cx="2394422" cy="543415"/>
          </a:xfrm>
          <a:prstGeom prst="rect">
            <a:avLst/>
          </a:prstGeom>
          <a:noFill/>
          <a:ln/>
        </p:spPr>
        <p:txBody>
          <a:bodyPr wrap="square" lIns="0" tIns="0" rIns="0" bIns="0" rtlCol="0" anchor="t">
            <a:normAutofit/>
          </a:bodyPr>
          <a:lstStyle/>
          <a:p>
            <a:pPr marL="0" indent="0" algn="l">
              <a:buNone/>
            </a:pPr>
            <a:r>
              <a:rPr lang="en-US" sz="1671" b="1" dirty="0">
                <a:solidFill>
                  <a:srgbClr val="F5F6F7"/>
                </a:solidFill>
                <a:latin typeface="Arial" pitchFamily="34" charset="0"/>
                <a:ea typeface="Arial" pitchFamily="34" charset="-122"/>
                <a:cs typeface="Arial" pitchFamily="34" charset="-120"/>
              </a:rPr>
              <a:t>Commercial contribution</a:t>
            </a:r>
            <a:endParaRPr lang="en-US" sz="1671" dirty="0"/>
          </a:p>
        </p:txBody>
      </p:sp>
      <p:sp>
        <p:nvSpPr>
          <p:cNvPr id="22" name="Text 20"/>
          <p:cNvSpPr/>
          <p:nvPr/>
        </p:nvSpPr>
        <p:spPr>
          <a:xfrm>
            <a:off x="7769134" y="3705279"/>
            <a:ext cx="2394422" cy="1502882"/>
          </a:xfrm>
          <a:prstGeom prst="rect">
            <a:avLst/>
          </a:prstGeom>
          <a:noFill/>
          <a:ln/>
        </p:spPr>
        <p:txBody>
          <a:bodyPr wrap="square" lIns="0" tIns="0" rIns="0" bIns="0" rtlCol="0" anchor="t">
            <a:normAutofit/>
          </a:bodyPr>
          <a:lstStyle/>
          <a:p>
            <a:pPr marL="0" indent="0" algn="l">
              <a:buNone/>
            </a:pPr>
            <a:r>
              <a:rPr lang="en-US" sz="1337" dirty="0">
                <a:solidFill>
                  <a:srgbClr val="BDC4C9"/>
                </a:solidFill>
                <a:latin typeface="Arial" pitchFamily="34" charset="0"/>
                <a:ea typeface="Arial" pitchFamily="34" charset="-122"/>
                <a:cs typeface="Arial" pitchFamily="34" charset="-120"/>
              </a:rPr>
              <a:t>A separate eligible proposal, subject to approval.</a:t>
            </a:r>
            <a:endParaRPr lang="en-US" sz="1337" dirty="0"/>
          </a:p>
        </p:txBody>
      </p:sp>
      <p:sp>
        <p:nvSpPr>
          <p:cNvPr id="23" name="Text 21"/>
          <p:cNvSpPr/>
          <p:nvPr/>
        </p:nvSpPr>
        <p:spPr>
          <a:xfrm>
            <a:off x="548640" y="5678424"/>
            <a:ext cx="10954512" cy="219456"/>
          </a:xfrm>
          <a:prstGeom prst="rect">
            <a:avLst/>
          </a:prstGeom>
          <a:noFill/>
          <a:ln/>
        </p:spPr>
        <p:txBody>
          <a:bodyPr wrap="square" lIns="0" tIns="0" rIns="0" bIns="0" rtlCol="0" anchor="t">
            <a:normAutofit/>
          </a:bodyPr>
          <a:lstStyle/>
          <a:p>
            <a:pPr marL="0" indent="0" algn="l">
              <a:buNone/>
            </a:pPr>
            <a:r>
              <a:rPr lang="en-US" sz="840" dirty="0">
                <a:solidFill>
                  <a:srgbClr val="BDC4C9"/>
                </a:solidFill>
                <a:latin typeface="Arial" pitchFamily="34" charset="0"/>
                <a:ea typeface="Arial" pitchFamily="34" charset="-122"/>
                <a:cs typeface="Arial" pitchFamily="34" charset="-120"/>
              </a:rPr>
              <a:t>Illustrative design / independent requirements and outputs.</a:t>
            </a:r>
            <a:endParaRPr lang="en-US" sz="840" dirty="0"/>
          </a:p>
        </p:txBody>
      </p:sp>
      <p:sp>
        <p:nvSpPr>
          <p:cNvPr id="24" name="Text 22"/>
          <p:cNvSpPr/>
          <p:nvPr/>
        </p:nvSpPr>
        <p:spPr>
          <a:xfrm>
            <a:off x="603504" y="5925312"/>
            <a:ext cx="10917936" cy="347472"/>
          </a:xfrm>
          <a:prstGeom prst="rect">
            <a:avLst/>
          </a:prstGeom>
          <a:noFill/>
          <a:ln/>
        </p:spPr>
        <p:txBody>
          <a:bodyPr wrap="square" lIns="0" tIns="0" rIns="0" bIns="0" rtlCol="0" anchor="t">
            <a:normAutofit/>
          </a:bodyPr>
          <a:lstStyle/>
          <a:p>
            <a:pPr marL="0" indent="0" algn="l">
              <a:buNone/>
            </a:pPr>
            <a:r>
              <a:rPr lang="en-US" sz="1320" dirty="0">
                <a:solidFill>
                  <a:srgbClr val="F5F6F7"/>
                </a:solidFill>
                <a:latin typeface="Arial" pitchFamily="34" charset="0"/>
                <a:ea typeface="Arial" pitchFamily="34" charset="-122"/>
                <a:cs typeface="Arial" pitchFamily="34" charset="-120"/>
              </a:rPr>
              <a:t>The positive exchange is explicit: relevant information makes the offer preparation and evaluation better, and the participant receives a stronger commercial tool in return.</a:t>
            </a:r>
            <a:endParaRPr lang="en-US" sz="132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24282C"/>
        </a:solidFill>
        <a:effectLst/>
      </p:bgPr>
    </p:bg>
    <p:spTree>
      <p:nvGrpSpPr>
        <p:cNvPr id="1" name=""/>
        <p:cNvGrpSpPr/>
        <p:nvPr/>
      </p:nvGrpSpPr>
      <p:grpSpPr>
        <a:xfrm>
          <a:off x="0" y="0"/>
          <a:ext cx="0" cy="0"/>
          <a:chOff x="0" y="0"/>
          <a:chExt cx="0" cy="0"/>
        </a:xfrm>
      </p:grpSpPr>
      <p:sp>
        <p:nvSpPr>
          <p:cNvPr id="2" name="Text 0"/>
          <p:cNvSpPr/>
          <p:nvPr/>
        </p:nvSpPr>
        <p:spPr>
          <a:xfrm>
            <a:off x="484632" y="173736"/>
            <a:ext cx="2743200" cy="201168"/>
          </a:xfrm>
          <a:prstGeom prst="rect">
            <a:avLst/>
          </a:prstGeom>
          <a:noFill/>
          <a:ln/>
        </p:spPr>
        <p:txBody>
          <a:bodyPr wrap="square" lIns="0" tIns="0" rIns="0" bIns="0" rtlCol="0" anchor="t">
            <a:normAutofit/>
          </a:bodyPr>
          <a:lstStyle/>
          <a:p>
            <a:pPr marL="0" indent="0" algn="l">
              <a:buNone/>
            </a:pPr>
            <a:r>
              <a:rPr lang="en-US" sz="1000" b="1" dirty="0">
                <a:solidFill>
                  <a:srgbClr val="F5F6F7"/>
                </a:solidFill>
                <a:latin typeface="Arial" pitchFamily="34" charset="0"/>
                <a:ea typeface="Arial" pitchFamily="34" charset="-122"/>
                <a:cs typeface="Arial" pitchFamily="34" charset="-120"/>
              </a:rPr>
              <a:t>ISUZU / UNIVERSE</a:t>
            </a:r>
            <a:endParaRPr lang="en-US" sz="1000" dirty="0"/>
          </a:p>
        </p:txBody>
      </p:sp>
      <p:sp>
        <p:nvSpPr>
          <p:cNvPr id="3" name="Text 1"/>
          <p:cNvSpPr/>
          <p:nvPr/>
        </p:nvSpPr>
        <p:spPr>
          <a:xfrm>
            <a:off x="8046720" y="173736"/>
            <a:ext cx="3657600" cy="201168"/>
          </a:xfrm>
          <a:prstGeom prst="rect">
            <a:avLst/>
          </a:prstGeom>
          <a:noFill/>
          <a:ln/>
        </p:spPr>
        <p:txBody>
          <a:bodyPr wrap="square" lIns="0" tIns="0" rIns="0" bIns="0" rtlCol="0" anchor="t">
            <a:normAutofit/>
          </a:bodyPr>
          <a:lstStyle/>
          <a:p>
            <a:pPr marL="0" indent="0" algn="r">
              <a:buNone/>
            </a:pPr>
            <a:r>
              <a:rPr lang="en-US" sz="900" dirty="0">
                <a:solidFill>
                  <a:srgbClr val="BDC4C9"/>
                </a:solidFill>
                <a:latin typeface="Arial" pitchFamily="34" charset="0"/>
                <a:ea typeface="Arial" pitchFamily="34" charset="-122"/>
                <a:cs typeface="Arial" pitchFamily="34" charset="-120"/>
              </a:rPr>
              <a:t>COMMERCIAL VISION  /  3.0</a:t>
            </a:r>
            <a:endParaRPr lang="en-US" sz="900" dirty="0"/>
          </a:p>
        </p:txBody>
      </p:sp>
      <p:sp>
        <p:nvSpPr>
          <p:cNvPr id="4" name="Shape 2"/>
          <p:cNvSpPr/>
          <p:nvPr/>
        </p:nvSpPr>
        <p:spPr>
          <a:xfrm>
            <a:off x="484632" y="512064"/>
            <a:ext cx="475488" cy="22860"/>
          </a:xfrm>
          <a:prstGeom prst="rect">
            <a:avLst/>
          </a:prstGeom>
          <a:solidFill>
            <a:srgbClr val="D71920"/>
          </a:solidFill>
          <a:ln w="12700">
            <a:solidFill>
              <a:srgbClr val="D71920">
                <a:alpha val="0"/>
              </a:srgbClr>
            </a:solidFill>
            <a:prstDash val="solid"/>
          </a:ln>
        </p:spPr>
        <p:txBody>
          <a:bodyPr/>
          <a:lstStyle/>
          <a:p>
            <a:endParaRPr lang="nl-NL"/>
          </a:p>
        </p:txBody>
      </p:sp>
      <p:sp>
        <p:nvSpPr>
          <p:cNvPr id="5" name="Text 3"/>
          <p:cNvSpPr/>
          <p:nvPr/>
        </p:nvSpPr>
        <p:spPr>
          <a:xfrm>
            <a:off x="484632" y="658368"/>
            <a:ext cx="11064240" cy="219456"/>
          </a:xfrm>
          <a:prstGeom prst="rect">
            <a:avLst/>
          </a:prstGeom>
          <a:noFill/>
          <a:ln/>
        </p:spPr>
        <p:txBody>
          <a:bodyPr wrap="square" lIns="0" tIns="0" rIns="0" bIns="0" rtlCol="0" anchor="t">
            <a:normAutofit/>
          </a:bodyPr>
          <a:lstStyle/>
          <a:p>
            <a:pPr marL="0" indent="0" algn="l">
              <a:buNone/>
            </a:pPr>
            <a:r>
              <a:rPr lang="en-US" sz="1000" b="1" dirty="0">
                <a:solidFill>
                  <a:srgbClr val="D71920"/>
                </a:solidFill>
                <a:latin typeface="Arial" pitchFamily="34" charset="0"/>
                <a:ea typeface="Arial" pitchFamily="34" charset="-122"/>
                <a:cs typeface="Arial" pitchFamily="34" charset="-120"/>
              </a:rPr>
              <a:t>DEAL OF THE DAY / THE OFFER</a:t>
            </a:r>
            <a:endParaRPr lang="en-US" sz="1000" dirty="0"/>
          </a:p>
        </p:txBody>
      </p:sp>
      <p:sp>
        <p:nvSpPr>
          <p:cNvPr id="6" name="Shape 4"/>
          <p:cNvSpPr/>
          <p:nvPr/>
        </p:nvSpPr>
        <p:spPr>
          <a:xfrm>
            <a:off x="484632" y="6446520"/>
            <a:ext cx="11219688" cy="914"/>
          </a:xfrm>
          <a:prstGeom prst="line">
            <a:avLst/>
          </a:prstGeom>
          <a:noFill/>
          <a:ln w="6350">
            <a:solidFill>
              <a:srgbClr val="647078"/>
            </a:solidFill>
            <a:prstDash val="solid"/>
          </a:ln>
        </p:spPr>
        <p:txBody>
          <a:bodyPr/>
          <a:lstStyle/>
          <a:p>
            <a:endParaRPr lang="nl-NL"/>
          </a:p>
        </p:txBody>
      </p:sp>
      <p:sp>
        <p:nvSpPr>
          <p:cNvPr id="7" name="Text 5"/>
          <p:cNvSpPr/>
          <p:nvPr/>
        </p:nvSpPr>
        <p:spPr>
          <a:xfrm>
            <a:off x="484632" y="6556248"/>
            <a:ext cx="9144000" cy="146304"/>
          </a:xfrm>
          <a:prstGeom prst="rect">
            <a:avLst/>
          </a:prstGeom>
          <a:noFill/>
          <a:ln/>
        </p:spPr>
        <p:txBody>
          <a:bodyPr wrap="square" lIns="0" tIns="0" rIns="0" bIns="0" rtlCol="0" anchor="t">
            <a:normAutofit/>
          </a:bodyPr>
          <a:lstStyle/>
          <a:p>
            <a:pPr marL="0" indent="0" algn="l">
              <a:buNone/>
            </a:pPr>
            <a:r>
              <a:rPr lang="en-US" sz="750" dirty="0">
                <a:solidFill>
                  <a:srgbClr val="BDC4C9"/>
                </a:solidFill>
                <a:latin typeface="Arial" pitchFamily="34" charset="0"/>
                <a:ea typeface="Arial" pitchFamily="34" charset="-122"/>
                <a:cs typeface="Arial" pitchFamily="34" charset="-120"/>
              </a:rPr>
              <a:t>22 SEPTEMBER 2026  /  CONCEPT AND APPLICATION EXAMPLES</a:t>
            </a:r>
            <a:endParaRPr lang="en-US" sz="750" dirty="0"/>
          </a:p>
        </p:txBody>
      </p:sp>
      <p:sp>
        <p:nvSpPr>
          <p:cNvPr id="8" name="Text 6"/>
          <p:cNvSpPr/>
          <p:nvPr/>
        </p:nvSpPr>
        <p:spPr>
          <a:xfrm>
            <a:off x="10789920" y="6547104"/>
            <a:ext cx="914400" cy="173736"/>
          </a:xfrm>
          <a:prstGeom prst="rect">
            <a:avLst/>
          </a:prstGeom>
          <a:noFill/>
          <a:ln/>
        </p:spPr>
        <p:txBody>
          <a:bodyPr wrap="square" lIns="0" tIns="0" rIns="0" bIns="0" rtlCol="0" anchor="t">
            <a:normAutofit/>
          </a:bodyPr>
          <a:lstStyle/>
          <a:p>
            <a:pPr marL="0" indent="0" algn="r">
              <a:buNone/>
            </a:pPr>
            <a:r>
              <a:rPr lang="en-US" sz="850" dirty="0">
                <a:solidFill>
                  <a:srgbClr val="BDC4C9"/>
                </a:solidFill>
                <a:latin typeface="Arial" pitchFamily="34" charset="0"/>
                <a:ea typeface="Arial" pitchFamily="34" charset="-122"/>
                <a:cs typeface="Arial" pitchFamily="34" charset="-120"/>
              </a:rPr>
              <a:t>33 / 49</a:t>
            </a:r>
            <a:endParaRPr lang="en-US" sz="850" dirty="0"/>
          </a:p>
        </p:txBody>
      </p:sp>
      <p:sp>
        <p:nvSpPr>
          <p:cNvPr id="9" name="Text 7"/>
          <p:cNvSpPr/>
          <p:nvPr/>
        </p:nvSpPr>
        <p:spPr>
          <a:xfrm>
            <a:off x="502920" y="1005840"/>
            <a:ext cx="11036808" cy="841248"/>
          </a:xfrm>
          <a:prstGeom prst="rect">
            <a:avLst/>
          </a:prstGeom>
          <a:noFill/>
          <a:ln/>
        </p:spPr>
        <p:txBody>
          <a:bodyPr wrap="square" lIns="0" tIns="0" rIns="0" bIns="0" rtlCol="0" anchor="t">
            <a:normAutofit/>
          </a:bodyPr>
          <a:lstStyle/>
          <a:p>
            <a:pPr marL="0" indent="0" algn="l">
              <a:buNone/>
            </a:pPr>
            <a:r>
              <a:rPr lang="en-US" sz="3400" b="1" dirty="0">
                <a:solidFill>
                  <a:srgbClr val="F5F6F7"/>
                </a:solidFill>
                <a:latin typeface="Arial" pitchFamily="34" charset="0"/>
                <a:ea typeface="Arial" pitchFamily="34" charset="-122"/>
                <a:cs typeface="Arial" pitchFamily="34" charset="-120"/>
              </a:rPr>
              <a:t>Keep the offer specific and usable.</a:t>
            </a:r>
            <a:endParaRPr lang="en-US" sz="3400" dirty="0"/>
          </a:p>
        </p:txBody>
      </p:sp>
      <p:sp>
        <p:nvSpPr>
          <p:cNvPr id="10" name="Text 8"/>
          <p:cNvSpPr/>
          <p:nvPr/>
        </p:nvSpPr>
        <p:spPr>
          <a:xfrm>
            <a:off x="530352" y="1865376"/>
            <a:ext cx="10954512" cy="566928"/>
          </a:xfrm>
          <a:prstGeom prst="rect">
            <a:avLst/>
          </a:prstGeom>
          <a:noFill/>
          <a:ln/>
        </p:spPr>
        <p:txBody>
          <a:bodyPr wrap="square" lIns="0" tIns="0" rIns="0" bIns="0" rtlCol="0" anchor="t">
            <a:normAutofit/>
          </a:bodyPr>
          <a:lstStyle/>
          <a:p>
            <a:pPr marL="0" indent="0" algn="l">
              <a:buNone/>
            </a:pPr>
            <a:r>
              <a:rPr lang="en-US" sz="1800" dirty="0">
                <a:solidFill>
                  <a:srgbClr val="BDC4C9"/>
                </a:solidFill>
                <a:latin typeface="Arial" pitchFamily="34" charset="0"/>
                <a:ea typeface="Arial" pitchFamily="34" charset="-122"/>
                <a:cs typeface="Arial" pitchFamily="34" charset="-120"/>
              </a:rPr>
              <a:t>The distributor retains its commercial route and its own selling decisions.</a:t>
            </a:r>
            <a:endParaRPr lang="en-US" sz="1800" dirty="0"/>
          </a:p>
        </p:txBody>
      </p:sp>
      <p:sp>
        <p:nvSpPr>
          <p:cNvPr id="11" name="Shape 9"/>
          <p:cNvSpPr/>
          <p:nvPr/>
        </p:nvSpPr>
        <p:spPr>
          <a:xfrm>
            <a:off x="1692178" y="3132896"/>
            <a:ext cx="2034372" cy="1966632"/>
          </a:xfrm>
          <a:prstGeom prst="roundRect">
            <a:avLst>
              <a:gd name="adj" fmla="val 1860"/>
            </a:avLst>
          </a:prstGeom>
          <a:solidFill>
            <a:srgbClr val="30363B"/>
          </a:solidFill>
          <a:ln w="8890">
            <a:solidFill>
              <a:srgbClr val="48525B"/>
            </a:solidFill>
            <a:prstDash val="solid"/>
          </a:ln>
        </p:spPr>
        <p:txBody>
          <a:bodyPr/>
          <a:lstStyle/>
          <a:p>
            <a:endParaRPr lang="nl-NL"/>
          </a:p>
        </p:txBody>
      </p:sp>
      <p:sp>
        <p:nvSpPr>
          <p:cNvPr id="12" name="Shape 10"/>
          <p:cNvSpPr/>
          <p:nvPr/>
        </p:nvSpPr>
        <p:spPr>
          <a:xfrm>
            <a:off x="1692178" y="3255264"/>
            <a:ext cx="34962" cy="1721896"/>
          </a:xfrm>
          <a:prstGeom prst="rect">
            <a:avLst/>
          </a:prstGeom>
          <a:solidFill>
            <a:srgbClr val="82909A"/>
          </a:solidFill>
          <a:ln w="12700">
            <a:solidFill>
              <a:srgbClr val="24282C">
                <a:alpha val="0"/>
              </a:srgbClr>
            </a:solidFill>
            <a:prstDash val="solid"/>
          </a:ln>
        </p:spPr>
        <p:txBody>
          <a:bodyPr/>
          <a:lstStyle/>
          <a:p>
            <a:endParaRPr lang="nl-NL"/>
          </a:p>
        </p:txBody>
      </p:sp>
      <p:sp>
        <p:nvSpPr>
          <p:cNvPr id="13" name="Text 11"/>
          <p:cNvSpPr/>
          <p:nvPr/>
        </p:nvSpPr>
        <p:spPr>
          <a:xfrm>
            <a:off x="1840768" y="3272745"/>
            <a:ext cx="1737192" cy="559398"/>
          </a:xfrm>
          <a:prstGeom prst="rect">
            <a:avLst/>
          </a:prstGeom>
          <a:noFill/>
          <a:ln/>
        </p:spPr>
        <p:txBody>
          <a:bodyPr wrap="square" lIns="0" tIns="0" rIns="0" bIns="0" rtlCol="0" anchor="t">
            <a:normAutofit/>
          </a:bodyPr>
          <a:lstStyle/>
          <a:p>
            <a:pPr marL="0" indent="0" algn="l">
              <a:buNone/>
            </a:pPr>
            <a:r>
              <a:rPr lang="en-US" sz="1721" b="1" dirty="0">
                <a:solidFill>
                  <a:srgbClr val="F5F6F7"/>
                </a:solidFill>
                <a:latin typeface="Arial" pitchFamily="34" charset="0"/>
                <a:ea typeface="Arial" pitchFamily="34" charset="-122"/>
                <a:cs typeface="Arial" pitchFamily="34" charset="-120"/>
              </a:rPr>
              <a:t>Scope</a:t>
            </a:r>
            <a:endParaRPr lang="en-US" sz="1721" dirty="0"/>
          </a:p>
        </p:txBody>
      </p:sp>
      <p:sp>
        <p:nvSpPr>
          <p:cNvPr id="14" name="Text 12"/>
          <p:cNvSpPr/>
          <p:nvPr/>
        </p:nvSpPr>
        <p:spPr>
          <a:xfrm>
            <a:off x="1840768" y="3893327"/>
            <a:ext cx="1737192" cy="1101314"/>
          </a:xfrm>
          <a:prstGeom prst="rect">
            <a:avLst/>
          </a:prstGeom>
          <a:noFill/>
          <a:ln/>
        </p:spPr>
        <p:txBody>
          <a:bodyPr wrap="square" lIns="0" tIns="0" rIns="0" bIns="0" rtlCol="0" anchor="t">
            <a:normAutofit/>
          </a:bodyPr>
          <a:lstStyle/>
          <a:p>
            <a:pPr marL="0" indent="0" algn="l">
              <a:buNone/>
            </a:pPr>
            <a:r>
              <a:rPr lang="en-US" sz="1376" dirty="0">
                <a:solidFill>
                  <a:srgbClr val="BDC4C9"/>
                </a:solidFill>
                <a:latin typeface="Arial" pitchFamily="34" charset="0"/>
                <a:ea typeface="Arial" pitchFamily="34" charset="-122"/>
                <a:cs typeface="Arial" pitchFamily="34" charset="-120"/>
              </a:rPr>
              <a:t>Products and audience</a:t>
            </a:r>
            <a:endParaRPr lang="en-US" sz="1376" dirty="0"/>
          </a:p>
        </p:txBody>
      </p:sp>
      <p:sp>
        <p:nvSpPr>
          <p:cNvPr id="15" name="Text 13"/>
          <p:cNvSpPr/>
          <p:nvPr/>
        </p:nvSpPr>
        <p:spPr>
          <a:xfrm>
            <a:off x="1840768" y="2835716"/>
            <a:ext cx="1737192" cy="524435"/>
          </a:xfrm>
          <a:prstGeom prst="rect">
            <a:avLst/>
          </a:prstGeom>
          <a:noFill/>
          <a:ln/>
        </p:spPr>
        <p:txBody>
          <a:bodyPr wrap="square" lIns="0" tIns="0" rIns="0" bIns="0" rtlCol="0" anchor="t">
            <a:normAutofit/>
          </a:bodyPr>
          <a:lstStyle/>
          <a:p>
            <a:pPr marL="0" indent="0" algn="l">
              <a:buNone/>
            </a:pPr>
            <a:r>
              <a:rPr lang="en-US" sz="1239" b="1" dirty="0">
                <a:solidFill>
                  <a:srgbClr val="D71920"/>
                </a:solidFill>
                <a:latin typeface="Arial" pitchFamily="34" charset="0"/>
                <a:ea typeface="Arial" pitchFamily="34" charset="-122"/>
                <a:cs typeface="Arial" pitchFamily="34" charset="-120"/>
              </a:rPr>
              <a:t>01</a:t>
            </a:r>
            <a:endParaRPr lang="en-US" sz="1239" dirty="0"/>
          </a:p>
        </p:txBody>
      </p:sp>
      <p:sp>
        <p:nvSpPr>
          <p:cNvPr id="16" name="Shape 14"/>
          <p:cNvSpPr/>
          <p:nvPr/>
        </p:nvSpPr>
        <p:spPr>
          <a:xfrm>
            <a:off x="3752772" y="4103101"/>
            <a:ext cx="148590" cy="914"/>
          </a:xfrm>
          <a:prstGeom prst="line">
            <a:avLst/>
          </a:prstGeom>
          <a:noFill/>
          <a:ln w="17481">
            <a:solidFill>
              <a:srgbClr val="D71920"/>
            </a:solidFill>
            <a:prstDash val="solid"/>
            <a:tailEnd type="triangle"/>
          </a:ln>
        </p:spPr>
        <p:txBody>
          <a:bodyPr/>
          <a:lstStyle/>
          <a:p>
            <a:endParaRPr lang="nl-NL"/>
          </a:p>
        </p:txBody>
      </p:sp>
      <p:sp>
        <p:nvSpPr>
          <p:cNvPr id="17" name="Shape 15"/>
          <p:cNvSpPr/>
          <p:nvPr/>
        </p:nvSpPr>
        <p:spPr>
          <a:xfrm>
            <a:off x="3927583" y="3132896"/>
            <a:ext cx="2034372" cy="1966632"/>
          </a:xfrm>
          <a:prstGeom prst="roundRect">
            <a:avLst>
              <a:gd name="adj" fmla="val 1860"/>
            </a:avLst>
          </a:prstGeom>
          <a:solidFill>
            <a:srgbClr val="30363B"/>
          </a:solidFill>
          <a:ln w="8890">
            <a:solidFill>
              <a:srgbClr val="48525B"/>
            </a:solidFill>
            <a:prstDash val="solid"/>
          </a:ln>
        </p:spPr>
        <p:txBody>
          <a:bodyPr/>
          <a:lstStyle/>
          <a:p>
            <a:endParaRPr lang="nl-NL"/>
          </a:p>
        </p:txBody>
      </p:sp>
      <p:sp>
        <p:nvSpPr>
          <p:cNvPr id="18" name="Shape 16"/>
          <p:cNvSpPr/>
          <p:nvPr/>
        </p:nvSpPr>
        <p:spPr>
          <a:xfrm>
            <a:off x="3927583" y="3255264"/>
            <a:ext cx="34962" cy="1721896"/>
          </a:xfrm>
          <a:prstGeom prst="rect">
            <a:avLst/>
          </a:prstGeom>
          <a:solidFill>
            <a:srgbClr val="82909A"/>
          </a:solidFill>
          <a:ln w="12700">
            <a:solidFill>
              <a:srgbClr val="24282C">
                <a:alpha val="0"/>
              </a:srgbClr>
            </a:solidFill>
            <a:prstDash val="solid"/>
          </a:ln>
        </p:spPr>
        <p:txBody>
          <a:bodyPr/>
          <a:lstStyle/>
          <a:p>
            <a:endParaRPr lang="nl-NL"/>
          </a:p>
        </p:txBody>
      </p:sp>
      <p:sp>
        <p:nvSpPr>
          <p:cNvPr id="19" name="Text 17"/>
          <p:cNvSpPr/>
          <p:nvPr/>
        </p:nvSpPr>
        <p:spPr>
          <a:xfrm>
            <a:off x="4076173" y="3272745"/>
            <a:ext cx="1737192" cy="559398"/>
          </a:xfrm>
          <a:prstGeom prst="rect">
            <a:avLst/>
          </a:prstGeom>
          <a:noFill/>
          <a:ln/>
        </p:spPr>
        <p:txBody>
          <a:bodyPr wrap="square" lIns="0" tIns="0" rIns="0" bIns="0" rtlCol="0" anchor="t">
            <a:normAutofit/>
          </a:bodyPr>
          <a:lstStyle/>
          <a:p>
            <a:pPr marL="0" indent="0" algn="l">
              <a:buNone/>
            </a:pPr>
            <a:r>
              <a:rPr lang="en-US" sz="1721" b="1" dirty="0">
                <a:solidFill>
                  <a:srgbClr val="F5F6F7"/>
                </a:solidFill>
                <a:latin typeface="Arial" pitchFamily="34" charset="0"/>
                <a:ea typeface="Arial" pitchFamily="34" charset="-122"/>
                <a:cs typeface="Arial" pitchFamily="34" charset="-120"/>
              </a:rPr>
              <a:t>Terms</a:t>
            </a:r>
            <a:endParaRPr lang="en-US" sz="1721" dirty="0"/>
          </a:p>
        </p:txBody>
      </p:sp>
      <p:sp>
        <p:nvSpPr>
          <p:cNvPr id="20" name="Text 18"/>
          <p:cNvSpPr/>
          <p:nvPr/>
        </p:nvSpPr>
        <p:spPr>
          <a:xfrm>
            <a:off x="4076173" y="3893327"/>
            <a:ext cx="1737192" cy="1101314"/>
          </a:xfrm>
          <a:prstGeom prst="rect">
            <a:avLst/>
          </a:prstGeom>
          <a:noFill/>
          <a:ln/>
        </p:spPr>
        <p:txBody>
          <a:bodyPr wrap="square" lIns="0" tIns="0" rIns="0" bIns="0" rtlCol="0" anchor="t">
            <a:normAutofit/>
          </a:bodyPr>
          <a:lstStyle/>
          <a:p>
            <a:pPr marL="0" indent="0" algn="l">
              <a:buNone/>
            </a:pPr>
            <a:r>
              <a:rPr lang="en-US" sz="1376" dirty="0">
                <a:solidFill>
                  <a:srgbClr val="BDC4C9"/>
                </a:solidFill>
                <a:latin typeface="Arial" pitchFamily="34" charset="0"/>
                <a:ea typeface="Arial" pitchFamily="34" charset="-122"/>
                <a:cs typeface="Arial" pitchFamily="34" charset="-120"/>
              </a:rPr>
              <a:t>Dates, quantities and net basis</a:t>
            </a:r>
            <a:endParaRPr lang="en-US" sz="1376" dirty="0"/>
          </a:p>
        </p:txBody>
      </p:sp>
      <p:sp>
        <p:nvSpPr>
          <p:cNvPr id="21" name="Text 19"/>
          <p:cNvSpPr/>
          <p:nvPr/>
        </p:nvSpPr>
        <p:spPr>
          <a:xfrm>
            <a:off x="4076173" y="2835716"/>
            <a:ext cx="1737192" cy="524435"/>
          </a:xfrm>
          <a:prstGeom prst="rect">
            <a:avLst/>
          </a:prstGeom>
          <a:noFill/>
          <a:ln/>
        </p:spPr>
        <p:txBody>
          <a:bodyPr wrap="square" lIns="0" tIns="0" rIns="0" bIns="0" rtlCol="0" anchor="t">
            <a:normAutofit/>
          </a:bodyPr>
          <a:lstStyle/>
          <a:p>
            <a:pPr marL="0" indent="0" algn="l">
              <a:buNone/>
            </a:pPr>
            <a:r>
              <a:rPr lang="en-US" sz="1239" b="1" dirty="0">
                <a:solidFill>
                  <a:srgbClr val="D71920"/>
                </a:solidFill>
                <a:latin typeface="Arial" pitchFamily="34" charset="0"/>
                <a:ea typeface="Arial" pitchFamily="34" charset="-122"/>
                <a:cs typeface="Arial" pitchFamily="34" charset="-120"/>
              </a:rPr>
              <a:t>02</a:t>
            </a:r>
            <a:endParaRPr lang="en-US" sz="1239" dirty="0"/>
          </a:p>
        </p:txBody>
      </p:sp>
      <p:sp>
        <p:nvSpPr>
          <p:cNvPr id="22" name="Shape 20"/>
          <p:cNvSpPr/>
          <p:nvPr/>
        </p:nvSpPr>
        <p:spPr>
          <a:xfrm>
            <a:off x="5988177" y="4103101"/>
            <a:ext cx="148590" cy="914"/>
          </a:xfrm>
          <a:prstGeom prst="line">
            <a:avLst/>
          </a:prstGeom>
          <a:noFill/>
          <a:ln w="17481">
            <a:solidFill>
              <a:srgbClr val="D71920"/>
            </a:solidFill>
            <a:prstDash val="solid"/>
            <a:tailEnd type="triangle"/>
          </a:ln>
        </p:spPr>
        <p:txBody>
          <a:bodyPr/>
          <a:lstStyle/>
          <a:p>
            <a:endParaRPr lang="nl-NL"/>
          </a:p>
        </p:txBody>
      </p:sp>
      <p:sp>
        <p:nvSpPr>
          <p:cNvPr id="23" name="Shape 21"/>
          <p:cNvSpPr/>
          <p:nvPr/>
        </p:nvSpPr>
        <p:spPr>
          <a:xfrm>
            <a:off x="6162989" y="3132896"/>
            <a:ext cx="2034372" cy="1966632"/>
          </a:xfrm>
          <a:prstGeom prst="roundRect">
            <a:avLst>
              <a:gd name="adj" fmla="val 1860"/>
            </a:avLst>
          </a:prstGeom>
          <a:solidFill>
            <a:srgbClr val="30363B"/>
          </a:solidFill>
          <a:ln w="8890">
            <a:solidFill>
              <a:srgbClr val="48525B"/>
            </a:solidFill>
            <a:prstDash val="solid"/>
          </a:ln>
        </p:spPr>
        <p:txBody>
          <a:bodyPr/>
          <a:lstStyle/>
          <a:p>
            <a:endParaRPr lang="nl-NL"/>
          </a:p>
        </p:txBody>
      </p:sp>
      <p:sp>
        <p:nvSpPr>
          <p:cNvPr id="24" name="Shape 22"/>
          <p:cNvSpPr/>
          <p:nvPr/>
        </p:nvSpPr>
        <p:spPr>
          <a:xfrm>
            <a:off x="6162989" y="3255264"/>
            <a:ext cx="34962" cy="1721896"/>
          </a:xfrm>
          <a:prstGeom prst="rect">
            <a:avLst/>
          </a:prstGeom>
          <a:solidFill>
            <a:srgbClr val="82909A"/>
          </a:solidFill>
          <a:ln w="12700">
            <a:solidFill>
              <a:srgbClr val="24282C">
                <a:alpha val="0"/>
              </a:srgbClr>
            </a:solidFill>
            <a:prstDash val="solid"/>
          </a:ln>
        </p:spPr>
        <p:txBody>
          <a:bodyPr/>
          <a:lstStyle/>
          <a:p>
            <a:endParaRPr lang="nl-NL"/>
          </a:p>
        </p:txBody>
      </p:sp>
      <p:sp>
        <p:nvSpPr>
          <p:cNvPr id="25" name="Text 23"/>
          <p:cNvSpPr/>
          <p:nvPr/>
        </p:nvSpPr>
        <p:spPr>
          <a:xfrm>
            <a:off x="6311579" y="3272745"/>
            <a:ext cx="1737192" cy="559398"/>
          </a:xfrm>
          <a:prstGeom prst="rect">
            <a:avLst/>
          </a:prstGeom>
          <a:noFill/>
          <a:ln/>
        </p:spPr>
        <p:txBody>
          <a:bodyPr wrap="square" lIns="0" tIns="0" rIns="0" bIns="0" rtlCol="0" anchor="t">
            <a:normAutofit/>
          </a:bodyPr>
          <a:lstStyle/>
          <a:p>
            <a:pPr marL="0" indent="0" algn="l">
              <a:buNone/>
            </a:pPr>
            <a:r>
              <a:rPr lang="en-US" sz="1721" b="1" dirty="0">
                <a:solidFill>
                  <a:srgbClr val="F5F6F7"/>
                </a:solidFill>
                <a:latin typeface="Arial" pitchFamily="34" charset="0"/>
                <a:ea typeface="Arial" pitchFamily="34" charset="-122"/>
                <a:cs typeface="Arial" pitchFamily="34" charset="-120"/>
              </a:rPr>
              <a:t>Assistance</a:t>
            </a:r>
            <a:endParaRPr lang="en-US" sz="1721" dirty="0"/>
          </a:p>
        </p:txBody>
      </p:sp>
      <p:sp>
        <p:nvSpPr>
          <p:cNvPr id="26" name="Text 24"/>
          <p:cNvSpPr/>
          <p:nvPr/>
        </p:nvSpPr>
        <p:spPr>
          <a:xfrm>
            <a:off x="6311579" y="3893327"/>
            <a:ext cx="1737192" cy="1101314"/>
          </a:xfrm>
          <a:prstGeom prst="rect">
            <a:avLst/>
          </a:prstGeom>
          <a:noFill/>
          <a:ln/>
        </p:spPr>
        <p:txBody>
          <a:bodyPr wrap="square" lIns="0" tIns="0" rIns="0" bIns="0" rtlCol="0" anchor="t">
            <a:normAutofit/>
          </a:bodyPr>
          <a:lstStyle/>
          <a:p>
            <a:pPr marL="0" indent="0" algn="l">
              <a:buNone/>
            </a:pPr>
            <a:r>
              <a:rPr lang="en-US" sz="1376" dirty="0">
                <a:solidFill>
                  <a:srgbClr val="BDC4C9"/>
                </a:solidFill>
                <a:latin typeface="Arial" pitchFamily="34" charset="0"/>
                <a:ea typeface="Arial" pitchFamily="34" charset="-122"/>
                <a:cs typeface="Arial" pitchFamily="34" charset="-120"/>
              </a:rPr>
              <a:t>What is actually approved</a:t>
            </a:r>
            <a:endParaRPr lang="en-US" sz="1376" dirty="0"/>
          </a:p>
        </p:txBody>
      </p:sp>
      <p:sp>
        <p:nvSpPr>
          <p:cNvPr id="27" name="Text 25"/>
          <p:cNvSpPr/>
          <p:nvPr/>
        </p:nvSpPr>
        <p:spPr>
          <a:xfrm>
            <a:off x="6311579" y="2835716"/>
            <a:ext cx="1737192" cy="524435"/>
          </a:xfrm>
          <a:prstGeom prst="rect">
            <a:avLst/>
          </a:prstGeom>
          <a:noFill/>
          <a:ln/>
        </p:spPr>
        <p:txBody>
          <a:bodyPr wrap="square" lIns="0" tIns="0" rIns="0" bIns="0" rtlCol="0" anchor="t">
            <a:normAutofit/>
          </a:bodyPr>
          <a:lstStyle/>
          <a:p>
            <a:pPr marL="0" indent="0" algn="l">
              <a:buNone/>
            </a:pPr>
            <a:r>
              <a:rPr lang="en-US" sz="1239" b="1" dirty="0">
                <a:solidFill>
                  <a:srgbClr val="D71920"/>
                </a:solidFill>
                <a:latin typeface="Arial" pitchFamily="34" charset="0"/>
                <a:ea typeface="Arial" pitchFamily="34" charset="-122"/>
                <a:cs typeface="Arial" pitchFamily="34" charset="-120"/>
              </a:rPr>
              <a:t>03</a:t>
            </a:r>
            <a:endParaRPr lang="en-US" sz="1239" dirty="0"/>
          </a:p>
        </p:txBody>
      </p:sp>
      <p:sp>
        <p:nvSpPr>
          <p:cNvPr id="28" name="Shape 26"/>
          <p:cNvSpPr/>
          <p:nvPr/>
        </p:nvSpPr>
        <p:spPr>
          <a:xfrm>
            <a:off x="8223582" y="4103101"/>
            <a:ext cx="148590" cy="914"/>
          </a:xfrm>
          <a:prstGeom prst="line">
            <a:avLst/>
          </a:prstGeom>
          <a:noFill/>
          <a:ln w="17481">
            <a:solidFill>
              <a:srgbClr val="D71920"/>
            </a:solidFill>
            <a:prstDash val="solid"/>
            <a:tailEnd type="triangle"/>
          </a:ln>
        </p:spPr>
        <p:txBody>
          <a:bodyPr/>
          <a:lstStyle/>
          <a:p>
            <a:endParaRPr lang="nl-NL"/>
          </a:p>
        </p:txBody>
      </p:sp>
      <p:sp>
        <p:nvSpPr>
          <p:cNvPr id="29" name="Shape 27"/>
          <p:cNvSpPr/>
          <p:nvPr/>
        </p:nvSpPr>
        <p:spPr>
          <a:xfrm>
            <a:off x="8398394" y="3132896"/>
            <a:ext cx="2034372" cy="1966632"/>
          </a:xfrm>
          <a:prstGeom prst="roundRect">
            <a:avLst>
              <a:gd name="adj" fmla="val 1860"/>
            </a:avLst>
          </a:prstGeom>
          <a:solidFill>
            <a:srgbClr val="383F44"/>
          </a:solidFill>
          <a:ln w="8890">
            <a:solidFill>
              <a:srgbClr val="D71920"/>
            </a:solidFill>
            <a:prstDash val="solid"/>
          </a:ln>
        </p:spPr>
        <p:txBody>
          <a:bodyPr/>
          <a:lstStyle/>
          <a:p>
            <a:endParaRPr lang="nl-NL"/>
          </a:p>
        </p:txBody>
      </p:sp>
      <p:sp>
        <p:nvSpPr>
          <p:cNvPr id="30" name="Shape 28"/>
          <p:cNvSpPr/>
          <p:nvPr/>
        </p:nvSpPr>
        <p:spPr>
          <a:xfrm>
            <a:off x="8398394" y="3255264"/>
            <a:ext cx="34962" cy="1721896"/>
          </a:xfrm>
          <a:prstGeom prst="rect">
            <a:avLst/>
          </a:prstGeom>
          <a:solidFill>
            <a:srgbClr val="D71920"/>
          </a:solidFill>
          <a:ln w="12700">
            <a:solidFill>
              <a:srgbClr val="24282C">
                <a:alpha val="0"/>
              </a:srgbClr>
            </a:solidFill>
            <a:prstDash val="solid"/>
          </a:ln>
        </p:spPr>
        <p:txBody>
          <a:bodyPr/>
          <a:lstStyle/>
          <a:p>
            <a:endParaRPr lang="nl-NL"/>
          </a:p>
        </p:txBody>
      </p:sp>
      <p:sp>
        <p:nvSpPr>
          <p:cNvPr id="31" name="Text 29"/>
          <p:cNvSpPr/>
          <p:nvPr/>
        </p:nvSpPr>
        <p:spPr>
          <a:xfrm>
            <a:off x="8546984" y="3272745"/>
            <a:ext cx="1737192" cy="559398"/>
          </a:xfrm>
          <a:prstGeom prst="rect">
            <a:avLst/>
          </a:prstGeom>
          <a:noFill/>
          <a:ln/>
        </p:spPr>
        <p:txBody>
          <a:bodyPr wrap="square" lIns="0" tIns="0" rIns="0" bIns="0" rtlCol="0" anchor="t">
            <a:normAutofit/>
          </a:bodyPr>
          <a:lstStyle/>
          <a:p>
            <a:pPr marL="0" indent="0" algn="l">
              <a:buNone/>
            </a:pPr>
            <a:r>
              <a:rPr lang="en-US" sz="1721" b="1" dirty="0">
                <a:solidFill>
                  <a:srgbClr val="F5F6F7"/>
                </a:solidFill>
                <a:latin typeface="Arial" pitchFamily="34" charset="0"/>
                <a:ea typeface="Arial" pitchFamily="34" charset="-122"/>
                <a:cs typeface="Arial" pitchFamily="34" charset="-120"/>
              </a:rPr>
              <a:t>Evaluation</a:t>
            </a:r>
            <a:endParaRPr lang="en-US" sz="1721" dirty="0"/>
          </a:p>
        </p:txBody>
      </p:sp>
      <p:sp>
        <p:nvSpPr>
          <p:cNvPr id="32" name="Text 30"/>
          <p:cNvSpPr/>
          <p:nvPr/>
        </p:nvSpPr>
        <p:spPr>
          <a:xfrm>
            <a:off x="8546984" y="3893327"/>
            <a:ext cx="1737192" cy="1101314"/>
          </a:xfrm>
          <a:prstGeom prst="rect">
            <a:avLst/>
          </a:prstGeom>
          <a:noFill/>
          <a:ln/>
        </p:spPr>
        <p:txBody>
          <a:bodyPr wrap="square" lIns="0" tIns="0" rIns="0" bIns="0" rtlCol="0" anchor="t">
            <a:normAutofit/>
          </a:bodyPr>
          <a:lstStyle/>
          <a:p>
            <a:pPr marL="0" indent="0" algn="l">
              <a:buNone/>
            </a:pPr>
            <a:r>
              <a:rPr lang="en-US" sz="1376" dirty="0">
                <a:solidFill>
                  <a:srgbClr val="BDC4C9"/>
                </a:solidFill>
                <a:latin typeface="Arial" pitchFamily="34" charset="0"/>
                <a:ea typeface="Arial" pitchFamily="34" charset="-122"/>
                <a:cs typeface="Arial" pitchFamily="34" charset="-120"/>
              </a:rPr>
              <a:t>The result worth observing</a:t>
            </a:r>
            <a:endParaRPr lang="en-US" sz="1376" dirty="0"/>
          </a:p>
        </p:txBody>
      </p:sp>
      <p:sp>
        <p:nvSpPr>
          <p:cNvPr id="33" name="Text 31"/>
          <p:cNvSpPr/>
          <p:nvPr/>
        </p:nvSpPr>
        <p:spPr>
          <a:xfrm>
            <a:off x="8546984" y="2835716"/>
            <a:ext cx="1737192" cy="524435"/>
          </a:xfrm>
          <a:prstGeom prst="rect">
            <a:avLst/>
          </a:prstGeom>
          <a:noFill/>
          <a:ln/>
        </p:spPr>
        <p:txBody>
          <a:bodyPr wrap="square" lIns="0" tIns="0" rIns="0" bIns="0" rtlCol="0" anchor="t">
            <a:normAutofit/>
          </a:bodyPr>
          <a:lstStyle/>
          <a:p>
            <a:pPr marL="0" indent="0" algn="l">
              <a:buNone/>
            </a:pPr>
            <a:r>
              <a:rPr lang="en-US" sz="1239" b="1" dirty="0">
                <a:solidFill>
                  <a:srgbClr val="D71920"/>
                </a:solidFill>
                <a:latin typeface="Arial" pitchFamily="34" charset="0"/>
                <a:ea typeface="Arial" pitchFamily="34" charset="-122"/>
                <a:cs typeface="Arial" pitchFamily="34" charset="-120"/>
              </a:rPr>
              <a:t>04</a:t>
            </a:r>
            <a:endParaRPr lang="en-US" sz="1239" dirty="0"/>
          </a:p>
        </p:txBody>
      </p:sp>
      <p:sp>
        <p:nvSpPr>
          <p:cNvPr id="34" name="Text 32"/>
          <p:cNvSpPr/>
          <p:nvPr/>
        </p:nvSpPr>
        <p:spPr>
          <a:xfrm>
            <a:off x="548640" y="5678424"/>
            <a:ext cx="10954512" cy="219456"/>
          </a:xfrm>
          <a:prstGeom prst="rect">
            <a:avLst/>
          </a:prstGeom>
          <a:noFill/>
          <a:ln/>
        </p:spPr>
        <p:txBody>
          <a:bodyPr wrap="square" lIns="0" tIns="0" rIns="0" bIns="0" rtlCol="0" anchor="t">
            <a:normAutofit/>
          </a:bodyPr>
          <a:lstStyle/>
          <a:p>
            <a:pPr marL="0" indent="0" algn="l">
              <a:buNone/>
            </a:pPr>
            <a:r>
              <a:rPr lang="en-US" sz="840" dirty="0">
                <a:solidFill>
                  <a:srgbClr val="BDC4C9"/>
                </a:solidFill>
                <a:latin typeface="Arial" pitchFamily="34" charset="0"/>
                <a:ea typeface="Arial" pitchFamily="34" charset="-122"/>
                <a:cs typeface="Arial" pitchFamily="34" charset="-120"/>
              </a:rPr>
              <a:t>Proposed sequence / each stage retains its own evidence and decision.</a:t>
            </a:r>
            <a:endParaRPr lang="en-US" sz="840" dirty="0"/>
          </a:p>
        </p:txBody>
      </p:sp>
      <p:sp>
        <p:nvSpPr>
          <p:cNvPr id="35" name="Text 33"/>
          <p:cNvSpPr/>
          <p:nvPr/>
        </p:nvSpPr>
        <p:spPr>
          <a:xfrm>
            <a:off x="603504" y="5925312"/>
            <a:ext cx="10917936" cy="347472"/>
          </a:xfrm>
          <a:prstGeom prst="rect">
            <a:avLst/>
          </a:prstGeom>
          <a:noFill/>
          <a:ln/>
        </p:spPr>
        <p:txBody>
          <a:bodyPr wrap="square" lIns="0" tIns="0" rIns="0" bIns="0" rtlCol="0" anchor="t">
            <a:normAutofit/>
          </a:bodyPr>
          <a:lstStyle/>
          <a:p>
            <a:pPr marL="0" indent="0" algn="l">
              <a:buNone/>
            </a:pPr>
            <a:r>
              <a:rPr lang="en-US" sz="1320" dirty="0">
                <a:solidFill>
                  <a:srgbClr val="F5F6F7"/>
                </a:solidFill>
                <a:latin typeface="Arial" pitchFamily="34" charset="0"/>
                <a:ea typeface="Arial" pitchFamily="34" charset="-122"/>
                <a:cs typeface="Arial" pitchFamily="34" charset="-120"/>
              </a:rPr>
              <a:t>The participant should leave with a usable campaign brief: what to offer, why it was selected, what support is confirmed, how it will be presented and what will be evaluated afterwards.</a:t>
            </a:r>
            <a:endParaRPr lang="en-US" sz="132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24282C"/>
        </a:solidFill>
        <a:effectLst/>
      </p:bgPr>
    </p:bg>
    <p:spTree>
      <p:nvGrpSpPr>
        <p:cNvPr id="1" name=""/>
        <p:cNvGrpSpPr/>
        <p:nvPr/>
      </p:nvGrpSpPr>
      <p:grpSpPr>
        <a:xfrm>
          <a:off x="0" y="0"/>
          <a:ext cx="0" cy="0"/>
          <a:chOff x="0" y="0"/>
          <a:chExt cx="0" cy="0"/>
        </a:xfrm>
      </p:grpSpPr>
      <p:sp>
        <p:nvSpPr>
          <p:cNvPr id="2" name="Text 0"/>
          <p:cNvSpPr/>
          <p:nvPr/>
        </p:nvSpPr>
        <p:spPr>
          <a:xfrm>
            <a:off x="484632" y="173736"/>
            <a:ext cx="2743200" cy="201168"/>
          </a:xfrm>
          <a:prstGeom prst="rect">
            <a:avLst/>
          </a:prstGeom>
          <a:noFill/>
          <a:ln/>
        </p:spPr>
        <p:txBody>
          <a:bodyPr wrap="square" lIns="0" tIns="0" rIns="0" bIns="0" rtlCol="0" anchor="t">
            <a:normAutofit/>
          </a:bodyPr>
          <a:lstStyle/>
          <a:p>
            <a:pPr marL="0" indent="0" algn="l">
              <a:buNone/>
            </a:pPr>
            <a:r>
              <a:rPr lang="en-US" sz="1000" b="1" dirty="0">
                <a:solidFill>
                  <a:srgbClr val="F5F6F7"/>
                </a:solidFill>
                <a:latin typeface="Arial" pitchFamily="34" charset="0"/>
                <a:ea typeface="Arial" pitchFamily="34" charset="-122"/>
                <a:cs typeface="Arial" pitchFamily="34" charset="-120"/>
              </a:rPr>
              <a:t>ISUZU / UNIVERSE</a:t>
            </a:r>
            <a:endParaRPr lang="en-US" sz="1000" dirty="0"/>
          </a:p>
        </p:txBody>
      </p:sp>
      <p:sp>
        <p:nvSpPr>
          <p:cNvPr id="3" name="Text 1"/>
          <p:cNvSpPr/>
          <p:nvPr/>
        </p:nvSpPr>
        <p:spPr>
          <a:xfrm>
            <a:off x="8046720" y="173736"/>
            <a:ext cx="3657600" cy="201168"/>
          </a:xfrm>
          <a:prstGeom prst="rect">
            <a:avLst/>
          </a:prstGeom>
          <a:noFill/>
          <a:ln/>
        </p:spPr>
        <p:txBody>
          <a:bodyPr wrap="square" lIns="0" tIns="0" rIns="0" bIns="0" rtlCol="0" anchor="t">
            <a:normAutofit/>
          </a:bodyPr>
          <a:lstStyle/>
          <a:p>
            <a:pPr marL="0" indent="0" algn="r">
              <a:buNone/>
            </a:pPr>
            <a:r>
              <a:rPr lang="en-US" sz="900" dirty="0">
                <a:solidFill>
                  <a:srgbClr val="BDC4C9"/>
                </a:solidFill>
                <a:latin typeface="Arial" pitchFamily="34" charset="0"/>
                <a:ea typeface="Arial" pitchFamily="34" charset="-122"/>
                <a:cs typeface="Arial" pitchFamily="34" charset="-120"/>
              </a:rPr>
              <a:t>COMMERCIAL VISION  /  3.0</a:t>
            </a:r>
            <a:endParaRPr lang="en-US" sz="900" dirty="0"/>
          </a:p>
        </p:txBody>
      </p:sp>
      <p:sp>
        <p:nvSpPr>
          <p:cNvPr id="4" name="Shape 2"/>
          <p:cNvSpPr/>
          <p:nvPr/>
        </p:nvSpPr>
        <p:spPr>
          <a:xfrm>
            <a:off x="484632" y="512064"/>
            <a:ext cx="475488" cy="22860"/>
          </a:xfrm>
          <a:prstGeom prst="rect">
            <a:avLst/>
          </a:prstGeom>
          <a:solidFill>
            <a:srgbClr val="D71920"/>
          </a:solidFill>
          <a:ln w="12700">
            <a:solidFill>
              <a:srgbClr val="D71920">
                <a:alpha val="0"/>
              </a:srgbClr>
            </a:solidFill>
            <a:prstDash val="solid"/>
          </a:ln>
        </p:spPr>
        <p:txBody>
          <a:bodyPr/>
          <a:lstStyle/>
          <a:p>
            <a:endParaRPr lang="nl-NL"/>
          </a:p>
        </p:txBody>
      </p:sp>
      <p:sp>
        <p:nvSpPr>
          <p:cNvPr id="5" name="Text 3"/>
          <p:cNvSpPr/>
          <p:nvPr/>
        </p:nvSpPr>
        <p:spPr>
          <a:xfrm>
            <a:off x="484632" y="658368"/>
            <a:ext cx="11064240" cy="219456"/>
          </a:xfrm>
          <a:prstGeom prst="rect">
            <a:avLst/>
          </a:prstGeom>
          <a:noFill/>
          <a:ln/>
        </p:spPr>
        <p:txBody>
          <a:bodyPr wrap="square" lIns="0" tIns="0" rIns="0" bIns="0" rtlCol="0" anchor="t">
            <a:normAutofit/>
          </a:bodyPr>
          <a:lstStyle/>
          <a:p>
            <a:pPr marL="0" indent="0" algn="l">
              <a:buNone/>
            </a:pPr>
            <a:r>
              <a:rPr lang="en-US" sz="1000" b="1" dirty="0">
                <a:solidFill>
                  <a:srgbClr val="D71920"/>
                </a:solidFill>
                <a:latin typeface="Arial" pitchFamily="34" charset="0"/>
                <a:ea typeface="Arial" pitchFamily="34" charset="-122"/>
                <a:cs typeface="Arial" pitchFamily="34" charset="-120"/>
              </a:rPr>
              <a:t>DEAL OF THE DAY / ECONOMICS</a:t>
            </a:r>
            <a:endParaRPr lang="en-US" sz="1000" dirty="0"/>
          </a:p>
        </p:txBody>
      </p:sp>
      <p:sp>
        <p:nvSpPr>
          <p:cNvPr id="6" name="Shape 4"/>
          <p:cNvSpPr/>
          <p:nvPr/>
        </p:nvSpPr>
        <p:spPr>
          <a:xfrm>
            <a:off x="484632" y="6446520"/>
            <a:ext cx="11219688" cy="914"/>
          </a:xfrm>
          <a:prstGeom prst="line">
            <a:avLst/>
          </a:prstGeom>
          <a:noFill/>
          <a:ln w="6350">
            <a:solidFill>
              <a:srgbClr val="647078"/>
            </a:solidFill>
            <a:prstDash val="solid"/>
          </a:ln>
        </p:spPr>
        <p:txBody>
          <a:bodyPr/>
          <a:lstStyle/>
          <a:p>
            <a:endParaRPr lang="nl-NL"/>
          </a:p>
        </p:txBody>
      </p:sp>
      <p:sp>
        <p:nvSpPr>
          <p:cNvPr id="7" name="Text 5"/>
          <p:cNvSpPr/>
          <p:nvPr/>
        </p:nvSpPr>
        <p:spPr>
          <a:xfrm>
            <a:off x="484632" y="6556248"/>
            <a:ext cx="9144000" cy="146304"/>
          </a:xfrm>
          <a:prstGeom prst="rect">
            <a:avLst/>
          </a:prstGeom>
          <a:noFill/>
          <a:ln/>
        </p:spPr>
        <p:txBody>
          <a:bodyPr wrap="square" lIns="0" tIns="0" rIns="0" bIns="0" rtlCol="0" anchor="t">
            <a:normAutofit/>
          </a:bodyPr>
          <a:lstStyle/>
          <a:p>
            <a:pPr marL="0" indent="0" algn="l">
              <a:buNone/>
            </a:pPr>
            <a:r>
              <a:rPr lang="en-US" sz="750" dirty="0">
                <a:solidFill>
                  <a:srgbClr val="BDC4C9"/>
                </a:solidFill>
                <a:latin typeface="Arial" pitchFamily="34" charset="0"/>
                <a:ea typeface="Arial" pitchFamily="34" charset="-122"/>
                <a:cs typeface="Arial" pitchFamily="34" charset="-120"/>
              </a:rPr>
              <a:t>22 SEPTEMBER 2026  /  CONCEPT AND APPLICATION EXAMPLES</a:t>
            </a:r>
            <a:endParaRPr lang="en-US" sz="750" dirty="0"/>
          </a:p>
        </p:txBody>
      </p:sp>
      <p:sp>
        <p:nvSpPr>
          <p:cNvPr id="8" name="Text 6"/>
          <p:cNvSpPr/>
          <p:nvPr/>
        </p:nvSpPr>
        <p:spPr>
          <a:xfrm>
            <a:off x="10789920" y="6547104"/>
            <a:ext cx="914400" cy="173736"/>
          </a:xfrm>
          <a:prstGeom prst="rect">
            <a:avLst/>
          </a:prstGeom>
          <a:noFill/>
          <a:ln/>
        </p:spPr>
        <p:txBody>
          <a:bodyPr wrap="square" lIns="0" tIns="0" rIns="0" bIns="0" rtlCol="0" anchor="t">
            <a:normAutofit/>
          </a:bodyPr>
          <a:lstStyle/>
          <a:p>
            <a:pPr marL="0" indent="0" algn="r">
              <a:buNone/>
            </a:pPr>
            <a:r>
              <a:rPr lang="en-US" sz="850" dirty="0">
                <a:solidFill>
                  <a:srgbClr val="BDC4C9"/>
                </a:solidFill>
                <a:latin typeface="Arial" pitchFamily="34" charset="0"/>
                <a:ea typeface="Arial" pitchFamily="34" charset="-122"/>
                <a:cs typeface="Arial" pitchFamily="34" charset="-120"/>
              </a:rPr>
              <a:t>34 / 49</a:t>
            </a:r>
            <a:endParaRPr lang="en-US" sz="850" dirty="0"/>
          </a:p>
        </p:txBody>
      </p:sp>
      <p:sp>
        <p:nvSpPr>
          <p:cNvPr id="9" name="Text 7"/>
          <p:cNvSpPr/>
          <p:nvPr/>
        </p:nvSpPr>
        <p:spPr>
          <a:xfrm>
            <a:off x="502920" y="1005840"/>
            <a:ext cx="11036808" cy="841248"/>
          </a:xfrm>
          <a:prstGeom prst="rect">
            <a:avLst/>
          </a:prstGeom>
          <a:noFill/>
          <a:ln/>
        </p:spPr>
        <p:txBody>
          <a:bodyPr wrap="square" lIns="0" tIns="0" rIns="0" bIns="0" rtlCol="0" anchor="t">
            <a:normAutofit/>
          </a:bodyPr>
          <a:lstStyle/>
          <a:p>
            <a:pPr marL="0" indent="0" algn="l">
              <a:buNone/>
            </a:pPr>
            <a:r>
              <a:rPr lang="en-US" sz="3400" b="1" dirty="0">
                <a:solidFill>
                  <a:srgbClr val="F5F6F7"/>
                </a:solidFill>
                <a:latin typeface="Arial" pitchFamily="34" charset="0"/>
                <a:ea typeface="Arial" pitchFamily="34" charset="-122"/>
                <a:cs typeface="Arial" pitchFamily="34" charset="-120"/>
              </a:rPr>
              <a:t>Revenue growth is not the same as more contribution.</a:t>
            </a:r>
            <a:endParaRPr lang="en-US" sz="3400" dirty="0"/>
          </a:p>
        </p:txBody>
      </p:sp>
      <p:sp>
        <p:nvSpPr>
          <p:cNvPr id="10" name="Text 8"/>
          <p:cNvSpPr/>
          <p:nvPr/>
        </p:nvSpPr>
        <p:spPr>
          <a:xfrm>
            <a:off x="530352" y="1865376"/>
            <a:ext cx="10954512" cy="566928"/>
          </a:xfrm>
          <a:prstGeom prst="rect">
            <a:avLst/>
          </a:prstGeom>
          <a:noFill/>
          <a:ln/>
        </p:spPr>
        <p:txBody>
          <a:bodyPr wrap="square" lIns="0" tIns="0" rIns="0" bIns="0" rtlCol="0" anchor="t">
            <a:normAutofit/>
          </a:bodyPr>
          <a:lstStyle/>
          <a:p>
            <a:pPr marL="0" indent="0" algn="l">
              <a:buNone/>
            </a:pPr>
            <a:r>
              <a:rPr lang="en-US" sz="1800" dirty="0">
                <a:solidFill>
                  <a:srgbClr val="BDC4C9"/>
                </a:solidFill>
                <a:latin typeface="Arial" pitchFamily="34" charset="0"/>
                <a:ea typeface="Arial" pitchFamily="34" charset="-122"/>
                <a:cs typeface="Arial" pitchFamily="34" charset="-120"/>
              </a:rPr>
              <a:t>Hypothetical arithmetic / not an Isuzu offer, cost or demand forecast.</a:t>
            </a:r>
            <a:endParaRPr lang="en-US" sz="1800" dirty="0"/>
          </a:p>
        </p:txBody>
      </p:sp>
      <p:sp>
        <p:nvSpPr>
          <p:cNvPr id="11" name="Shape 9"/>
          <p:cNvSpPr/>
          <p:nvPr/>
        </p:nvSpPr>
        <p:spPr>
          <a:xfrm>
            <a:off x="1795272" y="2660904"/>
            <a:ext cx="2696870" cy="3115056"/>
          </a:xfrm>
          <a:prstGeom prst="roundRect">
            <a:avLst>
              <a:gd name="adj" fmla="val 1356"/>
            </a:avLst>
          </a:prstGeom>
          <a:solidFill>
            <a:srgbClr val="30363B"/>
          </a:solidFill>
          <a:ln w="8890">
            <a:solidFill>
              <a:srgbClr val="4B5760"/>
            </a:solidFill>
            <a:prstDash val="solid"/>
          </a:ln>
        </p:spPr>
        <p:txBody>
          <a:bodyPr/>
          <a:lstStyle/>
          <a:p>
            <a:endParaRPr lang="nl-NL"/>
          </a:p>
        </p:txBody>
      </p:sp>
      <p:sp>
        <p:nvSpPr>
          <p:cNvPr id="12" name="Text 10"/>
          <p:cNvSpPr/>
          <p:nvPr/>
        </p:nvSpPr>
        <p:spPr>
          <a:xfrm>
            <a:off x="1957426" y="2865730"/>
            <a:ext cx="2372563" cy="512064"/>
          </a:xfrm>
          <a:prstGeom prst="rect">
            <a:avLst/>
          </a:prstGeom>
          <a:noFill/>
          <a:ln/>
        </p:spPr>
        <p:txBody>
          <a:bodyPr wrap="square" lIns="0" tIns="0" rIns="0" bIns="0" rtlCol="0" anchor="t">
            <a:normAutofit/>
          </a:bodyPr>
          <a:lstStyle/>
          <a:p>
            <a:pPr marL="0" indent="0" algn="l">
              <a:buNone/>
            </a:pPr>
            <a:r>
              <a:rPr lang="en-US" sz="1680" b="1" dirty="0">
                <a:solidFill>
                  <a:srgbClr val="F5F6F7"/>
                </a:solidFill>
                <a:latin typeface="Arial" pitchFamily="34" charset="0"/>
                <a:ea typeface="Arial" pitchFamily="34" charset="-122"/>
                <a:cs typeface="Arial" pitchFamily="34" charset="-120"/>
              </a:rPr>
              <a:t>Unchanged offer</a:t>
            </a:r>
            <a:endParaRPr lang="en-US" sz="1680" dirty="0"/>
          </a:p>
        </p:txBody>
      </p:sp>
      <p:sp>
        <p:nvSpPr>
          <p:cNvPr id="13" name="Text 11"/>
          <p:cNvSpPr/>
          <p:nvPr/>
        </p:nvSpPr>
        <p:spPr>
          <a:xfrm>
            <a:off x="1957426" y="3574085"/>
            <a:ext cx="2355494" cy="512064"/>
          </a:xfrm>
          <a:prstGeom prst="rect">
            <a:avLst/>
          </a:prstGeom>
          <a:noFill/>
          <a:ln/>
        </p:spPr>
        <p:txBody>
          <a:bodyPr wrap="square" lIns="0" tIns="0" rIns="0" bIns="0" rtlCol="0" anchor="t">
            <a:normAutofit/>
          </a:bodyPr>
          <a:lstStyle/>
          <a:p>
            <a:pPr marL="0" indent="0" algn="l">
              <a:buNone/>
            </a:pPr>
            <a:r>
              <a:rPr lang="en-US" sz="1142" dirty="0">
                <a:solidFill>
                  <a:srgbClr val="BDC4C9"/>
                </a:solidFill>
                <a:latin typeface="Arial" pitchFamily="34" charset="0"/>
                <a:ea typeface="Arial" pitchFamily="34" charset="-122"/>
                <a:cs typeface="Arial" pitchFamily="34" charset="-120"/>
              </a:rPr>
              <a:t>REVENUE</a:t>
            </a:r>
            <a:endParaRPr lang="en-US" sz="1142" dirty="0"/>
          </a:p>
        </p:txBody>
      </p:sp>
      <p:sp>
        <p:nvSpPr>
          <p:cNvPr id="14" name="Text 12"/>
          <p:cNvSpPr/>
          <p:nvPr/>
        </p:nvSpPr>
        <p:spPr>
          <a:xfrm>
            <a:off x="1957426" y="3847186"/>
            <a:ext cx="2364029" cy="512064"/>
          </a:xfrm>
          <a:prstGeom prst="rect">
            <a:avLst/>
          </a:prstGeom>
          <a:noFill/>
          <a:ln/>
        </p:spPr>
        <p:txBody>
          <a:bodyPr wrap="square" lIns="0" tIns="0" rIns="0" bIns="0" rtlCol="0" anchor="t">
            <a:normAutofit/>
          </a:bodyPr>
          <a:lstStyle/>
          <a:p>
            <a:pPr marL="0" indent="0" algn="l">
              <a:buNone/>
            </a:pPr>
            <a:r>
              <a:rPr lang="en-US" sz="2419" b="1" dirty="0">
                <a:solidFill>
                  <a:srgbClr val="F5F6F7"/>
                </a:solidFill>
                <a:latin typeface="Arial" pitchFamily="34" charset="0"/>
                <a:ea typeface="Arial" pitchFamily="34" charset="-122"/>
                <a:cs typeface="Arial" pitchFamily="34" charset="-120"/>
              </a:rPr>
              <a:t>EUR 10,000</a:t>
            </a:r>
            <a:endParaRPr lang="en-US" sz="2419" dirty="0"/>
          </a:p>
        </p:txBody>
      </p:sp>
      <p:sp>
        <p:nvSpPr>
          <p:cNvPr id="15" name="Text 13"/>
          <p:cNvSpPr/>
          <p:nvPr/>
        </p:nvSpPr>
        <p:spPr>
          <a:xfrm>
            <a:off x="1957426" y="4453128"/>
            <a:ext cx="2372563" cy="512064"/>
          </a:xfrm>
          <a:prstGeom prst="rect">
            <a:avLst/>
          </a:prstGeom>
          <a:noFill/>
          <a:ln/>
        </p:spPr>
        <p:txBody>
          <a:bodyPr wrap="square" lIns="0" tIns="0" rIns="0" bIns="0" rtlCol="0" anchor="t">
            <a:normAutofit/>
          </a:bodyPr>
          <a:lstStyle/>
          <a:p>
            <a:pPr marL="0" indent="0" algn="l">
              <a:buNone/>
            </a:pPr>
            <a:r>
              <a:rPr lang="en-US" sz="1142" dirty="0">
                <a:solidFill>
                  <a:srgbClr val="BDC4C9"/>
                </a:solidFill>
                <a:latin typeface="Arial" pitchFamily="34" charset="0"/>
                <a:ea typeface="Arial" pitchFamily="34" charset="-122"/>
                <a:cs typeface="Arial" pitchFamily="34" charset="-120"/>
              </a:rPr>
              <a:t>GROSS PROFIT</a:t>
            </a:r>
            <a:endParaRPr lang="en-US" sz="1142" dirty="0"/>
          </a:p>
        </p:txBody>
      </p:sp>
      <p:sp>
        <p:nvSpPr>
          <p:cNvPr id="16" name="Text 14"/>
          <p:cNvSpPr/>
          <p:nvPr/>
        </p:nvSpPr>
        <p:spPr>
          <a:xfrm>
            <a:off x="1957426" y="4726229"/>
            <a:ext cx="2364029" cy="512064"/>
          </a:xfrm>
          <a:prstGeom prst="rect">
            <a:avLst/>
          </a:prstGeom>
          <a:noFill/>
          <a:ln/>
        </p:spPr>
        <p:txBody>
          <a:bodyPr wrap="square" lIns="0" tIns="0" rIns="0" bIns="0" rtlCol="0" anchor="t">
            <a:normAutofit/>
          </a:bodyPr>
          <a:lstStyle/>
          <a:p>
            <a:pPr marL="0" indent="0" algn="l">
              <a:buNone/>
            </a:pPr>
            <a:r>
              <a:rPr lang="en-US" sz="2419" b="1" dirty="0">
                <a:solidFill>
                  <a:srgbClr val="F5F6F7"/>
                </a:solidFill>
                <a:latin typeface="Arial" pitchFamily="34" charset="0"/>
                <a:ea typeface="Arial" pitchFamily="34" charset="-122"/>
                <a:cs typeface="Arial" pitchFamily="34" charset="-120"/>
              </a:rPr>
              <a:t>EUR 3,000</a:t>
            </a:r>
            <a:endParaRPr lang="en-US" sz="2419" dirty="0"/>
          </a:p>
        </p:txBody>
      </p:sp>
      <p:sp>
        <p:nvSpPr>
          <p:cNvPr id="17" name="Text 15"/>
          <p:cNvSpPr/>
          <p:nvPr/>
        </p:nvSpPr>
        <p:spPr>
          <a:xfrm>
            <a:off x="1957426" y="5298034"/>
            <a:ext cx="2372563" cy="512064"/>
          </a:xfrm>
          <a:prstGeom prst="rect">
            <a:avLst/>
          </a:prstGeom>
          <a:noFill/>
          <a:ln/>
        </p:spPr>
        <p:txBody>
          <a:bodyPr wrap="square" lIns="0" tIns="0" rIns="0" bIns="0" rtlCol="0" anchor="t">
            <a:normAutofit/>
          </a:bodyPr>
          <a:lstStyle/>
          <a:p>
            <a:pPr marL="0" indent="0" algn="l">
              <a:buNone/>
            </a:pPr>
            <a:r>
              <a:rPr lang="en-US" sz="1277" dirty="0">
                <a:solidFill>
                  <a:srgbClr val="BDC4C9"/>
                </a:solidFill>
                <a:latin typeface="Arial" pitchFamily="34" charset="0"/>
                <a:ea typeface="Arial" pitchFamily="34" charset="-122"/>
                <a:cs typeface="Arial" pitchFamily="34" charset="-120"/>
              </a:rPr>
              <a:t>30.0% margin</a:t>
            </a:r>
            <a:endParaRPr lang="en-US" sz="1277" dirty="0"/>
          </a:p>
        </p:txBody>
      </p:sp>
      <p:sp>
        <p:nvSpPr>
          <p:cNvPr id="18" name="Shape 16"/>
          <p:cNvSpPr/>
          <p:nvPr/>
        </p:nvSpPr>
        <p:spPr>
          <a:xfrm>
            <a:off x="4714037" y="2660904"/>
            <a:ext cx="2696870" cy="3115056"/>
          </a:xfrm>
          <a:prstGeom prst="roundRect">
            <a:avLst>
              <a:gd name="adj" fmla="val 1356"/>
            </a:avLst>
          </a:prstGeom>
          <a:solidFill>
            <a:srgbClr val="30363B"/>
          </a:solidFill>
          <a:ln w="8890">
            <a:solidFill>
              <a:srgbClr val="D71920"/>
            </a:solidFill>
            <a:prstDash val="solid"/>
          </a:ln>
        </p:spPr>
        <p:txBody>
          <a:bodyPr/>
          <a:lstStyle/>
          <a:p>
            <a:endParaRPr lang="nl-NL"/>
          </a:p>
        </p:txBody>
      </p:sp>
      <p:sp>
        <p:nvSpPr>
          <p:cNvPr id="19" name="Text 17"/>
          <p:cNvSpPr/>
          <p:nvPr/>
        </p:nvSpPr>
        <p:spPr>
          <a:xfrm>
            <a:off x="4876190" y="2865730"/>
            <a:ext cx="2372563" cy="512064"/>
          </a:xfrm>
          <a:prstGeom prst="rect">
            <a:avLst/>
          </a:prstGeom>
          <a:noFill/>
          <a:ln/>
        </p:spPr>
        <p:txBody>
          <a:bodyPr wrap="square" lIns="0" tIns="0" rIns="0" bIns="0" rtlCol="0" anchor="t">
            <a:normAutofit/>
          </a:bodyPr>
          <a:lstStyle/>
          <a:p>
            <a:pPr marL="0" indent="0" algn="l">
              <a:buNone/>
            </a:pPr>
            <a:r>
              <a:rPr lang="en-US" sz="1680" b="1" dirty="0">
                <a:solidFill>
                  <a:srgbClr val="F5F6F7"/>
                </a:solidFill>
                <a:latin typeface="Arial" pitchFamily="34" charset="0"/>
                <a:ea typeface="Arial" pitchFamily="34" charset="-122"/>
                <a:cs typeface="Arial" pitchFamily="34" charset="-120"/>
              </a:rPr>
              <a:t>Proposed offer</a:t>
            </a:r>
            <a:endParaRPr lang="en-US" sz="1680" dirty="0"/>
          </a:p>
        </p:txBody>
      </p:sp>
      <p:sp>
        <p:nvSpPr>
          <p:cNvPr id="20" name="Text 18"/>
          <p:cNvSpPr/>
          <p:nvPr/>
        </p:nvSpPr>
        <p:spPr>
          <a:xfrm>
            <a:off x="4876190" y="3574085"/>
            <a:ext cx="2355494" cy="512064"/>
          </a:xfrm>
          <a:prstGeom prst="rect">
            <a:avLst/>
          </a:prstGeom>
          <a:noFill/>
          <a:ln/>
        </p:spPr>
        <p:txBody>
          <a:bodyPr wrap="square" lIns="0" tIns="0" rIns="0" bIns="0" rtlCol="0" anchor="t">
            <a:normAutofit/>
          </a:bodyPr>
          <a:lstStyle/>
          <a:p>
            <a:pPr marL="0" indent="0" algn="l">
              <a:buNone/>
            </a:pPr>
            <a:r>
              <a:rPr lang="en-US" sz="1142" dirty="0">
                <a:solidFill>
                  <a:srgbClr val="BDC4C9"/>
                </a:solidFill>
                <a:latin typeface="Arial" pitchFamily="34" charset="0"/>
                <a:ea typeface="Arial" pitchFamily="34" charset="-122"/>
                <a:cs typeface="Arial" pitchFamily="34" charset="-120"/>
              </a:rPr>
              <a:t>REVENUE</a:t>
            </a:r>
            <a:endParaRPr lang="en-US" sz="1142" dirty="0"/>
          </a:p>
        </p:txBody>
      </p:sp>
      <p:sp>
        <p:nvSpPr>
          <p:cNvPr id="21" name="Text 19"/>
          <p:cNvSpPr/>
          <p:nvPr/>
        </p:nvSpPr>
        <p:spPr>
          <a:xfrm>
            <a:off x="4876190" y="3847186"/>
            <a:ext cx="2364029" cy="512064"/>
          </a:xfrm>
          <a:prstGeom prst="rect">
            <a:avLst/>
          </a:prstGeom>
          <a:noFill/>
          <a:ln/>
        </p:spPr>
        <p:txBody>
          <a:bodyPr wrap="square" lIns="0" tIns="0" rIns="0" bIns="0" rtlCol="0" anchor="t">
            <a:normAutofit/>
          </a:bodyPr>
          <a:lstStyle/>
          <a:p>
            <a:pPr marL="0" indent="0" algn="l">
              <a:buNone/>
            </a:pPr>
            <a:r>
              <a:rPr lang="en-US" sz="2419" b="1" dirty="0">
                <a:solidFill>
                  <a:srgbClr val="F5F6F7"/>
                </a:solidFill>
                <a:latin typeface="Arial" pitchFamily="34" charset="0"/>
                <a:ea typeface="Arial" pitchFamily="34" charset="-122"/>
                <a:cs typeface="Arial" pitchFamily="34" charset="-120"/>
              </a:rPr>
              <a:t>EUR 11,400</a:t>
            </a:r>
            <a:endParaRPr lang="en-US" sz="2419" dirty="0"/>
          </a:p>
        </p:txBody>
      </p:sp>
      <p:sp>
        <p:nvSpPr>
          <p:cNvPr id="22" name="Text 20"/>
          <p:cNvSpPr/>
          <p:nvPr/>
        </p:nvSpPr>
        <p:spPr>
          <a:xfrm>
            <a:off x="4876190" y="4453128"/>
            <a:ext cx="2372563" cy="512064"/>
          </a:xfrm>
          <a:prstGeom prst="rect">
            <a:avLst/>
          </a:prstGeom>
          <a:noFill/>
          <a:ln/>
        </p:spPr>
        <p:txBody>
          <a:bodyPr wrap="square" lIns="0" tIns="0" rIns="0" bIns="0" rtlCol="0" anchor="t">
            <a:normAutofit/>
          </a:bodyPr>
          <a:lstStyle/>
          <a:p>
            <a:pPr marL="0" indent="0" algn="l">
              <a:buNone/>
            </a:pPr>
            <a:r>
              <a:rPr lang="en-US" sz="1142" dirty="0">
                <a:solidFill>
                  <a:srgbClr val="BDC4C9"/>
                </a:solidFill>
                <a:latin typeface="Arial" pitchFamily="34" charset="0"/>
                <a:ea typeface="Arial" pitchFamily="34" charset="-122"/>
                <a:cs typeface="Arial" pitchFamily="34" charset="-120"/>
              </a:rPr>
              <a:t>GROSS PROFIT</a:t>
            </a:r>
            <a:endParaRPr lang="en-US" sz="1142" dirty="0"/>
          </a:p>
        </p:txBody>
      </p:sp>
      <p:sp>
        <p:nvSpPr>
          <p:cNvPr id="23" name="Text 21"/>
          <p:cNvSpPr/>
          <p:nvPr/>
        </p:nvSpPr>
        <p:spPr>
          <a:xfrm>
            <a:off x="4876190" y="4726229"/>
            <a:ext cx="2364029" cy="512064"/>
          </a:xfrm>
          <a:prstGeom prst="rect">
            <a:avLst/>
          </a:prstGeom>
          <a:noFill/>
          <a:ln/>
        </p:spPr>
        <p:txBody>
          <a:bodyPr wrap="square" lIns="0" tIns="0" rIns="0" bIns="0" rtlCol="0" anchor="t">
            <a:normAutofit/>
          </a:bodyPr>
          <a:lstStyle/>
          <a:p>
            <a:pPr marL="0" indent="0" algn="l">
              <a:buNone/>
            </a:pPr>
            <a:r>
              <a:rPr lang="en-US" sz="2419" b="1" dirty="0">
                <a:solidFill>
                  <a:srgbClr val="F5F6F7"/>
                </a:solidFill>
                <a:latin typeface="Arial" pitchFamily="34" charset="0"/>
                <a:ea typeface="Arial" pitchFamily="34" charset="-122"/>
                <a:cs typeface="Arial" pitchFamily="34" charset="-120"/>
              </a:rPr>
              <a:t>EUR 3,000</a:t>
            </a:r>
            <a:endParaRPr lang="en-US" sz="2419" dirty="0"/>
          </a:p>
        </p:txBody>
      </p:sp>
      <p:sp>
        <p:nvSpPr>
          <p:cNvPr id="24" name="Text 22"/>
          <p:cNvSpPr/>
          <p:nvPr/>
        </p:nvSpPr>
        <p:spPr>
          <a:xfrm>
            <a:off x="4876190" y="5298034"/>
            <a:ext cx="2372563" cy="512064"/>
          </a:xfrm>
          <a:prstGeom prst="rect">
            <a:avLst/>
          </a:prstGeom>
          <a:noFill/>
          <a:ln/>
        </p:spPr>
        <p:txBody>
          <a:bodyPr wrap="square" lIns="0" tIns="0" rIns="0" bIns="0" rtlCol="0" anchor="t">
            <a:normAutofit/>
          </a:bodyPr>
          <a:lstStyle/>
          <a:p>
            <a:pPr marL="0" indent="0" algn="l">
              <a:buNone/>
            </a:pPr>
            <a:r>
              <a:rPr lang="en-US" sz="1277" dirty="0">
                <a:solidFill>
                  <a:srgbClr val="BDC4C9"/>
                </a:solidFill>
                <a:latin typeface="Arial" pitchFamily="34" charset="0"/>
                <a:ea typeface="Arial" pitchFamily="34" charset="-122"/>
                <a:cs typeface="Arial" pitchFamily="34" charset="-120"/>
              </a:rPr>
              <a:t>26.3% margin</a:t>
            </a:r>
            <a:endParaRPr lang="en-US" sz="1277" dirty="0"/>
          </a:p>
        </p:txBody>
      </p:sp>
      <p:sp>
        <p:nvSpPr>
          <p:cNvPr id="25" name="Shape 23"/>
          <p:cNvSpPr/>
          <p:nvPr/>
        </p:nvSpPr>
        <p:spPr>
          <a:xfrm>
            <a:off x="7632802" y="2660904"/>
            <a:ext cx="2696870" cy="3115056"/>
          </a:xfrm>
          <a:prstGeom prst="roundRect">
            <a:avLst>
              <a:gd name="adj" fmla="val 1356"/>
            </a:avLst>
          </a:prstGeom>
          <a:solidFill>
            <a:srgbClr val="30363B"/>
          </a:solidFill>
          <a:ln w="8890">
            <a:solidFill>
              <a:srgbClr val="4B5760"/>
            </a:solidFill>
            <a:prstDash val="solid"/>
          </a:ln>
        </p:spPr>
        <p:txBody>
          <a:bodyPr/>
          <a:lstStyle/>
          <a:p>
            <a:endParaRPr lang="nl-NL"/>
          </a:p>
        </p:txBody>
      </p:sp>
      <p:sp>
        <p:nvSpPr>
          <p:cNvPr id="26" name="Text 24"/>
          <p:cNvSpPr/>
          <p:nvPr/>
        </p:nvSpPr>
        <p:spPr>
          <a:xfrm>
            <a:off x="7794955" y="2865730"/>
            <a:ext cx="2372563" cy="512064"/>
          </a:xfrm>
          <a:prstGeom prst="rect">
            <a:avLst/>
          </a:prstGeom>
          <a:noFill/>
          <a:ln/>
        </p:spPr>
        <p:txBody>
          <a:bodyPr wrap="square" lIns="0" tIns="0" rIns="0" bIns="0" rtlCol="0" anchor="t">
            <a:normAutofit/>
          </a:bodyPr>
          <a:lstStyle/>
          <a:p>
            <a:pPr marL="0" indent="0" algn="l">
              <a:buNone/>
            </a:pPr>
            <a:r>
              <a:rPr lang="en-US" sz="1680" b="1" dirty="0">
                <a:solidFill>
                  <a:srgbClr val="F5F6F7"/>
                </a:solidFill>
                <a:latin typeface="Arial" pitchFamily="34" charset="0"/>
                <a:ea typeface="Arial" pitchFamily="34" charset="-122"/>
                <a:cs typeface="Arial" pitchFamily="34" charset="-120"/>
              </a:rPr>
              <a:t>After campaign cost</a:t>
            </a:r>
            <a:endParaRPr lang="en-US" sz="1680" dirty="0"/>
          </a:p>
        </p:txBody>
      </p:sp>
      <p:sp>
        <p:nvSpPr>
          <p:cNvPr id="27" name="Text 25"/>
          <p:cNvSpPr/>
          <p:nvPr/>
        </p:nvSpPr>
        <p:spPr>
          <a:xfrm>
            <a:off x="7794955" y="3574085"/>
            <a:ext cx="2355494" cy="512064"/>
          </a:xfrm>
          <a:prstGeom prst="rect">
            <a:avLst/>
          </a:prstGeom>
          <a:noFill/>
          <a:ln/>
        </p:spPr>
        <p:txBody>
          <a:bodyPr wrap="square" lIns="0" tIns="0" rIns="0" bIns="0" rtlCol="0" anchor="t">
            <a:normAutofit/>
          </a:bodyPr>
          <a:lstStyle/>
          <a:p>
            <a:pPr marL="0" indent="0" algn="l">
              <a:buNone/>
            </a:pPr>
            <a:r>
              <a:rPr lang="en-US" sz="1142" dirty="0">
                <a:solidFill>
                  <a:srgbClr val="BDC4C9"/>
                </a:solidFill>
                <a:latin typeface="Arial" pitchFamily="34" charset="0"/>
                <a:ea typeface="Arial" pitchFamily="34" charset="-122"/>
                <a:cs typeface="Arial" pitchFamily="34" charset="-120"/>
              </a:rPr>
              <a:t>REVENUE</a:t>
            </a:r>
            <a:endParaRPr lang="en-US" sz="1142" dirty="0"/>
          </a:p>
        </p:txBody>
      </p:sp>
      <p:sp>
        <p:nvSpPr>
          <p:cNvPr id="28" name="Text 26"/>
          <p:cNvSpPr/>
          <p:nvPr/>
        </p:nvSpPr>
        <p:spPr>
          <a:xfrm>
            <a:off x="7794955" y="3847186"/>
            <a:ext cx="2364029" cy="512064"/>
          </a:xfrm>
          <a:prstGeom prst="rect">
            <a:avLst/>
          </a:prstGeom>
          <a:noFill/>
          <a:ln/>
        </p:spPr>
        <p:txBody>
          <a:bodyPr wrap="square" lIns="0" tIns="0" rIns="0" bIns="0" rtlCol="0" anchor="t">
            <a:normAutofit/>
          </a:bodyPr>
          <a:lstStyle/>
          <a:p>
            <a:pPr marL="0" indent="0" algn="l">
              <a:buNone/>
            </a:pPr>
            <a:r>
              <a:rPr lang="en-US" sz="2419" b="1" dirty="0">
                <a:solidFill>
                  <a:srgbClr val="F5F6F7"/>
                </a:solidFill>
                <a:latin typeface="Arial" pitchFamily="34" charset="0"/>
                <a:ea typeface="Arial" pitchFamily="34" charset="-122"/>
                <a:cs typeface="Arial" pitchFamily="34" charset="-120"/>
              </a:rPr>
              <a:t>EUR 11,400</a:t>
            </a:r>
            <a:endParaRPr lang="en-US" sz="2419" dirty="0"/>
          </a:p>
        </p:txBody>
      </p:sp>
      <p:sp>
        <p:nvSpPr>
          <p:cNvPr id="29" name="Text 27"/>
          <p:cNvSpPr/>
          <p:nvPr/>
        </p:nvSpPr>
        <p:spPr>
          <a:xfrm>
            <a:off x="7794955" y="4453128"/>
            <a:ext cx="2372563" cy="512064"/>
          </a:xfrm>
          <a:prstGeom prst="rect">
            <a:avLst/>
          </a:prstGeom>
          <a:noFill/>
          <a:ln/>
        </p:spPr>
        <p:txBody>
          <a:bodyPr wrap="square" lIns="0" tIns="0" rIns="0" bIns="0" rtlCol="0" anchor="t">
            <a:normAutofit/>
          </a:bodyPr>
          <a:lstStyle/>
          <a:p>
            <a:pPr marL="0" indent="0" algn="l">
              <a:buNone/>
            </a:pPr>
            <a:r>
              <a:rPr lang="en-US" sz="1142" dirty="0">
                <a:solidFill>
                  <a:srgbClr val="BDC4C9"/>
                </a:solidFill>
                <a:latin typeface="Arial" pitchFamily="34" charset="0"/>
                <a:ea typeface="Arial" pitchFamily="34" charset="-122"/>
                <a:cs typeface="Arial" pitchFamily="34" charset="-120"/>
              </a:rPr>
              <a:t>CONTRIBUTION</a:t>
            </a:r>
            <a:endParaRPr lang="en-US" sz="1142" dirty="0"/>
          </a:p>
        </p:txBody>
      </p:sp>
      <p:sp>
        <p:nvSpPr>
          <p:cNvPr id="30" name="Text 28"/>
          <p:cNvSpPr/>
          <p:nvPr/>
        </p:nvSpPr>
        <p:spPr>
          <a:xfrm>
            <a:off x="7794955" y="4726229"/>
            <a:ext cx="2364029" cy="512064"/>
          </a:xfrm>
          <a:prstGeom prst="rect">
            <a:avLst/>
          </a:prstGeom>
          <a:noFill/>
          <a:ln/>
        </p:spPr>
        <p:txBody>
          <a:bodyPr wrap="square" lIns="0" tIns="0" rIns="0" bIns="0" rtlCol="0" anchor="t">
            <a:normAutofit/>
          </a:bodyPr>
          <a:lstStyle/>
          <a:p>
            <a:pPr marL="0" indent="0" algn="l">
              <a:buNone/>
            </a:pPr>
            <a:r>
              <a:rPr lang="en-US" sz="2419" b="1" dirty="0">
                <a:solidFill>
                  <a:srgbClr val="F5F6F7"/>
                </a:solidFill>
                <a:latin typeface="Arial" pitchFamily="34" charset="0"/>
                <a:ea typeface="Arial" pitchFamily="34" charset="-122"/>
                <a:cs typeface="Arial" pitchFamily="34" charset="-120"/>
              </a:rPr>
              <a:t>EUR 2,700</a:t>
            </a:r>
            <a:endParaRPr lang="en-US" sz="2419" dirty="0"/>
          </a:p>
        </p:txBody>
      </p:sp>
      <p:sp>
        <p:nvSpPr>
          <p:cNvPr id="31" name="Text 29"/>
          <p:cNvSpPr/>
          <p:nvPr/>
        </p:nvSpPr>
        <p:spPr>
          <a:xfrm>
            <a:off x="7794955" y="5298034"/>
            <a:ext cx="2372563" cy="512064"/>
          </a:xfrm>
          <a:prstGeom prst="rect">
            <a:avLst/>
          </a:prstGeom>
          <a:noFill/>
          <a:ln/>
        </p:spPr>
        <p:txBody>
          <a:bodyPr wrap="square" lIns="0" tIns="0" rIns="0" bIns="0" rtlCol="0" anchor="t">
            <a:normAutofit/>
          </a:bodyPr>
          <a:lstStyle/>
          <a:p>
            <a:pPr marL="0" indent="0" algn="l">
              <a:buNone/>
            </a:pPr>
            <a:r>
              <a:rPr lang="en-US" sz="1277" dirty="0">
                <a:solidFill>
                  <a:srgbClr val="BDC4C9"/>
                </a:solidFill>
                <a:latin typeface="Arial" pitchFamily="34" charset="0"/>
                <a:ea typeface="Arial" pitchFamily="34" charset="-122"/>
                <a:cs typeface="Arial" pitchFamily="34" charset="-120"/>
              </a:rPr>
              <a:t>Contribution, not gross profit</a:t>
            </a:r>
            <a:endParaRPr lang="en-US" sz="1277" dirty="0"/>
          </a:p>
        </p:txBody>
      </p:sp>
      <p:sp>
        <p:nvSpPr>
          <p:cNvPr id="32" name="Text 30"/>
          <p:cNvSpPr/>
          <p:nvPr/>
        </p:nvSpPr>
        <p:spPr>
          <a:xfrm>
            <a:off x="548640" y="6035040"/>
            <a:ext cx="10954512" cy="219456"/>
          </a:xfrm>
          <a:prstGeom prst="rect">
            <a:avLst/>
          </a:prstGeom>
          <a:noFill/>
          <a:ln/>
        </p:spPr>
        <p:txBody>
          <a:bodyPr wrap="square" lIns="0" tIns="0" rIns="0" bIns="0" rtlCol="0" anchor="t">
            <a:normAutofit/>
          </a:bodyPr>
          <a:lstStyle/>
          <a:p>
            <a:pPr marL="0" indent="0" algn="l">
              <a:buNone/>
            </a:pPr>
            <a:r>
              <a:rPr lang="en-US" sz="840" dirty="0">
                <a:solidFill>
                  <a:srgbClr val="BDC4C9"/>
                </a:solidFill>
                <a:latin typeface="Arial" pitchFamily="34" charset="0"/>
                <a:ea typeface="Arial" pitchFamily="34" charset="-122"/>
                <a:cs typeface="Arial" pitchFamily="34" charset="-120"/>
              </a:rPr>
              <a:t>Hypothetical / net price 100 to 95; cost 70; quantity 100 to 120; EUR 300 additional campaign cost.</a:t>
            </a:r>
            <a:endParaRPr lang="en-US" sz="84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24282C"/>
        </a:solidFill>
        <a:effectLst/>
      </p:bgPr>
    </p:bg>
    <p:spTree>
      <p:nvGrpSpPr>
        <p:cNvPr id="1" name=""/>
        <p:cNvGrpSpPr/>
        <p:nvPr/>
      </p:nvGrpSpPr>
      <p:grpSpPr>
        <a:xfrm>
          <a:off x="0" y="0"/>
          <a:ext cx="0" cy="0"/>
          <a:chOff x="0" y="0"/>
          <a:chExt cx="0" cy="0"/>
        </a:xfrm>
      </p:grpSpPr>
      <p:sp>
        <p:nvSpPr>
          <p:cNvPr id="2" name="Text 0"/>
          <p:cNvSpPr/>
          <p:nvPr/>
        </p:nvSpPr>
        <p:spPr>
          <a:xfrm>
            <a:off x="484632" y="173736"/>
            <a:ext cx="2743200" cy="201168"/>
          </a:xfrm>
          <a:prstGeom prst="rect">
            <a:avLst/>
          </a:prstGeom>
          <a:noFill/>
          <a:ln/>
        </p:spPr>
        <p:txBody>
          <a:bodyPr wrap="square" lIns="0" tIns="0" rIns="0" bIns="0" rtlCol="0" anchor="t">
            <a:normAutofit/>
          </a:bodyPr>
          <a:lstStyle/>
          <a:p>
            <a:pPr marL="0" indent="0" algn="l">
              <a:buNone/>
            </a:pPr>
            <a:r>
              <a:rPr lang="en-US" sz="1000" b="1" dirty="0">
                <a:solidFill>
                  <a:srgbClr val="F5F6F7"/>
                </a:solidFill>
                <a:latin typeface="Arial" pitchFamily="34" charset="0"/>
                <a:ea typeface="Arial" pitchFamily="34" charset="-122"/>
                <a:cs typeface="Arial" pitchFamily="34" charset="-120"/>
              </a:rPr>
              <a:t>ISUZU / UNIVERSE</a:t>
            </a:r>
            <a:endParaRPr lang="en-US" sz="1000" dirty="0"/>
          </a:p>
        </p:txBody>
      </p:sp>
      <p:sp>
        <p:nvSpPr>
          <p:cNvPr id="3" name="Text 1"/>
          <p:cNvSpPr/>
          <p:nvPr/>
        </p:nvSpPr>
        <p:spPr>
          <a:xfrm>
            <a:off x="8046720" y="173736"/>
            <a:ext cx="3657600" cy="201168"/>
          </a:xfrm>
          <a:prstGeom prst="rect">
            <a:avLst/>
          </a:prstGeom>
          <a:noFill/>
          <a:ln/>
        </p:spPr>
        <p:txBody>
          <a:bodyPr wrap="square" lIns="0" tIns="0" rIns="0" bIns="0" rtlCol="0" anchor="t">
            <a:normAutofit/>
          </a:bodyPr>
          <a:lstStyle/>
          <a:p>
            <a:pPr marL="0" indent="0" algn="r">
              <a:buNone/>
            </a:pPr>
            <a:r>
              <a:rPr lang="en-US" sz="900" dirty="0">
                <a:solidFill>
                  <a:srgbClr val="BDC4C9"/>
                </a:solidFill>
                <a:latin typeface="Arial" pitchFamily="34" charset="0"/>
                <a:ea typeface="Arial" pitchFamily="34" charset="-122"/>
                <a:cs typeface="Arial" pitchFamily="34" charset="-120"/>
              </a:rPr>
              <a:t>COMMERCIAL VISION  /  3.0</a:t>
            </a:r>
            <a:endParaRPr lang="en-US" sz="900" dirty="0"/>
          </a:p>
        </p:txBody>
      </p:sp>
      <p:sp>
        <p:nvSpPr>
          <p:cNvPr id="4" name="Shape 2"/>
          <p:cNvSpPr/>
          <p:nvPr/>
        </p:nvSpPr>
        <p:spPr>
          <a:xfrm>
            <a:off x="484632" y="512064"/>
            <a:ext cx="475488" cy="22860"/>
          </a:xfrm>
          <a:prstGeom prst="rect">
            <a:avLst/>
          </a:prstGeom>
          <a:solidFill>
            <a:srgbClr val="D71920"/>
          </a:solidFill>
          <a:ln w="12700">
            <a:solidFill>
              <a:srgbClr val="D71920">
                <a:alpha val="0"/>
              </a:srgbClr>
            </a:solidFill>
            <a:prstDash val="solid"/>
          </a:ln>
        </p:spPr>
        <p:txBody>
          <a:bodyPr/>
          <a:lstStyle/>
          <a:p>
            <a:endParaRPr lang="nl-NL"/>
          </a:p>
        </p:txBody>
      </p:sp>
      <p:sp>
        <p:nvSpPr>
          <p:cNvPr id="5" name="Text 3"/>
          <p:cNvSpPr/>
          <p:nvPr/>
        </p:nvSpPr>
        <p:spPr>
          <a:xfrm>
            <a:off x="484632" y="658368"/>
            <a:ext cx="11064240" cy="219456"/>
          </a:xfrm>
          <a:prstGeom prst="rect">
            <a:avLst/>
          </a:prstGeom>
          <a:noFill/>
          <a:ln/>
        </p:spPr>
        <p:txBody>
          <a:bodyPr wrap="square" lIns="0" tIns="0" rIns="0" bIns="0" rtlCol="0" anchor="t">
            <a:normAutofit/>
          </a:bodyPr>
          <a:lstStyle/>
          <a:p>
            <a:pPr marL="0" indent="0" algn="l">
              <a:buNone/>
            </a:pPr>
            <a:r>
              <a:rPr lang="en-US" sz="1000" b="1" dirty="0">
                <a:solidFill>
                  <a:srgbClr val="D71920"/>
                </a:solidFill>
                <a:latin typeface="Arial" pitchFamily="34" charset="0"/>
                <a:ea typeface="Arial" pitchFamily="34" charset="-122"/>
                <a:cs typeface="Arial" pitchFamily="34" charset="-120"/>
              </a:rPr>
              <a:t>DEAL OF THE DAY / SENSITIVITY</a:t>
            </a:r>
            <a:endParaRPr lang="en-US" sz="1000" dirty="0"/>
          </a:p>
        </p:txBody>
      </p:sp>
      <p:sp>
        <p:nvSpPr>
          <p:cNvPr id="6" name="Shape 4"/>
          <p:cNvSpPr/>
          <p:nvPr/>
        </p:nvSpPr>
        <p:spPr>
          <a:xfrm>
            <a:off x="484632" y="6446520"/>
            <a:ext cx="11219688" cy="914"/>
          </a:xfrm>
          <a:prstGeom prst="line">
            <a:avLst/>
          </a:prstGeom>
          <a:noFill/>
          <a:ln w="6350">
            <a:solidFill>
              <a:srgbClr val="647078"/>
            </a:solidFill>
            <a:prstDash val="solid"/>
          </a:ln>
        </p:spPr>
        <p:txBody>
          <a:bodyPr/>
          <a:lstStyle/>
          <a:p>
            <a:endParaRPr lang="nl-NL"/>
          </a:p>
        </p:txBody>
      </p:sp>
      <p:sp>
        <p:nvSpPr>
          <p:cNvPr id="7" name="Text 5"/>
          <p:cNvSpPr/>
          <p:nvPr/>
        </p:nvSpPr>
        <p:spPr>
          <a:xfrm>
            <a:off x="484632" y="6556248"/>
            <a:ext cx="9144000" cy="146304"/>
          </a:xfrm>
          <a:prstGeom prst="rect">
            <a:avLst/>
          </a:prstGeom>
          <a:noFill/>
          <a:ln/>
        </p:spPr>
        <p:txBody>
          <a:bodyPr wrap="square" lIns="0" tIns="0" rIns="0" bIns="0" rtlCol="0" anchor="t">
            <a:normAutofit/>
          </a:bodyPr>
          <a:lstStyle/>
          <a:p>
            <a:pPr marL="0" indent="0" algn="l">
              <a:buNone/>
            </a:pPr>
            <a:r>
              <a:rPr lang="en-US" sz="750" dirty="0">
                <a:solidFill>
                  <a:srgbClr val="BDC4C9"/>
                </a:solidFill>
                <a:latin typeface="Arial" pitchFamily="34" charset="0"/>
                <a:ea typeface="Arial" pitchFamily="34" charset="-122"/>
                <a:cs typeface="Arial" pitchFamily="34" charset="-120"/>
              </a:rPr>
              <a:t>22 SEPTEMBER 2026  /  CONCEPT AND APPLICATION EXAMPLES</a:t>
            </a:r>
            <a:endParaRPr lang="en-US" sz="750" dirty="0"/>
          </a:p>
        </p:txBody>
      </p:sp>
      <p:sp>
        <p:nvSpPr>
          <p:cNvPr id="8" name="Text 6"/>
          <p:cNvSpPr/>
          <p:nvPr/>
        </p:nvSpPr>
        <p:spPr>
          <a:xfrm>
            <a:off x="10789920" y="6547104"/>
            <a:ext cx="914400" cy="173736"/>
          </a:xfrm>
          <a:prstGeom prst="rect">
            <a:avLst/>
          </a:prstGeom>
          <a:noFill/>
          <a:ln/>
        </p:spPr>
        <p:txBody>
          <a:bodyPr wrap="square" lIns="0" tIns="0" rIns="0" bIns="0" rtlCol="0" anchor="t">
            <a:normAutofit/>
          </a:bodyPr>
          <a:lstStyle/>
          <a:p>
            <a:pPr marL="0" indent="0" algn="r">
              <a:buNone/>
            </a:pPr>
            <a:r>
              <a:rPr lang="en-US" sz="850" dirty="0">
                <a:solidFill>
                  <a:srgbClr val="BDC4C9"/>
                </a:solidFill>
                <a:latin typeface="Arial" pitchFamily="34" charset="0"/>
                <a:ea typeface="Arial" pitchFamily="34" charset="-122"/>
                <a:cs typeface="Arial" pitchFamily="34" charset="-120"/>
              </a:rPr>
              <a:t>35 / 49</a:t>
            </a:r>
            <a:endParaRPr lang="en-US" sz="850" dirty="0"/>
          </a:p>
        </p:txBody>
      </p:sp>
      <p:sp>
        <p:nvSpPr>
          <p:cNvPr id="9" name="Text 7"/>
          <p:cNvSpPr/>
          <p:nvPr/>
        </p:nvSpPr>
        <p:spPr>
          <a:xfrm>
            <a:off x="502920" y="1005840"/>
            <a:ext cx="11036808" cy="841248"/>
          </a:xfrm>
          <a:prstGeom prst="rect">
            <a:avLst/>
          </a:prstGeom>
          <a:noFill/>
          <a:ln/>
        </p:spPr>
        <p:txBody>
          <a:bodyPr wrap="square" lIns="0" tIns="0" rIns="0" bIns="0" rtlCol="0" anchor="t">
            <a:normAutofit/>
          </a:bodyPr>
          <a:lstStyle/>
          <a:p>
            <a:pPr marL="0" indent="0" algn="l">
              <a:buNone/>
            </a:pPr>
            <a:r>
              <a:rPr lang="en-US" sz="3400" b="1" dirty="0">
                <a:solidFill>
                  <a:srgbClr val="F5F6F7"/>
                </a:solidFill>
                <a:latin typeface="Arial" pitchFamily="34" charset="0"/>
                <a:ea typeface="Arial" pitchFamily="34" charset="-122"/>
                <a:cs typeface="Arial" pitchFamily="34" charset="-120"/>
              </a:rPr>
              <a:t>Show the threshold, not a volume promise.</a:t>
            </a:r>
            <a:endParaRPr lang="en-US" sz="3400" dirty="0"/>
          </a:p>
        </p:txBody>
      </p:sp>
      <p:sp>
        <p:nvSpPr>
          <p:cNvPr id="10" name="Text 8"/>
          <p:cNvSpPr/>
          <p:nvPr/>
        </p:nvSpPr>
        <p:spPr>
          <a:xfrm>
            <a:off x="530352" y="1865376"/>
            <a:ext cx="10954512" cy="566928"/>
          </a:xfrm>
          <a:prstGeom prst="rect">
            <a:avLst/>
          </a:prstGeom>
          <a:noFill/>
          <a:ln/>
        </p:spPr>
        <p:txBody>
          <a:bodyPr wrap="square" lIns="0" tIns="0" rIns="0" bIns="0" rtlCol="0" anchor="t">
            <a:normAutofit/>
          </a:bodyPr>
          <a:lstStyle/>
          <a:p>
            <a:pPr marL="0" indent="0" algn="l">
              <a:buNone/>
            </a:pPr>
            <a:r>
              <a:rPr lang="en-US" sz="1800" dirty="0">
                <a:solidFill>
                  <a:srgbClr val="BDC4C9"/>
                </a:solidFill>
                <a:latin typeface="Arial" pitchFamily="34" charset="0"/>
                <a:ea typeface="Arial" pitchFamily="34" charset="-122"/>
                <a:cs typeface="Arial" pitchFamily="34" charset="-120"/>
              </a:rPr>
              <a:t>Hypothetical net price EUR 100, parts cost EUR 70 and baseline 100 units.</a:t>
            </a:r>
            <a:endParaRPr lang="en-US" sz="1800" dirty="0"/>
          </a:p>
        </p:txBody>
      </p:sp>
      <p:sp>
        <p:nvSpPr>
          <p:cNvPr id="11" name="Shape 9"/>
          <p:cNvSpPr/>
          <p:nvPr/>
        </p:nvSpPr>
        <p:spPr>
          <a:xfrm>
            <a:off x="2942082" y="5023485"/>
            <a:ext cx="5052060" cy="914"/>
          </a:xfrm>
          <a:prstGeom prst="line">
            <a:avLst/>
          </a:prstGeom>
          <a:noFill/>
          <a:ln w="7430">
            <a:solidFill>
              <a:srgbClr val="424D55"/>
            </a:solidFill>
            <a:prstDash val="solid"/>
          </a:ln>
        </p:spPr>
        <p:txBody>
          <a:bodyPr/>
          <a:lstStyle/>
          <a:p>
            <a:endParaRPr lang="nl-NL"/>
          </a:p>
        </p:txBody>
      </p:sp>
      <p:sp>
        <p:nvSpPr>
          <p:cNvPr id="12" name="Text 10"/>
          <p:cNvSpPr/>
          <p:nvPr/>
        </p:nvSpPr>
        <p:spPr>
          <a:xfrm>
            <a:off x="2436876" y="4949190"/>
            <a:ext cx="408623" cy="445770"/>
          </a:xfrm>
          <a:prstGeom prst="rect">
            <a:avLst/>
          </a:prstGeom>
          <a:noFill/>
          <a:ln/>
        </p:spPr>
        <p:txBody>
          <a:bodyPr wrap="square" lIns="0" tIns="0" rIns="0" bIns="0" rtlCol="0" anchor="t">
            <a:normAutofit/>
          </a:bodyPr>
          <a:lstStyle/>
          <a:p>
            <a:pPr marL="0" indent="0" algn="r">
              <a:buNone/>
            </a:pPr>
            <a:r>
              <a:rPr lang="en-US" sz="1053" dirty="0">
                <a:solidFill>
                  <a:srgbClr val="BDC4C9"/>
                </a:solidFill>
                <a:latin typeface="Arial" pitchFamily="34" charset="0"/>
                <a:ea typeface="Arial" pitchFamily="34" charset="-122"/>
                <a:cs typeface="Arial" pitchFamily="34" charset="-120"/>
              </a:rPr>
              <a:t>50</a:t>
            </a:r>
            <a:endParaRPr lang="en-US" sz="1053" dirty="0"/>
          </a:p>
        </p:txBody>
      </p:sp>
      <p:sp>
        <p:nvSpPr>
          <p:cNvPr id="13" name="Shape 11"/>
          <p:cNvSpPr/>
          <p:nvPr/>
        </p:nvSpPr>
        <p:spPr>
          <a:xfrm>
            <a:off x="2942082" y="4354830"/>
            <a:ext cx="5052060" cy="914"/>
          </a:xfrm>
          <a:prstGeom prst="line">
            <a:avLst/>
          </a:prstGeom>
          <a:noFill/>
          <a:ln w="7430">
            <a:solidFill>
              <a:srgbClr val="424D55"/>
            </a:solidFill>
            <a:prstDash val="solid"/>
          </a:ln>
        </p:spPr>
        <p:txBody>
          <a:bodyPr/>
          <a:lstStyle/>
          <a:p>
            <a:endParaRPr lang="nl-NL"/>
          </a:p>
        </p:txBody>
      </p:sp>
      <p:sp>
        <p:nvSpPr>
          <p:cNvPr id="14" name="Text 12"/>
          <p:cNvSpPr/>
          <p:nvPr/>
        </p:nvSpPr>
        <p:spPr>
          <a:xfrm>
            <a:off x="2436876" y="4280535"/>
            <a:ext cx="408623" cy="445770"/>
          </a:xfrm>
          <a:prstGeom prst="rect">
            <a:avLst/>
          </a:prstGeom>
          <a:noFill/>
          <a:ln/>
        </p:spPr>
        <p:txBody>
          <a:bodyPr wrap="square" lIns="0" tIns="0" rIns="0" bIns="0" rtlCol="0" anchor="t">
            <a:normAutofit/>
          </a:bodyPr>
          <a:lstStyle/>
          <a:p>
            <a:pPr marL="0" indent="0" algn="r">
              <a:buNone/>
            </a:pPr>
            <a:r>
              <a:rPr lang="en-US" sz="1053" dirty="0">
                <a:solidFill>
                  <a:srgbClr val="BDC4C9"/>
                </a:solidFill>
                <a:latin typeface="Arial" pitchFamily="34" charset="0"/>
                <a:ea typeface="Arial" pitchFamily="34" charset="-122"/>
                <a:cs typeface="Arial" pitchFamily="34" charset="-120"/>
              </a:rPr>
              <a:t>100</a:t>
            </a:r>
            <a:endParaRPr lang="en-US" sz="1053" dirty="0"/>
          </a:p>
        </p:txBody>
      </p:sp>
      <p:sp>
        <p:nvSpPr>
          <p:cNvPr id="15" name="Shape 13"/>
          <p:cNvSpPr/>
          <p:nvPr/>
        </p:nvSpPr>
        <p:spPr>
          <a:xfrm>
            <a:off x="2942082" y="3686175"/>
            <a:ext cx="5052060" cy="914"/>
          </a:xfrm>
          <a:prstGeom prst="line">
            <a:avLst/>
          </a:prstGeom>
          <a:noFill/>
          <a:ln w="7430">
            <a:solidFill>
              <a:srgbClr val="424D55"/>
            </a:solidFill>
            <a:prstDash val="solid"/>
          </a:ln>
        </p:spPr>
        <p:txBody>
          <a:bodyPr/>
          <a:lstStyle/>
          <a:p>
            <a:endParaRPr lang="nl-NL"/>
          </a:p>
        </p:txBody>
      </p:sp>
      <p:sp>
        <p:nvSpPr>
          <p:cNvPr id="16" name="Text 14"/>
          <p:cNvSpPr/>
          <p:nvPr/>
        </p:nvSpPr>
        <p:spPr>
          <a:xfrm>
            <a:off x="2436876" y="3611880"/>
            <a:ext cx="408623" cy="445770"/>
          </a:xfrm>
          <a:prstGeom prst="rect">
            <a:avLst/>
          </a:prstGeom>
          <a:noFill/>
          <a:ln/>
        </p:spPr>
        <p:txBody>
          <a:bodyPr wrap="square" lIns="0" tIns="0" rIns="0" bIns="0" rtlCol="0" anchor="t">
            <a:normAutofit/>
          </a:bodyPr>
          <a:lstStyle/>
          <a:p>
            <a:pPr marL="0" indent="0" algn="r">
              <a:buNone/>
            </a:pPr>
            <a:r>
              <a:rPr lang="en-US" sz="1053" dirty="0">
                <a:solidFill>
                  <a:srgbClr val="BDC4C9"/>
                </a:solidFill>
                <a:latin typeface="Arial" pitchFamily="34" charset="0"/>
                <a:ea typeface="Arial" pitchFamily="34" charset="-122"/>
                <a:cs typeface="Arial" pitchFamily="34" charset="-120"/>
              </a:rPr>
              <a:t>150</a:t>
            </a:r>
            <a:endParaRPr lang="en-US" sz="1053" dirty="0"/>
          </a:p>
        </p:txBody>
      </p:sp>
      <p:sp>
        <p:nvSpPr>
          <p:cNvPr id="17" name="Shape 15"/>
          <p:cNvSpPr/>
          <p:nvPr/>
        </p:nvSpPr>
        <p:spPr>
          <a:xfrm>
            <a:off x="2942082" y="3017520"/>
            <a:ext cx="5052060" cy="914"/>
          </a:xfrm>
          <a:prstGeom prst="line">
            <a:avLst/>
          </a:prstGeom>
          <a:noFill/>
          <a:ln w="7430">
            <a:solidFill>
              <a:srgbClr val="424D55"/>
            </a:solidFill>
            <a:prstDash val="solid"/>
          </a:ln>
        </p:spPr>
        <p:txBody>
          <a:bodyPr/>
          <a:lstStyle/>
          <a:p>
            <a:endParaRPr lang="nl-NL"/>
          </a:p>
        </p:txBody>
      </p:sp>
      <p:sp>
        <p:nvSpPr>
          <p:cNvPr id="18" name="Text 16"/>
          <p:cNvSpPr/>
          <p:nvPr/>
        </p:nvSpPr>
        <p:spPr>
          <a:xfrm>
            <a:off x="2436876" y="2943225"/>
            <a:ext cx="408623" cy="445770"/>
          </a:xfrm>
          <a:prstGeom prst="rect">
            <a:avLst/>
          </a:prstGeom>
          <a:noFill/>
          <a:ln/>
        </p:spPr>
        <p:txBody>
          <a:bodyPr wrap="square" lIns="0" tIns="0" rIns="0" bIns="0" rtlCol="0" anchor="t">
            <a:normAutofit/>
          </a:bodyPr>
          <a:lstStyle/>
          <a:p>
            <a:pPr marL="0" indent="0" algn="r">
              <a:buNone/>
            </a:pPr>
            <a:r>
              <a:rPr lang="en-US" sz="1053" dirty="0">
                <a:solidFill>
                  <a:srgbClr val="BDC4C9"/>
                </a:solidFill>
                <a:latin typeface="Arial" pitchFamily="34" charset="0"/>
                <a:ea typeface="Arial" pitchFamily="34" charset="-122"/>
                <a:cs typeface="Arial" pitchFamily="34" charset="-120"/>
              </a:rPr>
              <a:t>200</a:t>
            </a:r>
            <a:endParaRPr lang="en-US" sz="1053" dirty="0"/>
          </a:p>
        </p:txBody>
      </p:sp>
      <p:sp>
        <p:nvSpPr>
          <p:cNvPr id="19" name="Shape 17"/>
          <p:cNvSpPr/>
          <p:nvPr/>
        </p:nvSpPr>
        <p:spPr>
          <a:xfrm>
            <a:off x="2942082" y="3017520"/>
            <a:ext cx="202082" cy="167164"/>
          </a:xfrm>
          <a:prstGeom prst="line">
            <a:avLst/>
          </a:prstGeom>
          <a:noFill/>
          <a:ln w="22289">
            <a:solidFill>
              <a:srgbClr val="F5F6F7"/>
            </a:solidFill>
            <a:prstDash val="solid"/>
          </a:ln>
        </p:spPr>
        <p:txBody>
          <a:bodyPr/>
          <a:lstStyle/>
          <a:p>
            <a:endParaRPr lang="nl-NL"/>
          </a:p>
        </p:txBody>
      </p:sp>
      <p:sp>
        <p:nvSpPr>
          <p:cNvPr id="20" name="Shape 18"/>
          <p:cNvSpPr/>
          <p:nvPr/>
        </p:nvSpPr>
        <p:spPr>
          <a:xfrm>
            <a:off x="3144164" y="3184684"/>
            <a:ext cx="202082" cy="147497"/>
          </a:xfrm>
          <a:prstGeom prst="line">
            <a:avLst/>
          </a:prstGeom>
          <a:noFill/>
          <a:ln w="22289">
            <a:solidFill>
              <a:srgbClr val="F5F6F7"/>
            </a:solidFill>
            <a:prstDash val="solid"/>
          </a:ln>
        </p:spPr>
        <p:txBody>
          <a:bodyPr/>
          <a:lstStyle/>
          <a:p>
            <a:endParaRPr lang="nl-NL"/>
          </a:p>
        </p:txBody>
      </p:sp>
      <p:sp>
        <p:nvSpPr>
          <p:cNvPr id="21" name="Shape 19"/>
          <p:cNvSpPr/>
          <p:nvPr/>
        </p:nvSpPr>
        <p:spPr>
          <a:xfrm>
            <a:off x="3346247" y="3332181"/>
            <a:ext cx="202082" cy="131109"/>
          </a:xfrm>
          <a:prstGeom prst="line">
            <a:avLst/>
          </a:prstGeom>
          <a:noFill/>
          <a:ln w="22289">
            <a:solidFill>
              <a:srgbClr val="F5F6F7"/>
            </a:solidFill>
            <a:prstDash val="solid"/>
          </a:ln>
        </p:spPr>
        <p:txBody>
          <a:bodyPr/>
          <a:lstStyle/>
          <a:p>
            <a:endParaRPr lang="nl-NL"/>
          </a:p>
        </p:txBody>
      </p:sp>
      <p:sp>
        <p:nvSpPr>
          <p:cNvPr id="22" name="Shape 20"/>
          <p:cNvSpPr/>
          <p:nvPr/>
        </p:nvSpPr>
        <p:spPr>
          <a:xfrm>
            <a:off x="3548329" y="3463290"/>
            <a:ext cx="202082" cy="117308"/>
          </a:xfrm>
          <a:prstGeom prst="line">
            <a:avLst/>
          </a:prstGeom>
          <a:noFill/>
          <a:ln w="22289">
            <a:solidFill>
              <a:srgbClr val="F5F6F7"/>
            </a:solidFill>
            <a:prstDash val="solid"/>
          </a:ln>
        </p:spPr>
        <p:txBody>
          <a:bodyPr/>
          <a:lstStyle/>
          <a:p>
            <a:endParaRPr lang="nl-NL"/>
          </a:p>
        </p:txBody>
      </p:sp>
      <p:sp>
        <p:nvSpPr>
          <p:cNvPr id="23" name="Shape 21"/>
          <p:cNvSpPr/>
          <p:nvPr/>
        </p:nvSpPr>
        <p:spPr>
          <a:xfrm>
            <a:off x="3750412" y="3580598"/>
            <a:ext cx="202082" cy="105577"/>
          </a:xfrm>
          <a:prstGeom prst="line">
            <a:avLst/>
          </a:prstGeom>
          <a:noFill/>
          <a:ln w="22289">
            <a:solidFill>
              <a:srgbClr val="F5F6F7"/>
            </a:solidFill>
            <a:prstDash val="solid"/>
          </a:ln>
        </p:spPr>
        <p:txBody>
          <a:bodyPr/>
          <a:lstStyle/>
          <a:p>
            <a:endParaRPr lang="nl-NL"/>
          </a:p>
        </p:txBody>
      </p:sp>
      <p:sp>
        <p:nvSpPr>
          <p:cNvPr id="24" name="Shape 22"/>
          <p:cNvSpPr/>
          <p:nvPr/>
        </p:nvSpPr>
        <p:spPr>
          <a:xfrm>
            <a:off x="3952494" y="3686175"/>
            <a:ext cx="202082" cy="95522"/>
          </a:xfrm>
          <a:prstGeom prst="line">
            <a:avLst/>
          </a:prstGeom>
          <a:noFill/>
          <a:ln w="22289">
            <a:solidFill>
              <a:srgbClr val="F5F6F7"/>
            </a:solidFill>
            <a:prstDash val="solid"/>
          </a:ln>
        </p:spPr>
        <p:txBody>
          <a:bodyPr/>
          <a:lstStyle/>
          <a:p>
            <a:endParaRPr lang="nl-NL"/>
          </a:p>
        </p:txBody>
      </p:sp>
      <p:sp>
        <p:nvSpPr>
          <p:cNvPr id="25" name="Shape 23"/>
          <p:cNvSpPr/>
          <p:nvPr/>
        </p:nvSpPr>
        <p:spPr>
          <a:xfrm>
            <a:off x="4154576" y="3781697"/>
            <a:ext cx="202082" cy="86838"/>
          </a:xfrm>
          <a:prstGeom prst="line">
            <a:avLst/>
          </a:prstGeom>
          <a:noFill/>
          <a:ln w="22289">
            <a:solidFill>
              <a:srgbClr val="F5F6F7"/>
            </a:solidFill>
            <a:prstDash val="solid"/>
          </a:ln>
        </p:spPr>
        <p:txBody>
          <a:bodyPr/>
          <a:lstStyle/>
          <a:p>
            <a:endParaRPr lang="nl-NL"/>
          </a:p>
        </p:txBody>
      </p:sp>
      <p:sp>
        <p:nvSpPr>
          <p:cNvPr id="26" name="Shape 24"/>
          <p:cNvSpPr/>
          <p:nvPr/>
        </p:nvSpPr>
        <p:spPr>
          <a:xfrm>
            <a:off x="4356659" y="3868535"/>
            <a:ext cx="202082" cy="79287"/>
          </a:xfrm>
          <a:prstGeom prst="line">
            <a:avLst/>
          </a:prstGeom>
          <a:noFill/>
          <a:ln w="22289">
            <a:solidFill>
              <a:srgbClr val="F5F6F7"/>
            </a:solidFill>
            <a:prstDash val="solid"/>
          </a:ln>
        </p:spPr>
        <p:txBody>
          <a:bodyPr/>
          <a:lstStyle/>
          <a:p>
            <a:endParaRPr lang="nl-NL"/>
          </a:p>
        </p:txBody>
      </p:sp>
      <p:sp>
        <p:nvSpPr>
          <p:cNvPr id="27" name="Shape 25"/>
          <p:cNvSpPr/>
          <p:nvPr/>
        </p:nvSpPr>
        <p:spPr>
          <a:xfrm>
            <a:off x="4558741" y="3947823"/>
            <a:ext cx="202082" cy="72680"/>
          </a:xfrm>
          <a:prstGeom prst="line">
            <a:avLst/>
          </a:prstGeom>
          <a:noFill/>
          <a:ln w="22289">
            <a:solidFill>
              <a:srgbClr val="F5F6F7"/>
            </a:solidFill>
            <a:prstDash val="solid"/>
          </a:ln>
        </p:spPr>
        <p:txBody>
          <a:bodyPr/>
          <a:lstStyle/>
          <a:p>
            <a:endParaRPr lang="nl-NL"/>
          </a:p>
        </p:txBody>
      </p:sp>
      <p:sp>
        <p:nvSpPr>
          <p:cNvPr id="28" name="Shape 26"/>
          <p:cNvSpPr/>
          <p:nvPr/>
        </p:nvSpPr>
        <p:spPr>
          <a:xfrm>
            <a:off x="4760824" y="4020502"/>
            <a:ext cx="202082" cy="66866"/>
          </a:xfrm>
          <a:prstGeom prst="line">
            <a:avLst/>
          </a:prstGeom>
          <a:noFill/>
          <a:ln w="22289">
            <a:solidFill>
              <a:srgbClr val="F5F6F7"/>
            </a:solidFill>
            <a:prstDash val="solid"/>
          </a:ln>
        </p:spPr>
        <p:txBody>
          <a:bodyPr/>
          <a:lstStyle/>
          <a:p>
            <a:endParaRPr lang="nl-NL"/>
          </a:p>
        </p:txBody>
      </p:sp>
      <p:sp>
        <p:nvSpPr>
          <p:cNvPr id="29" name="Shape 27"/>
          <p:cNvSpPr/>
          <p:nvPr/>
        </p:nvSpPr>
        <p:spPr>
          <a:xfrm>
            <a:off x="4962906" y="4087368"/>
            <a:ext cx="202082" cy="61722"/>
          </a:xfrm>
          <a:prstGeom prst="line">
            <a:avLst/>
          </a:prstGeom>
          <a:noFill/>
          <a:ln w="22289">
            <a:solidFill>
              <a:srgbClr val="F5F6F7"/>
            </a:solidFill>
            <a:prstDash val="solid"/>
          </a:ln>
        </p:spPr>
        <p:txBody>
          <a:bodyPr/>
          <a:lstStyle/>
          <a:p>
            <a:endParaRPr lang="nl-NL"/>
          </a:p>
        </p:txBody>
      </p:sp>
      <p:sp>
        <p:nvSpPr>
          <p:cNvPr id="30" name="Shape 28"/>
          <p:cNvSpPr/>
          <p:nvPr/>
        </p:nvSpPr>
        <p:spPr>
          <a:xfrm>
            <a:off x="5164988" y="4149090"/>
            <a:ext cx="202082" cy="57150"/>
          </a:xfrm>
          <a:prstGeom prst="line">
            <a:avLst/>
          </a:prstGeom>
          <a:noFill/>
          <a:ln w="22289">
            <a:solidFill>
              <a:srgbClr val="F5F6F7"/>
            </a:solidFill>
            <a:prstDash val="solid"/>
          </a:ln>
        </p:spPr>
        <p:txBody>
          <a:bodyPr/>
          <a:lstStyle/>
          <a:p>
            <a:endParaRPr lang="nl-NL"/>
          </a:p>
        </p:txBody>
      </p:sp>
      <p:sp>
        <p:nvSpPr>
          <p:cNvPr id="31" name="Shape 29"/>
          <p:cNvSpPr/>
          <p:nvPr/>
        </p:nvSpPr>
        <p:spPr>
          <a:xfrm>
            <a:off x="5367071" y="4206240"/>
            <a:ext cx="202082" cy="53068"/>
          </a:xfrm>
          <a:prstGeom prst="line">
            <a:avLst/>
          </a:prstGeom>
          <a:noFill/>
          <a:ln w="22289">
            <a:solidFill>
              <a:srgbClr val="F5F6F7"/>
            </a:solidFill>
            <a:prstDash val="solid"/>
          </a:ln>
        </p:spPr>
        <p:txBody>
          <a:bodyPr/>
          <a:lstStyle/>
          <a:p>
            <a:endParaRPr lang="nl-NL"/>
          </a:p>
        </p:txBody>
      </p:sp>
      <p:sp>
        <p:nvSpPr>
          <p:cNvPr id="32" name="Shape 30"/>
          <p:cNvSpPr/>
          <p:nvPr/>
        </p:nvSpPr>
        <p:spPr>
          <a:xfrm>
            <a:off x="5569153" y="4259308"/>
            <a:ext cx="202082" cy="49408"/>
          </a:xfrm>
          <a:prstGeom prst="line">
            <a:avLst/>
          </a:prstGeom>
          <a:noFill/>
          <a:ln w="22289">
            <a:solidFill>
              <a:srgbClr val="F5F6F7"/>
            </a:solidFill>
            <a:prstDash val="solid"/>
          </a:ln>
        </p:spPr>
        <p:txBody>
          <a:bodyPr/>
          <a:lstStyle/>
          <a:p>
            <a:endParaRPr lang="nl-NL"/>
          </a:p>
        </p:txBody>
      </p:sp>
      <p:sp>
        <p:nvSpPr>
          <p:cNvPr id="33" name="Shape 31"/>
          <p:cNvSpPr/>
          <p:nvPr/>
        </p:nvSpPr>
        <p:spPr>
          <a:xfrm>
            <a:off x="5771236" y="4308716"/>
            <a:ext cx="202082" cy="46114"/>
          </a:xfrm>
          <a:prstGeom prst="line">
            <a:avLst/>
          </a:prstGeom>
          <a:noFill/>
          <a:ln w="22289">
            <a:solidFill>
              <a:srgbClr val="F5F6F7"/>
            </a:solidFill>
            <a:prstDash val="solid"/>
          </a:ln>
        </p:spPr>
        <p:txBody>
          <a:bodyPr/>
          <a:lstStyle/>
          <a:p>
            <a:endParaRPr lang="nl-NL"/>
          </a:p>
        </p:txBody>
      </p:sp>
      <p:sp>
        <p:nvSpPr>
          <p:cNvPr id="34" name="Shape 32"/>
          <p:cNvSpPr/>
          <p:nvPr/>
        </p:nvSpPr>
        <p:spPr>
          <a:xfrm>
            <a:off x="5973318" y="4354830"/>
            <a:ext cx="202082" cy="43139"/>
          </a:xfrm>
          <a:prstGeom prst="line">
            <a:avLst/>
          </a:prstGeom>
          <a:noFill/>
          <a:ln w="22289">
            <a:solidFill>
              <a:srgbClr val="F5F6F7"/>
            </a:solidFill>
            <a:prstDash val="solid"/>
          </a:ln>
        </p:spPr>
        <p:txBody>
          <a:bodyPr/>
          <a:lstStyle/>
          <a:p>
            <a:endParaRPr lang="nl-NL"/>
          </a:p>
        </p:txBody>
      </p:sp>
      <p:sp>
        <p:nvSpPr>
          <p:cNvPr id="35" name="Shape 33"/>
          <p:cNvSpPr/>
          <p:nvPr/>
        </p:nvSpPr>
        <p:spPr>
          <a:xfrm>
            <a:off x="6175400" y="4397969"/>
            <a:ext cx="202082" cy="40443"/>
          </a:xfrm>
          <a:prstGeom prst="line">
            <a:avLst/>
          </a:prstGeom>
          <a:noFill/>
          <a:ln w="22289">
            <a:solidFill>
              <a:srgbClr val="F5F6F7"/>
            </a:solidFill>
            <a:prstDash val="solid"/>
          </a:ln>
        </p:spPr>
        <p:txBody>
          <a:bodyPr/>
          <a:lstStyle/>
          <a:p>
            <a:endParaRPr lang="nl-NL"/>
          </a:p>
        </p:txBody>
      </p:sp>
      <p:sp>
        <p:nvSpPr>
          <p:cNvPr id="36" name="Shape 34"/>
          <p:cNvSpPr/>
          <p:nvPr/>
        </p:nvSpPr>
        <p:spPr>
          <a:xfrm>
            <a:off x="6377483" y="4438412"/>
            <a:ext cx="202082" cy="37992"/>
          </a:xfrm>
          <a:prstGeom prst="line">
            <a:avLst/>
          </a:prstGeom>
          <a:noFill/>
          <a:ln w="22289">
            <a:solidFill>
              <a:srgbClr val="F5F6F7"/>
            </a:solidFill>
            <a:prstDash val="solid"/>
          </a:ln>
        </p:spPr>
        <p:txBody>
          <a:bodyPr/>
          <a:lstStyle/>
          <a:p>
            <a:endParaRPr lang="nl-NL"/>
          </a:p>
        </p:txBody>
      </p:sp>
      <p:sp>
        <p:nvSpPr>
          <p:cNvPr id="37" name="Shape 35"/>
          <p:cNvSpPr/>
          <p:nvPr/>
        </p:nvSpPr>
        <p:spPr>
          <a:xfrm>
            <a:off x="6579565" y="4476404"/>
            <a:ext cx="202082" cy="35757"/>
          </a:xfrm>
          <a:prstGeom prst="line">
            <a:avLst/>
          </a:prstGeom>
          <a:noFill/>
          <a:ln w="22289">
            <a:solidFill>
              <a:srgbClr val="F5F6F7"/>
            </a:solidFill>
            <a:prstDash val="solid"/>
          </a:ln>
        </p:spPr>
        <p:txBody>
          <a:bodyPr/>
          <a:lstStyle/>
          <a:p>
            <a:endParaRPr lang="nl-NL"/>
          </a:p>
        </p:txBody>
      </p:sp>
      <p:sp>
        <p:nvSpPr>
          <p:cNvPr id="38" name="Shape 36"/>
          <p:cNvSpPr/>
          <p:nvPr/>
        </p:nvSpPr>
        <p:spPr>
          <a:xfrm>
            <a:off x="6781648" y="4512161"/>
            <a:ext cx="202082" cy="33714"/>
          </a:xfrm>
          <a:prstGeom prst="line">
            <a:avLst/>
          </a:prstGeom>
          <a:noFill/>
          <a:ln w="22289">
            <a:solidFill>
              <a:srgbClr val="F5F6F7"/>
            </a:solidFill>
            <a:prstDash val="solid"/>
          </a:ln>
        </p:spPr>
        <p:txBody>
          <a:bodyPr/>
          <a:lstStyle/>
          <a:p>
            <a:endParaRPr lang="nl-NL"/>
          </a:p>
        </p:txBody>
      </p:sp>
      <p:sp>
        <p:nvSpPr>
          <p:cNvPr id="39" name="Shape 37"/>
          <p:cNvSpPr/>
          <p:nvPr/>
        </p:nvSpPr>
        <p:spPr>
          <a:xfrm>
            <a:off x="6983730" y="4545874"/>
            <a:ext cx="202082" cy="31841"/>
          </a:xfrm>
          <a:prstGeom prst="line">
            <a:avLst/>
          </a:prstGeom>
          <a:noFill/>
          <a:ln w="22289">
            <a:solidFill>
              <a:srgbClr val="F5F6F7"/>
            </a:solidFill>
            <a:prstDash val="solid"/>
          </a:ln>
        </p:spPr>
        <p:txBody>
          <a:bodyPr/>
          <a:lstStyle/>
          <a:p>
            <a:endParaRPr lang="nl-NL"/>
          </a:p>
        </p:txBody>
      </p:sp>
      <p:sp>
        <p:nvSpPr>
          <p:cNvPr id="40" name="Shape 38"/>
          <p:cNvSpPr/>
          <p:nvPr/>
        </p:nvSpPr>
        <p:spPr>
          <a:xfrm>
            <a:off x="7185812" y="4577715"/>
            <a:ext cx="202082" cy="30120"/>
          </a:xfrm>
          <a:prstGeom prst="line">
            <a:avLst/>
          </a:prstGeom>
          <a:noFill/>
          <a:ln w="22289">
            <a:solidFill>
              <a:srgbClr val="F5F6F7"/>
            </a:solidFill>
            <a:prstDash val="solid"/>
          </a:ln>
        </p:spPr>
        <p:txBody>
          <a:bodyPr/>
          <a:lstStyle/>
          <a:p>
            <a:endParaRPr lang="nl-NL"/>
          </a:p>
        </p:txBody>
      </p:sp>
      <p:sp>
        <p:nvSpPr>
          <p:cNvPr id="41" name="Shape 39"/>
          <p:cNvSpPr/>
          <p:nvPr/>
        </p:nvSpPr>
        <p:spPr>
          <a:xfrm>
            <a:off x="7387895" y="4607835"/>
            <a:ext cx="202082" cy="28534"/>
          </a:xfrm>
          <a:prstGeom prst="line">
            <a:avLst/>
          </a:prstGeom>
          <a:noFill/>
          <a:ln w="22289">
            <a:solidFill>
              <a:srgbClr val="F5F6F7"/>
            </a:solidFill>
            <a:prstDash val="solid"/>
          </a:ln>
        </p:spPr>
        <p:txBody>
          <a:bodyPr/>
          <a:lstStyle/>
          <a:p>
            <a:endParaRPr lang="nl-NL"/>
          </a:p>
        </p:txBody>
      </p:sp>
      <p:sp>
        <p:nvSpPr>
          <p:cNvPr id="42" name="Shape 40"/>
          <p:cNvSpPr/>
          <p:nvPr/>
        </p:nvSpPr>
        <p:spPr>
          <a:xfrm>
            <a:off x="7589977" y="4636369"/>
            <a:ext cx="202082" cy="27071"/>
          </a:xfrm>
          <a:prstGeom prst="line">
            <a:avLst/>
          </a:prstGeom>
          <a:noFill/>
          <a:ln w="22289">
            <a:solidFill>
              <a:srgbClr val="F5F6F7"/>
            </a:solidFill>
            <a:prstDash val="solid"/>
          </a:ln>
        </p:spPr>
        <p:txBody>
          <a:bodyPr/>
          <a:lstStyle/>
          <a:p>
            <a:endParaRPr lang="nl-NL"/>
          </a:p>
        </p:txBody>
      </p:sp>
      <p:sp>
        <p:nvSpPr>
          <p:cNvPr id="43" name="Shape 41"/>
          <p:cNvSpPr/>
          <p:nvPr/>
        </p:nvSpPr>
        <p:spPr>
          <a:xfrm>
            <a:off x="7792060" y="4663440"/>
            <a:ext cx="202082" cy="25718"/>
          </a:xfrm>
          <a:prstGeom prst="line">
            <a:avLst/>
          </a:prstGeom>
          <a:noFill/>
          <a:ln w="22289">
            <a:solidFill>
              <a:srgbClr val="F5F6F7"/>
            </a:solidFill>
            <a:prstDash val="solid"/>
          </a:ln>
        </p:spPr>
        <p:txBody>
          <a:bodyPr/>
          <a:lstStyle/>
          <a:p>
            <a:endParaRPr lang="nl-NL"/>
          </a:p>
        </p:txBody>
      </p:sp>
      <p:sp>
        <p:nvSpPr>
          <p:cNvPr id="44" name="Text 42"/>
          <p:cNvSpPr/>
          <p:nvPr/>
        </p:nvSpPr>
        <p:spPr>
          <a:xfrm>
            <a:off x="2711767" y="5127498"/>
            <a:ext cx="460629" cy="445770"/>
          </a:xfrm>
          <a:prstGeom prst="rect">
            <a:avLst/>
          </a:prstGeom>
          <a:noFill/>
          <a:ln/>
        </p:spPr>
        <p:txBody>
          <a:bodyPr wrap="square" lIns="0" tIns="0" rIns="0" bIns="0" rtlCol="0" anchor="t">
            <a:normAutofit/>
          </a:bodyPr>
          <a:lstStyle/>
          <a:p>
            <a:pPr marL="0" indent="0" algn="ctr">
              <a:buNone/>
            </a:pPr>
            <a:r>
              <a:rPr lang="en-US" sz="1053" dirty="0">
                <a:solidFill>
                  <a:srgbClr val="BDC4C9"/>
                </a:solidFill>
                <a:latin typeface="Arial" pitchFamily="34" charset="0"/>
                <a:ea typeface="Arial" pitchFamily="34" charset="-122"/>
                <a:cs typeface="Arial" pitchFamily="34" charset="-120"/>
              </a:rPr>
              <a:t>-15%</a:t>
            </a:r>
            <a:endParaRPr lang="en-US" sz="1053" dirty="0"/>
          </a:p>
        </p:txBody>
      </p:sp>
      <p:sp>
        <p:nvSpPr>
          <p:cNvPr id="45" name="Text 43"/>
          <p:cNvSpPr/>
          <p:nvPr/>
        </p:nvSpPr>
        <p:spPr>
          <a:xfrm>
            <a:off x="3722179" y="5127498"/>
            <a:ext cx="460629" cy="445770"/>
          </a:xfrm>
          <a:prstGeom prst="rect">
            <a:avLst/>
          </a:prstGeom>
          <a:noFill/>
          <a:ln/>
        </p:spPr>
        <p:txBody>
          <a:bodyPr wrap="square" lIns="0" tIns="0" rIns="0" bIns="0" rtlCol="0" anchor="t">
            <a:normAutofit/>
          </a:bodyPr>
          <a:lstStyle/>
          <a:p>
            <a:pPr marL="0" indent="0" algn="ctr">
              <a:buNone/>
            </a:pPr>
            <a:r>
              <a:rPr lang="en-US" sz="1053" dirty="0">
                <a:solidFill>
                  <a:srgbClr val="BDC4C9"/>
                </a:solidFill>
                <a:latin typeface="Arial" pitchFamily="34" charset="0"/>
                <a:ea typeface="Arial" pitchFamily="34" charset="-122"/>
                <a:cs typeface="Arial" pitchFamily="34" charset="-120"/>
              </a:rPr>
              <a:t>-10%</a:t>
            </a:r>
            <a:endParaRPr lang="en-US" sz="1053" dirty="0"/>
          </a:p>
        </p:txBody>
      </p:sp>
      <p:sp>
        <p:nvSpPr>
          <p:cNvPr id="46" name="Text 44"/>
          <p:cNvSpPr/>
          <p:nvPr/>
        </p:nvSpPr>
        <p:spPr>
          <a:xfrm>
            <a:off x="4732592" y="5127498"/>
            <a:ext cx="460629" cy="445770"/>
          </a:xfrm>
          <a:prstGeom prst="rect">
            <a:avLst/>
          </a:prstGeom>
          <a:noFill/>
          <a:ln/>
        </p:spPr>
        <p:txBody>
          <a:bodyPr wrap="square" lIns="0" tIns="0" rIns="0" bIns="0" rtlCol="0" anchor="t">
            <a:normAutofit/>
          </a:bodyPr>
          <a:lstStyle/>
          <a:p>
            <a:pPr marL="0" indent="0" algn="ctr">
              <a:buNone/>
            </a:pPr>
            <a:r>
              <a:rPr lang="en-US" sz="1053" dirty="0">
                <a:solidFill>
                  <a:srgbClr val="BDC4C9"/>
                </a:solidFill>
                <a:latin typeface="Arial" pitchFamily="34" charset="0"/>
                <a:ea typeface="Arial" pitchFamily="34" charset="-122"/>
                <a:cs typeface="Arial" pitchFamily="34" charset="-120"/>
              </a:rPr>
              <a:t>-5%</a:t>
            </a:r>
            <a:endParaRPr lang="en-US" sz="1053" dirty="0"/>
          </a:p>
        </p:txBody>
      </p:sp>
      <p:sp>
        <p:nvSpPr>
          <p:cNvPr id="47" name="Text 45"/>
          <p:cNvSpPr/>
          <p:nvPr/>
        </p:nvSpPr>
        <p:spPr>
          <a:xfrm>
            <a:off x="5743004" y="5127498"/>
            <a:ext cx="460629" cy="445770"/>
          </a:xfrm>
          <a:prstGeom prst="rect">
            <a:avLst/>
          </a:prstGeom>
          <a:noFill/>
          <a:ln/>
        </p:spPr>
        <p:txBody>
          <a:bodyPr wrap="square" lIns="0" tIns="0" rIns="0" bIns="0" rtlCol="0" anchor="t">
            <a:normAutofit/>
          </a:bodyPr>
          <a:lstStyle/>
          <a:p>
            <a:pPr marL="0" indent="0" algn="ctr">
              <a:buNone/>
            </a:pPr>
            <a:r>
              <a:rPr lang="en-US" sz="1053" dirty="0">
                <a:solidFill>
                  <a:srgbClr val="BDC4C9"/>
                </a:solidFill>
                <a:latin typeface="Arial" pitchFamily="34" charset="0"/>
                <a:ea typeface="Arial" pitchFamily="34" charset="-122"/>
                <a:cs typeface="Arial" pitchFamily="34" charset="-120"/>
              </a:rPr>
              <a:t>+0%</a:t>
            </a:r>
            <a:endParaRPr lang="en-US" sz="1053" dirty="0"/>
          </a:p>
        </p:txBody>
      </p:sp>
      <p:sp>
        <p:nvSpPr>
          <p:cNvPr id="48" name="Text 46"/>
          <p:cNvSpPr/>
          <p:nvPr/>
        </p:nvSpPr>
        <p:spPr>
          <a:xfrm>
            <a:off x="6753416" y="5127498"/>
            <a:ext cx="460629" cy="445770"/>
          </a:xfrm>
          <a:prstGeom prst="rect">
            <a:avLst/>
          </a:prstGeom>
          <a:noFill/>
          <a:ln/>
        </p:spPr>
        <p:txBody>
          <a:bodyPr wrap="square" lIns="0" tIns="0" rIns="0" bIns="0" rtlCol="0" anchor="t">
            <a:normAutofit/>
          </a:bodyPr>
          <a:lstStyle/>
          <a:p>
            <a:pPr marL="0" indent="0" algn="ctr">
              <a:buNone/>
            </a:pPr>
            <a:r>
              <a:rPr lang="en-US" sz="1053" dirty="0">
                <a:solidFill>
                  <a:srgbClr val="BDC4C9"/>
                </a:solidFill>
                <a:latin typeface="Arial" pitchFamily="34" charset="0"/>
                <a:ea typeface="Arial" pitchFamily="34" charset="-122"/>
                <a:cs typeface="Arial" pitchFamily="34" charset="-120"/>
              </a:rPr>
              <a:t>+5%</a:t>
            </a:r>
            <a:endParaRPr lang="en-US" sz="1053" dirty="0"/>
          </a:p>
        </p:txBody>
      </p:sp>
      <p:sp>
        <p:nvSpPr>
          <p:cNvPr id="49" name="Text 47"/>
          <p:cNvSpPr/>
          <p:nvPr/>
        </p:nvSpPr>
        <p:spPr>
          <a:xfrm>
            <a:off x="7763828" y="5127498"/>
            <a:ext cx="460629" cy="445770"/>
          </a:xfrm>
          <a:prstGeom prst="rect">
            <a:avLst/>
          </a:prstGeom>
          <a:noFill/>
          <a:ln/>
        </p:spPr>
        <p:txBody>
          <a:bodyPr wrap="square" lIns="0" tIns="0" rIns="0" bIns="0" rtlCol="0" anchor="t">
            <a:normAutofit/>
          </a:bodyPr>
          <a:lstStyle/>
          <a:p>
            <a:pPr marL="0" indent="0" algn="ctr">
              <a:buNone/>
            </a:pPr>
            <a:r>
              <a:rPr lang="en-US" sz="1053" dirty="0">
                <a:solidFill>
                  <a:srgbClr val="BDC4C9"/>
                </a:solidFill>
                <a:latin typeface="Arial" pitchFamily="34" charset="0"/>
                <a:ea typeface="Arial" pitchFamily="34" charset="-122"/>
                <a:cs typeface="Arial" pitchFamily="34" charset="-120"/>
              </a:rPr>
              <a:t>+10%</a:t>
            </a:r>
            <a:endParaRPr lang="en-US" sz="1053" dirty="0"/>
          </a:p>
        </p:txBody>
      </p:sp>
      <p:sp>
        <p:nvSpPr>
          <p:cNvPr id="50" name="Shape 48"/>
          <p:cNvSpPr/>
          <p:nvPr/>
        </p:nvSpPr>
        <p:spPr>
          <a:xfrm>
            <a:off x="4910900" y="4035362"/>
            <a:ext cx="104013" cy="104013"/>
          </a:xfrm>
          <a:prstGeom prst="ellipse">
            <a:avLst/>
          </a:prstGeom>
          <a:solidFill>
            <a:srgbClr val="D71920"/>
          </a:solidFill>
          <a:ln w="12700">
            <a:solidFill>
              <a:srgbClr val="24282C">
                <a:alpha val="0"/>
              </a:srgbClr>
            </a:solidFill>
            <a:prstDash val="solid"/>
          </a:ln>
        </p:spPr>
        <p:txBody>
          <a:bodyPr/>
          <a:lstStyle/>
          <a:p>
            <a:endParaRPr lang="nl-NL"/>
          </a:p>
        </p:txBody>
      </p:sp>
      <p:sp>
        <p:nvSpPr>
          <p:cNvPr id="51" name="Shape 49"/>
          <p:cNvSpPr/>
          <p:nvPr/>
        </p:nvSpPr>
        <p:spPr>
          <a:xfrm>
            <a:off x="5921312" y="4302824"/>
            <a:ext cx="104013" cy="104013"/>
          </a:xfrm>
          <a:prstGeom prst="ellipse">
            <a:avLst/>
          </a:prstGeom>
          <a:solidFill>
            <a:srgbClr val="BDC4C9"/>
          </a:solidFill>
          <a:ln w="12700">
            <a:solidFill>
              <a:srgbClr val="24282C">
                <a:alpha val="0"/>
              </a:srgbClr>
            </a:solidFill>
            <a:prstDash val="solid"/>
          </a:ln>
        </p:spPr>
        <p:txBody>
          <a:bodyPr/>
          <a:lstStyle/>
          <a:p>
            <a:endParaRPr lang="nl-NL"/>
          </a:p>
        </p:txBody>
      </p:sp>
      <p:sp>
        <p:nvSpPr>
          <p:cNvPr id="52" name="Text 50"/>
          <p:cNvSpPr/>
          <p:nvPr/>
        </p:nvSpPr>
        <p:spPr>
          <a:xfrm>
            <a:off x="2942082" y="2675763"/>
            <a:ext cx="3194685" cy="445770"/>
          </a:xfrm>
          <a:prstGeom prst="rect">
            <a:avLst/>
          </a:prstGeom>
          <a:noFill/>
          <a:ln/>
        </p:spPr>
        <p:txBody>
          <a:bodyPr wrap="square" lIns="0" tIns="0" rIns="0" bIns="0" rtlCol="0" anchor="t">
            <a:normAutofit/>
          </a:bodyPr>
          <a:lstStyle/>
          <a:p>
            <a:pPr marL="0" indent="0" algn="l">
              <a:buNone/>
            </a:pPr>
            <a:r>
              <a:rPr lang="en-US" sz="1229" dirty="0">
                <a:solidFill>
                  <a:srgbClr val="BDC4C9"/>
                </a:solidFill>
                <a:latin typeface="Arial" pitchFamily="34" charset="0"/>
                <a:ea typeface="Arial" pitchFamily="34" charset="-122"/>
                <a:cs typeface="Arial" pitchFamily="34" charset="-120"/>
              </a:rPr>
              <a:t>Required quantity</a:t>
            </a:r>
            <a:endParaRPr lang="en-US" sz="1229" dirty="0"/>
          </a:p>
        </p:txBody>
      </p:sp>
      <p:sp>
        <p:nvSpPr>
          <p:cNvPr id="53" name="Text 51"/>
          <p:cNvSpPr/>
          <p:nvPr/>
        </p:nvSpPr>
        <p:spPr>
          <a:xfrm>
            <a:off x="4688015" y="5417249"/>
            <a:ext cx="2563178" cy="445770"/>
          </a:xfrm>
          <a:prstGeom prst="rect">
            <a:avLst/>
          </a:prstGeom>
          <a:noFill/>
          <a:ln/>
        </p:spPr>
        <p:txBody>
          <a:bodyPr wrap="square" lIns="0" tIns="0" rIns="0" bIns="0" rtlCol="0" anchor="t">
            <a:normAutofit/>
          </a:bodyPr>
          <a:lstStyle/>
          <a:p>
            <a:pPr marL="0" indent="0" algn="ctr">
              <a:buNone/>
            </a:pPr>
            <a:r>
              <a:rPr lang="en-US" sz="1112" dirty="0">
                <a:solidFill>
                  <a:srgbClr val="BDC4C9"/>
                </a:solidFill>
                <a:latin typeface="Arial" pitchFamily="34" charset="0"/>
                <a:ea typeface="Arial" pitchFamily="34" charset="-122"/>
                <a:cs typeface="Arial" pitchFamily="34" charset="-120"/>
              </a:rPr>
              <a:t>Net price change</a:t>
            </a:r>
            <a:endParaRPr lang="en-US" sz="1112" dirty="0"/>
          </a:p>
        </p:txBody>
      </p:sp>
      <p:sp>
        <p:nvSpPr>
          <p:cNvPr id="54" name="Text 52"/>
          <p:cNvSpPr/>
          <p:nvPr/>
        </p:nvSpPr>
        <p:spPr>
          <a:xfrm>
            <a:off x="8283892" y="3418713"/>
            <a:ext cx="1419035" cy="473259"/>
          </a:xfrm>
          <a:prstGeom prst="rect">
            <a:avLst/>
          </a:prstGeom>
          <a:noFill/>
          <a:ln/>
        </p:spPr>
        <p:txBody>
          <a:bodyPr wrap="square" lIns="0" tIns="0" rIns="0" bIns="0" rtlCol="0" anchor="t">
            <a:normAutofit/>
          </a:bodyPr>
          <a:lstStyle/>
          <a:p>
            <a:pPr marL="0" indent="0" algn="l">
              <a:buNone/>
            </a:pPr>
            <a:r>
              <a:rPr lang="en-US" sz="2867" b="1" dirty="0">
                <a:solidFill>
                  <a:srgbClr val="F5F6F7"/>
                </a:solidFill>
                <a:latin typeface="Arial" pitchFamily="34" charset="0"/>
                <a:ea typeface="Arial" pitchFamily="34" charset="-122"/>
                <a:cs typeface="Arial" pitchFamily="34" charset="-120"/>
              </a:rPr>
              <a:t>120</a:t>
            </a:r>
            <a:endParaRPr lang="en-US" sz="2867" dirty="0"/>
          </a:p>
        </p:txBody>
      </p:sp>
      <p:sp>
        <p:nvSpPr>
          <p:cNvPr id="55" name="Text 53"/>
          <p:cNvSpPr/>
          <p:nvPr/>
        </p:nvSpPr>
        <p:spPr>
          <a:xfrm>
            <a:off x="8283892" y="3864483"/>
            <a:ext cx="1419035" cy="445770"/>
          </a:xfrm>
          <a:prstGeom prst="rect">
            <a:avLst/>
          </a:prstGeom>
          <a:noFill/>
          <a:ln/>
        </p:spPr>
        <p:txBody>
          <a:bodyPr wrap="square" lIns="0" tIns="0" rIns="0" bIns="0" rtlCol="0" anchor="t">
            <a:normAutofit/>
          </a:bodyPr>
          <a:lstStyle/>
          <a:p>
            <a:pPr marL="0" indent="0" algn="l">
              <a:buNone/>
            </a:pPr>
            <a:r>
              <a:rPr lang="en-US" sz="1346" dirty="0">
                <a:solidFill>
                  <a:srgbClr val="BDC4C9"/>
                </a:solidFill>
                <a:latin typeface="Arial" pitchFamily="34" charset="0"/>
                <a:ea typeface="Arial" pitchFamily="34" charset="-122"/>
                <a:cs typeface="Arial" pitchFamily="34" charset="-120"/>
              </a:rPr>
              <a:t>units at a</a:t>
            </a:r>
            <a:endParaRPr lang="en-US" sz="1346" dirty="0"/>
          </a:p>
          <a:p>
            <a:pPr marL="0" indent="0" algn="l">
              <a:buNone/>
            </a:pPr>
            <a:r>
              <a:rPr lang="en-US" sz="1346" dirty="0">
                <a:solidFill>
                  <a:srgbClr val="BDC4C9"/>
                </a:solidFill>
                <a:latin typeface="Arial" pitchFamily="34" charset="0"/>
                <a:ea typeface="Arial" pitchFamily="34" charset="-122"/>
                <a:cs typeface="Arial" pitchFamily="34" charset="-120"/>
              </a:rPr>
              <a:t>5% lower price</a:t>
            </a:r>
            <a:endParaRPr lang="en-US" sz="1346" dirty="0"/>
          </a:p>
        </p:txBody>
      </p:sp>
      <p:sp>
        <p:nvSpPr>
          <p:cNvPr id="56" name="Text 54"/>
          <p:cNvSpPr/>
          <p:nvPr/>
        </p:nvSpPr>
        <p:spPr>
          <a:xfrm>
            <a:off x="8283892" y="4614863"/>
            <a:ext cx="1456182" cy="445770"/>
          </a:xfrm>
          <a:prstGeom prst="rect">
            <a:avLst/>
          </a:prstGeom>
          <a:noFill/>
          <a:ln/>
        </p:spPr>
        <p:txBody>
          <a:bodyPr wrap="square" lIns="0" tIns="0" rIns="0" bIns="0" rtlCol="0" anchor="t">
            <a:normAutofit/>
          </a:bodyPr>
          <a:lstStyle/>
          <a:p>
            <a:pPr marL="0" indent="0" algn="l">
              <a:buNone/>
            </a:pPr>
            <a:r>
              <a:rPr lang="en-US" sz="1170" b="1" dirty="0">
                <a:solidFill>
                  <a:srgbClr val="F5F6F7"/>
                </a:solidFill>
                <a:latin typeface="Arial" pitchFamily="34" charset="0"/>
                <a:ea typeface="Arial" pitchFamily="34" charset="-122"/>
                <a:cs typeface="Arial" pitchFamily="34" charset="-120"/>
              </a:rPr>
              <a:t>A threshold,</a:t>
            </a:r>
            <a:endParaRPr lang="en-US" sz="1170" dirty="0"/>
          </a:p>
          <a:p>
            <a:pPr marL="0" indent="0" algn="l">
              <a:buNone/>
            </a:pPr>
            <a:r>
              <a:rPr lang="en-US" sz="1170" b="1" dirty="0">
                <a:solidFill>
                  <a:srgbClr val="F5F6F7"/>
                </a:solidFill>
                <a:latin typeface="Arial" pitchFamily="34" charset="0"/>
                <a:ea typeface="Arial" pitchFamily="34" charset="-122"/>
                <a:cs typeface="Arial" pitchFamily="34" charset="-120"/>
              </a:rPr>
              <a:t>not a prediction.</a:t>
            </a:r>
            <a:endParaRPr lang="en-US" sz="1170" dirty="0"/>
          </a:p>
        </p:txBody>
      </p:sp>
      <p:sp>
        <p:nvSpPr>
          <p:cNvPr id="57" name="Text 55"/>
          <p:cNvSpPr/>
          <p:nvPr/>
        </p:nvSpPr>
        <p:spPr>
          <a:xfrm>
            <a:off x="548640" y="5678424"/>
            <a:ext cx="10954512" cy="219456"/>
          </a:xfrm>
          <a:prstGeom prst="rect">
            <a:avLst/>
          </a:prstGeom>
          <a:noFill/>
          <a:ln/>
        </p:spPr>
        <p:txBody>
          <a:bodyPr wrap="square" lIns="0" tIns="0" rIns="0" bIns="0" rtlCol="0" anchor="t">
            <a:normAutofit/>
          </a:bodyPr>
          <a:lstStyle/>
          <a:p>
            <a:pPr marL="0" indent="0" algn="l">
              <a:buNone/>
            </a:pPr>
            <a:r>
              <a:rPr lang="en-US" sz="840" dirty="0">
                <a:solidFill>
                  <a:srgbClr val="BDC4C9"/>
                </a:solidFill>
                <a:latin typeface="Arial" pitchFamily="34" charset="0"/>
                <a:ea typeface="Arial" pitchFamily="34" charset="-122"/>
                <a:cs typeface="Arial" pitchFamily="34" charset="-120"/>
              </a:rPr>
              <a:t>Hypothetical mathematical threshold / baseline 100 units at EUR 100 net price, EUR 70 parts cost. No demand forecast.</a:t>
            </a:r>
            <a:endParaRPr lang="en-US" sz="840" dirty="0"/>
          </a:p>
        </p:txBody>
      </p:sp>
      <p:sp>
        <p:nvSpPr>
          <p:cNvPr id="58" name="Text 56"/>
          <p:cNvSpPr/>
          <p:nvPr/>
        </p:nvSpPr>
        <p:spPr>
          <a:xfrm>
            <a:off x="603504" y="5925312"/>
            <a:ext cx="10917936" cy="347472"/>
          </a:xfrm>
          <a:prstGeom prst="rect">
            <a:avLst/>
          </a:prstGeom>
          <a:noFill/>
          <a:ln/>
        </p:spPr>
        <p:txBody>
          <a:bodyPr wrap="square" lIns="0" tIns="0" rIns="0" bIns="0" rtlCol="0" anchor="t">
            <a:normAutofit/>
          </a:bodyPr>
          <a:lstStyle/>
          <a:p>
            <a:pPr marL="0" indent="0" algn="l">
              <a:buNone/>
            </a:pPr>
            <a:r>
              <a:rPr lang="en-US" sz="1320" dirty="0">
                <a:solidFill>
                  <a:srgbClr val="F5F6F7"/>
                </a:solidFill>
                <a:latin typeface="Arial" pitchFamily="34" charset="0"/>
                <a:ea typeface="Arial" pitchFamily="34" charset="-122"/>
                <a:cs typeface="Arial" pitchFamily="34" charset="-120"/>
              </a:rPr>
              <a:t>The chart is a mathematical sensitivity, not an estimated customer response curve.</a:t>
            </a:r>
            <a:endParaRPr lang="en-US" sz="132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24282C"/>
        </a:solidFill>
        <a:effectLst/>
      </p:bgPr>
    </p:bg>
    <p:spTree>
      <p:nvGrpSpPr>
        <p:cNvPr id="1" name=""/>
        <p:cNvGrpSpPr/>
        <p:nvPr/>
      </p:nvGrpSpPr>
      <p:grpSpPr>
        <a:xfrm>
          <a:off x="0" y="0"/>
          <a:ext cx="0" cy="0"/>
          <a:chOff x="0" y="0"/>
          <a:chExt cx="0" cy="0"/>
        </a:xfrm>
      </p:grpSpPr>
      <p:sp>
        <p:nvSpPr>
          <p:cNvPr id="2" name="Text 0"/>
          <p:cNvSpPr/>
          <p:nvPr/>
        </p:nvSpPr>
        <p:spPr>
          <a:xfrm>
            <a:off x="484632" y="173736"/>
            <a:ext cx="2743200" cy="201168"/>
          </a:xfrm>
          <a:prstGeom prst="rect">
            <a:avLst/>
          </a:prstGeom>
          <a:noFill/>
          <a:ln/>
        </p:spPr>
        <p:txBody>
          <a:bodyPr wrap="square" lIns="0" tIns="0" rIns="0" bIns="0" rtlCol="0" anchor="t">
            <a:normAutofit/>
          </a:bodyPr>
          <a:lstStyle/>
          <a:p>
            <a:pPr marL="0" indent="0" algn="l">
              <a:buNone/>
            </a:pPr>
            <a:r>
              <a:rPr lang="en-US" sz="1000" b="1" dirty="0">
                <a:solidFill>
                  <a:srgbClr val="F5F6F7"/>
                </a:solidFill>
                <a:latin typeface="Arial" pitchFamily="34" charset="0"/>
                <a:ea typeface="Arial" pitchFamily="34" charset="-122"/>
                <a:cs typeface="Arial" pitchFamily="34" charset="-120"/>
              </a:rPr>
              <a:t>ISUZU / UNIVERSE</a:t>
            </a:r>
            <a:endParaRPr lang="en-US" sz="1000" dirty="0"/>
          </a:p>
        </p:txBody>
      </p:sp>
      <p:sp>
        <p:nvSpPr>
          <p:cNvPr id="3" name="Text 1"/>
          <p:cNvSpPr/>
          <p:nvPr/>
        </p:nvSpPr>
        <p:spPr>
          <a:xfrm>
            <a:off x="8046720" y="173736"/>
            <a:ext cx="3657600" cy="201168"/>
          </a:xfrm>
          <a:prstGeom prst="rect">
            <a:avLst/>
          </a:prstGeom>
          <a:noFill/>
          <a:ln/>
        </p:spPr>
        <p:txBody>
          <a:bodyPr wrap="square" lIns="0" tIns="0" rIns="0" bIns="0" rtlCol="0" anchor="t">
            <a:normAutofit/>
          </a:bodyPr>
          <a:lstStyle/>
          <a:p>
            <a:pPr marL="0" indent="0" algn="r">
              <a:buNone/>
            </a:pPr>
            <a:r>
              <a:rPr lang="en-US" sz="900" dirty="0">
                <a:solidFill>
                  <a:srgbClr val="BDC4C9"/>
                </a:solidFill>
                <a:latin typeface="Arial" pitchFamily="34" charset="0"/>
                <a:ea typeface="Arial" pitchFamily="34" charset="-122"/>
                <a:cs typeface="Arial" pitchFamily="34" charset="-120"/>
              </a:rPr>
              <a:t>COMMERCIAL VISION  /  3.0</a:t>
            </a:r>
            <a:endParaRPr lang="en-US" sz="900" dirty="0"/>
          </a:p>
        </p:txBody>
      </p:sp>
      <p:sp>
        <p:nvSpPr>
          <p:cNvPr id="4" name="Shape 2"/>
          <p:cNvSpPr/>
          <p:nvPr/>
        </p:nvSpPr>
        <p:spPr>
          <a:xfrm>
            <a:off x="484632" y="512064"/>
            <a:ext cx="475488" cy="22860"/>
          </a:xfrm>
          <a:prstGeom prst="rect">
            <a:avLst/>
          </a:prstGeom>
          <a:solidFill>
            <a:srgbClr val="D71920"/>
          </a:solidFill>
          <a:ln w="12700">
            <a:solidFill>
              <a:srgbClr val="D71920">
                <a:alpha val="0"/>
              </a:srgbClr>
            </a:solidFill>
            <a:prstDash val="solid"/>
          </a:ln>
        </p:spPr>
        <p:txBody>
          <a:bodyPr/>
          <a:lstStyle/>
          <a:p>
            <a:endParaRPr lang="nl-NL"/>
          </a:p>
        </p:txBody>
      </p:sp>
      <p:sp>
        <p:nvSpPr>
          <p:cNvPr id="5" name="Text 3"/>
          <p:cNvSpPr/>
          <p:nvPr/>
        </p:nvSpPr>
        <p:spPr>
          <a:xfrm>
            <a:off x="484632" y="658368"/>
            <a:ext cx="11064240" cy="219456"/>
          </a:xfrm>
          <a:prstGeom prst="rect">
            <a:avLst/>
          </a:prstGeom>
          <a:noFill/>
          <a:ln/>
        </p:spPr>
        <p:txBody>
          <a:bodyPr wrap="square" lIns="0" tIns="0" rIns="0" bIns="0" rtlCol="0" anchor="t">
            <a:normAutofit/>
          </a:bodyPr>
          <a:lstStyle/>
          <a:p>
            <a:pPr marL="0" indent="0" algn="l">
              <a:buNone/>
            </a:pPr>
            <a:r>
              <a:rPr lang="en-US" sz="1000" b="1" dirty="0">
                <a:solidFill>
                  <a:srgbClr val="D71920"/>
                </a:solidFill>
                <a:latin typeface="Arial" pitchFamily="34" charset="0"/>
                <a:ea typeface="Arial" pitchFamily="34" charset="-122"/>
                <a:cs typeface="Arial" pitchFamily="34" charset="-120"/>
              </a:rPr>
              <a:t>DEAL OF THE DAY / ELIGIBLE SCOPE</a:t>
            </a:r>
            <a:endParaRPr lang="en-US" sz="1000" dirty="0"/>
          </a:p>
        </p:txBody>
      </p:sp>
      <p:sp>
        <p:nvSpPr>
          <p:cNvPr id="6" name="Shape 4"/>
          <p:cNvSpPr/>
          <p:nvPr/>
        </p:nvSpPr>
        <p:spPr>
          <a:xfrm>
            <a:off x="484632" y="6446520"/>
            <a:ext cx="11219688" cy="914"/>
          </a:xfrm>
          <a:prstGeom prst="line">
            <a:avLst/>
          </a:prstGeom>
          <a:noFill/>
          <a:ln w="6350">
            <a:solidFill>
              <a:srgbClr val="647078"/>
            </a:solidFill>
            <a:prstDash val="solid"/>
          </a:ln>
        </p:spPr>
        <p:txBody>
          <a:bodyPr/>
          <a:lstStyle/>
          <a:p>
            <a:endParaRPr lang="nl-NL"/>
          </a:p>
        </p:txBody>
      </p:sp>
      <p:sp>
        <p:nvSpPr>
          <p:cNvPr id="7" name="Text 5"/>
          <p:cNvSpPr/>
          <p:nvPr/>
        </p:nvSpPr>
        <p:spPr>
          <a:xfrm>
            <a:off x="484632" y="6556248"/>
            <a:ext cx="9144000" cy="146304"/>
          </a:xfrm>
          <a:prstGeom prst="rect">
            <a:avLst/>
          </a:prstGeom>
          <a:noFill/>
          <a:ln/>
        </p:spPr>
        <p:txBody>
          <a:bodyPr wrap="square" lIns="0" tIns="0" rIns="0" bIns="0" rtlCol="0" anchor="t">
            <a:normAutofit/>
          </a:bodyPr>
          <a:lstStyle/>
          <a:p>
            <a:pPr marL="0" indent="0" algn="l">
              <a:buNone/>
            </a:pPr>
            <a:r>
              <a:rPr lang="en-US" sz="750" dirty="0">
                <a:solidFill>
                  <a:srgbClr val="BDC4C9"/>
                </a:solidFill>
                <a:latin typeface="Arial" pitchFamily="34" charset="0"/>
                <a:ea typeface="Arial" pitchFamily="34" charset="-122"/>
                <a:cs typeface="Arial" pitchFamily="34" charset="-120"/>
              </a:rPr>
              <a:t>22 SEPTEMBER 2026  /  CONCEPT AND APPLICATION EXAMPLES</a:t>
            </a:r>
            <a:endParaRPr lang="en-US" sz="750" dirty="0"/>
          </a:p>
        </p:txBody>
      </p:sp>
      <p:sp>
        <p:nvSpPr>
          <p:cNvPr id="8" name="Text 6"/>
          <p:cNvSpPr/>
          <p:nvPr/>
        </p:nvSpPr>
        <p:spPr>
          <a:xfrm>
            <a:off x="10789920" y="6547104"/>
            <a:ext cx="914400" cy="173736"/>
          </a:xfrm>
          <a:prstGeom prst="rect">
            <a:avLst/>
          </a:prstGeom>
          <a:noFill/>
          <a:ln/>
        </p:spPr>
        <p:txBody>
          <a:bodyPr wrap="square" lIns="0" tIns="0" rIns="0" bIns="0" rtlCol="0" anchor="t">
            <a:normAutofit/>
          </a:bodyPr>
          <a:lstStyle/>
          <a:p>
            <a:pPr marL="0" indent="0" algn="r">
              <a:buNone/>
            </a:pPr>
            <a:r>
              <a:rPr lang="en-US" sz="850" dirty="0">
                <a:solidFill>
                  <a:srgbClr val="BDC4C9"/>
                </a:solidFill>
                <a:latin typeface="Arial" pitchFamily="34" charset="0"/>
                <a:ea typeface="Arial" pitchFamily="34" charset="-122"/>
                <a:cs typeface="Arial" pitchFamily="34" charset="-120"/>
              </a:rPr>
              <a:t>36 / 49</a:t>
            </a:r>
            <a:endParaRPr lang="en-US" sz="850" dirty="0"/>
          </a:p>
        </p:txBody>
      </p:sp>
      <p:sp>
        <p:nvSpPr>
          <p:cNvPr id="9" name="Text 7"/>
          <p:cNvSpPr/>
          <p:nvPr/>
        </p:nvSpPr>
        <p:spPr>
          <a:xfrm>
            <a:off x="502920" y="1005840"/>
            <a:ext cx="11036808" cy="841248"/>
          </a:xfrm>
          <a:prstGeom prst="rect">
            <a:avLst/>
          </a:prstGeom>
          <a:noFill/>
          <a:ln/>
        </p:spPr>
        <p:txBody>
          <a:bodyPr wrap="square" lIns="0" tIns="0" rIns="0" bIns="0" rtlCol="0" anchor="t">
            <a:normAutofit/>
          </a:bodyPr>
          <a:lstStyle/>
          <a:p>
            <a:pPr marL="0" indent="0" algn="l">
              <a:buNone/>
            </a:pPr>
            <a:r>
              <a:rPr lang="en-US" sz="3400" b="1" dirty="0">
                <a:solidFill>
                  <a:srgbClr val="F5F6F7"/>
                </a:solidFill>
                <a:latin typeface="Arial" pitchFamily="34" charset="0"/>
                <a:ea typeface="Arial" pitchFamily="34" charset="-122"/>
                <a:cs typeface="Arial" pitchFamily="34" charset="-120"/>
              </a:rPr>
              <a:t>Support scope changes the economics.</a:t>
            </a:r>
            <a:endParaRPr lang="en-US" sz="3400" dirty="0"/>
          </a:p>
        </p:txBody>
      </p:sp>
      <p:sp>
        <p:nvSpPr>
          <p:cNvPr id="10" name="Text 8"/>
          <p:cNvSpPr/>
          <p:nvPr/>
        </p:nvSpPr>
        <p:spPr>
          <a:xfrm>
            <a:off x="530352" y="1865376"/>
            <a:ext cx="10954512" cy="566928"/>
          </a:xfrm>
          <a:prstGeom prst="rect">
            <a:avLst/>
          </a:prstGeom>
          <a:noFill/>
          <a:ln/>
        </p:spPr>
        <p:txBody>
          <a:bodyPr wrap="square" lIns="0" tIns="0" rIns="0" bIns="0" rtlCol="0" anchor="t">
            <a:normAutofit/>
          </a:bodyPr>
          <a:lstStyle/>
          <a:p>
            <a:pPr marL="0" indent="0" algn="l">
              <a:buNone/>
            </a:pPr>
            <a:r>
              <a:rPr lang="en-US" sz="1800" dirty="0">
                <a:solidFill>
                  <a:srgbClr val="BDC4C9"/>
                </a:solidFill>
                <a:latin typeface="Arial" pitchFamily="34" charset="0"/>
                <a:ea typeface="Arial" pitchFamily="34" charset="-122"/>
                <a:cs typeface="Arial" pitchFamily="34" charset="-120"/>
              </a:rPr>
              <a:t>Hypothetical comparison / the same 100 baseline units and 20 extra units.</a:t>
            </a:r>
            <a:endParaRPr lang="en-US" sz="1800" dirty="0"/>
          </a:p>
        </p:txBody>
      </p:sp>
      <p:sp>
        <p:nvSpPr>
          <p:cNvPr id="11" name="Text 9"/>
          <p:cNvSpPr/>
          <p:nvPr/>
        </p:nvSpPr>
        <p:spPr>
          <a:xfrm>
            <a:off x="1817043" y="3042993"/>
            <a:ext cx="2504803" cy="509451"/>
          </a:xfrm>
          <a:prstGeom prst="rect">
            <a:avLst/>
          </a:prstGeom>
          <a:noFill/>
          <a:ln/>
        </p:spPr>
        <p:txBody>
          <a:bodyPr wrap="square" lIns="0" tIns="0" rIns="0" bIns="0" rtlCol="0" anchor="t">
            <a:normAutofit/>
          </a:bodyPr>
          <a:lstStyle/>
          <a:p>
            <a:pPr marL="0" indent="0" algn="l">
              <a:buNone/>
            </a:pPr>
            <a:r>
              <a:rPr lang="en-US" sz="1671" b="1" dirty="0">
                <a:solidFill>
                  <a:srgbClr val="F5F6F7"/>
                </a:solidFill>
                <a:latin typeface="Arial" pitchFamily="34" charset="0"/>
                <a:ea typeface="Arial" pitchFamily="34" charset="-122"/>
                <a:cs typeface="Arial" pitchFamily="34" charset="-120"/>
              </a:rPr>
              <a:t>Discount all 120 units</a:t>
            </a:r>
            <a:endParaRPr lang="en-US" sz="1671" dirty="0"/>
          </a:p>
        </p:txBody>
      </p:sp>
      <p:sp>
        <p:nvSpPr>
          <p:cNvPr id="12" name="Shape 10"/>
          <p:cNvSpPr/>
          <p:nvPr/>
        </p:nvSpPr>
        <p:spPr>
          <a:xfrm>
            <a:off x="4449209" y="3085447"/>
            <a:ext cx="3711718" cy="483979"/>
          </a:xfrm>
          <a:prstGeom prst="roundRect">
            <a:avLst>
              <a:gd name="adj" fmla="val 7557"/>
            </a:avLst>
          </a:prstGeom>
          <a:solidFill>
            <a:srgbClr val="BDC4C9"/>
          </a:solidFill>
          <a:ln w="12700">
            <a:solidFill>
              <a:srgbClr val="24282C">
                <a:alpha val="0"/>
              </a:srgbClr>
            </a:solidFill>
            <a:prstDash val="solid"/>
          </a:ln>
        </p:spPr>
        <p:txBody>
          <a:bodyPr/>
          <a:lstStyle/>
          <a:p>
            <a:endParaRPr lang="nl-NL"/>
          </a:p>
        </p:txBody>
      </p:sp>
      <p:sp>
        <p:nvSpPr>
          <p:cNvPr id="13" name="Text 11"/>
          <p:cNvSpPr/>
          <p:nvPr/>
        </p:nvSpPr>
        <p:spPr>
          <a:xfrm>
            <a:off x="8245835" y="3187337"/>
            <a:ext cx="1528354" cy="509451"/>
          </a:xfrm>
          <a:prstGeom prst="rect">
            <a:avLst/>
          </a:prstGeom>
          <a:noFill/>
          <a:ln/>
        </p:spPr>
        <p:txBody>
          <a:bodyPr wrap="square" lIns="0" tIns="0" rIns="0" bIns="0" rtlCol="0" anchor="t">
            <a:normAutofit/>
          </a:bodyPr>
          <a:lstStyle/>
          <a:p>
            <a:pPr marL="0" indent="0" algn="l">
              <a:buNone/>
            </a:pPr>
            <a:r>
              <a:rPr lang="en-US" sz="1605" b="1" dirty="0">
                <a:solidFill>
                  <a:srgbClr val="F5F6F7"/>
                </a:solidFill>
                <a:latin typeface="Arial" pitchFamily="34" charset="0"/>
                <a:ea typeface="Arial" pitchFamily="34" charset="-122"/>
                <a:cs typeface="Arial" pitchFamily="34" charset="-120"/>
              </a:rPr>
              <a:t>EUR 3,000</a:t>
            </a:r>
            <a:endParaRPr lang="en-US" sz="1605" dirty="0"/>
          </a:p>
        </p:txBody>
      </p:sp>
      <p:sp>
        <p:nvSpPr>
          <p:cNvPr id="14" name="Text 12"/>
          <p:cNvSpPr/>
          <p:nvPr/>
        </p:nvSpPr>
        <p:spPr>
          <a:xfrm>
            <a:off x="1817043" y="4078877"/>
            <a:ext cx="2504803" cy="509451"/>
          </a:xfrm>
          <a:prstGeom prst="rect">
            <a:avLst/>
          </a:prstGeom>
          <a:noFill/>
          <a:ln/>
        </p:spPr>
        <p:txBody>
          <a:bodyPr wrap="square" lIns="0" tIns="0" rIns="0" bIns="0" rtlCol="0" anchor="t">
            <a:normAutofit/>
          </a:bodyPr>
          <a:lstStyle/>
          <a:p>
            <a:pPr marL="0" indent="0" algn="l">
              <a:buNone/>
            </a:pPr>
            <a:r>
              <a:rPr lang="en-US" sz="1671" b="1" dirty="0">
                <a:solidFill>
                  <a:srgbClr val="F5F6F7"/>
                </a:solidFill>
                <a:latin typeface="Arial" pitchFamily="34" charset="0"/>
                <a:ea typeface="Arial" pitchFamily="34" charset="-122"/>
                <a:cs typeface="Arial" pitchFamily="34" charset="-120"/>
              </a:rPr>
              <a:t>Discount extra 20 only</a:t>
            </a:r>
            <a:endParaRPr lang="en-US" sz="1671" dirty="0"/>
          </a:p>
        </p:txBody>
      </p:sp>
      <p:sp>
        <p:nvSpPr>
          <p:cNvPr id="15" name="Shape 13"/>
          <p:cNvSpPr/>
          <p:nvPr/>
        </p:nvSpPr>
        <p:spPr>
          <a:xfrm>
            <a:off x="4449209" y="4121331"/>
            <a:ext cx="4330337" cy="483979"/>
          </a:xfrm>
          <a:prstGeom prst="roundRect">
            <a:avLst>
              <a:gd name="adj" fmla="val 7557"/>
            </a:avLst>
          </a:prstGeom>
          <a:solidFill>
            <a:srgbClr val="D71920"/>
          </a:solidFill>
          <a:ln w="12700">
            <a:solidFill>
              <a:srgbClr val="24282C">
                <a:alpha val="0"/>
              </a:srgbClr>
            </a:solidFill>
            <a:prstDash val="solid"/>
          </a:ln>
        </p:spPr>
        <p:txBody>
          <a:bodyPr/>
          <a:lstStyle/>
          <a:p>
            <a:endParaRPr lang="nl-NL"/>
          </a:p>
        </p:txBody>
      </p:sp>
      <p:sp>
        <p:nvSpPr>
          <p:cNvPr id="16" name="Text 14"/>
          <p:cNvSpPr/>
          <p:nvPr/>
        </p:nvSpPr>
        <p:spPr>
          <a:xfrm>
            <a:off x="8864455" y="4223222"/>
            <a:ext cx="1528354" cy="509451"/>
          </a:xfrm>
          <a:prstGeom prst="rect">
            <a:avLst/>
          </a:prstGeom>
          <a:noFill/>
          <a:ln/>
        </p:spPr>
        <p:txBody>
          <a:bodyPr wrap="square" lIns="0" tIns="0" rIns="0" bIns="0" rtlCol="0" anchor="t">
            <a:normAutofit/>
          </a:bodyPr>
          <a:lstStyle/>
          <a:p>
            <a:pPr marL="0" indent="0" algn="l">
              <a:buNone/>
            </a:pPr>
            <a:r>
              <a:rPr lang="en-US" sz="1605" b="1" dirty="0">
                <a:solidFill>
                  <a:srgbClr val="F5F6F7"/>
                </a:solidFill>
                <a:latin typeface="Arial" pitchFamily="34" charset="0"/>
                <a:ea typeface="Arial" pitchFamily="34" charset="-122"/>
                <a:cs typeface="Arial" pitchFamily="34" charset="-120"/>
              </a:rPr>
              <a:t>EUR 3,500</a:t>
            </a:r>
            <a:endParaRPr lang="en-US" sz="1605" dirty="0"/>
          </a:p>
        </p:txBody>
      </p:sp>
      <p:sp>
        <p:nvSpPr>
          <p:cNvPr id="17" name="Text 15"/>
          <p:cNvSpPr/>
          <p:nvPr/>
        </p:nvSpPr>
        <p:spPr>
          <a:xfrm>
            <a:off x="1817043" y="5233634"/>
            <a:ext cx="8490857" cy="509451"/>
          </a:xfrm>
          <a:prstGeom prst="rect">
            <a:avLst/>
          </a:prstGeom>
          <a:noFill/>
          <a:ln/>
        </p:spPr>
        <p:txBody>
          <a:bodyPr wrap="square" lIns="0" tIns="0" rIns="0" bIns="0" rtlCol="0" anchor="t">
            <a:normAutofit/>
          </a:bodyPr>
          <a:lstStyle/>
          <a:p>
            <a:pPr marL="0" indent="0" algn="l">
              <a:buNone/>
            </a:pPr>
            <a:r>
              <a:rPr lang="en-US" sz="1671" b="1" dirty="0">
                <a:solidFill>
                  <a:srgbClr val="F5F6F7"/>
                </a:solidFill>
                <a:latin typeface="Arial" pitchFamily="34" charset="0"/>
                <a:ea typeface="Arial" pitchFamily="34" charset="-122"/>
                <a:cs typeface="Arial" pitchFamily="34" charset="-120"/>
              </a:rPr>
              <a:t>EUR 500 difference in gross profit from scope alone.</a:t>
            </a:r>
            <a:endParaRPr lang="en-US" sz="1671" dirty="0"/>
          </a:p>
        </p:txBody>
      </p:sp>
      <p:sp>
        <p:nvSpPr>
          <p:cNvPr id="18" name="Text 16"/>
          <p:cNvSpPr/>
          <p:nvPr/>
        </p:nvSpPr>
        <p:spPr>
          <a:xfrm>
            <a:off x="548640" y="5678424"/>
            <a:ext cx="10954512" cy="219456"/>
          </a:xfrm>
          <a:prstGeom prst="rect">
            <a:avLst/>
          </a:prstGeom>
          <a:noFill/>
          <a:ln/>
        </p:spPr>
        <p:txBody>
          <a:bodyPr wrap="square" lIns="0" tIns="0" rIns="0" bIns="0" rtlCol="0" anchor="t">
            <a:normAutofit/>
          </a:bodyPr>
          <a:lstStyle/>
          <a:p>
            <a:pPr marL="0" indent="0" algn="l">
              <a:buNone/>
            </a:pPr>
            <a:r>
              <a:rPr lang="en-US" sz="840" dirty="0">
                <a:solidFill>
                  <a:srgbClr val="BDC4C9"/>
                </a:solidFill>
                <a:latin typeface="Arial" pitchFamily="34" charset="0"/>
                <a:ea typeface="Arial" pitchFamily="34" charset="-122"/>
                <a:cs typeface="Arial" pitchFamily="34" charset="-120"/>
              </a:rPr>
              <a:t>Hypothetical / 100 baseline units, 20 extra units, cost EUR 70. Discounted price EUR 95; original price EUR 100.</a:t>
            </a:r>
            <a:endParaRPr lang="en-US" sz="840" dirty="0"/>
          </a:p>
        </p:txBody>
      </p:sp>
      <p:sp>
        <p:nvSpPr>
          <p:cNvPr id="19" name="Text 17"/>
          <p:cNvSpPr/>
          <p:nvPr/>
        </p:nvSpPr>
        <p:spPr>
          <a:xfrm>
            <a:off x="603504" y="5925312"/>
            <a:ext cx="10917936" cy="347472"/>
          </a:xfrm>
          <a:prstGeom prst="rect">
            <a:avLst/>
          </a:prstGeom>
          <a:noFill/>
          <a:ln/>
        </p:spPr>
        <p:txBody>
          <a:bodyPr wrap="square" lIns="0" tIns="0" rIns="0" bIns="0" rtlCol="0" anchor="t">
            <a:normAutofit/>
          </a:bodyPr>
          <a:lstStyle/>
          <a:p>
            <a:pPr marL="0" indent="0" algn="l">
              <a:buNone/>
            </a:pPr>
            <a:r>
              <a:rPr lang="en-US" sz="1320" dirty="0">
                <a:solidFill>
                  <a:srgbClr val="F5F6F7"/>
                </a:solidFill>
                <a:latin typeface="Arial" pitchFamily="34" charset="0"/>
                <a:ea typeface="Arial" pitchFamily="34" charset="-122"/>
                <a:cs typeface="Arial" pitchFamily="34" charset="-120"/>
              </a:rPr>
              <a:t>The tool's contribution is to make these alternatives transparent.</a:t>
            </a:r>
            <a:endParaRPr lang="en-US" sz="132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24282C"/>
        </a:solidFill>
        <a:effectLst/>
      </p:bgPr>
    </p:bg>
    <p:spTree>
      <p:nvGrpSpPr>
        <p:cNvPr id="1" name=""/>
        <p:cNvGrpSpPr/>
        <p:nvPr/>
      </p:nvGrpSpPr>
      <p:grpSpPr>
        <a:xfrm>
          <a:off x="0" y="0"/>
          <a:ext cx="0" cy="0"/>
          <a:chOff x="0" y="0"/>
          <a:chExt cx="0" cy="0"/>
        </a:xfrm>
      </p:grpSpPr>
      <p:sp>
        <p:nvSpPr>
          <p:cNvPr id="2" name="Text 0"/>
          <p:cNvSpPr/>
          <p:nvPr/>
        </p:nvSpPr>
        <p:spPr>
          <a:xfrm>
            <a:off x="484632" y="173736"/>
            <a:ext cx="2743200" cy="201168"/>
          </a:xfrm>
          <a:prstGeom prst="rect">
            <a:avLst/>
          </a:prstGeom>
          <a:noFill/>
          <a:ln/>
        </p:spPr>
        <p:txBody>
          <a:bodyPr wrap="square" lIns="0" tIns="0" rIns="0" bIns="0" rtlCol="0" anchor="t">
            <a:normAutofit/>
          </a:bodyPr>
          <a:lstStyle/>
          <a:p>
            <a:pPr marL="0" indent="0" algn="l">
              <a:buNone/>
            </a:pPr>
            <a:r>
              <a:rPr lang="en-US" sz="1000" b="1" dirty="0">
                <a:solidFill>
                  <a:srgbClr val="F5F6F7"/>
                </a:solidFill>
                <a:latin typeface="Arial" pitchFamily="34" charset="0"/>
                <a:ea typeface="Arial" pitchFamily="34" charset="-122"/>
                <a:cs typeface="Arial" pitchFamily="34" charset="-120"/>
              </a:rPr>
              <a:t>ISUZU / UNIVERSE</a:t>
            </a:r>
            <a:endParaRPr lang="en-US" sz="1000" dirty="0"/>
          </a:p>
        </p:txBody>
      </p:sp>
      <p:sp>
        <p:nvSpPr>
          <p:cNvPr id="3" name="Text 1"/>
          <p:cNvSpPr/>
          <p:nvPr/>
        </p:nvSpPr>
        <p:spPr>
          <a:xfrm>
            <a:off x="8046720" y="173736"/>
            <a:ext cx="3657600" cy="201168"/>
          </a:xfrm>
          <a:prstGeom prst="rect">
            <a:avLst/>
          </a:prstGeom>
          <a:noFill/>
          <a:ln/>
        </p:spPr>
        <p:txBody>
          <a:bodyPr wrap="square" lIns="0" tIns="0" rIns="0" bIns="0" rtlCol="0" anchor="t">
            <a:normAutofit/>
          </a:bodyPr>
          <a:lstStyle/>
          <a:p>
            <a:pPr marL="0" indent="0" algn="r">
              <a:buNone/>
            </a:pPr>
            <a:r>
              <a:rPr lang="en-US" sz="900" dirty="0">
                <a:solidFill>
                  <a:srgbClr val="BDC4C9"/>
                </a:solidFill>
                <a:latin typeface="Arial" pitchFamily="34" charset="0"/>
                <a:ea typeface="Arial" pitchFamily="34" charset="-122"/>
                <a:cs typeface="Arial" pitchFamily="34" charset="-120"/>
              </a:rPr>
              <a:t>COMMERCIAL VISION  /  3.0</a:t>
            </a:r>
            <a:endParaRPr lang="en-US" sz="900" dirty="0"/>
          </a:p>
        </p:txBody>
      </p:sp>
      <p:sp>
        <p:nvSpPr>
          <p:cNvPr id="4" name="Shape 2"/>
          <p:cNvSpPr/>
          <p:nvPr/>
        </p:nvSpPr>
        <p:spPr>
          <a:xfrm>
            <a:off x="484632" y="512064"/>
            <a:ext cx="475488" cy="22860"/>
          </a:xfrm>
          <a:prstGeom prst="rect">
            <a:avLst/>
          </a:prstGeom>
          <a:solidFill>
            <a:srgbClr val="D71920"/>
          </a:solidFill>
          <a:ln w="12700">
            <a:solidFill>
              <a:srgbClr val="D71920">
                <a:alpha val="0"/>
              </a:srgbClr>
            </a:solidFill>
            <a:prstDash val="solid"/>
          </a:ln>
        </p:spPr>
        <p:txBody>
          <a:bodyPr/>
          <a:lstStyle/>
          <a:p>
            <a:endParaRPr lang="nl-NL"/>
          </a:p>
        </p:txBody>
      </p:sp>
      <p:sp>
        <p:nvSpPr>
          <p:cNvPr id="5" name="Text 3"/>
          <p:cNvSpPr/>
          <p:nvPr/>
        </p:nvSpPr>
        <p:spPr>
          <a:xfrm>
            <a:off x="484632" y="658368"/>
            <a:ext cx="11064240" cy="219456"/>
          </a:xfrm>
          <a:prstGeom prst="rect">
            <a:avLst/>
          </a:prstGeom>
          <a:noFill/>
          <a:ln/>
        </p:spPr>
        <p:txBody>
          <a:bodyPr wrap="square" lIns="0" tIns="0" rIns="0" bIns="0" rtlCol="0" anchor="t">
            <a:normAutofit/>
          </a:bodyPr>
          <a:lstStyle/>
          <a:p>
            <a:pPr marL="0" indent="0" algn="l">
              <a:buNone/>
            </a:pPr>
            <a:r>
              <a:rPr lang="en-US" sz="1000" b="1" dirty="0">
                <a:solidFill>
                  <a:srgbClr val="D71920"/>
                </a:solidFill>
                <a:latin typeface="Arial" pitchFamily="34" charset="0"/>
                <a:ea typeface="Arial" pitchFamily="34" charset="-122"/>
                <a:cs typeface="Arial" pitchFamily="34" charset="-120"/>
              </a:rPr>
              <a:t>DEAL OF THE DAY / RESULT</a:t>
            </a:r>
            <a:endParaRPr lang="en-US" sz="1000" dirty="0"/>
          </a:p>
        </p:txBody>
      </p:sp>
      <p:sp>
        <p:nvSpPr>
          <p:cNvPr id="6" name="Shape 4"/>
          <p:cNvSpPr/>
          <p:nvPr/>
        </p:nvSpPr>
        <p:spPr>
          <a:xfrm>
            <a:off x="484632" y="6446520"/>
            <a:ext cx="11219688" cy="914"/>
          </a:xfrm>
          <a:prstGeom prst="line">
            <a:avLst/>
          </a:prstGeom>
          <a:noFill/>
          <a:ln w="6350">
            <a:solidFill>
              <a:srgbClr val="647078"/>
            </a:solidFill>
            <a:prstDash val="solid"/>
          </a:ln>
        </p:spPr>
        <p:txBody>
          <a:bodyPr/>
          <a:lstStyle/>
          <a:p>
            <a:endParaRPr lang="nl-NL"/>
          </a:p>
        </p:txBody>
      </p:sp>
      <p:sp>
        <p:nvSpPr>
          <p:cNvPr id="7" name="Text 5"/>
          <p:cNvSpPr/>
          <p:nvPr/>
        </p:nvSpPr>
        <p:spPr>
          <a:xfrm>
            <a:off x="484632" y="6556248"/>
            <a:ext cx="9144000" cy="146304"/>
          </a:xfrm>
          <a:prstGeom prst="rect">
            <a:avLst/>
          </a:prstGeom>
          <a:noFill/>
          <a:ln/>
        </p:spPr>
        <p:txBody>
          <a:bodyPr wrap="square" lIns="0" tIns="0" rIns="0" bIns="0" rtlCol="0" anchor="t">
            <a:normAutofit/>
          </a:bodyPr>
          <a:lstStyle/>
          <a:p>
            <a:pPr marL="0" indent="0" algn="l">
              <a:buNone/>
            </a:pPr>
            <a:r>
              <a:rPr lang="en-US" sz="750" dirty="0">
                <a:solidFill>
                  <a:srgbClr val="BDC4C9"/>
                </a:solidFill>
                <a:latin typeface="Arial" pitchFamily="34" charset="0"/>
                <a:ea typeface="Arial" pitchFamily="34" charset="-122"/>
                <a:cs typeface="Arial" pitchFamily="34" charset="-120"/>
              </a:rPr>
              <a:t>22 SEPTEMBER 2026  /  CONCEPT AND APPLICATION EXAMPLES</a:t>
            </a:r>
            <a:endParaRPr lang="en-US" sz="750" dirty="0"/>
          </a:p>
        </p:txBody>
      </p:sp>
      <p:sp>
        <p:nvSpPr>
          <p:cNvPr id="8" name="Text 6"/>
          <p:cNvSpPr/>
          <p:nvPr/>
        </p:nvSpPr>
        <p:spPr>
          <a:xfrm>
            <a:off x="10789920" y="6547104"/>
            <a:ext cx="914400" cy="173736"/>
          </a:xfrm>
          <a:prstGeom prst="rect">
            <a:avLst/>
          </a:prstGeom>
          <a:noFill/>
          <a:ln/>
        </p:spPr>
        <p:txBody>
          <a:bodyPr wrap="square" lIns="0" tIns="0" rIns="0" bIns="0" rtlCol="0" anchor="t">
            <a:normAutofit/>
          </a:bodyPr>
          <a:lstStyle/>
          <a:p>
            <a:pPr marL="0" indent="0" algn="r">
              <a:buNone/>
            </a:pPr>
            <a:r>
              <a:rPr lang="en-US" sz="850" dirty="0">
                <a:solidFill>
                  <a:srgbClr val="BDC4C9"/>
                </a:solidFill>
                <a:latin typeface="Arial" pitchFamily="34" charset="0"/>
                <a:ea typeface="Arial" pitchFamily="34" charset="-122"/>
                <a:cs typeface="Arial" pitchFamily="34" charset="-120"/>
              </a:rPr>
              <a:t>37 / 49</a:t>
            </a:r>
            <a:endParaRPr lang="en-US" sz="850" dirty="0"/>
          </a:p>
        </p:txBody>
      </p:sp>
      <p:sp>
        <p:nvSpPr>
          <p:cNvPr id="9" name="Text 7"/>
          <p:cNvSpPr/>
          <p:nvPr/>
        </p:nvSpPr>
        <p:spPr>
          <a:xfrm>
            <a:off x="502920" y="1005840"/>
            <a:ext cx="11036808" cy="841248"/>
          </a:xfrm>
          <a:prstGeom prst="rect">
            <a:avLst/>
          </a:prstGeom>
          <a:noFill/>
          <a:ln/>
        </p:spPr>
        <p:txBody>
          <a:bodyPr wrap="square" lIns="0" tIns="0" rIns="0" bIns="0" rtlCol="0" anchor="t">
            <a:normAutofit/>
          </a:bodyPr>
          <a:lstStyle/>
          <a:p>
            <a:pPr marL="0" indent="0" algn="l">
              <a:buNone/>
            </a:pPr>
            <a:r>
              <a:rPr lang="en-US" sz="3400" b="1" dirty="0">
                <a:solidFill>
                  <a:srgbClr val="F5F6F7"/>
                </a:solidFill>
                <a:latin typeface="Arial" pitchFamily="34" charset="0"/>
                <a:ea typeface="Arial" pitchFamily="34" charset="-122"/>
                <a:cs typeface="Arial" pitchFamily="34" charset="-120"/>
              </a:rPr>
              <a:t>Look beyond the initial order spike.</a:t>
            </a:r>
            <a:endParaRPr lang="en-US" sz="3400" dirty="0"/>
          </a:p>
        </p:txBody>
      </p:sp>
      <p:sp>
        <p:nvSpPr>
          <p:cNvPr id="10" name="Text 8"/>
          <p:cNvSpPr/>
          <p:nvPr/>
        </p:nvSpPr>
        <p:spPr>
          <a:xfrm>
            <a:off x="530352" y="1865376"/>
            <a:ext cx="10954512" cy="566928"/>
          </a:xfrm>
          <a:prstGeom prst="rect">
            <a:avLst/>
          </a:prstGeom>
          <a:noFill/>
          <a:ln/>
        </p:spPr>
        <p:txBody>
          <a:bodyPr wrap="square" lIns="0" tIns="0" rIns="0" bIns="0" rtlCol="0" anchor="t">
            <a:normAutofit/>
          </a:bodyPr>
          <a:lstStyle/>
          <a:p>
            <a:pPr marL="0" indent="0" algn="l">
              <a:buNone/>
            </a:pPr>
            <a:r>
              <a:rPr lang="en-US" sz="1800" dirty="0">
                <a:solidFill>
                  <a:srgbClr val="BDC4C9"/>
                </a:solidFill>
                <a:latin typeface="Arial" pitchFamily="34" charset="0"/>
                <a:ea typeface="Arial" pitchFamily="34" charset="-122"/>
                <a:cs typeface="Arial" pitchFamily="34" charset="-120"/>
              </a:rPr>
              <a:t>Evaluate eligible activity over a window that can show timing, returns and repeat purchasing.</a:t>
            </a:r>
            <a:endParaRPr lang="en-US" sz="1800" dirty="0"/>
          </a:p>
        </p:txBody>
      </p:sp>
      <p:sp>
        <p:nvSpPr>
          <p:cNvPr id="11" name="Shape 9"/>
          <p:cNvSpPr/>
          <p:nvPr/>
        </p:nvSpPr>
        <p:spPr>
          <a:xfrm>
            <a:off x="1692178" y="3132896"/>
            <a:ext cx="2034372" cy="1966632"/>
          </a:xfrm>
          <a:prstGeom prst="roundRect">
            <a:avLst>
              <a:gd name="adj" fmla="val 1860"/>
            </a:avLst>
          </a:prstGeom>
          <a:solidFill>
            <a:srgbClr val="30363B"/>
          </a:solidFill>
          <a:ln w="8890">
            <a:solidFill>
              <a:srgbClr val="48525B"/>
            </a:solidFill>
            <a:prstDash val="solid"/>
          </a:ln>
        </p:spPr>
        <p:txBody>
          <a:bodyPr/>
          <a:lstStyle/>
          <a:p>
            <a:endParaRPr lang="nl-NL"/>
          </a:p>
        </p:txBody>
      </p:sp>
      <p:sp>
        <p:nvSpPr>
          <p:cNvPr id="12" name="Shape 10"/>
          <p:cNvSpPr/>
          <p:nvPr/>
        </p:nvSpPr>
        <p:spPr>
          <a:xfrm>
            <a:off x="1692178" y="3255264"/>
            <a:ext cx="34962" cy="1721896"/>
          </a:xfrm>
          <a:prstGeom prst="rect">
            <a:avLst/>
          </a:prstGeom>
          <a:solidFill>
            <a:srgbClr val="82909A"/>
          </a:solidFill>
          <a:ln w="12700">
            <a:solidFill>
              <a:srgbClr val="24282C">
                <a:alpha val="0"/>
              </a:srgbClr>
            </a:solidFill>
            <a:prstDash val="solid"/>
          </a:ln>
        </p:spPr>
        <p:txBody>
          <a:bodyPr/>
          <a:lstStyle/>
          <a:p>
            <a:endParaRPr lang="nl-NL"/>
          </a:p>
        </p:txBody>
      </p:sp>
      <p:sp>
        <p:nvSpPr>
          <p:cNvPr id="13" name="Text 11"/>
          <p:cNvSpPr/>
          <p:nvPr/>
        </p:nvSpPr>
        <p:spPr>
          <a:xfrm>
            <a:off x="1840768" y="3272745"/>
            <a:ext cx="1737192" cy="559398"/>
          </a:xfrm>
          <a:prstGeom prst="rect">
            <a:avLst/>
          </a:prstGeom>
          <a:noFill/>
          <a:ln/>
        </p:spPr>
        <p:txBody>
          <a:bodyPr wrap="square" lIns="0" tIns="0" rIns="0" bIns="0" rtlCol="0" anchor="t">
            <a:normAutofit/>
          </a:bodyPr>
          <a:lstStyle/>
          <a:p>
            <a:pPr marL="0" indent="0" algn="l">
              <a:buNone/>
            </a:pPr>
            <a:r>
              <a:rPr lang="en-US" sz="1721" b="1" dirty="0">
                <a:solidFill>
                  <a:srgbClr val="F5F6F7"/>
                </a:solidFill>
                <a:latin typeface="Arial" pitchFamily="34" charset="0"/>
                <a:ea typeface="Arial" pitchFamily="34" charset="-122"/>
                <a:cs typeface="Arial" pitchFamily="34" charset="-120"/>
              </a:rPr>
              <a:t>Before</a:t>
            </a:r>
            <a:endParaRPr lang="en-US" sz="1721" dirty="0"/>
          </a:p>
        </p:txBody>
      </p:sp>
      <p:sp>
        <p:nvSpPr>
          <p:cNvPr id="14" name="Text 12"/>
          <p:cNvSpPr/>
          <p:nvPr/>
        </p:nvSpPr>
        <p:spPr>
          <a:xfrm>
            <a:off x="1840768" y="3893327"/>
            <a:ext cx="1737192" cy="1101314"/>
          </a:xfrm>
          <a:prstGeom prst="rect">
            <a:avLst/>
          </a:prstGeom>
          <a:noFill/>
          <a:ln/>
        </p:spPr>
        <p:txBody>
          <a:bodyPr wrap="square" lIns="0" tIns="0" rIns="0" bIns="0" rtlCol="0" anchor="t">
            <a:normAutofit/>
          </a:bodyPr>
          <a:lstStyle/>
          <a:p>
            <a:pPr marL="0" indent="0" algn="l">
              <a:buNone/>
            </a:pPr>
            <a:r>
              <a:rPr lang="en-US" sz="1376" dirty="0">
                <a:solidFill>
                  <a:srgbClr val="BDC4C9"/>
                </a:solidFill>
                <a:latin typeface="Arial" pitchFamily="34" charset="0"/>
                <a:ea typeface="Arial" pitchFamily="34" charset="-122"/>
                <a:cs typeface="Arial" pitchFamily="34" charset="-120"/>
              </a:rPr>
              <a:t>The retained baseline</a:t>
            </a:r>
            <a:endParaRPr lang="en-US" sz="1376" dirty="0"/>
          </a:p>
        </p:txBody>
      </p:sp>
      <p:sp>
        <p:nvSpPr>
          <p:cNvPr id="15" name="Text 13"/>
          <p:cNvSpPr/>
          <p:nvPr/>
        </p:nvSpPr>
        <p:spPr>
          <a:xfrm>
            <a:off x="1840768" y="2835716"/>
            <a:ext cx="1737192" cy="524435"/>
          </a:xfrm>
          <a:prstGeom prst="rect">
            <a:avLst/>
          </a:prstGeom>
          <a:noFill/>
          <a:ln/>
        </p:spPr>
        <p:txBody>
          <a:bodyPr wrap="square" lIns="0" tIns="0" rIns="0" bIns="0" rtlCol="0" anchor="t">
            <a:normAutofit/>
          </a:bodyPr>
          <a:lstStyle/>
          <a:p>
            <a:pPr marL="0" indent="0" algn="l">
              <a:buNone/>
            </a:pPr>
            <a:r>
              <a:rPr lang="en-US" sz="1239" b="1" dirty="0">
                <a:solidFill>
                  <a:srgbClr val="D71920"/>
                </a:solidFill>
                <a:latin typeface="Arial" pitchFamily="34" charset="0"/>
                <a:ea typeface="Arial" pitchFamily="34" charset="-122"/>
                <a:cs typeface="Arial" pitchFamily="34" charset="-120"/>
              </a:rPr>
              <a:t>01</a:t>
            </a:r>
            <a:endParaRPr lang="en-US" sz="1239" dirty="0"/>
          </a:p>
        </p:txBody>
      </p:sp>
      <p:sp>
        <p:nvSpPr>
          <p:cNvPr id="16" name="Shape 14"/>
          <p:cNvSpPr/>
          <p:nvPr/>
        </p:nvSpPr>
        <p:spPr>
          <a:xfrm>
            <a:off x="3752772" y="4103101"/>
            <a:ext cx="148590" cy="914"/>
          </a:xfrm>
          <a:prstGeom prst="line">
            <a:avLst/>
          </a:prstGeom>
          <a:noFill/>
          <a:ln w="17481">
            <a:solidFill>
              <a:srgbClr val="D71920"/>
            </a:solidFill>
            <a:prstDash val="solid"/>
            <a:tailEnd type="triangle"/>
          </a:ln>
        </p:spPr>
        <p:txBody>
          <a:bodyPr/>
          <a:lstStyle/>
          <a:p>
            <a:endParaRPr lang="nl-NL"/>
          </a:p>
        </p:txBody>
      </p:sp>
      <p:sp>
        <p:nvSpPr>
          <p:cNvPr id="17" name="Shape 15"/>
          <p:cNvSpPr/>
          <p:nvPr/>
        </p:nvSpPr>
        <p:spPr>
          <a:xfrm>
            <a:off x="3927583" y="3132896"/>
            <a:ext cx="2034372" cy="1966632"/>
          </a:xfrm>
          <a:prstGeom prst="roundRect">
            <a:avLst>
              <a:gd name="adj" fmla="val 1860"/>
            </a:avLst>
          </a:prstGeom>
          <a:solidFill>
            <a:srgbClr val="30363B"/>
          </a:solidFill>
          <a:ln w="8890">
            <a:solidFill>
              <a:srgbClr val="48525B"/>
            </a:solidFill>
            <a:prstDash val="solid"/>
          </a:ln>
        </p:spPr>
        <p:txBody>
          <a:bodyPr/>
          <a:lstStyle/>
          <a:p>
            <a:endParaRPr lang="nl-NL"/>
          </a:p>
        </p:txBody>
      </p:sp>
      <p:sp>
        <p:nvSpPr>
          <p:cNvPr id="18" name="Shape 16"/>
          <p:cNvSpPr/>
          <p:nvPr/>
        </p:nvSpPr>
        <p:spPr>
          <a:xfrm>
            <a:off x="3927583" y="3255264"/>
            <a:ext cx="34962" cy="1721896"/>
          </a:xfrm>
          <a:prstGeom prst="rect">
            <a:avLst/>
          </a:prstGeom>
          <a:solidFill>
            <a:srgbClr val="82909A"/>
          </a:solidFill>
          <a:ln w="12700">
            <a:solidFill>
              <a:srgbClr val="24282C">
                <a:alpha val="0"/>
              </a:srgbClr>
            </a:solidFill>
            <a:prstDash val="solid"/>
          </a:ln>
        </p:spPr>
        <p:txBody>
          <a:bodyPr/>
          <a:lstStyle/>
          <a:p>
            <a:endParaRPr lang="nl-NL"/>
          </a:p>
        </p:txBody>
      </p:sp>
      <p:sp>
        <p:nvSpPr>
          <p:cNvPr id="19" name="Text 17"/>
          <p:cNvSpPr/>
          <p:nvPr/>
        </p:nvSpPr>
        <p:spPr>
          <a:xfrm>
            <a:off x="4076173" y="3272745"/>
            <a:ext cx="1737192" cy="559398"/>
          </a:xfrm>
          <a:prstGeom prst="rect">
            <a:avLst/>
          </a:prstGeom>
          <a:noFill/>
          <a:ln/>
        </p:spPr>
        <p:txBody>
          <a:bodyPr wrap="square" lIns="0" tIns="0" rIns="0" bIns="0" rtlCol="0" anchor="t">
            <a:normAutofit/>
          </a:bodyPr>
          <a:lstStyle/>
          <a:p>
            <a:pPr marL="0" indent="0" algn="l">
              <a:buNone/>
            </a:pPr>
            <a:r>
              <a:rPr lang="en-US" sz="1721" b="1" dirty="0">
                <a:solidFill>
                  <a:srgbClr val="F5F6F7"/>
                </a:solidFill>
                <a:latin typeface="Arial" pitchFamily="34" charset="0"/>
                <a:ea typeface="Arial" pitchFamily="34" charset="-122"/>
                <a:cs typeface="Arial" pitchFamily="34" charset="-120"/>
              </a:rPr>
              <a:t>During</a:t>
            </a:r>
            <a:endParaRPr lang="en-US" sz="1721" dirty="0"/>
          </a:p>
        </p:txBody>
      </p:sp>
      <p:sp>
        <p:nvSpPr>
          <p:cNvPr id="20" name="Text 18"/>
          <p:cNvSpPr/>
          <p:nvPr/>
        </p:nvSpPr>
        <p:spPr>
          <a:xfrm>
            <a:off x="4076173" y="3893327"/>
            <a:ext cx="1737192" cy="1101314"/>
          </a:xfrm>
          <a:prstGeom prst="rect">
            <a:avLst/>
          </a:prstGeom>
          <a:noFill/>
          <a:ln/>
        </p:spPr>
        <p:txBody>
          <a:bodyPr wrap="square" lIns="0" tIns="0" rIns="0" bIns="0" rtlCol="0" anchor="t">
            <a:normAutofit/>
          </a:bodyPr>
          <a:lstStyle/>
          <a:p>
            <a:pPr marL="0" indent="0" algn="l">
              <a:buNone/>
            </a:pPr>
            <a:r>
              <a:rPr lang="en-US" sz="1376" dirty="0">
                <a:solidFill>
                  <a:srgbClr val="BDC4C9"/>
                </a:solidFill>
                <a:latin typeface="Arial" pitchFamily="34" charset="0"/>
                <a:ea typeface="Arial" pitchFamily="34" charset="-122"/>
                <a:cs typeface="Arial" pitchFamily="34" charset="-120"/>
              </a:rPr>
              <a:t>Actual eligible activity</a:t>
            </a:r>
            <a:endParaRPr lang="en-US" sz="1376" dirty="0"/>
          </a:p>
        </p:txBody>
      </p:sp>
      <p:sp>
        <p:nvSpPr>
          <p:cNvPr id="21" name="Text 19"/>
          <p:cNvSpPr/>
          <p:nvPr/>
        </p:nvSpPr>
        <p:spPr>
          <a:xfrm>
            <a:off x="4076173" y="2835716"/>
            <a:ext cx="1737192" cy="524435"/>
          </a:xfrm>
          <a:prstGeom prst="rect">
            <a:avLst/>
          </a:prstGeom>
          <a:noFill/>
          <a:ln/>
        </p:spPr>
        <p:txBody>
          <a:bodyPr wrap="square" lIns="0" tIns="0" rIns="0" bIns="0" rtlCol="0" anchor="t">
            <a:normAutofit/>
          </a:bodyPr>
          <a:lstStyle/>
          <a:p>
            <a:pPr marL="0" indent="0" algn="l">
              <a:buNone/>
            </a:pPr>
            <a:r>
              <a:rPr lang="en-US" sz="1239" b="1" dirty="0">
                <a:solidFill>
                  <a:srgbClr val="D71920"/>
                </a:solidFill>
                <a:latin typeface="Arial" pitchFamily="34" charset="0"/>
                <a:ea typeface="Arial" pitchFamily="34" charset="-122"/>
                <a:cs typeface="Arial" pitchFamily="34" charset="-120"/>
              </a:rPr>
              <a:t>02</a:t>
            </a:r>
            <a:endParaRPr lang="en-US" sz="1239" dirty="0"/>
          </a:p>
        </p:txBody>
      </p:sp>
      <p:sp>
        <p:nvSpPr>
          <p:cNvPr id="22" name="Shape 20"/>
          <p:cNvSpPr/>
          <p:nvPr/>
        </p:nvSpPr>
        <p:spPr>
          <a:xfrm>
            <a:off x="5988177" y="4103101"/>
            <a:ext cx="148590" cy="914"/>
          </a:xfrm>
          <a:prstGeom prst="line">
            <a:avLst/>
          </a:prstGeom>
          <a:noFill/>
          <a:ln w="17481">
            <a:solidFill>
              <a:srgbClr val="D71920"/>
            </a:solidFill>
            <a:prstDash val="solid"/>
            <a:tailEnd type="triangle"/>
          </a:ln>
        </p:spPr>
        <p:txBody>
          <a:bodyPr/>
          <a:lstStyle/>
          <a:p>
            <a:endParaRPr lang="nl-NL"/>
          </a:p>
        </p:txBody>
      </p:sp>
      <p:sp>
        <p:nvSpPr>
          <p:cNvPr id="23" name="Shape 21"/>
          <p:cNvSpPr/>
          <p:nvPr/>
        </p:nvSpPr>
        <p:spPr>
          <a:xfrm>
            <a:off x="6162989" y="3132896"/>
            <a:ext cx="2034372" cy="1966632"/>
          </a:xfrm>
          <a:prstGeom prst="roundRect">
            <a:avLst>
              <a:gd name="adj" fmla="val 1860"/>
            </a:avLst>
          </a:prstGeom>
          <a:solidFill>
            <a:srgbClr val="30363B"/>
          </a:solidFill>
          <a:ln w="8890">
            <a:solidFill>
              <a:srgbClr val="48525B"/>
            </a:solidFill>
            <a:prstDash val="solid"/>
          </a:ln>
        </p:spPr>
        <p:txBody>
          <a:bodyPr/>
          <a:lstStyle/>
          <a:p>
            <a:endParaRPr lang="nl-NL"/>
          </a:p>
        </p:txBody>
      </p:sp>
      <p:sp>
        <p:nvSpPr>
          <p:cNvPr id="24" name="Shape 22"/>
          <p:cNvSpPr/>
          <p:nvPr/>
        </p:nvSpPr>
        <p:spPr>
          <a:xfrm>
            <a:off x="6162989" y="3255264"/>
            <a:ext cx="34962" cy="1721896"/>
          </a:xfrm>
          <a:prstGeom prst="rect">
            <a:avLst/>
          </a:prstGeom>
          <a:solidFill>
            <a:srgbClr val="82909A"/>
          </a:solidFill>
          <a:ln w="12700">
            <a:solidFill>
              <a:srgbClr val="24282C">
                <a:alpha val="0"/>
              </a:srgbClr>
            </a:solidFill>
            <a:prstDash val="solid"/>
          </a:ln>
        </p:spPr>
        <p:txBody>
          <a:bodyPr/>
          <a:lstStyle/>
          <a:p>
            <a:endParaRPr lang="nl-NL"/>
          </a:p>
        </p:txBody>
      </p:sp>
      <p:sp>
        <p:nvSpPr>
          <p:cNvPr id="25" name="Text 23"/>
          <p:cNvSpPr/>
          <p:nvPr/>
        </p:nvSpPr>
        <p:spPr>
          <a:xfrm>
            <a:off x="6311579" y="3272745"/>
            <a:ext cx="1737192" cy="559398"/>
          </a:xfrm>
          <a:prstGeom prst="rect">
            <a:avLst/>
          </a:prstGeom>
          <a:noFill/>
          <a:ln/>
        </p:spPr>
        <p:txBody>
          <a:bodyPr wrap="square" lIns="0" tIns="0" rIns="0" bIns="0" rtlCol="0" anchor="t">
            <a:normAutofit/>
          </a:bodyPr>
          <a:lstStyle/>
          <a:p>
            <a:pPr marL="0" indent="0" algn="l">
              <a:buNone/>
            </a:pPr>
            <a:r>
              <a:rPr lang="en-US" sz="1721" b="1" dirty="0">
                <a:solidFill>
                  <a:srgbClr val="F5F6F7"/>
                </a:solidFill>
                <a:latin typeface="Arial" pitchFamily="34" charset="0"/>
                <a:ea typeface="Arial" pitchFamily="34" charset="-122"/>
                <a:cs typeface="Arial" pitchFamily="34" charset="-120"/>
              </a:rPr>
              <a:t>After</a:t>
            </a:r>
            <a:endParaRPr lang="en-US" sz="1721" dirty="0"/>
          </a:p>
        </p:txBody>
      </p:sp>
      <p:sp>
        <p:nvSpPr>
          <p:cNvPr id="26" name="Text 24"/>
          <p:cNvSpPr/>
          <p:nvPr/>
        </p:nvSpPr>
        <p:spPr>
          <a:xfrm>
            <a:off x="6311579" y="3893327"/>
            <a:ext cx="1737192" cy="1101314"/>
          </a:xfrm>
          <a:prstGeom prst="rect">
            <a:avLst/>
          </a:prstGeom>
          <a:noFill/>
          <a:ln/>
        </p:spPr>
        <p:txBody>
          <a:bodyPr wrap="square" lIns="0" tIns="0" rIns="0" bIns="0" rtlCol="0" anchor="t">
            <a:normAutofit/>
          </a:bodyPr>
          <a:lstStyle/>
          <a:p>
            <a:pPr marL="0" indent="0" algn="l">
              <a:buNone/>
            </a:pPr>
            <a:r>
              <a:rPr lang="en-US" sz="1376" dirty="0">
                <a:solidFill>
                  <a:srgbClr val="BDC4C9"/>
                </a:solidFill>
                <a:latin typeface="Arial" pitchFamily="34" charset="0"/>
                <a:ea typeface="Arial" pitchFamily="34" charset="-122"/>
                <a:cs typeface="Arial" pitchFamily="34" charset="-120"/>
              </a:rPr>
              <a:t>Returns and repeat purchasing</a:t>
            </a:r>
            <a:endParaRPr lang="en-US" sz="1376" dirty="0"/>
          </a:p>
        </p:txBody>
      </p:sp>
      <p:sp>
        <p:nvSpPr>
          <p:cNvPr id="27" name="Text 25"/>
          <p:cNvSpPr/>
          <p:nvPr/>
        </p:nvSpPr>
        <p:spPr>
          <a:xfrm>
            <a:off x="6311579" y="2835716"/>
            <a:ext cx="1737192" cy="524435"/>
          </a:xfrm>
          <a:prstGeom prst="rect">
            <a:avLst/>
          </a:prstGeom>
          <a:noFill/>
          <a:ln/>
        </p:spPr>
        <p:txBody>
          <a:bodyPr wrap="square" lIns="0" tIns="0" rIns="0" bIns="0" rtlCol="0" anchor="t">
            <a:normAutofit/>
          </a:bodyPr>
          <a:lstStyle/>
          <a:p>
            <a:pPr marL="0" indent="0" algn="l">
              <a:buNone/>
            </a:pPr>
            <a:r>
              <a:rPr lang="en-US" sz="1239" b="1" dirty="0">
                <a:solidFill>
                  <a:srgbClr val="D71920"/>
                </a:solidFill>
                <a:latin typeface="Arial" pitchFamily="34" charset="0"/>
                <a:ea typeface="Arial" pitchFamily="34" charset="-122"/>
                <a:cs typeface="Arial" pitchFamily="34" charset="-120"/>
              </a:rPr>
              <a:t>03</a:t>
            </a:r>
            <a:endParaRPr lang="en-US" sz="1239" dirty="0"/>
          </a:p>
        </p:txBody>
      </p:sp>
      <p:sp>
        <p:nvSpPr>
          <p:cNvPr id="28" name="Shape 26"/>
          <p:cNvSpPr/>
          <p:nvPr/>
        </p:nvSpPr>
        <p:spPr>
          <a:xfrm>
            <a:off x="8223582" y="4103101"/>
            <a:ext cx="148590" cy="914"/>
          </a:xfrm>
          <a:prstGeom prst="line">
            <a:avLst/>
          </a:prstGeom>
          <a:noFill/>
          <a:ln w="17481">
            <a:solidFill>
              <a:srgbClr val="D71920"/>
            </a:solidFill>
            <a:prstDash val="solid"/>
            <a:tailEnd type="triangle"/>
          </a:ln>
        </p:spPr>
        <p:txBody>
          <a:bodyPr/>
          <a:lstStyle/>
          <a:p>
            <a:endParaRPr lang="nl-NL"/>
          </a:p>
        </p:txBody>
      </p:sp>
      <p:sp>
        <p:nvSpPr>
          <p:cNvPr id="29" name="Shape 27"/>
          <p:cNvSpPr/>
          <p:nvPr/>
        </p:nvSpPr>
        <p:spPr>
          <a:xfrm>
            <a:off x="8398394" y="3132896"/>
            <a:ext cx="2034372" cy="1966632"/>
          </a:xfrm>
          <a:prstGeom prst="roundRect">
            <a:avLst>
              <a:gd name="adj" fmla="val 1860"/>
            </a:avLst>
          </a:prstGeom>
          <a:solidFill>
            <a:srgbClr val="383F44"/>
          </a:solidFill>
          <a:ln w="8890">
            <a:solidFill>
              <a:srgbClr val="D71920"/>
            </a:solidFill>
            <a:prstDash val="solid"/>
          </a:ln>
        </p:spPr>
        <p:txBody>
          <a:bodyPr/>
          <a:lstStyle/>
          <a:p>
            <a:endParaRPr lang="nl-NL"/>
          </a:p>
        </p:txBody>
      </p:sp>
      <p:sp>
        <p:nvSpPr>
          <p:cNvPr id="30" name="Shape 28"/>
          <p:cNvSpPr/>
          <p:nvPr/>
        </p:nvSpPr>
        <p:spPr>
          <a:xfrm>
            <a:off x="8398394" y="3255264"/>
            <a:ext cx="34962" cy="1721896"/>
          </a:xfrm>
          <a:prstGeom prst="rect">
            <a:avLst/>
          </a:prstGeom>
          <a:solidFill>
            <a:srgbClr val="D71920"/>
          </a:solidFill>
          <a:ln w="12700">
            <a:solidFill>
              <a:srgbClr val="24282C">
                <a:alpha val="0"/>
              </a:srgbClr>
            </a:solidFill>
            <a:prstDash val="solid"/>
          </a:ln>
        </p:spPr>
        <p:txBody>
          <a:bodyPr/>
          <a:lstStyle/>
          <a:p>
            <a:endParaRPr lang="nl-NL"/>
          </a:p>
        </p:txBody>
      </p:sp>
      <p:sp>
        <p:nvSpPr>
          <p:cNvPr id="31" name="Text 29"/>
          <p:cNvSpPr/>
          <p:nvPr/>
        </p:nvSpPr>
        <p:spPr>
          <a:xfrm>
            <a:off x="8546984" y="3272745"/>
            <a:ext cx="1737192" cy="559398"/>
          </a:xfrm>
          <a:prstGeom prst="rect">
            <a:avLst/>
          </a:prstGeom>
          <a:noFill/>
          <a:ln/>
        </p:spPr>
        <p:txBody>
          <a:bodyPr wrap="square" lIns="0" tIns="0" rIns="0" bIns="0" rtlCol="0" anchor="t">
            <a:normAutofit/>
          </a:bodyPr>
          <a:lstStyle/>
          <a:p>
            <a:pPr marL="0" indent="0" algn="l">
              <a:buNone/>
            </a:pPr>
            <a:r>
              <a:rPr lang="en-US" sz="1721" b="1" dirty="0">
                <a:solidFill>
                  <a:srgbClr val="F5F6F7"/>
                </a:solidFill>
                <a:latin typeface="Arial" pitchFamily="34" charset="0"/>
                <a:ea typeface="Arial" pitchFamily="34" charset="-122"/>
                <a:cs typeface="Arial" pitchFamily="34" charset="-120"/>
              </a:rPr>
              <a:t>Interpret</a:t>
            </a:r>
            <a:endParaRPr lang="en-US" sz="1721" dirty="0"/>
          </a:p>
        </p:txBody>
      </p:sp>
      <p:sp>
        <p:nvSpPr>
          <p:cNvPr id="32" name="Text 30"/>
          <p:cNvSpPr/>
          <p:nvPr/>
        </p:nvSpPr>
        <p:spPr>
          <a:xfrm>
            <a:off x="8546984" y="3893327"/>
            <a:ext cx="1737192" cy="1101314"/>
          </a:xfrm>
          <a:prstGeom prst="rect">
            <a:avLst/>
          </a:prstGeom>
          <a:noFill/>
          <a:ln/>
        </p:spPr>
        <p:txBody>
          <a:bodyPr wrap="square" lIns="0" tIns="0" rIns="0" bIns="0" rtlCol="0" anchor="t">
            <a:normAutofit/>
          </a:bodyPr>
          <a:lstStyle/>
          <a:p>
            <a:pPr marL="0" indent="0" algn="l">
              <a:buNone/>
            </a:pPr>
            <a:r>
              <a:rPr lang="en-US" sz="1376" dirty="0">
                <a:solidFill>
                  <a:srgbClr val="BDC4C9"/>
                </a:solidFill>
                <a:latin typeface="Arial" pitchFamily="34" charset="0"/>
                <a:ea typeface="Arial" pitchFamily="34" charset="-122"/>
                <a:cs typeface="Arial" pitchFamily="34" charset="-120"/>
              </a:rPr>
              <a:t>Timing, mix and other changes</a:t>
            </a:r>
            <a:endParaRPr lang="en-US" sz="1376" dirty="0"/>
          </a:p>
        </p:txBody>
      </p:sp>
      <p:sp>
        <p:nvSpPr>
          <p:cNvPr id="33" name="Text 31"/>
          <p:cNvSpPr/>
          <p:nvPr/>
        </p:nvSpPr>
        <p:spPr>
          <a:xfrm>
            <a:off x="8546984" y="2835716"/>
            <a:ext cx="1737192" cy="524435"/>
          </a:xfrm>
          <a:prstGeom prst="rect">
            <a:avLst/>
          </a:prstGeom>
          <a:noFill/>
          <a:ln/>
        </p:spPr>
        <p:txBody>
          <a:bodyPr wrap="square" lIns="0" tIns="0" rIns="0" bIns="0" rtlCol="0" anchor="t">
            <a:normAutofit/>
          </a:bodyPr>
          <a:lstStyle/>
          <a:p>
            <a:pPr marL="0" indent="0" algn="l">
              <a:buNone/>
            </a:pPr>
            <a:r>
              <a:rPr lang="en-US" sz="1239" b="1" dirty="0">
                <a:solidFill>
                  <a:srgbClr val="D71920"/>
                </a:solidFill>
                <a:latin typeface="Arial" pitchFamily="34" charset="0"/>
                <a:ea typeface="Arial" pitchFamily="34" charset="-122"/>
                <a:cs typeface="Arial" pitchFamily="34" charset="-120"/>
              </a:rPr>
              <a:t>04</a:t>
            </a:r>
            <a:endParaRPr lang="en-US" sz="1239" dirty="0"/>
          </a:p>
        </p:txBody>
      </p:sp>
      <p:sp>
        <p:nvSpPr>
          <p:cNvPr id="34" name="Text 32"/>
          <p:cNvSpPr/>
          <p:nvPr/>
        </p:nvSpPr>
        <p:spPr>
          <a:xfrm>
            <a:off x="548640" y="5678424"/>
            <a:ext cx="10954512" cy="219456"/>
          </a:xfrm>
          <a:prstGeom prst="rect">
            <a:avLst/>
          </a:prstGeom>
          <a:noFill/>
          <a:ln/>
        </p:spPr>
        <p:txBody>
          <a:bodyPr wrap="square" lIns="0" tIns="0" rIns="0" bIns="0" rtlCol="0" anchor="t">
            <a:normAutofit/>
          </a:bodyPr>
          <a:lstStyle/>
          <a:p>
            <a:pPr marL="0" indent="0" algn="l">
              <a:buNone/>
            </a:pPr>
            <a:r>
              <a:rPr lang="en-US" sz="840" dirty="0">
                <a:solidFill>
                  <a:srgbClr val="BDC4C9"/>
                </a:solidFill>
                <a:latin typeface="Arial" pitchFamily="34" charset="0"/>
                <a:ea typeface="Arial" pitchFamily="34" charset="-122"/>
                <a:cs typeface="Arial" pitchFamily="34" charset="-120"/>
              </a:rPr>
              <a:t>Proposed sequence / each stage retains its own evidence and decision.</a:t>
            </a:r>
            <a:endParaRPr lang="en-US" sz="840" dirty="0"/>
          </a:p>
        </p:txBody>
      </p:sp>
      <p:sp>
        <p:nvSpPr>
          <p:cNvPr id="35" name="Text 33"/>
          <p:cNvSpPr/>
          <p:nvPr/>
        </p:nvSpPr>
        <p:spPr>
          <a:xfrm>
            <a:off x="603504" y="5925312"/>
            <a:ext cx="10917936" cy="347472"/>
          </a:xfrm>
          <a:prstGeom prst="rect">
            <a:avLst/>
          </a:prstGeom>
          <a:noFill/>
          <a:ln/>
        </p:spPr>
        <p:txBody>
          <a:bodyPr wrap="square" lIns="0" tIns="0" rIns="0" bIns="0" rtlCol="0" anchor="t">
            <a:normAutofit/>
          </a:bodyPr>
          <a:lstStyle/>
          <a:p>
            <a:pPr marL="0" indent="0" algn="l">
              <a:buNone/>
            </a:pPr>
            <a:r>
              <a:rPr lang="en-US" sz="1320" dirty="0">
                <a:solidFill>
                  <a:srgbClr val="F5F6F7"/>
                </a:solidFill>
                <a:latin typeface="Arial" pitchFamily="34" charset="0"/>
                <a:ea typeface="Arial" pitchFamily="34" charset="-122"/>
                <a:cs typeface="Arial" pitchFamily="34" charset="-120"/>
              </a:rPr>
              <a:t>The participant should receive a practical conclusion: repeat the approach, narrow the audience, change the offer or stop.</a:t>
            </a:r>
            <a:endParaRPr lang="en-US" sz="132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24282C"/>
        </a:solidFill>
        <a:effectLst/>
      </p:bgPr>
    </p:bg>
    <p:spTree>
      <p:nvGrpSpPr>
        <p:cNvPr id="1" name=""/>
        <p:cNvGrpSpPr/>
        <p:nvPr/>
      </p:nvGrpSpPr>
      <p:grpSpPr>
        <a:xfrm>
          <a:off x="0" y="0"/>
          <a:ext cx="0" cy="0"/>
          <a:chOff x="0" y="0"/>
          <a:chExt cx="0" cy="0"/>
        </a:xfrm>
      </p:grpSpPr>
      <p:sp>
        <p:nvSpPr>
          <p:cNvPr id="2" name="Text 0"/>
          <p:cNvSpPr/>
          <p:nvPr/>
        </p:nvSpPr>
        <p:spPr>
          <a:xfrm>
            <a:off x="484632" y="173736"/>
            <a:ext cx="2743200" cy="201168"/>
          </a:xfrm>
          <a:prstGeom prst="rect">
            <a:avLst/>
          </a:prstGeom>
          <a:noFill/>
          <a:ln/>
        </p:spPr>
        <p:txBody>
          <a:bodyPr wrap="square" lIns="0" tIns="0" rIns="0" bIns="0" rtlCol="0" anchor="t">
            <a:normAutofit/>
          </a:bodyPr>
          <a:lstStyle/>
          <a:p>
            <a:pPr marL="0" indent="0" algn="l">
              <a:buNone/>
            </a:pPr>
            <a:r>
              <a:rPr lang="en-US" sz="1000" b="1" dirty="0">
                <a:solidFill>
                  <a:srgbClr val="F5F6F7"/>
                </a:solidFill>
                <a:latin typeface="Arial" pitchFamily="34" charset="0"/>
                <a:ea typeface="Arial" pitchFamily="34" charset="-122"/>
                <a:cs typeface="Arial" pitchFamily="34" charset="-120"/>
              </a:rPr>
              <a:t>ISUZU / UNIVERSE</a:t>
            </a:r>
            <a:endParaRPr lang="en-US" sz="1000" dirty="0"/>
          </a:p>
        </p:txBody>
      </p:sp>
      <p:sp>
        <p:nvSpPr>
          <p:cNvPr id="3" name="Text 1"/>
          <p:cNvSpPr/>
          <p:nvPr/>
        </p:nvSpPr>
        <p:spPr>
          <a:xfrm>
            <a:off x="8046720" y="173736"/>
            <a:ext cx="3657600" cy="201168"/>
          </a:xfrm>
          <a:prstGeom prst="rect">
            <a:avLst/>
          </a:prstGeom>
          <a:noFill/>
          <a:ln/>
        </p:spPr>
        <p:txBody>
          <a:bodyPr wrap="square" lIns="0" tIns="0" rIns="0" bIns="0" rtlCol="0" anchor="t">
            <a:normAutofit/>
          </a:bodyPr>
          <a:lstStyle/>
          <a:p>
            <a:pPr marL="0" indent="0" algn="r">
              <a:buNone/>
            </a:pPr>
            <a:r>
              <a:rPr lang="en-US" sz="900" dirty="0">
                <a:solidFill>
                  <a:srgbClr val="BDC4C9"/>
                </a:solidFill>
                <a:latin typeface="Arial" pitchFamily="34" charset="0"/>
                <a:ea typeface="Arial" pitchFamily="34" charset="-122"/>
                <a:cs typeface="Arial" pitchFamily="34" charset="-120"/>
              </a:rPr>
              <a:t>COMMERCIAL VISION  /  3.0</a:t>
            </a:r>
            <a:endParaRPr lang="en-US" sz="900" dirty="0"/>
          </a:p>
        </p:txBody>
      </p:sp>
      <p:sp>
        <p:nvSpPr>
          <p:cNvPr id="4" name="Shape 2"/>
          <p:cNvSpPr/>
          <p:nvPr/>
        </p:nvSpPr>
        <p:spPr>
          <a:xfrm>
            <a:off x="484632" y="512064"/>
            <a:ext cx="475488" cy="22860"/>
          </a:xfrm>
          <a:prstGeom prst="rect">
            <a:avLst/>
          </a:prstGeom>
          <a:solidFill>
            <a:srgbClr val="D71920"/>
          </a:solidFill>
          <a:ln w="12700">
            <a:solidFill>
              <a:srgbClr val="D71920">
                <a:alpha val="0"/>
              </a:srgbClr>
            </a:solidFill>
            <a:prstDash val="solid"/>
          </a:ln>
        </p:spPr>
        <p:txBody>
          <a:bodyPr/>
          <a:lstStyle/>
          <a:p>
            <a:endParaRPr lang="nl-NL"/>
          </a:p>
        </p:txBody>
      </p:sp>
      <p:sp>
        <p:nvSpPr>
          <p:cNvPr id="5" name="Text 3"/>
          <p:cNvSpPr/>
          <p:nvPr/>
        </p:nvSpPr>
        <p:spPr>
          <a:xfrm>
            <a:off x="484632" y="658368"/>
            <a:ext cx="11064240" cy="219456"/>
          </a:xfrm>
          <a:prstGeom prst="rect">
            <a:avLst/>
          </a:prstGeom>
          <a:noFill/>
          <a:ln/>
        </p:spPr>
        <p:txBody>
          <a:bodyPr wrap="square" lIns="0" tIns="0" rIns="0" bIns="0" rtlCol="0" anchor="t">
            <a:normAutofit/>
          </a:bodyPr>
          <a:lstStyle/>
          <a:p>
            <a:pPr marL="0" indent="0" algn="l">
              <a:buNone/>
            </a:pPr>
            <a:r>
              <a:rPr lang="en-US" sz="1000" b="1" dirty="0">
                <a:solidFill>
                  <a:srgbClr val="D71920"/>
                </a:solidFill>
                <a:latin typeface="Arial" pitchFamily="34" charset="0"/>
                <a:ea typeface="Arial" pitchFamily="34" charset="-122"/>
                <a:cs typeface="Arial" pitchFamily="34" charset="-120"/>
              </a:rPr>
              <a:t>DEAL OF THE DAY / POSITIVE DYNAMIC</a:t>
            </a:r>
            <a:endParaRPr lang="en-US" sz="1000" dirty="0"/>
          </a:p>
        </p:txBody>
      </p:sp>
      <p:sp>
        <p:nvSpPr>
          <p:cNvPr id="6" name="Shape 4"/>
          <p:cNvSpPr/>
          <p:nvPr/>
        </p:nvSpPr>
        <p:spPr>
          <a:xfrm>
            <a:off x="484632" y="6446520"/>
            <a:ext cx="11219688" cy="914"/>
          </a:xfrm>
          <a:prstGeom prst="line">
            <a:avLst/>
          </a:prstGeom>
          <a:noFill/>
          <a:ln w="6350">
            <a:solidFill>
              <a:srgbClr val="647078"/>
            </a:solidFill>
            <a:prstDash val="solid"/>
          </a:ln>
        </p:spPr>
        <p:txBody>
          <a:bodyPr/>
          <a:lstStyle/>
          <a:p>
            <a:endParaRPr lang="nl-NL"/>
          </a:p>
        </p:txBody>
      </p:sp>
      <p:sp>
        <p:nvSpPr>
          <p:cNvPr id="7" name="Text 5"/>
          <p:cNvSpPr/>
          <p:nvPr/>
        </p:nvSpPr>
        <p:spPr>
          <a:xfrm>
            <a:off x="484632" y="6556248"/>
            <a:ext cx="9144000" cy="146304"/>
          </a:xfrm>
          <a:prstGeom prst="rect">
            <a:avLst/>
          </a:prstGeom>
          <a:noFill/>
          <a:ln/>
        </p:spPr>
        <p:txBody>
          <a:bodyPr wrap="square" lIns="0" tIns="0" rIns="0" bIns="0" rtlCol="0" anchor="t">
            <a:normAutofit/>
          </a:bodyPr>
          <a:lstStyle/>
          <a:p>
            <a:pPr marL="0" indent="0" algn="l">
              <a:buNone/>
            </a:pPr>
            <a:r>
              <a:rPr lang="en-US" sz="750" dirty="0">
                <a:solidFill>
                  <a:srgbClr val="BDC4C9"/>
                </a:solidFill>
                <a:latin typeface="Arial" pitchFamily="34" charset="0"/>
                <a:ea typeface="Arial" pitchFamily="34" charset="-122"/>
                <a:cs typeface="Arial" pitchFamily="34" charset="-120"/>
              </a:rPr>
              <a:t>22 SEPTEMBER 2026  /  CONCEPT AND APPLICATION EXAMPLES</a:t>
            </a:r>
            <a:endParaRPr lang="en-US" sz="750" dirty="0"/>
          </a:p>
        </p:txBody>
      </p:sp>
      <p:sp>
        <p:nvSpPr>
          <p:cNvPr id="8" name="Text 6"/>
          <p:cNvSpPr/>
          <p:nvPr/>
        </p:nvSpPr>
        <p:spPr>
          <a:xfrm>
            <a:off x="10789920" y="6547104"/>
            <a:ext cx="914400" cy="173736"/>
          </a:xfrm>
          <a:prstGeom prst="rect">
            <a:avLst/>
          </a:prstGeom>
          <a:noFill/>
          <a:ln/>
        </p:spPr>
        <p:txBody>
          <a:bodyPr wrap="square" lIns="0" tIns="0" rIns="0" bIns="0" rtlCol="0" anchor="t">
            <a:normAutofit/>
          </a:bodyPr>
          <a:lstStyle/>
          <a:p>
            <a:pPr marL="0" indent="0" algn="r">
              <a:buNone/>
            </a:pPr>
            <a:r>
              <a:rPr lang="en-US" sz="850" dirty="0">
                <a:solidFill>
                  <a:srgbClr val="BDC4C9"/>
                </a:solidFill>
                <a:latin typeface="Arial" pitchFamily="34" charset="0"/>
                <a:ea typeface="Arial" pitchFamily="34" charset="-122"/>
                <a:cs typeface="Arial" pitchFamily="34" charset="-120"/>
              </a:rPr>
              <a:t>38 / 49</a:t>
            </a:r>
            <a:endParaRPr lang="en-US" sz="850" dirty="0"/>
          </a:p>
        </p:txBody>
      </p:sp>
      <p:sp>
        <p:nvSpPr>
          <p:cNvPr id="9" name="Text 7"/>
          <p:cNvSpPr/>
          <p:nvPr/>
        </p:nvSpPr>
        <p:spPr>
          <a:xfrm>
            <a:off x="502920" y="1005840"/>
            <a:ext cx="11036808" cy="841248"/>
          </a:xfrm>
          <a:prstGeom prst="rect">
            <a:avLst/>
          </a:prstGeom>
          <a:noFill/>
          <a:ln/>
        </p:spPr>
        <p:txBody>
          <a:bodyPr wrap="square" lIns="0" tIns="0" rIns="0" bIns="0" rtlCol="0" anchor="t">
            <a:normAutofit/>
          </a:bodyPr>
          <a:lstStyle/>
          <a:p>
            <a:pPr marL="0" indent="0" algn="l">
              <a:buNone/>
            </a:pPr>
            <a:r>
              <a:rPr lang="en-US" sz="3400" b="1" dirty="0">
                <a:solidFill>
                  <a:srgbClr val="F5F6F7"/>
                </a:solidFill>
                <a:latin typeface="Arial" pitchFamily="34" charset="0"/>
                <a:ea typeface="Arial" pitchFamily="34" charset="-122"/>
                <a:cs typeface="Arial" pitchFamily="34" charset="-120"/>
              </a:rPr>
              <a:t>Better information improves the next offer.</a:t>
            </a:r>
            <a:endParaRPr lang="en-US" sz="3400" dirty="0"/>
          </a:p>
        </p:txBody>
      </p:sp>
      <p:sp>
        <p:nvSpPr>
          <p:cNvPr id="10" name="Text 8"/>
          <p:cNvSpPr/>
          <p:nvPr/>
        </p:nvSpPr>
        <p:spPr>
          <a:xfrm>
            <a:off x="530352" y="1865376"/>
            <a:ext cx="10954512" cy="566928"/>
          </a:xfrm>
          <a:prstGeom prst="rect">
            <a:avLst/>
          </a:prstGeom>
          <a:noFill/>
          <a:ln/>
        </p:spPr>
        <p:txBody>
          <a:bodyPr wrap="square" lIns="0" tIns="0" rIns="0" bIns="0" rtlCol="0" anchor="t">
            <a:normAutofit/>
          </a:bodyPr>
          <a:lstStyle/>
          <a:p>
            <a:pPr marL="0" indent="0" algn="l">
              <a:buNone/>
            </a:pPr>
            <a:r>
              <a:rPr lang="en-US" sz="1800" dirty="0">
                <a:solidFill>
                  <a:srgbClr val="BDC4C9"/>
                </a:solidFill>
                <a:latin typeface="Arial" pitchFamily="34" charset="0"/>
                <a:ea typeface="Arial" pitchFamily="34" charset="-122"/>
                <a:cs typeface="Arial" pitchFamily="34" charset="-120"/>
              </a:rPr>
              <a:t>Repeat, adapt or stop on the evidence.</a:t>
            </a:r>
            <a:endParaRPr lang="en-US" sz="1800" dirty="0"/>
          </a:p>
        </p:txBody>
      </p:sp>
      <p:sp>
        <p:nvSpPr>
          <p:cNvPr id="11" name="Shape 9"/>
          <p:cNvSpPr/>
          <p:nvPr/>
        </p:nvSpPr>
        <p:spPr>
          <a:xfrm>
            <a:off x="7008051" y="3497180"/>
            <a:ext cx="511091" cy="187019"/>
          </a:xfrm>
          <a:prstGeom prst="line">
            <a:avLst/>
          </a:prstGeom>
          <a:noFill/>
          <a:ln w="14471">
            <a:solidFill>
              <a:srgbClr val="D71920"/>
            </a:solidFill>
            <a:prstDash val="solid"/>
            <a:tailEnd type="triangle"/>
          </a:ln>
        </p:spPr>
        <p:txBody>
          <a:bodyPr/>
          <a:lstStyle/>
          <a:p>
            <a:endParaRPr lang="nl-NL"/>
          </a:p>
        </p:txBody>
      </p:sp>
      <p:sp>
        <p:nvSpPr>
          <p:cNvPr id="12" name="Shape 10"/>
          <p:cNvSpPr/>
          <p:nvPr/>
        </p:nvSpPr>
        <p:spPr>
          <a:xfrm flipH="1">
            <a:off x="7967241" y="4592326"/>
            <a:ext cx="235210" cy="348326"/>
          </a:xfrm>
          <a:prstGeom prst="line">
            <a:avLst/>
          </a:prstGeom>
          <a:noFill/>
          <a:ln w="14471">
            <a:solidFill>
              <a:srgbClr val="D71920"/>
            </a:solidFill>
            <a:prstDash val="solid"/>
            <a:tailEnd type="triangle"/>
          </a:ln>
        </p:spPr>
        <p:txBody>
          <a:bodyPr/>
          <a:lstStyle/>
          <a:p>
            <a:endParaRPr lang="nl-NL"/>
          </a:p>
        </p:txBody>
      </p:sp>
      <p:sp>
        <p:nvSpPr>
          <p:cNvPr id="13" name="Shape 11"/>
          <p:cNvSpPr/>
          <p:nvPr/>
        </p:nvSpPr>
        <p:spPr>
          <a:xfrm flipH="1">
            <a:off x="5411260" y="5468351"/>
            <a:ext cx="1092589" cy="914"/>
          </a:xfrm>
          <a:prstGeom prst="line">
            <a:avLst/>
          </a:prstGeom>
          <a:noFill/>
          <a:ln w="14471">
            <a:solidFill>
              <a:srgbClr val="D71920"/>
            </a:solidFill>
            <a:prstDash val="solid"/>
            <a:tailEnd type="triangle"/>
          </a:ln>
        </p:spPr>
        <p:txBody>
          <a:bodyPr/>
          <a:lstStyle/>
          <a:p>
            <a:endParaRPr lang="nl-NL"/>
          </a:p>
        </p:txBody>
      </p:sp>
      <p:sp>
        <p:nvSpPr>
          <p:cNvPr id="14" name="Shape 12"/>
          <p:cNvSpPr/>
          <p:nvPr/>
        </p:nvSpPr>
        <p:spPr>
          <a:xfrm flipH="1" flipV="1">
            <a:off x="3807050" y="4614836"/>
            <a:ext cx="176668" cy="303306"/>
          </a:xfrm>
          <a:prstGeom prst="line">
            <a:avLst/>
          </a:prstGeom>
          <a:noFill/>
          <a:ln w="14471">
            <a:solidFill>
              <a:srgbClr val="D71920"/>
            </a:solidFill>
            <a:prstDash val="solid"/>
            <a:tailEnd type="triangle"/>
          </a:ln>
        </p:spPr>
        <p:txBody>
          <a:bodyPr/>
          <a:lstStyle/>
          <a:p>
            <a:endParaRPr lang="nl-NL"/>
          </a:p>
        </p:txBody>
      </p:sp>
      <p:sp>
        <p:nvSpPr>
          <p:cNvPr id="15" name="Shape 13"/>
          <p:cNvSpPr/>
          <p:nvPr/>
        </p:nvSpPr>
        <p:spPr>
          <a:xfrm flipV="1">
            <a:off x="4520767" y="3511738"/>
            <a:ext cx="413442" cy="157903"/>
          </a:xfrm>
          <a:prstGeom prst="line">
            <a:avLst/>
          </a:prstGeom>
          <a:noFill/>
          <a:ln w="14471">
            <a:solidFill>
              <a:srgbClr val="D71920"/>
            </a:solidFill>
            <a:prstDash val="solid"/>
            <a:tailEnd type="triangle"/>
          </a:ln>
        </p:spPr>
        <p:txBody>
          <a:bodyPr/>
          <a:lstStyle/>
          <a:p>
            <a:endParaRPr lang="nl-NL"/>
          </a:p>
        </p:txBody>
      </p:sp>
      <p:sp>
        <p:nvSpPr>
          <p:cNvPr id="16" name="Shape 14"/>
          <p:cNvSpPr/>
          <p:nvPr/>
        </p:nvSpPr>
        <p:spPr>
          <a:xfrm>
            <a:off x="4926469" y="2718789"/>
            <a:ext cx="2083878" cy="803161"/>
          </a:xfrm>
          <a:prstGeom prst="roundRect">
            <a:avLst>
              <a:gd name="adj" fmla="val 4554"/>
            </a:avLst>
          </a:prstGeom>
          <a:solidFill>
            <a:srgbClr val="30363B"/>
          </a:solidFill>
          <a:ln w="8890">
            <a:solidFill>
              <a:srgbClr val="D71920"/>
            </a:solidFill>
            <a:prstDash val="solid"/>
          </a:ln>
        </p:spPr>
        <p:txBody>
          <a:bodyPr/>
          <a:lstStyle/>
          <a:p>
            <a:endParaRPr lang="nl-NL"/>
          </a:p>
        </p:txBody>
      </p:sp>
      <p:sp>
        <p:nvSpPr>
          <p:cNvPr id="17" name="Text 15"/>
          <p:cNvSpPr/>
          <p:nvPr/>
        </p:nvSpPr>
        <p:spPr>
          <a:xfrm>
            <a:off x="5035004" y="2812853"/>
            <a:ext cx="1866807" cy="274956"/>
          </a:xfrm>
          <a:prstGeom prst="rect">
            <a:avLst/>
          </a:prstGeom>
          <a:noFill/>
          <a:ln/>
        </p:spPr>
        <p:txBody>
          <a:bodyPr wrap="square" lIns="0" tIns="0" rIns="0" bIns="0" rtlCol="0" anchor="t">
            <a:normAutofit/>
          </a:bodyPr>
          <a:lstStyle/>
          <a:p>
            <a:pPr marL="0" indent="0" algn="l">
              <a:buNone/>
            </a:pPr>
            <a:r>
              <a:rPr lang="en-US" sz="1310" b="1" dirty="0">
                <a:solidFill>
                  <a:srgbClr val="F5F6F7"/>
                </a:solidFill>
                <a:latin typeface="Arial" pitchFamily="34" charset="0"/>
                <a:ea typeface="Arial" pitchFamily="34" charset="-122"/>
                <a:cs typeface="Arial" pitchFamily="34" charset="-120"/>
              </a:rPr>
              <a:t>Relevant selection</a:t>
            </a:r>
            <a:endParaRPr lang="en-US" sz="1310" dirty="0"/>
          </a:p>
        </p:txBody>
      </p:sp>
      <p:sp>
        <p:nvSpPr>
          <p:cNvPr id="18" name="Text 16"/>
          <p:cNvSpPr/>
          <p:nvPr/>
        </p:nvSpPr>
        <p:spPr>
          <a:xfrm>
            <a:off x="5035004" y="3095045"/>
            <a:ext cx="1866807" cy="405198"/>
          </a:xfrm>
          <a:prstGeom prst="rect">
            <a:avLst/>
          </a:prstGeom>
          <a:noFill/>
          <a:ln/>
        </p:spPr>
        <p:txBody>
          <a:bodyPr wrap="square" lIns="0" tIns="0" rIns="0" bIns="0" rtlCol="0" anchor="t">
            <a:normAutofit/>
          </a:bodyPr>
          <a:lstStyle/>
          <a:p>
            <a:pPr marL="0" indent="0" algn="l">
              <a:buNone/>
            </a:pPr>
            <a:r>
              <a:rPr lang="en-US" sz="1026" dirty="0">
                <a:solidFill>
                  <a:srgbClr val="BDC4C9"/>
                </a:solidFill>
                <a:latin typeface="Arial" pitchFamily="34" charset="0"/>
                <a:ea typeface="Arial" pitchFamily="34" charset="-122"/>
                <a:cs typeface="Arial" pitchFamily="34" charset="-120"/>
              </a:rPr>
              <a:t>A better commercial starting point</a:t>
            </a:r>
            <a:endParaRPr lang="en-US" sz="1026" dirty="0"/>
          </a:p>
        </p:txBody>
      </p:sp>
      <p:sp>
        <p:nvSpPr>
          <p:cNvPr id="19" name="Shape 17"/>
          <p:cNvSpPr/>
          <p:nvPr/>
        </p:nvSpPr>
        <p:spPr>
          <a:xfrm>
            <a:off x="7516845" y="3666664"/>
            <a:ext cx="2083878" cy="803161"/>
          </a:xfrm>
          <a:prstGeom prst="roundRect">
            <a:avLst>
              <a:gd name="adj" fmla="val 4554"/>
            </a:avLst>
          </a:prstGeom>
          <a:solidFill>
            <a:srgbClr val="30363B"/>
          </a:solidFill>
          <a:ln w="8890">
            <a:solidFill>
              <a:srgbClr val="48525B"/>
            </a:solidFill>
            <a:prstDash val="solid"/>
          </a:ln>
        </p:spPr>
        <p:txBody>
          <a:bodyPr/>
          <a:lstStyle/>
          <a:p>
            <a:endParaRPr lang="nl-NL"/>
          </a:p>
        </p:txBody>
      </p:sp>
      <p:sp>
        <p:nvSpPr>
          <p:cNvPr id="20" name="Text 18"/>
          <p:cNvSpPr/>
          <p:nvPr/>
        </p:nvSpPr>
        <p:spPr>
          <a:xfrm>
            <a:off x="7625380" y="3760728"/>
            <a:ext cx="1866807" cy="274956"/>
          </a:xfrm>
          <a:prstGeom prst="rect">
            <a:avLst/>
          </a:prstGeom>
          <a:noFill/>
          <a:ln/>
        </p:spPr>
        <p:txBody>
          <a:bodyPr wrap="square" lIns="0" tIns="0" rIns="0" bIns="0" rtlCol="0" anchor="t">
            <a:normAutofit/>
          </a:bodyPr>
          <a:lstStyle/>
          <a:p>
            <a:pPr marL="0" indent="0" algn="l">
              <a:buNone/>
            </a:pPr>
            <a:r>
              <a:rPr lang="en-US" sz="1310" b="1" dirty="0">
                <a:solidFill>
                  <a:srgbClr val="F5F6F7"/>
                </a:solidFill>
                <a:latin typeface="Arial" pitchFamily="34" charset="0"/>
                <a:ea typeface="Arial" pitchFamily="34" charset="-122"/>
                <a:cs typeface="Arial" pitchFamily="34" charset="-120"/>
              </a:rPr>
              <a:t>Useful assistance</a:t>
            </a:r>
            <a:endParaRPr lang="en-US" sz="1310" dirty="0"/>
          </a:p>
        </p:txBody>
      </p:sp>
      <p:sp>
        <p:nvSpPr>
          <p:cNvPr id="21" name="Text 19"/>
          <p:cNvSpPr/>
          <p:nvPr/>
        </p:nvSpPr>
        <p:spPr>
          <a:xfrm>
            <a:off x="7625380" y="4042920"/>
            <a:ext cx="1866807" cy="405198"/>
          </a:xfrm>
          <a:prstGeom prst="rect">
            <a:avLst/>
          </a:prstGeom>
          <a:noFill/>
          <a:ln/>
        </p:spPr>
        <p:txBody>
          <a:bodyPr wrap="square" lIns="0" tIns="0" rIns="0" bIns="0" rtlCol="0" anchor="t">
            <a:normAutofit/>
          </a:bodyPr>
          <a:lstStyle/>
          <a:p>
            <a:pPr marL="0" indent="0" algn="l">
              <a:buNone/>
            </a:pPr>
            <a:r>
              <a:rPr lang="en-US" sz="1026" dirty="0">
                <a:solidFill>
                  <a:srgbClr val="BDC4C9"/>
                </a:solidFill>
                <a:latin typeface="Arial" pitchFamily="34" charset="0"/>
                <a:ea typeface="Arial" pitchFamily="34" charset="-122"/>
                <a:cs typeface="Arial" pitchFamily="34" charset="-120"/>
              </a:rPr>
              <a:t>Value returned to the participant</a:t>
            </a:r>
            <a:endParaRPr lang="en-US" sz="1026" dirty="0"/>
          </a:p>
        </p:txBody>
      </p:sp>
      <p:sp>
        <p:nvSpPr>
          <p:cNvPr id="22" name="Shape 20"/>
          <p:cNvSpPr/>
          <p:nvPr/>
        </p:nvSpPr>
        <p:spPr>
          <a:xfrm>
            <a:off x="6568970" y="5070388"/>
            <a:ext cx="2083878" cy="803161"/>
          </a:xfrm>
          <a:prstGeom prst="roundRect">
            <a:avLst>
              <a:gd name="adj" fmla="val 4554"/>
            </a:avLst>
          </a:prstGeom>
          <a:solidFill>
            <a:srgbClr val="30363B"/>
          </a:solidFill>
          <a:ln w="8890">
            <a:solidFill>
              <a:srgbClr val="48525B"/>
            </a:solidFill>
            <a:prstDash val="solid"/>
          </a:ln>
        </p:spPr>
        <p:txBody>
          <a:bodyPr/>
          <a:lstStyle/>
          <a:p>
            <a:endParaRPr lang="nl-NL"/>
          </a:p>
        </p:txBody>
      </p:sp>
      <p:sp>
        <p:nvSpPr>
          <p:cNvPr id="23" name="Text 21"/>
          <p:cNvSpPr/>
          <p:nvPr/>
        </p:nvSpPr>
        <p:spPr>
          <a:xfrm>
            <a:off x="6677505" y="5164452"/>
            <a:ext cx="1866807" cy="274956"/>
          </a:xfrm>
          <a:prstGeom prst="rect">
            <a:avLst/>
          </a:prstGeom>
          <a:noFill/>
          <a:ln/>
        </p:spPr>
        <p:txBody>
          <a:bodyPr wrap="square" lIns="0" tIns="0" rIns="0" bIns="0" rtlCol="0" anchor="t">
            <a:normAutofit/>
          </a:bodyPr>
          <a:lstStyle/>
          <a:p>
            <a:pPr marL="0" indent="0" algn="l">
              <a:buNone/>
            </a:pPr>
            <a:r>
              <a:rPr lang="en-US" sz="1310" b="1" dirty="0">
                <a:solidFill>
                  <a:srgbClr val="F5F6F7"/>
                </a:solidFill>
                <a:latin typeface="Arial" pitchFamily="34" charset="0"/>
                <a:ea typeface="Arial" pitchFamily="34" charset="-122"/>
                <a:cs typeface="Arial" pitchFamily="34" charset="-120"/>
              </a:rPr>
              <a:t>Actual campaign</a:t>
            </a:r>
            <a:endParaRPr lang="en-US" sz="1310" dirty="0"/>
          </a:p>
        </p:txBody>
      </p:sp>
      <p:sp>
        <p:nvSpPr>
          <p:cNvPr id="24" name="Text 22"/>
          <p:cNvSpPr/>
          <p:nvPr/>
        </p:nvSpPr>
        <p:spPr>
          <a:xfrm>
            <a:off x="6677505" y="5446643"/>
            <a:ext cx="1866807" cy="405198"/>
          </a:xfrm>
          <a:prstGeom prst="rect">
            <a:avLst/>
          </a:prstGeom>
          <a:noFill/>
          <a:ln/>
        </p:spPr>
        <p:txBody>
          <a:bodyPr wrap="square" lIns="0" tIns="0" rIns="0" bIns="0" rtlCol="0" anchor="t">
            <a:normAutofit/>
          </a:bodyPr>
          <a:lstStyle/>
          <a:p>
            <a:pPr marL="0" indent="0" algn="l">
              <a:buNone/>
            </a:pPr>
            <a:r>
              <a:rPr lang="en-US" sz="1026" dirty="0">
                <a:solidFill>
                  <a:srgbClr val="BDC4C9"/>
                </a:solidFill>
                <a:latin typeface="Arial" pitchFamily="34" charset="0"/>
                <a:ea typeface="Arial" pitchFamily="34" charset="-122"/>
                <a:cs typeface="Arial" pitchFamily="34" charset="-120"/>
              </a:rPr>
              <a:t>Dated scope and activity</a:t>
            </a:r>
            <a:endParaRPr lang="en-US" sz="1026" dirty="0"/>
          </a:p>
        </p:txBody>
      </p:sp>
      <p:sp>
        <p:nvSpPr>
          <p:cNvPr id="25" name="Shape 23"/>
          <p:cNvSpPr/>
          <p:nvPr/>
        </p:nvSpPr>
        <p:spPr>
          <a:xfrm>
            <a:off x="3262261" y="5070388"/>
            <a:ext cx="2083878" cy="803161"/>
          </a:xfrm>
          <a:prstGeom prst="roundRect">
            <a:avLst>
              <a:gd name="adj" fmla="val 4554"/>
            </a:avLst>
          </a:prstGeom>
          <a:solidFill>
            <a:srgbClr val="30363B"/>
          </a:solidFill>
          <a:ln w="8890">
            <a:solidFill>
              <a:srgbClr val="48525B"/>
            </a:solidFill>
            <a:prstDash val="solid"/>
          </a:ln>
        </p:spPr>
        <p:txBody>
          <a:bodyPr/>
          <a:lstStyle/>
          <a:p>
            <a:endParaRPr lang="nl-NL"/>
          </a:p>
        </p:txBody>
      </p:sp>
      <p:sp>
        <p:nvSpPr>
          <p:cNvPr id="26" name="Text 24"/>
          <p:cNvSpPr/>
          <p:nvPr/>
        </p:nvSpPr>
        <p:spPr>
          <a:xfrm>
            <a:off x="3370796" y="5164452"/>
            <a:ext cx="1866807" cy="274956"/>
          </a:xfrm>
          <a:prstGeom prst="rect">
            <a:avLst/>
          </a:prstGeom>
          <a:noFill/>
          <a:ln/>
        </p:spPr>
        <p:txBody>
          <a:bodyPr wrap="square" lIns="0" tIns="0" rIns="0" bIns="0" rtlCol="0" anchor="t">
            <a:normAutofit/>
          </a:bodyPr>
          <a:lstStyle/>
          <a:p>
            <a:pPr marL="0" indent="0" algn="l">
              <a:buNone/>
            </a:pPr>
            <a:r>
              <a:rPr lang="en-US" sz="1310" b="1" dirty="0">
                <a:solidFill>
                  <a:srgbClr val="F5F6F7"/>
                </a:solidFill>
                <a:latin typeface="Arial" pitchFamily="34" charset="0"/>
                <a:ea typeface="Arial" pitchFamily="34" charset="-122"/>
                <a:cs typeface="Arial" pitchFamily="34" charset="-120"/>
              </a:rPr>
              <a:t>Honest evaluation</a:t>
            </a:r>
            <a:endParaRPr lang="en-US" sz="1310" dirty="0"/>
          </a:p>
        </p:txBody>
      </p:sp>
      <p:sp>
        <p:nvSpPr>
          <p:cNvPr id="27" name="Text 25"/>
          <p:cNvSpPr/>
          <p:nvPr/>
        </p:nvSpPr>
        <p:spPr>
          <a:xfrm>
            <a:off x="3370796" y="5446643"/>
            <a:ext cx="1866807" cy="405198"/>
          </a:xfrm>
          <a:prstGeom prst="rect">
            <a:avLst/>
          </a:prstGeom>
          <a:noFill/>
          <a:ln/>
        </p:spPr>
        <p:txBody>
          <a:bodyPr wrap="square" lIns="0" tIns="0" rIns="0" bIns="0" rtlCol="0" anchor="t">
            <a:normAutofit/>
          </a:bodyPr>
          <a:lstStyle/>
          <a:p>
            <a:pPr marL="0" indent="0" algn="l">
              <a:buNone/>
            </a:pPr>
            <a:r>
              <a:rPr lang="en-US" sz="1026" dirty="0">
                <a:solidFill>
                  <a:srgbClr val="BDC4C9"/>
                </a:solidFill>
                <a:latin typeface="Arial" pitchFamily="34" charset="0"/>
                <a:ea typeface="Arial" pitchFamily="34" charset="-122"/>
                <a:cs typeface="Arial" pitchFamily="34" charset="-120"/>
              </a:rPr>
              <a:t>Include unsuccessful outcomes</a:t>
            </a:r>
            <a:endParaRPr lang="en-US" sz="1026" dirty="0"/>
          </a:p>
        </p:txBody>
      </p:sp>
      <p:sp>
        <p:nvSpPr>
          <p:cNvPr id="28" name="Shape 26"/>
          <p:cNvSpPr/>
          <p:nvPr/>
        </p:nvSpPr>
        <p:spPr>
          <a:xfrm>
            <a:off x="2444629" y="3666664"/>
            <a:ext cx="2083878" cy="803161"/>
          </a:xfrm>
          <a:prstGeom prst="roundRect">
            <a:avLst>
              <a:gd name="adj" fmla="val 4554"/>
            </a:avLst>
          </a:prstGeom>
          <a:solidFill>
            <a:srgbClr val="30363B"/>
          </a:solidFill>
          <a:ln w="8890">
            <a:solidFill>
              <a:srgbClr val="48525B"/>
            </a:solidFill>
            <a:prstDash val="solid"/>
          </a:ln>
        </p:spPr>
        <p:txBody>
          <a:bodyPr/>
          <a:lstStyle/>
          <a:p>
            <a:endParaRPr lang="nl-NL"/>
          </a:p>
        </p:txBody>
      </p:sp>
      <p:sp>
        <p:nvSpPr>
          <p:cNvPr id="29" name="Text 27"/>
          <p:cNvSpPr/>
          <p:nvPr/>
        </p:nvSpPr>
        <p:spPr>
          <a:xfrm>
            <a:off x="2553164" y="3760728"/>
            <a:ext cx="1866807" cy="274956"/>
          </a:xfrm>
          <a:prstGeom prst="rect">
            <a:avLst/>
          </a:prstGeom>
          <a:noFill/>
          <a:ln/>
        </p:spPr>
        <p:txBody>
          <a:bodyPr wrap="square" lIns="0" tIns="0" rIns="0" bIns="0" rtlCol="0" anchor="t">
            <a:normAutofit/>
          </a:bodyPr>
          <a:lstStyle/>
          <a:p>
            <a:pPr marL="0" indent="0" algn="l">
              <a:buNone/>
            </a:pPr>
            <a:r>
              <a:rPr lang="en-US" sz="1310" b="1" dirty="0">
                <a:solidFill>
                  <a:srgbClr val="F5F6F7"/>
                </a:solidFill>
                <a:latin typeface="Arial" pitchFamily="34" charset="0"/>
                <a:ea typeface="Arial" pitchFamily="34" charset="-122"/>
                <a:cs typeface="Arial" pitchFamily="34" charset="-120"/>
              </a:rPr>
              <a:t>Refined method</a:t>
            </a:r>
            <a:endParaRPr lang="en-US" sz="1310" dirty="0"/>
          </a:p>
        </p:txBody>
      </p:sp>
      <p:sp>
        <p:nvSpPr>
          <p:cNvPr id="30" name="Text 28"/>
          <p:cNvSpPr/>
          <p:nvPr/>
        </p:nvSpPr>
        <p:spPr>
          <a:xfrm>
            <a:off x="2553164" y="4042920"/>
            <a:ext cx="1866807" cy="405198"/>
          </a:xfrm>
          <a:prstGeom prst="rect">
            <a:avLst/>
          </a:prstGeom>
          <a:noFill/>
          <a:ln/>
        </p:spPr>
        <p:txBody>
          <a:bodyPr wrap="square" lIns="0" tIns="0" rIns="0" bIns="0" rtlCol="0" anchor="t">
            <a:normAutofit/>
          </a:bodyPr>
          <a:lstStyle/>
          <a:p>
            <a:pPr marL="0" indent="0" algn="l">
              <a:buNone/>
            </a:pPr>
            <a:r>
              <a:rPr lang="en-US" sz="1026" dirty="0">
                <a:solidFill>
                  <a:srgbClr val="BDC4C9"/>
                </a:solidFill>
                <a:latin typeface="Arial" pitchFamily="34" charset="0"/>
                <a:ea typeface="Arial" pitchFamily="34" charset="-122"/>
                <a:cs typeface="Arial" pitchFamily="34" charset="-120"/>
              </a:rPr>
              <a:t>Repeat, change or stop</a:t>
            </a:r>
            <a:endParaRPr lang="en-US" sz="1026" dirty="0"/>
          </a:p>
        </p:txBody>
      </p:sp>
      <p:sp>
        <p:nvSpPr>
          <p:cNvPr id="31" name="Text 29"/>
          <p:cNvSpPr/>
          <p:nvPr/>
        </p:nvSpPr>
        <p:spPr>
          <a:xfrm>
            <a:off x="4760048" y="4013977"/>
            <a:ext cx="2677204" cy="651212"/>
          </a:xfrm>
          <a:prstGeom prst="rect">
            <a:avLst/>
          </a:prstGeom>
          <a:noFill/>
          <a:ln/>
        </p:spPr>
        <p:txBody>
          <a:bodyPr wrap="square" lIns="0" tIns="0" rIns="0" bIns="0" rtlCol="0" anchor="t">
            <a:normAutofit/>
          </a:bodyPr>
          <a:lstStyle/>
          <a:p>
            <a:pPr marL="0" indent="0" algn="ctr">
              <a:buNone/>
            </a:pPr>
            <a:r>
              <a:rPr lang="en-US" sz="1709" b="1" dirty="0">
                <a:solidFill>
                  <a:srgbClr val="F5F6F7"/>
                </a:solidFill>
                <a:latin typeface="Arial" pitchFamily="34" charset="0"/>
                <a:ea typeface="Arial" pitchFamily="34" charset="-122"/>
                <a:cs typeface="Arial" pitchFamily="34" charset="-120"/>
              </a:rPr>
              <a:t>LEARN FROM</a:t>
            </a:r>
            <a:endParaRPr lang="en-US" sz="1709" dirty="0"/>
          </a:p>
          <a:p>
            <a:pPr marL="0" indent="0" algn="ctr">
              <a:buNone/>
            </a:pPr>
            <a:r>
              <a:rPr lang="en-US" sz="1709" b="1" dirty="0">
                <a:solidFill>
                  <a:srgbClr val="F5F6F7"/>
                </a:solidFill>
                <a:latin typeface="Arial" pitchFamily="34" charset="0"/>
                <a:ea typeface="Arial" pitchFamily="34" charset="-122"/>
                <a:cs typeface="Arial" pitchFamily="34" charset="-120"/>
              </a:rPr>
              <a:t>THE OFFER</a:t>
            </a:r>
            <a:endParaRPr lang="en-US" sz="1709" dirty="0"/>
          </a:p>
        </p:txBody>
      </p:sp>
      <p:sp>
        <p:nvSpPr>
          <p:cNvPr id="32" name="Text 30"/>
          <p:cNvSpPr/>
          <p:nvPr/>
        </p:nvSpPr>
        <p:spPr>
          <a:xfrm>
            <a:off x="548640" y="6035040"/>
            <a:ext cx="10954512" cy="219456"/>
          </a:xfrm>
          <a:prstGeom prst="rect">
            <a:avLst/>
          </a:prstGeom>
          <a:noFill/>
          <a:ln/>
        </p:spPr>
        <p:txBody>
          <a:bodyPr wrap="square" lIns="0" tIns="0" rIns="0" bIns="0" rtlCol="0" anchor="t">
            <a:normAutofit/>
          </a:bodyPr>
          <a:lstStyle/>
          <a:p>
            <a:pPr marL="0" indent="0" algn="l">
              <a:buNone/>
            </a:pPr>
            <a:r>
              <a:rPr lang="en-US" sz="840" dirty="0">
                <a:solidFill>
                  <a:srgbClr val="BDC4C9"/>
                </a:solidFill>
                <a:latin typeface="Arial" pitchFamily="34" charset="0"/>
                <a:ea typeface="Arial" pitchFamily="34" charset="-122"/>
                <a:cs typeface="Arial" pitchFamily="34" charset="-120"/>
              </a:rPr>
              <a:t>Proposed feedback mechanism / no measured causal effect is implied.</a:t>
            </a:r>
            <a:endParaRPr lang="en-US" sz="84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24282C"/>
        </a:solidFill>
        <a:effectLst/>
      </p:bgPr>
    </p:bg>
    <p:spTree>
      <p:nvGrpSpPr>
        <p:cNvPr id="1" name=""/>
        <p:cNvGrpSpPr/>
        <p:nvPr/>
      </p:nvGrpSpPr>
      <p:grpSpPr>
        <a:xfrm>
          <a:off x="0" y="0"/>
          <a:ext cx="0" cy="0"/>
          <a:chOff x="0" y="0"/>
          <a:chExt cx="0" cy="0"/>
        </a:xfrm>
      </p:grpSpPr>
      <p:sp>
        <p:nvSpPr>
          <p:cNvPr id="2" name="Text 0"/>
          <p:cNvSpPr/>
          <p:nvPr/>
        </p:nvSpPr>
        <p:spPr>
          <a:xfrm>
            <a:off x="484632" y="173736"/>
            <a:ext cx="2743200" cy="201168"/>
          </a:xfrm>
          <a:prstGeom prst="rect">
            <a:avLst/>
          </a:prstGeom>
          <a:noFill/>
          <a:ln/>
        </p:spPr>
        <p:txBody>
          <a:bodyPr wrap="square" lIns="0" tIns="0" rIns="0" bIns="0" rtlCol="0" anchor="t">
            <a:normAutofit/>
          </a:bodyPr>
          <a:lstStyle/>
          <a:p>
            <a:pPr marL="0" indent="0" algn="l">
              <a:buNone/>
            </a:pPr>
            <a:r>
              <a:rPr lang="en-US" sz="1000" b="1" dirty="0">
                <a:solidFill>
                  <a:srgbClr val="F5F6F7"/>
                </a:solidFill>
                <a:latin typeface="Arial" pitchFamily="34" charset="0"/>
                <a:ea typeface="Arial" pitchFamily="34" charset="-122"/>
                <a:cs typeface="Arial" pitchFamily="34" charset="-120"/>
              </a:rPr>
              <a:t>ISUZU / UNIVERSE</a:t>
            </a:r>
            <a:endParaRPr lang="en-US" sz="1000" dirty="0"/>
          </a:p>
        </p:txBody>
      </p:sp>
      <p:sp>
        <p:nvSpPr>
          <p:cNvPr id="3" name="Text 1"/>
          <p:cNvSpPr/>
          <p:nvPr/>
        </p:nvSpPr>
        <p:spPr>
          <a:xfrm>
            <a:off x="8046720" y="173736"/>
            <a:ext cx="3657600" cy="201168"/>
          </a:xfrm>
          <a:prstGeom prst="rect">
            <a:avLst/>
          </a:prstGeom>
          <a:noFill/>
          <a:ln/>
        </p:spPr>
        <p:txBody>
          <a:bodyPr wrap="square" lIns="0" tIns="0" rIns="0" bIns="0" rtlCol="0" anchor="t">
            <a:normAutofit/>
          </a:bodyPr>
          <a:lstStyle/>
          <a:p>
            <a:pPr marL="0" indent="0" algn="r">
              <a:buNone/>
            </a:pPr>
            <a:r>
              <a:rPr lang="en-US" sz="900" dirty="0">
                <a:solidFill>
                  <a:srgbClr val="BDC4C9"/>
                </a:solidFill>
                <a:latin typeface="Arial" pitchFamily="34" charset="0"/>
                <a:ea typeface="Arial" pitchFamily="34" charset="-122"/>
                <a:cs typeface="Arial" pitchFamily="34" charset="-120"/>
              </a:rPr>
              <a:t>COMMERCIAL VISION  /  3.0</a:t>
            </a:r>
            <a:endParaRPr lang="en-US" sz="900" dirty="0"/>
          </a:p>
        </p:txBody>
      </p:sp>
      <p:sp>
        <p:nvSpPr>
          <p:cNvPr id="4" name="Shape 2"/>
          <p:cNvSpPr/>
          <p:nvPr/>
        </p:nvSpPr>
        <p:spPr>
          <a:xfrm>
            <a:off x="484632" y="512064"/>
            <a:ext cx="475488" cy="22860"/>
          </a:xfrm>
          <a:prstGeom prst="rect">
            <a:avLst/>
          </a:prstGeom>
          <a:solidFill>
            <a:srgbClr val="D71920"/>
          </a:solidFill>
          <a:ln w="12700">
            <a:solidFill>
              <a:srgbClr val="D71920">
                <a:alpha val="0"/>
              </a:srgbClr>
            </a:solidFill>
            <a:prstDash val="solid"/>
          </a:ln>
        </p:spPr>
        <p:txBody>
          <a:bodyPr/>
          <a:lstStyle/>
          <a:p>
            <a:endParaRPr lang="nl-NL"/>
          </a:p>
        </p:txBody>
      </p:sp>
      <p:sp>
        <p:nvSpPr>
          <p:cNvPr id="5" name="Text 3"/>
          <p:cNvSpPr/>
          <p:nvPr/>
        </p:nvSpPr>
        <p:spPr>
          <a:xfrm>
            <a:off x="484632" y="658368"/>
            <a:ext cx="11064240" cy="219456"/>
          </a:xfrm>
          <a:prstGeom prst="rect">
            <a:avLst/>
          </a:prstGeom>
          <a:noFill/>
          <a:ln/>
        </p:spPr>
        <p:txBody>
          <a:bodyPr wrap="square" lIns="0" tIns="0" rIns="0" bIns="0" rtlCol="0" anchor="t">
            <a:normAutofit/>
          </a:bodyPr>
          <a:lstStyle/>
          <a:p>
            <a:pPr marL="0" indent="0" algn="l">
              <a:buNone/>
            </a:pPr>
            <a:r>
              <a:rPr lang="en-US" sz="1000" b="1" dirty="0">
                <a:solidFill>
                  <a:srgbClr val="D71920"/>
                </a:solidFill>
                <a:latin typeface="Arial" pitchFamily="34" charset="0"/>
                <a:ea typeface="Arial" pitchFamily="34" charset="-122"/>
                <a:cs typeface="Arial" pitchFamily="34" charset="-120"/>
              </a:rPr>
              <a:t>PARTICIPATION</a:t>
            </a:r>
            <a:endParaRPr lang="en-US" sz="1000" dirty="0"/>
          </a:p>
        </p:txBody>
      </p:sp>
      <p:sp>
        <p:nvSpPr>
          <p:cNvPr id="6" name="Shape 4"/>
          <p:cNvSpPr/>
          <p:nvPr/>
        </p:nvSpPr>
        <p:spPr>
          <a:xfrm>
            <a:off x="484632" y="6446520"/>
            <a:ext cx="11219688" cy="914"/>
          </a:xfrm>
          <a:prstGeom prst="line">
            <a:avLst/>
          </a:prstGeom>
          <a:noFill/>
          <a:ln w="6350">
            <a:solidFill>
              <a:srgbClr val="647078"/>
            </a:solidFill>
            <a:prstDash val="solid"/>
          </a:ln>
        </p:spPr>
        <p:txBody>
          <a:bodyPr/>
          <a:lstStyle/>
          <a:p>
            <a:endParaRPr lang="nl-NL"/>
          </a:p>
        </p:txBody>
      </p:sp>
      <p:sp>
        <p:nvSpPr>
          <p:cNvPr id="7" name="Text 5"/>
          <p:cNvSpPr/>
          <p:nvPr/>
        </p:nvSpPr>
        <p:spPr>
          <a:xfrm>
            <a:off x="484632" y="6556248"/>
            <a:ext cx="9144000" cy="146304"/>
          </a:xfrm>
          <a:prstGeom prst="rect">
            <a:avLst/>
          </a:prstGeom>
          <a:noFill/>
          <a:ln/>
        </p:spPr>
        <p:txBody>
          <a:bodyPr wrap="square" lIns="0" tIns="0" rIns="0" bIns="0" rtlCol="0" anchor="t">
            <a:normAutofit/>
          </a:bodyPr>
          <a:lstStyle/>
          <a:p>
            <a:pPr marL="0" indent="0" algn="l">
              <a:buNone/>
            </a:pPr>
            <a:r>
              <a:rPr lang="en-US" sz="750" dirty="0">
                <a:solidFill>
                  <a:srgbClr val="BDC4C9"/>
                </a:solidFill>
                <a:latin typeface="Arial" pitchFamily="34" charset="0"/>
                <a:ea typeface="Arial" pitchFamily="34" charset="-122"/>
                <a:cs typeface="Arial" pitchFamily="34" charset="-120"/>
              </a:rPr>
              <a:t>22 SEPTEMBER 2026  /  CONCEPT AND APPLICATION EXAMPLES</a:t>
            </a:r>
            <a:endParaRPr lang="en-US" sz="750" dirty="0"/>
          </a:p>
        </p:txBody>
      </p:sp>
      <p:sp>
        <p:nvSpPr>
          <p:cNvPr id="8" name="Text 6"/>
          <p:cNvSpPr/>
          <p:nvPr/>
        </p:nvSpPr>
        <p:spPr>
          <a:xfrm>
            <a:off x="10789920" y="6547104"/>
            <a:ext cx="914400" cy="173736"/>
          </a:xfrm>
          <a:prstGeom prst="rect">
            <a:avLst/>
          </a:prstGeom>
          <a:noFill/>
          <a:ln/>
        </p:spPr>
        <p:txBody>
          <a:bodyPr wrap="square" lIns="0" tIns="0" rIns="0" bIns="0" rtlCol="0" anchor="t">
            <a:normAutofit/>
          </a:bodyPr>
          <a:lstStyle/>
          <a:p>
            <a:pPr marL="0" indent="0" algn="r">
              <a:buNone/>
            </a:pPr>
            <a:r>
              <a:rPr lang="en-US" sz="850" dirty="0">
                <a:solidFill>
                  <a:srgbClr val="BDC4C9"/>
                </a:solidFill>
                <a:latin typeface="Arial" pitchFamily="34" charset="0"/>
                <a:ea typeface="Arial" pitchFamily="34" charset="-122"/>
                <a:cs typeface="Arial" pitchFamily="34" charset="-120"/>
              </a:rPr>
              <a:t>39 / 49</a:t>
            </a:r>
            <a:endParaRPr lang="en-US" sz="850" dirty="0"/>
          </a:p>
        </p:txBody>
      </p:sp>
      <p:sp>
        <p:nvSpPr>
          <p:cNvPr id="9" name="Text 7"/>
          <p:cNvSpPr/>
          <p:nvPr/>
        </p:nvSpPr>
        <p:spPr>
          <a:xfrm>
            <a:off x="502920" y="1005840"/>
            <a:ext cx="11036808" cy="841248"/>
          </a:xfrm>
          <a:prstGeom prst="rect">
            <a:avLst/>
          </a:prstGeom>
          <a:noFill/>
          <a:ln/>
        </p:spPr>
        <p:txBody>
          <a:bodyPr wrap="square" lIns="0" tIns="0" rIns="0" bIns="0" rtlCol="0" anchor="t">
            <a:normAutofit/>
          </a:bodyPr>
          <a:lstStyle/>
          <a:p>
            <a:pPr marL="0" indent="0" algn="l">
              <a:buNone/>
            </a:pPr>
            <a:r>
              <a:rPr lang="en-US" sz="3400" b="1" dirty="0">
                <a:solidFill>
                  <a:srgbClr val="F5F6F7"/>
                </a:solidFill>
                <a:latin typeface="Arial" pitchFamily="34" charset="0"/>
                <a:ea typeface="Arial" pitchFamily="34" charset="-122"/>
                <a:cs typeface="Arial" pitchFamily="34" charset="-120"/>
              </a:rPr>
              <a:t>Begin with value already prepared.</a:t>
            </a:r>
            <a:endParaRPr lang="en-US" sz="3400" dirty="0"/>
          </a:p>
        </p:txBody>
      </p:sp>
      <p:sp>
        <p:nvSpPr>
          <p:cNvPr id="10" name="Text 8"/>
          <p:cNvSpPr/>
          <p:nvPr/>
        </p:nvSpPr>
        <p:spPr>
          <a:xfrm>
            <a:off x="530352" y="1865376"/>
            <a:ext cx="10954512" cy="566928"/>
          </a:xfrm>
          <a:prstGeom prst="rect">
            <a:avLst/>
          </a:prstGeom>
          <a:noFill/>
          <a:ln/>
        </p:spPr>
        <p:txBody>
          <a:bodyPr wrap="square" lIns="0" tIns="0" rIns="0" bIns="0" rtlCol="0" anchor="t">
            <a:normAutofit/>
          </a:bodyPr>
          <a:lstStyle/>
          <a:p>
            <a:pPr marL="0" indent="0" algn="l">
              <a:buNone/>
            </a:pPr>
            <a:r>
              <a:rPr lang="en-US" sz="1800" dirty="0">
                <a:solidFill>
                  <a:srgbClr val="BDC4C9"/>
                </a:solidFill>
                <a:latin typeface="Arial" pitchFamily="34" charset="0"/>
                <a:ea typeface="Arial" pitchFamily="34" charset="-122"/>
                <a:cs typeface="Arial" pitchFamily="34" charset="-120"/>
              </a:rPr>
              <a:t>Use what is available, then ask for the specific addition that improves the output.</a:t>
            </a:r>
            <a:endParaRPr lang="en-US" sz="1800" dirty="0"/>
          </a:p>
        </p:txBody>
      </p:sp>
      <p:sp>
        <p:nvSpPr>
          <p:cNvPr id="11" name="Shape 9"/>
          <p:cNvSpPr/>
          <p:nvPr/>
        </p:nvSpPr>
        <p:spPr>
          <a:xfrm>
            <a:off x="1692178" y="3132896"/>
            <a:ext cx="2034372" cy="1966632"/>
          </a:xfrm>
          <a:prstGeom prst="roundRect">
            <a:avLst>
              <a:gd name="adj" fmla="val 1860"/>
            </a:avLst>
          </a:prstGeom>
          <a:solidFill>
            <a:srgbClr val="30363B"/>
          </a:solidFill>
          <a:ln w="8890">
            <a:solidFill>
              <a:srgbClr val="48525B"/>
            </a:solidFill>
            <a:prstDash val="solid"/>
          </a:ln>
        </p:spPr>
        <p:txBody>
          <a:bodyPr/>
          <a:lstStyle/>
          <a:p>
            <a:endParaRPr lang="nl-NL"/>
          </a:p>
        </p:txBody>
      </p:sp>
      <p:sp>
        <p:nvSpPr>
          <p:cNvPr id="12" name="Shape 10"/>
          <p:cNvSpPr/>
          <p:nvPr/>
        </p:nvSpPr>
        <p:spPr>
          <a:xfrm>
            <a:off x="1692178" y="3255264"/>
            <a:ext cx="34962" cy="1721896"/>
          </a:xfrm>
          <a:prstGeom prst="rect">
            <a:avLst/>
          </a:prstGeom>
          <a:solidFill>
            <a:srgbClr val="82909A"/>
          </a:solidFill>
          <a:ln w="12700">
            <a:solidFill>
              <a:srgbClr val="24282C">
                <a:alpha val="0"/>
              </a:srgbClr>
            </a:solidFill>
            <a:prstDash val="solid"/>
          </a:ln>
        </p:spPr>
        <p:txBody>
          <a:bodyPr/>
          <a:lstStyle/>
          <a:p>
            <a:endParaRPr lang="nl-NL"/>
          </a:p>
        </p:txBody>
      </p:sp>
      <p:sp>
        <p:nvSpPr>
          <p:cNvPr id="13" name="Text 11"/>
          <p:cNvSpPr/>
          <p:nvPr/>
        </p:nvSpPr>
        <p:spPr>
          <a:xfrm>
            <a:off x="1840768" y="3272745"/>
            <a:ext cx="1737192" cy="559398"/>
          </a:xfrm>
          <a:prstGeom prst="rect">
            <a:avLst/>
          </a:prstGeom>
          <a:noFill/>
          <a:ln/>
        </p:spPr>
        <p:txBody>
          <a:bodyPr wrap="square" lIns="0" tIns="0" rIns="0" bIns="0" rtlCol="0" anchor="t">
            <a:normAutofit/>
          </a:bodyPr>
          <a:lstStyle/>
          <a:p>
            <a:pPr marL="0" indent="0" algn="l">
              <a:buNone/>
            </a:pPr>
            <a:r>
              <a:rPr lang="en-US" sz="1721" b="1" dirty="0">
                <a:solidFill>
                  <a:srgbClr val="F5F6F7"/>
                </a:solidFill>
                <a:latin typeface="Arial" pitchFamily="34" charset="0"/>
                <a:ea typeface="Arial" pitchFamily="34" charset="-122"/>
                <a:cs typeface="Arial" pitchFamily="34" charset="-120"/>
              </a:rPr>
              <a:t>Prepared tool</a:t>
            </a:r>
            <a:endParaRPr lang="en-US" sz="1721" dirty="0"/>
          </a:p>
        </p:txBody>
      </p:sp>
      <p:sp>
        <p:nvSpPr>
          <p:cNvPr id="14" name="Text 12"/>
          <p:cNvSpPr/>
          <p:nvPr/>
        </p:nvSpPr>
        <p:spPr>
          <a:xfrm>
            <a:off x="1840768" y="3893327"/>
            <a:ext cx="1737192" cy="1101314"/>
          </a:xfrm>
          <a:prstGeom prst="rect">
            <a:avLst/>
          </a:prstGeom>
          <a:noFill/>
          <a:ln/>
        </p:spPr>
        <p:txBody>
          <a:bodyPr wrap="square" lIns="0" tIns="0" rIns="0" bIns="0" rtlCol="0" anchor="t">
            <a:normAutofit/>
          </a:bodyPr>
          <a:lstStyle/>
          <a:p>
            <a:pPr marL="0" indent="0" algn="l">
              <a:buNone/>
            </a:pPr>
            <a:r>
              <a:rPr lang="en-US" sz="1376" dirty="0">
                <a:solidFill>
                  <a:srgbClr val="BDC4C9"/>
                </a:solidFill>
                <a:latin typeface="Arial" pitchFamily="34" charset="0"/>
                <a:ea typeface="Arial" pitchFamily="34" charset="-122"/>
                <a:cs typeface="Arial" pitchFamily="34" charset="-120"/>
              </a:rPr>
              <a:t>A relevant starting point</a:t>
            </a:r>
            <a:endParaRPr lang="en-US" sz="1376" dirty="0"/>
          </a:p>
        </p:txBody>
      </p:sp>
      <p:sp>
        <p:nvSpPr>
          <p:cNvPr id="15" name="Text 13"/>
          <p:cNvSpPr/>
          <p:nvPr/>
        </p:nvSpPr>
        <p:spPr>
          <a:xfrm>
            <a:off x="1840768" y="2835716"/>
            <a:ext cx="1737192" cy="524435"/>
          </a:xfrm>
          <a:prstGeom prst="rect">
            <a:avLst/>
          </a:prstGeom>
          <a:noFill/>
          <a:ln/>
        </p:spPr>
        <p:txBody>
          <a:bodyPr wrap="square" lIns="0" tIns="0" rIns="0" bIns="0" rtlCol="0" anchor="t">
            <a:normAutofit/>
          </a:bodyPr>
          <a:lstStyle/>
          <a:p>
            <a:pPr marL="0" indent="0" algn="l">
              <a:buNone/>
            </a:pPr>
            <a:r>
              <a:rPr lang="en-US" sz="1239" b="1" dirty="0">
                <a:solidFill>
                  <a:srgbClr val="D71920"/>
                </a:solidFill>
                <a:latin typeface="Arial" pitchFamily="34" charset="0"/>
                <a:ea typeface="Arial" pitchFamily="34" charset="-122"/>
                <a:cs typeface="Arial" pitchFamily="34" charset="-120"/>
              </a:rPr>
              <a:t>01</a:t>
            </a:r>
            <a:endParaRPr lang="en-US" sz="1239" dirty="0"/>
          </a:p>
        </p:txBody>
      </p:sp>
      <p:sp>
        <p:nvSpPr>
          <p:cNvPr id="16" name="Shape 14"/>
          <p:cNvSpPr/>
          <p:nvPr/>
        </p:nvSpPr>
        <p:spPr>
          <a:xfrm>
            <a:off x="3752772" y="4103101"/>
            <a:ext cx="148590" cy="914"/>
          </a:xfrm>
          <a:prstGeom prst="line">
            <a:avLst/>
          </a:prstGeom>
          <a:noFill/>
          <a:ln w="17481">
            <a:solidFill>
              <a:srgbClr val="D71920"/>
            </a:solidFill>
            <a:prstDash val="solid"/>
            <a:tailEnd type="triangle"/>
          </a:ln>
        </p:spPr>
        <p:txBody>
          <a:bodyPr/>
          <a:lstStyle/>
          <a:p>
            <a:endParaRPr lang="nl-NL"/>
          </a:p>
        </p:txBody>
      </p:sp>
      <p:sp>
        <p:nvSpPr>
          <p:cNvPr id="17" name="Shape 15"/>
          <p:cNvSpPr/>
          <p:nvPr/>
        </p:nvSpPr>
        <p:spPr>
          <a:xfrm>
            <a:off x="3927583" y="3132896"/>
            <a:ext cx="2034372" cy="1966632"/>
          </a:xfrm>
          <a:prstGeom prst="roundRect">
            <a:avLst>
              <a:gd name="adj" fmla="val 1860"/>
            </a:avLst>
          </a:prstGeom>
          <a:solidFill>
            <a:srgbClr val="30363B"/>
          </a:solidFill>
          <a:ln w="8890">
            <a:solidFill>
              <a:srgbClr val="48525B"/>
            </a:solidFill>
            <a:prstDash val="solid"/>
          </a:ln>
        </p:spPr>
        <p:txBody>
          <a:bodyPr/>
          <a:lstStyle/>
          <a:p>
            <a:endParaRPr lang="nl-NL"/>
          </a:p>
        </p:txBody>
      </p:sp>
      <p:sp>
        <p:nvSpPr>
          <p:cNvPr id="18" name="Shape 16"/>
          <p:cNvSpPr/>
          <p:nvPr/>
        </p:nvSpPr>
        <p:spPr>
          <a:xfrm>
            <a:off x="3927583" y="3255264"/>
            <a:ext cx="34962" cy="1721896"/>
          </a:xfrm>
          <a:prstGeom prst="rect">
            <a:avLst/>
          </a:prstGeom>
          <a:solidFill>
            <a:srgbClr val="82909A"/>
          </a:solidFill>
          <a:ln w="12700">
            <a:solidFill>
              <a:srgbClr val="24282C">
                <a:alpha val="0"/>
              </a:srgbClr>
            </a:solidFill>
            <a:prstDash val="solid"/>
          </a:ln>
        </p:spPr>
        <p:txBody>
          <a:bodyPr/>
          <a:lstStyle/>
          <a:p>
            <a:endParaRPr lang="nl-NL"/>
          </a:p>
        </p:txBody>
      </p:sp>
      <p:sp>
        <p:nvSpPr>
          <p:cNvPr id="19" name="Text 17"/>
          <p:cNvSpPr/>
          <p:nvPr/>
        </p:nvSpPr>
        <p:spPr>
          <a:xfrm>
            <a:off x="4076173" y="3272745"/>
            <a:ext cx="1737192" cy="559398"/>
          </a:xfrm>
          <a:prstGeom prst="rect">
            <a:avLst/>
          </a:prstGeom>
          <a:noFill/>
          <a:ln/>
        </p:spPr>
        <p:txBody>
          <a:bodyPr wrap="square" lIns="0" tIns="0" rIns="0" bIns="0" rtlCol="0" anchor="t">
            <a:normAutofit/>
          </a:bodyPr>
          <a:lstStyle/>
          <a:p>
            <a:pPr marL="0" indent="0" algn="l">
              <a:buNone/>
            </a:pPr>
            <a:r>
              <a:rPr lang="en-US" sz="1721" b="1" dirty="0">
                <a:solidFill>
                  <a:srgbClr val="F5F6F7"/>
                </a:solidFill>
                <a:latin typeface="Arial" pitchFamily="34" charset="0"/>
                <a:ea typeface="Arial" pitchFamily="34" charset="-122"/>
                <a:cs typeface="Arial" pitchFamily="34" charset="-120"/>
              </a:rPr>
              <a:t>Participant use</a:t>
            </a:r>
            <a:endParaRPr lang="en-US" sz="1721" dirty="0"/>
          </a:p>
        </p:txBody>
      </p:sp>
      <p:sp>
        <p:nvSpPr>
          <p:cNvPr id="20" name="Text 18"/>
          <p:cNvSpPr/>
          <p:nvPr/>
        </p:nvSpPr>
        <p:spPr>
          <a:xfrm>
            <a:off x="4076173" y="3893327"/>
            <a:ext cx="1737192" cy="1101314"/>
          </a:xfrm>
          <a:prstGeom prst="rect">
            <a:avLst/>
          </a:prstGeom>
          <a:noFill/>
          <a:ln/>
        </p:spPr>
        <p:txBody>
          <a:bodyPr wrap="square" lIns="0" tIns="0" rIns="0" bIns="0" rtlCol="0" anchor="t">
            <a:normAutofit/>
          </a:bodyPr>
          <a:lstStyle/>
          <a:p>
            <a:pPr marL="0" indent="0" algn="l">
              <a:buNone/>
            </a:pPr>
            <a:r>
              <a:rPr lang="en-US" sz="1376" dirty="0">
                <a:solidFill>
                  <a:srgbClr val="BDC4C9"/>
                </a:solidFill>
                <a:latin typeface="Arial" pitchFamily="34" charset="0"/>
                <a:ea typeface="Arial" pitchFamily="34" charset="-122"/>
                <a:cs typeface="Arial" pitchFamily="34" charset="-120"/>
              </a:rPr>
              <a:t>A useful commercial task</a:t>
            </a:r>
            <a:endParaRPr lang="en-US" sz="1376" dirty="0"/>
          </a:p>
        </p:txBody>
      </p:sp>
      <p:sp>
        <p:nvSpPr>
          <p:cNvPr id="21" name="Text 19"/>
          <p:cNvSpPr/>
          <p:nvPr/>
        </p:nvSpPr>
        <p:spPr>
          <a:xfrm>
            <a:off x="4076173" y="2835716"/>
            <a:ext cx="1737192" cy="524435"/>
          </a:xfrm>
          <a:prstGeom prst="rect">
            <a:avLst/>
          </a:prstGeom>
          <a:noFill/>
          <a:ln/>
        </p:spPr>
        <p:txBody>
          <a:bodyPr wrap="square" lIns="0" tIns="0" rIns="0" bIns="0" rtlCol="0" anchor="t">
            <a:normAutofit/>
          </a:bodyPr>
          <a:lstStyle/>
          <a:p>
            <a:pPr marL="0" indent="0" algn="l">
              <a:buNone/>
            </a:pPr>
            <a:r>
              <a:rPr lang="en-US" sz="1239" b="1" dirty="0">
                <a:solidFill>
                  <a:srgbClr val="D71920"/>
                </a:solidFill>
                <a:latin typeface="Arial" pitchFamily="34" charset="0"/>
                <a:ea typeface="Arial" pitchFamily="34" charset="-122"/>
                <a:cs typeface="Arial" pitchFamily="34" charset="-120"/>
              </a:rPr>
              <a:t>02</a:t>
            </a:r>
            <a:endParaRPr lang="en-US" sz="1239" dirty="0"/>
          </a:p>
        </p:txBody>
      </p:sp>
      <p:sp>
        <p:nvSpPr>
          <p:cNvPr id="22" name="Shape 20"/>
          <p:cNvSpPr/>
          <p:nvPr/>
        </p:nvSpPr>
        <p:spPr>
          <a:xfrm>
            <a:off x="5988177" y="4103101"/>
            <a:ext cx="148590" cy="914"/>
          </a:xfrm>
          <a:prstGeom prst="line">
            <a:avLst/>
          </a:prstGeom>
          <a:noFill/>
          <a:ln w="17481">
            <a:solidFill>
              <a:srgbClr val="D71920"/>
            </a:solidFill>
            <a:prstDash val="solid"/>
            <a:tailEnd type="triangle"/>
          </a:ln>
        </p:spPr>
        <p:txBody>
          <a:bodyPr/>
          <a:lstStyle/>
          <a:p>
            <a:endParaRPr lang="nl-NL"/>
          </a:p>
        </p:txBody>
      </p:sp>
      <p:sp>
        <p:nvSpPr>
          <p:cNvPr id="23" name="Shape 21"/>
          <p:cNvSpPr/>
          <p:nvPr/>
        </p:nvSpPr>
        <p:spPr>
          <a:xfrm>
            <a:off x="6162989" y="3132896"/>
            <a:ext cx="2034372" cy="1966632"/>
          </a:xfrm>
          <a:prstGeom prst="roundRect">
            <a:avLst>
              <a:gd name="adj" fmla="val 1860"/>
            </a:avLst>
          </a:prstGeom>
          <a:solidFill>
            <a:srgbClr val="30363B"/>
          </a:solidFill>
          <a:ln w="8890">
            <a:solidFill>
              <a:srgbClr val="48525B"/>
            </a:solidFill>
            <a:prstDash val="solid"/>
          </a:ln>
        </p:spPr>
        <p:txBody>
          <a:bodyPr/>
          <a:lstStyle/>
          <a:p>
            <a:endParaRPr lang="nl-NL"/>
          </a:p>
        </p:txBody>
      </p:sp>
      <p:sp>
        <p:nvSpPr>
          <p:cNvPr id="24" name="Shape 22"/>
          <p:cNvSpPr/>
          <p:nvPr/>
        </p:nvSpPr>
        <p:spPr>
          <a:xfrm>
            <a:off x="6162989" y="3255264"/>
            <a:ext cx="34962" cy="1721896"/>
          </a:xfrm>
          <a:prstGeom prst="rect">
            <a:avLst/>
          </a:prstGeom>
          <a:solidFill>
            <a:srgbClr val="82909A"/>
          </a:solidFill>
          <a:ln w="12700">
            <a:solidFill>
              <a:srgbClr val="24282C">
                <a:alpha val="0"/>
              </a:srgbClr>
            </a:solidFill>
            <a:prstDash val="solid"/>
          </a:ln>
        </p:spPr>
        <p:txBody>
          <a:bodyPr/>
          <a:lstStyle/>
          <a:p>
            <a:endParaRPr lang="nl-NL"/>
          </a:p>
        </p:txBody>
      </p:sp>
      <p:sp>
        <p:nvSpPr>
          <p:cNvPr id="25" name="Text 23"/>
          <p:cNvSpPr/>
          <p:nvPr/>
        </p:nvSpPr>
        <p:spPr>
          <a:xfrm>
            <a:off x="6311579" y="3272745"/>
            <a:ext cx="1737192" cy="559398"/>
          </a:xfrm>
          <a:prstGeom prst="rect">
            <a:avLst/>
          </a:prstGeom>
          <a:noFill/>
          <a:ln/>
        </p:spPr>
        <p:txBody>
          <a:bodyPr wrap="square" lIns="0" tIns="0" rIns="0" bIns="0" rtlCol="0" anchor="t">
            <a:normAutofit/>
          </a:bodyPr>
          <a:lstStyle/>
          <a:p>
            <a:pPr marL="0" indent="0" algn="l">
              <a:buNone/>
            </a:pPr>
            <a:r>
              <a:rPr lang="en-US" sz="1721" b="1" dirty="0">
                <a:solidFill>
                  <a:srgbClr val="F5F6F7"/>
                </a:solidFill>
                <a:latin typeface="Arial" pitchFamily="34" charset="0"/>
                <a:ea typeface="Arial" pitchFamily="34" charset="-122"/>
                <a:cs typeface="Arial" pitchFamily="34" charset="-120"/>
              </a:rPr>
              <a:t>Specific addition</a:t>
            </a:r>
            <a:endParaRPr lang="en-US" sz="1721" dirty="0"/>
          </a:p>
        </p:txBody>
      </p:sp>
      <p:sp>
        <p:nvSpPr>
          <p:cNvPr id="26" name="Text 24"/>
          <p:cNvSpPr/>
          <p:nvPr/>
        </p:nvSpPr>
        <p:spPr>
          <a:xfrm>
            <a:off x="6311579" y="3893327"/>
            <a:ext cx="1737192" cy="1101314"/>
          </a:xfrm>
          <a:prstGeom prst="rect">
            <a:avLst/>
          </a:prstGeom>
          <a:noFill/>
          <a:ln/>
        </p:spPr>
        <p:txBody>
          <a:bodyPr wrap="square" lIns="0" tIns="0" rIns="0" bIns="0" rtlCol="0" anchor="t">
            <a:normAutofit/>
          </a:bodyPr>
          <a:lstStyle/>
          <a:p>
            <a:pPr marL="0" indent="0" algn="l">
              <a:buNone/>
            </a:pPr>
            <a:r>
              <a:rPr lang="en-US" sz="1376" dirty="0">
                <a:solidFill>
                  <a:srgbClr val="BDC4C9"/>
                </a:solidFill>
                <a:latin typeface="Arial" pitchFamily="34" charset="0"/>
                <a:ea typeface="Arial" pitchFamily="34" charset="-122"/>
                <a:cs typeface="Arial" pitchFamily="34" charset="-120"/>
              </a:rPr>
              <a:t>Only the missing relevant context</a:t>
            </a:r>
            <a:endParaRPr lang="en-US" sz="1376" dirty="0"/>
          </a:p>
        </p:txBody>
      </p:sp>
      <p:sp>
        <p:nvSpPr>
          <p:cNvPr id="27" name="Text 25"/>
          <p:cNvSpPr/>
          <p:nvPr/>
        </p:nvSpPr>
        <p:spPr>
          <a:xfrm>
            <a:off x="6311579" y="2835716"/>
            <a:ext cx="1737192" cy="524435"/>
          </a:xfrm>
          <a:prstGeom prst="rect">
            <a:avLst/>
          </a:prstGeom>
          <a:noFill/>
          <a:ln/>
        </p:spPr>
        <p:txBody>
          <a:bodyPr wrap="square" lIns="0" tIns="0" rIns="0" bIns="0" rtlCol="0" anchor="t">
            <a:normAutofit/>
          </a:bodyPr>
          <a:lstStyle/>
          <a:p>
            <a:pPr marL="0" indent="0" algn="l">
              <a:buNone/>
            </a:pPr>
            <a:r>
              <a:rPr lang="en-US" sz="1239" b="1" dirty="0">
                <a:solidFill>
                  <a:srgbClr val="D71920"/>
                </a:solidFill>
                <a:latin typeface="Arial" pitchFamily="34" charset="0"/>
                <a:ea typeface="Arial" pitchFamily="34" charset="-122"/>
                <a:cs typeface="Arial" pitchFamily="34" charset="-120"/>
              </a:rPr>
              <a:t>03</a:t>
            </a:r>
            <a:endParaRPr lang="en-US" sz="1239" dirty="0"/>
          </a:p>
        </p:txBody>
      </p:sp>
      <p:sp>
        <p:nvSpPr>
          <p:cNvPr id="28" name="Shape 26"/>
          <p:cNvSpPr/>
          <p:nvPr/>
        </p:nvSpPr>
        <p:spPr>
          <a:xfrm>
            <a:off x="8223582" y="4103101"/>
            <a:ext cx="148590" cy="914"/>
          </a:xfrm>
          <a:prstGeom prst="line">
            <a:avLst/>
          </a:prstGeom>
          <a:noFill/>
          <a:ln w="17481">
            <a:solidFill>
              <a:srgbClr val="D71920"/>
            </a:solidFill>
            <a:prstDash val="solid"/>
            <a:tailEnd type="triangle"/>
          </a:ln>
        </p:spPr>
        <p:txBody>
          <a:bodyPr/>
          <a:lstStyle/>
          <a:p>
            <a:endParaRPr lang="nl-NL"/>
          </a:p>
        </p:txBody>
      </p:sp>
      <p:sp>
        <p:nvSpPr>
          <p:cNvPr id="29" name="Shape 27"/>
          <p:cNvSpPr/>
          <p:nvPr/>
        </p:nvSpPr>
        <p:spPr>
          <a:xfrm>
            <a:off x="8398394" y="3132896"/>
            <a:ext cx="2034372" cy="1966632"/>
          </a:xfrm>
          <a:prstGeom prst="roundRect">
            <a:avLst>
              <a:gd name="adj" fmla="val 1860"/>
            </a:avLst>
          </a:prstGeom>
          <a:solidFill>
            <a:srgbClr val="383F44"/>
          </a:solidFill>
          <a:ln w="8890">
            <a:solidFill>
              <a:srgbClr val="D71920"/>
            </a:solidFill>
            <a:prstDash val="solid"/>
          </a:ln>
        </p:spPr>
        <p:txBody>
          <a:bodyPr/>
          <a:lstStyle/>
          <a:p>
            <a:endParaRPr lang="nl-NL"/>
          </a:p>
        </p:txBody>
      </p:sp>
      <p:sp>
        <p:nvSpPr>
          <p:cNvPr id="30" name="Shape 28"/>
          <p:cNvSpPr/>
          <p:nvPr/>
        </p:nvSpPr>
        <p:spPr>
          <a:xfrm>
            <a:off x="8398394" y="3255264"/>
            <a:ext cx="34962" cy="1721896"/>
          </a:xfrm>
          <a:prstGeom prst="rect">
            <a:avLst/>
          </a:prstGeom>
          <a:solidFill>
            <a:srgbClr val="D71920"/>
          </a:solidFill>
          <a:ln w="12700">
            <a:solidFill>
              <a:srgbClr val="24282C">
                <a:alpha val="0"/>
              </a:srgbClr>
            </a:solidFill>
            <a:prstDash val="solid"/>
          </a:ln>
        </p:spPr>
        <p:txBody>
          <a:bodyPr/>
          <a:lstStyle/>
          <a:p>
            <a:endParaRPr lang="nl-NL"/>
          </a:p>
        </p:txBody>
      </p:sp>
      <p:sp>
        <p:nvSpPr>
          <p:cNvPr id="31" name="Text 29"/>
          <p:cNvSpPr/>
          <p:nvPr/>
        </p:nvSpPr>
        <p:spPr>
          <a:xfrm>
            <a:off x="8546984" y="3272745"/>
            <a:ext cx="1737192" cy="559398"/>
          </a:xfrm>
          <a:prstGeom prst="rect">
            <a:avLst/>
          </a:prstGeom>
          <a:noFill/>
          <a:ln/>
        </p:spPr>
        <p:txBody>
          <a:bodyPr wrap="square" lIns="0" tIns="0" rIns="0" bIns="0" rtlCol="0" anchor="t">
            <a:normAutofit/>
          </a:bodyPr>
          <a:lstStyle/>
          <a:p>
            <a:pPr marL="0" indent="0" algn="l">
              <a:buNone/>
            </a:pPr>
            <a:r>
              <a:rPr lang="en-US" sz="1721" b="1" dirty="0">
                <a:solidFill>
                  <a:srgbClr val="F5F6F7"/>
                </a:solidFill>
                <a:latin typeface="Arial" pitchFamily="34" charset="0"/>
                <a:ea typeface="Arial" pitchFamily="34" charset="-122"/>
                <a:cs typeface="Arial" pitchFamily="34" charset="-120"/>
              </a:rPr>
              <a:t>Better result</a:t>
            </a:r>
            <a:endParaRPr lang="en-US" sz="1721" dirty="0"/>
          </a:p>
        </p:txBody>
      </p:sp>
      <p:sp>
        <p:nvSpPr>
          <p:cNvPr id="32" name="Text 30"/>
          <p:cNvSpPr/>
          <p:nvPr/>
        </p:nvSpPr>
        <p:spPr>
          <a:xfrm>
            <a:off x="8546984" y="3893327"/>
            <a:ext cx="1737192" cy="1101314"/>
          </a:xfrm>
          <a:prstGeom prst="rect">
            <a:avLst/>
          </a:prstGeom>
          <a:noFill/>
          <a:ln/>
        </p:spPr>
        <p:txBody>
          <a:bodyPr wrap="square" lIns="0" tIns="0" rIns="0" bIns="0" rtlCol="0" anchor="t">
            <a:normAutofit/>
          </a:bodyPr>
          <a:lstStyle/>
          <a:p>
            <a:pPr marL="0" indent="0" algn="l">
              <a:buNone/>
            </a:pPr>
            <a:r>
              <a:rPr lang="en-US" sz="1376" dirty="0">
                <a:solidFill>
                  <a:srgbClr val="BDC4C9"/>
                </a:solidFill>
                <a:latin typeface="Arial" pitchFamily="34" charset="0"/>
                <a:ea typeface="Arial" pitchFamily="34" charset="-122"/>
                <a:cs typeface="Arial" pitchFamily="34" charset="-120"/>
              </a:rPr>
              <a:t>Visible value from the exchange</a:t>
            </a:r>
            <a:endParaRPr lang="en-US" sz="1376" dirty="0"/>
          </a:p>
        </p:txBody>
      </p:sp>
      <p:sp>
        <p:nvSpPr>
          <p:cNvPr id="33" name="Text 31"/>
          <p:cNvSpPr/>
          <p:nvPr/>
        </p:nvSpPr>
        <p:spPr>
          <a:xfrm>
            <a:off x="8546984" y="2835716"/>
            <a:ext cx="1737192" cy="524435"/>
          </a:xfrm>
          <a:prstGeom prst="rect">
            <a:avLst/>
          </a:prstGeom>
          <a:noFill/>
          <a:ln/>
        </p:spPr>
        <p:txBody>
          <a:bodyPr wrap="square" lIns="0" tIns="0" rIns="0" bIns="0" rtlCol="0" anchor="t">
            <a:normAutofit/>
          </a:bodyPr>
          <a:lstStyle/>
          <a:p>
            <a:pPr marL="0" indent="0" algn="l">
              <a:buNone/>
            </a:pPr>
            <a:r>
              <a:rPr lang="en-US" sz="1239" b="1" dirty="0">
                <a:solidFill>
                  <a:srgbClr val="D71920"/>
                </a:solidFill>
                <a:latin typeface="Arial" pitchFamily="34" charset="0"/>
                <a:ea typeface="Arial" pitchFamily="34" charset="-122"/>
                <a:cs typeface="Arial" pitchFamily="34" charset="-120"/>
              </a:rPr>
              <a:t>04</a:t>
            </a:r>
            <a:endParaRPr lang="en-US" sz="1239" dirty="0"/>
          </a:p>
        </p:txBody>
      </p:sp>
      <p:sp>
        <p:nvSpPr>
          <p:cNvPr id="34" name="Text 32"/>
          <p:cNvSpPr/>
          <p:nvPr/>
        </p:nvSpPr>
        <p:spPr>
          <a:xfrm>
            <a:off x="548640" y="5678424"/>
            <a:ext cx="10954512" cy="219456"/>
          </a:xfrm>
          <a:prstGeom prst="rect">
            <a:avLst/>
          </a:prstGeom>
          <a:noFill/>
          <a:ln/>
        </p:spPr>
        <p:txBody>
          <a:bodyPr wrap="square" lIns="0" tIns="0" rIns="0" bIns="0" rtlCol="0" anchor="t">
            <a:normAutofit/>
          </a:bodyPr>
          <a:lstStyle/>
          <a:p>
            <a:pPr marL="0" indent="0" algn="l">
              <a:buNone/>
            </a:pPr>
            <a:r>
              <a:rPr lang="en-US" sz="840" dirty="0">
                <a:solidFill>
                  <a:srgbClr val="BDC4C9"/>
                </a:solidFill>
                <a:latin typeface="Arial" pitchFamily="34" charset="0"/>
                <a:ea typeface="Arial" pitchFamily="34" charset="-122"/>
                <a:cs typeface="Arial" pitchFamily="34" charset="-120"/>
              </a:rPr>
              <a:t>Proposed sequence / each stage retains its own evidence and decision.</a:t>
            </a:r>
            <a:endParaRPr lang="en-US" sz="840" dirty="0"/>
          </a:p>
        </p:txBody>
      </p:sp>
      <p:sp>
        <p:nvSpPr>
          <p:cNvPr id="35" name="Text 33"/>
          <p:cNvSpPr/>
          <p:nvPr/>
        </p:nvSpPr>
        <p:spPr>
          <a:xfrm>
            <a:off x="603504" y="5925312"/>
            <a:ext cx="10917936" cy="347472"/>
          </a:xfrm>
          <a:prstGeom prst="rect">
            <a:avLst/>
          </a:prstGeom>
          <a:noFill/>
          <a:ln/>
        </p:spPr>
        <p:txBody>
          <a:bodyPr wrap="square" lIns="0" tIns="0" rIns="0" bIns="0" rtlCol="0" anchor="t">
            <a:normAutofit/>
          </a:bodyPr>
          <a:lstStyle/>
          <a:p>
            <a:pPr marL="0" indent="0" algn="l">
              <a:buNone/>
            </a:pPr>
            <a:r>
              <a:rPr lang="en-US" sz="1320" dirty="0">
                <a:solidFill>
                  <a:srgbClr val="F5F6F7"/>
                </a:solidFill>
                <a:latin typeface="Arial" pitchFamily="34" charset="0"/>
                <a:ea typeface="Arial" pitchFamily="34" charset="-122"/>
                <a:cs typeface="Arial" pitchFamily="34" charset="-120"/>
              </a:rPr>
              <a:t>The programme must observe whether the proposed benefit is sufficient.</a:t>
            </a:r>
            <a:endParaRPr lang="en-US" sz="132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24282C"/>
        </a:solidFill>
        <a:effectLst/>
      </p:bgPr>
    </p:bg>
    <p:spTree>
      <p:nvGrpSpPr>
        <p:cNvPr id="1" name=""/>
        <p:cNvGrpSpPr/>
        <p:nvPr/>
      </p:nvGrpSpPr>
      <p:grpSpPr>
        <a:xfrm>
          <a:off x="0" y="0"/>
          <a:ext cx="0" cy="0"/>
          <a:chOff x="0" y="0"/>
          <a:chExt cx="0" cy="0"/>
        </a:xfrm>
      </p:grpSpPr>
      <p:sp>
        <p:nvSpPr>
          <p:cNvPr id="2" name="Text 0"/>
          <p:cNvSpPr/>
          <p:nvPr/>
        </p:nvSpPr>
        <p:spPr>
          <a:xfrm>
            <a:off x="484632" y="173736"/>
            <a:ext cx="2743200" cy="201168"/>
          </a:xfrm>
          <a:prstGeom prst="rect">
            <a:avLst/>
          </a:prstGeom>
          <a:noFill/>
          <a:ln/>
        </p:spPr>
        <p:txBody>
          <a:bodyPr wrap="square" lIns="0" tIns="0" rIns="0" bIns="0" rtlCol="0" anchor="t">
            <a:normAutofit/>
          </a:bodyPr>
          <a:lstStyle/>
          <a:p>
            <a:pPr marL="0" indent="0" algn="l">
              <a:buNone/>
            </a:pPr>
            <a:r>
              <a:rPr lang="en-US" sz="1000" b="1" dirty="0">
                <a:solidFill>
                  <a:srgbClr val="F5F6F7"/>
                </a:solidFill>
                <a:latin typeface="Arial" pitchFamily="34" charset="0"/>
                <a:ea typeface="Arial" pitchFamily="34" charset="-122"/>
                <a:cs typeface="Arial" pitchFamily="34" charset="-120"/>
              </a:rPr>
              <a:t>ISUZU / UNIVERSE</a:t>
            </a:r>
            <a:endParaRPr lang="en-US" sz="1000" dirty="0"/>
          </a:p>
        </p:txBody>
      </p:sp>
      <p:sp>
        <p:nvSpPr>
          <p:cNvPr id="3" name="Text 1"/>
          <p:cNvSpPr/>
          <p:nvPr/>
        </p:nvSpPr>
        <p:spPr>
          <a:xfrm>
            <a:off x="8046720" y="173736"/>
            <a:ext cx="3657600" cy="201168"/>
          </a:xfrm>
          <a:prstGeom prst="rect">
            <a:avLst/>
          </a:prstGeom>
          <a:noFill/>
          <a:ln/>
        </p:spPr>
        <p:txBody>
          <a:bodyPr wrap="square" lIns="0" tIns="0" rIns="0" bIns="0" rtlCol="0" anchor="t">
            <a:normAutofit/>
          </a:bodyPr>
          <a:lstStyle/>
          <a:p>
            <a:pPr marL="0" indent="0" algn="r">
              <a:buNone/>
            </a:pPr>
            <a:r>
              <a:rPr lang="en-US" sz="900" dirty="0">
                <a:solidFill>
                  <a:srgbClr val="BDC4C9"/>
                </a:solidFill>
                <a:latin typeface="Arial" pitchFamily="34" charset="0"/>
                <a:ea typeface="Arial" pitchFamily="34" charset="-122"/>
                <a:cs typeface="Arial" pitchFamily="34" charset="-120"/>
              </a:rPr>
              <a:t>COMMERCIAL VISION  /  3.0</a:t>
            </a:r>
            <a:endParaRPr lang="en-US" sz="900" dirty="0"/>
          </a:p>
        </p:txBody>
      </p:sp>
      <p:sp>
        <p:nvSpPr>
          <p:cNvPr id="4" name="Shape 2"/>
          <p:cNvSpPr/>
          <p:nvPr/>
        </p:nvSpPr>
        <p:spPr>
          <a:xfrm>
            <a:off x="484632" y="512064"/>
            <a:ext cx="475488" cy="22860"/>
          </a:xfrm>
          <a:prstGeom prst="rect">
            <a:avLst/>
          </a:prstGeom>
          <a:solidFill>
            <a:srgbClr val="D71920"/>
          </a:solidFill>
          <a:ln w="12700">
            <a:solidFill>
              <a:srgbClr val="D71920">
                <a:alpha val="0"/>
              </a:srgbClr>
            </a:solidFill>
            <a:prstDash val="solid"/>
          </a:ln>
        </p:spPr>
        <p:txBody>
          <a:bodyPr/>
          <a:lstStyle/>
          <a:p>
            <a:endParaRPr lang="nl-NL"/>
          </a:p>
        </p:txBody>
      </p:sp>
      <p:sp>
        <p:nvSpPr>
          <p:cNvPr id="5" name="Text 3"/>
          <p:cNvSpPr/>
          <p:nvPr/>
        </p:nvSpPr>
        <p:spPr>
          <a:xfrm>
            <a:off x="484632" y="658368"/>
            <a:ext cx="11064240" cy="219456"/>
          </a:xfrm>
          <a:prstGeom prst="rect">
            <a:avLst/>
          </a:prstGeom>
          <a:noFill/>
          <a:ln/>
        </p:spPr>
        <p:txBody>
          <a:bodyPr wrap="square" lIns="0" tIns="0" rIns="0" bIns="0" rtlCol="0" anchor="t">
            <a:normAutofit/>
          </a:bodyPr>
          <a:lstStyle/>
          <a:p>
            <a:pPr marL="0" indent="0" algn="l">
              <a:buNone/>
            </a:pPr>
            <a:r>
              <a:rPr lang="en-US" sz="1000" b="1" dirty="0">
                <a:solidFill>
                  <a:srgbClr val="D71920"/>
                </a:solidFill>
                <a:latin typeface="Arial" pitchFamily="34" charset="0"/>
                <a:ea typeface="Arial" pitchFamily="34" charset="-122"/>
                <a:cs typeface="Arial" pitchFamily="34" charset="-120"/>
              </a:rPr>
              <a:t>PARTICIPATION / INCENTIVES</a:t>
            </a:r>
            <a:endParaRPr lang="en-US" sz="1000" dirty="0"/>
          </a:p>
        </p:txBody>
      </p:sp>
      <p:sp>
        <p:nvSpPr>
          <p:cNvPr id="6" name="Shape 4"/>
          <p:cNvSpPr/>
          <p:nvPr/>
        </p:nvSpPr>
        <p:spPr>
          <a:xfrm>
            <a:off x="484632" y="6446520"/>
            <a:ext cx="11219688" cy="914"/>
          </a:xfrm>
          <a:prstGeom prst="line">
            <a:avLst/>
          </a:prstGeom>
          <a:noFill/>
          <a:ln w="6350">
            <a:solidFill>
              <a:srgbClr val="647078"/>
            </a:solidFill>
            <a:prstDash val="solid"/>
          </a:ln>
        </p:spPr>
        <p:txBody>
          <a:bodyPr/>
          <a:lstStyle/>
          <a:p>
            <a:endParaRPr lang="nl-NL"/>
          </a:p>
        </p:txBody>
      </p:sp>
      <p:sp>
        <p:nvSpPr>
          <p:cNvPr id="7" name="Text 5"/>
          <p:cNvSpPr/>
          <p:nvPr/>
        </p:nvSpPr>
        <p:spPr>
          <a:xfrm>
            <a:off x="484632" y="6556248"/>
            <a:ext cx="9144000" cy="146304"/>
          </a:xfrm>
          <a:prstGeom prst="rect">
            <a:avLst/>
          </a:prstGeom>
          <a:noFill/>
          <a:ln/>
        </p:spPr>
        <p:txBody>
          <a:bodyPr wrap="square" lIns="0" tIns="0" rIns="0" bIns="0" rtlCol="0" anchor="t">
            <a:normAutofit/>
          </a:bodyPr>
          <a:lstStyle/>
          <a:p>
            <a:pPr marL="0" indent="0" algn="l">
              <a:buNone/>
            </a:pPr>
            <a:r>
              <a:rPr lang="en-US" sz="750" dirty="0">
                <a:solidFill>
                  <a:srgbClr val="BDC4C9"/>
                </a:solidFill>
                <a:latin typeface="Arial" pitchFamily="34" charset="0"/>
                <a:ea typeface="Arial" pitchFamily="34" charset="-122"/>
                <a:cs typeface="Arial" pitchFamily="34" charset="-120"/>
              </a:rPr>
              <a:t>22 SEPTEMBER 2026  /  CONCEPT AND APPLICATION EXAMPLES</a:t>
            </a:r>
            <a:endParaRPr lang="en-US" sz="750" dirty="0"/>
          </a:p>
        </p:txBody>
      </p:sp>
      <p:sp>
        <p:nvSpPr>
          <p:cNvPr id="8" name="Text 6"/>
          <p:cNvSpPr/>
          <p:nvPr/>
        </p:nvSpPr>
        <p:spPr>
          <a:xfrm>
            <a:off x="10789920" y="6547104"/>
            <a:ext cx="914400" cy="173736"/>
          </a:xfrm>
          <a:prstGeom prst="rect">
            <a:avLst/>
          </a:prstGeom>
          <a:noFill/>
          <a:ln/>
        </p:spPr>
        <p:txBody>
          <a:bodyPr wrap="square" lIns="0" tIns="0" rIns="0" bIns="0" rtlCol="0" anchor="t">
            <a:normAutofit/>
          </a:bodyPr>
          <a:lstStyle/>
          <a:p>
            <a:pPr marL="0" indent="0" algn="r">
              <a:buNone/>
            </a:pPr>
            <a:r>
              <a:rPr lang="en-US" sz="850" dirty="0">
                <a:solidFill>
                  <a:srgbClr val="BDC4C9"/>
                </a:solidFill>
                <a:latin typeface="Arial" pitchFamily="34" charset="0"/>
                <a:ea typeface="Arial" pitchFamily="34" charset="-122"/>
                <a:cs typeface="Arial" pitchFamily="34" charset="-120"/>
              </a:rPr>
              <a:t>40 / 49</a:t>
            </a:r>
            <a:endParaRPr lang="en-US" sz="850" dirty="0"/>
          </a:p>
        </p:txBody>
      </p:sp>
      <p:sp>
        <p:nvSpPr>
          <p:cNvPr id="9" name="Text 7"/>
          <p:cNvSpPr/>
          <p:nvPr/>
        </p:nvSpPr>
        <p:spPr>
          <a:xfrm>
            <a:off x="502920" y="1005840"/>
            <a:ext cx="11036808" cy="841248"/>
          </a:xfrm>
          <a:prstGeom prst="rect">
            <a:avLst/>
          </a:prstGeom>
          <a:noFill/>
          <a:ln/>
        </p:spPr>
        <p:txBody>
          <a:bodyPr wrap="square" lIns="0" tIns="0" rIns="0" bIns="0" rtlCol="0" anchor="t">
            <a:normAutofit/>
          </a:bodyPr>
          <a:lstStyle/>
          <a:p>
            <a:pPr marL="0" indent="0" algn="l">
              <a:buNone/>
            </a:pPr>
            <a:r>
              <a:rPr lang="en-US" sz="3400" b="1" dirty="0">
                <a:solidFill>
                  <a:srgbClr val="F5F6F7"/>
                </a:solidFill>
                <a:latin typeface="Arial" pitchFamily="34" charset="0"/>
                <a:ea typeface="Arial" pitchFamily="34" charset="-122"/>
                <a:cs typeface="Arial" pitchFamily="34" charset="-120"/>
              </a:rPr>
              <a:t>Three mechanisms, three purposes.</a:t>
            </a:r>
            <a:endParaRPr lang="en-US" sz="3400" dirty="0"/>
          </a:p>
        </p:txBody>
      </p:sp>
      <p:sp>
        <p:nvSpPr>
          <p:cNvPr id="10" name="Text 8"/>
          <p:cNvSpPr/>
          <p:nvPr/>
        </p:nvSpPr>
        <p:spPr>
          <a:xfrm>
            <a:off x="530352" y="1865376"/>
            <a:ext cx="10954512" cy="566928"/>
          </a:xfrm>
          <a:prstGeom prst="rect">
            <a:avLst/>
          </a:prstGeom>
          <a:noFill/>
          <a:ln/>
        </p:spPr>
        <p:txBody>
          <a:bodyPr wrap="square" lIns="0" tIns="0" rIns="0" bIns="0" rtlCol="0" anchor="t">
            <a:normAutofit/>
          </a:bodyPr>
          <a:lstStyle/>
          <a:p>
            <a:pPr marL="0" indent="0" algn="l">
              <a:buNone/>
            </a:pPr>
            <a:r>
              <a:rPr lang="en-US" sz="1800" dirty="0">
                <a:solidFill>
                  <a:srgbClr val="BDC4C9"/>
                </a:solidFill>
                <a:latin typeface="Arial" pitchFamily="34" charset="0"/>
                <a:ea typeface="Arial" pitchFamily="34" charset="-122"/>
                <a:cs typeface="Arial" pitchFamily="34" charset="-120"/>
              </a:rPr>
              <a:t>Existing reporting, practical enablement and campaign support remain distinct.</a:t>
            </a:r>
            <a:endParaRPr lang="en-US" sz="1800" dirty="0"/>
          </a:p>
        </p:txBody>
      </p:sp>
      <p:sp>
        <p:nvSpPr>
          <p:cNvPr id="11" name="Shape 9"/>
          <p:cNvSpPr/>
          <p:nvPr/>
        </p:nvSpPr>
        <p:spPr>
          <a:xfrm>
            <a:off x="1817043" y="2966575"/>
            <a:ext cx="2683111" cy="2343477"/>
          </a:xfrm>
          <a:prstGeom prst="roundRect">
            <a:avLst>
              <a:gd name="adj" fmla="val 1561"/>
            </a:avLst>
          </a:prstGeom>
          <a:solidFill>
            <a:srgbClr val="383F44"/>
          </a:solidFill>
          <a:ln w="8890">
            <a:solidFill>
              <a:srgbClr val="D71920"/>
            </a:solidFill>
            <a:prstDash val="solid"/>
          </a:ln>
        </p:spPr>
        <p:txBody>
          <a:bodyPr/>
          <a:lstStyle/>
          <a:p>
            <a:endParaRPr lang="nl-NL"/>
          </a:p>
        </p:txBody>
      </p:sp>
      <p:sp>
        <p:nvSpPr>
          <p:cNvPr id="12" name="Shape 10"/>
          <p:cNvSpPr/>
          <p:nvPr/>
        </p:nvSpPr>
        <p:spPr>
          <a:xfrm>
            <a:off x="1817043" y="3085447"/>
            <a:ext cx="33963" cy="2105733"/>
          </a:xfrm>
          <a:prstGeom prst="rect">
            <a:avLst/>
          </a:prstGeom>
          <a:solidFill>
            <a:srgbClr val="D71920"/>
          </a:solidFill>
          <a:ln w="12700">
            <a:solidFill>
              <a:srgbClr val="24282C">
                <a:alpha val="0"/>
              </a:srgbClr>
            </a:solidFill>
            <a:prstDash val="solid"/>
          </a:ln>
        </p:spPr>
        <p:txBody>
          <a:bodyPr/>
          <a:lstStyle/>
          <a:p>
            <a:endParaRPr lang="nl-NL"/>
          </a:p>
        </p:txBody>
      </p:sp>
      <p:sp>
        <p:nvSpPr>
          <p:cNvPr id="13" name="Text 11"/>
          <p:cNvSpPr/>
          <p:nvPr/>
        </p:nvSpPr>
        <p:spPr>
          <a:xfrm>
            <a:off x="1961388" y="3102429"/>
            <a:ext cx="2394422" cy="543415"/>
          </a:xfrm>
          <a:prstGeom prst="rect">
            <a:avLst/>
          </a:prstGeom>
          <a:noFill/>
          <a:ln/>
        </p:spPr>
        <p:txBody>
          <a:bodyPr wrap="square" lIns="0" tIns="0" rIns="0" bIns="0" rtlCol="0" anchor="t">
            <a:normAutofit/>
          </a:bodyPr>
          <a:lstStyle/>
          <a:p>
            <a:pPr marL="0" indent="0" algn="l">
              <a:buNone/>
            </a:pPr>
            <a:r>
              <a:rPr lang="en-US" sz="1671" b="1" dirty="0">
                <a:solidFill>
                  <a:srgbClr val="F5F6F7"/>
                </a:solidFill>
                <a:latin typeface="Arial" pitchFamily="34" charset="0"/>
                <a:ea typeface="Arial" pitchFamily="34" charset="-122"/>
                <a:cs typeface="Arial" pitchFamily="34" charset="-120"/>
              </a:rPr>
              <a:t>Existing reporting</a:t>
            </a:r>
            <a:endParaRPr lang="en-US" sz="1671" dirty="0"/>
          </a:p>
        </p:txBody>
      </p:sp>
      <p:sp>
        <p:nvSpPr>
          <p:cNvPr id="14" name="Text 12"/>
          <p:cNvSpPr/>
          <p:nvPr/>
        </p:nvSpPr>
        <p:spPr>
          <a:xfrm>
            <a:off x="1961388" y="3705279"/>
            <a:ext cx="2394422" cy="1502882"/>
          </a:xfrm>
          <a:prstGeom prst="rect">
            <a:avLst/>
          </a:prstGeom>
          <a:noFill/>
          <a:ln/>
        </p:spPr>
        <p:txBody>
          <a:bodyPr wrap="square" lIns="0" tIns="0" rIns="0" bIns="0" rtlCol="0" anchor="t">
            <a:normAutofit/>
          </a:bodyPr>
          <a:lstStyle/>
          <a:p>
            <a:pPr marL="0" indent="0" algn="l">
              <a:buNone/>
            </a:pPr>
            <a:r>
              <a:rPr lang="en-US" sz="1337" dirty="0">
                <a:solidFill>
                  <a:srgbClr val="BDC4C9"/>
                </a:solidFill>
                <a:latin typeface="Arial" pitchFamily="34" charset="0"/>
                <a:ea typeface="Arial" pitchFamily="34" charset="-122"/>
                <a:cs typeface="Arial" pitchFamily="34" charset="-120"/>
              </a:rPr>
              <a:t>The established arrangement and its actual terms.</a:t>
            </a:r>
            <a:endParaRPr lang="en-US" sz="1337" dirty="0"/>
          </a:p>
        </p:txBody>
      </p:sp>
      <p:sp>
        <p:nvSpPr>
          <p:cNvPr id="15" name="Shape 13"/>
          <p:cNvSpPr/>
          <p:nvPr/>
        </p:nvSpPr>
        <p:spPr>
          <a:xfrm>
            <a:off x="4720917" y="2966575"/>
            <a:ext cx="2683111" cy="2343477"/>
          </a:xfrm>
          <a:prstGeom prst="roundRect">
            <a:avLst>
              <a:gd name="adj" fmla="val 1561"/>
            </a:avLst>
          </a:prstGeom>
          <a:solidFill>
            <a:srgbClr val="30363B"/>
          </a:solidFill>
          <a:ln w="8890">
            <a:solidFill>
              <a:srgbClr val="48525B"/>
            </a:solidFill>
            <a:prstDash val="solid"/>
          </a:ln>
        </p:spPr>
        <p:txBody>
          <a:bodyPr/>
          <a:lstStyle/>
          <a:p>
            <a:endParaRPr lang="nl-NL"/>
          </a:p>
        </p:txBody>
      </p:sp>
      <p:sp>
        <p:nvSpPr>
          <p:cNvPr id="16" name="Shape 14"/>
          <p:cNvSpPr/>
          <p:nvPr/>
        </p:nvSpPr>
        <p:spPr>
          <a:xfrm>
            <a:off x="4720917" y="3085447"/>
            <a:ext cx="33963" cy="2105733"/>
          </a:xfrm>
          <a:prstGeom prst="rect">
            <a:avLst/>
          </a:prstGeom>
          <a:solidFill>
            <a:srgbClr val="82909A"/>
          </a:solidFill>
          <a:ln w="12700">
            <a:solidFill>
              <a:srgbClr val="24282C">
                <a:alpha val="0"/>
              </a:srgbClr>
            </a:solidFill>
            <a:prstDash val="solid"/>
          </a:ln>
        </p:spPr>
        <p:txBody>
          <a:bodyPr/>
          <a:lstStyle/>
          <a:p>
            <a:endParaRPr lang="nl-NL"/>
          </a:p>
        </p:txBody>
      </p:sp>
      <p:sp>
        <p:nvSpPr>
          <p:cNvPr id="17" name="Text 15"/>
          <p:cNvSpPr/>
          <p:nvPr/>
        </p:nvSpPr>
        <p:spPr>
          <a:xfrm>
            <a:off x="4865261" y="3102429"/>
            <a:ext cx="2394422" cy="543415"/>
          </a:xfrm>
          <a:prstGeom prst="rect">
            <a:avLst/>
          </a:prstGeom>
          <a:noFill/>
          <a:ln/>
        </p:spPr>
        <p:txBody>
          <a:bodyPr wrap="square" lIns="0" tIns="0" rIns="0" bIns="0" rtlCol="0" anchor="t">
            <a:normAutofit/>
          </a:bodyPr>
          <a:lstStyle/>
          <a:p>
            <a:pPr marL="0" indent="0" algn="l">
              <a:buNone/>
            </a:pPr>
            <a:r>
              <a:rPr lang="en-US" sz="1671" b="1" dirty="0">
                <a:solidFill>
                  <a:srgbClr val="F5F6F7"/>
                </a:solidFill>
                <a:latin typeface="Arial" pitchFamily="34" charset="0"/>
                <a:ea typeface="Arial" pitchFamily="34" charset="-122"/>
                <a:cs typeface="Arial" pitchFamily="34" charset="-120"/>
              </a:rPr>
              <a:t>Enablement</a:t>
            </a:r>
            <a:endParaRPr lang="en-US" sz="1671" dirty="0"/>
          </a:p>
        </p:txBody>
      </p:sp>
      <p:sp>
        <p:nvSpPr>
          <p:cNvPr id="18" name="Text 16"/>
          <p:cNvSpPr/>
          <p:nvPr/>
        </p:nvSpPr>
        <p:spPr>
          <a:xfrm>
            <a:off x="4865261" y="3705279"/>
            <a:ext cx="2394422" cy="1502882"/>
          </a:xfrm>
          <a:prstGeom prst="rect">
            <a:avLst/>
          </a:prstGeom>
          <a:noFill/>
          <a:ln/>
        </p:spPr>
        <p:txBody>
          <a:bodyPr wrap="square" lIns="0" tIns="0" rIns="0" bIns="0" rtlCol="0" anchor="t">
            <a:normAutofit/>
          </a:bodyPr>
          <a:lstStyle/>
          <a:p>
            <a:pPr marL="0" indent="0" algn="l">
              <a:buNone/>
            </a:pPr>
            <a:r>
              <a:rPr lang="en-US" sz="1337" dirty="0">
                <a:solidFill>
                  <a:srgbClr val="BDC4C9"/>
                </a:solidFill>
                <a:latin typeface="Arial" pitchFamily="34" charset="0"/>
                <a:ea typeface="Arial" pitchFamily="34" charset="-122"/>
                <a:cs typeface="Arial" pitchFamily="34" charset="-120"/>
              </a:rPr>
              <a:t>A defined setup or improvement activity.</a:t>
            </a:r>
            <a:endParaRPr lang="en-US" sz="1337" dirty="0"/>
          </a:p>
        </p:txBody>
      </p:sp>
      <p:sp>
        <p:nvSpPr>
          <p:cNvPr id="19" name="Shape 17"/>
          <p:cNvSpPr/>
          <p:nvPr/>
        </p:nvSpPr>
        <p:spPr>
          <a:xfrm>
            <a:off x="7624790" y="2966575"/>
            <a:ext cx="2683111" cy="2343477"/>
          </a:xfrm>
          <a:prstGeom prst="roundRect">
            <a:avLst>
              <a:gd name="adj" fmla="val 1561"/>
            </a:avLst>
          </a:prstGeom>
          <a:solidFill>
            <a:srgbClr val="30363B"/>
          </a:solidFill>
          <a:ln w="8890">
            <a:solidFill>
              <a:srgbClr val="48525B"/>
            </a:solidFill>
            <a:prstDash val="solid"/>
          </a:ln>
        </p:spPr>
        <p:txBody>
          <a:bodyPr/>
          <a:lstStyle/>
          <a:p>
            <a:endParaRPr lang="nl-NL"/>
          </a:p>
        </p:txBody>
      </p:sp>
      <p:sp>
        <p:nvSpPr>
          <p:cNvPr id="20" name="Shape 18"/>
          <p:cNvSpPr/>
          <p:nvPr/>
        </p:nvSpPr>
        <p:spPr>
          <a:xfrm>
            <a:off x="7624790" y="3085447"/>
            <a:ext cx="33963" cy="2105733"/>
          </a:xfrm>
          <a:prstGeom prst="rect">
            <a:avLst/>
          </a:prstGeom>
          <a:solidFill>
            <a:srgbClr val="82909A"/>
          </a:solidFill>
          <a:ln w="12700">
            <a:solidFill>
              <a:srgbClr val="24282C">
                <a:alpha val="0"/>
              </a:srgbClr>
            </a:solidFill>
            <a:prstDash val="solid"/>
          </a:ln>
        </p:spPr>
        <p:txBody>
          <a:bodyPr/>
          <a:lstStyle/>
          <a:p>
            <a:endParaRPr lang="nl-NL"/>
          </a:p>
        </p:txBody>
      </p:sp>
      <p:sp>
        <p:nvSpPr>
          <p:cNvPr id="21" name="Text 19"/>
          <p:cNvSpPr/>
          <p:nvPr/>
        </p:nvSpPr>
        <p:spPr>
          <a:xfrm>
            <a:off x="7769134" y="3102429"/>
            <a:ext cx="2394422" cy="543415"/>
          </a:xfrm>
          <a:prstGeom prst="rect">
            <a:avLst/>
          </a:prstGeom>
          <a:noFill/>
          <a:ln/>
        </p:spPr>
        <p:txBody>
          <a:bodyPr wrap="square" lIns="0" tIns="0" rIns="0" bIns="0" rtlCol="0" anchor="t">
            <a:normAutofit/>
          </a:bodyPr>
          <a:lstStyle/>
          <a:p>
            <a:pPr marL="0" indent="0" algn="l">
              <a:buNone/>
            </a:pPr>
            <a:r>
              <a:rPr lang="en-US" sz="1671" b="1" dirty="0">
                <a:solidFill>
                  <a:srgbClr val="F5F6F7"/>
                </a:solidFill>
                <a:latin typeface="Arial" pitchFamily="34" charset="0"/>
                <a:ea typeface="Arial" pitchFamily="34" charset="-122"/>
                <a:cs typeface="Arial" pitchFamily="34" charset="-120"/>
              </a:rPr>
              <a:t>Campaign support</a:t>
            </a:r>
            <a:endParaRPr lang="en-US" sz="1671" dirty="0"/>
          </a:p>
        </p:txBody>
      </p:sp>
      <p:sp>
        <p:nvSpPr>
          <p:cNvPr id="22" name="Text 20"/>
          <p:cNvSpPr/>
          <p:nvPr/>
        </p:nvSpPr>
        <p:spPr>
          <a:xfrm>
            <a:off x="7769134" y="3705279"/>
            <a:ext cx="2394422" cy="1502882"/>
          </a:xfrm>
          <a:prstGeom prst="rect">
            <a:avLst/>
          </a:prstGeom>
          <a:noFill/>
          <a:ln/>
        </p:spPr>
        <p:txBody>
          <a:bodyPr wrap="square" lIns="0" tIns="0" rIns="0" bIns="0" rtlCol="0" anchor="t">
            <a:normAutofit/>
          </a:bodyPr>
          <a:lstStyle/>
          <a:p>
            <a:pPr marL="0" indent="0" algn="l">
              <a:buNone/>
            </a:pPr>
            <a:r>
              <a:rPr lang="en-US" sz="1337" dirty="0">
                <a:solidFill>
                  <a:srgbClr val="BDC4C9"/>
                </a:solidFill>
                <a:latin typeface="Arial" pitchFamily="34" charset="0"/>
                <a:ea typeface="Arial" pitchFamily="34" charset="-122"/>
                <a:cs typeface="Arial" pitchFamily="34" charset="-120"/>
              </a:rPr>
              <a:t>A separate commercial decision on eligible scope.</a:t>
            </a:r>
            <a:endParaRPr lang="en-US" sz="1337" dirty="0"/>
          </a:p>
        </p:txBody>
      </p:sp>
      <p:sp>
        <p:nvSpPr>
          <p:cNvPr id="23" name="Text 21"/>
          <p:cNvSpPr/>
          <p:nvPr/>
        </p:nvSpPr>
        <p:spPr>
          <a:xfrm>
            <a:off x="548640" y="5678424"/>
            <a:ext cx="10954512" cy="219456"/>
          </a:xfrm>
          <a:prstGeom prst="rect">
            <a:avLst/>
          </a:prstGeom>
          <a:noFill/>
          <a:ln/>
        </p:spPr>
        <p:txBody>
          <a:bodyPr wrap="square" lIns="0" tIns="0" rIns="0" bIns="0" rtlCol="0" anchor="t">
            <a:normAutofit/>
          </a:bodyPr>
          <a:lstStyle/>
          <a:p>
            <a:pPr marL="0" indent="0" algn="l">
              <a:buNone/>
            </a:pPr>
            <a:r>
              <a:rPr lang="en-US" sz="840" dirty="0">
                <a:solidFill>
                  <a:srgbClr val="BDC4C9"/>
                </a:solidFill>
                <a:latin typeface="Arial" pitchFamily="34" charset="0"/>
                <a:ea typeface="Arial" pitchFamily="34" charset="-122"/>
                <a:cs typeface="Arial" pitchFamily="34" charset="-120"/>
              </a:rPr>
              <a:t>Illustrative design / independent requirements and outputs.</a:t>
            </a:r>
            <a:endParaRPr lang="en-US" sz="840" dirty="0"/>
          </a:p>
        </p:txBody>
      </p:sp>
      <p:sp>
        <p:nvSpPr>
          <p:cNvPr id="24" name="Text 22"/>
          <p:cNvSpPr/>
          <p:nvPr/>
        </p:nvSpPr>
        <p:spPr>
          <a:xfrm>
            <a:off x="603504" y="5925312"/>
            <a:ext cx="10917936" cy="347472"/>
          </a:xfrm>
          <a:prstGeom prst="rect">
            <a:avLst/>
          </a:prstGeom>
          <a:noFill/>
          <a:ln/>
        </p:spPr>
        <p:txBody>
          <a:bodyPr wrap="square" lIns="0" tIns="0" rIns="0" bIns="0" rtlCol="0" anchor="t">
            <a:normAutofit/>
          </a:bodyPr>
          <a:lstStyle/>
          <a:p>
            <a:pPr marL="0" indent="0" algn="l">
              <a:buNone/>
            </a:pPr>
            <a:r>
              <a:rPr lang="en-US" sz="1320" dirty="0">
                <a:solidFill>
                  <a:srgbClr val="F5F6F7"/>
                </a:solidFill>
                <a:latin typeface="Arial" pitchFamily="34" charset="0"/>
                <a:ea typeface="Arial" pitchFamily="34" charset="-122"/>
                <a:cs typeface="Arial" pitchFamily="34" charset="-120"/>
              </a:rPr>
              <a:t>Continued use should be observed independently of these mechanisms.</a:t>
            </a:r>
            <a:endParaRPr lang="en-US" sz="132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24282C"/>
        </a:solidFill>
        <a:effectLst/>
      </p:bgPr>
    </p:bg>
    <p:spTree>
      <p:nvGrpSpPr>
        <p:cNvPr id="1" name=""/>
        <p:cNvGrpSpPr/>
        <p:nvPr/>
      </p:nvGrpSpPr>
      <p:grpSpPr>
        <a:xfrm>
          <a:off x="0" y="0"/>
          <a:ext cx="0" cy="0"/>
          <a:chOff x="0" y="0"/>
          <a:chExt cx="0" cy="0"/>
        </a:xfrm>
      </p:grpSpPr>
      <p:sp>
        <p:nvSpPr>
          <p:cNvPr id="2" name="Text 0"/>
          <p:cNvSpPr/>
          <p:nvPr/>
        </p:nvSpPr>
        <p:spPr>
          <a:xfrm>
            <a:off x="484632" y="173736"/>
            <a:ext cx="2743200" cy="201168"/>
          </a:xfrm>
          <a:prstGeom prst="rect">
            <a:avLst/>
          </a:prstGeom>
          <a:noFill/>
          <a:ln/>
        </p:spPr>
        <p:txBody>
          <a:bodyPr wrap="square" lIns="0" tIns="0" rIns="0" bIns="0" rtlCol="0" anchor="t">
            <a:normAutofit/>
          </a:bodyPr>
          <a:lstStyle/>
          <a:p>
            <a:pPr marL="0" indent="0" algn="l">
              <a:buNone/>
            </a:pPr>
            <a:r>
              <a:rPr lang="en-US" sz="1000" b="1" dirty="0">
                <a:solidFill>
                  <a:srgbClr val="F5F6F7"/>
                </a:solidFill>
                <a:latin typeface="Arial" pitchFamily="34" charset="0"/>
                <a:ea typeface="Arial" pitchFamily="34" charset="-122"/>
                <a:cs typeface="Arial" pitchFamily="34" charset="-120"/>
              </a:rPr>
              <a:t>ISUZU / UNIVERSE</a:t>
            </a:r>
            <a:endParaRPr lang="en-US" sz="1000" dirty="0"/>
          </a:p>
        </p:txBody>
      </p:sp>
      <p:sp>
        <p:nvSpPr>
          <p:cNvPr id="3" name="Text 1"/>
          <p:cNvSpPr/>
          <p:nvPr/>
        </p:nvSpPr>
        <p:spPr>
          <a:xfrm>
            <a:off x="8046720" y="173736"/>
            <a:ext cx="3657600" cy="201168"/>
          </a:xfrm>
          <a:prstGeom prst="rect">
            <a:avLst/>
          </a:prstGeom>
          <a:noFill/>
          <a:ln/>
        </p:spPr>
        <p:txBody>
          <a:bodyPr wrap="square" lIns="0" tIns="0" rIns="0" bIns="0" rtlCol="0" anchor="t">
            <a:normAutofit/>
          </a:bodyPr>
          <a:lstStyle/>
          <a:p>
            <a:pPr marL="0" indent="0" algn="r">
              <a:buNone/>
            </a:pPr>
            <a:r>
              <a:rPr lang="en-US" sz="900" dirty="0">
                <a:solidFill>
                  <a:srgbClr val="BDC4C9"/>
                </a:solidFill>
                <a:latin typeface="Arial" pitchFamily="34" charset="0"/>
                <a:ea typeface="Arial" pitchFamily="34" charset="-122"/>
                <a:cs typeface="Arial" pitchFamily="34" charset="-120"/>
              </a:rPr>
              <a:t>COMMERCIAL VISION  /  3.0</a:t>
            </a:r>
            <a:endParaRPr lang="en-US" sz="900" dirty="0"/>
          </a:p>
        </p:txBody>
      </p:sp>
      <p:sp>
        <p:nvSpPr>
          <p:cNvPr id="4" name="Shape 2"/>
          <p:cNvSpPr/>
          <p:nvPr/>
        </p:nvSpPr>
        <p:spPr>
          <a:xfrm>
            <a:off x="484632" y="512064"/>
            <a:ext cx="475488" cy="22860"/>
          </a:xfrm>
          <a:prstGeom prst="rect">
            <a:avLst/>
          </a:prstGeom>
          <a:solidFill>
            <a:srgbClr val="D71920"/>
          </a:solidFill>
          <a:ln w="12700">
            <a:solidFill>
              <a:srgbClr val="D71920">
                <a:alpha val="0"/>
              </a:srgbClr>
            </a:solidFill>
            <a:prstDash val="solid"/>
          </a:ln>
        </p:spPr>
        <p:txBody>
          <a:bodyPr/>
          <a:lstStyle/>
          <a:p>
            <a:endParaRPr lang="nl-NL"/>
          </a:p>
        </p:txBody>
      </p:sp>
      <p:sp>
        <p:nvSpPr>
          <p:cNvPr id="5" name="Text 3"/>
          <p:cNvSpPr/>
          <p:nvPr/>
        </p:nvSpPr>
        <p:spPr>
          <a:xfrm>
            <a:off x="484632" y="658368"/>
            <a:ext cx="11064240" cy="219456"/>
          </a:xfrm>
          <a:prstGeom prst="rect">
            <a:avLst/>
          </a:prstGeom>
          <a:noFill/>
          <a:ln/>
        </p:spPr>
        <p:txBody>
          <a:bodyPr wrap="square" lIns="0" tIns="0" rIns="0" bIns="0" rtlCol="0" anchor="t">
            <a:normAutofit/>
          </a:bodyPr>
          <a:lstStyle/>
          <a:p>
            <a:pPr marL="0" indent="0" algn="l">
              <a:buNone/>
            </a:pPr>
            <a:r>
              <a:rPr lang="en-US" sz="1000" b="1" dirty="0">
                <a:solidFill>
                  <a:srgbClr val="D71920"/>
                </a:solidFill>
                <a:latin typeface="Arial" pitchFamily="34" charset="0"/>
                <a:ea typeface="Arial" pitchFamily="34" charset="-122"/>
                <a:cs typeface="Arial" pitchFamily="34" charset="-120"/>
              </a:rPr>
              <a:t>EVALUATION</a:t>
            </a:r>
            <a:endParaRPr lang="en-US" sz="1000" dirty="0"/>
          </a:p>
        </p:txBody>
      </p:sp>
      <p:sp>
        <p:nvSpPr>
          <p:cNvPr id="6" name="Shape 4"/>
          <p:cNvSpPr/>
          <p:nvPr/>
        </p:nvSpPr>
        <p:spPr>
          <a:xfrm>
            <a:off x="484632" y="6446520"/>
            <a:ext cx="11219688" cy="914"/>
          </a:xfrm>
          <a:prstGeom prst="line">
            <a:avLst/>
          </a:prstGeom>
          <a:noFill/>
          <a:ln w="6350">
            <a:solidFill>
              <a:srgbClr val="647078"/>
            </a:solidFill>
            <a:prstDash val="solid"/>
          </a:ln>
        </p:spPr>
        <p:txBody>
          <a:bodyPr/>
          <a:lstStyle/>
          <a:p>
            <a:endParaRPr lang="nl-NL"/>
          </a:p>
        </p:txBody>
      </p:sp>
      <p:sp>
        <p:nvSpPr>
          <p:cNvPr id="7" name="Text 5"/>
          <p:cNvSpPr/>
          <p:nvPr/>
        </p:nvSpPr>
        <p:spPr>
          <a:xfrm>
            <a:off x="484632" y="6556248"/>
            <a:ext cx="9144000" cy="146304"/>
          </a:xfrm>
          <a:prstGeom prst="rect">
            <a:avLst/>
          </a:prstGeom>
          <a:noFill/>
          <a:ln/>
        </p:spPr>
        <p:txBody>
          <a:bodyPr wrap="square" lIns="0" tIns="0" rIns="0" bIns="0" rtlCol="0" anchor="t">
            <a:normAutofit/>
          </a:bodyPr>
          <a:lstStyle/>
          <a:p>
            <a:pPr marL="0" indent="0" algn="l">
              <a:buNone/>
            </a:pPr>
            <a:r>
              <a:rPr lang="en-US" sz="750" dirty="0">
                <a:solidFill>
                  <a:srgbClr val="BDC4C9"/>
                </a:solidFill>
                <a:latin typeface="Arial" pitchFamily="34" charset="0"/>
                <a:ea typeface="Arial" pitchFamily="34" charset="-122"/>
                <a:cs typeface="Arial" pitchFamily="34" charset="-120"/>
              </a:rPr>
              <a:t>22 SEPTEMBER 2026  /  CONCEPT AND APPLICATION EXAMPLES</a:t>
            </a:r>
            <a:endParaRPr lang="en-US" sz="750" dirty="0"/>
          </a:p>
        </p:txBody>
      </p:sp>
      <p:sp>
        <p:nvSpPr>
          <p:cNvPr id="8" name="Text 6"/>
          <p:cNvSpPr/>
          <p:nvPr/>
        </p:nvSpPr>
        <p:spPr>
          <a:xfrm>
            <a:off x="10789920" y="6547104"/>
            <a:ext cx="914400" cy="173736"/>
          </a:xfrm>
          <a:prstGeom prst="rect">
            <a:avLst/>
          </a:prstGeom>
          <a:noFill/>
          <a:ln/>
        </p:spPr>
        <p:txBody>
          <a:bodyPr wrap="square" lIns="0" tIns="0" rIns="0" bIns="0" rtlCol="0" anchor="t">
            <a:normAutofit/>
          </a:bodyPr>
          <a:lstStyle/>
          <a:p>
            <a:pPr marL="0" indent="0" algn="r">
              <a:buNone/>
            </a:pPr>
            <a:r>
              <a:rPr lang="en-US" sz="850" dirty="0">
                <a:solidFill>
                  <a:srgbClr val="BDC4C9"/>
                </a:solidFill>
                <a:latin typeface="Arial" pitchFamily="34" charset="0"/>
                <a:ea typeface="Arial" pitchFamily="34" charset="-122"/>
                <a:cs typeface="Arial" pitchFamily="34" charset="-120"/>
              </a:rPr>
              <a:t>41 / 49</a:t>
            </a:r>
            <a:endParaRPr lang="en-US" sz="850" dirty="0"/>
          </a:p>
        </p:txBody>
      </p:sp>
      <p:sp>
        <p:nvSpPr>
          <p:cNvPr id="9" name="Text 7"/>
          <p:cNvSpPr/>
          <p:nvPr/>
        </p:nvSpPr>
        <p:spPr>
          <a:xfrm>
            <a:off x="502920" y="1005840"/>
            <a:ext cx="11036808" cy="841248"/>
          </a:xfrm>
          <a:prstGeom prst="rect">
            <a:avLst/>
          </a:prstGeom>
          <a:noFill/>
          <a:ln/>
        </p:spPr>
        <p:txBody>
          <a:bodyPr wrap="square" lIns="0" tIns="0" rIns="0" bIns="0" rtlCol="0" anchor="t">
            <a:normAutofit/>
          </a:bodyPr>
          <a:lstStyle/>
          <a:p>
            <a:pPr marL="0" indent="0" algn="l">
              <a:buNone/>
            </a:pPr>
            <a:r>
              <a:rPr lang="en-US" sz="3400" b="1" dirty="0">
                <a:solidFill>
                  <a:srgbClr val="F5F6F7"/>
                </a:solidFill>
                <a:latin typeface="Arial" pitchFamily="34" charset="0"/>
                <a:ea typeface="Arial" pitchFamily="34" charset="-122"/>
                <a:cs typeface="Arial" pitchFamily="34" charset="-120"/>
              </a:rPr>
              <a:t>Judge the application through a real task.</a:t>
            </a:r>
            <a:endParaRPr lang="en-US" sz="3400" dirty="0"/>
          </a:p>
        </p:txBody>
      </p:sp>
      <p:sp>
        <p:nvSpPr>
          <p:cNvPr id="10" name="Text 8"/>
          <p:cNvSpPr/>
          <p:nvPr/>
        </p:nvSpPr>
        <p:spPr>
          <a:xfrm>
            <a:off x="530352" y="1865376"/>
            <a:ext cx="10954512" cy="566928"/>
          </a:xfrm>
          <a:prstGeom prst="rect">
            <a:avLst/>
          </a:prstGeom>
          <a:noFill/>
          <a:ln/>
        </p:spPr>
        <p:txBody>
          <a:bodyPr wrap="square" lIns="0" tIns="0" rIns="0" bIns="0" rtlCol="0" anchor="t">
            <a:normAutofit/>
          </a:bodyPr>
          <a:lstStyle/>
          <a:p>
            <a:pPr marL="0" indent="0" algn="l">
              <a:buNone/>
            </a:pPr>
            <a:r>
              <a:rPr lang="en-US" sz="1800" dirty="0">
                <a:solidFill>
                  <a:srgbClr val="BDC4C9"/>
                </a:solidFill>
                <a:latin typeface="Arial" pitchFamily="34" charset="0"/>
                <a:ea typeface="Arial" pitchFamily="34" charset="-122"/>
                <a:cs typeface="Arial" pitchFamily="34" charset="-120"/>
              </a:rPr>
              <a:t>Correctness, usefulness, effort and repeated use are separate tests.</a:t>
            </a:r>
            <a:endParaRPr lang="en-US" sz="1800" dirty="0"/>
          </a:p>
        </p:txBody>
      </p:sp>
      <p:sp>
        <p:nvSpPr>
          <p:cNvPr id="11" name="Shape 9"/>
          <p:cNvSpPr/>
          <p:nvPr/>
        </p:nvSpPr>
        <p:spPr>
          <a:xfrm>
            <a:off x="1692178" y="3132896"/>
            <a:ext cx="2034372" cy="1966632"/>
          </a:xfrm>
          <a:prstGeom prst="roundRect">
            <a:avLst>
              <a:gd name="adj" fmla="val 1860"/>
            </a:avLst>
          </a:prstGeom>
          <a:solidFill>
            <a:srgbClr val="30363B"/>
          </a:solidFill>
          <a:ln w="8890">
            <a:solidFill>
              <a:srgbClr val="48525B"/>
            </a:solidFill>
            <a:prstDash val="solid"/>
          </a:ln>
        </p:spPr>
        <p:txBody>
          <a:bodyPr/>
          <a:lstStyle/>
          <a:p>
            <a:endParaRPr lang="nl-NL"/>
          </a:p>
        </p:txBody>
      </p:sp>
      <p:sp>
        <p:nvSpPr>
          <p:cNvPr id="12" name="Shape 10"/>
          <p:cNvSpPr/>
          <p:nvPr/>
        </p:nvSpPr>
        <p:spPr>
          <a:xfrm>
            <a:off x="1692178" y="3255264"/>
            <a:ext cx="34962" cy="1721896"/>
          </a:xfrm>
          <a:prstGeom prst="rect">
            <a:avLst/>
          </a:prstGeom>
          <a:solidFill>
            <a:srgbClr val="82909A"/>
          </a:solidFill>
          <a:ln w="12700">
            <a:solidFill>
              <a:srgbClr val="24282C">
                <a:alpha val="0"/>
              </a:srgbClr>
            </a:solidFill>
            <a:prstDash val="solid"/>
          </a:ln>
        </p:spPr>
        <p:txBody>
          <a:bodyPr/>
          <a:lstStyle/>
          <a:p>
            <a:endParaRPr lang="nl-NL"/>
          </a:p>
        </p:txBody>
      </p:sp>
      <p:sp>
        <p:nvSpPr>
          <p:cNvPr id="13" name="Text 11"/>
          <p:cNvSpPr/>
          <p:nvPr/>
        </p:nvSpPr>
        <p:spPr>
          <a:xfrm>
            <a:off x="1840768" y="3272745"/>
            <a:ext cx="1737192" cy="559398"/>
          </a:xfrm>
          <a:prstGeom prst="rect">
            <a:avLst/>
          </a:prstGeom>
          <a:noFill/>
          <a:ln/>
        </p:spPr>
        <p:txBody>
          <a:bodyPr wrap="square" lIns="0" tIns="0" rIns="0" bIns="0" rtlCol="0" anchor="t">
            <a:normAutofit/>
          </a:bodyPr>
          <a:lstStyle/>
          <a:p>
            <a:pPr marL="0" indent="0" algn="l">
              <a:buNone/>
            </a:pPr>
            <a:r>
              <a:rPr lang="en-US" sz="1721" b="1" dirty="0">
                <a:solidFill>
                  <a:srgbClr val="F5F6F7"/>
                </a:solidFill>
                <a:latin typeface="Arial" pitchFamily="34" charset="0"/>
                <a:ea typeface="Arial" pitchFamily="34" charset="-122"/>
                <a:cs typeface="Arial" pitchFamily="34" charset="-120"/>
              </a:rPr>
              <a:t>Correct</a:t>
            </a:r>
            <a:endParaRPr lang="en-US" sz="1721" dirty="0"/>
          </a:p>
        </p:txBody>
      </p:sp>
      <p:sp>
        <p:nvSpPr>
          <p:cNvPr id="14" name="Text 12"/>
          <p:cNvSpPr/>
          <p:nvPr/>
        </p:nvSpPr>
        <p:spPr>
          <a:xfrm>
            <a:off x="1840768" y="3893327"/>
            <a:ext cx="1737192" cy="1101314"/>
          </a:xfrm>
          <a:prstGeom prst="rect">
            <a:avLst/>
          </a:prstGeom>
          <a:noFill/>
          <a:ln/>
        </p:spPr>
        <p:txBody>
          <a:bodyPr wrap="square" lIns="0" tIns="0" rIns="0" bIns="0" rtlCol="0" anchor="t">
            <a:normAutofit/>
          </a:bodyPr>
          <a:lstStyle/>
          <a:p>
            <a:pPr marL="0" indent="0" algn="l">
              <a:buNone/>
            </a:pPr>
            <a:r>
              <a:rPr lang="en-US" sz="1376" dirty="0">
                <a:solidFill>
                  <a:srgbClr val="BDC4C9"/>
                </a:solidFill>
                <a:latin typeface="Arial" pitchFamily="34" charset="0"/>
                <a:ea typeface="Arial" pitchFamily="34" charset="-122"/>
                <a:cs typeface="Arial" pitchFamily="34" charset="-120"/>
              </a:rPr>
              <a:t>Supported result</a:t>
            </a:r>
            <a:endParaRPr lang="en-US" sz="1376" dirty="0"/>
          </a:p>
        </p:txBody>
      </p:sp>
      <p:sp>
        <p:nvSpPr>
          <p:cNvPr id="15" name="Text 13"/>
          <p:cNvSpPr/>
          <p:nvPr/>
        </p:nvSpPr>
        <p:spPr>
          <a:xfrm>
            <a:off x="1840768" y="2835716"/>
            <a:ext cx="1737192" cy="524435"/>
          </a:xfrm>
          <a:prstGeom prst="rect">
            <a:avLst/>
          </a:prstGeom>
          <a:noFill/>
          <a:ln/>
        </p:spPr>
        <p:txBody>
          <a:bodyPr wrap="square" lIns="0" tIns="0" rIns="0" bIns="0" rtlCol="0" anchor="t">
            <a:normAutofit/>
          </a:bodyPr>
          <a:lstStyle/>
          <a:p>
            <a:pPr marL="0" indent="0" algn="l">
              <a:buNone/>
            </a:pPr>
            <a:r>
              <a:rPr lang="en-US" sz="1239" b="1" dirty="0">
                <a:solidFill>
                  <a:srgbClr val="D71920"/>
                </a:solidFill>
                <a:latin typeface="Arial" pitchFamily="34" charset="0"/>
                <a:ea typeface="Arial" pitchFamily="34" charset="-122"/>
                <a:cs typeface="Arial" pitchFamily="34" charset="-120"/>
              </a:rPr>
              <a:t>01</a:t>
            </a:r>
            <a:endParaRPr lang="en-US" sz="1239" dirty="0"/>
          </a:p>
        </p:txBody>
      </p:sp>
      <p:sp>
        <p:nvSpPr>
          <p:cNvPr id="16" name="Shape 14"/>
          <p:cNvSpPr/>
          <p:nvPr/>
        </p:nvSpPr>
        <p:spPr>
          <a:xfrm>
            <a:off x="3752772" y="4103101"/>
            <a:ext cx="148590" cy="914"/>
          </a:xfrm>
          <a:prstGeom prst="line">
            <a:avLst/>
          </a:prstGeom>
          <a:noFill/>
          <a:ln w="17481">
            <a:solidFill>
              <a:srgbClr val="D71920"/>
            </a:solidFill>
            <a:prstDash val="solid"/>
            <a:tailEnd type="triangle"/>
          </a:ln>
        </p:spPr>
        <p:txBody>
          <a:bodyPr/>
          <a:lstStyle/>
          <a:p>
            <a:endParaRPr lang="nl-NL"/>
          </a:p>
        </p:txBody>
      </p:sp>
      <p:sp>
        <p:nvSpPr>
          <p:cNvPr id="17" name="Shape 15"/>
          <p:cNvSpPr/>
          <p:nvPr/>
        </p:nvSpPr>
        <p:spPr>
          <a:xfrm>
            <a:off x="3927583" y="3132896"/>
            <a:ext cx="2034372" cy="1966632"/>
          </a:xfrm>
          <a:prstGeom prst="roundRect">
            <a:avLst>
              <a:gd name="adj" fmla="val 1860"/>
            </a:avLst>
          </a:prstGeom>
          <a:solidFill>
            <a:srgbClr val="30363B"/>
          </a:solidFill>
          <a:ln w="8890">
            <a:solidFill>
              <a:srgbClr val="48525B"/>
            </a:solidFill>
            <a:prstDash val="solid"/>
          </a:ln>
        </p:spPr>
        <p:txBody>
          <a:bodyPr/>
          <a:lstStyle/>
          <a:p>
            <a:endParaRPr lang="nl-NL"/>
          </a:p>
        </p:txBody>
      </p:sp>
      <p:sp>
        <p:nvSpPr>
          <p:cNvPr id="18" name="Shape 16"/>
          <p:cNvSpPr/>
          <p:nvPr/>
        </p:nvSpPr>
        <p:spPr>
          <a:xfrm>
            <a:off x="3927583" y="3255264"/>
            <a:ext cx="34962" cy="1721896"/>
          </a:xfrm>
          <a:prstGeom prst="rect">
            <a:avLst/>
          </a:prstGeom>
          <a:solidFill>
            <a:srgbClr val="82909A"/>
          </a:solidFill>
          <a:ln w="12700">
            <a:solidFill>
              <a:srgbClr val="24282C">
                <a:alpha val="0"/>
              </a:srgbClr>
            </a:solidFill>
            <a:prstDash val="solid"/>
          </a:ln>
        </p:spPr>
        <p:txBody>
          <a:bodyPr/>
          <a:lstStyle/>
          <a:p>
            <a:endParaRPr lang="nl-NL"/>
          </a:p>
        </p:txBody>
      </p:sp>
      <p:sp>
        <p:nvSpPr>
          <p:cNvPr id="19" name="Text 17"/>
          <p:cNvSpPr/>
          <p:nvPr/>
        </p:nvSpPr>
        <p:spPr>
          <a:xfrm>
            <a:off x="4076173" y="3272745"/>
            <a:ext cx="1737192" cy="559398"/>
          </a:xfrm>
          <a:prstGeom prst="rect">
            <a:avLst/>
          </a:prstGeom>
          <a:noFill/>
          <a:ln/>
        </p:spPr>
        <p:txBody>
          <a:bodyPr wrap="square" lIns="0" tIns="0" rIns="0" bIns="0" rtlCol="0" anchor="t">
            <a:normAutofit/>
          </a:bodyPr>
          <a:lstStyle/>
          <a:p>
            <a:pPr marL="0" indent="0" algn="l">
              <a:buNone/>
            </a:pPr>
            <a:r>
              <a:rPr lang="en-US" sz="1721" b="1" dirty="0">
                <a:solidFill>
                  <a:srgbClr val="F5F6F7"/>
                </a:solidFill>
                <a:latin typeface="Arial" pitchFamily="34" charset="0"/>
                <a:ea typeface="Arial" pitchFamily="34" charset="-122"/>
                <a:cs typeface="Arial" pitchFamily="34" charset="-120"/>
              </a:rPr>
              <a:t>Useful</a:t>
            </a:r>
            <a:endParaRPr lang="en-US" sz="1721" dirty="0"/>
          </a:p>
        </p:txBody>
      </p:sp>
      <p:sp>
        <p:nvSpPr>
          <p:cNvPr id="20" name="Text 18"/>
          <p:cNvSpPr/>
          <p:nvPr/>
        </p:nvSpPr>
        <p:spPr>
          <a:xfrm>
            <a:off x="4076173" y="3893327"/>
            <a:ext cx="1737192" cy="1101314"/>
          </a:xfrm>
          <a:prstGeom prst="rect">
            <a:avLst/>
          </a:prstGeom>
          <a:noFill/>
          <a:ln/>
        </p:spPr>
        <p:txBody>
          <a:bodyPr wrap="square" lIns="0" tIns="0" rIns="0" bIns="0" rtlCol="0" anchor="t">
            <a:normAutofit/>
          </a:bodyPr>
          <a:lstStyle/>
          <a:p>
            <a:pPr marL="0" indent="0" algn="l">
              <a:buNone/>
            </a:pPr>
            <a:r>
              <a:rPr lang="en-US" sz="1376" dirty="0">
                <a:solidFill>
                  <a:srgbClr val="BDC4C9"/>
                </a:solidFill>
                <a:latin typeface="Arial" pitchFamily="34" charset="0"/>
                <a:ea typeface="Arial" pitchFamily="34" charset="-122"/>
                <a:cs typeface="Arial" pitchFamily="34" charset="-120"/>
              </a:rPr>
              <a:t>Decision or output</a:t>
            </a:r>
            <a:endParaRPr lang="en-US" sz="1376" dirty="0"/>
          </a:p>
        </p:txBody>
      </p:sp>
      <p:sp>
        <p:nvSpPr>
          <p:cNvPr id="21" name="Text 19"/>
          <p:cNvSpPr/>
          <p:nvPr/>
        </p:nvSpPr>
        <p:spPr>
          <a:xfrm>
            <a:off x="4076173" y="2835716"/>
            <a:ext cx="1737192" cy="524435"/>
          </a:xfrm>
          <a:prstGeom prst="rect">
            <a:avLst/>
          </a:prstGeom>
          <a:noFill/>
          <a:ln/>
        </p:spPr>
        <p:txBody>
          <a:bodyPr wrap="square" lIns="0" tIns="0" rIns="0" bIns="0" rtlCol="0" anchor="t">
            <a:normAutofit/>
          </a:bodyPr>
          <a:lstStyle/>
          <a:p>
            <a:pPr marL="0" indent="0" algn="l">
              <a:buNone/>
            </a:pPr>
            <a:r>
              <a:rPr lang="en-US" sz="1239" b="1" dirty="0">
                <a:solidFill>
                  <a:srgbClr val="D71920"/>
                </a:solidFill>
                <a:latin typeface="Arial" pitchFamily="34" charset="0"/>
                <a:ea typeface="Arial" pitchFamily="34" charset="-122"/>
                <a:cs typeface="Arial" pitchFamily="34" charset="-120"/>
              </a:rPr>
              <a:t>02</a:t>
            </a:r>
            <a:endParaRPr lang="en-US" sz="1239" dirty="0"/>
          </a:p>
        </p:txBody>
      </p:sp>
      <p:sp>
        <p:nvSpPr>
          <p:cNvPr id="22" name="Shape 20"/>
          <p:cNvSpPr/>
          <p:nvPr/>
        </p:nvSpPr>
        <p:spPr>
          <a:xfrm>
            <a:off x="5988177" y="4103101"/>
            <a:ext cx="148590" cy="914"/>
          </a:xfrm>
          <a:prstGeom prst="line">
            <a:avLst/>
          </a:prstGeom>
          <a:noFill/>
          <a:ln w="17481">
            <a:solidFill>
              <a:srgbClr val="D71920"/>
            </a:solidFill>
            <a:prstDash val="solid"/>
            <a:tailEnd type="triangle"/>
          </a:ln>
        </p:spPr>
        <p:txBody>
          <a:bodyPr/>
          <a:lstStyle/>
          <a:p>
            <a:endParaRPr lang="nl-NL"/>
          </a:p>
        </p:txBody>
      </p:sp>
      <p:sp>
        <p:nvSpPr>
          <p:cNvPr id="23" name="Shape 21"/>
          <p:cNvSpPr/>
          <p:nvPr/>
        </p:nvSpPr>
        <p:spPr>
          <a:xfrm>
            <a:off x="6162989" y="3132896"/>
            <a:ext cx="2034372" cy="1966632"/>
          </a:xfrm>
          <a:prstGeom prst="roundRect">
            <a:avLst>
              <a:gd name="adj" fmla="val 1860"/>
            </a:avLst>
          </a:prstGeom>
          <a:solidFill>
            <a:srgbClr val="30363B"/>
          </a:solidFill>
          <a:ln w="8890">
            <a:solidFill>
              <a:srgbClr val="48525B"/>
            </a:solidFill>
            <a:prstDash val="solid"/>
          </a:ln>
        </p:spPr>
        <p:txBody>
          <a:bodyPr/>
          <a:lstStyle/>
          <a:p>
            <a:endParaRPr lang="nl-NL"/>
          </a:p>
        </p:txBody>
      </p:sp>
      <p:sp>
        <p:nvSpPr>
          <p:cNvPr id="24" name="Shape 22"/>
          <p:cNvSpPr/>
          <p:nvPr/>
        </p:nvSpPr>
        <p:spPr>
          <a:xfrm>
            <a:off x="6162989" y="3255264"/>
            <a:ext cx="34962" cy="1721896"/>
          </a:xfrm>
          <a:prstGeom prst="rect">
            <a:avLst/>
          </a:prstGeom>
          <a:solidFill>
            <a:srgbClr val="82909A"/>
          </a:solidFill>
          <a:ln w="12700">
            <a:solidFill>
              <a:srgbClr val="24282C">
                <a:alpha val="0"/>
              </a:srgbClr>
            </a:solidFill>
            <a:prstDash val="solid"/>
          </a:ln>
        </p:spPr>
        <p:txBody>
          <a:bodyPr/>
          <a:lstStyle/>
          <a:p>
            <a:endParaRPr lang="nl-NL"/>
          </a:p>
        </p:txBody>
      </p:sp>
      <p:sp>
        <p:nvSpPr>
          <p:cNvPr id="25" name="Text 23"/>
          <p:cNvSpPr/>
          <p:nvPr/>
        </p:nvSpPr>
        <p:spPr>
          <a:xfrm>
            <a:off x="6311579" y="3272745"/>
            <a:ext cx="1737192" cy="559398"/>
          </a:xfrm>
          <a:prstGeom prst="rect">
            <a:avLst/>
          </a:prstGeom>
          <a:noFill/>
          <a:ln/>
        </p:spPr>
        <p:txBody>
          <a:bodyPr wrap="square" lIns="0" tIns="0" rIns="0" bIns="0" rtlCol="0" anchor="t">
            <a:normAutofit/>
          </a:bodyPr>
          <a:lstStyle/>
          <a:p>
            <a:pPr marL="0" indent="0" algn="l">
              <a:buNone/>
            </a:pPr>
            <a:r>
              <a:rPr lang="en-US" sz="1721" b="1" dirty="0">
                <a:solidFill>
                  <a:srgbClr val="F5F6F7"/>
                </a:solidFill>
                <a:latin typeface="Arial" pitchFamily="34" charset="0"/>
                <a:ea typeface="Arial" pitchFamily="34" charset="-122"/>
                <a:cs typeface="Arial" pitchFamily="34" charset="-120"/>
              </a:rPr>
              <a:t>Proportionate</a:t>
            </a:r>
            <a:endParaRPr lang="en-US" sz="1721" dirty="0"/>
          </a:p>
        </p:txBody>
      </p:sp>
      <p:sp>
        <p:nvSpPr>
          <p:cNvPr id="26" name="Text 24"/>
          <p:cNvSpPr/>
          <p:nvPr/>
        </p:nvSpPr>
        <p:spPr>
          <a:xfrm>
            <a:off x="6311579" y="3893327"/>
            <a:ext cx="1737192" cy="1101314"/>
          </a:xfrm>
          <a:prstGeom prst="rect">
            <a:avLst/>
          </a:prstGeom>
          <a:noFill/>
          <a:ln/>
        </p:spPr>
        <p:txBody>
          <a:bodyPr wrap="square" lIns="0" tIns="0" rIns="0" bIns="0" rtlCol="0" anchor="t">
            <a:normAutofit/>
          </a:bodyPr>
          <a:lstStyle/>
          <a:p>
            <a:pPr marL="0" indent="0" algn="l">
              <a:buNone/>
            </a:pPr>
            <a:r>
              <a:rPr lang="en-US" sz="1376" dirty="0">
                <a:solidFill>
                  <a:srgbClr val="BDC4C9"/>
                </a:solidFill>
                <a:latin typeface="Arial" pitchFamily="34" charset="0"/>
                <a:ea typeface="Arial" pitchFamily="34" charset="-122"/>
                <a:cs typeface="Arial" pitchFamily="34" charset="-120"/>
              </a:rPr>
              <a:t>Total effort</a:t>
            </a:r>
            <a:endParaRPr lang="en-US" sz="1376" dirty="0"/>
          </a:p>
        </p:txBody>
      </p:sp>
      <p:sp>
        <p:nvSpPr>
          <p:cNvPr id="27" name="Text 25"/>
          <p:cNvSpPr/>
          <p:nvPr/>
        </p:nvSpPr>
        <p:spPr>
          <a:xfrm>
            <a:off x="6311579" y="2835716"/>
            <a:ext cx="1737192" cy="524435"/>
          </a:xfrm>
          <a:prstGeom prst="rect">
            <a:avLst/>
          </a:prstGeom>
          <a:noFill/>
          <a:ln/>
        </p:spPr>
        <p:txBody>
          <a:bodyPr wrap="square" lIns="0" tIns="0" rIns="0" bIns="0" rtlCol="0" anchor="t">
            <a:normAutofit/>
          </a:bodyPr>
          <a:lstStyle/>
          <a:p>
            <a:pPr marL="0" indent="0" algn="l">
              <a:buNone/>
            </a:pPr>
            <a:r>
              <a:rPr lang="en-US" sz="1239" b="1" dirty="0">
                <a:solidFill>
                  <a:srgbClr val="D71920"/>
                </a:solidFill>
                <a:latin typeface="Arial" pitchFamily="34" charset="0"/>
                <a:ea typeface="Arial" pitchFamily="34" charset="-122"/>
                <a:cs typeface="Arial" pitchFamily="34" charset="-120"/>
              </a:rPr>
              <a:t>03</a:t>
            </a:r>
            <a:endParaRPr lang="en-US" sz="1239" dirty="0"/>
          </a:p>
        </p:txBody>
      </p:sp>
      <p:sp>
        <p:nvSpPr>
          <p:cNvPr id="28" name="Shape 26"/>
          <p:cNvSpPr/>
          <p:nvPr/>
        </p:nvSpPr>
        <p:spPr>
          <a:xfrm>
            <a:off x="8223582" y="4103101"/>
            <a:ext cx="148590" cy="914"/>
          </a:xfrm>
          <a:prstGeom prst="line">
            <a:avLst/>
          </a:prstGeom>
          <a:noFill/>
          <a:ln w="17481">
            <a:solidFill>
              <a:srgbClr val="D71920"/>
            </a:solidFill>
            <a:prstDash val="solid"/>
            <a:tailEnd type="triangle"/>
          </a:ln>
        </p:spPr>
        <p:txBody>
          <a:bodyPr/>
          <a:lstStyle/>
          <a:p>
            <a:endParaRPr lang="nl-NL"/>
          </a:p>
        </p:txBody>
      </p:sp>
      <p:sp>
        <p:nvSpPr>
          <p:cNvPr id="29" name="Shape 27"/>
          <p:cNvSpPr/>
          <p:nvPr/>
        </p:nvSpPr>
        <p:spPr>
          <a:xfrm>
            <a:off x="8398394" y="3132896"/>
            <a:ext cx="2034372" cy="1966632"/>
          </a:xfrm>
          <a:prstGeom prst="roundRect">
            <a:avLst>
              <a:gd name="adj" fmla="val 1860"/>
            </a:avLst>
          </a:prstGeom>
          <a:solidFill>
            <a:srgbClr val="383F44"/>
          </a:solidFill>
          <a:ln w="8890">
            <a:solidFill>
              <a:srgbClr val="D71920"/>
            </a:solidFill>
            <a:prstDash val="solid"/>
          </a:ln>
        </p:spPr>
        <p:txBody>
          <a:bodyPr/>
          <a:lstStyle/>
          <a:p>
            <a:endParaRPr lang="nl-NL"/>
          </a:p>
        </p:txBody>
      </p:sp>
      <p:sp>
        <p:nvSpPr>
          <p:cNvPr id="30" name="Shape 28"/>
          <p:cNvSpPr/>
          <p:nvPr/>
        </p:nvSpPr>
        <p:spPr>
          <a:xfrm>
            <a:off x="8398394" y="3255264"/>
            <a:ext cx="34962" cy="1721896"/>
          </a:xfrm>
          <a:prstGeom prst="rect">
            <a:avLst/>
          </a:prstGeom>
          <a:solidFill>
            <a:srgbClr val="D71920"/>
          </a:solidFill>
          <a:ln w="12700">
            <a:solidFill>
              <a:srgbClr val="24282C">
                <a:alpha val="0"/>
              </a:srgbClr>
            </a:solidFill>
            <a:prstDash val="solid"/>
          </a:ln>
        </p:spPr>
        <p:txBody>
          <a:bodyPr/>
          <a:lstStyle/>
          <a:p>
            <a:endParaRPr lang="nl-NL"/>
          </a:p>
        </p:txBody>
      </p:sp>
      <p:sp>
        <p:nvSpPr>
          <p:cNvPr id="31" name="Text 29"/>
          <p:cNvSpPr/>
          <p:nvPr/>
        </p:nvSpPr>
        <p:spPr>
          <a:xfrm>
            <a:off x="8546984" y="3272745"/>
            <a:ext cx="1737192" cy="559398"/>
          </a:xfrm>
          <a:prstGeom prst="rect">
            <a:avLst/>
          </a:prstGeom>
          <a:noFill/>
          <a:ln/>
        </p:spPr>
        <p:txBody>
          <a:bodyPr wrap="square" lIns="0" tIns="0" rIns="0" bIns="0" rtlCol="0" anchor="t">
            <a:normAutofit/>
          </a:bodyPr>
          <a:lstStyle/>
          <a:p>
            <a:pPr marL="0" indent="0" algn="l">
              <a:buNone/>
            </a:pPr>
            <a:r>
              <a:rPr lang="en-US" sz="1721" b="1" dirty="0">
                <a:solidFill>
                  <a:srgbClr val="F5F6F7"/>
                </a:solidFill>
                <a:latin typeface="Arial" pitchFamily="34" charset="0"/>
                <a:ea typeface="Arial" pitchFamily="34" charset="-122"/>
                <a:cs typeface="Arial" pitchFamily="34" charset="-120"/>
              </a:rPr>
              <a:t>Repeated</a:t>
            </a:r>
            <a:endParaRPr lang="en-US" sz="1721" dirty="0"/>
          </a:p>
        </p:txBody>
      </p:sp>
      <p:sp>
        <p:nvSpPr>
          <p:cNvPr id="32" name="Text 30"/>
          <p:cNvSpPr/>
          <p:nvPr/>
        </p:nvSpPr>
        <p:spPr>
          <a:xfrm>
            <a:off x="8546984" y="3893327"/>
            <a:ext cx="1737192" cy="1101314"/>
          </a:xfrm>
          <a:prstGeom prst="rect">
            <a:avLst/>
          </a:prstGeom>
          <a:noFill/>
          <a:ln/>
        </p:spPr>
        <p:txBody>
          <a:bodyPr wrap="square" lIns="0" tIns="0" rIns="0" bIns="0" rtlCol="0" anchor="t">
            <a:normAutofit/>
          </a:bodyPr>
          <a:lstStyle/>
          <a:p>
            <a:pPr marL="0" indent="0" algn="l">
              <a:buNone/>
            </a:pPr>
            <a:r>
              <a:rPr lang="en-US" sz="1376" dirty="0">
                <a:solidFill>
                  <a:srgbClr val="BDC4C9"/>
                </a:solidFill>
                <a:latin typeface="Arial" pitchFamily="34" charset="0"/>
                <a:ea typeface="Arial" pitchFamily="34" charset="-122"/>
                <a:cs typeface="Arial" pitchFamily="34" charset="-120"/>
              </a:rPr>
              <a:t>Another eligible use</a:t>
            </a:r>
            <a:endParaRPr lang="en-US" sz="1376" dirty="0"/>
          </a:p>
        </p:txBody>
      </p:sp>
      <p:sp>
        <p:nvSpPr>
          <p:cNvPr id="33" name="Text 31"/>
          <p:cNvSpPr/>
          <p:nvPr/>
        </p:nvSpPr>
        <p:spPr>
          <a:xfrm>
            <a:off x="8546984" y="2835716"/>
            <a:ext cx="1737192" cy="524435"/>
          </a:xfrm>
          <a:prstGeom prst="rect">
            <a:avLst/>
          </a:prstGeom>
          <a:noFill/>
          <a:ln/>
        </p:spPr>
        <p:txBody>
          <a:bodyPr wrap="square" lIns="0" tIns="0" rIns="0" bIns="0" rtlCol="0" anchor="t">
            <a:normAutofit/>
          </a:bodyPr>
          <a:lstStyle/>
          <a:p>
            <a:pPr marL="0" indent="0" algn="l">
              <a:buNone/>
            </a:pPr>
            <a:r>
              <a:rPr lang="en-US" sz="1239" b="1" dirty="0">
                <a:solidFill>
                  <a:srgbClr val="D71920"/>
                </a:solidFill>
                <a:latin typeface="Arial" pitchFamily="34" charset="0"/>
                <a:ea typeface="Arial" pitchFamily="34" charset="-122"/>
                <a:cs typeface="Arial" pitchFamily="34" charset="-120"/>
              </a:rPr>
              <a:t>04</a:t>
            </a:r>
            <a:endParaRPr lang="en-US" sz="1239" dirty="0"/>
          </a:p>
        </p:txBody>
      </p:sp>
      <p:sp>
        <p:nvSpPr>
          <p:cNvPr id="34" name="Text 32"/>
          <p:cNvSpPr/>
          <p:nvPr/>
        </p:nvSpPr>
        <p:spPr>
          <a:xfrm>
            <a:off x="548640" y="5678424"/>
            <a:ext cx="10954512" cy="219456"/>
          </a:xfrm>
          <a:prstGeom prst="rect">
            <a:avLst/>
          </a:prstGeom>
          <a:noFill/>
          <a:ln/>
        </p:spPr>
        <p:txBody>
          <a:bodyPr wrap="square" lIns="0" tIns="0" rIns="0" bIns="0" rtlCol="0" anchor="t">
            <a:normAutofit/>
          </a:bodyPr>
          <a:lstStyle/>
          <a:p>
            <a:pPr marL="0" indent="0" algn="l">
              <a:buNone/>
            </a:pPr>
            <a:r>
              <a:rPr lang="en-US" sz="840" dirty="0">
                <a:solidFill>
                  <a:srgbClr val="BDC4C9"/>
                </a:solidFill>
                <a:latin typeface="Arial" pitchFamily="34" charset="0"/>
                <a:ea typeface="Arial" pitchFamily="34" charset="-122"/>
                <a:cs typeface="Arial" pitchFamily="34" charset="-120"/>
              </a:rPr>
              <a:t>Proposed sequence / each stage retains its own evidence and decision.</a:t>
            </a:r>
            <a:endParaRPr lang="en-US" sz="840" dirty="0"/>
          </a:p>
        </p:txBody>
      </p:sp>
      <p:sp>
        <p:nvSpPr>
          <p:cNvPr id="35" name="Text 33"/>
          <p:cNvSpPr/>
          <p:nvPr/>
        </p:nvSpPr>
        <p:spPr>
          <a:xfrm>
            <a:off x="603504" y="5925312"/>
            <a:ext cx="10917936" cy="347472"/>
          </a:xfrm>
          <a:prstGeom prst="rect">
            <a:avLst/>
          </a:prstGeom>
          <a:noFill/>
          <a:ln/>
        </p:spPr>
        <p:txBody>
          <a:bodyPr wrap="square" lIns="0" tIns="0" rIns="0" bIns="0" rtlCol="0" anchor="t">
            <a:normAutofit/>
          </a:bodyPr>
          <a:lstStyle/>
          <a:p>
            <a:pPr marL="0" indent="0" algn="l">
              <a:buNone/>
            </a:pPr>
            <a:r>
              <a:rPr lang="en-US" sz="1320" dirty="0">
                <a:solidFill>
                  <a:srgbClr val="F5F6F7"/>
                </a:solidFill>
                <a:latin typeface="Arial" pitchFamily="34" charset="0"/>
                <a:ea typeface="Arial" pitchFamily="34" charset="-122"/>
                <a:cs typeface="Arial" pitchFamily="34" charset="-120"/>
              </a:rPr>
              <a:t>The measurement design should include incomplete, corrected and unsuccessful examples.</a:t>
            </a:r>
            <a:endParaRPr lang="en-US" sz="132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24282C"/>
        </a:solidFill>
        <a:effectLst/>
      </p:bgPr>
    </p:bg>
    <p:spTree>
      <p:nvGrpSpPr>
        <p:cNvPr id="1" name=""/>
        <p:cNvGrpSpPr/>
        <p:nvPr/>
      </p:nvGrpSpPr>
      <p:grpSpPr>
        <a:xfrm>
          <a:off x="0" y="0"/>
          <a:ext cx="0" cy="0"/>
          <a:chOff x="0" y="0"/>
          <a:chExt cx="0" cy="0"/>
        </a:xfrm>
      </p:grpSpPr>
      <p:sp>
        <p:nvSpPr>
          <p:cNvPr id="2" name="Text 0"/>
          <p:cNvSpPr/>
          <p:nvPr/>
        </p:nvSpPr>
        <p:spPr>
          <a:xfrm>
            <a:off x="484632" y="173736"/>
            <a:ext cx="2743200" cy="201168"/>
          </a:xfrm>
          <a:prstGeom prst="rect">
            <a:avLst/>
          </a:prstGeom>
          <a:noFill/>
          <a:ln/>
        </p:spPr>
        <p:txBody>
          <a:bodyPr wrap="square" lIns="0" tIns="0" rIns="0" bIns="0" rtlCol="0" anchor="t">
            <a:normAutofit/>
          </a:bodyPr>
          <a:lstStyle/>
          <a:p>
            <a:pPr marL="0" indent="0" algn="l">
              <a:buNone/>
            </a:pPr>
            <a:r>
              <a:rPr lang="en-US" sz="1000" b="1" dirty="0">
                <a:solidFill>
                  <a:srgbClr val="F5F6F7"/>
                </a:solidFill>
                <a:latin typeface="Arial" pitchFamily="34" charset="0"/>
                <a:ea typeface="Arial" pitchFamily="34" charset="-122"/>
                <a:cs typeface="Arial" pitchFamily="34" charset="-120"/>
              </a:rPr>
              <a:t>ISUZU / UNIVERSE</a:t>
            </a:r>
            <a:endParaRPr lang="en-US" sz="1000" dirty="0"/>
          </a:p>
        </p:txBody>
      </p:sp>
      <p:sp>
        <p:nvSpPr>
          <p:cNvPr id="3" name="Text 1"/>
          <p:cNvSpPr/>
          <p:nvPr/>
        </p:nvSpPr>
        <p:spPr>
          <a:xfrm>
            <a:off x="8046720" y="173736"/>
            <a:ext cx="3657600" cy="201168"/>
          </a:xfrm>
          <a:prstGeom prst="rect">
            <a:avLst/>
          </a:prstGeom>
          <a:noFill/>
          <a:ln/>
        </p:spPr>
        <p:txBody>
          <a:bodyPr wrap="square" lIns="0" tIns="0" rIns="0" bIns="0" rtlCol="0" anchor="t">
            <a:normAutofit/>
          </a:bodyPr>
          <a:lstStyle/>
          <a:p>
            <a:pPr marL="0" indent="0" algn="r">
              <a:buNone/>
            </a:pPr>
            <a:r>
              <a:rPr lang="en-US" sz="900" dirty="0">
                <a:solidFill>
                  <a:srgbClr val="BDC4C9"/>
                </a:solidFill>
                <a:latin typeface="Arial" pitchFamily="34" charset="0"/>
                <a:ea typeface="Arial" pitchFamily="34" charset="-122"/>
                <a:cs typeface="Arial" pitchFamily="34" charset="-120"/>
              </a:rPr>
              <a:t>COMMERCIAL VISION  /  3.0</a:t>
            </a:r>
            <a:endParaRPr lang="en-US" sz="900" dirty="0"/>
          </a:p>
        </p:txBody>
      </p:sp>
      <p:sp>
        <p:nvSpPr>
          <p:cNvPr id="4" name="Shape 2"/>
          <p:cNvSpPr/>
          <p:nvPr/>
        </p:nvSpPr>
        <p:spPr>
          <a:xfrm>
            <a:off x="484632" y="512064"/>
            <a:ext cx="475488" cy="22860"/>
          </a:xfrm>
          <a:prstGeom prst="rect">
            <a:avLst/>
          </a:prstGeom>
          <a:solidFill>
            <a:srgbClr val="D71920"/>
          </a:solidFill>
          <a:ln w="12700">
            <a:solidFill>
              <a:srgbClr val="D71920">
                <a:alpha val="0"/>
              </a:srgbClr>
            </a:solidFill>
            <a:prstDash val="solid"/>
          </a:ln>
        </p:spPr>
        <p:txBody>
          <a:bodyPr/>
          <a:lstStyle/>
          <a:p>
            <a:endParaRPr lang="nl-NL"/>
          </a:p>
        </p:txBody>
      </p:sp>
      <p:sp>
        <p:nvSpPr>
          <p:cNvPr id="5" name="Text 3"/>
          <p:cNvSpPr/>
          <p:nvPr/>
        </p:nvSpPr>
        <p:spPr>
          <a:xfrm>
            <a:off x="484632" y="658368"/>
            <a:ext cx="11064240" cy="219456"/>
          </a:xfrm>
          <a:prstGeom prst="rect">
            <a:avLst/>
          </a:prstGeom>
          <a:noFill/>
          <a:ln/>
        </p:spPr>
        <p:txBody>
          <a:bodyPr wrap="square" lIns="0" tIns="0" rIns="0" bIns="0" rtlCol="0" anchor="t">
            <a:normAutofit/>
          </a:bodyPr>
          <a:lstStyle/>
          <a:p>
            <a:pPr marL="0" indent="0" algn="l">
              <a:buNone/>
            </a:pPr>
            <a:r>
              <a:rPr lang="en-US" sz="1000" b="1" dirty="0">
                <a:solidFill>
                  <a:srgbClr val="D71920"/>
                </a:solidFill>
                <a:latin typeface="Arial" pitchFamily="34" charset="0"/>
                <a:ea typeface="Arial" pitchFamily="34" charset="-122"/>
                <a:cs typeface="Arial" pitchFamily="34" charset="-120"/>
              </a:rPr>
              <a:t>ECONOMICS</a:t>
            </a:r>
            <a:endParaRPr lang="en-US" sz="1000" dirty="0"/>
          </a:p>
        </p:txBody>
      </p:sp>
      <p:sp>
        <p:nvSpPr>
          <p:cNvPr id="6" name="Shape 4"/>
          <p:cNvSpPr/>
          <p:nvPr/>
        </p:nvSpPr>
        <p:spPr>
          <a:xfrm>
            <a:off x="484632" y="6446520"/>
            <a:ext cx="11219688" cy="914"/>
          </a:xfrm>
          <a:prstGeom prst="line">
            <a:avLst/>
          </a:prstGeom>
          <a:noFill/>
          <a:ln w="6350">
            <a:solidFill>
              <a:srgbClr val="647078"/>
            </a:solidFill>
            <a:prstDash val="solid"/>
          </a:ln>
        </p:spPr>
        <p:txBody>
          <a:bodyPr/>
          <a:lstStyle/>
          <a:p>
            <a:endParaRPr lang="nl-NL"/>
          </a:p>
        </p:txBody>
      </p:sp>
      <p:sp>
        <p:nvSpPr>
          <p:cNvPr id="7" name="Text 5"/>
          <p:cNvSpPr/>
          <p:nvPr/>
        </p:nvSpPr>
        <p:spPr>
          <a:xfrm>
            <a:off x="484632" y="6556248"/>
            <a:ext cx="9144000" cy="146304"/>
          </a:xfrm>
          <a:prstGeom prst="rect">
            <a:avLst/>
          </a:prstGeom>
          <a:noFill/>
          <a:ln/>
        </p:spPr>
        <p:txBody>
          <a:bodyPr wrap="square" lIns="0" tIns="0" rIns="0" bIns="0" rtlCol="0" anchor="t">
            <a:normAutofit/>
          </a:bodyPr>
          <a:lstStyle/>
          <a:p>
            <a:pPr marL="0" indent="0" algn="l">
              <a:buNone/>
            </a:pPr>
            <a:r>
              <a:rPr lang="en-US" sz="750" dirty="0">
                <a:solidFill>
                  <a:srgbClr val="BDC4C9"/>
                </a:solidFill>
                <a:latin typeface="Arial" pitchFamily="34" charset="0"/>
                <a:ea typeface="Arial" pitchFamily="34" charset="-122"/>
                <a:cs typeface="Arial" pitchFamily="34" charset="-120"/>
              </a:rPr>
              <a:t>22 SEPTEMBER 2026  /  CONCEPT AND APPLICATION EXAMPLES</a:t>
            </a:r>
            <a:endParaRPr lang="en-US" sz="750" dirty="0"/>
          </a:p>
        </p:txBody>
      </p:sp>
      <p:sp>
        <p:nvSpPr>
          <p:cNvPr id="8" name="Text 6"/>
          <p:cNvSpPr/>
          <p:nvPr/>
        </p:nvSpPr>
        <p:spPr>
          <a:xfrm>
            <a:off x="10789920" y="6547104"/>
            <a:ext cx="914400" cy="173736"/>
          </a:xfrm>
          <a:prstGeom prst="rect">
            <a:avLst/>
          </a:prstGeom>
          <a:noFill/>
          <a:ln/>
        </p:spPr>
        <p:txBody>
          <a:bodyPr wrap="square" lIns="0" tIns="0" rIns="0" bIns="0" rtlCol="0" anchor="t">
            <a:normAutofit/>
          </a:bodyPr>
          <a:lstStyle/>
          <a:p>
            <a:pPr marL="0" indent="0" algn="r">
              <a:buNone/>
            </a:pPr>
            <a:r>
              <a:rPr lang="en-US" sz="850" dirty="0">
                <a:solidFill>
                  <a:srgbClr val="BDC4C9"/>
                </a:solidFill>
                <a:latin typeface="Arial" pitchFamily="34" charset="0"/>
                <a:ea typeface="Arial" pitchFamily="34" charset="-122"/>
                <a:cs typeface="Arial" pitchFamily="34" charset="-120"/>
              </a:rPr>
              <a:t>42 / 49</a:t>
            </a:r>
            <a:endParaRPr lang="en-US" sz="850" dirty="0"/>
          </a:p>
        </p:txBody>
      </p:sp>
      <p:sp>
        <p:nvSpPr>
          <p:cNvPr id="9" name="Text 7"/>
          <p:cNvSpPr/>
          <p:nvPr/>
        </p:nvSpPr>
        <p:spPr>
          <a:xfrm>
            <a:off x="502920" y="1005840"/>
            <a:ext cx="11036808" cy="841248"/>
          </a:xfrm>
          <a:prstGeom prst="rect">
            <a:avLst/>
          </a:prstGeom>
          <a:noFill/>
          <a:ln/>
        </p:spPr>
        <p:txBody>
          <a:bodyPr wrap="square" lIns="0" tIns="0" rIns="0" bIns="0" rtlCol="0" anchor="t">
            <a:normAutofit/>
          </a:bodyPr>
          <a:lstStyle/>
          <a:p>
            <a:pPr marL="0" indent="0" algn="l">
              <a:buNone/>
            </a:pPr>
            <a:r>
              <a:rPr lang="en-US" sz="3400" b="1" dirty="0">
                <a:solidFill>
                  <a:srgbClr val="F5F6F7"/>
                </a:solidFill>
                <a:latin typeface="Arial" pitchFamily="34" charset="0"/>
                <a:ea typeface="Arial" pitchFamily="34" charset="-122"/>
                <a:cs typeface="Arial" pitchFamily="34" charset="-120"/>
              </a:rPr>
              <a:t>Build the business case from decisions and effort.</a:t>
            </a:r>
            <a:endParaRPr lang="en-US" sz="3400" dirty="0"/>
          </a:p>
        </p:txBody>
      </p:sp>
      <p:sp>
        <p:nvSpPr>
          <p:cNvPr id="10" name="Text 8"/>
          <p:cNvSpPr/>
          <p:nvPr/>
        </p:nvSpPr>
        <p:spPr>
          <a:xfrm>
            <a:off x="530352" y="1865376"/>
            <a:ext cx="10954512" cy="566928"/>
          </a:xfrm>
          <a:prstGeom prst="rect">
            <a:avLst/>
          </a:prstGeom>
          <a:noFill/>
          <a:ln/>
        </p:spPr>
        <p:txBody>
          <a:bodyPr wrap="square" lIns="0" tIns="0" rIns="0" bIns="0" rtlCol="0" anchor="t">
            <a:normAutofit/>
          </a:bodyPr>
          <a:lstStyle/>
          <a:p>
            <a:pPr marL="0" indent="0" algn="l">
              <a:buNone/>
            </a:pPr>
            <a:r>
              <a:rPr lang="en-US" sz="1800" dirty="0">
                <a:solidFill>
                  <a:srgbClr val="BDC4C9"/>
                </a:solidFill>
                <a:latin typeface="Arial" pitchFamily="34" charset="0"/>
                <a:ea typeface="Arial" pitchFamily="34" charset="-122"/>
                <a:cs typeface="Arial" pitchFamily="34" charset="-120"/>
              </a:rPr>
              <a:t>No arbitrary recovery percentage applied to a modelled market gap.</a:t>
            </a:r>
            <a:endParaRPr lang="en-US" sz="1800" dirty="0"/>
          </a:p>
        </p:txBody>
      </p:sp>
      <p:sp>
        <p:nvSpPr>
          <p:cNvPr id="11" name="Shape 9"/>
          <p:cNvSpPr/>
          <p:nvPr/>
        </p:nvSpPr>
        <p:spPr>
          <a:xfrm>
            <a:off x="1817043" y="2966575"/>
            <a:ext cx="2683111" cy="2343477"/>
          </a:xfrm>
          <a:prstGeom prst="roundRect">
            <a:avLst>
              <a:gd name="adj" fmla="val 1561"/>
            </a:avLst>
          </a:prstGeom>
          <a:solidFill>
            <a:srgbClr val="383F44"/>
          </a:solidFill>
          <a:ln w="8890">
            <a:solidFill>
              <a:srgbClr val="D71920"/>
            </a:solidFill>
            <a:prstDash val="solid"/>
          </a:ln>
        </p:spPr>
        <p:txBody>
          <a:bodyPr/>
          <a:lstStyle/>
          <a:p>
            <a:endParaRPr lang="nl-NL"/>
          </a:p>
        </p:txBody>
      </p:sp>
      <p:sp>
        <p:nvSpPr>
          <p:cNvPr id="12" name="Shape 10"/>
          <p:cNvSpPr/>
          <p:nvPr/>
        </p:nvSpPr>
        <p:spPr>
          <a:xfrm>
            <a:off x="1817043" y="3085447"/>
            <a:ext cx="33963" cy="2105733"/>
          </a:xfrm>
          <a:prstGeom prst="rect">
            <a:avLst/>
          </a:prstGeom>
          <a:solidFill>
            <a:srgbClr val="D71920"/>
          </a:solidFill>
          <a:ln w="12700">
            <a:solidFill>
              <a:srgbClr val="24282C">
                <a:alpha val="0"/>
              </a:srgbClr>
            </a:solidFill>
            <a:prstDash val="solid"/>
          </a:ln>
        </p:spPr>
        <p:txBody>
          <a:bodyPr/>
          <a:lstStyle/>
          <a:p>
            <a:endParaRPr lang="nl-NL"/>
          </a:p>
        </p:txBody>
      </p:sp>
      <p:sp>
        <p:nvSpPr>
          <p:cNvPr id="13" name="Text 11"/>
          <p:cNvSpPr/>
          <p:nvPr/>
        </p:nvSpPr>
        <p:spPr>
          <a:xfrm>
            <a:off x="1961388" y="3102429"/>
            <a:ext cx="2394422" cy="543415"/>
          </a:xfrm>
          <a:prstGeom prst="rect">
            <a:avLst/>
          </a:prstGeom>
          <a:noFill/>
          <a:ln/>
        </p:spPr>
        <p:txBody>
          <a:bodyPr wrap="square" lIns="0" tIns="0" rIns="0" bIns="0" rtlCol="0" anchor="t">
            <a:normAutofit/>
          </a:bodyPr>
          <a:lstStyle/>
          <a:p>
            <a:pPr marL="0" indent="0" algn="l">
              <a:buNone/>
            </a:pPr>
            <a:r>
              <a:rPr lang="en-US" sz="1671" b="1" dirty="0">
                <a:solidFill>
                  <a:srgbClr val="F5F6F7"/>
                </a:solidFill>
                <a:latin typeface="Arial" pitchFamily="34" charset="0"/>
                <a:ea typeface="Arial" pitchFamily="34" charset="-122"/>
                <a:cs typeface="Arial" pitchFamily="34" charset="-120"/>
              </a:rPr>
              <a:t>Parts gross profit</a:t>
            </a:r>
            <a:endParaRPr lang="en-US" sz="1671" dirty="0"/>
          </a:p>
        </p:txBody>
      </p:sp>
      <p:sp>
        <p:nvSpPr>
          <p:cNvPr id="14" name="Text 12"/>
          <p:cNvSpPr/>
          <p:nvPr/>
        </p:nvSpPr>
        <p:spPr>
          <a:xfrm>
            <a:off x="1961388" y="3705279"/>
            <a:ext cx="2394422" cy="1502882"/>
          </a:xfrm>
          <a:prstGeom prst="rect">
            <a:avLst/>
          </a:prstGeom>
          <a:noFill/>
          <a:ln/>
        </p:spPr>
        <p:txBody>
          <a:bodyPr wrap="square" lIns="0" tIns="0" rIns="0" bIns="0" rtlCol="0" anchor="t">
            <a:normAutofit/>
          </a:bodyPr>
          <a:lstStyle/>
          <a:p>
            <a:pPr marL="0" indent="0" algn="l">
              <a:buNone/>
            </a:pPr>
            <a:r>
              <a:rPr lang="en-US" sz="1337" dirty="0">
                <a:solidFill>
                  <a:srgbClr val="BDC4C9"/>
                </a:solidFill>
                <a:latin typeface="Arial" pitchFamily="34" charset="0"/>
                <a:ea typeface="Arial" pitchFamily="34" charset="-122"/>
                <a:cs typeface="Arial" pitchFamily="34" charset="-120"/>
              </a:rPr>
              <a:t>Net revenue less documented parts purchase cost.</a:t>
            </a:r>
            <a:endParaRPr lang="en-US" sz="1337" dirty="0"/>
          </a:p>
        </p:txBody>
      </p:sp>
      <p:sp>
        <p:nvSpPr>
          <p:cNvPr id="15" name="Shape 13"/>
          <p:cNvSpPr/>
          <p:nvPr/>
        </p:nvSpPr>
        <p:spPr>
          <a:xfrm>
            <a:off x="4720917" y="2966575"/>
            <a:ext cx="2683111" cy="2343477"/>
          </a:xfrm>
          <a:prstGeom prst="roundRect">
            <a:avLst>
              <a:gd name="adj" fmla="val 1561"/>
            </a:avLst>
          </a:prstGeom>
          <a:solidFill>
            <a:srgbClr val="30363B"/>
          </a:solidFill>
          <a:ln w="8890">
            <a:solidFill>
              <a:srgbClr val="48525B"/>
            </a:solidFill>
            <a:prstDash val="solid"/>
          </a:ln>
        </p:spPr>
        <p:txBody>
          <a:bodyPr/>
          <a:lstStyle/>
          <a:p>
            <a:endParaRPr lang="nl-NL"/>
          </a:p>
        </p:txBody>
      </p:sp>
      <p:sp>
        <p:nvSpPr>
          <p:cNvPr id="16" name="Shape 14"/>
          <p:cNvSpPr/>
          <p:nvPr/>
        </p:nvSpPr>
        <p:spPr>
          <a:xfrm>
            <a:off x="4720917" y="3085447"/>
            <a:ext cx="33963" cy="2105733"/>
          </a:xfrm>
          <a:prstGeom prst="rect">
            <a:avLst/>
          </a:prstGeom>
          <a:solidFill>
            <a:srgbClr val="82909A"/>
          </a:solidFill>
          <a:ln w="12700">
            <a:solidFill>
              <a:srgbClr val="24282C">
                <a:alpha val="0"/>
              </a:srgbClr>
            </a:solidFill>
            <a:prstDash val="solid"/>
          </a:ln>
        </p:spPr>
        <p:txBody>
          <a:bodyPr/>
          <a:lstStyle/>
          <a:p>
            <a:endParaRPr lang="nl-NL"/>
          </a:p>
        </p:txBody>
      </p:sp>
      <p:sp>
        <p:nvSpPr>
          <p:cNvPr id="17" name="Text 15"/>
          <p:cNvSpPr/>
          <p:nvPr/>
        </p:nvSpPr>
        <p:spPr>
          <a:xfrm>
            <a:off x="4865261" y="3102429"/>
            <a:ext cx="2394422" cy="543415"/>
          </a:xfrm>
          <a:prstGeom prst="rect">
            <a:avLst/>
          </a:prstGeom>
          <a:noFill/>
          <a:ln/>
        </p:spPr>
        <p:txBody>
          <a:bodyPr wrap="square" lIns="0" tIns="0" rIns="0" bIns="0" rtlCol="0" anchor="t">
            <a:normAutofit/>
          </a:bodyPr>
          <a:lstStyle/>
          <a:p>
            <a:pPr marL="0" indent="0" algn="l">
              <a:buNone/>
            </a:pPr>
            <a:r>
              <a:rPr lang="en-US" sz="1671" b="1" dirty="0">
                <a:solidFill>
                  <a:srgbClr val="F5F6F7"/>
                </a:solidFill>
                <a:latin typeface="Arial" pitchFamily="34" charset="0"/>
                <a:ea typeface="Arial" pitchFamily="34" charset="-122"/>
                <a:cs typeface="Arial" pitchFamily="34" charset="-120"/>
              </a:rPr>
              <a:t>Programme contribution</a:t>
            </a:r>
            <a:endParaRPr lang="en-US" sz="1671" dirty="0"/>
          </a:p>
        </p:txBody>
      </p:sp>
      <p:sp>
        <p:nvSpPr>
          <p:cNvPr id="18" name="Text 16"/>
          <p:cNvSpPr/>
          <p:nvPr/>
        </p:nvSpPr>
        <p:spPr>
          <a:xfrm>
            <a:off x="4865261" y="3705279"/>
            <a:ext cx="2394422" cy="1502882"/>
          </a:xfrm>
          <a:prstGeom prst="rect">
            <a:avLst/>
          </a:prstGeom>
          <a:noFill/>
          <a:ln/>
        </p:spPr>
        <p:txBody>
          <a:bodyPr wrap="square" lIns="0" tIns="0" rIns="0" bIns="0" rtlCol="0" anchor="t">
            <a:normAutofit/>
          </a:bodyPr>
          <a:lstStyle/>
          <a:p>
            <a:pPr marL="0" indent="0" algn="l">
              <a:buNone/>
            </a:pPr>
            <a:r>
              <a:rPr lang="en-US" sz="1337" dirty="0">
                <a:solidFill>
                  <a:srgbClr val="BDC4C9"/>
                </a:solidFill>
                <a:latin typeface="Arial" pitchFamily="34" charset="0"/>
                <a:ea typeface="Arial" pitchFamily="34" charset="-122"/>
                <a:cs typeface="Arial" pitchFamily="34" charset="-120"/>
              </a:rPr>
              <a:t>Additional support and costs, without double counting.</a:t>
            </a:r>
            <a:endParaRPr lang="en-US" sz="1337" dirty="0"/>
          </a:p>
        </p:txBody>
      </p:sp>
      <p:sp>
        <p:nvSpPr>
          <p:cNvPr id="19" name="Shape 17"/>
          <p:cNvSpPr/>
          <p:nvPr/>
        </p:nvSpPr>
        <p:spPr>
          <a:xfrm>
            <a:off x="7624790" y="2966575"/>
            <a:ext cx="2683111" cy="2343477"/>
          </a:xfrm>
          <a:prstGeom prst="roundRect">
            <a:avLst>
              <a:gd name="adj" fmla="val 1561"/>
            </a:avLst>
          </a:prstGeom>
          <a:solidFill>
            <a:srgbClr val="30363B"/>
          </a:solidFill>
          <a:ln w="8890">
            <a:solidFill>
              <a:srgbClr val="48525B"/>
            </a:solidFill>
            <a:prstDash val="solid"/>
          </a:ln>
        </p:spPr>
        <p:txBody>
          <a:bodyPr/>
          <a:lstStyle/>
          <a:p>
            <a:endParaRPr lang="nl-NL"/>
          </a:p>
        </p:txBody>
      </p:sp>
      <p:sp>
        <p:nvSpPr>
          <p:cNvPr id="20" name="Shape 18"/>
          <p:cNvSpPr/>
          <p:nvPr/>
        </p:nvSpPr>
        <p:spPr>
          <a:xfrm>
            <a:off x="7624790" y="3085447"/>
            <a:ext cx="33963" cy="2105733"/>
          </a:xfrm>
          <a:prstGeom prst="rect">
            <a:avLst/>
          </a:prstGeom>
          <a:solidFill>
            <a:srgbClr val="82909A"/>
          </a:solidFill>
          <a:ln w="12700">
            <a:solidFill>
              <a:srgbClr val="24282C">
                <a:alpha val="0"/>
              </a:srgbClr>
            </a:solidFill>
            <a:prstDash val="solid"/>
          </a:ln>
        </p:spPr>
        <p:txBody>
          <a:bodyPr/>
          <a:lstStyle/>
          <a:p>
            <a:endParaRPr lang="nl-NL"/>
          </a:p>
        </p:txBody>
      </p:sp>
      <p:sp>
        <p:nvSpPr>
          <p:cNvPr id="21" name="Text 19"/>
          <p:cNvSpPr/>
          <p:nvPr/>
        </p:nvSpPr>
        <p:spPr>
          <a:xfrm>
            <a:off x="7769134" y="3102429"/>
            <a:ext cx="2394422" cy="543415"/>
          </a:xfrm>
          <a:prstGeom prst="rect">
            <a:avLst/>
          </a:prstGeom>
          <a:noFill/>
          <a:ln/>
        </p:spPr>
        <p:txBody>
          <a:bodyPr wrap="square" lIns="0" tIns="0" rIns="0" bIns="0" rtlCol="0" anchor="t">
            <a:normAutofit/>
          </a:bodyPr>
          <a:lstStyle/>
          <a:p>
            <a:pPr marL="0" indent="0" algn="l">
              <a:buNone/>
            </a:pPr>
            <a:r>
              <a:rPr lang="en-US" sz="1671" b="1" dirty="0">
                <a:solidFill>
                  <a:srgbClr val="F5F6F7"/>
                </a:solidFill>
                <a:latin typeface="Arial" pitchFamily="34" charset="0"/>
                <a:ea typeface="Arial" pitchFamily="34" charset="-122"/>
                <a:cs typeface="Arial" pitchFamily="34" charset="-120"/>
              </a:rPr>
              <a:t>Capacity released</a:t>
            </a:r>
            <a:endParaRPr lang="en-US" sz="1671" dirty="0"/>
          </a:p>
        </p:txBody>
      </p:sp>
      <p:sp>
        <p:nvSpPr>
          <p:cNvPr id="22" name="Text 20"/>
          <p:cNvSpPr/>
          <p:nvPr/>
        </p:nvSpPr>
        <p:spPr>
          <a:xfrm>
            <a:off x="7769134" y="3705279"/>
            <a:ext cx="2394422" cy="1502882"/>
          </a:xfrm>
          <a:prstGeom prst="rect">
            <a:avLst/>
          </a:prstGeom>
          <a:noFill/>
          <a:ln/>
        </p:spPr>
        <p:txBody>
          <a:bodyPr wrap="square" lIns="0" tIns="0" rIns="0" bIns="0" rtlCol="0" anchor="t">
            <a:normAutofit/>
          </a:bodyPr>
          <a:lstStyle/>
          <a:p>
            <a:pPr marL="0" indent="0" algn="l">
              <a:buNone/>
            </a:pPr>
            <a:r>
              <a:rPr lang="en-US" sz="1337" dirty="0">
                <a:solidFill>
                  <a:srgbClr val="BDC4C9"/>
                </a:solidFill>
                <a:latin typeface="Arial" pitchFamily="34" charset="0"/>
                <a:ea typeface="Arial" pitchFamily="34" charset="-122"/>
                <a:cs typeface="Arial" pitchFamily="34" charset="-120"/>
              </a:rPr>
              <a:t>Comparable effort saved, not automatically cash.</a:t>
            </a:r>
            <a:endParaRPr lang="en-US" sz="1337" dirty="0"/>
          </a:p>
        </p:txBody>
      </p:sp>
      <p:sp>
        <p:nvSpPr>
          <p:cNvPr id="23" name="Text 21"/>
          <p:cNvSpPr/>
          <p:nvPr/>
        </p:nvSpPr>
        <p:spPr>
          <a:xfrm>
            <a:off x="548640" y="5678424"/>
            <a:ext cx="10954512" cy="219456"/>
          </a:xfrm>
          <a:prstGeom prst="rect">
            <a:avLst/>
          </a:prstGeom>
          <a:noFill/>
          <a:ln/>
        </p:spPr>
        <p:txBody>
          <a:bodyPr wrap="square" lIns="0" tIns="0" rIns="0" bIns="0" rtlCol="0" anchor="t">
            <a:normAutofit/>
          </a:bodyPr>
          <a:lstStyle/>
          <a:p>
            <a:pPr marL="0" indent="0" algn="l">
              <a:buNone/>
            </a:pPr>
            <a:r>
              <a:rPr lang="en-US" sz="840" dirty="0">
                <a:solidFill>
                  <a:srgbClr val="BDC4C9"/>
                </a:solidFill>
                <a:latin typeface="Arial" pitchFamily="34" charset="0"/>
                <a:ea typeface="Arial" pitchFamily="34" charset="-122"/>
                <a:cs typeface="Arial" pitchFamily="34" charset="-120"/>
              </a:rPr>
              <a:t>Illustrative design / independent requirements and outputs.</a:t>
            </a:r>
            <a:endParaRPr lang="en-US" sz="840" dirty="0"/>
          </a:p>
        </p:txBody>
      </p:sp>
      <p:sp>
        <p:nvSpPr>
          <p:cNvPr id="24" name="Text 22"/>
          <p:cNvSpPr/>
          <p:nvPr/>
        </p:nvSpPr>
        <p:spPr>
          <a:xfrm>
            <a:off x="603504" y="5925312"/>
            <a:ext cx="10917936" cy="347472"/>
          </a:xfrm>
          <a:prstGeom prst="rect">
            <a:avLst/>
          </a:prstGeom>
          <a:noFill/>
          <a:ln/>
        </p:spPr>
        <p:txBody>
          <a:bodyPr wrap="square" lIns="0" tIns="0" rIns="0" bIns="0" rtlCol="0" anchor="t">
            <a:normAutofit/>
          </a:bodyPr>
          <a:lstStyle/>
          <a:p>
            <a:pPr marL="0" indent="0" algn="l">
              <a:buNone/>
            </a:pPr>
            <a:r>
              <a:rPr lang="en-US" sz="1320" dirty="0">
                <a:solidFill>
                  <a:srgbClr val="F5F6F7"/>
                </a:solidFill>
                <a:latin typeface="Arial" pitchFamily="34" charset="0"/>
                <a:ea typeface="Arial" pitchFamily="34" charset="-122"/>
                <a:cs typeface="Arial" pitchFamily="34" charset="-120"/>
              </a:rPr>
              <a:t>The proposed programme should be funded against defined deliverables and reviewed against observed usefulness.</a:t>
            </a:r>
            <a:endParaRPr lang="en-US" sz="132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24282C"/>
        </a:solidFill>
        <a:effectLst/>
      </p:bgPr>
    </p:bg>
    <p:spTree>
      <p:nvGrpSpPr>
        <p:cNvPr id="1" name=""/>
        <p:cNvGrpSpPr/>
        <p:nvPr/>
      </p:nvGrpSpPr>
      <p:grpSpPr>
        <a:xfrm>
          <a:off x="0" y="0"/>
          <a:ext cx="0" cy="0"/>
          <a:chOff x="0" y="0"/>
          <a:chExt cx="0" cy="0"/>
        </a:xfrm>
      </p:grpSpPr>
      <p:sp>
        <p:nvSpPr>
          <p:cNvPr id="2" name="Text 0"/>
          <p:cNvSpPr/>
          <p:nvPr/>
        </p:nvSpPr>
        <p:spPr>
          <a:xfrm>
            <a:off x="484632" y="173736"/>
            <a:ext cx="2743200" cy="201168"/>
          </a:xfrm>
          <a:prstGeom prst="rect">
            <a:avLst/>
          </a:prstGeom>
          <a:noFill/>
          <a:ln/>
        </p:spPr>
        <p:txBody>
          <a:bodyPr wrap="square" lIns="0" tIns="0" rIns="0" bIns="0" rtlCol="0" anchor="t">
            <a:normAutofit/>
          </a:bodyPr>
          <a:lstStyle/>
          <a:p>
            <a:pPr marL="0" indent="0" algn="l">
              <a:buNone/>
            </a:pPr>
            <a:r>
              <a:rPr lang="en-US" sz="1000" b="1" dirty="0">
                <a:solidFill>
                  <a:srgbClr val="F5F6F7"/>
                </a:solidFill>
                <a:latin typeface="Arial" pitchFamily="34" charset="0"/>
                <a:ea typeface="Arial" pitchFamily="34" charset="-122"/>
                <a:cs typeface="Arial" pitchFamily="34" charset="-120"/>
              </a:rPr>
              <a:t>ISUZU / UNIVERSE</a:t>
            </a:r>
            <a:endParaRPr lang="en-US" sz="1000" dirty="0"/>
          </a:p>
        </p:txBody>
      </p:sp>
      <p:sp>
        <p:nvSpPr>
          <p:cNvPr id="3" name="Text 1"/>
          <p:cNvSpPr/>
          <p:nvPr/>
        </p:nvSpPr>
        <p:spPr>
          <a:xfrm>
            <a:off x="8046720" y="173736"/>
            <a:ext cx="3657600" cy="201168"/>
          </a:xfrm>
          <a:prstGeom prst="rect">
            <a:avLst/>
          </a:prstGeom>
          <a:noFill/>
          <a:ln/>
        </p:spPr>
        <p:txBody>
          <a:bodyPr wrap="square" lIns="0" tIns="0" rIns="0" bIns="0" rtlCol="0" anchor="t">
            <a:normAutofit/>
          </a:bodyPr>
          <a:lstStyle/>
          <a:p>
            <a:pPr marL="0" indent="0" algn="r">
              <a:buNone/>
            </a:pPr>
            <a:r>
              <a:rPr lang="en-US" sz="900" dirty="0">
                <a:solidFill>
                  <a:srgbClr val="BDC4C9"/>
                </a:solidFill>
                <a:latin typeface="Arial" pitchFamily="34" charset="0"/>
                <a:ea typeface="Arial" pitchFamily="34" charset="-122"/>
                <a:cs typeface="Arial" pitchFamily="34" charset="-120"/>
              </a:rPr>
              <a:t>COMMERCIAL VISION  /  3.0</a:t>
            </a:r>
            <a:endParaRPr lang="en-US" sz="900" dirty="0"/>
          </a:p>
        </p:txBody>
      </p:sp>
      <p:sp>
        <p:nvSpPr>
          <p:cNvPr id="4" name="Shape 2"/>
          <p:cNvSpPr/>
          <p:nvPr/>
        </p:nvSpPr>
        <p:spPr>
          <a:xfrm>
            <a:off x="484632" y="512064"/>
            <a:ext cx="475488" cy="22860"/>
          </a:xfrm>
          <a:prstGeom prst="rect">
            <a:avLst/>
          </a:prstGeom>
          <a:solidFill>
            <a:srgbClr val="D71920"/>
          </a:solidFill>
          <a:ln w="12700">
            <a:solidFill>
              <a:srgbClr val="D71920">
                <a:alpha val="0"/>
              </a:srgbClr>
            </a:solidFill>
            <a:prstDash val="solid"/>
          </a:ln>
        </p:spPr>
        <p:txBody>
          <a:bodyPr/>
          <a:lstStyle/>
          <a:p>
            <a:endParaRPr lang="nl-NL"/>
          </a:p>
        </p:txBody>
      </p:sp>
      <p:sp>
        <p:nvSpPr>
          <p:cNvPr id="5" name="Text 3"/>
          <p:cNvSpPr/>
          <p:nvPr/>
        </p:nvSpPr>
        <p:spPr>
          <a:xfrm>
            <a:off x="484632" y="658368"/>
            <a:ext cx="11064240" cy="219456"/>
          </a:xfrm>
          <a:prstGeom prst="rect">
            <a:avLst/>
          </a:prstGeom>
          <a:noFill/>
          <a:ln/>
        </p:spPr>
        <p:txBody>
          <a:bodyPr wrap="square" lIns="0" tIns="0" rIns="0" bIns="0" rtlCol="0" anchor="t">
            <a:normAutofit/>
          </a:bodyPr>
          <a:lstStyle/>
          <a:p>
            <a:pPr marL="0" indent="0" algn="l">
              <a:buNone/>
            </a:pPr>
            <a:r>
              <a:rPr lang="en-US" sz="1000" b="1" dirty="0">
                <a:solidFill>
                  <a:srgbClr val="D71920"/>
                </a:solidFill>
                <a:latin typeface="Arial" pitchFamily="34" charset="0"/>
                <a:ea typeface="Arial" pitchFamily="34" charset="-122"/>
                <a:cs typeface="Arial" pitchFamily="34" charset="-120"/>
              </a:rPr>
              <a:t>FUNDING / PLANNING OPTIONS</a:t>
            </a:r>
            <a:endParaRPr lang="en-US" sz="1000" dirty="0"/>
          </a:p>
        </p:txBody>
      </p:sp>
      <p:sp>
        <p:nvSpPr>
          <p:cNvPr id="6" name="Shape 4"/>
          <p:cNvSpPr/>
          <p:nvPr/>
        </p:nvSpPr>
        <p:spPr>
          <a:xfrm>
            <a:off x="484632" y="6446520"/>
            <a:ext cx="11219688" cy="914"/>
          </a:xfrm>
          <a:prstGeom prst="line">
            <a:avLst/>
          </a:prstGeom>
          <a:noFill/>
          <a:ln w="6350">
            <a:solidFill>
              <a:srgbClr val="647078"/>
            </a:solidFill>
            <a:prstDash val="solid"/>
          </a:ln>
        </p:spPr>
        <p:txBody>
          <a:bodyPr/>
          <a:lstStyle/>
          <a:p>
            <a:endParaRPr lang="nl-NL"/>
          </a:p>
        </p:txBody>
      </p:sp>
      <p:sp>
        <p:nvSpPr>
          <p:cNvPr id="7" name="Text 5"/>
          <p:cNvSpPr/>
          <p:nvPr/>
        </p:nvSpPr>
        <p:spPr>
          <a:xfrm>
            <a:off x="484632" y="6556248"/>
            <a:ext cx="9144000" cy="146304"/>
          </a:xfrm>
          <a:prstGeom prst="rect">
            <a:avLst/>
          </a:prstGeom>
          <a:noFill/>
          <a:ln/>
        </p:spPr>
        <p:txBody>
          <a:bodyPr wrap="square" lIns="0" tIns="0" rIns="0" bIns="0" rtlCol="0" anchor="t">
            <a:normAutofit/>
          </a:bodyPr>
          <a:lstStyle/>
          <a:p>
            <a:pPr marL="0" indent="0" algn="l">
              <a:buNone/>
            </a:pPr>
            <a:r>
              <a:rPr lang="en-US" sz="750" dirty="0">
                <a:solidFill>
                  <a:srgbClr val="BDC4C9"/>
                </a:solidFill>
                <a:latin typeface="Arial" pitchFamily="34" charset="0"/>
                <a:ea typeface="Arial" pitchFamily="34" charset="-122"/>
                <a:cs typeface="Arial" pitchFamily="34" charset="-120"/>
              </a:rPr>
              <a:t>22 SEPTEMBER 2026  /  CONCEPT AND APPLICATION EXAMPLES</a:t>
            </a:r>
            <a:endParaRPr lang="en-US" sz="750" dirty="0"/>
          </a:p>
        </p:txBody>
      </p:sp>
      <p:sp>
        <p:nvSpPr>
          <p:cNvPr id="8" name="Text 6"/>
          <p:cNvSpPr/>
          <p:nvPr/>
        </p:nvSpPr>
        <p:spPr>
          <a:xfrm>
            <a:off x="10789920" y="6547104"/>
            <a:ext cx="914400" cy="173736"/>
          </a:xfrm>
          <a:prstGeom prst="rect">
            <a:avLst/>
          </a:prstGeom>
          <a:noFill/>
          <a:ln/>
        </p:spPr>
        <p:txBody>
          <a:bodyPr wrap="square" lIns="0" tIns="0" rIns="0" bIns="0" rtlCol="0" anchor="t">
            <a:normAutofit/>
          </a:bodyPr>
          <a:lstStyle/>
          <a:p>
            <a:pPr marL="0" indent="0" algn="r">
              <a:buNone/>
            </a:pPr>
            <a:r>
              <a:rPr lang="en-US" sz="850" dirty="0">
                <a:solidFill>
                  <a:srgbClr val="BDC4C9"/>
                </a:solidFill>
                <a:latin typeface="Arial" pitchFamily="34" charset="0"/>
                <a:ea typeface="Arial" pitchFamily="34" charset="-122"/>
                <a:cs typeface="Arial" pitchFamily="34" charset="-120"/>
              </a:rPr>
              <a:t>43 / 49</a:t>
            </a:r>
            <a:endParaRPr lang="en-US" sz="850" dirty="0"/>
          </a:p>
        </p:txBody>
      </p:sp>
      <p:sp>
        <p:nvSpPr>
          <p:cNvPr id="9" name="Text 7"/>
          <p:cNvSpPr/>
          <p:nvPr/>
        </p:nvSpPr>
        <p:spPr>
          <a:xfrm>
            <a:off x="502920" y="1005840"/>
            <a:ext cx="11036808" cy="841248"/>
          </a:xfrm>
          <a:prstGeom prst="rect">
            <a:avLst/>
          </a:prstGeom>
          <a:noFill/>
          <a:ln/>
        </p:spPr>
        <p:txBody>
          <a:bodyPr wrap="square" lIns="0" tIns="0" rIns="0" bIns="0" rtlCol="0" anchor="t">
            <a:normAutofit/>
          </a:bodyPr>
          <a:lstStyle/>
          <a:p>
            <a:pPr marL="0" indent="0" algn="l">
              <a:buNone/>
            </a:pPr>
            <a:r>
              <a:rPr lang="en-US" sz="3400" b="1" dirty="0">
                <a:solidFill>
                  <a:srgbClr val="F5F6F7"/>
                </a:solidFill>
                <a:latin typeface="Arial" pitchFamily="34" charset="0"/>
                <a:ea typeface="Arial" pitchFamily="34" charset="-122"/>
                <a:cs typeface="Arial" pitchFamily="34" charset="-120"/>
              </a:rPr>
              <a:t>Scale the investment to accepted work.</a:t>
            </a:r>
            <a:endParaRPr lang="en-US" sz="3400" dirty="0"/>
          </a:p>
        </p:txBody>
      </p:sp>
      <p:sp>
        <p:nvSpPr>
          <p:cNvPr id="10" name="Text 8"/>
          <p:cNvSpPr/>
          <p:nvPr/>
        </p:nvSpPr>
        <p:spPr>
          <a:xfrm>
            <a:off x="530352" y="1865376"/>
            <a:ext cx="10954512" cy="566928"/>
          </a:xfrm>
          <a:prstGeom prst="rect">
            <a:avLst/>
          </a:prstGeom>
          <a:noFill/>
          <a:ln/>
        </p:spPr>
        <p:txBody>
          <a:bodyPr wrap="square" lIns="0" tIns="0" rIns="0" bIns="0" rtlCol="0" anchor="t">
            <a:normAutofit/>
          </a:bodyPr>
          <a:lstStyle/>
          <a:p>
            <a:pPr marL="0" indent="0" algn="l">
              <a:buNone/>
            </a:pPr>
            <a:r>
              <a:rPr lang="en-US" sz="1800" dirty="0">
                <a:solidFill>
                  <a:srgbClr val="BDC4C9"/>
                </a:solidFill>
                <a:latin typeface="Arial" pitchFamily="34" charset="0"/>
                <a:ea typeface="Arial" pitchFamily="34" charset="-122"/>
                <a:cs typeface="Arial" pitchFamily="34" charset="-120"/>
              </a:rPr>
              <a:t>Reference proposals dated 22 September 2026 / not approved expenditure.</a:t>
            </a:r>
            <a:endParaRPr lang="en-US" sz="1800" dirty="0"/>
          </a:p>
        </p:txBody>
      </p:sp>
      <p:sp>
        <p:nvSpPr>
          <p:cNvPr id="11" name="Text 9"/>
          <p:cNvSpPr/>
          <p:nvPr/>
        </p:nvSpPr>
        <p:spPr>
          <a:xfrm>
            <a:off x="2393583" y="2682917"/>
            <a:ext cx="2164644" cy="440267"/>
          </a:xfrm>
          <a:prstGeom prst="rect">
            <a:avLst/>
          </a:prstGeom>
          <a:noFill/>
          <a:ln/>
        </p:spPr>
        <p:txBody>
          <a:bodyPr wrap="square" lIns="0" tIns="0" rIns="0" bIns="0" rtlCol="0" anchor="t">
            <a:normAutofit/>
          </a:bodyPr>
          <a:lstStyle/>
          <a:p>
            <a:pPr marL="0" indent="0" algn="l">
              <a:buNone/>
            </a:pPr>
            <a:r>
              <a:rPr lang="en-US" sz="1213" dirty="0">
                <a:solidFill>
                  <a:srgbClr val="BDC4C9"/>
                </a:solidFill>
                <a:latin typeface="Arial" pitchFamily="34" charset="0"/>
                <a:ea typeface="Arial" pitchFamily="34" charset="-122"/>
                <a:cs typeface="Arial" pitchFamily="34" charset="-120"/>
              </a:rPr>
              <a:t>Dealer enablement</a:t>
            </a:r>
            <a:endParaRPr lang="en-US" sz="1213" dirty="0"/>
          </a:p>
        </p:txBody>
      </p:sp>
      <p:sp>
        <p:nvSpPr>
          <p:cNvPr id="12" name="Shape 10"/>
          <p:cNvSpPr/>
          <p:nvPr/>
        </p:nvSpPr>
        <p:spPr>
          <a:xfrm>
            <a:off x="4646281" y="2682917"/>
            <a:ext cx="418253" cy="88053"/>
          </a:xfrm>
          <a:prstGeom prst="rect">
            <a:avLst/>
          </a:prstGeom>
          <a:solidFill>
            <a:srgbClr val="F5F6F7"/>
          </a:solidFill>
          <a:ln w="12700">
            <a:solidFill>
              <a:srgbClr val="24282C">
                <a:alpha val="0"/>
              </a:srgbClr>
            </a:solidFill>
            <a:prstDash val="solid"/>
          </a:ln>
        </p:spPr>
        <p:txBody>
          <a:bodyPr/>
          <a:lstStyle/>
          <a:p>
            <a:endParaRPr lang="nl-NL"/>
          </a:p>
        </p:txBody>
      </p:sp>
      <p:sp>
        <p:nvSpPr>
          <p:cNvPr id="13" name="Shape 11"/>
          <p:cNvSpPr/>
          <p:nvPr/>
        </p:nvSpPr>
        <p:spPr>
          <a:xfrm>
            <a:off x="4646281" y="2800322"/>
            <a:ext cx="2788356" cy="88053"/>
          </a:xfrm>
          <a:prstGeom prst="rect">
            <a:avLst/>
          </a:prstGeom>
          <a:solidFill>
            <a:srgbClr val="D71920"/>
          </a:solidFill>
          <a:ln w="12700">
            <a:solidFill>
              <a:srgbClr val="24282C">
                <a:alpha val="0"/>
              </a:srgbClr>
            </a:solidFill>
            <a:prstDash val="solid"/>
          </a:ln>
        </p:spPr>
        <p:txBody>
          <a:bodyPr/>
          <a:lstStyle/>
          <a:p>
            <a:endParaRPr lang="nl-NL"/>
          </a:p>
        </p:txBody>
      </p:sp>
      <p:sp>
        <p:nvSpPr>
          <p:cNvPr id="14" name="Text 12"/>
          <p:cNvSpPr/>
          <p:nvPr/>
        </p:nvSpPr>
        <p:spPr>
          <a:xfrm>
            <a:off x="7933605" y="2690255"/>
            <a:ext cx="1504244" cy="440267"/>
          </a:xfrm>
          <a:prstGeom prst="rect">
            <a:avLst/>
          </a:prstGeom>
          <a:noFill/>
          <a:ln/>
        </p:spPr>
        <p:txBody>
          <a:bodyPr wrap="square" lIns="0" tIns="0" rIns="0" bIns="0" rtlCol="0" anchor="t">
            <a:normAutofit/>
          </a:bodyPr>
          <a:lstStyle/>
          <a:p>
            <a:pPr marL="0" indent="0" algn="l">
              <a:buNone/>
            </a:pPr>
            <a:r>
              <a:rPr lang="en-US" sz="1213" dirty="0">
                <a:solidFill>
                  <a:srgbClr val="BDC4C9"/>
                </a:solidFill>
                <a:latin typeface="Arial" pitchFamily="34" charset="0"/>
                <a:ea typeface="Arial" pitchFamily="34" charset="-122"/>
                <a:cs typeface="Arial" pitchFamily="34" charset="-120"/>
              </a:rPr>
              <a:t>15 / 100</a:t>
            </a:r>
            <a:endParaRPr lang="en-US" sz="1213" dirty="0"/>
          </a:p>
        </p:txBody>
      </p:sp>
      <p:sp>
        <p:nvSpPr>
          <p:cNvPr id="15" name="Text 13"/>
          <p:cNvSpPr/>
          <p:nvPr/>
        </p:nvSpPr>
        <p:spPr>
          <a:xfrm>
            <a:off x="2393583" y="2998442"/>
            <a:ext cx="2164644" cy="440267"/>
          </a:xfrm>
          <a:prstGeom prst="rect">
            <a:avLst/>
          </a:prstGeom>
          <a:noFill/>
          <a:ln/>
        </p:spPr>
        <p:txBody>
          <a:bodyPr wrap="square" lIns="0" tIns="0" rIns="0" bIns="0" rtlCol="0" anchor="t">
            <a:normAutofit/>
          </a:bodyPr>
          <a:lstStyle/>
          <a:p>
            <a:pPr marL="0" indent="0" algn="l">
              <a:buNone/>
            </a:pPr>
            <a:r>
              <a:rPr lang="en-US" sz="1213" dirty="0">
                <a:solidFill>
                  <a:srgbClr val="BDC4C9"/>
                </a:solidFill>
                <a:latin typeface="Arial" pitchFamily="34" charset="0"/>
                <a:ea typeface="Arial" pitchFamily="34" charset="-122"/>
                <a:cs typeface="Arial" pitchFamily="34" charset="-120"/>
              </a:rPr>
              <a:t>Onboarding</a:t>
            </a:r>
            <a:endParaRPr lang="en-US" sz="1213" dirty="0"/>
          </a:p>
        </p:txBody>
      </p:sp>
      <p:sp>
        <p:nvSpPr>
          <p:cNvPr id="16" name="Shape 14"/>
          <p:cNvSpPr/>
          <p:nvPr/>
        </p:nvSpPr>
        <p:spPr>
          <a:xfrm>
            <a:off x="4646281" y="2998442"/>
            <a:ext cx="278836" cy="88053"/>
          </a:xfrm>
          <a:prstGeom prst="rect">
            <a:avLst/>
          </a:prstGeom>
          <a:solidFill>
            <a:srgbClr val="F5F6F7"/>
          </a:solidFill>
          <a:ln w="12700">
            <a:solidFill>
              <a:srgbClr val="24282C">
                <a:alpha val="0"/>
              </a:srgbClr>
            </a:solidFill>
            <a:prstDash val="solid"/>
          </a:ln>
        </p:spPr>
        <p:txBody>
          <a:bodyPr/>
          <a:lstStyle/>
          <a:p>
            <a:endParaRPr lang="nl-NL"/>
          </a:p>
        </p:txBody>
      </p:sp>
      <p:sp>
        <p:nvSpPr>
          <p:cNvPr id="17" name="Shape 15"/>
          <p:cNvSpPr/>
          <p:nvPr/>
        </p:nvSpPr>
        <p:spPr>
          <a:xfrm>
            <a:off x="4646281" y="3115846"/>
            <a:ext cx="975924" cy="88053"/>
          </a:xfrm>
          <a:prstGeom prst="rect">
            <a:avLst/>
          </a:prstGeom>
          <a:solidFill>
            <a:srgbClr val="D71920"/>
          </a:solidFill>
          <a:ln w="12700">
            <a:solidFill>
              <a:srgbClr val="24282C">
                <a:alpha val="0"/>
              </a:srgbClr>
            </a:solidFill>
            <a:prstDash val="solid"/>
          </a:ln>
        </p:spPr>
        <p:txBody>
          <a:bodyPr/>
          <a:lstStyle/>
          <a:p>
            <a:endParaRPr lang="nl-NL"/>
          </a:p>
        </p:txBody>
      </p:sp>
      <p:sp>
        <p:nvSpPr>
          <p:cNvPr id="18" name="Text 16"/>
          <p:cNvSpPr/>
          <p:nvPr/>
        </p:nvSpPr>
        <p:spPr>
          <a:xfrm>
            <a:off x="7933605" y="3005780"/>
            <a:ext cx="1504244" cy="440267"/>
          </a:xfrm>
          <a:prstGeom prst="rect">
            <a:avLst/>
          </a:prstGeom>
          <a:noFill/>
          <a:ln/>
        </p:spPr>
        <p:txBody>
          <a:bodyPr wrap="square" lIns="0" tIns="0" rIns="0" bIns="0" rtlCol="0" anchor="t">
            <a:normAutofit/>
          </a:bodyPr>
          <a:lstStyle/>
          <a:p>
            <a:pPr marL="0" indent="0" algn="l">
              <a:buNone/>
            </a:pPr>
            <a:r>
              <a:rPr lang="en-US" sz="1213" dirty="0">
                <a:solidFill>
                  <a:srgbClr val="BDC4C9"/>
                </a:solidFill>
                <a:latin typeface="Arial" pitchFamily="34" charset="0"/>
                <a:ea typeface="Arial" pitchFamily="34" charset="-122"/>
                <a:cs typeface="Arial" pitchFamily="34" charset="-120"/>
              </a:rPr>
              <a:t>10 / 35</a:t>
            </a:r>
            <a:endParaRPr lang="en-US" sz="1213" dirty="0"/>
          </a:p>
        </p:txBody>
      </p:sp>
      <p:sp>
        <p:nvSpPr>
          <p:cNvPr id="19" name="Text 17"/>
          <p:cNvSpPr/>
          <p:nvPr/>
        </p:nvSpPr>
        <p:spPr>
          <a:xfrm>
            <a:off x="2393583" y="3313966"/>
            <a:ext cx="2164644" cy="440267"/>
          </a:xfrm>
          <a:prstGeom prst="rect">
            <a:avLst/>
          </a:prstGeom>
          <a:noFill/>
          <a:ln/>
        </p:spPr>
        <p:txBody>
          <a:bodyPr wrap="square" lIns="0" tIns="0" rIns="0" bIns="0" rtlCol="0" anchor="t">
            <a:normAutofit/>
          </a:bodyPr>
          <a:lstStyle/>
          <a:p>
            <a:pPr marL="0" indent="0" algn="l">
              <a:buNone/>
            </a:pPr>
            <a:r>
              <a:rPr lang="en-US" sz="1213" dirty="0">
                <a:solidFill>
                  <a:srgbClr val="BDC4C9"/>
                </a:solidFill>
                <a:latin typeface="Arial" pitchFamily="34" charset="0"/>
                <a:ea typeface="Arial" pitchFamily="34" charset="-122"/>
                <a:cs typeface="Arial" pitchFamily="34" charset="-120"/>
              </a:rPr>
              <a:t>Engineering</a:t>
            </a:r>
            <a:endParaRPr lang="en-US" sz="1213" dirty="0"/>
          </a:p>
        </p:txBody>
      </p:sp>
      <p:sp>
        <p:nvSpPr>
          <p:cNvPr id="20" name="Shape 18"/>
          <p:cNvSpPr/>
          <p:nvPr/>
        </p:nvSpPr>
        <p:spPr>
          <a:xfrm>
            <a:off x="4646281" y="3313966"/>
            <a:ext cx="697089" cy="88053"/>
          </a:xfrm>
          <a:prstGeom prst="rect">
            <a:avLst/>
          </a:prstGeom>
          <a:solidFill>
            <a:srgbClr val="F5F6F7"/>
          </a:solidFill>
          <a:ln w="12700">
            <a:solidFill>
              <a:srgbClr val="24282C">
                <a:alpha val="0"/>
              </a:srgbClr>
            </a:solidFill>
            <a:prstDash val="solid"/>
          </a:ln>
        </p:spPr>
        <p:txBody>
          <a:bodyPr/>
          <a:lstStyle/>
          <a:p>
            <a:endParaRPr lang="nl-NL"/>
          </a:p>
        </p:txBody>
      </p:sp>
      <p:sp>
        <p:nvSpPr>
          <p:cNvPr id="21" name="Shape 19"/>
          <p:cNvSpPr/>
          <p:nvPr/>
        </p:nvSpPr>
        <p:spPr>
          <a:xfrm>
            <a:off x="4646281" y="3431371"/>
            <a:ext cx="1394178" cy="88053"/>
          </a:xfrm>
          <a:prstGeom prst="rect">
            <a:avLst/>
          </a:prstGeom>
          <a:solidFill>
            <a:srgbClr val="D71920"/>
          </a:solidFill>
          <a:ln w="12700">
            <a:solidFill>
              <a:srgbClr val="24282C">
                <a:alpha val="0"/>
              </a:srgbClr>
            </a:solidFill>
            <a:prstDash val="solid"/>
          </a:ln>
        </p:spPr>
        <p:txBody>
          <a:bodyPr/>
          <a:lstStyle/>
          <a:p>
            <a:endParaRPr lang="nl-NL"/>
          </a:p>
        </p:txBody>
      </p:sp>
      <p:sp>
        <p:nvSpPr>
          <p:cNvPr id="22" name="Text 20"/>
          <p:cNvSpPr/>
          <p:nvPr/>
        </p:nvSpPr>
        <p:spPr>
          <a:xfrm>
            <a:off x="7933605" y="3321304"/>
            <a:ext cx="1504244" cy="440267"/>
          </a:xfrm>
          <a:prstGeom prst="rect">
            <a:avLst/>
          </a:prstGeom>
          <a:noFill/>
          <a:ln/>
        </p:spPr>
        <p:txBody>
          <a:bodyPr wrap="square" lIns="0" tIns="0" rIns="0" bIns="0" rtlCol="0" anchor="t">
            <a:normAutofit/>
          </a:bodyPr>
          <a:lstStyle/>
          <a:p>
            <a:pPr marL="0" indent="0" algn="l">
              <a:buNone/>
            </a:pPr>
            <a:r>
              <a:rPr lang="en-US" sz="1213" dirty="0">
                <a:solidFill>
                  <a:srgbClr val="BDC4C9"/>
                </a:solidFill>
                <a:latin typeface="Arial" pitchFamily="34" charset="0"/>
                <a:ea typeface="Arial" pitchFamily="34" charset="-122"/>
                <a:cs typeface="Arial" pitchFamily="34" charset="-120"/>
              </a:rPr>
              <a:t>25 / 50</a:t>
            </a:r>
            <a:endParaRPr lang="en-US" sz="1213" dirty="0"/>
          </a:p>
        </p:txBody>
      </p:sp>
      <p:sp>
        <p:nvSpPr>
          <p:cNvPr id="23" name="Text 21"/>
          <p:cNvSpPr/>
          <p:nvPr/>
        </p:nvSpPr>
        <p:spPr>
          <a:xfrm>
            <a:off x="2393583" y="3629491"/>
            <a:ext cx="2164644" cy="440267"/>
          </a:xfrm>
          <a:prstGeom prst="rect">
            <a:avLst/>
          </a:prstGeom>
          <a:noFill/>
          <a:ln/>
        </p:spPr>
        <p:txBody>
          <a:bodyPr wrap="square" lIns="0" tIns="0" rIns="0" bIns="0" rtlCol="0" anchor="t">
            <a:normAutofit/>
          </a:bodyPr>
          <a:lstStyle/>
          <a:p>
            <a:pPr marL="0" indent="0" algn="l">
              <a:buNone/>
            </a:pPr>
            <a:r>
              <a:rPr lang="en-US" sz="1213" dirty="0">
                <a:solidFill>
                  <a:srgbClr val="BDC4C9"/>
                </a:solidFill>
                <a:latin typeface="Arial" pitchFamily="34" charset="0"/>
                <a:ea typeface="Arial" pitchFamily="34" charset="-122"/>
                <a:cs typeface="Arial" pitchFamily="34" charset="-120"/>
              </a:rPr>
              <a:t>Mapping / quality</a:t>
            </a:r>
            <a:endParaRPr lang="en-US" sz="1213" dirty="0"/>
          </a:p>
        </p:txBody>
      </p:sp>
      <p:sp>
        <p:nvSpPr>
          <p:cNvPr id="24" name="Shape 22"/>
          <p:cNvSpPr/>
          <p:nvPr/>
        </p:nvSpPr>
        <p:spPr>
          <a:xfrm>
            <a:off x="4646281" y="3629491"/>
            <a:ext cx="418253" cy="88053"/>
          </a:xfrm>
          <a:prstGeom prst="rect">
            <a:avLst/>
          </a:prstGeom>
          <a:solidFill>
            <a:srgbClr val="F5F6F7"/>
          </a:solidFill>
          <a:ln w="12700">
            <a:solidFill>
              <a:srgbClr val="24282C">
                <a:alpha val="0"/>
              </a:srgbClr>
            </a:solidFill>
            <a:prstDash val="solid"/>
          </a:ln>
        </p:spPr>
        <p:txBody>
          <a:bodyPr/>
          <a:lstStyle/>
          <a:p>
            <a:endParaRPr lang="nl-NL"/>
          </a:p>
        </p:txBody>
      </p:sp>
      <p:sp>
        <p:nvSpPr>
          <p:cNvPr id="25" name="Shape 23"/>
          <p:cNvSpPr/>
          <p:nvPr/>
        </p:nvSpPr>
        <p:spPr>
          <a:xfrm>
            <a:off x="4646281" y="3746895"/>
            <a:ext cx="975924" cy="88053"/>
          </a:xfrm>
          <a:prstGeom prst="rect">
            <a:avLst/>
          </a:prstGeom>
          <a:solidFill>
            <a:srgbClr val="D71920"/>
          </a:solidFill>
          <a:ln w="12700">
            <a:solidFill>
              <a:srgbClr val="24282C">
                <a:alpha val="0"/>
              </a:srgbClr>
            </a:solidFill>
            <a:prstDash val="solid"/>
          </a:ln>
        </p:spPr>
        <p:txBody>
          <a:bodyPr/>
          <a:lstStyle/>
          <a:p>
            <a:endParaRPr lang="nl-NL"/>
          </a:p>
        </p:txBody>
      </p:sp>
      <p:sp>
        <p:nvSpPr>
          <p:cNvPr id="26" name="Text 24"/>
          <p:cNvSpPr/>
          <p:nvPr/>
        </p:nvSpPr>
        <p:spPr>
          <a:xfrm>
            <a:off x="7933605" y="3636828"/>
            <a:ext cx="1504244" cy="440267"/>
          </a:xfrm>
          <a:prstGeom prst="rect">
            <a:avLst/>
          </a:prstGeom>
          <a:noFill/>
          <a:ln/>
        </p:spPr>
        <p:txBody>
          <a:bodyPr wrap="square" lIns="0" tIns="0" rIns="0" bIns="0" rtlCol="0" anchor="t">
            <a:normAutofit/>
          </a:bodyPr>
          <a:lstStyle/>
          <a:p>
            <a:pPr marL="0" indent="0" algn="l">
              <a:buNone/>
            </a:pPr>
            <a:r>
              <a:rPr lang="en-US" sz="1213" dirty="0">
                <a:solidFill>
                  <a:srgbClr val="BDC4C9"/>
                </a:solidFill>
                <a:latin typeface="Arial" pitchFamily="34" charset="0"/>
                <a:ea typeface="Arial" pitchFamily="34" charset="-122"/>
                <a:cs typeface="Arial" pitchFamily="34" charset="-120"/>
              </a:rPr>
              <a:t>15 / 35</a:t>
            </a:r>
            <a:endParaRPr lang="en-US" sz="1213" dirty="0"/>
          </a:p>
        </p:txBody>
      </p:sp>
      <p:sp>
        <p:nvSpPr>
          <p:cNvPr id="27" name="Text 25"/>
          <p:cNvSpPr/>
          <p:nvPr/>
        </p:nvSpPr>
        <p:spPr>
          <a:xfrm>
            <a:off x="2393583" y="3945015"/>
            <a:ext cx="2164644" cy="440267"/>
          </a:xfrm>
          <a:prstGeom prst="rect">
            <a:avLst/>
          </a:prstGeom>
          <a:noFill/>
          <a:ln/>
        </p:spPr>
        <p:txBody>
          <a:bodyPr wrap="square" lIns="0" tIns="0" rIns="0" bIns="0" rtlCol="0" anchor="t">
            <a:normAutofit/>
          </a:bodyPr>
          <a:lstStyle/>
          <a:p>
            <a:pPr marL="0" indent="0" algn="l">
              <a:buNone/>
            </a:pPr>
            <a:r>
              <a:rPr lang="en-US" sz="1213" dirty="0">
                <a:solidFill>
                  <a:srgbClr val="BDC4C9"/>
                </a:solidFill>
                <a:latin typeface="Arial" pitchFamily="34" charset="0"/>
                <a:ea typeface="Arial" pitchFamily="34" charset="-122"/>
                <a:cs typeface="Arial" pitchFamily="34" charset="-120"/>
              </a:rPr>
              <a:t>Tools / hosting</a:t>
            </a:r>
            <a:endParaRPr lang="en-US" sz="1213" dirty="0"/>
          </a:p>
        </p:txBody>
      </p:sp>
      <p:sp>
        <p:nvSpPr>
          <p:cNvPr id="28" name="Shape 26"/>
          <p:cNvSpPr/>
          <p:nvPr/>
        </p:nvSpPr>
        <p:spPr>
          <a:xfrm>
            <a:off x="4646281" y="3945015"/>
            <a:ext cx="139418" cy="88053"/>
          </a:xfrm>
          <a:prstGeom prst="rect">
            <a:avLst/>
          </a:prstGeom>
          <a:solidFill>
            <a:srgbClr val="F5F6F7"/>
          </a:solidFill>
          <a:ln w="12700">
            <a:solidFill>
              <a:srgbClr val="24282C">
                <a:alpha val="0"/>
              </a:srgbClr>
            </a:solidFill>
            <a:prstDash val="solid"/>
          </a:ln>
        </p:spPr>
        <p:txBody>
          <a:bodyPr/>
          <a:lstStyle/>
          <a:p>
            <a:endParaRPr lang="nl-NL"/>
          </a:p>
        </p:txBody>
      </p:sp>
      <p:sp>
        <p:nvSpPr>
          <p:cNvPr id="29" name="Shape 27"/>
          <p:cNvSpPr/>
          <p:nvPr/>
        </p:nvSpPr>
        <p:spPr>
          <a:xfrm>
            <a:off x="4646281" y="4062420"/>
            <a:ext cx="418253" cy="88053"/>
          </a:xfrm>
          <a:prstGeom prst="rect">
            <a:avLst/>
          </a:prstGeom>
          <a:solidFill>
            <a:srgbClr val="D71920"/>
          </a:solidFill>
          <a:ln w="12700">
            <a:solidFill>
              <a:srgbClr val="24282C">
                <a:alpha val="0"/>
              </a:srgbClr>
            </a:solidFill>
            <a:prstDash val="solid"/>
          </a:ln>
        </p:spPr>
        <p:txBody>
          <a:bodyPr/>
          <a:lstStyle/>
          <a:p>
            <a:endParaRPr lang="nl-NL"/>
          </a:p>
        </p:txBody>
      </p:sp>
      <p:sp>
        <p:nvSpPr>
          <p:cNvPr id="30" name="Text 28"/>
          <p:cNvSpPr/>
          <p:nvPr/>
        </p:nvSpPr>
        <p:spPr>
          <a:xfrm>
            <a:off x="7933605" y="3952353"/>
            <a:ext cx="1504244" cy="440267"/>
          </a:xfrm>
          <a:prstGeom prst="rect">
            <a:avLst/>
          </a:prstGeom>
          <a:noFill/>
          <a:ln/>
        </p:spPr>
        <p:txBody>
          <a:bodyPr wrap="square" lIns="0" tIns="0" rIns="0" bIns="0" rtlCol="0" anchor="t">
            <a:normAutofit/>
          </a:bodyPr>
          <a:lstStyle/>
          <a:p>
            <a:pPr marL="0" indent="0" algn="l">
              <a:buNone/>
            </a:pPr>
            <a:r>
              <a:rPr lang="en-US" sz="1213" dirty="0">
                <a:solidFill>
                  <a:srgbClr val="BDC4C9"/>
                </a:solidFill>
                <a:latin typeface="Arial" pitchFamily="34" charset="0"/>
                <a:ea typeface="Arial" pitchFamily="34" charset="-122"/>
                <a:cs typeface="Arial" pitchFamily="34" charset="-120"/>
              </a:rPr>
              <a:t>5 / 15</a:t>
            </a:r>
            <a:endParaRPr lang="en-US" sz="1213" dirty="0"/>
          </a:p>
        </p:txBody>
      </p:sp>
      <p:sp>
        <p:nvSpPr>
          <p:cNvPr id="31" name="Text 29"/>
          <p:cNvSpPr/>
          <p:nvPr/>
        </p:nvSpPr>
        <p:spPr>
          <a:xfrm>
            <a:off x="2393583" y="4260540"/>
            <a:ext cx="2164644" cy="440267"/>
          </a:xfrm>
          <a:prstGeom prst="rect">
            <a:avLst/>
          </a:prstGeom>
          <a:noFill/>
          <a:ln/>
        </p:spPr>
        <p:txBody>
          <a:bodyPr wrap="square" lIns="0" tIns="0" rIns="0" bIns="0" rtlCol="0" anchor="t">
            <a:normAutofit/>
          </a:bodyPr>
          <a:lstStyle/>
          <a:p>
            <a:pPr marL="0" indent="0" algn="l">
              <a:buNone/>
            </a:pPr>
            <a:r>
              <a:rPr lang="en-US" sz="1213" dirty="0">
                <a:solidFill>
                  <a:srgbClr val="BDC4C9"/>
                </a:solidFill>
                <a:latin typeface="Arial" pitchFamily="34" charset="0"/>
                <a:ea typeface="Arial" pitchFamily="34" charset="-122"/>
                <a:cs typeface="Arial" pitchFamily="34" charset="-120"/>
              </a:rPr>
              <a:t>Assurance</a:t>
            </a:r>
            <a:endParaRPr lang="en-US" sz="1213" dirty="0"/>
          </a:p>
        </p:txBody>
      </p:sp>
      <p:sp>
        <p:nvSpPr>
          <p:cNvPr id="32" name="Shape 30"/>
          <p:cNvSpPr/>
          <p:nvPr/>
        </p:nvSpPr>
        <p:spPr>
          <a:xfrm>
            <a:off x="4646281" y="4260540"/>
            <a:ext cx="278836" cy="88053"/>
          </a:xfrm>
          <a:prstGeom prst="rect">
            <a:avLst/>
          </a:prstGeom>
          <a:solidFill>
            <a:srgbClr val="F5F6F7"/>
          </a:solidFill>
          <a:ln w="12700">
            <a:solidFill>
              <a:srgbClr val="24282C">
                <a:alpha val="0"/>
              </a:srgbClr>
            </a:solidFill>
            <a:prstDash val="solid"/>
          </a:ln>
        </p:spPr>
        <p:txBody>
          <a:bodyPr/>
          <a:lstStyle/>
          <a:p>
            <a:endParaRPr lang="nl-NL"/>
          </a:p>
        </p:txBody>
      </p:sp>
      <p:sp>
        <p:nvSpPr>
          <p:cNvPr id="33" name="Shape 31"/>
          <p:cNvSpPr/>
          <p:nvPr/>
        </p:nvSpPr>
        <p:spPr>
          <a:xfrm>
            <a:off x="4646281" y="4377944"/>
            <a:ext cx="418253" cy="88053"/>
          </a:xfrm>
          <a:prstGeom prst="rect">
            <a:avLst/>
          </a:prstGeom>
          <a:solidFill>
            <a:srgbClr val="D71920"/>
          </a:solidFill>
          <a:ln w="12700">
            <a:solidFill>
              <a:srgbClr val="24282C">
                <a:alpha val="0"/>
              </a:srgbClr>
            </a:solidFill>
            <a:prstDash val="solid"/>
          </a:ln>
        </p:spPr>
        <p:txBody>
          <a:bodyPr/>
          <a:lstStyle/>
          <a:p>
            <a:endParaRPr lang="nl-NL"/>
          </a:p>
        </p:txBody>
      </p:sp>
      <p:sp>
        <p:nvSpPr>
          <p:cNvPr id="34" name="Text 32"/>
          <p:cNvSpPr/>
          <p:nvPr/>
        </p:nvSpPr>
        <p:spPr>
          <a:xfrm>
            <a:off x="7933605" y="4267877"/>
            <a:ext cx="1504244" cy="440267"/>
          </a:xfrm>
          <a:prstGeom prst="rect">
            <a:avLst/>
          </a:prstGeom>
          <a:noFill/>
          <a:ln/>
        </p:spPr>
        <p:txBody>
          <a:bodyPr wrap="square" lIns="0" tIns="0" rIns="0" bIns="0" rtlCol="0" anchor="t">
            <a:normAutofit/>
          </a:bodyPr>
          <a:lstStyle/>
          <a:p>
            <a:pPr marL="0" indent="0" algn="l">
              <a:buNone/>
            </a:pPr>
            <a:r>
              <a:rPr lang="en-US" sz="1213" dirty="0">
                <a:solidFill>
                  <a:srgbClr val="BDC4C9"/>
                </a:solidFill>
                <a:latin typeface="Arial" pitchFamily="34" charset="0"/>
                <a:ea typeface="Arial" pitchFamily="34" charset="-122"/>
                <a:cs typeface="Arial" pitchFamily="34" charset="-120"/>
              </a:rPr>
              <a:t>10 / 15</a:t>
            </a:r>
            <a:endParaRPr lang="en-US" sz="1213" dirty="0"/>
          </a:p>
        </p:txBody>
      </p:sp>
      <p:sp>
        <p:nvSpPr>
          <p:cNvPr id="35" name="Text 33"/>
          <p:cNvSpPr/>
          <p:nvPr/>
        </p:nvSpPr>
        <p:spPr>
          <a:xfrm>
            <a:off x="2393583" y="4576064"/>
            <a:ext cx="2164644" cy="440267"/>
          </a:xfrm>
          <a:prstGeom prst="rect">
            <a:avLst/>
          </a:prstGeom>
          <a:noFill/>
          <a:ln/>
        </p:spPr>
        <p:txBody>
          <a:bodyPr wrap="square" lIns="0" tIns="0" rIns="0" bIns="0" rtlCol="0" anchor="t">
            <a:normAutofit/>
          </a:bodyPr>
          <a:lstStyle/>
          <a:p>
            <a:pPr marL="0" indent="0" algn="l">
              <a:buNone/>
            </a:pPr>
            <a:r>
              <a:rPr lang="en-US" sz="1213" dirty="0">
                <a:solidFill>
                  <a:srgbClr val="BDC4C9"/>
                </a:solidFill>
                <a:latin typeface="Arial" pitchFamily="34" charset="0"/>
                <a:ea typeface="Arial" pitchFamily="34" charset="-122"/>
                <a:cs typeface="Arial" pitchFamily="34" charset="-120"/>
              </a:rPr>
              <a:t>Evaluation</a:t>
            </a:r>
            <a:endParaRPr lang="en-US" sz="1213" dirty="0"/>
          </a:p>
        </p:txBody>
      </p:sp>
      <p:sp>
        <p:nvSpPr>
          <p:cNvPr id="36" name="Shape 34"/>
          <p:cNvSpPr/>
          <p:nvPr/>
        </p:nvSpPr>
        <p:spPr>
          <a:xfrm>
            <a:off x="4646281" y="4576064"/>
            <a:ext cx="139418" cy="88053"/>
          </a:xfrm>
          <a:prstGeom prst="rect">
            <a:avLst/>
          </a:prstGeom>
          <a:solidFill>
            <a:srgbClr val="F5F6F7"/>
          </a:solidFill>
          <a:ln w="12700">
            <a:solidFill>
              <a:srgbClr val="24282C">
                <a:alpha val="0"/>
              </a:srgbClr>
            </a:solidFill>
            <a:prstDash val="solid"/>
          </a:ln>
        </p:spPr>
        <p:txBody>
          <a:bodyPr/>
          <a:lstStyle/>
          <a:p>
            <a:endParaRPr lang="nl-NL"/>
          </a:p>
        </p:txBody>
      </p:sp>
      <p:sp>
        <p:nvSpPr>
          <p:cNvPr id="37" name="Shape 35"/>
          <p:cNvSpPr/>
          <p:nvPr/>
        </p:nvSpPr>
        <p:spPr>
          <a:xfrm>
            <a:off x="4646281" y="4693468"/>
            <a:ext cx="418253" cy="88053"/>
          </a:xfrm>
          <a:prstGeom prst="rect">
            <a:avLst/>
          </a:prstGeom>
          <a:solidFill>
            <a:srgbClr val="D71920"/>
          </a:solidFill>
          <a:ln w="12700">
            <a:solidFill>
              <a:srgbClr val="24282C">
                <a:alpha val="0"/>
              </a:srgbClr>
            </a:solidFill>
            <a:prstDash val="solid"/>
          </a:ln>
        </p:spPr>
        <p:txBody>
          <a:bodyPr/>
          <a:lstStyle/>
          <a:p>
            <a:endParaRPr lang="nl-NL"/>
          </a:p>
        </p:txBody>
      </p:sp>
      <p:sp>
        <p:nvSpPr>
          <p:cNvPr id="38" name="Text 36"/>
          <p:cNvSpPr/>
          <p:nvPr/>
        </p:nvSpPr>
        <p:spPr>
          <a:xfrm>
            <a:off x="7933605" y="4583402"/>
            <a:ext cx="1504244" cy="440267"/>
          </a:xfrm>
          <a:prstGeom prst="rect">
            <a:avLst/>
          </a:prstGeom>
          <a:noFill/>
          <a:ln/>
        </p:spPr>
        <p:txBody>
          <a:bodyPr wrap="square" lIns="0" tIns="0" rIns="0" bIns="0" rtlCol="0" anchor="t">
            <a:normAutofit/>
          </a:bodyPr>
          <a:lstStyle/>
          <a:p>
            <a:pPr marL="0" indent="0" algn="l">
              <a:buNone/>
            </a:pPr>
            <a:r>
              <a:rPr lang="en-US" sz="1213" dirty="0">
                <a:solidFill>
                  <a:srgbClr val="BDC4C9"/>
                </a:solidFill>
                <a:latin typeface="Arial" pitchFamily="34" charset="0"/>
                <a:ea typeface="Arial" pitchFamily="34" charset="-122"/>
                <a:cs typeface="Arial" pitchFamily="34" charset="-120"/>
              </a:rPr>
              <a:t>5 / 15</a:t>
            </a:r>
            <a:endParaRPr lang="en-US" sz="1213" dirty="0"/>
          </a:p>
        </p:txBody>
      </p:sp>
      <p:sp>
        <p:nvSpPr>
          <p:cNvPr id="39" name="Text 37"/>
          <p:cNvSpPr/>
          <p:nvPr/>
        </p:nvSpPr>
        <p:spPr>
          <a:xfrm>
            <a:off x="2393583" y="4891588"/>
            <a:ext cx="2164644" cy="440267"/>
          </a:xfrm>
          <a:prstGeom prst="rect">
            <a:avLst/>
          </a:prstGeom>
          <a:noFill/>
          <a:ln/>
        </p:spPr>
        <p:txBody>
          <a:bodyPr wrap="square" lIns="0" tIns="0" rIns="0" bIns="0" rtlCol="0" anchor="t">
            <a:normAutofit/>
          </a:bodyPr>
          <a:lstStyle/>
          <a:p>
            <a:pPr marL="0" indent="0" algn="l">
              <a:buNone/>
            </a:pPr>
            <a:r>
              <a:rPr lang="en-US" sz="1213" dirty="0">
                <a:solidFill>
                  <a:srgbClr val="BDC4C9"/>
                </a:solidFill>
                <a:latin typeface="Arial" pitchFamily="34" charset="0"/>
                <a:ea typeface="Arial" pitchFamily="34" charset="-122"/>
                <a:cs typeface="Arial" pitchFamily="34" charset="-120"/>
              </a:rPr>
              <a:t>Reserve</a:t>
            </a:r>
            <a:endParaRPr lang="en-US" sz="1213" dirty="0"/>
          </a:p>
        </p:txBody>
      </p:sp>
      <p:sp>
        <p:nvSpPr>
          <p:cNvPr id="40" name="Shape 38"/>
          <p:cNvSpPr/>
          <p:nvPr/>
        </p:nvSpPr>
        <p:spPr>
          <a:xfrm>
            <a:off x="4646281" y="4891588"/>
            <a:ext cx="418253" cy="88053"/>
          </a:xfrm>
          <a:prstGeom prst="rect">
            <a:avLst/>
          </a:prstGeom>
          <a:solidFill>
            <a:srgbClr val="F5F6F7"/>
          </a:solidFill>
          <a:ln w="12700">
            <a:solidFill>
              <a:srgbClr val="24282C">
                <a:alpha val="0"/>
              </a:srgbClr>
            </a:solidFill>
            <a:prstDash val="solid"/>
          </a:ln>
        </p:spPr>
        <p:txBody>
          <a:bodyPr/>
          <a:lstStyle/>
          <a:p>
            <a:endParaRPr lang="nl-NL"/>
          </a:p>
        </p:txBody>
      </p:sp>
      <p:sp>
        <p:nvSpPr>
          <p:cNvPr id="41" name="Shape 39"/>
          <p:cNvSpPr/>
          <p:nvPr/>
        </p:nvSpPr>
        <p:spPr>
          <a:xfrm>
            <a:off x="4646281" y="5008993"/>
            <a:ext cx="975924" cy="88053"/>
          </a:xfrm>
          <a:prstGeom prst="rect">
            <a:avLst/>
          </a:prstGeom>
          <a:solidFill>
            <a:srgbClr val="D71920"/>
          </a:solidFill>
          <a:ln w="12700">
            <a:solidFill>
              <a:srgbClr val="24282C">
                <a:alpha val="0"/>
              </a:srgbClr>
            </a:solidFill>
            <a:prstDash val="solid"/>
          </a:ln>
        </p:spPr>
        <p:txBody>
          <a:bodyPr/>
          <a:lstStyle/>
          <a:p>
            <a:endParaRPr lang="nl-NL"/>
          </a:p>
        </p:txBody>
      </p:sp>
      <p:sp>
        <p:nvSpPr>
          <p:cNvPr id="42" name="Text 40"/>
          <p:cNvSpPr/>
          <p:nvPr/>
        </p:nvSpPr>
        <p:spPr>
          <a:xfrm>
            <a:off x="7933605" y="4898926"/>
            <a:ext cx="1504244" cy="440267"/>
          </a:xfrm>
          <a:prstGeom prst="rect">
            <a:avLst/>
          </a:prstGeom>
          <a:noFill/>
          <a:ln/>
        </p:spPr>
        <p:txBody>
          <a:bodyPr wrap="square" lIns="0" tIns="0" rIns="0" bIns="0" rtlCol="0" anchor="t">
            <a:normAutofit/>
          </a:bodyPr>
          <a:lstStyle/>
          <a:p>
            <a:pPr marL="0" indent="0" algn="l">
              <a:buNone/>
            </a:pPr>
            <a:r>
              <a:rPr lang="en-US" sz="1213" dirty="0">
                <a:solidFill>
                  <a:srgbClr val="BDC4C9"/>
                </a:solidFill>
                <a:latin typeface="Arial" pitchFamily="34" charset="0"/>
                <a:ea typeface="Arial" pitchFamily="34" charset="-122"/>
                <a:cs typeface="Arial" pitchFamily="34" charset="-120"/>
              </a:rPr>
              <a:t>15 / 35</a:t>
            </a:r>
            <a:endParaRPr lang="en-US" sz="1213" dirty="0"/>
          </a:p>
        </p:txBody>
      </p:sp>
      <p:sp>
        <p:nvSpPr>
          <p:cNvPr id="43" name="Text 41"/>
          <p:cNvSpPr/>
          <p:nvPr/>
        </p:nvSpPr>
        <p:spPr>
          <a:xfrm>
            <a:off x="2393583" y="5405233"/>
            <a:ext cx="7337778" cy="440267"/>
          </a:xfrm>
          <a:prstGeom prst="rect">
            <a:avLst/>
          </a:prstGeom>
          <a:noFill/>
          <a:ln/>
        </p:spPr>
        <p:txBody>
          <a:bodyPr wrap="square" lIns="0" tIns="0" rIns="0" bIns="0" rtlCol="0" anchor="t">
            <a:normAutofit/>
          </a:bodyPr>
          <a:lstStyle/>
          <a:p>
            <a:pPr marL="0" indent="0" algn="l">
              <a:buNone/>
            </a:pPr>
            <a:r>
              <a:rPr lang="en-US" sz="1156" b="1" dirty="0">
                <a:solidFill>
                  <a:srgbClr val="F5F6F7"/>
                </a:solidFill>
                <a:latin typeface="Arial" pitchFamily="34" charset="0"/>
                <a:ea typeface="Arial" pitchFamily="34" charset="-122"/>
                <a:cs typeface="Arial" pitchFamily="34" charset="-120"/>
              </a:rPr>
              <a:t>EUR thousands: 100 total / 300 total. Alternatives, not cumulative.</a:t>
            </a:r>
            <a:endParaRPr lang="en-US" sz="1156" dirty="0"/>
          </a:p>
        </p:txBody>
      </p:sp>
      <p:sp>
        <p:nvSpPr>
          <p:cNvPr id="44" name="Text 42"/>
          <p:cNvSpPr/>
          <p:nvPr/>
        </p:nvSpPr>
        <p:spPr>
          <a:xfrm>
            <a:off x="548640" y="5678424"/>
            <a:ext cx="10954512" cy="219456"/>
          </a:xfrm>
          <a:prstGeom prst="rect">
            <a:avLst/>
          </a:prstGeom>
          <a:noFill/>
          <a:ln/>
        </p:spPr>
        <p:txBody>
          <a:bodyPr wrap="square" lIns="0" tIns="0" rIns="0" bIns="0" rtlCol="0" anchor="t">
            <a:normAutofit/>
          </a:bodyPr>
          <a:lstStyle/>
          <a:p>
            <a:pPr marL="0" indent="0" algn="l">
              <a:buNone/>
            </a:pPr>
            <a:r>
              <a:rPr lang="en-US" sz="840" dirty="0">
                <a:solidFill>
                  <a:srgbClr val="BDC4C9"/>
                </a:solidFill>
                <a:latin typeface="Arial" pitchFamily="34" charset="0"/>
                <a:ea typeface="Arial" pitchFamily="34" charset="-122"/>
                <a:cs typeface="Arial" pitchFamily="34" charset="-120"/>
              </a:rPr>
              <a:t>Reference planning envelopes / first 12 months from approval, ex recoverable VAT. C pp. 29-31, 22 Sep 2026.</a:t>
            </a:r>
            <a:endParaRPr lang="en-US" sz="840" dirty="0"/>
          </a:p>
        </p:txBody>
      </p:sp>
      <p:sp>
        <p:nvSpPr>
          <p:cNvPr id="45" name="Text 43"/>
          <p:cNvSpPr/>
          <p:nvPr/>
        </p:nvSpPr>
        <p:spPr>
          <a:xfrm>
            <a:off x="603504" y="5925312"/>
            <a:ext cx="10917936" cy="347472"/>
          </a:xfrm>
          <a:prstGeom prst="rect">
            <a:avLst/>
          </a:prstGeom>
          <a:noFill/>
          <a:ln/>
        </p:spPr>
        <p:txBody>
          <a:bodyPr wrap="square" lIns="0" tIns="0" rIns="0" bIns="0" rtlCol="0" anchor="t">
            <a:normAutofit/>
          </a:bodyPr>
          <a:lstStyle/>
          <a:p>
            <a:pPr marL="0" indent="0" algn="l">
              <a:buNone/>
            </a:pPr>
            <a:r>
              <a:rPr lang="en-US" sz="1320" dirty="0">
                <a:solidFill>
                  <a:srgbClr val="F5F6F7"/>
                </a:solidFill>
                <a:latin typeface="Arial" pitchFamily="34" charset="0"/>
                <a:ea typeface="Arial" pitchFamily="34" charset="-122"/>
                <a:cs typeface="Arial" pitchFamily="34" charset="-120"/>
              </a:rPr>
              <a:t>The no-additional-external-cash route remains meaningful for a bounded owner-led proposition using authorised tools and controlled outputs.</a:t>
            </a:r>
            <a:endParaRPr lang="en-US" sz="132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24282C"/>
        </a:solidFill>
        <a:effectLst/>
      </p:bgPr>
    </p:bg>
    <p:spTree>
      <p:nvGrpSpPr>
        <p:cNvPr id="1" name=""/>
        <p:cNvGrpSpPr/>
        <p:nvPr/>
      </p:nvGrpSpPr>
      <p:grpSpPr>
        <a:xfrm>
          <a:off x="0" y="0"/>
          <a:ext cx="0" cy="0"/>
          <a:chOff x="0" y="0"/>
          <a:chExt cx="0" cy="0"/>
        </a:xfrm>
      </p:grpSpPr>
      <p:sp>
        <p:nvSpPr>
          <p:cNvPr id="2" name="Text 0"/>
          <p:cNvSpPr/>
          <p:nvPr/>
        </p:nvSpPr>
        <p:spPr>
          <a:xfrm>
            <a:off x="484632" y="173736"/>
            <a:ext cx="2743200" cy="201168"/>
          </a:xfrm>
          <a:prstGeom prst="rect">
            <a:avLst/>
          </a:prstGeom>
          <a:noFill/>
          <a:ln/>
        </p:spPr>
        <p:txBody>
          <a:bodyPr wrap="square" lIns="0" tIns="0" rIns="0" bIns="0" rtlCol="0" anchor="t">
            <a:normAutofit/>
          </a:bodyPr>
          <a:lstStyle/>
          <a:p>
            <a:pPr marL="0" indent="0" algn="l">
              <a:buNone/>
            </a:pPr>
            <a:r>
              <a:rPr lang="en-US" sz="1000" b="1" dirty="0">
                <a:solidFill>
                  <a:srgbClr val="F5F6F7"/>
                </a:solidFill>
                <a:latin typeface="Arial" pitchFamily="34" charset="0"/>
                <a:ea typeface="Arial" pitchFamily="34" charset="-122"/>
                <a:cs typeface="Arial" pitchFamily="34" charset="-120"/>
              </a:rPr>
              <a:t>ISUZU / UNIVERSE</a:t>
            </a:r>
            <a:endParaRPr lang="en-US" sz="1000" dirty="0"/>
          </a:p>
        </p:txBody>
      </p:sp>
      <p:sp>
        <p:nvSpPr>
          <p:cNvPr id="3" name="Text 1"/>
          <p:cNvSpPr/>
          <p:nvPr/>
        </p:nvSpPr>
        <p:spPr>
          <a:xfrm>
            <a:off x="8046720" y="173736"/>
            <a:ext cx="3657600" cy="201168"/>
          </a:xfrm>
          <a:prstGeom prst="rect">
            <a:avLst/>
          </a:prstGeom>
          <a:noFill/>
          <a:ln/>
        </p:spPr>
        <p:txBody>
          <a:bodyPr wrap="square" lIns="0" tIns="0" rIns="0" bIns="0" rtlCol="0" anchor="t">
            <a:normAutofit/>
          </a:bodyPr>
          <a:lstStyle/>
          <a:p>
            <a:pPr marL="0" indent="0" algn="r">
              <a:buNone/>
            </a:pPr>
            <a:r>
              <a:rPr lang="en-US" sz="900" dirty="0">
                <a:solidFill>
                  <a:srgbClr val="BDC4C9"/>
                </a:solidFill>
                <a:latin typeface="Arial" pitchFamily="34" charset="0"/>
                <a:ea typeface="Arial" pitchFamily="34" charset="-122"/>
                <a:cs typeface="Arial" pitchFamily="34" charset="-120"/>
              </a:rPr>
              <a:t>COMMERCIAL VISION  /  3.0</a:t>
            </a:r>
            <a:endParaRPr lang="en-US" sz="900" dirty="0"/>
          </a:p>
        </p:txBody>
      </p:sp>
      <p:sp>
        <p:nvSpPr>
          <p:cNvPr id="4" name="Shape 2"/>
          <p:cNvSpPr/>
          <p:nvPr/>
        </p:nvSpPr>
        <p:spPr>
          <a:xfrm>
            <a:off x="484632" y="512064"/>
            <a:ext cx="475488" cy="22860"/>
          </a:xfrm>
          <a:prstGeom prst="rect">
            <a:avLst/>
          </a:prstGeom>
          <a:solidFill>
            <a:srgbClr val="D71920"/>
          </a:solidFill>
          <a:ln w="12700">
            <a:solidFill>
              <a:srgbClr val="D71920">
                <a:alpha val="0"/>
              </a:srgbClr>
            </a:solidFill>
            <a:prstDash val="solid"/>
          </a:ln>
        </p:spPr>
        <p:txBody>
          <a:bodyPr/>
          <a:lstStyle/>
          <a:p>
            <a:endParaRPr lang="nl-NL"/>
          </a:p>
        </p:txBody>
      </p:sp>
      <p:sp>
        <p:nvSpPr>
          <p:cNvPr id="5" name="Text 3"/>
          <p:cNvSpPr/>
          <p:nvPr/>
        </p:nvSpPr>
        <p:spPr>
          <a:xfrm>
            <a:off x="484632" y="658368"/>
            <a:ext cx="11064240" cy="219456"/>
          </a:xfrm>
          <a:prstGeom prst="rect">
            <a:avLst/>
          </a:prstGeom>
          <a:noFill/>
          <a:ln/>
        </p:spPr>
        <p:txBody>
          <a:bodyPr wrap="square" lIns="0" tIns="0" rIns="0" bIns="0" rtlCol="0" anchor="t">
            <a:normAutofit/>
          </a:bodyPr>
          <a:lstStyle/>
          <a:p>
            <a:pPr marL="0" indent="0" algn="l">
              <a:buNone/>
            </a:pPr>
            <a:r>
              <a:rPr lang="en-US" sz="1000" b="1" dirty="0">
                <a:solidFill>
                  <a:srgbClr val="D71920"/>
                </a:solidFill>
                <a:latin typeface="Arial" pitchFamily="34" charset="0"/>
                <a:ea typeface="Arial" pitchFamily="34" charset="-122"/>
                <a:cs typeface="Arial" pitchFamily="34" charset="-120"/>
              </a:rPr>
              <a:t>DELIVERY / OWNERSHIP</a:t>
            </a:r>
            <a:endParaRPr lang="en-US" sz="1000" dirty="0"/>
          </a:p>
        </p:txBody>
      </p:sp>
      <p:sp>
        <p:nvSpPr>
          <p:cNvPr id="6" name="Shape 4"/>
          <p:cNvSpPr/>
          <p:nvPr/>
        </p:nvSpPr>
        <p:spPr>
          <a:xfrm>
            <a:off x="484632" y="6446520"/>
            <a:ext cx="11219688" cy="914"/>
          </a:xfrm>
          <a:prstGeom prst="line">
            <a:avLst/>
          </a:prstGeom>
          <a:noFill/>
          <a:ln w="6350">
            <a:solidFill>
              <a:srgbClr val="647078"/>
            </a:solidFill>
            <a:prstDash val="solid"/>
          </a:ln>
        </p:spPr>
        <p:txBody>
          <a:bodyPr/>
          <a:lstStyle/>
          <a:p>
            <a:endParaRPr lang="nl-NL"/>
          </a:p>
        </p:txBody>
      </p:sp>
      <p:sp>
        <p:nvSpPr>
          <p:cNvPr id="7" name="Text 5"/>
          <p:cNvSpPr/>
          <p:nvPr/>
        </p:nvSpPr>
        <p:spPr>
          <a:xfrm>
            <a:off x="484632" y="6556248"/>
            <a:ext cx="9144000" cy="146304"/>
          </a:xfrm>
          <a:prstGeom prst="rect">
            <a:avLst/>
          </a:prstGeom>
          <a:noFill/>
          <a:ln/>
        </p:spPr>
        <p:txBody>
          <a:bodyPr wrap="square" lIns="0" tIns="0" rIns="0" bIns="0" rtlCol="0" anchor="t">
            <a:normAutofit/>
          </a:bodyPr>
          <a:lstStyle/>
          <a:p>
            <a:pPr marL="0" indent="0" algn="l">
              <a:buNone/>
            </a:pPr>
            <a:r>
              <a:rPr lang="en-US" sz="750" dirty="0">
                <a:solidFill>
                  <a:srgbClr val="BDC4C9"/>
                </a:solidFill>
                <a:latin typeface="Arial" pitchFamily="34" charset="0"/>
                <a:ea typeface="Arial" pitchFamily="34" charset="-122"/>
                <a:cs typeface="Arial" pitchFamily="34" charset="-120"/>
              </a:rPr>
              <a:t>22 SEPTEMBER 2026  /  CONCEPT AND APPLICATION EXAMPLES</a:t>
            </a:r>
            <a:endParaRPr lang="en-US" sz="750" dirty="0"/>
          </a:p>
        </p:txBody>
      </p:sp>
      <p:sp>
        <p:nvSpPr>
          <p:cNvPr id="8" name="Text 6"/>
          <p:cNvSpPr/>
          <p:nvPr/>
        </p:nvSpPr>
        <p:spPr>
          <a:xfrm>
            <a:off x="10789920" y="6547104"/>
            <a:ext cx="914400" cy="173736"/>
          </a:xfrm>
          <a:prstGeom prst="rect">
            <a:avLst/>
          </a:prstGeom>
          <a:noFill/>
          <a:ln/>
        </p:spPr>
        <p:txBody>
          <a:bodyPr wrap="square" lIns="0" tIns="0" rIns="0" bIns="0" rtlCol="0" anchor="t">
            <a:normAutofit/>
          </a:bodyPr>
          <a:lstStyle/>
          <a:p>
            <a:pPr marL="0" indent="0" algn="r">
              <a:buNone/>
            </a:pPr>
            <a:r>
              <a:rPr lang="en-US" sz="850" dirty="0">
                <a:solidFill>
                  <a:srgbClr val="BDC4C9"/>
                </a:solidFill>
                <a:latin typeface="Arial" pitchFamily="34" charset="0"/>
                <a:ea typeface="Arial" pitchFamily="34" charset="-122"/>
                <a:cs typeface="Arial" pitchFamily="34" charset="-120"/>
              </a:rPr>
              <a:t>44 / 49</a:t>
            </a:r>
            <a:endParaRPr lang="en-US" sz="850" dirty="0"/>
          </a:p>
        </p:txBody>
      </p:sp>
      <p:sp>
        <p:nvSpPr>
          <p:cNvPr id="9" name="Text 7"/>
          <p:cNvSpPr/>
          <p:nvPr/>
        </p:nvSpPr>
        <p:spPr>
          <a:xfrm>
            <a:off x="502920" y="1005840"/>
            <a:ext cx="11036808" cy="841248"/>
          </a:xfrm>
          <a:prstGeom prst="rect">
            <a:avLst/>
          </a:prstGeom>
          <a:noFill/>
          <a:ln/>
        </p:spPr>
        <p:txBody>
          <a:bodyPr wrap="square" lIns="0" tIns="0" rIns="0" bIns="0" rtlCol="0" anchor="t">
            <a:normAutofit/>
          </a:bodyPr>
          <a:lstStyle/>
          <a:p>
            <a:pPr marL="0" indent="0" algn="l">
              <a:buNone/>
            </a:pPr>
            <a:r>
              <a:rPr lang="en-US" sz="3400" b="1" dirty="0">
                <a:solidFill>
                  <a:srgbClr val="F5F6F7"/>
                </a:solidFill>
                <a:latin typeface="Arial" pitchFamily="34" charset="0"/>
                <a:ea typeface="Arial" pitchFamily="34" charset="-122"/>
                <a:cs typeface="Arial" pitchFamily="34" charset="-120"/>
              </a:rPr>
              <a:t>Keep the commercial logic close to the business.</a:t>
            </a:r>
            <a:endParaRPr lang="en-US" sz="3400" dirty="0"/>
          </a:p>
        </p:txBody>
      </p:sp>
      <p:sp>
        <p:nvSpPr>
          <p:cNvPr id="10" name="Text 8"/>
          <p:cNvSpPr/>
          <p:nvPr/>
        </p:nvSpPr>
        <p:spPr>
          <a:xfrm>
            <a:off x="530352" y="1865376"/>
            <a:ext cx="10954512" cy="566928"/>
          </a:xfrm>
          <a:prstGeom prst="rect">
            <a:avLst/>
          </a:prstGeom>
          <a:noFill/>
          <a:ln/>
        </p:spPr>
        <p:txBody>
          <a:bodyPr wrap="square" lIns="0" tIns="0" rIns="0" bIns="0" rtlCol="0" anchor="t">
            <a:normAutofit/>
          </a:bodyPr>
          <a:lstStyle/>
          <a:p>
            <a:pPr marL="0" indent="0" algn="l">
              <a:buNone/>
            </a:pPr>
            <a:r>
              <a:rPr lang="en-US" sz="1800" dirty="0">
                <a:solidFill>
                  <a:srgbClr val="BDC4C9"/>
                </a:solidFill>
                <a:latin typeface="Arial" pitchFamily="34" charset="0"/>
                <a:ea typeface="Arial" pitchFamily="34" charset="-122"/>
                <a:cs typeface="Arial" pitchFamily="34" charset="-120"/>
              </a:rPr>
              <a:t>Reuse the foundations; buy bounded specialist work only where necessary.</a:t>
            </a:r>
            <a:endParaRPr lang="en-US" sz="1800" dirty="0"/>
          </a:p>
        </p:txBody>
      </p:sp>
      <p:sp>
        <p:nvSpPr>
          <p:cNvPr id="11" name="Shape 9"/>
          <p:cNvSpPr/>
          <p:nvPr/>
        </p:nvSpPr>
        <p:spPr>
          <a:xfrm>
            <a:off x="1817043" y="2966575"/>
            <a:ext cx="2683111" cy="2343477"/>
          </a:xfrm>
          <a:prstGeom prst="roundRect">
            <a:avLst>
              <a:gd name="adj" fmla="val 1561"/>
            </a:avLst>
          </a:prstGeom>
          <a:solidFill>
            <a:srgbClr val="383F44"/>
          </a:solidFill>
          <a:ln w="8890">
            <a:solidFill>
              <a:srgbClr val="D71920"/>
            </a:solidFill>
            <a:prstDash val="solid"/>
          </a:ln>
        </p:spPr>
        <p:txBody>
          <a:bodyPr/>
          <a:lstStyle/>
          <a:p>
            <a:endParaRPr lang="nl-NL"/>
          </a:p>
        </p:txBody>
      </p:sp>
      <p:sp>
        <p:nvSpPr>
          <p:cNvPr id="12" name="Shape 10"/>
          <p:cNvSpPr/>
          <p:nvPr/>
        </p:nvSpPr>
        <p:spPr>
          <a:xfrm>
            <a:off x="1817043" y="3085447"/>
            <a:ext cx="33963" cy="2105733"/>
          </a:xfrm>
          <a:prstGeom prst="rect">
            <a:avLst/>
          </a:prstGeom>
          <a:solidFill>
            <a:srgbClr val="D71920"/>
          </a:solidFill>
          <a:ln w="12700">
            <a:solidFill>
              <a:srgbClr val="24282C">
                <a:alpha val="0"/>
              </a:srgbClr>
            </a:solidFill>
            <a:prstDash val="solid"/>
          </a:ln>
        </p:spPr>
        <p:txBody>
          <a:bodyPr/>
          <a:lstStyle/>
          <a:p>
            <a:endParaRPr lang="nl-NL"/>
          </a:p>
        </p:txBody>
      </p:sp>
      <p:sp>
        <p:nvSpPr>
          <p:cNvPr id="13" name="Text 11"/>
          <p:cNvSpPr/>
          <p:nvPr/>
        </p:nvSpPr>
        <p:spPr>
          <a:xfrm>
            <a:off x="1961388" y="3102429"/>
            <a:ext cx="2394422" cy="543415"/>
          </a:xfrm>
          <a:prstGeom prst="rect">
            <a:avLst/>
          </a:prstGeom>
          <a:noFill/>
          <a:ln/>
        </p:spPr>
        <p:txBody>
          <a:bodyPr wrap="square" lIns="0" tIns="0" rIns="0" bIns="0" rtlCol="0" anchor="t">
            <a:normAutofit/>
          </a:bodyPr>
          <a:lstStyle/>
          <a:p>
            <a:pPr marL="0" indent="0" algn="l">
              <a:buNone/>
            </a:pPr>
            <a:r>
              <a:rPr lang="en-US" sz="1671" b="1" dirty="0">
                <a:solidFill>
                  <a:srgbClr val="F5F6F7"/>
                </a:solidFill>
                <a:latin typeface="Arial" pitchFamily="34" charset="0"/>
                <a:ea typeface="Arial" pitchFamily="34" charset="-122"/>
                <a:cs typeface="Arial" pitchFamily="34" charset="-120"/>
              </a:rPr>
              <a:t>Business ownership</a:t>
            </a:r>
            <a:endParaRPr lang="en-US" sz="1671" dirty="0"/>
          </a:p>
        </p:txBody>
      </p:sp>
      <p:sp>
        <p:nvSpPr>
          <p:cNvPr id="14" name="Text 12"/>
          <p:cNvSpPr/>
          <p:nvPr/>
        </p:nvSpPr>
        <p:spPr>
          <a:xfrm>
            <a:off x="1961388" y="3705279"/>
            <a:ext cx="2394422" cy="1502882"/>
          </a:xfrm>
          <a:prstGeom prst="rect">
            <a:avLst/>
          </a:prstGeom>
          <a:noFill/>
          <a:ln/>
        </p:spPr>
        <p:txBody>
          <a:bodyPr wrap="square" lIns="0" tIns="0" rIns="0" bIns="0" rtlCol="0" anchor="t">
            <a:normAutofit/>
          </a:bodyPr>
          <a:lstStyle/>
          <a:p>
            <a:pPr marL="0" indent="0" algn="l">
              <a:buNone/>
            </a:pPr>
            <a:r>
              <a:rPr lang="en-US" sz="1337" dirty="0">
                <a:solidFill>
                  <a:srgbClr val="BDC4C9"/>
                </a:solidFill>
                <a:latin typeface="Arial" pitchFamily="34" charset="0"/>
                <a:ea typeface="Arial" pitchFamily="34" charset="-122"/>
                <a:cs typeface="Arial" pitchFamily="34" charset="-120"/>
              </a:rPr>
              <a:t>Commercial logic and useful outputs.</a:t>
            </a:r>
            <a:endParaRPr lang="en-US" sz="1337" dirty="0"/>
          </a:p>
        </p:txBody>
      </p:sp>
      <p:sp>
        <p:nvSpPr>
          <p:cNvPr id="15" name="Shape 13"/>
          <p:cNvSpPr/>
          <p:nvPr/>
        </p:nvSpPr>
        <p:spPr>
          <a:xfrm>
            <a:off x="4720917" y="2966575"/>
            <a:ext cx="2683111" cy="2343477"/>
          </a:xfrm>
          <a:prstGeom prst="roundRect">
            <a:avLst>
              <a:gd name="adj" fmla="val 1561"/>
            </a:avLst>
          </a:prstGeom>
          <a:solidFill>
            <a:srgbClr val="30363B"/>
          </a:solidFill>
          <a:ln w="8890">
            <a:solidFill>
              <a:srgbClr val="48525B"/>
            </a:solidFill>
            <a:prstDash val="solid"/>
          </a:ln>
        </p:spPr>
        <p:txBody>
          <a:bodyPr/>
          <a:lstStyle/>
          <a:p>
            <a:endParaRPr lang="nl-NL"/>
          </a:p>
        </p:txBody>
      </p:sp>
      <p:sp>
        <p:nvSpPr>
          <p:cNvPr id="16" name="Shape 14"/>
          <p:cNvSpPr/>
          <p:nvPr/>
        </p:nvSpPr>
        <p:spPr>
          <a:xfrm>
            <a:off x="4720917" y="3085447"/>
            <a:ext cx="33963" cy="2105733"/>
          </a:xfrm>
          <a:prstGeom prst="rect">
            <a:avLst/>
          </a:prstGeom>
          <a:solidFill>
            <a:srgbClr val="82909A"/>
          </a:solidFill>
          <a:ln w="12700">
            <a:solidFill>
              <a:srgbClr val="24282C">
                <a:alpha val="0"/>
              </a:srgbClr>
            </a:solidFill>
            <a:prstDash val="solid"/>
          </a:ln>
        </p:spPr>
        <p:txBody>
          <a:bodyPr/>
          <a:lstStyle/>
          <a:p>
            <a:endParaRPr lang="nl-NL"/>
          </a:p>
        </p:txBody>
      </p:sp>
      <p:sp>
        <p:nvSpPr>
          <p:cNvPr id="17" name="Text 15"/>
          <p:cNvSpPr/>
          <p:nvPr/>
        </p:nvSpPr>
        <p:spPr>
          <a:xfrm>
            <a:off x="4865261" y="3102429"/>
            <a:ext cx="2394422" cy="543415"/>
          </a:xfrm>
          <a:prstGeom prst="rect">
            <a:avLst/>
          </a:prstGeom>
          <a:noFill/>
          <a:ln/>
        </p:spPr>
        <p:txBody>
          <a:bodyPr wrap="square" lIns="0" tIns="0" rIns="0" bIns="0" rtlCol="0" anchor="t">
            <a:normAutofit/>
          </a:bodyPr>
          <a:lstStyle/>
          <a:p>
            <a:pPr marL="0" indent="0" algn="l">
              <a:buNone/>
            </a:pPr>
            <a:r>
              <a:rPr lang="en-US" sz="1671" b="1" dirty="0">
                <a:solidFill>
                  <a:srgbClr val="F5F6F7"/>
                </a:solidFill>
                <a:latin typeface="Arial" pitchFamily="34" charset="0"/>
                <a:ea typeface="Arial" pitchFamily="34" charset="-122"/>
                <a:cs typeface="Arial" pitchFamily="34" charset="-120"/>
              </a:rPr>
              <a:t>Specialist work</a:t>
            </a:r>
            <a:endParaRPr lang="en-US" sz="1671" dirty="0"/>
          </a:p>
        </p:txBody>
      </p:sp>
      <p:sp>
        <p:nvSpPr>
          <p:cNvPr id="18" name="Text 16"/>
          <p:cNvSpPr/>
          <p:nvPr/>
        </p:nvSpPr>
        <p:spPr>
          <a:xfrm>
            <a:off x="4865261" y="3705279"/>
            <a:ext cx="2394422" cy="1502882"/>
          </a:xfrm>
          <a:prstGeom prst="rect">
            <a:avLst/>
          </a:prstGeom>
          <a:noFill/>
          <a:ln/>
        </p:spPr>
        <p:txBody>
          <a:bodyPr wrap="square" lIns="0" tIns="0" rIns="0" bIns="0" rtlCol="0" anchor="t">
            <a:normAutofit/>
          </a:bodyPr>
          <a:lstStyle/>
          <a:p>
            <a:pPr marL="0" indent="0" algn="l">
              <a:buNone/>
            </a:pPr>
            <a:r>
              <a:rPr lang="en-US" sz="1337" dirty="0">
                <a:solidFill>
                  <a:srgbClr val="BDC4C9"/>
                </a:solidFill>
                <a:latin typeface="Arial" pitchFamily="34" charset="0"/>
                <a:ea typeface="Arial" pitchFamily="34" charset="-122"/>
                <a:cs typeface="Arial" pitchFamily="34" charset="-120"/>
              </a:rPr>
              <a:t>Bounded access, reliability and recovery needs.</a:t>
            </a:r>
            <a:endParaRPr lang="en-US" sz="1337" dirty="0"/>
          </a:p>
        </p:txBody>
      </p:sp>
      <p:sp>
        <p:nvSpPr>
          <p:cNvPr id="19" name="Shape 17"/>
          <p:cNvSpPr/>
          <p:nvPr/>
        </p:nvSpPr>
        <p:spPr>
          <a:xfrm>
            <a:off x="7624790" y="2966575"/>
            <a:ext cx="2683111" cy="2343477"/>
          </a:xfrm>
          <a:prstGeom prst="roundRect">
            <a:avLst>
              <a:gd name="adj" fmla="val 1561"/>
            </a:avLst>
          </a:prstGeom>
          <a:solidFill>
            <a:srgbClr val="30363B"/>
          </a:solidFill>
          <a:ln w="8890">
            <a:solidFill>
              <a:srgbClr val="48525B"/>
            </a:solidFill>
            <a:prstDash val="solid"/>
          </a:ln>
        </p:spPr>
        <p:txBody>
          <a:bodyPr/>
          <a:lstStyle/>
          <a:p>
            <a:endParaRPr lang="nl-NL"/>
          </a:p>
        </p:txBody>
      </p:sp>
      <p:sp>
        <p:nvSpPr>
          <p:cNvPr id="20" name="Shape 18"/>
          <p:cNvSpPr/>
          <p:nvPr/>
        </p:nvSpPr>
        <p:spPr>
          <a:xfrm>
            <a:off x="7624790" y="3085447"/>
            <a:ext cx="33963" cy="2105733"/>
          </a:xfrm>
          <a:prstGeom prst="rect">
            <a:avLst/>
          </a:prstGeom>
          <a:solidFill>
            <a:srgbClr val="82909A"/>
          </a:solidFill>
          <a:ln w="12700">
            <a:solidFill>
              <a:srgbClr val="24282C">
                <a:alpha val="0"/>
              </a:srgbClr>
            </a:solidFill>
            <a:prstDash val="solid"/>
          </a:ln>
        </p:spPr>
        <p:txBody>
          <a:bodyPr/>
          <a:lstStyle/>
          <a:p>
            <a:endParaRPr lang="nl-NL"/>
          </a:p>
        </p:txBody>
      </p:sp>
      <p:sp>
        <p:nvSpPr>
          <p:cNvPr id="21" name="Text 19"/>
          <p:cNvSpPr/>
          <p:nvPr/>
        </p:nvSpPr>
        <p:spPr>
          <a:xfrm>
            <a:off x="7769134" y="3102429"/>
            <a:ext cx="2394422" cy="543415"/>
          </a:xfrm>
          <a:prstGeom prst="rect">
            <a:avLst/>
          </a:prstGeom>
          <a:noFill/>
          <a:ln/>
        </p:spPr>
        <p:txBody>
          <a:bodyPr wrap="square" lIns="0" tIns="0" rIns="0" bIns="0" rtlCol="0" anchor="t">
            <a:normAutofit/>
          </a:bodyPr>
          <a:lstStyle/>
          <a:p>
            <a:pPr marL="0" indent="0" algn="l">
              <a:buNone/>
            </a:pPr>
            <a:r>
              <a:rPr lang="en-US" sz="1671" b="1" dirty="0">
                <a:solidFill>
                  <a:srgbClr val="F5F6F7"/>
                </a:solidFill>
                <a:latin typeface="Arial" pitchFamily="34" charset="0"/>
                <a:ea typeface="Arial" pitchFamily="34" charset="-122"/>
                <a:cs typeface="Arial" pitchFamily="34" charset="-120"/>
              </a:rPr>
              <a:t>Ongoing operation</a:t>
            </a:r>
            <a:endParaRPr lang="en-US" sz="1671" dirty="0"/>
          </a:p>
        </p:txBody>
      </p:sp>
      <p:sp>
        <p:nvSpPr>
          <p:cNvPr id="22" name="Text 20"/>
          <p:cNvSpPr/>
          <p:nvPr/>
        </p:nvSpPr>
        <p:spPr>
          <a:xfrm>
            <a:off x="7769134" y="3705279"/>
            <a:ext cx="2394422" cy="1502882"/>
          </a:xfrm>
          <a:prstGeom prst="rect">
            <a:avLst/>
          </a:prstGeom>
          <a:noFill/>
          <a:ln/>
        </p:spPr>
        <p:txBody>
          <a:bodyPr wrap="square" lIns="0" tIns="0" rIns="0" bIns="0" rtlCol="0" anchor="t">
            <a:normAutofit/>
          </a:bodyPr>
          <a:lstStyle/>
          <a:p>
            <a:pPr marL="0" indent="0" algn="l">
              <a:buNone/>
            </a:pPr>
            <a:r>
              <a:rPr lang="en-US" sz="1337" dirty="0">
                <a:solidFill>
                  <a:srgbClr val="BDC4C9"/>
                </a:solidFill>
                <a:latin typeface="Arial" pitchFamily="34" charset="0"/>
                <a:ea typeface="Arial" pitchFamily="34" charset="-122"/>
                <a:cs typeface="Arial" pitchFamily="34" charset="-120"/>
              </a:rPr>
              <a:t>Source care, continuity and evidence of use.</a:t>
            </a:r>
            <a:endParaRPr lang="en-US" sz="1337" dirty="0"/>
          </a:p>
        </p:txBody>
      </p:sp>
      <p:sp>
        <p:nvSpPr>
          <p:cNvPr id="23" name="Text 21"/>
          <p:cNvSpPr/>
          <p:nvPr/>
        </p:nvSpPr>
        <p:spPr>
          <a:xfrm>
            <a:off x="548640" y="5678424"/>
            <a:ext cx="10954512" cy="219456"/>
          </a:xfrm>
          <a:prstGeom prst="rect">
            <a:avLst/>
          </a:prstGeom>
          <a:noFill/>
          <a:ln/>
        </p:spPr>
        <p:txBody>
          <a:bodyPr wrap="square" lIns="0" tIns="0" rIns="0" bIns="0" rtlCol="0" anchor="t">
            <a:normAutofit/>
          </a:bodyPr>
          <a:lstStyle/>
          <a:p>
            <a:pPr marL="0" indent="0" algn="l">
              <a:buNone/>
            </a:pPr>
            <a:r>
              <a:rPr lang="en-US" sz="840" dirty="0">
                <a:solidFill>
                  <a:srgbClr val="BDC4C9"/>
                </a:solidFill>
                <a:latin typeface="Arial" pitchFamily="34" charset="0"/>
                <a:ea typeface="Arial" pitchFamily="34" charset="-122"/>
                <a:cs typeface="Arial" pitchFamily="34" charset="-120"/>
              </a:rPr>
              <a:t>Illustrative design / independent requirements and outputs.</a:t>
            </a:r>
            <a:endParaRPr lang="en-US" sz="840" dirty="0"/>
          </a:p>
        </p:txBody>
      </p:sp>
      <p:sp>
        <p:nvSpPr>
          <p:cNvPr id="24" name="Text 22"/>
          <p:cNvSpPr/>
          <p:nvPr/>
        </p:nvSpPr>
        <p:spPr>
          <a:xfrm>
            <a:off x="603504" y="5925312"/>
            <a:ext cx="10917936" cy="347472"/>
          </a:xfrm>
          <a:prstGeom prst="rect">
            <a:avLst/>
          </a:prstGeom>
          <a:noFill/>
          <a:ln/>
        </p:spPr>
        <p:txBody>
          <a:bodyPr wrap="square" lIns="0" tIns="0" rIns="0" bIns="0" rtlCol="0" anchor="t">
            <a:normAutofit/>
          </a:bodyPr>
          <a:lstStyle/>
          <a:p>
            <a:pPr marL="0" indent="0" algn="l">
              <a:buNone/>
            </a:pPr>
            <a:r>
              <a:rPr lang="en-US" sz="1320" dirty="0">
                <a:solidFill>
                  <a:srgbClr val="F5F6F7"/>
                </a:solidFill>
                <a:latin typeface="Arial" pitchFamily="34" charset="0"/>
                <a:ea typeface="Arial" pitchFamily="34" charset="-122"/>
                <a:cs typeface="Arial" pitchFamily="34" charset="-120"/>
              </a:rPr>
              <a:t>The first shared use can remain distributor-led and document-based where appropriate.</a:t>
            </a:r>
            <a:endParaRPr lang="en-US" sz="132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24282C"/>
        </a:solidFill>
        <a:effectLst/>
      </p:bgPr>
    </p:bg>
    <p:spTree>
      <p:nvGrpSpPr>
        <p:cNvPr id="1" name=""/>
        <p:cNvGrpSpPr/>
        <p:nvPr/>
      </p:nvGrpSpPr>
      <p:grpSpPr>
        <a:xfrm>
          <a:off x="0" y="0"/>
          <a:ext cx="0" cy="0"/>
          <a:chOff x="0" y="0"/>
          <a:chExt cx="0" cy="0"/>
        </a:xfrm>
      </p:grpSpPr>
      <p:sp>
        <p:nvSpPr>
          <p:cNvPr id="2" name="Text 0"/>
          <p:cNvSpPr/>
          <p:nvPr/>
        </p:nvSpPr>
        <p:spPr>
          <a:xfrm>
            <a:off x="484632" y="173736"/>
            <a:ext cx="2743200" cy="201168"/>
          </a:xfrm>
          <a:prstGeom prst="rect">
            <a:avLst/>
          </a:prstGeom>
          <a:noFill/>
          <a:ln/>
        </p:spPr>
        <p:txBody>
          <a:bodyPr wrap="square" lIns="0" tIns="0" rIns="0" bIns="0" rtlCol="0" anchor="t">
            <a:normAutofit/>
          </a:bodyPr>
          <a:lstStyle/>
          <a:p>
            <a:pPr marL="0" indent="0" algn="l">
              <a:buNone/>
            </a:pPr>
            <a:r>
              <a:rPr lang="en-US" sz="1000" b="1" dirty="0">
                <a:solidFill>
                  <a:srgbClr val="F5F6F7"/>
                </a:solidFill>
                <a:latin typeface="Arial" pitchFamily="34" charset="0"/>
                <a:ea typeface="Arial" pitchFamily="34" charset="-122"/>
                <a:cs typeface="Arial" pitchFamily="34" charset="-120"/>
              </a:rPr>
              <a:t>ISUZU / UNIVERSE</a:t>
            </a:r>
            <a:endParaRPr lang="en-US" sz="1000" dirty="0"/>
          </a:p>
        </p:txBody>
      </p:sp>
      <p:sp>
        <p:nvSpPr>
          <p:cNvPr id="3" name="Text 1"/>
          <p:cNvSpPr/>
          <p:nvPr/>
        </p:nvSpPr>
        <p:spPr>
          <a:xfrm>
            <a:off x="8046720" y="173736"/>
            <a:ext cx="3657600" cy="201168"/>
          </a:xfrm>
          <a:prstGeom prst="rect">
            <a:avLst/>
          </a:prstGeom>
          <a:noFill/>
          <a:ln/>
        </p:spPr>
        <p:txBody>
          <a:bodyPr wrap="square" lIns="0" tIns="0" rIns="0" bIns="0" rtlCol="0" anchor="t">
            <a:normAutofit/>
          </a:bodyPr>
          <a:lstStyle/>
          <a:p>
            <a:pPr marL="0" indent="0" algn="r">
              <a:buNone/>
            </a:pPr>
            <a:r>
              <a:rPr lang="en-US" sz="900" dirty="0">
                <a:solidFill>
                  <a:srgbClr val="BDC4C9"/>
                </a:solidFill>
                <a:latin typeface="Arial" pitchFamily="34" charset="0"/>
                <a:ea typeface="Arial" pitchFamily="34" charset="-122"/>
                <a:cs typeface="Arial" pitchFamily="34" charset="-120"/>
              </a:rPr>
              <a:t>COMMERCIAL VISION  /  3.0</a:t>
            </a:r>
            <a:endParaRPr lang="en-US" sz="900" dirty="0"/>
          </a:p>
        </p:txBody>
      </p:sp>
      <p:sp>
        <p:nvSpPr>
          <p:cNvPr id="4" name="Shape 2"/>
          <p:cNvSpPr/>
          <p:nvPr/>
        </p:nvSpPr>
        <p:spPr>
          <a:xfrm>
            <a:off x="484632" y="512064"/>
            <a:ext cx="475488" cy="22860"/>
          </a:xfrm>
          <a:prstGeom prst="rect">
            <a:avLst/>
          </a:prstGeom>
          <a:solidFill>
            <a:srgbClr val="D71920"/>
          </a:solidFill>
          <a:ln w="12700">
            <a:solidFill>
              <a:srgbClr val="D71920">
                <a:alpha val="0"/>
              </a:srgbClr>
            </a:solidFill>
            <a:prstDash val="solid"/>
          </a:ln>
        </p:spPr>
        <p:txBody>
          <a:bodyPr/>
          <a:lstStyle/>
          <a:p>
            <a:endParaRPr lang="nl-NL"/>
          </a:p>
        </p:txBody>
      </p:sp>
      <p:sp>
        <p:nvSpPr>
          <p:cNvPr id="5" name="Text 3"/>
          <p:cNvSpPr/>
          <p:nvPr/>
        </p:nvSpPr>
        <p:spPr>
          <a:xfrm>
            <a:off x="484632" y="658368"/>
            <a:ext cx="11064240" cy="219456"/>
          </a:xfrm>
          <a:prstGeom prst="rect">
            <a:avLst/>
          </a:prstGeom>
          <a:noFill/>
          <a:ln/>
        </p:spPr>
        <p:txBody>
          <a:bodyPr wrap="square" lIns="0" tIns="0" rIns="0" bIns="0" rtlCol="0" anchor="t">
            <a:normAutofit/>
          </a:bodyPr>
          <a:lstStyle/>
          <a:p>
            <a:pPr marL="0" indent="0" algn="l">
              <a:buNone/>
            </a:pPr>
            <a:r>
              <a:rPr lang="en-US" sz="1000" b="1" dirty="0">
                <a:solidFill>
                  <a:srgbClr val="D71920"/>
                </a:solidFill>
                <a:latin typeface="Arial" pitchFamily="34" charset="0"/>
                <a:ea typeface="Arial" pitchFamily="34" charset="-122"/>
                <a:cs typeface="Arial" pitchFamily="34" charset="-120"/>
              </a:rPr>
              <a:t>ROADMAP</a:t>
            </a:r>
            <a:endParaRPr lang="en-US" sz="1000" dirty="0"/>
          </a:p>
        </p:txBody>
      </p:sp>
      <p:sp>
        <p:nvSpPr>
          <p:cNvPr id="6" name="Shape 4"/>
          <p:cNvSpPr/>
          <p:nvPr/>
        </p:nvSpPr>
        <p:spPr>
          <a:xfrm>
            <a:off x="484632" y="6446520"/>
            <a:ext cx="11219688" cy="914"/>
          </a:xfrm>
          <a:prstGeom prst="line">
            <a:avLst/>
          </a:prstGeom>
          <a:noFill/>
          <a:ln w="6350">
            <a:solidFill>
              <a:srgbClr val="647078"/>
            </a:solidFill>
            <a:prstDash val="solid"/>
          </a:ln>
        </p:spPr>
        <p:txBody>
          <a:bodyPr/>
          <a:lstStyle/>
          <a:p>
            <a:endParaRPr lang="nl-NL"/>
          </a:p>
        </p:txBody>
      </p:sp>
      <p:sp>
        <p:nvSpPr>
          <p:cNvPr id="7" name="Text 5"/>
          <p:cNvSpPr/>
          <p:nvPr/>
        </p:nvSpPr>
        <p:spPr>
          <a:xfrm>
            <a:off x="484632" y="6556248"/>
            <a:ext cx="9144000" cy="146304"/>
          </a:xfrm>
          <a:prstGeom prst="rect">
            <a:avLst/>
          </a:prstGeom>
          <a:noFill/>
          <a:ln/>
        </p:spPr>
        <p:txBody>
          <a:bodyPr wrap="square" lIns="0" tIns="0" rIns="0" bIns="0" rtlCol="0" anchor="t">
            <a:normAutofit/>
          </a:bodyPr>
          <a:lstStyle/>
          <a:p>
            <a:pPr marL="0" indent="0" algn="l">
              <a:buNone/>
            </a:pPr>
            <a:r>
              <a:rPr lang="en-US" sz="750" dirty="0">
                <a:solidFill>
                  <a:srgbClr val="BDC4C9"/>
                </a:solidFill>
                <a:latin typeface="Arial" pitchFamily="34" charset="0"/>
                <a:ea typeface="Arial" pitchFamily="34" charset="-122"/>
                <a:cs typeface="Arial" pitchFamily="34" charset="-120"/>
              </a:rPr>
              <a:t>22 SEPTEMBER 2026  /  CONCEPT AND APPLICATION EXAMPLES</a:t>
            </a:r>
            <a:endParaRPr lang="en-US" sz="750" dirty="0"/>
          </a:p>
        </p:txBody>
      </p:sp>
      <p:sp>
        <p:nvSpPr>
          <p:cNvPr id="8" name="Text 6"/>
          <p:cNvSpPr/>
          <p:nvPr/>
        </p:nvSpPr>
        <p:spPr>
          <a:xfrm>
            <a:off x="10789920" y="6547104"/>
            <a:ext cx="914400" cy="173736"/>
          </a:xfrm>
          <a:prstGeom prst="rect">
            <a:avLst/>
          </a:prstGeom>
          <a:noFill/>
          <a:ln/>
        </p:spPr>
        <p:txBody>
          <a:bodyPr wrap="square" lIns="0" tIns="0" rIns="0" bIns="0" rtlCol="0" anchor="t">
            <a:normAutofit/>
          </a:bodyPr>
          <a:lstStyle/>
          <a:p>
            <a:pPr marL="0" indent="0" algn="r">
              <a:buNone/>
            </a:pPr>
            <a:r>
              <a:rPr lang="en-US" sz="850" dirty="0">
                <a:solidFill>
                  <a:srgbClr val="BDC4C9"/>
                </a:solidFill>
                <a:latin typeface="Arial" pitchFamily="34" charset="0"/>
                <a:ea typeface="Arial" pitchFamily="34" charset="-122"/>
                <a:cs typeface="Arial" pitchFamily="34" charset="-120"/>
              </a:rPr>
              <a:t>45 / 49</a:t>
            </a:r>
            <a:endParaRPr lang="en-US" sz="850" dirty="0"/>
          </a:p>
        </p:txBody>
      </p:sp>
      <p:sp>
        <p:nvSpPr>
          <p:cNvPr id="9" name="Text 7"/>
          <p:cNvSpPr/>
          <p:nvPr/>
        </p:nvSpPr>
        <p:spPr>
          <a:xfrm>
            <a:off x="502920" y="1005840"/>
            <a:ext cx="11036808" cy="841248"/>
          </a:xfrm>
          <a:prstGeom prst="rect">
            <a:avLst/>
          </a:prstGeom>
          <a:noFill/>
          <a:ln/>
        </p:spPr>
        <p:txBody>
          <a:bodyPr wrap="square" lIns="0" tIns="0" rIns="0" bIns="0" rtlCol="0" anchor="t">
            <a:normAutofit/>
          </a:bodyPr>
          <a:lstStyle/>
          <a:p>
            <a:pPr marL="0" indent="0" algn="l">
              <a:buNone/>
            </a:pPr>
            <a:r>
              <a:rPr lang="en-US" sz="3400" b="1" dirty="0">
                <a:solidFill>
                  <a:srgbClr val="F5F6F7"/>
                </a:solidFill>
                <a:latin typeface="Arial" pitchFamily="34" charset="0"/>
                <a:ea typeface="Arial" pitchFamily="34" charset="-122"/>
                <a:cs typeface="Arial" pitchFamily="34" charset="-120"/>
              </a:rPr>
              <a:t>Prove, repeat, then extend.</a:t>
            </a:r>
            <a:endParaRPr lang="en-US" sz="3400" dirty="0"/>
          </a:p>
        </p:txBody>
      </p:sp>
      <p:sp>
        <p:nvSpPr>
          <p:cNvPr id="10" name="Text 8"/>
          <p:cNvSpPr/>
          <p:nvPr/>
        </p:nvSpPr>
        <p:spPr>
          <a:xfrm>
            <a:off x="530352" y="1865376"/>
            <a:ext cx="10954512" cy="566928"/>
          </a:xfrm>
          <a:prstGeom prst="rect">
            <a:avLst/>
          </a:prstGeom>
          <a:noFill/>
          <a:ln/>
        </p:spPr>
        <p:txBody>
          <a:bodyPr wrap="square" lIns="0" tIns="0" rIns="0" bIns="0" rtlCol="0" anchor="t">
            <a:normAutofit/>
          </a:bodyPr>
          <a:lstStyle/>
          <a:p>
            <a:pPr marL="0" indent="0" algn="l">
              <a:buNone/>
            </a:pPr>
            <a:r>
              <a:rPr lang="en-US" sz="1800" dirty="0">
                <a:solidFill>
                  <a:srgbClr val="BDC4C9"/>
                </a:solidFill>
                <a:latin typeface="Arial" pitchFamily="34" charset="0"/>
                <a:ea typeface="Arial" pitchFamily="34" charset="-122"/>
                <a:cs typeface="Arial" pitchFamily="34" charset="-120"/>
              </a:rPr>
              <a:t>Different applications can progress at different speeds.</a:t>
            </a:r>
            <a:endParaRPr lang="en-US" sz="1800" dirty="0"/>
          </a:p>
        </p:txBody>
      </p:sp>
      <p:sp>
        <p:nvSpPr>
          <p:cNvPr id="11" name="Shape 9"/>
          <p:cNvSpPr/>
          <p:nvPr/>
        </p:nvSpPr>
        <p:spPr>
          <a:xfrm>
            <a:off x="1692178" y="3132896"/>
            <a:ext cx="2034372" cy="1966632"/>
          </a:xfrm>
          <a:prstGeom prst="roundRect">
            <a:avLst>
              <a:gd name="adj" fmla="val 1860"/>
            </a:avLst>
          </a:prstGeom>
          <a:solidFill>
            <a:srgbClr val="30363B"/>
          </a:solidFill>
          <a:ln w="8890">
            <a:solidFill>
              <a:srgbClr val="48525B"/>
            </a:solidFill>
            <a:prstDash val="solid"/>
          </a:ln>
        </p:spPr>
        <p:txBody>
          <a:bodyPr/>
          <a:lstStyle/>
          <a:p>
            <a:endParaRPr lang="nl-NL"/>
          </a:p>
        </p:txBody>
      </p:sp>
      <p:sp>
        <p:nvSpPr>
          <p:cNvPr id="12" name="Shape 10"/>
          <p:cNvSpPr/>
          <p:nvPr/>
        </p:nvSpPr>
        <p:spPr>
          <a:xfrm>
            <a:off x="1692178" y="3255264"/>
            <a:ext cx="34962" cy="1721896"/>
          </a:xfrm>
          <a:prstGeom prst="rect">
            <a:avLst/>
          </a:prstGeom>
          <a:solidFill>
            <a:srgbClr val="82909A"/>
          </a:solidFill>
          <a:ln w="12700">
            <a:solidFill>
              <a:srgbClr val="24282C">
                <a:alpha val="0"/>
              </a:srgbClr>
            </a:solidFill>
            <a:prstDash val="solid"/>
          </a:ln>
        </p:spPr>
        <p:txBody>
          <a:bodyPr/>
          <a:lstStyle/>
          <a:p>
            <a:endParaRPr lang="nl-NL"/>
          </a:p>
        </p:txBody>
      </p:sp>
      <p:sp>
        <p:nvSpPr>
          <p:cNvPr id="13" name="Text 11"/>
          <p:cNvSpPr/>
          <p:nvPr/>
        </p:nvSpPr>
        <p:spPr>
          <a:xfrm>
            <a:off x="1840768" y="3272745"/>
            <a:ext cx="1737192" cy="559398"/>
          </a:xfrm>
          <a:prstGeom prst="rect">
            <a:avLst/>
          </a:prstGeom>
          <a:noFill/>
          <a:ln/>
        </p:spPr>
        <p:txBody>
          <a:bodyPr wrap="square" lIns="0" tIns="0" rIns="0" bIns="0" rtlCol="0" anchor="t">
            <a:normAutofit/>
          </a:bodyPr>
          <a:lstStyle/>
          <a:p>
            <a:pPr marL="0" indent="0" algn="l">
              <a:buNone/>
            </a:pPr>
            <a:r>
              <a:rPr lang="en-US" sz="1721" b="1" dirty="0">
                <a:solidFill>
                  <a:srgbClr val="F5F6F7"/>
                </a:solidFill>
                <a:latin typeface="Arial" pitchFamily="34" charset="0"/>
                <a:ea typeface="Arial" pitchFamily="34" charset="-122"/>
                <a:cs typeface="Arial" pitchFamily="34" charset="-120"/>
              </a:rPr>
              <a:t>Prove</a:t>
            </a:r>
            <a:endParaRPr lang="en-US" sz="1721" dirty="0"/>
          </a:p>
        </p:txBody>
      </p:sp>
      <p:sp>
        <p:nvSpPr>
          <p:cNvPr id="14" name="Text 12"/>
          <p:cNvSpPr/>
          <p:nvPr/>
        </p:nvSpPr>
        <p:spPr>
          <a:xfrm>
            <a:off x="1840768" y="3893327"/>
            <a:ext cx="1737192" cy="1101314"/>
          </a:xfrm>
          <a:prstGeom prst="rect">
            <a:avLst/>
          </a:prstGeom>
          <a:noFill/>
          <a:ln/>
        </p:spPr>
        <p:txBody>
          <a:bodyPr wrap="square" lIns="0" tIns="0" rIns="0" bIns="0" rtlCol="0" anchor="t">
            <a:normAutofit/>
          </a:bodyPr>
          <a:lstStyle/>
          <a:p>
            <a:pPr marL="0" indent="0" algn="l">
              <a:buNone/>
            </a:pPr>
            <a:r>
              <a:rPr lang="en-US" sz="1376" dirty="0">
                <a:solidFill>
                  <a:srgbClr val="BDC4C9"/>
                </a:solidFill>
                <a:latin typeface="Arial" pitchFamily="34" charset="0"/>
                <a:ea typeface="Arial" pitchFamily="34" charset="-122"/>
                <a:cs typeface="Arial" pitchFamily="34" charset="-120"/>
              </a:rPr>
              <a:t>Supported source and output</a:t>
            </a:r>
            <a:endParaRPr lang="en-US" sz="1376" dirty="0"/>
          </a:p>
        </p:txBody>
      </p:sp>
      <p:sp>
        <p:nvSpPr>
          <p:cNvPr id="15" name="Text 13"/>
          <p:cNvSpPr/>
          <p:nvPr/>
        </p:nvSpPr>
        <p:spPr>
          <a:xfrm>
            <a:off x="1840768" y="2835716"/>
            <a:ext cx="1737192" cy="524435"/>
          </a:xfrm>
          <a:prstGeom prst="rect">
            <a:avLst/>
          </a:prstGeom>
          <a:noFill/>
          <a:ln/>
        </p:spPr>
        <p:txBody>
          <a:bodyPr wrap="square" lIns="0" tIns="0" rIns="0" bIns="0" rtlCol="0" anchor="t">
            <a:normAutofit/>
          </a:bodyPr>
          <a:lstStyle/>
          <a:p>
            <a:pPr marL="0" indent="0" algn="l">
              <a:buNone/>
            </a:pPr>
            <a:r>
              <a:rPr lang="en-US" sz="1239" b="1" dirty="0">
                <a:solidFill>
                  <a:srgbClr val="D71920"/>
                </a:solidFill>
                <a:latin typeface="Arial" pitchFamily="34" charset="0"/>
                <a:ea typeface="Arial" pitchFamily="34" charset="-122"/>
                <a:cs typeface="Arial" pitchFamily="34" charset="-120"/>
              </a:rPr>
              <a:t>01</a:t>
            </a:r>
            <a:endParaRPr lang="en-US" sz="1239" dirty="0"/>
          </a:p>
        </p:txBody>
      </p:sp>
      <p:sp>
        <p:nvSpPr>
          <p:cNvPr id="16" name="Shape 14"/>
          <p:cNvSpPr/>
          <p:nvPr/>
        </p:nvSpPr>
        <p:spPr>
          <a:xfrm>
            <a:off x="3752772" y="4103101"/>
            <a:ext cx="148590" cy="914"/>
          </a:xfrm>
          <a:prstGeom prst="line">
            <a:avLst/>
          </a:prstGeom>
          <a:noFill/>
          <a:ln w="17481">
            <a:solidFill>
              <a:srgbClr val="D71920"/>
            </a:solidFill>
            <a:prstDash val="solid"/>
            <a:tailEnd type="triangle"/>
          </a:ln>
        </p:spPr>
        <p:txBody>
          <a:bodyPr/>
          <a:lstStyle/>
          <a:p>
            <a:endParaRPr lang="nl-NL"/>
          </a:p>
        </p:txBody>
      </p:sp>
      <p:sp>
        <p:nvSpPr>
          <p:cNvPr id="17" name="Shape 15"/>
          <p:cNvSpPr/>
          <p:nvPr/>
        </p:nvSpPr>
        <p:spPr>
          <a:xfrm>
            <a:off x="3927583" y="3132896"/>
            <a:ext cx="2034372" cy="1966632"/>
          </a:xfrm>
          <a:prstGeom prst="roundRect">
            <a:avLst>
              <a:gd name="adj" fmla="val 1860"/>
            </a:avLst>
          </a:prstGeom>
          <a:solidFill>
            <a:srgbClr val="30363B"/>
          </a:solidFill>
          <a:ln w="8890">
            <a:solidFill>
              <a:srgbClr val="48525B"/>
            </a:solidFill>
            <a:prstDash val="solid"/>
          </a:ln>
        </p:spPr>
        <p:txBody>
          <a:bodyPr/>
          <a:lstStyle/>
          <a:p>
            <a:endParaRPr lang="nl-NL"/>
          </a:p>
        </p:txBody>
      </p:sp>
      <p:sp>
        <p:nvSpPr>
          <p:cNvPr id="18" name="Shape 16"/>
          <p:cNvSpPr/>
          <p:nvPr/>
        </p:nvSpPr>
        <p:spPr>
          <a:xfrm>
            <a:off x="3927583" y="3255264"/>
            <a:ext cx="34962" cy="1721896"/>
          </a:xfrm>
          <a:prstGeom prst="rect">
            <a:avLst/>
          </a:prstGeom>
          <a:solidFill>
            <a:srgbClr val="82909A"/>
          </a:solidFill>
          <a:ln w="12700">
            <a:solidFill>
              <a:srgbClr val="24282C">
                <a:alpha val="0"/>
              </a:srgbClr>
            </a:solidFill>
            <a:prstDash val="solid"/>
          </a:ln>
        </p:spPr>
        <p:txBody>
          <a:bodyPr/>
          <a:lstStyle/>
          <a:p>
            <a:endParaRPr lang="nl-NL"/>
          </a:p>
        </p:txBody>
      </p:sp>
      <p:sp>
        <p:nvSpPr>
          <p:cNvPr id="19" name="Text 17"/>
          <p:cNvSpPr/>
          <p:nvPr/>
        </p:nvSpPr>
        <p:spPr>
          <a:xfrm>
            <a:off x="4076173" y="3272745"/>
            <a:ext cx="1737192" cy="559398"/>
          </a:xfrm>
          <a:prstGeom prst="rect">
            <a:avLst/>
          </a:prstGeom>
          <a:noFill/>
          <a:ln/>
        </p:spPr>
        <p:txBody>
          <a:bodyPr wrap="square" lIns="0" tIns="0" rIns="0" bIns="0" rtlCol="0" anchor="t">
            <a:normAutofit/>
          </a:bodyPr>
          <a:lstStyle/>
          <a:p>
            <a:pPr marL="0" indent="0" algn="l">
              <a:buNone/>
            </a:pPr>
            <a:r>
              <a:rPr lang="en-US" sz="1721" b="1" dirty="0">
                <a:solidFill>
                  <a:srgbClr val="F5F6F7"/>
                </a:solidFill>
                <a:latin typeface="Arial" pitchFamily="34" charset="0"/>
                <a:ea typeface="Arial" pitchFamily="34" charset="-122"/>
                <a:cs typeface="Arial" pitchFamily="34" charset="-120"/>
              </a:rPr>
              <a:t>Use</a:t>
            </a:r>
            <a:endParaRPr lang="en-US" sz="1721" dirty="0"/>
          </a:p>
        </p:txBody>
      </p:sp>
      <p:sp>
        <p:nvSpPr>
          <p:cNvPr id="20" name="Text 18"/>
          <p:cNvSpPr/>
          <p:nvPr/>
        </p:nvSpPr>
        <p:spPr>
          <a:xfrm>
            <a:off x="4076173" y="3893327"/>
            <a:ext cx="1737192" cy="1101314"/>
          </a:xfrm>
          <a:prstGeom prst="rect">
            <a:avLst/>
          </a:prstGeom>
          <a:noFill/>
          <a:ln/>
        </p:spPr>
        <p:txBody>
          <a:bodyPr wrap="square" lIns="0" tIns="0" rIns="0" bIns="0" rtlCol="0" anchor="t">
            <a:normAutofit/>
          </a:bodyPr>
          <a:lstStyle/>
          <a:p>
            <a:pPr marL="0" indent="0" algn="l">
              <a:buNone/>
            </a:pPr>
            <a:r>
              <a:rPr lang="en-US" sz="1376" dirty="0">
                <a:solidFill>
                  <a:srgbClr val="BDC4C9"/>
                </a:solidFill>
                <a:latin typeface="Arial" pitchFamily="34" charset="0"/>
                <a:ea typeface="Arial" pitchFamily="34" charset="-122"/>
                <a:cs typeface="Arial" pitchFamily="34" charset="-120"/>
              </a:rPr>
              <a:t>A real participant task</a:t>
            </a:r>
            <a:endParaRPr lang="en-US" sz="1376" dirty="0"/>
          </a:p>
        </p:txBody>
      </p:sp>
      <p:sp>
        <p:nvSpPr>
          <p:cNvPr id="21" name="Text 19"/>
          <p:cNvSpPr/>
          <p:nvPr/>
        </p:nvSpPr>
        <p:spPr>
          <a:xfrm>
            <a:off x="4076173" y="2835716"/>
            <a:ext cx="1737192" cy="524435"/>
          </a:xfrm>
          <a:prstGeom prst="rect">
            <a:avLst/>
          </a:prstGeom>
          <a:noFill/>
          <a:ln/>
        </p:spPr>
        <p:txBody>
          <a:bodyPr wrap="square" lIns="0" tIns="0" rIns="0" bIns="0" rtlCol="0" anchor="t">
            <a:normAutofit/>
          </a:bodyPr>
          <a:lstStyle/>
          <a:p>
            <a:pPr marL="0" indent="0" algn="l">
              <a:buNone/>
            </a:pPr>
            <a:r>
              <a:rPr lang="en-US" sz="1239" b="1" dirty="0">
                <a:solidFill>
                  <a:srgbClr val="D71920"/>
                </a:solidFill>
                <a:latin typeface="Arial" pitchFamily="34" charset="0"/>
                <a:ea typeface="Arial" pitchFamily="34" charset="-122"/>
                <a:cs typeface="Arial" pitchFamily="34" charset="-120"/>
              </a:rPr>
              <a:t>02</a:t>
            </a:r>
            <a:endParaRPr lang="en-US" sz="1239" dirty="0"/>
          </a:p>
        </p:txBody>
      </p:sp>
      <p:sp>
        <p:nvSpPr>
          <p:cNvPr id="22" name="Shape 20"/>
          <p:cNvSpPr/>
          <p:nvPr/>
        </p:nvSpPr>
        <p:spPr>
          <a:xfrm>
            <a:off x="5988177" y="4103101"/>
            <a:ext cx="148590" cy="914"/>
          </a:xfrm>
          <a:prstGeom prst="line">
            <a:avLst/>
          </a:prstGeom>
          <a:noFill/>
          <a:ln w="17481">
            <a:solidFill>
              <a:srgbClr val="D71920"/>
            </a:solidFill>
            <a:prstDash val="solid"/>
            <a:tailEnd type="triangle"/>
          </a:ln>
        </p:spPr>
        <p:txBody>
          <a:bodyPr/>
          <a:lstStyle/>
          <a:p>
            <a:endParaRPr lang="nl-NL"/>
          </a:p>
        </p:txBody>
      </p:sp>
      <p:sp>
        <p:nvSpPr>
          <p:cNvPr id="23" name="Shape 21"/>
          <p:cNvSpPr/>
          <p:nvPr/>
        </p:nvSpPr>
        <p:spPr>
          <a:xfrm>
            <a:off x="6162989" y="3132896"/>
            <a:ext cx="2034372" cy="1966632"/>
          </a:xfrm>
          <a:prstGeom prst="roundRect">
            <a:avLst>
              <a:gd name="adj" fmla="val 1860"/>
            </a:avLst>
          </a:prstGeom>
          <a:solidFill>
            <a:srgbClr val="30363B"/>
          </a:solidFill>
          <a:ln w="8890">
            <a:solidFill>
              <a:srgbClr val="48525B"/>
            </a:solidFill>
            <a:prstDash val="solid"/>
          </a:ln>
        </p:spPr>
        <p:txBody>
          <a:bodyPr/>
          <a:lstStyle/>
          <a:p>
            <a:endParaRPr lang="nl-NL"/>
          </a:p>
        </p:txBody>
      </p:sp>
      <p:sp>
        <p:nvSpPr>
          <p:cNvPr id="24" name="Shape 22"/>
          <p:cNvSpPr/>
          <p:nvPr/>
        </p:nvSpPr>
        <p:spPr>
          <a:xfrm>
            <a:off x="6162989" y="3255264"/>
            <a:ext cx="34962" cy="1721896"/>
          </a:xfrm>
          <a:prstGeom prst="rect">
            <a:avLst/>
          </a:prstGeom>
          <a:solidFill>
            <a:srgbClr val="82909A"/>
          </a:solidFill>
          <a:ln w="12700">
            <a:solidFill>
              <a:srgbClr val="24282C">
                <a:alpha val="0"/>
              </a:srgbClr>
            </a:solidFill>
            <a:prstDash val="solid"/>
          </a:ln>
        </p:spPr>
        <p:txBody>
          <a:bodyPr/>
          <a:lstStyle/>
          <a:p>
            <a:endParaRPr lang="nl-NL"/>
          </a:p>
        </p:txBody>
      </p:sp>
      <p:sp>
        <p:nvSpPr>
          <p:cNvPr id="25" name="Text 23"/>
          <p:cNvSpPr/>
          <p:nvPr/>
        </p:nvSpPr>
        <p:spPr>
          <a:xfrm>
            <a:off x="6311579" y="3272745"/>
            <a:ext cx="1737192" cy="559398"/>
          </a:xfrm>
          <a:prstGeom prst="rect">
            <a:avLst/>
          </a:prstGeom>
          <a:noFill/>
          <a:ln/>
        </p:spPr>
        <p:txBody>
          <a:bodyPr wrap="square" lIns="0" tIns="0" rIns="0" bIns="0" rtlCol="0" anchor="t">
            <a:normAutofit/>
          </a:bodyPr>
          <a:lstStyle/>
          <a:p>
            <a:pPr marL="0" indent="0" algn="l">
              <a:buNone/>
            </a:pPr>
            <a:r>
              <a:rPr lang="en-US" sz="1721" b="1" dirty="0">
                <a:solidFill>
                  <a:srgbClr val="F5F6F7"/>
                </a:solidFill>
                <a:latin typeface="Arial" pitchFamily="34" charset="0"/>
                <a:ea typeface="Arial" pitchFamily="34" charset="-122"/>
                <a:cs typeface="Arial" pitchFamily="34" charset="-120"/>
              </a:rPr>
              <a:t>Repeat</a:t>
            </a:r>
            <a:endParaRPr lang="en-US" sz="1721" dirty="0"/>
          </a:p>
        </p:txBody>
      </p:sp>
      <p:sp>
        <p:nvSpPr>
          <p:cNvPr id="26" name="Text 24"/>
          <p:cNvSpPr/>
          <p:nvPr/>
        </p:nvSpPr>
        <p:spPr>
          <a:xfrm>
            <a:off x="6311579" y="3893327"/>
            <a:ext cx="1737192" cy="1101314"/>
          </a:xfrm>
          <a:prstGeom prst="rect">
            <a:avLst/>
          </a:prstGeom>
          <a:noFill/>
          <a:ln/>
        </p:spPr>
        <p:txBody>
          <a:bodyPr wrap="square" lIns="0" tIns="0" rIns="0" bIns="0" rtlCol="0" anchor="t">
            <a:normAutofit/>
          </a:bodyPr>
          <a:lstStyle/>
          <a:p>
            <a:pPr marL="0" indent="0" algn="l">
              <a:buNone/>
            </a:pPr>
            <a:r>
              <a:rPr lang="en-US" sz="1376" dirty="0">
                <a:solidFill>
                  <a:srgbClr val="BDC4C9"/>
                </a:solidFill>
                <a:latin typeface="Arial" pitchFamily="34" charset="0"/>
                <a:ea typeface="Arial" pitchFamily="34" charset="-122"/>
                <a:cs typeface="Arial" pitchFamily="34" charset="-120"/>
              </a:rPr>
              <a:t>Later evidence and correction</a:t>
            </a:r>
            <a:endParaRPr lang="en-US" sz="1376" dirty="0"/>
          </a:p>
        </p:txBody>
      </p:sp>
      <p:sp>
        <p:nvSpPr>
          <p:cNvPr id="27" name="Text 25"/>
          <p:cNvSpPr/>
          <p:nvPr/>
        </p:nvSpPr>
        <p:spPr>
          <a:xfrm>
            <a:off x="6311579" y="2835716"/>
            <a:ext cx="1737192" cy="524435"/>
          </a:xfrm>
          <a:prstGeom prst="rect">
            <a:avLst/>
          </a:prstGeom>
          <a:noFill/>
          <a:ln/>
        </p:spPr>
        <p:txBody>
          <a:bodyPr wrap="square" lIns="0" tIns="0" rIns="0" bIns="0" rtlCol="0" anchor="t">
            <a:normAutofit/>
          </a:bodyPr>
          <a:lstStyle/>
          <a:p>
            <a:pPr marL="0" indent="0" algn="l">
              <a:buNone/>
            </a:pPr>
            <a:r>
              <a:rPr lang="en-US" sz="1239" b="1" dirty="0">
                <a:solidFill>
                  <a:srgbClr val="D71920"/>
                </a:solidFill>
                <a:latin typeface="Arial" pitchFamily="34" charset="0"/>
                <a:ea typeface="Arial" pitchFamily="34" charset="-122"/>
                <a:cs typeface="Arial" pitchFamily="34" charset="-120"/>
              </a:rPr>
              <a:t>03</a:t>
            </a:r>
            <a:endParaRPr lang="en-US" sz="1239" dirty="0"/>
          </a:p>
        </p:txBody>
      </p:sp>
      <p:sp>
        <p:nvSpPr>
          <p:cNvPr id="28" name="Shape 26"/>
          <p:cNvSpPr/>
          <p:nvPr/>
        </p:nvSpPr>
        <p:spPr>
          <a:xfrm>
            <a:off x="8223582" y="4103101"/>
            <a:ext cx="148590" cy="914"/>
          </a:xfrm>
          <a:prstGeom prst="line">
            <a:avLst/>
          </a:prstGeom>
          <a:noFill/>
          <a:ln w="17481">
            <a:solidFill>
              <a:srgbClr val="D71920"/>
            </a:solidFill>
            <a:prstDash val="solid"/>
            <a:tailEnd type="triangle"/>
          </a:ln>
        </p:spPr>
        <p:txBody>
          <a:bodyPr/>
          <a:lstStyle/>
          <a:p>
            <a:endParaRPr lang="nl-NL"/>
          </a:p>
        </p:txBody>
      </p:sp>
      <p:sp>
        <p:nvSpPr>
          <p:cNvPr id="29" name="Shape 27"/>
          <p:cNvSpPr/>
          <p:nvPr/>
        </p:nvSpPr>
        <p:spPr>
          <a:xfrm>
            <a:off x="8398394" y="3132896"/>
            <a:ext cx="2034372" cy="1966632"/>
          </a:xfrm>
          <a:prstGeom prst="roundRect">
            <a:avLst>
              <a:gd name="adj" fmla="val 1860"/>
            </a:avLst>
          </a:prstGeom>
          <a:solidFill>
            <a:srgbClr val="383F44"/>
          </a:solidFill>
          <a:ln w="8890">
            <a:solidFill>
              <a:srgbClr val="D71920"/>
            </a:solidFill>
            <a:prstDash val="solid"/>
          </a:ln>
        </p:spPr>
        <p:txBody>
          <a:bodyPr/>
          <a:lstStyle/>
          <a:p>
            <a:endParaRPr lang="nl-NL"/>
          </a:p>
        </p:txBody>
      </p:sp>
      <p:sp>
        <p:nvSpPr>
          <p:cNvPr id="30" name="Shape 28"/>
          <p:cNvSpPr/>
          <p:nvPr/>
        </p:nvSpPr>
        <p:spPr>
          <a:xfrm>
            <a:off x="8398394" y="3255264"/>
            <a:ext cx="34962" cy="1721896"/>
          </a:xfrm>
          <a:prstGeom prst="rect">
            <a:avLst/>
          </a:prstGeom>
          <a:solidFill>
            <a:srgbClr val="D71920"/>
          </a:solidFill>
          <a:ln w="12700">
            <a:solidFill>
              <a:srgbClr val="24282C">
                <a:alpha val="0"/>
              </a:srgbClr>
            </a:solidFill>
            <a:prstDash val="solid"/>
          </a:ln>
        </p:spPr>
        <p:txBody>
          <a:bodyPr/>
          <a:lstStyle/>
          <a:p>
            <a:endParaRPr lang="nl-NL"/>
          </a:p>
        </p:txBody>
      </p:sp>
      <p:sp>
        <p:nvSpPr>
          <p:cNvPr id="31" name="Text 29"/>
          <p:cNvSpPr/>
          <p:nvPr/>
        </p:nvSpPr>
        <p:spPr>
          <a:xfrm>
            <a:off x="8546984" y="3272745"/>
            <a:ext cx="1737192" cy="559398"/>
          </a:xfrm>
          <a:prstGeom prst="rect">
            <a:avLst/>
          </a:prstGeom>
          <a:noFill/>
          <a:ln/>
        </p:spPr>
        <p:txBody>
          <a:bodyPr wrap="square" lIns="0" tIns="0" rIns="0" bIns="0" rtlCol="0" anchor="t">
            <a:normAutofit/>
          </a:bodyPr>
          <a:lstStyle/>
          <a:p>
            <a:pPr marL="0" indent="0" algn="l">
              <a:buNone/>
            </a:pPr>
            <a:r>
              <a:rPr lang="en-US" sz="1721" b="1" dirty="0">
                <a:solidFill>
                  <a:srgbClr val="F5F6F7"/>
                </a:solidFill>
                <a:latin typeface="Arial" pitchFamily="34" charset="0"/>
                <a:ea typeface="Arial" pitchFamily="34" charset="-122"/>
                <a:cs typeface="Arial" pitchFamily="34" charset="-120"/>
              </a:rPr>
              <a:t>Extend</a:t>
            </a:r>
            <a:endParaRPr lang="en-US" sz="1721" dirty="0"/>
          </a:p>
        </p:txBody>
      </p:sp>
      <p:sp>
        <p:nvSpPr>
          <p:cNvPr id="32" name="Text 30"/>
          <p:cNvSpPr/>
          <p:nvPr/>
        </p:nvSpPr>
        <p:spPr>
          <a:xfrm>
            <a:off x="8546984" y="3893327"/>
            <a:ext cx="1737192" cy="1101314"/>
          </a:xfrm>
          <a:prstGeom prst="rect">
            <a:avLst/>
          </a:prstGeom>
          <a:noFill/>
          <a:ln/>
        </p:spPr>
        <p:txBody>
          <a:bodyPr wrap="square" lIns="0" tIns="0" rIns="0" bIns="0" rtlCol="0" anchor="t">
            <a:normAutofit/>
          </a:bodyPr>
          <a:lstStyle/>
          <a:p>
            <a:pPr marL="0" indent="0" algn="l">
              <a:buNone/>
            </a:pPr>
            <a:r>
              <a:rPr lang="en-US" sz="1376" dirty="0">
                <a:solidFill>
                  <a:srgbClr val="BDC4C9"/>
                </a:solidFill>
                <a:latin typeface="Arial" pitchFamily="34" charset="0"/>
                <a:ea typeface="Arial" pitchFamily="34" charset="-122"/>
                <a:cs typeface="Arial" pitchFamily="34" charset="-120"/>
              </a:rPr>
              <a:t>Only on demonstrated value</a:t>
            </a:r>
            <a:endParaRPr lang="en-US" sz="1376" dirty="0"/>
          </a:p>
        </p:txBody>
      </p:sp>
      <p:sp>
        <p:nvSpPr>
          <p:cNvPr id="33" name="Text 31"/>
          <p:cNvSpPr/>
          <p:nvPr/>
        </p:nvSpPr>
        <p:spPr>
          <a:xfrm>
            <a:off x="8546984" y="2835716"/>
            <a:ext cx="1737192" cy="524435"/>
          </a:xfrm>
          <a:prstGeom prst="rect">
            <a:avLst/>
          </a:prstGeom>
          <a:noFill/>
          <a:ln/>
        </p:spPr>
        <p:txBody>
          <a:bodyPr wrap="square" lIns="0" tIns="0" rIns="0" bIns="0" rtlCol="0" anchor="t">
            <a:normAutofit/>
          </a:bodyPr>
          <a:lstStyle/>
          <a:p>
            <a:pPr marL="0" indent="0" algn="l">
              <a:buNone/>
            </a:pPr>
            <a:r>
              <a:rPr lang="en-US" sz="1239" b="1" dirty="0">
                <a:solidFill>
                  <a:srgbClr val="D71920"/>
                </a:solidFill>
                <a:latin typeface="Arial" pitchFamily="34" charset="0"/>
                <a:ea typeface="Arial" pitchFamily="34" charset="-122"/>
                <a:cs typeface="Arial" pitchFamily="34" charset="-120"/>
              </a:rPr>
              <a:t>04</a:t>
            </a:r>
            <a:endParaRPr lang="en-US" sz="1239" dirty="0"/>
          </a:p>
        </p:txBody>
      </p:sp>
      <p:sp>
        <p:nvSpPr>
          <p:cNvPr id="34" name="Text 32"/>
          <p:cNvSpPr/>
          <p:nvPr/>
        </p:nvSpPr>
        <p:spPr>
          <a:xfrm>
            <a:off x="548640" y="5678424"/>
            <a:ext cx="10954512" cy="219456"/>
          </a:xfrm>
          <a:prstGeom prst="rect">
            <a:avLst/>
          </a:prstGeom>
          <a:noFill/>
          <a:ln/>
        </p:spPr>
        <p:txBody>
          <a:bodyPr wrap="square" lIns="0" tIns="0" rIns="0" bIns="0" rtlCol="0" anchor="t">
            <a:normAutofit/>
          </a:bodyPr>
          <a:lstStyle/>
          <a:p>
            <a:pPr marL="0" indent="0" algn="l">
              <a:buNone/>
            </a:pPr>
            <a:r>
              <a:rPr lang="en-US" sz="840" dirty="0">
                <a:solidFill>
                  <a:srgbClr val="BDC4C9"/>
                </a:solidFill>
                <a:latin typeface="Arial" pitchFamily="34" charset="0"/>
                <a:ea typeface="Arial" pitchFamily="34" charset="-122"/>
                <a:cs typeface="Arial" pitchFamily="34" charset="-120"/>
              </a:rPr>
              <a:t>Proposed sequence / each stage retains its own evidence and decision.</a:t>
            </a:r>
            <a:endParaRPr lang="en-US" sz="840" dirty="0"/>
          </a:p>
        </p:txBody>
      </p:sp>
      <p:sp>
        <p:nvSpPr>
          <p:cNvPr id="35" name="Text 33"/>
          <p:cNvSpPr/>
          <p:nvPr/>
        </p:nvSpPr>
        <p:spPr>
          <a:xfrm>
            <a:off x="603504" y="5925312"/>
            <a:ext cx="10917936" cy="347472"/>
          </a:xfrm>
          <a:prstGeom prst="rect">
            <a:avLst/>
          </a:prstGeom>
          <a:noFill/>
          <a:ln/>
        </p:spPr>
        <p:txBody>
          <a:bodyPr wrap="square" lIns="0" tIns="0" rIns="0" bIns="0" rtlCol="0" anchor="t">
            <a:normAutofit/>
          </a:bodyPr>
          <a:lstStyle/>
          <a:p>
            <a:pPr marL="0" indent="0" algn="l">
              <a:buNone/>
            </a:pPr>
            <a:r>
              <a:rPr lang="en-US" sz="1320" dirty="0">
                <a:solidFill>
                  <a:srgbClr val="F5F6F7"/>
                </a:solidFill>
                <a:latin typeface="Arial" pitchFamily="34" charset="0"/>
                <a:ea typeface="Arial" pitchFamily="34" charset="-122"/>
                <a:cs typeface="Arial" pitchFamily="34" charset="-120"/>
              </a:rPr>
              <a:t>Broader participation should be based on the useful result, source coverage and operating capacity actually demonstrated.</a:t>
            </a:r>
            <a:endParaRPr lang="en-US" sz="132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24282C"/>
        </a:solidFill>
        <a:effectLst/>
      </p:bgPr>
    </p:bg>
    <p:spTree>
      <p:nvGrpSpPr>
        <p:cNvPr id="1" name=""/>
        <p:cNvGrpSpPr/>
        <p:nvPr/>
      </p:nvGrpSpPr>
      <p:grpSpPr>
        <a:xfrm>
          <a:off x="0" y="0"/>
          <a:ext cx="0" cy="0"/>
          <a:chOff x="0" y="0"/>
          <a:chExt cx="0" cy="0"/>
        </a:xfrm>
      </p:grpSpPr>
      <p:sp>
        <p:nvSpPr>
          <p:cNvPr id="2" name="Text 0"/>
          <p:cNvSpPr/>
          <p:nvPr/>
        </p:nvSpPr>
        <p:spPr>
          <a:xfrm>
            <a:off x="484632" y="173736"/>
            <a:ext cx="2743200" cy="201168"/>
          </a:xfrm>
          <a:prstGeom prst="rect">
            <a:avLst/>
          </a:prstGeom>
          <a:noFill/>
          <a:ln/>
        </p:spPr>
        <p:txBody>
          <a:bodyPr wrap="square" lIns="0" tIns="0" rIns="0" bIns="0" rtlCol="0" anchor="t">
            <a:normAutofit/>
          </a:bodyPr>
          <a:lstStyle/>
          <a:p>
            <a:pPr marL="0" indent="0" algn="l">
              <a:buNone/>
            </a:pPr>
            <a:r>
              <a:rPr lang="en-US" sz="1000" b="1" dirty="0">
                <a:solidFill>
                  <a:srgbClr val="F5F6F7"/>
                </a:solidFill>
                <a:latin typeface="Arial" pitchFamily="34" charset="0"/>
                <a:ea typeface="Arial" pitchFamily="34" charset="-122"/>
                <a:cs typeface="Arial" pitchFamily="34" charset="-120"/>
              </a:rPr>
              <a:t>ISUZU / UNIVERSE</a:t>
            </a:r>
            <a:endParaRPr lang="en-US" sz="1000" dirty="0"/>
          </a:p>
        </p:txBody>
      </p:sp>
      <p:sp>
        <p:nvSpPr>
          <p:cNvPr id="3" name="Text 1"/>
          <p:cNvSpPr/>
          <p:nvPr/>
        </p:nvSpPr>
        <p:spPr>
          <a:xfrm>
            <a:off x="8046720" y="173736"/>
            <a:ext cx="3657600" cy="201168"/>
          </a:xfrm>
          <a:prstGeom prst="rect">
            <a:avLst/>
          </a:prstGeom>
          <a:noFill/>
          <a:ln/>
        </p:spPr>
        <p:txBody>
          <a:bodyPr wrap="square" lIns="0" tIns="0" rIns="0" bIns="0" rtlCol="0" anchor="t">
            <a:normAutofit/>
          </a:bodyPr>
          <a:lstStyle/>
          <a:p>
            <a:pPr marL="0" indent="0" algn="r">
              <a:buNone/>
            </a:pPr>
            <a:r>
              <a:rPr lang="en-US" sz="900" dirty="0">
                <a:solidFill>
                  <a:srgbClr val="BDC4C9"/>
                </a:solidFill>
                <a:latin typeface="Arial" pitchFamily="34" charset="0"/>
                <a:ea typeface="Arial" pitchFamily="34" charset="-122"/>
                <a:cs typeface="Arial" pitchFamily="34" charset="-120"/>
              </a:rPr>
              <a:t>COMMERCIAL VISION  /  3.0</a:t>
            </a:r>
            <a:endParaRPr lang="en-US" sz="900" dirty="0"/>
          </a:p>
        </p:txBody>
      </p:sp>
      <p:sp>
        <p:nvSpPr>
          <p:cNvPr id="4" name="Shape 2"/>
          <p:cNvSpPr/>
          <p:nvPr/>
        </p:nvSpPr>
        <p:spPr>
          <a:xfrm>
            <a:off x="484632" y="512064"/>
            <a:ext cx="475488" cy="22860"/>
          </a:xfrm>
          <a:prstGeom prst="rect">
            <a:avLst/>
          </a:prstGeom>
          <a:solidFill>
            <a:srgbClr val="D71920"/>
          </a:solidFill>
          <a:ln w="12700">
            <a:solidFill>
              <a:srgbClr val="D71920">
                <a:alpha val="0"/>
              </a:srgbClr>
            </a:solidFill>
            <a:prstDash val="solid"/>
          </a:ln>
        </p:spPr>
        <p:txBody>
          <a:bodyPr/>
          <a:lstStyle/>
          <a:p>
            <a:endParaRPr lang="nl-NL"/>
          </a:p>
        </p:txBody>
      </p:sp>
      <p:sp>
        <p:nvSpPr>
          <p:cNvPr id="5" name="Text 3"/>
          <p:cNvSpPr/>
          <p:nvPr/>
        </p:nvSpPr>
        <p:spPr>
          <a:xfrm>
            <a:off x="484632" y="658368"/>
            <a:ext cx="11064240" cy="219456"/>
          </a:xfrm>
          <a:prstGeom prst="rect">
            <a:avLst/>
          </a:prstGeom>
          <a:noFill/>
          <a:ln/>
        </p:spPr>
        <p:txBody>
          <a:bodyPr wrap="square" lIns="0" tIns="0" rIns="0" bIns="0" rtlCol="0" anchor="t">
            <a:normAutofit/>
          </a:bodyPr>
          <a:lstStyle/>
          <a:p>
            <a:pPr marL="0" indent="0" algn="l">
              <a:buNone/>
            </a:pPr>
            <a:r>
              <a:rPr lang="en-US" sz="1000" b="1" dirty="0">
                <a:solidFill>
                  <a:srgbClr val="D71920"/>
                </a:solidFill>
                <a:latin typeface="Arial" pitchFamily="34" charset="0"/>
                <a:ea typeface="Arial" pitchFamily="34" charset="-122"/>
                <a:cs typeface="Arial" pitchFamily="34" charset="-120"/>
              </a:rPr>
              <a:t>PILOTS</a:t>
            </a:r>
            <a:endParaRPr lang="en-US" sz="1000" dirty="0"/>
          </a:p>
        </p:txBody>
      </p:sp>
      <p:sp>
        <p:nvSpPr>
          <p:cNvPr id="6" name="Shape 4"/>
          <p:cNvSpPr/>
          <p:nvPr/>
        </p:nvSpPr>
        <p:spPr>
          <a:xfrm>
            <a:off x="484632" y="6446520"/>
            <a:ext cx="11219688" cy="914"/>
          </a:xfrm>
          <a:prstGeom prst="line">
            <a:avLst/>
          </a:prstGeom>
          <a:noFill/>
          <a:ln w="6350">
            <a:solidFill>
              <a:srgbClr val="647078"/>
            </a:solidFill>
            <a:prstDash val="solid"/>
          </a:ln>
        </p:spPr>
        <p:txBody>
          <a:bodyPr/>
          <a:lstStyle/>
          <a:p>
            <a:endParaRPr lang="nl-NL"/>
          </a:p>
        </p:txBody>
      </p:sp>
      <p:sp>
        <p:nvSpPr>
          <p:cNvPr id="7" name="Text 5"/>
          <p:cNvSpPr/>
          <p:nvPr/>
        </p:nvSpPr>
        <p:spPr>
          <a:xfrm>
            <a:off x="484632" y="6556248"/>
            <a:ext cx="9144000" cy="146304"/>
          </a:xfrm>
          <a:prstGeom prst="rect">
            <a:avLst/>
          </a:prstGeom>
          <a:noFill/>
          <a:ln/>
        </p:spPr>
        <p:txBody>
          <a:bodyPr wrap="square" lIns="0" tIns="0" rIns="0" bIns="0" rtlCol="0" anchor="t">
            <a:normAutofit/>
          </a:bodyPr>
          <a:lstStyle/>
          <a:p>
            <a:pPr marL="0" indent="0" algn="l">
              <a:buNone/>
            </a:pPr>
            <a:r>
              <a:rPr lang="en-US" sz="750" dirty="0">
                <a:solidFill>
                  <a:srgbClr val="BDC4C9"/>
                </a:solidFill>
                <a:latin typeface="Arial" pitchFamily="34" charset="0"/>
                <a:ea typeface="Arial" pitchFamily="34" charset="-122"/>
                <a:cs typeface="Arial" pitchFamily="34" charset="-120"/>
              </a:rPr>
              <a:t>22 SEPTEMBER 2026  /  CONCEPT AND APPLICATION EXAMPLES</a:t>
            </a:r>
            <a:endParaRPr lang="en-US" sz="750" dirty="0"/>
          </a:p>
        </p:txBody>
      </p:sp>
      <p:sp>
        <p:nvSpPr>
          <p:cNvPr id="8" name="Text 6"/>
          <p:cNvSpPr/>
          <p:nvPr/>
        </p:nvSpPr>
        <p:spPr>
          <a:xfrm>
            <a:off x="10789920" y="6547104"/>
            <a:ext cx="914400" cy="173736"/>
          </a:xfrm>
          <a:prstGeom prst="rect">
            <a:avLst/>
          </a:prstGeom>
          <a:noFill/>
          <a:ln/>
        </p:spPr>
        <p:txBody>
          <a:bodyPr wrap="square" lIns="0" tIns="0" rIns="0" bIns="0" rtlCol="0" anchor="t">
            <a:normAutofit/>
          </a:bodyPr>
          <a:lstStyle/>
          <a:p>
            <a:pPr marL="0" indent="0" algn="r">
              <a:buNone/>
            </a:pPr>
            <a:r>
              <a:rPr lang="en-US" sz="850" dirty="0">
                <a:solidFill>
                  <a:srgbClr val="BDC4C9"/>
                </a:solidFill>
                <a:latin typeface="Arial" pitchFamily="34" charset="0"/>
                <a:ea typeface="Arial" pitchFamily="34" charset="-122"/>
                <a:cs typeface="Arial" pitchFamily="34" charset="-120"/>
              </a:rPr>
              <a:t>46 / 49</a:t>
            </a:r>
            <a:endParaRPr lang="en-US" sz="850" dirty="0"/>
          </a:p>
        </p:txBody>
      </p:sp>
      <p:sp>
        <p:nvSpPr>
          <p:cNvPr id="9" name="Text 7"/>
          <p:cNvSpPr/>
          <p:nvPr/>
        </p:nvSpPr>
        <p:spPr>
          <a:xfrm>
            <a:off x="502920" y="1005840"/>
            <a:ext cx="11036808" cy="841248"/>
          </a:xfrm>
          <a:prstGeom prst="rect">
            <a:avLst/>
          </a:prstGeom>
          <a:noFill/>
          <a:ln/>
        </p:spPr>
        <p:txBody>
          <a:bodyPr wrap="square" lIns="0" tIns="0" rIns="0" bIns="0" rtlCol="0" anchor="t">
            <a:normAutofit/>
          </a:bodyPr>
          <a:lstStyle/>
          <a:p>
            <a:pPr marL="0" indent="0" algn="l">
              <a:buNone/>
            </a:pPr>
            <a:r>
              <a:rPr lang="en-US" sz="3400" b="1" dirty="0">
                <a:solidFill>
                  <a:srgbClr val="F5F6F7"/>
                </a:solidFill>
                <a:latin typeface="Arial" pitchFamily="34" charset="0"/>
                <a:ea typeface="Arial" pitchFamily="34" charset="-122"/>
                <a:cs typeface="Arial" pitchFamily="34" charset="-120"/>
              </a:rPr>
              <a:t>Two pilots, different useful starting points.</a:t>
            </a:r>
            <a:endParaRPr lang="en-US" sz="3400" dirty="0"/>
          </a:p>
        </p:txBody>
      </p:sp>
      <p:sp>
        <p:nvSpPr>
          <p:cNvPr id="10" name="Text 8"/>
          <p:cNvSpPr/>
          <p:nvPr/>
        </p:nvSpPr>
        <p:spPr>
          <a:xfrm>
            <a:off x="530352" y="1865376"/>
            <a:ext cx="10954512" cy="566928"/>
          </a:xfrm>
          <a:prstGeom prst="rect">
            <a:avLst/>
          </a:prstGeom>
          <a:noFill/>
          <a:ln/>
        </p:spPr>
        <p:txBody>
          <a:bodyPr wrap="square" lIns="0" tIns="0" rIns="0" bIns="0" rtlCol="0" anchor="t">
            <a:normAutofit/>
          </a:bodyPr>
          <a:lstStyle/>
          <a:p>
            <a:pPr marL="0" indent="0" algn="l">
              <a:buNone/>
            </a:pPr>
            <a:r>
              <a:rPr lang="en-US" sz="1800" dirty="0">
                <a:solidFill>
                  <a:srgbClr val="BDC4C9"/>
                </a:solidFill>
                <a:latin typeface="Arial" pitchFamily="34" charset="0"/>
                <a:ea typeface="Arial" pitchFamily="34" charset="-122"/>
                <a:cs typeface="Arial" pitchFamily="34" charset="-120"/>
              </a:rPr>
              <a:t>Use each pilot at the level its information supports.</a:t>
            </a:r>
            <a:endParaRPr lang="en-US" sz="1800" dirty="0"/>
          </a:p>
        </p:txBody>
      </p:sp>
      <p:sp>
        <p:nvSpPr>
          <p:cNvPr id="11" name="Shape 9"/>
          <p:cNvSpPr/>
          <p:nvPr/>
        </p:nvSpPr>
        <p:spPr>
          <a:xfrm>
            <a:off x="1817043" y="2966575"/>
            <a:ext cx="2683111" cy="2343477"/>
          </a:xfrm>
          <a:prstGeom prst="roundRect">
            <a:avLst>
              <a:gd name="adj" fmla="val 1561"/>
            </a:avLst>
          </a:prstGeom>
          <a:solidFill>
            <a:srgbClr val="383F44"/>
          </a:solidFill>
          <a:ln w="8890">
            <a:solidFill>
              <a:srgbClr val="D71920"/>
            </a:solidFill>
            <a:prstDash val="solid"/>
          </a:ln>
        </p:spPr>
        <p:txBody>
          <a:bodyPr/>
          <a:lstStyle/>
          <a:p>
            <a:endParaRPr lang="nl-NL"/>
          </a:p>
        </p:txBody>
      </p:sp>
      <p:sp>
        <p:nvSpPr>
          <p:cNvPr id="12" name="Shape 10"/>
          <p:cNvSpPr/>
          <p:nvPr/>
        </p:nvSpPr>
        <p:spPr>
          <a:xfrm>
            <a:off x="1817043" y="3085447"/>
            <a:ext cx="33963" cy="2105733"/>
          </a:xfrm>
          <a:prstGeom prst="rect">
            <a:avLst/>
          </a:prstGeom>
          <a:solidFill>
            <a:srgbClr val="D71920"/>
          </a:solidFill>
          <a:ln w="12700">
            <a:solidFill>
              <a:srgbClr val="24282C">
                <a:alpha val="0"/>
              </a:srgbClr>
            </a:solidFill>
            <a:prstDash val="solid"/>
          </a:ln>
        </p:spPr>
        <p:txBody>
          <a:bodyPr/>
          <a:lstStyle/>
          <a:p>
            <a:endParaRPr lang="nl-NL"/>
          </a:p>
        </p:txBody>
      </p:sp>
      <p:sp>
        <p:nvSpPr>
          <p:cNvPr id="13" name="Text 11"/>
          <p:cNvSpPr/>
          <p:nvPr/>
        </p:nvSpPr>
        <p:spPr>
          <a:xfrm>
            <a:off x="1961388" y="3102429"/>
            <a:ext cx="2394422" cy="543415"/>
          </a:xfrm>
          <a:prstGeom prst="rect">
            <a:avLst/>
          </a:prstGeom>
          <a:noFill/>
          <a:ln/>
        </p:spPr>
        <p:txBody>
          <a:bodyPr wrap="square" lIns="0" tIns="0" rIns="0" bIns="0" rtlCol="0" anchor="t">
            <a:normAutofit/>
          </a:bodyPr>
          <a:lstStyle/>
          <a:p>
            <a:pPr marL="0" indent="0" algn="l">
              <a:buNone/>
            </a:pPr>
            <a:r>
              <a:rPr lang="en-US" sz="1671" b="1" dirty="0">
                <a:solidFill>
                  <a:srgbClr val="F5F6F7"/>
                </a:solidFill>
                <a:latin typeface="Arial" pitchFamily="34" charset="0"/>
                <a:ea typeface="Arial" pitchFamily="34" charset="-122"/>
                <a:cs typeface="Arial" pitchFamily="34" charset="-120"/>
              </a:rPr>
              <a:t>ITUK</a:t>
            </a:r>
            <a:endParaRPr lang="en-US" sz="1671" dirty="0"/>
          </a:p>
        </p:txBody>
      </p:sp>
      <p:sp>
        <p:nvSpPr>
          <p:cNvPr id="14" name="Text 12"/>
          <p:cNvSpPr/>
          <p:nvPr/>
        </p:nvSpPr>
        <p:spPr>
          <a:xfrm>
            <a:off x="1961388" y="3705279"/>
            <a:ext cx="2394422" cy="1502882"/>
          </a:xfrm>
          <a:prstGeom prst="rect">
            <a:avLst/>
          </a:prstGeom>
          <a:noFill/>
          <a:ln/>
        </p:spPr>
        <p:txBody>
          <a:bodyPr wrap="square" lIns="0" tIns="0" rIns="0" bIns="0" rtlCol="0" anchor="t">
            <a:normAutofit/>
          </a:bodyPr>
          <a:lstStyle/>
          <a:p>
            <a:pPr marL="0" indent="0" algn="l">
              <a:buNone/>
            </a:pPr>
            <a:r>
              <a:rPr lang="en-US" sz="1337" dirty="0">
                <a:solidFill>
                  <a:srgbClr val="BDC4C9"/>
                </a:solidFill>
                <a:latin typeface="Arial" pitchFamily="34" charset="0"/>
                <a:ea typeface="Arial" pitchFamily="34" charset="-122"/>
                <a:cs typeface="Arial" pitchFamily="34" charset="-120"/>
              </a:rPr>
              <a:t>Within-year account analysis on the supplied 2025 coverage.</a:t>
            </a:r>
            <a:endParaRPr lang="en-US" sz="1337" dirty="0"/>
          </a:p>
        </p:txBody>
      </p:sp>
      <p:sp>
        <p:nvSpPr>
          <p:cNvPr id="15" name="Shape 13"/>
          <p:cNvSpPr/>
          <p:nvPr/>
        </p:nvSpPr>
        <p:spPr>
          <a:xfrm>
            <a:off x="4720917" y="2966575"/>
            <a:ext cx="2683111" cy="2343477"/>
          </a:xfrm>
          <a:prstGeom prst="roundRect">
            <a:avLst>
              <a:gd name="adj" fmla="val 1561"/>
            </a:avLst>
          </a:prstGeom>
          <a:solidFill>
            <a:srgbClr val="30363B"/>
          </a:solidFill>
          <a:ln w="8890">
            <a:solidFill>
              <a:srgbClr val="48525B"/>
            </a:solidFill>
            <a:prstDash val="solid"/>
          </a:ln>
        </p:spPr>
        <p:txBody>
          <a:bodyPr/>
          <a:lstStyle/>
          <a:p>
            <a:endParaRPr lang="nl-NL"/>
          </a:p>
        </p:txBody>
      </p:sp>
      <p:sp>
        <p:nvSpPr>
          <p:cNvPr id="16" name="Shape 14"/>
          <p:cNvSpPr/>
          <p:nvPr/>
        </p:nvSpPr>
        <p:spPr>
          <a:xfrm>
            <a:off x="4720917" y="3085447"/>
            <a:ext cx="33963" cy="2105733"/>
          </a:xfrm>
          <a:prstGeom prst="rect">
            <a:avLst/>
          </a:prstGeom>
          <a:solidFill>
            <a:srgbClr val="82909A"/>
          </a:solidFill>
          <a:ln w="12700">
            <a:solidFill>
              <a:srgbClr val="24282C">
                <a:alpha val="0"/>
              </a:srgbClr>
            </a:solidFill>
            <a:prstDash val="solid"/>
          </a:ln>
        </p:spPr>
        <p:txBody>
          <a:bodyPr/>
          <a:lstStyle/>
          <a:p>
            <a:endParaRPr lang="nl-NL"/>
          </a:p>
        </p:txBody>
      </p:sp>
      <p:sp>
        <p:nvSpPr>
          <p:cNvPr id="17" name="Text 15"/>
          <p:cNvSpPr/>
          <p:nvPr/>
        </p:nvSpPr>
        <p:spPr>
          <a:xfrm>
            <a:off x="4865261" y="3102429"/>
            <a:ext cx="2394422" cy="543415"/>
          </a:xfrm>
          <a:prstGeom prst="rect">
            <a:avLst/>
          </a:prstGeom>
          <a:noFill/>
          <a:ln/>
        </p:spPr>
        <p:txBody>
          <a:bodyPr wrap="square" lIns="0" tIns="0" rIns="0" bIns="0" rtlCol="0" anchor="t">
            <a:normAutofit/>
          </a:bodyPr>
          <a:lstStyle/>
          <a:p>
            <a:pPr marL="0" indent="0" algn="l">
              <a:buNone/>
            </a:pPr>
            <a:r>
              <a:rPr lang="en-US" sz="1671" b="1" dirty="0">
                <a:solidFill>
                  <a:srgbClr val="F5F6F7"/>
                </a:solidFill>
                <a:latin typeface="Arial" pitchFamily="34" charset="0"/>
                <a:ea typeface="Arial" pitchFamily="34" charset="-122"/>
                <a:cs typeface="Arial" pitchFamily="34" charset="-120"/>
              </a:rPr>
              <a:t>I Motors</a:t>
            </a:r>
            <a:endParaRPr lang="en-US" sz="1671" dirty="0"/>
          </a:p>
        </p:txBody>
      </p:sp>
      <p:sp>
        <p:nvSpPr>
          <p:cNvPr id="18" name="Text 16"/>
          <p:cNvSpPr/>
          <p:nvPr/>
        </p:nvSpPr>
        <p:spPr>
          <a:xfrm>
            <a:off x="4865261" y="3705279"/>
            <a:ext cx="2394422" cy="1502882"/>
          </a:xfrm>
          <a:prstGeom prst="rect">
            <a:avLst/>
          </a:prstGeom>
          <a:noFill/>
          <a:ln/>
        </p:spPr>
        <p:txBody>
          <a:bodyPr wrap="square" lIns="0" tIns="0" rIns="0" bIns="0" rtlCol="0" anchor="t">
            <a:normAutofit/>
          </a:bodyPr>
          <a:lstStyle/>
          <a:p>
            <a:pPr marL="0" indent="0" algn="l">
              <a:buNone/>
            </a:pPr>
            <a:r>
              <a:rPr lang="en-US" sz="1337" dirty="0">
                <a:solidFill>
                  <a:srgbClr val="BDC4C9"/>
                </a:solidFill>
                <a:latin typeface="Arial" pitchFamily="34" charset="0"/>
                <a:ea typeface="Arial" pitchFamily="34" charset="-122"/>
                <a:cs typeface="Arial" pitchFamily="34" charset="-120"/>
              </a:rPr>
              <a:t>National product analysis plus separate IDS development.</a:t>
            </a:r>
            <a:endParaRPr lang="en-US" sz="1337" dirty="0"/>
          </a:p>
        </p:txBody>
      </p:sp>
      <p:sp>
        <p:nvSpPr>
          <p:cNvPr id="19" name="Shape 17"/>
          <p:cNvSpPr/>
          <p:nvPr/>
        </p:nvSpPr>
        <p:spPr>
          <a:xfrm>
            <a:off x="7624790" y="2966575"/>
            <a:ext cx="2683111" cy="2343477"/>
          </a:xfrm>
          <a:prstGeom prst="roundRect">
            <a:avLst>
              <a:gd name="adj" fmla="val 1561"/>
            </a:avLst>
          </a:prstGeom>
          <a:solidFill>
            <a:srgbClr val="30363B"/>
          </a:solidFill>
          <a:ln w="8890">
            <a:solidFill>
              <a:srgbClr val="48525B"/>
            </a:solidFill>
            <a:prstDash val="solid"/>
          </a:ln>
        </p:spPr>
        <p:txBody>
          <a:bodyPr/>
          <a:lstStyle/>
          <a:p>
            <a:endParaRPr lang="nl-NL"/>
          </a:p>
        </p:txBody>
      </p:sp>
      <p:sp>
        <p:nvSpPr>
          <p:cNvPr id="20" name="Shape 18"/>
          <p:cNvSpPr/>
          <p:nvPr/>
        </p:nvSpPr>
        <p:spPr>
          <a:xfrm>
            <a:off x="7624790" y="3085447"/>
            <a:ext cx="33963" cy="2105733"/>
          </a:xfrm>
          <a:prstGeom prst="rect">
            <a:avLst/>
          </a:prstGeom>
          <a:solidFill>
            <a:srgbClr val="82909A"/>
          </a:solidFill>
          <a:ln w="12700">
            <a:solidFill>
              <a:srgbClr val="24282C">
                <a:alpha val="0"/>
              </a:srgbClr>
            </a:solidFill>
            <a:prstDash val="solid"/>
          </a:ln>
        </p:spPr>
        <p:txBody>
          <a:bodyPr/>
          <a:lstStyle/>
          <a:p>
            <a:endParaRPr lang="nl-NL"/>
          </a:p>
        </p:txBody>
      </p:sp>
      <p:sp>
        <p:nvSpPr>
          <p:cNvPr id="21" name="Text 19"/>
          <p:cNvSpPr/>
          <p:nvPr/>
        </p:nvSpPr>
        <p:spPr>
          <a:xfrm>
            <a:off x="7769134" y="3102429"/>
            <a:ext cx="2394422" cy="543415"/>
          </a:xfrm>
          <a:prstGeom prst="rect">
            <a:avLst/>
          </a:prstGeom>
          <a:noFill/>
          <a:ln/>
        </p:spPr>
        <p:txBody>
          <a:bodyPr wrap="square" lIns="0" tIns="0" rIns="0" bIns="0" rtlCol="0" anchor="t">
            <a:normAutofit/>
          </a:bodyPr>
          <a:lstStyle/>
          <a:p>
            <a:pPr marL="0" indent="0" algn="l">
              <a:buNone/>
            </a:pPr>
            <a:r>
              <a:rPr lang="en-US" sz="1671" b="1" dirty="0">
                <a:solidFill>
                  <a:srgbClr val="F5F6F7"/>
                </a:solidFill>
                <a:latin typeface="Arial" pitchFamily="34" charset="0"/>
                <a:ea typeface="Arial" pitchFamily="34" charset="-122"/>
                <a:cs typeface="Arial" pitchFamily="34" charset="-120"/>
              </a:rPr>
              <a:t>Applications</a:t>
            </a:r>
            <a:endParaRPr lang="en-US" sz="1671" dirty="0"/>
          </a:p>
        </p:txBody>
      </p:sp>
      <p:sp>
        <p:nvSpPr>
          <p:cNvPr id="22" name="Text 20"/>
          <p:cNvSpPr/>
          <p:nvPr/>
        </p:nvSpPr>
        <p:spPr>
          <a:xfrm>
            <a:off x="7769134" y="3705279"/>
            <a:ext cx="2394422" cy="1502882"/>
          </a:xfrm>
          <a:prstGeom prst="rect">
            <a:avLst/>
          </a:prstGeom>
          <a:noFill/>
          <a:ln/>
        </p:spPr>
        <p:txBody>
          <a:bodyPr wrap="square" lIns="0" tIns="0" rIns="0" bIns="0" rtlCol="0" anchor="t">
            <a:normAutofit/>
          </a:bodyPr>
          <a:lstStyle/>
          <a:p>
            <a:pPr marL="0" indent="0" algn="l">
              <a:buNone/>
            </a:pPr>
            <a:r>
              <a:rPr lang="en-US" sz="1337" dirty="0">
                <a:solidFill>
                  <a:srgbClr val="BDC4C9"/>
                </a:solidFill>
                <a:latin typeface="Arial" pitchFamily="34" charset="0"/>
                <a:ea typeface="Arial" pitchFamily="34" charset="-122"/>
                <a:cs typeface="Arial" pitchFamily="34" charset="-120"/>
              </a:rPr>
              <a:t>Real tender or campaign scope selected when ready.</a:t>
            </a:r>
            <a:endParaRPr lang="en-US" sz="1337" dirty="0"/>
          </a:p>
        </p:txBody>
      </p:sp>
      <p:sp>
        <p:nvSpPr>
          <p:cNvPr id="23" name="Text 21"/>
          <p:cNvSpPr/>
          <p:nvPr/>
        </p:nvSpPr>
        <p:spPr>
          <a:xfrm>
            <a:off x="548640" y="5678424"/>
            <a:ext cx="10954512" cy="219456"/>
          </a:xfrm>
          <a:prstGeom prst="rect">
            <a:avLst/>
          </a:prstGeom>
          <a:noFill/>
          <a:ln/>
        </p:spPr>
        <p:txBody>
          <a:bodyPr wrap="square" lIns="0" tIns="0" rIns="0" bIns="0" rtlCol="0" anchor="t">
            <a:normAutofit/>
          </a:bodyPr>
          <a:lstStyle/>
          <a:p>
            <a:pPr marL="0" indent="0" algn="l">
              <a:buNone/>
            </a:pPr>
            <a:r>
              <a:rPr lang="en-US" sz="840" dirty="0">
                <a:solidFill>
                  <a:srgbClr val="BDC4C9"/>
                </a:solidFill>
                <a:latin typeface="Arial" pitchFamily="34" charset="0"/>
                <a:ea typeface="Arial" pitchFamily="34" charset="-122"/>
                <a:cs typeface="Arial" pitchFamily="34" charset="-120"/>
              </a:rPr>
              <a:t>Illustrative design / independent requirements and outputs.</a:t>
            </a:r>
            <a:endParaRPr lang="en-US" sz="840" dirty="0"/>
          </a:p>
        </p:txBody>
      </p:sp>
      <p:sp>
        <p:nvSpPr>
          <p:cNvPr id="24" name="Text 22"/>
          <p:cNvSpPr/>
          <p:nvPr/>
        </p:nvSpPr>
        <p:spPr>
          <a:xfrm>
            <a:off x="603504" y="5925312"/>
            <a:ext cx="10917936" cy="347472"/>
          </a:xfrm>
          <a:prstGeom prst="rect">
            <a:avLst/>
          </a:prstGeom>
          <a:noFill/>
          <a:ln/>
        </p:spPr>
        <p:txBody>
          <a:bodyPr wrap="square" lIns="0" tIns="0" rIns="0" bIns="0" rtlCol="0" anchor="t">
            <a:normAutofit/>
          </a:bodyPr>
          <a:lstStyle/>
          <a:p>
            <a:pPr marL="0" indent="0" algn="l">
              <a:buNone/>
            </a:pPr>
            <a:r>
              <a:rPr lang="en-US" sz="1320" dirty="0">
                <a:solidFill>
                  <a:srgbClr val="F5F6F7"/>
                </a:solidFill>
                <a:latin typeface="Arial" pitchFamily="34" charset="0"/>
                <a:ea typeface="Arial" pitchFamily="34" charset="-122"/>
                <a:cs typeface="Arial" pitchFamily="34" charset="-120"/>
              </a:rPr>
              <a:t>The evaluator should record the actual task, existing process, effort, useful output and reason for any non-use.</a:t>
            </a:r>
            <a:endParaRPr lang="en-US" sz="132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24282C"/>
        </a:solidFill>
        <a:effectLst/>
      </p:bgPr>
    </p:bg>
    <p:spTree>
      <p:nvGrpSpPr>
        <p:cNvPr id="1" name=""/>
        <p:cNvGrpSpPr/>
        <p:nvPr/>
      </p:nvGrpSpPr>
      <p:grpSpPr>
        <a:xfrm>
          <a:off x="0" y="0"/>
          <a:ext cx="0" cy="0"/>
          <a:chOff x="0" y="0"/>
          <a:chExt cx="0" cy="0"/>
        </a:xfrm>
      </p:grpSpPr>
      <p:sp>
        <p:nvSpPr>
          <p:cNvPr id="2" name="Text 0"/>
          <p:cNvSpPr/>
          <p:nvPr/>
        </p:nvSpPr>
        <p:spPr>
          <a:xfrm>
            <a:off x="484632" y="173736"/>
            <a:ext cx="2743200" cy="201168"/>
          </a:xfrm>
          <a:prstGeom prst="rect">
            <a:avLst/>
          </a:prstGeom>
          <a:noFill/>
          <a:ln/>
        </p:spPr>
        <p:txBody>
          <a:bodyPr wrap="square" lIns="0" tIns="0" rIns="0" bIns="0" rtlCol="0" anchor="t">
            <a:normAutofit/>
          </a:bodyPr>
          <a:lstStyle/>
          <a:p>
            <a:pPr marL="0" indent="0" algn="l">
              <a:buNone/>
            </a:pPr>
            <a:r>
              <a:rPr lang="en-US" sz="1000" b="1" dirty="0">
                <a:solidFill>
                  <a:srgbClr val="F5F6F7"/>
                </a:solidFill>
                <a:latin typeface="Arial" pitchFamily="34" charset="0"/>
                <a:ea typeface="Arial" pitchFamily="34" charset="-122"/>
                <a:cs typeface="Arial" pitchFamily="34" charset="-120"/>
              </a:rPr>
              <a:t>ISUZU / UNIVERSE</a:t>
            </a:r>
            <a:endParaRPr lang="en-US" sz="1000" dirty="0"/>
          </a:p>
        </p:txBody>
      </p:sp>
      <p:sp>
        <p:nvSpPr>
          <p:cNvPr id="3" name="Text 1"/>
          <p:cNvSpPr/>
          <p:nvPr/>
        </p:nvSpPr>
        <p:spPr>
          <a:xfrm>
            <a:off x="8046720" y="173736"/>
            <a:ext cx="3657600" cy="201168"/>
          </a:xfrm>
          <a:prstGeom prst="rect">
            <a:avLst/>
          </a:prstGeom>
          <a:noFill/>
          <a:ln/>
        </p:spPr>
        <p:txBody>
          <a:bodyPr wrap="square" lIns="0" tIns="0" rIns="0" bIns="0" rtlCol="0" anchor="t">
            <a:normAutofit/>
          </a:bodyPr>
          <a:lstStyle/>
          <a:p>
            <a:pPr marL="0" indent="0" algn="r">
              <a:buNone/>
            </a:pPr>
            <a:r>
              <a:rPr lang="en-US" sz="900" dirty="0">
                <a:solidFill>
                  <a:srgbClr val="BDC4C9"/>
                </a:solidFill>
                <a:latin typeface="Arial" pitchFamily="34" charset="0"/>
                <a:ea typeface="Arial" pitchFamily="34" charset="-122"/>
                <a:cs typeface="Arial" pitchFamily="34" charset="-120"/>
              </a:rPr>
              <a:t>COMMERCIAL VISION  /  3.0</a:t>
            </a:r>
            <a:endParaRPr lang="en-US" sz="900" dirty="0"/>
          </a:p>
        </p:txBody>
      </p:sp>
      <p:sp>
        <p:nvSpPr>
          <p:cNvPr id="4" name="Shape 2"/>
          <p:cNvSpPr/>
          <p:nvPr/>
        </p:nvSpPr>
        <p:spPr>
          <a:xfrm>
            <a:off x="484632" y="512064"/>
            <a:ext cx="475488" cy="22860"/>
          </a:xfrm>
          <a:prstGeom prst="rect">
            <a:avLst/>
          </a:prstGeom>
          <a:solidFill>
            <a:srgbClr val="D71920"/>
          </a:solidFill>
          <a:ln w="12700">
            <a:solidFill>
              <a:srgbClr val="D71920">
                <a:alpha val="0"/>
              </a:srgbClr>
            </a:solidFill>
            <a:prstDash val="solid"/>
          </a:ln>
        </p:spPr>
        <p:txBody>
          <a:bodyPr/>
          <a:lstStyle/>
          <a:p>
            <a:endParaRPr lang="nl-NL"/>
          </a:p>
        </p:txBody>
      </p:sp>
      <p:sp>
        <p:nvSpPr>
          <p:cNvPr id="5" name="Text 3"/>
          <p:cNvSpPr/>
          <p:nvPr/>
        </p:nvSpPr>
        <p:spPr>
          <a:xfrm>
            <a:off x="484632" y="658368"/>
            <a:ext cx="11064240" cy="219456"/>
          </a:xfrm>
          <a:prstGeom prst="rect">
            <a:avLst/>
          </a:prstGeom>
          <a:noFill/>
          <a:ln/>
        </p:spPr>
        <p:txBody>
          <a:bodyPr wrap="square" lIns="0" tIns="0" rIns="0" bIns="0" rtlCol="0" anchor="t">
            <a:normAutofit/>
          </a:bodyPr>
          <a:lstStyle/>
          <a:p>
            <a:pPr marL="0" indent="0" algn="l">
              <a:buNone/>
            </a:pPr>
            <a:r>
              <a:rPr lang="en-US" sz="1000" b="1" dirty="0">
                <a:solidFill>
                  <a:srgbClr val="D71920"/>
                </a:solidFill>
                <a:latin typeface="Arial" pitchFamily="34" charset="0"/>
                <a:ea typeface="Arial" pitchFamily="34" charset="-122"/>
                <a:cs typeface="Arial" pitchFamily="34" charset="-120"/>
              </a:rPr>
              <a:t>SCALE / POSITIVE AND LIMITING DYNAMICS</a:t>
            </a:r>
            <a:endParaRPr lang="en-US" sz="1000" dirty="0"/>
          </a:p>
        </p:txBody>
      </p:sp>
      <p:sp>
        <p:nvSpPr>
          <p:cNvPr id="6" name="Shape 4"/>
          <p:cNvSpPr/>
          <p:nvPr/>
        </p:nvSpPr>
        <p:spPr>
          <a:xfrm>
            <a:off x="484632" y="6446520"/>
            <a:ext cx="11219688" cy="914"/>
          </a:xfrm>
          <a:prstGeom prst="line">
            <a:avLst/>
          </a:prstGeom>
          <a:noFill/>
          <a:ln w="6350">
            <a:solidFill>
              <a:srgbClr val="647078"/>
            </a:solidFill>
            <a:prstDash val="solid"/>
          </a:ln>
        </p:spPr>
        <p:txBody>
          <a:bodyPr/>
          <a:lstStyle/>
          <a:p>
            <a:endParaRPr lang="nl-NL"/>
          </a:p>
        </p:txBody>
      </p:sp>
      <p:sp>
        <p:nvSpPr>
          <p:cNvPr id="7" name="Text 5"/>
          <p:cNvSpPr/>
          <p:nvPr/>
        </p:nvSpPr>
        <p:spPr>
          <a:xfrm>
            <a:off x="484632" y="6556248"/>
            <a:ext cx="9144000" cy="146304"/>
          </a:xfrm>
          <a:prstGeom prst="rect">
            <a:avLst/>
          </a:prstGeom>
          <a:noFill/>
          <a:ln/>
        </p:spPr>
        <p:txBody>
          <a:bodyPr wrap="square" lIns="0" tIns="0" rIns="0" bIns="0" rtlCol="0" anchor="t">
            <a:normAutofit/>
          </a:bodyPr>
          <a:lstStyle/>
          <a:p>
            <a:pPr marL="0" indent="0" algn="l">
              <a:buNone/>
            </a:pPr>
            <a:r>
              <a:rPr lang="en-US" sz="750" dirty="0">
                <a:solidFill>
                  <a:srgbClr val="BDC4C9"/>
                </a:solidFill>
                <a:latin typeface="Arial" pitchFamily="34" charset="0"/>
                <a:ea typeface="Arial" pitchFamily="34" charset="-122"/>
                <a:cs typeface="Arial" pitchFamily="34" charset="-120"/>
              </a:rPr>
              <a:t>22 SEPTEMBER 2026  /  CONCEPT AND APPLICATION EXAMPLES</a:t>
            </a:r>
            <a:endParaRPr lang="en-US" sz="750" dirty="0"/>
          </a:p>
        </p:txBody>
      </p:sp>
      <p:sp>
        <p:nvSpPr>
          <p:cNvPr id="8" name="Text 6"/>
          <p:cNvSpPr/>
          <p:nvPr/>
        </p:nvSpPr>
        <p:spPr>
          <a:xfrm>
            <a:off x="10789920" y="6547104"/>
            <a:ext cx="914400" cy="173736"/>
          </a:xfrm>
          <a:prstGeom prst="rect">
            <a:avLst/>
          </a:prstGeom>
          <a:noFill/>
          <a:ln/>
        </p:spPr>
        <p:txBody>
          <a:bodyPr wrap="square" lIns="0" tIns="0" rIns="0" bIns="0" rtlCol="0" anchor="t">
            <a:normAutofit/>
          </a:bodyPr>
          <a:lstStyle/>
          <a:p>
            <a:pPr marL="0" indent="0" algn="r">
              <a:buNone/>
            </a:pPr>
            <a:r>
              <a:rPr lang="en-US" sz="850" dirty="0">
                <a:solidFill>
                  <a:srgbClr val="BDC4C9"/>
                </a:solidFill>
                <a:latin typeface="Arial" pitchFamily="34" charset="0"/>
                <a:ea typeface="Arial" pitchFamily="34" charset="-122"/>
                <a:cs typeface="Arial" pitchFamily="34" charset="-120"/>
              </a:rPr>
              <a:t>47 / 49</a:t>
            </a:r>
            <a:endParaRPr lang="en-US" sz="850" dirty="0"/>
          </a:p>
        </p:txBody>
      </p:sp>
      <p:sp>
        <p:nvSpPr>
          <p:cNvPr id="9" name="Text 7"/>
          <p:cNvSpPr/>
          <p:nvPr/>
        </p:nvSpPr>
        <p:spPr>
          <a:xfrm>
            <a:off x="502920" y="1005840"/>
            <a:ext cx="11036808" cy="841248"/>
          </a:xfrm>
          <a:prstGeom prst="rect">
            <a:avLst/>
          </a:prstGeom>
          <a:noFill/>
          <a:ln/>
        </p:spPr>
        <p:txBody>
          <a:bodyPr wrap="square" lIns="0" tIns="0" rIns="0" bIns="0" rtlCol="0" anchor="t">
            <a:normAutofit/>
          </a:bodyPr>
          <a:lstStyle/>
          <a:p>
            <a:pPr marL="0" indent="0" algn="l">
              <a:buNone/>
            </a:pPr>
            <a:r>
              <a:rPr lang="en-US" sz="3400" b="1" dirty="0">
                <a:solidFill>
                  <a:srgbClr val="F5F6F7"/>
                </a:solidFill>
                <a:latin typeface="Arial" pitchFamily="34" charset="0"/>
                <a:ea typeface="Arial" pitchFamily="34" charset="-122"/>
                <a:cs typeface="Arial" pitchFamily="34" charset="-120"/>
              </a:rPr>
              <a:t>Growth creates work as well as opportunity.</a:t>
            </a:r>
            <a:endParaRPr lang="en-US" sz="3400" dirty="0"/>
          </a:p>
        </p:txBody>
      </p:sp>
      <p:sp>
        <p:nvSpPr>
          <p:cNvPr id="10" name="Text 8"/>
          <p:cNvSpPr/>
          <p:nvPr/>
        </p:nvSpPr>
        <p:spPr>
          <a:xfrm>
            <a:off x="530352" y="1865376"/>
            <a:ext cx="10954512" cy="566928"/>
          </a:xfrm>
          <a:prstGeom prst="rect">
            <a:avLst/>
          </a:prstGeom>
          <a:noFill/>
          <a:ln/>
        </p:spPr>
        <p:txBody>
          <a:bodyPr wrap="square" lIns="0" tIns="0" rIns="0" bIns="0" rtlCol="0" anchor="t">
            <a:normAutofit/>
          </a:bodyPr>
          <a:lstStyle/>
          <a:p>
            <a:pPr marL="0" indent="0" algn="l">
              <a:buNone/>
            </a:pPr>
            <a:r>
              <a:rPr lang="en-US" sz="1800" dirty="0">
                <a:solidFill>
                  <a:srgbClr val="BDC4C9"/>
                </a:solidFill>
                <a:latin typeface="Arial" pitchFamily="34" charset="0"/>
                <a:ea typeface="Arial" pitchFamily="34" charset="-122"/>
                <a:cs typeface="Arial" pitchFamily="34" charset="-120"/>
              </a:rPr>
              <a:t>Operating capacity determines whether the next interaction remains useful.</a:t>
            </a:r>
            <a:endParaRPr lang="en-US" sz="1800" dirty="0"/>
          </a:p>
        </p:txBody>
      </p:sp>
      <p:sp>
        <p:nvSpPr>
          <p:cNvPr id="11" name="Shape 9"/>
          <p:cNvSpPr/>
          <p:nvPr/>
        </p:nvSpPr>
        <p:spPr>
          <a:xfrm>
            <a:off x="7008051" y="3497180"/>
            <a:ext cx="511091" cy="187019"/>
          </a:xfrm>
          <a:prstGeom prst="line">
            <a:avLst/>
          </a:prstGeom>
          <a:noFill/>
          <a:ln w="14471">
            <a:solidFill>
              <a:srgbClr val="D71920"/>
            </a:solidFill>
            <a:prstDash val="solid"/>
            <a:tailEnd type="triangle"/>
          </a:ln>
        </p:spPr>
        <p:txBody>
          <a:bodyPr/>
          <a:lstStyle/>
          <a:p>
            <a:endParaRPr lang="nl-NL"/>
          </a:p>
        </p:txBody>
      </p:sp>
      <p:sp>
        <p:nvSpPr>
          <p:cNvPr id="12" name="Shape 10"/>
          <p:cNvSpPr/>
          <p:nvPr/>
        </p:nvSpPr>
        <p:spPr>
          <a:xfrm flipH="1">
            <a:off x="7967241" y="4592326"/>
            <a:ext cx="235210" cy="348326"/>
          </a:xfrm>
          <a:prstGeom prst="line">
            <a:avLst/>
          </a:prstGeom>
          <a:noFill/>
          <a:ln w="14471">
            <a:solidFill>
              <a:srgbClr val="D71920"/>
            </a:solidFill>
            <a:prstDash val="solid"/>
            <a:tailEnd type="triangle"/>
          </a:ln>
        </p:spPr>
        <p:txBody>
          <a:bodyPr/>
          <a:lstStyle/>
          <a:p>
            <a:endParaRPr lang="nl-NL"/>
          </a:p>
        </p:txBody>
      </p:sp>
      <p:sp>
        <p:nvSpPr>
          <p:cNvPr id="13" name="Shape 11"/>
          <p:cNvSpPr/>
          <p:nvPr/>
        </p:nvSpPr>
        <p:spPr>
          <a:xfrm flipH="1">
            <a:off x="5411260" y="5468351"/>
            <a:ext cx="1092589" cy="914"/>
          </a:xfrm>
          <a:prstGeom prst="line">
            <a:avLst/>
          </a:prstGeom>
          <a:noFill/>
          <a:ln w="14471">
            <a:solidFill>
              <a:srgbClr val="D71920"/>
            </a:solidFill>
            <a:prstDash val="solid"/>
            <a:tailEnd type="triangle"/>
          </a:ln>
        </p:spPr>
        <p:txBody>
          <a:bodyPr/>
          <a:lstStyle/>
          <a:p>
            <a:endParaRPr lang="nl-NL"/>
          </a:p>
        </p:txBody>
      </p:sp>
      <p:sp>
        <p:nvSpPr>
          <p:cNvPr id="14" name="Shape 12"/>
          <p:cNvSpPr/>
          <p:nvPr/>
        </p:nvSpPr>
        <p:spPr>
          <a:xfrm flipH="1" flipV="1">
            <a:off x="3807050" y="4614836"/>
            <a:ext cx="176668" cy="303306"/>
          </a:xfrm>
          <a:prstGeom prst="line">
            <a:avLst/>
          </a:prstGeom>
          <a:noFill/>
          <a:ln w="14471">
            <a:solidFill>
              <a:srgbClr val="D71920"/>
            </a:solidFill>
            <a:prstDash val="solid"/>
            <a:tailEnd type="triangle"/>
          </a:ln>
        </p:spPr>
        <p:txBody>
          <a:bodyPr/>
          <a:lstStyle/>
          <a:p>
            <a:endParaRPr lang="nl-NL"/>
          </a:p>
        </p:txBody>
      </p:sp>
      <p:sp>
        <p:nvSpPr>
          <p:cNvPr id="15" name="Shape 13"/>
          <p:cNvSpPr/>
          <p:nvPr/>
        </p:nvSpPr>
        <p:spPr>
          <a:xfrm flipV="1">
            <a:off x="4520767" y="3511738"/>
            <a:ext cx="413442" cy="157903"/>
          </a:xfrm>
          <a:prstGeom prst="line">
            <a:avLst/>
          </a:prstGeom>
          <a:noFill/>
          <a:ln w="14471">
            <a:solidFill>
              <a:srgbClr val="D71920"/>
            </a:solidFill>
            <a:prstDash val="solid"/>
            <a:tailEnd type="triangle"/>
          </a:ln>
        </p:spPr>
        <p:txBody>
          <a:bodyPr/>
          <a:lstStyle/>
          <a:p>
            <a:endParaRPr lang="nl-NL"/>
          </a:p>
        </p:txBody>
      </p:sp>
      <p:sp>
        <p:nvSpPr>
          <p:cNvPr id="16" name="Shape 14"/>
          <p:cNvSpPr/>
          <p:nvPr/>
        </p:nvSpPr>
        <p:spPr>
          <a:xfrm>
            <a:off x="4926469" y="2718789"/>
            <a:ext cx="2083878" cy="803161"/>
          </a:xfrm>
          <a:prstGeom prst="roundRect">
            <a:avLst>
              <a:gd name="adj" fmla="val 4554"/>
            </a:avLst>
          </a:prstGeom>
          <a:solidFill>
            <a:srgbClr val="30363B"/>
          </a:solidFill>
          <a:ln w="8890">
            <a:solidFill>
              <a:srgbClr val="D71920"/>
            </a:solidFill>
            <a:prstDash val="solid"/>
          </a:ln>
        </p:spPr>
        <p:txBody>
          <a:bodyPr/>
          <a:lstStyle/>
          <a:p>
            <a:endParaRPr lang="nl-NL"/>
          </a:p>
        </p:txBody>
      </p:sp>
      <p:sp>
        <p:nvSpPr>
          <p:cNvPr id="17" name="Text 15"/>
          <p:cNvSpPr/>
          <p:nvPr/>
        </p:nvSpPr>
        <p:spPr>
          <a:xfrm>
            <a:off x="5035004" y="2812853"/>
            <a:ext cx="1866807" cy="274956"/>
          </a:xfrm>
          <a:prstGeom prst="rect">
            <a:avLst/>
          </a:prstGeom>
          <a:noFill/>
          <a:ln/>
        </p:spPr>
        <p:txBody>
          <a:bodyPr wrap="square" lIns="0" tIns="0" rIns="0" bIns="0" rtlCol="0" anchor="t">
            <a:normAutofit/>
          </a:bodyPr>
          <a:lstStyle/>
          <a:p>
            <a:pPr marL="0" indent="0" algn="l">
              <a:buNone/>
            </a:pPr>
            <a:r>
              <a:rPr lang="en-US" sz="1310" b="1" dirty="0">
                <a:solidFill>
                  <a:srgbClr val="F5F6F7"/>
                </a:solidFill>
                <a:latin typeface="Arial" pitchFamily="34" charset="0"/>
                <a:ea typeface="Arial" pitchFamily="34" charset="-122"/>
                <a:cs typeface="Arial" pitchFamily="34" charset="-120"/>
              </a:rPr>
              <a:t>Useful experience</a:t>
            </a:r>
            <a:endParaRPr lang="en-US" sz="1310" dirty="0"/>
          </a:p>
        </p:txBody>
      </p:sp>
      <p:sp>
        <p:nvSpPr>
          <p:cNvPr id="18" name="Text 16"/>
          <p:cNvSpPr/>
          <p:nvPr/>
        </p:nvSpPr>
        <p:spPr>
          <a:xfrm>
            <a:off x="5035004" y="3095045"/>
            <a:ext cx="1866807" cy="405198"/>
          </a:xfrm>
          <a:prstGeom prst="rect">
            <a:avLst/>
          </a:prstGeom>
          <a:noFill/>
          <a:ln/>
        </p:spPr>
        <p:txBody>
          <a:bodyPr wrap="square" lIns="0" tIns="0" rIns="0" bIns="0" rtlCol="0" anchor="t">
            <a:normAutofit/>
          </a:bodyPr>
          <a:lstStyle/>
          <a:p>
            <a:pPr marL="0" indent="0" algn="l">
              <a:buNone/>
            </a:pPr>
            <a:r>
              <a:rPr lang="en-US" sz="1026" dirty="0">
                <a:solidFill>
                  <a:srgbClr val="BDC4C9"/>
                </a:solidFill>
                <a:latin typeface="Arial" pitchFamily="34" charset="0"/>
                <a:ea typeface="Arial" pitchFamily="34" charset="-122"/>
                <a:cs typeface="Arial" pitchFamily="34" charset="-120"/>
              </a:rPr>
              <a:t>A reason to return</a:t>
            </a:r>
            <a:endParaRPr lang="en-US" sz="1026" dirty="0"/>
          </a:p>
        </p:txBody>
      </p:sp>
      <p:sp>
        <p:nvSpPr>
          <p:cNvPr id="19" name="Shape 17"/>
          <p:cNvSpPr/>
          <p:nvPr/>
        </p:nvSpPr>
        <p:spPr>
          <a:xfrm>
            <a:off x="7516845" y="3666664"/>
            <a:ext cx="2083878" cy="803161"/>
          </a:xfrm>
          <a:prstGeom prst="roundRect">
            <a:avLst>
              <a:gd name="adj" fmla="val 4554"/>
            </a:avLst>
          </a:prstGeom>
          <a:solidFill>
            <a:srgbClr val="30363B"/>
          </a:solidFill>
          <a:ln w="8890">
            <a:solidFill>
              <a:srgbClr val="48525B"/>
            </a:solidFill>
            <a:prstDash val="solid"/>
          </a:ln>
        </p:spPr>
        <p:txBody>
          <a:bodyPr/>
          <a:lstStyle/>
          <a:p>
            <a:endParaRPr lang="nl-NL"/>
          </a:p>
        </p:txBody>
      </p:sp>
      <p:sp>
        <p:nvSpPr>
          <p:cNvPr id="20" name="Text 18"/>
          <p:cNvSpPr/>
          <p:nvPr/>
        </p:nvSpPr>
        <p:spPr>
          <a:xfrm>
            <a:off x="7625380" y="3760728"/>
            <a:ext cx="1866807" cy="274956"/>
          </a:xfrm>
          <a:prstGeom prst="rect">
            <a:avLst/>
          </a:prstGeom>
          <a:noFill/>
          <a:ln/>
        </p:spPr>
        <p:txBody>
          <a:bodyPr wrap="square" lIns="0" tIns="0" rIns="0" bIns="0" rtlCol="0" anchor="t">
            <a:normAutofit/>
          </a:bodyPr>
          <a:lstStyle/>
          <a:p>
            <a:pPr marL="0" indent="0" algn="l">
              <a:buNone/>
            </a:pPr>
            <a:r>
              <a:rPr lang="en-US" sz="1310" b="1" dirty="0">
                <a:solidFill>
                  <a:srgbClr val="F5F6F7"/>
                </a:solidFill>
                <a:latin typeface="Arial" pitchFamily="34" charset="0"/>
                <a:ea typeface="Arial" pitchFamily="34" charset="-122"/>
                <a:cs typeface="Arial" pitchFamily="34" charset="-120"/>
              </a:rPr>
              <a:t>More participation</a:t>
            </a:r>
            <a:endParaRPr lang="en-US" sz="1310" dirty="0"/>
          </a:p>
        </p:txBody>
      </p:sp>
      <p:sp>
        <p:nvSpPr>
          <p:cNvPr id="21" name="Text 19"/>
          <p:cNvSpPr/>
          <p:nvPr/>
        </p:nvSpPr>
        <p:spPr>
          <a:xfrm>
            <a:off x="7625380" y="4042920"/>
            <a:ext cx="1866807" cy="405198"/>
          </a:xfrm>
          <a:prstGeom prst="rect">
            <a:avLst/>
          </a:prstGeom>
          <a:noFill/>
          <a:ln/>
        </p:spPr>
        <p:txBody>
          <a:bodyPr wrap="square" lIns="0" tIns="0" rIns="0" bIns="0" rtlCol="0" anchor="t">
            <a:normAutofit/>
          </a:bodyPr>
          <a:lstStyle/>
          <a:p>
            <a:pPr marL="0" indent="0" algn="l">
              <a:buNone/>
            </a:pPr>
            <a:r>
              <a:rPr lang="en-US" sz="1026" dirty="0">
                <a:solidFill>
                  <a:srgbClr val="BDC4C9"/>
                </a:solidFill>
                <a:latin typeface="Arial" pitchFamily="34" charset="0"/>
                <a:ea typeface="Arial" pitchFamily="34" charset="-122"/>
                <a:cs typeface="Arial" pitchFamily="34" charset="-120"/>
              </a:rPr>
              <a:t>More opportunity and variation</a:t>
            </a:r>
            <a:endParaRPr lang="en-US" sz="1026" dirty="0"/>
          </a:p>
        </p:txBody>
      </p:sp>
      <p:sp>
        <p:nvSpPr>
          <p:cNvPr id="22" name="Shape 20"/>
          <p:cNvSpPr/>
          <p:nvPr/>
        </p:nvSpPr>
        <p:spPr>
          <a:xfrm>
            <a:off x="6568970" y="5070388"/>
            <a:ext cx="2083878" cy="803161"/>
          </a:xfrm>
          <a:prstGeom prst="roundRect">
            <a:avLst>
              <a:gd name="adj" fmla="val 4554"/>
            </a:avLst>
          </a:prstGeom>
          <a:solidFill>
            <a:srgbClr val="30363B"/>
          </a:solidFill>
          <a:ln w="8890">
            <a:solidFill>
              <a:srgbClr val="48525B"/>
            </a:solidFill>
            <a:prstDash val="solid"/>
          </a:ln>
        </p:spPr>
        <p:txBody>
          <a:bodyPr/>
          <a:lstStyle/>
          <a:p>
            <a:endParaRPr lang="nl-NL"/>
          </a:p>
        </p:txBody>
      </p:sp>
      <p:sp>
        <p:nvSpPr>
          <p:cNvPr id="23" name="Text 21"/>
          <p:cNvSpPr/>
          <p:nvPr/>
        </p:nvSpPr>
        <p:spPr>
          <a:xfrm>
            <a:off x="6677505" y="5164452"/>
            <a:ext cx="1866807" cy="274956"/>
          </a:xfrm>
          <a:prstGeom prst="rect">
            <a:avLst/>
          </a:prstGeom>
          <a:noFill/>
          <a:ln/>
        </p:spPr>
        <p:txBody>
          <a:bodyPr wrap="square" lIns="0" tIns="0" rIns="0" bIns="0" rtlCol="0" anchor="t">
            <a:normAutofit/>
          </a:bodyPr>
          <a:lstStyle/>
          <a:p>
            <a:pPr marL="0" indent="0" algn="l">
              <a:buNone/>
            </a:pPr>
            <a:r>
              <a:rPr lang="en-US" sz="1310" b="1" dirty="0">
                <a:solidFill>
                  <a:srgbClr val="F5F6F7"/>
                </a:solidFill>
                <a:latin typeface="Arial" pitchFamily="34" charset="0"/>
                <a:ea typeface="Arial" pitchFamily="34" charset="-122"/>
                <a:cs typeface="Arial" pitchFamily="34" charset="-120"/>
              </a:rPr>
              <a:t>More work</a:t>
            </a:r>
            <a:endParaRPr lang="en-US" sz="1310" dirty="0"/>
          </a:p>
        </p:txBody>
      </p:sp>
      <p:sp>
        <p:nvSpPr>
          <p:cNvPr id="24" name="Text 22"/>
          <p:cNvSpPr/>
          <p:nvPr/>
        </p:nvSpPr>
        <p:spPr>
          <a:xfrm>
            <a:off x="6677505" y="5446643"/>
            <a:ext cx="1866807" cy="405198"/>
          </a:xfrm>
          <a:prstGeom prst="rect">
            <a:avLst/>
          </a:prstGeom>
          <a:noFill/>
          <a:ln/>
        </p:spPr>
        <p:txBody>
          <a:bodyPr wrap="square" lIns="0" tIns="0" rIns="0" bIns="0" rtlCol="0" anchor="t">
            <a:normAutofit/>
          </a:bodyPr>
          <a:lstStyle/>
          <a:p>
            <a:pPr marL="0" indent="0" algn="l">
              <a:buNone/>
            </a:pPr>
            <a:r>
              <a:rPr lang="en-US" sz="1026" dirty="0">
                <a:solidFill>
                  <a:srgbClr val="BDC4C9"/>
                </a:solidFill>
                <a:latin typeface="Arial" pitchFamily="34" charset="0"/>
                <a:ea typeface="Arial" pitchFamily="34" charset="-122"/>
                <a:cs typeface="Arial" pitchFamily="34" charset="-120"/>
              </a:rPr>
              <a:t>Definitions, corrections, maintenance</a:t>
            </a:r>
            <a:endParaRPr lang="en-US" sz="1026" dirty="0"/>
          </a:p>
        </p:txBody>
      </p:sp>
      <p:sp>
        <p:nvSpPr>
          <p:cNvPr id="25" name="Shape 23"/>
          <p:cNvSpPr/>
          <p:nvPr/>
        </p:nvSpPr>
        <p:spPr>
          <a:xfrm>
            <a:off x="3262261" y="5070388"/>
            <a:ext cx="2083878" cy="803161"/>
          </a:xfrm>
          <a:prstGeom prst="roundRect">
            <a:avLst>
              <a:gd name="adj" fmla="val 4554"/>
            </a:avLst>
          </a:prstGeom>
          <a:solidFill>
            <a:srgbClr val="30363B"/>
          </a:solidFill>
          <a:ln w="8890">
            <a:solidFill>
              <a:srgbClr val="48525B"/>
            </a:solidFill>
            <a:prstDash val="solid"/>
          </a:ln>
        </p:spPr>
        <p:txBody>
          <a:bodyPr/>
          <a:lstStyle/>
          <a:p>
            <a:endParaRPr lang="nl-NL"/>
          </a:p>
        </p:txBody>
      </p:sp>
      <p:sp>
        <p:nvSpPr>
          <p:cNvPr id="26" name="Text 24"/>
          <p:cNvSpPr/>
          <p:nvPr/>
        </p:nvSpPr>
        <p:spPr>
          <a:xfrm>
            <a:off x="3370796" y="5164452"/>
            <a:ext cx="1866807" cy="274956"/>
          </a:xfrm>
          <a:prstGeom prst="rect">
            <a:avLst/>
          </a:prstGeom>
          <a:noFill/>
          <a:ln/>
        </p:spPr>
        <p:txBody>
          <a:bodyPr wrap="square" lIns="0" tIns="0" rIns="0" bIns="0" rtlCol="0" anchor="t">
            <a:normAutofit/>
          </a:bodyPr>
          <a:lstStyle/>
          <a:p>
            <a:pPr marL="0" indent="0" algn="l">
              <a:buNone/>
            </a:pPr>
            <a:r>
              <a:rPr lang="en-US" sz="1310" b="1" dirty="0">
                <a:solidFill>
                  <a:srgbClr val="F5F6F7"/>
                </a:solidFill>
                <a:latin typeface="Arial" pitchFamily="34" charset="0"/>
                <a:ea typeface="Arial" pitchFamily="34" charset="-122"/>
                <a:cs typeface="Arial" pitchFamily="34" charset="-120"/>
              </a:rPr>
              <a:t>Operating capacity</a:t>
            </a:r>
            <a:endParaRPr lang="en-US" sz="1310" dirty="0"/>
          </a:p>
        </p:txBody>
      </p:sp>
      <p:sp>
        <p:nvSpPr>
          <p:cNvPr id="27" name="Text 25"/>
          <p:cNvSpPr/>
          <p:nvPr/>
        </p:nvSpPr>
        <p:spPr>
          <a:xfrm>
            <a:off x="3370796" y="5446643"/>
            <a:ext cx="1866807" cy="405198"/>
          </a:xfrm>
          <a:prstGeom prst="rect">
            <a:avLst/>
          </a:prstGeom>
          <a:noFill/>
          <a:ln/>
        </p:spPr>
        <p:txBody>
          <a:bodyPr wrap="square" lIns="0" tIns="0" rIns="0" bIns="0" rtlCol="0" anchor="t">
            <a:normAutofit/>
          </a:bodyPr>
          <a:lstStyle/>
          <a:p>
            <a:pPr marL="0" indent="0" algn="l">
              <a:buNone/>
            </a:pPr>
            <a:r>
              <a:rPr lang="en-US" sz="1026" dirty="0">
                <a:solidFill>
                  <a:srgbClr val="BDC4C9"/>
                </a:solidFill>
                <a:latin typeface="Arial" pitchFamily="34" charset="0"/>
                <a:ea typeface="Arial" pitchFamily="34" charset="-122"/>
                <a:cs typeface="Arial" pitchFamily="34" charset="-120"/>
              </a:rPr>
              <a:t>Time and expertise must follow</a:t>
            </a:r>
            <a:endParaRPr lang="en-US" sz="1026" dirty="0"/>
          </a:p>
        </p:txBody>
      </p:sp>
      <p:sp>
        <p:nvSpPr>
          <p:cNvPr id="28" name="Shape 26"/>
          <p:cNvSpPr/>
          <p:nvPr/>
        </p:nvSpPr>
        <p:spPr>
          <a:xfrm>
            <a:off x="2444629" y="3666664"/>
            <a:ext cx="2083878" cy="803161"/>
          </a:xfrm>
          <a:prstGeom prst="roundRect">
            <a:avLst>
              <a:gd name="adj" fmla="val 4554"/>
            </a:avLst>
          </a:prstGeom>
          <a:solidFill>
            <a:srgbClr val="30363B"/>
          </a:solidFill>
          <a:ln w="8890">
            <a:solidFill>
              <a:srgbClr val="48525B"/>
            </a:solidFill>
            <a:prstDash val="solid"/>
          </a:ln>
        </p:spPr>
        <p:txBody>
          <a:bodyPr/>
          <a:lstStyle/>
          <a:p>
            <a:endParaRPr lang="nl-NL"/>
          </a:p>
        </p:txBody>
      </p:sp>
      <p:sp>
        <p:nvSpPr>
          <p:cNvPr id="29" name="Text 27"/>
          <p:cNvSpPr/>
          <p:nvPr/>
        </p:nvSpPr>
        <p:spPr>
          <a:xfrm>
            <a:off x="2553164" y="3760728"/>
            <a:ext cx="1866807" cy="274956"/>
          </a:xfrm>
          <a:prstGeom prst="rect">
            <a:avLst/>
          </a:prstGeom>
          <a:noFill/>
          <a:ln/>
        </p:spPr>
        <p:txBody>
          <a:bodyPr wrap="square" lIns="0" tIns="0" rIns="0" bIns="0" rtlCol="0" anchor="t">
            <a:normAutofit/>
          </a:bodyPr>
          <a:lstStyle/>
          <a:p>
            <a:pPr marL="0" indent="0" algn="l">
              <a:buNone/>
            </a:pPr>
            <a:r>
              <a:rPr lang="en-US" sz="1310" b="1" dirty="0">
                <a:solidFill>
                  <a:srgbClr val="F5F6F7"/>
                </a:solidFill>
                <a:latin typeface="Arial" pitchFamily="34" charset="0"/>
                <a:ea typeface="Arial" pitchFamily="34" charset="-122"/>
                <a:cs typeface="Arial" pitchFamily="34" charset="-120"/>
              </a:rPr>
              <a:t>Reliable next use</a:t>
            </a:r>
            <a:endParaRPr lang="en-US" sz="1310" dirty="0"/>
          </a:p>
        </p:txBody>
      </p:sp>
      <p:sp>
        <p:nvSpPr>
          <p:cNvPr id="30" name="Text 28"/>
          <p:cNvSpPr/>
          <p:nvPr/>
        </p:nvSpPr>
        <p:spPr>
          <a:xfrm>
            <a:off x="2553164" y="4042920"/>
            <a:ext cx="1866807" cy="405198"/>
          </a:xfrm>
          <a:prstGeom prst="rect">
            <a:avLst/>
          </a:prstGeom>
          <a:noFill/>
          <a:ln/>
        </p:spPr>
        <p:txBody>
          <a:bodyPr wrap="square" lIns="0" tIns="0" rIns="0" bIns="0" rtlCol="0" anchor="t">
            <a:normAutofit/>
          </a:bodyPr>
          <a:lstStyle/>
          <a:p>
            <a:pPr marL="0" indent="0" algn="l">
              <a:buNone/>
            </a:pPr>
            <a:r>
              <a:rPr lang="en-US" sz="1026" dirty="0">
                <a:solidFill>
                  <a:srgbClr val="BDC4C9"/>
                </a:solidFill>
                <a:latin typeface="Arial" pitchFamily="34" charset="0"/>
                <a:ea typeface="Arial" pitchFamily="34" charset="-122"/>
                <a:cs typeface="Arial" pitchFamily="34" charset="-120"/>
              </a:rPr>
              <a:t>Value sustained or scope narrowed</a:t>
            </a:r>
            <a:endParaRPr lang="en-US" sz="1026" dirty="0"/>
          </a:p>
        </p:txBody>
      </p:sp>
      <p:sp>
        <p:nvSpPr>
          <p:cNvPr id="31" name="Text 29"/>
          <p:cNvSpPr/>
          <p:nvPr/>
        </p:nvSpPr>
        <p:spPr>
          <a:xfrm>
            <a:off x="4760048" y="4013977"/>
            <a:ext cx="2677204" cy="651212"/>
          </a:xfrm>
          <a:prstGeom prst="rect">
            <a:avLst/>
          </a:prstGeom>
          <a:noFill/>
          <a:ln/>
        </p:spPr>
        <p:txBody>
          <a:bodyPr wrap="square" lIns="0" tIns="0" rIns="0" bIns="0" rtlCol="0" anchor="t">
            <a:normAutofit/>
          </a:bodyPr>
          <a:lstStyle/>
          <a:p>
            <a:pPr marL="0" indent="0" algn="ctr">
              <a:buNone/>
            </a:pPr>
            <a:r>
              <a:rPr lang="en-US" sz="1709" b="1" dirty="0">
                <a:solidFill>
                  <a:srgbClr val="F5F6F7"/>
                </a:solidFill>
                <a:latin typeface="Arial" pitchFamily="34" charset="0"/>
                <a:ea typeface="Arial" pitchFamily="34" charset="-122"/>
                <a:cs typeface="Arial" pitchFamily="34" charset="-120"/>
              </a:rPr>
              <a:t>GROW AT A</a:t>
            </a:r>
            <a:endParaRPr lang="en-US" sz="1709" dirty="0"/>
          </a:p>
          <a:p>
            <a:pPr marL="0" indent="0" algn="ctr">
              <a:buNone/>
            </a:pPr>
            <a:r>
              <a:rPr lang="en-US" sz="1709" b="1" dirty="0">
                <a:solidFill>
                  <a:srgbClr val="F5F6F7"/>
                </a:solidFill>
                <a:latin typeface="Arial" pitchFamily="34" charset="0"/>
                <a:ea typeface="Arial" pitchFamily="34" charset="-122"/>
                <a:cs typeface="Arial" pitchFamily="34" charset="-120"/>
              </a:rPr>
              <a:t>SUSTAINABLE PACE</a:t>
            </a:r>
            <a:endParaRPr lang="en-US" sz="1709" dirty="0"/>
          </a:p>
        </p:txBody>
      </p:sp>
      <p:sp>
        <p:nvSpPr>
          <p:cNvPr id="32" name="Text 30"/>
          <p:cNvSpPr/>
          <p:nvPr/>
        </p:nvSpPr>
        <p:spPr>
          <a:xfrm>
            <a:off x="548640" y="6035040"/>
            <a:ext cx="10954512" cy="219456"/>
          </a:xfrm>
          <a:prstGeom prst="rect">
            <a:avLst/>
          </a:prstGeom>
          <a:noFill/>
          <a:ln/>
        </p:spPr>
        <p:txBody>
          <a:bodyPr wrap="square" lIns="0" tIns="0" rIns="0" bIns="0" rtlCol="0" anchor="t">
            <a:normAutofit/>
          </a:bodyPr>
          <a:lstStyle/>
          <a:p>
            <a:pPr marL="0" indent="0" algn="l">
              <a:buNone/>
            </a:pPr>
            <a:r>
              <a:rPr lang="en-US" sz="840" dirty="0">
                <a:solidFill>
                  <a:srgbClr val="BDC4C9"/>
                </a:solidFill>
                <a:latin typeface="Arial" pitchFamily="34" charset="0"/>
                <a:ea typeface="Arial" pitchFamily="34" charset="-122"/>
                <a:cs typeface="Arial" pitchFamily="34" charset="-120"/>
              </a:rPr>
              <a:t>Proposed feedback mechanism / no measured causal effect is implied.</a:t>
            </a:r>
            <a:endParaRPr lang="en-US" sz="84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24282C"/>
        </a:solidFill>
        <a:effectLst/>
      </p:bgPr>
    </p:bg>
    <p:spTree>
      <p:nvGrpSpPr>
        <p:cNvPr id="1" name=""/>
        <p:cNvGrpSpPr/>
        <p:nvPr/>
      </p:nvGrpSpPr>
      <p:grpSpPr>
        <a:xfrm>
          <a:off x="0" y="0"/>
          <a:ext cx="0" cy="0"/>
          <a:chOff x="0" y="0"/>
          <a:chExt cx="0" cy="0"/>
        </a:xfrm>
      </p:grpSpPr>
      <p:sp>
        <p:nvSpPr>
          <p:cNvPr id="2" name="Text 0"/>
          <p:cNvSpPr/>
          <p:nvPr/>
        </p:nvSpPr>
        <p:spPr>
          <a:xfrm>
            <a:off x="484632" y="173736"/>
            <a:ext cx="2743200" cy="201168"/>
          </a:xfrm>
          <a:prstGeom prst="rect">
            <a:avLst/>
          </a:prstGeom>
          <a:noFill/>
          <a:ln/>
        </p:spPr>
        <p:txBody>
          <a:bodyPr wrap="square" lIns="0" tIns="0" rIns="0" bIns="0" rtlCol="0" anchor="t">
            <a:normAutofit/>
          </a:bodyPr>
          <a:lstStyle/>
          <a:p>
            <a:pPr marL="0" indent="0" algn="l">
              <a:buNone/>
            </a:pPr>
            <a:r>
              <a:rPr lang="en-US" sz="1000" b="1" dirty="0">
                <a:solidFill>
                  <a:srgbClr val="F5F6F7"/>
                </a:solidFill>
                <a:latin typeface="Arial" pitchFamily="34" charset="0"/>
                <a:ea typeface="Arial" pitchFamily="34" charset="-122"/>
                <a:cs typeface="Arial" pitchFamily="34" charset="-120"/>
              </a:rPr>
              <a:t>ISUZU / UNIVERSE</a:t>
            </a:r>
            <a:endParaRPr lang="en-US" sz="1000" dirty="0"/>
          </a:p>
        </p:txBody>
      </p:sp>
      <p:sp>
        <p:nvSpPr>
          <p:cNvPr id="3" name="Text 1"/>
          <p:cNvSpPr/>
          <p:nvPr/>
        </p:nvSpPr>
        <p:spPr>
          <a:xfrm>
            <a:off x="8046720" y="173736"/>
            <a:ext cx="3657600" cy="201168"/>
          </a:xfrm>
          <a:prstGeom prst="rect">
            <a:avLst/>
          </a:prstGeom>
          <a:noFill/>
          <a:ln/>
        </p:spPr>
        <p:txBody>
          <a:bodyPr wrap="square" lIns="0" tIns="0" rIns="0" bIns="0" rtlCol="0" anchor="t">
            <a:normAutofit/>
          </a:bodyPr>
          <a:lstStyle/>
          <a:p>
            <a:pPr marL="0" indent="0" algn="r">
              <a:buNone/>
            </a:pPr>
            <a:r>
              <a:rPr lang="en-US" sz="900" dirty="0">
                <a:solidFill>
                  <a:srgbClr val="BDC4C9"/>
                </a:solidFill>
                <a:latin typeface="Arial" pitchFamily="34" charset="0"/>
                <a:ea typeface="Arial" pitchFamily="34" charset="-122"/>
                <a:cs typeface="Arial" pitchFamily="34" charset="-120"/>
              </a:rPr>
              <a:t>COMMERCIAL VISION  /  3.0</a:t>
            </a:r>
            <a:endParaRPr lang="en-US" sz="900" dirty="0"/>
          </a:p>
        </p:txBody>
      </p:sp>
      <p:sp>
        <p:nvSpPr>
          <p:cNvPr id="4" name="Shape 2"/>
          <p:cNvSpPr/>
          <p:nvPr/>
        </p:nvSpPr>
        <p:spPr>
          <a:xfrm>
            <a:off x="484632" y="512064"/>
            <a:ext cx="475488" cy="22860"/>
          </a:xfrm>
          <a:prstGeom prst="rect">
            <a:avLst/>
          </a:prstGeom>
          <a:solidFill>
            <a:srgbClr val="D71920"/>
          </a:solidFill>
          <a:ln w="12700">
            <a:solidFill>
              <a:srgbClr val="D71920">
                <a:alpha val="0"/>
              </a:srgbClr>
            </a:solidFill>
            <a:prstDash val="solid"/>
          </a:ln>
        </p:spPr>
        <p:txBody>
          <a:bodyPr/>
          <a:lstStyle/>
          <a:p>
            <a:endParaRPr lang="nl-NL"/>
          </a:p>
        </p:txBody>
      </p:sp>
      <p:sp>
        <p:nvSpPr>
          <p:cNvPr id="5" name="Text 3"/>
          <p:cNvSpPr/>
          <p:nvPr/>
        </p:nvSpPr>
        <p:spPr>
          <a:xfrm>
            <a:off x="484632" y="658368"/>
            <a:ext cx="11064240" cy="219456"/>
          </a:xfrm>
          <a:prstGeom prst="rect">
            <a:avLst/>
          </a:prstGeom>
          <a:noFill/>
          <a:ln/>
        </p:spPr>
        <p:txBody>
          <a:bodyPr wrap="square" lIns="0" tIns="0" rIns="0" bIns="0" rtlCol="0" anchor="t">
            <a:normAutofit/>
          </a:bodyPr>
          <a:lstStyle/>
          <a:p>
            <a:pPr marL="0" indent="0" algn="l">
              <a:buNone/>
            </a:pPr>
            <a:r>
              <a:rPr lang="en-US" sz="1000" b="1" dirty="0">
                <a:solidFill>
                  <a:srgbClr val="D71920"/>
                </a:solidFill>
                <a:latin typeface="Arial" pitchFamily="34" charset="0"/>
                <a:ea typeface="Arial" pitchFamily="34" charset="-122"/>
                <a:cs typeface="Arial" pitchFamily="34" charset="-120"/>
              </a:rPr>
              <a:t>FUTURE APPLICATIONS</a:t>
            </a:r>
            <a:endParaRPr lang="en-US" sz="1000" dirty="0"/>
          </a:p>
        </p:txBody>
      </p:sp>
      <p:sp>
        <p:nvSpPr>
          <p:cNvPr id="6" name="Shape 4"/>
          <p:cNvSpPr/>
          <p:nvPr/>
        </p:nvSpPr>
        <p:spPr>
          <a:xfrm>
            <a:off x="484632" y="6446520"/>
            <a:ext cx="11219688" cy="914"/>
          </a:xfrm>
          <a:prstGeom prst="line">
            <a:avLst/>
          </a:prstGeom>
          <a:noFill/>
          <a:ln w="6350">
            <a:solidFill>
              <a:srgbClr val="647078"/>
            </a:solidFill>
            <a:prstDash val="solid"/>
          </a:ln>
        </p:spPr>
        <p:txBody>
          <a:bodyPr/>
          <a:lstStyle/>
          <a:p>
            <a:endParaRPr lang="nl-NL"/>
          </a:p>
        </p:txBody>
      </p:sp>
      <p:sp>
        <p:nvSpPr>
          <p:cNvPr id="7" name="Text 5"/>
          <p:cNvSpPr/>
          <p:nvPr/>
        </p:nvSpPr>
        <p:spPr>
          <a:xfrm>
            <a:off x="484632" y="6556248"/>
            <a:ext cx="9144000" cy="146304"/>
          </a:xfrm>
          <a:prstGeom prst="rect">
            <a:avLst/>
          </a:prstGeom>
          <a:noFill/>
          <a:ln/>
        </p:spPr>
        <p:txBody>
          <a:bodyPr wrap="square" lIns="0" tIns="0" rIns="0" bIns="0" rtlCol="0" anchor="t">
            <a:normAutofit/>
          </a:bodyPr>
          <a:lstStyle/>
          <a:p>
            <a:pPr marL="0" indent="0" algn="l">
              <a:buNone/>
            </a:pPr>
            <a:r>
              <a:rPr lang="en-US" sz="750" dirty="0">
                <a:solidFill>
                  <a:srgbClr val="BDC4C9"/>
                </a:solidFill>
                <a:latin typeface="Arial" pitchFamily="34" charset="0"/>
                <a:ea typeface="Arial" pitchFamily="34" charset="-122"/>
                <a:cs typeface="Arial" pitchFamily="34" charset="-120"/>
              </a:rPr>
              <a:t>22 SEPTEMBER 2026  /  CONCEPT AND APPLICATION EXAMPLES</a:t>
            </a:r>
            <a:endParaRPr lang="en-US" sz="750" dirty="0"/>
          </a:p>
        </p:txBody>
      </p:sp>
      <p:sp>
        <p:nvSpPr>
          <p:cNvPr id="8" name="Text 6"/>
          <p:cNvSpPr/>
          <p:nvPr/>
        </p:nvSpPr>
        <p:spPr>
          <a:xfrm>
            <a:off x="10789920" y="6547104"/>
            <a:ext cx="914400" cy="173736"/>
          </a:xfrm>
          <a:prstGeom prst="rect">
            <a:avLst/>
          </a:prstGeom>
          <a:noFill/>
          <a:ln/>
        </p:spPr>
        <p:txBody>
          <a:bodyPr wrap="square" lIns="0" tIns="0" rIns="0" bIns="0" rtlCol="0" anchor="t">
            <a:normAutofit/>
          </a:bodyPr>
          <a:lstStyle/>
          <a:p>
            <a:pPr marL="0" indent="0" algn="r">
              <a:buNone/>
            </a:pPr>
            <a:r>
              <a:rPr lang="en-US" sz="850" dirty="0">
                <a:solidFill>
                  <a:srgbClr val="BDC4C9"/>
                </a:solidFill>
                <a:latin typeface="Arial" pitchFamily="34" charset="0"/>
                <a:ea typeface="Arial" pitchFamily="34" charset="-122"/>
                <a:cs typeface="Arial" pitchFamily="34" charset="-120"/>
              </a:rPr>
              <a:t>48 / 49</a:t>
            </a:r>
            <a:endParaRPr lang="en-US" sz="850" dirty="0"/>
          </a:p>
        </p:txBody>
      </p:sp>
      <p:sp>
        <p:nvSpPr>
          <p:cNvPr id="9" name="Text 7"/>
          <p:cNvSpPr/>
          <p:nvPr/>
        </p:nvSpPr>
        <p:spPr>
          <a:xfrm>
            <a:off x="502920" y="1005840"/>
            <a:ext cx="11036808" cy="841248"/>
          </a:xfrm>
          <a:prstGeom prst="rect">
            <a:avLst/>
          </a:prstGeom>
          <a:noFill/>
          <a:ln/>
        </p:spPr>
        <p:txBody>
          <a:bodyPr wrap="square" lIns="0" tIns="0" rIns="0" bIns="0" rtlCol="0" anchor="t">
            <a:normAutofit/>
          </a:bodyPr>
          <a:lstStyle/>
          <a:p>
            <a:pPr marL="0" indent="0" algn="l">
              <a:buNone/>
            </a:pPr>
            <a:r>
              <a:rPr lang="en-US" sz="3400" b="1" dirty="0">
                <a:solidFill>
                  <a:srgbClr val="F5F6F7"/>
                </a:solidFill>
                <a:latin typeface="Arial" pitchFamily="34" charset="0"/>
                <a:ea typeface="Arial" pitchFamily="34" charset="-122"/>
                <a:cs typeface="Arial" pitchFamily="34" charset="-120"/>
              </a:rPr>
              <a:t>Keep the next possibilities visible.</a:t>
            </a:r>
            <a:endParaRPr lang="en-US" sz="3400" dirty="0"/>
          </a:p>
        </p:txBody>
      </p:sp>
      <p:sp>
        <p:nvSpPr>
          <p:cNvPr id="10" name="Text 8"/>
          <p:cNvSpPr/>
          <p:nvPr/>
        </p:nvSpPr>
        <p:spPr>
          <a:xfrm>
            <a:off x="530352" y="1865376"/>
            <a:ext cx="10954512" cy="566928"/>
          </a:xfrm>
          <a:prstGeom prst="rect">
            <a:avLst/>
          </a:prstGeom>
          <a:noFill/>
          <a:ln/>
        </p:spPr>
        <p:txBody>
          <a:bodyPr wrap="square" lIns="0" tIns="0" rIns="0" bIns="0" rtlCol="0" anchor="t">
            <a:normAutofit/>
          </a:bodyPr>
          <a:lstStyle/>
          <a:p>
            <a:pPr marL="0" indent="0" algn="l">
              <a:buNone/>
            </a:pPr>
            <a:r>
              <a:rPr lang="en-US" sz="1800" dirty="0">
                <a:solidFill>
                  <a:srgbClr val="BDC4C9"/>
                </a:solidFill>
                <a:latin typeface="Arial" pitchFamily="34" charset="0"/>
                <a:ea typeface="Arial" pitchFamily="34" charset="-122"/>
                <a:cs typeface="Arial" pitchFamily="34" charset="-120"/>
              </a:rPr>
              <a:t>Candidate applications, not a fixed development promise.</a:t>
            </a:r>
            <a:endParaRPr lang="en-US" sz="1800" dirty="0"/>
          </a:p>
        </p:txBody>
      </p:sp>
      <p:sp>
        <p:nvSpPr>
          <p:cNvPr id="11" name="Shape 9"/>
          <p:cNvSpPr/>
          <p:nvPr/>
        </p:nvSpPr>
        <p:spPr>
          <a:xfrm>
            <a:off x="1817043" y="2966575"/>
            <a:ext cx="2683111" cy="2343477"/>
          </a:xfrm>
          <a:prstGeom prst="roundRect">
            <a:avLst>
              <a:gd name="adj" fmla="val 1561"/>
            </a:avLst>
          </a:prstGeom>
          <a:solidFill>
            <a:srgbClr val="383F44"/>
          </a:solidFill>
          <a:ln w="8890">
            <a:solidFill>
              <a:srgbClr val="D71920"/>
            </a:solidFill>
            <a:prstDash val="solid"/>
          </a:ln>
        </p:spPr>
        <p:txBody>
          <a:bodyPr/>
          <a:lstStyle/>
          <a:p>
            <a:endParaRPr lang="nl-NL"/>
          </a:p>
        </p:txBody>
      </p:sp>
      <p:sp>
        <p:nvSpPr>
          <p:cNvPr id="12" name="Shape 10"/>
          <p:cNvSpPr/>
          <p:nvPr/>
        </p:nvSpPr>
        <p:spPr>
          <a:xfrm>
            <a:off x="1817043" y="3085447"/>
            <a:ext cx="33963" cy="2105733"/>
          </a:xfrm>
          <a:prstGeom prst="rect">
            <a:avLst/>
          </a:prstGeom>
          <a:solidFill>
            <a:srgbClr val="D71920"/>
          </a:solidFill>
          <a:ln w="12700">
            <a:solidFill>
              <a:srgbClr val="24282C">
                <a:alpha val="0"/>
              </a:srgbClr>
            </a:solidFill>
            <a:prstDash val="solid"/>
          </a:ln>
        </p:spPr>
        <p:txBody>
          <a:bodyPr/>
          <a:lstStyle/>
          <a:p>
            <a:endParaRPr lang="nl-NL"/>
          </a:p>
        </p:txBody>
      </p:sp>
      <p:sp>
        <p:nvSpPr>
          <p:cNvPr id="13" name="Text 11"/>
          <p:cNvSpPr/>
          <p:nvPr/>
        </p:nvSpPr>
        <p:spPr>
          <a:xfrm>
            <a:off x="1961388" y="3102429"/>
            <a:ext cx="2394422" cy="543415"/>
          </a:xfrm>
          <a:prstGeom prst="rect">
            <a:avLst/>
          </a:prstGeom>
          <a:noFill/>
          <a:ln/>
        </p:spPr>
        <p:txBody>
          <a:bodyPr wrap="square" lIns="0" tIns="0" rIns="0" bIns="0" rtlCol="0" anchor="t">
            <a:normAutofit/>
          </a:bodyPr>
          <a:lstStyle/>
          <a:p>
            <a:pPr marL="0" indent="0" algn="l">
              <a:buNone/>
            </a:pPr>
            <a:r>
              <a:rPr lang="en-US" sz="1671" b="1" dirty="0">
                <a:solidFill>
                  <a:srgbClr val="F5F6F7"/>
                </a:solidFill>
                <a:latin typeface="Arial" pitchFamily="34" charset="0"/>
                <a:ea typeface="Arial" pitchFamily="34" charset="-122"/>
                <a:cs typeface="Arial" pitchFamily="34" charset="-120"/>
              </a:rPr>
              <a:t>Fleet economics</a:t>
            </a:r>
            <a:endParaRPr lang="en-US" sz="1671" dirty="0"/>
          </a:p>
        </p:txBody>
      </p:sp>
      <p:sp>
        <p:nvSpPr>
          <p:cNvPr id="14" name="Text 12"/>
          <p:cNvSpPr/>
          <p:nvPr/>
        </p:nvSpPr>
        <p:spPr>
          <a:xfrm>
            <a:off x="1961388" y="3705279"/>
            <a:ext cx="2394422" cy="1502882"/>
          </a:xfrm>
          <a:prstGeom prst="rect">
            <a:avLst/>
          </a:prstGeom>
          <a:noFill/>
          <a:ln/>
        </p:spPr>
        <p:txBody>
          <a:bodyPr wrap="square" lIns="0" tIns="0" rIns="0" bIns="0" rtlCol="0" anchor="t">
            <a:normAutofit/>
          </a:bodyPr>
          <a:lstStyle/>
          <a:p>
            <a:pPr marL="0" indent="0" algn="l">
              <a:buNone/>
            </a:pPr>
            <a:r>
              <a:rPr lang="en-US" sz="1337" dirty="0">
                <a:solidFill>
                  <a:srgbClr val="BDC4C9"/>
                </a:solidFill>
                <a:latin typeface="Arial" pitchFamily="34" charset="0"/>
                <a:ea typeface="Arial" pitchFamily="34" charset="-122"/>
                <a:cs typeface="Arial" pitchFamily="34" charset="-120"/>
              </a:rPr>
              <a:t>Selected cost components on an approved technical basis.</a:t>
            </a:r>
            <a:endParaRPr lang="en-US" sz="1337" dirty="0"/>
          </a:p>
        </p:txBody>
      </p:sp>
      <p:sp>
        <p:nvSpPr>
          <p:cNvPr id="15" name="Shape 13"/>
          <p:cNvSpPr/>
          <p:nvPr/>
        </p:nvSpPr>
        <p:spPr>
          <a:xfrm>
            <a:off x="4720917" y="2966575"/>
            <a:ext cx="2683111" cy="2343477"/>
          </a:xfrm>
          <a:prstGeom prst="roundRect">
            <a:avLst>
              <a:gd name="adj" fmla="val 1561"/>
            </a:avLst>
          </a:prstGeom>
          <a:solidFill>
            <a:srgbClr val="30363B"/>
          </a:solidFill>
          <a:ln w="8890">
            <a:solidFill>
              <a:srgbClr val="48525B"/>
            </a:solidFill>
            <a:prstDash val="solid"/>
          </a:ln>
        </p:spPr>
        <p:txBody>
          <a:bodyPr/>
          <a:lstStyle/>
          <a:p>
            <a:endParaRPr lang="nl-NL"/>
          </a:p>
        </p:txBody>
      </p:sp>
      <p:sp>
        <p:nvSpPr>
          <p:cNvPr id="16" name="Shape 14"/>
          <p:cNvSpPr/>
          <p:nvPr/>
        </p:nvSpPr>
        <p:spPr>
          <a:xfrm>
            <a:off x="4720917" y="3085447"/>
            <a:ext cx="33963" cy="2105733"/>
          </a:xfrm>
          <a:prstGeom prst="rect">
            <a:avLst/>
          </a:prstGeom>
          <a:solidFill>
            <a:srgbClr val="82909A"/>
          </a:solidFill>
          <a:ln w="12700">
            <a:solidFill>
              <a:srgbClr val="24282C">
                <a:alpha val="0"/>
              </a:srgbClr>
            </a:solidFill>
            <a:prstDash val="solid"/>
          </a:ln>
        </p:spPr>
        <p:txBody>
          <a:bodyPr/>
          <a:lstStyle/>
          <a:p>
            <a:endParaRPr lang="nl-NL"/>
          </a:p>
        </p:txBody>
      </p:sp>
      <p:sp>
        <p:nvSpPr>
          <p:cNvPr id="17" name="Text 15"/>
          <p:cNvSpPr/>
          <p:nvPr/>
        </p:nvSpPr>
        <p:spPr>
          <a:xfrm>
            <a:off x="4865261" y="3102429"/>
            <a:ext cx="2394422" cy="543415"/>
          </a:xfrm>
          <a:prstGeom prst="rect">
            <a:avLst/>
          </a:prstGeom>
          <a:noFill/>
          <a:ln/>
        </p:spPr>
        <p:txBody>
          <a:bodyPr wrap="square" lIns="0" tIns="0" rIns="0" bIns="0" rtlCol="0" anchor="t">
            <a:normAutofit/>
          </a:bodyPr>
          <a:lstStyle/>
          <a:p>
            <a:pPr marL="0" indent="0" algn="l">
              <a:buNone/>
            </a:pPr>
            <a:r>
              <a:rPr lang="en-US" sz="1671" b="1" dirty="0">
                <a:solidFill>
                  <a:srgbClr val="F5F6F7"/>
                </a:solidFill>
                <a:latin typeface="Arial" pitchFamily="34" charset="0"/>
                <a:ea typeface="Arial" pitchFamily="34" charset="-122"/>
                <a:cs typeface="Arial" pitchFamily="34" charset="-120"/>
              </a:rPr>
              <a:t>Private range study</a:t>
            </a:r>
            <a:endParaRPr lang="en-US" sz="1671" dirty="0"/>
          </a:p>
        </p:txBody>
      </p:sp>
      <p:sp>
        <p:nvSpPr>
          <p:cNvPr id="18" name="Text 16"/>
          <p:cNvSpPr/>
          <p:nvPr/>
        </p:nvSpPr>
        <p:spPr>
          <a:xfrm>
            <a:off x="4865261" y="3705279"/>
            <a:ext cx="2394422" cy="1502882"/>
          </a:xfrm>
          <a:prstGeom prst="rect">
            <a:avLst/>
          </a:prstGeom>
          <a:noFill/>
          <a:ln/>
        </p:spPr>
        <p:txBody>
          <a:bodyPr wrap="square" lIns="0" tIns="0" rIns="0" bIns="0" rtlCol="0" anchor="t">
            <a:normAutofit/>
          </a:bodyPr>
          <a:lstStyle/>
          <a:p>
            <a:pPr marL="0" indent="0" algn="l">
              <a:buNone/>
            </a:pPr>
            <a:r>
              <a:rPr lang="en-US" sz="1337" dirty="0">
                <a:solidFill>
                  <a:srgbClr val="BDC4C9"/>
                </a:solidFill>
                <a:latin typeface="Arial" pitchFamily="34" charset="0"/>
                <a:ea typeface="Arial" pitchFamily="34" charset="-122"/>
                <a:cs typeface="Arial" pitchFamily="34" charset="-120"/>
              </a:rPr>
              <a:t>A bilateral product-development case with ISZE.</a:t>
            </a:r>
            <a:endParaRPr lang="en-US" sz="1337" dirty="0"/>
          </a:p>
        </p:txBody>
      </p:sp>
      <p:sp>
        <p:nvSpPr>
          <p:cNvPr id="19" name="Shape 17"/>
          <p:cNvSpPr/>
          <p:nvPr/>
        </p:nvSpPr>
        <p:spPr>
          <a:xfrm>
            <a:off x="7624790" y="2966575"/>
            <a:ext cx="2683111" cy="2343477"/>
          </a:xfrm>
          <a:prstGeom prst="roundRect">
            <a:avLst>
              <a:gd name="adj" fmla="val 1561"/>
            </a:avLst>
          </a:prstGeom>
          <a:solidFill>
            <a:srgbClr val="30363B"/>
          </a:solidFill>
          <a:ln w="8890">
            <a:solidFill>
              <a:srgbClr val="48525B"/>
            </a:solidFill>
            <a:prstDash val="solid"/>
          </a:ln>
        </p:spPr>
        <p:txBody>
          <a:bodyPr/>
          <a:lstStyle/>
          <a:p>
            <a:endParaRPr lang="nl-NL"/>
          </a:p>
        </p:txBody>
      </p:sp>
      <p:sp>
        <p:nvSpPr>
          <p:cNvPr id="20" name="Shape 18"/>
          <p:cNvSpPr/>
          <p:nvPr/>
        </p:nvSpPr>
        <p:spPr>
          <a:xfrm>
            <a:off x="7624790" y="3085447"/>
            <a:ext cx="33963" cy="2105733"/>
          </a:xfrm>
          <a:prstGeom prst="rect">
            <a:avLst/>
          </a:prstGeom>
          <a:solidFill>
            <a:srgbClr val="82909A"/>
          </a:solidFill>
          <a:ln w="12700">
            <a:solidFill>
              <a:srgbClr val="24282C">
                <a:alpha val="0"/>
              </a:srgbClr>
            </a:solidFill>
            <a:prstDash val="solid"/>
          </a:ln>
        </p:spPr>
        <p:txBody>
          <a:bodyPr/>
          <a:lstStyle/>
          <a:p>
            <a:endParaRPr lang="nl-NL"/>
          </a:p>
        </p:txBody>
      </p:sp>
      <p:sp>
        <p:nvSpPr>
          <p:cNvPr id="21" name="Text 19"/>
          <p:cNvSpPr/>
          <p:nvPr/>
        </p:nvSpPr>
        <p:spPr>
          <a:xfrm>
            <a:off x="7769134" y="3102429"/>
            <a:ext cx="2394422" cy="543415"/>
          </a:xfrm>
          <a:prstGeom prst="rect">
            <a:avLst/>
          </a:prstGeom>
          <a:noFill/>
          <a:ln/>
        </p:spPr>
        <p:txBody>
          <a:bodyPr wrap="square" lIns="0" tIns="0" rIns="0" bIns="0" rtlCol="0" anchor="t">
            <a:normAutofit/>
          </a:bodyPr>
          <a:lstStyle/>
          <a:p>
            <a:pPr marL="0" indent="0" algn="l">
              <a:buNone/>
            </a:pPr>
            <a:r>
              <a:rPr lang="en-US" sz="1671" b="1" dirty="0">
                <a:solidFill>
                  <a:srgbClr val="F5F6F7"/>
                </a:solidFill>
                <a:latin typeface="Arial" pitchFamily="34" charset="0"/>
                <a:ea typeface="Arial" pitchFamily="34" charset="-122"/>
                <a:cs typeface="Arial" pitchFamily="34" charset="-120"/>
              </a:rPr>
              <a:t>Product-value evidence</a:t>
            </a:r>
            <a:endParaRPr lang="en-US" sz="1671" dirty="0"/>
          </a:p>
        </p:txBody>
      </p:sp>
      <p:sp>
        <p:nvSpPr>
          <p:cNvPr id="22" name="Text 20"/>
          <p:cNvSpPr/>
          <p:nvPr/>
        </p:nvSpPr>
        <p:spPr>
          <a:xfrm>
            <a:off x="7769134" y="3705279"/>
            <a:ext cx="2394422" cy="1502882"/>
          </a:xfrm>
          <a:prstGeom prst="rect">
            <a:avLst/>
          </a:prstGeom>
          <a:noFill/>
          <a:ln/>
        </p:spPr>
        <p:txBody>
          <a:bodyPr wrap="square" lIns="0" tIns="0" rIns="0" bIns="0" rtlCol="0" anchor="t">
            <a:normAutofit/>
          </a:bodyPr>
          <a:lstStyle/>
          <a:p>
            <a:pPr marL="0" indent="0" algn="l">
              <a:buNone/>
            </a:pPr>
            <a:r>
              <a:rPr lang="en-US" sz="1337" dirty="0">
                <a:solidFill>
                  <a:srgbClr val="BDC4C9"/>
                </a:solidFill>
                <a:latin typeface="Arial" pitchFamily="34" charset="0"/>
                <a:ea typeface="Arial" pitchFamily="34" charset="-122"/>
                <a:cs typeface="Arial" pitchFamily="34" charset="-120"/>
              </a:rPr>
              <a:t>Reviewed facts supporting a better offer.</a:t>
            </a:r>
            <a:endParaRPr lang="en-US" sz="1337" dirty="0"/>
          </a:p>
        </p:txBody>
      </p:sp>
      <p:sp>
        <p:nvSpPr>
          <p:cNvPr id="23" name="Text 21"/>
          <p:cNvSpPr/>
          <p:nvPr/>
        </p:nvSpPr>
        <p:spPr>
          <a:xfrm>
            <a:off x="548640" y="5678424"/>
            <a:ext cx="10954512" cy="219456"/>
          </a:xfrm>
          <a:prstGeom prst="rect">
            <a:avLst/>
          </a:prstGeom>
          <a:noFill/>
          <a:ln/>
        </p:spPr>
        <p:txBody>
          <a:bodyPr wrap="square" lIns="0" tIns="0" rIns="0" bIns="0" rtlCol="0" anchor="t">
            <a:normAutofit/>
          </a:bodyPr>
          <a:lstStyle/>
          <a:p>
            <a:pPr marL="0" indent="0" algn="l">
              <a:buNone/>
            </a:pPr>
            <a:r>
              <a:rPr lang="en-US" sz="840" dirty="0">
                <a:solidFill>
                  <a:srgbClr val="BDC4C9"/>
                </a:solidFill>
                <a:latin typeface="Arial" pitchFamily="34" charset="0"/>
                <a:ea typeface="Arial" pitchFamily="34" charset="-122"/>
                <a:cs typeface="Arial" pitchFamily="34" charset="-120"/>
              </a:rPr>
              <a:t>Illustrative design / independent requirements and outputs.</a:t>
            </a:r>
            <a:endParaRPr lang="en-US" sz="840" dirty="0"/>
          </a:p>
        </p:txBody>
      </p:sp>
      <p:sp>
        <p:nvSpPr>
          <p:cNvPr id="24" name="Text 22"/>
          <p:cNvSpPr/>
          <p:nvPr/>
        </p:nvSpPr>
        <p:spPr>
          <a:xfrm>
            <a:off x="603504" y="5925312"/>
            <a:ext cx="10917936" cy="347472"/>
          </a:xfrm>
          <a:prstGeom prst="rect">
            <a:avLst/>
          </a:prstGeom>
          <a:noFill/>
          <a:ln/>
        </p:spPr>
        <p:txBody>
          <a:bodyPr wrap="square" lIns="0" tIns="0" rIns="0" bIns="0" rtlCol="0" anchor="t">
            <a:normAutofit/>
          </a:bodyPr>
          <a:lstStyle/>
          <a:p>
            <a:pPr marL="0" indent="0" algn="l">
              <a:buNone/>
            </a:pPr>
            <a:r>
              <a:rPr lang="en-US" sz="1320" dirty="0">
                <a:solidFill>
                  <a:srgbClr val="F5F6F7"/>
                </a:solidFill>
                <a:latin typeface="Arial" pitchFamily="34" charset="0"/>
                <a:ea typeface="Arial" pitchFamily="34" charset="-122"/>
                <a:cs typeface="Arial" pitchFamily="34" charset="-120"/>
              </a:rPr>
              <a:t>Each possibility should state the decision it improves, the participant return, the smallest adequate information contribution and the resources needed to operate it.</a:t>
            </a:r>
            <a:endParaRPr lang="en-US" sz="132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24282C"/>
        </a:solidFill>
        <a:effectLst/>
      </p:bgPr>
    </p:bg>
    <p:spTree>
      <p:nvGrpSpPr>
        <p:cNvPr id="1" name=""/>
        <p:cNvGrpSpPr/>
        <p:nvPr/>
      </p:nvGrpSpPr>
      <p:grpSpPr>
        <a:xfrm>
          <a:off x="0" y="0"/>
          <a:ext cx="0" cy="0"/>
          <a:chOff x="0" y="0"/>
          <a:chExt cx="0" cy="0"/>
        </a:xfrm>
      </p:grpSpPr>
      <p:sp>
        <p:nvSpPr>
          <p:cNvPr id="2" name="Text 0"/>
          <p:cNvSpPr/>
          <p:nvPr/>
        </p:nvSpPr>
        <p:spPr>
          <a:xfrm>
            <a:off x="484632" y="173736"/>
            <a:ext cx="2743200" cy="201168"/>
          </a:xfrm>
          <a:prstGeom prst="rect">
            <a:avLst/>
          </a:prstGeom>
          <a:noFill/>
          <a:ln/>
        </p:spPr>
        <p:txBody>
          <a:bodyPr wrap="square" lIns="0" tIns="0" rIns="0" bIns="0" rtlCol="0" anchor="t">
            <a:normAutofit/>
          </a:bodyPr>
          <a:lstStyle/>
          <a:p>
            <a:pPr marL="0" indent="0" algn="l">
              <a:buNone/>
            </a:pPr>
            <a:r>
              <a:rPr lang="en-US" sz="1000" b="1" dirty="0">
                <a:solidFill>
                  <a:srgbClr val="F5F6F7"/>
                </a:solidFill>
                <a:latin typeface="Arial" pitchFamily="34" charset="0"/>
                <a:ea typeface="Arial" pitchFamily="34" charset="-122"/>
                <a:cs typeface="Arial" pitchFamily="34" charset="-120"/>
              </a:rPr>
              <a:t>ISUZU / UNIVERSE</a:t>
            </a:r>
            <a:endParaRPr lang="en-US" sz="1000" dirty="0"/>
          </a:p>
        </p:txBody>
      </p:sp>
      <p:sp>
        <p:nvSpPr>
          <p:cNvPr id="3" name="Text 1"/>
          <p:cNvSpPr/>
          <p:nvPr/>
        </p:nvSpPr>
        <p:spPr>
          <a:xfrm>
            <a:off x="8046720" y="173736"/>
            <a:ext cx="3657600" cy="201168"/>
          </a:xfrm>
          <a:prstGeom prst="rect">
            <a:avLst/>
          </a:prstGeom>
          <a:noFill/>
          <a:ln/>
        </p:spPr>
        <p:txBody>
          <a:bodyPr wrap="square" lIns="0" tIns="0" rIns="0" bIns="0" rtlCol="0" anchor="t">
            <a:normAutofit/>
          </a:bodyPr>
          <a:lstStyle/>
          <a:p>
            <a:pPr marL="0" indent="0" algn="r">
              <a:buNone/>
            </a:pPr>
            <a:r>
              <a:rPr lang="en-US" sz="900" dirty="0">
                <a:solidFill>
                  <a:srgbClr val="BDC4C9"/>
                </a:solidFill>
                <a:latin typeface="Arial" pitchFamily="34" charset="0"/>
                <a:ea typeface="Arial" pitchFamily="34" charset="-122"/>
                <a:cs typeface="Arial" pitchFamily="34" charset="-120"/>
              </a:rPr>
              <a:t>COMMERCIAL VISION  /  3.0</a:t>
            </a:r>
            <a:endParaRPr lang="en-US" sz="900" dirty="0"/>
          </a:p>
        </p:txBody>
      </p:sp>
      <p:sp>
        <p:nvSpPr>
          <p:cNvPr id="4" name="Shape 2"/>
          <p:cNvSpPr/>
          <p:nvPr/>
        </p:nvSpPr>
        <p:spPr>
          <a:xfrm>
            <a:off x="484632" y="512064"/>
            <a:ext cx="475488" cy="22860"/>
          </a:xfrm>
          <a:prstGeom prst="rect">
            <a:avLst/>
          </a:prstGeom>
          <a:solidFill>
            <a:srgbClr val="D71920"/>
          </a:solidFill>
          <a:ln w="12700">
            <a:solidFill>
              <a:srgbClr val="D71920">
                <a:alpha val="0"/>
              </a:srgbClr>
            </a:solidFill>
            <a:prstDash val="solid"/>
          </a:ln>
        </p:spPr>
        <p:txBody>
          <a:bodyPr/>
          <a:lstStyle/>
          <a:p>
            <a:endParaRPr lang="nl-NL"/>
          </a:p>
        </p:txBody>
      </p:sp>
      <p:sp>
        <p:nvSpPr>
          <p:cNvPr id="5" name="Text 3"/>
          <p:cNvSpPr/>
          <p:nvPr/>
        </p:nvSpPr>
        <p:spPr>
          <a:xfrm>
            <a:off x="484632" y="658368"/>
            <a:ext cx="11064240" cy="219456"/>
          </a:xfrm>
          <a:prstGeom prst="rect">
            <a:avLst/>
          </a:prstGeom>
          <a:noFill/>
          <a:ln/>
        </p:spPr>
        <p:txBody>
          <a:bodyPr wrap="square" lIns="0" tIns="0" rIns="0" bIns="0" rtlCol="0" anchor="t">
            <a:normAutofit/>
          </a:bodyPr>
          <a:lstStyle/>
          <a:p>
            <a:pPr marL="0" indent="0" algn="l">
              <a:buNone/>
            </a:pPr>
            <a:r>
              <a:rPr lang="en-US" sz="1000" b="1" dirty="0">
                <a:solidFill>
                  <a:srgbClr val="D71920"/>
                </a:solidFill>
                <a:latin typeface="Arial" pitchFamily="34" charset="0"/>
                <a:ea typeface="Arial" pitchFamily="34" charset="-122"/>
                <a:cs typeface="Arial" pitchFamily="34" charset="-120"/>
              </a:rPr>
              <a:t>FUTURE / ASSISTANCE</a:t>
            </a:r>
            <a:endParaRPr lang="en-US" sz="1000" dirty="0"/>
          </a:p>
        </p:txBody>
      </p:sp>
      <p:sp>
        <p:nvSpPr>
          <p:cNvPr id="6" name="Shape 4"/>
          <p:cNvSpPr/>
          <p:nvPr/>
        </p:nvSpPr>
        <p:spPr>
          <a:xfrm>
            <a:off x="484632" y="6446520"/>
            <a:ext cx="11219688" cy="914"/>
          </a:xfrm>
          <a:prstGeom prst="line">
            <a:avLst/>
          </a:prstGeom>
          <a:noFill/>
          <a:ln w="6350">
            <a:solidFill>
              <a:srgbClr val="647078"/>
            </a:solidFill>
            <a:prstDash val="solid"/>
          </a:ln>
        </p:spPr>
        <p:txBody>
          <a:bodyPr/>
          <a:lstStyle/>
          <a:p>
            <a:endParaRPr lang="nl-NL"/>
          </a:p>
        </p:txBody>
      </p:sp>
      <p:sp>
        <p:nvSpPr>
          <p:cNvPr id="7" name="Text 5"/>
          <p:cNvSpPr/>
          <p:nvPr/>
        </p:nvSpPr>
        <p:spPr>
          <a:xfrm>
            <a:off x="484632" y="6556248"/>
            <a:ext cx="9144000" cy="146304"/>
          </a:xfrm>
          <a:prstGeom prst="rect">
            <a:avLst/>
          </a:prstGeom>
          <a:noFill/>
          <a:ln/>
        </p:spPr>
        <p:txBody>
          <a:bodyPr wrap="square" lIns="0" tIns="0" rIns="0" bIns="0" rtlCol="0" anchor="t">
            <a:normAutofit/>
          </a:bodyPr>
          <a:lstStyle/>
          <a:p>
            <a:pPr marL="0" indent="0" algn="l">
              <a:buNone/>
            </a:pPr>
            <a:r>
              <a:rPr lang="en-US" sz="750" dirty="0">
                <a:solidFill>
                  <a:srgbClr val="BDC4C9"/>
                </a:solidFill>
                <a:latin typeface="Arial" pitchFamily="34" charset="0"/>
                <a:ea typeface="Arial" pitchFamily="34" charset="-122"/>
                <a:cs typeface="Arial" pitchFamily="34" charset="-120"/>
              </a:rPr>
              <a:t>22 SEPTEMBER 2026  /  CONCEPT AND APPLICATION EXAMPLES</a:t>
            </a:r>
            <a:endParaRPr lang="en-US" sz="750" dirty="0"/>
          </a:p>
        </p:txBody>
      </p:sp>
      <p:sp>
        <p:nvSpPr>
          <p:cNvPr id="8" name="Text 6"/>
          <p:cNvSpPr/>
          <p:nvPr/>
        </p:nvSpPr>
        <p:spPr>
          <a:xfrm>
            <a:off x="10789920" y="6547104"/>
            <a:ext cx="914400" cy="173736"/>
          </a:xfrm>
          <a:prstGeom prst="rect">
            <a:avLst/>
          </a:prstGeom>
          <a:noFill/>
          <a:ln/>
        </p:spPr>
        <p:txBody>
          <a:bodyPr wrap="square" lIns="0" tIns="0" rIns="0" bIns="0" rtlCol="0" anchor="t">
            <a:normAutofit/>
          </a:bodyPr>
          <a:lstStyle/>
          <a:p>
            <a:pPr marL="0" indent="0" algn="r">
              <a:buNone/>
            </a:pPr>
            <a:r>
              <a:rPr lang="en-US" sz="850" dirty="0">
                <a:solidFill>
                  <a:srgbClr val="BDC4C9"/>
                </a:solidFill>
                <a:latin typeface="Arial" pitchFamily="34" charset="0"/>
                <a:ea typeface="Arial" pitchFamily="34" charset="-122"/>
                <a:cs typeface="Arial" pitchFamily="34" charset="-120"/>
              </a:rPr>
              <a:t>49 / 49</a:t>
            </a:r>
            <a:endParaRPr lang="en-US" sz="850" dirty="0"/>
          </a:p>
        </p:txBody>
      </p:sp>
      <p:sp>
        <p:nvSpPr>
          <p:cNvPr id="9" name="Text 7"/>
          <p:cNvSpPr/>
          <p:nvPr/>
        </p:nvSpPr>
        <p:spPr>
          <a:xfrm>
            <a:off x="521208" y="1078992"/>
            <a:ext cx="10789920" cy="1143000"/>
          </a:xfrm>
          <a:prstGeom prst="rect">
            <a:avLst/>
          </a:prstGeom>
          <a:noFill/>
          <a:ln/>
        </p:spPr>
        <p:txBody>
          <a:bodyPr wrap="square" lIns="0" tIns="0" rIns="0" bIns="0" rtlCol="0" anchor="t">
            <a:normAutofit/>
          </a:bodyPr>
          <a:lstStyle/>
          <a:p>
            <a:pPr marL="0" indent="0" algn="l">
              <a:buNone/>
            </a:pPr>
            <a:r>
              <a:rPr lang="en-US" sz="4300" b="1" dirty="0">
                <a:solidFill>
                  <a:srgbClr val="F5F6F7"/>
                </a:solidFill>
                <a:latin typeface="Arial" pitchFamily="34" charset="0"/>
                <a:ea typeface="Arial" pitchFamily="34" charset="-122"/>
                <a:cs typeface="Arial" pitchFamily="34" charset="-120"/>
              </a:rPr>
              <a:t>Build the programme around better commercial choices.</a:t>
            </a:r>
            <a:endParaRPr lang="en-US" sz="4300" dirty="0"/>
          </a:p>
        </p:txBody>
      </p:sp>
      <p:sp>
        <p:nvSpPr>
          <p:cNvPr id="10" name="Text 8"/>
          <p:cNvSpPr/>
          <p:nvPr/>
        </p:nvSpPr>
        <p:spPr>
          <a:xfrm>
            <a:off x="557784" y="2560320"/>
            <a:ext cx="10607040" cy="850392"/>
          </a:xfrm>
          <a:prstGeom prst="rect">
            <a:avLst/>
          </a:prstGeom>
          <a:noFill/>
          <a:ln/>
        </p:spPr>
        <p:txBody>
          <a:bodyPr wrap="square" lIns="0" tIns="0" rIns="0" bIns="0" rtlCol="0" anchor="t">
            <a:normAutofit/>
          </a:bodyPr>
          <a:lstStyle/>
          <a:p>
            <a:pPr marL="0" indent="0" algn="l">
              <a:buNone/>
            </a:pPr>
            <a:r>
              <a:rPr lang="en-US" sz="2700" dirty="0">
                <a:solidFill>
                  <a:srgbClr val="BDC4C9"/>
                </a:solidFill>
                <a:latin typeface="Arial" pitchFamily="34" charset="0"/>
                <a:ea typeface="Arial" pitchFamily="34" charset="-122"/>
                <a:cs typeface="Arial" pitchFamily="34" charset="-120"/>
              </a:rPr>
              <a:t>Connected intelligence. Private participation. Practical examples. Room to develop.</a:t>
            </a:r>
            <a:endParaRPr lang="en-US" sz="2700" dirty="0"/>
          </a:p>
        </p:txBody>
      </p:sp>
      <p:sp>
        <p:nvSpPr>
          <p:cNvPr id="11" name="Shape 9"/>
          <p:cNvSpPr/>
          <p:nvPr/>
        </p:nvSpPr>
        <p:spPr>
          <a:xfrm>
            <a:off x="3039727" y="3983649"/>
            <a:ext cx="1898817" cy="1658460"/>
          </a:xfrm>
          <a:prstGeom prst="roundRect">
            <a:avLst>
              <a:gd name="adj" fmla="val 2205"/>
            </a:avLst>
          </a:prstGeom>
          <a:solidFill>
            <a:srgbClr val="383F44"/>
          </a:solidFill>
          <a:ln w="8890">
            <a:solidFill>
              <a:srgbClr val="D71920"/>
            </a:solidFill>
            <a:prstDash val="solid"/>
          </a:ln>
        </p:spPr>
        <p:txBody>
          <a:bodyPr/>
          <a:lstStyle/>
          <a:p>
            <a:endParaRPr lang="nl-NL"/>
          </a:p>
        </p:txBody>
      </p:sp>
      <p:sp>
        <p:nvSpPr>
          <p:cNvPr id="12" name="Shape 10"/>
          <p:cNvSpPr/>
          <p:nvPr/>
        </p:nvSpPr>
        <p:spPr>
          <a:xfrm>
            <a:off x="3039727" y="4067774"/>
            <a:ext cx="24036" cy="1490211"/>
          </a:xfrm>
          <a:prstGeom prst="rect">
            <a:avLst/>
          </a:prstGeom>
          <a:solidFill>
            <a:srgbClr val="D71920"/>
          </a:solidFill>
          <a:ln w="12700">
            <a:solidFill>
              <a:srgbClr val="24282C">
                <a:alpha val="0"/>
              </a:srgbClr>
            </a:solidFill>
            <a:prstDash val="solid"/>
          </a:ln>
        </p:spPr>
        <p:txBody>
          <a:bodyPr/>
          <a:lstStyle/>
          <a:p>
            <a:endParaRPr lang="nl-NL"/>
          </a:p>
        </p:txBody>
      </p:sp>
      <p:sp>
        <p:nvSpPr>
          <p:cNvPr id="13" name="Text 11"/>
          <p:cNvSpPr/>
          <p:nvPr/>
        </p:nvSpPr>
        <p:spPr>
          <a:xfrm>
            <a:off x="3141878" y="4079792"/>
            <a:ext cx="1694514" cy="384571"/>
          </a:xfrm>
          <a:prstGeom prst="rect">
            <a:avLst/>
          </a:prstGeom>
          <a:noFill/>
          <a:ln/>
        </p:spPr>
        <p:txBody>
          <a:bodyPr wrap="square" lIns="0" tIns="0" rIns="0" bIns="0" rtlCol="0" anchor="t">
            <a:normAutofit/>
          </a:bodyPr>
          <a:lstStyle/>
          <a:p>
            <a:pPr marL="0" indent="0" algn="l">
              <a:buNone/>
            </a:pPr>
            <a:r>
              <a:rPr lang="en-US" sz="1183" b="1" dirty="0">
                <a:solidFill>
                  <a:srgbClr val="F5F6F7"/>
                </a:solidFill>
                <a:latin typeface="Arial" pitchFamily="34" charset="0"/>
                <a:ea typeface="Arial" pitchFamily="34" charset="-122"/>
                <a:cs typeface="Arial" pitchFamily="34" charset="-120"/>
              </a:rPr>
              <a:t>Tenders</a:t>
            </a:r>
            <a:endParaRPr lang="en-US" sz="1183" dirty="0"/>
          </a:p>
        </p:txBody>
      </p:sp>
      <p:sp>
        <p:nvSpPr>
          <p:cNvPr id="14" name="Text 12"/>
          <p:cNvSpPr/>
          <p:nvPr/>
        </p:nvSpPr>
        <p:spPr>
          <a:xfrm>
            <a:off x="3141878" y="4506424"/>
            <a:ext cx="1694514" cy="1063578"/>
          </a:xfrm>
          <a:prstGeom prst="rect">
            <a:avLst/>
          </a:prstGeom>
          <a:noFill/>
          <a:ln/>
        </p:spPr>
        <p:txBody>
          <a:bodyPr wrap="square" lIns="0" tIns="0" rIns="0" bIns="0" rtlCol="0" anchor="t">
            <a:normAutofit/>
          </a:bodyPr>
          <a:lstStyle/>
          <a:p>
            <a:pPr marL="0" indent="0" algn="l">
              <a:buNone/>
            </a:pPr>
            <a:r>
              <a:rPr lang="en-US" sz="946" dirty="0">
                <a:solidFill>
                  <a:srgbClr val="BDC4C9"/>
                </a:solidFill>
                <a:latin typeface="Arial" pitchFamily="34" charset="0"/>
                <a:ea typeface="Arial" pitchFamily="34" charset="-122"/>
                <a:cs typeface="Arial" pitchFamily="34" charset="-120"/>
              </a:rPr>
              <a:t>A coordinated proposal for the relevant Isuzu entities and headquarters.</a:t>
            </a:r>
            <a:endParaRPr lang="en-US" sz="946" dirty="0"/>
          </a:p>
        </p:txBody>
      </p:sp>
      <p:sp>
        <p:nvSpPr>
          <p:cNvPr id="15" name="Shape 13"/>
          <p:cNvSpPr/>
          <p:nvPr/>
        </p:nvSpPr>
        <p:spPr>
          <a:xfrm>
            <a:off x="5094776" y="3983649"/>
            <a:ext cx="1898817" cy="1658460"/>
          </a:xfrm>
          <a:prstGeom prst="roundRect">
            <a:avLst>
              <a:gd name="adj" fmla="val 2205"/>
            </a:avLst>
          </a:prstGeom>
          <a:solidFill>
            <a:srgbClr val="30363B"/>
          </a:solidFill>
          <a:ln w="8890">
            <a:solidFill>
              <a:srgbClr val="48525B"/>
            </a:solidFill>
            <a:prstDash val="solid"/>
          </a:ln>
        </p:spPr>
        <p:txBody>
          <a:bodyPr/>
          <a:lstStyle/>
          <a:p>
            <a:endParaRPr lang="nl-NL"/>
          </a:p>
        </p:txBody>
      </p:sp>
      <p:sp>
        <p:nvSpPr>
          <p:cNvPr id="16" name="Shape 14"/>
          <p:cNvSpPr/>
          <p:nvPr/>
        </p:nvSpPr>
        <p:spPr>
          <a:xfrm>
            <a:off x="5094776" y="4067774"/>
            <a:ext cx="24036" cy="1490211"/>
          </a:xfrm>
          <a:prstGeom prst="rect">
            <a:avLst/>
          </a:prstGeom>
          <a:solidFill>
            <a:srgbClr val="82909A"/>
          </a:solidFill>
          <a:ln w="12700">
            <a:solidFill>
              <a:srgbClr val="24282C">
                <a:alpha val="0"/>
              </a:srgbClr>
            </a:solidFill>
            <a:prstDash val="solid"/>
          </a:ln>
        </p:spPr>
        <p:txBody>
          <a:bodyPr/>
          <a:lstStyle/>
          <a:p>
            <a:endParaRPr lang="nl-NL"/>
          </a:p>
        </p:txBody>
      </p:sp>
      <p:sp>
        <p:nvSpPr>
          <p:cNvPr id="17" name="Text 15"/>
          <p:cNvSpPr/>
          <p:nvPr/>
        </p:nvSpPr>
        <p:spPr>
          <a:xfrm>
            <a:off x="5196927" y="4079792"/>
            <a:ext cx="1694514" cy="384571"/>
          </a:xfrm>
          <a:prstGeom prst="rect">
            <a:avLst/>
          </a:prstGeom>
          <a:noFill/>
          <a:ln/>
        </p:spPr>
        <p:txBody>
          <a:bodyPr wrap="square" lIns="0" tIns="0" rIns="0" bIns="0" rtlCol="0" anchor="t">
            <a:normAutofit/>
          </a:bodyPr>
          <a:lstStyle/>
          <a:p>
            <a:pPr marL="0" indent="0" algn="l">
              <a:buNone/>
            </a:pPr>
            <a:r>
              <a:rPr lang="en-US" sz="1183" b="1" dirty="0">
                <a:solidFill>
                  <a:srgbClr val="F5F6F7"/>
                </a:solidFill>
                <a:latin typeface="Arial" pitchFamily="34" charset="0"/>
                <a:ea typeface="Arial" pitchFamily="34" charset="-122"/>
                <a:cs typeface="Arial" pitchFamily="34" charset="-120"/>
              </a:rPr>
              <a:t>IDS progress</a:t>
            </a:r>
            <a:endParaRPr lang="en-US" sz="1183" dirty="0"/>
          </a:p>
        </p:txBody>
      </p:sp>
      <p:sp>
        <p:nvSpPr>
          <p:cNvPr id="18" name="Text 16"/>
          <p:cNvSpPr/>
          <p:nvPr/>
        </p:nvSpPr>
        <p:spPr>
          <a:xfrm>
            <a:off x="5196927" y="4506424"/>
            <a:ext cx="1694514" cy="1063578"/>
          </a:xfrm>
          <a:prstGeom prst="rect">
            <a:avLst/>
          </a:prstGeom>
          <a:noFill/>
          <a:ln/>
        </p:spPr>
        <p:txBody>
          <a:bodyPr wrap="square" lIns="0" tIns="0" rIns="0" bIns="0" rtlCol="0" anchor="t">
            <a:normAutofit/>
          </a:bodyPr>
          <a:lstStyle/>
          <a:p>
            <a:pPr marL="0" indent="0" algn="l">
              <a:buNone/>
            </a:pPr>
            <a:r>
              <a:rPr lang="en-US" sz="946" dirty="0">
                <a:solidFill>
                  <a:srgbClr val="BDC4C9"/>
                </a:solidFill>
                <a:latin typeface="Arial" pitchFamily="34" charset="0"/>
                <a:ea typeface="Arial" pitchFamily="34" charset="-122"/>
                <a:cs typeface="Arial" pitchFamily="34" charset="-120"/>
              </a:rPr>
              <a:t>An interactive development record with evidence of implementation.</a:t>
            </a:r>
            <a:endParaRPr lang="en-US" sz="946" dirty="0"/>
          </a:p>
        </p:txBody>
      </p:sp>
      <p:sp>
        <p:nvSpPr>
          <p:cNvPr id="19" name="Shape 17"/>
          <p:cNvSpPr/>
          <p:nvPr/>
        </p:nvSpPr>
        <p:spPr>
          <a:xfrm>
            <a:off x="7149824" y="3983649"/>
            <a:ext cx="1898817" cy="1658460"/>
          </a:xfrm>
          <a:prstGeom prst="roundRect">
            <a:avLst>
              <a:gd name="adj" fmla="val 2205"/>
            </a:avLst>
          </a:prstGeom>
          <a:solidFill>
            <a:srgbClr val="30363B"/>
          </a:solidFill>
          <a:ln w="8890">
            <a:solidFill>
              <a:srgbClr val="48525B"/>
            </a:solidFill>
            <a:prstDash val="solid"/>
          </a:ln>
        </p:spPr>
        <p:txBody>
          <a:bodyPr/>
          <a:lstStyle/>
          <a:p>
            <a:endParaRPr lang="nl-NL"/>
          </a:p>
        </p:txBody>
      </p:sp>
      <p:sp>
        <p:nvSpPr>
          <p:cNvPr id="20" name="Shape 18"/>
          <p:cNvSpPr/>
          <p:nvPr/>
        </p:nvSpPr>
        <p:spPr>
          <a:xfrm>
            <a:off x="7149824" y="4067774"/>
            <a:ext cx="24036" cy="1490211"/>
          </a:xfrm>
          <a:prstGeom prst="rect">
            <a:avLst/>
          </a:prstGeom>
          <a:solidFill>
            <a:srgbClr val="82909A"/>
          </a:solidFill>
          <a:ln w="12700">
            <a:solidFill>
              <a:srgbClr val="24282C">
                <a:alpha val="0"/>
              </a:srgbClr>
            </a:solidFill>
            <a:prstDash val="solid"/>
          </a:ln>
        </p:spPr>
        <p:txBody>
          <a:bodyPr/>
          <a:lstStyle/>
          <a:p>
            <a:endParaRPr lang="nl-NL"/>
          </a:p>
        </p:txBody>
      </p:sp>
      <p:sp>
        <p:nvSpPr>
          <p:cNvPr id="21" name="Text 19"/>
          <p:cNvSpPr/>
          <p:nvPr/>
        </p:nvSpPr>
        <p:spPr>
          <a:xfrm>
            <a:off x="7251976" y="4079792"/>
            <a:ext cx="1694514" cy="384571"/>
          </a:xfrm>
          <a:prstGeom prst="rect">
            <a:avLst/>
          </a:prstGeom>
          <a:noFill/>
          <a:ln/>
        </p:spPr>
        <p:txBody>
          <a:bodyPr wrap="square" lIns="0" tIns="0" rIns="0" bIns="0" rtlCol="0" anchor="t">
            <a:normAutofit/>
          </a:bodyPr>
          <a:lstStyle/>
          <a:p>
            <a:pPr marL="0" indent="0" algn="l">
              <a:buNone/>
            </a:pPr>
            <a:r>
              <a:rPr lang="en-US" sz="1183" b="1" dirty="0">
                <a:solidFill>
                  <a:srgbClr val="F5F6F7"/>
                </a:solidFill>
                <a:latin typeface="Arial" pitchFamily="34" charset="0"/>
                <a:ea typeface="Arial" pitchFamily="34" charset="-122"/>
                <a:cs typeface="Arial" pitchFamily="34" charset="-120"/>
              </a:rPr>
              <a:t>Deal of the Day</a:t>
            </a:r>
            <a:endParaRPr lang="en-US" sz="1183" dirty="0"/>
          </a:p>
        </p:txBody>
      </p:sp>
      <p:sp>
        <p:nvSpPr>
          <p:cNvPr id="22" name="Text 20"/>
          <p:cNvSpPr/>
          <p:nvPr/>
        </p:nvSpPr>
        <p:spPr>
          <a:xfrm>
            <a:off x="7251976" y="4506424"/>
            <a:ext cx="1694514" cy="1063578"/>
          </a:xfrm>
          <a:prstGeom prst="rect">
            <a:avLst/>
          </a:prstGeom>
          <a:noFill/>
          <a:ln/>
        </p:spPr>
        <p:txBody>
          <a:bodyPr wrap="square" lIns="0" tIns="0" rIns="0" bIns="0" rtlCol="0" anchor="t">
            <a:normAutofit/>
          </a:bodyPr>
          <a:lstStyle/>
          <a:p>
            <a:pPr marL="0" indent="0" algn="l">
              <a:buNone/>
            </a:pPr>
            <a:r>
              <a:rPr lang="en-US" sz="946" dirty="0">
                <a:solidFill>
                  <a:srgbClr val="BDC4C9"/>
                </a:solidFill>
                <a:latin typeface="Arial" pitchFamily="34" charset="0"/>
                <a:ea typeface="Arial" pitchFamily="34" charset="-122"/>
                <a:cs typeface="Arial" pitchFamily="34" charset="-120"/>
              </a:rPr>
              <a:t>Selected products, relevant audiences and transparent campaign economics.</a:t>
            </a:r>
            <a:endParaRPr lang="en-US" sz="946"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16152</Words>
  <Application>Microsoft Office PowerPoint</Application>
  <PresentationFormat>Widescreen</PresentationFormat>
  <Paragraphs>1023</Paragraphs>
  <Slides>49</Slides>
  <Notes>49</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49</vt:i4>
      </vt:variant>
    </vt:vector>
  </HeadingPairs>
  <TitlesOfParts>
    <vt:vector size="51"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Isuzu Motors Europe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ISUZU Universe - connected commercial intelligence</dc:title>
  <dc:subject>Universe commercial vision and participation</dc:subject>
  <dc:creator>Isuzu Motors Europe</dc:creator>
  <cp:lastModifiedBy>Jerome Van Der Pluym</cp:lastModifiedBy>
  <cp:revision>1</cp:revision>
  <dcterms:created xsi:type="dcterms:W3CDTF">2026-09-22T19:46:21Z</dcterms:created>
  <dcterms:modified xsi:type="dcterms:W3CDTF">2026-09-22T20:02:15Z</dcterms:modified>
</cp:coreProperties>
</file>