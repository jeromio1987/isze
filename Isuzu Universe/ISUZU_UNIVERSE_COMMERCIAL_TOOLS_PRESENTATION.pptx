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Business-owner scope clarification in this conversation, 22 September 2026.
AIM visual treatment documented in Commercial and participation revision, p. 46: charcoal #24282C, red #D71920, Arial.
This is a newly authored replacement deck. The original PowerPoint was not available among accessible files.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Scope: business-owner clarification, 22 September 2026. Product design: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Commercial revision, p. 6; White Paper 1.1, pp. 48-51. Five-tool portfolio: new proposal, 22 September 2026.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meanings: Commercial revision, p. 6; White Paper 1.1, pp. 48-51. Connections are proposed, not live integrations.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Owner-confirmed history: Commercial revision, pp. 3-5, dated 22 September 2026. Exchange sequence is a proposed mechanism.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Scope: business-owner clarification, 22 September 2026. Product design: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Commercial revision, pp. 6-12; White Paper 1.1, pp. 18-19, 48-51. Product journey: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supplied category-mix summary, 19 September 2026; Commercial revision, pp. 10-11. Fleet: numerical reference, section 5. Arithmetic rechecked 22 September 2026.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White Paper 1.1, pp. 25-27, 48-49; Commercial revision, pp. 6, 8. Proposed tool design.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White Paper 1.1, pp. 25-27. Diagram and analytical use are proposed, not actual dealer results.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Commercial revision, pp. 9, 12-14; White Paper 1.1, pp. 24-25, 43-44. Planner design is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supplied category-mix summary, 19 September 2026; Commercial revision, pp. 12, 14. Fleet: numerical reference, section 5. Full calendar years.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Illustration from Commercial revision, p. 13, dated 22 September 2026. Parts-cost definition: AIM Pricing Decisions 0.3, confirmed rules. Not Isuzu prices.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AIM Pricing Decisions 0.3, confirmed rules and objectives; Commercial revision, pp. 13, 27-28. Proposed lab behaviour.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White Paper 1.1, pp. 28-30, 50-51; Commercial revision, pp. 6, 15; numerical reference. Proposed tool design.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White Paper 1.1, pp. 29-30; Implementation Roadmap, p. 9. Revised commercial-planning route: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Scope: business-owner clarification, 22 September 2026. Product design: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Commercial revision, pp. 21-22; White Paper 1.1, pp. 62-64. Existing rebate conditions are not redefined.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Scope: business-owner clarification, 22 September 2026. Product design: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scope: Commercial revision, pp. 8, 37; White Paper 1.1, pp. 54-57. Proposed pilot tasks.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Basis: supplied 2.0 HTML and papers; Roadmap, pp. 3, 16. This is a conceptual impact assessment, not an audit of all production code.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Evaluation foundations: White Paper 1.1, pp. 43-44, 66-68; Commercial revision, p. 39. Revised measures: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Amounts: Commercial revision, pp. 29-31, dated 22 September 2026. They remain earlier proposals, not revised quotes or approved spend.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Reuse and acceptance principles: Implementation Roadmap, pp. 3, 13-16. This revised sequence is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ISZE numerical reference; White Paper 1.1, pp. 48-51, 68-71; Implementation Roadmap, pp. 4, 8, 10-11.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Boundaries: White Paper 1.1, pp. 51-52, 58-59. Candidate extensions are new design proposals.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Scope: business-owner clarification, 22 September 2026. Product design: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Scope: business-owner clarification, 22 September 2026. Product design: proposed.
Primary rewrite: Universe Commercial Tools White Paper, 22 September 2026.
New product layouts, journeys and benefits are proposed, not operational or financial results.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135331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4632" y="4023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2048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/ AFTERSALES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185623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spc="3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2412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commercial edge.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better reason to share.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443484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Distinctive tools for product analysis, dealer development,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planning, commercial economics and market intelligence.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57784" y="5751576"/>
            <a:ext cx="11082528" cy="0"/>
          </a:xfrm>
          <a:prstGeom prst="line">
            <a:avLst/>
          </a:prstGeom>
          <a:noFill/>
          <a:ln w="2286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66928" y="5971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 / 22 September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5971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MANAGEMENT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SCOPE BOUNDARY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service is outside the programme.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must be useful even when ordinary support is removed from the proposition.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business-owner clarification, 22 September 2026. Product design: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06624"/>
            <a:ext cx="5545836" cy="239572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06624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889504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BUSINESS / NOT UNIVERSE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46120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today's transaction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31920"/>
            <a:ext cx="52166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enquiries.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BVP and application lookups.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quotation and support administration.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5060" y="2706624"/>
            <a:ext cx="5545836" cy="239572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5060" y="2706624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9652" y="2889504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 / PROPOSED CAPABILITY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59652" y="3246120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commercial choice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59652" y="3931920"/>
            <a:ext cx="52166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 product range.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development priority.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offers, plan initiatives and evaluate results.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basic service becomes conditional on data contribution.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tools. One commercial proposition.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AIM, IDS and PRISM connect where they improve the decision - not by default.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Commercial revision, p. 6; White Paper 1.1, pp. 48-51. Five-tool portfolio: new proposal, 22 September 2026.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88920"/>
            <a:ext cx="2126894" cy="21762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88920"/>
            <a:ext cx="2126894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" y="3081528"/>
            <a:ext cx="181599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Commercial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3504" y="4142232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effort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39542" y="2788920"/>
            <a:ext cx="2126894" cy="21762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39542" y="2788920"/>
            <a:ext cx="2126894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94990" y="3081528"/>
            <a:ext cx="181599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Development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894990" y="4142232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practices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deserve investment?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31029" y="2788920"/>
            <a:ext cx="2126894" cy="21762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31029" y="2788920"/>
            <a:ext cx="2126894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86477" y="3081528"/>
            <a:ext cx="181599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&amp; Campaign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186477" y="4142232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develop, and for whom?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322515" y="2788920"/>
            <a:ext cx="2126894" cy="21762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22515" y="2788920"/>
            <a:ext cx="2126894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77963" y="3081528"/>
            <a:ext cx="181599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Margin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477963" y="4142232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offer has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economics?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614002" y="2788920"/>
            <a:ext cx="2126894" cy="21762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14002" y="2788920"/>
            <a:ext cx="2126894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69450" y="3081528"/>
            <a:ext cx="181599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Market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769450" y="4142232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segments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pursuit?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Self-directed analysis is a real product outcome. A support request is not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connected knowledge to a commercial choice.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context preserves entity, period, products and evidence across the relevant tools.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meanings: Commercial revision, p. 6; White Paper 1.1, pp. 48-51. Connections are proposed, not live integrations.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3776" y="2779776"/>
            <a:ext cx="2551176" cy="7132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88950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3200400"/>
            <a:ext cx="21762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structure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" y="3749040"/>
            <a:ext cx="2551176" cy="7132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85876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8368" y="4169664"/>
            <a:ext cx="21762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practice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" y="4718304"/>
            <a:ext cx="2551176" cy="7132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82803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" y="5138928"/>
            <a:ext cx="21762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fleet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08576" y="2761488"/>
            <a:ext cx="2953512" cy="42062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2852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Atlas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608576" y="3337560"/>
            <a:ext cx="2953512" cy="42062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3429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Development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608576" y="3913632"/>
            <a:ext cx="2953512" cy="42062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73168" y="40050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&amp; Campaigns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608576" y="4489704"/>
            <a:ext cx="2953512" cy="42062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73168" y="458114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Margin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608576" y="5065776"/>
            <a:ext cx="2953512" cy="42062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515721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044952" y="3136392"/>
            <a:ext cx="1563624" cy="-164592"/>
          </a:xfrm>
          <a:prstGeom prst="line">
            <a:avLst/>
          </a:prstGeom>
          <a:noFill/>
          <a:ln w="1143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3044952" y="3136392"/>
            <a:ext cx="1563624" cy="987552"/>
          </a:xfrm>
          <a:prstGeom prst="line">
            <a:avLst/>
          </a:prstGeom>
          <a:noFill/>
          <a:ln w="1143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3044952" y="3136392"/>
            <a:ext cx="1563624" cy="1563624"/>
          </a:xfrm>
          <a:prstGeom prst="line">
            <a:avLst/>
          </a:prstGeom>
          <a:noFill/>
          <a:ln w="1143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044952" y="4105656"/>
            <a:ext cx="1563624" cy="-557784"/>
          </a:xfrm>
          <a:prstGeom prst="line">
            <a:avLst/>
          </a:prstGeom>
          <a:noFill/>
          <a:ln w="1143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044952" y="5074920"/>
            <a:ext cx="1563624" cy="201168"/>
          </a:xfrm>
          <a:prstGeom prst="line">
            <a:avLst/>
          </a:prstGeom>
          <a:noFill/>
          <a:ln w="1143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171432" y="3392424"/>
            <a:ext cx="2487168" cy="14630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54312" y="3621024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9354312" y="4462272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what follows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562088" y="2971800"/>
            <a:ext cx="1609344" cy="1143000"/>
          </a:xfrm>
          <a:prstGeom prst="line">
            <a:avLst/>
          </a:prstGeom>
          <a:noFill/>
          <a:ln w="8890">
            <a:solidFill>
              <a:srgbClr val="52595E"/>
            </a:solidFill>
            <a:prstDash val="solid"/>
            <a:headEnd type="none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7562088" y="3547872"/>
            <a:ext cx="1609344" cy="566928"/>
          </a:xfrm>
          <a:prstGeom prst="line">
            <a:avLst/>
          </a:prstGeom>
          <a:noFill/>
          <a:ln w="8890">
            <a:solidFill>
              <a:srgbClr val="52595E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7562088" y="4123944"/>
            <a:ext cx="1609344" cy="-9144"/>
          </a:xfrm>
          <a:prstGeom prst="line">
            <a:avLst/>
          </a:prstGeom>
          <a:noFill/>
          <a:ln w="8890">
            <a:solidFill>
              <a:srgbClr val="52595E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7562088" y="4700016"/>
            <a:ext cx="1609344" cy="-585216"/>
          </a:xfrm>
          <a:prstGeom prst="line">
            <a:avLst/>
          </a:prstGeom>
          <a:noFill/>
          <a:ln w="8890">
            <a:solidFill>
              <a:srgbClr val="52595E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562088" y="5276088"/>
            <a:ext cx="1609344" cy="-1161288"/>
          </a:xfrm>
          <a:prstGeom prst="line">
            <a:avLst/>
          </a:prstGeom>
          <a:noFill/>
          <a:ln w="8890">
            <a:solidFill>
              <a:srgbClr val="52595E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independently. Connect selectively. Retain the reasoning.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tools earn better participation.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reporting starts the exchange. The product must give a reason to continue.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Owner-confirmed history: Commercial revision, pp. 3-5, dated 22 September 2026. Exchange sequence is a proposed mechanism.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816352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574950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39542" y="2816352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6702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76702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866437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31029" y="2816352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8189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68189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157923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22515" y="2816352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9675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59675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449410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14002" y="2816352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1162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51162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493776" y="4526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800" dirty="0"/>
          </a:p>
        </p:txBody>
      </p:sp>
      <p:sp>
        <p:nvSpPr>
          <p:cNvPr id="33" name="Text 30"/>
          <p:cNvSpPr/>
          <p:nvPr/>
        </p:nvSpPr>
        <p:spPr>
          <a:xfrm>
            <a:off x="2295144" y="4553712"/>
            <a:ext cx="9052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normal distributor kickback is linked to reporting, according to the business owner.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new Universe incentive or a percentage of purchases.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48056" y="5605272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8056" y="5605272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5705856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reporting obligation and voluntary use of the tools are different measures.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RECEIVES WHAT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participant needs its own commercial benefit.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information for ISZE is not enough to justify somebody else's effort.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business-owner clarification, 22 September 2026. Product design: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24912"/>
            <a:ext cx="3630168" cy="257860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24912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07792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MANAGEMENT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64408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its own business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50208"/>
            <a:ext cx="3300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supported purchasing insight.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understandable IDS profile.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relevant range or investment choice.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24912"/>
            <a:ext cx="3630168" cy="257860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24912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07792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264408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national effort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50208"/>
            <a:ext cx="3300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Product-level market and account analysis.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range and campaign choices.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for commercial decisions.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24912"/>
            <a:ext cx="3630168" cy="257860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24912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07792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264408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offer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50208"/>
            <a:ext cx="3300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product and market understanding.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selective pricing and support.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Evidenced learning from initiatives.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better decision can be to retain the offer or take no action.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DEEP SALES ANALYSIS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Commercial Atlas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richer way to understand the business - from market to product form to original reference.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Commercial revision, pp. 6-12; White Paper 1.1, pp. 18-19, 48-51. Product journey: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88920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2926080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" y="3310128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scope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574950" y="345186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39542" y="2788920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6702" y="2926080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76702" y="3310128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structure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866437" y="345186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31029" y="2788920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8189" y="2926080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68189" y="3310128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movement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157923" y="345186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22515" y="2788920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9675" y="2926080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59675" y="3310128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449410" y="345186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14002" y="2788920"/>
            <a:ext cx="2126894" cy="13258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1162" y="2926080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51162" y="3310128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choice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493776" y="4425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receives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3703320" y="4425696"/>
            <a:ext cx="7571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comparable-period range analysis, the products contributing to the movement, and a saved selection for a commercial decision.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Quantity, product mix and average billed value are different signals.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SOURCE-CATEGORY EXAMPLE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ITUK: concentrate on the brake-pad range.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45,023.33 less billed in calendar 2025 than 2024; the cause remains a separate question.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category-mix summary, 19 September 2026; Commercial revision, pp. 10-11. Fleet: numerical reference, section 5. Arithmetic rechecked 22 September 2026.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2104" y="5221224"/>
            <a:ext cx="5559552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457200" y="513892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2104" y="4658868"/>
            <a:ext cx="5559552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457200" y="457657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32104" y="4096512"/>
            <a:ext cx="5559552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457200" y="401421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2104" y="3534156"/>
            <a:ext cx="5559552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457200" y="345186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32104" y="2971800"/>
            <a:ext cx="5559552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/>
          <p:nvPr/>
        </p:nvSpPr>
        <p:spPr>
          <a:xfrm>
            <a:off x="457200" y="2889504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572768" y="3267658"/>
            <a:ext cx="1572768" cy="1953566"/>
          </a:xfrm>
          <a:prstGeom prst="rect">
            <a:avLst/>
          </a:prstGeom>
          <a:solidFill>
            <a:srgbClr val="BBC2C6"/>
          </a:solidFill>
          <a:ln w="12700">
            <a:solidFill>
              <a:srgbClr val="BBC2C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35024" y="2965906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347,389.58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99616" y="5385816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2024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922776" y="3520849"/>
            <a:ext cx="1572768" cy="1700375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85032" y="3219097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302,366.25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849624" y="5385816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2025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967728" y="2724912"/>
            <a:ext cx="4709160" cy="261518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87184" y="2926080"/>
            <a:ext cx="4251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95.7%</a:t>
            </a:r>
            <a:endParaRPr lang="en-US" sz="4000" dirty="0"/>
          </a:p>
        </p:txBody>
      </p:sp>
      <p:sp>
        <p:nvSpPr>
          <p:cNvPr id="31" name="Text 28"/>
          <p:cNvSpPr/>
          <p:nvPr/>
        </p:nvSpPr>
        <p:spPr>
          <a:xfrm>
            <a:off x="7214616" y="3639312"/>
            <a:ext cx="41056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reduction across the three selected braking categories comes from pads.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214616" y="459943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22,389 ITUK trucks on the stated calendar-2025 fleet basis (DVLA March 2026 register). Not a pad-specific or dealer fleet.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48056" y="5678424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" y="5678424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" y="5779008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distributor purchasing, not a dealer loss or a recoverable-sales promise.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DEALER DEVELOPMENT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Development Studio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actual self-assessment explorable and useful for a management choice.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White Paper 1.1, pp. 25-27, 48-49; Commercial revision, pp. 6, 8. Proposed tool design.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3630168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assessment profile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33009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questions and answers.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development topics.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Version, coverage and available period.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43200"/>
            <a:ext cx="3630168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point of reference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68496"/>
            <a:ext cx="33009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questionnaire and scoring.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permitted, defined comparison group.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dealer or audit score.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43200"/>
            <a:ext cx="3630168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development plan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68496"/>
            <a:ext cx="33009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participant-selected priority.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and intended business benefit.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later evaluation.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is not reassessment. Reassessment is not proof of commercial improvement.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MEASUREMENT, NOT A LEAGUE 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three IDS outcomes separate.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can support a useful development choice before a second assessment exists.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White Paper 1.1, pp. 25-27. Diagram and analytical use are proposed, not actual dealer results.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52344"/>
            <a:ext cx="2936138" cy="69494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871216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84194" y="2752344"/>
            <a:ext cx="4065422" cy="69494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03066" y="2871216"/>
            <a:ext cx="3827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show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49617" y="2752344"/>
            <a:ext cx="4291279" cy="69494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68489" y="287121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cannot create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8056" y="3447288"/>
            <a:ext cx="2936138" cy="69494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566160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assessment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384194" y="3447288"/>
            <a:ext cx="4065422" cy="69494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03066" y="3566160"/>
            <a:ext cx="3827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dealer answered on the stated basis.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49617" y="3447288"/>
            <a:ext cx="4291279" cy="69494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68489" y="356616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audit or missing date.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8056" y="4142232"/>
            <a:ext cx="2936138" cy="69494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261104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improvement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384194" y="4142232"/>
            <a:ext cx="4065422" cy="69494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03066" y="4261104"/>
            <a:ext cx="3827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development work occurred.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49617" y="4142232"/>
            <a:ext cx="4291279" cy="694944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68489" y="426110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assessment score change.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48056" y="4837176"/>
            <a:ext cx="2936138" cy="69494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495604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commercial result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384194" y="4837176"/>
            <a:ext cx="4065422" cy="69494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03066" y="4956048"/>
            <a:ext cx="3827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change on its own comparison.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449617" y="4837176"/>
            <a:ext cx="4291279" cy="69494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68489" y="495604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the assessment or initiative caused it.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dealer answers, scores or fleet allocations are invented to complete the demonstration.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BUSINESS DEVELOPMENT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&amp; Campaign Planner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meaningful product selection into a relevant, testable initiative.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Commercial revision, pp. 9, 12-14; White Paper 1.1, pp. 24-25, 43-44. Planner design is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70632"/>
            <a:ext cx="2126894" cy="1417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290779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" y="329184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goal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574950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39542" y="2770632"/>
            <a:ext cx="2126894" cy="1417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6702" y="290779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76702" y="329184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selection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866437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31029" y="2770632"/>
            <a:ext cx="2126894" cy="1417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8189" y="290779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68189" y="329184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offer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157923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22515" y="2770632"/>
            <a:ext cx="2126894" cy="1417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9675" y="290779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59675" y="329184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audience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449410" y="3479292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14002" y="2770632"/>
            <a:ext cx="2126894" cy="1417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1162" y="290779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51162" y="329184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options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484632" y="4498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3218688" y="4489704"/>
            <a:ext cx="8321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usable initiative brief: products, audience, rationale, assumptions, effort, baseline and evaluation. Campaign execution remains in the existing business.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recorded purchase is not evidence of an available sale.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SOURCE-CATEGORY EXAMPLE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Portugal: the combined offer changes the diagnosis.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Clutch-kit billing rose by EUR 1,742.60 (+5.8%) in calendar 2025, despite lower Genuine billing.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category-mix summary, 19 September 2026; Commercial revision, pp. 12, 14. Fleet: numerical reference, section 5. Full calendar years.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8680" y="5212080"/>
            <a:ext cx="5486400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466344" y="514807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68680" y="4615180"/>
            <a:ext cx="5486400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466344" y="455117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68680" y="4018280"/>
            <a:ext cx="5486400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466344" y="395427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68680" y="3421380"/>
            <a:ext cx="5486400" cy="0"/>
          </a:xfrm>
          <a:prstGeom prst="line">
            <a:avLst/>
          </a:prstGeom>
          <a:noFill/>
          <a:ln w="635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466344" y="335737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572768" y="3596991"/>
            <a:ext cx="1581912" cy="1615089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72768" y="3423775"/>
            <a:ext cx="1581912" cy="173216"/>
          </a:xfrm>
          <a:prstGeom prst="rect">
            <a:avLst/>
          </a:prstGeom>
          <a:solidFill>
            <a:srgbClr val="BBC2C6"/>
          </a:solidFill>
          <a:ln w="12700">
            <a:solidFill>
              <a:srgbClr val="BBC2C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89888" y="3131167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29,959.87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499616" y="53492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2024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904488" y="3442593"/>
            <a:ext cx="1581912" cy="1769487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04488" y="3319760"/>
            <a:ext cx="1581912" cy="122834"/>
          </a:xfrm>
          <a:prstGeom prst="rect">
            <a:avLst/>
          </a:prstGeom>
          <a:solidFill>
            <a:srgbClr val="BBC2C6"/>
          </a:solidFill>
          <a:ln w="12700">
            <a:solidFill>
              <a:srgbClr val="BBC2C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21608" y="302715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31,702.47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831336" y="53492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2025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6968" y="26791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Red: BVP / grey: Genuine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958584" y="2770632"/>
            <a:ext cx="4709160" cy="262432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87184" y="30083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total offer.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7196328" y="3739896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launch a Genuine-recovery campaign from a Genuine-only view.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7196328" y="4754880"/>
            <a:ext cx="4105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8,176 vehicles on the supplied 2025 Portugal fleet basis. Not the applicable clutch-kit fleet and not a dealer allocation.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48056" y="5696712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8056" y="5696712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5797296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billing growth does not establish profit growth or business won from competitors.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COMMERCIAL ECONOMICS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Margin Lab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both revenue and parts gross profit; make the volume assumption explicit.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 from Commercial revision, p. 13, dated 22 September 2026. Parts-cost definition: AIM Pricing Decisions 0.3, confirmed rules. Not Isuzu prices.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61488"/>
            <a:ext cx="3630168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61488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44368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 / ILLUSTRATIVE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300984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100 price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86784"/>
            <a:ext cx="33009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70 parts purchase cost.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30 unit gross profit.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 gross margin.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61488"/>
            <a:ext cx="3630168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61488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44368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5% LOWER / ILLUSTRATIVE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300984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95 price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86784"/>
            <a:ext cx="33009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25 unit gross profit.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gross margin.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more quantity to preserve gross profit.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61488"/>
            <a:ext cx="3630168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61488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44368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5% HIGHER / ILLUSTRATIVE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300984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105 price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86784"/>
            <a:ext cx="33009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35 unit gross profit.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 gross margin.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 of quantity preserves gross profit.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quantity is a break-even threshold, not a prediction of customer response.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DISCIPLINE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calculation is not an approval.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baseline, eligible products and effective cost basis must apply to each alternative.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AIM Pricing Decisions 0.3, confirmed rules and objectives; Commercial revision, pp. 13, 27-28. Proposed lab behaviour.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5545836" cy="258775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SHOULD SHOW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 trade-off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52166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gross-profit change.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and both break-even quantities.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inputs versus user assumptions.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5060" y="2743200"/>
            <a:ext cx="5545836" cy="258775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5060" y="2743200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9652" y="2926080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MUST NOT INVENT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59652" y="3282696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optimum price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59652" y="3968496"/>
            <a:ext cx="52166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assumed elasticity.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margin from a missing cost.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price change or resale instruction.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downstream economics are not a mandatory data contribution to ISZE.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MARKET DEVELOPMENT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Market Intelligence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historical fleet context, relevant product ranges and source-dated opportunities.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White Paper 1.1, pp. 28-30, 50-51; Commercial revision, pp. 6, 15; numerical reference. Proposed tool design.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52344"/>
            <a:ext cx="3630168" cy="258775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52344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35224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9184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market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77640"/>
            <a:ext cx="33009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purchasing and supported historical fleet.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expectations labelled separately.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52344"/>
            <a:ext cx="3630168" cy="258775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52344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35224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29184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offer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77640"/>
            <a:ext cx="33009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range tied to the intended segment.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applicability and missing evidence.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52344"/>
            <a:ext cx="3630168" cy="258775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52344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35224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PURSUIT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291840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opportunities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77640"/>
            <a:ext cx="33009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qualified shortlist with sources and known requirements.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reasoned pursue, monitor or decline decision.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unsupported fleet forecast, invented dealer territory or automatic recovery estimate.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COMMERCIAL ROUTE, NOT BID ADMINISTRATION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intelligence is a planning capability.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existing sourced notices to decide where effort is justified.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White Paper 1.1, pp. 29-30; Implementation Roadmap, p. 9. Revised commercial-planning route: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816352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Source-dated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574950" y="349758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39542" y="2816352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6702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76702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866437" y="349758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31029" y="2816352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8189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68189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range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157923" y="349758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22515" y="2816352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9675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59675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Pursuit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449410" y="3497580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14002" y="2816352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1162" y="2953512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51162" y="3337560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result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learning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493776" y="4471416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Universe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2880360" y="4471416"/>
            <a:ext cx="8449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Qualification, selection and evidence-based evaluation.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493776" y="504748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Universe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2880360" y="5047488"/>
            <a:ext cx="8449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contact, quotation handling, supply confirmation and submission.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448056" y="5696712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8056" y="5696712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1792" y="5797296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value is not parts revenue. An award is not parts billed.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CAPABILITIES WORK TOGETHER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connection is useful when it changes the decision.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relevant knowledge without forcing every tool into every journey.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business-owner clarification, 22 September 2026. Product design: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06624"/>
            <a:ext cx="2823210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825496"/>
            <a:ext cx="258546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71266" y="2706624"/>
            <a:ext cx="3387852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90138" y="2825496"/>
            <a:ext cx="31501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knowledge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59118" y="2706624"/>
            <a:ext cx="5081778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77990" y="2825496"/>
            <a:ext cx="48440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context only when useful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8056" y="3209544"/>
            <a:ext cx="2823210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328416"/>
            <a:ext cx="258546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Atlas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71266" y="3209544"/>
            <a:ext cx="3387852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90138" y="3328416"/>
            <a:ext cx="31501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+ covered purchasing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59118" y="3209544"/>
            <a:ext cx="5081778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77990" y="3328416"/>
            <a:ext cx="48440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account relationships; product and market context.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8056" y="3712464"/>
            <a:ext cx="2823210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3831336"/>
            <a:ext cx="258546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Development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271266" y="3712464"/>
            <a:ext cx="3387852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90138" y="3831336"/>
            <a:ext cx="31501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IDS self-assessment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59118" y="3712464"/>
            <a:ext cx="5081778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77990" y="3831336"/>
            <a:ext cx="48440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peers; separately dated commercial evidence.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48056" y="4215384"/>
            <a:ext cx="2823210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4334256"/>
            <a:ext cx="258546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&amp; Campaigns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71266" y="4215384"/>
            <a:ext cx="3387852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90138" y="4334256"/>
            <a:ext cx="31501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+ selected product activity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659118" y="4215384"/>
            <a:ext cx="5081778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77990" y="4334256"/>
            <a:ext cx="48440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range relationships; audience and economics.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48056" y="4718304"/>
            <a:ext cx="2823210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" y="4837176"/>
            <a:ext cx="258546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Margin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271266" y="4718304"/>
            <a:ext cx="3387852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90138" y="4837176"/>
            <a:ext cx="31501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offers + aligned inputs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659118" y="4718304"/>
            <a:ext cx="5081778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77990" y="4837176"/>
            <a:ext cx="48440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product, market and eligible-activity context.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48056" y="5221224"/>
            <a:ext cx="2823210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" y="5340096"/>
            <a:ext cx="258546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3271266" y="5221224"/>
            <a:ext cx="3387852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390138" y="5340096"/>
            <a:ext cx="31501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+ sourced opportunities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659118" y="5221224"/>
            <a:ext cx="5081778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777990" y="5340096"/>
            <a:ext cx="484403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range detail; verified population and requirements.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48056" y="5769864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48056" y="5769864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1792" y="5870448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never certifies the conclusion of another.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THAT MAKES THE TOOLS RELEVANT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recurring exchange price-free.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what is already supplied; request only the additional information that changes a specific analysis.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Commercial revision, pp. 21-22; White Paper 1.1, pp. 62-64. Existing rebate conditions are not redefined.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5545836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INFORMATION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purchasing evidence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52166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distributor and source account.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part, quantity and unit.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Period, coverage, returns and source version.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5060" y="2743200"/>
            <a:ext cx="5545836" cy="25603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5060" y="2743200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9652" y="2926080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DEPTH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59652" y="3282696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defined analytical purpose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59652" y="3968496"/>
            <a:ext cx="52166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scoped correction or campaign population.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relevant comparison or outcome aggregate.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scenario inputs when the user needs them.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mandatory resale prices, margins, full stock file, customer list or workshop export.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CONTINUITY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initiative, not every interaction.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record supports a campaign, pricing study, development plan or market pursuit.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business-owner clarification, 22 September 2026. Product design: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807208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2944368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" y="3328416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574950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39542" y="2807208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6702" y="2944368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76702" y="3328416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866437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31029" y="2807208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8189" y="2944368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68189" y="3328416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and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157923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22515" y="2807208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9675" y="2944368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59675" y="3328416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449410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14002" y="2807208"/>
            <a:ext cx="2126894" cy="1362456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1162" y="2944368"/>
            <a:ext cx="1852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51162" y="3328416"/>
            <a:ext cx="18525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and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review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548640" y="4507992"/>
            <a:ext cx="10963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can end with a saved selection or a useful conclusion. A record is only needed when it helps preserve a commercial choice and its evaluation.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help-desk queue. No day-to-day response workflow. No automatic operational action.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PROOF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pilots. Different evidence. The same product standard.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manufacture symmetry between ITUK and I Motors.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scope: Commercial revision, pp. 8, 37; White Paper 1.1, pp. 54-57. Proposed pilot tasks.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5545836" cy="26334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ITUK / UK TRUCKS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Account-level commercial analysis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52166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supported calendar-2025 purchasing-account detail.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original products and retain a commercial choice.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dealer fleet or invented second comparable year.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5060" y="2743200"/>
            <a:ext cx="5545836" cy="26334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5060" y="2743200"/>
            <a:ext cx="5545836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9652" y="2926080"/>
            <a:ext cx="52166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MOTORS / PORTUGAL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59652" y="3282696"/>
            <a:ext cx="5216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range + independent IDS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59652" y="3968496"/>
            <a:ext cx="52166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national product history for the combined offer.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actual IDS assessments as their own tool.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dealer purchasing allocated from the national total.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tool task does not prove a recurring feed or a wider live portal.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THE EXISTING 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- and what remains useful.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analytical ingredients survive. The support-centred product story does not.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supplied 2.0 HTML and papers; Roadmap, pp. 3, 16. This is a conceptual impact assessment, not an audit of all production code.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3630168" cy="266090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foundations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3300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classification and original references.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and historical fleet context.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IDS evidence and financial arithmetic.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43200"/>
            <a:ext cx="3630168" cy="266090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organisation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68496"/>
            <a:ext cx="3300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at the centre.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outputs and journeys.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Pilots, measures and funding rationale.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43200"/>
            <a:ext cx="3630168" cy="2660904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FROM SCOPE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service modules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68496"/>
            <a:ext cx="3300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and lookup workflows.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quotation handling.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Support-ticket and day-to-day follow-up administration.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working components; do not assume a percentage of reusable code without inspection.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VALUE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 better commercial capability.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usefulness and financial impact are different evidence claims.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foundations: White Paper 1.1, pp. 43-44, 66-68; Commercial revision, p. 39. Revised measures: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3630168" cy="26334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relevant task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3300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participant use the tool and understand its limits?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output answer a real business need?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43200"/>
            <a:ext cx="3630168" cy="26334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better-founded choice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68496"/>
            <a:ext cx="3300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range, campaign, pricing or development decision changed?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total effort justified?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43200"/>
            <a:ext cx="3630168" cy="263347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use happens again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68496"/>
            <a:ext cx="3300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later eligible task.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corrections and voluntary information.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results evaluated on the same basis.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Logins, uploaded rows and routine support response times are not the business case.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PLANNING ALTERNATIVES / NOT APPROVAL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must be reassessed for this scope.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12 months from approval; additional external cash; excluding recoverable VAT.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Amounts: Commercial revision, pp. 29-31, dated 22 September 2026. They remain earlier proposals, not revised quotes or approved spend.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3630168" cy="26974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OWNER-LED ROUTE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33009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additional external cash.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and internal time still cost money.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stays within available authorised capacity.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43200"/>
            <a:ext cx="3630168" cy="26974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FOCUSED ENVELOPE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100,000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68496"/>
            <a:ext cx="33009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planning ceiling, not a software quote.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accepted analytical and participant deliverables.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Re-cost the corrected scope.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43200"/>
            <a:ext cx="3630168" cy="269748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LARGER ENVELOPE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300,000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68496"/>
            <a:ext cx="33009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total, not an additional EUR 300,000.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scope needs evidence and operating capacity.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release.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696712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696712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797296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budget line is justified by building routine support into Universe.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SEQUENCE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capability before expanding.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elapsed-week promise is inherited from the previous support-centred roadmap.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and acceptance principles: Implementation Roadmap, pp. 3, 13-16. This revised sequence is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88920"/>
            <a:ext cx="1744980" cy="13990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2926080"/>
            <a:ext cx="1470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" y="3310128"/>
            <a:ext cx="1470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scope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193036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357628" y="2788920"/>
            <a:ext cx="1744980" cy="13990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94788" y="2926080"/>
            <a:ext cx="1470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494788" y="3310128"/>
            <a:ext cx="1470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and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work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102608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267200" y="2788920"/>
            <a:ext cx="1744980" cy="13990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04360" y="2926080"/>
            <a:ext cx="1470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04360" y="3310128"/>
            <a:ext cx="1470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task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012180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176772" y="2788920"/>
            <a:ext cx="1744980" cy="13990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13932" y="2926080"/>
            <a:ext cx="1470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13932" y="3310128"/>
            <a:ext cx="1470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use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7921752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086344" y="2788920"/>
            <a:ext cx="1744980" cy="13990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3504" y="2926080"/>
            <a:ext cx="1470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23504" y="3310128"/>
            <a:ext cx="1470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and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9831324" y="3488436"/>
            <a:ext cx="164592" cy="0"/>
          </a:xfrm>
          <a:prstGeom prst="line">
            <a:avLst/>
          </a:prstGeom>
          <a:noFill/>
          <a:ln w="2032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995916" y="2788920"/>
            <a:ext cx="1744980" cy="1399032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33076" y="2926080"/>
            <a:ext cx="1470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133076" y="3310128"/>
            <a:ext cx="1470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what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useful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548640" y="4517136"/>
            <a:ext cx="10927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product release should demonstrate a participant using a bounded commercial capability, not a request moving between departments.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acceptance, source acceptance and participant usefulness are separate.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ANALYSIS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credibility rules remain unchanged.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boundary that changes the decision visible; retain deeper evidence for inspection.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ISZE numerical reference; White Paper 1.1, pp. 48-51, 68-71; Implementation Roadmap, pp. 4, 8, 10-11.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3274924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862072"/>
            <a:ext cx="30371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22980" y="2743200"/>
            <a:ext cx="8017916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1852" y="2862072"/>
            <a:ext cx="77801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behaviour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8056" y="3246120"/>
            <a:ext cx="3274924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3364992"/>
            <a:ext cx="30371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and period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722980" y="3246120"/>
            <a:ext cx="8017916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1852" y="3364992"/>
            <a:ext cx="77801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distributors. January-June 2026 is not a full-year comparison.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8056" y="3749040"/>
            <a:ext cx="3274924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3867912"/>
            <a:ext cx="30371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and source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722980" y="3749040"/>
            <a:ext cx="8017916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1852" y="3867912"/>
            <a:ext cx="77801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dealer fleet allocation; purchasing, workshop work and customer demand differ.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8056" y="4251960"/>
            <a:ext cx="3274924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370832"/>
            <a:ext cx="30371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and assessment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722980" y="4251960"/>
            <a:ext cx="8017916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1852" y="4370832"/>
            <a:ext cx="77801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classification is not fitment; a self-assessment is not a causal explanation.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48056" y="4754880"/>
            <a:ext cx="3274924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4873752"/>
            <a:ext cx="30371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722980" y="4754880"/>
            <a:ext cx="8017916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1852" y="4873752"/>
            <a:ext cx="77801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cost stays missing; modelled opportunity is not a return.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48056" y="5257800"/>
            <a:ext cx="3274924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5376672"/>
            <a:ext cx="30371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and correction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722980" y="5257800"/>
            <a:ext cx="8017916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41852" y="5376672"/>
            <a:ext cx="77801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actual exported content; preserve historical evidence and restatements.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48056" y="576072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8056" y="576072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" y="586130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July PRISM file supplies the interaction pattern, not current figures or forecasts.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PRODUCTS / NOT COMMITMENTS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extensions should deepen the analytical advantage.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needs a useful decision, an appropriate source and a credible benefit test.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Boundaries: White Paper 1.1, pp. 51-52, 58-59. Candidate extensions are new design proposals.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43200"/>
            <a:ext cx="3630168" cy="257860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RANGE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studies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2648" y="3968496"/>
            <a:ext cx="3300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recurring product combinations in supported purchasing.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Co-purchase is not proof of a repair basket.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79392" y="2743200"/>
            <a:ext cx="3630168" cy="257860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984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TIMING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443984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planning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43984" y="3968496"/>
            <a:ext cx="3300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recurring patterns with one-off orders.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is not an automatic forecast or replenishment instruction.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110728" y="2743200"/>
            <a:ext cx="3630168" cy="2578608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10728" y="2743200"/>
            <a:ext cx="363016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926080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OFFER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75320" y="3282696"/>
            <a:ext cx="3300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fleet economics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275320" y="3968496"/>
            <a:ext cx="3300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 supported population and applicable technical basis.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territory or connected-vehicle integration.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may help navigate evidence. It does not replace the tools, permissions or decision authority.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DECISION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themselves must be worth having.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commercial direction and a bounded proof - not a new help desk.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business-owner clarification, 22 September 2026. Product design: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0352" y="2788920"/>
            <a:ext cx="10881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network capabilities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make its business stronger.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57784" y="4288536"/>
            <a:ext cx="109545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first useful Atlas and IDS tasks.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accepted information and working components.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the commercial choice, participant effort and later useful reuse.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48056" y="5577840"/>
            <a:ext cx="11292840" cy="448056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" y="5577840"/>
            <a:ext cx="36576" cy="4480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5678424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realised return, approved revised budget or network-wide readiness is claimed.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4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011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17320" y="210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13064" y="219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1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TOOLS EDITION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621792"/>
            <a:ext cx="1138428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/ TRACEABILITY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1109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basis and revision record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business-owner clarification changes the framing; source-derived evidence keeps its limits.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" y="6272784"/>
            <a:ext cx="11329416" cy="0"/>
          </a:xfrm>
          <a:prstGeom prst="line">
            <a:avLst/>
          </a:prstGeom>
          <a:noFill/>
          <a:ln w="7620">
            <a:solidFill>
              <a:srgbClr val="52595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48056" y="638251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3A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business-owner clarification, 22 September 2026. Product design: proposed.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11201400" y="6373368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8056" y="2734056"/>
            <a:ext cx="3952494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852928"/>
            <a:ext cx="37147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00550" y="2734056"/>
            <a:ext cx="7340346" cy="5029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9422" y="2852928"/>
            <a:ext cx="710260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 this replacement presentation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8056" y="3236976"/>
            <a:ext cx="3952494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3355848"/>
            <a:ext cx="37147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scope / 22 Sep 2026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00550" y="3236976"/>
            <a:ext cx="7340346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19422" y="3355848"/>
            <a:ext cx="710260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Distinctive commercial tools; routine dealer support outside the programme.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8056" y="3739896"/>
            <a:ext cx="3952494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3858768"/>
            <a:ext cx="37147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revision / 22 Sep 2026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00550" y="3739896"/>
            <a:ext cx="7340346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19422" y="3858768"/>
            <a:ext cx="710260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history, dated category examples, earlier funding and documented AIM style.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8056" y="4242816"/>
            <a:ext cx="3952494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361688"/>
            <a:ext cx="37147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Paper 1.1 / 21 Sep 2026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400550" y="4242816"/>
            <a:ext cx="7340346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19422" y="4361688"/>
            <a:ext cx="710260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analytical, assessment and participant boundaries.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48056" y="4745736"/>
            <a:ext cx="3952494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4864608"/>
            <a:ext cx="37147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/ 22 Sep 2026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400550" y="4745736"/>
            <a:ext cx="7340346" cy="502920"/>
          </a:xfrm>
          <a:prstGeom prst="rect">
            <a:avLst/>
          </a:prstGeom>
          <a:solidFill>
            <a:srgbClr val="383F44"/>
          </a:solidFill>
          <a:ln w="12700">
            <a:solidFill>
              <a:srgbClr val="383F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19422" y="4864608"/>
            <a:ext cx="710260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and acceptance principles; earlier scope and schedule not adopted unchanged.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48056" y="5248656"/>
            <a:ext cx="3952494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5367528"/>
            <a:ext cx="37147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Pricing Decisions 0.3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400550" y="5248656"/>
            <a:ext cx="7340346" cy="502920"/>
          </a:xfrm>
          <a:prstGeom prst="rect">
            <a:avLst/>
          </a:prstGeom>
          <a:solidFill>
            <a:srgbClr val="30363B"/>
          </a:solidFill>
          <a:ln w="12700">
            <a:solidFill>
              <a:srgbClr val="30363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19422" y="5367528"/>
            <a:ext cx="710260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parts-cost gross-profit definition and scenario-objective distinction.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9496" y="5852160"/>
            <a:ext cx="10981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2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Newly authored deck: the original PowerPoint was not accessible. Arial is specified; the supplied AIM palette is used. Detailed sources and qualifications are retained in speaker notes and the companion paper.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Isuzu Motors Europe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Universe | Commercial Tools Edition</dc:title>
  <dc:subject>Universe - commercial tools, not routine dealer support</dc:subject>
  <dc:creator>Isuzu Motors Europe</dc:creator>
  <cp:lastModifiedBy>Isuzu Motors Europe</cp:lastModifiedBy>
  <cp:revision>1</cp:revision>
  <dcterms:created xsi:type="dcterms:W3CDTF">2026-09-22T17:54:24Z</dcterms:created>
  <dcterms:modified xsi:type="dcterms:W3CDTF">2026-09-22T17:54:24Z</dcterms:modified>
</cp:coreProperties>
</file>