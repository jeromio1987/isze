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 sourceLinked="0"/>
            <c:txPr>
              <a:bodyPr wrap="none"/>
              <a:lstStyle/>
              <a:p>
                <a:pPr>
                  <a:defRPr b="0" i="0" strike="noStrike" sz="1230" u="none">
                    <a:solidFill>
                      <a:srgbClr val="24282C"/>
                    </a:solidFill>
                    <a:latin typeface="Arial"/>
                  </a:defRPr>
                </a:pPr>
              </a:p>
            </c:txPr>
            <c:showLegendKey val="0"/>
            <c:showVal val="1"/>
            <c:showCatName val="0"/>
            <c:showSerName val="0"/>
            <c:showPercent val="0"/>
            <c:showBubbleSize val="0"/>
            <c:showLeaderLines val="0"/>
          </c:dLbls>
          <c:cat>
            <c:multiLvlStrRef>
              <c:f>Sheet1!$A$2:$A$12</c:f>
              <c:multiLvlStrCache>
                <c:ptCount val="11"/>
                <c:lvl>
                  <c:pt idx="0">
                    <c:v>Greece</c:v>
                  </c:pt>
                  <c:pt idx="1">
                    <c:v>Ireland</c:v>
                  </c:pt>
                  <c:pt idx="2">
                    <c:v>Sweden</c:v>
                  </c:pt>
                  <c:pt idx="3">
                    <c:v>Norway</c:v>
                  </c:pt>
                  <c:pt idx="4">
                    <c:v>Portugal</c:v>
                  </c:pt>
                  <c:pt idx="5">
                    <c:v>Belgium</c:v>
                  </c:pt>
                  <c:pt idx="6">
                    <c:v>Germany</c:v>
                  </c:pt>
                  <c:pt idx="7">
                    <c:v>UMI (Israel)</c:v>
                  </c:pt>
                  <c:pt idx="8">
                    <c:v>UTI (Israel)</c:v>
                  </c:pt>
                  <c:pt idx="9">
                    <c:v>IUK</c:v>
                  </c:pt>
                  <c:pt idx="10">
                    <c:v>ITUK</c:v>
                  </c:pt>
                </c:lvl>
              </c:multiLvlStrCache>
            </c:multiLvlStrRef>
          </c:cat>
          <c:val>
            <c:numRef>
              <c:f>Sheet1!$B$2:$B$12</c:f>
              <c:numCache>
                <c:formatCode>General</c:formatCode>
                <c:ptCount val="11"/>
                <c:pt idx="0">
                  <c:v>472</c:v>
                </c:pt>
                <c:pt idx="1">
                  <c:v>1145</c:v>
                </c:pt>
                <c:pt idx="2">
                  <c:v>1438</c:v>
                </c:pt>
                <c:pt idx="3">
                  <c:v>1654</c:v>
                </c:pt>
                <c:pt idx="4">
                  <c:v>1854</c:v>
                </c:pt>
                <c:pt idx="5">
                  <c:v>2203</c:v>
                </c:pt>
                <c:pt idx="6">
                  <c:v>2732</c:v>
                </c:pt>
                <c:pt idx="7">
                  <c:v>3080</c:v>
                </c:pt>
                <c:pt idx="8">
                  <c:v>3243</c:v>
                </c:pt>
                <c:pt idx="9">
                  <c:v>6048</c:v>
                </c:pt>
                <c:pt idx="10">
                  <c:v>6958</c:v>
                </c:pt>
              </c:numCache>
            </c:numRef>
          </c:val>
        </c:ser>
        <c:dLbls>
          <c:numFmt formatCode="#,##0" sourceLinked="0"/>
          <c:txPr>
            <a:bodyPr wrap="none"/>
            <a:lstStyle/>
            <a:p>
              <a:pPr>
                <a:defRPr b="0" i="0" strike="noStrike" sz="123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23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7900"/>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0" sourceLinked="0"/>
            <c:txPr>
              <a:bodyPr wrap="none"/>
              <a:lstStyle/>
              <a:p>
                <a:pPr>
                  <a:defRPr b="0" i="0" strike="noStrike" sz="1230" u="none">
                    <a:solidFill>
                      <a:srgbClr val="24282C"/>
                    </a:solidFill>
                    <a:latin typeface="Arial"/>
                  </a:defRPr>
                </a:pPr>
              </a:p>
            </c:txPr>
            <c:showLegendKey val="0"/>
            <c:showVal val="1"/>
            <c:showCatName val="0"/>
            <c:showSerName val="0"/>
            <c:showPercent val="0"/>
            <c:showBubbleSize val="0"/>
            <c:showLeaderLines val="0"/>
          </c:dLbls>
          <c:cat>
            <c:multiLvlStrRef>
              <c:f>Sheet1!$A$2:$A$12</c:f>
              <c:multiLvlStrCache>
                <c:ptCount val="11"/>
                <c:lvl>
                  <c:pt idx="0">
                    <c:v>Other markets</c:v>
                  </c:pt>
                  <c:pt idx="1">
                    <c:v>Sweden</c:v>
                  </c:pt>
                  <c:pt idx="2">
                    <c:v>I Motors</c:v>
                  </c:pt>
                  <c:pt idx="3">
                    <c:v>RSA</c:v>
                  </c:pt>
                  <c:pt idx="4">
                    <c:v>Ireland</c:v>
                  </c:pt>
                  <c:pt idx="5">
                    <c:v>UTI</c:v>
                  </c:pt>
                  <c:pt idx="6">
                    <c:v>IBX</c:v>
                  </c:pt>
                  <c:pt idx="7">
                    <c:v>UMI</c:v>
                  </c:pt>
                  <c:pt idx="8">
                    <c:v>ISD</c:v>
                  </c:pt>
                  <c:pt idx="9">
                    <c:v>IUK</c:v>
                  </c:pt>
                  <c:pt idx="10">
                    <c:v>ITUK</c:v>
                  </c:pt>
                </c:lvl>
              </c:multiLvlStrCache>
            </c:multiLvlStrRef>
          </c:cat>
          <c:val>
            <c:numRef>
              <c:f>Sheet1!$B$2:$B$12</c:f>
              <c:numCache>
                <c:formatCode>General</c:formatCode>
                <c:ptCount val="11"/>
                <c:pt idx="0">
                  <c:v>94.566</c:v>
                </c:pt>
                <c:pt idx="1">
                  <c:v>61.899</c:v>
                </c:pt>
                <c:pt idx="2">
                  <c:v>69.435</c:v>
                </c:pt>
                <c:pt idx="3">
                  <c:v>74.968</c:v>
                </c:pt>
                <c:pt idx="4">
                  <c:v>77.007</c:v>
                </c:pt>
                <c:pt idx="5">
                  <c:v>93.392</c:v>
                </c:pt>
                <c:pt idx="6">
                  <c:v>111.906</c:v>
                </c:pt>
                <c:pt idx="7">
                  <c:v>126.716</c:v>
                </c:pt>
                <c:pt idx="8">
                  <c:v>136.041</c:v>
                </c:pt>
                <c:pt idx="9">
                  <c:v>143.185</c:v>
                </c:pt>
                <c:pt idx="10">
                  <c:v>474.691</c:v>
                </c:pt>
              </c:numCache>
            </c:numRef>
          </c:val>
        </c:ser>
        <c:dLbls>
          <c:numFmt formatCode="0.0" sourceLinked="0"/>
          <c:txPr>
            <a:bodyPr wrap="none"/>
            <a:lstStyle/>
            <a:p>
              <a:pPr>
                <a:defRPr b="0" i="0" strike="noStrike" sz="123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23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540"/>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00&quot; K€ decline&quot;" sourceLinked="0"/>
            <c:txPr>
              <a:bodyPr wrap="none"/>
              <a:lstStyle/>
              <a:p>
                <a:pPr>
                  <a:defRPr b="0" i="0" strike="noStrike" sz="1400" u="none">
                    <a:solidFill>
                      <a:srgbClr val="24282C"/>
                    </a:solidFill>
                    <a:latin typeface="Arial"/>
                  </a:defRPr>
                </a:pPr>
              </a:p>
            </c:txPr>
            <c:dLblPos val="outEnd"/>
            <c:showLegendKey val="0"/>
            <c:showVal val="1"/>
            <c:showCatName val="0"/>
            <c:showSerName val="0"/>
            <c:showPercent val="0"/>
            <c:showBubbleSize val="0"/>
            <c:showLeaderLines val="0"/>
          </c:dLbls>
          <c:cat>
            <c:multiLvlStrRef>
              <c:f>Sheet1!$A$2:$A$4</c:f>
              <c:multiLvlStrCache>
                <c:ptCount val="3"/>
                <c:lvl>
                  <c:pt idx="0">
                    <c:v>Brake shoes</c:v>
                  </c:pt>
                  <c:pt idx="1">
                    <c:v>Brake rotors</c:v>
                  </c:pt>
                  <c:pt idx="2">
                    <c:v>Brake pads</c:v>
                  </c:pt>
                </c:lvl>
              </c:multiLvlStrCache>
            </c:multiLvlStrRef>
          </c:cat>
          <c:val>
            <c:numRef>
              <c:f>Sheet1!$B$2:$B$4</c:f>
              <c:numCache>
                <c:formatCode>General</c:formatCode>
                <c:ptCount val="3"/>
                <c:pt idx="0">
                  <c:v>0.78496</c:v>
                </c:pt>
                <c:pt idx="1">
                  <c:v>1.26048</c:v>
                </c:pt>
                <c:pt idx="2">
                  <c:v>45.02333</c:v>
                </c:pt>
              </c:numCache>
            </c:numRef>
          </c:val>
        </c:ser>
        <c:dLbls>
          <c:numFmt formatCode="0.00&quot; K€ decline&quot;" sourceLinked="0"/>
          <c:txPr>
            <a:bodyPr wrap="none"/>
            <a:lstStyle/>
            <a:p>
              <a:pPr>
                <a:defRPr b="0" i="0" strike="noStrike" sz="1400" u="none">
                  <a:solidFill>
                    <a:srgbClr val="24282C"/>
                  </a:solidFill>
                  <a:latin typeface="Arial"/>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60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Germany</c:v>
                </c:pt>
              </c:strCache>
            </c:strRef>
          </c:tx>
          <c:spPr>
            <a:solidFill>
              <a:srgbClr val="E30613"/>
            </a:solidFill>
            <a:ln w="30480" cap="flat">
              <a:solidFill>
                <a:srgbClr val="E30613"/>
              </a:solidFill>
              <a:prstDash val="solid"/>
              <a:round/>
            </a:ln>
            <a:effectLst/>
          </c:spPr>
          <c:invertIfNegative val="0"/>
          <c:dLbls>
            <c:numFmt formatCode="0.0&quot;%&quot;" sourceLinked="0"/>
            <c:txPr>
              <a:bodyPr wrap="none"/>
              <a:lstStyle/>
              <a:p>
                <a:pPr>
                  <a:defRPr b="0" i="0" strike="noStrike" sz="1500" u="none">
                    <a:solidFill>
                      <a:srgbClr val="24282C"/>
                    </a:solidFill>
                    <a:latin typeface="Arial"/>
                  </a:defRPr>
                </a:pPr>
              </a:p>
            </c:txPr>
            <c:dLblPos val="t"/>
            <c:showLegendKey val="0"/>
            <c:showVal val="1"/>
            <c:showCatName val="0"/>
            <c:showSerName val="0"/>
            <c:showPercent val="0"/>
            <c:showBubbleSize val="0"/>
            <c:showLeaderLines val="0"/>
          </c:dLbls>
          <c:marker>
            <c:symbol val="circle"/>
            <c:size val="6"/>
            <c:spPr>
              <a:solidFill>
                <a:srgbClr val="E30613"/>
              </a:solidFill>
              <a:ln w="9525" cap="flat">
                <a:solidFill>
                  <a:srgbClr val="E30613"/>
                </a:solidFill>
                <a:prstDash val="solid"/>
                <a:round/>
              </a:ln>
              <a:effectLst/>
            </c:spPr>
          </c:marker>
          <c:cat>
            <c:multiLvlStrRef>
              <c:f>Sheet1!$A$2:$A$4</c:f>
              <c:multiLvlStrCache>
                <c:ptCount val="3"/>
                <c:lvl>
                  <c:pt idx="0">
                    <c:v>2023/24</c:v>
                  </c:pt>
                  <c:pt idx="1">
                    <c:v>2024/25</c:v>
                  </c:pt>
                  <c:pt idx="2">
                    <c:v>2025/26</c:v>
                  </c:pt>
                </c:lvl>
              </c:multiLvlStrCache>
            </c:multiLvlStrRef>
          </c:cat>
          <c:val>
            <c:numRef>
              <c:f>Sheet1!$B$2:$B$4</c:f>
              <c:numCache>
                <c:formatCode>General</c:formatCode>
                <c:ptCount val="3"/>
                <c:pt idx="0">
                  <c:v>34.3</c:v>
                </c:pt>
                <c:pt idx="1">
                  <c:v>38.6</c:v>
                </c:pt>
                <c:pt idx="2">
                  <c:v>8.5</c:v>
                </c:pt>
              </c:numCache>
            </c:numRef>
          </c:val>
          <c:smooth val="0"/>
        </c:ser>
        <c:ser>
          <c:idx val="1"/>
          <c:order val="1"/>
          <c:tx>
            <c:strRef>
              <c:f>Sheet1!$C$1</c:f>
              <c:strCache>
                <c:ptCount val="1"/>
                <c:pt idx="0">
                  <c:v>Network</c:v>
                </c:pt>
              </c:strCache>
            </c:strRef>
          </c:tx>
          <c:spPr>
            <a:solidFill>
              <a:srgbClr val="24282C"/>
            </a:solidFill>
            <a:ln w="30480" cap="flat">
              <a:solidFill>
                <a:srgbClr val="24282C"/>
              </a:solidFill>
              <a:prstDash val="solid"/>
              <a:round/>
            </a:ln>
            <a:effectLst/>
          </c:spPr>
          <c:invertIfNegative val="0"/>
          <c:dLbls>
            <c:numFmt formatCode="0.0&quot;%&quot;" sourceLinked="0"/>
            <c:txPr>
              <a:bodyPr wrap="none"/>
              <a:lstStyle/>
              <a:p>
                <a:pPr>
                  <a:defRPr b="0" i="0" strike="noStrike" sz="1500" u="none">
                    <a:solidFill>
                      <a:srgbClr val="24282C"/>
                    </a:solidFill>
                    <a:latin typeface="Arial"/>
                  </a:defRPr>
                </a:pPr>
              </a:p>
            </c:txPr>
            <c:dLblPos val="t"/>
            <c:showLegendKey val="0"/>
            <c:showVal val="1"/>
            <c:showCatName val="0"/>
            <c:showSerName val="0"/>
            <c:showPercent val="0"/>
            <c:showBubbleSize val="0"/>
            <c:showLeaderLines val="0"/>
          </c:dLbls>
          <c:marker>
            <c:symbol val="circle"/>
            <c:size val="6"/>
            <c:spPr>
              <a:solidFill>
                <a:srgbClr val="24282C"/>
              </a:solidFill>
              <a:ln w="9525" cap="flat">
                <a:solidFill>
                  <a:srgbClr val="24282C"/>
                </a:solidFill>
                <a:prstDash val="solid"/>
                <a:round/>
              </a:ln>
              <a:effectLst/>
            </c:spPr>
          </c:marker>
          <c:cat>
            <c:multiLvlStrRef>
              <c:f>Sheet1!$A$2:$A$4</c:f>
              <c:multiLvlStrCache>
                <c:ptCount val="3"/>
                <c:lvl>
                  <c:pt idx="0">
                    <c:v>2023/24</c:v>
                  </c:pt>
                  <c:pt idx="1">
                    <c:v>2024/25</c:v>
                  </c:pt>
                  <c:pt idx="2">
                    <c:v>2025/26</c:v>
                  </c:pt>
                </c:lvl>
              </c:multiLvlStrCache>
            </c:multiLvlStrRef>
          </c:cat>
          <c:val>
            <c:numRef>
              <c:f>Sheet1!$C$2:$C$4</c:f>
              <c:numCache>
                <c:formatCode>General</c:formatCode>
                <c:ptCount val="3"/>
                <c:pt idx="0">
                  <c:v>47.9</c:v>
                </c:pt>
                <c:pt idx="1">
                  <c:v>47.2</c:v>
                </c:pt>
                <c:pt idx="2">
                  <c:v>49.2</c:v>
                </c:pt>
              </c:numCache>
            </c:numRef>
          </c:val>
          <c:smooth val="0"/>
        </c:ser>
        <c:dLbls>
          <c:numFmt formatCode="0.0&quot;%&quot;" sourceLinked="0"/>
          <c:txPr>
            <a:bodyPr wrap="none"/>
            <a:lstStyle/>
            <a:p>
              <a:pPr>
                <a:defRPr b="0" i="0" strike="noStrike" sz="1500" u="none">
                  <a:solidFill>
                    <a:srgbClr val="24282C"/>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30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60"/>
          <c:min val="0"/>
        </c:scaling>
        <c:delete val="0"/>
        <c:axPos val="l"/>
        <c:numFmt formatCode="General" sourceLinked="0"/>
        <c:majorTickMark val="out"/>
        <c:minorTickMark val="none"/>
        <c:tickLblPos val="none"/>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legend>
      <c:legendPos val="b"/>
      <c:overlay val="0"/>
      <c:txPr>
        <a:bodyPr/>
        <a:lstStyle/>
        <a:p>
          <a:pPr>
            <a:defRPr sz="1250">
              <a:latin typeface="Arial"/>
              <a:cs typeface="Arial"/>
            </a:defRPr>
          </a:pPr>
          <a:endParaRPr lang="en-US"/>
        </a:p>
      </c:txPr>
    </c:legend>
    <c:plotVisOnly val="1"/>
    <c:dispBlanksAs val="span"/>
  </c:chart>
  <c:spPr>
    <a:solidFill>
      <a:srgbClr val="F5F4F1"/>
    </a:solidFill>
    <a:ln w="12700" cap="flat">
      <a:solidFill>
        <a:srgbClr val="F5F4F1"/>
      </a:solid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quot; fewer units&quot;" sourceLinked="0"/>
            <c:txPr>
              <a:bodyPr wrap="none"/>
              <a:lstStyle/>
              <a:p>
                <a:pPr>
                  <a:defRPr b="0" i="0" strike="noStrike" sz="1300" u="none">
                    <a:solidFill>
                      <a:srgbClr val="24282C"/>
                    </a:solidFill>
                    <a:latin typeface="Arial"/>
                  </a:defRPr>
                </a:pPr>
              </a:p>
            </c:txPr>
            <c:dLblPos val="outEnd"/>
            <c:showLegendKey val="0"/>
            <c:showVal val="1"/>
            <c:showCatName val="0"/>
            <c:showSerName val="0"/>
            <c:showPercent val="0"/>
            <c:showBubbleSize val="0"/>
            <c:showLeaderLines val="0"/>
          </c:dLbls>
          <c:cat>
            <c:multiLvlStrRef>
              <c:f>Sheet1!$A$2:$A$7</c:f>
              <c:multiLvlStrCache>
                <c:ptCount val="6"/>
                <c:lvl>
                  <c:pt idx="0">
                    <c:v>Bushing</c:v>
                  </c:pt>
                  <c:pt idx="1">
                    <c:v>Air filter</c:v>
                  </c:pt>
                  <c:pt idx="2">
                    <c:v>Wheel pin</c:v>
                  </c:pt>
                  <c:pt idx="3">
                    <c:v>Blower filter</c:v>
                  </c:pt>
                  <c:pt idx="4">
                    <c:v>Oil filter</c:v>
                  </c:pt>
                  <c:pt idx="5">
                    <c:v>Fuel filter</c:v>
                  </c:pt>
                </c:lvl>
              </c:multiLvlStrCache>
            </c:multiLvlStrRef>
          </c:cat>
          <c:val>
            <c:numRef>
              <c:f>Sheet1!$B$2:$B$7</c:f>
              <c:numCache>
                <c:formatCode>General</c:formatCode>
                <c:ptCount val="6"/>
                <c:pt idx="0">
                  <c:v>161</c:v>
                </c:pt>
                <c:pt idx="1">
                  <c:v>797</c:v>
                </c:pt>
                <c:pt idx="2">
                  <c:v>876</c:v>
                </c:pt>
                <c:pt idx="3">
                  <c:v>2343</c:v>
                </c:pt>
                <c:pt idx="4">
                  <c:v>2565</c:v>
                </c:pt>
                <c:pt idx="5">
                  <c:v>9157</c:v>
                </c:pt>
              </c:numCache>
            </c:numRef>
          </c:val>
        </c:ser>
        <c:dLbls>
          <c:numFmt formatCode="#,##0&quot; fewer units&quot;" sourceLinked="0"/>
          <c:txPr>
            <a:bodyPr wrap="none"/>
            <a:lstStyle/>
            <a:p>
              <a:pPr>
                <a:defRPr b="0" i="0" strike="noStrike" sz="1300" u="none">
                  <a:solidFill>
                    <a:srgbClr val="24282C"/>
                  </a:solidFill>
                  <a:latin typeface="Arial"/>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35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14000"/>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E30613">
                <a:alpha val="100000"/>
              </a:srgbClr>
            </a:solidFill>
            <a:effectLst/>
          </c:spPr>
          <c:invertIfNegative val="0"/>
          <c:dLbls>
            <c:numFmt formatCode="0.0&quot;%&quot;" sourceLinked="0"/>
            <c:txPr>
              <a:bodyPr wrap="none"/>
              <a:lstStyle/>
              <a:p>
                <a:pPr>
                  <a:defRPr b="0" i="0" strike="noStrike" sz="1260" u="none">
                    <a:solidFill>
                      <a:srgbClr val="24282C"/>
                    </a:solidFill>
                    <a:latin typeface="Arial"/>
                  </a:defRPr>
                </a:pPr>
              </a:p>
            </c:txPr>
            <c:showLegendKey val="0"/>
            <c:showVal val="1"/>
            <c:showCatName val="0"/>
            <c:showSerName val="0"/>
            <c:showPercent val="0"/>
            <c:showBubbleSize val="0"/>
            <c:showLeaderLines val="0"/>
          </c:dLbls>
          <c:cat>
            <c:multiLvlStrRef>
              <c:f>Sheet1!$A$2:$A$11</c:f>
              <c:multiLvlStrCache>
                <c:ptCount val="10"/>
                <c:lvl>
                  <c:pt idx="0">
                    <c:v>Petros Petropoulos</c:v>
                  </c:pt>
                  <c:pt idx="1">
                    <c:v>Isuzu Polska</c:v>
                  </c:pt>
                  <c:pt idx="2">
                    <c:v>IBX (BENELUX)</c:v>
                  </c:pt>
                  <c:pt idx="3">
                    <c:v>I Motors</c:v>
                  </c:pt>
                  <c:pt idx="4">
                    <c:v>IMF</c:v>
                  </c:pt>
                  <c:pt idx="5">
                    <c:v>GasanZammit</c:v>
                  </c:pt>
                  <c:pt idx="6">
                    <c:v>KIMA</c:v>
                  </c:pt>
                  <c:pt idx="7">
                    <c:v>UTI</c:v>
                  </c:pt>
                  <c:pt idx="8">
                    <c:v>IUK</c:v>
                  </c:pt>
                  <c:pt idx="9">
                    <c:v>BL ehf</c:v>
                  </c:pt>
                </c:lvl>
              </c:multiLvlStrCache>
            </c:multiLvlStrRef>
          </c:cat>
          <c:val>
            <c:numRef>
              <c:f>Sheet1!$B$2:$B$11</c:f>
              <c:numCache>
                <c:formatCode>General</c:formatCode>
                <c:ptCount val="10"/>
                <c:pt idx="0">
                  <c:v>60</c:v>
                </c:pt>
                <c:pt idx="1">
                  <c:v>82</c:v>
                </c:pt>
                <c:pt idx="2">
                  <c:v>82</c:v>
                </c:pt>
                <c:pt idx="3">
                  <c:v>84</c:v>
                </c:pt>
                <c:pt idx="4">
                  <c:v>87</c:v>
                </c:pt>
                <c:pt idx="5">
                  <c:v>89</c:v>
                </c:pt>
                <c:pt idx="6">
                  <c:v>90</c:v>
                </c:pt>
                <c:pt idx="7">
                  <c:v>93</c:v>
                </c:pt>
                <c:pt idx="8">
                  <c:v>93</c:v>
                </c:pt>
                <c:pt idx="9">
                  <c:v>93</c:v>
                </c:pt>
              </c:numCache>
            </c:numRef>
          </c:val>
        </c:ser>
        <c:dLbls>
          <c:numFmt formatCode="0.0&quot;%&quot;" sourceLinked="0"/>
          <c:txPr>
            <a:bodyPr wrap="none"/>
            <a:lstStyle/>
            <a:p>
              <a:pPr>
                <a:defRPr b="0" i="0" strike="noStrike" sz="126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26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104"/>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quot; days&quot;" sourceLinked="0"/>
            <c:txPr>
              <a:bodyPr wrap="none"/>
              <a:lstStyle/>
              <a:p>
                <a:pPr>
                  <a:defRPr b="0" i="0" strike="noStrike" sz="1500" u="none">
                    <a:solidFill>
                      <a:srgbClr val="24282C"/>
                    </a:solidFill>
                    <a:latin typeface="Arial"/>
                  </a:defRPr>
                </a:pPr>
              </a:p>
            </c:txPr>
            <c:showLegendKey val="0"/>
            <c:showVal val="1"/>
            <c:showCatName val="0"/>
            <c:showSerName val="0"/>
            <c:showPercent val="0"/>
            <c:showBubbleSize val="0"/>
            <c:showLeaderLines val="0"/>
          </c:dLbls>
          <c:cat>
            <c:multiLvlStrRef>
              <c:f>Sheet1!$A$2:$A$7</c:f>
              <c:multiLvlStrCache>
                <c:ptCount val="6"/>
                <c:lvl>
                  <c:pt idx="0">
                    <c:v>IMF</c:v>
                  </c:pt>
                  <c:pt idx="1">
                    <c:v>IBX (BENELUX)</c:v>
                  </c:pt>
                  <c:pt idx="2">
                    <c:v>ITUK</c:v>
                  </c:pt>
                  <c:pt idx="3">
                    <c:v>ISD</c:v>
                  </c:pt>
                  <c:pt idx="4">
                    <c:v>UTI</c:v>
                  </c:pt>
                  <c:pt idx="5">
                    <c:v>MIDI</c:v>
                  </c:pt>
                </c:lvl>
              </c:multiLvlStrCache>
            </c:multiLvlStrRef>
          </c:cat>
          <c:val>
            <c:numRef>
              <c:f>Sheet1!$B$2:$B$7</c:f>
              <c:numCache>
                <c:formatCode>General</c:formatCode>
                <c:ptCount val="6"/>
                <c:pt idx="0">
                  <c:v>32</c:v>
                </c:pt>
                <c:pt idx="1">
                  <c:v>63</c:v>
                </c:pt>
                <c:pt idx="2">
                  <c:v>121</c:v>
                </c:pt>
                <c:pt idx="3">
                  <c:v>126</c:v>
                </c:pt>
                <c:pt idx="4">
                  <c:v>151</c:v>
                </c:pt>
                <c:pt idx="5">
                  <c:v>322</c:v>
                </c:pt>
              </c:numCache>
            </c:numRef>
          </c:val>
        </c:ser>
        <c:dLbls>
          <c:numFmt formatCode="0&quot; days&quot;" sourceLinked="0"/>
          <c:txPr>
            <a:bodyPr wrap="none"/>
            <a:lstStyle/>
            <a:p>
              <a:pPr>
                <a:defRPr b="0" i="0" strike="noStrike" sz="150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50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365"/>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 sourceLinked="0"/>
            <c:txPr>
              <a:bodyPr wrap="none"/>
              <a:lstStyle/>
              <a:p>
                <a:pPr>
                  <a:defRPr b="0" i="0" strike="noStrike" sz="1250" u="none">
                    <a:solidFill>
                      <a:srgbClr val="24282C"/>
                    </a:solidFill>
                    <a:latin typeface="Arial"/>
                  </a:defRPr>
                </a:pPr>
              </a:p>
            </c:txPr>
            <c:showLegendKey val="0"/>
            <c:showVal val="1"/>
            <c:showCatName val="0"/>
            <c:showSerName val="0"/>
            <c:showPercent val="0"/>
            <c:showBubbleSize val="0"/>
            <c:showLeaderLines val="0"/>
          </c:dLbls>
          <c:cat>
            <c:multiLvlStrRef>
              <c:f>Sheet1!$A$2:$A$11</c:f>
              <c:multiLvlStrCache>
                <c:ptCount val="10"/>
                <c:lvl>
                  <c:pt idx="0">
                    <c:v>Clutch Booster</c:v>
                  </c:pt>
                  <c:pt idx="1">
                    <c:v>Urea (AdBlue) Filter</c:v>
                  </c:pt>
                  <c:pt idx="2">
                    <c:v>Clutch Kit</c:v>
                  </c:pt>
                  <c:pt idx="3">
                    <c:v>Fuel Filter</c:v>
                  </c:pt>
                  <c:pt idx="4">
                    <c:v>Brake Rotor</c:v>
                  </c:pt>
                  <c:pt idx="5">
                    <c:v>Blower Unit Filter</c:v>
                  </c:pt>
                  <c:pt idx="6">
                    <c:v>Clutch Pressure Plate</c:v>
                  </c:pt>
                  <c:pt idx="7">
                    <c:v>Brake Shoe</c:v>
                  </c:pt>
                  <c:pt idx="8">
                    <c:v>Brake Pad</c:v>
                  </c:pt>
                  <c:pt idx="9">
                    <c:v>Clutch Disc</c:v>
                  </c:pt>
                </c:lvl>
              </c:multiLvlStrCache>
            </c:multiLvlStrRef>
          </c:cat>
          <c:val>
            <c:numRef>
              <c:f>Sheet1!$B$2:$B$11</c:f>
              <c:numCache>
                <c:formatCode>General</c:formatCode>
                <c:ptCount val="10"/>
                <c:pt idx="0">
                  <c:v>701</c:v>
                </c:pt>
                <c:pt idx="1">
                  <c:v>916</c:v>
                </c:pt>
                <c:pt idx="2">
                  <c:v>958</c:v>
                </c:pt>
                <c:pt idx="3">
                  <c:v>1018</c:v>
                </c:pt>
                <c:pt idx="4">
                  <c:v>1394</c:v>
                </c:pt>
                <c:pt idx="5">
                  <c:v>1422</c:v>
                </c:pt>
                <c:pt idx="6">
                  <c:v>1983</c:v>
                </c:pt>
                <c:pt idx="7">
                  <c:v>2470</c:v>
                </c:pt>
                <c:pt idx="8">
                  <c:v>2780</c:v>
                </c:pt>
                <c:pt idx="9">
                  <c:v>3143</c:v>
                </c:pt>
              </c:numCache>
            </c:numRef>
          </c:val>
        </c:ser>
        <c:dLbls>
          <c:numFmt formatCode="#,##0" sourceLinked="0"/>
          <c:txPr>
            <a:bodyPr wrap="none"/>
            <a:lstStyle/>
            <a:p>
              <a:pPr>
                <a:defRPr b="0" i="0" strike="noStrike" sz="125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25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3620"/>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 sourceLinked="0"/>
            <c:txPr>
              <a:bodyPr wrap="none"/>
              <a:lstStyle/>
              <a:p>
                <a:pPr>
                  <a:defRPr b="0" i="0" strike="noStrike" sz="1320" u="none">
                    <a:solidFill>
                      <a:srgbClr val="24282C"/>
                    </a:solidFill>
                    <a:latin typeface="Arial"/>
                  </a:defRPr>
                </a:pPr>
              </a:p>
            </c:txPr>
            <c:showLegendKey val="0"/>
            <c:showVal val="1"/>
            <c:showCatName val="0"/>
            <c:showSerName val="0"/>
            <c:showPercent val="0"/>
            <c:showBubbleSize val="0"/>
            <c:showLeaderLines val="0"/>
          </c:dLbls>
          <c:cat>
            <c:multiLvlStrRef>
              <c:f>Sheet1!$A$2:$A$9</c:f>
              <c:multiLvlStrCache>
                <c:ptCount val="8"/>
                <c:lvl>
                  <c:pt idx="0">
                    <c:v>Brake Pad</c:v>
                  </c:pt>
                  <c:pt idx="1">
                    <c:v>Release Bearing</c:v>
                  </c:pt>
                  <c:pt idx="2">
                    <c:v>Clutch Kit</c:v>
                  </c:pt>
                  <c:pt idx="3">
                    <c:v>Clutch Booster</c:v>
                  </c:pt>
                  <c:pt idx="4">
                    <c:v>Clutch Pressure Plate</c:v>
                  </c:pt>
                  <c:pt idx="5">
                    <c:v>Clutch Disc</c:v>
                  </c:pt>
                  <c:pt idx="6">
                    <c:v>Brake Shoe</c:v>
                  </c:pt>
                  <c:pt idx="7">
                    <c:v>Urea (AdBlue) Filter</c:v>
                  </c:pt>
                </c:lvl>
              </c:multiLvlStrCache>
            </c:multiLvlStrRef>
          </c:cat>
          <c:val>
            <c:numRef>
              <c:f>Sheet1!$B$2:$B$9</c:f>
              <c:numCache>
                <c:formatCode>General</c:formatCode>
                <c:ptCount val="8"/>
                <c:pt idx="0">
                  <c:v>10</c:v>
                </c:pt>
                <c:pt idx="1">
                  <c:v>37</c:v>
                </c:pt>
                <c:pt idx="2">
                  <c:v>96</c:v>
                </c:pt>
                <c:pt idx="3">
                  <c:v>160</c:v>
                </c:pt>
                <c:pt idx="4">
                  <c:v>160</c:v>
                </c:pt>
                <c:pt idx="5">
                  <c:v>174</c:v>
                </c:pt>
                <c:pt idx="6">
                  <c:v>200</c:v>
                </c:pt>
                <c:pt idx="7">
                  <c:v>335</c:v>
                </c:pt>
              </c:numCache>
            </c:numRef>
          </c:val>
        </c:ser>
        <c:dLbls>
          <c:numFmt formatCode="#,##0" sourceLinked="0"/>
          <c:txPr>
            <a:bodyPr wrap="none"/>
            <a:lstStyle/>
            <a:p>
              <a:pPr>
                <a:defRPr b="0" i="0" strike="noStrike" sz="132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32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389"/>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2"/>
          <c:w val="0.88"/>
          <c:h val="0.94"/>
        </c:manualLayout>
      </c:layout>
      <c:barChart>
        <c:barDir val="bar"/>
        <c:grouping val="clustered"/>
        <c:varyColors val="0"/>
        <c:ser>
          <c:idx val="0"/>
          <c:order val="0"/>
          <c:tx>
            <c:strRef>
              <c:f>Sheet1!$B$1</c:f>
              <c:strCache>
                <c:ptCount val="1"/>
                <c:pt idx="0">
                  <c:v>Reported</c:v>
                </c:pt>
              </c:strCache>
            </c:strRef>
          </c:tx>
          <c:spPr>
            <a:solidFill>
              <a:srgbClr val="24282C">
                <a:alpha val="100000"/>
              </a:srgbClr>
            </a:solidFill>
            <a:effectLst/>
          </c:spPr>
          <c:invertIfNegative val="0"/>
          <c:dLbls>
            <c:numFmt formatCode="#,##0" sourceLinked="0"/>
            <c:txPr>
              <a:bodyPr wrap="none"/>
              <a:lstStyle/>
              <a:p>
                <a:pPr>
                  <a:defRPr b="0" i="0" strike="noStrike" sz="1240" u="none">
                    <a:solidFill>
                      <a:srgbClr val="24282C"/>
                    </a:solidFill>
                    <a:latin typeface="Arial"/>
                  </a:defRPr>
                </a:pPr>
              </a:p>
            </c:txPr>
            <c:showLegendKey val="0"/>
            <c:showVal val="1"/>
            <c:showCatName val="0"/>
            <c:showSerName val="0"/>
            <c:showPercent val="0"/>
            <c:showBubbleSize val="0"/>
            <c:showLeaderLines val="0"/>
          </c:dLbls>
          <c:cat>
            <c:multiLvlStrRef>
              <c:f>Sheet1!$A$2:$A$11</c:f>
              <c:multiLvlStrCache>
                <c:ptCount val="10"/>
                <c:lvl>
                  <c:pt idx="0">
                    <c:v>Belgium</c:v>
                  </c:pt>
                  <c:pt idx="1">
                    <c:v>Hungary</c:v>
                  </c:pt>
                  <c:pt idx="2">
                    <c:v>Portugal</c:v>
                  </c:pt>
                  <c:pt idx="3">
                    <c:v>Sweden</c:v>
                  </c:pt>
                  <c:pt idx="4">
                    <c:v>UTI (Israel)</c:v>
                  </c:pt>
                  <c:pt idx="5">
                    <c:v>Germany</c:v>
                  </c:pt>
                  <c:pt idx="6">
                    <c:v>Norway</c:v>
                  </c:pt>
                  <c:pt idx="7">
                    <c:v>ITUK</c:v>
                  </c:pt>
                  <c:pt idx="8">
                    <c:v>IUK</c:v>
                  </c:pt>
                  <c:pt idx="9">
                    <c:v>UMI (Israel)</c:v>
                  </c:pt>
                </c:lvl>
              </c:multiLvlStrCache>
            </c:multiLvlStrRef>
          </c:cat>
          <c:val>
            <c:numRef>
              <c:f>Sheet1!$B$2:$B$11</c:f>
              <c:numCache>
                <c:formatCode>General</c:formatCode>
                <c:ptCount val="10"/>
                <c:pt idx="0">
                  <c:v>75</c:v>
                </c:pt>
                <c:pt idx="1">
                  <c:v>77</c:v>
                </c:pt>
                <c:pt idx="2">
                  <c:v>131</c:v>
                </c:pt>
                <c:pt idx="3">
                  <c:v>190</c:v>
                </c:pt>
                <c:pt idx="4">
                  <c:v>256</c:v>
                </c:pt>
                <c:pt idx="5">
                  <c:v>260</c:v>
                </c:pt>
                <c:pt idx="6">
                  <c:v>291</c:v>
                </c:pt>
                <c:pt idx="7">
                  <c:v>374</c:v>
                </c:pt>
                <c:pt idx="8">
                  <c:v>1054</c:v>
                </c:pt>
                <c:pt idx="9">
                  <c:v>1791</c:v>
                </c:pt>
              </c:numCache>
            </c:numRef>
          </c:val>
        </c:ser>
        <c:dLbls>
          <c:numFmt formatCode="#,##0" sourceLinked="0"/>
          <c:txPr>
            <a:bodyPr wrap="none"/>
            <a:lstStyle/>
            <a:p>
              <a:pPr>
                <a:defRPr b="0" i="0" strike="noStrike" sz="1240" u="none">
                  <a:solidFill>
                    <a:srgbClr val="2428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240" b="0" i="0" u="none" strike="noStrike">
                <a:solidFill>
                  <a:srgbClr val="24282C"/>
                </a:solidFill>
                <a:latin typeface="Arial"/>
              </a:defRPr>
            </a:pPr>
            <a:endParaRPr lang="en-US"/>
          </a:p>
        </c:txPr>
        <c:crossAx val="2094734552"/>
        <c:crosses val="autoZero"/>
        <c:auto val="1"/>
        <c:lblAlgn val="ctr"/>
        <c:noMultiLvlLbl val="1"/>
      </c:catAx>
      <c:valAx>
        <c:axId val="2094734552"/>
        <c:scaling>
          <c:orientation val="minMax"/>
          <c:max val="2070"/>
          <c:min val="0"/>
        </c:scaling>
        <c:delete val="0"/>
        <c:axPos val="b"/>
        <c:numFmt formatCode="General" sourceLinked="0"/>
        <c:majorTickMark val="none"/>
        <c:minorTickMark val="none"/>
        <c:tickLblPos val="none"/>
        <c:spPr>
          <a:ln w="12700" cap="flat">
            <a:noFill/>
            <a:prstDash val="solid"/>
            <a:round/>
          </a:ln>
        </c:spPr>
        <c:txPr>
          <a:bodyPr/>
          <a:lstStyle/>
          <a:p>
            <a:pPr>
              <a:defRPr sz="1050" b="0" i="0" u="none" strike="noStrike">
                <a:solidFill>
                  <a:srgbClr val="626B72"/>
                </a:solidFill>
                <a:latin typeface="Arial"/>
              </a:defRPr>
            </a:pPr>
            <a:endParaRPr lang="en-US"/>
          </a:p>
        </c:txPr>
        <c:crossAx val="2094734554"/>
        <c:crosses val="autoZero"/>
        <c:crossBetween val="between"/>
      </c:valAx>
      <c:spPr>
        <a:solidFill>
          <a:srgbClr val="F5F4F1"/>
        </a:solidFill>
        <a:ln w="12700" cap="flat">
          <a:solidFill>
            <a:srgbClr val="F5F4F1"/>
          </a:solidFill>
        </a:ln>
        <a:effectLst/>
      </c:spPr>
    </c:plotArea>
    <c:plotVisOnly val="1"/>
    <c:dispBlanksAs val="span"/>
  </c:chart>
  <c:spPr>
    <a:solidFill>
      <a:srgbClr val="F5F4F1"/>
    </a:solidFill>
    <a:ln w="12700" cap="flat">
      <a:solidFill>
        <a:srgbClr val="F5F4F1"/>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requested a redesign in the AIM presentation style and ideas for additional business content. This deck retains fiscal 2026 close, fiscal 2027 Q1, September MTD, service, service-demand modelling, Genuine/BVP, PRISM, IDS and warranty. Additional examples come from the supplied AIM presentation. The preparation date is not a data refresh date. Main discussion is slides 1-33; appendix is slides 34-45.
[Sources]
ISZE_Business_Performance_Review_2026.pptx, slides 1, 4 and 5. ISZE_AIM_Management_20_Slides_2026-09-21.pptx, slides 1 and 20.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FY2026 billing EUR32.58M; ITUK EUR6.958M and IUK EUR6.048M from the printed chart. Derived concentration: (6958+6048)/32580=39.9202%, rounded to about 40%. Original BPR page 6 says one fifth for the two combined; this arithmetic error is corrected explicitly in appendix slide 44. ITUK quantity change and urgent share are source-reported. The three proposed management priorities are editorial recommendations.
[Sources]
ISZE_Business_Performance_Review_2026.pptx, slides 4, 6, 14 and 26. ISZE_AIM_Management_20_Slides_2026-09-21.pptx, slides 11-13.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Fiscal labels follow the supplied BPR: FY2026 is April 2025-March 2026 and FY2027 Q1 is April-June 2026. September MTD is to 14 September 2026. No July/August closed billing or updated September figures were supplied. Service-demand models use their stated calendar/fiscal basis; latest KPI returns do not constitute a common current month.
[Sources]
ISZE_Business_Performance_Review_2026.pptx, slides 1, 4, 5, 8, 17-19.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Rebuilt chart uses the 11 printed distributor values in K EUR: [["ITUK",6958],["IUK",6048],["UTI (Israel)",3243],["UMI (Israel)",3080],["Germany",2732],["Belgium",2203],["Portugal",1854],["Norway",1654],["Sweden",1438],["Ireland",1145],["Greece",472]]. These are selected chart rows, not the full 18-distributor detail. FY network total remains EUR32.58M from the source. Combined share is 39.9202%; original wording one fifth was incorrect. No new market attribution was introduced; original country labels are retained where the chart used them.
[Sources]
ISZE_Business_Performance_Review_2026.pptx, slides 4 and 6, including the embedded fiscal-close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EUR35.28M/4=EUR8.82M; EUR8.82M-EUR8.14M=EUR0.68M. Original source used approximately EUR8.8M. Seasonal phasing and equivalent population have not been established, so no attainment or shortfall KPI is claimed. The source's approximately EUR108M parts target is on the distributor-to-dealer trailing-12-month basis, not this turnover BP; it is retained in the interpretation register.
[Sources]
ISZE_Business_Performance_Review_2026.pptx, slide 5.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slide 8 current-MTD printed values total EUR1,463,806. Rounded source headline EUR1.46M is retained. Against the printed EUR3.18M plan, arithmetic remainder is EUR1,716,194, shown as approximately EUR1.72M. All original current-MTD rows are preserved, reordered for legibility but the Other markets aggregate is left as an aggregate. Source slide 7 stacks current and prior values; that chart is not used to claim a quantitative YoY network growth rate. The directional account statements repeat the source narrative only, pending the daily report.
[Sources]
ISZE_Business_Performance_Review_2026.pptx, slides 7 and 8.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proposed analytical page. A like-for-like bridge should use stable part identities, common periods, matched references, net quantity and net price, explicit new/discontinued references, credits, currency where relevant, and contribution costs. Avoid adding heterogeneous part quantities as service events. Warranty requires a reconciled transaction-level link before subtraction from billing. No effects or financial benefits are fabricated.
[Sources]
ISZE_AIM_Management_20_Slides_2026-09-21.pptx, slide 10 and notes to slide 11. ISZE_Business_Performance_Review_2026.pptx, slides 38-39.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source values: CY2024 EUR347389.58, quantity4562; CY2025 EUR302366.25, quantity3402. Revenue change -12.960472%; quantity -25.427444%. This is the source brake_pad category, not a newly certified selection of the current AIM Brakes hierarchy. It does not prove competitor purchasing or a causal price issue. AIM's 22,389-truck spend-per-vehicle denominator is not used in this purchasing comparison.
[Sources]
ISZE_AIM_Management_20_Slides_2026-09-21.pptx, slide 11 and its speaker notes.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deltas in EUR: pads -45023.33; rotors -1260.48; shoes -784.96. Combined -47068.77. Pads account for 95.654359%, shown 95.7%. Chart plots magnitudes of declines as positive lengths, clearly labelled decline. No full-family or part-number causality is inferred.
[Sources]
ISZE_AIM_Management_20_Slides_2026-09-21.pptx, slide 12 and notes.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Germany paired-unit shares 34.3%,38.6%,8.5%; network47.9%,47.2%,49.2%. Derived year-on-year change for Germany:8.5-38.6=-30.1percentage points. The source calls these same-reference pairs; this is not an independent certification of technical interchangeability. This is purchasing mix, not aftermarket share.
[Sources]
ISZE_Business_Performance_Review_2026.pptx, slide 26 and its embedded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Printed decline magnitudes transcribed: fuel9157,oil2565,blower2343,air797,wheelpin876,bushing161. The brake-pad sign/label is not sufficiently clear in the source raster and is deliberately not rebuilt; this selection is identified as selected. The original text's almost entirely wording is not retained because the chart also shows material oil/blower movements. Neither stable Genuine volume nor a BVP decline identifies final-market demand, competitor purchases or a pricing cause.
[Sources]
ISZE_Business_Performance_Review_2026.pptx, slide 27 and embedded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source totals retained. CY2024 Genuine EUR2901.92/49 units; BVP EUR27057.95/413; combinedEUR29959.87/462. CY2025 GenuineEUR2057.86/47;BVPEUR29644.61/414;combinedEUR31702.47/461. Revenue+5.816447%; quantity-1. No contribution or switching result is asserted. Amounts are inherited reported source values.
[Sources]
ISZE_AIM_Management_20_Slides_2026-09-21.pptx, slide 13 and notes.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case triage, not an approved priority score. IBX fill82% is a latest-filed KPI with its date not supplied; Belgium urgent47% is fiscal2026. Country and distributor labels are as supplied; their relationship and aligned periods should be confirmed before combining into a single measured score. The two values are source signals, not a same-period causal relationship. IUK direction is source narrative rather than a rebuilt YoY amount.
[Sources]
ISZE_Business_Performance_Review_2026.pptx, slides 7,11,15,26,27. ISZE_AIM_Management_20_Slides_2026-09-21.pptx, slides11-13.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ten printed below-standard values retained. Count below92 is derived from the printed list:90,89,87,84,82,82,60 =7. Source says19/22 but also two markets never filed; these do not fully explain the three-row coverage difference. We preserve19/22 and require reconciliation, rather than treating the third as zero. No market dates are invented. Only Petros May2025 is explicit in the source text. At95% is at standard, not below it. All past KPI evidence is historical, not proof of current service failure.
[Sources]
ISZE_Business_Performance_Review_2026.pptx, slides10,11,12.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Selected chart values shown. Complete18-row inventory snapshot is retained in appendix35. Source bands:ClassA60-75days,ClassB75-90,ClassCsea90-120. Their account applicability and current approval are not provided, so no market is automatically labelled excessive or understocked based on a universal90-day threshold. No age/obsolescence conclusion can be inferred from total stock days alone.
[Sources]
ISZE_Business_Performance_Review_2026.pptx, slide13, with service context from slides10-15.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network mix:stock79.9%,urgent17.5%;residual100-79.9-17.5=2.6%. Source urgent label is VOR/RUSH; inclusion of every urgent order type is not established. The source simultaneously says100% usable order-code coverage and uses other/uncoded for residual, while market narrative says coding is uneven. This is retained as an unresolved definition/coverage issue, not silently reconciled. Shares measure ISZE-to-distributor billing, not dealer ordering behaviour directly.
[Sources]
ISZE_Business_Performance_Review_2026.pptx, slides14 and15.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proposed diagnostic sequence. These are questions and possible constraints, not proof of actual failures in a particular market. A monthly join would require aligned dates, validated account identity and range definitions. Commercial evidence may include verified equivalent-product quotations and applicable conditions; none is supplied in the two decks.
[Sources]
ISZE_Business_Performance_Review_2026.pptx, slides10-15. ISZE_AIM_Management_20_Slides_2026-09-21.pptx, slide18.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ceilingEUR60.22M,billedEUR30.76M,ratio51.1%. Arithmetic30.76/60.22=51.0794%;consistent after rounding. Reported gapEUR29.69M differs from60.22-30.76=EUR29.46M byEUR0.23M, greater than normal rounding to two decimals. Underlying population/exclusion reasons are not supplied, so no corrected gap is substituted. The source labels all gap addressable without supporting eligibility evidence; that conclusion is withheld. EUR18.22M is a separate service-family model output and must not be added to the ceiling gap.
[Sources]
ISZE_Business_Performance_Review_2026.pptx, slides17 and19.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Printed top10 in K EUR: [["Clutch Disc",3143],["Brake Pad",2780],["Brake Shoe",2470],["Clutch Pressure Plate",1983],["Blower Unit Filter",1422],["Brake Rotor",1394],["Fuel Filter",1018],["Clutch Kit",958],["Urea (AdBlue) Filter",916],["Clutch Booster",701]]. Source totalEUR18.22M and source aggregate unit cover28.4% are model outputs, not measured market share. Broad service-family assumptions, flat per-truck assumptions in some markets, applicability and kit overlap have not been revalidated. No sum of selected categories is presented as an incremental forecast.
[Sources]
ISZE_Business_Performance_Review_2026.pptx, slide19 and embedded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NorwayEUR1416552/7929=EUR178.65;SwedenEUR1278462/8443=EUR151.42, rounded to179and151. Rounded difference28EURpervehicle is a descriptive signal only. No perfectly matched fleet comparison or spend target is asserted. Full BPR source spend-per-truck listing appears in appendix37. Billing contains no vehicle end-use assignment in these slides, so this measure is not dealer servicing capture.
[Sources]
ISZE_AIM_Management_20_Slides_2026-09-21.pptx, slide15 and notes. ISZE_Business_Performance_Review_2026.pptx, slide18.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expected75337units on23068trucks;CY2025cover65.9%,gapEUR1.32M;FY2025/26cover73.3%,gapEUR1.17M. The windows overlap and are not a chronological sequence. The presentation does not infer improved underlying capture solely from the difference. The source cover is a ratio to a model, not competitor market share. The 22389fleet in AIMslide11 is on another spend-per-vehicle source basis and is not substituted.
[Sources]
ISZE_Business_Performance_Review_2026.pptx, slide21 and embedded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PrintedFY2025/26gapvalues in K EUR:[["Urea (AdBlue) Filter",335],["Brake Shoe",200],["Clutch Disc",174],["Clutch Pressure Plate",160],["Clutch Booster",160],["Clutch Kit",96],["Release Bearing",37],["Brake Pad",10]]. Sum of rounded printed lines1172K versus sourceheadline1.17M is ordinary display rounding. Original statement filters as a group largely captured must not obscure urea-filter gap. Price causality, recoverability and detailed applicability are not established.
[Sources]
ISZE_Business_Performance_Review_2026.pptx, slide22 and chart; slide23 for differing filter model results.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difference65.9-47.5=18.4percentagepoints. Source claims this is what the distributor holds and demand that did not reach the workshop; neither follows from these two rates. Required reconciliation: same period and part set; same quantity basis and denominator; dealer-file coverage; opening/closing stock; timing; returns; other sources of supply. Euro5.51M may be a valuation rather than realised selling-price revenue; the attached source does not settle this. Downstream dealer-to-end-customer demand remains unobserved.
[Sources]
ISZE_Business_Performance_Review_2026.pptx, slide24 and source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proposed pricing/SPA framework, not actual price recommendations. No PN-level current costs, net prices, equivalent competitor offers, terms or estimated demand elasticity are supplied in the two decks. A reduction in ISZE terms does not guarantee a downstream price reduction or demand response. Uplift is an option to review only with supporting evidence, not a recommendation for any named current case. Commercial contribution means net revenue less relevant variable costs on a defined scope.
[Sources]
ISZE_AIM_Management_20_Slides_2026-09-21.pptx, slides14 and18.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AssumeP0=100,C0=60,unitcontribution40;P1=90,C1=60,unitcontribution30. For baselinequantityQ0,break-evenQ1=Q0*(P0-C0)/(P1-C1)=1.333333*Q0. Requiredquantityincrease33.3333%. This preserves contribution before incremental fixed/programme costs, assuming constant cost per unit, comparable product mix and no cannibalisation. It is not a demand forecast. If incremental fixed supportF applies,requiredQ1=(Q0*(P0-C0)+F)/(P1-C1).
[Sources]
Illustrative arithmetic developed for this redesign; no actual ISZE cost or price data is used.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Terminology explicitly aligned with user-defined IDS process; source values are not recalculated. Printed countssum518. Overall74.8% is retained as source-reported but not independently recomputed from raw records. UKCVsectionrow is blank/hatched in source. IsraelLCVoverall60.9% and missingvehicle-salessection require confirmation of scoring/denominator comparability. Cohort/country labels do not establish dealer-to-distributor responsibility. Portugal16 and UKCV44 are not claimed as validated mapped commercial populations.
[Sources]
ISZE_Business_Performance_Review_2026.pptx, slides35-36 and embedded charts. User standing context: IDS is dealer self-assessment, not a distributor audit.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proposed minimum standard:monthlyperiod,stabledealeridentifier,PN,netqty,UOMorvalidatedquantitybasis,explicitcoverage,versionandcorrectionprocedure. Sellingpricesandmarginsarenotproposedmandatory. Eligibleaccountcomparison requires adequate accountcoverage. Missingdealerrows are unknown,notzero. Additionalinformation such asstockorVIN requires a separately agreed purpose and access boundary; no new incentive or mandatory data policy is created here.
[Sources]
ISZE_AIM_Management_20_Slides_2026-09-21.pptx, slides14,17,18. ISZE_Business_Performance_Review_2026.pptx, slides24,40. User project context on distributor participation informs the proposed optional data exchange, not an existing policy claim.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use proposed from supplied module descriptions, not a claim that all joins are deployed. AIM classifies product identity; it does not supply fleet applicability or service intervals by itself. PRISM numerical build snapshot is dated25August2026 in source. IDS self-assessment does not measure distributor performance or audit status. Any data join needsvalidateddealertodistributorownership,stablePN,scope,periodandcoverage. No ranking/composite score is calculated.
[Sources]
ISZE_AIM_Management_20_Slides_2026-09-21.pptx, slides3,17,18,19. ISZE_Business_Performance_Review_2026.pptx, slides33,34,35,36.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tenderactionlogfields:opportunityID,validateddistributorandowner,accountorfleetscopeandpermission,application,vehiclesandoperatingassumptions,timing,stage,servicebasketandfitmentevidence,supplyfeasibility,actualofferterms,contributionbefore/aftersupport,risks,nextactionanddate. No discount,awardprobability,winrate,TCOsavingorforecastisfabricated. Fleetservicebasketworkisbasedonvalidatedreplacementassumptionsandwholecomparableoffers,notgenericpartpricecomparisons.
[Sources]
New proposed extension requested by the user: consider what else to add. No tender pipeline data exists in the two supplied decks.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SourceEUR4.72M,14.6%,18networkrows are retained as reported,notindependentlyrecomputed. Printedtop10values inK EUR1791,1054,374,291,260,256,190,131,77,75. Other BPR analyses show different CY2025 billing populationsEUR30.76M,EUR33.13M,etc.; they cannot be used interchangeably for this ratio. Do not subtract unmatchedclaimvaluesfrombilling to labelthe remainder customer-paid. A risingwarrantysharealoneisnot a provedqualitytrend withoutfleet,claimtiming,andexposurecontrols.
[Sources]
ISZE_Business_Performance_Review_2026.pptx, slides38,39. User standing analytical rule: warranty records claims/defects/settlements, not scheduled maintenance.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Rolesandtimingarenotnamedpersonsorconfirmedagreements. Proposednextmonthlyreviewshouldrecordstatus,evidencecompletion,selectedreferences,agreedaction,startdateandmeasurementwindow. Successisbasedonappropriatefamily-specificrecordedquantities,repeatorders,matchedsales-to-dealerwhereavailable,availabilityandcontributionwithcontrolledscope. The actionlogdoesnotpresumea discount orcausalimprovement.
[Sources]
Editorially proposed operating action log based on the case evidence referenced in slides8-16.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ProposalusesactualITUKandPortugalrangeexamplesfromsuppliedAIM. The decks do notestablishidenticaldealerdataavailabilityacrosspilots. Wherevalidateddealer-leveldataisunavailable,retainnationalanalysisandmarkdealerquestionsunknown. Approvedpilotstartdate,resources,technicalintegrationandtargetoutcomesarenotsupplied. Nosavings/revenueprojectionisincluded.
[Sources]
New recommended90-dayoperatingsequence,notanapprovedschedule.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Proposedmanagementendorsementofreviewapproach,accountabilityandselectedcommercialcasework. Notanapprovalforautomaticprices,blanketdiscounts,guaranteedgrowth,aneventerprisedeploymentoranewmandatorydatacollectionpolicy. Slides34-45retaindetailedsourcevaluesandeditorialchanges.
[Sources]
ISZE_AIM_Management_20_Slides_2026-09-21.pptx, management-closing design and commercial intent in slide20.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Exactprintedvalues:[["Isuzu Ireland",99],["AIOS",98],["ISD",98],["Isuzu Rom Auto",98],["Isuzu Sverige",97],["MIDI",97],["UMI",97],["RSA",96],["ITUK",95],["BL ehf",93],["IUK",93],["UTI",93],["KIMA",90],["GasanZammit",89],["IMF",87],["I Motors",84],["IBX (BENELUX)",82],["Isuzu Polska",82],["Petros Petropoulos",60]]. No KPI date forothermarketshasbeeninvented. Source19of22coverageandtwo-never-filedstatementrequire reconciliation. Stylingusesredonlyasafocusaccent,notatestofcurrentrisk.
[Sources]
ISZE_Business_Performance_Review_2026.pptx, slides10,11,12.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Completeprintedvalues:[["MIDI",322],["AIOS",171],["UTI",151],["UMI",147],["Isuzu Rom Auto",128],["ISD",126],["Isuzu Ireland",123],["ITUK",121],["BL ehf",119],["GasanZammit",111],["RSA",99],["IUK",81],["I Motors",79],["IBX (BENELUX)",63],["Petros Petropoulos",60],["Isuzu Sverige",48],["IMF",32],["KIMA",30]]. Source route-band classifications preserved as assumptions, not revalidated targets. Currentlead times,assortment,fill,stockageandrouteassignmentare absent. No excess-working-capital valueiscalculated.
[Sources]
ISZE_Business_Performance_Review_2026.pptx, slide13.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Completeprintedvalues:[["Iceland",100],["Romania",97.6],["Greece",63],["Belgium",47],["Cyprus",39.7],["Denmark",35.3],["Germany",32.4],["Sweden",16.4],["Hungary",15.2],["Portugal",14.8],["UTI (Israel)",12.8],["ITUK",12.1],["Finland",11.2],["IUK",10.5],["Ireland",8.5],["Norway",8.3],["UMI (Israel)",7.8],["Malta",5.9]]. Network17.5%isnotunweightedmeanofthesepercentages. Sourceusablecodecoverage100% conflictswith residualother/uncodedandunevencoding narrative. Do notasserta full classification audit or acausaldealerstockfailure.
[Sources]
ISZE_Business_Performance_Review_2026.pptx, slides14,15.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Completeprintedvalues:[["Ireland",389],["UTI (Israel)",322],["ITUK",249],["Finland",231],["Belgium",220],["Iceland",210],["Portugal",209],["Malta",199],["Germany",197],["Cyprus",186],["UMI (Israel)",179],["Norway",179],["Denmark",174],["Romania",164],["Sweden",151],["Greece",139],["IUK",128],["Hungary",88],["Ukraine",null],["Armenia",null],["Kazakhstan",null],["Palestine",null]]. Fourunlabelledbarsarerepresentedasnotreported,notzero. Sourcebillingandfleetdenominatorsvaryfromotheranalyses; median191andnetwork198are reported,notindependentlyrecomputed. Multiplyingindividualfleetsharesbybillingtoinferbandspendwouldnotbesupported. Fleetmodel/age/applicationandperiodneednormalisationbeforetargetsetting.
[Sources]
ISZE_Business_Performance_Review_2026.pptx, slide18. ISZE_AIM_Management_20_Slides_2026-09-21.pptx, slides15,16 for comparison discipline.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sourcechartshowsdeviationfrom100%,notrelativepercentagegrowth. Valuesarethereforelabelledpercentagepointsinthisredesign:[["Blower Unit Filter",-100],["Pilot Bearing",-100],["Clutch Booster",-99.8],["Release Bearing",-93.8],["Urea (AdBlue) Filter",-88.7],["Brake Shoe",-88],["Clutch Pressure Plate",-86.5],["Clutch Disc",-86.3],["Clutch Kit",-68],["Brake Pad",-27.1],["Air Filter",-8.4],["Oil Filter",16.4],["Fuel Filter",57],["Brake Rotor",97.7]]. The slide/chartdoesnotlabeltheperiod,soit isnot assumed to beFY2025/26fromtheneighbouringslide. Blower/pilotzeroactualratiosaremodeloutputs,notproofno servicingoccurred. Anegativegapmodelneedsvalidatedapplicability,referencecoverageandserviceassumptions.
[Sources]
ISZE_Business_Performance_Review_2026.pptx, slide23.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Completeprintedvalues:[["Hungary",2.13,"7 K€"],["Norway",2.09,"30 K€"],["IUK",1.77,"109 K€"],["Germany",1.55,"39 K€"],["Malta",1.45,"3 K€"],["Finland",1.27,"4 K€"],["Belgium",1.22,"26 K€"],["Ireland",1.06,"13 K€"],["Denmark",0.91,"1 K€"],["UMI (Israel)",0.88,"25 K€"],["Sweden",0.88,"11 K€"],["Romania",0.8,"1 K€"],["Portugal",0.69,"12 K€"],["Greece",0.63,"3 K€"],["UTI (Israel)",0.54,"18 K€"],["Iceland",0.5,"435 €"],["Cyprus",0.42,"2 K€"],["Kazakhstan",0.34,"552 €"],["Ukraine",0.19,"2 K€"],["ITUK",0.18,"10 K€"],["Armenia",0.15,"424 €"],["Palestine",0,"0 €"]]. Sourceclassificationmatchabove96%doesnotcertifyflagcompleteness. ReportedPalestine0%/EUR0ispreservedasprinted,notaconclusionaboutcompetition;denominatorandcoveragemustbeconfirmed. No newexposureorpricingdecisionisderived. Originalpage31narrativecalleditexposurebuttheimageplottedservicecoveragainstspend; that chartisnotrecastasanexposureplot.
[Sources]
ISZE_Business_Performance_Review_2026.pptx, slide28 and embedded chart.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Sourcepage29chartisBVPshareofcataloguerevenue,notanexposurematrixasthenarrativeimplies. It states22distributorsandEUR4.38Mcataloguerevenue;printedfamilyamountssumapproximatelyEUR4.378Mafterrounding. Thisdenominatorisnotnetworktotalbilling. Page30chartiscontestedpartsvalueinsixsales-to-dealernetworks,valuedatISZElistprices;categorylabelsarecroppedintheembeddedraster. Itisnotreconstructibleasareliableproductrankingfromtheseattachments,so no clippedpartnamehasbeeninvented. Itsbusinessquestionispreservedherewithbasisclarified,notpresentedasnewlostsales.
[Sources]
ISZE_Business_Performance_Review_2026.pptx, slides29and30.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Allprintedcountsandscores:[["Malta",1,89.3],["Portugal",16,86.9],["Hungary",19,86.2],["Poland",23,84.1],["UK CV",44,83.8],["UK LCV",43,81.7],["Romania",15,79.6],["Italy",41,79.2],["Belgium",34,78.6],["Netherlands",9,76.3],["Denmark",20,75.7],["Spain",45,75.5],["Norway",38,75.2],["Cyprus",1,75],["Greece",34,73.9],["Switzerland",22,63.6],["France",84,61.9],["Israel LCV*",29,60.9]]. Counts sum518. Sourcepercentagesarepreservednotrecomputed. IsraelLCVsource60.9%isnotcorrectedorre-basedbecauseitemresponses/scoringdenominatorarenotprovided. This is clearlymarkednon-comparableuntilconfirmed. Cohortmappingtovalidateddealers/distributorsisnotimpliedfromcountrylabels. Smallcohorts(Malta1,Cyprus1)mustnotbetreatedasstablecommercialrankings.
[Sources]
ISZE_Business_Performance_Review_2026.pptx, slide35, interpreted with slide36. User IDS terminology correction.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Allprintedsectionvaluesaretranscribed:[["Belgium",71,73,88,80,77],["Cyprus",72,74,88,72,52],["Denmark",76,75,87,76,88],["Hungary",81,83,92,89,85],["UK CV",null,null,null,null,null],["UK LCV",80,80,82,82,87],["Israel LCV",72,64,77,62,null],["Switzerland",61,61,69,63,65],["Spain",72,74,81,75,73],["France",64,59,65,62,59],["Italy",78,77,82,80,80],["Malta",80,96,89,87,89],["Netherlands",69,73,85,76,71],["Greece",73,72,81,73,59],["Poland",83,82,89,88,78],["Portugal",83,87,88,89,87],["Norway",72,77,85,79,77],["Romania",78,76,85,80,74]]. Valuesarepercentagesofsectionmaxima,notrawpoints. BlankUKCVrowandmissingIsraelLCVEremainnull. No Europeansectionaggregateisrecomputed;sourceclaimsService83%andPremises74%arenot independentlyvalidated. Differentsectioncoveragecaninvalidateoverallcomparisons. Terminologynormalisedtodealerself-assessment.
[Sources]
ISZE_Business_Performance_Review_2026.pptx, slide36 and embedded heatmap.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Source19analyticspages,281derivedfiles,116passedchecks,18servicemodeldistributors. Sourcechecksdate25Aug2026. Issuecounts:5opensourcegaps,5nameddatafiles,4closeddo-not-reopen,4feedstaleness. Longissue/filenamesoverlapintheoriginalimageandcannotbereadwithsufficientconfidence;theyarenotfabricatedorre-opened. Currentstatusandlineagecertificationarenotclaimed.
[Sources]
ISZE_Business_Performance_Review_2026.pptx, slides33and34embeddedsummarycharts.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Explicitcorrectionsregister:1)combineITUK6958/IUK6048over32580=39.9202%;2)60.22-30.76=29.46not29.69;3)stage-rate differenceisnotstock;4)fill19/22versustwoneverfiledandmissingdatesunresolved;5)self-assessmentterminologyperuser,notDBaudits;6)warrantyclaimbasis/linkageunverified. Otherchartnarrativemismatchesandunreadablelabelsarelistedonslides40and45. Thesechangespreventunsupportedconclusionsratherthanreplaceunderlyingdata.
[Sources]
ISZE_Business_Performance_Review_2026.pptx, slides5,6,10-17,24,26-31,35-39.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Fullsourcecoverage:original1-8-&gt;new1-6/44-45;original9-15-&gt;new14-17/34-36;original16-19-&gt;new18-20/37;original20-24-&gt;new21-23/38;original25-31-&gt;new10-13/39-40/45;original32-36-&gt;new26-28/41-43;original37-39-&gt;new30;original40-&gt;new27/31-33. Addedsourceworkedexamples:AIM11-&gt;new8;AIM12-&gt;new9;AIM13-&gt;new12;AIM15-&gt;new20. Notesoneveryslideidentifybasisandlimitations. NoexternalwebresearchornewrawISZEsourcewasused. Theoriginalpage31scatterhasmissingnumericaxislabelsandconflictingnarrative;exactservice-covercoordinatesarenotreconstructedfrompixels. Itscommercialcomparisonprincipleisretainedinnew18-20and37-38withoutinventingdatapoints.
[Sources]
ISZE_Business_Performance_Review_2026.pptx,all40slides,prepared16September2026. ISZE_AIM_Management_20_Slides_2026-09-21.pptx,all20slides,filename21September2026.
Design reference: ISZE_AIM_Management_20_Slides_2026-09-21.pptx, supplied by the user; Arial typography, off-white pages, charcoal panels, Isuzu red accents, red/charcoal cover and management closing page.
[/Sources]
Build: 22 September 2026. This is a redesign and analytical editorial upgrade of two supplied presentations. Underlying workbooks/CSV sources were not re-opened or revalidated. Any chart data taken from printed image labels retains that rounding. Proposals and illustrative calculations are not measured outcomes or approved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IM_LIGHT">
    <p:bg>
      <p:bgPr>
        <a:solidFill>
          <a:srgbClr val="F5F4F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0" y="0"/>
            <a:ext cx="4370832" cy="6858000"/>
          </a:xfrm>
          <a:prstGeom prst="rect">
            <a:avLst/>
          </a:prstGeom>
          <a:solidFill>
            <a:srgbClr val="E30613"/>
          </a:solidFill>
          <a:ln w="12700">
            <a:solidFill>
              <a:srgbClr val="E30613"/>
            </a:solidFill>
            <a:prstDash val="solid"/>
          </a:ln>
        </p:spPr>
        <p:txBody>
          <a:bodyPr/>
          <a:p/>
        </p:txBody>
      </p:sp>
      <p:sp>
        <p:nvSpPr>
          <p:cNvPr id="3" name="Text 1"/>
          <p:cNvSpPr/>
          <p:nvPr/>
        </p:nvSpPr>
        <p:spPr>
          <a:xfrm>
            <a:off x="658368" y="566928"/>
            <a:ext cx="3383280" cy="466344"/>
          </a:xfrm>
          <a:prstGeom prst="rect">
            <a:avLst/>
          </a:prstGeom>
          <a:noFill/>
          <a:ln/>
        </p:spPr>
        <p:txBody>
          <a:bodyPr wrap="square" lIns="0" tIns="0" rIns="0" bIns="0" rtlCol="0" anchor="ctr">
            <a:normAutofit fontScale="100000" lnSpcReduction="0"/>
          </a:bodyPr>
          <a:lstStyle/>
          <a:p>
            <a:pPr indent="0" marL="0">
              <a:buNone/>
            </a:pPr>
            <a:r>
              <a:rPr lang="en-US" sz="2900" b="1" spc="180" kern="0" dirty="0">
                <a:solidFill>
                  <a:srgbClr val="FFFFFF"/>
                </a:solidFill>
                <a:latin typeface="Arial" pitchFamily="34" charset="0"/>
                <a:ea typeface="Arial" pitchFamily="34" charset="-122"/>
                <a:cs typeface="Arial" pitchFamily="34" charset="-120"/>
              </a:rPr>
              <a:t>ISUZU</a:t>
            </a:r>
            <a:endParaRPr lang="en-US" sz="2900" dirty="0"/>
          </a:p>
        </p:txBody>
      </p:sp>
      <p:sp>
        <p:nvSpPr>
          <p:cNvPr id="4" name="Text 2"/>
          <p:cNvSpPr/>
          <p:nvPr/>
        </p:nvSpPr>
        <p:spPr>
          <a:xfrm>
            <a:off x="676656" y="1097280"/>
            <a:ext cx="3566160" cy="274320"/>
          </a:xfrm>
          <a:prstGeom prst="rect">
            <a:avLst/>
          </a:prstGeom>
          <a:noFill/>
          <a:ln/>
        </p:spPr>
        <p:txBody>
          <a:bodyPr wrap="square" lIns="0" tIns="0" rIns="0" bIns="0" rtlCol="0" anchor="ctr">
            <a:normAutofit fontScale="100000" lnSpcReduction="0"/>
          </a:bodyPr>
          <a:lstStyle/>
          <a:p>
            <a:pPr indent="0" marL="0">
              <a:buNone/>
            </a:pPr>
            <a:r>
              <a:rPr lang="en-US" sz="1150" b="1" spc="140" kern="0" dirty="0">
                <a:solidFill>
                  <a:srgbClr val="FFFFFF"/>
                </a:solidFill>
                <a:latin typeface="Arial" pitchFamily="34" charset="0"/>
                <a:ea typeface="Arial" pitchFamily="34" charset="-122"/>
                <a:cs typeface="Arial" pitchFamily="34" charset="-120"/>
              </a:rPr>
              <a:t>EUROPE  /  AFTERSALES</a:t>
            </a:r>
            <a:endParaRPr lang="en-US" sz="1150" dirty="0"/>
          </a:p>
        </p:txBody>
      </p:sp>
      <p:sp>
        <p:nvSpPr>
          <p:cNvPr id="5" name="Text 3"/>
          <p:cNvSpPr/>
          <p:nvPr/>
        </p:nvSpPr>
        <p:spPr>
          <a:xfrm>
            <a:off x="667512" y="2139696"/>
            <a:ext cx="3456432" cy="1810512"/>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FFFFFF"/>
                </a:solidFill>
                <a:latin typeface="Arial" pitchFamily="34" charset="0"/>
                <a:ea typeface="Arial" pitchFamily="34" charset="-122"/>
                <a:cs typeface="Arial" pitchFamily="34" charset="-120"/>
              </a:rPr>
              <a:t>Business</a:t>
            </a:r>
            <a:endParaRPr lang="en-US" sz="3500" dirty="0"/>
          </a:p>
          <a:p>
            <a:pPr indent="0" marL="0">
              <a:buNone/>
            </a:pPr>
            <a:r>
              <a:rPr lang="en-US" sz="3500" b="1" dirty="0">
                <a:solidFill>
                  <a:srgbClr val="FFFFFF"/>
                </a:solidFill>
                <a:latin typeface="Arial" pitchFamily="34" charset="0"/>
                <a:ea typeface="Arial" pitchFamily="34" charset="-122"/>
                <a:cs typeface="Arial" pitchFamily="34" charset="-120"/>
              </a:rPr>
              <a:t>Performance</a:t>
            </a:r>
            <a:endParaRPr lang="en-US" sz="3500" dirty="0"/>
          </a:p>
          <a:p>
            <a:pPr indent="0" marL="0">
              <a:buNone/>
            </a:pPr>
            <a:r>
              <a:rPr lang="en-US" sz="3500" b="1" dirty="0">
                <a:solidFill>
                  <a:srgbClr val="FFFFFF"/>
                </a:solidFill>
                <a:latin typeface="Arial" pitchFamily="34" charset="0"/>
                <a:ea typeface="Arial" pitchFamily="34" charset="-122"/>
                <a:cs typeface="Arial" pitchFamily="34" charset="-120"/>
              </a:rPr>
              <a:t>Review</a:t>
            </a:r>
            <a:endParaRPr lang="en-US" sz="3500" dirty="0"/>
          </a:p>
        </p:txBody>
      </p:sp>
      <p:sp>
        <p:nvSpPr>
          <p:cNvPr id="6" name="Text 4"/>
          <p:cNvSpPr/>
          <p:nvPr/>
        </p:nvSpPr>
        <p:spPr>
          <a:xfrm>
            <a:off x="694944" y="4270248"/>
            <a:ext cx="3383280" cy="731520"/>
          </a:xfrm>
          <a:prstGeom prst="rect">
            <a:avLst/>
          </a:prstGeom>
          <a:noFill/>
          <a:ln/>
        </p:spPr>
        <p:txBody>
          <a:bodyPr wrap="square" lIns="0" tIns="0" rIns="0" bIns="0" rtlCol="0" anchor="ctr">
            <a:normAutofit fontScale="100000" lnSpcReduction="0"/>
          </a:bodyPr>
          <a:lstStyle/>
          <a:p>
            <a:pPr indent="0" marL="0">
              <a:buNone/>
            </a:pPr>
            <a:r>
              <a:rPr lang="en-US" sz="1900" b="1" dirty="0">
                <a:solidFill>
                  <a:srgbClr val="FFFFFF"/>
                </a:solidFill>
                <a:latin typeface="Arial" pitchFamily="34" charset="0"/>
                <a:ea typeface="Arial" pitchFamily="34" charset="-122"/>
                <a:cs typeface="Arial" pitchFamily="34" charset="-120"/>
              </a:rPr>
              <a:t>AIM management edition</a:t>
            </a:r>
            <a:endParaRPr lang="en-US" sz="1900" dirty="0"/>
          </a:p>
          <a:p>
            <a:pPr indent="0" marL="0">
              <a:buNone/>
            </a:pPr>
            <a:r>
              <a:rPr lang="en-US" sz="1900" b="1" dirty="0">
                <a:solidFill>
                  <a:srgbClr val="FFFFFF"/>
                </a:solidFill>
                <a:latin typeface="Arial" pitchFamily="34" charset="0"/>
                <a:ea typeface="Arial" pitchFamily="34" charset="-122"/>
                <a:cs typeface="Arial" pitchFamily="34" charset="-120"/>
              </a:rPr>
              <a:t>Version 2.1</a:t>
            </a:r>
            <a:endParaRPr lang="en-US" sz="1900" dirty="0"/>
          </a:p>
        </p:txBody>
      </p:sp>
      <p:sp>
        <p:nvSpPr>
          <p:cNvPr id="7" name="Text 5"/>
          <p:cNvSpPr/>
          <p:nvPr/>
        </p:nvSpPr>
        <p:spPr>
          <a:xfrm>
            <a:off x="676656" y="6227064"/>
            <a:ext cx="3639312" cy="201168"/>
          </a:xfrm>
          <a:prstGeom prst="rect">
            <a:avLst/>
          </a:prstGeom>
          <a:noFill/>
          <a:ln/>
        </p:spPr>
        <p:txBody>
          <a:bodyPr wrap="square" lIns="0" tIns="0" rIns="0" bIns="0" rtlCol="0" anchor="ctr">
            <a:normAutofit fontScale="100000" lnSpcReduction="0"/>
          </a:bodyPr>
          <a:lstStyle/>
          <a:p>
            <a:pPr indent="0" marL="0">
              <a:buNone/>
            </a:pPr>
            <a:r>
              <a:rPr lang="en-US" sz="1040" b="1" spc="70" kern="0" dirty="0">
                <a:solidFill>
                  <a:srgbClr val="FFFFFF"/>
                </a:solidFill>
                <a:latin typeface="Arial" pitchFamily="34" charset="0"/>
                <a:ea typeface="Arial" pitchFamily="34" charset="-122"/>
                <a:cs typeface="Arial" pitchFamily="34" charset="-120"/>
              </a:rPr>
              <a:t>VEHICLE PARTS &amp; ACCESSORIES</a:t>
            </a:r>
            <a:endParaRPr lang="en-US" sz="1040" dirty="0"/>
          </a:p>
        </p:txBody>
      </p:sp>
      <p:sp>
        <p:nvSpPr>
          <p:cNvPr id="8" name="Text 6"/>
          <p:cNvSpPr/>
          <p:nvPr/>
        </p:nvSpPr>
        <p:spPr>
          <a:xfrm>
            <a:off x="5212080" y="1353312"/>
            <a:ext cx="6245352" cy="2148840"/>
          </a:xfrm>
          <a:prstGeom prst="rect">
            <a:avLst/>
          </a:prstGeom>
          <a:noFill/>
          <a:ln/>
        </p:spPr>
        <p:txBody>
          <a:bodyPr wrap="square" lIns="0" tIns="0" rIns="0" bIns="0" rtlCol="0" anchor="ctr">
            <a:normAutofit fontScale="100000" lnSpcReduction="0"/>
          </a:bodyPr>
          <a:lstStyle/>
          <a:p>
            <a:pPr indent="0" marL="0">
              <a:buNone/>
            </a:pPr>
            <a:r>
              <a:rPr lang="en-US" sz="4200" b="1" dirty="0">
                <a:solidFill>
                  <a:srgbClr val="FFFFFF"/>
                </a:solidFill>
                <a:latin typeface="Arial" pitchFamily="34" charset="0"/>
                <a:ea typeface="Arial" pitchFamily="34" charset="-122"/>
                <a:cs typeface="Arial" pitchFamily="34" charset="-120"/>
              </a:rPr>
              <a:t>From performance.</a:t>
            </a:r>
            <a:endParaRPr lang="en-US" sz="4200" dirty="0"/>
          </a:p>
          <a:p>
            <a:pPr indent="0" marL="0">
              <a:buNone/>
            </a:pPr>
            <a:r>
              <a:rPr lang="en-US" sz="4200" b="1" dirty="0">
                <a:solidFill>
                  <a:srgbClr val="FFFFFF"/>
                </a:solidFill>
                <a:latin typeface="Arial" pitchFamily="34" charset="0"/>
                <a:ea typeface="Arial" pitchFamily="34" charset="-122"/>
                <a:cs typeface="Arial" pitchFamily="34" charset="-120"/>
              </a:rPr>
              <a:t>To product.</a:t>
            </a:r>
            <a:endParaRPr lang="en-US" sz="4200" dirty="0"/>
          </a:p>
          <a:p>
            <a:pPr indent="0" marL="0">
              <a:buNone/>
            </a:pPr>
            <a:r>
              <a:rPr lang="en-US" sz="4200" b="1" dirty="0">
                <a:solidFill>
                  <a:srgbClr val="FFFFFF"/>
                </a:solidFill>
                <a:latin typeface="Arial" pitchFamily="34" charset="0"/>
                <a:ea typeface="Arial" pitchFamily="34" charset="-122"/>
                <a:cs typeface="Arial" pitchFamily="34" charset="-120"/>
              </a:rPr>
              <a:t>To action.</a:t>
            </a:r>
            <a:endParaRPr lang="en-US" sz="4200" dirty="0"/>
          </a:p>
        </p:txBody>
      </p:sp>
      <p:sp>
        <p:nvSpPr>
          <p:cNvPr id="9" name="Text 7"/>
          <p:cNvSpPr/>
          <p:nvPr/>
        </p:nvSpPr>
        <p:spPr>
          <a:xfrm>
            <a:off x="5248656" y="3840480"/>
            <a:ext cx="5751576" cy="1225296"/>
          </a:xfrm>
          <a:prstGeom prst="rect">
            <a:avLst/>
          </a:prstGeom>
          <a:noFill/>
          <a:ln/>
        </p:spPr>
        <p:txBody>
          <a:bodyPr wrap="square" lIns="0" tIns="0" rIns="0" bIns="0" rtlCol="0" anchor="ctr">
            <a:normAutofit fontScale="100000" lnSpcReduction="0"/>
          </a:bodyPr>
          <a:lstStyle/>
          <a:p>
            <a:pPr indent="0" marL="0">
              <a:buNone/>
            </a:pPr>
            <a:r>
              <a:rPr lang="en-US" sz="2400" dirty="0">
                <a:solidFill>
                  <a:srgbClr val="CCD1D2"/>
                </a:solidFill>
                <a:latin typeface="Arial" pitchFamily="34" charset="0"/>
                <a:ea typeface="Arial" pitchFamily="34" charset="-122"/>
                <a:cs typeface="Arial" pitchFamily="34" charset="-120"/>
              </a:rPr>
              <a:t>Protect the business.</a:t>
            </a:r>
            <a:endParaRPr lang="en-US" sz="2400" dirty="0"/>
          </a:p>
          <a:p>
            <a:pPr indent="0" marL="0">
              <a:buNone/>
            </a:pPr>
            <a:r>
              <a:rPr lang="en-US" sz="2400" dirty="0">
                <a:solidFill>
                  <a:srgbClr val="CCD1D2"/>
                </a:solidFill>
                <a:latin typeface="Arial" pitchFamily="34" charset="0"/>
                <a:ea typeface="Arial" pitchFamily="34" charset="-122"/>
                <a:cs typeface="Arial" pitchFamily="34" charset="-120"/>
              </a:rPr>
              <a:t>Target the range.</a:t>
            </a:r>
            <a:endParaRPr lang="en-US" sz="2400" dirty="0"/>
          </a:p>
          <a:p>
            <a:pPr indent="0" marL="0">
              <a:buNone/>
            </a:pPr>
            <a:r>
              <a:rPr lang="en-US" sz="2400" dirty="0">
                <a:solidFill>
                  <a:srgbClr val="CCD1D2"/>
                </a:solidFill>
                <a:latin typeface="Arial" pitchFamily="34" charset="0"/>
                <a:ea typeface="Arial" pitchFamily="34" charset="-122"/>
                <a:cs typeface="Arial" pitchFamily="34" charset="-120"/>
              </a:rPr>
              <a:t>Prove the commercial result.</a:t>
            </a:r>
            <a:endParaRPr lang="en-US" sz="2400" dirty="0"/>
          </a:p>
        </p:txBody>
      </p:sp>
      <p:sp>
        <p:nvSpPr>
          <p:cNvPr id="10" name="Shape 8"/>
          <p:cNvSpPr/>
          <p:nvPr/>
        </p:nvSpPr>
        <p:spPr>
          <a:xfrm>
            <a:off x="5248656" y="5605272"/>
            <a:ext cx="6126480" cy="0"/>
          </a:xfrm>
          <a:prstGeom prst="line">
            <a:avLst/>
          </a:prstGeom>
          <a:noFill/>
          <a:ln w="10160">
            <a:solidFill>
              <a:srgbClr val="626B72"/>
            </a:solidFill>
            <a:prstDash val="solid"/>
          </a:ln>
        </p:spPr>
        <p:txBody>
          <a:bodyPr/>
          <a:p/>
        </p:txBody>
      </p:sp>
      <p:sp>
        <p:nvSpPr>
          <p:cNvPr id="11" name="Text 9"/>
          <p:cNvSpPr/>
          <p:nvPr/>
        </p:nvSpPr>
        <p:spPr>
          <a:xfrm>
            <a:off x="5248656" y="5833872"/>
            <a:ext cx="5943600" cy="228600"/>
          </a:xfrm>
          <a:prstGeom prst="rect">
            <a:avLst/>
          </a:prstGeom>
          <a:noFill/>
          <a:ln/>
        </p:spPr>
        <p:txBody>
          <a:bodyPr wrap="square" lIns="0" tIns="0" rIns="0" bIns="0" rtlCol="0" anchor="ctr">
            <a:normAutofit fontScale="100000" lnSpcReduction="0"/>
          </a:bodyPr>
          <a:lstStyle/>
          <a:p>
            <a:pPr indent="0" marL="0">
              <a:buNone/>
            </a:pPr>
            <a:r>
              <a:rPr lang="en-US" sz="1100" spc="120" kern="0" dirty="0">
                <a:solidFill>
                  <a:srgbClr val="CCD1D2"/>
                </a:solidFill>
                <a:latin typeface="Arial" pitchFamily="34" charset="0"/>
                <a:ea typeface="Arial" pitchFamily="34" charset="-122"/>
                <a:cs typeface="Arial" pitchFamily="34" charset="-120"/>
              </a:rPr>
              <a:t>22 SEPTEMBER 2026</a:t>
            </a:r>
            <a:endParaRPr lang="en-US" sz="1100" dirty="0"/>
          </a:p>
        </p:txBody>
      </p:sp>
      <p:sp>
        <p:nvSpPr>
          <p:cNvPr id="12" name="Text 10"/>
          <p:cNvSpPr/>
          <p:nvPr/>
        </p:nvSpPr>
        <p:spPr>
          <a:xfrm>
            <a:off x="5248656" y="6272784"/>
            <a:ext cx="6080760" cy="256032"/>
          </a:xfrm>
          <a:prstGeom prst="rect">
            <a:avLst/>
          </a:prstGeom>
          <a:noFill/>
          <a:ln/>
        </p:spPr>
        <p:txBody>
          <a:bodyPr wrap="square" lIns="0" tIns="0" rIns="0" bIns="0" rtlCol="0" anchor="ctr">
            <a:normAutofit fontScale="100000" lnSpcReduction="0"/>
          </a:bodyPr>
          <a:lstStyle/>
          <a:p>
            <a:pPr indent="0" marL="0">
              <a:buNone/>
            </a:pPr>
            <a:r>
              <a:rPr lang="en-US" sz="900" dirty="0">
                <a:solidFill>
                  <a:srgbClr val="CCD1D2"/>
                </a:solidFill>
                <a:latin typeface="Arial" pitchFamily="34" charset="0"/>
                <a:ea typeface="Arial" pitchFamily="34" charset="-122"/>
                <a:cs typeface="Arial" pitchFamily="34" charset="-120"/>
              </a:rPr>
              <a:t>Source snapshots retained: billing to 30 Jun 2026; September MTD to 14 Sep.</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EXECUTIVE VIEW</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Protect the base. Target the range. Prove the result.</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Three management priorities from the supplied performance and AIM reviews.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Sources: BPR pp. 4, 6, 14, 26; AIM pp. 11-13. Additional actions are proposals.</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EXECUTIVE VIEW</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02</a:t>
            </a:r>
            <a:endParaRPr lang="en-US" sz="1050" dirty="0"/>
          </a:p>
        </p:txBody>
      </p:sp>
      <p:sp>
        <p:nvSpPr>
          <p:cNvPr id="11" name="Shape 9"/>
          <p:cNvSpPr/>
          <p:nvPr/>
        </p:nvSpPr>
        <p:spPr>
          <a:xfrm>
            <a:off x="594360" y="2459736"/>
            <a:ext cx="3547872" cy="2761488"/>
          </a:xfrm>
          <a:prstGeom prst="rect">
            <a:avLst/>
          </a:prstGeom>
          <a:solidFill>
            <a:srgbClr val="FFFFFF"/>
          </a:solidFill>
          <a:ln w="7620">
            <a:solidFill>
              <a:srgbClr val="D9DCDA"/>
            </a:solidFill>
            <a:prstDash val="solid"/>
          </a:ln>
        </p:spPr>
        <p:txBody>
          <a:bodyPr/>
          <a:p/>
        </p:txBody>
      </p:sp>
      <p:sp>
        <p:nvSpPr>
          <p:cNvPr id="12" name="Text 10"/>
          <p:cNvSpPr/>
          <p:nvPr/>
        </p:nvSpPr>
        <p:spPr>
          <a:xfrm>
            <a:off x="804672" y="2660904"/>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PROTECT THE BASE</a:t>
            </a:r>
            <a:endParaRPr lang="en-US" sz="1160" dirty="0"/>
          </a:p>
        </p:txBody>
      </p:sp>
      <p:sp>
        <p:nvSpPr>
          <p:cNvPr id="13" name="Text 11"/>
          <p:cNvSpPr/>
          <p:nvPr/>
        </p:nvSpPr>
        <p:spPr>
          <a:xfrm>
            <a:off x="804672" y="3227832"/>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24282C"/>
                </a:solidFill>
                <a:latin typeface="Arial" pitchFamily="34" charset="0"/>
                <a:ea typeface="Arial" pitchFamily="34" charset="-122"/>
                <a:cs typeface="Arial" pitchFamily="34" charset="-120"/>
              </a:rPr>
              <a:t>32.58 M€</a:t>
            </a:r>
            <a:endParaRPr lang="en-US" sz="3500" dirty="0"/>
          </a:p>
        </p:txBody>
      </p:sp>
      <p:sp>
        <p:nvSpPr>
          <p:cNvPr id="14" name="Text 12"/>
          <p:cNvSpPr/>
          <p:nvPr/>
        </p:nvSpPr>
        <p:spPr>
          <a:xfrm>
            <a:off x="804672" y="4014216"/>
            <a:ext cx="3127248" cy="1033272"/>
          </a:xfrm>
          <a:prstGeom prst="rect">
            <a:avLst/>
          </a:prstGeom>
          <a:noFill/>
          <a:ln/>
        </p:spPr>
        <p:txBody>
          <a:bodyPr wrap="square" lIns="0" tIns="0" rIns="0" bIns="0" rtlCol="0" anchor="ctr">
            <a:normAutofit fontScale="100000" lnSpcReduction="0"/>
          </a:bodyPr>
          <a:lstStyle/>
          <a:p>
            <a:pPr indent="0" marL="0">
              <a:buNone/>
            </a:pPr>
            <a:r>
              <a:rPr lang="en-US" sz="1695" dirty="0">
                <a:solidFill>
                  <a:srgbClr val="626B72"/>
                </a:solidFill>
                <a:latin typeface="Arial" pitchFamily="34" charset="0"/>
                <a:ea typeface="Arial" pitchFamily="34" charset="-122"/>
                <a:cs typeface="Arial" pitchFamily="34" charset="-120"/>
              </a:rPr>
              <a:t>Fiscal 2026 distributor billing. ITUK and IUK together account for about 40%.</a:t>
            </a:r>
            <a:endParaRPr lang="en-US" sz="1695" dirty="0"/>
          </a:p>
        </p:txBody>
      </p:sp>
      <p:sp>
        <p:nvSpPr>
          <p:cNvPr id="15" name="Shape 13"/>
          <p:cNvSpPr/>
          <p:nvPr/>
        </p:nvSpPr>
        <p:spPr>
          <a:xfrm>
            <a:off x="4334256" y="2459736"/>
            <a:ext cx="3547872" cy="2761488"/>
          </a:xfrm>
          <a:prstGeom prst="rect">
            <a:avLst/>
          </a:prstGeom>
          <a:solidFill>
            <a:srgbClr val="FFFFFF"/>
          </a:solidFill>
          <a:ln w="7620">
            <a:solidFill>
              <a:srgbClr val="D9DCDA"/>
            </a:solidFill>
            <a:prstDash val="solid"/>
          </a:ln>
        </p:spPr>
        <p:txBody>
          <a:bodyPr/>
          <a:p/>
        </p:txBody>
      </p:sp>
      <p:sp>
        <p:nvSpPr>
          <p:cNvPr id="16" name="Text 14"/>
          <p:cNvSpPr/>
          <p:nvPr/>
        </p:nvSpPr>
        <p:spPr>
          <a:xfrm>
            <a:off x="4544568" y="2660904"/>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TARGET THE RANGE</a:t>
            </a:r>
            <a:endParaRPr lang="en-US" sz="1160" dirty="0"/>
          </a:p>
        </p:txBody>
      </p:sp>
      <p:sp>
        <p:nvSpPr>
          <p:cNvPr id="17" name="Text 15"/>
          <p:cNvSpPr/>
          <p:nvPr/>
        </p:nvSpPr>
        <p:spPr>
          <a:xfrm>
            <a:off x="4544568" y="3227832"/>
            <a:ext cx="3127248" cy="694944"/>
          </a:xfrm>
          <a:prstGeom prst="rect">
            <a:avLst/>
          </a:prstGeom>
          <a:noFill/>
          <a:ln/>
        </p:spPr>
        <p:txBody>
          <a:bodyPr wrap="square" lIns="0" tIns="0" rIns="0" bIns="0" rtlCol="0" anchor="ctr">
            <a:normAutofit fontScale="100000" lnSpcReduction="0"/>
          </a:bodyPr>
          <a:lstStyle/>
          <a:p>
            <a:pPr indent="0" marL="0">
              <a:buNone/>
            </a:pPr>
            <a:r>
              <a:rPr lang="en-US" sz="4000" b="1" dirty="0">
                <a:solidFill>
                  <a:srgbClr val="24282C"/>
                </a:solidFill>
                <a:latin typeface="Arial" pitchFamily="34" charset="0"/>
                <a:ea typeface="Arial" pitchFamily="34" charset="-122"/>
                <a:cs typeface="Arial" pitchFamily="34" charset="-120"/>
              </a:rPr>
              <a:t>-25.4%</a:t>
            </a:r>
            <a:endParaRPr lang="en-US" sz="4000" dirty="0"/>
          </a:p>
        </p:txBody>
      </p:sp>
      <p:sp>
        <p:nvSpPr>
          <p:cNvPr id="18" name="Text 16"/>
          <p:cNvSpPr/>
          <p:nvPr/>
        </p:nvSpPr>
        <p:spPr>
          <a:xfrm>
            <a:off x="4544568" y="4014216"/>
            <a:ext cx="3127248" cy="1033272"/>
          </a:xfrm>
          <a:prstGeom prst="rect">
            <a:avLst/>
          </a:prstGeom>
          <a:noFill/>
          <a:ln/>
        </p:spPr>
        <p:txBody>
          <a:bodyPr wrap="square" lIns="0" tIns="0" rIns="0" bIns="0" rtlCol="0" anchor="ctr">
            <a:normAutofit fontScale="100000" lnSpcReduction="0"/>
          </a:bodyPr>
          <a:lstStyle/>
          <a:p>
            <a:pPr indent="0" marL="0">
              <a:buNone/>
            </a:pPr>
            <a:r>
              <a:rPr lang="en-US" sz="1564" dirty="0">
                <a:solidFill>
                  <a:srgbClr val="626B72"/>
                </a:solidFill>
                <a:latin typeface="Arial" pitchFamily="34" charset="0"/>
                <a:ea typeface="Arial" pitchFamily="34" charset="-122"/>
                <a:cs typeface="Arial" pitchFamily="34" charset="-120"/>
              </a:rPr>
              <a:t>ITUK brake-pad recorded quantity. Investigate references and dealer purchasing before offering support.</a:t>
            </a:r>
            <a:endParaRPr lang="en-US" sz="1564" dirty="0"/>
          </a:p>
        </p:txBody>
      </p:sp>
      <p:sp>
        <p:nvSpPr>
          <p:cNvPr id="19" name="Shape 17"/>
          <p:cNvSpPr/>
          <p:nvPr/>
        </p:nvSpPr>
        <p:spPr>
          <a:xfrm>
            <a:off x="8074152" y="2459736"/>
            <a:ext cx="3547872" cy="2761488"/>
          </a:xfrm>
          <a:prstGeom prst="rect">
            <a:avLst/>
          </a:prstGeom>
          <a:solidFill>
            <a:srgbClr val="24282C"/>
          </a:solidFill>
          <a:ln w="12700">
            <a:solidFill>
              <a:srgbClr val="24282C"/>
            </a:solidFill>
            <a:prstDash val="solid"/>
          </a:ln>
        </p:spPr>
        <p:txBody>
          <a:bodyPr/>
          <a:p/>
        </p:txBody>
      </p:sp>
      <p:sp>
        <p:nvSpPr>
          <p:cNvPr id="20" name="Text 18"/>
          <p:cNvSpPr/>
          <p:nvPr/>
        </p:nvSpPr>
        <p:spPr>
          <a:xfrm>
            <a:off x="8284464" y="2660904"/>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PROVE THE RESULT</a:t>
            </a:r>
            <a:endParaRPr lang="en-US" sz="1160" dirty="0"/>
          </a:p>
        </p:txBody>
      </p:sp>
      <p:sp>
        <p:nvSpPr>
          <p:cNvPr id="21" name="Text 19"/>
          <p:cNvSpPr/>
          <p:nvPr/>
        </p:nvSpPr>
        <p:spPr>
          <a:xfrm>
            <a:off x="8284464" y="3227832"/>
            <a:ext cx="3127248" cy="694944"/>
          </a:xfrm>
          <a:prstGeom prst="rect">
            <a:avLst/>
          </a:prstGeom>
          <a:noFill/>
          <a:ln/>
        </p:spPr>
        <p:txBody>
          <a:bodyPr wrap="square" lIns="0" tIns="0" rIns="0" bIns="0" rtlCol="0" anchor="ctr">
            <a:normAutofit fontScale="100000" lnSpcReduction="0"/>
          </a:bodyPr>
          <a:lstStyle/>
          <a:p>
            <a:pPr indent="0" marL="0">
              <a:buNone/>
            </a:pPr>
            <a:r>
              <a:rPr lang="en-US" sz="4000" b="1" dirty="0">
                <a:solidFill>
                  <a:srgbClr val="FFFFFF"/>
                </a:solidFill>
                <a:latin typeface="Arial" pitchFamily="34" charset="0"/>
                <a:ea typeface="Arial" pitchFamily="34" charset="-122"/>
                <a:cs typeface="Arial" pitchFamily="34" charset="-120"/>
              </a:rPr>
              <a:t>17.5%</a:t>
            </a:r>
            <a:endParaRPr lang="en-US" sz="4000" dirty="0"/>
          </a:p>
        </p:txBody>
      </p:sp>
      <p:sp>
        <p:nvSpPr>
          <p:cNvPr id="22" name="Text 20"/>
          <p:cNvSpPr/>
          <p:nvPr/>
        </p:nvSpPr>
        <p:spPr>
          <a:xfrm>
            <a:off x="8284464" y="4014216"/>
            <a:ext cx="3127248" cy="1033272"/>
          </a:xfrm>
          <a:prstGeom prst="rect">
            <a:avLst/>
          </a:prstGeom>
          <a:noFill/>
          <a:ln/>
        </p:spPr>
        <p:txBody>
          <a:bodyPr wrap="square" lIns="0" tIns="0" rIns="0" bIns="0" rtlCol="0" anchor="ctr">
            <a:normAutofit fontScale="100000" lnSpcReduction="0"/>
          </a:bodyPr>
          <a:lstStyle/>
          <a:p>
            <a:pPr indent="0" marL="0">
              <a:buNone/>
            </a:pPr>
            <a:r>
              <a:rPr lang="en-US" sz="1527" dirty="0">
                <a:solidFill>
                  <a:srgbClr val="CCD1D2"/>
                </a:solidFill>
                <a:latin typeface="Arial" pitchFamily="34" charset="0"/>
                <a:ea typeface="Arial" pitchFamily="34" charset="-122"/>
                <a:cs typeface="Arial" pitchFamily="34" charset="-120"/>
              </a:rPr>
              <a:t>Urgent-coded share of billing. Review supply and replenishment alongside commercial performance.</a:t>
            </a:r>
            <a:endParaRPr lang="en-US" sz="1527" dirty="0"/>
          </a:p>
        </p:txBody>
      </p:sp>
      <p:sp>
        <p:nvSpPr>
          <p:cNvPr id="23" name="Shape 2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4" name="Text 2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The decision is where to investigate and act - not whether to cut prices across the network.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REPORTING BASIS</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Three reporting clocks. Keep each one visible.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The newest slide date is not the newest transaction date.</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1, 4-5, 8, 17-19. No newer source files were used.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REPORTING BASIS</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03</a:t>
            </a:r>
            <a:endParaRPr lang="en-US" sz="1050" dirty="0"/>
          </a:p>
        </p:txBody>
      </p:sp>
      <p:sp>
        <p:nvSpPr>
          <p:cNvPr id="11" name="Shape 9"/>
          <p:cNvSpPr/>
          <p:nvPr/>
        </p:nvSpPr>
        <p:spPr>
          <a:xfrm>
            <a:off x="594360" y="2487168"/>
            <a:ext cx="3547872" cy="2715768"/>
          </a:xfrm>
          <a:prstGeom prst="rect">
            <a:avLst/>
          </a:prstGeom>
          <a:solidFill>
            <a:srgbClr val="FFFFFF"/>
          </a:solidFill>
          <a:ln w="7620">
            <a:solidFill>
              <a:srgbClr val="D9DCDA"/>
            </a:solidFill>
            <a:prstDash val="solid"/>
          </a:ln>
        </p:spPr>
        <p:txBody>
          <a:bodyPr/>
          <a:p/>
        </p:txBody>
      </p:sp>
      <p:sp>
        <p:nvSpPr>
          <p:cNvPr id="12" name="Text 10"/>
          <p:cNvSpPr/>
          <p:nvPr/>
        </p:nvSpPr>
        <p:spPr>
          <a:xfrm>
            <a:off x="804672" y="2688336"/>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FISCAL 2026 CLOSE</a:t>
            </a:r>
            <a:endParaRPr lang="en-US" sz="1160" dirty="0"/>
          </a:p>
        </p:txBody>
      </p:sp>
      <p:sp>
        <p:nvSpPr>
          <p:cNvPr id="13" name="Text 11"/>
          <p:cNvSpPr/>
          <p:nvPr/>
        </p:nvSpPr>
        <p:spPr>
          <a:xfrm>
            <a:off x="804672" y="3255264"/>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24282C"/>
                </a:solidFill>
                <a:latin typeface="Arial" pitchFamily="34" charset="0"/>
                <a:ea typeface="Arial" pitchFamily="34" charset="-122"/>
                <a:cs typeface="Arial" pitchFamily="34" charset="-120"/>
              </a:rPr>
              <a:t>32.58 M€</a:t>
            </a:r>
            <a:endParaRPr lang="en-US" sz="3500" dirty="0"/>
          </a:p>
        </p:txBody>
      </p:sp>
      <p:sp>
        <p:nvSpPr>
          <p:cNvPr id="14" name="Text 12"/>
          <p:cNvSpPr/>
          <p:nvPr/>
        </p:nvSpPr>
        <p:spPr>
          <a:xfrm>
            <a:off x="804672" y="4041648"/>
            <a:ext cx="3127248" cy="987552"/>
          </a:xfrm>
          <a:prstGeom prst="rect">
            <a:avLst/>
          </a:prstGeom>
          <a:noFill/>
          <a:ln/>
        </p:spPr>
        <p:txBody>
          <a:bodyPr wrap="square" lIns="0" tIns="0" rIns="0" bIns="0" rtlCol="0" anchor="ctr">
            <a:normAutofit fontScale="100000" lnSpcReduction="0"/>
          </a:bodyPr>
          <a:lstStyle/>
          <a:p>
            <a:pPr indent="0" marL="0">
              <a:buNone/>
            </a:pPr>
            <a:r>
              <a:rPr lang="en-US" sz="1658" dirty="0">
                <a:solidFill>
                  <a:srgbClr val="626B72"/>
                </a:solidFill>
                <a:latin typeface="Arial" pitchFamily="34" charset="0"/>
                <a:ea typeface="Arial" pitchFamily="34" charset="-122"/>
                <a:cs typeface="Arial" pitchFamily="34" charset="-120"/>
              </a:rPr>
              <a:t>April 2025 - March 2026</a:t>
            </a:r>
            <a:endParaRPr lang="en-US" sz="1658" dirty="0"/>
          </a:p>
          <a:p>
            <a:pPr indent="0" marL="0">
              <a:buNone/>
            </a:pPr>
            <a:r>
              <a:rPr lang="en-US" sz="1658" dirty="0">
                <a:solidFill>
                  <a:srgbClr val="626B72"/>
                </a:solidFill>
                <a:latin typeface="Arial" pitchFamily="34" charset="0"/>
                <a:ea typeface="Arial" pitchFamily="34" charset="-122"/>
                <a:cs typeface="Arial" pitchFamily="34" charset="-120"/>
              </a:rPr>
              <a:t>Full fiscal year</a:t>
            </a:r>
            <a:endParaRPr lang="en-US" sz="1658" dirty="0"/>
          </a:p>
          <a:p>
            <a:pPr indent="0" marL="0">
              <a:buNone/>
            </a:pPr>
            <a:r>
              <a:rPr lang="en-US" sz="1658" dirty="0">
                <a:solidFill>
                  <a:srgbClr val="626B72"/>
                </a:solidFill>
                <a:latin typeface="Arial" pitchFamily="34" charset="0"/>
                <a:ea typeface="Arial" pitchFamily="34" charset="-122"/>
                <a:cs typeface="Arial" pitchFamily="34" charset="-120"/>
              </a:rPr>
              <a:t>ISZE to distributor</a:t>
            </a:r>
            <a:endParaRPr lang="en-US" sz="1658" dirty="0"/>
          </a:p>
        </p:txBody>
      </p:sp>
      <p:sp>
        <p:nvSpPr>
          <p:cNvPr id="15" name="Shape 13"/>
          <p:cNvSpPr/>
          <p:nvPr/>
        </p:nvSpPr>
        <p:spPr>
          <a:xfrm>
            <a:off x="4334256" y="2487168"/>
            <a:ext cx="3547872" cy="2715768"/>
          </a:xfrm>
          <a:prstGeom prst="rect">
            <a:avLst/>
          </a:prstGeom>
          <a:solidFill>
            <a:srgbClr val="FFFFFF"/>
          </a:solidFill>
          <a:ln w="7620">
            <a:solidFill>
              <a:srgbClr val="D9DCDA"/>
            </a:solidFill>
            <a:prstDash val="solid"/>
          </a:ln>
        </p:spPr>
        <p:txBody>
          <a:bodyPr/>
          <a:p/>
        </p:txBody>
      </p:sp>
      <p:sp>
        <p:nvSpPr>
          <p:cNvPr id="16" name="Text 14"/>
          <p:cNvSpPr/>
          <p:nvPr/>
        </p:nvSpPr>
        <p:spPr>
          <a:xfrm>
            <a:off x="4544568" y="2688336"/>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FISCAL 2027 Q1</a:t>
            </a:r>
            <a:endParaRPr lang="en-US" sz="1160" dirty="0"/>
          </a:p>
        </p:txBody>
      </p:sp>
      <p:sp>
        <p:nvSpPr>
          <p:cNvPr id="17" name="Text 15"/>
          <p:cNvSpPr/>
          <p:nvPr/>
        </p:nvSpPr>
        <p:spPr>
          <a:xfrm>
            <a:off x="4544568" y="3255264"/>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24282C"/>
                </a:solidFill>
                <a:latin typeface="Arial" pitchFamily="34" charset="0"/>
                <a:ea typeface="Arial" pitchFamily="34" charset="-122"/>
                <a:cs typeface="Arial" pitchFamily="34" charset="-120"/>
              </a:rPr>
              <a:t>8.14 M€</a:t>
            </a:r>
            <a:endParaRPr lang="en-US" sz="3500" dirty="0"/>
          </a:p>
        </p:txBody>
      </p:sp>
      <p:sp>
        <p:nvSpPr>
          <p:cNvPr id="18" name="Text 16"/>
          <p:cNvSpPr/>
          <p:nvPr/>
        </p:nvSpPr>
        <p:spPr>
          <a:xfrm>
            <a:off x="4544568" y="4041648"/>
            <a:ext cx="3127248" cy="987552"/>
          </a:xfrm>
          <a:prstGeom prst="rect">
            <a:avLst/>
          </a:prstGeom>
          <a:noFill/>
          <a:ln/>
        </p:spPr>
        <p:txBody>
          <a:bodyPr wrap="square" lIns="0" tIns="0" rIns="0" bIns="0" rtlCol="0" anchor="ctr">
            <a:normAutofit fontScale="100000" lnSpcReduction="0"/>
          </a:bodyPr>
          <a:lstStyle/>
          <a:p>
            <a:pPr indent="0" marL="0">
              <a:buNone/>
            </a:pPr>
            <a:r>
              <a:rPr lang="en-US" sz="1658" dirty="0">
                <a:solidFill>
                  <a:srgbClr val="626B72"/>
                </a:solidFill>
                <a:latin typeface="Arial" pitchFamily="34" charset="0"/>
                <a:ea typeface="Arial" pitchFamily="34" charset="-122"/>
                <a:cs typeface="Arial" pitchFamily="34" charset="-120"/>
              </a:rPr>
              <a:t>April - June 2026</a:t>
            </a:r>
            <a:endParaRPr lang="en-US" sz="1658" dirty="0"/>
          </a:p>
          <a:p>
            <a:pPr indent="0" marL="0">
              <a:buNone/>
            </a:pPr>
            <a:r>
              <a:rPr lang="en-US" sz="1658" dirty="0">
                <a:solidFill>
                  <a:srgbClr val="626B72"/>
                </a:solidFill>
                <a:latin typeface="Arial" pitchFamily="34" charset="0"/>
                <a:ea typeface="Arial" pitchFamily="34" charset="-122"/>
                <a:cs typeface="Arial" pitchFamily="34" charset="-120"/>
              </a:rPr>
              <a:t>Last closed billing quarter</a:t>
            </a:r>
            <a:endParaRPr lang="en-US" sz="1658" dirty="0"/>
          </a:p>
          <a:p>
            <a:pPr indent="0" marL="0">
              <a:buNone/>
            </a:pPr>
            <a:r>
              <a:rPr lang="en-US" sz="1658" dirty="0">
                <a:solidFill>
                  <a:srgbClr val="626B72"/>
                </a:solidFill>
                <a:latin typeface="Arial" pitchFamily="34" charset="0"/>
                <a:ea typeface="Arial" pitchFamily="34" charset="-122"/>
                <a:cs typeface="Arial" pitchFamily="34" charset="-120"/>
              </a:rPr>
              <a:t>ISZE to distributor</a:t>
            </a:r>
            <a:endParaRPr lang="en-US" sz="1658" dirty="0"/>
          </a:p>
        </p:txBody>
      </p:sp>
      <p:sp>
        <p:nvSpPr>
          <p:cNvPr id="19" name="Shape 17"/>
          <p:cNvSpPr/>
          <p:nvPr/>
        </p:nvSpPr>
        <p:spPr>
          <a:xfrm>
            <a:off x="8074152" y="2487168"/>
            <a:ext cx="3547872" cy="2715768"/>
          </a:xfrm>
          <a:prstGeom prst="rect">
            <a:avLst/>
          </a:prstGeom>
          <a:solidFill>
            <a:srgbClr val="24282C"/>
          </a:solidFill>
          <a:ln w="12700">
            <a:solidFill>
              <a:srgbClr val="24282C"/>
            </a:solidFill>
            <a:prstDash val="solid"/>
          </a:ln>
        </p:spPr>
        <p:txBody>
          <a:bodyPr/>
          <a:p/>
        </p:txBody>
      </p:sp>
      <p:sp>
        <p:nvSpPr>
          <p:cNvPr id="20" name="Text 18"/>
          <p:cNvSpPr/>
          <p:nvPr/>
        </p:nvSpPr>
        <p:spPr>
          <a:xfrm>
            <a:off x="8284464" y="2688336"/>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SEPTEMBER MTD</a:t>
            </a:r>
            <a:endParaRPr lang="en-US" sz="1160" dirty="0"/>
          </a:p>
        </p:txBody>
      </p:sp>
      <p:sp>
        <p:nvSpPr>
          <p:cNvPr id="21" name="Text 19"/>
          <p:cNvSpPr/>
          <p:nvPr/>
        </p:nvSpPr>
        <p:spPr>
          <a:xfrm>
            <a:off x="8284464" y="3255264"/>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FFFFFF"/>
                </a:solidFill>
                <a:latin typeface="Arial" pitchFamily="34" charset="0"/>
                <a:ea typeface="Arial" pitchFamily="34" charset="-122"/>
                <a:cs typeface="Arial" pitchFamily="34" charset="-120"/>
              </a:rPr>
              <a:t>1.46 M€</a:t>
            </a:r>
            <a:endParaRPr lang="en-US" sz="3500" dirty="0"/>
          </a:p>
        </p:txBody>
      </p:sp>
      <p:sp>
        <p:nvSpPr>
          <p:cNvPr id="22" name="Text 20"/>
          <p:cNvSpPr/>
          <p:nvPr/>
        </p:nvSpPr>
        <p:spPr>
          <a:xfrm>
            <a:off x="8284464" y="4041648"/>
            <a:ext cx="3127248" cy="987552"/>
          </a:xfrm>
          <a:prstGeom prst="rect">
            <a:avLst/>
          </a:prstGeom>
          <a:noFill/>
          <a:ln/>
        </p:spPr>
        <p:txBody>
          <a:bodyPr wrap="square" lIns="0" tIns="0" rIns="0" bIns="0" rtlCol="0" anchor="ctr">
            <a:normAutofit fontScale="100000" lnSpcReduction="0"/>
          </a:bodyPr>
          <a:lstStyle/>
          <a:p>
            <a:pPr indent="0" marL="0">
              <a:buNone/>
            </a:pPr>
            <a:r>
              <a:rPr lang="en-US" sz="1658" dirty="0">
                <a:solidFill>
                  <a:srgbClr val="CCD1D2"/>
                </a:solidFill>
                <a:latin typeface="Arial" pitchFamily="34" charset="0"/>
                <a:ea typeface="Arial" pitchFamily="34" charset="-122"/>
                <a:cs typeface="Arial" pitchFamily="34" charset="-120"/>
              </a:rPr>
              <a:t>To 14 September 2026</a:t>
            </a:r>
            <a:endParaRPr lang="en-US" sz="1658" dirty="0"/>
          </a:p>
          <a:p>
            <a:pPr indent="0" marL="0">
              <a:buNone/>
            </a:pPr>
            <a:r>
              <a:rPr lang="en-US" sz="1658" dirty="0">
                <a:solidFill>
                  <a:srgbClr val="CCD1D2"/>
                </a:solidFill>
                <a:latin typeface="Arial" pitchFamily="34" charset="0"/>
                <a:ea typeface="Arial" pitchFamily="34" charset="-122"/>
                <a:cs typeface="Arial" pitchFamily="34" charset="-120"/>
              </a:rPr>
              <a:t>Month remains open</a:t>
            </a:r>
            <a:endParaRPr lang="en-US" sz="1658" dirty="0"/>
          </a:p>
          <a:p>
            <a:pPr indent="0" marL="0">
              <a:buNone/>
            </a:pPr>
            <a:r>
              <a:rPr lang="en-US" sz="1658" dirty="0">
                <a:solidFill>
                  <a:srgbClr val="CCD1D2"/>
                </a:solidFill>
                <a:latin typeface="Arial" pitchFamily="34" charset="0"/>
                <a:ea typeface="Arial" pitchFamily="34" charset="-122"/>
                <a:cs typeface="Arial" pitchFamily="34" charset="-120"/>
              </a:rPr>
              <a:t>Daily sales report</a:t>
            </a:r>
            <a:endParaRPr lang="en-US" sz="1658" dirty="0"/>
          </a:p>
        </p:txBody>
      </p:sp>
      <p:sp>
        <p:nvSpPr>
          <p:cNvPr id="23" name="Shape 2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4" name="Text 2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Calendar-2025 service models and latest-filed KPIs remain separate analytical snapshots.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FISCAL CLOSE</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ITUK and IUK represent about 40% of annual billing.</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Fiscal 2026 | ISZE to distributor | Printed chart values, K€</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4 and 6. Chart labels are rounded; the original combined-share headline is corrected.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FISCAL CLOSE</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04</a:t>
            </a:r>
            <a:endParaRPr lang="en-US" sz="1050" dirty="0"/>
          </a:p>
        </p:txBody>
      </p:sp>
      <p:graphicFrame>
        <p:nvGraphicFramePr>
          <p:cNvPr id="11" name="Chart 0" descr=""/>
          <p:cNvGraphicFramePr/>
          <p:nvPr/>
        </p:nvGraphicFramePr>
        <p:xfrm>
          <a:off x="566928" y="2267712"/>
          <a:ext cx="7616952" cy="320040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COMBINED CONCENTRATION</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4300" b="1" dirty="0">
                <a:solidFill>
                  <a:srgbClr val="FFFFFF"/>
                </a:solidFill>
                <a:latin typeface="Arial" pitchFamily="34" charset="0"/>
                <a:ea typeface="Arial" pitchFamily="34" charset="-122"/>
                <a:cs typeface="Arial" pitchFamily="34" charset="-120"/>
              </a:rPr>
              <a:t>39.9%</a:t>
            </a:r>
            <a:endParaRPr lang="en-US" sz="43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666" dirty="0">
                <a:solidFill>
                  <a:srgbClr val="CCD1D2"/>
                </a:solidFill>
                <a:latin typeface="Arial" pitchFamily="34" charset="0"/>
                <a:ea typeface="Arial" pitchFamily="34" charset="-122"/>
                <a:cs typeface="Arial" pitchFamily="34" charset="-120"/>
              </a:rPr>
              <a:t>13.006 M€ from ITUK and IUK. The remaining distributors represent roughly 60% of the network.</a:t>
            </a:r>
            <a:endParaRPr lang="en-US" sz="1666"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Protect the two largest accounts without losing the category opportunities in the wider network.</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PLAN AND PACE</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The annual plan needs a phased quarterly comparison.</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Fiscal 2027 | Turnover plan and first-quarter billing are different views.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5. The pro-rata reference is arithmetic, not an approved quarterly budget.</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PLAN AND PACE</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05</a:t>
            </a:r>
            <a:endParaRPr lang="en-US" sz="1050" dirty="0"/>
          </a:p>
        </p:txBody>
      </p:sp>
      <p:sp>
        <p:nvSpPr>
          <p:cNvPr id="11" name="Shape 9"/>
          <p:cNvSpPr/>
          <p:nvPr/>
        </p:nvSpPr>
        <p:spPr>
          <a:xfrm>
            <a:off x="594360" y="2496312"/>
            <a:ext cx="3547872" cy="2715768"/>
          </a:xfrm>
          <a:prstGeom prst="rect">
            <a:avLst/>
          </a:prstGeom>
          <a:solidFill>
            <a:srgbClr val="FFFFFF"/>
          </a:solidFill>
          <a:ln w="7620">
            <a:solidFill>
              <a:srgbClr val="D9DCDA"/>
            </a:solidFill>
            <a:prstDash val="solid"/>
          </a:ln>
        </p:spPr>
        <p:txBody>
          <a:bodyPr/>
          <a:p/>
        </p:txBody>
      </p:sp>
      <p:sp>
        <p:nvSpPr>
          <p:cNvPr id="12" name="Text 10"/>
          <p:cNvSpPr/>
          <p:nvPr/>
        </p:nvSpPr>
        <p:spPr>
          <a:xfrm>
            <a:off x="804672" y="2697480"/>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ANNUAL TURNOVER PLAN</a:t>
            </a:r>
            <a:endParaRPr lang="en-US" sz="1160" dirty="0"/>
          </a:p>
        </p:txBody>
      </p:sp>
      <p:sp>
        <p:nvSpPr>
          <p:cNvPr id="13" name="Text 11"/>
          <p:cNvSpPr/>
          <p:nvPr/>
        </p:nvSpPr>
        <p:spPr>
          <a:xfrm>
            <a:off x="804672" y="3264408"/>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24282C"/>
                </a:solidFill>
                <a:latin typeface="Arial" pitchFamily="34" charset="0"/>
                <a:ea typeface="Arial" pitchFamily="34" charset="-122"/>
                <a:cs typeface="Arial" pitchFamily="34" charset="-120"/>
              </a:rPr>
              <a:t>35.28 M€</a:t>
            </a:r>
            <a:endParaRPr lang="en-US" sz="3500" dirty="0"/>
          </a:p>
        </p:txBody>
      </p:sp>
      <p:sp>
        <p:nvSpPr>
          <p:cNvPr id="14" name="Text 12"/>
          <p:cNvSpPr/>
          <p:nvPr/>
        </p:nvSpPr>
        <p:spPr>
          <a:xfrm>
            <a:off x="804672" y="4050792"/>
            <a:ext cx="3127248" cy="987552"/>
          </a:xfrm>
          <a:prstGeom prst="rect">
            <a:avLst/>
          </a:prstGeom>
          <a:noFill/>
          <a:ln/>
        </p:spPr>
        <p:txBody>
          <a:bodyPr wrap="square" lIns="0" tIns="0" rIns="0" bIns="0" rtlCol="0" anchor="ctr">
            <a:normAutofit fontScale="100000" lnSpcReduction="0"/>
          </a:bodyPr>
          <a:lstStyle/>
          <a:p>
            <a:pPr indent="0" marL="0">
              <a:buNone/>
            </a:pPr>
            <a:r>
              <a:rPr lang="en-US" sz="1607" dirty="0">
                <a:solidFill>
                  <a:srgbClr val="626B72"/>
                </a:solidFill>
                <a:latin typeface="Arial" pitchFamily="34" charset="0"/>
                <a:ea typeface="Arial" pitchFamily="34" charset="-122"/>
                <a:cs typeface="Arial" pitchFamily="34" charset="-120"/>
              </a:rPr>
              <a:t>Business plan reviewed in April 2026. Confirm the account scope before measuring variance.</a:t>
            </a:r>
            <a:endParaRPr lang="en-US" sz="1608" dirty="0"/>
          </a:p>
        </p:txBody>
      </p:sp>
      <p:sp>
        <p:nvSpPr>
          <p:cNvPr id="15" name="Shape 13"/>
          <p:cNvSpPr/>
          <p:nvPr/>
        </p:nvSpPr>
        <p:spPr>
          <a:xfrm>
            <a:off x="4334256" y="2496312"/>
            <a:ext cx="3547872" cy="2715768"/>
          </a:xfrm>
          <a:prstGeom prst="rect">
            <a:avLst/>
          </a:prstGeom>
          <a:solidFill>
            <a:srgbClr val="FFFFFF"/>
          </a:solidFill>
          <a:ln w="7620">
            <a:solidFill>
              <a:srgbClr val="D9DCDA"/>
            </a:solidFill>
            <a:prstDash val="solid"/>
          </a:ln>
        </p:spPr>
        <p:txBody>
          <a:bodyPr/>
          <a:p/>
        </p:txBody>
      </p:sp>
      <p:sp>
        <p:nvSpPr>
          <p:cNvPr id="16" name="Text 14"/>
          <p:cNvSpPr/>
          <p:nvPr/>
        </p:nvSpPr>
        <p:spPr>
          <a:xfrm>
            <a:off x="4544568" y="2697480"/>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Q1 ACTUAL BILLING</a:t>
            </a:r>
            <a:endParaRPr lang="en-US" sz="1160" dirty="0"/>
          </a:p>
        </p:txBody>
      </p:sp>
      <p:sp>
        <p:nvSpPr>
          <p:cNvPr id="17" name="Text 15"/>
          <p:cNvSpPr/>
          <p:nvPr/>
        </p:nvSpPr>
        <p:spPr>
          <a:xfrm>
            <a:off x="4544568" y="3264408"/>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24282C"/>
                </a:solidFill>
                <a:latin typeface="Arial" pitchFamily="34" charset="0"/>
                <a:ea typeface="Arial" pitchFamily="34" charset="-122"/>
                <a:cs typeface="Arial" pitchFamily="34" charset="-120"/>
              </a:rPr>
              <a:t>8.14 M€</a:t>
            </a:r>
            <a:endParaRPr lang="en-US" sz="3500" dirty="0"/>
          </a:p>
        </p:txBody>
      </p:sp>
      <p:sp>
        <p:nvSpPr>
          <p:cNvPr id="18" name="Text 16"/>
          <p:cNvSpPr/>
          <p:nvPr/>
        </p:nvSpPr>
        <p:spPr>
          <a:xfrm>
            <a:off x="4544568" y="4050792"/>
            <a:ext cx="3127248" cy="987552"/>
          </a:xfrm>
          <a:prstGeom prst="rect">
            <a:avLst/>
          </a:prstGeom>
          <a:noFill/>
          <a:ln/>
        </p:spPr>
        <p:txBody>
          <a:bodyPr wrap="square" lIns="0" tIns="0" rIns="0" bIns="0" rtlCol="0" anchor="ctr">
            <a:normAutofit fontScale="100000" lnSpcReduction="0"/>
          </a:bodyPr>
          <a:lstStyle/>
          <a:p>
            <a:pPr indent="0" marL="0">
              <a:buNone/>
            </a:pPr>
            <a:r>
              <a:rPr lang="en-US" sz="1695" dirty="0">
                <a:solidFill>
                  <a:srgbClr val="626B72"/>
                </a:solidFill>
                <a:latin typeface="Arial" pitchFamily="34" charset="0"/>
                <a:ea typeface="Arial" pitchFamily="34" charset="-122"/>
                <a:cs typeface="Arial" pitchFamily="34" charset="-120"/>
              </a:rPr>
              <a:t>April to June 2026 on the network distributor billing base.</a:t>
            </a:r>
            <a:endParaRPr lang="en-US" sz="1695" dirty="0"/>
          </a:p>
        </p:txBody>
      </p:sp>
      <p:sp>
        <p:nvSpPr>
          <p:cNvPr id="19" name="Shape 17"/>
          <p:cNvSpPr/>
          <p:nvPr/>
        </p:nvSpPr>
        <p:spPr>
          <a:xfrm>
            <a:off x="8074152" y="2496312"/>
            <a:ext cx="3547872" cy="2715768"/>
          </a:xfrm>
          <a:prstGeom prst="rect">
            <a:avLst/>
          </a:prstGeom>
          <a:solidFill>
            <a:srgbClr val="24282C"/>
          </a:solidFill>
          <a:ln w="12700">
            <a:solidFill>
              <a:srgbClr val="24282C"/>
            </a:solidFill>
            <a:prstDash val="solid"/>
          </a:ln>
        </p:spPr>
        <p:txBody>
          <a:bodyPr/>
          <a:p/>
        </p:txBody>
      </p:sp>
      <p:sp>
        <p:nvSpPr>
          <p:cNvPr id="20" name="Text 18"/>
          <p:cNvSpPr/>
          <p:nvPr/>
        </p:nvSpPr>
        <p:spPr>
          <a:xfrm>
            <a:off x="8284464" y="2697480"/>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SIMPLE QUARTER REFERENCE</a:t>
            </a:r>
            <a:endParaRPr lang="en-US" sz="1160" dirty="0"/>
          </a:p>
        </p:txBody>
      </p:sp>
      <p:sp>
        <p:nvSpPr>
          <p:cNvPr id="21" name="Text 19"/>
          <p:cNvSpPr/>
          <p:nvPr/>
        </p:nvSpPr>
        <p:spPr>
          <a:xfrm>
            <a:off x="8284464" y="3264408"/>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FFFFFF"/>
                </a:solidFill>
                <a:latin typeface="Arial" pitchFamily="34" charset="0"/>
                <a:ea typeface="Arial" pitchFamily="34" charset="-122"/>
                <a:cs typeface="Arial" pitchFamily="34" charset="-120"/>
              </a:rPr>
              <a:t>8.82 M€</a:t>
            </a:r>
            <a:endParaRPr lang="en-US" sz="3500" dirty="0"/>
          </a:p>
        </p:txBody>
      </p:sp>
      <p:sp>
        <p:nvSpPr>
          <p:cNvPr id="22" name="Text 20"/>
          <p:cNvSpPr/>
          <p:nvPr/>
        </p:nvSpPr>
        <p:spPr>
          <a:xfrm>
            <a:off x="8284464" y="4050792"/>
            <a:ext cx="3127248" cy="987552"/>
          </a:xfrm>
          <a:prstGeom prst="rect">
            <a:avLst/>
          </a:prstGeom>
          <a:noFill/>
          <a:ln/>
        </p:spPr>
        <p:txBody>
          <a:bodyPr wrap="square" lIns="0" tIns="0" rIns="0" bIns="0" rtlCol="0" anchor="ctr">
            <a:normAutofit fontScale="100000" lnSpcReduction="0"/>
          </a:bodyPr>
          <a:lstStyle/>
          <a:p>
            <a:pPr indent="0" marL="0">
              <a:buNone/>
            </a:pPr>
            <a:r>
              <a:rPr lang="en-US" sz="1658" dirty="0">
                <a:solidFill>
                  <a:srgbClr val="CCD1D2"/>
                </a:solidFill>
                <a:latin typeface="Arial" pitchFamily="34" charset="0"/>
                <a:ea typeface="Arial" pitchFamily="34" charset="-122"/>
                <a:cs typeface="Arial" pitchFamily="34" charset="-120"/>
              </a:rPr>
              <a:t>Annual plan divided by four. The 0.68 M€ difference is not a verified budget shortfall.</a:t>
            </a:r>
            <a:endParaRPr lang="en-US" sz="1658" dirty="0"/>
          </a:p>
        </p:txBody>
      </p:sp>
      <p:sp>
        <p:nvSpPr>
          <p:cNvPr id="23" name="Shape 2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4" name="Text 2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Next review: use the approved monthly BP, matching sold-to scope, period and turnover definition.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SEPTEMBER MONTH TO DATE</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September is at 46% of plan - not yet a month-end result.</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Parts billing to 14 September 2026 | K€ | Open month</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7-8. MTD chart rebuilt from printed values; no month-end extrapolation.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SEPTEMBER MONTH TO DATE</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06</a:t>
            </a:r>
            <a:endParaRPr lang="en-US" sz="1050" dirty="0"/>
          </a:p>
        </p:txBody>
      </p:sp>
      <p:graphicFrame>
        <p:nvGraphicFramePr>
          <p:cNvPr id="11" name="Chart 0" descr=""/>
          <p:cNvGraphicFramePr/>
          <p:nvPr/>
        </p:nvGraphicFramePr>
        <p:xfrm>
          <a:off x="566928" y="2267712"/>
          <a:ext cx="7616952" cy="320040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MONTH PLAN</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250" b="1" dirty="0">
                <a:solidFill>
                  <a:srgbClr val="FFFFFF"/>
                </a:solidFill>
                <a:latin typeface="Arial" pitchFamily="34" charset="0"/>
                <a:ea typeface="Arial" pitchFamily="34" charset="-122"/>
                <a:cs typeface="Arial" pitchFamily="34" charset="-120"/>
              </a:rPr>
              <a:t>3.18 M€</a:t>
            </a:r>
            <a:endParaRPr lang="en-US" sz="325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617" dirty="0">
                <a:solidFill>
                  <a:srgbClr val="CCD1D2"/>
                </a:solidFill>
                <a:latin typeface="Arial" pitchFamily="34" charset="0"/>
                <a:ea typeface="Arial" pitchFamily="34" charset="-122"/>
                <a:cs typeface="Arial" pitchFamily="34" charset="-120"/>
              </a:rPr>
              <a:t>About 1.72 M€ remains to plan. The source flags ITUK, ISD and IBX ahead of last year, and IUK behind.</a:t>
            </a:r>
            <a:endParaRPr lang="en-US" sz="1617"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Review the remaining order book, supply constraints and billing dates before judging the month.</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REVENUE QUALITY</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Explain the movement before choosing the commercial action.</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monthly revenue bridge | No price, mix or contribution effects have been calculated here.</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Proposed extension based on AIM p. 10 and BPR pp. 38-39. Requires matched invoice-line and cost data.</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REVENUE QUALITY</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07</a:t>
            </a:r>
            <a:endParaRPr lang="en-US" sz="1050" dirty="0"/>
          </a:p>
        </p:txBody>
      </p:sp>
      <p:sp>
        <p:nvSpPr>
          <p:cNvPr id="12" name="Shape 10"/>
          <p:cNvSpPr/>
          <p:nvPr/>
        </p:nvSpPr>
        <p:spPr>
          <a:xfrm>
            <a:off x="594360" y="2606040"/>
            <a:ext cx="2583180" cy="2633472"/>
          </a:xfrm>
          <a:prstGeom prst="rect">
            <a:avLst/>
          </a:prstGeom>
          <a:solidFill>
            <a:srgbClr val="FFFFFF"/>
          </a:solidFill>
          <a:ln w="7620">
            <a:solidFill>
              <a:srgbClr val="D9DCDA"/>
            </a:solidFill>
            <a:prstDash val="solid"/>
          </a:ln>
        </p:spPr>
        <p:txBody>
          <a:bodyPr/>
          <a:p/>
        </p:txBody>
      </p:sp>
      <p:sp>
        <p:nvSpPr>
          <p:cNvPr id="13" name="Text 11"/>
          <p:cNvSpPr/>
          <p:nvPr/>
        </p:nvSpPr>
        <p:spPr>
          <a:xfrm>
            <a:off x="804672" y="2807208"/>
            <a:ext cx="2162556"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QUANTITY</a:t>
            </a:r>
            <a:endParaRPr lang="en-US" sz="1160" dirty="0"/>
          </a:p>
        </p:txBody>
      </p:sp>
      <p:sp>
        <p:nvSpPr>
          <p:cNvPr id="14" name="Text 12"/>
          <p:cNvSpPr/>
          <p:nvPr/>
        </p:nvSpPr>
        <p:spPr>
          <a:xfrm>
            <a:off x="804672" y="3419856"/>
            <a:ext cx="2162556" cy="1609344"/>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Same reference, same period.</a:t>
            </a:r>
            <a:endParaRPr lang="en-US" sz="1676" dirty="0"/>
          </a:p>
          <a:p>
            <a:pPr indent="0" marL="0">
              <a:buNone/>
            </a:pPr>
            <a:r>
              <a:rPr lang="en-US" sz="1676" dirty="0">
                <a:solidFill>
                  <a:srgbClr val="626B72"/>
                </a:solidFill>
                <a:latin typeface="Arial" pitchFamily="34" charset="0"/>
                <a:ea typeface="Arial" pitchFamily="34" charset="-122"/>
                <a:cs typeface="Arial" pitchFamily="34" charset="-120"/>
              </a:rPr>
              <a:t>Are repeat purchases changing?</a:t>
            </a:r>
            <a:endParaRPr lang="en-US" sz="1676" dirty="0"/>
          </a:p>
        </p:txBody>
      </p:sp>
      <p:sp>
        <p:nvSpPr>
          <p:cNvPr id="15" name="Shape 13"/>
          <p:cNvSpPr/>
          <p:nvPr/>
        </p:nvSpPr>
        <p:spPr>
          <a:xfrm>
            <a:off x="3396996" y="2606040"/>
            <a:ext cx="2583180" cy="2633472"/>
          </a:xfrm>
          <a:prstGeom prst="rect">
            <a:avLst/>
          </a:prstGeom>
          <a:solidFill>
            <a:srgbClr val="FFFFFF"/>
          </a:solidFill>
          <a:ln w="7620">
            <a:solidFill>
              <a:srgbClr val="D9DCDA"/>
            </a:solidFill>
            <a:prstDash val="solid"/>
          </a:ln>
        </p:spPr>
        <p:txBody>
          <a:bodyPr/>
          <a:p/>
        </p:txBody>
      </p:sp>
      <p:sp>
        <p:nvSpPr>
          <p:cNvPr id="16" name="Text 14"/>
          <p:cNvSpPr/>
          <p:nvPr/>
        </p:nvSpPr>
        <p:spPr>
          <a:xfrm>
            <a:off x="3607308" y="2807208"/>
            <a:ext cx="2162556"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NET PRICE</a:t>
            </a:r>
            <a:endParaRPr lang="en-US" sz="1160" dirty="0"/>
          </a:p>
        </p:txBody>
      </p:sp>
      <p:sp>
        <p:nvSpPr>
          <p:cNvPr id="17" name="Text 15"/>
          <p:cNvSpPr/>
          <p:nvPr/>
        </p:nvSpPr>
        <p:spPr>
          <a:xfrm>
            <a:off x="3607308" y="3419856"/>
            <a:ext cx="2162556" cy="1609344"/>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Realised unit price on matched references, including agreed support.</a:t>
            </a:r>
            <a:endParaRPr lang="en-US" sz="1676" dirty="0"/>
          </a:p>
        </p:txBody>
      </p:sp>
      <p:sp>
        <p:nvSpPr>
          <p:cNvPr id="18" name="Shape 16"/>
          <p:cNvSpPr/>
          <p:nvPr/>
        </p:nvSpPr>
        <p:spPr>
          <a:xfrm>
            <a:off x="6199632" y="2606040"/>
            <a:ext cx="2583180" cy="2633472"/>
          </a:xfrm>
          <a:prstGeom prst="rect">
            <a:avLst/>
          </a:prstGeom>
          <a:solidFill>
            <a:srgbClr val="FFFFFF"/>
          </a:solidFill>
          <a:ln w="7620">
            <a:solidFill>
              <a:srgbClr val="D9DCDA"/>
            </a:solidFill>
            <a:prstDash val="solid"/>
          </a:ln>
        </p:spPr>
        <p:txBody>
          <a:bodyPr/>
          <a:p/>
        </p:txBody>
      </p:sp>
      <p:sp>
        <p:nvSpPr>
          <p:cNvPr id="19" name="Text 17"/>
          <p:cNvSpPr/>
          <p:nvPr/>
        </p:nvSpPr>
        <p:spPr>
          <a:xfrm>
            <a:off x="6409944" y="2807208"/>
            <a:ext cx="2162556"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MIX</a:t>
            </a:r>
            <a:endParaRPr lang="en-US" sz="1160" dirty="0"/>
          </a:p>
        </p:txBody>
      </p:sp>
      <p:sp>
        <p:nvSpPr>
          <p:cNvPr id="20" name="Text 18"/>
          <p:cNvSpPr/>
          <p:nvPr/>
        </p:nvSpPr>
        <p:spPr>
          <a:xfrm>
            <a:off x="6409944" y="3419856"/>
            <a:ext cx="2162556" cy="1609344"/>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Genuine/BVP, kits, major repairs and the account mix.</a:t>
            </a:r>
            <a:endParaRPr lang="en-US" sz="1676" dirty="0"/>
          </a:p>
        </p:txBody>
      </p:sp>
      <p:sp>
        <p:nvSpPr>
          <p:cNvPr id="21" name="Shape 19"/>
          <p:cNvSpPr/>
          <p:nvPr/>
        </p:nvSpPr>
        <p:spPr>
          <a:xfrm>
            <a:off x="9002268" y="2606040"/>
            <a:ext cx="2583180" cy="2633472"/>
          </a:xfrm>
          <a:prstGeom prst="rect">
            <a:avLst/>
          </a:prstGeom>
          <a:solidFill>
            <a:srgbClr val="FFFFFF"/>
          </a:solidFill>
          <a:ln w="7620">
            <a:solidFill>
              <a:srgbClr val="D9DCDA"/>
            </a:solidFill>
            <a:prstDash val="solid"/>
          </a:ln>
        </p:spPr>
        <p:txBody>
          <a:bodyPr/>
          <a:p/>
        </p:txBody>
      </p:sp>
      <p:sp>
        <p:nvSpPr>
          <p:cNvPr id="22" name="Text 20"/>
          <p:cNvSpPr/>
          <p:nvPr/>
        </p:nvSpPr>
        <p:spPr>
          <a:xfrm>
            <a:off x="9212580" y="2807208"/>
            <a:ext cx="2162556"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REVENUE QUALITY</a:t>
            </a:r>
            <a:endParaRPr lang="en-US" sz="1160" dirty="0"/>
          </a:p>
        </p:txBody>
      </p:sp>
      <p:sp>
        <p:nvSpPr>
          <p:cNvPr id="23" name="Text 21"/>
          <p:cNvSpPr/>
          <p:nvPr/>
        </p:nvSpPr>
        <p:spPr>
          <a:xfrm>
            <a:off x="9212580" y="3419856"/>
            <a:ext cx="2162556" cy="1609344"/>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Separate credits and linked warranty; then review contribution.</a:t>
            </a:r>
            <a:endParaRPr lang="en-US" sz="1676" dirty="0"/>
          </a:p>
        </p:txBody>
      </p:sp>
      <p:sp>
        <p:nvSpPr>
          <p:cNvPr id="24" name="Shape 22"/>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5" name="Text 23"/>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A higher revenue per recorded unit is not proof of a like-for-like price increase.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AIM SALES EXPLANATION</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ADDED FROM AIM</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ITUK brake-pad volume fell faster than revenue.</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2024 versus 2025 | ISZE to distributor | Existing source-category scope</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AIM p. 11. Figures are inherited category totals, not a fresh classification of invoice lines.</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AIM SALES EXPLANATION</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08</a:t>
            </a:r>
            <a:endParaRPr lang="en-US" sz="1050" dirty="0"/>
          </a:p>
        </p:txBody>
      </p:sp>
      <p:sp>
        <p:nvSpPr>
          <p:cNvPr id="12" name="Shape 10"/>
          <p:cNvSpPr/>
          <p:nvPr/>
        </p:nvSpPr>
        <p:spPr>
          <a:xfrm>
            <a:off x="594360" y="2542032"/>
            <a:ext cx="5376672" cy="2788920"/>
          </a:xfrm>
          <a:prstGeom prst="rect">
            <a:avLst/>
          </a:prstGeom>
          <a:solidFill>
            <a:srgbClr val="FFFFFF"/>
          </a:solidFill>
          <a:ln w="7620">
            <a:solidFill>
              <a:srgbClr val="D9DCDA"/>
            </a:solidFill>
            <a:prstDash val="solid"/>
          </a:ln>
        </p:spPr>
        <p:txBody>
          <a:bodyPr/>
          <a:p/>
        </p:txBody>
      </p:sp>
      <p:sp>
        <p:nvSpPr>
          <p:cNvPr id="13" name="Text 11"/>
          <p:cNvSpPr/>
          <p:nvPr/>
        </p:nvSpPr>
        <p:spPr>
          <a:xfrm>
            <a:off x="804672" y="2761488"/>
            <a:ext cx="4956048" cy="228600"/>
          </a:xfrm>
          <a:prstGeom prst="rect">
            <a:avLst/>
          </a:prstGeom>
          <a:noFill/>
          <a:ln/>
        </p:spPr>
        <p:txBody>
          <a:bodyPr wrap="square" lIns="0" tIns="0" rIns="0" bIns="0" rtlCol="0" anchor="ctr">
            <a:normAutofit fontScale="100000" lnSpcReduction="0"/>
          </a:bodyPr>
          <a:lstStyle/>
          <a:p>
            <a:pPr indent="0" marL="0">
              <a:buNone/>
            </a:pPr>
            <a:r>
              <a:rPr lang="en-US" sz="1100" b="1" spc="70" kern="0" dirty="0">
                <a:solidFill>
                  <a:srgbClr val="E30613"/>
                </a:solidFill>
                <a:latin typeface="Arial" pitchFamily="34" charset="0"/>
                <a:ea typeface="Arial" pitchFamily="34" charset="-122"/>
                <a:cs typeface="Arial" pitchFamily="34" charset="-120"/>
              </a:rPr>
              <a:t>PARTS BILLED</a:t>
            </a:r>
            <a:endParaRPr lang="en-US" sz="1100" dirty="0"/>
          </a:p>
        </p:txBody>
      </p:sp>
      <p:sp>
        <p:nvSpPr>
          <p:cNvPr id="14" name="Text 12"/>
          <p:cNvSpPr/>
          <p:nvPr/>
        </p:nvSpPr>
        <p:spPr>
          <a:xfrm>
            <a:off x="813816" y="3264408"/>
            <a:ext cx="1828800" cy="228600"/>
          </a:xfrm>
          <a:prstGeom prst="rect">
            <a:avLst/>
          </a:prstGeom>
          <a:noFill/>
          <a:ln/>
        </p:spPr>
        <p:txBody>
          <a:bodyPr wrap="square" lIns="0" tIns="0" rIns="0" bIns="0" rtlCol="0" anchor="ctr">
            <a:normAutofit fontScale="100000" lnSpcReduction="0"/>
          </a:bodyPr>
          <a:lstStyle/>
          <a:p>
            <a:pPr indent="0" marL="0">
              <a:buNone/>
            </a:pPr>
            <a:r>
              <a:rPr lang="en-US" sz="1300" dirty="0">
                <a:solidFill>
                  <a:srgbClr val="626B72"/>
                </a:solidFill>
                <a:latin typeface="Arial" pitchFamily="34" charset="0"/>
                <a:ea typeface="Arial" pitchFamily="34" charset="-122"/>
                <a:cs typeface="Arial" pitchFamily="34" charset="-120"/>
              </a:rPr>
              <a:t>2024</a:t>
            </a:r>
            <a:endParaRPr lang="en-US" sz="1300" dirty="0"/>
          </a:p>
        </p:txBody>
      </p:sp>
      <p:sp>
        <p:nvSpPr>
          <p:cNvPr id="15" name="Text 13"/>
          <p:cNvSpPr/>
          <p:nvPr/>
        </p:nvSpPr>
        <p:spPr>
          <a:xfrm>
            <a:off x="3465576" y="3264408"/>
            <a:ext cx="1828800" cy="228600"/>
          </a:xfrm>
          <a:prstGeom prst="rect">
            <a:avLst/>
          </a:prstGeom>
          <a:noFill/>
          <a:ln/>
        </p:spPr>
        <p:txBody>
          <a:bodyPr wrap="square" lIns="0" tIns="0" rIns="0" bIns="0" rtlCol="0" anchor="ctr">
            <a:normAutofit fontScale="100000" lnSpcReduction="0"/>
          </a:bodyPr>
          <a:lstStyle/>
          <a:p>
            <a:pPr indent="0" marL="0">
              <a:buNone/>
            </a:pPr>
            <a:r>
              <a:rPr lang="en-US" sz="1300" dirty="0">
                <a:solidFill>
                  <a:srgbClr val="626B72"/>
                </a:solidFill>
                <a:latin typeface="Arial" pitchFamily="34" charset="0"/>
                <a:ea typeface="Arial" pitchFamily="34" charset="-122"/>
                <a:cs typeface="Arial" pitchFamily="34" charset="-120"/>
              </a:rPr>
              <a:t>2025</a:t>
            </a:r>
            <a:endParaRPr lang="en-US" sz="1300" dirty="0"/>
          </a:p>
        </p:txBody>
      </p:sp>
      <p:sp>
        <p:nvSpPr>
          <p:cNvPr id="16" name="Text 14"/>
          <p:cNvSpPr/>
          <p:nvPr/>
        </p:nvSpPr>
        <p:spPr>
          <a:xfrm>
            <a:off x="813816" y="3602736"/>
            <a:ext cx="2103120" cy="566928"/>
          </a:xfrm>
          <a:prstGeom prst="rect">
            <a:avLst/>
          </a:prstGeom>
          <a:noFill/>
          <a:ln/>
        </p:spPr>
        <p:txBody>
          <a:bodyPr wrap="square" lIns="0" tIns="0" rIns="0" bIns="0" rtlCol="0" anchor="ctr">
            <a:normAutofit fontScale="100000" lnSpcReduction="0"/>
          </a:bodyPr>
          <a:lstStyle/>
          <a:p>
            <a:pPr indent="0" marL="0">
              <a:buNone/>
            </a:pPr>
            <a:r>
              <a:rPr lang="en-US" sz="2700" b="1" dirty="0">
                <a:solidFill>
                  <a:srgbClr val="24282C"/>
                </a:solidFill>
                <a:latin typeface="Arial" pitchFamily="34" charset="0"/>
                <a:ea typeface="Arial" pitchFamily="34" charset="-122"/>
                <a:cs typeface="Arial" pitchFamily="34" charset="-120"/>
              </a:rPr>
              <a:t>€347,390</a:t>
            </a:r>
            <a:endParaRPr lang="en-US" sz="2700" dirty="0"/>
          </a:p>
        </p:txBody>
      </p:sp>
      <p:sp>
        <p:nvSpPr>
          <p:cNvPr id="17" name="Text 15"/>
          <p:cNvSpPr/>
          <p:nvPr/>
        </p:nvSpPr>
        <p:spPr>
          <a:xfrm>
            <a:off x="3008376" y="3630168"/>
            <a:ext cx="365760" cy="411480"/>
          </a:xfrm>
          <a:prstGeom prst="rect">
            <a:avLst/>
          </a:prstGeom>
          <a:noFill/>
          <a:ln/>
        </p:spPr>
        <p:txBody>
          <a:bodyPr wrap="square" lIns="0" tIns="0" rIns="0" bIns="0" rtlCol="0" anchor="ctr">
            <a:normAutofit fontScale="100000" lnSpcReduction="0"/>
          </a:bodyPr>
          <a:lstStyle/>
          <a:p>
            <a:pPr algn="ctr" indent="0" marL="0">
              <a:buNone/>
            </a:pPr>
            <a:r>
              <a:rPr lang="en-US" sz="2500" b="1" dirty="0">
                <a:solidFill>
                  <a:srgbClr val="E30613"/>
                </a:solidFill>
                <a:latin typeface="Arial" pitchFamily="34" charset="0"/>
                <a:ea typeface="Arial" pitchFamily="34" charset="-122"/>
                <a:cs typeface="Arial" pitchFamily="34" charset="-120"/>
              </a:rPr>
              <a:t>→</a:t>
            </a:r>
            <a:endParaRPr lang="en-US" sz="2500" dirty="0"/>
          </a:p>
        </p:txBody>
      </p:sp>
      <p:sp>
        <p:nvSpPr>
          <p:cNvPr id="18" name="Text 16"/>
          <p:cNvSpPr/>
          <p:nvPr/>
        </p:nvSpPr>
        <p:spPr>
          <a:xfrm>
            <a:off x="3465576" y="3602736"/>
            <a:ext cx="2322576" cy="566928"/>
          </a:xfrm>
          <a:prstGeom prst="rect">
            <a:avLst/>
          </a:prstGeom>
          <a:noFill/>
          <a:ln/>
        </p:spPr>
        <p:txBody>
          <a:bodyPr wrap="square" lIns="0" tIns="0" rIns="0" bIns="0" rtlCol="0" anchor="ctr">
            <a:normAutofit fontScale="100000" lnSpcReduction="0"/>
          </a:bodyPr>
          <a:lstStyle/>
          <a:p>
            <a:pPr indent="0" marL="0">
              <a:buNone/>
            </a:pPr>
            <a:r>
              <a:rPr lang="en-US" sz="2700" b="1" dirty="0">
                <a:solidFill>
                  <a:srgbClr val="24282C"/>
                </a:solidFill>
                <a:latin typeface="Arial" pitchFamily="34" charset="0"/>
                <a:ea typeface="Arial" pitchFamily="34" charset="-122"/>
                <a:cs typeface="Arial" pitchFamily="34" charset="-120"/>
              </a:rPr>
              <a:t>€302,366</a:t>
            </a:r>
            <a:endParaRPr lang="en-US" sz="2700" dirty="0"/>
          </a:p>
        </p:txBody>
      </p:sp>
      <p:sp>
        <p:nvSpPr>
          <p:cNvPr id="19" name="Text 17"/>
          <p:cNvSpPr/>
          <p:nvPr/>
        </p:nvSpPr>
        <p:spPr>
          <a:xfrm>
            <a:off x="813816" y="4507992"/>
            <a:ext cx="1691640" cy="566928"/>
          </a:xfrm>
          <a:prstGeom prst="rect">
            <a:avLst/>
          </a:prstGeom>
          <a:noFill/>
          <a:ln/>
        </p:spPr>
        <p:txBody>
          <a:bodyPr wrap="square" lIns="0" tIns="0" rIns="0" bIns="0" rtlCol="0" anchor="ctr">
            <a:normAutofit fontScale="100000" lnSpcReduction="0"/>
          </a:bodyPr>
          <a:lstStyle/>
          <a:p>
            <a:pPr indent="0" marL="0">
              <a:buNone/>
            </a:pPr>
            <a:r>
              <a:rPr lang="en-US" sz="3100" b="1" dirty="0">
                <a:solidFill>
                  <a:srgbClr val="E30613"/>
                </a:solidFill>
                <a:latin typeface="Arial" pitchFamily="34" charset="0"/>
                <a:ea typeface="Arial" pitchFamily="34" charset="-122"/>
                <a:cs typeface="Arial" pitchFamily="34" charset="-120"/>
              </a:rPr>
              <a:t>-13.0%</a:t>
            </a:r>
            <a:endParaRPr lang="en-US" sz="3100" dirty="0"/>
          </a:p>
        </p:txBody>
      </p:sp>
      <p:sp>
        <p:nvSpPr>
          <p:cNvPr id="20" name="Text 18"/>
          <p:cNvSpPr/>
          <p:nvPr/>
        </p:nvSpPr>
        <p:spPr>
          <a:xfrm>
            <a:off x="2587752" y="4462272"/>
            <a:ext cx="3163824" cy="630936"/>
          </a:xfrm>
          <a:prstGeom prst="rect">
            <a:avLst/>
          </a:prstGeom>
          <a:noFill/>
          <a:ln/>
        </p:spPr>
        <p:txBody>
          <a:bodyPr wrap="square" lIns="0" tIns="0" rIns="0" bIns="0" rtlCol="0" anchor="ctr">
            <a:normAutofit fontScale="100000" lnSpcReduction="0"/>
          </a:bodyPr>
          <a:lstStyle/>
          <a:p>
            <a:pPr indent="0" marL="0">
              <a:buNone/>
            </a:pPr>
            <a:r>
              <a:rPr lang="en-US" sz="1500" dirty="0">
                <a:solidFill>
                  <a:srgbClr val="626B72"/>
                </a:solidFill>
                <a:latin typeface="Arial" pitchFamily="34" charset="0"/>
                <a:ea typeface="Arial" pitchFamily="34" charset="-122"/>
                <a:cs typeface="Arial" pitchFamily="34" charset="-120"/>
              </a:rPr>
              <a:t>Billing declined less sharply than quantity.</a:t>
            </a:r>
            <a:endParaRPr lang="en-US" sz="1500" dirty="0"/>
          </a:p>
        </p:txBody>
      </p:sp>
      <p:sp>
        <p:nvSpPr>
          <p:cNvPr id="21" name="Shape 19"/>
          <p:cNvSpPr/>
          <p:nvPr/>
        </p:nvSpPr>
        <p:spPr>
          <a:xfrm>
            <a:off x="6217920" y="2542032"/>
            <a:ext cx="5376672" cy="2788920"/>
          </a:xfrm>
          <a:prstGeom prst="rect">
            <a:avLst/>
          </a:prstGeom>
          <a:solidFill>
            <a:srgbClr val="FFFFFF"/>
          </a:solidFill>
          <a:ln w="7620">
            <a:solidFill>
              <a:srgbClr val="D9DCDA"/>
            </a:solidFill>
            <a:prstDash val="solid"/>
          </a:ln>
        </p:spPr>
        <p:txBody>
          <a:bodyPr/>
          <a:p/>
        </p:txBody>
      </p:sp>
      <p:sp>
        <p:nvSpPr>
          <p:cNvPr id="22" name="Text 20"/>
          <p:cNvSpPr/>
          <p:nvPr/>
        </p:nvSpPr>
        <p:spPr>
          <a:xfrm>
            <a:off x="6428232" y="2761488"/>
            <a:ext cx="4956048" cy="228600"/>
          </a:xfrm>
          <a:prstGeom prst="rect">
            <a:avLst/>
          </a:prstGeom>
          <a:noFill/>
          <a:ln/>
        </p:spPr>
        <p:txBody>
          <a:bodyPr wrap="square" lIns="0" tIns="0" rIns="0" bIns="0" rtlCol="0" anchor="ctr">
            <a:normAutofit fontScale="100000" lnSpcReduction="0"/>
          </a:bodyPr>
          <a:lstStyle/>
          <a:p>
            <a:pPr indent="0" marL="0">
              <a:buNone/>
            </a:pPr>
            <a:r>
              <a:rPr lang="en-US" sz="1100" b="1" spc="70" kern="0" dirty="0">
                <a:solidFill>
                  <a:srgbClr val="E30613"/>
                </a:solidFill>
                <a:latin typeface="Arial" pitchFamily="34" charset="0"/>
                <a:ea typeface="Arial" pitchFamily="34" charset="-122"/>
                <a:cs typeface="Arial" pitchFamily="34" charset="-120"/>
              </a:rPr>
              <a:t>RECORDED QUANTITY</a:t>
            </a:r>
            <a:endParaRPr lang="en-US" sz="1100" dirty="0"/>
          </a:p>
        </p:txBody>
      </p:sp>
      <p:sp>
        <p:nvSpPr>
          <p:cNvPr id="23" name="Text 21"/>
          <p:cNvSpPr/>
          <p:nvPr/>
        </p:nvSpPr>
        <p:spPr>
          <a:xfrm>
            <a:off x="6437376" y="3264408"/>
            <a:ext cx="1828800" cy="228600"/>
          </a:xfrm>
          <a:prstGeom prst="rect">
            <a:avLst/>
          </a:prstGeom>
          <a:noFill/>
          <a:ln/>
        </p:spPr>
        <p:txBody>
          <a:bodyPr wrap="square" lIns="0" tIns="0" rIns="0" bIns="0" rtlCol="0" anchor="ctr">
            <a:normAutofit fontScale="100000" lnSpcReduction="0"/>
          </a:bodyPr>
          <a:lstStyle/>
          <a:p>
            <a:pPr indent="0" marL="0">
              <a:buNone/>
            </a:pPr>
            <a:r>
              <a:rPr lang="en-US" sz="1300" dirty="0">
                <a:solidFill>
                  <a:srgbClr val="626B72"/>
                </a:solidFill>
                <a:latin typeface="Arial" pitchFamily="34" charset="0"/>
                <a:ea typeface="Arial" pitchFamily="34" charset="-122"/>
                <a:cs typeface="Arial" pitchFamily="34" charset="-120"/>
              </a:rPr>
              <a:t>2024</a:t>
            </a:r>
            <a:endParaRPr lang="en-US" sz="1300" dirty="0"/>
          </a:p>
        </p:txBody>
      </p:sp>
      <p:sp>
        <p:nvSpPr>
          <p:cNvPr id="24" name="Text 22"/>
          <p:cNvSpPr/>
          <p:nvPr/>
        </p:nvSpPr>
        <p:spPr>
          <a:xfrm>
            <a:off x="9089136" y="3264408"/>
            <a:ext cx="1828800" cy="228600"/>
          </a:xfrm>
          <a:prstGeom prst="rect">
            <a:avLst/>
          </a:prstGeom>
          <a:noFill/>
          <a:ln/>
        </p:spPr>
        <p:txBody>
          <a:bodyPr wrap="square" lIns="0" tIns="0" rIns="0" bIns="0" rtlCol="0" anchor="ctr">
            <a:normAutofit fontScale="100000" lnSpcReduction="0"/>
          </a:bodyPr>
          <a:lstStyle/>
          <a:p>
            <a:pPr indent="0" marL="0">
              <a:buNone/>
            </a:pPr>
            <a:r>
              <a:rPr lang="en-US" sz="1300" dirty="0">
                <a:solidFill>
                  <a:srgbClr val="626B72"/>
                </a:solidFill>
                <a:latin typeface="Arial" pitchFamily="34" charset="0"/>
                <a:ea typeface="Arial" pitchFamily="34" charset="-122"/>
                <a:cs typeface="Arial" pitchFamily="34" charset="-120"/>
              </a:rPr>
              <a:t>2025</a:t>
            </a:r>
            <a:endParaRPr lang="en-US" sz="1300" dirty="0"/>
          </a:p>
        </p:txBody>
      </p:sp>
      <p:sp>
        <p:nvSpPr>
          <p:cNvPr id="25" name="Text 23"/>
          <p:cNvSpPr/>
          <p:nvPr/>
        </p:nvSpPr>
        <p:spPr>
          <a:xfrm>
            <a:off x="6437376" y="3602736"/>
            <a:ext cx="2103120" cy="566928"/>
          </a:xfrm>
          <a:prstGeom prst="rect">
            <a:avLst/>
          </a:prstGeom>
          <a:noFill/>
          <a:ln/>
        </p:spPr>
        <p:txBody>
          <a:bodyPr wrap="square" lIns="0" tIns="0" rIns="0" bIns="0" rtlCol="0" anchor="ctr">
            <a:normAutofit fontScale="100000" lnSpcReduction="0"/>
          </a:bodyPr>
          <a:lstStyle/>
          <a:p>
            <a:pPr indent="0" marL="0">
              <a:buNone/>
            </a:pPr>
            <a:r>
              <a:rPr lang="en-US" sz="3000" b="1" dirty="0">
                <a:solidFill>
                  <a:srgbClr val="24282C"/>
                </a:solidFill>
                <a:latin typeface="Arial" pitchFamily="34" charset="0"/>
                <a:ea typeface="Arial" pitchFamily="34" charset="-122"/>
                <a:cs typeface="Arial" pitchFamily="34" charset="-120"/>
              </a:rPr>
              <a:t>4,562</a:t>
            </a:r>
            <a:endParaRPr lang="en-US" sz="3000" dirty="0"/>
          </a:p>
        </p:txBody>
      </p:sp>
      <p:sp>
        <p:nvSpPr>
          <p:cNvPr id="26" name="Text 24"/>
          <p:cNvSpPr/>
          <p:nvPr/>
        </p:nvSpPr>
        <p:spPr>
          <a:xfrm>
            <a:off x="8631936" y="3630168"/>
            <a:ext cx="365760" cy="411480"/>
          </a:xfrm>
          <a:prstGeom prst="rect">
            <a:avLst/>
          </a:prstGeom>
          <a:noFill/>
          <a:ln/>
        </p:spPr>
        <p:txBody>
          <a:bodyPr wrap="square" lIns="0" tIns="0" rIns="0" bIns="0" rtlCol="0" anchor="ctr">
            <a:normAutofit fontScale="100000" lnSpcReduction="0"/>
          </a:bodyPr>
          <a:lstStyle/>
          <a:p>
            <a:pPr algn="ctr" indent="0" marL="0">
              <a:buNone/>
            </a:pPr>
            <a:r>
              <a:rPr lang="en-US" sz="2500" b="1" dirty="0">
                <a:solidFill>
                  <a:srgbClr val="E30613"/>
                </a:solidFill>
                <a:latin typeface="Arial" pitchFamily="34" charset="0"/>
                <a:ea typeface="Arial" pitchFamily="34" charset="-122"/>
                <a:cs typeface="Arial" pitchFamily="34" charset="-120"/>
              </a:rPr>
              <a:t>→</a:t>
            </a:r>
            <a:endParaRPr lang="en-US" sz="2500" dirty="0"/>
          </a:p>
        </p:txBody>
      </p:sp>
      <p:sp>
        <p:nvSpPr>
          <p:cNvPr id="27" name="Text 25"/>
          <p:cNvSpPr/>
          <p:nvPr/>
        </p:nvSpPr>
        <p:spPr>
          <a:xfrm>
            <a:off x="9089136" y="3602736"/>
            <a:ext cx="2322576" cy="566928"/>
          </a:xfrm>
          <a:prstGeom prst="rect">
            <a:avLst/>
          </a:prstGeom>
          <a:noFill/>
          <a:ln/>
        </p:spPr>
        <p:txBody>
          <a:bodyPr wrap="square" lIns="0" tIns="0" rIns="0" bIns="0" rtlCol="0" anchor="ctr">
            <a:normAutofit fontScale="100000" lnSpcReduction="0"/>
          </a:bodyPr>
          <a:lstStyle/>
          <a:p>
            <a:pPr indent="0" marL="0">
              <a:buNone/>
            </a:pPr>
            <a:r>
              <a:rPr lang="en-US" sz="3000" b="1" dirty="0">
                <a:solidFill>
                  <a:srgbClr val="24282C"/>
                </a:solidFill>
                <a:latin typeface="Arial" pitchFamily="34" charset="0"/>
                <a:ea typeface="Arial" pitchFamily="34" charset="-122"/>
                <a:cs typeface="Arial" pitchFamily="34" charset="-120"/>
              </a:rPr>
              <a:t>3,402</a:t>
            </a:r>
            <a:endParaRPr lang="en-US" sz="3000" dirty="0"/>
          </a:p>
        </p:txBody>
      </p:sp>
      <p:sp>
        <p:nvSpPr>
          <p:cNvPr id="28" name="Text 26"/>
          <p:cNvSpPr/>
          <p:nvPr/>
        </p:nvSpPr>
        <p:spPr>
          <a:xfrm>
            <a:off x="6437376" y="4507992"/>
            <a:ext cx="1691640" cy="566928"/>
          </a:xfrm>
          <a:prstGeom prst="rect">
            <a:avLst/>
          </a:prstGeom>
          <a:noFill/>
          <a:ln/>
        </p:spPr>
        <p:txBody>
          <a:bodyPr wrap="square" lIns="0" tIns="0" rIns="0" bIns="0" rtlCol="0" anchor="ctr">
            <a:normAutofit fontScale="100000" lnSpcReduction="0"/>
          </a:bodyPr>
          <a:lstStyle/>
          <a:p>
            <a:pPr indent="0" marL="0">
              <a:buNone/>
            </a:pPr>
            <a:r>
              <a:rPr lang="en-US" sz="3100" b="1" dirty="0">
                <a:solidFill>
                  <a:srgbClr val="E30613"/>
                </a:solidFill>
                <a:latin typeface="Arial" pitchFamily="34" charset="0"/>
                <a:ea typeface="Arial" pitchFamily="34" charset="-122"/>
                <a:cs typeface="Arial" pitchFamily="34" charset="-120"/>
              </a:rPr>
              <a:t>-25.4%</a:t>
            </a:r>
            <a:endParaRPr lang="en-US" sz="3100" dirty="0"/>
          </a:p>
        </p:txBody>
      </p:sp>
      <p:sp>
        <p:nvSpPr>
          <p:cNvPr id="29" name="Text 27"/>
          <p:cNvSpPr/>
          <p:nvPr/>
        </p:nvSpPr>
        <p:spPr>
          <a:xfrm>
            <a:off x="8211312" y="4462272"/>
            <a:ext cx="3163824" cy="630936"/>
          </a:xfrm>
          <a:prstGeom prst="rect">
            <a:avLst/>
          </a:prstGeom>
          <a:noFill/>
          <a:ln/>
        </p:spPr>
        <p:txBody>
          <a:bodyPr wrap="square" lIns="0" tIns="0" rIns="0" bIns="0" rtlCol="0" anchor="ctr">
            <a:normAutofit fontScale="100000" lnSpcReduction="0"/>
          </a:bodyPr>
          <a:lstStyle/>
          <a:p>
            <a:pPr indent="0" marL="0">
              <a:buNone/>
            </a:pPr>
            <a:r>
              <a:rPr lang="en-US" sz="1500" dirty="0">
                <a:solidFill>
                  <a:srgbClr val="626B72"/>
                </a:solidFill>
                <a:latin typeface="Arial" pitchFamily="34" charset="0"/>
                <a:ea typeface="Arial" pitchFamily="34" charset="-122"/>
                <a:cs typeface="Arial" pitchFamily="34" charset="-120"/>
              </a:rPr>
              <a:t>Recorded units are not a count of repairs or vehicles.</a:t>
            </a:r>
            <a:endParaRPr lang="en-US" sz="1500" dirty="0"/>
          </a:p>
        </p:txBody>
      </p:sp>
      <p:sp>
        <p:nvSpPr>
          <p:cNvPr id="30" name="Shape 28"/>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1" name="Text 29"/>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Start with the contributing pad references, then check stock, supply and sales to dealer.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AIM CONCENTRATION</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ADDED FROM AIM</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Brake pads explain 95.7% of the selected braking decline.</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ITUK | Calendar 2025 versus 2024 | Selected pad, rotor and shoe categories only</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AIM p. 12. This is not the complete AIM Brakes family.</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AIM CONCENTRATION</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09</a:t>
            </a:r>
            <a:endParaRPr lang="en-US" sz="1050" dirty="0"/>
          </a:p>
        </p:txBody>
      </p:sp>
      <p:graphicFrame>
        <p:nvGraphicFramePr>
          <p:cNvPr id="12" name="Chart 0" descr=""/>
          <p:cNvGraphicFramePr/>
          <p:nvPr/>
        </p:nvGraphicFramePr>
        <p:xfrm>
          <a:off x="640080" y="2706624"/>
          <a:ext cx="7406640" cy="2267712"/>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4" name="Text 11"/>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SELECTED-RANGE DECLINE</a:t>
            </a:r>
            <a:endParaRPr lang="en-US" sz="1160" dirty="0"/>
          </a:p>
        </p:txBody>
      </p:sp>
      <p:sp>
        <p:nvSpPr>
          <p:cNvPr id="15" name="Text 12"/>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250" b="1" dirty="0">
                <a:solidFill>
                  <a:srgbClr val="FFFFFF"/>
                </a:solidFill>
                <a:latin typeface="Arial" pitchFamily="34" charset="0"/>
                <a:ea typeface="Arial" pitchFamily="34" charset="-122"/>
                <a:cs typeface="Arial" pitchFamily="34" charset="-120"/>
              </a:rPr>
              <a:t>47.07 K€</a:t>
            </a:r>
            <a:endParaRPr lang="en-US" sz="3250" dirty="0"/>
          </a:p>
        </p:txBody>
      </p:sp>
      <p:sp>
        <p:nvSpPr>
          <p:cNvPr id="16" name="Text 13"/>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686" dirty="0">
                <a:solidFill>
                  <a:srgbClr val="CCD1D2"/>
                </a:solidFill>
                <a:latin typeface="Arial" pitchFamily="34" charset="0"/>
                <a:ea typeface="Arial" pitchFamily="34" charset="-122"/>
                <a:cs typeface="Arial" pitchFamily="34" charset="-120"/>
              </a:rPr>
              <a:t>The brake-pad category contributes 45.02 K€. Find the specific references before broadening the intervention.</a:t>
            </a:r>
            <a:endParaRPr lang="en-US" sz="1686" dirty="0"/>
          </a:p>
        </p:txBody>
      </p:sp>
      <p:sp>
        <p:nvSpPr>
          <p:cNvPr id="17" name="Shape 14"/>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8" name="Text 15"/>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A range-level diagnosis is more useful than a general discussion about the distributor total.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GENUINE AND BVP</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Germany's BVP share fell by 30.1 percentage points.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Source-defined paired references | Fiscal years, April to March | Share of recorded paired units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26. BVP replaces the original best-value label; reference pairing still needs technical validation.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GENUINE AND BVP</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10</a:t>
            </a:r>
            <a:endParaRPr lang="en-US" sz="1050" dirty="0"/>
          </a:p>
        </p:txBody>
      </p:sp>
      <p:graphicFrame>
        <p:nvGraphicFramePr>
          <p:cNvPr id="11" name="Chart 0" descr=""/>
          <p:cNvGraphicFramePr/>
          <p:nvPr/>
        </p:nvGraphicFramePr>
        <p:xfrm>
          <a:off x="640080" y="2423160"/>
          <a:ext cx="7406640" cy="2862072"/>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GERMANY | 2025/26</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4300" b="1" dirty="0">
                <a:solidFill>
                  <a:srgbClr val="FFFFFF"/>
                </a:solidFill>
                <a:latin typeface="Arial" pitchFamily="34" charset="0"/>
                <a:ea typeface="Arial" pitchFamily="34" charset="-122"/>
                <a:cs typeface="Arial" pitchFamily="34" charset="-120"/>
              </a:rPr>
              <a:t>8.5%</a:t>
            </a:r>
            <a:endParaRPr lang="en-US" sz="43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480" dirty="0">
                <a:solidFill>
                  <a:srgbClr val="CCD1D2"/>
                </a:solidFill>
                <a:latin typeface="Arial" pitchFamily="34" charset="0"/>
                <a:ea typeface="Arial" pitchFamily="34" charset="-122"/>
                <a:cs typeface="Arial" pitchFamily="34" charset="-120"/>
              </a:rPr>
              <a:t>Network BVP share is 49.2% on its own paired-reference population. The divergence calls for a product-specific explanation.</a:t>
            </a:r>
            <a:endParaRPr lang="en-US" sz="1480"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Check the range that stopped moving - not only the percentage share.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GERMANY RANGE REVIEW</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Fuel filters are the largest reported BVP volume decline.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Fiscal 2024/25 to 2025/26 | Selected source-defined paired categories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27, printed chart labels. Lower purchases do not identify the cause.</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GERMANY RANGE REVIEW</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11</a:t>
            </a:r>
            <a:endParaRPr lang="en-US" sz="1050" dirty="0"/>
          </a:p>
        </p:txBody>
      </p:sp>
      <p:graphicFrame>
        <p:nvGraphicFramePr>
          <p:cNvPr id="11" name="Chart 0" descr=""/>
          <p:cNvGraphicFramePr/>
          <p:nvPr/>
        </p:nvGraphicFramePr>
        <p:xfrm>
          <a:off x="603504" y="2414016"/>
          <a:ext cx="7626096" cy="283464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FIRST RANGE TO RECONCILE</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2800" b="1" dirty="0">
                <a:solidFill>
                  <a:srgbClr val="FFFFFF"/>
                </a:solidFill>
                <a:latin typeface="Arial" pitchFamily="34" charset="0"/>
                <a:ea typeface="Arial" pitchFamily="34" charset="-122"/>
                <a:cs typeface="Arial" pitchFamily="34" charset="-120"/>
              </a:rPr>
              <a:t>Fuel filters</a:t>
            </a:r>
            <a:endParaRPr lang="en-US" sz="28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577" dirty="0">
                <a:solidFill>
                  <a:srgbClr val="CCD1D2"/>
                </a:solidFill>
                <a:latin typeface="Arial" pitchFamily="34" charset="0"/>
                <a:ea typeface="Arial" pitchFamily="34" charset="-122"/>
                <a:cs typeface="Arial" pitchFamily="34" charset="-120"/>
              </a:rPr>
              <a:t>Check discontinued or changed references, availability, distributor stock and the comparable commercial offer.</a:t>
            </a:r>
            <a:endParaRPr lang="en-US" sz="1577"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Genuine filter billing staying stable does not prove that total filter demand stayed stable.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AIM PORTFOLIO VIEW</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ADDED FROM AIM</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Genuine down does not mean the Portugal range is down.</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Portugal clutch-kit category | Calendar 2024 versus 2025 | ISZE to distributor</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AIM p. 13 and speaker notes. Product-line mix is not proof of individual substitution or profit.</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AIM PORTFOLIO VIEW</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12</a:t>
            </a:r>
            <a:endParaRPr lang="en-US" sz="1050" dirty="0"/>
          </a:p>
        </p:txBody>
      </p:sp>
      <p:sp>
        <p:nvSpPr>
          <p:cNvPr id="12" name="Shape 10"/>
          <p:cNvSpPr/>
          <p:nvPr/>
        </p:nvSpPr>
        <p:spPr>
          <a:xfrm>
            <a:off x="658368" y="2560320"/>
            <a:ext cx="6656832" cy="411480"/>
          </a:xfrm>
          <a:prstGeom prst="rect">
            <a:avLst/>
          </a:prstGeom>
          <a:solidFill>
            <a:srgbClr val="24282C"/>
          </a:solidFill>
          <a:ln w="12700">
            <a:solidFill>
              <a:srgbClr val="24282C"/>
            </a:solidFill>
            <a:prstDash val="solid"/>
          </a:ln>
        </p:spPr>
        <p:txBody>
          <a:bodyPr/>
          <a:p/>
        </p:txBody>
      </p:sp>
      <p:sp>
        <p:nvSpPr>
          <p:cNvPr id="13" name="Text 11"/>
          <p:cNvSpPr/>
          <p:nvPr/>
        </p:nvSpPr>
        <p:spPr>
          <a:xfrm>
            <a:off x="768096" y="2647188"/>
            <a:ext cx="2084832" cy="301752"/>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PARTS BILLED</a:t>
            </a:r>
            <a:endParaRPr lang="en-US" sz="1080" dirty="0"/>
          </a:p>
        </p:txBody>
      </p:sp>
      <p:sp>
        <p:nvSpPr>
          <p:cNvPr id="14" name="Text 12"/>
          <p:cNvSpPr/>
          <p:nvPr/>
        </p:nvSpPr>
        <p:spPr>
          <a:xfrm>
            <a:off x="3072384" y="2647188"/>
            <a:ext cx="1956816" cy="301752"/>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2024</a:t>
            </a:r>
            <a:endParaRPr lang="en-US" sz="1080" dirty="0"/>
          </a:p>
        </p:txBody>
      </p:sp>
      <p:sp>
        <p:nvSpPr>
          <p:cNvPr id="15" name="Text 13"/>
          <p:cNvSpPr/>
          <p:nvPr/>
        </p:nvSpPr>
        <p:spPr>
          <a:xfrm>
            <a:off x="5248656" y="2647188"/>
            <a:ext cx="1956816" cy="301752"/>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2025</a:t>
            </a:r>
            <a:endParaRPr lang="en-US" sz="1080" dirty="0"/>
          </a:p>
        </p:txBody>
      </p:sp>
      <p:sp>
        <p:nvSpPr>
          <p:cNvPr id="16" name="Shape 14"/>
          <p:cNvSpPr/>
          <p:nvPr/>
        </p:nvSpPr>
        <p:spPr>
          <a:xfrm>
            <a:off x="658368" y="2971800"/>
            <a:ext cx="6656832" cy="539496"/>
          </a:xfrm>
          <a:prstGeom prst="rect">
            <a:avLst/>
          </a:prstGeom>
          <a:solidFill>
            <a:srgbClr val="FFFFFF"/>
          </a:solidFill>
          <a:ln w="12700">
            <a:solidFill>
              <a:srgbClr val="FFFFFF"/>
            </a:solidFill>
            <a:prstDash val="solid"/>
          </a:ln>
        </p:spPr>
        <p:txBody>
          <a:bodyPr/>
          <a:p/>
        </p:txBody>
      </p:sp>
      <p:sp>
        <p:nvSpPr>
          <p:cNvPr id="17" name="Text 15"/>
          <p:cNvSpPr/>
          <p:nvPr/>
        </p:nvSpPr>
        <p:spPr>
          <a:xfrm>
            <a:off x="768096" y="3058668"/>
            <a:ext cx="2084832" cy="420624"/>
          </a:xfrm>
          <a:prstGeom prst="rect">
            <a:avLst/>
          </a:prstGeom>
          <a:noFill/>
          <a:ln/>
        </p:spPr>
        <p:txBody>
          <a:bodyPr wrap="square" lIns="0" tIns="0" rIns="0" bIns="0" rtlCol="0" anchor="ctr">
            <a:normAutofit fontScale="100000" lnSpcReduction="0"/>
          </a:bodyPr>
          <a:lstStyle/>
          <a:p>
            <a:pPr algn="l" indent="0" marL="0">
              <a:buNone/>
            </a:pPr>
            <a:r>
              <a:rPr lang="en-US" sz="1700" b="1" dirty="0">
                <a:solidFill>
                  <a:srgbClr val="24282C"/>
                </a:solidFill>
                <a:latin typeface="Arial" pitchFamily="34" charset="0"/>
                <a:ea typeface="Arial" pitchFamily="34" charset="-122"/>
                <a:cs typeface="Arial" pitchFamily="34" charset="-120"/>
              </a:rPr>
              <a:t>Genuine</a:t>
            </a:r>
            <a:endParaRPr lang="en-US" sz="1700" dirty="0"/>
          </a:p>
        </p:txBody>
      </p:sp>
      <p:sp>
        <p:nvSpPr>
          <p:cNvPr id="18" name="Text 16"/>
          <p:cNvSpPr/>
          <p:nvPr/>
        </p:nvSpPr>
        <p:spPr>
          <a:xfrm>
            <a:off x="3072384" y="3058668"/>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€2,901.92</a:t>
            </a:r>
            <a:endParaRPr lang="en-US" sz="1700" dirty="0"/>
          </a:p>
        </p:txBody>
      </p:sp>
      <p:sp>
        <p:nvSpPr>
          <p:cNvPr id="19" name="Text 17"/>
          <p:cNvSpPr/>
          <p:nvPr/>
        </p:nvSpPr>
        <p:spPr>
          <a:xfrm>
            <a:off x="5248656" y="3058668"/>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€2,057.86</a:t>
            </a:r>
            <a:endParaRPr lang="en-US" sz="1700" dirty="0"/>
          </a:p>
        </p:txBody>
      </p:sp>
      <p:sp>
        <p:nvSpPr>
          <p:cNvPr id="20" name="Shape 18"/>
          <p:cNvSpPr/>
          <p:nvPr/>
        </p:nvSpPr>
        <p:spPr>
          <a:xfrm>
            <a:off x="658368" y="3511296"/>
            <a:ext cx="6656832" cy="539496"/>
          </a:xfrm>
          <a:prstGeom prst="rect">
            <a:avLst/>
          </a:prstGeom>
          <a:solidFill>
            <a:srgbClr val="EEEDEA"/>
          </a:solidFill>
          <a:ln w="12700">
            <a:solidFill>
              <a:srgbClr val="EEEDEA"/>
            </a:solidFill>
            <a:prstDash val="solid"/>
          </a:ln>
        </p:spPr>
        <p:txBody>
          <a:bodyPr/>
          <a:p/>
        </p:txBody>
      </p:sp>
      <p:sp>
        <p:nvSpPr>
          <p:cNvPr id="21" name="Text 19"/>
          <p:cNvSpPr/>
          <p:nvPr/>
        </p:nvSpPr>
        <p:spPr>
          <a:xfrm>
            <a:off x="768096" y="3598164"/>
            <a:ext cx="2084832" cy="420624"/>
          </a:xfrm>
          <a:prstGeom prst="rect">
            <a:avLst/>
          </a:prstGeom>
          <a:noFill/>
          <a:ln/>
        </p:spPr>
        <p:txBody>
          <a:bodyPr wrap="square" lIns="0" tIns="0" rIns="0" bIns="0" rtlCol="0" anchor="ctr">
            <a:normAutofit fontScale="100000" lnSpcReduction="0"/>
          </a:bodyPr>
          <a:lstStyle/>
          <a:p>
            <a:pPr algn="l" indent="0" marL="0">
              <a:buNone/>
            </a:pPr>
            <a:r>
              <a:rPr lang="en-US" sz="1700" b="1" dirty="0">
                <a:solidFill>
                  <a:srgbClr val="24282C"/>
                </a:solidFill>
                <a:latin typeface="Arial" pitchFamily="34" charset="0"/>
                <a:ea typeface="Arial" pitchFamily="34" charset="-122"/>
                <a:cs typeface="Arial" pitchFamily="34" charset="-120"/>
              </a:rPr>
              <a:t>BVP</a:t>
            </a:r>
            <a:endParaRPr lang="en-US" sz="1700" dirty="0"/>
          </a:p>
        </p:txBody>
      </p:sp>
      <p:sp>
        <p:nvSpPr>
          <p:cNvPr id="22" name="Text 20"/>
          <p:cNvSpPr/>
          <p:nvPr/>
        </p:nvSpPr>
        <p:spPr>
          <a:xfrm>
            <a:off x="3072384" y="3598164"/>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€27,057.95</a:t>
            </a:r>
            <a:endParaRPr lang="en-US" sz="1700" dirty="0"/>
          </a:p>
        </p:txBody>
      </p:sp>
      <p:sp>
        <p:nvSpPr>
          <p:cNvPr id="23" name="Text 21"/>
          <p:cNvSpPr/>
          <p:nvPr/>
        </p:nvSpPr>
        <p:spPr>
          <a:xfrm>
            <a:off x="5248656" y="3598164"/>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€29,644.61</a:t>
            </a:r>
            <a:endParaRPr lang="en-US" sz="1700" dirty="0"/>
          </a:p>
        </p:txBody>
      </p:sp>
      <p:sp>
        <p:nvSpPr>
          <p:cNvPr id="24" name="Shape 22"/>
          <p:cNvSpPr/>
          <p:nvPr/>
        </p:nvSpPr>
        <p:spPr>
          <a:xfrm>
            <a:off x="658368" y="4050792"/>
            <a:ext cx="6656832" cy="539496"/>
          </a:xfrm>
          <a:prstGeom prst="rect">
            <a:avLst/>
          </a:prstGeom>
          <a:solidFill>
            <a:srgbClr val="FFFFFF"/>
          </a:solidFill>
          <a:ln w="12700">
            <a:solidFill>
              <a:srgbClr val="FFFFFF"/>
            </a:solidFill>
            <a:prstDash val="solid"/>
          </a:ln>
        </p:spPr>
        <p:txBody>
          <a:bodyPr/>
          <a:p/>
        </p:txBody>
      </p:sp>
      <p:sp>
        <p:nvSpPr>
          <p:cNvPr id="25" name="Text 23"/>
          <p:cNvSpPr/>
          <p:nvPr/>
        </p:nvSpPr>
        <p:spPr>
          <a:xfrm>
            <a:off x="768096" y="4137660"/>
            <a:ext cx="2084832" cy="420624"/>
          </a:xfrm>
          <a:prstGeom prst="rect">
            <a:avLst/>
          </a:prstGeom>
          <a:noFill/>
          <a:ln/>
        </p:spPr>
        <p:txBody>
          <a:bodyPr wrap="square" lIns="0" tIns="0" rIns="0" bIns="0" rtlCol="0" anchor="ctr">
            <a:normAutofit fontScale="100000" lnSpcReduction="0"/>
          </a:bodyPr>
          <a:lstStyle/>
          <a:p>
            <a:pPr algn="l" indent="0" marL="0">
              <a:buNone/>
            </a:pPr>
            <a:r>
              <a:rPr lang="en-US" sz="1700" b="1" dirty="0">
                <a:solidFill>
                  <a:srgbClr val="24282C"/>
                </a:solidFill>
                <a:latin typeface="Arial" pitchFamily="34" charset="0"/>
                <a:ea typeface="Arial" pitchFamily="34" charset="-122"/>
                <a:cs typeface="Arial" pitchFamily="34" charset="-120"/>
              </a:rPr>
              <a:t>Combined</a:t>
            </a:r>
            <a:endParaRPr lang="en-US" sz="1700" dirty="0"/>
          </a:p>
        </p:txBody>
      </p:sp>
      <p:sp>
        <p:nvSpPr>
          <p:cNvPr id="26" name="Text 24"/>
          <p:cNvSpPr/>
          <p:nvPr/>
        </p:nvSpPr>
        <p:spPr>
          <a:xfrm>
            <a:off x="3072384" y="4137660"/>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€29,959.87</a:t>
            </a:r>
            <a:endParaRPr lang="en-US" sz="1700" dirty="0"/>
          </a:p>
        </p:txBody>
      </p:sp>
      <p:sp>
        <p:nvSpPr>
          <p:cNvPr id="27" name="Text 25"/>
          <p:cNvSpPr/>
          <p:nvPr/>
        </p:nvSpPr>
        <p:spPr>
          <a:xfrm>
            <a:off x="5248656" y="4137660"/>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€31,702.47</a:t>
            </a:r>
            <a:endParaRPr lang="en-US" sz="1700" dirty="0"/>
          </a:p>
        </p:txBody>
      </p:sp>
      <p:sp>
        <p:nvSpPr>
          <p:cNvPr id="28" name="Shape 26"/>
          <p:cNvSpPr/>
          <p:nvPr/>
        </p:nvSpPr>
        <p:spPr>
          <a:xfrm>
            <a:off x="658368" y="4590288"/>
            <a:ext cx="6656832" cy="539496"/>
          </a:xfrm>
          <a:prstGeom prst="rect">
            <a:avLst/>
          </a:prstGeom>
          <a:solidFill>
            <a:srgbClr val="EEEDEA"/>
          </a:solidFill>
          <a:ln w="12700">
            <a:solidFill>
              <a:srgbClr val="EEEDEA"/>
            </a:solidFill>
            <a:prstDash val="solid"/>
          </a:ln>
        </p:spPr>
        <p:txBody>
          <a:bodyPr/>
          <a:p/>
        </p:txBody>
      </p:sp>
      <p:sp>
        <p:nvSpPr>
          <p:cNvPr id="29" name="Text 27"/>
          <p:cNvSpPr/>
          <p:nvPr/>
        </p:nvSpPr>
        <p:spPr>
          <a:xfrm>
            <a:off x="768096" y="4677156"/>
            <a:ext cx="2084832" cy="420624"/>
          </a:xfrm>
          <a:prstGeom prst="rect">
            <a:avLst/>
          </a:prstGeom>
          <a:noFill/>
          <a:ln/>
        </p:spPr>
        <p:txBody>
          <a:bodyPr wrap="square" lIns="0" tIns="0" rIns="0" bIns="0" rtlCol="0" anchor="ctr">
            <a:normAutofit fontScale="100000" lnSpcReduction="0"/>
          </a:bodyPr>
          <a:lstStyle/>
          <a:p>
            <a:pPr algn="l" indent="0" marL="0">
              <a:buNone/>
            </a:pPr>
            <a:r>
              <a:rPr lang="en-US" sz="1700" b="1" dirty="0">
                <a:solidFill>
                  <a:srgbClr val="24282C"/>
                </a:solidFill>
                <a:latin typeface="Arial" pitchFamily="34" charset="0"/>
                <a:ea typeface="Arial" pitchFamily="34" charset="-122"/>
                <a:cs typeface="Arial" pitchFamily="34" charset="-120"/>
              </a:rPr>
              <a:t>Recorded kits</a:t>
            </a:r>
            <a:endParaRPr lang="en-US" sz="1700" dirty="0"/>
          </a:p>
        </p:txBody>
      </p:sp>
      <p:sp>
        <p:nvSpPr>
          <p:cNvPr id="30" name="Text 28"/>
          <p:cNvSpPr/>
          <p:nvPr/>
        </p:nvSpPr>
        <p:spPr>
          <a:xfrm>
            <a:off x="3072384" y="4677156"/>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462</a:t>
            </a:r>
            <a:endParaRPr lang="en-US" sz="1700" dirty="0"/>
          </a:p>
        </p:txBody>
      </p:sp>
      <p:sp>
        <p:nvSpPr>
          <p:cNvPr id="31" name="Text 29"/>
          <p:cNvSpPr/>
          <p:nvPr/>
        </p:nvSpPr>
        <p:spPr>
          <a:xfrm>
            <a:off x="5248656" y="4677156"/>
            <a:ext cx="1956816" cy="420624"/>
          </a:xfrm>
          <a:prstGeom prst="rect">
            <a:avLst/>
          </a:prstGeom>
          <a:noFill/>
          <a:ln/>
        </p:spPr>
        <p:txBody>
          <a:bodyPr wrap="square" lIns="0" tIns="0" rIns="0" bIns="0" rtlCol="0" anchor="ctr">
            <a:normAutofit fontScale="100000" lnSpcReduction="0"/>
          </a:bodyPr>
          <a:lstStyle/>
          <a:p>
            <a:pPr algn="r" indent="0" marL="0">
              <a:buNone/>
            </a:pPr>
            <a:r>
              <a:rPr lang="en-US" sz="1700" dirty="0">
                <a:solidFill>
                  <a:srgbClr val="626B72"/>
                </a:solidFill>
                <a:latin typeface="Arial" pitchFamily="34" charset="0"/>
                <a:ea typeface="Arial" pitchFamily="34" charset="-122"/>
                <a:cs typeface="Arial" pitchFamily="34" charset="-120"/>
              </a:rPr>
              <a:t>461</a:t>
            </a:r>
            <a:endParaRPr lang="en-US" sz="1700" dirty="0"/>
          </a:p>
        </p:txBody>
      </p:sp>
      <p:sp>
        <p:nvSpPr>
          <p:cNvPr id="32" name="Shape 30"/>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33" name="Text 31"/>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COMBINED BILLING</a:t>
            </a:r>
            <a:endParaRPr lang="en-US" sz="1160" dirty="0"/>
          </a:p>
        </p:txBody>
      </p:sp>
      <p:sp>
        <p:nvSpPr>
          <p:cNvPr id="34" name="Text 32"/>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4200" b="1" dirty="0">
                <a:solidFill>
                  <a:srgbClr val="FFFFFF"/>
                </a:solidFill>
                <a:latin typeface="Arial" pitchFamily="34" charset="0"/>
                <a:ea typeface="Arial" pitchFamily="34" charset="-122"/>
                <a:cs typeface="Arial" pitchFamily="34" charset="-120"/>
              </a:rPr>
              <a:t>+5.8%</a:t>
            </a:r>
            <a:endParaRPr lang="en-US" sz="4200" dirty="0"/>
          </a:p>
        </p:txBody>
      </p:sp>
      <p:sp>
        <p:nvSpPr>
          <p:cNvPr id="35" name="Text 33"/>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475" dirty="0">
                <a:solidFill>
                  <a:srgbClr val="CCD1D2"/>
                </a:solidFill>
                <a:latin typeface="Arial" pitchFamily="34" charset="0"/>
                <a:ea typeface="Arial" pitchFamily="34" charset="-122"/>
                <a:cs typeface="Arial" pitchFamily="34" charset="-120"/>
              </a:rPr>
              <a:t>Recorded kit quantity is nearly unchanged. Evaluate the combined offer and its contribution, not Genuine revenue alone.</a:t>
            </a:r>
            <a:endParaRPr lang="en-US" sz="1475" dirty="0"/>
          </a:p>
        </p:txBody>
      </p:sp>
      <p:sp>
        <p:nvSpPr>
          <p:cNvPr id="36" name="Shape 34"/>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7" name="Text 35"/>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BVP is a product line; a kit is a product form. A BVP item can be a kit.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COMMERCIAL PRIORITIES</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Five cases. Five different first responses.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review queue | A signal is not yet a diagnosis or a pricing approval.</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Sources: BPR pp. 7, 11, 15, 26-27; AIM pp. 11-13. Responses below are proposed.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COMMERCIAL PRIORITIES</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13</a:t>
            </a:r>
            <a:endParaRPr lang="en-US" sz="1050" dirty="0"/>
          </a:p>
        </p:txBody>
      </p:sp>
      <p:sp>
        <p:nvSpPr>
          <p:cNvPr id="11" name="Shape 9"/>
          <p:cNvSpPr/>
          <p:nvPr/>
        </p:nvSpPr>
        <p:spPr>
          <a:xfrm>
            <a:off x="594360" y="2395728"/>
            <a:ext cx="10972800" cy="393192"/>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82596"/>
            <a:ext cx="2157984"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CASE</a:t>
            </a:r>
            <a:endParaRPr lang="en-US" sz="1080" dirty="0"/>
          </a:p>
        </p:txBody>
      </p:sp>
      <p:sp>
        <p:nvSpPr>
          <p:cNvPr id="13" name="Text 11"/>
          <p:cNvSpPr/>
          <p:nvPr/>
        </p:nvSpPr>
        <p:spPr>
          <a:xfrm>
            <a:off x="3081528" y="2482596"/>
            <a:ext cx="2523744"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SOURCE SIGNAL</a:t>
            </a:r>
            <a:endParaRPr lang="en-US" sz="1080" dirty="0"/>
          </a:p>
        </p:txBody>
      </p:sp>
      <p:sp>
        <p:nvSpPr>
          <p:cNvPr id="14" name="Text 12"/>
          <p:cNvSpPr/>
          <p:nvPr/>
        </p:nvSpPr>
        <p:spPr>
          <a:xfrm>
            <a:off x="5824728" y="2482596"/>
            <a:ext cx="5632704"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FIRST RESPONSE</a:t>
            </a:r>
            <a:endParaRPr lang="en-US" sz="1080" dirty="0"/>
          </a:p>
        </p:txBody>
      </p:sp>
      <p:sp>
        <p:nvSpPr>
          <p:cNvPr id="15" name="Shape 13"/>
          <p:cNvSpPr/>
          <p:nvPr/>
        </p:nvSpPr>
        <p:spPr>
          <a:xfrm>
            <a:off x="594360" y="2788920"/>
            <a:ext cx="10972800" cy="512064"/>
          </a:xfrm>
          <a:prstGeom prst="rect">
            <a:avLst/>
          </a:prstGeom>
          <a:solidFill>
            <a:srgbClr val="FFFFFF"/>
          </a:solidFill>
          <a:ln w="12700">
            <a:solidFill>
              <a:srgbClr val="FFFFFF"/>
            </a:solidFill>
            <a:prstDash val="solid"/>
          </a:ln>
        </p:spPr>
        <p:txBody>
          <a:bodyPr/>
          <a:p/>
        </p:txBody>
      </p:sp>
      <p:sp>
        <p:nvSpPr>
          <p:cNvPr id="16" name="Text 14"/>
          <p:cNvSpPr/>
          <p:nvPr/>
        </p:nvSpPr>
        <p:spPr>
          <a:xfrm>
            <a:off x="704088" y="2875788"/>
            <a:ext cx="2157984" cy="393192"/>
          </a:xfrm>
          <a:prstGeom prst="rect">
            <a:avLst/>
          </a:prstGeom>
          <a:noFill/>
          <a:ln/>
        </p:spPr>
        <p:txBody>
          <a:bodyPr wrap="square" lIns="0" tIns="0" rIns="0" bIns="0" rtlCol="0" anchor="ctr">
            <a:normAutofit fontScale="100000" lnSpcReduction="0"/>
          </a:bodyPr>
          <a:lstStyle/>
          <a:p>
            <a:pPr indent="0" marL="0">
              <a:buNone/>
            </a:pPr>
            <a:r>
              <a:rPr lang="en-US" sz="1460" b="1" dirty="0">
                <a:solidFill>
                  <a:srgbClr val="24282C"/>
                </a:solidFill>
                <a:latin typeface="Arial" pitchFamily="34" charset="0"/>
                <a:ea typeface="Arial" pitchFamily="34" charset="-122"/>
                <a:cs typeface="Arial" pitchFamily="34" charset="-120"/>
              </a:rPr>
              <a:t>ITUK brake pads</a:t>
            </a:r>
            <a:endParaRPr lang="en-US" sz="1460" dirty="0"/>
          </a:p>
        </p:txBody>
      </p:sp>
      <p:sp>
        <p:nvSpPr>
          <p:cNvPr id="17" name="Text 15"/>
          <p:cNvSpPr/>
          <p:nvPr/>
        </p:nvSpPr>
        <p:spPr>
          <a:xfrm>
            <a:off x="3081528" y="2875788"/>
            <a:ext cx="252374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Quantity -25.4%</a:t>
            </a:r>
            <a:endParaRPr lang="en-US" sz="1460" dirty="0"/>
          </a:p>
        </p:txBody>
      </p:sp>
      <p:sp>
        <p:nvSpPr>
          <p:cNvPr id="18" name="Text 16"/>
          <p:cNvSpPr/>
          <p:nvPr/>
        </p:nvSpPr>
        <p:spPr>
          <a:xfrm>
            <a:off x="5824728" y="2875788"/>
            <a:ext cx="563270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Reconcile references, stock and dealer purchasing.</a:t>
            </a:r>
            <a:endParaRPr lang="en-US" sz="1460" dirty="0"/>
          </a:p>
        </p:txBody>
      </p:sp>
      <p:sp>
        <p:nvSpPr>
          <p:cNvPr id="19" name="Shape 17"/>
          <p:cNvSpPr/>
          <p:nvPr/>
        </p:nvSpPr>
        <p:spPr>
          <a:xfrm>
            <a:off x="594360" y="3300984"/>
            <a:ext cx="10972800" cy="512064"/>
          </a:xfrm>
          <a:prstGeom prst="rect">
            <a:avLst/>
          </a:prstGeom>
          <a:solidFill>
            <a:srgbClr val="EEEDEA"/>
          </a:solidFill>
          <a:ln w="12700">
            <a:solidFill>
              <a:srgbClr val="EEEDEA"/>
            </a:solidFill>
            <a:prstDash val="solid"/>
          </a:ln>
        </p:spPr>
        <p:txBody>
          <a:bodyPr/>
          <a:p/>
        </p:txBody>
      </p:sp>
      <p:sp>
        <p:nvSpPr>
          <p:cNvPr id="20" name="Text 18"/>
          <p:cNvSpPr/>
          <p:nvPr/>
        </p:nvSpPr>
        <p:spPr>
          <a:xfrm>
            <a:off x="704088" y="3387852"/>
            <a:ext cx="2157984" cy="393192"/>
          </a:xfrm>
          <a:prstGeom prst="rect">
            <a:avLst/>
          </a:prstGeom>
          <a:noFill/>
          <a:ln/>
        </p:spPr>
        <p:txBody>
          <a:bodyPr wrap="square" lIns="0" tIns="0" rIns="0" bIns="0" rtlCol="0" anchor="ctr">
            <a:normAutofit fontScale="100000" lnSpcReduction="0"/>
          </a:bodyPr>
          <a:lstStyle/>
          <a:p>
            <a:pPr indent="0" marL="0">
              <a:buNone/>
            </a:pPr>
            <a:r>
              <a:rPr lang="en-US" sz="1460" b="1" dirty="0">
                <a:solidFill>
                  <a:srgbClr val="24282C"/>
                </a:solidFill>
                <a:latin typeface="Arial" pitchFamily="34" charset="0"/>
                <a:ea typeface="Arial" pitchFamily="34" charset="-122"/>
                <a:cs typeface="Arial" pitchFamily="34" charset="-120"/>
              </a:rPr>
              <a:t>Germany BVP filters</a:t>
            </a:r>
            <a:endParaRPr lang="en-US" sz="1460" dirty="0"/>
          </a:p>
        </p:txBody>
      </p:sp>
      <p:sp>
        <p:nvSpPr>
          <p:cNvPr id="21" name="Text 19"/>
          <p:cNvSpPr/>
          <p:nvPr/>
        </p:nvSpPr>
        <p:spPr>
          <a:xfrm>
            <a:off x="3081528" y="3387852"/>
            <a:ext cx="252374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Share 38.6% to 8.5%</a:t>
            </a:r>
            <a:endParaRPr lang="en-US" sz="1460" dirty="0"/>
          </a:p>
        </p:txBody>
      </p:sp>
      <p:sp>
        <p:nvSpPr>
          <p:cNvPr id="22" name="Text 20"/>
          <p:cNvSpPr/>
          <p:nvPr/>
        </p:nvSpPr>
        <p:spPr>
          <a:xfrm>
            <a:off x="5824728" y="3387852"/>
            <a:ext cx="563270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Check range continuity and availability first.</a:t>
            </a:r>
            <a:endParaRPr lang="en-US" sz="1460" dirty="0"/>
          </a:p>
        </p:txBody>
      </p:sp>
      <p:sp>
        <p:nvSpPr>
          <p:cNvPr id="23" name="Shape 21"/>
          <p:cNvSpPr/>
          <p:nvPr/>
        </p:nvSpPr>
        <p:spPr>
          <a:xfrm>
            <a:off x="594360" y="3813048"/>
            <a:ext cx="10972800" cy="512064"/>
          </a:xfrm>
          <a:prstGeom prst="rect">
            <a:avLst/>
          </a:prstGeom>
          <a:solidFill>
            <a:srgbClr val="FFFFFF"/>
          </a:solidFill>
          <a:ln w="12700">
            <a:solidFill>
              <a:srgbClr val="FFFFFF"/>
            </a:solidFill>
            <a:prstDash val="solid"/>
          </a:ln>
        </p:spPr>
        <p:txBody>
          <a:bodyPr/>
          <a:p/>
        </p:txBody>
      </p:sp>
      <p:sp>
        <p:nvSpPr>
          <p:cNvPr id="24" name="Text 22"/>
          <p:cNvSpPr/>
          <p:nvPr/>
        </p:nvSpPr>
        <p:spPr>
          <a:xfrm>
            <a:off x="704088" y="3899916"/>
            <a:ext cx="2157984" cy="393192"/>
          </a:xfrm>
          <a:prstGeom prst="rect">
            <a:avLst/>
          </a:prstGeom>
          <a:noFill/>
          <a:ln/>
        </p:spPr>
        <p:txBody>
          <a:bodyPr wrap="square" lIns="0" tIns="0" rIns="0" bIns="0" rtlCol="0" anchor="ctr">
            <a:normAutofit fontScale="100000" lnSpcReduction="0"/>
          </a:bodyPr>
          <a:lstStyle/>
          <a:p>
            <a:pPr indent="0" marL="0">
              <a:buNone/>
            </a:pPr>
            <a:r>
              <a:rPr lang="en-US" sz="1460" b="1" dirty="0">
                <a:solidFill>
                  <a:srgbClr val="24282C"/>
                </a:solidFill>
                <a:latin typeface="Arial" pitchFamily="34" charset="0"/>
                <a:ea typeface="Arial" pitchFamily="34" charset="-122"/>
                <a:cs typeface="Arial" pitchFamily="34" charset="-120"/>
              </a:rPr>
              <a:t>IBX service pattern</a:t>
            </a:r>
            <a:endParaRPr lang="en-US" sz="1460" dirty="0"/>
          </a:p>
        </p:txBody>
      </p:sp>
      <p:sp>
        <p:nvSpPr>
          <p:cNvPr id="25" name="Text 23"/>
          <p:cNvSpPr/>
          <p:nvPr/>
        </p:nvSpPr>
        <p:spPr>
          <a:xfrm>
            <a:off x="3081528" y="3862679"/>
            <a:ext cx="2523744" cy="467664"/>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82% fill; Belgium 47% urgent*</a:t>
            </a:r>
            <a:endParaRPr lang="en-US" sz="1460" dirty="0"/>
          </a:p>
        </p:txBody>
      </p:sp>
      <p:sp>
        <p:nvSpPr>
          <p:cNvPr id="26" name="Text 24"/>
          <p:cNvSpPr/>
          <p:nvPr/>
        </p:nvSpPr>
        <p:spPr>
          <a:xfrm>
            <a:off x="5824728" y="3899916"/>
            <a:ext cx="563270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Refresh dates; review range-level availability.</a:t>
            </a:r>
            <a:endParaRPr lang="en-US" sz="1460" dirty="0"/>
          </a:p>
        </p:txBody>
      </p:sp>
      <p:sp>
        <p:nvSpPr>
          <p:cNvPr id="27" name="Shape 25"/>
          <p:cNvSpPr/>
          <p:nvPr/>
        </p:nvSpPr>
        <p:spPr>
          <a:xfrm>
            <a:off x="594360" y="4325112"/>
            <a:ext cx="10972800" cy="512064"/>
          </a:xfrm>
          <a:prstGeom prst="rect">
            <a:avLst/>
          </a:prstGeom>
          <a:solidFill>
            <a:srgbClr val="EEEDEA"/>
          </a:solidFill>
          <a:ln w="12700">
            <a:solidFill>
              <a:srgbClr val="EEEDEA"/>
            </a:solidFill>
            <a:prstDash val="solid"/>
          </a:ln>
        </p:spPr>
        <p:txBody>
          <a:bodyPr/>
          <a:p/>
        </p:txBody>
      </p:sp>
      <p:sp>
        <p:nvSpPr>
          <p:cNvPr id="28" name="Text 26"/>
          <p:cNvSpPr/>
          <p:nvPr/>
        </p:nvSpPr>
        <p:spPr>
          <a:xfrm>
            <a:off x="704088" y="4411980"/>
            <a:ext cx="2157984" cy="393192"/>
          </a:xfrm>
          <a:prstGeom prst="rect">
            <a:avLst/>
          </a:prstGeom>
          <a:noFill/>
          <a:ln/>
        </p:spPr>
        <p:txBody>
          <a:bodyPr wrap="square" lIns="0" tIns="0" rIns="0" bIns="0" rtlCol="0" anchor="ctr">
            <a:normAutofit fontScale="100000" lnSpcReduction="0"/>
          </a:bodyPr>
          <a:lstStyle/>
          <a:p>
            <a:pPr indent="0" marL="0">
              <a:buNone/>
            </a:pPr>
            <a:r>
              <a:rPr lang="en-US" sz="1460" b="1" dirty="0">
                <a:solidFill>
                  <a:srgbClr val="24282C"/>
                </a:solidFill>
                <a:latin typeface="Arial" pitchFamily="34" charset="0"/>
                <a:ea typeface="Arial" pitchFamily="34" charset="-122"/>
                <a:cs typeface="Arial" pitchFamily="34" charset="-120"/>
              </a:rPr>
              <a:t>IUK September</a:t>
            </a:r>
            <a:endParaRPr lang="en-US" sz="1460" dirty="0"/>
          </a:p>
        </p:txBody>
      </p:sp>
      <p:sp>
        <p:nvSpPr>
          <p:cNvPr id="29" name="Text 27"/>
          <p:cNvSpPr/>
          <p:nvPr/>
        </p:nvSpPr>
        <p:spPr>
          <a:xfrm>
            <a:off x="3081528" y="4411980"/>
            <a:ext cx="252374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Behind same-point prior year</a:t>
            </a:r>
            <a:endParaRPr lang="en-US" sz="1460" dirty="0"/>
          </a:p>
        </p:txBody>
      </p:sp>
      <p:sp>
        <p:nvSpPr>
          <p:cNvPr id="30" name="Text 28"/>
          <p:cNvSpPr/>
          <p:nvPr/>
        </p:nvSpPr>
        <p:spPr>
          <a:xfrm>
            <a:off x="5824728" y="4411980"/>
            <a:ext cx="563270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Check timing, order book and family contributors.</a:t>
            </a:r>
            <a:endParaRPr lang="en-US" sz="1460" dirty="0"/>
          </a:p>
        </p:txBody>
      </p:sp>
      <p:sp>
        <p:nvSpPr>
          <p:cNvPr id="31" name="Shape 29"/>
          <p:cNvSpPr/>
          <p:nvPr/>
        </p:nvSpPr>
        <p:spPr>
          <a:xfrm>
            <a:off x="594360" y="4837176"/>
            <a:ext cx="10972800" cy="512064"/>
          </a:xfrm>
          <a:prstGeom prst="rect">
            <a:avLst/>
          </a:prstGeom>
          <a:solidFill>
            <a:srgbClr val="FFFFFF"/>
          </a:solidFill>
          <a:ln w="12700">
            <a:solidFill>
              <a:srgbClr val="FFFFFF"/>
            </a:solidFill>
            <a:prstDash val="solid"/>
          </a:ln>
        </p:spPr>
        <p:txBody>
          <a:bodyPr/>
          <a:p/>
        </p:txBody>
      </p:sp>
      <p:sp>
        <p:nvSpPr>
          <p:cNvPr id="32" name="Text 30"/>
          <p:cNvSpPr/>
          <p:nvPr/>
        </p:nvSpPr>
        <p:spPr>
          <a:xfrm>
            <a:off x="704088" y="4924044"/>
            <a:ext cx="2157984" cy="393192"/>
          </a:xfrm>
          <a:prstGeom prst="rect">
            <a:avLst/>
          </a:prstGeom>
          <a:noFill/>
          <a:ln/>
        </p:spPr>
        <p:txBody>
          <a:bodyPr wrap="square" lIns="0" tIns="0" rIns="0" bIns="0" rtlCol="0" anchor="ctr">
            <a:normAutofit fontScale="100000" lnSpcReduction="0"/>
          </a:bodyPr>
          <a:lstStyle/>
          <a:p>
            <a:pPr indent="0" marL="0">
              <a:buNone/>
            </a:pPr>
            <a:r>
              <a:rPr lang="en-US" sz="1460" b="1" dirty="0">
                <a:solidFill>
                  <a:srgbClr val="24282C"/>
                </a:solidFill>
                <a:latin typeface="Arial" pitchFamily="34" charset="0"/>
                <a:ea typeface="Arial" pitchFamily="34" charset="-122"/>
                <a:cs typeface="Arial" pitchFamily="34" charset="-120"/>
              </a:rPr>
              <a:t>Portugal clutch kits</a:t>
            </a:r>
            <a:endParaRPr lang="en-US" sz="1460" dirty="0"/>
          </a:p>
        </p:txBody>
      </p:sp>
      <p:sp>
        <p:nvSpPr>
          <p:cNvPr id="33" name="Text 31"/>
          <p:cNvSpPr/>
          <p:nvPr/>
        </p:nvSpPr>
        <p:spPr>
          <a:xfrm>
            <a:off x="3081528" y="4924044"/>
            <a:ext cx="252374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Combined billing +5.8%</a:t>
            </a:r>
            <a:endParaRPr lang="en-US" sz="1460" dirty="0"/>
          </a:p>
        </p:txBody>
      </p:sp>
      <p:sp>
        <p:nvSpPr>
          <p:cNvPr id="34" name="Text 32"/>
          <p:cNvSpPr/>
          <p:nvPr/>
        </p:nvSpPr>
        <p:spPr>
          <a:xfrm>
            <a:off x="5824728" y="4924044"/>
            <a:ext cx="5632704" cy="393192"/>
          </a:xfrm>
          <a:prstGeom prst="rect">
            <a:avLst/>
          </a:prstGeom>
          <a:noFill/>
          <a:ln/>
        </p:spPr>
        <p:txBody>
          <a:bodyPr wrap="square" lIns="0" tIns="0" rIns="0" bIns="0" rtlCol="0" anchor="ctr">
            <a:normAutofit fontScale="100000" lnSpcReduction="0"/>
          </a:bodyPr>
          <a:lstStyle/>
          <a:p>
            <a:pPr indent="0" marL="0">
              <a:buNone/>
            </a:pPr>
            <a:r>
              <a:rPr lang="en-US" sz="1460" dirty="0">
                <a:solidFill>
                  <a:srgbClr val="626B72"/>
                </a:solidFill>
                <a:latin typeface="Arial" pitchFamily="34" charset="0"/>
                <a:ea typeface="Arial" pitchFamily="34" charset="-122"/>
                <a:cs typeface="Arial" pitchFamily="34" charset="-120"/>
              </a:rPr>
              <a:t>Review portfolio contribution before intervention.</a:t>
            </a:r>
            <a:endParaRPr lang="en-US" sz="1460" dirty="0"/>
          </a:p>
        </p:txBody>
      </p:sp>
      <p:sp>
        <p:nvSpPr>
          <p:cNvPr id="35" name="Shape 3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6" name="Text 3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Different commercial constraints require different actions; the current evidence does not support one blanket discount.</a:t>
            </a:r>
            <a:endParaRPr lang="en-US" sz="1500" dirty="0"/>
          </a:p>
        </p:txBody>
      </p:sp>
      <p:sp>
        <p:nvSpPr>
          <p:cNvPr id="38" name="Text 35"/>
          <p:cNvSpPr/>
          <p:nvPr/>
        </p:nvSpPr>
        <p:spPr>
          <a:xfrm>
            <a:off x="658368" y="5404104"/>
            <a:ext cx="10789920" cy="146304"/>
          </a:xfrm>
          <a:prstGeom prst="rect">
            <a:avLst/>
          </a:prstGeom>
          <a:noFill/>
          <a:ln/>
        </p:spPr>
        <p:txBody>
          <a:bodyPr wrap="square" lIns="0" tIns="0" rIns="0" bIns="0" rtlCol="0" anchor="ctr">
            <a:normAutofit fontScale="100000" lnSpcReduction="0"/>
          </a:bodyPr>
          <a:lstStyle/>
          <a:p>
            <a:pPr indent="0" marL="0">
              <a:buNone/>
            </a:pPr>
            <a:r>
              <a:rPr lang="en-US" sz="850" dirty="0">
                <a:solidFill>
                  <a:srgbClr val="626B72"/>
                </a:solidFill>
                <a:latin typeface="Arial" pitchFamily="34" charset="0"/>
                <a:ea typeface="Arial" pitchFamily="34" charset="-122"/>
                <a:cs typeface="Arial" pitchFamily="34" charset="-120"/>
              </a:rPr>
              <a:t>* Different periods and source labels; confirm the distributor mapping and reporting dates.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SERVICE PERFORMANCE</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Ten historical returns sit below the 95% fill standard.</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Latest-filed KPI snapshots | Not a contemporaneous ranking of today's service performance</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10-12. Most reporting months are not visible in the source; refresh before escalation.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SERVICE PERFORMANCE</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14</a:t>
            </a:r>
            <a:endParaRPr lang="en-US" sz="1050" dirty="0"/>
          </a:p>
        </p:txBody>
      </p:sp>
      <p:graphicFrame>
        <p:nvGraphicFramePr>
          <p:cNvPr id="11" name="Chart 0" descr=""/>
          <p:cNvGraphicFramePr/>
          <p:nvPr/>
        </p:nvGraphicFramePr>
        <p:xfrm>
          <a:off x="566928" y="2304288"/>
          <a:ext cx="7644384" cy="3145536"/>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REPORTING COVERAGE</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900" b="1" dirty="0">
                <a:solidFill>
                  <a:srgbClr val="FFFFFF"/>
                </a:solidFill>
                <a:latin typeface="Arial" pitchFamily="34" charset="0"/>
                <a:ea typeface="Arial" pitchFamily="34" charset="-122"/>
                <a:cs typeface="Arial" pitchFamily="34" charset="-120"/>
              </a:rPr>
              <a:t>19 / 22</a:t>
            </a:r>
            <a:endParaRPr lang="en-US" sz="39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636" dirty="0">
                <a:solidFill>
                  <a:srgbClr val="CCD1D2"/>
                </a:solidFill>
                <a:latin typeface="Arial" pitchFamily="34" charset="0"/>
                <a:ea typeface="Arial" pitchFamily="34" charset="-122"/>
                <a:cs typeface="Arial" pitchFamily="34" charset="-120"/>
              </a:rPr>
              <a:t>Ten printed values are below 95%; seven are below the 92% floor. Petros' 60% is explicitly dated May 2025.</a:t>
            </a:r>
            <a:endParaRPr lang="en-US" sz="1636"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Request the latest return and then agree a named service follow-up. A missing return remains unknown.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INVENTORY COVER</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High cover does not prove the right parts are available.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Selected latest-filed inventory snapshots | Days | Reporting dates need refresh</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13. Supply-route bands are source assumptions, not confirmed targets for each account.</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INVENTORY COVER</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15</a:t>
            </a:r>
            <a:endParaRPr lang="en-US" sz="1050" dirty="0"/>
          </a:p>
        </p:txBody>
      </p:sp>
      <p:graphicFrame>
        <p:nvGraphicFramePr>
          <p:cNvPr id="11" name="Chart 0" descr=""/>
          <p:cNvGraphicFramePr/>
          <p:nvPr/>
        </p:nvGraphicFramePr>
        <p:xfrm>
          <a:off x="603504" y="2478024"/>
          <a:ext cx="7488936" cy="2724912"/>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BEFORE A STOCK TARGET</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2800" b="1" dirty="0">
                <a:solidFill>
                  <a:srgbClr val="FFFFFF"/>
                </a:solidFill>
                <a:latin typeface="Arial" pitchFamily="34" charset="0"/>
                <a:ea typeface="Arial" pitchFamily="34" charset="-122"/>
                <a:cs typeface="Arial" pitchFamily="34" charset="-120"/>
              </a:rPr>
              <a:t>Range + route</a:t>
            </a:r>
            <a:endParaRPr lang="en-US" sz="28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547" dirty="0">
                <a:solidFill>
                  <a:srgbClr val="CCD1D2"/>
                </a:solidFill>
                <a:latin typeface="Arial" pitchFamily="34" charset="0"/>
                <a:ea typeface="Arial" pitchFamily="34" charset="-122"/>
                <a:cs typeface="Arial" pitchFamily="34" charset="-120"/>
              </a:rPr>
              <a:t>Separate fast-moving cover, slow stock and actual lead times. Total days alone does not identify excess or a shortage.</a:t>
            </a:r>
            <a:endParaRPr lang="en-US" sz="1547"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Review fill, stock cover and urgency on the same period before attributing the cause.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ORDER URGENCY</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17.5% of matched billing is urgent-coded.</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Fiscal 2026 | Billing-value mix | Retain the original order-class definition</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14-15. Residual share and market-level code coverage require reconciliation.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ORDER URGENCY</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16</a:t>
            </a:r>
            <a:endParaRPr lang="en-US" sz="1050" dirty="0"/>
          </a:p>
        </p:txBody>
      </p:sp>
      <p:sp>
        <p:nvSpPr>
          <p:cNvPr id="11" name="Text 9"/>
          <p:cNvSpPr/>
          <p:nvPr/>
        </p:nvSpPr>
        <p:spPr>
          <a:xfrm>
            <a:off x="667512" y="2441448"/>
            <a:ext cx="7223760" cy="228600"/>
          </a:xfrm>
          <a:prstGeom prst="rect">
            <a:avLst/>
          </a:prstGeom>
          <a:noFill/>
          <a:ln/>
        </p:spPr>
        <p:txBody>
          <a:bodyPr wrap="square" lIns="0" tIns="0" rIns="0" bIns="0" rtlCol="0" anchor="ctr">
            <a:normAutofit fontScale="100000" lnSpcReduction="0"/>
          </a:bodyPr>
          <a:lstStyle/>
          <a:p>
            <a:pPr indent="0" marL="0">
              <a:buNone/>
            </a:pPr>
            <a:r>
              <a:rPr lang="en-US" sz="1100" b="1" spc="70" kern="0" dirty="0">
                <a:solidFill>
                  <a:srgbClr val="E30613"/>
                </a:solidFill>
                <a:latin typeface="Arial" pitchFamily="34" charset="0"/>
                <a:ea typeface="Arial" pitchFamily="34" charset="-122"/>
                <a:cs typeface="Arial" pitchFamily="34" charset="-120"/>
              </a:rPr>
              <a:t>NETWORK ORDER MIX</a:t>
            </a:r>
            <a:endParaRPr lang="en-US" sz="1100" dirty="0"/>
          </a:p>
        </p:txBody>
      </p:sp>
      <p:sp>
        <p:nvSpPr>
          <p:cNvPr id="12" name="Shape 10"/>
          <p:cNvSpPr/>
          <p:nvPr/>
        </p:nvSpPr>
        <p:spPr>
          <a:xfrm>
            <a:off x="685800" y="2935224"/>
            <a:ext cx="5822927" cy="749808"/>
          </a:xfrm>
          <a:prstGeom prst="rect">
            <a:avLst/>
          </a:prstGeom>
          <a:solidFill>
            <a:srgbClr val="24282C"/>
          </a:solidFill>
          <a:ln w="12700">
            <a:solidFill>
              <a:srgbClr val="24282C"/>
            </a:solidFill>
            <a:prstDash val="solid"/>
          </a:ln>
        </p:spPr>
        <p:txBody>
          <a:bodyPr/>
          <a:p/>
        </p:txBody>
      </p:sp>
      <p:sp>
        <p:nvSpPr>
          <p:cNvPr id="13" name="Shape 11"/>
          <p:cNvSpPr/>
          <p:nvPr/>
        </p:nvSpPr>
        <p:spPr>
          <a:xfrm>
            <a:off x="6508727" y="2935224"/>
            <a:ext cx="1275359" cy="749808"/>
          </a:xfrm>
          <a:prstGeom prst="rect">
            <a:avLst/>
          </a:prstGeom>
          <a:solidFill>
            <a:srgbClr val="E30613"/>
          </a:solidFill>
          <a:ln w="12700">
            <a:solidFill>
              <a:srgbClr val="E30613"/>
            </a:solidFill>
            <a:prstDash val="solid"/>
          </a:ln>
        </p:spPr>
        <p:txBody>
          <a:bodyPr/>
          <a:p/>
        </p:txBody>
      </p:sp>
      <p:sp>
        <p:nvSpPr>
          <p:cNvPr id="14" name="Shape 12"/>
          <p:cNvSpPr/>
          <p:nvPr/>
        </p:nvSpPr>
        <p:spPr>
          <a:xfrm>
            <a:off x="7784086" y="2935224"/>
            <a:ext cx="189482" cy="749808"/>
          </a:xfrm>
          <a:prstGeom prst="rect">
            <a:avLst/>
          </a:prstGeom>
          <a:solidFill>
            <a:srgbClr val="D9DCDA"/>
          </a:solidFill>
          <a:ln w="12700">
            <a:solidFill>
              <a:srgbClr val="D9DCDA"/>
            </a:solidFill>
            <a:prstDash val="solid"/>
          </a:ln>
        </p:spPr>
        <p:txBody>
          <a:bodyPr/>
          <a:p/>
        </p:txBody>
      </p:sp>
      <p:sp>
        <p:nvSpPr>
          <p:cNvPr id="15" name="Text 13"/>
          <p:cNvSpPr/>
          <p:nvPr/>
        </p:nvSpPr>
        <p:spPr>
          <a:xfrm>
            <a:off x="886968" y="3095879"/>
            <a:ext cx="1828800" cy="455930"/>
          </a:xfrm>
          <a:prstGeom prst="rect">
            <a:avLst/>
          </a:prstGeom>
          <a:noFill/>
          <a:ln/>
        </p:spPr>
        <p:txBody>
          <a:bodyPr wrap="square" lIns="0" tIns="0" rIns="0" bIns="0" rtlCol="0" anchor="ctr">
            <a:normAutofit fontScale="100000" lnSpcReduction="0"/>
          </a:bodyPr>
          <a:lstStyle/>
          <a:p>
            <a:pPr indent="0" marL="0">
              <a:buNone/>
            </a:pPr>
            <a:r>
              <a:rPr lang="en-US" sz="2700" b="1" dirty="0">
                <a:solidFill>
                  <a:srgbClr val="FFFFFF"/>
                </a:solidFill>
                <a:latin typeface="Arial" pitchFamily="34" charset="0"/>
                <a:ea typeface="Arial" pitchFamily="34" charset="-122"/>
                <a:cs typeface="Arial" pitchFamily="34" charset="-120"/>
              </a:rPr>
              <a:t>79.9%</a:t>
            </a:r>
            <a:endParaRPr lang="en-US" sz="2700" dirty="0"/>
          </a:p>
        </p:txBody>
      </p:sp>
      <p:sp>
        <p:nvSpPr>
          <p:cNvPr id="16" name="Text 14"/>
          <p:cNvSpPr/>
          <p:nvPr/>
        </p:nvSpPr>
        <p:spPr>
          <a:xfrm>
            <a:off x="6627599" y="3193033"/>
            <a:ext cx="1097280" cy="307340"/>
          </a:xfrm>
          <a:prstGeom prst="rect">
            <a:avLst/>
          </a:prstGeom>
          <a:noFill/>
          <a:ln/>
        </p:spPr>
        <p:txBody>
          <a:bodyPr wrap="square" lIns="0" tIns="0" rIns="0" bIns="0" rtlCol="0" anchor="ctr">
            <a:normAutofit fontScale="100000" lnSpcReduction="0"/>
          </a:bodyPr>
          <a:lstStyle/>
          <a:p>
            <a:pPr indent="0" marL="0">
              <a:buNone/>
            </a:pPr>
            <a:r>
              <a:rPr lang="en-US" sz="1800" b="1" dirty="0">
                <a:solidFill>
                  <a:srgbClr val="FFFFFF"/>
                </a:solidFill>
                <a:latin typeface="Arial" pitchFamily="34" charset="0"/>
                <a:ea typeface="Arial" pitchFamily="34" charset="-122"/>
                <a:cs typeface="Arial" pitchFamily="34" charset="-120"/>
              </a:rPr>
              <a:t>17.5%</a:t>
            </a:r>
            <a:endParaRPr lang="en-US" sz="1800" dirty="0"/>
          </a:p>
        </p:txBody>
      </p:sp>
      <p:sp>
        <p:nvSpPr>
          <p:cNvPr id="17" name="Text 15"/>
          <p:cNvSpPr/>
          <p:nvPr/>
        </p:nvSpPr>
        <p:spPr>
          <a:xfrm>
            <a:off x="694944" y="3895344"/>
            <a:ext cx="2743200" cy="2743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Stock-coded</a:t>
            </a:r>
            <a:endParaRPr lang="en-US" sz="1600" dirty="0"/>
          </a:p>
        </p:txBody>
      </p:sp>
      <p:sp>
        <p:nvSpPr>
          <p:cNvPr id="18" name="Text 16"/>
          <p:cNvSpPr/>
          <p:nvPr/>
        </p:nvSpPr>
        <p:spPr>
          <a:xfrm>
            <a:off x="4928616" y="3895344"/>
            <a:ext cx="2103120" cy="2743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E30613"/>
                </a:solidFill>
                <a:latin typeface="Arial" pitchFamily="34" charset="0"/>
                <a:ea typeface="Arial" pitchFamily="34" charset="-122"/>
                <a:cs typeface="Arial" pitchFamily="34" charset="-120"/>
              </a:rPr>
              <a:t>Urgent-coded</a:t>
            </a:r>
            <a:endParaRPr lang="en-US" sz="1600" dirty="0"/>
          </a:p>
        </p:txBody>
      </p:sp>
      <p:sp>
        <p:nvSpPr>
          <p:cNvPr id="19" name="Text 17"/>
          <p:cNvSpPr/>
          <p:nvPr/>
        </p:nvSpPr>
        <p:spPr>
          <a:xfrm>
            <a:off x="694944" y="4636008"/>
            <a:ext cx="7086600" cy="566928"/>
          </a:xfrm>
          <a:prstGeom prst="rect">
            <a:avLst/>
          </a:prstGeom>
          <a:noFill/>
          <a:ln/>
        </p:spPr>
        <p:txBody>
          <a:bodyPr wrap="square" lIns="0" tIns="0" rIns="0" bIns="0" rtlCol="0" anchor="ctr">
            <a:normAutofit fontScale="100000" lnSpcReduction="0"/>
          </a:bodyPr>
          <a:lstStyle/>
          <a:p>
            <a:pPr indent="0" marL="0">
              <a:buNone/>
            </a:pPr>
            <a:r>
              <a:rPr lang="en-US" sz="1540" dirty="0">
                <a:solidFill>
                  <a:srgbClr val="626B72"/>
                </a:solidFill>
                <a:latin typeface="Arial" pitchFamily="34" charset="0"/>
                <a:ea typeface="Arial" pitchFamily="34" charset="-122"/>
                <a:cs typeface="Arial" pitchFamily="34" charset="-120"/>
              </a:rPr>
              <a:t>Residual: 2.6% by subtraction. The source combines other and uncoded labels.</a:t>
            </a:r>
            <a:endParaRPr lang="en-US" sz="1540" dirty="0"/>
          </a:p>
        </p:txBody>
      </p:sp>
      <p:sp>
        <p:nvSpPr>
          <p:cNvPr id="20" name="Shape 18"/>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21" name="Text 19"/>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SELECTED REPORTED SHARES</a:t>
            </a:r>
            <a:endParaRPr lang="en-US" sz="1160" dirty="0"/>
          </a:p>
        </p:txBody>
      </p:sp>
      <p:sp>
        <p:nvSpPr>
          <p:cNvPr id="22" name="Text 20"/>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900" b="1" dirty="0">
                <a:solidFill>
                  <a:srgbClr val="FFFFFF"/>
                </a:solidFill>
                <a:latin typeface="Arial" pitchFamily="34" charset="0"/>
                <a:ea typeface="Arial" pitchFamily="34" charset="-122"/>
                <a:cs typeface="Arial" pitchFamily="34" charset="-120"/>
              </a:rPr>
              <a:t>47.0%</a:t>
            </a:r>
            <a:endParaRPr lang="en-US" sz="3900" dirty="0"/>
          </a:p>
        </p:txBody>
      </p:sp>
      <p:sp>
        <p:nvSpPr>
          <p:cNvPr id="23" name="Text 21"/>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559" dirty="0">
                <a:solidFill>
                  <a:srgbClr val="CCD1D2"/>
                </a:solidFill>
                <a:latin typeface="Arial" pitchFamily="34" charset="0"/>
                <a:ea typeface="Arial" pitchFamily="34" charset="-122"/>
                <a:cs typeface="Arial" pitchFamily="34" charset="-120"/>
              </a:rPr>
              <a:t>Belgium urgent share. Germany is 32.4%; ITUK 12.1%. Account coverage is needed before comparing the extremes.</a:t>
            </a:r>
            <a:endParaRPr lang="en-US" sz="1559" dirty="0"/>
          </a:p>
        </p:txBody>
      </p:sp>
      <p:sp>
        <p:nvSpPr>
          <p:cNvPr id="24" name="Shape 22"/>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5" name="Text 23"/>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Separate avoidable emergency ordering from genuine breakdown demand.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AVAILABILITY ACTION</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Find the constraint before changing the commercial terms.</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joined review | Same distributor, range and reporting month</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Proposed extension from BPR pp. 10-15 and AIM p. 18. No causal relationships are asserted.</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AVAILABILITY ACTION</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17</a:t>
            </a:r>
            <a:endParaRPr lang="en-US" sz="1050" dirty="0"/>
          </a:p>
        </p:txBody>
      </p:sp>
      <p:sp>
        <p:nvSpPr>
          <p:cNvPr id="12" name="Shape 10"/>
          <p:cNvSpPr/>
          <p:nvPr/>
        </p:nvSpPr>
        <p:spPr>
          <a:xfrm>
            <a:off x="594360" y="2587752"/>
            <a:ext cx="3517392" cy="2624328"/>
          </a:xfrm>
          <a:prstGeom prst="rect">
            <a:avLst/>
          </a:prstGeom>
          <a:solidFill>
            <a:srgbClr val="FFFFFF"/>
          </a:solidFill>
          <a:ln w="7620">
            <a:solidFill>
              <a:srgbClr val="D9DCDA"/>
            </a:solidFill>
            <a:prstDash val="solid"/>
          </a:ln>
        </p:spPr>
        <p:txBody>
          <a:bodyPr/>
          <a:p/>
        </p:txBody>
      </p:sp>
      <p:sp>
        <p:nvSpPr>
          <p:cNvPr id="13" name="Text 11"/>
          <p:cNvSpPr/>
          <p:nvPr/>
        </p:nvSpPr>
        <p:spPr>
          <a:xfrm>
            <a:off x="804672" y="2788920"/>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IS THE RANGE AVAILABLE?</a:t>
            </a:r>
            <a:endParaRPr lang="en-US" sz="1160" dirty="0"/>
          </a:p>
        </p:txBody>
      </p:sp>
      <p:sp>
        <p:nvSpPr>
          <p:cNvPr id="14" name="Text 12"/>
          <p:cNvSpPr/>
          <p:nvPr/>
        </p:nvSpPr>
        <p:spPr>
          <a:xfrm>
            <a:off x="804672" y="3401568"/>
            <a:ext cx="3096768" cy="1600200"/>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Fill, open order lines, supply dates and unavailable references.</a:t>
            </a:r>
            <a:endParaRPr lang="en-US" sz="1795" dirty="0"/>
          </a:p>
        </p:txBody>
      </p:sp>
      <p:sp>
        <p:nvSpPr>
          <p:cNvPr id="15" name="Shape 13"/>
          <p:cNvSpPr/>
          <p:nvPr/>
        </p:nvSpPr>
        <p:spPr>
          <a:xfrm>
            <a:off x="4331208" y="2587752"/>
            <a:ext cx="3517392" cy="2624328"/>
          </a:xfrm>
          <a:prstGeom prst="rect">
            <a:avLst/>
          </a:prstGeom>
          <a:solidFill>
            <a:srgbClr val="FFFFFF"/>
          </a:solidFill>
          <a:ln w="7620">
            <a:solidFill>
              <a:srgbClr val="D9DCDA"/>
            </a:solidFill>
            <a:prstDash val="solid"/>
          </a:ln>
        </p:spPr>
        <p:txBody>
          <a:bodyPr/>
          <a:p/>
        </p:txBody>
      </p:sp>
      <p:sp>
        <p:nvSpPr>
          <p:cNvPr id="16" name="Text 14"/>
          <p:cNvSpPr/>
          <p:nvPr/>
        </p:nvSpPr>
        <p:spPr>
          <a:xfrm>
            <a:off x="4541520" y="2788920"/>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IS STOCK IN THE RIGHT PLACE?</a:t>
            </a:r>
            <a:endParaRPr lang="en-US" sz="1160" dirty="0"/>
          </a:p>
        </p:txBody>
      </p:sp>
      <p:sp>
        <p:nvSpPr>
          <p:cNvPr id="17" name="Text 15"/>
          <p:cNvSpPr/>
          <p:nvPr/>
        </p:nvSpPr>
        <p:spPr>
          <a:xfrm>
            <a:off x="4541520" y="3401568"/>
            <a:ext cx="3096768" cy="1600200"/>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Relevant fast movers, replenishment rules and slow-stock exceptions.</a:t>
            </a:r>
            <a:endParaRPr lang="en-US" sz="1795" dirty="0"/>
          </a:p>
        </p:txBody>
      </p:sp>
      <p:sp>
        <p:nvSpPr>
          <p:cNvPr id="18" name="Shape 16"/>
          <p:cNvSpPr/>
          <p:nvPr/>
        </p:nvSpPr>
        <p:spPr>
          <a:xfrm>
            <a:off x="8068056" y="2587752"/>
            <a:ext cx="3517392" cy="2624328"/>
          </a:xfrm>
          <a:prstGeom prst="rect">
            <a:avLst/>
          </a:prstGeom>
          <a:solidFill>
            <a:srgbClr val="FFFFFF"/>
          </a:solidFill>
          <a:ln w="7620">
            <a:solidFill>
              <a:srgbClr val="D9DCDA"/>
            </a:solidFill>
            <a:prstDash val="solid"/>
          </a:ln>
        </p:spPr>
        <p:txBody>
          <a:bodyPr/>
          <a:p/>
        </p:txBody>
      </p:sp>
      <p:sp>
        <p:nvSpPr>
          <p:cNvPr id="19" name="Text 17"/>
          <p:cNvSpPr/>
          <p:nvPr/>
        </p:nvSpPr>
        <p:spPr>
          <a:xfrm>
            <a:off x="8278368" y="2788920"/>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IS THE OFFER COMPETITIVE?</a:t>
            </a:r>
            <a:endParaRPr lang="en-US" sz="1160" dirty="0"/>
          </a:p>
        </p:txBody>
      </p:sp>
      <p:sp>
        <p:nvSpPr>
          <p:cNvPr id="20" name="Text 18"/>
          <p:cNvSpPr/>
          <p:nvPr/>
        </p:nvSpPr>
        <p:spPr>
          <a:xfrm>
            <a:off x="8278368" y="3401568"/>
            <a:ext cx="3096768" cy="1600200"/>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Comparable products, actual terms and documented alternatives.</a:t>
            </a:r>
            <a:endParaRPr lang="en-US" sz="1795" dirty="0"/>
          </a:p>
        </p:txBody>
      </p:sp>
      <p:sp>
        <p:nvSpPr>
          <p:cNvPr id="21" name="Shape 1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2" name="Text 2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Price support cannot resolve an unavailable range or an untested replenishment problem.</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MODELLED OPPORTUNITY</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Modelled potential screens the range - it is not booked growth.</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2025 | Keep ceiling coverage, service gaps and observed billing separate</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17 and 19. Model outputs are inherited, not independently recalculated.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MODELLED OPPORTUNITY</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18</a:t>
            </a:r>
            <a:endParaRPr lang="en-US" sz="1050" dirty="0"/>
          </a:p>
        </p:txBody>
      </p:sp>
      <p:sp>
        <p:nvSpPr>
          <p:cNvPr id="11" name="Shape 9"/>
          <p:cNvSpPr/>
          <p:nvPr/>
        </p:nvSpPr>
        <p:spPr>
          <a:xfrm>
            <a:off x="594360" y="2532888"/>
            <a:ext cx="3547872" cy="2670048"/>
          </a:xfrm>
          <a:prstGeom prst="rect">
            <a:avLst/>
          </a:prstGeom>
          <a:solidFill>
            <a:srgbClr val="FFFFFF"/>
          </a:solidFill>
          <a:ln w="7620">
            <a:solidFill>
              <a:srgbClr val="D9DCDA"/>
            </a:solidFill>
            <a:prstDash val="solid"/>
          </a:ln>
        </p:spPr>
        <p:txBody>
          <a:bodyPr/>
          <a:p/>
        </p:txBody>
      </p:sp>
      <p:sp>
        <p:nvSpPr>
          <p:cNvPr id="12" name="Text 10"/>
          <p:cNvSpPr/>
          <p:nvPr/>
        </p:nvSpPr>
        <p:spPr>
          <a:xfrm>
            <a:off x="804672" y="2734056"/>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CEILING COVERAGE</a:t>
            </a:r>
            <a:endParaRPr lang="en-US" sz="1160" dirty="0"/>
          </a:p>
        </p:txBody>
      </p:sp>
      <p:sp>
        <p:nvSpPr>
          <p:cNvPr id="13" name="Text 11"/>
          <p:cNvSpPr/>
          <p:nvPr/>
        </p:nvSpPr>
        <p:spPr>
          <a:xfrm>
            <a:off x="804672" y="3300984"/>
            <a:ext cx="3127248" cy="694944"/>
          </a:xfrm>
          <a:prstGeom prst="rect">
            <a:avLst/>
          </a:prstGeom>
          <a:noFill/>
          <a:ln/>
        </p:spPr>
        <p:txBody>
          <a:bodyPr wrap="square" lIns="0" tIns="0" rIns="0" bIns="0" rtlCol="0" anchor="ctr">
            <a:normAutofit fontScale="100000" lnSpcReduction="0"/>
          </a:bodyPr>
          <a:lstStyle/>
          <a:p>
            <a:pPr indent="0" marL="0">
              <a:buNone/>
            </a:pPr>
            <a:r>
              <a:rPr lang="en-US" sz="4200" b="1" dirty="0">
                <a:solidFill>
                  <a:srgbClr val="24282C"/>
                </a:solidFill>
                <a:latin typeface="Arial" pitchFamily="34" charset="0"/>
                <a:ea typeface="Arial" pitchFamily="34" charset="-122"/>
                <a:cs typeface="Arial" pitchFamily="34" charset="-120"/>
              </a:rPr>
              <a:t>51.1%</a:t>
            </a:r>
            <a:endParaRPr lang="en-US" sz="4200" dirty="0"/>
          </a:p>
        </p:txBody>
      </p:sp>
      <p:sp>
        <p:nvSpPr>
          <p:cNvPr id="14" name="Text 12"/>
          <p:cNvSpPr/>
          <p:nvPr/>
        </p:nvSpPr>
        <p:spPr>
          <a:xfrm>
            <a:off x="804672" y="4087368"/>
            <a:ext cx="3127248" cy="941832"/>
          </a:xfrm>
          <a:prstGeom prst="rect">
            <a:avLst/>
          </a:prstGeom>
          <a:noFill/>
          <a:ln/>
        </p:spPr>
        <p:txBody>
          <a:bodyPr wrap="square" lIns="0" tIns="0" rIns="0" bIns="0" rtlCol="0" anchor="ctr">
            <a:normAutofit fontScale="100000" lnSpcReduction="0"/>
          </a:bodyPr>
          <a:lstStyle/>
          <a:p>
            <a:pPr indent="0" marL="0">
              <a:buNone/>
            </a:pPr>
            <a:r>
              <a:rPr lang="en-US" sz="1695" dirty="0">
                <a:solidFill>
                  <a:srgbClr val="626B72"/>
                </a:solidFill>
                <a:latin typeface="Arial" pitchFamily="34" charset="0"/>
                <a:ea typeface="Arial" pitchFamily="34" charset="-122"/>
                <a:cs typeface="Arial" pitchFamily="34" charset="-120"/>
              </a:rPr>
              <a:t>30.76 M€ billed against a 60.22 M€ modelled spend ceiling.</a:t>
            </a:r>
            <a:endParaRPr lang="en-US" sz="1695" dirty="0"/>
          </a:p>
        </p:txBody>
      </p:sp>
      <p:sp>
        <p:nvSpPr>
          <p:cNvPr id="15" name="Shape 13"/>
          <p:cNvSpPr/>
          <p:nvPr/>
        </p:nvSpPr>
        <p:spPr>
          <a:xfrm>
            <a:off x="4334256" y="2532888"/>
            <a:ext cx="3547872" cy="2670048"/>
          </a:xfrm>
          <a:prstGeom prst="rect">
            <a:avLst/>
          </a:prstGeom>
          <a:solidFill>
            <a:srgbClr val="FFFFFF"/>
          </a:solidFill>
          <a:ln w="7620">
            <a:solidFill>
              <a:srgbClr val="D9DCDA"/>
            </a:solidFill>
            <a:prstDash val="solid"/>
          </a:ln>
        </p:spPr>
        <p:txBody>
          <a:bodyPr/>
          <a:p/>
        </p:txBody>
      </p:sp>
      <p:sp>
        <p:nvSpPr>
          <p:cNvPr id="16" name="Text 14"/>
          <p:cNvSpPr/>
          <p:nvPr/>
        </p:nvSpPr>
        <p:spPr>
          <a:xfrm>
            <a:off x="4544568" y="2734056"/>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SERVICE-FAMILY OUTPUT</a:t>
            </a:r>
            <a:endParaRPr lang="en-US" sz="1160" dirty="0"/>
          </a:p>
        </p:txBody>
      </p:sp>
      <p:sp>
        <p:nvSpPr>
          <p:cNvPr id="17" name="Text 15"/>
          <p:cNvSpPr/>
          <p:nvPr/>
        </p:nvSpPr>
        <p:spPr>
          <a:xfrm>
            <a:off x="4544568" y="3300984"/>
            <a:ext cx="3127248" cy="694944"/>
          </a:xfrm>
          <a:prstGeom prst="rect">
            <a:avLst/>
          </a:prstGeom>
          <a:noFill/>
          <a:ln/>
        </p:spPr>
        <p:txBody>
          <a:bodyPr wrap="square" lIns="0" tIns="0" rIns="0" bIns="0" rtlCol="0" anchor="ctr">
            <a:normAutofit fontScale="100000" lnSpcReduction="0"/>
          </a:bodyPr>
          <a:lstStyle/>
          <a:p>
            <a:pPr indent="0" marL="0">
              <a:buNone/>
            </a:pPr>
            <a:r>
              <a:rPr lang="en-US" sz="3500" b="1" dirty="0">
                <a:solidFill>
                  <a:srgbClr val="24282C"/>
                </a:solidFill>
                <a:latin typeface="Arial" pitchFamily="34" charset="0"/>
                <a:ea typeface="Arial" pitchFamily="34" charset="-122"/>
                <a:cs typeface="Arial" pitchFamily="34" charset="-120"/>
              </a:rPr>
              <a:t>18.22 M€</a:t>
            </a:r>
            <a:endParaRPr lang="en-US" sz="3500" dirty="0"/>
          </a:p>
        </p:txBody>
      </p:sp>
      <p:sp>
        <p:nvSpPr>
          <p:cNvPr id="18" name="Text 16"/>
          <p:cNvSpPr/>
          <p:nvPr/>
        </p:nvSpPr>
        <p:spPr>
          <a:xfrm>
            <a:off x="4544568" y="4087368"/>
            <a:ext cx="3127248" cy="941832"/>
          </a:xfrm>
          <a:prstGeom prst="rect">
            <a:avLst/>
          </a:prstGeom>
          <a:noFill/>
          <a:ln/>
        </p:spPr>
        <p:txBody>
          <a:bodyPr wrap="square" lIns="0" tIns="0" rIns="0" bIns="0" rtlCol="0" anchor="ctr">
            <a:normAutofit fontScale="100000" lnSpcReduction="0"/>
          </a:bodyPr>
          <a:lstStyle/>
          <a:p>
            <a:pPr indent="0" marL="0">
              <a:buNone/>
            </a:pPr>
            <a:r>
              <a:rPr lang="en-US" sz="1550" dirty="0">
                <a:solidFill>
                  <a:srgbClr val="626B72"/>
                </a:solidFill>
                <a:latin typeface="Arial" pitchFamily="34" charset="0"/>
                <a:ea typeface="Arial" pitchFamily="34" charset="-122"/>
                <a:cs typeface="Arial" pitchFamily="34" charset="-120"/>
              </a:rPr>
              <a:t>Reported modelled gap valued at observed prices. Not a confirmed sales pipeline.</a:t>
            </a:r>
            <a:endParaRPr lang="en-US" sz="1550" dirty="0"/>
          </a:p>
        </p:txBody>
      </p:sp>
      <p:sp>
        <p:nvSpPr>
          <p:cNvPr id="19" name="Shape 17"/>
          <p:cNvSpPr/>
          <p:nvPr/>
        </p:nvSpPr>
        <p:spPr>
          <a:xfrm>
            <a:off x="8074152" y="2532888"/>
            <a:ext cx="3547872" cy="2670048"/>
          </a:xfrm>
          <a:prstGeom prst="rect">
            <a:avLst/>
          </a:prstGeom>
          <a:solidFill>
            <a:srgbClr val="24282C"/>
          </a:solidFill>
          <a:ln w="12700">
            <a:solidFill>
              <a:srgbClr val="24282C"/>
            </a:solidFill>
            <a:prstDash val="solid"/>
          </a:ln>
        </p:spPr>
        <p:txBody>
          <a:bodyPr/>
          <a:p/>
        </p:txBody>
      </p:sp>
      <p:sp>
        <p:nvSpPr>
          <p:cNvPr id="20" name="Text 18"/>
          <p:cNvSpPr/>
          <p:nvPr/>
        </p:nvSpPr>
        <p:spPr>
          <a:xfrm>
            <a:off x="8284464" y="2734056"/>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ADDRESSABLE BUSINESS</a:t>
            </a:r>
            <a:endParaRPr lang="en-US" sz="1160" dirty="0"/>
          </a:p>
        </p:txBody>
      </p:sp>
      <p:sp>
        <p:nvSpPr>
          <p:cNvPr id="21" name="Text 19"/>
          <p:cNvSpPr/>
          <p:nvPr/>
        </p:nvSpPr>
        <p:spPr>
          <a:xfrm>
            <a:off x="8284464" y="3300984"/>
            <a:ext cx="3127248" cy="694944"/>
          </a:xfrm>
          <a:prstGeom prst="rect">
            <a:avLst/>
          </a:prstGeom>
          <a:noFill/>
          <a:ln/>
        </p:spPr>
        <p:txBody>
          <a:bodyPr wrap="square" lIns="0" tIns="0" rIns="0" bIns="0" rtlCol="0" anchor="ctr">
            <a:normAutofit fontScale="100000" lnSpcReduction="0"/>
          </a:bodyPr>
          <a:lstStyle/>
          <a:p>
            <a:pPr indent="0" marL="0">
              <a:buNone/>
            </a:pPr>
            <a:r>
              <a:rPr lang="en-US" sz="2500" b="1" dirty="0">
                <a:solidFill>
                  <a:srgbClr val="FFFFFF"/>
                </a:solidFill>
                <a:latin typeface="Arial" pitchFamily="34" charset="0"/>
                <a:ea typeface="Arial" pitchFamily="34" charset="-122"/>
                <a:cs typeface="Arial" pitchFamily="34" charset="-120"/>
              </a:rPr>
              <a:t>Not yet proved</a:t>
            </a:r>
            <a:endParaRPr lang="en-US" sz="2500" dirty="0"/>
          </a:p>
        </p:txBody>
      </p:sp>
      <p:sp>
        <p:nvSpPr>
          <p:cNvPr id="22" name="Text 20"/>
          <p:cNvSpPr/>
          <p:nvPr/>
        </p:nvSpPr>
        <p:spPr>
          <a:xfrm>
            <a:off x="8284464" y="4087368"/>
            <a:ext cx="3127248" cy="941832"/>
          </a:xfrm>
          <a:prstGeom prst="rect">
            <a:avLst/>
          </a:prstGeom>
          <a:noFill/>
          <a:ln/>
        </p:spPr>
        <p:txBody>
          <a:bodyPr wrap="square" lIns="0" tIns="0" rIns="0" bIns="0" rtlCol="0" anchor="ctr">
            <a:normAutofit fontScale="100000" lnSpcReduction="0"/>
          </a:bodyPr>
          <a:lstStyle/>
          <a:p>
            <a:pPr indent="0" marL="0">
              <a:buNone/>
            </a:pPr>
            <a:r>
              <a:rPr lang="en-US" sz="1552" dirty="0">
                <a:solidFill>
                  <a:srgbClr val="CCD1D2"/>
                </a:solidFill>
                <a:latin typeface="Arial" pitchFamily="34" charset="0"/>
                <a:ea typeface="Arial" pitchFamily="34" charset="-122"/>
                <a:cs typeface="Arial" pitchFamily="34" charset="-120"/>
              </a:rPr>
              <a:t>Validate applicability, intervals, source coverage, alternatives and the ability to supply.</a:t>
            </a:r>
            <a:endParaRPr lang="en-US" sz="1552" dirty="0"/>
          </a:p>
        </p:txBody>
      </p:sp>
      <p:sp>
        <p:nvSpPr>
          <p:cNvPr id="23" name="Shape 2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4" name="Text 2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The ceiling gap needs reconciliation: 29.69 M€ reported versus 29.46 M€ by subtraction.</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SERVICE-FAMILY SCREEN</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The model directs attention to clutch and braking ranges.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2025 | Reported modelled gap at observed selling prices | K€</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19. Top printed lines; validated kit/component overlap and service assumptions still required.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SERVICE-FAMILY SCREEN</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19</a:t>
            </a:r>
            <a:endParaRPr lang="en-US" sz="1050" dirty="0"/>
          </a:p>
        </p:txBody>
      </p:sp>
      <p:graphicFrame>
        <p:nvGraphicFramePr>
          <p:cNvPr id="11" name="Chart 0" descr=""/>
          <p:cNvGraphicFramePr/>
          <p:nvPr/>
        </p:nvGraphicFramePr>
        <p:xfrm>
          <a:off x="557784" y="2304288"/>
          <a:ext cx="7735824" cy="3182112"/>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LARGEST REPORTED LINE</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400" b="1" dirty="0">
                <a:solidFill>
                  <a:srgbClr val="FFFFFF"/>
                </a:solidFill>
                <a:latin typeface="Arial" pitchFamily="34" charset="0"/>
                <a:ea typeface="Arial" pitchFamily="34" charset="-122"/>
                <a:cs typeface="Arial" pitchFamily="34" charset="-120"/>
              </a:rPr>
              <a:t>3.14 M€</a:t>
            </a:r>
            <a:endParaRPr lang="en-US" sz="34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474" dirty="0">
                <a:solidFill>
                  <a:srgbClr val="CCD1D2"/>
                </a:solidFill>
                <a:latin typeface="Arial" pitchFamily="34" charset="0"/>
                <a:ea typeface="Arial" pitchFamily="34" charset="-122"/>
                <a:cs typeface="Arial" pitchFamily="34" charset="-120"/>
              </a:rPr>
              <a:t>Clutch Disc. Review the applicable range and replacement assumptions before using the euro amount as an opportunity target.</a:t>
            </a:r>
            <a:endParaRPr lang="en-US" sz="1474"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Use the model to choose the next product question - then substantiate the recoverable business.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FLEET CONTEXT</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ADDED FROM AIM</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Spend per vehicle is a question to investigate, not a target.</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2025 | Observed parts billed per vehicle in service</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Sources: AIM p. 15; BPR p. 18. Fleet mix and source population must be aligned before benchmarking.</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FLEET CONTEXT</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20</a:t>
            </a:r>
            <a:endParaRPr lang="en-US" sz="1050" dirty="0"/>
          </a:p>
        </p:txBody>
      </p:sp>
      <p:sp>
        <p:nvSpPr>
          <p:cNvPr id="12" name="Shape 10"/>
          <p:cNvSpPr/>
          <p:nvPr/>
        </p:nvSpPr>
        <p:spPr>
          <a:xfrm>
            <a:off x="649224" y="2551176"/>
            <a:ext cx="5321808" cy="2697480"/>
          </a:xfrm>
          <a:prstGeom prst="rect">
            <a:avLst/>
          </a:prstGeom>
          <a:solidFill>
            <a:srgbClr val="FFFFFF"/>
          </a:solidFill>
          <a:ln w="7620">
            <a:solidFill>
              <a:srgbClr val="D9DCDA"/>
            </a:solidFill>
            <a:prstDash val="solid"/>
          </a:ln>
        </p:spPr>
        <p:txBody>
          <a:bodyPr/>
          <a:p/>
        </p:txBody>
      </p:sp>
      <p:sp>
        <p:nvSpPr>
          <p:cNvPr id="13" name="Text 11"/>
          <p:cNvSpPr/>
          <p:nvPr/>
        </p:nvSpPr>
        <p:spPr>
          <a:xfrm>
            <a:off x="859536" y="2752344"/>
            <a:ext cx="490118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NORWAY</a:t>
            </a:r>
            <a:endParaRPr lang="en-US" sz="1160" dirty="0"/>
          </a:p>
        </p:txBody>
      </p:sp>
      <p:sp>
        <p:nvSpPr>
          <p:cNvPr id="14" name="Text 12"/>
          <p:cNvSpPr/>
          <p:nvPr/>
        </p:nvSpPr>
        <p:spPr>
          <a:xfrm>
            <a:off x="859536" y="3265424"/>
            <a:ext cx="4901184" cy="802640"/>
          </a:xfrm>
          <a:prstGeom prst="rect">
            <a:avLst/>
          </a:prstGeom>
          <a:noFill/>
          <a:ln/>
        </p:spPr>
        <p:txBody>
          <a:bodyPr wrap="square" lIns="0" tIns="0" rIns="0" bIns="0" rtlCol="0" anchor="ctr">
            <a:normAutofit fontScale="100000" lnSpcReduction="0"/>
          </a:bodyPr>
          <a:lstStyle/>
          <a:p>
            <a:pPr indent="0" marL="0">
              <a:buNone/>
            </a:pPr>
            <a:r>
              <a:rPr lang="en-US" sz="4800" b="1" dirty="0">
                <a:solidFill>
                  <a:srgbClr val="24282C"/>
                </a:solidFill>
                <a:latin typeface="Arial" pitchFamily="34" charset="0"/>
                <a:ea typeface="Arial" pitchFamily="34" charset="-122"/>
                <a:cs typeface="Arial" pitchFamily="34" charset="-120"/>
              </a:rPr>
              <a:t>€179</a:t>
            </a:r>
            <a:endParaRPr lang="en-US" sz="4800" dirty="0"/>
          </a:p>
        </p:txBody>
      </p:sp>
      <p:sp>
        <p:nvSpPr>
          <p:cNvPr id="15" name="Text 13"/>
          <p:cNvSpPr/>
          <p:nvPr/>
        </p:nvSpPr>
        <p:spPr>
          <a:xfrm>
            <a:off x="859536" y="4105656"/>
            <a:ext cx="4901184" cy="969264"/>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1,416,552 € parts billed</a:t>
            </a:r>
            <a:endParaRPr lang="en-US" sz="1795" dirty="0"/>
          </a:p>
          <a:p>
            <a:pPr indent="0" marL="0">
              <a:buNone/>
            </a:pPr>
            <a:r>
              <a:rPr lang="en-US" sz="1795" dirty="0">
                <a:solidFill>
                  <a:srgbClr val="626B72"/>
                </a:solidFill>
                <a:latin typeface="Arial" pitchFamily="34" charset="0"/>
                <a:ea typeface="Arial" pitchFamily="34" charset="-122"/>
                <a:cs typeface="Arial" pitchFamily="34" charset="-120"/>
              </a:rPr>
              <a:t>7,929 vehicles in service</a:t>
            </a:r>
            <a:endParaRPr lang="en-US" sz="1795" dirty="0"/>
          </a:p>
        </p:txBody>
      </p:sp>
      <p:sp>
        <p:nvSpPr>
          <p:cNvPr id="16" name="Shape 14"/>
          <p:cNvSpPr/>
          <p:nvPr/>
        </p:nvSpPr>
        <p:spPr>
          <a:xfrm>
            <a:off x="6227064" y="2551176"/>
            <a:ext cx="5321808" cy="2697480"/>
          </a:xfrm>
          <a:prstGeom prst="rect">
            <a:avLst/>
          </a:prstGeom>
          <a:solidFill>
            <a:srgbClr val="FFFFFF"/>
          </a:solidFill>
          <a:ln w="7620">
            <a:solidFill>
              <a:srgbClr val="D9DCDA"/>
            </a:solidFill>
            <a:prstDash val="solid"/>
          </a:ln>
        </p:spPr>
        <p:txBody>
          <a:bodyPr/>
          <a:p/>
        </p:txBody>
      </p:sp>
      <p:sp>
        <p:nvSpPr>
          <p:cNvPr id="17" name="Text 15"/>
          <p:cNvSpPr/>
          <p:nvPr/>
        </p:nvSpPr>
        <p:spPr>
          <a:xfrm>
            <a:off x="6437376" y="2752344"/>
            <a:ext cx="490118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SWEDEN</a:t>
            </a:r>
            <a:endParaRPr lang="en-US" sz="1160" dirty="0"/>
          </a:p>
        </p:txBody>
      </p:sp>
      <p:sp>
        <p:nvSpPr>
          <p:cNvPr id="18" name="Text 16"/>
          <p:cNvSpPr/>
          <p:nvPr/>
        </p:nvSpPr>
        <p:spPr>
          <a:xfrm>
            <a:off x="6437376" y="3265424"/>
            <a:ext cx="4901184" cy="802640"/>
          </a:xfrm>
          <a:prstGeom prst="rect">
            <a:avLst/>
          </a:prstGeom>
          <a:noFill/>
          <a:ln/>
        </p:spPr>
        <p:txBody>
          <a:bodyPr wrap="square" lIns="0" tIns="0" rIns="0" bIns="0" rtlCol="0" anchor="ctr">
            <a:normAutofit fontScale="100000" lnSpcReduction="0"/>
          </a:bodyPr>
          <a:lstStyle/>
          <a:p>
            <a:pPr indent="0" marL="0">
              <a:buNone/>
            </a:pPr>
            <a:r>
              <a:rPr lang="en-US" sz="4800" b="1" dirty="0">
                <a:solidFill>
                  <a:srgbClr val="24282C"/>
                </a:solidFill>
                <a:latin typeface="Arial" pitchFamily="34" charset="0"/>
                <a:ea typeface="Arial" pitchFamily="34" charset="-122"/>
                <a:cs typeface="Arial" pitchFamily="34" charset="-120"/>
              </a:rPr>
              <a:t>€151</a:t>
            </a:r>
            <a:endParaRPr lang="en-US" sz="4800" dirty="0"/>
          </a:p>
        </p:txBody>
      </p:sp>
      <p:sp>
        <p:nvSpPr>
          <p:cNvPr id="19" name="Text 17"/>
          <p:cNvSpPr/>
          <p:nvPr/>
        </p:nvSpPr>
        <p:spPr>
          <a:xfrm>
            <a:off x="6437376" y="4105656"/>
            <a:ext cx="4901184" cy="969264"/>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1,278,462 € parts billed</a:t>
            </a:r>
            <a:endParaRPr lang="en-US" sz="1795" dirty="0"/>
          </a:p>
          <a:p>
            <a:pPr indent="0" marL="0">
              <a:buNone/>
            </a:pPr>
            <a:r>
              <a:rPr lang="en-US" sz="1795" dirty="0">
                <a:solidFill>
                  <a:srgbClr val="626B72"/>
                </a:solidFill>
                <a:latin typeface="Arial" pitchFamily="34" charset="0"/>
                <a:ea typeface="Arial" pitchFamily="34" charset="-122"/>
                <a:cs typeface="Arial" pitchFamily="34" charset="-120"/>
              </a:rPr>
              <a:t>8,443 vehicles in service</a:t>
            </a:r>
            <a:endParaRPr lang="en-US" sz="1795" dirty="0"/>
          </a:p>
        </p:txBody>
      </p:sp>
      <p:sp>
        <p:nvSpPr>
          <p:cNvPr id="20" name="Shape 18"/>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1" name="Text 19"/>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Match model, age, application, period and product mix before turning the 28 € difference into a target.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ITUK SERVICE MODEL</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Changing the period changes ITUK's service-cover result.</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Separate calendar and fiscal snapshots | Neither view is a new market-share measurement</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21. Model fleet: 23,068; expected units: 75,337. Do not merge with AIM's other fleet base.</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ITUK SERVICE MODEL</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21</a:t>
            </a:r>
            <a:endParaRPr lang="en-US" sz="1050" dirty="0"/>
          </a:p>
        </p:txBody>
      </p:sp>
      <p:sp>
        <p:nvSpPr>
          <p:cNvPr id="11" name="Text 9"/>
          <p:cNvSpPr/>
          <p:nvPr/>
        </p:nvSpPr>
        <p:spPr>
          <a:xfrm>
            <a:off x="722376" y="2505456"/>
            <a:ext cx="7150608" cy="310896"/>
          </a:xfrm>
          <a:prstGeom prst="rect">
            <a:avLst/>
          </a:prstGeom>
          <a:noFill/>
          <a:ln/>
        </p:spPr>
        <p:txBody>
          <a:bodyPr wrap="square" lIns="0" tIns="0" rIns="0" bIns="0" rtlCol="0" anchor="ctr">
            <a:normAutofit fontScale="100000" lnSpcReduction="0"/>
          </a:bodyPr>
          <a:lstStyle/>
          <a:p>
            <a:pPr indent="0" marL="0">
              <a:buNone/>
            </a:pPr>
            <a:r>
              <a:rPr lang="en-US" sz="1700" b="1" dirty="0">
                <a:solidFill>
                  <a:srgbClr val="24282C"/>
                </a:solidFill>
                <a:latin typeface="Arial" pitchFamily="34" charset="0"/>
                <a:ea typeface="Arial" pitchFamily="34" charset="-122"/>
                <a:cs typeface="Arial" pitchFamily="34" charset="-120"/>
              </a:rPr>
              <a:t>Calendar 2025</a:t>
            </a:r>
            <a:endParaRPr lang="en-US" sz="1700" dirty="0"/>
          </a:p>
        </p:txBody>
      </p:sp>
      <p:sp>
        <p:nvSpPr>
          <p:cNvPr id="12" name="Shape 10"/>
          <p:cNvSpPr/>
          <p:nvPr/>
        </p:nvSpPr>
        <p:spPr>
          <a:xfrm>
            <a:off x="722376" y="3008376"/>
            <a:ext cx="7150608" cy="502920"/>
          </a:xfrm>
          <a:prstGeom prst="rect">
            <a:avLst/>
          </a:prstGeom>
          <a:solidFill>
            <a:srgbClr val="D9DCDA"/>
          </a:solidFill>
          <a:ln w="12700">
            <a:solidFill>
              <a:srgbClr val="D9DCDA"/>
            </a:solidFill>
            <a:prstDash val="solid"/>
          </a:ln>
        </p:spPr>
        <p:txBody>
          <a:bodyPr/>
          <a:p/>
        </p:txBody>
      </p:sp>
      <p:sp>
        <p:nvSpPr>
          <p:cNvPr id="13" name="Shape 11"/>
          <p:cNvSpPr/>
          <p:nvPr/>
        </p:nvSpPr>
        <p:spPr>
          <a:xfrm>
            <a:off x="722376" y="3008376"/>
            <a:ext cx="4712251" cy="502920"/>
          </a:xfrm>
          <a:prstGeom prst="rect">
            <a:avLst/>
          </a:prstGeom>
          <a:solidFill>
            <a:srgbClr val="24282C"/>
          </a:solidFill>
          <a:ln w="12700">
            <a:solidFill>
              <a:srgbClr val="24282C"/>
            </a:solidFill>
            <a:prstDash val="solid"/>
          </a:ln>
        </p:spPr>
        <p:txBody>
          <a:bodyPr/>
          <a:p/>
        </p:txBody>
      </p:sp>
      <p:sp>
        <p:nvSpPr>
          <p:cNvPr id="14" name="Text 12"/>
          <p:cNvSpPr/>
          <p:nvPr/>
        </p:nvSpPr>
        <p:spPr>
          <a:xfrm>
            <a:off x="877824" y="3101594"/>
            <a:ext cx="1188720" cy="307340"/>
          </a:xfrm>
          <a:prstGeom prst="rect">
            <a:avLst/>
          </a:prstGeom>
          <a:noFill/>
          <a:ln/>
        </p:spPr>
        <p:txBody>
          <a:bodyPr wrap="square" lIns="0" tIns="0" rIns="0" bIns="0" rtlCol="0" anchor="ctr">
            <a:normAutofit fontScale="100000" lnSpcReduction="0"/>
          </a:bodyPr>
          <a:lstStyle/>
          <a:p>
            <a:pPr indent="0" marL="0">
              <a:buNone/>
            </a:pPr>
            <a:r>
              <a:rPr lang="en-US" sz="1800" b="1" dirty="0">
                <a:solidFill>
                  <a:srgbClr val="FFFFFF"/>
                </a:solidFill>
                <a:latin typeface="Arial" pitchFamily="34" charset="0"/>
                <a:ea typeface="Arial" pitchFamily="34" charset="-122"/>
                <a:cs typeface="Arial" pitchFamily="34" charset="-120"/>
              </a:rPr>
              <a:t>65.9%</a:t>
            </a:r>
            <a:endParaRPr lang="en-US" sz="1800" dirty="0"/>
          </a:p>
        </p:txBody>
      </p:sp>
      <p:sp>
        <p:nvSpPr>
          <p:cNvPr id="15" name="Text 13"/>
          <p:cNvSpPr/>
          <p:nvPr/>
        </p:nvSpPr>
        <p:spPr>
          <a:xfrm>
            <a:off x="731520" y="3685032"/>
            <a:ext cx="7040880" cy="283464"/>
          </a:xfrm>
          <a:prstGeom prst="rect">
            <a:avLst/>
          </a:prstGeom>
          <a:noFill/>
          <a:ln/>
        </p:spPr>
        <p:txBody>
          <a:bodyPr wrap="square" lIns="0" tIns="0" rIns="0" bIns="0" rtlCol="0" anchor="ctr">
            <a:normAutofit fontScale="100000" lnSpcReduction="0"/>
          </a:bodyPr>
          <a:lstStyle/>
          <a:p>
            <a:pPr indent="0" marL="0">
              <a:buNone/>
            </a:pPr>
            <a:r>
              <a:rPr lang="en-US" sz="1630" dirty="0">
                <a:solidFill>
                  <a:srgbClr val="626B72"/>
                </a:solidFill>
                <a:latin typeface="Arial" pitchFamily="34" charset="0"/>
                <a:ea typeface="Arial" pitchFamily="34" charset="-122"/>
                <a:cs typeface="Arial" pitchFamily="34" charset="-120"/>
              </a:rPr>
              <a:t>Reported gap: 1.32 M€</a:t>
            </a:r>
            <a:endParaRPr lang="en-US" sz="1630" dirty="0"/>
          </a:p>
        </p:txBody>
      </p:sp>
      <p:sp>
        <p:nvSpPr>
          <p:cNvPr id="16" name="Text 14"/>
          <p:cNvSpPr/>
          <p:nvPr/>
        </p:nvSpPr>
        <p:spPr>
          <a:xfrm>
            <a:off x="722376" y="4251960"/>
            <a:ext cx="7150608" cy="310896"/>
          </a:xfrm>
          <a:prstGeom prst="rect">
            <a:avLst/>
          </a:prstGeom>
          <a:noFill/>
          <a:ln/>
        </p:spPr>
        <p:txBody>
          <a:bodyPr wrap="square" lIns="0" tIns="0" rIns="0" bIns="0" rtlCol="0" anchor="ctr">
            <a:normAutofit fontScale="100000" lnSpcReduction="0"/>
          </a:bodyPr>
          <a:lstStyle/>
          <a:p>
            <a:pPr indent="0" marL="0">
              <a:buNone/>
            </a:pPr>
            <a:r>
              <a:rPr lang="en-US" sz="1700" b="1" dirty="0">
                <a:solidFill>
                  <a:srgbClr val="24282C"/>
                </a:solidFill>
                <a:latin typeface="Arial" pitchFamily="34" charset="0"/>
                <a:ea typeface="Arial" pitchFamily="34" charset="-122"/>
                <a:cs typeface="Arial" pitchFamily="34" charset="-120"/>
              </a:rPr>
              <a:t>Fiscal 2025/26</a:t>
            </a:r>
            <a:endParaRPr lang="en-US" sz="1700" dirty="0"/>
          </a:p>
        </p:txBody>
      </p:sp>
      <p:sp>
        <p:nvSpPr>
          <p:cNvPr id="17" name="Shape 15"/>
          <p:cNvSpPr/>
          <p:nvPr/>
        </p:nvSpPr>
        <p:spPr>
          <a:xfrm>
            <a:off x="722376" y="4754880"/>
            <a:ext cx="7150608" cy="502920"/>
          </a:xfrm>
          <a:prstGeom prst="rect">
            <a:avLst/>
          </a:prstGeom>
          <a:solidFill>
            <a:srgbClr val="D9DCDA"/>
          </a:solidFill>
          <a:ln w="12700">
            <a:solidFill>
              <a:srgbClr val="D9DCDA"/>
            </a:solidFill>
            <a:prstDash val="solid"/>
          </a:ln>
        </p:spPr>
        <p:txBody>
          <a:bodyPr/>
          <a:p/>
        </p:txBody>
      </p:sp>
      <p:sp>
        <p:nvSpPr>
          <p:cNvPr id="18" name="Shape 16"/>
          <p:cNvSpPr/>
          <p:nvPr/>
        </p:nvSpPr>
        <p:spPr>
          <a:xfrm>
            <a:off x="722376" y="4754880"/>
            <a:ext cx="5241396" cy="502920"/>
          </a:xfrm>
          <a:prstGeom prst="rect">
            <a:avLst/>
          </a:prstGeom>
          <a:solidFill>
            <a:srgbClr val="24282C"/>
          </a:solidFill>
          <a:ln w="12700">
            <a:solidFill>
              <a:srgbClr val="24282C"/>
            </a:solidFill>
            <a:prstDash val="solid"/>
          </a:ln>
        </p:spPr>
        <p:txBody>
          <a:bodyPr/>
          <a:p/>
        </p:txBody>
      </p:sp>
      <p:sp>
        <p:nvSpPr>
          <p:cNvPr id="19" name="Text 17"/>
          <p:cNvSpPr/>
          <p:nvPr/>
        </p:nvSpPr>
        <p:spPr>
          <a:xfrm>
            <a:off x="877824" y="4848098"/>
            <a:ext cx="1188720" cy="307340"/>
          </a:xfrm>
          <a:prstGeom prst="rect">
            <a:avLst/>
          </a:prstGeom>
          <a:noFill/>
          <a:ln/>
        </p:spPr>
        <p:txBody>
          <a:bodyPr wrap="square" lIns="0" tIns="0" rIns="0" bIns="0" rtlCol="0" anchor="ctr">
            <a:normAutofit fontScale="100000" lnSpcReduction="0"/>
          </a:bodyPr>
          <a:lstStyle/>
          <a:p>
            <a:pPr indent="0" marL="0">
              <a:buNone/>
            </a:pPr>
            <a:r>
              <a:rPr lang="en-US" sz="1800" b="1" dirty="0">
                <a:solidFill>
                  <a:srgbClr val="FFFFFF"/>
                </a:solidFill>
                <a:latin typeface="Arial" pitchFamily="34" charset="0"/>
                <a:ea typeface="Arial" pitchFamily="34" charset="-122"/>
                <a:cs typeface="Arial" pitchFamily="34" charset="-120"/>
              </a:rPr>
              <a:t>73.3%</a:t>
            </a:r>
            <a:endParaRPr lang="en-US" sz="1800" dirty="0"/>
          </a:p>
        </p:txBody>
      </p:sp>
      <p:sp>
        <p:nvSpPr>
          <p:cNvPr id="20" name="Shape 18"/>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21" name="Text 19"/>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READ THE TWO VIEWS AS</a:t>
            </a:r>
            <a:endParaRPr lang="en-US" sz="1160" dirty="0"/>
          </a:p>
        </p:txBody>
      </p:sp>
      <p:sp>
        <p:nvSpPr>
          <p:cNvPr id="22" name="Text 20"/>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2600" b="1" dirty="0">
                <a:solidFill>
                  <a:srgbClr val="FFFFFF"/>
                </a:solidFill>
                <a:latin typeface="Arial" pitchFamily="34" charset="0"/>
                <a:ea typeface="Arial" pitchFamily="34" charset="-122"/>
                <a:cs typeface="Arial" pitchFamily="34" charset="-120"/>
              </a:rPr>
              <a:t>Different clocks</a:t>
            </a:r>
            <a:endParaRPr lang="en-US" sz="2600" dirty="0"/>
          </a:p>
        </p:txBody>
      </p:sp>
      <p:sp>
        <p:nvSpPr>
          <p:cNvPr id="23" name="Text 21"/>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745" dirty="0">
                <a:solidFill>
                  <a:srgbClr val="CCD1D2"/>
                </a:solidFill>
                <a:latin typeface="Arial" pitchFamily="34" charset="0"/>
                <a:ea typeface="Arial" pitchFamily="34" charset="-122"/>
                <a:cs typeface="Arial" pitchFamily="34" charset="-120"/>
              </a:rPr>
              <a:t>The same model fleet is used, but the months differ. This is not a sequential improvement trend.</a:t>
            </a:r>
            <a:endParaRPr lang="en-US" sz="1745" dirty="0"/>
          </a:p>
        </p:txBody>
      </p:sp>
      <p:sp>
        <p:nvSpPr>
          <p:cNvPr id="24" name="Shape 22"/>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5" name="Text 23"/>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Keep the calendar and fiscal views separate; investigate the family-level result on the chosen clock.</a:t>
            </a:r>
            <a:endParaRPr lang="en-US" sz="1600" dirty="0"/>
          </a:p>
        </p:txBody>
      </p:sp>
      <p:sp>
        <p:nvSpPr>
          <p:cNvPr id="27" name="Text 24"/>
          <p:cNvSpPr/>
          <p:nvPr/>
        </p:nvSpPr>
        <p:spPr>
          <a:xfrm>
            <a:off x="731520" y="5358384"/>
            <a:ext cx="7040880" cy="201168"/>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Reported gap: 1.17 M€</a:t>
            </a:r>
            <a:endParaRPr lang="en-US" sz="12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ITUK FAMILY SCREEN</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Urea filters lead ITUK's reported fiscal service-model gap.</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Fiscal 2025/26 | Modelled units less billed units, valued at observed price | K€</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22. Modelled amounts are screening values, not approved recoverable sales.</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ITUK FAMILY SCREEN</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22</a:t>
            </a:r>
            <a:endParaRPr lang="en-US" sz="1050" dirty="0"/>
          </a:p>
        </p:txBody>
      </p:sp>
      <p:graphicFrame>
        <p:nvGraphicFramePr>
          <p:cNvPr id="11" name="Chart 0" descr=""/>
          <p:cNvGraphicFramePr/>
          <p:nvPr/>
        </p:nvGraphicFramePr>
        <p:xfrm>
          <a:off x="557784" y="2368296"/>
          <a:ext cx="7708392" cy="3008376"/>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FIRST MODEL LINE</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900" b="1" dirty="0">
                <a:solidFill>
                  <a:srgbClr val="FFFFFF"/>
                </a:solidFill>
                <a:latin typeface="Arial" pitchFamily="34" charset="0"/>
                <a:ea typeface="Arial" pitchFamily="34" charset="-122"/>
                <a:cs typeface="Arial" pitchFamily="34" charset="-120"/>
              </a:rPr>
              <a:t>335 K€</a:t>
            </a:r>
            <a:endParaRPr lang="en-US" sz="390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630" dirty="0">
                <a:solidFill>
                  <a:srgbClr val="CCD1D2"/>
                </a:solidFill>
                <a:latin typeface="Arial" pitchFamily="34" charset="0"/>
                <a:ea typeface="Arial" pitchFamily="34" charset="-122"/>
                <a:cs typeface="Arial" pitchFamily="34" charset="-120"/>
              </a:rPr>
              <a:t>Urea filter. Validate eligible applications, service frequency, kit contents and the relevant billed part numbers.</a:t>
            </a:r>
            <a:endParaRPr lang="en-US" sz="1630"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Do not label all filters as captured: the urea-filter question is materially different from oil and fuel.</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SALES TO DEALER</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Two purchasing stages. No proven stock build-up.</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ITUK | Source-reported service-cover ratios and dealer-layer value</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24. Dealer-layer date and euro valuation basis need confirmation before direct comparison.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SALES TO DEALER</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23</a:t>
            </a:r>
            <a:endParaRPr lang="en-US" sz="1050" dirty="0"/>
          </a:p>
        </p:txBody>
      </p:sp>
      <p:sp>
        <p:nvSpPr>
          <p:cNvPr id="11" name="Shape 9"/>
          <p:cNvSpPr/>
          <p:nvPr/>
        </p:nvSpPr>
        <p:spPr>
          <a:xfrm>
            <a:off x="603504" y="2505456"/>
            <a:ext cx="3502152" cy="2724912"/>
          </a:xfrm>
          <a:prstGeom prst="rect">
            <a:avLst/>
          </a:prstGeom>
          <a:solidFill>
            <a:srgbClr val="FFFFFF"/>
          </a:solidFill>
          <a:ln w="7620">
            <a:solidFill>
              <a:srgbClr val="D9DCDA"/>
            </a:solidFill>
            <a:prstDash val="solid"/>
          </a:ln>
        </p:spPr>
        <p:txBody>
          <a:bodyPr/>
          <a:p/>
        </p:txBody>
      </p:sp>
      <p:sp>
        <p:nvSpPr>
          <p:cNvPr id="12" name="Text 10"/>
          <p:cNvSpPr/>
          <p:nvPr/>
        </p:nvSpPr>
        <p:spPr>
          <a:xfrm>
            <a:off x="813816" y="2706624"/>
            <a:ext cx="30815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ISZE TO DISTRIBUTOR</a:t>
            </a:r>
            <a:endParaRPr lang="en-US" sz="1160" dirty="0"/>
          </a:p>
        </p:txBody>
      </p:sp>
      <p:sp>
        <p:nvSpPr>
          <p:cNvPr id="13" name="Text 11"/>
          <p:cNvSpPr/>
          <p:nvPr/>
        </p:nvSpPr>
        <p:spPr>
          <a:xfrm>
            <a:off x="813816" y="3273552"/>
            <a:ext cx="3081528" cy="694944"/>
          </a:xfrm>
          <a:prstGeom prst="rect">
            <a:avLst/>
          </a:prstGeom>
          <a:noFill/>
          <a:ln/>
        </p:spPr>
        <p:txBody>
          <a:bodyPr wrap="square" lIns="0" tIns="0" rIns="0" bIns="0" rtlCol="0" anchor="ctr">
            <a:normAutofit fontScale="100000" lnSpcReduction="0"/>
          </a:bodyPr>
          <a:lstStyle/>
          <a:p>
            <a:pPr indent="0" marL="0">
              <a:buNone/>
            </a:pPr>
            <a:r>
              <a:rPr lang="en-US" sz="4300" b="1" dirty="0">
                <a:solidFill>
                  <a:srgbClr val="24282C"/>
                </a:solidFill>
                <a:latin typeface="Arial" pitchFamily="34" charset="0"/>
                <a:ea typeface="Arial" pitchFamily="34" charset="-122"/>
                <a:cs typeface="Arial" pitchFamily="34" charset="-120"/>
              </a:rPr>
              <a:t>65.9%</a:t>
            </a:r>
            <a:endParaRPr lang="en-US" sz="4300" dirty="0"/>
          </a:p>
        </p:txBody>
      </p:sp>
      <p:sp>
        <p:nvSpPr>
          <p:cNvPr id="14" name="Text 12"/>
          <p:cNvSpPr/>
          <p:nvPr/>
        </p:nvSpPr>
        <p:spPr>
          <a:xfrm>
            <a:off x="813816" y="4059936"/>
            <a:ext cx="3081528" cy="996696"/>
          </a:xfrm>
          <a:prstGeom prst="rect">
            <a:avLst/>
          </a:prstGeom>
          <a:noFill/>
          <a:ln/>
        </p:spPr>
        <p:txBody>
          <a:bodyPr wrap="square" lIns="0" tIns="0" rIns="0" bIns="0" rtlCol="0" anchor="ctr">
            <a:normAutofit fontScale="100000" lnSpcReduction="0"/>
          </a:bodyPr>
          <a:lstStyle/>
          <a:p>
            <a:pPr indent="0" marL="0">
              <a:buNone/>
            </a:pPr>
            <a:r>
              <a:rPr lang="en-US" sz="1681" dirty="0">
                <a:solidFill>
                  <a:srgbClr val="626B72"/>
                </a:solidFill>
                <a:latin typeface="Arial" pitchFamily="34" charset="0"/>
                <a:ea typeface="Arial" pitchFamily="34" charset="-122"/>
                <a:cs typeface="Arial" pitchFamily="34" charset="-120"/>
              </a:rPr>
              <a:t>Source model cover</a:t>
            </a:r>
            <a:endParaRPr lang="en-US" sz="1681" dirty="0"/>
          </a:p>
          <a:p>
            <a:pPr indent="0" marL="0">
              <a:buNone/>
            </a:pPr>
            <a:r>
              <a:rPr lang="en-US" sz="1681" dirty="0">
                <a:solidFill>
                  <a:srgbClr val="626B72"/>
                </a:solidFill>
                <a:latin typeface="Arial" pitchFamily="34" charset="0"/>
                <a:ea typeface="Arial" pitchFamily="34" charset="-122"/>
                <a:cs typeface="Arial" pitchFamily="34" charset="-120"/>
              </a:rPr>
              <a:t>Calendar-2025 reference in the outer-layer review</a:t>
            </a:r>
            <a:endParaRPr lang="en-US" sz="1681" dirty="0"/>
          </a:p>
        </p:txBody>
      </p:sp>
      <p:sp>
        <p:nvSpPr>
          <p:cNvPr id="15" name="Shape 13"/>
          <p:cNvSpPr/>
          <p:nvPr/>
        </p:nvSpPr>
        <p:spPr>
          <a:xfrm>
            <a:off x="4325112" y="2505456"/>
            <a:ext cx="3502152" cy="2724912"/>
          </a:xfrm>
          <a:prstGeom prst="rect">
            <a:avLst/>
          </a:prstGeom>
          <a:solidFill>
            <a:srgbClr val="FFFFFF"/>
          </a:solidFill>
          <a:ln w="7620">
            <a:solidFill>
              <a:srgbClr val="D9DCDA"/>
            </a:solidFill>
            <a:prstDash val="solid"/>
          </a:ln>
        </p:spPr>
        <p:txBody>
          <a:bodyPr/>
          <a:p/>
        </p:txBody>
      </p:sp>
      <p:sp>
        <p:nvSpPr>
          <p:cNvPr id="16" name="Text 14"/>
          <p:cNvSpPr/>
          <p:nvPr/>
        </p:nvSpPr>
        <p:spPr>
          <a:xfrm>
            <a:off x="4535424" y="2706624"/>
            <a:ext cx="30815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DISTRIBUTOR TO DEALER</a:t>
            </a:r>
            <a:endParaRPr lang="en-US" sz="1160" dirty="0"/>
          </a:p>
        </p:txBody>
      </p:sp>
      <p:sp>
        <p:nvSpPr>
          <p:cNvPr id="17" name="Text 15"/>
          <p:cNvSpPr/>
          <p:nvPr/>
        </p:nvSpPr>
        <p:spPr>
          <a:xfrm>
            <a:off x="4535424" y="3273552"/>
            <a:ext cx="3081528" cy="694944"/>
          </a:xfrm>
          <a:prstGeom prst="rect">
            <a:avLst/>
          </a:prstGeom>
          <a:noFill/>
          <a:ln/>
        </p:spPr>
        <p:txBody>
          <a:bodyPr wrap="square" lIns="0" tIns="0" rIns="0" bIns="0" rtlCol="0" anchor="ctr">
            <a:normAutofit fontScale="100000" lnSpcReduction="0"/>
          </a:bodyPr>
          <a:lstStyle/>
          <a:p>
            <a:pPr indent="0" marL="0">
              <a:buNone/>
            </a:pPr>
            <a:r>
              <a:rPr lang="en-US" sz="4300" b="1" dirty="0">
                <a:solidFill>
                  <a:srgbClr val="24282C"/>
                </a:solidFill>
                <a:latin typeface="Arial" pitchFamily="34" charset="0"/>
                <a:ea typeface="Arial" pitchFamily="34" charset="-122"/>
                <a:cs typeface="Arial" pitchFamily="34" charset="-120"/>
              </a:rPr>
              <a:t>47.5%</a:t>
            </a:r>
            <a:endParaRPr lang="en-US" sz="4300" dirty="0"/>
          </a:p>
        </p:txBody>
      </p:sp>
      <p:sp>
        <p:nvSpPr>
          <p:cNvPr id="18" name="Text 16"/>
          <p:cNvSpPr/>
          <p:nvPr/>
        </p:nvSpPr>
        <p:spPr>
          <a:xfrm>
            <a:off x="4535424" y="4059936"/>
            <a:ext cx="3081528" cy="996696"/>
          </a:xfrm>
          <a:prstGeom prst="rect">
            <a:avLst/>
          </a:prstGeom>
          <a:noFill/>
          <a:ln/>
        </p:spPr>
        <p:txBody>
          <a:bodyPr wrap="square" lIns="0" tIns="0" rIns="0" bIns="0" rtlCol="0" anchor="ctr">
            <a:normAutofit fontScale="100000" lnSpcReduction="0"/>
          </a:bodyPr>
          <a:lstStyle/>
          <a:p>
            <a:pPr indent="0" marL="0">
              <a:buNone/>
            </a:pPr>
            <a:r>
              <a:rPr lang="en-US" sz="1681" dirty="0">
                <a:solidFill>
                  <a:srgbClr val="626B72"/>
                </a:solidFill>
                <a:latin typeface="Arial" pitchFamily="34" charset="0"/>
                <a:ea typeface="Arial" pitchFamily="34" charset="-122"/>
                <a:cs typeface="Arial" pitchFamily="34" charset="-120"/>
              </a:rPr>
              <a:t>Source model cover</a:t>
            </a:r>
            <a:endParaRPr lang="en-US" sz="1681" dirty="0"/>
          </a:p>
          <a:p>
            <a:pPr indent="0" marL="0">
              <a:buNone/>
            </a:pPr>
            <a:r>
              <a:rPr lang="en-US" sz="1681" dirty="0">
                <a:solidFill>
                  <a:srgbClr val="626B72"/>
                </a:solidFill>
                <a:latin typeface="Arial" pitchFamily="34" charset="0"/>
                <a:ea typeface="Arial" pitchFamily="34" charset="-122"/>
                <a:cs typeface="Arial" pitchFamily="34" charset="-120"/>
              </a:rPr>
              <a:t>12 months of sales-to-dealer information</a:t>
            </a:r>
            <a:endParaRPr lang="en-US" sz="1681" dirty="0"/>
          </a:p>
        </p:txBody>
      </p:sp>
      <p:sp>
        <p:nvSpPr>
          <p:cNvPr id="19" name="Shape 17"/>
          <p:cNvSpPr/>
          <p:nvPr/>
        </p:nvSpPr>
        <p:spPr>
          <a:xfrm>
            <a:off x="8055864" y="2505456"/>
            <a:ext cx="3502152" cy="2724912"/>
          </a:xfrm>
          <a:prstGeom prst="rect">
            <a:avLst/>
          </a:prstGeom>
          <a:solidFill>
            <a:srgbClr val="24282C"/>
          </a:solidFill>
          <a:ln w="12700">
            <a:solidFill>
              <a:srgbClr val="24282C"/>
            </a:solidFill>
            <a:prstDash val="solid"/>
          </a:ln>
        </p:spPr>
        <p:txBody>
          <a:bodyPr/>
          <a:p/>
        </p:txBody>
      </p:sp>
      <p:sp>
        <p:nvSpPr>
          <p:cNvPr id="20" name="Text 18"/>
          <p:cNvSpPr/>
          <p:nvPr/>
        </p:nvSpPr>
        <p:spPr>
          <a:xfrm>
            <a:off x="8266176" y="2706624"/>
            <a:ext cx="30815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DEALER-LAYER VALUE</a:t>
            </a:r>
            <a:endParaRPr lang="en-US" sz="1160" dirty="0"/>
          </a:p>
        </p:txBody>
      </p:sp>
      <p:sp>
        <p:nvSpPr>
          <p:cNvPr id="21" name="Text 19"/>
          <p:cNvSpPr/>
          <p:nvPr/>
        </p:nvSpPr>
        <p:spPr>
          <a:xfrm>
            <a:off x="8266176" y="3273552"/>
            <a:ext cx="3081528" cy="694944"/>
          </a:xfrm>
          <a:prstGeom prst="rect">
            <a:avLst/>
          </a:prstGeom>
          <a:noFill/>
          <a:ln/>
        </p:spPr>
        <p:txBody>
          <a:bodyPr wrap="square" lIns="0" tIns="0" rIns="0" bIns="0" rtlCol="0" anchor="ctr">
            <a:normAutofit fontScale="100000" lnSpcReduction="0"/>
          </a:bodyPr>
          <a:lstStyle/>
          <a:p>
            <a:pPr indent="0" marL="0">
              <a:buNone/>
            </a:pPr>
            <a:r>
              <a:rPr lang="en-US" sz="3400" b="1" dirty="0">
                <a:solidFill>
                  <a:srgbClr val="FFFFFF"/>
                </a:solidFill>
                <a:latin typeface="Arial" pitchFamily="34" charset="0"/>
                <a:ea typeface="Arial" pitchFamily="34" charset="-122"/>
                <a:cs typeface="Arial" pitchFamily="34" charset="-120"/>
              </a:rPr>
              <a:t>5.51 M€</a:t>
            </a:r>
            <a:endParaRPr lang="en-US" sz="3400" dirty="0"/>
          </a:p>
        </p:txBody>
      </p:sp>
      <p:sp>
        <p:nvSpPr>
          <p:cNvPr id="22" name="Text 20"/>
          <p:cNvSpPr/>
          <p:nvPr/>
        </p:nvSpPr>
        <p:spPr>
          <a:xfrm>
            <a:off x="8266176" y="4059936"/>
            <a:ext cx="3081528" cy="996696"/>
          </a:xfrm>
          <a:prstGeom prst="rect">
            <a:avLst/>
          </a:prstGeom>
          <a:noFill/>
          <a:ln/>
        </p:spPr>
        <p:txBody>
          <a:bodyPr wrap="square" lIns="0" tIns="0" rIns="0" bIns="0" rtlCol="0" anchor="ctr">
            <a:normAutofit fontScale="100000" lnSpcReduction="0"/>
          </a:bodyPr>
          <a:lstStyle/>
          <a:p>
            <a:pPr indent="0" marL="0">
              <a:buNone/>
            </a:pPr>
            <a:r>
              <a:rPr lang="en-US" sz="1562" dirty="0">
                <a:solidFill>
                  <a:srgbClr val="CCD1D2"/>
                </a:solidFill>
                <a:latin typeface="Arial" pitchFamily="34" charset="0"/>
                <a:ea typeface="Arial" pitchFamily="34" charset="-122"/>
                <a:cs typeface="Arial" pitchFamily="34" charset="-120"/>
              </a:rPr>
              <a:t>Reported euro measure. Verify the price basis; do not assume dealer revenue or workshop spend.</a:t>
            </a:r>
            <a:endParaRPr lang="en-US" sz="1562" dirty="0"/>
          </a:p>
        </p:txBody>
      </p:sp>
      <p:sp>
        <p:nvSpPr>
          <p:cNvPr id="23" name="Shape 2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4" name="Text 2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The 18.4-point difference does not prove inventory accumulation or demand lost before the workshop.</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PRICING AND SPA</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Support the justified references - not the whole family.</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decision gates | None of the supplied cases establishes an approved price change.</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framework: AIM p. 14 and p. 18. Current price, cost and equivalent-offer evidence are not in these decks.</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PRICING AND SPA</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24</a:t>
            </a:r>
            <a:endParaRPr lang="en-US" sz="1050" dirty="0"/>
          </a:p>
        </p:txBody>
      </p:sp>
      <p:sp>
        <p:nvSpPr>
          <p:cNvPr id="12" name="Shape 10"/>
          <p:cNvSpPr/>
          <p:nvPr/>
        </p:nvSpPr>
        <p:spPr>
          <a:xfrm>
            <a:off x="594360" y="2532888"/>
            <a:ext cx="3517392" cy="2688336"/>
          </a:xfrm>
          <a:prstGeom prst="rect">
            <a:avLst/>
          </a:prstGeom>
          <a:solidFill>
            <a:srgbClr val="FFFFFF"/>
          </a:solidFill>
          <a:ln w="7620">
            <a:solidFill>
              <a:srgbClr val="D9DCDA"/>
            </a:solidFill>
            <a:prstDash val="solid"/>
          </a:ln>
        </p:spPr>
        <p:txBody>
          <a:bodyPr/>
          <a:p/>
        </p:txBody>
      </p:sp>
      <p:sp>
        <p:nvSpPr>
          <p:cNvPr id="13" name="Text 11"/>
          <p:cNvSpPr/>
          <p:nvPr/>
        </p:nvSpPr>
        <p:spPr>
          <a:xfrm>
            <a:off x="804672" y="2734056"/>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CONSIDER TARGETED SUPPORT</a:t>
            </a:r>
            <a:endParaRPr lang="en-US" sz="1160" dirty="0"/>
          </a:p>
        </p:txBody>
      </p:sp>
      <p:sp>
        <p:nvSpPr>
          <p:cNvPr id="14" name="Text 12"/>
          <p:cNvSpPr/>
          <p:nvPr/>
        </p:nvSpPr>
        <p:spPr>
          <a:xfrm>
            <a:off x="804672" y="3346704"/>
            <a:ext cx="3096768" cy="1664208"/>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Comparable offer and terms; recurring quantity weakness; an available range; a positive contribution case.</a:t>
            </a:r>
            <a:endParaRPr lang="en-US" sz="1676" dirty="0"/>
          </a:p>
        </p:txBody>
      </p:sp>
      <p:sp>
        <p:nvSpPr>
          <p:cNvPr id="15" name="Shape 13"/>
          <p:cNvSpPr/>
          <p:nvPr/>
        </p:nvSpPr>
        <p:spPr>
          <a:xfrm>
            <a:off x="4331208" y="2532888"/>
            <a:ext cx="3517392" cy="2688336"/>
          </a:xfrm>
          <a:prstGeom prst="rect">
            <a:avLst/>
          </a:prstGeom>
          <a:solidFill>
            <a:srgbClr val="FFFFFF"/>
          </a:solidFill>
          <a:ln w="7620">
            <a:solidFill>
              <a:srgbClr val="D9DCDA"/>
            </a:solidFill>
            <a:prstDash val="solid"/>
          </a:ln>
        </p:spPr>
        <p:txBody>
          <a:bodyPr/>
          <a:p/>
        </p:txBody>
      </p:sp>
      <p:sp>
        <p:nvSpPr>
          <p:cNvPr id="16" name="Text 14"/>
          <p:cNvSpPr/>
          <p:nvPr/>
        </p:nvSpPr>
        <p:spPr>
          <a:xfrm>
            <a:off x="4541520" y="2734056"/>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HOLD AND INVESTIGATE</a:t>
            </a:r>
            <a:endParaRPr lang="en-US" sz="1160" dirty="0"/>
          </a:p>
        </p:txBody>
      </p:sp>
      <p:sp>
        <p:nvSpPr>
          <p:cNvPr id="17" name="Text 15"/>
          <p:cNvSpPr/>
          <p:nvPr/>
        </p:nvSpPr>
        <p:spPr>
          <a:xfrm>
            <a:off x="4541520" y="3346704"/>
            <a:ext cx="3096768" cy="1664208"/>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Supply, reference, stock or coverage questions remain unresolved. Fix the diagnosis first.</a:t>
            </a:r>
            <a:endParaRPr lang="en-US" sz="1676" dirty="0"/>
          </a:p>
        </p:txBody>
      </p:sp>
      <p:sp>
        <p:nvSpPr>
          <p:cNvPr id="18" name="Shape 16"/>
          <p:cNvSpPr/>
          <p:nvPr/>
        </p:nvSpPr>
        <p:spPr>
          <a:xfrm>
            <a:off x="8068056" y="2532888"/>
            <a:ext cx="3517392" cy="2688336"/>
          </a:xfrm>
          <a:prstGeom prst="rect">
            <a:avLst/>
          </a:prstGeom>
          <a:solidFill>
            <a:srgbClr val="FFFFFF"/>
          </a:solidFill>
          <a:ln w="7620">
            <a:solidFill>
              <a:srgbClr val="D9DCDA"/>
            </a:solidFill>
            <a:prstDash val="solid"/>
          </a:ln>
        </p:spPr>
        <p:txBody>
          <a:bodyPr/>
          <a:p/>
        </p:txBody>
      </p:sp>
      <p:sp>
        <p:nvSpPr>
          <p:cNvPr id="19" name="Text 17"/>
          <p:cNvSpPr/>
          <p:nvPr/>
        </p:nvSpPr>
        <p:spPr>
          <a:xfrm>
            <a:off x="8278368" y="2734056"/>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PROTECT PRICE OR REVIEW UPLIFT</a:t>
            </a:r>
            <a:endParaRPr lang="en-US" sz="1160" dirty="0"/>
          </a:p>
        </p:txBody>
      </p:sp>
      <p:sp>
        <p:nvSpPr>
          <p:cNvPr id="20" name="Text 18"/>
          <p:cNvSpPr/>
          <p:nvPr/>
        </p:nvSpPr>
        <p:spPr>
          <a:xfrm>
            <a:off x="8278368" y="3346704"/>
            <a:ext cx="3096768" cy="1664208"/>
          </a:xfrm>
          <a:prstGeom prst="rect">
            <a:avLst/>
          </a:prstGeom>
          <a:noFill/>
          <a:ln/>
        </p:spPr>
        <p:txBody>
          <a:bodyPr wrap="square" lIns="0" tIns="0" rIns="0" bIns="0" rtlCol="0" anchor="ctr">
            <a:normAutofit fontScale="100000" lnSpcReduction="0"/>
          </a:bodyPr>
          <a:lstStyle/>
          <a:p>
            <a:pPr indent="0" marL="0">
              <a:buNone/>
            </a:pPr>
            <a:r>
              <a:rPr lang="en-US" sz="1676" dirty="0">
                <a:solidFill>
                  <a:srgbClr val="626B72"/>
                </a:solidFill>
                <a:latin typeface="Arial" pitchFamily="34" charset="0"/>
                <a:ea typeface="Arial" pitchFamily="34" charset="-122"/>
                <a:cs typeface="Arial" pitchFamily="34" charset="-120"/>
              </a:rPr>
              <a:t>Differentiated evidence and a resilient range. Test retention, volume sensitivity and contribution before approval.</a:t>
            </a:r>
            <a:endParaRPr lang="en-US" sz="1676" dirty="0"/>
          </a:p>
        </p:txBody>
      </p:sp>
      <p:sp>
        <p:nvSpPr>
          <p:cNvPr id="21" name="Shape 1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2" name="Text 2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Separate the ISZE purchase-price decision from the distributor's own dealer-pricing decision.</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CONTRIBUTION DISCIPLINE</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ILLUSTRATIVE CALCULATION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A 10% price cut can require 33% more volume.</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Illustrative unit economics only | Not an ISZE price, margin or sales forecast</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Illustration: price 100 to 90; variable cost unchanged at 60. Excludes incremental programme costs.</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CONTRIBUTION DISCIPLINE</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25</a:t>
            </a:r>
            <a:endParaRPr lang="en-US" sz="1050" dirty="0"/>
          </a:p>
        </p:txBody>
      </p:sp>
      <p:sp>
        <p:nvSpPr>
          <p:cNvPr id="12" name="Shape 10"/>
          <p:cNvSpPr/>
          <p:nvPr/>
        </p:nvSpPr>
        <p:spPr>
          <a:xfrm>
            <a:off x="676656" y="2651760"/>
            <a:ext cx="6693408" cy="393192"/>
          </a:xfrm>
          <a:prstGeom prst="rect">
            <a:avLst/>
          </a:prstGeom>
          <a:solidFill>
            <a:srgbClr val="24282C"/>
          </a:solidFill>
          <a:ln w="12700">
            <a:solidFill>
              <a:srgbClr val="24282C"/>
            </a:solidFill>
            <a:prstDash val="solid"/>
          </a:ln>
        </p:spPr>
        <p:txBody>
          <a:bodyPr/>
          <a:p/>
        </p:txBody>
      </p:sp>
      <p:sp>
        <p:nvSpPr>
          <p:cNvPr id="13" name="Text 11"/>
          <p:cNvSpPr/>
          <p:nvPr/>
        </p:nvSpPr>
        <p:spPr>
          <a:xfrm>
            <a:off x="786384" y="2738628"/>
            <a:ext cx="2157984"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PER UNIT</a:t>
            </a:r>
            <a:endParaRPr lang="en-US" sz="1080" dirty="0"/>
          </a:p>
        </p:txBody>
      </p:sp>
      <p:sp>
        <p:nvSpPr>
          <p:cNvPr id="14" name="Text 12"/>
          <p:cNvSpPr/>
          <p:nvPr/>
        </p:nvSpPr>
        <p:spPr>
          <a:xfrm>
            <a:off x="3163824" y="2738628"/>
            <a:ext cx="1938528"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BEFORE</a:t>
            </a:r>
            <a:endParaRPr lang="en-US" sz="1080" dirty="0"/>
          </a:p>
        </p:txBody>
      </p:sp>
      <p:sp>
        <p:nvSpPr>
          <p:cNvPr id="15" name="Text 13"/>
          <p:cNvSpPr/>
          <p:nvPr/>
        </p:nvSpPr>
        <p:spPr>
          <a:xfrm>
            <a:off x="5321808" y="2738628"/>
            <a:ext cx="1938528"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AFTER</a:t>
            </a:r>
            <a:endParaRPr lang="en-US" sz="1080" dirty="0"/>
          </a:p>
        </p:txBody>
      </p:sp>
      <p:sp>
        <p:nvSpPr>
          <p:cNvPr id="16" name="Shape 14"/>
          <p:cNvSpPr/>
          <p:nvPr/>
        </p:nvSpPr>
        <p:spPr>
          <a:xfrm>
            <a:off x="676656" y="3044952"/>
            <a:ext cx="6693408" cy="612648"/>
          </a:xfrm>
          <a:prstGeom prst="rect">
            <a:avLst/>
          </a:prstGeom>
          <a:solidFill>
            <a:srgbClr val="FFFFFF"/>
          </a:solidFill>
          <a:ln w="12700">
            <a:solidFill>
              <a:srgbClr val="FFFFFF"/>
            </a:solidFill>
            <a:prstDash val="solid"/>
          </a:ln>
        </p:spPr>
        <p:txBody>
          <a:bodyPr/>
          <a:p/>
        </p:txBody>
      </p:sp>
      <p:sp>
        <p:nvSpPr>
          <p:cNvPr id="17" name="Text 15"/>
          <p:cNvSpPr/>
          <p:nvPr/>
        </p:nvSpPr>
        <p:spPr>
          <a:xfrm>
            <a:off x="786384" y="3131820"/>
            <a:ext cx="2157984" cy="493776"/>
          </a:xfrm>
          <a:prstGeom prst="rect">
            <a:avLst/>
          </a:prstGeom>
          <a:noFill/>
          <a:ln/>
        </p:spPr>
        <p:txBody>
          <a:bodyPr wrap="square" lIns="0" tIns="0" rIns="0" bIns="0" rtlCol="0" anchor="ctr">
            <a:normAutofit fontScale="100000" lnSpcReduction="0"/>
          </a:bodyPr>
          <a:lstStyle/>
          <a:p>
            <a:pPr algn="l" indent="0" marL="0">
              <a:buNone/>
            </a:pPr>
            <a:r>
              <a:rPr lang="en-US" sz="2000" b="1" dirty="0">
                <a:solidFill>
                  <a:srgbClr val="24282C"/>
                </a:solidFill>
                <a:latin typeface="Arial" pitchFamily="34" charset="0"/>
                <a:ea typeface="Arial" pitchFamily="34" charset="-122"/>
                <a:cs typeface="Arial" pitchFamily="34" charset="-120"/>
              </a:rPr>
              <a:t>Net price</a:t>
            </a:r>
            <a:endParaRPr lang="en-US" sz="2000" dirty="0"/>
          </a:p>
        </p:txBody>
      </p:sp>
      <p:sp>
        <p:nvSpPr>
          <p:cNvPr id="18" name="Text 16"/>
          <p:cNvSpPr/>
          <p:nvPr/>
        </p:nvSpPr>
        <p:spPr>
          <a:xfrm>
            <a:off x="3163824" y="3131820"/>
            <a:ext cx="1938528" cy="493776"/>
          </a:xfrm>
          <a:prstGeom prst="rect">
            <a:avLst/>
          </a:prstGeom>
          <a:noFill/>
          <a:ln/>
        </p:spPr>
        <p:txBody>
          <a:bodyPr wrap="square" lIns="0" tIns="0" rIns="0" bIns="0" rtlCol="0" anchor="ctr">
            <a:normAutofit fontScale="100000" lnSpcReduction="0"/>
          </a:bodyPr>
          <a:lstStyle/>
          <a:p>
            <a:pPr algn="r" indent="0" marL="0">
              <a:buNone/>
            </a:pPr>
            <a:r>
              <a:rPr lang="en-US" sz="2000" dirty="0">
                <a:solidFill>
                  <a:srgbClr val="626B72"/>
                </a:solidFill>
                <a:latin typeface="Arial" pitchFamily="34" charset="0"/>
                <a:ea typeface="Arial" pitchFamily="34" charset="-122"/>
                <a:cs typeface="Arial" pitchFamily="34" charset="-120"/>
              </a:rPr>
              <a:t>100</a:t>
            </a:r>
            <a:endParaRPr lang="en-US" sz="2000" dirty="0"/>
          </a:p>
        </p:txBody>
      </p:sp>
      <p:sp>
        <p:nvSpPr>
          <p:cNvPr id="19" name="Text 17"/>
          <p:cNvSpPr/>
          <p:nvPr/>
        </p:nvSpPr>
        <p:spPr>
          <a:xfrm>
            <a:off x="5321808" y="3131820"/>
            <a:ext cx="1938528" cy="493776"/>
          </a:xfrm>
          <a:prstGeom prst="rect">
            <a:avLst/>
          </a:prstGeom>
          <a:noFill/>
          <a:ln/>
        </p:spPr>
        <p:txBody>
          <a:bodyPr wrap="square" lIns="0" tIns="0" rIns="0" bIns="0" rtlCol="0" anchor="ctr">
            <a:normAutofit fontScale="100000" lnSpcReduction="0"/>
          </a:bodyPr>
          <a:lstStyle/>
          <a:p>
            <a:pPr algn="r" indent="0" marL="0">
              <a:buNone/>
            </a:pPr>
            <a:r>
              <a:rPr lang="en-US" sz="2000" dirty="0">
                <a:solidFill>
                  <a:srgbClr val="626B72"/>
                </a:solidFill>
                <a:latin typeface="Arial" pitchFamily="34" charset="0"/>
                <a:ea typeface="Arial" pitchFamily="34" charset="-122"/>
                <a:cs typeface="Arial" pitchFamily="34" charset="-120"/>
              </a:rPr>
              <a:t>90</a:t>
            </a:r>
            <a:endParaRPr lang="en-US" sz="2000" dirty="0"/>
          </a:p>
        </p:txBody>
      </p:sp>
      <p:sp>
        <p:nvSpPr>
          <p:cNvPr id="20" name="Shape 18"/>
          <p:cNvSpPr/>
          <p:nvPr/>
        </p:nvSpPr>
        <p:spPr>
          <a:xfrm>
            <a:off x="676656" y="3657600"/>
            <a:ext cx="6693408" cy="612648"/>
          </a:xfrm>
          <a:prstGeom prst="rect">
            <a:avLst/>
          </a:prstGeom>
          <a:solidFill>
            <a:srgbClr val="EEEDEA"/>
          </a:solidFill>
          <a:ln w="12700">
            <a:solidFill>
              <a:srgbClr val="EEEDEA"/>
            </a:solidFill>
            <a:prstDash val="solid"/>
          </a:ln>
        </p:spPr>
        <p:txBody>
          <a:bodyPr/>
          <a:p/>
        </p:txBody>
      </p:sp>
      <p:sp>
        <p:nvSpPr>
          <p:cNvPr id="21" name="Text 19"/>
          <p:cNvSpPr/>
          <p:nvPr/>
        </p:nvSpPr>
        <p:spPr>
          <a:xfrm>
            <a:off x="786384" y="3744468"/>
            <a:ext cx="2157984" cy="493776"/>
          </a:xfrm>
          <a:prstGeom prst="rect">
            <a:avLst/>
          </a:prstGeom>
          <a:noFill/>
          <a:ln/>
        </p:spPr>
        <p:txBody>
          <a:bodyPr wrap="square" lIns="0" tIns="0" rIns="0" bIns="0" rtlCol="0" anchor="ctr">
            <a:normAutofit fontScale="100000" lnSpcReduction="0"/>
          </a:bodyPr>
          <a:lstStyle/>
          <a:p>
            <a:pPr algn="l" indent="0" marL="0">
              <a:buNone/>
            </a:pPr>
            <a:r>
              <a:rPr lang="en-US" sz="2000" b="1" dirty="0">
                <a:solidFill>
                  <a:srgbClr val="24282C"/>
                </a:solidFill>
                <a:latin typeface="Arial" pitchFamily="34" charset="0"/>
                <a:ea typeface="Arial" pitchFamily="34" charset="-122"/>
                <a:cs typeface="Arial" pitchFamily="34" charset="-120"/>
              </a:rPr>
              <a:t>Variable cost</a:t>
            </a:r>
            <a:endParaRPr lang="en-US" sz="2000" dirty="0"/>
          </a:p>
        </p:txBody>
      </p:sp>
      <p:sp>
        <p:nvSpPr>
          <p:cNvPr id="22" name="Text 20"/>
          <p:cNvSpPr/>
          <p:nvPr/>
        </p:nvSpPr>
        <p:spPr>
          <a:xfrm>
            <a:off x="3163824" y="3744468"/>
            <a:ext cx="1938528" cy="493776"/>
          </a:xfrm>
          <a:prstGeom prst="rect">
            <a:avLst/>
          </a:prstGeom>
          <a:noFill/>
          <a:ln/>
        </p:spPr>
        <p:txBody>
          <a:bodyPr wrap="square" lIns="0" tIns="0" rIns="0" bIns="0" rtlCol="0" anchor="ctr">
            <a:normAutofit fontScale="100000" lnSpcReduction="0"/>
          </a:bodyPr>
          <a:lstStyle/>
          <a:p>
            <a:pPr algn="r" indent="0" marL="0">
              <a:buNone/>
            </a:pPr>
            <a:r>
              <a:rPr lang="en-US" sz="2000" dirty="0">
                <a:solidFill>
                  <a:srgbClr val="626B72"/>
                </a:solidFill>
                <a:latin typeface="Arial" pitchFamily="34" charset="0"/>
                <a:ea typeface="Arial" pitchFamily="34" charset="-122"/>
                <a:cs typeface="Arial" pitchFamily="34" charset="-120"/>
              </a:rPr>
              <a:t>60</a:t>
            </a:r>
            <a:endParaRPr lang="en-US" sz="2000" dirty="0"/>
          </a:p>
        </p:txBody>
      </p:sp>
      <p:sp>
        <p:nvSpPr>
          <p:cNvPr id="23" name="Text 21"/>
          <p:cNvSpPr/>
          <p:nvPr/>
        </p:nvSpPr>
        <p:spPr>
          <a:xfrm>
            <a:off x="5321808" y="3744468"/>
            <a:ext cx="1938528" cy="493776"/>
          </a:xfrm>
          <a:prstGeom prst="rect">
            <a:avLst/>
          </a:prstGeom>
          <a:noFill/>
          <a:ln/>
        </p:spPr>
        <p:txBody>
          <a:bodyPr wrap="square" lIns="0" tIns="0" rIns="0" bIns="0" rtlCol="0" anchor="ctr">
            <a:normAutofit fontScale="100000" lnSpcReduction="0"/>
          </a:bodyPr>
          <a:lstStyle/>
          <a:p>
            <a:pPr algn="r" indent="0" marL="0">
              <a:buNone/>
            </a:pPr>
            <a:r>
              <a:rPr lang="en-US" sz="2000" dirty="0">
                <a:solidFill>
                  <a:srgbClr val="626B72"/>
                </a:solidFill>
                <a:latin typeface="Arial" pitchFamily="34" charset="0"/>
                <a:ea typeface="Arial" pitchFamily="34" charset="-122"/>
                <a:cs typeface="Arial" pitchFamily="34" charset="-120"/>
              </a:rPr>
              <a:t>60</a:t>
            </a:r>
            <a:endParaRPr lang="en-US" sz="2000" dirty="0"/>
          </a:p>
        </p:txBody>
      </p:sp>
      <p:sp>
        <p:nvSpPr>
          <p:cNvPr id="24" name="Shape 22"/>
          <p:cNvSpPr/>
          <p:nvPr/>
        </p:nvSpPr>
        <p:spPr>
          <a:xfrm>
            <a:off x="676656" y="4270248"/>
            <a:ext cx="6693408" cy="612648"/>
          </a:xfrm>
          <a:prstGeom prst="rect">
            <a:avLst/>
          </a:prstGeom>
          <a:solidFill>
            <a:srgbClr val="FFFFFF"/>
          </a:solidFill>
          <a:ln w="12700">
            <a:solidFill>
              <a:srgbClr val="FFFFFF"/>
            </a:solidFill>
            <a:prstDash val="solid"/>
          </a:ln>
        </p:spPr>
        <p:txBody>
          <a:bodyPr/>
          <a:p/>
        </p:txBody>
      </p:sp>
      <p:sp>
        <p:nvSpPr>
          <p:cNvPr id="25" name="Text 23"/>
          <p:cNvSpPr/>
          <p:nvPr/>
        </p:nvSpPr>
        <p:spPr>
          <a:xfrm>
            <a:off x="786384" y="4357116"/>
            <a:ext cx="2157984" cy="493776"/>
          </a:xfrm>
          <a:prstGeom prst="rect">
            <a:avLst/>
          </a:prstGeom>
          <a:noFill/>
          <a:ln/>
        </p:spPr>
        <p:txBody>
          <a:bodyPr wrap="square" lIns="0" tIns="0" rIns="0" bIns="0" rtlCol="0" anchor="ctr">
            <a:normAutofit fontScale="100000" lnSpcReduction="0"/>
          </a:bodyPr>
          <a:lstStyle/>
          <a:p>
            <a:pPr algn="l" indent="0" marL="0">
              <a:buNone/>
            </a:pPr>
            <a:r>
              <a:rPr lang="en-US" sz="2000" b="1" dirty="0">
                <a:solidFill>
                  <a:srgbClr val="24282C"/>
                </a:solidFill>
                <a:latin typeface="Arial" pitchFamily="34" charset="0"/>
                <a:ea typeface="Arial" pitchFamily="34" charset="-122"/>
                <a:cs typeface="Arial" pitchFamily="34" charset="-120"/>
              </a:rPr>
              <a:t>Unit contribution</a:t>
            </a:r>
            <a:endParaRPr lang="en-US" sz="2000" dirty="0"/>
          </a:p>
        </p:txBody>
      </p:sp>
      <p:sp>
        <p:nvSpPr>
          <p:cNvPr id="26" name="Text 24"/>
          <p:cNvSpPr/>
          <p:nvPr/>
        </p:nvSpPr>
        <p:spPr>
          <a:xfrm>
            <a:off x="3163824" y="4357116"/>
            <a:ext cx="1938528" cy="493776"/>
          </a:xfrm>
          <a:prstGeom prst="rect">
            <a:avLst/>
          </a:prstGeom>
          <a:noFill/>
          <a:ln/>
        </p:spPr>
        <p:txBody>
          <a:bodyPr wrap="square" lIns="0" tIns="0" rIns="0" bIns="0" rtlCol="0" anchor="ctr">
            <a:normAutofit fontScale="100000" lnSpcReduction="0"/>
          </a:bodyPr>
          <a:lstStyle/>
          <a:p>
            <a:pPr algn="r" indent="0" marL="0">
              <a:buNone/>
            </a:pPr>
            <a:r>
              <a:rPr lang="en-US" sz="2000" dirty="0">
                <a:solidFill>
                  <a:srgbClr val="626B72"/>
                </a:solidFill>
                <a:latin typeface="Arial" pitchFamily="34" charset="0"/>
                <a:ea typeface="Arial" pitchFamily="34" charset="-122"/>
                <a:cs typeface="Arial" pitchFamily="34" charset="-120"/>
              </a:rPr>
              <a:t>40</a:t>
            </a:r>
            <a:endParaRPr lang="en-US" sz="2000" dirty="0"/>
          </a:p>
        </p:txBody>
      </p:sp>
      <p:sp>
        <p:nvSpPr>
          <p:cNvPr id="27" name="Text 25"/>
          <p:cNvSpPr/>
          <p:nvPr/>
        </p:nvSpPr>
        <p:spPr>
          <a:xfrm>
            <a:off x="5321808" y="4357116"/>
            <a:ext cx="1938528" cy="493776"/>
          </a:xfrm>
          <a:prstGeom prst="rect">
            <a:avLst/>
          </a:prstGeom>
          <a:noFill/>
          <a:ln/>
        </p:spPr>
        <p:txBody>
          <a:bodyPr wrap="square" lIns="0" tIns="0" rIns="0" bIns="0" rtlCol="0" anchor="ctr">
            <a:normAutofit fontScale="100000" lnSpcReduction="0"/>
          </a:bodyPr>
          <a:lstStyle/>
          <a:p>
            <a:pPr algn="r" indent="0" marL="0">
              <a:buNone/>
            </a:pPr>
            <a:r>
              <a:rPr lang="en-US" sz="2000" dirty="0">
                <a:solidFill>
                  <a:srgbClr val="626B72"/>
                </a:solidFill>
                <a:latin typeface="Arial" pitchFamily="34" charset="0"/>
                <a:ea typeface="Arial" pitchFamily="34" charset="-122"/>
                <a:cs typeface="Arial" pitchFamily="34" charset="-120"/>
              </a:rPr>
              <a:t>30</a:t>
            </a:r>
            <a:endParaRPr lang="en-US" sz="2000" dirty="0"/>
          </a:p>
        </p:txBody>
      </p:sp>
      <p:sp>
        <p:nvSpPr>
          <p:cNvPr id="28" name="Shape 26"/>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29" name="Text 27"/>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TO PRESERVE CONTRIBUTION</a:t>
            </a:r>
            <a:endParaRPr lang="en-US" sz="1160" dirty="0"/>
          </a:p>
        </p:txBody>
      </p:sp>
      <p:sp>
        <p:nvSpPr>
          <p:cNvPr id="30" name="Text 28"/>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900" b="1" dirty="0">
                <a:solidFill>
                  <a:srgbClr val="FFFFFF"/>
                </a:solidFill>
                <a:latin typeface="Arial" pitchFamily="34" charset="0"/>
                <a:ea typeface="Arial" pitchFamily="34" charset="-122"/>
                <a:cs typeface="Arial" pitchFamily="34" charset="-120"/>
              </a:rPr>
              <a:t>+33.3%</a:t>
            </a:r>
            <a:endParaRPr lang="en-US" sz="3900" dirty="0"/>
          </a:p>
        </p:txBody>
      </p:sp>
      <p:sp>
        <p:nvSpPr>
          <p:cNvPr id="31" name="Text 29"/>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715" dirty="0">
                <a:solidFill>
                  <a:srgbClr val="CCD1D2"/>
                </a:solidFill>
                <a:latin typeface="Arial" pitchFamily="34" charset="0"/>
                <a:ea typeface="Arial" pitchFamily="34" charset="-122"/>
                <a:cs typeface="Arial" pitchFamily="34" charset="-120"/>
              </a:rPr>
              <a:t>Required volume multiplier: 40 / 30 = 1.333. Additional freight, rebates or support costs raise the hurdle.</a:t>
            </a:r>
            <a:endParaRPr lang="en-US" sz="1715" dirty="0"/>
          </a:p>
        </p:txBody>
      </p:sp>
      <p:sp>
        <p:nvSpPr>
          <p:cNvPr id="32" name="Shape 30"/>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3" name="Text 31"/>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Judge support by contribution delta, repeat business and availability - not revenue growth alone.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IDS DEALER SELF-ASSESSMENT</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Dealer standards belong beside commercial follow-up.</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2026 assessment cohorts | These are dealer self-assessments, not distributor audits.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35-36. Overall results retained as reported; scoring-basis caveats are in the appendix.</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IDS DEALER SELF-ASSESSMENT</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26</a:t>
            </a:r>
            <a:endParaRPr lang="en-US" sz="1050" dirty="0"/>
          </a:p>
        </p:txBody>
      </p:sp>
      <p:sp>
        <p:nvSpPr>
          <p:cNvPr id="11" name="Shape 9"/>
          <p:cNvSpPr/>
          <p:nvPr/>
        </p:nvSpPr>
        <p:spPr>
          <a:xfrm>
            <a:off x="594360" y="2505456"/>
            <a:ext cx="3547872" cy="2715768"/>
          </a:xfrm>
          <a:prstGeom prst="rect">
            <a:avLst/>
          </a:prstGeom>
          <a:solidFill>
            <a:srgbClr val="FFFFFF"/>
          </a:solidFill>
          <a:ln w="7620">
            <a:solidFill>
              <a:srgbClr val="D9DCDA"/>
            </a:solidFill>
            <a:prstDash val="solid"/>
          </a:ln>
        </p:spPr>
        <p:txBody>
          <a:bodyPr/>
          <a:p/>
        </p:txBody>
      </p:sp>
      <p:sp>
        <p:nvSpPr>
          <p:cNvPr id="12" name="Text 10"/>
          <p:cNvSpPr/>
          <p:nvPr/>
        </p:nvSpPr>
        <p:spPr>
          <a:xfrm>
            <a:off x="804672" y="2706624"/>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EUROPEAN SOURCE AVERAGE</a:t>
            </a:r>
            <a:endParaRPr lang="en-US" sz="1160" dirty="0"/>
          </a:p>
        </p:txBody>
      </p:sp>
      <p:sp>
        <p:nvSpPr>
          <p:cNvPr id="13" name="Text 11"/>
          <p:cNvSpPr/>
          <p:nvPr/>
        </p:nvSpPr>
        <p:spPr>
          <a:xfrm>
            <a:off x="804672" y="3273552"/>
            <a:ext cx="3127248" cy="694944"/>
          </a:xfrm>
          <a:prstGeom prst="rect">
            <a:avLst/>
          </a:prstGeom>
          <a:noFill/>
          <a:ln/>
        </p:spPr>
        <p:txBody>
          <a:bodyPr wrap="square" lIns="0" tIns="0" rIns="0" bIns="0" rtlCol="0" anchor="ctr">
            <a:normAutofit fontScale="100000" lnSpcReduction="0"/>
          </a:bodyPr>
          <a:lstStyle/>
          <a:p>
            <a:pPr indent="0" marL="0">
              <a:buNone/>
            </a:pPr>
            <a:r>
              <a:rPr lang="en-US" sz="4200" b="1" dirty="0">
                <a:solidFill>
                  <a:srgbClr val="24282C"/>
                </a:solidFill>
                <a:latin typeface="Arial" pitchFamily="34" charset="0"/>
                <a:ea typeface="Arial" pitchFamily="34" charset="-122"/>
                <a:cs typeface="Arial" pitchFamily="34" charset="-120"/>
              </a:rPr>
              <a:t>74.8%</a:t>
            </a:r>
            <a:endParaRPr lang="en-US" sz="4200" dirty="0"/>
          </a:p>
        </p:txBody>
      </p:sp>
      <p:sp>
        <p:nvSpPr>
          <p:cNvPr id="14" name="Text 12"/>
          <p:cNvSpPr/>
          <p:nvPr/>
        </p:nvSpPr>
        <p:spPr>
          <a:xfrm>
            <a:off x="804672" y="4059936"/>
            <a:ext cx="3127248" cy="987552"/>
          </a:xfrm>
          <a:prstGeom prst="rect">
            <a:avLst/>
          </a:prstGeom>
          <a:noFill/>
          <a:ln/>
        </p:spPr>
        <p:txBody>
          <a:bodyPr wrap="square" lIns="0" tIns="0" rIns="0" bIns="0" rtlCol="0" anchor="ctr">
            <a:normAutofit fontScale="100000" lnSpcReduction="0"/>
          </a:bodyPr>
          <a:lstStyle/>
          <a:p>
            <a:pPr indent="0" marL="0">
              <a:buNone/>
            </a:pPr>
            <a:r>
              <a:rPr lang="en-US" sz="1559" dirty="0">
                <a:solidFill>
                  <a:srgbClr val="626B72"/>
                </a:solidFill>
                <a:latin typeface="Arial" pitchFamily="34" charset="0"/>
                <a:ea typeface="Arial" pitchFamily="34" charset="-122"/>
                <a:cs typeface="Arial" pitchFamily="34" charset="-120"/>
              </a:rPr>
              <a:t>518 dealer assessment records across 18 cohorts. The source reports a dealer-weighted average.</a:t>
            </a:r>
            <a:endParaRPr lang="en-US" sz="1559" dirty="0"/>
          </a:p>
        </p:txBody>
      </p:sp>
      <p:sp>
        <p:nvSpPr>
          <p:cNvPr id="15" name="Shape 13"/>
          <p:cNvSpPr/>
          <p:nvPr/>
        </p:nvSpPr>
        <p:spPr>
          <a:xfrm>
            <a:off x="4334256" y="2505456"/>
            <a:ext cx="3547872" cy="2715768"/>
          </a:xfrm>
          <a:prstGeom prst="rect">
            <a:avLst/>
          </a:prstGeom>
          <a:solidFill>
            <a:srgbClr val="FFFFFF"/>
          </a:solidFill>
          <a:ln w="7620">
            <a:solidFill>
              <a:srgbClr val="D9DCDA"/>
            </a:solidFill>
            <a:prstDash val="solid"/>
          </a:ln>
        </p:spPr>
        <p:txBody>
          <a:bodyPr/>
          <a:p/>
        </p:txBody>
      </p:sp>
      <p:sp>
        <p:nvSpPr>
          <p:cNvPr id="16" name="Text 14"/>
          <p:cNvSpPr/>
          <p:nvPr/>
        </p:nvSpPr>
        <p:spPr>
          <a:xfrm>
            <a:off x="4544568" y="2706624"/>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PORTUGAL COHORT</a:t>
            </a:r>
            <a:endParaRPr lang="en-US" sz="1160" dirty="0"/>
          </a:p>
        </p:txBody>
      </p:sp>
      <p:sp>
        <p:nvSpPr>
          <p:cNvPr id="17" name="Text 15"/>
          <p:cNvSpPr/>
          <p:nvPr/>
        </p:nvSpPr>
        <p:spPr>
          <a:xfrm>
            <a:off x="4544568" y="3273552"/>
            <a:ext cx="3127248" cy="694944"/>
          </a:xfrm>
          <a:prstGeom prst="rect">
            <a:avLst/>
          </a:prstGeom>
          <a:noFill/>
          <a:ln/>
        </p:spPr>
        <p:txBody>
          <a:bodyPr wrap="square" lIns="0" tIns="0" rIns="0" bIns="0" rtlCol="0" anchor="ctr">
            <a:normAutofit fontScale="100000" lnSpcReduction="0"/>
          </a:bodyPr>
          <a:lstStyle/>
          <a:p>
            <a:pPr indent="0" marL="0">
              <a:buNone/>
            </a:pPr>
            <a:r>
              <a:rPr lang="en-US" sz="4200" b="1" dirty="0">
                <a:solidFill>
                  <a:srgbClr val="24282C"/>
                </a:solidFill>
                <a:latin typeface="Arial" pitchFamily="34" charset="0"/>
                <a:ea typeface="Arial" pitchFamily="34" charset="-122"/>
                <a:cs typeface="Arial" pitchFamily="34" charset="-120"/>
              </a:rPr>
              <a:t>86.9%</a:t>
            </a:r>
            <a:endParaRPr lang="en-US" sz="4200" dirty="0"/>
          </a:p>
        </p:txBody>
      </p:sp>
      <p:sp>
        <p:nvSpPr>
          <p:cNvPr id="18" name="Text 16"/>
          <p:cNvSpPr/>
          <p:nvPr/>
        </p:nvSpPr>
        <p:spPr>
          <a:xfrm>
            <a:off x="4544568" y="4059936"/>
            <a:ext cx="3127248" cy="987552"/>
          </a:xfrm>
          <a:prstGeom prst="rect">
            <a:avLst/>
          </a:prstGeom>
          <a:noFill/>
          <a:ln/>
        </p:spPr>
        <p:txBody>
          <a:bodyPr wrap="square" lIns="0" tIns="0" rIns="0" bIns="0" rtlCol="0" anchor="ctr">
            <a:normAutofit fontScale="100000" lnSpcReduction="0"/>
          </a:bodyPr>
          <a:lstStyle/>
          <a:p>
            <a:pPr indent="0" marL="0">
              <a:buNone/>
            </a:pPr>
            <a:r>
              <a:rPr lang="en-US" sz="1658" dirty="0">
                <a:solidFill>
                  <a:srgbClr val="626B72"/>
                </a:solidFill>
                <a:latin typeface="Arial" pitchFamily="34" charset="0"/>
                <a:ea typeface="Arial" pitchFamily="34" charset="-122"/>
                <a:cs typeface="Arial" pitchFamily="34" charset="-120"/>
              </a:rPr>
              <a:t>16 dealer records. Link the applicable IDS sections to agreed dealer follow-up.</a:t>
            </a:r>
            <a:endParaRPr lang="en-US" sz="1658" dirty="0"/>
          </a:p>
        </p:txBody>
      </p:sp>
      <p:sp>
        <p:nvSpPr>
          <p:cNvPr id="19" name="Shape 17"/>
          <p:cNvSpPr/>
          <p:nvPr/>
        </p:nvSpPr>
        <p:spPr>
          <a:xfrm>
            <a:off x="8074152" y="2505456"/>
            <a:ext cx="3547872" cy="2715768"/>
          </a:xfrm>
          <a:prstGeom prst="rect">
            <a:avLst/>
          </a:prstGeom>
          <a:solidFill>
            <a:srgbClr val="24282C"/>
          </a:solidFill>
          <a:ln w="12700">
            <a:solidFill>
              <a:srgbClr val="24282C"/>
            </a:solidFill>
            <a:prstDash val="solid"/>
          </a:ln>
        </p:spPr>
        <p:txBody>
          <a:bodyPr/>
          <a:p/>
        </p:txBody>
      </p:sp>
      <p:sp>
        <p:nvSpPr>
          <p:cNvPr id="20" name="Text 18"/>
          <p:cNvSpPr/>
          <p:nvPr/>
        </p:nvSpPr>
        <p:spPr>
          <a:xfrm>
            <a:off x="8284464" y="2706624"/>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UK CV COHORT</a:t>
            </a:r>
            <a:endParaRPr lang="en-US" sz="1160" dirty="0"/>
          </a:p>
        </p:txBody>
      </p:sp>
      <p:sp>
        <p:nvSpPr>
          <p:cNvPr id="21" name="Text 19"/>
          <p:cNvSpPr/>
          <p:nvPr/>
        </p:nvSpPr>
        <p:spPr>
          <a:xfrm>
            <a:off x="8284464" y="3273552"/>
            <a:ext cx="3127248" cy="694944"/>
          </a:xfrm>
          <a:prstGeom prst="rect">
            <a:avLst/>
          </a:prstGeom>
          <a:noFill/>
          <a:ln/>
        </p:spPr>
        <p:txBody>
          <a:bodyPr wrap="square" lIns="0" tIns="0" rIns="0" bIns="0" rtlCol="0" anchor="ctr">
            <a:normAutofit fontScale="100000" lnSpcReduction="0"/>
          </a:bodyPr>
          <a:lstStyle/>
          <a:p>
            <a:pPr indent="0" marL="0">
              <a:buNone/>
            </a:pPr>
            <a:r>
              <a:rPr lang="en-US" sz="4200" b="1" dirty="0">
                <a:solidFill>
                  <a:srgbClr val="FFFFFF"/>
                </a:solidFill>
                <a:latin typeface="Arial" pitchFamily="34" charset="0"/>
                <a:ea typeface="Arial" pitchFamily="34" charset="-122"/>
                <a:cs typeface="Arial" pitchFamily="34" charset="-120"/>
              </a:rPr>
              <a:t>83.8%</a:t>
            </a:r>
            <a:endParaRPr lang="en-US" sz="4200" dirty="0"/>
          </a:p>
        </p:txBody>
      </p:sp>
      <p:sp>
        <p:nvSpPr>
          <p:cNvPr id="22" name="Text 20"/>
          <p:cNvSpPr/>
          <p:nvPr/>
        </p:nvSpPr>
        <p:spPr>
          <a:xfrm>
            <a:off x="8284464" y="4059936"/>
            <a:ext cx="3127248" cy="987552"/>
          </a:xfrm>
          <a:prstGeom prst="rect">
            <a:avLst/>
          </a:prstGeom>
          <a:noFill/>
          <a:ln/>
        </p:spPr>
        <p:txBody>
          <a:bodyPr wrap="square" lIns="0" tIns="0" rIns="0" bIns="0" rtlCol="0" anchor="ctr">
            <a:normAutofit fontScale="100000" lnSpcReduction="0"/>
          </a:bodyPr>
          <a:lstStyle/>
          <a:p>
            <a:pPr indent="0" marL="0">
              <a:buNone/>
            </a:pPr>
            <a:r>
              <a:rPr lang="en-US" sz="1658" dirty="0">
                <a:solidFill>
                  <a:srgbClr val="CCD1D2"/>
                </a:solidFill>
                <a:latin typeface="Arial" pitchFamily="34" charset="0"/>
                <a:ea typeface="Arial" pitchFamily="34" charset="-122"/>
                <a:cs typeface="Arial" pitchFamily="34" charset="-120"/>
              </a:rPr>
              <a:t>44 dealer records. Section values are not visible in the source heatmap.</a:t>
            </a:r>
            <a:endParaRPr lang="en-US" sz="1658" dirty="0"/>
          </a:p>
        </p:txBody>
      </p:sp>
      <p:sp>
        <p:nvSpPr>
          <p:cNvPr id="23" name="Shape 2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4" name="Text 2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Validate dealer IDs and distributor responsibility before connecting the assessments to commercial data.</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DISTRIBUTOR REVIEW</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Give the distributor something useful in return.</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recurring exchange | Useful analysis does not require mandatory dealer selling prices.</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basis: AIM pp. 14, 17-18; BPR pp. 24 and 40. The operating standard below is a proposal.</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DISTRIBUTOR REVIEW</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27</a:t>
            </a:r>
            <a:endParaRPr lang="en-US" sz="1050" dirty="0"/>
          </a:p>
        </p:txBody>
      </p:sp>
      <p:sp>
        <p:nvSpPr>
          <p:cNvPr id="12" name="Shape 10"/>
          <p:cNvSpPr/>
          <p:nvPr/>
        </p:nvSpPr>
        <p:spPr>
          <a:xfrm>
            <a:off x="640080" y="2542032"/>
            <a:ext cx="5321808" cy="2706624"/>
          </a:xfrm>
          <a:prstGeom prst="rect">
            <a:avLst/>
          </a:prstGeom>
          <a:solidFill>
            <a:srgbClr val="FFFFFF"/>
          </a:solidFill>
          <a:ln w="7620">
            <a:solidFill>
              <a:srgbClr val="D9DCDA"/>
            </a:solidFill>
            <a:prstDash val="solid"/>
          </a:ln>
        </p:spPr>
        <p:txBody>
          <a:bodyPr/>
          <a:p/>
        </p:txBody>
      </p:sp>
      <p:sp>
        <p:nvSpPr>
          <p:cNvPr id="13" name="Text 11"/>
          <p:cNvSpPr/>
          <p:nvPr/>
        </p:nvSpPr>
        <p:spPr>
          <a:xfrm>
            <a:off x="850392" y="2743200"/>
            <a:ext cx="490118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MINIMUM AGREED INPUT</a:t>
            </a:r>
            <a:endParaRPr lang="en-US" sz="1160" dirty="0"/>
          </a:p>
        </p:txBody>
      </p:sp>
      <p:sp>
        <p:nvSpPr>
          <p:cNvPr id="14" name="Text 12"/>
          <p:cNvSpPr/>
          <p:nvPr/>
        </p:nvSpPr>
        <p:spPr>
          <a:xfrm>
            <a:off x="850392" y="3355848"/>
            <a:ext cx="4901184" cy="1682496"/>
          </a:xfrm>
          <a:prstGeom prst="rect">
            <a:avLst/>
          </a:prstGeom>
          <a:noFill/>
          <a:ln/>
        </p:spPr>
        <p:txBody>
          <a:bodyPr wrap="square" lIns="0" tIns="0" rIns="0" bIns="0" rtlCol="0" anchor="ctr">
            <a:normAutofit fontScale="100000" lnSpcReduction="0"/>
          </a:bodyPr>
          <a:lstStyle/>
          <a:p>
            <a:pPr indent="0" marL="0">
              <a:buNone/>
            </a:pPr>
            <a:r>
              <a:rPr lang="en-US" sz="2095" dirty="0">
                <a:solidFill>
                  <a:srgbClr val="626B72"/>
                </a:solidFill>
                <a:latin typeface="Arial" pitchFamily="34" charset="0"/>
                <a:ea typeface="Arial" pitchFamily="34" charset="-122"/>
                <a:cs typeface="Arial" pitchFamily="34" charset="-120"/>
              </a:rPr>
              <a:t>Period, stable dealer ID, part number, net quantity and declared coverage. Include versioning and a correction process.</a:t>
            </a:r>
            <a:endParaRPr lang="en-US" sz="2095" dirty="0"/>
          </a:p>
        </p:txBody>
      </p:sp>
      <p:sp>
        <p:nvSpPr>
          <p:cNvPr id="15" name="Shape 13"/>
          <p:cNvSpPr/>
          <p:nvPr/>
        </p:nvSpPr>
        <p:spPr>
          <a:xfrm>
            <a:off x="6236208" y="2542032"/>
            <a:ext cx="5321808" cy="2706624"/>
          </a:xfrm>
          <a:prstGeom prst="rect">
            <a:avLst/>
          </a:prstGeom>
          <a:solidFill>
            <a:srgbClr val="24282C"/>
          </a:solidFill>
          <a:ln w="12700">
            <a:solidFill>
              <a:srgbClr val="24282C"/>
            </a:solidFill>
            <a:prstDash val="solid"/>
          </a:ln>
        </p:spPr>
        <p:txBody>
          <a:bodyPr/>
          <a:p/>
        </p:txBody>
      </p:sp>
      <p:sp>
        <p:nvSpPr>
          <p:cNvPr id="16" name="Text 14"/>
          <p:cNvSpPr/>
          <p:nvPr/>
        </p:nvSpPr>
        <p:spPr>
          <a:xfrm>
            <a:off x="6446520" y="2743200"/>
            <a:ext cx="490118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RETURN TO THE DISTRIBUTOR</a:t>
            </a:r>
            <a:endParaRPr lang="en-US" sz="1160" dirty="0"/>
          </a:p>
        </p:txBody>
      </p:sp>
      <p:sp>
        <p:nvSpPr>
          <p:cNvPr id="17" name="Text 15"/>
          <p:cNvSpPr/>
          <p:nvPr/>
        </p:nvSpPr>
        <p:spPr>
          <a:xfrm>
            <a:off x="6446520" y="3355848"/>
            <a:ext cx="4901184" cy="1682496"/>
          </a:xfrm>
          <a:prstGeom prst="rect">
            <a:avLst/>
          </a:prstGeom>
          <a:noFill/>
          <a:ln/>
        </p:spPr>
        <p:txBody>
          <a:bodyPr wrap="square" lIns="0" tIns="0" rIns="0" bIns="0" rtlCol="0" anchor="ctr">
            <a:normAutofit fontScale="100000" lnSpcReduction="0"/>
          </a:bodyPr>
          <a:lstStyle/>
          <a:p>
            <a:pPr indent="0" marL="0">
              <a:buNone/>
            </a:pPr>
            <a:r>
              <a:rPr lang="en-US" sz="2095" dirty="0">
                <a:solidFill>
                  <a:srgbClr val="CCD1D2"/>
                </a:solidFill>
                <a:latin typeface="Arial" pitchFamily="34" charset="0"/>
                <a:ea typeface="Arial" pitchFamily="34" charset="-122"/>
                <a:cs typeface="Arial" pitchFamily="34" charset="-120"/>
              </a:rPr>
              <a:t>A range-level purchasing explanation, Genuine/BVP review, dealer-pattern comparison and relevant IDS follow-up.</a:t>
            </a:r>
            <a:endParaRPr lang="en-US" sz="2095" dirty="0"/>
          </a:p>
        </p:txBody>
      </p:sp>
      <p:sp>
        <p:nvSpPr>
          <p:cNvPr id="18" name="Shape 16"/>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9" name="Text 17"/>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Prices, margins, stock, VIN and customer data remain separate, optional exchanges with a clear benefit.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AIM, PRISM AND IDS</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One distributor review. Three distinct evidence roles.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connected use | Integration and data coverage must be demonstrated, not assumed.</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Sources: AIM pp. 3, 17-19; BPR pp. 33-36. PRISM build counts are retained as dated detail in the appendix.</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AIM, PRISM AND IDS</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28</a:t>
            </a:r>
            <a:endParaRPr lang="en-US" sz="1050" dirty="0"/>
          </a:p>
        </p:txBody>
      </p:sp>
      <p:sp>
        <p:nvSpPr>
          <p:cNvPr id="11" name="Shape 9"/>
          <p:cNvSpPr/>
          <p:nvPr/>
        </p:nvSpPr>
        <p:spPr>
          <a:xfrm>
            <a:off x="594360" y="2569464"/>
            <a:ext cx="3517392" cy="2633472"/>
          </a:xfrm>
          <a:prstGeom prst="rect">
            <a:avLst/>
          </a:prstGeom>
          <a:solidFill>
            <a:srgbClr val="FFFFFF"/>
          </a:solidFill>
          <a:ln w="7620">
            <a:solidFill>
              <a:srgbClr val="D9DCDA"/>
            </a:solidFill>
            <a:prstDash val="solid"/>
          </a:ln>
        </p:spPr>
        <p:txBody>
          <a:bodyPr/>
          <a:p/>
        </p:txBody>
      </p:sp>
      <p:sp>
        <p:nvSpPr>
          <p:cNvPr id="12" name="Text 10"/>
          <p:cNvSpPr/>
          <p:nvPr/>
        </p:nvSpPr>
        <p:spPr>
          <a:xfrm>
            <a:off x="804672" y="2770632"/>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AIM | PRODUCT</a:t>
            </a:r>
            <a:endParaRPr lang="en-US" sz="1160" dirty="0"/>
          </a:p>
        </p:txBody>
      </p:sp>
      <p:sp>
        <p:nvSpPr>
          <p:cNvPr id="13" name="Text 11"/>
          <p:cNvSpPr/>
          <p:nvPr/>
        </p:nvSpPr>
        <p:spPr>
          <a:xfrm>
            <a:off x="804672" y="3383280"/>
            <a:ext cx="3096768" cy="1609344"/>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Which family, group and detailed part type explain the purchasing movement?</a:t>
            </a:r>
            <a:endParaRPr lang="en-US" sz="1795" dirty="0"/>
          </a:p>
        </p:txBody>
      </p:sp>
      <p:sp>
        <p:nvSpPr>
          <p:cNvPr id="14" name="Shape 12"/>
          <p:cNvSpPr/>
          <p:nvPr/>
        </p:nvSpPr>
        <p:spPr>
          <a:xfrm>
            <a:off x="4331208" y="2569464"/>
            <a:ext cx="3517392" cy="2633472"/>
          </a:xfrm>
          <a:prstGeom prst="rect">
            <a:avLst/>
          </a:prstGeom>
          <a:solidFill>
            <a:srgbClr val="FFFFFF"/>
          </a:solidFill>
          <a:ln w="7620">
            <a:solidFill>
              <a:srgbClr val="D9DCDA"/>
            </a:solidFill>
            <a:prstDash val="solid"/>
          </a:ln>
        </p:spPr>
        <p:txBody>
          <a:bodyPr/>
          <a:p/>
        </p:txBody>
      </p:sp>
      <p:sp>
        <p:nvSpPr>
          <p:cNvPr id="15" name="Text 13"/>
          <p:cNvSpPr/>
          <p:nvPr/>
        </p:nvSpPr>
        <p:spPr>
          <a:xfrm>
            <a:off x="4541520" y="2770632"/>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PRISM | CONTEXT</a:t>
            </a:r>
            <a:endParaRPr lang="en-US" sz="1160" dirty="0"/>
          </a:p>
        </p:txBody>
      </p:sp>
      <p:sp>
        <p:nvSpPr>
          <p:cNvPr id="16" name="Text 14"/>
          <p:cNvSpPr/>
          <p:nvPr/>
        </p:nvSpPr>
        <p:spPr>
          <a:xfrm>
            <a:off x="4541520" y="3383280"/>
            <a:ext cx="3096768" cy="1609344"/>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Which fleet, period, service-model assumptions and source coverage support the comparison?</a:t>
            </a:r>
            <a:endParaRPr lang="en-US" sz="1795" dirty="0"/>
          </a:p>
        </p:txBody>
      </p:sp>
      <p:sp>
        <p:nvSpPr>
          <p:cNvPr id="17" name="Shape 15"/>
          <p:cNvSpPr/>
          <p:nvPr/>
        </p:nvSpPr>
        <p:spPr>
          <a:xfrm>
            <a:off x="8068056" y="2569464"/>
            <a:ext cx="3517392" cy="2633472"/>
          </a:xfrm>
          <a:prstGeom prst="rect">
            <a:avLst/>
          </a:prstGeom>
          <a:solidFill>
            <a:srgbClr val="FFFFFF"/>
          </a:solidFill>
          <a:ln w="7620">
            <a:solidFill>
              <a:srgbClr val="D9DCDA"/>
            </a:solidFill>
            <a:prstDash val="solid"/>
          </a:ln>
        </p:spPr>
        <p:txBody>
          <a:bodyPr/>
          <a:p/>
        </p:txBody>
      </p:sp>
      <p:sp>
        <p:nvSpPr>
          <p:cNvPr id="18" name="Text 16"/>
          <p:cNvSpPr/>
          <p:nvPr/>
        </p:nvSpPr>
        <p:spPr>
          <a:xfrm>
            <a:off x="8278368" y="2770632"/>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IDS | FOLLOW-UP</a:t>
            </a:r>
            <a:endParaRPr lang="en-US" sz="1160" dirty="0"/>
          </a:p>
        </p:txBody>
      </p:sp>
      <p:sp>
        <p:nvSpPr>
          <p:cNvPr id="19" name="Text 17"/>
          <p:cNvSpPr/>
          <p:nvPr/>
        </p:nvSpPr>
        <p:spPr>
          <a:xfrm>
            <a:off x="8278368" y="3383280"/>
            <a:ext cx="3096768" cy="1609344"/>
          </a:xfrm>
          <a:prstGeom prst="rect">
            <a:avLst/>
          </a:prstGeom>
          <a:noFill/>
          <a:ln/>
        </p:spPr>
        <p:txBody>
          <a:bodyPr wrap="square" lIns="0" tIns="0" rIns="0" bIns="0" rtlCol="0" anchor="ctr">
            <a:normAutofit fontScale="100000" lnSpcReduction="0"/>
          </a:bodyPr>
          <a:lstStyle/>
          <a:p>
            <a:pPr indent="0" marL="0">
              <a:buNone/>
            </a:pPr>
            <a:r>
              <a:rPr lang="en-US" sz="1795" dirty="0">
                <a:solidFill>
                  <a:srgbClr val="626B72"/>
                </a:solidFill>
                <a:latin typeface="Arial" pitchFamily="34" charset="0"/>
                <a:ea typeface="Arial" pitchFamily="34" charset="-122"/>
                <a:cs typeface="Arial" pitchFamily="34" charset="-120"/>
              </a:rPr>
              <a:t>Which dealer self-assessment actions are relevant to the validated dealer population?</a:t>
            </a:r>
            <a:endParaRPr lang="en-US" sz="1795" dirty="0"/>
          </a:p>
        </p:txBody>
      </p:sp>
      <p:sp>
        <p:nvSpPr>
          <p:cNvPr id="20" name="Shape 18"/>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1" name="Text 19"/>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Use shared identifiers and explicit source dates - not a single unexplained composite score.</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FLEET AND TENDER DEVELOPMENT</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Bring tender opportunities into the same action review.</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addition | The supplied presentations contain no validated tender pipeline.</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Proposed operating design, not a reported tender opportunity, committed fleet or financial forecast.</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FLEET AND TENDER DEVELOPMENT</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29</a:t>
            </a:r>
            <a:endParaRPr lang="en-US" sz="1050" dirty="0"/>
          </a:p>
        </p:txBody>
      </p:sp>
      <p:sp>
        <p:nvSpPr>
          <p:cNvPr id="12" name="Shape 10"/>
          <p:cNvSpPr/>
          <p:nvPr/>
        </p:nvSpPr>
        <p:spPr>
          <a:xfrm>
            <a:off x="594360" y="2523744"/>
            <a:ext cx="3517392" cy="2688336"/>
          </a:xfrm>
          <a:prstGeom prst="rect">
            <a:avLst/>
          </a:prstGeom>
          <a:solidFill>
            <a:srgbClr val="FFFFFF"/>
          </a:solidFill>
          <a:ln w="7620">
            <a:solidFill>
              <a:srgbClr val="D9DCDA"/>
            </a:solidFill>
            <a:prstDash val="solid"/>
          </a:ln>
        </p:spPr>
        <p:txBody>
          <a:bodyPr/>
          <a:p/>
        </p:txBody>
      </p:sp>
      <p:sp>
        <p:nvSpPr>
          <p:cNvPr id="13" name="Text 11"/>
          <p:cNvSpPr/>
          <p:nvPr/>
        </p:nvSpPr>
        <p:spPr>
          <a:xfrm>
            <a:off x="804672" y="2724912"/>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QUALIFY THE OPPORTUNITY</a:t>
            </a:r>
            <a:endParaRPr lang="en-US" sz="1160" dirty="0"/>
          </a:p>
        </p:txBody>
      </p:sp>
      <p:sp>
        <p:nvSpPr>
          <p:cNvPr id="14" name="Text 12"/>
          <p:cNvSpPr/>
          <p:nvPr/>
        </p:nvSpPr>
        <p:spPr>
          <a:xfrm>
            <a:off x="804672" y="3337560"/>
            <a:ext cx="3096768" cy="1664208"/>
          </a:xfrm>
          <a:prstGeom prst="rect">
            <a:avLst/>
          </a:prstGeom>
          <a:noFill/>
          <a:ln/>
        </p:spPr>
        <p:txBody>
          <a:bodyPr wrap="square" lIns="0" tIns="0" rIns="0" bIns="0" rtlCol="0" anchor="ctr">
            <a:normAutofit fontScale="100000" lnSpcReduction="0"/>
          </a:bodyPr>
          <a:lstStyle/>
          <a:p>
            <a:pPr indent="0" marL="0">
              <a:buNone/>
            </a:pPr>
            <a:r>
              <a:rPr lang="en-US" sz="1695" dirty="0">
                <a:solidFill>
                  <a:srgbClr val="626B72"/>
                </a:solidFill>
                <a:latin typeface="Arial" pitchFamily="34" charset="0"/>
                <a:ea typeface="Arial" pitchFamily="34" charset="-122"/>
                <a:cs typeface="Arial" pitchFamily="34" charset="-120"/>
              </a:rPr>
              <a:t>Named opportunity, distributor owner, fleet/application, timing and permission to use the information.</a:t>
            </a:r>
            <a:endParaRPr lang="en-US" sz="1695" dirty="0"/>
          </a:p>
        </p:txBody>
      </p:sp>
      <p:sp>
        <p:nvSpPr>
          <p:cNvPr id="15" name="Shape 13"/>
          <p:cNvSpPr/>
          <p:nvPr/>
        </p:nvSpPr>
        <p:spPr>
          <a:xfrm>
            <a:off x="4331208" y="2523744"/>
            <a:ext cx="3517392" cy="2688336"/>
          </a:xfrm>
          <a:prstGeom prst="rect">
            <a:avLst/>
          </a:prstGeom>
          <a:solidFill>
            <a:srgbClr val="FFFFFF"/>
          </a:solidFill>
          <a:ln w="7620">
            <a:solidFill>
              <a:srgbClr val="D9DCDA"/>
            </a:solidFill>
            <a:prstDash val="solid"/>
          </a:ln>
        </p:spPr>
        <p:txBody>
          <a:bodyPr/>
          <a:p/>
        </p:txBody>
      </p:sp>
      <p:sp>
        <p:nvSpPr>
          <p:cNvPr id="16" name="Text 14"/>
          <p:cNvSpPr/>
          <p:nvPr/>
        </p:nvSpPr>
        <p:spPr>
          <a:xfrm>
            <a:off x="4541520" y="2724912"/>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BUILD THE SERVICE BASKET</a:t>
            </a:r>
            <a:endParaRPr lang="en-US" sz="1160" dirty="0"/>
          </a:p>
        </p:txBody>
      </p:sp>
      <p:sp>
        <p:nvSpPr>
          <p:cNvPr id="17" name="Text 15"/>
          <p:cNvSpPr/>
          <p:nvPr/>
        </p:nvSpPr>
        <p:spPr>
          <a:xfrm>
            <a:off x="4541520" y="3337560"/>
            <a:ext cx="3096768" cy="1664208"/>
          </a:xfrm>
          <a:prstGeom prst="rect">
            <a:avLst/>
          </a:prstGeom>
          <a:noFill/>
          <a:ln/>
        </p:spPr>
        <p:txBody>
          <a:bodyPr wrap="square" lIns="0" tIns="0" rIns="0" bIns="0" rtlCol="0" anchor="ctr">
            <a:normAutofit fontScale="100000" lnSpcReduction="0"/>
          </a:bodyPr>
          <a:lstStyle/>
          <a:p>
            <a:pPr indent="0" marL="0">
              <a:buNone/>
            </a:pPr>
            <a:r>
              <a:rPr lang="en-US" sz="1695" dirty="0">
                <a:solidFill>
                  <a:srgbClr val="626B72"/>
                </a:solidFill>
                <a:latin typeface="Arial" pitchFamily="34" charset="0"/>
                <a:ea typeface="Arial" pitchFamily="34" charset="-122"/>
                <a:cs typeface="Arial" pitchFamily="34" charset="-120"/>
              </a:rPr>
              <a:t>Validated applicable parts, service assumptions, Genuine/BVP choices, availability and actual commercial terms.</a:t>
            </a:r>
            <a:endParaRPr lang="en-US" sz="1695" dirty="0"/>
          </a:p>
        </p:txBody>
      </p:sp>
      <p:sp>
        <p:nvSpPr>
          <p:cNvPr id="18" name="Shape 16"/>
          <p:cNvSpPr/>
          <p:nvPr/>
        </p:nvSpPr>
        <p:spPr>
          <a:xfrm>
            <a:off x="8068056" y="2523744"/>
            <a:ext cx="3517392" cy="2688336"/>
          </a:xfrm>
          <a:prstGeom prst="rect">
            <a:avLst/>
          </a:prstGeom>
          <a:solidFill>
            <a:srgbClr val="FFFFFF"/>
          </a:solidFill>
          <a:ln w="7620">
            <a:solidFill>
              <a:srgbClr val="D9DCDA"/>
            </a:solidFill>
            <a:prstDash val="solid"/>
          </a:ln>
        </p:spPr>
        <p:txBody>
          <a:bodyPr/>
          <a:p/>
        </p:txBody>
      </p:sp>
      <p:sp>
        <p:nvSpPr>
          <p:cNvPr id="19" name="Text 17"/>
          <p:cNvSpPr/>
          <p:nvPr/>
        </p:nvSpPr>
        <p:spPr>
          <a:xfrm>
            <a:off x="8278368" y="2724912"/>
            <a:ext cx="309676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REVIEW THE DECISION</a:t>
            </a:r>
            <a:endParaRPr lang="en-US" sz="1160" dirty="0"/>
          </a:p>
        </p:txBody>
      </p:sp>
      <p:sp>
        <p:nvSpPr>
          <p:cNvPr id="20" name="Text 18"/>
          <p:cNvSpPr/>
          <p:nvPr/>
        </p:nvSpPr>
        <p:spPr>
          <a:xfrm>
            <a:off x="8278368" y="3337560"/>
            <a:ext cx="3096768" cy="1664208"/>
          </a:xfrm>
          <a:prstGeom prst="rect">
            <a:avLst/>
          </a:prstGeom>
          <a:noFill/>
          <a:ln/>
        </p:spPr>
        <p:txBody>
          <a:bodyPr wrap="square" lIns="0" tIns="0" rIns="0" bIns="0" rtlCol="0" anchor="ctr">
            <a:normAutofit fontScale="100000" lnSpcReduction="0"/>
          </a:bodyPr>
          <a:lstStyle/>
          <a:p>
            <a:pPr indent="0" marL="0">
              <a:buNone/>
            </a:pPr>
            <a:r>
              <a:rPr lang="en-US" sz="1695" dirty="0">
                <a:solidFill>
                  <a:srgbClr val="626B72"/>
                </a:solidFill>
                <a:latin typeface="Arial" pitchFamily="34" charset="0"/>
                <a:ea typeface="Arial" pitchFamily="34" charset="-122"/>
                <a:cs typeface="Arial" pitchFamily="34" charset="-120"/>
              </a:rPr>
              <a:t>Contribution after support, assumptions, stage, next action and an accountable commercial owner.</a:t>
            </a:r>
            <a:endParaRPr lang="en-US" sz="1695" dirty="0"/>
          </a:p>
        </p:txBody>
      </p:sp>
      <p:sp>
        <p:nvSpPr>
          <p:cNvPr id="21" name="Shape 1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2" name="Text 2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A modelled service gap is not a tender pipeline. Add an opportunity only when the account and next action are real.</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WARRANTY AND REVENUE QUALITY</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Read warranty separately - and reconcile it before subtraction.</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2025 | Source-reported warranty parts value | K€</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38-39. Claims/settlements and billing must be linked before identifying customer-paid revenue.</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WARRANTY AND REVENUE QUALITY</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30</a:t>
            </a:r>
            <a:endParaRPr lang="en-US" sz="1050" dirty="0"/>
          </a:p>
        </p:txBody>
      </p:sp>
      <p:graphicFrame>
        <p:nvGraphicFramePr>
          <p:cNvPr id="11" name="Chart 0" descr=""/>
          <p:cNvGraphicFramePr/>
          <p:nvPr/>
        </p:nvGraphicFramePr>
        <p:xfrm>
          <a:off x="566928" y="2331720"/>
          <a:ext cx="7653528" cy="306324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13" name="Text 10"/>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REPORTED WARRANTY VALUE</a:t>
            </a:r>
            <a:endParaRPr lang="en-US" sz="1160" dirty="0"/>
          </a:p>
        </p:txBody>
      </p:sp>
      <p:sp>
        <p:nvSpPr>
          <p:cNvPr id="14" name="Text 11"/>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3350" b="1" dirty="0">
                <a:solidFill>
                  <a:srgbClr val="FFFFFF"/>
                </a:solidFill>
                <a:latin typeface="Arial" pitchFamily="34" charset="0"/>
                <a:ea typeface="Arial" pitchFamily="34" charset="-122"/>
                <a:cs typeface="Arial" pitchFamily="34" charset="-120"/>
              </a:rPr>
              <a:t>4.72 M€</a:t>
            </a:r>
            <a:endParaRPr lang="en-US" sz="3350" dirty="0"/>
          </a:p>
        </p:txBody>
      </p:sp>
      <p:sp>
        <p:nvSpPr>
          <p:cNvPr id="15" name="Text 12"/>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475" dirty="0">
                <a:solidFill>
                  <a:srgbClr val="CCD1D2"/>
                </a:solidFill>
                <a:latin typeface="Arial" pitchFamily="34" charset="0"/>
                <a:ea typeface="Arial" pitchFamily="34" charset="-122"/>
                <a:cs typeface="Arial" pitchFamily="34" charset="-120"/>
              </a:rPr>
              <a:t>The source also quotes 14.6% of billing. Validate the linked population, timing and euro basis before treating this as a sales-mix ratio.</a:t>
            </a:r>
            <a:endParaRPr lang="en-US" sz="1475" dirty="0"/>
          </a:p>
        </p:txBody>
      </p:sp>
      <p:sp>
        <p:nvSpPr>
          <p:cNvPr id="16" name="Shape 1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7" name="Text 1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Warranty evidence does not measure scheduled maintenance, dealer service activity or aftermarket capture.</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ACTION POINTS</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Leave the review with an owner, an evidence request and a test.</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Proposed action log | Roles and timing are recommendations, not agreed commitments.</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signals: BPR and AIM as referenced on case pages. All owners, actions and tests below are proposed.</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ACTION POINTS</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31</a:t>
            </a:r>
            <a:endParaRPr lang="en-US" sz="1050" dirty="0"/>
          </a:p>
        </p:txBody>
      </p:sp>
      <p:sp>
        <p:nvSpPr>
          <p:cNvPr id="12" name="Shape 10"/>
          <p:cNvSpPr/>
          <p:nvPr/>
        </p:nvSpPr>
        <p:spPr>
          <a:xfrm>
            <a:off x="603504" y="2423160"/>
            <a:ext cx="10981944" cy="393192"/>
          </a:xfrm>
          <a:prstGeom prst="rect">
            <a:avLst/>
          </a:prstGeom>
          <a:solidFill>
            <a:srgbClr val="24282C"/>
          </a:solidFill>
          <a:ln w="12700">
            <a:solidFill>
              <a:srgbClr val="24282C"/>
            </a:solidFill>
            <a:prstDash val="solid"/>
          </a:ln>
        </p:spPr>
        <p:txBody>
          <a:bodyPr/>
          <a:p/>
        </p:txBody>
      </p:sp>
      <p:sp>
        <p:nvSpPr>
          <p:cNvPr id="13" name="Text 11"/>
          <p:cNvSpPr/>
          <p:nvPr/>
        </p:nvSpPr>
        <p:spPr>
          <a:xfrm>
            <a:off x="713232" y="2510028"/>
            <a:ext cx="2523744"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ACTION</a:t>
            </a:r>
            <a:endParaRPr lang="en-US" sz="1080" dirty="0"/>
          </a:p>
        </p:txBody>
      </p:sp>
      <p:sp>
        <p:nvSpPr>
          <p:cNvPr id="14" name="Text 12"/>
          <p:cNvSpPr/>
          <p:nvPr/>
        </p:nvSpPr>
        <p:spPr>
          <a:xfrm>
            <a:off x="3456432" y="2510028"/>
            <a:ext cx="2660904"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PROPOSED OWNER</a:t>
            </a:r>
            <a:endParaRPr lang="en-US" sz="1080" dirty="0"/>
          </a:p>
        </p:txBody>
      </p:sp>
      <p:sp>
        <p:nvSpPr>
          <p:cNvPr id="15" name="Text 13"/>
          <p:cNvSpPr/>
          <p:nvPr/>
        </p:nvSpPr>
        <p:spPr>
          <a:xfrm>
            <a:off x="6336792" y="2510028"/>
            <a:ext cx="5138928"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EVIDENCE / NEXT REVIEW TEST</a:t>
            </a:r>
            <a:endParaRPr lang="en-US" sz="1080" dirty="0"/>
          </a:p>
        </p:txBody>
      </p:sp>
      <p:sp>
        <p:nvSpPr>
          <p:cNvPr id="16" name="Shape 14"/>
          <p:cNvSpPr/>
          <p:nvPr/>
        </p:nvSpPr>
        <p:spPr>
          <a:xfrm>
            <a:off x="603504" y="2816352"/>
            <a:ext cx="10981944" cy="548640"/>
          </a:xfrm>
          <a:prstGeom prst="rect">
            <a:avLst/>
          </a:prstGeom>
          <a:solidFill>
            <a:srgbClr val="FFFFFF"/>
          </a:solidFill>
          <a:ln w="12700">
            <a:solidFill>
              <a:srgbClr val="FFFFFF"/>
            </a:solidFill>
            <a:prstDash val="solid"/>
          </a:ln>
        </p:spPr>
        <p:txBody>
          <a:bodyPr/>
          <a:p/>
        </p:txBody>
      </p:sp>
      <p:sp>
        <p:nvSpPr>
          <p:cNvPr id="17" name="Text 15"/>
          <p:cNvSpPr/>
          <p:nvPr/>
        </p:nvSpPr>
        <p:spPr>
          <a:xfrm>
            <a:off x="713232" y="2903220"/>
            <a:ext cx="2523744" cy="429768"/>
          </a:xfrm>
          <a:prstGeom prst="rect">
            <a:avLst/>
          </a:prstGeom>
          <a:noFill/>
          <a:ln/>
        </p:spPr>
        <p:txBody>
          <a:bodyPr wrap="square" lIns="0" tIns="0" rIns="0" bIns="0" rtlCol="0" anchor="ctr">
            <a:normAutofit fontScale="100000" lnSpcReduction="0"/>
          </a:bodyPr>
          <a:lstStyle/>
          <a:p>
            <a:pPr indent="0" marL="0">
              <a:buNone/>
            </a:pPr>
            <a:r>
              <a:rPr lang="en-US" sz="1410" b="1" dirty="0">
                <a:solidFill>
                  <a:srgbClr val="24282C"/>
                </a:solidFill>
                <a:latin typeface="Arial" pitchFamily="34" charset="0"/>
                <a:ea typeface="Arial" pitchFamily="34" charset="-122"/>
                <a:cs typeface="Arial" pitchFamily="34" charset="-120"/>
              </a:rPr>
              <a:t>ITUK pad-range review</a:t>
            </a:r>
            <a:endParaRPr lang="en-US" sz="1410" dirty="0"/>
          </a:p>
        </p:txBody>
      </p:sp>
      <p:sp>
        <p:nvSpPr>
          <p:cNvPr id="18" name="Text 16"/>
          <p:cNvSpPr/>
          <p:nvPr/>
        </p:nvSpPr>
        <p:spPr>
          <a:xfrm>
            <a:off x="3456432" y="2903220"/>
            <a:ext cx="2660904"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Account lead + ITUK parts</a:t>
            </a:r>
            <a:endParaRPr lang="en-US" sz="1410" dirty="0"/>
          </a:p>
        </p:txBody>
      </p:sp>
      <p:sp>
        <p:nvSpPr>
          <p:cNvPr id="19" name="Text 17"/>
          <p:cNvSpPr/>
          <p:nvPr/>
        </p:nvSpPr>
        <p:spPr>
          <a:xfrm>
            <a:off x="6336792" y="2903220"/>
            <a:ext cx="5138928"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PN movement, stock/supply and dealer pattern.</a:t>
            </a:r>
            <a:endParaRPr lang="en-US" sz="1410" dirty="0"/>
          </a:p>
        </p:txBody>
      </p:sp>
      <p:sp>
        <p:nvSpPr>
          <p:cNvPr id="20" name="Shape 18"/>
          <p:cNvSpPr/>
          <p:nvPr/>
        </p:nvSpPr>
        <p:spPr>
          <a:xfrm>
            <a:off x="603504" y="3364992"/>
            <a:ext cx="10981944" cy="548640"/>
          </a:xfrm>
          <a:prstGeom prst="rect">
            <a:avLst/>
          </a:prstGeom>
          <a:solidFill>
            <a:srgbClr val="EEEDEA"/>
          </a:solidFill>
          <a:ln w="12700">
            <a:solidFill>
              <a:srgbClr val="EEEDEA"/>
            </a:solidFill>
            <a:prstDash val="solid"/>
          </a:ln>
        </p:spPr>
        <p:txBody>
          <a:bodyPr/>
          <a:p/>
        </p:txBody>
      </p:sp>
      <p:sp>
        <p:nvSpPr>
          <p:cNvPr id="21" name="Text 19"/>
          <p:cNvSpPr/>
          <p:nvPr/>
        </p:nvSpPr>
        <p:spPr>
          <a:xfrm>
            <a:off x="713232" y="3451860"/>
            <a:ext cx="2523744" cy="429768"/>
          </a:xfrm>
          <a:prstGeom prst="rect">
            <a:avLst/>
          </a:prstGeom>
          <a:noFill/>
          <a:ln/>
        </p:spPr>
        <p:txBody>
          <a:bodyPr wrap="square" lIns="0" tIns="0" rIns="0" bIns="0" rtlCol="0" anchor="ctr">
            <a:normAutofit fontScale="100000" lnSpcReduction="0"/>
          </a:bodyPr>
          <a:lstStyle/>
          <a:p>
            <a:pPr indent="0" marL="0">
              <a:buNone/>
            </a:pPr>
            <a:r>
              <a:rPr lang="en-US" sz="1410" b="1" dirty="0">
                <a:solidFill>
                  <a:srgbClr val="24282C"/>
                </a:solidFill>
                <a:latin typeface="Arial" pitchFamily="34" charset="0"/>
                <a:ea typeface="Arial" pitchFamily="34" charset="-122"/>
                <a:cs typeface="Arial" pitchFamily="34" charset="-120"/>
              </a:rPr>
              <a:t>Germany BVP continuity</a:t>
            </a:r>
            <a:endParaRPr lang="en-US" sz="1410" dirty="0"/>
          </a:p>
        </p:txBody>
      </p:sp>
      <p:sp>
        <p:nvSpPr>
          <p:cNvPr id="22" name="Text 20"/>
          <p:cNvSpPr/>
          <p:nvPr/>
        </p:nvSpPr>
        <p:spPr>
          <a:xfrm>
            <a:off x="3456432" y="3451860"/>
            <a:ext cx="2660904"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Account lead + product team</a:t>
            </a:r>
            <a:endParaRPr lang="en-US" sz="1410" dirty="0"/>
          </a:p>
        </p:txBody>
      </p:sp>
      <p:sp>
        <p:nvSpPr>
          <p:cNvPr id="23" name="Text 21"/>
          <p:cNvSpPr/>
          <p:nvPr/>
        </p:nvSpPr>
        <p:spPr>
          <a:xfrm>
            <a:off x="6336792" y="3451860"/>
            <a:ext cx="5138928"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Reference changes, unavailable lines and repeat orders.</a:t>
            </a:r>
            <a:endParaRPr lang="en-US" sz="1410" dirty="0"/>
          </a:p>
        </p:txBody>
      </p:sp>
      <p:sp>
        <p:nvSpPr>
          <p:cNvPr id="24" name="Shape 22"/>
          <p:cNvSpPr/>
          <p:nvPr/>
        </p:nvSpPr>
        <p:spPr>
          <a:xfrm>
            <a:off x="603504" y="3913632"/>
            <a:ext cx="10981944" cy="548640"/>
          </a:xfrm>
          <a:prstGeom prst="rect">
            <a:avLst/>
          </a:prstGeom>
          <a:solidFill>
            <a:srgbClr val="FFFFFF"/>
          </a:solidFill>
          <a:ln w="12700">
            <a:solidFill>
              <a:srgbClr val="FFFFFF"/>
            </a:solidFill>
            <a:prstDash val="solid"/>
          </a:ln>
        </p:spPr>
        <p:txBody>
          <a:bodyPr/>
          <a:p/>
        </p:txBody>
      </p:sp>
      <p:sp>
        <p:nvSpPr>
          <p:cNvPr id="25" name="Text 23"/>
          <p:cNvSpPr/>
          <p:nvPr/>
        </p:nvSpPr>
        <p:spPr>
          <a:xfrm>
            <a:off x="713232" y="4000500"/>
            <a:ext cx="2523744" cy="429768"/>
          </a:xfrm>
          <a:prstGeom prst="rect">
            <a:avLst/>
          </a:prstGeom>
          <a:noFill/>
          <a:ln/>
        </p:spPr>
        <p:txBody>
          <a:bodyPr wrap="square" lIns="0" tIns="0" rIns="0" bIns="0" rtlCol="0" anchor="ctr">
            <a:normAutofit fontScale="100000" lnSpcReduction="0"/>
          </a:bodyPr>
          <a:lstStyle/>
          <a:p>
            <a:pPr indent="0" marL="0">
              <a:buNone/>
            </a:pPr>
            <a:r>
              <a:rPr lang="en-US" sz="1410" b="1" dirty="0">
                <a:solidFill>
                  <a:srgbClr val="24282C"/>
                </a:solidFill>
                <a:latin typeface="Arial" pitchFamily="34" charset="0"/>
                <a:ea typeface="Arial" pitchFamily="34" charset="-122"/>
                <a:cs typeface="Arial" pitchFamily="34" charset="-120"/>
              </a:rPr>
              <a:t>IBX availability refresh</a:t>
            </a:r>
            <a:endParaRPr lang="en-US" sz="1410" dirty="0"/>
          </a:p>
        </p:txBody>
      </p:sp>
      <p:sp>
        <p:nvSpPr>
          <p:cNvPr id="26" name="Text 24"/>
          <p:cNvSpPr/>
          <p:nvPr/>
        </p:nvSpPr>
        <p:spPr>
          <a:xfrm>
            <a:off x="3456432" y="4000500"/>
            <a:ext cx="2660904"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Account lead + supply lead</a:t>
            </a:r>
            <a:endParaRPr lang="en-US" sz="1410" dirty="0"/>
          </a:p>
        </p:txBody>
      </p:sp>
      <p:sp>
        <p:nvSpPr>
          <p:cNvPr id="27" name="Text 25"/>
          <p:cNvSpPr/>
          <p:nvPr/>
        </p:nvSpPr>
        <p:spPr>
          <a:xfrm>
            <a:off x="6336792" y="4000500"/>
            <a:ext cx="5138928"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Same-month fill, urgent lines and range cover.</a:t>
            </a:r>
            <a:endParaRPr lang="en-US" sz="1410" dirty="0"/>
          </a:p>
        </p:txBody>
      </p:sp>
      <p:sp>
        <p:nvSpPr>
          <p:cNvPr id="28" name="Shape 26"/>
          <p:cNvSpPr/>
          <p:nvPr/>
        </p:nvSpPr>
        <p:spPr>
          <a:xfrm>
            <a:off x="603504" y="4462272"/>
            <a:ext cx="10981944" cy="548640"/>
          </a:xfrm>
          <a:prstGeom prst="rect">
            <a:avLst/>
          </a:prstGeom>
          <a:solidFill>
            <a:srgbClr val="EEEDEA"/>
          </a:solidFill>
          <a:ln w="12700">
            <a:solidFill>
              <a:srgbClr val="EEEDEA"/>
            </a:solidFill>
            <a:prstDash val="solid"/>
          </a:ln>
        </p:spPr>
        <p:txBody>
          <a:bodyPr/>
          <a:p/>
        </p:txBody>
      </p:sp>
      <p:sp>
        <p:nvSpPr>
          <p:cNvPr id="29" name="Text 27"/>
          <p:cNvSpPr/>
          <p:nvPr/>
        </p:nvSpPr>
        <p:spPr>
          <a:xfrm>
            <a:off x="713232" y="4537938"/>
            <a:ext cx="2523744" cy="452170"/>
          </a:xfrm>
          <a:prstGeom prst="rect">
            <a:avLst/>
          </a:prstGeom>
          <a:noFill/>
          <a:ln/>
        </p:spPr>
        <p:txBody>
          <a:bodyPr wrap="square" lIns="0" tIns="0" rIns="0" bIns="0" rtlCol="0" anchor="ctr">
            <a:normAutofit fontScale="100000" lnSpcReduction="0"/>
          </a:bodyPr>
          <a:lstStyle/>
          <a:p>
            <a:pPr indent="0" marL="0">
              <a:buNone/>
            </a:pPr>
            <a:r>
              <a:rPr lang="en-US" sz="1410" b="1" dirty="0">
                <a:solidFill>
                  <a:srgbClr val="24282C"/>
                </a:solidFill>
                <a:latin typeface="Arial" pitchFamily="34" charset="0"/>
                <a:ea typeface="Arial" pitchFamily="34" charset="-122"/>
                <a:cs typeface="Arial" pitchFamily="34" charset="-120"/>
              </a:rPr>
              <a:t>IUK month-close explanation</a:t>
            </a:r>
            <a:endParaRPr lang="en-US" sz="1410" dirty="0"/>
          </a:p>
        </p:txBody>
      </p:sp>
      <p:sp>
        <p:nvSpPr>
          <p:cNvPr id="30" name="Text 28"/>
          <p:cNvSpPr/>
          <p:nvPr/>
        </p:nvSpPr>
        <p:spPr>
          <a:xfrm>
            <a:off x="3456432" y="4549140"/>
            <a:ext cx="2660904"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Account lead + finance</a:t>
            </a:r>
            <a:endParaRPr lang="en-US" sz="1410" dirty="0"/>
          </a:p>
        </p:txBody>
      </p:sp>
      <p:sp>
        <p:nvSpPr>
          <p:cNvPr id="31" name="Text 29"/>
          <p:cNvSpPr/>
          <p:nvPr/>
        </p:nvSpPr>
        <p:spPr>
          <a:xfrm>
            <a:off x="6336792" y="4549140"/>
            <a:ext cx="5138928"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Phased BP, order book and family contribution.</a:t>
            </a:r>
            <a:endParaRPr lang="en-US" sz="1410" dirty="0"/>
          </a:p>
        </p:txBody>
      </p:sp>
      <p:sp>
        <p:nvSpPr>
          <p:cNvPr id="32" name="Shape 30"/>
          <p:cNvSpPr/>
          <p:nvPr/>
        </p:nvSpPr>
        <p:spPr>
          <a:xfrm>
            <a:off x="603504" y="5010912"/>
            <a:ext cx="10981944" cy="548640"/>
          </a:xfrm>
          <a:prstGeom prst="rect">
            <a:avLst/>
          </a:prstGeom>
          <a:solidFill>
            <a:srgbClr val="FFFFFF"/>
          </a:solidFill>
          <a:ln w="12700">
            <a:solidFill>
              <a:srgbClr val="FFFFFF"/>
            </a:solidFill>
            <a:prstDash val="solid"/>
          </a:ln>
        </p:spPr>
        <p:txBody>
          <a:bodyPr/>
          <a:p/>
        </p:txBody>
      </p:sp>
      <p:sp>
        <p:nvSpPr>
          <p:cNvPr id="33" name="Text 31"/>
          <p:cNvSpPr/>
          <p:nvPr/>
        </p:nvSpPr>
        <p:spPr>
          <a:xfrm>
            <a:off x="713232" y="5097780"/>
            <a:ext cx="2523744" cy="429768"/>
          </a:xfrm>
          <a:prstGeom prst="rect">
            <a:avLst/>
          </a:prstGeom>
          <a:noFill/>
          <a:ln/>
        </p:spPr>
        <p:txBody>
          <a:bodyPr wrap="square" lIns="0" tIns="0" rIns="0" bIns="0" rtlCol="0" anchor="ctr">
            <a:normAutofit fontScale="100000" lnSpcReduction="0"/>
          </a:bodyPr>
          <a:lstStyle/>
          <a:p>
            <a:pPr indent="0" marL="0">
              <a:buNone/>
            </a:pPr>
            <a:r>
              <a:rPr lang="en-US" sz="1410" b="1" dirty="0">
                <a:solidFill>
                  <a:srgbClr val="24282C"/>
                </a:solidFill>
                <a:latin typeface="Arial" pitchFamily="34" charset="0"/>
                <a:ea typeface="Arial" pitchFamily="34" charset="-122"/>
                <a:cs typeface="Arial" pitchFamily="34" charset="-120"/>
              </a:rPr>
              <a:t>Portugal portfolio check</a:t>
            </a:r>
            <a:endParaRPr lang="en-US" sz="1410" dirty="0"/>
          </a:p>
        </p:txBody>
      </p:sp>
      <p:sp>
        <p:nvSpPr>
          <p:cNvPr id="34" name="Text 32"/>
          <p:cNvSpPr/>
          <p:nvPr/>
        </p:nvSpPr>
        <p:spPr>
          <a:xfrm>
            <a:off x="3456432" y="5097780"/>
            <a:ext cx="2660904"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Account lead + distributor</a:t>
            </a:r>
            <a:endParaRPr lang="en-US" sz="1410" dirty="0"/>
          </a:p>
        </p:txBody>
      </p:sp>
      <p:sp>
        <p:nvSpPr>
          <p:cNvPr id="35" name="Text 33"/>
          <p:cNvSpPr/>
          <p:nvPr/>
        </p:nvSpPr>
        <p:spPr>
          <a:xfrm>
            <a:off x="6336792" y="5097780"/>
            <a:ext cx="5138928" cy="429768"/>
          </a:xfrm>
          <a:prstGeom prst="rect">
            <a:avLst/>
          </a:prstGeom>
          <a:noFill/>
          <a:ln/>
        </p:spPr>
        <p:txBody>
          <a:bodyPr wrap="square" lIns="0" tIns="0" rIns="0" bIns="0" rtlCol="0" anchor="ctr">
            <a:normAutofit fontScale="100000" lnSpcReduction="0"/>
          </a:bodyPr>
          <a:lstStyle/>
          <a:p>
            <a:pPr indent="0" marL="0">
              <a:buNone/>
            </a:pPr>
            <a:r>
              <a:rPr lang="en-US" sz="1410" dirty="0">
                <a:solidFill>
                  <a:srgbClr val="626B72"/>
                </a:solidFill>
                <a:latin typeface="Arial" pitchFamily="34" charset="0"/>
                <a:ea typeface="Arial" pitchFamily="34" charset="-122"/>
                <a:cs typeface="Arial" pitchFamily="34" charset="-120"/>
              </a:rPr>
              <a:t>Combined Genuine/BVP repeat business and contribution.</a:t>
            </a:r>
            <a:endParaRPr lang="en-US" sz="1410" dirty="0"/>
          </a:p>
        </p:txBody>
      </p:sp>
      <p:sp>
        <p:nvSpPr>
          <p:cNvPr id="36" name="Shape 34"/>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7" name="Text 35"/>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Close the action only when the explanation and measured follow-up are recorded.</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PROPOSED NEXT 90 DAYS</a:t>
            </a:r>
            <a:endParaRPr lang="en-US" sz="1050" dirty="0"/>
          </a:p>
        </p:txBody>
      </p:sp>
      <p:sp>
        <p:nvSpPr>
          <p:cNvPr id="4" name="Text 2"/>
          <p:cNvSpPr/>
          <p:nvPr/>
        </p:nvSpPr>
        <p:spPr>
          <a:xfrm>
            <a:off x="9509760" y="274320"/>
            <a:ext cx="2176272" cy="210312"/>
          </a:xfrm>
          <a:prstGeom prst="rect">
            <a:avLst/>
          </a:prstGeom>
          <a:noFill/>
          <a:ln/>
        </p:spPr>
        <p:txBody>
          <a:bodyPr wrap="square" lIns="0" tIns="0" rIns="0" bIns="0" rtlCol="0" anchor="ctr">
            <a:normAutofit fontScale="100000" lnSpcReduction="0"/>
          </a:bodyPr>
          <a:lstStyle/>
          <a:p>
            <a:pPr algn="r" indent="0" marL="0">
              <a:buNone/>
            </a:pPr>
            <a:r>
              <a:rPr lang="en-US" sz="920" b="1" spc="100" kern="0" dirty="0">
                <a:solidFill>
                  <a:srgbClr val="E30613"/>
                </a:solidFill>
                <a:latin typeface="Arial" pitchFamily="34" charset="0"/>
                <a:ea typeface="Arial" pitchFamily="34" charset="-122"/>
                <a:cs typeface="Arial" pitchFamily="34" charset="-120"/>
              </a:rPr>
              <a:t>PROPOSED ADDITION</a:t>
            </a:r>
            <a:endParaRPr lang="en-US" sz="920" dirty="0"/>
          </a:p>
        </p:txBody>
      </p:sp>
      <p:sp>
        <p:nvSpPr>
          <p:cNvPr id="5" name="Text 3"/>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Build a repeatable review before scaling the dashboard.</a:t>
            </a:r>
            <a:endParaRPr lang="en-US" sz="3050" dirty="0"/>
          </a:p>
        </p:txBody>
      </p:sp>
      <p:sp>
        <p:nvSpPr>
          <p:cNvPr id="6" name="Text 4"/>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Recommended sequence from approval | Not a committed delivery schedule</a:t>
            </a:r>
            <a:endParaRPr lang="en-US" sz="1700" dirty="0"/>
          </a:p>
        </p:txBody>
      </p:sp>
      <p:sp>
        <p:nvSpPr>
          <p:cNvPr id="7" name="Text 5"/>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Proposed roadmap. No engineering readiness, live integration or uplift commitment is assumed.</a:t>
            </a:r>
            <a:endParaRPr lang="en-US" sz="820" dirty="0"/>
          </a:p>
        </p:txBody>
      </p:sp>
      <p:sp>
        <p:nvSpPr>
          <p:cNvPr id="8" name="Shape 6"/>
          <p:cNvSpPr/>
          <p:nvPr/>
        </p:nvSpPr>
        <p:spPr>
          <a:xfrm>
            <a:off x="502920" y="6409944"/>
            <a:ext cx="11183112" cy="0"/>
          </a:xfrm>
          <a:prstGeom prst="line">
            <a:avLst/>
          </a:prstGeom>
          <a:noFill/>
          <a:ln w="7620">
            <a:solidFill>
              <a:srgbClr val="D9DCDA"/>
            </a:solidFill>
            <a:prstDash val="solid"/>
          </a:ln>
        </p:spPr>
        <p:txBody>
          <a:bodyPr/>
          <a:p/>
        </p:txBody>
      </p:sp>
      <p:sp>
        <p:nvSpPr>
          <p:cNvPr id="9" name="Text 7"/>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10" name="Text 8"/>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PROPOSED NEXT 90 DAYS</a:t>
            </a:r>
            <a:endParaRPr lang="en-US" sz="810" dirty="0"/>
          </a:p>
        </p:txBody>
      </p:sp>
      <p:sp>
        <p:nvSpPr>
          <p:cNvPr id="11" name="Text 9"/>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32</a:t>
            </a:r>
            <a:endParaRPr lang="en-US" sz="1050" dirty="0"/>
          </a:p>
        </p:txBody>
      </p:sp>
      <p:sp>
        <p:nvSpPr>
          <p:cNvPr id="12" name="Shape 10"/>
          <p:cNvSpPr/>
          <p:nvPr/>
        </p:nvSpPr>
        <p:spPr>
          <a:xfrm>
            <a:off x="594360" y="2542032"/>
            <a:ext cx="3547872" cy="2706624"/>
          </a:xfrm>
          <a:prstGeom prst="rect">
            <a:avLst/>
          </a:prstGeom>
          <a:solidFill>
            <a:srgbClr val="FFFFFF"/>
          </a:solidFill>
          <a:ln w="7620">
            <a:solidFill>
              <a:srgbClr val="D9DCDA"/>
            </a:solidFill>
            <a:prstDash val="solid"/>
          </a:ln>
        </p:spPr>
        <p:txBody>
          <a:bodyPr/>
          <a:p/>
        </p:txBody>
      </p:sp>
      <p:sp>
        <p:nvSpPr>
          <p:cNvPr id="13" name="Text 11"/>
          <p:cNvSpPr/>
          <p:nvPr/>
        </p:nvSpPr>
        <p:spPr>
          <a:xfrm>
            <a:off x="804672" y="2743200"/>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FIRST 30 DAYS</a:t>
            </a:r>
            <a:endParaRPr lang="en-US" sz="1160" dirty="0"/>
          </a:p>
        </p:txBody>
      </p:sp>
      <p:sp>
        <p:nvSpPr>
          <p:cNvPr id="14" name="Text 12"/>
          <p:cNvSpPr/>
          <p:nvPr/>
        </p:nvSpPr>
        <p:spPr>
          <a:xfrm>
            <a:off x="804672" y="3355848"/>
            <a:ext cx="3127248" cy="1682496"/>
          </a:xfrm>
          <a:prstGeom prst="rect">
            <a:avLst/>
          </a:prstGeom>
          <a:noFill/>
          <a:ln/>
        </p:spPr>
        <p:txBody>
          <a:bodyPr wrap="square" lIns="0" tIns="0" rIns="0" bIns="0" rtlCol="0" anchor="ctr">
            <a:normAutofit fontScale="100000" lnSpcReduction="0"/>
          </a:bodyPr>
          <a:lstStyle/>
          <a:p>
            <a:pPr indent="0" marL="0">
              <a:buNone/>
            </a:pPr>
            <a:r>
              <a:rPr lang="en-US" sz="1839" dirty="0">
                <a:solidFill>
                  <a:srgbClr val="626B72"/>
                </a:solidFill>
                <a:latin typeface="Arial" pitchFamily="34" charset="0"/>
                <a:ea typeface="Arial" pitchFamily="34" charset="-122"/>
                <a:cs typeface="Arial" pitchFamily="34" charset="-120"/>
              </a:rPr>
              <a:t>Refresh reporting dates.</a:t>
            </a:r>
            <a:endParaRPr lang="en-US" sz="1840" dirty="0"/>
          </a:p>
          <a:p>
            <a:pPr indent="0" marL="0">
              <a:buNone/>
            </a:pPr>
            <a:r>
              <a:rPr lang="en-US" sz="1839" dirty="0">
                <a:solidFill>
                  <a:srgbClr val="626B72"/>
                </a:solidFill>
                <a:latin typeface="Arial" pitchFamily="34" charset="0"/>
                <a:ea typeface="Arial" pitchFamily="34" charset="-122"/>
                <a:cs typeface="Arial" pitchFamily="34" charset="-120"/>
              </a:rPr>
              <a:t>Reconcile key definitions.</a:t>
            </a:r>
            <a:endParaRPr lang="en-US" sz="1840" dirty="0"/>
          </a:p>
          <a:p>
            <a:pPr indent="0" marL="0">
              <a:buNone/>
            </a:pPr>
            <a:r>
              <a:rPr lang="en-US" sz="1839" dirty="0">
                <a:solidFill>
                  <a:srgbClr val="626B72"/>
                </a:solidFill>
                <a:latin typeface="Arial" pitchFamily="34" charset="0"/>
                <a:ea typeface="Arial" pitchFamily="34" charset="-122"/>
                <a:cs typeface="Arial" pitchFamily="34" charset="-120"/>
              </a:rPr>
              <a:t>Agree selected ranges, owners and a common review period.</a:t>
            </a:r>
            <a:endParaRPr lang="en-US" sz="1840" dirty="0"/>
          </a:p>
        </p:txBody>
      </p:sp>
      <p:sp>
        <p:nvSpPr>
          <p:cNvPr id="15" name="Shape 13"/>
          <p:cNvSpPr/>
          <p:nvPr/>
        </p:nvSpPr>
        <p:spPr>
          <a:xfrm>
            <a:off x="4334256" y="2542032"/>
            <a:ext cx="3547872" cy="2706624"/>
          </a:xfrm>
          <a:prstGeom prst="rect">
            <a:avLst/>
          </a:prstGeom>
          <a:solidFill>
            <a:srgbClr val="FFFFFF"/>
          </a:solidFill>
          <a:ln w="7620">
            <a:solidFill>
              <a:srgbClr val="D9DCDA"/>
            </a:solidFill>
            <a:prstDash val="solid"/>
          </a:ln>
        </p:spPr>
        <p:txBody>
          <a:bodyPr/>
          <a:p/>
        </p:txBody>
      </p:sp>
      <p:sp>
        <p:nvSpPr>
          <p:cNvPr id="16" name="Text 14"/>
          <p:cNvSpPr/>
          <p:nvPr/>
        </p:nvSpPr>
        <p:spPr>
          <a:xfrm>
            <a:off x="4544568" y="2743200"/>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DAYS 31-60</a:t>
            </a:r>
            <a:endParaRPr lang="en-US" sz="1160" dirty="0"/>
          </a:p>
        </p:txBody>
      </p:sp>
      <p:sp>
        <p:nvSpPr>
          <p:cNvPr id="17" name="Text 15"/>
          <p:cNvSpPr/>
          <p:nvPr/>
        </p:nvSpPr>
        <p:spPr>
          <a:xfrm>
            <a:off x="4544568" y="3355848"/>
            <a:ext cx="3127248" cy="1682496"/>
          </a:xfrm>
          <a:prstGeom prst="rect">
            <a:avLst/>
          </a:prstGeom>
          <a:noFill/>
          <a:ln/>
        </p:spPr>
        <p:txBody>
          <a:bodyPr wrap="square" lIns="0" tIns="0" rIns="0" bIns="0" rtlCol="0" anchor="ctr">
            <a:normAutofit fontScale="100000" lnSpcReduction="0"/>
          </a:bodyPr>
          <a:lstStyle/>
          <a:p>
            <a:pPr indent="0" marL="0">
              <a:buNone/>
            </a:pPr>
            <a:r>
              <a:rPr lang="en-US" sz="1839" dirty="0">
                <a:solidFill>
                  <a:srgbClr val="626B72"/>
                </a:solidFill>
                <a:latin typeface="Arial" pitchFamily="34" charset="0"/>
                <a:ea typeface="Arial" pitchFamily="34" charset="-122"/>
                <a:cs typeface="Arial" pitchFamily="34" charset="-120"/>
              </a:rPr>
              <a:t>Run the ITUK and Portugal range reviews. Investigate German BVP continuity. Record a baseline and agreed action.</a:t>
            </a:r>
            <a:endParaRPr lang="en-US" sz="1840" dirty="0"/>
          </a:p>
        </p:txBody>
      </p:sp>
      <p:sp>
        <p:nvSpPr>
          <p:cNvPr id="18" name="Shape 16"/>
          <p:cNvSpPr/>
          <p:nvPr/>
        </p:nvSpPr>
        <p:spPr>
          <a:xfrm>
            <a:off x="8074152" y="2542032"/>
            <a:ext cx="3547872" cy="2706624"/>
          </a:xfrm>
          <a:prstGeom prst="rect">
            <a:avLst/>
          </a:prstGeom>
          <a:solidFill>
            <a:srgbClr val="24282C"/>
          </a:solidFill>
          <a:ln w="12700">
            <a:solidFill>
              <a:srgbClr val="24282C"/>
            </a:solidFill>
            <a:prstDash val="solid"/>
          </a:ln>
        </p:spPr>
        <p:txBody>
          <a:bodyPr/>
          <a:p/>
        </p:txBody>
      </p:sp>
      <p:sp>
        <p:nvSpPr>
          <p:cNvPr id="19" name="Text 17"/>
          <p:cNvSpPr/>
          <p:nvPr/>
        </p:nvSpPr>
        <p:spPr>
          <a:xfrm>
            <a:off x="8284464" y="2743200"/>
            <a:ext cx="312724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DAYS 61-90</a:t>
            </a:r>
            <a:endParaRPr lang="en-US" sz="1160" dirty="0"/>
          </a:p>
        </p:txBody>
      </p:sp>
      <p:sp>
        <p:nvSpPr>
          <p:cNvPr id="20" name="Text 18"/>
          <p:cNvSpPr/>
          <p:nvPr/>
        </p:nvSpPr>
        <p:spPr>
          <a:xfrm>
            <a:off x="8284464" y="3355848"/>
            <a:ext cx="3127248" cy="1682496"/>
          </a:xfrm>
          <a:prstGeom prst="rect">
            <a:avLst/>
          </a:prstGeom>
          <a:noFill/>
          <a:ln/>
        </p:spPr>
        <p:txBody>
          <a:bodyPr wrap="square" lIns="0" tIns="0" rIns="0" bIns="0" rtlCol="0" anchor="ctr">
            <a:normAutofit fontScale="100000" lnSpcReduction="0"/>
          </a:bodyPr>
          <a:lstStyle/>
          <a:p>
            <a:pPr indent="0" marL="0">
              <a:buNone/>
            </a:pPr>
            <a:r>
              <a:rPr lang="en-US" sz="1839" dirty="0">
                <a:solidFill>
                  <a:srgbClr val="CCD1D2"/>
                </a:solidFill>
                <a:latin typeface="Arial" pitchFamily="34" charset="0"/>
                <a:ea typeface="Arial" pitchFamily="34" charset="-122"/>
                <a:cs typeface="Arial" pitchFamily="34" charset="-120"/>
              </a:rPr>
              <a:t>Repeat the measurements. Check contribution and recurring purchases. Scale only the views that change decisions.</a:t>
            </a:r>
            <a:endParaRPr lang="en-US" sz="1840" dirty="0"/>
          </a:p>
        </p:txBody>
      </p:sp>
      <p:sp>
        <p:nvSpPr>
          <p:cNvPr id="21" name="Shape 1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2" name="Text 2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Keep the pilot data granularities separate: a national summary cannot support dealer-level conclusions.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6995160" y="0"/>
            <a:ext cx="5196840" cy="6858000"/>
          </a:xfrm>
          <a:prstGeom prst="rect">
            <a:avLst/>
          </a:prstGeom>
          <a:solidFill>
            <a:srgbClr val="E30613"/>
          </a:solidFill>
          <a:ln w="12700">
            <a:solidFill>
              <a:srgbClr val="E30613"/>
            </a:solidFill>
            <a:prstDash val="solid"/>
          </a:ln>
        </p:spPr>
        <p:txBody>
          <a:bodyPr/>
          <a:p/>
        </p:txBody>
      </p:sp>
      <p:sp>
        <p:nvSpPr>
          <p:cNvPr id="3" name="Text 1"/>
          <p:cNvSpPr/>
          <p:nvPr/>
        </p:nvSpPr>
        <p:spPr>
          <a:xfrm>
            <a:off x="713232" y="616839"/>
            <a:ext cx="3474720" cy="521970"/>
          </a:xfrm>
          <a:prstGeom prst="rect">
            <a:avLst/>
          </a:prstGeom>
          <a:noFill/>
          <a:ln/>
        </p:spPr>
        <p:txBody>
          <a:bodyPr wrap="square" lIns="0" tIns="0" rIns="0" bIns="0" rtlCol="0" anchor="ctr">
            <a:normAutofit fontScale="100000" lnSpcReduction="0"/>
          </a:bodyPr>
          <a:lstStyle/>
          <a:p>
            <a:pPr indent="0" marL="0">
              <a:buNone/>
            </a:pPr>
            <a:r>
              <a:rPr lang="en-US" sz="3100" b="1" spc="150" kern="0" dirty="0">
                <a:solidFill>
                  <a:srgbClr val="FFFFFF"/>
                </a:solidFill>
                <a:latin typeface="Arial" pitchFamily="34" charset="0"/>
                <a:ea typeface="Arial" pitchFamily="34" charset="-122"/>
                <a:cs typeface="Arial" pitchFamily="34" charset="-120"/>
              </a:rPr>
              <a:t>ISUZU</a:t>
            </a:r>
            <a:endParaRPr lang="en-US" sz="3100" dirty="0"/>
          </a:p>
        </p:txBody>
      </p:sp>
      <p:sp>
        <p:nvSpPr>
          <p:cNvPr id="4" name="Text 2"/>
          <p:cNvSpPr/>
          <p:nvPr/>
        </p:nvSpPr>
        <p:spPr>
          <a:xfrm>
            <a:off x="731520" y="1856232"/>
            <a:ext cx="5879592" cy="2560320"/>
          </a:xfrm>
          <a:prstGeom prst="rect">
            <a:avLst/>
          </a:prstGeom>
          <a:noFill/>
          <a:ln/>
        </p:spPr>
        <p:txBody>
          <a:bodyPr wrap="square" lIns="0" tIns="0" rIns="0" bIns="0" rtlCol="0" anchor="ctr">
            <a:normAutofit fontScale="100000" lnSpcReduction="0"/>
          </a:bodyPr>
          <a:lstStyle/>
          <a:p>
            <a:pPr indent="0" marL="0">
              <a:buNone/>
            </a:pPr>
            <a:r>
              <a:rPr lang="en-US" sz="3900" b="1" dirty="0">
                <a:solidFill>
                  <a:srgbClr val="FFFFFF"/>
                </a:solidFill>
                <a:latin typeface="Arial" pitchFamily="34" charset="0"/>
                <a:ea typeface="Arial" pitchFamily="34" charset="-122"/>
                <a:cs typeface="Arial" pitchFamily="34" charset="-120"/>
              </a:rPr>
              <a:t>Select the range.</a:t>
            </a:r>
            <a:endParaRPr lang="en-US" sz="3900" dirty="0"/>
          </a:p>
          <a:p>
            <a:pPr indent="0" marL="0">
              <a:buNone/>
            </a:pPr>
            <a:r>
              <a:rPr lang="en-US" sz="3900" b="1" dirty="0">
                <a:solidFill>
                  <a:srgbClr val="FFFFFF"/>
                </a:solidFill>
                <a:latin typeface="Arial" pitchFamily="34" charset="0"/>
                <a:ea typeface="Arial" pitchFamily="34" charset="-122"/>
                <a:cs typeface="Arial" pitchFamily="34" charset="-120"/>
              </a:rPr>
              <a:t>Explain the cause.</a:t>
            </a:r>
            <a:endParaRPr lang="en-US" sz="3900" dirty="0"/>
          </a:p>
          <a:p>
            <a:pPr indent="0" marL="0">
              <a:buNone/>
            </a:pPr>
            <a:r>
              <a:rPr lang="en-US" sz="3900" b="1" dirty="0">
                <a:solidFill>
                  <a:srgbClr val="FFFFFF"/>
                </a:solidFill>
                <a:latin typeface="Arial" pitchFamily="34" charset="0"/>
                <a:ea typeface="Arial" pitchFamily="34" charset="-122"/>
                <a:cs typeface="Arial" pitchFamily="34" charset="-120"/>
              </a:rPr>
              <a:t>Prove the result.</a:t>
            </a:r>
            <a:endParaRPr lang="en-US" sz="3900" dirty="0"/>
          </a:p>
        </p:txBody>
      </p:sp>
      <p:sp>
        <p:nvSpPr>
          <p:cNvPr id="5" name="Text 3"/>
          <p:cNvSpPr/>
          <p:nvPr/>
        </p:nvSpPr>
        <p:spPr>
          <a:xfrm>
            <a:off x="758952" y="5047488"/>
            <a:ext cx="5577840" cy="886968"/>
          </a:xfrm>
          <a:prstGeom prst="rect">
            <a:avLst/>
          </a:prstGeom>
          <a:noFill/>
          <a:ln/>
        </p:spPr>
        <p:txBody>
          <a:bodyPr wrap="square" lIns="0" tIns="0" rIns="0" bIns="0" rtlCol="0" anchor="ctr">
            <a:normAutofit fontScale="100000" lnSpcReduction="0"/>
          </a:bodyPr>
          <a:lstStyle/>
          <a:p>
            <a:pPr indent="0" marL="0">
              <a:buNone/>
            </a:pPr>
            <a:r>
              <a:rPr lang="en-US" sz="2200" dirty="0">
                <a:solidFill>
                  <a:srgbClr val="CCD1D2"/>
                </a:solidFill>
                <a:latin typeface="Arial" pitchFamily="34" charset="0"/>
                <a:ea typeface="Arial" pitchFamily="34" charset="-122"/>
                <a:cs typeface="Arial" pitchFamily="34" charset="-120"/>
              </a:rPr>
              <a:t>A business review should end with a better commercial decision.</a:t>
            </a:r>
            <a:endParaRPr lang="en-US" sz="2200" dirty="0"/>
          </a:p>
        </p:txBody>
      </p:sp>
      <p:sp>
        <p:nvSpPr>
          <p:cNvPr id="6" name="Text 4"/>
          <p:cNvSpPr/>
          <p:nvPr/>
        </p:nvSpPr>
        <p:spPr>
          <a:xfrm>
            <a:off x="7388352" y="804672"/>
            <a:ext cx="4261104" cy="310896"/>
          </a:xfrm>
          <a:prstGeom prst="rect">
            <a:avLst/>
          </a:prstGeom>
          <a:noFill/>
          <a:ln/>
        </p:spPr>
        <p:txBody>
          <a:bodyPr wrap="square" lIns="0" tIns="0" rIns="0" bIns="0" rtlCol="0" anchor="ctr">
            <a:normAutofit fontScale="100000" lnSpcReduction="0"/>
          </a:bodyPr>
          <a:lstStyle/>
          <a:p>
            <a:pPr indent="0" marL="0">
              <a:buNone/>
            </a:pPr>
            <a:r>
              <a:rPr lang="en-US" sz="1170" b="1" spc="130" kern="0" dirty="0">
                <a:solidFill>
                  <a:srgbClr val="FFFFFF"/>
                </a:solidFill>
                <a:latin typeface="Arial" pitchFamily="34" charset="0"/>
                <a:ea typeface="Arial" pitchFamily="34" charset="-122"/>
                <a:cs typeface="Arial" pitchFamily="34" charset="-120"/>
              </a:rPr>
              <a:t>THE MANAGEMENT DECISION</a:t>
            </a:r>
            <a:endParaRPr lang="en-US" sz="1170" dirty="0"/>
          </a:p>
        </p:txBody>
      </p:sp>
      <p:sp>
        <p:nvSpPr>
          <p:cNvPr id="7" name="Text 5"/>
          <p:cNvSpPr/>
          <p:nvPr/>
        </p:nvSpPr>
        <p:spPr>
          <a:xfrm>
            <a:off x="7388352" y="1582547"/>
            <a:ext cx="4160520" cy="455930"/>
          </a:xfrm>
          <a:prstGeom prst="rect">
            <a:avLst/>
          </a:prstGeom>
          <a:noFill/>
          <a:ln/>
        </p:spPr>
        <p:txBody>
          <a:bodyPr wrap="square" lIns="0" tIns="0" rIns="0" bIns="0" rtlCol="0" anchor="ctr">
            <a:normAutofit fontScale="100000" lnSpcReduction="0"/>
          </a:bodyPr>
          <a:lstStyle/>
          <a:p>
            <a:pPr indent="0" marL="0">
              <a:buNone/>
            </a:pPr>
            <a:r>
              <a:rPr lang="en-US" sz="2700" b="1" dirty="0">
                <a:solidFill>
                  <a:srgbClr val="FFFFFF"/>
                </a:solidFill>
                <a:latin typeface="Arial" pitchFamily="34" charset="0"/>
                <a:ea typeface="Arial" pitchFamily="34" charset="-122"/>
                <a:cs typeface="Arial" pitchFamily="34" charset="-120"/>
              </a:rPr>
              <a:t>Use</a:t>
            </a:r>
            <a:endParaRPr lang="en-US" sz="2700" dirty="0"/>
          </a:p>
        </p:txBody>
      </p:sp>
      <p:sp>
        <p:nvSpPr>
          <p:cNvPr id="8" name="Text 6"/>
          <p:cNvSpPr/>
          <p:nvPr/>
        </p:nvSpPr>
        <p:spPr>
          <a:xfrm>
            <a:off x="7388352" y="2148840"/>
            <a:ext cx="4160520" cy="832104"/>
          </a:xfrm>
          <a:prstGeom prst="rect">
            <a:avLst/>
          </a:prstGeom>
          <a:noFill/>
          <a:ln/>
        </p:spPr>
        <p:txBody>
          <a:bodyPr wrap="square" lIns="0" tIns="0" rIns="0" bIns="0" rtlCol="0" anchor="ctr">
            <a:normAutofit fontScale="100000" lnSpcReduction="0"/>
          </a:bodyPr>
          <a:lstStyle/>
          <a:p>
            <a:pPr indent="0" marL="0">
              <a:buNone/>
            </a:pPr>
            <a:r>
              <a:rPr lang="en-US" sz="1900" dirty="0">
                <a:solidFill>
                  <a:srgbClr val="CCD1D2"/>
                </a:solidFill>
                <a:latin typeface="Arial" pitchFamily="34" charset="0"/>
                <a:ea typeface="Arial" pitchFamily="34" charset="-122"/>
                <a:cs typeface="Arial" pitchFamily="34" charset="-120"/>
              </a:rPr>
              <a:t>One range-level review with explicit dates, sources and sales stages.</a:t>
            </a:r>
            <a:endParaRPr lang="en-US" sz="1900" dirty="0"/>
          </a:p>
        </p:txBody>
      </p:sp>
      <p:sp>
        <p:nvSpPr>
          <p:cNvPr id="9" name="Text 7"/>
          <p:cNvSpPr/>
          <p:nvPr/>
        </p:nvSpPr>
        <p:spPr>
          <a:xfrm>
            <a:off x="7388352" y="3045586"/>
            <a:ext cx="4160520" cy="455930"/>
          </a:xfrm>
          <a:prstGeom prst="rect">
            <a:avLst/>
          </a:prstGeom>
          <a:noFill/>
          <a:ln/>
        </p:spPr>
        <p:txBody>
          <a:bodyPr wrap="square" lIns="0" tIns="0" rIns="0" bIns="0" rtlCol="0" anchor="ctr">
            <a:normAutofit fontScale="100000" lnSpcReduction="0"/>
          </a:bodyPr>
          <a:lstStyle/>
          <a:p>
            <a:pPr indent="0" marL="0">
              <a:buNone/>
            </a:pPr>
            <a:r>
              <a:rPr lang="en-US" sz="2700" b="1" dirty="0">
                <a:solidFill>
                  <a:srgbClr val="FFFFFF"/>
                </a:solidFill>
                <a:latin typeface="Arial" pitchFamily="34" charset="0"/>
                <a:ea typeface="Arial" pitchFamily="34" charset="-122"/>
                <a:cs typeface="Arial" pitchFamily="34" charset="-120"/>
              </a:rPr>
              <a:t>Own</a:t>
            </a:r>
            <a:endParaRPr lang="en-US" sz="2700" dirty="0"/>
          </a:p>
        </p:txBody>
      </p:sp>
      <p:sp>
        <p:nvSpPr>
          <p:cNvPr id="10" name="Text 8"/>
          <p:cNvSpPr/>
          <p:nvPr/>
        </p:nvSpPr>
        <p:spPr>
          <a:xfrm>
            <a:off x="7388352" y="3611880"/>
            <a:ext cx="4160520" cy="832104"/>
          </a:xfrm>
          <a:prstGeom prst="rect">
            <a:avLst/>
          </a:prstGeom>
          <a:noFill/>
          <a:ln/>
        </p:spPr>
        <p:txBody>
          <a:bodyPr wrap="square" lIns="0" tIns="0" rIns="0" bIns="0" rtlCol="0" anchor="ctr">
            <a:normAutofit fontScale="100000" lnSpcReduction="0"/>
          </a:bodyPr>
          <a:lstStyle/>
          <a:p>
            <a:pPr indent="0" marL="0">
              <a:buNone/>
            </a:pPr>
            <a:r>
              <a:rPr lang="en-US" sz="1900" dirty="0">
                <a:solidFill>
                  <a:srgbClr val="CCD1D2"/>
                </a:solidFill>
                <a:latin typeface="Arial" pitchFamily="34" charset="0"/>
                <a:ea typeface="Arial" pitchFamily="34" charset="-122"/>
                <a:cs typeface="Arial" pitchFamily="34" charset="-120"/>
              </a:rPr>
              <a:t>Accountable commercial and supply owners for the five selected cases.</a:t>
            </a:r>
            <a:endParaRPr lang="en-US" sz="1900" dirty="0"/>
          </a:p>
        </p:txBody>
      </p:sp>
      <p:sp>
        <p:nvSpPr>
          <p:cNvPr id="11" name="Text 9"/>
          <p:cNvSpPr/>
          <p:nvPr/>
        </p:nvSpPr>
        <p:spPr>
          <a:xfrm>
            <a:off x="7388352" y="4508627"/>
            <a:ext cx="4160520" cy="455930"/>
          </a:xfrm>
          <a:prstGeom prst="rect">
            <a:avLst/>
          </a:prstGeom>
          <a:noFill/>
          <a:ln/>
        </p:spPr>
        <p:txBody>
          <a:bodyPr wrap="square" lIns="0" tIns="0" rIns="0" bIns="0" rtlCol="0" anchor="ctr">
            <a:normAutofit fontScale="100000" lnSpcReduction="0"/>
          </a:bodyPr>
          <a:lstStyle/>
          <a:p>
            <a:pPr indent="0" marL="0">
              <a:buNone/>
            </a:pPr>
            <a:r>
              <a:rPr lang="en-US" sz="2700" b="1" dirty="0">
                <a:solidFill>
                  <a:srgbClr val="FFFFFF"/>
                </a:solidFill>
                <a:latin typeface="Arial" pitchFamily="34" charset="0"/>
                <a:ea typeface="Arial" pitchFamily="34" charset="-122"/>
                <a:cs typeface="Arial" pitchFamily="34" charset="-120"/>
              </a:rPr>
              <a:t>Prove</a:t>
            </a:r>
            <a:endParaRPr lang="en-US" sz="2700" dirty="0"/>
          </a:p>
        </p:txBody>
      </p:sp>
      <p:sp>
        <p:nvSpPr>
          <p:cNvPr id="12" name="Text 10"/>
          <p:cNvSpPr/>
          <p:nvPr/>
        </p:nvSpPr>
        <p:spPr>
          <a:xfrm>
            <a:off x="7388352" y="5074920"/>
            <a:ext cx="4160520" cy="832104"/>
          </a:xfrm>
          <a:prstGeom prst="rect">
            <a:avLst/>
          </a:prstGeom>
          <a:noFill/>
          <a:ln/>
        </p:spPr>
        <p:txBody>
          <a:bodyPr wrap="square" lIns="0" tIns="0" rIns="0" bIns="0" rtlCol="0" anchor="ctr">
            <a:normAutofit fontScale="100000" lnSpcReduction="0"/>
          </a:bodyPr>
          <a:lstStyle/>
          <a:p>
            <a:pPr indent="0" marL="0">
              <a:buNone/>
            </a:pPr>
            <a:r>
              <a:rPr lang="en-US" sz="1900" dirty="0">
                <a:solidFill>
                  <a:srgbClr val="CCD1D2"/>
                </a:solidFill>
                <a:latin typeface="Arial" pitchFamily="34" charset="0"/>
                <a:ea typeface="Arial" pitchFamily="34" charset="-122"/>
                <a:cs typeface="Arial" pitchFamily="34" charset="-120"/>
              </a:rPr>
              <a:t>Repeat purchasing, contribution and a documented action outcome.</a:t>
            </a:r>
            <a:endParaRPr lang="en-US" sz="1900" dirty="0"/>
          </a:p>
        </p:txBody>
      </p:sp>
      <p:sp>
        <p:nvSpPr>
          <p:cNvPr id="13" name="Text 11"/>
          <p:cNvSpPr/>
          <p:nvPr/>
        </p:nvSpPr>
        <p:spPr>
          <a:xfrm>
            <a:off x="758952" y="6428232"/>
            <a:ext cx="5760720" cy="173736"/>
          </a:xfrm>
          <a:prstGeom prst="rect">
            <a:avLst/>
          </a:prstGeom>
          <a:noFill/>
          <a:ln/>
        </p:spPr>
        <p:txBody>
          <a:bodyPr wrap="square" lIns="0" tIns="0" rIns="0" bIns="0" rtlCol="0" anchor="ctr">
            <a:normAutofit fontScale="100000" lnSpcReduction="0"/>
          </a:bodyPr>
          <a:lstStyle/>
          <a:p>
            <a:pPr indent="0" marL="0">
              <a:buNone/>
            </a:pPr>
            <a:r>
              <a:rPr lang="en-US" sz="840" spc="70" kern="0" dirty="0">
                <a:solidFill>
                  <a:srgbClr val="CCD1D2"/>
                </a:solidFill>
                <a:latin typeface="Arial" pitchFamily="34" charset="0"/>
                <a:ea typeface="Arial" pitchFamily="34" charset="-122"/>
                <a:cs typeface="Arial" pitchFamily="34" charset="-120"/>
              </a:rPr>
              <a:t>MAIN REVIEW ENDS HERE  /  SUPPORTING DETAIL FOLLOWS</a:t>
            </a:r>
            <a:endParaRPr lang="en-US" sz="84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FILL RATE</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Historical fill returns - with the coverage limits visible.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Latest-filed source values | 95% standard; 92% floor | Missing dates are not invented</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10-12. Only the Petros May-2025 month is explicit in the supplied narrative.</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FILL RATE</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34</a:t>
            </a:r>
            <a:endParaRPr lang="en-US" sz="1050" dirty="0"/>
          </a:p>
        </p:txBody>
      </p:sp>
      <p:sp>
        <p:nvSpPr>
          <p:cNvPr id="11" name="Shape 9"/>
          <p:cNvSpPr/>
          <p:nvPr/>
        </p:nvSpPr>
        <p:spPr>
          <a:xfrm>
            <a:off x="594360" y="2340864"/>
            <a:ext cx="5129784" cy="356616"/>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2020824" cy="246888"/>
          </a:xfrm>
          <a:prstGeom prst="rect">
            <a:avLst/>
          </a:prstGeom>
          <a:noFill/>
          <a:ln/>
        </p:spPr>
        <p:txBody>
          <a:bodyPr wrap="square" lIns="0" tIns="0" rIns="0" bIns="0" rtlCol="0" anchor="ctr">
            <a:normAutofit fontScale="100000" lnSpcReduction="0"/>
          </a:bodyPr>
          <a:lstStyle/>
          <a:p>
            <a:pPr indent="0" marL="0">
              <a:buNone/>
            </a:pPr>
            <a:r>
              <a:rPr lang="en-US" sz="960" b="1" dirty="0">
                <a:solidFill>
                  <a:srgbClr val="FFFFFF"/>
                </a:solidFill>
                <a:latin typeface="Arial" pitchFamily="34" charset="0"/>
                <a:ea typeface="Arial" pitchFamily="34" charset="-122"/>
                <a:cs typeface="Arial" pitchFamily="34" charset="-120"/>
              </a:rPr>
              <a:t>SOURCE LABEL</a:t>
            </a:r>
            <a:endParaRPr lang="en-US" sz="960" dirty="0"/>
          </a:p>
        </p:txBody>
      </p:sp>
      <p:sp>
        <p:nvSpPr>
          <p:cNvPr id="13" name="Text 11"/>
          <p:cNvSpPr/>
          <p:nvPr/>
        </p:nvSpPr>
        <p:spPr>
          <a:xfrm>
            <a:off x="2944368" y="2427732"/>
            <a:ext cx="585216" cy="246888"/>
          </a:xfrm>
          <a:prstGeom prst="rect">
            <a:avLst/>
          </a:prstGeom>
          <a:noFill/>
          <a:ln/>
        </p:spPr>
        <p:txBody>
          <a:bodyPr wrap="square" lIns="0" tIns="0" rIns="0" bIns="0" rtlCol="0" anchor="ctr">
            <a:normAutofit fontScale="100000" lnSpcReduction="0"/>
          </a:bodyPr>
          <a:lstStyle/>
          <a:p>
            <a:pPr indent="0" marL="0">
              <a:buNone/>
            </a:pPr>
            <a:r>
              <a:rPr lang="en-US" sz="960" b="1" dirty="0">
                <a:solidFill>
                  <a:srgbClr val="FFFFFF"/>
                </a:solidFill>
                <a:latin typeface="Arial" pitchFamily="34" charset="0"/>
                <a:ea typeface="Arial" pitchFamily="34" charset="-122"/>
                <a:cs typeface="Arial" pitchFamily="34" charset="-120"/>
              </a:rPr>
              <a:t>FILL</a:t>
            </a:r>
            <a:endParaRPr lang="en-US" sz="960" dirty="0"/>
          </a:p>
        </p:txBody>
      </p:sp>
      <p:sp>
        <p:nvSpPr>
          <p:cNvPr id="14" name="Text 12"/>
          <p:cNvSpPr/>
          <p:nvPr/>
        </p:nvSpPr>
        <p:spPr>
          <a:xfrm>
            <a:off x="3749040" y="2427732"/>
            <a:ext cx="1865376" cy="246888"/>
          </a:xfrm>
          <a:prstGeom prst="rect">
            <a:avLst/>
          </a:prstGeom>
          <a:noFill/>
          <a:ln/>
        </p:spPr>
        <p:txBody>
          <a:bodyPr wrap="square" lIns="0" tIns="0" rIns="0" bIns="0" rtlCol="0" anchor="ctr">
            <a:normAutofit fontScale="100000" lnSpcReduction="0"/>
          </a:bodyPr>
          <a:lstStyle/>
          <a:p>
            <a:pPr indent="0" marL="0">
              <a:buNone/>
            </a:pPr>
            <a:r>
              <a:rPr lang="en-US" sz="960" b="1" dirty="0">
                <a:solidFill>
                  <a:srgbClr val="FFFFFF"/>
                </a:solidFill>
                <a:latin typeface="Arial" pitchFamily="34" charset="0"/>
                <a:ea typeface="Arial" pitchFamily="34" charset="-122"/>
                <a:cs typeface="Arial" pitchFamily="34" charset="-120"/>
              </a:rPr>
              <a:t>DATE</a:t>
            </a:r>
            <a:endParaRPr lang="en-US" sz="960" dirty="0"/>
          </a:p>
        </p:txBody>
      </p:sp>
      <p:sp>
        <p:nvSpPr>
          <p:cNvPr id="15" name="Shape 13"/>
          <p:cNvSpPr/>
          <p:nvPr/>
        </p:nvSpPr>
        <p:spPr>
          <a:xfrm>
            <a:off x="594360" y="2697480"/>
            <a:ext cx="5129784" cy="269748"/>
          </a:xfrm>
          <a:prstGeom prst="rect">
            <a:avLst/>
          </a:prstGeom>
          <a:solidFill>
            <a:srgbClr val="FFFFFF"/>
          </a:solidFill>
          <a:ln w="12700">
            <a:solidFill>
              <a:srgbClr val="FFFFFF"/>
            </a:solidFill>
            <a:prstDash val="solid"/>
          </a:ln>
        </p:spPr>
        <p:txBody>
          <a:bodyPr/>
          <a:p/>
        </p:txBody>
      </p:sp>
      <p:sp>
        <p:nvSpPr>
          <p:cNvPr id="16" name="Text 14"/>
          <p:cNvSpPr/>
          <p:nvPr/>
        </p:nvSpPr>
        <p:spPr>
          <a:xfrm>
            <a:off x="704088" y="2758122"/>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Isuzu Ireland</a:t>
            </a:r>
            <a:endParaRPr lang="en-US" sz="1170" dirty="0"/>
          </a:p>
        </p:txBody>
      </p:sp>
      <p:sp>
        <p:nvSpPr>
          <p:cNvPr id="17" name="Text 15"/>
          <p:cNvSpPr/>
          <p:nvPr/>
        </p:nvSpPr>
        <p:spPr>
          <a:xfrm>
            <a:off x="2944368" y="2758122"/>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99.0%</a:t>
            </a:r>
            <a:endParaRPr lang="en-US" sz="1170" dirty="0"/>
          </a:p>
        </p:txBody>
      </p:sp>
      <p:sp>
        <p:nvSpPr>
          <p:cNvPr id="18" name="Text 16"/>
          <p:cNvSpPr/>
          <p:nvPr/>
        </p:nvSpPr>
        <p:spPr>
          <a:xfrm>
            <a:off x="3749040" y="2758122"/>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19" name="Shape 17"/>
          <p:cNvSpPr/>
          <p:nvPr/>
        </p:nvSpPr>
        <p:spPr>
          <a:xfrm>
            <a:off x="594360" y="2967228"/>
            <a:ext cx="5129784" cy="269748"/>
          </a:xfrm>
          <a:prstGeom prst="rect">
            <a:avLst/>
          </a:prstGeom>
          <a:solidFill>
            <a:srgbClr val="EEEDEA"/>
          </a:solidFill>
          <a:ln w="12700">
            <a:solidFill>
              <a:srgbClr val="EEEDEA"/>
            </a:solidFill>
            <a:prstDash val="solid"/>
          </a:ln>
        </p:spPr>
        <p:txBody>
          <a:bodyPr/>
          <a:p/>
        </p:txBody>
      </p:sp>
      <p:sp>
        <p:nvSpPr>
          <p:cNvPr id="20" name="Text 18"/>
          <p:cNvSpPr/>
          <p:nvPr/>
        </p:nvSpPr>
        <p:spPr>
          <a:xfrm>
            <a:off x="704088" y="3027870"/>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AIOS</a:t>
            </a:r>
            <a:endParaRPr lang="en-US" sz="1170" dirty="0"/>
          </a:p>
        </p:txBody>
      </p:sp>
      <p:sp>
        <p:nvSpPr>
          <p:cNvPr id="21" name="Text 19"/>
          <p:cNvSpPr/>
          <p:nvPr/>
        </p:nvSpPr>
        <p:spPr>
          <a:xfrm>
            <a:off x="2944368" y="3027870"/>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98.0%</a:t>
            </a:r>
            <a:endParaRPr lang="en-US" sz="1170" dirty="0"/>
          </a:p>
        </p:txBody>
      </p:sp>
      <p:sp>
        <p:nvSpPr>
          <p:cNvPr id="22" name="Text 20"/>
          <p:cNvSpPr/>
          <p:nvPr/>
        </p:nvSpPr>
        <p:spPr>
          <a:xfrm>
            <a:off x="3749040" y="3027870"/>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23" name="Shape 21"/>
          <p:cNvSpPr/>
          <p:nvPr/>
        </p:nvSpPr>
        <p:spPr>
          <a:xfrm>
            <a:off x="594360" y="3236976"/>
            <a:ext cx="5129784" cy="269748"/>
          </a:xfrm>
          <a:prstGeom prst="rect">
            <a:avLst/>
          </a:prstGeom>
          <a:solidFill>
            <a:srgbClr val="FFFFFF"/>
          </a:solidFill>
          <a:ln w="12700">
            <a:solidFill>
              <a:srgbClr val="FFFFFF"/>
            </a:solidFill>
            <a:prstDash val="solid"/>
          </a:ln>
        </p:spPr>
        <p:txBody>
          <a:bodyPr/>
          <a:p/>
        </p:txBody>
      </p:sp>
      <p:sp>
        <p:nvSpPr>
          <p:cNvPr id="24" name="Text 22"/>
          <p:cNvSpPr/>
          <p:nvPr/>
        </p:nvSpPr>
        <p:spPr>
          <a:xfrm>
            <a:off x="704088" y="3297618"/>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ISD</a:t>
            </a:r>
            <a:endParaRPr lang="en-US" sz="1170" dirty="0"/>
          </a:p>
        </p:txBody>
      </p:sp>
      <p:sp>
        <p:nvSpPr>
          <p:cNvPr id="25" name="Text 23"/>
          <p:cNvSpPr/>
          <p:nvPr/>
        </p:nvSpPr>
        <p:spPr>
          <a:xfrm>
            <a:off x="2944368" y="3297618"/>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98.0%</a:t>
            </a:r>
            <a:endParaRPr lang="en-US" sz="1170" dirty="0"/>
          </a:p>
        </p:txBody>
      </p:sp>
      <p:sp>
        <p:nvSpPr>
          <p:cNvPr id="26" name="Text 24"/>
          <p:cNvSpPr/>
          <p:nvPr/>
        </p:nvSpPr>
        <p:spPr>
          <a:xfrm>
            <a:off x="3749040" y="3297618"/>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27" name="Shape 25"/>
          <p:cNvSpPr/>
          <p:nvPr/>
        </p:nvSpPr>
        <p:spPr>
          <a:xfrm>
            <a:off x="594360" y="3506724"/>
            <a:ext cx="5129784" cy="269748"/>
          </a:xfrm>
          <a:prstGeom prst="rect">
            <a:avLst/>
          </a:prstGeom>
          <a:solidFill>
            <a:srgbClr val="EEEDEA"/>
          </a:solidFill>
          <a:ln w="12700">
            <a:solidFill>
              <a:srgbClr val="EEEDEA"/>
            </a:solidFill>
            <a:prstDash val="solid"/>
          </a:ln>
        </p:spPr>
        <p:txBody>
          <a:bodyPr/>
          <a:p/>
        </p:txBody>
      </p:sp>
      <p:sp>
        <p:nvSpPr>
          <p:cNvPr id="28" name="Text 26"/>
          <p:cNvSpPr/>
          <p:nvPr/>
        </p:nvSpPr>
        <p:spPr>
          <a:xfrm>
            <a:off x="704088" y="3567366"/>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Isuzu Rom Auto</a:t>
            </a:r>
            <a:endParaRPr lang="en-US" sz="1170" dirty="0"/>
          </a:p>
        </p:txBody>
      </p:sp>
      <p:sp>
        <p:nvSpPr>
          <p:cNvPr id="29" name="Text 27"/>
          <p:cNvSpPr/>
          <p:nvPr/>
        </p:nvSpPr>
        <p:spPr>
          <a:xfrm>
            <a:off x="2944368" y="3567366"/>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98.0%</a:t>
            </a:r>
            <a:endParaRPr lang="en-US" sz="1170" dirty="0"/>
          </a:p>
        </p:txBody>
      </p:sp>
      <p:sp>
        <p:nvSpPr>
          <p:cNvPr id="30" name="Text 28"/>
          <p:cNvSpPr/>
          <p:nvPr/>
        </p:nvSpPr>
        <p:spPr>
          <a:xfrm>
            <a:off x="3749040" y="3567366"/>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31" name="Shape 29"/>
          <p:cNvSpPr/>
          <p:nvPr/>
        </p:nvSpPr>
        <p:spPr>
          <a:xfrm>
            <a:off x="594360" y="3776472"/>
            <a:ext cx="5129784" cy="269748"/>
          </a:xfrm>
          <a:prstGeom prst="rect">
            <a:avLst/>
          </a:prstGeom>
          <a:solidFill>
            <a:srgbClr val="FFFFFF"/>
          </a:solidFill>
          <a:ln w="12700">
            <a:solidFill>
              <a:srgbClr val="FFFFFF"/>
            </a:solidFill>
            <a:prstDash val="solid"/>
          </a:ln>
        </p:spPr>
        <p:txBody>
          <a:bodyPr/>
          <a:p/>
        </p:txBody>
      </p:sp>
      <p:sp>
        <p:nvSpPr>
          <p:cNvPr id="32" name="Text 30"/>
          <p:cNvSpPr/>
          <p:nvPr/>
        </p:nvSpPr>
        <p:spPr>
          <a:xfrm>
            <a:off x="704088" y="3837114"/>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Isuzu Sverige</a:t>
            </a:r>
            <a:endParaRPr lang="en-US" sz="1170" dirty="0"/>
          </a:p>
        </p:txBody>
      </p:sp>
      <p:sp>
        <p:nvSpPr>
          <p:cNvPr id="33" name="Text 31"/>
          <p:cNvSpPr/>
          <p:nvPr/>
        </p:nvSpPr>
        <p:spPr>
          <a:xfrm>
            <a:off x="2944368" y="3837114"/>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97.0%</a:t>
            </a:r>
            <a:endParaRPr lang="en-US" sz="1170" dirty="0"/>
          </a:p>
        </p:txBody>
      </p:sp>
      <p:sp>
        <p:nvSpPr>
          <p:cNvPr id="34" name="Text 32"/>
          <p:cNvSpPr/>
          <p:nvPr/>
        </p:nvSpPr>
        <p:spPr>
          <a:xfrm>
            <a:off x="3749040" y="3837114"/>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35" name="Shape 33"/>
          <p:cNvSpPr/>
          <p:nvPr/>
        </p:nvSpPr>
        <p:spPr>
          <a:xfrm>
            <a:off x="594360" y="4046220"/>
            <a:ext cx="5129784" cy="269748"/>
          </a:xfrm>
          <a:prstGeom prst="rect">
            <a:avLst/>
          </a:prstGeom>
          <a:solidFill>
            <a:srgbClr val="EEEDEA"/>
          </a:solidFill>
          <a:ln w="12700">
            <a:solidFill>
              <a:srgbClr val="EEEDEA"/>
            </a:solidFill>
            <a:prstDash val="solid"/>
          </a:ln>
        </p:spPr>
        <p:txBody>
          <a:bodyPr/>
          <a:p/>
        </p:txBody>
      </p:sp>
      <p:sp>
        <p:nvSpPr>
          <p:cNvPr id="36" name="Text 34"/>
          <p:cNvSpPr/>
          <p:nvPr/>
        </p:nvSpPr>
        <p:spPr>
          <a:xfrm>
            <a:off x="704088" y="4106862"/>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MIDI</a:t>
            </a:r>
            <a:endParaRPr lang="en-US" sz="1170" dirty="0"/>
          </a:p>
        </p:txBody>
      </p:sp>
      <p:sp>
        <p:nvSpPr>
          <p:cNvPr id="37" name="Text 35"/>
          <p:cNvSpPr/>
          <p:nvPr/>
        </p:nvSpPr>
        <p:spPr>
          <a:xfrm>
            <a:off x="2944368" y="4106862"/>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97.0%</a:t>
            </a:r>
            <a:endParaRPr lang="en-US" sz="1170" dirty="0"/>
          </a:p>
        </p:txBody>
      </p:sp>
      <p:sp>
        <p:nvSpPr>
          <p:cNvPr id="38" name="Text 36"/>
          <p:cNvSpPr/>
          <p:nvPr/>
        </p:nvSpPr>
        <p:spPr>
          <a:xfrm>
            <a:off x="3749040" y="4106862"/>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39" name="Shape 37"/>
          <p:cNvSpPr/>
          <p:nvPr/>
        </p:nvSpPr>
        <p:spPr>
          <a:xfrm>
            <a:off x="594360" y="4315968"/>
            <a:ext cx="5129784" cy="269748"/>
          </a:xfrm>
          <a:prstGeom prst="rect">
            <a:avLst/>
          </a:prstGeom>
          <a:solidFill>
            <a:srgbClr val="FFFFFF"/>
          </a:solidFill>
          <a:ln w="12700">
            <a:solidFill>
              <a:srgbClr val="FFFFFF"/>
            </a:solidFill>
            <a:prstDash val="solid"/>
          </a:ln>
        </p:spPr>
        <p:txBody>
          <a:bodyPr/>
          <a:p/>
        </p:txBody>
      </p:sp>
      <p:sp>
        <p:nvSpPr>
          <p:cNvPr id="40" name="Text 38"/>
          <p:cNvSpPr/>
          <p:nvPr/>
        </p:nvSpPr>
        <p:spPr>
          <a:xfrm>
            <a:off x="704088" y="4376610"/>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UMI</a:t>
            </a:r>
            <a:endParaRPr lang="en-US" sz="1170" dirty="0"/>
          </a:p>
        </p:txBody>
      </p:sp>
      <p:sp>
        <p:nvSpPr>
          <p:cNvPr id="41" name="Text 39"/>
          <p:cNvSpPr/>
          <p:nvPr/>
        </p:nvSpPr>
        <p:spPr>
          <a:xfrm>
            <a:off x="2944368" y="4376610"/>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97.0%</a:t>
            </a:r>
            <a:endParaRPr lang="en-US" sz="1170" dirty="0"/>
          </a:p>
        </p:txBody>
      </p:sp>
      <p:sp>
        <p:nvSpPr>
          <p:cNvPr id="42" name="Text 40"/>
          <p:cNvSpPr/>
          <p:nvPr/>
        </p:nvSpPr>
        <p:spPr>
          <a:xfrm>
            <a:off x="3749040" y="4376610"/>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43" name="Shape 41"/>
          <p:cNvSpPr/>
          <p:nvPr/>
        </p:nvSpPr>
        <p:spPr>
          <a:xfrm>
            <a:off x="594360" y="4585716"/>
            <a:ext cx="5129784" cy="269748"/>
          </a:xfrm>
          <a:prstGeom prst="rect">
            <a:avLst/>
          </a:prstGeom>
          <a:solidFill>
            <a:srgbClr val="EEEDEA"/>
          </a:solidFill>
          <a:ln w="12700">
            <a:solidFill>
              <a:srgbClr val="EEEDEA"/>
            </a:solidFill>
            <a:prstDash val="solid"/>
          </a:ln>
        </p:spPr>
        <p:txBody>
          <a:bodyPr/>
          <a:p/>
        </p:txBody>
      </p:sp>
      <p:sp>
        <p:nvSpPr>
          <p:cNvPr id="44" name="Text 42"/>
          <p:cNvSpPr/>
          <p:nvPr/>
        </p:nvSpPr>
        <p:spPr>
          <a:xfrm>
            <a:off x="704088" y="4646358"/>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RSA</a:t>
            </a:r>
            <a:endParaRPr lang="en-US" sz="1170" dirty="0"/>
          </a:p>
        </p:txBody>
      </p:sp>
      <p:sp>
        <p:nvSpPr>
          <p:cNvPr id="45" name="Text 43"/>
          <p:cNvSpPr/>
          <p:nvPr/>
        </p:nvSpPr>
        <p:spPr>
          <a:xfrm>
            <a:off x="2944368" y="4646358"/>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96.0%</a:t>
            </a:r>
            <a:endParaRPr lang="en-US" sz="1170" dirty="0"/>
          </a:p>
        </p:txBody>
      </p:sp>
      <p:sp>
        <p:nvSpPr>
          <p:cNvPr id="46" name="Text 44"/>
          <p:cNvSpPr/>
          <p:nvPr/>
        </p:nvSpPr>
        <p:spPr>
          <a:xfrm>
            <a:off x="3749040" y="4646358"/>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47" name="Shape 45"/>
          <p:cNvSpPr/>
          <p:nvPr/>
        </p:nvSpPr>
        <p:spPr>
          <a:xfrm>
            <a:off x="594360" y="4855464"/>
            <a:ext cx="5129784" cy="269748"/>
          </a:xfrm>
          <a:prstGeom prst="rect">
            <a:avLst/>
          </a:prstGeom>
          <a:solidFill>
            <a:srgbClr val="FFFFFF"/>
          </a:solidFill>
          <a:ln w="12700">
            <a:solidFill>
              <a:srgbClr val="FFFFFF"/>
            </a:solidFill>
            <a:prstDash val="solid"/>
          </a:ln>
        </p:spPr>
        <p:txBody>
          <a:bodyPr/>
          <a:p/>
        </p:txBody>
      </p:sp>
      <p:sp>
        <p:nvSpPr>
          <p:cNvPr id="48" name="Text 46"/>
          <p:cNvSpPr/>
          <p:nvPr/>
        </p:nvSpPr>
        <p:spPr>
          <a:xfrm>
            <a:off x="704088" y="4916106"/>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ITUK</a:t>
            </a:r>
            <a:endParaRPr lang="en-US" sz="1170" dirty="0"/>
          </a:p>
        </p:txBody>
      </p:sp>
      <p:sp>
        <p:nvSpPr>
          <p:cNvPr id="49" name="Text 47"/>
          <p:cNvSpPr/>
          <p:nvPr/>
        </p:nvSpPr>
        <p:spPr>
          <a:xfrm>
            <a:off x="2944368" y="4916106"/>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95.0%</a:t>
            </a:r>
            <a:endParaRPr lang="en-US" sz="1170" dirty="0"/>
          </a:p>
        </p:txBody>
      </p:sp>
      <p:sp>
        <p:nvSpPr>
          <p:cNvPr id="50" name="Text 48"/>
          <p:cNvSpPr/>
          <p:nvPr/>
        </p:nvSpPr>
        <p:spPr>
          <a:xfrm>
            <a:off x="3749040" y="4916106"/>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51" name="Shape 49"/>
          <p:cNvSpPr/>
          <p:nvPr/>
        </p:nvSpPr>
        <p:spPr>
          <a:xfrm>
            <a:off x="594360" y="5125212"/>
            <a:ext cx="5129784" cy="269748"/>
          </a:xfrm>
          <a:prstGeom prst="rect">
            <a:avLst/>
          </a:prstGeom>
          <a:solidFill>
            <a:srgbClr val="EEEDEA"/>
          </a:solidFill>
          <a:ln w="12700">
            <a:solidFill>
              <a:srgbClr val="EEEDEA"/>
            </a:solidFill>
            <a:prstDash val="solid"/>
          </a:ln>
        </p:spPr>
        <p:txBody>
          <a:bodyPr/>
          <a:p/>
        </p:txBody>
      </p:sp>
      <p:sp>
        <p:nvSpPr>
          <p:cNvPr id="52" name="Text 50"/>
          <p:cNvSpPr/>
          <p:nvPr/>
        </p:nvSpPr>
        <p:spPr>
          <a:xfrm>
            <a:off x="704088" y="5185854"/>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BL ehf</a:t>
            </a:r>
            <a:endParaRPr lang="en-US" sz="1170" dirty="0"/>
          </a:p>
        </p:txBody>
      </p:sp>
      <p:sp>
        <p:nvSpPr>
          <p:cNvPr id="53" name="Text 51"/>
          <p:cNvSpPr/>
          <p:nvPr/>
        </p:nvSpPr>
        <p:spPr>
          <a:xfrm>
            <a:off x="2944368" y="5185854"/>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93.0%</a:t>
            </a:r>
            <a:endParaRPr lang="en-US" sz="1170" dirty="0"/>
          </a:p>
        </p:txBody>
      </p:sp>
      <p:sp>
        <p:nvSpPr>
          <p:cNvPr id="54" name="Text 52"/>
          <p:cNvSpPr/>
          <p:nvPr/>
        </p:nvSpPr>
        <p:spPr>
          <a:xfrm>
            <a:off x="3749040" y="5185854"/>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55" name="Shape 53"/>
          <p:cNvSpPr/>
          <p:nvPr/>
        </p:nvSpPr>
        <p:spPr>
          <a:xfrm>
            <a:off x="6254496" y="2340864"/>
            <a:ext cx="5129784" cy="356616"/>
          </a:xfrm>
          <a:prstGeom prst="rect">
            <a:avLst/>
          </a:prstGeom>
          <a:solidFill>
            <a:srgbClr val="24282C"/>
          </a:solidFill>
          <a:ln w="12700">
            <a:solidFill>
              <a:srgbClr val="24282C"/>
            </a:solidFill>
            <a:prstDash val="solid"/>
          </a:ln>
        </p:spPr>
        <p:txBody>
          <a:bodyPr/>
          <a:p/>
        </p:txBody>
      </p:sp>
      <p:sp>
        <p:nvSpPr>
          <p:cNvPr id="56" name="Text 54"/>
          <p:cNvSpPr/>
          <p:nvPr/>
        </p:nvSpPr>
        <p:spPr>
          <a:xfrm>
            <a:off x="6364224" y="2427732"/>
            <a:ext cx="2020824" cy="246888"/>
          </a:xfrm>
          <a:prstGeom prst="rect">
            <a:avLst/>
          </a:prstGeom>
          <a:noFill/>
          <a:ln/>
        </p:spPr>
        <p:txBody>
          <a:bodyPr wrap="square" lIns="0" tIns="0" rIns="0" bIns="0" rtlCol="0" anchor="ctr">
            <a:normAutofit fontScale="100000" lnSpcReduction="0"/>
          </a:bodyPr>
          <a:lstStyle/>
          <a:p>
            <a:pPr indent="0" marL="0">
              <a:buNone/>
            </a:pPr>
            <a:r>
              <a:rPr lang="en-US" sz="960" b="1" dirty="0">
                <a:solidFill>
                  <a:srgbClr val="FFFFFF"/>
                </a:solidFill>
                <a:latin typeface="Arial" pitchFamily="34" charset="0"/>
                <a:ea typeface="Arial" pitchFamily="34" charset="-122"/>
                <a:cs typeface="Arial" pitchFamily="34" charset="-120"/>
              </a:rPr>
              <a:t>SOURCE LABEL</a:t>
            </a:r>
            <a:endParaRPr lang="en-US" sz="960" dirty="0"/>
          </a:p>
        </p:txBody>
      </p:sp>
      <p:sp>
        <p:nvSpPr>
          <p:cNvPr id="57" name="Text 55"/>
          <p:cNvSpPr/>
          <p:nvPr/>
        </p:nvSpPr>
        <p:spPr>
          <a:xfrm>
            <a:off x="8604504" y="2427732"/>
            <a:ext cx="585216" cy="246888"/>
          </a:xfrm>
          <a:prstGeom prst="rect">
            <a:avLst/>
          </a:prstGeom>
          <a:noFill/>
          <a:ln/>
        </p:spPr>
        <p:txBody>
          <a:bodyPr wrap="square" lIns="0" tIns="0" rIns="0" bIns="0" rtlCol="0" anchor="ctr">
            <a:normAutofit fontScale="100000" lnSpcReduction="0"/>
          </a:bodyPr>
          <a:lstStyle/>
          <a:p>
            <a:pPr indent="0" marL="0">
              <a:buNone/>
            </a:pPr>
            <a:r>
              <a:rPr lang="en-US" sz="960" b="1" dirty="0">
                <a:solidFill>
                  <a:srgbClr val="FFFFFF"/>
                </a:solidFill>
                <a:latin typeface="Arial" pitchFamily="34" charset="0"/>
                <a:ea typeface="Arial" pitchFamily="34" charset="-122"/>
                <a:cs typeface="Arial" pitchFamily="34" charset="-120"/>
              </a:rPr>
              <a:t>FILL</a:t>
            </a:r>
            <a:endParaRPr lang="en-US" sz="960" dirty="0"/>
          </a:p>
        </p:txBody>
      </p:sp>
      <p:sp>
        <p:nvSpPr>
          <p:cNvPr id="58" name="Text 56"/>
          <p:cNvSpPr/>
          <p:nvPr/>
        </p:nvSpPr>
        <p:spPr>
          <a:xfrm>
            <a:off x="9409176" y="2427732"/>
            <a:ext cx="1865376" cy="246888"/>
          </a:xfrm>
          <a:prstGeom prst="rect">
            <a:avLst/>
          </a:prstGeom>
          <a:noFill/>
          <a:ln/>
        </p:spPr>
        <p:txBody>
          <a:bodyPr wrap="square" lIns="0" tIns="0" rIns="0" bIns="0" rtlCol="0" anchor="ctr">
            <a:normAutofit fontScale="100000" lnSpcReduction="0"/>
          </a:bodyPr>
          <a:lstStyle/>
          <a:p>
            <a:pPr indent="0" marL="0">
              <a:buNone/>
            </a:pPr>
            <a:r>
              <a:rPr lang="en-US" sz="960" b="1" dirty="0">
                <a:solidFill>
                  <a:srgbClr val="FFFFFF"/>
                </a:solidFill>
                <a:latin typeface="Arial" pitchFamily="34" charset="0"/>
                <a:ea typeface="Arial" pitchFamily="34" charset="-122"/>
                <a:cs typeface="Arial" pitchFamily="34" charset="-120"/>
              </a:rPr>
              <a:t>DATE</a:t>
            </a:r>
            <a:endParaRPr lang="en-US" sz="960" dirty="0"/>
          </a:p>
        </p:txBody>
      </p:sp>
      <p:sp>
        <p:nvSpPr>
          <p:cNvPr id="59" name="Shape 57"/>
          <p:cNvSpPr/>
          <p:nvPr/>
        </p:nvSpPr>
        <p:spPr>
          <a:xfrm>
            <a:off x="6254496" y="2697480"/>
            <a:ext cx="5129784" cy="269748"/>
          </a:xfrm>
          <a:prstGeom prst="rect">
            <a:avLst/>
          </a:prstGeom>
          <a:solidFill>
            <a:srgbClr val="FFFFFF"/>
          </a:solidFill>
          <a:ln w="12700">
            <a:solidFill>
              <a:srgbClr val="FFFFFF"/>
            </a:solidFill>
            <a:prstDash val="solid"/>
          </a:ln>
        </p:spPr>
        <p:txBody>
          <a:bodyPr/>
          <a:p/>
        </p:txBody>
      </p:sp>
      <p:sp>
        <p:nvSpPr>
          <p:cNvPr id="60" name="Text 58"/>
          <p:cNvSpPr/>
          <p:nvPr/>
        </p:nvSpPr>
        <p:spPr>
          <a:xfrm>
            <a:off x="6364224" y="2758122"/>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IUK</a:t>
            </a:r>
            <a:endParaRPr lang="en-US" sz="1170" dirty="0"/>
          </a:p>
        </p:txBody>
      </p:sp>
      <p:sp>
        <p:nvSpPr>
          <p:cNvPr id="61" name="Text 59"/>
          <p:cNvSpPr/>
          <p:nvPr/>
        </p:nvSpPr>
        <p:spPr>
          <a:xfrm>
            <a:off x="8604504" y="2758122"/>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93.0%</a:t>
            </a:r>
            <a:endParaRPr lang="en-US" sz="1170" dirty="0"/>
          </a:p>
        </p:txBody>
      </p:sp>
      <p:sp>
        <p:nvSpPr>
          <p:cNvPr id="62" name="Text 60"/>
          <p:cNvSpPr/>
          <p:nvPr/>
        </p:nvSpPr>
        <p:spPr>
          <a:xfrm>
            <a:off x="9409176" y="2758122"/>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63" name="Shape 61"/>
          <p:cNvSpPr/>
          <p:nvPr/>
        </p:nvSpPr>
        <p:spPr>
          <a:xfrm>
            <a:off x="6254496" y="2967228"/>
            <a:ext cx="5129784" cy="269748"/>
          </a:xfrm>
          <a:prstGeom prst="rect">
            <a:avLst/>
          </a:prstGeom>
          <a:solidFill>
            <a:srgbClr val="EEEDEA"/>
          </a:solidFill>
          <a:ln w="12700">
            <a:solidFill>
              <a:srgbClr val="EEEDEA"/>
            </a:solidFill>
            <a:prstDash val="solid"/>
          </a:ln>
        </p:spPr>
        <p:txBody>
          <a:bodyPr/>
          <a:p/>
        </p:txBody>
      </p:sp>
      <p:sp>
        <p:nvSpPr>
          <p:cNvPr id="64" name="Text 62"/>
          <p:cNvSpPr/>
          <p:nvPr/>
        </p:nvSpPr>
        <p:spPr>
          <a:xfrm>
            <a:off x="6364224" y="3027870"/>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UTI</a:t>
            </a:r>
            <a:endParaRPr lang="en-US" sz="1170" dirty="0"/>
          </a:p>
        </p:txBody>
      </p:sp>
      <p:sp>
        <p:nvSpPr>
          <p:cNvPr id="65" name="Text 63"/>
          <p:cNvSpPr/>
          <p:nvPr/>
        </p:nvSpPr>
        <p:spPr>
          <a:xfrm>
            <a:off x="8604504" y="3027870"/>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93.0%</a:t>
            </a:r>
            <a:endParaRPr lang="en-US" sz="1170" dirty="0"/>
          </a:p>
        </p:txBody>
      </p:sp>
      <p:sp>
        <p:nvSpPr>
          <p:cNvPr id="66" name="Text 64"/>
          <p:cNvSpPr/>
          <p:nvPr/>
        </p:nvSpPr>
        <p:spPr>
          <a:xfrm>
            <a:off x="9409176" y="3027870"/>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67" name="Shape 65"/>
          <p:cNvSpPr/>
          <p:nvPr/>
        </p:nvSpPr>
        <p:spPr>
          <a:xfrm>
            <a:off x="6254496" y="3236976"/>
            <a:ext cx="5129784" cy="269748"/>
          </a:xfrm>
          <a:prstGeom prst="rect">
            <a:avLst/>
          </a:prstGeom>
          <a:solidFill>
            <a:srgbClr val="FFFFFF"/>
          </a:solidFill>
          <a:ln w="12700">
            <a:solidFill>
              <a:srgbClr val="FFFFFF"/>
            </a:solidFill>
            <a:prstDash val="solid"/>
          </a:ln>
        </p:spPr>
        <p:txBody>
          <a:bodyPr/>
          <a:p/>
        </p:txBody>
      </p:sp>
      <p:sp>
        <p:nvSpPr>
          <p:cNvPr id="68" name="Text 66"/>
          <p:cNvSpPr/>
          <p:nvPr/>
        </p:nvSpPr>
        <p:spPr>
          <a:xfrm>
            <a:off x="6364224" y="3297618"/>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KIMA</a:t>
            </a:r>
            <a:endParaRPr lang="en-US" sz="1170" dirty="0"/>
          </a:p>
        </p:txBody>
      </p:sp>
      <p:sp>
        <p:nvSpPr>
          <p:cNvPr id="69" name="Text 67"/>
          <p:cNvSpPr/>
          <p:nvPr/>
        </p:nvSpPr>
        <p:spPr>
          <a:xfrm>
            <a:off x="8604504" y="3297618"/>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90.0%</a:t>
            </a:r>
            <a:endParaRPr lang="en-US" sz="1170" dirty="0"/>
          </a:p>
        </p:txBody>
      </p:sp>
      <p:sp>
        <p:nvSpPr>
          <p:cNvPr id="70" name="Text 68"/>
          <p:cNvSpPr/>
          <p:nvPr/>
        </p:nvSpPr>
        <p:spPr>
          <a:xfrm>
            <a:off x="9409176" y="3297618"/>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71" name="Shape 69"/>
          <p:cNvSpPr/>
          <p:nvPr/>
        </p:nvSpPr>
        <p:spPr>
          <a:xfrm>
            <a:off x="6254496" y="3506724"/>
            <a:ext cx="5129784" cy="269748"/>
          </a:xfrm>
          <a:prstGeom prst="rect">
            <a:avLst/>
          </a:prstGeom>
          <a:solidFill>
            <a:srgbClr val="EEEDEA"/>
          </a:solidFill>
          <a:ln w="12700">
            <a:solidFill>
              <a:srgbClr val="EEEDEA"/>
            </a:solidFill>
            <a:prstDash val="solid"/>
          </a:ln>
        </p:spPr>
        <p:txBody>
          <a:bodyPr/>
          <a:p/>
        </p:txBody>
      </p:sp>
      <p:sp>
        <p:nvSpPr>
          <p:cNvPr id="72" name="Text 70"/>
          <p:cNvSpPr/>
          <p:nvPr/>
        </p:nvSpPr>
        <p:spPr>
          <a:xfrm>
            <a:off x="6364224" y="3567366"/>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GasanZammit</a:t>
            </a:r>
            <a:endParaRPr lang="en-US" sz="1170" dirty="0"/>
          </a:p>
        </p:txBody>
      </p:sp>
      <p:sp>
        <p:nvSpPr>
          <p:cNvPr id="73" name="Text 71"/>
          <p:cNvSpPr/>
          <p:nvPr/>
        </p:nvSpPr>
        <p:spPr>
          <a:xfrm>
            <a:off x="8604504" y="3567366"/>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89.0%</a:t>
            </a:r>
            <a:endParaRPr lang="en-US" sz="1170" dirty="0"/>
          </a:p>
        </p:txBody>
      </p:sp>
      <p:sp>
        <p:nvSpPr>
          <p:cNvPr id="74" name="Text 72"/>
          <p:cNvSpPr/>
          <p:nvPr/>
        </p:nvSpPr>
        <p:spPr>
          <a:xfrm>
            <a:off x="9409176" y="3567366"/>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75" name="Shape 73"/>
          <p:cNvSpPr/>
          <p:nvPr/>
        </p:nvSpPr>
        <p:spPr>
          <a:xfrm>
            <a:off x="6254496" y="3776472"/>
            <a:ext cx="5129784" cy="269748"/>
          </a:xfrm>
          <a:prstGeom prst="rect">
            <a:avLst/>
          </a:prstGeom>
          <a:solidFill>
            <a:srgbClr val="FFFFFF"/>
          </a:solidFill>
          <a:ln w="12700">
            <a:solidFill>
              <a:srgbClr val="FFFFFF"/>
            </a:solidFill>
            <a:prstDash val="solid"/>
          </a:ln>
        </p:spPr>
        <p:txBody>
          <a:bodyPr/>
          <a:p/>
        </p:txBody>
      </p:sp>
      <p:sp>
        <p:nvSpPr>
          <p:cNvPr id="76" name="Text 74"/>
          <p:cNvSpPr/>
          <p:nvPr/>
        </p:nvSpPr>
        <p:spPr>
          <a:xfrm>
            <a:off x="6364224" y="3837114"/>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IMF</a:t>
            </a:r>
            <a:endParaRPr lang="en-US" sz="1170" dirty="0"/>
          </a:p>
        </p:txBody>
      </p:sp>
      <p:sp>
        <p:nvSpPr>
          <p:cNvPr id="77" name="Text 75"/>
          <p:cNvSpPr/>
          <p:nvPr/>
        </p:nvSpPr>
        <p:spPr>
          <a:xfrm>
            <a:off x="8604504" y="3837114"/>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87.0%</a:t>
            </a:r>
            <a:endParaRPr lang="en-US" sz="1170" dirty="0"/>
          </a:p>
        </p:txBody>
      </p:sp>
      <p:sp>
        <p:nvSpPr>
          <p:cNvPr id="78" name="Text 76"/>
          <p:cNvSpPr/>
          <p:nvPr/>
        </p:nvSpPr>
        <p:spPr>
          <a:xfrm>
            <a:off x="9409176" y="3837114"/>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79" name="Shape 77"/>
          <p:cNvSpPr/>
          <p:nvPr/>
        </p:nvSpPr>
        <p:spPr>
          <a:xfrm>
            <a:off x="6254496" y="4046220"/>
            <a:ext cx="5129784" cy="269748"/>
          </a:xfrm>
          <a:prstGeom prst="rect">
            <a:avLst/>
          </a:prstGeom>
          <a:solidFill>
            <a:srgbClr val="EEEDEA"/>
          </a:solidFill>
          <a:ln w="12700">
            <a:solidFill>
              <a:srgbClr val="EEEDEA"/>
            </a:solidFill>
            <a:prstDash val="solid"/>
          </a:ln>
        </p:spPr>
        <p:txBody>
          <a:bodyPr/>
          <a:p/>
        </p:txBody>
      </p:sp>
      <p:sp>
        <p:nvSpPr>
          <p:cNvPr id="80" name="Text 78"/>
          <p:cNvSpPr/>
          <p:nvPr/>
        </p:nvSpPr>
        <p:spPr>
          <a:xfrm>
            <a:off x="6364224" y="4106862"/>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 Motors</a:t>
            </a:r>
            <a:endParaRPr lang="en-US" sz="1170" dirty="0"/>
          </a:p>
        </p:txBody>
      </p:sp>
      <p:sp>
        <p:nvSpPr>
          <p:cNvPr id="81" name="Text 79"/>
          <p:cNvSpPr/>
          <p:nvPr/>
        </p:nvSpPr>
        <p:spPr>
          <a:xfrm>
            <a:off x="8604504" y="4106862"/>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84.0%</a:t>
            </a:r>
            <a:endParaRPr lang="en-US" sz="1170" dirty="0"/>
          </a:p>
        </p:txBody>
      </p:sp>
      <p:sp>
        <p:nvSpPr>
          <p:cNvPr id="82" name="Text 80"/>
          <p:cNvSpPr/>
          <p:nvPr/>
        </p:nvSpPr>
        <p:spPr>
          <a:xfrm>
            <a:off x="9409176" y="4106862"/>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83" name="Shape 81"/>
          <p:cNvSpPr/>
          <p:nvPr/>
        </p:nvSpPr>
        <p:spPr>
          <a:xfrm>
            <a:off x="6254496" y="4315968"/>
            <a:ext cx="5129784" cy="269748"/>
          </a:xfrm>
          <a:prstGeom prst="rect">
            <a:avLst/>
          </a:prstGeom>
          <a:solidFill>
            <a:srgbClr val="FFFFFF"/>
          </a:solidFill>
          <a:ln w="12700">
            <a:solidFill>
              <a:srgbClr val="FFFFFF"/>
            </a:solidFill>
            <a:prstDash val="solid"/>
          </a:ln>
        </p:spPr>
        <p:txBody>
          <a:bodyPr/>
          <a:p/>
        </p:txBody>
      </p:sp>
      <p:sp>
        <p:nvSpPr>
          <p:cNvPr id="84" name="Text 82"/>
          <p:cNvSpPr/>
          <p:nvPr/>
        </p:nvSpPr>
        <p:spPr>
          <a:xfrm>
            <a:off x="6364224" y="4376610"/>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IBX (BENELUX)</a:t>
            </a:r>
            <a:endParaRPr lang="en-US" sz="1170" dirty="0"/>
          </a:p>
        </p:txBody>
      </p:sp>
      <p:sp>
        <p:nvSpPr>
          <p:cNvPr id="85" name="Text 83"/>
          <p:cNvSpPr/>
          <p:nvPr/>
        </p:nvSpPr>
        <p:spPr>
          <a:xfrm>
            <a:off x="8604504" y="4376610"/>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82.0%</a:t>
            </a:r>
            <a:endParaRPr lang="en-US" sz="1170" dirty="0"/>
          </a:p>
        </p:txBody>
      </p:sp>
      <p:sp>
        <p:nvSpPr>
          <p:cNvPr id="86" name="Text 84"/>
          <p:cNvSpPr/>
          <p:nvPr/>
        </p:nvSpPr>
        <p:spPr>
          <a:xfrm>
            <a:off x="9409176" y="4376610"/>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87" name="Shape 85"/>
          <p:cNvSpPr/>
          <p:nvPr/>
        </p:nvSpPr>
        <p:spPr>
          <a:xfrm>
            <a:off x="6254496" y="4585716"/>
            <a:ext cx="5129784" cy="269748"/>
          </a:xfrm>
          <a:prstGeom prst="rect">
            <a:avLst/>
          </a:prstGeom>
          <a:solidFill>
            <a:srgbClr val="EEEDEA"/>
          </a:solidFill>
          <a:ln w="12700">
            <a:solidFill>
              <a:srgbClr val="EEEDEA"/>
            </a:solidFill>
            <a:prstDash val="solid"/>
          </a:ln>
        </p:spPr>
        <p:txBody>
          <a:bodyPr/>
          <a:p/>
        </p:txBody>
      </p:sp>
      <p:sp>
        <p:nvSpPr>
          <p:cNvPr id="88" name="Text 86"/>
          <p:cNvSpPr/>
          <p:nvPr/>
        </p:nvSpPr>
        <p:spPr>
          <a:xfrm>
            <a:off x="6364224" y="4646358"/>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Isuzu Polska</a:t>
            </a:r>
            <a:endParaRPr lang="en-US" sz="1170" dirty="0"/>
          </a:p>
        </p:txBody>
      </p:sp>
      <p:sp>
        <p:nvSpPr>
          <p:cNvPr id="89" name="Text 87"/>
          <p:cNvSpPr/>
          <p:nvPr/>
        </p:nvSpPr>
        <p:spPr>
          <a:xfrm>
            <a:off x="8604504" y="4646358"/>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82.0%</a:t>
            </a:r>
            <a:endParaRPr lang="en-US" sz="1170" dirty="0"/>
          </a:p>
        </p:txBody>
      </p:sp>
      <p:sp>
        <p:nvSpPr>
          <p:cNvPr id="90" name="Text 88"/>
          <p:cNvSpPr/>
          <p:nvPr/>
        </p:nvSpPr>
        <p:spPr>
          <a:xfrm>
            <a:off x="9409176" y="4646358"/>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Month not supplied</a:t>
            </a:r>
            <a:endParaRPr lang="en-US" sz="1170" dirty="0"/>
          </a:p>
        </p:txBody>
      </p:sp>
      <p:sp>
        <p:nvSpPr>
          <p:cNvPr id="91" name="Shape 89"/>
          <p:cNvSpPr/>
          <p:nvPr/>
        </p:nvSpPr>
        <p:spPr>
          <a:xfrm>
            <a:off x="6254496" y="4855464"/>
            <a:ext cx="5129784" cy="269748"/>
          </a:xfrm>
          <a:prstGeom prst="rect">
            <a:avLst/>
          </a:prstGeom>
          <a:solidFill>
            <a:srgbClr val="FFFFFF"/>
          </a:solidFill>
          <a:ln w="12700">
            <a:solidFill>
              <a:srgbClr val="FFFFFF"/>
            </a:solidFill>
            <a:prstDash val="solid"/>
          </a:ln>
        </p:spPr>
        <p:txBody>
          <a:bodyPr/>
          <a:p/>
        </p:txBody>
      </p:sp>
      <p:sp>
        <p:nvSpPr>
          <p:cNvPr id="92" name="Text 90"/>
          <p:cNvSpPr/>
          <p:nvPr/>
        </p:nvSpPr>
        <p:spPr>
          <a:xfrm>
            <a:off x="6364224" y="4916106"/>
            <a:ext cx="2020824" cy="203326"/>
          </a:xfrm>
          <a:prstGeom prst="rect">
            <a:avLst/>
          </a:prstGeom>
          <a:noFill/>
          <a:ln/>
        </p:spPr>
        <p:txBody>
          <a:bodyPr wrap="square" lIns="0" tIns="0" rIns="0" bIns="0" rtlCol="0" anchor="ctr">
            <a:normAutofit fontScale="100000" lnSpcReduction="0"/>
          </a:bodyPr>
          <a:lstStyle/>
          <a:p>
            <a:pPr indent="0" marL="0">
              <a:buNone/>
            </a:pPr>
            <a:r>
              <a:rPr lang="en-US" sz="1170" b="1" dirty="0">
                <a:solidFill>
                  <a:srgbClr val="24282C"/>
                </a:solidFill>
                <a:latin typeface="Arial" pitchFamily="34" charset="0"/>
                <a:ea typeface="Arial" pitchFamily="34" charset="-122"/>
                <a:cs typeface="Arial" pitchFamily="34" charset="-120"/>
              </a:rPr>
              <a:t>Petros Petropoulos</a:t>
            </a:r>
            <a:endParaRPr lang="en-US" sz="1170" dirty="0"/>
          </a:p>
        </p:txBody>
      </p:sp>
      <p:sp>
        <p:nvSpPr>
          <p:cNvPr id="93" name="Text 91"/>
          <p:cNvSpPr/>
          <p:nvPr/>
        </p:nvSpPr>
        <p:spPr>
          <a:xfrm>
            <a:off x="8604504" y="4916106"/>
            <a:ext cx="58521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60.0%</a:t>
            </a:r>
            <a:endParaRPr lang="en-US" sz="1170" dirty="0"/>
          </a:p>
        </p:txBody>
      </p:sp>
      <p:sp>
        <p:nvSpPr>
          <p:cNvPr id="94" name="Text 92"/>
          <p:cNvSpPr/>
          <p:nvPr/>
        </p:nvSpPr>
        <p:spPr>
          <a:xfrm>
            <a:off x="9409176" y="4916106"/>
            <a:ext cx="1865376" cy="203326"/>
          </a:xfrm>
          <a:prstGeom prst="rect">
            <a:avLst/>
          </a:prstGeom>
          <a:noFill/>
          <a:ln/>
        </p:spPr>
        <p:txBody>
          <a:bodyPr wrap="square" lIns="0" tIns="0" rIns="0" bIns="0" rtlCol="0" anchor="ctr">
            <a:normAutofit fontScale="100000" lnSpcReduction="0"/>
          </a:bodyPr>
          <a:lstStyle/>
          <a:p>
            <a:pPr indent="0" marL="0">
              <a:buNone/>
            </a:pPr>
            <a:r>
              <a:rPr lang="en-US" sz="1170" dirty="0">
                <a:solidFill>
                  <a:srgbClr val="626B72"/>
                </a:solidFill>
                <a:latin typeface="Arial" pitchFamily="34" charset="0"/>
                <a:ea typeface="Arial" pitchFamily="34" charset="-122"/>
                <a:cs typeface="Arial" pitchFamily="34" charset="-120"/>
              </a:rPr>
              <a:t>May 2025</a:t>
            </a:r>
            <a:endParaRPr lang="en-US" sz="1170" dirty="0"/>
          </a:p>
        </p:txBody>
      </p:sp>
      <p:sp>
        <p:nvSpPr>
          <p:cNvPr id="95" name="Shape 93"/>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96" name="Text 94"/>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Nineteen displayed returns do not establish nineteen current-month measurements.</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INVENTORY</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Inventory cover - all 18 reported source values.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Days of parts in stock | Latest-filed snapshot | Reporting dates not provided per row</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13. Route bands must be confirmed for each distributor and the same reporting month.</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INVENTORY</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35</a:t>
            </a:r>
            <a:endParaRPr lang="en-US" sz="1050" dirty="0"/>
          </a:p>
        </p:txBody>
      </p:sp>
      <p:sp>
        <p:nvSpPr>
          <p:cNvPr id="11" name="Shape 9"/>
          <p:cNvSpPr/>
          <p:nvPr/>
        </p:nvSpPr>
        <p:spPr>
          <a:xfrm>
            <a:off x="594360" y="2340864"/>
            <a:ext cx="5129784" cy="365760"/>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224942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SOURCE LABEL</a:t>
            </a:r>
            <a:endParaRPr lang="en-US" sz="1000" dirty="0"/>
          </a:p>
        </p:txBody>
      </p:sp>
      <p:sp>
        <p:nvSpPr>
          <p:cNvPr id="13" name="Text 11"/>
          <p:cNvSpPr/>
          <p:nvPr/>
        </p:nvSpPr>
        <p:spPr>
          <a:xfrm>
            <a:off x="3172968" y="2427732"/>
            <a:ext cx="51206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DAYS</a:t>
            </a:r>
            <a:endParaRPr lang="en-US" sz="1000" dirty="0"/>
          </a:p>
        </p:txBody>
      </p:sp>
      <p:sp>
        <p:nvSpPr>
          <p:cNvPr id="14" name="Text 12"/>
          <p:cNvSpPr/>
          <p:nvPr/>
        </p:nvSpPr>
        <p:spPr>
          <a:xfrm>
            <a:off x="3904488" y="2427732"/>
            <a:ext cx="1709928"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READ AS</a:t>
            </a:r>
            <a:endParaRPr lang="en-US" sz="1000" dirty="0"/>
          </a:p>
        </p:txBody>
      </p:sp>
      <p:sp>
        <p:nvSpPr>
          <p:cNvPr id="15" name="Shape 13"/>
          <p:cNvSpPr/>
          <p:nvPr/>
        </p:nvSpPr>
        <p:spPr>
          <a:xfrm>
            <a:off x="594360" y="2706624"/>
            <a:ext cx="5129784" cy="310896"/>
          </a:xfrm>
          <a:prstGeom prst="rect">
            <a:avLst/>
          </a:prstGeom>
          <a:solidFill>
            <a:srgbClr val="FFFFFF"/>
          </a:solidFill>
          <a:ln w="12700">
            <a:solidFill>
              <a:srgbClr val="FFFFFF"/>
            </a:solidFill>
            <a:prstDash val="solid"/>
          </a:ln>
        </p:spPr>
        <p:txBody>
          <a:bodyPr/>
          <a:p/>
        </p:txBody>
      </p:sp>
      <p:sp>
        <p:nvSpPr>
          <p:cNvPr id="16" name="Text 14"/>
          <p:cNvSpPr/>
          <p:nvPr/>
        </p:nvSpPr>
        <p:spPr>
          <a:xfrm>
            <a:off x="704088" y="2793492"/>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MIDI</a:t>
            </a:r>
            <a:endParaRPr lang="en-US" sz="1240" dirty="0"/>
          </a:p>
        </p:txBody>
      </p:sp>
      <p:sp>
        <p:nvSpPr>
          <p:cNvPr id="17" name="Text 15"/>
          <p:cNvSpPr/>
          <p:nvPr/>
        </p:nvSpPr>
        <p:spPr>
          <a:xfrm>
            <a:off x="3172968" y="2793492"/>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322</a:t>
            </a:r>
            <a:endParaRPr lang="en-US" sz="1240" dirty="0"/>
          </a:p>
        </p:txBody>
      </p:sp>
      <p:sp>
        <p:nvSpPr>
          <p:cNvPr id="18" name="Text 16"/>
          <p:cNvSpPr/>
          <p:nvPr/>
        </p:nvSpPr>
        <p:spPr>
          <a:xfrm>
            <a:off x="3904488" y="2793492"/>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19" name="Shape 17"/>
          <p:cNvSpPr/>
          <p:nvPr/>
        </p:nvSpPr>
        <p:spPr>
          <a:xfrm>
            <a:off x="594360" y="3017520"/>
            <a:ext cx="5129784" cy="310896"/>
          </a:xfrm>
          <a:prstGeom prst="rect">
            <a:avLst/>
          </a:prstGeom>
          <a:solidFill>
            <a:srgbClr val="EEEDEA"/>
          </a:solidFill>
          <a:ln w="12700">
            <a:solidFill>
              <a:srgbClr val="EEEDEA"/>
            </a:solidFill>
            <a:prstDash val="solid"/>
          </a:ln>
        </p:spPr>
        <p:txBody>
          <a:bodyPr/>
          <a:p/>
        </p:txBody>
      </p:sp>
      <p:sp>
        <p:nvSpPr>
          <p:cNvPr id="20" name="Text 18"/>
          <p:cNvSpPr/>
          <p:nvPr/>
        </p:nvSpPr>
        <p:spPr>
          <a:xfrm>
            <a:off x="704088" y="3104388"/>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AIOS</a:t>
            </a:r>
            <a:endParaRPr lang="en-US" sz="1240" dirty="0"/>
          </a:p>
        </p:txBody>
      </p:sp>
      <p:sp>
        <p:nvSpPr>
          <p:cNvPr id="21" name="Text 19"/>
          <p:cNvSpPr/>
          <p:nvPr/>
        </p:nvSpPr>
        <p:spPr>
          <a:xfrm>
            <a:off x="3172968" y="3104388"/>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171</a:t>
            </a:r>
            <a:endParaRPr lang="en-US" sz="1240" dirty="0"/>
          </a:p>
        </p:txBody>
      </p:sp>
      <p:sp>
        <p:nvSpPr>
          <p:cNvPr id="22" name="Text 20"/>
          <p:cNvSpPr/>
          <p:nvPr/>
        </p:nvSpPr>
        <p:spPr>
          <a:xfrm>
            <a:off x="3904488" y="3104388"/>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23" name="Shape 21"/>
          <p:cNvSpPr/>
          <p:nvPr/>
        </p:nvSpPr>
        <p:spPr>
          <a:xfrm>
            <a:off x="594360" y="3328416"/>
            <a:ext cx="5129784" cy="310896"/>
          </a:xfrm>
          <a:prstGeom prst="rect">
            <a:avLst/>
          </a:prstGeom>
          <a:solidFill>
            <a:srgbClr val="FFFFFF"/>
          </a:solidFill>
          <a:ln w="12700">
            <a:solidFill>
              <a:srgbClr val="FFFFFF"/>
            </a:solidFill>
            <a:prstDash val="solid"/>
          </a:ln>
        </p:spPr>
        <p:txBody>
          <a:bodyPr/>
          <a:p/>
        </p:txBody>
      </p:sp>
      <p:sp>
        <p:nvSpPr>
          <p:cNvPr id="24" name="Text 22"/>
          <p:cNvSpPr/>
          <p:nvPr/>
        </p:nvSpPr>
        <p:spPr>
          <a:xfrm>
            <a:off x="704088" y="3415284"/>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UTI</a:t>
            </a:r>
            <a:endParaRPr lang="en-US" sz="1240" dirty="0"/>
          </a:p>
        </p:txBody>
      </p:sp>
      <p:sp>
        <p:nvSpPr>
          <p:cNvPr id="25" name="Text 23"/>
          <p:cNvSpPr/>
          <p:nvPr/>
        </p:nvSpPr>
        <p:spPr>
          <a:xfrm>
            <a:off x="3172968" y="3415284"/>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151</a:t>
            </a:r>
            <a:endParaRPr lang="en-US" sz="1240" dirty="0"/>
          </a:p>
        </p:txBody>
      </p:sp>
      <p:sp>
        <p:nvSpPr>
          <p:cNvPr id="26" name="Text 24"/>
          <p:cNvSpPr/>
          <p:nvPr/>
        </p:nvSpPr>
        <p:spPr>
          <a:xfrm>
            <a:off x="3904488" y="3415284"/>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27" name="Shape 25"/>
          <p:cNvSpPr/>
          <p:nvPr/>
        </p:nvSpPr>
        <p:spPr>
          <a:xfrm>
            <a:off x="594360" y="3639312"/>
            <a:ext cx="5129784" cy="310896"/>
          </a:xfrm>
          <a:prstGeom prst="rect">
            <a:avLst/>
          </a:prstGeom>
          <a:solidFill>
            <a:srgbClr val="EEEDEA"/>
          </a:solidFill>
          <a:ln w="12700">
            <a:solidFill>
              <a:srgbClr val="EEEDEA"/>
            </a:solidFill>
            <a:prstDash val="solid"/>
          </a:ln>
        </p:spPr>
        <p:txBody>
          <a:bodyPr/>
          <a:p/>
        </p:txBody>
      </p:sp>
      <p:sp>
        <p:nvSpPr>
          <p:cNvPr id="28" name="Text 26"/>
          <p:cNvSpPr/>
          <p:nvPr/>
        </p:nvSpPr>
        <p:spPr>
          <a:xfrm>
            <a:off x="704088" y="3726180"/>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UMI</a:t>
            </a:r>
            <a:endParaRPr lang="en-US" sz="1240" dirty="0"/>
          </a:p>
        </p:txBody>
      </p:sp>
      <p:sp>
        <p:nvSpPr>
          <p:cNvPr id="29" name="Text 27"/>
          <p:cNvSpPr/>
          <p:nvPr/>
        </p:nvSpPr>
        <p:spPr>
          <a:xfrm>
            <a:off x="3172968" y="3726180"/>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147</a:t>
            </a:r>
            <a:endParaRPr lang="en-US" sz="1240" dirty="0"/>
          </a:p>
        </p:txBody>
      </p:sp>
      <p:sp>
        <p:nvSpPr>
          <p:cNvPr id="30" name="Text 28"/>
          <p:cNvSpPr/>
          <p:nvPr/>
        </p:nvSpPr>
        <p:spPr>
          <a:xfrm>
            <a:off x="3904488" y="3726180"/>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31" name="Shape 29"/>
          <p:cNvSpPr/>
          <p:nvPr/>
        </p:nvSpPr>
        <p:spPr>
          <a:xfrm>
            <a:off x="594360" y="3950208"/>
            <a:ext cx="5129784" cy="310896"/>
          </a:xfrm>
          <a:prstGeom prst="rect">
            <a:avLst/>
          </a:prstGeom>
          <a:solidFill>
            <a:srgbClr val="FFFFFF"/>
          </a:solidFill>
          <a:ln w="12700">
            <a:solidFill>
              <a:srgbClr val="FFFFFF"/>
            </a:solidFill>
            <a:prstDash val="solid"/>
          </a:ln>
        </p:spPr>
        <p:txBody>
          <a:bodyPr/>
          <a:p/>
        </p:txBody>
      </p:sp>
      <p:sp>
        <p:nvSpPr>
          <p:cNvPr id="32" name="Text 30"/>
          <p:cNvSpPr/>
          <p:nvPr/>
        </p:nvSpPr>
        <p:spPr>
          <a:xfrm>
            <a:off x="704088" y="4037076"/>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Isuzu Rom Auto</a:t>
            </a:r>
            <a:endParaRPr lang="en-US" sz="1240" dirty="0"/>
          </a:p>
        </p:txBody>
      </p:sp>
      <p:sp>
        <p:nvSpPr>
          <p:cNvPr id="33" name="Text 31"/>
          <p:cNvSpPr/>
          <p:nvPr/>
        </p:nvSpPr>
        <p:spPr>
          <a:xfrm>
            <a:off x="3172968" y="4037076"/>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128</a:t>
            </a:r>
            <a:endParaRPr lang="en-US" sz="1240" dirty="0"/>
          </a:p>
        </p:txBody>
      </p:sp>
      <p:sp>
        <p:nvSpPr>
          <p:cNvPr id="34" name="Text 32"/>
          <p:cNvSpPr/>
          <p:nvPr/>
        </p:nvSpPr>
        <p:spPr>
          <a:xfrm>
            <a:off x="3904488" y="4037076"/>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35" name="Shape 33"/>
          <p:cNvSpPr/>
          <p:nvPr/>
        </p:nvSpPr>
        <p:spPr>
          <a:xfrm>
            <a:off x="594360" y="4261104"/>
            <a:ext cx="5129784" cy="310896"/>
          </a:xfrm>
          <a:prstGeom prst="rect">
            <a:avLst/>
          </a:prstGeom>
          <a:solidFill>
            <a:srgbClr val="EEEDEA"/>
          </a:solidFill>
          <a:ln w="12700">
            <a:solidFill>
              <a:srgbClr val="EEEDEA"/>
            </a:solidFill>
            <a:prstDash val="solid"/>
          </a:ln>
        </p:spPr>
        <p:txBody>
          <a:bodyPr/>
          <a:p/>
        </p:txBody>
      </p:sp>
      <p:sp>
        <p:nvSpPr>
          <p:cNvPr id="36" name="Text 34"/>
          <p:cNvSpPr/>
          <p:nvPr/>
        </p:nvSpPr>
        <p:spPr>
          <a:xfrm>
            <a:off x="704088" y="4347972"/>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ISD</a:t>
            </a:r>
            <a:endParaRPr lang="en-US" sz="1240" dirty="0"/>
          </a:p>
        </p:txBody>
      </p:sp>
      <p:sp>
        <p:nvSpPr>
          <p:cNvPr id="37" name="Text 35"/>
          <p:cNvSpPr/>
          <p:nvPr/>
        </p:nvSpPr>
        <p:spPr>
          <a:xfrm>
            <a:off x="3172968" y="4347972"/>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126</a:t>
            </a:r>
            <a:endParaRPr lang="en-US" sz="1240" dirty="0"/>
          </a:p>
        </p:txBody>
      </p:sp>
      <p:sp>
        <p:nvSpPr>
          <p:cNvPr id="38" name="Text 36"/>
          <p:cNvSpPr/>
          <p:nvPr/>
        </p:nvSpPr>
        <p:spPr>
          <a:xfrm>
            <a:off x="3904488" y="4347972"/>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39" name="Shape 37"/>
          <p:cNvSpPr/>
          <p:nvPr/>
        </p:nvSpPr>
        <p:spPr>
          <a:xfrm>
            <a:off x="594360" y="4572000"/>
            <a:ext cx="5129784" cy="310896"/>
          </a:xfrm>
          <a:prstGeom prst="rect">
            <a:avLst/>
          </a:prstGeom>
          <a:solidFill>
            <a:srgbClr val="FFFFFF"/>
          </a:solidFill>
          <a:ln w="12700">
            <a:solidFill>
              <a:srgbClr val="FFFFFF"/>
            </a:solidFill>
            <a:prstDash val="solid"/>
          </a:ln>
        </p:spPr>
        <p:txBody>
          <a:bodyPr/>
          <a:p/>
        </p:txBody>
      </p:sp>
      <p:sp>
        <p:nvSpPr>
          <p:cNvPr id="40" name="Text 38"/>
          <p:cNvSpPr/>
          <p:nvPr/>
        </p:nvSpPr>
        <p:spPr>
          <a:xfrm>
            <a:off x="704088" y="4658868"/>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Isuzu Ireland</a:t>
            </a:r>
            <a:endParaRPr lang="en-US" sz="1240" dirty="0"/>
          </a:p>
        </p:txBody>
      </p:sp>
      <p:sp>
        <p:nvSpPr>
          <p:cNvPr id="41" name="Text 39"/>
          <p:cNvSpPr/>
          <p:nvPr/>
        </p:nvSpPr>
        <p:spPr>
          <a:xfrm>
            <a:off x="3172968" y="4658868"/>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123</a:t>
            </a:r>
            <a:endParaRPr lang="en-US" sz="1240" dirty="0"/>
          </a:p>
        </p:txBody>
      </p:sp>
      <p:sp>
        <p:nvSpPr>
          <p:cNvPr id="42" name="Text 40"/>
          <p:cNvSpPr/>
          <p:nvPr/>
        </p:nvSpPr>
        <p:spPr>
          <a:xfrm>
            <a:off x="3904488" y="4658868"/>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43" name="Shape 41"/>
          <p:cNvSpPr/>
          <p:nvPr/>
        </p:nvSpPr>
        <p:spPr>
          <a:xfrm>
            <a:off x="594360" y="4882896"/>
            <a:ext cx="5129784" cy="310896"/>
          </a:xfrm>
          <a:prstGeom prst="rect">
            <a:avLst/>
          </a:prstGeom>
          <a:solidFill>
            <a:srgbClr val="EEEDEA"/>
          </a:solidFill>
          <a:ln w="12700">
            <a:solidFill>
              <a:srgbClr val="EEEDEA"/>
            </a:solidFill>
            <a:prstDash val="solid"/>
          </a:ln>
        </p:spPr>
        <p:txBody>
          <a:bodyPr/>
          <a:p/>
        </p:txBody>
      </p:sp>
      <p:sp>
        <p:nvSpPr>
          <p:cNvPr id="44" name="Text 42"/>
          <p:cNvSpPr/>
          <p:nvPr/>
        </p:nvSpPr>
        <p:spPr>
          <a:xfrm>
            <a:off x="704088" y="4969764"/>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ITUK</a:t>
            </a:r>
            <a:endParaRPr lang="en-US" sz="1240" dirty="0"/>
          </a:p>
        </p:txBody>
      </p:sp>
      <p:sp>
        <p:nvSpPr>
          <p:cNvPr id="45" name="Text 43"/>
          <p:cNvSpPr/>
          <p:nvPr/>
        </p:nvSpPr>
        <p:spPr>
          <a:xfrm>
            <a:off x="3172968" y="4969764"/>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121</a:t>
            </a:r>
            <a:endParaRPr lang="en-US" sz="1240" dirty="0"/>
          </a:p>
        </p:txBody>
      </p:sp>
      <p:sp>
        <p:nvSpPr>
          <p:cNvPr id="46" name="Text 44"/>
          <p:cNvSpPr/>
          <p:nvPr/>
        </p:nvSpPr>
        <p:spPr>
          <a:xfrm>
            <a:off x="3904488" y="4969764"/>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47" name="Shape 45"/>
          <p:cNvSpPr/>
          <p:nvPr/>
        </p:nvSpPr>
        <p:spPr>
          <a:xfrm>
            <a:off x="594360" y="5193792"/>
            <a:ext cx="5129784" cy="310896"/>
          </a:xfrm>
          <a:prstGeom prst="rect">
            <a:avLst/>
          </a:prstGeom>
          <a:solidFill>
            <a:srgbClr val="FFFFFF"/>
          </a:solidFill>
          <a:ln w="12700">
            <a:solidFill>
              <a:srgbClr val="FFFFFF"/>
            </a:solidFill>
            <a:prstDash val="solid"/>
          </a:ln>
        </p:spPr>
        <p:txBody>
          <a:bodyPr/>
          <a:p/>
        </p:txBody>
      </p:sp>
      <p:sp>
        <p:nvSpPr>
          <p:cNvPr id="48" name="Text 46"/>
          <p:cNvSpPr/>
          <p:nvPr/>
        </p:nvSpPr>
        <p:spPr>
          <a:xfrm>
            <a:off x="704088" y="5280660"/>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BL ehf</a:t>
            </a:r>
            <a:endParaRPr lang="en-US" sz="1240" dirty="0"/>
          </a:p>
        </p:txBody>
      </p:sp>
      <p:sp>
        <p:nvSpPr>
          <p:cNvPr id="49" name="Text 47"/>
          <p:cNvSpPr/>
          <p:nvPr/>
        </p:nvSpPr>
        <p:spPr>
          <a:xfrm>
            <a:off x="3172968" y="5280660"/>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119</a:t>
            </a:r>
            <a:endParaRPr lang="en-US" sz="1240" dirty="0"/>
          </a:p>
        </p:txBody>
      </p:sp>
      <p:sp>
        <p:nvSpPr>
          <p:cNvPr id="50" name="Text 48"/>
          <p:cNvSpPr/>
          <p:nvPr/>
        </p:nvSpPr>
        <p:spPr>
          <a:xfrm>
            <a:off x="3904488" y="5280660"/>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51" name="Shape 49"/>
          <p:cNvSpPr/>
          <p:nvPr/>
        </p:nvSpPr>
        <p:spPr>
          <a:xfrm>
            <a:off x="6254496" y="2340864"/>
            <a:ext cx="5129784" cy="365760"/>
          </a:xfrm>
          <a:prstGeom prst="rect">
            <a:avLst/>
          </a:prstGeom>
          <a:solidFill>
            <a:srgbClr val="24282C"/>
          </a:solidFill>
          <a:ln w="12700">
            <a:solidFill>
              <a:srgbClr val="24282C"/>
            </a:solidFill>
            <a:prstDash val="solid"/>
          </a:ln>
        </p:spPr>
        <p:txBody>
          <a:bodyPr/>
          <a:p/>
        </p:txBody>
      </p:sp>
      <p:sp>
        <p:nvSpPr>
          <p:cNvPr id="52" name="Text 50"/>
          <p:cNvSpPr/>
          <p:nvPr/>
        </p:nvSpPr>
        <p:spPr>
          <a:xfrm>
            <a:off x="6364224" y="2427732"/>
            <a:ext cx="224942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SOURCE LABEL</a:t>
            </a:r>
            <a:endParaRPr lang="en-US" sz="1000" dirty="0"/>
          </a:p>
        </p:txBody>
      </p:sp>
      <p:sp>
        <p:nvSpPr>
          <p:cNvPr id="53" name="Text 51"/>
          <p:cNvSpPr/>
          <p:nvPr/>
        </p:nvSpPr>
        <p:spPr>
          <a:xfrm>
            <a:off x="8833104" y="2427732"/>
            <a:ext cx="51206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DAYS</a:t>
            </a:r>
            <a:endParaRPr lang="en-US" sz="1000" dirty="0"/>
          </a:p>
        </p:txBody>
      </p:sp>
      <p:sp>
        <p:nvSpPr>
          <p:cNvPr id="54" name="Text 52"/>
          <p:cNvSpPr/>
          <p:nvPr/>
        </p:nvSpPr>
        <p:spPr>
          <a:xfrm>
            <a:off x="9564624" y="2427732"/>
            <a:ext cx="1709928"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READ AS</a:t>
            </a:r>
            <a:endParaRPr lang="en-US" sz="1000" dirty="0"/>
          </a:p>
        </p:txBody>
      </p:sp>
      <p:sp>
        <p:nvSpPr>
          <p:cNvPr id="55" name="Shape 53"/>
          <p:cNvSpPr/>
          <p:nvPr/>
        </p:nvSpPr>
        <p:spPr>
          <a:xfrm>
            <a:off x="6254496" y="2706624"/>
            <a:ext cx="5129784" cy="310896"/>
          </a:xfrm>
          <a:prstGeom prst="rect">
            <a:avLst/>
          </a:prstGeom>
          <a:solidFill>
            <a:srgbClr val="FFFFFF"/>
          </a:solidFill>
          <a:ln w="12700">
            <a:solidFill>
              <a:srgbClr val="FFFFFF"/>
            </a:solidFill>
            <a:prstDash val="solid"/>
          </a:ln>
        </p:spPr>
        <p:txBody>
          <a:bodyPr/>
          <a:p/>
        </p:txBody>
      </p:sp>
      <p:sp>
        <p:nvSpPr>
          <p:cNvPr id="56" name="Text 54"/>
          <p:cNvSpPr/>
          <p:nvPr/>
        </p:nvSpPr>
        <p:spPr>
          <a:xfrm>
            <a:off x="6364224" y="2793492"/>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GasanZammit</a:t>
            </a:r>
            <a:endParaRPr lang="en-US" sz="1240" dirty="0"/>
          </a:p>
        </p:txBody>
      </p:sp>
      <p:sp>
        <p:nvSpPr>
          <p:cNvPr id="57" name="Text 55"/>
          <p:cNvSpPr/>
          <p:nvPr/>
        </p:nvSpPr>
        <p:spPr>
          <a:xfrm>
            <a:off x="8833104" y="2793492"/>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111</a:t>
            </a:r>
            <a:endParaRPr lang="en-US" sz="1240" dirty="0"/>
          </a:p>
        </p:txBody>
      </p:sp>
      <p:sp>
        <p:nvSpPr>
          <p:cNvPr id="58" name="Text 56"/>
          <p:cNvSpPr/>
          <p:nvPr/>
        </p:nvSpPr>
        <p:spPr>
          <a:xfrm>
            <a:off x="9564624" y="2793492"/>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59" name="Shape 57"/>
          <p:cNvSpPr/>
          <p:nvPr/>
        </p:nvSpPr>
        <p:spPr>
          <a:xfrm>
            <a:off x="6254496" y="3017520"/>
            <a:ext cx="5129784" cy="310896"/>
          </a:xfrm>
          <a:prstGeom prst="rect">
            <a:avLst/>
          </a:prstGeom>
          <a:solidFill>
            <a:srgbClr val="EEEDEA"/>
          </a:solidFill>
          <a:ln w="12700">
            <a:solidFill>
              <a:srgbClr val="EEEDEA"/>
            </a:solidFill>
            <a:prstDash val="solid"/>
          </a:ln>
        </p:spPr>
        <p:txBody>
          <a:bodyPr/>
          <a:p/>
        </p:txBody>
      </p:sp>
      <p:sp>
        <p:nvSpPr>
          <p:cNvPr id="60" name="Text 58"/>
          <p:cNvSpPr/>
          <p:nvPr/>
        </p:nvSpPr>
        <p:spPr>
          <a:xfrm>
            <a:off x="6364224" y="3104388"/>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RSA</a:t>
            </a:r>
            <a:endParaRPr lang="en-US" sz="1240" dirty="0"/>
          </a:p>
        </p:txBody>
      </p:sp>
      <p:sp>
        <p:nvSpPr>
          <p:cNvPr id="61" name="Text 59"/>
          <p:cNvSpPr/>
          <p:nvPr/>
        </p:nvSpPr>
        <p:spPr>
          <a:xfrm>
            <a:off x="8833104" y="3104388"/>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99</a:t>
            </a:r>
            <a:endParaRPr lang="en-US" sz="1240" dirty="0"/>
          </a:p>
        </p:txBody>
      </p:sp>
      <p:sp>
        <p:nvSpPr>
          <p:cNvPr id="62" name="Text 60"/>
          <p:cNvSpPr/>
          <p:nvPr/>
        </p:nvSpPr>
        <p:spPr>
          <a:xfrm>
            <a:off x="9564624" y="3104388"/>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63" name="Shape 61"/>
          <p:cNvSpPr/>
          <p:nvPr/>
        </p:nvSpPr>
        <p:spPr>
          <a:xfrm>
            <a:off x="6254496" y="3328416"/>
            <a:ext cx="5129784" cy="310896"/>
          </a:xfrm>
          <a:prstGeom prst="rect">
            <a:avLst/>
          </a:prstGeom>
          <a:solidFill>
            <a:srgbClr val="FFFFFF"/>
          </a:solidFill>
          <a:ln w="12700">
            <a:solidFill>
              <a:srgbClr val="FFFFFF"/>
            </a:solidFill>
            <a:prstDash val="solid"/>
          </a:ln>
        </p:spPr>
        <p:txBody>
          <a:bodyPr/>
          <a:p/>
        </p:txBody>
      </p:sp>
      <p:sp>
        <p:nvSpPr>
          <p:cNvPr id="64" name="Text 62"/>
          <p:cNvSpPr/>
          <p:nvPr/>
        </p:nvSpPr>
        <p:spPr>
          <a:xfrm>
            <a:off x="6364224" y="3415284"/>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IUK</a:t>
            </a:r>
            <a:endParaRPr lang="en-US" sz="1240" dirty="0"/>
          </a:p>
        </p:txBody>
      </p:sp>
      <p:sp>
        <p:nvSpPr>
          <p:cNvPr id="65" name="Text 63"/>
          <p:cNvSpPr/>
          <p:nvPr/>
        </p:nvSpPr>
        <p:spPr>
          <a:xfrm>
            <a:off x="8833104" y="3415284"/>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81</a:t>
            </a:r>
            <a:endParaRPr lang="en-US" sz="1240" dirty="0"/>
          </a:p>
        </p:txBody>
      </p:sp>
      <p:sp>
        <p:nvSpPr>
          <p:cNvPr id="66" name="Text 64"/>
          <p:cNvSpPr/>
          <p:nvPr/>
        </p:nvSpPr>
        <p:spPr>
          <a:xfrm>
            <a:off x="9564624" y="3415284"/>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67" name="Shape 65"/>
          <p:cNvSpPr/>
          <p:nvPr/>
        </p:nvSpPr>
        <p:spPr>
          <a:xfrm>
            <a:off x="6254496" y="3639312"/>
            <a:ext cx="5129784" cy="310896"/>
          </a:xfrm>
          <a:prstGeom prst="rect">
            <a:avLst/>
          </a:prstGeom>
          <a:solidFill>
            <a:srgbClr val="EEEDEA"/>
          </a:solidFill>
          <a:ln w="12700">
            <a:solidFill>
              <a:srgbClr val="EEEDEA"/>
            </a:solidFill>
            <a:prstDash val="solid"/>
          </a:ln>
        </p:spPr>
        <p:txBody>
          <a:bodyPr/>
          <a:p/>
        </p:txBody>
      </p:sp>
      <p:sp>
        <p:nvSpPr>
          <p:cNvPr id="68" name="Text 66"/>
          <p:cNvSpPr/>
          <p:nvPr/>
        </p:nvSpPr>
        <p:spPr>
          <a:xfrm>
            <a:off x="6364224" y="3726180"/>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 Motors</a:t>
            </a:r>
            <a:endParaRPr lang="en-US" sz="1240" dirty="0"/>
          </a:p>
        </p:txBody>
      </p:sp>
      <p:sp>
        <p:nvSpPr>
          <p:cNvPr id="69" name="Text 67"/>
          <p:cNvSpPr/>
          <p:nvPr/>
        </p:nvSpPr>
        <p:spPr>
          <a:xfrm>
            <a:off x="8833104" y="3726180"/>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79</a:t>
            </a:r>
            <a:endParaRPr lang="en-US" sz="1240" dirty="0"/>
          </a:p>
        </p:txBody>
      </p:sp>
      <p:sp>
        <p:nvSpPr>
          <p:cNvPr id="70" name="Text 68"/>
          <p:cNvSpPr/>
          <p:nvPr/>
        </p:nvSpPr>
        <p:spPr>
          <a:xfrm>
            <a:off x="9564624" y="3726180"/>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71" name="Shape 69"/>
          <p:cNvSpPr/>
          <p:nvPr/>
        </p:nvSpPr>
        <p:spPr>
          <a:xfrm>
            <a:off x="6254496" y="3950208"/>
            <a:ext cx="5129784" cy="310896"/>
          </a:xfrm>
          <a:prstGeom prst="rect">
            <a:avLst/>
          </a:prstGeom>
          <a:solidFill>
            <a:srgbClr val="FFFFFF"/>
          </a:solidFill>
          <a:ln w="12700">
            <a:solidFill>
              <a:srgbClr val="FFFFFF"/>
            </a:solidFill>
            <a:prstDash val="solid"/>
          </a:ln>
        </p:spPr>
        <p:txBody>
          <a:bodyPr/>
          <a:p/>
        </p:txBody>
      </p:sp>
      <p:sp>
        <p:nvSpPr>
          <p:cNvPr id="72" name="Text 70"/>
          <p:cNvSpPr/>
          <p:nvPr/>
        </p:nvSpPr>
        <p:spPr>
          <a:xfrm>
            <a:off x="6364224" y="4037076"/>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IBX (BENELUX)</a:t>
            </a:r>
            <a:endParaRPr lang="en-US" sz="1240" dirty="0"/>
          </a:p>
        </p:txBody>
      </p:sp>
      <p:sp>
        <p:nvSpPr>
          <p:cNvPr id="73" name="Text 71"/>
          <p:cNvSpPr/>
          <p:nvPr/>
        </p:nvSpPr>
        <p:spPr>
          <a:xfrm>
            <a:off x="8833104" y="4037076"/>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63</a:t>
            </a:r>
            <a:endParaRPr lang="en-US" sz="1240" dirty="0"/>
          </a:p>
        </p:txBody>
      </p:sp>
      <p:sp>
        <p:nvSpPr>
          <p:cNvPr id="74" name="Text 72"/>
          <p:cNvSpPr/>
          <p:nvPr/>
        </p:nvSpPr>
        <p:spPr>
          <a:xfrm>
            <a:off x="9564624" y="4037076"/>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75" name="Shape 73"/>
          <p:cNvSpPr/>
          <p:nvPr/>
        </p:nvSpPr>
        <p:spPr>
          <a:xfrm>
            <a:off x="6254496" y="4261104"/>
            <a:ext cx="5129784" cy="310896"/>
          </a:xfrm>
          <a:prstGeom prst="rect">
            <a:avLst/>
          </a:prstGeom>
          <a:solidFill>
            <a:srgbClr val="EEEDEA"/>
          </a:solidFill>
          <a:ln w="12700">
            <a:solidFill>
              <a:srgbClr val="EEEDEA"/>
            </a:solidFill>
            <a:prstDash val="solid"/>
          </a:ln>
        </p:spPr>
        <p:txBody>
          <a:bodyPr/>
          <a:p/>
        </p:txBody>
      </p:sp>
      <p:sp>
        <p:nvSpPr>
          <p:cNvPr id="76" name="Text 74"/>
          <p:cNvSpPr/>
          <p:nvPr/>
        </p:nvSpPr>
        <p:spPr>
          <a:xfrm>
            <a:off x="6364224" y="4347972"/>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Petros Petropoulos</a:t>
            </a:r>
            <a:endParaRPr lang="en-US" sz="1240" dirty="0"/>
          </a:p>
        </p:txBody>
      </p:sp>
      <p:sp>
        <p:nvSpPr>
          <p:cNvPr id="77" name="Text 75"/>
          <p:cNvSpPr/>
          <p:nvPr/>
        </p:nvSpPr>
        <p:spPr>
          <a:xfrm>
            <a:off x="8833104" y="4347972"/>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60</a:t>
            </a:r>
            <a:endParaRPr lang="en-US" sz="1240" dirty="0"/>
          </a:p>
        </p:txBody>
      </p:sp>
      <p:sp>
        <p:nvSpPr>
          <p:cNvPr id="78" name="Text 76"/>
          <p:cNvSpPr/>
          <p:nvPr/>
        </p:nvSpPr>
        <p:spPr>
          <a:xfrm>
            <a:off x="9564624" y="4347972"/>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79" name="Shape 77"/>
          <p:cNvSpPr/>
          <p:nvPr/>
        </p:nvSpPr>
        <p:spPr>
          <a:xfrm>
            <a:off x="6254496" y="4572000"/>
            <a:ext cx="5129784" cy="310896"/>
          </a:xfrm>
          <a:prstGeom prst="rect">
            <a:avLst/>
          </a:prstGeom>
          <a:solidFill>
            <a:srgbClr val="FFFFFF"/>
          </a:solidFill>
          <a:ln w="12700">
            <a:solidFill>
              <a:srgbClr val="FFFFFF"/>
            </a:solidFill>
            <a:prstDash val="solid"/>
          </a:ln>
        </p:spPr>
        <p:txBody>
          <a:bodyPr/>
          <a:p/>
        </p:txBody>
      </p:sp>
      <p:sp>
        <p:nvSpPr>
          <p:cNvPr id="80" name="Text 78"/>
          <p:cNvSpPr/>
          <p:nvPr/>
        </p:nvSpPr>
        <p:spPr>
          <a:xfrm>
            <a:off x="6364224" y="4658868"/>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Isuzu Sverige</a:t>
            </a:r>
            <a:endParaRPr lang="en-US" sz="1240" dirty="0"/>
          </a:p>
        </p:txBody>
      </p:sp>
      <p:sp>
        <p:nvSpPr>
          <p:cNvPr id="81" name="Text 79"/>
          <p:cNvSpPr/>
          <p:nvPr/>
        </p:nvSpPr>
        <p:spPr>
          <a:xfrm>
            <a:off x="8833104" y="4658868"/>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48</a:t>
            </a:r>
            <a:endParaRPr lang="en-US" sz="1240" dirty="0"/>
          </a:p>
        </p:txBody>
      </p:sp>
      <p:sp>
        <p:nvSpPr>
          <p:cNvPr id="82" name="Text 80"/>
          <p:cNvSpPr/>
          <p:nvPr/>
        </p:nvSpPr>
        <p:spPr>
          <a:xfrm>
            <a:off x="9564624" y="4658868"/>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83" name="Shape 81"/>
          <p:cNvSpPr/>
          <p:nvPr/>
        </p:nvSpPr>
        <p:spPr>
          <a:xfrm>
            <a:off x="6254496" y="4882896"/>
            <a:ext cx="5129784" cy="310896"/>
          </a:xfrm>
          <a:prstGeom prst="rect">
            <a:avLst/>
          </a:prstGeom>
          <a:solidFill>
            <a:srgbClr val="EEEDEA"/>
          </a:solidFill>
          <a:ln w="12700">
            <a:solidFill>
              <a:srgbClr val="EEEDEA"/>
            </a:solidFill>
            <a:prstDash val="solid"/>
          </a:ln>
        </p:spPr>
        <p:txBody>
          <a:bodyPr/>
          <a:p/>
        </p:txBody>
      </p:sp>
      <p:sp>
        <p:nvSpPr>
          <p:cNvPr id="84" name="Text 82"/>
          <p:cNvSpPr/>
          <p:nvPr/>
        </p:nvSpPr>
        <p:spPr>
          <a:xfrm>
            <a:off x="6364224" y="4969764"/>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IMF</a:t>
            </a:r>
            <a:endParaRPr lang="en-US" sz="1240" dirty="0"/>
          </a:p>
        </p:txBody>
      </p:sp>
      <p:sp>
        <p:nvSpPr>
          <p:cNvPr id="85" name="Text 83"/>
          <p:cNvSpPr/>
          <p:nvPr/>
        </p:nvSpPr>
        <p:spPr>
          <a:xfrm>
            <a:off x="8833104" y="4969764"/>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32</a:t>
            </a:r>
            <a:endParaRPr lang="en-US" sz="1240" dirty="0"/>
          </a:p>
        </p:txBody>
      </p:sp>
      <p:sp>
        <p:nvSpPr>
          <p:cNvPr id="86" name="Text 84"/>
          <p:cNvSpPr/>
          <p:nvPr/>
        </p:nvSpPr>
        <p:spPr>
          <a:xfrm>
            <a:off x="9564624" y="4969764"/>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87" name="Shape 85"/>
          <p:cNvSpPr/>
          <p:nvPr/>
        </p:nvSpPr>
        <p:spPr>
          <a:xfrm>
            <a:off x="6254496" y="5193792"/>
            <a:ext cx="5129784" cy="310896"/>
          </a:xfrm>
          <a:prstGeom prst="rect">
            <a:avLst/>
          </a:prstGeom>
          <a:solidFill>
            <a:srgbClr val="FFFFFF"/>
          </a:solidFill>
          <a:ln w="12700">
            <a:solidFill>
              <a:srgbClr val="FFFFFF"/>
            </a:solidFill>
            <a:prstDash val="solid"/>
          </a:ln>
        </p:spPr>
        <p:txBody>
          <a:bodyPr/>
          <a:p/>
        </p:txBody>
      </p:sp>
      <p:sp>
        <p:nvSpPr>
          <p:cNvPr id="88" name="Text 86"/>
          <p:cNvSpPr/>
          <p:nvPr/>
        </p:nvSpPr>
        <p:spPr>
          <a:xfrm>
            <a:off x="6364224" y="5280660"/>
            <a:ext cx="2249424" cy="19202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KIMA</a:t>
            </a:r>
            <a:endParaRPr lang="en-US" sz="1240" dirty="0"/>
          </a:p>
        </p:txBody>
      </p:sp>
      <p:sp>
        <p:nvSpPr>
          <p:cNvPr id="89" name="Text 87"/>
          <p:cNvSpPr/>
          <p:nvPr/>
        </p:nvSpPr>
        <p:spPr>
          <a:xfrm>
            <a:off x="8833104" y="5280660"/>
            <a:ext cx="512064"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30</a:t>
            </a:r>
            <a:endParaRPr lang="en-US" sz="1240" dirty="0"/>
          </a:p>
        </p:txBody>
      </p:sp>
      <p:sp>
        <p:nvSpPr>
          <p:cNvPr id="90" name="Text 88"/>
          <p:cNvSpPr/>
          <p:nvPr/>
        </p:nvSpPr>
        <p:spPr>
          <a:xfrm>
            <a:off x="9564624" y="5280660"/>
            <a:ext cx="1709928" cy="19202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Historical return</a:t>
            </a:r>
            <a:endParaRPr lang="en-US" sz="1240" dirty="0"/>
          </a:p>
        </p:txBody>
      </p:sp>
      <p:sp>
        <p:nvSpPr>
          <p:cNvPr id="91" name="Shape 8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92" name="Text 9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Source bands: A 60-75 days; B 75-90; C sea freight 90-120. They are not universal thresholds.</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URGENCY</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Urgent-order share - keep the value denominator explicit.</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Fiscal 2026 | Share of matched billing value | Printed source values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14-15. The original urgent category is VOR/RUSH; full order-code reconciliation is open.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URGENCY</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36</a:t>
            </a:r>
            <a:endParaRPr lang="en-US" sz="1050" dirty="0"/>
          </a:p>
        </p:txBody>
      </p:sp>
      <p:sp>
        <p:nvSpPr>
          <p:cNvPr id="11" name="Shape 9"/>
          <p:cNvSpPr/>
          <p:nvPr/>
        </p:nvSpPr>
        <p:spPr>
          <a:xfrm>
            <a:off x="594360" y="2340864"/>
            <a:ext cx="5129784" cy="365760"/>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3063240" cy="256032"/>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SOURCE LABEL</a:t>
            </a:r>
            <a:endParaRPr lang="en-US" sz="1040" dirty="0"/>
          </a:p>
        </p:txBody>
      </p:sp>
      <p:sp>
        <p:nvSpPr>
          <p:cNvPr id="13" name="Text 11"/>
          <p:cNvSpPr/>
          <p:nvPr/>
        </p:nvSpPr>
        <p:spPr>
          <a:xfrm>
            <a:off x="3986784" y="2427732"/>
            <a:ext cx="1627632" cy="256032"/>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URGENT SHARE</a:t>
            </a:r>
            <a:endParaRPr lang="en-US" sz="1040" dirty="0"/>
          </a:p>
        </p:txBody>
      </p:sp>
      <p:sp>
        <p:nvSpPr>
          <p:cNvPr id="14" name="Shape 12"/>
          <p:cNvSpPr/>
          <p:nvPr/>
        </p:nvSpPr>
        <p:spPr>
          <a:xfrm>
            <a:off x="594360" y="2706624"/>
            <a:ext cx="5129784" cy="310896"/>
          </a:xfrm>
          <a:prstGeom prst="rect">
            <a:avLst/>
          </a:prstGeom>
          <a:solidFill>
            <a:srgbClr val="FFFFFF"/>
          </a:solidFill>
          <a:ln w="12700">
            <a:solidFill>
              <a:srgbClr val="FFFFFF"/>
            </a:solidFill>
            <a:prstDash val="solid"/>
          </a:ln>
        </p:spPr>
        <p:txBody>
          <a:bodyPr/>
          <a:p/>
        </p:txBody>
      </p:sp>
      <p:sp>
        <p:nvSpPr>
          <p:cNvPr id="15" name="Text 13"/>
          <p:cNvSpPr/>
          <p:nvPr/>
        </p:nvSpPr>
        <p:spPr>
          <a:xfrm>
            <a:off x="704088" y="2778760"/>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Iceland</a:t>
            </a:r>
            <a:endParaRPr lang="en-US" sz="1280" dirty="0"/>
          </a:p>
        </p:txBody>
      </p:sp>
      <p:sp>
        <p:nvSpPr>
          <p:cNvPr id="16" name="Text 14"/>
          <p:cNvSpPr/>
          <p:nvPr/>
        </p:nvSpPr>
        <p:spPr>
          <a:xfrm>
            <a:off x="3986784" y="2778760"/>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100.0%</a:t>
            </a:r>
            <a:endParaRPr lang="en-US" sz="1280" dirty="0"/>
          </a:p>
        </p:txBody>
      </p:sp>
      <p:sp>
        <p:nvSpPr>
          <p:cNvPr id="17" name="Shape 15"/>
          <p:cNvSpPr/>
          <p:nvPr/>
        </p:nvSpPr>
        <p:spPr>
          <a:xfrm>
            <a:off x="594360" y="3017520"/>
            <a:ext cx="5129784" cy="310896"/>
          </a:xfrm>
          <a:prstGeom prst="rect">
            <a:avLst/>
          </a:prstGeom>
          <a:solidFill>
            <a:srgbClr val="EEEDEA"/>
          </a:solidFill>
          <a:ln w="12700">
            <a:solidFill>
              <a:srgbClr val="EEEDEA"/>
            </a:solidFill>
            <a:prstDash val="solid"/>
          </a:ln>
        </p:spPr>
        <p:txBody>
          <a:bodyPr/>
          <a:p/>
        </p:txBody>
      </p:sp>
      <p:sp>
        <p:nvSpPr>
          <p:cNvPr id="18" name="Text 16"/>
          <p:cNvSpPr/>
          <p:nvPr/>
        </p:nvSpPr>
        <p:spPr>
          <a:xfrm>
            <a:off x="704088" y="3089656"/>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Romania</a:t>
            </a:r>
            <a:endParaRPr lang="en-US" sz="1280" dirty="0"/>
          </a:p>
        </p:txBody>
      </p:sp>
      <p:sp>
        <p:nvSpPr>
          <p:cNvPr id="19" name="Text 17"/>
          <p:cNvSpPr/>
          <p:nvPr/>
        </p:nvSpPr>
        <p:spPr>
          <a:xfrm>
            <a:off x="3986784" y="3089656"/>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97.6%</a:t>
            </a:r>
            <a:endParaRPr lang="en-US" sz="1280" dirty="0"/>
          </a:p>
        </p:txBody>
      </p:sp>
      <p:sp>
        <p:nvSpPr>
          <p:cNvPr id="20" name="Shape 18"/>
          <p:cNvSpPr/>
          <p:nvPr/>
        </p:nvSpPr>
        <p:spPr>
          <a:xfrm>
            <a:off x="594360" y="3328416"/>
            <a:ext cx="5129784" cy="310896"/>
          </a:xfrm>
          <a:prstGeom prst="rect">
            <a:avLst/>
          </a:prstGeom>
          <a:solidFill>
            <a:srgbClr val="FFFFFF"/>
          </a:solidFill>
          <a:ln w="12700">
            <a:solidFill>
              <a:srgbClr val="FFFFFF"/>
            </a:solidFill>
            <a:prstDash val="solid"/>
          </a:ln>
        </p:spPr>
        <p:txBody>
          <a:bodyPr/>
          <a:p/>
        </p:txBody>
      </p:sp>
      <p:sp>
        <p:nvSpPr>
          <p:cNvPr id="21" name="Text 19"/>
          <p:cNvSpPr/>
          <p:nvPr/>
        </p:nvSpPr>
        <p:spPr>
          <a:xfrm>
            <a:off x="704088" y="3400552"/>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Greece</a:t>
            </a:r>
            <a:endParaRPr lang="en-US" sz="1280" dirty="0"/>
          </a:p>
        </p:txBody>
      </p:sp>
      <p:sp>
        <p:nvSpPr>
          <p:cNvPr id="22" name="Text 20"/>
          <p:cNvSpPr/>
          <p:nvPr/>
        </p:nvSpPr>
        <p:spPr>
          <a:xfrm>
            <a:off x="3986784" y="3400552"/>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63.0%</a:t>
            </a:r>
            <a:endParaRPr lang="en-US" sz="1280" dirty="0"/>
          </a:p>
        </p:txBody>
      </p:sp>
      <p:sp>
        <p:nvSpPr>
          <p:cNvPr id="23" name="Shape 21"/>
          <p:cNvSpPr/>
          <p:nvPr/>
        </p:nvSpPr>
        <p:spPr>
          <a:xfrm>
            <a:off x="594360" y="3639312"/>
            <a:ext cx="5129784" cy="310896"/>
          </a:xfrm>
          <a:prstGeom prst="rect">
            <a:avLst/>
          </a:prstGeom>
          <a:solidFill>
            <a:srgbClr val="EEEDEA"/>
          </a:solidFill>
          <a:ln w="12700">
            <a:solidFill>
              <a:srgbClr val="EEEDEA"/>
            </a:solidFill>
            <a:prstDash val="solid"/>
          </a:ln>
        </p:spPr>
        <p:txBody>
          <a:bodyPr/>
          <a:p/>
        </p:txBody>
      </p:sp>
      <p:sp>
        <p:nvSpPr>
          <p:cNvPr id="24" name="Text 22"/>
          <p:cNvSpPr/>
          <p:nvPr/>
        </p:nvSpPr>
        <p:spPr>
          <a:xfrm>
            <a:off x="704088" y="3711448"/>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Belgium</a:t>
            </a:r>
            <a:endParaRPr lang="en-US" sz="1280" dirty="0"/>
          </a:p>
        </p:txBody>
      </p:sp>
      <p:sp>
        <p:nvSpPr>
          <p:cNvPr id="25" name="Text 23"/>
          <p:cNvSpPr/>
          <p:nvPr/>
        </p:nvSpPr>
        <p:spPr>
          <a:xfrm>
            <a:off x="3986784" y="3711448"/>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47.0%</a:t>
            </a:r>
            <a:endParaRPr lang="en-US" sz="1280" dirty="0"/>
          </a:p>
        </p:txBody>
      </p:sp>
      <p:sp>
        <p:nvSpPr>
          <p:cNvPr id="26" name="Shape 24"/>
          <p:cNvSpPr/>
          <p:nvPr/>
        </p:nvSpPr>
        <p:spPr>
          <a:xfrm>
            <a:off x="594360" y="3950208"/>
            <a:ext cx="5129784" cy="310896"/>
          </a:xfrm>
          <a:prstGeom prst="rect">
            <a:avLst/>
          </a:prstGeom>
          <a:solidFill>
            <a:srgbClr val="FFFFFF"/>
          </a:solidFill>
          <a:ln w="12700">
            <a:solidFill>
              <a:srgbClr val="FFFFFF"/>
            </a:solidFill>
            <a:prstDash val="solid"/>
          </a:ln>
        </p:spPr>
        <p:txBody>
          <a:bodyPr/>
          <a:p/>
        </p:txBody>
      </p:sp>
      <p:sp>
        <p:nvSpPr>
          <p:cNvPr id="27" name="Text 25"/>
          <p:cNvSpPr/>
          <p:nvPr/>
        </p:nvSpPr>
        <p:spPr>
          <a:xfrm>
            <a:off x="704088" y="4022344"/>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Cyprus</a:t>
            </a:r>
            <a:endParaRPr lang="en-US" sz="1280" dirty="0"/>
          </a:p>
        </p:txBody>
      </p:sp>
      <p:sp>
        <p:nvSpPr>
          <p:cNvPr id="28" name="Text 26"/>
          <p:cNvSpPr/>
          <p:nvPr/>
        </p:nvSpPr>
        <p:spPr>
          <a:xfrm>
            <a:off x="3986784" y="4022344"/>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39.7%</a:t>
            </a:r>
            <a:endParaRPr lang="en-US" sz="1280" dirty="0"/>
          </a:p>
        </p:txBody>
      </p:sp>
      <p:sp>
        <p:nvSpPr>
          <p:cNvPr id="29" name="Shape 27"/>
          <p:cNvSpPr/>
          <p:nvPr/>
        </p:nvSpPr>
        <p:spPr>
          <a:xfrm>
            <a:off x="594360" y="4261104"/>
            <a:ext cx="5129784" cy="310896"/>
          </a:xfrm>
          <a:prstGeom prst="rect">
            <a:avLst/>
          </a:prstGeom>
          <a:solidFill>
            <a:srgbClr val="EEEDEA"/>
          </a:solidFill>
          <a:ln w="12700">
            <a:solidFill>
              <a:srgbClr val="EEEDEA"/>
            </a:solidFill>
            <a:prstDash val="solid"/>
          </a:ln>
        </p:spPr>
        <p:txBody>
          <a:bodyPr/>
          <a:p/>
        </p:txBody>
      </p:sp>
      <p:sp>
        <p:nvSpPr>
          <p:cNvPr id="30" name="Text 28"/>
          <p:cNvSpPr/>
          <p:nvPr/>
        </p:nvSpPr>
        <p:spPr>
          <a:xfrm>
            <a:off x="704088" y="4333240"/>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Denmark</a:t>
            </a:r>
            <a:endParaRPr lang="en-US" sz="1280" dirty="0"/>
          </a:p>
        </p:txBody>
      </p:sp>
      <p:sp>
        <p:nvSpPr>
          <p:cNvPr id="31" name="Text 29"/>
          <p:cNvSpPr/>
          <p:nvPr/>
        </p:nvSpPr>
        <p:spPr>
          <a:xfrm>
            <a:off x="3986784" y="4333240"/>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35.3%</a:t>
            </a:r>
            <a:endParaRPr lang="en-US" sz="1280" dirty="0"/>
          </a:p>
        </p:txBody>
      </p:sp>
      <p:sp>
        <p:nvSpPr>
          <p:cNvPr id="32" name="Shape 30"/>
          <p:cNvSpPr/>
          <p:nvPr/>
        </p:nvSpPr>
        <p:spPr>
          <a:xfrm>
            <a:off x="594360" y="4572000"/>
            <a:ext cx="5129784" cy="310896"/>
          </a:xfrm>
          <a:prstGeom prst="rect">
            <a:avLst/>
          </a:prstGeom>
          <a:solidFill>
            <a:srgbClr val="FFFFFF"/>
          </a:solidFill>
          <a:ln w="12700">
            <a:solidFill>
              <a:srgbClr val="FFFFFF"/>
            </a:solidFill>
            <a:prstDash val="solid"/>
          </a:ln>
        </p:spPr>
        <p:txBody>
          <a:bodyPr/>
          <a:p/>
        </p:txBody>
      </p:sp>
      <p:sp>
        <p:nvSpPr>
          <p:cNvPr id="33" name="Text 31"/>
          <p:cNvSpPr/>
          <p:nvPr/>
        </p:nvSpPr>
        <p:spPr>
          <a:xfrm>
            <a:off x="704088" y="4644136"/>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Germany</a:t>
            </a:r>
            <a:endParaRPr lang="en-US" sz="1280" dirty="0"/>
          </a:p>
        </p:txBody>
      </p:sp>
      <p:sp>
        <p:nvSpPr>
          <p:cNvPr id="34" name="Text 32"/>
          <p:cNvSpPr/>
          <p:nvPr/>
        </p:nvSpPr>
        <p:spPr>
          <a:xfrm>
            <a:off x="3986784" y="4644136"/>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32.4%</a:t>
            </a:r>
            <a:endParaRPr lang="en-US" sz="1280" dirty="0"/>
          </a:p>
        </p:txBody>
      </p:sp>
      <p:sp>
        <p:nvSpPr>
          <p:cNvPr id="35" name="Shape 33"/>
          <p:cNvSpPr/>
          <p:nvPr/>
        </p:nvSpPr>
        <p:spPr>
          <a:xfrm>
            <a:off x="594360" y="4882896"/>
            <a:ext cx="5129784" cy="310896"/>
          </a:xfrm>
          <a:prstGeom prst="rect">
            <a:avLst/>
          </a:prstGeom>
          <a:solidFill>
            <a:srgbClr val="EEEDEA"/>
          </a:solidFill>
          <a:ln w="12700">
            <a:solidFill>
              <a:srgbClr val="EEEDEA"/>
            </a:solidFill>
            <a:prstDash val="solid"/>
          </a:ln>
        </p:spPr>
        <p:txBody>
          <a:bodyPr/>
          <a:p/>
        </p:txBody>
      </p:sp>
      <p:sp>
        <p:nvSpPr>
          <p:cNvPr id="36" name="Text 34"/>
          <p:cNvSpPr/>
          <p:nvPr/>
        </p:nvSpPr>
        <p:spPr>
          <a:xfrm>
            <a:off x="704088" y="4955032"/>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Sweden</a:t>
            </a:r>
            <a:endParaRPr lang="en-US" sz="1280" dirty="0"/>
          </a:p>
        </p:txBody>
      </p:sp>
      <p:sp>
        <p:nvSpPr>
          <p:cNvPr id="37" name="Text 35"/>
          <p:cNvSpPr/>
          <p:nvPr/>
        </p:nvSpPr>
        <p:spPr>
          <a:xfrm>
            <a:off x="3986784" y="4955032"/>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16.4%</a:t>
            </a:r>
            <a:endParaRPr lang="en-US" sz="1280" dirty="0"/>
          </a:p>
        </p:txBody>
      </p:sp>
      <p:sp>
        <p:nvSpPr>
          <p:cNvPr id="38" name="Shape 36"/>
          <p:cNvSpPr/>
          <p:nvPr/>
        </p:nvSpPr>
        <p:spPr>
          <a:xfrm>
            <a:off x="594360" y="5193792"/>
            <a:ext cx="5129784" cy="310896"/>
          </a:xfrm>
          <a:prstGeom prst="rect">
            <a:avLst/>
          </a:prstGeom>
          <a:solidFill>
            <a:srgbClr val="FFFFFF"/>
          </a:solidFill>
          <a:ln w="12700">
            <a:solidFill>
              <a:srgbClr val="FFFFFF"/>
            </a:solidFill>
            <a:prstDash val="solid"/>
          </a:ln>
        </p:spPr>
        <p:txBody>
          <a:bodyPr/>
          <a:p/>
        </p:txBody>
      </p:sp>
      <p:sp>
        <p:nvSpPr>
          <p:cNvPr id="39" name="Text 37"/>
          <p:cNvSpPr/>
          <p:nvPr/>
        </p:nvSpPr>
        <p:spPr>
          <a:xfrm>
            <a:off x="704088" y="5265928"/>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Hungary</a:t>
            </a:r>
            <a:endParaRPr lang="en-US" sz="1280" dirty="0"/>
          </a:p>
        </p:txBody>
      </p:sp>
      <p:sp>
        <p:nvSpPr>
          <p:cNvPr id="40" name="Text 38"/>
          <p:cNvSpPr/>
          <p:nvPr/>
        </p:nvSpPr>
        <p:spPr>
          <a:xfrm>
            <a:off x="3986784" y="5265928"/>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15.2%</a:t>
            </a:r>
            <a:endParaRPr lang="en-US" sz="1280" dirty="0"/>
          </a:p>
        </p:txBody>
      </p:sp>
      <p:sp>
        <p:nvSpPr>
          <p:cNvPr id="41" name="Shape 39"/>
          <p:cNvSpPr/>
          <p:nvPr/>
        </p:nvSpPr>
        <p:spPr>
          <a:xfrm>
            <a:off x="6254496" y="2340864"/>
            <a:ext cx="5129784" cy="365760"/>
          </a:xfrm>
          <a:prstGeom prst="rect">
            <a:avLst/>
          </a:prstGeom>
          <a:solidFill>
            <a:srgbClr val="24282C"/>
          </a:solidFill>
          <a:ln w="12700">
            <a:solidFill>
              <a:srgbClr val="24282C"/>
            </a:solidFill>
            <a:prstDash val="solid"/>
          </a:ln>
        </p:spPr>
        <p:txBody>
          <a:bodyPr/>
          <a:p/>
        </p:txBody>
      </p:sp>
      <p:sp>
        <p:nvSpPr>
          <p:cNvPr id="42" name="Text 40"/>
          <p:cNvSpPr/>
          <p:nvPr/>
        </p:nvSpPr>
        <p:spPr>
          <a:xfrm>
            <a:off x="6364224" y="2427732"/>
            <a:ext cx="3063240" cy="256032"/>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SOURCE LABEL</a:t>
            </a:r>
            <a:endParaRPr lang="en-US" sz="1040" dirty="0"/>
          </a:p>
        </p:txBody>
      </p:sp>
      <p:sp>
        <p:nvSpPr>
          <p:cNvPr id="43" name="Text 41"/>
          <p:cNvSpPr/>
          <p:nvPr/>
        </p:nvSpPr>
        <p:spPr>
          <a:xfrm>
            <a:off x="9646920" y="2427732"/>
            <a:ext cx="1627632" cy="256032"/>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URGENT SHARE</a:t>
            </a:r>
            <a:endParaRPr lang="en-US" sz="1040" dirty="0"/>
          </a:p>
        </p:txBody>
      </p:sp>
      <p:sp>
        <p:nvSpPr>
          <p:cNvPr id="44" name="Shape 42"/>
          <p:cNvSpPr/>
          <p:nvPr/>
        </p:nvSpPr>
        <p:spPr>
          <a:xfrm>
            <a:off x="6254496" y="2706624"/>
            <a:ext cx="5129784" cy="310896"/>
          </a:xfrm>
          <a:prstGeom prst="rect">
            <a:avLst/>
          </a:prstGeom>
          <a:solidFill>
            <a:srgbClr val="FFFFFF"/>
          </a:solidFill>
          <a:ln w="12700">
            <a:solidFill>
              <a:srgbClr val="FFFFFF"/>
            </a:solidFill>
            <a:prstDash val="solid"/>
          </a:ln>
        </p:spPr>
        <p:txBody>
          <a:bodyPr/>
          <a:p/>
        </p:txBody>
      </p:sp>
      <p:sp>
        <p:nvSpPr>
          <p:cNvPr id="45" name="Text 43"/>
          <p:cNvSpPr/>
          <p:nvPr/>
        </p:nvSpPr>
        <p:spPr>
          <a:xfrm>
            <a:off x="6364224" y="2778760"/>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Portugal</a:t>
            </a:r>
            <a:endParaRPr lang="en-US" sz="1280" dirty="0"/>
          </a:p>
        </p:txBody>
      </p:sp>
      <p:sp>
        <p:nvSpPr>
          <p:cNvPr id="46" name="Text 44"/>
          <p:cNvSpPr/>
          <p:nvPr/>
        </p:nvSpPr>
        <p:spPr>
          <a:xfrm>
            <a:off x="9646920" y="2778760"/>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14.8%</a:t>
            </a:r>
            <a:endParaRPr lang="en-US" sz="1280" dirty="0"/>
          </a:p>
        </p:txBody>
      </p:sp>
      <p:sp>
        <p:nvSpPr>
          <p:cNvPr id="47" name="Shape 45"/>
          <p:cNvSpPr/>
          <p:nvPr/>
        </p:nvSpPr>
        <p:spPr>
          <a:xfrm>
            <a:off x="6254496" y="3017520"/>
            <a:ext cx="5129784" cy="310896"/>
          </a:xfrm>
          <a:prstGeom prst="rect">
            <a:avLst/>
          </a:prstGeom>
          <a:solidFill>
            <a:srgbClr val="EEEDEA"/>
          </a:solidFill>
          <a:ln w="12700">
            <a:solidFill>
              <a:srgbClr val="EEEDEA"/>
            </a:solidFill>
            <a:prstDash val="solid"/>
          </a:ln>
        </p:spPr>
        <p:txBody>
          <a:bodyPr/>
          <a:p/>
        </p:txBody>
      </p:sp>
      <p:sp>
        <p:nvSpPr>
          <p:cNvPr id="48" name="Text 46"/>
          <p:cNvSpPr/>
          <p:nvPr/>
        </p:nvSpPr>
        <p:spPr>
          <a:xfrm>
            <a:off x="6364224" y="3089656"/>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UTI (Israel)</a:t>
            </a:r>
            <a:endParaRPr lang="en-US" sz="1280" dirty="0"/>
          </a:p>
        </p:txBody>
      </p:sp>
      <p:sp>
        <p:nvSpPr>
          <p:cNvPr id="49" name="Text 47"/>
          <p:cNvSpPr/>
          <p:nvPr/>
        </p:nvSpPr>
        <p:spPr>
          <a:xfrm>
            <a:off x="9646920" y="3089656"/>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12.8%</a:t>
            </a:r>
            <a:endParaRPr lang="en-US" sz="1280" dirty="0"/>
          </a:p>
        </p:txBody>
      </p:sp>
      <p:sp>
        <p:nvSpPr>
          <p:cNvPr id="50" name="Shape 48"/>
          <p:cNvSpPr/>
          <p:nvPr/>
        </p:nvSpPr>
        <p:spPr>
          <a:xfrm>
            <a:off x="6254496" y="3328416"/>
            <a:ext cx="5129784" cy="310896"/>
          </a:xfrm>
          <a:prstGeom prst="rect">
            <a:avLst/>
          </a:prstGeom>
          <a:solidFill>
            <a:srgbClr val="FFFFFF"/>
          </a:solidFill>
          <a:ln w="12700">
            <a:solidFill>
              <a:srgbClr val="FFFFFF"/>
            </a:solidFill>
            <a:prstDash val="solid"/>
          </a:ln>
        </p:spPr>
        <p:txBody>
          <a:bodyPr/>
          <a:p/>
        </p:txBody>
      </p:sp>
      <p:sp>
        <p:nvSpPr>
          <p:cNvPr id="51" name="Text 49"/>
          <p:cNvSpPr/>
          <p:nvPr/>
        </p:nvSpPr>
        <p:spPr>
          <a:xfrm>
            <a:off x="6364224" y="3400552"/>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ITUK</a:t>
            </a:r>
            <a:endParaRPr lang="en-US" sz="1280" dirty="0"/>
          </a:p>
        </p:txBody>
      </p:sp>
      <p:sp>
        <p:nvSpPr>
          <p:cNvPr id="52" name="Text 50"/>
          <p:cNvSpPr/>
          <p:nvPr/>
        </p:nvSpPr>
        <p:spPr>
          <a:xfrm>
            <a:off x="9646920" y="3400552"/>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12.1%</a:t>
            </a:r>
            <a:endParaRPr lang="en-US" sz="1280" dirty="0"/>
          </a:p>
        </p:txBody>
      </p:sp>
      <p:sp>
        <p:nvSpPr>
          <p:cNvPr id="53" name="Shape 51"/>
          <p:cNvSpPr/>
          <p:nvPr/>
        </p:nvSpPr>
        <p:spPr>
          <a:xfrm>
            <a:off x="6254496" y="3639312"/>
            <a:ext cx="5129784" cy="310896"/>
          </a:xfrm>
          <a:prstGeom prst="rect">
            <a:avLst/>
          </a:prstGeom>
          <a:solidFill>
            <a:srgbClr val="EEEDEA"/>
          </a:solidFill>
          <a:ln w="12700">
            <a:solidFill>
              <a:srgbClr val="EEEDEA"/>
            </a:solidFill>
            <a:prstDash val="solid"/>
          </a:ln>
        </p:spPr>
        <p:txBody>
          <a:bodyPr/>
          <a:p/>
        </p:txBody>
      </p:sp>
      <p:sp>
        <p:nvSpPr>
          <p:cNvPr id="54" name="Text 52"/>
          <p:cNvSpPr/>
          <p:nvPr/>
        </p:nvSpPr>
        <p:spPr>
          <a:xfrm>
            <a:off x="6364224" y="3711448"/>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Finland</a:t>
            </a:r>
            <a:endParaRPr lang="en-US" sz="1280" dirty="0"/>
          </a:p>
        </p:txBody>
      </p:sp>
      <p:sp>
        <p:nvSpPr>
          <p:cNvPr id="55" name="Text 53"/>
          <p:cNvSpPr/>
          <p:nvPr/>
        </p:nvSpPr>
        <p:spPr>
          <a:xfrm>
            <a:off x="9646920" y="3711448"/>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11.2%</a:t>
            </a:r>
            <a:endParaRPr lang="en-US" sz="1280" dirty="0"/>
          </a:p>
        </p:txBody>
      </p:sp>
      <p:sp>
        <p:nvSpPr>
          <p:cNvPr id="56" name="Shape 54"/>
          <p:cNvSpPr/>
          <p:nvPr/>
        </p:nvSpPr>
        <p:spPr>
          <a:xfrm>
            <a:off x="6254496" y="3950208"/>
            <a:ext cx="5129784" cy="310896"/>
          </a:xfrm>
          <a:prstGeom prst="rect">
            <a:avLst/>
          </a:prstGeom>
          <a:solidFill>
            <a:srgbClr val="FFFFFF"/>
          </a:solidFill>
          <a:ln w="12700">
            <a:solidFill>
              <a:srgbClr val="FFFFFF"/>
            </a:solidFill>
            <a:prstDash val="solid"/>
          </a:ln>
        </p:spPr>
        <p:txBody>
          <a:bodyPr/>
          <a:p/>
        </p:txBody>
      </p:sp>
      <p:sp>
        <p:nvSpPr>
          <p:cNvPr id="57" name="Text 55"/>
          <p:cNvSpPr/>
          <p:nvPr/>
        </p:nvSpPr>
        <p:spPr>
          <a:xfrm>
            <a:off x="6364224" y="4022344"/>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IUK</a:t>
            </a:r>
            <a:endParaRPr lang="en-US" sz="1280" dirty="0"/>
          </a:p>
        </p:txBody>
      </p:sp>
      <p:sp>
        <p:nvSpPr>
          <p:cNvPr id="58" name="Text 56"/>
          <p:cNvSpPr/>
          <p:nvPr/>
        </p:nvSpPr>
        <p:spPr>
          <a:xfrm>
            <a:off x="9646920" y="4022344"/>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10.5%</a:t>
            </a:r>
            <a:endParaRPr lang="en-US" sz="1280" dirty="0"/>
          </a:p>
        </p:txBody>
      </p:sp>
      <p:sp>
        <p:nvSpPr>
          <p:cNvPr id="59" name="Shape 57"/>
          <p:cNvSpPr/>
          <p:nvPr/>
        </p:nvSpPr>
        <p:spPr>
          <a:xfrm>
            <a:off x="6254496" y="4261104"/>
            <a:ext cx="5129784" cy="310896"/>
          </a:xfrm>
          <a:prstGeom prst="rect">
            <a:avLst/>
          </a:prstGeom>
          <a:solidFill>
            <a:srgbClr val="EEEDEA"/>
          </a:solidFill>
          <a:ln w="12700">
            <a:solidFill>
              <a:srgbClr val="EEEDEA"/>
            </a:solidFill>
            <a:prstDash val="solid"/>
          </a:ln>
        </p:spPr>
        <p:txBody>
          <a:bodyPr/>
          <a:p/>
        </p:txBody>
      </p:sp>
      <p:sp>
        <p:nvSpPr>
          <p:cNvPr id="60" name="Text 58"/>
          <p:cNvSpPr/>
          <p:nvPr/>
        </p:nvSpPr>
        <p:spPr>
          <a:xfrm>
            <a:off x="6364224" y="4333240"/>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Ireland</a:t>
            </a:r>
            <a:endParaRPr lang="en-US" sz="1280" dirty="0"/>
          </a:p>
        </p:txBody>
      </p:sp>
      <p:sp>
        <p:nvSpPr>
          <p:cNvPr id="61" name="Text 59"/>
          <p:cNvSpPr/>
          <p:nvPr/>
        </p:nvSpPr>
        <p:spPr>
          <a:xfrm>
            <a:off x="9646920" y="4333240"/>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8.5%</a:t>
            </a:r>
            <a:endParaRPr lang="en-US" sz="1280" dirty="0"/>
          </a:p>
        </p:txBody>
      </p:sp>
      <p:sp>
        <p:nvSpPr>
          <p:cNvPr id="62" name="Shape 60"/>
          <p:cNvSpPr/>
          <p:nvPr/>
        </p:nvSpPr>
        <p:spPr>
          <a:xfrm>
            <a:off x="6254496" y="4572000"/>
            <a:ext cx="5129784" cy="310896"/>
          </a:xfrm>
          <a:prstGeom prst="rect">
            <a:avLst/>
          </a:prstGeom>
          <a:solidFill>
            <a:srgbClr val="FFFFFF"/>
          </a:solidFill>
          <a:ln w="12700">
            <a:solidFill>
              <a:srgbClr val="FFFFFF"/>
            </a:solidFill>
            <a:prstDash val="solid"/>
          </a:ln>
        </p:spPr>
        <p:txBody>
          <a:bodyPr/>
          <a:p/>
        </p:txBody>
      </p:sp>
      <p:sp>
        <p:nvSpPr>
          <p:cNvPr id="63" name="Text 61"/>
          <p:cNvSpPr/>
          <p:nvPr/>
        </p:nvSpPr>
        <p:spPr>
          <a:xfrm>
            <a:off x="6364224" y="4644136"/>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Norway</a:t>
            </a:r>
            <a:endParaRPr lang="en-US" sz="1280" dirty="0"/>
          </a:p>
        </p:txBody>
      </p:sp>
      <p:sp>
        <p:nvSpPr>
          <p:cNvPr id="64" name="Text 62"/>
          <p:cNvSpPr/>
          <p:nvPr/>
        </p:nvSpPr>
        <p:spPr>
          <a:xfrm>
            <a:off x="9646920" y="4644136"/>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8.3%</a:t>
            </a:r>
            <a:endParaRPr lang="en-US" sz="1280" dirty="0"/>
          </a:p>
        </p:txBody>
      </p:sp>
      <p:sp>
        <p:nvSpPr>
          <p:cNvPr id="65" name="Shape 63"/>
          <p:cNvSpPr/>
          <p:nvPr/>
        </p:nvSpPr>
        <p:spPr>
          <a:xfrm>
            <a:off x="6254496" y="4882896"/>
            <a:ext cx="5129784" cy="310896"/>
          </a:xfrm>
          <a:prstGeom prst="rect">
            <a:avLst/>
          </a:prstGeom>
          <a:solidFill>
            <a:srgbClr val="EEEDEA"/>
          </a:solidFill>
          <a:ln w="12700">
            <a:solidFill>
              <a:srgbClr val="EEEDEA"/>
            </a:solidFill>
            <a:prstDash val="solid"/>
          </a:ln>
        </p:spPr>
        <p:txBody>
          <a:bodyPr/>
          <a:p/>
        </p:txBody>
      </p:sp>
      <p:sp>
        <p:nvSpPr>
          <p:cNvPr id="66" name="Text 64"/>
          <p:cNvSpPr/>
          <p:nvPr/>
        </p:nvSpPr>
        <p:spPr>
          <a:xfrm>
            <a:off x="6364224" y="4955032"/>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UMI (Israel)</a:t>
            </a:r>
            <a:endParaRPr lang="en-US" sz="1280" dirty="0"/>
          </a:p>
        </p:txBody>
      </p:sp>
      <p:sp>
        <p:nvSpPr>
          <p:cNvPr id="67" name="Text 65"/>
          <p:cNvSpPr/>
          <p:nvPr/>
        </p:nvSpPr>
        <p:spPr>
          <a:xfrm>
            <a:off x="9646920" y="4955032"/>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7.8%</a:t>
            </a:r>
            <a:endParaRPr lang="en-US" sz="1280" dirty="0"/>
          </a:p>
        </p:txBody>
      </p:sp>
      <p:sp>
        <p:nvSpPr>
          <p:cNvPr id="68" name="Shape 66"/>
          <p:cNvSpPr/>
          <p:nvPr/>
        </p:nvSpPr>
        <p:spPr>
          <a:xfrm>
            <a:off x="6254496" y="5193792"/>
            <a:ext cx="5129784" cy="310896"/>
          </a:xfrm>
          <a:prstGeom prst="rect">
            <a:avLst/>
          </a:prstGeom>
          <a:solidFill>
            <a:srgbClr val="FFFFFF"/>
          </a:solidFill>
          <a:ln w="12700">
            <a:solidFill>
              <a:srgbClr val="FFFFFF"/>
            </a:solidFill>
            <a:prstDash val="solid"/>
          </a:ln>
        </p:spPr>
        <p:txBody>
          <a:bodyPr/>
          <a:p/>
        </p:txBody>
      </p:sp>
      <p:sp>
        <p:nvSpPr>
          <p:cNvPr id="69" name="Text 67"/>
          <p:cNvSpPr/>
          <p:nvPr/>
        </p:nvSpPr>
        <p:spPr>
          <a:xfrm>
            <a:off x="6364224" y="5265928"/>
            <a:ext cx="3063240" cy="221488"/>
          </a:xfrm>
          <a:prstGeom prst="rect">
            <a:avLst/>
          </a:prstGeom>
          <a:noFill/>
          <a:ln/>
        </p:spPr>
        <p:txBody>
          <a:bodyPr wrap="square" lIns="0" tIns="0" rIns="0" bIns="0" rtlCol="0" anchor="ctr">
            <a:normAutofit fontScale="100000" lnSpcReduction="0"/>
          </a:bodyPr>
          <a:lstStyle/>
          <a:p>
            <a:pPr indent="0" marL="0">
              <a:buNone/>
            </a:pPr>
            <a:r>
              <a:rPr lang="en-US" sz="1280" b="1" dirty="0">
                <a:solidFill>
                  <a:srgbClr val="24282C"/>
                </a:solidFill>
                <a:latin typeface="Arial" pitchFamily="34" charset="0"/>
                <a:ea typeface="Arial" pitchFamily="34" charset="-122"/>
                <a:cs typeface="Arial" pitchFamily="34" charset="-120"/>
              </a:rPr>
              <a:t>Malta</a:t>
            </a:r>
            <a:endParaRPr lang="en-US" sz="1280" dirty="0"/>
          </a:p>
        </p:txBody>
      </p:sp>
      <p:sp>
        <p:nvSpPr>
          <p:cNvPr id="70" name="Text 68"/>
          <p:cNvSpPr/>
          <p:nvPr/>
        </p:nvSpPr>
        <p:spPr>
          <a:xfrm>
            <a:off x="9646920" y="5265928"/>
            <a:ext cx="1627632" cy="221488"/>
          </a:xfrm>
          <a:prstGeom prst="rect">
            <a:avLst/>
          </a:prstGeom>
          <a:noFill/>
          <a:ln/>
        </p:spPr>
        <p:txBody>
          <a:bodyPr wrap="square" lIns="0" tIns="0" rIns="0" bIns="0" rtlCol="0" anchor="ctr">
            <a:normAutofit fontScale="100000" lnSpcReduction="0"/>
          </a:bodyPr>
          <a:lstStyle/>
          <a:p>
            <a:pPr indent="0" marL="0">
              <a:buNone/>
            </a:pPr>
            <a:r>
              <a:rPr lang="en-US" sz="1280" dirty="0">
                <a:solidFill>
                  <a:srgbClr val="626B72"/>
                </a:solidFill>
                <a:latin typeface="Arial" pitchFamily="34" charset="0"/>
                <a:ea typeface="Arial" pitchFamily="34" charset="-122"/>
                <a:cs typeface="Arial" pitchFamily="34" charset="-120"/>
              </a:rPr>
              <a:t>5.9%</a:t>
            </a:r>
            <a:endParaRPr lang="en-US" sz="1280" dirty="0"/>
          </a:p>
        </p:txBody>
      </p:sp>
      <p:sp>
        <p:nvSpPr>
          <p:cNvPr id="71" name="Shape 6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72" name="Text 7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Extreme shares need their matched billed-value coverage and commercial context before comparison.</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FLEET CONTEXT</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Calendar-2025 spend per truck is a descriptive comparison.</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Source population | € per vehicle in service | Four rows have no printed value</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18. The reported network rate is 198 €; median 191 €; source fleet 163,459.</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FLEET CONTEXT</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37</a:t>
            </a:r>
            <a:endParaRPr lang="en-US" sz="1050" dirty="0"/>
          </a:p>
        </p:txBody>
      </p:sp>
      <p:sp>
        <p:nvSpPr>
          <p:cNvPr id="11" name="Shape 9"/>
          <p:cNvSpPr/>
          <p:nvPr/>
        </p:nvSpPr>
        <p:spPr>
          <a:xfrm>
            <a:off x="594360" y="2340864"/>
            <a:ext cx="5129784" cy="356616"/>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3099816" cy="246888"/>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SOURCE LABEL</a:t>
            </a:r>
            <a:endParaRPr lang="en-US" sz="1000" dirty="0"/>
          </a:p>
        </p:txBody>
      </p:sp>
      <p:sp>
        <p:nvSpPr>
          <p:cNvPr id="13" name="Text 11"/>
          <p:cNvSpPr/>
          <p:nvPr/>
        </p:nvSpPr>
        <p:spPr>
          <a:xfrm>
            <a:off x="4023360" y="2427732"/>
            <a:ext cx="1591056" cy="246888"/>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 / VEHICLE</a:t>
            </a:r>
            <a:endParaRPr lang="en-US" sz="1000" dirty="0"/>
          </a:p>
        </p:txBody>
      </p:sp>
      <p:sp>
        <p:nvSpPr>
          <p:cNvPr id="14" name="Shape 12"/>
          <p:cNvSpPr/>
          <p:nvPr/>
        </p:nvSpPr>
        <p:spPr>
          <a:xfrm>
            <a:off x="594360" y="2697480"/>
            <a:ext cx="5129784" cy="250546"/>
          </a:xfrm>
          <a:prstGeom prst="rect">
            <a:avLst/>
          </a:prstGeom>
          <a:solidFill>
            <a:srgbClr val="FFFFFF"/>
          </a:solidFill>
          <a:ln w="12700">
            <a:solidFill>
              <a:srgbClr val="FFFFFF"/>
            </a:solidFill>
            <a:prstDash val="solid"/>
          </a:ln>
        </p:spPr>
        <p:txBody>
          <a:bodyPr/>
          <a:p/>
        </p:txBody>
      </p:sp>
      <p:sp>
        <p:nvSpPr>
          <p:cNvPr id="15" name="Text 13"/>
          <p:cNvSpPr/>
          <p:nvPr/>
        </p:nvSpPr>
        <p:spPr>
          <a:xfrm>
            <a:off x="704088" y="2746045"/>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Ireland</a:t>
            </a:r>
            <a:endParaRPr lang="en-US" sz="1200" dirty="0"/>
          </a:p>
        </p:txBody>
      </p:sp>
      <p:sp>
        <p:nvSpPr>
          <p:cNvPr id="16" name="Text 14"/>
          <p:cNvSpPr/>
          <p:nvPr/>
        </p:nvSpPr>
        <p:spPr>
          <a:xfrm>
            <a:off x="4023360" y="2746045"/>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389</a:t>
            </a:r>
            <a:endParaRPr lang="en-US" sz="1200" dirty="0"/>
          </a:p>
        </p:txBody>
      </p:sp>
      <p:sp>
        <p:nvSpPr>
          <p:cNvPr id="17" name="Shape 15"/>
          <p:cNvSpPr/>
          <p:nvPr/>
        </p:nvSpPr>
        <p:spPr>
          <a:xfrm>
            <a:off x="594360" y="2948026"/>
            <a:ext cx="5129784" cy="250546"/>
          </a:xfrm>
          <a:prstGeom prst="rect">
            <a:avLst/>
          </a:prstGeom>
          <a:solidFill>
            <a:srgbClr val="EEEDEA"/>
          </a:solidFill>
          <a:ln w="12700">
            <a:solidFill>
              <a:srgbClr val="EEEDEA"/>
            </a:solidFill>
            <a:prstDash val="solid"/>
          </a:ln>
        </p:spPr>
        <p:txBody>
          <a:bodyPr/>
          <a:p/>
        </p:txBody>
      </p:sp>
      <p:sp>
        <p:nvSpPr>
          <p:cNvPr id="18" name="Text 16"/>
          <p:cNvSpPr/>
          <p:nvPr/>
        </p:nvSpPr>
        <p:spPr>
          <a:xfrm>
            <a:off x="704088" y="2996591"/>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UTI (Israel)</a:t>
            </a:r>
            <a:endParaRPr lang="en-US" sz="1200" dirty="0"/>
          </a:p>
        </p:txBody>
      </p:sp>
      <p:sp>
        <p:nvSpPr>
          <p:cNvPr id="19" name="Text 17"/>
          <p:cNvSpPr/>
          <p:nvPr/>
        </p:nvSpPr>
        <p:spPr>
          <a:xfrm>
            <a:off x="4023360" y="2996591"/>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322</a:t>
            </a:r>
            <a:endParaRPr lang="en-US" sz="1200" dirty="0"/>
          </a:p>
        </p:txBody>
      </p:sp>
      <p:sp>
        <p:nvSpPr>
          <p:cNvPr id="20" name="Shape 18"/>
          <p:cNvSpPr/>
          <p:nvPr/>
        </p:nvSpPr>
        <p:spPr>
          <a:xfrm>
            <a:off x="594360" y="3198571"/>
            <a:ext cx="5129784" cy="250546"/>
          </a:xfrm>
          <a:prstGeom prst="rect">
            <a:avLst/>
          </a:prstGeom>
          <a:solidFill>
            <a:srgbClr val="FFFFFF"/>
          </a:solidFill>
          <a:ln w="12700">
            <a:solidFill>
              <a:srgbClr val="FFFFFF"/>
            </a:solidFill>
            <a:prstDash val="solid"/>
          </a:ln>
        </p:spPr>
        <p:txBody>
          <a:bodyPr/>
          <a:p/>
        </p:txBody>
      </p:sp>
      <p:sp>
        <p:nvSpPr>
          <p:cNvPr id="21" name="Text 19"/>
          <p:cNvSpPr/>
          <p:nvPr/>
        </p:nvSpPr>
        <p:spPr>
          <a:xfrm>
            <a:off x="704088" y="3247136"/>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ITUK</a:t>
            </a:r>
            <a:endParaRPr lang="en-US" sz="1200" dirty="0"/>
          </a:p>
        </p:txBody>
      </p:sp>
      <p:sp>
        <p:nvSpPr>
          <p:cNvPr id="22" name="Text 20"/>
          <p:cNvSpPr/>
          <p:nvPr/>
        </p:nvSpPr>
        <p:spPr>
          <a:xfrm>
            <a:off x="4023360" y="3247136"/>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249</a:t>
            </a:r>
            <a:endParaRPr lang="en-US" sz="1200" dirty="0"/>
          </a:p>
        </p:txBody>
      </p:sp>
      <p:sp>
        <p:nvSpPr>
          <p:cNvPr id="23" name="Shape 21"/>
          <p:cNvSpPr/>
          <p:nvPr/>
        </p:nvSpPr>
        <p:spPr>
          <a:xfrm>
            <a:off x="594360" y="3449117"/>
            <a:ext cx="5129784" cy="250546"/>
          </a:xfrm>
          <a:prstGeom prst="rect">
            <a:avLst/>
          </a:prstGeom>
          <a:solidFill>
            <a:srgbClr val="EEEDEA"/>
          </a:solidFill>
          <a:ln w="12700">
            <a:solidFill>
              <a:srgbClr val="EEEDEA"/>
            </a:solidFill>
            <a:prstDash val="solid"/>
          </a:ln>
        </p:spPr>
        <p:txBody>
          <a:bodyPr/>
          <a:p/>
        </p:txBody>
      </p:sp>
      <p:sp>
        <p:nvSpPr>
          <p:cNvPr id="24" name="Text 22"/>
          <p:cNvSpPr/>
          <p:nvPr/>
        </p:nvSpPr>
        <p:spPr>
          <a:xfrm>
            <a:off x="704088" y="3497682"/>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Finland</a:t>
            </a:r>
            <a:endParaRPr lang="en-US" sz="1200" dirty="0"/>
          </a:p>
        </p:txBody>
      </p:sp>
      <p:sp>
        <p:nvSpPr>
          <p:cNvPr id="25" name="Text 23"/>
          <p:cNvSpPr/>
          <p:nvPr/>
        </p:nvSpPr>
        <p:spPr>
          <a:xfrm>
            <a:off x="4023360" y="3497682"/>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231</a:t>
            </a:r>
            <a:endParaRPr lang="en-US" sz="1200" dirty="0"/>
          </a:p>
        </p:txBody>
      </p:sp>
      <p:sp>
        <p:nvSpPr>
          <p:cNvPr id="26" name="Shape 24"/>
          <p:cNvSpPr/>
          <p:nvPr/>
        </p:nvSpPr>
        <p:spPr>
          <a:xfrm>
            <a:off x="594360" y="3699662"/>
            <a:ext cx="5129784" cy="250546"/>
          </a:xfrm>
          <a:prstGeom prst="rect">
            <a:avLst/>
          </a:prstGeom>
          <a:solidFill>
            <a:srgbClr val="FFFFFF"/>
          </a:solidFill>
          <a:ln w="12700">
            <a:solidFill>
              <a:srgbClr val="FFFFFF"/>
            </a:solidFill>
            <a:prstDash val="solid"/>
          </a:ln>
        </p:spPr>
        <p:txBody>
          <a:bodyPr/>
          <a:p/>
        </p:txBody>
      </p:sp>
      <p:sp>
        <p:nvSpPr>
          <p:cNvPr id="27" name="Text 25"/>
          <p:cNvSpPr/>
          <p:nvPr/>
        </p:nvSpPr>
        <p:spPr>
          <a:xfrm>
            <a:off x="704088" y="3748227"/>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Belgium</a:t>
            </a:r>
            <a:endParaRPr lang="en-US" sz="1200" dirty="0"/>
          </a:p>
        </p:txBody>
      </p:sp>
      <p:sp>
        <p:nvSpPr>
          <p:cNvPr id="28" name="Text 26"/>
          <p:cNvSpPr/>
          <p:nvPr/>
        </p:nvSpPr>
        <p:spPr>
          <a:xfrm>
            <a:off x="4023360" y="3748227"/>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220</a:t>
            </a:r>
            <a:endParaRPr lang="en-US" sz="1200" dirty="0"/>
          </a:p>
        </p:txBody>
      </p:sp>
      <p:sp>
        <p:nvSpPr>
          <p:cNvPr id="29" name="Shape 27"/>
          <p:cNvSpPr/>
          <p:nvPr/>
        </p:nvSpPr>
        <p:spPr>
          <a:xfrm>
            <a:off x="594360" y="3950208"/>
            <a:ext cx="5129784" cy="250546"/>
          </a:xfrm>
          <a:prstGeom prst="rect">
            <a:avLst/>
          </a:prstGeom>
          <a:solidFill>
            <a:srgbClr val="EEEDEA"/>
          </a:solidFill>
          <a:ln w="12700">
            <a:solidFill>
              <a:srgbClr val="EEEDEA"/>
            </a:solidFill>
            <a:prstDash val="solid"/>
          </a:ln>
        </p:spPr>
        <p:txBody>
          <a:bodyPr/>
          <a:p/>
        </p:txBody>
      </p:sp>
      <p:sp>
        <p:nvSpPr>
          <p:cNvPr id="30" name="Text 28"/>
          <p:cNvSpPr/>
          <p:nvPr/>
        </p:nvSpPr>
        <p:spPr>
          <a:xfrm>
            <a:off x="704088" y="3998773"/>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Iceland</a:t>
            </a:r>
            <a:endParaRPr lang="en-US" sz="1200" dirty="0"/>
          </a:p>
        </p:txBody>
      </p:sp>
      <p:sp>
        <p:nvSpPr>
          <p:cNvPr id="31" name="Text 29"/>
          <p:cNvSpPr/>
          <p:nvPr/>
        </p:nvSpPr>
        <p:spPr>
          <a:xfrm>
            <a:off x="4023360" y="3998773"/>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210</a:t>
            </a:r>
            <a:endParaRPr lang="en-US" sz="1200" dirty="0"/>
          </a:p>
        </p:txBody>
      </p:sp>
      <p:sp>
        <p:nvSpPr>
          <p:cNvPr id="32" name="Shape 30"/>
          <p:cNvSpPr/>
          <p:nvPr/>
        </p:nvSpPr>
        <p:spPr>
          <a:xfrm>
            <a:off x="594360" y="4200754"/>
            <a:ext cx="5129784" cy="250546"/>
          </a:xfrm>
          <a:prstGeom prst="rect">
            <a:avLst/>
          </a:prstGeom>
          <a:solidFill>
            <a:srgbClr val="FFFFFF"/>
          </a:solidFill>
          <a:ln w="12700">
            <a:solidFill>
              <a:srgbClr val="FFFFFF"/>
            </a:solidFill>
            <a:prstDash val="solid"/>
          </a:ln>
        </p:spPr>
        <p:txBody>
          <a:bodyPr/>
          <a:p/>
        </p:txBody>
      </p:sp>
      <p:sp>
        <p:nvSpPr>
          <p:cNvPr id="33" name="Text 31"/>
          <p:cNvSpPr/>
          <p:nvPr/>
        </p:nvSpPr>
        <p:spPr>
          <a:xfrm>
            <a:off x="704088" y="4249319"/>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Portugal</a:t>
            </a:r>
            <a:endParaRPr lang="en-US" sz="1200" dirty="0"/>
          </a:p>
        </p:txBody>
      </p:sp>
      <p:sp>
        <p:nvSpPr>
          <p:cNvPr id="34" name="Text 32"/>
          <p:cNvSpPr/>
          <p:nvPr/>
        </p:nvSpPr>
        <p:spPr>
          <a:xfrm>
            <a:off x="4023360" y="4249319"/>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209</a:t>
            </a:r>
            <a:endParaRPr lang="en-US" sz="1200" dirty="0"/>
          </a:p>
        </p:txBody>
      </p:sp>
      <p:sp>
        <p:nvSpPr>
          <p:cNvPr id="35" name="Shape 33"/>
          <p:cNvSpPr/>
          <p:nvPr/>
        </p:nvSpPr>
        <p:spPr>
          <a:xfrm>
            <a:off x="594360" y="4451299"/>
            <a:ext cx="5129784" cy="250546"/>
          </a:xfrm>
          <a:prstGeom prst="rect">
            <a:avLst/>
          </a:prstGeom>
          <a:solidFill>
            <a:srgbClr val="EEEDEA"/>
          </a:solidFill>
          <a:ln w="12700">
            <a:solidFill>
              <a:srgbClr val="EEEDEA"/>
            </a:solidFill>
            <a:prstDash val="solid"/>
          </a:ln>
        </p:spPr>
        <p:txBody>
          <a:bodyPr/>
          <a:p/>
        </p:txBody>
      </p:sp>
      <p:sp>
        <p:nvSpPr>
          <p:cNvPr id="36" name="Text 34"/>
          <p:cNvSpPr/>
          <p:nvPr/>
        </p:nvSpPr>
        <p:spPr>
          <a:xfrm>
            <a:off x="704088" y="4499864"/>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Malta</a:t>
            </a:r>
            <a:endParaRPr lang="en-US" sz="1200" dirty="0"/>
          </a:p>
        </p:txBody>
      </p:sp>
      <p:sp>
        <p:nvSpPr>
          <p:cNvPr id="37" name="Text 35"/>
          <p:cNvSpPr/>
          <p:nvPr/>
        </p:nvSpPr>
        <p:spPr>
          <a:xfrm>
            <a:off x="4023360" y="4499864"/>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199</a:t>
            </a:r>
            <a:endParaRPr lang="en-US" sz="1200" dirty="0"/>
          </a:p>
        </p:txBody>
      </p:sp>
      <p:sp>
        <p:nvSpPr>
          <p:cNvPr id="38" name="Shape 36"/>
          <p:cNvSpPr/>
          <p:nvPr/>
        </p:nvSpPr>
        <p:spPr>
          <a:xfrm>
            <a:off x="594360" y="4701845"/>
            <a:ext cx="5129784" cy="250546"/>
          </a:xfrm>
          <a:prstGeom prst="rect">
            <a:avLst/>
          </a:prstGeom>
          <a:solidFill>
            <a:srgbClr val="FFFFFF"/>
          </a:solidFill>
          <a:ln w="12700">
            <a:solidFill>
              <a:srgbClr val="FFFFFF"/>
            </a:solidFill>
            <a:prstDash val="solid"/>
          </a:ln>
        </p:spPr>
        <p:txBody>
          <a:bodyPr/>
          <a:p/>
        </p:txBody>
      </p:sp>
      <p:sp>
        <p:nvSpPr>
          <p:cNvPr id="39" name="Text 37"/>
          <p:cNvSpPr/>
          <p:nvPr/>
        </p:nvSpPr>
        <p:spPr>
          <a:xfrm>
            <a:off x="704088" y="4750410"/>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Germany</a:t>
            </a:r>
            <a:endParaRPr lang="en-US" sz="1200" dirty="0"/>
          </a:p>
        </p:txBody>
      </p:sp>
      <p:sp>
        <p:nvSpPr>
          <p:cNvPr id="40" name="Text 38"/>
          <p:cNvSpPr/>
          <p:nvPr/>
        </p:nvSpPr>
        <p:spPr>
          <a:xfrm>
            <a:off x="4023360" y="4750410"/>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197</a:t>
            </a:r>
            <a:endParaRPr lang="en-US" sz="1200" dirty="0"/>
          </a:p>
        </p:txBody>
      </p:sp>
      <p:sp>
        <p:nvSpPr>
          <p:cNvPr id="41" name="Shape 39"/>
          <p:cNvSpPr/>
          <p:nvPr/>
        </p:nvSpPr>
        <p:spPr>
          <a:xfrm>
            <a:off x="594360" y="4952390"/>
            <a:ext cx="5129784" cy="250546"/>
          </a:xfrm>
          <a:prstGeom prst="rect">
            <a:avLst/>
          </a:prstGeom>
          <a:solidFill>
            <a:srgbClr val="EEEDEA"/>
          </a:solidFill>
          <a:ln w="12700">
            <a:solidFill>
              <a:srgbClr val="EEEDEA"/>
            </a:solidFill>
            <a:prstDash val="solid"/>
          </a:ln>
        </p:spPr>
        <p:txBody>
          <a:bodyPr/>
          <a:p/>
        </p:txBody>
      </p:sp>
      <p:sp>
        <p:nvSpPr>
          <p:cNvPr id="42" name="Text 40"/>
          <p:cNvSpPr/>
          <p:nvPr/>
        </p:nvSpPr>
        <p:spPr>
          <a:xfrm>
            <a:off x="704088" y="5000955"/>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Cyprus</a:t>
            </a:r>
            <a:endParaRPr lang="en-US" sz="1200" dirty="0"/>
          </a:p>
        </p:txBody>
      </p:sp>
      <p:sp>
        <p:nvSpPr>
          <p:cNvPr id="43" name="Text 41"/>
          <p:cNvSpPr/>
          <p:nvPr/>
        </p:nvSpPr>
        <p:spPr>
          <a:xfrm>
            <a:off x="4023360" y="5000955"/>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186</a:t>
            </a:r>
            <a:endParaRPr lang="en-US" sz="1200" dirty="0"/>
          </a:p>
        </p:txBody>
      </p:sp>
      <p:sp>
        <p:nvSpPr>
          <p:cNvPr id="44" name="Shape 42"/>
          <p:cNvSpPr/>
          <p:nvPr/>
        </p:nvSpPr>
        <p:spPr>
          <a:xfrm>
            <a:off x="594360" y="5202936"/>
            <a:ext cx="5129784" cy="250546"/>
          </a:xfrm>
          <a:prstGeom prst="rect">
            <a:avLst/>
          </a:prstGeom>
          <a:solidFill>
            <a:srgbClr val="FFFFFF"/>
          </a:solidFill>
          <a:ln w="12700">
            <a:solidFill>
              <a:srgbClr val="FFFFFF"/>
            </a:solidFill>
            <a:prstDash val="solid"/>
          </a:ln>
        </p:spPr>
        <p:txBody>
          <a:bodyPr/>
          <a:p/>
        </p:txBody>
      </p:sp>
      <p:sp>
        <p:nvSpPr>
          <p:cNvPr id="45" name="Text 43"/>
          <p:cNvSpPr/>
          <p:nvPr/>
        </p:nvSpPr>
        <p:spPr>
          <a:xfrm>
            <a:off x="704088" y="5251501"/>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UMI (Israel)</a:t>
            </a:r>
            <a:endParaRPr lang="en-US" sz="1200" dirty="0"/>
          </a:p>
        </p:txBody>
      </p:sp>
      <p:sp>
        <p:nvSpPr>
          <p:cNvPr id="46" name="Text 44"/>
          <p:cNvSpPr/>
          <p:nvPr/>
        </p:nvSpPr>
        <p:spPr>
          <a:xfrm>
            <a:off x="4023360" y="5251501"/>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179</a:t>
            </a:r>
            <a:endParaRPr lang="en-US" sz="1200" dirty="0"/>
          </a:p>
        </p:txBody>
      </p:sp>
      <p:sp>
        <p:nvSpPr>
          <p:cNvPr id="47" name="Shape 45"/>
          <p:cNvSpPr/>
          <p:nvPr/>
        </p:nvSpPr>
        <p:spPr>
          <a:xfrm>
            <a:off x="6254496" y="2340864"/>
            <a:ext cx="5129784" cy="356616"/>
          </a:xfrm>
          <a:prstGeom prst="rect">
            <a:avLst/>
          </a:prstGeom>
          <a:solidFill>
            <a:srgbClr val="24282C"/>
          </a:solidFill>
          <a:ln w="12700">
            <a:solidFill>
              <a:srgbClr val="24282C"/>
            </a:solidFill>
            <a:prstDash val="solid"/>
          </a:ln>
        </p:spPr>
        <p:txBody>
          <a:bodyPr/>
          <a:p/>
        </p:txBody>
      </p:sp>
      <p:sp>
        <p:nvSpPr>
          <p:cNvPr id="48" name="Text 46"/>
          <p:cNvSpPr/>
          <p:nvPr/>
        </p:nvSpPr>
        <p:spPr>
          <a:xfrm>
            <a:off x="6364224" y="2427732"/>
            <a:ext cx="3099816" cy="246888"/>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SOURCE LABEL</a:t>
            </a:r>
            <a:endParaRPr lang="en-US" sz="1000" dirty="0"/>
          </a:p>
        </p:txBody>
      </p:sp>
      <p:sp>
        <p:nvSpPr>
          <p:cNvPr id="49" name="Text 47"/>
          <p:cNvSpPr/>
          <p:nvPr/>
        </p:nvSpPr>
        <p:spPr>
          <a:xfrm>
            <a:off x="9683496" y="2427732"/>
            <a:ext cx="1591056" cy="246888"/>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 / VEHICLE</a:t>
            </a:r>
            <a:endParaRPr lang="en-US" sz="1000" dirty="0"/>
          </a:p>
        </p:txBody>
      </p:sp>
      <p:sp>
        <p:nvSpPr>
          <p:cNvPr id="50" name="Shape 48"/>
          <p:cNvSpPr/>
          <p:nvPr/>
        </p:nvSpPr>
        <p:spPr>
          <a:xfrm>
            <a:off x="6254496" y="2697480"/>
            <a:ext cx="5129784" cy="250546"/>
          </a:xfrm>
          <a:prstGeom prst="rect">
            <a:avLst/>
          </a:prstGeom>
          <a:solidFill>
            <a:srgbClr val="FFFFFF"/>
          </a:solidFill>
          <a:ln w="12700">
            <a:solidFill>
              <a:srgbClr val="FFFFFF"/>
            </a:solidFill>
            <a:prstDash val="solid"/>
          </a:ln>
        </p:spPr>
        <p:txBody>
          <a:bodyPr/>
          <a:p/>
        </p:txBody>
      </p:sp>
      <p:sp>
        <p:nvSpPr>
          <p:cNvPr id="51" name="Text 49"/>
          <p:cNvSpPr/>
          <p:nvPr/>
        </p:nvSpPr>
        <p:spPr>
          <a:xfrm>
            <a:off x="6364224" y="2746045"/>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Norway</a:t>
            </a:r>
            <a:endParaRPr lang="en-US" sz="1200" dirty="0"/>
          </a:p>
        </p:txBody>
      </p:sp>
      <p:sp>
        <p:nvSpPr>
          <p:cNvPr id="52" name="Text 50"/>
          <p:cNvSpPr/>
          <p:nvPr/>
        </p:nvSpPr>
        <p:spPr>
          <a:xfrm>
            <a:off x="9683496" y="2746045"/>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179</a:t>
            </a:r>
            <a:endParaRPr lang="en-US" sz="1200" dirty="0"/>
          </a:p>
        </p:txBody>
      </p:sp>
      <p:sp>
        <p:nvSpPr>
          <p:cNvPr id="53" name="Shape 51"/>
          <p:cNvSpPr/>
          <p:nvPr/>
        </p:nvSpPr>
        <p:spPr>
          <a:xfrm>
            <a:off x="6254496" y="2948026"/>
            <a:ext cx="5129784" cy="250546"/>
          </a:xfrm>
          <a:prstGeom prst="rect">
            <a:avLst/>
          </a:prstGeom>
          <a:solidFill>
            <a:srgbClr val="EEEDEA"/>
          </a:solidFill>
          <a:ln w="12700">
            <a:solidFill>
              <a:srgbClr val="EEEDEA"/>
            </a:solidFill>
            <a:prstDash val="solid"/>
          </a:ln>
        </p:spPr>
        <p:txBody>
          <a:bodyPr/>
          <a:p/>
        </p:txBody>
      </p:sp>
      <p:sp>
        <p:nvSpPr>
          <p:cNvPr id="54" name="Text 52"/>
          <p:cNvSpPr/>
          <p:nvPr/>
        </p:nvSpPr>
        <p:spPr>
          <a:xfrm>
            <a:off x="6364224" y="2996591"/>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Denmark</a:t>
            </a:r>
            <a:endParaRPr lang="en-US" sz="1200" dirty="0"/>
          </a:p>
        </p:txBody>
      </p:sp>
      <p:sp>
        <p:nvSpPr>
          <p:cNvPr id="55" name="Text 53"/>
          <p:cNvSpPr/>
          <p:nvPr/>
        </p:nvSpPr>
        <p:spPr>
          <a:xfrm>
            <a:off x="9683496" y="2996591"/>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174</a:t>
            </a:r>
            <a:endParaRPr lang="en-US" sz="1200" dirty="0"/>
          </a:p>
        </p:txBody>
      </p:sp>
      <p:sp>
        <p:nvSpPr>
          <p:cNvPr id="56" name="Shape 54"/>
          <p:cNvSpPr/>
          <p:nvPr/>
        </p:nvSpPr>
        <p:spPr>
          <a:xfrm>
            <a:off x="6254496" y="3198571"/>
            <a:ext cx="5129784" cy="250546"/>
          </a:xfrm>
          <a:prstGeom prst="rect">
            <a:avLst/>
          </a:prstGeom>
          <a:solidFill>
            <a:srgbClr val="FFFFFF"/>
          </a:solidFill>
          <a:ln w="12700">
            <a:solidFill>
              <a:srgbClr val="FFFFFF"/>
            </a:solidFill>
            <a:prstDash val="solid"/>
          </a:ln>
        </p:spPr>
        <p:txBody>
          <a:bodyPr/>
          <a:p/>
        </p:txBody>
      </p:sp>
      <p:sp>
        <p:nvSpPr>
          <p:cNvPr id="57" name="Text 55"/>
          <p:cNvSpPr/>
          <p:nvPr/>
        </p:nvSpPr>
        <p:spPr>
          <a:xfrm>
            <a:off x="6364224" y="3247136"/>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Romania</a:t>
            </a:r>
            <a:endParaRPr lang="en-US" sz="1200" dirty="0"/>
          </a:p>
        </p:txBody>
      </p:sp>
      <p:sp>
        <p:nvSpPr>
          <p:cNvPr id="58" name="Text 56"/>
          <p:cNvSpPr/>
          <p:nvPr/>
        </p:nvSpPr>
        <p:spPr>
          <a:xfrm>
            <a:off x="9683496" y="3247136"/>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164</a:t>
            </a:r>
            <a:endParaRPr lang="en-US" sz="1200" dirty="0"/>
          </a:p>
        </p:txBody>
      </p:sp>
      <p:sp>
        <p:nvSpPr>
          <p:cNvPr id="59" name="Shape 57"/>
          <p:cNvSpPr/>
          <p:nvPr/>
        </p:nvSpPr>
        <p:spPr>
          <a:xfrm>
            <a:off x="6254496" y="3449117"/>
            <a:ext cx="5129784" cy="250546"/>
          </a:xfrm>
          <a:prstGeom prst="rect">
            <a:avLst/>
          </a:prstGeom>
          <a:solidFill>
            <a:srgbClr val="EEEDEA"/>
          </a:solidFill>
          <a:ln w="12700">
            <a:solidFill>
              <a:srgbClr val="EEEDEA"/>
            </a:solidFill>
            <a:prstDash val="solid"/>
          </a:ln>
        </p:spPr>
        <p:txBody>
          <a:bodyPr/>
          <a:p/>
        </p:txBody>
      </p:sp>
      <p:sp>
        <p:nvSpPr>
          <p:cNvPr id="60" name="Text 58"/>
          <p:cNvSpPr/>
          <p:nvPr/>
        </p:nvSpPr>
        <p:spPr>
          <a:xfrm>
            <a:off x="6364224" y="3497682"/>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Sweden</a:t>
            </a:r>
            <a:endParaRPr lang="en-US" sz="1200" dirty="0"/>
          </a:p>
        </p:txBody>
      </p:sp>
      <p:sp>
        <p:nvSpPr>
          <p:cNvPr id="61" name="Text 59"/>
          <p:cNvSpPr/>
          <p:nvPr/>
        </p:nvSpPr>
        <p:spPr>
          <a:xfrm>
            <a:off x="9683496" y="3497682"/>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151</a:t>
            </a:r>
            <a:endParaRPr lang="en-US" sz="1200" dirty="0"/>
          </a:p>
        </p:txBody>
      </p:sp>
      <p:sp>
        <p:nvSpPr>
          <p:cNvPr id="62" name="Shape 60"/>
          <p:cNvSpPr/>
          <p:nvPr/>
        </p:nvSpPr>
        <p:spPr>
          <a:xfrm>
            <a:off x="6254496" y="3699662"/>
            <a:ext cx="5129784" cy="250546"/>
          </a:xfrm>
          <a:prstGeom prst="rect">
            <a:avLst/>
          </a:prstGeom>
          <a:solidFill>
            <a:srgbClr val="FFFFFF"/>
          </a:solidFill>
          <a:ln w="12700">
            <a:solidFill>
              <a:srgbClr val="FFFFFF"/>
            </a:solidFill>
            <a:prstDash val="solid"/>
          </a:ln>
        </p:spPr>
        <p:txBody>
          <a:bodyPr/>
          <a:p/>
        </p:txBody>
      </p:sp>
      <p:sp>
        <p:nvSpPr>
          <p:cNvPr id="63" name="Text 61"/>
          <p:cNvSpPr/>
          <p:nvPr/>
        </p:nvSpPr>
        <p:spPr>
          <a:xfrm>
            <a:off x="6364224" y="3748227"/>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Greece</a:t>
            </a:r>
            <a:endParaRPr lang="en-US" sz="1200" dirty="0"/>
          </a:p>
        </p:txBody>
      </p:sp>
      <p:sp>
        <p:nvSpPr>
          <p:cNvPr id="64" name="Text 62"/>
          <p:cNvSpPr/>
          <p:nvPr/>
        </p:nvSpPr>
        <p:spPr>
          <a:xfrm>
            <a:off x="9683496" y="3748227"/>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139</a:t>
            </a:r>
            <a:endParaRPr lang="en-US" sz="1200" dirty="0"/>
          </a:p>
        </p:txBody>
      </p:sp>
      <p:sp>
        <p:nvSpPr>
          <p:cNvPr id="65" name="Shape 63"/>
          <p:cNvSpPr/>
          <p:nvPr/>
        </p:nvSpPr>
        <p:spPr>
          <a:xfrm>
            <a:off x="6254496" y="3950208"/>
            <a:ext cx="5129784" cy="250546"/>
          </a:xfrm>
          <a:prstGeom prst="rect">
            <a:avLst/>
          </a:prstGeom>
          <a:solidFill>
            <a:srgbClr val="EEEDEA"/>
          </a:solidFill>
          <a:ln w="12700">
            <a:solidFill>
              <a:srgbClr val="EEEDEA"/>
            </a:solidFill>
            <a:prstDash val="solid"/>
          </a:ln>
        </p:spPr>
        <p:txBody>
          <a:bodyPr/>
          <a:p/>
        </p:txBody>
      </p:sp>
      <p:sp>
        <p:nvSpPr>
          <p:cNvPr id="66" name="Text 64"/>
          <p:cNvSpPr/>
          <p:nvPr/>
        </p:nvSpPr>
        <p:spPr>
          <a:xfrm>
            <a:off x="6364224" y="3998773"/>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IUK</a:t>
            </a:r>
            <a:endParaRPr lang="en-US" sz="1200" dirty="0"/>
          </a:p>
        </p:txBody>
      </p:sp>
      <p:sp>
        <p:nvSpPr>
          <p:cNvPr id="67" name="Text 65"/>
          <p:cNvSpPr/>
          <p:nvPr/>
        </p:nvSpPr>
        <p:spPr>
          <a:xfrm>
            <a:off x="9683496" y="3998773"/>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128</a:t>
            </a:r>
            <a:endParaRPr lang="en-US" sz="1200" dirty="0"/>
          </a:p>
        </p:txBody>
      </p:sp>
      <p:sp>
        <p:nvSpPr>
          <p:cNvPr id="68" name="Shape 66"/>
          <p:cNvSpPr/>
          <p:nvPr/>
        </p:nvSpPr>
        <p:spPr>
          <a:xfrm>
            <a:off x="6254496" y="4200754"/>
            <a:ext cx="5129784" cy="250546"/>
          </a:xfrm>
          <a:prstGeom prst="rect">
            <a:avLst/>
          </a:prstGeom>
          <a:solidFill>
            <a:srgbClr val="FFFFFF"/>
          </a:solidFill>
          <a:ln w="12700">
            <a:solidFill>
              <a:srgbClr val="FFFFFF"/>
            </a:solidFill>
            <a:prstDash val="solid"/>
          </a:ln>
        </p:spPr>
        <p:txBody>
          <a:bodyPr/>
          <a:p/>
        </p:txBody>
      </p:sp>
      <p:sp>
        <p:nvSpPr>
          <p:cNvPr id="69" name="Text 67"/>
          <p:cNvSpPr/>
          <p:nvPr/>
        </p:nvSpPr>
        <p:spPr>
          <a:xfrm>
            <a:off x="6364224" y="4249319"/>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Hungary</a:t>
            </a:r>
            <a:endParaRPr lang="en-US" sz="1200" dirty="0"/>
          </a:p>
        </p:txBody>
      </p:sp>
      <p:sp>
        <p:nvSpPr>
          <p:cNvPr id="70" name="Text 68"/>
          <p:cNvSpPr/>
          <p:nvPr/>
        </p:nvSpPr>
        <p:spPr>
          <a:xfrm>
            <a:off x="9683496" y="4249319"/>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88</a:t>
            </a:r>
            <a:endParaRPr lang="en-US" sz="1200" dirty="0"/>
          </a:p>
        </p:txBody>
      </p:sp>
      <p:sp>
        <p:nvSpPr>
          <p:cNvPr id="71" name="Shape 69"/>
          <p:cNvSpPr/>
          <p:nvPr/>
        </p:nvSpPr>
        <p:spPr>
          <a:xfrm>
            <a:off x="6254496" y="4451299"/>
            <a:ext cx="5129784" cy="250546"/>
          </a:xfrm>
          <a:prstGeom prst="rect">
            <a:avLst/>
          </a:prstGeom>
          <a:solidFill>
            <a:srgbClr val="EEEDEA"/>
          </a:solidFill>
          <a:ln w="12700">
            <a:solidFill>
              <a:srgbClr val="EEEDEA"/>
            </a:solidFill>
            <a:prstDash val="solid"/>
          </a:ln>
        </p:spPr>
        <p:txBody>
          <a:bodyPr/>
          <a:p/>
        </p:txBody>
      </p:sp>
      <p:sp>
        <p:nvSpPr>
          <p:cNvPr id="72" name="Text 70"/>
          <p:cNvSpPr/>
          <p:nvPr/>
        </p:nvSpPr>
        <p:spPr>
          <a:xfrm>
            <a:off x="6364224" y="4499864"/>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Ukraine</a:t>
            </a:r>
            <a:endParaRPr lang="en-US" sz="1200" dirty="0"/>
          </a:p>
        </p:txBody>
      </p:sp>
      <p:sp>
        <p:nvSpPr>
          <p:cNvPr id="73" name="Text 71"/>
          <p:cNvSpPr/>
          <p:nvPr/>
        </p:nvSpPr>
        <p:spPr>
          <a:xfrm>
            <a:off x="9683496" y="4499864"/>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Not reported</a:t>
            </a:r>
            <a:endParaRPr lang="en-US" sz="1200" dirty="0"/>
          </a:p>
        </p:txBody>
      </p:sp>
      <p:sp>
        <p:nvSpPr>
          <p:cNvPr id="74" name="Shape 72"/>
          <p:cNvSpPr/>
          <p:nvPr/>
        </p:nvSpPr>
        <p:spPr>
          <a:xfrm>
            <a:off x="6254496" y="4701845"/>
            <a:ext cx="5129784" cy="250546"/>
          </a:xfrm>
          <a:prstGeom prst="rect">
            <a:avLst/>
          </a:prstGeom>
          <a:solidFill>
            <a:srgbClr val="FFFFFF"/>
          </a:solidFill>
          <a:ln w="12700">
            <a:solidFill>
              <a:srgbClr val="FFFFFF"/>
            </a:solidFill>
            <a:prstDash val="solid"/>
          </a:ln>
        </p:spPr>
        <p:txBody>
          <a:bodyPr/>
          <a:p/>
        </p:txBody>
      </p:sp>
      <p:sp>
        <p:nvSpPr>
          <p:cNvPr id="75" name="Text 73"/>
          <p:cNvSpPr/>
          <p:nvPr/>
        </p:nvSpPr>
        <p:spPr>
          <a:xfrm>
            <a:off x="6364224" y="4750410"/>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Armenia</a:t>
            </a:r>
            <a:endParaRPr lang="en-US" sz="1200" dirty="0"/>
          </a:p>
        </p:txBody>
      </p:sp>
      <p:sp>
        <p:nvSpPr>
          <p:cNvPr id="76" name="Text 74"/>
          <p:cNvSpPr/>
          <p:nvPr/>
        </p:nvSpPr>
        <p:spPr>
          <a:xfrm>
            <a:off x="9683496" y="4750410"/>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Not reported</a:t>
            </a:r>
            <a:endParaRPr lang="en-US" sz="1200" dirty="0"/>
          </a:p>
        </p:txBody>
      </p:sp>
      <p:sp>
        <p:nvSpPr>
          <p:cNvPr id="77" name="Shape 75"/>
          <p:cNvSpPr/>
          <p:nvPr/>
        </p:nvSpPr>
        <p:spPr>
          <a:xfrm>
            <a:off x="6254496" y="4952390"/>
            <a:ext cx="5129784" cy="250546"/>
          </a:xfrm>
          <a:prstGeom prst="rect">
            <a:avLst/>
          </a:prstGeom>
          <a:solidFill>
            <a:srgbClr val="EEEDEA"/>
          </a:solidFill>
          <a:ln w="12700">
            <a:solidFill>
              <a:srgbClr val="EEEDEA"/>
            </a:solidFill>
            <a:prstDash val="solid"/>
          </a:ln>
        </p:spPr>
        <p:txBody>
          <a:bodyPr/>
          <a:p/>
        </p:txBody>
      </p:sp>
      <p:sp>
        <p:nvSpPr>
          <p:cNvPr id="78" name="Text 76"/>
          <p:cNvSpPr/>
          <p:nvPr/>
        </p:nvSpPr>
        <p:spPr>
          <a:xfrm>
            <a:off x="6364224" y="5000955"/>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Kazakhstan</a:t>
            </a:r>
            <a:endParaRPr lang="en-US" sz="1200" dirty="0"/>
          </a:p>
        </p:txBody>
      </p:sp>
      <p:sp>
        <p:nvSpPr>
          <p:cNvPr id="79" name="Text 77"/>
          <p:cNvSpPr/>
          <p:nvPr/>
        </p:nvSpPr>
        <p:spPr>
          <a:xfrm>
            <a:off x="9683496" y="5000955"/>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Not reported</a:t>
            </a:r>
            <a:endParaRPr lang="en-US" sz="1200" dirty="0"/>
          </a:p>
        </p:txBody>
      </p:sp>
      <p:sp>
        <p:nvSpPr>
          <p:cNvPr id="80" name="Shape 78"/>
          <p:cNvSpPr/>
          <p:nvPr/>
        </p:nvSpPr>
        <p:spPr>
          <a:xfrm>
            <a:off x="6254496" y="5202936"/>
            <a:ext cx="5129784" cy="250546"/>
          </a:xfrm>
          <a:prstGeom prst="rect">
            <a:avLst/>
          </a:prstGeom>
          <a:solidFill>
            <a:srgbClr val="FFFFFF"/>
          </a:solidFill>
          <a:ln w="12700">
            <a:solidFill>
              <a:srgbClr val="FFFFFF"/>
            </a:solidFill>
            <a:prstDash val="solid"/>
          </a:ln>
        </p:spPr>
        <p:txBody>
          <a:bodyPr/>
          <a:p/>
        </p:txBody>
      </p:sp>
      <p:sp>
        <p:nvSpPr>
          <p:cNvPr id="81" name="Text 79"/>
          <p:cNvSpPr/>
          <p:nvPr/>
        </p:nvSpPr>
        <p:spPr>
          <a:xfrm>
            <a:off x="6364224" y="5251501"/>
            <a:ext cx="3099816" cy="208280"/>
          </a:xfrm>
          <a:prstGeom prst="rect">
            <a:avLst/>
          </a:prstGeom>
          <a:noFill/>
          <a:ln/>
        </p:spPr>
        <p:txBody>
          <a:bodyPr wrap="square" lIns="0" tIns="0" rIns="0" bIns="0" rtlCol="0" anchor="ctr">
            <a:normAutofit fontScale="100000" lnSpcReduction="0"/>
          </a:bodyPr>
          <a:lstStyle/>
          <a:p>
            <a:pPr indent="0" marL="0">
              <a:buNone/>
            </a:pPr>
            <a:r>
              <a:rPr lang="en-US" sz="1200" b="1" dirty="0">
                <a:solidFill>
                  <a:srgbClr val="24282C"/>
                </a:solidFill>
                <a:latin typeface="Arial" pitchFamily="34" charset="0"/>
                <a:ea typeface="Arial" pitchFamily="34" charset="-122"/>
                <a:cs typeface="Arial" pitchFamily="34" charset="-120"/>
              </a:rPr>
              <a:t>Palestine</a:t>
            </a:r>
            <a:endParaRPr lang="en-US" sz="1200" dirty="0"/>
          </a:p>
        </p:txBody>
      </p:sp>
      <p:sp>
        <p:nvSpPr>
          <p:cNvPr id="82" name="Text 80"/>
          <p:cNvSpPr/>
          <p:nvPr/>
        </p:nvSpPr>
        <p:spPr>
          <a:xfrm>
            <a:off x="9683496" y="5251501"/>
            <a:ext cx="1591056" cy="208280"/>
          </a:xfrm>
          <a:prstGeom prst="rect">
            <a:avLst/>
          </a:prstGeom>
          <a:noFill/>
          <a:ln/>
        </p:spPr>
        <p:txBody>
          <a:bodyPr wrap="square" lIns="0" tIns="0" rIns="0" bIns="0" rtlCol="0" anchor="ctr">
            <a:normAutofit fontScale="100000" lnSpcReduction="0"/>
          </a:bodyPr>
          <a:lstStyle/>
          <a:p>
            <a:pPr indent="0" marL="0">
              <a:buNone/>
            </a:pPr>
            <a:r>
              <a:rPr lang="en-US" sz="1200" dirty="0">
                <a:solidFill>
                  <a:srgbClr val="626B72"/>
                </a:solidFill>
                <a:latin typeface="Arial" pitchFamily="34" charset="0"/>
                <a:ea typeface="Arial" pitchFamily="34" charset="-122"/>
                <a:cs typeface="Arial" pitchFamily="34" charset="-120"/>
              </a:rPr>
              <a:t>Not reported</a:t>
            </a:r>
            <a:endParaRPr lang="en-US" sz="1200" dirty="0"/>
          </a:p>
        </p:txBody>
      </p:sp>
      <p:sp>
        <p:nvSpPr>
          <p:cNvPr id="83" name="Shape 81"/>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84" name="Text 82"/>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Do not allocate multi-application billing to vehicle bands or infer workshop demand from these rates.</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ITUK MODEL</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Family deviations test the model as well as the purchasing.</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Deviation from 100% of modelled service units | Chart period is not labelled in the source</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23. Signed figures are retained; do not relabel this chart as a fiscal result.</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ITUK MODEL</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38</a:t>
            </a:r>
            <a:endParaRPr lang="en-US" sz="1050" dirty="0"/>
          </a:p>
        </p:txBody>
      </p:sp>
      <p:sp>
        <p:nvSpPr>
          <p:cNvPr id="11" name="Shape 9"/>
          <p:cNvSpPr/>
          <p:nvPr/>
        </p:nvSpPr>
        <p:spPr>
          <a:xfrm>
            <a:off x="594360" y="2340864"/>
            <a:ext cx="5129784" cy="365760"/>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3429000" cy="256032"/>
          </a:xfrm>
          <a:prstGeom prst="rect">
            <a:avLst/>
          </a:prstGeom>
          <a:noFill/>
          <a:ln/>
        </p:spPr>
        <p:txBody>
          <a:bodyPr wrap="square" lIns="0" tIns="0" rIns="0" bIns="0" rtlCol="0" anchor="ctr">
            <a:normAutofit fontScale="100000" lnSpcReduction="0"/>
          </a:bodyPr>
          <a:lstStyle/>
          <a:p>
            <a:pPr indent="0" marL="0">
              <a:buNone/>
            </a:pPr>
            <a:r>
              <a:rPr lang="en-US" sz="1050" b="1" dirty="0">
                <a:solidFill>
                  <a:srgbClr val="FFFFFF"/>
                </a:solidFill>
                <a:latin typeface="Arial" pitchFamily="34" charset="0"/>
                <a:ea typeface="Arial" pitchFamily="34" charset="-122"/>
                <a:cs typeface="Arial" pitchFamily="34" charset="-120"/>
              </a:rPr>
              <a:t>SOURCE FAMILY</a:t>
            </a:r>
            <a:endParaRPr lang="en-US" sz="1050" dirty="0"/>
          </a:p>
        </p:txBody>
      </p:sp>
      <p:sp>
        <p:nvSpPr>
          <p:cNvPr id="13" name="Text 11"/>
          <p:cNvSpPr/>
          <p:nvPr/>
        </p:nvSpPr>
        <p:spPr>
          <a:xfrm>
            <a:off x="4352544" y="2427732"/>
            <a:ext cx="1261872" cy="256032"/>
          </a:xfrm>
          <a:prstGeom prst="rect">
            <a:avLst/>
          </a:prstGeom>
          <a:noFill/>
          <a:ln/>
        </p:spPr>
        <p:txBody>
          <a:bodyPr wrap="square" lIns="0" tIns="0" rIns="0" bIns="0" rtlCol="0" anchor="ctr">
            <a:normAutofit fontScale="100000" lnSpcReduction="0"/>
          </a:bodyPr>
          <a:lstStyle/>
          <a:p>
            <a:pPr indent="0" marL="0">
              <a:buNone/>
            </a:pPr>
            <a:r>
              <a:rPr lang="en-US" sz="1050" b="1" dirty="0">
                <a:solidFill>
                  <a:srgbClr val="FFFFFF"/>
                </a:solidFill>
                <a:latin typeface="Arial" pitchFamily="34" charset="0"/>
                <a:ea typeface="Arial" pitchFamily="34" charset="-122"/>
                <a:cs typeface="Arial" pitchFamily="34" charset="-120"/>
              </a:rPr>
              <a:t>DEVIATION</a:t>
            </a:r>
            <a:endParaRPr lang="en-US" sz="1050" dirty="0"/>
          </a:p>
        </p:txBody>
      </p:sp>
      <p:sp>
        <p:nvSpPr>
          <p:cNvPr id="14" name="Shape 12"/>
          <p:cNvSpPr/>
          <p:nvPr/>
        </p:nvSpPr>
        <p:spPr>
          <a:xfrm>
            <a:off x="594360" y="2706624"/>
            <a:ext cx="5129784" cy="393192"/>
          </a:xfrm>
          <a:prstGeom prst="rect">
            <a:avLst/>
          </a:prstGeom>
          <a:solidFill>
            <a:srgbClr val="FFFFFF"/>
          </a:solidFill>
          <a:ln w="12700">
            <a:solidFill>
              <a:srgbClr val="FFFFFF"/>
            </a:solidFill>
            <a:prstDash val="solid"/>
          </a:ln>
        </p:spPr>
        <p:txBody>
          <a:bodyPr/>
          <a:p/>
        </p:txBody>
      </p:sp>
      <p:sp>
        <p:nvSpPr>
          <p:cNvPr id="15" name="Text 13"/>
          <p:cNvSpPr/>
          <p:nvPr/>
        </p:nvSpPr>
        <p:spPr>
          <a:xfrm>
            <a:off x="704088" y="2793492"/>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Blower Unit Filter</a:t>
            </a:r>
            <a:endParaRPr lang="en-US" sz="1320" dirty="0"/>
          </a:p>
        </p:txBody>
      </p:sp>
      <p:sp>
        <p:nvSpPr>
          <p:cNvPr id="16" name="Text 14"/>
          <p:cNvSpPr/>
          <p:nvPr/>
        </p:nvSpPr>
        <p:spPr>
          <a:xfrm>
            <a:off x="4352544" y="2793492"/>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-100.0 pp</a:t>
            </a:r>
            <a:endParaRPr lang="en-US" sz="1320" dirty="0"/>
          </a:p>
        </p:txBody>
      </p:sp>
      <p:sp>
        <p:nvSpPr>
          <p:cNvPr id="17" name="Shape 15"/>
          <p:cNvSpPr/>
          <p:nvPr/>
        </p:nvSpPr>
        <p:spPr>
          <a:xfrm>
            <a:off x="594360" y="3099816"/>
            <a:ext cx="5129784" cy="393192"/>
          </a:xfrm>
          <a:prstGeom prst="rect">
            <a:avLst/>
          </a:prstGeom>
          <a:solidFill>
            <a:srgbClr val="EEEDEA"/>
          </a:solidFill>
          <a:ln w="12700">
            <a:solidFill>
              <a:srgbClr val="EEEDEA"/>
            </a:solidFill>
            <a:prstDash val="solid"/>
          </a:ln>
        </p:spPr>
        <p:txBody>
          <a:bodyPr/>
          <a:p/>
        </p:txBody>
      </p:sp>
      <p:sp>
        <p:nvSpPr>
          <p:cNvPr id="18" name="Text 16"/>
          <p:cNvSpPr/>
          <p:nvPr/>
        </p:nvSpPr>
        <p:spPr>
          <a:xfrm>
            <a:off x="704088" y="3186684"/>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Pilot Bearing</a:t>
            </a:r>
            <a:endParaRPr lang="en-US" sz="1320" dirty="0"/>
          </a:p>
        </p:txBody>
      </p:sp>
      <p:sp>
        <p:nvSpPr>
          <p:cNvPr id="19" name="Text 17"/>
          <p:cNvSpPr/>
          <p:nvPr/>
        </p:nvSpPr>
        <p:spPr>
          <a:xfrm>
            <a:off x="4352544" y="3186684"/>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-100.0 pp</a:t>
            </a:r>
            <a:endParaRPr lang="en-US" sz="1320" dirty="0"/>
          </a:p>
        </p:txBody>
      </p:sp>
      <p:sp>
        <p:nvSpPr>
          <p:cNvPr id="20" name="Shape 18"/>
          <p:cNvSpPr/>
          <p:nvPr/>
        </p:nvSpPr>
        <p:spPr>
          <a:xfrm>
            <a:off x="594360" y="3493008"/>
            <a:ext cx="5129784" cy="393192"/>
          </a:xfrm>
          <a:prstGeom prst="rect">
            <a:avLst/>
          </a:prstGeom>
          <a:solidFill>
            <a:srgbClr val="FFFFFF"/>
          </a:solidFill>
          <a:ln w="12700">
            <a:solidFill>
              <a:srgbClr val="FFFFFF"/>
            </a:solidFill>
            <a:prstDash val="solid"/>
          </a:ln>
        </p:spPr>
        <p:txBody>
          <a:bodyPr/>
          <a:p/>
        </p:txBody>
      </p:sp>
      <p:sp>
        <p:nvSpPr>
          <p:cNvPr id="21" name="Text 19"/>
          <p:cNvSpPr/>
          <p:nvPr/>
        </p:nvSpPr>
        <p:spPr>
          <a:xfrm>
            <a:off x="704088" y="3579876"/>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Clutch Booster</a:t>
            </a:r>
            <a:endParaRPr lang="en-US" sz="1320" dirty="0"/>
          </a:p>
        </p:txBody>
      </p:sp>
      <p:sp>
        <p:nvSpPr>
          <p:cNvPr id="22" name="Text 20"/>
          <p:cNvSpPr/>
          <p:nvPr/>
        </p:nvSpPr>
        <p:spPr>
          <a:xfrm>
            <a:off x="4352544" y="3579876"/>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-99.8 pp</a:t>
            </a:r>
            <a:endParaRPr lang="en-US" sz="1320" dirty="0"/>
          </a:p>
        </p:txBody>
      </p:sp>
      <p:sp>
        <p:nvSpPr>
          <p:cNvPr id="23" name="Shape 21"/>
          <p:cNvSpPr/>
          <p:nvPr/>
        </p:nvSpPr>
        <p:spPr>
          <a:xfrm>
            <a:off x="594360" y="3886200"/>
            <a:ext cx="5129784" cy="393192"/>
          </a:xfrm>
          <a:prstGeom prst="rect">
            <a:avLst/>
          </a:prstGeom>
          <a:solidFill>
            <a:srgbClr val="EEEDEA"/>
          </a:solidFill>
          <a:ln w="12700">
            <a:solidFill>
              <a:srgbClr val="EEEDEA"/>
            </a:solidFill>
            <a:prstDash val="solid"/>
          </a:ln>
        </p:spPr>
        <p:txBody>
          <a:bodyPr/>
          <a:p/>
        </p:txBody>
      </p:sp>
      <p:sp>
        <p:nvSpPr>
          <p:cNvPr id="24" name="Text 22"/>
          <p:cNvSpPr/>
          <p:nvPr/>
        </p:nvSpPr>
        <p:spPr>
          <a:xfrm>
            <a:off x="704088" y="3973068"/>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Release Bearing</a:t>
            </a:r>
            <a:endParaRPr lang="en-US" sz="1320" dirty="0"/>
          </a:p>
        </p:txBody>
      </p:sp>
      <p:sp>
        <p:nvSpPr>
          <p:cNvPr id="25" name="Text 23"/>
          <p:cNvSpPr/>
          <p:nvPr/>
        </p:nvSpPr>
        <p:spPr>
          <a:xfrm>
            <a:off x="4352544" y="3973068"/>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-93.8 pp</a:t>
            </a:r>
            <a:endParaRPr lang="en-US" sz="1320" dirty="0"/>
          </a:p>
        </p:txBody>
      </p:sp>
      <p:sp>
        <p:nvSpPr>
          <p:cNvPr id="26" name="Shape 24"/>
          <p:cNvSpPr/>
          <p:nvPr/>
        </p:nvSpPr>
        <p:spPr>
          <a:xfrm>
            <a:off x="594360" y="4279392"/>
            <a:ext cx="5129784" cy="393192"/>
          </a:xfrm>
          <a:prstGeom prst="rect">
            <a:avLst/>
          </a:prstGeom>
          <a:solidFill>
            <a:srgbClr val="FFFFFF"/>
          </a:solidFill>
          <a:ln w="12700">
            <a:solidFill>
              <a:srgbClr val="FFFFFF"/>
            </a:solidFill>
            <a:prstDash val="solid"/>
          </a:ln>
        </p:spPr>
        <p:txBody>
          <a:bodyPr/>
          <a:p/>
        </p:txBody>
      </p:sp>
      <p:sp>
        <p:nvSpPr>
          <p:cNvPr id="27" name="Text 25"/>
          <p:cNvSpPr/>
          <p:nvPr/>
        </p:nvSpPr>
        <p:spPr>
          <a:xfrm>
            <a:off x="704088" y="4366260"/>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Urea (AdBlue) Filter</a:t>
            </a:r>
            <a:endParaRPr lang="en-US" sz="1320" dirty="0"/>
          </a:p>
        </p:txBody>
      </p:sp>
      <p:sp>
        <p:nvSpPr>
          <p:cNvPr id="28" name="Text 26"/>
          <p:cNvSpPr/>
          <p:nvPr/>
        </p:nvSpPr>
        <p:spPr>
          <a:xfrm>
            <a:off x="4352544" y="4366260"/>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-88.7 pp</a:t>
            </a:r>
            <a:endParaRPr lang="en-US" sz="1320" dirty="0"/>
          </a:p>
        </p:txBody>
      </p:sp>
      <p:sp>
        <p:nvSpPr>
          <p:cNvPr id="29" name="Shape 27"/>
          <p:cNvSpPr/>
          <p:nvPr/>
        </p:nvSpPr>
        <p:spPr>
          <a:xfrm>
            <a:off x="594360" y="4672584"/>
            <a:ext cx="5129784" cy="393192"/>
          </a:xfrm>
          <a:prstGeom prst="rect">
            <a:avLst/>
          </a:prstGeom>
          <a:solidFill>
            <a:srgbClr val="EEEDEA"/>
          </a:solidFill>
          <a:ln w="12700">
            <a:solidFill>
              <a:srgbClr val="EEEDEA"/>
            </a:solidFill>
            <a:prstDash val="solid"/>
          </a:ln>
        </p:spPr>
        <p:txBody>
          <a:bodyPr/>
          <a:p/>
        </p:txBody>
      </p:sp>
      <p:sp>
        <p:nvSpPr>
          <p:cNvPr id="30" name="Text 28"/>
          <p:cNvSpPr/>
          <p:nvPr/>
        </p:nvSpPr>
        <p:spPr>
          <a:xfrm>
            <a:off x="704088" y="4759452"/>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Brake Shoe</a:t>
            </a:r>
            <a:endParaRPr lang="en-US" sz="1320" dirty="0"/>
          </a:p>
        </p:txBody>
      </p:sp>
      <p:sp>
        <p:nvSpPr>
          <p:cNvPr id="31" name="Text 29"/>
          <p:cNvSpPr/>
          <p:nvPr/>
        </p:nvSpPr>
        <p:spPr>
          <a:xfrm>
            <a:off x="4352544" y="4759452"/>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-88.0 pp</a:t>
            </a:r>
            <a:endParaRPr lang="en-US" sz="1320" dirty="0"/>
          </a:p>
        </p:txBody>
      </p:sp>
      <p:sp>
        <p:nvSpPr>
          <p:cNvPr id="32" name="Shape 30"/>
          <p:cNvSpPr/>
          <p:nvPr/>
        </p:nvSpPr>
        <p:spPr>
          <a:xfrm>
            <a:off x="594360" y="5065776"/>
            <a:ext cx="5129784" cy="393192"/>
          </a:xfrm>
          <a:prstGeom prst="rect">
            <a:avLst/>
          </a:prstGeom>
          <a:solidFill>
            <a:srgbClr val="FFFFFF"/>
          </a:solidFill>
          <a:ln w="12700">
            <a:solidFill>
              <a:srgbClr val="FFFFFF"/>
            </a:solidFill>
            <a:prstDash val="solid"/>
          </a:ln>
        </p:spPr>
        <p:txBody>
          <a:bodyPr/>
          <a:p/>
        </p:txBody>
      </p:sp>
      <p:sp>
        <p:nvSpPr>
          <p:cNvPr id="33" name="Text 31"/>
          <p:cNvSpPr/>
          <p:nvPr/>
        </p:nvSpPr>
        <p:spPr>
          <a:xfrm>
            <a:off x="704088" y="5152644"/>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Clutch Pressure Plate</a:t>
            </a:r>
            <a:endParaRPr lang="en-US" sz="1320" dirty="0"/>
          </a:p>
        </p:txBody>
      </p:sp>
      <p:sp>
        <p:nvSpPr>
          <p:cNvPr id="34" name="Text 32"/>
          <p:cNvSpPr/>
          <p:nvPr/>
        </p:nvSpPr>
        <p:spPr>
          <a:xfrm>
            <a:off x="4352544" y="5152644"/>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-86.5 pp</a:t>
            </a:r>
            <a:endParaRPr lang="en-US" sz="1320" dirty="0"/>
          </a:p>
        </p:txBody>
      </p:sp>
      <p:sp>
        <p:nvSpPr>
          <p:cNvPr id="35" name="Shape 33"/>
          <p:cNvSpPr/>
          <p:nvPr/>
        </p:nvSpPr>
        <p:spPr>
          <a:xfrm>
            <a:off x="6254496" y="2340864"/>
            <a:ext cx="5129784" cy="365760"/>
          </a:xfrm>
          <a:prstGeom prst="rect">
            <a:avLst/>
          </a:prstGeom>
          <a:solidFill>
            <a:srgbClr val="24282C"/>
          </a:solidFill>
          <a:ln w="12700">
            <a:solidFill>
              <a:srgbClr val="24282C"/>
            </a:solidFill>
            <a:prstDash val="solid"/>
          </a:ln>
        </p:spPr>
        <p:txBody>
          <a:bodyPr/>
          <a:p/>
        </p:txBody>
      </p:sp>
      <p:sp>
        <p:nvSpPr>
          <p:cNvPr id="36" name="Text 34"/>
          <p:cNvSpPr/>
          <p:nvPr/>
        </p:nvSpPr>
        <p:spPr>
          <a:xfrm>
            <a:off x="6364224" y="2427732"/>
            <a:ext cx="3429000" cy="256032"/>
          </a:xfrm>
          <a:prstGeom prst="rect">
            <a:avLst/>
          </a:prstGeom>
          <a:noFill/>
          <a:ln/>
        </p:spPr>
        <p:txBody>
          <a:bodyPr wrap="square" lIns="0" tIns="0" rIns="0" bIns="0" rtlCol="0" anchor="ctr">
            <a:normAutofit fontScale="100000" lnSpcReduction="0"/>
          </a:bodyPr>
          <a:lstStyle/>
          <a:p>
            <a:pPr indent="0" marL="0">
              <a:buNone/>
            </a:pPr>
            <a:r>
              <a:rPr lang="en-US" sz="1050" b="1" dirty="0">
                <a:solidFill>
                  <a:srgbClr val="FFFFFF"/>
                </a:solidFill>
                <a:latin typeface="Arial" pitchFamily="34" charset="0"/>
                <a:ea typeface="Arial" pitchFamily="34" charset="-122"/>
                <a:cs typeface="Arial" pitchFamily="34" charset="-120"/>
              </a:rPr>
              <a:t>SOURCE FAMILY</a:t>
            </a:r>
            <a:endParaRPr lang="en-US" sz="1050" dirty="0"/>
          </a:p>
        </p:txBody>
      </p:sp>
      <p:sp>
        <p:nvSpPr>
          <p:cNvPr id="37" name="Text 35"/>
          <p:cNvSpPr/>
          <p:nvPr/>
        </p:nvSpPr>
        <p:spPr>
          <a:xfrm>
            <a:off x="10012680" y="2427732"/>
            <a:ext cx="1261872" cy="256032"/>
          </a:xfrm>
          <a:prstGeom prst="rect">
            <a:avLst/>
          </a:prstGeom>
          <a:noFill/>
          <a:ln/>
        </p:spPr>
        <p:txBody>
          <a:bodyPr wrap="square" lIns="0" tIns="0" rIns="0" bIns="0" rtlCol="0" anchor="ctr">
            <a:normAutofit fontScale="100000" lnSpcReduction="0"/>
          </a:bodyPr>
          <a:lstStyle/>
          <a:p>
            <a:pPr indent="0" marL="0">
              <a:buNone/>
            </a:pPr>
            <a:r>
              <a:rPr lang="en-US" sz="1050" b="1" dirty="0">
                <a:solidFill>
                  <a:srgbClr val="FFFFFF"/>
                </a:solidFill>
                <a:latin typeface="Arial" pitchFamily="34" charset="0"/>
                <a:ea typeface="Arial" pitchFamily="34" charset="-122"/>
                <a:cs typeface="Arial" pitchFamily="34" charset="-120"/>
              </a:rPr>
              <a:t>DEVIATION</a:t>
            </a:r>
            <a:endParaRPr lang="en-US" sz="1050" dirty="0"/>
          </a:p>
        </p:txBody>
      </p:sp>
      <p:sp>
        <p:nvSpPr>
          <p:cNvPr id="38" name="Shape 36"/>
          <p:cNvSpPr/>
          <p:nvPr/>
        </p:nvSpPr>
        <p:spPr>
          <a:xfrm>
            <a:off x="6254496" y="2706624"/>
            <a:ext cx="5129784" cy="393192"/>
          </a:xfrm>
          <a:prstGeom prst="rect">
            <a:avLst/>
          </a:prstGeom>
          <a:solidFill>
            <a:srgbClr val="FFFFFF"/>
          </a:solidFill>
          <a:ln w="12700">
            <a:solidFill>
              <a:srgbClr val="FFFFFF"/>
            </a:solidFill>
            <a:prstDash val="solid"/>
          </a:ln>
        </p:spPr>
        <p:txBody>
          <a:bodyPr/>
          <a:p/>
        </p:txBody>
      </p:sp>
      <p:sp>
        <p:nvSpPr>
          <p:cNvPr id="39" name="Text 37"/>
          <p:cNvSpPr/>
          <p:nvPr/>
        </p:nvSpPr>
        <p:spPr>
          <a:xfrm>
            <a:off x="6364224" y="2793492"/>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Clutch Disc</a:t>
            </a:r>
            <a:endParaRPr lang="en-US" sz="1320" dirty="0"/>
          </a:p>
        </p:txBody>
      </p:sp>
      <p:sp>
        <p:nvSpPr>
          <p:cNvPr id="40" name="Text 38"/>
          <p:cNvSpPr/>
          <p:nvPr/>
        </p:nvSpPr>
        <p:spPr>
          <a:xfrm>
            <a:off x="10012680" y="2793492"/>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-86.3 pp</a:t>
            </a:r>
            <a:endParaRPr lang="en-US" sz="1320" dirty="0"/>
          </a:p>
        </p:txBody>
      </p:sp>
      <p:sp>
        <p:nvSpPr>
          <p:cNvPr id="41" name="Shape 39"/>
          <p:cNvSpPr/>
          <p:nvPr/>
        </p:nvSpPr>
        <p:spPr>
          <a:xfrm>
            <a:off x="6254496" y="3099816"/>
            <a:ext cx="5129784" cy="393192"/>
          </a:xfrm>
          <a:prstGeom prst="rect">
            <a:avLst/>
          </a:prstGeom>
          <a:solidFill>
            <a:srgbClr val="EEEDEA"/>
          </a:solidFill>
          <a:ln w="12700">
            <a:solidFill>
              <a:srgbClr val="EEEDEA"/>
            </a:solidFill>
            <a:prstDash val="solid"/>
          </a:ln>
        </p:spPr>
        <p:txBody>
          <a:bodyPr/>
          <a:p/>
        </p:txBody>
      </p:sp>
      <p:sp>
        <p:nvSpPr>
          <p:cNvPr id="42" name="Text 40"/>
          <p:cNvSpPr/>
          <p:nvPr/>
        </p:nvSpPr>
        <p:spPr>
          <a:xfrm>
            <a:off x="6364224" y="3186684"/>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Clutch Kit</a:t>
            </a:r>
            <a:endParaRPr lang="en-US" sz="1320" dirty="0"/>
          </a:p>
        </p:txBody>
      </p:sp>
      <p:sp>
        <p:nvSpPr>
          <p:cNvPr id="43" name="Text 41"/>
          <p:cNvSpPr/>
          <p:nvPr/>
        </p:nvSpPr>
        <p:spPr>
          <a:xfrm>
            <a:off x="10012680" y="3186684"/>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-68.0 pp</a:t>
            </a:r>
            <a:endParaRPr lang="en-US" sz="1320" dirty="0"/>
          </a:p>
        </p:txBody>
      </p:sp>
      <p:sp>
        <p:nvSpPr>
          <p:cNvPr id="44" name="Shape 42"/>
          <p:cNvSpPr/>
          <p:nvPr/>
        </p:nvSpPr>
        <p:spPr>
          <a:xfrm>
            <a:off x="6254496" y="3493008"/>
            <a:ext cx="5129784" cy="393192"/>
          </a:xfrm>
          <a:prstGeom prst="rect">
            <a:avLst/>
          </a:prstGeom>
          <a:solidFill>
            <a:srgbClr val="FFFFFF"/>
          </a:solidFill>
          <a:ln w="12700">
            <a:solidFill>
              <a:srgbClr val="FFFFFF"/>
            </a:solidFill>
            <a:prstDash val="solid"/>
          </a:ln>
        </p:spPr>
        <p:txBody>
          <a:bodyPr/>
          <a:p/>
        </p:txBody>
      </p:sp>
      <p:sp>
        <p:nvSpPr>
          <p:cNvPr id="45" name="Text 43"/>
          <p:cNvSpPr/>
          <p:nvPr/>
        </p:nvSpPr>
        <p:spPr>
          <a:xfrm>
            <a:off x="6364224" y="3579876"/>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Brake Pad</a:t>
            </a:r>
            <a:endParaRPr lang="en-US" sz="1320" dirty="0"/>
          </a:p>
        </p:txBody>
      </p:sp>
      <p:sp>
        <p:nvSpPr>
          <p:cNvPr id="46" name="Text 44"/>
          <p:cNvSpPr/>
          <p:nvPr/>
        </p:nvSpPr>
        <p:spPr>
          <a:xfrm>
            <a:off x="10012680" y="3579876"/>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-27.1 pp</a:t>
            </a:r>
            <a:endParaRPr lang="en-US" sz="1320" dirty="0"/>
          </a:p>
        </p:txBody>
      </p:sp>
      <p:sp>
        <p:nvSpPr>
          <p:cNvPr id="47" name="Shape 45"/>
          <p:cNvSpPr/>
          <p:nvPr/>
        </p:nvSpPr>
        <p:spPr>
          <a:xfrm>
            <a:off x="6254496" y="3886200"/>
            <a:ext cx="5129784" cy="393192"/>
          </a:xfrm>
          <a:prstGeom prst="rect">
            <a:avLst/>
          </a:prstGeom>
          <a:solidFill>
            <a:srgbClr val="EEEDEA"/>
          </a:solidFill>
          <a:ln w="12700">
            <a:solidFill>
              <a:srgbClr val="EEEDEA"/>
            </a:solidFill>
            <a:prstDash val="solid"/>
          </a:ln>
        </p:spPr>
        <p:txBody>
          <a:bodyPr/>
          <a:p/>
        </p:txBody>
      </p:sp>
      <p:sp>
        <p:nvSpPr>
          <p:cNvPr id="48" name="Text 46"/>
          <p:cNvSpPr/>
          <p:nvPr/>
        </p:nvSpPr>
        <p:spPr>
          <a:xfrm>
            <a:off x="6364224" y="3973068"/>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Air Filter</a:t>
            </a:r>
            <a:endParaRPr lang="en-US" sz="1320" dirty="0"/>
          </a:p>
        </p:txBody>
      </p:sp>
      <p:sp>
        <p:nvSpPr>
          <p:cNvPr id="49" name="Text 47"/>
          <p:cNvSpPr/>
          <p:nvPr/>
        </p:nvSpPr>
        <p:spPr>
          <a:xfrm>
            <a:off x="10012680" y="3973068"/>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-8.4 pp</a:t>
            </a:r>
            <a:endParaRPr lang="en-US" sz="1320" dirty="0"/>
          </a:p>
        </p:txBody>
      </p:sp>
      <p:sp>
        <p:nvSpPr>
          <p:cNvPr id="50" name="Shape 48"/>
          <p:cNvSpPr/>
          <p:nvPr/>
        </p:nvSpPr>
        <p:spPr>
          <a:xfrm>
            <a:off x="6254496" y="4279392"/>
            <a:ext cx="5129784" cy="393192"/>
          </a:xfrm>
          <a:prstGeom prst="rect">
            <a:avLst/>
          </a:prstGeom>
          <a:solidFill>
            <a:srgbClr val="FFFFFF"/>
          </a:solidFill>
          <a:ln w="12700">
            <a:solidFill>
              <a:srgbClr val="FFFFFF"/>
            </a:solidFill>
            <a:prstDash val="solid"/>
          </a:ln>
        </p:spPr>
        <p:txBody>
          <a:bodyPr/>
          <a:p/>
        </p:txBody>
      </p:sp>
      <p:sp>
        <p:nvSpPr>
          <p:cNvPr id="51" name="Text 49"/>
          <p:cNvSpPr/>
          <p:nvPr/>
        </p:nvSpPr>
        <p:spPr>
          <a:xfrm>
            <a:off x="6364224" y="4366260"/>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Oil Filter</a:t>
            </a:r>
            <a:endParaRPr lang="en-US" sz="1320" dirty="0"/>
          </a:p>
        </p:txBody>
      </p:sp>
      <p:sp>
        <p:nvSpPr>
          <p:cNvPr id="52" name="Text 50"/>
          <p:cNvSpPr/>
          <p:nvPr/>
        </p:nvSpPr>
        <p:spPr>
          <a:xfrm>
            <a:off x="10012680" y="4366260"/>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+16.4 pp</a:t>
            </a:r>
            <a:endParaRPr lang="en-US" sz="1320" dirty="0"/>
          </a:p>
        </p:txBody>
      </p:sp>
      <p:sp>
        <p:nvSpPr>
          <p:cNvPr id="53" name="Shape 51"/>
          <p:cNvSpPr/>
          <p:nvPr/>
        </p:nvSpPr>
        <p:spPr>
          <a:xfrm>
            <a:off x="6254496" y="4672584"/>
            <a:ext cx="5129784" cy="393192"/>
          </a:xfrm>
          <a:prstGeom prst="rect">
            <a:avLst/>
          </a:prstGeom>
          <a:solidFill>
            <a:srgbClr val="EEEDEA"/>
          </a:solidFill>
          <a:ln w="12700">
            <a:solidFill>
              <a:srgbClr val="EEEDEA"/>
            </a:solidFill>
            <a:prstDash val="solid"/>
          </a:ln>
        </p:spPr>
        <p:txBody>
          <a:bodyPr/>
          <a:p/>
        </p:txBody>
      </p:sp>
      <p:sp>
        <p:nvSpPr>
          <p:cNvPr id="54" name="Text 52"/>
          <p:cNvSpPr/>
          <p:nvPr/>
        </p:nvSpPr>
        <p:spPr>
          <a:xfrm>
            <a:off x="6364224" y="4759452"/>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Fuel Filter</a:t>
            </a:r>
            <a:endParaRPr lang="en-US" sz="1320" dirty="0"/>
          </a:p>
        </p:txBody>
      </p:sp>
      <p:sp>
        <p:nvSpPr>
          <p:cNvPr id="55" name="Text 53"/>
          <p:cNvSpPr/>
          <p:nvPr/>
        </p:nvSpPr>
        <p:spPr>
          <a:xfrm>
            <a:off x="10012680" y="4759452"/>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+57.0 pp</a:t>
            </a:r>
            <a:endParaRPr lang="en-US" sz="1320" dirty="0"/>
          </a:p>
        </p:txBody>
      </p:sp>
      <p:sp>
        <p:nvSpPr>
          <p:cNvPr id="56" name="Shape 54"/>
          <p:cNvSpPr/>
          <p:nvPr/>
        </p:nvSpPr>
        <p:spPr>
          <a:xfrm>
            <a:off x="6254496" y="5065776"/>
            <a:ext cx="5129784" cy="393192"/>
          </a:xfrm>
          <a:prstGeom prst="rect">
            <a:avLst/>
          </a:prstGeom>
          <a:solidFill>
            <a:srgbClr val="FFFFFF"/>
          </a:solidFill>
          <a:ln w="12700">
            <a:solidFill>
              <a:srgbClr val="FFFFFF"/>
            </a:solidFill>
            <a:prstDash val="solid"/>
          </a:ln>
        </p:spPr>
        <p:txBody>
          <a:bodyPr/>
          <a:p/>
        </p:txBody>
      </p:sp>
      <p:sp>
        <p:nvSpPr>
          <p:cNvPr id="57" name="Text 55"/>
          <p:cNvSpPr/>
          <p:nvPr/>
        </p:nvSpPr>
        <p:spPr>
          <a:xfrm>
            <a:off x="6364224" y="5152644"/>
            <a:ext cx="3429000" cy="274320"/>
          </a:xfrm>
          <a:prstGeom prst="rect">
            <a:avLst/>
          </a:prstGeom>
          <a:noFill/>
          <a:ln/>
        </p:spPr>
        <p:txBody>
          <a:bodyPr wrap="square" lIns="0" tIns="0" rIns="0" bIns="0" rtlCol="0" anchor="ctr">
            <a:normAutofit fontScale="100000" lnSpcReduction="0"/>
          </a:bodyPr>
          <a:lstStyle/>
          <a:p>
            <a:pPr indent="0" marL="0">
              <a:buNone/>
            </a:pPr>
            <a:r>
              <a:rPr lang="en-US" sz="1320" b="1" dirty="0">
                <a:solidFill>
                  <a:srgbClr val="24282C"/>
                </a:solidFill>
                <a:latin typeface="Arial" pitchFamily="34" charset="0"/>
                <a:ea typeface="Arial" pitchFamily="34" charset="-122"/>
                <a:cs typeface="Arial" pitchFamily="34" charset="-120"/>
              </a:rPr>
              <a:t>Brake Rotor</a:t>
            </a:r>
            <a:endParaRPr lang="en-US" sz="1320" dirty="0"/>
          </a:p>
        </p:txBody>
      </p:sp>
      <p:sp>
        <p:nvSpPr>
          <p:cNvPr id="58" name="Text 56"/>
          <p:cNvSpPr/>
          <p:nvPr/>
        </p:nvSpPr>
        <p:spPr>
          <a:xfrm>
            <a:off x="10012680" y="5152644"/>
            <a:ext cx="1261872" cy="274320"/>
          </a:xfrm>
          <a:prstGeom prst="rect">
            <a:avLst/>
          </a:prstGeom>
          <a:noFill/>
          <a:ln/>
        </p:spPr>
        <p:txBody>
          <a:bodyPr wrap="square" lIns="0" tIns="0" rIns="0" bIns="0" rtlCol="0" anchor="ctr">
            <a:normAutofit fontScale="100000" lnSpcReduction="0"/>
          </a:bodyPr>
          <a:lstStyle/>
          <a:p>
            <a:pPr indent="0" marL="0">
              <a:buNone/>
            </a:pPr>
            <a:r>
              <a:rPr lang="en-US" sz="1320" dirty="0">
                <a:solidFill>
                  <a:srgbClr val="626B72"/>
                </a:solidFill>
                <a:latin typeface="Arial" pitchFamily="34" charset="0"/>
                <a:ea typeface="Arial" pitchFamily="34" charset="-122"/>
                <a:cs typeface="Arial" pitchFamily="34" charset="-120"/>
              </a:rPr>
              <a:t>+97.7 pp</a:t>
            </a:r>
            <a:endParaRPr lang="en-US" sz="1320" dirty="0"/>
          </a:p>
        </p:txBody>
      </p:sp>
      <p:sp>
        <p:nvSpPr>
          <p:cNvPr id="59" name="Shape 57"/>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60" name="Text 58"/>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Above 100% may reflect intervals, product scope, inventory timing or application assumptions - not market-share success.</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CLASSIFICATION FLAG</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The substitution flag is narrow - not a full exposure estimate.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2025 | Share of billing on source-flagged part numbers | Rounded source amounts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28. Network: 316 K€ flagged / 33.13 M€ billed = about 0.95%.</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CLASSIFICATION FLAG</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39</a:t>
            </a:r>
            <a:endParaRPr lang="en-US" sz="1050" dirty="0"/>
          </a:p>
        </p:txBody>
      </p:sp>
      <p:sp>
        <p:nvSpPr>
          <p:cNvPr id="11" name="Shape 9"/>
          <p:cNvSpPr/>
          <p:nvPr/>
        </p:nvSpPr>
        <p:spPr>
          <a:xfrm>
            <a:off x="594360" y="2340864"/>
            <a:ext cx="5129784" cy="365760"/>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2231136" cy="256032"/>
          </a:xfrm>
          <a:prstGeom prst="rect">
            <a:avLst/>
          </a:prstGeom>
          <a:noFill/>
          <a:ln/>
        </p:spPr>
        <p:txBody>
          <a:bodyPr wrap="square" lIns="0" tIns="0" rIns="0" bIns="0" rtlCol="0" anchor="ctr">
            <a:normAutofit fontScale="100000" lnSpcReduction="0"/>
          </a:bodyPr>
          <a:lstStyle/>
          <a:p>
            <a:pPr indent="0" marL="0">
              <a:buNone/>
            </a:pPr>
            <a:r>
              <a:rPr lang="en-US" sz="990" b="1" dirty="0">
                <a:solidFill>
                  <a:srgbClr val="FFFFFF"/>
                </a:solidFill>
                <a:latin typeface="Arial" pitchFamily="34" charset="0"/>
                <a:ea typeface="Arial" pitchFamily="34" charset="-122"/>
                <a:cs typeface="Arial" pitchFamily="34" charset="-120"/>
              </a:rPr>
              <a:t>SOURCE LABEL</a:t>
            </a:r>
            <a:endParaRPr lang="en-US" sz="990" dirty="0"/>
          </a:p>
        </p:txBody>
      </p:sp>
      <p:sp>
        <p:nvSpPr>
          <p:cNvPr id="13" name="Text 11"/>
          <p:cNvSpPr/>
          <p:nvPr/>
        </p:nvSpPr>
        <p:spPr>
          <a:xfrm>
            <a:off x="3154680" y="2427732"/>
            <a:ext cx="768096" cy="256032"/>
          </a:xfrm>
          <a:prstGeom prst="rect">
            <a:avLst/>
          </a:prstGeom>
          <a:noFill/>
          <a:ln/>
        </p:spPr>
        <p:txBody>
          <a:bodyPr wrap="square" lIns="0" tIns="0" rIns="0" bIns="0" rtlCol="0" anchor="ctr">
            <a:normAutofit fontScale="100000" lnSpcReduction="0"/>
          </a:bodyPr>
          <a:lstStyle/>
          <a:p>
            <a:pPr indent="0" marL="0">
              <a:buNone/>
            </a:pPr>
            <a:r>
              <a:rPr lang="en-US" sz="990" b="1" dirty="0">
                <a:solidFill>
                  <a:srgbClr val="FFFFFF"/>
                </a:solidFill>
                <a:latin typeface="Arial" pitchFamily="34" charset="0"/>
                <a:ea typeface="Arial" pitchFamily="34" charset="-122"/>
                <a:cs typeface="Arial" pitchFamily="34" charset="-120"/>
              </a:rPr>
              <a:t>FLAGGED</a:t>
            </a:r>
            <a:endParaRPr lang="en-US" sz="990" dirty="0"/>
          </a:p>
        </p:txBody>
      </p:sp>
      <p:sp>
        <p:nvSpPr>
          <p:cNvPr id="14" name="Text 12"/>
          <p:cNvSpPr/>
          <p:nvPr/>
        </p:nvSpPr>
        <p:spPr>
          <a:xfrm>
            <a:off x="4142232" y="2427732"/>
            <a:ext cx="1472184" cy="256032"/>
          </a:xfrm>
          <a:prstGeom prst="rect">
            <a:avLst/>
          </a:prstGeom>
          <a:noFill/>
          <a:ln/>
        </p:spPr>
        <p:txBody>
          <a:bodyPr wrap="square" lIns="0" tIns="0" rIns="0" bIns="0" rtlCol="0" anchor="ctr">
            <a:normAutofit fontScale="100000" lnSpcReduction="0"/>
          </a:bodyPr>
          <a:lstStyle/>
          <a:p>
            <a:pPr indent="0" marL="0">
              <a:buNone/>
            </a:pPr>
            <a:r>
              <a:rPr lang="en-US" sz="990" b="1" dirty="0">
                <a:solidFill>
                  <a:srgbClr val="FFFFFF"/>
                </a:solidFill>
                <a:latin typeface="Arial" pitchFamily="34" charset="0"/>
                <a:ea typeface="Arial" pitchFamily="34" charset="-122"/>
                <a:cs typeface="Arial" pitchFamily="34" charset="-120"/>
              </a:rPr>
              <a:t>VALUE</a:t>
            </a:r>
            <a:endParaRPr lang="en-US" sz="990" dirty="0"/>
          </a:p>
        </p:txBody>
      </p:sp>
      <p:sp>
        <p:nvSpPr>
          <p:cNvPr id="15" name="Shape 13"/>
          <p:cNvSpPr/>
          <p:nvPr/>
        </p:nvSpPr>
        <p:spPr>
          <a:xfrm>
            <a:off x="594360" y="2706624"/>
            <a:ext cx="5129784" cy="249631"/>
          </a:xfrm>
          <a:prstGeom prst="rect">
            <a:avLst/>
          </a:prstGeom>
          <a:solidFill>
            <a:srgbClr val="FFFFFF"/>
          </a:solidFill>
          <a:ln w="12700">
            <a:solidFill>
              <a:srgbClr val="FFFFFF"/>
            </a:solidFill>
            <a:prstDash val="solid"/>
          </a:ln>
        </p:spPr>
        <p:txBody>
          <a:bodyPr/>
          <a:p/>
        </p:txBody>
      </p:sp>
      <p:sp>
        <p:nvSpPr>
          <p:cNvPr id="16" name="Text 14"/>
          <p:cNvSpPr/>
          <p:nvPr/>
        </p:nvSpPr>
        <p:spPr>
          <a:xfrm>
            <a:off x="704088" y="2756382"/>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Hungary</a:t>
            </a:r>
            <a:endParaRPr lang="en-US" sz="1180" dirty="0"/>
          </a:p>
        </p:txBody>
      </p:sp>
      <p:sp>
        <p:nvSpPr>
          <p:cNvPr id="17" name="Text 15"/>
          <p:cNvSpPr/>
          <p:nvPr/>
        </p:nvSpPr>
        <p:spPr>
          <a:xfrm>
            <a:off x="3154680" y="2756382"/>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2.13%</a:t>
            </a:r>
            <a:endParaRPr lang="en-US" sz="1180" dirty="0"/>
          </a:p>
        </p:txBody>
      </p:sp>
      <p:sp>
        <p:nvSpPr>
          <p:cNvPr id="18" name="Text 16"/>
          <p:cNvSpPr/>
          <p:nvPr/>
        </p:nvSpPr>
        <p:spPr>
          <a:xfrm>
            <a:off x="4142232" y="2756382"/>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7 K€</a:t>
            </a:r>
            <a:endParaRPr lang="en-US" sz="1180" dirty="0"/>
          </a:p>
        </p:txBody>
      </p:sp>
      <p:sp>
        <p:nvSpPr>
          <p:cNvPr id="19" name="Shape 17"/>
          <p:cNvSpPr/>
          <p:nvPr/>
        </p:nvSpPr>
        <p:spPr>
          <a:xfrm>
            <a:off x="594360" y="2956255"/>
            <a:ext cx="5129784" cy="249631"/>
          </a:xfrm>
          <a:prstGeom prst="rect">
            <a:avLst/>
          </a:prstGeom>
          <a:solidFill>
            <a:srgbClr val="EEEDEA"/>
          </a:solidFill>
          <a:ln w="12700">
            <a:solidFill>
              <a:srgbClr val="EEEDEA"/>
            </a:solidFill>
            <a:prstDash val="solid"/>
          </a:ln>
        </p:spPr>
        <p:txBody>
          <a:bodyPr/>
          <a:p/>
        </p:txBody>
      </p:sp>
      <p:sp>
        <p:nvSpPr>
          <p:cNvPr id="20" name="Text 18"/>
          <p:cNvSpPr/>
          <p:nvPr/>
        </p:nvSpPr>
        <p:spPr>
          <a:xfrm>
            <a:off x="704088" y="3006013"/>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Norway</a:t>
            </a:r>
            <a:endParaRPr lang="en-US" sz="1180" dirty="0"/>
          </a:p>
        </p:txBody>
      </p:sp>
      <p:sp>
        <p:nvSpPr>
          <p:cNvPr id="21" name="Text 19"/>
          <p:cNvSpPr/>
          <p:nvPr/>
        </p:nvSpPr>
        <p:spPr>
          <a:xfrm>
            <a:off x="3154680" y="3006013"/>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2.09%</a:t>
            </a:r>
            <a:endParaRPr lang="en-US" sz="1180" dirty="0"/>
          </a:p>
        </p:txBody>
      </p:sp>
      <p:sp>
        <p:nvSpPr>
          <p:cNvPr id="22" name="Text 20"/>
          <p:cNvSpPr/>
          <p:nvPr/>
        </p:nvSpPr>
        <p:spPr>
          <a:xfrm>
            <a:off x="4142232" y="3006013"/>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30 K€</a:t>
            </a:r>
            <a:endParaRPr lang="en-US" sz="1180" dirty="0"/>
          </a:p>
        </p:txBody>
      </p:sp>
      <p:sp>
        <p:nvSpPr>
          <p:cNvPr id="23" name="Shape 21"/>
          <p:cNvSpPr/>
          <p:nvPr/>
        </p:nvSpPr>
        <p:spPr>
          <a:xfrm>
            <a:off x="594360" y="3205886"/>
            <a:ext cx="5129784" cy="249631"/>
          </a:xfrm>
          <a:prstGeom prst="rect">
            <a:avLst/>
          </a:prstGeom>
          <a:solidFill>
            <a:srgbClr val="FFFFFF"/>
          </a:solidFill>
          <a:ln w="12700">
            <a:solidFill>
              <a:srgbClr val="FFFFFF"/>
            </a:solidFill>
            <a:prstDash val="solid"/>
          </a:ln>
        </p:spPr>
        <p:txBody>
          <a:bodyPr/>
          <a:p/>
        </p:txBody>
      </p:sp>
      <p:sp>
        <p:nvSpPr>
          <p:cNvPr id="24" name="Text 22"/>
          <p:cNvSpPr/>
          <p:nvPr/>
        </p:nvSpPr>
        <p:spPr>
          <a:xfrm>
            <a:off x="704088" y="3255644"/>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IUK</a:t>
            </a:r>
            <a:endParaRPr lang="en-US" sz="1180" dirty="0"/>
          </a:p>
        </p:txBody>
      </p:sp>
      <p:sp>
        <p:nvSpPr>
          <p:cNvPr id="25" name="Text 23"/>
          <p:cNvSpPr/>
          <p:nvPr/>
        </p:nvSpPr>
        <p:spPr>
          <a:xfrm>
            <a:off x="3154680" y="3255644"/>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1.77%</a:t>
            </a:r>
            <a:endParaRPr lang="en-US" sz="1180" dirty="0"/>
          </a:p>
        </p:txBody>
      </p:sp>
      <p:sp>
        <p:nvSpPr>
          <p:cNvPr id="26" name="Text 24"/>
          <p:cNvSpPr/>
          <p:nvPr/>
        </p:nvSpPr>
        <p:spPr>
          <a:xfrm>
            <a:off x="4142232" y="3255644"/>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109 K€</a:t>
            </a:r>
            <a:endParaRPr lang="en-US" sz="1180" dirty="0"/>
          </a:p>
        </p:txBody>
      </p:sp>
      <p:sp>
        <p:nvSpPr>
          <p:cNvPr id="27" name="Shape 25"/>
          <p:cNvSpPr/>
          <p:nvPr/>
        </p:nvSpPr>
        <p:spPr>
          <a:xfrm>
            <a:off x="594360" y="3455518"/>
            <a:ext cx="5129784" cy="249631"/>
          </a:xfrm>
          <a:prstGeom prst="rect">
            <a:avLst/>
          </a:prstGeom>
          <a:solidFill>
            <a:srgbClr val="EEEDEA"/>
          </a:solidFill>
          <a:ln w="12700">
            <a:solidFill>
              <a:srgbClr val="EEEDEA"/>
            </a:solidFill>
            <a:prstDash val="solid"/>
          </a:ln>
        </p:spPr>
        <p:txBody>
          <a:bodyPr/>
          <a:p/>
        </p:txBody>
      </p:sp>
      <p:sp>
        <p:nvSpPr>
          <p:cNvPr id="28" name="Text 26"/>
          <p:cNvSpPr/>
          <p:nvPr/>
        </p:nvSpPr>
        <p:spPr>
          <a:xfrm>
            <a:off x="704088" y="3505276"/>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Germany</a:t>
            </a:r>
            <a:endParaRPr lang="en-US" sz="1180" dirty="0"/>
          </a:p>
        </p:txBody>
      </p:sp>
      <p:sp>
        <p:nvSpPr>
          <p:cNvPr id="29" name="Text 27"/>
          <p:cNvSpPr/>
          <p:nvPr/>
        </p:nvSpPr>
        <p:spPr>
          <a:xfrm>
            <a:off x="3154680" y="3505276"/>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1.55%</a:t>
            </a:r>
            <a:endParaRPr lang="en-US" sz="1180" dirty="0"/>
          </a:p>
        </p:txBody>
      </p:sp>
      <p:sp>
        <p:nvSpPr>
          <p:cNvPr id="30" name="Text 28"/>
          <p:cNvSpPr/>
          <p:nvPr/>
        </p:nvSpPr>
        <p:spPr>
          <a:xfrm>
            <a:off x="4142232" y="3505276"/>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39 K€</a:t>
            </a:r>
            <a:endParaRPr lang="en-US" sz="1180" dirty="0"/>
          </a:p>
        </p:txBody>
      </p:sp>
      <p:sp>
        <p:nvSpPr>
          <p:cNvPr id="31" name="Shape 29"/>
          <p:cNvSpPr/>
          <p:nvPr/>
        </p:nvSpPr>
        <p:spPr>
          <a:xfrm>
            <a:off x="594360" y="3705149"/>
            <a:ext cx="5129784" cy="249631"/>
          </a:xfrm>
          <a:prstGeom prst="rect">
            <a:avLst/>
          </a:prstGeom>
          <a:solidFill>
            <a:srgbClr val="FFFFFF"/>
          </a:solidFill>
          <a:ln w="12700">
            <a:solidFill>
              <a:srgbClr val="FFFFFF"/>
            </a:solidFill>
            <a:prstDash val="solid"/>
          </a:ln>
        </p:spPr>
        <p:txBody>
          <a:bodyPr/>
          <a:p/>
        </p:txBody>
      </p:sp>
      <p:sp>
        <p:nvSpPr>
          <p:cNvPr id="32" name="Text 30"/>
          <p:cNvSpPr/>
          <p:nvPr/>
        </p:nvSpPr>
        <p:spPr>
          <a:xfrm>
            <a:off x="704088" y="3754907"/>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Malta</a:t>
            </a:r>
            <a:endParaRPr lang="en-US" sz="1180" dirty="0"/>
          </a:p>
        </p:txBody>
      </p:sp>
      <p:sp>
        <p:nvSpPr>
          <p:cNvPr id="33" name="Text 31"/>
          <p:cNvSpPr/>
          <p:nvPr/>
        </p:nvSpPr>
        <p:spPr>
          <a:xfrm>
            <a:off x="3154680" y="3754907"/>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1.45%</a:t>
            </a:r>
            <a:endParaRPr lang="en-US" sz="1180" dirty="0"/>
          </a:p>
        </p:txBody>
      </p:sp>
      <p:sp>
        <p:nvSpPr>
          <p:cNvPr id="34" name="Text 32"/>
          <p:cNvSpPr/>
          <p:nvPr/>
        </p:nvSpPr>
        <p:spPr>
          <a:xfrm>
            <a:off x="4142232" y="3754907"/>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3 K€</a:t>
            </a:r>
            <a:endParaRPr lang="en-US" sz="1180" dirty="0"/>
          </a:p>
        </p:txBody>
      </p:sp>
      <p:sp>
        <p:nvSpPr>
          <p:cNvPr id="35" name="Shape 33"/>
          <p:cNvSpPr/>
          <p:nvPr/>
        </p:nvSpPr>
        <p:spPr>
          <a:xfrm>
            <a:off x="594360" y="3954780"/>
            <a:ext cx="5129784" cy="249631"/>
          </a:xfrm>
          <a:prstGeom prst="rect">
            <a:avLst/>
          </a:prstGeom>
          <a:solidFill>
            <a:srgbClr val="EEEDEA"/>
          </a:solidFill>
          <a:ln w="12700">
            <a:solidFill>
              <a:srgbClr val="EEEDEA"/>
            </a:solidFill>
            <a:prstDash val="solid"/>
          </a:ln>
        </p:spPr>
        <p:txBody>
          <a:bodyPr/>
          <a:p/>
        </p:txBody>
      </p:sp>
      <p:sp>
        <p:nvSpPr>
          <p:cNvPr id="36" name="Text 34"/>
          <p:cNvSpPr/>
          <p:nvPr/>
        </p:nvSpPr>
        <p:spPr>
          <a:xfrm>
            <a:off x="704088" y="4004538"/>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Finland</a:t>
            </a:r>
            <a:endParaRPr lang="en-US" sz="1180" dirty="0"/>
          </a:p>
        </p:txBody>
      </p:sp>
      <p:sp>
        <p:nvSpPr>
          <p:cNvPr id="37" name="Text 35"/>
          <p:cNvSpPr/>
          <p:nvPr/>
        </p:nvSpPr>
        <p:spPr>
          <a:xfrm>
            <a:off x="3154680" y="4004538"/>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1.27%</a:t>
            </a:r>
            <a:endParaRPr lang="en-US" sz="1180" dirty="0"/>
          </a:p>
        </p:txBody>
      </p:sp>
      <p:sp>
        <p:nvSpPr>
          <p:cNvPr id="38" name="Text 36"/>
          <p:cNvSpPr/>
          <p:nvPr/>
        </p:nvSpPr>
        <p:spPr>
          <a:xfrm>
            <a:off x="4142232" y="4004538"/>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4 K€</a:t>
            </a:r>
            <a:endParaRPr lang="en-US" sz="1180" dirty="0"/>
          </a:p>
        </p:txBody>
      </p:sp>
      <p:sp>
        <p:nvSpPr>
          <p:cNvPr id="39" name="Shape 37"/>
          <p:cNvSpPr/>
          <p:nvPr/>
        </p:nvSpPr>
        <p:spPr>
          <a:xfrm>
            <a:off x="594360" y="4204411"/>
            <a:ext cx="5129784" cy="249631"/>
          </a:xfrm>
          <a:prstGeom prst="rect">
            <a:avLst/>
          </a:prstGeom>
          <a:solidFill>
            <a:srgbClr val="FFFFFF"/>
          </a:solidFill>
          <a:ln w="12700">
            <a:solidFill>
              <a:srgbClr val="FFFFFF"/>
            </a:solidFill>
            <a:prstDash val="solid"/>
          </a:ln>
        </p:spPr>
        <p:txBody>
          <a:bodyPr/>
          <a:p/>
        </p:txBody>
      </p:sp>
      <p:sp>
        <p:nvSpPr>
          <p:cNvPr id="40" name="Text 38"/>
          <p:cNvSpPr/>
          <p:nvPr/>
        </p:nvSpPr>
        <p:spPr>
          <a:xfrm>
            <a:off x="704088" y="4254169"/>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Belgium</a:t>
            </a:r>
            <a:endParaRPr lang="en-US" sz="1180" dirty="0"/>
          </a:p>
        </p:txBody>
      </p:sp>
      <p:sp>
        <p:nvSpPr>
          <p:cNvPr id="41" name="Text 39"/>
          <p:cNvSpPr/>
          <p:nvPr/>
        </p:nvSpPr>
        <p:spPr>
          <a:xfrm>
            <a:off x="3154680" y="4254169"/>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1.22%</a:t>
            </a:r>
            <a:endParaRPr lang="en-US" sz="1180" dirty="0"/>
          </a:p>
        </p:txBody>
      </p:sp>
      <p:sp>
        <p:nvSpPr>
          <p:cNvPr id="42" name="Text 40"/>
          <p:cNvSpPr/>
          <p:nvPr/>
        </p:nvSpPr>
        <p:spPr>
          <a:xfrm>
            <a:off x="4142232" y="4254169"/>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26 K€</a:t>
            </a:r>
            <a:endParaRPr lang="en-US" sz="1180" dirty="0"/>
          </a:p>
        </p:txBody>
      </p:sp>
      <p:sp>
        <p:nvSpPr>
          <p:cNvPr id="43" name="Shape 41"/>
          <p:cNvSpPr/>
          <p:nvPr/>
        </p:nvSpPr>
        <p:spPr>
          <a:xfrm>
            <a:off x="594360" y="4454042"/>
            <a:ext cx="5129784" cy="249631"/>
          </a:xfrm>
          <a:prstGeom prst="rect">
            <a:avLst/>
          </a:prstGeom>
          <a:solidFill>
            <a:srgbClr val="EEEDEA"/>
          </a:solidFill>
          <a:ln w="12700">
            <a:solidFill>
              <a:srgbClr val="EEEDEA"/>
            </a:solidFill>
            <a:prstDash val="solid"/>
          </a:ln>
        </p:spPr>
        <p:txBody>
          <a:bodyPr/>
          <a:p/>
        </p:txBody>
      </p:sp>
      <p:sp>
        <p:nvSpPr>
          <p:cNvPr id="44" name="Text 42"/>
          <p:cNvSpPr/>
          <p:nvPr/>
        </p:nvSpPr>
        <p:spPr>
          <a:xfrm>
            <a:off x="704088" y="4503800"/>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Ireland</a:t>
            </a:r>
            <a:endParaRPr lang="en-US" sz="1180" dirty="0"/>
          </a:p>
        </p:txBody>
      </p:sp>
      <p:sp>
        <p:nvSpPr>
          <p:cNvPr id="45" name="Text 43"/>
          <p:cNvSpPr/>
          <p:nvPr/>
        </p:nvSpPr>
        <p:spPr>
          <a:xfrm>
            <a:off x="3154680" y="4503800"/>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1.06%</a:t>
            </a:r>
            <a:endParaRPr lang="en-US" sz="1180" dirty="0"/>
          </a:p>
        </p:txBody>
      </p:sp>
      <p:sp>
        <p:nvSpPr>
          <p:cNvPr id="46" name="Text 44"/>
          <p:cNvSpPr/>
          <p:nvPr/>
        </p:nvSpPr>
        <p:spPr>
          <a:xfrm>
            <a:off x="4142232" y="4503800"/>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13 K€</a:t>
            </a:r>
            <a:endParaRPr lang="en-US" sz="1180" dirty="0"/>
          </a:p>
        </p:txBody>
      </p:sp>
      <p:sp>
        <p:nvSpPr>
          <p:cNvPr id="47" name="Shape 45"/>
          <p:cNvSpPr/>
          <p:nvPr/>
        </p:nvSpPr>
        <p:spPr>
          <a:xfrm>
            <a:off x="594360" y="4703674"/>
            <a:ext cx="5129784" cy="249631"/>
          </a:xfrm>
          <a:prstGeom prst="rect">
            <a:avLst/>
          </a:prstGeom>
          <a:solidFill>
            <a:srgbClr val="FFFFFF"/>
          </a:solidFill>
          <a:ln w="12700">
            <a:solidFill>
              <a:srgbClr val="FFFFFF"/>
            </a:solidFill>
            <a:prstDash val="solid"/>
          </a:ln>
        </p:spPr>
        <p:txBody>
          <a:bodyPr/>
          <a:p/>
        </p:txBody>
      </p:sp>
      <p:sp>
        <p:nvSpPr>
          <p:cNvPr id="48" name="Text 46"/>
          <p:cNvSpPr/>
          <p:nvPr/>
        </p:nvSpPr>
        <p:spPr>
          <a:xfrm>
            <a:off x="704088" y="4753432"/>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Denmark</a:t>
            </a:r>
            <a:endParaRPr lang="en-US" sz="1180" dirty="0"/>
          </a:p>
        </p:txBody>
      </p:sp>
      <p:sp>
        <p:nvSpPr>
          <p:cNvPr id="49" name="Text 47"/>
          <p:cNvSpPr/>
          <p:nvPr/>
        </p:nvSpPr>
        <p:spPr>
          <a:xfrm>
            <a:off x="3154680" y="4753432"/>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0.91%</a:t>
            </a:r>
            <a:endParaRPr lang="en-US" sz="1180" dirty="0"/>
          </a:p>
        </p:txBody>
      </p:sp>
      <p:sp>
        <p:nvSpPr>
          <p:cNvPr id="50" name="Text 48"/>
          <p:cNvSpPr/>
          <p:nvPr/>
        </p:nvSpPr>
        <p:spPr>
          <a:xfrm>
            <a:off x="4142232" y="4753432"/>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 K€</a:t>
            </a:r>
            <a:endParaRPr lang="en-US" sz="1180" dirty="0"/>
          </a:p>
        </p:txBody>
      </p:sp>
      <p:sp>
        <p:nvSpPr>
          <p:cNvPr id="51" name="Shape 49"/>
          <p:cNvSpPr/>
          <p:nvPr/>
        </p:nvSpPr>
        <p:spPr>
          <a:xfrm>
            <a:off x="594360" y="4953305"/>
            <a:ext cx="5129784" cy="249631"/>
          </a:xfrm>
          <a:prstGeom prst="rect">
            <a:avLst/>
          </a:prstGeom>
          <a:solidFill>
            <a:srgbClr val="EEEDEA"/>
          </a:solidFill>
          <a:ln w="12700">
            <a:solidFill>
              <a:srgbClr val="EEEDEA"/>
            </a:solidFill>
            <a:prstDash val="solid"/>
          </a:ln>
        </p:spPr>
        <p:txBody>
          <a:bodyPr/>
          <a:p/>
        </p:txBody>
      </p:sp>
      <p:sp>
        <p:nvSpPr>
          <p:cNvPr id="52" name="Text 50"/>
          <p:cNvSpPr/>
          <p:nvPr/>
        </p:nvSpPr>
        <p:spPr>
          <a:xfrm>
            <a:off x="704088" y="5003063"/>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UMI (Israel)</a:t>
            </a:r>
            <a:endParaRPr lang="en-US" sz="1180" dirty="0"/>
          </a:p>
        </p:txBody>
      </p:sp>
      <p:sp>
        <p:nvSpPr>
          <p:cNvPr id="53" name="Text 51"/>
          <p:cNvSpPr/>
          <p:nvPr/>
        </p:nvSpPr>
        <p:spPr>
          <a:xfrm>
            <a:off x="3154680" y="5003063"/>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0.88%</a:t>
            </a:r>
            <a:endParaRPr lang="en-US" sz="1180" dirty="0"/>
          </a:p>
        </p:txBody>
      </p:sp>
      <p:sp>
        <p:nvSpPr>
          <p:cNvPr id="54" name="Text 52"/>
          <p:cNvSpPr/>
          <p:nvPr/>
        </p:nvSpPr>
        <p:spPr>
          <a:xfrm>
            <a:off x="4142232" y="5003063"/>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25 K€</a:t>
            </a:r>
            <a:endParaRPr lang="en-US" sz="1180" dirty="0"/>
          </a:p>
        </p:txBody>
      </p:sp>
      <p:sp>
        <p:nvSpPr>
          <p:cNvPr id="55" name="Shape 53"/>
          <p:cNvSpPr/>
          <p:nvPr/>
        </p:nvSpPr>
        <p:spPr>
          <a:xfrm>
            <a:off x="594360" y="5202936"/>
            <a:ext cx="5129784" cy="249631"/>
          </a:xfrm>
          <a:prstGeom prst="rect">
            <a:avLst/>
          </a:prstGeom>
          <a:solidFill>
            <a:srgbClr val="FFFFFF"/>
          </a:solidFill>
          <a:ln w="12700">
            <a:solidFill>
              <a:srgbClr val="FFFFFF"/>
            </a:solidFill>
            <a:prstDash val="solid"/>
          </a:ln>
        </p:spPr>
        <p:txBody>
          <a:bodyPr/>
          <a:p/>
        </p:txBody>
      </p:sp>
      <p:sp>
        <p:nvSpPr>
          <p:cNvPr id="56" name="Text 54"/>
          <p:cNvSpPr/>
          <p:nvPr/>
        </p:nvSpPr>
        <p:spPr>
          <a:xfrm>
            <a:off x="704088" y="5252694"/>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Sweden</a:t>
            </a:r>
            <a:endParaRPr lang="en-US" sz="1180" dirty="0"/>
          </a:p>
        </p:txBody>
      </p:sp>
      <p:sp>
        <p:nvSpPr>
          <p:cNvPr id="57" name="Text 55"/>
          <p:cNvSpPr/>
          <p:nvPr/>
        </p:nvSpPr>
        <p:spPr>
          <a:xfrm>
            <a:off x="3154680" y="5252694"/>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0.88%</a:t>
            </a:r>
            <a:endParaRPr lang="en-US" sz="1180" dirty="0"/>
          </a:p>
        </p:txBody>
      </p:sp>
      <p:sp>
        <p:nvSpPr>
          <p:cNvPr id="58" name="Text 56"/>
          <p:cNvSpPr/>
          <p:nvPr/>
        </p:nvSpPr>
        <p:spPr>
          <a:xfrm>
            <a:off x="4142232" y="5252694"/>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11 K€</a:t>
            </a:r>
            <a:endParaRPr lang="en-US" sz="1180" dirty="0"/>
          </a:p>
        </p:txBody>
      </p:sp>
      <p:sp>
        <p:nvSpPr>
          <p:cNvPr id="59" name="Shape 57"/>
          <p:cNvSpPr/>
          <p:nvPr/>
        </p:nvSpPr>
        <p:spPr>
          <a:xfrm>
            <a:off x="6254496" y="2340864"/>
            <a:ext cx="5129784" cy="365760"/>
          </a:xfrm>
          <a:prstGeom prst="rect">
            <a:avLst/>
          </a:prstGeom>
          <a:solidFill>
            <a:srgbClr val="24282C"/>
          </a:solidFill>
          <a:ln w="12700">
            <a:solidFill>
              <a:srgbClr val="24282C"/>
            </a:solidFill>
            <a:prstDash val="solid"/>
          </a:ln>
        </p:spPr>
        <p:txBody>
          <a:bodyPr/>
          <a:p/>
        </p:txBody>
      </p:sp>
      <p:sp>
        <p:nvSpPr>
          <p:cNvPr id="60" name="Text 58"/>
          <p:cNvSpPr/>
          <p:nvPr/>
        </p:nvSpPr>
        <p:spPr>
          <a:xfrm>
            <a:off x="6364224" y="2427732"/>
            <a:ext cx="2231136" cy="256032"/>
          </a:xfrm>
          <a:prstGeom prst="rect">
            <a:avLst/>
          </a:prstGeom>
          <a:noFill/>
          <a:ln/>
        </p:spPr>
        <p:txBody>
          <a:bodyPr wrap="square" lIns="0" tIns="0" rIns="0" bIns="0" rtlCol="0" anchor="ctr">
            <a:normAutofit fontScale="100000" lnSpcReduction="0"/>
          </a:bodyPr>
          <a:lstStyle/>
          <a:p>
            <a:pPr indent="0" marL="0">
              <a:buNone/>
            </a:pPr>
            <a:r>
              <a:rPr lang="en-US" sz="990" b="1" dirty="0">
                <a:solidFill>
                  <a:srgbClr val="FFFFFF"/>
                </a:solidFill>
                <a:latin typeface="Arial" pitchFamily="34" charset="0"/>
                <a:ea typeface="Arial" pitchFamily="34" charset="-122"/>
                <a:cs typeface="Arial" pitchFamily="34" charset="-120"/>
              </a:rPr>
              <a:t>SOURCE LABEL</a:t>
            </a:r>
            <a:endParaRPr lang="en-US" sz="990" dirty="0"/>
          </a:p>
        </p:txBody>
      </p:sp>
      <p:sp>
        <p:nvSpPr>
          <p:cNvPr id="61" name="Text 59"/>
          <p:cNvSpPr/>
          <p:nvPr/>
        </p:nvSpPr>
        <p:spPr>
          <a:xfrm>
            <a:off x="8814816" y="2427732"/>
            <a:ext cx="768096" cy="256032"/>
          </a:xfrm>
          <a:prstGeom prst="rect">
            <a:avLst/>
          </a:prstGeom>
          <a:noFill/>
          <a:ln/>
        </p:spPr>
        <p:txBody>
          <a:bodyPr wrap="square" lIns="0" tIns="0" rIns="0" bIns="0" rtlCol="0" anchor="ctr">
            <a:normAutofit fontScale="100000" lnSpcReduction="0"/>
          </a:bodyPr>
          <a:lstStyle/>
          <a:p>
            <a:pPr indent="0" marL="0">
              <a:buNone/>
            </a:pPr>
            <a:r>
              <a:rPr lang="en-US" sz="990" b="1" dirty="0">
                <a:solidFill>
                  <a:srgbClr val="FFFFFF"/>
                </a:solidFill>
                <a:latin typeface="Arial" pitchFamily="34" charset="0"/>
                <a:ea typeface="Arial" pitchFamily="34" charset="-122"/>
                <a:cs typeface="Arial" pitchFamily="34" charset="-120"/>
              </a:rPr>
              <a:t>FLAGGED</a:t>
            </a:r>
            <a:endParaRPr lang="en-US" sz="990" dirty="0"/>
          </a:p>
        </p:txBody>
      </p:sp>
      <p:sp>
        <p:nvSpPr>
          <p:cNvPr id="62" name="Text 60"/>
          <p:cNvSpPr/>
          <p:nvPr/>
        </p:nvSpPr>
        <p:spPr>
          <a:xfrm>
            <a:off x="9802368" y="2427732"/>
            <a:ext cx="1472184" cy="256032"/>
          </a:xfrm>
          <a:prstGeom prst="rect">
            <a:avLst/>
          </a:prstGeom>
          <a:noFill/>
          <a:ln/>
        </p:spPr>
        <p:txBody>
          <a:bodyPr wrap="square" lIns="0" tIns="0" rIns="0" bIns="0" rtlCol="0" anchor="ctr">
            <a:normAutofit fontScale="100000" lnSpcReduction="0"/>
          </a:bodyPr>
          <a:lstStyle/>
          <a:p>
            <a:pPr indent="0" marL="0">
              <a:buNone/>
            </a:pPr>
            <a:r>
              <a:rPr lang="en-US" sz="990" b="1" dirty="0">
                <a:solidFill>
                  <a:srgbClr val="FFFFFF"/>
                </a:solidFill>
                <a:latin typeface="Arial" pitchFamily="34" charset="0"/>
                <a:ea typeface="Arial" pitchFamily="34" charset="-122"/>
                <a:cs typeface="Arial" pitchFamily="34" charset="-120"/>
              </a:rPr>
              <a:t>VALUE</a:t>
            </a:r>
            <a:endParaRPr lang="en-US" sz="990" dirty="0"/>
          </a:p>
        </p:txBody>
      </p:sp>
      <p:sp>
        <p:nvSpPr>
          <p:cNvPr id="63" name="Shape 61"/>
          <p:cNvSpPr/>
          <p:nvPr/>
        </p:nvSpPr>
        <p:spPr>
          <a:xfrm>
            <a:off x="6254496" y="2706624"/>
            <a:ext cx="5129784" cy="249631"/>
          </a:xfrm>
          <a:prstGeom prst="rect">
            <a:avLst/>
          </a:prstGeom>
          <a:solidFill>
            <a:srgbClr val="FFFFFF"/>
          </a:solidFill>
          <a:ln w="12700">
            <a:solidFill>
              <a:srgbClr val="FFFFFF"/>
            </a:solidFill>
            <a:prstDash val="solid"/>
          </a:ln>
        </p:spPr>
        <p:txBody>
          <a:bodyPr/>
          <a:p/>
        </p:txBody>
      </p:sp>
      <p:sp>
        <p:nvSpPr>
          <p:cNvPr id="64" name="Text 62"/>
          <p:cNvSpPr/>
          <p:nvPr/>
        </p:nvSpPr>
        <p:spPr>
          <a:xfrm>
            <a:off x="6364224" y="2756382"/>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Romania</a:t>
            </a:r>
            <a:endParaRPr lang="en-US" sz="1180" dirty="0"/>
          </a:p>
        </p:txBody>
      </p:sp>
      <p:sp>
        <p:nvSpPr>
          <p:cNvPr id="65" name="Text 63"/>
          <p:cNvSpPr/>
          <p:nvPr/>
        </p:nvSpPr>
        <p:spPr>
          <a:xfrm>
            <a:off x="8814816" y="2756382"/>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0.80%</a:t>
            </a:r>
            <a:endParaRPr lang="en-US" sz="1180" dirty="0"/>
          </a:p>
        </p:txBody>
      </p:sp>
      <p:sp>
        <p:nvSpPr>
          <p:cNvPr id="66" name="Text 64"/>
          <p:cNvSpPr/>
          <p:nvPr/>
        </p:nvSpPr>
        <p:spPr>
          <a:xfrm>
            <a:off x="9802368" y="2756382"/>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 K€</a:t>
            </a:r>
            <a:endParaRPr lang="en-US" sz="1180" dirty="0"/>
          </a:p>
        </p:txBody>
      </p:sp>
      <p:sp>
        <p:nvSpPr>
          <p:cNvPr id="67" name="Shape 65"/>
          <p:cNvSpPr/>
          <p:nvPr/>
        </p:nvSpPr>
        <p:spPr>
          <a:xfrm>
            <a:off x="6254496" y="2956255"/>
            <a:ext cx="5129784" cy="249631"/>
          </a:xfrm>
          <a:prstGeom prst="rect">
            <a:avLst/>
          </a:prstGeom>
          <a:solidFill>
            <a:srgbClr val="EEEDEA"/>
          </a:solidFill>
          <a:ln w="12700">
            <a:solidFill>
              <a:srgbClr val="EEEDEA"/>
            </a:solidFill>
            <a:prstDash val="solid"/>
          </a:ln>
        </p:spPr>
        <p:txBody>
          <a:bodyPr/>
          <a:p/>
        </p:txBody>
      </p:sp>
      <p:sp>
        <p:nvSpPr>
          <p:cNvPr id="68" name="Text 66"/>
          <p:cNvSpPr/>
          <p:nvPr/>
        </p:nvSpPr>
        <p:spPr>
          <a:xfrm>
            <a:off x="6364224" y="3006013"/>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Portugal</a:t>
            </a:r>
            <a:endParaRPr lang="en-US" sz="1180" dirty="0"/>
          </a:p>
        </p:txBody>
      </p:sp>
      <p:sp>
        <p:nvSpPr>
          <p:cNvPr id="69" name="Text 67"/>
          <p:cNvSpPr/>
          <p:nvPr/>
        </p:nvSpPr>
        <p:spPr>
          <a:xfrm>
            <a:off x="8814816" y="3006013"/>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0.69%</a:t>
            </a:r>
            <a:endParaRPr lang="en-US" sz="1180" dirty="0"/>
          </a:p>
        </p:txBody>
      </p:sp>
      <p:sp>
        <p:nvSpPr>
          <p:cNvPr id="70" name="Text 68"/>
          <p:cNvSpPr/>
          <p:nvPr/>
        </p:nvSpPr>
        <p:spPr>
          <a:xfrm>
            <a:off x="9802368" y="3006013"/>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12 K€</a:t>
            </a:r>
            <a:endParaRPr lang="en-US" sz="1180" dirty="0"/>
          </a:p>
        </p:txBody>
      </p:sp>
      <p:sp>
        <p:nvSpPr>
          <p:cNvPr id="71" name="Shape 69"/>
          <p:cNvSpPr/>
          <p:nvPr/>
        </p:nvSpPr>
        <p:spPr>
          <a:xfrm>
            <a:off x="6254496" y="3205886"/>
            <a:ext cx="5129784" cy="249631"/>
          </a:xfrm>
          <a:prstGeom prst="rect">
            <a:avLst/>
          </a:prstGeom>
          <a:solidFill>
            <a:srgbClr val="FFFFFF"/>
          </a:solidFill>
          <a:ln w="12700">
            <a:solidFill>
              <a:srgbClr val="FFFFFF"/>
            </a:solidFill>
            <a:prstDash val="solid"/>
          </a:ln>
        </p:spPr>
        <p:txBody>
          <a:bodyPr/>
          <a:p/>
        </p:txBody>
      </p:sp>
      <p:sp>
        <p:nvSpPr>
          <p:cNvPr id="72" name="Text 70"/>
          <p:cNvSpPr/>
          <p:nvPr/>
        </p:nvSpPr>
        <p:spPr>
          <a:xfrm>
            <a:off x="6364224" y="3255644"/>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Greece</a:t>
            </a:r>
            <a:endParaRPr lang="en-US" sz="1180" dirty="0"/>
          </a:p>
        </p:txBody>
      </p:sp>
      <p:sp>
        <p:nvSpPr>
          <p:cNvPr id="73" name="Text 71"/>
          <p:cNvSpPr/>
          <p:nvPr/>
        </p:nvSpPr>
        <p:spPr>
          <a:xfrm>
            <a:off x="8814816" y="3255644"/>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0.63%</a:t>
            </a:r>
            <a:endParaRPr lang="en-US" sz="1180" dirty="0"/>
          </a:p>
        </p:txBody>
      </p:sp>
      <p:sp>
        <p:nvSpPr>
          <p:cNvPr id="74" name="Text 72"/>
          <p:cNvSpPr/>
          <p:nvPr/>
        </p:nvSpPr>
        <p:spPr>
          <a:xfrm>
            <a:off x="9802368" y="3255644"/>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3 K€</a:t>
            </a:r>
            <a:endParaRPr lang="en-US" sz="1180" dirty="0"/>
          </a:p>
        </p:txBody>
      </p:sp>
      <p:sp>
        <p:nvSpPr>
          <p:cNvPr id="75" name="Shape 73"/>
          <p:cNvSpPr/>
          <p:nvPr/>
        </p:nvSpPr>
        <p:spPr>
          <a:xfrm>
            <a:off x="6254496" y="3455518"/>
            <a:ext cx="5129784" cy="249631"/>
          </a:xfrm>
          <a:prstGeom prst="rect">
            <a:avLst/>
          </a:prstGeom>
          <a:solidFill>
            <a:srgbClr val="EEEDEA"/>
          </a:solidFill>
          <a:ln w="12700">
            <a:solidFill>
              <a:srgbClr val="EEEDEA"/>
            </a:solidFill>
            <a:prstDash val="solid"/>
          </a:ln>
        </p:spPr>
        <p:txBody>
          <a:bodyPr/>
          <a:p/>
        </p:txBody>
      </p:sp>
      <p:sp>
        <p:nvSpPr>
          <p:cNvPr id="76" name="Text 74"/>
          <p:cNvSpPr/>
          <p:nvPr/>
        </p:nvSpPr>
        <p:spPr>
          <a:xfrm>
            <a:off x="6364224" y="3505276"/>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UTI (Israel)</a:t>
            </a:r>
            <a:endParaRPr lang="en-US" sz="1180" dirty="0"/>
          </a:p>
        </p:txBody>
      </p:sp>
      <p:sp>
        <p:nvSpPr>
          <p:cNvPr id="77" name="Text 75"/>
          <p:cNvSpPr/>
          <p:nvPr/>
        </p:nvSpPr>
        <p:spPr>
          <a:xfrm>
            <a:off x="8814816" y="3505276"/>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0.54%</a:t>
            </a:r>
            <a:endParaRPr lang="en-US" sz="1180" dirty="0"/>
          </a:p>
        </p:txBody>
      </p:sp>
      <p:sp>
        <p:nvSpPr>
          <p:cNvPr id="78" name="Text 76"/>
          <p:cNvSpPr/>
          <p:nvPr/>
        </p:nvSpPr>
        <p:spPr>
          <a:xfrm>
            <a:off x="9802368" y="3505276"/>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18 K€</a:t>
            </a:r>
            <a:endParaRPr lang="en-US" sz="1180" dirty="0"/>
          </a:p>
        </p:txBody>
      </p:sp>
      <p:sp>
        <p:nvSpPr>
          <p:cNvPr id="79" name="Shape 77"/>
          <p:cNvSpPr/>
          <p:nvPr/>
        </p:nvSpPr>
        <p:spPr>
          <a:xfrm>
            <a:off x="6254496" y="3705149"/>
            <a:ext cx="5129784" cy="249631"/>
          </a:xfrm>
          <a:prstGeom prst="rect">
            <a:avLst/>
          </a:prstGeom>
          <a:solidFill>
            <a:srgbClr val="FFFFFF"/>
          </a:solidFill>
          <a:ln w="12700">
            <a:solidFill>
              <a:srgbClr val="FFFFFF"/>
            </a:solidFill>
            <a:prstDash val="solid"/>
          </a:ln>
        </p:spPr>
        <p:txBody>
          <a:bodyPr/>
          <a:p/>
        </p:txBody>
      </p:sp>
      <p:sp>
        <p:nvSpPr>
          <p:cNvPr id="80" name="Text 78"/>
          <p:cNvSpPr/>
          <p:nvPr/>
        </p:nvSpPr>
        <p:spPr>
          <a:xfrm>
            <a:off x="6364224" y="3754907"/>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Iceland</a:t>
            </a:r>
            <a:endParaRPr lang="en-US" sz="1180" dirty="0"/>
          </a:p>
        </p:txBody>
      </p:sp>
      <p:sp>
        <p:nvSpPr>
          <p:cNvPr id="81" name="Text 79"/>
          <p:cNvSpPr/>
          <p:nvPr/>
        </p:nvSpPr>
        <p:spPr>
          <a:xfrm>
            <a:off x="8814816" y="3754907"/>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0.50%</a:t>
            </a:r>
            <a:endParaRPr lang="en-US" sz="1180" dirty="0"/>
          </a:p>
        </p:txBody>
      </p:sp>
      <p:sp>
        <p:nvSpPr>
          <p:cNvPr id="82" name="Text 80"/>
          <p:cNvSpPr/>
          <p:nvPr/>
        </p:nvSpPr>
        <p:spPr>
          <a:xfrm>
            <a:off x="9802368" y="3754907"/>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435 €</a:t>
            </a:r>
            <a:endParaRPr lang="en-US" sz="1180" dirty="0"/>
          </a:p>
        </p:txBody>
      </p:sp>
      <p:sp>
        <p:nvSpPr>
          <p:cNvPr id="83" name="Shape 81"/>
          <p:cNvSpPr/>
          <p:nvPr/>
        </p:nvSpPr>
        <p:spPr>
          <a:xfrm>
            <a:off x="6254496" y="3954780"/>
            <a:ext cx="5129784" cy="249631"/>
          </a:xfrm>
          <a:prstGeom prst="rect">
            <a:avLst/>
          </a:prstGeom>
          <a:solidFill>
            <a:srgbClr val="EEEDEA"/>
          </a:solidFill>
          <a:ln w="12700">
            <a:solidFill>
              <a:srgbClr val="EEEDEA"/>
            </a:solidFill>
            <a:prstDash val="solid"/>
          </a:ln>
        </p:spPr>
        <p:txBody>
          <a:bodyPr/>
          <a:p/>
        </p:txBody>
      </p:sp>
      <p:sp>
        <p:nvSpPr>
          <p:cNvPr id="84" name="Text 82"/>
          <p:cNvSpPr/>
          <p:nvPr/>
        </p:nvSpPr>
        <p:spPr>
          <a:xfrm>
            <a:off x="6364224" y="4004538"/>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Cyprus</a:t>
            </a:r>
            <a:endParaRPr lang="en-US" sz="1180" dirty="0"/>
          </a:p>
        </p:txBody>
      </p:sp>
      <p:sp>
        <p:nvSpPr>
          <p:cNvPr id="85" name="Text 83"/>
          <p:cNvSpPr/>
          <p:nvPr/>
        </p:nvSpPr>
        <p:spPr>
          <a:xfrm>
            <a:off x="8814816" y="4004538"/>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0.42%</a:t>
            </a:r>
            <a:endParaRPr lang="en-US" sz="1180" dirty="0"/>
          </a:p>
        </p:txBody>
      </p:sp>
      <p:sp>
        <p:nvSpPr>
          <p:cNvPr id="86" name="Text 84"/>
          <p:cNvSpPr/>
          <p:nvPr/>
        </p:nvSpPr>
        <p:spPr>
          <a:xfrm>
            <a:off x="9802368" y="4004538"/>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2 K€</a:t>
            </a:r>
            <a:endParaRPr lang="en-US" sz="1180" dirty="0"/>
          </a:p>
        </p:txBody>
      </p:sp>
      <p:sp>
        <p:nvSpPr>
          <p:cNvPr id="87" name="Shape 85"/>
          <p:cNvSpPr/>
          <p:nvPr/>
        </p:nvSpPr>
        <p:spPr>
          <a:xfrm>
            <a:off x="6254496" y="4204411"/>
            <a:ext cx="5129784" cy="249631"/>
          </a:xfrm>
          <a:prstGeom prst="rect">
            <a:avLst/>
          </a:prstGeom>
          <a:solidFill>
            <a:srgbClr val="FFFFFF"/>
          </a:solidFill>
          <a:ln w="12700">
            <a:solidFill>
              <a:srgbClr val="FFFFFF"/>
            </a:solidFill>
            <a:prstDash val="solid"/>
          </a:ln>
        </p:spPr>
        <p:txBody>
          <a:bodyPr/>
          <a:p/>
        </p:txBody>
      </p:sp>
      <p:sp>
        <p:nvSpPr>
          <p:cNvPr id="88" name="Text 86"/>
          <p:cNvSpPr/>
          <p:nvPr/>
        </p:nvSpPr>
        <p:spPr>
          <a:xfrm>
            <a:off x="6364224" y="4254169"/>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Kazakhstan</a:t>
            </a:r>
            <a:endParaRPr lang="en-US" sz="1180" dirty="0"/>
          </a:p>
        </p:txBody>
      </p:sp>
      <p:sp>
        <p:nvSpPr>
          <p:cNvPr id="89" name="Text 87"/>
          <p:cNvSpPr/>
          <p:nvPr/>
        </p:nvSpPr>
        <p:spPr>
          <a:xfrm>
            <a:off x="8814816" y="4254169"/>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0.34%</a:t>
            </a:r>
            <a:endParaRPr lang="en-US" sz="1180" dirty="0"/>
          </a:p>
        </p:txBody>
      </p:sp>
      <p:sp>
        <p:nvSpPr>
          <p:cNvPr id="90" name="Text 88"/>
          <p:cNvSpPr/>
          <p:nvPr/>
        </p:nvSpPr>
        <p:spPr>
          <a:xfrm>
            <a:off x="9802368" y="4254169"/>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552 €</a:t>
            </a:r>
            <a:endParaRPr lang="en-US" sz="1180" dirty="0"/>
          </a:p>
        </p:txBody>
      </p:sp>
      <p:sp>
        <p:nvSpPr>
          <p:cNvPr id="91" name="Shape 89"/>
          <p:cNvSpPr/>
          <p:nvPr/>
        </p:nvSpPr>
        <p:spPr>
          <a:xfrm>
            <a:off x="6254496" y="4454042"/>
            <a:ext cx="5129784" cy="249631"/>
          </a:xfrm>
          <a:prstGeom prst="rect">
            <a:avLst/>
          </a:prstGeom>
          <a:solidFill>
            <a:srgbClr val="EEEDEA"/>
          </a:solidFill>
          <a:ln w="12700">
            <a:solidFill>
              <a:srgbClr val="EEEDEA"/>
            </a:solidFill>
            <a:prstDash val="solid"/>
          </a:ln>
        </p:spPr>
        <p:txBody>
          <a:bodyPr/>
          <a:p/>
        </p:txBody>
      </p:sp>
      <p:sp>
        <p:nvSpPr>
          <p:cNvPr id="92" name="Text 90"/>
          <p:cNvSpPr/>
          <p:nvPr/>
        </p:nvSpPr>
        <p:spPr>
          <a:xfrm>
            <a:off x="6364224" y="4503800"/>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Ukraine</a:t>
            </a:r>
            <a:endParaRPr lang="en-US" sz="1180" dirty="0"/>
          </a:p>
        </p:txBody>
      </p:sp>
      <p:sp>
        <p:nvSpPr>
          <p:cNvPr id="93" name="Text 91"/>
          <p:cNvSpPr/>
          <p:nvPr/>
        </p:nvSpPr>
        <p:spPr>
          <a:xfrm>
            <a:off x="8814816" y="4503800"/>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0.19%</a:t>
            </a:r>
            <a:endParaRPr lang="en-US" sz="1180" dirty="0"/>
          </a:p>
        </p:txBody>
      </p:sp>
      <p:sp>
        <p:nvSpPr>
          <p:cNvPr id="94" name="Text 92"/>
          <p:cNvSpPr/>
          <p:nvPr/>
        </p:nvSpPr>
        <p:spPr>
          <a:xfrm>
            <a:off x="9802368" y="4503800"/>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2 K€</a:t>
            </a:r>
            <a:endParaRPr lang="en-US" sz="1180" dirty="0"/>
          </a:p>
        </p:txBody>
      </p:sp>
      <p:sp>
        <p:nvSpPr>
          <p:cNvPr id="95" name="Shape 93"/>
          <p:cNvSpPr/>
          <p:nvPr/>
        </p:nvSpPr>
        <p:spPr>
          <a:xfrm>
            <a:off x="6254496" y="4703674"/>
            <a:ext cx="5129784" cy="249631"/>
          </a:xfrm>
          <a:prstGeom prst="rect">
            <a:avLst/>
          </a:prstGeom>
          <a:solidFill>
            <a:srgbClr val="FFFFFF"/>
          </a:solidFill>
          <a:ln w="12700">
            <a:solidFill>
              <a:srgbClr val="FFFFFF"/>
            </a:solidFill>
            <a:prstDash val="solid"/>
          </a:ln>
        </p:spPr>
        <p:txBody>
          <a:bodyPr/>
          <a:p/>
        </p:txBody>
      </p:sp>
      <p:sp>
        <p:nvSpPr>
          <p:cNvPr id="96" name="Text 94"/>
          <p:cNvSpPr/>
          <p:nvPr/>
        </p:nvSpPr>
        <p:spPr>
          <a:xfrm>
            <a:off x="6364224" y="4753432"/>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ITUK</a:t>
            </a:r>
            <a:endParaRPr lang="en-US" sz="1180" dirty="0"/>
          </a:p>
        </p:txBody>
      </p:sp>
      <p:sp>
        <p:nvSpPr>
          <p:cNvPr id="97" name="Text 95"/>
          <p:cNvSpPr/>
          <p:nvPr/>
        </p:nvSpPr>
        <p:spPr>
          <a:xfrm>
            <a:off x="8814816" y="4753432"/>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0.18%</a:t>
            </a:r>
            <a:endParaRPr lang="en-US" sz="1180" dirty="0"/>
          </a:p>
        </p:txBody>
      </p:sp>
      <p:sp>
        <p:nvSpPr>
          <p:cNvPr id="98" name="Text 96"/>
          <p:cNvSpPr/>
          <p:nvPr/>
        </p:nvSpPr>
        <p:spPr>
          <a:xfrm>
            <a:off x="9802368" y="4753432"/>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10 K€</a:t>
            </a:r>
            <a:endParaRPr lang="en-US" sz="1180" dirty="0"/>
          </a:p>
        </p:txBody>
      </p:sp>
      <p:sp>
        <p:nvSpPr>
          <p:cNvPr id="99" name="Shape 97"/>
          <p:cNvSpPr/>
          <p:nvPr/>
        </p:nvSpPr>
        <p:spPr>
          <a:xfrm>
            <a:off x="6254496" y="4953305"/>
            <a:ext cx="5129784" cy="249631"/>
          </a:xfrm>
          <a:prstGeom prst="rect">
            <a:avLst/>
          </a:prstGeom>
          <a:solidFill>
            <a:srgbClr val="EEEDEA"/>
          </a:solidFill>
          <a:ln w="12700">
            <a:solidFill>
              <a:srgbClr val="EEEDEA"/>
            </a:solidFill>
            <a:prstDash val="solid"/>
          </a:ln>
        </p:spPr>
        <p:txBody>
          <a:bodyPr/>
          <a:p/>
        </p:txBody>
      </p:sp>
      <p:sp>
        <p:nvSpPr>
          <p:cNvPr id="100" name="Text 98"/>
          <p:cNvSpPr/>
          <p:nvPr/>
        </p:nvSpPr>
        <p:spPr>
          <a:xfrm>
            <a:off x="6364224" y="5003063"/>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Armenia</a:t>
            </a:r>
            <a:endParaRPr lang="en-US" sz="1180" dirty="0"/>
          </a:p>
        </p:txBody>
      </p:sp>
      <p:sp>
        <p:nvSpPr>
          <p:cNvPr id="101" name="Text 99"/>
          <p:cNvSpPr/>
          <p:nvPr/>
        </p:nvSpPr>
        <p:spPr>
          <a:xfrm>
            <a:off x="8814816" y="5003063"/>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0.15%</a:t>
            </a:r>
            <a:endParaRPr lang="en-US" sz="1180" dirty="0"/>
          </a:p>
        </p:txBody>
      </p:sp>
      <p:sp>
        <p:nvSpPr>
          <p:cNvPr id="102" name="Text 100"/>
          <p:cNvSpPr/>
          <p:nvPr/>
        </p:nvSpPr>
        <p:spPr>
          <a:xfrm>
            <a:off x="9802368" y="5003063"/>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424 €</a:t>
            </a:r>
            <a:endParaRPr lang="en-US" sz="1180" dirty="0"/>
          </a:p>
        </p:txBody>
      </p:sp>
      <p:sp>
        <p:nvSpPr>
          <p:cNvPr id="103" name="Shape 101"/>
          <p:cNvSpPr/>
          <p:nvPr/>
        </p:nvSpPr>
        <p:spPr>
          <a:xfrm>
            <a:off x="6254496" y="5202936"/>
            <a:ext cx="5129784" cy="249631"/>
          </a:xfrm>
          <a:prstGeom prst="rect">
            <a:avLst/>
          </a:prstGeom>
          <a:solidFill>
            <a:srgbClr val="FFFFFF"/>
          </a:solidFill>
          <a:ln w="12700">
            <a:solidFill>
              <a:srgbClr val="FFFFFF"/>
            </a:solidFill>
            <a:prstDash val="solid"/>
          </a:ln>
        </p:spPr>
        <p:txBody>
          <a:bodyPr/>
          <a:p/>
        </p:txBody>
      </p:sp>
      <p:sp>
        <p:nvSpPr>
          <p:cNvPr id="104" name="Text 102"/>
          <p:cNvSpPr/>
          <p:nvPr/>
        </p:nvSpPr>
        <p:spPr>
          <a:xfrm>
            <a:off x="6364224" y="5252694"/>
            <a:ext cx="2231136" cy="204978"/>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Palestine</a:t>
            </a:r>
            <a:endParaRPr lang="en-US" sz="1180" dirty="0"/>
          </a:p>
        </p:txBody>
      </p:sp>
      <p:sp>
        <p:nvSpPr>
          <p:cNvPr id="105" name="Text 103"/>
          <p:cNvSpPr/>
          <p:nvPr/>
        </p:nvSpPr>
        <p:spPr>
          <a:xfrm>
            <a:off x="8814816" y="5252694"/>
            <a:ext cx="768096"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0.00%</a:t>
            </a:r>
            <a:endParaRPr lang="en-US" sz="1180" dirty="0"/>
          </a:p>
        </p:txBody>
      </p:sp>
      <p:sp>
        <p:nvSpPr>
          <p:cNvPr id="106" name="Text 104"/>
          <p:cNvSpPr/>
          <p:nvPr/>
        </p:nvSpPr>
        <p:spPr>
          <a:xfrm>
            <a:off x="9802368" y="5252694"/>
            <a:ext cx="1472184" cy="204978"/>
          </a:xfrm>
          <a:prstGeom prst="rect">
            <a:avLst/>
          </a:prstGeom>
          <a:noFill/>
          <a:ln/>
        </p:spPr>
        <p:txBody>
          <a:bodyPr wrap="square" lIns="0" tIns="0" rIns="0" bIns="0" rtlCol="0" anchor="ctr">
            <a:normAutofit fontScale="100000" lnSpcReduction="0"/>
          </a:bodyPr>
          <a:lstStyle/>
          <a:p>
            <a:pPr indent="0" marL="0">
              <a:buNone/>
            </a:pPr>
            <a:r>
              <a:rPr lang="en-US" sz="1180" dirty="0">
                <a:solidFill>
                  <a:srgbClr val="626B72"/>
                </a:solidFill>
                <a:latin typeface="Arial" pitchFamily="34" charset="0"/>
                <a:ea typeface="Arial" pitchFamily="34" charset="-122"/>
                <a:cs typeface="Arial" pitchFamily="34" charset="-120"/>
              </a:rPr>
              <a:t>0 €</a:t>
            </a:r>
            <a:endParaRPr lang="en-US" sz="1180" dirty="0"/>
          </a:p>
        </p:txBody>
      </p:sp>
      <p:sp>
        <p:nvSpPr>
          <p:cNvPr id="107" name="Shape 105"/>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108" name="Text 106"/>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A low flag rate is not proof that the remaining revenue is protected from competition.</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BVP FAMILY MIX</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BVP family shares are mix measures, not measured lost business.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Calendar 2025 | Seven source catalogue families | Source-defined catalogue-revenue basis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29-30. Original chart/content mismatches are recorded, not silently reconciled.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BVP FAMILY MIX</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40</a:t>
            </a:r>
            <a:endParaRPr lang="en-US" sz="1050" dirty="0"/>
          </a:p>
        </p:txBody>
      </p:sp>
      <p:sp>
        <p:nvSpPr>
          <p:cNvPr id="11" name="Shape 9"/>
          <p:cNvSpPr/>
          <p:nvPr/>
        </p:nvSpPr>
        <p:spPr>
          <a:xfrm>
            <a:off x="612648" y="2395728"/>
            <a:ext cx="7013448" cy="374904"/>
          </a:xfrm>
          <a:prstGeom prst="rect">
            <a:avLst/>
          </a:prstGeom>
          <a:solidFill>
            <a:srgbClr val="24282C"/>
          </a:solidFill>
          <a:ln w="12700">
            <a:solidFill>
              <a:srgbClr val="24282C"/>
            </a:solidFill>
            <a:prstDash val="solid"/>
          </a:ln>
        </p:spPr>
        <p:txBody>
          <a:bodyPr/>
          <a:p/>
        </p:txBody>
      </p:sp>
      <p:sp>
        <p:nvSpPr>
          <p:cNvPr id="12" name="Text 10"/>
          <p:cNvSpPr/>
          <p:nvPr/>
        </p:nvSpPr>
        <p:spPr>
          <a:xfrm>
            <a:off x="722376" y="2482596"/>
            <a:ext cx="2953512" cy="265176"/>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SOURCE FAMILY</a:t>
            </a:r>
            <a:endParaRPr lang="en-US" sz="1040" dirty="0"/>
          </a:p>
        </p:txBody>
      </p:sp>
      <p:sp>
        <p:nvSpPr>
          <p:cNvPr id="13" name="Text 11"/>
          <p:cNvSpPr/>
          <p:nvPr/>
        </p:nvSpPr>
        <p:spPr>
          <a:xfrm>
            <a:off x="3895344" y="2482596"/>
            <a:ext cx="1847088" cy="265176"/>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CATALOGUE REVENUE</a:t>
            </a:r>
            <a:endParaRPr lang="en-US" sz="1040" dirty="0"/>
          </a:p>
        </p:txBody>
      </p:sp>
      <p:sp>
        <p:nvSpPr>
          <p:cNvPr id="14" name="Text 12"/>
          <p:cNvSpPr/>
          <p:nvPr/>
        </p:nvSpPr>
        <p:spPr>
          <a:xfrm>
            <a:off x="5961888" y="2482596"/>
            <a:ext cx="1554480" cy="265176"/>
          </a:xfrm>
          <a:prstGeom prst="rect">
            <a:avLst/>
          </a:prstGeom>
          <a:noFill/>
          <a:ln/>
        </p:spPr>
        <p:txBody>
          <a:bodyPr wrap="square" lIns="0" tIns="0" rIns="0" bIns="0" rtlCol="0" anchor="ctr">
            <a:normAutofit fontScale="100000" lnSpcReduction="0"/>
          </a:bodyPr>
          <a:lstStyle/>
          <a:p>
            <a:pPr indent="0" marL="0">
              <a:buNone/>
            </a:pPr>
            <a:r>
              <a:rPr lang="en-US" sz="1040" b="1" dirty="0">
                <a:solidFill>
                  <a:srgbClr val="FFFFFF"/>
                </a:solidFill>
                <a:latin typeface="Arial" pitchFamily="34" charset="0"/>
                <a:ea typeface="Arial" pitchFamily="34" charset="-122"/>
                <a:cs typeface="Arial" pitchFamily="34" charset="-120"/>
              </a:rPr>
              <a:t>BVP SHARE</a:t>
            </a:r>
            <a:endParaRPr lang="en-US" sz="1040" dirty="0"/>
          </a:p>
        </p:txBody>
      </p:sp>
      <p:sp>
        <p:nvSpPr>
          <p:cNvPr id="15" name="Shape 13"/>
          <p:cNvSpPr/>
          <p:nvPr/>
        </p:nvSpPr>
        <p:spPr>
          <a:xfrm>
            <a:off x="612648" y="2770632"/>
            <a:ext cx="7013448" cy="370332"/>
          </a:xfrm>
          <a:prstGeom prst="rect">
            <a:avLst/>
          </a:prstGeom>
          <a:solidFill>
            <a:srgbClr val="FFFFFF"/>
          </a:solidFill>
          <a:ln w="12700">
            <a:solidFill>
              <a:srgbClr val="FFFFFF"/>
            </a:solidFill>
            <a:prstDash val="solid"/>
          </a:ln>
        </p:spPr>
        <p:txBody>
          <a:bodyPr/>
          <a:p/>
        </p:txBody>
      </p:sp>
      <p:sp>
        <p:nvSpPr>
          <p:cNvPr id="16" name="Text 14"/>
          <p:cNvSpPr/>
          <p:nvPr/>
        </p:nvSpPr>
        <p:spPr>
          <a:xfrm>
            <a:off x="722376" y="2857500"/>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Service filters</a:t>
            </a:r>
            <a:endParaRPr lang="en-US" sz="1370" dirty="0"/>
          </a:p>
        </p:txBody>
      </p:sp>
      <p:sp>
        <p:nvSpPr>
          <p:cNvPr id="17" name="Text 15"/>
          <p:cNvSpPr/>
          <p:nvPr/>
        </p:nvSpPr>
        <p:spPr>
          <a:xfrm>
            <a:off x="3895344" y="2857500"/>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2.43 M€</a:t>
            </a:r>
            <a:endParaRPr lang="en-US" sz="1370" dirty="0"/>
          </a:p>
        </p:txBody>
      </p:sp>
      <p:sp>
        <p:nvSpPr>
          <p:cNvPr id="18" name="Text 16"/>
          <p:cNvSpPr/>
          <p:nvPr/>
        </p:nvSpPr>
        <p:spPr>
          <a:xfrm>
            <a:off x="5961888" y="2857500"/>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37.2%</a:t>
            </a:r>
            <a:endParaRPr lang="en-US" sz="1370" dirty="0"/>
          </a:p>
        </p:txBody>
      </p:sp>
      <p:sp>
        <p:nvSpPr>
          <p:cNvPr id="19" name="Shape 17"/>
          <p:cNvSpPr/>
          <p:nvPr/>
        </p:nvSpPr>
        <p:spPr>
          <a:xfrm>
            <a:off x="612648" y="3140964"/>
            <a:ext cx="7013448" cy="370332"/>
          </a:xfrm>
          <a:prstGeom prst="rect">
            <a:avLst/>
          </a:prstGeom>
          <a:solidFill>
            <a:srgbClr val="EEEDEA"/>
          </a:solidFill>
          <a:ln w="12700">
            <a:solidFill>
              <a:srgbClr val="EEEDEA"/>
            </a:solidFill>
            <a:prstDash val="solid"/>
          </a:ln>
        </p:spPr>
        <p:txBody>
          <a:bodyPr/>
          <a:p/>
        </p:txBody>
      </p:sp>
      <p:sp>
        <p:nvSpPr>
          <p:cNvPr id="20" name="Text 18"/>
          <p:cNvSpPr/>
          <p:nvPr/>
        </p:nvSpPr>
        <p:spPr>
          <a:xfrm>
            <a:off x="722376" y="3227832"/>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Brakes</a:t>
            </a:r>
            <a:endParaRPr lang="en-US" sz="1370" dirty="0"/>
          </a:p>
        </p:txBody>
      </p:sp>
      <p:sp>
        <p:nvSpPr>
          <p:cNvPr id="21" name="Text 19"/>
          <p:cNvSpPr/>
          <p:nvPr/>
        </p:nvSpPr>
        <p:spPr>
          <a:xfrm>
            <a:off x="3895344" y="3227832"/>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1.01 M€</a:t>
            </a:r>
            <a:endParaRPr lang="en-US" sz="1370" dirty="0"/>
          </a:p>
        </p:txBody>
      </p:sp>
      <p:sp>
        <p:nvSpPr>
          <p:cNvPr id="22" name="Text 20"/>
          <p:cNvSpPr/>
          <p:nvPr/>
        </p:nvSpPr>
        <p:spPr>
          <a:xfrm>
            <a:off x="5961888" y="3227832"/>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31.6%</a:t>
            </a:r>
            <a:endParaRPr lang="en-US" sz="1370" dirty="0"/>
          </a:p>
        </p:txBody>
      </p:sp>
      <p:sp>
        <p:nvSpPr>
          <p:cNvPr id="23" name="Shape 21"/>
          <p:cNvSpPr/>
          <p:nvPr/>
        </p:nvSpPr>
        <p:spPr>
          <a:xfrm>
            <a:off x="612648" y="3511296"/>
            <a:ext cx="7013448" cy="370332"/>
          </a:xfrm>
          <a:prstGeom prst="rect">
            <a:avLst/>
          </a:prstGeom>
          <a:solidFill>
            <a:srgbClr val="FFFFFF"/>
          </a:solidFill>
          <a:ln w="12700">
            <a:solidFill>
              <a:srgbClr val="FFFFFF"/>
            </a:solidFill>
            <a:prstDash val="solid"/>
          </a:ln>
        </p:spPr>
        <p:txBody>
          <a:bodyPr/>
          <a:p/>
        </p:txBody>
      </p:sp>
      <p:sp>
        <p:nvSpPr>
          <p:cNvPr id="24" name="Text 22"/>
          <p:cNvSpPr/>
          <p:nvPr/>
        </p:nvSpPr>
        <p:spPr>
          <a:xfrm>
            <a:off x="722376" y="3598164"/>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Clutch &amp; driveline</a:t>
            </a:r>
            <a:endParaRPr lang="en-US" sz="1370" dirty="0"/>
          </a:p>
        </p:txBody>
      </p:sp>
      <p:sp>
        <p:nvSpPr>
          <p:cNvPr id="25" name="Text 23"/>
          <p:cNvSpPr/>
          <p:nvPr/>
        </p:nvSpPr>
        <p:spPr>
          <a:xfrm>
            <a:off x="3895344" y="3598164"/>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475 K€</a:t>
            </a:r>
            <a:endParaRPr lang="en-US" sz="1370" dirty="0"/>
          </a:p>
        </p:txBody>
      </p:sp>
      <p:sp>
        <p:nvSpPr>
          <p:cNvPr id="26" name="Text 24"/>
          <p:cNvSpPr/>
          <p:nvPr/>
        </p:nvSpPr>
        <p:spPr>
          <a:xfrm>
            <a:off x="5961888" y="3598164"/>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53.1%</a:t>
            </a:r>
            <a:endParaRPr lang="en-US" sz="1370" dirty="0"/>
          </a:p>
        </p:txBody>
      </p:sp>
      <p:sp>
        <p:nvSpPr>
          <p:cNvPr id="27" name="Shape 25"/>
          <p:cNvSpPr/>
          <p:nvPr/>
        </p:nvSpPr>
        <p:spPr>
          <a:xfrm>
            <a:off x="612648" y="3881628"/>
            <a:ext cx="7013448" cy="370332"/>
          </a:xfrm>
          <a:prstGeom prst="rect">
            <a:avLst/>
          </a:prstGeom>
          <a:solidFill>
            <a:srgbClr val="EEEDEA"/>
          </a:solidFill>
          <a:ln w="12700">
            <a:solidFill>
              <a:srgbClr val="EEEDEA"/>
            </a:solidFill>
            <a:prstDash val="solid"/>
          </a:ln>
        </p:spPr>
        <p:txBody>
          <a:bodyPr/>
          <a:p/>
        </p:txBody>
      </p:sp>
      <p:sp>
        <p:nvSpPr>
          <p:cNvPr id="28" name="Text 26"/>
          <p:cNvSpPr/>
          <p:nvPr/>
        </p:nvSpPr>
        <p:spPr>
          <a:xfrm>
            <a:off x="722376" y="3968496"/>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Suspension &amp; chassis</a:t>
            </a:r>
            <a:endParaRPr lang="en-US" sz="1370" dirty="0"/>
          </a:p>
        </p:txBody>
      </p:sp>
      <p:sp>
        <p:nvSpPr>
          <p:cNvPr id="29" name="Text 27"/>
          <p:cNvSpPr/>
          <p:nvPr/>
        </p:nvSpPr>
        <p:spPr>
          <a:xfrm>
            <a:off x="3895344" y="3968496"/>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322 K€</a:t>
            </a:r>
            <a:endParaRPr lang="en-US" sz="1370" dirty="0"/>
          </a:p>
        </p:txBody>
      </p:sp>
      <p:sp>
        <p:nvSpPr>
          <p:cNvPr id="30" name="Text 28"/>
          <p:cNvSpPr/>
          <p:nvPr/>
        </p:nvSpPr>
        <p:spPr>
          <a:xfrm>
            <a:off x="5961888" y="3968496"/>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21.9%</a:t>
            </a:r>
            <a:endParaRPr lang="en-US" sz="1370" dirty="0"/>
          </a:p>
        </p:txBody>
      </p:sp>
      <p:sp>
        <p:nvSpPr>
          <p:cNvPr id="31" name="Shape 29"/>
          <p:cNvSpPr/>
          <p:nvPr/>
        </p:nvSpPr>
        <p:spPr>
          <a:xfrm>
            <a:off x="612648" y="4251960"/>
            <a:ext cx="7013448" cy="370332"/>
          </a:xfrm>
          <a:prstGeom prst="rect">
            <a:avLst/>
          </a:prstGeom>
          <a:solidFill>
            <a:srgbClr val="FFFFFF"/>
          </a:solidFill>
          <a:ln w="12700">
            <a:solidFill>
              <a:srgbClr val="FFFFFF"/>
            </a:solidFill>
            <a:prstDash val="solid"/>
          </a:ln>
        </p:spPr>
        <p:txBody>
          <a:bodyPr/>
          <a:p/>
        </p:txBody>
      </p:sp>
      <p:sp>
        <p:nvSpPr>
          <p:cNvPr id="32" name="Text 30"/>
          <p:cNvSpPr/>
          <p:nvPr/>
        </p:nvSpPr>
        <p:spPr>
          <a:xfrm>
            <a:off x="722376" y="4338828"/>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Cab &amp; interior</a:t>
            </a:r>
            <a:endParaRPr lang="en-US" sz="1370" dirty="0"/>
          </a:p>
        </p:txBody>
      </p:sp>
      <p:sp>
        <p:nvSpPr>
          <p:cNvPr id="33" name="Text 31"/>
          <p:cNvSpPr/>
          <p:nvPr/>
        </p:nvSpPr>
        <p:spPr>
          <a:xfrm>
            <a:off x="3895344" y="4338828"/>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74 K€</a:t>
            </a:r>
            <a:endParaRPr lang="en-US" sz="1370" dirty="0"/>
          </a:p>
        </p:txBody>
      </p:sp>
      <p:sp>
        <p:nvSpPr>
          <p:cNvPr id="34" name="Text 32"/>
          <p:cNvSpPr/>
          <p:nvPr/>
        </p:nvSpPr>
        <p:spPr>
          <a:xfrm>
            <a:off x="5961888" y="4338828"/>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32.1%</a:t>
            </a:r>
            <a:endParaRPr lang="en-US" sz="1370" dirty="0"/>
          </a:p>
        </p:txBody>
      </p:sp>
      <p:sp>
        <p:nvSpPr>
          <p:cNvPr id="35" name="Shape 33"/>
          <p:cNvSpPr/>
          <p:nvPr/>
        </p:nvSpPr>
        <p:spPr>
          <a:xfrm>
            <a:off x="612648" y="4622292"/>
            <a:ext cx="7013448" cy="370332"/>
          </a:xfrm>
          <a:prstGeom prst="rect">
            <a:avLst/>
          </a:prstGeom>
          <a:solidFill>
            <a:srgbClr val="EEEDEA"/>
          </a:solidFill>
          <a:ln w="12700">
            <a:solidFill>
              <a:srgbClr val="EEEDEA"/>
            </a:solidFill>
            <a:prstDash val="solid"/>
          </a:ln>
        </p:spPr>
        <p:txBody>
          <a:bodyPr/>
          <a:p/>
        </p:txBody>
      </p:sp>
      <p:sp>
        <p:nvSpPr>
          <p:cNvPr id="36" name="Text 34"/>
          <p:cNvSpPr/>
          <p:nvPr/>
        </p:nvSpPr>
        <p:spPr>
          <a:xfrm>
            <a:off x="722376" y="4709160"/>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Electrical</a:t>
            </a:r>
            <a:endParaRPr lang="en-US" sz="1370" dirty="0"/>
          </a:p>
        </p:txBody>
      </p:sp>
      <p:sp>
        <p:nvSpPr>
          <p:cNvPr id="37" name="Text 35"/>
          <p:cNvSpPr/>
          <p:nvPr/>
        </p:nvSpPr>
        <p:spPr>
          <a:xfrm>
            <a:off x="3895344" y="4709160"/>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38 K€</a:t>
            </a:r>
            <a:endParaRPr lang="en-US" sz="1370" dirty="0"/>
          </a:p>
        </p:txBody>
      </p:sp>
      <p:sp>
        <p:nvSpPr>
          <p:cNvPr id="38" name="Text 36"/>
          <p:cNvSpPr/>
          <p:nvPr/>
        </p:nvSpPr>
        <p:spPr>
          <a:xfrm>
            <a:off x="5961888" y="4709160"/>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57.7%</a:t>
            </a:r>
            <a:endParaRPr lang="en-US" sz="1370" dirty="0"/>
          </a:p>
        </p:txBody>
      </p:sp>
      <p:sp>
        <p:nvSpPr>
          <p:cNvPr id="39" name="Shape 37"/>
          <p:cNvSpPr/>
          <p:nvPr/>
        </p:nvSpPr>
        <p:spPr>
          <a:xfrm>
            <a:off x="612648" y="4992624"/>
            <a:ext cx="7013448" cy="370332"/>
          </a:xfrm>
          <a:prstGeom prst="rect">
            <a:avLst/>
          </a:prstGeom>
          <a:solidFill>
            <a:srgbClr val="FFFFFF"/>
          </a:solidFill>
          <a:ln w="12700">
            <a:solidFill>
              <a:srgbClr val="FFFFFF"/>
            </a:solidFill>
            <a:prstDash val="solid"/>
          </a:ln>
        </p:spPr>
        <p:txBody>
          <a:bodyPr/>
          <a:p/>
        </p:txBody>
      </p:sp>
      <p:sp>
        <p:nvSpPr>
          <p:cNvPr id="40" name="Text 38"/>
          <p:cNvSpPr/>
          <p:nvPr/>
        </p:nvSpPr>
        <p:spPr>
          <a:xfrm>
            <a:off x="722376" y="5079492"/>
            <a:ext cx="2953512" cy="251460"/>
          </a:xfrm>
          <a:prstGeom prst="rect">
            <a:avLst/>
          </a:prstGeom>
          <a:noFill/>
          <a:ln/>
        </p:spPr>
        <p:txBody>
          <a:bodyPr wrap="square" lIns="0" tIns="0" rIns="0" bIns="0" rtlCol="0" anchor="ctr">
            <a:normAutofit fontScale="100000" lnSpcReduction="0"/>
          </a:bodyPr>
          <a:lstStyle/>
          <a:p>
            <a:pPr indent="0" marL="0">
              <a:buNone/>
            </a:pPr>
            <a:r>
              <a:rPr lang="en-US" sz="1370" b="1" dirty="0">
                <a:solidFill>
                  <a:srgbClr val="24282C"/>
                </a:solidFill>
                <a:latin typeface="Arial" pitchFamily="34" charset="0"/>
                <a:ea typeface="Arial" pitchFamily="34" charset="-122"/>
                <a:cs typeface="Arial" pitchFamily="34" charset="-120"/>
              </a:rPr>
              <a:t>Belts &amp; cooling</a:t>
            </a:r>
            <a:endParaRPr lang="en-US" sz="1370" dirty="0"/>
          </a:p>
        </p:txBody>
      </p:sp>
      <p:sp>
        <p:nvSpPr>
          <p:cNvPr id="41" name="Text 39"/>
          <p:cNvSpPr/>
          <p:nvPr/>
        </p:nvSpPr>
        <p:spPr>
          <a:xfrm>
            <a:off x="3895344" y="5079492"/>
            <a:ext cx="1847088"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29 K€</a:t>
            </a:r>
            <a:endParaRPr lang="en-US" sz="1370" dirty="0"/>
          </a:p>
        </p:txBody>
      </p:sp>
      <p:sp>
        <p:nvSpPr>
          <p:cNvPr id="42" name="Text 40"/>
          <p:cNvSpPr/>
          <p:nvPr/>
        </p:nvSpPr>
        <p:spPr>
          <a:xfrm>
            <a:off x="5961888" y="5079492"/>
            <a:ext cx="1554480" cy="251460"/>
          </a:xfrm>
          <a:prstGeom prst="rect">
            <a:avLst/>
          </a:prstGeom>
          <a:noFill/>
          <a:ln/>
        </p:spPr>
        <p:txBody>
          <a:bodyPr wrap="square" lIns="0" tIns="0" rIns="0" bIns="0" rtlCol="0" anchor="ctr">
            <a:normAutofit fontScale="100000" lnSpcReduction="0"/>
          </a:bodyPr>
          <a:lstStyle/>
          <a:p>
            <a:pPr indent="0" marL="0">
              <a:buNone/>
            </a:pPr>
            <a:r>
              <a:rPr lang="en-US" sz="1370" dirty="0">
                <a:solidFill>
                  <a:srgbClr val="626B72"/>
                </a:solidFill>
                <a:latin typeface="Arial" pitchFamily="34" charset="0"/>
                <a:ea typeface="Arial" pitchFamily="34" charset="-122"/>
                <a:cs typeface="Arial" pitchFamily="34" charset="-120"/>
              </a:rPr>
              <a:t>50.6%</a:t>
            </a:r>
            <a:endParaRPr lang="en-US" sz="1370" dirty="0"/>
          </a:p>
        </p:txBody>
      </p:sp>
      <p:sp>
        <p:nvSpPr>
          <p:cNvPr id="43" name="Shape 41"/>
          <p:cNvSpPr/>
          <p:nvPr/>
        </p:nvSpPr>
        <p:spPr>
          <a:xfrm>
            <a:off x="8385048" y="2423160"/>
            <a:ext cx="3273552" cy="3054096"/>
          </a:xfrm>
          <a:prstGeom prst="rect">
            <a:avLst/>
          </a:prstGeom>
          <a:solidFill>
            <a:srgbClr val="24282C"/>
          </a:solidFill>
          <a:ln w="12700">
            <a:solidFill>
              <a:srgbClr val="24282C"/>
            </a:solidFill>
            <a:prstDash val="solid"/>
          </a:ln>
        </p:spPr>
        <p:txBody>
          <a:bodyPr/>
          <a:p/>
        </p:txBody>
      </p:sp>
      <p:sp>
        <p:nvSpPr>
          <p:cNvPr id="44" name="Text 42"/>
          <p:cNvSpPr/>
          <p:nvPr/>
        </p:nvSpPr>
        <p:spPr>
          <a:xfrm>
            <a:off x="8595360" y="2624328"/>
            <a:ext cx="2852928"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DEALER-QUANTITY VALUATION</a:t>
            </a:r>
            <a:endParaRPr lang="en-US" sz="1160" dirty="0"/>
          </a:p>
        </p:txBody>
      </p:sp>
      <p:sp>
        <p:nvSpPr>
          <p:cNvPr id="45" name="Text 43"/>
          <p:cNvSpPr/>
          <p:nvPr/>
        </p:nvSpPr>
        <p:spPr>
          <a:xfrm>
            <a:off x="8595360" y="3191256"/>
            <a:ext cx="2852928" cy="694944"/>
          </a:xfrm>
          <a:prstGeom prst="rect">
            <a:avLst/>
          </a:prstGeom>
          <a:noFill/>
          <a:ln/>
        </p:spPr>
        <p:txBody>
          <a:bodyPr wrap="square" lIns="0" tIns="0" rIns="0" bIns="0" rtlCol="0" anchor="ctr">
            <a:normAutofit fontScale="100000" lnSpcReduction="0"/>
          </a:bodyPr>
          <a:lstStyle/>
          <a:p>
            <a:pPr indent="0" marL="0">
              <a:buNone/>
            </a:pPr>
            <a:r>
              <a:rPr lang="en-US" sz="2600" b="1" dirty="0">
                <a:solidFill>
                  <a:srgbClr val="FFFFFF"/>
                </a:solidFill>
                <a:latin typeface="Arial" pitchFamily="34" charset="0"/>
                <a:ea typeface="Arial" pitchFamily="34" charset="-122"/>
                <a:cs typeface="Arial" pitchFamily="34" charset="-120"/>
              </a:rPr>
              <a:t>Separate basis</a:t>
            </a:r>
            <a:endParaRPr lang="en-US" sz="2600" dirty="0"/>
          </a:p>
        </p:txBody>
      </p:sp>
      <p:sp>
        <p:nvSpPr>
          <p:cNvPr id="46" name="Text 44"/>
          <p:cNvSpPr/>
          <p:nvPr/>
        </p:nvSpPr>
        <p:spPr>
          <a:xfrm>
            <a:off x="8595360" y="3977640"/>
            <a:ext cx="2852928" cy="1325880"/>
          </a:xfrm>
          <a:prstGeom prst="rect">
            <a:avLst/>
          </a:prstGeom>
          <a:noFill/>
          <a:ln/>
        </p:spPr>
        <p:txBody>
          <a:bodyPr wrap="square" lIns="0" tIns="0" rIns="0" bIns="0" rtlCol="0" anchor="ctr">
            <a:normAutofit fontScale="100000" lnSpcReduction="0"/>
          </a:bodyPr>
          <a:lstStyle/>
          <a:p>
            <a:pPr indent="0" marL="0">
              <a:buNone/>
            </a:pPr>
            <a:r>
              <a:rPr lang="en-US" sz="1473" dirty="0">
                <a:solidFill>
                  <a:srgbClr val="CCD1D2"/>
                </a:solidFill>
                <a:latin typeface="Arial" pitchFamily="34" charset="0"/>
                <a:ea typeface="Arial" pitchFamily="34" charset="-122"/>
                <a:cs typeface="Arial" pitchFamily="34" charset="-120"/>
              </a:rPr>
              <a:t>Page 30 covers six networks and uses an ISZE price-list valuation. It is not dealer revenue; its clipped category labels are not reconstructed.</a:t>
            </a:r>
            <a:endParaRPr lang="en-US" sz="1473" dirty="0"/>
          </a:p>
        </p:txBody>
      </p:sp>
      <p:sp>
        <p:nvSpPr>
          <p:cNvPr id="47" name="Shape 45"/>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48" name="Text 46"/>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No Genuine sales in the observed file does not, by itself, prove that every BVP unit is incremental.</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IDS COHORTS</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Dealer self-assessment cohorts - scores and population size.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2026 source assessment round | No distributor audit score is implied</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35. 518 records, 18 cohorts; reported European dealer-weighted average 74.8%.</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IDS COHORTS</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41</a:t>
            </a:r>
            <a:endParaRPr lang="en-US" sz="1050" dirty="0"/>
          </a:p>
        </p:txBody>
      </p:sp>
      <p:sp>
        <p:nvSpPr>
          <p:cNvPr id="11" name="Shape 9"/>
          <p:cNvSpPr/>
          <p:nvPr/>
        </p:nvSpPr>
        <p:spPr>
          <a:xfrm>
            <a:off x="594360" y="2340864"/>
            <a:ext cx="5129784" cy="365760"/>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27732"/>
            <a:ext cx="238658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ASSESSMENT COHORT</a:t>
            </a:r>
            <a:endParaRPr lang="en-US" sz="1000" dirty="0"/>
          </a:p>
        </p:txBody>
      </p:sp>
      <p:sp>
        <p:nvSpPr>
          <p:cNvPr id="13" name="Text 11"/>
          <p:cNvSpPr/>
          <p:nvPr/>
        </p:nvSpPr>
        <p:spPr>
          <a:xfrm>
            <a:off x="3310128" y="2427732"/>
            <a:ext cx="74066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RECORDS</a:t>
            </a:r>
            <a:endParaRPr lang="en-US" sz="1000" dirty="0"/>
          </a:p>
        </p:txBody>
      </p:sp>
      <p:sp>
        <p:nvSpPr>
          <p:cNvPr id="14" name="Text 12"/>
          <p:cNvSpPr/>
          <p:nvPr/>
        </p:nvSpPr>
        <p:spPr>
          <a:xfrm>
            <a:off x="4270248" y="2427732"/>
            <a:ext cx="1344168"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REPORTED</a:t>
            </a:r>
            <a:endParaRPr lang="en-US" sz="1000" dirty="0"/>
          </a:p>
        </p:txBody>
      </p:sp>
      <p:sp>
        <p:nvSpPr>
          <p:cNvPr id="15" name="Shape 13"/>
          <p:cNvSpPr/>
          <p:nvPr/>
        </p:nvSpPr>
        <p:spPr>
          <a:xfrm>
            <a:off x="594360" y="2706624"/>
            <a:ext cx="5129784" cy="308153"/>
          </a:xfrm>
          <a:prstGeom prst="rect">
            <a:avLst/>
          </a:prstGeom>
          <a:solidFill>
            <a:srgbClr val="FFFFFF"/>
          </a:solidFill>
          <a:ln w="12700">
            <a:solidFill>
              <a:srgbClr val="FFFFFF"/>
            </a:solidFill>
            <a:prstDash val="solid"/>
          </a:ln>
        </p:spPr>
        <p:txBody>
          <a:bodyPr/>
          <a:p/>
        </p:txBody>
      </p:sp>
      <p:sp>
        <p:nvSpPr>
          <p:cNvPr id="16" name="Text 14"/>
          <p:cNvSpPr/>
          <p:nvPr/>
        </p:nvSpPr>
        <p:spPr>
          <a:xfrm>
            <a:off x="704088" y="2780690"/>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Malta</a:t>
            </a:r>
            <a:endParaRPr lang="en-US" sz="1240" dirty="0"/>
          </a:p>
        </p:txBody>
      </p:sp>
      <p:sp>
        <p:nvSpPr>
          <p:cNvPr id="17" name="Text 15"/>
          <p:cNvSpPr/>
          <p:nvPr/>
        </p:nvSpPr>
        <p:spPr>
          <a:xfrm>
            <a:off x="3310128" y="2780690"/>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a:t>
            </a:r>
            <a:endParaRPr lang="en-US" sz="1240" dirty="0"/>
          </a:p>
        </p:txBody>
      </p:sp>
      <p:sp>
        <p:nvSpPr>
          <p:cNvPr id="18" name="Text 16"/>
          <p:cNvSpPr/>
          <p:nvPr/>
        </p:nvSpPr>
        <p:spPr>
          <a:xfrm>
            <a:off x="4270248" y="2780690"/>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89.3%</a:t>
            </a:r>
            <a:endParaRPr lang="en-US" sz="1240" dirty="0"/>
          </a:p>
        </p:txBody>
      </p:sp>
      <p:sp>
        <p:nvSpPr>
          <p:cNvPr id="19" name="Shape 17"/>
          <p:cNvSpPr/>
          <p:nvPr/>
        </p:nvSpPr>
        <p:spPr>
          <a:xfrm>
            <a:off x="594360" y="3014777"/>
            <a:ext cx="5129784" cy="308153"/>
          </a:xfrm>
          <a:prstGeom prst="rect">
            <a:avLst/>
          </a:prstGeom>
          <a:solidFill>
            <a:srgbClr val="EEEDEA"/>
          </a:solidFill>
          <a:ln w="12700">
            <a:solidFill>
              <a:srgbClr val="EEEDEA"/>
            </a:solidFill>
            <a:prstDash val="solid"/>
          </a:ln>
        </p:spPr>
        <p:txBody>
          <a:bodyPr/>
          <a:p/>
        </p:txBody>
      </p:sp>
      <p:sp>
        <p:nvSpPr>
          <p:cNvPr id="20" name="Text 18"/>
          <p:cNvSpPr/>
          <p:nvPr/>
        </p:nvSpPr>
        <p:spPr>
          <a:xfrm>
            <a:off x="704088" y="3088843"/>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Portugal</a:t>
            </a:r>
            <a:endParaRPr lang="en-US" sz="1240" dirty="0"/>
          </a:p>
        </p:txBody>
      </p:sp>
      <p:sp>
        <p:nvSpPr>
          <p:cNvPr id="21" name="Text 19"/>
          <p:cNvSpPr/>
          <p:nvPr/>
        </p:nvSpPr>
        <p:spPr>
          <a:xfrm>
            <a:off x="3310128" y="3088843"/>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16</a:t>
            </a:r>
            <a:endParaRPr lang="en-US" sz="1240" dirty="0"/>
          </a:p>
        </p:txBody>
      </p:sp>
      <p:sp>
        <p:nvSpPr>
          <p:cNvPr id="22" name="Text 20"/>
          <p:cNvSpPr/>
          <p:nvPr/>
        </p:nvSpPr>
        <p:spPr>
          <a:xfrm>
            <a:off x="4270248" y="3088843"/>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86.9%</a:t>
            </a:r>
            <a:endParaRPr lang="en-US" sz="1240" dirty="0"/>
          </a:p>
        </p:txBody>
      </p:sp>
      <p:sp>
        <p:nvSpPr>
          <p:cNvPr id="23" name="Shape 21"/>
          <p:cNvSpPr/>
          <p:nvPr/>
        </p:nvSpPr>
        <p:spPr>
          <a:xfrm>
            <a:off x="594360" y="3322930"/>
            <a:ext cx="5129784" cy="308153"/>
          </a:xfrm>
          <a:prstGeom prst="rect">
            <a:avLst/>
          </a:prstGeom>
          <a:solidFill>
            <a:srgbClr val="FFFFFF"/>
          </a:solidFill>
          <a:ln w="12700">
            <a:solidFill>
              <a:srgbClr val="FFFFFF"/>
            </a:solidFill>
            <a:prstDash val="solid"/>
          </a:ln>
        </p:spPr>
        <p:txBody>
          <a:bodyPr/>
          <a:p/>
        </p:txBody>
      </p:sp>
      <p:sp>
        <p:nvSpPr>
          <p:cNvPr id="24" name="Text 22"/>
          <p:cNvSpPr/>
          <p:nvPr/>
        </p:nvSpPr>
        <p:spPr>
          <a:xfrm>
            <a:off x="704088" y="3396996"/>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Hungary</a:t>
            </a:r>
            <a:endParaRPr lang="en-US" sz="1240" dirty="0"/>
          </a:p>
        </p:txBody>
      </p:sp>
      <p:sp>
        <p:nvSpPr>
          <p:cNvPr id="25" name="Text 23"/>
          <p:cNvSpPr/>
          <p:nvPr/>
        </p:nvSpPr>
        <p:spPr>
          <a:xfrm>
            <a:off x="3310128" y="3396996"/>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19</a:t>
            </a:r>
            <a:endParaRPr lang="en-US" sz="1240" dirty="0"/>
          </a:p>
        </p:txBody>
      </p:sp>
      <p:sp>
        <p:nvSpPr>
          <p:cNvPr id="26" name="Text 24"/>
          <p:cNvSpPr/>
          <p:nvPr/>
        </p:nvSpPr>
        <p:spPr>
          <a:xfrm>
            <a:off x="4270248" y="3396996"/>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86.2%</a:t>
            </a:r>
            <a:endParaRPr lang="en-US" sz="1240" dirty="0"/>
          </a:p>
        </p:txBody>
      </p:sp>
      <p:sp>
        <p:nvSpPr>
          <p:cNvPr id="27" name="Shape 25"/>
          <p:cNvSpPr/>
          <p:nvPr/>
        </p:nvSpPr>
        <p:spPr>
          <a:xfrm>
            <a:off x="594360" y="3631082"/>
            <a:ext cx="5129784" cy="308153"/>
          </a:xfrm>
          <a:prstGeom prst="rect">
            <a:avLst/>
          </a:prstGeom>
          <a:solidFill>
            <a:srgbClr val="EEEDEA"/>
          </a:solidFill>
          <a:ln w="12700">
            <a:solidFill>
              <a:srgbClr val="EEEDEA"/>
            </a:solidFill>
            <a:prstDash val="solid"/>
          </a:ln>
        </p:spPr>
        <p:txBody>
          <a:bodyPr/>
          <a:p/>
        </p:txBody>
      </p:sp>
      <p:sp>
        <p:nvSpPr>
          <p:cNvPr id="28" name="Text 26"/>
          <p:cNvSpPr/>
          <p:nvPr/>
        </p:nvSpPr>
        <p:spPr>
          <a:xfrm>
            <a:off x="704088" y="3705148"/>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Poland</a:t>
            </a:r>
            <a:endParaRPr lang="en-US" sz="1240" dirty="0"/>
          </a:p>
        </p:txBody>
      </p:sp>
      <p:sp>
        <p:nvSpPr>
          <p:cNvPr id="29" name="Text 27"/>
          <p:cNvSpPr/>
          <p:nvPr/>
        </p:nvSpPr>
        <p:spPr>
          <a:xfrm>
            <a:off x="3310128" y="3705148"/>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23</a:t>
            </a:r>
            <a:endParaRPr lang="en-US" sz="1240" dirty="0"/>
          </a:p>
        </p:txBody>
      </p:sp>
      <p:sp>
        <p:nvSpPr>
          <p:cNvPr id="30" name="Text 28"/>
          <p:cNvSpPr/>
          <p:nvPr/>
        </p:nvSpPr>
        <p:spPr>
          <a:xfrm>
            <a:off x="4270248" y="3705148"/>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84.1%</a:t>
            </a:r>
            <a:endParaRPr lang="en-US" sz="1240" dirty="0"/>
          </a:p>
        </p:txBody>
      </p:sp>
      <p:sp>
        <p:nvSpPr>
          <p:cNvPr id="31" name="Shape 29"/>
          <p:cNvSpPr/>
          <p:nvPr/>
        </p:nvSpPr>
        <p:spPr>
          <a:xfrm>
            <a:off x="594360" y="3939235"/>
            <a:ext cx="5129784" cy="308153"/>
          </a:xfrm>
          <a:prstGeom prst="rect">
            <a:avLst/>
          </a:prstGeom>
          <a:solidFill>
            <a:srgbClr val="FFFFFF"/>
          </a:solidFill>
          <a:ln w="12700">
            <a:solidFill>
              <a:srgbClr val="FFFFFF"/>
            </a:solidFill>
            <a:prstDash val="solid"/>
          </a:ln>
        </p:spPr>
        <p:txBody>
          <a:bodyPr/>
          <a:p/>
        </p:txBody>
      </p:sp>
      <p:sp>
        <p:nvSpPr>
          <p:cNvPr id="32" name="Text 30"/>
          <p:cNvSpPr/>
          <p:nvPr/>
        </p:nvSpPr>
        <p:spPr>
          <a:xfrm>
            <a:off x="704088" y="4013301"/>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UK CV</a:t>
            </a:r>
            <a:endParaRPr lang="en-US" sz="1240" dirty="0"/>
          </a:p>
        </p:txBody>
      </p:sp>
      <p:sp>
        <p:nvSpPr>
          <p:cNvPr id="33" name="Text 31"/>
          <p:cNvSpPr/>
          <p:nvPr/>
        </p:nvSpPr>
        <p:spPr>
          <a:xfrm>
            <a:off x="3310128" y="4013301"/>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44</a:t>
            </a:r>
            <a:endParaRPr lang="en-US" sz="1240" dirty="0"/>
          </a:p>
        </p:txBody>
      </p:sp>
      <p:sp>
        <p:nvSpPr>
          <p:cNvPr id="34" name="Text 32"/>
          <p:cNvSpPr/>
          <p:nvPr/>
        </p:nvSpPr>
        <p:spPr>
          <a:xfrm>
            <a:off x="4270248" y="4013301"/>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83.8%</a:t>
            </a:r>
            <a:endParaRPr lang="en-US" sz="1240" dirty="0"/>
          </a:p>
        </p:txBody>
      </p:sp>
      <p:sp>
        <p:nvSpPr>
          <p:cNvPr id="35" name="Shape 33"/>
          <p:cNvSpPr/>
          <p:nvPr/>
        </p:nvSpPr>
        <p:spPr>
          <a:xfrm>
            <a:off x="594360" y="4247388"/>
            <a:ext cx="5129784" cy="308153"/>
          </a:xfrm>
          <a:prstGeom prst="rect">
            <a:avLst/>
          </a:prstGeom>
          <a:solidFill>
            <a:srgbClr val="EEEDEA"/>
          </a:solidFill>
          <a:ln w="12700">
            <a:solidFill>
              <a:srgbClr val="EEEDEA"/>
            </a:solidFill>
            <a:prstDash val="solid"/>
          </a:ln>
        </p:spPr>
        <p:txBody>
          <a:bodyPr/>
          <a:p/>
        </p:txBody>
      </p:sp>
      <p:sp>
        <p:nvSpPr>
          <p:cNvPr id="36" name="Text 34"/>
          <p:cNvSpPr/>
          <p:nvPr/>
        </p:nvSpPr>
        <p:spPr>
          <a:xfrm>
            <a:off x="704088" y="4321454"/>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UK LCV</a:t>
            </a:r>
            <a:endParaRPr lang="en-US" sz="1240" dirty="0"/>
          </a:p>
        </p:txBody>
      </p:sp>
      <p:sp>
        <p:nvSpPr>
          <p:cNvPr id="37" name="Text 35"/>
          <p:cNvSpPr/>
          <p:nvPr/>
        </p:nvSpPr>
        <p:spPr>
          <a:xfrm>
            <a:off x="3310128" y="4321454"/>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43</a:t>
            </a:r>
            <a:endParaRPr lang="en-US" sz="1240" dirty="0"/>
          </a:p>
        </p:txBody>
      </p:sp>
      <p:sp>
        <p:nvSpPr>
          <p:cNvPr id="38" name="Text 36"/>
          <p:cNvSpPr/>
          <p:nvPr/>
        </p:nvSpPr>
        <p:spPr>
          <a:xfrm>
            <a:off x="4270248" y="4321454"/>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81.7%</a:t>
            </a:r>
            <a:endParaRPr lang="en-US" sz="1240" dirty="0"/>
          </a:p>
        </p:txBody>
      </p:sp>
      <p:sp>
        <p:nvSpPr>
          <p:cNvPr id="39" name="Shape 37"/>
          <p:cNvSpPr/>
          <p:nvPr/>
        </p:nvSpPr>
        <p:spPr>
          <a:xfrm>
            <a:off x="594360" y="4555541"/>
            <a:ext cx="5129784" cy="308153"/>
          </a:xfrm>
          <a:prstGeom prst="rect">
            <a:avLst/>
          </a:prstGeom>
          <a:solidFill>
            <a:srgbClr val="FFFFFF"/>
          </a:solidFill>
          <a:ln w="12700">
            <a:solidFill>
              <a:srgbClr val="FFFFFF"/>
            </a:solidFill>
            <a:prstDash val="solid"/>
          </a:ln>
        </p:spPr>
        <p:txBody>
          <a:bodyPr/>
          <a:p/>
        </p:txBody>
      </p:sp>
      <p:sp>
        <p:nvSpPr>
          <p:cNvPr id="40" name="Text 38"/>
          <p:cNvSpPr/>
          <p:nvPr/>
        </p:nvSpPr>
        <p:spPr>
          <a:xfrm>
            <a:off x="704088" y="4629607"/>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Romania</a:t>
            </a:r>
            <a:endParaRPr lang="en-US" sz="1240" dirty="0"/>
          </a:p>
        </p:txBody>
      </p:sp>
      <p:sp>
        <p:nvSpPr>
          <p:cNvPr id="41" name="Text 39"/>
          <p:cNvSpPr/>
          <p:nvPr/>
        </p:nvSpPr>
        <p:spPr>
          <a:xfrm>
            <a:off x="3310128" y="4629607"/>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15</a:t>
            </a:r>
            <a:endParaRPr lang="en-US" sz="1240" dirty="0"/>
          </a:p>
        </p:txBody>
      </p:sp>
      <p:sp>
        <p:nvSpPr>
          <p:cNvPr id="42" name="Text 40"/>
          <p:cNvSpPr/>
          <p:nvPr/>
        </p:nvSpPr>
        <p:spPr>
          <a:xfrm>
            <a:off x="4270248" y="4629607"/>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79.6%</a:t>
            </a:r>
            <a:endParaRPr lang="en-US" sz="1240" dirty="0"/>
          </a:p>
        </p:txBody>
      </p:sp>
      <p:sp>
        <p:nvSpPr>
          <p:cNvPr id="43" name="Shape 41"/>
          <p:cNvSpPr/>
          <p:nvPr/>
        </p:nvSpPr>
        <p:spPr>
          <a:xfrm>
            <a:off x="594360" y="4863694"/>
            <a:ext cx="5129784" cy="308153"/>
          </a:xfrm>
          <a:prstGeom prst="rect">
            <a:avLst/>
          </a:prstGeom>
          <a:solidFill>
            <a:srgbClr val="EEEDEA"/>
          </a:solidFill>
          <a:ln w="12700">
            <a:solidFill>
              <a:srgbClr val="EEEDEA"/>
            </a:solidFill>
            <a:prstDash val="solid"/>
          </a:ln>
        </p:spPr>
        <p:txBody>
          <a:bodyPr/>
          <a:p/>
        </p:txBody>
      </p:sp>
      <p:sp>
        <p:nvSpPr>
          <p:cNvPr id="44" name="Text 42"/>
          <p:cNvSpPr/>
          <p:nvPr/>
        </p:nvSpPr>
        <p:spPr>
          <a:xfrm>
            <a:off x="704088" y="4937760"/>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Italy</a:t>
            </a:r>
            <a:endParaRPr lang="en-US" sz="1240" dirty="0"/>
          </a:p>
        </p:txBody>
      </p:sp>
      <p:sp>
        <p:nvSpPr>
          <p:cNvPr id="45" name="Text 43"/>
          <p:cNvSpPr/>
          <p:nvPr/>
        </p:nvSpPr>
        <p:spPr>
          <a:xfrm>
            <a:off x="3310128" y="4937760"/>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41</a:t>
            </a:r>
            <a:endParaRPr lang="en-US" sz="1240" dirty="0"/>
          </a:p>
        </p:txBody>
      </p:sp>
      <p:sp>
        <p:nvSpPr>
          <p:cNvPr id="46" name="Text 44"/>
          <p:cNvSpPr/>
          <p:nvPr/>
        </p:nvSpPr>
        <p:spPr>
          <a:xfrm>
            <a:off x="4270248" y="4937760"/>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79.2%</a:t>
            </a:r>
            <a:endParaRPr lang="en-US" sz="1240" dirty="0"/>
          </a:p>
        </p:txBody>
      </p:sp>
      <p:sp>
        <p:nvSpPr>
          <p:cNvPr id="47" name="Shape 45"/>
          <p:cNvSpPr/>
          <p:nvPr/>
        </p:nvSpPr>
        <p:spPr>
          <a:xfrm>
            <a:off x="594360" y="5171846"/>
            <a:ext cx="5129784" cy="308153"/>
          </a:xfrm>
          <a:prstGeom prst="rect">
            <a:avLst/>
          </a:prstGeom>
          <a:solidFill>
            <a:srgbClr val="FFFFFF"/>
          </a:solidFill>
          <a:ln w="12700">
            <a:solidFill>
              <a:srgbClr val="FFFFFF"/>
            </a:solidFill>
            <a:prstDash val="solid"/>
          </a:ln>
        </p:spPr>
        <p:txBody>
          <a:bodyPr/>
          <a:p/>
        </p:txBody>
      </p:sp>
      <p:sp>
        <p:nvSpPr>
          <p:cNvPr id="48" name="Text 46"/>
          <p:cNvSpPr/>
          <p:nvPr/>
        </p:nvSpPr>
        <p:spPr>
          <a:xfrm>
            <a:off x="704088" y="5245912"/>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Belgium</a:t>
            </a:r>
            <a:endParaRPr lang="en-US" sz="1240" dirty="0"/>
          </a:p>
        </p:txBody>
      </p:sp>
      <p:sp>
        <p:nvSpPr>
          <p:cNvPr id="49" name="Text 47"/>
          <p:cNvSpPr/>
          <p:nvPr/>
        </p:nvSpPr>
        <p:spPr>
          <a:xfrm>
            <a:off x="3310128" y="5245912"/>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34</a:t>
            </a:r>
            <a:endParaRPr lang="en-US" sz="1240" dirty="0"/>
          </a:p>
        </p:txBody>
      </p:sp>
      <p:sp>
        <p:nvSpPr>
          <p:cNvPr id="50" name="Text 48"/>
          <p:cNvSpPr/>
          <p:nvPr/>
        </p:nvSpPr>
        <p:spPr>
          <a:xfrm>
            <a:off x="4270248" y="5245912"/>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78.6%</a:t>
            </a:r>
            <a:endParaRPr lang="en-US" sz="1240" dirty="0"/>
          </a:p>
        </p:txBody>
      </p:sp>
      <p:sp>
        <p:nvSpPr>
          <p:cNvPr id="51" name="Shape 49"/>
          <p:cNvSpPr/>
          <p:nvPr/>
        </p:nvSpPr>
        <p:spPr>
          <a:xfrm>
            <a:off x="6254496" y="2340864"/>
            <a:ext cx="5129784" cy="365760"/>
          </a:xfrm>
          <a:prstGeom prst="rect">
            <a:avLst/>
          </a:prstGeom>
          <a:solidFill>
            <a:srgbClr val="24282C"/>
          </a:solidFill>
          <a:ln w="12700">
            <a:solidFill>
              <a:srgbClr val="24282C"/>
            </a:solidFill>
            <a:prstDash val="solid"/>
          </a:ln>
        </p:spPr>
        <p:txBody>
          <a:bodyPr/>
          <a:p/>
        </p:txBody>
      </p:sp>
      <p:sp>
        <p:nvSpPr>
          <p:cNvPr id="52" name="Text 50"/>
          <p:cNvSpPr/>
          <p:nvPr/>
        </p:nvSpPr>
        <p:spPr>
          <a:xfrm>
            <a:off x="6364224" y="2427732"/>
            <a:ext cx="238658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ASSESSMENT COHORT</a:t>
            </a:r>
            <a:endParaRPr lang="en-US" sz="1000" dirty="0"/>
          </a:p>
        </p:txBody>
      </p:sp>
      <p:sp>
        <p:nvSpPr>
          <p:cNvPr id="53" name="Text 51"/>
          <p:cNvSpPr/>
          <p:nvPr/>
        </p:nvSpPr>
        <p:spPr>
          <a:xfrm>
            <a:off x="8970264" y="2427732"/>
            <a:ext cx="740664"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RECORDS</a:t>
            </a:r>
            <a:endParaRPr lang="en-US" sz="1000" dirty="0"/>
          </a:p>
        </p:txBody>
      </p:sp>
      <p:sp>
        <p:nvSpPr>
          <p:cNvPr id="54" name="Text 52"/>
          <p:cNvSpPr/>
          <p:nvPr/>
        </p:nvSpPr>
        <p:spPr>
          <a:xfrm>
            <a:off x="9930384" y="2427732"/>
            <a:ext cx="1344168" cy="256032"/>
          </a:xfrm>
          <a:prstGeom prst="rect">
            <a:avLst/>
          </a:prstGeom>
          <a:noFill/>
          <a:ln/>
        </p:spPr>
        <p:txBody>
          <a:bodyPr wrap="square" lIns="0" tIns="0" rIns="0" bIns="0" rtlCol="0" anchor="ctr">
            <a:normAutofit fontScale="100000" lnSpcReduction="0"/>
          </a:bodyPr>
          <a:lstStyle/>
          <a:p>
            <a:pPr indent="0" marL="0">
              <a:buNone/>
            </a:pPr>
            <a:r>
              <a:rPr lang="en-US" sz="1000" b="1" dirty="0">
                <a:solidFill>
                  <a:srgbClr val="FFFFFF"/>
                </a:solidFill>
                <a:latin typeface="Arial" pitchFamily="34" charset="0"/>
                <a:ea typeface="Arial" pitchFamily="34" charset="-122"/>
                <a:cs typeface="Arial" pitchFamily="34" charset="-120"/>
              </a:rPr>
              <a:t>REPORTED</a:t>
            </a:r>
            <a:endParaRPr lang="en-US" sz="1000" dirty="0"/>
          </a:p>
        </p:txBody>
      </p:sp>
      <p:sp>
        <p:nvSpPr>
          <p:cNvPr id="55" name="Shape 53"/>
          <p:cNvSpPr/>
          <p:nvPr/>
        </p:nvSpPr>
        <p:spPr>
          <a:xfrm>
            <a:off x="6254496" y="2706624"/>
            <a:ext cx="5129784" cy="308153"/>
          </a:xfrm>
          <a:prstGeom prst="rect">
            <a:avLst/>
          </a:prstGeom>
          <a:solidFill>
            <a:srgbClr val="FFFFFF"/>
          </a:solidFill>
          <a:ln w="12700">
            <a:solidFill>
              <a:srgbClr val="FFFFFF"/>
            </a:solidFill>
            <a:prstDash val="solid"/>
          </a:ln>
        </p:spPr>
        <p:txBody>
          <a:bodyPr/>
          <a:p/>
        </p:txBody>
      </p:sp>
      <p:sp>
        <p:nvSpPr>
          <p:cNvPr id="56" name="Text 54"/>
          <p:cNvSpPr/>
          <p:nvPr/>
        </p:nvSpPr>
        <p:spPr>
          <a:xfrm>
            <a:off x="6364224" y="2780690"/>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Netherlands</a:t>
            </a:r>
            <a:endParaRPr lang="en-US" sz="1240" dirty="0"/>
          </a:p>
        </p:txBody>
      </p:sp>
      <p:sp>
        <p:nvSpPr>
          <p:cNvPr id="57" name="Text 55"/>
          <p:cNvSpPr/>
          <p:nvPr/>
        </p:nvSpPr>
        <p:spPr>
          <a:xfrm>
            <a:off x="8970264" y="2780690"/>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9</a:t>
            </a:r>
            <a:endParaRPr lang="en-US" sz="1240" dirty="0"/>
          </a:p>
        </p:txBody>
      </p:sp>
      <p:sp>
        <p:nvSpPr>
          <p:cNvPr id="58" name="Text 56"/>
          <p:cNvSpPr/>
          <p:nvPr/>
        </p:nvSpPr>
        <p:spPr>
          <a:xfrm>
            <a:off x="9930384" y="2780690"/>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76.3%</a:t>
            </a:r>
            <a:endParaRPr lang="en-US" sz="1240" dirty="0"/>
          </a:p>
        </p:txBody>
      </p:sp>
      <p:sp>
        <p:nvSpPr>
          <p:cNvPr id="59" name="Shape 57"/>
          <p:cNvSpPr/>
          <p:nvPr/>
        </p:nvSpPr>
        <p:spPr>
          <a:xfrm>
            <a:off x="6254496" y="3014777"/>
            <a:ext cx="5129784" cy="308153"/>
          </a:xfrm>
          <a:prstGeom prst="rect">
            <a:avLst/>
          </a:prstGeom>
          <a:solidFill>
            <a:srgbClr val="EEEDEA"/>
          </a:solidFill>
          <a:ln w="12700">
            <a:solidFill>
              <a:srgbClr val="EEEDEA"/>
            </a:solidFill>
            <a:prstDash val="solid"/>
          </a:ln>
        </p:spPr>
        <p:txBody>
          <a:bodyPr/>
          <a:p/>
        </p:txBody>
      </p:sp>
      <p:sp>
        <p:nvSpPr>
          <p:cNvPr id="60" name="Text 58"/>
          <p:cNvSpPr/>
          <p:nvPr/>
        </p:nvSpPr>
        <p:spPr>
          <a:xfrm>
            <a:off x="6364224" y="3088843"/>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Denmark</a:t>
            </a:r>
            <a:endParaRPr lang="en-US" sz="1240" dirty="0"/>
          </a:p>
        </p:txBody>
      </p:sp>
      <p:sp>
        <p:nvSpPr>
          <p:cNvPr id="61" name="Text 59"/>
          <p:cNvSpPr/>
          <p:nvPr/>
        </p:nvSpPr>
        <p:spPr>
          <a:xfrm>
            <a:off x="8970264" y="3088843"/>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20</a:t>
            </a:r>
            <a:endParaRPr lang="en-US" sz="1240" dirty="0"/>
          </a:p>
        </p:txBody>
      </p:sp>
      <p:sp>
        <p:nvSpPr>
          <p:cNvPr id="62" name="Text 60"/>
          <p:cNvSpPr/>
          <p:nvPr/>
        </p:nvSpPr>
        <p:spPr>
          <a:xfrm>
            <a:off x="9930384" y="3088843"/>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75.7%</a:t>
            </a:r>
            <a:endParaRPr lang="en-US" sz="1240" dirty="0"/>
          </a:p>
        </p:txBody>
      </p:sp>
      <p:sp>
        <p:nvSpPr>
          <p:cNvPr id="63" name="Shape 61"/>
          <p:cNvSpPr/>
          <p:nvPr/>
        </p:nvSpPr>
        <p:spPr>
          <a:xfrm>
            <a:off x="6254496" y="3322930"/>
            <a:ext cx="5129784" cy="308153"/>
          </a:xfrm>
          <a:prstGeom prst="rect">
            <a:avLst/>
          </a:prstGeom>
          <a:solidFill>
            <a:srgbClr val="FFFFFF"/>
          </a:solidFill>
          <a:ln w="12700">
            <a:solidFill>
              <a:srgbClr val="FFFFFF"/>
            </a:solidFill>
            <a:prstDash val="solid"/>
          </a:ln>
        </p:spPr>
        <p:txBody>
          <a:bodyPr/>
          <a:p/>
        </p:txBody>
      </p:sp>
      <p:sp>
        <p:nvSpPr>
          <p:cNvPr id="64" name="Text 62"/>
          <p:cNvSpPr/>
          <p:nvPr/>
        </p:nvSpPr>
        <p:spPr>
          <a:xfrm>
            <a:off x="6364224" y="3396996"/>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Spain</a:t>
            </a:r>
            <a:endParaRPr lang="en-US" sz="1240" dirty="0"/>
          </a:p>
        </p:txBody>
      </p:sp>
      <p:sp>
        <p:nvSpPr>
          <p:cNvPr id="65" name="Text 63"/>
          <p:cNvSpPr/>
          <p:nvPr/>
        </p:nvSpPr>
        <p:spPr>
          <a:xfrm>
            <a:off x="8970264" y="3396996"/>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45</a:t>
            </a:r>
            <a:endParaRPr lang="en-US" sz="1240" dirty="0"/>
          </a:p>
        </p:txBody>
      </p:sp>
      <p:sp>
        <p:nvSpPr>
          <p:cNvPr id="66" name="Text 64"/>
          <p:cNvSpPr/>
          <p:nvPr/>
        </p:nvSpPr>
        <p:spPr>
          <a:xfrm>
            <a:off x="9930384" y="3396996"/>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75.5%</a:t>
            </a:r>
            <a:endParaRPr lang="en-US" sz="1240" dirty="0"/>
          </a:p>
        </p:txBody>
      </p:sp>
      <p:sp>
        <p:nvSpPr>
          <p:cNvPr id="67" name="Shape 65"/>
          <p:cNvSpPr/>
          <p:nvPr/>
        </p:nvSpPr>
        <p:spPr>
          <a:xfrm>
            <a:off x="6254496" y="3631082"/>
            <a:ext cx="5129784" cy="308153"/>
          </a:xfrm>
          <a:prstGeom prst="rect">
            <a:avLst/>
          </a:prstGeom>
          <a:solidFill>
            <a:srgbClr val="EEEDEA"/>
          </a:solidFill>
          <a:ln w="12700">
            <a:solidFill>
              <a:srgbClr val="EEEDEA"/>
            </a:solidFill>
            <a:prstDash val="solid"/>
          </a:ln>
        </p:spPr>
        <p:txBody>
          <a:bodyPr/>
          <a:p/>
        </p:txBody>
      </p:sp>
      <p:sp>
        <p:nvSpPr>
          <p:cNvPr id="68" name="Text 66"/>
          <p:cNvSpPr/>
          <p:nvPr/>
        </p:nvSpPr>
        <p:spPr>
          <a:xfrm>
            <a:off x="6364224" y="3705148"/>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Norway</a:t>
            </a:r>
            <a:endParaRPr lang="en-US" sz="1240" dirty="0"/>
          </a:p>
        </p:txBody>
      </p:sp>
      <p:sp>
        <p:nvSpPr>
          <p:cNvPr id="69" name="Text 67"/>
          <p:cNvSpPr/>
          <p:nvPr/>
        </p:nvSpPr>
        <p:spPr>
          <a:xfrm>
            <a:off x="8970264" y="3705148"/>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38</a:t>
            </a:r>
            <a:endParaRPr lang="en-US" sz="1240" dirty="0"/>
          </a:p>
        </p:txBody>
      </p:sp>
      <p:sp>
        <p:nvSpPr>
          <p:cNvPr id="70" name="Text 68"/>
          <p:cNvSpPr/>
          <p:nvPr/>
        </p:nvSpPr>
        <p:spPr>
          <a:xfrm>
            <a:off x="9930384" y="3705148"/>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75.2%</a:t>
            </a:r>
            <a:endParaRPr lang="en-US" sz="1240" dirty="0"/>
          </a:p>
        </p:txBody>
      </p:sp>
      <p:sp>
        <p:nvSpPr>
          <p:cNvPr id="71" name="Shape 69"/>
          <p:cNvSpPr/>
          <p:nvPr/>
        </p:nvSpPr>
        <p:spPr>
          <a:xfrm>
            <a:off x="6254496" y="3939235"/>
            <a:ext cx="5129784" cy="308153"/>
          </a:xfrm>
          <a:prstGeom prst="rect">
            <a:avLst/>
          </a:prstGeom>
          <a:solidFill>
            <a:srgbClr val="FFFFFF"/>
          </a:solidFill>
          <a:ln w="12700">
            <a:solidFill>
              <a:srgbClr val="FFFFFF"/>
            </a:solidFill>
            <a:prstDash val="solid"/>
          </a:ln>
        </p:spPr>
        <p:txBody>
          <a:bodyPr/>
          <a:p/>
        </p:txBody>
      </p:sp>
      <p:sp>
        <p:nvSpPr>
          <p:cNvPr id="72" name="Text 70"/>
          <p:cNvSpPr/>
          <p:nvPr/>
        </p:nvSpPr>
        <p:spPr>
          <a:xfrm>
            <a:off x="6364224" y="4013301"/>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Cyprus</a:t>
            </a:r>
            <a:endParaRPr lang="en-US" sz="1240" dirty="0"/>
          </a:p>
        </p:txBody>
      </p:sp>
      <p:sp>
        <p:nvSpPr>
          <p:cNvPr id="73" name="Text 71"/>
          <p:cNvSpPr/>
          <p:nvPr/>
        </p:nvSpPr>
        <p:spPr>
          <a:xfrm>
            <a:off x="8970264" y="4013301"/>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1</a:t>
            </a:r>
            <a:endParaRPr lang="en-US" sz="1240" dirty="0"/>
          </a:p>
        </p:txBody>
      </p:sp>
      <p:sp>
        <p:nvSpPr>
          <p:cNvPr id="74" name="Text 72"/>
          <p:cNvSpPr/>
          <p:nvPr/>
        </p:nvSpPr>
        <p:spPr>
          <a:xfrm>
            <a:off x="9930384" y="4013301"/>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75.0%</a:t>
            </a:r>
            <a:endParaRPr lang="en-US" sz="1240" dirty="0"/>
          </a:p>
        </p:txBody>
      </p:sp>
      <p:sp>
        <p:nvSpPr>
          <p:cNvPr id="75" name="Shape 73"/>
          <p:cNvSpPr/>
          <p:nvPr/>
        </p:nvSpPr>
        <p:spPr>
          <a:xfrm>
            <a:off x="6254496" y="4247388"/>
            <a:ext cx="5129784" cy="308153"/>
          </a:xfrm>
          <a:prstGeom prst="rect">
            <a:avLst/>
          </a:prstGeom>
          <a:solidFill>
            <a:srgbClr val="EEEDEA"/>
          </a:solidFill>
          <a:ln w="12700">
            <a:solidFill>
              <a:srgbClr val="EEEDEA"/>
            </a:solidFill>
            <a:prstDash val="solid"/>
          </a:ln>
        </p:spPr>
        <p:txBody>
          <a:bodyPr/>
          <a:p/>
        </p:txBody>
      </p:sp>
      <p:sp>
        <p:nvSpPr>
          <p:cNvPr id="76" name="Text 74"/>
          <p:cNvSpPr/>
          <p:nvPr/>
        </p:nvSpPr>
        <p:spPr>
          <a:xfrm>
            <a:off x="6364224" y="4321454"/>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Greece</a:t>
            </a:r>
            <a:endParaRPr lang="en-US" sz="1240" dirty="0"/>
          </a:p>
        </p:txBody>
      </p:sp>
      <p:sp>
        <p:nvSpPr>
          <p:cNvPr id="77" name="Text 75"/>
          <p:cNvSpPr/>
          <p:nvPr/>
        </p:nvSpPr>
        <p:spPr>
          <a:xfrm>
            <a:off x="8970264" y="4321454"/>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34</a:t>
            </a:r>
            <a:endParaRPr lang="en-US" sz="1240" dirty="0"/>
          </a:p>
        </p:txBody>
      </p:sp>
      <p:sp>
        <p:nvSpPr>
          <p:cNvPr id="78" name="Text 76"/>
          <p:cNvSpPr/>
          <p:nvPr/>
        </p:nvSpPr>
        <p:spPr>
          <a:xfrm>
            <a:off x="9930384" y="4321454"/>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73.9%</a:t>
            </a:r>
            <a:endParaRPr lang="en-US" sz="1240" dirty="0"/>
          </a:p>
        </p:txBody>
      </p:sp>
      <p:sp>
        <p:nvSpPr>
          <p:cNvPr id="79" name="Shape 77"/>
          <p:cNvSpPr/>
          <p:nvPr/>
        </p:nvSpPr>
        <p:spPr>
          <a:xfrm>
            <a:off x="6254496" y="4555541"/>
            <a:ext cx="5129784" cy="308153"/>
          </a:xfrm>
          <a:prstGeom prst="rect">
            <a:avLst/>
          </a:prstGeom>
          <a:solidFill>
            <a:srgbClr val="FFFFFF"/>
          </a:solidFill>
          <a:ln w="12700">
            <a:solidFill>
              <a:srgbClr val="FFFFFF"/>
            </a:solidFill>
            <a:prstDash val="solid"/>
          </a:ln>
        </p:spPr>
        <p:txBody>
          <a:bodyPr/>
          <a:p/>
        </p:txBody>
      </p:sp>
      <p:sp>
        <p:nvSpPr>
          <p:cNvPr id="80" name="Text 78"/>
          <p:cNvSpPr/>
          <p:nvPr/>
        </p:nvSpPr>
        <p:spPr>
          <a:xfrm>
            <a:off x="6364224" y="4629607"/>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Switzerland</a:t>
            </a:r>
            <a:endParaRPr lang="en-US" sz="1240" dirty="0"/>
          </a:p>
        </p:txBody>
      </p:sp>
      <p:sp>
        <p:nvSpPr>
          <p:cNvPr id="81" name="Text 79"/>
          <p:cNvSpPr/>
          <p:nvPr/>
        </p:nvSpPr>
        <p:spPr>
          <a:xfrm>
            <a:off x="8970264" y="4629607"/>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22</a:t>
            </a:r>
            <a:endParaRPr lang="en-US" sz="1240" dirty="0"/>
          </a:p>
        </p:txBody>
      </p:sp>
      <p:sp>
        <p:nvSpPr>
          <p:cNvPr id="82" name="Text 80"/>
          <p:cNvSpPr/>
          <p:nvPr/>
        </p:nvSpPr>
        <p:spPr>
          <a:xfrm>
            <a:off x="9930384" y="4629607"/>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63.6%</a:t>
            </a:r>
            <a:endParaRPr lang="en-US" sz="1240" dirty="0"/>
          </a:p>
        </p:txBody>
      </p:sp>
      <p:sp>
        <p:nvSpPr>
          <p:cNvPr id="83" name="Shape 81"/>
          <p:cNvSpPr/>
          <p:nvPr/>
        </p:nvSpPr>
        <p:spPr>
          <a:xfrm>
            <a:off x="6254496" y="4863694"/>
            <a:ext cx="5129784" cy="308153"/>
          </a:xfrm>
          <a:prstGeom prst="rect">
            <a:avLst/>
          </a:prstGeom>
          <a:solidFill>
            <a:srgbClr val="EEEDEA"/>
          </a:solidFill>
          <a:ln w="12700">
            <a:solidFill>
              <a:srgbClr val="EEEDEA"/>
            </a:solidFill>
            <a:prstDash val="solid"/>
          </a:ln>
        </p:spPr>
        <p:txBody>
          <a:bodyPr/>
          <a:p/>
        </p:txBody>
      </p:sp>
      <p:sp>
        <p:nvSpPr>
          <p:cNvPr id="84" name="Text 82"/>
          <p:cNvSpPr/>
          <p:nvPr/>
        </p:nvSpPr>
        <p:spPr>
          <a:xfrm>
            <a:off x="6364224" y="4937760"/>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France</a:t>
            </a:r>
            <a:endParaRPr lang="en-US" sz="1240" dirty="0"/>
          </a:p>
        </p:txBody>
      </p:sp>
      <p:sp>
        <p:nvSpPr>
          <p:cNvPr id="85" name="Text 83"/>
          <p:cNvSpPr/>
          <p:nvPr/>
        </p:nvSpPr>
        <p:spPr>
          <a:xfrm>
            <a:off x="8970264" y="4937760"/>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84</a:t>
            </a:r>
            <a:endParaRPr lang="en-US" sz="1240" dirty="0"/>
          </a:p>
        </p:txBody>
      </p:sp>
      <p:sp>
        <p:nvSpPr>
          <p:cNvPr id="86" name="Text 84"/>
          <p:cNvSpPr/>
          <p:nvPr/>
        </p:nvSpPr>
        <p:spPr>
          <a:xfrm>
            <a:off x="9930384" y="4937760"/>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61.9%</a:t>
            </a:r>
            <a:endParaRPr lang="en-US" sz="1240" dirty="0"/>
          </a:p>
        </p:txBody>
      </p:sp>
      <p:sp>
        <p:nvSpPr>
          <p:cNvPr id="87" name="Shape 85"/>
          <p:cNvSpPr/>
          <p:nvPr/>
        </p:nvSpPr>
        <p:spPr>
          <a:xfrm>
            <a:off x="6254496" y="5171846"/>
            <a:ext cx="5129784" cy="308153"/>
          </a:xfrm>
          <a:prstGeom prst="rect">
            <a:avLst/>
          </a:prstGeom>
          <a:solidFill>
            <a:srgbClr val="FFFFFF"/>
          </a:solidFill>
          <a:ln w="12700">
            <a:solidFill>
              <a:srgbClr val="FFFFFF"/>
            </a:solidFill>
            <a:prstDash val="solid"/>
          </a:ln>
        </p:spPr>
        <p:txBody>
          <a:bodyPr/>
          <a:p/>
        </p:txBody>
      </p:sp>
      <p:sp>
        <p:nvSpPr>
          <p:cNvPr id="88" name="Text 86"/>
          <p:cNvSpPr/>
          <p:nvPr/>
        </p:nvSpPr>
        <p:spPr>
          <a:xfrm>
            <a:off x="6364224" y="5245912"/>
            <a:ext cx="2386584" cy="214884"/>
          </a:xfrm>
          <a:prstGeom prst="rect">
            <a:avLst/>
          </a:prstGeom>
          <a:noFill/>
          <a:ln/>
        </p:spPr>
        <p:txBody>
          <a:bodyPr wrap="square" lIns="0" tIns="0" rIns="0" bIns="0" rtlCol="0" anchor="ctr">
            <a:normAutofit fontScale="100000" lnSpcReduction="0"/>
          </a:bodyPr>
          <a:lstStyle/>
          <a:p>
            <a:pPr indent="0" marL="0">
              <a:buNone/>
            </a:pPr>
            <a:r>
              <a:rPr lang="en-US" sz="1240" b="1" dirty="0">
                <a:solidFill>
                  <a:srgbClr val="24282C"/>
                </a:solidFill>
                <a:latin typeface="Arial" pitchFamily="34" charset="0"/>
                <a:ea typeface="Arial" pitchFamily="34" charset="-122"/>
                <a:cs typeface="Arial" pitchFamily="34" charset="-120"/>
              </a:rPr>
              <a:t>Israel LCV*</a:t>
            </a:r>
            <a:endParaRPr lang="en-US" sz="1240" dirty="0"/>
          </a:p>
        </p:txBody>
      </p:sp>
      <p:sp>
        <p:nvSpPr>
          <p:cNvPr id="89" name="Text 87"/>
          <p:cNvSpPr/>
          <p:nvPr/>
        </p:nvSpPr>
        <p:spPr>
          <a:xfrm>
            <a:off x="8970264" y="5245912"/>
            <a:ext cx="740664"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29</a:t>
            </a:r>
            <a:endParaRPr lang="en-US" sz="1240" dirty="0"/>
          </a:p>
        </p:txBody>
      </p:sp>
      <p:sp>
        <p:nvSpPr>
          <p:cNvPr id="90" name="Text 88"/>
          <p:cNvSpPr/>
          <p:nvPr/>
        </p:nvSpPr>
        <p:spPr>
          <a:xfrm>
            <a:off x="9930384" y="5245912"/>
            <a:ext cx="1344168" cy="214884"/>
          </a:xfrm>
          <a:prstGeom prst="rect">
            <a:avLst/>
          </a:prstGeom>
          <a:noFill/>
          <a:ln/>
        </p:spPr>
        <p:txBody>
          <a:bodyPr wrap="square" lIns="0" tIns="0" rIns="0" bIns="0" rtlCol="0" anchor="ctr">
            <a:normAutofit fontScale="100000" lnSpcReduction="0"/>
          </a:bodyPr>
          <a:lstStyle/>
          <a:p>
            <a:pPr indent="0" marL="0">
              <a:buNone/>
            </a:pPr>
            <a:r>
              <a:rPr lang="en-US" sz="1240" dirty="0">
                <a:solidFill>
                  <a:srgbClr val="626B72"/>
                </a:solidFill>
                <a:latin typeface="Arial" pitchFamily="34" charset="0"/>
                <a:ea typeface="Arial" pitchFamily="34" charset="-122"/>
                <a:cs typeface="Arial" pitchFamily="34" charset="-120"/>
              </a:rPr>
              <a:t>60.9%</a:t>
            </a:r>
            <a:endParaRPr lang="en-US" sz="1240" dirty="0"/>
          </a:p>
        </p:txBody>
      </p:sp>
      <p:sp>
        <p:nvSpPr>
          <p:cNvPr id="91" name="Shape 89"/>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92" name="Text 90"/>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 Israel LCV has a different reported section basis; confirm comparability before ranking it with complete scores.</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IDS SECTIONS</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Use section detail to guide follow-up, not an overall league table.</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Percent of section maximum | A 46 / B 80 / C 80 / D 47 / E 27 points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 36. Blank UK CV section cells and Israel LCV vehicle-sales cell remain unknown.</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IDS SECTIONS</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42</a:t>
            </a:r>
            <a:endParaRPr lang="en-US" sz="1050" dirty="0"/>
          </a:p>
        </p:txBody>
      </p:sp>
      <p:sp>
        <p:nvSpPr>
          <p:cNvPr id="11" name="Text 9"/>
          <p:cNvSpPr/>
          <p:nvPr/>
        </p:nvSpPr>
        <p:spPr>
          <a:xfrm>
            <a:off x="630936" y="2267712"/>
            <a:ext cx="1627632" cy="173736"/>
          </a:xfrm>
          <a:prstGeom prst="rect">
            <a:avLst/>
          </a:prstGeom>
          <a:noFill/>
          <a:ln/>
        </p:spPr>
        <p:txBody>
          <a:bodyPr wrap="square" lIns="0" tIns="0" rIns="0" bIns="0" rtlCol="0" anchor="ctr">
            <a:normAutofit fontScale="100000" lnSpcReduction="0"/>
          </a:bodyPr>
          <a:lstStyle/>
          <a:p>
            <a:pPr indent="0" marL="0">
              <a:buNone/>
            </a:pPr>
            <a:r>
              <a:rPr lang="en-US" sz="920" b="1" dirty="0">
                <a:solidFill>
                  <a:srgbClr val="626B72"/>
                </a:solidFill>
                <a:latin typeface="Arial" pitchFamily="34" charset="0"/>
                <a:ea typeface="Arial" pitchFamily="34" charset="-122"/>
                <a:cs typeface="Arial" pitchFamily="34" charset="-120"/>
              </a:rPr>
              <a:t>COHORT</a:t>
            </a:r>
            <a:endParaRPr lang="en-US" sz="920" dirty="0"/>
          </a:p>
        </p:txBody>
      </p:sp>
      <p:sp>
        <p:nvSpPr>
          <p:cNvPr id="12" name="Text 10"/>
          <p:cNvSpPr/>
          <p:nvPr/>
        </p:nvSpPr>
        <p:spPr>
          <a:xfrm>
            <a:off x="2258568"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A</a:t>
            </a:r>
            <a:endParaRPr lang="en-US" sz="1050" dirty="0"/>
          </a:p>
        </p:txBody>
      </p:sp>
      <p:sp>
        <p:nvSpPr>
          <p:cNvPr id="13" name="Text 11"/>
          <p:cNvSpPr/>
          <p:nvPr/>
        </p:nvSpPr>
        <p:spPr>
          <a:xfrm>
            <a:off x="2958084"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B</a:t>
            </a:r>
            <a:endParaRPr lang="en-US" sz="1050" dirty="0"/>
          </a:p>
        </p:txBody>
      </p:sp>
      <p:sp>
        <p:nvSpPr>
          <p:cNvPr id="14" name="Text 12"/>
          <p:cNvSpPr/>
          <p:nvPr/>
        </p:nvSpPr>
        <p:spPr>
          <a:xfrm>
            <a:off x="3657600"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C</a:t>
            </a:r>
            <a:endParaRPr lang="en-US" sz="1050" dirty="0"/>
          </a:p>
        </p:txBody>
      </p:sp>
      <p:sp>
        <p:nvSpPr>
          <p:cNvPr id="15" name="Text 13"/>
          <p:cNvSpPr/>
          <p:nvPr/>
        </p:nvSpPr>
        <p:spPr>
          <a:xfrm>
            <a:off x="4357116"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D</a:t>
            </a:r>
            <a:endParaRPr lang="en-US" sz="1050" dirty="0"/>
          </a:p>
        </p:txBody>
      </p:sp>
      <p:sp>
        <p:nvSpPr>
          <p:cNvPr id="16" name="Text 14"/>
          <p:cNvSpPr/>
          <p:nvPr/>
        </p:nvSpPr>
        <p:spPr>
          <a:xfrm>
            <a:off x="5056632"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E</a:t>
            </a:r>
            <a:endParaRPr lang="en-US" sz="1050" dirty="0"/>
          </a:p>
        </p:txBody>
      </p:sp>
      <p:sp>
        <p:nvSpPr>
          <p:cNvPr id="17" name="Text 15"/>
          <p:cNvSpPr/>
          <p:nvPr/>
        </p:nvSpPr>
        <p:spPr>
          <a:xfrm>
            <a:off x="630936" y="2535631"/>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Belgium</a:t>
            </a:r>
            <a:endParaRPr lang="en-US" sz="1180" dirty="0"/>
          </a:p>
        </p:txBody>
      </p:sp>
      <p:sp>
        <p:nvSpPr>
          <p:cNvPr id="18" name="Shape 16"/>
          <p:cNvSpPr/>
          <p:nvPr/>
        </p:nvSpPr>
        <p:spPr>
          <a:xfrm>
            <a:off x="2258568" y="2468880"/>
            <a:ext cx="658368" cy="249631"/>
          </a:xfrm>
          <a:prstGeom prst="rect">
            <a:avLst/>
          </a:prstGeom>
          <a:solidFill>
            <a:srgbClr val="909699"/>
          </a:solidFill>
          <a:ln w="12700">
            <a:solidFill>
              <a:srgbClr val="909699"/>
            </a:solidFill>
            <a:prstDash val="solid"/>
          </a:ln>
        </p:spPr>
        <p:txBody>
          <a:bodyPr/>
          <a:p/>
        </p:txBody>
      </p:sp>
      <p:sp>
        <p:nvSpPr>
          <p:cNvPr id="19" name="Text 17"/>
          <p:cNvSpPr/>
          <p:nvPr/>
        </p:nvSpPr>
        <p:spPr>
          <a:xfrm>
            <a:off x="2258568"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71%</a:t>
            </a:r>
            <a:endParaRPr lang="en-US" sz="1060" dirty="0"/>
          </a:p>
        </p:txBody>
      </p:sp>
      <p:sp>
        <p:nvSpPr>
          <p:cNvPr id="20" name="Shape 18"/>
          <p:cNvSpPr/>
          <p:nvPr/>
        </p:nvSpPr>
        <p:spPr>
          <a:xfrm>
            <a:off x="2958084" y="2468880"/>
            <a:ext cx="658368" cy="249631"/>
          </a:xfrm>
          <a:prstGeom prst="rect">
            <a:avLst/>
          </a:prstGeom>
          <a:solidFill>
            <a:srgbClr val="909699"/>
          </a:solidFill>
          <a:ln w="12700">
            <a:solidFill>
              <a:srgbClr val="909699"/>
            </a:solidFill>
            <a:prstDash val="solid"/>
          </a:ln>
        </p:spPr>
        <p:txBody>
          <a:bodyPr/>
          <a:p/>
        </p:txBody>
      </p:sp>
      <p:sp>
        <p:nvSpPr>
          <p:cNvPr id="21" name="Text 19"/>
          <p:cNvSpPr/>
          <p:nvPr/>
        </p:nvSpPr>
        <p:spPr>
          <a:xfrm>
            <a:off x="2958084"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73%</a:t>
            </a:r>
            <a:endParaRPr lang="en-US" sz="1060" dirty="0"/>
          </a:p>
        </p:txBody>
      </p:sp>
      <p:sp>
        <p:nvSpPr>
          <p:cNvPr id="22" name="Shape 20"/>
          <p:cNvSpPr/>
          <p:nvPr/>
        </p:nvSpPr>
        <p:spPr>
          <a:xfrm>
            <a:off x="3657600" y="2468880"/>
            <a:ext cx="658368" cy="249631"/>
          </a:xfrm>
          <a:prstGeom prst="rect">
            <a:avLst/>
          </a:prstGeom>
          <a:solidFill>
            <a:srgbClr val="24282C"/>
          </a:solidFill>
          <a:ln w="12700">
            <a:solidFill>
              <a:srgbClr val="24282C"/>
            </a:solidFill>
            <a:prstDash val="solid"/>
          </a:ln>
        </p:spPr>
        <p:txBody>
          <a:bodyPr/>
          <a:p/>
        </p:txBody>
      </p:sp>
      <p:sp>
        <p:nvSpPr>
          <p:cNvPr id="23" name="Text 21"/>
          <p:cNvSpPr/>
          <p:nvPr/>
        </p:nvSpPr>
        <p:spPr>
          <a:xfrm>
            <a:off x="3657600"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88%</a:t>
            </a:r>
            <a:endParaRPr lang="en-US" sz="1060" dirty="0"/>
          </a:p>
        </p:txBody>
      </p:sp>
      <p:sp>
        <p:nvSpPr>
          <p:cNvPr id="24" name="Shape 22"/>
          <p:cNvSpPr/>
          <p:nvPr/>
        </p:nvSpPr>
        <p:spPr>
          <a:xfrm>
            <a:off x="4357116" y="2468880"/>
            <a:ext cx="658368" cy="249631"/>
          </a:xfrm>
          <a:prstGeom prst="rect">
            <a:avLst/>
          </a:prstGeom>
          <a:solidFill>
            <a:srgbClr val="626B72"/>
          </a:solidFill>
          <a:ln w="12700">
            <a:solidFill>
              <a:srgbClr val="626B72"/>
            </a:solidFill>
            <a:prstDash val="solid"/>
          </a:ln>
        </p:spPr>
        <p:txBody>
          <a:bodyPr/>
          <a:p/>
        </p:txBody>
      </p:sp>
      <p:sp>
        <p:nvSpPr>
          <p:cNvPr id="25" name="Text 23"/>
          <p:cNvSpPr/>
          <p:nvPr/>
        </p:nvSpPr>
        <p:spPr>
          <a:xfrm>
            <a:off x="4357116"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26" name="Shape 24"/>
          <p:cNvSpPr/>
          <p:nvPr/>
        </p:nvSpPr>
        <p:spPr>
          <a:xfrm>
            <a:off x="5056632" y="2468880"/>
            <a:ext cx="658368" cy="249631"/>
          </a:xfrm>
          <a:prstGeom prst="rect">
            <a:avLst/>
          </a:prstGeom>
          <a:solidFill>
            <a:srgbClr val="626B72"/>
          </a:solidFill>
          <a:ln w="12700">
            <a:solidFill>
              <a:srgbClr val="626B72"/>
            </a:solidFill>
            <a:prstDash val="solid"/>
          </a:ln>
        </p:spPr>
        <p:txBody>
          <a:bodyPr/>
          <a:p/>
        </p:txBody>
      </p:sp>
      <p:sp>
        <p:nvSpPr>
          <p:cNvPr id="27" name="Text 25"/>
          <p:cNvSpPr/>
          <p:nvPr/>
        </p:nvSpPr>
        <p:spPr>
          <a:xfrm>
            <a:off x="5056632"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77%</a:t>
            </a:r>
            <a:endParaRPr lang="en-US" sz="1060" dirty="0"/>
          </a:p>
        </p:txBody>
      </p:sp>
      <p:sp>
        <p:nvSpPr>
          <p:cNvPr id="28" name="Text 26"/>
          <p:cNvSpPr/>
          <p:nvPr/>
        </p:nvSpPr>
        <p:spPr>
          <a:xfrm>
            <a:off x="630936" y="2826410"/>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Cyprus</a:t>
            </a:r>
            <a:endParaRPr lang="en-US" sz="1180" dirty="0"/>
          </a:p>
        </p:txBody>
      </p:sp>
      <p:sp>
        <p:nvSpPr>
          <p:cNvPr id="29" name="Shape 27"/>
          <p:cNvSpPr/>
          <p:nvPr/>
        </p:nvSpPr>
        <p:spPr>
          <a:xfrm>
            <a:off x="2258568" y="2759659"/>
            <a:ext cx="658368" cy="249631"/>
          </a:xfrm>
          <a:prstGeom prst="rect">
            <a:avLst/>
          </a:prstGeom>
          <a:solidFill>
            <a:srgbClr val="909699"/>
          </a:solidFill>
          <a:ln w="12700">
            <a:solidFill>
              <a:srgbClr val="909699"/>
            </a:solidFill>
            <a:prstDash val="solid"/>
          </a:ln>
        </p:spPr>
        <p:txBody>
          <a:bodyPr/>
          <a:p/>
        </p:txBody>
      </p:sp>
      <p:sp>
        <p:nvSpPr>
          <p:cNvPr id="30" name="Text 28"/>
          <p:cNvSpPr/>
          <p:nvPr/>
        </p:nvSpPr>
        <p:spPr>
          <a:xfrm>
            <a:off x="2258568"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72%</a:t>
            </a:r>
            <a:endParaRPr lang="en-US" sz="1060" dirty="0"/>
          </a:p>
        </p:txBody>
      </p:sp>
      <p:sp>
        <p:nvSpPr>
          <p:cNvPr id="31" name="Shape 29"/>
          <p:cNvSpPr/>
          <p:nvPr/>
        </p:nvSpPr>
        <p:spPr>
          <a:xfrm>
            <a:off x="2958084" y="2759659"/>
            <a:ext cx="658368" cy="249631"/>
          </a:xfrm>
          <a:prstGeom prst="rect">
            <a:avLst/>
          </a:prstGeom>
          <a:solidFill>
            <a:srgbClr val="909699"/>
          </a:solidFill>
          <a:ln w="12700">
            <a:solidFill>
              <a:srgbClr val="909699"/>
            </a:solidFill>
            <a:prstDash val="solid"/>
          </a:ln>
        </p:spPr>
        <p:txBody>
          <a:bodyPr/>
          <a:p/>
        </p:txBody>
      </p:sp>
      <p:sp>
        <p:nvSpPr>
          <p:cNvPr id="32" name="Text 30"/>
          <p:cNvSpPr/>
          <p:nvPr/>
        </p:nvSpPr>
        <p:spPr>
          <a:xfrm>
            <a:off x="2958084"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74%</a:t>
            </a:r>
            <a:endParaRPr lang="en-US" sz="1060" dirty="0"/>
          </a:p>
        </p:txBody>
      </p:sp>
      <p:sp>
        <p:nvSpPr>
          <p:cNvPr id="33" name="Shape 31"/>
          <p:cNvSpPr/>
          <p:nvPr/>
        </p:nvSpPr>
        <p:spPr>
          <a:xfrm>
            <a:off x="3657600" y="2759659"/>
            <a:ext cx="658368" cy="249631"/>
          </a:xfrm>
          <a:prstGeom prst="rect">
            <a:avLst/>
          </a:prstGeom>
          <a:solidFill>
            <a:srgbClr val="24282C"/>
          </a:solidFill>
          <a:ln w="12700">
            <a:solidFill>
              <a:srgbClr val="24282C"/>
            </a:solidFill>
            <a:prstDash val="solid"/>
          </a:ln>
        </p:spPr>
        <p:txBody>
          <a:bodyPr/>
          <a:p/>
        </p:txBody>
      </p:sp>
      <p:sp>
        <p:nvSpPr>
          <p:cNvPr id="34" name="Text 32"/>
          <p:cNvSpPr/>
          <p:nvPr/>
        </p:nvSpPr>
        <p:spPr>
          <a:xfrm>
            <a:off x="3657600"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88%</a:t>
            </a:r>
            <a:endParaRPr lang="en-US" sz="1060" dirty="0"/>
          </a:p>
        </p:txBody>
      </p:sp>
      <p:sp>
        <p:nvSpPr>
          <p:cNvPr id="35" name="Shape 33"/>
          <p:cNvSpPr/>
          <p:nvPr/>
        </p:nvSpPr>
        <p:spPr>
          <a:xfrm>
            <a:off x="4357116" y="2759659"/>
            <a:ext cx="658368" cy="249631"/>
          </a:xfrm>
          <a:prstGeom prst="rect">
            <a:avLst/>
          </a:prstGeom>
          <a:solidFill>
            <a:srgbClr val="909699"/>
          </a:solidFill>
          <a:ln w="12700">
            <a:solidFill>
              <a:srgbClr val="909699"/>
            </a:solidFill>
            <a:prstDash val="solid"/>
          </a:ln>
        </p:spPr>
        <p:txBody>
          <a:bodyPr/>
          <a:p/>
        </p:txBody>
      </p:sp>
      <p:sp>
        <p:nvSpPr>
          <p:cNvPr id="36" name="Text 34"/>
          <p:cNvSpPr/>
          <p:nvPr/>
        </p:nvSpPr>
        <p:spPr>
          <a:xfrm>
            <a:off x="4357116"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72%</a:t>
            </a:r>
            <a:endParaRPr lang="en-US" sz="1060" dirty="0"/>
          </a:p>
        </p:txBody>
      </p:sp>
      <p:sp>
        <p:nvSpPr>
          <p:cNvPr id="37" name="Shape 35"/>
          <p:cNvSpPr/>
          <p:nvPr/>
        </p:nvSpPr>
        <p:spPr>
          <a:xfrm>
            <a:off x="5056632" y="2759659"/>
            <a:ext cx="658368" cy="249631"/>
          </a:xfrm>
          <a:prstGeom prst="rect">
            <a:avLst/>
          </a:prstGeom>
          <a:solidFill>
            <a:srgbClr val="B6BAB9"/>
          </a:solidFill>
          <a:ln w="12700">
            <a:solidFill>
              <a:srgbClr val="B6BAB9"/>
            </a:solidFill>
            <a:prstDash val="solid"/>
          </a:ln>
        </p:spPr>
        <p:txBody>
          <a:bodyPr/>
          <a:p/>
        </p:txBody>
      </p:sp>
      <p:sp>
        <p:nvSpPr>
          <p:cNvPr id="38" name="Text 36"/>
          <p:cNvSpPr/>
          <p:nvPr/>
        </p:nvSpPr>
        <p:spPr>
          <a:xfrm>
            <a:off x="5056632"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52%</a:t>
            </a:r>
            <a:endParaRPr lang="en-US" sz="1060" dirty="0"/>
          </a:p>
        </p:txBody>
      </p:sp>
      <p:sp>
        <p:nvSpPr>
          <p:cNvPr id="39" name="Text 37"/>
          <p:cNvSpPr/>
          <p:nvPr/>
        </p:nvSpPr>
        <p:spPr>
          <a:xfrm>
            <a:off x="630936" y="3117190"/>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Denmark</a:t>
            </a:r>
            <a:endParaRPr lang="en-US" sz="1180" dirty="0"/>
          </a:p>
        </p:txBody>
      </p:sp>
      <p:sp>
        <p:nvSpPr>
          <p:cNvPr id="40" name="Shape 38"/>
          <p:cNvSpPr/>
          <p:nvPr/>
        </p:nvSpPr>
        <p:spPr>
          <a:xfrm>
            <a:off x="2258568" y="3050438"/>
            <a:ext cx="658368" cy="249631"/>
          </a:xfrm>
          <a:prstGeom prst="rect">
            <a:avLst/>
          </a:prstGeom>
          <a:solidFill>
            <a:srgbClr val="626B72"/>
          </a:solidFill>
          <a:ln w="12700">
            <a:solidFill>
              <a:srgbClr val="626B72"/>
            </a:solidFill>
            <a:prstDash val="solid"/>
          </a:ln>
        </p:spPr>
        <p:txBody>
          <a:bodyPr/>
          <a:p/>
        </p:txBody>
      </p:sp>
      <p:sp>
        <p:nvSpPr>
          <p:cNvPr id="41" name="Text 39"/>
          <p:cNvSpPr/>
          <p:nvPr/>
        </p:nvSpPr>
        <p:spPr>
          <a:xfrm>
            <a:off x="2258568"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76%</a:t>
            </a:r>
            <a:endParaRPr lang="en-US" sz="1060" dirty="0"/>
          </a:p>
        </p:txBody>
      </p:sp>
      <p:sp>
        <p:nvSpPr>
          <p:cNvPr id="42" name="Shape 40"/>
          <p:cNvSpPr/>
          <p:nvPr/>
        </p:nvSpPr>
        <p:spPr>
          <a:xfrm>
            <a:off x="2958084" y="3050438"/>
            <a:ext cx="658368" cy="249631"/>
          </a:xfrm>
          <a:prstGeom prst="rect">
            <a:avLst/>
          </a:prstGeom>
          <a:solidFill>
            <a:srgbClr val="626B72"/>
          </a:solidFill>
          <a:ln w="12700">
            <a:solidFill>
              <a:srgbClr val="626B72"/>
            </a:solidFill>
            <a:prstDash val="solid"/>
          </a:ln>
        </p:spPr>
        <p:txBody>
          <a:bodyPr/>
          <a:p/>
        </p:txBody>
      </p:sp>
      <p:sp>
        <p:nvSpPr>
          <p:cNvPr id="43" name="Text 41"/>
          <p:cNvSpPr/>
          <p:nvPr/>
        </p:nvSpPr>
        <p:spPr>
          <a:xfrm>
            <a:off x="2958084"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75%</a:t>
            </a:r>
            <a:endParaRPr lang="en-US" sz="1060" dirty="0"/>
          </a:p>
        </p:txBody>
      </p:sp>
      <p:sp>
        <p:nvSpPr>
          <p:cNvPr id="44" name="Shape 42"/>
          <p:cNvSpPr/>
          <p:nvPr/>
        </p:nvSpPr>
        <p:spPr>
          <a:xfrm>
            <a:off x="3657600" y="3050438"/>
            <a:ext cx="658368" cy="249631"/>
          </a:xfrm>
          <a:prstGeom prst="rect">
            <a:avLst/>
          </a:prstGeom>
          <a:solidFill>
            <a:srgbClr val="24282C"/>
          </a:solidFill>
          <a:ln w="12700">
            <a:solidFill>
              <a:srgbClr val="24282C"/>
            </a:solidFill>
            <a:prstDash val="solid"/>
          </a:ln>
        </p:spPr>
        <p:txBody>
          <a:bodyPr/>
          <a:p/>
        </p:txBody>
      </p:sp>
      <p:sp>
        <p:nvSpPr>
          <p:cNvPr id="45" name="Text 43"/>
          <p:cNvSpPr/>
          <p:nvPr/>
        </p:nvSpPr>
        <p:spPr>
          <a:xfrm>
            <a:off x="3657600"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87%</a:t>
            </a:r>
            <a:endParaRPr lang="en-US" sz="1060" dirty="0"/>
          </a:p>
        </p:txBody>
      </p:sp>
      <p:sp>
        <p:nvSpPr>
          <p:cNvPr id="46" name="Shape 44"/>
          <p:cNvSpPr/>
          <p:nvPr/>
        </p:nvSpPr>
        <p:spPr>
          <a:xfrm>
            <a:off x="4357116" y="3050438"/>
            <a:ext cx="658368" cy="249631"/>
          </a:xfrm>
          <a:prstGeom prst="rect">
            <a:avLst/>
          </a:prstGeom>
          <a:solidFill>
            <a:srgbClr val="626B72"/>
          </a:solidFill>
          <a:ln w="12700">
            <a:solidFill>
              <a:srgbClr val="626B72"/>
            </a:solidFill>
            <a:prstDash val="solid"/>
          </a:ln>
        </p:spPr>
        <p:txBody>
          <a:bodyPr/>
          <a:p/>
        </p:txBody>
      </p:sp>
      <p:sp>
        <p:nvSpPr>
          <p:cNvPr id="47" name="Text 45"/>
          <p:cNvSpPr/>
          <p:nvPr/>
        </p:nvSpPr>
        <p:spPr>
          <a:xfrm>
            <a:off x="4357116"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76%</a:t>
            </a:r>
            <a:endParaRPr lang="en-US" sz="1060" dirty="0"/>
          </a:p>
        </p:txBody>
      </p:sp>
      <p:sp>
        <p:nvSpPr>
          <p:cNvPr id="48" name="Shape 46"/>
          <p:cNvSpPr/>
          <p:nvPr/>
        </p:nvSpPr>
        <p:spPr>
          <a:xfrm>
            <a:off x="5056632" y="3050438"/>
            <a:ext cx="658368" cy="249631"/>
          </a:xfrm>
          <a:prstGeom prst="rect">
            <a:avLst/>
          </a:prstGeom>
          <a:solidFill>
            <a:srgbClr val="24282C"/>
          </a:solidFill>
          <a:ln w="12700">
            <a:solidFill>
              <a:srgbClr val="24282C"/>
            </a:solidFill>
            <a:prstDash val="solid"/>
          </a:ln>
        </p:spPr>
        <p:txBody>
          <a:bodyPr/>
          <a:p/>
        </p:txBody>
      </p:sp>
      <p:sp>
        <p:nvSpPr>
          <p:cNvPr id="49" name="Text 47"/>
          <p:cNvSpPr/>
          <p:nvPr/>
        </p:nvSpPr>
        <p:spPr>
          <a:xfrm>
            <a:off x="5056632"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88%</a:t>
            </a:r>
            <a:endParaRPr lang="en-US" sz="1060" dirty="0"/>
          </a:p>
        </p:txBody>
      </p:sp>
      <p:sp>
        <p:nvSpPr>
          <p:cNvPr id="50" name="Text 48"/>
          <p:cNvSpPr/>
          <p:nvPr/>
        </p:nvSpPr>
        <p:spPr>
          <a:xfrm>
            <a:off x="630936" y="3407969"/>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Hungary</a:t>
            </a:r>
            <a:endParaRPr lang="en-US" sz="1180" dirty="0"/>
          </a:p>
        </p:txBody>
      </p:sp>
      <p:sp>
        <p:nvSpPr>
          <p:cNvPr id="51" name="Shape 49"/>
          <p:cNvSpPr/>
          <p:nvPr/>
        </p:nvSpPr>
        <p:spPr>
          <a:xfrm>
            <a:off x="2258568" y="3341218"/>
            <a:ext cx="658368" cy="249631"/>
          </a:xfrm>
          <a:prstGeom prst="rect">
            <a:avLst/>
          </a:prstGeom>
          <a:solidFill>
            <a:srgbClr val="626B72"/>
          </a:solidFill>
          <a:ln w="12700">
            <a:solidFill>
              <a:srgbClr val="626B72"/>
            </a:solidFill>
            <a:prstDash val="solid"/>
          </a:ln>
        </p:spPr>
        <p:txBody>
          <a:bodyPr/>
          <a:p/>
        </p:txBody>
      </p:sp>
      <p:sp>
        <p:nvSpPr>
          <p:cNvPr id="52" name="Text 50"/>
          <p:cNvSpPr/>
          <p:nvPr/>
        </p:nvSpPr>
        <p:spPr>
          <a:xfrm>
            <a:off x="2258568"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81%</a:t>
            </a:r>
            <a:endParaRPr lang="en-US" sz="1060" dirty="0"/>
          </a:p>
        </p:txBody>
      </p:sp>
      <p:sp>
        <p:nvSpPr>
          <p:cNvPr id="53" name="Shape 51"/>
          <p:cNvSpPr/>
          <p:nvPr/>
        </p:nvSpPr>
        <p:spPr>
          <a:xfrm>
            <a:off x="2958084" y="3341218"/>
            <a:ext cx="658368" cy="249631"/>
          </a:xfrm>
          <a:prstGeom prst="rect">
            <a:avLst/>
          </a:prstGeom>
          <a:solidFill>
            <a:srgbClr val="626B72"/>
          </a:solidFill>
          <a:ln w="12700">
            <a:solidFill>
              <a:srgbClr val="626B72"/>
            </a:solidFill>
            <a:prstDash val="solid"/>
          </a:ln>
        </p:spPr>
        <p:txBody>
          <a:bodyPr/>
          <a:p/>
        </p:txBody>
      </p:sp>
      <p:sp>
        <p:nvSpPr>
          <p:cNvPr id="54" name="Text 52"/>
          <p:cNvSpPr/>
          <p:nvPr/>
        </p:nvSpPr>
        <p:spPr>
          <a:xfrm>
            <a:off x="2958084"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83%</a:t>
            </a:r>
            <a:endParaRPr lang="en-US" sz="1060" dirty="0"/>
          </a:p>
        </p:txBody>
      </p:sp>
      <p:sp>
        <p:nvSpPr>
          <p:cNvPr id="55" name="Shape 53"/>
          <p:cNvSpPr/>
          <p:nvPr/>
        </p:nvSpPr>
        <p:spPr>
          <a:xfrm>
            <a:off x="3657600" y="3341218"/>
            <a:ext cx="658368" cy="249631"/>
          </a:xfrm>
          <a:prstGeom prst="rect">
            <a:avLst/>
          </a:prstGeom>
          <a:solidFill>
            <a:srgbClr val="24282C"/>
          </a:solidFill>
          <a:ln w="12700">
            <a:solidFill>
              <a:srgbClr val="24282C"/>
            </a:solidFill>
            <a:prstDash val="solid"/>
          </a:ln>
        </p:spPr>
        <p:txBody>
          <a:bodyPr/>
          <a:p/>
        </p:txBody>
      </p:sp>
      <p:sp>
        <p:nvSpPr>
          <p:cNvPr id="56" name="Text 54"/>
          <p:cNvSpPr/>
          <p:nvPr/>
        </p:nvSpPr>
        <p:spPr>
          <a:xfrm>
            <a:off x="3657600"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92%</a:t>
            </a:r>
            <a:endParaRPr lang="en-US" sz="1060" dirty="0"/>
          </a:p>
        </p:txBody>
      </p:sp>
      <p:sp>
        <p:nvSpPr>
          <p:cNvPr id="57" name="Shape 55"/>
          <p:cNvSpPr/>
          <p:nvPr/>
        </p:nvSpPr>
        <p:spPr>
          <a:xfrm>
            <a:off x="4357116" y="3341218"/>
            <a:ext cx="658368" cy="249631"/>
          </a:xfrm>
          <a:prstGeom prst="rect">
            <a:avLst/>
          </a:prstGeom>
          <a:solidFill>
            <a:srgbClr val="24282C"/>
          </a:solidFill>
          <a:ln w="12700">
            <a:solidFill>
              <a:srgbClr val="24282C"/>
            </a:solidFill>
            <a:prstDash val="solid"/>
          </a:ln>
        </p:spPr>
        <p:txBody>
          <a:bodyPr/>
          <a:p/>
        </p:txBody>
      </p:sp>
      <p:sp>
        <p:nvSpPr>
          <p:cNvPr id="58" name="Text 56"/>
          <p:cNvSpPr/>
          <p:nvPr/>
        </p:nvSpPr>
        <p:spPr>
          <a:xfrm>
            <a:off x="4357116"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89%</a:t>
            </a:r>
            <a:endParaRPr lang="en-US" sz="1060" dirty="0"/>
          </a:p>
        </p:txBody>
      </p:sp>
      <p:sp>
        <p:nvSpPr>
          <p:cNvPr id="59" name="Shape 57"/>
          <p:cNvSpPr/>
          <p:nvPr/>
        </p:nvSpPr>
        <p:spPr>
          <a:xfrm>
            <a:off x="5056632" y="3341218"/>
            <a:ext cx="658368" cy="249631"/>
          </a:xfrm>
          <a:prstGeom prst="rect">
            <a:avLst/>
          </a:prstGeom>
          <a:solidFill>
            <a:srgbClr val="24282C"/>
          </a:solidFill>
          <a:ln w="12700">
            <a:solidFill>
              <a:srgbClr val="24282C"/>
            </a:solidFill>
            <a:prstDash val="solid"/>
          </a:ln>
        </p:spPr>
        <p:txBody>
          <a:bodyPr/>
          <a:p/>
        </p:txBody>
      </p:sp>
      <p:sp>
        <p:nvSpPr>
          <p:cNvPr id="60" name="Text 58"/>
          <p:cNvSpPr/>
          <p:nvPr/>
        </p:nvSpPr>
        <p:spPr>
          <a:xfrm>
            <a:off x="5056632"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85%</a:t>
            </a:r>
            <a:endParaRPr lang="en-US" sz="1060" dirty="0"/>
          </a:p>
        </p:txBody>
      </p:sp>
      <p:sp>
        <p:nvSpPr>
          <p:cNvPr id="61" name="Text 59"/>
          <p:cNvSpPr/>
          <p:nvPr/>
        </p:nvSpPr>
        <p:spPr>
          <a:xfrm>
            <a:off x="630936" y="3698748"/>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UK CV</a:t>
            </a:r>
            <a:endParaRPr lang="en-US" sz="1180" dirty="0"/>
          </a:p>
        </p:txBody>
      </p:sp>
      <p:sp>
        <p:nvSpPr>
          <p:cNvPr id="62" name="Shape 60"/>
          <p:cNvSpPr/>
          <p:nvPr/>
        </p:nvSpPr>
        <p:spPr>
          <a:xfrm>
            <a:off x="2258568" y="3631997"/>
            <a:ext cx="658368" cy="249631"/>
          </a:xfrm>
          <a:prstGeom prst="rect">
            <a:avLst/>
          </a:prstGeom>
          <a:solidFill>
            <a:srgbClr val="E8E7E3"/>
          </a:solidFill>
          <a:ln w="12700">
            <a:solidFill>
              <a:srgbClr val="E8E7E3"/>
            </a:solidFill>
            <a:prstDash val="solid"/>
          </a:ln>
        </p:spPr>
        <p:txBody>
          <a:bodyPr/>
          <a:p/>
        </p:txBody>
      </p:sp>
      <p:sp>
        <p:nvSpPr>
          <p:cNvPr id="63" name="Text 61"/>
          <p:cNvSpPr/>
          <p:nvPr/>
        </p:nvSpPr>
        <p:spPr>
          <a:xfrm>
            <a:off x="2258568"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626B72"/>
                </a:solidFill>
                <a:latin typeface="Arial" pitchFamily="34" charset="0"/>
                <a:ea typeface="Arial" pitchFamily="34" charset="-122"/>
                <a:cs typeface="Arial" pitchFamily="34" charset="-120"/>
              </a:rPr>
              <a:t>—</a:t>
            </a:r>
            <a:endParaRPr lang="en-US" sz="1060" dirty="0"/>
          </a:p>
        </p:txBody>
      </p:sp>
      <p:sp>
        <p:nvSpPr>
          <p:cNvPr id="64" name="Shape 62"/>
          <p:cNvSpPr/>
          <p:nvPr/>
        </p:nvSpPr>
        <p:spPr>
          <a:xfrm>
            <a:off x="2958084" y="3631997"/>
            <a:ext cx="658368" cy="249631"/>
          </a:xfrm>
          <a:prstGeom prst="rect">
            <a:avLst/>
          </a:prstGeom>
          <a:solidFill>
            <a:srgbClr val="E8E7E3"/>
          </a:solidFill>
          <a:ln w="12700">
            <a:solidFill>
              <a:srgbClr val="E8E7E3"/>
            </a:solidFill>
            <a:prstDash val="solid"/>
          </a:ln>
        </p:spPr>
        <p:txBody>
          <a:bodyPr/>
          <a:p/>
        </p:txBody>
      </p:sp>
      <p:sp>
        <p:nvSpPr>
          <p:cNvPr id="65" name="Text 63"/>
          <p:cNvSpPr/>
          <p:nvPr/>
        </p:nvSpPr>
        <p:spPr>
          <a:xfrm>
            <a:off x="2958084"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626B72"/>
                </a:solidFill>
                <a:latin typeface="Arial" pitchFamily="34" charset="0"/>
                <a:ea typeface="Arial" pitchFamily="34" charset="-122"/>
                <a:cs typeface="Arial" pitchFamily="34" charset="-120"/>
              </a:rPr>
              <a:t>—</a:t>
            </a:r>
            <a:endParaRPr lang="en-US" sz="1060" dirty="0"/>
          </a:p>
        </p:txBody>
      </p:sp>
      <p:sp>
        <p:nvSpPr>
          <p:cNvPr id="66" name="Shape 64"/>
          <p:cNvSpPr/>
          <p:nvPr/>
        </p:nvSpPr>
        <p:spPr>
          <a:xfrm>
            <a:off x="3657600" y="3631997"/>
            <a:ext cx="658368" cy="249631"/>
          </a:xfrm>
          <a:prstGeom prst="rect">
            <a:avLst/>
          </a:prstGeom>
          <a:solidFill>
            <a:srgbClr val="E8E7E3"/>
          </a:solidFill>
          <a:ln w="12700">
            <a:solidFill>
              <a:srgbClr val="E8E7E3"/>
            </a:solidFill>
            <a:prstDash val="solid"/>
          </a:ln>
        </p:spPr>
        <p:txBody>
          <a:bodyPr/>
          <a:p/>
        </p:txBody>
      </p:sp>
      <p:sp>
        <p:nvSpPr>
          <p:cNvPr id="67" name="Text 65"/>
          <p:cNvSpPr/>
          <p:nvPr/>
        </p:nvSpPr>
        <p:spPr>
          <a:xfrm>
            <a:off x="3657600"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626B72"/>
                </a:solidFill>
                <a:latin typeface="Arial" pitchFamily="34" charset="0"/>
                <a:ea typeface="Arial" pitchFamily="34" charset="-122"/>
                <a:cs typeface="Arial" pitchFamily="34" charset="-120"/>
              </a:rPr>
              <a:t>—</a:t>
            </a:r>
            <a:endParaRPr lang="en-US" sz="1060" dirty="0"/>
          </a:p>
        </p:txBody>
      </p:sp>
      <p:sp>
        <p:nvSpPr>
          <p:cNvPr id="68" name="Shape 66"/>
          <p:cNvSpPr/>
          <p:nvPr/>
        </p:nvSpPr>
        <p:spPr>
          <a:xfrm>
            <a:off x="4357116" y="3631997"/>
            <a:ext cx="658368" cy="249631"/>
          </a:xfrm>
          <a:prstGeom prst="rect">
            <a:avLst/>
          </a:prstGeom>
          <a:solidFill>
            <a:srgbClr val="E8E7E3"/>
          </a:solidFill>
          <a:ln w="12700">
            <a:solidFill>
              <a:srgbClr val="E8E7E3"/>
            </a:solidFill>
            <a:prstDash val="solid"/>
          </a:ln>
        </p:spPr>
        <p:txBody>
          <a:bodyPr/>
          <a:p/>
        </p:txBody>
      </p:sp>
      <p:sp>
        <p:nvSpPr>
          <p:cNvPr id="69" name="Text 67"/>
          <p:cNvSpPr/>
          <p:nvPr/>
        </p:nvSpPr>
        <p:spPr>
          <a:xfrm>
            <a:off x="4357116"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626B72"/>
                </a:solidFill>
                <a:latin typeface="Arial" pitchFamily="34" charset="0"/>
                <a:ea typeface="Arial" pitchFamily="34" charset="-122"/>
                <a:cs typeface="Arial" pitchFamily="34" charset="-120"/>
              </a:rPr>
              <a:t>—</a:t>
            </a:r>
            <a:endParaRPr lang="en-US" sz="1060" dirty="0"/>
          </a:p>
        </p:txBody>
      </p:sp>
      <p:sp>
        <p:nvSpPr>
          <p:cNvPr id="70" name="Shape 68"/>
          <p:cNvSpPr/>
          <p:nvPr/>
        </p:nvSpPr>
        <p:spPr>
          <a:xfrm>
            <a:off x="5056632" y="3631997"/>
            <a:ext cx="658368" cy="249631"/>
          </a:xfrm>
          <a:prstGeom prst="rect">
            <a:avLst/>
          </a:prstGeom>
          <a:solidFill>
            <a:srgbClr val="E8E7E3"/>
          </a:solidFill>
          <a:ln w="12700">
            <a:solidFill>
              <a:srgbClr val="E8E7E3"/>
            </a:solidFill>
            <a:prstDash val="solid"/>
          </a:ln>
        </p:spPr>
        <p:txBody>
          <a:bodyPr/>
          <a:p/>
        </p:txBody>
      </p:sp>
      <p:sp>
        <p:nvSpPr>
          <p:cNvPr id="71" name="Text 69"/>
          <p:cNvSpPr/>
          <p:nvPr/>
        </p:nvSpPr>
        <p:spPr>
          <a:xfrm>
            <a:off x="5056632"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626B72"/>
                </a:solidFill>
                <a:latin typeface="Arial" pitchFamily="34" charset="0"/>
                <a:ea typeface="Arial" pitchFamily="34" charset="-122"/>
                <a:cs typeface="Arial" pitchFamily="34" charset="-120"/>
              </a:rPr>
              <a:t>—</a:t>
            </a:r>
            <a:endParaRPr lang="en-US" sz="1060" dirty="0"/>
          </a:p>
        </p:txBody>
      </p:sp>
      <p:sp>
        <p:nvSpPr>
          <p:cNvPr id="72" name="Text 70"/>
          <p:cNvSpPr/>
          <p:nvPr/>
        </p:nvSpPr>
        <p:spPr>
          <a:xfrm>
            <a:off x="630936" y="3989527"/>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UK LCV</a:t>
            </a:r>
            <a:endParaRPr lang="en-US" sz="1180" dirty="0"/>
          </a:p>
        </p:txBody>
      </p:sp>
      <p:sp>
        <p:nvSpPr>
          <p:cNvPr id="73" name="Shape 71"/>
          <p:cNvSpPr/>
          <p:nvPr/>
        </p:nvSpPr>
        <p:spPr>
          <a:xfrm>
            <a:off x="2258568" y="3922776"/>
            <a:ext cx="658368" cy="249631"/>
          </a:xfrm>
          <a:prstGeom prst="rect">
            <a:avLst/>
          </a:prstGeom>
          <a:solidFill>
            <a:srgbClr val="626B72"/>
          </a:solidFill>
          <a:ln w="12700">
            <a:solidFill>
              <a:srgbClr val="626B72"/>
            </a:solidFill>
            <a:prstDash val="solid"/>
          </a:ln>
        </p:spPr>
        <p:txBody>
          <a:bodyPr/>
          <a:p/>
        </p:txBody>
      </p:sp>
      <p:sp>
        <p:nvSpPr>
          <p:cNvPr id="74" name="Text 72"/>
          <p:cNvSpPr/>
          <p:nvPr/>
        </p:nvSpPr>
        <p:spPr>
          <a:xfrm>
            <a:off x="2258568"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75" name="Shape 73"/>
          <p:cNvSpPr/>
          <p:nvPr/>
        </p:nvSpPr>
        <p:spPr>
          <a:xfrm>
            <a:off x="2958084" y="3922776"/>
            <a:ext cx="658368" cy="249631"/>
          </a:xfrm>
          <a:prstGeom prst="rect">
            <a:avLst/>
          </a:prstGeom>
          <a:solidFill>
            <a:srgbClr val="626B72"/>
          </a:solidFill>
          <a:ln w="12700">
            <a:solidFill>
              <a:srgbClr val="626B72"/>
            </a:solidFill>
            <a:prstDash val="solid"/>
          </a:ln>
        </p:spPr>
        <p:txBody>
          <a:bodyPr/>
          <a:p/>
        </p:txBody>
      </p:sp>
      <p:sp>
        <p:nvSpPr>
          <p:cNvPr id="76" name="Text 74"/>
          <p:cNvSpPr/>
          <p:nvPr/>
        </p:nvSpPr>
        <p:spPr>
          <a:xfrm>
            <a:off x="2958084"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77" name="Shape 75"/>
          <p:cNvSpPr/>
          <p:nvPr/>
        </p:nvSpPr>
        <p:spPr>
          <a:xfrm>
            <a:off x="3657600" y="3922776"/>
            <a:ext cx="658368" cy="249631"/>
          </a:xfrm>
          <a:prstGeom prst="rect">
            <a:avLst/>
          </a:prstGeom>
          <a:solidFill>
            <a:srgbClr val="626B72"/>
          </a:solidFill>
          <a:ln w="12700">
            <a:solidFill>
              <a:srgbClr val="626B72"/>
            </a:solidFill>
            <a:prstDash val="solid"/>
          </a:ln>
        </p:spPr>
        <p:txBody>
          <a:bodyPr/>
          <a:p/>
        </p:txBody>
      </p:sp>
      <p:sp>
        <p:nvSpPr>
          <p:cNvPr id="78" name="Text 76"/>
          <p:cNvSpPr/>
          <p:nvPr/>
        </p:nvSpPr>
        <p:spPr>
          <a:xfrm>
            <a:off x="3657600"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82%</a:t>
            </a:r>
            <a:endParaRPr lang="en-US" sz="1060" dirty="0"/>
          </a:p>
        </p:txBody>
      </p:sp>
      <p:sp>
        <p:nvSpPr>
          <p:cNvPr id="79" name="Shape 77"/>
          <p:cNvSpPr/>
          <p:nvPr/>
        </p:nvSpPr>
        <p:spPr>
          <a:xfrm>
            <a:off x="4357116" y="3922776"/>
            <a:ext cx="658368" cy="249631"/>
          </a:xfrm>
          <a:prstGeom prst="rect">
            <a:avLst/>
          </a:prstGeom>
          <a:solidFill>
            <a:srgbClr val="626B72"/>
          </a:solidFill>
          <a:ln w="12700">
            <a:solidFill>
              <a:srgbClr val="626B72"/>
            </a:solidFill>
            <a:prstDash val="solid"/>
          </a:ln>
        </p:spPr>
        <p:txBody>
          <a:bodyPr/>
          <a:p/>
        </p:txBody>
      </p:sp>
      <p:sp>
        <p:nvSpPr>
          <p:cNvPr id="80" name="Text 78"/>
          <p:cNvSpPr/>
          <p:nvPr/>
        </p:nvSpPr>
        <p:spPr>
          <a:xfrm>
            <a:off x="4357116"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82%</a:t>
            </a:r>
            <a:endParaRPr lang="en-US" sz="1060" dirty="0"/>
          </a:p>
        </p:txBody>
      </p:sp>
      <p:sp>
        <p:nvSpPr>
          <p:cNvPr id="81" name="Shape 79"/>
          <p:cNvSpPr/>
          <p:nvPr/>
        </p:nvSpPr>
        <p:spPr>
          <a:xfrm>
            <a:off x="5056632" y="3922776"/>
            <a:ext cx="658368" cy="249631"/>
          </a:xfrm>
          <a:prstGeom prst="rect">
            <a:avLst/>
          </a:prstGeom>
          <a:solidFill>
            <a:srgbClr val="24282C"/>
          </a:solidFill>
          <a:ln w="12700">
            <a:solidFill>
              <a:srgbClr val="24282C"/>
            </a:solidFill>
            <a:prstDash val="solid"/>
          </a:ln>
        </p:spPr>
        <p:txBody>
          <a:bodyPr/>
          <a:p/>
        </p:txBody>
      </p:sp>
      <p:sp>
        <p:nvSpPr>
          <p:cNvPr id="82" name="Text 80"/>
          <p:cNvSpPr/>
          <p:nvPr/>
        </p:nvSpPr>
        <p:spPr>
          <a:xfrm>
            <a:off x="5056632"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87%</a:t>
            </a:r>
            <a:endParaRPr lang="en-US" sz="1060" dirty="0"/>
          </a:p>
        </p:txBody>
      </p:sp>
      <p:sp>
        <p:nvSpPr>
          <p:cNvPr id="83" name="Text 81"/>
          <p:cNvSpPr/>
          <p:nvPr/>
        </p:nvSpPr>
        <p:spPr>
          <a:xfrm>
            <a:off x="630936" y="4280306"/>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Israel LCV</a:t>
            </a:r>
            <a:endParaRPr lang="en-US" sz="1180" dirty="0"/>
          </a:p>
        </p:txBody>
      </p:sp>
      <p:sp>
        <p:nvSpPr>
          <p:cNvPr id="84" name="Shape 82"/>
          <p:cNvSpPr/>
          <p:nvPr/>
        </p:nvSpPr>
        <p:spPr>
          <a:xfrm>
            <a:off x="2258568" y="4213555"/>
            <a:ext cx="658368" cy="249631"/>
          </a:xfrm>
          <a:prstGeom prst="rect">
            <a:avLst/>
          </a:prstGeom>
          <a:solidFill>
            <a:srgbClr val="909699"/>
          </a:solidFill>
          <a:ln w="12700">
            <a:solidFill>
              <a:srgbClr val="909699"/>
            </a:solidFill>
            <a:prstDash val="solid"/>
          </a:ln>
        </p:spPr>
        <p:txBody>
          <a:bodyPr/>
          <a:p/>
        </p:txBody>
      </p:sp>
      <p:sp>
        <p:nvSpPr>
          <p:cNvPr id="85" name="Text 83"/>
          <p:cNvSpPr/>
          <p:nvPr/>
        </p:nvSpPr>
        <p:spPr>
          <a:xfrm>
            <a:off x="2258568"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72%</a:t>
            </a:r>
            <a:endParaRPr lang="en-US" sz="1060" dirty="0"/>
          </a:p>
        </p:txBody>
      </p:sp>
      <p:sp>
        <p:nvSpPr>
          <p:cNvPr id="86" name="Shape 84"/>
          <p:cNvSpPr/>
          <p:nvPr/>
        </p:nvSpPr>
        <p:spPr>
          <a:xfrm>
            <a:off x="2958084" y="4213555"/>
            <a:ext cx="658368" cy="249631"/>
          </a:xfrm>
          <a:prstGeom prst="rect">
            <a:avLst/>
          </a:prstGeom>
          <a:solidFill>
            <a:srgbClr val="B6BAB9"/>
          </a:solidFill>
          <a:ln w="12700">
            <a:solidFill>
              <a:srgbClr val="B6BAB9"/>
            </a:solidFill>
            <a:prstDash val="solid"/>
          </a:ln>
        </p:spPr>
        <p:txBody>
          <a:bodyPr/>
          <a:p/>
        </p:txBody>
      </p:sp>
      <p:sp>
        <p:nvSpPr>
          <p:cNvPr id="87" name="Text 85"/>
          <p:cNvSpPr/>
          <p:nvPr/>
        </p:nvSpPr>
        <p:spPr>
          <a:xfrm>
            <a:off x="2958084"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64%</a:t>
            </a:r>
            <a:endParaRPr lang="en-US" sz="1060" dirty="0"/>
          </a:p>
        </p:txBody>
      </p:sp>
      <p:sp>
        <p:nvSpPr>
          <p:cNvPr id="88" name="Shape 86"/>
          <p:cNvSpPr/>
          <p:nvPr/>
        </p:nvSpPr>
        <p:spPr>
          <a:xfrm>
            <a:off x="3657600" y="4213555"/>
            <a:ext cx="658368" cy="249631"/>
          </a:xfrm>
          <a:prstGeom prst="rect">
            <a:avLst/>
          </a:prstGeom>
          <a:solidFill>
            <a:srgbClr val="626B72"/>
          </a:solidFill>
          <a:ln w="12700">
            <a:solidFill>
              <a:srgbClr val="626B72"/>
            </a:solidFill>
            <a:prstDash val="solid"/>
          </a:ln>
        </p:spPr>
        <p:txBody>
          <a:bodyPr/>
          <a:p/>
        </p:txBody>
      </p:sp>
      <p:sp>
        <p:nvSpPr>
          <p:cNvPr id="89" name="Text 87"/>
          <p:cNvSpPr/>
          <p:nvPr/>
        </p:nvSpPr>
        <p:spPr>
          <a:xfrm>
            <a:off x="3657600"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77%</a:t>
            </a:r>
            <a:endParaRPr lang="en-US" sz="1060" dirty="0"/>
          </a:p>
        </p:txBody>
      </p:sp>
      <p:sp>
        <p:nvSpPr>
          <p:cNvPr id="90" name="Shape 88"/>
          <p:cNvSpPr/>
          <p:nvPr/>
        </p:nvSpPr>
        <p:spPr>
          <a:xfrm>
            <a:off x="4357116" y="4213555"/>
            <a:ext cx="658368" cy="249631"/>
          </a:xfrm>
          <a:prstGeom prst="rect">
            <a:avLst/>
          </a:prstGeom>
          <a:solidFill>
            <a:srgbClr val="B6BAB9"/>
          </a:solidFill>
          <a:ln w="12700">
            <a:solidFill>
              <a:srgbClr val="B6BAB9"/>
            </a:solidFill>
            <a:prstDash val="solid"/>
          </a:ln>
        </p:spPr>
        <p:txBody>
          <a:bodyPr/>
          <a:p/>
        </p:txBody>
      </p:sp>
      <p:sp>
        <p:nvSpPr>
          <p:cNvPr id="91" name="Text 89"/>
          <p:cNvSpPr/>
          <p:nvPr/>
        </p:nvSpPr>
        <p:spPr>
          <a:xfrm>
            <a:off x="4357116"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62%</a:t>
            </a:r>
            <a:endParaRPr lang="en-US" sz="1060" dirty="0"/>
          </a:p>
        </p:txBody>
      </p:sp>
      <p:sp>
        <p:nvSpPr>
          <p:cNvPr id="92" name="Shape 90"/>
          <p:cNvSpPr/>
          <p:nvPr/>
        </p:nvSpPr>
        <p:spPr>
          <a:xfrm>
            <a:off x="5056632" y="4213555"/>
            <a:ext cx="658368" cy="249631"/>
          </a:xfrm>
          <a:prstGeom prst="rect">
            <a:avLst/>
          </a:prstGeom>
          <a:solidFill>
            <a:srgbClr val="E8E7E3"/>
          </a:solidFill>
          <a:ln w="12700">
            <a:solidFill>
              <a:srgbClr val="E8E7E3"/>
            </a:solidFill>
            <a:prstDash val="solid"/>
          </a:ln>
        </p:spPr>
        <p:txBody>
          <a:bodyPr/>
          <a:p/>
        </p:txBody>
      </p:sp>
      <p:sp>
        <p:nvSpPr>
          <p:cNvPr id="93" name="Text 91"/>
          <p:cNvSpPr/>
          <p:nvPr/>
        </p:nvSpPr>
        <p:spPr>
          <a:xfrm>
            <a:off x="5056632"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626B72"/>
                </a:solidFill>
                <a:latin typeface="Arial" pitchFamily="34" charset="0"/>
                <a:ea typeface="Arial" pitchFamily="34" charset="-122"/>
                <a:cs typeface="Arial" pitchFamily="34" charset="-120"/>
              </a:rPr>
              <a:t>—</a:t>
            </a:r>
            <a:endParaRPr lang="en-US" sz="1060" dirty="0"/>
          </a:p>
        </p:txBody>
      </p:sp>
      <p:sp>
        <p:nvSpPr>
          <p:cNvPr id="94" name="Text 92"/>
          <p:cNvSpPr/>
          <p:nvPr/>
        </p:nvSpPr>
        <p:spPr>
          <a:xfrm>
            <a:off x="630936" y="4571086"/>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Switzerland</a:t>
            </a:r>
            <a:endParaRPr lang="en-US" sz="1180" dirty="0"/>
          </a:p>
        </p:txBody>
      </p:sp>
      <p:sp>
        <p:nvSpPr>
          <p:cNvPr id="95" name="Shape 93"/>
          <p:cNvSpPr/>
          <p:nvPr/>
        </p:nvSpPr>
        <p:spPr>
          <a:xfrm>
            <a:off x="2258568" y="4504334"/>
            <a:ext cx="658368" cy="249631"/>
          </a:xfrm>
          <a:prstGeom prst="rect">
            <a:avLst/>
          </a:prstGeom>
          <a:solidFill>
            <a:srgbClr val="B6BAB9"/>
          </a:solidFill>
          <a:ln w="12700">
            <a:solidFill>
              <a:srgbClr val="B6BAB9"/>
            </a:solidFill>
            <a:prstDash val="solid"/>
          </a:ln>
        </p:spPr>
        <p:txBody>
          <a:bodyPr/>
          <a:p/>
        </p:txBody>
      </p:sp>
      <p:sp>
        <p:nvSpPr>
          <p:cNvPr id="96" name="Text 94"/>
          <p:cNvSpPr/>
          <p:nvPr/>
        </p:nvSpPr>
        <p:spPr>
          <a:xfrm>
            <a:off x="2258568"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61%</a:t>
            </a:r>
            <a:endParaRPr lang="en-US" sz="1060" dirty="0"/>
          </a:p>
        </p:txBody>
      </p:sp>
      <p:sp>
        <p:nvSpPr>
          <p:cNvPr id="97" name="Shape 95"/>
          <p:cNvSpPr/>
          <p:nvPr/>
        </p:nvSpPr>
        <p:spPr>
          <a:xfrm>
            <a:off x="2958084" y="4504334"/>
            <a:ext cx="658368" cy="249631"/>
          </a:xfrm>
          <a:prstGeom prst="rect">
            <a:avLst/>
          </a:prstGeom>
          <a:solidFill>
            <a:srgbClr val="B6BAB9"/>
          </a:solidFill>
          <a:ln w="12700">
            <a:solidFill>
              <a:srgbClr val="B6BAB9"/>
            </a:solidFill>
            <a:prstDash val="solid"/>
          </a:ln>
        </p:spPr>
        <p:txBody>
          <a:bodyPr/>
          <a:p/>
        </p:txBody>
      </p:sp>
      <p:sp>
        <p:nvSpPr>
          <p:cNvPr id="98" name="Text 96"/>
          <p:cNvSpPr/>
          <p:nvPr/>
        </p:nvSpPr>
        <p:spPr>
          <a:xfrm>
            <a:off x="2958084"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61%</a:t>
            </a:r>
            <a:endParaRPr lang="en-US" sz="1060" dirty="0"/>
          </a:p>
        </p:txBody>
      </p:sp>
      <p:sp>
        <p:nvSpPr>
          <p:cNvPr id="99" name="Shape 97"/>
          <p:cNvSpPr/>
          <p:nvPr/>
        </p:nvSpPr>
        <p:spPr>
          <a:xfrm>
            <a:off x="3657600" y="4504334"/>
            <a:ext cx="658368" cy="249631"/>
          </a:xfrm>
          <a:prstGeom prst="rect">
            <a:avLst/>
          </a:prstGeom>
          <a:solidFill>
            <a:srgbClr val="909699"/>
          </a:solidFill>
          <a:ln w="12700">
            <a:solidFill>
              <a:srgbClr val="909699"/>
            </a:solidFill>
            <a:prstDash val="solid"/>
          </a:ln>
        </p:spPr>
        <p:txBody>
          <a:bodyPr/>
          <a:p/>
        </p:txBody>
      </p:sp>
      <p:sp>
        <p:nvSpPr>
          <p:cNvPr id="100" name="Text 98"/>
          <p:cNvSpPr/>
          <p:nvPr/>
        </p:nvSpPr>
        <p:spPr>
          <a:xfrm>
            <a:off x="3657600"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69%</a:t>
            </a:r>
            <a:endParaRPr lang="en-US" sz="1060" dirty="0"/>
          </a:p>
        </p:txBody>
      </p:sp>
      <p:sp>
        <p:nvSpPr>
          <p:cNvPr id="101" name="Shape 99"/>
          <p:cNvSpPr/>
          <p:nvPr/>
        </p:nvSpPr>
        <p:spPr>
          <a:xfrm>
            <a:off x="4357116" y="4504334"/>
            <a:ext cx="658368" cy="249631"/>
          </a:xfrm>
          <a:prstGeom prst="rect">
            <a:avLst/>
          </a:prstGeom>
          <a:solidFill>
            <a:srgbClr val="B6BAB9"/>
          </a:solidFill>
          <a:ln w="12700">
            <a:solidFill>
              <a:srgbClr val="B6BAB9"/>
            </a:solidFill>
            <a:prstDash val="solid"/>
          </a:ln>
        </p:spPr>
        <p:txBody>
          <a:bodyPr/>
          <a:p/>
        </p:txBody>
      </p:sp>
      <p:sp>
        <p:nvSpPr>
          <p:cNvPr id="102" name="Text 100"/>
          <p:cNvSpPr/>
          <p:nvPr/>
        </p:nvSpPr>
        <p:spPr>
          <a:xfrm>
            <a:off x="4357116"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63%</a:t>
            </a:r>
            <a:endParaRPr lang="en-US" sz="1060" dirty="0"/>
          </a:p>
        </p:txBody>
      </p:sp>
      <p:sp>
        <p:nvSpPr>
          <p:cNvPr id="103" name="Shape 101"/>
          <p:cNvSpPr/>
          <p:nvPr/>
        </p:nvSpPr>
        <p:spPr>
          <a:xfrm>
            <a:off x="5056632" y="4504334"/>
            <a:ext cx="658368" cy="249631"/>
          </a:xfrm>
          <a:prstGeom prst="rect">
            <a:avLst/>
          </a:prstGeom>
          <a:solidFill>
            <a:srgbClr val="909699"/>
          </a:solidFill>
          <a:ln w="12700">
            <a:solidFill>
              <a:srgbClr val="909699"/>
            </a:solidFill>
            <a:prstDash val="solid"/>
          </a:ln>
        </p:spPr>
        <p:txBody>
          <a:bodyPr/>
          <a:p/>
        </p:txBody>
      </p:sp>
      <p:sp>
        <p:nvSpPr>
          <p:cNvPr id="104" name="Text 102"/>
          <p:cNvSpPr/>
          <p:nvPr/>
        </p:nvSpPr>
        <p:spPr>
          <a:xfrm>
            <a:off x="5056632"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65%</a:t>
            </a:r>
            <a:endParaRPr lang="en-US" sz="1060" dirty="0"/>
          </a:p>
        </p:txBody>
      </p:sp>
      <p:sp>
        <p:nvSpPr>
          <p:cNvPr id="105" name="Text 103"/>
          <p:cNvSpPr/>
          <p:nvPr/>
        </p:nvSpPr>
        <p:spPr>
          <a:xfrm>
            <a:off x="630936" y="4861865"/>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Spain</a:t>
            </a:r>
            <a:endParaRPr lang="en-US" sz="1180" dirty="0"/>
          </a:p>
        </p:txBody>
      </p:sp>
      <p:sp>
        <p:nvSpPr>
          <p:cNvPr id="106" name="Shape 104"/>
          <p:cNvSpPr/>
          <p:nvPr/>
        </p:nvSpPr>
        <p:spPr>
          <a:xfrm>
            <a:off x="2258568" y="4795114"/>
            <a:ext cx="658368" cy="249631"/>
          </a:xfrm>
          <a:prstGeom prst="rect">
            <a:avLst/>
          </a:prstGeom>
          <a:solidFill>
            <a:srgbClr val="909699"/>
          </a:solidFill>
          <a:ln w="12700">
            <a:solidFill>
              <a:srgbClr val="909699"/>
            </a:solidFill>
            <a:prstDash val="solid"/>
          </a:ln>
        </p:spPr>
        <p:txBody>
          <a:bodyPr/>
          <a:p/>
        </p:txBody>
      </p:sp>
      <p:sp>
        <p:nvSpPr>
          <p:cNvPr id="107" name="Text 105"/>
          <p:cNvSpPr/>
          <p:nvPr/>
        </p:nvSpPr>
        <p:spPr>
          <a:xfrm>
            <a:off x="2258568"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72%</a:t>
            </a:r>
            <a:endParaRPr lang="en-US" sz="1060" dirty="0"/>
          </a:p>
        </p:txBody>
      </p:sp>
      <p:sp>
        <p:nvSpPr>
          <p:cNvPr id="108" name="Shape 106"/>
          <p:cNvSpPr/>
          <p:nvPr/>
        </p:nvSpPr>
        <p:spPr>
          <a:xfrm>
            <a:off x="2958084" y="4795114"/>
            <a:ext cx="658368" cy="249631"/>
          </a:xfrm>
          <a:prstGeom prst="rect">
            <a:avLst/>
          </a:prstGeom>
          <a:solidFill>
            <a:srgbClr val="909699"/>
          </a:solidFill>
          <a:ln w="12700">
            <a:solidFill>
              <a:srgbClr val="909699"/>
            </a:solidFill>
            <a:prstDash val="solid"/>
          </a:ln>
        </p:spPr>
        <p:txBody>
          <a:bodyPr/>
          <a:p/>
        </p:txBody>
      </p:sp>
      <p:sp>
        <p:nvSpPr>
          <p:cNvPr id="109" name="Text 107"/>
          <p:cNvSpPr/>
          <p:nvPr/>
        </p:nvSpPr>
        <p:spPr>
          <a:xfrm>
            <a:off x="2958084"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74%</a:t>
            </a:r>
            <a:endParaRPr lang="en-US" sz="1060" dirty="0"/>
          </a:p>
        </p:txBody>
      </p:sp>
      <p:sp>
        <p:nvSpPr>
          <p:cNvPr id="110" name="Shape 108"/>
          <p:cNvSpPr/>
          <p:nvPr/>
        </p:nvSpPr>
        <p:spPr>
          <a:xfrm>
            <a:off x="3657600" y="4795114"/>
            <a:ext cx="658368" cy="249631"/>
          </a:xfrm>
          <a:prstGeom prst="rect">
            <a:avLst/>
          </a:prstGeom>
          <a:solidFill>
            <a:srgbClr val="626B72"/>
          </a:solidFill>
          <a:ln w="12700">
            <a:solidFill>
              <a:srgbClr val="626B72"/>
            </a:solidFill>
            <a:prstDash val="solid"/>
          </a:ln>
        </p:spPr>
        <p:txBody>
          <a:bodyPr/>
          <a:p/>
        </p:txBody>
      </p:sp>
      <p:sp>
        <p:nvSpPr>
          <p:cNvPr id="111" name="Text 109"/>
          <p:cNvSpPr/>
          <p:nvPr/>
        </p:nvSpPr>
        <p:spPr>
          <a:xfrm>
            <a:off x="3657600"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81%</a:t>
            </a:r>
            <a:endParaRPr lang="en-US" sz="1060" dirty="0"/>
          </a:p>
        </p:txBody>
      </p:sp>
      <p:sp>
        <p:nvSpPr>
          <p:cNvPr id="112" name="Shape 110"/>
          <p:cNvSpPr/>
          <p:nvPr/>
        </p:nvSpPr>
        <p:spPr>
          <a:xfrm>
            <a:off x="4357116" y="4795114"/>
            <a:ext cx="658368" cy="249631"/>
          </a:xfrm>
          <a:prstGeom prst="rect">
            <a:avLst/>
          </a:prstGeom>
          <a:solidFill>
            <a:srgbClr val="626B72"/>
          </a:solidFill>
          <a:ln w="12700">
            <a:solidFill>
              <a:srgbClr val="626B72"/>
            </a:solidFill>
            <a:prstDash val="solid"/>
          </a:ln>
        </p:spPr>
        <p:txBody>
          <a:bodyPr/>
          <a:p/>
        </p:txBody>
      </p:sp>
      <p:sp>
        <p:nvSpPr>
          <p:cNvPr id="113" name="Text 111"/>
          <p:cNvSpPr/>
          <p:nvPr/>
        </p:nvSpPr>
        <p:spPr>
          <a:xfrm>
            <a:off x="4357116"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75%</a:t>
            </a:r>
            <a:endParaRPr lang="en-US" sz="1060" dirty="0"/>
          </a:p>
        </p:txBody>
      </p:sp>
      <p:sp>
        <p:nvSpPr>
          <p:cNvPr id="114" name="Shape 112"/>
          <p:cNvSpPr/>
          <p:nvPr/>
        </p:nvSpPr>
        <p:spPr>
          <a:xfrm>
            <a:off x="5056632" y="4795114"/>
            <a:ext cx="658368" cy="249631"/>
          </a:xfrm>
          <a:prstGeom prst="rect">
            <a:avLst/>
          </a:prstGeom>
          <a:solidFill>
            <a:srgbClr val="909699"/>
          </a:solidFill>
          <a:ln w="12700">
            <a:solidFill>
              <a:srgbClr val="909699"/>
            </a:solidFill>
            <a:prstDash val="solid"/>
          </a:ln>
        </p:spPr>
        <p:txBody>
          <a:bodyPr/>
          <a:p/>
        </p:txBody>
      </p:sp>
      <p:sp>
        <p:nvSpPr>
          <p:cNvPr id="115" name="Text 113"/>
          <p:cNvSpPr/>
          <p:nvPr/>
        </p:nvSpPr>
        <p:spPr>
          <a:xfrm>
            <a:off x="5056632"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73%</a:t>
            </a:r>
            <a:endParaRPr lang="en-US" sz="1060" dirty="0"/>
          </a:p>
        </p:txBody>
      </p:sp>
      <p:sp>
        <p:nvSpPr>
          <p:cNvPr id="116" name="Text 114"/>
          <p:cNvSpPr/>
          <p:nvPr/>
        </p:nvSpPr>
        <p:spPr>
          <a:xfrm>
            <a:off x="6281928" y="2267712"/>
            <a:ext cx="1627632" cy="173736"/>
          </a:xfrm>
          <a:prstGeom prst="rect">
            <a:avLst/>
          </a:prstGeom>
          <a:noFill/>
          <a:ln/>
        </p:spPr>
        <p:txBody>
          <a:bodyPr wrap="square" lIns="0" tIns="0" rIns="0" bIns="0" rtlCol="0" anchor="ctr">
            <a:normAutofit fontScale="100000" lnSpcReduction="0"/>
          </a:bodyPr>
          <a:lstStyle/>
          <a:p>
            <a:pPr indent="0" marL="0">
              <a:buNone/>
            </a:pPr>
            <a:r>
              <a:rPr lang="en-US" sz="920" b="1" dirty="0">
                <a:solidFill>
                  <a:srgbClr val="626B72"/>
                </a:solidFill>
                <a:latin typeface="Arial" pitchFamily="34" charset="0"/>
                <a:ea typeface="Arial" pitchFamily="34" charset="-122"/>
                <a:cs typeface="Arial" pitchFamily="34" charset="-120"/>
              </a:rPr>
              <a:t>COHORT</a:t>
            </a:r>
            <a:endParaRPr lang="en-US" sz="920" dirty="0"/>
          </a:p>
        </p:txBody>
      </p:sp>
      <p:sp>
        <p:nvSpPr>
          <p:cNvPr id="117" name="Text 115"/>
          <p:cNvSpPr/>
          <p:nvPr/>
        </p:nvSpPr>
        <p:spPr>
          <a:xfrm>
            <a:off x="7909560"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A</a:t>
            </a:r>
            <a:endParaRPr lang="en-US" sz="1050" dirty="0"/>
          </a:p>
        </p:txBody>
      </p:sp>
      <p:sp>
        <p:nvSpPr>
          <p:cNvPr id="118" name="Text 116"/>
          <p:cNvSpPr/>
          <p:nvPr/>
        </p:nvSpPr>
        <p:spPr>
          <a:xfrm>
            <a:off x="8609076"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B</a:t>
            </a:r>
            <a:endParaRPr lang="en-US" sz="1050" dirty="0"/>
          </a:p>
        </p:txBody>
      </p:sp>
      <p:sp>
        <p:nvSpPr>
          <p:cNvPr id="119" name="Text 117"/>
          <p:cNvSpPr/>
          <p:nvPr/>
        </p:nvSpPr>
        <p:spPr>
          <a:xfrm>
            <a:off x="9308592"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C</a:t>
            </a:r>
            <a:endParaRPr lang="en-US" sz="1050" dirty="0"/>
          </a:p>
        </p:txBody>
      </p:sp>
      <p:sp>
        <p:nvSpPr>
          <p:cNvPr id="120" name="Text 118"/>
          <p:cNvSpPr/>
          <p:nvPr/>
        </p:nvSpPr>
        <p:spPr>
          <a:xfrm>
            <a:off x="10008108"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D</a:t>
            </a:r>
            <a:endParaRPr lang="en-US" sz="1050" dirty="0"/>
          </a:p>
        </p:txBody>
      </p:sp>
      <p:sp>
        <p:nvSpPr>
          <p:cNvPr id="121" name="Text 119"/>
          <p:cNvSpPr/>
          <p:nvPr/>
        </p:nvSpPr>
        <p:spPr>
          <a:xfrm>
            <a:off x="10707624" y="2267712"/>
            <a:ext cx="653796" cy="182880"/>
          </a:xfrm>
          <a:prstGeom prst="rect">
            <a:avLst/>
          </a:prstGeom>
          <a:noFill/>
          <a:ln/>
        </p:spPr>
        <p:txBody>
          <a:bodyPr wrap="square" lIns="0" tIns="0" rIns="0" bIns="0" rtlCol="0" anchor="ctr">
            <a:normAutofit fontScale="100000" lnSpcReduction="0"/>
          </a:bodyPr>
          <a:lstStyle/>
          <a:p>
            <a:pPr algn="ctr" indent="0" marL="0">
              <a:buNone/>
            </a:pPr>
            <a:r>
              <a:rPr lang="en-US" sz="1050" b="1" dirty="0">
                <a:solidFill>
                  <a:srgbClr val="24282C"/>
                </a:solidFill>
                <a:latin typeface="Arial" pitchFamily="34" charset="0"/>
                <a:ea typeface="Arial" pitchFamily="34" charset="-122"/>
                <a:cs typeface="Arial" pitchFamily="34" charset="-120"/>
              </a:rPr>
              <a:t>E</a:t>
            </a:r>
            <a:endParaRPr lang="en-US" sz="1050" dirty="0"/>
          </a:p>
        </p:txBody>
      </p:sp>
      <p:sp>
        <p:nvSpPr>
          <p:cNvPr id="122" name="Text 120"/>
          <p:cNvSpPr/>
          <p:nvPr/>
        </p:nvSpPr>
        <p:spPr>
          <a:xfrm>
            <a:off x="6281928" y="2535631"/>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France</a:t>
            </a:r>
            <a:endParaRPr lang="en-US" sz="1180" dirty="0"/>
          </a:p>
        </p:txBody>
      </p:sp>
      <p:sp>
        <p:nvSpPr>
          <p:cNvPr id="123" name="Shape 121"/>
          <p:cNvSpPr/>
          <p:nvPr/>
        </p:nvSpPr>
        <p:spPr>
          <a:xfrm>
            <a:off x="7909560" y="2468880"/>
            <a:ext cx="658368" cy="249631"/>
          </a:xfrm>
          <a:prstGeom prst="rect">
            <a:avLst/>
          </a:prstGeom>
          <a:solidFill>
            <a:srgbClr val="B6BAB9"/>
          </a:solidFill>
          <a:ln w="12700">
            <a:solidFill>
              <a:srgbClr val="B6BAB9"/>
            </a:solidFill>
            <a:prstDash val="solid"/>
          </a:ln>
        </p:spPr>
        <p:txBody>
          <a:bodyPr/>
          <a:p/>
        </p:txBody>
      </p:sp>
      <p:sp>
        <p:nvSpPr>
          <p:cNvPr id="124" name="Text 122"/>
          <p:cNvSpPr/>
          <p:nvPr/>
        </p:nvSpPr>
        <p:spPr>
          <a:xfrm>
            <a:off x="7909560"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64%</a:t>
            </a:r>
            <a:endParaRPr lang="en-US" sz="1060" dirty="0"/>
          </a:p>
        </p:txBody>
      </p:sp>
      <p:sp>
        <p:nvSpPr>
          <p:cNvPr id="125" name="Shape 123"/>
          <p:cNvSpPr/>
          <p:nvPr/>
        </p:nvSpPr>
        <p:spPr>
          <a:xfrm>
            <a:off x="8609076" y="2468880"/>
            <a:ext cx="658368" cy="249631"/>
          </a:xfrm>
          <a:prstGeom prst="rect">
            <a:avLst/>
          </a:prstGeom>
          <a:solidFill>
            <a:srgbClr val="B6BAB9"/>
          </a:solidFill>
          <a:ln w="12700">
            <a:solidFill>
              <a:srgbClr val="B6BAB9"/>
            </a:solidFill>
            <a:prstDash val="solid"/>
          </a:ln>
        </p:spPr>
        <p:txBody>
          <a:bodyPr/>
          <a:p/>
        </p:txBody>
      </p:sp>
      <p:sp>
        <p:nvSpPr>
          <p:cNvPr id="126" name="Text 124"/>
          <p:cNvSpPr/>
          <p:nvPr/>
        </p:nvSpPr>
        <p:spPr>
          <a:xfrm>
            <a:off x="8609076"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59%</a:t>
            </a:r>
            <a:endParaRPr lang="en-US" sz="1060" dirty="0"/>
          </a:p>
        </p:txBody>
      </p:sp>
      <p:sp>
        <p:nvSpPr>
          <p:cNvPr id="127" name="Shape 125"/>
          <p:cNvSpPr/>
          <p:nvPr/>
        </p:nvSpPr>
        <p:spPr>
          <a:xfrm>
            <a:off x="9308592" y="2468880"/>
            <a:ext cx="658368" cy="249631"/>
          </a:xfrm>
          <a:prstGeom prst="rect">
            <a:avLst/>
          </a:prstGeom>
          <a:solidFill>
            <a:srgbClr val="909699"/>
          </a:solidFill>
          <a:ln w="12700">
            <a:solidFill>
              <a:srgbClr val="909699"/>
            </a:solidFill>
            <a:prstDash val="solid"/>
          </a:ln>
        </p:spPr>
        <p:txBody>
          <a:bodyPr/>
          <a:p/>
        </p:txBody>
      </p:sp>
      <p:sp>
        <p:nvSpPr>
          <p:cNvPr id="128" name="Text 126"/>
          <p:cNvSpPr/>
          <p:nvPr/>
        </p:nvSpPr>
        <p:spPr>
          <a:xfrm>
            <a:off x="9308592"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65%</a:t>
            </a:r>
            <a:endParaRPr lang="en-US" sz="1060" dirty="0"/>
          </a:p>
        </p:txBody>
      </p:sp>
      <p:sp>
        <p:nvSpPr>
          <p:cNvPr id="129" name="Shape 127"/>
          <p:cNvSpPr/>
          <p:nvPr/>
        </p:nvSpPr>
        <p:spPr>
          <a:xfrm>
            <a:off x="10008108" y="2468880"/>
            <a:ext cx="658368" cy="249631"/>
          </a:xfrm>
          <a:prstGeom prst="rect">
            <a:avLst/>
          </a:prstGeom>
          <a:solidFill>
            <a:srgbClr val="B6BAB9"/>
          </a:solidFill>
          <a:ln w="12700">
            <a:solidFill>
              <a:srgbClr val="B6BAB9"/>
            </a:solidFill>
            <a:prstDash val="solid"/>
          </a:ln>
        </p:spPr>
        <p:txBody>
          <a:bodyPr/>
          <a:p/>
        </p:txBody>
      </p:sp>
      <p:sp>
        <p:nvSpPr>
          <p:cNvPr id="130" name="Text 128"/>
          <p:cNvSpPr/>
          <p:nvPr/>
        </p:nvSpPr>
        <p:spPr>
          <a:xfrm>
            <a:off x="10008108"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62%</a:t>
            </a:r>
            <a:endParaRPr lang="en-US" sz="1060" dirty="0"/>
          </a:p>
        </p:txBody>
      </p:sp>
      <p:sp>
        <p:nvSpPr>
          <p:cNvPr id="131" name="Shape 129"/>
          <p:cNvSpPr/>
          <p:nvPr/>
        </p:nvSpPr>
        <p:spPr>
          <a:xfrm>
            <a:off x="10707624" y="2468880"/>
            <a:ext cx="658368" cy="249631"/>
          </a:xfrm>
          <a:prstGeom prst="rect">
            <a:avLst/>
          </a:prstGeom>
          <a:solidFill>
            <a:srgbClr val="B6BAB9"/>
          </a:solidFill>
          <a:ln w="12700">
            <a:solidFill>
              <a:srgbClr val="B6BAB9"/>
            </a:solidFill>
            <a:prstDash val="solid"/>
          </a:ln>
        </p:spPr>
        <p:txBody>
          <a:bodyPr/>
          <a:p/>
        </p:txBody>
      </p:sp>
      <p:sp>
        <p:nvSpPr>
          <p:cNvPr id="132" name="Text 130"/>
          <p:cNvSpPr/>
          <p:nvPr/>
        </p:nvSpPr>
        <p:spPr>
          <a:xfrm>
            <a:off x="10707624" y="2532888"/>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59%</a:t>
            </a:r>
            <a:endParaRPr lang="en-US" sz="1060" dirty="0"/>
          </a:p>
        </p:txBody>
      </p:sp>
      <p:sp>
        <p:nvSpPr>
          <p:cNvPr id="133" name="Text 131"/>
          <p:cNvSpPr/>
          <p:nvPr/>
        </p:nvSpPr>
        <p:spPr>
          <a:xfrm>
            <a:off x="6281928" y="2826410"/>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Italy</a:t>
            </a:r>
            <a:endParaRPr lang="en-US" sz="1180" dirty="0"/>
          </a:p>
        </p:txBody>
      </p:sp>
      <p:sp>
        <p:nvSpPr>
          <p:cNvPr id="134" name="Shape 132"/>
          <p:cNvSpPr/>
          <p:nvPr/>
        </p:nvSpPr>
        <p:spPr>
          <a:xfrm>
            <a:off x="7909560" y="2759659"/>
            <a:ext cx="658368" cy="249631"/>
          </a:xfrm>
          <a:prstGeom prst="rect">
            <a:avLst/>
          </a:prstGeom>
          <a:solidFill>
            <a:srgbClr val="626B72"/>
          </a:solidFill>
          <a:ln w="12700">
            <a:solidFill>
              <a:srgbClr val="626B72"/>
            </a:solidFill>
            <a:prstDash val="solid"/>
          </a:ln>
        </p:spPr>
        <p:txBody>
          <a:bodyPr/>
          <a:p/>
        </p:txBody>
      </p:sp>
      <p:sp>
        <p:nvSpPr>
          <p:cNvPr id="135" name="Text 133"/>
          <p:cNvSpPr/>
          <p:nvPr/>
        </p:nvSpPr>
        <p:spPr>
          <a:xfrm>
            <a:off x="7909560"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78%</a:t>
            </a:r>
            <a:endParaRPr lang="en-US" sz="1060" dirty="0"/>
          </a:p>
        </p:txBody>
      </p:sp>
      <p:sp>
        <p:nvSpPr>
          <p:cNvPr id="136" name="Shape 134"/>
          <p:cNvSpPr/>
          <p:nvPr/>
        </p:nvSpPr>
        <p:spPr>
          <a:xfrm>
            <a:off x="8609076" y="2759659"/>
            <a:ext cx="658368" cy="249631"/>
          </a:xfrm>
          <a:prstGeom prst="rect">
            <a:avLst/>
          </a:prstGeom>
          <a:solidFill>
            <a:srgbClr val="626B72"/>
          </a:solidFill>
          <a:ln w="12700">
            <a:solidFill>
              <a:srgbClr val="626B72"/>
            </a:solidFill>
            <a:prstDash val="solid"/>
          </a:ln>
        </p:spPr>
        <p:txBody>
          <a:bodyPr/>
          <a:p/>
        </p:txBody>
      </p:sp>
      <p:sp>
        <p:nvSpPr>
          <p:cNvPr id="137" name="Text 135"/>
          <p:cNvSpPr/>
          <p:nvPr/>
        </p:nvSpPr>
        <p:spPr>
          <a:xfrm>
            <a:off x="8609076"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77%</a:t>
            </a:r>
            <a:endParaRPr lang="en-US" sz="1060" dirty="0"/>
          </a:p>
        </p:txBody>
      </p:sp>
      <p:sp>
        <p:nvSpPr>
          <p:cNvPr id="138" name="Shape 136"/>
          <p:cNvSpPr/>
          <p:nvPr/>
        </p:nvSpPr>
        <p:spPr>
          <a:xfrm>
            <a:off x="9308592" y="2759659"/>
            <a:ext cx="658368" cy="249631"/>
          </a:xfrm>
          <a:prstGeom prst="rect">
            <a:avLst/>
          </a:prstGeom>
          <a:solidFill>
            <a:srgbClr val="626B72"/>
          </a:solidFill>
          <a:ln w="12700">
            <a:solidFill>
              <a:srgbClr val="626B72"/>
            </a:solidFill>
            <a:prstDash val="solid"/>
          </a:ln>
        </p:spPr>
        <p:txBody>
          <a:bodyPr/>
          <a:p/>
        </p:txBody>
      </p:sp>
      <p:sp>
        <p:nvSpPr>
          <p:cNvPr id="139" name="Text 137"/>
          <p:cNvSpPr/>
          <p:nvPr/>
        </p:nvSpPr>
        <p:spPr>
          <a:xfrm>
            <a:off x="9308592"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82%</a:t>
            </a:r>
            <a:endParaRPr lang="en-US" sz="1060" dirty="0"/>
          </a:p>
        </p:txBody>
      </p:sp>
      <p:sp>
        <p:nvSpPr>
          <p:cNvPr id="140" name="Shape 138"/>
          <p:cNvSpPr/>
          <p:nvPr/>
        </p:nvSpPr>
        <p:spPr>
          <a:xfrm>
            <a:off x="10008108" y="2759659"/>
            <a:ext cx="658368" cy="249631"/>
          </a:xfrm>
          <a:prstGeom prst="rect">
            <a:avLst/>
          </a:prstGeom>
          <a:solidFill>
            <a:srgbClr val="626B72"/>
          </a:solidFill>
          <a:ln w="12700">
            <a:solidFill>
              <a:srgbClr val="626B72"/>
            </a:solidFill>
            <a:prstDash val="solid"/>
          </a:ln>
        </p:spPr>
        <p:txBody>
          <a:bodyPr/>
          <a:p/>
        </p:txBody>
      </p:sp>
      <p:sp>
        <p:nvSpPr>
          <p:cNvPr id="141" name="Text 139"/>
          <p:cNvSpPr/>
          <p:nvPr/>
        </p:nvSpPr>
        <p:spPr>
          <a:xfrm>
            <a:off x="10008108"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142" name="Shape 140"/>
          <p:cNvSpPr/>
          <p:nvPr/>
        </p:nvSpPr>
        <p:spPr>
          <a:xfrm>
            <a:off x="10707624" y="2759659"/>
            <a:ext cx="658368" cy="249631"/>
          </a:xfrm>
          <a:prstGeom prst="rect">
            <a:avLst/>
          </a:prstGeom>
          <a:solidFill>
            <a:srgbClr val="626B72"/>
          </a:solidFill>
          <a:ln w="12700">
            <a:solidFill>
              <a:srgbClr val="626B72"/>
            </a:solidFill>
            <a:prstDash val="solid"/>
          </a:ln>
        </p:spPr>
        <p:txBody>
          <a:bodyPr/>
          <a:p/>
        </p:txBody>
      </p:sp>
      <p:sp>
        <p:nvSpPr>
          <p:cNvPr id="143" name="Text 141"/>
          <p:cNvSpPr/>
          <p:nvPr/>
        </p:nvSpPr>
        <p:spPr>
          <a:xfrm>
            <a:off x="10707624" y="2823667"/>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144" name="Text 142"/>
          <p:cNvSpPr/>
          <p:nvPr/>
        </p:nvSpPr>
        <p:spPr>
          <a:xfrm>
            <a:off x="6281928" y="3117190"/>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Malta</a:t>
            </a:r>
            <a:endParaRPr lang="en-US" sz="1180" dirty="0"/>
          </a:p>
        </p:txBody>
      </p:sp>
      <p:sp>
        <p:nvSpPr>
          <p:cNvPr id="145" name="Shape 143"/>
          <p:cNvSpPr/>
          <p:nvPr/>
        </p:nvSpPr>
        <p:spPr>
          <a:xfrm>
            <a:off x="7909560" y="3050438"/>
            <a:ext cx="658368" cy="249631"/>
          </a:xfrm>
          <a:prstGeom prst="rect">
            <a:avLst/>
          </a:prstGeom>
          <a:solidFill>
            <a:srgbClr val="626B72"/>
          </a:solidFill>
          <a:ln w="12700">
            <a:solidFill>
              <a:srgbClr val="626B72"/>
            </a:solidFill>
            <a:prstDash val="solid"/>
          </a:ln>
        </p:spPr>
        <p:txBody>
          <a:bodyPr/>
          <a:p/>
        </p:txBody>
      </p:sp>
      <p:sp>
        <p:nvSpPr>
          <p:cNvPr id="146" name="Text 144"/>
          <p:cNvSpPr/>
          <p:nvPr/>
        </p:nvSpPr>
        <p:spPr>
          <a:xfrm>
            <a:off x="7909560"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147" name="Shape 145"/>
          <p:cNvSpPr/>
          <p:nvPr/>
        </p:nvSpPr>
        <p:spPr>
          <a:xfrm>
            <a:off x="8609076" y="3050438"/>
            <a:ext cx="658368" cy="249631"/>
          </a:xfrm>
          <a:prstGeom prst="rect">
            <a:avLst/>
          </a:prstGeom>
          <a:solidFill>
            <a:srgbClr val="24282C"/>
          </a:solidFill>
          <a:ln w="12700">
            <a:solidFill>
              <a:srgbClr val="24282C"/>
            </a:solidFill>
            <a:prstDash val="solid"/>
          </a:ln>
        </p:spPr>
        <p:txBody>
          <a:bodyPr/>
          <a:p/>
        </p:txBody>
      </p:sp>
      <p:sp>
        <p:nvSpPr>
          <p:cNvPr id="148" name="Text 146"/>
          <p:cNvSpPr/>
          <p:nvPr/>
        </p:nvSpPr>
        <p:spPr>
          <a:xfrm>
            <a:off x="8609076"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96%</a:t>
            </a:r>
            <a:endParaRPr lang="en-US" sz="1060" dirty="0"/>
          </a:p>
        </p:txBody>
      </p:sp>
      <p:sp>
        <p:nvSpPr>
          <p:cNvPr id="149" name="Shape 147"/>
          <p:cNvSpPr/>
          <p:nvPr/>
        </p:nvSpPr>
        <p:spPr>
          <a:xfrm>
            <a:off x="9308592" y="3050438"/>
            <a:ext cx="658368" cy="249631"/>
          </a:xfrm>
          <a:prstGeom prst="rect">
            <a:avLst/>
          </a:prstGeom>
          <a:solidFill>
            <a:srgbClr val="24282C"/>
          </a:solidFill>
          <a:ln w="12700">
            <a:solidFill>
              <a:srgbClr val="24282C"/>
            </a:solidFill>
            <a:prstDash val="solid"/>
          </a:ln>
        </p:spPr>
        <p:txBody>
          <a:bodyPr/>
          <a:p/>
        </p:txBody>
      </p:sp>
      <p:sp>
        <p:nvSpPr>
          <p:cNvPr id="150" name="Text 148"/>
          <p:cNvSpPr/>
          <p:nvPr/>
        </p:nvSpPr>
        <p:spPr>
          <a:xfrm>
            <a:off x="9308592"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89%</a:t>
            </a:r>
            <a:endParaRPr lang="en-US" sz="1060" dirty="0"/>
          </a:p>
        </p:txBody>
      </p:sp>
      <p:sp>
        <p:nvSpPr>
          <p:cNvPr id="151" name="Shape 149"/>
          <p:cNvSpPr/>
          <p:nvPr/>
        </p:nvSpPr>
        <p:spPr>
          <a:xfrm>
            <a:off x="10008108" y="3050438"/>
            <a:ext cx="658368" cy="249631"/>
          </a:xfrm>
          <a:prstGeom prst="rect">
            <a:avLst/>
          </a:prstGeom>
          <a:solidFill>
            <a:srgbClr val="24282C"/>
          </a:solidFill>
          <a:ln w="12700">
            <a:solidFill>
              <a:srgbClr val="24282C"/>
            </a:solidFill>
            <a:prstDash val="solid"/>
          </a:ln>
        </p:spPr>
        <p:txBody>
          <a:bodyPr/>
          <a:p/>
        </p:txBody>
      </p:sp>
      <p:sp>
        <p:nvSpPr>
          <p:cNvPr id="152" name="Text 150"/>
          <p:cNvSpPr/>
          <p:nvPr/>
        </p:nvSpPr>
        <p:spPr>
          <a:xfrm>
            <a:off x="10008108"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87%</a:t>
            </a:r>
            <a:endParaRPr lang="en-US" sz="1060" dirty="0"/>
          </a:p>
        </p:txBody>
      </p:sp>
      <p:sp>
        <p:nvSpPr>
          <p:cNvPr id="153" name="Shape 151"/>
          <p:cNvSpPr/>
          <p:nvPr/>
        </p:nvSpPr>
        <p:spPr>
          <a:xfrm>
            <a:off x="10707624" y="3050438"/>
            <a:ext cx="658368" cy="249631"/>
          </a:xfrm>
          <a:prstGeom prst="rect">
            <a:avLst/>
          </a:prstGeom>
          <a:solidFill>
            <a:srgbClr val="24282C"/>
          </a:solidFill>
          <a:ln w="12700">
            <a:solidFill>
              <a:srgbClr val="24282C"/>
            </a:solidFill>
            <a:prstDash val="solid"/>
          </a:ln>
        </p:spPr>
        <p:txBody>
          <a:bodyPr/>
          <a:p/>
        </p:txBody>
      </p:sp>
      <p:sp>
        <p:nvSpPr>
          <p:cNvPr id="154" name="Text 152"/>
          <p:cNvSpPr/>
          <p:nvPr/>
        </p:nvSpPr>
        <p:spPr>
          <a:xfrm>
            <a:off x="10707624" y="311444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89%</a:t>
            </a:r>
            <a:endParaRPr lang="en-US" sz="1060" dirty="0"/>
          </a:p>
        </p:txBody>
      </p:sp>
      <p:sp>
        <p:nvSpPr>
          <p:cNvPr id="155" name="Text 153"/>
          <p:cNvSpPr/>
          <p:nvPr/>
        </p:nvSpPr>
        <p:spPr>
          <a:xfrm>
            <a:off x="6281928" y="3407969"/>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Netherlands</a:t>
            </a:r>
            <a:endParaRPr lang="en-US" sz="1180" dirty="0"/>
          </a:p>
        </p:txBody>
      </p:sp>
      <p:sp>
        <p:nvSpPr>
          <p:cNvPr id="156" name="Shape 154"/>
          <p:cNvSpPr/>
          <p:nvPr/>
        </p:nvSpPr>
        <p:spPr>
          <a:xfrm>
            <a:off x="7909560" y="3341218"/>
            <a:ext cx="658368" cy="249631"/>
          </a:xfrm>
          <a:prstGeom prst="rect">
            <a:avLst/>
          </a:prstGeom>
          <a:solidFill>
            <a:srgbClr val="909699"/>
          </a:solidFill>
          <a:ln w="12700">
            <a:solidFill>
              <a:srgbClr val="909699"/>
            </a:solidFill>
            <a:prstDash val="solid"/>
          </a:ln>
        </p:spPr>
        <p:txBody>
          <a:bodyPr/>
          <a:p/>
        </p:txBody>
      </p:sp>
      <p:sp>
        <p:nvSpPr>
          <p:cNvPr id="157" name="Text 155"/>
          <p:cNvSpPr/>
          <p:nvPr/>
        </p:nvSpPr>
        <p:spPr>
          <a:xfrm>
            <a:off x="7909560"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69%</a:t>
            </a:r>
            <a:endParaRPr lang="en-US" sz="1060" dirty="0"/>
          </a:p>
        </p:txBody>
      </p:sp>
      <p:sp>
        <p:nvSpPr>
          <p:cNvPr id="158" name="Shape 156"/>
          <p:cNvSpPr/>
          <p:nvPr/>
        </p:nvSpPr>
        <p:spPr>
          <a:xfrm>
            <a:off x="8609076" y="3341218"/>
            <a:ext cx="658368" cy="249631"/>
          </a:xfrm>
          <a:prstGeom prst="rect">
            <a:avLst/>
          </a:prstGeom>
          <a:solidFill>
            <a:srgbClr val="909699"/>
          </a:solidFill>
          <a:ln w="12700">
            <a:solidFill>
              <a:srgbClr val="909699"/>
            </a:solidFill>
            <a:prstDash val="solid"/>
          </a:ln>
        </p:spPr>
        <p:txBody>
          <a:bodyPr/>
          <a:p/>
        </p:txBody>
      </p:sp>
      <p:sp>
        <p:nvSpPr>
          <p:cNvPr id="159" name="Text 157"/>
          <p:cNvSpPr/>
          <p:nvPr/>
        </p:nvSpPr>
        <p:spPr>
          <a:xfrm>
            <a:off x="8609076"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73%</a:t>
            </a:r>
            <a:endParaRPr lang="en-US" sz="1060" dirty="0"/>
          </a:p>
        </p:txBody>
      </p:sp>
      <p:sp>
        <p:nvSpPr>
          <p:cNvPr id="160" name="Shape 158"/>
          <p:cNvSpPr/>
          <p:nvPr/>
        </p:nvSpPr>
        <p:spPr>
          <a:xfrm>
            <a:off x="9308592" y="3341218"/>
            <a:ext cx="658368" cy="249631"/>
          </a:xfrm>
          <a:prstGeom prst="rect">
            <a:avLst/>
          </a:prstGeom>
          <a:solidFill>
            <a:srgbClr val="24282C"/>
          </a:solidFill>
          <a:ln w="12700">
            <a:solidFill>
              <a:srgbClr val="24282C"/>
            </a:solidFill>
            <a:prstDash val="solid"/>
          </a:ln>
        </p:spPr>
        <p:txBody>
          <a:bodyPr/>
          <a:p/>
        </p:txBody>
      </p:sp>
      <p:sp>
        <p:nvSpPr>
          <p:cNvPr id="161" name="Text 159"/>
          <p:cNvSpPr/>
          <p:nvPr/>
        </p:nvSpPr>
        <p:spPr>
          <a:xfrm>
            <a:off x="9308592"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85%</a:t>
            </a:r>
            <a:endParaRPr lang="en-US" sz="1060" dirty="0"/>
          </a:p>
        </p:txBody>
      </p:sp>
      <p:sp>
        <p:nvSpPr>
          <p:cNvPr id="162" name="Shape 160"/>
          <p:cNvSpPr/>
          <p:nvPr/>
        </p:nvSpPr>
        <p:spPr>
          <a:xfrm>
            <a:off x="10008108" y="3341218"/>
            <a:ext cx="658368" cy="249631"/>
          </a:xfrm>
          <a:prstGeom prst="rect">
            <a:avLst/>
          </a:prstGeom>
          <a:solidFill>
            <a:srgbClr val="626B72"/>
          </a:solidFill>
          <a:ln w="12700">
            <a:solidFill>
              <a:srgbClr val="626B72"/>
            </a:solidFill>
            <a:prstDash val="solid"/>
          </a:ln>
        </p:spPr>
        <p:txBody>
          <a:bodyPr/>
          <a:p/>
        </p:txBody>
      </p:sp>
      <p:sp>
        <p:nvSpPr>
          <p:cNvPr id="163" name="Text 161"/>
          <p:cNvSpPr/>
          <p:nvPr/>
        </p:nvSpPr>
        <p:spPr>
          <a:xfrm>
            <a:off x="10008108"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76%</a:t>
            </a:r>
            <a:endParaRPr lang="en-US" sz="1060" dirty="0"/>
          </a:p>
        </p:txBody>
      </p:sp>
      <p:sp>
        <p:nvSpPr>
          <p:cNvPr id="164" name="Shape 162"/>
          <p:cNvSpPr/>
          <p:nvPr/>
        </p:nvSpPr>
        <p:spPr>
          <a:xfrm>
            <a:off x="10707624" y="3341218"/>
            <a:ext cx="658368" cy="249631"/>
          </a:xfrm>
          <a:prstGeom prst="rect">
            <a:avLst/>
          </a:prstGeom>
          <a:solidFill>
            <a:srgbClr val="909699"/>
          </a:solidFill>
          <a:ln w="12700">
            <a:solidFill>
              <a:srgbClr val="909699"/>
            </a:solidFill>
            <a:prstDash val="solid"/>
          </a:ln>
        </p:spPr>
        <p:txBody>
          <a:bodyPr/>
          <a:p/>
        </p:txBody>
      </p:sp>
      <p:sp>
        <p:nvSpPr>
          <p:cNvPr id="165" name="Text 163"/>
          <p:cNvSpPr/>
          <p:nvPr/>
        </p:nvSpPr>
        <p:spPr>
          <a:xfrm>
            <a:off x="10707624" y="3405226"/>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71%</a:t>
            </a:r>
            <a:endParaRPr lang="en-US" sz="1060" dirty="0"/>
          </a:p>
        </p:txBody>
      </p:sp>
      <p:sp>
        <p:nvSpPr>
          <p:cNvPr id="166" name="Text 164"/>
          <p:cNvSpPr/>
          <p:nvPr/>
        </p:nvSpPr>
        <p:spPr>
          <a:xfrm>
            <a:off x="6281928" y="3698748"/>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Greece</a:t>
            </a:r>
            <a:endParaRPr lang="en-US" sz="1180" dirty="0"/>
          </a:p>
        </p:txBody>
      </p:sp>
      <p:sp>
        <p:nvSpPr>
          <p:cNvPr id="167" name="Shape 165"/>
          <p:cNvSpPr/>
          <p:nvPr/>
        </p:nvSpPr>
        <p:spPr>
          <a:xfrm>
            <a:off x="7909560" y="3631997"/>
            <a:ext cx="658368" cy="249631"/>
          </a:xfrm>
          <a:prstGeom prst="rect">
            <a:avLst/>
          </a:prstGeom>
          <a:solidFill>
            <a:srgbClr val="909699"/>
          </a:solidFill>
          <a:ln w="12700">
            <a:solidFill>
              <a:srgbClr val="909699"/>
            </a:solidFill>
            <a:prstDash val="solid"/>
          </a:ln>
        </p:spPr>
        <p:txBody>
          <a:bodyPr/>
          <a:p/>
        </p:txBody>
      </p:sp>
      <p:sp>
        <p:nvSpPr>
          <p:cNvPr id="168" name="Text 166"/>
          <p:cNvSpPr/>
          <p:nvPr/>
        </p:nvSpPr>
        <p:spPr>
          <a:xfrm>
            <a:off x="7909560"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73%</a:t>
            </a:r>
            <a:endParaRPr lang="en-US" sz="1060" dirty="0"/>
          </a:p>
        </p:txBody>
      </p:sp>
      <p:sp>
        <p:nvSpPr>
          <p:cNvPr id="169" name="Shape 167"/>
          <p:cNvSpPr/>
          <p:nvPr/>
        </p:nvSpPr>
        <p:spPr>
          <a:xfrm>
            <a:off x="8609076" y="3631997"/>
            <a:ext cx="658368" cy="249631"/>
          </a:xfrm>
          <a:prstGeom prst="rect">
            <a:avLst/>
          </a:prstGeom>
          <a:solidFill>
            <a:srgbClr val="909699"/>
          </a:solidFill>
          <a:ln w="12700">
            <a:solidFill>
              <a:srgbClr val="909699"/>
            </a:solidFill>
            <a:prstDash val="solid"/>
          </a:ln>
        </p:spPr>
        <p:txBody>
          <a:bodyPr/>
          <a:p/>
        </p:txBody>
      </p:sp>
      <p:sp>
        <p:nvSpPr>
          <p:cNvPr id="170" name="Text 168"/>
          <p:cNvSpPr/>
          <p:nvPr/>
        </p:nvSpPr>
        <p:spPr>
          <a:xfrm>
            <a:off x="8609076"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72%</a:t>
            </a:r>
            <a:endParaRPr lang="en-US" sz="1060" dirty="0"/>
          </a:p>
        </p:txBody>
      </p:sp>
      <p:sp>
        <p:nvSpPr>
          <p:cNvPr id="171" name="Shape 169"/>
          <p:cNvSpPr/>
          <p:nvPr/>
        </p:nvSpPr>
        <p:spPr>
          <a:xfrm>
            <a:off x="9308592" y="3631997"/>
            <a:ext cx="658368" cy="249631"/>
          </a:xfrm>
          <a:prstGeom prst="rect">
            <a:avLst/>
          </a:prstGeom>
          <a:solidFill>
            <a:srgbClr val="626B72"/>
          </a:solidFill>
          <a:ln w="12700">
            <a:solidFill>
              <a:srgbClr val="626B72"/>
            </a:solidFill>
            <a:prstDash val="solid"/>
          </a:ln>
        </p:spPr>
        <p:txBody>
          <a:bodyPr/>
          <a:p/>
        </p:txBody>
      </p:sp>
      <p:sp>
        <p:nvSpPr>
          <p:cNvPr id="172" name="Text 170"/>
          <p:cNvSpPr/>
          <p:nvPr/>
        </p:nvSpPr>
        <p:spPr>
          <a:xfrm>
            <a:off x="9308592"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81%</a:t>
            </a:r>
            <a:endParaRPr lang="en-US" sz="1060" dirty="0"/>
          </a:p>
        </p:txBody>
      </p:sp>
      <p:sp>
        <p:nvSpPr>
          <p:cNvPr id="173" name="Shape 171"/>
          <p:cNvSpPr/>
          <p:nvPr/>
        </p:nvSpPr>
        <p:spPr>
          <a:xfrm>
            <a:off x="10008108" y="3631997"/>
            <a:ext cx="658368" cy="249631"/>
          </a:xfrm>
          <a:prstGeom prst="rect">
            <a:avLst/>
          </a:prstGeom>
          <a:solidFill>
            <a:srgbClr val="909699"/>
          </a:solidFill>
          <a:ln w="12700">
            <a:solidFill>
              <a:srgbClr val="909699"/>
            </a:solidFill>
            <a:prstDash val="solid"/>
          </a:ln>
        </p:spPr>
        <p:txBody>
          <a:bodyPr/>
          <a:p/>
        </p:txBody>
      </p:sp>
      <p:sp>
        <p:nvSpPr>
          <p:cNvPr id="174" name="Text 172"/>
          <p:cNvSpPr/>
          <p:nvPr/>
        </p:nvSpPr>
        <p:spPr>
          <a:xfrm>
            <a:off x="10008108"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73%</a:t>
            </a:r>
            <a:endParaRPr lang="en-US" sz="1060" dirty="0"/>
          </a:p>
        </p:txBody>
      </p:sp>
      <p:sp>
        <p:nvSpPr>
          <p:cNvPr id="175" name="Shape 173"/>
          <p:cNvSpPr/>
          <p:nvPr/>
        </p:nvSpPr>
        <p:spPr>
          <a:xfrm>
            <a:off x="10707624" y="3631997"/>
            <a:ext cx="658368" cy="249631"/>
          </a:xfrm>
          <a:prstGeom prst="rect">
            <a:avLst/>
          </a:prstGeom>
          <a:solidFill>
            <a:srgbClr val="B6BAB9"/>
          </a:solidFill>
          <a:ln w="12700">
            <a:solidFill>
              <a:srgbClr val="B6BAB9"/>
            </a:solidFill>
            <a:prstDash val="solid"/>
          </a:ln>
        </p:spPr>
        <p:txBody>
          <a:bodyPr/>
          <a:p/>
        </p:txBody>
      </p:sp>
      <p:sp>
        <p:nvSpPr>
          <p:cNvPr id="176" name="Text 174"/>
          <p:cNvSpPr/>
          <p:nvPr/>
        </p:nvSpPr>
        <p:spPr>
          <a:xfrm>
            <a:off x="10707624" y="3696005"/>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59%</a:t>
            </a:r>
            <a:endParaRPr lang="en-US" sz="1060" dirty="0"/>
          </a:p>
        </p:txBody>
      </p:sp>
      <p:sp>
        <p:nvSpPr>
          <p:cNvPr id="177" name="Text 175"/>
          <p:cNvSpPr/>
          <p:nvPr/>
        </p:nvSpPr>
        <p:spPr>
          <a:xfrm>
            <a:off x="6281928" y="3989527"/>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Poland</a:t>
            </a:r>
            <a:endParaRPr lang="en-US" sz="1180" dirty="0"/>
          </a:p>
        </p:txBody>
      </p:sp>
      <p:sp>
        <p:nvSpPr>
          <p:cNvPr id="178" name="Shape 176"/>
          <p:cNvSpPr/>
          <p:nvPr/>
        </p:nvSpPr>
        <p:spPr>
          <a:xfrm>
            <a:off x="7909560" y="3922776"/>
            <a:ext cx="658368" cy="249631"/>
          </a:xfrm>
          <a:prstGeom prst="rect">
            <a:avLst/>
          </a:prstGeom>
          <a:solidFill>
            <a:srgbClr val="626B72"/>
          </a:solidFill>
          <a:ln w="12700">
            <a:solidFill>
              <a:srgbClr val="626B72"/>
            </a:solidFill>
            <a:prstDash val="solid"/>
          </a:ln>
        </p:spPr>
        <p:txBody>
          <a:bodyPr/>
          <a:p/>
        </p:txBody>
      </p:sp>
      <p:sp>
        <p:nvSpPr>
          <p:cNvPr id="179" name="Text 177"/>
          <p:cNvSpPr/>
          <p:nvPr/>
        </p:nvSpPr>
        <p:spPr>
          <a:xfrm>
            <a:off x="7909560"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83%</a:t>
            </a:r>
            <a:endParaRPr lang="en-US" sz="1060" dirty="0"/>
          </a:p>
        </p:txBody>
      </p:sp>
      <p:sp>
        <p:nvSpPr>
          <p:cNvPr id="180" name="Shape 178"/>
          <p:cNvSpPr/>
          <p:nvPr/>
        </p:nvSpPr>
        <p:spPr>
          <a:xfrm>
            <a:off x="8609076" y="3922776"/>
            <a:ext cx="658368" cy="249631"/>
          </a:xfrm>
          <a:prstGeom prst="rect">
            <a:avLst/>
          </a:prstGeom>
          <a:solidFill>
            <a:srgbClr val="626B72"/>
          </a:solidFill>
          <a:ln w="12700">
            <a:solidFill>
              <a:srgbClr val="626B72"/>
            </a:solidFill>
            <a:prstDash val="solid"/>
          </a:ln>
        </p:spPr>
        <p:txBody>
          <a:bodyPr/>
          <a:p/>
        </p:txBody>
      </p:sp>
      <p:sp>
        <p:nvSpPr>
          <p:cNvPr id="181" name="Text 179"/>
          <p:cNvSpPr/>
          <p:nvPr/>
        </p:nvSpPr>
        <p:spPr>
          <a:xfrm>
            <a:off x="8609076"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82%</a:t>
            </a:r>
            <a:endParaRPr lang="en-US" sz="1060" dirty="0"/>
          </a:p>
        </p:txBody>
      </p:sp>
      <p:sp>
        <p:nvSpPr>
          <p:cNvPr id="182" name="Shape 180"/>
          <p:cNvSpPr/>
          <p:nvPr/>
        </p:nvSpPr>
        <p:spPr>
          <a:xfrm>
            <a:off x="9308592" y="3922776"/>
            <a:ext cx="658368" cy="249631"/>
          </a:xfrm>
          <a:prstGeom prst="rect">
            <a:avLst/>
          </a:prstGeom>
          <a:solidFill>
            <a:srgbClr val="24282C"/>
          </a:solidFill>
          <a:ln w="12700">
            <a:solidFill>
              <a:srgbClr val="24282C"/>
            </a:solidFill>
            <a:prstDash val="solid"/>
          </a:ln>
        </p:spPr>
        <p:txBody>
          <a:bodyPr/>
          <a:p/>
        </p:txBody>
      </p:sp>
      <p:sp>
        <p:nvSpPr>
          <p:cNvPr id="183" name="Text 181"/>
          <p:cNvSpPr/>
          <p:nvPr/>
        </p:nvSpPr>
        <p:spPr>
          <a:xfrm>
            <a:off x="9308592"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89%</a:t>
            </a:r>
            <a:endParaRPr lang="en-US" sz="1060" dirty="0"/>
          </a:p>
        </p:txBody>
      </p:sp>
      <p:sp>
        <p:nvSpPr>
          <p:cNvPr id="184" name="Shape 182"/>
          <p:cNvSpPr/>
          <p:nvPr/>
        </p:nvSpPr>
        <p:spPr>
          <a:xfrm>
            <a:off x="10008108" y="3922776"/>
            <a:ext cx="658368" cy="249631"/>
          </a:xfrm>
          <a:prstGeom prst="rect">
            <a:avLst/>
          </a:prstGeom>
          <a:solidFill>
            <a:srgbClr val="24282C"/>
          </a:solidFill>
          <a:ln w="12700">
            <a:solidFill>
              <a:srgbClr val="24282C"/>
            </a:solidFill>
            <a:prstDash val="solid"/>
          </a:ln>
        </p:spPr>
        <p:txBody>
          <a:bodyPr/>
          <a:p/>
        </p:txBody>
      </p:sp>
      <p:sp>
        <p:nvSpPr>
          <p:cNvPr id="185" name="Text 183"/>
          <p:cNvSpPr/>
          <p:nvPr/>
        </p:nvSpPr>
        <p:spPr>
          <a:xfrm>
            <a:off x="10008108"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88%</a:t>
            </a:r>
            <a:endParaRPr lang="en-US" sz="1060" dirty="0"/>
          </a:p>
        </p:txBody>
      </p:sp>
      <p:sp>
        <p:nvSpPr>
          <p:cNvPr id="186" name="Shape 184"/>
          <p:cNvSpPr/>
          <p:nvPr/>
        </p:nvSpPr>
        <p:spPr>
          <a:xfrm>
            <a:off x="10707624" y="3922776"/>
            <a:ext cx="658368" cy="249631"/>
          </a:xfrm>
          <a:prstGeom prst="rect">
            <a:avLst/>
          </a:prstGeom>
          <a:solidFill>
            <a:srgbClr val="626B72"/>
          </a:solidFill>
          <a:ln w="12700">
            <a:solidFill>
              <a:srgbClr val="626B72"/>
            </a:solidFill>
            <a:prstDash val="solid"/>
          </a:ln>
        </p:spPr>
        <p:txBody>
          <a:bodyPr/>
          <a:p/>
        </p:txBody>
      </p:sp>
      <p:sp>
        <p:nvSpPr>
          <p:cNvPr id="187" name="Text 185"/>
          <p:cNvSpPr/>
          <p:nvPr/>
        </p:nvSpPr>
        <p:spPr>
          <a:xfrm>
            <a:off x="10707624" y="3986784"/>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78%</a:t>
            </a:r>
            <a:endParaRPr lang="en-US" sz="1060" dirty="0"/>
          </a:p>
        </p:txBody>
      </p:sp>
      <p:sp>
        <p:nvSpPr>
          <p:cNvPr id="188" name="Text 186"/>
          <p:cNvSpPr/>
          <p:nvPr/>
        </p:nvSpPr>
        <p:spPr>
          <a:xfrm>
            <a:off x="6281928" y="4280306"/>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Portugal</a:t>
            </a:r>
            <a:endParaRPr lang="en-US" sz="1180" dirty="0"/>
          </a:p>
        </p:txBody>
      </p:sp>
      <p:sp>
        <p:nvSpPr>
          <p:cNvPr id="189" name="Shape 187"/>
          <p:cNvSpPr/>
          <p:nvPr/>
        </p:nvSpPr>
        <p:spPr>
          <a:xfrm>
            <a:off x="7909560" y="4213555"/>
            <a:ext cx="658368" cy="249631"/>
          </a:xfrm>
          <a:prstGeom prst="rect">
            <a:avLst/>
          </a:prstGeom>
          <a:solidFill>
            <a:srgbClr val="626B72"/>
          </a:solidFill>
          <a:ln w="12700">
            <a:solidFill>
              <a:srgbClr val="626B72"/>
            </a:solidFill>
            <a:prstDash val="solid"/>
          </a:ln>
        </p:spPr>
        <p:txBody>
          <a:bodyPr/>
          <a:p/>
        </p:txBody>
      </p:sp>
      <p:sp>
        <p:nvSpPr>
          <p:cNvPr id="190" name="Text 188"/>
          <p:cNvSpPr/>
          <p:nvPr/>
        </p:nvSpPr>
        <p:spPr>
          <a:xfrm>
            <a:off x="7909560"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83%</a:t>
            </a:r>
            <a:endParaRPr lang="en-US" sz="1060" dirty="0"/>
          </a:p>
        </p:txBody>
      </p:sp>
      <p:sp>
        <p:nvSpPr>
          <p:cNvPr id="191" name="Shape 189"/>
          <p:cNvSpPr/>
          <p:nvPr/>
        </p:nvSpPr>
        <p:spPr>
          <a:xfrm>
            <a:off x="8609076" y="4213555"/>
            <a:ext cx="658368" cy="249631"/>
          </a:xfrm>
          <a:prstGeom prst="rect">
            <a:avLst/>
          </a:prstGeom>
          <a:solidFill>
            <a:srgbClr val="24282C"/>
          </a:solidFill>
          <a:ln w="12700">
            <a:solidFill>
              <a:srgbClr val="24282C"/>
            </a:solidFill>
            <a:prstDash val="solid"/>
          </a:ln>
        </p:spPr>
        <p:txBody>
          <a:bodyPr/>
          <a:p/>
        </p:txBody>
      </p:sp>
      <p:sp>
        <p:nvSpPr>
          <p:cNvPr id="192" name="Text 190"/>
          <p:cNvSpPr/>
          <p:nvPr/>
        </p:nvSpPr>
        <p:spPr>
          <a:xfrm>
            <a:off x="8609076"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87%</a:t>
            </a:r>
            <a:endParaRPr lang="en-US" sz="1060" dirty="0"/>
          </a:p>
        </p:txBody>
      </p:sp>
      <p:sp>
        <p:nvSpPr>
          <p:cNvPr id="193" name="Shape 191"/>
          <p:cNvSpPr/>
          <p:nvPr/>
        </p:nvSpPr>
        <p:spPr>
          <a:xfrm>
            <a:off x="9308592" y="4213555"/>
            <a:ext cx="658368" cy="249631"/>
          </a:xfrm>
          <a:prstGeom prst="rect">
            <a:avLst/>
          </a:prstGeom>
          <a:solidFill>
            <a:srgbClr val="24282C"/>
          </a:solidFill>
          <a:ln w="12700">
            <a:solidFill>
              <a:srgbClr val="24282C"/>
            </a:solidFill>
            <a:prstDash val="solid"/>
          </a:ln>
        </p:spPr>
        <p:txBody>
          <a:bodyPr/>
          <a:p/>
        </p:txBody>
      </p:sp>
      <p:sp>
        <p:nvSpPr>
          <p:cNvPr id="194" name="Text 192"/>
          <p:cNvSpPr/>
          <p:nvPr/>
        </p:nvSpPr>
        <p:spPr>
          <a:xfrm>
            <a:off x="9308592"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88%</a:t>
            </a:r>
            <a:endParaRPr lang="en-US" sz="1060" dirty="0"/>
          </a:p>
        </p:txBody>
      </p:sp>
      <p:sp>
        <p:nvSpPr>
          <p:cNvPr id="195" name="Shape 193"/>
          <p:cNvSpPr/>
          <p:nvPr/>
        </p:nvSpPr>
        <p:spPr>
          <a:xfrm>
            <a:off x="10008108" y="4213555"/>
            <a:ext cx="658368" cy="249631"/>
          </a:xfrm>
          <a:prstGeom prst="rect">
            <a:avLst/>
          </a:prstGeom>
          <a:solidFill>
            <a:srgbClr val="24282C"/>
          </a:solidFill>
          <a:ln w="12700">
            <a:solidFill>
              <a:srgbClr val="24282C"/>
            </a:solidFill>
            <a:prstDash val="solid"/>
          </a:ln>
        </p:spPr>
        <p:txBody>
          <a:bodyPr/>
          <a:p/>
        </p:txBody>
      </p:sp>
      <p:sp>
        <p:nvSpPr>
          <p:cNvPr id="196" name="Text 194"/>
          <p:cNvSpPr/>
          <p:nvPr/>
        </p:nvSpPr>
        <p:spPr>
          <a:xfrm>
            <a:off x="10008108"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89%</a:t>
            </a:r>
            <a:endParaRPr lang="en-US" sz="1060" dirty="0"/>
          </a:p>
        </p:txBody>
      </p:sp>
      <p:sp>
        <p:nvSpPr>
          <p:cNvPr id="197" name="Shape 195"/>
          <p:cNvSpPr/>
          <p:nvPr/>
        </p:nvSpPr>
        <p:spPr>
          <a:xfrm>
            <a:off x="10707624" y="4213555"/>
            <a:ext cx="658368" cy="249631"/>
          </a:xfrm>
          <a:prstGeom prst="rect">
            <a:avLst/>
          </a:prstGeom>
          <a:solidFill>
            <a:srgbClr val="24282C"/>
          </a:solidFill>
          <a:ln w="12700">
            <a:solidFill>
              <a:srgbClr val="24282C"/>
            </a:solidFill>
            <a:prstDash val="solid"/>
          </a:ln>
        </p:spPr>
        <p:txBody>
          <a:bodyPr/>
          <a:p/>
        </p:txBody>
      </p:sp>
      <p:sp>
        <p:nvSpPr>
          <p:cNvPr id="198" name="Text 196"/>
          <p:cNvSpPr/>
          <p:nvPr/>
        </p:nvSpPr>
        <p:spPr>
          <a:xfrm>
            <a:off x="10707624" y="4277563"/>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87%</a:t>
            </a:r>
            <a:endParaRPr lang="en-US" sz="1060" dirty="0"/>
          </a:p>
        </p:txBody>
      </p:sp>
      <p:sp>
        <p:nvSpPr>
          <p:cNvPr id="199" name="Text 197"/>
          <p:cNvSpPr/>
          <p:nvPr/>
        </p:nvSpPr>
        <p:spPr>
          <a:xfrm>
            <a:off x="6281928" y="4571086"/>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Norway</a:t>
            </a:r>
            <a:endParaRPr lang="en-US" sz="1180" dirty="0"/>
          </a:p>
        </p:txBody>
      </p:sp>
      <p:sp>
        <p:nvSpPr>
          <p:cNvPr id="200" name="Shape 198"/>
          <p:cNvSpPr/>
          <p:nvPr/>
        </p:nvSpPr>
        <p:spPr>
          <a:xfrm>
            <a:off x="7909560" y="4504334"/>
            <a:ext cx="658368" cy="249631"/>
          </a:xfrm>
          <a:prstGeom prst="rect">
            <a:avLst/>
          </a:prstGeom>
          <a:solidFill>
            <a:srgbClr val="909699"/>
          </a:solidFill>
          <a:ln w="12700">
            <a:solidFill>
              <a:srgbClr val="909699"/>
            </a:solidFill>
            <a:prstDash val="solid"/>
          </a:ln>
        </p:spPr>
        <p:txBody>
          <a:bodyPr/>
          <a:p/>
        </p:txBody>
      </p:sp>
      <p:sp>
        <p:nvSpPr>
          <p:cNvPr id="201" name="Text 199"/>
          <p:cNvSpPr/>
          <p:nvPr/>
        </p:nvSpPr>
        <p:spPr>
          <a:xfrm>
            <a:off x="7909560"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72%</a:t>
            </a:r>
            <a:endParaRPr lang="en-US" sz="1060" dirty="0"/>
          </a:p>
        </p:txBody>
      </p:sp>
      <p:sp>
        <p:nvSpPr>
          <p:cNvPr id="202" name="Shape 200"/>
          <p:cNvSpPr/>
          <p:nvPr/>
        </p:nvSpPr>
        <p:spPr>
          <a:xfrm>
            <a:off x="8609076" y="4504334"/>
            <a:ext cx="658368" cy="249631"/>
          </a:xfrm>
          <a:prstGeom prst="rect">
            <a:avLst/>
          </a:prstGeom>
          <a:solidFill>
            <a:srgbClr val="626B72"/>
          </a:solidFill>
          <a:ln w="12700">
            <a:solidFill>
              <a:srgbClr val="626B72"/>
            </a:solidFill>
            <a:prstDash val="solid"/>
          </a:ln>
        </p:spPr>
        <p:txBody>
          <a:bodyPr/>
          <a:p/>
        </p:txBody>
      </p:sp>
      <p:sp>
        <p:nvSpPr>
          <p:cNvPr id="203" name="Text 201"/>
          <p:cNvSpPr/>
          <p:nvPr/>
        </p:nvSpPr>
        <p:spPr>
          <a:xfrm>
            <a:off x="8609076"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77%</a:t>
            </a:r>
            <a:endParaRPr lang="en-US" sz="1060" dirty="0"/>
          </a:p>
        </p:txBody>
      </p:sp>
      <p:sp>
        <p:nvSpPr>
          <p:cNvPr id="204" name="Shape 202"/>
          <p:cNvSpPr/>
          <p:nvPr/>
        </p:nvSpPr>
        <p:spPr>
          <a:xfrm>
            <a:off x="9308592" y="4504334"/>
            <a:ext cx="658368" cy="249631"/>
          </a:xfrm>
          <a:prstGeom prst="rect">
            <a:avLst/>
          </a:prstGeom>
          <a:solidFill>
            <a:srgbClr val="24282C"/>
          </a:solidFill>
          <a:ln w="12700">
            <a:solidFill>
              <a:srgbClr val="24282C"/>
            </a:solidFill>
            <a:prstDash val="solid"/>
          </a:ln>
        </p:spPr>
        <p:txBody>
          <a:bodyPr/>
          <a:p/>
        </p:txBody>
      </p:sp>
      <p:sp>
        <p:nvSpPr>
          <p:cNvPr id="205" name="Text 203"/>
          <p:cNvSpPr/>
          <p:nvPr/>
        </p:nvSpPr>
        <p:spPr>
          <a:xfrm>
            <a:off x="9308592"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85%</a:t>
            </a:r>
            <a:endParaRPr lang="en-US" sz="1060" dirty="0"/>
          </a:p>
        </p:txBody>
      </p:sp>
      <p:sp>
        <p:nvSpPr>
          <p:cNvPr id="206" name="Shape 204"/>
          <p:cNvSpPr/>
          <p:nvPr/>
        </p:nvSpPr>
        <p:spPr>
          <a:xfrm>
            <a:off x="10008108" y="4504334"/>
            <a:ext cx="658368" cy="249631"/>
          </a:xfrm>
          <a:prstGeom prst="rect">
            <a:avLst/>
          </a:prstGeom>
          <a:solidFill>
            <a:srgbClr val="626B72"/>
          </a:solidFill>
          <a:ln w="12700">
            <a:solidFill>
              <a:srgbClr val="626B72"/>
            </a:solidFill>
            <a:prstDash val="solid"/>
          </a:ln>
        </p:spPr>
        <p:txBody>
          <a:bodyPr/>
          <a:p/>
        </p:txBody>
      </p:sp>
      <p:sp>
        <p:nvSpPr>
          <p:cNvPr id="207" name="Text 205"/>
          <p:cNvSpPr/>
          <p:nvPr/>
        </p:nvSpPr>
        <p:spPr>
          <a:xfrm>
            <a:off x="10008108"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79%</a:t>
            </a:r>
            <a:endParaRPr lang="en-US" sz="1060" dirty="0"/>
          </a:p>
        </p:txBody>
      </p:sp>
      <p:sp>
        <p:nvSpPr>
          <p:cNvPr id="208" name="Shape 206"/>
          <p:cNvSpPr/>
          <p:nvPr/>
        </p:nvSpPr>
        <p:spPr>
          <a:xfrm>
            <a:off x="10707624" y="4504334"/>
            <a:ext cx="658368" cy="249631"/>
          </a:xfrm>
          <a:prstGeom prst="rect">
            <a:avLst/>
          </a:prstGeom>
          <a:solidFill>
            <a:srgbClr val="626B72"/>
          </a:solidFill>
          <a:ln w="12700">
            <a:solidFill>
              <a:srgbClr val="626B72"/>
            </a:solidFill>
            <a:prstDash val="solid"/>
          </a:ln>
        </p:spPr>
        <p:txBody>
          <a:bodyPr/>
          <a:p/>
        </p:txBody>
      </p:sp>
      <p:sp>
        <p:nvSpPr>
          <p:cNvPr id="209" name="Text 207"/>
          <p:cNvSpPr/>
          <p:nvPr/>
        </p:nvSpPr>
        <p:spPr>
          <a:xfrm>
            <a:off x="10707624" y="456834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77%</a:t>
            </a:r>
            <a:endParaRPr lang="en-US" sz="1060" dirty="0"/>
          </a:p>
        </p:txBody>
      </p:sp>
      <p:sp>
        <p:nvSpPr>
          <p:cNvPr id="210" name="Text 208"/>
          <p:cNvSpPr/>
          <p:nvPr/>
        </p:nvSpPr>
        <p:spPr>
          <a:xfrm>
            <a:off x="6281928" y="4861865"/>
            <a:ext cx="1554480" cy="182880"/>
          </a:xfrm>
          <a:prstGeom prst="rect">
            <a:avLst/>
          </a:prstGeom>
          <a:noFill/>
          <a:ln/>
        </p:spPr>
        <p:txBody>
          <a:bodyPr wrap="square" lIns="0" tIns="0" rIns="0" bIns="0" rtlCol="0" anchor="ctr">
            <a:normAutofit fontScale="100000" lnSpcReduction="0"/>
          </a:bodyPr>
          <a:lstStyle/>
          <a:p>
            <a:pPr indent="0" marL="0">
              <a:buNone/>
            </a:pPr>
            <a:r>
              <a:rPr lang="en-US" sz="1180" b="1" dirty="0">
                <a:solidFill>
                  <a:srgbClr val="24282C"/>
                </a:solidFill>
                <a:latin typeface="Arial" pitchFamily="34" charset="0"/>
                <a:ea typeface="Arial" pitchFamily="34" charset="-122"/>
                <a:cs typeface="Arial" pitchFamily="34" charset="-120"/>
              </a:rPr>
              <a:t>Romania</a:t>
            </a:r>
            <a:endParaRPr lang="en-US" sz="1180" dirty="0"/>
          </a:p>
        </p:txBody>
      </p:sp>
      <p:sp>
        <p:nvSpPr>
          <p:cNvPr id="211" name="Shape 209"/>
          <p:cNvSpPr/>
          <p:nvPr/>
        </p:nvSpPr>
        <p:spPr>
          <a:xfrm>
            <a:off x="7909560" y="4795114"/>
            <a:ext cx="658368" cy="249631"/>
          </a:xfrm>
          <a:prstGeom prst="rect">
            <a:avLst/>
          </a:prstGeom>
          <a:solidFill>
            <a:srgbClr val="626B72"/>
          </a:solidFill>
          <a:ln w="12700">
            <a:solidFill>
              <a:srgbClr val="626B72"/>
            </a:solidFill>
            <a:prstDash val="solid"/>
          </a:ln>
        </p:spPr>
        <p:txBody>
          <a:bodyPr/>
          <a:p/>
        </p:txBody>
      </p:sp>
      <p:sp>
        <p:nvSpPr>
          <p:cNvPr id="212" name="Text 210"/>
          <p:cNvSpPr/>
          <p:nvPr/>
        </p:nvSpPr>
        <p:spPr>
          <a:xfrm>
            <a:off x="7909560"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78%</a:t>
            </a:r>
            <a:endParaRPr lang="en-US" sz="1060" dirty="0"/>
          </a:p>
        </p:txBody>
      </p:sp>
      <p:sp>
        <p:nvSpPr>
          <p:cNvPr id="213" name="Shape 211"/>
          <p:cNvSpPr/>
          <p:nvPr/>
        </p:nvSpPr>
        <p:spPr>
          <a:xfrm>
            <a:off x="8609076" y="4795114"/>
            <a:ext cx="658368" cy="249631"/>
          </a:xfrm>
          <a:prstGeom prst="rect">
            <a:avLst/>
          </a:prstGeom>
          <a:solidFill>
            <a:srgbClr val="626B72"/>
          </a:solidFill>
          <a:ln w="12700">
            <a:solidFill>
              <a:srgbClr val="626B72"/>
            </a:solidFill>
            <a:prstDash val="solid"/>
          </a:ln>
        </p:spPr>
        <p:txBody>
          <a:bodyPr/>
          <a:p/>
        </p:txBody>
      </p:sp>
      <p:sp>
        <p:nvSpPr>
          <p:cNvPr id="214" name="Text 212"/>
          <p:cNvSpPr/>
          <p:nvPr/>
        </p:nvSpPr>
        <p:spPr>
          <a:xfrm>
            <a:off x="8609076"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76%</a:t>
            </a:r>
            <a:endParaRPr lang="en-US" sz="1060" dirty="0"/>
          </a:p>
        </p:txBody>
      </p:sp>
      <p:sp>
        <p:nvSpPr>
          <p:cNvPr id="215" name="Shape 213"/>
          <p:cNvSpPr/>
          <p:nvPr/>
        </p:nvSpPr>
        <p:spPr>
          <a:xfrm>
            <a:off x="9308592" y="4795114"/>
            <a:ext cx="658368" cy="249631"/>
          </a:xfrm>
          <a:prstGeom prst="rect">
            <a:avLst/>
          </a:prstGeom>
          <a:solidFill>
            <a:srgbClr val="24282C"/>
          </a:solidFill>
          <a:ln w="12700">
            <a:solidFill>
              <a:srgbClr val="24282C"/>
            </a:solidFill>
            <a:prstDash val="solid"/>
          </a:ln>
        </p:spPr>
        <p:txBody>
          <a:bodyPr/>
          <a:p/>
        </p:txBody>
      </p:sp>
      <p:sp>
        <p:nvSpPr>
          <p:cNvPr id="216" name="Text 214"/>
          <p:cNvSpPr/>
          <p:nvPr/>
        </p:nvSpPr>
        <p:spPr>
          <a:xfrm>
            <a:off x="9308592"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85%</a:t>
            </a:r>
            <a:endParaRPr lang="en-US" sz="1060" dirty="0"/>
          </a:p>
        </p:txBody>
      </p:sp>
      <p:sp>
        <p:nvSpPr>
          <p:cNvPr id="217" name="Shape 215"/>
          <p:cNvSpPr/>
          <p:nvPr/>
        </p:nvSpPr>
        <p:spPr>
          <a:xfrm>
            <a:off x="10008108" y="4795114"/>
            <a:ext cx="658368" cy="249631"/>
          </a:xfrm>
          <a:prstGeom prst="rect">
            <a:avLst/>
          </a:prstGeom>
          <a:solidFill>
            <a:srgbClr val="626B72"/>
          </a:solidFill>
          <a:ln w="12700">
            <a:solidFill>
              <a:srgbClr val="626B72"/>
            </a:solidFill>
            <a:prstDash val="solid"/>
          </a:ln>
        </p:spPr>
        <p:txBody>
          <a:bodyPr/>
          <a:p/>
        </p:txBody>
      </p:sp>
      <p:sp>
        <p:nvSpPr>
          <p:cNvPr id="218" name="Text 216"/>
          <p:cNvSpPr/>
          <p:nvPr/>
        </p:nvSpPr>
        <p:spPr>
          <a:xfrm>
            <a:off x="10008108"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80%</a:t>
            </a:r>
            <a:endParaRPr lang="en-US" sz="1060" dirty="0"/>
          </a:p>
        </p:txBody>
      </p:sp>
      <p:sp>
        <p:nvSpPr>
          <p:cNvPr id="219" name="Shape 217"/>
          <p:cNvSpPr/>
          <p:nvPr/>
        </p:nvSpPr>
        <p:spPr>
          <a:xfrm>
            <a:off x="10707624" y="4795114"/>
            <a:ext cx="658368" cy="249631"/>
          </a:xfrm>
          <a:prstGeom prst="rect">
            <a:avLst/>
          </a:prstGeom>
          <a:solidFill>
            <a:srgbClr val="909699"/>
          </a:solidFill>
          <a:ln w="12700">
            <a:solidFill>
              <a:srgbClr val="909699"/>
            </a:solidFill>
            <a:prstDash val="solid"/>
          </a:ln>
        </p:spPr>
        <p:txBody>
          <a:bodyPr/>
          <a:p/>
        </p:txBody>
      </p:sp>
      <p:sp>
        <p:nvSpPr>
          <p:cNvPr id="220" name="Text 218"/>
          <p:cNvSpPr/>
          <p:nvPr/>
        </p:nvSpPr>
        <p:spPr>
          <a:xfrm>
            <a:off x="10707624" y="4859122"/>
            <a:ext cx="658368" cy="173736"/>
          </a:xfrm>
          <a:prstGeom prst="rect">
            <a:avLst/>
          </a:prstGeom>
          <a:noFill/>
          <a:ln/>
        </p:spPr>
        <p:txBody>
          <a:bodyPr wrap="square" lIns="0" tIns="0" rIns="0" bIns="0" rtlCol="0" anchor="ctr">
            <a:normAutofit fontScale="100000" lnSpcReduction="0"/>
          </a:bodyPr>
          <a:lstStyle/>
          <a:p>
            <a:pPr algn="ctr" indent="0" marL="0">
              <a:buNone/>
            </a:pPr>
            <a:r>
              <a:rPr lang="en-US" sz="1060" b="1" dirty="0">
                <a:solidFill>
                  <a:srgbClr val="FFFFFF"/>
                </a:solidFill>
                <a:latin typeface="Arial" pitchFamily="34" charset="0"/>
                <a:ea typeface="Arial" pitchFamily="34" charset="-122"/>
                <a:cs typeface="Arial" pitchFamily="34" charset="-120"/>
              </a:rPr>
              <a:t>74%</a:t>
            </a:r>
            <a:endParaRPr lang="en-US" sz="1060" dirty="0"/>
          </a:p>
        </p:txBody>
      </p:sp>
      <p:sp>
        <p:nvSpPr>
          <p:cNvPr id="221" name="Text 219"/>
          <p:cNvSpPr/>
          <p:nvPr/>
        </p:nvSpPr>
        <p:spPr>
          <a:xfrm>
            <a:off x="694944" y="5285232"/>
            <a:ext cx="10817352" cy="192024"/>
          </a:xfrm>
          <a:prstGeom prst="rect">
            <a:avLst/>
          </a:prstGeom>
          <a:noFill/>
          <a:ln/>
        </p:spPr>
        <p:txBody>
          <a:bodyPr wrap="square" lIns="0" tIns="0" rIns="0" bIns="0" rtlCol="0" anchor="ctr">
            <a:normAutofit fontScale="100000" lnSpcReduction="0"/>
          </a:bodyPr>
          <a:lstStyle/>
          <a:p>
            <a:pPr indent="0" marL="0">
              <a:buNone/>
            </a:pPr>
            <a:r>
              <a:rPr lang="en-US" sz="1060" dirty="0">
                <a:solidFill>
                  <a:srgbClr val="626B72"/>
                </a:solidFill>
                <a:latin typeface="Arial" pitchFamily="34" charset="0"/>
                <a:ea typeface="Arial" pitchFamily="34" charset="-122"/>
                <a:cs typeface="Arial" pitchFamily="34" charset="-120"/>
              </a:rPr>
              <a:t>A Premises / facility     B Organisation     C Service     D Parts / accessories     E Vehicle sales</a:t>
            </a:r>
            <a:endParaRPr lang="en-US" sz="1060" dirty="0"/>
          </a:p>
        </p:txBody>
      </p:sp>
      <p:sp>
        <p:nvSpPr>
          <p:cNvPr id="222" name="Shape 220"/>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23" name="Text 221"/>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600" b="1" dirty="0">
                <a:solidFill>
                  <a:srgbClr val="24282C"/>
                </a:solidFill>
                <a:latin typeface="Arial" pitchFamily="34" charset="0"/>
                <a:ea typeface="Arial" pitchFamily="34" charset="-122"/>
                <a:cs typeface="Arial" pitchFamily="34" charset="-120"/>
              </a:rPr>
              <a:t>Missing answers are not zero. UK CV has an overall source score but no section values in this chart.</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PRISM SNAPSHOT</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Build checks describe a dated build - not current commercial readiness.</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Source snapshot | Pipeline run dated 25 August 2026</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BPR pp. 33-34. Counts are source-reported; no live platform inspection was performed.</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PRISM SNAPSHOT</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43</a:t>
            </a:r>
            <a:endParaRPr lang="en-US" sz="1050" dirty="0"/>
          </a:p>
        </p:txBody>
      </p:sp>
      <p:sp>
        <p:nvSpPr>
          <p:cNvPr id="11" name="Shape 9"/>
          <p:cNvSpPr/>
          <p:nvPr/>
        </p:nvSpPr>
        <p:spPr>
          <a:xfrm>
            <a:off x="612648" y="2468880"/>
            <a:ext cx="2624328" cy="2679192"/>
          </a:xfrm>
          <a:prstGeom prst="rect">
            <a:avLst/>
          </a:prstGeom>
          <a:solidFill>
            <a:srgbClr val="FFFFFF"/>
          </a:solidFill>
          <a:ln w="7620">
            <a:solidFill>
              <a:srgbClr val="D9DCDA"/>
            </a:solidFill>
            <a:prstDash val="solid"/>
          </a:ln>
        </p:spPr>
        <p:txBody>
          <a:bodyPr/>
          <a:p/>
        </p:txBody>
      </p:sp>
      <p:sp>
        <p:nvSpPr>
          <p:cNvPr id="12" name="Text 10"/>
          <p:cNvSpPr/>
          <p:nvPr/>
        </p:nvSpPr>
        <p:spPr>
          <a:xfrm>
            <a:off x="822960" y="2670048"/>
            <a:ext cx="220370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ANALYTICS PAGES</a:t>
            </a:r>
            <a:endParaRPr lang="en-US" sz="1160" dirty="0"/>
          </a:p>
        </p:txBody>
      </p:sp>
      <p:sp>
        <p:nvSpPr>
          <p:cNvPr id="13" name="Text 11"/>
          <p:cNvSpPr/>
          <p:nvPr/>
        </p:nvSpPr>
        <p:spPr>
          <a:xfrm>
            <a:off x="822960" y="3199638"/>
            <a:ext cx="2203704" cy="769620"/>
          </a:xfrm>
          <a:prstGeom prst="rect">
            <a:avLst/>
          </a:prstGeom>
          <a:noFill/>
          <a:ln/>
        </p:spPr>
        <p:txBody>
          <a:bodyPr wrap="square" lIns="0" tIns="0" rIns="0" bIns="0" rtlCol="0" anchor="ctr">
            <a:normAutofit fontScale="100000" lnSpcReduction="0"/>
          </a:bodyPr>
          <a:lstStyle/>
          <a:p>
            <a:pPr indent="0" marL="0">
              <a:buNone/>
            </a:pPr>
            <a:r>
              <a:rPr lang="en-US" sz="4600" b="1" dirty="0">
                <a:solidFill>
                  <a:srgbClr val="24282C"/>
                </a:solidFill>
                <a:latin typeface="Arial" pitchFamily="34" charset="0"/>
                <a:ea typeface="Arial" pitchFamily="34" charset="-122"/>
                <a:cs typeface="Arial" pitchFamily="34" charset="-120"/>
              </a:rPr>
              <a:t>19</a:t>
            </a:r>
            <a:endParaRPr lang="en-US" sz="4600" dirty="0"/>
          </a:p>
        </p:txBody>
      </p:sp>
      <p:sp>
        <p:nvSpPr>
          <p:cNvPr id="14" name="Text 12"/>
          <p:cNvSpPr/>
          <p:nvPr/>
        </p:nvSpPr>
        <p:spPr>
          <a:xfrm>
            <a:off x="822960" y="4023360"/>
            <a:ext cx="2203704" cy="950976"/>
          </a:xfrm>
          <a:prstGeom prst="rect">
            <a:avLst/>
          </a:prstGeom>
          <a:noFill/>
          <a:ln/>
        </p:spPr>
        <p:txBody>
          <a:bodyPr wrap="square" lIns="0" tIns="0" rIns="0" bIns="0" rtlCol="0" anchor="ctr">
            <a:normAutofit fontScale="100000" lnSpcReduction="0"/>
          </a:bodyPr>
          <a:lstStyle/>
          <a:p>
            <a:pPr indent="0" marL="0">
              <a:buNone/>
            </a:pPr>
            <a:r>
              <a:rPr lang="en-US" sz="1574" dirty="0">
                <a:solidFill>
                  <a:srgbClr val="626B72"/>
                </a:solidFill>
                <a:latin typeface="Arial" pitchFamily="34" charset="0"/>
                <a:ea typeface="Arial" pitchFamily="34" charset="-122"/>
                <a:cs typeface="Arial" pitchFamily="34" charset="-120"/>
              </a:rPr>
              <a:t>Reported page-folder count, excluding shared modules.</a:t>
            </a:r>
            <a:endParaRPr lang="en-US" sz="1574" dirty="0"/>
          </a:p>
        </p:txBody>
      </p:sp>
      <p:sp>
        <p:nvSpPr>
          <p:cNvPr id="15" name="Shape 13"/>
          <p:cNvSpPr/>
          <p:nvPr/>
        </p:nvSpPr>
        <p:spPr>
          <a:xfrm>
            <a:off x="3401568" y="2468880"/>
            <a:ext cx="2624328" cy="2679192"/>
          </a:xfrm>
          <a:prstGeom prst="rect">
            <a:avLst/>
          </a:prstGeom>
          <a:solidFill>
            <a:srgbClr val="FFFFFF"/>
          </a:solidFill>
          <a:ln w="7620">
            <a:solidFill>
              <a:srgbClr val="D9DCDA"/>
            </a:solidFill>
            <a:prstDash val="solid"/>
          </a:ln>
        </p:spPr>
        <p:txBody>
          <a:bodyPr/>
          <a:p/>
        </p:txBody>
      </p:sp>
      <p:sp>
        <p:nvSpPr>
          <p:cNvPr id="16" name="Text 14"/>
          <p:cNvSpPr/>
          <p:nvPr/>
        </p:nvSpPr>
        <p:spPr>
          <a:xfrm>
            <a:off x="3611880" y="2670048"/>
            <a:ext cx="220370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DERIVED FILES</a:t>
            </a:r>
            <a:endParaRPr lang="en-US" sz="1160" dirty="0"/>
          </a:p>
        </p:txBody>
      </p:sp>
      <p:sp>
        <p:nvSpPr>
          <p:cNvPr id="17" name="Text 15"/>
          <p:cNvSpPr/>
          <p:nvPr/>
        </p:nvSpPr>
        <p:spPr>
          <a:xfrm>
            <a:off x="3611880" y="3199638"/>
            <a:ext cx="2203704" cy="769620"/>
          </a:xfrm>
          <a:prstGeom prst="rect">
            <a:avLst/>
          </a:prstGeom>
          <a:noFill/>
          <a:ln/>
        </p:spPr>
        <p:txBody>
          <a:bodyPr wrap="square" lIns="0" tIns="0" rIns="0" bIns="0" rtlCol="0" anchor="ctr">
            <a:normAutofit fontScale="100000" lnSpcReduction="0"/>
          </a:bodyPr>
          <a:lstStyle/>
          <a:p>
            <a:pPr indent="0" marL="0">
              <a:buNone/>
            </a:pPr>
            <a:r>
              <a:rPr lang="en-US" sz="4600" b="1" dirty="0">
                <a:solidFill>
                  <a:srgbClr val="24282C"/>
                </a:solidFill>
                <a:latin typeface="Arial" pitchFamily="34" charset="0"/>
                <a:ea typeface="Arial" pitchFamily="34" charset="-122"/>
                <a:cs typeface="Arial" pitchFamily="34" charset="-120"/>
              </a:rPr>
              <a:t>281</a:t>
            </a:r>
            <a:endParaRPr lang="en-US" sz="4600" dirty="0"/>
          </a:p>
        </p:txBody>
      </p:sp>
      <p:sp>
        <p:nvSpPr>
          <p:cNvPr id="18" name="Text 16"/>
          <p:cNvSpPr/>
          <p:nvPr/>
        </p:nvSpPr>
        <p:spPr>
          <a:xfrm>
            <a:off x="3611880" y="4023360"/>
            <a:ext cx="2203704" cy="950976"/>
          </a:xfrm>
          <a:prstGeom prst="rect">
            <a:avLst/>
          </a:prstGeom>
          <a:noFill/>
          <a:ln/>
        </p:spPr>
        <p:txBody>
          <a:bodyPr wrap="square" lIns="0" tIns="0" rIns="0" bIns="0" rtlCol="0" anchor="ctr">
            <a:normAutofit fontScale="100000" lnSpcReduction="0"/>
          </a:bodyPr>
          <a:lstStyle/>
          <a:p>
            <a:pPr indent="0" marL="0">
              <a:buNone/>
            </a:pPr>
            <a:r>
              <a:rPr lang="en-US" sz="1574" dirty="0">
                <a:solidFill>
                  <a:srgbClr val="626B72"/>
                </a:solidFill>
                <a:latin typeface="Arial" pitchFamily="34" charset="0"/>
                <a:ea typeface="Arial" pitchFamily="34" charset="-122"/>
                <a:cs typeface="Arial" pitchFamily="34" charset="-120"/>
              </a:rPr>
              <a:t>Reported files counted on disk in the source build.</a:t>
            </a:r>
            <a:endParaRPr lang="en-US" sz="1574" dirty="0"/>
          </a:p>
        </p:txBody>
      </p:sp>
      <p:sp>
        <p:nvSpPr>
          <p:cNvPr id="19" name="Shape 17"/>
          <p:cNvSpPr/>
          <p:nvPr/>
        </p:nvSpPr>
        <p:spPr>
          <a:xfrm>
            <a:off x="6190488" y="2468880"/>
            <a:ext cx="2624328" cy="2679192"/>
          </a:xfrm>
          <a:prstGeom prst="rect">
            <a:avLst/>
          </a:prstGeom>
          <a:solidFill>
            <a:srgbClr val="FFFFFF"/>
          </a:solidFill>
          <a:ln w="7620">
            <a:solidFill>
              <a:srgbClr val="D9DCDA"/>
            </a:solidFill>
            <a:prstDash val="solid"/>
          </a:ln>
        </p:spPr>
        <p:txBody>
          <a:bodyPr/>
          <a:p/>
        </p:txBody>
      </p:sp>
      <p:sp>
        <p:nvSpPr>
          <p:cNvPr id="20" name="Text 18"/>
          <p:cNvSpPr/>
          <p:nvPr/>
        </p:nvSpPr>
        <p:spPr>
          <a:xfrm>
            <a:off x="6400800" y="2670048"/>
            <a:ext cx="220370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E30613"/>
                </a:solidFill>
                <a:latin typeface="Arial" pitchFamily="34" charset="0"/>
                <a:ea typeface="Arial" pitchFamily="34" charset="-122"/>
                <a:cs typeface="Arial" pitchFamily="34" charset="-120"/>
              </a:rPr>
              <a:t>CHECKS PASSED</a:t>
            </a:r>
            <a:endParaRPr lang="en-US" sz="1160" dirty="0"/>
          </a:p>
        </p:txBody>
      </p:sp>
      <p:sp>
        <p:nvSpPr>
          <p:cNvPr id="21" name="Text 19"/>
          <p:cNvSpPr/>
          <p:nvPr/>
        </p:nvSpPr>
        <p:spPr>
          <a:xfrm>
            <a:off x="6400800" y="3199638"/>
            <a:ext cx="2203704" cy="769620"/>
          </a:xfrm>
          <a:prstGeom prst="rect">
            <a:avLst/>
          </a:prstGeom>
          <a:noFill/>
          <a:ln/>
        </p:spPr>
        <p:txBody>
          <a:bodyPr wrap="square" lIns="0" tIns="0" rIns="0" bIns="0" rtlCol="0" anchor="ctr">
            <a:normAutofit fontScale="100000" lnSpcReduction="0"/>
          </a:bodyPr>
          <a:lstStyle/>
          <a:p>
            <a:pPr indent="0" marL="0">
              <a:buNone/>
            </a:pPr>
            <a:r>
              <a:rPr lang="en-US" sz="4600" b="1" dirty="0">
                <a:solidFill>
                  <a:srgbClr val="24282C"/>
                </a:solidFill>
                <a:latin typeface="Arial" pitchFamily="34" charset="0"/>
                <a:ea typeface="Arial" pitchFamily="34" charset="-122"/>
                <a:cs typeface="Arial" pitchFamily="34" charset="-120"/>
              </a:rPr>
              <a:t>116</a:t>
            </a:r>
            <a:endParaRPr lang="en-US" sz="4600" dirty="0"/>
          </a:p>
        </p:txBody>
      </p:sp>
      <p:sp>
        <p:nvSpPr>
          <p:cNvPr id="22" name="Text 20"/>
          <p:cNvSpPr/>
          <p:nvPr/>
        </p:nvSpPr>
        <p:spPr>
          <a:xfrm>
            <a:off x="6400800" y="4023360"/>
            <a:ext cx="2203704" cy="950976"/>
          </a:xfrm>
          <a:prstGeom prst="rect">
            <a:avLst/>
          </a:prstGeom>
          <a:noFill/>
          <a:ln/>
        </p:spPr>
        <p:txBody>
          <a:bodyPr wrap="square" lIns="0" tIns="0" rIns="0" bIns="0" rtlCol="0" anchor="ctr">
            <a:normAutofit fontScale="100000" lnSpcReduction="0"/>
          </a:bodyPr>
          <a:lstStyle/>
          <a:p>
            <a:pPr indent="0" marL="0">
              <a:buNone/>
            </a:pPr>
            <a:r>
              <a:rPr lang="en-US" sz="1574" dirty="0">
                <a:solidFill>
                  <a:srgbClr val="626B72"/>
                </a:solidFill>
                <a:latin typeface="Arial" pitchFamily="34" charset="0"/>
                <a:ea typeface="Arial" pitchFamily="34" charset="-122"/>
                <a:cs typeface="Arial" pitchFamily="34" charset="-120"/>
              </a:rPr>
              <a:t>Source run: 0 warnings and 0 failures. Not independent validation.</a:t>
            </a:r>
            <a:endParaRPr lang="en-US" sz="1574" dirty="0"/>
          </a:p>
        </p:txBody>
      </p:sp>
      <p:sp>
        <p:nvSpPr>
          <p:cNvPr id="23" name="Shape 21"/>
          <p:cNvSpPr/>
          <p:nvPr/>
        </p:nvSpPr>
        <p:spPr>
          <a:xfrm>
            <a:off x="8979408" y="2468880"/>
            <a:ext cx="2624328" cy="2679192"/>
          </a:xfrm>
          <a:prstGeom prst="rect">
            <a:avLst/>
          </a:prstGeom>
          <a:solidFill>
            <a:srgbClr val="24282C"/>
          </a:solidFill>
          <a:ln w="12700">
            <a:solidFill>
              <a:srgbClr val="24282C"/>
            </a:solidFill>
            <a:prstDash val="solid"/>
          </a:ln>
        </p:spPr>
        <p:txBody>
          <a:bodyPr/>
          <a:p/>
        </p:txBody>
      </p:sp>
      <p:sp>
        <p:nvSpPr>
          <p:cNvPr id="24" name="Text 22"/>
          <p:cNvSpPr/>
          <p:nvPr/>
        </p:nvSpPr>
        <p:spPr>
          <a:xfrm>
            <a:off x="9189720" y="2670048"/>
            <a:ext cx="2203704" cy="301752"/>
          </a:xfrm>
          <a:prstGeom prst="rect">
            <a:avLst/>
          </a:prstGeom>
          <a:noFill/>
          <a:ln/>
        </p:spPr>
        <p:txBody>
          <a:bodyPr wrap="square" lIns="0" tIns="0" rIns="0" bIns="0" rtlCol="0" anchor="ctr">
            <a:normAutofit fontScale="100000" lnSpcReduction="0"/>
          </a:bodyPr>
          <a:lstStyle/>
          <a:p>
            <a:pPr indent="0" marL="0">
              <a:buNone/>
            </a:pPr>
            <a:r>
              <a:rPr lang="en-US" sz="1160" b="1" spc="80" kern="0" dirty="0">
                <a:solidFill>
                  <a:srgbClr val="CCD1D2"/>
                </a:solidFill>
                <a:latin typeface="Arial" pitchFamily="34" charset="0"/>
                <a:ea typeface="Arial" pitchFamily="34" charset="-122"/>
                <a:cs typeface="Arial" pitchFamily="34" charset="-120"/>
              </a:rPr>
              <a:t>SERVICE MODEL</a:t>
            </a:r>
            <a:endParaRPr lang="en-US" sz="1160" dirty="0"/>
          </a:p>
        </p:txBody>
      </p:sp>
      <p:sp>
        <p:nvSpPr>
          <p:cNvPr id="25" name="Text 23"/>
          <p:cNvSpPr/>
          <p:nvPr/>
        </p:nvSpPr>
        <p:spPr>
          <a:xfrm>
            <a:off x="9189720" y="3199638"/>
            <a:ext cx="2203704" cy="769620"/>
          </a:xfrm>
          <a:prstGeom prst="rect">
            <a:avLst/>
          </a:prstGeom>
          <a:noFill/>
          <a:ln/>
        </p:spPr>
        <p:txBody>
          <a:bodyPr wrap="square" lIns="0" tIns="0" rIns="0" bIns="0" rtlCol="0" anchor="ctr">
            <a:normAutofit fontScale="100000" lnSpcReduction="0"/>
          </a:bodyPr>
          <a:lstStyle/>
          <a:p>
            <a:pPr indent="0" marL="0">
              <a:buNone/>
            </a:pPr>
            <a:r>
              <a:rPr lang="en-US" sz="4600" b="1" dirty="0">
                <a:solidFill>
                  <a:srgbClr val="FFFFFF"/>
                </a:solidFill>
                <a:latin typeface="Arial" pitchFamily="34" charset="0"/>
                <a:ea typeface="Arial" pitchFamily="34" charset="-122"/>
                <a:cs typeface="Arial" pitchFamily="34" charset="-120"/>
              </a:rPr>
              <a:t>18</a:t>
            </a:r>
            <a:endParaRPr lang="en-US" sz="4600" dirty="0"/>
          </a:p>
        </p:txBody>
      </p:sp>
      <p:sp>
        <p:nvSpPr>
          <p:cNvPr id="26" name="Text 24"/>
          <p:cNvSpPr/>
          <p:nvPr/>
        </p:nvSpPr>
        <p:spPr>
          <a:xfrm>
            <a:off x="9189720" y="4023360"/>
            <a:ext cx="2203704" cy="950976"/>
          </a:xfrm>
          <a:prstGeom prst="rect">
            <a:avLst/>
          </a:prstGeom>
          <a:noFill/>
          <a:ln/>
        </p:spPr>
        <p:txBody>
          <a:bodyPr wrap="square" lIns="0" tIns="0" rIns="0" bIns="0" rtlCol="0" anchor="ctr">
            <a:normAutofit fontScale="100000" lnSpcReduction="0"/>
          </a:bodyPr>
          <a:lstStyle/>
          <a:p>
            <a:pPr indent="0" marL="0">
              <a:buNone/>
            </a:pPr>
            <a:r>
              <a:rPr lang="en-US" sz="1574" dirty="0">
                <a:solidFill>
                  <a:srgbClr val="CCD1D2"/>
                </a:solidFill>
                <a:latin typeface="Arial" pitchFamily="34" charset="0"/>
                <a:ea typeface="Arial" pitchFamily="34" charset="-122"/>
                <a:cs typeface="Arial" pitchFamily="34" charset="-120"/>
              </a:rPr>
              <a:t>Distributors with an expected-volume capture basis.</a:t>
            </a:r>
            <a:endParaRPr lang="en-US" sz="1574" dirty="0"/>
          </a:p>
        </p:txBody>
      </p:sp>
      <p:sp>
        <p:nvSpPr>
          <p:cNvPr id="27" name="Shape 25"/>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28" name="Text 26"/>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Open source gaps: 5. Closed items: 4. Feed-staleness items: 4. Request the readable, current issue register.</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EDITORIAL CORRECTIONS</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What changed in the interpretation - and why.</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Source numbers are retained unless the arithmetic is explicit; unsupported causal statements are removed.</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review: BPR pp. 5-6, 10-17, 24, 26-31, 35-39. No hidden replacement with external data.</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EDITORIAL CORRECTIONS</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44</a:t>
            </a:r>
            <a:endParaRPr lang="en-US" sz="1050" dirty="0"/>
          </a:p>
        </p:txBody>
      </p:sp>
      <p:sp>
        <p:nvSpPr>
          <p:cNvPr id="11" name="Shape 9"/>
          <p:cNvSpPr/>
          <p:nvPr/>
        </p:nvSpPr>
        <p:spPr>
          <a:xfrm>
            <a:off x="594360" y="2368296"/>
            <a:ext cx="10981944" cy="393192"/>
          </a:xfrm>
          <a:prstGeom prst="rect">
            <a:avLst/>
          </a:prstGeom>
          <a:solidFill>
            <a:srgbClr val="24282C"/>
          </a:solidFill>
          <a:ln w="12700">
            <a:solidFill>
              <a:srgbClr val="24282C"/>
            </a:solidFill>
            <a:prstDash val="solid"/>
          </a:ln>
        </p:spPr>
        <p:txBody>
          <a:bodyPr/>
          <a:p/>
        </p:txBody>
      </p:sp>
      <p:sp>
        <p:nvSpPr>
          <p:cNvPr id="12" name="Text 10"/>
          <p:cNvSpPr/>
          <p:nvPr/>
        </p:nvSpPr>
        <p:spPr>
          <a:xfrm>
            <a:off x="704088" y="2455164"/>
            <a:ext cx="3511296"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SOURCE ISSUE</a:t>
            </a:r>
            <a:endParaRPr lang="en-US" sz="1080" dirty="0"/>
          </a:p>
        </p:txBody>
      </p:sp>
      <p:sp>
        <p:nvSpPr>
          <p:cNvPr id="13" name="Text 11"/>
          <p:cNvSpPr/>
          <p:nvPr/>
        </p:nvSpPr>
        <p:spPr>
          <a:xfrm>
            <a:off x="4434840" y="2455164"/>
            <a:ext cx="7031736" cy="283464"/>
          </a:xfrm>
          <a:prstGeom prst="rect">
            <a:avLst/>
          </a:prstGeom>
          <a:noFill/>
          <a:ln/>
        </p:spPr>
        <p:txBody>
          <a:bodyPr wrap="square" lIns="0" tIns="0" rIns="0" bIns="0" rtlCol="0" anchor="ctr">
            <a:normAutofit fontScale="100000" lnSpcReduction="0"/>
          </a:bodyPr>
          <a:lstStyle/>
          <a:p>
            <a:pPr indent="0" marL="0">
              <a:buNone/>
            </a:pPr>
            <a:r>
              <a:rPr lang="en-US" sz="1080" b="1" dirty="0">
                <a:solidFill>
                  <a:srgbClr val="FFFFFF"/>
                </a:solidFill>
                <a:latin typeface="Arial" pitchFamily="34" charset="0"/>
                <a:ea typeface="Arial" pitchFamily="34" charset="-122"/>
                <a:cs typeface="Arial" pitchFamily="34" charset="-120"/>
              </a:rPr>
              <a:t>TREATMENT IN THIS EDITION</a:t>
            </a:r>
            <a:endParaRPr lang="en-US" sz="1080" dirty="0"/>
          </a:p>
        </p:txBody>
      </p:sp>
      <p:sp>
        <p:nvSpPr>
          <p:cNvPr id="14" name="Shape 12"/>
          <p:cNvSpPr/>
          <p:nvPr/>
        </p:nvSpPr>
        <p:spPr>
          <a:xfrm>
            <a:off x="594360" y="2761488"/>
            <a:ext cx="10981944" cy="466344"/>
          </a:xfrm>
          <a:prstGeom prst="rect">
            <a:avLst/>
          </a:prstGeom>
          <a:solidFill>
            <a:srgbClr val="FFFFFF"/>
          </a:solidFill>
          <a:ln w="12700">
            <a:solidFill>
              <a:srgbClr val="FFFFFF"/>
            </a:solidFill>
            <a:prstDash val="solid"/>
          </a:ln>
        </p:spPr>
        <p:txBody>
          <a:bodyPr/>
          <a:p/>
        </p:txBody>
      </p:sp>
      <p:sp>
        <p:nvSpPr>
          <p:cNvPr id="15" name="Text 13"/>
          <p:cNvSpPr/>
          <p:nvPr/>
        </p:nvSpPr>
        <p:spPr>
          <a:xfrm>
            <a:off x="704088" y="2848356"/>
            <a:ext cx="3511296" cy="347472"/>
          </a:xfrm>
          <a:prstGeom prst="rect">
            <a:avLst/>
          </a:prstGeom>
          <a:noFill/>
          <a:ln/>
        </p:spPr>
        <p:txBody>
          <a:bodyPr wrap="square" lIns="0" tIns="0" rIns="0" bIns="0" rtlCol="0" anchor="ctr">
            <a:normAutofit fontScale="100000" lnSpcReduction="0"/>
          </a:bodyPr>
          <a:lstStyle/>
          <a:p>
            <a:pPr indent="0" marL="0">
              <a:buNone/>
            </a:pPr>
            <a:r>
              <a:rPr lang="en-US" sz="1350" b="1" dirty="0">
                <a:solidFill>
                  <a:srgbClr val="24282C"/>
                </a:solidFill>
                <a:latin typeface="Arial" pitchFamily="34" charset="0"/>
                <a:ea typeface="Arial" pitchFamily="34" charset="-122"/>
                <a:cs typeface="Arial" pitchFamily="34" charset="-120"/>
              </a:rPr>
              <a:t>ITUK + IUK described as one fifth</a:t>
            </a:r>
            <a:endParaRPr lang="en-US" sz="1350" dirty="0"/>
          </a:p>
        </p:txBody>
      </p:sp>
      <p:sp>
        <p:nvSpPr>
          <p:cNvPr id="16" name="Text 14"/>
          <p:cNvSpPr/>
          <p:nvPr/>
        </p:nvSpPr>
        <p:spPr>
          <a:xfrm>
            <a:off x="4434840" y="2848356"/>
            <a:ext cx="7031736" cy="347472"/>
          </a:xfrm>
          <a:prstGeom prst="rect">
            <a:avLst/>
          </a:prstGeom>
          <a:noFill/>
          <a:ln/>
        </p:spPr>
        <p:txBody>
          <a:bodyPr wrap="square" lIns="0" tIns="0" rIns="0" bIns="0" rtlCol="0" anchor="ctr">
            <a:normAutofit fontScale="100000" lnSpcReduction="0"/>
          </a:bodyPr>
          <a:lstStyle/>
          <a:p>
            <a:pPr indent="0" marL="0">
              <a:buNone/>
            </a:pPr>
            <a:r>
              <a:rPr lang="en-US" sz="1350" dirty="0">
                <a:solidFill>
                  <a:srgbClr val="626B72"/>
                </a:solidFill>
                <a:latin typeface="Arial" pitchFamily="34" charset="0"/>
                <a:ea typeface="Arial" pitchFamily="34" charset="-122"/>
                <a:cs typeface="Arial" pitchFamily="34" charset="-120"/>
              </a:rPr>
              <a:t>39.9% from printed annual billing; correction disclosed.</a:t>
            </a:r>
            <a:endParaRPr lang="en-US" sz="1350" dirty="0"/>
          </a:p>
        </p:txBody>
      </p:sp>
      <p:sp>
        <p:nvSpPr>
          <p:cNvPr id="17" name="Shape 15"/>
          <p:cNvSpPr/>
          <p:nvPr/>
        </p:nvSpPr>
        <p:spPr>
          <a:xfrm>
            <a:off x="594360" y="3227832"/>
            <a:ext cx="10981944" cy="466344"/>
          </a:xfrm>
          <a:prstGeom prst="rect">
            <a:avLst/>
          </a:prstGeom>
          <a:solidFill>
            <a:srgbClr val="EEEDEA"/>
          </a:solidFill>
          <a:ln w="12700">
            <a:solidFill>
              <a:srgbClr val="EEEDEA"/>
            </a:solidFill>
            <a:prstDash val="solid"/>
          </a:ln>
        </p:spPr>
        <p:txBody>
          <a:bodyPr/>
          <a:p/>
        </p:txBody>
      </p:sp>
      <p:sp>
        <p:nvSpPr>
          <p:cNvPr id="18" name="Text 16"/>
          <p:cNvSpPr/>
          <p:nvPr/>
        </p:nvSpPr>
        <p:spPr>
          <a:xfrm>
            <a:off x="704088" y="3314700"/>
            <a:ext cx="3511296" cy="347472"/>
          </a:xfrm>
          <a:prstGeom prst="rect">
            <a:avLst/>
          </a:prstGeom>
          <a:noFill/>
          <a:ln/>
        </p:spPr>
        <p:txBody>
          <a:bodyPr wrap="square" lIns="0" tIns="0" rIns="0" bIns="0" rtlCol="0" anchor="ctr">
            <a:normAutofit fontScale="100000" lnSpcReduction="0"/>
          </a:bodyPr>
          <a:lstStyle/>
          <a:p>
            <a:pPr indent="0" marL="0">
              <a:buNone/>
            </a:pPr>
            <a:r>
              <a:rPr lang="en-US" sz="1350" b="1" dirty="0">
                <a:solidFill>
                  <a:srgbClr val="24282C"/>
                </a:solidFill>
                <a:latin typeface="Arial" pitchFamily="34" charset="0"/>
                <a:ea typeface="Arial" pitchFamily="34" charset="-122"/>
                <a:cs typeface="Arial" pitchFamily="34" charset="-120"/>
              </a:rPr>
              <a:t>29.69 M€ ceiling gap</a:t>
            </a:r>
            <a:endParaRPr lang="en-US" sz="1350" dirty="0"/>
          </a:p>
        </p:txBody>
      </p:sp>
      <p:sp>
        <p:nvSpPr>
          <p:cNvPr id="19" name="Text 17"/>
          <p:cNvSpPr/>
          <p:nvPr/>
        </p:nvSpPr>
        <p:spPr>
          <a:xfrm>
            <a:off x="4434840" y="3314700"/>
            <a:ext cx="7031736" cy="347472"/>
          </a:xfrm>
          <a:prstGeom prst="rect">
            <a:avLst/>
          </a:prstGeom>
          <a:noFill/>
          <a:ln/>
        </p:spPr>
        <p:txBody>
          <a:bodyPr wrap="square" lIns="0" tIns="0" rIns="0" bIns="0" rtlCol="0" anchor="ctr">
            <a:normAutofit fontScale="100000" lnSpcReduction="0"/>
          </a:bodyPr>
          <a:lstStyle/>
          <a:p>
            <a:pPr indent="0" marL="0">
              <a:buNone/>
            </a:pPr>
            <a:r>
              <a:rPr lang="en-US" sz="1350" dirty="0">
                <a:solidFill>
                  <a:srgbClr val="626B72"/>
                </a:solidFill>
                <a:latin typeface="Arial" pitchFamily="34" charset="0"/>
                <a:ea typeface="Arial" pitchFamily="34" charset="-122"/>
                <a:cs typeface="Arial" pitchFamily="34" charset="-120"/>
              </a:rPr>
              <a:t>29.46 M€ arithmetic differs by 0.23 M€; unresolved.</a:t>
            </a:r>
            <a:endParaRPr lang="en-US" sz="1350" dirty="0"/>
          </a:p>
        </p:txBody>
      </p:sp>
      <p:sp>
        <p:nvSpPr>
          <p:cNvPr id="20" name="Shape 18"/>
          <p:cNvSpPr/>
          <p:nvPr/>
        </p:nvSpPr>
        <p:spPr>
          <a:xfrm>
            <a:off x="594360" y="3694176"/>
            <a:ext cx="10981944" cy="466344"/>
          </a:xfrm>
          <a:prstGeom prst="rect">
            <a:avLst/>
          </a:prstGeom>
          <a:solidFill>
            <a:srgbClr val="FFFFFF"/>
          </a:solidFill>
          <a:ln w="12700">
            <a:solidFill>
              <a:srgbClr val="FFFFFF"/>
            </a:solidFill>
            <a:prstDash val="solid"/>
          </a:ln>
        </p:spPr>
        <p:txBody>
          <a:bodyPr/>
          <a:p/>
        </p:txBody>
      </p:sp>
      <p:sp>
        <p:nvSpPr>
          <p:cNvPr id="21" name="Text 19"/>
          <p:cNvSpPr/>
          <p:nvPr/>
        </p:nvSpPr>
        <p:spPr>
          <a:xfrm>
            <a:off x="704088" y="3781044"/>
            <a:ext cx="3511296" cy="347472"/>
          </a:xfrm>
          <a:prstGeom prst="rect">
            <a:avLst/>
          </a:prstGeom>
          <a:noFill/>
          <a:ln/>
        </p:spPr>
        <p:txBody>
          <a:bodyPr wrap="square" lIns="0" tIns="0" rIns="0" bIns="0" rtlCol="0" anchor="ctr">
            <a:normAutofit fontScale="100000" lnSpcReduction="0"/>
          </a:bodyPr>
          <a:lstStyle/>
          <a:p>
            <a:pPr indent="0" marL="0">
              <a:buNone/>
            </a:pPr>
            <a:r>
              <a:rPr lang="en-US" sz="1350" b="1" dirty="0">
                <a:solidFill>
                  <a:srgbClr val="24282C"/>
                </a:solidFill>
                <a:latin typeface="Arial" pitchFamily="34" charset="0"/>
                <a:ea typeface="Arial" pitchFamily="34" charset="-122"/>
                <a:cs typeface="Arial" pitchFamily="34" charset="-120"/>
              </a:rPr>
              <a:t>65.9% versus 47.5% called stock</a:t>
            </a:r>
            <a:endParaRPr lang="en-US" sz="1350" dirty="0"/>
          </a:p>
        </p:txBody>
      </p:sp>
      <p:sp>
        <p:nvSpPr>
          <p:cNvPr id="22" name="Text 20"/>
          <p:cNvSpPr/>
          <p:nvPr/>
        </p:nvSpPr>
        <p:spPr>
          <a:xfrm>
            <a:off x="4434840" y="3781044"/>
            <a:ext cx="7031736" cy="347472"/>
          </a:xfrm>
          <a:prstGeom prst="rect">
            <a:avLst/>
          </a:prstGeom>
          <a:noFill/>
          <a:ln/>
        </p:spPr>
        <p:txBody>
          <a:bodyPr wrap="square" lIns="0" tIns="0" rIns="0" bIns="0" rtlCol="0" anchor="ctr">
            <a:normAutofit fontScale="100000" lnSpcReduction="0"/>
          </a:bodyPr>
          <a:lstStyle/>
          <a:p>
            <a:pPr indent="0" marL="0">
              <a:buNone/>
            </a:pPr>
            <a:r>
              <a:rPr lang="en-US" sz="1350" dirty="0">
                <a:solidFill>
                  <a:srgbClr val="626B72"/>
                </a:solidFill>
                <a:latin typeface="Arial" pitchFamily="34" charset="0"/>
                <a:ea typeface="Arial" pitchFamily="34" charset="-122"/>
                <a:cs typeface="Arial" pitchFamily="34" charset="-120"/>
              </a:rPr>
              <a:t>Retained as two stage-specific rates; no inventory claim.</a:t>
            </a:r>
            <a:endParaRPr lang="en-US" sz="1350" dirty="0"/>
          </a:p>
        </p:txBody>
      </p:sp>
      <p:sp>
        <p:nvSpPr>
          <p:cNvPr id="23" name="Shape 21"/>
          <p:cNvSpPr/>
          <p:nvPr/>
        </p:nvSpPr>
        <p:spPr>
          <a:xfrm>
            <a:off x="594360" y="4160520"/>
            <a:ext cx="10981944" cy="466344"/>
          </a:xfrm>
          <a:prstGeom prst="rect">
            <a:avLst/>
          </a:prstGeom>
          <a:solidFill>
            <a:srgbClr val="EEEDEA"/>
          </a:solidFill>
          <a:ln w="12700">
            <a:solidFill>
              <a:srgbClr val="EEEDEA"/>
            </a:solidFill>
            <a:prstDash val="solid"/>
          </a:ln>
        </p:spPr>
        <p:txBody>
          <a:bodyPr/>
          <a:p/>
        </p:txBody>
      </p:sp>
      <p:sp>
        <p:nvSpPr>
          <p:cNvPr id="24" name="Text 22"/>
          <p:cNvSpPr/>
          <p:nvPr/>
        </p:nvSpPr>
        <p:spPr>
          <a:xfrm>
            <a:off x="704088" y="4247388"/>
            <a:ext cx="3511296" cy="347472"/>
          </a:xfrm>
          <a:prstGeom prst="rect">
            <a:avLst/>
          </a:prstGeom>
          <a:noFill/>
          <a:ln/>
        </p:spPr>
        <p:txBody>
          <a:bodyPr wrap="square" lIns="0" tIns="0" rIns="0" bIns="0" rtlCol="0" anchor="ctr">
            <a:normAutofit fontScale="100000" lnSpcReduction="0"/>
          </a:bodyPr>
          <a:lstStyle/>
          <a:p>
            <a:pPr indent="0" marL="0">
              <a:buNone/>
            </a:pPr>
            <a:r>
              <a:rPr lang="en-US" sz="1350" b="1" dirty="0">
                <a:solidFill>
                  <a:srgbClr val="24282C"/>
                </a:solidFill>
                <a:latin typeface="Arial" pitchFamily="34" charset="0"/>
                <a:ea typeface="Arial" pitchFamily="34" charset="-122"/>
                <a:cs typeface="Arial" pitchFamily="34" charset="-120"/>
              </a:rPr>
              <a:t>Old KPI values read as current</a:t>
            </a:r>
            <a:endParaRPr lang="en-US" sz="1350" dirty="0"/>
          </a:p>
        </p:txBody>
      </p:sp>
      <p:sp>
        <p:nvSpPr>
          <p:cNvPr id="25" name="Text 23"/>
          <p:cNvSpPr/>
          <p:nvPr/>
        </p:nvSpPr>
        <p:spPr>
          <a:xfrm>
            <a:off x="4434840" y="4247388"/>
            <a:ext cx="7031736" cy="347472"/>
          </a:xfrm>
          <a:prstGeom prst="rect">
            <a:avLst/>
          </a:prstGeom>
          <a:noFill/>
          <a:ln/>
        </p:spPr>
        <p:txBody>
          <a:bodyPr wrap="square" lIns="0" tIns="0" rIns="0" bIns="0" rtlCol="0" anchor="ctr">
            <a:normAutofit fontScale="100000" lnSpcReduction="0"/>
          </a:bodyPr>
          <a:lstStyle/>
          <a:p>
            <a:pPr indent="0" marL="0">
              <a:buNone/>
            </a:pPr>
            <a:r>
              <a:rPr lang="en-US" sz="1350" dirty="0">
                <a:solidFill>
                  <a:srgbClr val="626B72"/>
                </a:solidFill>
                <a:latin typeface="Arial" pitchFamily="34" charset="0"/>
                <a:ea typeface="Arial" pitchFamily="34" charset="-122"/>
                <a:cs typeface="Arial" pitchFamily="34" charset="-120"/>
              </a:rPr>
              <a:t>Historical labels; absent reporting months remain unknown.</a:t>
            </a:r>
            <a:endParaRPr lang="en-US" sz="1350" dirty="0"/>
          </a:p>
        </p:txBody>
      </p:sp>
      <p:sp>
        <p:nvSpPr>
          <p:cNvPr id="26" name="Shape 24"/>
          <p:cNvSpPr/>
          <p:nvPr/>
        </p:nvSpPr>
        <p:spPr>
          <a:xfrm>
            <a:off x="594360" y="4626864"/>
            <a:ext cx="10981944" cy="466344"/>
          </a:xfrm>
          <a:prstGeom prst="rect">
            <a:avLst/>
          </a:prstGeom>
          <a:solidFill>
            <a:srgbClr val="FFFFFF"/>
          </a:solidFill>
          <a:ln w="12700">
            <a:solidFill>
              <a:srgbClr val="FFFFFF"/>
            </a:solidFill>
            <a:prstDash val="solid"/>
          </a:ln>
        </p:spPr>
        <p:txBody>
          <a:bodyPr/>
          <a:p/>
        </p:txBody>
      </p:sp>
      <p:sp>
        <p:nvSpPr>
          <p:cNvPr id="27" name="Text 25"/>
          <p:cNvSpPr/>
          <p:nvPr/>
        </p:nvSpPr>
        <p:spPr>
          <a:xfrm>
            <a:off x="704088" y="4713732"/>
            <a:ext cx="3511296" cy="347472"/>
          </a:xfrm>
          <a:prstGeom prst="rect">
            <a:avLst/>
          </a:prstGeom>
          <a:noFill/>
          <a:ln/>
        </p:spPr>
        <p:txBody>
          <a:bodyPr wrap="square" lIns="0" tIns="0" rIns="0" bIns="0" rtlCol="0" anchor="ctr">
            <a:normAutofit fontScale="100000" lnSpcReduction="0"/>
          </a:bodyPr>
          <a:lstStyle/>
          <a:p>
            <a:pPr indent="0" marL="0">
              <a:buNone/>
            </a:pPr>
            <a:r>
              <a:rPr lang="en-US" sz="1350" b="1" dirty="0">
                <a:solidFill>
                  <a:srgbClr val="24282C"/>
                </a:solidFill>
                <a:latin typeface="Arial" pitchFamily="34" charset="0"/>
                <a:ea typeface="Arial" pitchFamily="34" charset="-122"/>
                <a:cs typeface="Arial" pitchFamily="34" charset="-120"/>
              </a:rPr>
              <a:t>IDS described as audits</a:t>
            </a:r>
            <a:endParaRPr lang="en-US" sz="1350" dirty="0"/>
          </a:p>
        </p:txBody>
      </p:sp>
      <p:sp>
        <p:nvSpPr>
          <p:cNvPr id="28" name="Text 26"/>
          <p:cNvSpPr/>
          <p:nvPr/>
        </p:nvSpPr>
        <p:spPr>
          <a:xfrm>
            <a:off x="4434840" y="4713732"/>
            <a:ext cx="7031736" cy="347472"/>
          </a:xfrm>
          <a:prstGeom prst="rect">
            <a:avLst/>
          </a:prstGeom>
          <a:noFill/>
          <a:ln/>
        </p:spPr>
        <p:txBody>
          <a:bodyPr wrap="square" lIns="0" tIns="0" rIns="0" bIns="0" rtlCol="0" anchor="ctr">
            <a:normAutofit fontScale="100000" lnSpcReduction="0"/>
          </a:bodyPr>
          <a:lstStyle/>
          <a:p>
            <a:pPr indent="0" marL="0">
              <a:buNone/>
            </a:pPr>
            <a:r>
              <a:rPr lang="en-US" sz="1350" dirty="0">
                <a:solidFill>
                  <a:srgbClr val="626B72"/>
                </a:solidFill>
                <a:latin typeface="Arial" pitchFamily="34" charset="0"/>
                <a:ea typeface="Arial" pitchFamily="34" charset="-122"/>
                <a:cs typeface="Arial" pitchFamily="34" charset="-120"/>
              </a:rPr>
              <a:t>Dealer self-assessment; scoring and mapping caveats retained.</a:t>
            </a:r>
            <a:endParaRPr lang="en-US" sz="1350" dirty="0"/>
          </a:p>
        </p:txBody>
      </p:sp>
      <p:sp>
        <p:nvSpPr>
          <p:cNvPr id="29" name="Shape 27"/>
          <p:cNvSpPr/>
          <p:nvPr/>
        </p:nvSpPr>
        <p:spPr>
          <a:xfrm>
            <a:off x="594360" y="5093208"/>
            <a:ext cx="10981944" cy="466344"/>
          </a:xfrm>
          <a:prstGeom prst="rect">
            <a:avLst/>
          </a:prstGeom>
          <a:solidFill>
            <a:srgbClr val="EEEDEA"/>
          </a:solidFill>
          <a:ln w="12700">
            <a:solidFill>
              <a:srgbClr val="EEEDEA"/>
            </a:solidFill>
            <a:prstDash val="solid"/>
          </a:ln>
        </p:spPr>
        <p:txBody>
          <a:bodyPr/>
          <a:p/>
        </p:txBody>
      </p:sp>
      <p:sp>
        <p:nvSpPr>
          <p:cNvPr id="30" name="Text 28"/>
          <p:cNvSpPr/>
          <p:nvPr/>
        </p:nvSpPr>
        <p:spPr>
          <a:xfrm>
            <a:off x="704088" y="5180076"/>
            <a:ext cx="3511296" cy="347472"/>
          </a:xfrm>
          <a:prstGeom prst="rect">
            <a:avLst/>
          </a:prstGeom>
          <a:noFill/>
          <a:ln/>
        </p:spPr>
        <p:txBody>
          <a:bodyPr wrap="square" lIns="0" tIns="0" rIns="0" bIns="0" rtlCol="0" anchor="ctr">
            <a:normAutofit fontScale="100000" lnSpcReduction="0"/>
          </a:bodyPr>
          <a:lstStyle/>
          <a:p>
            <a:pPr indent="0" marL="0">
              <a:buNone/>
            </a:pPr>
            <a:r>
              <a:rPr lang="en-US" sz="1350" b="1" dirty="0">
                <a:solidFill>
                  <a:srgbClr val="24282C"/>
                </a:solidFill>
                <a:latin typeface="Arial" pitchFamily="34" charset="0"/>
                <a:ea typeface="Arial" pitchFamily="34" charset="-122"/>
                <a:cs typeface="Arial" pitchFamily="34" charset="-120"/>
              </a:rPr>
              <a:t>Warranty treated as subtractable sales</a:t>
            </a:r>
            <a:endParaRPr lang="en-US" sz="1350" dirty="0"/>
          </a:p>
        </p:txBody>
      </p:sp>
      <p:sp>
        <p:nvSpPr>
          <p:cNvPr id="31" name="Text 29"/>
          <p:cNvSpPr/>
          <p:nvPr/>
        </p:nvSpPr>
        <p:spPr>
          <a:xfrm>
            <a:off x="4434840" y="5180076"/>
            <a:ext cx="7031736" cy="347472"/>
          </a:xfrm>
          <a:prstGeom prst="rect">
            <a:avLst/>
          </a:prstGeom>
          <a:noFill/>
          <a:ln/>
        </p:spPr>
        <p:txBody>
          <a:bodyPr wrap="square" lIns="0" tIns="0" rIns="0" bIns="0" rtlCol="0" anchor="ctr">
            <a:normAutofit fontScale="100000" lnSpcReduction="0"/>
          </a:bodyPr>
          <a:lstStyle/>
          <a:p>
            <a:pPr indent="0" marL="0">
              <a:buNone/>
            </a:pPr>
            <a:r>
              <a:rPr lang="en-US" sz="1350" dirty="0">
                <a:solidFill>
                  <a:srgbClr val="626B72"/>
                </a:solidFill>
                <a:latin typeface="Arial" pitchFamily="34" charset="0"/>
                <a:ea typeface="Arial" pitchFamily="34" charset="-122"/>
                <a:cs typeface="Arial" pitchFamily="34" charset="-120"/>
              </a:rPr>
              <a:t>Source values retained; require period, value and invoice linkage.</a:t>
            </a:r>
            <a:endParaRPr lang="en-US" sz="1350" dirty="0"/>
          </a:p>
        </p:txBody>
      </p:sp>
      <p:sp>
        <p:nvSpPr>
          <p:cNvPr id="32" name="Shape 30"/>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3" name="Text 31"/>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The review is stronger when the measured signal is separated from the explanation that still needs evidence.</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02920" y="338328"/>
            <a:ext cx="429768" cy="64008"/>
          </a:xfrm>
          <a:prstGeom prst="rect">
            <a:avLst/>
          </a:prstGeom>
          <a:solidFill>
            <a:srgbClr val="E30613"/>
          </a:solidFill>
          <a:ln w="12700">
            <a:solidFill>
              <a:srgbClr val="E30613"/>
            </a:solidFill>
            <a:prstDash val="solid"/>
          </a:ln>
        </p:spPr>
        <p:txBody>
          <a:bodyPr/>
          <a:p/>
        </p:txBody>
      </p:sp>
      <p:sp>
        <p:nvSpPr>
          <p:cNvPr id="3" name="Text 1"/>
          <p:cNvSpPr/>
          <p:nvPr/>
        </p:nvSpPr>
        <p:spPr>
          <a:xfrm>
            <a:off x="1033272" y="256032"/>
            <a:ext cx="8229600" cy="228600"/>
          </a:xfrm>
          <a:prstGeom prst="rect">
            <a:avLst/>
          </a:prstGeom>
          <a:noFill/>
          <a:ln/>
        </p:spPr>
        <p:txBody>
          <a:bodyPr wrap="square" lIns="0" tIns="0" rIns="0" bIns="0" rtlCol="0" anchor="ctr">
            <a:normAutofit fontScale="100000" lnSpcReduction="0"/>
          </a:bodyPr>
          <a:lstStyle/>
          <a:p>
            <a:pPr indent="0" marL="0">
              <a:buNone/>
            </a:pPr>
            <a:r>
              <a:rPr lang="en-US" sz="1050" b="1" spc="190" kern="0" dirty="0">
                <a:solidFill>
                  <a:srgbClr val="626B72"/>
                </a:solidFill>
                <a:latin typeface="Arial" pitchFamily="34" charset="0"/>
                <a:ea typeface="Arial" pitchFamily="34" charset="-122"/>
                <a:cs typeface="Arial" pitchFamily="34" charset="-120"/>
              </a:rPr>
              <a:t>APPENDIX | SOURCE REGISTER</a:t>
            </a:r>
            <a:endParaRPr lang="en-US" sz="1050" dirty="0"/>
          </a:p>
        </p:txBody>
      </p:sp>
      <p:sp>
        <p:nvSpPr>
          <p:cNvPr id="4" name="Text 2"/>
          <p:cNvSpPr/>
          <p:nvPr/>
        </p:nvSpPr>
        <p:spPr>
          <a:xfrm>
            <a:off x="502920" y="740664"/>
            <a:ext cx="11137392" cy="996696"/>
          </a:xfrm>
          <a:prstGeom prst="rect">
            <a:avLst/>
          </a:prstGeom>
          <a:noFill/>
          <a:ln/>
        </p:spPr>
        <p:txBody>
          <a:bodyPr wrap="square" lIns="0" tIns="0" rIns="0" bIns="0" rtlCol="0" anchor="ctr">
            <a:normAutofit fontScale="100000" lnSpcReduction="0"/>
          </a:bodyPr>
          <a:lstStyle/>
          <a:p>
            <a:pPr indent="0" marL="0">
              <a:buNone/>
            </a:pPr>
            <a:r>
              <a:rPr lang="en-US" sz="3050" b="1" dirty="0">
                <a:solidFill>
                  <a:srgbClr val="24282C"/>
                </a:solidFill>
                <a:latin typeface="Arial" pitchFamily="34" charset="0"/>
                <a:ea typeface="Arial" pitchFamily="34" charset="-122"/>
                <a:cs typeface="Arial" pitchFamily="34" charset="-120"/>
              </a:rPr>
              <a:t>A redesigned review - not a re-run of the underlying data model.</a:t>
            </a:r>
            <a:endParaRPr lang="en-US" sz="3050" dirty="0"/>
          </a:p>
        </p:txBody>
      </p:sp>
      <p:sp>
        <p:nvSpPr>
          <p:cNvPr id="5" name="Text 3"/>
          <p:cNvSpPr/>
          <p:nvPr/>
        </p:nvSpPr>
        <p:spPr>
          <a:xfrm>
            <a:off x="521208" y="1783080"/>
            <a:ext cx="10991088" cy="448056"/>
          </a:xfrm>
          <a:prstGeom prst="rect">
            <a:avLst/>
          </a:prstGeom>
          <a:noFill/>
          <a:ln/>
        </p:spPr>
        <p:txBody>
          <a:bodyPr wrap="square" lIns="0" tIns="0" rIns="0" bIns="0" rtlCol="0" anchor="ctr">
            <a:normAutofit fontScale="100000" lnSpcReduction="0"/>
          </a:bodyPr>
          <a:lstStyle/>
          <a:p>
            <a:pPr indent="0" marL="0">
              <a:buNone/>
            </a:pPr>
            <a:r>
              <a:rPr lang="en-US" sz="1700" dirty="0">
                <a:solidFill>
                  <a:srgbClr val="626B72"/>
                </a:solidFill>
                <a:latin typeface="Arial" pitchFamily="34" charset="0"/>
                <a:ea typeface="Arial" pitchFamily="34" charset="-122"/>
                <a:cs typeface="Arial" pitchFamily="34" charset="-120"/>
              </a:rPr>
              <a:t>Two supplied presentations provide the numerical evidence and design basis.</a:t>
            </a:r>
            <a:endParaRPr lang="en-US" sz="1700" dirty="0"/>
          </a:p>
        </p:txBody>
      </p:sp>
      <p:sp>
        <p:nvSpPr>
          <p:cNvPr id="6" name="Text 4"/>
          <p:cNvSpPr/>
          <p:nvPr/>
        </p:nvSpPr>
        <p:spPr>
          <a:xfrm>
            <a:off x="521208" y="6153912"/>
            <a:ext cx="11045952" cy="210312"/>
          </a:xfrm>
          <a:prstGeom prst="rect">
            <a:avLst/>
          </a:prstGeom>
          <a:noFill/>
          <a:ln/>
        </p:spPr>
        <p:txBody>
          <a:bodyPr wrap="square" lIns="0" tIns="0" rIns="0" bIns="0" rtlCol="0" anchor="ctr">
            <a:normAutofit fontScale="100000" lnSpcReduction="0"/>
          </a:bodyPr>
          <a:lstStyle/>
          <a:p>
            <a:pPr indent="0" marL="0">
              <a:buNone/>
            </a:pPr>
            <a:r>
              <a:rPr lang="en-US" sz="820" dirty="0">
                <a:solidFill>
                  <a:srgbClr val="626B72"/>
                </a:solidFill>
                <a:latin typeface="Arial" pitchFamily="34" charset="0"/>
                <a:ea typeface="Arial" pitchFamily="34" charset="-122"/>
                <a:cs typeface="Arial" pitchFamily="34" charset="-120"/>
              </a:rPr>
              <a:t>Source files: ISZE_Business_Performance_Review_2026.pptx; ISZE_AIM_Management_20_Slides_2026-09-21.pptx.</a:t>
            </a:r>
            <a:endParaRPr lang="en-US" sz="820" dirty="0"/>
          </a:p>
        </p:txBody>
      </p:sp>
      <p:sp>
        <p:nvSpPr>
          <p:cNvPr id="7" name="Shape 5"/>
          <p:cNvSpPr/>
          <p:nvPr/>
        </p:nvSpPr>
        <p:spPr>
          <a:xfrm>
            <a:off x="502920" y="6409944"/>
            <a:ext cx="11183112" cy="0"/>
          </a:xfrm>
          <a:prstGeom prst="line">
            <a:avLst/>
          </a:prstGeom>
          <a:noFill/>
          <a:ln w="7620">
            <a:solidFill>
              <a:srgbClr val="D9DCDA"/>
            </a:solidFill>
            <a:prstDash val="solid"/>
          </a:ln>
        </p:spPr>
        <p:txBody>
          <a:bodyPr/>
          <a:p/>
        </p:txBody>
      </p:sp>
      <p:sp>
        <p:nvSpPr>
          <p:cNvPr id="8" name="Text 6"/>
          <p:cNvSpPr/>
          <p:nvPr/>
        </p:nvSpPr>
        <p:spPr>
          <a:xfrm>
            <a:off x="502920" y="6501384"/>
            <a:ext cx="1024128" cy="192024"/>
          </a:xfrm>
          <a:prstGeom prst="rect">
            <a:avLst/>
          </a:prstGeom>
          <a:noFill/>
          <a:ln/>
        </p:spPr>
        <p:txBody>
          <a:bodyPr wrap="square" lIns="0" tIns="0" rIns="0" bIns="0" rtlCol="0" anchor="ctr">
            <a:normAutofit fontScale="100000" lnSpcReduction="0"/>
          </a:bodyPr>
          <a:lstStyle/>
          <a:p>
            <a:pPr indent="0" marL="0">
              <a:buNone/>
            </a:pPr>
            <a:r>
              <a:rPr lang="en-US" sz="1100" b="1" spc="17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505956"/>
            <a:ext cx="8915400" cy="173736"/>
          </a:xfrm>
          <a:prstGeom prst="rect">
            <a:avLst/>
          </a:prstGeom>
          <a:noFill/>
          <a:ln/>
        </p:spPr>
        <p:txBody>
          <a:bodyPr wrap="square" lIns="0" tIns="0" rIns="0" bIns="0" rtlCol="0" anchor="ctr">
            <a:normAutofit fontScale="100000" lnSpcReduction="0"/>
          </a:bodyPr>
          <a:lstStyle/>
          <a:p>
            <a:pPr indent="0" marL="0">
              <a:buNone/>
            </a:pPr>
            <a:r>
              <a:rPr lang="en-US" sz="810" spc="120" kern="0" dirty="0">
                <a:solidFill>
                  <a:srgbClr val="626B72"/>
                </a:solidFill>
                <a:latin typeface="Arial" pitchFamily="34" charset="0"/>
                <a:ea typeface="Arial" pitchFamily="34" charset="-122"/>
                <a:cs typeface="Arial" pitchFamily="34" charset="-120"/>
              </a:rPr>
              <a:t>EUROPE  /  BUSINESS PERFORMANCE  /  APPENDIX | SOURCE REGISTER</a:t>
            </a:r>
            <a:endParaRPr lang="en-US" sz="810" dirty="0"/>
          </a:p>
        </p:txBody>
      </p:sp>
      <p:sp>
        <p:nvSpPr>
          <p:cNvPr id="10" name="Text 8"/>
          <p:cNvSpPr/>
          <p:nvPr/>
        </p:nvSpPr>
        <p:spPr>
          <a:xfrm>
            <a:off x="11256264" y="6473952"/>
            <a:ext cx="429768" cy="210312"/>
          </a:xfrm>
          <a:prstGeom prst="rect">
            <a:avLst/>
          </a:prstGeom>
          <a:noFill/>
          <a:ln/>
        </p:spPr>
        <p:txBody>
          <a:bodyPr wrap="square" lIns="0" tIns="0" rIns="0" bIns="0" rtlCol="0" anchor="ctr">
            <a:normAutofit fontScale="100000" lnSpcReduction="0"/>
          </a:bodyPr>
          <a:lstStyle/>
          <a:p>
            <a:pPr algn="r" indent="0" marL="0">
              <a:buNone/>
            </a:pPr>
            <a:r>
              <a:rPr lang="en-US" sz="1050" b="1" dirty="0">
                <a:solidFill>
                  <a:srgbClr val="24282C"/>
                </a:solidFill>
                <a:latin typeface="Arial" pitchFamily="34" charset="0"/>
                <a:ea typeface="Arial" pitchFamily="34" charset="-122"/>
                <a:cs typeface="Arial" pitchFamily="34" charset="-120"/>
              </a:rPr>
              <a:t>45</a:t>
            </a:r>
            <a:endParaRPr lang="en-US" sz="1050" dirty="0"/>
          </a:p>
        </p:txBody>
      </p:sp>
      <p:sp>
        <p:nvSpPr>
          <p:cNvPr id="11" name="Shape 9"/>
          <p:cNvSpPr/>
          <p:nvPr/>
        </p:nvSpPr>
        <p:spPr>
          <a:xfrm>
            <a:off x="603504" y="2359152"/>
            <a:ext cx="10981944" cy="393192"/>
          </a:xfrm>
          <a:prstGeom prst="rect">
            <a:avLst/>
          </a:prstGeom>
          <a:solidFill>
            <a:srgbClr val="24282C"/>
          </a:solidFill>
          <a:ln w="12700">
            <a:solidFill>
              <a:srgbClr val="24282C"/>
            </a:solidFill>
            <a:prstDash val="solid"/>
          </a:ln>
        </p:spPr>
        <p:txBody>
          <a:bodyPr/>
          <a:p/>
        </p:txBody>
      </p:sp>
      <p:sp>
        <p:nvSpPr>
          <p:cNvPr id="12" name="Text 10"/>
          <p:cNvSpPr/>
          <p:nvPr/>
        </p:nvSpPr>
        <p:spPr>
          <a:xfrm>
            <a:off x="713232" y="2446020"/>
            <a:ext cx="2578608" cy="283464"/>
          </a:xfrm>
          <a:prstGeom prst="rect">
            <a:avLst/>
          </a:prstGeom>
          <a:noFill/>
          <a:ln/>
        </p:spPr>
        <p:txBody>
          <a:bodyPr wrap="square" lIns="0" tIns="0" rIns="0" bIns="0" rtlCol="0" anchor="ctr">
            <a:normAutofit fontScale="100000" lnSpcReduction="0"/>
          </a:bodyPr>
          <a:lstStyle/>
          <a:p>
            <a:pPr indent="0" marL="0">
              <a:buNone/>
            </a:pPr>
            <a:r>
              <a:rPr lang="en-US" sz="1070" b="1" dirty="0">
                <a:solidFill>
                  <a:srgbClr val="FFFFFF"/>
                </a:solidFill>
                <a:latin typeface="Arial" pitchFamily="34" charset="0"/>
                <a:ea typeface="Arial" pitchFamily="34" charset="-122"/>
                <a:cs typeface="Arial" pitchFamily="34" charset="-120"/>
              </a:rPr>
              <a:t>AREA</a:t>
            </a:r>
            <a:endParaRPr lang="en-US" sz="1070" dirty="0"/>
          </a:p>
        </p:txBody>
      </p:sp>
      <p:sp>
        <p:nvSpPr>
          <p:cNvPr id="13" name="Text 11"/>
          <p:cNvSpPr/>
          <p:nvPr/>
        </p:nvSpPr>
        <p:spPr>
          <a:xfrm>
            <a:off x="3511296" y="2446020"/>
            <a:ext cx="7964424" cy="283464"/>
          </a:xfrm>
          <a:prstGeom prst="rect">
            <a:avLst/>
          </a:prstGeom>
          <a:noFill/>
          <a:ln/>
        </p:spPr>
        <p:txBody>
          <a:bodyPr wrap="square" lIns="0" tIns="0" rIns="0" bIns="0" rtlCol="0" anchor="ctr">
            <a:normAutofit fontScale="100000" lnSpcReduction="0"/>
          </a:bodyPr>
          <a:lstStyle/>
          <a:p>
            <a:pPr indent="0" marL="0">
              <a:buNone/>
            </a:pPr>
            <a:r>
              <a:rPr lang="en-US" sz="1070" b="1" dirty="0">
                <a:solidFill>
                  <a:srgbClr val="FFFFFF"/>
                </a:solidFill>
                <a:latin typeface="Arial" pitchFamily="34" charset="0"/>
                <a:ea typeface="Arial" pitchFamily="34" charset="-122"/>
                <a:cs typeface="Arial" pitchFamily="34" charset="-120"/>
              </a:rPr>
              <a:t>HOW TO READ THE UPGRADE</a:t>
            </a:r>
            <a:endParaRPr lang="en-US" sz="1070" dirty="0"/>
          </a:p>
        </p:txBody>
      </p:sp>
      <p:sp>
        <p:nvSpPr>
          <p:cNvPr id="14" name="Shape 12"/>
          <p:cNvSpPr/>
          <p:nvPr/>
        </p:nvSpPr>
        <p:spPr>
          <a:xfrm>
            <a:off x="603504" y="2752344"/>
            <a:ext cx="10981944" cy="457200"/>
          </a:xfrm>
          <a:prstGeom prst="rect">
            <a:avLst/>
          </a:prstGeom>
          <a:solidFill>
            <a:srgbClr val="FFFFFF"/>
          </a:solidFill>
          <a:ln w="12700">
            <a:solidFill>
              <a:srgbClr val="FFFFFF"/>
            </a:solidFill>
            <a:prstDash val="solid"/>
          </a:ln>
        </p:spPr>
        <p:txBody>
          <a:bodyPr/>
          <a:p/>
        </p:txBody>
      </p:sp>
      <p:sp>
        <p:nvSpPr>
          <p:cNvPr id="15" name="Text 13"/>
          <p:cNvSpPr/>
          <p:nvPr/>
        </p:nvSpPr>
        <p:spPr>
          <a:xfrm>
            <a:off x="713232" y="2839212"/>
            <a:ext cx="2578608" cy="338328"/>
          </a:xfrm>
          <a:prstGeom prst="rect">
            <a:avLst/>
          </a:prstGeom>
          <a:noFill/>
          <a:ln/>
        </p:spPr>
        <p:txBody>
          <a:bodyPr wrap="square" lIns="0" tIns="0" rIns="0" bIns="0" rtlCol="0" anchor="ctr">
            <a:normAutofit fontScale="100000" lnSpcReduction="0"/>
          </a:bodyPr>
          <a:lstStyle/>
          <a:p>
            <a:pPr indent="0" marL="0">
              <a:buNone/>
            </a:pPr>
            <a:r>
              <a:rPr lang="en-US" sz="1325" b="1" dirty="0">
                <a:solidFill>
                  <a:srgbClr val="24282C"/>
                </a:solidFill>
                <a:latin typeface="Arial" pitchFamily="34" charset="0"/>
                <a:ea typeface="Arial" pitchFamily="34" charset="-122"/>
                <a:cs typeface="Arial" pitchFamily="34" charset="-120"/>
              </a:rPr>
              <a:t>Numerical basis</a:t>
            </a:r>
            <a:endParaRPr lang="en-US" sz="1325" dirty="0"/>
          </a:p>
        </p:txBody>
      </p:sp>
      <p:sp>
        <p:nvSpPr>
          <p:cNvPr id="16" name="Text 14"/>
          <p:cNvSpPr/>
          <p:nvPr/>
        </p:nvSpPr>
        <p:spPr>
          <a:xfrm>
            <a:off x="3511296" y="2839212"/>
            <a:ext cx="7964424" cy="338328"/>
          </a:xfrm>
          <a:prstGeom prst="rect">
            <a:avLst/>
          </a:prstGeom>
          <a:noFill/>
          <a:ln/>
        </p:spPr>
        <p:txBody>
          <a:bodyPr wrap="square" lIns="0" tIns="0" rIns="0" bIns="0" rtlCol="0" anchor="ctr">
            <a:normAutofit fontScale="100000" lnSpcReduction="0"/>
          </a:bodyPr>
          <a:lstStyle/>
          <a:p>
            <a:pPr indent="0" marL="0">
              <a:buNone/>
            </a:pPr>
            <a:r>
              <a:rPr lang="en-US" sz="1325" dirty="0">
                <a:solidFill>
                  <a:srgbClr val="626B72"/>
                </a:solidFill>
                <a:latin typeface="Arial" pitchFamily="34" charset="0"/>
                <a:ea typeface="Arial" pitchFamily="34" charset="-122"/>
                <a:cs typeface="Arial" pitchFamily="34" charset="-120"/>
              </a:rPr>
              <a:t>BPR printed chart labels and AIM slide/notes values; rounding retained.</a:t>
            </a:r>
            <a:endParaRPr lang="en-US" sz="1325" dirty="0"/>
          </a:p>
        </p:txBody>
      </p:sp>
      <p:sp>
        <p:nvSpPr>
          <p:cNvPr id="17" name="Shape 15"/>
          <p:cNvSpPr/>
          <p:nvPr/>
        </p:nvSpPr>
        <p:spPr>
          <a:xfrm>
            <a:off x="603504" y="3209544"/>
            <a:ext cx="10981944" cy="457200"/>
          </a:xfrm>
          <a:prstGeom prst="rect">
            <a:avLst/>
          </a:prstGeom>
          <a:solidFill>
            <a:srgbClr val="EEEDEA"/>
          </a:solidFill>
          <a:ln w="12700">
            <a:solidFill>
              <a:srgbClr val="EEEDEA"/>
            </a:solidFill>
            <a:prstDash val="solid"/>
          </a:ln>
        </p:spPr>
        <p:txBody>
          <a:bodyPr/>
          <a:p/>
        </p:txBody>
      </p:sp>
      <p:sp>
        <p:nvSpPr>
          <p:cNvPr id="18" name="Text 16"/>
          <p:cNvSpPr/>
          <p:nvPr/>
        </p:nvSpPr>
        <p:spPr>
          <a:xfrm>
            <a:off x="713232" y="3296412"/>
            <a:ext cx="2578608" cy="338328"/>
          </a:xfrm>
          <a:prstGeom prst="rect">
            <a:avLst/>
          </a:prstGeom>
          <a:noFill/>
          <a:ln/>
        </p:spPr>
        <p:txBody>
          <a:bodyPr wrap="square" lIns="0" tIns="0" rIns="0" bIns="0" rtlCol="0" anchor="ctr">
            <a:normAutofit fontScale="100000" lnSpcReduction="0"/>
          </a:bodyPr>
          <a:lstStyle/>
          <a:p>
            <a:pPr indent="0" marL="0">
              <a:buNone/>
            </a:pPr>
            <a:r>
              <a:rPr lang="en-US" sz="1325" b="1" dirty="0">
                <a:solidFill>
                  <a:srgbClr val="24282C"/>
                </a:solidFill>
                <a:latin typeface="Arial" pitchFamily="34" charset="0"/>
                <a:ea typeface="Arial" pitchFamily="34" charset="-122"/>
                <a:cs typeface="Arial" pitchFamily="34" charset="-120"/>
              </a:rPr>
              <a:t>Business content</a:t>
            </a:r>
            <a:endParaRPr lang="en-US" sz="1325" dirty="0"/>
          </a:p>
        </p:txBody>
      </p:sp>
      <p:sp>
        <p:nvSpPr>
          <p:cNvPr id="19" name="Text 17"/>
          <p:cNvSpPr/>
          <p:nvPr/>
        </p:nvSpPr>
        <p:spPr>
          <a:xfrm>
            <a:off x="3511296" y="3296412"/>
            <a:ext cx="7964424" cy="338328"/>
          </a:xfrm>
          <a:prstGeom prst="rect">
            <a:avLst/>
          </a:prstGeom>
          <a:noFill/>
          <a:ln/>
        </p:spPr>
        <p:txBody>
          <a:bodyPr wrap="square" lIns="0" tIns="0" rIns="0" bIns="0" rtlCol="0" anchor="ctr">
            <a:normAutofit fontScale="100000" lnSpcReduction="0"/>
          </a:bodyPr>
          <a:lstStyle/>
          <a:p>
            <a:pPr indent="0" marL="0">
              <a:buNone/>
            </a:pPr>
            <a:r>
              <a:rPr lang="en-US" sz="1325" dirty="0">
                <a:solidFill>
                  <a:srgbClr val="626B72"/>
                </a:solidFill>
                <a:latin typeface="Arial" pitchFamily="34" charset="0"/>
                <a:ea typeface="Arial" pitchFamily="34" charset="-122"/>
                <a:cs typeface="Arial" pitchFamily="34" charset="-120"/>
              </a:rPr>
              <a:t>Every original subject remains; selected detail moves to the appendix.</a:t>
            </a:r>
            <a:endParaRPr lang="en-US" sz="1325" dirty="0"/>
          </a:p>
        </p:txBody>
      </p:sp>
      <p:sp>
        <p:nvSpPr>
          <p:cNvPr id="20" name="Shape 18"/>
          <p:cNvSpPr/>
          <p:nvPr/>
        </p:nvSpPr>
        <p:spPr>
          <a:xfrm>
            <a:off x="603504" y="3666744"/>
            <a:ext cx="10981944" cy="457200"/>
          </a:xfrm>
          <a:prstGeom prst="rect">
            <a:avLst/>
          </a:prstGeom>
          <a:solidFill>
            <a:srgbClr val="FFFFFF"/>
          </a:solidFill>
          <a:ln w="12700">
            <a:solidFill>
              <a:srgbClr val="FFFFFF"/>
            </a:solidFill>
            <a:prstDash val="solid"/>
          </a:ln>
        </p:spPr>
        <p:txBody>
          <a:bodyPr/>
          <a:p/>
        </p:txBody>
      </p:sp>
      <p:sp>
        <p:nvSpPr>
          <p:cNvPr id="21" name="Text 19"/>
          <p:cNvSpPr/>
          <p:nvPr/>
        </p:nvSpPr>
        <p:spPr>
          <a:xfrm>
            <a:off x="713232" y="3753612"/>
            <a:ext cx="2578608" cy="338328"/>
          </a:xfrm>
          <a:prstGeom prst="rect">
            <a:avLst/>
          </a:prstGeom>
          <a:noFill/>
          <a:ln/>
        </p:spPr>
        <p:txBody>
          <a:bodyPr wrap="square" lIns="0" tIns="0" rIns="0" bIns="0" rtlCol="0" anchor="ctr">
            <a:normAutofit fontScale="100000" lnSpcReduction="0"/>
          </a:bodyPr>
          <a:lstStyle/>
          <a:p>
            <a:pPr indent="0" marL="0">
              <a:buNone/>
            </a:pPr>
            <a:r>
              <a:rPr lang="en-US" sz="1325" b="1" dirty="0">
                <a:solidFill>
                  <a:srgbClr val="24282C"/>
                </a:solidFill>
                <a:latin typeface="Arial" pitchFamily="34" charset="0"/>
                <a:ea typeface="Arial" pitchFamily="34" charset="-122"/>
                <a:cs typeface="Arial" pitchFamily="34" charset="-120"/>
              </a:rPr>
              <a:t>Original p. 30 ranking</a:t>
            </a:r>
            <a:endParaRPr lang="en-US" sz="1325" dirty="0"/>
          </a:p>
        </p:txBody>
      </p:sp>
      <p:sp>
        <p:nvSpPr>
          <p:cNvPr id="22" name="Text 20"/>
          <p:cNvSpPr/>
          <p:nvPr/>
        </p:nvSpPr>
        <p:spPr>
          <a:xfrm>
            <a:off x="3511296" y="3753612"/>
            <a:ext cx="7964424" cy="338328"/>
          </a:xfrm>
          <a:prstGeom prst="rect">
            <a:avLst/>
          </a:prstGeom>
          <a:noFill/>
          <a:ln/>
        </p:spPr>
        <p:txBody>
          <a:bodyPr wrap="square" lIns="0" tIns="0" rIns="0" bIns="0" rtlCol="0" anchor="ctr">
            <a:normAutofit fontScale="100000" lnSpcReduction="0"/>
          </a:bodyPr>
          <a:lstStyle/>
          <a:p>
            <a:pPr indent="0" marL="0">
              <a:buNone/>
            </a:pPr>
            <a:r>
              <a:rPr lang="en-US" sz="1325" dirty="0">
                <a:solidFill>
                  <a:srgbClr val="626B72"/>
                </a:solidFill>
                <a:latin typeface="Arial" pitchFamily="34" charset="0"/>
                <a:ea typeface="Arial" pitchFamily="34" charset="-122"/>
                <a:cs typeface="Arial" pitchFamily="34" charset="-120"/>
              </a:rPr>
              <a:t>Clipped family names withheld; valuation basis retained on p. 40.</a:t>
            </a:r>
            <a:endParaRPr lang="en-US" sz="1325" dirty="0"/>
          </a:p>
        </p:txBody>
      </p:sp>
      <p:sp>
        <p:nvSpPr>
          <p:cNvPr id="23" name="Shape 21"/>
          <p:cNvSpPr/>
          <p:nvPr/>
        </p:nvSpPr>
        <p:spPr>
          <a:xfrm>
            <a:off x="603504" y="4123944"/>
            <a:ext cx="10981944" cy="457200"/>
          </a:xfrm>
          <a:prstGeom prst="rect">
            <a:avLst/>
          </a:prstGeom>
          <a:solidFill>
            <a:srgbClr val="EEEDEA"/>
          </a:solidFill>
          <a:ln w="12700">
            <a:solidFill>
              <a:srgbClr val="EEEDEA"/>
            </a:solidFill>
            <a:prstDash val="solid"/>
          </a:ln>
        </p:spPr>
        <p:txBody>
          <a:bodyPr/>
          <a:p/>
        </p:txBody>
      </p:sp>
      <p:sp>
        <p:nvSpPr>
          <p:cNvPr id="24" name="Text 22"/>
          <p:cNvSpPr/>
          <p:nvPr/>
        </p:nvSpPr>
        <p:spPr>
          <a:xfrm>
            <a:off x="713232" y="4210812"/>
            <a:ext cx="2578608" cy="338328"/>
          </a:xfrm>
          <a:prstGeom prst="rect">
            <a:avLst/>
          </a:prstGeom>
          <a:noFill/>
          <a:ln/>
        </p:spPr>
        <p:txBody>
          <a:bodyPr wrap="square" lIns="0" tIns="0" rIns="0" bIns="0" rtlCol="0" anchor="ctr">
            <a:normAutofit fontScale="100000" lnSpcReduction="0"/>
          </a:bodyPr>
          <a:lstStyle/>
          <a:p>
            <a:pPr indent="0" marL="0">
              <a:buNone/>
            </a:pPr>
            <a:r>
              <a:rPr lang="en-US" sz="1325" b="1" dirty="0">
                <a:solidFill>
                  <a:srgbClr val="24282C"/>
                </a:solidFill>
                <a:latin typeface="Arial" pitchFamily="34" charset="0"/>
                <a:ea typeface="Arial" pitchFamily="34" charset="-122"/>
                <a:cs typeface="Arial" pitchFamily="34" charset="-120"/>
              </a:rPr>
              <a:t>Original p. 31 scatter</a:t>
            </a:r>
            <a:endParaRPr lang="en-US" sz="1325" dirty="0"/>
          </a:p>
        </p:txBody>
      </p:sp>
      <p:sp>
        <p:nvSpPr>
          <p:cNvPr id="25" name="Text 23"/>
          <p:cNvSpPr/>
          <p:nvPr/>
        </p:nvSpPr>
        <p:spPr>
          <a:xfrm>
            <a:off x="3511296" y="4210812"/>
            <a:ext cx="7964424" cy="338328"/>
          </a:xfrm>
          <a:prstGeom prst="rect">
            <a:avLst/>
          </a:prstGeom>
          <a:noFill/>
          <a:ln/>
        </p:spPr>
        <p:txBody>
          <a:bodyPr wrap="square" lIns="0" tIns="0" rIns="0" bIns="0" rtlCol="0" anchor="ctr">
            <a:normAutofit fontScale="100000" lnSpcReduction="0"/>
          </a:bodyPr>
          <a:lstStyle/>
          <a:p>
            <a:pPr indent="0" marL="0">
              <a:buNone/>
            </a:pPr>
            <a:r>
              <a:rPr lang="en-US" sz="1325" dirty="0">
                <a:solidFill>
                  <a:srgbClr val="626B72"/>
                </a:solidFill>
                <a:latin typeface="Arial" pitchFamily="34" charset="0"/>
                <a:ea typeface="Arial" pitchFamily="34" charset="-122"/>
                <a:cs typeface="Arial" pitchFamily="34" charset="-120"/>
              </a:rPr>
              <a:t>Actually service cover versus spend, not exposure; not rebuilt from pixels.</a:t>
            </a:r>
            <a:endParaRPr lang="en-US" sz="1325" dirty="0"/>
          </a:p>
        </p:txBody>
      </p:sp>
      <p:sp>
        <p:nvSpPr>
          <p:cNvPr id="26" name="Shape 24"/>
          <p:cNvSpPr/>
          <p:nvPr/>
        </p:nvSpPr>
        <p:spPr>
          <a:xfrm>
            <a:off x="603504" y="4581144"/>
            <a:ext cx="10981944" cy="457200"/>
          </a:xfrm>
          <a:prstGeom prst="rect">
            <a:avLst/>
          </a:prstGeom>
          <a:solidFill>
            <a:srgbClr val="FFFFFF"/>
          </a:solidFill>
          <a:ln w="12700">
            <a:solidFill>
              <a:srgbClr val="FFFFFF"/>
            </a:solidFill>
            <a:prstDash val="solid"/>
          </a:ln>
        </p:spPr>
        <p:txBody>
          <a:bodyPr/>
          <a:p/>
        </p:txBody>
      </p:sp>
      <p:sp>
        <p:nvSpPr>
          <p:cNvPr id="27" name="Text 25"/>
          <p:cNvSpPr/>
          <p:nvPr/>
        </p:nvSpPr>
        <p:spPr>
          <a:xfrm>
            <a:off x="713232" y="4668012"/>
            <a:ext cx="2578608" cy="338328"/>
          </a:xfrm>
          <a:prstGeom prst="rect">
            <a:avLst/>
          </a:prstGeom>
          <a:noFill/>
          <a:ln/>
        </p:spPr>
        <p:txBody>
          <a:bodyPr wrap="square" lIns="0" tIns="0" rIns="0" bIns="0" rtlCol="0" anchor="ctr">
            <a:normAutofit fontScale="100000" lnSpcReduction="0"/>
          </a:bodyPr>
          <a:lstStyle/>
          <a:p>
            <a:pPr indent="0" marL="0">
              <a:buNone/>
            </a:pPr>
            <a:r>
              <a:rPr lang="en-US" sz="1325" b="1" dirty="0">
                <a:solidFill>
                  <a:srgbClr val="24282C"/>
                </a:solidFill>
                <a:latin typeface="Arial" pitchFamily="34" charset="0"/>
                <a:ea typeface="Arial" pitchFamily="34" charset="-122"/>
                <a:cs typeface="Arial" pitchFamily="34" charset="-120"/>
              </a:rPr>
              <a:t>Original p. 5 target</a:t>
            </a:r>
            <a:endParaRPr lang="en-US" sz="1325" dirty="0"/>
          </a:p>
        </p:txBody>
      </p:sp>
      <p:sp>
        <p:nvSpPr>
          <p:cNvPr id="28" name="Text 26"/>
          <p:cNvSpPr/>
          <p:nvPr/>
        </p:nvSpPr>
        <p:spPr>
          <a:xfrm>
            <a:off x="3511296" y="4668012"/>
            <a:ext cx="7964424" cy="338328"/>
          </a:xfrm>
          <a:prstGeom prst="rect">
            <a:avLst/>
          </a:prstGeom>
          <a:noFill/>
          <a:ln/>
        </p:spPr>
        <p:txBody>
          <a:bodyPr wrap="square" lIns="0" tIns="0" rIns="0" bIns="0" rtlCol="0" anchor="ctr">
            <a:normAutofit fontScale="100000" lnSpcReduction="0"/>
          </a:bodyPr>
          <a:lstStyle/>
          <a:p>
            <a:pPr indent="0" marL="0">
              <a:buNone/>
            </a:pPr>
            <a:r>
              <a:rPr lang="en-US" sz="1325" dirty="0">
                <a:solidFill>
                  <a:srgbClr val="626B72"/>
                </a:solidFill>
                <a:latin typeface="Arial" pitchFamily="34" charset="0"/>
                <a:ea typeface="Arial" pitchFamily="34" charset="-122"/>
                <a:cs typeface="Arial" pitchFamily="34" charset="-120"/>
              </a:rPr>
              <a:t>~108 M€ is trailing dealer-stage target, not the 35.28 M€ turnover BP.</a:t>
            </a:r>
            <a:endParaRPr lang="en-US" sz="1325" dirty="0"/>
          </a:p>
        </p:txBody>
      </p:sp>
      <p:sp>
        <p:nvSpPr>
          <p:cNvPr id="29" name="Shape 27"/>
          <p:cNvSpPr/>
          <p:nvPr/>
        </p:nvSpPr>
        <p:spPr>
          <a:xfrm>
            <a:off x="603504" y="5038344"/>
            <a:ext cx="10981944" cy="457200"/>
          </a:xfrm>
          <a:prstGeom prst="rect">
            <a:avLst/>
          </a:prstGeom>
          <a:solidFill>
            <a:srgbClr val="EEEDEA"/>
          </a:solidFill>
          <a:ln w="12700">
            <a:solidFill>
              <a:srgbClr val="EEEDEA"/>
            </a:solidFill>
            <a:prstDash val="solid"/>
          </a:ln>
        </p:spPr>
        <p:txBody>
          <a:bodyPr/>
          <a:p/>
        </p:txBody>
      </p:sp>
      <p:sp>
        <p:nvSpPr>
          <p:cNvPr id="30" name="Text 28"/>
          <p:cNvSpPr/>
          <p:nvPr/>
        </p:nvSpPr>
        <p:spPr>
          <a:xfrm>
            <a:off x="713232" y="5125212"/>
            <a:ext cx="2578608" cy="338328"/>
          </a:xfrm>
          <a:prstGeom prst="rect">
            <a:avLst/>
          </a:prstGeom>
          <a:noFill/>
          <a:ln/>
        </p:spPr>
        <p:txBody>
          <a:bodyPr wrap="square" lIns="0" tIns="0" rIns="0" bIns="0" rtlCol="0" anchor="ctr">
            <a:normAutofit fontScale="100000" lnSpcReduction="0"/>
          </a:bodyPr>
          <a:lstStyle/>
          <a:p>
            <a:pPr indent="0" marL="0">
              <a:buNone/>
            </a:pPr>
            <a:r>
              <a:rPr lang="en-US" sz="1325" b="1" dirty="0">
                <a:solidFill>
                  <a:srgbClr val="24282C"/>
                </a:solidFill>
                <a:latin typeface="Arial" pitchFamily="34" charset="0"/>
                <a:ea typeface="Arial" pitchFamily="34" charset="-122"/>
                <a:cs typeface="Arial" pitchFamily="34" charset="-120"/>
              </a:rPr>
              <a:t>New operating pages</a:t>
            </a:r>
            <a:endParaRPr lang="en-US" sz="1325" dirty="0"/>
          </a:p>
        </p:txBody>
      </p:sp>
      <p:sp>
        <p:nvSpPr>
          <p:cNvPr id="31" name="Text 29"/>
          <p:cNvSpPr/>
          <p:nvPr/>
        </p:nvSpPr>
        <p:spPr>
          <a:xfrm>
            <a:off x="3511296" y="5125212"/>
            <a:ext cx="7964424" cy="338328"/>
          </a:xfrm>
          <a:prstGeom prst="rect">
            <a:avLst/>
          </a:prstGeom>
          <a:noFill/>
          <a:ln/>
        </p:spPr>
        <p:txBody>
          <a:bodyPr wrap="square" lIns="0" tIns="0" rIns="0" bIns="0" rtlCol="0" anchor="ctr">
            <a:normAutofit fontScale="100000" lnSpcReduction="0"/>
          </a:bodyPr>
          <a:lstStyle/>
          <a:p>
            <a:pPr indent="0" marL="0">
              <a:buNone/>
            </a:pPr>
            <a:r>
              <a:rPr lang="en-US" sz="1325" dirty="0">
                <a:solidFill>
                  <a:srgbClr val="626B72"/>
                </a:solidFill>
                <a:latin typeface="Arial" pitchFamily="34" charset="0"/>
                <a:ea typeface="Arial" pitchFamily="34" charset="-122"/>
                <a:cs typeface="Arial" pitchFamily="34" charset="-120"/>
              </a:rPr>
              <a:t>Proposals or illustrations; no invented profit, tender pipeline or commitments.</a:t>
            </a:r>
            <a:endParaRPr lang="en-US" sz="1325" dirty="0"/>
          </a:p>
        </p:txBody>
      </p:sp>
      <p:sp>
        <p:nvSpPr>
          <p:cNvPr id="32" name="Shape 30"/>
          <p:cNvSpPr/>
          <p:nvPr/>
        </p:nvSpPr>
        <p:spPr>
          <a:xfrm>
            <a:off x="502920" y="5577840"/>
            <a:ext cx="11183112" cy="539496"/>
          </a:xfrm>
          <a:prstGeom prst="rect">
            <a:avLst/>
          </a:prstGeom>
          <a:solidFill>
            <a:srgbClr val="F9E9E8"/>
          </a:solidFill>
          <a:ln w="12700">
            <a:solidFill>
              <a:srgbClr val="F9E9E8"/>
            </a:solidFill>
            <a:prstDash val="solid"/>
          </a:ln>
        </p:spPr>
        <p:txBody>
          <a:bodyPr/>
          <a:p/>
        </p:txBody>
      </p:sp>
      <p:sp>
        <p:nvSpPr>
          <p:cNvPr id="33" name="Text 31"/>
          <p:cNvSpPr/>
          <p:nvPr/>
        </p:nvSpPr>
        <p:spPr>
          <a:xfrm>
            <a:off x="685800" y="5591556"/>
            <a:ext cx="10808208" cy="502920"/>
          </a:xfrm>
          <a:prstGeom prst="rect">
            <a:avLst/>
          </a:prstGeom>
          <a:noFill/>
          <a:ln/>
        </p:spPr>
        <p:txBody>
          <a:bodyPr wrap="square" lIns="0" tIns="0" rIns="0" bIns="0" rtlCol="0" anchor="ctr">
            <a:normAutofit fontScale="100000" lnSpcReduction="0"/>
          </a:bodyPr>
          <a:lstStyle/>
          <a:p>
            <a:pPr indent="0" marL="0">
              <a:buNone/>
            </a:pPr>
            <a:r>
              <a:rPr lang="en-US" sz="1500" b="1" dirty="0">
                <a:solidFill>
                  <a:srgbClr val="24282C"/>
                </a:solidFill>
                <a:latin typeface="Arial" pitchFamily="34" charset="0"/>
                <a:ea typeface="Arial" pitchFamily="34" charset="-122"/>
                <a:cs typeface="Arial" pitchFamily="34" charset="-120"/>
              </a:rPr>
              <a:t>Next data refresh: phased BP, matched price/cost lines, dated KPIs, dealer coverage and validated transaction joins.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Isuzu Motors Europe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ISZE Business Performance Review | AIM Edition 2.0</dc:title>
  <dc:subject>Business Performance Review - AIM management design, version 2.0</dc:subject>
  <dc:creator>ISZE Vehicle Parts &amp; Accessories</dc:creator>
  <cp:lastModifiedBy>ISZE Vehicle Parts &amp; Accessories</cp:lastModifiedBy>
  <cp:revision>1</cp:revision>
  <dcterms:created xsi:type="dcterms:W3CDTF">2026-09-22T16:38:44Z</dcterms:created>
  <dcterms:modified xsi:type="dcterms:W3CDTF">2026-09-22T16:38:44Z</dcterms:modified>
  <dc:description>Layout correction of AIM Edition v2.0. Text geometry, takeaway bands and native chart label spacing corrected; source analysis and numerical data unchanged.</dc:description>
</cp:coreProperties>
</file>