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follows the 25-page paper ISUZU / UNIVERSE 3.0 dated 23 September 2026. It carries the same numbers and the same recommendations. Use it to talk from, not to read. Three decisions are being asked for: campaign support with a size floor, ten dealer invitations, and which two capabilities to build first.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else in the paper supports these three. Section 4 of the paper is the money. Section 8 is what dealers and distributors actually do. Section 9 is the sequence and the stop condition. If the room only has twenty minutes, those three pages carry the case.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sentence that changes how a distributor's parts manager reads the approach. The programme has asked for information for years with insufficient visible value returned. The boundary is what makes this request different: nothing in the existing support service gets better or worse depending on what a participant sends us. Evidence from normal operations may inform an agreed analysis. Its workflow does not become a module.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foundations are product structure from AIM, declared practices from IDS, market and fleet context from PRISM, and the parts business itself. The five tools are the Atlas, the IDS studio, the range and campaign planner, the pricing and margin lab, and market intelligence. A participant usually starts with one of them, which is why this is a portfolio and not a single application. A monolithic product would force every user through the same opening screen.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commercial argument on one chart. Isuzu Truck UK's brake-pad billing fell from 347,389 to 302,366 euro, a reduction of 45,023 euro or 13.0 per cent. Recorded quantity fell from 4,562 to 3,402 units, which is 25.4 per cent. Value fell less than volume. A revenue-only view would suggest a demand problem. A quantity-only view would suggest a pricing problem. Neither alone tells a distributor where to look. The contextual fleet is 22,389 trucks and it is not the eligible population for every pad reference.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brake pads, rotors and shoes the combined reduction is 47,069 euro, and pads account for 45,023 of it. That moves the starting decision from 'braking products are down' to 'brake pads are down'. It does not support one remedy across every braking product, and it does not make the reduction recoverable revenue. The next step is the contributing references, not a discount.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Combined clutch-kit billing in Portugal rose 5.8 per cent, from 29,960 to 31,702 euro. Genuine fell from 2,902 to 2,058 while BVP rose from 27,058 to 29,645. Quantity was almost unchanged: 462 kits to 461. A Genuine-only view would have launched a recovery campaign for a line whose total business grew. The tool exists to prevent that mistake as much as to find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6.65 million euro of PMS billing in 2025, 8.4 per cent sat at least 20 per cent under the reference price, down from 13.0 per cent in 2024. That decline is favourable. But look at where the deep discount sits: Ukraine 28.2 per cent of 203 thousand, Portugal 20.2 per cent of 338 thousand, IUK 16.9 per cent of 1.27 million, Germany 16.6 per cent of 416 thousand. A programme that pays per campaign without a size floor would spend itself in the small markets. That is the reason for the floor in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Brake-pad-front runs 36 per cent deep discount on 423 thousand euro, and blower filter 25.2 per cent on 374 thousand. Those are modest bases with high shares, which is the shape of a handful of large deals rather than a broad pricing position. Brake rotors run 3.4 per cent on 1.3 million and oil filters 1.5 per cent on 557 thousand. Their pricing is settled, so their opportunity, if there is one, is not price.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programme is proposing to spend between three-tenths of one per cent and nine-tenths of one per cent of a single year's parts billing. That is the right size for a pilot and the wrong size for a platform build. It also means the programme does not need to move the whole business to justify itself, and it must not be presented as though it will. Measured from the GPS distributor file, 2025 rows.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500 euro of contribution per beneficial action, 100,000 euro needs 200 of them. At 2,500 euro per action it needs forty. At 5,000 it needs twenty. Two consequences. First, a ten-campaign pilot is evidence, not a return: ten campaigns at 2,500 euro is 25,000 against a 100,000 envelope. Second, the honest break-even is forty qualifying actions, and that number belongs in the funding discussion rather than in a footnote after approval. The hurdle rises further once internal effort sits outside the envelope.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100-unit baseline, a 5 per cent concession applied to all 120 units produces 3,000 euro of parts gross profit. Applied only to the 20 additional units, with the baseline keeping its original price, it produces 3,500. The 500 euro difference is scope and nothing else, and it assumes no demand response at all. That is why an additional-only structure is the one to test first, and why a blanket concession should not become the standard.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recommendation inside the existing zero, one hundred thousand and three hundred thousand euro planning envelopes. It is not a new budget request and not an approved expenditure. The minimum campaign size of 150,000 euro of eligible billing is the load-bearing number: below it, the contribution a single campaign can produce at our own hurdle does not cover the analytical preparation it costs. Campaign support also has to be a named line rather than a note. Saying it needs its own commercial treatment is a control, not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334 of the 519 dealers in our network file already carry a recorded IDS score, minimum zero, maximum 100, average 77.5. That is two-thirds of the known estate with an individual result already on file, and it is the only place in this programme where ISZE holds something a dealer will want to look at and cannot easily assemble itself. So the IDS profile should be the opening offer, not a later step. Right now the design brings a review to the dealer first, which reads as a supplier's opinion of its business.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distributor chooses the invitation; ISZE never approaches a dealer directly. The first item opened is a review built from information already held, so there is no form, no portal registration and no upload in the first session. The dealer confirms or corrects one interpretation. 'Your reading is wrong' and 'no action is needed' are both successful outcomes. Then the IDS profile, then the plan, then the next eligible task rather than the next report.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judgements on the design, not measurements, and they are here so the design can be argued with. The dealer position is credible in its first three steps and unproven after them. Three changes would raise it, in order of effect: make the IDS profile the opening rather than a later step; fund a bounded setup task so the dealer's time has a price; and make the follow-through visible, because invisible follow-through is what ended the previous data requests. On the distributor side, the gap between 75 for accepting and 45 for using is the whole problem.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calibration for the whole participation discussion. We have 519 dealer self-assessments across 19 networks today. France 84, Spain 45, UK CV 44, UK LCV 43, Italy 41, Norway 38, Belgium 34, Greece 34, Israel LCV 29, Poland 23, Switzerland 22, Denmark 20, Hungary 19, Portugal 16, Romania 15, Netherlands 9, plus one each in Malta, Cyprus and Luxembourg. That is the base rate, and goodwill alone has never beaten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decides whether dealer enablement is a programme or a gesture. Fifteen thousand euro spread across 519 dealers buys nothing that survives contact with a dealer principal. The same money spent as twenty-five accepted setup tasks at 600 euro in two pilot markets buys twenty-five completed onboarding experiences. The recommendation is the second, and it means the enablement line is spent as accepted tasks rather than as a per-dealer entitlement.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distributor's position is stronger than the dealer's and simpler. It already has an obligation to report and already has a rebate linked to reporting, so the change being proposed is what comes back. Accepting scores 75 because it is cheap and adds no reporting burden. Using the review scores 45, because a review that is merely available is a review that is not read. Two changes close that gap: answer a question the distributor already had, and make its own dealer development the visible output, so the review serves its commercial interest rather than ours.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is tempting and each one destroys the premise. Paying per record rewards disclosure volume rather than useful work. Conditioning ordinary service turns a normal service into a bargaining instrument. A league table cannot be compared across business sizes because turnover favours the large and self-assessment scores have different coverage. Resale prices are the most sensitive item on the list and the core review does not need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elapsed-week estimate from the earlier support-centred roadmap is inherited as a promise. The first stage is nearly free and it is the one that unblocks everything else: the paper, the deck and the showcase have to tell the same story, because at the moment two documents on disk describe two different product ranges. Stage two is a day of work and it is the only blocker ISZE can close entirely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test is simple. If the incentive that currently produces the file were removed tomorrow, would anyone open the tool anyway? That question is the difference between a programme and a compliance exercise. The go condition is equally specific: a real participant completed a real analytical task, the output was correct on its source, and the participant can name the decision it changed. A rendered screen is not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competition and copyright rules are proposed as standing constraints, and legal should review them before any shared output reaches a participant. No exclusivity in exchange for information. No price coordination between distributors: the tool compares a distributor to its own history and to permitted aggregate context, and never transmits one distributor's terms or intentions to another. No resale-price instruction. The European motor-vehicle block exemption regime runs to 31 May 2028 and nothing in this paper is a legal determination.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ask. The paper is 25 pages and the design annex is separate, so the funding case does not have a specification in the middle of it. On the numbers: the pilot will not reach the forty-action break-even. It will produce the first real measurement of the qualifying rate, and that rate is the number on which any expansion should be decided.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234440"/>
            <a:ext cx="1463040" cy="50800"/>
          </a:xfrm>
          <a:prstGeom prst="rect">
            <a:avLst/>
          </a:prstGeom>
          <a:solidFill>
            <a:srgbClr val="C05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365760"/>
          </a:xfrm>
          <a:prstGeom prst="rect">
            <a:avLst/>
          </a:prstGeom>
          <a:noFill/>
        </p:spPr>
        <p:txBody>
          <a:bodyPr wrap="square" anchor="t" lIns="0" rIns="0" tIns="0" bIns="0">
            <a:spAutoFit/>
          </a:bodyPr>
          <a:lstStyle/>
          <a:p>
            <a:pPr algn="l">
              <a:spcAft>
                <a:spcPts val="0"/>
              </a:spcAft>
            </a:pPr>
            <a:r>
              <a:rPr sz="1300" b="1">
                <a:solidFill>
                  <a:srgbClr val="C9D2DE"/>
                </a:solidFill>
                <a:latin typeface="Arial"/>
              </a:rPr>
              <a:t>ISUZU / PARTS EUROPE  ·  COMMERCIAL VISION</a:t>
            </a:r>
          </a:p>
        </p:txBody>
      </p:sp>
      <p:sp>
        <p:nvSpPr>
          <p:cNvPr id="5" name="TextBox 4"/>
          <p:cNvSpPr txBox="1"/>
          <p:nvPr/>
        </p:nvSpPr>
        <p:spPr>
          <a:xfrm>
            <a:off x="822960" y="1691640"/>
            <a:ext cx="10424160" cy="2011680"/>
          </a:xfrm>
          <a:prstGeom prst="rect">
            <a:avLst/>
          </a:prstGeom>
          <a:noFill/>
        </p:spPr>
        <p:txBody>
          <a:bodyPr wrap="square" anchor="t" lIns="0" rIns="0" tIns="0" bIns="0">
            <a:spAutoFit/>
          </a:bodyPr>
          <a:lstStyle/>
          <a:p>
            <a:pPr algn="l">
              <a:spcAft>
                <a:spcPts val="0"/>
              </a:spcAft>
            </a:pPr>
            <a:r>
              <a:rPr sz="5200" b="1">
                <a:solidFill>
                  <a:srgbClr val="FFFFFF"/>
                </a:solidFill>
                <a:latin typeface="Georgia"/>
              </a:rPr>
              <a:t>Universe 3.0</a:t>
            </a:r>
          </a:p>
        </p:txBody>
      </p:sp>
      <p:sp>
        <p:nvSpPr>
          <p:cNvPr id="6" name="TextBox 5"/>
          <p:cNvSpPr txBox="1"/>
          <p:nvPr/>
        </p:nvSpPr>
        <p:spPr>
          <a:xfrm>
            <a:off x="822960" y="3383280"/>
            <a:ext cx="9692640" cy="1280160"/>
          </a:xfrm>
          <a:prstGeom prst="rect">
            <a:avLst/>
          </a:prstGeom>
          <a:noFill/>
        </p:spPr>
        <p:txBody>
          <a:bodyPr wrap="square" anchor="t" lIns="0" rIns="0" tIns="0" bIns="0">
            <a:spAutoFit/>
          </a:bodyPr>
          <a:lstStyle/>
          <a:p>
            <a:pPr algn="l">
              <a:spcAft>
                <a:spcPts val="0"/>
              </a:spcAft>
            </a:pPr>
            <a:r>
              <a:rPr sz="2000" b="0">
                <a:solidFill>
                  <a:srgbClr val="D9DFE7"/>
                </a:solidFill>
                <a:latin typeface="Georgia"/>
              </a:rPr>
              <a:t>Give distributors and dealers tools worth using.&lt;br&gt;Earn the information that makes those tools better.</a:t>
            </a:r>
          </a:p>
        </p:txBody>
      </p:sp>
      <p:sp>
        <p:nvSpPr>
          <p:cNvPr id="7" name="Rectangle 6"/>
          <p:cNvSpPr/>
          <p:nvPr/>
        </p:nvSpPr>
        <p:spPr>
          <a:xfrm>
            <a:off x="822960" y="5532120"/>
            <a:ext cx="2926080" cy="38100"/>
          </a:xfrm>
          <a:prstGeom prst="rect">
            <a:avLst/>
          </a:prstGeom>
          <a:solidFill>
            <a:srgbClr val="C05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760720"/>
            <a:ext cx="10424160" cy="548640"/>
          </a:xfrm>
          <a:prstGeom prst="rect">
            <a:avLst/>
          </a:prstGeom>
          <a:noFill/>
        </p:spPr>
        <p:txBody>
          <a:bodyPr wrap="square" anchor="t" lIns="0" rIns="0" tIns="0" bIns="0">
            <a:spAutoFit/>
          </a:bodyPr>
          <a:lstStyle/>
          <a:p>
            <a:pPr algn="l">
              <a:spcAft>
                <a:spcPts val="0"/>
              </a:spcAft>
            </a:pPr>
            <a:r>
              <a:rPr sz="1200" b="0">
                <a:solidFill>
                  <a:srgbClr val="9FB0C6"/>
                </a:solidFill>
                <a:latin typeface="Arial"/>
              </a:rPr>
              <a:t>Version 3.0  ·  23 September 2026  ·  proposed product and participation  ·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365760"/>
          </a:xfrm>
          <a:prstGeom prst="rect">
            <a:avLst/>
          </a:prstGeom>
          <a:noFill/>
        </p:spPr>
        <p:txBody>
          <a:bodyPr wrap="square" anchor="t" lIns="0" rIns="0" tIns="0" bIns="0">
            <a:spAutoFit/>
          </a:bodyPr>
          <a:lstStyle/>
          <a:p>
            <a:pPr algn="l">
              <a:spcAft>
                <a:spcPts val="0"/>
              </a:spcAft>
            </a:pPr>
            <a:r>
              <a:rPr sz="1200" b="1">
                <a:solidFill>
                  <a:srgbClr val="C0552D"/>
                </a:solidFill>
                <a:latin typeface="Arial"/>
              </a:rPr>
              <a:t>THE THREE DECISIONS</a:t>
            </a:r>
          </a:p>
        </p:txBody>
      </p:sp>
      <p:sp>
        <p:nvSpPr>
          <p:cNvPr id="5" name="TextBox 4"/>
          <p:cNvSpPr txBox="1"/>
          <p:nvPr/>
        </p:nvSpPr>
        <p:spPr>
          <a:xfrm>
            <a:off x="822960" y="1325880"/>
            <a:ext cx="10424160" cy="2743200"/>
          </a:xfrm>
          <a:prstGeom prst="rect">
            <a:avLst/>
          </a:prstGeom>
          <a:noFill/>
        </p:spPr>
        <p:txBody>
          <a:bodyPr wrap="square" anchor="t" lIns="0" rIns="0" tIns="0" bIns="0">
            <a:spAutoFit/>
          </a:bodyPr>
          <a:lstStyle/>
          <a:p>
            <a:pPr algn="l">
              <a:spcAft>
                <a:spcPts val="0"/>
              </a:spcAft>
            </a:pPr>
            <a:r>
              <a:rPr sz="4000" b="1">
                <a:solidFill>
                  <a:srgbClr val="15233C"/>
                </a:solidFill>
                <a:latin typeface="Georgia"/>
              </a:rPr>
              <a:t>Three things to decide.</a:t>
            </a:r>
          </a:p>
        </p:txBody>
      </p:sp>
      <p:sp>
        <p:nvSpPr>
          <p:cNvPr id="6" name="TextBox 5"/>
          <p:cNvSpPr txBox="1"/>
          <p:nvPr/>
        </p:nvSpPr>
        <p:spPr>
          <a:xfrm>
            <a:off x="822960" y="4206240"/>
            <a:ext cx="9692640" cy="2011680"/>
          </a:xfrm>
          <a:prstGeom prst="rect">
            <a:avLst/>
          </a:prstGeom>
          <a:noFill/>
        </p:spPr>
        <p:txBody>
          <a:bodyPr wrap="square" anchor="t" lIns="0" rIns="0" tIns="0" bIns="0">
            <a:spAutoFit/>
          </a:bodyPr>
          <a:lstStyle/>
          <a:p>
            <a:pPr algn="l">
              <a:spcAft>
                <a:spcPts val="800"/>
              </a:spcAft>
            </a:pPr>
            <a:r>
              <a:rPr sz="1700" b="0">
                <a:solidFill>
                  <a:srgbClr val="222222"/>
                </a:solidFill>
                <a:latin typeface="Arial"/>
              </a:rPr>
              <a:t>Campaign support, with a size floor.  |  Ten dealer invitations.  |  Which two capabilities to build first.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365760"/>
          </a:xfrm>
          <a:prstGeom prst="rect">
            <a:avLst/>
          </a:prstGeom>
          <a:noFill/>
        </p:spPr>
        <p:txBody>
          <a:bodyPr wrap="square" anchor="t" lIns="0" rIns="0" tIns="0" bIns="0">
            <a:spAutoFit/>
          </a:bodyPr>
          <a:lstStyle/>
          <a:p>
            <a:pPr algn="l">
              <a:spcAft>
                <a:spcPts val="0"/>
              </a:spcAft>
            </a:pPr>
            <a:r>
              <a:rPr sz="1200" b="1">
                <a:solidFill>
                  <a:srgbClr val="C0552D"/>
                </a:solidFill>
                <a:latin typeface="Arial"/>
              </a:rPr>
              <a:t>THE SCOPE BOUNDARY</a:t>
            </a:r>
          </a:p>
        </p:txBody>
      </p:sp>
      <p:sp>
        <p:nvSpPr>
          <p:cNvPr id="5" name="TextBox 4"/>
          <p:cNvSpPr txBox="1"/>
          <p:nvPr/>
        </p:nvSpPr>
        <p:spPr>
          <a:xfrm>
            <a:off x="822960" y="1325880"/>
            <a:ext cx="10424160" cy="2743200"/>
          </a:xfrm>
          <a:prstGeom prst="rect">
            <a:avLst/>
          </a:prstGeom>
          <a:noFill/>
        </p:spPr>
        <p:txBody>
          <a:bodyPr wrap="square" anchor="t" lIns="0" rIns="0" tIns="0" bIns="0">
            <a:spAutoFit/>
          </a:bodyPr>
          <a:lstStyle/>
          <a:p>
            <a:pPr algn="l">
              <a:spcAft>
                <a:spcPts val="0"/>
              </a:spcAft>
            </a:pPr>
            <a:r>
              <a:rPr sz="4000" b="1">
                <a:solidFill>
                  <a:srgbClr val="15233C"/>
                </a:solidFill>
                <a:latin typeface="Georgia"/>
              </a:rPr>
              <a:t>Routine service is not the product.</a:t>
            </a:r>
          </a:p>
        </p:txBody>
      </p:sp>
      <p:sp>
        <p:nvSpPr>
          <p:cNvPr id="6" name="TextBox 5"/>
          <p:cNvSpPr txBox="1"/>
          <p:nvPr/>
        </p:nvSpPr>
        <p:spPr>
          <a:xfrm>
            <a:off x="822960" y="4206240"/>
            <a:ext cx="9692640" cy="2011680"/>
          </a:xfrm>
          <a:prstGeom prst="rect">
            <a:avLst/>
          </a:prstGeom>
          <a:noFill/>
        </p:spPr>
        <p:txBody>
          <a:bodyPr wrap="square" anchor="t" lIns="0" rIns="0" tIns="0" bIns="0">
            <a:spAutoFit/>
          </a:bodyPr>
          <a:lstStyle/>
          <a:p>
            <a:pPr algn="l">
              <a:spcAft>
                <a:spcPts val="800"/>
              </a:spcAft>
            </a:pPr>
            <a:r>
              <a:rPr sz="1700" b="0">
                <a:solidFill>
                  <a:srgbClr val="222222"/>
                </a:solidFill>
                <a:latin typeface="Arial"/>
              </a:rPr>
              <a:t>Availability enquiries, ordinary part and BVP lookups, day-to-day quotations and support administration stay in the existing business. They are not rewards for participation and not a bargaining instrument for more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PORTFOLIO</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Four foundations. Five tools. One class of decision.</a:t>
            </a:r>
          </a:p>
        </p:txBody>
      </p:sp>
      <p:pic>
        <p:nvPicPr>
          <p:cNvPr id="6" name="Picture 5" descr="f03_portfolio.png"/>
          <p:cNvPicPr>
            <a:picLocks noChangeAspect="1"/>
          </p:cNvPicPr>
          <p:nvPr/>
        </p:nvPicPr>
        <p:blipFill>
          <a:blip r:embed="rId2"/>
          <a:stretch>
            <a:fillRect/>
          </a:stretch>
        </p:blipFill>
        <p:spPr>
          <a:xfrm>
            <a:off x="1348668" y="1783080"/>
            <a:ext cx="9494357" cy="4160520"/>
          </a:xfrm>
          <a:prstGeom prst="rect">
            <a:avLst/>
          </a:prstGeom>
        </p:spPr>
      </p:pic>
      <p:sp>
        <p:nvSpPr>
          <p:cNvPr id="7" name="TextBox 6"/>
          <p:cNvSpPr txBox="1"/>
          <p:nvPr/>
        </p:nvSpPr>
        <p:spPr>
          <a:xfrm>
            <a:off x="731520" y="6089904"/>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3 of the paper. Each tool uses only the evidence relevant to its own question.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WHY PRODUCT DETAIL</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Value fell 13.0%. Volume fell 25.4%.</a:t>
            </a:r>
          </a:p>
        </p:txBody>
      </p:sp>
      <p:pic>
        <p:nvPicPr>
          <p:cNvPr id="6" name="Picture 5" descr="f01_ituk_value_vs_volume.png"/>
          <p:cNvPicPr>
            <a:picLocks noChangeAspect="1"/>
          </p:cNvPicPr>
          <p:nvPr/>
        </p:nvPicPr>
        <p:blipFill>
          <a:blip r:embed="rId2"/>
          <a:stretch>
            <a:fillRect/>
          </a:stretch>
        </p:blipFill>
        <p:spPr>
          <a:xfrm>
            <a:off x="1839856" y="1783080"/>
            <a:ext cx="8511981" cy="4160520"/>
          </a:xfrm>
          <a:prstGeom prst="rect">
            <a:avLst/>
          </a:prstGeom>
        </p:spPr>
      </p:pic>
      <p:sp>
        <p:nvSpPr>
          <p:cNvPr id="7" name="TextBox 6"/>
          <p:cNvSpPr txBox="1"/>
          <p:nvPr/>
        </p:nvSpPr>
        <p:spPr>
          <a:xfrm>
            <a:off x="731520" y="6089904"/>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1 of the paper. ITUK brake-pad source category, full calendar 2024 and 2025. Measured.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CONCENTRATION</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One product form carries 95.7% of it.</a:t>
            </a:r>
          </a:p>
        </p:txBody>
      </p:sp>
      <p:pic>
        <p:nvPicPr>
          <p:cNvPr id="6" name="Picture 5" descr="f04_brake_split.png"/>
          <p:cNvPicPr>
            <a:picLocks noChangeAspect="1"/>
          </p:cNvPicPr>
          <p:nvPr/>
        </p:nvPicPr>
        <p:blipFill>
          <a:blip r:embed="rId2"/>
          <a:stretch>
            <a:fillRect/>
          </a:stretch>
        </p:blipFill>
        <p:spPr>
          <a:xfrm>
            <a:off x="746607" y="1824320"/>
            <a:ext cx="10698480" cy="4078039"/>
          </a:xfrm>
          <a:prstGeom prst="rect">
            <a:avLst/>
          </a:prstGeom>
        </p:spPr>
      </p:pic>
      <p:sp>
        <p:nvSpPr>
          <p:cNvPr id="7" name="TextBox 6"/>
          <p:cNvSpPr txBox="1"/>
          <p:nvPr/>
        </p:nvSpPr>
        <p:spPr>
          <a:xfrm>
            <a:off x="731520" y="6048663"/>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4 of the paper. Three selected ITUK source categories, CY2025 against CY2024. Measured.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TRAP THIS PREVENTS</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The combined offer grew while Genuine fell.</a:t>
            </a:r>
          </a:p>
        </p:txBody>
      </p:sp>
      <p:pic>
        <p:nvPicPr>
          <p:cNvPr id="6" name="Picture 5" descr="f05_portugal_clutch.png"/>
          <p:cNvPicPr>
            <a:picLocks noChangeAspect="1"/>
          </p:cNvPicPr>
          <p:nvPr/>
        </p:nvPicPr>
        <p:blipFill>
          <a:blip r:embed="rId2"/>
          <a:stretch>
            <a:fillRect/>
          </a:stretch>
        </p:blipFill>
        <p:spPr>
          <a:xfrm>
            <a:off x="1123150" y="1783080"/>
            <a:ext cx="9945393" cy="4160520"/>
          </a:xfrm>
          <a:prstGeom prst="rect">
            <a:avLst/>
          </a:prstGeom>
        </p:spPr>
      </p:pic>
      <p:sp>
        <p:nvSpPr>
          <p:cNvPr id="7" name="TextBox 6"/>
          <p:cNvSpPr txBox="1"/>
          <p:nvPr/>
        </p:nvSpPr>
        <p:spPr>
          <a:xfrm>
            <a:off x="731520" y="6089904"/>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5 of the paper. I Motors, Portugal, clutch-kit source category. Measured.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WHERE THE MONEY SITS</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The deepest concession is in the smallest markets.</a:t>
            </a:r>
          </a:p>
        </p:txBody>
      </p:sp>
      <p:pic>
        <p:nvPicPr>
          <p:cNvPr id="6" name="Picture 5" descr="f06_concession_by_db.png"/>
          <p:cNvPicPr>
            <a:picLocks noChangeAspect="1"/>
          </p:cNvPicPr>
          <p:nvPr/>
        </p:nvPicPr>
        <p:blipFill>
          <a:blip r:embed="rId2"/>
          <a:stretch>
            <a:fillRect/>
          </a:stretch>
        </p:blipFill>
        <p:spPr>
          <a:xfrm>
            <a:off x="2027783" y="1783080"/>
            <a:ext cx="8136128" cy="4160520"/>
          </a:xfrm>
          <a:prstGeom prst="rect">
            <a:avLst/>
          </a:prstGeom>
        </p:spPr>
      </p:pic>
      <p:sp>
        <p:nvSpPr>
          <p:cNvPr id="7" name="TextBox 6"/>
          <p:cNvSpPr txBox="1"/>
          <p:nvPr/>
        </p:nvSpPr>
        <p:spPr>
          <a:xfrm>
            <a:off x="731520" y="6089904"/>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6 of the paper. PMS lines carrying a reference price, 24 distributors, 2025. Measured.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BY PRODUCT FAMILY</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Two families carry the deep discount. Two carry almost none.</a:t>
            </a:r>
          </a:p>
        </p:txBody>
      </p:sp>
      <p:pic>
        <p:nvPicPr>
          <p:cNvPr id="6" name="Picture 5" descr="f07_concession_by_family.png"/>
          <p:cNvPicPr>
            <a:picLocks noChangeAspect="1"/>
          </p:cNvPicPr>
          <p:nvPr/>
        </p:nvPicPr>
        <p:blipFill>
          <a:blip r:embed="rId2"/>
          <a:stretch>
            <a:fillRect/>
          </a:stretch>
        </p:blipFill>
        <p:spPr>
          <a:xfrm>
            <a:off x="1505651" y="1783080"/>
            <a:ext cx="9180391" cy="4160520"/>
          </a:xfrm>
          <a:prstGeom prst="rect">
            <a:avLst/>
          </a:prstGeom>
        </p:spPr>
      </p:pic>
      <p:sp>
        <p:nvSpPr>
          <p:cNvPr id="7" name="TextBox 6"/>
          <p:cNvSpPr txBox="1"/>
          <p:nvPr/>
        </p:nvSpPr>
        <p:spPr>
          <a:xfrm>
            <a:off x="731520" y="6089904"/>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7 of the paper. Eight largest PMS families by 2025 billing. Measured.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DENOMINATOR</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What the money is measured against.</a:t>
            </a:r>
          </a:p>
        </p:txBody>
      </p:sp>
      <p:graphicFrame>
        <p:nvGraphicFramePr>
          <p:cNvPr id="6" name="Table 5"/>
          <p:cNvGraphicFramePr>
            <a:graphicFrameLocks noGrp="1"/>
          </p:cNvGraphicFramePr>
          <p:nvPr/>
        </p:nvGraphicFramePr>
        <p:xfrm>
          <a:off x="731520" y="1874519"/>
          <a:ext cx="10698480" cy="1847088"/>
        </p:xfrm>
        <a:graphic>
          <a:graphicData uri="http://schemas.openxmlformats.org/drawingml/2006/table">
            <a:tbl>
              <a:tblPr firstRow="1" bandRow="1">
                <a:tableStyleId>{5C22544A-7EE6-4342-B048-85BDC9FD1C3A}</a:tableStyleId>
              </a:tblPr>
              <a:tblGrid>
                <a:gridCol w="8023860"/>
                <a:gridCol w="2674620"/>
              </a:tblGrid>
              <a:tr h="310896">
                <a:tc>
                  <a:txBody>
                    <a:bodyPr/>
                    <a:lstStyle/>
                    <a:p>
                      <a:r>
                        <a:rPr sz="1150" b="1">
                          <a:solidFill>
                            <a:srgbClr val="FFFFFF"/>
                          </a:solidFill>
                          <a:latin typeface="Arial"/>
                        </a:rPr>
                        <a:t>Basis</a:t>
                      </a:r>
                    </a:p>
                  </a:txBody>
                  <a:tcPr marL="91440" marR="73152" marT="27432" marB="27432" anchor="ctr">
                    <a:solidFill>
                      <a:srgbClr val="15233C"/>
                    </a:solidFill>
                  </a:tcPr>
                </a:tc>
                <a:tc>
                  <a:txBody>
                    <a:bodyPr/>
                    <a:lstStyle/>
                    <a:p>
                      <a:r>
                        <a:rPr sz="1150" b="1">
                          <a:solidFill>
                            <a:srgbClr val="FFFFFF"/>
                          </a:solidFill>
                          <a:latin typeface="Arial"/>
                        </a:rPr>
                        <a:t>Value</a:t>
                      </a:r>
                    </a:p>
                  </a:txBody>
                  <a:tcPr marL="91440" marR="73152" marT="27432" marB="27432" anchor="ctr">
                    <a:solidFill>
                      <a:srgbClr val="15233C"/>
                    </a:solidFill>
                  </a:tcPr>
                </a:tc>
              </a:tr>
              <a:tr h="384048">
                <a:tc>
                  <a:txBody>
                    <a:bodyPr/>
                    <a:lstStyle/>
                    <a:p>
                      <a:r>
                        <a:rPr sz="1200" b="1">
                          <a:solidFill>
                            <a:srgbClr val="222222"/>
                          </a:solidFill>
                          <a:latin typeface="Arial"/>
                        </a:rPr>
                        <a:t>Network parts billed to distributors, calendar 2025</a:t>
                      </a:r>
                    </a:p>
                  </a:txBody>
                  <a:tcPr marL="91440" marR="73152" marT="27432" marB="27432" anchor="ctr">
                    <a:solidFill>
                      <a:srgbClr val="FFFFFF"/>
                    </a:solidFill>
                  </a:tcPr>
                </a:tc>
                <a:tc>
                  <a:txBody>
                    <a:bodyPr/>
                    <a:lstStyle/>
                    <a:p>
                      <a:r>
                        <a:rPr sz="1200" b="0">
                          <a:solidFill>
                            <a:srgbClr val="222222"/>
                          </a:solidFill>
                          <a:latin typeface="Arial"/>
                        </a:rPr>
                        <a:t>32,381,312 euro</a:t>
                      </a:r>
                    </a:p>
                  </a:txBody>
                  <a:tcPr marL="91440" marR="73152" marT="27432" marB="27432" anchor="ctr">
                    <a:solidFill>
                      <a:srgbClr val="FFFFFF"/>
                    </a:solidFill>
                  </a:tcPr>
                </a:tc>
              </a:tr>
              <a:tr h="384048">
                <a:tc>
                  <a:txBody>
                    <a:bodyPr/>
                    <a:lstStyle/>
                    <a:p>
                      <a:r>
                        <a:rPr sz="1200" b="1">
                          <a:solidFill>
                            <a:srgbClr val="222222"/>
                          </a:solidFill>
                          <a:latin typeface="Arial"/>
                        </a:rPr>
                        <a:t>The 18 markets carrying a fleet figure</a:t>
                      </a:r>
                    </a:p>
                  </a:txBody>
                  <a:tcPr marL="91440" marR="73152" marT="27432" marB="27432" anchor="ctr">
                    <a:solidFill>
                      <a:srgbClr val="FAF8F3"/>
                    </a:solidFill>
                  </a:tcPr>
                </a:tc>
                <a:tc>
                  <a:txBody>
                    <a:bodyPr/>
                    <a:lstStyle/>
                    <a:p>
                      <a:r>
                        <a:rPr sz="1200" b="0">
                          <a:solidFill>
                            <a:srgbClr val="222222"/>
                          </a:solidFill>
                          <a:latin typeface="Arial"/>
                        </a:rPr>
                        <a:t>30,756,772 euro</a:t>
                      </a:r>
                    </a:p>
                  </a:txBody>
                  <a:tcPr marL="91440" marR="73152" marT="27432" marB="27432" anchor="ctr">
                    <a:solidFill>
                      <a:srgbClr val="FAF8F3"/>
                    </a:solidFill>
                  </a:tcPr>
                </a:tc>
              </a:tr>
              <a:tr h="384048">
                <a:tc>
                  <a:txBody>
                    <a:bodyPr/>
                    <a:lstStyle/>
                    <a:p>
                      <a:r>
                        <a:rPr sz="1200" b="1">
                          <a:solidFill>
                            <a:srgbClr val="222222"/>
                          </a:solidFill>
                          <a:latin typeface="Arial"/>
                        </a:rPr>
                        <a:t>The 100,000 euro route as a share of one year</a:t>
                      </a:r>
                    </a:p>
                  </a:txBody>
                  <a:tcPr marL="91440" marR="73152" marT="27432" marB="27432" anchor="ctr">
                    <a:solidFill>
                      <a:srgbClr val="FFFFFF"/>
                    </a:solidFill>
                  </a:tcPr>
                </a:tc>
                <a:tc>
                  <a:txBody>
                    <a:bodyPr/>
                    <a:lstStyle/>
                    <a:p>
                      <a:r>
                        <a:rPr sz="1200" b="0">
                          <a:solidFill>
                            <a:srgbClr val="222222"/>
                          </a:solidFill>
                          <a:latin typeface="Arial"/>
                        </a:rPr>
                        <a:t>0.31 per cent</a:t>
                      </a:r>
                    </a:p>
                  </a:txBody>
                  <a:tcPr marL="91440" marR="73152" marT="27432" marB="27432" anchor="ctr">
                    <a:solidFill>
                      <a:srgbClr val="FFFFFF"/>
                    </a:solidFill>
                  </a:tcPr>
                </a:tc>
              </a:tr>
              <a:tr h="384048">
                <a:tc>
                  <a:txBody>
                    <a:bodyPr/>
                    <a:lstStyle/>
                    <a:p>
                      <a:r>
                        <a:rPr sz="1200" b="1">
                          <a:solidFill>
                            <a:srgbClr val="222222"/>
                          </a:solidFill>
                          <a:latin typeface="Arial"/>
                        </a:rPr>
                        <a:t>The 300,000 euro route on the same basis</a:t>
                      </a:r>
                    </a:p>
                  </a:txBody>
                  <a:tcPr marL="91440" marR="73152" marT="27432" marB="27432" anchor="ctr">
                    <a:solidFill>
                      <a:srgbClr val="FAF8F3"/>
                    </a:solidFill>
                  </a:tcPr>
                </a:tc>
                <a:tc>
                  <a:txBody>
                    <a:bodyPr/>
                    <a:lstStyle/>
                    <a:p>
                      <a:r>
                        <a:rPr sz="1200" b="0">
                          <a:solidFill>
                            <a:srgbClr val="222222"/>
                          </a:solidFill>
                          <a:latin typeface="Arial"/>
                        </a:rPr>
                        <a:t>0.93 per cent</a:t>
                      </a:r>
                    </a:p>
                  </a:txBody>
                  <a:tcPr marL="91440" marR="73152" marT="27432" marB="27432" anchor="ctr">
                    <a:solidFill>
                      <a:srgbClr val="FAF8F3"/>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HURDLE</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Forty qualifying actions is the break-even.</a:t>
            </a:r>
          </a:p>
        </p:txBody>
      </p:sp>
      <p:pic>
        <p:nvPicPr>
          <p:cNvPr id="6" name="Picture 5" descr="f08_hurdle.png"/>
          <p:cNvPicPr>
            <a:picLocks noChangeAspect="1"/>
          </p:cNvPicPr>
          <p:nvPr/>
        </p:nvPicPr>
        <p:blipFill>
          <a:blip r:embed="rId2"/>
          <a:stretch>
            <a:fillRect/>
          </a:stretch>
        </p:blipFill>
        <p:spPr>
          <a:xfrm>
            <a:off x="1801634" y="1783080"/>
            <a:ext cx="8588425" cy="4160520"/>
          </a:xfrm>
          <a:prstGeom prst="rect">
            <a:avLst/>
          </a:prstGeom>
        </p:spPr>
      </p:pic>
      <p:sp>
        <p:nvSpPr>
          <p:cNvPr id="7" name="TextBox 6"/>
          <p:cNvSpPr txBox="1"/>
          <p:nvPr/>
        </p:nvSpPr>
        <p:spPr>
          <a:xfrm>
            <a:off x="731520" y="6089904"/>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8 of the paper. Hypothetical arithmetic on stated inputs, not a forecast.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MECHANISM</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500 euro of gross profit turns on scope alone.</a:t>
            </a:r>
          </a:p>
        </p:txBody>
      </p:sp>
      <p:pic>
        <p:nvPicPr>
          <p:cNvPr id="6" name="Picture 5" descr="f09_scope_effect.png"/>
          <p:cNvPicPr>
            <a:picLocks noChangeAspect="1"/>
          </p:cNvPicPr>
          <p:nvPr/>
        </p:nvPicPr>
        <p:blipFill>
          <a:blip r:embed="rId2"/>
          <a:stretch>
            <a:fillRect/>
          </a:stretch>
        </p:blipFill>
        <p:spPr>
          <a:xfrm>
            <a:off x="1369566" y="1783080"/>
            <a:ext cx="9452562" cy="4160520"/>
          </a:xfrm>
          <a:prstGeom prst="rect">
            <a:avLst/>
          </a:prstGeom>
        </p:spPr>
      </p:pic>
      <p:sp>
        <p:nvSpPr>
          <p:cNvPr id="7" name="TextBox 6"/>
          <p:cNvSpPr txBox="1"/>
          <p:nvPr/>
        </p:nvSpPr>
        <p:spPr>
          <a:xfrm>
            <a:off x="731520" y="6089904"/>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9 of the paper. 100-unit baseline at 100 euro net and 70 euro parts cost, 20 extra units, 5% concession.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RECOMMENDATION</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What to fund, and the floor.</a:t>
            </a:r>
          </a:p>
        </p:txBody>
      </p:sp>
      <p:graphicFrame>
        <p:nvGraphicFramePr>
          <p:cNvPr id="6" name="Table 5"/>
          <p:cNvGraphicFramePr>
            <a:graphicFrameLocks noGrp="1"/>
          </p:cNvGraphicFramePr>
          <p:nvPr/>
        </p:nvGraphicFramePr>
        <p:xfrm>
          <a:off x="731520" y="1874519"/>
          <a:ext cx="10698478" cy="2231136"/>
        </p:xfrm>
        <a:graphic>
          <a:graphicData uri="http://schemas.openxmlformats.org/drawingml/2006/table">
            <a:tbl>
              <a:tblPr firstRow="1" bandRow="1">
                <a:tableStyleId>{5C22544A-7EE6-4342-B048-85BDC9FD1C3A}</a:tableStyleId>
              </a:tblPr>
              <a:tblGrid>
                <a:gridCol w="2588341"/>
                <a:gridCol w="2243229"/>
                <a:gridCol w="5866908"/>
              </a:tblGrid>
              <a:tr h="310896">
                <a:tc>
                  <a:txBody>
                    <a:bodyPr/>
                    <a:lstStyle/>
                    <a:p>
                      <a:r>
                        <a:rPr sz="1150" b="1">
                          <a:solidFill>
                            <a:srgbClr val="FFFFFF"/>
                          </a:solidFill>
                          <a:latin typeface="Arial"/>
                        </a:rPr>
                        <a:t>Line</a:t>
                      </a:r>
                    </a:p>
                  </a:txBody>
                  <a:tcPr marL="91440" marR="73152" marT="27432" marB="27432" anchor="ctr">
                    <a:solidFill>
                      <a:srgbClr val="15233C"/>
                    </a:solidFill>
                  </a:tcPr>
                </a:tc>
                <a:tc>
                  <a:txBody>
                    <a:bodyPr/>
                    <a:lstStyle/>
                    <a:p>
                      <a:r>
                        <a:rPr sz="1150" b="1">
                          <a:solidFill>
                            <a:srgbClr val="FFFFFF"/>
                          </a:solidFill>
                          <a:latin typeface="Arial"/>
                        </a:rPr>
                        <a:t>Amount</a:t>
                      </a:r>
                    </a:p>
                  </a:txBody>
                  <a:tcPr marL="91440" marR="73152" marT="27432" marB="27432" anchor="ctr">
                    <a:solidFill>
                      <a:srgbClr val="15233C"/>
                    </a:solidFill>
                  </a:tcPr>
                </a:tc>
                <a:tc>
                  <a:txBody>
                    <a:bodyPr/>
                    <a:lstStyle/>
                    <a:p>
                      <a:r>
                        <a:rPr sz="1150" b="1">
                          <a:solidFill>
                            <a:srgbClr val="FFFFFF"/>
                          </a:solidFill>
                          <a:latin typeface="Arial"/>
                        </a:rPr>
                        <a:t>What has to be demonstrated</a:t>
                      </a:r>
                    </a:p>
                  </a:txBody>
                  <a:tcPr marL="91440" marR="73152" marT="27432" marB="27432" anchor="ctr">
                    <a:solidFill>
                      <a:srgbClr val="15233C"/>
                    </a:solidFill>
                  </a:tcPr>
                </a:tc>
              </a:tr>
              <a:tr h="384048">
                <a:tc>
                  <a:txBody>
                    <a:bodyPr/>
                    <a:lstStyle/>
                    <a:p>
                      <a:r>
                        <a:rPr sz="1200" b="1">
                          <a:solidFill>
                            <a:srgbClr val="222222"/>
                          </a:solidFill>
                          <a:latin typeface="Arial"/>
                        </a:rPr>
                        <a:t>Campaign support</a:t>
                      </a:r>
                    </a:p>
                  </a:txBody>
                  <a:tcPr marL="91440" marR="73152" marT="27432" marB="27432" anchor="ctr">
                    <a:solidFill>
                      <a:srgbClr val="FFFFFF"/>
                    </a:solidFill>
                  </a:tcPr>
                </a:tc>
                <a:tc>
                  <a:txBody>
                    <a:bodyPr/>
                    <a:lstStyle/>
                    <a:p>
                      <a:r>
                        <a:rPr sz="1200" b="0">
                          <a:solidFill>
                            <a:srgbClr val="222222"/>
                          </a:solidFill>
                          <a:latin typeface="Arial"/>
                        </a:rPr>
                        <a:t>35,000 to 50,000</a:t>
                      </a:r>
                    </a:p>
                  </a:txBody>
                  <a:tcPr marL="91440" marR="73152" marT="27432" marB="27432" anchor="ctr">
                    <a:solidFill>
                      <a:srgbClr val="FFFFFF"/>
                    </a:solidFill>
                  </a:tcPr>
                </a:tc>
                <a:tc>
                  <a:txBody>
                    <a:bodyPr/>
                    <a:lstStyle/>
                    <a:p>
                      <a:r>
                        <a:rPr sz="1200" b="0">
                          <a:solidFill>
                            <a:srgbClr val="222222"/>
                          </a:solidFill>
                          <a:latin typeface="Arial"/>
                        </a:rPr>
                        <a:t>8 to 12 campaigns against the size floor</a:t>
                      </a:r>
                    </a:p>
                  </a:txBody>
                  <a:tcPr marL="91440" marR="73152" marT="27432" marB="27432" anchor="ctr">
                    <a:solidFill>
                      <a:srgbClr val="FFFFFF"/>
                    </a:solidFill>
                  </a:tcPr>
                </a:tc>
              </a:tr>
              <a:tr h="384048">
                <a:tc>
                  <a:txBody>
                    <a:bodyPr/>
                    <a:lstStyle/>
                    <a:p>
                      <a:r>
                        <a:rPr sz="1200" b="1">
                          <a:solidFill>
                            <a:srgbClr val="222222"/>
                          </a:solidFill>
                          <a:latin typeface="Arial"/>
                        </a:rPr>
                        <a:t>Dealer enablement</a:t>
                      </a:r>
                    </a:p>
                  </a:txBody>
                  <a:tcPr marL="91440" marR="73152" marT="27432" marB="27432" anchor="ctr">
                    <a:solidFill>
                      <a:srgbClr val="FAF8F3"/>
                    </a:solidFill>
                  </a:tcPr>
                </a:tc>
                <a:tc>
                  <a:txBody>
                    <a:bodyPr/>
                    <a:lstStyle/>
                    <a:p>
                      <a:r>
                        <a:rPr sz="1200" b="0">
                          <a:solidFill>
                            <a:srgbClr val="222222"/>
                          </a:solidFill>
                          <a:latin typeface="Arial"/>
                        </a:rPr>
                        <a:t>15,000 to 25,000</a:t>
                      </a:r>
                    </a:p>
                  </a:txBody>
                  <a:tcPr marL="91440" marR="73152" marT="27432" marB="27432" anchor="ctr">
                    <a:solidFill>
                      <a:srgbClr val="FAF8F3"/>
                    </a:solidFill>
                  </a:tcPr>
                </a:tc>
                <a:tc>
                  <a:txBody>
                    <a:bodyPr/>
                    <a:lstStyle/>
                    <a:p>
                      <a:r>
                        <a:rPr sz="1200" b="0">
                          <a:solidFill>
                            <a:srgbClr val="222222"/>
                          </a:solidFill>
                          <a:latin typeface="Arial"/>
                        </a:rPr>
                        <a:t>25 to 40 accepted setup tasks at 600 euro</a:t>
                      </a:r>
                    </a:p>
                  </a:txBody>
                  <a:tcPr marL="91440" marR="73152" marT="27432" marB="27432" anchor="ctr">
                    <a:solidFill>
                      <a:srgbClr val="FAF8F3"/>
                    </a:solidFill>
                  </a:tcPr>
                </a:tc>
              </a:tr>
              <a:tr h="384048">
                <a:tc>
                  <a:txBody>
                    <a:bodyPr/>
                    <a:lstStyle/>
                    <a:p>
                      <a:r>
                        <a:rPr sz="1200" b="1">
                          <a:solidFill>
                            <a:srgbClr val="222222"/>
                          </a:solidFill>
                          <a:latin typeface="Arial"/>
                        </a:rPr>
                        <a:t>Independent evaluation</a:t>
                      </a:r>
                    </a:p>
                  </a:txBody>
                  <a:tcPr marL="91440" marR="73152" marT="27432" marB="27432" anchor="ctr">
                    <a:solidFill>
                      <a:srgbClr val="FFFFFF"/>
                    </a:solidFill>
                  </a:tcPr>
                </a:tc>
                <a:tc>
                  <a:txBody>
                    <a:bodyPr/>
                    <a:lstStyle/>
                    <a:p>
                      <a:r>
                        <a:rPr sz="1200" b="0">
                          <a:solidFill>
                            <a:srgbClr val="222222"/>
                          </a:solidFill>
                          <a:latin typeface="Arial"/>
                        </a:rPr>
                        <a:t>10,000 to 15,000</a:t>
                      </a:r>
                    </a:p>
                  </a:txBody>
                  <a:tcPr marL="91440" marR="73152" marT="27432" marB="27432" anchor="ctr">
                    <a:solidFill>
                      <a:srgbClr val="FFFFFF"/>
                    </a:solidFill>
                  </a:tcPr>
                </a:tc>
                <a:tc>
                  <a:txBody>
                    <a:bodyPr/>
                    <a:lstStyle/>
                    <a:p>
                      <a:r>
                        <a:rPr sz="1200" b="0">
                          <a:solidFill>
                            <a:srgbClr val="222222"/>
                          </a:solidFill>
                          <a:latin typeface="Arial"/>
                        </a:rPr>
                        <a:t>Two waves at 90 and 180 days, including returns</a:t>
                      </a:r>
                    </a:p>
                  </a:txBody>
                  <a:tcPr marL="91440" marR="73152" marT="27432" marB="27432" anchor="ctr">
                    <a:solidFill>
                      <a:srgbClr val="FFFFFF"/>
                    </a:solidFill>
                  </a:tcPr>
                </a:tc>
              </a:tr>
              <a:tr h="384048">
                <a:tc>
                  <a:txBody>
                    <a:bodyPr/>
                    <a:lstStyle/>
                    <a:p>
                      <a:r>
                        <a:rPr sz="1200" b="1">
                          <a:solidFill>
                            <a:srgbClr val="222222"/>
                          </a:solidFill>
                          <a:latin typeface="Arial"/>
                        </a:rPr>
                        <a:t>Total campaign cash</a:t>
                      </a:r>
                    </a:p>
                  </a:txBody>
                  <a:tcPr marL="91440" marR="73152" marT="27432" marB="27432" anchor="ctr">
                    <a:solidFill>
                      <a:srgbClr val="FAF8F3"/>
                    </a:solidFill>
                  </a:tcPr>
                </a:tc>
                <a:tc>
                  <a:txBody>
                    <a:bodyPr/>
                    <a:lstStyle/>
                    <a:p>
                      <a:r>
                        <a:rPr sz="1200" b="0">
                          <a:solidFill>
                            <a:srgbClr val="222222"/>
                          </a:solidFill>
                          <a:latin typeface="Arial"/>
                        </a:rPr>
                        <a:t>60,000 to 90,000</a:t>
                      </a:r>
                    </a:p>
                  </a:txBody>
                  <a:tcPr marL="91440" marR="73152" marT="27432" marB="27432" anchor="ctr">
                    <a:solidFill>
                      <a:srgbClr val="FAF8F3"/>
                    </a:solidFill>
                  </a:tcPr>
                </a:tc>
                <a:tc>
                  <a:txBody>
                    <a:bodyPr/>
                    <a:lstStyle/>
                    <a:p>
                      <a:r>
                        <a:rPr sz="1200" b="0">
                          <a:solidFill>
                            <a:srgbClr val="222222"/>
                          </a:solidFill>
                          <a:latin typeface="Arial"/>
                        </a:rPr>
                        <a:t>Inside the existing 100,000 euro route</a:t>
                      </a:r>
                    </a:p>
                  </a:txBody>
                  <a:tcPr marL="91440" marR="73152" marT="27432" marB="27432" anchor="ctr">
                    <a:solidFill>
                      <a:srgbClr val="FAF8F3"/>
                    </a:solidFill>
                  </a:tcPr>
                </a:tc>
              </a:tr>
              <a:tr h="384048">
                <a:tc>
                  <a:txBody>
                    <a:bodyPr/>
                    <a:lstStyle/>
                    <a:p>
                      <a:r>
                        <a:rPr sz="1200" b="1">
                          <a:solidFill>
                            <a:srgbClr val="222222"/>
                          </a:solidFill>
                          <a:latin typeface="Arial"/>
                        </a:rPr>
                        <a:t>Minimum campaign size</a:t>
                      </a:r>
                    </a:p>
                  </a:txBody>
                  <a:tcPr marL="91440" marR="73152" marT="27432" marB="27432" anchor="ctr">
                    <a:solidFill>
                      <a:srgbClr val="FFFFFF"/>
                    </a:solidFill>
                  </a:tcPr>
                </a:tc>
                <a:tc>
                  <a:txBody>
                    <a:bodyPr/>
                    <a:lstStyle/>
                    <a:p>
                      <a:r>
                        <a:rPr sz="1200" b="0">
                          <a:solidFill>
                            <a:srgbClr val="222222"/>
                          </a:solidFill>
                          <a:latin typeface="Arial"/>
                        </a:rPr>
                        <a:t>150,000 eligible</a:t>
                      </a:r>
                    </a:p>
                  </a:txBody>
                  <a:tcPr marL="91440" marR="73152" marT="27432" marB="27432" anchor="ctr">
                    <a:solidFill>
                      <a:srgbClr val="FFFFFF"/>
                    </a:solidFill>
                  </a:tcPr>
                </a:tc>
                <a:tc>
                  <a:txBody>
                    <a:bodyPr/>
                    <a:lstStyle/>
                    <a:p>
                      <a:r>
                        <a:rPr sz="1200" b="0">
                          <a:solidFill>
                            <a:srgbClr val="222222"/>
                          </a:solidFill>
                          <a:latin typeface="Arial"/>
                        </a:rPr>
                        <a:t>Below this the campaign cannot pay for its own preparation</a:t>
                      </a:r>
                    </a:p>
                  </a:txBody>
                  <a:tcPr marL="91440" marR="73152" marT="27432" marB="27432"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DEALER</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The dealer's first session must be its own data.</a:t>
            </a:r>
          </a:p>
        </p:txBody>
      </p:sp>
      <p:pic>
        <p:nvPicPr>
          <p:cNvPr id="6" name="Picture 5" descr="f15_ids_scores.png"/>
          <p:cNvPicPr>
            <a:picLocks noChangeAspect="1"/>
          </p:cNvPicPr>
          <p:nvPr/>
        </p:nvPicPr>
        <p:blipFill>
          <a:blip r:embed="rId2"/>
          <a:stretch>
            <a:fillRect/>
          </a:stretch>
        </p:blipFill>
        <p:spPr>
          <a:xfrm>
            <a:off x="1424691" y="1783080"/>
            <a:ext cx="9342311" cy="4160520"/>
          </a:xfrm>
          <a:prstGeom prst="rect">
            <a:avLst/>
          </a:prstGeom>
        </p:spPr>
      </p:pic>
      <p:sp>
        <p:nvSpPr>
          <p:cNvPr id="7" name="TextBox 6"/>
          <p:cNvSpPr txBox="1"/>
          <p:nvPr/>
        </p:nvSpPr>
        <p:spPr>
          <a:xfrm>
            <a:off x="731520" y="6089904"/>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15 of the paper. Dealer network file, 20 September 2026.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DEALER, STEP BY STEP</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Arrive prepared. Ask for a correction, not for data.</a:t>
            </a:r>
          </a:p>
        </p:txBody>
      </p:sp>
      <p:pic>
        <p:nvPicPr>
          <p:cNvPr id="6" name="Picture 5" descr="f14_dealer_join.png"/>
          <p:cNvPicPr>
            <a:picLocks noChangeAspect="1"/>
          </p:cNvPicPr>
          <p:nvPr/>
        </p:nvPicPr>
        <p:blipFill>
          <a:blip r:embed="rId2"/>
          <a:stretch>
            <a:fillRect/>
          </a:stretch>
        </p:blipFill>
        <p:spPr>
          <a:xfrm>
            <a:off x="746607" y="2133645"/>
            <a:ext cx="10698480" cy="3459389"/>
          </a:xfrm>
          <a:prstGeom prst="rect">
            <a:avLst/>
          </a:prstGeom>
        </p:spPr>
      </p:pic>
      <p:sp>
        <p:nvSpPr>
          <p:cNvPr id="7" name="TextBox 6"/>
          <p:cNvSpPr txBox="1"/>
          <p:nvPr/>
        </p:nvSpPr>
        <p:spPr>
          <a:xfrm>
            <a:off x="731520" y="5739338"/>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14 of the paper. Proposed participant journey. No dealer has been invited.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WILL THEY JOIN</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Where the design holds and where it breaks.</a:t>
            </a:r>
          </a:p>
        </p:txBody>
      </p:sp>
      <p:graphicFrame>
        <p:nvGraphicFramePr>
          <p:cNvPr id="6" name="Table 5"/>
          <p:cNvGraphicFramePr>
            <a:graphicFrameLocks noGrp="1"/>
          </p:cNvGraphicFramePr>
          <p:nvPr/>
        </p:nvGraphicFramePr>
        <p:xfrm>
          <a:off x="731520" y="1874519"/>
          <a:ext cx="10698479" cy="2999232"/>
        </p:xfrm>
        <a:graphic>
          <a:graphicData uri="http://schemas.openxmlformats.org/drawingml/2006/table">
            <a:tbl>
              <a:tblPr firstRow="1" bandRow="1">
                <a:tableStyleId>{5C22544A-7EE6-4342-B048-85BDC9FD1C3A}</a:tableStyleId>
              </a:tblPr>
              <a:tblGrid>
                <a:gridCol w="4714584"/>
                <a:gridCol w="1269311"/>
                <a:gridCol w="4714584"/>
              </a:tblGrid>
              <a:tr h="310896">
                <a:tc>
                  <a:txBody>
                    <a:bodyPr/>
                    <a:lstStyle/>
                    <a:p>
                      <a:r>
                        <a:rPr sz="1150" b="1">
                          <a:solidFill>
                            <a:srgbClr val="FFFFFF"/>
                          </a:solidFill>
                          <a:latin typeface="Arial"/>
                        </a:rPr>
                        <a:t>Step</a:t>
                      </a:r>
                    </a:p>
                  </a:txBody>
                  <a:tcPr marL="91440" marR="73152" marT="27432" marB="27432" anchor="ctr">
                    <a:solidFill>
                      <a:srgbClr val="15233C"/>
                    </a:solidFill>
                  </a:tcPr>
                </a:tc>
                <a:tc>
                  <a:txBody>
                    <a:bodyPr/>
                    <a:lstStyle/>
                    <a:p>
                      <a:r>
                        <a:rPr sz="1150" b="1">
                          <a:solidFill>
                            <a:srgbClr val="FFFFFF"/>
                          </a:solidFill>
                          <a:latin typeface="Arial"/>
                        </a:rPr>
                        <a:t>Score</a:t>
                      </a:r>
                    </a:p>
                  </a:txBody>
                  <a:tcPr marL="91440" marR="73152" marT="27432" marB="27432" anchor="ctr">
                    <a:solidFill>
                      <a:srgbClr val="15233C"/>
                    </a:solidFill>
                  </a:tcPr>
                </a:tc>
                <a:tc>
                  <a:txBody>
                    <a:bodyPr/>
                    <a:lstStyle/>
                    <a:p>
                      <a:r>
                        <a:rPr sz="1150" b="1">
                          <a:solidFill>
                            <a:srgbClr val="FFFFFF"/>
                          </a:solidFill>
                          <a:latin typeface="Arial"/>
                        </a:rPr>
                        <a:t>Why</a:t>
                      </a:r>
                    </a:p>
                  </a:txBody>
                  <a:tcPr marL="91440" marR="73152" marT="27432" marB="27432" anchor="ctr">
                    <a:solidFill>
                      <a:srgbClr val="15233C"/>
                    </a:solidFill>
                  </a:tcPr>
                </a:tc>
              </a:tr>
              <a:tr h="384048">
                <a:tc>
                  <a:txBody>
                    <a:bodyPr/>
                    <a:lstStyle/>
                    <a:p>
                      <a:r>
                        <a:rPr sz="1200" b="1">
                          <a:solidFill>
                            <a:srgbClr val="222222"/>
                          </a:solidFill>
                          <a:latin typeface="Arial"/>
                        </a:rPr>
                        <a:t>Dealer accepts the first prepared review</a:t>
                      </a:r>
                    </a:p>
                  </a:txBody>
                  <a:tcPr marL="91440" marR="73152" marT="27432" marB="27432" anchor="ctr">
                    <a:solidFill>
                      <a:srgbClr val="FFFFFF"/>
                    </a:solidFill>
                  </a:tcPr>
                </a:tc>
                <a:tc>
                  <a:txBody>
                    <a:bodyPr/>
                    <a:lstStyle/>
                    <a:p>
                      <a:r>
                        <a:rPr sz="1200" b="0">
                          <a:solidFill>
                            <a:srgbClr val="222222"/>
                          </a:solidFill>
                          <a:latin typeface="Arial"/>
                        </a:rPr>
                        <a:t>55</a:t>
                      </a:r>
                    </a:p>
                  </a:txBody>
                  <a:tcPr marL="91440" marR="73152" marT="27432" marB="27432" anchor="ctr">
                    <a:solidFill>
                      <a:srgbClr val="FFFFFF"/>
                    </a:solidFill>
                  </a:tcPr>
                </a:tc>
                <a:tc>
                  <a:txBody>
                    <a:bodyPr/>
                    <a:lstStyle/>
                    <a:p>
                      <a:r>
                        <a:rPr sz="1200" b="0">
                          <a:solidFill>
                            <a:srgbClr val="222222"/>
                          </a:solidFill>
                          <a:latin typeface="Arial"/>
                        </a:rPr>
                        <a:t>Ten minutes, and it arrives finished</a:t>
                      </a:r>
                    </a:p>
                  </a:txBody>
                  <a:tcPr marL="91440" marR="73152" marT="27432" marB="27432" anchor="ctr">
                    <a:solidFill>
                      <a:srgbClr val="FFFFFF"/>
                    </a:solidFill>
                  </a:tcPr>
                </a:tc>
              </a:tr>
              <a:tr h="384048">
                <a:tc>
                  <a:txBody>
                    <a:bodyPr/>
                    <a:lstStyle/>
                    <a:p>
                      <a:r>
                        <a:rPr sz="1200" b="1">
                          <a:solidFill>
                            <a:srgbClr val="222222"/>
                          </a:solidFill>
                          <a:latin typeface="Arial"/>
                        </a:rPr>
                        <a:t>Dealer corrects the interpretation</a:t>
                      </a:r>
                    </a:p>
                  </a:txBody>
                  <a:tcPr marL="91440" marR="73152" marT="27432" marB="27432" anchor="ctr">
                    <a:solidFill>
                      <a:srgbClr val="FAF8F3"/>
                    </a:solidFill>
                  </a:tcPr>
                </a:tc>
                <a:tc>
                  <a:txBody>
                    <a:bodyPr/>
                    <a:lstStyle/>
                    <a:p>
                      <a:r>
                        <a:rPr sz="1200" b="0">
                          <a:solidFill>
                            <a:srgbClr val="222222"/>
                          </a:solidFill>
                          <a:latin typeface="Arial"/>
                        </a:rPr>
                        <a:t>70</a:t>
                      </a:r>
                    </a:p>
                  </a:txBody>
                  <a:tcPr marL="91440" marR="73152" marT="27432" marB="27432" anchor="ctr">
                    <a:solidFill>
                      <a:srgbClr val="FAF8F3"/>
                    </a:solidFill>
                  </a:tcPr>
                </a:tc>
                <a:tc>
                  <a:txBody>
                    <a:bodyPr/>
                    <a:lstStyle/>
                    <a:p>
                      <a:r>
                        <a:rPr sz="1200" b="0">
                          <a:solidFill>
                            <a:srgbClr val="222222"/>
                          </a:solidFill>
                          <a:latin typeface="Arial"/>
                        </a:rPr>
                        <a:t>Low cost and self-interested</a:t>
                      </a:r>
                    </a:p>
                  </a:txBody>
                  <a:tcPr marL="91440" marR="73152" marT="27432" marB="27432" anchor="ctr">
                    <a:solidFill>
                      <a:srgbClr val="FAF8F3"/>
                    </a:solidFill>
                  </a:tcPr>
                </a:tc>
              </a:tr>
              <a:tr h="384048">
                <a:tc>
                  <a:txBody>
                    <a:bodyPr/>
                    <a:lstStyle/>
                    <a:p>
                      <a:r>
                        <a:rPr sz="1200" b="1">
                          <a:solidFill>
                            <a:srgbClr val="222222"/>
                          </a:solidFill>
                          <a:latin typeface="Arial"/>
                        </a:rPr>
                        <a:t>Dealer uses its own IDS profile</a:t>
                      </a:r>
                    </a:p>
                  </a:txBody>
                  <a:tcPr marL="91440" marR="73152" marT="27432" marB="27432" anchor="ctr">
                    <a:solidFill>
                      <a:srgbClr val="FFFFFF"/>
                    </a:solidFill>
                  </a:tcPr>
                </a:tc>
                <a:tc>
                  <a:txBody>
                    <a:bodyPr/>
                    <a:lstStyle/>
                    <a:p>
                      <a:r>
                        <a:rPr sz="1200" b="0">
                          <a:solidFill>
                            <a:srgbClr val="222222"/>
                          </a:solidFill>
                          <a:latin typeface="Arial"/>
                        </a:rPr>
                        <a:t>65</a:t>
                      </a:r>
                    </a:p>
                  </a:txBody>
                  <a:tcPr marL="91440" marR="73152" marT="27432" marB="27432" anchor="ctr">
                    <a:solidFill>
                      <a:srgbClr val="FFFFFF"/>
                    </a:solidFill>
                  </a:tcPr>
                </a:tc>
                <a:tc>
                  <a:txBody>
                    <a:bodyPr/>
                    <a:lstStyle/>
                    <a:p>
                      <a:r>
                        <a:rPr sz="1200" b="0">
                          <a:solidFill>
                            <a:srgbClr val="222222"/>
                          </a:solidFill>
                          <a:latin typeface="Arial"/>
                        </a:rPr>
                        <a:t>The strongest hook in the programme</a:t>
                      </a:r>
                    </a:p>
                  </a:txBody>
                  <a:tcPr marL="91440" marR="73152" marT="27432" marB="27432" anchor="ctr">
                    <a:solidFill>
                      <a:srgbClr val="FFFFFF"/>
                    </a:solidFill>
                  </a:tcPr>
                </a:tc>
              </a:tr>
              <a:tr h="384048">
                <a:tc>
                  <a:txBody>
                    <a:bodyPr/>
                    <a:lstStyle/>
                    <a:p>
                      <a:r>
                        <a:rPr sz="1200" b="1">
                          <a:solidFill>
                            <a:srgbClr val="222222"/>
                          </a:solidFill>
                          <a:latin typeface="Arial"/>
                        </a:rPr>
                        <a:t>Dealer returns for a second task</a:t>
                      </a:r>
                    </a:p>
                  </a:txBody>
                  <a:tcPr marL="91440" marR="73152" marT="27432" marB="27432" anchor="ctr">
                    <a:solidFill>
                      <a:srgbClr val="FAF8F3"/>
                    </a:solidFill>
                  </a:tcPr>
                </a:tc>
                <a:tc>
                  <a:txBody>
                    <a:bodyPr/>
                    <a:lstStyle/>
                    <a:p>
                      <a:r>
                        <a:rPr sz="1200" b="0">
                          <a:solidFill>
                            <a:srgbClr val="222222"/>
                          </a:solidFill>
                          <a:latin typeface="Arial"/>
                        </a:rPr>
                        <a:t>30</a:t>
                      </a:r>
                    </a:p>
                  </a:txBody>
                  <a:tcPr marL="91440" marR="73152" marT="27432" marB="27432" anchor="ctr">
                    <a:solidFill>
                      <a:srgbClr val="FAF8F3"/>
                    </a:solidFill>
                  </a:tcPr>
                </a:tc>
                <a:tc>
                  <a:txBody>
                    <a:bodyPr/>
                    <a:lstStyle/>
                    <a:p>
                      <a:r>
                        <a:rPr sz="1200" b="0">
                          <a:solidFill>
                            <a:srgbClr val="222222"/>
                          </a:solidFill>
                          <a:latin typeface="Arial"/>
                        </a:rPr>
                        <a:t>No cash, no visibility gain, no trigger</a:t>
                      </a:r>
                    </a:p>
                  </a:txBody>
                  <a:tcPr marL="91440" marR="73152" marT="27432" marB="27432" anchor="ctr">
                    <a:solidFill>
                      <a:srgbClr val="FAF8F3"/>
                    </a:solidFill>
                  </a:tcPr>
                </a:tc>
              </a:tr>
              <a:tr h="384048">
                <a:tc>
                  <a:txBody>
                    <a:bodyPr/>
                    <a:lstStyle/>
                    <a:p>
                      <a:r>
                        <a:rPr sz="1200" b="1">
                          <a:solidFill>
                            <a:srgbClr val="222222"/>
                          </a:solidFill>
                          <a:latin typeface="Arial"/>
                        </a:rPr>
                        <a:t>Dealer shares beyond a correction</a:t>
                      </a:r>
                    </a:p>
                  </a:txBody>
                  <a:tcPr marL="91440" marR="73152" marT="27432" marB="27432" anchor="ctr">
                    <a:solidFill>
                      <a:srgbClr val="FFFFFF"/>
                    </a:solidFill>
                  </a:tcPr>
                </a:tc>
                <a:tc>
                  <a:txBody>
                    <a:bodyPr/>
                    <a:lstStyle/>
                    <a:p>
                      <a:r>
                        <a:rPr sz="1200" b="0">
                          <a:solidFill>
                            <a:srgbClr val="222222"/>
                          </a:solidFill>
                          <a:latin typeface="Arial"/>
                        </a:rPr>
                        <a:t>20</a:t>
                      </a:r>
                    </a:p>
                  </a:txBody>
                  <a:tcPr marL="91440" marR="73152" marT="27432" marB="27432" anchor="ctr">
                    <a:solidFill>
                      <a:srgbClr val="FFFFFF"/>
                    </a:solidFill>
                  </a:tcPr>
                </a:tc>
                <a:tc>
                  <a:txBody>
                    <a:bodyPr/>
                    <a:lstStyle/>
                    <a:p>
                      <a:r>
                        <a:rPr sz="1200" b="0">
                          <a:solidFill>
                            <a:srgbClr val="222222"/>
                          </a:solidFill>
                          <a:latin typeface="Arial"/>
                        </a:rPr>
                        <a:t>Nothing in the design creates the reason</a:t>
                      </a:r>
                    </a:p>
                  </a:txBody>
                  <a:tcPr marL="91440" marR="73152" marT="27432" marB="27432" anchor="ctr">
                    <a:solidFill>
                      <a:srgbClr val="FFFFFF"/>
                    </a:solidFill>
                  </a:tcPr>
                </a:tc>
              </a:tr>
              <a:tr h="384048">
                <a:tc>
                  <a:txBody>
                    <a:bodyPr/>
                    <a:lstStyle/>
                    <a:p>
                      <a:r>
                        <a:rPr sz="1200" b="1">
                          <a:solidFill>
                            <a:srgbClr val="222222"/>
                          </a:solidFill>
                          <a:latin typeface="Arial"/>
                        </a:rPr>
                        <a:t>Distributor accepts the opening</a:t>
                      </a:r>
                    </a:p>
                  </a:txBody>
                  <a:tcPr marL="91440" marR="73152" marT="27432" marB="27432" anchor="ctr">
                    <a:solidFill>
                      <a:srgbClr val="FAF8F3"/>
                    </a:solidFill>
                  </a:tcPr>
                </a:tc>
                <a:tc>
                  <a:txBody>
                    <a:bodyPr/>
                    <a:lstStyle/>
                    <a:p>
                      <a:r>
                        <a:rPr sz="1200" b="0">
                          <a:solidFill>
                            <a:srgbClr val="222222"/>
                          </a:solidFill>
                          <a:latin typeface="Arial"/>
                        </a:rPr>
                        <a:t>75</a:t>
                      </a:r>
                    </a:p>
                  </a:txBody>
                  <a:tcPr marL="91440" marR="73152" marT="27432" marB="27432" anchor="ctr">
                    <a:solidFill>
                      <a:srgbClr val="FAF8F3"/>
                    </a:solidFill>
                  </a:tcPr>
                </a:tc>
                <a:tc>
                  <a:txBody>
                    <a:bodyPr/>
                    <a:lstStyle/>
                    <a:p>
                      <a:r>
                        <a:rPr sz="1200" b="0">
                          <a:solidFill>
                            <a:srgbClr val="222222"/>
                          </a:solidFill>
                          <a:latin typeface="Arial"/>
                        </a:rPr>
                        <a:t>Cheap, no new reporting burden</a:t>
                      </a:r>
                    </a:p>
                  </a:txBody>
                  <a:tcPr marL="91440" marR="73152" marT="27432" marB="27432" anchor="ctr">
                    <a:solidFill>
                      <a:srgbClr val="FAF8F3"/>
                    </a:solidFill>
                  </a:tcPr>
                </a:tc>
              </a:tr>
              <a:tr h="384048">
                <a:tc>
                  <a:txBody>
                    <a:bodyPr/>
                    <a:lstStyle/>
                    <a:p>
                      <a:r>
                        <a:rPr sz="1200" b="1">
                          <a:solidFill>
                            <a:srgbClr val="222222"/>
                          </a:solidFill>
                          <a:latin typeface="Arial"/>
                        </a:rPr>
                        <a:t>Distributor uses the review internally</a:t>
                      </a:r>
                    </a:p>
                  </a:txBody>
                  <a:tcPr marL="91440" marR="73152" marT="27432" marB="27432" anchor="ctr">
                    <a:solidFill>
                      <a:srgbClr val="FFFFFF"/>
                    </a:solidFill>
                  </a:tcPr>
                </a:tc>
                <a:tc>
                  <a:txBody>
                    <a:bodyPr/>
                    <a:lstStyle/>
                    <a:p>
                      <a:r>
                        <a:rPr sz="1200" b="0">
                          <a:solidFill>
                            <a:srgbClr val="222222"/>
                          </a:solidFill>
                          <a:latin typeface="Arial"/>
                        </a:rPr>
                        <a:t>45</a:t>
                      </a:r>
                    </a:p>
                  </a:txBody>
                  <a:tcPr marL="91440" marR="73152" marT="27432" marB="27432" anchor="ctr">
                    <a:solidFill>
                      <a:srgbClr val="FFFFFF"/>
                    </a:solidFill>
                  </a:tcPr>
                </a:tc>
                <a:tc>
                  <a:txBody>
                    <a:bodyPr/>
                    <a:lstStyle/>
                    <a:p>
                      <a:r>
                        <a:rPr sz="1200" b="0">
                          <a:solidFill>
                            <a:srgbClr val="222222"/>
                          </a:solidFill>
                          <a:latin typeface="Arial"/>
                        </a:rPr>
                        <a:t>Depends on answering a question it already had</a:t>
                      </a:r>
                    </a:p>
                  </a:txBody>
                  <a:tcPr marL="91440" marR="73152" marT="27432" marB="27432"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365760"/>
          </a:xfrm>
          <a:prstGeom prst="rect">
            <a:avLst/>
          </a:prstGeom>
          <a:noFill/>
        </p:spPr>
        <p:txBody>
          <a:bodyPr wrap="square" anchor="t" lIns="0" rIns="0" tIns="0" bIns="0">
            <a:spAutoFit/>
          </a:bodyPr>
          <a:lstStyle/>
          <a:p>
            <a:pPr algn="l">
              <a:spcAft>
                <a:spcPts val="0"/>
              </a:spcAft>
            </a:pPr>
            <a:r>
              <a:rPr sz="1200" b="1">
                <a:solidFill>
                  <a:srgbClr val="C0552D"/>
                </a:solidFill>
                <a:latin typeface="Arial"/>
              </a:rPr>
              <a:t>THE BASE RATE</a:t>
            </a:r>
          </a:p>
        </p:txBody>
      </p:sp>
      <p:sp>
        <p:nvSpPr>
          <p:cNvPr id="5" name="TextBox 4"/>
          <p:cNvSpPr txBox="1"/>
          <p:nvPr/>
        </p:nvSpPr>
        <p:spPr>
          <a:xfrm>
            <a:off x="822960" y="1325880"/>
            <a:ext cx="10424160" cy="2743200"/>
          </a:xfrm>
          <a:prstGeom prst="rect">
            <a:avLst/>
          </a:prstGeom>
          <a:noFill/>
        </p:spPr>
        <p:txBody>
          <a:bodyPr wrap="square" anchor="t" lIns="0" rIns="0" tIns="0" bIns="0">
            <a:spAutoFit/>
          </a:bodyPr>
          <a:lstStyle/>
          <a:p>
            <a:pPr algn="l">
              <a:spcAft>
                <a:spcPts val="0"/>
              </a:spcAft>
            </a:pPr>
            <a:r>
              <a:rPr sz="4000" b="1">
                <a:solidFill>
                  <a:srgbClr val="15233C"/>
                </a:solidFill>
                <a:latin typeface="Georgia"/>
              </a:rPr>
              <a:t>519 assessments exist because an obligation was attached.</a:t>
            </a:r>
          </a:p>
        </p:txBody>
      </p:sp>
      <p:sp>
        <p:nvSpPr>
          <p:cNvPr id="6" name="TextBox 5"/>
          <p:cNvSpPr txBox="1"/>
          <p:nvPr/>
        </p:nvSpPr>
        <p:spPr>
          <a:xfrm>
            <a:off x="822960" y="4206240"/>
            <a:ext cx="9692640" cy="2011680"/>
          </a:xfrm>
          <a:prstGeom prst="rect">
            <a:avLst/>
          </a:prstGeom>
          <a:noFill/>
        </p:spPr>
        <p:txBody>
          <a:bodyPr wrap="square" anchor="t" lIns="0" rIns="0" tIns="0" bIns="0">
            <a:spAutoFit/>
          </a:bodyPr>
          <a:lstStyle/>
          <a:p>
            <a:pPr algn="l">
              <a:spcAft>
                <a:spcPts val="800"/>
              </a:spcAft>
            </a:pPr>
            <a:r>
              <a:rPr sz="1700" b="0">
                <a:solidFill>
                  <a:srgbClr val="222222"/>
                </a:solidFill>
                <a:latin typeface="Arial"/>
              </a:rPr>
              <a:t>That is what this network produces when a dealer-facing requirement is enforced. Anything in this programme that scores below that needs a reason the participant can feel, and there are only two available: money, and a visible improvement in its own business.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PRICE OF A DEALER</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15,000 euro is a gesture or a programme.</a:t>
            </a:r>
          </a:p>
        </p:txBody>
      </p:sp>
      <p:graphicFrame>
        <p:nvGraphicFramePr>
          <p:cNvPr id="6" name="Table 5"/>
          <p:cNvGraphicFramePr>
            <a:graphicFrameLocks noGrp="1"/>
          </p:cNvGraphicFramePr>
          <p:nvPr/>
        </p:nvGraphicFramePr>
        <p:xfrm>
          <a:off x="731520" y="1874519"/>
          <a:ext cx="10698479" cy="1463040"/>
        </p:xfrm>
        <a:graphic>
          <a:graphicData uri="http://schemas.openxmlformats.org/drawingml/2006/table">
            <a:tbl>
              <a:tblPr firstRow="1" bandRow="1">
                <a:tableStyleId>{5C22544A-7EE6-4342-B048-85BDC9FD1C3A}</a:tableStyleId>
              </a:tblPr>
              <a:tblGrid>
                <a:gridCol w="4209238"/>
                <a:gridCol w="1227694"/>
                <a:gridCol w="5261547"/>
              </a:tblGrid>
              <a:tr h="310896">
                <a:tc>
                  <a:txBody>
                    <a:bodyPr/>
                    <a:lstStyle/>
                    <a:p>
                      <a:r>
                        <a:rPr sz="1150" b="1">
                          <a:solidFill>
                            <a:srgbClr val="FFFFFF"/>
                          </a:solidFill>
                          <a:latin typeface="Arial"/>
                        </a:rPr>
                        <a:t>Dealer basis</a:t>
                      </a:r>
                    </a:p>
                  </a:txBody>
                  <a:tcPr marL="91440" marR="73152" marT="27432" marB="27432" anchor="ctr">
                    <a:solidFill>
                      <a:srgbClr val="15233C"/>
                    </a:solidFill>
                  </a:tcPr>
                </a:tc>
                <a:tc>
                  <a:txBody>
                    <a:bodyPr/>
                    <a:lstStyle/>
                    <a:p>
                      <a:r>
                        <a:rPr sz="1150" b="1">
                          <a:solidFill>
                            <a:srgbClr val="FFFFFF"/>
                          </a:solidFill>
                          <a:latin typeface="Arial"/>
                        </a:rPr>
                        <a:t>Count</a:t>
                      </a:r>
                    </a:p>
                  </a:txBody>
                  <a:tcPr marL="91440" marR="73152" marT="27432" marB="27432" anchor="ctr">
                    <a:solidFill>
                      <a:srgbClr val="15233C"/>
                    </a:solidFill>
                  </a:tcPr>
                </a:tc>
                <a:tc>
                  <a:txBody>
                    <a:bodyPr/>
                    <a:lstStyle/>
                    <a:p>
                      <a:r>
                        <a:rPr sz="1150" b="1">
                          <a:solidFill>
                            <a:srgbClr val="FFFFFF"/>
                          </a:solidFill>
                          <a:latin typeface="Arial"/>
                        </a:rPr>
                        <a:t>Consequence for the enablement line</a:t>
                      </a:r>
                    </a:p>
                  </a:txBody>
                  <a:tcPr marL="91440" marR="73152" marT="27432" marB="27432" anchor="ctr">
                    <a:solidFill>
                      <a:srgbClr val="15233C"/>
                    </a:solidFill>
                  </a:tcPr>
                </a:tc>
              </a:tr>
              <a:tr h="384048">
                <a:tc>
                  <a:txBody>
                    <a:bodyPr/>
                    <a:lstStyle/>
                    <a:p>
                      <a:r>
                        <a:rPr sz="1200" b="1">
                          <a:solidFill>
                            <a:srgbClr val="222222"/>
                          </a:solidFill>
                          <a:latin typeface="Arial"/>
                        </a:rPr>
                        <a:t>Dealers with a recorded IDS assessment</a:t>
                      </a:r>
                    </a:p>
                  </a:txBody>
                  <a:tcPr marL="91440" marR="73152" marT="27432" marB="27432" anchor="ctr">
                    <a:solidFill>
                      <a:srgbClr val="FFFFFF"/>
                    </a:solidFill>
                  </a:tcPr>
                </a:tc>
                <a:tc>
                  <a:txBody>
                    <a:bodyPr/>
                    <a:lstStyle/>
                    <a:p>
                      <a:r>
                        <a:rPr sz="1200" b="0">
                          <a:solidFill>
                            <a:srgbClr val="222222"/>
                          </a:solidFill>
                          <a:latin typeface="Arial"/>
                        </a:rPr>
                        <a:t>519</a:t>
                      </a:r>
                    </a:p>
                  </a:txBody>
                  <a:tcPr marL="91440" marR="73152" marT="27432" marB="27432" anchor="ctr">
                    <a:solidFill>
                      <a:srgbClr val="FFFFFF"/>
                    </a:solidFill>
                  </a:tcPr>
                </a:tc>
                <a:tc>
                  <a:txBody>
                    <a:bodyPr/>
                    <a:lstStyle/>
                    <a:p>
                      <a:r>
                        <a:rPr sz="1200" b="0">
                          <a:solidFill>
                            <a:srgbClr val="222222"/>
                          </a:solidFill>
                          <a:latin typeface="Arial"/>
                        </a:rPr>
                        <a:t>28.90 euro each, if spread across the estate</a:t>
                      </a:r>
                    </a:p>
                  </a:txBody>
                  <a:tcPr marL="91440" marR="73152" marT="27432" marB="27432" anchor="ctr">
                    <a:solidFill>
                      <a:srgbClr val="FFFFFF"/>
                    </a:solidFill>
                  </a:tcPr>
                </a:tc>
              </a:tr>
              <a:tr h="384048">
                <a:tc>
                  <a:txBody>
                    <a:bodyPr/>
                    <a:lstStyle/>
                    <a:p>
                      <a:r>
                        <a:rPr sz="1200" b="1">
                          <a:solidFill>
                            <a:srgbClr val="222222"/>
                          </a:solidFill>
                          <a:latin typeface="Arial"/>
                        </a:rPr>
                        <a:t>Portugal only</a:t>
                      </a:r>
                    </a:p>
                  </a:txBody>
                  <a:tcPr marL="91440" marR="73152" marT="27432" marB="27432" anchor="ctr">
                    <a:solidFill>
                      <a:srgbClr val="FAF8F3"/>
                    </a:solidFill>
                  </a:tcPr>
                </a:tc>
                <a:tc>
                  <a:txBody>
                    <a:bodyPr/>
                    <a:lstStyle/>
                    <a:p>
                      <a:r>
                        <a:rPr sz="1200" b="0">
                          <a:solidFill>
                            <a:srgbClr val="222222"/>
                          </a:solidFill>
                          <a:latin typeface="Arial"/>
                        </a:rPr>
                        <a:t>16</a:t>
                      </a:r>
                    </a:p>
                  </a:txBody>
                  <a:tcPr marL="91440" marR="73152" marT="27432" marB="27432" anchor="ctr">
                    <a:solidFill>
                      <a:srgbClr val="FAF8F3"/>
                    </a:solidFill>
                  </a:tcPr>
                </a:tc>
                <a:tc>
                  <a:txBody>
                    <a:bodyPr/>
                    <a:lstStyle/>
                    <a:p>
                      <a:r>
                        <a:rPr sz="1200" b="0">
                          <a:solidFill>
                            <a:srgbClr val="222222"/>
                          </a:solidFill>
                          <a:latin typeface="Arial"/>
                        </a:rPr>
                        <a:t>937.50 euro each, inside the pilot market</a:t>
                      </a:r>
                    </a:p>
                  </a:txBody>
                  <a:tcPr marL="91440" marR="73152" marT="27432" marB="27432" anchor="ctr">
                    <a:solidFill>
                      <a:srgbClr val="FAF8F3"/>
                    </a:solidFill>
                  </a:tcPr>
                </a:tc>
              </a:tr>
              <a:tr h="384048">
                <a:tc>
                  <a:txBody>
                    <a:bodyPr/>
                    <a:lstStyle/>
                    <a:p>
                      <a:r>
                        <a:rPr sz="1200" b="1">
                          <a:solidFill>
                            <a:srgbClr val="222222"/>
                          </a:solidFill>
                          <a:latin typeface="Arial"/>
                        </a:rPr>
                        <a:t>ITUK and Portugal together</a:t>
                      </a:r>
                    </a:p>
                  </a:txBody>
                  <a:tcPr marL="91440" marR="73152" marT="27432" marB="27432" anchor="ctr">
                    <a:solidFill>
                      <a:srgbClr val="FFFFFF"/>
                    </a:solidFill>
                  </a:tcPr>
                </a:tc>
                <a:tc>
                  <a:txBody>
                    <a:bodyPr/>
                    <a:lstStyle/>
                    <a:p>
                      <a:r>
                        <a:rPr sz="1200" b="0">
                          <a:solidFill>
                            <a:srgbClr val="222222"/>
                          </a:solidFill>
                          <a:latin typeface="Arial"/>
                        </a:rPr>
                        <a:t>60</a:t>
                      </a:r>
                    </a:p>
                  </a:txBody>
                  <a:tcPr marL="91440" marR="73152" marT="27432" marB="27432" anchor="ctr">
                    <a:solidFill>
                      <a:srgbClr val="FFFFFF"/>
                    </a:solidFill>
                  </a:tcPr>
                </a:tc>
                <a:tc>
                  <a:txBody>
                    <a:bodyPr/>
                    <a:lstStyle/>
                    <a:p>
                      <a:r>
                        <a:rPr sz="1200" b="0">
                          <a:solidFill>
                            <a:srgbClr val="222222"/>
                          </a:solidFill>
                          <a:latin typeface="Arial"/>
                        </a:rPr>
                        <a:t>250.00 euro each</a:t>
                      </a:r>
                    </a:p>
                  </a:txBody>
                  <a:tcPr marL="91440" marR="73152" marT="27432" marB="27432"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DISTRIBUTOR</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The gap between accepting and using is the problem.</a:t>
            </a:r>
          </a:p>
        </p:txBody>
      </p:sp>
      <p:pic>
        <p:nvPicPr>
          <p:cNvPr id="6" name="Picture 5" descr="f16_exchange.png"/>
          <p:cNvPicPr>
            <a:picLocks noChangeAspect="1"/>
          </p:cNvPicPr>
          <p:nvPr/>
        </p:nvPicPr>
        <p:blipFill>
          <a:blip r:embed="rId2"/>
          <a:stretch>
            <a:fillRect/>
          </a:stretch>
        </p:blipFill>
        <p:spPr>
          <a:xfrm>
            <a:off x="746607" y="1835612"/>
            <a:ext cx="10698480" cy="4055454"/>
          </a:xfrm>
          <a:prstGeom prst="rect">
            <a:avLst/>
          </a:prstGeom>
        </p:spPr>
      </p:pic>
      <p:sp>
        <p:nvSpPr>
          <p:cNvPr id="7" name="TextBox 6"/>
          <p:cNvSpPr txBox="1"/>
          <p:nvPr/>
        </p:nvSpPr>
        <p:spPr>
          <a:xfrm>
            <a:off x="731520" y="6037371"/>
            <a:ext cx="10698480" cy="548640"/>
          </a:xfrm>
          <a:prstGeom prst="rect">
            <a:avLst/>
          </a:prstGeom>
          <a:noFill/>
        </p:spPr>
        <p:txBody>
          <a:bodyPr wrap="square" anchor="t" lIns="0" rIns="0" tIns="0" bIns="0">
            <a:spAutoFit/>
          </a:bodyPr>
          <a:lstStyle/>
          <a:p>
            <a:pPr algn="l">
              <a:spcAft>
                <a:spcPts val="0"/>
              </a:spcAft>
            </a:pPr>
            <a:r>
              <a:rPr sz="1100" b="0">
                <a:solidFill>
                  <a:srgbClr val="5B6472"/>
                </a:solidFill>
                <a:latin typeface="Arial"/>
              </a:rPr>
              <a:t>Figure 16 of the paper. Proposed participation design. Payment for data volume is excluded.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365760"/>
          </a:xfrm>
          <a:prstGeom prst="rect">
            <a:avLst/>
          </a:prstGeom>
          <a:noFill/>
        </p:spPr>
        <p:txBody>
          <a:bodyPr wrap="square" anchor="t" lIns="0" rIns="0" tIns="0" bIns="0">
            <a:spAutoFit/>
          </a:bodyPr>
          <a:lstStyle/>
          <a:p>
            <a:pPr algn="l">
              <a:spcAft>
                <a:spcPts val="0"/>
              </a:spcAft>
            </a:pPr>
            <a:r>
              <a:rPr sz="1200" b="1">
                <a:solidFill>
                  <a:srgbClr val="C0552D"/>
                </a:solidFill>
                <a:latin typeface="Arial"/>
              </a:rPr>
              <a:t>WHAT NOT TO DO</a:t>
            </a:r>
          </a:p>
        </p:txBody>
      </p:sp>
      <p:sp>
        <p:nvSpPr>
          <p:cNvPr id="5" name="TextBox 4"/>
          <p:cNvSpPr txBox="1"/>
          <p:nvPr/>
        </p:nvSpPr>
        <p:spPr>
          <a:xfrm>
            <a:off x="822960" y="1325880"/>
            <a:ext cx="10424160" cy="2743200"/>
          </a:xfrm>
          <a:prstGeom prst="rect">
            <a:avLst/>
          </a:prstGeom>
          <a:noFill/>
        </p:spPr>
        <p:txBody>
          <a:bodyPr wrap="square" anchor="t" lIns="0" rIns="0" tIns="0" bIns="0">
            <a:spAutoFit/>
          </a:bodyPr>
          <a:lstStyle/>
          <a:p>
            <a:pPr algn="l">
              <a:spcAft>
                <a:spcPts val="0"/>
              </a:spcAft>
            </a:pPr>
            <a:r>
              <a:rPr sz="4000" b="1">
                <a:solidFill>
                  <a:srgbClr val="15233C"/>
                </a:solidFill>
                <a:latin typeface="Georgia"/>
              </a:rPr>
              <a:t>Six things that would kill it.</a:t>
            </a:r>
          </a:p>
        </p:txBody>
      </p:sp>
      <p:sp>
        <p:nvSpPr>
          <p:cNvPr id="6" name="TextBox 5"/>
          <p:cNvSpPr txBox="1"/>
          <p:nvPr/>
        </p:nvSpPr>
        <p:spPr>
          <a:xfrm>
            <a:off x="822960" y="4206240"/>
            <a:ext cx="9692640" cy="2011680"/>
          </a:xfrm>
          <a:prstGeom prst="rect">
            <a:avLst/>
          </a:prstGeom>
          <a:noFill/>
        </p:spPr>
        <p:txBody>
          <a:bodyPr wrap="square" anchor="t" lIns="0" rIns="0" tIns="0" bIns="0">
            <a:spAutoFit/>
          </a:bodyPr>
          <a:lstStyle/>
          <a:p>
            <a:pPr algn="l">
              <a:spcAft>
                <a:spcPts val="800"/>
              </a:spcAft>
            </a:pPr>
            <a:r>
              <a:rPr sz="1700" b="0">
                <a:solidFill>
                  <a:srgbClr val="222222"/>
                </a:solidFill>
                <a:latin typeface="Arial"/>
              </a:rPr>
              <a:t>Never pay per submitted record or per disclosed field. Never make ordinary service conditional on a contribution. Never build a public dealer league table. Never ask for dealer resale prices by default. Never approach a dealer directly. Never count logins or uploads as participation.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365760"/>
          </a:xfrm>
          <a:prstGeom prst="rect">
            <a:avLst/>
          </a:prstGeom>
          <a:noFill/>
        </p:spPr>
        <p:txBody>
          <a:bodyPr wrap="square" anchor="t" lIns="0" rIns="0" tIns="0" bIns="0">
            <a:spAutoFit/>
          </a:bodyPr>
          <a:lstStyle/>
          <a:p>
            <a:pPr algn="l">
              <a:spcAft>
                <a:spcPts val="0"/>
              </a:spcAft>
            </a:pPr>
            <a:r>
              <a:rPr sz="1150" b="1">
                <a:solidFill>
                  <a:srgbClr val="C0552D"/>
                </a:solidFill>
                <a:latin typeface="Arial"/>
              </a:rPr>
              <a:t>THE SEQUENCE</a:t>
            </a:r>
          </a:p>
        </p:txBody>
      </p:sp>
      <p:sp>
        <p:nvSpPr>
          <p:cNvPr id="5" name="TextBox 4"/>
          <p:cNvSpPr txBox="1"/>
          <p:nvPr/>
        </p:nvSpPr>
        <p:spPr>
          <a:xfrm>
            <a:off x="731520" y="896112"/>
            <a:ext cx="10698480" cy="822960"/>
          </a:xfrm>
          <a:prstGeom prst="rect">
            <a:avLst/>
          </a:prstGeom>
          <a:noFill/>
        </p:spPr>
        <p:txBody>
          <a:bodyPr wrap="square" anchor="t" lIns="0" rIns="0" tIns="0" bIns="0">
            <a:spAutoFit/>
          </a:bodyPr>
          <a:lstStyle/>
          <a:p>
            <a:pPr algn="l">
              <a:spcAft>
                <a:spcPts val="0"/>
              </a:spcAft>
            </a:pPr>
            <a:r>
              <a:rPr sz="2700" b="1">
                <a:solidFill>
                  <a:srgbClr val="15233C"/>
                </a:solidFill>
                <a:latin typeface="Georgia"/>
              </a:rPr>
              <a:t>Prove usefulness before broadening anything.</a:t>
            </a:r>
          </a:p>
        </p:txBody>
      </p:sp>
      <p:graphicFrame>
        <p:nvGraphicFramePr>
          <p:cNvPr id="6" name="Table 5"/>
          <p:cNvGraphicFramePr>
            <a:graphicFrameLocks noGrp="1"/>
          </p:cNvGraphicFramePr>
          <p:nvPr/>
        </p:nvGraphicFramePr>
        <p:xfrm>
          <a:off x="731520" y="1874519"/>
          <a:ext cx="10698479" cy="2615184"/>
        </p:xfrm>
        <a:graphic>
          <a:graphicData uri="http://schemas.openxmlformats.org/drawingml/2006/table">
            <a:tbl>
              <a:tblPr firstRow="1" bandRow="1">
                <a:tableStyleId>{5C22544A-7EE6-4342-B048-85BDC9FD1C3A}</a:tableStyleId>
              </a:tblPr>
              <a:tblGrid>
                <a:gridCol w="3003082"/>
                <a:gridCol w="3190774"/>
                <a:gridCol w="4504623"/>
              </a:tblGrid>
              <a:tr h="310896">
                <a:tc>
                  <a:txBody>
                    <a:bodyPr/>
                    <a:lstStyle/>
                    <a:p>
                      <a:r>
                        <a:rPr sz="1150" b="1">
                          <a:solidFill>
                            <a:srgbClr val="FFFFFF"/>
                          </a:solidFill>
                          <a:latin typeface="Arial"/>
                        </a:rPr>
                        <a:t>Stage</a:t>
                      </a:r>
                    </a:p>
                  </a:txBody>
                  <a:tcPr marL="91440" marR="73152" marT="27432" marB="27432" anchor="ctr">
                    <a:solidFill>
                      <a:srgbClr val="15233C"/>
                    </a:solidFill>
                  </a:tcPr>
                </a:tc>
                <a:tc>
                  <a:txBody>
                    <a:bodyPr/>
                    <a:lstStyle/>
                    <a:p>
                      <a:r>
                        <a:rPr sz="1150" b="1">
                          <a:solidFill>
                            <a:srgbClr val="FFFFFF"/>
                          </a:solidFill>
                          <a:latin typeface="Arial"/>
                        </a:rPr>
                        <a:t>Result</a:t>
                      </a:r>
                    </a:p>
                  </a:txBody>
                  <a:tcPr marL="91440" marR="73152" marT="27432" marB="27432" anchor="ctr">
                    <a:solidFill>
                      <a:srgbClr val="15233C"/>
                    </a:solidFill>
                  </a:tcPr>
                </a:tc>
                <a:tc>
                  <a:txBody>
                    <a:bodyPr/>
                    <a:lstStyle/>
                    <a:p>
                      <a:r>
                        <a:rPr sz="1150" b="1">
                          <a:solidFill>
                            <a:srgbClr val="FFFFFF"/>
                          </a:solidFill>
                          <a:latin typeface="Arial"/>
                        </a:rPr>
                        <a:t>Evidence to move on</a:t>
                      </a:r>
                    </a:p>
                  </a:txBody>
                  <a:tcPr marL="91440" marR="73152" marT="27432" marB="27432" anchor="ctr">
                    <a:solidFill>
                      <a:srgbClr val="15233C"/>
                    </a:solidFill>
                  </a:tcPr>
                </a:tc>
              </a:tr>
              <a:tr h="384048">
                <a:tc>
                  <a:txBody>
                    <a:bodyPr/>
                    <a:lstStyle/>
                    <a:p>
                      <a:r>
                        <a:rPr sz="1200" b="1">
                          <a:solidFill>
                            <a:srgbClr val="222222"/>
                          </a:solidFill>
                          <a:latin typeface="Arial"/>
                        </a:rPr>
                        <a:t>Agree the scope and portfolio</a:t>
                      </a:r>
                    </a:p>
                  </a:txBody>
                  <a:tcPr marL="91440" marR="73152" marT="27432" marB="27432" anchor="ctr">
                    <a:solidFill>
                      <a:srgbClr val="FFFFFF"/>
                    </a:solidFill>
                  </a:tcPr>
                </a:tc>
                <a:tc>
                  <a:txBody>
                    <a:bodyPr/>
                    <a:lstStyle/>
                    <a:p>
                      <a:r>
                        <a:rPr sz="1200" b="0">
                          <a:solidFill>
                            <a:srgbClr val="222222"/>
                          </a:solidFill>
                          <a:latin typeface="Arial"/>
                        </a:rPr>
                        <a:t>Five tools, routine service excluded</a:t>
                      </a:r>
                    </a:p>
                  </a:txBody>
                  <a:tcPr marL="91440" marR="73152" marT="27432" marB="27432" anchor="ctr">
                    <a:solidFill>
                      <a:srgbClr val="FFFFFF"/>
                    </a:solidFill>
                  </a:tcPr>
                </a:tc>
                <a:tc>
                  <a:txBody>
                    <a:bodyPr/>
                    <a:lstStyle/>
                    <a:p>
                      <a:r>
                        <a:rPr sz="1200" b="0">
                          <a:solidFill>
                            <a:srgbClr val="222222"/>
                          </a:solidFill>
                          <a:latin typeface="Arial"/>
                        </a:rPr>
                        <a:t>Paper, deck and showcase say the same thing</a:t>
                      </a:r>
                    </a:p>
                  </a:txBody>
                  <a:tcPr marL="91440" marR="73152" marT="27432" marB="27432" anchor="ctr">
                    <a:solidFill>
                      <a:srgbClr val="FFFFFF"/>
                    </a:solidFill>
                  </a:tcPr>
                </a:tc>
              </a:tr>
              <a:tr h="384048">
                <a:tc>
                  <a:txBody>
                    <a:bodyPr/>
                    <a:lstStyle/>
                    <a:p>
                      <a:r>
                        <a:rPr sz="1200" b="1">
                          <a:solidFill>
                            <a:srgbClr val="222222"/>
                          </a:solidFill>
                          <a:latin typeface="Arial"/>
                        </a:rPr>
                        <a:t>Pin the classification release</a:t>
                      </a:r>
                    </a:p>
                  </a:txBody>
                  <a:tcPr marL="91440" marR="73152" marT="27432" marB="27432" anchor="ctr">
                    <a:solidFill>
                      <a:srgbClr val="FAF8F3"/>
                    </a:solidFill>
                  </a:tcPr>
                </a:tc>
                <a:tc>
                  <a:txBody>
                    <a:bodyPr/>
                    <a:lstStyle/>
                    <a:p>
                      <a:r>
                        <a:rPr sz="1200" b="0">
                          <a:solidFill>
                            <a:srgbClr val="222222"/>
                          </a:solidFill>
                          <a:latin typeface="Arial"/>
                        </a:rPr>
                        <a:t>One named file, version and date</a:t>
                      </a:r>
                    </a:p>
                  </a:txBody>
                  <a:tcPr marL="91440" marR="73152" marT="27432" marB="27432" anchor="ctr">
                    <a:solidFill>
                      <a:srgbClr val="FAF8F3"/>
                    </a:solidFill>
                  </a:tcPr>
                </a:tc>
                <a:tc>
                  <a:txBody>
                    <a:bodyPr/>
                    <a:lstStyle/>
                    <a:p>
                      <a:r>
                        <a:rPr sz="1200" b="0">
                          <a:solidFill>
                            <a:srgbClr val="222222"/>
                          </a:solidFill>
                          <a:latin typeface="Arial"/>
                        </a:rPr>
                        <a:t>Reproduce a family and product-form view</a:t>
                      </a:r>
                    </a:p>
                  </a:txBody>
                  <a:tcPr marL="91440" marR="73152" marT="27432" marB="27432" anchor="ctr">
                    <a:solidFill>
                      <a:srgbClr val="FAF8F3"/>
                    </a:solidFill>
                  </a:tcPr>
                </a:tc>
              </a:tr>
              <a:tr h="384048">
                <a:tc>
                  <a:txBody>
                    <a:bodyPr/>
                    <a:lstStyle/>
                    <a:p>
                      <a:r>
                        <a:rPr sz="1200" b="1">
                          <a:solidFill>
                            <a:srgbClr val="222222"/>
                          </a:solidFill>
                          <a:latin typeface="Arial"/>
                        </a:rPr>
                        <a:t>Open two prepared views</a:t>
                      </a:r>
                    </a:p>
                  </a:txBody>
                  <a:tcPr marL="91440" marR="73152" marT="27432" marB="27432" anchor="ctr">
                    <a:solidFill>
                      <a:srgbClr val="FFFFFF"/>
                    </a:solidFill>
                  </a:tcPr>
                </a:tc>
                <a:tc>
                  <a:txBody>
                    <a:bodyPr/>
                    <a:lstStyle/>
                    <a:p>
                      <a:r>
                        <a:rPr sz="1200" b="0">
                          <a:solidFill>
                            <a:srgbClr val="222222"/>
                          </a:solidFill>
                          <a:latin typeface="Arial"/>
                        </a:rPr>
                        <a:t>Atlas view and IDS profile</a:t>
                      </a:r>
                    </a:p>
                  </a:txBody>
                  <a:tcPr marL="91440" marR="73152" marT="27432" marB="27432" anchor="ctr">
                    <a:solidFill>
                      <a:srgbClr val="FFFFFF"/>
                    </a:solidFill>
                  </a:tcPr>
                </a:tc>
                <a:tc>
                  <a:txBody>
                    <a:bodyPr/>
                    <a:lstStyle/>
                    <a:p>
                      <a:r>
                        <a:rPr sz="1200" b="0">
                          <a:solidFill>
                            <a:srgbClr val="222222"/>
                          </a:solidFill>
                          <a:latin typeface="Arial"/>
                        </a:rPr>
                        <a:t>A participant finds it clearer than the existing review</a:t>
                      </a:r>
                    </a:p>
                  </a:txBody>
                  <a:tcPr marL="91440" marR="73152" marT="27432" marB="27432" anchor="ctr">
                    <a:solidFill>
                      <a:srgbClr val="FFFFFF"/>
                    </a:solidFill>
                  </a:tcPr>
                </a:tc>
              </a:tr>
              <a:tr h="384048">
                <a:tc>
                  <a:txBody>
                    <a:bodyPr/>
                    <a:lstStyle/>
                    <a:p>
                      <a:r>
                        <a:rPr sz="1200" b="1">
                          <a:solidFill>
                            <a:srgbClr val="222222"/>
                          </a:solidFill>
                          <a:latin typeface="Arial"/>
                        </a:rPr>
                        <a:t>Run the dealer sample</a:t>
                      </a:r>
                    </a:p>
                  </a:txBody>
                  <a:tcPr marL="91440" marR="73152" marT="27432" marB="27432" anchor="ctr">
                    <a:solidFill>
                      <a:srgbClr val="FAF8F3"/>
                    </a:solidFill>
                  </a:tcPr>
                </a:tc>
                <a:tc>
                  <a:txBody>
                    <a:bodyPr/>
                    <a:lstStyle/>
                    <a:p>
                      <a:r>
                        <a:rPr sz="1200" b="0">
                          <a:solidFill>
                            <a:srgbClr val="222222"/>
                          </a:solidFill>
                          <a:latin typeface="Arial"/>
                        </a:rPr>
                        <a:t>Ten dealers in two markets</a:t>
                      </a:r>
                    </a:p>
                  </a:txBody>
                  <a:tcPr marL="91440" marR="73152" marT="27432" marB="27432" anchor="ctr">
                    <a:solidFill>
                      <a:srgbClr val="FAF8F3"/>
                    </a:solidFill>
                  </a:tcPr>
                </a:tc>
                <a:tc>
                  <a:txBody>
                    <a:bodyPr/>
                    <a:lstStyle/>
                    <a:p>
                      <a:r>
                        <a:rPr sz="1200" b="0">
                          <a:solidFill>
                            <a:srgbClr val="222222"/>
                          </a:solidFill>
                          <a:latin typeface="Arial"/>
                        </a:rPr>
                        <a:t>Correction, output, effort and reasons for non-use</a:t>
                      </a:r>
                    </a:p>
                  </a:txBody>
                  <a:tcPr marL="91440" marR="73152" marT="27432" marB="27432" anchor="ctr">
                    <a:solidFill>
                      <a:srgbClr val="FAF8F3"/>
                    </a:solidFill>
                  </a:tcPr>
                </a:tc>
              </a:tr>
              <a:tr h="384048">
                <a:tc>
                  <a:txBody>
                    <a:bodyPr/>
                    <a:lstStyle/>
                    <a:p>
                      <a:r>
                        <a:rPr sz="1200" b="1">
                          <a:solidFill>
                            <a:srgbClr val="222222"/>
                          </a:solidFill>
                          <a:latin typeface="Arial"/>
                        </a:rPr>
                        <a:t>Run the campaign line</a:t>
                      </a:r>
                    </a:p>
                  </a:txBody>
                  <a:tcPr marL="91440" marR="73152" marT="27432" marB="27432" anchor="ctr">
                    <a:solidFill>
                      <a:srgbClr val="FFFFFF"/>
                    </a:solidFill>
                  </a:tcPr>
                </a:tc>
                <a:tc>
                  <a:txBody>
                    <a:bodyPr/>
                    <a:lstStyle/>
                    <a:p>
                      <a:r>
                        <a:rPr sz="1200" b="0">
                          <a:solidFill>
                            <a:srgbClr val="222222"/>
                          </a:solidFill>
                          <a:latin typeface="Arial"/>
                        </a:rPr>
                        <a:t>Two qualifying campaigns</a:t>
                      </a:r>
                    </a:p>
                  </a:txBody>
                  <a:tcPr marL="91440" marR="73152" marT="27432" marB="27432" anchor="ctr">
                    <a:solidFill>
                      <a:srgbClr val="FFFFFF"/>
                    </a:solidFill>
                  </a:tcPr>
                </a:tc>
                <a:tc>
                  <a:txBody>
                    <a:bodyPr/>
                    <a:lstStyle/>
                    <a:p>
                      <a:r>
                        <a:rPr sz="1200" b="0">
                          <a:solidFill>
                            <a:srgbClr val="222222"/>
                          </a:solidFill>
                          <a:latin typeface="Arial"/>
                        </a:rPr>
                        <a:t>Contribution measured on the same scope before and after</a:t>
                      </a:r>
                    </a:p>
                  </a:txBody>
                  <a:tcPr marL="91440" marR="73152" marT="27432" marB="27432" anchor="ctr">
                    <a:solidFill>
                      <a:srgbClr val="FFFFFF"/>
                    </a:solidFill>
                  </a:tcPr>
                </a:tc>
              </a:tr>
              <a:tr h="384048">
                <a:tc>
                  <a:txBody>
                    <a:bodyPr/>
                    <a:lstStyle/>
                    <a:p>
                      <a:r>
                        <a:rPr sz="1200" b="1">
                          <a:solidFill>
                            <a:srgbClr val="222222"/>
                          </a:solidFill>
                          <a:latin typeface="Arial"/>
                        </a:rPr>
                        <a:t>Evaluate, then extend or narrow</a:t>
                      </a:r>
                    </a:p>
                  </a:txBody>
                  <a:tcPr marL="91440" marR="73152" marT="27432" marB="27432" anchor="ctr">
                    <a:solidFill>
                      <a:srgbClr val="FAF8F3"/>
                    </a:solidFill>
                  </a:tcPr>
                </a:tc>
                <a:tc>
                  <a:txBody>
                    <a:bodyPr/>
                    <a:lstStyle/>
                    <a:p>
                      <a:r>
                        <a:rPr sz="1200" b="0">
                          <a:solidFill>
                            <a:srgbClr val="222222"/>
                          </a:solidFill>
                          <a:latin typeface="Arial"/>
                        </a:rPr>
                        <a:t>A stated result, favourable or not</a:t>
                      </a:r>
                    </a:p>
                  </a:txBody>
                  <a:tcPr marL="91440" marR="73152" marT="27432" marB="27432" anchor="ctr">
                    <a:solidFill>
                      <a:srgbClr val="FAF8F3"/>
                    </a:solidFill>
                  </a:tcPr>
                </a:tc>
                <a:tc>
                  <a:txBody>
                    <a:bodyPr/>
                    <a:lstStyle/>
                    <a:p>
                      <a:r>
                        <a:rPr sz="1200" b="0">
                          <a:solidFill>
                            <a:srgbClr val="222222"/>
                          </a:solidFill>
                          <a:latin typeface="Arial"/>
                        </a:rPr>
                        <a:t>Real later evidence, not a rendered screen</a:t>
                      </a:r>
                    </a:p>
                  </a:txBody>
                  <a:tcPr marL="91440" marR="73152" marT="27432" marB="27432" anchor="ctr">
                    <a:solidFill>
                      <a:srgbClr val="FAF8F3"/>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365760"/>
          </a:xfrm>
          <a:prstGeom prst="rect">
            <a:avLst/>
          </a:prstGeom>
          <a:noFill/>
        </p:spPr>
        <p:txBody>
          <a:bodyPr wrap="square" anchor="t" lIns="0" rIns="0" tIns="0" bIns="0">
            <a:spAutoFit/>
          </a:bodyPr>
          <a:lstStyle/>
          <a:p>
            <a:pPr algn="l">
              <a:spcAft>
                <a:spcPts val="0"/>
              </a:spcAft>
            </a:pPr>
            <a:r>
              <a:rPr sz="1200" b="1">
                <a:solidFill>
                  <a:srgbClr val="C0552D"/>
                </a:solidFill>
                <a:latin typeface="Arial"/>
              </a:rPr>
              <a:t>THE STOP CONDITION</a:t>
            </a:r>
          </a:p>
        </p:txBody>
      </p:sp>
      <p:sp>
        <p:nvSpPr>
          <p:cNvPr id="5" name="TextBox 4"/>
          <p:cNvSpPr txBox="1"/>
          <p:nvPr/>
        </p:nvSpPr>
        <p:spPr>
          <a:xfrm>
            <a:off x="822960" y="1325880"/>
            <a:ext cx="10424160" cy="2743200"/>
          </a:xfrm>
          <a:prstGeom prst="rect">
            <a:avLst/>
          </a:prstGeom>
          <a:noFill/>
        </p:spPr>
        <p:txBody>
          <a:bodyPr wrap="square" anchor="t" lIns="0" rIns="0" tIns="0" bIns="0">
            <a:spAutoFit/>
          </a:bodyPr>
          <a:lstStyle/>
          <a:p>
            <a:pPr algn="l">
              <a:spcAft>
                <a:spcPts val="0"/>
              </a:spcAft>
            </a:pPr>
            <a:r>
              <a:rPr sz="4000" b="1">
                <a:solidFill>
                  <a:srgbClr val="15233C"/>
                </a:solidFill>
                <a:latin typeface="Georgia"/>
              </a:rPr>
              <a:t>It stops. It does not pause.</a:t>
            </a:r>
          </a:p>
        </p:txBody>
      </p:sp>
      <p:sp>
        <p:nvSpPr>
          <p:cNvPr id="6" name="TextBox 5"/>
          <p:cNvSpPr txBox="1"/>
          <p:nvPr/>
        </p:nvSpPr>
        <p:spPr>
          <a:xfrm>
            <a:off x="822960" y="4206240"/>
            <a:ext cx="9692640" cy="2011680"/>
          </a:xfrm>
          <a:prstGeom prst="rect">
            <a:avLst/>
          </a:prstGeom>
          <a:noFill/>
        </p:spPr>
        <p:txBody>
          <a:bodyPr wrap="square" anchor="t" lIns="0" rIns="0" tIns="0" bIns="0">
            <a:spAutoFit/>
          </a:bodyPr>
          <a:lstStyle/>
          <a:p>
            <a:pPr algn="l">
              <a:spcAft>
                <a:spcPts val="800"/>
              </a:spcAft>
            </a:pPr>
            <a:r>
              <a:rPr sz="1700" b="0">
                <a:solidFill>
                  <a:srgbClr val="222222"/>
                </a:solidFill>
                <a:latin typeface="Arial"/>
              </a:rPr>
              <a:t>If, after two eligible cycles, no participant can name a decision the tool changed, or if a confidentiality or identity weakness cannot be closed, the programme stops. It does not add a report, and it does not broaden the participant population to look for a better sample.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365760"/>
          </a:xfrm>
          <a:prstGeom prst="rect">
            <a:avLst/>
          </a:prstGeom>
          <a:noFill/>
        </p:spPr>
        <p:txBody>
          <a:bodyPr wrap="square" anchor="t" lIns="0" rIns="0" tIns="0" bIns="0">
            <a:spAutoFit/>
          </a:bodyPr>
          <a:lstStyle/>
          <a:p>
            <a:pPr algn="l">
              <a:spcAft>
                <a:spcPts val="0"/>
              </a:spcAft>
            </a:pPr>
            <a:r>
              <a:rPr sz="1200" b="1">
                <a:solidFill>
                  <a:srgbClr val="C0552D"/>
                </a:solidFill>
                <a:latin typeface="Arial"/>
              </a:rPr>
              <a:t>THE BOUNDARIES</a:t>
            </a:r>
          </a:p>
        </p:txBody>
      </p:sp>
      <p:sp>
        <p:nvSpPr>
          <p:cNvPr id="5" name="TextBox 4"/>
          <p:cNvSpPr txBox="1"/>
          <p:nvPr/>
        </p:nvSpPr>
        <p:spPr>
          <a:xfrm>
            <a:off x="822960" y="1325880"/>
            <a:ext cx="10424160" cy="2743200"/>
          </a:xfrm>
          <a:prstGeom prst="rect">
            <a:avLst/>
          </a:prstGeom>
          <a:noFill/>
        </p:spPr>
        <p:txBody>
          <a:bodyPr wrap="square" anchor="t" lIns="0" rIns="0" tIns="0" bIns="0">
            <a:spAutoFit/>
          </a:bodyPr>
          <a:lstStyle/>
          <a:p>
            <a:pPr algn="l">
              <a:spcAft>
                <a:spcPts val="0"/>
              </a:spcAft>
            </a:pPr>
            <a:r>
              <a:rPr sz="4000" b="1">
                <a:solidFill>
                  <a:srgbClr val="15233C"/>
                </a:solidFill>
                <a:latin typeface="Georgia"/>
              </a:rPr>
              <a:t>What this paper does not claim.</a:t>
            </a:r>
          </a:p>
        </p:txBody>
      </p:sp>
      <p:sp>
        <p:nvSpPr>
          <p:cNvPr id="6" name="TextBox 5"/>
          <p:cNvSpPr txBox="1"/>
          <p:nvPr/>
        </p:nvSpPr>
        <p:spPr>
          <a:xfrm>
            <a:off x="822960" y="4206240"/>
            <a:ext cx="9692640" cy="2011680"/>
          </a:xfrm>
          <a:prstGeom prst="rect">
            <a:avLst/>
          </a:prstGeom>
          <a:noFill/>
        </p:spPr>
        <p:txBody>
          <a:bodyPr wrap="square" anchor="t" lIns="0" rIns="0" tIns="0" bIns="0">
            <a:spAutoFit/>
          </a:bodyPr>
          <a:lstStyle/>
          <a:p>
            <a:pPr algn="l">
              <a:spcAft>
                <a:spcPts val="800"/>
              </a:spcAft>
            </a:pPr>
            <a:r>
              <a:rPr sz="1700" b="0">
                <a:solidFill>
                  <a:srgbClr val="222222"/>
                </a:solidFill>
                <a:latin typeface="Arial"/>
              </a:rPr>
              <a:t>No realised return. No approved budget. No forecast of incremental sales. No participant has accepted anything. There is no backend, no shared case service and no production identity on this machine, and a browser-side allowlist is not access control.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914400"/>
            <a:ext cx="1463040" cy="50800"/>
          </a:xfrm>
          <a:prstGeom prst="rect">
            <a:avLst/>
          </a:prstGeom>
          <a:solidFill>
            <a:srgbClr val="C05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424160" cy="1097280"/>
          </a:xfrm>
          <a:prstGeom prst="rect">
            <a:avLst/>
          </a:prstGeom>
          <a:noFill/>
        </p:spPr>
        <p:txBody>
          <a:bodyPr wrap="square" anchor="t" lIns="0" rIns="0" tIns="0" bIns="0">
            <a:spAutoFit/>
          </a:bodyPr>
          <a:lstStyle/>
          <a:p>
            <a:pPr algn="l">
              <a:spcAft>
                <a:spcPts val="0"/>
              </a:spcAft>
            </a:pPr>
            <a:r>
              <a:rPr sz="4000" b="1">
                <a:solidFill>
                  <a:srgbClr val="FFFFFF"/>
                </a:solidFill>
                <a:latin typeface="Georgia"/>
              </a:rPr>
              <a:t>Three decisions. Two weeks.</a:t>
            </a:r>
          </a:p>
        </p:txBody>
      </p:sp>
      <p:sp>
        <p:nvSpPr>
          <p:cNvPr id="5" name="TextBox 4"/>
          <p:cNvSpPr txBox="1"/>
          <p:nvPr/>
        </p:nvSpPr>
        <p:spPr>
          <a:xfrm>
            <a:off x="822960" y="2743200"/>
            <a:ext cx="9692640" cy="3108960"/>
          </a:xfrm>
          <a:prstGeom prst="rect">
            <a:avLst/>
          </a:prstGeom>
          <a:noFill/>
        </p:spPr>
        <p:txBody>
          <a:bodyPr wrap="square" anchor="t" lIns="0" rIns="0" tIns="0" bIns="0">
            <a:spAutoFit/>
          </a:bodyPr>
          <a:lstStyle/>
          <a:p>
            <a:pPr algn="l">
              <a:spcAft>
                <a:spcPts val="1400"/>
              </a:spcAft>
            </a:pPr>
            <a:r>
              <a:rPr sz="1700" b="0">
                <a:solidFill>
                  <a:srgbClr val="D9DFE7"/>
                </a:solidFill>
                <a:latin typeface="Arial"/>
              </a:rPr>
              <a:t>1  Fund campaign support as a named line of 60,000 to 90,000 euro inside the 100,000 euro route, with a 150,000 euro minimum campaign size.</a:t>
            </a:r>
          </a:p>
          <a:p>
            <a:pPr algn="l">
              <a:spcAft>
                <a:spcPts val="1400"/>
              </a:spcAft>
            </a:pPr>
            <a:r>
              <a:rPr sz="1700" b="0">
                <a:solidFill>
                  <a:srgbClr val="D9DFE7"/>
                </a:solidFill>
                <a:latin typeface="Arial"/>
              </a:rPr>
              <a:t>2  Approve ten dealer invitations in two markets, approached as designed: prepared review, correction, IDS profile, plan.</a:t>
            </a:r>
          </a:p>
          <a:p>
            <a:pPr algn="l">
              <a:spcAft>
                <a:spcPts val="1400"/>
              </a:spcAft>
            </a:pPr>
            <a:r>
              <a:rPr sz="1700" b="0">
                <a:solidFill>
                  <a:srgbClr val="D9DFE7"/>
                </a:solidFill>
                <a:latin typeface="Arial"/>
              </a:rPr>
              <a:t>3  Build the AIM Commercial Atlas and the IDS Development Studio first, once the classification release is pinned to one named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