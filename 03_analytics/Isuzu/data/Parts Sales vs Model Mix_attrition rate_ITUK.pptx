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147483627" r:id="rId2"/>
    <p:sldId id="214748362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E36136-2C44-4881-A067-C41ECE9CF8A9}" v="58" dt="2026-02-02T17:25:36.6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85" autoAdjust="0"/>
    <p:restoredTop sz="96247" autoAdjust="0"/>
  </p:normalViewPr>
  <p:slideViewPr>
    <p:cSldViewPr snapToGrid="0">
      <p:cViewPr varScale="1">
        <p:scale>
          <a:sx n="78" d="100"/>
          <a:sy n="78" d="100"/>
        </p:scale>
        <p:origin x="12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9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5102878005141886E-2"/>
          <c:y val="0.11473267778842702"/>
          <c:w val="0.87391559678376951"/>
          <c:h val="0.721883170870657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'UIO 24'!$AA$17</c:f>
              <c:strCache>
                <c:ptCount val="1"/>
                <c:pt idx="0">
                  <c:v>N35</c:v>
                </c:pt>
              </c:strCache>
            </c:strRef>
          </c:tx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'UIO 24'!$AB$16:$AR$16</c:f>
              <c:numCache>
                <c:formatCode>General</c:formatCode>
                <c:ptCount val="17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  <c:pt idx="13">
                  <c:v>2021</c:v>
                </c:pt>
                <c:pt idx="14">
                  <c:v>2022</c:v>
                </c:pt>
                <c:pt idx="15">
                  <c:v>2023</c:v>
                </c:pt>
                <c:pt idx="16">
                  <c:v>2024</c:v>
                </c:pt>
              </c:numCache>
            </c:numRef>
          </c:cat>
          <c:val>
            <c:numRef>
              <c:f>'UIO 24'!$AB$17:$AR$17</c:f>
              <c:numCache>
                <c:formatCode>General</c:formatCode>
                <c:ptCount val="17"/>
                <c:pt idx="0">
                  <c:v>131</c:v>
                </c:pt>
                <c:pt idx="1">
                  <c:v>102</c:v>
                </c:pt>
                <c:pt idx="2">
                  <c:v>108</c:v>
                </c:pt>
                <c:pt idx="3">
                  <c:v>104</c:v>
                </c:pt>
                <c:pt idx="4">
                  <c:v>142</c:v>
                </c:pt>
                <c:pt idx="5">
                  <c:v>136</c:v>
                </c:pt>
                <c:pt idx="6">
                  <c:v>164</c:v>
                </c:pt>
                <c:pt idx="7">
                  <c:v>280</c:v>
                </c:pt>
                <c:pt idx="8">
                  <c:v>310</c:v>
                </c:pt>
                <c:pt idx="9">
                  <c:v>336</c:v>
                </c:pt>
                <c:pt idx="10">
                  <c:v>543</c:v>
                </c:pt>
                <c:pt idx="11">
                  <c:v>763</c:v>
                </c:pt>
                <c:pt idx="12">
                  <c:v>942</c:v>
                </c:pt>
                <c:pt idx="13">
                  <c:v>1226</c:v>
                </c:pt>
                <c:pt idx="14">
                  <c:v>1478</c:v>
                </c:pt>
                <c:pt idx="15">
                  <c:v>2089</c:v>
                </c:pt>
                <c:pt idx="16">
                  <c:v>1277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DE-44E5-90F2-33E62BFB944B}"/>
            </c:ext>
          </c:extLst>
        </c:ser>
        <c:ser>
          <c:idx val="1"/>
          <c:order val="1"/>
          <c:tx>
            <c:strRef>
              <c:f>'UIO 24'!$AA$18</c:f>
              <c:strCache>
                <c:ptCount val="1"/>
                <c:pt idx="0">
                  <c:v>N75</c:v>
                </c:pt>
              </c:strCache>
            </c:strRef>
          </c:tx>
          <c:spPr>
            <a:solidFill>
              <a:schemeClr val="accent6">
                <a:lumMod val="5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'UIO 24'!$AB$16:$AR$16</c:f>
              <c:numCache>
                <c:formatCode>General</c:formatCode>
                <c:ptCount val="17"/>
                <c:pt idx="0">
                  <c:v>2008</c:v>
                </c:pt>
                <c:pt idx="1">
                  <c:v>2009</c:v>
                </c:pt>
                <c:pt idx="2">
                  <c:v>2010</c:v>
                </c:pt>
                <c:pt idx="3">
                  <c:v>2011</c:v>
                </c:pt>
                <c:pt idx="4">
                  <c:v>2012</c:v>
                </c:pt>
                <c:pt idx="5">
                  <c:v>2013</c:v>
                </c:pt>
                <c:pt idx="6">
                  <c:v>2014</c:v>
                </c:pt>
                <c:pt idx="7">
                  <c:v>2015</c:v>
                </c:pt>
                <c:pt idx="8">
                  <c:v>2016</c:v>
                </c:pt>
                <c:pt idx="9">
                  <c:v>2017</c:v>
                </c:pt>
                <c:pt idx="10">
                  <c:v>2018</c:v>
                </c:pt>
                <c:pt idx="11">
                  <c:v>2019</c:v>
                </c:pt>
                <c:pt idx="12">
                  <c:v>2020</c:v>
                </c:pt>
                <c:pt idx="13">
                  <c:v>2021</c:v>
                </c:pt>
                <c:pt idx="14">
                  <c:v>2022</c:v>
                </c:pt>
                <c:pt idx="15">
                  <c:v>2023</c:v>
                </c:pt>
                <c:pt idx="16">
                  <c:v>2024</c:v>
                </c:pt>
              </c:numCache>
            </c:numRef>
          </c:cat>
          <c:val>
            <c:numRef>
              <c:f>'UIO 24'!$AB$18:$AR$18</c:f>
              <c:numCache>
                <c:formatCode>General</c:formatCode>
                <c:ptCount val="17"/>
                <c:pt idx="0">
                  <c:v>119</c:v>
                </c:pt>
                <c:pt idx="1">
                  <c:v>102</c:v>
                </c:pt>
                <c:pt idx="2">
                  <c:v>137</c:v>
                </c:pt>
                <c:pt idx="3">
                  <c:v>150</c:v>
                </c:pt>
                <c:pt idx="4">
                  <c:v>225</c:v>
                </c:pt>
                <c:pt idx="5">
                  <c:v>246</c:v>
                </c:pt>
                <c:pt idx="6">
                  <c:v>451</c:v>
                </c:pt>
                <c:pt idx="7">
                  <c:v>503</c:v>
                </c:pt>
                <c:pt idx="8">
                  <c:v>621</c:v>
                </c:pt>
                <c:pt idx="9">
                  <c:v>593</c:v>
                </c:pt>
                <c:pt idx="10">
                  <c:v>715</c:v>
                </c:pt>
                <c:pt idx="11">
                  <c:v>757</c:v>
                </c:pt>
                <c:pt idx="12">
                  <c:v>707</c:v>
                </c:pt>
                <c:pt idx="13">
                  <c:v>761</c:v>
                </c:pt>
                <c:pt idx="14">
                  <c:v>853</c:v>
                </c:pt>
                <c:pt idx="15">
                  <c:v>1060</c:v>
                </c:pt>
                <c:pt idx="16">
                  <c:v>970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DE-44E5-90F2-33E62BFB94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073647599"/>
        <c:axId val="1073653359"/>
      </c:barChart>
      <c:lineChart>
        <c:grouping val="standard"/>
        <c:varyColors val="0"/>
        <c:ser>
          <c:idx val="3"/>
          <c:order val="3"/>
          <c:tx>
            <c:v>Warranty</c:v>
          </c:tx>
          <c:spPr>
            <a:ln w="22225" cap="rnd">
              <a:solidFill>
                <a:srgbClr val="FF0000"/>
              </a:solidFill>
              <a:round/>
            </a:ln>
            <a:effectLst/>
          </c:spPr>
          <c:marker>
            <c:symbol val="none"/>
          </c:marker>
          <c:val>
            <c:numRef>
              <c:f>'Parc Stats'!$B$6:$R$6</c:f>
              <c:numCache>
                <c:formatCode>_-* #,##0_-;\-* #,##0_-;_-* "-"??_-;_-@_-</c:formatCode>
                <c:ptCount val="17"/>
                <c:pt idx="0">
                  <c:v>914314.60000000009</c:v>
                </c:pt>
                <c:pt idx="1">
                  <c:v>837855.8</c:v>
                </c:pt>
                <c:pt idx="2">
                  <c:v>1025205</c:v>
                </c:pt>
                <c:pt idx="3">
                  <c:v>1119655</c:v>
                </c:pt>
                <c:pt idx="4">
                  <c:v>1050578</c:v>
                </c:pt>
                <c:pt idx="5">
                  <c:v>984589</c:v>
                </c:pt>
                <c:pt idx="6">
                  <c:v>1052770</c:v>
                </c:pt>
                <c:pt idx="7">
                  <c:v>737533</c:v>
                </c:pt>
                <c:pt idx="8">
                  <c:v>761405</c:v>
                </c:pt>
                <c:pt idx="9">
                  <c:v>731129</c:v>
                </c:pt>
                <c:pt idx="10">
                  <c:v>732683.7916727257</c:v>
                </c:pt>
                <c:pt idx="11">
                  <c:v>775876.64480000001</c:v>
                </c:pt>
                <c:pt idx="12">
                  <c:v>824336.73200000019</c:v>
                </c:pt>
                <c:pt idx="13">
                  <c:v>959849.10899999994</c:v>
                </c:pt>
                <c:pt idx="14">
                  <c:v>1144272</c:v>
                </c:pt>
                <c:pt idx="15">
                  <c:v>1575976</c:v>
                </c:pt>
                <c:pt idx="16">
                  <c:v>1654944.5899999999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2DE-44E5-90F2-33E62BFB944B}"/>
            </c:ext>
          </c:extLst>
        </c:ser>
        <c:ser>
          <c:idx val="4"/>
          <c:order val="4"/>
          <c:tx>
            <c:v>True Sales</c:v>
          </c:tx>
          <c:spPr>
            <a:ln w="2222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dPt>
            <c:idx val="16"/>
            <c:marker>
              <c:symbol val="none"/>
            </c:marker>
            <c:bubble3D val="0"/>
            <c:extLst>
              <c:ext xmlns:c16="http://schemas.microsoft.com/office/drawing/2014/chart" uri="{C3380CC4-5D6E-409C-BE32-E72D297353CC}">
                <c16:uniqueId val="{00000003-02DE-44E5-90F2-33E62BFB944B}"/>
              </c:ext>
            </c:extLst>
          </c:dPt>
          <c:dLbls>
            <c:dLbl>
              <c:idx val="4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2DE-44E5-90F2-33E62BFB944B}"/>
                </c:ext>
              </c:extLst>
            </c:dLbl>
            <c:dLbl>
              <c:idx val="10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2DE-44E5-90F2-33E62BFB944B}"/>
                </c:ext>
              </c:extLst>
            </c:dLbl>
            <c:dLbl>
              <c:idx val="12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2DE-44E5-90F2-33E62BFB944B}"/>
                </c:ext>
              </c:extLst>
            </c:dLbl>
            <c:dLbl>
              <c:idx val="16"/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2DE-44E5-90F2-33E62BFB944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spcFirstLastPara="1" vertOverflow="ellipsis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val>
            <c:numRef>
              <c:f>'Parc Stats'!$B$7:$R$7</c:f>
              <c:numCache>
                <c:formatCode>_-* #,##0_-;\-* #,##0_-;_-* "-"??_-;_-@_-</c:formatCode>
                <c:ptCount val="17"/>
                <c:pt idx="0">
                  <c:v>3657258.4</c:v>
                </c:pt>
                <c:pt idx="1">
                  <c:v>3351423.2</c:v>
                </c:pt>
                <c:pt idx="2">
                  <c:v>3728490</c:v>
                </c:pt>
                <c:pt idx="3">
                  <c:v>4171151</c:v>
                </c:pt>
                <c:pt idx="4">
                  <c:v>4504818</c:v>
                </c:pt>
                <c:pt idx="5">
                  <c:v>4959433</c:v>
                </c:pt>
                <c:pt idx="6">
                  <c:v>5190032</c:v>
                </c:pt>
                <c:pt idx="7">
                  <c:v>5028709</c:v>
                </c:pt>
                <c:pt idx="8">
                  <c:v>5522232</c:v>
                </c:pt>
                <c:pt idx="9">
                  <c:v>5873417</c:v>
                </c:pt>
                <c:pt idx="10">
                  <c:v>6761627.2083272748</c:v>
                </c:pt>
                <c:pt idx="11">
                  <c:v>6675827.3552000001</c:v>
                </c:pt>
                <c:pt idx="12">
                  <c:v>6236367.2680000002</c:v>
                </c:pt>
                <c:pt idx="13">
                  <c:v>7719023.8909999998</c:v>
                </c:pt>
                <c:pt idx="14">
                  <c:v>8592445</c:v>
                </c:pt>
                <c:pt idx="15">
                  <c:v>10206600.299999999</c:v>
                </c:pt>
                <c:pt idx="16">
                  <c:v>10596055.08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2DE-44E5-90F2-33E62BFB94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734193616"/>
        <c:axId val="734190256"/>
        <c:extLst>
          <c:ext xmlns:c15="http://schemas.microsoft.com/office/drawing/2012/chart" uri="{02D57815-91ED-43cb-92C2-25804820EDAC}">
            <c15:filteredLineSeries>
              <c15:ser>
                <c:idx val="2"/>
                <c:order val="2"/>
                <c:tx>
                  <c:strRef>
                    <c:extLst>
                      <c:ext uri="{02D57815-91ED-43cb-92C2-25804820EDAC}">
                        <c15:formulaRef>
                          <c15:sqref>'Parc Stats'!$A$3</c15:sqref>
                        </c15:formulaRef>
                      </c:ext>
                    </c:extLst>
                    <c:strCache>
                      <c:ptCount val="1"/>
                      <c:pt idx="0">
                        <c:v>Turnover</c:v>
                      </c:pt>
                    </c:strCache>
                  </c:strRef>
                </c:tx>
                <c:spPr>
                  <a:ln w="28575" cap="rnd">
                    <a:solidFill>
                      <a:schemeClr val="accent3"/>
                    </a:solidFill>
                    <a:round/>
                  </a:ln>
                  <a:effectLst/>
                </c:spPr>
                <c:marker>
                  <c:symbol val="none"/>
                </c:marker>
                <c:val>
                  <c:numRef>
                    <c:extLst>
                      <c:ext uri="{02D57815-91ED-43cb-92C2-25804820EDAC}">
                        <c15:formulaRef>
                          <c15:sqref>'Parc Stats'!$B$3:$R$3</c15:sqref>
                        </c15:formulaRef>
                      </c:ext>
                    </c:extLst>
                    <c:numCache>
                      <c:formatCode>_-* #,##0_-;\-* #,##0_-;_-* "-"??_-;_-@_-</c:formatCode>
                      <c:ptCount val="17"/>
                      <c:pt idx="0">
                        <c:v>4571573</c:v>
                      </c:pt>
                      <c:pt idx="1">
                        <c:v>4189279</c:v>
                      </c:pt>
                      <c:pt idx="2">
                        <c:v>4753695</c:v>
                      </c:pt>
                      <c:pt idx="3">
                        <c:v>5290806</c:v>
                      </c:pt>
                      <c:pt idx="4">
                        <c:v>5555396</c:v>
                      </c:pt>
                      <c:pt idx="5">
                        <c:v>5944022</c:v>
                      </c:pt>
                      <c:pt idx="6">
                        <c:v>6242802</c:v>
                      </c:pt>
                      <c:pt idx="7">
                        <c:v>5766242</c:v>
                      </c:pt>
                      <c:pt idx="8">
                        <c:v>6283637</c:v>
                      </c:pt>
                      <c:pt idx="9">
                        <c:v>6604546</c:v>
                      </c:pt>
                      <c:pt idx="10">
                        <c:v>7494311</c:v>
                      </c:pt>
                      <c:pt idx="11">
                        <c:v>7451704</c:v>
                      </c:pt>
                      <c:pt idx="12">
                        <c:v>7060704</c:v>
                      </c:pt>
                      <c:pt idx="13">
                        <c:v>8678873</c:v>
                      </c:pt>
                      <c:pt idx="14">
                        <c:v>9736717</c:v>
                      </c:pt>
                      <c:pt idx="15">
                        <c:v>11782576.299999999</c:v>
                      </c:pt>
                      <c:pt idx="16">
                        <c:v>12250999.67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5-02DE-44E5-90F2-33E62BFB944B}"/>
                  </c:ext>
                </c:extLst>
              </c15:ser>
            </c15:filteredLineSeries>
          </c:ext>
        </c:extLst>
      </c:lineChart>
      <c:catAx>
        <c:axId val="10736475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3653359"/>
        <c:crosses val="autoZero"/>
        <c:auto val="1"/>
        <c:lblAlgn val="ctr"/>
        <c:lblOffset val="200"/>
        <c:noMultiLvlLbl val="0"/>
      </c:catAx>
      <c:valAx>
        <c:axId val="1073653359"/>
        <c:scaling>
          <c:orientation val="minMax"/>
          <c:max val="21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3647599"/>
        <c:crosses val="autoZero"/>
        <c:crossBetween val="between"/>
        <c:majorUnit val="250"/>
      </c:valAx>
      <c:valAx>
        <c:axId val="734190256"/>
        <c:scaling>
          <c:orientation val="minMax"/>
        </c:scaling>
        <c:delete val="0"/>
        <c:axPos val="r"/>
        <c:numFmt formatCode="_-* #,##0_-;\-* #,##0_-;_-* &quot;-&quot;??_-;_-@_-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34193616"/>
        <c:crosses val="max"/>
        <c:crossBetween val="between"/>
      </c:valAx>
      <c:catAx>
        <c:axId val="734193616"/>
        <c:scaling>
          <c:orientation val="minMax"/>
        </c:scaling>
        <c:delete val="1"/>
        <c:axPos val="b"/>
        <c:majorTickMark val="out"/>
        <c:minorTickMark val="none"/>
        <c:tickLblPos val="nextTo"/>
        <c:crossAx val="734190256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2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2060"/>
            </a:solidFill>
            <a:ln>
              <a:noFill/>
            </a:ln>
            <a:effectLst/>
          </c:spPr>
          <c:invertIfNegative val="0"/>
          <c:dPt>
            <c:idx val="1"/>
            <c:invertIfNegative val="0"/>
            <c:bubble3D val="0"/>
            <c:spPr>
              <a:solidFill>
                <a:schemeClr val="accent6">
                  <a:lumMod val="5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60C-4802-A27D-4FF04D214456}"/>
              </c:ext>
            </c:extLst>
          </c:dPt>
          <c:dLbls>
            <c:dLbl>
              <c:idx val="0"/>
              <c:numFmt formatCode="#,##0.000" sourceLinked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900" b="0" i="0" u="none" strike="noStrike" kern="1200" baseline="0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33358114005177686"/>
                      <c:h val="4.08161404626562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760C-4802-A27D-4FF04D214456}"/>
                </c:ext>
              </c:extLst>
            </c:dLbl>
            <c:dLbl>
              <c:idx val="1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6852387236737379"/>
                      <c:h val="8.5037603622476046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760C-4802-A27D-4FF04D214456}"/>
                </c:ext>
              </c:extLst>
            </c:dLbl>
            <c:numFmt formatCode="#,##0.000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'UIO 24'!$AA$17:$AA$18</c:f>
              <c:strCache>
                <c:ptCount val="2"/>
                <c:pt idx="0">
                  <c:v>N35</c:v>
                </c:pt>
                <c:pt idx="1">
                  <c:v>N75</c:v>
                </c:pt>
              </c:strCache>
            </c:strRef>
          </c:cat>
          <c:val>
            <c:numRef>
              <c:f>'UIO 24'!$AS$17:$AS$18</c:f>
              <c:numCache>
                <c:formatCode>General</c:formatCode>
                <c:ptCount val="2"/>
                <c:pt idx="0">
                  <c:v>10900</c:v>
                </c:pt>
                <c:pt idx="1">
                  <c:v>9359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60C-4802-A27D-4FF04D2144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1247445264"/>
        <c:axId val="1247442864"/>
      </c:barChart>
      <c:catAx>
        <c:axId val="12474452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7442864"/>
        <c:crosses val="autoZero"/>
        <c:auto val="1"/>
        <c:lblAlgn val="ctr"/>
        <c:lblOffset val="100"/>
        <c:noMultiLvlLbl val="0"/>
      </c:catAx>
      <c:valAx>
        <c:axId val="1247442864"/>
        <c:scaling>
          <c:orientation val="minMax"/>
          <c:max val="120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47445264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rgbClr val="002060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F9BBF1-1D7B-4FC9-B3E4-9BAD6342E0FE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3043F7-5D21-451F-8957-EE7FCB7AA51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15945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AA83D-BB25-A119-1BD9-EDE543A8F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97A184-8347-C688-3F23-CA3F7AF8C0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1EDBDD-8F90-5BC1-CAC9-CD23E13EDE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4708" indent="-174708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E63D40-AB78-EB28-C95A-357342C560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0E1087-D66A-494B-9FA2-986DCE6108CB}" type="slidenum"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9215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4318F2-EC69-FA4F-AEB8-979EF6D5E0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BE7CFE-9CA7-70A4-47F7-0EFBCF9B25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255C81-CBA3-C767-9148-9221A3D303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4708" indent="-174708">
              <a:buFont typeface="Arial" panose="020B0604020202020204" pitchFamily="34" charset="0"/>
              <a:buChar char="•"/>
            </a:pP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A7873-BF69-F388-89D3-689216C6F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317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70E1087-D66A-494B-9FA2-986DCE6108CB}" type="slidenum">
              <a:rPr kumimoji="0" lang="en-GB" sz="1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eiryo"/>
                <a:ea typeface="+mn-ea"/>
                <a:cs typeface="+mn-cs"/>
              </a:rPr>
              <a:pPr marL="0" marR="0" lvl="0" indent="0" algn="r" defTabSz="93177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16615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A0B90-7D4D-46E2-9EDC-C029B8CF58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8D3230-BF2B-32FD-5582-5243E37D96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6C35BA-9051-2D9A-EFC6-F78A0381A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50E2-AE0E-47B8-BAAA-752754DE83D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98EE34-9031-F519-9A10-EFFAD9FC3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1700B-4EA9-C478-2695-FDDD02467B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F3BBB-9B25-4CCE-8C65-B6350E7512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1308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E882A6-ABDB-22FA-19A1-08DC24D4D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9A9965-7863-3D81-4EE9-84AE6220DD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511EF4-9D78-1691-F62C-AE4266D8C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50E2-AE0E-47B8-BAAA-752754DE83D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5505F0-99E0-5970-64E4-C77054C1B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934311-884D-952C-2EE4-60A9E3693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F3BBB-9B25-4CCE-8C65-B6350E7512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811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A99B5-1E69-C3DC-74C9-E427AA876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79AE99-BEE5-8D7D-EB54-876B772AC1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411CC-D310-49E1-D740-EEE94B3FF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50E2-AE0E-47B8-BAAA-752754DE83D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BBF96-2E5D-71A8-2593-9CB28ADD6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E4A46-ABC0-FFE2-CFA9-C019A1E921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F3BBB-9B25-4CCE-8C65-B6350E7512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1964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1FC3A-EEEE-4B13-AD0C-209FA5E4D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9619C-06D6-8F74-862C-383D7D4C88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C2E54C-1FD3-4449-A60D-E7984A20C0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D9E83-2AA1-FC24-8C66-302292D234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50E2-AE0E-47B8-BAAA-752754DE83D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D0AC6-A1D8-8C52-7A18-5B73B816A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F9759F-AA08-4011-632D-27F623EE1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F3BBB-9B25-4CCE-8C65-B6350E7512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6375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A2CBE-2953-8658-F435-76EE566C6B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0AEF3-47E6-E6BA-688B-DEA490DC5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D9529-D815-8B26-4B36-A253492E3A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1478C1-C9AC-B761-3BB1-022E4E31BE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FDCCE4-0C17-8E56-D29F-7E8F52C642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4A8D21-63AF-C845-51DB-C78CDFB19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50E2-AE0E-47B8-BAAA-752754DE83D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EE3736-E1C1-8B8A-12F3-9AD803777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082EDA-2A54-FC09-6D53-6E28DFBDC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F3BBB-9B25-4CCE-8C65-B6350E7512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423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2BE0E-2D1A-CE05-C13E-57A30D8D5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2AC322-1720-1C72-C273-A2D4C3B33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50E2-AE0E-47B8-BAAA-752754DE83D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79A3BF0-52F0-BC5A-88CE-F745D8478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025A7-AE8B-E704-9FA3-71469B40A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F3BBB-9B25-4CCE-8C65-B6350E7512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3919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F4B64E-E566-C370-94FA-14C9DCED3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50E2-AE0E-47B8-BAAA-752754DE83D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619B75-262D-7202-97D9-463B0ED0B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5D6F3-2168-DA7F-524B-8AAD08239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F3BBB-9B25-4CCE-8C65-B6350E7512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0065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F13E3-F3FB-4F8D-ADA4-EAA439CE4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B4993C-6BB8-5F7D-98F6-59B566F514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1FC9C8-4D43-2C91-EBFD-E520AB63A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A1A1D-E032-E6AB-0789-585478ADF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50E2-AE0E-47B8-BAAA-752754DE83D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EDF515-1970-517D-E4B6-CF8B016E3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DC378A-FB17-4A01-3B22-4094E6DAC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F3BBB-9B25-4CCE-8C65-B6350E7512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09623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FFD2C-36EA-2F0B-A64D-BDF0B44D61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EBCDEC-09BF-4B35-491E-4250F0489D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922610-3CA0-A677-D75A-25C56BE632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91DB92-5411-A53E-9137-F856C14EC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50E2-AE0E-47B8-BAAA-752754DE83D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1B978-038A-1CFC-2677-51604D1B0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23EFF1-0727-2847-3941-2FB24946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F3BBB-9B25-4CCE-8C65-B6350E7512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3246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B069F-013E-0410-EE7A-4B8AAA8632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D98DCE-EC97-37B6-B20B-93EA97E6D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73400-19A7-DCE7-A974-FD0C018F7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50E2-AE0E-47B8-BAAA-752754DE83D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706258-F080-2F22-3C9F-6DDD77517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F85AD-5816-0F7C-DEF9-73CB1B804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F3BBB-9B25-4CCE-8C65-B6350E7512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82917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A8B7794-83C3-A1A5-34F8-756D66DC4C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896C49-6D52-3EA0-21FC-F1262318BA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4536E-2A9A-A3FA-74D6-46A0C4A0B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F550E2-AE0E-47B8-BAAA-752754DE83D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D4CF7C-5B08-E29F-62D7-4CB6B83E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3E153-B15D-1DC6-3791-87734E06B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F3BBB-9B25-4CCE-8C65-B6350E7512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35344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.2 Content - Blue Title, Text_Top symb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652AE0B-7B9F-EB88-6744-8470770B8749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1"/>
            </p:custDataLst>
          </p:nvPr>
        </p:nvSpPr>
        <p:spPr>
          <a:xfrm>
            <a:off x="457200" y="1196975"/>
            <a:ext cx="11280002" cy="5111750"/>
          </a:xfrm>
        </p:spPr>
        <p:txBody>
          <a:bodyPr lIns="0"/>
          <a:lstStyle/>
          <a:p>
            <a:pPr lvl="0"/>
            <a:r>
              <a:rPr lang="ja-JP" altLang="en-US" dirty="0"/>
              <a:t>テキスト</a:t>
            </a:r>
          </a:p>
        </p:txBody>
      </p:sp>
      <p:grpSp>
        <p:nvGrpSpPr>
          <p:cNvPr id="3" name="LOGO RED">
            <a:extLst>
              <a:ext uri="{FF2B5EF4-FFF2-40B4-BE49-F238E27FC236}">
                <a16:creationId xmlns:a16="http://schemas.microsoft.com/office/drawing/2014/main" id="{9FC68AC8-56D4-5277-086D-EC798597B28C}"/>
              </a:ext>
            </a:extLst>
          </p:cNvPr>
          <p:cNvGrpSpPr/>
          <p:nvPr userDrawn="1">
            <p:custDataLst>
              <p:tags r:id="rId2"/>
            </p:custDataLst>
          </p:nvPr>
        </p:nvGrpSpPr>
        <p:grpSpPr>
          <a:xfrm>
            <a:off x="10326931" y="513671"/>
            <a:ext cx="1407869" cy="245006"/>
            <a:chOff x="3245241" y="3110528"/>
            <a:chExt cx="5696307" cy="991307"/>
          </a:xfrm>
          <a:solidFill>
            <a:srgbClr val="ED1C24"/>
          </a:solidFill>
        </p:grpSpPr>
        <p:sp>
          <p:nvSpPr>
            <p:cNvPr id="4" name="Freeform: Shape 2">
              <a:extLst>
                <a:ext uri="{FF2B5EF4-FFF2-40B4-BE49-F238E27FC236}">
                  <a16:creationId xmlns:a16="http://schemas.microsoft.com/office/drawing/2014/main" id="{F1735E8D-E7F4-D4FF-A47E-7EF4F78E1C79}"/>
                </a:ext>
              </a:extLst>
            </p:cNvPr>
            <p:cNvSpPr/>
            <p:nvPr/>
          </p:nvSpPr>
          <p:spPr>
            <a:xfrm>
              <a:off x="3245241" y="3114772"/>
              <a:ext cx="325211" cy="987063"/>
            </a:xfrm>
            <a:custGeom>
              <a:avLst/>
              <a:gdLst>
                <a:gd name="connsiteX0" fmla="*/ 285689 w 325211"/>
                <a:gd name="connsiteY0" fmla="*/ 1849 h 987063"/>
                <a:gd name="connsiteX1" fmla="*/ 43037 w 325211"/>
                <a:gd name="connsiteY1" fmla="*/ 1849 h 987063"/>
                <a:gd name="connsiteX2" fmla="*/ 0 w 325211"/>
                <a:gd name="connsiteY2" fmla="*/ 51753 h 987063"/>
                <a:gd name="connsiteX3" fmla="*/ 0 w 325211"/>
                <a:gd name="connsiteY3" fmla="*/ 945359 h 987063"/>
                <a:gd name="connsiteX4" fmla="*/ 56402 w 325211"/>
                <a:gd name="connsiteY4" fmla="*/ 986312 h 987063"/>
                <a:gd name="connsiteX5" fmla="*/ 279558 w 325211"/>
                <a:gd name="connsiteY5" fmla="*/ 986067 h 987063"/>
                <a:gd name="connsiteX6" fmla="*/ 325048 w 325211"/>
                <a:gd name="connsiteY6" fmla="*/ 923534 h 987063"/>
                <a:gd name="connsiteX7" fmla="*/ 325048 w 325211"/>
                <a:gd name="connsiteY7" fmla="*/ 48320 h 987063"/>
                <a:gd name="connsiteX8" fmla="*/ 285689 w 325211"/>
                <a:gd name="connsiteY8" fmla="*/ 1727 h 9870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5211" h="987063">
                  <a:moveTo>
                    <a:pt x="285689" y="1849"/>
                  </a:moveTo>
                  <a:cubicBezTo>
                    <a:pt x="265213" y="-235"/>
                    <a:pt x="73568" y="-971"/>
                    <a:pt x="43037" y="1849"/>
                  </a:cubicBezTo>
                  <a:cubicBezTo>
                    <a:pt x="10790" y="4915"/>
                    <a:pt x="0" y="18280"/>
                    <a:pt x="0" y="51753"/>
                  </a:cubicBezTo>
                  <a:lnTo>
                    <a:pt x="0" y="945359"/>
                  </a:lnTo>
                  <a:cubicBezTo>
                    <a:pt x="0" y="985821"/>
                    <a:pt x="27956" y="984718"/>
                    <a:pt x="56402" y="986312"/>
                  </a:cubicBezTo>
                  <a:cubicBezTo>
                    <a:pt x="75530" y="987293"/>
                    <a:pt x="258837" y="987415"/>
                    <a:pt x="279558" y="986067"/>
                  </a:cubicBezTo>
                  <a:cubicBezTo>
                    <a:pt x="322718" y="983124"/>
                    <a:pt x="324803" y="960931"/>
                    <a:pt x="325048" y="923534"/>
                  </a:cubicBezTo>
                  <a:cubicBezTo>
                    <a:pt x="325416" y="859530"/>
                    <a:pt x="325048" y="112447"/>
                    <a:pt x="325048" y="48320"/>
                  </a:cubicBezTo>
                  <a:cubicBezTo>
                    <a:pt x="325048" y="18034"/>
                    <a:pt x="317691" y="5160"/>
                    <a:pt x="285689" y="1727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82D0A98-E556-5892-B381-503254ADADCE}"/>
                </a:ext>
              </a:extLst>
            </p:cNvPr>
            <p:cNvSpPr/>
            <p:nvPr/>
          </p:nvSpPr>
          <p:spPr>
            <a:xfrm>
              <a:off x="3759805" y="3115696"/>
              <a:ext cx="1190133" cy="983603"/>
            </a:xfrm>
            <a:custGeom>
              <a:avLst/>
              <a:gdLst>
                <a:gd name="connsiteX0" fmla="*/ 1147704 w 1190133"/>
                <a:gd name="connsiteY0" fmla="*/ 876875 h 983603"/>
                <a:gd name="connsiteX1" fmla="*/ 1058441 w 1190133"/>
                <a:gd name="connsiteY1" fmla="*/ 529511 h 983603"/>
                <a:gd name="connsiteX2" fmla="*/ 385785 w 1190133"/>
                <a:gd name="connsiteY2" fmla="*/ 283426 h 983603"/>
                <a:gd name="connsiteX3" fmla="*/ 353660 w 1190133"/>
                <a:gd name="connsiteY3" fmla="*/ 243454 h 983603"/>
                <a:gd name="connsiteX4" fmla="*/ 397556 w 1190133"/>
                <a:gd name="connsiteY4" fmla="*/ 224081 h 983603"/>
                <a:gd name="connsiteX5" fmla="*/ 1105893 w 1190133"/>
                <a:gd name="connsiteY5" fmla="*/ 227024 h 983603"/>
                <a:gd name="connsiteX6" fmla="*/ 1158739 w 1190133"/>
                <a:gd name="connsiteY6" fmla="*/ 184232 h 983603"/>
                <a:gd name="connsiteX7" fmla="*/ 1159352 w 1190133"/>
                <a:gd name="connsiteY7" fmla="*/ 55243 h 983603"/>
                <a:gd name="connsiteX8" fmla="*/ 1107732 w 1190133"/>
                <a:gd name="connsiteY8" fmla="*/ 435 h 983603"/>
                <a:gd name="connsiteX9" fmla="*/ 285978 w 1190133"/>
                <a:gd name="connsiteY9" fmla="*/ 4726 h 983603"/>
                <a:gd name="connsiteX10" fmla="*/ 2986 w 1190133"/>
                <a:gd name="connsiteY10" fmla="*/ 208877 h 983603"/>
                <a:gd name="connsiteX11" fmla="*/ 118120 w 1190133"/>
                <a:gd name="connsiteY11" fmla="*/ 454595 h 983603"/>
                <a:gd name="connsiteX12" fmla="*/ 795559 w 1190133"/>
                <a:gd name="connsiteY12" fmla="*/ 704848 h 983603"/>
                <a:gd name="connsiteX13" fmla="*/ 837860 w 1190133"/>
                <a:gd name="connsiteY13" fmla="*/ 752177 h 983603"/>
                <a:gd name="connsiteX14" fmla="*/ 785382 w 1190133"/>
                <a:gd name="connsiteY14" fmla="*/ 764193 h 983603"/>
                <a:gd name="connsiteX15" fmla="*/ 78271 w 1190133"/>
                <a:gd name="connsiteY15" fmla="*/ 756223 h 983603"/>
                <a:gd name="connsiteX16" fmla="*/ 25302 w 1190133"/>
                <a:gd name="connsiteY16" fmla="*/ 816059 h 983603"/>
                <a:gd name="connsiteX17" fmla="*/ 25302 w 1190133"/>
                <a:gd name="connsiteY17" fmla="*/ 921261 h 983603"/>
                <a:gd name="connsiteX18" fmla="*/ 75819 w 1190133"/>
                <a:gd name="connsiteY18" fmla="*/ 980361 h 983603"/>
                <a:gd name="connsiteX19" fmla="*/ 862138 w 1190133"/>
                <a:gd name="connsiteY19" fmla="*/ 982200 h 983603"/>
                <a:gd name="connsiteX20" fmla="*/ 1147459 w 1190133"/>
                <a:gd name="connsiteY20" fmla="*/ 876630 h 983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0133" h="983603">
                  <a:moveTo>
                    <a:pt x="1147704" y="876875"/>
                  </a:moveTo>
                  <a:cubicBezTo>
                    <a:pt x="1210972" y="792394"/>
                    <a:pt x="1219923" y="617793"/>
                    <a:pt x="1058441" y="529511"/>
                  </a:cubicBezTo>
                  <a:cubicBezTo>
                    <a:pt x="966359" y="479240"/>
                    <a:pt x="484979" y="323153"/>
                    <a:pt x="385785" y="283426"/>
                  </a:cubicBezTo>
                  <a:cubicBezTo>
                    <a:pt x="358074" y="272269"/>
                    <a:pt x="349982" y="259762"/>
                    <a:pt x="353660" y="243454"/>
                  </a:cubicBezTo>
                  <a:cubicBezTo>
                    <a:pt x="358197" y="223836"/>
                    <a:pt x="385662" y="224327"/>
                    <a:pt x="397556" y="224081"/>
                  </a:cubicBezTo>
                  <a:cubicBezTo>
                    <a:pt x="408101" y="223836"/>
                    <a:pt x="507295" y="224940"/>
                    <a:pt x="1105893" y="227024"/>
                  </a:cubicBezTo>
                  <a:cubicBezTo>
                    <a:pt x="1139489" y="227024"/>
                    <a:pt x="1154815" y="218686"/>
                    <a:pt x="1158739" y="184232"/>
                  </a:cubicBezTo>
                  <a:cubicBezTo>
                    <a:pt x="1160701" y="166821"/>
                    <a:pt x="1159720" y="66156"/>
                    <a:pt x="1159352" y="55243"/>
                  </a:cubicBezTo>
                  <a:cubicBezTo>
                    <a:pt x="1157881" y="16497"/>
                    <a:pt x="1151750" y="557"/>
                    <a:pt x="1107732" y="435"/>
                  </a:cubicBezTo>
                  <a:cubicBezTo>
                    <a:pt x="1058564" y="435"/>
                    <a:pt x="470633" y="-2018"/>
                    <a:pt x="285978" y="4726"/>
                  </a:cubicBezTo>
                  <a:cubicBezTo>
                    <a:pt x="78884" y="12206"/>
                    <a:pt x="17700" y="109438"/>
                    <a:pt x="2986" y="208877"/>
                  </a:cubicBezTo>
                  <a:cubicBezTo>
                    <a:pt x="-11237" y="305987"/>
                    <a:pt x="25057" y="397825"/>
                    <a:pt x="118120" y="454595"/>
                  </a:cubicBezTo>
                  <a:cubicBezTo>
                    <a:pt x="206770" y="508667"/>
                    <a:pt x="513057" y="602957"/>
                    <a:pt x="795559" y="704848"/>
                  </a:cubicBezTo>
                  <a:cubicBezTo>
                    <a:pt x="841048" y="721279"/>
                    <a:pt x="844972" y="737464"/>
                    <a:pt x="837860" y="752177"/>
                  </a:cubicBezTo>
                  <a:cubicBezTo>
                    <a:pt x="832956" y="762231"/>
                    <a:pt x="812479" y="763948"/>
                    <a:pt x="785382" y="764193"/>
                  </a:cubicBezTo>
                  <a:cubicBezTo>
                    <a:pt x="715002" y="764806"/>
                    <a:pt x="114074" y="755242"/>
                    <a:pt x="78271" y="756223"/>
                  </a:cubicBezTo>
                  <a:cubicBezTo>
                    <a:pt x="34375" y="757449"/>
                    <a:pt x="26283" y="770201"/>
                    <a:pt x="25302" y="816059"/>
                  </a:cubicBezTo>
                  <a:cubicBezTo>
                    <a:pt x="25057" y="826971"/>
                    <a:pt x="25302" y="909122"/>
                    <a:pt x="25302" y="921261"/>
                  </a:cubicBezTo>
                  <a:cubicBezTo>
                    <a:pt x="25792" y="963930"/>
                    <a:pt x="33149" y="979993"/>
                    <a:pt x="75819" y="980361"/>
                  </a:cubicBezTo>
                  <a:cubicBezTo>
                    <a:pt x="330364" y="982935"/>
                    <a:pt x="769319" y="985142"/>
                    <a:pt x="862138" y="982200"/>
                  </a:cubicBezTo>
                  <a:cubicBezTo>
                    <a:pt x="1009764" y="977418"/>
                    <a:pt x="1090811" y="952282"/>
                    <a:pt x="1147459" y="876630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E4B2AE9-7A1C-3EFA-A949-1E51887838F9}"/>
                </a:ext>
              </a:extLst>
            </p:cNvPr>
            <p:cNvSpPr/>
            <p:nvPr/>
          </p:nvSpPr>
          <p:spPr>
            <a:xfrm>
              <a:off x="6425095" y="3112314"/>
              <a:ext cx="1195260" cy="985036"/>
            </a:xfrm>
            <a:custGeom>
              <a:avLst/>
              <a:gdLst>
                <a:gd name="connsiteX0" fmla="*/ 1177332 w 1195260"/>
                <a:gd name="connsiteY0" fmla="*/ 129741 h 985036"/>
                <a:gd name="connsiteX1" fmla="*/ 907951 w 1195260"/>
                <a:gd name="connsiteY1" fmla="*/ 1978 h 985036"/>
                <a:gd name="connsiteX2" fmla="*/ 86687 w 1195260"/>
                <a:gd name="connsiteY2" fmla="*/ 1732 h 985036"/>
                <a:gd name="connsiteX3" fmla="*/ 34699 w 1195260"/>
                <a:gd name="connsiteY3" fmla="*/ 63775 h 985036"/>
                <a:gd name="connsiteX4" fmla="*/ 35924 w 1195260"/>
                <a:gd name="connsiteY4" fmla="*/ 186879 h 985036"/>
                <a:gd name="connsiteX5" fmla="*/ 87177 w 1195260"/>
                <a:gd name="connsiteY5" fmla="*/ 225870 h 985036"/>
                <a:gd name="connsiteX6" fmla="*/ 810596 w 1195260"/>
                <a:gd name="connsiteY6" fmla="*/ 221701 h 985036"/>
                <a:gd name="connsiteX7" fmla="*/ 841985 w 1195260"/>
                <a:gd name="connsiteY7" fmla="*/ 242422 h 985036"/>
                <a:gd name="connsiteX8" fmla="*/ 820650 w 1195260"/>
                <a:gd name="connsiteY8" fmla="*/ 268784 h 985036"/>
                <a:gd name="connsiteX9" fmla="*/ 175336 w 1195260"/>
                <a:gd name="connsiteY9" fmla="*/ 559623 h 985036"/>
                <a:gd name="connsiteX10" fmla="*/ 1102 w 1195260"/>
                <a:gd name="connsiteY10" fmla="*/ 799700 h 985036"/>
                <a:gd name="connsiteX11" fmla="*/ 276369 w 1195260"/>
                <a:gd name="connsiteY11" fmla="*/ 982884 h 985036"/>
                <a:gd name="connsiteX12" fmla="*/ 1115289 w 1195260"/>
                <a:gd name="connsiteY12" fmla="*/ 977980 h 985036"/>
                <a:gd name="connsiteX13" fmla="*/ 1167891 w 1195260"/>
                <a:gd name="connsiteY13" fmla="*/ 926728 h 985036"/>
                <a:gd name="connsiteX14" fmla="*/ 1168504 w 1195260"/>
                <a:gd name="connsiteY14" fmla="*/ 828146 h 985036"/>
                <a:gd name="connsiteX15" fmla="*/ 1110630 w 1195260"/>
                <a:gd name="connsiteY15" fmla="*/ 755927 h 985036"/>
                <a:gd name="connsiteX16" fmla="*/ 408301 w 1195260"/>
                <a:gd name="connsiteY16" fmla="*/ 764878 h 985036"/>
                <a:gd name="connsiteX17" fmla="*/ 386108 w 1195260"/>
                <a:gd name="connsiteY17" fmla="*/ 738639 h 985036"/>
                <a:gd name="connsiteX18" fmla="*/ 435644 w 1195260"/>
                <a:gd name="connsiteY18" fmla="*/ 708966 h 985036"/>
                <a:gd name="connsiteX19" fmla="*/ 1067838 w 1195260"/>
                <a:gd name="connsiteY19" fmla="*/ 411016 h 985036"/>
                <a:gd name="connsiteX20" fmla="*/ 1177454 w 1195260"/>
                <a:gd name="connsiteY20" fmla="*/ 129741 h 985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195260" h="985036">
                  <a:moveTo>
                    <a:pt x="1177332" y="129741"/>
                  </a:moveTo>
                  <a:cubicBezTo>
                    <a:pt x="1140057" y="42440"/>
                    <a:pt x="1063301" y="7373"/>
                    <a:pt x="907951" y="1978"/>
                  </a:cubicBezTo>
                  <a:cubicBezTo>
                    <a:pt x="787667" y="-2191"/>
                    <a:pt x="102872" y="1487"/>
                    <a:pt x="86687" y="1732"/>
                  </a:cubicBezTo>
                  <a:cubicBezTo>
                    <a:pt x="38500" y="2468"/>
                    <a:pt x="35434" y="21473"/>
                    <a:pt x="34699" y="63775"/>
                  </a:cubicBezTo>
                  <a:cubicBezTo>
                    <a:pt x="34453" y="74565"/>
                    <a:pt x="34453" y="170816"/>
                    <a:pt x="35924" y="186879"/>
                  </a:cubicBezTo>
                  <a:cubicBezTo>
                    <a:pt x="39113" y="222069"/>
                    <a:pt x="62532" y="225870"/>
                    <a:pt x="87177" y="225870"/>
                  </a:cubicBezTo>
                  <a:cubicBezTo>
                    <a:pt x="103117" y="225870"/>
                    <a:pt x="765229" y="221578"/>
                    <a:pt x="810596" y="221701"/>
                  </a:cubicBezTo>
                  <a:cubicBezTo>
                    <a:pt x="831930" y="221701"/>
                    <a:pt x="840636" y="228935"/>
                    <a:pt x="841985" y="242422"/>
                  </a:cubicBezTo>
                  <a:cubicBezTo>
                    <a:pt x="843088" y="254071"/>
                    <a:pt x="836344" y="261550"/>
                    <a:pt x="820650" y="268784"/>
                  </a:cubicBezTo>
                  <a:cubicBezTo>
                    <a:pt x="617357" y="362706"/>
                    <a:pt x="276737" y="510210"/>
                    <a:pt x="175336" y="559623"/>
                  </a:cubicBezTo>
                  <a:cubicBezTo>
                    <a:pt x="27342" y="631842"/>
                    <a:pt x="-6990" y="715710"/>
                    <a:pt x="1102" y="799700"/>
                  </a:cubicBezTo>
                  <a:cubicBezTo>
                    <a:pt x="10053" y="893009"/>
                    <a:pt x="67191" y="976141"/>
                    <a:pt x="276369" y="982884"/>
                  </a:cubicBezTo>
                  <a:cubicBezTo>
                    <a:pt x="460167" y="988770"/>
                    <a:pt x="986300" y="981045"/>
                    <a:pt x="1115289" y="977980"/>
                  </a:cubicBezTo>
                  <a:cubicBezTo>
                    <a:pt x="1161883" y="976876"/>
                    <a:pt x="1163967" y="959833"/>
                    <a:pt x="1167891" y="926728"/>
                  </a:cubicBezTo>
                  <a:cubicBezTo>
                    <a:pt x="1169485" y="912750"/>
                    <a:pt x="1168626" y="839059"/>
                    <a:pt x="1168504" y="828146"/>
                  </a:cubicBezTo>
                  <a:cubicBezTo>
                    <a:pt x="1167891" y="769415"/>
                    <a:pt x="1161883" y="755559"/>
                    <a:pt x="1110630" y="755927"/>
                  </a:cubicBezTo>
                  <a:cubicBezTo>
                    <a:pt x="1070903" y="756295"/>
                    <a:pt x="555315" y="766349"/>
                    <a:pt x="408301" y="764878"/>
                  </a:cubicBezTo>
                  <a:cubicBezTo>
                    <a:pt x="385005" y="764633"/>
                    <a:pt x="378261" y="752126"/>
                    <a:pt x="386108" y="738639"/>
                  </a:cubicBezTo>
                  <a:cubicBezTo>
                    <a:pt x="391135" y="730056"/>
                    <a:pt x="406340" y="722086"/>
                    <a:pt x="435644" y="708966"/>
                  </a:cubicBezTo>
                  <a:cubicBezTo>
                    <a:pt x="558748" y="653545"/>
                    <a:pt x="897528" y="513153"/>
                    <a:pt x="1067838" y="411016"/>
                  </a:cubicBezTo>
                  <a:cubicBezTo>
                    <a:pt x="1169117" y="350322"/>
                    <a:pt x="1226500" y="244507"/>
                    <a:pt x="1177454" y="129741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02B95D8-9587-2ED3-65BB-8C1910C417B9}"/>
                </a:ext>
              </a:extLst>
            </p:cNvPr>
            <p:cNvSpPr/>
            <p:nvPr/>
          </p:nvSpPr>
          <p:spPr>
            <a:xfrm>
              <a:off x="5124603" y="3113017"/>
              <a:ext cx="1126334" cy="986320"/>
            </a:xfrm>
            <a:custGeom>
              <a:avLst/>
              <a:gdLst>
                <a:gd name="connsiteX0" fmla="*/ 1083833 w 1126334"/>
                <a:gd name="connsiteY0" fmla="*/ 1888 h 986320"/>
                <a:gd name="connsiteX1" fmla="*/ 849519 w 1126334"/>
                <a:gd name="connsiteY1" fmla="*/ 1520 h 986320"/>
                <a:gd name="connsiteX2" fmla="*/ 805011 w 1126334"/>
                <a:gd name="connsiteY2" fmla="*/ 51914 h 986320"/>
                <a:gd name="connsiteX3" fmla="*/ 805011 w 1126334"/>
                <a:gd name="connsiteY3" fmla="*/ 576209 h 986320"/>
                <a:gd name="connsiteX4" fmla="*/ 661798 w 1126334"/>
                <a:gd name="connsiteY4" fmla="*/ 757309 h 986320"/>
                <a:gd name="connsiteX5" fmla="*/ 462674 w 1126334"/>
                <a:gd name="connsiteY5" fmla="*/ 755715 h 986320"/>
                <a:gd name="connsiteX6" fmla="*/ 319707 w 1126334"/>
                <a:gd name="connsiteY6" fmla="*/ 559656 h 986320"/>
                <a:gd name="connsiteX7" fmla="*/ 320688 w 1126334"/>
                <a:gd name="connsiteY7" fmla="*/ 60007 h 986320"/>
                <a:gd name="connsiteX8" fmla="*/ 272869 w 1126334"/>
                <a:gd name="connsiteY8" fmla="*/ 2378 h 986320"/>
                <a:gd name="connsiteX9" fmla="*/ 47874 w 1126334"/>
                <a:gd name="connsiteY9" fmla="*/ 2378 h 986320"/>
                <a:gd name="connsiteX10" fmla="*/ 1035 w 1126334"/>
                <a:gd name="connsiteY10" fmla="*/ 53631 h 986320"/>
                <a:gd name="connsiteX11" fmla="*/ 1035 w 1126334"/>
                <a:gd name="connsiteY11" fmla="*/ 647692 h 986320"/>
                <a:gd name="connsiteX12" fmla="*/ 338222 w 1126334"/>
                <a:gd name="connsiteY12" fmla="*/ 982059 h 986320"/>
                <a:gd name="connsiteX13" fmla="*/ 818744 w 1126334"/>
                <a:gd name="connsiteY13" fmla="*/ 979239 h 986320"/>
                <a:gd name="connsiteX14" fmla="*/ 1121108 w 1126334"/>
                <a:gd name="connsiteY14" fmla="*/ 672215 h 986320"/>
                <a:gd name="connsiteX15" fmla="*/ 1125890 w 1126334"/>
                <a:gd name="connsiteY15" fmla="*/ 59026 h 986320"/>
                <a:gd name="connsiteX16" fmla="*/ 1083588 w 1126334"/>
                <a:gd name="connsiteY16" fmla="*/ 1888 h 986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26334" h="986320">
                  <a:moveTo>
                    <a:pt x="1083833" y="1888"/>
                  </a:moveTo>
                  <a:cubicBezTo>
                    <a:pt x="1053671" y="-564"/>
                    <a:pt x="868524" y="-564"/>
                    <a:pt x="849519" y="1520"/>
                  </a:cubicBezTo>
                  <a:cubicBezTo>
                    <a:pt x="825732" y="4218"/>
                    <a:pt x="805011" y="8141"/>
                    <a:pt x="805011" y="51914"/>
                  </a:cubicBezTo>
                  <a:cubicBezTo>
                    <a:pt x="805011" y="80115"/>
                    <a:pt x="805011" y="495775"/>
                    <a:pt x="805011" y="576209"/>
                  </a:cubicBezTo>
                  <a:cubicBezTo>
                    <a:pt x="805011" y="679695"/>
                    <a:pt x="788213" y="749094"/>
                    <a:pt x="661798" y="757309"/>
                  </a:cubicBezTo>
                  <a:cubicBezTo>
                    <a:pt x="587127" y="762091"/>
                    <a:pt x="533545" y="762091"/>
                    <a:pt x="462674" y="755715"/>
                  </a:cubicBezTo>
                  <a:cubicBezTo>
                    <a:pt x="342759" y="744925"/>
                    <a:pt x="319707" y="703972"/>
                    <a:pt x="319707" y="559656"/>
                  </a:cubicBezTo>
                  <a:cubicBezTo>
                    <a:pt x="319707" y="469658"/>
                    <a:pt x="320811" y="96423"/>
                    <a:pt x="320688" y="60007"/>
                  </a:cubicBezTo>
                  <a:cubicBezTo>
                    <a:pt x="320688" y="23468"/>
                    <a:pt x="316887" y="4095"/>
                    <a:pt x="272869" y="2378"/>
                  </a:cubicBezTo>
                  <a:cubicBezTo>
                    <a:pt x="241358" y="1152"/>
                    <a:pt x="67369" y="1152"/>
                    <a:pt x="47874" y="2378"/>
                  </a:cubicBezTo>
                  <a:cubicBezTo>
                    <a:pt x="24455" y="3727"/>
                    <a:pt x="1035" y="8632"/>
                    <a:pt x="1035" y="53631"/>
                  </a:cubicBezTo>
                  <a:cubicBezTo>
                    <a:pt x="1035" y="80483"/>
                    <a:pt x="-1294" y="389469"/>
                    <a:pt x="1035" y="647692"/>
                  </a:cubicBezTo>
                  <a:cubicBezTo>
                    <a:pt x="4101" y="981201"/>
                    <a:pt x="231426" y="972863"/>
                    <a:pt x="338222" y="982059"/>
                  </a:cubicBezTo>
                  <a:cubicBezTo>
                    <a:pt x="402962" y="987577"/>
                    <a:pt x="690490" y="988803"/>
                    <a:pt x="818744" y="979239"/>
                  </a:cubicBezTo>
                  <a:cubicBezTo>
                    <a:pt x="1051464" y="961950"/>
                    <a:pt x="1115835" y="841789"/>
                    <a:pt x="1121108" y="672215"/>
                  </a:cubicBezTo>
                  <a:cubicBezTo>
                    <a:pt x="1124541" y="560514"/>
                    <a:pt x="1127484" y="157730"/>
                    <a:pt x="1125890" y="59026"/>
                  </a:cubicBezTo>
                  <a:cubicBezTo>
                    <a:pt x="1125277" y="22242"/>
                    <a:pt x="1119391" y="4708"/>
                    <a:pt x="1083588" y="1888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3F9F478-9FD7-1328-6DA0-D75C316A3B54}"/>
                </a:ext>
              </a:extLst>
            </p:cNvPr>
            <p:cNvSpPr/>
            <p:nvPr/>
          </p:nvSpPr>
          <p:spPr>
            <a:xfrm>
              <a:off x="7821760" y="3110528"/>
              <a:ext cx="1119788" cy="983926"/>
            </a:xfrm>
            <a:custGeom>
              <a:avLst/>
              <a:gdLst>
                <a:gd name="connsiteX0" fmla="*/ 1119236 w 1119788"/>
                <a:gd name="connsiteY0" fmla="*/ 55139 h 983926"/>
                <a:gd name="connsiteX1" fmla="*/ 1076321 w 1119788"/>
                <a:gd name="connsiteY1" fmla="*/ 1557 h 983926"/>
                <a:gd name="connsiteX2" fmla="*/ 849977 w 1119788"/>
                <a:gd name="connsiteY2" fmla="*/ 1312 h 983926"/>
                <a:gd name="connsiteX3" fmla="*/ 802035 w 1119788"/>
                <a:gd name="connsiteY3" fmla="*/ 50235 h 983926"/>
                <a:gd name="connsiteX4" fmla="*/ 799828 w 1119788"/>
                <a:gd name="connsiteY4" fmla="*/ 601995 h 983926"/>
                <a:gd name="connsiteX5" fmla="*/ 703086 w 1119788"/>
                <a:gd name="connsiteY5" fmla="*/ 748027 h 983926"/>
                <a:gd name="connsiteX6" fmla="*/ 443269 w 1119788"/>
                <a:gd name="connsiteY6" fmla="*/ 755261 h 983926"/>
                <a:gd name="connsiteX7" fmla="*/ 326786 w 1119788"/>
                <a:gd name="connsiteY7" fmla="*/ 603098 h 983926"/>
                <a:gd name="connsiteX8" fmla="*/ 325560 w 1119788"/>
                <a:gd name="connsiteY8" fmla="*/ 51338 h 983926"/>
                <a:gd name="connsiteX9" fmla="*/ 280438 w 1119788"/>
                <a:gd name="connsiteY9" fmla="*/ 2661 h 983926"/>
                <a:gd name="connsiteX10" fmla="*/ 49557 w 1119788"/>
                <a:gd name="connsiteY10" fmla="*/ 2661 h 983926"/>
                <a:gd name="connsiteX11" fmla="*/ 880 w 1119788"/>
                <a:gd name="connsiteY11" fmla="*/ 59185 h 983926"/>
                <a:gd name="connsiteX12" fmla="*/ 5662 w 1119788"/>
                <a:gd name="connsiteY12" fmla="*/ 692115 h 983926"/>
                <a:gd name="connsiteX13" fmla="*/ 278844 w 1119788"/>
                <a:gd name="connsiteY13" fmla="*/ 974862 h 983926"/>
                <a:gd name="connsiteX14" fmla="*/ 897183 w 1119788"/>
                <a:gd name="connsiteY14" fmla="*/ 964194 h 983926"/>
                <a:gd name="connsiteX15" fmla="*/ 1117029 w 1119788"/>
                <a:gd name="connsiteY15" fmla="*/ 612171 h 983926"/>
                <a:gd name="connsiteX16" fmla="*/ 1119236 w 1119788"/>
                <a:gd name="connsiteY16" fmla="*/ 54894 h 9839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19788" h="983926">
                  <a:moveTo>
                    <a:pt x="1119236" y="55139"/>
                  </a:moveTo>
                  <a:cubicBezTo>
                    <a:pt x="1119236" y="22034"/>
                    <a:pt x="1111389" y="4132"/>
                    <a:pt x="1076321" y="1557"/>
                  </a:cubicBezTo>
                  <a:cubicBezTo>
                    <a:pt x="1042847" y="-895"/>
                    <a:pt x="865917" y="-37"/>
                    <a:pt x="849977" y="1312"/>
                  </a:cubicBezTo>
                  <a:cubicBezTo>
                    <a:pt x="812212" y="4377"/>
                    <a:pt x="802648" y="15045"/>
                    <a:pt x="802035" y="50235"/>
                  </a:cubicBezTo>
                  <a:cubicBezTo>
                    <a:pt x="801545" y="78436"/>
                    <a:pt x="801422" y="523032"/>
                    <a:pt x="799828" y="601995"/>
                  </a:cubicBezTo>
                  <a:cubicBezTo>
                    <a:pt x="797499" y="718355"/>
                    <a:pt x="758753" y="733927"/>
                    <a:pt x="703086" y="748027"/>
                  </a:cubicBezTo>
                  <a:cubicBezTo>
                    <a:pt x="647052" y="762250"/>
                    <a:pt x="466197" y="758204"/>
                    <a:pt x="443269" y="755261"/>
                  </a:cubicBezTo>
                  <a:cubicBezTo>
                    <a:pt x="373134" y="746065"/>
                    <a:pt x="328380" y="718109"/>
                    <a:pt x="326786" y="603098"/>
                  </a:cubicBezTo>
                  <a:cubicBezTo>
                    <a:pt x="325315" y="492010"/>
                    <a:pt x="325560" y="87632"/>
                    <a:pt x="325560" y="51338"/>
                  </a:cubicBezTo>
                  <a:cubicBezTo>
                    <a:pt x="325560" y="15045"/>
                    <a:pt x="310846" y="4377"/>
                    <a:pt x="280438" y="2661"/>
                  </a:cubicBezTo>
                  <a:cubicBezTo>
                    <a:pt x="253586" y="1067"/>
                    <a:pt x="88671" y="454"/>
                    <a:pt x="49557" y="2661"/>
                  </a:cubicBezTo>
                  <a:cubicBezTo>
                    <a:pt x="3577" y="5358"/>
                    <a:pt x="1493" y="24731"/>
                    <a:pt x="880" y="59185"/>
                  </a:cubicBezTo>
                  <a:cubicBezTo>
                    <a:pt x="-224" y="127236"/>
                    <a:pt x="-1573" y="611191"/>
                    <a:pt x="5662" y="692115"/>
                  </a:cubicBezTo>
                  <a:cubicBezTo>
                    <a:pt x="22950" y="883392"/>
                    <a:pt x="116014" y="961252"/>
                    <a:pt x="278844" y="974862"/>
                  </a:cubicBezTo>
                  <a:cubicBezTo>
                    <a:pt x="429536" y="987491"/>
                    <a:pt x="788548" y="989453"/>
                    <a:pt x="897183" y="964194"/>
                  </a:cubicBezTo>
                  <a:cubicBezTo>
                    <a:pt x="1073011" y="923119"/>
                    <a:pt x="1108813" y="785547"/>
                    <a:pt x="1117029" y="612171"/>
                  </a:cubicBezTo>
                  <a:cubicBezTo>
                    <a:pt x="1121320" y="521070"/>
                    <a:pt x="1119358" y="96705"/>
                    <a:pt x="1119236" y="54894"/>
                  </a:cubicBezTo>
                </a:path>
              </a:pathLst>
            </a:custGeom>
            <a:grpFill/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4" name="Title 3">
            <a:extLst>
              <a:ext uri="{FF2B5EF4-FFF2-40B4-BE49-F238E27FC236}">
                <a16:creationId xmlns:a16="http://schemas.microsoft.com/office/drawing/2014/main" id="{0FED1AD4-4F49-2096-439E-F08E65A4C7AB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95400" y="376801"/>
            <a:ext cx="9180412" cy="518746"/>
          </a:xfrm>
        </p:spPr>
        <p:txBody>
          <a:bodyPr tIns="93600" anchor="t" anchorCtr="0"/>
          <a:lstStyle/>
          <a:p>
            <a:r>
              <a:rPr lang="ja-JP" altLang="en-US" dirty="0"/>
              <a:t>タイトル</a:t>
            </a: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EE260DF2-0D0D-FA9B-ABD9-FF88C229B359}"/>
              </a:ext>
            </a:extLst>
          </p:cNvPr>
          <p:cNvSpPr/>
          <p:nvPr userDrawn="1"/>
        </p:nvSpPr>
        <p:spPr>
          <a:xfrm>
            <a:off x="452401" y="361586"/>
            <a:ext cx="119133" cy="549176"/>
          </a:xfrm>
          <a:prstGeom prst="rect">
            <a:avLst/>
          </a:prstGeom>
          <a:solidFill>
            <a:srgbClr val="002664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  <a:spcBef>
                <a:spcPts val="600"/>
              </a:spcBef>
            </a:pPr>
            <a:endParaRPr kumimoji="1" lang="ja-JP" altLang="en-US" sz="2000" dirty="0" err="1">
              <a:solidFill>
                <a:schemeClr val="tx1"/>
              </a:solidFill>
            </a:endParaRP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FC57D0F-4723-D185-6E9A-571398BDA0B4}"/>
              </a:ext>
            </a:extLst>
          </p:cNvPr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610600" y="6357488"/>
            <a:ext cx="3124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EA36FB-EA35-45B6-87A5-93E7705983EC}" type="slidenum">
              <a:rPr lang="en-US" altLang="ja-JP" smtClean="0"/>
              <a:pPr/>
              <a:t>‹#›</a:t>
            </a:fld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539705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97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EA1C0E-018D-1840-39D7-1C23A66C0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48A1E-AD4F-C75E-42BF-EEAB308BF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8778D4-4327-9FE2-A255-E57041BD93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F550E2-AE0E-47B8-BAAA-752754DE83DC}" type="datetimeFigureOut">
              <a:rPr lang="en-GB" smtClean="0"/>
              <a:t>14/04/2026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B417BE-BDD4-F417-B6B8-8CE4521019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1F852-15D0-44B9-8613-575C86746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2F3BBB-9B25-4CCE-8C65-B6350E7512A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2595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F4A30-7AF8-E158-199F-461683D1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49876328-E10A-C23D-0ECD-493DFED802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76801"/>
            <a:ext cx="9505056" cy="51874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344251"/>
                </a:solidFill>
              </a:rPr>
              <a:t>Parts Sales vs Model Mix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514FDAE-1384-1E52-EB72-3D9B9EE02E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9352" y="4777354"/>
            <a:ext cx="5946648" cy="1949560"/>
          </a:xfrm>
          <a:ln>
            <a:solidFill>
              <a:srgbClr val="405C8B"/>
            </a:solidFill>
          </a:ln>
        </p:spPr>
        <p:txBody>
          <a:bodyPr vert="horz" lIns="0" tIns="45720" rIns="91440" bIns="45720" rtlCol="0" anchor="t" anchorCtr="0">
            <a:noAutofit/>
          </a:bodyPr>
          <a:lstStyle/>
          <a:p>
            <a:pPr marL="88900" indent="0">
              <a:lnSpc>
                <a:spcPct val="80000"/>
              </a:lnSpc>
              <a:buNone/>
            </a:pPr>
            <a:r>
              <a:rPr lang="en-GB" sz="1200" b="1" dirty="0">
                <a:solidFill>
                  <a:srgbClr val="344251"/>
                </a:solidFill>
              </a:rPr>
              <a:t>Key observations: N75</a:t>
            </a:r>
          </a:p>
          <a:p>
            <a:pPr marL="88900" indent="0">
              <a:lnSpc>
                <a:spcPct val="80000"/>
              </a:lnSpc>
              <a:spcAft>
                <a:spcPts val="600"/>
              </a:spcAft>
              <a:buNone/>
            </a:pPr>
            <a:r>
              <a:rPr lang="en-GB" sz="1200" dirty="0">
                <a:solidFill>
                  <a:srgbClr val="344251"/>
                </a:solidFill>
              </a:rPr>
              <a:t>Parts turnover growth aligns more closely with N75 trends</a:t>
            </a:r>
          </a:p>
          <a:p>
            <a:pPr marL="260350" indent="-171450">
              <a:lnSpc>
                <a:spcPct val="100000"/>
              </a:lnSpc>
              <a:spcBef>
                <a:spcPts val="0"/>
              </a:spcBef>
            </a:pPr>
            <a:r>
              <a:rPr lang="en-GB" sz="1200" dirty="0">
                <a:solidFill>
                  <a:srgbClr val="344251"/>
                </a:solidFill>
              </a:rPr>
              <a:t>2012–2018: N75 volumes rise steadily → parts turnover rises from £4.5m to £6.8m.</a:t>
            </a:r>
          </a:p>
          <a:p>
            <a:pPr marL="260350" indent="-171450">
              <a:lnSpc>
                <a:spcPct val="100000"/>
              </a:lnSpc>
              <a:spcBef>
                <a:spcPts val="0"/>
              </a:spcBef>
            </a:pPr>
            <a:r>
              <a:rPr lang="en-GB" sz="1200" dirty="0">
                <a:solidFill>
                  <a:srgbClr val="344251"/>
                </a:solidFill>
              </a:rPr>
              <a:t>2020 dip (COVID): N75 softens → parts turnover dips despite N35 growth beginning.</a:t>
            </a:r>
          </a:p>
          <a:p>
            <a:pPr marL="260350" indent="-171450">
              <a:lnSpc>
                <a:spcPct val="100000"/>
              </a:lnSpc>
              <a:spcBef>
                <a:spcPts val="0"/>
              </a:spcBef>
            </a:pPr>
            <a:r>
              <a:rPr lang="en-GB" sz="1200" dirty="0">
                <a:solidFill>
                  <a:srgbClr val="344251"/>
                </a:solidFill>
              </a:rPr>
              <a:t>2021–2024: Strong N75 recovery → parts turnover accelerates sharply to £10.6m.</a:t>
            </a:r>
          </a:p>
          <a:p>
            <a:pPr marL="88900" indent="0">
              <a:lnSpc>
                <a:spcPct val="80000"/>
              </a:lnSpc>
              <a:buNone/>
            </a:pPr>
            <a:r>
              <a:rPr lang="en-GB" sz="1200" dirty="0">
                <a:solidFill>
                  <a:srgbClr val="344251"/>
                </a:solidFill>
              </a:rPr>
              <a:t>Higher GVW, utilisation, component complexity and O-License requirements materially increase parts demand.</a:t>
            </a:r>
          </a:p>
          <a:p>
            <a:pPr marL="88900" indent="0">
              <a:lnSpc>
                <a:spcPct val="80000"/>
              </a:lnSpc>
              <a:buNone/>
            </a:pPr>
            <a:endParaRPr lang="en-GB" sz="1200" dirty="0">
              <a:solidFill>
                <a:srgbClr val="344251"/>
              </a:solidFill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FA19375-6E46-A4C0-5FE7-B7971575EB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9459276"/>
              </p:ext>
            </p:extLst>
          </p:nvPr>
        </p:nvGraphicFramePr>
        <p:xfrm>
          <a:off x="149352" y="1048192"/>
          <a:ext cx="10239973" cy="36528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B82CD557-4A4E-AC78-F0A7-7AE2D1F0DF96}"/>
              </a:ext>
            </a:extLst>
          </p:cNvPr>
          <p:cNvSpPr txBox="1">
            <a:spLocks/>
          </p:cNvSpPr>
          <p:nvPr/>
        </p:nvSpPr>
        <p:spPr>
          <a:xfrm>
            <a:off x="6187620" y="4777354"/>
            <a:ext cx="5855027" cy="1949560"/>
          </a:xfrm>
          <a:prstGeom prst="rect">
            <a:avLst/>
          </a:prstGeom>
          <a:ln>
            <a:solidFill>
              <a:srgbClr val="405C8B"/>
            </a:solidFill>
          </a:ln>
        </p:spPr>
        <p:txBody>
          <a:bodyPr vert="horz" lIns="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8900" indent="0">
              <a:lnSpc>
                <a:spcPct val="80000"/>
              </a:lnSpc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en-GB" sz="1200" b="1" dirty="0">
                <a:solidFill>
                  <a:srgbClr val="344251"/>
                </a:solidFill>
              </a:rPr>
              <a:t>Key observations: N35</a:t>
            </a:r>
          </a:p>
          <a:p>
            <a:pPr marL="8890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1200" dirty="0">
                <a:solidFill>
                  <a:srgbClr val="344251"/>
                </a:solidFill>
              </a:rPr>
              <a:t>N35 volume growth does not produce proportional parts growth</a:t>
            </a:r>
          </a:p>
          <a:p>
            <a:pPr marL="8890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</a:pPr>
            <a:r>
              <a:rPr lang="en-GB" sz="1200" dirty="0">
                <a:solidFill>
                  <a:srgbClr val="344251"/>
                </a:solidFill>
              </a:rPr>
              <a:t>2019–2023: N35 nearly triples, but parts turnover increases at a slower rate.</a:t>
            </a:r>
          </a:p>
          <a:p>
            <a:pPr marL="260350" indent="-171450">
              <a:lnSpc>
                <a:spcPct val="100000"/>
              </a:lnSpc>
              <a:spcBef>
                <a:spcPts val="0"/>
              </a:spcBef>
            </a:pPr>
            <a:r>
              <a:rPr lang="en-GB" sz="1200" dirty="0">
                <a:solidFill>
                  <a:srgbClr val="344251"/>
                </a:solidFill>
              </a:rPr>
              <a:t>Lower service parts demand per unit</a:t>
            </a:r>
          </a:p>
          <a:p>
            <a:pPr marL="260350" indent="-171450">
              <a:lnSpc>
                <a:spcPct val="100000"/>
              </a:lnSpc>
              <a:spcBef>
                <a:spcPts val="0"/>
              </a:spcBef>
            </a:pPr>
            <a:r>
              <a:rPr lang="en-GB" sz="1200" dirty="0">
                <a:solidFill>
                  <a:srgbClr val="344251"/>
                </a:solidFill>
              </a:rPr>
              <a:t>Longer service intervals</a:t>
            </a:r>
          </a:p>
          <a:p>
            <a:pPr marL="260350" indent="-171450">
              <a:lnSpc>
                <a:spcPct val="100000"/>
              </a:lnSpc>
              <a:spcBef>
                <a:spcPts val="0"/>
              </a:spcBef>
            </a:pPr>
            <a:r>
              <a:rPr lang="en-GB" sz="1200" dirty="0">
                <a:solidFill>
                  <a:srgbClr val="344251"/>
                </a:solidFill>
              </a:rPr>
              <a:t>Higher non-genuine parts leakage</a:t>
            </a:r>
          </a:p>
          <a:p>
            <a:pPr marL="260350" indent="-171450">
              <a:lnSpc>
                <a:spcPct val="100000"/>
              </a:lnSpc>
              <a:spcBef>
                <a:spcPts val="0"/>
              </a:spcBef>
            </a:pPr>
            <a:r>
              <a:rPr lang="en-GB" sz="1200" dirty="0">
                <a:solidFill>
                  <a:srgbClr val="344251"/>
                </a:solidFill>
              </a:rPr>
              <a:t>More price-sensitive customer profile</a:t>
            </a:r>
          </a:p>
          <a:p>
            <a:pPr marL="88900" indent="0">
              <a:lnSpc>
                <a:spcPct val="80000"/>
              </a:lnSpc>
              <a:buFont typeface="Arial" panose="020B0604020202020204" pitchFamily="34" charset="0"/>
              <a:buNone/>
            </a:pPr>
            <a:r>
              <a:rPr lang="en-GB" sz="1200" dirty="0">
                <a:solidFill>
                  <a:srgbClr val="344251"/>
                </a:solidFill>
              </a:rPr>
              <a:t>Warranty trend reinforces this as values increase significantly post-2021, consistent with higher N75 parc. Higher value parts and o-license requirements driving sales.</a:t>
            </a:r>
          </a:p>
        </p:txBody>
      </p:sp>
      <p:graphicFrame>
        <p:nvGraphicFramePr>
          <p:cNvPr id="19" name="Chart 18">
            <a:extLst>
              <a:ext uri="{FF2B5EF4-FFF2-40B4-BE49-F238E27FC236}">
                <a16:creationId xmlns:a16="http://schemas.microsoft.com/office/drawing/2014/main" id="{FDEB0B6D-DC11-027C-9B79-174C3F2527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21786498"/>
              </p:ext>
            </p:extLst>
          </p:nvPr>
        </p:nvGraphicFramePr>
        <p:xfrm>
          <a:off x="10480945" y="1048192"/>
          <a:ext cx="1561701" cy="37291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829837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04DCB-EAB0-E1DA-7C07-A5F3CD609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2">
            <a:extLst>
              <a:ext uri="{FF2B5EF4-FFF2-40B4-BE49-F238E27FC236}">
                <a16:creationId xmlns:a16="http://schemas.microsoft.com/office/drawing/2014/main" id="{3BE0DDC3-75F8-D06C-48E8-0234F1CD4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400" y="376801"/>
            <a:ext cx="9505056" cy="518746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344251"/>
                </a:solidFill>
              </a:rPr>
              <a:t>N35 &amp; N75 Attrition Rate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F0C8745-18B3-8940-25DA-70A4B47853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0416537"/>
              </p:ext>
            </p:extLst>
          </p:nvPr>
        </p:nvGraphicFramePr>
        <p:xfrm>
          <a:off x="273877" y="1959913"/>
          <a:ext cx="11758612" cy="2347876"/>
        </p:xfrm>
        <a:graphic>
          <a:graphicData uri="http://schemas.openxmlformats.org/drawingml/2006/table">
            <a:tbl>
              <a:tblPr/>
              <a:tblGrid>
                <a:gridCol w="579437">
                  <a:extLst>
                    <a:ext uri="{9D8B030D-6E8A-4147-A177-3AD203B41FA5}">
                      <a16:colId xmlns:a16="http://schemas.microsoft.com/office/drawing/2014/main" val="734266534"/>
                    </a:ext>
                  </a:extLst>
                </a:gridCol>
                <a:gridCol w="688975">
                  <a:extLst>
                    <a:ext uri="{9D8B030D-6E8A-4147-A177-3AD203B41FA5}">
                      <a16:colId xmlns:a16="http://schemas.microsoft.com/office/drawing/2014/main" val="2123470880"/>
                    </a:ext>
                  </a:extLst>
                </a:gridCol>
                <a:gridCol w="688975">
                  <a:extLst>
                    <a:ext uri="{9D8B030D-6E8A-4147-A177-3AD203B41FA5}">
                      <a16:colId xmlns:a16="http://schemas.microsoft.com/office/drawing/2014/main" val="3629527040"/>
                    </a:ext>
                  </a:extLst>
                </a:gridCol>
                <a:gridCol w="688975">
                  <a:extLst>
                    <a:ext uri="{9D8B030D-6E8A-4147-A177-3AD203B41FA5}">
                      <a16:colId xmlns:a16="http://schemas.microsoft.com/office/drawing/2014/main" val="1191155246"/>
                    </a:ext>
                  </a:extLst>
                </a:gridCol>
                <a:gridCol w="688975">
                  <a:extLst>
                    <a:ext uri="{9D8B030D-6E8A-4147-A177-3AD203B41FA5}">
                      <a16:colId xmlns:a16="http://schemas.microsoft.com/office/drawing/2014/main" val="1657326179"/>
                    </a:ext>
                  </a:extLst>
                </a:gridCol>
                <a:gridCol w="688975">
                  <a:extLst>
                    <a:ext uri="{9D8B030D-6E8A-4147-A177-3AD203B41FA5}">
                      <a16:colId xmlns:a16="http://schemas.microsoft.com/office/drawing/2014/main" val="2868520274"/>
                    </a:ext>
                  </a:extLst>
                </a:gridCol>
                <a:gridCol w="688975">
                  <a:extLst>
                    <a:ext uri="{9D8B030D-6E8A-4147-A177-3AD203B41FA5}">
                      <a16:colId xmlns:a16="http://schemas.microsoft.com/office/drawing/2014/main" val="2825964889"/>
                    </a:ext>
                  </a:extLst>
                </a:gridCol>
                <a:gridCol w="688975">
                  <a:extLst>
                    <a:ext uri="{9D8B030D-6E8A-4147-A177-3AD203B41FA5}">
                      <a16:colId xmlns:a16="http://schemas.microsoft.com/office/drawing/2014/main" val="4198356216"/>
                    </a:ext>
                  </a:extLst>
                </a:gridCol>
                <a:gridCol w="688975">
                  <a:extLst>
                    <a:ext uri="{9D8B030D-6E8A-4147-A177-3AD203B41FA5}">
                      <a16:colId xmlns:a16="http://schemas.microsoft.com/office/drawing/2014/main" val="2093685346"/>
                    </a:ext>
                  </a:extLst>
                </a:gridCol>
                <a:gridCol w="688975">
                  <a:extLst>
                    <a:ext uri="{9D8B030D-6E8A-4147-A177-3AD203B41FA5}">
                      <a16:colId xmlns:a16="http://schemas.microsoft.com/office/drawing/2014/main" val="1582337117"/>
                    </a:ext>
                  </a:extLst>
                </a:gridCol>
                <a:gridCol w="688975">
                  <a:extLst>
                    <a:ext uri="{9D8B030D-6E8A-4147-A177-3AD203B41FA5}">
                      <a16:colId xmlns:a16="http://schemas.microsoft.com/office/drawing/2014/main" val="2425214644"/>
                    </a:ext>
                  </a:extLst>
                </a:gridCol>
                <a:gridCol w="688975">
                  <a:extLst>
                    <a:ext uri="{9D8B030D-6E8A-4147-A177-3AD203B41FA5}">
                      <a16:colId xmlns:a16="http://schemas.microsoft.com/office/drawing/2014/main" val="443046309"/>
                    </a:ext>
                  </a:extLst>
                </a:gridCol>
                <a:gridCol w="688975">
                  <a:extLst>
                    <a:ext uri="{9D8B030D-6E8A-4147-A177-3AD203B41FA5}">
                      <a16:colId xmlns:a16="http://schemas.microsoft.com/office/drawing/2014/main" val="1198939598"/>
                    </a:ext>
                  </a:extLst>
                </a:gridCol>
                <a:gridCol w="688975">
                  <a:extLst>
                    <a:ext uri="{9D8B030D-6E8A-4147-A177-3AD203B41FA5}">
                      <a16:colId xmlns:a16="http://schemas.microsoft.com/office/drawing/2014/main" val="2311484906"/>
                    </a:ext>
                  </a:extLst>
                </a:gridCol>
                <a:gridCol w="739775">
                  <a:extLst>
                    <a:ext uri="{9D8B030D-6E8A-4147-A177-3AD203B41FA5}">
                      <a16:colId xmlns:a16="http://schemas.microsoft.com/office/drawing/2014/main" val="2925725028"/>
                    </a:ext>
                  </a:extLst>
                </a:gridCol>
                <a:gridCol w="739775">
                  <a:extLst>
                    <a:ext uri="{9D8B030D-6E8A-4147-A177-3AD203B41FA5}">
                      <a16:colId xmlns:a16="http://schemas.microsoft.com/office/drawing/2014/main" val="3120775696"/>
                    </a:ext>
                  </a:extLst>
                </a:gridCol>
                <a:gridCol w="25400">
                  <a:extLst>
                    <a:ext uri="{9D8B030D-6E8A-4147-A177-3AD203B41FA5}">
                      <a16:colId xmlns:a16="http://schemas.microsoft.com/office/drawing/2014/main" val="3777106581"/>
                    </a:ext>
                  </a:extLst>
                </a:gridCol>
                <a:gridCol w="441325">
                  <a:extLst>
                    <a:ext uri="{9D8B030D-6E8A-4147-A177-3AD203B41FA5}">
                      <a16:colId xmlns:a16="http://schemas.microsoft.com/office/drawing/2014/main" val="1234668067"/>
                    </a:ext>
                  </a:extLst>
                </a:gridCol>
                <a:gridCol w="276225">
                  <a:extLst>
                    <a:ext uri="{9D8B030D-6E8A-4147-A177-3AD203B41FA5}">
                      <a16:colId xmlns:a16="http://schemas.microsoft.com/office/drawing/2014/main" val="4202781656"/>
                    </a:ext>
                  </a:extLst>
                </a:gridCol>
              </a:tblGrid>
              <a:tr h="112828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 Year Parc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502040"/>
                  </a:ext>
                </a:extLst>
              </a:tr>
              <a:tr h="1128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10 Yr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5999837"/>
                  </a:ext>
                </a:extLst>
              </a:tr>
              <a:tr h="1128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384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394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853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1291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1547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2089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1277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1876505"/>
                  </a:ext>
                </a:extLst>
              </a:tr>
              <a:tr h="1128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N35 (SMMT)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164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942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1478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2089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1277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8501812"/>
                  </a:ext>
                </a:extLst>
              </a:tr>
              <a:tr h="1128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574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5.8%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3068516"/>
                  </a:ext>
                </a:extLst>
              </a:tr>
              <a:tr h="1128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49.5%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47.7%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42.7%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36.2%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27.8%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22.7%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19.3%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12.6%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10.6%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5.0%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4.5%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0.0%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9899216"/>
                  </a:ext>
                </a:extLst>
              </a:tr>
              <a:tr h="1128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6666176"/>
                  </a:ext>
                </a:extLst>
              </a:tr>
              <a:tr h="1128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1870300"/>
                  </a:ext>
                </a:extLst>
              </a:tr>
              <a:tr h="112828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 Year Parc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5784300"/>
                  </a:ext>
                </a:extLst>
              </a:tr>
              <a:tr h="1128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2011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FFFFFF"/>
                          </a:solidFill>
                          <a:effectLst/>
                          <a:latin typeface="Aptos Narrow" panose="020B0004020202020204" pitchFamily="34" charset="0"/>
                        </a:rPr>
                        <a:t>2024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 10 Yr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6215109"/>
                  </a:ext>
                </a:extLst>
              </a:tr>
              <a:tr h="1128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854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874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734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783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863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984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8515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2024423"/>
                  </a:ext>
                </a:extLst>
              </a:tr>
              <a:tr h="1128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N75 (SMMT)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137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451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593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761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853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1060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2245101"/>
                  </a:ext>
                </a:extLst>
              </a:tr>
              <a:tr h="1128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469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471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608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194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975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11.5%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1043933"/>
                  </a:ext>
                </a:extLst>
              </a:tr>
              <a:tr h="1128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77.4%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75.8%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70.3%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71.2%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48.4%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35.3%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26.6%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24.7%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14.3%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8.5%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3.7%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2.8%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1.2%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1.9%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1.4%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101752"/>
                  </a:ext>
                </a:extLst>
              </a:tr>
              <a:tr h="1128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6655925"/>
                  </a:ext>
                </a:extLst>
              </a:tr>
              <a:tr h="1985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Avg Parts\UIO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            347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            393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            445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            485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            518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            486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            531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            596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            666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            621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            548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            609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            598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              614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              590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8619898"/>
                  </a:ext>
                </a:extLst>
              </a:tr>
              <a:tr h="11282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8020060"/>
                  </a:ext>
                </a:extLst>
              </a:tr>
              <a:tr h="198578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Turnover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4,753,695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5,290,806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5,555,396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5,944,022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6,242,802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5,766,242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6,283,637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6,604,546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7,494,311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7,451,704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7,060,704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8,678,873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9,736,717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11,782,576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GB" sz="8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 £         12,251,000 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endParaRPr lang="en-GB" sz="8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542038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7959494-DC7A-B377-236A-A3A60FDAB6FF}"/>
              </a:ext>
            </a:extLst>
          </p:cNvPr>
          <p:cNvSpPr/>
          <p:nvPr/>
        </p:nvSpPr>
        <p:spPr>
          <a:xfrm>
            <a:off x="159511" y="1733550"/>
            <a:ext cx="11965814" cy="3454853"/>
          </a:xfrm>
          <a:prstGeom prst="rect">
            <a:avLst/>
          </a:prstGeom>
          <a:noFill/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22128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" val="OL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  <a:fontScheme name="Office">
    <a:majorFont>
      <a:latin typeface="Aptos Display" panose="0211000402020202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Aptos Narrow" panose="0211000402020202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  <a:ln w="2540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178</TotalTime>
  <Words>470</Words>
  <Application>Microsoft Office PowerPoint</Application>
  <PresentationFormat>Widescreen</PresentationFormat>
  <Paragraphs>222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Meiryo</vt:lpstr>
      <vt:lpstr>Aptos</vt:lpstr>
      <vt:lpstr>Aptos Display</vt:lpstr>
      <vt:lpstr>Aptos Narrow</vt:lpstr>
      <vt:lpstr>Arial</vt:lpstr>
      <vt:lpstr>Office Theme</vt:lpstr>
      <vt:lpstr>Parts Sales vs Model Mix</vt:lpstr>
      <vt:lpstr>N35 &amp; N75 Attrition Rate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Duncan Young</dc:creator>
  <cp:lastModifiedBy>Jerome Van Der Pluym</cp:lastModifiedBy>
  <cp:revision>3</cp:revision>
  <dcterms:created xsi:type="dcterms:W3CDTF">2026-02-02T15:06:56Z</dcterms:created>
  <dcterms:modified xsi:type="dcterms:W3CDTF">2026-04-14T09:45:42Z</dcterms:modified>
</cp:coreProperties>
</file>