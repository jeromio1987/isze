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9" r:id="rId15"/>
    <p:sldId id="315" r:id="rIdAIM31"/>
    <p:sldId id="316" r:id="rIdAIM32"/>
    <p:sldId id="317" r:id="rIdAIM33"/>
    <p:sldId id="266" r:id="rId12"/>
    <p:sldId id="267" r:id="rId13"/>
    <p:sldId id="268" r:id="rId14"/>
    <p:sldId id="279" r:id="rId25"/>
    <p:sldId id="281" r:id="rId27"/>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AIM31" Type="http://schemas.openxmlformats.org/officeDocument/2006/relationships/slide" Target="slides/slide16.xml"/><Relationship Id="rIdAIM32" Type="http://schemas.openxmlformats.org/officeDocument/2006/relationships/slide" Target="slides/slide17.xml"/><Relationship Id="rIdAIM33"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25" Type="http://schemas.openxmlformats.org/officeDocument/2006/relationships/slide" Target="slides/slide21.xml"/><Relationship Id="rId27" Type="http://schemas.openxmlformats.org/officeDocument/2006/relationships/slide" Target="slides/slide22.xml"/><Relationship Id="rId30" Type="http://schemas.openxmlformats.org/officeDocument/2006/relationships/slide" Target="slides/slide24.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message: AIM makes our existing parts business more visible and supports more specific commercial decisions. Start with the historical Others problem, not system status or technical audit language. This cover intentionally carries no unconfirmed billing total, blanket identity-live claim or commercial-score promise. ZKK reinforces the reference basis; it does not redefine AIM.
[Sources]
User instructions in this conversation, 20 September 2026: large historical Others grouping; AIM reinforced by ZKK; existing ISZE master only; local ownership by Vehicle Parts Sales; no guaranteed bespoke Japan updates; ITC means interchangeability and will follow later.
ISZE AIM/ZKK full-file review; supplied corrected master reviewed 20 September 2026. Structural/source review and targeted checks, not catalogue-wide technical certification.
[/Sources]</a:t>
            </a:r>
            <a:endParaRPr lang="en-US" dirty="0"/>
          </a:p>
          <a:p>
            <a:r>
              <a:t>Naming confirmed by Vehicle Parts Sales, 21 September 2026. The full model name is introduced on the cover; later slides use AIM.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cards form one story. A broad residual grouping conceals the product range. A controlled three-level aftersales view makes the range addressable. Comparable market information then supports a specific action. These are intended business uses, not claims that all parts have already been technically approved or that a price reduction is automatically required.
[Sources]
User instructions in this conversation, 20 September 2026: large historical Others grouping; AIM reinforced by ZKK; existing ISZE master only; local ownership by Vehicle Parts Sales; no guaranteed bespoke Japan updates; ITC means interchangeability and will follow later.
Original ISZE classification paper, 18 September 2026, sections 1, 3, 5 and 7. Historical description-based design and five original source fields. Historical financial claims are not reused.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Retain the three-level AIM aftersales family and the separate catalogue grouping. Commercial evidence sits beside identity rather than changing a part from one physical type to another. The existing service-demand calculation uses catalogue figures and its own fleet/interval assumptions: AIM improves the product interpretation and links to that analysis; it does not automatically replace the service model.
[Sources]
Original ISZE classification paper, 18 September 2026, sections 1, 3, 5 and 7. Historical description-based design and five original source fields. Historical financial claims are not reused.
ISZE AIM/ZKK full-file review; supplied corrected master reviewed 20 September 2026. Structural/source review and targeted checks, not catalogue-wide technical certification.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identifies a large historical Others grouping as the original commercial problem. The original paper also documents Other/review and broad residual families. This schematic explains that problem without inventing a historical share or claiming all residual entries have now disappeared. The boxes are illustrative business destinations, not measured proportions or a reconstructed before/after population.
[Sources]
User instructions in this conversation, 20 September 2026: large historical Others grouping; AIM reinforced by ZKK; existing ISZE master only; local ownership by Vehicle Parts Sales; no guaranteed bespoke Japan updates; ITC means interchangeability and will follow later.
Original ISZE classification paper, 18 September 2026, sections 1, 3, 5 and 7. Historical description-based design and five original source fields. Historical financial claims are not reused.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rules used descriptions for the first classification. The other original fields have distinct roles in the subsequent review and commercial use. ZKK was added as a reinforcing manufacturer reference. This is not a claim that an independently verified six-factor classifier runs on every record. Current production rule precedence was not independently replayed. Price provides economic context; it must not decide physical identity.
[Sources]
04_ISZE_AIM_Classification_Paper.html, source-data and original method sections: five fields were available; initial rules used descriptions.
AIM corrected-master review and AIM_Cursor_Correction_Brief_2026-09-20.md: retained checks and corrections; source attachment does not certify product meaning.
User approval, 21 September 2026: clarify the process, keep 5+1 and use reinforced.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reading of the retained source evidence, not a claim that all six fields are populated for every part. FILTER; ACL and catalogue figure 1-30 Air Cleaner establish a question to resolve: which saleable item is it? The illustrated accepted path is Maintenance Service / Air Filter / Air Cleaner Filter. The catalogue group alone does not make a housing, bracket or kit into an element. Where product evidence is insufficient, retain the supported family and flag the unresolved detailed type. The retain step describes the approved operating requirement, not an independently certified production implementation.
[Sources]
04_ISZE_AIM_Classification_Paper.html, engine-air-filtration example and part 8980913940.
ISZE_AIM_ZKK_Full_Review_2026-09-20.md, observed Air Cleaner Filter path; AIM_Cursor_Correction_Brief_2026-09-20.md.
User-approved process explanation, 21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reviewed example is part 8979490060: Clutch / Release System / Slave Cylinder. Its earlier detailed Pivot issue is closed in the supplied corrected snapshot. The slide demonstrates the purpose of all three levels rather than asserting current weak performance in this category. No broader technical certification follows from one corrected example.
[Sources]
ISZE AIM/ZKK full-file review; supplied corrected master reviewed 20 September 2026. Structural/source review and targeted checks, not catalogue-wide technical certification.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Conceptual silhouettes illustrate product form; they are not technical fitment drawings. Related products can share a management family but have different service frequency, saleable quantity, contents and competition. Kit revenue stays on the invoiced kit. Component-equivalent quantities require validated contents and must not be added as new sales. These distinctions enable better product-specific pricing and service-range analysis.
[Sources]
Illustrative decision framework developed for this presentation. Not a measured market outcome or an approved automatic pricing policy.
AIM correction and verification brief, 20 September 2026. Later corrections have not been assumed complete; previously confirmed fixes remain closed.
ISZE business context, operating limitations and writing rules, 19 September 2026.
[/Sources]</a:t>
            </a:r>
            <a:endParaRPr lang="en-US" dirty="0"/>
          </a:p>
          <a:p>
            <a:r>
              <a:t>Compact-edition image status: original editable silhouettes retained. Real product-photo retrieval was attempted from manufacturer/dealer pages, but the image downloads were unavailable in this environment. No synthetic image is represented as an actual Isuzu part.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master review on 20 September 2026 found 37 Japanese-matched records labelled Brake Pad Kit across 10 retained ZKK codes. This is an observed classification relationship, not a count of interchangeable fitments, units sold or independently verified error-free records. ZKK does not necessarily have the same purpose or hierarchy as AIM. We preserve the code and product evidence. This example supports a fit-for-purpose product sales view, not a claim of superior technical accuracy.
[Sources]
ISZE AIM/ZKK full-file review; supplied corrected master reviewed 20 September 2026. Structural/source review and targeted checks, not catalogue-wide technical certification.
User instructions in this conversation, 20 September 2026: large historical Others grouping; AIM reinforced by ZKK; existing ISZE master only; local ownership by Vehicle Parts Sales; no guaranteed bespoke Japan updates; ITC means interchangeability and will follow later.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quoted headline is illustrative, not a reported ISZE result. A category view should separate like-for-like price, quantity and mix on matched periods and stable product identities. Avoid a single quantity sum across heterogeneous products. Examine the leading part-number contribution and repeated purchases to distinguish recurring service momentum from exceptional high-value repairs. The classification makes these questions reproducible; it does not itself measure their answer.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numbers context as of 19 September 2026, spend per truck in service, calendar 2025. Norway EUR 1,416,552 / 7,929 vehicles gives EUR 179 rounded; Sweden EUR 1,278,462 / 8,443 gives EUR 151 rounded. These observed billing-per-vehicle rates are not end-customer expenditure or measured market share. The intended use is a starting signal for a more focused category review. Standardise relevant model/class/age mix, applications, sales stage, period and pricing effects before turning a difference into a target. No claim that the fleets are perfectly comparable is made.
[Sources]
ISZE numbers and calculation-basis context, as of 19 September 2026, sections 2, 3 and 5. Calendar 2025 bases; underlying billing horizon 30 June 2026.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analytical discipline. Product identity enables reproducible country comparisons, but applicability and relevant fleet need separate evidence. Keep ITUK and IUK separate, and UMI and UTI separate. A healthy network average is not a market action. Compare original and value offers within comparable products, keep billing and sales-to-dealer stages explicit, and distinguish price effects from replacement quantity. Another market can provide a practice to test, not an automatic spend target.
[Sources]
Illustrative decision framework developed for this presentation. Not a measured market outcome or an approved automatic pricing policy.
ISZE business context, operating limitations and writing rules, 19 September 2026.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measures must not be collapsed into a single market-share claim. Parts billed per vehicle is observed on the approved billing and fleet population; service cover compares observed units with a modelled expectation; repeat account breadth requires account-level data and a defensible eligible population. None is independently the complete aftermarket share without market totals. Missing dealer data remains unknown, not zero. The slide focuses on commercially useful penetration questions while keeping the distinction in the definitions.
[Sources]
ISZE numbers and calculation-basis context, as of 19 September 2026, sections 2, 3 and 5. Calendar 2025 bases; underlying billing horizon 30 June 2026.
ISZE business context, operating limitations and writing rules, 19 September 2026.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Measured source-category example. ITUK brake_pad total billing: CY2024 EUR347389.58; CY2025 EUR302366.25. Recorded quantities: 4562 and 3402. Billing change -12.960472%; quantity change -25.427444%. These are the supplied derived category totals, not a fresh reclassification of raw invoices. Retain the source's exclusions and category population. The 22,389 fleet is context only: the calendar-2025 spend-per-truck table uses the DVLA March-2026 register. It is not the class-split internal service denominator and is not used to calculate this purchasing change. Revenue per recorded unit is affected by mix; it does not prove a like-for-like price increase. Neither change proves competitor purchasing. Detailed part membership must be reconciled before using this as a newly certified AIM-range result.
[Sources]
ISZE source category summary, 04_original_vs_value_parts_mix.csv, supplied 19 September 2026; full calendar years 2024 and 2025. Original identifiers and source category definitions retained.
02_NUMBERS_AND_HOW_THEY_ARE_BUILT.md, as of 19 September 2026, sections 5 and 7; 01_ISUZU_AND_ISZE_BUSINESS.md. ISZE billing is to distributors, not end-customer demand.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review-page structure using measured ITUK source-category billing and quantities. The values match the sales-explanation example. Relevant 2025 fleet context is 22,389 trucks on the supplied spend-per-truck basis; it is not a new market-share denominator. The source totals do not establish which part references or dealer accounts explain the decline. The proposed action is to investigate selected references and distributor evidence, then agree the appropriate response. No distributor agreement, cause, discount, target or forecast is asserted. Owner labels are roles; next-monthly-review timing is a proposal. Availability and prioritisation, formerly separate slides, are retained here as explanation/action considerations.
[Sources]
ISZE source category summary, 04_original_vs_value_parts_mix.csv, supplied 19 September 2026; full calendar years 2024 and 2025. Original identifiers and source category definitions retained.
02_NUMBERS_AND_HOW_THEY_ARE_BUILT.md, as of 19 September 2026, sections 5 and 7; 01_ISUZU_AND_ISZE_BUSINESS.md. ISZE billing is to distributors, not end-customer demand.
User approval, 21 September 2026: show a tangible shared review; remove separate availability, prioritisation and interchangeability slides.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confirms local maintenance ownership and that routine bespoke Japan support is difficult. Maintain the existing master only; Japan-only reference records are not another catalogue to own. Preserve original codes and source dates, approved exceptions and a recoverable previous version. Routine reporting continues on the last accepted classification when no new reference is available. New/changed evidence triggers focused review, not an automatic rewrite. Repeat-run stability and hands-on time should be tested before claiming a support cost.
[Sources]
User instructions in this conversation, 20 September 2026: large historical Others grouping; AIM reinforced by ZKK; existing ISZE master only; local ownership by Vehicle Parts Sales; no guaranteed bespoke Japan updates; ITC means interchangeability and will follow later.
AIM correction and verification brief, 20 September 2026. Later corrections have not been assumed complete; previously confirmed fixes remain closed.
Illustrative decision framework developed for this presentation. Not a measured market outcome or an approved automatic pricing policy.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Management is asked to endorse the product-oriented approach, local ownership and a practical reviewed commercial use case. ZKK reinforces the reference basis without replacing AIM. No catalogue-wide automatic pricing change, financial uplift guarantee, new enterprise platform or full-Japan master is part of the request. End on the original purpose: understand the products concealed by broad Others reporting, then make more specific market and pricing decisions.
[Sources]
User instructions in this conversation, 20 September 2026: large historical Others grouping; AIM reinforced by ZKK; existing ISZE master only; local ownership by Vehicle Parts Sales; no guaranteed bespoke Japan updates; ITC means interchangeability and will follow later.
Illustrative decision framework developed for this presentation. Not a measured market outcome or an approved automatic pricing policy.
ISZE AIM/ZKK full-file review; supplied corrected master reviewed 20 September 2026. Structural/source review and targeted checks, not catalogue-wide technical certification.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 selected-category concentration, not an invented stable-family finding. ITUK category billing changes: brake_pad -EUR45023.33; brake_rotor -EUR1260.48; brake_shoe -EUR784.96. Sum -EUR47068.77; pad share of this decline 95.654359%. The population deliberately includes only these three source categories, not all products currently assigned to AIM Brakes. Do not infer part-number contributors or dealer outcomes without the relevant calculation. The general subtitle about a stable total is an analytical possibility; this measured example has a decline. Follow up: identify the product movement, establish its cause with the distributor, and target support accordingly. Check stock, supply, product mix and valid replacement evidence before claiming lost business.
[Sources]
ISZE source category summary, 04_original_vs_value_parts_mix.csv, supplied 19 September 2026; full calendar years 2024 and 2025. Original identifiers and source category definitions retained.
02_NUMBERS_AND_HOW_THEY_ARE_BUILT.md, as of 19 September 2026, sections 5 and 7; 01_ISUZU_AND_ISZE_BUSINESS.md. ISZE billing is to distributors, not end-customer demand.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supplied category mix supports this illustration. Portugal clutch_kit, CY2024: Genuine EUR2901.92/49 recorded units; BVP EUR27057.95/413; combined EUR29959.87/462. CY2025: Genuine EUR2057.86/47; BVP EUR29644.61/414; combined EUR31702.47/461. Combined billing rises 5.816447% while quantities are nearly unchanged. Rounded row values may not add exactly; calculations use source precision. A product-line mix is not market share, causal switching or a profit result. The current AIM master organises identity but does not itself provide a validated kit-component relationship or all technical Genuine/BVP equivalents. This is an existing source-category example; no new independent AIM category certification is asserted.
[Sources]
ISZE source category summary, 04_original_vs_value_parts_mix.csv, supplied 19 September 2026; full calendar years 2024 and 2025. Original identifiers and source category definitions retained.
02_NUMBERS_AND_HOW_THEY_ARE_BUILT.md, as of 19 September 2026, sections 5 and 7; 01_ISUZU_AND_ISZE_BUSINESS.md. ISZE billing is to distributors, not end-customer demand.
04_GLOSSARY_AND_HOW_TO_WRITE.md: BVP means Best Value Parts.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use at two sales stages. ISZE can review its purchase-price support to a distributor; the distributor can apply an agreed, part-number-keyed product grouping to its own sales-to-dealer, pricing and margin data. This does not assert that all distributors already have the mapping or capability in operation. A reduction in ISZE terms does not prove a downstream price reduction or a demand response. Keep costs, commercial thresholds, other distributors' terms and restricted source information out of the shared product reference. Price support is one response to the analysis and needs qualified product evidence and contribution assessment.
[Sources]
02_NUMBERS_AND_HOW_THEY_ARE_BUILT.md, as of 19 September 2026, sections 5 and 7; 01_ISUZU_AND_ISZE_BUSINESS.md. ISZE billing is to distributors, not end-customer demand.
User-approved revision, 21 September 2026: remove vague room-to-compete wording; show both ISZE and distributor uses.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D71920"/>
          </a:solidFill>
          <a:ln w="12700">
            <a:solidFill>
              <a:srgbClr val="D71920"/>
            </a:solidFill>
            <a:prstDash val="solid"/>
          </a:ln>
        </p:spPr>
        <p:txBody>
          <a:bodyPr/>
          <a:p/>
        </p:txBody>
      </p:sp>
      <p:sp>
        <p:nvSpPr>
          <p:cNvPr id="3" name="Text 1"/>
          <p:cNvSpPr/>
          <p:nvPr/>
        </p:nvSpPr>
        <p:spPr>
          <a:xfrm>
            <a:off x="658368" y="557784"/>
            <a:ext cx="3291840" cy="420624"/>
          </a:xfrm>
          <a:prstGeom prst="rect">
            <a:avLst/>
          </a:prstGeom>
          <a:noFill/>
          <a:ln/>
        </p:spPr>
        <p:txBody>
          <a:bodyPr wrap="square" lIns="0" tIns="0" rIns="0" bIns="0" rtlCol="0" anchor="ctr">
            <a:normAutofit/>
          </a:bodyPr>
          <a:lstStyle/>
          <a:p>
            <a:pPr indent="0" marL="0">
              <a:buNone/>
            </a:pPr>
            <a:r>
              <a:rPr lang="en-US" sz="2900" b="1" spc="220" kern="0" dirty="0">
                <a:solidFill>
                  <a:srgbClr val="FFFFFF"/>
                </a:solidFill>
                <a:latin typeface="Arial" pitchFamily="34" charset="0"/>
                <a:ea typeface="Arial" pitchFamily="34" charset="-122"/>
                <a:cs typeface="Arial" pitchFamily="34" charset="-120"/>
              </a:rPr>
              <a:t>ISUZU</a:t>
            </a:r>
            <a:endParaRPr lang="en-US" sz="2900" dirty="0"/>
          </a:p>
        </p:txBody>
      </p:sp>
      <p:sp>
        <p:nvSpPr>
          <p:cNvPr id="4" name="Text 2"/>
          <p:cNvSpPr/>
          <p:nvPr/>
        </p:nvSpPr>
        <p:spPr>
          <a:xfrm>
            <a:off x="676656" y="1088136"/>
            <a:ext cx="3657600" cy="274320"/>
          </a:xfrm>
          <a:prstGeom prst="rect">
            <a:avLst/>
          </a:prstGeom>
          <a:noFill/>
          <a:ln/>
        </p:spPr>
        <p:txBody>
          <a:bodyPr wrap="square" lIns="0" tIns="0" rIns="0" bIns="0" rtlCol="0" anchor="ctr">
            <a:normAutofit/>
          </a:bodyPr>
          <a:lstStyle/>
          <a:p>
            <a:pPr indent="0" marL="0">
              <a:buNone/>
            </a:pPr>
            <a:r>
              <a:rPr lang="en-US" sz="1150" b="1" spc="130" kern="0" dirty="0">
                <a:solidFill>
                  <a:srgbClr val="FFFFFF"/>
                </a:solidFill>
                <a:latin typeface="Arial" pitchFamily="34" charset="0"/>
                <a:ea typeface="Arial" pitchFamily="34" charset="-122"/>
                <a:cs typeface="Arial" pitchFamily="34" charset="-120"/>
              </a:rPr>
              <a:t>EUROPE  /  AFTERSALES</a:t>
            </a:r>
            <a:endParaRPr lang="en-US" sz="1150" dirty="0"/>
          </a:p>
        </p:txBody>
      </p:sp>
      <p:sp>
        <p:nvSpPr>
          <p:cNvPr id="5" name="Text 3"/>
          <p:cNvSpPr/>
          <p:nvPr/>
        </p:nvSpPr>
        <p:spPr>
          <a:xfrm>
            <a:off x="640080" y="2103120"/>
            <a:ext cx="3749040" cy="1234440"/>
          </a:xfrm>
          <a:prstGeom prst="rect">
            <a:avLst/>
          </a:prstGeom>
          <a:noFill/>
          <a:ln/>
        </p:spPr>
        <p:txBody>
          <a:bodyPr wrap="square" lIns="0" tIns="0" rIns="0" bIns="0" rtlCol="0" anchor="ctr">
            <a:normAutofit/>
          </a:bodyPr>
          <a:lstStyle/>
          <a:p>
            <a:pPr indent="0" marL="0">
              <a:buNone/>
            </a:pPr>
            <a:r>
              <a:rPr lang="en-US" sz="9600" b="1" dirty="0">
                <a:solidFill>
                  <a:srgbClr val="FFFFFF"/>
                </a:solidFill>
                <a:latin typeface="Arial" pitchFamily="34" charset="0"/>
                <a:ea typeface="Arial" pitchFamily="34" charset="-122"/>
                <a:cs typeface="Arial" pitchFamily="34" charset="-120"/>
              </a:rPr>
              <a:t>AIM</a:t>
            </a:r>
            <a:endParaRPr lang="en-US" sz="9600" dirty="0"/>
          </a:p>
        </p:txBody>
      </p:sp>
      <p:sp>
        <p:nvSpPr>
          <p:cNvPr id="6" name="Text 4"/>
          <p:cNvSpPr/>
          <p:nvPr/>
        </p:nvSpPr>
        <p:spPr>
          <a:xfrm>
            <a:off x="694944" y="3538728"/>
            <a:ext cx="3694176" cy="1618488"/>
          </a:xfrm>
          <a:prstGeom prst="rect">
            <a:avLst/>
          </a:prstGeom>
          <a:noFill/>
          <a:ln/>
        </p:spPr>
        <p:txBody>
          <a:bodyPr wrap="square" lIns="0" tIns="0" rIns="0" bIns="0" rtlCol="0" anchor="t">
            <a:normAutofit/>
          </a:bodyPr>
          <a:lstStyle/>
          <a:p>
            <a:pPr indent="0" marL="0">
              <a:buNone/>
            </a:pPr>
            <a:r>
              <a:rPr lang="en-US" sz="2500" b="1" dirty="0">
                <a:solidFill>
                  <a:srgbClr val="FFFFFF"/>
                </a:solidFill>
                <a:latin typeface="Arial" pitchFamily="34" charset="0"/>
                <a:ea typeface="Arial" pitchFamily="34" charset="-122"/>
                <a:cs typeface="Arial" pitchFamily="34" charset="-120"/>
              </a:rPr>
              <a:t>Isuzu Motors Europe's</a:t>
            </a:r>
            <a:endParaRPr sz="2500"/>
          </a:p>
          <a:p>
            <a:pPr indent="0" marL="0">
              <a:buNone/>
            </a:pPr>
            <a:r>
              <a:rPr lang="en-US" sz="2500" b="1" dirty="0">
                <a:solidFill>
                  <a:srgbClr val="FFFFFF"/>
                </a:solidFill>
                <a:latin typeface="Arial" pitchFamily="34" charset="0"/>
                <a:ea typeface="Arial" pitchFamily="34" charset="-122"/>
                <a:cs typeface="Arial" pitchFamily="34" charset="-120"/>
              </a:rPr>
              <a:t>Aftermarket</a:t>
            </a:r>
            <a:endParaRPr sz="2500"/>
          </a:p>
          <a:p>
            <a:pPr indent="0" marL="0">
              <a:buNone/>
            </a:pPr>
            <a:r>
              <a:rPr lang="en-US" sz="2500" b="1" dirty="0">
                <a:solidFill>
                  <a:srgbClr val="FFFFFF"/>
                </a:solidFill>
                <a:latin typeface="Arial" pitchFamily="34" charset="0"/>
                <a:ea typeface="Arial" pitchFamily="34" charset="-122"/>
                <a:cs typeface="Arial" pitchFamily="34" charset="-120"/>
              </a:rPr>
              <a:t>Intelligence Model</a:t>
            </a:r>
            <a:endParaRPr sz="2500"/>
          </a:p>
        </p:txBody>
      </p:sp>
      <p:sp>
        <p:nvSpPr>
          <p:cNvPr id="7" name="Text 5"/>
          <p:cNvSpPr/>
          <p:nvPr/>
        </p:nvSpPr>
        <p:spPr>
          <a:xfrm>
            <a:off x="676656" y="6199632"/>
            <a:ext cx="3803904" cy="182880"/>
          </a:xfrm>
          <a:prstGeom prst="rect">
            <a:avLst/>
          </a:prstGeom>
          <a:noFill/>
          <a:ln/>
        </p:spPr>
        <p:txBody>
          <a:bodyPr wrap="square" lIns="0" tIns="0" rIns="0" bIns="0" rtlCol="0" anchor="ctr">
            <a:normAutofit/>
          </a:bodyPr>
          <a:lstStyle/>
          <a:p>
            <a:pPr indent="0" marL="0">
              <a:buNone/>
            </a:pPr>
            <a:r>
              <a:rPr lang="en-US" sz="1040" b="1" spc="100" kern="0" dirty="0">
                <a:solidFill>
                  <a:srgbClr val="FFFFFF"/>
                </a:solidFill>
                <a:latin typeface="Arial" pitchFamily="34" charset="0"/>
                <a:ea typeface="Arial" pitchFamily="34" charset="-122"/>
                <a:cs typeface="Arial" pitchFamily="34" charset="-120"/>
              </a:rPr>
              <a:t>MANAGEMENT PRESENTATION</a:t>
            </a:r>
            <a:endParaRPr lang="en-US" sz="1040" dirty="0"/>
          </a:p>
        </p:txBody>
      </p:sp>
      <p:sp>
        <p:nvSpPr>
          <p:cNvPr id="8" name="Text 6"/>
          <p:cNvSpPr/>
          <p:nvPr/>
        </p:nvSpPr>
        <p:spPr>
          <a:xfrm>
            <a:off x="5440680" y="1298448"/>
            <a:ext cx="6044184" cy="1792224"/>
          </a:xfrm>
          <a:prstGeom prst="rect">
            <a:avLst/>
          </a:prstGeom>
          <a:noFill/>
          <a:ln/>
        </p:spPr>
        <p:txBody>
          <a:bodyPr wrap="square" lIns="0" tIns="0" rIns="0" bIns="0" rtlCol="0" anchor="t">
            <a:normAutofit/>
          </a:bodyPr>
          <a:lstStyle/>
          <a:p>
            <a:pPr indent="0" marL="0">
              <a:buNone/>
            </a:pPr>
            <a:r>
              <a:rPr lang="en-US" sz="4300" b="1" dirty="0">
                <a:solidFill>
                  <a:srgbClr val="FFFFFF"/>
                </a:solidFill>
                <a:latin typeface="Arial" pitchFamily="34" charset="0"/>
                <a:ea typeface="Arial" pitchFamily="34" charset="-122"/>
                <a:cs typeface="Arial" pitchFamily="34" charset="-120"/>
              </a:rPr>
              <a:t>One part identity.</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A better commercial</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decision.</a:t>
            </a:r>
            <a:endParaRPr lang="en-US" sz="4300" dirty="0"/>
          </a:p>
        </p:txBody>
      </p:sp>
      <p:sp>
        <p:nvSpPr>
          <p:cNvPr id="9" name="Text 7"/>
          <p:cNvSpPr/>
          <p:nvPr/>
        </p:nvSpPr>
        <p:spPr>
          <a:xfrm>
            <a:off x="5486400" y="3922776"/>
            <a:ext cx="5687568" cy="996696"/>
          </a:xfrm>
          <a:prstGeom prst="rect">
            <a:avLst/>
          </a:prstGeom>
          <a:noFill/>
          <a:ln/>
        </p:spPr>
        <p:txBody>
          <a:bodyPr wrap="square" lIns="0" tIns="0" rIns="0" bIns="0" rtlCol="0" anchor="t">
            <a:normAutofit/>
          </a:bodyPr>
          <a:lstStyle/>
          <a:p>
            <a:pPr indent="0" marL="0">
              <a:buNone/>
            </a:pPr>
            <a:r>
              <a:rPr lang="en-US" sz="2700" dirty="0">
                <a:solidFill>
                  <a:srgbClr val="CCD1D2"/>
                </a:solidFill>
                <a:latin typeface="Arial" pitchFamily="34" charset="0"/>
                <a:ea typeface="Arial" pitchFamily="34" charset="-122"/>
                <a:cs typeface="Arial" pitchFamily="34" charset="-120"/>
              </a:rPr>
              <a:t>How AIM can support distributor</a:t>
            </a:r>
            <a:endParaRPr lang="en-US" sz="2700" dirty="0"/>
          </a:p>
          <a:p>
            <a:pPr indent="0" marL="0">
              <a:buNone/>
            </a:pPr>
            <a:r>
              <a:rPr lang="en-US" sz="2700" dirty="0">
                <a:solidFill>
                  <a:srgbClr val="CCD1D2"/>
                </a:solidFill>
                <a:latin typeface="Arial" pitchFamily="34" charset="0"/>
                <a:ea typeface="Arial" pitchFamily="34" charset="-122"/>
                <a:cs typeface="Arial" pitchFamily="34" charset="-120"/>
              </a:rPr>
              <a:t>competitiveness and ISZE growth.</a:t>
            </a:r>
            <a:endParaRPr lang="en-US" sz="2700" dirty="0"/>
          </a:p>
        </p:txBody>
      </p:sp>
      <p:sp>
        <p:nvSpPr>
          <p:cNvPr id="10" name="Shape 8"/>
          <p:cNvSpPr/>
          <p:nvPr/>
        </p:nvSpPr>
        <p:spPr>
          <a:xfrm>
            <a:off x="5486400" y="5650992"/>
            <a:ext cx="5943600" cy="0"/>
          </a:xfrm>
          <a:prstGeom prst="line">
            <a:avLst/>
          </a:prstGeom>
          <a:noFill/>
          <a:ln w="10160">
            <a:solidFill>
              <a:srgbClr val="626A6D"/>
            </a:solidFill>
            <a:prstDash val="solid"/>
          </a:ln>
        </p:spPr>
        <p:txBody>
          <a:bodyPr/>
          <a:p/>
        </p:txBody>
      </p:sp>
      <p:sp>
        <p:nvSpPr>
          <p:cNvPr id="11" name="Text 9"/>
          <p:cNvSpPr/>
          <p:nvPr/>
        </p:nvSpPr>
        <p:spPr>
          <a:xfrm>
            <a:off x="5486400" y="5870448"/>
            <a:ext cx="5669280" cy="228600"/>
          </a:xfrm>
          <a:prstGeom prst="rect">
            <a:avLst/>
          </a:prstGeom>
          <a:noFill/>
          <a:ln/>
        </p:spPr>
        <p:txBody>
          <a:bodyPr wrap="square" lIns="0" tIns="0" rIns="0" bIns="0" rtlCol="0" anchor="ctr">
            <a:normAutofit/>
          </a:bodyPr>
          <a:lstStyle/>
          <a:p>
            <a:pPr indent="0" marL="0">
              <a:buNone/>
            </a:pPr>
            <a:r>
              <a:rPr lang="en-US" sz="1120" spc="120" kern="0" dirty="0">
                <a:solidFill>
                  <a:srgbClr val="CCD1D2"/>
                </a:solidFill>
                <a:latin typeface="Arial" pitchFamily="34" charset="0"/>
                <a:ea typeface="Arial" pitchFamily="34" charset="-122"/>
                <a:cs typeface="Arial" pitchFamily="34" charset="-120"/>
              </a:rPr>
              <a:t>20 SEPTEMBER 2026</a:t>
            </a:r>
            <a:endParaRPr lang="en-US" sz="11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EXECUTIVE VIEW</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Turn "Others" into the next sales opportunity.</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The data already exists. AIM makes the product questions easier to answer.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EXECUTIVE VIEW</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02</a:t>
            </a:r>
            <a:endParaRPr lang="en-US" sz="1050" dirty="0"/>
          </a:p>
        </p:txBody>
      </p:sp>
      <p:sp>
        <p:nvSpPr>
          <p:cNvPr id="10" name="Shape 8"/>
          <p:cNvSpPr/>
          <p:nvPr/>
        </p:nvSpPr>
        <p:spPr>
          <a:xfrm>
            <a:off x="502920" y="2560320"/>
            <a:ext cx="3575304" cy="2926080"/>
          </a:xfrm>
          <a:prstGeom prst="rect">
            <a:avLst/>
          </a:prstGeom>
          <a:solidFill>
            <a:srgbClr val="FFFFFF"/>
          </a:solidFill>
          <a:ln w="12700">
            <a:solidFill>
              <a:srgbClr val="FFFFFF"/>
            </a:solidFill>
            <a:prstDash val="solid"/>
          </a:ln>
        </p:spPr>
        <p:txBody>
          <a:bodyPr/>
          <a:p/>
        </p:txBody>
      </p:sp>
      <p:sp>
        <p:nvSpPr>
          <p:cNvPr id="11" name="Shape 9"/>
          <p:cNvSpPr/>
          <p:nvPr/>
        </p:nvSpPr>
        <p:spPr>
          <a:xfrm>
            <a:off x="502920" y="2560320"/>
            <a:ext cx="50292" cy="2926080"/>
          </a:xfrm>
          <a:prstGeom prst="rect">
            <a:avLst/>
          </a:prstGeom>
          <a:solidFill>
            <a:srgbClr val="D9DCDA"/>
          </a:solidFill>
          <a:ln w="12700">
            <a:solidFill>
              <a:srgbClr val="D9DCDA"/>
            </a:solidFill>
            <a:prstDash val="solid"/>
          </a:ln>
        </p:spPr>
        <p:txBody>
          <a:bodyPr/>
          <a:p/>
        </p:txBody>
      </p:sp>
      <p:sp>
        <p:nvSpPr>
          <p:cNvPr id="12" name="Text 10"/>
          <p:cNvSpPr/>
          <p:nvPr/>
        </p:nvSpPr>
        <p:spPr>
          <a:xfrm>
            <a:off x="713232" y="2761488"/>
            <a:ext cx="3154680" cy="274320"/>
          </a:xfrm>
          <a:prstGeom prst="rect">
            <a:avLst/>
          </a:prstGeom>
          <a:noFill/>
          <a:ln/>
        </p:spPr>
        <p:txBody>
          <a:bodyPr wrap="square" lIns="0" tIns="0" rIns="0" bIns="0" rtlCol="0" anchor="ctr">
            <a:no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SEE</a:t>
            </a:r>
            <a:endParaRPr lang="en-US" sz="1200" dirty="0"/>
          </a:p>
        </p:txBody>
      </p:sp>
      <p:sp>
        <p:nvSpPr>
          <p:cNvPr id="13" name="Text 11"/>
          <p:cNvSpPr/>
          <p:nvPr/>
        </p:nvSpPr>
        <p:spPr>
          <a:xfrm>
            <a:off x="713232" y="3264408"/>
            <a:ext cx="3154680" cy="731520"/>
          </a:xfrm>
          <a:prstGeom prst="rect">
            <a:avLst/>
          </a:prstGeom>
          <a:noFill/>
          <a:ln/>
        </p:spPr>
        <p:txBody>
          <a:bodyPr wrap="square" lIns="0" tIns="0" rIns="0" bIns="0" rtlCol="0" anchor="t">
            <a:noAutofit/>
          </a:bodyPr>
          <a:lstStyle/>
          <a:p>
            <a:pPr indent="0" marL="0">
              <a:buNone/>
            </a:pPr>
            <a:r>
              <a:rPr lang="en-US" sz="2500" b="1" dirty="0">
                <a:solidFill>
                  <a:srgbClr val="24282C"/>
                </a:solidFill>
                <a:latin typeface="Arial" pitchFamily="34" charset="0"/>
                <a:ea typeface="Arial" pitchFamily="34" charset="-122"/>
                <a:cs typeface="Arial" pitchFamily="34" charset="-120"/>
              </a:rPr>
              <a:t>What is inside?</a:t>
            </a:r>
            <a:endParaRPr lang="en-US" sz="2500" dirty="0"/>
          </a:p>
        </p:txBody>
      </p:sp>
      <p:sp>
        <p:nvSpPr>
          <p:cNvPr id="14" name="Text 12"/>
          <p:cNvSpPr/>
          <p:nvPr/>
        </p:nvSpPr>
        <p:spPr>
          <a:xfrm>
            <a:off x="713232" y="4251960"/>
            <a:ext cx="3154680" cy="987552"/>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Separate mixed turnover into recognisable service and repair ranges.</a:t>
            </a:r>
            <a:endParaRPr lang="en-US" sz="1900" dirty="0"/>
          </a:p>
        </p:txBody>
      </p:sp>
      <p:sp>
        <p:nvSpPr>
          <p:cNvPr id="15" name="Shape 13"/>
          <p:cNvSpPr/>
          <p:nvPr/>
        </p:nvSpPr>
        <p:spPr>
          <a:xfrm>
            <a:off x="4306824" y="2560320"/>
            <a:ext cx="3575304" cy="2926080"/>
          </a:xfrm>
          <a:prstGeom prst="rect">
            <a:avLst/>
          </a:prstGeom>
          <a:solidFill>
            <a:srgbClr val="FAEAE8"/>
          </a:solidFill>
          <a:ln w="12700">
            <a:solidFill>
              <a:srgbClr val="FAEAE8"/>
            </a:solidFill>
            <a:prstDash val="solid"/>
          </a:ln>
        </p:spPr>
        <p:txBody>
          <a:bodyPr/>
          <a:p/>
        </p:txBody>
      </p:sp>
      <p:sp>
        <p:nvSpPr>
          <p:cNvPr id="16" name="Shape 14"/>
          <p:cNvSpPr/>
          <p:nvPr/>
        </p:nvSpPr>
        <p:spPr>
          <a:xfrm>
            <a:off x="4306824" y="2560320"/>
            <a:ext cx="50292" cy="2926080"/>
          </a:xfrm>
          <a:prstGeom prst="rect">
            <a:avLst/>
          </a:prstGeom>
          <a:solidFill>
            <a:srgbClr val="D71920"/>
          </a:solidFill>
          <a:ln w="12700">
            <a:solidFill>
              <a:srgbClr val="D71920"/>
            </a:solidFill>
            <a:prstDash val="solid"/>
          </a:ln>
        </p:spPr>
        <p:txBody>
          <a:bodyPr/>
          <a:p/>
        </p:txBody>
      </p:sp>
      <p:sp>
        <p:nvSpPr>
          <p:cNvPr id="17" name="Text 15"/>
          <p:cNvSpPr/>
          <p:nvPr/>
        </p:nvSpPr>
        <p:spPr>
          <a:xfrm>
            <a:off x="4517136" y="2761488"/>
            <a:ext cx="3154680" cy="274320"/>
          </a:xfrm>
          <a:prstGeom prst="rect">
            <a:avLst/>
          </a:prstGeom>
          <a:noFill/>
          <a:ln/>
        </p:spPr>
        <p:txBody>
          <a:bodyPr wrap="square" lIns="0" tIns="0" rIns="0" bIns="0" rtlCol="0" anchor="ctr">
            <a:no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COMPARE</a:t>
            </a:r>
            <a:endParaRPr lang="en-US" sz="1200" dirty="0"/>
          </a:p>
        </p:txBody>
      </p:sp>
      <p:sp>
        <p:nvSpPr>
          <p:cNvPr id="18" name="Text 16"/>
          <p:cNvSpPr/>
          <p:nvPr/>
        </p:nvSpPr>
        <p:spPr>
          <a:xfrm>
            <a:off x="4517136" y="3264408"/>
            <a:ext cx="3154680" cy="731520"/>
          </a:xfrm>
          <a:prstGeom prst="rect">
            <a:avLst/>
          </a:prstGeom>
          <a:noFill/>
          <a:ln/>
        </p:spPr>
        <p:txBody>
          <a:bodyPr wrap="square" lIns="0" tIns="0" rIns="0" bIns="0" rtlCol="0" anchor="t">
            <a:noAutofit/>
          </a:bodyPr>
          <a:lstStyle/>
          <a:p>
            <a:pPr indent="0" marL="0">
              <a:buNone/>
            </a:pPr>
            <a:r>
              <a:rPr lang="en-US" sz="2500" b="1" dirty="0">
                <a:solidFill>
                  <a:srgbClr val="24282C"/>
                </a:solidFill>
                <a:latin typeface="Arial" pitchFamily="34" charset="0"/>
                <a:ea typeface="Arial" pitchFamily="34" charset="-122"/>
                <a:cs typeface="Arial" pitchFamily="34" charset="-120"/>
              </a:rPr>
              <a:t>Where is the opportunity?</a:t>
            </a:r>
            <a:endParaRPr lang="en-US" sz="2500" dirty="0"/>
          </a:p>
        </p:txBody>
      </p:sp>
      <p:sp>
        <p:nvSpPr>
          <p:cNvPr id="19" name="Text 17"/>
          <p:cNvSpPr/>
          <p:nvPr/>
        </p:nvSpPr>
        <p:spPr>
          <a:xfrm>
            <a:off x="4517136" y="4251960"/>
            <a:ext cx="3154680" cy="987552"/>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Compare the same range by distributor, vehicle population and period.</a:t>
            </a:r>
            <a:endParaRPr lang="en-US" sz="1900" dirty="0"/>
          </a:p>
        </p:txBody>
      </p:sp>
      <p:sp>
        <p:nvSpPr>
          <p:cNvPr id="20" name="Shape 18"/>
          <p:cNvSpPr/>
          <p:nvPr/>
        </p:nvSpPr>
        <p:spPr>
          <a:xfrm>
            <a:off x="8110728" y="2560320"/>
            <a:ext cx="3575304" cy="2926080"/>
          </a:xfrm>
          <a:prstGeom prst="rect">
            <a:avLst/>
          </a:prstGeom>
          <a:solidFill>
            <a:srgbClr val="FFFFFF"/>
          </a:solidFill>
          <a:ln w="12700">
            <a:solidFill>
              <a:srgbClr val="FFFFFF"/>
            </a:solidFill>
            <a:prstDash val="solid"/>
          </a:ln>
        </p:spPr>
        <p:txBody>
          <a:bodyPr/>
          <a:p/>
        </p:txBody>
      </p:sp>
      <p:sp>
        <p:nvSpPr>
          <p:cNvPr id="21" name="Shape 19"/>
          <p:cNvSpPr/>
          <p:nvPr/>
        </p:nvSpPr>
        <p:spPr>
          <a:xfrm>
            <a:off x="8110728" y="2560320"/>
            <a:ext cx="50292" cy="2926080"/>
          </a:xfrm>
          <a:prstGeom prst="rect">
            <a:avLst/>
          </a:prstGeom>
          <a:solidFill>
            <a:srgbClr val="D9DCDA"/>
          </a:solidFill>
          <a:ln w="12700">
            <a:solidFill>
              <a:srgbClr val="D9DCDA"/>
            </a:solidFill>
            <a:prstDash val="solid"/>
          </a:ln>
        </p:spPr>
        <p:txBody>
          <a:bodyPr/>
          <a:p/>
        </p:txBody>
      </p:sp>
      <p:sp>
        <p:nvSpPr>
          <p:cNvPr id="22" name="Text 20"/>
          <p:cNvSpPr/>
          <p:nvPr/>
        </p:nvSpPr>
        <p:spPr>
          <a:xfrm>
            <a:off x="8321040" y="2761488"/>
            <a:ext cx="3154680" cy="274320"/>
          </a:xfrm>
          <a:prstGeom prst="rect">
            <a:avLst/>
          </a:prstGeom>
          <a:noFill/>
          <a:ln/>
        </p:spPr>
        <p:txBody>
          <a:bodyPr wrap="square" lIns="0" tIns="0" rIns="0" bIns="0" rtlCol="0" anchor="ctr">
            <a:noAutofit/>
          </a:bodyPr>
          <a:lstStyle/>
          <a:p>
            <a:pPr indent="0" marL="0">
              <a:buNone/>
            </a:pPr>
            <a:r>
              <a:rPr lang="en-US" sz="1200" b="1" spc="70" kern="0" dirty="0">
                <a:solidFill>
                  <a:srgbClr val="D71920"/>
                </a:solidFill>
                <a:latin typeface="Arial" pitchFamily="34" charset="0"/>
                <a:ea typeface="Arial" pitchFamily="34" charset="-122"/>
                <a:cs typeface="Arial" pitchFamily="34" charset="-120"/>
              </a:rPr>
              <a:t>ACT</a:t>
            </a:r>
            <a:endParaRPr lang="en-US" sz="1200" dirty="0"/>
          </a:p>
        </p:txBody>
      </p:sp>
      <p:sp>
        <p:nvSpPr>
          <p:cNvPr id="23" name="Text 21"/>
          <p:cNvSpPr/>
          <p:nvPr/>
        </p:nvSpPr>
        <p:spPr>
          <a:xfrm>
            <a:off x="8321040" y="3264408"/>
            <a:ext cx="3154680" cy="731520"/>
          </a:xfrm>
          <a:prstGeom prst="rect">
            <a:avLst/>
          </a:prstGeom>
          <a:noFill/>
          <a:ln/>
        </p:spPr>
        <p:txBody>
          <a:bodyPr wrap="square" lIns="0" tIns="0" rIns="0" bIns="0" rtlCol="0" anchor="t">
            <a:noAutofit/>
          </a:bodyPr>
          <a:lstStyle/>
          <a:p>
            <a:pPr indent="0" marL="0">
              <a:buNone/>
            </a:pPr>
            <a:r>
              <a:rPr lang="en-US" sz="2500" b="1" dirty="0">
                <a:solidFill>
                  <a:srgbClr val="24282C"/>
                </a:solidFill>
                <a:latin typeface="Arial" pitchFamily="34" charset="0"/>
                <a:ea typeface="Arial" pitchFamily="34" charset="-122"/>
                <a:cs typeface="Arial" pitchFamily="34" charset="-120"/>
              </a:rPr>
              <a:t>What will win the business?</a:t>
            </a:r>
            <a:endParaRPr lang="en-US" sz="2500" dirty="0"/>
          </a:p>
        </p:txBody>
      </p:sp>
      <p:sp>
        <p:nvSpPr>
          <p:cNvPr id="24" name="Text 22"/>
          <p:cNvSpPr/>
          <p:nvPr/>
        </p:nvSpPr>
        <p:spPr>
          <a:xfrm>
            <a:off x="8321040" y="4251960"/>
            <a:ext cx="3154680" cy="987552"/>
          </a:xfrm>
          <a:prstGeom prst="rect">
            <a:avLst/>
          </a:prstGeom>
          <a:noFill/>
          <a:ln/>
        </p:spPr>
        <p:txBody>
          <a:bodyPr wrap="square" lIns="0" tIns="0" rIns="0" bIns="0" rtlCol="0" anchor="t">
            <a:noAutofit/>
          </a:bodyPr>
          <a:lstStyle/>
          <a:p>
            <a:pPr indent="0" marL="0">
              <a:buNone/>
              <a:defRPr sz="1739"/>
            </a:pPr>
            <a:r>
              <a:rPr lang="en-US" sz="1739" dirty="0">
                <a:solidFill>
                  <a:srgbClr val="626A71"/>
                </a:solidFill>
                <a:latin typeface="Arial" pitchFamily="34" charset="0"/>
                <a:ea typeface="Arial" pitchFamily="34" charset="-122"/>
                <a:cs typeface="Arial" pitchFamily="34" charset="-120"/>
              </a:rPr>
              <a:t>Target the product range, distributor support and availability where they can change the result.</a:t>
            </a:r>
            <a:endParaRPr lang="en-US" sz="17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ROLE OF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AIM connects the catalogue to commercial action.</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One common product language supports several decisions.</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ROLE OF AIM</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03</a:t>
            </a:r>
            <a:endParaRPr lang="en-US" sz="1050" dirty="0"/>
          </a:p>
        </p:txBody>
      </p:sp>
      <p:sp>
        <p:nvSpPr>
          <p:cNvPr id="10" name="Shape 8"/>
          <p:cNvSpPr/>
          <p:nvPr/>
        </p:nvSpPr>
        <p:spPr>
          <a:xfrm>
            <a:off x="502920" y="2596896"/>
            <a:ext cx="2962656" cy="2642616"/>
          </a:xfrm>
          <a:prstGeom prst="rect">
            <a:avLst/>
          </a:prstGeom>
          <a:solidFill>
            <a:srgbClr val="FFFFFF"/>
          </a:solidFill>
          <a:ln w="12700">
            <a:solidFill>
              <a:srgbClr val="FFFFFF"/>
            </a:solidFill>
            <a:prstDash val="solid"/>
          </a:ln>
        </p:spPr>
        <p:txBody>
          <a:bodyPr/>
          <a:p/>
        </p:txBody>
      </p:sp>
      <p:sp>
        <p:nvSpPr>
          <p:cNvPr id="11" name="Text 9"/>
          <p:cNvSpPr/>
          <p:nvPr/>
        </p:nvSpPr>
        <p:spPr>
          <a:xfrm>
            <a:off x="722376" y="2779776"/>
            <a:ext cx="2551176" cy="237744"/>
          </a:xfrm>
          <a:prstGeom prst="rect">
            <a:avLst/>
          </a:prstGeom>
          <a:noFill/>
          <a:ln/>
        </p:spPr>
        <p:txBody>
          <a:bodyPr wrap="square" lIns="0" tIns="0" rIns="0" bIns="0" rtlCol="0" anchor="ctr">
            <a:noAutofit/>
          </a:bodyPr>
          <a:lstStyle/>
          <a:p>
            <a:pPr indent="0" marL="0">
              <a:buNone/>
            </a:pPr>
            <a:r>
              <a:rPr lang="en-US" sz="1170" b="1" dirty="0">
                <a:solidFill>
                  <a:srgbClr val="D71920"/>
                </a:solidFill>
                <a:latin typeface="Arial" pitchFamily="34" charset="0"/>
                <a:ea typeface="Arial" pitchFamily="34" charset="-122"/>
                <a:cs typeface="Arial" pitchFamily="34" charset="-120"/>
              </a:rPr>
              <a:t>EXISTING INFORMATION</a:t>
            </a:r>
            <a:endParaRPr lang="en-US" sz="1170" dirty="0"/>
          </a:p>
        </p:txBody>
      </p:sp>
      <p:sp>
        <p:nvSpPr>
          <p:cNvPr id="12" name="Text 10"/>
          <p:cNvSpPr/>
          <p:nvPr/>
        </p:nvSpPr>
        <p:spPr>
          <a:xfrm>
            <a:off x="740664" y="3236976"/>
            <a:ext cx="2532888" cy="1792224"/>
          </a:xfrm>
          <a:prstGeom prst="rect">
            <a:avLst/>
          </a:prstGeom>
          <a:noFill/>
          <a:ln/>
        </p:spPr>
        <p:txBody>
          <a:bodyPr wrap="square" lIns="0" tIns="0" rIns="0" bIns="0" rtlCol="0" anchor="t">
            <a:noAutofit/>
          </a:bodyPr>
          <a:lstStyle/>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Part number</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Description</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Catalogue reference</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Customs and price data</a:t>
            </a:r>
            <a:endParaRPr lang="en-US" sz="1800" dirty="0"/>
          </a:p>
          <a:p>
            <a:pPr indent="0" marL="0">
              <a:lnSpc>
                <a:spcPts val="2600"/>
              </a:lnSpc>
              <a:buNone/>
              <a:defRPr sz="1800"/>
            </a:pPr>
            <a:r>
              <a:rPr lang="en-US" sz="1800" dirty="0">
                <a:solidFill>
                  <a:srgbClr val="24282C"/>
                </a:solidFill>
                <a:latin typeface="Arial" pitchFamily="34" charset="0"/>
                <a:ea typeface="Arial" pitchFamily="34" charset="-122"/>
                <a:cs typeface="Arial" pitchFamily="34" charset="-120"/>
              </a:rPr>
              <a:t>ZKK reference</a:t>
            </a:r>
            <a:endParaRPr lang="en-US" sz="1800" dirty="0"/>
          </a:p>
        </p:txBody>
      </p:sp>
      <p:sp>
        <p:nvSpPr>
          <p:cNvPr id="13" name="Shape 11"/>
          <p:cNvSpPr/>
          <p:nvPr/>
        </p:nvSpPr>
        <p:spPr>
          <a:xfrm>
            <a:off x="3611880" y="3895344"/>
            <a:ext cx="448056" cy="0"/>
          </a:xfrm>
          <a:prstGeom prst="line">
            <a:avLst/>
          </a:prstGeom>
          <a:noFill/>
          <a:ln w="22860">
            <a:solidFill>
              <a:srgbClr val="D71920"/>
            </a:solidFill>
            <a:prstDash val="solid"/>
            <a:tailEnd type="triangle"/>
          </a:ln>
        </p:spPr>
        <p:txBody>
          <a:bodyPr/>
          <a:p/>
        </p:txBody>
      </p:sp>
      <p:sp>
        <p:nvSpPr>
          <p:cNvPr id="14" name="Shape 12"/>
          <p:cNvSpPr/>
          <p:nvPr/>
        </p:nvSpPr>
        <p:spPr>
          <a:xfrm>
            <a:off x="4261104" y="2596896"/>
            <a:ext cx="3063240" cy="2642616"/>
          </a:xfrm>
          <a:prstGeom prst="rect">
            <a:avLst/>
          </a:prstGeom>
          <a:solidFill>
            <a:srgbClr val="24282C"/>
          </a:solidFill>
          <a:ln w="12700">
            <a:solidFill>
              <a:srgbClr val="24282C"/>
            </a:solidFill>
            <a:prstDash val="solid"/>
          </a:ln>
        </p:spPr>
        <p:txBody>
          <a:bodyPr/>
          <a:p/>
        </p:txBody>
      </p:sp>
      <p:sp>
        <p:nvSpPr>
          <p:cNvPr id="15" name="Text 13"/>
          <p:cNvSpPr/>
          <p:nvPr/>
        </p:nvSpPr>
        <p:spPr>
          <a:xfrm>
            <a:off x="4526280" y="2889504"/>
            <a:ext cx="2468880" cy="557784"/>
          </a:xfrm>
          <a:prstGeom prst="rect">
            <a:avLst/>
          </a:prstGeom>
          <a:noFill/>
          <a:ln/>
        </p:spPr>
        <p:txBody>
          <a:bodyPr wrap="square" lIns="0" tIns="0" rIns="0" bIns="0" rtlCol="0" anchor="ctr">
            <a:noAutofit/>
          </a:bodyPr>
          <a:lstStyle/>
          <a:p>
            <a:pPr indent="0" marL="0">
              <a:buNone/>
            </a:pPr>
            <a:r>
              <a:rPr lang="en-US" sz="4000" b="1" dirty="0">
                <a:solidFill>
                  <a:srgbClr val="FFFFFF"/>
                </a:solidFill>
                <a:latin typeface="Arial" pitchFamily="34" charset="0"/>
                <a:ea typeface="Arial" pitchFamily="34" charset="-122"/>
                <a:cs typeface="Arial" pitchFamily="34" charset="-120"/>
              </a:rPr>
              <a:t>AIM</a:t>
            </a:r>
            <a:endParaRPr lang="en-US" sz="4000" dirty="0"/>
          </a:p>
        </p:txBody>
      </p:sp>
      <p:sp>
        <p:nvSpPr>
          <p:cNvPr id="16" name="Text 14"/>
          <p:cNvSpPr/>
          <p:nvPr/>
        </p:nvSpPr>
        <p:spPr>
          <a:xfrm>
            <a:off x="4544568" y="3675887"/>
            <a:ext cx="2606040" cy="1243584"/>
          </a:xfrm>
          <a:prstGeom prst="rect">
            <a:avLst/>
          </a:prstGeom>
          <a:noFill/>
          <a:ln/>
        </p:spPr>
        <p:txBody>
          <a:bodyPr wrap="square" lIns="0" tIns="0" rIns="0" bIns="0" rtlCol="0" anchor="t">
            <a:noAutofit/>
          </a:bodyPr>
          <a:lstStyle/>
          <a:p>
            <a:pPr indent="0" marL="0">
              <a:lnSpc>
                <a:spcPts val="2900"/>
              </a:lnSpc>
              <a:buNone/>
              <a:defRPr sz="2200"/>
            </a:pPr>
            <a:r>
              <a:rPr lang="en-US" sz="2200" b="1" dirty="0">
                <a:solidFill>
                  <a:srgbClr val="FFFFFF"/>
                </a:solidFill>
                <a:latin typeface="Arial" pitchFamily="34" charset="0"/>
                <a:ea typeface="Arial" pitchFamily="34" charset="-122"/>
                <a:cs typeface="Arial" pitchFamily="34" charset="-120"/>
              </a:rPr>
              <a:t>Family</a:t>
            </a:r>
            <a:endParaRPr lang="en-US" sz="2200" dirty="0"/>
          </a:p>
          <a:p>
            <a:pPr indent="0" marL="0">
              <a:lnSpc>
                <a:spcPts val="2900"/>
              </a:lnSpc>
              <a:buNone/>
              <a:defRPr sz="2200"/>
            </a:pPr>
            <a:r>
              <a:rPr lang="en-US" sz="2200" b="1" dirty="0">
                <a:solidFill>
                  <a:srgbClr val="FFFFFF"/>
                </a:solidFill>
                <a:latin typeface="Arial" pitchFamily="34" charset="0"/>
                <a:ea typeface="Arial" pitchFamily="34" charset="-122"/>
                <a:cs typeface="Arial" pitchFamily="34" charset="-120"/>
              </a:rPr>
              <a:t>Product group</a:t>
            </a:r>
            <a:endParaRPr lang="en-US" sz="2200" dirty="0"/>
          </a:p>
          <a:p>
            <a:pPr indent="0" marL="0">
              <a:lnSpc>
                <a:spcPts val="2900"/>
              </a:lnSpc>
              <a:buNone/>
              <a:defRPr sz="2200"/>
            </a:pPr>
            <a:r>
              <a:rPr lang="en-US" sz="2200" b="1" dirty="0">
                <a:solidFill>
                  <a:srgbClr val="FFFFFF"/>
                </a:solidFill>
                <a:latin typeface="Arial" pitchFamily="34" charset="0"/>
                <a:ea typeface="Arial" pitchFamily="34" charset="-122"/>
                <a:cs typeface="Arial" pitchFamily="34" charset="-120"/>
              </a:rPr>
              <a:t>Detailed part type</a:t>
            </a:r>
            <a:endParaRPr lang="en-US" sz="2200" dirty="0"/>
          </a:p>
        </p:txBody>
      </p:sp>
      <p:sp>
        <p:nvSpPr>
          <p:cNvPr id="17" name="Shape 15"/>
          <p:cNvSpPr/>
          <p:nvPr/>
        </p:nvSpPr>
        <p:spPr>
          <a:xfrm>
            <a:off x="7461504" y="3895344"/>
            <a:ext cx="448056" cy="0"/>
          </a:xfrm>
          <a:prstGeom prst="line">
            <a:avLst/>
          </a:prstGeom>
          <a:noFill/>
          <a:ln w="22860">
            <a:solidFill>
              <a:srgbClr val="D71920"/>
            </a:solidFill>
            <a:prstDash val="solid"/>
            <a:tailEnd type="triangle"/>
          </a:ln>
        </p:spPr>
        <p:txBody>
          <a:bodyPr/>
          <a:p/>
        </p:txBody>
      </p:sp>
      <p:sp>
        <p:nvSpPr>
          <p:cNvPr id="18" name="Shape 16"/>
          <p:cNvSpPr/>
          <p:nvPr/>
        </p:nvSpPr>
        <p:spPr>
          <a:xfrm>
            <a:off x="8138160" y="2596896"/>
            <a:ext cx="3538728" cy="548640"/>
          </a:xfrm>
          <a:prstGeom prst="rect">
            <a:avLst/>
          </a:prstGeom>
          <a:solidFill>
            <a:srgbClr val="FFFFFF"/>
          </a:solidFill>
          <a:ln w="12700">
            <a:solidFill>
              <a:srgbClr val="FFFFFF"/>
            </a:solidFill>
            <a:prstDash val="solid"/>
          </a:ln>
        </p:spPr>
        <p:txBody>
          <a:bodyPr/>
          <a:p/>
        </p:txBody>
      </p:sp>
      <p:sp>
        <p:nvSpPr>
          <p:cNvPr id="19" name="Text 17"/>
          <p:cNvSpPr/>
          <p:nvPr/>
        </p:nvSpPr>
        <p:spPr>
          <a:xfrm>
            <a:off x="8302752" y="2715768"/>
            <a:ext cx="3200400"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Sales explanation</a:t>
            </a:r>
            <a:endParaRPr lang="en-US" sz="2000" dirty="0"/>
          </a:p>
        </p:txBody>
      </p:sp>
      <p:sp>
        <p:nvSpPr>
          <p:cNvPr id="20" name="Shape 18"/>
          <p:cNvSpPr/>
          <p:nvPr/>
        </p:nvSpPr>
        <p:spPr>
          <a:xfrm>
            <a:off x="8138160" y="3282696"/>
            <a:ext cx="3538728" cy="548640"/>
          </a:xfrm>
          <a:prstGeom prst="rect">
            <a:avLst/>
          </a:prstGeom>
          <a:solidFill>
            <a:srgbClr val="FFFFFF"/>
          </a:solidFill>
          <a:ln w="12700">
            <a:solidFill>
              <a:srgbClr val="FFFFFF"/>
            </a:solidFill>
            <a:prstDash val="solid"/>
          </a:ln>
        </p:spPr>
        <p:txBody>
          <a:bodyPr/>
          <a:p/>
        </p:txBody>
      </p:sp>
      <p:sp>
        <p:nvSpPr>
          <p:cNvPr id="21" name="Text 19"/>
          <p:cNvSpPr/>
          <p:nvPr/>
        </p:nvSpPr>
        <p:spPr>
          <a:xfrm>
            <a:off x="8302752" y="3401568"/>
            <a:ext cx="3200400" cy="310896"/>
          </a:xfrm>
          <a:prstGeom prst="rect">
            <a:avLst/>
          </a:prstGeom>
          <a:noFill/>
          <a:ln/>
        </p:spPr>
        <p:txBody>
          <a:bodyPr wrap="square" lIns="0" tIns="0" rIns="0" bIns="0" rtlCol="0" anchor="ctr">
            <a:noAutofit/>
          </a:bodyPr>
          <a:lstStyle/>
          <a:p>
            <a:pPr indent="0" marL="0">
              <a:buNone/>
            </a:pPr>
            <a:r>
              <a:rPr lang="en-US" sz="2000" dirty="0">
                <a:solidFill>
                  <a:srgbClr val="24282C"/>
                </a:solidFill>
                <a:latin typeface="Arial" pitchFamily="34" charset="0"/>
                <a:ea typeface="Arial" pitchFamily="34" charset="-122"/>
                <a:cs typeface="Arial" pitchFamily="34" charset="-120"/>
              </a:rPr>
              <a:t>Pricing precision</a:t>
            </a:r>
            <a:endParaRPr lang="en-US" sz="2000" dirty="0"/>
          </a:p>
        </p:txBody>
      </p:sp>
      <p:sp>
        <p:nvSpPr>
          <p:cNvPr id="22" name="Shape 20"/>
          <p:cNvSpPr/>
          <p:nvPr/>
        </p:nvSpPr>
        <p:spPr>
          <a:xfrm>
            <a:off x="8138160" y="3968496"/>
            <a:ext cx="3538728" cy="548640"/>
          </a:xfrm>
          <a:prstGeom prst="rect">
            <a:avLst/>
          </a:prstGeom>
          <a:solidFill>
            <a:srgbClr val="FFFFFF"/>
          </a:solidFill>
          <a:ln w="12700">
            <a:solidFill>
              <a:srgbClr val="FFFFFF"/>
            </a:solidFill>
            <a:prstDash val="solid"/>
          </a:ln>
        </p:spPr>
        <p:txBody>
          <a:bodyPr/>
          <a:p/>
        </p:txBody>
      </p:sp>
      <p:sp>
        <p:nvSpPr>
          <p:cNvPr id="23" name="Text 21"/>
          <p:cNvSpPr/>
          <p:nvPr/>
        </p:nvSpPr>
        <p:spPr>
          <a:xfrm>
            <a:off x="8302752" y="4087368"/>
            <a:ext cx="3200400" cy="310896"/>
          </a:xfrm>
          <a:prstGeom prst="rect">
            <a:avLst/>
          </a:prstGeom>
          <a:noFill/>
          <a:ln/>
        </p:spPr>
        <p:txBody>
          <a:bodyPr wrap="square" lIns="0" tIns="0" rIns="0" bIns="0" rtlCol="0" anchor="ctr">
            <a:noAutofit/>
          </a:bodyPr>
          <a:lstStyle/>
          <a:p>
            <a:pPr indent="0" marL="0">
              <a:buNone/>
            </a:pPr>
            <a:r>
              <a:rPr lang="en-US" sz="2000" dirty="0">
                <a:solidFill>
                  <a:srgbClr val="24282C"/>
                </a:solidFill>
                <a:latin typeface="Arial" pitchFamily="34" charset="0"/>
                <a:ea typeface="Arial" pitchFamily="34" charset="-122"/>
                <a:cs typeface="Arial" pitchFamily="34" charset="-120"/>
              </a:rPr>
              <a:t>Market comparison</a:t>
            </a:r>
            <a:endParaRPr lang="en-US" sz="2000" dirty="0"/>
          </a:p>
        </p:txBody>
      </p:sp>
      <p:sp>
        <p:nvSpPr>
          <p:cNvPr id="24" name="Shape 22"/>
          <p:cNvSpPr/>
          <p:nvPr/>
        </p:nvSpPr>
        <p:spPr>
          <a:xfrm>
            <a:off x="8138160" y="4654296"/>
            <a:ext cx="3538728" cy="758952"/>
          </a:xfrm>
          <a:prstGeom prst="rect">
            <a:avLst/>
          </a:prstGeom>
          <a:solidFill>
            <a:srgbClr val="FFFFFF"/>
          </a:solidFill>
          <a:ln w="12700">
            <a:solidFill>
              <a:srgbClr val="FFFFFF"/>
            </a:solidFill>
            <a:prstDash val="solid"/>
          </a:ln>
        </p:spPr>
        <p:txBody>
          <a:bodyPr/>
          <a:p/>
        </p:txBody>
      </p:sp>
      <p:sp>
        <p:nvSpPr>
          <p:cNvPr id="25" name="Text 23"/>
          <p:cNvSpPr/>
          <p:nvPr/>
        </p:nvSpPr>
        <p:spPr>
          <a:xfrm>
            <a:off x="8302752" y="4727448"/>
            <a:ext cx="3200400" cy="566928"/>
          </a:xfrm>
          <a:prstGeom prst="rect">
            <a:avLst/>
          </a:prstGeom>
          <a:noFill/>
          <a:ln/>
        </p:spPr>
        <p:txBody>
          <a:bodyPr wrap="square" lIns="0" tIns="0" rIns="0" bIns="0" rtlCol="0" anchor="ctr">
            <a:noAutofit/>
          </a:bodyPr>
          <a:lstStyle/>
          <a:p>
            <a:pPr indent="0" marL="0">
              <a:buNone/>
            </a:pPr>
            <a:r>
              <a:rPr lang="en-US" sz="1840" dirty="0">
                <a:solidFill>
                  <a:srgbClr val="24282C"/>
                </a:solidFill>
                <a:latin typeface="Arial" pitchFamily="34" charset="0"/>
                <a:ea typeface="Arial" pitchFamily="34" charset="-122"/>
                <a:cs typeface="Arial" pitchFamily="34" charset="-120"/>
              </a:rPr>
              <a:t>Maintenance and</a:t>
            </a:r>
            <a:endParaRPr sz="1840"/>
          </a:p>
          <a:p>
            <a:pPr indent="0" marL="0">
              <a:buNone/>
            </a:pPr>
            <a:r>
              <a:rPr lang="en-US" sz="1840" dirty="0">
                <a:solidFill>
                  <a:srgbClr val="24282C"/>
                </a:solidFill>
                <a:latin typeface="Arial" pitchFamily="34" charset="0"/>
                <a:ea typeface="Arial" pitchFamily="34" charset="-122"/>
                <a:cs typeface="Arial" pitchFamily="34" charset="-120"/>
              </a:rPr>
              <a:t>wear-parts potential</a:t>
            </a:r>
            <a:endParaRPr sz="1840"/>
          </a:p>
        </p:txBody>
      </p:sp>
      <p:sp>
        <p:nvSpPr>
          <p:cNvPr id="26" name="Shape 24"/>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7" name="Text 25"/>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The same part can be analysed consistently across products, markets and commercial actions.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CCD1D2"/>
                </a:solidFill>
                <a:latin typeface="Arial" pitchFamily="34" charset="0"/>
                <a:ea typeface="Arial" pitchFamily="34" charset="-122"/>
                <a:cs typeface="Arial" pitchFamily="34" charset="-120"/>
              </a:rPr>
              <a:t>WHY WE NEEDED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FFFFFF"/>
                </a:solidFill>
                <a:latin typeface="Arial" pitchFamily="34" charset="0"/>
                <a:ea typeface="Arial" pitchFamily="34" charset="-122"/>
                <a:cs typeface="Arial" pitchFamily="34" charset="-120"/>
              </a:rPr>
              <a:t>A large "Others" group hid very different businesses.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CCD1D2"/>
                </a:solidFill>
                <a:latin typeface="Arial" pitchFamily="34" charset="0"/>
                <a:ea typeface="Arial" pitchFamily="34" charset="-122"/>
                <a:cs typeface="Arial" pitchFamily="34" charset="-120"/>
              </a:rPr>
              <a:t>We could see turnover without seeing which product range deserved action.</a:t>
            </a:r>
            <a:endParaRPr lang="en-US" sz="1800" dirty="0"/>
          </a:p>
        </p:txBody>
      </p:sp>
      <p:sp>
        <p:nvSpPr>
          <p:cNvPr id="6" name="Shape 4"/>
          <p:cNvSpPr/>
          <p:nvPr/>
        </p:nvSpPr>
        <p:spPr>
          <a:xfrm>
            <a:off x="502920" y="6419088"/>
            <a:ext cx="11183112" cy="0"/>
          </a:xfrm>
          <a:prstGeom prst="line">
            <a:avLst/>
          </a:prstGeom>
          <a:noFill/>
          <a:ln w="7620">
            <a:solidFill>
              <a:srgbClr val="4A5053"/>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FFFFFF"/>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CCD1D2"/>
                </a:solidFill>
                <a:latin typeface="Arial" pitchFamily="34" charset="0"/>
                <a:ea typeface="Arial" pitchFamily="34" charset="-122"/>
                <a:cs typeface="Arial" pitchFamily="34" charset="-120"/>
              </a:rPr>
              <a:t>EUROPE  /  AIM  /  WHY WE NEEDED AIM</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FFFFFF"/>
                </a:solidFill>
                <a:latin typeface="Arial" pitchFamily="34" charset="0"/>
                <a:ea typeface="Arial" pitchFamily="34" charset="-122"/>
                <a:cs typeface="Arial" pitchFamily="34" charset="-120"/>
              </a:rPr>
              <a:t>04</a:t>
            </a:r>
            <a:endParaRPr lang="en-US" sz="1050" dirty="0"/>
          </a:p>
        </p:txBody>
      </p:sp>
      <p:sp>
        <p:nvSpPr>
          <p:cNvPr id="10" name="Shape 8"/>
          <p:cNvSpPr/>
          <p:nvPr/>
        </p:nvSpPr>
        <p:spPr>
          <a:xfrm>
            <a:off x="640080" y="2798064"/>
            <a:ext cx="3163824" cy="2304288"/>
          </a:xfrm>
          <a:prstGeom prst="rect">
            <a:avLst/>
          </a:prstGeom>
          <a:solidFill>
            <a:srgbClr val="353B3E"/>
          </a:solidFill>
          <a:ln w="12700">
            <a:solidFill>
              <a:srgbClr val="353B3E"/>
            </a:solidFill>
            <a:prstDash val="solid"/>
          </a:ln>
        </p:spPr>
        <p:txBody>
          <a:bodyPr/>
          <a:p/>
        </p:txBody>
      </p:sp>
      <p:sp>
        <p:nvSpPr>
          <p:cNvPr id="11" name="Text 9"/>
          <p:cNvSpPr/>
          <p:nvPr/>
        </p:nvSpPr>
        <p:spPr>
          <a:xfrm>
            <a:off x="896112" y="3081528"/>
            <a:ext cx="2642616" cy="704088"/>
          </a:xfrm>
          <a:prstGeom prst="rect">
            <a:avLst/>
          </a:prstGeom>
          <a:noFill/>
          <a:ln/>
        </p:spPr>
        <p:txBody>
          <a:bodyPr wrap="square" lIns="0" tIns="0" rIns="0" bIns="0" rtlCol="0" anchor="ctr">
            <a:noAutofit/>
          </a:bodyPr>
          <a:lstStyle/>
          <a:p>
            <a:pPr indent="0" marL="0">
              <a:buNone/>
            </a:pPr>
            <a:r>
              <a:rPr lang="en-US" sz="4200" b="1" dirty="0">
                <a:solidFill>
                  <a:srgbClr val="FFFFFF"/>
                </a:solidFill>
                <a:latin typeface="Arial" pitchFamily="34" charset="0"/>
                <a:ea typeface="Arial" pitchFamily="34" charset="-122"/>
                <a:cs typeface="Arial" pitchFamily="34" charset="-120"/>
              </a:rPr>
              <a:t>OTHERS</a:t>
            </a:r>
            <a:endParaRPr lang="en-US" sz="4200" dirty="0"/>
          </a:p>
        </p:txBody>
      </p:sp>
      <p:sp>
        <p:nvSpPr>
          <p:cNvPr id="12" name="Text 10"/>
          <p:cNvSpPr/>
          <p:nvPr/>
        </p:nvSpPr>
        <p:spPr>
          <a:xfrm>
            <a:off x="914400" y="4160520"/>
            <a:ext cx="2523744" cy="566928"/>
          </a:xfrm>
          <a:prstGeom prst="rect">
            <a:avLst/>
          </a:prstGeom>
          <a:noFill/>
          <a:ln/>
        </p:spPr>
        <p:txBody>
          <a:bodyPr wrap="square" lIns="0" tIns="0" rIns="0" bIns="0" rtlCol="0" anchor="ctr">
            <a:noAutofit/>
          </a:bodyPr>
          <a:lstStyle/>
          <a:p>
            <a:pPr indent="0" marL="0">
              <a:buNone/>
            </a:pPr>
            <a:r>
              <a:rPr lang="en-US" sz="2000" dirty="0">
                <a:solidFill>
                  <a:srgbClr val="CCD1D2"/>
                </a:solidFill>
                <a:latin typeface="Arial" pitchFamily="34" charset="0"/>
                <a:ea typeface="Arial" pitchFamily="34" charset="-122"/>
                <a:cs typeface="Arial" pitchFamily="34" charset="-120"/>
              </a:rPr>
              <a:t>Mixed products.</a:t>
            </a:r>
            <a:endParaRPr lang="en-US" sz="2000" dirty="0"/>
          </a:p>
          <a:p>
            <a:pPr indent="0" marL="0">
              <a:buNone/>
            </a:pPr>
            <a:r>
              <a:rPr lang="en-US" sz="2000" dirty="0">
                <a:solidFill>
                  <a:srgbClr val="CCD1D2"/>
                </a:solidFill>
                <a:latin typeface="Arial" pitchFamily="34" charset="0"/>
                <a:ea typeface="Arial" pitchFamily="34" charset="-122"/>
                <a:cs typeface="Arial" pitchFamily="34" charset="-120"/>
              </a:rPr>
              <a:t>Mixed reasons to buy.</a:t>
            </a:r>
            <a:endParaRPr lang="en-US" sz="2000" dirty="0"/>
          </a:p>
        </p:txBody>
      </p:sp>
      <p:sp>
        <p:nvSpPr>
          <p:cNvPr id="13" name="Shape 11"/>
          <p:cNvSpPr/>
          <p:nvPr/>
        </p:nvSpPr>
        <p:spPr>
          <a:xfrm>
            <a:off x="4005072" y="3931920"/>
            <a:ext cx="649224" cy="0"/>
          </a:xfrm>
          <a:prstGeom prst="line">
            <a:avLst/>
          </a:prstGeom>
          <a:noFill/>
          <a:ln w="27940">
            <a:solidFill>
              <a:srgbClr val="D71920"/>
            </a:solidFill>
            <a:prstDash val="solid"/>
            <a:tailEnd type="triangle"/>
          </a:ln>
        </p:spPr>
        <p:txBody>
          <a:bodyPr/>
          <a:p/>
        </p:txBody>
      </p:sp>
      <p:sp>
        <p:nvSpPr>
          <p:cNvPr id="14" name="Shape 12"/>
          <p:cNvSpPr/>
          <p:nvPr/>
        </p:nvSpPr>
        <p:spPr>
          <a:xfrm>
            <a:off x="4919472" y="2724912"/>
            <a:ext cx="3108960" cy="841248"/>
          </a:xfrm>
          <a:prstGeom prst="rect">
            <a:avLst/>
          </a:prstGeom>
          <a:solidFill>
            <a:srgbClr val="D71920"/>
          </a:solidFill>
          <a:ln w="12700">
            <a:solidFill>
              <a:srgbClr val="D71920"/>
            </a:solidFill>
            <a:prstDash val="solid"/>
          </a:ln>
        </p:spPr>
        <p:txBody>
          <a:bodyPr/>
          <a:p/>
        </p:txBody>
      </p:sp>
      <p:sp>
        <p:nvSpPr>
          <p:cNvPr id="15" name="Text 13"/>
          <p:cNvSpPr/>
          <p:nvPr/>
        </p:nvSpPr>
        <p:spPr>
          <a:xfrm>
            <a:off x="5074920" y="2834640"/>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Filters</a:t>
            </a:r>
            <a:endParaRPr lang="en-US" sz="2100" dirty="0"/>
          </a:p>
        </p:txBody>
      </p:sp>
      <p:sp>
        <p:nvSpPr>
          <p:cNvPr id="16" name="Text 14"/>
          <p:cNvSpPr/>
          <p:nvPr/>
        </p:nvSpPr>
        <p:spPr>
          <a:xfrm>
            <a:off x="5074920" y="3200400"/>
            <a:ext cx="2788920" cy="228600"/>
          </a:xfrm>
          <a:prstGeom prst="rect">
            <a:avLst/>
          </a:prstGeom>
          <a:noFill/>
          <a:ln/>
        </p:spPr>
        <p:txBody>
          <a:bodyPr wrap="square" lIns="0" tIns="0" rIns="0" bIns="0" rtlCol="0" anchor="ctr">
            <a:noAutofit/>
          </a:bodyPr>
          <a:lstStyle/>
          <a:p>
            <a:pPr indent="0" marL="0">
              <a:buNone/>
            </a:pPr>
            <a:r>
              <a:rPr lang="en-US" sz="1250" dirty="0">
                <a:solidFill>
                  <a:srgbClr val="FFFFFF"/>
                </a:solidFill>
                <a:latin typeface="Arial" pitchFamily="34" charset="0"/>
                <a:ea typeface="Arial" pitchFamily="34" charset="-122"/>
                <a:cs typeface="Arial" pitchFamily="34" charset="-120"/>
              </a:rPr>
              <a:t>Repeat-service potential</a:t>
            </a:r>
            <a:endParaRPr lang="en-US" sz="1250" dirty="0"/>
          </a:p>
        </p:txBody>
      </p:sp>
      <p:sp>
        <p:nvSpPr>
          <p:cNvPr id="17" name="Shape 15"/>
          <p:cNvSpPr/>
          <p:nvPr/>
        </p:nvSpPr>
        <p:spPr>
          <a:xfrm>
            <a:off x="8284464" y="2724912"/>
            <a:ext cx="3108960" cy="841248"/>
          </a:xfrm>
          <a:prstGeom prst="rect">
            <a:avLst/>
          </a:prstGeom>
          <a:solidFill>
            <a:srgbClr val="353B3E"/>
          </a:solidFill>
          <a:ln w="12700">
            <a:solidFill>
              <a:srgbClr val="353B3E"/>
            </a:solidFill>
            <a:prstDash val="solid"/>
          </a:ln>
        </p:spPr>
        <p:txBody>
          <a:bodyPr/>
          <a:p/>
        </p:txBody>
      </p:sp>
      <p:sp>
        <p:nvSpPr>
          <p:cNvPr id="18" name="Text 16"/>
          <p:cNvSpPr/>
          <p:nvPr/>
        </p:nvSpPr>
        <p:spPr>
          <a:xfrm>
            <a:off x="8439912" y="2834640"/>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Brakes</a:t>
            </a:r>
            <a:endParaRPr lang="en-US" sz="2100" dirty="0"/>
          </a:p>
        </p:txBody>
      </p:sp>
      <p:sp>
        <p:nvSpPr>
          <p:cNvPr id="19" name="Text 17"/>
          <p:cNvSpPr/>
          <p:nvPr/>
        </p:nvSpPr>
        <p:spPr>
          <a:xfrm>
            <a:off x="8439912" y="3200400"/>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Wear-range development</a:t>
            </a:r>
            <a:endParaRPr lang="en-US" sz="1250" dirty="0"/>
          </a:p>
        </p:txBody>
      </p:sp>
      <p:sp>
        <p:nvSpPr>
          <p:cNvPr id="20" name="Shape 18"/>
          <p:cNvSpPr/>
          <p:nvPr/>
        </p:nvSpPr>
        <p:spPr>
          <a:xfrm>
            <a:off x="4919472" y="3749040"/>
            <a:ext cx="3108960" cy="841248"/>
          </a:xfrm>
          <a:prstGeom prst="rect">
            <a:avLst/>
          </a:prstGeom>
          <a:solidFill>
            <a:srgbClr val="353B3E"/>
          </a:solidFill>
          <a:ln w="12700">
            <a:solidFill>
              <a:srgbClr val="353B3E"/>
            </a:solidFill>
            <a:prstDash val="solid"/>
          </a:ln>
        </p:spPr>
        <p:txBody>
          <a:bodyPr/>
          <a:p/>
        </p:txBody>
      </p:sp>
      <p:sp>
        <p:nvSpPr>
          <p:cNvPr id="21" name="Text 19"/>
          <p:cNvSpPr/>
          <p:nvPr/>
        </p:nvSpPr>
        <p:spPr>
          <a:xfrm>
            <a:off x="5074920" y="3858768"/>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Clutch</a:t>
            </a:r>
            <a:endParaRPr lang="en-US" sz="2100" dirty="0"/>
          </a:p>
        </p:txBody>
      </p:sp>
      <p:sp>
        <p:nvSpPr>
          <p:cNvPr id="22" name="Text 20"/>
          <p:cNvSpPr/>
          <p:nvPr/>
        </p:nvSpPr>
        <p:spPr>
          <a:xfrm>
            <a:off x="5074920" y="4224528"/>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Repair-job opportunity</a:t>
            </a:r>
            <a:endParaRPr lang="en-US" sz="1250" dirty="0"/>
          </a:p>
        </p:txBody>
      </p:sp>
      <p:sp>
        <p:nvSpPr>
          <p:cNvPr id="23" name="Shape 21"/>
          <p:cNvSpPr/>
          <p:nvPr/>
        </p:nvSpPr>
        <p:spPr>
          <a:xfrm>
            <a:off x="8284464" y="3749040"/>
            <a:ext cx="3108960" cy="841248"/>
          </a:xfrm>
          <a:prstGeom prst="rect">
            <a:avLst/>
          </a:prstGeom>
          <a:solidFill>
            <a:srgbClr val="353B3E"/>
          </a:solidFill>
          <a:ln w="12700">
            <a:solidFill>
              <a:srgbClr val="353B3E"/>
            </a:solidFill>
            <a:prstDash val="solid"/>
          </a:ln>
        </p:spPr>
        <p:txBody>
          <a:bodyPr/>
          <a:p/>
        </p:txBody>
      </p:sp>
      <p:sp>
        <p:nvSpPr>
          <p:cNvPr id="24" name="Text 22"/>
          <p:cNvSpPr/>
          <p:nvPr/>
        </p:nvSpPr>
        <p:spPr>
          <a:xfrm>
            <a:off x="8439912" y="3858768"/>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Cooling</a:t>
            </a:r>
            <a:endParaRPr lang="en-US" sz="2100" dirty="0"/>
          </a:p>
        </p:txBody>
      </p:sp>
      <p:sp>
        <p:nvSpPr>
          <p:cNvPr id="25" name="Text 23"/>
          <p:cNvSpPr/>
          <p:nvPr/>
        </p:nvSpPr>
        <p:spPr>
          <a:xfrm>
            <a:off x="8439912" y="4224528"/>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Product and availability</a:t>
            </a:r>
            <a:endParaRPr lang="en-US" sz="1250" dirty="0"/>
          </a:p>
        </p:txBody>
      </p:sp>
      <p:sp>
        <p:nvSpPr>
          <p:cNvPr id="26" name="Shape 24"/>
          <p:cNvSpPr/>
          <p:nvPr/>
        </p:nvSpPr>
        <p:spPr>
          <a:xfrm>
            <a:off x="4919472" y="4773168"/>
            <a:ext cx="3108960" cy="841248"/>
          </a:xfrm>
          <a:prstGeom prst="rect">
            <a:avLst/>
          </a:prstGeom>
          <a:solidFill>
            <a:srgbClr val="353B3E"/>
          </a:solidFill>
          <a:ln w="12700">
            <a:solidFill>
              <a:srgbClr val="353B3E"/>
            </a:solidFill>
            <a:prstDash val="solid"/>
          </a:ln>
        </p:spPr>
        <p:txBody>
          <a:bodyPr/>
          <a:p/>
        </p:txBody>
      </p:sp>
      <p:sp>
        <p:nvSpPr>
          <p:cNvPr id="27" name="Text 25"/>
          <p:cNvSpPr/>
          <p:nvPr/>
        </p:nvSpPr>
        <p:spPr>
          <a:xfrm>
            <a:off x="5074920" y="4882896"/>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Electrical</a:t>
            </a:r>
            <a:endParaRPr lang="en-US" sz="2100" dirty="0"/>
          </a:p>
        </p:txBody>
      </p:sp>
      <p:sp>
        <p:nvSpPr>
          <p:cNvPr id="28" name="Text 26"/>
          <p:cNvSpPr/>
          <p:nvPr/>
        </p:nvSpPr>
        <p:spPr>
          <a:xfrm>
            <a:off x="5074920" y="5248656"/>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Specific component demand</a:t>
            </a:r>
            <a:endParaRPr lang="en-US" sz="1250" dirty="0"/>
          </a:p>
        </p:txBody>
      </p:sp>
      <p:sp>
        <p:nvSpPr>
          <p:cNvPr id="29" name="Shape 27"/>
          <p:cNvSpPr/>
          <p:nvPr/>
        </p:nvSpPr>
        <p:spPr>
          <a:xfrm>
            <a:off x="8284464" y="4773168"/>
            <a:ext cx="3108960" cy="841248"/>
          </a:xfrm>
          <a:prstGeom prst="rect">
            <a:avLst/>
          </a:prstGeom>
          <a:solidFill>
            <a:srgbClr val="353B3E"/>
          </a:solidFill>
          <a:ln w="12700">
            <a:solidFill>
              <a:srgbClr val="353B3E"/>
            </a:solidFill>
            <a:prstDash val="solid"/>
          </a:ln>
        </p:spPr>
        <p:txBody>
          <a:bodyPr/>
          <a:p/>
        </p:txBody>
      </p:sp>
      <p:sp>
        <p:nvSpPr>
          <p:cNvPr id="30" name="Text 28"/>
          <p:cNvSpPr/>
          <p:nvPr/>
        </p:nvSpPr>
        <p:spPr>
          <a:xfrm>
            <a:off x="8439912" y="4882896"/>
            <a:ext cx="2788920" cy="283464"/>
          </a:xfrm>
          <a:prstGeom prst="rect">
            <a:avLst/>
          </a:prstGeom>
          <a:noFill/>
          <a:ln/>
        </p:spPr>
        <p:txBody>
          <a:bodyPr wrap="square" lIns="0" tIns="0" rIns="0" bIns="0" rtlCol="0" anchor="ctr">
            <a:noAutofit/>
          </a:bodyPr>
          <a:lstStyle/>
          <a:p>
            <a:pPr indent="0" marL="0">
              <a:buNone/>
            </a:pPr>
            <a:r>
              <a:rPr lang="en-US" sz="2100" b="1" dirty="0">
                <a:solidFill>
                  <a:srgbClr val="FFFFFF"/>
                </a:solidFill>
                <a:latin typeface="Arial" pitchFamily="34" charset="0"/>
                <a:ea typeface="Arial" pitchFamily="34" charset="-122"/>
                <a:cs typeface="Arial" pitchFamily="34" charset="-120"/>
              </a:rPr>
              <a:t>Body</a:t>
            </a:r>
            <a:endParaRPr lang="en-US" sz="2100" dirty="0"/>
          </a:p>
        </p:txBody>
      </p:sp>
      <p:sp>
        <p:nvSpPr>
          <p:cNvPr id="31" name="Text 29"/>
          <p:cNvSpPr/>
          <p:nvPr/>
        </p:nvSpPr>
        <p:spPr>
          <a:xfrm>
            <a:off x="8439912" y="5248656"/>
            <a:ext cx="2788920" cy="228600"/>
          </a:xfrm>
          <a:prstGeom prst="rect">
            <a:avLst/>
          </a:prstGeom>
          <a:noFill/>
          <a:ln/>
        </p:spPr>
        <p:txBody>
          <a:bodyPr wrap="square" lIns="0" tIns="0" rIns="0" bIns="0" rtlCol="0" anchor="ctr">
            <a:noAutofit/>
          </a:bodyPr>
          <a:lstStyle/>
          <a:p>
            <a:pPr indent="0" marL="0">
              <a:buNone/>
            </a:pPr>
            <a:r>
              <a:rPr lang="en-US" sz="1250" dirty="0">
                <a:solidFill>
                  <a:srgbClr val="CCD1D2"/>
                </a:solidFill>
                <a:latin typeface="Arial" pitchFamily="34" charset="0"/>
                <a:ea typeface="Arial" pitchFamily="34" charset="-122"/>
                <a:cs typeface="Arial" pitchFamily="34" charset="-120"/>
              </a:rPr>
              <a:t>Repair and accident mix</a:t>
            </a:r>
            <a:endParaRPr lang="en-US" sz="1250" dirty="0"/>
          </a:p>
        </p:txBody>
      </p:sp>
      <p:sp>
        <p:nvSpPr>
          <p:cNvPr id="32" name="Text 30"/>
          <p:cNvSpPr/>
          <p:nvPr/>
        </p:nvSpPr>
        <p:spPr>
          <a:xfrm>
            <a:off x="676656" y="5632704"/>
            <a:ext cx="10744200" cy="448056"/>
          </a:xfrm>
          <a:prstGeom prst="rect">
            <a:avLst/>
          </a:prstGeom>
          <a:noFill/>
          <a:ln/>
        </p:spPr>
        <p:txBody>
          <a:bodyPr wrap="square" lIns="0" tIns="0" rIns="0" bIns="0" rtlCol="0" anchor="ctr">
            <a:noAutofit/>
          </a:bodyPr>
          <a:lstStyle/>
          <a:p>
            <a:pPr indent="0" marL="0">
              <a:buNone/>
              <a:defRPr sz="1850"/>
            </a:pPr>
            <a:r>
              <a:rPr lang="en-US" sz="1850" b="1" dirty="0">
                <a:solidFill>
                  <a:srgbClr val="FFFFFF"/>
                </a:solidFill>
                <a:latin typeface="Arial" pitchFamily="34" charset="0"/>
                <a:ea typeface="Arial" pitchFamily="34" charset="-122"/>
                <a:cs typeface="Arial" pitchFamily="34" charset="-120"/>
              </a:rPr>
              <a:t>The opportunity is not to rename "Others". It is to reveal what we can sell differently.</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HOW WE BUILT AIM</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How we built AIM from existing parts information</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5+1: five original fields, reinforced by Japan's ZKK reference.</a:t>
            </a:r>
            <a:endParaRPr lang="en-US" sz="1800" dirty="0"/>
          </a:p>
        </p:txBody>
      </p:sp>
      <p:sp>
        <p:nvSpPr>
          <p:cNvPr id="6" name="Text 4"/>
          <p:cNvSpPr/>
          <p:nvPr/>
        </p:nvSpPr>
        <p:spPr>
          <a:xfrm>
            <a:off x="521208" y="6089904"/>
            <a:ext cx="10972800" cy="228600"/>
          </a:xfrm>
          <a:prstGeom prst="rect">
            <a:avLst/>
          </a:prstGeom>
          <a:noFill/>
          <a:ln/>
        </p:spPr>
        <p:txBody>
          <a:bodyPr wrap="square" lIns="0" tIns="0" rIns="0" bIns="0" rtlCol="0" anchor="ctr"/>
          <a:lstStyle/>
          <a:p>
            <a:pPr indent="0" marL="0">
              <a:buNone/>
            </a:pPr>
            <a:r>
              <a:rPr lang="en-US" sz="830" dirty="0">
                <a:solidFill>
                  <a:srgbClr val="626B72"/>
                </a:solidFill>
                <a:latin typeface="Arial" pitchFamily="34" charset="0"/>
                <a:ea typeface="Arial" pitchFamily="34" charset="-122"/>
                <a:cs typeface="Arial" pitchFamily="34" charset="-120"/>
              </a:rPr>
              <a:t>Basis: original classification paper and subsequent review, 20 Sep 2026. Evidence roles, not six equally weighted inputs.</a:t>
            </a:r>
            <a:endParaRPr lang="en-US" sz="830" dirty="0"/>
          </a:p>
        </p:txBody>
      </p:sp>
      <p:sp>
        <p:nvSpPr>
          <p:cNvPr id="7" name="Shape 5"/>
          <p:cNvSpPr/>
          <p:nvPr/>
        </p:nvSpPr>
        <p:spPr>
          <a:xfrm>
            <a:off x="502920" y="6419088"/>
            <a:ext cx="11183112" cy="0"/>
          </a:xfrm>
          <a:prstGeom prst="line">
            <a:avLst/>
          </a:prstGeom>
          <a:noFill/>
          <a:ln w="7620">
            <a:solidFill>
              <a:srgbClr val="DADDDC"/>
            </a:solidFill>
            <a:prstDash val="solid"/>
          </a:ln>
        </p:spPr>
      </p:sp>
      <p:sp>
        <p:nvSpPr>
          <p:cNvPr id="8" name="Text 6"/>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HOW WE BUILT AIM</a:t>
            </a:r>
            <a:endParaRPr lang="en-US" sz="820" dirty="0"/>
          </a:p>
        </p:txBody>
      </p:sp>
      <p:sp>
        <p:nvSpPr>
          <p:cNvPr id="10" name="Text 8"/>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05</a:t>
            </a:r>
            <a:endParaRPr lang="en-US" sz="1050" dirty="0"/>
          </a:p>
        </p:txBody>
      </p:sp>
      <p:sp>
        <p:nvSpPr>
          <p:cNvPr id="11" name="Shape 9"/>
          <p:cNvSpPr/>
          <p:nvPr/>
        </p:nvSpPr>
        <p:spPr>
          <a:xfrm>
            <a:off x="594360" y="2423160"/>
            <a:ext cx="2505456" cy="393192"/>
          </a:xfrm>
          <a:prstGeom prst="rect">
            <a:avLst/>
          </a:prstGeom>
          <a:solidFill>
            <a:srgbClr val="FFFFFF"/>
          </a:solidFill>
          <a:ln w="6350">
            <a:solidFill>
              <a:srgbClr val="FFFFFF"/>
            </a:solidFill>
            <a:prstDash val="solid"/>
          </a:ln>
        </p:spPr>
      </p:sp>
      <p:sp>
        <p:nvSpPr>
          <p:cNvPr id="12" name="Text 10"/>
          <p:cNvSpPr/>
          <p:nvPr/>
        </p:nvSpPr>
        <p:spPr>
          <a:xfrm>
            <a:off x="768096" y="2455164"/>
            <a:ext cx="2157984" cy="329184"/>
          </a:xfrm>
          <a:prstGeom prst="rect">
            <a:avLst/>
          </a:prstGeom>
          <a:noFill/>
          <a:ln/>
        </p:spPr>
        <p:txBody>
          <a:bodyPr wrap="square" lIns="0" tIns="0" rIns="0" bIns="0" rtlCol="0" anchor="ctr"/>
          <a:lstStyle/>
          <a:p>
            <a:pPr indent="0" marL="0">
              <a:buNone/>
            </a:pPr>
            <a:r>
              <a:rPr lang="en-US" sz="1950" b="1" dirty="0">
                <a:solidFill>
                  <a:srgbClr val="24282C"/>
                </a:solidFill>
                <a:latin typeface="Arial" pitchFamily="34" charset="0"/>
                <a:ea typeface="Arial" pitchFamily="34" charset="-122"/>
                <a:cs typeface="Arial" pitchFamily="34" charset="-120"/>
              </a:rPr>
              <a:t>Part number</a:t>
            </a:r>
            <a:endParaRPr lang="en-US" sz="1950" dirty="0"/>
          </a:p>
        </p:txBody>
      </p:sp>
      <p:sp>
        <p:nvSpPr>
          <p:cNvPr id="13" name="Text 11"/>
          <p:cNvSpPr/>
          <p:nvPr/>
        </p:nvSpPr>
        <p:spPr>
          <a:xfrm>
            <a:off x="3346704" y="2423160"/>
            <a:ext cx="8211312" cy="429768"/>
          </a:xfrm>
          <a:prstGeom prst="rect">
            <a:avLst/>
          </a:prstGeom>
          <a:noFill/>
          <a:ln/>
        </p:spPr>
        <p:txBody>
          <a:bodyPr wrap="square" lIns="0" tIns="0" rIns="0" bIns="0" rtlCol="0" anchor="ctr"/>
          <a:lstStyle/>
          <a:p>
            <a:pPr indent="0" marL="0">
              <a:buNone/>
            </a:pPr>
            <a:r>
              <a:rPr lang="en-US" sz="1900" dirty="0">
                <a:solidFill>
                  <a:srgbClr val="626B72"/>
                </a:solidFill>
                <a:latin typeface="Arial" pitchFamily="34" charset="0"/>
                <a:ea typeface="Arial" pitchFamily="34" charset="-122"/>
                <a:cs typeface="Arial" pitchFamily="34" charset="-120"/>
              </a:rPr>
              <a:t>Connect the item across references and sales.</a:t>
            </a:r>
            <a:endParaRPr lang="en-US" sz="1900" dirty="0"/>
          </a:p>
        </p:txBody>
      </p:sp>
      <p:sp>
        <p:nvSpPr>
          <p:cNvPr id="14" name="Shape 12"/>
          <p:cNvSpPr/>
          <p:nvPr/>
        </p:nvSpPr>
        <p:spPr>
          <a:xfrm>
            <a:off x="3346704" y="2871216"/>
            <a:ext cx="8193024" cy="0"/>
          </a:xfrm>
          <a:prstGeom prst="line">
            <a:avLst/>
          </a:prstGeom>
          <a:noFill/>
          <a:ln w="7620">
            <a:solidFill>
              <a:srgbClr val="DADDDC"/>
            </a:solidFill>
            <a:prstDash val="solid"/>
          </a:ln>
        </p:spPr>
      </p:sp>
      <p:sp>
        <p:nvSpPr>
          <p:cNvPr id="15" name="Shape 13"/>
          <p:cNvSpPr/>
          <p:nvPr/>
        </p:nvSpPr>
        <p:spPr>
          <a:xfrm>
            <a:off x="594360" y="2912364"/>
            <a:ext cx="2505456" cy="393192"/>
          </a:xfrm>
          <a:prstGeom prst="rect">
            <a:avLst/>
          </a:prstGeom>
          <a:solidFill>
            <a:srgbClr val="FFFFFF"/>
          </a:solidFill>
          <a:ln w="6350">
            <a:solidFill>
              <a:srgbClr val="FFFFFF"/>
            </a:solidFill>
            <a:prstDash val="solid"/>
          </a:ln>
        </p:spPr>
      </p:sp>
      <p:sp>
        <p:nvSpPr>
          <p:cNvPr id="16" name="Text 14"/>
          <p:cNvSpPr/>
          <p:nvPr/>
        </p:nvSpPr>
        <p:spPr>
          <a:xfrm>
            <a:off x="768096" y="2944368"/>
            <a:ext cx="2157984" cy="329184"/>
          </a:xfrm>
          <a:prstGeom prst="rect">
            <a:avLst/>
          </a:prstGeom>
          <a:noFill/>
          <a:ln/>
        </p:spPr>
        <p:txBody>
          <a:bodyPr wrap="square" lIns="0" tIns="0" rIns="0" bIns="0" rtlCol="0" anchor="ctr"/>
          <a:lstStyle/>
          <a:p>
            <a:pPr indent="0" marL="0">
              <a:buNone/>
            </a:pPr>
            <a:r>
              <a:rPr lang="en-US" sz="1950" b="1" dirty="0">
                <a:solidFill>
                  <a:srgbClr val="24282C"/>
                </a:solidFill>
                <a:latin typeface="Arial" pitchFamily="34" charset="0"/>
                <a:ea typeface="Arial" pitchFamily="34" charset="-122"/>
                <a:cs typeface="Arial" pitchFamily="34" charset="-120"/>
              </a:rPr>
              <a:t>Description</a:t>
            </a:r>
            <a:endParaRPr lang="en-US" sz="1950" dirty="0"/>
          </a:p>
        </p:txBody>
      </p:sp>
      <p:sp>
        <p:nvSpPr>
          <p:cNvPr id="17" name="Text 15"/>
          <p:cNvSpPr/>
          <p:nvPr/>
        </p:nvSpPr>
        <p:spPr>
          <a:xfrm>
            <a:off x="3346704" y="2912364"/>
            <a:ext cx="8211312" cy="429768"/>
          </a:xfrm>
          <a:prstGeom prst="rect">
            <a:avLst/>
          </a:prstGeom>
          <a:noFill/>
          <a:ln/>
        </p:spPr>
        <p:txBody>
          <a:bodyPr wrap="square" lIns="0" tIns="0" rIns="0" bIns="0" rtlCol="0" anchor="ctr"/>
          <a:lstStyle/>
          <a:p>
            <a:pPr indent="0" marL="0">
              <a:buNone/>
            </a:pPr>
            <a:r>
              <a:rPr lang="en-US" sz="1900" dirty="0">
                <a:solidFill>
                  <a:srgbClr val="626B72"/>
                </a:solidFill>
                <a:latin typeface="Arial" pitchFamily="34" charset="0"/>
                <a:ea typeface="Arial" pitchFamily="34" charset="-122"/>
                <a:cs typeface="Arial" pitchFamily="34" charset="-120"/>
              </a:rPr>
              <a:t>Propose the product type; keep component and kit distinctions.</a:t>
            </a:r>
            <a:endParaRPr lang="en-US" sz="1900" dirty="0"/>
          </a:p>
        </p:txBody>
      </p:sp>
      <p:sp>
        <p:nvSpPr>
          <p:cNvPr id="18" name="Shape 16"/>
          <p:cNvSpPr/>
          <p:nvPr/>
        </p:nvSpPr>
        <p:spPr>
          <a:xfrm>
            <a:off x="3346704" y="3360420"/>
            <a:ext cx="8193024" cy="0"/>
          </a:xfrm>
          <a:prstGeom prst="line">
            <a:avLst/>
          </a:prstGeom>
          <a:noFill/>
          <a:ln w="7620">
            <a:solidFill>
              <a:srgbClr val="DADDDC"/>
            </a:solidFill>
            <a:prstDash val="solid"/>
          </a:ln>
        </p:spPr>
      </p:sp>
      <p:sp>
        <p:nvSpPr>
          <p:cNvPr id="19" name="Shape 17"/>
          <p:cNvSpPr/>
          <p:nvPr/>
        </p:nvSpPr>
        <p:spPr>
          <a:xfrm>
            <a:off x="594360" y="3401568"/>
            <a:ext cx="2505456" cy="393192"/>
          </a:xfrm>
          <a:prstGeom prst="rect">
            <a:avLst/>
          </a:prstGeom>
          <a:solidFill>
            <a:srgbClr val="FFFFFF"/>
          </a:solidFill>
          <a:ln w="6350">
            <a:solidFill>
              <a:srgbClr val="FFFFFF"/>
            </a:solidFill>
            <a:prstDash val="solid"/>
          </a:ln>
        </p:spPr>
      </p:sp>
      <p:sp>
        <p:nvSpPr>
          <p:cNvPr id="20" name="Text 18"/>
          <p:cNvSpPr/>
          <p:nvPr/>
        </p:nvSpPr>
        <p:spPr>
          <a:xfrm>
            <a:off x="768096" y="3433572"/>
            <a:ext cx="2157984" cy="329184"/>
          </a:xfrm>
          <a:prstGeom prst="rect">
            <a:avLst/>
          </a:prstGeom>
          <a:noFill/>
          <a:ln/>
        </p:spPr>
        <p:txBody>
          <a:bodyPr wrap="square" lIns="0" tIns="0" rIns="0" bIns="0" rtlCol="0" anchor="ctr"/>
          <a:lstStyle/>
          <a:p>
            <a:pPr indent="0" marL="0">
              <a:buNone/>
            </a:pPr>
            <a:r>
              <a:rPr lang="en-US" sz="1950" b="1" dirty="0">
                <a:solidFill>
                  <a:srgbClr val="24282C"/>
                </a:solidFill>
                <a:latin typeface="Arial" pitchFamily="34" charset="0"/>
                <a:ea typeface="Arial" pitchFamily="34" charset="-122"/>
                <a:cs typeface="Arial" pitchFamily="34" charset="-120"/>
              </a:rPr>
              <a:t>Catalogue figure</a:t>
            </a:r>
            <a:endParaRPr lang="en-US" sz="1950" dirty="0"/>
          </a:p>
        </p:txBody>
      </p:sp>
      <p:sp>
        <p:nvSpPr>
          <p:cNvPr id="21" name="Text 19"/>
          <p:cNvSpPr/>
          <p:nvPr/>
        </p:nvSpPr>
        <p:spPr>
          <a:xfrm>
            <a:off x="3346704" y="3401568"/>
            <a:ext cx="8211312" cy="429768"/>
          </a:xfrm>
          <a:prstGeom prst="rect">
            <a:avLst/>
          </a:prstGeom>
          <a:noFill/>
          <a:ln/>
        </p:spPr>
        <p:txBody>
          <a:bodyPr wrap="square" lIns="0" tIns="0" rIns="0" bIns="0" rtlCol="0" anchor="ctr"/>
          <a:lstStyle/>
          <a:p>
            <a:pPr indent="0" marL="0">
              <a:buNone/>
            </a:pPr>
            <a:r>
              <a:rPr lang="en-US" sz="1900" dirty="0">
                <a:solidFill>
                  <a:srgbClr val="626B72"/>
                </a:solidFill>
                <a:latin typeface="Arial" pitchFamily="34" charset="0"/>
                <a:ea typeface="Arial" pitchFamily="34" charset="-122"/>
                <a:cs typeface="Arial" pitchFamily="34" charset="-120"/>
              </a:rPr>
              <a:t>Check the technical context and investigate ambiguity.</a:t>
            </a:r>
            <a:endParaRPr lang="en-US" sz="1900" dirty="0"/>
          </a:p>
        </p:txBody>
      </p:sp>
      <p:sp>
        <p:nvSpPr>
          <p:cNvPr id="22" name="Shape 20"/>
          <p:cNvSpPr/>
          <p:nvPr/>
        </p:nvSpPr>
        <p:spPr>
          <a:xfrm>
            <a:off x="3346704" y="3849624"/>
            <a:ext cx="8193024" cy="0"/>
          </a:xfrm>
          <a:prstGeom prst="line">
            <a:avLst/>
          </a:prstGeom>
          <a:noFill/>
          <a:ln w="7620">
            <a:solidFill>
              <a:srgbClr val="DADDDC"/>
            </a:solidFill>
            <a:prstDash val="solid"/>
          </a:ln>
        </p:spPr>
      </p:sp>
      <p:sp>
        <p:nvSpPr>
          <p:cNvPr id="23" name="Shape 21"/>
          <p:cNvSpPr/>
          <p:nvPr/>
        </p:nvSpPr>
        <p:spPr>
          <a:xfrm>
            <a:off x="594360" y="3890772"/>
            <a:ext cx="2505456" cy="393192"/>
          </a:xfrm>
          <a:prstGeom prst="rect">
            <a:avLst/>
          </a:prstGeom>
          <a:solidFill>
            <a:srgbClr val="FFFFFF"/>
          </a:solidFill>
          <a:ln w="6350">
            <a:solidFill>
              <a:srgbClr val="FFFFFF"/>
            </a:solidFill>
            <a:prstDash val="solid"/>
          </a:ln>
        </p:spPr>
      </p:sp>
      <p:sp>
        <p:nvSpPr>
          <p:cNvPr id="24" name="Text 22"/>
          <p:cNvSpPr/>
          <p:nvPr/>
        </p:nvSpPr>
        <p:spPr>
          <a:xfrm>
            <a:off x="768096" y="3922776"/>
            <a:ext cx="2157984" cy="329184"/>
          </a:xfrm>
          <a:prstGeom prst="rect">
            <a:avLst/>
          </a:prstGeom>
          <a:noFill/>
          <a:ln/>
        </p:spPr>
        <p:txBody>
          <a:bodyPr wrap="square" lIns="0" tIns="0" rIns="0" bIns="0" rtlCol="0" anchor="ctr"/>
          <a:lstStyle/>
          <a:p>
            <a:pPr indent="0" marL="0">
              <a:buNone/>
            </a:pPr>
            <a:r>
              <a:rPr lang="en-US" sz="1950" b="1" dirty="0">
                <a:solidFill>
                  <a:srgbClr val="24282C"/>
                </a:solidFill>
                <a:latin typeface="Arial" pitchFamily="34" charset="0"/>
                <a:ea typeface="Arial" pitchFamily="34" charset="-122"/>
                <a:cs typeface="Arial" pitchFamily="34" charset="-120"/>
              </a:rPr>
              <a:t>Customs code</a:t>
            </a:r>
            <a:endParaRPr lang="en-US" sz="1950" dirty="0"/>
          </a:p>
        </p:txBody>
      </p:sp>
      <p:sp>
        <p:nvSpPr>
          <p:cNvPr id="25" name="Text 23"/>
          <p:cNvSpPr/>
          <p:nvPr/>
        </p:nvSpPr>
        <p:spPr>
          <a:xfrm>
            <a:off x="3346704" y="3890772"/>
            <a:ext cx="8211312" cy="429768"/>
          </a:xfrm>
          <a:prstGeom prst="rect">
            <a:avLst/>
          </a:prstGeom>
          <a:noFill/>
          <a:ln/>
        </p:spPr>
        <p:txBody>
          <a:bodyPr wrap="square" lIns="0" tIns="0" rIns="0" bIns="0" rtlCol="0" anchor="ctr"/>
          <a:lstStyle/>
          <a:p>
            <a:pPr indent="0" marL="0">
              <a:buNone/>
            </a:pPr>
            <a:r>
              <a:rPr lang="en-US" sz="1900" dirty="0">
                <a:solidFill>
                  <a:srgbClr val="626B72"/>
                </a:solidFill>
                <a:latin typeface="Arial" pitchFamily="34" charset="0"/>
                <a:ea typeface="Arial" pitchFamily="34" charset="-122"/>
                <a:cs typeface="Arial" pitchFamily="34" charset="-120"/>
              </a:rPr>
              <a:t>Check the broad grouping and flag inconsistencies.</a:t>
            </a:r>
            <a:endParaRPr lang="en-US" sz="1900" dirty="0"/>
          </a:p>
        </p:txBody>
      </p:sp>
      <p:sp>
        <p:nvSpPr>
          <p:cNvPr id="26" name="Shape 24"/>
          <p:cNvSpPr/>
          <p:nvPr/>
        </p:nvSpPr>
        <p:spPr>
          <a:xfrm>
            <a:off x="3346704" y="4338828"/>
            <a:ext cx="8193024" cy="0"/>
          </a:xfrm>
          <a:prstGeom prst="line">
            <a:avLst/>
          </a:prstGeom>
          <a:noFill/>
          <a:ln w="7620">
            <a:solidFill>
              <a:srgbClr val="DADDDC"/>
            </a:solidFill>
            <a:prstDash val="solid"/>
          </a:ln>
        </p:spPr>
      </p:sp>
      <p:sp>
        <p:nvSpPr>
          <p:cNvPr id="27" name="Shape 25"/>
          <p:cNvSpPr/>
          <p:nvPr/>
        </p:nvSpPr>
        <p:spPr>
          <a:xfrm>
            <a:off x="594360" y="4379976"/>
            <a:ext cx="2505456" cy="393192"/>
          </a:xfrm>
          <a:prstGeom prst="rect">
            <a:avLst/>
          </a:prstGeom>
          <a:solidFill>
            <a:srgbClr val="FFFFFF"/>
          </a:solidFill>
          <a:ln w="6350">
            <a:solidFill>
              <a:srgbClr val="FFFFFF"/>
            </a:solidFill>
            <a:prstDash val="solid"/>
          </a:ln>
        </p:spPr>
      </p:sp>
      <p:sp>
        <p:nvSpPr>
          <p:cNvPr id="28" name="Text 26"/>
          <p:cNvSpPr/>
          <p:nvPr/>
        </p:nvSpPr>
        <p:spPr>
          <a:xfrm>
            <a:off x="768096" y="4411980"/>
            <a:ext cx="2157984" cy="329184"/>
          </a:xfrm>
          <a:prstGeom prst="rect">
            <a:avLst/>
          </a:prstGeom>
          <a:noFill/>
          <a:ln/>
        </p:spPr>
        <p:txBody>
          <a:bodyPr wrap="square" lIns="0" tIns="0" rIns="0" bIns="0" rtlCol="0" anchor="ctr"/>
          <a:lstStyle/>
          <a:p>
            <a:pPr indent="0" marL="0">
              <a:buNone/>
            </a:pPr>
            <a:r>
              <a:rPr lang="en-US" sz="1950" b="1" dirty="0">
                <a:solidFill>
                  <a:srgbClr val="24282C"/>
                </a:solidFill>
                <a:latin typeface="Arial" pitchFamily="34" charset="0"/>
                <a:ea typeface="Arial" pitchFamily="34" charset="-122"/>
                <a:cs typeface="Arial" pitchFamily="34" charset="-120"/>
              </a:rPr>
              <a:t>Price</a:t>
            </a:r>
            <a:endParaRPr lang="en-US" sz="1950" dirty="0"/>
          </a:p>
        </p:txBody>
      </p:sp>
      <p:sp>
        <p:nvSpPr>
          <p:cNvPr id="29" name="Text 27"/>
          <p:cNvSpPr/>
          <p:nvPr/>
        </p:nvSpPr>
        <p:spPr>
          <a:xfrm>
            <a:off x="3346704" y="4379976"/>
            <a:ext cx="8211312" cy="429768"/>
          </a:xfrm>
          <a:prstGeom prst="rect">
            <a:avLst/>
          </a:prstGeom>
          <a:noFill/>
          <a:ln/>
        </p:spPr>
        <p:txBody>
          <a:bodyPr wrap="square" lIns="0" tIns="0" rIns="0" bIns="0" rtlCol="0" anchor="ctr"/>
          <a:lstStyle/>
          <a:p>
            <a:pPr indent="0" marL="0">
              <a:buNone/>
            </a:pPr>
            <a:r>
              <a:rPr lang="en-US" sz="1900" dirty="0">
                <a:solidFill>
                  <a:srgbClr val="626B72"/>
                </a:solidFill>
                <a:latin typeface="Arial" pitchFamily="34" charset="0"/>
                <a:ea typeface="Arial" pitchFamily="34" charset="-122"/>
                <a:cs typeface="Arial" pitchFamily="34" charset="-120"/>
              </a:rPr>
              <a:t>Review economic spread, not physical identity.</a:t>
            </a:r>
            <a:endParaRPr lang="en-US" sz="1900" dirty="0"/>
          </a:p>
        </p:txBody>
      </p:sp>
      <p:sp>
        <p:nvSpPr>
          <p:cNvPr id="30" name="Shape 28"/>
          <p:cNvSpPr/>
          <p:nvPr/>
        </p:nvSpPr>
        <p:spPr>
          <a:xfrm>
            <a:off x="3346704" y="4828032"/>
            <a:ext cx="8193024" cy="0"/>
          </a:xfrm>
          <a:prstGeom prst="line">
            <a:avLst/>
          </a:prstGeom>
          <a:noFill/>
          <a:ln w="7620">
            <a:solidFill>
              <a:srgbClr val="DADDDC"/>
            </a:solidFill>
            <a:prstDash val="solid"/>
          </a:ln>
        </p:spPr>
      </p:sp>
      <p:sp>
        <p:nvSpPr>
          <p:cNvPr id="31" name="Shape 29"/>
          <p:cNvSpPr/>
          <p:nvPr/>
        </p:nvSpPr>
        <p:spPr>
          <a:xfrm>
            <a:off x="594360" y="4869180"/>
            <a:ext cx="2505456" cy="393192"/>
          </a:xfrm>
          <a:prstGeom prst="rect">
            <a:avLst/>
          </a:prstGeom>
          <a:solidFill>
            <a:srgbClr val="E30613"/>
          </a:solidFill>
          <a:ln w="6350">
            <a:solidFill>
              <a:srgbClr val="E30613"/>
            </a:solidFill>
            <a:prstDash val="solid"/>
          </a:ln>
        </p:spPr>
      </p:sp>
      <p:sp>
        <p:nvSpPr>
          <p:cNvPr id="32" name="Text 30"/>
          <p:cNvSpPr/>
          <p:nvPr/>
        </p:nvSpPr>
        <p:spPr>
          <a:xfrm>
            <a:off x="768096" y="4901184"/>
            <a:ext cx="2157984" cy="329184"/>
          </a:xfrm>
          <a:prstGeom prst="rect">
            <a:avLst/>
          </a:prstGeom>
          <a:noFill/>
          <a:ln/>
        </p:spPr>
        <p:txBody>
          <a:bodyPr wrap="square" lIns="0" tIns="0" rIns="0" bIns="0" rtlCol="0" anchor="ctr"/>
          <a:lstStyle/>
          <a:p>
            <a:pPr indent="0" marL="0">
              <a:buNone/>
            </a:pPr>
            <a:r>
              <a:rPr lang="en-US" sz="1950" b="1" dirty="0">
                <a:solidFill>
                  <a:srgbClr val="FFFFFF"/>
                </a:solidFill>
                <a:latin typeface="Arial" pitchFamily="34" charset="0"/>
                <a:ea typeface="Arial" pitchFamily="34" charset="-122"/>
                <a:cs typeface="Arial" pitchFamily="34" charset="-120"/>
              </a:rPr>
              <a:t>+ ZKK</a:t>
            </a:r>
            <a:endParaRPr lang="en-US" sz="1950" dirty="0"/>
          </a:p>
        </p:txBody>
      </p:sp>
      <p:sp>
        <p:nvSpPr>
          <p:cNvPr id="33" name="Text 31"/>
          <p:cNvSpPr/>
          <p:nvPr/>
        </p:nvSpPr>
        <p:spPr>
          <a:xfrm>
            <a:off x="3346704" y="4869180"/>
            <a:ext cx="8211312" cy="429768"/>
          </a:xfrm>
          <a:prstGeom prst="rect">
            <a:avLst/>
          </a:prstGeom>
          <a:noFill/>
          <a:ln/>
        </p:spPr>
        <p:txBody>
          <a:bodyPr wrap="square" lIns="0" tIns="0" rIns="0" bIns="0" rtlCol="0" anchor="ctr"/>
          <a:lstStyle/>
          <a:p>
            <a:pPr indent="0" marL="0">
              <a:buNone/>
            </a:pPr>
            <a:r>
              <a:rPr lang="en-US" sz="1900" dirty="0">
                <a:solidFill>
                  <a:srgbClr val="626B72"/>
                </a:solidFill>
                <a:latin typeface="Arial" pitchFamily="34" charset="0"/>
                <a:ea typeface="Arial" pitchFamily="34" charset="-122"/>
                <a:cs typeface="Arial" pitchFamily="34" charset="-120"/>
              </a:rPr>
              <a:t>Reinforce the review; retain the original Japanese code.</a:t>
            </a:r>
            <a:endParaRPr lang="en-US" sz="1900" dirty="0"/>
          </a:p>
        </p:txBody>
      </p:sp>
      <p:sp>
        <p:nvSpPr>
          <p:cNvPr id="34" name="Shape 32"/>
          <p:cNvSpPr/>
          <p:nvPr/>
        </p:nvSpPr>
        <p:spPr>
          <a:xfrm>
            <a:off x="502920" y="5541264"/>
            <a:ext cx="11183112" cy="457200"/>
          </a:xfrm>
          <a:prstGeom prst="rect">
            <a:avLst/>
          </a:prstGeom>
          <a:solidFill>
            <a:srgbClr val="F9E9E8"/>
          </a:solidFill>
          <a:ln w="6350">
            <a:solidFill>
              <a:srgbClr val="F9E9E8"/>
            </a:solidFill>
            <a:prstDash val="solid"/>
          </a:ln>
        </p:spPr>
      </p:sp>
      <p:sp>
        <p:nvSpPr>
          <p:cNvPr id="35" name="Text 33"/>
          <p:cNvSpPr/>
          <p:nvPr/>
        </p:nvSpPr>
        <p:spPr>
          <a:xfrm>
            <a:off x="685800" y="5605272"/>
            <a:ext cx="10799064" cy="347472"/>
          </a:xfrm>
          <a:prstGeom prst="rect">
            <a:avLst/>
          </a:prstGeom>
          <a:noFill/>
          <a:ln/>
        </p:spPr>
        <p:txBody>
          <a:bodyPr wrap="square" lIns="0" tIns="0" rIns="0" bIns="0" rtlCol="0" anchor="ctr"/>
          <a:lstStyle/>
          <a:p>
            <a:pPr indent="0" marL="0">
              <a:buNone/>
            </a:pPr>
            <a:r>
              <a:rPr lang="en-US" sz="1750" b="1" dirty="0">
                <a:solidFill>
                  <a:srgbClr val="24282C"/>
                </a:solidFill>
                <a:latin typeface="Arial" pitchFamily="34" charset="0"/>
                <a:ea typeface="Arial" pitchFamily="34" charset="-122"/>
                <a:cs typeface="Arial" pitchFamily="34" charset="-120"/>
              </a:rPr>
              <a:t>Developed from existing parts information, then checked and refined around each part.</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FROM INFORMATION TO CLASSIFICATION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From a source description to an accepted classification</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The references help resolve the product identity; unresolved detail stays visible.</a:t>
            </a:r>
            <a:endParaRPr lang="en-US" sz="1800" dirty="0"/>
          </a:p>
        </p:txBody>
      </p:sp>
      <p:sp>
        <p:nvSpPr>
          <p:cNvPr id="6" name="Shape 4"/>
          <p:cNvSpPr/>
          <p:nvPr/>
        </p:nvSpPr>
        <p:spPr>
          <a:xfrm>
            <a:off x="502920" y="6419088"/>
            <a:ext cx="11183112" cy="0"/>
          </a:xfrm>
          <a:prstGeom prst="line">
            <a:avLst/>
          </a:prstGeom>
          <a:noFill/>
          <a:ln w="7620">
            <a:solidFill>
              <a:srgbClr val="DADDDC"/>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FROM INFORMATION TO CLASSIFICATION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06</a:t>
            </a:r>
            <a:endParaRPr lang="en-US" sz="1050" dirty="0"/>
          </a:p>
        </p:txBody>
      </p:sp>
      <p:sp>
        <p:nvSpPr>
          <p:cNvPr id="10" name="Shape 8"/>
          <p:cNvSpPr/>
          <p:nvPr/>
        </p:nvSpPr>
        <p:spPr>
          <a:xfrm>
            <a:off x="566928" y="2468880"/>
            <a:ext cx="2084832" cy="1271016"/>
          </a:xfrm>
          <a:prstGeom prst="rect">
            <a:avLst/>
          </a:prstGeom>
          <a:solidFill>
            <a:srgbClr val="FFFFFF"/>
          </a:solidFill>
          <a:ln w="6350">
            <a:solidFill>
              <a:srgbClr val="FFFFFF"/>
            </a:solidFill>
            <a:prstDash val="solid"/>
          </a:ln>
        </p:spPr>
      </p:sp>
      <p:sp>
        <p:nvSpPr>
          <p:cNvPr id="11" name="Text 9"/>
          <p:cNvSpPr/>
          <p:nvPr/>
        </p:nvSpPr>
        <p:spPr>
          <a:xfrm>
            <a:off x="704088" y="2642616"/>
            <a:ext cx="1810512" cy="329184"/>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Read</a:t>
            </a:r>
            <a:endParaRPr lang="en-US" sz="2100" dirty="0"/>
          </a:p>
        </p:txBody>
      </p:sp>
      <p:sp>
        <p:nvSpPr>
          <p:cNvPr id="12" name="Text 10"/>
          <p:cNvSpPr/>
          <p:nvPr/>
        </p:nvSpPr>
        <p:spPr>
          <a:xfrm>
            <a:off x="704088" y="3099816"/>
            <a:ext cx="1810512" cy="493776"/>
          </a:xfrm>
          <a:prstGeom prst="rect">
            <a:avLst/>
          </a:prstGeom>
          <a:noFill/>
          <a:ln/>
        </p:spPr>
        <p:txBody>
          <a:bodyPr wrap="square" lIns="0" tIns="0" rIns="0" bIns="0" rtlCol="0" anchor="ctr"/>
          <a:lstStyle/>
          <a:p>
            <a:pPr indent="0" marL="0">
              <a:buNone/>
            </a:pPr>
            <a:r>
              <a:rPr lang="en-US" sz="1650" dirty="0">
                <a:solidFill>
                  <a:srgbClr val="626B72"/>
                </a:solidFill>
                <a:latin typeface="Arial" pitchFamily="34" charset="0"/>
                <a:ea typeface="Arial" pitchFamily="34" charset="-122"/>
                <a:cs typeface="Arial" pitchFamily="34" charset="-120"/>
              </a:rPr>
              <a:t>Identify the item</a:t>
            </a:r>
            <a:endParaRPr lang="en-US" sz="1650" dirty="0"/>
          </a:p>
          <a:p>
            <a:pPr indent="0" marL="0">
              <a:buNone/>
            </a:pPr>
            <a:r>
              <a:rPr lang="en-US" sz="1650" dirty="0">
                <a:solidFill>
                  <a:srgbClr val="626B72"/>
                </a:solidFill>
                <a:latin typeface="Arial" pitchFamily="34" charset="0"/>
                <a:ea typeface="Arial" pitchFamily="34" charset="-122"/>
                <a:cs typeface="Arial" pitchFamily="34" charset="-120"/>
              </a:rPr>
              <a:t>and its qualifiers.</a:t>
            </a:r>
            <a:endParaRPr lang="en-US" sz="1650" dirty="0"/>
          </a:p>
        </p:txBody>
      </p:sp>
      <p:sp>
        <p:nvSpPr>
          <p:cNvPr id="13" name="Shape 11"/>
          <p:cNvSpPr/>
          <p:nvPr/>
        </p:nvSpPr>
        <p:spPr>
          <a:xfrm>
            <a:off x="2688336" y="3072384"/>
            <a:ext cx="137160" cy="0"/>
          </a:xfrm>
          <a:prstGeom prst="line">
            <a:avLst/>
          </a:prstGeom>
          <a:noFill/>
          <a:ln w="17780">
            <a:solidFill>
              <a:srgbClr val="E30613"/>
            </a:solidFill>
            <a:prstDash val="solid"/>
            <a:headEnd type="none"/>
            <a:tailEnd type="triangle"/>
          </a:ln>
        </p:spPr>
      </p:sp>
      <p:sp>
        <p:nvSpPr>
          <p:cNvPr id="14" name="Shape 12"/>
          <p:cNvSpPr/>
          <p:nvPr/>
        </p:nvSpPr>
        <p:spPr>
          <a:xfrm>
            <a:off x="2889504" y="2468880"/>
            <a:ext cx="2084832" cy="1271016"/>
          </a:xfrm>
          <a:prstGeom prst="rect">
            <a:avLst/>
          </a:prstGeom>
          <a:solidFill>
            <a:srgbClr val="FFFFFF"/>
          </a:solidFill>
          <a:ln w="6350">
            <a:solidFill>
              <a:srgbClr val="FFFFFF"/>
            </a:solidFill>
            <a:prstDash val="solid"/>
          </a:ln>
        </p:spPr>
      </p:sp>
      <p:sp>
        <p:nvSpPr>
          <p:cNvPr id="15" name="Text 13"/>
          <p:cNvSpPr/>
          <p:nvPr/>
        </p:nvSpPr>
        <p:spPr>
          <a:xfrm>
            <a:off x="3026664" y="2642616"/>
            <a:ext cx="1810512" cy="329184"/>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Propose</a:t>
            </a:r>
            <a:endParaRPr lang="en-US" sz="2100" dirty="0"/>
          </a:p>
        </p:txBody>
      </p:sp>
      <p:sp>
        <p:nvSpPr>
          <p:cNvPr id="16" name="Text 14"/>
          <p:cNvSpPr/>
          <p:nvPr/>
        </p:nvSpPr>
        <p:spPr>
          <a:xfrm>
            <a:off x="3026664" y="3099816"/>
            <a:ext cx="1810512" cy="493776"/>
          </a:xfrm>
          <a:prstGeom prst="rect">
            <a:avLst/>
          </a:prstGeom>
          <a:noFill/>
          <a:ln/>
        </p:spPr>
        <p:txBody>
          <a:bodyPr wrap="square" lIns="0" tIns="0" rIns="0" bIns="0" rtlCol="0" anchor="ctr"/>
          <a:lstStyle/>
          <a:p>
            <a:pPr indent="0" marL="0">
              <a:buNone/>
            </a:pPr>
            <a:r>
              <a:rPr lang="en-US" sz="1650" dirty="0">
                <a:solidFill>
                  <a:srgbClr val="626B72"/>
                </a:solidFill>
                <a:latin typeface="Arial" pitchFamily="34" charset="0"/>
                <a:ea typeface="Arial" pitchFamily="34" charset="-122"/>
                <a:cs typeface="Arial" pitchFamily="34" charset="-120"/>
              </a:rPr>
              <a:t>Assign a family,</a:t>
            </a:r>
            <a:endParaRPr lang="en-US" sz="1650" dirty="0"/>
          </a:p>
          <a:p>
            <a:pPr indent="0" marL="0">
              <a:buNone/>
            </a:pPr>
            <a:r>
              <a:rPr lang="en-US" sz="1650" dirty="0">
                <a:solidFill>
                  <a:srgbClr val="626B72"/>
                </a:solidFill>
                <a:latin typeface="Arial" pitchFamily="34" charset="0"/>
                <a:ea typeface="Arial" pitchFamily="34" charset="-122"/>
                <a:cs typeface="Arial" pitchFamily="34" charset="-120"/>
              </a:rPr>
              <a:t>group and type.</a:t>
            </a:r>
            <a:endParaRPr lang="en-US" sz="1650" dirty="0"/>
          </a:p>
        </p:txBody>
      </p:sp>
      <p:sp>
        <p:nvSpPr>
          <p:cNvPr id="17" name="Shape 15"/>
          <p:cNvSpPr/>
          <p:nvPr/>
        </p:nvSpPr>
        <p:spPr>
          <a:xfrm>
            <a:off x="5010912" y="3072384"/>
            <a:ext cx="137160" cy="0"/>
          </a:xfrm>
          <a:prstGeom prst="line">
            <a:avLst/>
          </a:prstGeom>
          <a:noFill/>
          <a:ln w="17780">
            <a:solidFill>
              <a:srgbClr val="E30613"/>
            </a:solidFill>
            <a:prstDash val="solid"/>
            <a:headEnd type="none"/>
            <a:tailEnd type="triangle"/>
          </a:ln>
        </p:spPr>
      </p:sp>
      <p:sp>
        <p:nvSpPr>
          <p:cNvPr id="18" name="Shape 16"/>
          <p:cNvSpPr/>
          <p:nvPr/>
        </p:nvSpPr>
        <p:spPr>
          <a:xfrm>
            <a:off x="5212080" y="2468880"/>
            <a:ext cx="2084832" cy="1271016"/>
          </a:xfrm>
          <a:prstGeom prst="rect">
            <a:avLst/>
          </a:prstGeom>
          <a:solidFill>
            <a:srgbClr val="FFFFFF"/>
          </a:solidFill>
          <a:ln w="6350">
            <a:solidFill>
              <a:srgbClr val="FFFFFF"/>
            </a:solidFill>
            <a:prstDash val="solid"/>
          </a:ln>
        </p:spPr>
      </p:sp>
      <p:sp>
        <p:nvSpPr>
          <p:cNvPr id="19" name="Text 17"/>
          <p:cNvSpPr/>
          <p:nvPr/>
        </p:nvSpPr>
        <p:spPr>
          <a:xfrm>
            <a:off x="5349240" y="2642616"/>
            <a:ext cx="1810512" cy="329184"/>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Cross-check</a:t>
            </a:r>
            <a:endParaRPr lang="en-US" sz="2100" dirty="0"/>
          </a:p>
        </p:txBody>
      </p:sp>
      <p:sp>
        <p:nvSpPr>
          <p:cNvPr id="20" name="Text 18"/>
          <p:cNvSpPr/>
          <p:nvPr/>
        </p:nvSpPr>
        <p:spPr>
          <a:xfrm>
            <a:off x="5349240" y="3099816"/>
            <a:ext cx="1810512" cy="493776"/>
          </a:xfrm>
          <a:prstGeom prst="rect">
            <a:avLst/>
          </a:prstGeom>
          <a:noFill/>
          <a:ln/>
        </p:spPr>
        <p:txBody>
          <a:bodyPr wrap="square" lIns="0" tIns="0" rIns="0" bIns="0" rtlCol="0" anchor="ctr"/>
          <a:lstStyle/>
          <a:p>
            <a:pPr indent="0" marL="0">
              <a:buNone/>
            </a:pPr>
            <a:r>
              <a:rPr lang="en-US" sz="1650" dirty="0">
                <a:solidFill>
                  <a:srgbClr val="626B72"/>
                </a:solidFill>
                <a:latin typeface="Arial" pitchFamily="34" charset="0"/>
                <a:ea typeface="Arial" pitchFamily="34" charset="-122"/>
                <a:cs typeface="Arial" pitchFamily="34" charset="-120"/>
              </a:rPr>
              <a:t>Check catalogue</a:t>
            </a:r>
            <a:endParaRPr lang="en-US" sz="1650" dirty="0"/>
          </a:p>
          <a:p>
            <a:pPr indent="0" marL="0">
              <a:buNone/>
            </a:pPr>
            <a:r>
              <a:rPr lang="en-US" sz="1650" dirty="0">
                <a:solidFill>
                  <a:srgbClr val="626B72"/>
                </a:solidFill>
                <a:latin typeface="Arial" pitchFamily="34" charset="0"/>
                <a:ea typeface="Arial" pitchFamily="34" charset="-122"/>
                <a:cs typeface="Arial" pitchFamily="34" charset="-120"/>
              </a:rPr>
              <a:t>and reference data.</a:t>
            </a:r>
            <a:endParaRPr lang="en-US" sz="1650" dirty="0"/>
          </a:p>
        </p:txBody>
      </p:sp>
      <p:sp>
        <p:nvSpPr>
          <p:cNvPr id="21" name="Shape 19"/>
          <p:cNvSpPr/>
          <p:nvPr/>
        </p:nvSpPr>
        <p:spPr>
          <a:xfrm>
            <a:off x="7333488" y="3072384"/>
            <a:ext cx="137160" cy="0"/>
          </a:xfrm>
          <a:prstGeom prst="line">
            <a:avLst/>
          </a:prstGeom>
          <a:noFill/>
          <a:ln w="17780">
            <a:solidFill>
              <a:srgbClr val="E30613"/>
            </a:solidFill>
            <a:prstDash val="solid"/>
            <a:headEnd type="none"/>
            <a:tailEnd type="triangle"/>
          </a:ln>
        </p:spPr>
      </p:sp>
      <p:sp>
        <p:nvSpPr>
          <p:cNvPr id="22" name="Shape 20"/>
          <p:cNvSpPr/>
          <p:nvPr/>
        </p:nvSpPr>
        <p:spPr>
          <a:xfrm>
            <a:off x="7534656" y="2468880"/>
            <a:ext cx="2084832" cy="1271016"/>
          </a:xfrm>
          <a:prstGeom prst="rect">
            <a:avLst/>
          </a:prstGeom>
          <a:solidFill>
            <a:srgbClr val="FFFFFF"/>
          </a:solidFill>
          <a:ln w="6350">
            <a:solidFill>
              <a:srgbClr val="FFFFFF"/>
            </a:solidFill>
            <a:prstDash val="solid"/>
          </a:ln>
        </p:spPr>
      </p:sp>
      <p:sp>
        <p:nvSpPr>
          <p:cNvPr id="23" name="Text 21"/>
          <p:cNvSpPr/>
          <p:nvPr/>
        </p:nvSpPr>
        <p:spPr>
          <a:xfrm>
            <a:off x="7671816" y="2642616"/>
            <a:ext cx="1810512" cy="329184"/>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Resolve</a:t>
            </a:r>
            <a:endParaRPr lang="en-US" sz="2100" dirty="0"/>
          </a:p>
        </p:txBody>
      </p:sp>
      <p:sp>
        <p:nvSpPr>
          <p:cNvPr id="24" name="Text 22"/>
          <p:cNvSpPr/>
          <p:nvPr/>
        </p:nvSpPr>
        <p:spPr>
          <a:xfrm>
            <a:off x="7671816" y="3099816"/>
            <a:ext cx="1810512" cy="493776"/>
          </a:xfrm>
          <a:prstGeom prst="rect">
            <a:avLst/>
          </a:prstGeom>
          <a:noFill/>
          <a:ln/>
        </p:spPr>
        <p:txBody>
          <a:bodyPr wrap="square" lIns="0" tIns="0" rIns="0" bIns="0" rtlCol="0" anchor="ctr"/>
          <a:lstStyle/>
          <a:p>
            <a:pPr indent="0" marL="0">
              <a:buNone/>
            </a:pPr>
            <a:r>
              <a:rPr lang="en-US" sz="1650" dirty="0">
                <a:solidFill>
                  <a:srgbClr val="626B72"/>
                </a:solidFill>
                <a:latin typeface="Arial" pitchFamily="34" charset="0"/>
                <a:ea typeface="Arial" pitchFamily="34" charset="-122"/>
                <a:cs typeface="Arial" pitchFamily="34" charset="-120"/>
              </a:rPr>
              <a:t>Review conflicts;</a:t>
            </a:r>
            <a:endParaRPr lang="en-US" sz="1650" dirty="0"/>
          </a:p>
          <a:p>
            <a:pPr indent="0" marL="0">
              <a:buNone/>
            </a:pPr>
            <a:r>
              <a:rPr lang="en-US" sz="1650" dirty="0">
                <a:solidFill>
                  <a:srgbClr val="626B72"/>
                </a:solidFill>
                <a:latin typeface="Arial" pitchFamily="34" charset="0"/>
                <a:ea typeface="Arial" pitchFamily="34" charset="-122"/>
                <a:cs typeface="Arial" pitchFamily="34" charset="-120"/>
              </a:rPr>
              <a:t>flag missing detail.</a:t>
            </a:r>
            <a:endParaRPr lang="en-US" sz="1650" dirty="0"/>
          </a:p>
        </p:txBody>
      </p:sp>
      <p:sp>
        <p:nvSpPr>
          <p:cNvPr id="25" name="Shape 23"/>
          <p:cNvSpPr/>
          <p:nvPr/>
        </p:nvSpPr>
        <p:spPr>
          <a:xfrm>
            <a:off x="9656064" y="3072384"/>
            <a:ext cx="137160" cy="0"/>
          </a:xfrm>
          <a:prstGeom prst="line">
            <a:avLst/>
          </a:prstGeom>
          <a:noFill/>
          <a:ln w="17780">
            <a:solidFill>
              <a:srgbClr val="E30613"/>
            </a:solidFill>
            <a:prstDash val="solid"/>
            <a:headEnd type="none"/>
            <a:tailEnd type="triangle"/>
          </a:ln>
        </p:spPr>
      </p:sp>
      <p:sp>
        <p:nvSpPr>
          <p:cNvPr id="26" name="Shape 24"/>
          <p:cNvSpPr/>
          <p:nvPr/>
        </p:nvSpPr>
        <p:spPr>
          <a:xfrm>
            <a:off x="9857232" y="2468880"/>
            <a:ext cx="2084832" cy="1271016"/>
          </a:xfrm>
          <a:prstGeom prst="rect">
            <a:avLst/>
          </a:prstGeom>
          <a:solidFill>
            <a:srgbClr val="24282C"/>
          </a:solidFill>
          <a:ln w="6350">
            <a:solidFill>
              <a:srgbClr val="24282C"/>
            </a:solidFill>
            <a:prstDash val="solid"/>
          </a:ln>
        </p:spPr>
      </p:sp>
      <p:sp>
        <p:nvSpPr>
          <p:cNvPr id="27" name="Text 25"/>
          <p:cNvSpPr/>
          <p:nvPr/>
        </p:nvSpPr>
        <p:spPr>
          <a:xfrm>
            <a:off x="9994392" y="2642616"/>
            <a:ext cx="1810512" cy="329184"/>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Retain</a:t>
            </a:r>
            <a:endParaRPr lang="en-US" sz="2100" dirty="0"/>
          </a:p>
        </p:txBody>
      </p:sp>
      <p:sp>
        <p:nvSpPr>
          <p:cNvPr id="28" name="Text 26"/>
          <p:cNvSpPr/>
          <p:nvPr/>
        </p:nvSpPr>
        <p:spPr>
          <a:xfrm>
            <a:off x="9994392" y="3099816"/>
            <a:ext cx="1810512" cy="493776"/>
          </a:xfrm>
          <a:prstGeom prst="rect">
            <a:avLst/>
          </a:prstGeom>
          <a:noFill/>
          <a:ln/>
        </p:spPr>
        <p:txBody>
          <a:bodyPr wrap="square" lIns="0" tIns="0" rIns="0" bIns="0" rtlCol="0" anchor="ctr"/>
          <a:lstStyle/>
          <a:p>
            <a:pPr indent="0" marL="0">
              <a:buNone/>
            </a:pPr>
            <a:r>
              <a:rPr lang="en-US" sz="1650" dirty="0">
                <a:solidFill>
                  <a:srgbClr val="D8DCDD"/>
                </a:solidFill>
                <a:latin typeface="Arial" pitchFamily="34" charset="0"/>
                <a:ea typeface="Arial" pitchFamily="34" charset="-122"/>
                <a:cs typeface="Arial" pitchFamily="34" charset="-120"/>
              </a:rPr>
              <a:t>Keep the decision</a:t>
            </a:r>
            <a:endParaRPr lang="en-US" sz="1650" dirty="0"/>
          </a:p>
          <a:p>
            <a:pPr indent="0" marL="0">
              <a:buNone/>
            </a:pPr>
            <a:r>
              <a:rPr lang="en-US" sz="1650" dirty="0">
                <a:solidFill>
                  <a:srgbClr val="D8DCDD"/>
                </a:solidFill>
                <a:latin typeface="Arial" pitchFamily="34" charset="0"/>
                <a:ea typeface="Arial" pitchFamily="34" charset="-122"/>
                <a:cs typeface="Arial" pitchFamily="34" charset="-120"/>
              </a:rPr>
              <a:t>and its evidence.</a:t>
            </a:r>
            <a:endParaRPr lang="en-US" sz="1650" dirty="0"/>
          </a:p>
        </p:txBody>
      </p:sp>
      <p:sp>
        <p:nvSpPr>
          <p:cNvPr id="29" name="Text 27"/>
          <p:cNvSpPr/>
          <p:nvPr/>
        </p:nvSpPr>
        <p:spPr>
          <a:xfrm>
            <a:off x="594360" y="4050792"/>
            <a:ext cx="10972800" cy="210312"/>
          </a:xfrm>
          <a:prstGeom prst="rect">
            <a:avLst/>
          </a:prstGeom>
          <a:noFill/>
          <a:ln/>
        </p:spPr>
        <p:txBody>
          <a:bodyPr wrap="square" lIns="0" tIns="0" rIns="0" bIns="0" rtlCol="0" anchor="ctr"/>
          <a:lstStyle/>
          <a:p>
            <a:pPr indent="0" marL="0">
              <a:buNone/>
            </a:pPr>
            <a:r>
              <a:rPr lang="en-US" sz="1080" b="1" spc="60" kern="0" dirty="0">
                <a:solidFill>
                  <a:srgbClr val="E30613"/>
                </a:solidFill>
                <a:latin typeface="Arial" pitchFamily="34" charset="0"/>
                <a:ea typeface="Arial" pitchFamily="34" charset="-122"/>
                <a:cs typeface="Arial" pitchFamily="34" charset="-120"/>
              </a:rPr>
              <a:t>WORKED EXAMPLE: DISTINGUISH AN ELEMENT FROM ITS HOUSING OR KIT</a:t>
            </a:r>
            <a:endParaRPr lang="en-US" sz="1080" dirty="0"/>
          </a:p>
        </p:txBody>
      </p:sp>
      <p:sp>
        <p:nvSpPr>
          <p:cNvPr id="30" name="Text 28"/>
          <p:cNvSpPr/>
          <p:nvPr/>
        </p:nvSpPr>
        <p:spPr>
          <a:xfrm>
            <a:off x="621792" y="4526280"/>
            <a:ext cx="2478024" cy="384048"/>
          </a:xfrm>
          <a:prstGeom prst="rect">
            <a:avLst/>
          </a:prstGeom>
          <a:noFill/>
          <a:ln/>
        </p:spPr>
        <p:txBody>
          <a:bodyPr wrap="square" lIns="0" tIns="0" rIns="0" bIns="0" rtlCol="0" anchor="ctr"/>
          <a:lstStyle/>
          <a:p>
            <a:pPr indent="0" marL="0">
              <a:buNone/>
            </a:pPr>
            <a:r>
              <a:rPr lang="en-US" sz="2300" b="1" dirty="0">
                <a:solidFill>
                  <a:srgbClr val="24282C"/>
                </a:solidFill>
                <a:latin typeface="Arial" pitchFamily="34" charset="0"/>
                <a:ea typeface="Arial" pitchFamily="34" charset="-122"/>
                <a:cs typeface="Arial" pitchFamily="34" charset="-120"/>
              </a:rPr>
              <a:t>FILTER; ACL</a:t>
            </a:r>
            <a:endParaRPr lang="en-US" sz="2300" dirty="0"/>
          </a:p>
        </p:txBody>
      </p:sp>
      <p:sp>
        <p:nvSpPr>
          <p:cNvPr id="31" name="Text 29"/>
          <p:cNvSpPr/>
          <p:nvPr/>
        </p:nvSpPr>
        <p:spPr>
          <a:xfrm>
            <a:off x="621792" y="4965192"/>
            <a:ext cx="2478024" cy="265176"/>
          </a:xfrm>
          <a:prstGeom prst="rect">
            <a:avLst/>
          </a:prstGeom>
          <a:noFill/>
          <a:ln/>
        </p:spPr>
        <p:txBody>
          <a:bodyPr wrap="square" lIns="0" tIns="0" rIns="0" bIns="0" rtlCol="0" anchor="ctr"/>
          <a:lstStyle/>
          <a:p>
            <a:pPr indent="0" marL="0">
              <a:buNone/>
            </a:pPr>
            <a:r>
              <a:rPr lang="en-US" sz="1440" dirty="0">
                <a:solidFill>
                  <a:srgbClr val="626B72"/>
                </a:solidFill>
                <a:latin typeface="Arial" pitchFamily="34" charset="0"/>
                <a:ea typeface="Arial" pitchFamily="34" charset="-122"/>
                <a:cs typeface="Arial" pitchFamily="34" charset="-120"/>
              </a:rPr>
              <a:t>Source description</a:t>
            </a:r>
            <a:endParaRPr lang="en-US" sz="1440" dirty="0"/>
          </a:p>
        </p:txBody>
      </p:sp>
      <p:sp>
        <p:nvSpPr>
          <p:cNvPr id="32" name="Shape 30"/>
          <p:cNvSpPr/>
          <p:nvPr/>
        </p:nvSpPr>
        <p:spPr>
          <a:xfrm>
            <a:off x="3182112" y="4809744"/>
            <a:ext cx="393192" cy="0"/>
          </a:xfrm>
          <a:prstGeom prst="line">
            <a:avLst/>
          </a:prstGeom>
          <a:noFill/>
          <a:ln w="17780">
            <a:solidFill>
              <a:srgbClr val="E30613"/>
            </a:solidFill>
            <a:prstDash val="solid"/>
            <a:headEnd type="none"/>
            <a:tailEnd type="triangle"/>
          </a:ln>
        </p:spPr>
      </p:sp>
      <p:sp>
        <p:nvSpPr>
          <p:cNvPr id="33" name="Text 31"/>
          <p:cNvSpPr/>
          <p:nvPr/>
        </p:nvSpPr>
        <p:spPr>
          <a:xfrm>
            <a:off x="3822192" y="4480560"/>
            <a:ext cx="3328416" cy="822960"/>
          </a:xfrm>
          <a:prstGeom prst="rect">
            <a:avLst/>
          </a:prstGeom>
          <a:noFill/>
          <a:ln/>
        </p:spPr>
        <p:txBody>
          <a:bodyPr wrap="square" lIns="0" tIns="0" rIns="0" bIns="0" rtlCol="0" anchor="ctr"/>
          <a:lstStyle/>
          <a:p>
            <a:pPr indent="0" marL="0">
              <a:buNone/>
            </a:pPr>
            <a:r>
              <a:rPr lang="en-US" sz="1750" dirty="0">
                <a:solidFill>
                  <a:srgbClr val="626B72"/>
                </a:solidFill>
                <a:latin typeface="Arial" pitchFamily="34" charset="0"/>
                <a:ea typeface="Arial" pitchFamily="34" charset="-122"/>
                <a:cs typeface="Arial" pitchFamily="34" charset="-120"/>
              </a:rPr>
              <a:t>Catalogue: 1-30 Air Cleaner</a:t>
            </a:r>
            <a:endParaRPr lang="en-US" sz="1750" dirty="0"/>
          </a:p>
          <a:p>
            <a:pPr indent="0" marL="0">
              <a:buNone/>
            </a:pPr>
            <a:r>
              <a:rPr lang="en-US" sz="1750" dirty="0">
                <a:solidFill>
                  <a:srgbClr val="626B72"/>
                </a:solidFill>
                <a:latin typeface="Arial" pitchFamily="34" charset="0"/>
                <a:ea typeface="Arial" pitchFamily="34" charset="-122"/>
                <a:cs typeface="Arial" pitchFamily="34" charset="-120"/>
              </a:rPr>
              <a:t>Check the actual item, not only the assembly.</a:t>
            </a:r>
            <a:endParaRPr lang="en-US" sz="1750" dirty="0"/>
          </a:p>
        </p:txBody>
      </p:sp>
      <p:sp>
        <p:nvSpPr>
          <p:cNvPr id="34" name="Shape 32"/>
          <p:cNvSpPr/>
          <p:nvPr/>
        </p:nvSpPr>
        <p:spPr>
          <a:xfrm>
            <a:off x="7324344" y="4809744"/>
            <a:ext cx="365760" cy="0"/>
          </a:xfrm>
          <a:prstGeom prst="line">
            <a:avLst/>
          </a:prstGeom>
          <a:noFill/>
          <a:ln w="17780">
            <a:solidFill>
              <a:srgbClr val="E30613"/>
            </a:solidFill>
            <a:prstDash val="solid"/>
            <a:headEnd type="none"/>
            <a:tailEnd type="triangle"/>
          </a:ln>
        </p:spPr>
      </p:sp>
      <p:sp>
        <p:nvSpPr>
          <p:cNvPr id="35" name="Shape 33"/>
          <p:cNvSpPr/>
          <p:nvPr/>
        </p:nvSpPr>
        <p:spPr>
          <a:xfrm>
            <a:off x="7918704" y="4370832"/>
            <a:ext cx="3703320" cy="1024128"/>
          </a:xfrm>
          <a:prstGeom prst="rect">
            <a:avLst/>
          </a:prstGeom>
          <a:solidFill>
            <a:srgbClr val="24282C"/>
          </a:solidFill>
          <a:ln w="6350">
            <a:solidFill>
              <a:srgbClr val="24282C"/>
            </a:solidFill>
            <a:prstDash val="solid"/>
          </a:ln>
        </p:spPr>
      </p:sp>
      <p:sp>
        <p:nvSpPr>
          <p:cNvPr id="36" name="Text 34"/>
          <p:cNvSpPr/>
          <p:nvPr/>
        </p:nvSpPr>
        <p:spPr>
          <a:xfrm>
            <a:off x="8092440" y="4462272"/>
            <a:ext cx="3355848" cy="841248"/>
          </a:xfrm>
          <a:prstGeom prst="rect">
            <a:avLst/>
          </a:prstGeom>
          <a:noFill/>
          <a:ln/>
        </p:spPr>
        <p:txBody>
          <a:bodyPr wrap="square" lIns="0" tIns="0" rIns="0" bIns="0" rtlCol="0" anchor="ctr"/>
          <a:lstStyle/>
          <a:p>
            <a:pPr indent="0" marL="0">
              <a:buNone/>
            </a:pPr>
            <a:r>
              <a:rPr lang="en-US" sz="1820" b="1" dirty="0">
                <a:solidFill>
                  <a:srgbClr val="FFFFFF"/>
                </a:solidFill>
                <a:latin typeface="Arial" pitchFamily="34" charset="0"/>
                <a:ea typeface="Arial" pitchFamily="34" charset="-122"/>
                <a:cs typeface="Arial" pitchFamily="34" charset="-120"/>
              </a:rPr>
              <a:t>Maintenance Service</a:t>
            </a:r>
            <a:endParaRPr lang="en-US" sz="1820" dirty="0"/>
          </a:p>
          <a:p>
            <a:pPr indent="0" marL="0">
              <a:buNone/>
            </a:pPr>
            <a:r>
              <a:rPr lang="en-US" sz="1820" b="1" dirty="0">
                <a:solidFill>
                  <a:srgbClr val="FFFFFF"/>
                </a:solidFill>
                <a:latin typeface="Arial" pitchFamily="34" charset="0"/>
                <a:ea typeface="Arial" pitchFamily="34" charset="-122"/>
                <a:cs typeface="Arial" pitchFamily="34" charset="-120"/>
              </a:rPr>
              <a:t>Air Filter</a:t>
            </a:r>
            <a:endParaRPr lang="en-US" sz="1820" dirty="0"/>
          </a:p>
          <a:p>
            <a:pPr indent="0" marL="0">
              <a:buNone/>
            </a:pPr>
            <a:r>
              <a:rPr lang="en-US" sz="1820" b="1" dirty="0">
                <a:solidFill>
                  <a:srgbClr val="FFFFFF"/>
                </a:solidFill>
                <a:latin typeface="Arial" pitchFamily="34" charset="0"/>
                <a:ea typeface="Arial" pitchFamily="34" charset="-122"/>
                <a:cs typeface="Arial" pitchFamily="34" charset="-120"/>
              </a:rPr>
              <a:t>Air Cleaner Filter</a:t>
            </a:r>
            <a:endParaRPr lang="en-US" sz="1820" dirty="0"/>
          </a:p>
        </p:txBody>
      </p:sp>
      <p:sp>
        <p:nvSpPr>
          <p:cNvPr id="37" name="Shape 35"/>
          <p:cNvSpPr/>
          <p:nvPr/>
        </p:nvSpPr>
        <p:spPr>
          <a:xfrm>
            <a:off x="502920" y="5541264"/>
            <a:ext cx="11183112" cy="457200"/>
          </a:xfrm>
          <a:prstGeom prst="rect">
            <a:avLst/>
          </a:prstGeom>
          <a:solidFill>
            <a:srgbClr val="F9E9E8"/>
          </a:solidFill>
          <a:ln w="6350">
            <a:solidFill>
              <a:srgbClr val="F9E9E8"/>
            </a:solidFill>
            <a:prstDash val="solid"/>
          </a:ln>
        </p:spPr>
      </p:sp>
      <p:sp>
        <p:nvSpPr>
          <p:cNvPr id="38" name="Text 36"/>
          <p:cNvSpPr/>
          <p:nvPr/>
        </p:nvSpPr>
        <p:spPr>
          <a:xfrm>
            <a:off x="685800" y="5605272"/>
            <a:ext cx="10799064" cy="347472"/>
          </a:xfrm>
          <a:prstGeom prst="rect">
            <a:avLst/>
          </a:prstGeom>
          <a:noFill/>
          <a:ln/>
        </p:spPr>
        <p:txBody>
          <a:bodyPr wrap="square" lIns="0" tIns="0" rIns="0" bIns="0" rtlCol="0" anchor="ctr"/>
          <a:lstStyle/>
          <a:p>
            <a:pPr indent="0" marL="0">
              <a:buNone/>
            </a:pPr>
            <a:r>
              <a:rPr lang="en-US" sz="1660" b="1" dirty="0">
                <a:solidFill>
                  <a:srgbClr val="24282C"/>
                </a:solidFill>
                <a:latin typeface="Arial" pitchFamily="34" charset="0"/>
                <a:ea typeface="Arial" pitchFamily="34" charset="-122"/>
                <a:cs typeface="Arial" pitchFamily="34" charset="-120"/>
              </a:rPr>
              <a:t>The accepted decision is retained, so the same ambiguity does not have to be resolved again.</a:t>
            </a:r>
            <a:endParaRPr lang="en-US" sz="16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WHY ALL THREE LEVELS MATTER</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Every level answers a question the level above cannot.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 commercial review moves from the business area to the specific product.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WHY ALL THREE LEVELS MATTER</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07</a:t>
            </a:r>
            <a:endParaRPr lang="en-US" sz="1050" dirty="0"/>
          </a:p>
        </p:txBody>
      </p:sp>
      <p:sp>
        <p:nvSpPr>
          <p:cNvPr id="10" name="Shape 8"/>
          <p:cNvSpPr/>
          <p:nvPr/>
        </p:nvSpPr>
        <p:spPr>
          <a:xfrm>
            <a:off x="585216" y="2596896"/>
            <a:ext cx="4096512" cy="731520"/>
          </a:xfrm>
          <a:prstGeom prst="rect">
            <a:avLst/>
          </a:prstGeom>
          <a:solidFill>
            <a:srgbClr val="24282C"/>
          </a:solidFill>
          <a:ln w="12700">
            <a:solidFill>
              <a:srgbClr val="24282C"/>
            </a:solidFill>
            <a:prstDash val="solid"/>
          </a:ln>
        </p:spPr>
        <p:txBody>
          <a:bodyPr/>
          <a:p/>
        </p:txBody>
      </p:sp>
      <p:sp>
        <p:nvSpPr>
          <p:cNvPr id="11" name="Text 9"/>
          <p:cNvSpPr/>
          <p:nvPr/>
        </p:nvSpPr>
        <p:spPr>
          <a:xfrm>
            <a:off x="758952" y="2770632"/>
            <a:ext cx="411480" cy="329184"/>
          </a:xfrm>
          <a:prstGeom prst="rect">
            <a:avLst/>
          </a:prstGeom>
          <a:noFill/>
          <a:ln/>
        </p:spPr>
        <p:txBody>
          <a:bodyPr wrap="square" lIns="0" tIns="0" rIns="0" bIns="0" rtlCol="0" anchor="ctr">
            <a:noAutofit/>
          </a:bodyPr>
          <a:lstStyle/>
          <a:p>
            <a:pPr indent="0" marL="0">
              <a:buNone/>
            </a:pPr>
            <a:r>
              <a:rPr lang="en-US" sz="1700" b="1" dirty="0">
                <a:solidFill>
                  <a:srgbClr val="FFFFFF"/>
                </a:solidFill>
                <a:latin typeface="Arial" pitchFamily="34" charset="0"/>
                <a:ea typeface="Arial" pitchFamily="34" charset="-122"/>
                <a:cs typeface="Arial" pitchFamily="34" charset="-120"/>
              </a:rPr>
              <a:t>01</a:t>
            </a:r>
            <a:endParaRPr lang="en-US" sz="1700" dirty="0"/>
          </a:p>
        </p:txBody>
      </p:sp>
      <p:sp>
        <p:nvSpPr>
          <p:cNvPr id="12" name="Text 10"/>
          <p:cNvSpPr/>
          <p:nvPr/>
        </p:nvSpPr>
        <p:spPr>
          <a:xfrm>
            <a:off x="1353312" y="2770632"/>
            <a:ext cx="2889504" cy="329184"/>
          </a:xfrm>
          <a:prstGeom prst="rect">
            <a:avLst/>
          </a:prstGeom>
          <a:noFill/>
          <a:ln/>
        </p:spPr>
        <p:txBody>
          <a:bodyPr wrap="square" lIns="0" tIns="0" rIns="0" bIns="0" rtlCol="0" anchor="ctr">
            <a:noAutofit/>
          </a:bodyPr>
          <a:lstStyle/>
          <a:p>
            <a:pPr indent="0" marL="0">
              <a:buNone/>
            </a:pPr>
            <a:r>
              <a:rPr lang="en-US" sz="2300" b="1" dirty="0">
                <a:solidFill>
                  <a:srgbClr val="FFFFFF"/>
                </a:solidFill>
                <a:latin typeface="Arial" pitchFamily="34" charset="0"/>
                <a:ea typeface="Arial" pitchFamily="34" charset="-122"/>
                <a:cs typeface="Arial" pitchFamily="34" charset="-120"/>
              </a:rPr>
              <a:t>CLUTCH</a:t>
            </a:r>
            <a:endParaRPr lang="en-US" sz="2300" dirty="0"/>
          </a:p>
        </p:txBody>
      </p:sp>
      <p:sp>
        <p:nvSpPr>
          <p:cNvPr id="13" name="Text 11"/>
          <p:cNvSpPr/>
          <p:nvPr/>
        </p:nvSpPr>
        <p:spPr>
          <a:xfrm>
            <a:off x="5102352" y="2606040"/>
            <a:ext cx="6236208" cy="347472"/>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Which business area needs attention?</a:t>
            </a:r>
            <a:endParaRPr lang="en-US" sz="2050" dirty="0"/>
          </a:p>
        </p:txBody>
      </p:sp>
      <p:sp>
        <p:nvSpPr>
          <p:cNvPr id="14" name="Text 12"/>
          <p:cNvSpPr/>
          <p:nvPr/>
        </p:nvSpPr>
        <p:spPr>
          <a:xfrm>
            <a:off x="5102352" y="2999232"/>
            <a:ext cx="6245352" cy="365760"/>
          </a:xfrm>
          <a:prstGeom prst="rect">
            <a:avLst/>
          </a:prstGeom>
          <a:noFill/>
          <a:ln/>
        </p:spPr>
        <p:txBody>
          <a:bodyPr wrap="square" lIns="0" tIns="0" rIns="0" bIns="0" rtlCol="0" anchor="ctr">
            <a:noAutofit/>
          </a:bodyPr>
          <a:lstStyle/>
          <a:p>
            <a:pPr indent="0" marL="0">
              <a:buNone/>
            </a:pPr>
            <a:r>
              <a:rPr lang="en-US" sz="1760" dirty="0">
                <a:solidFill>
                  <a:srgbClr val="626A71"/>
                </a:solidFill>
                <a:latin typeface="Arial" pitchFamily="34" charset="0"/>
                <a:ea typeface="Arial" pitchFamily="34" charset="-122"/>
                <a:cs typeface="Arial" pitchFamily="34" charset="-120"/>
              </a:rPr>
              <a:t>Review the clutch family.</a:t>
            </a:r>
            <a:endParaRPr lang="en-US" sz="1760" dirty="0"/>
          </a:p>
        </p:txBody>
      </p:sp>
      <p:sp>
        <p:nvSpPr>
          <p:cNvPr id="15" name="Shape 13"/>
          <p:cNvSpPr/>
          <p:nvPr/>
        </p:nvSpPr>
        <p:spPr>
          <a:xfrm>
            <a:off x="832104" y="3511296"/>
            <a:ext cx="3849624" cy="731520"/>
          </a:xfrm>
          <a:prstGeom prst="rect">
            <a:avLst/>
          </a:prstGeom>
          <a:solidFill>
            <a:srgbClr val="24282C"/>
          </a:solidFill>
          <a:ln w="12700">
            <a:solidFill>
              <a:srgbClr val="24282C"/>
            </a:solidFill>
            <a:prstDash val="solid"/>
          </a:ln>
        </p:spPr>
        <p:txBody>
          <a:bodyPr/>
          <a:p/>
        </p:txBody>
      </p:sp>
      <p:sp>
        <p:nvSpPr>
          <p:cNvPr id="16" name="Text 14"/>
          <p:cNvSpPr/>
          <p:nvPr/>
        </p:nvSpPr>
        <p:spPr>
          <a:xfrm>
            <a:off x="1005840" y="3685032"/>
            <a:ext cx="411480" cy="329184"/>
          </a:xfrm>
          <a:prstGeom prst="rect">
            <a:avLst/>
          </a:prstGeom>
          <a:noFill/>
          <a:ln/>
        </p:spPr>
        <p:txBody>
          <a:bodyPr wrap="square" lIns="0" tIns="0" rIns="0" bIns="0" rtlCol="0" anchor="ctr">
            <a:noAutofit/>
          </a:bodyPr>
          <a:lstStyle/>
          <a:p>
            <a:pPr indent="0" marL="0">
              <a:buNone/>
            </a:pPr>
            <a:r>
              <a:rPr lang="en-US" sz="1700" b="1" dirty="0">
                <a:solidFill>
                  <a:srgbClr val="FFFFFF"/>
                </a:solidFill>
                <a:latin typeface="Arial" pitchFamily="34" charset="0"/>
                <a:ea typeface="Arial" pitchFamily="34" charset="-122"/>
                <a:cs typeface="Arial" pitchFamily="34" charset="-120"/>
              </a:rPr>
              <a:t>02</a:t>
            </a:r>
            <a:endParaRPr lang="en-US" sz="1700" dirty="0"/>
          </a:p>
        </p:txBody>
      </p:sp>
      <p:sp>
        <p:nvSpPr>
          <p:cNvPr id="17" name="Text 15"/>
          <p:cNvSpPr/>
          <p:nvPr/>
        </p:nvSpPr>
        <p:spPr>
          <a:xfrm>
            <a:off x="1600200" y="3685032"/>
            <a:ext cx="2642616" cy="329184"/>
          </a:xfrm>
          <a:prstGeom prst="rect">
            <a:avLst/>
          </a:prstGeom>
          <a:noFill/>
          <a:ln/>
        </p:spPr>
        <p:txBody>
          <a:bodyPr wrap="square" lIns="0" tIns="0" rIns="0" bIns="0" rtlCol="0" anchor="ctr">
            <a:noAutofit/>
          </a:bodyPr>
          <a:lstStyle/>
          <a:p>
            <a:pPr indent="0" marL="0">
              <a:buNone/>
            </a:pPr>
            <a:r>
              <a:rPr lang="en-US" sz="2000" b="1" dirty="0">
                <a:solidFill>
                  <a:srgbClr val="FFFFFF"/>
                </a:solidFill>
                <a:latin typeface="Arial" pitchFamily="34" charset="0"/>
                <a:ea typeface="Arial" pitchFamily="34" charset="-122"/>
                <a:cs typeface="Arial" pitchFamily="34" charset="-120"/>
              </a:rPr>
              <a:t>RELEASE SYSTEM</a:t>
            </a:r>
            <a:endParaRPr lang="en-US" sz="2000" dirty="0"/>
          </a:p>
        </p:txBody>
      </p:sp>
      <p:sp>
        <p:nvSpPr>
          <p:cNvPr id="18" name="Text 16"/>
          <p:cNvSpPr/>
          <p:nvPr/>
        </p:nvSpPr>
        <p:spPr>
          <a:xfrm>
            <a:off x="5102352" y="3520440"/>
            <a:ext cx="6236208" cy="347472"/>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Which part of the range explains the result?</a:t>
            </a:r>
            <a:endParaRPr lang="en-US" sz="2050" dirty="0"/>
          </a:p>
        </p:txBody>
      </p:sp>
      <p:sp>
        <p:nvSpPr>
          <p:cNvPr id="19" name="Text 17"/>
          <p:cNvSpPr/>
          <p:nvPr/>
        </p:nvSpPr>
        <p:spPr>
          <a:xfrm>
            <a:off x="5102352" y="3913632"/>
            <a:ext cx="6245352" cy="365760"/>
          </a:xfrm>
          <a:prstGeom prst="rect">
            <a:avLst/>
          </a:prstGeom>
          <a:noFill/>
          <a:ln/>
        </p:spPr>
        <p:txBody>
          <a:bodyPr wrap="square" lIns="0" tIns="0" rIns="0" bIns="0" rtlCol="0" anchor="ctr">
            <a:noAutofit/>
          </a:bodyPr>
          <a:lstStyle/>
          <a:p>
            <a:pPr indent="0" marL="0">
              <a:buNone/>
            </a:pPr>
            <a:r>
              <a:rPr lang="en-US" sz="1760" dirty="0">
                <a:solidFill>
                  <a:srgbClr val="626A71"/>
                </a:solidFill>
                <a:latin typeface="Arial" pitchFamily="34" charset="0"/>
                <a:ea typeface="Arial" pitchFamily="34" charset="-122"/>
                <a:cs typeface="Arial" pitchFamily="34" charset="-120"/>
              </a:rPr>
              <a:t>Separate release components from discs and plates.</a:t>
            </a:r>
            <a:endParaRPr lang="en-US" sz="1760" dirty="0"/>
          </a:p>
        </p:txBody>
      </p:sp>
      <p:sp>
        <p:nvSpPr>
          <p:cNvPr id="20" name="Shape 18"/>
          <p:cNvSpPr/>
          <p:nvPr/>
        </p:nvSpPr>
        <p:spPr>
          <a:xfrm>
            <a:off x="1078992" y="4425696"/>
            <a:ext cx="3602736" cy="731520"/>
          </a:xfrm>
          <a:prstGeom prst="rect">
            <a:avLst/>
          </a:prstGeom>
          <a:solidFill>
            <a:srgbClr val="D71920"/>
          </a:solidFill>
          <a:ln w="12700">
            <a:solidFill>
              <a:srgbClr val="D71920"/>
            </a:solidFill>
            <a:prstDash val="solid"/>
          </a:ln>
        </p:spPr>
        <p:txBody>
          <a:bodyPr/>
          <a:p/>
        </p:txBody>
      </p:sp>
      <p:sp>
        <p:nvSpPr>
          <p:cNvPr id="21" name="Text 19"/>
          <p:cNvSpPr/>
          <p:nvPr/>
        </p:nvSpPr>
        <p:spPr>
          <a:xfrm>
            <a:off x="1252728" y="4599432"/>
            <a:ext cx="411480" cy="329184"/>
          </a:xfrm>
          <a:prstGeom prst="rect">
            <a:avLst/>
          </a:prstGeom>
          <a:noFill/>
          <a:ln/>
        </p:spPr>
        <p:txBody>
          <a:bodyPr wrap="square" lIns="0" tIns="0" rIns="0" bIns="0" rtlCol="0" anchor="ctr">
            <a:noAutofit/>
          </a:bodyPr>
          <a:lstStyle/>
          <a:p>
            <a:pPr indent="0" marL="0">
              <a:buNone/>
            </a:pPr>
            <a:r>
              <a:rPr lang="en-US" sz="1700" b="1" dirty="0">
                <a:solidFill>
                  <a:srgbClr val="FFFFFF"/>
                </a:solidFill>
                <a:latin typeface="Arial" pitchFamily="34" charset="0"/>
                <a:ea typeface="Arial" pitchFamily="34" charset="-122"/>
                <a:cs typeface="Arial" pitchFamily="34" charset="-120"/>
              </a:rPr>
              <a:t>03</a:t>
            </a:r>
            <a:endParaRPr lang="en-US" sz="1700" dirty="0"/>
          </a:p>
        </p:txBody>
      </p:sp>
      <p:sp>
        <p:nvSpPr>
          <p:cNvPr id="22" name="Text 20"/>
          <p:cNvSpPr/>
          <p:nvPr/>
        </p:nvSpPr>
        <p:spPr>
          <a:xfrm>
            <a:off x="1847088" y="4599432"/>
            <a:ext cx="2633472" cy="329184"/>
          </a:xfrm>
          <a:prstGeom prst="rect">
            <a:avLst/>
          </a:prstGeom>
          <a:noFill/>
          <a:ln/>
        </p:spPr>
        <p:txBody>
          <a:bodyPr wrap="square" lIns="0" tIns="0" rIns="0" bIns="0" rtlCol="0" anchor="ctr">
            <a:noAutofit/>
          </a:bodyPr>
          <a:lstStyle/>
          <a:p>
            <a:pPr indent="0" marL="0">
              <a:buNone/>
              <a:defRPr sz="2100"/>
            </a:pPr>
            <a:r>
              <a:rPr lang="en-US" sz="2100" b="1" dirty="0">
                <a:solidFill>
                  <a:srgbClr val="FFFFFF"/>
                </a:solidFill>
                <a:latin typeface="Arial" pitchFamily="34" charset="0"/>
                <a:ea typeface="Arial" pitchFamily="34" charset="-122"/>
                <a:cs typeface="Arial" pitchFamily="34" charset="-120"/>
              </a:rPr>
              <a:t>SLAVE CYLINDER</a:t>
            </a:r>
            <a:endParaRPr lang="en-US" sz="2100" dirty="0"/>
          </a:p>
        </p:txBody>
      </p:sp>
      <p:sp>
        <p:nvSpPr>
          <p:cNvPr id="23" name="Text 21"/>
          <p:cNvSpPr/>
          <p:nvPr/>
        </p:nvSpPr>
        <p:spPr>
          <a:xfrm>
            <a:off x="5102352" y="4434840"/>
            <a:ext cx="6236208" cy="347472"/>
          </a:xfrm>
          <a:prstGeom prst="rect">
            <a:avLst/>
          </a:prstGeom>
          <a:noFill/>
          <a:ln/>
        </p:spPr>
        <p:txBody>
          <a:bodyPr wrap="square" lIns="0" tIns="0" rIns="0" bIns="0" rtlCol="0" anchor="ctr">
            <a:noAutofit/>
          </a:bodyPr>
          <a:lstStyle/>
          <a:p>
            <a:pPr indent="0" marL="0">
              <a:buNone/>
            </a:pPr>
            <a:r>
              <a:rPr lang="en-US" sz="2050" b="1" dirty="0">
                <a:solidFill>
                  <a:srgbClr val="24282C"/>
                </a:solidFill>
                <a:latin typeface="Arial" pitchFamily="34" charset="0"/>
                <a:ea typeface="Arial" pitchFamily="34" charset="-122"/>
                <a:cs typeface="Arial" pitchFamily="34" charset="-120"/>
              </a:rPr>
              <a:t>Which product should the team investigate?</a:t>
            </a:r>
            <a:endParaRPr lang="en-US" sz="2050" dirty="0"/>
          </a:p>
        </p:txBody>
      </p:sp>
      <p:sp>
        <p:nvSpPr>
          <p:cNvPr id="24" name="Text 22"/>
          <p:cNvSpPr/>
          <p:nvPr/>
        </p:nvSpPr>
        <p:spPr>
          <a:xfrm>
            <a:off x="5102352" y="4828032"/>
            <a:ext cx="6245352" cy="365760"/>
          </a:xfrm>
          <a:prstGeom prst="rect">
            <a:avLst/>
          </a:prstGeom>
          <a:noFill/>
          <a:ln/>
        </p:spPr>
        <p:txBody>
          <a:bodyPr wrap="square" lIns="0" tIns="0" rIns="0" bIns="0" rtlCol="0" anchor="ctr">
            <a:noAutofit/>
          </a:bodyPr>
          <a:lstStyle/>
          <a:p>
            <a:pPr indent="0" marL="0">
              <a:buNone/>
            </a:pPr>
            <a:r>
              <a:rPr lang="en-US" sz="1760" dirty="0">
                <a:solidFill>
                  <a:srgbClr val="626A71"/>
                </a:solidFill>
                <a:latin typeface="Arial" pitchFamily="34" charset="0"/>
                <a:ea typeface="Arial" pitchFamily="34" charset="-122"/>
                <a:cs typeface="Arial" pitchFamily="34" charset="-120"/>
              </a:rPr>
              <a:t>Review applications and relevant part numbers.</a:t>
            </a:r>
            <a:endParaRPr lang="en-US" sz="1760" dirty="0"/>
          </a:p>
        </p:txBody>
      </p:sp>
      <p:sp>
        <p:nvSpPr>
          <p:cNvPr id="25" name="Shape 23"/>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6" name="Text 24"/>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The family creates focus. The group explains the pattern. The part type makes the action precise.</a:t>
            </a:r>
            <a:endParaRPr lang="en-US" sz="1750" dirty="0"/>
          </a:p>
        </p:txBody>
      </p:sp>
      <p:sp>
        <p:nvSpPr>
          <p:cNvPr id="28" name="Text 25"/>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Example path: supplied corrected ISZE master, reviewed 20 September 2026.</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PRECISION THAT CHANGES THE DECISION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An element, a housing and a kit are different products.</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The broad filtration family is useful; the detailed type makes comparisons meaningful.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PRECISION THAT CHANGES THE DECISION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08</a:t>
            </a:r>
            <a:endParaRPr lang="en-US" sz="1050" dirty="0"/>
          </a:p>
        </p:txBody>
      </p:sp>
      <p:sp>
        <p:nvSpPr>
          <p:cNvPr id="10" name="Shape 8"/>
          <p:cNvSpPr/>
          <p:nvPr/>
        </p:nvSpPr>
        <p:spPr>
          <a:xfrm>
            <a:off x="1316736" y="2688336"/>
            <a:ext cx="1453896" cy="1188720"/>
          </a:xfrm>
          <a:prstGeom prst="rect">
            <a:avLst/>
          </a:prstGeom>
          <a:solidFill>
            <a:srgbClr val="FFFFFF"/>
          </a:solidFill>
          <a:ln w="22860">
            <a:solidFill>
              <a:srgbClr val="24282C"/>
            </a:solidFill>
            <a:prstDash val="solid"/>
          </a:ln>
        </p:spPr>
        <p:txBody>
          <a:bodyPr/>
          <a:p/>
        </p:txBody>
      </p:sp>
      <p:sp>
        <p:nvSpPr>
          <p:cNvPr id="11" name="Shape 9"/>
          <p:cNvSpPr/>
          <p:nvPr/>
        </p:nvSpPr>
        <p:spPr>
          <a:xfrm>
            <a:off x="1463040" y="2798064"/>
            <a:ext cx="0" cy="950976"/>
          </a:xfrm>
          <a:prstGeom prst="line">
            <a:avLst/>
          </a:prstGeom>
          <a:noFill/>
          <a:ln w="13970">
            <a:solidFill>
              <a:srgbClr val="24282C"/>
            </a:solidFill>
            <a:prstDash val="solid"/>
          </a:ln>
        </p:spPr>
        <p:txBody>
          <a:bodyPr/>
          <a:p/>
        </p:txBody>
      </p:sp>
      <p:sp>
        <p:nvSpPr>
          <p:cNvPr id="12" name="Shape 10"/>
          <p:cNvSpPr/>
          <p:nvPr/>
        </p:nvSpPr>
        <p:spPr>
          <a:xfrm>
            <a:off x="1636776" y="2798064"/>
            <a:ext cx="0" cy="950976"/>
          </a:xfrm>
          <a:prstGeom prst="line">
            <a:avLst/>
          </a:prstGeom>
          <a:noFill/>
          <a:ln w="13970">
            <a:solidFill>
              <a:srgbClr val="24282C"/>
            </a:solidFill>
            <a:prstDash val="solid"/>
          </a:ln>
        </p:spPr>
        <p:txBody>
          <a:bodyPr/>
          <a:p/>
        </p:txBody>
      </p:sp>
      <p:sp>
        <p:nvSpPr>
          <p:cNvPr id="13" name="Shape 11"/>
          <p:cNvSpPr/>
          <p:nvPr/>
        </p:nvSpPr>
        <p:spPr>
          <a:xfrm>
            <a:off x="1810512" y="2798064"/>
            <a:ext cx="0" cy="950976"/>
          </a:xfrm>
          <a:prstGeom prst="line">
            <a:avLst/>
          </a:prstGeom>
          <a:noFill/>
          <a:ln w="13970">
            <a:solidFill>
              <a:srgbClr val="24282C"/>
            </a:solidFill>
            <a:prstDash val="solid"/>
          </a:ln>
        </p:spPr>
        <p:txBody>
          <a:bodyPr/>
          <a:p/>
        </p:txBody>
      </p:sp>
      <p:sp>
        <p:nvSpPr>
          <p:cNvPr id="14" name="Shape 12"/>
          <p:cNvSpPr/>
          <p:nvPr/>
        </p:nvSpPr>
        <p:spPr>
          <a:xfrm>
            <a:off x="1984248" y="2798064"/>
            <a:ext cx="0" cy="950976"/>
          </a:xfrm>
          <a:prstGeom prst="line">
            <a:avLst/>
          </a:prstGeom>
          <a:noFill/>
          <a:ln w="13970">
            <a:solidFill>
              <a:srgbClr val="24282C"/>
            </a:solidFill>
            <a:prstDash val="solid"/>
          </a:ln>
        </p:spPr>
        <p:txBody>
          <a:bodyPr/>
          <a:p/>
        </p:txBody>
      </p:sp>
      <p:sp>
        <p:nvSpPr>
          <p:cNvPr id="15" name="Shape 13"/>
          <p:cNvSpPr/>
          <p:nvPr/>
        </p:nvSpPr>
        <p:spPr>
          <a:xfrm>
            <a:off x="2157984" y="2798064"/>
            <a:ext cx="0" cy="950976"/>
          </a:xfrm>
          <a:prstGeom prst="line">
            <a:avLst/>
          </a:prstGeom>
          <a:noFill/>
          <a:ln w="13970">
            <a:solidFill>
              <a:srgbClr val="24282C"/>
            </a:solidFill>
            <a:prstDash val="solid"/>
          </a:ln>
        </p:spPr>
        <p:txBody>
          <a:bodyPr/>
          <a:p/>
        </p:txBody>
      </p:sp>
      <p:sp>
        <p:nvSpPr>
          <p:cNvPr id="16" name="Shape 14"/>
          <p:cNvSpPr/>
          <p:nvPr/>
        </p:nvSpPr>
        <p:spPr>
          <a:xfrm>
            <a:off x="2331720" y="2798064"/>
            <a:ext cx="0" cy="950976"/>
          </a:xfrm>
          <a:prstGeom prst="line">
            <a:avLst/>
          </a:prstGeom>
          <a:noFill/>
          <a:ln w="13970">
            <a:solidFill>
              <a:srgbClr val="24282C"/>
            </a:solidFill>
            <a:prstDash val="solid"/>
          </a:ln>
        </p:spPr>
        <p:txBody>
          <a:bodyPr/>
          <a:p/>
        </p:txBody>
      </p:sp>
      <p:sp>
        <p:nvSpPr>
          <p:cNvPr id="17" name="Shape 15"/>
          <p:cNvSpPr/>
          <p:nvPr/>
        </p:nvSpPr>
        <p:spPr>
          <a:xfrm>
            <a:off x="2505456" y="2798064"/>
            <a:ext cx="0" cy="950976"/>
          </a:xfrm>
          <a:prstGeom prst="line">
            <a:avLst/>
          </a:prstGeom>
          <a:noFill/>
          <a:ln w="13970">
            <a:solidFill>
              <a:srgbClr val="24282C"/>
            </a:solidFill>
            <a:prstDash val="solid"/>
          </a:ln>
        </p:spPr>
        <p:txBody>
          <a:bodyPr/>
          <a:p/>
        </p:txBody>
      </p:sp>
      <p:sp>
        <p:nvSpPr>
          <p:cNvPr id="18" name="Shape 16"/>
          <p:cNvSpPr/>
          <p:nvPr/>
        </p:nvSpPr>
        <p:spPr>
          <a:xfrm>
            <a:off x="5120640" y="2807208"/>
            <a:ext cx="1664208" cy="950976"/>
          </a:xfrm>
          <a:prstGeom prst="rect">
            <a:avLst/>
          </a:prstGeom>
          <a:solidFill>
            <a:srgbClr val="FFFFFF"/>
          </a:solidFill>
          <a:ln w="25400">
            <a:solidFill>
              <a:srgbClr val="24282C"/>
            </a:solidFill>
            <a:prstDash val="solid"/>
          </a:ln>
        </p:spPr>
        <p:txBody>
          <a:bodyPr/>
          <a:p/>
        </p:txBody>
      </p:sp>
      <p:sp>
        <p:nvSpPr>
          <p:cNvPr id="19" name="Shape 17"/>
          <p:cNvSpPr/>
          <p:nvPr/>
        </p:nvSpPr>
        <p:spPr>
          <a:xfrm>
            <a:off x="5349240" y="2578608"/>
            <a:ext cx="1197864" cy="219456"/>
          </a:xfrm>
          <a:prstGeom prst="rect">
            <a:avLst/>
          </a:prstGeom>
          <a:solidFill>
            <a:srgbClr val="24282C"/>
          </a:solidFill>
          <a:ln w="12700">
            <a:solidFill>
              <a:srgbClr val="24282C"/>
            </a:solidFill>
            <a:prstDash val="solid"/>
          </a:ln>
        </p:spPr>
        <p:txBody>
          <a:bodyPr/>
          <a:p/>
        </p:txBody>
      </p:sp>
      <p:sp>
        <p:nvSpPr>
          <p:cNvPr id="20" name="Shape 18"/>
          <p:cNvSpPr/>
          <p:nvPr/>
        </p:nvSpPr>
        <p:spPr>
          <a:xfrm>
            <a:off x="6784848" y="3264408"/>
            <a:ext cx="310896" cy="0"/>
          </a:xfrm>
          <a:prstGeom prst="line">
            <a:avLst/>
          </a:prstGeom>
          <a:noFill/>
          <a:ln w="50800">
            <a:solidFill>
              <a:srgbClr val="24282C"/>
            </a:solidFill>
            <a:prstDash val="solid"/>
          </a:ln>
        </p:spPr>
        <p:txBody>
          <a:bodyPr/>
          <a:p/>
        </p:txBody>
      </p:sp>
      <p:sp>
        <p:nvSpPr>
          <p:cNvPr id="21" name="Shape 19"/>
          <p:cNvSpPr/>
          <p:nvPr/>
        </p:nvSpPr>
        <p:spPr>
          <a:xfrm>
            <a:off x="8814816" y="2688336"/>
            <a:ext cx="1901952" cy="1225296"/>
          </a:xfrm>
          <a:prstGeom prst="rect">
            <a:avLst/>
          </a:prstGeom>
          <a:solidFill>
            <a:srgbClr val="FFFFFF"/>
          </a:solidFill>
          <a:ln w="20320">
            <a:solidFill>
              <a:srgbClr val="24282C"/>
            </a:solidFill>
            <a:prstDash val="solid"/>
          </a:ln>
        </p:spPr>
        <p:txBody>
          <a:bodyPr/>
          <a:p/>
        </p:txBody>
      </p:sp>
      <p:sp>
        <p:nvSpPr>
          <p:cNvPr id="22" name="Shape 20"/>
          <p:cNvSpPr/>
          <p:nvPr/>
        </p:nvSpPr>
        <p:spPr>
          <a:xfrm>
            <a:off x="9079992" y="2889504"/>
            <a:ext cx="585216" cy="813816"/>
          </a:xfrm>
          <a:prstGeom prst="rect">
            <a:avLst/>
          </a:prstGeom>
          <a:solidFill>
            <a:srgbClr val="E9ECEB"/>
          </a:solidFill>
          <a:ln w="12700">
            <a:solidFill>
              <a:srgbClr val="24282C"/>
            </a:solidFill>
            <a:prstDash val="solid"/>
          </a:ln>
        </p:spPr>
        <p:txBody>
          <a:bodyPr/>
          <a:p/>
        </p:txBody>
      </p:sp>
      <p:sp>
        <p:nvSpPr>
          <p:cNvPr id="23" name="Shape 21"/>
          <p:cNvSpPr/>
          <p:nvPr/>
        </p:nvSpPr>
        <p:spPr>
          <a:xfrm>
            <a:off x="9893808" y="2962656"/>
            <a:ext cx="621792" cy="621792"/>
          </a:xfrm>
          <a:prstGeom prst="ellipse">
            <a:avLst/>
          </a:prstGeom>
          <a:solidFill>
            <a:srgbClr val="F5F4F1">
              <a:alpha val="0"/>
            </a:srgbClr>
          </a:solidFill>
          <a:ln w="25400">
            <a:solidFill>
              <a:srgbClr val="24282C"/>
            </a:solidFill>
            <a:prstDash val="solid"/>
          </a:ln>
        </p:spPr>
        <p:txBody>
          <a:bodyPr/>
          <a:p/>
        </p:txBody>
      </p:sp>
      <p:sp>
        <p:nvSpPr>
          <p:cNvPr id="24" name="Shape 22"/>
          <p:cNvSpPr/>
          <p:nvPr/>
        </p:nvSpPr>
        <p:spPr>
          <a:xfrm>
            <a:off x="10105217" y="3174065"/>
            <a:ext cx="198973" cy="198973"/>
          </a:xfrm>
          <a:prstGeom prst="ellipse">
            <a:avLst/>
          </a:prstGeom>
          <a:solidFill>
            <a:srgbClr val="F5F4F1">
              <a:alpha val="0"/>
            </a:srgbClr>
          </a:solidFill>
          <a:ln w="21590">
            <a:solidFill>
              <a:srgbClr val="24282C"/>
            </a:solidFill>
            <a:prstDash val="solid"/>
          </a:ln>
        </p:spPr>
        <p:txBody>
          <a:bodyPr/>
          <a:p/>
        </p:txBody>
      </p:sp>
      <p:sp>
        <p:nvSpPr>
          <p:cNvPr id="25" name="Text 23"/>
          <p:cNvSpPr/>
          <p:nvPr/>
        </p:nvSpPr>
        <p:spPr>
          <a:xfrm>
            <a:off x="749808" y="4197096"/>
            <a:ext cx="3035808" cy="438912"/>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Filter element</a:t>
            </a:r>
            <a:endParaRPr lang="en-US" sz="2300" dirty="0"/>
          </a:p>
        </p:txBody>
      </p:sp>
      <p:sp>
        <p:nvSpPr>
          <p:cNvPr id="26" name="Text 24"/>
          <p:cNvSpPr/>
          <p:nvPr/>
        </p:nvSpPr>
        <p:spPr>
          <a:xfrm>
            <a:off x="749808" y="4727448"/>
            <a:ext cx="3081528" cy="51206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A recurring replacement item.</a:t>
            </a:r>
            <a:endParaRPr lang="en-US" sz="1800" dirty="0"/>
          </a:p>
        </p:txBody>
      </p:sp>
      <p:sp>
        <p:nvSpPr>
          <p:cNvPr id="27" name="Text 25"/>
          <p:cNvSpPr/>
          <p:nvPr/>
        </p:nvSpPr>
        <p:spPr>
          <a:xfrm>
            <a:off x="749808" y="5367528"/>
            <a:ext cx="3081528" cy="502920"/>
          </a:xfrm>
          <a:prstGeom prst="rect">
            <a:avLst/>
          </a:prstGeom>
          <a:noFill/>
          <a:ln/>
        </p:spPr>
        <p:txBody>
          <a:bodyPr wrap="square" lIns="0" tIns="0" rIns="0" bIns="0" rtlCol="0" anchor="ctr">
            <a:no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relevant service need.</a:t>
            </a:r>
            <a:endParaRPr lang="en-US" sz="1700" dirty="0"/>
          </a:p>
        </p:txBody>
      </p:sp>
      <p:sp>
        <p:nvSpPr>
          <p:cNvPr id="28" name="Text 26"/>
          <p:cNvSpPr/>
          <p:nvPr/>
        </p:nvSpPr>
        <p:spPr>
          <a:xfrm>
            <a:off x="4590288" y="4197096"/>
            <a:ext cx="3035808" cy="438912"/>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Filter housing</a:t>
            </a:r>
            <a:endParaRPr lang="en-US" sz="2300" dirty="0"/>
          </a:p>
        </p:txBody>
      </p:sp>
      <p:sp>
        <p:nvSpPr>
          <p:cNvPr id="29" name="Text 27"/>
          <p:cNvSpPr/>
          <p:nvPr/>
        </p:nvSpPr>
        <p:spPr>
          <a:xfrm>
            <a:off x="4590288" y="4727448"/>
            <a:ext cx="3081528" cy="51206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A different repair requirement.</a:t>
            </a:r>
            <a:endParaRPr lang="en-US" sz="1800" dirty="0"/>
          </a:p>
        </p:txBody>
      </p:sp>
      <p:sp>
        <p:nvSpPr>
          <p:cNvPr id="30" name="Text 28"/>
          <p:cNvSpPr/>
          <p:nvPr/>
        </p:nvSpPr>
        <p:spPr>
          <a:xfrm>
            <a:off x="4590288" y="5367528"/>
            <a:ext cx="3081528" cy="502920"/>
          </a:xfrm>
          <a:prstGeom prst="rect">
            <a:avLst/>
          </a:prstGeom>
          <a:noFill/>
          <a:ln/>
        </p:spPr>
        <p:txBody>
          <a:bodyPr wrap="square" lIns="0" tIns="0" rIns="0" bIns="0" rtlCol="0" anchor="ctr">
            <a:no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correct assembly.</a:t>
            </a:r>
            <a:endParaRPr lang="en-US" sz="1700" dirty="0"/>
          </a:p>
        </p:txBody>
      </p:sp>
      <p:sp>
        <p:nvSpPr>
          <p:cNvPr id="31" name="Text 29"/>
          <p:cNvSpPr/>
          <p:nvPr/>
        </p:nvSpPr>
        <p:spPr>
          <a:xfrm>
            <a:off x="8458200" y="4197096"/>
            <a:ext cx="3035808" cy="438912"/>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Maintenance kit</a:t>
            </a:r>
            <a:endParaRPr lang="en-US" sz="2300" dirty="0"/>
          </a:p>
        </p:txBody>
      </p:sp>
      <p:sp>
        <p:nvSpPr>
          <p:cNvPr id="32" name="Text 30"/>
          <p:cNvSpPr/>
          <p:nvPr/>
        </p:nvSpPr>
        <p:spPr>
          <a:xfrm>
            <a:off x="8458200" y="4727448"/>
            <a:ext cx="3081528" cy="51206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Several validated contents.</a:t>
            </a:r>
            <a:endParaRPr lang="en-US" sz="1800" dirty="0"/>
          </a:p>
        </p:txBody>
      </p:sp>
      <p:sp>
        <p:nvSpPr>
          <p:cNvPr id="33" name="Text 31"/>
          <p:cNvSpPr/>
          <p:nvPr/>
        </p:nvSpPr>
        <p:spPr>
          <a:xfrm>
            <a:off x="8458200" y="5367528"/>
            <a:ext cx="3081528" cy="502920"/>
          </a:xfrm>
          <a:prstGeom prst="rect">
            <a:avLst/>
          </a:prstGeom>
          <a:noFill/>
          <a:ln/>
        </p:spPr>
        <p:txBody>
          <a:bodyPr wrap="square" lIns="0" tIns="0" rIns="0" bIns="0" rtlCol="0" anchor="ctr">
            <a:noAutofit/>
          </a:bodyPr>
          <a:lstStyle/>
          <a:p>
            <a:pPr indent="0" marL="0">
              <a:buNone/>
            </a:pPr>
            <a:r>
              <a:rPr lang="en-US" sz="1700" b="1" dirty="0">
                <a:solidFill>
                  <a:srgbClr val="D71920"/>
                </a:solidFill>
                <a:latin typeface="Arial" pitchFamily="34" charset="0"/>
                <a:ea typeface="Arial" pitchFamily="34" charset="-122"/>
                <a:cs typeface="Arial" pitchFamily="34" charset="-120"/>
              </a:rPr>
              <a:t>Compare the complete service basket.</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REINFORCED BY ZKK</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AIM brings the selling range together; ZKK stays intact.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Japan's reference information reinforces AIM without replacing its structure.</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REINFORCED BY ZKK</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09</a:t>
            </a:r>
            <a:endParaRPr lang="en-US" sz="1050" dirty="0"/>
          </a:p>
        </p:txBody>
      </p:sp>
      <p:sp>
        <p:nvSpPr>
          <p:cNvPr id="10" name="Text 8"/>
          <p:cNvSpPr/>
          <p:nvPr/>
        </p:nvSpPr>
        <p:spPr>
          <a:xfrm>
            <a:off x="713232" y="2715768"/>
            <a:ext cx="1975104" cy="1033272"/>
          </a:xfrm>
          <a:prstGeom prst="rect">
            <a:avLst/>
          </a:prstGeom>
          <a:noFill/>
          <a:ln/>
        </p:spPr>
        <p:txBody>
          <a:bodyPr wrap="square" lIns="0" tIns="0" rIns="0" bIns="0" rtlCol="0" anchor="ctr">
            <a:noAutofit/>
          </a:bodyPr>
          <a:lstStyle/>
          <a:p>
            <a:pPr indent="0" marL="0">
              <a:buNone/>
            </a:pPr>
            <a:r>
              <a:rPr lang="en-US" sz="8400" b="1" dirty="0">
                <a:solidFill>
                  <a:srgbClr val="24282C"/>
                </a:solidFill>
                <a:latin typeface="Arial" pitchFamily="34" charset="0"/>
                <a:ea typeface="Arial" pitchFamily="34" charset="-122"/>
                <a:cs typeface="Arial" pitchFamily="34" charset="-120"/>
              </a:rPr>
              <a:t>10</a:t>
            </a:r>
            <a:endParaRPr lang="en-US" sz="8400" dirty="0"/>
          </a:p>
        </p:txBody>
      </p:sp>
      <p:sp>
        <p:nvSpPr>
          <p:cNvPr id="11" name="Text 9"/>
          <p:cNvSpPr/>
          <p:nvPr/>
        </p:nvSpPr>
        <p:spPr>
          <a:xfrm>
            <a:off x="758952" y="3895344"/>
            <a:ext cx="2386584" cy="402336"/>
          </a:xfrm>
          <a:prstGeom prst="rect">
            <a:avLst/>
          </a:prstGeom>
          <a:noFill/>
          <a:ln/>
        </p:spPr>
        <p:txBody>
          <a:bodyPr wrap="square" lIns="0" tIns="0" rIns="0" bIns="0" rtlCol="0" anchor="ctr">
            <a:noAutofit/>
          </a:bodyPr>
          <a:lstStyle/>
          <a:p>
            <a:pPr indent="0" marL="0">
              <a:buNone/>
            </a:pPr>
            <a:r>
              <a:rPr lang="en-US" sz="2500" dirty="0">
                <a:solidFill>
                  <a:srgbClr val="626A71"/>
                </a:solidFill>
                <a:latin typeface="Arial" pitchFamily="34" charset="0"/>
                <a:ea typeface="Arial" pitchFamily="34" charset="-122"/>
                <a:cs typeface="Arial" pitchFamily="34" charset="-120"/>
              </a:rPr>
              <a:t>ZKK codes</a:t>
            </a:r>
            <a:endParaRPr lang="en-US" sz="2500" dirty="0"/>
          </a:p>
        </p:txBody>
      </p:sp>
      <p:sp>
        <p:nvSpPr>
          <p:cNvPr id="12" name="Shape 10"/>
          <p:cNvSpPr/>
          <p:nvPr/>
        </p:nvSpPr>
        <p:spPr>
          <a:xfrm>
            <a:off x="3282696" y="3639312"/>
            <a:ext cx="1481328" cy="0"/>
          </a:xfrm>
          <a:prstGeom prst="line">
            <a:avLst/>
          </a:prstGeom>
          <a:noFill/>
          <a:ln w="31750">
            <a:solidFill>
              <a:srgbClr val="D71920"/>
            </a:solidFill>
            <a:prstDash val="solid"/>
            <a:tailEnd type="triangle"/>
          </a:ln>
        </p:spPr>
        <p:txBody>
          <a:bodyPr/>
          <a:p/>
        </p:txBody>
      </p:sp>
      <p:sp>
        <p:nvSpPr>
          <p:cNvPr id="13" name="Shape 11"/>
          <p:cNvSpPr/>
          <p:nvPr/>
        </p:nvSpPr>
        <p:spPr>
          <a:xfrm>
            <a:off x="5120640" y="2670048"/>
            <a:ext cx="6355080" cy="2404872"/>
          </a:xfrm>
          <a:prstGeom prst="rect">
            <a:avLst/>
          </a:prstGeom>
          <a:solidFill>
            <a:srgbClr val="24282C"/>
          </a:solidFill>
          <a:ln w="12700">
            <a:solidFill>
              <a:srgbClr val="24282C"/>
            </a:solidFill>
            <a:prstDash val="solid"/>
          </a:ln>
        </p:spPr>
        <p:txBody>
          <a:bodyPr/>
          <a:p/>
        </p:txBody>
      </p:sp>
      <p:sp>
        <p:nvSpPr>
          <p:cNvPr id="14" name="Text 12"/>
          <p:cNvSpPr/>
          <p:nvPr/>
        </p:nvSpPr>
        <p:spPr>
          <a:xfrm>
            <a:off x="5422392" y="2990088"/>
            <a:ext cx="5705856" cy="612648"/>
          </a:xfrm>
          <a:prstGeom prst="rect">
            <a:avLst/>
          </a:prstGeom>
          <a:noFill/>
          <a:ln/>
        </p:spPr>
        <p:txBody>
          <a:bodyPr wrap="square" lIns="0" tIns="0" rIns="0" bIns="0" rtlCol="0" anchor="ctr">
            <a:noAutofit/>
          </a:bodyPr>
          <a:lstStyle/>
          <a:p>
            <a:pPr indent="0" marL="0">
              <a:buNone/>
            </a:pPr>
            <a:r>
              <a:rPr lang="en-US" sz="3500" b="1" dirty="0">
                <a:solidFill>
                  <a:srgbClr val="FFFFFF"/>
                </a:solidFill>
                <a:latin typeface="Arial" pitchFamily="34" charset="0"/>
                <a:ea typeface="Arial" pitchFamily="34" charset="-122"/>
                <a:cs typeface="Arial" pitchFamily="34" charset="-120"/>
              </a:rPr>
              <a:t>BRAKE PAD KIT</a:t>
            </a:r>
            <a:endParaRPr lang="en-US" sz="3500" dirty="0"/>
          </a:p>
        </p:txBody>
      </p:sp>
      <p:sp>
        <p:nvSpPr>
          <p:cNvPr id="15" name="Text 13"/>
          <p:cNvSpPr/>
          <p:nvPr/>
        </p:nvSpPr>
        <p:spPr>
          <a:xfrm>
            <a:off x="5449824" y="3895344"/>
            <a:ext cx="5440680" cy="886968"/>
          </a:xfrm>
          <a:prstGeom prst="rect">
            <a:avLst/>
          </a:prstGeom>
          <a:noFill/>
          <a:ln/>
        </p:spPr>
        <p:txBody>
          <a:bodyPr wrap="square" lIns="0" tIns="0" rIns="0" bIns="0" rtlCol="0" anchor="ctr">
            <a:noAutofit/>
          </a:bodyPr>
          <a:lstStyle/>
          <a:p>
            <a:pPr indent="0" marL="0">
              <a:buNone/>
            </a:pPr>
            <a:r>
              <a:rPr lang="en-US" sz="2400" dirty="0">
                <a:solidFill>
                  <a:srgbClr val="CCD1D2"/>
                </a:solidFill>
                <a:latin typeface="Arial" pitchFamily="34" charset="0"/>
                <a:ea typeface="Arial" pitchFamily="34" charset="-122"/>
                <a:cs typeface="Arial" pitchFamily="34" charset="-120"/>
              </a:rPr>
              <a:t>One recognisable product type</a:t>
            </a:r>
            <a:endParaRPr lang="en-US" sz="2400" dirty="0"/>
          </a:p>
          <a:p>
            <a:pPr indent="0" marL="0">
              <a:buNone/>
            </a:pPr>
            <a:r>
              <a:rPr lang="en-US" sz="2400" dirty="0">
                <a:solidFill>
                  <a:srgbClr val="CCD1D2"/>
                </a:solidFill>
                <a:latin typeface="Arial" pitchFamily="34" charset="0"/>
                <a:ea typeface="Arial" pitchFamily="34" charset="-122"/>
                <a:cs typeface="Arial" pitchFamily="34" charset="-120"/>
              </a:rPr>
              <a:t>for a sales or price review.</a:t>
            </a:r>
            <a:endParaRPr lang="en-US" sz="2400" dirty="0"/>
          </a:p>
        </p:txBody>
      </p:sp>
      <p:sp>
        <p:nvSpPr>
          <p:cNvPr id="16" name="Text 14"/>
          <p:cNvSpPr/>
          <p:nvPr/>
        </p:nvSpPr>
        <p:spPr>
          <a:xfrm>
            <a:off x="758952" y="5212080"/>
            <a:ext cx="10607040" cy="384048"/>
          </a:xfrm>
          <a:prstGeom prst="rect">
            <a:avLst/>
          </a:prstGeom>
          <a:noFill/>
          <a:ln/>
        </p:spPr>
        <p:txBody>
          <a:bodyPr wrap="square" lIns="0" tIns="0" rIns="0" bIns="0" rtlCol="0" anchor="ctr">
            <a:noAutofit/>
          </a:bodyPr>
          <a:lstStyle/>
          <a:p>
            <a:pPr indent="0" marL="0">
              <a:buNone/>
            </a:pPr>
            <a:r>
              <a:rPr lang="en-US" sz="2100" b="1" dirty="0">
                <a:solidFill>
                  <a:srgbClr val="24282C"/>
                </a:solidFill>
                <a:latin typeface="Arial" pitchFamily="34" charset="0"/>
                <a:ea typeface="Arial" pitchFamily="34" charset="-122"/>
                <a:cs typeface="Arial" pitchFamily="34" charset="-120"/>
              </a:rPr>
              <a:t>37 matched master records retain their original Japanese codes.</a:t>
            </a:r>
            <a:endParaRPr lang="en-US" sz="2100" dirty="0"/>
          </a:p>
        </p:txBody>
      </p:sp>
      <p:sp>
        <p:nvSpPr>
          <p:cNvPr id="18" name="Text 15"/>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Source: supplied master/Japan-reference review, 20 Sep 2026. Record counts, not units sold.</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SALES EXPLANATION</a:t>
            </a:r>
            <a:endParaRPr sz="105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Find the product movement behind the turnover headline.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AIM lets the same result be examined at family, product-group and part level.</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SALES EXPLANATION</a:t>
            </a:r>
            <a:endParaRPr sz="82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10</a:t>
            </a:r>
            <a:endParaRPr lang="en-US" sz="1050" dirty="0"/>
          </a:p>
        </p:txBody>
      </p:sp>
      <p:sp>
        <p:nvSpPr>
          <p:cNvPr id="10" name="Shape 8"/>
          <p:cNvSpPr/>
          <p:nvPr/>
        </p:nvSpPr>
        <p:spPr>
          <a:xfrm>
            <a:off x="585216" y="2624328"/>
            <a:ext cx="3328416" cy="2505456"/>
          </a:xfrm>
          <a:prstGeom prst="rect">
            <a:avLst/>
          </a:prstGeom>
          <a:solidFill>
            <a:srgbClr val="24282C"/>
          </a:solidFill>
          <a:ln w="12700">
            <a:solidFill>
              <a:srgbClr val="24282C"/>
            </a:solidFill>
            <a:prstDash val="solid"/>
          </a:ln>
        </p:spPr>
        <p:txBody>
          <a:bodyPr/>
          <a:p/>
        </p:txBody>
      </p:sp>
      <p:sp>
        <p:nvSpPr>
          <p:cNvPr id="11" name="Text 9"/>
          <p:cNvSpPr/>
          <p:nvPr/>
        </p:nvSpPr>
        <p:spPr>
          <a:xfrm>
            <a:off x="832104" y="2852928"/>
            <a:ext cx="2807208" cy="228600"/>
          </a:xfrm>
          <a:prstGeom prst="rect">
            <a:avLst/>
          </a:prstGeom>
          <a:noFill/>
          <a:ln/>
        </p:spPr>
        <p:txBody>
          <a:bodyPr wrap="square" lIns="0" tIns="0" rIns="0" bIns="0" rtlCol="0" anchor="ctr">
            <a:noAutofit/>
          </a:bodyPr>
          <a:lstStyle/>
          <a:p>
            <a:pPr indent="0" marL="0">
              <a:buNone/>
            </a:pPr>
            <a:r>
              <a:rPr lang="en-US" sz="1150" b="1" spc="100" kern="0" dirty="0">
                <a:solidFill>
                  <a:srgbClr val="CCD1D2"/>
                </a:solidFill>
                <a:latin typeface="Arial" pitchFamily="34" charset="0"/>
                <a:ea typeface="Arial" pitchFamily="34" charset="-122"/>
                <a:cs typeface="Arial" pitchFamily="34" charset="-120"/>
              </a:rPr>
              <a:t>THE HEADLINE</a:t>
            </a:r>
            <a:endParaRPr lang="en-US" sz="1150" dirty="0"/>
          </a:p>
        </p:txBody>
      </p:sp>
      <p:sp>
        <p:nvSpPr>
          <p:cNvPr id="12" name="Text 10"/>
          <p:cNvSpPr/>
          <p:nvPr/>
        </p:nvSpPr>
        <p:spPr>
          <a:xfrm>
            <a:off x="832104" y="3474720"/>
            <a:ext cx="2761488" cy="886968"/>
          </a:xfrm>
          <a:prstGeom prst="rect">
            <a:avLst/>
          </a:prstGeom>
          <a:noFill/>
          <a:ln/>
        </p:spPr>
        <p:txBody>
          <a:bodyPr wrap="square" lIns="0" tIns="0" rIns="0" bIns="0" rtlCol="0" anchor="ctr">
            <a:noAutofit/>
          </a:bodyPr>
          <a:lstStyle/>
          <a:p>
            <a:pPr indent="0" marL="0">
              <a:buNone/>
              <a:defRPr sz="3180"/>
            </a:pPr>
            <a:r>
              <a:rPr lang="en-US" sz="3180" b="1" dirty="0">
                <a:solidFill>
                  <a:srgbClr val="FFFFFF"/>
                </a:solidFill>
                <a:latin typeface="Arial" pitchFamily="34" charset="0"/>
                <a:ea typeface="Arial" pitchFamily="34" charset="-122"/>
                <a:cs typeface="Arial" pitchFamily="34" charset="-120"/>
              </a:rPr>
              <a:t>"Sales are up."</a:t>
            </a:r>
            <a:endParaRPr lang="en-US" sz="3180" dirty="0"/>
          </a:p>
        </p:txBody>
      </p:sp>
      <p:sp>
        <p:nvSpPr>
          <p:cNvPr id="13" name="Text 11"/>
          <p:cNvSpPr/>
          <p:nvPr/>
        </p:nvSpPr>
        <p:spPr>
          <a:xfrm>
            <a:off x="850392" y="4562856"/>
            <a:ext cx="2679192" cy="438912"/>
          </a:xfrm>
          <a:prstGeom prst="rect">
            <a:avLst/>
          </a:prstGeom>
          <a:noFill/>
          <a:ln/>
        </p:spPr>
        <p:txBody>
          <a:bodyPr wrap="square" lIns="0" tIns="0" rIns="0" bIns="0" rtlCol="0" anchor="ctr">
            <a:noAutofit/>
          </a:bodyPr>
          <a:lstStyle/>
          <a:p>
            <a:pPr indent="0" marL="0">
              <a:lnSpc>
                <a:spcPts val="1800"/>
              </a:lnSpc>
              <a:buNone/>
              <a:defRPr sz="1500"/>
            </a:pPr>
            <a:r>
              <a:rPr lang="en-US" sz="1500" dirty="0">
                <a:solidFill>
                  <a:srgbClr val="CCD1D2"/>
                </a:solidFill>
                <a:latin typeface="Arial" pitchFamily="34" charset="0"/>
                <a:ea typeface="Arial" pitchFamily="34" charset="-122"/>
                <a:cs typeface="Arial" pitchFamily="34" charset="-120"/>
              </a:rPr>
              <a:t>Useful, but not yet a diagnosis.</a:t>
            </a:r>
            <a:endParaRPr lang="en-US" sz="1500" dirty="0"/>
          </a:p>
        </p:txBody>
      </p:sp>
      <p:sp>
        <p:nvSpPr>
          <p:cNvPr id="14" name="Shape 12"/>
          <p:cNvSpPr/>
          <p:nvPr/>
        </p:nvSpPr>
        <p:spPr>
          <a:xfrm>
            <a:off x="4123944" y="3813048"/>
            <a:ext cx="448056" cy="0"/>
          </a:xfrm>
          <a:prstGeom prst="line">
            <a:avLst/>
          </a:prstGeom>
          <a:noFill/>
          <a:ln w="25400">
            <a:solidFill>
              <a:srgbClr val="D71920"/>
            </a:solidFill>
            <a:prstDash val="solid"/>
            <a:tailEnd type="triangle"/>
          </a:ln>
        </p:spPr>
        <p:txBody>
          <a:bodyPr/>
          <a:p/>
        </p:txBody>
      </p:sp>
      <p:sp>
        <p:nvSpPr>
          <p:cNvPr id="15" name="Text 13"/>
          <p:cNvSpPr/>
          <p:nvPr/>
        </p:nvSpPr>
        <p:spPr>
          <a:xfrm>
            <a:off x="4837176" y="264261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PRICE</a:t>
            </a:r>
            <a:endParaRPr lang="en-US" sz="1200" dirty="0"/>
          </a:p>
        </p:txBody>
      </p:sp>
      <p:sp>
        <p:nvSpPr>
          <p:cNvPr id="16" name="Text 14"/>
          <p:cNvSpPr/>
          <p:nvPr/>
        </p:nvSpPr>
        <p:spPr>
          <a:xfrm>
            <a:off x="6748272" y="262432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Did the same parts sell at a different net price?</a:t>
            </a:r>
            <a:endParaRPr lang="en-US" sz="1830" dirty="0"/>
          </a:p>
        </p:txBody>
      </p:sp>
      <p:sp>
        <p:nvSpPr>
          <p:cNvPr id="17" name="Shape 15"/>
          <p:cNvSpPr/>
          <p:nvPr/>
        </p:nvSpPr>
        <p:spPr>
          <a:xfrm>
            <a:off x="4837176" y="3227832"/>
            <a:ext cx="6601968" cy="0"/>
          </a:xfrm>
          <a:prstGeom prst="line">
            <a:avLst/>
          </a:prstGeom>
          <a:noFill/>
          <a:ln w="8890">
            <a:solidFill>
              <a:srgbClr val="D9DCDA"/>
            </a:solidFill>
            <a:prstDash val="solid"/>
          </a:ln>
        </p:spPr>
        <p:txBody>
          <a:bodyPr/>
          <a:p/>
        </p:txBody>
      </p:sp>
      <p:sp>
        <p:nvSpPr>
          <p:cNvPr id="18" name="Text 16"/>
          <p:cNvSpPr/>
          <p:nvPr/>
        </p:nvSpPr>
        <p:spPr>
          <a:xfrm>
            <a:off x="4837176" y="337413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VOLUME</a:t>
            </a:r>
            <a:endParaRPr lang="en-US" sz="1200" dirty="0"/>
          </a:p>
        </p:txBody>
      </p:sp>
      <p:sp>
        <p:nvSpPr>
          <p:cNvPr id="19" name="Text 17"/>
          <p:cNvSpPr/>
          <p:nvPr/>
        </p:nvSpPr>
        <p:spPr>
          <a:xfrm>
            <a:off x="6748272" y="335584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Did comparable quantities or repeat orders change?</a:t>
            </a:r>
            <a:endParaRPr lang="en-US" sz="1830" dirty="0"/>
          </a:p>
        </p:txBody>
      </p:sp>
      <p:sp>
        <p:nvSpPr>
          <p:cNvPr id="20" name="Shape 18"/>
          <p:cNvSpPr/>
          <p:nvPr/>
        </p:nvSpPr>
        <p:spPr>
          <a:xfrm>
            <a:off x="4837176" y="3959352"/>
            <a:ext cx="6601968" cy="0"/>
          </a:xfrm>
          <a:prstGeom prst="line">
            <a:avLst/>
          </a:prstGeom>
          <a:noFill/>
          <a:ln w="8890">
            <a:solidFill>
              <a:srgbClr val="D9DCDA"/>
            </a:solidFill>
            <a:prstDash val="solid"/>
          </a:ln>
        </p:spPr>
        <p:txBody>
          <a:bodyPr/>
          <a:p/>
        </p:txBody>
      </p:sp>
      <p:sp>
        <p:nvSpPr>
          <p:cNvPr id="21" name="Text 19"/>
          <p:cNvSpPr/>
          <p:nvPr/>
        </p:nvSpPr>
        <p:spPr>
          <a:xfrm>
            <a:off x="4837176" y="410565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MIX</a:t>
            </a:r>
            <a:endParaRPr lang="en-US" sz="1200" dirty="0"/>
          </a:p>
        </p:txBody>
      </p:sp>
      <p:sp>
        <p:nvSpPr>
          <p:cNvPr id="22" name="Text 20"/>
          <p:cNvSpPr/>
          <p:nvPr/>
        </p:nvSpPr>
        <p:spPr>
          <a:xfrm>
            <a:off x="6748272" y="4087368"/>
            <a:ext cx="4690872" cy="512064"/>
          </a:xfrm>
          <a:prstGeom prst="rect">
            <a:avLst/>
          </a:prstGeom>
          <a:noFill/>
          <a:ln/>
        </p:spPr>
        <p:txBody>
          <a:bodyPr wrap="square" lIns="0" tIns="0" rIns="0" bIns="0" rtlCol="0" anchor="ctr">
            <a:noAutofit/>
          </a:bodyPr>
          <a:lstStyle/>
          <a:p>
            <a:pPr indent="0" marL="0">
              <a:buNone/>
              <a:defRPr sz="1830"/>
            </a:pPr>
            <a:r>
              <a:rPr lang="en-US" sz="1760" dirty="0">
                <a:solidFill>
                  <a:srgbClr val="24282C"/>
                </a:solidFill>
                <a:latin typeface="Arial" pitchFamily="34" charset="0"/>
                <a:ea typeface="Arial" pitchFamily="34" charset="-122"/>
                <a:cs typeface="Arial" pitchFamily="34" charset="-120"/>
              </a:rPr>
              <a:t>Did kits, Best Value Parts (BVP) or major repairs change the mix?</a:t>
            </a:r>
            <a:endParaRPr sz="1760"/>
          </a:p>
        </p:txBody>
      </p:sp>
      <p:sp>
        <p:nvSpPr>
          <p:cNvPr id="23" name="Shape 21"/>
          <p:cNvSpPr/>
          <p:nvPr/>
        </p:nvSpPr>
        <p:spPr>
          <a:xfrm>
            <a:off x="4837176" y="4690872"/>
            <a:ext cx="6601968" cy="0"/>
          </a:xfrm>
          <a:prstGeom prst="line">
            <a:avLst/>
          </a:prstGeom>
          <a:noFill/>
          <a:ln w="8890">
            <a:solidFill>
              <a:srgbClr val="D9DCDA"/>
            </a:solidFill>
            <a:prstDash val="solid"/>
          </a:ln>
        </p:spPr>
        <p:txBody>
          <a:bodyPr/>
          <a:p/>
        </p:txBody>
      </p:sp>
      <p:sp>
        <p:nvSpPr>
          <p:cNvPr id="24" name="Text 22"/>
          <p:cNvSpPr/>
          <p:nvPr/>
        </p:nvSpPr>
        <p:spPr>
          <a:xfrm>
            <a:off x="4837176" y="4837176"/>
            <a:ext cx="1901952" cy="274320"/>
          </a:xfrm>
          <a:prstGeom prst="rect">
            <a:avLst/>
          </a:prstGeom>
          <a:noFill/>
          <a:ln/>
        </p:spPr>
        <p:txBody>
          <a:bodyPr wrap="square" lIns="0" tIns="0" rIns="0" bIns="0" rtlCol="0" anchor="ctr">
            <a:noAutofit/>
          </a:bodyPr>
          <a:lstStyle/>
          <a:p>
            <a:pPr indent="0" marL="0">
              <a:buNone/>
            </a:pPr>
            <a:r>
              <a:rPr lang="en-US" sz="1200" b="1" dirty="0">
                <a:solidFill>
                  <a:srgbClr val="D71920"/>
                </a:solidFill>
                <a:latin typeface="Arial" pitchFamily="34" charset="0"/>
                <a:ea typeface="Arial" pitchFamily="34" charset="-122"/>
                <a:cs typeface="Arial" pitchFamily="34" charset="-120"/>
              </a:rPr>
              <a:t>CONCENTRATION</a:t>
            </a:r>
            <a:endParaRPr lang="en-US" sz="1200" dirty="0"/>
          </a:p>
        </p:txBody>
      </p:sp>
      <p:sp>
        <p:nvSpPr>
          <p:cNvPr id="25" name="Text 23"/>
          <p:cNvSpPr/>
          <p:nvPr/>
        </p:nvSpPr>
        <p:spPr>
          <a:xfrm>
            <a:off x="6748272" y="4818888"/>
            <a:ext cx="4690872" cy="512064"/>
          </a:xfrm>
          <a:prstGeom prst="rect">
            <a:avLst/>
          </a:prstGeom>
          <a:noFill/>
          <a:ln/>
        </p:spPr>
        <p:txBody>
          <a:bodyPr wrap="square" lIns="0" tIns="0" rIns="0" bIns="0" rtlCol="0" anchor="ctr">
            <a:noAutofit/>
          </a:bodyPr>
          <a:lstStyle/>
          <a:p>
            <a:pPr indent="0" marL="0">
              <a:buNone/>
              <a:defRPr sz="1830"/>
            </a:pPr>
            <a:r>
              <a:rPr lang="en-US" sz="1830" dirty="0">
                <a:solidFill>
                  <a:srgbClr val="24282C"/>
                </a:solidFill>
                <a:latin typeface="Arial" pitchFamily="34" charset="0"/>
                <a:ea typeface="Arial" pitchFamily="34" charset="-122"/>
                <a:cs typeface="Arial" pitchFamily="34" charset="-120"/>
              </a:rPr>
              <a:t>Is the family movement really one large part number?</a:t>
            </a:r>
            <a:endParaRPr lang="en-US" sz="1830" dirty="0"/>
          </a:p>
        </p:txBody>
      </p:sp>
      <p:sp>
        <p:nvSpPr>
          <p:cNvPr id="26" name="Shape 24"/>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7" name="Text 25"/>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More repeat-service business and a one-off major repair demand different follow-up.</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MARKET COMPARISON</a:t>
            </a:r>
            <a:endParaRPr sz="105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Market size can hide the more useful question:</a:t>
            </a:r>
            <a:br/>
            <a:r>
              <a:rPr sz="3000" b="1">
                <a:solidFill>
                  <a:srgbClr val="24282C"/>
                </a:solidFill>
                <a:latin typeface="Arial"/>
              </a:rPr>
              <a:t>spend per vehicle.</a:t>
            </a:r>
            <a:endParaRPr lang="en-US" sz="3150" dirty="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Calendar 2025 parts billed per vehicle in service: a starting signal for category review.</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MARKET COMPARISON</a:t>
            </a:r>
            <a:endParaRPr sz="82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15</a:t>
            </a:r>
            <a:endParaRPr sz="1050"/>
          </a:p>
        </p:txBody>
      </p:sp>
      <p:sp>
        <p:nvSpPr>
          <p:cNvPr id="10" name="Text 8"/>
          <p:cNvSpPr/>
          <p:nvPr/>
        </p:nvSpPr>
        <p:spPr>
          <a:xfrm>
            <a:off x="658368" y="2816352"/>
            <a:ext cx="1828800" cy="329184"/>
          </a:xfrm>
          <a:prstGeom prst="rect">
            <a:avLst/>
          </a:prstGeom>
          <a:noFill/>
          <a:ln/>
        </p:spPr>
        <p:txBody>
          <a:bodyPr wrap="square" lIns="0" tIns="0" rIns="0" bIns="0" rtlCol="0" anchor="ctr">
            <a:noAutofit/>
          </a:bodyPr>
          <a:lstStyle/>
          <a:p>
            <a:pPr indent="0" marL="0">
              <a:buNone/>
            </a:pPr>
            <a:r>
              <a:rPr lang="en-US" sz="1800" b="1" dirty="0">
                <a:solidFill>
                  <a:srgbClr val="24282C"/>
                </a:solidFill>
                <a:latin typeface="Arial" pitchFamily="34" charset="0"/>
                <a:ea typeface="Arial" pitchFamily="34" charset="-122"/>
                <a:cs typeface="Arial" pitchFamily="34" charset="-120"/>
              </a:rPr>
              <a:t>NORWAY</a:t>
            </a:r>
            <a:endParaRPr lang="en-US" sz="1800" dirty="0"/>
          </a:p>
        </p:txBody>
      </p:sp>
      <p:sp>
        <p:nvSpPr>
          <p:cNvPr id="11" name="Shape 9"/>
          <p:cNvSpPr/>
          <p:nvPr/>
        </p:nvSpPr>
        <p:spPr>
          <a:xfrm>
            <a:off x="2798064" y="2825496"/>
            <a:ext cx="5245867" cy="393192"/>
          </a:xfrm>
          <a:prstGeom prst="rect">
            <a:avLst/>
          </a:prstGeom>
          <a:solidFill>
            <a:srgbClr val="24282C"/>
          </a:solidFill>
          <a:ln w="12700">
            <a:solidFill>
              <a:srgbClr val="24282C"/>
            </a:solidFill>
            <a:prstDash val="solid"/>
          </a:ln>
        </p:spPr>
        <p:txBody>
          <a:bodyPr/>
          <a:p/>
        </p:txBody>
      </p:sp>
      <p:sp>
        <p:nvSpPr>
          <p:cNvPr id="12" name="Text 10"/>
          <p:cNvSpPr/>
          <p:nvPr/>
        </p:nvSpPr>
        <p:spPr>
          <a:xfrm>
            <a:off x="8171947" y="2807208"/>
            <a:ext cx="923544" cy="402336"/>
          </a:xfrm>
          <a:prstGeom prst="rect">
            <a:avLst/>
          </a:prstGeom>
          <a:noFill/>
          <a:ln/>
        </p:spPr>
        <p:txBody>
          <a:bodyPr wrap="square" lIns="0" tIns="0" rIns="0" bIns="0" rtlCol="0" anchor="ctr">
            <a:noAutofit/>
          </a:bodyPr>
          <a:lstStyle/>
          <a:p>
            <a:pPr indent="0" marL="0">
              <a:buNone/>
            </a:pPr>
            <a:r>
              <a:rPr lang="en-US" sz="2500" b="1" dirty="0">
                <a:solidFill>
                  <a:srgbClr val="24282C"/>
                </a:solidFill>
                <a:latin typeface="Arial" pitchFamily="34" charset="0"/>
                <a:ea typeface="Arial" pitchFamily="34" charset="-122"/>
                <a:cs typeface="Arial" pitchFamily="34" charset="-120"/>
              </a:rPr>
              <a:t>€179</a:t>
            </a:r>
            <a:endParaRPr lang="en-US" sz="2500" dirty="0"/>
          </a:p>
        </p:txBody>
      </p:sp>
      <p:sp>
        <p:nvSpPr>
          <p:cNvPr id="13" name="Text 11"/>
          <p:cNvSpPr/>
          <p:nvPr/>
        </p:nvSpPr>
        <p:spPr>
          <a:xfrm>
            <a:off x="2798064" y="3410712"/>
            <a:ext cx="7644384" cy="274320"/>
          </a:xfrm>
          <a:prstGeom prst="rect">
            <a:avLst/>
          </a:prstGeom>
          <a:noFill/>
          <a:ln/>
        </p:spPr>
        <p:txBody>
          <a:bodyPr wrap="square" lIns="0" tIns="0" rIns="0" bIns="0" rtlCol="0" anchor="ctr">
            <a:noAutofit/>
          </a:bodyPr>
          <a:lstStyle/>
          <a:p>
            <a:pPr indent="0" marL="0">
              <a:buNone/>
            </a:pPr>
            <a:r>
              <a:rPr lang="en-US" sz="1560" dirty="0">
                <a:solidFill>
                  <a:srgbClr val="626A71"/>
                </a:solidFill>
                <a:latin typeface="Arial" pitchFamily="34" charset="0"/>
                <a:ea typeface="Arial" pitchFamily="34" charset="-122"/>
                <a:cs typeface="Arial" pitchFamily="34" charset="-120"/>
              </a:rPr>
              <a:t>€1,416,552 parts billed  |  7,929 vehicles in service</a:t>
            </a:r>
            <a:endParaRPr lang="en-US" sz="1560" dirty="0"/>
          </a:p>
        </p:txBody>
      </p:sp>
      <p:sp>
        <p:nvSpPr>
          <p:cNvPr id="14" name="Text 12"/>
          <p:cNvSpPr/>
          <p:nvPr/>
        </p:nvSpPr>
        <p:spPr>
          <a:xfrm>
            <a:off x="658368" y="4059936"/>
            <a:ext cx="1828800" cy="329184"/>
          </a:xfrm>
          <a:prstGeom prst="rect">
            <a:avLst/>
          </a:prstGeom>
          <a:noFill/>
          <a:ln/>
        </p:spPr>
        <p:txBody>
          <a:bodyPr wrap="square" lIns="0" tIns="0" rIns="0" bIns="0" rtlCol="0" anchor="ctr">
            <a:noAutofit/>
          </a:bodyPr>
          <a:lstStyle/>
          <a:p>
            <a:pPr indent="0" marL="0">
              <a:buNone/>
            </a:pPr>
            <a:r>
              <a:rPr lang="en-US" sz="1800" b="1" dirty="0">
                <a:solidFill>
                  <a:srgbClr val="24282C"/>
                </a:solidFill>
                <a:latin typeface="Arial" pitchFamily="34" charset="0"/>
                <a:ea typeface="Arial" pitchFamily="34" charset="-122"/>
                <a:cs typeface="Arial" pitchFamily="34" charset="-120"/>
              </a:rPr>
              <a:t>SWEDEN</a:t>
            </a:r>
            <a:endParaRPr lang="en-US" sz="1800" dirty="0"/>
          </a:p>
        </p:txBody>
      </p:sp>
      <p:sp>
        <p:nvSpPr>
          <p:cNvPr id="15" name="Shape 13"/>
          <p:cNvSpPr/>
          <p:nvPr/>
        </p:nvSpPr>
        <p:spPr>
          <a:xfrm>
            <a:off x="2798064" y="4069080"/>
            <a:ext cx="4425285" cy="393192"/>
          </a:xfrm>
          <a:prstGeom prst="rect">
            <a:avLst/>
          </a:prstGeom>
          <a:solidFill>
            <a:srgbClr val="D71920"/>
          </a:solidFill>
          <a:ln w="12700">
            <a:solidFill>
              <a:srgbClr val="D71920"/>
            </a:solidFill>
            <a:prstDash val="solid"/>
          </a:ln>
        </p:spPr>
        <p:txBody>
          <a:bodyPr/>
          <a:p/>
        </p:txBody>
      </p:sp>
      <p:sp>
        <p:nvSpPr>
          <p:cNvPr id="16" name="Text 14"/>
          <p:cNvSpPr/>
          <p:nvPr/>
        </p:nvSpPr>
        <p:spPr>
          <a:xfrm>
            <a:off x="7351365" y="4050792"/>
            <a:ext cx="923544" cy="402336"/>
          </a:xfrm>
          <a:prstGeom prst="rect">
            <a:avLst/>
          </a:prstGeom>
          <a:noFill/>
          <a:ln/>
        </p:spPr>
        <p:txBody>
          <a:bodyPr wrap="square" lIns="0" tIns="0" rIns="0" bIns="0" rtlCol="0" anchor="ctr">
            <a:noAutofit/>
          </a:bodyPr>
          <a:lstStyle/>
          <a:p>
            <a:pPr indent="0" marL="0">
              <a:buNone/>
            </a:pPr>
            <a:r>
              <a:rPr lang="en-US" sz="2500" b="1" dirty="0">
                <a:solidFill>
                  <a:srgbClr val="24282C"/>
                </a:solidFill>
                <a:latin typeface="Arial" pitchFamily="34" charset="0"/>
                <a:ea typeface="Arial" pitchFamily="34" charset="-122"/>
                <a:cs typeface="Arial" pitchFamily="34" charset="-120"/>
              </a:rPr>
              <a:t>€151</a:t>
            </a:r>
            <a:endParaRPr lang="en-US" sz="2500" dirty="0"/>
          </a:p>
        </p:txBody>
      </p:sp>
      <p:sp>
        <p:nvSpPr>
          <p:cNvPr id="17" name="Text 15"/>
          <p:cNvSpPr/>
          <p:nvPr/>
        </p:nvSpPr>
        <p:spPr>
          <a:xfrm>
            <a:off x="2798064" y="4654296"/>
            <a:ext cx="7644384" cy="274320"/>
          </a:xfrm>
          <a:prstGeom prst="rect">
            <a:avLst/>
          </a:prstGeom>
          <a:noFill/>
          <a:ln/>
        </p:spPr>
        <p:txBody>
          <a:bodyPr wrap="square" lIns="0" tIns="0" rIns="0" bIns="0" rtlCol="0" anchor="ctr">
            <a:noAutofit/>
          </a:bodyPr>
          <a:lstStyle/>
          <a:p>
            <a:pPr indent="0" marL="0">
              <a:buNone/>
            </a:pPr>
            <a:r>
              <a:rPr lang="en-US" sz="1560" dirty="0">
                <a:solidFill>
                  <a:srgbClr val="626A71"/>
                </a:solidFill>
                <a:latin typeface="Arial" pitchFamily="34" charset="0"/>
                <a:ea typeface="Arial" pitchFamily="34" charset="-122"/>
                <a:cs typeface="Arial" pitchFamily="34" charset="-120"/>
              </a:rPr>
              <a:t>€1,278,462 parts billed  |  8,443 vehicles in service</a:t>
            </a:r>
            <a:endParaRPr lang="en-US" sz="1560" dirty="0"/>
          </a:p>
        </p:txBody>
      </p:sp>
      <p:sp>
        <p:nvSpPr>
          <p:cNvPr id="18" name="Text 16"/>
          <p:cNvSpPr/>
          <p:nvPr/>
        </p:nvSpPr>
        <p:spPr>
          <a:xfrm>
            <a:off x="694944" y="5358384"/>
            <a:ext cx="3730752" cy="347472"/>
          </a:xfrm>
          <a:prstGeom prst="rect">
            <a:avLst/>
          </a:prstGeom>
          <a:noFill/>
          <a:ln/>
        </p:spPr>
        <p:txBody>
          <a:bodyPr wrap="square" lIns="0" tIns="0" rIns="0" bIns="0" rtlCol="0" anchor="ctr">
            <a:noAutofit/>
          </a:bodyPr>
          <a:lstStyle/>
          <a:p>
            <a:pPr indent="0" marL="0">
              <a:buNone/>
              <a:defRPr sz="2000"/>
            </a:pPr>
            <a:r>
              <a:rPr lang="en-US" sz="2000" b="1" dirty="0">
                <a:solidFill>
                  <a:srgbClr val="D71920"/>
                </a:solidFill>
                <a:latin typeface="Arial" pitchFamily="34" charset="0"/>
                <a:ea typeface="Arial" pitchFamily="34" charset="-122"/>
                <a:cs typeface="Arial" pitchFamily="34" charset="-120"/>
              </a:rPr>
              <a:t>AIM adds the next question:</a:t>
            </a:r>
            <a:endParaRPr lang="en-US" sz="2000" dirty="0"/>
          </a:p>
        </p:txBody>
      </p:sp>
      <p:sp>
        <p:nvSpPr>
          <p:cNvPr id="19" name="Text 17"/>
          <p:cNvSpPr/>
          <p:nvPr/>
        </p:nvSpPr>
        <p:spPr>
          <a:xfrm>
            <a:off x="4572000" y="5349240"/>
            <a:ext cx="6803136" cy="457200"/>
          </a:xfrm>
          <a:prstGeom prst="rect">
            <a:avLst/>
          </a:prstGeom>
          <a:noFill/>
          <a:ln/>
        </p:spPr>
        <p:txBody>
          <a:bodyPr wrap="square" lIns="0" tIns="0" rIns="0" bIns="0" rtlCol="0" anchor="ctr">
            <a:noAutofit/>
          </a:bodyPr>
          <a:lstStyle/>
          <a:p>
            <a:pPr indent="0" marL="0">
              <a:buNone/>
            </a:pPr>
            <a:r>
              <a:rPr lang="en-US" sz="2300" b="1" dirty="0">
                <a:solidFill>
                  <a:srgbClr val="24282C"/>
                </a:solidFill>
                <a:latin typeface="Arial" pitchFamily="34" charset="0"/>
                <a:ea typeface="Arial" pitchFamily="34" charset="-122"/>
                <a:cs typeface="Arial" pitchFamily="34" charset="-120"/>
              </a:rPr>
              <a:t>Which product family explains the difference?</a:t>
            </a:r>
            <a:endParaRPr lang="en-US" sz="2300" dirty="0"/>
          </a:p>
        </p:txBody>
      </p:sp>
      <p:sp>
        <p:nvSpPr>
          <p:cNvPr id="21" name="Text 18"/>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Source: ISZE numbers context, 19 Sep 2026; calendar 2025. Match vehicle mix before setting a target.</a:t>
            </a:r>
            <a:endParaRPr lang="en-US" sz="8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MARKET COMPARISON</a:t>
            </a:r>
            <a:endParaRPr sz="105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Compare the same product question in each market.</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AIM supplies a common range; the comparison then controls for the business context.</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MARKET COMPARISON</a:t>
            </a:r>
            <a:endParaRPr sz="82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16</a:t>
            </a:r>
            <a:endParaRPr sz="1050"/>
          </a:p>
        </p:txBody>
      </p:sp>
      <p:sp>
        <p:nvSpPr>
          <p:cNvPr id="10" name="Text 8"/>
          <p:cNvSpPr/>
          <p:nvPr/>
        </p:nvSpPr>
        <p:spPr>
          <a:xfrm>
            <a:off x="612648"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PRODUCT</a:t>
            </a:r>
            <a:endParaRPr lang="en-US" sz="1200" dirty="0"/>
          </a:p>
        </p:txBody>
      </p:sp>
      <p:sp>
        <p:nvSpPr>
          <p:cNvPr id="11" name="Text 9"/>
          <p:cNvSpPr/>
          <p:nvPr/>
        </p:nvSpPr>
        <p:spPr>
          <a:xfrm>
            <a:off x="612648"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The same type</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and applicable range</a:t>
            </a:r>
            <a:endParaRPr lang="en-US" sz="2100" dirty="0"/>
          </a:p>
        </p:txBody>
      </p:sp>
      <p:sp>
        <p:nvSpPr>
          <p:cNvPr id="12" name="Shape 10"/>
          <p:cNvSpPr/>
          <p:nvPr/>
        </p:nvSpPr>
        <p:spPr>
          <a:xfrm>
            <a:off x="3191256" y="3483864"/>
            <a:ext cx="201168" cy="0"/>
          </a:xfrm>
          <a:prstGeom prst="line">
            <a:avLst/>
          </a:prstGeom>
          <a:noFill/>
          <a:ln w="19050">
            <a:solidFill>
              <a:srgbClr val="D71920"/>
            </a:solidFill>
            <a:prstDash val="solid"/>
            <a:tailEnd type="triangle"/>
          </a:ln>
        </p:spPr>
        <p:txBody>
          <a:bodyPr/>
          <a:p/>
        </p:txBody>
      </p:sp>
      <p:sp>
        <p:nvSpPr>
          <p:cNvPr id="13" name="Text 11"/>
          <p:cNvSpPr/>
          <p:nvPr/>
        </p:nvSpPr>
        <p:spPr>
          <a:xfrm>
            <a:off x="3502152"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FLEET</a:t>
            </a:r>
            <a:endParaRPr lang="en-US" sz="1200" dirty="0"/>
          </a:p>
        </p:txBody>
      </p:sp>
      <p:sp>
        <p:nvSpPr>
          <p:cNvPr id="14" name="Text 12"/>
          <p:cNvSpPr/>
          <p:nvPr/>
        </p:nvSpPr>
        <p:spPr>
          <a:xfrm>
            <a:off x="3502152"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Relevant vehicles</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and operating use</a:t>
            </a:r>
            <a:endParaRPr lang="en-US" sz="2100" dirty="0"/>
          </a:p>
        </p:txBody>
      </p:sp>
      <p:sp>
        <p:nvSpPr>
          <p:cNvPr id="15" name="Shape 13"/>
          <p:cNvSpPr/>
          <p:nvPr/>
        </p:nvSpPr>
        <p:spPr>
          <a:xfrm>
            <a:off x="6080760" y="3483864"/>
            <a:ext cx="201168" cy="0"/>
          </a:xfrm>
          <a:prstGeom prst="line">
            <a:avLst/>
          </a:prstGeom>
          <a:noFill/>
          <a:ln w="19050">
            <a:solidFill>
              <a:srgbClr val="D71920"/>
            </a:solidFill>
            <a:prstDash val="solid"/>
            <a:tailEnd type="triangle"/>
          </a:ln>
        </p:spPr>
        <p:txBody>
          <a:bodyPr/>
          <a:p/>
        </p:txBody>
      </p:sp>
      <p:sp>
        <p:nvSpPr>
          <p:cNvPr id="16" name="Text 14"/>
          <p:cNvSpPr/>
          <p:nvPr/>
        </p:nvSpPr>
        <p:spPr>
          <a:xfrm>
            <a:off x="6391656"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PERIOD</a:t>
            </a:r>
            <a:endParaRPr lang="en-US" sz="1200" dirty="0"/>
          </a:p>
        </p:txBody>
      </p:sp>
      <p:sp>
        <p:nvSpPr>
          <p:cNvPr id="17" name="Text 15"/>
          <p:cNvSpPr/>
          <p:nvPr/>
        </p:nvSpPr>
        <p:spPr>
          <a:xfrm>
            <a:off x="6391656"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The same months</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and sales stage</a:t>
            </a:r>
            <a:endParaRPr lang="en-US" sz="2100" dirty="0"/>
          </a:p>
        </p:txBody>
      </p:sp>
      <p:sp>
        <p:nvSpPr>
          <p:cNvPr id="18" name="Shape 16"/>
          <p:cNvSpPr/>
          <p:nvPr/>
        </p:nvSpPr>
        <p:spPr>
          <a:xfrm>
            <a:off x="8970264" y="3483864"/>
            <a:ext cx="201168" cy="0"/>
          </a:xfrm>
          <a:prstGeom prst="line">
            <a:avLst/>
          </a:prstGeom>
          <a:noFill/>
          <a:ln w="19050">
            <a:solidFill>
              <a:srgbClr val="D71920"/>
            </a:solidFill>
            <a:prstDash val="solid"/>
            <a:tailEnd type="triangle"/>
          </a:ln>
        </p:spPr>
        <p:txBody>
          <a:bodyPr/>
          <a:p/>
        </p:txBody>
      </p:sp>
      <p:sp>
        <p:nvSpPr>
          <p:cNvPr id="19" name="Text 17"/>
          <p:cNvSpPr/>
          <p:nvPr/>
        </p:nvSpPr>
        <p:spPr>
          <a:xfrm>
            <a:off x="9281160" y="2706624"/>
            <a:ext cx="2505456" cy="301752"/>
          </a:xfrm>
          <a:prstGeom prst="rect">
            <a:avLst/>
          </a:prstGeom>
          <a:noFill/>
          <a:ln/>
        </p:spPr>
        <p:txBody>
          <a:bodyPr wrap="square" lIns="0" tIns="0" rIns="0" bIns="0" rtlCol="0" anchor="ctr">
            <a:noAutofit/>
          </a:bodyPr>
          <a:lstStyle/>
          <a:p>
            <a:pPr indent="0" marL="0">
              <a:buNone/>
            </a:pPr>
            <a:r>
              <a:rPr lang="en-US" sz="1200" b="1" spc="60" kern="0" dirty="0">
                <a:solidFill>
                  <a:srgbClr val="D71920"/>
                </a:solidFill>
                <a:latin typeface="Arial" pitchFamily="34" charset="0"/>
                <a:ea typeface="Arial" pitchFamily="34" charset="-122"/>
                <a:cs typeface="Arial" pitchFamily="34" charset="-120"/>
              </a:rPr>
              <a:t>RESULT</a:t>
            </a:r>
            <a:endParaRPr lang="en-US" sz="1200" dirty="0"/>
          </a:p>
        </p:txBody>
      </p:sp>
      <p:sp>
        <p:nvSpPr>
          <p:cNvPr id="20" name="Text 18"/>
          <p:cNvSpPr/>
          <p:nvPr/>
        </p:nvSpPr>
        <p:spPr>
          <a:xfrm>
            <a:off x="9281160" y="3218688"/>
            <a:ext cx="2459736" cy="1124712"/>
          </a:xfrm>
          <a:prstGeom prst="rect">
            <a:avLst/>
          </a:prstGeom>
          <a:noFill/>
          <a:ln/>
        </p:spPr>
        <p:txBody>
          <a:bodyPr wrap="square" lIns="0" tIns="0" rIns="0" bIns="0" rtlCol="0" anchor="t">
            <a:noAutofit/>
          </a:bodyPr>
          <a:lstStyle/>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Volume, spend per</a:t>
            </a:r>
            <a:endParaRPr lang="en-US" sz="2100" dirty="0"/>
          </a:p>
          <a:p>
            <a:pPr indent="0" marL="0">
              <a:lnSpc>
                <a:spcPts val="2400"/>
              </a:lnSpc>
              <a:buNone/>
              <a:defRPr sz="2100"/>
            </a:pPr>
            <a:r>
              <a:rPr lang="en-US" sz="2100" b="1" dirty="0">
                <a:solidFill>
                  <a:srgbClr val="24282C"/>
                </a:solidFill>
                <a:latin typeface="Arial" pitchFamily="34" charset="0"/>
                <a:ea typeface="Arial" pitchFamily="34" charset="-122"/>
                <a:cs typeface="Arial" pitchFamily="34" charset="-120"/>
              </a:rPr>
              <a:t>vehicle and contribution</a:t>
            </a:r>
            <a:endParaRPr lang="en-US" sz="2100" dirty="0"/>
          </a:p>
        </p:txBody>
      </p:sp>
      <p:sp>
        <p:nvSpPr>
          <p:cNvPr id="21" name="Shape 19"/>
          <p:cNvSpPr/>
          <p:nvPr/>
        </p:nvSpPr>
        <p:spPr>
          <a:xfrm>
            <a:off x="621792" y="4599432"/>
            <a:ext cx="10890504" cy="0"/>
          </a:xfrm>
          <a:prstGeom prst="line">
            <a:avLst/>
          </a:prstGeom>
          <a:noFill/>
          <a:ln w="12700">
            <a:solidFill>
              <a:srgbClr val="D9DCDA"/>
            </a:solidFill>
            <a:prstDash val="solid"/>
          </a:ln>
        </p:spPr>
        <p:txBody>
          <a:bodyPr/>
          <a:p/>
        </p:txBody>
      </p:sp>
      <p:sp>
        <p:nvSpPr>
          <p:cNvPr id="22" name="Text 20"/>
          <p:cNvSpPr/>
          <p:nvPr/>
        </p:nvSpPr>
        <p:spPr>
          <a:xfrm>
            <a:off x="658368" y="5001768"/>
            <a:ext cx="6446520" cy="905256"/>
          </a:xfrm>
          <a:prstGeom prst="rect">
            <a:avLst/>
          </a:prstGeom>
          <a:noFill/>
          <a:ln/>
        </p:spPr>
        <p:txBody>
          <a:bodyPr wrap="square" lIns="0" tIns="0" rIns="0" bIns="0" rtlCol="0" anchor="t">
            <a:noAutofit/>
          </a:bodyPr>
          <a:lstStyle/>
          <a:p>
            <a:pPr indent="0" marL="0">
              <a:buNone/>
            </a:pPr>
            <a:r>
              <a:rPr lang="en-US" sz="2800" b="1" dirty="0">
                <a:solidFill>
                  <a:srgbClr val="24282C"/>
                </a:solidFill>
                <a:latin typeface="Arial" pitchFamily="34" charset="0"/>
                <a:ea typeface="Arial" pitchFamily="34" charset="-122"/>
                <a:cs typeface="Arial" pitchFamily="34" charset="-120"/>
              </a:rPr>
              <a:t>Transfer the winning practice,</a:t>
            </a:r>
            <a:endParaRPr lang="en-US" sz="2800" dirty="0"/>
          </a:p>
          <a:p>
            <a:pPr indent="0" marL="0">
              <a:buNone/>
            </a:pPr>
            <a:r>
              <a:rPr lang="en-US" sz="2800" b="1" dirty="0">
                <a:solidFill>
                  <a:srgbClr val="24282C"/>
                </a:solidFill>
                <a:latin typeface="Arial" pitchFamily="34" charset="0"/>
                <a:ea typeface="Arial" pitchFamily="34" charset="-122"/>
                <a:cs typeface="Arial" pitchFamily="34" charset="-120"/>
              </a:rPr>
              <a:t>not the raw country average.</a:t>
            </a:r>
            <a:endParaRPr lang="en-US" sz="2800" dirty="0"/>
          </a:p>
        </p:txBody>
      </p:sp>
      <p:sp>
        <p:nvSpPr>
          <p:cNvPr id="23" name="Text 21"/>
          <p:cNvSpPr/>
          <p:nvPr/>
        </p:nvSpPr>
        <p:spPr>
          <a:xfrm>
            <a:off x="7635240" y="4992624"/>
            <a:ext cx="3685032" cy="978408"/>
          </a:xfrm>
          <a:prstGeom prst="rect">
            <a:avLst/>
          </a:prstGeom>
          <a:noFill/>
          <a:ln/>
        </p:spPr>
        <p:txBody>
          <a:bodyPr wrap="square" lIns="0" tIns="0" rIns="0" bIns="0" rtlCol="0" anchor="t">
            <a:noAutofit/>
          </a:bodyPr>
          <a:lstStyle/>
          <a:p>
            <a:pPr indent="0" marL="0">
              <a:buNone/>
            </a:pPr>
            <a:r>
              <a:rPr lang="en-US" sz="1900" dirty="0">
                <a:solidFill>
                  <a:srgbClr val="626A71"/>
                </a:solidFill>
                <a:latin typeface="Arial" pitchFamily="34" charset="0"/>
                <a:ea typeface="Arial" pitchFamily="34" charset="-122"/>
                <a:cs typeface="Arial" pitchFamily="34" charset="-120"/>
              </a:rPr>
              <a:t>Check the range, stock policy,</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product mix and dealer execution</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behind the stronger pattern.</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MAINTENANCE AND WEAR-PARTS POTENTIAL</a:t>
            </a:r>
            <a:endParaRPr sz="1050"/>
          </a:p>
        </p:txBody>
      </p:sp>
      <p:sp>
        <p:nvSpPr>
          <p:cNvPr id="4" name="Text 2"/>
          <p:cNvSpPr/>
          <p:nvPr/>
        </p:nvSpPr>
        <p:spPr>
          <a:xfrm>
            <a:off x="502920" y="795528"/>
            <a:ext cx="11064240" cy="969264"/>
          </a:xfrm>
          <a:prstGeom prst="rect">
            <a:avLst/>
          </a:prstGeom>
          <a:noFill/>
          <a:ln/>
        </p:spPr>
        <p:txBody>
          <a:bodyPr wrap="square" lIns="0" tIns="0" rIns="0" bIns="0" rtlCol="0" anchor="t">
            <a:noAutofit/>
          </a:bodyPr>
          <a:lstStyle/>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Find underdeveloped maintenance</a:t>
            </a:r>
            <a:endParaRPr sz="3000"/>
          </a:p>
          <a:p>
            <a:pPr indent="0" marL="0">
              <a:lnSpc>
                <a:spcPts val="3200"/>
              </a:lnSpc>
              <a:spcBef>
                <a:spcPts val="0"/>
              </a:spcBef>
              <a:spcAft>
                <a:spcPts val="0"/>
              </a:spcAft>
              <a:buNone/>
              <a:defRPr sz="3000" b="1">
                <a:solidFill>
                  <a:srgbClr val="24282C"/>
                </a:solidFill>
                <a:latin typeface="Arial"/>
              </a:defRPr>
            </a:pPr>
            <a:r>
              <a:rPr sz="3000" b="1">
                <a:solidFill>
                  <a:srgbClr val="24282C"/>
                </a:solidFill>
                <a:latin typeface="Arial"/>
              </a:rPr>
              <a:t>and wear-parts categories.</a:t>
            </a:r>
            <a:endParaRPr sz="3000"/>
          </a:p>
        </p:txBody>
      </p:sp>
      <p:sp>
        <p:nvSpPr>
          <p:cNvPr id="5" name="Text 3"/>
          <p:cNvSpPr/>
          <p:nvPr/>
        </p:nvSpPr>
        <p:spPr>
          <a:xfrm>
            <a:off x="521208" y="1865376"/>
            <a:ext cx="10972800" cy="365760"/>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AIM identifies the range; fleet and service evidence establish its potential.</a:t>
            </a:r>
            <a:endParaRPr sz="180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MAINTENANCE AND WEAR-PARTS POTENTIAL</a:t>
            </a:r>
            <a:endParaRPr sz="82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17</a:t>
            </a:r>
            <a:endParaRPr sz="1050"/>
          </a:p>
        </p:txBody>
      </p:sp>
      <p:sp>
        <p:nvSpPr>
          <p:cNvPr id="10" name="Shape 8"/>
          <p:cNvSpPr/>
          <p:nvPr/>
        </p:nvSpPr>
        <p:spPr>
          <a:xfrm>
            <a:off x="594360" y="2551176"/>
            <a:ext cx="2532888" cy="795528"/>
          </a:xfrm>
          <a:prstGeom prst="rect">
            <a:avLst/>
          </a:prstGeom>
          <a:solidFill>
            <a:srgbClr val="24282C"/>
          </a:solidFill>
          <a:ln w="12700">
            <a:solidFill>
              <a:srgbClr val="24282C"/>
            </a:solidFill>
            <a:prstDash val="solid"/>
          </a:ln>
        </p:spPr>
        <p:txBody>
          <a:bodyPr/>
          <a:p/>
        </p:txBody>
      </p:sp>
      <p:sp>
        <p:nvSpPr>
          <p:cNvPr id="11" name="Text 9"/>
          <p:cNvSpPr/>
          <p:nvPr/>
        </p:nvSpPr>
        <p:spPr>
          <a:xfrm>
            <a:off x="749808" y="2734056"/>
            <a:ext cx="2194560" cy="411480"/>
          </a:xfrm>
          <a:prstGeom prst="rect">
            <a:avLst/>
          </a:prstGeom>
          <a:noFill/>
          <a:ln/>
        </p:spPr>
        <p:txBody>
          <a:bodyPr wrap="square" lIns="0" tIns="0" rIns="0" bIns="0" rtlCol="0" anchor="ctr">
            <a:noAutofit/>
          </a:bodyPr>
          <a:lstStyle/>
          <a:p>
            <a:pPr indent="0" marL="0">
              <a:buNone/>
            </a:pPr>
            <a:r>
              <a:rPr lang="en-US" sz="2400" b="1" dirty="0">
                <a:solidFill>
                  <a:srgbClr val="FFFFFF"/>
                </a:solidFill>
                <a:latin typeface="Arial" pitchFamily="34" charset="0"/>
                <a:ea typeface="Arial" pitchFamily="34" charset="-122"/>
                <a:cs typeface="Arial" pitchFamily="34" charset="-120"/>
              </a:rPr>
              <a:t>€ / vehicle</a:t>
            </a:r>
            <a:endParaRPr lang="en-US" sz="2400" dirty="0"/>
          </a:p>
        </p:txBody>
      </p:sp>
      <p:sp>
        <p:nvSpPr>
          <p:cNvPr id="12" name="Text 10"/>
          <p:cNvSpPr/>
          <p:nvPr/>
        </p:nvSpPr>
        <p:spPr>
          <a:xfrm>
            <a:off x="3429000" y="2569464"/>
            <a:ext cx="8010144"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How much of the relevant parts business reaches ISZE?</a:t>
            </a:r>
            <a:endParaRPr lang="en-US" sz="2000" dirty="0"/>
          </a:p>
        </p:txBody>
      </p:sp>
      <p:sp>
        <p:nvSpPr>
          <p:cNvPr id="13" name="Text 11"/>
          <p:cNvSpPr/>
          <p:nvPr/>
        </p:nvSpPr>
        <p:spPr>
          <a:xfrm>
            <a:off x="3429000" y="2980944"/>
            <a:ext cx="7964424" cy="292608"/>
          </a:xfrm>
          <a:prstGeom prst="rect">
            <a:avLst/>
          </a:prstGeom>
          <a:noFill/>
          <a:ln/>
        </p:spPr>
        <p:txBody>
          <a:bodyPr wrap="square" lIns="0" tIns="0" rIns="0" bIns="0" rtlCol="0" anchor="ctr">
            <a:noAutofit/>
          </a:bodyPr>
          <a:lstStyle/>
          <a:p>
            <a:pPr indent="0" marL="0">
              <a:buNone/>
            </a:pPr>
            <a:r>
              <a:rPr lang="en-US" sz="1620" dirty="0">
                <a:solidFill>
                  <a:srgbClr val="626A71"/>
                </a:solidFill>
                <a:latin typeface="Arial" pitchFamily="34" charset="0"/>
                <a:ea typeface="Arial" pitchFamily="34" charset="-122"/>
                <a:cs typeface="Arial" pitchFamily="34" charset="-120"/>
              </a:rPr>
              <a:t>Parts billed in the category / relevant vehicles in service</a:t>
            </a:r>
            <a:endParaRPr lang="en-US" sz="1620" dirty="0"/>
          </a:p>
        </p:txBody>
      </p:sp>
      <p:sp>
        <p:nvSpPr>
          <p:cNvPr id="14" name="Shape 12"/>
          <p:cNvSpPr/>
          <p:nvPr/>
        </p:nvSpPr>
        <p:spPr>
          <a:xfrm>
            <a:off x="594360" y="3511296"/>
            <a:ext cx="2532888" cy="795528"/>
          </a:xfrm>
          <a:prstGeom prst="rect">
            <a:avLst/>
          </a:prstGeom>
          <a:solidFill>
            <a:srgbClr val="D71920"/>
          </a:solidFill>
          <a:ln w="12700">
            <a:solidFill>
              <a:srgbClr val="D71920"/>
            </a:solidFill>
            <a:prstDash val="solid"/>
          </a:ln>
        </p:spPr>
        <p:txBody>
          <a:bodyPr/>
          <a:p/>
        </p:txBody>
      </p:sp>
      <p:sp>
        <p:nvSpPr>
          <p:cNvPr id="15" name="Text 13"/>
          <p:cNvSpPr/>
          <p:nvPr/>
        </p:nvSpPr>
        <p:spPr>
          <a:xfrm>
            <a:off x="749808" y="3694176"/>
            <a:ext cx="2194560" cy="411480"/>
          </a:xfrm>
          <a:prstGeom prst="rect">
            <a:avLst/>
          </a:prstGeom>
          <a:noFill/>
          <a:ln/>
        </p:spPr>
        <p:txBody>
          <a:bodyPr wrap="square" lIns="0" tIns="0" rIns="0" bIns="0" rtlCol="0" anchor="ctr">
            <a:noAutofit/>
          </a:bodyPr>
          <a:lstStyle/>
          <a:p>
            <a:pPr indent="0" marL="0">
              <a:buNone/>
            </a:pPr>
            <a:r>
              <a:rPr lang="en-US" sz="2400" b="1" dirty="0">
                <a:solidFill>
                  <a:srgbClr val="FFFFFF"/>
                </a:solidFill>
                <a:latin typeface="Arial" pitchFamily="34" charset="0"/>
                <a:ea typeface="Arial" pitchFamily="34" charset="-122"/>
                <a:cs typeface="Arial" pitchFamily="34" charset="-120"/>
              </a:rPr>
              <a:t>Service cover</a:t>
            </a:r>
            <a:endParaRPr lang="en-US" sz="2400" dirty="0"/>
          </a:p>
        </p:txBody>
      </p:sp>
      <p:sp>
        <p:nvSpPr>
          <p:cNvPr id="16" name="Text 14"/>
          <p:cNvSpPr/>
          <p:nvPr/>
        </p:nvSpPr>
        <p:spPr>
          <a:xfrm>
            <a:off x="3429000" y="3529584"/>
            <a:ext cx="8010144"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How much of the modelled replacement need did we supply?</a:t>
            </a:r>
            <a:endParaRPr lang="en-US" sz="2000" dirty="0"/>
          </a:p>
        </p:txBody>
      </p:sp>
      <p:sp>
        <p:nvSpPr>
          <p:cNvPr id="17" name="Text 15"/>
          <p:cNvSpPr/>
          <p:nvPr/>
        </p:nvSpPr>
        <p:spPr>
          <a:xfrm>
            <a:off x="3429000" y="3941064"/>
            <a:ext cx="7964424" cy="292608"/>
          </a:xfrm>
          <a:prstGeom prst="rect">
            <a:avLst/>
          </a:prstGeom>
          <a:noFill/>
          <a:ln/>
        </p:spPr>
        <p:txBody>
          <a:bodyPr wrap="square" lIns="0" tIns="0" rIns="0" bIns="0" rtlCol="0" anchor="ctr">
            <a:noAutofit/>
          </a:bodyPr>
          <a:lstStyle/>
          <a:p>
            <a:pPr indent="0" marL="0">
              <a:buNone/>
            </a:pPr>
            <a:r>
              <a:rPr lang="en-US" sz="1620" dirty="0">
                <a:solidFill>
                  <a:srgbClr val="626A71"/>
                </a:solidFill>
                <a:latin typeface="Arial" pitchFamily="34" charset="0"/>
                <a:ea typeface="Arial" pitchFamily="34" charset="-122"/>
                <a:cs typeface="Arial" pitchFamily="34" charset="-120"/>
              </a:rPr>
              <a:t>Comparable actual units / expected service units</a:t>
            </a:r>
            <a:endParaRPr lang="en-US" sz="1620" dirty="0"/>
          </a:p>
        </p:txBody>
      </p:sp>
      <p:sp>
        <p:nvSpPr>
          <p:cNvPr id="18" name="Shape 16"/>
          <p:cNvSpPr/>
          <p:nvPr/>
        </p:nvSpPr>
        <p:spPr>
          <a:xfrm>
            <a:off x="594360" y="4471416"/>
            <a:ext cx="2532888" cy="795528"/>
          </a:xfrm>
          <a:prstGeom prst="rect">
            <a:avLst/>
          </a:prstGeom>
          <a:solidFill>
            <a:srgbClr val="24282C"/>
          </a:solidFill>
          <a:ln w="12700">
            <a:solidFill>
              <a:srgbClr val="24282C"/>
            </a:solidFill>
            <a:prstDash val="solid"/>
          </a:ln>
        </p:spPr>
        <p:txBody>
          <a:bodyPr/>
          <a:p/>
        </p:txBody>
      </p:sp>
      <p:sp>
        <p:nvSpPr>
          <p:cNvPr id="19" name="Text 17"/>
          <p:cNvSpPr/>
          <p:nvPr/>
        </p:nvSpPr>
        <p:spPr>
          <a:xfrm>
            <a:off x="749808" y="4654296"/>
            <a:ext cx="2194560" cy="411480"/>
          </a:xfrm>
          <a:prstGeom prst="rect">
            <a:avLst/>
          </a:prstGeom>
          <a:noFill/>
          <a:ln/>
        </p:spPr>
        <p:txBody>
          <a:bodyPr wrap="square" lIns="0" tIns="0" rIns="0" bIns="0" rtlCol="0" anchor="ctr">
            <a:noAutofit/>
          </a:bodyPr>
          <a:lstStyle/>
          <a:p>
            <a:pPr indent="0" marL="0">
              <a:buNone/>
              <a:defRPr sz="2100"/>
            </a:pPr>
            <a:r>
              <a:rPr lang="en-US" sz="2100" b="1" dirty="0">
                <a:solidFill>
                  <a:srgbClr val="FFFFFF"/>
                </a:solidFill>
                <a:latin typeface="Arial" pitchFamily="34" charset="0"/>
                <a:ea typeface="Arial" pitchFamily="34" charset="-122"/>
                <a:cs typeface="Arial" pitchFamily="34" charset="-120"/>
              </a:rPr>
              <a:t>Account breadth</a:t>
            </a:r>
            <a:endParaRPr lang="en-US" sz="2100" dirty="0"/>
          </a:p>
        </p:txBody>
      </p:sp>
      <p:sp>
        <p:nvSpPr>
          <p:cNvPr id="20" name="Text 18"/>
          <p:cNvSpPr/>
          <p:nvPr/>
        </p:nvSpPr>
        <p:spPr>
          <a:xfrm>
            <a:off x="3429000" y="4489704"/>
            <a:ext cx="8010144" cy="310896"/>
          </a:xfrm>
          <a:prstGeom prst="rect">
            <a:avLst/>
          </a:prstGeom>
          <a:noFill/>
          <a:ln/>
        </p:spPr>
        <p:txBody>
          <a:bodyPr wrap="square" lIns="0" tIns="0" rIns="0" bIns="0" rtlCol="0" anchor="ctr">
            <a:noAutofit/>
          </a:bodyPr>
          <a:lstStyle/>
          <a:p>
            <a:pPr indent="0" marL="0">
              <a:buNone/>
            </a:pPr>
            <a:r>
              <a:rPr lang="en-US" sz="2000" b="1" dirty="0">
                <a:solidFill>
                  <a:srgbClr val="24282C"/>
                </a:solidFill>
                <a:latin typeface="Arial" pitchFamily="34" charset="0"/>
                <a:ea typeface="Arial" pitchFamily="34" charset="-122"/>
                <a:cs typeface="Arial" pitchFamily="34" charset="-120"/>
              </a:rPr>
              <a:t>Which eligible accounts buy this range repeatedly?</a:t>
            </a:r>
            <a:endParaRPr lang="en-US" sz="2000" dirty="0"/>
          </a:p>
        </p:txBody>
      </p:sp>
      <p:sp>
        <p:nvSpPr>
          <p:cNvPr id="21" name="Text 19"/>
          <p:cNvSpPr/>
          <p:nvPr/>
        </p:nvSpPr>
        <p:spPr>
          <a:xfrm>
            <a:off x="3429000" y="4901184"/>
            <a:ext cx="7964424" cy="292608"/>
          </a:xfrm>
          <a:prstGeom prst="rect">
            <a:avLst/>
          </a:prstGeom>
          <a:noFill/>
          <a:ln/>
        </p:spPr>
        <p:txBody>
          <a:bodyPr wrap="square" lIns="0" tIns="0" rIns="0" bIns="0" rtlCol="0" anchor="ctr">
            <a:noAutofit/>
          </a:bodyPr>
          <a:lstStyle/>
          <a:p>
            <a:pPr indent="0" marL="0">
              <a:buNone/>
            </a:pPr>
            <a:r>
              <a:rPr lang="en-US" sz="1620" dirty="0">
                <a:solidFill>
                  <a:srgbClr val="626A71"/>
                </a:solidFill>
                <a:latin typeface="Arial" pitchFamily="34" charset="0"/>
                <a:ea typeface="Arial" pitchFamily="34" charset="-122"/>
                <a:cs typeface="Arial" pitchFamily="34" charset="-120"/>
              </a:rPr>
              <a:t>Repeat buyers / identified eligible accounts</a:t>
            </a:r>
            <a:endParaRPr lang="en-US" sz="1620" dirty="0"/>
          </a:p>
        </p:txBody>
      </p:sp>
      <p:sp>
        <p:nvSpPr>
          <p:cNvPr id="22" name="Shape 20"/>
          <p:cNvSpPr/>
          <p:nvPr/>
        </p:nvSpPr>
        <p:spPr>
          <a:xfrm>
            <a:off x="502920" y="5541264"/>
            <a:ext cx="11183112" cy="438912"/>
          </a:xfrm>
          <a:prstGeom prst="rect">
            <a:avLst/>
          </a:prstGeom>
          <a:solidFill>
            <a:srgbClr val="FAEAE8"/>
          </a:solidFill>
          <a:ln w="12700">
            <a:solidFill>
              <a:srgbClr val="FAEAE8"/>
            </a:solidFill>
            <a:prstDash val="solid"/>
          </a:ln>
        </p:spPr>
        <p:txBody>
          <a:bodyPr/>
          <a:p/>
        </p:txBody>
      </p:sp>
      <p:sp>
        <p:nvSpPr>
          <p:cNvPr id="23" name="Text 21"/>
          <p:cNvSpPr/>
          <p:nvPr/>
        </p:nvSpPr>
        <p:spPr>
          <a:xfrm>
            <a:off x="676656" y="5614416"/>
            <a:ext cx="10826496" cy="274320"/>
          </a:xfrm>
          <a:prstGeom prst="rect">
            <a:avLst/>
          </a:prstGeom>
          <a:noFill/>
          <a:ln/>
        </p:spPr>
        <p:txBody>
          <a:bodyPr wrap="square" lIns="0" tIns="0" rIns="0" bIns="0" rtlCol="0" anchor="ctr">
            <a:noAutofit/>
          </a:bodyPr>
          <a:lstStyle/>
          <a:p>
            <a:pPr indent="0" marL="0">
              <a:buNone/>
            </a:pPr>
            <a:r>
              <a:rPr lang="en-US" sz="1750" b="1" dirty="0">
                <a:solidFill>
                  <a:srgbClr val="24282C"/>
                </a:solidFill>
                <a:latin typeface="Arial" pitchFamily="34" charset="0"/>
                <a:ea typeface="Arial" pitchFamily="34" charset="-122"/>
                <a:cs typeface="Arial" pitchFamily="34" charset="-120"/>
              </a:rPr>
              <a:t>Choose the product range, define its opportunity, then identify the accounts to approach.</a:t>
            </a:r>
            <a:endParaRPr lang="en-US" sz="1750" dirty="0"/>
          </a:p>
        </p:txBody>
      </p:sp>
      <p:sp>
        <p:nvSpPr>
          <p:cNvPr id="25" name="Text 22"/>
          <p:cNvSpPr/>
          <p:nvPr/>
        </p:nvSpPr>
        <p:spPr>
          <a:xfrm>
            <a:off x="521208" y="6062472"/>
            <a:ext cx="10972800" cy="219456"/>
          </a:xfrm>
          <a:prstGeom prst="rect">
            <a:avLst/>
          </a:prstGeom>
          <a:noFill/>
          <a:ln/>
        </p:spPr>
        <p:txBody>
          <a:bodyPr wrap="square" lIns="0" tIns="0" rIns="0" bIns="0" rtlCol="0" anchor="ctr">
            <a:noAutofit/>
          </a:bodyPr>
          <a:lstStyle/>
          <a:p>
            <a:pPr indent="0" marL="0">
              <a:buNone/>
            </a:pPr>
            <a:r>
              <a:rPr lang="en-US" sz="820" dirty="0">
                <a:solidFill>
                  <a:srgbClr val="626A71"/>
                </a:solidFill>
                <a:latin typeface="Arial" pitchFamily="34" charset="0"/>
                <a:ea typeface="Arial" pitchFamily="34" charset="-122"/>
                <a:cs typeface="Arial" pitchFamily="34" charset="-120"/>
              </a:rPr>
              <a:t>Service cover is measured against a modelled expectation, not a verified share of competitor purchases.</a:t>
            </a:r>
            <a:endParaRPr lang="en-US" sz="8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SALES EXPLANATION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Revenue alone understates the purchasing change.</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ITUK brake-pad category | Calendar 2024 versus 2025 | ISZE parts billed to distributor</a:t>
            </a:r>
            <a:endParaRPr lang="en-US" sz="1800" dirty="0"/>
          </a:p>
        </p:txBody>
      </p:sp>
      <p:sp>
        <p:nvSpPr>
          <p:cNvPr id="6" name="Text 4"/>
          <p:cNvSpPr/>
          <p:nvPr/>
        </p:nvSpPr>
        <p:spPr>
          <a:xfrm>
            <a:off x="521208" y="6089904"/>
            <a:ext cx="10972800" cy="228600"/>
          </a:xfrm>
          <a:prstGeom prst="rect">
            <a:avLst/>
          </a:prstGeom>
          <a:noFill/>
          <a:ln/>
        </p:spPr>
        <p:txBody>
          <a:bodyPr wrap="square" lIns="0" tIns="0" rIns="0" bIns="0" rtlCol="0" anchor="ctr"/>
          <a:lstStyle/>
          <a:p>
            <a:pPr indent="0" marL="0">
              <a:buNone/>
            </a:pPr>
            <a:r>
              <a:rPr lang="en-US" sz="830" dirty="0">
                <a:solidFill>
                  <a:srgbClr val="626B72"/>
                </a:solidFill>
                <a:latin typeface="Arial" pitchFamily="34" charset="0"/>
                <a:ea typeface="Arial" pitchFamily="34" charset="-122"/>
                <a:cs typeface="Arial" pitchFamily="34" charset="-120"/>
              </a:rPr>
              <a:t>Source: supplied category summary, 19 Sep 2026. Full calendar years; existing source category, not a newly certified AIM selection.</a:t>
            </a:r>
            <a:endParaRPr lang="en-US" sz="830" dirty="0"/>
          </a:p>
        </p:txBody>
      </p:sp>
      <p:sp>
        <p:nvSpPr>
          <p:cNvPr id="7" name="Shape 5"/>
          <p:cNvSpPr/>
          <p:nvPr/>
        </p:nvSpPr>
        <p:spPr>
          <a:xfrm>
            <a:off x="502920" y="6419088"/>
            <a:ext cx="11183112" cy="0"/>
          </a:xfrm>
          <a:prstGeom prst="line">
            <a:avLst/>
          </a:prstGeom>
          <a:noFill/>
          <a:ln w="7620">
            <a:solidFill>
              <a:srgbClr val="DADDDC"/>
            </a:solidFill>
            <a:prstDash val="solid"/>
          </a:ln>
        </p:spPr>
      </p:sp>
      <p:sp>
        <p:nvSpPr>
          <p:cNvPr id="8" name="Text 6"/>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SALES EXPLANATION</a:t>
            </a:r>
            <a:endParaRPr lang="en-US" sz="820" dirty="0"/>
          </a:p>
        </p:txBody>
      </p:sp>
      <p:sp>
        <p:nvSpPr>
          <p:cNvPr id="10" name="Text 8"/>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11</a:t>
            </a:r>
            <a:endParaRPr lang="en-US" sz="1050" dirty="0"/>
          </a:p>
        </p:txBody>
      </p:sp>
      <p:sp>
        <p:nvSpPr>
          <p:cNvPr id="11" name="Text 9"/>
          <p:cNvSpPr/>
          <p:nvPr/>
        </p:nvSpPr>
        <p:spPr>
          <a:xfrm>
            <a:off x="603504" y="2340864"/>
            <a:ext cx="10927080" cy="274320"/>
          </a:xfrm>
          <a:prstGeom prst="rect">
            <a:avLst/>
          </a:prstGeom>
          <a:noFill/>
          <a:ln/>
        </p:spPr>
        <p:txBody>
          <a:bodyPr wrap="square" lIns="0" tIns="0" rIns="0" bIns="0" rtlCol="0" anchor="ctr"/>
          <a:lstStyle/>
          <a:p>
            <a:pPr indent="0" marL="0">
              <a:buNone/>
            </a:pPr>
            <a:r>
              <a:rPr lang="en-US" sz="1320" dirty="0">
                <a:solidFill>
                  <a:srgbClr val="626B72"/>
                </a:solidFill>
                <a:latin typeface="Arial" pitchFamily="34" charset="0"/>
                <a:ea typeface="Arial" pitchFamily="34" charset="-122"/>
                <a:cs typeface="Arial" pitchFamily="34" charset="-120"/>
              </a:rPr>
              <a:t>Fleet context: 22,389 ITUK trucks in the supplied calendar-2025 spend-per-truck base.</a:t>
            </a:r>
            <a:endParaRPr lang="en-US" sz="1320" dirty="0"/>
          </a:p>
        </p:txBody>
      </p:sp>
      <p:sp>
        <p:nvSpPr>
          <p:cNvPr id="12" name="Shape 10"/>
          <p:cNvSpPr/>
          <p:nvPr/>
        </p:nvSpPr>
        <p:spPr>
          <a:xfrm>
            <a:off x="612648" y="2752344"/>
            <a:ext cx="5239512" cy="2560320"/>
          </a:xfrm>
          <a:prstGeom prst="rect">
            <a:avLst/>
          </a:prstGeom>
          <a:solidFill>
            <a:srgbClr val="FFFFFF"/>
          </a:solidFill>
          <a:ln w="6350">
            <a:solidFill>
              <a:srgbClr val="DADDDC"/>
            </a:solidFill>
            <a:prstDash val="solid"/>
          </a:ln>
        </p:spPr>
      </p:sp>
      <p:sp>
        <p:nvSpPr>
          <p:cNvPr id="13" name="Text 11"/>
          <p:cNvSpPr/>
          <p:nvPr/>
        </p:nvSpPr>
        <p:spPr>
          <a:xfrm>
            <a:off x="813816" y="2953512"/>
            <a:ext cx="4754880" cy="210312"/>
          </a:xfrm>
          <a:prstGeom prst="rect">
            <a:avLst/>
          </a:prstGeom>
          <a:noFill/>
          <a:ln/>
        </p:spPr>
        <p:txBody>
          <a:bodyPr wrap="square" lIns="0" tIns="0" rIns="0" bIns="0" rtlCol="0" anchor="ctr"/>
          <a:lstStyle/>
          <a:p>
            <a:pPr indent="0" marL="0">
              <a:buNone/>
            </a:pPr>
            <a:r>
              <a:rPr lang="en-US" sz="1170" b="1" spc="80" kern="0" dirty="0">
                <a:solidFill>
                  <a:srgbClr val="E30613"/>
                </a:solidFill>
                <a:latin typeface="Arial" pitchFamily="34" charset="0"/>
                <a:ea typeface="Arial" pitchFamily="34" charset="-122"/>
                <a:cs typeface="Arial" pitchFamily="34" charset="-120"/>
              </a:rPr>
              <a:t>PARTS BILLED</a:t>
            </a:r>
            <a:endParaRPr lang="en-US" sz="1170" dirty="0"/>
          </a:p>
        </p:txBody>
      </p:sp>
      <p:sp>
        <p:nvSpPr>
          <p:cNvPr id="14" name="Text 12"/>
          <p:cNvSpPr/>
          <p:nvPr/>
        </p:nvSpPr>
        <p:spPr>
          <a:xfrm>
            <a:off x="822960" y="3429000"/>
            <a:ext cx="2103120" cy="246888"/>
          </a:xfrm>
          <a:prstGeom prst="rect">
            <a:avLst/>
          </a:prstGeom>
          <a:noFill/>
          <a:ln/>
        </p:spPr>
        <p:txBody>
          <a:bodyPr wrap="square" lIns="0" tIns="0" rIns="0" bIns="0" rtlCol="0" anchor="ctr"/>
          <a:lstStyle/>
          <a:p>
            <a:pPr indent="0" marL="0">
              <a:buNone/>
            </a:pPr>
            <a:r>
              <a:rPr lang="en-US" sz="1350" dirty="0">
                <a:solidFill>
                  <a:srgbClr val="626B72"/>
                </a:solidFill>
                <a:latin typeface="Arial" pitchFamily="34" charset="0"/>
                <a:ea typeface="Arial" pitchFamily="34" charset="-122"/>
                <a:cs typeface="Arial" pitchFamily="34" charset="-120"/>
              </a:rPr>
              <a:t>2024</a:t>
            </a:r>
            <a:endParaRPr lang="en-US" sz="1350" dirty="0"/>
          </a:p>
        </p:txBody>
      </p:sp>
      <p:sp>
        <p:nvSpPr>
          <p:cNvPr id="15" name="Text 13"/>
          <p:cNvSpPr/>
          <p:nvPr/>
        </p:nvSpPr>
        <p:spPr>
          <a:xfrm>
            <a:off x="3419856" y="3429000"/>
            <a:ext cx="2103120" cy="246888"/>
          </a:xfrm>
          <a:prstGeom prst="rect">
            <a:avLst/>
          </a:prstGeom>
          <a:noFill/>
          <a:ln/>
        </p:spPr>
        <p:txBody>
          <a:bodyPr wrap="square" lIns="0" tIns="0" rIns="0" bIns="0" rtlCol="0" anchor="ctr"/>
          <a:lstStyle/>
          <a:p>
            <a:pPr indent="0" marL="0">
              <a:buNone/>
            </a:pPr>
            <a:r>
              <a:rPr lang="en-US" sz="1350" dirty="0">
                <a:solidFill>
                  <a:srgbClr val="626B72"/>
                </a:solidFill>
                <a:latin typeface="Arial" pitchFamily="34" charset="0"/>
                <a:ea typeface="Arial" pitchFamily="34" charset="-122"/>
                <a:cs typeface="Arial" pitchFamily="34" charset="-120"/>
              </a:rPr>
              <a:t>2025</a:t>
            </a:r>
            <a:endParaRPr lang="en-US" sz="1350" dirty="0"/>
          </a:p>
        </p:txBody>
      </p:sp>
      <p:sp>
        <p:nvSpPr>
          <p:cNvPr id="16" name="Text 14"/>
          <p:cNvSpPr/>
          <p:nvPr/>
        </p:nvSpPr>
        <p:spPr>
          <a:xfrm>
            <a:off x="822960" y="3749040"/>
            <a:ext cx="2313432" cy="466344"/>
          </a:xfrm>
          <a:prstGeom prst="rect">
            <a:avLst/>
          </a:prstGeom>
          <a:noFill/>
          <a:ln/>
        </p:spPr>
        <p:txBody>
          <a:bodyPr wrap="square" lIns="0" tIns="0" rIns="0" bIns="0" rtlCol="0" anchor="ctr"/>
          <a:lstStyle/>
          <a:p>
            <a:pPr indent="0" marL="0">
              <a:buNone/>
            </a:pPr>
            <a:r>
              <a:rPr lang="en-US" sz="2900" b="1" dirty="0">
                <a:solidFill>
                  <a:srgbClr val="24282C"/>
                </a:solidFill>
                <a:latin typeface="Arial" pitchFamily="34" charset="0"/>
                <a:ea typeface="Arial" pitchFamily="34" charset="-122"/>
                <a:cs typeface="Arial" pitchFamily="34" charset="-120"/>
              </a:rPr>
              <a:t>€347,390</a:t>
            </a:r>
            <a:endParaRPr lang="en-US" sz="2900" dirty="0"/>
          </a:p>
        </p:txBody>
      </p:sp>
      <p:sp>
        <p:nvSpPr>
          <p:cNvPr id="17" name="Text 15"/>
          <p:cNvSpPr/>
          <p:nvPr/>
        </p:nvSpPr>
        <p:spPr>
          <a:xfrm>
            <a:off x="3419856" y="3749040"/>
            <a:ext cx="2212848" cy="466344"/>
          </a:xfrm>
          <a:prstGeom prst="rect">
            <a:avLst/>
          </a:prstGeom>
          <a:noFill/>
          <a:ln/>
        </p:spPr>
        <p:txBody>
          <a:bodyPr wrap="square" lIns="0" tIns="0" rIns="0" bIns="0" rtlCol="0" anchor="ctr"/>
          <a:lstStyle/>
          <a:p>
            <a:pPr indent="0" marL="0">
              <a:buNone/>
            </a:pPr>
            <a:r>
              <a:rPr lang="en-US" sz="2900" b="1" dirty="0">
                <a:solidFill>
                  <a:srgbClr val="24282C"/>
                </a:solidFill>
                <a:latin typeface="Arial" pitchFamily="34" charset="0"/>
                <a:ea typeface="Arial" pitchFamily="34" charset="-122"/>
                <a:cs typeface="Arial" pitchFamily="34" charset="-120"/>
              </a:rPr>
              <a:t>€302,366</a:t>
            </a:r>
            <a:endParaRPr lang="en-US" sz="2900" dirty="0"/>
          </a:p>
        </p:txBody>
      </p:sp>
      <p:sp>
        <p:nvSpPr>
          <p:cNvPr id="18" name="Shape 16"/>
          <p:cNvSpPr/>
          <p:nvPr/>
        </p:nvSpPr>
        <p:spPr>
          <a:xfrm>
            <a:off x="3026664" y="3959352"/>
            <a:ext cx="210312" cy="0"/>
          </a:xfrm>
          <a:prstGeom prst="line">
            <a:avLst/>
          </a:prstGeom>
          <a:noFill/>
          <a:ln w="17780">
            <a:solidFill>
              <a:srgbClr val="E30613"/>
            </a:solidFill>
            <a:prstDash val="solid"/>
            <a:headEnd type="none"/>
            <a:tailEnd type="triangle"/>
          </a:ln>
        </p:spPr>
      </p:sp>
      <p:sp>
        <p:nvSpPr>
          <p:cNvPr id="19" name="Text 17"/>
          <p:cNvSpPr/>
          <p:nvPr/>
        </p:nvSpPr>
        <p:spPr>
          <a:xfrm>
            <a:off x="832104" y="4544568"/>
            <a:ext cx="1600200" cy="448056"/>
          </a:xfrm>
          <a:prstGeom prst="rect">
            <a:avLst/>
          </a:prstGeom>
          <a:noFill/>
          <a:ln/>
        </p:spPr>
        <p:txBody>
          <a:bodyPr wrap="square" lIns="0" tIns="0" rIns="0" bIns="0" rtlCol="0" anchor="ctr"/>
          <a:lstStyle/>
          <a:p>
            <a:pPr indent="0" marL="0">
              <a:buNone/>
            </a:pPr>
            <a:r>
              <a:rPr lang="en-US" sz="2800" b="1" dirty="0">
                <a:solidFill>
                  <a:srgbClr val="E30613"/>
                </a:solidFill>
                <a:latin typeface="Arial" pitchFamily="34" charset="0"/>
                <a:ea typeface="Arial" pitchFamily="34" charset="-122"/>
                <a:cs typeface="Arial" pitchFamily="34" charset="-120"/>
              </a:rPr>
              <a:t>-13.0%</a:t>
            </a:r>
            <a:endParaRPr lang="en-US" sz="2800" dirty="0"/>
          </a:p>
        </p:txBody>
      </p:sp>
      <p:sp>
        <p:nvSpPr>
          <p:cNvPr id="20" name="Text 18"/>
          <p:cNvSpPr/>
          <p:nvPr/>
        </p:nvSpPr>
        <p:spPr>
          <a:xfrm>
            <a:off x="2596896" y="4544568"/>
            <a:ext cx="3008376" cy="521208"/>
          </a:xfrm>
          <a:prstGeom prst="rect">
            <a:avLst/>
          </a:prstGeom>
          <a:noFill/>
          <a:ln/>
        </p:spPr>
        <p:txBody>
          <a:bodyPr wrap="square" lIns="0" tIns="0" rIns="0" bIns="0" rtlCol="0" anchor="ctr"/>
          <a:lstStyle/>
          <a:p>
            <a:pPr indent="0" marL="0">
              <a:buNone/>
            </a:pPr>
            <a:r>
              <a:rPr lang="en-US" sz="1580" dirty="0">
                <a:solidFill>
                  <a:srgbClr val="626B72"/>
                </a:solidFill>
                <a:latin typeface="Arial" pitchFamily="34" charset="0"/>
                <a:ea typeface="Arial" pitchFamily="34" charset="-122"/>
                <a:cs typeface="Arial" pitchFamily="34" charset="-120"/>
              </a:rPr>
              <a:t>Billing declined less sharply than recorded quantity.</a:t>
            </a:r>
            <a:endParaRPr lang="en-US" sz="1580" dirty="0"/>
          </a:p>
        </p:txBody>
      </p:sp>
      <p:sp>
        <p:nvSpPr>
          <p:cNvPr id="21" name="Shape 19"/>
          <p:cNvSpPr/>
          <p:nvPr/>
        </p:nvSpPr>
        <p:spPr>
          <a:xfrm>
            <a:off x="6336792" y="2752344"/>
            <a:ext cx="5239512" cy="2560320"/>
          </a:xfrm>
          <a:prstGeom prst="rect">
            <a:avLst/>
          </a:prstGeom>
          <a:solidFill>
            <a:srgbClr val="FFFFFF"/>
          </a:solidFill>
          <a:ln w="6350">
            <a:solidFill>
              <a:srgbClr val="DADDDC"/>
            </a:solidFill>
            <a:prstDash val="solid"/>
          </a:ln>
        </p:spPr>
      </p:sp>
      <p:sp>
        <p:nvSpPr>
          <p:cNvPr id="22" name="Text 20"/>
          <p:cNvSpPr/>
          <p:nvPr/>
        </p:nvSpPr>
        <p:spPr>
          <a:xfrm>
            <a:off x="6537960" y="2953512"/>
            <a:ext cx="4754880" cy="210312"/>
          </a:xfrm>
          <a:prstGeom prst="rect">
            <a:avLst/>
          </a:prstGeom>
          <a:noFill/>
          <a:ln/>
        </p:spPr>
        <p:txBody>
          <a:bodyPr wrap="square" lIns="0" tIns="0" rIns="0" bIns="0" rtlCol="0" anchor="ctr"/>
          <a:lstStyle/>
          <a:p>
            <a:pPr indent="0" marL="0">
              <a:buNone/>
            </a:pPr>
            <a:r>
              <a:rPr lang="en-US" sz="1170" b="1" spc="80" kern="0" dirty="0">
                <a:solidFill>
                  <a:srgbClr val="E30613"/>
                </a:solidFill>
                <a:latin typeface="Arial" pitchFamily="34" charset="0"/>
                <a:ea typeface="Arial" pitchFamily="34" charset="-122"/>
                <a:cs typeface="Arial" pitchFamily="34" charset="-120"/>
              </a:rPr>
              <a:t>RECORDED QUANTITY</a:t>
            </a:r>
            <a:endParaRPr lang="en-US" sz="1170" dirty="0"/>
          </a:p>
        </p:txBody>
      </p:sp>
      <p:sp>
        <p:nvSpPr>
          <p:cNvPr id="23" name="Text 21"/>
          <p:cNvSpPr/>
          <p:nvPr/>
        </p:nvSpPr>
        <p:spPr>
          <a:xfrm>
            <a:off x="6547104" y="3429000"/>
            <a:ext cx="2103120" cy="246888"/>
          </a:xfrm>
          <a:prstGeom prst="rect">
            <a:avLst/>
          </a:prstGeom>
          <a:noFill/>
          <a:ln/>
        </p:spPr>
        <p:txBody>
          <a:bodyPr wrap="square" lIns="0" tIns="0" rIns="0" bIns="0" rtlCol="0" anchor="ctr"/>
          <a:lstStyle/>
          <a:p>
            <a:pPr indent="0" marL="0">
              <a:buNone/>
            </a:pPr>
            <a:r>
              <a:rPr lang="en-US" sz="1350" dirty="0">
                <a:solidFill>
                  <a:srgbClr val="626B72"/>
                </a:solidFill>
                <a:latin typeface="Arial" pitchFamily="34" charset="0"/>
                <a:ea typeface="Arial" pitchFamily="34" charset="-122"/>
                <a:cs typeface="Arial" pitchFamily="34" charset="-120"/>
              </a:rPr>
              <a:t>2024</a:t>
            </a:r>
            <a:endParaRPr lang="en-US" sz="1350" dirty="0"/>
          </a:p>
        </p:txBody>
      </p:sp>
      <p:sp>
        <p:nvSpPr>
          <p:cNvPr id="24" name="Text 22"/>
          <p:cNvSpPr/>
          <p:nvPr/>
        </p:nvSpPr>
        <p:spPr>
          <a:xfrm>
            <a:off x="9144000" y="3429000"/>
            <a:ext cx="2103120" cy="246888"/>
          </a:xfrm>
          <a:prstGeom prst="rect">
            <a:avLst/>
          </a:prstGeom>
          <a:noFill/>
          <a:ln/>
        </p:spPr>
        <p:txBody>
          <a:bodyPr wrap="square" lIns="0" tIns="0" rIns="0" bIns="0" rtlCol="0" anchor="ctr"/>
          <a:lstStyle/>
          <a:p>
            <a:pPr indent="0" marL="0">
              <a:buNone/>
            </a:pPr>
            <a:r>
              <a:rPr lang="en-US" sz="1350" dirty="0">
                <a:solidFill>
                  <a:srgbClr val="626B72"/>
                </a:solidFill>
                <a:latin typeface="Arial" pitchFamily="34" charset="0"/>
                <a:ea typeface="Arial" pitchFamily="34" charset="-122"/>
                <a:cs typeface="Arial" pitchFamily="34" charset="-120"/>
              </a:rPr>
              <a:t>2025</a:t>
            </a:r>
            <a:endParaRPr lang="en-US" sz="1350" dirty="0"/>
          </a:p>
        </p:txBody>
      </p:sp>
      <p:sp>
        <p:nvSpPr>
          <p:cNvPr id="25" name="Text 23"/>
          <p:cNvSpPr/>
          <p:nvPr/>
        </p:nvSpPr>
        <p:spPr>
          <a:xfrm>
            <a:off x="6547104" y="3749040"/>
            <a:ext cx="2313432" cy="466344"/>
          </a:xfrm>
          <a:prstGeom prst="rect">
            <a:avLst/>
          </a:prstGeom>
          <a:noFill/>
          <a:ln/>
        </p:spPr>
        <p:txBody>
          <a:bodyPr wrap="square" lIns="0" tIns="0" rIns="0" bIns="0" rtlCol="0" anchor="ctr"/>
          <a:lstStyle/>
          <a:p>
            <a:pPr indent="0" marL="0">
              <a:buNone/>
            </a:pPr>
            <a:r>
              <a:rPr lang="en-US" sz="2900" b="1" dirty="0">
                <a:solidFill>
                  <a:srgbClr val="24282C"/>
                </a:solidFill>
                <a:latin typeface="Arial" pitchFamily="34" charset="0"/>
                <a:ea typeface="Arial" pitchFamily="34" charset="-122"/>
                <a:cs typeface="Arial" pitchFamily="34" charset="-120"/>
              </a:rPr>
              <a:t>4,562</a:t>
            </a:r>
            <a:endParaRPr lang="en-US" sz="2900" dirty="0"/>
          </a:p>
        </p:txBody>
      </p:sp>
      <p:sp>
        <p:nvSpPr>
          <p:cNvPr id="26" name="Text 24"/>
          <p:cNvSpPr/>
          <p:nvPr/>
        </p:nvSpPr>
        <p:spPr>
          <a:xfrm>
            <a:off x="9144000" y="3749040"/>
            <a:ext cx="2212848" cy="466344"/>
          </a:xfrm>
          <a:prstGeom prst="rect">
            <a:avLst/>
          </a:prstGeom>
          <a:noFill/>
          <a:ln/>
        </p:spPr>
        <p:txBody>
          <a:bodyPr wrap="square" lIns="0" tIns="0" rIns="0" bIns="0" rtlCol="0" anchor="ctr"/>
          <a:lstStyle/>
          <a:p>
            <a:pPr indent="0" marL="0">
              <a:buNone/>
            </a:pPr>
            <a:r>
              <a:rPr lang="en-US" sz="2900" b="1" dirty="0">
                <a:solidFill>
                  <a:srgbClr val="24282C"/>
                </a:solidFill>
                <a:latin typeface="Arial" pitchFamily="34" charset="0"/>
                <a:ea typeface="Arial" pitchFamily="34" charset="-122"/>
                <a:cs typeface="Arial" pitchFamily="34" charset="-120"/>
              </a:rPr>
              <a:t>3,402</a:t>
            </a:r>
            <a:endParaRPr lang="en-US" sz="2900" dirty="0"/>
          </a:p>
        </p:txBody>
      </p:sp>
      <p:sp>
        <p:nvSpPr>
          <p:cNvPr id="27" name="Shape 25"/>
          <p:cNvSpPr/>
          <p:nvPr/>
        </p:nvSpPr>
        <p:spPr>
          <a:xfrm>
            <a:off x="8750808" y="3959352"/>
            <a:ext cx="210312" cy="0"/>
          </a:xfrm>
          <a:prstGeom prst="line">
            <a:avLst/>
          </a:prstGeom>
          <a:noFill/>
          <a:ln w="17780">
            <a:solidFill>
              <a:srgbClr val="E30613"/>
            </a:solidFill>
            <a:prstDash val="solid"/>
            <a:headEnd type="none"/>
            <a:tailEnd type="triangle"/>
          </a:ln>
        </p:spPr>
      </p:sp>
      <p:sp>
        <p:nvSpPr>
          <p:cNvPr id="28" name="Text 26"/>
          <p:cNvSpPr/>
          <p:nvPr/>
        </p:nvSpPr>
        <p:spPr>
          <a:xfrm>
            <a:off x="6556248" y="4544568"/>
            <a:ext cx="1600200" cy="448056"/>
          </a:xfrm>
          <a:prstGeom prst="rect">
            <a:avLst/>
          </a:prstGeom>
          <a:noFill/>
          <a:ln/>
        </p:spPr>
        <p:txBody>
          <a:bodyPr wrap="square" lIns="0" tIns="0" rIns="0" bIns="0" rtlCol="0" anchor="ctr"/>
          <a:lstStyle/>
          <a:p>
            <a:pPr indent="0" marL="0">
              <a:buNone/>
            </a:pPr>
            <a:r>
              <a:rPr lang="en-US" sz="2800" b="1" dirty="0">
                <a:solidFill>
                  <a:srgbClr val="E30613"/>
                </a:solidFill>
                <a:latin typeface="Arial" pitchFamily="34" charset="0"/>
                <a:ea typeface="Arial" pitchFamily="34" charset="-122"/>
                <a:cs typeface="Arial" pitchFamily="34" charset="-120"/>
              </a:rPr>
              <a:t>-25.4%</a:t>
            </a:r>
            <a:endParaRPr lang="en-US" sz="2800" dirty="0"/>
          </a:p>
        </p:txBody>
      </p:sp>
      <p:sp>
        <p:nvSpPr>
          <p:cNvPr id="29" name="Text 27"/>
          <p:cNvSpPr/>
          <p:nvPr/>
        </p:nvSpPr>
        <p:spPr>
          <a:xfrm>
            <a:off x="8321040" y="4544568"/>
            <a:ext cx="3008376" cy="521208"/>
          </a:xfrm>
          <a:prstGeom prst="rect">
            <a:avLst/>
          </a:prstGeom>
          <a:noFill/>
          <a:ln/>
        </p:spPr>
        <p:txBody>
          <a:bodyPr wrap="square" lIns="0" tIns="0" rIns="0" bIns="0" rtlCol="0" anchor="ctr"/>
          <a:lstStyle/>
          <a:p>
            <a:pPr indent="0" marL="0">
              <a:buNone/>
            </a:pPr>
            <a:r>
              <a:rPr lang="en-US" sz="1580" dirty="0">
                <a:solidFill>
                  <a:srgbClr val="626B72"/>
                </a:solidFill>
                <a:latin typeface="Arial" pitchFamily="34" charset="0"/>
                <a:ea typeface="Arial" pitchFamily="34" charset="-122"/>
                <a:cs typeface="Arial" pitchFamily="34" charset="-120"/>
              </a:rPr>
              <a:t>Quantity is not a count of services or trucks repaired.</a:t>
            </a:r>
            <a:endParaRPr lang="en-US" sz="1580" dirty="0"/>
          </a:p>
        </p:txBody>
      </p:sp>
      <p:sp>
        <p:nvSpPr>
          <p:cNvPr id="30" name="Shape 28"/>
          <p:cNvSpPr/>
          <p:nvPr/>
        </p:nvSpPr>
        <p:spPr>
          <a:xfrm>
            <a:off x="502920" y="5541264"/>
            <a:ext cx="11183112" cy="457200"/>
          </a:xfrm>
          <a:prstGeom prst="rect">
            <a:avLst/>
          </a:prstGeom>
          <a:solidFill>
            <a:srgbClr val="F9E9E8"/>
          </a:solidFill>
          <a:ln w="6350">
            <a:solidFill>
              <a:srgbClr val="F9E9E8"/>
            </a:solidFill>
            <a:prstDash val="solid"/>
          </a:ln>
        </p:spPr>
      </p:sp>
      <p:sp>
        <p:nvSpPr>
          <p:cNvPr id="31" name="Text 29"/>
          <p:cNvSpPr/>
          <p:nvPr/>
        </p:nvSpPr>
        <p:spPr>
          <a:xfrm>
            <a:off x="685800" y="5605272"/>
            <a:ext cx="10799064" cy="347472"/>
          </a:xfrm>
          <a:prstGeom prst="rect">
            <a:avLst/>
          </a:prstGeom>
          <a:noFill/>
          <a:ln/>
        </p:spPr>
        <p:txBody>
          <a:bodyPr wrap="square" lIns="0" tIns="0" rIns="0" bIns="0" rtlCol="0" anchor="ctr"/>
          <a:lstStyle/>
          <a:p>
            <a:pPr indent="0" marL="0">
              <a:buNone/>
            </a:pPr>
            <a:r>
              <a:rPr lang="en-US" sz="1680" b="1" dirty="0">
                <a:solidFill>
                  <a:srgbClr val="24282C"/>
                </a:solidFill>
                <a:latin typeface="Arial" pitchFamily="34" charset="0"/>
                <a:ea typeface="Arial" pitchFamily="34" charset="-122"/>
                <a:cs typeface="Arial" pitchFamily="34" charset="-120"/>
              </a:rPr>
              <a:t>The next question is which references, purchasing mix and stock movements explain the change.</a:t>
            </a:r>
            <a:endParaRPr lang="en-US" sz="16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SALES EXPLANATION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Find the product group that explains the change.</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A stable family total can hide declining purchases of specific products.</a:t>
            </a:r>
            <a:endParaRPr lang="en-US" sz="1800" dirty="0"/>
          </a:p>
        </p:txBody>
      </p:sp>
      <p:sp>
        <p:nvSpPr>
          <p:cNvPr id="6" name="Text 4"/>
          <p:cNvSpPr/>
          <p:nvPr/>
        </p:nvSpPr>
        <p:spPr>
          <a:xfrm>
            <a:off x="521208" y="6089904"/>
            <a:ext cx="10972800" cy="228600"/>
          </a:xfrm>
          <a:prstGeom prst="rect">
            <a:avLst/>
          </a:prstGeom>
          <a:noFill/>
          <a:ln/>
        </p:spPr>
        <p:txBody>
          <a:bodyPr wrap="square" lIns="0" tIns="0" rIns="0" bIns="0" rtlCol="0" anchor="ctr"/>
          <a:lstStyle/>
          <a:p>
            <a:pPr indent="0" marL="0">
              <a:buNone/>
            </a:pPr>
            <a:r>
              <a:rPr lang="en-US" sz="830" dirty="0">
                <a:solidFill>
                  <a:srgbClr val="626B72"/>
                </a:solidFill>
                <a:latin typeface="Arial" pitchFamily="34" charset="0"/>
                <a:ea typeface="Arial" pitchFamily="34" charset="-122"/>
                <a:cs typeface="Arial" pitchFamily="34" charset="-120"/>
              </a:rPr>
              <a:t>Source: supplied category summary, 19 Sep 2026; ITUK CY2024/CY2025. Selected pad, rotor and shoe categories, not the full Brakes family.</a:t>
            </a:r>
            <a:endParaRPr lang="en-US" sz="830" dirty="0"/>
          </a:p>
        </p:txBody>
      </p:sp>
      <p:sp>
        <p:nvSpPr>
          <p:cNvPr id="7" name="Shape 5"/>
          <p:cNvSpPr/>
          <p:nvPr/>
        </p:nvSpPr>
        <p:spPr>
          <a:xfrm>
            <a:off x="502920" y="6419088"/>
            <a:ext cx="11183112" cy="0"/>
          </a:xfrm>
          <a:prstGeom prst="line">
            <a:avLst/>
          </a:prstGeom>
          <a:noFill/>
          <a:ln w="7620">
            <a:solidFill>
              <a:srgbClr val="DADDDC"/>
            </a:solidFill>
            <a:prstDash val="solid"/>
          </a:ln>
        </p:spPr>
      </p:sp>
      <p:sp>
        <p:nvSpPr>
          <p:cNvPr id="8" name="Text 6"/>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SALES EXPLANATION</a:t>
            </a:r>
            <a:endParaRPr lang="en-US" sz="820" dirty="0"/>
          </a:p>
        </p:txBody>
      </p:sp>
      <p:sp>
        <p:nvSpPr>
          <p:cNvPr id="10" name="Text 8"/>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12</a:t>
            </a:r>
            <a:endParaRPr lang="en-US" sz="1050" dirty="0"/>
          </a:p>
        </p:txBody>
      </p:sp>
      <p:sp>
        <p:nvSpPr>
          <p:cNvPr id="11" name="Shape 9"/>
          <p:cNvSpPr/>
          <p:nvPr/>
        </p:nvSpPr>
        <p:spPr>
          <a:xfrm>
            <a:off x="612648" y="2414016"/>
            <a:ext cx="6501384" cy="502920"/>
          </a:xfrm>
          <a:prstGeom prst="rect">
            <a:avLst/>
          </a:prstGeom>
          <a:solidFill>
            <a:srgbClr val="24282C"/>
          </a:solidFill>
          <a:ln w="6350">
            <a:solidFill>
              <a:srgbClr val="24282C"/>
            </a:solidFill>
            <a:prstDash val="solid"/>
          </a:ln>
        </p:spPr>
      </p:sp>
      <p:sp>
        <p:nvSpPr>
          <p:cNvPr id="12" name="Text 10"/>
          <p:cNvSpPr/>
          <p:nvPr/>
        </p:nvSpPr>
        <p:spPr>
          <a:xfrm>
            <a:off x="822960" y="2551176"/>
            <a:ext cx="6044184" cy="219456"/>
          </a:xfrm>
          <a:prstGeom prst="rect">
            <a:avLst/>
          </a:prstGeom>
          <a:noFill/>
          <a:ln/>
        </p:spPr>
        <p:txBody>
          <a:bodyPr wrap="square" lIns="0" tIns="0" rIns="0" bIns="0" rtlCol="0" anchor="ctr"/>
          <a:lstStyle/>
          <a:p>
            <a:pPr indent="0" marL="0">
              <a:buNone/>
            </a:pPr>
            <a:r>
              <a:rPr lang="en-US" sz="1220" b="1" spc="50" kern="0" dirty="0">
                <a:solidFill>
                  <a:srgbClr val="FFFFFF"/>
                </a:solidFill>
                <a:latin typeface="Arial" pitchFamily="34" charset="0"/>
                <a:ea typeface="Arial" pitchFamily="34" charset="-122"/>
                <a:cs typeface="Arial" pitchFamily="34" charset="-120"/>
              </a:rPr>
              <a:t>ITUK: SELECTED BRAKING RANGE</a:t>
            </a:r>
            <a:endParaRPr lang="en-US" sz="1220" dirty="0"/>
          </a:p>
        </p:txBody>
      </p:sp>
      <p:sp>
        <p:nvSpPr>
          <p:cNvPr id="13" name="Text 11"/>
          <p:cNvSpPr/>
          <p:nvPr/>
        </p:nvSpPr>
        <p:spPr>
          <a:xfrm>
            <a:off x="786384" y="3099816"/>
            <a:ext cx="6108192" cy="274320"/>
          </a:xfrm>
          <a:prstGeom prst="rect">
            <a:avLst/>
          </a:prstGeom>
          <a:noFill/>
          <a:ln/>
        </p:spPr>
        <p:txBody>
          <a:bodyPr wrap="square" lIns="0" tIns="0" rIns="0" bIns="0" rtlCol="0" anchor="ctr"/>
          <a:lstStyle/>
          <a:p>
            <a:pPr indent="0" marL="0">
              <a:buNone/>
            </a:pPr>
            <a:r>
              <a:rPr lang="en-US" sz="1420" dirty="0">
                <a:solidFill>
                  <a:srgbClr val="626B72"/>
                </a:solidFill>
                <a:latin typeface="Arial" pitchFamily="34" charset="0"/>
                <a:ea typeface="Arial" pitchFamily="34" charset="-122"/>
                <a:cs typeface="Arial" pitchFamily="34" charset="-120"/>
              </a:rPr>
              <a:t>Change in parts billed, 2025 versus 2024</a:t>
            </a:r>
            <a:endParaRPr lang="en-US" sz="1420" dirty="0"/>
          </a:p>
        </p:txBody>
      </p:sp>
      <p:sp>
        <p:nvSpPr>
          <p:cNvPr id="14" name="Text 12"/>
          <p:cNvSpPr/>
          <p:nvPr/>
        </p:nvSpPr>
        <p:spPr>
          <a:xfrm>
            <a:off x="804672" y="3639312"/>
            <a:ext cx="1874520" cy="329184"/>
          </a:xfrm>
          <a:prstGeom prst="rect">
            <a:avLst/>
          </a:prstGeom>
          <a:noFill/>
          <a:ln/>
        </p:spPr>
        <p:txBody>
          <a:bodyPr wrap="square" lIns="0" tIns="0" rIns="0" bIns="0" rtlCol="0" anchor="ctr"/>
          <a:lstStyle/>
          <a:p>
            <a:pPr indent="0" marL="0">
              <a:buNone/>
            </a:pPr>
            <a:r>
              <a:rPr lang="en-US" sz="1850" b="1" dirty="0">
                <a:solidFill>
                  <a:srgbClr val="24282C"/>
                </a:solidFill>
                <a:latin typeface="Arial" pitchFamily="34" charset="0"/>
                <a:ea typeface="Arial" pitchFamily="34" charset="-122"/>
                <a:cs typeface="Arial" pitchFamily="34" charset="-120"/>
              </a:rPr>
              <a:t>Brake pads</a:t>
            </a:r>
            <a:endParaRPr lang="en-US" sz="1850" dirty="0"/>
          </a:p>
        </p:txBody>
      </p:sp>
      <p:sp>
        <p:nvSpPr>
          <p:cNvPr id="15" name="Shape 13"/>
          <p:cNvSpPr/>
          <p:nvPr/>
        </p:nvSpPr>
        <p:spPr>
          <a:xfrm>
            <a:off x="2880360" y="3657600"/>
            <a:ext cx="2569464" cy="292608"/>
          </a:xfrm>
          <a:prstGeom prst="rect">
            <a:avLst/>
          </a:prstGeom>
          <a:solidFill>
            <a:srgbClr val="E30613"/>
          </a:solidFill>
          <a:ln w="6350">
            <a:solidFill>
              <a:srgbClr val="E30613"/>
            </a:solidFill>
            <a:prstDash val="solid"/>
          </a:ln>
        </p:spPr>
      </p:sp>
      <p:sp>
        <p:nvSpPr>
          <p:cNvPr id="16" name="Text 14"/>
          <p:cNvSpPr/>
          <p:nvPr/>
        </p:nvSpPr>
        <p:spPr>
          <a:xfrm>
            <a:off x="5596128" y="3639312"/>
            <a:ext cx="1335024" cy="329184"/>
          </a:xfrm>
          <a:prstGeom prst="rect">
            <a:avLst/>
          </a:prstGeom>
          <a:noFill/>
          <a:ln/>
        </p:spPr>
        <p:txBody>
          <a:bodyPr wrap="square" lIns="0" tIns="0" rIns="0" bIns="0" rtlCol="0" anchor="ctr"/>
          <a:lstStyle/>
          <a:p>
            <a:pPr algn="r" indent="0" marL="0">
              <a:buNone/>
            </a:pPr>
            <a:r>
              <a:rPr lang="en-US" sz="1580" b="1" dirty="0">
                <a:solidFill>
                  <a:srgbClr val="E30613"/>
                </a:solidFill>
                <a:latin typeface="Arial" pitchFamily="34" charset="0"/>
                <a:ea typeface="Arial" pitchFamily="34" charset="-122"/>
                <a:cs typeface="Arial" pitchFamily="34" charset="-120"/>
              </a:rPr>
              <a:t>-€45,023.33</a:t>
            </a:r>
            <a:endParaRPr lang="en-US" sz="1580" dirty="0"/>
          </a:p>
        </p:txBody>
      </p:sp>
      <p:sp>
        <p:nvSpPr>
          <p:cNvPr id="17" name="Text 15"/>
          <p:cNvSpPr/>
          <p:nvPr/>
        </p:nvSpPr>
        <p:spPr>
          <a:xfrm>
            <a:off x="804672" y="4233672"/>
            <a:ext cx="1874520" cy="329184"/>
          </a:xfrm>
          <a:prstGeom prst="rect">
            <a:avLst/>
          </a:prstGeom>
          <a:noFill/>
          <a:ln/>
        </p:spPr>
        <p:txBody>
          <a:bodyPr wrap="square" lIns="0" tIns="0" rIns="0" bIns="0" rtlCol="0" anchor="ctr"/>
          <a:lstStyle/>
          <a:p>
            <a:pPr indent="0" marL="0">
              <a:buNone/>
            </a:pPr>
            <a:r>
              <a:rPr lang="en-US" sz="1850" b="1" dirty="0">
                <a:solidFill>
                  <a:srgbClr val="24282C"/>
                </a:solidFill>
                <a:latin typeface="Arial" pitchFamily="34" charset="0"/>
                <a:ea typeface="Arial" pitchFamily="34" charset="-122"/>
                <a:cs typeface="Arial" pitchFamily="34" charset="-120"/>
              </a:rPr>
              <a:t>Brake rotors</a:t>
            </a:r>
            <a:endParaRPr lang="en-US" sz="1850" dirty="0"/>
          </a:p>
        </p:txBody>
      </p:sp>
      <p:sp>
        <p:nvSpPr>
          <p:cNvPr id="18" name="Shape 16"/>
          <p:cNvSpPr/>
          <p:nvPr/>
        </p:nvSpPr>
        <p:spPr>
          <a:xfrm>
            <a:off x="2880360" y="4251960"/>
            <a:ext cx="71935" cy="292608"/>
          </a:xfrm>
          <a:prstGeom prst="rect">
            <a:avLst/>
          </a:prstGeom>
          <a:solidFill>
            <a:srgbClr val="626B72"/>
          </a:solidFill>
          <a:ln w="6350">
            <a:solidFill>
              <a:srgbClr val="626B72"/>
            </a:solidFill>
            <a:prstDash val="solid"/>
          </a:ln>
        </p:spPr>
      </p:sp>
      <p:sp>
        <p:nvSpPr>
          <p:cNvPr id="19" name="Text 17"/>
          <p:cNvSpPr/>
          <p:nvPr/>
        </p:nvSpPr>
        <p:spPr>
          <a:xfrm>
            <a:off x="5596128" y="4233672"/>
            <a:ext cx="1335024" cy="329184"/>
          </a:xfrm>
          <a:prstGeom prst="rect">
            <a:avLst/>
          </a:prstGeom>
          <a:noFill/>
          <a:ln/>
        </p:spPr>
        <p:txBody>
          <a:bodyPr wrap="square" lIns="0" tIns="0" rIns="0" bIns="0" rtlCol="0" anchor="ctr"/>
          <a:lstStyle/>
          <a:p>
            <a:pPr algn="r" indent="0" marL="0">
              <a:buNone/>
            </a:pPr>
            <a:r>
              <a:rPr lang="en-US" sz="1580" b="1" dirty="0">
                <a:solidFill>
                  <a:srgbClr val="24282C"/>
                </a:solidFill>
                <a:latin typeface="Arial" pitchFamily="34" charset="0"/>
                <a:ea typeface="Arial" pitchFamily="34" charset="-122"/>
                <a:cs typeface="Arial" pitchFamily="34" charset="-120"/>
              </a:rPr>
              <a:t>-€1,260.48</a:t>
            </a:r>
            <a:endParaRPr lang="en-US" sz="1580" dirty="0"/>
          </a:p>
        </p:txBody>
      </p:sp>
      <p:sp>
        <p:nvSpPr>
          <p:cNvPr id="20" name="Text 18"/>
          <p:cNvSpPr/>
          <p:nvPr/>
        </p:nvSpPr>
        <p:spPr>
          <a:xfrm>
            <a:off x="804672" y="4828032"/>
            <a:ext cx="1874520" cy="329184"/>
          </a:xfrm>
          <a:prstGeom prst="rect">
            <a:avLst/>
          </a:prstGeom>
          <a:noFill/>
          <a:ln/>
        </p:spPr>
        <p:txBody>
          <a:bodyPr wrap="square" lIns="0" tIns="0" rIns="0" bIns="0" rtlCol="0" anchor="ctr"/>
          <a:lstStyle/>
          <a:p>
            <a:pPr indent="0" marL="0">
              <a:buNone/>
            </a:pPr>
            <a:r>
              <a:rPr lang="en-US" sz="1850" b="1" dirty="0">
                <a:solidFill>
                  <a:srgbClr val="24282C"/>
                </a:solidFill>
                <a:latin typeface="Arial" pitchFamily="34" charset="0"/>
                <a:ea typeface="Arial" pitchFamily="34" charset="-122"/>
                <a:cs typeface="Arial" pitchFamily="34" charset="-120"/>
              </a:rPr>
              <a:t>Brake shoes</a:t>
            </a:r>
            <a:endParaRPr lang="en-US" sz="1850" dirty="0"/>
          </a:p>
        </p:txBody>
      </p:sp>
      <p:sp>
        <p:nvSpPr>
          <p:cNvPr id="21" name="Shape 19"/>
          <p:cNvSpPr/>
          <p:nvPr/>
        </p:nvSpPr>
        <p:spPr>
          <a:xfrm>
            <a:off x="2880360" y="4846320"/>
            <a:ext cx="50292" cy="292608"/>
          </a:xfrm>
          <a:prstGeom prst="rect">
            <a:avLst/>
          </a:prstGeom>
          <a:solidFill>
            <a:srgbClr val="626B72"/>
          </a:solidFill>
          <a:ln w="6350">
            <a:solidFill>
              <a:srgbClr val="626B72"/>
            </a:solidFill>
            <a:prstDash val="solid"/>
          </a:ln>
        </p:spPr>
      </p:sp>
      <p:sp>
        <p:nvSpPr>
          <p:cNvPr id="22" name="Text 20"/>
          <p:cNvSpPr/>
          <p:nvPr/>
        </p:nvSpPr>
        <p:spPr>
          <a:xfrm>
            <a:off x="5596128" y="4828032"/>
            <a:ext cx="1335024" cy="329184"/>
          </a:xfrm>
          <a:prstGeom prst="rect">
            <a:avLst/>
          </a:prstGeom>
          <a:noFill/>
          <a:ln/>
        </p:spPr>
        <p:txBody>
          <a:bodyPr wrap="square" lIns="0" tIns="0" rIns="0" bIns="0" rtlCol="0" anchor="ctr"/>
          <a:lstStyle/>
          <a:p>
            <a:pPr algn="r" indent="0" marL="0">
              <a:buNone/>
            </a:pPr>
            <a:r>
              <a:rPr lang="en-US" sz="1580" b="1" dirty="0">
                <a:solidFill>
                  <a:srgbClr val="24282C"/>
                </a:solidFill>
                <a:latin typeface="Arial" pitchFamily="34" charset="0"/>
                <a:ea typeface="Arial" pitchFamily="34" charset="-122"/>
                <a:cs typeface="Arial" pitchFamily="34" charset="-120"/>
              </a:rPr>
              <a:t>-€784.96</a:t>
            </a:r>
            <a:endParaRPr lang="en-US" sz="1580" dirty="0"/>
          </a:p>
        </p:txBody>
      </p:sp>
      <p:sp>
        <p:nvSpPr>
          <p:cNvPr id="23" name="Shape 21"/>
          <p:cNvSpPr/>
          <p:nvPr/>
        </p:nvSpPr>
        <p:spPr>
          <a:xfrm>
            <a:off x="786384" y="5385816"/>
            <a:ext cx="6135624" cy="0"/>
          </a:xfrm>
          <a:prstGeom prst="line">
            <a:avLst/>
          </a:prstGeom>
          <a:noFill/>
          <a:ln w="7620">
            <a:solidFill>
              <a:srgbClr val="DADDDC"/>
            </a:solidFill>
            <a:prstDash val="solid"/>
          </a:ln>
        </p:spPr>
      </p:sp>
      <p:sp>
        <p:nvSpPr>
          <p:cNvPr id="24" name="Text 22"/>
          <p:cNvSpPr/>
          <p:nvPr/>
        </p:nvSpPr>
        <p:spPr>
          <a:xfrm>
            <a:off x="804672" y="5486400"/>
            <a:ext cx="3639312" cy="274320"/>
          </a:xfrm>
          <a:prstGeom prst="rect">
            <a:avLst/>
          </a:prstGeom>
          <a:noFill/>
          <a:ln/>
        </p:spPr>
        <p:txBody>
          <a:bodyPr wrap="square" lIns="0" tIns="0" rIns="0" bIns="0" rtlCol="0" anchor="ctr"/>
          <a:lstStyle/>
          <a:p>
            <a:pPr indent="0" marL="0">
              <a:buNone/>
            </a:pPr>
            <a:r>
              <a:rPr lang="en-US" sz="1500" b="1" dirty="0">
                <a:solidFill>
                  <a:srgbClr val="24282C"/>
                </a:solidFill>
                <a:latin typeface="Arial" pitchFamily="34" charset="0"/>
                <a:ea typeface="Arial" pitchFamily="34" charset="-122"/>
                <a:cs typeface="Arial" pitchFamily="34" charset="-120"/>
              </a:rPr>
              <a:t>Combined decline</a:t>
            </a:r>
            <a:endParaRPr lang="en-US" sz="1500" dirty="0"/>
          </a:p>
        </p:txBody>
      </p:sp>
      <p:sp>
        <p:nvSpPr>
          <p:cNvPr id="25" name="Text 23"/>
          <p:cNvSpPr/>
          <p:nvPr/>
        </p:nvSpPr>
        <p:spPr>
          <a:xfrm>
            <a:off x="5184648" y="5477256"/>
            <a:ext cx="1746504" cy="301752"/>
          </a:xfrm>
          <a:prstGeom prst="rect">
            <a:avLst/>
          </a:prstGeom>
          <a:noFill/>
          <a:ln/>
        </p:spPr>
        <p:txBody>
          <a:bodyPr wrap="square" lIns="0" tIns="0" rIns="0" bIns="0" rtlCol="0" anchor="ctr"/>
          <a:lstStyle/>
          <a:p>
            <a:pPr algn="r" indent="0" marL="0">
              <a:buNone/>
            </a:pPr>
            <a:r>
              <a:rPr lang="en-US" sz="1850" b="1" dirty="0">
                <a:solidFill>
                  <a:srgbClr val="E30613"/>
                </a:solidFill>
                <a:latin typeface="Arial" pitchFamily="34" charset="0"/>
                <a:ea typeface="Arial" pitchFamily="34" charset="-122"/>
                <a:cs typeface="Arial" pitchFamily="34" charset="-120"/>
              </a:rPr>
              <a:t>-€47,068.77</a:t>
            </a:r>
            <a:endParaRPr lang="en-US" sz="1850" dirty="0"/>
          </a:p>
        </p:txBody>
      </p:sp>
      <p:sp>
        <p:nvSpPr>
          <p:cNvPr id="26" name="Text 24"/>
          <p:cNvSpPr/>
          <p:nvPr/>
        </p:nvSpPr>
        <p:spPr>
          <a:xfrm>
            <a:off x="7626096" y="2615184"/>
            <a:ext cx="3813048" cy="704088"/>
          </a:xfrm>
          <a:prstGeom prst="rect">
            <a:avLst/>
          </a:prstGeom>
          <a:noFill/>
          <a:ln/>
        </p:spPr>
        <p:txBody>
          <a:bodyPr wrap="square" lIns="0" tIns="0" rIns="0" bIns="0" rtlCol="0" anchor="ctr"/>
          <a:lstStyle/>
          <a:p>
            <a:pPr indent="0" marL="0">
              <a:buNone/>
            </a:pPr>
            <a:r>
              <a:rPr lang="en-US" sz="4500" b="1" dirty="0">
                <a:solidFill>
                  <a:srgbClr val="E30613"/>
                </a:solidFill>
                <a:latin typeface="Arial" pitchFamily="34" charset="0"/>
                <a:ea typeface="Arial" pitchFamily="34" charset="-122"/>
                <a:cs typeface="Arial" pitchFamily="34" charset="-120"/>
              </a:rPr>
              <a:t>95.7%</a:t>
            </a:r>
            <a:endParaRPr lang="en-US" sz="4500" dirty="0"/>
          </a:p>
        </p:txBody>
      </p:sp>
      <p:sp>
        <p:nvSpPr>
          <p:cNvPr id="27" name="Text 25"/>
          <p:cNvSpPr/>
          <p:nvPr/>
        </p:nvSpPr>
        <p:spPr>
          <a:xfrm>
            <a:off x="7644384" y="3429000"/>
            <a:ext cx="3758184" cy="667512"/>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of this selected range's decline</a:t>
            </a:r>
            <a:endParaRPr lang="en-US" sz="2100" dirty="0"/>
          </a:p>
          <a:p>
            <a:pPr indent="0" marL="0">
              <a:buNone/>
            </a:pPr>
            <a:r>
              <a:rPr lang="en-US" sz="2100" b="1" dirty="0">
                <a:solidFill>
                  <a:srgbClr val="24282C"/>
                </a:solidFill>
                <a:latin typeface="Arial" pitchFamily="34" charset="0"/>
                <a:ea typeface="Arial" pitchFamily="34" charset="-122"/>
                <a:cs typeface="Arial" pitchFamily="34" charset="-120"/>
              </a:rPr>
              <a:t>comes from brake pads.</a:t>
            </a:r>
            <a:endParaRPr lang="en-US" sz="2100" dirty="0"/>
          </a:p>
        </p:txBody>
      </p:sp>
      <p:sp>
        <p:nvSpPr>
          <p:cNvPr id="28" name="Text 26"/>
          <p:cNvSpPr/>
          <p:nvPr/>
        </p:nvSpPr>
        <p:spPr>
          <a:xfrm>
            <a:off x="7662672" y="4434840"/>
            <a:ext cx="3739896" cy="960120"/>
          </a:xfrm>
          <a:prstGeom prst="rect">
            <a:avLst/>
          </a:prstGeom>
          <a:noFill/>
          <a:ln/>
        </p:spPr>
        <p:txBody>
          <a:bodyPr wrap="square" lIns="0" tIns="0" rIns="0" bIns="0" rtlCol="0" anchor="ctr"/>
          <a:lstStyle/>
          <a:p>
            <a:pPr indent="0" marL="0">
              <a:buNone/>
            </a:pPr>
            <a:r>
              <a:rPr lang="en-US" sz="1800" dirty="0">
                <a:solidFill>
                  <a:srgbClr val="626B72"/>
                </a:solidFill>
                <a:latin typeface="Arial" pitchFamily="34" charset="0"/>
                <a:ea typeface="Arial" pitchFamily="34" charset="-122"/>
                <a:cs typeface="Arial" pitchFamily="34" charset="-120"/>
              </a:rPr>
              <a:t>Investigate the pad references first.</a:t>
            </a:r>
            <a:endParaRPr lang="en-US" sz="1800" dirty="0"/>
          </a:p>
          <a:p>
            <a:pPr indent="0" marL="0">
              <a:buNone/>
            </a:pPr>
            <a:r>
              <a:rPr lang="en-US" sz="1800" dirty="0">
                <a:solidFill>
                  <a:srgbClr val="626B72"/>
                </a:solidFill>
                <a:latin typeface="Arial" pitchFamily="34" charset="0"/>
                <a:ea typeface="Arial" pitchFamily="34" charset="-122"/>
                <a:cs typeface="Arial" pitchFamily="34" charset="-120"/>
              </a:rPr>
              <a:t>Then use sales to dealer, where available, to locate the account pattern.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5">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SALES EXPLANATION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Genuine down does not mean the range is down.</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Portugal clutch-kit category | Calendar 2024 versus 2025 | Genuine and BVP together</a:t>
            </a:r>
            <a:endParaRPr lang="en-US" sz="1800" dirty="0"/>
          </a:p>
        </p:txBody>
      </p:sp>
      <p:sp>
        <p:nvSpPr>
          <p:cNvPr id="6" name="Text 4"/>
          <p:cNvSpPr/>
          <p:nvPr/>
        </p:nvSpPr>
        <p:spPr>
          <a:xfrm>
            <a:off x="521208" y="6089904"/>
            <a:ext cx="10972800" cy="228600"/>
          </a:xfrm>
          <a:prstGeom prst="rect">
            <a:avLst/>
          </a:prstGeom>
          <a:noFill/>
          <a:ln/>
        </p:spPr>
        <p:txBody>
          <a:bodyPr wrap="square" lIns="0" tIns="0" rIns="0" bIns="0" rtlCol="0" anchor="ctr"/>
          <a:lstStyle/>
          <a:p>
            <a:pPr indent="0" marL="0">
              <a:buNone/>
            </a:pPr>
            <a:r>
              <a:rPr lang="en-US" sz="830" dirty="0">
                <a:solidFill>
                  <a:srgbClr val="626B72"/>
                </a:solidFill>
                <a:latin typeface="Arial" pitchFamily="34" charset="0"/>
                <a:ea typeface="Arial" pitchFamily="34" charset="-122"/>
                <a:cs typeface="Arial" pitchFamily="34" charset="-120"/>
              </a:rPr>
              <a:t>Source: supplied category mix, 19 Sep 2026. Recorded product-line mix, not proof of individual product or customer substitution.</a:t>
            </a:r>
            <a:endParaRPr lang="en-US" sz="830" dirty="0"/>
          </a:p>
        </p:txBody>
      </p:sp>
      <p:sp>
        <p:nvSpPr>
          <p:cNvPr id="7" name="Shape 5"/>
          <p:cNvSpPr/>
          <p:nvPr/>
        </p:nvSpPr>
        <p:spPr>
          <a:xfrm>
            <a:off x="502920" y="6419088"/>
            <a:ext cx="11183112" cy="0"/>
          </a:xfrm>
          <a:prstGeom prst="line">
            <a:avLst/>
          </a:prstGeom>
          <a:noFill/>
          <a:ln w="7620">
            <a:solidFill>
              <a:srgbClr val="DADDDC"/>
            </a:solidFill>
            <a:prstDash val="solid"/>
          </a:ln>
        </p:spPr>
      </p:sp>
      <p:sp>
        <p:nvSpPr>
          <p:cNvPr id="8" name="Text 6"/>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SALES EXPLANATION</a:t>
            </a:r>
            <a:endParaRPr lang="en-US" sz="820" dirty="0"/>
          </a:p>
        </p:txBody>
      </p:sp>
      <p:sp>
        <p:nvSpPr>
          <p:cNvPr id="10" name="Text 8"/>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13</a:t>
            </a:r>
            <a:endParaRPr lang="en-US" sz="1050" dirty="0"/>
          </a:p>
        </p:txBody>
      </p:sp>
      <p:sp>
        <p:nvSpPr>
          <p:cNvPr id="11" name="Shape 9"/>
          <p:cNvSpPr/>
          <p:nvPr/>
        </p:nvSpPr>
        <p:spPr>
          <a:xfrm>
            <a:off x="603504" y="2532888"/>
            <a:ext cx="7040880" cy="475488"/>
          </a:xfrm>
          <a:prstGeom prst="rect">
            <a:avLst/>
          </a:prstGeom>
          <a:solidFill>
            <a:srgbClr val="24282C"/>
          </a:solidFill>
          <a:ln w="6350">
            <a:solidFill>
              <a:srgbClr val="24282C"/>
            </a:solidFill>
            <a:prstDash val="solid"/>
          </a:ln>
        </p:spPr>
      </p:sp>
      <p:sp>
        <p:nvSpPr>
          <p:cNvPr id="12" name="Text 10"/>
          <p:cNvSpPr/>
          <p:nvPr/>
        </p:nvSpPr>
        <p:spPr>
          <a:xfrm>
            <a:off x="777240" y="2660904"/>
            <a:ext cx="2926080" cy="201168"/>
          </a:xfrm>
          <a:prstGeom prst="rect">
            <a:avLst/>
          </a:prstGeom>
          <a:noFill/>
          <a:ln/>
        </p:spPr>
        <p:txBody>
          <a:bodyPr wrap="square" lIns="0" tIns="0" rIns="0" bIns="0" rtlCol="0" anchor="ctr"/>
          <a:lstStyle/>
          <a:p>
            <a:pPr indent="0" marL="0">
              <a:buNone/>
            </a:pPr>
            <a:r>
              <a:rPr lang="en-US" sz="1160" b="1" dirty="0">
                <a:solidFill>
                  <a:srgbClr val="FFFFFF"/>
                </a:solidFill>
                <a:latin typeface="Arial" pitchFamily="34" charset="0"/>
                <a:ea typeface="Arial" pitchFamily="34" charset="-122"/>
                <a:cs typeface="Arial" pitchFamily="34" charset="-120"/>
              </a:rPr>
              <a:t>PARTS BILLED</a:t>
            </a:r>
            <a:endParaRPr lang="en-US" sz="1160" dirty="0"/>
          </a:p>
        </p:txBody>
      </p:sp>
      <p:sp>
        <p:nvSpPr>
          <p:cNvPr id="13" name="Text 11"/>
          <p:cNvSpPr/>
          <p:nvPr/>
        </p:nvSpPr>
        <p:spPr>
          <a:xfrm>
            <a:off x="4050792" y="2660904"/>
            <a:ext cx="1572768" cy="201168"/>
          </a:xfrm>
          <a:prstGeom prst="rect">
            <a:avLst/>
          </a:prstGeom>
          <a:noFill/>
          <a:ln/>
        </p:spPr>
        <p:txBody>
          <a:bodyPr wrap="square" lIns="0" tIns="0" rIns="0" bIns="0" rtlCol="0" anchor="ctr"/>
          <a:lstStyle/>
          <a:p>
            <a:pPr algn="r" indent="0" marL="0">
              <a:buNone/>
            </a:pPr>
            <a:r>
              <a:rPr lang="en-US" sz="1160" b="1" dirty="0">
                <a:solidFill>
                  <a:srgbClr val="FFFFFF"/>
                </a:solidFill>
                <a:latin typeface="Arial" pitchFamily="34" charset="0"/>
                <a:ea typeface="Arial" pitchFamily="34" charset="-122"/>
                <a:cs typeface="Arial" pitchFamily="34" charset="-120"/>
              </a:rPr>
              <a:t>2024</a:t>
            </a:r>
            <a:endParaRPr lang="en-US" sz="1160" dirty="0"/>
          </a:p>
        </p:txBody>
      </p:sp>
      <p:sp>
        <p:nvSpPr>
          <p:cNvPr id="14" name="Text 12"/>
          <p:cNvSpPr/>
          <p:nvPr/>
        </p:nvSpPr>
        <p:spPr>
          <a:xfrm>
            <a:off x="5852160" y="2660904"/>
            <a:ext cx="1572768" cy="201168"/>
          </a:xfrm>
          <a:prstGeom prst="rect">
            <a:avLst/>
          </a:prstGeom>
          <a:noFill/>
          <a:ln/>
        </p:spPr>
        <p:txBody>
          <a:bodyPr wrap="square" lIns="0" tIns="0" rIns="0" bIns="0" rtlCol="0" anchor="ctr"/>
          <a:lstStyle/>
          <a:p>
            <a:pPr algn="r" indent="0" marL="0">
              <a:buNone/>
            </a:pPr>
            <a:r>
              <a:rPr lang="en-US" sz="1160" b="1" dirty="0">
                <a:solidFill>
                  <a:srgbClr val="FFFFFF"/>
                </a:solidFill>
                <a:latin typeface="Arial" pitchFamily="34" charset="0"/>
                <a:ea typeface="Arial" pitchFamily="34" charset="-122"/>
                <a:cs typeface="Arial" pitchFamily="34" charset="-120"/>
              </a:rPr>
              <a:t>2025</a:t>
            </a:r>
            <a:endParaRPr lang="en-US" sz="1160" dirty="0"/>
          </a:p>
        </p:txBody>
      </p:sp>
      <p:sp>
        <p:nvSpPr>
          <p:cNvPr id="15" name="Text 13"/>
          <p:cNvSpPr/>
          <p:nvPr/>
        </p:nvSpPr>
        <p:spPr>
          <a:xfrm>
            <a:off x="777240" y="3182112"/>
            <a:ext cx="2880360" cy="338328"/>
          </a:xfrm>
          <a:prstGeom prst="rect">
            <a:avLst/>
          </a:prstGeom>
          <a:noFill/>
          <a:ln/>
        </p:spPr>
        <p:txBody>
          <a:bodyPr wrap="square" lIns="0" tIns="0" rIns="0" bIns="0" rtlCol="0" anchor="ctr"/>
          <a:lstStyle/>
          <a:p>
            <a:pPr indent="0" marL="0">
              <a:buNone/>
            </a:pPr>
            <a:r>
              <a:rPr lang="en-US" sz="2000" dirty="0">
                <a:solidFill>
                  <a:srgbClr val="24282C"/>
                </a:solidFill>
                <a:latin typeface="Arial" pitchFamily="34" charset="0"/>
                <a:ea typeface="Arial" pitchFamily="34" charset="-122"/>
                <a:cs typeface="Arial" pitchFamily="34" charset="-120"/>
              </a:rPr>
              <a:t>Genuine</a:t>
            </a:r>
            <a:endParaRPr lang="en-US" sz="2000" dirty="0"/>
          </a:p>
        </p:txBody>
      </p:sp>
      <p:sp>
        <p:nvSpPr>
          <p:cNvPr id="16" name="Text 14"/>
          <p:cNvSpPr/>
          <p:nvPr/>
        </p:nvSpPr>
        <p:spPr>
          <a:xfrm>
            <a:off x="3867912" y="3182112"/>
            <a:ext cx="1755648" cy="338328"/>
          </a:xfrm>
          <a:prstGeom prst="rect">
            <a:avLst/>
          </a:prstGeom>
          <a:noFill/>
          <a:ln/>
        </p:spPr>
        <p:txBody>
          <a:bodyPr wrap="square" lIns="0" tIns="0" rIns="0" bIns="0" rtlCol="0" anchor="ctr"/>
          <a:lstStyle/>
          <a:p>
            <a:pPr algn="r" indent="0" marL="0">
              <a:buNone/>
            </a:pPr>
            <a:r>
              <a:rPr lang="en-US" sz="2000" dirty="0">
                <a:solidFill>
                  <a:srgbClr val="24282C"/>
                </a:solidFill>
                <a:latin typeface="Arial" pitchFamily="34" charset="0"/>
                <a:ea typeface="Arial" pitchFamily="34" charset="-122"/>
                <a:cs typeface="Arial" pitchFamily="34" charset="-120"/>
              </a:rPr>
              <a:t>€2,901.92</a:t>
            </a:r>
            <a:endParaRPr lang="en-US" sz="2000" dirty="0"/>
          </a:p>
        </p:txBody>
      </p:sp>
      <p:sp>
        <p:nvSpPr>
          <p:cNvPr id="17" name="Text 15"/>
          <p:cNvSpPr/>
          <p:nvPr/>
        </p:nvSpPr>
        <p:spPr>
          <a:xfrm>
            <a:off x="5705856" y="3182112"/>
            <a:ext cx="1728216" cy="338328"/>
          </a:xfrm>
          <a:prstGeom prst="rect">
            <a:avLst/>
          </a:prstGeom>
          <a:noFill/>
          <a:ln/>
        </p:spPr>
        <p:txBody>
          <a:bodyPr wrap="square" lIns="0" tIns="0" rIns="0" bIns="0" rtlCol="0" anchor="ctr"/>
          <a:lstStyle/>
          <a:p>
            <a:pPr algn="r" indent="0" marL="0">
              <a:buNone/>
            </a:pPr>
            <a:r>
              <a:rPr lang="en-US" sz="2000" dirty="0">
                <a:solidFill>
                  <a:srgbClr val="24282C"/>
                </a:solidFill>
                <a:latin typeface="Arial" pitchFamily="34" charset="0"/>
                <a:ea typeface="Arial" pitchFamily="34" charset="-122"/>
                <a:cs typeface="Arial" pitchFamily="34" charset="-120"/>
              </a:rPr>
              <a:t>€2,057.86</a:t>
            </a:r>
            <a:endParaRPr lang="en-US" sz="2000" dirty="0"/>
          </a:p>
        </p:txBody>
      </p:sp>
      <p:sp>
        <p:nvSpPr>
          <p:cNvPr id="18" name="Shape 16"/>
          <p:cNvSpPr/>
          <p:nvPr/>
        </p:nvSpPr>
        <p:spPr>
          <a:xfrm>
            <a:off x="777240" y="3639312"/>
            <a:ext cx="6647688" cy="0"/>
          </a:xfrm>
          <a:prstGeom prst="line">
            <a:avLst/>
          </a:prstGeom>
          <a:noFill/>
          <a:ln w="7620">
            <a:solidFill>
              <a:srgbClr val="DADDDC"/>
            </a:solidFill>
            <a:prstDash val="solid"/>
          </a:ln>
        </p:spPr>
      </p:sp>
      <p:sp>
        <p:nvSpPr>
          <p:cNvPr id="19" name="Text 17"/>
          <p:cNvSpPr/>
          <p:nvPr/>
        </p:nvSpPr>
        <p:spPr>
          <a:xfrm>
            <a:off x="777240" y="3803904"/>
            <a:ext cx="2880360" cy="338328"/>
          </a:xfrm>
          <a:prstGeom prst="rect">
            <a:avLst/>
          </a:prstGeom>
          <a:noFill/>
          <a:ln/>
        </p:spPr>
        <p:txBody>
          <a:bodyPr wrap="square" lIns="0" tIns="0" rIns="0" bIns="0" rtlCol="0" anchor="ctr"/>
          <a:lstStyle/>
          <a:p>
            <a:pPr indent="0" marL="0">
              <a:buNone/>
            </a:pPr>
            <a:r>
              <a:rPr lang="en-US" sz="2000" dirty="0">
                <a:solidFill>
                  <a:srgbClr val="24282C"/>
                </a:solidFill>
                <a:latin typeface="Arial" pitchFamily="34" charset="0"/>
                <a:ea typeface="Arial" pitchFamily="34" charset="-122"/>
                <a:cs typeface="Arial" pitchFamily="34" charset="-120"/>
              </a:rPr>
              <a:t>BVP</a:t>
            </a:r>
            <a:endParaRPr lang="en-US" sz="2000" dirty="0"/>
          </a:p>
        </p:txBody>
      </p:sp>
      <p:sp>
        <p:nvSpPr>
          <p:cNvPr id="20" name="Text 18"/>
          <p:cNvSpPr/>
          <p:nvPr/>
        </p:nvSpPr>
        <p:spPr>
          <a:xfrm>
            <a:off x="3867912" y="3803904"/>
            <a:ext cx="1755648" cy="338328"/>
          </a:xfrm>
          <a:prstGeom prst="rect">
            <a:avLst/>
          </a:prstGeom>
          <a:noFill/>
          <a:ln/>
        </p:spPr>
        <p:txBody>
          <a:bodyPr wrap="square" lIns="0" tIns="0" rIns="0" bIns="0" rtlCol="0" anchor="ctr"/>
          <a:lstStyle/>
          <a:p>
            <a:pPr algn="r" indent="0" marL="0">
              <a:buNone/>
            </a:pPr>
            <a:r>
              <a:rPr lang="en-US" sz="2000" dirty="0">
                <a:solidFill>
                  <a:srgbClr val="24282C"/>
                </a:solidFill>
                <a:latin typeface="Arial" pitchFamily="34" charset="0"/>
                <a:ea typeface="Arial" pitchFamily="34" charset="-122"/>
                <a:cs typeface="Arial" pitchFamily="34" charset="-120"/>
              </a:rPr>
              <a:t>€27,057.95</a:t>
            </a:r>
            <a:endParaRPr lang="en-US" sz="2000" dirty="0"/>
          </a:p>
        </p:txBody>
      </p:sp>
      <p:sp>
        <p:nvSpPr>
          <p:cNvPr id="21" name="Text 19"/>
          <p:cNvSpPr/>
          <p:nvPr/>
        </p:nvSpPr>
        <p:spPr>
          <a:xfrm>
            <a:off x="5705856" y="3803904"/>
            <a:ext cx="1728216" cy="338328"/>
          </a:xfrm>
          <a:prstGeom prst="rect">
            <a:avLst/>
          </a:prstGeom>
          <a:noFill/>
          <a:ln/>
        </p:spPr>
        <p:txBody>
          <a:bodyPr wrap="square" lIns="0" tIns="0" rIns="0" bIns="0" rtlCol="0" anchor="ctr"/>
          <a:lstStyle/>
          <a:p>
            <a:pPr algn="r" indent="0" marL="0">
              <a:buNone/>
            </a:pPr>
            <a:r>
              <a:rPr lang="en-US" sz="2000" dirty="0">
                <a:solidFill>
                  <a:srgbClr val="24282C"/>
                </a:solidFill>
                <a:latin typeface="Arial" pitchFamily="34" charset="0"/>
                <a:ea typeface="Arial" pitchFamily="34" charset="-122"/>
                <a:cs typeface="Arial" pitchFamily="34" charset="-120"/>
              </a:rPr>
              <a:t>€29,644.61</a:t>
            </a:r>
            <a:endParaRPr lang="en-US" sz="2000" dirty="0"/>
          </a:p>
        </p:txBody>
      </p:sp>
      <p:sp>
        <p:nvSpPr>
          <p:cNvPr id="22" name="Shape 20"/>
          <p:cNvSpPr/>
          <p:nvPr/>
        </p:nvSpPr>
        <p:spPr>
          <a:xfrm>
            <a:off x="777240" y="4261104"/>
            <a:ext cx="6647688" cy="0"/>
          </a:xfrm>
          <a:prstGeom prst="line">
            <a:avLst/>
          </a:prstGeom>
          <a:noFill/>
          <a:ln w="7620">
            <a:solidFill>
              <a:srgbClr val="DADDDC"/>
            </a:solidFill>
            <a:prstDash val="solid"/>
          </a:ln>
        </p:spPr>
      </p:sp>
      <p:sp>
        <p:nvSpPr>
          <p:cNvPr id="23" name="Shape 21"/>
          <p:cNvSpPr/>
          <p:nvPr/>
        </p:nvSpPr>
        <p:spPr>
          <a:xfrm>
            <a:off x="603504" y="4370832"/>
            <a:ext cx="7040880" cy="512064"/>
          </a:xfrm>
          <a:prstGeom prst="rect">
            <a:avLst/>
          </a:prstGeom>
          <a:solidFill>
            <a:srgbClr val="F9E9E8"/>
          </a:solidFill>
          <a:ln w="6350">
            <a:solidFill>
              <a:srgbClr val="F9E9E8"/>
            </a:solidFill>
            <a:prstDash val="solid"/>
          </a:ln>
        </p:spPr>
      </p:sp>
      <p:sp>
        <p:nvSpPr>
          <p:cNvPr id="24" name="Text 22"/>
          <p:cNvSpPr/>
          <p:nvPr/>
        </p:nvSpPr>
        <p:spPr>
          <a:xfrm>
            <a:off x="777240" y="4425696"/>
            <a:ext cx="2880360" cy="338328"/>
          </a:xfrm>
          <a:prstGeom prst="rect">
            <a:avLst/>
          </a:prstGeom>
          <a:noFill/>
          <a:ln/>
        </p:spPr>
        <p:txBody>
          <a:bodyPr wrap="square" lIns="0" tIns="0" rIns="0" bIns="0" rtlCol="0" anchor="ctr"/>
          <a:lstStyle/>
          <a:p>
            <a:pPr indent="0" marL="0">
              <a:buNone/>
            </a:pPr>
            <a:r>
              <a:rPr lang="en-US" sz="2000" b="1" dirty="0">
                <a:solidFill>
                  <a:srgbClr val="24282C"/>
                </a:solidFill>
                <a:latin typeface="Arial" pitchFamily="34" charset="0"/>
                <a:ea typeface="Arial" pitchFamily="34" charset="-122"/>
                <a:cs typeface="Arial" pitchFamily="34" charset="-120"/>
              </a:rPr>
              <a:t>Combined</a:t>
            </a:r>
            <a:endParaRPr lang="en-US" sz="2000" dirty="0"/>
          </a:p>
        </p:txBody>
      </p:sp>
      <p:sp>
        <p:nvSpPr>
          <p:cNvPr id="25" name="Text 23"/>
          <p:cNvSpPr/>
          <p:nvPr/>
        </p:nvSpPr>
        <p:spPr>
          <a:xfrm>
            <a:off x="3867912" y="4425696"/>
            <a:ext cx="1755648" cy="338328"/>
          </a:xfrm>
          <a:prstGeom prst="rect">
            <a:avLst/>
          </a:prstGeom>
          <a:noFill/>
          <a:ln/>
        </p:spPr>
        <p:txBody>
          <a:bodyPr wrap="square" lIns="0" tIns="0" rIns="0" bIns="0" rtlCol="0" anchor="ctr"/>
          <a:lstStyle/>
          <a:p>
            <a:pPr algn="r" indent="0" marL="0">
              <a:buNone/>
            </a:pPr>
            <a:r>
              <a:rPr lang="en-US" sz="2000" b="1" dirty="0">
                <a:solidFill>
                  <a:srgbClr val="24282C"/>
                </a:solidFill>
                <a:latin typeface="Arial" pitchFamily="34" charset="0"/>
                <a:ea typeface="Arial" pitchFamily="34" charset="-122"/>
                <a:cs typeface="Arial" pitchFamily="34" charset="-120"/>
              </a:rPr>
              <a:t>€29,959.87</a:t>
            </a:r>
            <a:endParaRPr lang="en-US" sz="2000" dirty="0"/>
          </a:p>
        </p:txBody>
      </p:sp>
      <p:sp>
        <p:nvSpPr>
          <p:cNvPr id="26" name="Text 24"/>
          <p:cNvSpPr/>
          <p:nvPr/>
        </p:nvSpPr>
        <p:spPr>
          <a:xfrm>
            <a:off x="5705856" y="4425696"/>
            <a:ext cx="1728216" cy="338328"/>
          </a:xfrm>
          <a:prstGeom prst="rect">
            <a:avLst/>
          </a:prstGeom>
          <a:noFill/>
          <a:ln/>
        </p:spPr>
        <p:txBody>
          <a:bodyPr wrap="square" lIns="0" tIns="0" rIns="0" bIns="0" rtlCol="0" anchor="ctr"/>
          <a:lstStyle/>
          <a:p>
            <a:pPr algn="r" indent="0" marL="0">
              <a:buNone/>
            </a:pPr>
            <a:r>
              <a:rPr lang="en-US" sz="2000" b="1" dirty="0">
                <a:solidFill>
                  <a:srgbClr val="24282C"/>
                </a:solidFill>
                <a:latin typeface="Arial" pitchFamily="34" charset="0"/>
                <a:ea typeface="Arial" pitchFamily="34" charset="-122"/>
                <a:cs typeface="Arial" pitchFamily="34" charset="-120"/>
              </a:rPr>
              <a:t>€31,702.47</a:t>
            </a:r>
            <a:endParaRPr lang="en-US" sz="2000" dirty="0"/>
          </a:p>
        </p:txBody>
      </p:sp>
      <p:sp>
        <p:nvSpPr>
          <p:cNvPr id="27" name="Text 25"/>
          <p:cNvSpPr/>
          <p:nvPr/>
        </p:nvSpPr>
        <p:spPr>
          <a:xfrm>
            <a:off x="804672" y="5120640"/>
            <a:ext cx="6400800" cy="292608"/>
          </a:xfrm>
          <a:prstGeom prst="rect">
            <a:avLst/>
          </a:prstGeom>
          <a:noFill/>
          <a:ln/>
        </p:spPr>
        <p:txBody>
          <a:bodyPr wrap="square" lIns="0" tIns="0" rIns="0" bIns="0" rtlCol="0" anchor="ctr"/>
          <a:lstStyle/>
          <a:p>
            <a:pPr indent="0" marL="0">
              <a:buNone/>
            </a:pPr>
            <a:r>
              <a:rPr lang="en-US" sz="1700" dirty="0">
                <a:solidFill>
                  <a:srgbClr val="626B72"/>
                </a:solidFill>
                <a:latin typeface="Arial" pitchFamily="34" charset="0"/>
                <a:ea typeface="Arial" pitchFamily="34" charset="-122"/>
                <a:cs typeface="Arial" pitchFamily="34" charset="-120"/>
              </a:rPr>
              <a:t>Recorded kits: 462 in 2024; 461 in 2025.</a:t>
            </a:r>
            <a:endParaRPr lang="en-US" sz="1700" dirty="0"/>
          </a:p>
        </p:txBody>
      </p:sp>
      <p:sp>
        <p:nvSpPr>
          <p:cNvPr id="28" name="Text 26"/>
          <p:cNvSpPr/>
          <p:nvPr/>
        </p:nvSpPr>
        <p:spPr>
          <a:xfrm>
            <a:off x="8193024" y="2670048"/>
            <a:ext cx="3310128" cy="658368"/>
          </a:xfrm>
          <a:prstGeom prst="rect">
            <a:avLst/>
          </a:prstGeom>
          <a:noFill/>
          <a:ln/>
        </p:spPr>
        <p:txBody>
          <a:bodyPr wrap="square" lIns="0" tIns="0" rIns="0" bIns="0" rtlCol="0" anchor="ctr"/>
          <a:lstStyle/>
          <a:p>
            <a:pPr indent="0" marL="0">
              <a:buNone/>
            </a:pPr>
            <a:r>
              <a:rPr lang="en-US" sz="4300" b="1" dirty="0">
                <a:solidFill>
                  <a:srgbClr val="E30613"/>
                </a:solidFill>
                <a:latin typeface="Arial" pitchFamily="34" charset="0"/>
                <a:ea typeface="Arial" pitchFamily="34" charset="-122"/>
                <a:cs typeface="Arial" pitchFamily="34" charset="-120"/>
              </a:rPr>
              <a:t>+5.8%</a:t>
            </a:r>
            <a:endParaRPr lang="en-US" sz="4300" dirty="0"/>
          </a:p>
        </p:txBody>
      </p:sp>
      <p:sp>
        <p:nvSpPr>
          <p:cNvPr id="29" name="Text 27"/>
          <p:cNvSpPr/>
          <p:nvPr/>
        </p:nvSpPr>
        <p:spPr>
          <a:xfrm>
            <a:off x="8211312" y="3447288"/>
            <a:ext cx="3273552" cy="411480"/>
          </a:xfrm>
          <a:prstGeom prst="rect">
            <a:avLst/>
          </a:prstGeom>
          <a:noFill/>
          <a:ln/>
        </p:spPr>
        <p:txBody>
          <a:bodyPr wrap="square" lIns="0" tIns="0" rIns="0" bIns="0" rtlCol="0" anchor="ctr"/>
          <a:lstStyle/>
          <a:p>
            <a:pPr indent="0" marL="0">
              <a:buNone/>
            </a:pPr>
            <a:r>
              <a:rPr lang="en-US" sz="2100" b="1" dirty="0">
                <a:solidFill>
                  <a:srgbClr val="24282C"/>
                </a:solidFill>
                <a:latin typeface="Arial" pitchFamily="34" charset="0"/>
                <a:ea typeface="Arial" pitchFamily="34" charset="-122"/>
                <a:cs typeface="Arial" pitchFamily="34" charset="-120"/>
              </a:rPr>
              <a:t>combined billing</a:t>
            </a:r>
            <a:endParaRPr lang="en-US" sz="2100" dirty="0"/>
          </a:p>
        </p:txBody>
      </p:sp>
      <p:sp>
        <p:nvSpPr>
          <p:cNvPr id="30" name="Text 28"/>
          <p:cNvSpPr/>
          <p:nvPr/>
        </p:nvSpPr>
        <p:spPr>
          <a:xfrm>
            <a:off x="8229600" y="4160520"/>
            <a:ext cx="3264408" cy="987552"/>
          </a:xfrm>
          <a:prstGeom prst="rect">
            <a:avLst/>
          </a:prstGeom>
          <a:noFill/>
          <a:ln/>
        </p:spPr>
        <p:txBody>
          <a:bodyPr wrap="square" lIns="0" tIns="0" rIns="0" bIns="0" rtlCol="0" anchor="ctr"/>
          <a:lstStyle/>
          <a:p>
            <a:pPr indent="0" marL="0">
              <a:buNone/>
            </a:pPr>
            <a:r>
              <a:rPr lang="en-US" sz="2000" dirty="0">
                <a:solidFill>
                  <a:srgbClr val="626B72"/>
                </a:solidFill>
                <a:latin typeface="Arial" pitchFamily="34" charset="0"/>
                <a:ea typeface="Arial" pitchFamily="34" charset="-122"/>
                <a:cs typeface="Arial" pitchFamily="34" charset="-120"/>
              </a:rPr>
              <a:t>BVP is a product line.</a:t>
            </a:r>
            <a:endParaRPr lang="en-US" sz="2000" dirty="0"/>
          </a:p>
          <a:p>
            <a:pPr indent="0" marL="0">
              <a:buNone/>
            </a:pPr>
            <a:r>
              <a:rPr lang="en-US" sz="2000" dirty="0">
                <a:solidFill>
                  <a:srgbClr val="626B72"/>
                </a:solidFill>
                <a:latin typeface="Arial" pitchFamily="34" charset="0"/>
                <a:ea typeface="Arial" pitchFamily="34" charset="-122"/>
                <a:cs typeface="Arial" pitchFamily="34" charset="-120"/>
              </a:rPr>
              <a:t>A kit is a product form.</a:t>
            </a:r>
            <a:endParaRPr lang="en-US" sz="2000" dirty="0"/>
          </a:p>
          <a:p>
            <a:pPr indent="0" marL="0">
              <a:buNone/>
            </a:pPr>
            <a:r>
              <a:rPr lang="en-US" sz="2000" dirty="0">
                <a:solidFill>
                  <a:srgbClr val="626B72"/>
                </a:solidFill>
                <a:latin typeface="Arial" pitchFamily="34" charset="0"/>
                <a:ea typeface="Arial" pitchFamily="34" charset="-122"/>
                <a:cs typeface="Arial" pitchFamily="34" charset="-120"/>
              </a:rPr>
              <a:t>A BVP item can be a kit.</a:t>
            </a:r>
            <a:endParaRPr lang="en-US" sz="2000" dirty="0"/>
          </a:p>
        </p:txBody>
      </p:sp>
      <p:sp>
        <p:nvSpPr>
          <p:cNvPr id="31" name="Shape 29"/>
          <p:cNvSpPr/>
          <p:nvPr/>
        </p:nvSpPr>
        <p:spPr>
          <a:xfrm>
            <a:off x="502920" y="5541264"/>
            <a:ext cx="11183112" cy="457200"/>
          </a:xfrm>
          <a:prstGeom prst="rect">
            <a:avLst/>
          </a:prstGeom>
          <a:solidFill>
            <a:srgbClr val="F9E9E8"/>
          </a:solidFill>
          <a:ln w="6350">
            <a:solidFill>
              <a:srgbClr val="F9E9E8"/>
            </a:solidFill>
            <a:prstDash val="solid"/>
          </a:ln>
        </p:spPr>
      </p:sp>
      <p:sp>
        <p:nvSpPr>
          <p:cNvPr id="32" name="Text 30"/>
          <p:cNvSpPr/>
          <p:nvPr/>
        </p:nvSpPr>
        <p:spPr>
          <a:xfrm>
            <a:off x="685800" y="5605272"/>
            <a:ext cx="10799064" cy="347472"/>
          </a:xfrm>
          <a:prstGeom prst="rect">
            <a:avLst/>
          </a:prstGeom>
          <a:noFill/>
          <a:ln/>
        </p:spPr>
        <p:txBody>
          <a:bodyPr wrap="square" lIns="0" tIns="0" rIns="0" bIns="0" rtlCol="0" anchor="ctr"/>
          <a:lstStyle/>
          <a:p>
            <a:pPr indent="0" marL="0">
              <a:buNone/>
            </a:pPr>
            <a:r>
              <a:rPr lang="en-US" sz="1630" b="1" dirty="0">
                <a:solidFill>
                  <a:srgbClr val="24282C"/>
                </a:solidFill>
                <a:latin typeface="Arial" pitchFamily="34" charset="0"/>
                <a:ea typeface="Arial" pitchFamily="34" charset="-122"/>
                <a:cs typeface="Arial" pitchFamily="34" charset="-120"/>
              </a:rPr>
              <a:t>AIM groups the products. Product-line flags and validated kit contents provide the additional detail.</a:t>
            </a:r>
            <a:endParaRPr lang="en-US" sz="16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6">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PRICING PRECISION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Target pricing decisions at ISZE</a:t>
            </a:r>
            <a:endParaRPr lang="en-US" sz="3150" dirty="0"/>
          </a:p>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and distributor level.</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Use the same product groups with the data and decisions appropriate to each sales stage.</a:t>
            </a:r>
            <a:endParaRPr lang="en-US" sz="1800" dirty="0"/>
          </a:p>
        </p:txBody>
      </p:sp>
      <p:sp>
        <p:nvSpPr>
          <p:cNvPr id="6" name="Shape 4"/>
          <p:cNvSpPr/>
          <p:nvPr/>
        </p:nvSpPr>
        <p:spPr>
          <a:xfrm>
            <a:off x="502920" y="6419088"/>
            <a:ext cx="11183112" cy="0"/>
          </a:xfrm>
          <a:prstGeom prst="line">
            <a:avLst/>
          </a:prstGeom>
          <a:noFill/>
          <a:ln w="7620">
            <a:solidFill>
              <a:srgbClr val="DADDDC"/>
            </a:solidFill>
            <a:prstDash val="solid"/>
          </a:ln>
        </p:spPr>
      </p:sp>
      <p:sp>
        <p:nvSpPr>
          <p:cNvPr id="7" name="Text 5"/>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PRICING PRECISION</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14</a:t>
            </a:r>
            <a:endParaRPr lang="en-US" sz="1050" dirty="0"/>
          </a:p>
        </p:txBody>
      </p:sp>
      <p:sp>
        <p:nvSpPr>
          <p:cNvPr id="10" name="Shape 8"/>
          <p:cNvSpPr/>
          <p:nvPr/>
        </p:nvSpPr>
        <p:spPr>
          <a:xfrm>
            <a:off x="612648" y="2532888"/>
            <a:ext cx="5230368" cy="2807208"/>
          </a:xfrm>
          <a:prstGeom prst="rect">
            <a:avLst/>
          </a:prstGeom>
          <a:solidFill>
            <a:srgbClr val="FFFFFF"/>
          </a:solidFill>
          <a:ln w="6350">
            <a:solidFill>
              <a:srgbClr val="DADDDC"/>
            </a:solidFill>
            <a:prstDash val="solid"/>
          </a:ln>
        </p:spPr>
      </p:sp>
      <p:sp>
        <p:nvSpPr>
          <p:cNvPr id="11" name="Shape 9"/>
          <p:cNvSpPr/>
          <p:nvPr/>
        </p:nvSpPr>
        <p:spPr>
          <a:xfrm>
            <a:off x="612648" y="2532888"/>
            <a:ext cx="5230368" cy="448056"/>
          </a:xfrm>
          <a:prstGeom prst="rect">
            <a:avLst/>
          </a:prstGeom>
          <a:solidFill>
            <a:srgbClr val="24282C"/>
          </a:solidFill>
          <a:ln w="6350">
            <a:solidFill>
              <a:srgbClr val="24282C"/>
            </a:solidFill>
            <a:prstDash val="solid"/>
          </a:ln>
        </p:spPr>
      </p:sp>
      <p:sp>
        <p:nvSpPr>
          <p:cNvPr id="12" name="Text 10"/>
          <p:cNvSpPr/>
          <p:nvPr/>
        </p:nvSpPr>
        <p:spPr>
          <a:xfrm>
            <a:off x="832104" y="2651760"/>
            <a:ext cx="4754880" cy="228600"/>
          </a:xfrm>
          <a:prstGeom prst="rect">
            <a:avLst/>
          </a:prstGeom>
          <a:noFill/>
          <a:ln/>
        </p:spPr>
        <p:txBody>
          <a:bodyPr wrap="square" lIns="0" tIns="0" rIns="0" bIns="0" rtlCol="0" anchor="ctr"/>
          <a:lstStyle/>
          <a:p>
            <a:pPr indent="0" marL="0">
              <a:buNone/>
            </a:pPr>
            <a:r>
              <a:rPr lang="en-US" sz="1220" b="1" spc="80" kern="0" dirty="0">
                <a:solidFill>
                  <a:srgbClr val="FFFFFF"/>
                </a:solidFill>
                <a:latin typeface="Arial" pitchFamily="34" charset="0"/>
                <a:ea typeface="Arial" pitchFamily="34" charset="-122"/>
                <a:cs typeface="Arial" pitchFamily="34" charset="-120"/>
              </a:rPr>
              <a:t>ISZE</a:t>
            </a:r>
            <a:endParaRPr lang="en-US" sz="1220" dirty="0"/>
          </a:p>
        </p:txBody>
      </p:sp>
      <p:sp>
        <p:nvSpPr>
          <p:cNvPr id="13" name="Text 11"/>
          <p:cNvSpPr/>
          <p:nvPr/>
        </p:nvSpPr>
        <p:spPr>
          <a:xfrm>
            <a:off x="832104" y="3182112"/>
            <a:ext cx="4727448" cy="393192"/>
          </a:xfrm>
          <a:prstGeom prst="rect">
            <a:avLst/>
          </a:prstGeom>
          <a:noFill/>
          <a:ln/>
        </p:spPr>
        <p:txBody>
          <a:bodyPr wrap="square" lIns="0" tIns="0" rIns="0" bIns="0" rtlCol="0" anchor="ctr"/>
          <a:lstStyle/>
          <a:p>
            <a:pPr indent="0" marL="0">
              <a:buNone/>
            </a:pPr>
            <a:r>
              <a:rPr lang="en-US" sz="2300" b="1" dirty="0">
                <a:solidFill>
                  <a:srgbClr val="24282C"/>
                </a:solidFill>
                <a:latin typeface="Arial" pitchFamily="34" charset="0"/>
                <a:ea typeface="Arial" pitchFamily="34" charset="-122"/>
                <a:cs typeface="Arial" pitchFamily="34" charset="-120"/>
              </a:rPr>
              <a:t>Target purchase-price support</a:t>
            </a:r>
            <a:endParaRPr lang="en-US" sz="2300" dirty="0"/>
          </a:p>
        </p:txBody>
      </p:sp>
      <p:sp>
        <p:nvSpPr>
          <p:cNvPr id="14" name="Text 12"/>
          <p:cNvSpPr/>
          <p:nvPr/>
        </p:nvSpPr>
        <p:spPr>
          <a:xfrm>
            <a:off x="832104" y="3767328"/>
            <a:ext cx="4727448" cy="338328"/>
          </a:xfrm>
          <a:prstGeom prst="rect">
            <a:avLst/>
          </a:prstGeom>
          <a:noFill/>
          <a:ln/>
        </p:spPr>
        <p:txBody>
          <a:bodyPr wrap="square" lIns="0" tIns="0" rIns="0" bIns="0" rtlCol="0" anchor="ctr"/>
          <a:lstStyle/>
          <a:p>
            <a:pPr indent="0" marL="0">
              <a:buNone/>
            </a:pPr>
            <a:r>
              <a:rPr lang="en-US" sz="1820" dirty="0">
                <a:solidFill>
                  <a:srgbClr val="626B72"/>
                </a:solidFill>
                <a:latin typeface="Arial" pitchFamily="34" charset="0"/>
                <a:ea typeface="Arial" pitchFamily="34" charset="-122"/>
                <a:cs typeface="Arial" pitchFamily="34" charset="-120"/>
              </a:rPr>
              <a:t>Select the relevant part numbers.</a:t>
            </a:r>
            <a:endParaRPr lang="en-US" sz="1820" dirty="0"/>
          </a:p>
        </p:txBody>
      </p:sp>
      <p:sp>
        <p:nvSpPr>
          <p:cNvPr id="15" name="Text 13"/>
          <p:cNvSpPr/>
          <p:nvPr/>
        </p:nvSpPr>
        <p:spPr>
          <a:xfrm>
            <a:off x="832104" y="4206240"/>
            <a:ext cx="4727448" cy="338328"/>
          </a:xfrm>
          <a:prstGeom prst="rect">
            <a:avLst/>
          </a:prstGeom>
          <a:noFill/>
          <a:ln/>
        </p:spPr>
        <p:txBody>
          <a:bodyPr wrap="square" lIns="0" tIns="0" rIns="0" bIns="0" rtlCol="0" anchor="ctr"/>
          <a:lstStyle/>
          <a:p>
            <a:pPr indent="0" marL="0">
              <a:buNone/>
            </a:pPr>
            <a:r>
              <a:rPr lang="en-US" sz="1820" dirty="0">
                <a:solidFill>
                  <a:srgbClr val="626B72"/>
                </a:solidFill>
                <a:latin typeface="Arial" pitchFamily="34" charset="0"/>
                <a:ea typeface="Arial" pitchFamily="34" charset="-122"/>
                <a:cs typeface="Arial" pitchFamily="34" charset="-120"/>
              </a:rPr>
              <a:t>Check comparable evidence and terms.</a:t>
            </a:r>
            <a:endParaRPr lang="en-US" sz="1820" dirty="0"/>
          </a:p>
        </p:txBody>
      </p:sp>
      <p:sp>
        <p:nvSpPr>
          <p:cNvPr id="16" name="Text 14"/>
          <p:cNvSpPr/>
          <p:nvPr/>
        </p:nvSpPr>
        <p:spPr>
          <a:xfrm>
            <a:off x="832104" y="4645152"/>
            <a:ext cx="4727448" cy="338328"/>
          </a:xfrm>
          <a:prstGeom prst="rect">
            <a:avLst/>
          </a:prstGeom>
          <a:noFill/>
          <a:ln/>
        </p:spPr>
        <p:txBody>
          <a:bodyPr wrap="square" lIns="0" tIns="0" rIns="0" bIns="0" rtlCol="0" anchor="ctr"/>
          <a:lstStyle/>
          <a:p>
            <a:pPr indent="0" marL="0">
              <a:buNone/>
            </a:pPr>
            <a:r>
              <a:rPr lang="en-US" sz="1820" dirty="0">
                <a:solidFill>
                  <a:srgbClr val="626B72"/>
                </a:solidFill>
                <a:latin typeface="Arial" pitchFamily="34" charset="0"/>
                <a:ea typeface="Arial" pitchFamily="34" charset="-122"/>
                <a:cs typeface="Arial" pitchFamily="34" charset="-120"/>
              </a:rPr>
              <a:t>Evaluate contribution after support.</a:t>
            </a:r>
            <a:endParaRPr lang="en-US" sz="1820" dirty="0"/>
          </a:p>
        </p:txBody>
      </p:sp>
      <p:sp>
        <p:nvSpPr>
          <p:cNvPr id="17" name="Shape 15"/>
          <p:cNvSpPr/>
          <p:nvPr/>
        </p:nvSpPr>
        <p:spPr>
          <a:xfrm>
            <a:off x="6345936" y="2532888"/>
            <a:ext cx="5230368" cy="2807208"/>
          </a:xfrm>
          <a:prstGeom prst="rect">
            <a:avLst/>
          </a:prstGeom>
          <a:solidFill>
            <a:srgbClr val="FFFFFF"/>
          </a:solidFill>
          <a:ln w="6350">
            <a:solidFill>
              <a:srgbClr val="DADDDC"/>
            </a:solidFill>
            <a:prstDash val="solid"/>
          </a:ln>
        </p:spPr>
      </p:sp>
      <p:sp>
        <p:nvSpPr>
          <p:cNvPr id="18" name="Shape 16"/>
          <p:cNvSpPr/>
          <p:nvPr/>
        </p:nvSpPr>
        <p:spPr>
          <a:xfrm>
            <a:off x="6345936" y="2532888"/>
            <a:ext cx="5230368" cy="448056"/>
          </a:xfrm>
          <a:prstGeom prst="rect">
            <a:avLst/>
          </a:prstGeom>
          <a:solidFill>
            <a:srgbClr val="24282C"/>
          </a:solidFill>
          <a:ln w="6350">
            <a:solidFill>
              <a:srgbClr val="24282C"/>
            </a:solidFill>
            <a:prstDash val="solid"/>
          </a:ln>
        </p:spPr>
      </p:sp>
      <p:sp>
        <p:nvSpPr>
          <p:cNvPr id="19" name="Text 17"/>
          <p:cNvSpPr/>
          <p:nvPr/>
        </p:nvSpPr>
        <p:spPr>
          <a:xfrm>
            <a:off x="6565392" y="2651760"/>
            <a:ext cx="4754880" cy="228600"/>
          </a:xfrm>
          <a:prstGeom prst="rect">
            <a:avLst/>
          </a:prstGeom>
          <a:noFill/>
          <a:ln/>
        </p:spPr>
        <p:txBody>
          <a:bodyPr wrap="square" lIns="0" tIns="0" rIns="0" bIns="0" rtlCol="0" anchor="ctr"/>
          <a:lstStyle/>
          <a:p>
            <a:pPr indent="0" marL="0">
              <a:buNone/>
            </a:pPr>
            <a:r>
              <a:rPr lang="en-US" sz="1220" b="1" spc="80" kern="0" dirty="0">
                <a:solidFill>
                  <a:srgbClr val="FFFFFF"/>
                </a:solidFill>
                <a:latin typeface="Arial" pitchFamily="34" charset="0"/>
                <a:ea typeface="Arial" pitchFamily="34" charset="-122"/>
                <a:cs typeface="Arial" pitchFamily="34" charset="-120"/>
              </a:rPr>
              <a:t>DISTRIBUTOR</a:t>
            </a:r>
            <a:endParaRPr lang="en-US" sz="1220" dirty="0"/>
          </a:p>
        </p:txBody>
      </p:sp>
      <p:sp>
        <p:nvSpPr>
          <p:cNvPr id="20" name="Text 18"/>
          <p:cNvSpPr/>
          <p:nvPr/>
        </p:nvSpPr>
        <p:spPr>
          <a:xfrm>
            <a:off x="6565392" y="3182112"/>
            <a:ext cx="4727448" cy="393192"/>
          </a:xfrm>
          <a:prstGeom prst="rect">
            <a:avLst/>
          </a:prstGeom>
          <a:noFill/>
          <a:ln/>
        </p:spPr>
        <p:txBody>
          <a:bodyPr wrap="square" lIns="0" tIns="0" rIns="0" bIns="0" rtlCol="0" anchor="ctr"/>
          <a:lstStyle/>
          <a:p>
            <a:pPr indent="0" marL="0">
              <a:buNone/>
            </a:pPr>
            <a:r>
              <a:rPr lang="en-US" sz="2300" b="1" dirty="0">
                <a:solidFill>
                  <a:srgbClr val="24282C"/>
                </a:solidFill>
                <a:latin typeface="Arial" pitchFamily="34" charset="0"/>
                <a:ea typeface="Arial" pitchFamily="34" charset="-122"/>
                <a:cs typeface="Arial" pitchFamily="34" charset="-120"/>
              </a:rPr>
              <a:t>Review local dealer business</a:t>
            </a:r>
            <a:endParaRPr lang="en-US" sz="2300" dirty="0"/>
          </a:p>
        </p:txBody>
      </p:sp>
      <p:sp>
        <p:nvSpPr>
          <p:cNvPr id="21" name="Text 19"/>
          <p:cNvSpPr/>
          <p:nvPr/>
        </p:nvSpPr>
        <p:spPr>
          <a:xfrm>
            <a:off x="6565392" y="3767328"/>
            <a:ext cx="4727448" cy="338328"/>
          </a:xfrm>
          <a:prstGeom prst="rect">
            <a:avLst/>
          </a:prstGeom>
          <a:noFill/>
          <a:ln/>
        </p:spPr>
        <p:txBody>
          <a:bodyPr wrap="square" lIns="0" tIns="0" rIns="0" bIns="0" rtlCol="0" anchor="ctr"/>
          <a:lstStyle/>
          <a:p>
            <a:pPr indent="0" marL="0">
              <a:buNone/>
            </a:pPr>
            <a:r>
              <a:rPr lang="en-US" sz="1820" dirty="0">
                <a:solidFill>
                  <a:srgbClr val="626B72"/>
                </a:solidFill>
                <a:latin typeface="Arial" pitchFamily="34" charset="0"/>
                <a:ea typeface="Arial" pitchFamily="34" charset="-122"/>
                <a:cs typeface="Arial" pitchFamily="34" charset="-120"/>
              </a:rPr>
              <a:t>Apply the grouping to sales to dealer.</a:t>
            </a:r>
            <a:endParaRPr lang="en-US" sz="1820" dirty="0"/>
          </a:p>
        </p:txBody>
      </p:sp>
      <p:sp>
        <p:nvSpPr>
          <p:cNvPr id="22" name="Text 20"/>
          <p:cNvSpPr/>
          <p:nvPr/>
        </p:nvSpPr>
        <p:spPr>
          <a:xfrm>
            <a:off x="6565392" y="4206240"/>
            <a:ext cx="4727448" cy="338328"/>
          </a:xfrm>
          <a:prstGeom prst="rect">
            <a:avLst/>
          </a:prstGeom>
          <a:noFill/>
          <a:ln/>
        </p:spPr>
        <p:txBody>
          <a:bodyPr wrap="square" lIns="0" tIns="0" rIns="0" bIns="0" rtlCol="0" anchor="ctr"/>
          <a:lstStyle/>
          <a:p>
            <a:pPr indent="0" marL="0">
              <a:buNone/>
            </a:pPr>
            <a:r>
              <a:rPr lang="en-US" sz="1820" dirty="0">
                <a:solidFill>
                  <a:srgbClr val="626B72"/>
                </a:solidFill>
                <a:latin typeface="Arial" pitchFamily="34" charset="0"/>
                <a:ea typeface="Arial" pitchFamily="34" charset="-122"/>
                <a:cs typeface="Arial" pitchFamily="34" charset="-120"/>
              </a:rPr>
              <a:t>Review dealer prices, margins and mix.</a:t>
            </a:r>
            <a:endParaRPr lang="en-US" sz="1820" dirty="0"/>
          </a:p>
        </p:txBody>
      </p:sp>
      <p:sp>
        <p:nvSpPr>
          <p:cNvPr id="23" name="Text 21"/>
          <p:cNvSpPr/>
          <p:nvPr/>
        </p:nvSpPr>
        <p:spPr>
          <a:xfrm>
            <a:off x="6565392" y="4645152"/>
            <a:ext cx="4727448" cy="338328"/>
          </a:xfrm>
          <a:prstGeom prst="rect">
            <a:avLst/>
          </a:prstGeom>
          <a:noFill/>
          <a:ln/>
        </p:spPr>
        <p:txBody>
          <a:bodyPr wrap="square" lIns="0" tIns="0" rIns="0" bIns="0" rtlCol="0" anchor="ctr"/>
          <a:lstStyle/>
          <a:p>
            <a:pPr indent="0" marL="0">
              <a:buNone/>
            </a:pPr>
            <a:r>
              <a:rPr lang="en-US" sz="1820" dirty="0">
                <a:solidFill>
                  <a:srgbClr val="626B72"/>
                </a:solidFill>
                <a:latin typeface="Arial" pitchFamily="34" charset="0"/>
                <a:ea typeface="Arial" pitchFamily="34" charset="-122"/>
                <a:cs typeface="Arial" pitchFamily="34" charset="-120"/>
              </a:rPr>
              <a:t>Target the range and accounts to develop.</a:t>
            </a:r>
            <a:endParaRPr lang="en-US" sz="1820" dirty="0"/>
          </a:p>
        </p:txBody>
      </p:sp>
      <p:sp>
        <p:nvSpPr>
          <p:cNvPr id="24" name="Shape 22"/>
          <p:cNvSpPr/>
          <p:nvPr/>
        </p:nvSpPr>
        <p:spPr>
          <a:xfrm>
            <a:off x="502920" y="5541264"/>
            <a:ext cx="11183112" cy="457200"/>
          </a:xfrm>
          <a:prstGeom prst="rect">
            <a:avLst/>
          </a:prstGeom>
          <a:solidFill>
            <a:srgbClr val="F9E9E8"/>
          </a:solidFill>
          <a:ln w="6350">
            <a:solidFill>
              <a:srgbClr val="F9E9E8"/>
            </a:solidFill>
            <a:prstDash val="solid"/>
          </a:ln>
        </p:spPr>
      </p:sp>
      <p:sp>
        <p:nvSpPr>
          <p:cNvPr id="25" name="Text 23"/>
          <p:cNvSpPr/>
          <p:nvPr/>
        </p:nvSpPr>
        <p:spPr>
          <a:xfrm>
            <a:off x="685800" y="5605272"/>
            <a:ext cx="10799064" cy="347472"/>
          </a:xfrm>
          <a:prstGeom prst="rect">
            <a:avLst/>
          </a:prstGeom>
          <a:noFill/>
          <a:ln/>
        </p:spPr>
        <p:txBody>
          <a:bodyPr wrap="square" lIns="0" tIns="0" rIns="0" bIns="0" rtlCol="0" anchor="ctr"/>
          <a:lstStyle/>
          <a:p>
            <a:pPr indent="0" marL="0">
              <a:buNone/>
            </a:pPr>
            <a:r>
              <a:rPr lang="en-US" sz="1680" b="1" dirty="0">
                <a:solidFill>
                  <a:srgbClr val="24282C"/>
                </a:solidFill>
                <a:latin typeface="Arial" pitchFamily="34" charset="0"/>
                <a:ea typeface="Arial" pitchFamily="34" charset="-122"/>
                <a:cs typeface="Arial" pitchFamily="34" charset="-120"/>
              </a:rPr>
              <a:t>Same product language. Separate pricing decisions. Support the justified lines, not the whole family.</a:t>
            </a:r>
            <a:endParaRPr lang="en-US" sz="16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7">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E30613"/>
          </a:solidFill>
          <a:ln w="6350">
            <a:solidFill>
              <a:srgbClr val="E30613"/>
            </a:solidFill>
            <a:prstDash val="solid"/>
          </a:ln>
        </p:spPr>
      </p:sp>
      <p:sp>
        <p:nvSpPr>
          <p:cNvPr id="3" name="Text 1"/>
          <p:cNvSpPr/>
          <p:nvPr/>
        </p:nvSpPr>
        <p:spPr>
          <a:xfrm>
            <a:off x="1033272" y="256032"/>
            <a:ext cx="10149840" cy="219456"/>
          </a:xfrm>
          <a:prstGeom prst="rect">
            <a:avLst/>
          </a:prstGeom>
          <a:noFill/>
          <a:ln/>
        </p:spPr>
        <p:txBody>
          <a:bodyPr wrap="square" lIns="0" tIns="0" rIns="0" bIns="0" rtlCol="0" anchor="ctr"/>
          <a:lstStyle/>
          <a:p>
            <a:pPr indent="0" marL="0">
              <a:buNone/>
            </a:pPr>
            <a:r>
              <a:rPr lang="en-US" sz="1050" b="1" spc="170" kern="0" dirty="0">
                <a:solidFill>
                  <a:srgbClr val="626B72"/>
                </a:solidFill>
                <a:latin typeface="Arial" pitchFamily="34" charset="0"/>
                <a:ea typeface="Arial" pitchFamily="34" charset="-122"/>
                <a:cs typeface="Arial" pitchFamily="34" charset="-120"/>
              </a:rPr>
              <a:t>DISTRIBUTOR APPLICATION</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lstStyle/>
          <a:p>
            <a:pPr indent="0" marL="0">
              <a:lnSpc>
                <a:spcPct val="102000"/>
              </a:lnSpc>
              <a:buNone/>
            </a:pPr>
            <a:r>
              <a:rPr lang="en-US" sz="3150" b="1" dirty="0">
                <a:solidFill>
                  <a:srgbClr val="24282C"/>
                </a:solidFill>
                <a:latin typeface="Arial" pitchFamily="34" charset="0"/>
                <a:ea typeface="Arial" pitchFamily="34" charset="-122"/>
                <a:cs typeface="Arial" pitchFamily="34" charset="-120"/>
              </a:rPr>
              <a:t>Turn the analysis into one distributor review.</a:t>
            </a:r>
            <a:endParaRPr lang="en-US" sz="3150" dirty="0"/>
          </a:p>
        </p:txBody>
      </p:sp>
      <p:sp>
        <p:nvSpPr>
          <p:cNvPr id="5" name="Text 3"/>
          <p:cNvSpPr/>
          <p:nvPr/>
        </p:nvSpPr>
        <p:spPr>
          <a:xfrm>
            <a:off x="521208" y="1801368"/>
            <a:ext cx="10972800" cy="429768"/>
          </a:xfrm>
          <a:prstGeom prst="rect">
            <a:avLst/>
          </a:prstGeom>
          <a:noFill/>
          <a:ln/>
        </p:spPr>
        <p:txBody>
          <a:bodyPr wrap="square" lIns="0" tIns="0" rIns="0" bIns="0" rtlCol="0" anchor="t"/>
          <a:lstStyle/>
          <a:p>
            <a:pPr indent="0" marL="0">
              <a:buNone/>
            </a:pPr>
            <a:r>
              <a:rPr lang="en-US" sz="1800" dirty="0">
                <a:solidFill>
                  <a:srgbClr val="626B72"/>
                </a:solidFill>
                <a:latin typeface="Arial" pitchFamily="34" charset="0"/>
                <a:ea typeface="Arial" pitchFamily="34" charset="-122"/>
                <a:cs typeface="Arial" pitchFamily="34" charset="-120"/>
              </a:rPr>
              <a:t>Example discussion page: ITUK brake pads | Calendar 2024 versus 2025 | Proposed follow-up</a:t>
            </a:r>
            <a:endParaRPr lang="en-US" sz="1800" dirty="0"/>
          </a:p>
        </p:txBody>
      </p:sp>
      <p:sp>
        <p:nvSpPr>
          <p:cNvPr id="6" name="Text 4"/>
          <p:cNvSpPr/>
          <p:nvPr/>
        </p:nvSpPr>
        <p:spPr>
          <a:xfrm>
            <a:off x="521208" y="6089904"/>
            <a:ext cx="10972800" cy="228600"/>
          </a:xfrm>
          <a:prstGeom prst="rect">
            <a:avLst/>
          </a:prstGeom>
          <a:noFill/>
          <a:ln/>
        </p:spPr>
        <p:txBody>
          <a:bodyPr wrap="square" lIns="0" tIns="0" rIns="0" bIns="0" rtlCol="0" anchor="ctr"/>
          <a:lstStyle/>
          <a:p>
            <a:pPr indent="0" marL="0">
              <a:buNone/>
            </a:pPr>
            <a:r>
              <a:rPr lang="en-US" sz="830" dirty="0">
                <a:solidFill>
                  <a:srgbClr val="626B72"/>
                </a:solidFill>
                <a:latin typeface="Arial" pitchFamily="34" charset="0"/>
                <a:ea typeface="Arial" pitchFamily="34" charset="-122"/>
                <a:cs typeface="Arial" pitchFamily="34" charset="-120"/>
              </a:rPr>
              <a:t>Billing and quantity: supplied category summary, 19 Sep 2026. Follow-up actions, owners and review timing below are proposals, not agreements.</a:t>
            </a:r>
            <a:endParaRPr lang="en-US" sz="830" dirty="0"/>
          </a:p>
        </p:txBody>
      </p:sp>
      <p:sp>
        <p:nvSpPr>
          <p:cNvPr id="7" name="Shape 5"/>
          <p:cNvSpPr/>
          <p:nvPr/>
        </p:nvSpPr>
        <p:spPr>
          <a:xfrm>
            <a:off x="502920" y="6419088"/>
            <a:ext cx="11183112" cy="0"/>
          </a:xfrm>
          <a:prstGeom prst="line">
            <a:avLst/>
          </a:prstGeom>
          <a:noFill/>
          <a:ln w="7620">
            <a:solidFill>
              <a:srgbClr val="DADDDC"/>
            </a:solidFill>
            <a:prstDash val="solid"/>
          </a:ln>
        </p:spPr>
      </p:sp>
      <p:sp>
        <p:nvSpPr>
          <p:cNvPr id="8" name="Text 6"/>
          <p:cNvSpPr/>
          <p:nvPr/>
        </p:nvSpPr>
        <p:spPr>
          <a:xfrm>
            <a:off x="502920" y="6492240"/>
            <a:ext cx="941832" cy="173736"/>
          </a:xfrm>
          <a:prstGeom prst="rect">
            <a:avLst/>
          </a:prstGeom>
          <a:noFill/>
          <a:ln/>
        </p:spPr>
        <p:txBody>
          <a:bodyPr wrap="square" lIns="0" tIns="0" rIns="0" bIns="0" rtlCol="0" anchor="ctr"/>
          <a:lstStyle/>
          <a:p>
            <a:pPr indent="0" marL="0">
              <a:buNone/>
            </a:pPr>
            <a:r>
              <a:rPr lang="en-US" sz="1100" b="1" spc="130" kern="0" dirty="0">
                <a:solidFill>
                  <a:srgbClr val="E30613"/>
                </a:solidFill>
                <a:latin typeface="Arial" pitchFamily="34" charset="0"/>
                <a:ea typeface="Arial" pitchFamily="34" charset="-122"/>
                <a:cs typeface="Arial" pitchFamily="34" charset="-120"/>
              </a:rPr>
              <a:t>ISUZU</a:t>
            </a:r>
            <a:endParaRPr lang="en-US" sz="1100" dirty="0"/>
          </a:p>
        </p:txBody>
      </p:sp>
      <p:sp>
        <p:nvSpPr>
          <p:cNvPr id="9" name="Text 7"/>
          <p:cNvSpPr/>
          <p:nvPr/>
        </p:nvSpPr>
        <p:spPr>
          <a:xfrm>
            <a:off x="1691640" y="6492240"/>
            <a:ext cx="8961120" cy="173736"/>
          </a:xfrm>
          <a:prstGeom prst="rect">
            <a:avLst/>
          </a:prstGeom>
          <a:noFill/>
          <a:ln/>
        </p:spPr>
        <p:txBody>
          <a:bodyPr wrap="square" lIns="0" tIns="0" rIns="0" bIns="0" rtlCol="0" anchor="ctr"/>
          <a:lstStyle/>
          <a:p>
            <a:pPr indent="0" marL="0">
              <a:buNone/>
            </a:pPr>
            <a:r>
              <a:rPr lang="en-US" sz="820" spc="80" kern="0" dirty="0">
                <a:solidFill>
                  <a:srgbClr val="626B72"/>
                </a:solidFill>
                <a:latin typeface="Arial" pitchFamily="34" charset="0"/>
                <a:ea typeface="Arial" pitchFamily="34" charset="-122"/>
                <a:cs typeface="Arial" pitchFamily="34" charset="-120"/>
              </a:rPr>
              <a:t>EUROPE  /  AIM  /  DISTRIBUTOR APPLICATION</a:t>
            </a:r>
            <a:endParaRPr lang="en-US" sz="820" dirty="0"/>
          </a:p>
        </p:txBody>
      </p:sp>
      <p:sp>
        <p:nvSpPr>
          <p:cNvPr id="10" name="Text 8"/>
          <p:cNvSpPr/>
          <p:nvPr/>
        </p:nvSpPr>
        <p:spPr>
          <a:xfrm>
            <a:off x="11292840" y="6464808"/>
            <a:ext cx="402336" cy="210312"/>
          </a:xfrm>
          <a:prstGeom prst="rect">
            <a:avLst/>
          </a:prstGeom>
          <a:noFill/>
          <a:ln/>
        </p:spPr>
        <p:txBody>
          <a:bodyPr wrap="square" lIns="0" tIns="0" rIns="0" bIns="0" rtlCol="0" anchor="ctr"/>
          <a:lstStyle/>
          <a:p>
            <a:pPr algn="r" indent="0" marL="0">
              <a:buNone/>
            </a:pPr>
            <a:r>
              <a:rPr lang="en-US" sz="1050" b="1" dirty="0">
                <a:solidFill>
                  <a:srgbClr val="24282C"/>
                </a:solidFill>
                <a:latin typeface="Arial" pitchFamily="34" charset="0"/>
                <a:ea typeface="Arial" pitchFamily="34" charset="-122"/>
                <a:cs typeface="Arial" pitchFamily="34" charset="-120"/>
              </a:rPr>
              <a:t>18</a:t>
            </a:r>
            <a:endParaRPr lang="en-US" sz="1050" dirty="0"/>
          </a:p>
        </p:txBody>
      </p:sp>
      <p:sp>
        <p:nvSpPr>
          <p:cNvPr id="11" name="Shape 9"/>
          <p:cNvSpPr/>
          <p:nvPr/>
        </p:nvSpPr>
        <p:spPr>
          <a:xfrm>
            <a:off x="612648" y="2487168"/>
            <a:ext cx="7388352" cy="475488"/>
          </a:xfrm>
          <a:prstGeom prst="rect">
            <a:avLst/>
          </a:prstGeom>
          <a:solidFill>
            <a:srgbClr val="24282C"/>
          </a:solidFill>
          <a:ln w="6350">
            <a:solidFill>
              <a:srgbClr val="24282C"/>
            </a:solidFill>
            <a:prstDash val="solid"/>
          </a:ln>
        </p:spPr>
      </p:sp>
      <p:sp>
        <p:nvSpPr>
          <p:cNvPr id="12" name="Text 10"/>
          <p:cNvSpPr/>
          <p:nvPr/>
        </p:nvSpPr>
        <p:spPr>
          <a:xfrm>
            <a:off x="822960" y="2615184"/>
            <a:ext cx="6949440" cy="210312"/>
          </a:xfrm>
          <a:prstGeom prst="rect">
            <a:avLst/>
          </a:prstGeom>
          <a:noFill/>
          <a:ln/>
        </p:spPr>
        <p:txBody>
          <a:bodyPr wrap="square" lIns="0" tIns="0" rIns="0" bIns="0" rtlCol="0" anchor="ctr"/>
          <a:lstStyle/>
          <a:p>
            <a:pPr indent="0" marL="0">
              <a:buNone/>
            </a:pPr>
            <a:r>
              <a:rPr lang="en-US" sz="1230" b="1" spc="70" kern="0" dirty="0">
                <a:solidFill>
                  <a:srgbClr val="FFFFFF"/>
                </a:solidFill>
                <a:latin typeface="Arial" pitchFamily="34" charset="0"/>
                <a:ea typeface="Arial" pitchFamily="34" charset="-122"/>
                <a:cs typeface="Arial" pitchFamily="34" charset="-120"/>
              </a:rPr>
              <a:t>BRAKE-PAD CATEGORY  /  ITUK</a:t>
            </a:r>
            <a:endParaRPr lang="en-US" sz="1230" dirty="0"/>
          </a:p>
        </p:txBody>
      </p:sp>
      <p:sp>
        <p:nvSpPr>
          <p:cNvPr id="13" name="Text 11"/>
          <p:cNvSpPr/>
          <p:nvPr/>
        </p:nvSpPr>
        <p:spPr>
          <a:xfrm>
            <a:off x="832104" y="3163824"/>
            <a:ext cx="1280160" cy="274320"/>
          </a:xfrm>
          <a:prstGeom prst="rect">
            <a:avLst/>
          </a:prstGeom>
          <a:noFill/>
          <a:ln/>
        </p:spPr>
        <p:txBody>
          <a:bodyPr wrap="square" lIns="0" tIns="0" rIns="0" bIns="0" rtlCol="0" anchor="ctr"/>
          <a:lstStyle/>
          <a:p>
            <a:pPr indent="0" marL="0">
              <a:buNone/>
            </a:pPr>
            <a:r>
              <a:rPr lang="en-US" sz="1180" b="1" dirty="0">
                <a:solidFill>
                  <a:srgbClr val="E30613"/>
                </a:solidFill>
                <a:latin typeface="Arial" pitchFamily="34" charset="0"/>
                <a:ea typeface="Arial" pitchFamily="34" charset="-122"/>
                <a:cs typeface="Arial" pitchFamily="34" charset="-120"/>
              </a:rPr>
              <a:t>OBSERVE</a:t>
            </a:r>
            <a:endParaRPr lang="en-US" sz="1180" dirty="0"/>
          </a:p>
        </p:txBody>
      </p:sp>
      <p:sp>
        <p:nvSpPr>
          <p:cNvPr id="14" name="Text 12"/>
          <p:cNvSpPr/>
          <p:nvPr/>
        </p:nvSpPr>
        <p:spPr>
          <a:xfrm>
            <a:off x="2377440" y="3131820"/>
            <a:ext cx="5340096" cy="457200"/>
          </a:xfrm>
          <a:prstGeom prst="rect">
            <a:avLst/>
          </a:prstGeom>
          <a:noFill/>
          <a:ln/>
        </p:spPr>
        <p:txBody>
          <a:bodyPr wrap="square" lIns="0" tIns="0" rIns="0" bIns="0" rtlCol="0" anchor="ctr"/>
          <a:lstStyle/>
          <a:p>
            <a:pPr indent="0" marL="0">
              <a:buNone/>
            </a:pPr>
            <a:r>
              <a:rPr lang="en-US" sz="1710" dirty="0">
                <a:solidFill>
                  <a:srgbClr val="24282C"/>
                </a:solidFill>
                <a:latin typeface="Arial" pitchFamily="34" charset="0"/>
                <a:ea typeface="Arial" pitchFamily="34" charset="-122"/>
                <a:cs typeface="Arial" pitchFamily="34" charset="-120"/>
              </a:rPr>
              <a:t>Billing -13.0%; recorded quantity -25.4%.</a:t>
            </a:r>
            <a:endParaRPr lang="en-US" sz="1710" dirty="0"/>
          </a:p>
        </p:txBody>
      </p:sp>
      <p:sp>
        <p:nvSpPr>
          <p:cNvPr id="15" name="Shape 13"/>
          <p:cNvSpPr/>
          <p:nvPr/>
        </p:nvSpPr>
        <p:spPr>
          <a:xfrm>
            <a:off x="832104" y="3584448"/>
            <a:ext cx="6876288" cy="0"/>
          </a:xfrm>
          <a:prstGeom prst="line">
            <a:avLst/>
          </a:prstGeom>
          <a:noFill/>
          <a:ln w="7620">
            <a:solidFill>
              <a:srgbClr val="DADDDC"/>
            </a:solidFill>
            <a:prstDash val="solid"/>
          </a:ln>
        </p:spPr>
      </p:sp>
      <p:sp>
        <p:nvSpPr>
          <p:cNvPr id="16" name="Text 14"/>
          <p:cNvSpPr/>
          <p:nvPr/>
        </p:nvSpPr>
        <p:spPr>
          <a:xfrm>
            <a:off x="832104" y="3721608"/>
            <a:ext cx="1280160" cy="274320"/>
          </a:xfrm>
          <a:prstGeom prst="rect">
            <a:avLst/>
          </a:prstGeom>
          <a:noFill/>
          <a:ln/>
        </p:spPr>
        <p:txBody>
          <a:bodyPr wrap="square" lIns="0" tIns="0" rIns="0" bIns="0" rtlCol="0" anchor="ctr"/>
          <a:lstStyle/>
          <a:p>
            <a:pPr indent="0" marL="0">
              <a:buNone/>
            </a:pPr>
            <a:r>
              <a:rPr lang="en-US" sz="1180" b="1" dirty="0">
                <a:solidFill>
                  <a:srgbClr val="E30613"/>
                </a:solidFill>
                <a:latin typeface="Arial" pitchFamily="34" charset="0"/>
                <a:ea typeface="Arial" pitchFamily="34" charset="-122"/>
                <a:cs typeface="Arial" pitchFamily="34" charset="-120"/>
              </a:rPr>
              <a:t>EXPLAIN</a:t>
            </a:r>
            <a:endParaRPr lang="en-US" sz="1180" dirty="0"/>
          </a:p>
        </p:txBody>
      </p:sp>
      <p:sp>
        <p:nvSpPr>
          <p:cNvPr id="17" name="Text 15"/>
          <p:cNvSpPr/>
          <p:nvPr/>
        </p:nvSpPr>
        <p:spPr>
          <a:xfrm>
            <a:off x="2377440" y="3689604"/>
            <a:ext cx="5340096" cy="457200"/>
          </a:xfrm>
          <a:prstGeom prst="rect">
            <a:avLst/>
          </a:prstGeom>
          <a:noFill/>
          <a:ln/>
        </p:spPr>
        <p:txBody>
          <a:bodyPr wrap="square" lIns="0" tIns="0" rIns="0" bIns="0" rtlCol="0" anchor="ctr"/>
          <a:lstStyle/>
          <a:p>
            <a:pPr indent="0" marL="0">
              <a:buNone/>
            </a:pPr>
            <a:r>
              <a:rPr lang="en-US" sz="1710" dirty="0">
                <a:solidFill>
                  <a:srgbClr val="24282C"/>
                </a:solidFill>
                <a:latin typeface="Arial" pitchFamily="34" charset="0"/>
                <a:ea typeface="Arial" pitchFamily="34" charset="-122"/>
                <a:cs typeface="Arial" pitchFamily="34" charset="-120"/>
              </a:rPr>
              <a:t>Check contributing references, stock, supply and sales to dealer.</a:t>
            </a:r>
            <a:endParaRPr lang="en-US" sz="1710" dirty="0"/>
          </a:p>
        </p:txBody>
      </p:sp>
      <p:sp>
        <p:nvSpPr>
          <p:cNvPr id="18" name="Shape 16"/>
          <p:cNvSpPr/>
          <p:nvPr/>
        </p:nvSpPr>
        <p:spPr>
          <a:xfrm>
            <a:off x="832104" y="4142232"/>
            <a:ext cx="6876288" cy="0"/>
          </a:xfrm>
          <a:prstGeom prst="line">
            <a:avLst/>
          </a:prstGeom>
          <a:noFill/>
          <a:ln w="7620">
            <a:solidFill>
              <a:srgbClr val="DADDDC"/>
            </a:solidFill>
            <a:prstDash val="solid"/>
          </a:ln>
        </p:spPr>
      </p:sp>
      <p:sp>
        <p:nvSpPr>
          <p:cNvPr id="19" name="Text 17"/>
          <p:cNvSpPr/>
          <p:nvPr/>
        </p:nvSpPr>
        <p:spPr>
          <a:xfrm>
            <a:off x="832104" y="4279392"/>
            <a:ext cx="1280160" cy="274320"/>
          </a:xfrm>
          <a:prstGeom prst="rect">
            <a:avLst/>
          </a:prstGeom>
          <a:noFill/>
          <a:ln/>
        </p:spPr>
        <p:txBody>
          <a:bodyPr wrap="square" lIns="0" tIns="0" rIns="0" bIns="0" rtlCol="0" anchor="ctr"/>
          <a:lstStyle/>
          <a:p>
            <a:pPr indent="0" marL="0">
              <a:buNone/>
            </a:pPr>
            <a:r>
              <a:rPr lang="en-US" sz="1180" b="1" dirty="0">
                <a:solidFill>
                  <a:srgbClr val="E30613"/>
                </a:solidFill>
                <a:latin typeface="Arial" pitchFamily="34" charset="0"/>
                <a:ea typeface="Arial" pitchFamily="34" charset="-122"/>
                <a:cs typeface="Arial" pitchFamily="34" charset="-120"/>
              </a:rPr>
              <a:t>PROPOSE</a:t>
            </a:r>
            <a:endParaRPr lang="en-US" sz="1180" dirty="0"/>
          </a:p>
        </p:txBody>
      </p:sp>
      <p:sp>
        <p:nvSpPr>
          <p:cNvPr id="20" name="Text 18"/>
          <p:cNvSpPr/>
          <p:nvPr/>
        </p:nvSpPr>
        <p:spPr>
          <a:xfrm>
            <a:off x="2377440" y="4247388"/>
            <a:ext cx="5340096" cy="457200"/>
          </a:xfrm>
          <a:prstGeom prst="rect">
            <a:avLst/>
          </a:prstGeom>
          <a:noFill/>
          <a:ln/>
        </p:spPr>
        <p:txBody>
          <a:bodyPr wrap="square" lIns="0" tIns="0" rIns="0" bIns="0" rtlCol="0" anchor="ctr"/>
          <a:lstStyle/>
          <a:p>
            <a:pPr indent="0" marL="0">
              <a:buNone/>
            </a:pPr>
            <a:r>
              <a:rPr lang="en-US" sz="1710" dirty="0">
                <a:solidFill>
                  <a:srgbClr val="24282C"/>
                </a:solidFill>
                <a:latin typeface="Arial" pitchFamily="34" charset="0"/>
                <a:ea typeface="Arial" pitchFamily="34" charset="-122"/>
                <a:cs typeface="Arial" pitchFamily="34" charset="-120"/>
              </a:rPr>
              <a:t>Agree a selected range action once the explanation is supported.</a:t>
            </a:r>
            <a:endParaRPr lang="en-US" sz="1710" dirty="0"/>
          </a:p>
        </p:txBody>
      </p:sp>
      <p:sp>
        <p:nvSpPr>
          <p:cNvPr id="21" name="Shape 19"/>
          <p:cNvSpPr/>
          <p:nvPr/>
        </p:nvSpPr>
        <p:spPr>
          <a:xfrm>
            <a:off x="832104" y="4700016"/>
            <a:ext cx="6876288" cy="0"/>
          </a:xfrm>
          <a:prstGeom prst="line">
            <a:avLst/>
          </a:prstGeom>
          <a:noFill/>
          <a:ln w="7620">
            <a:solidFill>
              <a:srgbClr val="DADDDC"/>
            </a:solidFill>
            <a:prstDash val="solid"/>
          </a:ln>
        </p:spPr>
      </p:sp>
      <p:sp>
        <p:nvSpPr>
          <p:cNvPr id="22" name="Text 20"/>
          <p:cNvSpPr/>
          <p:nvPr/>
        </p:nvSpPr>
        <p:spPr>
          <a:xfrm>
            <a:off x="832104" y="4837176"/>
            <a:ext cx="1280160" cy="274320"/>
          </a:xfrm>
          <a:prstGeom prst="rect">
            <a:avLst/>
          </a:prstGeom>
          <a:noFill/>
          <a:ln/>
        </p:spPr>
        <p:txBody>
          <a:bodyPr wrap="square" lIns="0" tIns="0" rIns="0" bIns="0" rtlCol="0" anchor="ctr"/>
          <a:lstStyle/>
          <a:p>
            <a:pPr indent="0" marL="0">
              <a:buNone/>
            </a:pPr>
            <a:r>
              <a:rPr lang="en-US" sz="1180" b="1" dirty="0">
                <a:solidFill>
                  <a:srgbClr val="E30613"/>
                </a:solidFill>
                <a:latin typeface="Arial" pitchFamily="34" charset="0"/>
                <a:ea typeface="Arial" pitchFamily="34" charset="-122"/>
                <a:cs typeface="Arial" pitchFamily="34" charset="-120"/>
              </a:rPr>
              <a:t>REVIEW</a:t>
            </a:r>
            <a:endParaRPr lang="en-US" sz="1180" dirty="0"/>
          </a:p>
        </p:txBody>
      </p:sp>
      <p:sp>
        <p:nvSpPr>
          <p:cNvPr id="23" name="Text 21"/>
          <p:cNvSpPr/>
          <p:nvPr/>
        </p:nvSpPr>
        <p:spPr>
          <a:xfrm>
            <a:off x="2377440" y="4805172"/>
            <a:ext cx="5340096" cy="457200"/>
          </a:xfrm>
          <a:prstGeom prst="rect">
            <a:avLst/>
          </a:prstGeom>
          <a:noFill/>
          <a:ln/>
        </p:spPr>
        <p:txBody>
          <a:bodyPr wrap="square" lIns="0" tIns="0" rIns="0" bIns="0" rtlCol="0" anchor="ctr"/>
          <a:lstStyle/>
          <a:p>
            <a:pPr indent="0" marL="0">
              <a:buNone/>
            </a:pPr>
            <a:r>
              <a:rPr lang="en-US" sz="1710" dirty="0">
                <a:solidFill>
                  <a:srgbClr val="24282C"/>
                </a:solidFill>
                <a:latin typeface="Arial" pitchFamily="34" charset="0"/>
                <a:ea typeface="Arial" pitchFamily="34" charset="-122"/>
                <a:cs typeface="Arial" pitchFamily="34" charset="-120"/>
              </a:rPr>
              <a:t>Repeat purchases, sales to dealer where available, and contribution.</a:t>
            </a:r>
            <a:endParaRPr lang="en-US" sz="1710" dirty="0"/>
          </a:p>
        </p:txBody>
      </p:sp>
      <p:sp>
        <p:nvSpPr>
          <p:cNvPr id="24" name="Text 22"/>
          <p:cNvSpPr/>
          <p:nvPr/>
        </p:nvSpPr>
        <p:spPr>
          <a:xfrm>
            <a:off x="8357616" y="2734056"/>
            <a:ext cx="3200400" cy="219456"/>
          </a:xfrm>
          <a:prstGeom prst="rect">
            <a:avLst/>
          </a:prstGeom>
          <a:noFill/>
          <a:ln/>
        </p:spPr>
        <p:txBody>
          <a:bodyPr wrap="square" lIns="0" tIns="0" rIns="0" bIns="0" rtlCol="0" anchor="ctr"/>
          <a:lstStyle/>
          <a:p>
            <a:pPr indent="0" marL="0">
              <a:buNone/>
            </a:pPr>
            <a:r>
              <a:rPr lang="en-US" sz="1160" b="1" spc="40" kern="0" dirty="0">
                <a:solidFill>
                  <a:srgbClr val="E30613"/>
                </a:solidFill>
                <a:latin typeface="Arial" pitchFamily="34" charset="0"/>
                <a:ea typeface="Arial" pitchFamily="34" charset="-122"/>
                <a:cs typeface="Arial" pitchFamily="34" charset="-120"/>
              </a:rPr>
              <a:t>MAKE IT ACTIONABLE</a:t>
            </a:r>
            <a:endParaRPr lang="en-US" sz="1160" dirty="0"/>
          </a:p>
        </p:txBody>
      </p:sp>
      <p:sp>
        <p:nvSpPr>
          <p:cNvPr id="25" name="Text 23"/>
          <p:cNvSpPr/>
          <p:nvPr/>
        </p:nvSpPr>
        <p:spPr>
          <a:xfrm>
            <a:off x="8375904" y="3282696"/>
            <a:ext cx="3172968" cy="283464"/>
          </a:xfrm>
          <a:prstGeom prst="rect">
            <a:avLst/>
          </a:prstGeom>
          <a:noFill/>
          <a:ln/>
        </p:spPr>
        <p:txBody>
          <a:bodyPr wrap="square" lIns="0" tIns="0" rIns="0" bIns="0" rtlCol="0" anchor="ctr"/>
          <a:lstStyle/>
          <a:p>
            <a:pPr indent="0" marL="0">
              <a:buNone/>
            </a:pPr>
            <a:r>
              <a:rPr lang="en-US" sz="2000" b="1" dirty="0">
                <a:solidFill>
                  <a:srgbClr val="24282C"/>
                </a:solidFill>
                <a:latin typeface="Arial" pitchFamily="34" charset="0"/>
                <a:ea typeface="Arial" pitchFamily="34" charset="-122"/>
                <a:cs typeface="Arial" pitchFamily="34" charset="-120"/>
              </a:rPr>
              <a:t>Owner</a:t>
            </a:r>
            <a:endParaRPr lang="en-US" sz="2000" dirty="0"/>
          </a:p>
        </p:txBody>
      </p:sp>
      <p:sp>
        <p:nvSpPr>
          <p:cNvPr id="26" name="Text 24"/>
          <p:cNvSpPr/>
          <p:nvPr/>
        </p:nvSpPr>
        <p:spPr>
          <a:xfrm>
            <a:off x="8375904" y="3675888"/>
            <a:ext cx="3163824" cy="594360"/>
          </a:xfrm>
          <a:prstGeom prst="rect">
            <a:avLst/>
          </a:prstGeom>
          <a:noFill/>
          <a:ln/>
        </p:spPr>
        <p:txBody>
          <a:bodyPr wrap="square" lIns="0" tIns="0" rIns="0" bIns="0" rtlCol="0" anchor="ctr"/>
          <a:lstStyle/>
          <a:p>
            <a:pPr indent="0" marL="0">
              <a:buNone/>
            </a:pPr>
            <a:r>
              <a:rPr lang="en-US" sz="1750" dirty="0">
                <a:solidFill>
                  <a:srgbClr val="626B72"/>
                </a:solidFill>
                <a:latin typeface="Arial" pitchFamily="34" charset="0"/>
                <a:ea typeface="Arial" pitchFamily="34" charset="-122"/>
                <a:cs typeface="Arial" pitchFamily="34" charset="-120"/>
              </a:rPr>
              <a:t>ISZE account lead and</a:t>
            </a:r>
            <a:endParaRPr lang="en-US" sz="1750" dirty="0"/>
          </a:p>
          <a:p>
            <a:pPr indent="0" marL="0">
              <a:buNone/>
            </a:pPr>
            <a:r>
              <a:rPr lang="en-US" sz="1750" dirty="0">
                <a:solidFill>
                  <a:srgbClr val="626B72"/>
                </a:solidFill>
                <a:latin typeface="Arial" pitchFamily="34" charset="0"/>
                <a:ea typeface="Arial" pitchFamily="34" charset="-122"/>
                <a:cs typeface="Arial" pitchFamily="34" charset="-120"/>
              </a:rPr>
              <a:t>distributor parts manager</a:t>
            </a:r>
            <a:endParaRPr lang="en-US" sz="1750" dirty="0"/>
          </a:p>
        </p:txBody>
      </p:sp>
      <p:sp>
        <p:nvSpPr>
          <p:cNvPr id="27" name="Text 25"/>
          <p:cNvSpPr/>
          <p:nvPr/>
        </p:nvSpPr>
        <p:spPr>
          <a:xfrm>
            <a:off x="8375904" y="4553712"/>
            <a:ext cx="3172968" cy="283464"/>
          </a:xfrm>
          <a:prstGeom prst="rect">
            <a:avLst/>
          </a:prstGeom>
          <a:noFill/>
          <a:ln/>
        </p:spPr>
        <p:txBody>
          <a:bodyPr wrap="square" lIns="0" tIns="0" rIns="0" bIns="0" rtlCol="0" anchor="ctr"/>
          <a:lstStyle/>
          <a:p>
            <a:pPr indent="0" marL="0">
              <a:buNone/>
            </a:pPr>
            <a:r>
              <a:rPr lang="en-US" sz="2000" b="1" dirty="0">
                <a:solidFill>
                  <a:srgbClr val="24282C"/>
                </a:solidFill>
                <a:latin typeface="Arial" pitchFamily="34" charset="0"/>
                <a:ea typeface="Arial" pitchFamily="34" charset="-122"/>
                <a:cs typeface="Arial" pitchFamily="34" charset="-120"/>
              </a:rPr>
              <a:t>Next review</a:t>
            </a:r>
            <a:endParaRPr lang="en-US" sz="2000" dirty="0"/>
          </a:p>
        </p:txBody>
      </p:sp>
      <p:sp>
        <p:nvSpPr>
          <p:cNvPr id="28" name="Text 26"/>
          <p:cNvSpPr/>
          <p:nvPr/>
        </p:nvSpPr>
        <p:spPr>
          <a:xfrm>
            <a:off x="8375904" y="4928616"/>
            <a:ext cx="3145536" cy="603504"/>
          </a:xfrm>
          <a:prstGeom prst="rect">
            <a:avLst/>
          </a:prstGeom>
          <a:noFill/>
          <a:ln/>
        </p:spPr>
        <p:txBody>
          <a:bodyPr wrap="square" lIns="0" tIns="0" rIns="0" bIns="0" rtlCol="0" anchor="ctr"/>
          <a:lstStyle/>
          <a:p>
            <a:pPr indent="0" marL="0">
              <a:buNone/>
            </a:pPr>
            <a:r>
              <a:rPr lang="en-US" sz="1750" dirty="0">
                <a:solidFill>
                  <a:srgbClr val="626B72"/>
                </a:solidFill>
                <a:latin typeface="Arial" pitchFamily="34" charset="0"/>
                <a:ea typeface="Arial" pitchFamily="34" charset="-122"/>
                <a:cs typeface="Arial" pitchFamily="34" charset="-120"/>
              </a:rPr>
              <a:t>Propose the next monthly</a:t>
            </a:r>
            <a:endParaRPr lang="en-US" sz="1750" dirty="0"/>
          </a:p>
          <a:p>
            <a:pPr indent="0" marL="0">
              <a:buNone/>
            </a:pPr>
            <a:r>
              <a:rPr lang="en-US" sz="1750" dirty="0">
                <a:solidFill>
                  <a:srgbClr val="626B72"/>
                </a:solidFill>
                <a:latin typeface="Arial" pitchFamily="34" charset="0"/>
                <a:ea typeface="Arial" pitchFamily="34" charset="-122"/>
                <a:cs typeface="Arial" pitchFamily="34" charset="-120"/>
              </a:rPr>
              <a:t>category review.</a:t>
            </a:r>
            <a:endParaRPr lang="en-US" sz="1750" dirty="0"/>
          </a:p>
        </p:txBody>
      </p:sp>
      <p:sp>
        <p:nvSpPr>
          <p:cNvPr id="29" name="Shape 27"/>
          <p:cNvSpPr/>
          <p:nvPr/>
        </p:nvSpPr>
        <p:spPr>
          <a:xfrm>
            <a:off x="502920" y="5541264"/>
            <a:ext cx="11183112" cy="457200"/>
          </a:xfrm>
          <a:prstGeom prst="rect">
            <a:avLst/>
          </a:prstGeom>
          <a:solidFill>
            <a:srgbClr val="F9E9E8"/>
          </a:solidFill>
          <a:ln w="6350">
            <a:solidFill>
              <a:srgbClr val="F9E9E8"/>
            </a:solidFill>
            <a:prstDash val="solid"/>
          </a:ln>
        </p:spPr>
      </p:sp>
      <p:sp>
        <p:nvSpPr>
          <p:cNvPr id="30" name="Text 28"/>
          <p:cNvSpPr/>
          <p:nvPr/>
        </p:nvSpPr>
        <p:spPr>
          <a:xfrm>
            <a:off x="685800" y="5605272"/>
            <a:ext cx="10799064" cy="347472"/>
          </a:xfrm>
          <a:prstGeom prst="rect">
            <a:avLst/>
          </a:prstGeom>
          <a:noFill/>
          <a:ln/>
        </p:spPr>
        <p:txBody>
          <a:bodyPr wrap="square" lIns="0" tIns="0" rIns="0" bIns="0" rtlCol="0" anchor="ctr"/>
          <a:lstStyle/>
          <a:p>
            <a:pPr indent="0" marL="0">
              <a:buNone/>
            </a:pPr>
            <a:r>
              <a:rPr lang="en-US" sz="1670" b="1" dirty="0">
                <a:solidFill>
                  <a:srgbClr val="24282C"/>
                </a:solidFill>
                <a:latin typeface="Arial" pitchFamily="34" charset="0"/>
                <a:ea typeface="Arial" pitchFamily="34" charset="-122"/>
                <a:cs typeface="Arial" pitchFamily="34" charset="-120"/>
              </a:rPr>
              <a:t>Choose a meaningful issue, a supported explanation and an action the distributor can execute.</a:t>
            </a:r>
            <a:endParaRPr lang="en-US" sz="167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6">
    <p:bg>
      <p:bgPr>
        <a:solidFill>
          <a:srgbClr val="F5F4F1"/>
        </a:solidFill>
      </p:bgPr>
    </p:bg>
    <p:spTree>
      <p:nvGrpSpPr>
        <p:cNvPr id="1" name=""/>
        <p:cNvGrpSpPr/>
        <p:nvPr/>
      </p:nvGrpSpPr>
      <p:grpSpPr>
        <a:xfrm>
          <a:off x="0" y="0"/>
          <a:ext cx="0" cy="0"/>
          <a:chOff x="0" y="0"/>
          <a:chExt cx="0" cy="0"/>
        </a:xfrm>
      </p:grpSpPr>
      <p:sp>
        <p:nvSpPr>
          <p:cNvPr id="2" name="Shape 0"/>
          <p:cNvSpPr/>
          <p:nvPr/>
        </p:nvSpPr>
        <p:spPr>
          <a:xfrm>
            <a:off x="502920" y="338328"/>
            <a:ext cx="420624" cy="59436"/>
          </a:xfrm>
          <a:prstGeom prst="rect">
            <a:avLst/>
          </a:prstGeom>
          <a:solidFill>
            <a:srgbClr val="D71920"/>
          </a:solidFill>
          <a:ln w="12700">
            <a:solidFill>
              <a:srgbClr val="D71920"/>
            </a:solidFill>
            <a:prstDash val="solid"/>
          </a:ln>
        </p:spPr>
        <p:txBody>
          <a:bodyPr/>
          <a:p/>
        </p:txBody>
      </p:sp>
      <p:sp>
        <p:nvSpPr>
          <p:cNvPr id="3" name="Text 1"/>
          <p:cNvSpPr/>
          <p:nvPr/>
        </p:nvSpPr>
        <p:spPr>
          <a:xfrm>
            <a:off x="1033272" y="256032"/>
            <a:ext cx="10149840" cy="219456"/>
          </a:xfrm>
          <a:prstGeom prst="rect">
            <a:avLst/>
          </a:prstGeom>
          <a:noFill/>
          <a:ln/>
        </p:spPr>
        <p:txBody>
          <a:bodyPr wrap="square" lIns="0" tIns="0" rIns="0" bIns="0" rtlCol="0" anchor="ctr">
            <a:noAutofit/>
          </a:bodyPr>
          <a:lstStyle/>
          <a:p>
            <a:pPr indent="0" marL="0">
              <a:buNone/>
            </a:pPr>
            <a:r>
              <a:rPr lang="en-US" sz="1050" b="1" spc="150" kern="0" dirty="0">
                <a:solidFill>
                  <a:srgbClr val="626A71"/>
                </a:solidFill>
                <a:latin typeface="Arial" pitchFamily="34" charset="0"/>
                <a:ea typeface="Arial" pitchFamily="34" charset="-122"/>
                <a:cs typeface="Arial" pitchFamily="34" charset="-120"/>
              </a:rPr>
              <a:t>UPDATEABILITY</a:t>
            </a:r>
            <a:endParaRPr lang="en-US" sz="1050" dirty="0"/>
          </a:p>
        </p:txBody>
      </p:sp>
      <p:sp>
        <p:nvSpPr>
          <p:cNvPr id="4" name="Text 2"/>
          <p:cNvSpPr/>
          <p:nvPr/>
        </p:nvSpPr>
        <p:spPr>
          <a:xfrm>
            <a:off x="502920" y="795528"/>
            <a:ext cx="11064240" cy="914400"/>
          </a:xfrm>
          <a:prstGeom prst="rect">
            <a:avLst/>
          </a:prstGeom>
          <a:noFill/>
          <a:ln/>
        </p:spPr>
        <p:txBody>
          <a:bodyPr wrap="square" lIns="0" tIns="0" rIns="0" bIns="0" rtlCol="0" anchor="t">
            <a:noAutofit/>
          </a:bodyPr>
          <a:lstStyle/>
          <a:p>
            <a:pPr indent="0" marL="0">
              <a:buNone/>
            </a:pPr>
            <a:r>
              <a:rPr lang="en-US" sz="3150" b="1" dirty="0">
                <a:solidFill>
                  <a:srgbClr val="24282C"/>
                </a:solidFill>
                <a:latin typeface="Arial" pitchFamily="34" charset="0"/>
                <a:ea typeface="Arial" pitchFamily="34" charset="-122"/>
                <a:cs typeface="Arial" pitchFamily="34" charset="-120"/>
              </a:rPr>
              <a:t>Review the changes, not the whole catalogue.</a:t>
            </a:r>
            <a:endParaRPr lang="en-US" sz="3150" dirty="0"/>
          </a:p>
        </p:txBody>
      </p:sp>
      <p:sp>
        <p:nvSpPr>
          <p:cNvPr id="5" name="Text 3"/>
          <p:cNvSpPr/>
          <p:nvPr/>
        </p:nvSpPr>
        <p:spPr>
          <a:xfrm>
            <a:off x="521208" y="1719072"/>
            <a:ext cx="10972800" cy="475488"/>
          </a:xfrm>
          <a:prstGeom prst="rect">
            <a:avLst/>
          </a:prstGeom>
          <a:noFill/>
          <a:ln/>
        </p:spPr>
        <p:txBody>
          <a:bodyPr wrap="square" lIns="0" tIns="0" rIns="0" bIns="0" rtlCol="0" anchor="t">
            <a:noAutofit/>
          </a:bodyPr>
          <a:lstStyle/>
          <a:p>
            <a:pPr indent="0" marL="0">
              <a:buNone/>
            </a:pPr>
            <a:r>
              <a:rPr lang="en-US" sz="1800" dirty="0">
                <a:solidFill>
                  <a:srgbClr val="626A71"/>
                </a:solidFill>
                <a:latin typeface="Arial" pitchFamily="34" charset="0"/>
                <a:ea typeface="Arial" pitchFamily="34" charset="-122"/>
                <a:cs typeface="Arial" pitchFamily="34" charset="-120"/>
              </a:rPr>
              <a:t>Vehicle Parts Sales owns the local process within the existing ISZE master.</a:t>
            </a:r>
            <a:endParaRPr lang="en-US" sz="1800" dirty="0"/>
          </a:p>
        </p:txBody>
      </p:sp>
      <p:sp>
        <p:nvSpPr>
          <p:cNvPr id="6" name="Shape 4"/>
          <p:cNvSpPr/>
          <p:nvPr/>
        </p:nvSpPr>
        <p:spPr>
          <a:xfrm>
            <a:off x="502920" y="6419088"/>
            <a:ext cx="11183112" cy="0"/>
          </a:xfrm>
          <a:prstGeom prst="line">
            <a:avLst/>
          </a:prstGeom>
          <a:noFill/>
          <a:ln w="7620">
            <a:solidFill>
              <a:srgbClr val="D9DCDA"/>
            </a:solidFill>
            <a:prstDash val="solid"/>
          </a:ln>
        </p:spPr>
        <p:txBody>
          <a:bodyPr/>
          <a:p/>
        </p:txBody>
      </p:sp>
      <p:sp>
        <p:nvSpPr>
          <p:cNvPr id="7" name="Text 5"/>
          <p:cNvSpPr/>
          <p:nvPr/>
        </p:nvSpPr>
        <p:spPr>
          <a:xfrm>
            <a:off x="502920" y="6492240"/>
            <a:ext cx="941832" cy="173736"/>
          </a:xfrm>
          <a:prstGeom prst="rect">
            <a:avLst/>
          </a:prstGeom>
          <a:noFill/>
          <a:ln/>
        </p:spPr>
        <p:txBody>
          <a:bodyPr wrap="square" lIns="0" tIns="0" rIns="0" bIns="0" rtlCol="0" anchor="ctr">
            <a:noAutofit/>
          </a:bodyPr>
          <a:lstStyle/>
          <a:p>
            <a:pPr indent="0" marL="0">
              <a:buNone/>
            </a:pPr>
            <a:r>
              <a:rPr lang="en-US" sz="1100" b="1" spc="180" kern="0" dirty="0">
                <a:solidFill>
                  <a:srgbClr val="D71920"/>
                </a:solidFill>
                <a:latin typeface="Arial" pitchFamily="34" charset="0"/>
                <a:ea typeface="Arial" pitchFamily="34" charset="-122"/>
                <a:cs typeface="Arial" pitchFamily="34" charset="-120"/>
              </a:rPr>
              <a:t>ISUZU</a:t>
            </a:r>
            <a:endParaRPr lang="en-US" sz="1100" dirty="0"/>
          </a:p>
        </p:txBody>
      </p:sp>
      <p:sp>
        <p:nvSpPr>
          <p:cNvPr id="8" name="Text 6"/>
          <p:cNvSpPr/>
          <p:nvPr/>
        </p:nvSpPr>
        <p:spPr>
          <a:xfrm>
            <a:off x="1691640" y="6492240"/>
            <a:ext cx="8961120" cy="173736"/>
          </a:xfrm>
          <a:prstGeom prst="rect">
            <a:avLst/>
          </a:prstGeom>
          <a:noFill/>
          <a:ln/>
        </p:spPr>
        <p:txBody>
          <a:bodyPr wrap="square" lIns="0" tIns="0" rIns="0" bIns="0" rtlCol="0" anchor="ctr">
            <a:noAutofit/>
          </a:bodyPr>
          <a:lstStyle/>
          <a:p>
            <a:pPr indent="0" marL="0">
              <a:buNone/>
            </a:pPr>
            <a:r>
              <a:rPr lang="en-US" sz="820" spc="70" kern="0" dirty="0">
                <a:solidFill>
                  <a:srgbClr val="626A71"/>
                </a:solidFill>
                <a:latin typeface="Arial" pitchFamily="34" charset="0"/>
                <a:ea typeface="Arial" pitchFamily="34" charset="-122"/>
                <a:cs typeface="Arial" pitchFamily="34" charset="-120"/>
              </a:rPr>
              <a:t>EUROPE  /  AIM  /  UPDATEABILITY</a:t>
            </a:r>
            <a:endParaRPr lang="en-US" sz="820" dirty="0"/>
          </a:p>
        </p:txBody>
      </p:sp>
      <p:sp>
        <p:nvSpPr>
          <p:cNvPr id="9" name="Text 7"/>
          <p:cNvSpPr/>
          <p:nvPr/>
        </p:nvSpPr>
        <p:spPr>
          <a:xfrm>
            <a:off x="11292840" y="6464808"/>
            <a:ext cx="402336" cy="210312"/>
          </a:xfrm>
          <a:prstGeom prst="rect">
            <a:avLst/>
          </a:prstGeom>
          <a:noFill/>
          <a:ln/>
        </p:spPr>
        <p:txBody>
          <a:bodyPr wrap="square" lIns="0" tIns="0" rIns="0" bIns="0" rtlCol="0" anchor="ctr">
            <a:noAutofit/>
          </a:bodyPr>
          <a:lstStyle/>
          <a:p>
            <a:pPr algn="r" indent="0" marL="0">
              <a:buNone/>
            </a:pPr>
            <a:r>
              <a:rPr lang="en-US" sz="1050" b="1" dirty="0">
                <a:solidFill>
                  <a:srgbClr val="24282C"/>
                </a:solidFill>
                <a:latin typeface="Arial" pitchFamily="34" charset="0"/>
                <a:ea typeface="Arial" pitchFamily="34" charset="-122"/>
                <a:cs typeface="Arial" pitchFamily="34" charset="-120"/>
              </a:rPr>
              <a:t>19</a:t>
            </a:r>
            <a:endParaRPr sz="1050"/>
          </a:p>
        </p:txBody>
      </p:sp>
      <p:sp>
        <p:nvSpPr>
          <p:cNvPr id="10" name="Shape 8"/>
          <p:cNvSpPr/>
          <p:nvPr/>
        </p:nvSpPr>
        <p:spPr>
          <a:xfrm>
            <a:off x="640080" y="2816352"/>
            <a:ext cx="2432304" cy="2103120"/>
          </a:xfrm>
          <a:prstGeom prst="rect">
            <a:avLst/>
          </a:prstGeom>
          <a:solidFill>
            <a:srgbClr val="FFFFFF"/>
          </a:solidFill>
          <a:ln w="12700">
            <a:solidFill>
              <a:srgbClr val="FFFFFF"/>
            </a:solidFill>
            <a:prstDash val="solid"/>
          </a:ln>
        </p:spPr>
        <p:txBody>
          <a:bodyPr/>
          <a:p/>
        </p:txBody>
      </p:sp>
      <p:sp>
        <p:nvSpPr>
          <p:cNvPr id="11" name="Text 9"/>
          <p:cNvSpPr/>
          <p:nvPr/>
        </p:nvSpPr>
        <p:spPr>
          <a:xfrm>
            <a:off x="813816"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Accepted version</a:t>
            </a:r>
            <a:endParaRPr lang="en-US" sz="2200" dirty="0"/>
          </a:p>
        </p:txBody>
      </p:sp>
      <p:sp>
        <p:nvSpPr>
          <p:cNvPr id="12" name="Text 10"/>
          <p:cNvSpPr/>
          <p:nvPr/>
        </p:nvSpPr>
        <p:spPr>
          <a:xfrm>
            <a:off x="813816" y="3968496"/>
            <a:ext cx="2075688" cy="69494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Keep reviewed</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classifications.</a:t>
            </a:r>
            <a:endParaRPr lang="en-US" sz="1800" dirty="0"/>
          </a:p>
        </p:txBody>
      </p:sp>
      <p:sp>
        <p:nvSpPr>
          <p:cNvPr id="13" name="Shape 11"/>
          <p:cNvSpPr/>
          <p:nvPr/>
        </p:nvSpPr>
        <p:spPr>
          <a:xfrm>
            <a:off x="3163824" y="3867912"/>
            <a:ext cx="237744" cy="0"/>
          </a:xfrm>
          <a:prstGeom prst="line">
            <a:avLst/>
          </a:prstGeom>
          <a:noFill/>
          <a:ln w="21590">
            <a:solidFill>
              <a:srgbClr val="D71920"/>
            </a:solidFill>
            <a:prstDash val="solid"/>
            <a:tailEnd type="triangle"/>
          </a:ln>
        </p:spPr>
        <p:txBody>
          <a:bodyPr/>
          <a:p/>
        </p:txBody>
      </p:sp>
      <p:sp>
        <p:nvSpPr>
          <p:cNvPr id="14" name="Shape 12"/>
          <p:cNvSpPr/>
          <p:nvPr/>
        </p:nvSpPr>
        <p:spPr>
          <a:xfrm>
            <a:off x="3538728" y="2816352"/>
            <a:ext cx="2432304" cy="2103120"/>
          </a:xfrm>
          <a:prstGeom prst="rect">
            <a:avLst/>
          </a:prstGeom>
          <a:solidFill>
            <a:srgbClr val="FFFFFF"/>
          </a:solidFill>
          <a:ln w="12700">
            <a:solidFill>
              <a:srgbClr val="FFFFFF"/>
            </a:solidFill>
            <a:prstDash val="solid"/>
          </a:ln>
        </p:spPr>
        <p:txBody>
          <a:bodyPr/>
          <a:p/>
        </p:txBody>
      </p:sp>
      <p:sp>
        <p:nvSpPr>
          <p:cNvPr id="15" name="Text 13"/>
          <p:cNvSpPr/>
          <p:nvPr/>
        </p:nvSpPr>
        <p:spPr>
          <a:xfrm>
            <a:off x="3712464"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New information</a:t>
            </a:r>
            <a:endParaRPr lang="en-US" sz="2200" dirty="0"/>
          </a:p>
        </p:txBody>
      </p:sp>
      <p:sp>
        <p:nvSpPr>
          <p:cNvPr id="16" name="Text 14"/>
          <p:cNvSpPr/>
          <p:nvPr/>
        </p:nvSpPr>
        <p:spPr>
          <a:xfrm>
            <a:off x="3712464" y="3968496"/>
            <a:ext cx="2075688" cy="694944"/>
          </a:xfrm>
          <a:prstGeom prst="rect">
            <a:avLst/>
          </a:prstGeom>
          <a:noFill/>
          <a:ln/>
        </p:spPr>
        <p:txBody>
          <a:bodyPr wrap="square" lIns="0" tIns="0" rIns="0" bIns="0" rtlCol="0" anchor="ctr">
            <a:noAutofit/>
          </a:bodyPr>
          <a:lstStyle/>
          <a:p>
            <a:pPr indent="0" marL="0">
              <a:buNone/>
              <a:defRPr sz="1680"/>
            </a:pPr>
            <a:r>
              <a:rPr lang="en-US" sz="1680" dirty="0">
                <a:solidFill>
                  <a:srgbClr val="626A71"/>
                </a:solidFill>
                <a:latin typeface="Arial" pitchFamily="34" charset="0"/>
                <a:ea typeface="Arial" pitchFamily="34" charset="-122"/>
                <a:cs typeface="Arial" pitchFamily="34" charset="-120"/>
              </a:rPr>
              <a:t>Identify new parts</a:t>
            </a:r>
            <a:endParaRPr lang="en-US" sz="1680" dirty="0"/>
          </a:p>
          <a:p>
            <a:pPr indent="0" marL="0">
              <a:buNone/>
              <a:defRPr sz="1680"/>
            </a:pPr>
            <a:r>
              <a:rPr lang="en-US" sz="1680" dirty="0">
                <a:solidFill>
                  <a:srgbClr val="626A71"/>
                </a:solidFill>
                <a:latin typeface="Arial" pitchFamily="34" charset="0"/>
                <a:ea typeface="Arial" pitchFamily="34" charset="-122"/>
                <a:cs typeface="Arial" pitchFamily="34" charset="-120"/>
              </a:rPr>
              <a:t>and changed evidence.</a:t>
            </a:r>
            <a:endParaRPr lang="en-US" sz="1680" dirty="0"/>
          </a:p>
        </p:txBody>
      </p:sp>
      <p:sp>
        <p:nvSpPr>
          <p:cNvPr id="17" name="Shape 15"/>
          <p:cNvSpPr/>
          <p:nvPr/>
        </p:nvSpPr>
        <p:spPr>
          <a:xfrm>
            <a:off x="6062472" y="3867912"/>
            <a:ext cx="237744" cy="0"/>
          </a:xfrm>
          <a:prstGeom prst="line">
            <a:avLst/>
          </a:prstGeom>
          <a:noFill/>
          <a:ln w="21590">
            <a:solidFill>
              <a:srgbClr val="D71920"/>
            </a:solidFill>
            <a:prstDash val="solid"/>
            <a:tailEnd type="triangle"/>
          </a:ln>
        </p:spPr>
        <p:txBody>
          <a:bodyPr/>
          <a:p/>
        </p:txBody>
      </p:sp>
      <p:sp>
        <p:nvSpPr>
          <p:cNvPr id="18" name="Shape 16"/>
          <p:cNvSpPr/>
          <p:nvPr/>
        </p:nvSpPr>
        <p:spPr>
          <a:xfrm>
            <a:off x="6437376" y="2816352"/>
            <a:ext cx="2432304" cy="2103120"/>
          </a:xfrm>
          <a:prstGeom prst="rect">
            <a:avLst/>
          </a:prstGeom>
          <a:solidFill>
            <a:srgbClr val="D71920"/>
          </a:solidFill>
          <a:ln w="12700">
            <a:solidFill>
              <a:srgbClr val="D71920"/>
            </a:solidFill>
            <a:prstDash val="solid"/>
          </a:ln>
        </p:spPr>
        <p:txBody>
          <a:bodyPr/>
          <a:p/>
        </p:txBody>
      </p:sp>
      <p:sp>
        <p:nvSpPr>
          <p:cNvPr id="19" name="Text 17"/>
          <p:cNvSpPr/>
          <p:nvPr/>
        </p:nvSpPr>
        <p:spPr>
          <a:xfrm>
            <a:off x="6611112"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FFFFFF"/>
                </a:solidFill>
                <a:latin typeface="Arial" pitchFamily="34" charset="0"/>
                <a:ea typeface="Arial" pitchFamily="34" charset="-122"/>
                <a:cs typeface="Arial" pitchFamily="34" charset="-120"/>
              </a:rPr>
              <a:t>Exception review</a:t>
            </a:r>
            <a:endParaRPr lang="en-US" sz="2200" dirty="0"/>
          </a:p>
        </p:txBody>
      </p:sp>
      <p:sp>
        <p:nvSpPr>
          <p:cNvPr id="20" name="Text 18"/>
          <p:cNvSpPr/>
          <p:nvPr/>
        </p:nvSpPr>
        <p:spPr>
          <a:xfrm>
            <a:off x="6611112" y="3968496"/>
            <a:ext cx="2075688" cy="694944"/>
          </a:xfrm>
          <a:prstGeom prst="rect">
            <a:avLst/>
          </a:prstGeom>
          <a:noFill/>
          <a:ln/>
        </p:spPr>
        <p:txBody>
          <a:bodyPr wrap="square" lIns="0" tIns="0" rIns="0" bIns="0" rtlCol="0" anchor="ctr">
            <a:noAutofit/>
          </a:bodyPr>
          <a:lstStyle/>
          <a:p>
            <a:pPr indent="0" marL="0">
              <a:buNone/>
            </a:pPr>
            <a:r>
              <a:rPr lang="en-US" sz="1800" dirty="0">
                <a:solidFill>
                  <a:srgbClr val="FFFFFF"/>
                </a:solidFill>
                <a:latin typeface="Arial" pitchFamily="34" charset="0"/>
                <a:ea typeface="Arial" pitchFamily="34" charset="-122"/>
                <a:cs typeface="Arial" pitchFamily="34" charset="-120"/>
              </a:rPr>
              <a:t>Resolve only the</a:t>
            </a:r>
            <a:endParaRPr lang="en-US" sz="1800" dirty="0"/>
          </a:p>
          <a:p>
            <a:pPr indent="0" marL="0">
              <a:buNone/>
            </a:pPr>
            <a:r>
              <a:rPr lang="en-US" sz="1800" dirty="0">
                <a:solidFill>
                  <a:srgbClr val="FFFFFF"/>
                </a:solidFill>
                <a:latin typeface="Arial" pitchFamily="34" charset="0"/>
                <a:ea typeface="Arial" pitchFamily="34" charset="-122"/>
                <a:cs typeface="Arial" pitchFamily="34" charset="-120"/>
              </a:rPr>
              <a:t>items that need it.</a:t>
            </a:r>
            <a:endParaRPr lang="en-US" sz="1800" dirty="0"/>
          </a:p>
        </p:txBody>
      </p:sp>
      <p:sp>
        <p:nvSpPr>
          <p:cNvPr id="21" name="Shape 19"/>
          <p:cNvSpPr/>
          <p:nvPr/>
        </p:nvSpPr>
        <p:spPr>
          <a:xfrm>
            <a:off x="8961120" y="3867912"/>
            <a:ext cx="237744" cy="0"/>
          </a:xfrm>
          <a:prstGeom prst="line">
            <a:avLst/>
          </a:prstGeom>
          <a:noFill/>
          <a:ln w="21590">
            <a:solidFill>
              <a:srgbClr val="D71920"/>
            </a:solidFill>
            <a:prstDash val="solid"/>
            <a:tailEnd type="triangle"/>
          </a:ln>
        </p:spPr>
        <p:txBody>
          <a:bodyPr/>
          <a:p/>
        </p:txBody>
      </p:sp>
      <p:sp>
        <p:nvSpPr>
          <p:cNvPr id="22" name="Shape 20"/>
          <p:cNvSpPr/>
          <p:nvPr/>
        </p:nvSpPr>
        <p:spPr>
          <a:xfrm>
            <a:off x="9336024" y="2816352"/>
            <a:ext cx="2432304" cy="2103120"/>
          </a:xfrm>
          <a:prstGeom prst="rect">
            <a:avLst/>
          </a:prstGeom>
          <a:solidFill>
            <a:srgbClr val="FFFFFF"/>
          </a:solidFill>
          <a:ln w="12700">
            <a:solidFill>
              <a:srgbClr val="FFFFFF"/>
            </a:solidFill>
            <a:prstDash val="solid"/>
          </a:ln>
        </p:spPr>
        <p:txBody>
          <a:bodyPr/>
          <a:p/>
        </p:txBody>
      </p:sp>
      <p:sp>
        <p:nvSpPr>
          <p:cNvPr id="23" name="Text 21"/>
          <p:cNvSpPr/>
          <p:nvPr/>
        </p:nvSpPr>
        <p:spPr>
          <a:xfrm>
            <a:off x="9509760" y="3035808"/>
            <a:ext cx="2075688" cy="685800"/>
          </a:xfrm>
          <a:prstGeom prst="rect">
            <a:avLst/>
          </a:prstGeom>
          <a:noFill/>
          <a:ln/>
        </p:spPr>
        <p:txBody>
          <a:bodyPr wrap="square" lIns="0" tIns="0" rIns="0" bIns="0" rtlCol="0" anchor="ctr">
            <a:noAutofit/>
          </a:bodyPr>
          <a:lstStyle/>
          <a:p>
            <a:pPr indent="0" marL="0">
              <a:buNone/>
            </a:pPr>
            <a:r>
              <a:rPr lang="en-US" sz="2200" b="1" dirty="0">
                <a:solidFill>
                  <a:srgbClr val="24282C"/>
                </a:solidFill>
                <a:latin typeface="Arial" pitchFamily="34" charset="0"/>
                <a:ea typeface="Arial" pitchFamily="34" charset="-122"/>
                <a:cs typeface="Arial" pitchFamily="34" charset="-120"/>
              </a:rPr>
              <a:t>Next accepted version</a:t>
            </a:r>
            <a:endParaRPr lang="en-US" sz="2200" dirty="0"/>
          </a:p>
        </p:txBody>
      </p:sp>
      <p:sp>
        <p:nvSpPr>
          <p:cNvPr id="24" name="Text 22"/>
          <p:cNvSpPr/>
          <p:nvPr/>
        </p:nvSpPr>
        <p:spPr>
          <a:xfrm>
            <a:off x="9509760" y="3968496"/>
            <a:ext cx="2075688" cy="694944"/>
          </a:xfrm>
          <a:prstGeom prst="rect">
            <a:avLst/>
          </a:prstGeom>
          <a:noFill/>
          <a:ln/>
        </p:spPr>
        <p:txBody>
          <a:bodyPr wrap="square" lIns="0" tIns="0" rIns="0" bIns="0" rtlCol="0" anchor="ctr">
            <a:noAutofit/>
          </a:bodyPr>
          <a:lstStyle/>
          <a:p>
            <a:pPr indent="0" marL="0">
              <a:buNone/>
            </a:pPr>
            <a:r>
              <a:rPr lang="en-US" sz="1800" dirty="0">
                <a:solidFill>
                  <a:srgbClr val="626A71"/>
                </a:solidFill>
                <a:latin typeface="Arial" pitchFamily="34" charset="0"/>
                <a:ea typeface="Arial" pitchFamily="34" charset="-122"/>
                <a:cs typeface="Arial" pitchFamily="34" charset="-120"/>
              </a:rPr>
              <a:t>Retain decisions</a:t>
            </a:r>
            <a:endParaRPr lang="en-US" sz="1800" dirty="0"/>
          </a:p>
          <a:p>
            <a:pPr indent="0" marL="0">
              <a:buNone/>
            </a:pPr>
            <a:r>
              <a:rPr lang="en-US" sz="1800" dirty="0">
                <a:solidFill>
                  <a:srgbClr val="626A71"/>
                </a:solidFill>
                <a:latin typeface="Arial" pitchFamily="34" charset="0"/>
                <a:ea typeface="Arial" pitchFamily="34" charset="-122"/>
                <a:cs typeface="Arial" pitchFamily="34" charset="-120"/>
              </a:rPr>
              <a:t>and their history.</a:t>
            </a:r>
            <a:endParaRPr lang="en-US" sz="1800" dirty="0"/>
          </a:p>
        </p:txBody>
      </p:sp>
      <p:sp>
        <p:nvSpPr>
          <p:cNvPr id="25" name="Text 23"/>
          <p:cNvSpPr/>
          <p:nvPr/>
        </p:nvSpPr>
        <p:spPr>
          <a:xfrm>
            <a:off x="722376" y="5431536"/>
            <a:ext cx="6062472" cy="411480"/>
          </a:xfrm>
          <a:prstGeom prst="rect">
            <a:avLst/>
          </a:prstGeom>
          <a:noFill/>
          <a:ln/>
        </p:spPr>
        <p:txBody>
          <a:bodyPr wrap="square" lIns="0" tIns="0" rIns="0" bIns="0" rtlCol="0" anchor="ctr">
            <a:noAutofit/>
          </a:bodyPr>
          <a:lstStyle/>
          <a:p>
            <a:pPr indent="0" marL="0">
              <a:buNone/>
              <a:defRPr sz="2680"/>
            </a:pPr>
            <a:r>
              <a:rPr lang="en-US" sz="2680" b="1" dirty="0">
                <a:solidFill>
                  <a:srgbClr val="24282C"/>
                </a:solidFill>
                <a:latin typeface="Arial" pitchFamily="34" charset="0"/>
                <a:ea typeface="Arial" pitchFamily="34" charset="-122"/>
                <a:cs typeface="Arial" pitchFamily="34" charset="-120"/>
              </a:rPr>
              <a:t>Corrections survive the next update.</a:t>
            </a:r>
            <a:endParaRPr lang="en-US" sz="2680" dirty="0"/>
          </a:p>
        </p:txBody>
      </p:sp>
      <p:sp>
        <p:nvSpPr>
          <p:cNvPr id="26" name="Text 24"/>
          <p:cNvSpPr/>
          <p:nvPr/>
        </p:nvSpPr>
        <p:spPr>
          <a:xfrm>
            <a:off x="7315200" y="5404104"/>
            <a:ext cx="4050792" cy="658368"/>
          </a:xfrm>
          <a:prstGeom prst="rect">
            <a:avLst/>
          </a:prstGeom>
          <a:noFill/>
          <a:ln/>
        </p:spPr>
        <p:txBody>
          <a:bodyPr wrap="square" lIns="0" tIns="0" rIns="0" bIns="0" rtlCol="0" anchor="ctr">
            <a:noAutofit/>
          </a:bodyPr>
          <a:lstStyle/>
          <a:p>
            <a:pPr indent="0" marL="0">
              <a:buNone/>
            </a:pPr>
            <a:r>
              <a:rPr lang="en-US" sz="1900" dirty="0">
                <a:solidFill>
                  <a:srgbClr val="626A71"/>
                </a:solidFill>
                <a:latin typeface="Arial" pitchFamily="34" charset="0"/>
                <a:ea typeface="Arial" pitchFamily="34" charset="-122"/>
                <a:cs typeface="Arial" pitchFamily="34" charset="-120"/>
              </a:rPr>
              <a:t>No dependency on regular bespoke</a:t>
            </a:r>
            <a:endParaRPr lang="en-US" sz="1900" dirty="0"/>
          </a:p>
          <a:p>
            <a:pPr indent="0" marL="0">
              <a:buNone/>
            </a:pPr>
            <a:r>
              <a:rPr lang="en-US" sz="1900" dirty="0">
                <a:solidFill>
                  <a:srgbClr val="626A71"/>
                </a:solidFill>
                <a:latin typeface="Arial" pitchFamily="34" charset="0"/>
                <a:ea typeface="Arial" pitchFamily="34" charset="-122"/>
                <a:cs typeface="Arial" pitchFamily="34" charset="-120"/>
              </a:rPr>
              <a:t>updates from Japan.</a:t>
            </a:r>
            <a:endParaRPr lang="en-US" sz="1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9">
    <p:bg>
      <p:bgPr>
        <a:solidFill>
          <a:srgbClr val="24282C"/>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D71920"/>
          </a:solidFill>
          <a:ln w="12700">
            <a:solidFill>
              <a:srgbClr val="D71920"/>
            </a:solidFill>
            <a:prstDash val="solid"/>
          </a:ln>
        </p:spPr>
        <p:txBody>
          <a:bodyPr/>
          <a:p/>
        </p:txBody>
      </p:sp>
      <p:sp>
        <p:nvSpPr>
          <p:cNvPr id="3" name="Text 1"/>
          <p:cNvSpPr/>
          <p:nvPr/>
        </p:nvSpPr>
        <p:spPr>
          <a:xfrm>
            <a:off x="722376" y="658368"/>
            <a:ext cx="2825496" cy="694944"/>
          </a:xfrm>
          <a:prstGeom prst="rect">
            <a:avLst/>
          </a:prstGeom>
          <a:noFill/>
          <a:ln/>
        </p:spPr>
        <p:txBody>
          <a:bodyPr wrap="square" lIns="0" tIns="0" rIns="0" bIns="0" rtlCol="0" anchor="ctr">
            <a:noAutofit/>
          </a:bodyPr>
          <a:lstStyle/>
          <a:p>
            <a:pPr indent="0" marL="0">
              <a:buNone/>
            </a:pPr>
            <a:r>
              <a:rPr lang="en-US" sz="4700" b="1" dirty="0">
                <a:solidFill>
                  <a:srgbClr val="FFFFFF"/>
                </a:solidFill>
                <a:latin typeface="Arial" pitchFamily="34" charset="0"/>
                <a:ea typeface="Arial" pitchFamily="34" charset="-122"/>
                <a:cs typeface="Arial" pitchFamily="34" charset="-120"/>
              </a:rPr>
              <a:t>AIM</a:t>
            </a:r>
            <a:endParaRPr lang="en-US" sz="4700" dirty="0"/>
          </a:p>
        </p:txBody>
      </p:sp>
      <p:sp>
        <p:nvSpPr>
          <p:cNvPr id="4" name="Text 2"/>
          <p:cNvSpPr/>
          <p:nvPr/>
        </p:nvSpPr>
        <p:spPr>
          <a:xfrm>
            <a:off x="731520" y="1828800"/>
            <a:ext cx="6208776" cy="3026664"/>
          </a:xfrm>
          <a:prstGeom prst="rect">
            <a:avLst/>
          </a:prstGeom>
          <a:noFill/>
          <a:ln/>
        </p:spPr>
        <p:txBody>
          <a:bodyPr wrap="square" lIns="0" tIns="0" rIns="0" bIns="0" rtlCol="0" anchor="t">
            <a:noAutofit/>
          </a:bodyPr>
          <a:lstStyle/>
          <a:p>
            <a:pPr indent="0" marL="0">
              <a:buNone/>
            </a:pPr>
            <a:r>
              <a:rPr lang="en-US" sz="4300" b="1" dirty="0">
                <a:solidFill>
                  <a:srgbClr val="FFFFFF"/>
                </a:solidFill>
                <a:latin typeface="Arial" pitchFamily="34" charset="0"/>
                <a:ea typeface="Arial" pitchFamily="34" charset="-122"/>
                <a:cs typeface="Arial" pitchFamily="34" charset="-120"/>
              </a:rPr>
              <a:t>From "Others"</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to a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From a product</a:t>
            </a:r>
            <a:endParaRPr lang="en-US" sz="4300" dirty="0"/>
          </a:p>
          <a:p>
            <a:pPr indent="0" marL="0">
              <a:buNone/>
            </a:pPr>
            <a:r>
              <a:rPr lang="en-US" sz="4300" b="1" dirty="0">
                <a:solidFill>
                  <a:srgbClr val="FFFFFF"/>
                </a:solidFill>
                <a:latin typeface="Arial" pitchFamily="34" charset="0"/>
                <a:ea typeface="Arial" pitchFamily="34" charset="-122"/>
                <a:cs typeface="Arial" pitchFamily="34" charset="-120"/>
              </a:rPr>
              <a:t>to an opportunity.</a:t>
            </a:r>
            <a:endParaRPr lang="en-US" sz="4300" dirty="0"/>
          </a:p>
        </p:txBody>
      </p:sp>
      <p:sp>
        <p:nvSpPr>
          <p:cNvPr id="5" name="Text 3"/>
          <p:cNvSpPr/>
          <p:nvPr/>
        </p:nvSpPr>
        <p:spPr>
          <a:xfrm>
            <a:off x="7452360" y="969264"/>
            <a:ext cx="3941064" cy="256032"/>
          </a:xfrm>
          <a:prstGeom prst="rect">
            <a:avLst/>
          </a:prstGeom>
          <a:noFill/>
          <a:ln/>
        </p:spPr>
        <p:txBody>
          <a:bodyPr wrap="square" lIns="0" tIns="0" rIns="0" bIns="0" rtlCol="0" anchor="ctr">
            <a:noAutofit/>
          </a:bodyPr>
          <a:lstStyle/>
          <a:p>
            <a:pPr indent="0" marL="0">
              <a:buNone/>
            </a:pPr>
            <a:r>
              <a:rPr lang="en-US" sz="1130" b="1" spc="100" kern="0" dirty="0">
                <a:solidFill>
                  <a:srgbClr val="F2969B"/>
                </a:solidFill>
                <a:latin typeface="Arial" pitchFamily="34" charset="0"/>
                <a:ea typeface="Arial" pitchFamily="34" charset="-122"/>
                <a:cs typeface="Arial" pitchFamily="34" charset="-120"/>
              </a:rPr>
              <a:t>THE MANAGEMENT DECISION</a:t>
            </a:r>
            <a:endParaRPr lang="en-US" sz="1130" dirty="0"/>
          </a:p>
        </p:txBody>
      </p:sp>
      <p:sp>
        <p:nvSpPr>
          <p:cNvPr id="6" name="Text 4"/>
          <p:cNvSpPr/>
          <p:nvPr/>
        </p:nvSpPr>
        <p:spPr>
          <a:xfrm>
            <a:off x="7470648" y="1618488"/>
            <a:ext cx="3520440" cy="457200"/>
          </a:xfrm>
          <a:prstGeom prst="rect">
            <a:avLst/>
          </a:prstGeom>
          <a:noFill/>
          <a:ln/>
        </p:spPr>
        <p:txBody>
          <a:bodyPr wrap="square" lIns="0" tIns="0" rIns="0" bIns="0" rtlCol="0" anchor="ctr">
            <a:noAutofit/>
          </a:bodyPr>
          <a:lstStyle/>
          <a:p>
            <a:pPr indent="0" marL="0">
              <a:buNone/>
            </a:pPr>
            <a:r>
              <a:rPr lang="en-US" sz="2800" b="1" dirty="0">
                <a:solidFill>
                  <a:srgbClr val="FFFFFF"/>
                </a:solidFill>
                <a:latin typeface="Arial" pitchFamily="34" charset="0"/>
                <a:ea typeface="Arial" pitchFamily="34" charset="-122"/>
                <a:cs typeface="Arial" pitchFamily="34" charset="-120"/>
              </a:rPr>
              <a:t>Use</a:t>
            </a:r>
            <a:endParaRPr lang="en-US" sz="2800" dirty="0"/>
          </a:p>
        </p:txBody>
      </p:sp>
      <p:sp>
        <p:nvSpPr>
          <p:cNvPr id="7" name="Text 5"/>
          <p:cNvSpPr/>
          <p:nvPr/>
        </p:nvSpPr>
        <p:spPr>
          <a:xfrm>
            <a:off x="7488936" y="2212848"/>
            <a:ext cx="3557016" cy="594360"/>
          </a:xfrm>
          <a:prstGeom prst="rect">
            <a:avLst/>
          </a:prstGeom>
          <a:noFill/>
          <a:ln/>
        </p:spPr>
        <p:txBody>
          <a:bodyPr wrap="square" lIns="0" tIns="0" rIns="0" bIns="0" rtlCol="0" anchor="t">
            <a:noAutofit/>
          </a:bodyPr>
          <a:lstStyle/>
          <a:p>
            <a:pPr indent="0" marL="0">
              <a:buNone/>
            </a:pPr>
            <a:r>
              <a:rPr lang="en-US" sz="1850" dirty="0">
                <a:solidFill>
                  <a:srgbClr val="CCD1D2"/>
                </a:solidFill>
                <a:latin typeface="Arial" pitchFamily="34" charset="0"/>
                <a:ea typeface="Arial" pitchFamily="34" charset="-122"/>
                <a:cs typeface="Arial" pitchFamily="34" charset="-120"/>
              </a:rPr>
              <a:t>One accepted product language for distributor sales reviews.</a:t>
            </a:r>
            <a:endParaRPr lang="en-US" sz="1850" dirty="0"/>
          </a:p>
        </p:txBody>
      </p:sp>
      <p:sp>
        <p:nvSpPr>
          <p:cNvPr id="8" name="Text 6"/>
          <p:cNvSpPr/>
          <p:nvPr/>
        </p:nvSpPr>
        <p:spPr>
          <a:xfrm>
            <a:off x="7470648" y="2944368"/>
            <a:ext cx="3520440" cy="457200"/>
          </a:xfrm>
          <a:prstGeom prst="rect">
            <a:avLst/>
          </a:prstGeom>
          <a:noFill/>
          <a:ln/>
        </p:spPr>
        <p:txBody>
          <a:bodyPr wrap="square" lIns="0" tIns="0" rIns="0" bIns="0" rtlCol="0" anchor="ctr">
            <a:noAutofit/>
          </a:bodyPr>
          <a:lstStyle/>
          <a:p>
            <a:pPr indent="0" marL="0">
              <a:buNone/>
            </a:pPr>
            <a:r>
              <a:rPr lang="en-US" sz="2800" b="1" dirty="0">
                <a:solidFill>
                  <a:srgbClr val="FFFFFF"/>
                </a:solidFill>
                <a:latin typeface="Arial" pitchFamily="34" charset="0"/>
                <a:ea typeface="Arial" pitchFamily="34" charset="-122"/>
                <a:cs typeface="Arial" pitchFamily="34" charset="-120"/>
              </a:rPr>
              <a:t>Own</a:t>
            </a:r>
            <a:endParaRPr lang="en-US" sz="2800" dirty="0"/>
          </a:p>
        </p:txBody>
      </p:sp>
      <p:sp>
        <p:nvSpPr>
          <p:cNvPr id="9" name="Text 7"/>
          <p:cNvSpPr/>
          <p:nvPr/>
        </p:nvSpPr>
        <p:spPr>
          <a:xfrm>
            <a:off x="7488936" y="3538728"/>
            <a:ext cx="3557016" cy="594360"/>
          </a:xfrm>
          <a:prstGeom prst="rect">
            <a:avLst/>
          </a:prstGeom>
          <a:noFill/>
          <a:ln/>
        </p:spPr>
        <p:txBody>
          <a:bodyPr wrap="square" lIns="0" tIns="0" rIns="0" bIns="0" rtlCol="0" anchor="t">
            <a:noAutofit/>
          </a:bodyPr>
          <a:lstStyle/>
          <a:p>
            <a:pPr indent="0" marL="0">
              <a:buNone/>
            </a:pPr>
            <a:r>
              <a:rPr lang="en-US" sz="1850" dirty="0">
                <a:solidFill>
                  <a:srgbClr val="CCD1D2"/>
                </a:solidFill>
                <a:latin typeface="Arial" pitchFamily="34" charset="0"/>
                <a:ea typeface="Arial" pitchFamily="34" charset="-122"/>
                <a:cs typeface="Arial" pitchFamily="34" charset="-120"/>
              </a:rPr>
              <a:t>Local maintenance within Vehicle Parts Sales.</a:t>
            </a:r>
            <a:endParaRPr lang="en-US" sz="1850" dirty="0"/>
          </a:p>
        </p:txBody>
      </p:sp>
      <p:sp>
        <p:nvSpPr>
          <p:cNvPr id="10" name="Text 8"/>
          <p:cNvSpPr/>
          <p:nvPr/>
        </p:nvSpPr>
        <p:spPr>
          <a:xfrm>
            <a:off x="7470648" y="4270248"/>
            <a:ext cx="3520440" cy="457200"/>
          </a:xfrm>
          <a:prstGeom prst="rect">
            <a:avLst/>
          </a:prstGeom>
          <a:noFill/>
          <a:ln/>
        </p:spPr>
        <p:txBody>
          <a:bodyPr wrap="square" lIns="0" tIns="0" rIns="0" bIns="0" rtlCol="0" anchor="ctr">
            <a:noAutofit/>
          </a:bodyPr>
          <a:lstStyle/>
          <a:p>
            <a:pPr indent="0" marL="0">
              <a:buNone/>
            </a:pPr>
            <a:r>
              <a:rPr lang="en-US" sz="2800" b="1" dirty="0">
                <a:solidFill>
                  <a:srgbClr val="FFFFFF"/>
                </a:solidFill>
                <a:latin typeface="Arial" pitchFamily="34" charset="0"/>
                <a:ea typeface="Arial" pitchFamily="34" charset="-122"/>
                <a:cs typeface="Arial" pitchFamily="34" charset="-120"/>
              </a:rPr>
              <a:t>Prove</a:t>
            </a:r>
            <a:endParaRPr lang="en-US" sz="2800" dirty="0"/>
          </a:p>
        </p:txBody>
      </p:sp>
      <p:sp>
        <p:nvSpPr>
          <p:cNvPr id="11" name="Text 9"/>
          <p:cNvSpPr/>
          <p:nvPr/>
        </p:nvSpPr>
        <p:spPr>
          <a:xfrm>
            <a:off x="7488936" y="4864608"/>
            <a:ext cx="3557016" cy="594360"/>
          </a:xfrm>
          <a:prstGeom prst="rect">
            <a:avLst/>
          </a:prstGeom>
          <a:noFill/>
          <a:ln/>
        </p:spPr>
        <p:txBody>
          <a:bodyPr wrap="square" lIns="0" tIns="0" rIns="0" bIns="0" rtlCol="0" anchor="t">
            <a:noAutofit/>
          </a:bodyPr>
          <a:lstStyle/>
          <a:p>
            <a:pPr indent="0" marL="0">
              <a:buNone/>
            </a:pPr>
            <a:r>
              <a:rPr lang="en-US" sz="1850" dirty="0">
                <a:solidFill>
                  <a:srgbClr val="CCD1D2"/>
                </a:solidFill>
                <a:latin typeface="Arial" pitchFamily="34" charset="0"/>
                <a:ea typeface="Arial" pitchFamily="34" charset="-122"/>
                <a:cs typeface="Arial" pitchFamily="34" charset="-120"/>
              </a:rPr>
              <a:t>One reviewed range; repeat orders and contribution.</a:t>
            </a:r>
            <a:endParaRPr lang="en-US" sz="1850" dirty="0"/>
          </a:p>
        </p:txBody>
      </p:sp>
      <p:sp>
        <p:nvSpPr>
          <p:cNvPr id="12" name="Text 10"/>
          <p:cNvSpPr/>
          <p:nvPr/>
        </p:nvSpPr>
        <p:spPr>
          <a:xfrm>
            <a:off x="777240" y="6025896"/>
            <a:ext cx="10442448" cy="393192"/>
          </a:xfrm>
          <a:prstGeom prst="rect">
            <a:avLst/>
          </a:prstGeom>
          <a:noFill/>
          <a:ln/>
        </p:spPr>
        <p:txBody>
          <a:bodyPr wrap="square" lIns="0" tIns="0" rIns="0" bIns="0" rtlCol="0" anchor="ctr">
            <a:noAutofit/>
          </a:bodyPr>
          <a:lstStyle/>
          <a:p>
            <a:pPr indent="0" marL="0">
              <a:buNone/>
            </a:pPr>
            <a:r>
              <a:rPr lang="en-US" sz="2200" dirty="0">
                <a:solidFill>
                  <a:srgbClr val="CCD1D2"/>
                </a:solidFill>
                <a:latin typeface="Arial" pitchFamily="34" charset="0"/>
                <a:ea typeface="Arial" pitchFamily="34" charset="-122"/>
                <a:cs typeface="Arial" pitchFamily="34" charset="-120"/>
              </a:rPr>
              <a:t>How AIM can support distributor competitiveness and ISZE growth.</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Isuzu Motors Europe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ISZE AIM - approved 20-slide management edition</dc:title>
  <dc:subject>AIM: from Others to actionable product insight</dc:subject>
  <dc:creator>Isuzu Motors Europe</dc:creator>
  <cp:lastModifiedBy>Isuzu Motors Europe</cp:lastModifiedBy>
  <cp:revision>1</cp:revision>
  <dcterms:created xsi:type="dcterms:W3CDTF">2026-09-20T13:55:04Z</dcterms:created>
  <dcterms:modified xsi:type="dcterms:W3CDTF">2026-09-21T00:00:00Z</dcterms:modified>
</cp:coreProperties>
</file>