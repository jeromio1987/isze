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_bleed.jp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54864"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680960" y="6364224"/>
            <a:ext cx="4507992" cy="402336"/>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64224"/>
            <a:ext cx="4114800" cy="402336"/>
          </a:xfrm>
          <a:prstGeom prst="rect">
            <a:avLst/>
          </a:prstGeom>
          <a:noFill/>
        </p:spPr>
        <p:txBody>
          <a:bodyPr wrap="square" anchor="ctr">
            <a:spAutoFit/>
          </a:bodyPr>
          <a:lstStyle/>
          <a:p>
            <a:pPr algn="l"/>
            <a:r>
              <a:rPr sz="1300" b="1">
                <a:solidFill>
                  <a:srgbClr val="FFFFFF"/>
                </a:solidFill>
                <a:latin typeface="Calibri"/>
              </a:rPr>
              <a:t>P700</a:t>
            </a:r>
          </a:p>
        </p:txBody>
      </p:sp>
      <p:sp>
        <p:nvSpPr>
          <p:cNvPr id="6" name="Rectangle 5"/>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6858000" cy="292608"/>
          </a:xfrm>
          <a:prstGeom prst="rect">
            <a:avLst/>
          </a:prstGeom>
          <a:noFill/>
        </p:spPr>
        <p:txBody>
          <a:bodyPr wrap="square" anchor="t">
            <a:spAutoFit/>
          </a:bodyPr>
          <a:lstStyle/>
          <a:p>
            <a:pPr algn="l"/>
            <a:r>
              <a:rPr sz="1200" b="1">
                <a:solidFill>
                  <a:srgbClr val="ED1C24"/>
                </a:solidFill>
                <a:latin typeface="Calibri"/>
              </a:rPr>
              <a:t>ISUZU MOTORS EUROPE</a:t>
            </a:r>
          </a:p>
        </p:txBody>
      </p:sp>
      <p:sp>
        <p:nvSpPr>
          <p:cNvPr id="8" name="TextBox 7"/>
          <p:cNvSpPr txBox="1"/>
          <p:nvPr/>
        </p:nvSpPr>
        <p:spPr>
          <a:xfrm>
            <a:off x="502920" y="1874519"/>
            <a:ext cx="6858000" cy="1051560"/>
          </a:xfrm>
          <a:prstGeom prst="rect">
            <a:avLst/>
          </a:prstGeom>
          <a:noFill/>
        </p:spPr>
        <p:txBody>
          <a:bodyPr wrap="square" anchor="t">
            <a:spAutoFit/>
          </a:bodyPr>
          <a:lstStyle/>
          <a:p>
            <a:pPr algn="l"/>
            <a:r>
              <a:rPr sz="3200" b="1">
                <a:solidFill>
                  <a:srgbClr val="1B2733"/>
                </a:solidFill>
                <a:latin typeface="Calibri"/>
              </a:rPr>
              <a:t>Parts support for scheduled PMS</a:t>
            </a:r>
          </a:p>
        </p:txBody>
      </p:sp>
      <p:sp>
        <p:nvSpPr>
          <p:cNvPr id="9" name="TextBox 8"/>
          <p:cNvSpPr txBox="1"/>
          <p:nvPr/>
        </p:nvSpPr>
        <p:spPr>
          <a:xfrm>
            <a:off x="502920" y="3063240"/>
            <a:ext cx="6766560" cy="1051560"/>
          </a:xfrm>
          <a:prstGeom prst="rect">
            <a:avLst/>
          </a:prstGeom>
          <a:noFill/>
        </p:spPr>
        <p:txBody>
          <a:bodyPr wrap="square" anchor="t">
            <a:spAutoFit/>
          </a:bodyPr>
          <a:lstStyle/>
          <a:p>
            <a:pPr algn="l"/>
            <a:r>
              <a:rPr sz="1500" b="0">
                <a:solidFill>
                  <a:srgbClr val="344251"/>
                </a:solidFill>
                <a:latin typeface="Calibri"/>
              </a:rPr>
              <a:t>N75 first. Oil and fuel are the core. Air is the attach. Genuine first, unless a lower genuine SPA or a BVP is the better price.</a:t>
            </a:r>
          </a:p>
        </p:txBody>
      </p:sp>
      <p:sp>
        <p:nvSpPr>
          <p:cNvPr id="10" name="TextBox 9"/>
          <p:cNvSpPr txBox="1"/>
          <p:nvPr/>
        </p:nvSpPr>
        <p:spPr>
          <a:xfrm>
            <a:off x="502920" y="5074920"/>
            <a:ext cx="6766560" cy="329184"/>
          </a:xfrm>
          <a:prstGeom prst="rect">
            <a:avLst/>
          </a:prstGeom>
          <a:noFill/>
        </p:spPr>
        <p:txBody>
          <a:bodyPr wrap="square" anchor="t">
            <a:spAutoFit/>
          </a:bodyPr>
          <a:lstStyle/>
          <a:p>
            <a:pPr algn="l"/>
            <a:r>
              <a:rPr sz="1400" b="1">
                <a:solidFill>
                  <a:srgbClr val="1B2733"/>
                </a:solidFill>
                <a:latin typeface="Calibri"/>
              </a:rPr>
              <a:t>18 August 2026  ·  complementary to the ITUK PMS pack</a:t>
            </a:r>
          </a:p>
        </p:txBody>
      </p:sp>
      <p:pic>
        <p:nvPicPr>
          <p:cNvPr id="11" name="Picture 10" descr="isuzu_logo_red.png"/>
          <p:cNvPicPr>
            <a:picLocks noChangeAspect="1"/>
          </p:cNvPicPr>
          <p:nvPr/>
        </p:nvPicPr>
        <p:blipFill>
          <a:blip r:embed="rId3"/>
          <a:stretch>
            <a:fillRect/>
          </a:stretch>
        </p:blipFill>
        <p:spPr>
          <a:xfrm>
            <a:off x="502920" y="5925312"/>
            <a:ext cx="1679787" cy="292608"/>
          </a:xfrm>
          <a:prstGeom prst="rect">
            <a:avLst/>
          </a:prstGeom>
        </p:spPr>
      </p:pic>
      <p:sp>
        <p:nvSpPr>
          <p:cNvPr id="12" name="Rectangle 11"/>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Contents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2</a:t>
            </a:r>
          </a:p>
        </p:txBody>
      </p:sp>
      <p:sp>
        <p:nvSpPr>
          <p:cNvPr id="9" name="Rectangle 8"/>
          <p:cNvSpPr/>
          <p:nvPr/>
        </p:nvSpPr>
        <p:spPr>
          <a:xfrm>
            <a:off x="438912" y="1115568"/>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 y="1115568"/>
            <a:ext cx="640080" cy="640080"/>
          </a:xfrm>
          <a:prstGeom prst="rect">
            <a:avLst/>
          </a:prstGeom>
          <a:noFill/>
        </p:spPr>
        <p:txBody>
          <a:bodyPr wrap="square" anchor="ctr">
            <a:spAutoFit/>
          </a:bodyPr>
          <a:lstStyle/>
          <a:p>
            <a:pPr algn="ctr"/>
            <a:r>
              <a:rPr sz="1400" b="1">
                <a:solidFill>
                  <a:srgbClr val="FFFFFF"/>
                </a:solidFill>
                <a:latin typeface="Calibri"/>
              </a:rPr>
              <a:t>01</a:t>
            </a:r>
          </a:p>
        </p:txBody>
      </p:sp>
      <p:sp>
        <p:nvSpPr>
          <p:cNvPr id="11" name="TextBox 10"/>
          <p:cNvSpPr txBox="1"/>
          <p:nvPr/>
        </p:nvSpPr>
        <p:spPr>
          <a:xfrm>
            <a:off x="1261872" y="1152144"/>
            <a:ext cx="10241280" cy="274320"/>
          </a:xfrm>
          <a:prstGeom prst="rect">
            <a:avLst/>
          </a:prstGeom>
          <a:noFill/>
        </p:spPr>
        <p:txBody>
          <a:bodyPr wrap="square" anchor="t">
            <a:spAutoFit/>
          </a:bodyPr>
          <a:lstStyle/>
          <a:p>
            <a:pPr algn="l"/>
            <a:r>
              <a:rPr sz="1600" b="1">
                <a:solidFill>
                  <a:srgbClr val="1B2733"/>
                </a:solidFill>
                <a:latin typeface="Calibri"/>
              </a:rPr>
              <a:t>Where this sits</a:t>
            </a:r>
          </a:p>
        </p:txBody>
      </p:sp>
      <p:sp>
        <p:nvSpPr>
          <p:cNvPr id="12" name="TextBox 11"/>
          <p:cNvSpPr txBox="1"/>
          <p:nvPr/>
        </p:nvSpPr>
        <p:spPr>
          <a:xfrm>
            <a:off x="1261872" y="1426464"/>
            <a:ext cx="10241280" cy="292608"/>
          </a:xfrm>
          <a:prstGeom prst="rect">
            <a:avLst/>
          </a:prstGeom>
          <a:noFill/>
        </p:spPr>
        <p:txBody>
          <a:bodyPr wrap="square" anchor="t">
            <a:spAutoFit/>
          </a:bodyPr>
          <a:lstStyle/>
          <a:p>
            <a:pPr algn="l"/>
            <a:r>
              <a:rPr sz="1300" b="0">
                <a:solidFill>
                  <a:srgbClr val="344251"/>
                </a:solidFill>
                <a:latin typeface="Calibri"/>
              </a:rPr>
              <a:t>Same N75 first, same 40,000 km service, our numbers on his parts map.</a:t>
            </a:r>
          </a:p>
        </p:txBody>
      </p:sp>
      <p:sp>
        <p:nvSpPr>
          <p:cNvPr id="13" name="Rectangle 12"/>
          <p:cNvSpPr/>
          <p:nvPr/>
        </p:nvSpPr>
        <p:spPr>
          <a:xfrm>
            <a:off x="438912" y="1865376"/>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1865376"/>
            <a:ext cx="640080" cy="640080"/>
          </a:xfrm>
          <a:prstGeom prst="rect">
            <a:avLst/>
          </a:prstGeom>
          <a:noFill/>
        </p:spPr>
        <p:txBody>
          <a:bodyPr wrap="square" anchor="ctr">
            <a:spAutoFit/>
          </a:bodyPr>
          <a:lstStyle/>
          <a:p>
            <a:pPr algn="ctr"/>
            <a:r>
              <a:rPr sz="1400" b="1">
                <a:solidFill>
                  <a:srgbClr val="FFFFFF"/>
                </a:solidFill>
                <a:latin typeface="Calibri"/>
              </a:rPr>
              <a:t>02</a:t>
            </a:r>
          </a:p>
        </p:txBody>
      </p:sp>
      <p:sp>
        <p:nvSpPr>
          <p:cNvPr id="15" name="TextBox 14"/>
          <p:cNvSpPr txBox="1"/>
          <p:nvPr/>
        </p:nvSpPr>
        <p:spPr>
          <a:xfrm>
            <a:off x="1261872" y="1901952"/>
            <a:ext cx="10241280" cy="274320"/>
          </a:xfrm>
          <a:prstGeom prst="rect">
            <a:avLst/>
          </a:prstGeom>
          <a:noFill/>
        </p:spPr>
        <p:txBody>
          <a:bodyPr wrap="square" anchor="t">
            <a:spAutoFit/>
          </a:bodyPr>
          <a:lstStyle/>
          <a:p>
            <a:pPr algn="l"/>
            <a:r>
              <a:rPr sz="1600" b="1">
                <a:solidFill>
                  <a:srgbClr val="1B2733"/>
                </a:solidFill>
                <a:latin typeface="Calibri"/>
              </a:rPr>
              <a:t>The one percent</a:t>
            </a:r>
          </a:p>
        </p:txBody>
      </p:sp>
      <p:sp>
        <p:nvSpPr>
          <p:cNvPr id="16" name="TextBox 15"/>
          <p:cNvSpPr txBox="1"/>
          <p:nvPr/>
        </p:nvSpPr>
        <p:spPr>
          <a:xfrm>
            <a:off x="1261872" y="2176272"/>
            <a:ext cx="10241280" cy="292608"/>
          </a:xfrm>
          <a:prstGeom prst="rect">
            <a:avLst/>
          </a:prstGeom>
          <a:noFill/>
        </p:spPr>
        <p:txBody>
          <a:bodyPr wrap="square" anchor="t">
            <a:spAutoFit/>
          </a:bodyPr>
          <a:lstStyle/>
          <a:p>
            <a:pPr algn="l"/>
            <a:r>
              <a:rPr sz="1300" b="0">
                <a:solidFill>
                  <a:srgbClr val="344251"/>
                </a:solidFill>
                <a:latin typeface="Calibri"/>
              </a:rPr>
              <a:t>All PMS parts, ITUK to dealer. 368 units. About EUR 7,530.</a:t>
            </a:r>
          </a:p>
        </p:txBody>
      </p:sp>
      <p:sp>
        <p:nvSpPr>
          <p:cNvPr id="17" name="Rectangle 16"/>
          <p:cNvSpPr/>
          <p:nvPr/>
        </p:nvSpPr>
        <p:spPr>
          <a:xfrm>
            <a:off x="438912" y="2615184"/>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 y="2615184"/>
            <a:ext cx="640080" cy="640080"/>
          </a:xfrm>
          <a:prstGeom prst="rect">
            <a:avLst/>
          </a:prstGeom>
          <a:noFill/>
        </p:spPr>
        <p:txBody>
          <a:bodyPr wrap="square" anchor="ctr">
            <a:spAutoFit/>
          </a:bodyPr>
          <a:lstStyle/>
          <a:p>
            <a:pPr algn="ctr"/>
            <a:r>
              <a:rPr sz="1400" b="1">
                <a:solidFill>
                  <a:srgbClr val="FFFFFF"/>
                </a:solidFill>
                <a:latin typeface="Calibri"/>
              </a:rPr>
              <a:t>03</a:t>
            </a:r>
          </a:p>
        </p:txBody>
      </p:sp>
      <p:sp>
        <p:nvSpPr>
          <p:cNvPr id="19" name="TextBox 18"/>
          <p:cNvSpPr txBox="1"/>
          <p:nvPr/>
        </p:nvSpPr>
        <p:spPr>
          <a:xfrm>
            <a:off x="1261872" y="2651760"/>
            <a:ext cx="10241280" cy="274320"/>
          </a:xfrm>
          <a:prstGeom prst="rect">
            <a:avLst/>
          </a:prstGeom>
          <a:noFill/>
        </p:spPr>
        <p:txBody>
          <a:bodyPr wrap="square" anchor="t">
            <a:spAutoFit/>
          </a:bodyPr>
          <a:lstStyle/>
          <a:p>
            <a:pPr algn="l"/>
            <a:r>
              <a:rPr sz="1600" b="1">
                <a:solidFill>
                  <a:srgbClr val="1B2733"/>
                </a:solidFill>
                <a:latin typeface="Calibri"/>
              </a:rPr>
              <a:t>Coverage</a:t>
            </a:r>
          </a:p>
        </p:txBody>
      </p:sp>
      <p:sp>
        <p:nvSpPr>
          <p:cNvPr id="20" name="TextBox 19"/>
          <p:cNvSpPr txBox="1"/>
          <p:nvPr/>
        </p:nvSpPr>
        <p:spPr>
          <a:xfrm>
            <a:off x="1261872" y="2926080"/>
            <a:ext cx="10241280" cy="292608"/>
          </a:xfrm>
          <a:prstGeom prst="rect">
            <a:avLst/>
          </a:prstGeom>
          <a:noFill/>
        </p:spPr>
        <p:txBody>
          <a:bodyPr wrap="square" anchor="t">
            <a:spAutoFit/>
          </a:bodyPr>
          <a:lstStyle/>
          <a:p>
            <a:pPr algn="l"/>
            <a:r>
              <a:rPr sz="1300" b="0">
                <a:solidFill>
                  <a:srgbClr val="344251"/>
                </a:solidFill>
                <a:latin typeface="Calibri"/>
              </a:rPr>
              <a:t>Fuel is already there. Air is not. Next slide is how the percentages are built.</a:t>
            </a:r>
          </a:p>
        </p:txBody>
      </p:sp>
      <p:sp>
        <p:nvSpPr>
          <p:cNvPr id="21" name="Rectangle 20"/>
          <p:cNvSpPr/>
          <p:nvPr/>
        </p:nvSpPr>
        <p:spPr>
          <a:xfrm>
            <a:off x="438912" y="3364992"/>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 y="3364992"/>
            <a:ext cx="640080" cy="640080"/>
          </a:xfrm>
          <a:prstGeom prst="rect">
            <a:avLst/>
          </a:prstGeom>
          <a:noFill/>
        </p:spPr>
        <p:txBody>
          <a:bodyPr wrap="square" anchor="ctr">
            <a:spAutoFit/>
          </a:bodyPr>
          <a:lstStyle/>
          <a:p>
            <a:pPr algn="ctr"/>
            <a:r>
              <a:rPr sz="1400" b="1">
                <a:solidFill>
                  <a:srgbClr val="FFFFFF"/>
                </a:solidFill>
                <a:latin typeface="Calibri"/>
              </a:rPr>
              <a:t>04</a:t>
            </a:r>
          </a:p>
        </p:txBody>
      </p:sp>
      <p:sp>
        <p:nvSpPr>
          <p:cNvPr id="23" name="TextBox 22"/>
          <p:cNvSpPr txBox="1"/>
          <p:nvPr/>
        </p:nvSpPr>
        <p:spPr>
          <a:xfrm>
            <a:off x="1261872" y="3401568"/>
            <a:ext cx="10241280" cy="274320"/>
          </a:xfrm>
          <a:prstGeom prst="rect">
            <a:avLst/>
          </a:prstGeom>
          <a:noFill/>
        </p:spPr>
        <p:txBody>
          <a:bodyPr wrap="square" anchor="t">
            <a:spAutoFit/>
          </a:bodyPr>
          <a:lstStyle/>
          <a:p>
            <a:pPr algn="l"/>
            <a:r>
              <a:rPr sz="1600" b="1">
                <a:solidFill>
                  <a:srgbClr val="1B2733"/>
                </a:solidFill>
                <a:latin typeface="Calibri"/>
              </a:rPr>
              <a:t>Price route</a:t>
            </a:r>
          </a:p>
        </p:txBody>
      </p:sp>
      <p:sp>
        <p:nvSpPr>
          <p:cNvPr id="24" name="TextBox 23"/>
          <p:cNvSpPr txBox="1"/>
          <p:nvPr/>
        </p:nvSpPr>
        <p:spPr>
          <a:xfrm>
            <a:off x="1261872" y="3675888"/>
            <a:ext cx="10241280" cy="292608"/>
          </a:xfrm>
          <a:prstGeom prst="rect">
            <a:avLst/>
          </a:prstGeom>
          <a:noFill/>
        </p:spPr>
        <p:txBody>
          <a:bodyPr wrap="square" anchor="t">
            <a:spAutoFit/>
          </a:bodyPr>
          <a:lstStyle/>
          <a:p>
            <a:pPr algn="l"/>
            <a:r>
              <a:rPr sz="1300" b="0">
                <a:solidFill>
                  <a:srgbClr val="344251"/>
                </a:solidFill>
                <a:latin typeface="Calibri"/>
              </a:rPr>
              <a:t>BVP where genuine is quiet. SPA if genuine can come in cheaper.</a:t>
            </a:r>
          </a:p>
        </p:txBody>
      </p:sp>
      <p:sp>
        <p:nvSpPr>
          <p:cNvPr id="25" name="Rectangle 24"/>
          <p:cNvSpPr/>
          <p:nvPr/>
        </p:nvSpPr>
        <p:spPr>
          <a:xfrm>
            <a:off x="438912" y="4114800"/>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8912" y="4114800"/>
            <a:ext cx="640080" cy="640080"/>
          </a:xfrm>
          <a:prstGeom prst="rect">
            <a:avLst/>
          </a:prstGeom>
          <a:noFill/>
        </p:spPr>
        <p:txBody>
          <a:bodyPr wrap="square" anchor="ctr">
            <a:spAutoFit/>
          </a:bodyPr>
          <a:lstStyle/>
          <a:p>
            <a:pPr algn="ctr"/>
            <a:r>
              <a:rPr sz="1400" b="1">
                <a:solidFill>
                  <a:srgbClr val="FFFFFF"/>
                </a:solidFill>
                <a:latin typeface="Calibri"/>
              </a:rPr>
              <a:t>05</a:t>
            </a:r>
          </a:p>
        </p:txBody>
      </p:sp>
      <p:sp>
        <p:nvSpPr>
          <p:cNvPr id="27" name="TextBox 26"/>
          <p:cNvSpPr txBox="1"/>
          <p:nvPr/>
        </p:nvSpPr>
        <p:spPr>
          <a:xfrm>
            <a:off x="1261872" y="4151376"/>
            <a:ext cx="10241280" cy="274320"/>
          </a:xfrm>
          <a:prstGeom prst="rect">
            <a:avLst/>
          </a:prstGeom>
          <a:noFill/>
        </p:spPr>
        <p:txBody>
          <a:bodyPr wrap="square" anchor="t">
            <a:spAutoFit/>
          </a:bodyPr>
          <a:lstStyle/>
          <a:p>
            <a:pPr algn="l"/>
            <a:r>
              <a:rPr sz="1600" b="1">
                <a:solidFill>
                  <a:srgbClr val="1B2733"/>
                </a:solidFill>
                <a:latin typeface="Calibri"/>
              </a:rPr>
              <a:t>Urea, brakes, clutch</a:t>
            </a:r>
          </a:p>
        </p:txBody>
      </p:sp>
      <p:sp>
        <p:nvSpPr>
          <p:cNvPr id="28" name="TextBox 27"/>
          <p:cNvSpPr txBox="1"/>
          <p:nvPr/>
        </p:nvSpPr>
        <p:spPr>
          <a:xfrm>
            <a:off x="1261872" y="4425696"/>
            <a:ext cx="10241280" cy="292608"/>
          </a:xfrm>
          <a:prstGeom prst="rect">
            <a:avLst/>
          </a:prstGeom>
          <a:noFill/>
        </p:spPr>
        <p:txBody>
          <a:bodyPr wrap="square" anchor="t">
            <a:spAutoFit/>
          </a:bodyPr>
          <a:lstStyle/>
          <a:p>
            <a:pPr algn="l"/>
            <a:r>
              <a:rPr sz="1300" b="0">
                <a:solidFill>
                  <a:srgbClr val="344251"/>
                </a:solidFill>
                <a:latin typeface="Calibri"/>
              </a:rPr>
              <a:t>Urea stays. Brakes on condition. Clutch as a kit, manuals only.</a:t>
            </a:r>
          </a:p>
        </p:txBody>
      </p:sp>
      <p:sp>
        <p:nvSpPr>
          <p:cNvPr id="29" name="Rectangle 28"/>
          <p:cNvSpPr/>
          <p:nvPr/>
        </p:nvSpPr>
        <p:spPr>
          <a:xfrm>
            <a:off x="438912" y="4864608"/>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8912" y="4864608"/>
            <a:ext cx="640080" cy="640080"/>
          </a:xfrm>
          <a:prstGeom prst="rect">
            <a:avLst/>
          </a:prstGeom>
          <a:noFill/>
        </p:spPr>
        <p:txBody>
          <a:bodyPr wrap="square" anchor="ctr">
            <a:spAutoFit/>
          </a:bodyPr>
          <a:lstStyle/>
          <a:p>
            <a:pPr algn="ctr"/>
            <a:r>
              <a:rPr sz="1400" b="1">
                <a:solidFill>
                  <a:srgbClr val="FFFFFF"/>
                </a:solidFill>
                <a:latin typeface="Calibri"/>
              </a:rPr>
              <a:t>06</a:t>
            </a:r>
          </a:p>
        </p:txBody>
      </p:sp>
      <p:sp>
        <p:nvSpPr>
          <p:cNvPr id="31" name="TextBox 30"/>
          <p:cNvSpPr txBox="1"/>
          <p:nvPr/>
        </p:nvSpPr>
        <p:spPr>
          <a:xfrm>
            <a:off x="1261872" y="4901184"/>
            <a:ext cx="10241280" cy="274320"/>
          </a:xfrm>
          <a:prstGeom prst="rect">
            <a:avLst/>
          </a:prstGeom>
          <a:noFill/>
        </p:spPr>
        <p:txBody>
          <a:bodyPr wrap="square" anchor="t">
            <a:spAutoFit/>
          </a:bodyPr>
          <a:lstStyle/>
          <a:p>
            <a:pPr algn="l"/>
            <a:r>
              <a:rPr sz="1600" b="1">
                <a:solidFill>
                  <a:srgbClr val="1B2733"/>
                </a:solidFill>
                <a:latin typeface="Calibri"/>
              </a:rPr>
              <a:t>Aftermarket</a:t>
            </a:r>
          </a:p>
        </p:txBody>
      </p:sp>
      <p:sp>
        <p:nvSpPr>
          <p:cNvPr id="32" name="TextBox 31"/>
          <p:cNvSpPr txBox="1"/>
          <p:nvPr/>
        </p:nvSpPr>
        <p:spPr>
          <a:xfrm>
            <a:off x="1261872" y="5175504"/>
            <a:ext cx="10241280" cy="292608"/>
          </a:xfrm>
          <a:prstGeom prst="rect">
            <a:avLst/>
          </a:prstGeom>
          <a:noFill/>
        </p:spPr>
        <p:txBody>
          <a:bodyPr wrap="square" anchor="t">
            <a:spAutoFit/>
          </a:bodyPr>
          <a:lstStyle/>
          <a:p>
            <a:pPr algn="l"/>
            <a:r>
              <a:rPr sz="1300" b="0">
                <a:solidFill>
                  <a:srgbClr val="344251"/>
                </a:solidFill>
                <a:latin typeface="Calibri"/>
              </a:rPr>
              <a:t>Same step: projected ITUK to dealers versus workshop purchase.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Same map as the ITUK pack. Our figures on it.</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3</a:t>
            </a:r>
          </a:p>
        </p:txBody>
      </p:sp>
      <p:sp>
        <p:nvSpPr>
          <p:cNvPr id="9" name="TextBox 8"/>
          <p:cNvSpPr txBox="1"/>
          <p:nvPr/>
        </p:nvSpPr>
        <p:spPr>
          <a:xfrm>
            <a:off x="438912" y="1042415"/>
            <a:ext cx="11338560" cy="329184"/>
          </a:xfrm>
          <a:prstGeom prst="rect">
            <a:avLst/>
          </a:prstGeom>
          <a:noFill/>
        </p:spPr>
        <p:txBody>
          <a:bodyPr wrap="square" anchor="t">
            <a:spAutoFit/>
          </a:bodyPr>
          <a:lstStyle/>
          <a:p>
            <a:pPr algn="l"/>
            <a:r>
              <a:rPr sz="1400" b="0">
                <a:solidFill>
                  <a:srgbClr val="344251"/>
                </a:solidFill>
                <a:latin typeface="Calibri"/>
              </a:rPr>
              <a:t>Phase 1 is N75 fleet, 40,000 km, scheduled PMS only. Do not manufacture extra visits.</a:t>
            </a:r>
          </a:p>
        </p:txBody>
      </p:sp>
      <p:sp>
        <p:nvSpPr>
          <p:cNvPr id="10" name="Rounded Rectangle 9"/>
          <p:cNvSpPr/>
          <p:nvPr/>
        </p:nvSpPr>
        <p:spPr>
          <a:xfrm>
            <a:off x="438912" y="1481328"/>
            <a:ext cx="2743200" cy="4160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1645920"/>
            <a:ext cx="2450592" cy="292608"/>
          </a:xfrm>
          <a:prstGeom prst="rect">
            <a:avLst/>
          </a:prstGeom>
          <a:noFill/>
        </p:spPr>
        <p:txBody>
          <a:bodyPr wrap="square" anchor="t">
            <a:spAutoFit/>
          </a:bodyPr>
          <a:lstStyle/>
          <a:p>
            <a:pPr algn="l"/>
            <a:r>
              <a:rPr sz="1600" b="1">
                <a:solidFill>
                  <a:srgbClr val="1B2733"/>
                </a:solidFill>
                <a:latin typeface="Calibri"/>
              </a:rPr>
              <a:t>Oil + fuel</a:t>
            </a:r>
          </a:p>
        </p:txBody>
      </p:sp>
      <p:sp>
        <p:nvSpPr>
          <p:cNvPr id="13" name="TextBox 12"/>
          <p:cNvSpPr txBox="1"/>
          <p:nvPr/>
        </p:nvSpPr>
        <p:spPr>
          <a:xfrm>
            <a:off x="585216" y="1938528"/>
            <a:ext cx="2450592" cy="256032"/>
          </a:xfrm>
          <a:prstGeom prst="rect">
            <a:avLst/>
          </a:prstGeom>
          <a:noFill/>
        </p:spPr>
        <p:txBody>
          <a:bodyPr wrap="square" anchor="t">
            <a:spAutoFit/>
          </a:bodyPr>
          <a:lstStyle/>
          <a:p>
            <a:pPr algn="l"/>
            <a:r>
              <a:rPr sz="1200" b="1">
                <a:solidFill>
                  <a:srgbClr val="ED1C24"/>
                </a:solidFill>
                <a:latin typeface="Calibri"/>
              </a:rPr>
              <a:t>Core pack</a:t>
            </a:r>
          </a:p>
        </p:txBody>
      </p:sp>
      <p:sp>
        <p:nvSpPr>
          <p:cNvPr id="14" name="TextBox 13"/>
          <p:cNvSpPr txBox="1"/>
          <p:nvPr/>
        </p:nvSpPr>
        <p:spPr>
          <a:xfrm>
            <a:off x="585216" y="2231136"/>
            <a:ext cx="2450592" cy="3282696"/>
          </a:xfrm>
          <a:prstGeom prst="rect">
            <a:avLst/>
          </a:prstGeom>
          <a:noFill/>
        </p:spPr>
        <p:txBody>
          <a:bodyPr wrap="square" anchor="t">
            <a:spAutoFit/>
          </a:bodyPr>
          <a:lstStyle/>
          <a:p>
            <a:pPr algn="l"/>
            <a:r>
              <a:rPr sz="1200" b="0">
                <a:solidFill>
                  <a:srgbClr val="344251"/>
                </a:solidFill>
                <a:latin typeface="Calibri"/>
              </a:rPr>
              <a:t>Oil and fuel sit on every scheduled service. Fuel cover is already 95 percent to dealers. Oil BVP is already moving. Oil stays on the set. It is not a separate push.</a:t>
            </a:r>
          </a:p>
        </p:txBody>
      </p:sp>
      <p:sp>
        <p:nvSpPr>
          <p:cNvPr id="15" name="Rounded Rectangle 14"/>
          <p:cNvSpPr/>
          <p:nvPr/>
        </p:nvSpPr>
        <p:spPr>
          <a:xfrm>
            <a:off x="3328416" y="1481328"/>
            <a:ext cx="2743200" cy="4160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28416"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4720" y="1645920"/>
            <a:ext cx="2450592" cy="292608"/>
          </a:xfrm>
          <a:prstGeom prst="rect">
            <a:avLst/>
          </a:prstGeom>
          <a:noFill/>
        </p:spPr>
        <p:txBody>
          <a:bodyPr wrap="square" anchor="t">
            <a:spAutoFit/>
          </a:bodyPr>
          <a:lstStyle/>
          <a:p>
            <a:pPr algn="l"/>
            <a:r>
              <a:rPr sz="1600" b="1">
                <a:solidFill>
                  <a:srgbClr val="1B2733"/>
                </a:solidFill>
                <a:latin typeface="Calibri"/>
              </a:rPr>
              <a:t>Air filter</a:t>
            </a:r>
          </a:p>
        </p:txBody>
      </p:sp>
      <p:sp>
        <p:nvSpPr>
          <p:cNvPr id="18" name="TextBox 17"/>
          <p:cNvSpPr txBox="1"/>
          <p:nvPr/>
        </p:nvSpPr>
        <p:spPr>
          <a:xfrm>
            <a:off x="3474720" y="1938528"/>
            <a:ext cx="2450592" cy="256032"/>
          </a:xfrm>
          <a:prstGeom prst="rect">
            <a:avLst/>
          </a:prstGeom>
          <a:noFill/>
        </p:spPr>
        <p:txBody>
          <a:bodyPr wrap="square" anchor="t">
            <a:spAutoFit/>
          </a:bodyPr>
          <a:lstStyle/>
          <a:p>
            <a:pPr algn="l"/>
            <a:r>
              <a:rPr sz="1200" b="1">
                <a:solidFill>
                  <a:srgbClr val="ED1C24"/>
                </a:solidFill>
                <a:latin typeface="Calibri"/>
              </a:rPr>
              <a:t>Primary attach</a:t>
            </a:r>
          </a:p>
        </p:txBody>
      </p:sp>
      <p:sp>
        <p:nvSpPr>
          <p:cNvPr id="19" name="TextBox 18"/>
          <p:cNvSpPr txBox="1"/>
          <p:nvPr/>
        </p:nvSpPr>
        <p:spPr>
          <a:xfrm>
            <a:off x="3474720" y="2231136"/>
            <a:ext cx="2450592" cy="3282696"/>
          </a:xfrm>
          <a:prstGeom prst="rect">
            <a:avLst/>
          </a:prstGeom>
          <a:noFill/>
        </p:spPr>
        <p:txBody>
          <a:bodyPr wrap="square" anchor="t">
            <a:spAutoFit/>
          </a:bodyPr>
          <a:lstStyle/>
          <a:p>
            <a:pPr algn="l"/>
            <a:r>
              <a:rPr sz="1200" b="0">
                <a:solidFill>
                  <a:srgbClr val="344251"/>
                </a:solidFill>
                <a:latin typeface="Calibri"/>
              </a:rPr>
              <a:t>Promote inclusion when the service menu requires it. Cover is 20 percent. That is the hole on the visit we already have.</a:t>
            </a:r>
          </a:p>
        </p:txBody>
      </p:sp>
      <p:sp>
        <p:nvSpPr>
          <p:cNvPr id="20" name="Rounded Rectangle 19"/>
          <p:cNvSpPr/>
          <p:nvPr/>
        </p:nvSpPr>
        <p:spPr>
          <a:xfrm>
            <a:off x="6217920" y="1481328"/>
            <a:ext cx="2743200" cy="4160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645920"/>
            <a:ext cx="2450592" cy="292608"/>
          </a:xfrm>
          <a:prstGeom prst="rect">
            <a:avLst/>
          </a:prstGeom>
          <a:noFill/>
        </p:spPr>
        <p:txBody>
          <a:bodyPr wrap="square" anchor="t">
            <a:spAutoFit/>
          </a:bodyPr>
          <a:lstStyle/>
          <a:p>
            <a:pPr algn="l"/>
            <a:r>
              <a:rPr sz="1600" b="1">
                <a:solidFill>
                  <a:srgbClr val="1B2733"/>
                </a:solidFill>
                <a:latin typeface="Calibri"/>
              </a:rPr>
              <a:t>Brakes</a:t>
            </a:r>
          </a:p>
        </p:txBody>
      </p:sp>
      <p:sp>
        <p:nvSpPr>
          <p:cNvPr id="23" name="TextBox 22"/>
          <p:cNvSpPr txBox="1"/>
          <p:nvPr/>
        </p:nvSpPr>
        <p:spPr>
          <a:xfrm>
            <a:off x="6364224" y="1938528"/>
            <a:ext cx="2450592" cy="256032"/>
          </a:xfrm>
          <a:prstGeom prst="rect">
            <a:avLst/>
          </a:prstGeom>
          <a:noFill/>
        </p:spPr>
        <p:txBody>
          <a:bodyPr wrap="square" anchor="t">
            <a:spAutoFit/>
          </a:bodyPr>
          <a:lstStyle/>
          <a:p>
            <a:pPr algn="l"/>
            <a:r>
              <a:rPr sz="1200" b="1">
                <a:solidFill>
                  <a:srgbClr val="ED1C24"/>
                </a:solidFill>
                <a:latin typeface="Calibri"/>
              </a:rPr>
              <a:t>Condition-based</a:t>
            </a:r>
          </a:p>
        </p:txBody>
      </p:sp>
      <p:sp>
        <p:nvSpPr>
          <p:cNvPr id="24" name="TextBox 23"/>
          <p:cNvSpPr txBox="1"/>
          <p:nvPr/>
        </p:nvSpPr>
        <p:spPr>
          <a:xfrm>
            <a:off x="6364224" y="2231136"/>
            <a:ext cx="2450592" cy="3282696"/>
          </a:xfrm>
          <a:prstGeom prst="rect">
            <a:avLst/>
          </a:prstGeom>
          <a:noFill/>
        </p:spPr>
        <p:txBody>
          <a:bodyPr wrap="square" anchor="t">
            <a:spAutoFit/>
          </a:bodyPr>
          <a:lstStyle/>
          <a:p>
            <a:pPr algn="l"/>
            <a:r>
              <a:rPr sz="1200" b="0">
                <a:solidFill>
                  <a:srgbClr val="344251"/>
                </a:solidFill>
                <a:latin typeface="Calibri"/>
              </a:rPr>
              <a:t>No volume push. Supply when the job needs it. Pad cover about 51 percent. No BVP on the R90 pad. SPA only if price is the barrier.</a:t>
            </a:r>
          </a:p>
        </p:txBody>
      </p:sp>
      <p:sp>
        <p:nvSpPr>
          <p:cNvPr id="25" name="Rounded Rectangle 24"/>
          <p:cNvSpPr/>
          <p:nvPr/>
        </p:nvSpPr>
        <p:spPr>
          <a:xfrm>
            <a:off x="9107424" y="1481328"/>
            <a:ext cx="2743200" cy="4160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07424"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53728" y="1645920"/>
            <a:ext cx="2450592" cy="292608"/>
          </a:xfrm>
          <a:prstGeom prst="rect">
            <a:avLst/>
          </a:prstGeom>
          <a:noFill/>
        </p:spPr>
        <p:txBody>
          <a:bodyPr wrap="square" anchor="t">
            <a:spAutoFit/>
          </a:bodyPr>
          <a:lstStyle/>
          <a:p>
            <a:pPr algn="l"/>
            <a:r>
              <a:rPr sz="1600" b="1">
                <a:solidFill>
                  <a:srgbClr val="1B2733"/>
                </a:solidFill>
                <a:latin typeface="Calibri"/>
              </a:rPr>
              <a:t>Clutch</a:t>
            </a:r>
          </a:p>
        </p:txBody>
      </p:sp>
      <p:sp>
        <p:nvSpPr>
          <p:cNvPr id="28" name="TextBox 27"/>
          <p:cNvSpPr txBox="1"/>
          <p:nvPr/>
        </p:nvSpPr>
        <p:spPr>
          <a:xfrm>
            <a:off x="9253728" y="1938528"/>
            <a:ext cx="2450592" cy="256032"/>
          </a:xfrm>
          <a:prstGeom prst="rect">
            <a:avLst/>
          </a:prstGeom>
          <a:noFill/>
        </p:spPr>
        <p:txBody>
          <a:bodyPr wrap="square" anchor="t">
            <a:spAutoFit/>
          </a:bodyPr>
          <a:lstStyle/>
          <a:p>
            <a:pPr algn="l"/>
            <a:r>
              <a:rPr sz="1200" b="1">
                <a:solidFill>
                  <a:srgbClr val="ED1C24"/>
                </a:solidFill>
                <a:latin typeface="Calibri"/>
              </a:rPr>
              <a:t>VIN / manual</a:t>
            </a:r>
          </a:p>
        </p:txBody>
      </p:sp>
      <p:sp>
        <p:nvSpPr>
          <p:cNvPr id="29" name="TextBox 28"/>
          <p:cNvSpPr txBox="1"/>
          <p:nvPr/>
        </p:nvSpPr>
        <p:spPr>
          <a:xfrm>
            <a:off x="9253728" y="2231136"/>
            <a:ext cx="2450592" cy="3282696"/>
          </a:xfrm>
          <a:prstGeom prst="rect">
            <a:avLst/>
          </a:prstGeom>
          <a:noFill/>
        </p:spPr>
        <p:txBody>
          <a:bodyPr wrap="square" anchor="t">
            <a:spAutoFit/>
          </a:bodyPr>
          <a:lstStyle/>
          <a:p>
            <a:pPr algn="l"/>
            <a:r>
              <a:rPr sz="1200" b="0">
                <a:solidFill>
                  <a:srgbClr val="344251"/>
                </a:solidFill>
                <a:latin typeface="Calibri"/>
              </a:rPr>
              <a:t>No broad push. Kit 5876102320, manuals only. Planning share 47 percent until a transmission file exists.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One extra point on all PMS parts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4</a:t>
            </a:r>
          </a:p>
        </p:txBody>
      </p:sp>
      <p:sp>
        <p:nvSpPr>
          <p:cNvPr id="9" name="Rounded Rectangle 8"/>
          <p:cNvSpPr/>
          <p:nvPr/>
        </p:nvSpPr>
        <p:spPr>
          <a:xfrm>
            <a:off x="438912" y="1115568"/>
            <a:ext cx="553212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5120640" cy="256032"/>
          </a:xfrm>
          <a:prstGeom prst="rect">
            <a:avLst/>
          </a:prstGeom>
          <a:noFill/>
        </p:spPr>
        <p:txBody>
          <a:bodyPr wrap="square" anchor="t">
            <a:spAutoFit/>
          </a:bodyPr>
          <a:lstStyle/>
          <a:p>
            <a:pPr algn="l"/>
            <a:r>
              <a:rPr sz="1200" b="1">
                <a:solidFill>
                  <a:srgbClr val="ED1C24"/>
                </a:solidFill>
                <a:latin typeface="Calibri"/>
              </a:rPr>
              <a:t>ITUK to dealer, calendar 2025</a:t>
            </a:r>
          </a:p>
        </p:txBody>
      </p:sp>
      <p:sp>
        <p:nvSpPr>
          <p:cNvPr id="11" name="TextBox 10"/>
          <p:cNvSpPr txBox="1"/>
          <p:nvPr/>
        </p:nvSpPr>
        <p:spPr>
          <a:xfrm>
            <a:off x="640080" y="1554480"/>
            <a:ext cx="5120640" cy="777240"/>
          </a:xfrm>
          <a:prstGeom prst="rect">
            <a:avLst/>
          </a:prstGeom>
          <a:noFill/>
        </p:spPr>
        <p:txBody>
          <a:bodyPr wrap="square" anchor="t">
            <a:spAutoFit/>
          </a:bodyPr>
          <a:lstStyle/>
          <a:p>
            <a:pPr algn="l"/>
            <a:r>
              <a:rPr sz="5400" b="1">
                <a:solidFill>
                  <a:srgbClr val="1B2733"/>
                </a:solidFill>
                <a:latin typeface="Calibri"/>
              </a:rPr>
              <a:t>+1%</a:t>
            </a:r>
          </a:p>
        </p:txBody>
      </p:sp>
      <p:sp>
        <p:nvSpPr>
          <p:cNvPr id="12" name="TextBox 11"/>
          <p:cNvSpPr txBox="1"/>
          <p:nvPr/>
        </p:nvSpPr>
        <p:spPr>
          <a:xfrm>
            <a:off x="640080" y="2377440"/>
            <a:ext cx="5120640" cy="640080"/>
          </a:xfrm>
          <a:prstGeom prst="rect">
            <a:avLst/>
          </a:prstGeom>
          <a:noFill/>
        </p:spPr>
        <p:txBody>
          <a:bodyPr wrap="square" anchor="t">
            <a:spAutoFit/>
          </a:bodyPr>
          <a:lstStyle/>
          <a:p>
            <a:pPr algn="l"/>
            <a:r>
              <a:rPr sz="1600" b="0">
                <a:solidFill>
                  <a:srgbClr val="344251"/>
                </a:solidFill>
                <a:latin typeface="Calibri"/>
              </a:rPr>
              <a:t>368 extra units  ·  about EUR 7,530 at ISZE to ITUK</a:t>
            </a:r>
          </a:p>
        </p:txBody>
      </p:sp>
      <p:sp>
        <p:nvSpPr>
          <p:cNvPr id="13" name="Rounded Rectangle 12"/>
          <p:cNvSpPr/>
          <p:nvPr/>
        </p:nvSpPr>
        <p:spPr>
          <a:xfrm>
            <a:off x="6172200" y="1115568"/>
            <a:ext cx="5623560" cy="2331720"/>
          </a:xfrm>
          <a:prstGeom prst="roundRect">
            <a:avLst>
              <a:gd name="adj" fmla="val 6000"/>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325880"/>
            <a:ext cx="5257800" cy="640080"/>
          </a:xfrm>
          <a:prstGeom prst="rect">
            <a:avLst/>
          </a:prstGeom>
          <a:noFill/>
        </p:spPr>
        <p:txBody>
          <a:bodyPr wrap="square" anchor="t">
            <a:spAutoFit/>
          </a:bodyPr>
          <a:lstStyle/>
          <a:p>
            <a:pPr algn="l"/>
            <a:r>
              <a:rPr sz="1400" b="0">
                <a:solidFill>
                  <a:srgbClr val="FFFFFF"/>
                </a:solidFill>
                <a:latin typeface="Calibri"/>
              </a:rPr>
              <a:t>Same mix as today. 56 part numbers. 36,843 units in the year.</a:t>
            </a:r>
          </a:p>
        </p:txBody>
      </p:sp>
      <p:sp>
        <p:nvSpPr>
          <p:cNvPr id="15" name="TextBox 14"/>
          <p:cNvSpPr txBox="1"/>
          <p:nvPr/>
        </p:nvSpPr>
        <p:spPr>
          <a:xfrm>
            <a:off x="6355080" y="2057400"/>
            <a:ext cx="5257800" cy="1051560"/>
          </a:xfrm>
          <a:prstGeom prst="rect">
            <a:avLst/>
          </a:prstGeom>
          <a:noFill/>
        </p:spPr>
        <p:txBody>
          <a:bodyPr wrap="square" anchor="t">
            <a:spAutoFit/>
          </a:bodyPr>
          <a:lstStyle/>
          <a:p>
            <a:pPr algn="l"/>
            <a:r>
              <a:rPr sz="1400" b="0">
                <a:solidFill>
                  <a:srgbClr val="FFFFFF"/>
                </a:solidFill>
                <a:latin typeface="Calibri"/>
              </a:rPr>
              <a:t>Not 117 extra complete services. Not filters only. Brake is 42 percent of that euro.</a:t>
            </a:r>
          </a:p>
        </p:txBody>
      </p:sp>
      <p:sp>
        <p:nvSpPr>
          <p:cNvPr id="16" name="Rectangle 15"/>
          <p:cNvSpPr/>
          <p:nvPr/>
        </p:nvSpPr>
        <p:spPr>
          <a:xfrm>
            <a:off x="438912" y="365760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0352" y="3657600"/>
            <a:ext cx="5522976" cy="329184"/>
          </a:xfrm>
          <a:prstGeom prst="rect">
            <a:avLst/>
          </a:prstGeom>
          <a:noFill/>
        </p:spPr>
        <p:txBody>
          <a:bodyPr wrap="square" anchor="ctr">
            <a:spAutoFit/>
          </a:bodyPr>
          <a:lstStyle/>
          <a:p>
            <a:pPr algn="l"/>
            <a:r>
              <a:rPr sz="1100" b="1">
                <a:solidFill>
                  <a:srgbClr val="FFFFFF"/>
                </a:solidFill>
                <a:latin typeface="Calibri"/>
              </a:rPr>
              <a:t>Family</a:t>
            </a:r>
          </a:p>
        </p:txBody>
      </p:sp>
      <p:sp>
        <p:nvSpPr>
          <p:cNvPr id="18" name="TextBox 17"/>
          <p:cNvSpPr txBox="1"/>
          <p:nvPr/>
        </p:nvSpPr>
        <p:spPr>
          <a:xfrm>
            <a:off x="6199632" y="3657600"/>
            <a:ext cx="2697480" cy="329184"/>
          </a:xfrm>
          <a:prstGeom prst="rect">
            <a:avLst/>
          </a:prstGeom>
          <a:noFill/>
        </p:spPr>
        <p:txBody>
          <a:bodyPr wrap="square" anchor="ctr">
            <a:spAutoFit/>
          </a:bodyPr>
          <a:lstStyle/>
          <a:p>
            <a:pPr algn="r"/>
            <a:r>
              <a:rPr sz="1100" b="1">
                <a:solidFill>
                  <a:srgbClr val="FFFFFF"/>
                </a:solidFill>
                <a:latin typeface="Calibri"/>
              </a:rPr>
              <a:t>1% units</a:t>
            </a:r>
          </a:p>
        </p:txBody>
      </p:sp>
      <p:sp>
        <p:nvSpPr>
          <p:cNvPr id="19" name="TextBox 18"/>
          <p:cNvSpPr txBox="1"/>
          <p:nvPr/>
        </p:nvSpPr>
        <p:spPr>
          <a:xfrm>
            <a:off x="9043416" y="3657600"/>
            <a:ext cx="2697480" cy="329184"/>
          </a:xfrm>
          <a:prstGeom prst="rect">
            <a:avLst/>
          </a:prstGeom>
          <a:noFill/>
        </p:spPr>
        <p:txBody>
          <a:bodyPr wrap="square" anchor="ctr">
            <a:spAutoFit/>
          </a:bodyPr>
          <a:lstStyle/>
          <a:p>
            <a:pPr algn="r"/>
            <a:r>
              <a:rPr sz="1100" b="1">
                <a:solidFill>
                  <a:srgbClr val="FFFFFF"/>
                </a:solidFill>
                <a:latin typeface="Calibri"/>
              </a:rPr>
              <a:t>1% EUR</a:t>
            </a:r>
          </a:p>
        </p:txBody>
      </p:sp>
      <p:sp>
        <p:nvSpPr>
          <p:cNvPr id="20" name="TextBox 19"/>
          <p:cNvSpPr txBox="1"/>
          <p:nvPr/>
        </p:nvSpPr>
        <p:spPr>
          <a:xfrm>
            <a:off x="530352" y="3986784"/>
            <a:ext cx="5522976" cy="347472"/>
          </a:xfrm>
          <a:prstGeom prst="rect">
            <a:avLst/>
          </a:prstGeom>
          <a:noFill/>
        </p:spPr>
        <p:txBody>
          <a:bodyPr wrap="square" anchor="ctr">
            <a:spAutoFit/>
          </a:bodyPr>
          <a:lstStyle/>
          <a:p>
            <a:pPr algn="l"/>
            <a:r>
              <a:rPr sz="1300" b="1">
                <a:solidFill>
                  <a:srgbClr val="1B2733"/>
                </a:solidFill>
                <a:latin typeface="Calibri"/>
              </a:rPr>
              <a:t>Fuel</a:t>
            </a:r>
          </a:p>
        </p:txBody>
      </p:sp>
      <p:sp>
        <p:nvSpPr>
          <p:cNvPr id="21" name="TextBox 20"/>
          <p:cNvSpPr txBox="1"/>
          <p:nvPr/>
        </p:nvSpPr>
        <p:spPr>
          <a:xfrm>
            <a:off x="6199632" y="3986784"/>
            <a:ext cx="2697480" cy="347472"/>
          </a:xfrm>
          <a:prstGeom prst="rect">
            <a:avLst/>
          </a:prstGeom>
          <a:noFill/>
        </p:spPr>
        <p:txBody>
          <a:bodyPr wrap="square" anchor="ctr">
            <a:spAutoFit/>
          </a:bodyPr>
          <a:lstStyle/>
          <a:p>
            <a:pPr algn="r"/>
            <a:r>
              <a:rPr sz="1300" b="0">
                <a:solidFill>
                  <a:srgbClr val="344251"/>
                </a:solidFill>
                <a:latin typeface="Calibri"/>
              </a:rPr>
              <a:t>180</a:t>
            </a:r>
          </a:p>
        </p:txBody>
      </p:sp>
      <p:sp>
        <p:nvSpPr>
          <p:cNvPr id="22" name="TextBox 21"/>
          <p:cNvSpPr txBox="1"/>
          <p:nvPr/>
        </p:nvSpPr>
        <p:spPr>
          <a:xfrm>
            <a:off x="9043416" y="3986784"/>
            <a:ext cx="2697480" cy="347472"/>
          </a:xfrm>
          <a:prstGeom prst="rect">
            <a:avLst/>
          </a:prstGeom>
          <a:noFill/>
        </p:spPr>
        <p:txBody>
          <a:bodyPr wrap="square" anchor="ctr">
            <a:spAutoFit/>
          </a:bodyPr>
          <a:lstStyle/>
          <a:p>
            <a:pPr algn="r"/>
            <a:r>
              <a:rPr sz="1300" b="0">
                <a:solidFill>
                  <a:srgbClr val="344251"/>
                </a:solidFill>
                <a:latin typeface="Calibri"/>
              </a:rPr>
              <a:t>2,207</a:t>
            </a:r>
          </a:p>
        </p:txBody>
      </p:sp>
      <p:sp>
        <p:nvSpPr>
          <p:cNvPr id="23" name="Rectangle 22"/>
          <p:cNvSpPr/>
          <p:nvPr/>
        </p:nvSpPr>
        <p:spPr>
          <a:xfrm>
            <a:off x="438912" y="4334256"/>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 y="4334256"/>
            <a:ext cx="5522976" cy="347472"/>
          </a:xfrm>
          <a:prstGeom prst="rect">
            <a:avLst/>
          </a:prstGeom>
          <a:noFill/>
        </p:spPr>
        <p:txBody>
          <a:bodyPr wrap="square" anchor="ctr">
            <a:spAutoFit/>
          </a:bodyPr>
          <a:lstStyle/>
          <a:p>
            <a:pPr algn="l"/>
            <a:r>
              <a:rPr sz="1300" b="1">
                <a:solidFill>
                  <a:srgbClr val="1B2733"/>
                </a:solidFill>
                <a:latin typeface="Calibri"/>
              </a:rPr>
              <a:t>Oil</a:t>
            </a:r>
          </a:p>
        </p:txBody>
      </p:sp>
      <p:sp>
        <p:nvSpPr>
          <p:cNvPr id="25" name="TextBox 24"/>
          <p:cNvSpPr txBox="1"/>
          <p:nvPr/>
        </p:nvSpPr>
        <p:spPr>
          <a:xfrm>
            <a:off x="6199632" y="4334256"/>
            <a:ext cx="2697480" cy="347472"/>
          </a:xfrm>
          <a:prstGeom prst="rect">
            <a:avLst/>
          </a:prstGeom>
          <a:noFill/>
        </p:spPr>
        <p:txBody>
          <a:bodyPr wrap="square" anchor="ctr">
            <a:spAutoFit/>
          </a:bodyPr>
          <a:lstStyle/>
          <a:p>
            <a:pPr algn="r"/>
            <a:r>
              <a:rPr sz="1300" b="0">
                <a:solidFill>
                  <a:srgbClr val="344251"/>
                </a:solidFill>
                <a:latin typeface="Calibri"/>
              </a:rPr>
              <a:t>112</a:t>
            </a:r>
          </a:p>
        </p:txBody>
      </p:sp>
      <p:sp>
        <p:nvSpPr>
          <p:cNvPr id="26" name="TextBox 25"/>
          <p:cNvSpPr txBox="1"/>
          <p:nvPr/>
        </p:nvSpPr>
        <p:spPr>
          <a:xfrm>
            <a:off x="9043416" y="4334256"/>
            <a:ext cx="2697480" cy="347472"/>
          </a:xfrm>
          <a:prstGeom prst="rect">
            <a:avLst/>
          </a:prstGeom>
          <a:noFill/>
        </p:spPr>
        <p:txBody>
          <a:bodyPr wrap="square" anchor="ctr">
            <a:spAutoFit/>
          </a:bodyPr>
          <a:lstStyle/>
          <a:p>
            <a:pPr algn="r"/>
            <a:r>
              <a:rPr sz="1300" b="0">
                <a:solidFill>
                  <a:srgbClr val="344251"/>
                </a:solidFill>
                <a:latin typeface="Calibri"/>
              </a:rPr>
              <a:t>774</a:t>
            </a:r>
          </a:p>
        </p:txBody>
      </p:sp>
      <p:sp>
        <p:nvSpPr>
          <p:cNvPr id="27" name="TextBox 26"/>
          <p:cNvSpPr txBox="1"/>
          <p:nvPr/>
        </p:nvSpPr>
        <p:spPr>
          <a:xfrm>
            <a:off x="530352" y="4681728"/>
            <a:ext cx="5522976" cy="347472"/>
          </a:xfrm>
          <a:prstGeom prst="rect">
            <a:avLst/>
          </a:prstGeom>
          <a:noFill/>
        </p:spPr>
        <p:txBody>
          <a:bodyPr wrap="square" anchor="ctr">
            <a:spAutoFit/>
          </a:bodyPr>
          <a:lstStyle/>
          <a:p>
            <a:pPr algn="l"/>
            <a:r>
              <a:rPr sz="1300" b="1">
                <a:solidFill>
                  <a:srgbClr val="1B2733"/>
                </a:solidFill>
                <a:latin typeface="Calibri"/>
              </a:rPr>
              <a:t>Brake</a:t>
            </a:r>
          </a:p>
        </p:txBody>
      </p:sp>
      <p:sp>
        <p:nvSpPr>
          <p:cNvPr id="28" name="TextBox 27"/>
          <p:cNvSpPr txBox="1"/>
          <p:nvPr/>
        </p:nvSpPr>
        <p:spPr>
          <a:xfrm>
            <a:off x="6199632" y="4681728"/>
            <a:ext cx="2697480" cy="347472"/>
          </a:xfrm>
          <a:prstGeom prst="rect">
            <a:avLst/>
          </a:prstGeom>
          <a:noFill/>
        </p:spPr>
        <p:txBody>
          <a:bodyPr wrap="square" anchor="ctr">
            <a:spAutoFit/>
          </a:bodyPr>
          <a:lstStyle/>
          <a:p>
            <a:pPr algn="r"/>
            <a:r>
              <a:rPr sz="1300" b="0">
                <a:solidFill>
                  <a:srgbClr val="344251"/>
                </a:solidFill>
                <a:latin typeface="Calibri"/>
              </a:rPr>
              <a:t>36</a:t>
            </a:r>
          </a:p>
        </p:txBody>
      </p:sp>
      <p:sp>
        <p:nvSpPr>
          <p:cNvPr id="29" name="TextBox 28"/>
          <p:cNvSpPr txBox="1"/>
          <p:nvPr/>
        </p:nvSpPr>
        <p:spPr>
          <a:xfrm>
            <a:off x="9043416" y="4681728"/>
            <a:ext cx="2697480" cy="347472"/>
          </a:xfrm>
          <a:prstGeom prst="rect">
            <a:avLst/>
          </a:prstGeom>
          <a:noFill/>
        </p:spPr>
        <p:txBody>
          <a:bodyPr wrap="square" anchor="ctr">
            <a:spAutoFit/>
          </a:bodyPr>
          <a:lstStyle/>
          <a:p>
            <a:pPr algn="r"/>
            <a:r>
              <a:rPr sz="1300" b="0">
                <a:solidFill>
                  <a:srgbClr val="344251"/>
                </a:solidFill>
                <a:latin typeface="Calibri"/>
              </a:rPr>
              <a:t>3,177</a:t>
            </a:r>
          </a:p>
        </p:txBody>
      </p:sp>
      <p:sp>
        <p:nvSpPr>
          <p:cNvPr id="30" name="Rectangle 29"/>
          <p:cNvSpPr/>
          <p:nvPr/>
        </p:nvSpPr>
        <p:spPr>
          <a:xfrm>
            <a:off x="438912" y="5029200"/>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0352" y="5029200"/>
            <a:ext cx="5522976" cy="347472"/>
          </a:xfrm>
          <a:prstGeom prst="rect">
            <a:avLst/>
          </a:prstGeom>
          <a:noFill/>
        </p:spPr>
        <p:txBody>
          <a:bodyPr wrap="square" anchor="ctr">
            <a:spAutoFit/>
          </a:bodyPr>
          <a:lstStyle/>
          <a:p>
            <a:pPr algn="l"/>
            <a:r>
              <a:rPr sz="1300" b="1">
                <a:solidFill>
                  <a:srgbClr val="1B2733"/>
                </a:solidFill>
                <a:latin typeface="Calibri"/>
              </a:rPr>
              <a:t>Air</a:t>
            </a:r>
          </a:p>
        </p:txBody>
      </p:sp>
      <p:sp>
        <p:nvSpPr>
          <p:cNvPr id="32" name="TextBox 31"/>
          <p:cNvSpPr txBox="1"/>
          <p:nvPr/>
        </p:nvSpPr>
        <p:spPr>
          <a:xfrm>
            <a:off x="6199632" y="5029200"/>
            <a:ext cx="2697480" cy="347472"/>
          </a:xfrm>
          <a:prstGeom prst="rect">
            <a:avLst/>
          </a:prstGeom>
          <a:noFill/>
        </p:spPr>
        <p:txBody>
          <a:bodyPr wrap="square" anchor="ctr">
            <a:spAutoFit/>
          </a:bodyPr>
          <a:lstStyle/>
          <a:p>
            <a:pPr algn="r"/>
            <a:r>
              <a:rPr sz="1300" b="0">
                <a:solidFill>
                  <a:srgbClr val="344251"/>
                </a:solidFill>
                <a:latin typeface="Calibri"/>
              </a:rPr>
              <a:t>36</a:t>
            </a:r>
          </a:p>
        </p:txBody>
      </p:sp>
      <p:sp>
        <p:nvSpPr>
          <p:cNvPr id="33" name="TextBox 32"/>
          <p:cNvSpPr txBox="1"/>
          <p:nvPr/>
        </p:nvSpPr>
        <p:spPr>
          <a:xfrm>
            <a:off x="9043416" y="5029200"/>
            <a:ext cx="2697480" cy="347472"/>
          </a:xfrm>
          <a:prstGeom prst="rect">
            <a:avLst/>
          </a:prstGeom>
          <a:noFill/>
        </p:spPr>
        <p:txBody>
          <a:bodyPr wrap="square" anchor="ctr">
            <a:spAutoFit/>
          </a:bodyPr>
          <a:lstStyle/>
          <a:p>
            <a:pPr algn="r"/>
            <a:r>
              <a:rPr sz="1300" b="0">
                <a:solidFill>
                  <a:srgbClr val="344251"/>
                </a:solidFill>
                <a:latin typeface="Calibri"/>
              </a:rPr>
              <a:t>1,062</a:t>
            </a:r>
          </a:p>
        </p:txBody>
      </p:sp>
      <p:sp>
        <p:nvSpPr>
          <p:cNvPr id="34" name="TextBox 33"/>
          <p:cNvSpPr txBox="1"/>
          <p:nvPr/>
        </p:nvSpPr>
        <p:spPr>
          <a:xfrm>
            <a:off x="530352" y="5376672"/>
            <a:ext cx="5522976" cy="347472"/>
          </a:xfrm>
          <a:prstGeom prst="rect">
            <a:avLst/>
          </a:prstGeom>
          <a:noFill/>
        </p:spPr>
        <p:txBody>
          <a:bodyPr wrap="square" anchor="ctr">
            <a:spAutoFit/>
          </a:bodyPr>
          <a:lstStyle/>
          <a:p>
            <a:pPr algn="l"/>
            <a:r>
              <a:rPr sz="1300" b="1">
                <a:solidFill>
                  <a:srgbClr val="1B2733"/>
                </a:solidFill>
                <a:latin typeface="Calibri"/>
              </a:rPr>
              <a:t>Clutch</a:t>
            </a:r>
          </a:p>
        </p:txBody>
      </p:sp>
      <p:sp>
        <p:nvSpPr>
          <p:cNvPr id="35" name="TextBox 34"/>
          <p:cNvSpPr txBox="1"/>
          <p:nvPr/>
        </p:nvSpPr>
        <p:spPr>
          <a:xfrm>
            <a:off x="6199632" y="5376672"/>
            <a:ext cx="2697480" cy="347472"/>
          </a:xfrm>
          <a:prstGeom prst="rect">
            <a:avLst/>
          </a:prstGeom>
          <a:noFill/>
        </p:spPr>
        <p:txBody>
          <a:bodyPr wrap="square" anchor="ctr">
            <a:spAutoFit/>
          </a:bodyPr>
          <a:lstStyle/>
          <a:p>
            <a:pPr algn="r"/>
            <a:r>
              <a:rPr sz="1300" b="0">
                <a:solidFill>
                  <a:srgbClr val="344251"/>
                </a:solidFill>
                <a:latin typeface="Calibri"/>
              </a:rPr>
              <a:t>4</a:t>
            </a:r>
          </a:p>
        </p:txBody>
      </p:sp>
      <p:sp>
        <p:nvSpPr>
          <p:cNvPr id="36" name="TextBox 35"/>
          <p:cNvSpPr txBox="1"/>
          <p:nvPr/>
        </p:nvSpPr>
        <p:spPr>
          <a:xfrm>
            <a:off x="9043416" y="5376672"/>
            <a:ext cx="2697480" cy="347472"/>
          </a:xfrm>
          <a:prstGeom prst="rect">
            <a:avLst/>
          </a:prstGeom>
          <a:noFill/>
        </p:spPr>
        <p:txBody>
          <a:bodyPr wrap="square" anchor="ctr">
            <a:spAutoFit/>
          </a:bodyPr>
          <a:lstStyle/>
          <a:p>
            <a:pPr algn="r"/>
            <a:r>
              <a:rPr sz="1300" b="0">
                <a:solidFill>
                  <a:srgbClr val="344251"/>
                </a:solidFill>
                <a:latin typeface="Calibri"/>
              </a:rPr>
              <a:t>310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N75 filter coverage, calendar 2025</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5</a:t>
            </a:r>
          </a:p>
        </p:txBody>
      </p:sp>
      <p:sp>
        <p:nvSpPr>
          <p:cNvPr id="9" name="TextBox 8"/>
          <p:cNvSpPr txBox="1"/>
          <p:nvPr/>
        </p:nvSpPr>
        <p:spPr>
          <a:xfrm>
            <a:off x="438912" y="1042415"/>
            <a:ext cx="11338560" cy="457200"/>
          </a:xfrm>
          <a:prstGeom prst="rect">
            <a:avLst/>
          </a:prstGeom>
          <a:noFill/>
        </p:spPr>
        <p:txBody>
          <a:bodyPr wrap="square" anchor="t">
            <a:spAutoFit/>
          </a:bodyPr>
          <a:lstStyle/>
          <a:p>
            <a:pPr algn="l"/>
            <a:r>
              <a:rPr sz="1400" b="0">
                <a:solidFill>
                  <a:srgbClr val="344251"/>
                </a:solidFill>
                <a:latin typeface="Calibri"/>
              </a:rPr>
              <a:t>Sold quantity divided by the quantity expected from the IML schedule. 9,359 vehicles. 1.25 services a year. Expected oil, fuel and air: 11,699. Fuel is already at the N75 service level. Air is not.</a:t>
            </a:r>
          </a:p>
        </p:txBody>
      </p:sp>
      <p:pic>
        <p:nvPicPr>
          <p:cNvPr id="10" name="Picture 9" descr="cover.png"/>
          <p:cNvPicPr>
            <a:picLocks noChangeAspect="1"/>
          </p:cNvPicPr>
          <p:nvPr/>
        </p:nvPicPr>
        <p:blipFill>
          <a:blip r:embed="rId3"/>
          <a:stretch>
            <a:fillRect/>
          </a:stretch>
        </p:blipFill>
        <p:spPr>
          <a:xfrm>
            <a:off x="438912" y="1481328"/>
            <a:ext cx="11356848" cy="2606040"/>
          </a:xfrm>
          <a:prstGeom prst="rect">
            <a:avLst/>
          </a:prstGeom>
        </p:spPr>
      </p:pic>
      <p:sp>
        <p:nvSpPr>
          <p:cNvPr id="11" name="Rectangle 10"/>
          <p:cNvSpPr/>
          <p:nvPr/>
        </p:nvSpPr>
        <p:spPr>
          <a:xfrm>
            <a:off x="438912" y="416052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4160520"/>
            <a:ext cx="2048256" cy="329184"/>
          </a:xfrm>
          <a:prstGeom prst="rect">
            <a:avLst/>
          </a:prstGeom>
          <a:noFill/>
        </p:spPr>
        <p:txBody>
          <a:bodyPr wrap="square" anchor="ctr">
            <a:spAutoFit/>
          </a:bodyPr>
          <a:lstStyle/>
          <a:p>
            <a:pPr algn="l"/>
            <a:r>
              <a:rPr sz="1100" b="1">
                <a:solidFill>
                  <a:srgbClr val="FFFFFF"/>
                </a:solidFill>
                <a:latin typeface="Calibri"/>
              </a:rPr>
              <a:t/>
            </a:r>
          </a:p>
        </p:txBody>
      </p:sp>
      <p:sp>
        <p:nvSpPr>
          <p:cNvPr id="13" name="TextBox 12"/>
          <p:cNvSpPr txBox="1"/>
          <p:nvPr/>
        </p:nvSpPr>
        <p:spPr>
          <a:xfrm>
            <a:off x="2724912" y="4160520"/>
            <a:ext cx="1682496" cy="329184"/>
          </a:xfrm>
          <a:prstGeom prst="rect">
            <a:avLst/>
          </a:prstGeom>
          <a:noFill/>
        </p:spPr>
        <p:txBody>
          <a:bodyPr wrap="square" anchor="ctr">
            <a:spAutoFit/>
          </a:bodyPr>
          <a:lstStyle/>
          <a:p>
            <a:pPr algn="r"/>
            <a:r>
              <a:rPr sz="1100" b="1">
                <a:solidFill>
                  <a:srgbClr val="FFFFFF"/>
                </a:solidFill>
                <a:latin typeface="Calibri"/>
              </a:rPr>
              <a:t>Expected</a:t>
            </a:r>
          </a:p>
        </p:txBody>
      </p:sp>
      <p:sp>
        <p:nvSpPr>
          <p:cNvPr id="14" name="TextBox 13"/>
          <p:cNvSpPr txBox="1"/>
          <p:nvPr/>
        </p:nvSpPr>
        <p:spPr>
          <a:xfrm>
            <a:off x="4553712" y="4160520"/>
            <a:ext cx="1865376"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15" name="TextBox 14"/>
          <p:cNvSpPr txBox="1"/>
          <p:nvPr/>
        </p:nvSpPr>
        <p:spPr>
          <a:xfrm>
            <a:off x="6565392" y="4160520"/>
            <a:ext cx="1499616"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6" name="TextBox 15"/>
          <p:cNvSpPr txBox="1"/>
          <p:nvPr/>
        </p:nvSpPr>
        <p:spPr>
          <a:xfrm>
            <a:off x="8211312" y="4160520"/>
            <a:ext cx="1865376"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17" name="TextBox 16"/>
          <p:cNvSpPr txBox="1"/>
          <p:nvPr/>
        </p:nvSpPr>
        <p:spPr>
          <a:xfrm>
            <a:off x="10222992" y="4160520"/>
            <a:ext cx="1517904"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8" name="TextBox 17"/>
          <p:cNvSpPr txBox="1"/>
          <p:nvPr/>
        </p:nvSpPr>
        <p:spPr>
          <a:xfrm>
            <a:off x="530352" y="4489704"/>
            <a:ext cx="2048256" cy="384048"/>
          </a:xfrm>
          <a:prstGeom prst="rect">
            <a:avLst/>
          </a:prstGeom>
          <a:noFill/>
        </p:spPr>
        <p:txBody>
          <a:bodyPr wrap="square" anchor="ctr">
            <a:spAutoFit/>
          </a:bodyPr>
          <a:lstStyle/>
          <a:p>
            <a:pPr algn="l"/>
            <a:r>
              <a:rPr sz="1300" b="1">
                <a:solidFill>
                  <a:srgbClr val="1B2733"/>
                </a:solidFill>
                <a:latin typeface="Calibri"/>
              </a:rPr>
              <a:t>Oil filter</a:t>
            </a:r>
          </a:p>
        </p:txBody>
      </p:sp>
      <p:sp>
        <p:nvSpPr>
          <p:cNvPr id="19" name="TextBox 18"/>
          <p:cNvSpPr txBox="1"/>
          <p:nvPr/>
        </p:nvSpPr>
        <p:spPr>
          <a:xfrm>
            <a:off x="2724912" y="4489704"/>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20" name="TextBox 19"/>
          <p:cNvSpPr txBox="1"/>
          <p:nvPr/>
        </p:nvSpPr>
        <p:spPr>
          <a:xfrm>
            <a:off x="4553712" y="4489704"/>
            <a:ext cx="1865376" cy="384048"/>
          </a:xfrm>
          <a:prstGeom prst="rect">
            <a:avLst/>
          </a:prstGeom>
          <a:noFill/>
        </p:spPr>
        <p:txBody>
          <a:bodyPr wrap="square" anchor="ctr">
            <a:spAutoFit/>
          </a:bodyPr>
          <a:lstStyle/>
          <a:p>
            <a:pPr algn="r"/>
            <a:r>
              <a:rPr sz="1300" b="0">
                <a:solidFill>
                  <a:srgbClr val="344251"/>
                </a:solidFill>
                <a:latin typeface="Calibri"/>
              </a:rPr>
              <a:t>5,404</a:t>
            </a:r>
          </a:p>
        </p:txBody>
      </p:sp>
      <p:sp>
        <p:nvSpPr>
          <p:cNvPr id="21" name="TextBox 20"/>
          <p:cNvSpPr txBox="1"/>
          <p:nvPr/>
        </p:nvSpPr>
        <p:spPr>
          <a:xfrm>
            <a:off x="6565392" y="4489704"/>
            <a:ext cx="1499616" cy="384048"/>
          </a:xfrm>
          <a:prstGeom prst="rect">
            <a:avLst/>
          </a:prstGeom>
          <a:noFill/>
        </p:spPr>
        <p:txBody>
          <a:bodyPr wrap="square" anchor="ctr">
            <a:spAutoFit/>
          </a:bodyPr>
          <a:lstStyle/>
          <a:p>
            <a:pPr algn="r"/>
            <a:r>
              <a:rPr sz="1300" b="0">
                <a:solidFill>
                  <a:srgbClr val="344251"/>
                </a:solidFill>
                <a:latin typeface="Calibri"/>
              </a:rPr>
              <a:t>46.2%</a:t>
            </a:r>
          </a:p>
        </p:txBody>
      </p:sp>
      <p:sp>
        <p:nvSpPr>
          <p:cNvPr id="22" name="TextBox 21"/>
          <p:cNvSpPr txBox="1"/>
          <p:nvPr/>
        </p:nvSpPr>
        <p:spPr>
          <a:xfrm>
            <a:off x="8211312" y="4489704"/>
            <a:ext cx="1865376" cy="384048"/>
          </a:xfrm>
          <a:prstGeom prst="rect">
            <a:avLst/>
          </a:prstGeom>
          <a:noFill/>
        </p:spPr>
        <p:txBody>
          <a:bodyPr wrap="square" anchor="ctr">
            <a:spAutoFit/>
          </a:bodyPr>
          <a:lstStyle/>
          <a:p>
            <a:pPr algn="r"/>
            <a:r>
              <a:rPr sz="1300" b="0">
                <a:solidFill>
                  <a:srgbClr val="344251"/>
                </a:solidFill>
                <a:latin typeface="Calibri"/>
              </a:rPr>
              <a:t>4,673</a:t>
            </a:r>
          </a:p>
        </p:txBody>
      </p:sp>
      <p:sp>
        <p:nvSpPr>
          <p:cNvPr id="23" name="TextBox 22"/>
          <p:cNvSpPr txBox="1"/>
          <p:nvPr/>
        </p:nvSpPr>
        <p:spPr>
          <a:xfrm>
            <a:off x="10222992" y="4489704"/>
            <a:ext cx="1517904" cy="384048"/>
          </a:xfrm>
          <a:prstGeom prst="rect">
            <a:avLst/>
          </a:prstGeom>
          <a:noFill/>
        </p:spPr>
        <p:txBody>
          <a:bodyPr wrap="square" anchor="ctr">
            <a:spAutoFit/>
          </a:bodyPr>
          <a:lstStyle/>
          <a:p>
            <a:pPr algn="r"/>
            <a:r>
              <a:rPr sz="1300" b="0">
                <a:solidFill>
                  <a:srgbClr val="344251"/>
                </a:solidFill>
                <a:latin typeface="Calibri"/>
              </a:rPr>
              <a:t>39.9%</a:t>
            </a:r>
          </a:p>
        </p:txBody>
      </p:sp>
      <p:sp>
        <p:nvSpPr>
          <p:cNvPr id="24" name="Rectangle 23"/>
          <p:cNvSpPr/>
          <p:nvPr/>
        </p:nvSpPr>
        <p:spPr>
          <a:xfrm>
            <a:off x="438912" y="4873752"/>
            <a:ext cx="11356848" cy="38404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4873752"/>
            <a:ext cx="2048256" cy="384048"/>
          </a:xfrm>
          <a:prstGeom prst="rect">
            <a:avLst/>
          </a:prstGeom>
          <a:noFill/>
        </p:spPr>
        <p:txBody>
          <a:bodyPr wrap="square" anchor="ctr">
            <a:spAutoFit/>
          </a:bodyPr>
          <a:lstStyle/>
          <a:p>
            <a:pPr algn="l"/>
            <a:r>
              <a:rPr sz="1300" b="1">
                <a:solidFill>
                  <a:srgbClr val="1B2733"/>
                </a:solidFill>
                <a:latin typeface="Calibri"/>
              </a:rPr>
              <a:t>Fuel filter</a:t>
            </a:r>
          </a:p>
        </p:txBody>
      </p:sp>
      <p:sp>
        <p:nvSpPr>
          <p:cNvPr id="26" name="TextBox 25"/>
          <p:cNvSpPr txBox="1"/>
          <p:nvPr/>
        </p:nvSpPr>
        <p:spPr>
          <a:xfrm>
            <a:off x="2724912" y="4873752"/>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27" name="TextBox 26"/>
          <p:cNvSpPr txBox="1"/>
          <p:nvPr/>
        </p:nvSpPr>
        <p:spPr>
          <a:xfrm>
            <a:off x="4553712" y="4873752"/>
            <a:ext cx="1865376" cy="384048"/>
          </a:xfrm>
          <a:prstGeom prst="rect">
            <a:avLst/>
          </a:prstGeom>
          <a:noFill/>
        </p:spPr>
        <p:txBody>
          <a:bodyPr wrap="square" anchor="ctr">
            <a:spAutoFit/>
          </a:bodyPr>
          <a:lstStyle/>
          <a:p>
            <a:pPr algn="r"/>
            <a:r>
              <a:rPr sz="1300" b="0">
                <a:solidFill>
                  <a:srgbClr val="344251"/>
                </a:solidFill>
                <a:latin typeface="Calibri"/>
              </a:rPr>
              <a:t>11,139</a:t>
            </a:r>
          </a:p>
        </p:txBody>
      </p:sp>
      <p:sp>
        <p:nvSpPr>
          <p:cNvPr id="28" name="TextBox 27"/>
          <p:cNvSpPr txBox="1"/>
          <p:nvPr/>
        </p:nvSpPr>
        <p:spPr>
          <a:xfrm>
            <a:off x="6565392" y="4873752"/>
            <a:ext cx="1499616" cy="384048"/>
          </a:xfrm>
          <a:prstGeom prst="rect">
            <a:avLst/>
          </a:prstGeom>
          <a:noFill/>
        </p:spPr>
        <p:txBody>
          <a:bodyPr wrap="square" anchor="ctr">
            <a:spAutoFit/>
          </a:bodyPr>
          <a:lstStyle/>
          <a:p>
            <a:pPr algn="r"/>
            <a:r>
              <a:rPr sz="1300" b="0">
                <a:solidFill>
                  <a:srgbClr val="344251"/>
                </a:solidFill>
                <a:latin typeface="Calibri"/>
              </a:rPr>
              <a:t>95.2%</a:t>
            </a:r>
          </a:p>
        </p:txBody>
      </p:sp>
      <p:sp>
        <p:nvSpPr>
          <p:cNvPr id="29" name="TextBox 28"/>
          <p:cNvSpPr txBox="1"/>
          <p:nvPr/>
        </p:nvSpPr>
        <p:spPr>
          <a:xfrm>
            <a:off x="8211312" y="4873752"/>
            <a:ext cx="1865376" cy="384048"/>
          </a:xfrm>
          <a:prstGeom prst="rect">
            <a:avLst/>
          </a:prstGeom>
          <a:noFill/>
        </p:spPr>
        <p:txBody>
          <a:bodyPr wrap="square" anchor="ctr">
            <a:spAutoFit/>
          </a:bodyPr>
          <a:lstStyle/>
          <a:p>
            <a:pPr algn="r"/>
            <a:r>
              <a:rPr sz="1300" b="0">
                <a:solidFill>
                  <a:srgbClr val="344251"/>
                </a:solidFill>
                <a:latin typeface="Calibri"/>
              </a:rPr>
              <a:t>11,021</a:t>
            </a:r>
          </a:p>
        </p:txBody>
      </p:sp>
      <p:sp>
        <p:nvSpPr>
          <p:cNvPr id="30" name="TextBox 29"/>
          <p:cNvSpPr txBox="1"/>
          <p:nvPr/>
        </p:nvSpPr>
        <p:spPr>
          <a:xfrm>
            <a:off x="10222992" y="4873752"/>
            <a:ext cx="1517904" cy="384048"/>
          </a:xfrm>
          <a:prstGeom prst="rect">
            <a:avLst/>
          </a:prstGeom>
          <a:noFill/>
        </p:spPr>
        <p:txBody>
          <a:bodyPr wrap="square" anchor="ctr">
            <a:spAutoFit/>
          </a:bodyPr>
          <a:lstStyle/>
          <a:p>
            <a:pPr algn="r"/>
            <a:r>
              <a:rPr sz="1300" b="0">
                <a:solidFill>
                  <a:srgbClr val="344251"/>
                </a:solidFill>
                <a:latin typeface="Calibri"/>
              </a:rPr>
              <a:t>94.2%</a:t>
            </a:r>
          </a:p>
        </p:txBody>
      </p:sp>
      <p:sp>
        <p:nvSpPr>
          <p:cNvPr id="31" name="TextBox 30"/>
          <p:cNvSpPr txBox="1"/>
          <p:nvPr/>
        </p:nvSpPr>
        <p:spPr>
          <a:xfrm>
            <a:off x="530352" y="5257800"/>
            <a:ext cx="2048256" cy="384048"/>
          </a:xfrm>
          <a:prstGeom prst="rect">
            <a:avLst/>
          </a:prstGeom>
          <a:noFill/>
        </p:spPr>
        <p:txBody>
          <a:bodyPr wrap="square" anchor="ctr">
            <a:spAutoFit/>
          </a:bodyPr>
          <a:lstStyle/>
          <a:p>
            <a:pPr algn="l"/>
            <a:r>
              <a:rPr sz="1300" b="1">
                <a:solidFill>
                  <a:srgbClr val="1B2733"/>
                </a:solidFill>
                <a:latin typeface="Calibri"/>
              </a:rPr>
              <a:t>Air filter</a:t>
            </a:r>
          </a:p>
        </p:txBody>
      </p:sp>
      <p:sp>
        <p:nvSpPr>
          <p:cNvPr id="32" name="TextBox 31"/>
          <p:cNvSpPr txBox="1"/>
          <p:nvPr/>
        </p:nvSpPr>
        <p:spPr>
          <a:xfrm>
            <a:off x="2724912" y="5257800"/>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33" name="TextBox 32"/>
          <p:cNvSpPr txBox="1"/>
          <p:nvPr/>
        </p:nvSpPr>
        <p:spPr>
          <a:xfrm>
            <a:off x="4553712" y="5257800"/>
            <a:ext cx="1865376" cy="384048"/>
          </a:xfrm>
          <a:prstGeom prst="rect">
            <a:avLst/>
          </a:prstGeom>
          <a:noFill/>
        </p:spPr>
        <p:txBody>
          <a:bodyPr wrap="square" anchor="ctr">
            <a:spAutoFit/>
          </a:bodyPr>
          <a:lstStyle/>
          <a:p>
            <a:pPr algn="r"/>
            <a:r>
              <a:rPr sz="1300" b="0">
                <a:solidFill>
                  <a:srgbClr val="344251"/>
                </a:solidFill>
                <a:latin typeface="Calibri"/>
              </a:rPr>
              <a:t>2,289</a:t>
            </a:r>
          </a:p>
        </p:txBody>
      </p:sp>
      <p:sp>
        <p:nvSpPr>
          <p:cNvPr id="34" name="TextBox 33"/>
          <p:cNvSpPr txBox="1"/>
          <p:nvPr/>
        </p:nvSpPr>
        <p:spPr>
          <a:xfrm>
            <a:off x="6565392" y="5257800"/>
            <a:ext cx="1499616" cy="384048"/>
          </a:xfrm>
          <a:prstGeom prst="rect">
            <a:avLst/>
          </a:prstGeom>
          <a:noFill/>
        </p:spPr>
        <p:txBody>
          <a:bodyPr wrap="square" anchor="ctr">
            <a:spAutoFit/>
          </a:bodyPr>
          <a:lstStyle/>
          <a:p>
            <a:pPr algn="r"/>
            <a:r>
              <a:rPr sz="1300" b="0">
                <a:solidFill>
                  <a:srgbClr val="344251"/>
                </a:solidFill>
                <a:latin typeface="Calibri"/>
              </a:rPr>
              <a:t>19.6%</a:t>
            </a:r>
          </a:p>
        </p:txBody>
      </p:sp>
      <p:sp>
        <p:nvSpPr>
          <p:cNvPr id="35" name="TextBox 34"/>
          <p:cNvSpPr txBox="1"/>
          <p:nvPr/>
        </p:nvSpPr>
        <p:spPr>
          <a:xfrm>
            <a:off x="8211312" y="5257800"/>
            <a:ext cx="1865376" cy="384048"/>
          </a:xfrm>
          <a:prstGeom prst="rect">
            <a:avLst/>
          </a:prstGeom>
          <a:noFill/>
        </p:spPr>
        <p:txBody>
          <a:bodyPr wrap="square" anchor="ctr">
            <a:spAutoFit/>
          </a:bodyPr>
          <a:lstStyle/>
          <a:p>
            <a:pPr algn="r"/>
            <a:r>
              <a:rPr sz="1300" b="0">
                <a:solidFill>
                  <a:srgbClr val="344251"/>
                </a:solidFill>
                <a:latin typeface="Calibri"/>
              </a:rPr>
              <a:t>2,226</a:t>
            </a:r>
          </a:p>
        </p:txBody>
      </p:sp>
      <p:sp>
        <p:nvSpPr>
          <p:cNvPr id="36" name="TextBox 35"/>
          <p:cNvSpPr txBox="1"/>
          <p:nvPr/>
        </p:nvSpPr>
        <p:spPr>
          <a:xfrm>
            <a:off x="10222992" y="5257800"/>
            <a:ext cx="1517904" cy="384048"/>
          </a:xfrm>
          <a:prstGeom prst="rect">
            <a:avLst/>
          </a:prstGeom>
          <a:noFill/>
        </p:spPr>
        <p:txBody>
          <a:bodyPr wrap="square" anchor="ctr">
            <a:spAutoFit/>
          </a:bodyPr>
          <a:lstStyle/>
          <a:p>
            <a:pPr algn="r"/>
            <a:r>
              <a:rPr sz="1300" b="0">
                <a:solidFill>
                  <a:srgbClr val="344251"/>
                </a:solidFill>
                <a:latin typeface="Calibri"/>
              </a:rPr>
              <a:t>19.0%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How the cover percentages are built</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6</a:t>
            </a:r>
          </a:p>
        </p:txBody>
      </p:sp>
      <p:sp>
        <p:nvSpPr>
          <p:cNvPr id="9" name="Rounded Rectangle 8"/>
          <p:cNvSpPr/>
          <p:nvPr/>
        </p:nvSpPr>
        <p:spPr>
          <a:xfrm>
            <a:off x="438912" y="1060704"/>
            <a:ext cx="11356848" cy="658368"/>
          </a:xfrm>
          <a:prstGeom prst="roundRect">
            <a:avLst>
              <a:gd name="adj" fmla="val 6000"/>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060704"/>
            <a:ext cx="10972800" cy="658368"/>
          </a:xfrm>
          <a:prstGeom prst="rect">
            <a:avLst/>
          </a:prstGeom>
          <a:noFill/>
        </p:spPr>
        <p:txBody>
          <a:bodyPr wrap="square" anchor="ctr">
            <a:spAutoFit/>
          </a:bodyPr>
          <a:lstStyle/>
          <a:p>
            <a:pPr algn="l"/>
            <a:r>
              <a:rPr sz="1600" b="1">
                <a:solidFill>
                  <a:srgbClr val="FFFFFF"/>
                </a:solidFill>
                <a:latin typeface="Calibri"/>
              </a:rPr>
              <a:t>Cover %  =  units sold in calendar 2025  /  units the service schedule expects</a:t>
            </a:r>
          </a:p>
        </p:txBody>
      </p:sp>
      <p:sp>
        <p:nvSpPr>
          <p:cNvPr id="11" name="Rounded Rectangle 10"/>
          <p:cNvSpPr/>
          <p:nvPr/>
        </p:nvSpPr>
        <p:spPr>
          <a:xfrm>
            <a:off x="438912" y="1883664"/>
            <a:ext cx="3657600" cy="17830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 y="1883664"/>
            <a:ext cx="36576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5216" y="2048256"/>
            <a:ext cx="3364992" cy="292608"/>
          </a:xfrm>
          <a:prstGeom prst="rect">
            <a:avLst/>
          </a:prstGeom>
          <a:noFill/>
        </p:spPr>
        <p:txBody>
          <a:bodyPr wrap="square" anchor="t">
            <a:spAutoFit/>
          </a:bodyPr>
          <a:lstStyle/>
          <a:p>
            <a:pPr algn="l"/>
            <a:r>
              <a:rPr sz="1600" b="1">
                <a:solidFill>
                  <a:srgbClr val="1B2733"/>
                </a:solidFill>
                <a:latin typeface="Calibri"/>
              </a:rPr>
              <a:t>1.  The car park</a:t>
            </a:r>
          </a:p>
        </p:txBody>
      </p:sp>
      <p:sp>
        <p:nvSpPr>
          <p:cNvPr id="14" name="TextBox 13"/>
          <p:cNvSpPr txBox="1"/>
          <p:nvPr/>
        </p:nvSpPr>
        <p:spPr>
          <a:xfrm>
            <a:off x="585216" y="2340864"/>
            <a:ext cx="3364992" cy="256032"/>
          </a:xfrm>
          <a:prstGeom prst="rect">
            <a:avLst/>
          </a:prstGeom>
          <a:noFill/>
        </p:spPr>
        <p:txBody>
          <a:bodyPr wrap="square" anchor="t">
            <a:spAutoFit/>
          </a:bodyPr>
          <a:lstStyle/>
          <a:p>
            <a:pPr algn="l"/>
            <a:r>
              <a:rPr sz="1200" b="1">
                <a:solidFill>
                  <a:srgbClr val="ED1C24"/>
                </a:solidFill>
                <a:latin typeface="Calibri"/>
              </a:rPr>
              <a:t>9,359 N75</a:t>
            </a:r>
          </a:p>
        </p:txBody>
      </p:sp>
      <p:sp>
        <p:nvSpPr>
          <p:cNvPr id="15" name="TextBox 14"/>
          <p:cNvSpPr txBox="1"/>
          <p:nvPr/>
        </p:nvSpPr>
        <p:spPr>
          <a:xfrm>
            <a:off x="585216" y="2633472"/>
            <a:ext cx="3364992" cy="905256"/>
          </a:xfrm>
          <a:prstGeom prst="rect">
            <a:avLst/>
          </a:prstGeom>
          <a:noFill/>
        </p:spPr>
        <p:txBody>
          <a:bodyPr wrap="square" anchor="t">
            <a:spAutoFit/>
          </a:bodyPr>
          <a:lstStyle/>
          <a:p>
            <a:pPr algn="l"/>
            <a:r>
              <a:rPr sz="1200" b="0">
                <a:solidFill>
                  <a:srgbClr val="344251"/>
                </a:solidFill>
                <a:latin typeface="Calibri"/>
              </a:rPr>
              <a:t>United Kingdom N75 registered in 2024. Both engine generations. Not the 22,389 complete UK parc.</a:t>
            </a:r>
          </a:p>
        </p:txBody>
      </p:sp>
      <p:sp>
        <p:nvSpPr>
          <p:cNvPr id="16" name="Rounded Rectangle 15"/>
          <p:cNvSpPr/>
          <p:nvPr/>
        </p:nvSpPr>
        <p:spPr>
          <a:xfrm>
            <a:off x="4288536" y="1883664"/>
            <a:ext cx="3657600" cy="17830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88536" y="1883664"/>
            <a:ext cx="36576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34840" y="2048256"/>
            <a:ext cx="3364992" cy="292608"/>
          </a:xfrm>
          <a:prstGeom prst="rect">
            <a:avLst/>
          </a:prstGeom>
          <a:noFill/>
        </p:spPr>
        <p:txBody>
          <a:bodyPr wrap="square" anchor="t">
            <a:spAutoFit/>
          </a:bodyPr>
          <a:lstStyle/>
          <a:p>
            <a:pPr algn="l"/>
            <a:r>
              <a:rPr sz="1600" b="1">
                <a:solidFill>
                  <a:srgbClr val="1B2733"/>
                </a:solidFill>
                <a:latin typeface="Calibri"/>
              </a:rPr>
              <a:t>2.  How often</a:t>
            </a:r>
          </a:p>
        </p:txBody>
      </p:sp>
      <p:sp>
        <p:nvSpPr>
          <p:cNvPr id="19" name="TextBox 18"/>
          <p:cNvSpPr txBox="1"/>
          <p:nvPr/>
        </p:nvSpPr>
        <p:spPr>
          <a:xfrm>
            <a:off x="4434840" y="2340864"/>
            <a:ext cx="3364992" cy="256032"/>
          </a:xfrm>
          <a:prstGeom prst="rect">
            <a:avLst/>
          </a:prstGeom>
          <a:noFill/>
        </p:spPr>
        <p:txBody>
          <a:bodyPr wrap="square" anchor="t">
            <a:spAutoFit/>
          </a:bodyPr>
          <a:lstStyle/>
          <a:p>
            <a:pPr algn="l"/>
            <a:r>
              <a:rPr sz="1200" b="1">
                <a:solidFill>
                  <a:srgbClr val="ED1C24"/>
                </a:solidFill>
                <a:latin typeface="Calibri"/>
              </a:rPr>
              <a:t>1.25 services / year</a:t>
            </a:r>
          </a:p>
        </p:txBody>
      </p:sp>
      <p:sp>
        <p:nvSpPr>
          <p:cNvPr id="20" name="TextBox 19"/>
          <p:cNvSpPr txBox="1"/>
          <p:nvPr/>
        </p:nvSpPr>
        <p:spPr>
          <a:xfrm>
            <a:off x="4434840" y="2633472"/>
            <a:ext cx="3364992" cy="905256"/>
          </a:xfrm>
          <a:prstGeom prst="rect">
            <a:avLst/>
          </a:prstGeom>
          <a:noFill/>
        </p:spPr>
        <p:txBody>
          <a:bodyPr wrap="square" anchor="t">
            <a:spAutoFit/>
          </a:bodyPr>
          <a:lstStyle/>
          <a:p>
            <a:pPr algn="l"/>
            <a:r>
              <a:rPr sz="1200" b="0">
                <a:solidFill>
                  <a:srgbClr val="344251"/>
                </a:solidFill>
                <a:latin typeface="Calibri"/>
              </a:rPr>
              <a:t>Planning: 50,000 km a year, filter every 40,000 km. 50,000 / 40,000 = 1.25.</a:t>
            </a:r>
          </a:p>
        </p:txBody>
      </p:sp>
      <p:sp>
        <p:nvSpPr>
          <p:cNvPr id="21" name="Rounded Rectangle 20"/>
          <p:cNvSpPr/>
          <p:nvPr/>
        </p:nvSpPr>
        <p:spPr>
          <a:xfrm>
            <a:off x="8138160" y="1883664"/>
            <a:ext cx="3657600" cy="17830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38160" y="1883664"/>
            <a:ext cx="36576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84464" y="2048256"/>
            <a:ext cx="3364992" cy="292608"/>
          </a:xfrm>
          <a:prstGeom prst="rect">
            <a:avLst/>
          </a:prstGeom>
          <a:noFill/>
        </p:spPr>
        <p:txBody>
          <a:bodyPr wrap="square" anchor="t">
            <a:spAutoFit/>
          </a:bodyPr>
          <a:lstStyle/>
          <a:p>
            <a:pPr algn="l"/>
            <a:r>
              <a:rPr sz="1600" b="1">
                <a:solidFill>
                  <a:srgbClr val="1B2733"/>
                </a:solidFill>
                <a:latin typeface="Calibri"/>
              </a:rPr>
              <a:t>3.  Expected units</a:t>
            </a:r>
          </a:p>
        </p:txBody>
      </p:sp>
      <p:sp>
        <p:nvSpPr>
          <p:cNvPr id="24" name="TextBox 23"/>
          <p:cNvSpPr txBox="1"/>
          <p:nvPr/>
        </p:nvSpPr>
        <p:spPr>
          <a:xfrm>
            <a:off x="8284464" y="2340864"/>
            <a:ext cx="3364992" cy="256032"/>
          </a:xfrm>
          <a:prstGeom prst="rect">
            <a:avLst/>
          </a:prstGeom>
          <a:noFill/>
        </p:spPr>
        <p:txBody>
          <a:bodyPr wrap="square" anchor="t">
            <a:spAutoFit/>
          </a:bodyPr>
          <a:lstStyle/>
          <a:p>
            <a:pPr algn="l"/>
            <a:r>
              <a:rPr sz="1200" b="1">
                <a:solidFill>
                  <a:srgbClr val="ED1C24"/>
                </a:solidFill>
                <a:latin typeface="Calibri"/>
              </a:rPr>
              <a:t>11,699 filters</a:t>
            </a:r>
          </a:p>
        </p:txBody>
      </p:sp>
      <p:sp>
        <p:nvSpPr>
          <p:cNvPr id="25" name="TextBox 24"/>
          <p:cNvSpPr txBox="1"/>
          <p:nvPr/>
        </p:nvSpPr>
        <p:spPr>
          <a:xfrm>
            <a:off x="8284464" y="2633472"/>
            <a:ext cx="3364992" cy="905256"/>
          </a:xfrm>
          <a:prstGeom prst="rect">
            <a:avLst/>
          </a:prstGeom>
          <a:noFill/>
        </p:spPr>
        <p:txBody>
          <a:bodyPr wrap="square" anchor="t">
            <a:spAutoFit/>
          </a:bodyPr>
          <a:lstStyle/>
          <a:p>
            <a:pPr algn="l"/>
            <a:r>
              <a:rPr sz="1200" b="0">
                <a:solidFill>
                  <a:srgbClr val="344251"/>
                </a:solidFill>
                <a:latin typeface="Calibri"/>
              </a:rPr>
              <a:t>9,359 x 1.25. Same expected quantity for oil, fuel and air. That is the denominator.</a:t>
            </a:r>
          </a:p>
        </p:txBody>
      </p:sp>
      <p:sp>
        <p:nvSpPr>
          <p:cNvPr id="26" name="Rectangle 25"/>
          <p:cNvSpPr/>
          <p:nvPr/>
        </p:nvSpPr>
        <p:spPr>
          <a:xfrm>
            <a:off x="438912" y="3822191"/>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0352" y="3822191"/>
            <a:ext cx="3694176" cy="329184"/>
          </a:xfrm>
          <a:prstGeom prst="rect">
            <a:avLst/>
          </a:prstGeom>
          <a:noFill/>
        </p:spPr>
        <p:txBody>
          <a:bodyPr wrap="square" anchor="ctr">
            <a:spAutoFit/>
          </a:bodyPr>
          <a:lstStyle/>
          <a:p>
            <a:pPr algn="l"/>
            <a:r>
              <a:rPr sz="1100" b="1">
                <a:solidFill>
                  <a:srgbClr val="FFFFFF"/>
                </a:solidFill>
                <a:latin typeface="Calibri"/>
              </a:rPr>
              <a:t>Worked example</a:t>
            </a:r>
          </a:p>
        </p:txBody>
      </p:sp>
      <p:sp>
        <p:nvSpPr>
          <p:cNvPr id="28" name="TextBox 27"/>
          <p:cNvSpPr txBox="1"/>
          <p:nvPr/>
        </p:nvSpPr>
        <p:spPr>
          <a:xfrm>
            <a:off x="4370832" y="3822191"/>
            <a:ext cx="2359152" cy="329184"/>
          </a:xfrm>
          <a:prstGeom prst="rect">
            <a:avLst/>
          </a:prstGeom>
          <a:noFill/>
        </p:spPr>
        <p:txBody>
          <a:bodyPr wrap="square" anchor="ctr">
            <a:spAutoFit/>
          </a:bodyPr>
          <a:lstStyle/>
          <a:p>
            <a:pPr algn="r"/>
            <a:r>
              <a:rPr sz="1100" b="1">
                <a:solidFill>
                  <a:srgbClr val="FFFFFF"/>
                </a:solidFill>
                <a:latin typeface="Calibri"/>
              </a:rPr>
              <a:t>Sold 2025</a:t>
            </a:r>
          </a:p>
        </p:txBody>
      </p:sp>
      <p:sp>
        <p:nvSpPr>
          <p:cNvPr id="29" name="TextBox 28"/>
          <p:cNvSpPr txBox="1"/>
          <p:nvPr/>
        </p:nvSpPr>
        <p:spPr>
          <a:xfrm>
            <a:off x="6876288" y="3822191"/>
            <a:ext cx="2359152" cy="329184"/>
          </a:xfrm>
          <a:prstGeom prst="rect">
            <a:avLst/>
          </a:prstGeom>
          <a:noFill/>
        </p:spPr>
        <p:txBody>
          <a:bodyPr wrap="square" anchor="ctr">
            <a:spAutoFit/>
          </a:bodyPr>
          <a:lstStyle/>
          <a:p>
            <a:pPr algn="r"/>
            <a:r>
              <a:rPr sz="1100" b="1">
                <a:solidFill>
                  <a:srgbClr val="FFFFFF"/>
                </a:solidFill>
                <a:latin typeface="Calibri"/>
              </a:rPr>
              <a:t>Expected</a:t>
            </a:r>
          </a:p>
        </p:txBody>
      </p:sp>
      <p:sp>
        <p:nvSpPr>
          <p:cNvPr id="30" name="TextBox 29"/>
          <p:cNvSpPr txBox="1"/>
          <p:nvPr/>
        </p:nvSpPr>
        <p:spPr>
          <a:xfrm>
            <a:off x="9381744" y="3822191"/>
            <a:ext cx="2359152"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31" name="TextBox 30"/>
          <p:cNvSpPr txBox="1"/>
          <p:nvPr/>
        </p:nvSpPr>
        <p:spPr>
          <a:xfrm>
            <a:off x="530352" y="4151375"/>
            <a:ext cx="3694176" cy="347472"/>
          </a:xfrm>
          <a:prstGeom prst="rect">
            <a:avLst/>
          </a:prstGeom>
          <a:noFill/>
        </p:spPr>
        <p:txBody>
          <a:bodyPr wrap="square" anchor="ctr">
            <a:spAutoFit/>
          </a:bodyPr>
          <a:lstStyle/>
          <a:p>
            <a:pPr algn="l"/>
            <a:r>
              <a:rPr sz="1300" b="1">
                <a:solidFill>
                  <a:srgbClr val="1B2733"/>
                </a:solidFill>
                <a:latin typeface="Calibri"/>
              </a:rPr>
              <a:t>Oil, ITUK to dealer</a:t>
            </a:r>
          </a:p>
        </p:txBody>
      </p:sp>
      <p:sp>
        <p:nvSpPr>
          <p:cNvPr id="32" name="TextBox 31"/>
          <p:cNvSpPr txBox="1"/>
          <p:nvPr/>
        </p:nvSpPr>
        <p:spPr>
          <a:xfrm>
            <a:off x="4370832" y="4151375"/>
            <a:ext cx="2359152" cy="347472"/>
          </a:xfrm>
          <a:prstGeom prst="rect">
            <a:avLst/>
          </a:prstGeom>
          <a:noFill/>
        </p:spPr>
        <p:txBody>
          <a:bodyPr wrap="square" anchor="ctr">
            <a:spAutoFit/>
          </a:bodyPr>
          <a:lstStyle/>
          <a:p>
            <a:pPr algn="r"/>
            <a:r>
              <a:rPr sz="1300" b="0">
                <a:solidFill>
                  <a:srgbClr val="344251"/>
                </a:solidFill>
                <a:latin typeface="Calibri"/>
              </a:rPr>
              <a:t>5,404</a:t>
            </a:r>
          </a:p>
        </p:txBody>
      </p:sp>
      <p:sp>
        <p:nvSpPr>
          <p:cNvPr id="33" name="TextBox 32"/>
          <p:cNvSpPr txBox="1"/>
          <p:nvPr/>
        </p:nvSpPr>
        <p:spPr>
          <a:xfrm>
            <a:off x="6876288" y="4151375"/>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34" name="TextBox 33"/>
          <p:cNvSpPr txBox="1"/>
          <p:nvPr/>
        </p:nvSpPr>
        <p:spPr>
          <a:xfrm>
            <a:off x="9381744" y="4151375"/>
            <a:ext cx="2359152" cy="347472"/>
          </a:xfrm>
          <a:prstGeom prst="rect">
            <a:avLst/>
          </a:prstGeom>
          <a:noFill/>
        </p:spPr>
        <p:txBody>
          <a:bodyPr wrap="square" anchor="ctr">
            <a:spAutoFit/>
          </a:bodyPr>
          <a:lstStyle/>
          <a:p>
            <a:pPr algn="r"/>
            <a:r>
              <a:rPr sz="1300" b="0">
                <a:solidFill>
                  <a:srgbClr val="344251"/>
                </a:solidFill>
                <a:latin typeface="Calibri"/>
              </a:rPr>
              <a:t>46.2%</a:t>
            </a:r>
          </a:p>
        </p:txBody>
      </p:sp>
      <p:sp>
        <p:nvSpPr>
          <p:cNvPr id="35" name="Rectangle 34"/>
          <p:cNvSpPr/>
          <p:nvPr/>
        </p:nvSpPr>
        <p:spPr>
          <a:xfrm>
            <a:off x="438912" y="4498847"/>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0352" y="4498847"/>
            <a:ext cx="3694176" cy="347472"/>
          </a:xfrm>
          <a:prstGeom prst="rect">
            <a:avLst/>
          </a:prstGeom>
          <a:noFill/>
        </p:spPr>
        <p:txBody>
          <a:bodyPr wrap="square" anchor="ctr">
            <a:spAutoFit/>
          </a:bodyPr>
          <a:lstStyle/>
          <a:p>
            <a:pPr algn="l"/>
            <a:r>
              <a:rPr sz="1300" b="1">
                <a:solidFill>
                  <a:srgbClr val="1B2733"/>
                </a:solidFill>
                <a:latin typeface="Calibri"/>
              </a:rPr>
              <a:t>Oil, ISZE to ITUK</a:t>
            </a:r>
          </a:p>
        </p:txBody>
      </p:sp>
      <p:sp>
        <p:nvSpPr>
          <p:cNvPr id="37" name="TextBox 36"/>
          <p:cNvSpPr txBox="1"/>
          <p:nvPr/>
        </p:nvSpPr>
        <p:spPr>
          <a:xfrm>
            <a:off x="4370832" y="4498847"/>
            <a:ext cx="2359152" cy="347472"/>
          </a:xfrm>
          <a:prstGeom prst="rect">
            <a:avLst/>
          </a:prstGeom>
          <a:noFill/>
        </p:spPr>
        <p:txBody>
          <a:bodyPr wrap="square" anchor="ctr">
            <a:spAutoFit/>
          </a:bodyPr>
          <a:lstStyle/>
          <a:p>
            <a:pPr algn="r"/>
            <a:r>
              <a:rPr sz="1300" b="0">
                <a:solidFill>
                  <a:srgbClr val="344251"/>
                </a:solidFill>
                <a:latin typeface="Calibri"/>
              </a:rPr>
              <a:t>4,673</a:t>
            </a:r>
          </a:p>
        </p:txBody>
      </p:sp>
      <p:sp>
        <p:nvSpPr>
          <p:cNvPr id="38" name="TextBox 37"/>
          <p:cNvSpPr txBox="1"/>
          <p:nvPr/>
        </p:nvSpPr>
        <p:spPr>
          <a:xfrm>
            <a:off x="6876288" y="4498847"/>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39" name="TextBox 38"/>
          <p:cNvSpPr txBox="1"/>
          <p:nvPr/>
        </p:nvSpPr>
        <p:spPr>
          <a:xfrm>
            <a:off x="9381744" y="4498847"/>
            <a:ext cx="2359152" cy="347472"/>
          </a:xfrm>
          <a:prstGeom prst="rect">
            <a:avLst/>
          </a:prstGeom>
          <a:noFill/>
        </p:spPr>
        <p:txBody>
          <a:bodyPr wrap="square" anchor="ctr">
            <a:spAutoFit/>
          </a:bodyPr>
          <a:lstStyle/>
          <a:p>
            <a:pPr algn="r"/>
            <a:r>
              <a:rPr sz="1300" b="0">
                <a:solidFill>
                  <a:srgbClr val="344251"/>
                </a:solidFill>
                <a:latin typeface="Calibri"/>
              </a:rPr>
              <a:t>39.9%</a:t>
            </a:r>
          </a:p>
        </p:txBody>
      </p:sp>
      <p:sp>
        <p:nvSpPr>
          <p:cNvPr id="40" name="TextBox 39"/>
          <p:cNvSpPr txBox="1"/>
          <p:nvPr/>
        </p:nvSpPr>
        <p:spPr>
          <a:xfrm>
            <a:off x="530352" y="4846319"/>
            <a:ext cx="3694176" cy="347472"/>
          </a:xfrm>
          <a:prstGeom prst="rect">
            <a:avLst/>
          </a:prstGeom>
          <a:noFill/>
        </p:spPr>
        <p:txBody>
          <a:bodyPr wrap="square" anchor="ctr">
            <a:spAutoFit/>
          </a:bodyPr>
          <a:lstStyle/>
          <a:p>
            <a:pPr algn="l"/>
            <a:r>
              <a:rPr sz="1300" b="1">
                <a:solidFill>
                  <a:srgbClr val="1B2733"/>
                </a:solidFill>
                <a:latin typeface="Calibri"/>
              </a:rPr>
              <a:t>Fuel, ITUK to dealer</a:t>
            </a:r>
          </a:p>
        </p:txBody>
      </p:sp>
      <p:sp>
        <p:nvSpPr>
          <p:cNvPr id="41" name="TextBox 40"/>
          <p:cNvSpPr txBox="1"/>
          <p:nvPr/>
        </p:nvSpPr>
        <p:spPr>
          <a:xfrm>
            <a:off x="4370832" y="4846319"/>
            <a:ext cx="2359152" cy="347472"/>
          </a:xfrm>
          <a:prstGeom prst="rect">
            <a:avLst/>
          </a:prstGeom>
          <a:noFill/>
        </p:spPr>
        <p:txBody>
          <a:bodyPr wrap="square" anchor="ctr">
            <a:spAutoFit/>
          </a:bodyPr>
          <a:lstStyle/>
          <a:p>
            <a:pPr algn="r"/>
            <a:r>
              <a:rPr sz="1300" b="0">
                <a:solidFill>
                  <a:srgbClr val="344251"/>
                </a:solidFill>
                <a:latin typeface="Calibri"/>
              </a:rPr>
              <a:t>11,139</a:t>
            </a:r>
          </a:p>
        </p:txBody>
      </p:sp>
      <p:sp>
        <p:nvSpPr>
          <p:cNvPr id="42" name="TextBox 41"/>
          <p:cNvSpPr txBox="1"/>
          <p:nvPr/>
        </p:nvSpPr>
        <p:spPr>
          <a:xfrm>
            <a:off x="6876288" y="4846319"/>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43" name="TextBox 42"/>
          <p:cNvSpPr txBox="1"/>
          <p:nvPr/>
        </p:nvSpPr>
        <p:spPr>
          <a:xfrm>
            <a:off x="9381744" y="4846319"/>
            <a:ext cx="2359152" cy="347472"/>
          </a:xfrm>
          <a:prstGeom prst="rect">
            <a:avLst/>
          </a:prstGeom>
          <a:noFill/>
        </p:spPr>
        <p:txBody>
          <a:bodyPr wrap="square" anchor="ctr">
            <a:spAutoFit/>
          </a:bodyPr>
          <a:lstStyle/>
          <a:p>
            <a:pPr algn="r"/>
            <a:r>
              <a:rPr sz="1300" b="0">
                <a:solidFill>
                  <a:srgbClr val="344251"/>
                </a:solidFill>
                <a:latin typeface="Calibri"/>
              </a:rPr>
              <a:t>95.2%</a:t>
            </a:r>
          </a:p>
        </p:txBody>
      </p:sp>
      <p:sp>
        <p:nvSpPr>
          <p:cNvPr id="44" name="Rectangle 43"/>
          <p:cNvSpPr/>
          <p:nvPr/>
        </p:nvSpPr>
        <p:spPr>
          <a:xfrm>
            <a:off x="438912" y="5193791"/>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30352" y="5193791"/>
            <a:ext cx="3694176" cy="347472"/>
          </a:xfrm>
          <a:prstGeom prst="rect">
            <a:avLst/>
          </a:prstGeom>
          <a:noFill/>
        </p:spPr>
        <p:txBody>
          <a:bodyPr wrap="square" anchor="ctr">
            <a:spAutoFit/>
          </a:bodyPr>
          <a:lstStyle/>
          <a:p>
            <a:pPr algn="l"/>
            <a:r>
              <a:rPr sz="1300" b="1">
                <a:solidFill>
                  <a:srgbClr val="1B2733"/>
                </a:solidFill>
                <a:latin typeface="Calibri"/>
              </a:rPr>
              <a:t>Air, ITUK to dealer</a:t>
            </a:r>
          </a:p>
        </p:txBody>
      </p:sp>
      <p:sp>
        <p:nvSpPr>
          <p:cNvPr id="46" name="TextBox 45"/>
          <p:cNvSpPr txBox="1"/>
          <p:nvPr/>
        </p:nvSpPr>
        <p:spPr>
          <a:xfrm>
            <a:off x="4370832" y="5193791"/>
            <a:ext cx="2359152" cy="347472"/>
          </a:xfrm>
          <a:prstGeom prst="rect">
            <a:avLst/>
          </a:prstGeom>
          <a:noFill/>
        </p:spPr>
        <p:txBody>
          <a:bodyPr wrap="square" anchor="ctr">
            <a:spAutoFit/>
          </a:bodyPr>
          <a:lstStyle/>
          <a:p>
            <a:pPr algn="r"/>
            <a:r>
              <a:rPr sz="1300" b="0">
                <a:solidFill>
                  <a:srgbClr val="344251"/>
                </a:solidFill>
                <a:latin typeface="Calibri"/>
              </a:rPr>
              <a:t>2,289</a:t>
            </a:r>
          </a:p>
        </p:txBody>
      </p:sp>
      <p:sp>
        <p:nvSpPr>
          <p:cNvPr id="47" name="TextBox 46"/>
          <p:cNvSpPr txBox="1"/>
          <p:nvPr/>
        </p:nvSpPr>
        <p:spPr>
          <a:xfrm>
            <a:off x="6876288" y="5193791"/>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48" name="TextBox 47"/>
          <p:cNvSpPr txBox="1"/>
          <p:nvPr/>
        </p:nvSpPr>
        <p:spPr>
          <a:xfrm>
            <a:off x="9381744" y="5193791"/>
            <a:ext cx="2359152" cy="347472"/>
          </a:xfrm>
          <a:prstGeom prst="rect">
            <a:avLst/>
          </a:prstGeom>
          <a:noFill/>
        </p:spPr>
        <p:txBody>
          <a:bodyPr wrap="square" anchor="ctr">
            <a:spAutoFit/>
          </a:bodyPr>
          <a:lstStyle/>
          <a:p>
            <a:pPr algn="r"/>
            <a:r>
              <a:rPr sz="1300" b="0">
                <a:solidFill>
                  <a:srgbClr val="344251"/>
                </a:solidFill>
                <a:latin typeface="Calibri"/>
              </a:rPr>
              <a:t>19.6%</a:t>
            </a:r>
          </a:p>
        </p:txBody>
      </p:sp>
      <p:sp>
        <p:nvSpPr>
          <p:cNvPr id="49" name="TextBox 48"/>
          <p:cNvSpPr txBox="1"/>
          <p:nvPr/>
        </p:nvSpPr>
        <p:spPr>
          <a:xfrm>
            <a:off x="438912" y="5650992"/>
            <a:ext cx="11338560" cy="384048"/>
          </a:xfrm>
          <a:prstGeom prst="rect">
            <a:avLst/>
          </a:prstGeom>
          <a:noFill/>
        </p:spPr>
        <p:txBody>
          <a:bodyPr wrap="square" anchor="t">
            <a:spAutoFit/>
          </a:bodyPr>
          <a:lstStyle/>
          <a:p>
            <a:pPr algn="l"/>
            <a:r>
              <a:rPr sz="1300" b="0">
                <a:solidFill>
                  <a:srgbClr val="344251"/>
                </a:solidFill>
                <a:latin typeface="Calibri"/>
              </a:rPr>
              <a:t>Same method on both layers. Pad cover uses 0.5 events a year, not 1.25. The +1% slide is different: it is 1% of actual 2025 mix, not 1% of expected services. Fuel 94% is versus N75 expected, not versus 22,389.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Price route. Pick the lower genuine or BVP.</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7</a:t>
            </a:r>
          </a:p>
        </p:txBody>
      </p:sp>
      <p:sp>
        <p:nvSpPr>
          <p:cNvPr id="9" name="TextBox 8"/>
          <p:cNvSpPr txBox="1"/>
          <p:nvPr/>
        </p:nvSpPr>
        <p:spPr>
          <a:xfrm>
            <a:off x="438912" y="1042415"/>
            <a:ext cx="11338560" cy="502920"/>
          </a:xfrm>
          <a:prstGeom prst="rect">
            <a:avLst/>
          </a:prstGeom>
          <a:noFill/>
        </p:spPr>
        <p:txBody>
          <a:bodyPr wrap="square" anchor="t">
            <a:spAutoFit/>
          </a:bodyPr>
          <a:lstStyle/>
          <a:p>
            <a:pPr algn="l"/>
            <a:r>
              <a:rPr sz="1400" b="0">
                <a:solidFill>
                  <a:srgbClr val="344251"/>
                </a:solidFill>
                <a:latin typeface="Calibri"/>
              </a:rPr>
              <a:t>Agreed with ITUK 17 August. BVP where genuine is not moving, unless an SPA on genuine comes in cheaper. On the set: genuine first, unless genuine is already cheaper than BVP.</a:t>
            </a:r>
          </a:p>
        </p:txBody>
      </p:sp>
      <p:sp>
        <p:nvSpPr>
          <p:cNvPr id="10" name="Rounded Rectangle 9"/>
          <p:cNvSpPr/>
          <p:nvPr/>
        </p:nvSpPr>
        <p:spPr>
          <a:xfrm>
            <a:off x="438912" y="166420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03504" y="195681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 y="1956816"/>
            <a:ext cx="329184" cy="329184"/>
          </a:xfrm>
          <a:prstGeom prst="rect">
            <a:avLst/>
          </a:prstGeom>
          <a:noFill/>
        </p:spPr>
        <p:txBody>
          <a:bodyPr wrap="square" anchor="ctr">
            <a:spAutoFit/>
          </a:bodyPr>
          <a:lstStyle/>
          <a:p>
            <a:pPr algn="ctr"/>
            <a:r>
              <a:rPr sz="1200" b="1">
                <a:solidFill>
                  <a:srgbClr val="FFFFFF"/>
                </a:solidFill>
                <a:latin typeface="Calibri"/>
              </a:rPr>
              <a:t>1</a:t>
            </a:r>
          </a:p>
        </p:txBody>
      </p:sp>
      <p:sp>
        <p:nvSpPr>
          <p:cNvPr id="13" name="TextBox 12"/>
          <p:cNvSpPr txBox="1"/>
          <p:nvPr/>
        </p:nvSpPr>
        <p:spPr>
          <a:xfrm>
            <a:off x="1097280" y="1773936"/>
            <a:ext cx="2011680" cy="694944"/>
          </a:xfrm>
          <a:prstGeom prst="rect">
            <a:avLst/>
          </a:prstGeom>
          <a:noFill/>
        </p:spPr>
        <p:txBody>
          <a:bodyPr wrap="square" anchor="ctr">
            <a:spAutoFit/>
          </a:bodyPr>
          <a:lstStyle/>
          <a:p>
            <a:pPr algn="l"/>
            <a:r>
              <a:rPr sz="1600" b="1">
                <a:solidFill>
                  <a:srgbClr val="1B2733"/>
                </a:solidFill>
                <a:latin typeface="Calibri"/>
              </a:rPr>
              <a:t>Fuel</a:t>
            </a:r>
          </a:p>
        </p:txBody>
      </p:sp>
      <p:sp>
        <p:nvSpPr>
          <p:cNvPr id="14" name="TextBox 13"/>
          <p:cNvSpPr txBox="1"/>
          <p:nvPr/>
        </p:nvSpPr>
        <p:spPr>
          <a:xfrm>
            <a:off x="3200400" y="1773936"/>
            <a:ext cx="3931920" cy="694944"/>
          </a:xfrm>
          <a:prstGeom prst="rect">
            <a:avLst/>
          </a:prstGeom>
          <a:noFill/>
        </p:spPr>
        <p:txBody>
          <a:bodyPr wrap="square" anchor="ctr">
            <a:spAutoFit/>
          </a:bodyPr>
          <a:lstStyle/>
          <a:p>
            <a:pPr algn="l"/>
            <a:r>
              <a:rPr sz="1400" b="0">
                <a:solidFill>
                  <a:srgbClr val="344251"/>
                </a:solidFill>
                <a:latin typeface="Calibri"/>
              </a:rPr>
              <a:t>Genuine already moves.</a:t>
            </a:r>
          </a:p>
        </p:txBody>
      </p:sp>
      <p:sp>
        <p:nvSpPr>
          <p:cNvPr id="15" name="TextBox 14"/>
          <p:cNvSpPr txBox="1"/>
          <p:nvPr/>
        </p:nvSpPr>
        <p:spPr>
          <a:xfrm>
            <a:off x="7223760" y="1773936"/>
            <a:ext cx="4297680" cy="694944"/>
          </a:xfrm>
          <a:prstGeom prst="rect">
            <a:avLst/>
          </a:prstGeom>
          <a:noFill/>
        </p:spPr>
        <p:txBody>
          <a:bodyPr wrap="square" anchor="ctr">
            <a:spAutoFit/>
          </a:bodyPr>
          <a:lstStyle/>
          <a:p>
            <a:pPr algn="l"/>
            <a:r>
              <a:rPr sz="1400" b="0">
                <a:solidFill>
                  <a:srgbClr val="1B2733"/>
                </a:solidFill>
                <a:latin typeface="Calibri"/>
              </a:rPr>
              <a:t>Keep genuine. BVP twin exists if needed.</a:t>
            </a:r>
          </a:p>
        </p:txBody>
      </p:sp>
      <p:sp>
        <p:nvSpPr>
          <p:cNvPr id="16" name="Rounded Rectangle 15"/>
          <p:cNvSpPr/>
          <p:nvPr/>
        </p:nvSpPr>
        <p:spPr>
          <a:xfrm>
            <a:off x="438912" y="267004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03504" y="296265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 y="2962656"/>
            <a:ext cx="329184" cy="329184"/>
          </a:xfrm>
          <a:prstGeom prst="rect">
            <a:avLst/>
          </a:prstGeom>
          <a:noFill/>
        </p:spPr>
        <p:txBody>
          <a:bodyPr wrap="square" anchor="ctr">
            <a:spAutoFit/>
          </a:bodyPr>
          <a:lstStyle/>
          <a:p>
            <a:pPr algn="ctr"/>
            <a:r>
              <a:rPr sz="1200" b="1">
                <a:solidFill>
                  <a:srgbClr val="FFFFFF"/>
                </a:solidFill>
                <a:latin typeface="Calibri"/>
              </a:rPr>
              <a:t>2</a:t>
            </a:r>
          </a:p>
        </p:txBody>
      </p:sp>
      <p:sp>
        <p:nvSpPr>
          <p:cNvPr id="19" name="TextBox 18"/>
          <p:cNvSpPr txBox="1"/>
          <p:nvPr/>
        </p:nvSpPr>
        <p:spPr>
          <a:xfrm>
            <a:off x="1097280" y="2779776"/>
            <a:ext cx="2011680" cy="694944"/>
          </a:xfrm>
          <a:prstGeom prst="rect">
            <a:avLst/>
          </a:prstGeom>
          <a:noFill/>
        </p:spPr>
        <p:txBody>
          <a:bodyPr wrap="square" anchor="ctr">
            <a:spAutoFit/>
          </a:bodyPr>
          <a:lstStyle/>
          <a:p>
            <a:pPr algn="l"/>
            <a:r>
              <a:rPr sz="1600" b="1">
                <a:solidFill>
                  <a:srgbClr val="1B2733"/>
                </a:solidFill>
                <a:latin typeface="Calibri"/>
              </a:rPr>
              <a:t>Air</a:t>
            </a:r>
          </a:p>
        </p:txBody>
      </p:sp>
      <p:sp>
        <p:nvSpPr>
          <p:cNvPr id="20" name="TextBox 19"/>
          <p:cNvSpPr txBox="1"/>
          <p:nvPr/>
        </p:nvSpPr>
        <p:spPr>
          <a:xfrm>
            <a:off x="3200400" y="2779776"/>
            <a:ext cx="3931920" cy="694944"/>
          </a:xfrm>
          <a:prstGeom prst="rect">
            <a:avLst/>
          </a:prstGeom>
          <a:noFill/>
        </p:spPr>
        <p:txBody>
          <a:bodyPr wrap="square" anchor="ctr">
            <a:spAutoFit/>
          </a:bodyPr>
          <a:lstStyle/>
          <a:p>
            <a:pPr algn="l"/>
            <a:r>
              <a:rPr sz="1400" b="0">
                <a:solidFill>
                  <a:srgbClr val="344251"/>
                </a:solidFill>
                <a:latin typeface="Calibri"/>
              </a:rPr>
              <a:t>Genuine cover 20 percent.</a:t>
            </a:r>
          </a:p>
        </p:txBody>
      </p:sp>
      <p:sp>
        <p:nvSpPr>
          <p:cNvPr id="21" name="TextBox 20"/>
          <p:cNvSpPr txBox="1"/>
          <p:nvPr/>
        </p:nvSpPr>
        <p:spPr>
          <a:xfrm>
            <a:off x="7223760" y="2779776"/>
            <a:ext cx="4297680" cy="694944"/>
          </a:xfrm>
          <a:prstGeom prst="rect">
            <a:avLst/>
          </a:prstGeom>
          <a:noFill/>
        </p:spPr>
        <p:txBody>
          <a:bodyPr wrap="square" anchor="ctr">
            <a:spAutoFit/>
          </a:bodyPr>
          <a:lstStyle/>
          <a:p>
            <a:pPr algn="l"/>
            <a:r>
              <a:rPr sz="1400" b="0">
                <a:solidFill>
                  <a:srgbClr val="1B2733"/>
                </a:solidFill>
                <a:latin typeface="Calibri"/>
              </a:rPr>
              <a:t>BVP 5876102500, or SPA on genuine if that is lower.</a:t>
            </a:r>
          </a:p>
        </p:txBody>
      </p:sp>
      <p:sp>
        <p:nvSpPr>
          <p:cNvPr id="22" name="Rounded Rectangle 21"/>
          <p:cNvSpPr/>
          <p:nvPr/>
        </p:nvSpPr>
        <p:spPr>
          <a:xfrm>
            <a:off x="438912" y="367588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03504" y="396849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3504" y="3968496"/>
            <a:ext cx="329184" cy="329184"/>
          </a:xfrm>
          <a:prstGeom prst="rect">
            <a:avLst/>
          </a:prstGeom>
          <a:noFill/>
        </p:spPr>
        <p:txBody>
          <a:bodyPr wrap="square" anchor="ctr">
            <a:spAutoFit/>
          </a:bodyPr>
          <a:lstStyle/>
          <a:p>
            <a:pPr algn="ctr"/>
            <a:r>
              <a:rPr sz="1200" b="1">
                <a:solidFill>
                  <a:srgbClr val="FFFFFF"/>
                </a:solidFill>
                <a:latin typeface="Calibri"/>
              </a:rPr>
              <a:t>3</a:t>
            </a:r>
          </a:p>
        </p:txBody>
      </p:sp>
      <p:sp>
        <p:nvSpPr>
          <p:cNvPr id="25" name="TextBox 24"/>
          <p:cNvSpPr txBox="1"/>
          <p:nvPr/>
        </p:nvSpPr>
        <p:spPr>
          <a:xfrm>
            <a:off x="1097280" y="3785616"/>
            <a:ext cx="2011680" cy="694944"/>
          </a:xfrm>
          <a:prstGeom prst="rect">
            <a:avLst/>
          </a:prstGeom>
          <a:noFill/>
        </p:spPr>
        <p:txBody>
          <a:bodyPr wrap="square" anchor="ctr">
            <a:spAutoFit/>
          </a:bodyPr>
          <a:lstStyle/>
          <a:p>
            <a:pPr algn="l"/>
            <a:r>
              <a:rPr sz="1600" b="1">
                <a:solidFill>
                  <a:srgbClr val="1B2733"/>
                </a:solidFill>
                <a:latin typeface="Calibri"/>
              </a:rPr>
              <a:t>Oil</a:t>
            </a:r>
          </a:p>
        </p:txBody>
      </p:sp>
      <p:sp>
        <p:nvSpPr>
          <p:cNvPr id="26" name="TextBox 25"/>
          <p:cNvSpPr txBox="1"/>
          <p:nvPr/>
        </p:nvSpPr>
        <p:spPr>
          <a:xfrm>
            <a:off x="3200400" y="3785616"/>
            <a:ext cx="3931920" cy="694944"/>
          </a:xfrm>
          <a:prstGeom prst="rect">
            <a:avLst/>
          </a:prstGeom>
          <a:noFill/>
        </p:spPr>
        <p:txBody>
          <a:bodyPr wrap="square" anchor="ctr">
            <a:spAutoFit/>
          </a:bodyPr>
          <a:lstStyle/>
          <a:p>
            <a:pPr algn="l"/>
            <a:r>
              <a:rPr sz="1400" b="0">
                <a:solidFill>
                  <a:srgbClr val="344251"/>
                </a:solidFill>
                <a:latin typeface="Calibri"/>
              </a:rPr>
              <a:t>BVP already supplied.</a:t>
            </a:r>
          </a:p>
        </p:txBody>
      </p:sp>
      <p:sp>
        <p:nvSpPr>
          <p:cNvPr id="27" name="TextBox 26"/>
          <p:cNvSpPr txBox="1"/>
          <p:nvPr/>
        </p:nvSpPr>
        <p:spPr>
          <a:xfrm>
            <a:off x="7223760" y="3785616"/>
            <a:ext cx="4297680" cy="694944"/>
          </a:xfrm>
          <a:prstGeom prst="rect">
            <a:avLst/>
          </a:prstGeom>
          <a:noFill/>
        </p:spPr>
        <p:txBody>
          <a:bodyPr wrap="square" anchor="ctr">
            <a:spAutoFit/>
          </a:bodyPr>
          <a:lstStyle/>
          <a:p>
            <a:pPr algn="l"/>
            <a:r>
              <a:rPr sz="1400" b="0">
                <a:solidFill>
                  <a:srgbClr val="1B2733"/>
                </a:solidFill>
                <a:latin typeface="Calibri"/>
              </a:rPr>
              <a:t>Stays on the set. Not a separate push.</a:t>
            </a:r>
          </a:p>
        </p:txBody>
      </p:sp>
      <p:sp>
        <p:nvSpPr>
          <p:cNvPr id="28" name="Rounded Rectangle 27"/>
          <p:cNvSpPr/>
          <p:nvPr/>
        </p:nvSpPr>
        <p:spPr>
          <a:xfrm>
            <a:off x="438912" y="468172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03504" y="497433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3504" y="4974336"/>
            <a:ext cx="329184" cy="329184"/>
          </a:xfrm>
          <a:prstGeom prst="rect">
            <a:avLst/>
          </a:prstGeom>
          <a:noFill/>
        </p:spPr>
        <p:txBody>
          <a:bodyPr wrap="square" anchor="ctr">
            <a:spAutoFit/>
          </a:bodyPr>
          <a:lstStyle/>
          <a:p>
            <a:pPr algn="ctr"/>
            <a:r>
              <a:rPr sz="1200" b="1">
                <a:solidFill>
                  <a:srgbClr val="FFFFFF"/>
                </a:solidFill>
                <a:latin typeface="Calibri"/>
              </a:rPr>
              <a:t>4</a:t>
            </a:r>
          </a:p>
        </p:txBody>
      </p:sp>
      <p:sp>
        <p:nvSpPr>
          <p:cNvPr id="31" name="TextBox 30"/>
          <p:cNvSpPr txBox="1"/>
          <p:nvPr/>
        </p:nvSpPr>
        <p:spPr>
          <a:xfrm>
            <a:off x="1097280" y="4791456"/>
            <a:ext cx="2011680" cy="694944"/>
          </a:xfrm>
          <a:prstGeom prst="rect">
            <a:avLst/>
          </a:prstGeom>
          <a:noFill/>
        </p:spPr>
        <p:txBody>
          <a:bodyPr wrap="square" anchor="ctr">
            <a:spAutoFit/>
          </a:bodyPr>
          <a:lstStyle/>
          <a:p>
            <a:pPr algn="l"/>
            <a:r>
              <a:rPr sz="1600" b="1">
                <a:solidFill>
                  <a:srgbClr val="1B2733"/>
                </a:solidFill>
                <a:latin typeface="Calibri"/>
              </a:rPr>
              <a:t>Pad</a:t>
            </a:r>
          </a:p>
        </p:txBody>
      </p:sp>
      <p:sp>
        <p:nvSpPr>
          <p:cNvPr id="32" name="TextBox 31"/>
          <p:cNvSpPr txBox="1"/>
          <p:nvPr/>
        </p:nvSpPr>
        <p:spPr>
          <a:xfrm>
            <a:off x="3200400" y="4791456"/>
            <a:ext cx="3931920" cy="694944"/>
          </a:xfrm>
          <a:prstGeom prst="rect">
            <a:avLst/>
          </a:prstGeom>
          <a:noFill/>
        </p:spPr>
        <p:txBody>
          <a:bodyPr wrap="square" anchor="ctr">
            <a:spAutoFit/>
          </a:bodyPr>
          <a:lstStyle/>
          <a:p>
            <a:pPr algn="l"/>
            <a:r>
              <a:rPr sz="1400" b="0">
                <a:solidFill>
                  <a:srgbClr val="344251"/>
                </a:solidFill>
                <a:latin typeface="Calibri"/>
              </a:rPr>
              <a:t>No BVP.</a:t>
            </a:r>
          </a:p>
        </p:txBody>
      </p:sp>
      <p:sp>
        <p:nvSpPr>
          <p:cNvPr id="33" name="TextBox 32"/>
          <p:cNvSpPr txBox="1"/>
          <p:nvPr/>
        </p:nvSpPr>
        <p:spPr>
          <a:xfrm>
            <a:off x="7223760" y="4791456"/>
            <a:ext cx="4297680" cy="694944"/>
          </a:xfrm>
          <a:prstGeom prst="rect">
            <a:avLst/>
          </a:prstGeom>
          <a:noFill/>
        </p:spPr>
        <p:txBody>
          <a:bodyPr wrap="square" anchor="ctr">
            <a:spAutoFit/>
          </a:bodyPr>
          <a:lstStyle/>
          <a:p>
            <a:pPr algn="l"/>
            <a:r>
              <a:rPr sz="1400" b="0">
                <a:solidFill>
                  <a:srgbClr val="1B2733"/>
                </a:solidFill>
                <a:latin typeface="Calibri"/>
              </a:rPr>
              <a:t>SPA on genuine only, and only when the job needs the pad.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One scheduled service. Three filters.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8</a:t>
            </a:r>
          </a:p>
        </p:txBody>
      </p:sp>
      <p:sp>
        <p:nvSpPr>
          <p:cNvPr id="9" name="TextBox 8"/>
          <p:cNvSpPr txBox="1"/>
          <p:nvPr/>
        </p:nvSpPr>
        <p:spPr>
          <a:xfrm>
            <a:off x="438912" y="1042415"/>
            <a:ext cx="11338560" cy="457200"/>
          </a:xfrm>
          <a:prstGeom prst="rect">
            <a:avLst/>
          </a:prstGeom>
          <a:noFill/>
        </p:spPr>
        <p:txBody>
          <a:bodyPr wrap="square" anchor="t">
            <a:spAutoFit/>
          </a:bodyPr>
          <a:lstStyle/>
          <a:p>
            <a:pPr algn="l"/>
            <a:r>
              <a:rPr sz="1400" b="0">
                <a:solidFill>
                  <a:srgbClr val="344251"/>
                </a:solidFill>
                <a:latin typeface="Calibri"/>
              </a:rPr>
              <a:t>Genuine set first. BVP only if genuine does not take, or if genuine is not the lower price. Air is the large piece of the bar. That is the attach on a visit that already happens.</a:t>
            </a:r>
          </a:p>
        </p:txBody>
      </p:sp>
      <p:pic>
        <p:nvPicPr>
          <p:cNvPr id="10" name="Picture 9" descr="set.png"/>
          <p:cNvPicPr>
            <a:picLocks noChangeAspect="1"/>
          </p:cNvPicPr>
          <p:nvPr/>
        </p:nvPicPr>
        <p:blipFill>
          <a:blip r:embed="rId3"/>
          <a:stretch>
            <a:fillRect/>
          </a:stretch>
        </p:blipFill>
        <p:spPr>
          <a:xfrm>
            <a:off x="438912" y="1481328"/>
            <a:ext cx="11356848" cy="2395728"/>
          </a:xfrm>
          <a:prstGeom prst="rect">
            <a:avLst/>
          </a:prstGeom>
        </p:spPr>
      </p:pic>
      <p:sp>
        <p:nvSpPr>
          <p:cNvPr id="11" name="Rectangle 10"/>
          <p:cNvSpPr/>
          <p:nvPr/>
        </p:nvSpPr>
        <p:spPr>
          <a:xfrm>
            <a:off x="438912" y="3950208"/>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3950208"/>
            <a:ext cx="2688336" cy="329184"/>
          </a:xfrm>
          <a:prstGeom prst="rect">
            <a:avLst/>
          </a:prstGeom>
          <a:noFill/>
        </p:spPr>
        <p:txBody>
          <a:bodyPr wrap="square" anchor="ctr">
            <a:spAutoFit/>
          </a:bodyPr>
          <a:lstStyle/>
          <a:p>
            <a:pPr algn="l"/>
            <a:r>
              <a:rPr sz="1100" b="1">
                <a:solidFill>
                  <a:srgbClr val="FFFFFF"/>
                </a:solidFill>
                <a:latin typeface="Calibri"/>
              </a:rPr>
              <a:t/>
            </a:r>
          </a:p>
        </p:txBody>
      </p:sp>
      <p:sp>
        <p:nvSpPr>
          <p:cNvPr id="13" name="TextBox 12"/>
          <p:cNvSpPr txBox="1"/>
          <p:nvPr/>
        </p:nvSpPr>
        <p:spPr>
          <a:xfrm>
            <a:off x="3364992" y="3950208"/>
            <a:ext cx="1984248" cy="329184"/>
          </a:xfrm>
          <a:prstGeom prst="rect">
            <a:avLst/>
          </a:prstGeom>
          <a:noFill/>
        </p:spPr>
        <p:txBody>
          <a:bodyPr wrap="square" anchor="ctr">
            <a:spAutoFit/>
          </a:bodyPr>
          <a:lstStyle/>
          <a:p>
            <a:pPr algn="r"/>
            <a:r>
              <a:rPr sz="1100" b="1">
                <a:solidFill>
                  <a:srgbClr val="FFFFFF"/>
                </a:solidFill>
                <a:latin typeface="Calibri"/>
              </a:rPr>
              <a:t>Oil</a:t>
            </a:r>
          </a:p>
        </p:txBody>
      </p:sp>
      <p:sp>
        <p:nvSpPr>
          <p:cNvPr id="14" name="TextBox 13"/>
          <p:cNvSpPr txBox="1"/>
          <p:nvPr/>
        </p:nvSpPr>
        <p:spPr>
          <a:xfrm>
            <a:off x="5495544" y="3950208"/>
            <a:ext cx="1984248" cy="329184"/>
          </a:xfrm>
          <a:prstGeom prst="rect">
            <a:avLst/>
          </a:prstGeom>
          <a:noFill/>
        </p:spPr>
        <p:txBody>
          <a:bodyPr wrap="square" anchor="ctr">
            <a:spAutoFit/>
          </a:bodyPr>
          <a:lstStyle/>
          <a:p>
            <a:pPr algn="r"/>
            <a:r>
              <a:rPr sz="1100" b="1">
                <a:solidFill>
                  <a:srgbClr val="FFFFFF"/>
                </a:solidFill>
                <a:latin typeface="Calibri"/>
              </a:rPr>
              <a:t>Fuel</a:t>
            </a:r>
          </a:p>
        </p:txBody>
      </p:sp>
      <p:sp>
        <p:nvSpPr>
          <p:cNvPr id="15" name="TextBox 14"/>
          <p:cNvSpPr txBox="1"/>
          <p:nvPr/>
        </p:nvSpPr>
        <p:spPr>
          <a:xfrm>
            <a:off x="7626096" y="3950208"/>
            <a:ext cx="1984248" cy="329184"/>
          </a:xfrm>
          <a:prstGeom prst="rect">
            <a:avLst/>
          </a:prstGeom>
          <a:noFill/>
        </p:spPr>
        <p:txBody>
          <a:bodyPr wrap="square" anchor="ctr">
            <a:spAutoFit/>
          </a:bodyPr>
          <a:lstStyle/>
          <a:p>
            <a:pPr algn="r"/>
            <a:r>
              <a:rPr sz="1100" b="1">
                <a:solidFill>
                  <a:srgbClr val="FFFFFF"/>
                </a:solidFill>
                <a:latin typeface="Calibri"/>
              </a:rPr>
              <a:t>Air</a:t>
            </a:r>
          </a:p>
        </p:txBody>
      </p:sp>
      <p:sp>
        <p:nvSpPr>
          <p:cNvPr id="16" name="TextBox 15"/>
          <p:cNvSpPr txBox="1"/>
          <p:nvPr/>
        </p:nvSpPr>
        <p:spPr>
          <a:xfrm>
            <a:off x="9756648" y="3950208"/>
            <a:ext cx="1984248" cy="329184"/>
          </a:xfrm>
          <a:prstGeom prst="rect">
            <a:avLst/>
          </a:prstGeom>
          <a:noFill/>
        </p:spPr>
        <p:txBody>
          <a:bodyPr wrap="square" anchor="ctr">
            <a:spAutoFit/>
          </a:bodyPr>
          <a:lstStyle/>
          <a:p>
            <a:pPr algn="r"/>
            <a:r>
              <a:rPr sz="1100" b="1">
                <a:solidFill>
                  <a:srgbClr val="FFFFFF"/>
                </a:solidFill>
                <a:latin typeface="Calibri"/>
              </a:rPr>
              <a:t>Set</a:t>
            </a:r>
          </a:p>
        </p:txBody>
      </p:sp>
      <p:sp>
        <p:nvSpPr>
          <p:cNvPr id="17" name="TextBox 16"/>
          <p:cNvSpPr txBox="1"/>
          <p:nvPr/>
        </p:nvSpPr>
        <p:spPr>
          <a:xfrm>
            <a:off x="530352" y="4279392"/>
            <a:ext cx="2688336" cy="347472"/>
          </a:xfrm>
          <a:prstGeom prst="rect">
            <a:avLst/>
          </a:prstGeom>
          <a:noFill/>
        </p:spPr>
        <p:txBody>
          <a:bodyPr wrap="square" anchor="ctr">
            <a:spAutoFit/>
          </a:bodyPr>
          <a:lstStyle/>
          <a:p>
            <a:pPr algn="l"/>
            <a:r>
              <a:rPr sz="1300" b="1">
                <a:solidFill>
                  <a:srgbClr val="1B2733"/>
                </a:solidFill>
                <a:latin typeface="Calibri"/>
              </a:rPr>
              <a:t>Genuine PN</a:t>
            </a:r>
          </a:p>
        </p:txBody>
      </p:sp>
      <p:sp>
        <p:nvSpPr>
          <p:cNvPr id="18" name="TextBox 17"/>
          <p:cNvSpPr txBox="1"/>
          <p:nvPr/>
        </p:nvSpPr>
        <p:spPr>
          <a:xfrm>
            <a:off x="3364992" y="4279392"/>
            <a:ext cx="1984248" cy="347472"/>
          </a:xfrm>
          <a:prstGeom prst="rect">
            <a:avLst/>
          </a:prstGeom>
          <a:noFill/>
        </p:spPr>
        <p:txBody>
          <a:bodyPr wrap="square" anchor="ctr">
            <a:spAutoFit/>
          </a:bodyPr>
          <a:lstStyle/>
          <a:p>
            <a:pPr algn="r"/>
            <a:r>
              <a:rPr sz="1300" b="0">
                <a:solidFill>
                  <a:srgbClr val="344251"/>
                </a:solidFill>
                <a:latin typeface="Calibri"/>
              </a:rPr>
              <a:t>8983282070</a:t>
            </a:r>
          </a:p>
        </p:txBody>
      </p:sp>
      <p:sp>
        <p:nvSpPr>
          <p:cNvPr id="19" name="TextBox 18"/>
          <p:cNvSpPr txBox="1"/>
          <p:nvPr/>
        </p:nvSpPr>
        <p:spPr>
          <a:xfrm>
            <a:off x="5495544" y="4279392"/>
            <a:ext cx="1984248" cy="347472"/>
          </a:xfrm>
          <a:prstGeom prst="rect">
            <a:avLst/>
          </a:prstGeom>
          <a:noFill/>
        </p:spPr>
        <p:txBody>
          <a:bodyPr wrap="square" anchor="ctr">
            <a:spAutoFit/>
          </a:bodyPr>
          <a:lstStyle/>
          <a:p>
            <a:pPr algn="r"/>
            <a:r>
              <a:rPr sz="1300" b="0">
                <a:solidFill>
                  <a:srgbClr val="344251"/>
                </a:solidFill>
                <a:latin typeface="Calibri"/>
              </a:rPr>
              <a:t>8975425400</a:t>
            </a:r>
          </a:p>
        </p:txBody>
      </p:sp>
      <p:sp>
        <p:nvSpPr>
          <p:cNvPr id="20" name="TextBox 19"/>
          <p:cNvSpPr txBox="1"/>
          <p:nvPr/>
        </p:nvSpPr>
        <p:spPr>
          <a:xfrm>
            <a:off x="7626096" y="4279392"/>
            <a:ext cx="1984248" cy="347472"/>
          </a:xfrm>
          <a:prstGeom prst="rect">
            <a:avLst/>
          </a:prstGeom>
          <a:noFill/>
        </p:spPr>
        <p:txBody>
          <a:bodyPr wrap="square" anchor="ctr">
            <a:spAutoFit/>
          </a:bodyPr>
          <a:lstStyle/>
          <a:p>
            <a:pPr algn="r"/>
            <a:r>
              <a:rPr sz="1300" b="0">
                <a:solidFill>
                  <a:srgbClr val="344251"/>
                </a:solidFill>
                <a:latin typeface="Calibri"/>
              </a:rPr>
              <a:t>8981772710</a:t>
            </a:r>
          </a:p>
        </p:txBody>
      </p:sp>
      <p:sp>
        <p:nvSpPr>
          <p:cNvPr id="21" name="TextBox 20"/>
          <p:cNvSpPr txBox="1"/>
          <p:nvPr/>
        </p:nvSpPr>
        <p:spPr>
          <a:xfrm>
            <a:off x="9756648" y="4279392"/>
            <a:ext cx="1984248" cy="347472"/>
          </a:xfrm>
          <a:prstGeom prst="rect">
            <a:avLst/>
          </a:prstGeom>
          <a:noFill/>
        </p:spPr>
        <p:txBody>
          <a:bodyPr wrap="square" anchor="ctr">
            <a:spAutoFit/>
          </a:bodyPr>
          <a:lstStyle/>
          <a:p>
            <a:pPr algn="r"/>
            <a:r>
              <a:rPr sz="1300" b="0">
                <a:solidFill>
                  <a:srgbClr val="344251"/>
                </a:solidFill>
                <a:latin typeface="Calibri"/>
              </a:rPr>
              <a:t>three lines</a:t>
            </a:r>
          </a:p>
        </p:txBody>
      </p:sp>
      <p:sp>
        <p:nvSpPr>
          <p:cNvPr id="22" name="Rectangle 21"/>
          <p:cNvSpPr/>
          <p:nvPr/>
        </p:nvSpPr>
        <p:spPr>
          <a:xfrm>
            <a:off x="438912" y="4626864"/>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 y="4626864"/>
            <a:ext cx="2688336" cy="347472"/>
          </a:xfrm>
          <a:prstGeom prst="rect">
            <a:avLst/>
          </a:prstGeom>
          <a:noFill/>
        </p:spPr>
        <p:txBody>
          <a:bodyPr wrap="square" anchor="ctr">
            <a:spAutoFit/>
          </a:bodyPr>
          <a:lstStyle/>
          <a:p>
            <a:pPr algn="l"/>
            <a:r>
              <a:rPr sz="1300" b="1">
                <a:solidFill>
                  <a:srgbClr val="1B2733"/>
                </a:solidFill>
                <a:latin typeface="Calibri"/>
              </a:rPr>
              <a:t>ISZE to ITUK EUR</a:t>
            </a:r>
          </a:p>
        </p:txBody>
      </p:sp>
      <p:sp>
        <p:nvSpPr>
          <p:cNvPr id="24" name="TextBox 23"/>
          <p:cNvSpPr txBox="1"/>
          <p:nvPr/>
        </p:nvSpPr>
        <p:spPr>
          <a:xfrm>
            <a:off x="3364992" y="4626864"/>
            <a:ext cx="1984248" cy="347472"/>
          </a:xfrm>
          <a:prstGeom prst="rect">
            <a:avLst/>
          </a:prstGeom>
          <a:noFill/>
        </p:spPr>
        <p:txBody>
          <a:bodyPr wrap="square" anchor="ctr">
            <a:spAutoFit/>
          </a:bodyPr>
          <a:lstStyle/>
          <a:p>
            <a:pPr algn="r"/>
            <a:r>
              <a:rPr sz="1300" b="0">
                <a:solidFill>
                  <a:srgbClr val="344251"/>
                </a:solidFill>
                <a:latin typeface="Calibri"/>
              </a:rPr>
              <a:t>14.45</a:t>
            </a:r>
          </a:p>
        </p:txBody>
      </p:sp>
      <p:sp>
        <p:nvSpPr>
          <p:cNvPr id="25" name="TextBox 24"/>
          <p:cNvSpPr txBox="1"/>
          <p:nvPr/>
        </p:nvSpPr>
        <p:spPr>
          <a:xfrm>
            <a:off x="5495544" y="4626864"/>
            <a:ext cx="1984248" cy="347472"/>
          </a:xfrm>
          <a:prstGeom prst="rect">
            <a:avLst/>
          </a:prstGeom>
          <a:noFill/>
        </p:spPr>
        <p:txBody>
          <a:bodyPr wrap="square" anchor="ctr">
            <a:spAutoFit/>
          </a:bodyPr>
          <a:lstStyle/>
          <a:p>
            <a:pPr algn="r"/>
            <a:r>
              <a:rPr sz="1300" b="0">
                <a:solidFill>
                  <a:srgbClr val="344251"/>
                </a:solidFill>
                <a:latin typeface="Calibri"/>
              </a:rPr>
              <a:t>12.56</a:t>
            </a:r>
          </a:p>
        </p:txBody>
      </p:sp>
      <p:sp>
        <p:nvSpPr>
          <p:cNvPr id="26" name="TextBox 25"/>
          <p:cNvSpPr txBox="1"/>
          <p:nvPr/>
        </p:nvSpPr>
        <p:spPr>
          <a:xfrm>
            <a:off x="7626096" y="4626864"/>
            <a:ext cx="1984248" cy="347472"/>
          </a:xfrm>
          <a:prstGeom prst="rect">
            <a:avLst/>
          </a:prstGeom>
          <a:noFill/>
        </p:spPr>
        <p:txBody>
          <a:bodyPr wrap="square" anchor="ctr">
            <a:spAutoFit/>
          </a:bodyPr>
          <a:lstStyle/>
          <a:p>
            <a:pPr algn="r"/>
            <a:r>
              <a:rPr sz="1300" b="0">
                <a:solidFill>
                  <a:srgbClr val="344251"/>
                </a:solidFill>
                <a:latin typeface="Calibri"/>
              </a:rPr>
              <a:t>31.36</a:t>
            </a:r>
          </a:p>
        </p:txBody>
      </p:sp>
      <p:sp>
        <p:nvSpPr>
          <p:cNvPr id="27" name="TextBox 26"/>
          <p:cNvSpPr txBox="1"/>
          <p:nvPr/>
        </p:nvSpPr>
        <p:spPr>
          <a:xfrm>
            <a:off x="9756648" y="4626864"/>
            <a:ext cx="1984248" cy="347472"/>
          </a:xfrm>
          <a:prstGeom prst="rect">
            <a:avLst/>
          </a:prstGeom>
          <a:noFill/>
        </p:spPr>
        <p:txBody>
          <a:bodyPr wrap="square" anchor="ctr">
            <a:spAutoFit/>
          </a:bodyPr>
          <a:lstStyle/>
          <a:p>
            <a:pPr algn="r"/>
            <a:r>
              <a:rPr sz="1300" b="0">
                <a:solidFill>
                  <a:srgbClr val="344251"/>
                </a:solidFill>
                <a:latin typeface="Calibri"/>
              </a:rPr>
              <a:t>58.37</a:t>
            </a:r>
          </a:p>
        </p:txBody>
      </p:sp>
      <p:sp>
        <p:nvSpPr>
          <p:cNvPr id="28" name="TextBox 27"/>
          <p:cNvSpPr txBox="1"/>
          <p:nvPr/>
        </p:nvSpPr>
        <p:spPr>
          <a:xfrm>
            <a:off x="530352" y="4974336"/>
            <a:ext cx="2688336" cy="347472"/>
          </a:xfrm>
          <a:prstGeom prst="rect">
            <a:avLst/>
          </a:prstGeom>
          <a:noFill/>
        </p:spPr>
        <p:txBody>
          <a:bodyPr wrap="square" anchor="ctr">
            <a:spAutoFit/>
          </a:bodyPr>
          <a:lstStyle/>
          <a:p>
            <a:pPr algn="l"/>
            <a:r>
              <a:rPr sz="1300" b="1">
                <a:solidFill>
                  <a:srgbClr val="1B2733"/>
                </a:solidFill>
                <a:latin typeface="Calibri"/>
              </a:rPr>
              <a:t>Projected to dealers EUR</a:t>
            </a:r>
          </a:p>
        </p:txBody>
      </p:sp>
      <p:sp>
        <p:nvSpPr>
          <p:cNvPr id="29" name="TextBox 28"/>
          <p:cNvSpPr txBox="1"/>
          <p:nvPr/>
        </p:nvSpPr>
        <p:spPr>
          <a:xfrm>
            <a:off x="3364992" y="4974336"/>
            <a:ext cx="1984248" cy="347472"/>
          </a:xfrm>
          <a:prstGeom prst="rect">
            <a:avLst/>
          </a:prstGeom>
          <a:noFill/>
        </p:spPr>
        <p:txBody>
          <a:bodyPr wrap="square" anchor="ctr">
            <a:spAutoFit/>
          </a:bodyPr>
          <a:lstStyle/>
          <a:p>
            <a:pPr algn="r"/>
            <a:r>
              <a:rPr sz="1300" b="0">
                <a:solidFill>
                  <a:srgbClr val="344251"/>
                </a:solidFill>
                <a:latin typeface="Calibri"/>
              </a:rPr>
              <a:t>20.23</a:t>
            </a:r>
          </a:p>
        </p:txBody>
      </p:sp>
      <p:sp>
        <p:nvSpPr>
          <p:cNvPr id="30" name="TextBox 29"/>
          <p:cNvSpPr txBox="1"/>
          <p:nvPr/>
        </p:nvSpPr>
        <p:spPr>
          <a:xfrm>
            <a:off x="5495544" y="4974336"/>
            <a:ext cx="1984248" cy="347472"/>
          </a:xfrm>
          <a:prstGeom prst="rect">
            <a:avLst/>
          </a:prstGeom>
          <a:noFill/>
        </p:spPr>
        <p:txBody>
          <a:bodyPr wrap="square" anchor="ctr">
            <a:spAutoFit/>
          </a:bodyPr>
          <a:lstStyle/>
          <a:p>
            <a:pPr algn="r"/>
            <a:r>
              <a:rPr sz="1300" b="0">
                <a:solidFill>
                  <a:srgbClr val="344251"/>
                </a:solidFill>
                <a:latin typeface="Calibri"/>
              </a:rPr>
              <a:t>17.58</a:t>
            </a:r>
          </a:p>
        </p:txBody>
      </p:sp>
      <p:sp>
        <p:nvSpPr>
          <p:cNvPr id="31" name="TextBox 30"/>
          <p:cNvSpPr txBox="1"/>
          <p:nvPr/>
        </p:nvSpPr>
        <p:spPr>
          <a:xfrm>
            <a:off x="7626096" y="4974336"/>
            <a:ext cx="1984248" cy="347472"/>
          </a:xfrm>
          <a:prstGeom prst="rect">
            <a:avLst/>
          </a:prstGeom>
          <a:noFill/>
        </p:spPr>
        <p:txBody>
          <a:bodyPr wrap="square" anchor="ctr">
            <a:spAutoFit/>
          </a:bodyPr>
          <a:lstStyle/>
          <a:p>
            <a:pPr algn="r"/>
            <a:r>
              <a:rPr sz="1300" b="0">
                <a:solidFill>
                  <a:srgbClr val="344251"/>
                </a:solidFill>
                <a:latin typeface="Calibri"/>
              </a:rPr>
              <a:t>43.90</a:t>
            </a:r>
          </a:p>
        </p:txBody>
      </p:sp>
      <p:sp>
        <p:nvSpPr>
          <p:cNvPr id="32" name="TextBox 31"/>
          <p:cNvSpPr txBox="1"/>
          <p:nvPr/>
        </p:nvSpPr>
        <p:spPr>
          <a:xfrm>
            <a:off x="9756648" y="4974336"/>
            <a:ext cx="1984248" cy="347472"/>
          </a:xfrm>
          <a:prstGeom prst="rect">
            <a:avLst/>
          </a:prstGeom>
          <a:noFill/>
        </p:spPr>
        <p:txBody>
          <a:bodyPr wrap="square" anchor="ctr">
            <a:spAutoFit/>
          </a:bodyPr>
          <a:lstStyle/>
          <a:p>
            <a:pPr algn="r"/>
            <a:r>
              <a:rPr sz="1300" b="0">
                <a:solidFill>
                  <a:srgbClr val="344251"/>
                </a:solidFill>
                <a:latin typeface="Calibri"/>
              </a:rPr>
              <a:t>81.72</a:t>
            </a:r>
          </a:p>
        </p:txBody>
      </p:sp>
      <p:sp>
        <p:nvSpPr>
          <p:cNvPr id="33" name="Rectangle 32"/>
          <p:cNvSpPr/>
          <p:nvPr/>
        </p:nvSpPr>
        <p:spPr>
          <a:xfrm>
            <a:off x="438912" y="5321808"/>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0352" y="5321808"/>
            <a:ext cx="2688336" cy="347472"/>
          </a:xfrm>
          <a:prstGeom prst="rect">
            <a:avLst/>
          </a:prstGeom>
          <a:noFill/>
        </p:spPr>
        <p:txBody>
          <a:bodyPr wrap="square" anchor="ctr">
            <a:spAutoFit/>
          </a:bodyPr>
          <a:lstStyle/>
          <a:p>
            <a:pPr algn="l"/>
            <a:r>
              <a:rPr sz="1300" b="1">
                <a:solidFill>
                  <a:srgbClr val="1B2733"/>
                </a:solidFill>
                <a:latin typeface="Calibri"/>
              </a:rPr>
              <a:t>BVP PN</a:t>
            </a:r>
          </a:p>
        </p:txBody>
      </p:sp>
      <p:sp>
        <p:nvSpPr>
          <p:cNvPr id="35" name="TextBox 34"/>
          <p:cNvSpPr txBox="1"/>
          <p:nvPr/>
        </p:nvSpPr>
        <p:spPr>
          <a:xfrm>
            <a:off x="3364992" y="5321808"/>
            <a:ext cx="1984248" cy="347472"/>
          </a:xfrm>
          <a:prstGeom prst="rect">
            <a:avLst/>
          </a:prstGeom>
          <a:noFill/>
        </p:spPr>
        <p:txBody>
          <a:bodyPr wrap="square" anchor="ctr">
            <a:spAutoFit/>
          </a:bodyPr>
          <a:lstStyle/>
          <a:p>
            <a:pPr algn="r"/>
            <a:r>
              <a:rPr sz="1300" b="0">
                <a:solidFill>
                  <a:srgbClr val="344251"/>
                </a:solidFill>
                <a:latin typeface="Calibri"/>
              </a:rPr>
              <a:t>1876102890</a:t>
            </a:r>
          </a:p>
        </p:txBody>
      </p:sp>
      <p:sp>
        <p:nvSpPr>
          <p:cNvPr id="36" name="TextBox 35"/>
          <p:cNvSpPr txBox="1"/>
          <p:nvPr/>
        </p:nvSpPr>
        <p:spPr>
          <a:xfrm>
            <a:off x="5495544" y="5321808"/>
            <a:ext cx="1984248" cy="347472"/>
          </a:xfrm>
          <a:prstGeom prst="rect">
            <a:avLst/>
          </a:prstGeom>
          <a:noFill/>
        </p:spPr>
        <p:txBody>
          <a:bodyPr wrap="square" anchor="ctr">
            <a:spAutoFit/>
          </a:bodyPr>
          <a:lstStyle/>
          <a:p>
            <a:pPr algn="r"/>
            <a:r>
              <a:rPr sz="1300" b="0">
                <a:solidFill>
                  <a:srgbClr val="344251"/>
                </a:solidFill>
                <a:latin typeface="Calibri"/>
              </a:rPr>
              <a:t>1876102860</a:t>
            </a:r>
          </a:p>
        </p:txBody>
      </p:sp>
      <p:sp>
        <p:nvSpPr>
          <p:cNvPr id="37" name="TextBox 36"/>
          <p:cNvSpPr txBox="1"/>
          <p:nvPr/>
        </p:nvSpPr>
        <p:spPr>
          <a:xfrm>
            <a:off x="7626096" y="5321808"/>
            <a:ext cx="1984248" cy="347472"/>
          </a:xfrm>
          <a:prstGeom prst="rect">
            <a:avLst/>
          </a:prstGeom>
          <a:noFill/>
        </p:spPr>
        <p:txBody>
          <a:bodyPr wrap="square" anchor="ctr">
            <a:spAutoFit/>
          </a:bodyPr>
          <a:lstStyle/>
          <a:p>
            <a:pPr algn="r"/>
            <a:r>
              <a:rPr sz="1300" b="0">
                <a:solidFill>
                  <a:srgbClr val="344251"/>
                </a:solidFill>
                <a:latin typeface="Calibri"/>
              </a:rPr>
              <a:t>5876102500</a:t>
            </a:r>
          </a:p>
        </p:txBody>
      </p:sp>
      <p:sp>
        <p:nvSpPr>
          <p:cNvPr id="38" name="TextBox 37"/>
          <p:cNvSpPr txBox="1"/>
          <p:nvPr/>
        </p:nvSpPr>
        <p:spPr>
          <a:xfrm>
            <a:off x="9756648" y="5321808"/>
            <a:ext cx="1984248" cy="347472"/>
          </a:xfrm>
          <a:prstGeom prst="rect">
            <a:avLst/>
          </a:prstGeom>
          <a:noFill/>
        </p:spPr>
        <p:txBody>
          <a:bodyPr wrap="square" anchor="ctr">
            <a:spAutoFit/>
          </a:bodyPr>
          <a:lstStyle/>
          <a:p>
            <a:pPr algn="r"/>
            <a:r>
              <a:rPr sz="1300" b="0">
                <a:solidFill>
                  <a:srgbClr val="344251"/>
                </a:solidFill>
                <a:latin typeface="Calibri"/>
              </a:rPr>
              <a:t>if needed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Urea filter kit stays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9</a:t>
            </a:r>
          </a:p>
        </p:txBody>
      </p:sp>
      <p:sp>
        <p:nvSpPr>
          <p:cNvPr id="9" name="TextBox 8"/>
          <p:cNvSpPr txBox="1"/>
          <p:nvPr/>
        </p:nvSpPr>
        <p:spPr>
          <a:xfrm>
            <a:off x="438912" y="1042415"/>
            <a:ext cx="11338560" cy="438912"/>
          </a:xfrm>
          <a:prstGeom prst="rect">
            <a:avLst/>
          </a:prstGeom>
          <a:noFill/>
        </p:spPr>
        <p:txBody>
          <a:bodyPr wrap="square" anchor="t">
            <a:spAutoFit/>
          </a:bodyPr>
          <a:lstStyle/>
          <a:p>
            <a:pPr algn="l"/>
            <a:r>
              <a:rPr sz="1400" b="0">
                <a:solidFill>
                  <a:srgbClr val="344251"/>
                </a:solidFill>
                <a:latin typeface="Calibri"/>
              </a:rPr>
              <a:t>ITUK asked to keep it. Stays. Not a maybe. Not on the 56 PMS part numbers. Separate line. The item is the DEF pump filter kit, not bulk fluid.</a:t>
            </a:r>
          </a:p>
        </p:txBody>
      </p:sp>
      <p:sp>
        <p:nvSpPr>
          <p:cNvPr id="10" name="Rounded Rectangle 9"/>
          <p:cNvSpPr/>
          <p:nvPr/>
        </p:nvSpPr>
        <p:spPr>
          <a:xfrm>
            <a:off x="438912" y="1554480"/>
            <a:ext cx="5577840" cy="20116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 y="1554480"/>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1719072"/>
            <a:ext cx="5285232" cy="292608"/>
          </a:xfrm>
          <a:prstGeom prst="rect">
            <a:avLst/>
          </a:prstGeom>
          <a:noFill/>
        </p:spPr>
        <p:txBody>
          <a:bodyPr wrap="square" anchor="t">
            <a:spAutoFit/>
          </a:bodyPr>
          <a:lstStyle/>
          <a:p>
            <a:pPr algn="l"/>
            <a:r>
              <a:rPr sz="1600" b="1">
                <a:solidFill>
                  <a:srgbClr val="1B2733"/>
                </a:solidFill>
                <a:latin typeface="Calibri"/>
              </a:rPr>
              <a:t>Genuine  8983507161</a:t>
            </a:r>
          </a:p>
        </p:txBody>
      </p:sp>
      <p:sp>
        <p:nvSpPr>
          <p:cNvPr id="13" name="TextBox 12"/>
          <p:cNvSpPr txBox="1"/>
          <p:nvPr/>
        </p:nvSpPr>
        <p:spPr>
          <a:xfrm>
            <a:off x="585216" y="2011680"/>
            <a:ext cx="5285232" cy="256032"/>
          </a:xfrm>
          <a:prstGeom prst="rect">
            <a:avLst/>
          </a:prstGeom>
          <a:noFill/>
        </p:spPr>
        <p:txBody>
          <a:bodyPr wrap="square" anchor="t">
            <a:spAutoFit/>
          </a:bodyPr>
          <a:lstStyle/>
          <a:p>
            <a:pPr algn="l"/>
            <a:r>
              <a:rPr sz="1200" b="1">
                <a:solidFill>
                  <a:srgbClr val="ED1C24"/>
                </a:solidFill>
                <a:latin typeface="Calibri"/>
              </a:rPr>
              <a:t>The live kit</a:t>
            </a:r>
          </a:p>
        </p:txBody>
      </p:sp>
      <p:sp>
        <p:nvSpPr>
          <p:cNvPr id="14" name="TextBox 13"/>
          <p:cNvSpPr txBox="1"/>
          <p:nvPr/>
        </p:nvSpPr>
        <p:spPr>
          <a:xfrm>
            <a:off x="585216" y="2304288"/>
            <a:ext cx="5285232" cy="1133856"/>
          </a:xfrm>
          <a:prstGeom prst="rect">
            <a:avLst/>
          </a:prstGeom>
          <a:noFill/>
        </p:spPr>
        <p:txBody>
          <a:bodyPr wrap="square" anchor="t">
            <a:spAutoFit/>
          </a:bodyPr>
          <a:lstStyle/>
          <a:p>
            <a:pPr algn="l"/>
            <a:r>
              <a:rPr sz="1200" b="0">
                <a:solidFill>
                  <a:srgbClr val="344251"/>
                </a:solidFill>
                <a:latin typeface="Calibri"/>
              </a:rPr>
              <a:t>Keep genuine first. Projected ITUK to dealers about EUR 99 at 1.40.</a:t>
            </a:r>
          </a:p>
        </p:txBody>
      </p:sp>
      <p:sp>
        <p:nvSpPr>
          <p:cNvPr id="15" name="Rounded Rectangle 14"/>
          <p:cNvSpPr/>
          <p:nvPr/>
        </p:nvSpPr>
        <p:spPr>
          <a:xfrm>
            <a:off x="6217920" y="1554480"/>
            <a:ext cx="5577840" cy="20116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1554480"/>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64224" y="1719072"/>
            <a:ext cx="5285232" cy="292608"/>
          </a:xfrm>
          <a:prstGeom prst="rect">
            <a:avLst/>
          </a:prstGeom>
          <a:noFill/>
        </p:spPr>
        <p:txBody>
          <a:bodyPr wrap="square" anchor="t">
            <a:spAutoFit/>
          </a:bodyPr>
          <a:lstStyle/>
          <a:p>
            <a:pPr algn="l"/>
            <a:r>
              <a:rPr sz="1600" b="1">
                <a:solidFill>
                  <a:srgbClr val="1B2733"/>
                </a:solidFill>
                <a:latin typeface="Calibri"/>
              </a:rPr>
              <a:t>BVP  1876102341</a:t>
            </a:r>
          </a:p>
        </p:txBody>
      </p:sp>
      <p:sp>
        <p:nvSpPr>
          <p:cNvPr id="18" name="TextBox 17"/>
          <p:cNvSpPr txBox="1"/>
          <p:nvPr/>
        </p:nvSpPr>
        <p:spPr>
          <a:xfrm>
            <a:off x="6364224" y="2011680"/>
            <a:ext cx="5285232" cy="256032"/>
          </a:xfrm>
          <a:prstGeom prst="rect">
            <a:avLst/>
          </a:prstGeom>
          <a:noFill/>
        </p:spPr>
        <p:txBody>
          <a:bodyPr wrap="square" anchor="t">
            <a:spAutoFit/>
          </a:bodyPr>
          <a:lstStyle/>
          <a:p>
            <a:pPr algn="l"/>
            <a:r>
              <a:rPr sz="1200" b="1">
                <a:solidFill>
                  <a:srgbClr val="ED1C24"/>
                </a:solidFill>
                <a:latin typeface="Calibri"/>
              </a:rPr>
              <a:t>If genuine does not take</a:t>
            </a:r>
          </a:p>
        </p:txBody>
      </p:sp>
      <p:sp>
        <p:nvSpPr>
          <p:cNvPr id="19" name="TextBox 18"/>
          <p:cNvSpPr txBox="1"/>
          <p:nvPr/>
        </p:nvSpPr>
        <p:spPr>
          <a:xfrm>
            <a:off x="6364224" y="2304288"/>
            <a:ext cx="5285232" cy="1133856"/>
          </a:xfrm>
          <a:prstGeom prst="rect">
            <a:avLst/>
          </a:prstGeom>
          <a:noFill/>
        </p:spPr>
        <p:txBody>
          <a:bodyPr wrap="square" anchor="t">
            <a:spAutoFit/>
          </a:bodyPr>
          <a:lstStyle/>
          <a:p>
            <a:pPr algn="l"/>
            <a:r>
              <a:rPr sz="1200" b="0">
                <a:solidFill>
                  <a:srgbClr val="344251"/>
                </a:solidFill>
                <a:latin typeface="Calibri"/>
              </a:rPr>
              <a:t>Use BVP if genuine does not take, unless a genuine SPA comes in lower.</a:t>
            </a:r>
          </a:p>
        </p:txBody>
      </p:sp>
      <p:sp>
        <p:nvSpPr>
          <p:cNvPr id="20" name="Rectangle 19"/>
          <p:cNvSpPr/>
          <p:nvPr/>
        </p:nvSpPr>
        <p:spPr>
          <a:xfrm>
            <a:off x="438912" y="3730752"/>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352" y="3730752"/>
            <a:ext cx="3639311" cy="329184"/>
          </a:xfrm>
          <a:prstGeom prst="rect">
            <a:avLst/>
          </a:prstGeom>
          <a:noFill/>
        </p:spPr>
        <p:txBody>
          <a:bodyPr wrap="square" anchor="ctr">
            <a:spAutoFit/>
          </a:bodyPr>
          <a:lstStyle/>
          <a:p>
            <a:pPr algn="l"/>
            <a:r>
              <a:rPr sz="1100" b="1">
                <a:solidFill>
                  <a:srgbClr val="FFFFFF"/>
                </a:solidFill>
                <a:latin typeface="Calibri"/>
              </a:rPr>
              <a:t/>
            </a:r>
          </a:p>
        </p:txBody>
      </p:sp>
      <p:sp>
        <p:nvSpPr>
          <p:cNvPr id="22" name="TextBox 21"/>
          <p:cNvSpPr txBox="1"/>
          <p:nvPr/>
        </p:nvSpPr>
        <p:spPr>
          <a:xfrm>
            <a:off x="4315967" y="3730752"/>
            <a:ext cx="3639311" cy="329184"/>
          </a:xfrm>
          <a:prstGeom prst="rect">
            <a:avLst/>
          </a:prstGeom>
          <a:noFill/>
        </p:spPr>
        <p:txBody>
          <a:bodyPr wrap="square" anchor="ctr">
            <a:spAutoFit/>
          </a:bodyPr>
          <a:lstStyle/>
          <a:p>
            <a:pPr algn="r"/>
            <a:r>
              <a:rPr sz="1100" b="1">
                <a:solidFill>
                  <a:srgbClr val="FFFFFF"/>
                </a:solidFill>
                <a:latin typeface="Calibri"/>
              </a:rPr>
              <a:t>Genuine 8983507161</a:t>
            </a:r>
          </a:p>
        </p:txBody>
      </p:sp>
      <p:sp>
        <p:nvSpPr>
          <p:cNvPr id="23" name="TextBox 22"/>
          <p:cNvSpPr txBox="1"/>
          <p:nvPr/>
        </p:nvSpPr>
        <p:spPr>
          <a:xfrm>
            <a:off x="8101582" y="3730752"/>
            <a:ext cx="3639311" cy="329184"/>
          </a:xfrm>
          <a:prstGeom prst="rect">
            <a:avLst/>
          </a:prstGeom>
          <a:noFill/>
        </p:spPr>
        <p:txBody>
          <a:bodyPr wrap="square" anchor="ctr">
            <a:spAutoFit/>
          </a:bodyPr>
          <a:lstStyle/>
          <a:p>
            <a:pPr algn="r"/>
            <a:r>
              <a:rPr sz="1100" b="1">
                <a:solidFill>
                  <a:srgbClr val="FFFFFF"/>
                </a:solidFill>
                <a:latin typeface="Calibri"/>
              </a:rPr>
              <a:t>BVP 1876102341</a:t>
            </a:r>
          </a:p>
        </p:txBody>
      </p:sp>
      <p:sp>
        <p:nvSpPr>
          <p:cNvPr id="24" name="TextBox 23"/>
          <p:cNvSpPr txBox="1"/>
          <p:nvPr/>
        </p:nvSpPr>
        <p:spPr>
          <a:xfrm>
            <a:off x="530352" y="4059936"/>
            <a:ext cx="3639311" cy="384048"/>
          </a:xfrm>
          <a:prstGeom prst="rect">
            <a:avLst/>
          </a:prstGeom>
          <a:noFill/>
        </p:spPr>
        <p:txBody>
          <a:bodyPr wrap="square" anchor="ctr">
            <a:spAutoFit/>
          </a:bodyPr>
          <a:lstStyle/>
          <a:p>
            <a:pPr algn="l"/>
            <a:r>
              <a:rPr sz="1300" b="1">
                <a:solidFill>
                  <a:srgbClr val="1B2733"/>
                </a:solidFill>
                <a:latin typeface="Calibri"/>
              </a:rPr>
              <a:t>ITUK to dealer qty</a:t>
            </a:r>
          </a:p>
        </p:txBody>
      </p:sp>
      <p:sp>
        <p:nvSpPr>
          <p:cNvPr id="25" name="TextBox 24"/>
          <p:cNvSpPr txBox="1"/>
          <p:nvPr/>
        </p:nvSpPr>
        <p:spPr>
          <a:xfrm>
            <a:off x="4315967" y="4059936"/>
            <a:ext cx="3639311" cy="384048"/>
          </a:xfrm>
          <a:prstGeom prst="rect">
            <a:avLst/>
          </a:prstGeom>
          <a:noFill/>
        </p:spPr>
        <p:txBody>
          <a:bodyPr wrap="square" anchor="ctr">
            <a:spAutoFit/>
          </a:bodyPr>
          <a:lstStyle/>
          <a:p>
            <a:pPr algn="r"/>
            <a:r>
              <a:rPr sz="1300" b="0">
                <a:solidFill>
                  <a:srgbClr val="344251"/>
                </a:solidFill>
                <a:latin typeface="Calibri"/>
              </a:rPr>
              <a:t>541</a:t>
            </a:r>
          </a:p>
        </p:txBody>
      </p:sp>
      <p:sp>
        <p:nvSpPr>
          <p:cNvPr id="26" name="TextBox 25"/>
          <p:cNvSpPr txBox="1"/>
          <p:nvPr/>
        </p:nvSpPr>
        <p:spPr>
          <a:xfrm>
            <a:off x="8101582" y="4059936"/>
            <a:ext cx="3639311" cy="384048"/>
          </a:xfrm>
          <a:prstGeom prst="rect">
            <a:avLst/>
          </a:prstGeom>
          <a:noFill/>
        </p:spPr>
        <p:txBody>
          <a:bodyPr wrap="square" anchor="ctr">
            <a:spAutoFit/>
          </a:bodyPr>
          <a:lstStyle/>
          <a:p>
            <a:pPr algn="r"/>
            <a:r>
              <a:rPr sz="1300" b="0">
                <a:solidFill>
                  <a:srgbClr val="344251"/>
                </a:solidFill>
                <a:latin typeface="Calibri"/>
              </a:rPr>
              <a:t>34</a:t>
            </a:r>
          </a:p>
        </p:txBody>
      </p:sp>
      <p:sp>
        <p:nvSpPr>
          <p:cNvPr id="27" name="Rectangle 26"/>
          <p:cNvSpPr/>
          <p:nvPr/>
        </p:nvSpPr>
        <p:spPr>
          <a:xfrm>
            <a:off x="438912" y="4443984"/>
            <a:ext cx="11356848" cy="38404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 y="4443984"/>
            <a:ext cx="3639311" cy="384048"/>
          </a:xfrm>
          <a:prstGeom prst="rect">
            <a:avLst/>
          </a:prstGeom>
          <a:noFill/>
        </p:spPr>
        <p:txBody>
          <a:bodyPr wrap="square" anchor="ctr">
            <a:spAutoFit/>
          </a:bodyPr>
          <a:lstStyle/>
          <a:p>
            <a:pPr algn="l"/>
            <a:r>
              <a:rPr sz="1300" b="1">
                <a:solidFill>
                  <a:srgbClr val="1B2733"/>
                </a:solidFill>
                <a:latin typeface="Calibri"/>
              </a:rPr>
              <a:t>ISZE to ITUK qty</a:t>
            </a:r>
          </a:p>
        </p:txBody>
      </p:sp>
      <p:sp>
        <p:nvSpPr>
          <p:cNvPr id="29" name="TextBox 28"/>
          <p:cNvSpPr txBox="1"/>
          <p:nvPr/>
        </p:nvSpPr>
        <p:spPr>
          <a:xfrm>
            <a:off x="4315967" y="4443984"/>
            <a:ext cx="3639311" cy="384048"/>
          </a:xfrm>
          <a:prstGeom prst="rect">
            <a:avLst/>
          </a:prstGeom>
          <a:noFill/>
        </p:spPr>
        <p:txBody>
          <a:bodyPr wrap="square" anchor="ctr">
            <a:spAutoFit/>
          </a:bodyPr>
          <a:lstStyle/>
          <a:p>
            <a:pPr algn="r"/>
            <a:r>
              <a:rPr sz="1300" b="0">
                <a:solidFill>
                  <a:srgbClr val="344251"/>
                </a:solidFill>
                <a:latin typeface="Calibri"/>
              </a:rPr>
              <a:t>506</a:t>
            </a:r>
          </a:p>
        </p:txBody>
      </p:sp>
      <p:sp>
        <p:nvSpPr>
          <p:cNvPr id="30" name="TextBox 29"/>
          <p:cNvSpPr txBox="1"/>
          <p:nvPr/>
        </p:nvSpPr>
        <p:spPr>
          <a:xfrm>
            <a:off x="8101582" y="4443984"/>
            <a:ext cx="3639311" cy="384048"/>
          </a:xfrm>
          <a:prstGeom prst="rect">
            <a:avLst/>
          </a:prstGeom>
          <a:noFill/>
        </p:spPr>
        <p:txBody>
          <a:bodyPr wrap="square" anchor="ctr">
            <a:spAutoFit/>
          </a:bodyPr>
          <a:lstStyle/>
          <a:p>
            <a:pPr algn="r"/>
            <a:r>
              <a:rPr sz="1300" b="0">
                <a:solidFill>
                  <a:srgbClr val="344251"/>
                </a:solidFill>
                <a:latin typeface="Calibri"/>
              </a:rPr>
              <a:t>46</a:t>
            </a:r>
          </a:p>
        </p:txBody>
      </p:sp>
      <p:sp>
        <p:nvSpPr>
          <p:cNvPr id="31" name="TextBox 30"/>
          <p:cNvSpPr txBox="1"/>
          <p:nvPr/>
        </p:nvSpPr>
        <p:spPr>
          <a:xfrm>
            <a:off x="530352" y="4828032"/>
            <a:ext cx="3639311" cy="384048"/>
          </a:xfrm>
          <a:prstGeom prst="rect">
            <a:avLst/>
          </a:prstGeom>
          <a:noFill/>
        </p:spPr>
        <p:txBody>
          <a:bodyPr wrap="square" anchor="ctr">
            <a:spAutoFit/>
          </a:bodyPr>
          <a:lstStyle/>
          <a:p>
            <a:pPr algn="l"/>
            <a:r>
              <a:rPr sz="1300" b="1">
                <a:solidFill>
                  <a:srgbClr val="1B2733"/>
                </a:solidFill>
                <a:latin typeface="Calibri"/>
              </a:rPr>
              <a:t>ISZE to ITUK EUR</a:t>
            </a:r>
          </a:p>
        </p:txBody>
      </p:sp>
      <p:sp>
        <p:nvSpPr>
          <p:cNvPr id="32" name="TextBox 31"/>
          <p:cNvSpPr txBox="1"/>
          <p:nvPr/>
        </p:nvSpPr>
        <p:spPr>
          <a:xfrm>
            <a:off x="4315967" y="4828032"/>
            <a:ext cx="3639311" cy="384048"/>
          </a:xfrm>
          <a:prstGeom prst="rect">
            <a:avLst/>
          </a:prstGeom>
          <a:noFill/>
        </p:spPr>
        <p:txBody>
          <a:bodyPr wrap="square" anchor="ctr">
            <a:spAutoFit/>
          </a:bodyPr>
          <a:lstStyle/>
          <a:p>
            <a:pPr algn="r"/>
            <a:r>
              <a:rPr sz="1300" b="0">
                <a:solidFill>
                  <a:srgbClr val="344251"/>
                </a:solidFill>
                <a:latin typeface="Calibri"/>
              </a:rPr>
              <a:t>70.53</a:t>
            </a:r>
          </a:p>
        </p:txBody>
      </p:sp>
      <p:sp>
        <p:nvSpPr>
          <p:cNvPr id="33" name="TextBox 32"/>
          <p:cNvSpPr txBox="1"/>
          <p:nvPr/>
        </p:nvSpPr>
        <p:spPr>
          <a:xfrm>
            <a:off x="8101582" y="4828032"/>
            <a:ext cx="3639311" cy="384048"/>
          </a:xfrm>
          <a:prstGeom prst="rect">
            <a:avLst/>
          </a:prstGeom>
          <a:noFill/>
        </p:spPr>
        <p:txBody>
          <a:bodyPr wrap="square" anchor="ctr">
            <a:spAutoFit/>
          </a:bodyPr>
          <a:lstStyle/>
          <a:p>
            <a:pPr algn="r"/>
            <a:r>
              <a:rPr sz="1300" b="0">
                <a:solidFill>
                  <a:srgbClr val="344251"/>
                </a:solidFill>
                <a:latin typeface="Calibri"/>
              </a:rPr>
              <a:t>30.72</a:t>
            </a:r>
          </a:p>
        </p:txBody>
      </p:sp>
      <p:sp>
        <p:nvSpPr>
          <p:cNvPr id="34" name="Rectangle 33"/>
          <p:cNvSpPr/>
          <p:nvPr/>
        </p:nvSpPr>
        <p:spPr>
          <a:xfrm>
            <a:off x="438912" y="5212080"/>
            <a:ext cx="11356848" cy="38404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30352" y="5212080"/>
            <a:ext cx="3639311" cy="384048"/>
          </a:xfrm>
          <a:prstGeom prst="rect">
            <a:avLst/>
          </a:prstGeom>
          <a:noFill/>
        </p:spPr>
        <p:txBody>
          <a:bodyPr wrap="square" anchor="ctr">
            <a:spAutoFit/>
          </a:bodyPr>
          <a:lstStyle/>
          <a:p>
            <a:pPr algn="l"/>
            <a:r>
              <a:rPr sz="1300" b="1">
                <a:solidFill>
                  <a:srgbClr val="1B2733"/>
                </a:solidFill>
                <a:latin typeface="Calibri"/>
              </a:rPr>
              <a:t>Projected to dealers EUR</a:t>
            </a:r>
          </a:p>
        </p:txBody>
      </p:sp>
      <p:sp>
        <p:nvSpPr>
          <p:cNvPr id="36" name="TextBox 35"/>
          <p:cNvSpPr txBox="1"/>
          <p:nvPr/>
        </p:nvSpPr>
        <p:spPr>
          <a:xfrm>
            <a:off x="4315967" y="5212080"/>
            <a:ext cx="3639311" cy="384048"/>
          </a:xfrm>
          <a:prstGeom prst="rect">
            <a:avLst/>
          </a:prstGeom>
          <a:noFill/>
        </p:spPr>
        <p:txBody>
          <a:bodyPr wrap="square" anchor="ctr">
            <a:spAutoFit/>
          </a:bodyPr>
          <a:lstStyle/>
          <a:p>
            <a:pPr algn="r"/>
            <a:r>
              <a:rPr sz="1300" b="0">
                <a:solidFill>
                  <a:srgbClr val="344251"/>
                </a:solidFill>
                <a:latin typeface="Calibri"/>
              </a:rPr>
              <a:t>99</a:t>
            </a:r>
          </a:p>
        </p:txBody>
      </p:sp>
      <p:sp>
        <p:nvSpPr>
          <p:cNvPr id="37" name="TextBox 36"/>
          <p:cNvSpPr txBox="1"/>
          <p:nvPr/>
        </p:nvSpPr>
        <p:spPr>
          <a:xfrm>
            <a:off x="8101582" y="5212080"/>
            <a:ext cx="3639311" cy="384048"/>
          </a:xfrm>
          <a:prstGeom prst="rect">
            <a:avLst/>
          </a:prstGeom>
          <a:noFill/>
        </p:spPr>
        <p:txBody>
          <a:bodyPr wrap="square" anchor="ctr">
            <a:spAutoFit/>
          </a:bodyPr>
          <a:lstStyle/>
          <a:p>
            <a:pPr algn="r"/>
            <a:r>
              <a:rPr sz="1300" b="0">
                <a:solidFill>
                  <a:srgbClr val="344251"/>
                </a:solidFill>
                <a:latin typeface="Calibri"/>
              </a:rPr>
              <a:t>43</a:t>
            </a:r>
          </a:p>
        </p:txBody>
      </p:sp>
      <p:sp>
        <p:nvSpPr>
          <p:cNvPr id="38" name="TextBox 37"/>
          <p:cNvSpPr txBox="1"/>
          <p:nvPr/>
        </p:nvSpPr>
        <p:spPr>
          <a:xfrm>
            <a:off x="438912" y="5833872"/>
            <a:ext cx="11338560" cy="256032"/>
          </a:xfrm>
          <a:prstGeom prst="rect">
            <a:avLst/>
          </a:prstGeom>
          <a:noFill/>
        </p:spPr>
        <p:txBody>
          <a:bodyPr wrap="square" anchor="t">
            <a:spAutoFit/>
          </a:bodyPr>
          <a:lstStyle/>
          <a:p>
            <a:pPr algn="l"/>
            <a:r>
              <a:rPr sz="1200" b="0">
                <a:solidFill>
                  <a:srgbClr val="344251"/>
                </a:solidFill>
                <a:latin typeface="Calibri"/>
              </a:rPr>
              <a:t>Projected to dealers = ISZE to ITUK x 1.40.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Brakes stay on condition. The pad is the price issue.</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10</a:t>
            </a:r>
          </a:p>
        </p:txBody>
      </p:sp>
      <p:sp>
        <p:nvSpPr>
          <p:cNvPr id="9" name="TextBox 8"/>
          <p:cNvSpPr txBox="1"/>
          <p:nvPr/>
        </p:nvSpPr>
        <p:spPr>
          <a:xfrm>
            <a:off x="438912" y="1042415"/>
            <a:ext cx="11338560" cy="438912"/>
          </a:xfrm>
          <a:prstGeom prst="rect">
            <a:avLst/>
          </a:prstGeom>
          <a:noFill/>
        </p:spPr>
        <p:txBody>
          <a:bodyPr wrap="square" anchor="t">
            <a:spAutoFit/>
          </a:bodyPr>
          <a:lstStyle/>
          <a:p>
            <a:pPr algn="l"/>
            <a:r>
              <a:rPr sz="1400" b="0">
                <a:solidFill>
                  <a:srgbClr val="344251"/>
                </a:solidFill>
                <a:latin typeface="Calibri"/>
              </a:rPr>
              <a:t>No promotional trigger. When the pad is on the job, there is no BVP. SPA only. Compare projected ITUK to dealers with aftermarket workshop purchase. Same step.</a:t>
            </a:r>
          </a:p>
        </p:txBody>
      </p:sp>
      <p:pic>
        <p:nvPicPr>
          <p:cNvPr id="10" name="Picture 9" descr="pad.png"/>
          <p:cNvPicPr>
            <a:picLocks noChangeAspect="1"/>
          </p:cNvPicPr>
          <p:nvPr/>
        </p:nvPicPr>
        <p:blipFill>
          <a:blip r:embed="rId3"/>
          <a:stretch>
            <a:fillRect/>
          </a:stretch>
        </p:blipFill>
        <p:spPr>
          <a:xfrm>
            <a:off x="438912" y="1463040"/>
            <a:ext cx="11356848" cy="2011680"/>
          </a:xfrm>
          <a:prstGeom prst="rect">
            <a:avLst/>
          </a:prstGeom>
        </p:spPr>
      </p:pic>
      <p:sp>
        <p:nvSpPr>
          <p:cNvPr id="11" name="Rectangle 10"/>
          <p:cNvSpPr/>
          <p:nvPr/>
        </p:nvSpPr>
        <p:spPr>
          <a:xfrm>
            <a:off x="438912" y="3584448"/>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3584448"/>
            <a:ext cx="3694176" cy="329184"/>
          </a:xfrm>
          <a:prstGeom prst="rect">
            <a:avLst/>
          </a:prstGeom>
          <a:noFill/>
        </p:spPr>
        <p:txBody>
          <a:bodyPr wrap="square" anchor="ctr">
            <a:spAutoFit/>
          </a:bodyPr>
          <a:lstStyle/>
          <a:p>
            <a:pPr algn="l"/>
            <a:r>
              <a:rPr sz="1100" b="1">
                <a:solidFill>
                  <a:srgbClr val="FFFFFF"/>
                </a:solidFill>
                <a:latin typeface="Calibri"/>
              </a:rPr>
              <a:t/>
            </a:r>
          </a:p>
        </p:txBody>
      </p:sp>
      <p:sp>
        <p:nvSpPr>
          <p:cNvPr id="13" name="TextBox 12"/>
          <p:cNvSpPr txBox="1"/>
          <p:nvPr/>
        </p:nvSpPr>
        <p:spPr>
          <a:xfrm>
            <a:off x="4370832" y="3584448"/>
            <a:ext cx="2359152"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14" name="TextBox 13"/>
          <p:cNvSpPr txBox="1"/>
          <p:nvPr/>
        </p:nvSpPr>
        <p:spPr>
          <a:xfrm>
            <a:off x="6876288" y="3584448"/>
            <a:ext cx="2359152"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15" name="TextBox 14"/>
          <p:cNvSpPr txBox="1"/>
          <p:nvPr/>
        </p:nvSpPr>
        <p:spPr>
          <a:xfrm>
            <a:off x="9381744" y="3584448"/>
            <a:ext cx="2359152"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6" name="TextBox 15"/>
          <p:cNvSpPr txBox="1"/>
          <p:nvPr/>
        </p:nvSpPr>
        <p:spPr>
          <a:xfrm>
            <a:off x="530352" y="3913632"/>
            <a:ext cx="3694176" cy="402336"/>
          </a:xfrm>
          <a:prstGeom prst="rect">
            <a:avLst/>
          </a:prstGeom>
          <a:noFill/>
        </p:spPr>
        <p:txBody>
          <a:bodyPr wrap="square" anchor="ctr">
            <a:spAutoFit/>
          </a:bodyPr>
          <a:lstStyle/>
          <a:p>
            <a:pPr algn="l"/>
            <a:r>
              <a:rPr sz="1300" b="1">
                <a:solidFill>
                  <a:srgbClr val="1B2733"/>
                </a:solidFill>
                <a:latin typeface="Calibri"/>
              </a:rPr>
              <a:t>Pad 8982447940</a:t>
            </a:r>
          </a:p>
        </p:txBody>
      </p:sp>
      <p:sp>
        <p:nvSpPr>
          <p:cNvPr id="17" name="TextBox 16"/>
          <p:cNvSpPr txBox="1"/>
          <p:nvPr/>
        </p:nvSpPr>
        <p:spPr>
          <a:xfrm>
            <a:off x="4370832" y="3913632"/>
            <a:ext cx="2359152" cy="402336"/>
          </a:xfrm>
          <a:prstGeom prst="rect">
            <a:avLst/>
          </a:prstGeom>
          <a:noFill/>
        </p:spPr>
        <p:txBody>
          <a:bodyPr wrap="square" anchor="ctr">
            <a:spAutoFit/>
          </a:bodyPr>
          <a:lstStyle/>
          <a:p>
            <a:pPr algn="r"/>
            <a:r>
              <a:rPr sz="1300" b="0">
                <a:solidFill>
                  <a:srgbClr val="344251"/>
                </a:solidFill>
                <a:latin typeface="Calibri"/>
              </a:rPr>
              <a:t>2,367</a:t>
            </a:r>
          </a:p>
        </p:txBody>
      </p:sp>
      <p:sp>
        <p:nvSpPr>
          <p:cNvPr id="18" name="TextBox 17"/>
          <p:cNvSpPr txBox="1"/>
          <p:nvPr/>
        </p:nvSpPr>
        <p:spPr>
          <a:xfrm>
            <a:off x="6876288" y="3913632"/>
            <a:ext cx="2359152" cy="402336"/>
          </a:xfrm>
          <a:prstGeom prst="rect">
            <a:avLst/>
          </a:prstGeom>
          <a:noFill/>
        </p:spPr>
        <p:txBody>
          <a:bodyPr wrap="square" anchor="ctr">
            <a:spAutoFit/>
          </a:bodyPr>
          <a:lstStyle/>
          <a:p>
            <a:pPr algn="r"/>
            <a:r>
              <a:rPr sz="1300" b="0">
                <a:solidFill>
                  <a:srgbClr val="344251"/>
                </a:solidFill>
                <a:latin typeface="Calibri"/>
              </a:rPr>
              <a:t>2,282</a:t>
            </a:r>
          </a:p>
        </p:txBody>
      </p:sp>
      <p:sp>
        <p:nvSpPr>
          <p:cNvPr id="19" name="TextBox 18"/>
          <p:cNvSpPr txBox="1"/>
          <p:nvPr/>
        </p:nvSpPr>
        <p:spPr>
          <a:xfrm>
            <a:off x="9381744" y="3913632"/>
            <a:ext cx="2359152" cy="402336"/>
          </a:xfrm>
          <a:prstGeom prst="rect">
            <a:avLst/>
          </a:prstGeom>
          <a:noFill/>
        </p:spPr>
        <p:txBody>
          <a:bodyPr wrap="square" anchor="ctr">
            <a:spAutoFit/>
          </a:bodyPr>
          <a:lstStyle/>
          <a:p>
            <a:pPr algn="r"/>
            <a:r>
              <a:rPr sz="1300" b="0">
                <a:solidFill>
                  <a:srgbClr val="344251"/>
                </a:solidFill>
                <a:latin typeface="Calibri"/>
              </a:rPr>
              <a:t>51%  (0.5 / year)</a:t>
            </a:r>
          </a:p>
        </p:txBody>
      </p:sp>
      <p:sp>
        <p:nvSpPr>
          <p:cNvPr id="20" name="Rectangle 19"/>
          <p:cNvSpPr/>
          <p:nvPr/>
        </p:nvSpPr>
        <p:spPr>
          <a:xfrm>
            <a:off x="438912" y="4315968"/>
            <a:ext cx="11356848" cy="402336"/>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352" y="4315968"/>
            <a:ext cx="3694176" cy="402336"/>
          </a:xfrm>
          <a:prstGeom prst="rect">
            <a:avLst/>
          </a:prstGeom>
          <a:noFill/>
        </p:spPr>
        <p:txBody>
          <a:bodyPr wrap="square" anchor="ctr">
            <a:spAutoFit/>
          </a:bodyPr>
          <a:lstStyle/>
          <a:p>
            <a:pPr algn="l"/>
            <a:r>
              <a:rPr sz="1300" b="1">
                <a:solidFill>
                  <a:srgbClr val="1B2733"/>
                </a:solidFill>
                <a:latin typeface="Calibri"/>
              </a:rPr>
              <a:t>Disc rear 8981919560</a:t>
            </a:r>
          </a:p>
        </p:txBody>
      </p:sp>
      <p:sp>
        <p:nvSpPr>
          <p:cNvPr id="22" name="TextBox 21"/>
          <p:cNvSpPr txBox="1"/>
          <p:nvPr/>
        </p:nvSpPr>
        <p:spPr>
          <a:xfrm>
            <a:off x="4370832" y="4315968"/>
            <a:ext cx="2359152" cy="402336"/>
          </a:xfrm>
          <a:prstGeom prst="rect">
            <a:avLst/>
          </a:prstGeom>
          <a:noFill/>
        </p:spPr>
        <p:txBody>
          <a:bodyPr wrap="square" anchor="ctr">
            <a:spAutoFit/>
          </a:bodyPr>
          <a:lstStyle/>
          <a:p>
            <a:pPr algn="r"/>
            <a:r>
              <a:rPr sz="1300" b="0">
                <a:solidFill>
                  <a:srgbClr val="344251"/>
                </a:solidFill>
                <a:latin typeface="Calibri"/>
              </a:rPr>
              <a:t>487</a:t>
            </a:r>
          </a:p>
        </p:txBody>
      </p:sp>
      <p:sp>
        <p:nvSpPr>
          <p:cNvPr id="23" name="TextBox 22"/>
          <p:cNvSpPr txBox="1"/>
          <p:nvPr/>
        </p:nvSpPr>
        <p:spPr>
          <a:xfrm>
            <a:off x="6876288" y="4315968"/>
            <a:ext cx="2359152" cy="402336"/>
          </a:xfrm>
          <a:prstGeom prst="rect">
            <a:avLst/>
          </a:prstGeom>
          <a:noFill/>
        </p:spPr>
        <p:txBody>
          <a:bodyPr wrap="square" anchor="ctr">
            <a:spAutoFit/>
          </a:bodyPr>
          <a:lstStyle/>
          <a:p>
            <a:pPr algn="r"/>
            <a:r>
              <a:rPr sz="1300" b="0">
                <a:solidFill>
                  <a:srgbClr val="344251"/>
                </a:solidFill>
                <a:latin typeface="Calibri"/>
              </a:rPr>
              <a:t>521</a:t>
            </a:r>
          </a:p>
        </p:txBody>
      </p:sp>
      <p:sp>
        <p:nvSpPr>
          <p:cNvPr id="24" name="TextBox 23"/>
          <p:cNvSpPr txBox="1"/>
          <p:nvPr/>
        </p:nvSpPr>
        <p:spPr>
          <a:xfrm>
            <a:off x="9381744" y="4315968"/>
            <a:ext cx="2359152" cy="402336"/>
          </a:xfrm>
          <a:prstGeom prst="rect">
            <a:avLst/>
          </a:prstGeom>
          <a:noFill/>
        </p:spPr>
        <p:txBody>
          <a:bodyPr wrap="square" anchor="ctr">
            <a:spAutoFit/>
          </a:bodyPr>
          <a:lstStyle/>
          <a:p>
            <a:pPr algn="r"/>
            <a:r>
              <a:rPr sz="1300" b="0">
                <a:solidFill>
                  <a:srgbClr val="344251"/>
                </a:solidFill>
                <a:latin typeface="Calibri"/>
              </a:rPr>
              <a:t>10%  (0.25 axle-set)</a:t>
            </a:r>
          </a:p>
        </p:txBody>
      </p:sp>
      <p:sp>
        <p:nvSpPr>
          <p:cNvPr id="25" name="TextBox 24"/>
          <p:cNvSpPr txBox="1"/>
          <p:nvPr/>
        </p:nvSpPr>
        <p:spPr>
          <a:xfrm>
            <a:off x="530352" y="4718304"/>
            <a:ext cx="3694176" cy="402336"/>
          </a:xfrm>
          <a:prstGeom prst="rect">
            <a:avLst/>
          </a:prstGeom>
          <a:noFill/>
        </p:spPr>
        <p:txBody>
          <a:bodyPr wrap="square" anchor="ctr">
            <a:spAutoFit/>
          </a:bodyPr>
          <a:lstStyle/>
          <a:p>
            <a:pPr algn="l"/>
            <a:r>
              <a:rPr sz="1300" b="1">
                <a:solidFill>
                  <a:srgbClr val="1B2733"/>
                </a:solidFill>
                <a:latin typeface="Calibri"/>
              </a:rPr>
              <a:t>Disc front 8982488951</a:t>
            </a:r>
          </a:p>
        </p:txBody>
      </p:sp>
      <p:sp>
        <p:nvSpPr>
          <p:cNvPr id="26" name="TextBox 25"/>
          <p:cNvSpPr txBox="1"/>
          <p:nvPr/>
        </p:nvSpPr>
        <p:spPr>
          <a:xfrm>
            <a:off x="4370832" y="4718304"/>
            <a:ext cx="2359152" cy="402336"/>
          </a:xfrm>
          <a:prstGeom prst="rect">
            <a:avLst/>
          </a:prstGeom>
          <a:noFill/>
        </p:spPr>
        <p:txBody>
          <a:bodyPr wrap="square" anchor="ctr">
            <a:spAutoFit/>
          </a:bodyPr>
          <a:lstStyle/>
          <a:p>
            <a:pPr algn="r"/>
            <a:r>
              <a:rPr sz="1300" b="0">
                <a:solidFill>
                  <a:srgbClr val="344251"/>
                </a:solidFill>
                <a:latin typeface="Calibri"/>
              </a:rPr>
              <a:t>393</a:t>
            </a:r>
          </a:p>
        </p:txBody>
      </p:sp>
      <p:sp>
        <p:nvSpPr>
          <p:cNvPr id="27" name="TextBox 26"/>
          <p:cNvSpPr txBox="1"/>
          <p:nvPr/>
        </p:nvSpPr>
        <p:spPr>
          <a:xfrm>
            <a:off x="6876288" y="4718304"/>
            <a:ext cx="2359152" cy="402336"/>
          </a:xfrm>
          <a:prstGeom prst="rect">
            <a:avLst/>
          </a:prstGeom>
          <a:noFill/>
        </p:spPr>
        <p:txBody>
          <a:bodyPr wrap="square" anchor="ctr">
            <a:spAutoFit/>
          </a:bodyPr>
          <a:lstStyle/>
          <a:p>
            <a:pPr algn="r"/>
            <a:r>
              <a:rPr sz="1300" b="0">
                <a:solidFill>
                  <a:srgbClr val="344251"/>
                </a:solidFill>
                <a:latin typeface="Calibri"/>
              </a:rPr>
              <a:t>520</a:t>
            </a:r>
          </a:p>
        </p:txBody>
      </p:sp>
      <p:sp>
        <p:nvSpPr>
          <p:cNvPr id="28" name="TextBox 27"/>
          <p:cNvSpPr txBox="1"/>
          <p:nvPr/>
        </p:nvSpPr>
        <p:spPr>
          <a:xfrm>
            <a:off x="9381744" y="4718304"/>
            <a:ext cx="2359152" cy="402336"/>
          </a:xfrm>
          <a:prstGeom prst="rect">
            <a:avLst/>
          </a:prstGeom>
          <a:noFill/>
        </p:spPr>
        <p:txBody>
          <a:bodyPr wrap="square" anchor="ctr">
            <a:spAutoFit/>
          </a:bodyPr>
          <a:lstStyle/>
          <a:p>
            <a:pPr algn="r"/>
            <a:r>
              <a:rPr sz="1300" b="0">
                <a:solidFill>
                  <a:srgbClr val="344251"/>
                </a:solidFill>
                <a:latin typeface="Calibri"/>
              </a:rPr>
              <a:t>8%  (0.25 axle-set)</a:t>
            </a:r>
          </a:p>
        </p:txBody>
      </p:sp>
      <p:sp>
        <p:nvSpPr>
          <p:cNvPr id="29" name="TextBox 28"/>
          <p:cNvSpPr txBox="1"/>
          <p:nvPr/>
        </p:nvSpPr>
        <p:spPr>
          <a:xfrm>
            <a:off x="438912" y="5230368"/>
            <a:ext cx="11338560" cy="365760"/>
          </a:xfrm>
          <a:prstGeom prst="rect">
            <a:avLst/>
          </a:prstGeom>
          <a:noFill/>
        </p:spPr>
        <p:txBody>
          <a:bodyPr wrap="square" anchor="t">
            <a:spAutoFit/>
          </a:bodyPr>
          <a:lstStyle/>
          <a:p>
            <a:pPr algn="l"/>
            <a:r>
              <a:rPr sz="1300" b="0">
                <a:solidFill>
                  <a:srgbClr val="344251"/>
                </a:solidFill>
                <a:latin typeface="Calibri"/>
              </a:rPr>
              <a:t>Discs fit N75 NPR and carry over to P700. They are not on the ITUK PMS list. Aftermarket on the pad: Blue Print / Febi about EUR 46.</a:t>
            </a:r>
          </a:p>
        </p:txBody>
      </p:sp>
      <p:sp>
        <p:nvSpPr>
          <p:cNvPr id="30" name="TextBox 29"/>
          <p:cNvSpPr txBox="1"/>
          <p:nvPr/>
        </p:nvSpPr>
        <p:spPr>
          <a:xfrm>
            <a:off x="438912" y="5596128"/>
            <a:ext cx="11338560" cy="292608"/>
          </a:xfrm>
          <a:prstGeom prst="rect">
            <a:avLst/>
          </a:prstGeom>
          <a:noFill/>
        </p:spPr>
        <p:txBody>
          <a:bodyPr wrap="square" anchor="t">
            <a:spAutoFit/>
          </a:bodyPr>
          <a:lstStyle/>
          <a:p>
            <a:pPr algn="l"/>
            <a:r>
              <a:rPr sz="1300" b="1">
                <a:solidFill>
                  <a:srgbClr val="1B2733"/>
                </a:solidFill>
                <a:latin typeface="Calibri"/>
              </a:rPr>
              <a:t>No BVP on the R90 pad. SPA on genuine only, and only when the job needs the pad.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Clutch as a kit. Manuals only.</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11</a:t>
            </a:r>
          </a:p>
        </p:txBody>
      </p:sp>
      <p:sp>
        <p:nvSpPr>
          <p:cNvPr id="9" name="TextBox 8"/>
          <p:cNvSpPr txBox="1"/>
          <p:nvPr/>
        </p:nvSpPr>
        <p:spPr>
          <a:xfrm>
            <a:off x="438912" y="1042415"/>
            <a:ext cx="11338560" cy="365760"/>
          </a:xfrm>
          <a:prstGeom prst="rect">
            <a:avLst/>
          </a:prstGeom>
          <a:noFill/>
        </p:spPr>
        <p:txBody>
          <a:bodyPr wrap="square" anchor="t">
            <a:spAutoFit/>
          </a:bodyPr>
          <a:lstStyle/>
          <a:p>
            <a:pPr algn="l"/>
            <a:r>
              <a:rPr sz="1400" b="0">
                <a:solidFill>
                  <a:srgbClr val="344251"/>
                </a:solidFill>
                <a:latin typeface="Calibri"/>
              </a:rPr>
              <a:t>No broad push. VIN / manual. 47 percent planning share until a transmission file exists. Do not mix disc 8981649181.</a:t>
            </a:r>
          </a:p>
        </p:txBody>
      </p:sp>
      <p:sp>
        <p:nvSpPr>
          <p:cNvPr id="10" name="Rounded Rectangle 9"/>
          <p:cNvSpPr/>
          <p:nvPr/>
        </p:nvSpPr>
        <p:spPr>
          <a:xfrm>
            <a:off x="438912" y="1536192"/>
            <a:ext cx="557784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 y="1536192"/>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1700784"/>
            <a:ext cx="5285232" cy="292608"/>
          </a:xfrm>
          <a:prstGeom prst="rect">
            <a:avLst/>
          </a:prstGeom>
          <a:noFill/>
        </p:spPr>
        <p:txBody>
          <a:bodyPr wrap="square" anchor="t">
            <a:spAutoFit/>
          </a:bodyPr>
          <a:lstStyle/>
          <a:p>
            <a:pPr algn="l"/>
            <a:r>
              <a:rPr sz="1600" b="1">
                <a:solidFill>
                  <a:srgbClr val="1B2733"/>
                </a:solidFill>
                <a:latin typeface="Calibri"/>
              </a:rPr>
              <a:t>BVP kit  5876102320</a:t>
            </a:r>
          </a:p>
        </p:txBody>
      </p:sp>
      <p:sp>
        <p:nvSpPr>
          <p:cNvPr id="13" name="TextBox 12"/>
          <p:cNvSpPr txBox="1"/>
          <p:nvPr/>
        </p:nvSpPr>
        <p:spPr>
          <a:xfrm>
            <a:off x="585216" y="1993392"/>
            <a:ext cx="5285232" cy="256032"/>
          </a:xfrm>
          <a:prstGeom prst="rect">
            <a:avLst/>
          </a:prstGeom>
          <a:noFill/>
        </p:spPr>
        <p:txBody>
          <a:bodyPr wrap="square" anchor="t">
            <a:spAutoFit/>
          </a:bodyPr>
          <a:lstStyle/>
          <a:p>
            <a:pPr algn="l"/>
            <a:r>
              <a:rPr sz="1200" b="1">
                <a:solidFill>
                  <a:srgbClr val="ED1C24"/>
                </a:solidFill>
                <a:latin typeface="Calibri"/>
              </a:rPr>
              <a:t>One number</a:t>
            </a:r>
          </a:p>
        </p:txBody>
      </p:sp>
      <p:sp>
        <p:nvSpPr>
          <p:cNvPr id="14" name="TextBox 13"/>
          <p:cNvSpPr txBox="1"/>
          <p:nvPr/>
        </p:nvSpPr>
        <p:spPr>
          <a:xfrm>
            <a:off x="585216" y="2286000"/>
            <a:ext cx="5285232" cy="1453896"/>
          </a:xfrm>
          <a:prstGeom prst="rect">
            <a:avLst/>
          </a:prstGeom>
          <a:noFill/>
        </p:spPr>
        <p:txBody>
          <a:bodyPr wrap="square" anchor="t">
            <a:spAutoFit/>
          </a:bodyPr>
          <a:lstStyle/>
          <a:p>
            <a:pPr algn="l"/>
            <a:r>
              <a:rPr sz="1200" b="0">
                <a:solidFill>
                  <a:srgbClr val="344251"/>
                </a:solidFill>
                <a:latin typeface="Calibri"/>
              </a:rPr>
              <a:t>ITUK to dealer 63. ISZE to ITUK 78. ISZE to ITUK EUR 194.69. Projected to dealers about EUR 273.</a:t>
            </a:r>
          </a:p>
        </p:txBody>
      </p:sp>
      <p:sp>
        <p:nvSpPr>
          <p:cNvPr id="15" name="Rounded Rectangle 14"/>
          <p:cNvSpPr/>
          <p:nvPr/>
        </p:nvSpPr>
        <p:spPr>
          <a:xfrm>
            <a:off x="6217920" y="1536192"/>
            <a:ext cx="557784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1536192"/>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64224" y="1700784"/>
            <a:ext cx="5285232" cy="292608"/>
          </a:xfrm>
          <a:prstGeom prst="rect">
            <a:avLst/>
          </a:prstGeom>
          <a:noFill/>
        </p:spPr>
        <p:txBody>
          <a:bodyPr wrap="square" anchor="t">
            <a:spAutoFit/>
          </a:bodyPr>
          <a:lstStyle/>
          <a:p>
            <a:pPr algn="l"/>
            <a:r>
              <a:rPr sz="1600" b="1">
                <a:solidFill>
                  <a:srgbClr val="1B2733"/>
                </a:solidFill>
                <a:latin typeface="Calibri"/>
              </a:rPr>
              <a:t>Genuine three pieces</a:t>
            </a:r>
          </a:p>
        </p:txBody>
      </p:sp>
      <p:sp>
        <p:nvSpPr>
          <p:cNvPr id="18" name="TextBox 17"/>
          <p:cNvSpPr txBox="1"/>
          <p:nvPr/>
        </p:nvSpPr>
        <p:spPr>
          <a:xfrm>
            <a:off x="6364224" y="1993392"/>
            <a:ext cx="5285232" cy="256032"/>
          </a:xfrm>
          <a:prstGeom prst="rect">
            <a:avLst/>
          </a:prstGeom>
          <a:noFill/>
        </p:spPr>
        <p:txBody>
          <a:bodyPr wrap="square" anchor="t">
            <a:spAutoFit/>
          </a:bodyPr>
          <a:lstStyle/>
          <a:p>
            <a:pPr algn="l"/>
            <a:r>
              <a:rPr sz="1200" b="1">
                <a:solidFill>
                  <a:srgbClr val="ED1C24"/>
                </a:solidFill>
                <a:latin typeface="Calibri"/>
              </a:rPr>
              <a:t>If the workshop wants pieces</a:t>
            </a:r>
          </a:p>
        </p:txBody>
      </p:sp>
      <p:sp>
        <p:nvSpPr>
          <p:cNvPr id="19" name="TextBox 18"/>
          <p:cNvSpPr txBox="1"/>
          <p:nvPr/>
        </p:nvSpPr>
        <p:spPr>
          <a:xfrm>
            <a:off x="6364224" y="2286000"/>
            <a:ext cx="5285232" cy="1453896"/>
          </a:xfrm>
          <a:prstGeom prst="rect">
            <a:avLst/>
          </a:prstGeom>
          <a:noFill/>
        </p:spPr>
        <p:txBody>
          <a:bodyPr wrap="square" anchor="t">
            <a:spAutoFit/>
          </a:bodyPr>
          <a:lstStyle/>
          <a:p>
            <a:pPr algn="l"/>
            <a:r>
              <a:rPr sz="1200" b="0">
                <a:solidFill>
                  <a:srgbClr val="344251"/>
                </a:solidFill>
                <a:latin typeface="Calibri"/>
              </a:rPr>
              <a:t>8981649171 + 8970388314 + 1313100120. ISZE to ITUK EUR 282.08. Projected about EUR 395.</a:t>
            </a:r>
          </a:p>
        </p:txBody>
      </p:sp>
      <p:sp>
        <p:nvSpPr>
          <p:cNvPr id="20" name="Rectangle 19"/>
          <p:cNvSpPr/>
          <p:nvPr/>
        </p:nvSpPr>
        <p:spPr>
          <a:xfrm>
            <a:off x="438912" y="406908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352" y="4069080"/>
            <a:ext cx="2962656" cy="329184"/>
          </a:xfrm>
          <a:prstGeom prst="rect">
            <a:avLst/>
          </a:prstGeom>
          <a:noFill/>
        </p:spPr>
        <p:txBody>
          <a:bodyPr wrap="square" anchor="ctr">
            <a:spAutoFit/>
          </a:bodyPr>
          <a:lstStyle/>
          <a:p>
            <a:pPr algn="l"/>
            <a:r>
              <a:rPr sz="1100" b="1">
                <a:solidFill>
                  <a:srgbClr val="FFFFFF"/>
                </a:solidFill>
                <a:latin typeface="Calibri"/>
              </a:rPr>
              <a:t>Piece</a:t>
            </a:r>
          </a:p>
        </p:txBody>
      </p:sp>
      <p:sp>
        <p:nvSpPr>
          <p:cNvPr id="22" name="TextBox 21"/>
          <p:cNvSpPr txBox="1"/>
          <p:nvPr/>
        </p:nvSpPr>
        <p:spPr>
          <a:xfrm>
            <a:off x="3639312" y="4069080"/>
            <a:ext cx="2907792" cy="329184"/>
          </a:xfrm>
          <a:prstGeom prst="rect">
            <a:avLst/>
          </a:prstGeom>
          <a:noFill/>
        </p:spPr>
        <p:txBody>
          <a:bodyPr wrap="square" anchor="ctr">
            <a:spAutoFit/>
          </a:bodyPr>
          <a:lstStyle/>
          <a:p>
            <a:pPr algn="r"/>
            <a:r>
              <a:rPr sz="1100" b="1">
                <a:solidFill>
                  <a:srgbClr val="FFFFFF"/>
                </a:solidFill>
                <a:latin typeface="Calibri"/>
              </a:rPr>
              <a:t>PN</a:t>
            </a:r>
          </a:p>
        </p:txBody>
      </p:sp>
      <p:sp>
        <p:nvSpPr>
          <p:cNvPr id="23" name="TextBox 22"/>
          <p:cNvSpPr txBox="1"/>
          <p:nvPr/>
        </p:nvSpPr>
        <p:spPr>
          <a:xfrm>
            <a:off x="6693408" y="4069080"/>
            <a:ext cx="2450592"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24" name="TextBox 23"/>
          <p:cNvSpPr txBox="1"/>
          <p:nvPr/>
        </p:nvSpPr>
        <p:spPr>
          <a:xfrm>
            <a:off x="9290304" y="4069080"/>
            <a:ext cx="2450592"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25" name="TextBox 24"/>
          <p:cNvSpPr txBox="1"/>
          <p:nvPr/>
        </p:nvSpPr>
        <p:spPr>
          <a:xfrm>
            <a:off x="530352" y="4398264"/>
            <a:ext cx="2962656" cy="420624"/>
          </a:xfrm>
          <a:prstGeom prst="rect">
            <a:avLst/>
          </a:prstGeom>
          <a:noFill/>
        </p:spPr>
        <p:txBody>
          <a:bodyPr wrap="square" anchor="ctr">
            <a:spAutoFit/>
          </a:bodyPr>
          <a:lstStyle/>
          <a:p>
            <a:pPr algn="l"/>
            <a:r>
              <a:rPr sz="1300" b="1">
                <a:solidFill>
                  <a:srgbClr val="1B2733"/>
                </a:solidFill>
                <a:latin typeface="Calibri"/>
              </a:rPr>
              <a:t>Disc</a:t>
            </a:r>
          </a:p>
        </p:txBody>
      </p:sp>
      <p:sp>
        <p:nvSpPr>
          <p:cNvPr id="26" name="TextBox 25"/>
          <p:cNvSpPr txBox="1"/>
          <p:nvPr/>
        </p:nvSpPr>
        <p:spPr>
          <a:xfrm>
            <a:off x="3639312" y="4398264"/>
            <a:ext cx="2907792" cy="420624"/>
          </a:xfrm>
          <a:prstGeom prst="rect">
            <a:avLst/>
          </a:prstGeom>
          <a:noFill/>
        </p:spPr>
        <p:txBody>
          <a:bodyPr wrap="square" anchor="ctr">
            <a:spAutoFit/>
          </a:bodyPr>
          <a:lstStyle/>
          <a:p>
            <a:pPr algn="r"/>
            <a:r>
              <a:rPr sz="1300" b="0">
                <a:solidFill>
                  <a:srgbClr val="344251"/>
                </a:solidFill>
                <a:latin typeface="Calibri"/>
              </a:rPr>
              <a:t>8981649171</a:t>
            </a:r>
          </a:p>
        </p:txBody>
      </p:sp>
      <p:sp>
        <p:nvSpPr>
          <p:cNvPr id="27" name="TextBox 26"/>
          <p:cNvSpPr txBox="1"/>
          <p:nvPr/>
        </p:nvSpPr>
        <p:spPr>
          <a:xfrm>
            <a:off x="6693408" y="4398264"/>
            <a:ext cx="2450592" cy="420624"/>
          </a:xfrm>
          <a:prstGeom prst="rect">
            <a:avLst/>
          </a:prstGeom>
          <a:noFill/>
        </p:spPr>
        <p:txBody>
          <a:bodyPr wrap="square" anchor="ctr">
            <a:spAutoFit/>
          </a:bodyPr>
          <a:lstStyle/>
          <a:p>
            <a:pPr algn="r"/>
            <a:r>
              <a:rPr sz="1300" b="0">
                <a:solidFill>
                  <a:srgbClr val="344251"/>
                </a:solidFill>
                <a:latin typeface="Calibri"/>
              </a:rPr>
              <a:t>50</a:t>
            </a:r>
          </a:p>
        </p:txBody>
      </p:sp>
      <p:sp>
        <p:nvSpPr>
          <p:cNvPr id="28" name="TextBox 27"/>
          <p:cNvSpPr txBox="1"/>
          <p:nvPr/>
        </p:nvSpPr>
        <p:spPr>
          <a:xfrm>
            <a:off x="9290304" y="4398264"/>
            <a:ext cx="2450592" cy="420624"/>
          </a:xfrm>
          <a:prstGeom prst="rect">
            <a:avLst/>
          </a:prstGeom>
          <a:noFill/>
        </p:spPr>
        <p:txBody>
          <a:bodyPr wrap="square" anchor="ctr">
            <a:spAutoFit/>
          </a:bodyPr>
          <a:lstStyle/>
          <a:p>
            <a:pPr algn="r"/>
            <a:r>
              <a:rPr sz="1300" b="0">
                <a:solidFill>
                  <a:srgbClr val="344251"/>
                </a:solidFill>
                <a:latin typeface="Calibri"/>
              </a:rPr>
              <a:t>47</a:t>
            </a:r>
          </a:p>
        </p:txBody>
      </p:sp>
      <p:sp>
        <p:nvSpPr>
          <p:cNvPr id="29" name="Rectangle 28"/>
          <p:cNvSpPr/>
          <p:nvPr/>
        </p:nvSpPr>
        <p:spPr>
          <a:xfrm>
            <a:off x="438912" y="4818888"/>
            <a:ext cx="11356848" cy="420624"/>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0352" y="4818888"/>
            <a:ext cx="2962656" cy="420624"/>
          </a:xfrm>
          <a:prstGeom prst="rect">
            <a:avLst/>
          </a:prstGeom>
          <a:noFill/>
        </p:spPr>
        <p:txBody>
          <a:bodyPr wrap="square" anchor="ctr">
            <a:spAutoFit/>
          </a:bodyPr>
          <a:lstStyle/>
          <a:p>
            <a:pPr algn="l"/>
            <a:r>
              <a:rPr sz="1300" b="1">
                <a:solidFill>
                  <a:srgbClr val="1B2733"/>
                </a:solidFill>
                <a:latin typeface="Calibri"/>
              </a:rPr>
              <a:t>Pressure plate</a:t>
            </a:r>
          </a:p>
        </p:txBody>
      </p:sp>
      <p:sp>
        <p:nvSpPr>
          <p:cNvPr id="31" name="TextBox 30"/>
          <p:cNvSpPr txBox="1"/>
          <p:nvPr/>
        </p:nvSpPr>
        <p:spPr>
          <a:xfrm>
            <a:off x="3639312" y="4818888"/>
            <a:ext cx="2907792" cy="420624"/>
          </a:xfrm>
          <a:prstGeom prst="rect">
            <a:avLst/>
          </a:prstGeom>
          <a:noFill/>
        </p:spPr>
        <p:txBody>
          <a:bodyPr wrap="square" anchor="ctr">
            <a:spAutoFit/>
          </a:bodyPr>
          <a:lstStyle/>
          <a:p>
            <a:pPr algn="r"/>
            <a:r>
              <a:rPr sz="1300" b="0">
                <a:solidFill>
                  <a:srgbClr val="344251"/>
                </a:solidFill>
                <a:latin typeface="Calibri"/>
              </a:rPr>
              <a:t>8970388314</a:t>
            </a:r>
          </a:p>
        </p:txBody>
      </p:sp>
      <p:sp>
        <p:nvSpPr>
          <p:cNvPr id="32" name="TextBox 31"/>
          <p:cNvSpPr txBox="1"/>
          <p:nvPr/>
        </p:nvSpPr>
        <p:spPr>
          <a:xfrm>
            <a:off x="6693408" y="4818888"/>
            <a:ext cx="2450592" cy="420624"/>
          </a:xfrm>
          <a:prstGeom prst="rect">
            <a:avLst/>
          </a:prstGeom>
          <a:noFill/>
        </p:spPr>
        <p:txBody>
          <a:bodyPr wrap="square" anchor="ctr">
            <a:spAutoFit/>
          </a:bodyPr>
          <a:lstStyle/>
          <a:p>
            <a:pPr algn="r"/>
            <a:r>
              <a:rPr sz="1300" b="0">
                <a:solidFill>
                  <a:srgbClr val="344251"/>
                </a:solidFill>
                <a:latin typeface="Calibri"/>
              </a:rPr>
              <a:t>9</a:t>
            </a:r>
          </a:p>
        </p:txBody>
      </p:sp>
      <p:sp>
        <p:nvSpPr>
          <p:cNvPr id="33" name="TextBox 32"/>
          <p:cNvSpPr txBox="1"/>
          <p:nvPr/>
        </p:nvSpPr>
        <p:spPr>
          <a:xfrm>
            <a:off x="9290304" y="4818888"/>
            <a:ext cx="2450592" cy="420624"/>
          </a:xfrm>
          <a:prstGeom prst="rect">
            <a:avLst/>
          </a:prstGeom>
          <a:noFill/>
        </p:spPr>
        <p:txBody>
          <a:bodyPr wrap="square" anchor="ctr">
            <a:spAutoFit/>
          </a:bodyPr>
          <a:lstStyle/>
          <a:p>
            <a:pPr algn="r"/>
            <a:r>
              <a:rPr sz="1300" b="0">
                <a:solidFill>
                  <a:srgbClr val="344251"/>
                </a:solidFill>
                <a:latin typeface="Calibri"/>
              </a:rPr>
              <a:t>54</a:t>
            </a:r>
          </a:p>
        </p:txBody>
      </p:sp>
      <p:sp>
        <p:nvSpPr>
          <p:cNvPr id="34" name="TextBox 33"/>
          <p:cNvSpPr txBox="1"/>
          <p:nvPr/>
        </p:nvSpPr>
        <p:spPr>
          <a:xfrm>
            <a:off x="530352" y="5239512"/>
            <a:ext cx="2962656" cy="420624"/>
          </a:xfrm>
          <a:prstGeom prst="rect">
            <a:avLst/>
          </a:prstGeom>
          <a:noFill/>
        </p:spPr>
        <p:txBody>
          <a:bodyPr wrap="square" anchor="ctr">
            <a:spAutoFit/>
          </a:bodyPr>
          <a:lstStyle/>
          <a:p>
            <a:pPr algn="l"/>
            <a:r>
              <a:rPr sz="1300" b="1">
                <a:solidFill>
                  <a:srgbClr val="1B2733"/>
                </a:solidFill>
                <a:latin typeface="Calibri"/>
              </a:rPr>
              <a:t>Release bearing</a:t>
            </a:r>
          </a:p>
        </p:txBody>
      </p:sp>
      <p:sp>
        <p:nvSpPr>
          <p:cNvPr id="35" name="TextBox 34"/>
          <p:cNvSpPr txBox="1"/>
          <p:nvPr/>
        </p:nvSpPr>
        <p:spPr>
          <a:xfrm>
            <a:off x="3639312" y="5239512"/>
            <a:ext cx="2907792" cy="420624"/>
          </a:xfrm>
          <a:prstGeom prst="rect">
            <a:avLst/>
          </a:prstGeom>
          <a:noFill/>
        </p:spPr>
        <p:txBody>
          <a:bodyPr wrap="square" anchor="ctr">
            <a:spAutoFit/>
          </a:bodyPr>
          <a:lstStyle/>
          <a:p>
            <a:pPr algn="r"/>
            <a:r>
              <a:rPr sz="1300" b="0">
                <a:solidFill>
                  <a:srgbClr val="344251"/>
                </a:solidFill>
                <a:latin typeface="Calibri"/>
              </a:rPr>
              <a:t>1313100120</a:t>
            </a:r>
          </a:p>
        </p:txBody>
      </p:sp>
      <p:sp>
        <p:nvSpPr>
          <p:cNvPr id="36" name="TextBox 35"/>
          <p:cNvSpPr txBox="1"/>
          <p:nvPr/>
        </p:nvSpPr>
        <p:spPr>
          <a:xfrm>
            <a:off x="6693408" y="5239512"/>
            <a:ext cx="2450592" cy="420624"/>
          </a:xfrm>
          <a:prstGeom prst="rect">
            <a:avLst/>
          </a:prstGeom>
          <a:noFill/>
        </p:spPr>
        <p:txBody>
          <a:bodyPr wrap="square" anchor="ctr">
            <a:spAutoFit/>
          </a:bodyPr>
          <a:lstStyle/>
          <a:p>
            <a:pPr algn="r"/>
            <a:r>
              <a:rPr sz="1300" b="0">
                <a:solidFill>
                  <a:srgbClr val="344251"/>
                </a:solidFill>
                <a:latin typeface="Calibri"/>
              </a:rPr>
              <a:t>38</a:t>
            </a:r>
          </a:p>
        </p:txBody>
      </p:sp>
      <p:sp>
        <p:nvSpPr>
          <p:cNvPr id="37" name="TextBox 36"/>
          <p:cNvSpPr txBox="1"/>
          <p:nvPr/>
        </p:nvSpPr>
        <p:spPr>
          <a:xfrm>
            <a:off x="9290304" y="5239512"/>
            <a:ext cx="2450592" cy="420624"/>
          </a:xfrm>
          <a:prstGeom prst="rect">
            <a:avLst/>
          </a:prstGeom>
          <a:noFill/>
        </p:spPr>
        <p:txBody>
          <a:bodyPr wrap="square" anchor="ctr">
            <a:spAutoFit/>
          </a:bodyPr>
          <a:lstStyle/>
          <a:p>
            <a:pPr algn="r"/>
            <a:r>
              <a:rPr sz="1300" b="0">
                <a:solidFill>
                  <a:srgbClr val="344251"/>
                </a:solidFill>
                <a:latin typeface="Calibri"/>
              </a:rPr>
              <a:t>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The pad is well above aftermarket. Filters are close.</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12</a:t>
            </a:r>
          </a:p>
        </p:txBody>
      </p:sp>
      <p:sp>
        <p:nvSpPr>
          <p:cNvPr id="9" name="TextBox 8"/>
          <p:cNvSpPr txBox="1"/>
          <p:nvPr/>
        </p:nvSpPr>
        <p:spPr>
          <a:xfrm>
            <a:off x="438912" y="1042415"/>
            <a:ext cx="11338560" cy="502920"/>
          </a:xfrm>
          <a:prstGeom prst="rect">
            <a:avLst/>
          </a:prstGeom>
          <a:noFill/>
        </p:spPr>
        <p:txBody>
          <a:bodyPr wrap="square" anchor="t">
            <a:spAutoFit/>
          </a:bodyPr>
          <a:lstStyle/>
          <a:p>
            <a:pPr algn="l"/>
            <a:r>
              <a:rPr sz="1400" b="0">
                <a:solidFill>
                  <a:srgbClr val="344251"/>
                </a:solidFill>
                <a:latin typeface="Calibri"/>
              </a:rPr>
              <a:t>Management line: the pad is the problem. Filters are close. The clutch is not. Compare projected ITUK price to dealers with what a workshop pays for the aftermarket part. Same step. ISZE to ITUK is shown so the chain is visible.</a:t>
            </a:r>
          </a:p>
        </p:txBody>
      </p:sp>
      <p:sp>
        <p:nvSpPr>
          <p:cNvPr id="10" name="Rectangle 9"/>
          <p:cNvSpPr/>
          <p:nvPr/>
        </p:nvSpPr>
        <p:spPr>
          <a:xfrm>
            <a:off x="438912" y="1664208"/>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1664208"/>
            <a:ext cx="2322576" cy="329184"/>
          </a:xfrm>
          <a:prstGeom prst="rect">
            <a:avLst/>
          </a:prstGeom>
          <a:noFill/>
        </p:spPr>
        <p:txBody>
          <a:bodyPr wrap="square" anchor="ctr">
            <a:spAutoFit/>
          </a:bodyPr>
          <a:lstStyle/>
          <a:p>
            <a:pPr algn="l"/>
            <a:r>
              <a:rPr sz="1100" b="1">
                <a:solidFill>
                  <a:srgbClr val="FFFFFF"/>
                </a:solidFill>
                <a:latin typeface="Calibri"/>
              </a:rPr>
              <a:t>Part</a:t>
            </a:r>
          </a:p>
        </p:txBody>
      </p:sp>
      <p:sp>
        <p:nvSpPr>
          <p:cNvPr id="12" name="TextBox 11"/>
          <p:cNvSpPr txBox="1"/>
          <p:nvPr/>
        </p:nvSpPr>
        <p:spPr>
          <a:xfrm>
            <a:off x="2999232" y="1664208"/>
            <a:ext cx="1865376"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13" name="TextBox 12"/>
          <p:cNvSpPr txBox="1"/>
          <p:nvPr/>
        </p:nvSpPr>
        <p:spPr>
          <a:xfrm>
            <a:off x="5010912" y="1664208"/>
            <a:ext cx="2322576" cy="329184"/>
          </a:xfrm>
          <a:prstGeom prst="rect">
            <a:avLst/>
          </a:prstGeom>
          <a:noFill/>
        </p:spPr>
        <p:txBody>
          <a:bodyPr wrap="square" anchor="ctr">
            <a:spAutoFit/>
          </a:bodyPr>
          <a:lstStyle/>
          <a:p>
            <a:pPr algn="r"/>
            <a:r>
              <a:rPr sz="1100" b="1">
                <a:solidFill>
                  <a:srgbClr val="FFFFFF"/>
                </a:solidFill>
                <a:latin typeface="Calibri"/>
              </a:rPr>
              <a:t>Projected to dealers</a:t>
            </a:r>
          </a:p>
        </p:txBody>
      </p:sp>
      <p:sp>
        <p:nvSpPr>
          <p:cNvPr id="14" name="TextBox 13"/>
          <p:cNvSpPr txBox="1"/>
          <p:nvPr/>
        </p:nvSpPr>
        <p:spPr>
          <a:xfrm>
            <a:off x="7479792" y="1664208"/>
            <a:ext cx="2322576" cy="329184"/>
          </a:xfrm>
          <a:prstGeom prst="rect">
            <a:avLst/>
          </a:prstGeom>
          <a:noFill/>
        </p:spPr>
        <p:txBody>
          <a:bodyPr wrap="square" anchor="ctr">
            <a:spAutoFit/>
          </a:bodyPr>
          <a:lstStyle/>
          <a:p>
            <a:pPr algn="r"/>
            <a:r>
              <a:rPr sz="1100" b="1">
                <a:solidFill>
                  <a:srgbClr val="FFFFFF"/>
                </a:solidFill>
                <a:latin typeface="Calibri"/>
              </a:rPr>
              <a:t>Aftermarket workshop</a:t>
            </a:r>
          </a:p>
        </p:txBody>
      </p:sp>
      <p:sp>
        <p:nvSpPr>
          <p:cNvPr id="15" name="TextBox 14"/>
          <p:cNvSpPr txBox="1"/>
          <p:nvPr/>
        </p:nvSpPr>
        <p:spPr>
          <a:xfrm>
            <a:off x="9948672" y="1664208"/>
            <a:ext cx="1792224" cy="329184"/>
          </a:xfrm>
          <a:prstGeom prst="rect">
            <a:avLst/>
          </a:prstGeom>
          <a:noFill/>
        </p:spPr>
        <p:txBody>
          <a:bodyPr wrap="square" anchor="ctr">
            <a:spAutoFit/>
          </a:bodyPr>
          <a:lstStyle/>
          <a:p>
            <a:pPr algn="r"/>
            <a:r>
              <a:rPr sz="1100" b="1">
                <a:solidFill>
                  <a:srgbClr val="FFFFFF"/>
                </a:solidFill>
                <a:latin typeface="Calibri"/>
              </a:rPr>
              <a:t>Read</a:t>
            </a:r>
          </a:p>
        </p:txBody>
      </p:sp>
      <p:sp>
        <p:nvSpPr>
          <p:cNvPr id="16" name="TextBox 15"/>
          <p:cNvSpPr txBox="1"/>
          <p:nvPr/>
        </p:nvSpPr>
        <p:spPr>
          <a:xfrm>
            <a:off x="530352" y="1993392"/>
            <a:ext cx="2322576" cy="420624"/>
          </a:xfrm>
          <a:prstGeom prst="rect">
            <a:avLst/>
          </a:prstGeom>
          <a:noFill/>
        </p:spPr>
        <p:txBody>
          <a:bodyPr wrap="square" anchor="ctr">
            <a:spAutoFit/>
          </a:bodyPr>
          <a:lstStyle/>
          <a:p>
            <a:pPr algn="l"/>
            <a:r>
              <a:rPr sz="1300" b="1">
                <a:solidFill>
                  <a:srgbClr val="1B2733"/>
                </a:solidFill>
                <a:latin typeface="Calibri"/>
              </a:rPr>
              <a:t>Oil filter</a:t>
            </a:r>
          </a:p>
        </p:txBody>
      </p:sp>
      <p:sp>
        <p:nvSpPr>
          <p:cNvPr id="17" name="TextBox 16"/>
          <p:cNvSpPr txBox="1"/>
          <p:nvPr/>
        </p:nvSpPr>
        <p:spPr>
          <a:xfrm>
            <a:off x="2999232" y="1993392"/>
            <a:ext cx="1865376" cy="420624"/>
          </a:xfrm>
          <a:prstGeom prst="rect">
            <a:avLst/>
          </a:prstGeom>
          <a:noFill/>
        </p:spPr>
        <p:txBody>
          <a:bodyPr wrap="square" anchor="ctr">
            <a:spAutoFit/>
          </a:bodyPr>
          <a:lstStyle/>
          <a:p>
            <a:pPr algn="r"/>
            <a:r>
              <a:rPr sz="1300" b="0">
                <a:solidFill>
                  <a:srgbClr val="344251"/>
                </a:solidFill>
                <a:latin typeface="Calibri"/>
              </a:rPr>
              <a:t>14.45</a:t>
            </a:r>
          </a:p>
        </p:txBody>
      </p:sp>
      <p:sp>
        <p:nvSpPr>
          <p:cNvPr id="18" name="TextBox 17"/>
          <p:cNvSpPr txBox="1"/>
          <p:nvPr/>
        </p:nvSpPr>
        <p:spPr>
          <a:xfrm>
            <a:off x="5010912" y="1993392"/>
            <a:ext cx="2322576" cy="420624"/>
          </a:xfrm>
          <a:prstGeom prst="rect">
            <a:avLst/>
          </a:prstGeom>
          <a:noFill/>
        </p:spPr>
        <p:txBody>
          <a:bodyPr wrap="square" anchor="ctr">
            <a:spAutoFit/>
          </a:bodyPr>
          <a:lstStyle/>
          <a:p>
            <a:pPr algn="r"/>
            <a:r>
              <a:rPr sz="1300" b="0">
                <a:solidFill>
                  <a:srgbClr val="344251"/>
                </a:solidFill>
                <a:latin typeface="Calibri"/>
              </a:rPr>
              <a:t>20.23</a:t>
            </a:r>
          </a:p>
        </p:txBody>
      </p:sp>
      <p:sp>
        <p:nvSpPr>
          <p:cNvPr id="19" name="TextBox 18"/>
          <p:cNvSpPr txBox="1"/>
          <p:nvPr/>
        </p:nvSpPr>
        <p:spPr>
          <a:xfrm>
            <a:off x="7479792" y="1993392"/>
            <a:ext cx="2322576" cy="420624"/>
          </a:xfrm>
          <a:prstGeom prst="rect">
            <a:avLst/>
          </a:prstGeom>
          <a:noFill/>
        </p:spPr>
        <p:txBody>
          <a:bodyPr wrap="square" anchor="ctr">
            <a:spAutoFit/>
          </a:bodyPr>
          <a:lstStyle/>
          <a:p>
            <a:pPr algn="r"/>
            <a:r>
              <a:rPr sz="1300" b="0">
                <a:solidFill>
                  <a:srgbClr val="344251"/>
                </a:solidFill>
                <a:latin typeface="Calibri"/>
              </a:rPr>
              <a:t>15.10</a:t>
            </a:r>
          </a:p>
        </p:txBody>
      </p:sp>
      <p:sp>
        <p:nvSpPr>
          <p:cNvPr id="20" name="TextBox 19"/>
          <p:cNvSpPr txBox="1"/>
          <p:nvPr/>
        </p:nvSpPr>
        <p:spPr>
          <a:xfrm>
            <a:off x="9948672" y="1993392"/>
            <a:ext cx="1792224" cy="420624"/>
          </a:xfrm>
          <a:prstGeom prst="rect">
            <a:avLst/>
          </a:prstGeom>
          <a:noFill/>
        </p:spPr>
        <p:txBody>
          <a:bodyPr wrap="square" anchor="ctr">
            <a:spAutoFit/>
          </a:bodyPr>
          <a:lstStyle/>
          <a:p>
            <a:pPr algn="r"/>
            <a:r>
              <a:rPr sz="1300" b="0">
                <a:solidFill>
                  <a:srgbClr val="344251"/>
                </a:solidFill>
                <a:latin typeface="Calibri"/>
              </a:rPr>
              <a:t>Above</a:t>
            </a:r>
          </a:p>
        </p:txBody>
      </p:sp>
      <p:sp>
        <p:nvSpPr>
          <p:cNvPr id="21" name="Rectangle 20"/>
          <p:cNvSpPr/>
          <p:nvPr/>
        </p:nvSpPr>
        <p:spPr>
          <a:xfrm>
            <a:off x="438912" y="2414016"/>
            <a:ext cx="11356848" cy="420624"/>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 y="2414016"/>
            <a:ext cx="2322576" cy="420624"/>
          </a:xfrm>
          <a:prstGeom prst="rect">
            <a:avLst/>
          </a:prstGeom>
          <a:noFill/>
        </p:spPr>
        <p:txBody>
          <a:bodyPr wrap="square" anchor="ctr">
            <a:spAutoFit/>
          </a:bodyPr>
          <a:lstStyle/>
          <a:p>
            <a:pPr algn="l"/>
            <a:r>
              <a:rPr sz="1300" b="1">
                <a:solidFill>
                  <a:srgbClr val="1B2733"/>
                </a:solidFill>
                <a:latin typeface="Calibri"/>
              </a:rPr>
              <a:t>Fuel filter</a:t>
            </a:r>
          </a:p>
        </p:txBody>
      </p:sp>
      <p:sp>
        <p:nvSpPr>
          <p:cNvPr id="23" name="TextBox 22"/>
          <p:cNvSpPr txBox="1"/>
          <p:nvPr/>
        </p:nvSpPr>
        <p:spPr>
          <a:xfrm>
            <a:off x="2999232" y="2414016"/>
            <a:ext cx="1865376" cy="420624"/>
          </a:xfrm>
          <a:prstGeom prst="rect">
            <a:avLst/>
          </a:prstGeom>
          <a:noFill/>
        </p:spPr>
        <p:txBody>
          <a:bodyPr wrap="square" anchor="ctr">
            <a:spAutoFit/>
          </a:bodyPr>
          <a:lstStyle/>
          <a:p>
            <a:pPr algn="r"/>
            <a:r>
              <a:rPr sz="1300" b="0">
                <a:solidFill>
                  <a:srgbClr val="344251"/>
                </a:solidFill>
                <a:latin typeface="Calibri"/>
              </a:rPr>
              <a:t>12.56</a:t>
            </a:r>
          </a:p>
        </p:txBody>
      </p:sp>
      <p:sp>
        <p:nvSpPr>
          <p:cNvPr id="24" name="TextBox 23"/>
          <p:cNvSpPr txBox="1"/>
          <p:nvPr/>
        </p:nvSpPr>
        <p:spPr>
          <a:xfrm>
            <a:off x="5010912" y="2414016"/>
            <a:ext cx="2322576" cy="420624"/>
          </a:xfrm>
          <a:prstGeom prst="rect">
            <a:avLst/>
          </a:prstGeom>
          <a:noFill/>
        </p:spPr>
        <p:txBody>
          <a:bodyPr wrap="square" anchor="ctr">
            <a:spAutoFit/>
          </a:bodyPr>
          <a:lstStyle/>
          <a:p>
            <a:pPr algn="r"/>
            <a:r>
              <a:rPr sz="1300" b="0">
                <a:solidFill>
                  <a:srgbClr val="344251"/>
                </a:solidFill>
                <a:latin typeface="Calibri"/>
              </a:rPr>
              <a:t>17.58</a:t>
            </a:r>
          </a:p>
        </p:txBody>
      </p:sp>
      <p:sp>
        <p:nvSpPr>
          <p:cNvPr id="25" name="TextBox 24"/>
          <p:cNvSpPr txBox="1"/>
          <p:nvPr/>
        </p:nvSpPr>
        <p:spPr>
          <a:xfrm>
            <a:off x="7479792" y="2414016"/>
            <a:ext cx="2322576" cy="420624"/>
          </a:xfrm>
          <a:prstGeom prst="rect">
            <a:avLst/>
          </a:prstGeom>
          <a:noFill/>
        </p:spPr>
        <p:txBody>
          <a:bodyPr wrap="square" anchor="ctr">
            <a:spAutoFit/>
          </a:bodyPr>
          <a:lstStyle/>
          <a:p>
            <a:pPr algn="r"/>
            <a:r>
              <a:rPr sz="1300" b="0">
                <a:solidFill>
                  <a:srgbClr val="344251"/>
                </a:solidFill>
                <a:latin typeface="Calibri"/>
              </a:rPr>
              <a:t>14.45</a:t>
            </a:r>
          </a:p>
        </p:txBody>
      </p:sp>
      <p:sp>
        <p:nvSpPr>
          <p:cNvPr id="26" name="TextBox 25"/>
          <p:cNvSpPr txBox="1"/>
          <p:nvPr/>
        </p:nvSpPr>
        <p:spPr>
          <a:xfrm>
            <a:off x="9948672" y="2414016"/>
            <a:ext cx="1792224" cy="420624"/>
          </a:xfrm>
          <a:prstGeom prst="rect">
            <a:avLst/>
          </a:prstGeom>
          <a:noFill/>
        </p:spPr>
        <p:txBody>
          <a:bodyPr wrap="square" anchor="ctr">
            <a:spAutoFit/>
          </a:bodyPr>
          <a:lstStyle/>
          <a:p>
            <a:pPr algn="r"/>
            <a:r>
              <a:rPr sz="1300" b="0">
                <a:solidFill>
                  <a:srgbClr val="344251"/>
                </a:solidFill>
                <a:latin typeface="Calibri"/>
              </a:rPr>
              <a:t>Above</a:t>
            </a:r>
          </a:p>
        </p:txBody>
      </p:sp>
      <p:sp>
        <p:nvSpPr>
          <p:cNvPr id="27" name="TextBox 26"/>
          <p:cNvSpPr txBox="1"/>
          <p:nvPr/>
        </p:nvSpPr>
        <p:spPr>
          <a:xfrm>
            <a:off x="530352" y="2834640"/>
            <a:ext cx="2322576" cy="420624"/>
          </a:xfrm>
          <a:prstGeom prst="rect">
            <a:avLst/>
          </a:prstGeom>
          <a:noFill/>
        </p:spPr>
        <p:txBody>
          <a:bodyPr wrap="square" anchor="ctr">
            <a:spAutoFit/>
          </a:bodyPr>
          <a:lstStyle/>
          <a:p>
            <a:pPr algn="l"/>
            <a:r>
              <a:rPr sz="1300" b="1">
                <a:solidFill>
                  <a:srgbClr val="1B2733"/>
                </a:solidFill>
                <a:latin typeface="Calibri"/>
              </a:rPr>
              <a:t>Air filter</a:t>
            </a:r>
          </a:p>
        </p:txBody>
      </p:sp>
      <p:sp>
        <p:nvSpPr>
          <p:cNvPr id="28" name="TextBox 27"/>
          <p:cNvSpPr txBox="1"/>
          <p:nvPr/>
        </p:nvSpPr>
        <p:spPr>
          <a:xfrm>
            <a:off x="2999232" y="2834640"/>
            <a:ext cx="1865376" cy="420624"/>
          </a:xfrm>
          <a:prstGeom prst="rect">
            <a:avLst/>
          </a:prstGeom>
          <a:noFill/>
        </p:spPr>
        <p:txBody>
          <a:bodyPr wrap="square" anchor="ctr">
            <a:spAutoFit/>
          </a:bodyPr>
          <a:lstStyle/>
          <a:p>
            <a:pPr algn="r"/>
            <a:r>
              <a:rPr sz="1300" b="0">
                <a:solidFill>
                  <a:srgbClr val="344251"/>
                </a:solidFill>
                <a:latin typeface="Calibri"/>
              </a:rPr>
              <a:t>31.36</a:t>
            </a:r>
          </a:p>
        </p:txBody>
      </p:sp>
      <p:sp>
        <p:nvSpPr>
          <p:cNvPr id="29" name="TextBox 28"/>
          <p:cNvSpPr txBox="1"/>
          <p:nvPr/>
        </p:nvSpPr>
        <p:spPr>
          <a:xfrm>
            <a:off x="5010912" y="2834640"/>
            <a:ext cx="2322576" cy="420624"/>
          </a:xfrm>
          <a:prstGeom prst="rect">
            <a:avLst/>
          </a:prstGeom>
          <a:noFill/>
        </p:spPr>
        <p:txBody>
          <a:bodyPr wrap="square" anchor="ctr">
            <a:spAutoFit/>
          </a:bodyPr>
          <a:lstStyle/>
          <a:p>
            <a:pPr algn="r"/>
            <a:r>
              <a:rPr sz="1300" b="0">
                <a:solidFill>
                  <a:srgbClr val="344251"/>
                </a:solidFill>
                <a:latin typeface="Calibri"/>
              </a:rPr>
              <a:t>43.90</a:t>
            </a:r>
          </a:p>
        </p:txBody>
      </p:sp>
      <p:sp>
        <p:nvSpPr>
          <p:cNvPr id="30" name="TextBox 29"/>
          <p:cNvSpPr txBox="1"/>
          <p:nvPr/>
        </p:nvSpPr>
        <p:spPr>
          <a:xfrm>
            <a:off x="7479792" y="2834640"/>
            <a:ext cx="2322576" cy="420624"/>
          </a:xfrm>
          <a:prstGeom prst="rect">
            <a:avLst/>
          </a:prstGeom>
          <a:noFill/>
        </p:spPr>
        <p:txBody>
          <a:bodyPr wrap="square" anchor="ctr">
            <a:spAutoFit/>
          </a:bodyPr>
          <a:lstStyle/>
          <a:p>
            <a:pPr algn="r"/>
            <a:r>
              <a:rPr sz="1300" b="0">
                <a:solidFill>
                  <a:srgbClr val="344251"/>
                </a:solidFill>
                <a:latin typeface="Calibri"/>
              </a:rPr>
              <a:t>47.05</a:t>
            </a:r>
          </a:p>
        </p:txBody>
      </p:sp>
      <p:sp>
        <p:nvSpPr>
          <p:cNvPr id="31" name="TextBox 30"/>
          <p:cNvSpPr txBox="1"/>
          <p:nvPr/>
        </p:nvSpPr>
        <p:spPr>
          <a:xfrm>
            <a:off x="9948672" y="2834640"/>
            <a:ext cx="1792224" cy="420624"/>
          </a:xfrm>
          <a:prstGeom prst="rect">
            <a:avLst/>
          </a:prstGeom>
          <a:noFill/>
        </p:spPr>
        <p:txBody>
          <a:bodyPr wrap="square" anchor="ctr">
            <a:spAutoFit/>
          </a:bodyPr>
          <a:lstStyle/>
          <a:p>
            <a:pPr algn="r"/>
            <a:r>
              <a:rPr sz="1300" b="0">
                <a:solidFill>
                  <a:srgbClr val="344251"/>
                </a:solidFill>
                <a:latin typeface="Calibri"/>
              </a:rPr>
              <a:t>In line</a:t>
            </a:r>
          </a:p>
        </p:txBody>
      </p:sp>
      <p:sp>
        <p:nvSpPr>
          <p:cNvPr id="32" name="Rectangle 31"/>
          <p:cNvSpPr/>
          <p:nvPr/>
        </p:nvSpPr>
        <p:spPr>
          <a:xfrm>
            <a:off x="438912" y="3255264"/>
            <a:ext cx="11356848" cy="420624"/>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0352" y="3255264"/>
            <a:ext cx="2322576" cy="420624"/>
          </a:xfrm>
          <a:prstGeom prst="rect">
            <a:avLst/>
          </a:prstGeom>
          <a:noFill/>
        </p:spPr>
        <p:txBody>
          <a:bodyPr wrap="square" anchor="ctr">
            <a:spAutoFit/>
          </a:bodyPr>
          <a:lstStyle/>
          <a:p>
            <a:pPr algn="l"/>
            <a:r>
              <a:rPr sz="1300" b="1">
                <a:solidFill>
                  <a:srgbClr val="1B2733"/>
                </a:solidFill>
                <a:latin typeface="Calibri"/>
              </a:rPr>
              <a:t>Brake pad</a:t>
            </a:r>
          </a:p>
        </p:txBody>
      </p:sp>
      <p:sp>
        <p:nvSpPr>
          <p:cNvPr id="34" name="TextBox 33"/>
          <p:cNvSpPr txBox="1"/>
          <p:nvPr/>
        </p:nvSpPr>
        <p:spPr>
          <a:xfrm>
            <a:off x="2999232" y="3255264"/>
            <a:ext cx="1865376" cy="420624"/>
          </a:xfrm>
          <a:prstGeom prst="rect">
            <a:avLst/>
          </a:prstGeom>
          <a:noFill/>
        </p:spPr>
        <p:txBody>
          <a:bodyPr wrap="square" anchor="ctr">
            <a:spAutoFit/>
          </a:bodyPr>
          <a:lstStyle/>
          <a:p>
            <a:pPr algn="r"/>
            <a:r>
              <a:rPr sz="1300" b="0">
                <a:solidFill>
                  <a:srgbClr val="344251"/>
                </a:solidFill>
                <a:latin typeface="Calibri"/>
              </a:rPr>
              <a:t>89.11</a:t>
            </a:r>
          </a:p>
        </p:txBody>
      </p:sp>
      <p:sp>
        <p:nvSpPr>
          <p:cNvPr id="35" name="TextBox 34"/>
          <p:cNvSpPr txBox="1"/>
          <p:nvPr/>
        </p:nvSpPr>
        <p:spPr>
          <a:xfrm>
            <a:off x="5010912" y="3255264"/>
            <a:ext cx="2322576" cy="420624"/>
          </a:xfrm>
          <a:prstGeom prst="rect">
            <a:avLst/>
          </a:prstGeom>
          <a:noFill/>
        </p:spPr>
        <p:txBody>
          <a:bodyPr wrap="square" anchor="ctr">
            <a:spAutoFit/>
          </a:bodyPr>
          <a:lstStyle/>
          <a:p>
            <a:pPr algn="r"/>
            <a:r>
              <a:rPr sz="1300" b="0">
                <a:solidFill>
                  <a:srgbClr val="344251"/>
                </a:solidFill>
                <a:latin typeface="Calibri"/>
              </a:rPr>
              <a:t>124.75</a:t>
            </a:r>
          </a:p>
        </p:txBody>
      </p:sp>
      <p:sp>
        <p:nvSpPr>
          <p:cNvPr id="36" name="TextBox 35"/>
          <p:cNvSpPr txBox="1"/>
          <p:nvPr/>
        </p:nvSpPr>
        <p:spPr>
          <a:xfrm>
            <a:off x="7479792" y="3255264"/>
            <a:ext cx="2322576" cy="420624"/>
          </a:xfrm>
          <a:prstGeom prst="rect">
            <a:avLst/>
          </a:prstGeom>
          <a:noFill/>
        </p:spPr>
        <p:txBody>
          <a:bodyPr wrap="square" anchor="ctr">
            <a:spAutoFit/>
          </a:bodyPr>
          <a:lstStyle/>
          <a:p>
            <a:pPr algn="r"/>
            <a:r>
              <a:rPr sz="1300" b="0">
                <a:solidFill>
                  <a:srgbClr val="344251"/>
                </a:solidFill>
                <a:latin typeface="Calibri"/>
              </a:rPr>
              <a:t>46.12</a:t>
            </a:r>
          </a:p>
        </p:txBody>
      </p:sp>
      <p:sp>
        <p:nvSpPr>
          <p:cNvPr id="37" name="TextBox 36"/>
          <p:cNvSpPr txBox="1"/>
          <p:nvPr/>
        </p:nvSpPr>
        <p:spPr>
          <a:xfrm>
            <a:off x="9948672" y="3255264"/>
            <a:ext cx="1792224" cy="420624"/>
          </a:xfrm>
          <a:prstGeom prst="rect">
            <a:avLst/>
          </a:prstGeom>
          <a:noFill/>
        </p:spPr>
        <p:txBody>
          <a:bodyPr wrap="square" anchor="ctr">
            <a:spAutoFit/>
          </a:bodyPr>
          <a:lstStyle/>
          <a:p>
            <a:pPr algn="r"/>
            <a:r>
              <a:rPr sz="1300" b="0">
                <a:solidFill>
                  <a:srgbClr val="344251"/>
                </a:solidFill>
                <a:latin typeface="Calibri"/>
              </a:rPr>
              <a:t>Well above</a:t>
            </a:r>
          </a:p>
        </p:txBody>
      </p:sp>
      <p:sp>
        <p:nvSpPr>
          <p:cNvPr id="38" name="TextBox 37"/>
          <p:cNvSpPr txBox="1"/>
          <p:nvPr/>
        </p:nvSpPr>
        <p:spPr>
          <a:xfrm>
            <a:off x="530352" y="3675888"/>
            <a:ext cx="2322576" cy="420624"/>
          </a:xfrm>
          <a:prstGeom prst="rect">
            <a:avLst/>
          </a:prstGeom>
          <a:noFill/>
        </p:spPr>
        <p:txBody>
          <a:bodyPr wrap="square" anchor="ctr">
            <a:spAutoFit/>
          </a:bodyPr>
          <a:lstStyle/>
          <a:p>
            <a:pPr algn="l"/>
            <a:r>
              <a:rPr sz="1300" b="1">
                <a:solidFill>
                  <a:srgbClr val="1B2733"/>
                </a:solidFill>
                <a:latin typeface="Calibri"/>
              </a:rPr>
              <a:t>Clutch disc</a:t>
            </a:r>
          </a:p>
        </p:txBody>
      </p:sp>
      <p:sp>
        <p:nvSpPr>
          <p:cNvPr id="39" name="TextBox 38"/>
          <p:cNvSpPr txBox="1"/>
          <p:nvPr/>
        </p:nvSpPr>
        <p:spPr>
          <a:xfrm>
            <a:off x="2999232" y="3675888"/>
            <a:ext cx="1865376" cy="420624"/>
          </a:xfrm>
          <a:prstGeom prst="rect">
            <a:avLst/>
          </a:prstGeom>
          <a:noFill/>
        </p:spPr>
        <p:txBody>
          <a:bodyPr wrap="square" anchor="ctr">
            <a:spAutoFit/>
          </a:bodyPr>
          <a:lstStyle/>
          <a:p>
            <a:pPr algn="r"/>
            <a:r>
              <a:rPr sz="1300" b="0">
                <a:solidFill>
                  <a:srgbClr val="344251"/>
                </a:solidFill>
                <a:latin typeface="Calibri"/>
              </a:rPr>
              <a:t>84.47</a:t>
            </a:r>
          </a:p>
        </p:txBody>
      </p:sp>
      <p:sp>
        <p:nvSpPr>
          <p:cNvPr id="40" name="TextBox 39"/>
          <p:cNvSpPr txBox="1"/>
          <p:nvPr/>
        </p:nvSpPr>
        <p:spPr>
          <a:xfrm>
            <a:off x="5010912" y="3675888"/>
            <a:ext cx="2322576" cy="420624"/>
          </a:xfrm>
          <a:prstGeom prst="rect">
            <a:avLst/>
          </a:prstGeom>
          <a:noFill/>
        </p:spPr>
        <p:txBody>
          <a:bodyPr wrap="square" anchor="ctr">
            <a:spAutoFit/>
          </a:bodyPr>
          <a:lstStyle/>
          <a:p>
            <a:pPr algn="r"/>
            <a:r>
              <a:rPr sz="1300" b="0">
                <a:solidFill>
                  <a:srgbClr val="344251"/>
                </a:solidFill>
                <a:latin typeface="Calibri"/>
              </a:rPr>
              <a:t>118.26</a:t>
            </a:r>
          </a:p>
        </p:txBody>
      </p:sp>
      <p:sp>
        <p:nvSpPr>
          <p:cNvPr id="41" name="TextBox 40"/>
          <p:cNvSpPr txBox="1"/>
          <p:nvPr/>
        </p:nvSpPr>
        <p:spPr>
          <a:xfrm>
            <a:off x="7479792" y="3675888"/>
            <a:ext cx="2322576" cy="420624"/>
          </a:xfrm>
          <a:prstGeom prst="rect">
            <a:avLst/>
          </a:prstGeom>
          <a:noFill/>
        </p:spPr>
        <p:txBody>
          <a:bodyPr wrap="square" anchor="ctr">
            <a:spAutoFit/>
          </a:bodyPr>
          <a:lstStyle/>
          <a:p>
            <a:pPr algn="r"/>
            <a:r>
              <a:rPr sz="1300" b="0">
                <a:solidFill>
                  <a:srgbClr val="344251"/>
                </a:solidFill>
                <a:latin typeface="Calibri"/>
              </a:rPr>
              <a:t>284</a:t>
            </a:r>
          </a:p>
        </p:txBody>
      </p:sp>
      <p:sp>
        <p:nvSpPr>
          <p:cNvPr id="42" name="TextBox 41"/>
          <p:cNvSpPr txBox="1"/>
          <p:nvPr/>
        </p:nvSpPr>
        <p:spPr>
          <a:xfrm>
            <a:off x="9948672" y="3675888"/>
            <a:ext cx="1792224" cy="420624"/>
          </a:xfrm>
          <a:prstGeom prst="rect">
            <a:avLst/>
          </a:prstGeom>
          <a:noFill/>
        </p:spPr>
        <p:txBody>
          <a:bodyPr wrap="square" anchor="ctr">
            <a:spAutoFit/>
          </a:bodyPr>
          <a:lstStyle/>
          <a:p>
            <a:pPr algn="r"/>
            <a:r>
              <a:rPr sz="1300" b="0">
                <a:solidFill>
                  <a:srgbClr val="344251"/>
                </a:solidFill>
                <a:latin typeface="Calibri"/>
              </a:rPr>
              <a:t>Below</a:t>
            </a:r>
          </a:p>
        </p:txBody>
      </p:sp>
      <p:sp>
        <p:nvSpPr>
          <p:cNvPr id="43" name="Rounded Rectangle 42"/>
          <p:cNvSpPr/>
          <p:nvPr/>
        </p:nvSpPr>
        <p:spPr>
          <a:xfrm>
            <a:off x="438912" y="4160520"/>
            <a:ext cx="3657600" cy="14173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03504" y="4361688"/>
            <a:ext cx="3328416" cy="365760"/>
          </a:xfrm>
          <a:prstGeom prst="rect">
            <a:avLst/>
          </a:prstGeom>
          <a:noFill/>
        </p:spPr>
        <p:txBody>
          <a:bodyPr wrap="square" anchor="t">
            <a:spAutoFit/>
          </a:bodyPr>
          <a:lstStyle/>
          <a:p>
            <a:pPr algn="l"/>
            <a:r>
              <a:rPr sz="1800" b="1">
                <a:solidFill>
                  <a:srgbClr val="1B2733"/>
                </a:solidFill>
                <a:latin typeface="Calibri"/>
              </a:rPr>
              <a:t>Above</a:t>
            </a:r>
          </a:p>
        </p:txBody>
      </p:sp>
      <p:sp>
        <p:nvSpPr>
          <p:cNvPr id="45" name="TextBox 44"/>
          <p:cNvSpPr txBox="1"/>
          <p:nvPr/>
        </p:nvSpPr>
        <p:spPr>
          <a:xfrm>
            <a:off x="603504" y="4800600"/>
            <a:ext cx="3328416" cy="548640"/>
          </a:xfrm>
          <a:prstGeom prst="rect">
            <a:avLst/>
          </a:prstGeom>
          <a:noFill/>
        </p:spPr>
        <p:txBody>
          <a:bodyPr wrap="square" anchor="t">
            <a:spAutoFit/>
          </a:bodyPr>
          <a:lstStyle/>
          <a:p>
            <a:pPr algn="l"/>
            <a:r>
              <a:rPr sz="1400" b="0">
                <a:solidFill>
                  <a:srgbClr val="344251"/>
                </a:solidFill>
                <a:latin typeface="Calibri"/>
              </a:rPr>
              <a:t>Oil and fuel, after 1.40</a:t>
            </a:r>
          </a:p>
        </p:txBody>
      </p:sp>
      <p:sp>
        <p:nvSpPr>
          <p:cNvPr id="46" name="Rounded Rectangle 45"/>
          <p:cNvSpPr/>
          <p:nvPr/>
        </p:nvSpPr>
        <p:spPr>
          <a:xfrm>
            <a:off x="4261104" y="4160520"/>
            <a:ext cx="3657600" cy="14173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425696" y="4361688"/>
            <a:ext cx="3328416" cy="365760"/>
          </a:xfrm>
          <a:prstGeom prst="rect">
            <a:avLst/>
          </a:prstGeom>
          <a:noFill/>
        </p:spPr>
        <p:txBody>
          <a:bodyPr wrap="square" anchor="t">
            <a:spAutoFit/>
          </a:bodyPr>
          <a:lstStyle/>
          <a:p>
            <a:pPr algn="l"/>
            <a:r>
              <a:rPr sz="1800" b="1">
                <a:solidFill>
                  <a:srgbClr val="1B2733"/>
                </a:solidFill>
                <a:latin typeface="Calibri"/>
              </a:rPr>
              <a:t>In line</a:t>
            </a:r>
          </a:p>
        </p:txBody>
      </p:sp>
      <p:sp>
        <p:nvSpPr>
          <p:cNvPr id="48" name="TextBox 47"/>
          <p:cNvSpPr txBox="1"/>
          <p:nvPr/>
        </p:nvSpPr>
        <p:spPr>
          <a:xfrm>
            <a:off x="4425696" y="4800600"/>
            <a:ext cx="3328416" cy="548640"/>
          </a:xfrm>
          <a:prstGeom prst="rect">
            <a:avLst/>
          </a:prstGeom>
          <a:noFill/>
        </p:spPr>
        <p:txBody>
          <a:bodyPr wrap="square" anchor="t">
            <a:spAutoFit/>
          </a:bodyPr>
          <a:lstStyle/>
          <a:p>
            <a:pPr algn="l"/>
            <a:r>
              <a:rPr sz="1400" b="0">
                <a:solidFill>
                  <a:srgbClr val="344251"/>
                </a:solidFill>
                <a:latin typeface="Calibri"/>
              </a:rPr>
              <a:t>Air</a:t>
            </a:r>
          </a:p>
        </p:txBody>
      </p:sp>
      <p:sp>
        <p:nvSpPr>
          <p:cNvPr id="49" name="Rounded Rectangle 48"/>
          <p:cNvSpPr/>
          <p:nvPr/>
        </p:nvSpPr>
        <p:spPr>
          <a:xfrm>
            <a:off x="8083296" y="4160520"/>
            <a:ext cx="3657600" cy="1417320"/>
          </a:xfrm>
          <a:prstGeom prst="roundRect">
            <a:avLst>
              <a:gd name="adj" fmla="val 6000"/>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47888" y="4361688"/>
            <a:ext cx="3328416" cy="365760"/>
          </a:xfrm>
          <a:prstGeom prst="rect">
            <a:avLst/>
          </a:prstGeom>
          <a:noFill/>
        </p:spPr>
        <p:txBody>
          <a:bodyPr wrap="square" anchor="t">
            <a:spAutoFit/>
          </a:bodyPr>
          <a:lstStyle/>
          <a:p>
            <a:pPr algn="l"/>
            <a:r>
              <a:rPr sz="1800" b="1">
                <a:solidFill>
                  <a:srgbClr val="FFFFFF"/>
                </a:solidFill>
                <a:latin typeface="Calibri"/>
              </a:rPr>
              <a:t>Well above</a:t>
            </a:r>
          </a:p>
        </p:txBody>
      </p:sp>
      <p:sp>
        <p:nvSpPr>
          <p:cNvPr id="51" name="TextBox 50"/>
          <p:cNvSpPr txBox="1"/>
          <p:nvPr/>
        </p:nvSpPr>
        <p:spPr>
          <a:xfrm>
            <a:off x="8247888" y="4800600"/>
            <a:ext cx="3328416" cy="548640"/>
          </a:xfrm>
          <a:prstGeom prst="rect">
            <a:avLst/>
          </a:prstGeom>
          <a:noFill/>
        </p:spPr>
        <p:txBody>
          <a:bodyPr wrap="square" anchor="t">
            <a:spAutoFit/>
          </a:bodyPr>
          <a:lstStyle/>
          <a:p>
            <a:pPr algn="l"/>
            <a:r>
              <a:rPr sz="1400" b="0">
                <a:solidFill>
                  <a:srgbClr val="FFFFFF"/>
                </a:solidFill>
                <a:latin typeface="Calibri"/>
              </a:rPr>
              <a:t>Pad. This is the SPA talk.</a:t>
            </a:r>
          </a:p>
        </p:txBody>
      </p:sp>
      <p:sp>
        <p:nvSpPr>
          <p:cNvPr id="52" name="TextBox 51"/>
          <p:cNvSpPr txBox="1"/>
          <p:nvPr/>
        </p:nvSpPr>
        <p:spPr>
          <a:xfrm>
            <a:off x="438912" y="5687568"/>
            <a:ext cx="11338560" cy="292608"/>
          </a:xfrm>
          <a:prstGeom prst="rect">
            <a:avLst/>
          </a:prstGeom>
          <a:noFill/>
        </p:spPr>
        <p:txBody>
          <a:bodyPr wrap="square" anchor="t">
            <a:spAutoFit/>
          </a:bodyPr>
          <a:lstStyle/>
          <a:p>
            <a:pPr algn="l"/>
            <a:r>
              <a:rPr sz="1200" b="0">
                <a:solidFill>
                  <a:srgbClr val="344251"/>
                </a:solidFill>
                <a:latin typeface="Calibri"/>
              </a:rPr>
              <a:t>Projected to dealers = ISZE to ITUK x 1.40. Working mark-up. Confirm before IML. KS International: no price on these part numbers.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_bleed.jp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54864"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680960" y="6364224"/>
            <a:ext cx="4507992" cy="402336"/>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64224"/>
            <a:ext cx="4114800" cy="402336"/>
          </a:xfrm>
          <a:prstGeom prst="rect">
            <a:avLst/>
          </a:prstGeom>
          <a:noFill/>
        </p:spPr>
        <p:txBody>
          <a:bodyPr wrap="square" anchor="ctr">
            <a:spAutoFit/>
          </a:bodyPr>
          <a:lstStyle/>
          <a:p>
            <a:pPr algn="l"/>
            <a:r>
              <a:rPr sz="1300" b="1">
                <a:solidFill>
                  <a:srgbClr val="FFFFFF"/>
                </a:solidFill>
                <a:latin typeface="Calibri"/>
              </a:rPr>
              <a:t>P700</a:t>
            </a:r>
          </a:p>
        </p:txBody>
      </p:sp>
      <p:sp>
        <p:nvSpPr>
          <p:cNvPr id="6" name="Rectangle 5"/>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148840"/>
            <a:ext cx="6858000" cy="640080"/>
          </a:xfrm>
          <a:prstGeom prst="rect">
            <a:avLst/>
          </a:prstGeom>
          <a:noFill/>
        </p:spPr>
        <p:txBody>
          <a:bodyPr wrap="square" anchor="t">
            <a:spAutoFit/>
          </a:bodyPr>
          <a:lstStyle/>
          <a:p>
            <a:pPr algn="l"/>
            <a:r>
              <a:rPr sz="3200" b="1">
                <a:solidFill>
                  <a:srgbClr val="1B2733"/>
                </a:solidFill>
                <a:latin typeface="Calibri"/>
              </a:rPr>
              <a:t>October. N75 first.</a:t>
            </a:r>
          </a:p>
        </p:txBody>
      </p:sp>
      <p:sp>
        <p:nvSpPr>
          <p:cNvPr id="8" name="TextBox 7"/>
          <p:cNvSpPr txBox="1"/>
          <p:nvPr/>
        </p:nvSpPr>
        <p:spPr>
          <a:xfrm>
            <a:off x="502920" y="2926080"/>
            <a:ext cx="6766560" cy="914400"/>
          </a:xfrm>
          <a:prstGeom prst="rect">
            <a:avLst/>
          </a:prstGeom>
          <a:noFill/>
        </p:spPr>
        <p:txBody>
          <a:bodyPr wrap="square" anchor="t">
            <a:spAutoFit/>
          </a:bodyPr>
          <a:lstStyle/>
          <a:p>
            <a:pPr algn="l"/>
            <a:r>
              <a:rPr sz="1600" b="0">
                <a:solidFill>
                  <a:srgbClr val="344251"/>
                </a:solidFill>
                <a:latin typeface="Calibri"/>
              </a:rPr>
              <a:t>Scheduled PMS. Genuine first. BVP or SPA, whichever is the lower price. Urea stays.</a:t>
            </a:r>
          </a:p>
        </p:txBody>
      </p:sp>
      <p:pic>
        <p:nvPicPr>
          <p:cNvPr id="9" name="Picture 8" descr="isuzu_logo_red.png"/>
          <p:cNvPicPr>
            <a:picLocks noChangeAspect="1"/>
          </p:cNvPicPr>
          <p:nvPr/>
        </p:nvPicPr>
        <p:blipFill>
          <a:blip r:embed="rId3"/>
          <a:stretch>
            <a:fillRect/>
          </a:stretch>
        </p:blipFill>
        <p:spPr>
          <a:xfrm>
            <a:off x="502920" y="5925312"/>
            <a:ext cx="1679787" cy="292608"/>
          </a:xfrm>
          <a:prstGeom prst="rect">
            <a:avLst/>
          </a:prstGeom>
        </p:spPr>
      </p:pic>
      <p:sp>
        <p:nvSpPr>
          <p:cNvPr id="10" name="Rectangle 9"/>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