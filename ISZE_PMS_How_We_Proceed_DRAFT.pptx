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jp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554480"/>
            <a:ext cx="11183112" cy="329184"/>
          </a:xfrm>
          <a:prstGeom prst="rect">
            <a:avLst/>
          </a:prstGeom>
          <a:noFill/>
        </p:spPr>
        <p:txBody>
          <a:bodyPr wrap="square">
            <a:spAutoFit/>
          </a:bodyPr>
          <a:lstStyle/>
          <a:p>
            <a:pPr algn="ctr"/>
            <a:r>
              <a:rPr sz="1600" b="1">
                <a:solidFill>
                  <a:srgbClr val="1A1A1A"/>
                </a:solidFill>
                <a:latin typeface="Calibri"/>
              </a:rPr>
              <a:t>IML  ·  ITUK  ·  ISZE</a:t>
            </a:r>
          </a:p>
        </p:txBody>
      </p:sp>
      <p:pic>
        <p:nvPicPr>
          <p:cNvPr id="3" name="Picture 2" descr="isuzu_logo_red.png"/>
          <p:cNvPicPr>
            <a:picLocks noChangeAspect="1"/>
          </p:cNvPicPr>
          <p:nvPr/>
        </p:nvPicPr>
        <p:blipFill>
          <a:blip r:embed="rId2"/>
          <a:stretch>
            <a:fillRect/>
          </a:stretch>
        </p:blipFill>
        <p:spPr>
          <a:xfrm>
            <a:off x="4631436" y="2011680"/>
            <a:ext cx="2926080" cy="509704"/>
          </a:xfrm>
          <a:prstGeom prst="rect">
            <a:avLst/>
          </a:prstGeom>
        </p:spPr>
      </p:pic>
      <p:sp>
        <p:nvSpPr>
          <p:cNvPr id="4" name="TextBox 3"/>
          <p:cNvSpPr txBox="1"/>
          <p:nvPr/>
        </p:nvSpPr>
        <p:spPr>
          <a:xfrm>
            <a:off x="502920" y="3383280"/>
            <a:ext cx="11183112" cy="420624"/>
          </a:xfrm>
          <a:prstGeom prst="rect">
            <a:avLst/>
          </a:prstGeom>
          <a:noFill/>
        </p:spPr>
        <p:txBody>
          <a:bodyPr wrap="square">
            <a:spAutoFit/>
          </a:bodyPr>
          <a:lstStyle/>
          <a:p>
            <a:pPr algn="ctr"/>
            <a:r>
              <a:rPr sz="2400" b="1">
                <a:solidFill>
                  <a:srgbClr val="1A1A1A"/>
                </a:solidFill>
                <a:latin typeface="Calibri"/>
              </a:rPr>
              <a:t>Operational kick-off, 18 August 2026</a:t>
            </a:r>
          </a:p>
        </p:txBody>
      </p:sp>
      <p:sp>
        <p:nvSpPr>
          <p:cNvPr id="5" name="TextBox 4"/>
          <p:cNvSpPr txBox="1"/>
          <p:nvPr/>
        </p:nvSpPr>
        <p:spPr>
          <a:xfrm>
            <a:off x="1097280" y="3931920"/>
            <a:ext cx="9966960" cy="731520"/>
          </a:xfrm>
          <a:prstGeom prst="rect">
            <a:avLst/>
          </a:prstGeom>
          <a:noFill/>
        </p:spPr>
        <p:txBody>
          <a:bodyPr wrap="square">
            <a:spAutoFit/>
          </a:bodyPr>
          <a:lstStyle/>
          <a:p>
            <a:pPr algn="ctr"/>
            <a:r>
              <a:rPr sz="1600" b="0">
                <a:solidFill>
                  <a:srgbClr val="222222"/>
                </a:solidFill>
                <a:latin typeface="Calibri"/>
              </a:rPr>
              <a:t>Targeted actions: BVP availability, SPA where required, and a complete filter set for scheduled PMS.</a:t>
            </a:r>
          </a:p>
        </p:txBody>
      </p:sp>
      <p:sp>
        <p:nvSpPr>
          <p:cNvPr id="6" name="Rectangle 5"/>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suzu_logo_red.png"/>
          <p:cNvPicPr>
            <a:picLocks noChangeAspect="1"/>
          </p:cNvPicPr>
          <p:nvPr/>
        </p:nvPicPr>
        <p:blipFill>
          <a:blip r:embed="rId2"/>
          <a:stretch>
            <a:fillRect/>
          </a:stretch>
        </p:blipFill>
        <p:spPr>
          <a:xfrm>
            <a:off x="256032" y="6263640"/>
            <a:ext cx="1679787" cy="292608"/>
          </a:xfrm>
          <a:prstGeom prst="rect">
            <a:avLst/>
          </a:prstGeom>
        </p:spPr>
      </p:pic>
      <p:sp>
        <p:nvSpPr>
          <p:cNvPr id="3" name="Rectangle 2"/>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92608" y="201168"/>
            <a:ext cx="9509760" cy="256032"/>
          </a:xfrm>
          <a:prstGeom prst="rect">
            <a:avLst/>
          </a:prstGeom>
          <a:noFill/>
        </p:spPr>
        <p:txBody>
          <a:bodyPr wrap="square">
            <a:spAutoFit/>
          </a:bodyPr>
          <a:lstStyle/>
          <a:p>
            <a:pPr algn="l"/>
            <a:r>
              <a:rPr sz="1100" b="1">
                <a:solidFill>
                  <a:srgbClr val="1A1A1A"/>
                </a:solidFill>
                <a:latin typeface="Calibri"/>
              </a:rPr>
              <a:t>GOAL</a:t>
            </a:r>
          </a:p>
        </p:txBody>
      </p:sp>
      <p:sp>
        <p:nvSpPr>
          <p:cNvPr id="5" name="TextBox 4"/>
          <p:cNvSpPr txBox="1"/>
          <p:nvPr/>
        </p:nvSpPr>
        <p:spPr>
          <a:xfrm>
            <a:off x="292608" y="457200"/>
            <a:ext cx="11612880" cy="566928"/>
          </a:xfrm>
          <a:prstGeom prst="rect">
            <a:avLst/>
          </a:prstGeom>
          <a:noFill/>
        </p:spPr>
        <p:txBody>
          <a:bodyPr wrap="square">
            <a:spAutoFit/>
          </a:bodyPr>
          <a:lstStyle/>
          <a:p>
            <a:pPr algn="l"/>
            <a:r>
              <a:rPr sz="2400" b="1">
                <a:solidFill>
                  <a:srgbClr val="1A1A1A"/>
                </a:solidFill>
                <a:latin typeface="Calibri"/>
              </a:rPr>
              <a:t>Goal and three actions</a:t>
            </a:r>
          </a:p>
        </p:txBody>
      </p:sp>
      <p:sp>
        <p:nvSpPr>
          <p:cNvPr id="6" name="Rectangle 5"/>
          <p:cNvSpPr/>
          <p:nvPr/>
        </p:nvSpPr>
        <p:spPr>
          <a:xfrm>
            <a:off x="292608" y="1005840"/>
            <a:ext cx="11612880" cy="13716"/>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2</a:t>
            </a:r>
          </a:p>
        </p:txBody>
      </p:sp>
      <p:sp>
        <p:nvSpPr>
          <p:cNvPr id="8" name="TextBox 7"/>
          <p:cNvSpPr txBox="1"/>
          <p:nvPr/>
        </p:nvSpPr>
        <p:spPr>
          <a:xfrm>
            <a:off x="292608" y="1078992"/>
            <a:ext cx="11612880" cy="329184"/>
          </a:xfrm>
          <a:prstGeom prst="rect">
            <a:avLst/>
          </a:prstGeom>
          <a:noFill/>
        </p:spPr>
        <p:txBody>
          <a:bodyPr wrap="square">
            <a:spAutoFit/>
          </a:bodyPr>
          <a:lstStyle/>
          <a:p>
            <a:pPr algn="l"/>
            <a:r>
              <a:rPr sz="1600" b="0">
                <a:solidFill>
                  <a:srgbClr val="222222"/>
                </a:solidFill>
                <a:latin typeface="Calibri"/>
              </a:rPr>
              <a:t>The goal is one additional percentage point on all ITUK PMS parts at ITUK sales to dealers.</a:t>
            </a:r>
          </a:p>
        </p:txBody>
      </p:sp>
      <p:sp>
        <p:nvSpPr>
          <p:cNvPr id="9" name="Rectangle 8"/>
          <p:cNvSpPr/>
          <p:nvPr/>
        </p:nvSpPr>
        <p:spPr>
          <a:xfrm>
            <a:off x="292608" y="1463040"/>
            <a:ext cx="11612880" cy="1170432"/>
          </a:xfrm>
          <a:prstGeom prst="rect">
            <a:avLst/>
          </a:prstGeom>
          <a:solidFill>
            <a:srgbClr val="152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554480"/>
            <a:ext cx="11283696" cy="384048"/>
          </a:xfrm>
          <a:prstGeom prst="rect">
            <a:avLst/>
          </a:prstGeom>
          <a:noFill/>
        </p:spPr>
        <p:txBody>
          <a:bodyPr wrap="square">
            <a:spAutoFit/>
          </a:bodyPr>
          <a:lstStyle/>
          <a:p>
            <a:pPr algn="l"/>
            <a:r>
              <a:rPr sz="2200" b="1">
                <a:solidFill>
                  <a:srgbClr val="FFFFFF"/>
                </a:solidFill>
                <a:latin typeface="Calibri"/>
              </a:rPr>
              <a:t>368 additional units  /  about EUR 7,530 valued</a:t>
            </a:r>
          </a:p>
        </p:txBody>
      </p:sp>
      <p:sp>
        <p:nvSpPr>
          <p:cNvPr id="11" name="TextBox 10"/>
          <p:cNvSpPr txBox="1"/>
          <p:nvPr/>
        </p:nvSpPr>
        <p:spPr>
          <a:xfrm>
            <a:off x="457200" y="1956816"/>
            <a:ext cx="11283696" cy="585216"/>
          </a:xfrm>
          <a:prstGeom prst="rect">
            <a:avLst/>
          </a:prstGeom>
          <a:noFill/>
        </p:spPr>
        <p:txBody>
          <a:bodyPr wrap="square">
            <a:spAutoFit/>
          </a:bodyPr>
          <a:lstStyle/>
          <a:p>
            <a:pPr algn="l"/>
            <a:r>
              <a:rPr sz="1400" b="0">
                <a:solidFill>
                  <a:srgbClr val="FFFFFF"/>
                </a:solidFill>
                <a:latin typeface="Calibri"/>
              </a:rPr>
              <a:t>That is 1 percent of calendar 2025 ITUK sales to dealers on the ITUK parts list (36,843 units / EUR 752,982 valued), at the same mix. The euro figure is valued at the ISZE average selling price to ITUK. It is not a dealer invoice.</a:t>
            </a:r>
          </a:p>
        </p:txBody>
      </p:sp>
      <p:sp>
        <p:nvSpPr>
          <p:cNvPr id="12" name="TextBox 11"/>
          <p:cNvSpPr txBox="1"/>
          <p:nvPr/>
        </p:nvSpPr>
        <p:spPr>
          <a:xfrm>
            <a:off x="292608" y="2852928"/>
            <a:ext cx="457200" cy="640080"/>
          </a:xfrm>
          <a:prstGeom prst="rect">
            <a:avLst/>
          </a:prstGeom>
          <a:noFill/>
        </p:spPr>
        <p:txBody>
          <a:bodyPr wrap="square" anchor="ctr">
            <a:spAutoFit/>
          </a:bodyPr>
          <a:lstStyle/>
          <a:p>
            <a:pPr algn="l"/>
            <a:r>
              <a:rPr sz="2200" b="1">
                <a:solidFill>
                  <a:srgbClr val="1A1A1A"/>
                </a:solidFill>
                <a:latin typeface="Calibri"/>
              </a:rPr>
              <a:t>1</a:t>
            </a:r>
          </a:p>
        </p:txBody>
      </p:sp>
      <p:sp>
        <p:nvSpPr>
          <p:cNvPr id="13" name="TextBox 12"/>
          <p:cNvSpPr txBox="1"/>
          <p:nvPr/>
        </p:nvSpPr>
        <p:spPr>
          <a:xfrm>
            <a:off x="822960" y="2852928"/>
            <a:ext cx="11064240" cy="640080"/>
          </a:xfrm>
          <a:prstGeom prst="rect">
            <a:avLst/>
          </a:prstGeom>
          <a:noFill/>
        </p:spPr>
        <p:txBody>
          <a:bodyPr wrap="square" anchor="ctr">
            <a:spAutoFit/>
          </a:bodyPr>
          <a:lstStyle/>
          <a:p>
            <a:pPr algn="l"/>
            <a:r>
              <a:rPr sz="2000" b="0">
                <a:solidFill>
                  <a:srgbClr val="1A1A1A"/>
                </a:solidFill>
                <a:latin typeface="Calibri"/>
              </a:rPr>
              <a:t>Offer BVP where genuine volume is low.</a:t>
            </a:r>
          </a:p>
        </p:txBody>
      </p:sp>
      <p:sp>
        <p:nvSpPr>
          <p:cNvPr id="14" name="TextBox 13"/>
          <p:cNvSpPr txBox="1"/>
          <p:nvPr/>
        </p:nvSpPr>
        <p:spPr>
          <a:xfrm>
            <a:off x="292608" y="3694176"/>
            <a:ext cx="457200" cy="640080"/>
          </a:xfrm>
          <a:prstGeom prst="rect">
            <a:avLst/>
          </a:prstGeom>
          <a:noFill/>
        </p:spPr>
        <p:txBody>
          <a:bodyPr wrap="square" anchor="ctr">
            <a:spAutoFit/>
          </a:bodyPr>
          <a:lstStyle/>
          <a:p>
            <a:pPr algn="l"/>
            <a:r>
              <a:rPr sz="2200" b="1">
                <a:solidFill>
                  <a:srgbClr val="1A1A1A"/>
                </a:solidFill>
                <a:latin typeface="Calibri"/>
              </a:rPr>
              <a:t>2</a:t>
            </a:r>
          </a:p>
        </p:txBody>
      </p:sp>
      <p:sp>
        <p:nvSpPr>
          <p:cNvPr id="15" name="TextBox 14"/>
          <p:cNvSpPr txBox="1"/>
          <p:nvPr/>
        </p:nvSpPr>
        <p:spPr>
          <a:xfrm>
            <a:off x="822960" y="3694176"/>
            <a:ext cx="11064240" cy="640080"/>
          </a:xfrm>
          <a:prstGeom prst="rect">
            <a:avLst/>
          </a:prstGeom>
          <a:noFill/>
        </p:spPr>
        <p:txBody>
          <a:bodyPr wrap="square" anchor="ctr">
            <a:spAutoFit/>
          </a:bodyPr>
          <a:lstStyle/>
          <a:p>
            <a:pPr algn="l"/>
            <a:r>
              <a:rPr sz="2000" b="0">
                <a:solidFill>
                  <a:srgbClr val="1A1A1A"/>
                </a:solidFill>
                <a:latin typeface="Calibri"/>
              </a:rPr>
              <a:t>Use a Special Price Agreement only if price remains the barrier.</a:t>
            </a:r>
          </a:p>
        </p:txBody>
      </p:sp>
      <p:sp>
        <p:nvSpPr>
          <p:cNvPr id="16" name="TextBox 15"/>
          <p:cNvSpPr txBox="1"/>
          <p:nvPr/>
        </p:nvSpPr>
        <p:spPr>
          <a:xfrm>
            <a:off x="292608" y="4535424"/>
            <a:ext cx="457200" cy="640080"/>
          </a:xfrm>
          <a:prstGeom prst="rect">
            <a:avLst/>
          </a:prstGeom>
          <a:noFill/>
        </p:spPr>
        <p:txBody>
          <a:bodyPr wrap="square" anchor="ctr">
            <a:spAutoFit/>
          </a:bodyPr>
          <a:lstStyle/>
          <a:p>
            <a:pPr algn="l"/>
            <a:r>
              <a:rPr sz="2200" b="1">
                <a:solidFill>
                  <a:srgbClr val="1A1A1A"/>
                </a:solidFill>
                <a:latin typeface="Calibri"/>
              </a:rPr>
              <a:t>3</a:t>
            </a:r>
          </a:p>
        </p:txBody>
      </p:sp>
      <p:sp>
        <p:nvSpPr>
          <p:cNvPr id="17" name="TextBox 16"/>
          <p:cNvSpPr txBox="1"/>
          <p:nvPr/>
        </p:nvSpPr>
        <p:spPr>
          <a:xfrm>
            <a:off x="822960" y="4535424"/>
            <a:ext cx="11064240" cy="640080"/>
          </a:xfrm>
          <a:prstGeom prst="rect">
            <a:avLst/>
          </a:prstGeom>
          <a:noFill/>
        </p:spPr>
        <p:txBody>
          <a:bodyPr wrap="square" anchor="ctr">
            <a:spAutoFit/>
          </a:bodyPr>
          <a:lstStyle/>
          <a:p>
            <a:pPr algn="l"/>
            <a:r>
              <a:rPr sz="2000" b="0">
                <a:solidFill>
                  <a:srgbClr val="1A1A1A"/>
                </a:solidFill>
                <a:latin typeface="Calibri"/>
              </a:rPr>
              <a:t>Complete the filter set when attach is the barrier.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suzu_logo_red.png"/>
          <p:cNvPicPr>
            <a:picLocks noChangeAspect="1"/>
          </p:cNvPicPr>
          <p:nvPr/>
        </p:nvPicPr>
        <p:blipFill>
          <a:blip r:embed="rId2"/>
          <a:stretch>
            <a:fillRect/>
          </a:stretch>
        </p:blipFill>
        <p:spPr>
          <a:xfrm>
            <a:off x="256032" y="6263640"/>
            <a:ext cx="1679787" cy="292608"/>
          </a:xfrm>
          <a:prstGeom prst="rect">
            <a:avLst/>
          </a:prstGeom>
        </p:spPr>
      </p:pic>
      <p:sp>
        <p:nvSpPr>
          <p:cNvPr id="3" name="Rectangle 2"/>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92608" y="201168"/>
            <a:ext cx="9509760" cy="256032"/>
          </a:xfrm>
          <a:prstGeom prst="rect">
            <a:avLst/>
          </a:prstGeom>
          <a:noFill/>
        </p:spPr>
        <p:txBody>
          <a:bodyPr wrap="square">
            <a:spAutoFit/>
          </a:bodyPr>
          <a:lstStyle/>
          <a:p>
            <a:pPr algn="l"/>
            <a:r>
              <a:rPr sz="1100" b="1">
                <a:solidFill>
                  <a:srgbClr val="1A1A1A"/>
                </a:solidFill>
                <a:latin typeface="Calibri"/>
              </a:rPr>
              <a:t>COVERAGE</a:t>
            </a:r>
          </a:p>
        </p:txBody>
      </p:sp>
      <p:sp>
        <p:nvSpPr>
          <p:cNvPr id="5" name="TextBox 4"/>
          <p:cNvSpPr txBox="1"/>
          <p:nvPr/>
        </p:nvSpPr>
        <p:spPr>
          <a:xfrm>
            <a:off x="292608" y="457200"/>
            <a:ext cx="11612880" cy="566928"/>
          </a:xfrm>
          <a:prstGeom prst="rect">
            <a:avLst/>
          </a:prstGeom>
          <a:noFill/>
        </p:spPr>
        <p:txBody>
          <a:bodyPr wrap="square">
            <a:spAutoFit/>
          </a:bodyPr>
          <a:lstStyle/>
          <a:p>
            <a:pPr algn="l"/>
            <a:r>
              <a:rPr sz="2400" b="1">
                <a:solidFill>
                  <a:srgbClr val="1A1A1A"/>
                </a:solidFill>
                <a:latin typeface="Calibri"/>
              </a:rPr>
              <a:t>N75 filter coverage, calendar 2025</a:t>
            </a:r>
          </a:p>
        </p:txBody>
      </p:sp>
      <p:sp>
        <p:nvSpPr>
          <p:cNvPr id="6" name="Rectangle 5"/>
          <p:cNvSpPr/>
          <p:nvPr/>
        </p:nvSpPr>
        <p:spPr>
          <a:xfrm>
            <a:off x="292608" y="1005840"/>
            <a:ext cx="11612880" cy="13716"/>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3</a:t>
            </a:r>
          </a:p>
        </p:txBody>
      </p:sp>
      <p:sp>
        <p:nvSpPr>
          <p:cNvPr id="8" name="TextBox 7"/>
          <p:cNvSpPr txBox="1"/>
          <p:nvPr/>
        </p:nvSpPr>
        <p:spPr>
          <a:xfrm>
            <a:off x="292608" y="1078992"/>
            <a:ext cx="11612880" cy="329184"/>
          </a:xfrm>
          <a:prstGeom prst="rect">
            <a:avLst/>
          </a:prstGeom>
          <a:noFill/>
        </p:spPr>
        <p:txBody>
          <a:bodyPr wrap="square">
            <a:spAutoFit/>
          </a:bodyPr>
          <a:lstStyle/>
          <a:p>
            <a:pPr algn="l"/>
            <a:r>
              <a:rPr sz="1600" b="0">
                <a:solidFill>
                  <a:srgbClr val="222222"/>
                </a:solidFill>
                <a:latin typeface="Calibri"/>
              </a:rPr>
              <a:t>How much of the expected N75 service volume was sold, ITUK to dealers and ISZE to ITUK.</a:t>
            </a:r>
          </a:p>
        </p:txBody>
      </p:sp>
      <p:pic>
        <p:nvPicPr>
          <p:cNvPr id="9" name="Picture 8" descr="n75_cover.png"/>
          <p:cNvPicPr>
            <a:picLocks noChangeAspect="1"/>
          </p:cNvPicPr>
          <p:nvPr/>
        </p:nvPicPr>
        <p:blipFill>
          <a:blip r:embed="rId3"/>
          <a:stretch>
            <a:fillRect/>
          </a:stretch>
        </p:blipFill>
        <p:spPr>
          <a:xfrm>
            <a:off x="418630" y="1444752"/>
            <a:ext cx="11360836" cy="2331720"/>
          </a:xfrm>
          <a:prstGeom prst="rect">
            <a:avLst/>
          </a:prstGeom>
        </p:spPr>
      </p:pic>
      <p:sp>
        <p:nvSpPr>
          <p:cNvPr id="10" name="Rectangle 9"/>
          <p:cNvSpPr/>
          <p:nvPr/>
        </p:nvSpPr>
        <p:spPr>
          <a:xfrm>
            <a:off x="292608" y="3858768"/>
            <a:ext cx="11612880" cy="329184"/>
          </a:xfrm>
          <a:prstGeom prst="rect">
            <a:avLst/>
          </a:prstGeom>
          <a:solidFill>
            <a:srgbClr val="152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3858768"/>
            <a:ext cx="1865376" cy="329184"/>
          </a:xfrm>
          <a:prstGeom prst="rect">
            <a:avLst/>
          </a:prstGeom>
          <a:noFill/>
        </p:spPr>
        <p:txBody>
          <a:bodyPr wrap="square" anchor="ctr">
            <a:spAutoFit/>
          </a:bodyPr>
          <a:lstStyle/>
          <a:p>
            <a:pPr algn="l"/>
            <a:r>
              <a:rPr sz="1100" b="1">
                <a:solidFill>
                  <a:srgbClr val="FFFFFF"/>
                </a:solidFill>
                <a:latin typeface="Calibri"/>
              </a:rPr>
              <a:t>Category</a:t>
            </a:r>
          </a:p>
        </p:txBody>
      </p:sp>
      <p:sp>
        <p:nvSpPr>
          <p:cNvPr id="12" name="TextBox 11"/>
          <p:cNvSpPr txBox="1"/>
          <p:nvPr/>
        </p:nvSpPr>
        <p:spPr>
          <a:xfrm>
            <a:off x="2377440" y="3858768"/>
            <a:ext cx="1591056" cy="329184"/>
          </a:xfrm>
          <a:prstGeom prst="rect">
            <a:avLst/>
          </a:prstGeom>
          <a:noFill/>
        </p:spPr>
        <p:txBody>
          <a:bodyPr wrap="square" anchor="ctr">
            <a:spAutoFit/>
          </a:bodyPr>
          <a:lstStyle/>
          <a:p>
            <a:pPr algn="r"/>
            <a:r>
              <a:rPr sz="1100" b="1">
                <a:solidFill>
                  <a:srgbClr val="FFFFFF"/>
                </a:solidFill>
                <a:latin typeface="Calibri"/>
              </a:rPr>
              <a:t>Expected</a:t>
            </a:r>
          </a:p>
        </p:txBody>
      </p:sp>
      <p:sp>
        <p:nvSpPr>
          <p:cNvPr id="13" name="TextBox 12"/>
          <p:cNvSpPr txBox="1"/>
          <p:nvPr/>
        </p:nvSpPr>
        <p:spPr>
          <a:xfrm>
            <a:off x="4114800" y="3858768"/>
            <a:ext cx="2048256" cy="329184"/>
          </a:xfrm>
          <a:prstGeom prst="rect">
            <a:avLst/>
          </a:prstGeom>
          <a:noFill/>
        </p:spPr>
        <p:txBody>
          <a:bodyPr wrap="square" anchor="ctr">
            <a:spAutoFit/>
          </a:bodyPr>
          <a:lstStyle/>
          <a:p>
            <a:pPr algn="r"/>
            <a:r>
              <a:rPr sz="1100" b="1">
                <a:solidFill>
                  <a:srgbClr val="FFFFFF"/>
                </a:solidFill>
                <a:latin typeface="Calibri"/>
              </a:rPr>
              <a:t>ITUK to dealer</a:t>
            </a:r>
          </a:p>
        </p:txBody>
      </p:sp>
      <p:sp>
        <p:nvSpPr>
          <p:cNvPr id="14" name="TextBox 13"/>
          <p:cNvSpPr txBox="1"/>
          <p:nvPr/>
        </p:nvSpPr>
        <p:spPr>
          <a:xfrm>
            <a:off x="6309360" y="3858768"/>
            <a:ext cx="1408176" cy="329184"/>
          </a:xfrm>
          <a:prstGeom prst="rect">
            <a:avLst/>
          </a:prstGeom>
          <a:noFill/>
        </p:spPr>
        <p:txBody>
          <a:bodyPr wrap="square" anchor="ctr">
            <a:spAutoFit/>
          </a:bodyPr>
          <a:lstStyle/>
          <a:p>
            <a:pPr algn="r"/>
            <a:r>
              <a:rPr sz="1100" b="1">
                <a:solidFill>
                  <a:srgbClr val="FFFFFF"/>
                </a:solidFill>
                <a:latin typeface="Calibri"/>
              </a:rPr>
              <a:t>%</a:t>
            </a:r>
          </a:p>
        </p:txBody>
      </p:sp>
      <p:sp>
        <p:nvSpPr>
          <p:cNvPr id="15" name="TextBox 14"/>
          <p:cNvSpPr txBox="1"/>
          <p:nvPr/>
        </p:nvSpPr>
        <p:spPr>
          <a:xfrm>
            <a:off x="7863840" y="3858768"/>
            <a:ext cx="2048256" cy="329184"/>
          </a:xfrm>
          <a:prstGeom prst="rect">
            <a:avLst/>
          </a:prstGeom>
          <a:noFill/>
        </p:spPr>
        <p:txBody>
          <a:bodyPr wrap="square" anchor="ctr">
            <a:spAutoFit/>
          </a:bodyPr>
          <a:lstStyle/>
          <a:p>
            <a:pPr algn="r"/>
            <a:r>
              <a:rPr sz="1100" b="1">
                <a:solidFill>
                  <a:srgbClr val="FFFFFF"/>
                </a:solidFill>
                <a:latin typeface="Calibri"/>
              </a:rPr>
              <a:t>ISZE to ITUK</a:t>
            </a:r>
          </a:p>
        </p:txBody>
      </p:sp>
      <p:sp>
        <p:nvSpPr>
          <p:cNvPr id="16" name="TextBox 15"/>
          <p:cNvSpPr txBox="1"/>
          <p:nvPr/>
        </p:nvSpPr>
        <p:spPr>
          <a:xfrm>
            <a:off x="10058400" y="3858768"/>
            <a:ext cx="1408176" cy="329184"/>
          </a:xfrm>
          <a:prstGeom prst="rect">
            <a:avLst/>
          </a:prstGeom>
          <a:noFill/>
        </p:spPr>
        <p:txBody>
          <a:bodyPr wrap="square" anchor="ctr">
            <a:spAutoFit/>
          </a:bodyPr>
          <a:lstStyle/>
          <a:p>
            <a:pPr algn="r"/>
            <a:r>
              <a:rPr sz="1100" b="1">
                <a:solidFill>
                  <a:srgbClr val="FFFFFF"/>
                </a:solidFill>
                <a:latin typeface="Calibri"/>
              </a:rPr>
              <a:t>%</a:t>
            </a:r>
          </a:p>
        </p:txBody>
      </p:sp>
      <p:sp>
        <p:nvSpPr>
          <p:cNvPr id="17" name="Rectangle 16"/>
          <p:cNvSpPr/>
          <p:nvPr/>
        </p:nvSpPr>
        <p:spPr>
          <a:xfrm>
            <a:off x="292608" y="4187952"/>
            <a:ext cx="11612880" cy="9144"/>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5760" y="4187952"/>
            <a:ext cx="1865376" cy="329184"/>
          </a:xfrm>
          <a:prstGeom prst="rect">
            <a:avLst/>
          </a:prstGeom>
          <a:noFill/>
        </p:spPr>
        <p:txBody>
          <a:bodyPr wrap="square" anchor="ctr">
            <a:spAutoFit/>
          </a:bodyPr>
          <a:lstStyle/>
          <a:p>
            <a:pPr algn="l"/>
            <a:r>
              <a:rPr sz="1200" b="0">
                <a:solidFill>
                  <a:srgbClr val="1A1A1A"/>
                </a:solidFill>
                <a:latin typeface="Calibri"/>
              </a:rPr>
              <a:t>Oil filter</a:t>
            </a:r>
          </a:p>
        </p:txBody>
      </p:sp>
      <p:sp>
        <p:nvSpPr>
          <p:cNvPr id="19" name="TextBox 18"/>
          <p:cNvSpPr txBox="1"/>
          <p:nvPr/>
        </p:nvSpPr>
        <p:spPr>
          <a:xfrm>
            <a:off x="2377440" y="4187952"/>
            <a:ext cx="1591056" cy="329184"/>
          </a:xfrm>
          <a:prstGeom prst="rect">
            <a:avLst/>
          </a:prstGeom>
          <a:noFill/>
        </p:spPr>
        <p:txBody>
          <a:bodyPr wrap="square" anchor="ctr">
            <a:spAutoFit/>
          </a:bodyPr>
          <a:lstStyle/>
          <a:p>
            <a:pPr algn="r"/>
            <a:r>
              <a:rPr sz="1200" b="0">
                <a:solidFill>
                  <a:srgbClr val="1A1A1A"/>
                </a:solidFill>
                <a:latin typeface="Calibri"/>
              </a:rPr>
              <a:t>11,699</a:t>
            </a:r>
          </a:p>
        </p:txBody>
      </p:sp>
      <p:sp>
        <p:nvSpPr>
          <p:cNvPr id="20" name="TextBox 19"/>
          <p:cNvSpPr txBox="1"/>
          <p:nvPr/>
        </p:nvSpPr>
        <p:spPr>
          <a:xfrm>
            <a:off x="4114800" y="4187952"/>
            <a:ext cx="2048256" cy="329184"/>
          </a:xfrm>
          <a:prstGeom prst="rect">
            <a:avLst/>
          </a:prstGeom>
          <a:noFill/>
        </p:spPr>
        <p:txBody>
          <a:bodyPr wrap="square" anchor="ctr">
            <a:spAutoFit/>
          </a:bodyPr>
          <a:lstStyle/>
          <a:p>
            <a:pPr algn="r"/>
            <a:r>
              <a:rPr sz="1200" b="0">
                <a:solidFill>
                  <a:srgbClr val="1A1A1A"/>
                </a:solidFill>
                <a:latin typeface="Calibri"/>
              </a:rPr>
              <a:t>5,404</a:t>
            </a:r>
          </a:p>
        </p:txBody>
      </p:sp>
      <p:sp>
        <p:nvSpPr>
          <p:cNvPr id="21" name="TextBox 20"/>
          <p:cNvSpPr txBox="1"/>
          <p:nvPr/>
        </p:nvSpPr>
        <p:spPr>
          <a:xfrm>
            <a:off x="6309360" y="4187952"/>
            <a:ext cx="1408176" cy="329184"/>
          </a:xfrm>
          <a:prstGeom prst="rect">
            <a:avLst/>
          </a:prstGeom>
          <a:noFill/>
        </p:spPr>
        <p:txBody>
          <a:bodyPr wrap="square" anchor="ctr">
            <a:spAutoFit/>
          </a:bodyPr>
          <a:lstStyle/>
          <a:p>
            <a:pPr algn="r"/>
            <a:r>
              <a:rPr sz="1200" b="0">
                <a:solidFill>
                  <a:srgbClr val="1A1A1A"/>
                </a:solidFill>
                <a:latin typeface="Calibri"/>
              </a:rPr>
              <a:t>46.2%</a:t>
            </a:r>
          </a:p>
        </p:txBody>
      </p:sp>
      <p:sp>
        <p:nvSpPr>
          <p:cNvPr id="22" name="TextBox 21"/>
          <p:cNvSpPr txBox="1"/>
          <p:nvPr/>
        </p:nvSpPr>
        <p:spPr>
          <a:xfrm>
            <a:off x="7863840" y="4187952"/>
            <a:ext cx="2048256" cy="329184"/>
          </a:xfrm>
          <a:prstGeom prst="rect">
            <a:avLst/>
          </a:prstGeom>
          <a:noFill/>
        </p:spPr>
        <p:txBody>
          <a:bodyPr wrap="square" anchor="ctr">
            <a:spAutoFit/>
          </a:bodyPr>
          <a:lstStyle/>
          <a:p>
            <a:pPr algn="r"/>
            <a:r>
              <a:rPr sz="1200" b="0">
                <a:solidFill>
                  <a:srgbClr val="1A1A1A"/>
                </a:solidFill>
                <a:latin typeface="Calibri"/>
              </a:rPr>
              <a:t>4,673</a:t>
            </a:r>
          </a:p>
        </p:txBody>
      </p:sp>
      <p:sp>
        <p:nvSpPr>
          <p:cNvPr id="23" name="TextBox 22"/>
          <p:cNvSpPr txBox="1"/>
          <p:nvPr/>
        </p:nvSpPr>
        <p:spPr>
          <a:xfrm>
            <a:off x="10058400" y="4187952"/>
            <a:ext cx="1408176" cy="329184"/>
          </a:xfrm>
          <a:prstGeom prst="rect">
            <a:avLst/>
          </a:prstGeom>
          <a:noFill/>
        </p:spPr>
        <p:txBody>
          <a:bodyPr wrap="square" anchor="ctr">
            <a:spAutoFit/>
          </a:bodyPr>
          <a:lstStyle/>
          <a:p>
            <a:pPr algn="r"/>
            <a:r>
              <a:rPr sz="1200" b="0">
                <a:solidFill>
                  <a:srgbClr val="1A1A1A"/>
                </a:solidFill>
                <a:latin typeface="Calibri"/>
              </a:rPr>
              <a:t>39.9%</a:t>
            </a:r>
          </a:p>
        </p:txBody>
      </p:sp>
      <p:sp>
        <p:nvSpPr>
          <p:cNvPr id="24" name="Rectangle 23"/>
          <p:cNvSpPr/>
          <p:nvPr/>
        </p:nvSpPr>
        <p:spPr>
          <a:xfrm>
            <a:off x="292608" y="4517136"/>
            <a:ext cx="11612880" cy="9144"/>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5760" y="4517136"/>
            <a:ext cx="1865376" cy="329184"/>
          </a:xfrm>
          <a:prstGeom prst="rect">
            <a:avLst/>
          </a:prstGeom>
          <a:noFill/>
        </p:spPr>
        <p:txBody>
          <a:bodyPr wrap="square" anchor="ctr">
            <a:spAutoFit/>
          </a:bodyPr>
          <a:lstStyle/>
          <a:p>
            <a:pPr algn="l"/>
            <a:r>
              <a:rPr sz="1200" b="0">
                <a:solidFill>
                  <a:srgbClr val="1A1A1A"/>
                </a:solidFill>
                <a:latin typeface="Calibri"/>
              </a:rPr>
              <a:t>Fuel filter</a:t>
            </a:r>
          </a:p>
        </p:txBody>
      </p:sp>
      <p:sp>
        <p:nvSpPr>
          <p:cNvPr id="26" name="TextBox 25"/>
          <p:cNvSpPr txBox="1"/>
          <p:nvPr/>
        </p:nvSpPr>
        <p:spPr>
          <a:xfrm>
            <a:off x="2377440" y="4517136"/>
            <a:ext cx="1591056" cy="329184"/>
          </a:xfrm>
          <a:prstGeom prst="rect">
            <a:avLst/>
          </a:prstGeom>
          <a:noFill/>
        </p:spPr>
        <p:txBody>
          <a:bodyPr wrap="square" anchor="ctr">
            <a:spAutoFit/>
          </a:bodyPr>
          <a:lstStyle/>
          <a:p>
            <a:pPr algn="r"/>
            <a:r>
              <a:rPr sz="1200" b="0">
                <a:solidFill>
                  <a:srgbClr val="1A1A1A"/>
                </a:solidFill>
                <a:latin typeface="Calibri"/>
              </a:rPr>
              <a:t>11,699</a:t>
            </a:r>
          </a:p>
        </p:txBody>
      </p:sp>
      <p:sp>
        <p:nvSpPr>
          <p:cNvPr id="27" name="TextBox 26"/>
          <p:cNvSpPr txBox="1"/>
          <p:nvPr/>
        </p:nvSpPr>
        <p:spPr>
          <a:xfrm>
            <a:off x="4114800" y="4517136"/>
            <a:ext cx="2048256" cy="329184"/>
          </a:xfrm>
          <a:prstGeom prst="rect">
            <a:avLst/>
          </a:prstGeom>
          <a:noFill/>
        </p:spPr>
        <p:txBody>
          <a:bodyPr wrap="square" anchor="ctr">
            <a:spAutoFit/>
          </a:bodyPr>
          <a:lstStyle/>
          <a:p>
            <a:pPr algn="r"/>
            <a:r>
              <a:rPr sz="1200" b="0">
                <a:solidFill>
                  <a:srgbClr val="1A1A1A"/>
                </a:solidFill>
                <a:latin typeface="Calibri"/>
              </a:rPr>
              <a:t>11,139</a:t>
            </a:r>
          </a:p>
        </p:txBody>
      </p:sp>
      <p:sp>
        <p:nvSpPr>
          <p:cNvPr id="28" name="TextBox 27"/>
          <p:cNvSpPr txBox="1"/>
          <p:nvPr/>
        </p:nvSpPr>
        <p:spPr>
          <a:xfrm>
            <a:off x="6309360" y="4517136"/>
            <a:ext cx="1408176" cy="329184"/>
          </a:xfrm>
          <a:prstGeom prst="rect">
            <a:avLst/>
          </a:prstGeom>
          <a:noFill/>
        </p:spPr>
        <p:txBody>
          <a:bodyPr wrap="square" anchor="ctr">
            <a:spAutoFit/>
          </a:bodyPr>
          <a:lstStyle/>
          <a:p>
            <a:pPr algn="r"/>
            <a:r>
              <a:rPr sz="1200" b="0">
                <a:solidFill>
                  <a:srgbClr val="1A1A1A"/>
                </a:solidFill>
                <a:latin typeface="Calibri"/>
              </a:rPr>
              <a:t>95.2%</a:t>
            </a:r>
          </a:p>
        </p:txBody>
      </p:sp>
      <p:sp>
        <p:nvSpPr>
          <p:cNvPr id="29" name="TextBox 28"/>
          <p:cNvSpPr txBox="1"/>
          <p:nvPr/>
        </p:nvSpPr>
        <p:spPr>
          <a:xfrm>
            <a:off x="7863840" y="4517136"/>
            <a:ext cx="2048256" cy="329184"/>
          </a:xfrm>
          <a:prstGeom prst="rect">
            <a:avLst/>
          </a:prstGeom>
          <a:noFill/>
        </p:spPr>
        <p:txBody>
          <a:bodyPr wrap="square" anchor="ctr">
            <a:spAutoFit/>
          </a:bodyPr>
          <a:lstStyle/>
          <a:p>
            <a:pPr algn="r"/>
            <a:r>
              <a:rPr sz="1200" b="0">
                <a:solidFill>
                  <a:srgbClr val="1A1A1A"/>
                </a:solidFill>
                <a:latin typeface="Calibri"/>
              </a:rPr>
              <a:t>11,021</a:t>
            </a:r>
          </a:p>
        </p:txBody>
      </p:sp>
      <p:sp>
        <p:nvSpPr>
          <p:cNvPr id="30" name="TextBox 29"/>
          <p:cNvSpPr txBox="1"/>
          <p:nvPr/>
        </p:nvSpPr>
        <p:spPr>
          <a:xfrm>
            <a:off x="10058400" y="4517136"/>
            <a:ext cx="1408176" cy="329184"/>
          </a:xfrm>
          <a:prstGeom prst="rect">
            <a:avLst/>
          </a:prstGeom>
          <a:noFill/>
        </p:spPr>
        <p:txBody>
          <a:bodyPr wrap="square" anchor="ctr">
            <a:spAutoFit/>
          </a:bodyPr>
          <a:lstStyle/>
          <a:p>
            <a:pPr algn="r"/>
            <a:r>
              <a:rPr sz="1200" b="0">
                <a:solidFill>
                  <a:srgbClr val="1A1A1A"/>
                </a:solidFill>
                <a:latin typeface="Calibri"/>
              </a:rPr>
              <a:t>94.2%</a:t>
            </a:r>
          </a:p>
        </p:txBody>
      </p:sp>
      <p:sp>
        <p:nvSpPr>
          <p:cNvPr id="31" name="Rectangle 30"/>
          <p:cNvSpPr/>
          <p:nvPr/>
        </p:nvSpPr>
        <p:spPr>
          <a:xfrm>
            <a:off x="292608" y="4846320"/>
            <a:ext cx="11612880" cy="9144"/>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65760" y="4846320"/>
            <a:ext cx="1865376" cy="329184"/>
          </a:xfrm>
          <a:prstGeom prst="rect">
            <a:avLst/>
          </a:prstGeom>
          <a:noFill/>
        </p:spPr>
        <p:txBody>
          <a:bodyPr wrap="square" anchor="ctr">
            <a:spAutoFit/>
          </a:bodyPr>
          <a:lstStyle/>
          <a:p>
            <a:pPr algn="l"/>
            <a:r>
              <a:rPr sz="1200" b="0">
                <a:solidFill>
                  <a:srgbClr val="1A1A1A"/>
                </a:solidFill>
                <a:latin typeface="Calibri"/>
              </a:rPr>
              <a:t>Air filter</a:t>
            </a:r>
          </a:p>
        </p:txBody>
      </p:sp>
      <p:sp>
        <p:nvSpPr>
          <p:cNvPr id="33" name="TextBox 32"/>
          <p:cNvSpPr txBox="1"/>
          <p:nvPr/>
        </p:nvSpPr>
        <p:spPr>
          <a:xfrm>
            <a:off x="2377440" y="4846320"/>
            <a:ext cx="1591056" cy="329184"/>
          </a:xfrm>
          <a:prstGeom prst="rect">
            <a:avLst/>
          </a:prstGeom>
          <a:noFill/>
        </p:spPr>
        <p:txBody>
          <a:bodyPr wrap="square" anchor="ctr">
            <a:spAutoFit/>
          </a:bodyPr>
          <a:lstStyle/>
          <a:p>
            <a:pPr algn="r"/>
            <a:r>
              <a:rPr sz="1200" b="0">
                <a:solidFill>
                  <a:srgbClr val="1A1A1A"/>
                </a:solidFill>
                <a:latin typeface="Calibri"/>
              </a:rPr>
              <a:t>11,699</a:t>
            </a:r>
          </a:p>
        </p:txBody>
      </p:sp>
      <p:sp>
        <p:nvSpPr>
          <p:cNvPr id="34" name="TextBox 33"/>
          <p:cNvSpPr txBox="1"/>
          <p:nvPr/>
        </p:nvSpPr>
        <p:spPr>
          <a:xfrm>
            <a:off x="4114800" y="4846320"/>
            <a:ext cx="2048256" cy="329184"/>
          </a:xfrm>
          <a:prstGeom prst="rect">
            <a:avLst/>
          </a:prstGeom>
          <a:noFill/>
        </p:spPr>
        <p:txBody>
          <a:bodyPr wrap="square" anchor="ctr">
            <a:spAutoFit/>
          </a:bodyPr>
          <a:lstStyle/>
          <a:p>
            <a:pPr algn="r"/>
            <a:r>
              <a:rPr sz="1200" b="0">
                <a:solidFill>
                  <a:srgbClr val="1A1A1A"/>
                </a:solidFill>
                <a:latin typeface="Calibri"/>
              </a:rPr>
              <a:t>2,289</a:t>
            </a:r>
          </a:p>
        </p:txBody>
      </p:sp>
      <p:sp>
        <p:nvSpPr>
          <p:cNvPr id="35" name="TextBox 34"/>
          <p:cNvSpPr txBox="1"/>
          <p:nvPr/>
        </p:nvSpPr>
        <p:spPr>
          <a:xfrm>
            <a:off x="6309360" y="4846320"/>
            <a:ext cx="1408176" cy="329184"/>
          </a:xfrm>
          <a:prstGeom prst="rect">
            <a:avLst/>
          </a:prstGeom>
          <a:noFill/>
        </p:spPr>
        <p:txBody>
          <a:bodyPr wrap="square" anchor="ctr">
            <a:spAutoFit/>
          </a:bodyPr>
          <a:lstStyle/>
          <a:p>
            <a:pPr algn="r"/>
            <a:r>
              <a:rPr sz="1200" b="0">
                <a:solidFill>
                  <a:srgbClr val="1A1A1A"/>
                </a:solidFill>
                <a:latin typeface="Calibri"/>
              </a:rPr>
              <a:t>19.6%</a:t>
            </a:r>
          </a:p>
        </p:txBody>
      </p:sp>
      <p:sp>
        <p:nvSpPr>
          <p:cNvPr id="36" name="TextBox 35"/>
          <p:cNvSpPr txBox="1"/>
          <p:nvPr/>
        </p:nvSpPr>
        <p:spPr>
          <a:xfrm>
            <a:off x="7863840" y="4846320"/>
            <a:ext cx="2048256" cy="329184"/>
          </a:xfrm>
          <a:prstGeom prst="rect">
            <a:avLst/>
          </a:prstGeom>
          <a:noFill/>
        </p:spPr>
        <p:txBody>
          <a:bodyPr wrap="square" anchor="ctr">
            <a:spAutoFit/>
          </a:bodyPr>
          <a:lstStyle/>
          <a:p>
            <a:pPr algn="r"/>
            <a:r>
              <a:rPr sz="1200" b="0">
                <a:solidFill>
                  <a:srgbClr val="1A1A1A"/>
                </a:solidFill>
                <a:latin typeface="Calibri"/>
              </a:rPr>
              <a:t>2,226</a:t>
            </a:r>
          </a:p>
        </p:txBody>
      </p:sp>
      <p:sp>
        <p:nvSpPr>
          <p:cNvPr id="37" name="TextBox 36"/>
          <p:cNvSpPr txBox="1"/>
          <p:nvPr/>
        </p:nvSpPr>
        <p:spPr>
          <a:xfrm>
            <a:off x="10058400" y="4846320"/>
            <a:ext cx="1408176" cy="329184"/>
          </a:xfrm>
          <a:prstGeom prst="rect">
            <a:avLst/>
          </a:prstGeom>
          <a:noFill/>
        </p:spPr>
        <p:txBody>
          <a:bodyPr wrap="square" anchor="ctr">
            <a:spAutoFit/>
          </a:bodyPr>
          <a:lstStyle/>
          <a:p>
            <a:pPr algn="r"/>
            <a:r>
              <a:rPr sz="1200" b="0">
                <a:solidFill>
                  <a:srgbClr val="1A1A1A"/>
                </a:solidFill>
                <a:latin typeface="Calibri"/>
              </a:rPr>
              <a:t>19.0%</a:t>
            </a:r>
          </a:p>
        </p:txBody>
      </p:sp>
      <p:sp>
        <p:nvSpPr>
          <p:cNvPr id="38" name="Rectangle 37"/>
          <p:cNvSpPr/>
          <p:nvPr/>
        </p:nvSpPr>
        <p:spPr>
          <a:xfrm>
            <a:off x="292608" y="5175504"/>
            <a:ext cx="11612880" cy="9144"/>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92608" y="5230368"/>
            <a:ext cx="11612880" cy="329184"/>
          </a:xfrm>
          <a:prstGeom prst="rect">
            <a:avLst/>
          </a:prstGeom>
          <a:noFill/>
        </p:spPr>
        <p:txBody>
          <a:bodyPr wrap="square">
            <a:spAutoFit/>
          </a:bodyPr>
          <a:lstStyle/>
          <a:p>
            <a:pPr algn="l"/>
            <a:r>
              <a:rPr sz="1400" b="0">
                <a:solidFill>
                  <a:srgbClr val="222222"/>
                </a:solidFill>
                <a:latin typeface="Calibri"/>
              </a:rPr>
              <a:t>Fuel is already at the N75 service level. Air is not.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suzu_logo_red.png"/>
          <p:cNvPicPr>
            <a:picLocks noChangeAspect="1"/>
          </p:cNvPicPr>
          <p:nvPr/>
        </p:nvPicPr>
        <p:blipFill>
          <a:blip r:embed="rId2"/>
          <a:stretch>
            <a:fillRect/>
          </a:stretch>
        </p:blipFill>
        <p:spPr>
          <a:xfrm>
            <a:off x="256032" y="6263640"/>
            <a:ext cx="1679787" cy="292608"/>
          </a:xfrm>
          <a:prstGeom prst="rect">
            <a:avLst/>
          </a:prstGeom>
        </p:spPr>
      </p:pic>
      <p:sp>
        <p:nvSpPr>
          <p:cNvPr id="3" name="Rectangle 2"/>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92608" y="201168"/>
            <a:ext cx="9509760" cy="256032"/>
          </a:xfrm>
          <a:prstGeom prst="rect">
            <a:avLst/>
          </a:prstGeom>
          <a:noFill/>
        </p:spPr>
        <p:txBody>
          <a:bodyPr wrap="square">
            <a:spAutoFit/>
          </a:bodyPr>
          <a:lstStyle/>
          <a:p>
            <a:pPr algn="l"/>
            <a:r>
              <a:rPr sz="1100" b="1">
                <a:solidFill>
                  <a:srgbClr val="1A1A1A"/>
                </a:solidFill>
                <a:latin typeface="Calibri"/>
              </a:rPr>
              <a:t>PARTS</a:t>
            </a:r>
          </a:p>
        </p:txBody>
      </p:sp>
      <p:sp>
        <p:nvSpPr>
          <p:cNvPr id="5" name="TextBox 4"/>
          <p:cNvSpPr txBox="1"/>
          <p:nvPr/>
        </p:nvSpPr>
        <p:spPr>
          <a:xfrm>
            <a:off x="292608" y="457200"/>
            <a:ext cx="11612880" cy="566928"/>
          </a:xfrm>
          <a:prstGeom prst="rect">
            <a:avLst/>
          </a:prstGeom>
          <a:noFill/>
        </p:spPr>
        <p:txBody>
          <a:bodyPr wrap="square">
            <a:spAutoFit/>
          </a:bodyPr>
          <a:lstStyle/>
          <a:p>
            <a:pPr algn="l"/>
            <a:r>
              <a:rPr sz="2400" b="1">
                <a:solidFill>
                  <a:srgbClr val="1A1A1A"/>
                </a:solidFill>
                <a:latin typeface="Calibri"/>
              </a:rPr>
              <a:t>Part numbers and 2025 quantity</a:t>
            </a:r>
          </a:p>
        </p:txBody>
      </p:sp>
      <p:sp>
        <p:nvSpPr>
          <p:cNvPr id="6" name="Rectangle 5"/>
          <p:cNvSpPr/>
          <p:nvPr/>
        </p:nvSpPr>
        <p:spPr>
          <a:xfrm>
            <a:off x="292608" y="1005840"/>
            <a:ext cx="11612880" cy="13716"/>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4</a:t>
            </a:r>
          </a:p>
        </p:txBody>
      </p:sp>
      <p:sp>
        <p:nvSpPr>
          <p:cNvPr id="8" name="TextBox 7"/>
          <p:cNvSpPr txBox="1"/>
          <p:nvPr/>
        </p:nvSpPr>
        <p:spPr>
          <a:xfrm>
            <a:off x="292608" y="1078992"/>
            <a:ext cx="11612880" cy="475488"/>
          </a:xfrm>
          <a:prstGeom prst="rect">
            <a:avLst/>
          </a:prstGeom>
          <a:noFill/>
        </p:spPr>
        <p:txBody>
          <a:bodyPr wrap="square">
            <a:spAutoFit/>
          </a:bodyPr>
          <a:lstStyle/>
          <a:p>
            <a:pPr algn="l"/>
            <a:r>
              <a:rPr sz="1400" b="0">
                <a:solidFill>
                  <a:srgbClr val="222222"/>
                </a:solidFill>
                <a:latin typeface="Calibri"/>
              </a:rPr>
              <a:t>The primary quantity column is ITUK to dealer. ISZE to ITUK is shown beside it. List prices are ISZE list euro. Cover percentages are N75 only, ISZE then dealer. The oil filter is set contents.</a:t>
            </a:r>
          </a:p>
        </p:txBody>
      </p:sp>
      <p:sp>
        <p:nvSpPr>
          <p:cNvPr id="9" name="Rectangle 8"/>
          <p:cNvSpPr/>
          <p:nvPr/>
        </p:nvSpPr>
        <p:spPr>
          <a:xfrm>
            <a:off x="3035808" y="1664208"/>
            <a:ext cx="4105656" cy="256032"/>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35808" y="1664208"/>
            <a:ext cx="4105656" cy="256032"/>
          </a:xfrm>
          <a:prstGeom prst="rect">
            <a:avLst/>
          </a:prstGeom>
          <a:noFill/>
        </p:spPr>
        <p:txBody>
          <a:bodyPr wrap="square" anchor="ctr">
            <a:spAutoFit/>
          </a:bodyPr>
          <a:lstStyle/>
          <a:p>
            <a:pPr algn="ctr"/>
            <a:r>
              <a:rPr sz="1100" b="1">
                <a:solidFill>
                  <a:srgbClr val="FFFFFF"/>
                </a:solidFill>
                <a:latin typeface="Calibri"/>
              </a:rPr>
              <a:t>GENUINE</a:t>
            </a:r>
          </a:p>
        </p:txBody>
      </p:sp>
      <p:sp>
        <p:nvSpPr>
          <p:cNvPr id="11" name="Rectangle 10"/>
          <p:cNvSpPr/>
          <p:nvPr/>
        </p:nvSpPr>
        <p:spPr>
          <a:xfrm>
            <a:off x="7251192" y="1664208"/>
            <a:ext cx="4105656" cy="256032"/>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51192" y="1664208"/>
            <a:ext cx="4105656" cy="256032"/>
          </a:xfrm>
          <a:prstGeom prst="rect">
            <a:avLst/>
          </a:prstGeom>
          <a:noFill/>
        </p:spPr>
        <p:txBody>
          <a:bodyPr wrap="square" anchor="ctr">
            <a:spAutoFit/>
          </a:bodyPr>
          <a:lstStyle/>
          <a:p>
            <a:pPr algn="ctr"/>
            <a:r>
              <a:rPr sz="1100" b="1">
                <a:solidFill>
                  <a:srgbClr val="FFFFFF"/>
                </a:solidFill>
                <a:latin typeface="Calibri"/>
              </a:rPr>
              <a:t>BVP</a:t>
            </a:r>
          </a:p>
        </p:txBody>
      </p:sp>
      <p:sp>
        <p:nvSpPr>
          <p:cNvPr id="13" name="TextBox 12"/>
          <p:cNvSpPr txBox="1"/>
          <p:nvPr/>
        </p:nvSpPr>
        <p:spPr>
          <a:xfrm>
            <a:off x="384048" y="1956816"/>
            <a:ext cx="1499616" cy="438912"/>
          </a:xfrm>
          <a:prstGeom prst="rect">
            <a:avLst/>
          </a:prstGeom>
          <a:noFill/>
        </p:spPr>
        <p:txBody>
          <a:bodyPr wrap="square" anchor="ctr">
            <a:spAutoFit/>
          </a:bodyPr>
          <a:lstStyle/>
          <a:p>
            <a:pPr algn="l"/>
            <a:r>
              <a:rPr sz="1000" b="1">
                <a:solidFill>
                  <a:srgbClr val="1A1A1A"/>
                </a:solidFill>
                <a:latin typeface="Calibri"/>
              </a:rPr>
              <a:t>Item</a:t>
            </a:r>
          </a:p>
        </p:txBody>
      </p:sp>
      <p:sp>
        <p:nvSpPr>
          <p:cNvPr id="14" name="TextBox 13"/>
          <p:cNvSpPr txBox="1"/>
          <p:nvPr/>
        </p:nvSpPr>
        <p:spPr>
          <a:xfrm>
            <a:off x="1938528" y="1956816"/>
            <a:ext cx="1042416" cy="438912"/>
          </a:xfrm>
          <a:prstGeom prst="rect">
            <a:avLst/>
          </a:prstGeom>
          <a:noFill/>
        </p:spPr>
        <p:txBody>
          <a:bodyPr wrap="square" anchor="ctr">
            <a:spAutoFit/>
          </a:bodyPr>
          <a:lstStyle/>
          <a:p>
            <a:pPr algn="r"/>
            <a:r>
              <a:rPr sz="1000" b="1">
                <a:solidFill>
                  <a:srgbClr val="1A1A1A"/>
                </a:solidFill>
                <a:latin typeface="Calibri"/>
              </a:rPr>
              <a:t>Cover N75</a:t>
            </a:r>
          </a:p>
        </p:txBody>
      </p:sp>
      <p:sp>
        <p:nvSpPr>
          <p:cNvPr id="15" name="TextBox 14"/>
          <p:cNvSpPr txBox="1"/>
          <p:nvPr/>
        </p:nvSpPr>
        <p:spPr>
          <a:xfrm>
            <a:off x="3035808" y="1956816"/>
            <a:ext cx="1225296" cy="438912"/>
          </a:xfrm>
          <a:prstGeom prst="rect">
            <a:avLst/>
          </a:prstGeom>
          <a:noFill/>
        </p:spPr>
        <p:txBody>
          <a:bodyPr wrap="square" anchor="ctr">
            <a:spAutoFit/>
          </a:bodyPr>
          <a:lstStyle/>
          <a:p>
            <a:pPr algn="l"/>
            <a:r>
              <a:rPr sz="1000" b="1">
                <a:solidFill>
                  <a:srgbClr val="1A1A1A"/>
                </a:solidFill>
                <a:latin typeface="Calibri"/>
              </a:rPr>
              <a:t>PN</a:t>
            </a:r>
          </a:p>
        </p:txBody>
      </p:sp>
      <p:sp>
        <p:nvSpPr>
          <p:cNvPr id="16" name="TextBox 15"/>
          <p:cNvSpPr txBox="1"/>
          <p:nvPr/>
        </p:nvSpPr>
        <p:spPr>
          <a:xfrm>
            <a:off x="4315968" y="1956816"/>
            <a:ext cx="1042416" cy="438912"/>
          </a:xfrm>
          <a:prstGeom prst="rect">
            <a:avLst/>
          </a:prstGeom>
          <a:noFill/>
        </p:spPr>
        <p:txBody>
          <a:bodyPr wrap="square" anchor="ctr">
            <a:spAutoFit/>
          </a:bodyPr>
          <a:lstStyle/>
          <a:p>
            <a:pPr algn="r"/>
            <a:r>
              <a:rPr sz="1000" b="1">
                <a:solidFill>
                  <a:srgbClr val="1A1A1A"/>
                </a:solidFill>
                <a:latin typeface="Calibri"/>
              </a:rPr>
              <a:t>ITUK to dealer</a:t>
            </a:r>
          </a:p>
        </p:txBody>
      </p:sp>
      <p:sp>
        <p:nvSpPr>
          <p:cNvPr id="17" name="TextBox 16"/>
          <p:cNvSpPr txBox="1"/>
          <p:nvPr/>
        </p:nvSpPr>
        <p:spPr>
          <a:xfrm>
            <a:off x="5413248" y="1956816"/>
            <a:ext cx="996696" cy="438912"/>
          </a:xfrm>
          <a:prstGeom prst="rect">
            <a:avLst/>
          </a:prstGeom>
          <a:noFill/>
        </p:spPr>
        <p:txBody>
          <a:bodyPr wrap="square" anchor="ctr">
            <a:spAutoFit/>
          </a:bodyPr>
          <a:lstStyle/>
          <a:p>
            <a:pPr algn="r"/>
            <a:r>
              <a:rPr sz="1000" b="1">
                <a:solidFill>
                  <a:srgbClr val="1A1A1A"/>
                </a:solidFill>
                <a:latin typeface="Calibri"/>
              </a:rPr>
              <a:t>ISZE to ITUK</a:t>
            </a:r>
          </a:p>
        </p:txBody>
      </p:sp>
      <p:sp>
        <p:nvSpPr>
          <p:cNvPr id="18" name="TextBox 17"/>
          <p:cNvSpPr txBox="1"/>
          <p:nvPr/>
        </p:nvSpPr>
        <p:spPr>
          <a:xfrm>
            <a:off x="6464808" y="1956816"/>
            <a:ext cx="676656" cy="438912"/>
          </a:xfrm>
          <a:prstGeom prst="rect">
            <a:avLst/>
          </a:prstGeom>
          <a:noFill/>
        </p:spPr>
        <p:txBody>
          <a:bodyPr wrap="square" anchor="ctr">
            <a:spAutoFit/>
          </a:bodyPr>
          <a:lstStyle/>
          <a:p>
            <a:pPr algn="r"/>
            <a:r>
              <a:rPr sz="1000" b="1">
                <a:solidFill>
                  <a:srgbClr val="1A1A1A"/>
                </a:solidFill>
                <a:latin typeface="Calibri"/>
              </a:rPr>
              <a:t>List EUR</a:t>
            </a:r>
          </a:p>
        </p:txBody>
      </p:sp>
      <p:sp>
        <p:nvSpPr>
          <p:cNvPr id="19" name="TextBox 18"/>
          <p:cNvSpPr txBox="1"/>
          <p:nvPr/>
        </p:nvSpPr>
        <p:spPr>
          <a:xfrm>
            <a:off x="7196328" y="1956816"/>
            <a:ext cx="1225296" cy="438912"/>
          </a:xfrm>
          <a:prstGeom prst="rect">
            <a:avLst/>
          </a:prstGeom>
          <a:noFill/>
        </p:spPr>
        <p:txBody>
          <a:bodyPr wrap="square" anchor="ctr">
            <a:spAutoFit/>
          </a:bodyPr>
          <a:lstStyle/>
          <a:p>
            <a:pPr algn="l"/>
            <a:r>
              <a:rPr sz="1000" b="1">
                <a:solidFill>
                  <a:srgbClr val="1A1A1A"/>
                </a:solidFill>
                <a:latin typeface="Calibri"/>
              </a:rPr>
              <a:t>PN</a:t>
            </a:r>
          </a:p>
        </p:txBody>
      </p:sp>
      <p:sp>
        <p:nvSpPr>
          <p:cNvPr id="20" name="TextBox 19"/>
          <p:cNvSpPr txBox="1"/>
          <p:nvPr/>
        </p:nvSpPr>
        <p:spPr>
          <a:xfrm>
            <a:off x="8476488" y="1956816"/>
            <a:ext cx="1042416" cy="438912"/>
          </a:xfrm>
          <a:prstGeom prst="rect">
            <a:avLst/>
          </a:prstGeom>
          <a:noFill/>
        </p:spPr>
        <p:txBody>
          <a:bodyPr wrap="square" anchor="ctr">
            <a:spAutoFit/>
          </a:bodyPr>
          <a:lstStyle/>
          <a:p>
            <a:pPr algn="r"/>
            <a:r>
              <a:rPr sz="1000" b="1">
                <a:solidFill>
                  <a:srgbClr val="1A1A1A"/>
                </a:solidFill>
                <a:latin typeface="Calibri"/>
              </a:rPr>
              <a:t>ITUK to dealer</a:t>
            </a:r>
          </a:p>
        </p:txBody>
      </p:sp>
      <p:sp>
        <p:nvSpPr>
          <p:cNvPr id="21" name="TextBox 20"/>
          <p:cNvSpPr txBox="1"/>
          <p:nvPr/>
        </p:nvSpPr>
        <p:spPr>
          <a:xfrm>
            <a:off x="9573768" y="1956816"/>
            <a:ext cx="996696" cy="438912"/>
          </a:xfrm>
          <a:prstGeom prst="rect">
            <a:avLst/>
          </a:prstGeom>
          <a:noFill/>
        </p:spPr>
        <p:txBody>
          <a:bodyPr wrap="square" anchor="ctr">
            <a:spAutoFit/>
          </a:bodyPr>
          <a:lstStyle/>
          <a:p>
            <a:pPr algn="r"/>
            <a:r>
              <a:rPr sz="1000" b="1">
                <a:solidFill>
                  <a:srgbClr val="1A1A1A"/>
                </a:solidFill>
                <a:latin typeface="Calibri"/>
              </a:rPr>
              <a:t>ISZE to ITUK</a:t>
            </a:r>
          </a:p>
        </p:txBody>
      </p:sp>
      <p:sp>
        <p:nvSpPr>
          <p:cNvPr id="22" name="TextBox 21"/>
          <p:cNvSpPr txBox="1"/>
          <p:nvPr/>
        </p:nvSpPr>
        <p:spPr>
          <a:xfrm>
            <a:off x="10625328" y="1956816"/>
            <a:ext cx="676656" cy="438912"/>
          </a:xfrm>
          <a:prstGeom prst="rect">
            <a:avLst/>
          </a:prstGeom>
          <a:noFill/>
        </p:spPr>
        <p:txBody>
          <a:bodyPr wrap="square" anchor="ctr">
            <a:spAutoFit/>
          </a:bodyPr>
          <a:lstStyle/>
          <a:p>
            <a:pPr algn="r"/>
            <a:r>
              <a:rPr sz="1000" b="1">
                <a:solidFill>
                  <a:srgbClr val="1A1A1A"/>
                </a:solidFill>
                <a:latin typeface="Calibri"/>
              </a:rPr>
              <a:t>List EUR</a:t>
            </a:r>
          </a:p>
        </p:txBody>
      </p:sp>
      <p:sp>
        <p:nvSpPr>
          <p:cNvPr id="23" name="Rectangle 22"/>
          <p:cNvSpPr/>
          <p:nvPr/>
        </p:nvSpPr>
        <p:spPr>
          <a:xfrm>
            <a:off x="384048" y="2395728"/>
            <a:ext cx="11430000" cy="10972"/>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20624" y="2450592"/>
            <a:ext cx="1463040" cy="566928"/>
          </a:xfrm>
          <a:prstGeom prst="rect">
            <a:avLst/>
          </a:prstGeom>
          <a:noFill/>
        </p:spPr>
        <p:txBody>
          <a:bodyPr wrap="square" anchor="ctr">
            <a:spAutoFit/>
          </a:bodyPr>
          <a:lstStyle/>
          <a:p>
            <a:pPr algn="l"/>
            <a:r>
              <a:rPr sz="1200" b="0">
                <a:solidFill>
                  <a:srgbClr val="222222"/>
                </a:solidFill>
                <a:latin typeface="Calibri"/>
              </a:rPr>
              <a:t>Oil filter</a:t>
            </a:r>
          </a:p>
        </p:txBody>
      </p:sp>
      <p:sp>
        <p:nvSpPr>
          <p:cNvPr id="25" name="TextBox 24"/>
          <p:cNvSpPr txBox="1"/>
          <p:nvPr/>
        </p:nvSpPr>
        <p:spPr>
          <a:xfrm>
            <a:off x="1975104" y="2450592"/>
            <a:ext cx="1005840" cy="566928"/>
          </a:xfrm>
          <a:prstGeom prst="rect">
            <a:avLst/>
          </a:prstGeom>
          <a:noFill/>
        </p:spPr>
        <p:txBody>
          <a:bodyPr wrap="square" anchor="ctr">
            <a:spAutoFit/>
          </a:bodyPr>
          <a:lstStyle/>
          <a:p>
            <a:pPr algn="r"/>
            <a:r>
              <a:rPr sz="1200" b="0">
                <a:solidFill>
                  <a:srgbClr val="222222"/>
                </a:solidFill>
                <a:latin typeface="Calibri"/>
              </a:rPr>
              <a:t>39.9% / 46.2%</a:t>
            </a:r>
          </a:p>
        </p:txBody>
      </p:sp>
      <p:sp>
        <p:nvSpPr>
          <p:cNvPr id="26" name="TextBox 25"/>
          <p:cNvSpPr txBox="1"/>
          <p:nvPr/>
        </p:nvSpPr>
        <p:spPr>
          <a:xfrm>
            <a:off x="3072384" y="2450592"/>
            <a:ext cx="1188720" cy="566928"/>
          </a:xfrm>
          <a:prstGeom prst="rect">
            <a:avLst/>
          </a:prstGeom>
          <a:noFill/>
        </p:spPr>
        <p:txBody>
          <a:bodyPr wrap="square" anchor="ctr">
            <a:spAutoFit/>
          </a:bodyPr>
          <a:lstStyle/>
          <a:p>
            <a:pPr algn="l"/>
            <a:r>
              <a:rPr sz="1200" b="0">
                <a:solidFill>
                  <a:srgbClr val="222222"/>
                </a:solidFill>
                <a:latin typeface="Calibri"/>
              </a:rPr>
              <a:t>8983282070</a:t>
            </a:r>
          </a:p>
        </p:txBody>
      </p:sp>
      <p:sp>
        <p:nvSpPr>
          <p:cNvPr id="27" name="TextBox 26"/>
          <p:cNvSpPr txBox="1"/>
          <p:nvPr/>
        </p:nvSpPr>
        <p:spPr>
          <a:xfrm>
            <a:off x="4352544" y="2450592"/>
            <a:ext cx="1005840" cy="566928"/>
          </a:xfrm>
          <a:prstGeom prst="rect">
            <a:avLst/>
          </a:prstGeom>
          <a:noFill/>
        </p:spPr>
        <p:txBody>
          <a:bodyPr wrap="square" anchor="ctr">
            <a:spAutoFit/>
          </a:bodyPr>
          <a:lstStyle/>
          <a:p>
            <a:pPr algn="r"/>
            <a:r>
              <a:rPr sz="1200" b="0">
                <a:solidFill>
                  <a:srgbClr val="222222"/>
                </a:solidFill>
                <a:latin typeface="Calibri"/>
              </a:rPr>
              <a:t>348</a:t>
            </a:r>
          </a:p>
        </p:txBody>
      </p:sp>
      <p:sp>
        <p:nvSpPr>
          <p:cNvPr id="28" name="TextBox 27"/>
          <p:cNvSpPr txBox="1"/>
          <p:nvPr/>
        </p:nvSpPr>
        <p:spPr>
          <a:xfrm>
            <a:off x="5449824" y="2450592"/>
            <a:ext cx="960120" cy="566928"/>
          </a:xfrm>
          <a:prstGeom prst="rect">
            <a:avLst/>
          </a:prstGeom>
          <a:noFill/>
        </p:spPr>
        <p:txBody>
          <a:bodyPr wrap="square" anchor="ctr">
            <a:spAutoFit/>
          </a:bodyPr>
          <a:lstStyle/>
          <a:p>
            <a:pPr algn="r"/>
            <a:r>
              <a:rPr sz="1200" b="0">
                <a:solidFill>
                  <a:srgbClr val="222222"/>
                </a:solidFill>
                <a:latin typeface="Calibri"/>
              </a:rPr>
              <a:t>371</a:t>
            </a:r>
          </a:p>
        </p:txBody>
      </p:sp>
      <p:sp>
        <p:nvSpPr>
          <p:cNvPr id="29" name="TextBox 28"/>
          <p:cNvSpPr txBox="1"/>
          <p:nvPr/>
        </p:nvSpPr>
        <p:spPr>
          <a:xfrm>
            <a:off x="6501384" y="2450592"/>
            <a:ext cx="640080" cy="566928"/>
          </a:xfrm>
          <a:prstGeom prst="rect">
            <a:avLst/>
          </a:prstGeom>
          <a:noFill/>
        </p:spPr>
        <p:txBody>
          <a:bodyPr wrap="square" anchor="ctr">
            <a:spAutoFit/>
          </a:bodyPr>
          <a:lstStyle/>
          <a:p>
            <a:pPr algn="r"/>
            <a:r>
              <a:rPr sz="1200" b="0">
                <a:solidFill>
                  <a:srgbClr val="222222"/>
                </a:solidFill>
                <a:latin typeface="Calibri"/>
              </a:rPr>
              <a:t>14.45</a:t>
            </a:r>
          </a:p>
        </p:txBody>
      </p:sp>
      <p:sp>
        <p:nvSpPr>
          <p:cNvPr id="30" name="TextBox 29"/>
          <p:cNvSpPr txBox="1"/>
          <p:nvPr/>
        </p:nvSpPr>
        <p:spPr>
          <a:xfrm>
            <a:off x="7232904" y="2450592"/>
            <a:ext cx="1188720" cy="566928"/>
          </a:xfrm>
          <a:prstGeom prst="rect">
            <a:avLst/>
          </a:prstGeom>
          <a:noFill/>
        </p:spPr>
        <p:txBody>
          <a:bodyPr wrap="square" anchor="ctr">
            <a:spAutoFit/>
          </a:bodyPr>
          <a:lstStyle/>
          <a:p>
            <a:pPr algn="l"/>
            <a:r>
              <a:rPr sz="1200" b="0">
                <a:solidFill>
                  <a:srgbClr val="222222"/>
                </a:solidFill>
                <a:latin typeface="Calibri"/>
              </a:rPr>
              <a:t>1876102890</a:t>
            </a:r>
          </a:p>
        </p:txBody>
      </p:sp>
      <p:sp>
        <p:nvSpPr>
          <p:cNvPr id="31" name="TextBox 30"/>
          <p:cNvSpPr txBox="1"/>
          <p:nvPr/>
        </p:nvSpPr>
        <p:spPr>
          <a:xfrm>
            <a:off x="8513064" y="2450592"/>
            <a:ext cx="1005840" cy="566928"/>
          </a:xfrm>
          <a:prstGeom prst="rect">
            <a:avLst/>
          </a:prstGeom>
          <a:noFill/>
        </p:spPr>
        <p:txBody>
          <a:bodyPr wrap="square" anchor="ctr">
            <a:spAutoFit/>
          </a:bodyPr>
          <a:lstStyle/>
          <a:p>
            <a:pPr algn="r"/>
            <a:r>
              <a:rPr sz="1200" b="0">
                <a:solidFill>
                  <a:srgbClr val="222222"/>
                </a:solidFill>
                <a:latin typeface="Calibri"/>
              </a:rPr>
              <a:t>2,161</a:t>
            </a:r>
          </a:p>
        </p:txBody>
      </p:sp>
      <p:sp>
        <p:nvSpPr>
          <p:cNvPr id="32" name="TextBox 31"/>
          <p:cNvSpPr txBox="1"/>
          <p:nvPr/>
        </p:nvSpPr>
        <p:spPr>
          <a:xfrm>
            <a:off x="9610344" y="2450592"/>
            <a:ext cx="960120" cy="566928"/>
          </a:xfrm>
          <a:prstGeom prst="rect">
            <a:avLst/>
          </a:prstGeom>
          <a:noFill/>
        </p:spPr>
        <p:txBody>
          <a:bodyPr wrap="square" anchor="ctr">
            <a:spAutoFit/>
          </a:bodyPr>
          <a:lstStyle/>
          <a:p>
            <a:pPr algn="r"/>
            <a:r>
              <a:rPr sz="1200" b="0">
                <a:solidFill>
                  <a:srgbClr val="222222"/>
                </a:solidFill>
                <a:latin typeface="Calibri"/>
              </a:rPr>
              <a:t>2,909</a:t>
            </a:r>
          </a:p>
        </p:txBody>
      </p:sp>
      <p:sp>
        <p:nvSpPr>
          <p:cNvPr id="33" name="TextBox 32"/>
          <p:cNvSpPr txBox="1"/>
          <p:nvPr/>
        </p:nvSpPr>
        <p:spPr>
          <a:xfrm>
            <a:off x="10661904" y="2450592"/>
            <a:ext cx="640080" cy="566928"/>
          </a:xfrm>
          <a:prstGeom prst="rect">
            <a:avLst/>
          </a:prstGeom>
          <a:noFill/>
        </p:spPr>
        <p:txBody>
          <a:bodyPr wrap="square" anchor="ctr">
            <a:spAutoFit/>
          </a:bodyPr>
          <a:lstStyle/>
          <a:p>
            <a:pPr algn="r"/>
            <a:r>
              <a:rPr sz="1200" b="0">
                <a:solidFill>
                  <a:srgbClr val="222222"/>
                </a:solidFill>
                <a:latin typeface="Calibri"/>
              </a:rPr>
              <a:t>9.96</a:t>
            </a:r>
          </a:p>
        </p:txBody>
      </p:sp>
      <p:sp>
        <p:nvSpPr>
          <p:cNvPr id="34" name="Rectangle 33"/>
          <p:cNvSpPr/>
          <p:nvPr/>
        </p:nvSpPr>
        <p:spPr>
          <a:xfrm>
            <a:off x="384048" y="3017520"/>
            <a:ext cx="11430000" cy="9144"/>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20624" y="3017520"/>
            <a:ext cx="1463040" cy="566928"/>
          </a:xfrm>
          <a:prstGeom prst="rect">
            <a:avLst/>
          </a:prstGeom>
          <a:noFill/>
        </p:spPr>
        <p:txBody>
          <a:bodyPr wrap="square" anchor="ctr">
            <a:spAutoFit/>
          </a:bodyPr>
          <a:lstStyle/>
          <a:p>
            <a:pPr algn="l"/>
            <a:r>
              <a:rPr sz="1200" b="1">
                <a:solidFill>
                  <a:srgbClr val="1A1A1A"/>
                </a:solidFill>
                <a:latin typeface="Calibri"/>
              </a:rPr>
              <a:t>Fuel filter</a:t>
            </a:r>
          </a:p>
        </p:txBody>
      </p:sp>
      <p:sp>
        <p:nvSpPr>
          <p:cNvPr id="36" name="TextBox 35"/>
          <p:cNvSpPr txBox="1"/>
          <p:nvPr/>
        </p:nvSpPr>
        <p:spPr>
          <a:xfrm>
            <a:off x="1975104" y="3017520"/>
            <a:ext cx="1005840" cy="566928"/>
          </a:xfrm>
          <a:prstGeom prst="rect">
            <a:avLst/>
          </a:prstGeom>
          <a:noFill/>
        </p:spPr>
        <p:txBody>
          <a:bodyPr wrap="square" anchor="ctr">
            <a:spAutoFit/>
          </a:bodyPr>
          <a:lstStyle/>
          <a:p>
            <a:pPr algn="r"/>
            <a:r>
              <a:rPr sz="1200" b="1">
                <a:solidFill>
                  <a:srgbClr val="1A1A1A"/>
                </a:solidFill>
                <a:latin typeface="Calibri"/>
              </a:rPr>
              <a:t>94.2% / 95.2%</a:t>
            </a:r>
          </a:p>
        </p:txBody>
      </p:sp>
      <p:sp>
        <p:nvSpPr>
          <p:cNvPr id="37" name="TextBox 36"/>
          <p:cNvSpPr txBox="1"/>
          <p:nvPr/>
        </p:nvSpPr>
        <p:spPr>
          <a:xfrm>
            <a:off x="3072384" y="3017520"/>
            <a:ext cx="1188720" cy="566928"/>
          </a:xfrm>
          <a:prstGeom prst="rect">
            <a:avLst/>
          </a:prstGeom>
          <a:noFill/>
        </p:spPr>
        <p:txBody>
          <a:bodyPr wrap="square" anchor="ctr">
            <a:spAutoFit/>
          </a:bodyPr>
          <a:lstStyle/>
          <a:p>
            <a:pPr algn="l"/>
            <a:r>
              <a:rPr sz="1200" b="0">
                <a:solidFill>
                  <a:srgbClr val="1A1A1A"/>
                </a:solidFill>
                <a:latin typeface="Calibri"/>
              </a:rPr>
              <a:t>8975425400</a:t>
            </a:r>
          </a:p>
        </p:txBody>
      </p:sp>
      <p:sp>
        <p:nvSpPr>
          <p:cNvPr id="38" name="TextBox 37"/>
          <p:cNvSpPr txBox="1"/>
          <p:nvPr/>
        </p:nvSpPr>
        <p:spPr>
          <a:xfrm>
            <a:off x="4352544" y="3017520"/>
            <a:ext cx="1005840" cy="566928"/>
          </a:xfrm>
          <a:prstGeom prst="rect">
            <a:avLst/>
          </a:prstGeom>
          <a:noFill/>
        </p:spPr>
        <p:txBody>
          <a:bodyPr wrap="square" anchor="ctr">
            <a:spAutoFit/>
          </a:bodyPr>
          <a:lstStyle/>
          <a:p>
            <a:pPr algn="r"/>
            <a:r>
              <a:rPr sz="1200" b="0">
                <a:solidFill>
                  <a:srgbClr val="1A1A1A"/>
                </a:solidFill>
                <a:latin typeface="Calibri"/>
              </a:rPr>
              <a:t>3,605</a:t>
            </a:r>
          </a:p>
        </p:txBody>
      </p:sp>
      <p:sp>
        <p:nvSpPr>
          <p:cNvPr id="39" name="TextBox 38"/>
          <p:cNvSpPr txBox="1"/>
          <p:nvPr/>
        </p:nvSpPr>
        <p:spPr>
          <a:xfrm>
            <a:off x="5449824" y="3017520"/>
            <a:ext cx="960120" cy="566928"/>
          </a:xfrm>
          <a:prstGeom prst="rect">
            <a:avLst/>
          </a:prstGeom>
          <a:noFill/>
        </p:spPr>
        <p:txBody>
          <a:bodyPr wrap="square" anchor="ctr">
            <a:spAutoFit/>
          </a:bodyPr>
          <a:lstStyle/>
          <a:p>
            <a:pPr algn="r"/>
            <a:r>
              <a:rPr sz="1200" b="0">
                <a:solidFill>
                  <a:srgbClr val="1A1A1A"/>
                </a:solidFill>
                <a:latin typeface="Calibri"/>
              </a:rPr>
              <a:t>2,005</a:t>
            </a:r>
          </a:p>
        </p:txBody>
      </p:sp>
      <p:sp>
        <p:nvSpPr>
          <p:cNvPr id="40" name="TextBox 39"/>
          <p:cNvSpPr txBox="1"/>
          <p:nvPr/>
        </p:nvSpPr>
        <p:spPr>
          <a:xfrm>
            <a:off x="6501384" y="3017520"/>
            <a:ext cx="640080" cy="566928"/>
          </a:xfrm>
          <a:prstGeom prst="rect">
            <a:avLst/>
          </a:prstGeom>
          <a:noFill/>
        </p:spPr>
        <p:txBody>
          <a:bodyPr wrap="square" anchor="ctr">
            <a:spAutoFit/>
          </a:bodyPr>
          <a:lstStyle/>
          <a:p>
            <a:pPr algn="r"/>
            <a:r>
              <a:rPr sz="1200" b="0">
                <a:solidFill>
                  <a:srgbClr val="1A1A1A"/>
                </a:solidFill>
                <a:latin typeface="Calibri"/>
              </a:rPr>
              <a:t>12.56</a:t>
            </a:r>
          </a:p>
        </p:txBody>
      </p:sp>
      <p:sp>
        <p:nvSpPr>
          <p:cNvPr id="41" name="TextBox 40"/>
          <p:cNvSpPr txBox="1"/>
          <p:nvPr/>
        </p:nvSpPr>
        <p:spPr>
          <a:xfrm>
            <a:off x="7232904" y="3017520"/>
            <a:ext cx="1188720" cy="566928"/>
          </a:xfrm>
          <a:prstGeom prst="rect">
            <a:avLst/>
          </a:prstGeom>
          <a:noFill/>
        </p:spPr>
        <p:txBody>
          <a:bodyPr wrap="square" anchor="ctr">
            <a:spAutoFit/>
          </a:bodyPr>
          <a:lstStyle/>
          <a:p>
            <a:pPr algn="l"/>
            <a:r>
              <a:rPr sz="1200" b="0">
                <a:solidFill>
                  <a:srgbClr val="1A1A1A"/>
                </a:solidFill>
                <a:latin typeface="Calibri"/>
              </a:rPr>
              <a:t>1876102860</a:t>
            </a:r>
          </a:p>
        </p:txBody>
      </p:sp>
      <p:sp>
        <p:nvSpPr>
          <p:cNvPr id="42" name="TextBox 41"/>
          <p:cNvSpPr txBox="1"/>
          <p:nvPr/>
        </p:nvSpPr>
        <p:spPr>
          <a:xfrm>
            <a:off x="8513064" y="3017520"/>
            <a:ext cx="1005840" cy="566928"/>
          </a:xfrm>
          <a:prstGeom prst="rect">
            <a:avLst/>
          </a:prstGeom>
          <a:noFill/>
        </p:spPr>
        <p:txBody>
          <a:bodyPr wrap="square" anchor="ctr">
            <a:spAutoFit/>
          </a:bodyPr>
          <a:lstStyle/>
          <a:p>
            <a:pPr algn="r"/>
            <a:r>
              <a:rPr sz="1200" b="0">
                <a:solidFill>
                  <a:srgbClr val="1A1A1A"/>
                </a:solidFill>
                <a:latin typeface="Calibri"/>
              </a:rPr>
              <a:t>0</a:t>
            </a:r>
          </a:p>
        </p:txBody>
      </p:sp>
      <p:sp>
        <p:nvSpPr>
          <p:cNvPr id="43" name="TextBox 42"/>
          <p:cNvSpPr txBox="1"/>
          <p:nvPr/>
        </p:nvSpPr>
        <p:spPr>
          <a:xfrm>
            <a:off x="9610344" y="3017520"/>
            <a:ext cx="960120" cy="566928"/>
          </a:xfrm>
          <a:prstGeom prst="rect">
            <a:avLst/>
          </a:prstGeom>
          <a:noFill/>
        </p:spPr>
        <p:txBody>
          <a:bodyPr wrap="square" anchor="ctr">
            <a:spAutoFit/>
          </a:bodyPr>
          <a:lstStyle/>
          <a:p>
            <a:pPr algn="r"/>
            <a:r>
              <a:rPr sz="1200" b="0">
                <a:solidFill>
                  <a:srgbClr val="1A1A1A"/>
                </a:solidFill>
                <a:latin typeface="Calibri"/>
              </a:rPr>
              <a:t>0</a:t>
            </a:r>
          </a:p>
        </p:txBody>
      </p:sp>
      <p:sp>
        <p:nvSpPr>
          <p:cNvPr id="44" name="TextBox 43"/>
          <p:cNvSpPr txBox="1"/>
          <p:nvPr/>
        </p:nvSpPr>
        <p:spPr>
          <a:xfrm>
            <a:off x="10661904" y="3017520"/>
            <a:ext cx="640080" cy="566928"/>
          </a:xfrm>
          <a:prstGeom prst="rect">
            <a:avLst/>
          </a:prstGeom>
          <a:noFill/>
        </p:spPr>
        <p:txBody>
          <a:bodyPr wrap="square" anchor="ctr">
            <a:spAutoFit/>
          </a:bodyPr>
          <a:lstStyle/>
          <a:p>
            <a:pPr algn="r"/>
            <a:r>
              <a:rPr sz="1200" b="0">
                <a:solidFill>
                  <a:srgbClr val="1A1A1A"/>
                </a:solidFill>
                <a:latin typeface="Calibri"/>
              </a:rPr>
              <a:t>8.05</a:t>
            </a:r>
          </a:p>
        </p:txBody>
      </p:sp>
      <p:sp>
        <p:nvSpPr>
          <p:cNvPr id="45" name="Rectangle 44"/>
          <p:cNvSpPr/>
          <p:nvPr/>
        </p:nvSpPr>
        <p:spPr>
          <a:xfrm>
            <a:off x="384048" y="3584448"/>
            <a:ext cx="11430000" cy="9144"/>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20624" y="3584448"/>
            <a:ext cx="1463040" cy="566928"/>
          </a:xfrm>
          <a:prstGeom prst="rect">
            <a:avLst/>
          </a:prstGeom>
          <a:noFill/>
        </p:spPr>
        <p:txBody>
          <a:bodyPr wrap="square" anchor="ctr">
            <a:spAutoFit/>
          </a:bodyPr>
          <a:lstStyle/>
          <a:p>
            <a:pPr algn="l"/>
            <a:r>
              <a:rPr sz="1200" b="1">
                <a:solidFill>
                  <a:srgbClr val="1A1A1A"/>
                </a:solidFill>
                <a:latin typeface="Calibri"/>
              </a:rPr>
              <a:t>Air filter</a:t>
            </a:r>
          </a:p>
        </p:txBody>
      </p:sp>
      <p:sp>
        <p:nvSpPr>
          <p:cNvPr id="47" name="TextBox 46"/>
          <p:cNvSpPr txBox="1"/>
          <p:nvPr/>
        </p:nvSpPr>
        <p:spPr>
          <a:xfrm>
            <a:off x="1975104" y="3584448"/>
            <a:ext cx="1005840" cy="566928"/>
          </a:xfrm>
          <a:prstGeom prst="rect">
            <a:avLst/>
          </a:prstGeom>
          <a:noFill/>
        </p:spPr>
        <p:txBody>
          <a:bodyPr wrap="square" anchor="ctr">
            <a:spAutoFit/>
          </a:bodyPr>
          <a:lstStyle/>
          <a:p>
            <a:pPr algn="r"/>
            <a:r>
              <a:rPr sz="1200" b="1">
                <a:solidFill>
                  <a:srgbClr val="1A1A1A"/>
                </a:solidFill>
                <a:latin typeface="Calibri"/>
              </a:rPr>
              <a:t>19.0% / 19.6%</a:t>
            </a:r>
          </a:p>
        </p:txBody>
      </p:sp>
      <p:sp>
        <p:nvSpPr>
          <p:cNvPr id="48" name="TextBox 47"/>
          <p:cNvSpPr txBox="1"/>
          <p:nvPr/>
        </p:nvSpPr>
        <p:spPr>
          <a:xfrm>
            <a:off x="3072384" y="3584448"/>
            <a:ext cx="1188720" cy="566928"/>
          </a:xfrm>
          <a:prstGeom prst="rect">
            <a:avLst/>
          </a:prstGeom>
          <a:noFill/>
        </p:spPr>
        <p:txBody>
          <a:bodyPr wrap="square" anchor="ctr">
            <a:spAutoFit/>
          </a:bodyPr>
          <a:lstStyle/>
          <a:p>
            <a:pPr algn="l"/>
            <a:r>
              <a:rPr sz="1200" b="0">
                <a:solidFill>
                  <a:srgbClr val="1A1A1A"/>
                </a:solidFill>
                <a:latin typeface="Calibri"/>
              </a:rPr>
              <a:t>8981772710</a:t>
            </a:r>
          </a:p>
        </p:txBody>
      </p:sp>
      <p:sp>
        <p:nvSpPr>
          <p:cNvPr id="49" name="TextBox 48"/>
          <p:cNvSpPr txBox="1"/>
          <p:nvPr/>
        </p:nvSpPr>
        <p:spPr>
          <a:xfrm>
            <a:off x="4352544" y="3584448"/>
            <a:ext cx="1005840" cy="566928"/>
          </a:xfrm>
          <a:prstGeom prst="rect">
            <a:avLst/>
          </a:prstGeom>
          <a:noFill/>
        </p:spPr>
        <p:txBody>
          <a:bodyPr wrap="square" anchor="ctr">
            <a:spAutoFit/>
          </a:bodyPr>
          <a:lstStyle/>
          <a:p>
            <a:pPr algn="r"/>
            <a:r>
              <a:rPr sz="1200" b="0">
                <a:solidFill>
                  <a:srgbClr val="1A1A1A"/>
                </a:solidFill>
                <a:latin typeface="Calibri"/>
              </a:rPr>
              <a:t>1,513</a:t>
            </a:r>
          </a:p>
        </p:txBody>
      </p:sp>
      <p:sp>
        <p:nvSpPr>
          <p:cNvPr id="50" name="TextBox 49"/>
          <p:cNvSpPr txBox="1"/>
          <p:nvPr/>
        </p:nvSpPr>
        <p:spPr>
          <a:xfrm>
            <a:off x="5449824" y="3584448"/>
            <a:ext cx="960120" cy="566928"/>
          </a:xfrm>
          <a:prstGeom prst="rect">
            <a:avLst/>
          </a:prstGeom>
          <a:noFill/>
        </p:spPr>
        <p:txBody>
          <a:bodyPr wrap="square" anchor="ctr">
            <a:spAutoFit/>
          </a:bodyPr>
          <a:lstStyle/>
          <a:p>
            <a:pPr algn="r"/>
            <a:r>
              <a:rPr sz="1200" b="0">
                <a:solidFill>
                  <a:srgbClr val="1A1A1A"/>
                </a:solidFill>
                <a:latin typeface="Calibri"/>
              </a:rPr>
              <a:t>1,403</a:t>
            </a:r>
          </a:p>
        </p:txBody>
      </p:sp>
      <p:sp>
        <p:nvSpPr>
          <p:cNvPr id="51" name="TextBox 50"/>
          <p:cNvSpPr txBox="1"/>
          <p:nvPr/>
        </p:nvSpPr>
        <p:spPr>
          <a:xfrm>
            <a:off x="6501384" y="3584448"/>
            <a:ext cx="640080" cy="566928"/>
          </a:xfrm>
          <a:prstGeom prst="rect">
            <a:avLst/>
          </a:prstGeom>
          <a:noFill/>
        </p:spPr>
        <p:txBody>
          <a:bodyPr wrap="square" anchor="ctr">
            <a:spAutoFit/>
          </a:bodyPr>
          <a:lstStyle/>
          <a:p>
            <a:pPr algn="r"/>
            <a:r>
              <a:rPr sz="1200" b="0">
                <a:solidFill>
                  <a:srgbClr val="1A1A1A"/>
                </a:solidFill>
                <a:latin typeface="Calibri"/>
              </a:rPr>
              <a:t>31.36</a:t>
            </a:r>
          </a:p>
        </p:txBody>
      </p:sp>
      <p:sp>
        <p:nvSpPr>
          <p:cNvPr id="52" name="TextBox 51"/>
          <p:cNvSpPr txBox="1"/>
          <p:nvPr/>
        </p:nvSpPr>
        <p:spPr>
          <a:xfrm>
            <a:off x="7232904" y="3584448"/>
            <a:ext cx="1188720" cy="566928"/>
          </a:xfrm>
          <a:prstGeom prst="rect">
            <a:avLst/>
          </a:prstGeom>
          <a:noFill/>
        </p:spPr>
        <p:txBody>
          <a:bodyPr wrap="square" anchor="ctr">
            <a:spAutoFit/>
          </a:bodyPr>
          <a:lstStyle/>
          <a:p>
            <a:pPr algn="l"/>
            <a:r>
              <a:rPr sz="1200" b="0">
                <a:solidFill>
                  <a:srgbClr val="1A1A1A"/>
                </a:solidFill>
                <a:latin typeface="Calibri"/>
              </a:rPr>
              <a:t>5876102500</a:t>
            </a:r>
          </a:p>
        </p:txBody>
      </p:sp>
      <p:sp>
        <p:nvSpPr>
          <p:cNvPr id="53" name="TextBox 52"/>
          <p:cNvSpPr txBox="1"/>
          <p:nvPr/>
        </p:nvSpPr>
        <p:spPr>
          <a:xfrm>
            <a:off x="8513064" y="3584448"/>
            <a:ext cx="1005840" cy="566928"/>
          </a:xfrm>
          <a:prstGeom prst="rect">
            <a:avLst/>
          </a:prstGeom>
          <a:noFill/>
        </p:spPr>
        <p:txBody>
          <a:bodyPr wrap="square" anchor="ctr">
            <a:spAutoFit/>
          </a:bodyPr>
          <a:lstStyle/>
          <a:p>
            <a:pPr algn="r"/>
            <a:r>
              <a:rPr sz="1200" b="0">
                <a:solidFill>
                  <a:srgbClr val="1A1A1A"/>
                </a:solidFill>
                <a:latin typeface="Calibri"/>
              </a:rPr>
              <a:t>0</a:t>
            </a:r>
          </a:p>
        </p:txBody>
      </p:sp>
      <p:sp>
        <p:nvSpPr>
          <p:cNvPr id="54" name="TextBox 53"/>
          <p:cNvSpPr txBox="1"/>
          <p:nvPr/>
        </p:nvSpPr>
        <p:spPr>
          <a:xfrm>
            <a:off x="9610344" y="3584448"/>
            <a:ext cx="960120" cy="566928"/>
          </a:xfrm>
          <a:prstGeom prst="rect">
            <a:avLst/>
          </a:prstGeom>
          <a:noFill/>
        </p:spPr>
        <p:txBody>
          <a:bodyPr wrap="square" anchor="ctr">
            <a:spAutoFit/>
          </a:bodyPr>
          <a:lstStyle/>
          <a:p>
            <a:pPr algn="r"/>
            <a:r>
              <a:rPr sz="1200" b="0">
                <a:solidFill>
                  <a:srgbClr val="1A1A1A"/>
                </a:solidFill>
                <a:latin typeface="Calibri"/>
              </a:rPr>
              <a:t>0</a:t>
            </a:r>
          </a:p>
        </p:txBody>
      </p:sp>
      <p:sp>
        <p:nvSpPr>
          <p:cNvPr id="55" name="TextBox 54"/>
          <p:cNvSpPr txBox="1"/>
          <p:nvPr/>
        </p:nvSpPr>
        <p:spPr>
          <a:xfrm>
            <a:off x="10661904" y="3584448"/>
            <a:ext cx="640080" cy="566928"/>
          </a:xfrm>
          <a:prstGeom prst="rect">
            <a:avLst/>
          </a:prstGeom>
          <a:noFill/>
        </p:spPr>
        <p:txBody>
          <a:bodyPr wrap="square" anchor="ctr">
            <a:spAutoFit/>
          </a:bodyPr>
          <a:lstStyle/>
          <a:p>
            <a:pPr algn="r"/>
            <a:r>
              <a:rPr sz="1200" b="0">
                <a:solidFill>
                  <a:srgbClr val="1A1A1A"/>
                </a:solidFill>
                <a:latin typeface="Calibri"/>
              </a:rPr>
              <a:t>17.49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suzu_logo_red.png"/>
          <p:cNvPicPr>
            <a:picLocks noChangeAspect="1"/>
          </p:cNvPicPr>
          <p:nvPr/>
        </p:nvPicPr>
        <p:blipFill>
          <a:blip r:embed="rId2"/>
          <a:stretch>
            <a:fillRect/>
          </a:stretch>
        </p:blipFill>
        <p:spPr>
          <a:xfrm>
            <a:off x="256032" y="6263640"/>
            <a:ext cx="1679787" cy="292608"/>
          </a:xfrm>
          <a:prstGeom prst="rect">
            <a:avLst/>
          </a:prstGeom>
        </p:spPr>
      </p:pic>
      <p:sp>
        <p:nvSpPr>
          <p:cNvPr id="3" name="Rectangle 2"/>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92608" y="201168"/>
            <a:ext cx="9509760" cy="256032"/>
          </a:xfrm>
          <a:prstGeom prst="rect">
            <a:avLst/>
          </a:prstGeom>
          <a:noFill/>
        </p:spPr>
        <p:txBody>
          <a:bodyPr wrap="square">
            <a:spAutoFit/>
          </a:bodyPr>
          <a:lstStyle/>
          <a:p>
            <a:pPr algn="l"/>
            <a:r>
              <a:rPr sz="1100" b="1">
                <a:solidFill>
                  <a:srgbClr val="1A1A1A"/>
                </a:solidFill>
                <a:latin typeface="Calibri"/>
              </a:rPr>
              <a:t>BVP</a:t>
            </a:r>
          </a:p>
        </p:txBody>
      </p:sp>
      <p:sp>
        <p:nvSpPr>
          <p:cNvPr id="5" name="TextBox 4"/>
          <p:cNvSpPr txBox="1"/>
          <p:nvPr/>
        </p:nvSpPr>
        <p:spPr>
          <a:xfrm>
            <a:off x="292608" y="457200"/>
            <a:ext cx="11612880" cy="566928"/>
          </a:xfrm>
          <a:prstGeom prst="rect">
            <a:avLst/>
          </a:prstGeom>
          <a:noFill/>
        </p:spPr>
        <p:txBody>
          <a:bodyPr wrap="square">
            <a:spAutoFit/>
          </a:bodyPr>
          <a:lstStyle/>
          <a:p>
            <a:pPr algn="l"/>
            <a:r>
              <a:rPr sz="2400" b="1">
                <a:solidFill>
                  <a:srgbClr val="1A1A1A"/>
                </a:solidFill>
                <a:latin typeface="Calibri"/>
              </a:rPr>
              <a:t>BVP where genuine volume is low</a:t>
            </a:r>
          </a:p>
        </p:txBody>
      </p:sp>
      <p:sp>
        <p:nvSpPr>
          <p:cNvPr id="6" name="Rectangle 5"/>
          <p:cNvSpPr/>
          <p:nvPr/>
        </p:nvSpPr>
        <p:spPr>
          <a:xfrm>
            <a:off x="292608" y="1005840"/>
            <a:ext cx="11612880" cy="13716"/>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5</a:t>
            </a:r>
          </a:p>
        </p:txBody>
      </p:sp>
      <p:sp>
        <p:nvSpPr>
          <p:cNvPr id="8" name="TextBox 7"/>
          <p:cNvSpPr txBox="1"/>
          <p:nvPr/>
        </p:nvSpPr>
        <p:spPr>
          <a:xfrm>
            <a:off x="292608" y="1078992"/>
            <a:ext cx="11612880" cy="402336"/>
          </a:xfrm>
          <a:prstGeom prst="rect">
            <a:avLst/>
          </a:prstGeom>
          <a:noFill/>
        </p:spPr>
        <p:txBody>
          <a:bodyPr wrap="square">
            <a:spAutoFit/>
          </a:bodyPr>
          <a:lstStyle/>
          <a:p>
            <a:pPr algn="l"/>
            <a:r>
              <a:rPr sz="1500" b="0">
                <a:solidFill>
                  <a:srgbClr val="222222"/>
                </a:solidFill>
                <a:latin typeface="Calibri"/>
              </a:rPr>
              <a:t>The request is to offer BVP for the fuel and air filters on the scheduled PMS set. Genuine remains first. BVP is the alternative when genuine volume stays low.</a:t>
            </a:r>
          </a:p>
        </p:txBody>
      </p:sp>
      <p:sp>
        <p:nvSpPr>
          <p:cNvPr id="9" name="Rectangle 8"/>
          <p:cNvSpPr/>
          <p:nvPr/>
        </p:nvSpPr>
        <p:spPr>
          <a:xfrm>
            <a:off x="1389888" y="1554480"/>
            <a:ext cx="4974336" cy="256032"/>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89888" y="1554480"/>
            <a:ext cx="4974336" cy="256032"/>
          </a:xfrm>
          <a:prstGeom prst="rect">
            <a:avLst/>
          </a:prstGeom>
          <a:noFill/>
        </p:spPr>
        <p:txBody>
          <a:bodyPr wrap="square" anchor="ctr">
            <a:spAutoFit/>
          </a:bodyPr>
          <a:lstStyle/>
          <a:p>
            <a:pPr algn="ctr"/>
            <a:r>
              <a:rPr sz="1100" b="1">
                <a:solidFill>
                  <a:srgbClr val="FFFFFF"/>
                </a:solidFill>
                <a:latin typeface="Calibri"/>
              </a:rPr>
              <a:t>GENUINE</a:t>
            </a:r>
          </a:p>
        </p:txBody>
      </p:sp>
      <p:sp>
        <p:nvSpPr>
          <p:cNvPr id="11" name="Rectangle 10"/>
          <p:cNvSpPr/>
          <p:nvPr/>
        </p:nvSpPr>
        <p:spPr>
          <a:xfrm>
            <a:off x="6473952" y="1554480"/>
            <a:ext cx="5431536" cy="256032"/>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73952" y="1554480"/>
            <a:ext cx="5431536" cy="256032"/>
          </a:xfrm>
          <a:prstGeom prst="rect">
            <a:avLst/>
          </a:prstGeom>
          <a:noFill/>
        </p:spPr>
        <p:txBody>
          <a:bodyPr wrap="square" anchor="ctr">
            <a:spAutoFit/>
          </a:bodyPr>
          <a:lstStyle/>
          <a:p>
            <a:pPr algn="ctr"/>
            <a:r>
              <a:rPr sz="1100" b="1">
                <a:solidFill>
                  <a:srgbClr val="FFFFFF"/>
                </a:solidFill>
                <a:latin typeface="Calibri"/>
              </a:rPr>
              <a:t>BVP</a:t>
            </a:r>
          </a:p>
        </p:txBody>
      </p:sp>
      <p:sp>
        <p:nvSpPr>
          <p:cNvPr id="13" name="Rectangle 12"/>
          <p:cNvSpPr/>
          <p:nvPr/>
        </p:nvSpPr>
        <p:spPr>
          <a:xfrm>
            <a:off x="292608" y="1847088"/>
            <a:ext cx="11612880" cy="310896"/>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5760" y="1847088"/>
            <a:ext cx="950976" cy="310896"/>
          </a:xfrm>
          <a:prstGeom prst="rect">
            <a:avLst/>
          </a:prstGeom>
          <a:noFill/>
        </p:spPr>
        <p:txBody>
          <a:bodyPr wrap="square" anchor="ctr">
            <a:spAutoFit/>
          </a:bodyPr>
          <a:lstStyle/>
          <a:p>
            <a:pPr algn="l"/>
            <a:r>
              <a:rPr sz="1100" b="1">
                <a:solidFill>
                  <a:srgbClr val="FFFFFF"/>
                </a:solidFill>
                <a:latin typeface="Calibri"/>
              </a:rPr>
              <a:t>Part</a:t>
            </a:r>
          </a:p>
        </p:txBody>
      </p:sp>
      <p:sp>
        <p:nvSpPr>
          <p:cNvPr id="15" name="TextBox 14"/>
          <p:cNvSpPr txBox="1"/>
          <p:nvPr/>
        </p:nvSpPr>
        <p:spPr>
          <a:xfrm>
            <a:off x="1463040" y="1847088"/>
            <a:ext cx="1499616" cy="310896"/>
          </a:xfrm>
          <a:prstGeom prst="rect">
            <a:avLst/>
          </a:prstGeom>
          <a:noFill/>
        </p:spPr>
        <p:txBody>
          <a:bodyPr wrap="square" anchor="ctr">
            <a:spAutoFit/>
          </a:bodyPr>
          <a:lstStyle/>
          <a:p>
            <a:pPr algn="r"/>
            <a:r>
              <a:rPr sz="1100" b="1">
                <a:solidFill>
                  <a:srgbClr val="FFFFFF"/>
                </a:solidFill>
                <a:latin typeface="Calibri"/>
              </a:rPr>
              <a:t>PN</a:t>
            </a:r>
          </a:p>
        </p:txBody>
      </p:sp>
      <p:sp>
        <p:nvSpPr>
          <p:cNvPr id="16" name="TextBox 15"/>
          <p:cNvSpPr txBox="1"/>
          <p:nvPr/>
        </p:nvSpPr>
        <p:spPr>
          <a:xfrm>
            <a:off x="3108960" y="1847088"/>
            <a:ext cx="1499616" cy="310896"/>
          </a:xfrm>
          <a:prstGeom prst="rect">
            <a:avLst/>
          </a:prstGeom>
          <a:noFill/>
        </p:spPr>
        <p:txBody>
          <a:bodyPr wrap="square" anchor="ctr">
            <a:spAutoFit/>
          </a:bodyPr>
          <a:lstStyle/>
          <a:p>
            <a:pPr algn="r"/>
            <a:r>
              <a:rPr sz="1100" b="1">
                <a:solidFill>
                  <a:srgbClr val="FFFFFF"/>
                </a:solidFill>
                <a:latin typeface="Calibri"/>
              </a:rPr>
              <a:t>ISZE to ITUK</a:t>
            </a:r>
          </a:p>
        </p:txBody>
      </p:sp>
      <p:sp>
        <p:nvSpPr>
          <p:cNvPr id="17" name="TextBox 16"/>
          <p:cNvSpPr txBox="1"/>
          <p:nvPr/>
        </p:nvSpPr>
        <p:spPr>
          <a:xfrm>
            <a:off x="4754880" y="1847088"/>
            <a:ext cx="1591056" cy="310896"/>
          </a:xfrm>
          <a:prstGeom prst="rect">
            <a:avLst/>
          </a:prstGeom>
          <a:noFill/>
        </p:spPr>
        <p:txBody>
          <a:bodyPr wrap="square" anchor="ctr">
            <a:spAutoFit/>
          </a:bodyPr>
          <a:lstStyle/>
          <a:p>
            <a:pPr algn="r"/>
            <a:r>
              <a:rPr sz="1100" b="1">
                <a:solidFill>
                  <a:srgbClr val="FFFFFF"/>
                </a:solidFill>
                <a:latin typeface="Calibri"/>
              </a:rPr>
              <a:t>Projected to dealers</a:t>
            </a:r>
          </a:p>
        </p:txBody>
      </p:sp>
      <p:sp>
        <p:nvSpPr>
          <p:cNvPr id="18" name="TextBox 17"/>
          <p:cNvSpPr txBox="1"/>
          <p:nvPr/>
        </p:nvSpPr>
        <p:spPr>
          <a:xfrm>
            <a:off x="6492240" y="1847088"/>
            <a:ext cx="1499616" cy="310896"/>
          </a:xfrm>
          <a:prstGeom prst="rect">
            <a:avLst/>
          </a:prstGeom>
          <a:noFill/>
        </p:spPr>
        <p:txBody>
          <a:bodyPr wrap="square" anchor="ctr">
            <a:spAutoFit/>
          </a:bodyPr>
          <a:lstStyle/>
          <a:p>
            <a:pPr algn="r"/>
            <a:r>
              <a:rPr sz="1100" b="1">
                <a:solidFill>
                  <a:srgbClr val="FFFFFF"/>
                </a:solidFill>
                <a:latin typeface="Calibri"/>
              </a:rPr>
              <a:t>PN</a:t>
            </a:r>
          </a:p>
        </p:txBody>
      </p:sp>
      <p:sp>
        <p:nvSpPr>
          <p:cNvPr id="19" name="TextBox 18"/>
          <p:cNvSpPr txBox="1"/>
          <p:nvPr/>
        </p:nvSpPr>
        <p:spPr>
          <a:xfrm>
            <a:off x="8138160" y="1847088"/>
            <a:ext cx="1499616" cy="310896"/>
          </a:xfrm>
          <a:prstGeom prst="rect">
            <a:avLst/>
          </a:prstGeom>
          <a:noFill/>
        </p:spPr>
        <p:txBody>
          <a:bodyPr wrap="square" anchor="ctr">
            <a:spAutoFit/>
          </a:bodyPr>
          <a:lstStyle/>
          <a:p>
            <a:pPr algn="r"/>
            <a:r>
              <a:rPr sz="1100" b="1">
                <a:solidFill>
                  <a:srgbClr val="FFFFFF"/>
                </a:solidFill>
                <a:latin typeface="Calibri"/>
              </a:rPr>
              <a:t>ISZE to ITUK</a:t>
            </a:r>
          </a:p>
        </p:txBody>
      </p:sp>
      <p:sp>
        <p:nvSpPr>
          <p:cNvPr id="20" name="TextBox 19"/>
          <p:cNvSpPr txBox="1"/>
          <p:nvPr/>
        </p:nvSpPr>
        <p:spPr>
          <a:xfrm>
            <a:off x="9784080" y="1847088"/>
            <a:ext cx="2048256" cy="310896"/>
          </a:xfrm>
          <a:prstGeom prst="rect">
            <a:avLst/>
          </a:prstGeom>
          <a:noFill/>
        </p:spPr>
        <p:txBody>
          <a:bodyPr wrap="square" anchor="ctr">
            <a:spAutoFit/>
          </a:bodyPr>
          <a:lstStyle/>
          <a:p>
            <a:pPr algn="r"/>
            <a:r>
              <a:rPr sz="1100" b="1">
                <a:solidFill>
                  <a:srgbClr val="FFFFFF"/>
                </a:solidFill>
                <a:latin typeface="Calibri"/>
              </a:rPr>
              <a:t>Projected to dealers</a:t>
            </a:r>
          </a:p>
        </p:txBody>
      </p:sp>
      <p:sp>
        <p:nvSpPr>
          <p:cNvPr id="21" name="Rectangle 20"/>
          <p:cNvSpPr/>
          <p:nvPr/>
        </p:nvSpPr>
        <p:spPr>
          <a:xfrm>
            <a:off x="292608" y="2157984"/>
            <a:ext cx="11612880" cy="9144"/>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5760" y="2157984"/>
            <a:ext cx="950976" cy="310896"/>
          </a:xfrm>
          <a:prstGeom prst="rect">
            <a:avLst/>
          </a:prstGeom>
          <a:noFill/>
        </p:spPr>
        <p:txBody>
          <a:bodyPr wrap="square" anchor="ctr">
            <a:spAutoFit/>
          </a:bodyPr>
          <a:lstStyle/>
          <a:p>
            <a:pPr algn="l"/>
            <a:r>
              <a:rPr sz="1300" b="0">
                <a:solidFill>
                  <a:srgbClr val="1A1A1A"/>
                </a:solidFill>
                <a:latin typeface="Calibri"/>
              </a:rPr>
              <a:t>Fuel</a:t>
            </a:r>
          </a:p>
        </p:txBody>
      </p:sp>
      <p:sp>
        <p:nvSpPr>
          <p:cNvPr id="23" name="TextBox 22"/>
          <p:cNvSpPr txBox="1"/>
          <p:nvPr/>
        </p:nvSpPr>
        <p:spPr>
          <a:xfrm>
            <a:off x="1463040" y="2157984"/>
            <a:ext cx="1499616" cy="310896"/>
          </a:xfrm>
          <a:prstGeom prst="rect">
            <a:avLst/>
          </a:prstGeom>
          <a:noFill/>
        </p:spPr>
        <p:txBody>
          <a:bodyPr wrap="square" anchor="ctr">
            <a:spAutoFit/>
          </a:bodyPr>
          <a:lstStyle/>
          <a:p>
            <a:pPr algn="r"/>
            <a:r>
              <a:rPr sz="1300" b="0">
                <a:solidFill>
                  <a:srgbClr val="1A1A1A"/>
                </a:solidFill>
                <a:latin typeface="Calibri"/>
              </a:rPr>
              <a:t>8975425400</a:t>
            </a:r>
          </a:p>
        </p:txBody>
      </p:sp>
      <p:sp>
        <p:nvSpPr>
          <p:cNvPr id="24" name="TextBox 23"/>
          <p:cNvSpPr txBox="1"/>
          <p:nvPr/>
        </p:nvSpPr>
        <p:spPr>
          <a:xfrm>
            <a:off x="3108960" y="2157984"/>
            <a:ext cx="1499616" cy="310896"/>
          </a:xfrm>
          <a:prstGeom prst="rect">
            <a:avLst/>
          </a:prstGeom>
          <a:noFill/>
        </p:spPr>
        <p:txBody>
          <a:bodyPr wrap="square" anchor="ctr">
            <a:spAutoFit/>
          </a:bodyPr>
          <a:lstStyle/>
          <a:p>
            <a:pPr algn="r"/>
            <a:r>
              <a:rPr sz="1300" b="0">
                <a:solidFill>
                  <a:srgbClr val="1A1A1A"/>
                </a:solidFill>
                <a:latin typeface="Calibri"/>
              </a:rPr>
              <a:t>EUR 12.56</a:t>
            </a:r>
          </a:p>
        </p:txBody>
      </p:sp>
      <p:sp>
        <p:nvSpPr>
          <p:cNvPr id="25" name="TextBox 24"/>
          <p:cNvSpPr txBox="1"/>
          <p:nvPr/>
        </p:nvSpPr>
        <p:spPr>
          <a:xfrm>
            <a:off x="4754880" y="2157984"/>
            <a:ext cx="1591056" cy="310896"/>
          </a:xfrm>
          <a:prstGeom prst="rect">
            <a:avLst/>
          </a:prstGeom>
          <a:noFill/>
        </p:spPr>
        <p:txBody>
          <a:bodyPr wrap="square" anchor="ctr">
            <a:spAutoFit/>
          </a:bodyPr>
          <a:lstStyle/>
          <a:p>
            <a:pPr algn="r"/>
            <a:r>
              <a:rPr sz="1300" b="0">
                <a:solidFill>
                  <a:srgbClr val="1A1A1A"/>
                </a:solidFill>
                <a:latin typeface="Calibri"/>
              </a:rPr>
              <a:t>EUR 17.58</a:t>
            </a:r>
          </a:p>
        </p:txBody>
      </p:sp>
      <p:sp>
        <p:nvSpPr>
          <p:cNvPr id="26" name="TextBox 25"/>
          <p:cNvSpPr txBox="1"/>
          <p:nvPr/>
        </p:nvSpPr>
        <p:spPr>
          <a:xfrm>
            <a:off x="6492240" y="2157984"/>
            <a:ext cx="1499616" cy="310896"/>
          </a:xfrm>
          <a:prstGeom prst="rect">
            <a:avLst/>
          </a:prstGeom>
          <a:noFill/>
        </p:spPr>
        <p:txBody>
          <a:bodyPr wrap="square" anchor="ctr">
            <a:spAutoFit/>
          </a:bodyPr>
          <a:lstStyle/>
          <a:p>
            <a:pPr algn="r"/>
            <a:r>
              <a:rPr sz="1300" b="0">
                <a:solidFill>
                  <a:srgbClr val="1A1A1A"/>
                </a:solidFill>
                <a:latin typeface="Calibri"/>
              </a:rPr>
              <a:t>1876102860</a:t>
            </a:r>
          </a:p>
        </p:txBody>
      </p:sp>
      <p:sp>
        <p:nvSpPr>
          <p:cNvPr id="27" name="TextBox 26"/>
          <p:cNvSpPr txBox="1"/>
          <p:nvPr/>
        </p:nvSpPr>
        <p:spPr>
          <a:xfrm>
            <a:off x="8138160" y="2157984"/>
            <a:ext cx="1499616" cy="310896"/>
          </a:xfrm>
          <a:prstGeom prst="rect">
            <a:avLst/>
          </a:prstGeom>
          <a:noFill/>
        </p:spPr>
        <p:txBody>
          <a:bodyPr wrap="square" anchor="ctr">
            <a:spAutoFit/>
          </a:bodyPr>
          <a:lstStyle/>
          <a:p>
            <a:pPr algn="r"/>
            <a:r>
              <a:rPr sz="1300" b="0">
                <a:solidFill>
                  <a:srgbClr val="1A1A1A"/>
                </a:solidFill>
                <a:latin typeface="Calibri"/>
              </a:rPr>
              <a:t>EUR 8.05</a:t>
            </a:r>
          </a:p>
        </p:txBody>
      </p:sp>
      <p:sp>
        <p:nvSpPr>
          <p:cNvPr id="28" name="TextBox 27"/>
          <p:cNvSpPr txBox="1"/>
          <p:nvPr/>
        </p:nvSpPr>
        <p:spPr>
          <a:xfrm>
            <a:off x="9784080" y="2157984"/>
            <a:ext cx="2048256" cy="310896"/>
          </a:xfrm>
          <a:prstGeom prst="rect">
            <a:avLst/>
          </a:prstGeom>
          <a:noFill/>
        </p:spPr>
        <p:txBody>
          <a:bodyPr wrap="square" anchor="ctr">
            <a:spAutoFit/>
          </a:bodyPr>
          <a:lstStyle/>
          <a:p>
            <a:pPr algn="r"/>
            <a:r>
              <a:rPr sz="1300" b="0">
                <a:solidFill>
                  <a:srgbClr val="1A1A1A"/>
                </a:solidFill>
                <a:latin typeface="Calibri"/>
              </a:rPr>
              <a:t>EUR 11.27</a:t>
            </a:r>
          </a:p>
        </p:txBody>
      </p:sp>
      <p:sp>
        <p:nvSpPr>
          <p:cNvPr id="29" name="Rectangle 28"/>
          <p:cNvSpPr/>
          <p:nvPr/>
        </p:nvSpPr>
        <p:spPr>
          <a:xfrm>
            <a:off x="292608" y="2468880"/>
            <a:ext cx="11612880" cy="9144"/>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65760" y="2468880"/>
            <a:ext cx="950976" cy="310896"/>
          </a:xfrm>
          <a:prstGeom prst="rect">
            <a:avLst/>
          </a:prstGeom>
          <a:noFill/>
        </p:spPr>
        <p:txBody>
          <a:bodyPr wrap="square" anchor="ctr">
            <a:spAutoFit/>
          </a:bodyPr>
          <a:lstStyle/>
          <a:p>
            <a:pPr algn="l"/>
            <a:r>
              <a:rPr sz="1300" b="0">
                <a:solidFill>
                  <a:srgbClr val="1A1A1A"/>
                </a:solidFill>
                <a:latin typeface="Calibri"/>
              </a:rPr>
              <a:t>Air</a:t>
            </a:r>
          </a:p>
        </p:txBody>
      </p:sp>
      <p:sp>
        <p:nvSpPr>
          <p:cNvPr id="31" name="TextBox 30"/>
          <p:cNvSpPr txBox="1"/>
          <p:nvPr/>
        </p:nvSpPr>
        <p:spPr>
          <a:xfrm>
            <a:off x="1463040" y="2468880"/>
            <a:ext cx="1499616" cy="310896"/>
          </a:xfrm>
          <a:prstGeom prst="rect">
            <a:avLst/>
          </a:prstGeom>
          <a:noFill/>
        </p:spPr>
        <p:txBody>
          <a:bodyPr wrap="square" anchor="ctr">
            <a:spAutoFit/>
          </a:bodyPr>
          <a:lstStyle/>
          <a:p>
            <a:pPr algn="r"/>
            <a:r>
              <a:rPr sz="1300" b="0">
                <a:solidFill>
                  <a:srgbClr val="1A1A1A"/>
                </a:solidFill>
                <a:latin typeface="Calibri"/>
              </a:rPr>
              <a:t>8981772710</a:t>
            </a:r>
          </a:p>
        </p:txBody>
      </p:sp>
      <p:sp>
        <p:nvSpPr>
          <p:cNvPr id="32" name="TextBox 31"/>
          <p:cNvSpPr txBox="1"/>
          <p:nvPr/>
        </p:nvSpPr>
        <p:spPr>
          <a:xfrm>
            <a:off x="3108960" y="2468880"/>
            <a:ext cx="1499616" cy="310896"/>
          </a:xfrm>
          <a:prstGeom prst="rect">
            <a:avLst/>
          </a:prstGeom>
          <a:noFill/>
        </p:spPr>
        <p:txBody>
          <a:bodyPr wrap="square" anchor="ctr">
            <a:spAutoFit/>
          </a:bodyPr>
          <a:lstStyle/>
          <a:p>
            <a:pPr algn="r"/>
            <a:r>
              <a:rPr sz="1300" b="0">
                <a:solidFill>
                  <a:srgbClr val="1A1A1A"/>
                </a:solidFill>
                <a:latin typeface="Calibri"/>
              </a:rPr>
              <a:t>EUR 31.36</a:t>
            </a:r>
          </a:p>
        </p:txBody>
      </p:sp>
      <p:sp>
        <p:nvSpPr>
          <p:cNvPr id="33" name="TextBox 32"/>
          <p:cNvSpPr txBox="1"/>
          <p:nvPr/>
        </p:nvSpPr>
        <p:spPr>
          <a:xfrm>
            <a:off x="4754880" y="2468880"/>
            <a:ext cx="1591056" cy="310896"/>
          </a:xfrm>
          <a:prstGeom prst="rect">
            <a:avLst/>
          </a:prstGeom>
          <a:noFill/>
        </p:spPr>
        <p:txBody>
          <a:bodyPr wrap="square" anchor="ctr">
            <a:spAutoFit/>
          </a:bodyPr>
          <a:lstStyle/>
          <a:p>
            <a:pPr algn="r"/>
            <a:r>
              <a:rPr sz="1300" b="0">
                <a:solidFill>
                  <a:srgbClr val="1A1A1A"/>
                </a:solidFill>
                <a:latin typeface="Calibri"/>
              </a:rPr>
              <a:t>EUR 43.90</a:t>
            </a:r>
          </a:p>
        </p:txBody>
      </p:sp>
      <p:sp>
        <p:nvSpPr>
          <p:cNvPr id="34" name="TextBox 33"/>
          <p:cNvSpPr txBox="1"/>
          <p:nvPr/>
        </p:nvSpPr>
        <p:spPr>
          <a:xfrm>
            <a:off x="6492240" y="2468880"/>
            <a:ext cx="1499616" cy="310896"/>
          </a:xfrm>
          <a:prstGeom prst="rect">
            <a:avLst/>
          </a:prstGeom>
          <a:noFill/>
        </p:spPr>
        <p:txBody>
          <a:bodyPr wrap="square" anchor="ctr">
            <a:spAutoFit/>
          </a:bodyPr>
          <a:lstStyle/>
          <a:p>
            <a:pPr algn="r"/>
            <a:r>
              <a:rPr sz="1300" b="0">
                <a:solidFill>
                  <a:srgbClr val="1A1A1A"/>
                </a:solidFill>
                <a:latin typeface="Calibri"/>
              </a:rPr>
              <a:t>5876102500</a:t>
            </a:r>
          </a:p>
        </p:txBody>
      </p:sp>
      <p:sp>
        <p:nvSpPr>
          <p:cNvPr id="35" name="TextBox 34"/>
          <p:cNvSpPr txBox="1"/>
          <p:nvPr/>
        </p:nvSpPr>
        <p:spPr>
          <a:xfrm>
            <a:off x="8138160" y="2468880"/>
            <a:ext cx="1499616" cy="310896"/>
          </a:xfrm>
          <a:prstGeom prst="rect">
            <a:avLst/>
          </a:prstGeom>
          <a:noFill/>
        </p:spPr>
        <p:txBody>
          <a:bodyPr wrap="square" anchor="ctr">
            <a:spAutoFit/>
          </a:bodyPr>
          <a:lstStyle/>
          <a:p>
            <a:pPr algn="r"/>
            <a:r>
              <a:rPr sz="1300" b="0">
                <a:solidFill>
                  <a:srgbClr val="1A1A1A"/>
                </a:solidFill>
                <a:latin typeface="Calibri"/>
              </a:rPr>
              <a:t>EUR 17.49</a:t>
            </a:r>
          </a:p>
        </p:txBody>
      </p:sp>
      <p:sp>
        <p:nvSpPr>
          <p:cNvPr id="36" name="TextBox 35"/>
          <p:cNvSpPr txBox="1"/>
          <p:nvPr/>
        </p:nvSpPr>
        <p:spPr>
          <a:xfrm>
            <a:off x="9784080" y="2468880"/>
            <a:ext cx="2048256" cy="310896"/>
          </a:xfrm>
          <a:prstGeom prst="rect">
            <a:avLst/>
          </a:prstGeom>
          <a:noFill/>
        </p:spPr>
        <p:txBody>
          <a:bodyPr wrap="square" anchor="ctr">
            <a:spAutoFit/>
          </a:bodyPr>
          <a:lstStyle/>
          <a:p>
            <a:pPr algn="r"/>
            <a:r>
              <a:rPr sz="1300" b="0">
                <a:solidFill>
                  <a:srgbClr val="1A1A1A"/>
                </a:solidFill>
                <a:latin typeface="Calibri"/>
              </a:rPr>
              <a:t>EUR 24.49</a:t>
            </a:r>
          </a:p>
        </p:txBody>
      </p:sp>
      <p:sp>
        <p:nvSpPr>
          <p:cNvPr id="37" name="Rectangle 36"/>
          <p:cNvSpPr/>
          <p:nvPr/>
        </p:nvSpPr>
        <p:spPr>
          <a:xfrm>
            <a:off x="292608" y="2779776"/>
            <a:ext cx="11612880" cy="9144"/>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92608" y="2852928"/>
            <a:ext cx="11612880" cy="256032"/>
          </a:xfrm>
          <a:prstGeom prst="rect">
            <a:avLst/>
          </a:prstGeom>
          <a:noFill/>
        </p:spPr>
        <p:txBody>
          <a:bodyPr wrap="square">
            <a:spAutoFit/>
          </a:bodyPr>
          <a:lstStyle/>
          <a:p>
            <a:pPr algn="l"/>
            <a:r>
              <a:rPr sz="1400" b="0">
                <a:solidFill>
                  <a:srgbClr val="222222"/>
                </a:solidFill>
                <a:latin typeface="Calibri"/>
              </a:rPr>
              <a:t>Projected ITUK price to dealers. Genuine versus BVP. Same 1.40 step as the aftermarket slide.</a:t>
            </a:r>
          </a:p>
        </p:txBody>
      </p:sp>
      <p:sp>
        <p:nvSpPr>
          <p:cNvPr id="39" name="TextBox 38"/>
          <p:cNvSpPr txBox="1"/>
          <p:nvPr/>
        </p:nvSpPr>
        <p:spPr>
          <a:xfrm>
            <a:off x="292608" y="3108960"/>
            <a:ext cx="2377440" cy="365760"/>
          </a:xfrm>
          <a:prstGeom prst="rect">
            <a:avLst/>
          </a:prstGeom>
          <a:noFill/>
        </p:spPr>
        <p:txBody>
          <a:bodyPr wrap="square" anchor="ctr">
            <a:spAutoFit/>
          </a:bodyPr>
          <a:lstStyle/>
          <a:p>
            <a:pPr algn="l"/>
            <a:r>
              <a:rPr sz="1300" b="0">
                <a:solidFill>
                  <a:srgbClr val="1A1A1A"/>
                </a:solidFill>
                <a:latin typeface="Calibri"/>
              </a:rPr>
              <a:t>Fuel, genuine</a:t>
            </a:r>
          </a:p>
        </p:txBody>
      </p:sp>
      <p:sp>
        <p:nvSpPr>
          <p:cNvPr id="40" name="Rectangle 39"/>
          <p:cNvSpPr/>
          <p:nvPr/>
        </p:nvSpPr>
        <p:spPr>
          <a:xfrm>
            <a:off x="2743200" y="3200400"/>
            <a:ext cx="3072221" cy="18288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488168" y="3108960"/>
            <a:ext cx="1417320" cy="365760"/>
          </a:xfrm>
          <a:prstGeom prst="rect">
            <a:avLst/>
          </a:prstGeom>
          <a:noFill/>
        </p:spPr>
        <p:txBody>
          <a:bodyPr wrap="square" anchor="ctr">
            <a:spAutoFit/>
          </a:bodyPr>
          <a:lstStyle/>
          <a:p>
            <a:pPr algn="r"/>
            <a:r>
              <a:rPr sz="1300" b="1">
                <a:solidFill>
                  <a:srgbClr val="1A1A1A"/>
                </a:solidFill>
                <a:latin typeface="Calibri"/>
              </a:rPr>
              <a:t>EUR 17.58</a:t>
            </a:r>
          </a:p>
        </p:txBody>
      </p:sp>
      <p:sp>
        <p:nvSpPr>
          <p:cNvPr id="42" name="TextBox 41"/>
          <p:cNvSpPr txBox="1"/>
          <p:nvPr/>
        </p:nvSpPr>
        <p:spPr>
          <a:xfrm>
            <a:off x="292608" y="3474720"/>
            <a:ext cx="2377440" cy="365760"/>
          </a:xfrm>
          <a:prstGeom prst="rect">
            <a:avLst/>
          </a:prstGeom>
          <a:noFill/>
        </p:spPr>
        <p:txBody>
          <a:bodyPr wrap="square" anchor="ctr">
            <a:spAutoFit/>
          </a:bodyPr>
          <a:lstStyle/>
          <a:p>
            <a:pPr algn="l"/>
            <a:r>
              <a:rPr sz="1300" b="0">
                <a:solidFill>
                  <a:srgbClr val="1A1A1A"/>
                </a:solidFill>
                <a:latin typeface="Calibri"/>
              </a:rPr>
              <a:t>Fuel, BVP</a:t>
            </a:r>
          </a:p>
        </p:txBody>
      </p:sp>
      <p:sp>
        <p:nvSpPr>
          <p:cNvPr id="43" name="Rectangle 42"/>
          <p:cNvSpPr/>
          <p:nvPr/>
        </p:nvSpPr>
        <p:spPr>
          <a:xfrm>
            <a:off x="2743200" y="3566160"/>
            <a:ext cx="1969507" cy="182880"/>
          </a:xfrm>
          <a:prstGeom prst="rect">
            <a:avLst/>
          </a:prstGeom>
          <a:solidFill>
            <a:srgbClr val="8C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488168" y="3474720"/>
            <a:ext cx="1417320" cy="365760"/>
          </a:xfrm>
          <a:prstGeom prst="rect">
            <a:avLst/>
          </a:prstGeom>
          <a:noFill/>
        </p:spPr>
        <p:txBody>
          <a:bodyPr wrap="square" anchor="ctr">
            <a:spAutoFit/>
          </a:bodyPr>
          <a:lstStyle/>
          <a:p>
            <a:pPr algn="r"/>
            <a:r>
              <a:rPr sz="1300" b="1">
                <a:solidFill>
                  <a:srgbClr val="1A1A1A"/>
                </a:solidFill>
                <a:latin typeface="Calibri"/>
              </a:rPr>
              <a:t>EUR 11.27</a:t>
            </a:r>
          </a:p>
        </p:txBody>
      </p:sp>
      <p:sp>
        <p:nvSpPr>
          <p:cNvPr id="45" name="TextBox 44"/>
          <p:cNvSpPr txBox="1"/>
          <p:nvPr/>
        </p:nvSpPr>
        <p:spPr>
          <a:xfrm>
            <a:off x="292608" y="3840480"/>
            <a:ext cx="2377440" cy="365760"/>
          </a:xfrm>
          <a:prstGeom prst="rect">
            <a:avLst/>
          </a:prstGeom>
          <a:noFill/>
        </p:spPr>
        <p:txBody>
          <a:bodyPr wrap="square" anchor="ctr">
            <a:spAutoFit/>
          </a:bodyPr>
          <a:lstStyle/>
          <a:p>
            <a:pPr algn="l"/>
            <a:r>
              <a:rPr sz="1300" b="0">
                <a:solidFill>
                  <a:srgbClr val="1A1A1A"/>
                </a:solidFill>
                <a:latin typeface="Calibri"/>
              </a:rPr>
              <a:t>Air, genuine</a:t>
            </a:r>
          </a:p>
        </p:txBody>
      </p:sp>
      <p:sp>
        <p:nvSpPr>
          <p:cNvPr id="46" name="Rectangle 45"/>
          <p:cNvSpPr/>
          <p:nvPr/>
        </p:nvSpPr>
        <p:spPr>
          <a:xfrm>
            <a:off x="2743200" y="3931920"/>
            <a:ext cx="7671816" cy="18288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488168" y="3840480"/>
            <a:ext cx="1417320" cy="365760"/>
          </a:xfrm>
          <a:prstGeom prst="rect">
            <a:avLst/>
          </a:prstGeom>
          <a:noFill/>
        </p:spPr>
        <p:txBody>
          <a:bodyPr wrap="square" anchor="ctr">
            <a:spAutoFit/>
          </a:bodyPr>
          <a:lstStyle/>
          <a:p>
            <a:pPr algn="r"/>
            <a:r>
              <a:rPr sz="1300" b="1">
                <a:solidFill>
                  <a:srgbClr val="1A1A1A"/>
                </a:solidFill>
                <a:latin typeface="Calibri"/>
              </a:rPr>
              <a:t>EUR 43.90</a:t>
            </a:r>
          </a:p>
        </p:txBody>
      </p:sp>
      <p:sp>
        <p:nvSpPr>
          <p:cNvPr id="48" name="TextBox 47"/>
          <p:cNvSpPr txBox="1"/>
          <p:nvPr/>
        </p:nvSpPr>
        <p:spPr>
          <a:xfrm>
            <a:off x="292608" y="4206240"/>
            <a:ext cx="2377440" cy="365760"/>
          </a:xfrm>
          <a:prstGeom prst="rect">
            <a:avLst/>
          </a:prstGeom>
          <a:noFill/>
        </p:spPr>
        <p:txBody>
          <a:bodyPr wrap="square" anchor="ctr">
            <a:spAutoFit/>
          </a:bodyPr>
          <a:lstStyle/>
          <a:p>
            <a:pPr algn="l"/>
            <a:r>
              <a:rPr sz="1300" b="0">
                <a:solidFill>
                  <a:srgbClr val="1A1A1A"/>
                </a:solidFill>
                <a:latin typeface="Calibri"/>
              </a:rPr>
              <a:t>Air, BVP</a:t>
            </a:r>
          </a:p>
        </p:txBody>
      </p:sp>
      <p:sp>
        <p:nvSpPr>
          <p:cNvPr id="49" name="Rectangle 48"/>
          <p:cNvSpPr/>
          <p:nvPr/>
        </p:nvSpPr>
        <p:spPr>
          <a:xfrm>
            <a:off x="2743200" y="4297680"/>
            <a:ext cx="4279789" cy="182880"/>
          </a:xfrm>
          <a:prstGeom prst="rect">
            <a:avLst/>
          </a:prstGeom>
          <a:solidFill>
            <a:srgbClr val="8C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488168" y="4206240"/>
            <a:ext cx="1417320" cy="365760"/>
          </a:xfrm>
          <a:prstGeom prst="rect">
            <a:avLst/>
          </a:prstGeom>
          <a:noFill/>
        </p:spPr>
        <p:txBody>
          <a:bodyPr wrap="square" anchor="ctr">
            <a:spAutoFit/>
          </a:bodyPr>
          <a:lstStyle/>
          <a:p>
            <a:pPr algn="r"/>
            <a:r>
              <a:rPr sz="1300" b="1">
                <a:solidFill>
                  <a:srgbClr val="1A1A1A"/>
                </a:solidFill>
                <a:latin typeface="Calibri"/>
              </a:rPr>
              <a:t>EUR 24.49</a:t>
            </a:r>
          </a:p>
        </p:txBody>
      </p:sp>
      <p:sp>
        <p:nvSpPr>
          <p:cNvPr id="51" name="TextBox 50"/>
          <p:cNvSpPr txBox="1"/>
          <p:nvPr/>
        </p:nvSpPr>
        <p:spPr>
          <a:xfrm>
            <a:off x="292608" y="4608576"/>
            <a:ext cx="11612880" cy="292608"/>
          </a:xfrm>
          <a:prstGeom prst="rect">
            <a:avLst/>
          </a:prstGeom>
          <a:noFill/>
        </p:spPr>
        <p:txBody>
          <a:bodyPr wrap="square">
            <a:spAutoFit/>
          </a:bodyPr>
          <a:lstStyle/>
          <a:p>
            <a:pPr algn="l"/>
            <a:r>
              <a:rPr sz="1400" b="0">
                <a:solidFill>
                  <a:srgbClr val="222222"/>
                </a:solidFill>
                <a:latin typeface="Calibri"/>
              </a:rPr>
              <a:t>ITUK to dealer cover against expected N75 volume. Fuel is already at the service level. Air is the hole. Oil BVP is already supplied.</a:t>
            </a:r>
          </a:p>
        </p:txBody>
      </p:sp>
      <p:sp>
        <p:nvSpPr>
          <p:cNvPr id="52" name="TextBox 51"/>
          <p:cNvSpPr txBox="1"/>
          <p:nvPr/>
        </p:nvSpPr>
        <p:spPr>
          <a:xfrm>
            <a:off x="292608" y="4901184"/>
            <a:ext cx="2377440" cy="347472"/>
          </a:xfrm>
          <a:prstGeom prst="rect">
            <a:avLst/>
          </a:prstGeom>
          <a:noFill/>
        </p:spPr>
        <p:txBody>
          <a:bodyPr wrap="square" anchor="ctr">
            <a:spAutoFit/>
          </a:bodyPr>
          <a:lstStyle/>
          <a:p>
            <a:pPr algn="l"/>
            <a:r>
              <a:rPr sz="1300" b="0">
                <a:solidFill>
                  <a:srgbClr val="1A1A1A"/>
                </a:solidFill>
                <a:latin typeface="Calibri"/>
              </a:rPr>
              <a:t>Oil filter</a:t>
            </a:r>
          </a:p>
        </p:txBody>
      </p:sp>
      <p:sp>
        <p:nvSpPr>
          <p:cNvPr id="53" name="Rectangle 52"/>
          <p:cNvSpPr/>
          <p:nvPr/>
        </p:nvSpPr>
        <p:spPr>
          <a:xfrm>
            <a:off x="2743200" y="4992624"/>
            <a:ext cx="3544378" cy="164592"/>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0488168" y="4901184"/>
            <a:ext cx="1417320" cy="347472"/>
          </a:xfrm>
          <a:prstGeom prst="rect">
            <a:avLst/>
          </a:prstGeom>
          <a:noFill/>
        </p:spPr>
        <p:txBody>
          <a:bodyPr wrap="square" anchor="ctr">
            <a:spAutoFit/>
          </a:bodyPr>
          <a:lstStyle/>
          <a:p>
            <a:pPr algn="r"/>
            <a:r>
              <a:rPr sz="1300" b="1">
                <a:solidFill>
                  <a:srgbClr val="1A1A1A"/>
                </a:solidFill>
                <a:latin typeface="Calibri"/>
              </a:rPr>
              <a:t>46.2%</a:t>
            </a:r>
          </a:p>
        </p:txBody>
      </p:sp>
      <p:sp>
        <p:nvSpPr>
          <p:cNvPr id="55" name="TextBox 54"/>
          <p:cNvSpPr txBox="1"/>
          <p:nvPr/>
        </p:nvSpPr>
        <p:spPr>
          <a:xfrm>
            <a:off x="292608" y="5248656"/>
            <a:ext cx="2377440" cy="347472"/>
          </a:xfrm>
          <a:prstGeom prst="rect">
            <a:avLst/>
          </a:prstGeom>
          <a:noFill/>
        </p:spPr>
        <p:txBody>
          <a:bodyPr wrap="square" anchor="ctr">
            <a:spAutoFit/>
          </a:bodyPr>
          <a:lstStyle/>
          <a:p>
            <a:pPr algn="l"/>
            <a:r>
              <a:rPr sz="1300" b="0">
                <a:solidFill>
                  <a:srgbClr val="1A1A1A"/>
                </a:solidFill>
                <a:latin typeface="Calibri"/>
              </a:rPr>
              <a:t>Fuel filter</a:t>
            </a:r>
          </a:p>
        </p:txBody>
      </p:sp>
      <p:sp>
        <p:nvSpPr>
          <p:cNvPr id="56" name="Rectangle 55"/>
          <p:cNvSpPr/>
          <p:nvPr/>
        </p:nvSpPr>
        <p:spPr>
          <a:xfrm>
            <a:off x="2743200" y="5340096"/>
            <a:ext cx="7303568" cy="164592"/>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0488168" y="5248656"/>
            <a:ext cx="1417320" cy="347472"/>
          </a:xfrm>
          <a:prstGeom prst="rect">
            <a:avLst/>
          </a:prstGeom>
          <a:noFill/>
        </p:spPr>
        <p:txBody>
          <a:bodyPr wrap="square" anchor="ctr">
            <a:spAutoFit/>
          </a:bodyPr>
          <a:lstStyle/>
          <a:p>
            <a:pPr algn="r"/>
            <a:r>
              <a:rPr sz="1300" b="1">
                <a:solidFill>
                  <a:srgbClr val="1A1A1A"/>
                </a:solidFill>
                <a:latin typeface="Calibri"/>
              </a:rPr>
              <a:t>95.2%</a:t>
            </a:r>
          </a:p>
        </p:txBody>
      </p:sp>
      <p:sp>
        <p:nvSpPr>
          <p:cNvPr id="58" name="TextBox 57"/>
          <p:cNvSpPr txBox="1"/>
          <p:nvPr/>
        </p:nvSpPr>
        <p:spPr>
          <a:xfrm>
            <a:off x="292608" y="5596128"/>
            <a:ext cx="2377440" cy="347472"/>
          </a:xfrm>
          <a:prstGeom prst="rect">
            <a:avLst/>
          </a:prstGeom>
          <a:noFill/>
        </p:spPr>
        <p:txBody>
          <a:bodyPr wrap="square" anchor="ctr">
            <a:spAutoFit/>
          </a:bodyPr>
          <a:lstStyle/>
          <a:p>
            <a:pPr algn="l"/>
            <a:r>
              <a:rPr sz="1300" b="0">
                <a:solidFill>
                  <a:srgbClr val="1A1A1A"/>
                </a:solidFill>
                <a:latin typeface="Calibri"/>
              </a:rPr>
              <a:t>Air filter</a:t>
            </a:r>
          </a:p>
        </p:txBody>
      </p:sp>
      <p:sp>
        <p:nvSpPr>
          <p:cNvPr id="59" name="Rectangle 58"/>
          <p:cNvSpPr/>
          <p:nvPr/>
        </p:nvSpPr>
        <p:spPr>
          <a:xfrm>
            <a:off x="2743200" y="5687568"/>
            <a:ext cx="1503675" cy="164592"/>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0488168" y="5596128"/>
            <a:ext cx="1417320" cy="347472"/>
          </a:xfrm>
          <a:prstGeom prst="rect">
            <a:avLst/>
          </a:prstGeom>
          <a:noFill/>
        </p:spPr>
        <p:txBody>
          <a:bodyPr wrap="square" anchor="ctr">
            <a:spAutoFit/>
          </a:bodyPr>
          <a:lstStyle/>
          <a:p>
            <a:pPr algn="r"/>
            <a:r>
              <a:rPr sz="1300" b="1">
                <a:solidFill>
                  <a:srgbClr val="1A1A1A"/>
                </a:solidFill>
                <a:latin typeface="Calibri"/>
              </a:rPr>
              <a:t>19.6%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suzu_logo_red.png"/>
          <p:cNvPicPr>
            <a:picLocks noChangeAspect="1"/>
          </p:cNvPicPr>
          <p:nvPr/>
        </p:nvPicPr>
        <p:blipFill>
          <a:blip r:embed="rId2"/>
          <a:stretch>
            <a:fillRect/>
          </a:stretch>
        </p:blipFill>
        <p:spPr>
          <a:xfrm>
            <a:off x="256032" y="6263640"/>
            <a:ext cx="1679787" cy="292608"/>
          </a:xfrm>
          <a:prstGeom prst="rect">
            <a:avLst/>
          </a:prstGeom>
        </p:spPr>
      </p:pic>
      <p:sp>
        <p:nvSpPr>
          <p:cNvPr id="3" name="Rectangle 2"/>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92608" y="201168"/>
            <a:ext cx="9509760" cy="256032"/>
          </a:xfrm>
          <a:prstGeom prst="rect">
            <a:avLst/>
          </a:prstGeom>
          <a:noFill/>
        </p:spPr>
        <p:txBody>
          <a:bodyPr wrap="square">
            <a:spAutoFit/>
          </a:bodyPr>
          <a:lstStyle/>
          <a:p>
            <a:pPr algn="l"/>
            <a:r>
              <a:rPr sz="1100" b="1">
                <a:solidFill>
                  <a:srgbClr val="1A1A1A"/>
                </a:solidFill>
                <a:latin typeface="Calibri"/>
              </a:rPr>
              <a:t>SPA</a:t>
            </a:r>
          </a:p>
        </p:txBody>
      </p:sp>
      <p:sp>
        <p:nvSpPr>
          <p:cNvPr id="5" name="TextBox 4"/>
          <p:cNvSpPr txBox="1"/>
          <p:nvPr/>
        </p:nvSpPr>
        <p:spPr>
          <a:xfrm>
            <a:off x="292608" y="457200"/>
            <a:ext cx="11612880" cy="566928"/>
          </a:xfrm>
          <a:prstGeom prst="rect">
            <a:avLst/>
          </a:prstGeom>
          <a:noFill/>
        </p:spPr>
        <p:txBody>
          <a:bodyPr wrap="square">
            <a:spAutoFit/>
          </a:bodyPr>
          <a:lstStyle/>
          <a:p>
            <a:pPr algn="l"/>
            <a:r>
              <a:rPr sz="2400" b="1">
                <a:solidFill>
                  <a:srgbClr val="1A1A1A"/>
                </a:solidFill>
                <a:latin typeface="Calibri"/>
              </a:rPr>
              <a:t>Special Price Agreement</a:t>
            </a:r>
          </a:p>
        </p:txBody>
      </p:sp>
      <p:sp>
        <p:nvSpPr>
          <p:cNvPr id="6" name="Rectangle 5"/>
          <p:cNvSpPr/>
          <p:nvPr/>
        </p:nvSpPr>
        <p:spPr>
          <a:xfrm>
            <a:off x="292608" y="1005840"/>
            <a:ext cx="11612880" cy="13716"/>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6</a:t>
            </a:r>
          </a:p>
        </p:txBody>
      </p:sp>
      <p:sp>
        <p:nvSpPr>
          <p:cNvPr id="8" name="TextBox 7"/>
          <p:cNvSpPr txBox="1"/>
          <p:nvPr/>
        </p:nvSpPr>
        <p:spPr>
          <a:xfrm>
            <a:off x="292608" y="1170432"/>
            <a:ext cx="11612880" cy="640080"/>
          </a:xfrm>
          <a:prstGeom prst="rect">
            <a:avLst/>
          </a:prstGeom>
          <a:noFill/>
        </p:spPr>
        <p:txBody>
          <a:bodyPr wrap="square">
            <a:spAutoFit/>
          </a:bodyPr>
          <a:lstStyle/>
          <a:p>
            <a:pPr algn="l"/>
            <a:r>
              <a:rPr sz="1800" b="0">
                <a:solidFill>
                  <a:srgbClr val="1A1A1A"/>
                </a:solidFill>
                <a:latin typeface="Calibri"/>
              </a:rPr>
              <a:t>If price remains the barrier after BVP, a targeted discount may be used where it increases PMS take-up.</a:t>
            </a:r>
          </a:p>
        </p:txBody>
      </p:sp>
      <p:sp>
        <p:nvSpPr>
          <p:cNvPr id="9" name="TextBox 8"/>
          <p:cNvSpPr txBox="1"/>
          <p:nvPr/>
        </p:nvSpPr>
        <p:spPr>
          <a:xfrm>
            <a:off x="292608" y="1920240"/>
            <a:ext cx="11612880" cy="2194560"/>
          </a:xfrm>
          <a:prstGeom prst="rect">
            <a:avLst/>
          </a:prstGeom>
          <a:noFill/>
        </p:spPr>
        <p:txBody>
          <a:bodyPr wrap="square">
            <a:spAutoFit/>
          </a:bodyPr>
          <a:lstStyle/>
          <a:p>
            <a:pPr>
              <a:lnSpc>
                <a:spcPct val="115000"/>
              </a:lnSpc>
              <a:spcAft>
                <a:spcPts val="1000"/>
              </a:spcAft>
            </a:pPr>
            <a:r>
              <a:rPr sz="1800" b="1">
                <a:solidFill>
                  <a:srgbClr val="1A1A1A"/>
                </a:solidFill>
                <a:latin typeface="Calibri"/>
              </a:rPr>
              <a:t>- </a:t>
            </a:r>
            <a:r>
              <a:rPr sz="1800">
                <a:solidFill>
                  <a:srgbClr val="1A1A1A"/>
                </a:solidFill>
                <a:latin typeface="Calibri"/>
              </a:rPr>
              <a:t>The request concerns fuel and air filters, and genuine lines where volume is low.</a:t>
            </a:r>
          </a:p>
          <a:p>
            <a:pPr>
              <a:lnSpc>
                <a:spcPct val="115000"/>
              </a:lnSpc>
              <a:spcAft>
                <a:spcPts val="1000"/>
              </a:spcAft>
            </a:pPr>
            <a:r>
              <a:rPr sz="1800" b="1">
                <a:solidFill>
                  <a:srgbClr val="1A1A1A"/>
                </a:solidFill>
                <a:latin typeface="Calibri"/>
              </a:rPr>
              <a:t>- </a:t>
            </a:r>
            <a:r>
              <a:rPr sz="1800">
                <a:solidFill>
                  <a:srgbClr val="1A1A1A"/>
                </a:solidFill>
                <a:latin typeface="Calibri"/>
              </a:rPr>
              <a:t>A Special Price Agreement is requested only if the BVP alternative is not sufficient for scheduled PMS.</a:t>
            </a:r>
          </a:p>
          <a:p>
            <a:pPr>
              <a:lnSpc>
                <a:spcPct val="115000"/>
              </a:lnSpc>
              <a:spcAft>
                <a:spcPts val="1000"/>
              </a:spcAft>
            </a:pPr>
            <a:r>
              <a:rPr sz="1800" b="1">
                <a:solidFill>
                  <a:srgbClr val="1A1A1A"/>
                </a:solidFill>
                <a:latin typeface="Calibri"/>
              </a:rPr>
              <a:t>- </a:t>
            </a:r>
            <a:r>
              <a:rPr sz="1800">
                <a:solidFill>
                  <a:srgbClr val="1A1A1A"/>
                </a:solidFill>
                <a:latin typeface="Calibri"/>
              </a:rPr>
              <a:t>If ITUK and ISZE cannot agree the required discount, IML can assist as a last resort.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suzu_logo_red.png"/>
          <p:cNvPicPr>
            <a:picLocks noChangeAspect="1"/>
          </p:cNvPicPr>
          <p:nvPr/>
        </p:nvPicPr>
        <p:blipFill>
          <a:blip r:embed="rId2"/>
          <a:stretch>
            <a:fillRect/>
          </a:stretch>
        </p:blipFill>
        <p:spPr>
          <a:xfrm>
            <a:off x="256032" y="6263640"/>
            <a:ext cx="1679787" cy="292608"/>
          </a:xfrm>
          <a:prstGeom prst="rect">
            <a:avLst/>
          </a:prstGeom>
        </p:spPr>
      </p:pic>
      <p:sp>
        <p:nvSpPr>
          <p:cNvPr id="3" name="Rectangle 2"/>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92608" y="201168"/>
            <a:ext cx="9509760" cy="256032"/>
          </a:xfrm>
          <a:prstGeom prst="rect">
            <a:avLst/>
          </a:prstGeom>
          <a:noFill/>
        </p:spPr>
        <p:txBody>
          <a:bodyPr wrap="square">
            <a:spAutoFit/>
          </a:bodyPr>
          <a:lstStyle/>
          <a:p>
            <a:pPr algn="l"/>
            <a:r>
              <a:rPr sz="1100" b="1">
                <a:solidFill>
                  <a:srgbClr val="1A1A1A"/>
                </a:solidFill>
                <a:latin typeface="Calibri"/>
              </a:rPr>
              <a:t>FILTER SET</a:t>
            </a:r>
          </a:p>
        </p:txBody>
      </p:sp>
      <p:sp>
        <p:nvSpPr>
          <p:cNvPr id="5" name="TextBox 4"/>
          <p:cNvSpPr txBox="1"/>
          <p:nvPr/>
        </p:nvSpPr>
        <p:spPr>
          <a:xfrm>
            <a:off x="292608" y="457200"/>
            <a:ext cx="11612880" cy="566928"/>
          </a:xfrm>
          <a:prstGeom prst="rect">
            <a:avLst/>
          </a:prstGeom>
          <a:noFill/>
        </p:spPr>
        <p:txBody>
          <a:bodyPr wrap="square">
            <a:spAutoFit/>
          </a:bodyPr>
          <a:lstStyle/>
          <a:p>
            <a:pPr algn="l"/>
            <a:r>
              <a:rPr sz="2400" b="1">
                <a:solidFill>
                  <a:srgbClr val="1A1A1A"/>
                </a:solidFill>
                <a:latin typeface="Calibri"/>
              </a:rPr>
              <a:t>Parts required for one scheduled PMS (N75)</a:t>
            </a:r>
          </a:p>
        </p:txBody>
      </p:sp>
      <p:sp>
        <p:nvSpPr>
          <p:cNvPr id="6" name="Rectangle 5"/>
          <p:cNvSpPr/>
          <p:nvPr/>
        </p:nvSpPr>
        <p:spPr>
          <a:xfrm>
            <a:off x="292608" y="1005840"/>
            <a:ext cx="11612880" cy="13716"/>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7</a:t>
            </a:r>
          </a:p>
        </p:txBody>
      </p:sp>
      <p:sp>
        <p:nvSpPr>
          <p:cNvPr id="8" name="TextBox 7"/>
          <p:cNvSpPr txBox="1"/>
          <p:nvPr/>
        </p:nvSpPr>
        <p:spPr>
          <a:xfrm>
            <a:off x="292608" y="1060704"/>
            <a:ext cx="11612880" cy="402336"/>
          </a:xfrm>
          <a:prstGeom prst="rect">
            <a:avLst/>
          </a:prstGeom>
          <a:noFill/>
        </p:spPr>
        <p:txBody>
          <a:bodyPr wrap="square">
            <a:spAutoFit/>
          </a:bodyPr>
          <a:lstStyle/>
          <a:p>
            <a:pPr algn="l"/>
            <a:r>
              <a:rPr sz="1500" b="0">
                <a:solidFill>
                  <a:srgbClr val="222222"/>
                </a:solidFill>
                <a:latin typeface="Calibri"/>
              </a:rPr>
              <a:t>One scheduled service is oil, fuel, and air. Offer the genuine set first. Use BVP only if the genuine set does not take. Air is the attach hole.</a:t>
            </a:r>
          </a:p>
        </p:txBody>
      </p:sp>
      <p:sp>
        <p:nvSpPr>
          <p:cNvPr id="9" name="TextBox 8"/>
          <p:cNvSpPr txBox="1"/>
          <p:nvPr/>
        </p:nvSpPr>
        <p:spPr>
          <a:xfrm>
            <a:off x="292608" y="1499616"/>
            <a:ext cx="8595360" cy="237744"/>
          </a:xfrm>
          <a:prstGeom prst="rect">
            <a:avLst/>
          </a:prstGeom>
          <a:noFill/>
        </p:spPr>
        <p:txBody>
          <a:bodyPr wrap="square">
            <a:spAutoFit/>
          </a:bodyPr>
          <a:lstStyle/>
          <a:p>
            <a:pPr algn="l"/>
            <a:r>
              <a:rPr sz="1200" b="1">
                <a:solidFill>
                  <a:srgbClr val="1A1A1A"/>
                </a:solidFill>
                <a:latin typeface="Calibri"/>
              </a:rPr>
              <a:t>ISZE to ITUK</a:t>
            </a:r>
          </a:p>
        </p:txBody>
      </p:sp>
      <p:sp>
        <p:nvSpPr>
          <p:cNvPr id="10" name="TextBox 9"/>
          <p:cNvSpPr txBox="1"/>
          <p:nvPr/>
        </p:nvSpPr>
        <p:spPr>
          <a:xfrm>
            <a:off x="8961120" y="1499616"/>
            <a:ext cx="2944368" cy="237744"/>
          </a:xfrm>
          <a:prstGeom prst="rect">
            <a:avLst/>
          </a:prstGeom>
          <a:noFill/>
        </p:spPr>
        <p:txBody>
          <a:bodyPr wrap="square">
            <a:spAutoFit/>
          </a:bodyPr>
          <a:lstStyle/>
          <a:p>
            <a:pPr algn="r"/>
            <a:r>
              <a:rPr sz="1400" b="1">
                <a:solidFill>
                  <a:srgbClr val="1A1A1A"/>
                </a:solidFill>
                <a:latin typeface="Calibri"/>
              </a:rPr>
              <a:t>EUR 58.37</a:t>
            </a:r>
          </a:p>
        </p:txBody>
      </p:sp>
      <p:sp>
        <p:nvSpPr>
          <p:cNvPr id="11" name="Rectangle 10"/>
          <p:cNvSpPr/>
          <p:nvPr/>
        </p:nvSpPr>
        <p:spPr>
          <a:xfrm>
            <a:off x="292608" y="1755648"/>
            <a:ext cx="2838293" cy="658368"/>
          </a:xfrm>
          <a:prstGeom prst="rect">
            <a:avLst/>
          </a:prstGeom>
          <a:solidFill>
            <a:srgbClr val="8C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84048" y="1810512"/>
            <a:ext cx="2691989" cy="256032"/>
          </a:xfrm>
          <a:prstGeom prst="rect">
            <a:avLst/>
          </a:prstGeom>
          <a:noFill/>
        </p:spPr>
        <p:txBody>
          <a:bodyPr wrap="square">
            <a:spAutoFit/>
          </a:bodyPr>
          <a:lstStyle/>
          <a:p>
            <a:pPr algn="l"/>
            <a:r>
              <a:rPr sz="1200" b="1">
                <a:solidFill>
                  <a:srgbClr val="FFFFFF"/>
                </a:solidFill>
                <a:latin typeface="Calibri"/>
              </a:rPr>
              <a:t>Oil</a:t>
            </a:r>
          </a:p>
        </p:txBody>
      </p:sp>
      <p:sp>
        <p:nvSpPr>
          <p:cNvPr id="13" name="TextBox 12"/>
          <p:cNvSpPr txBox="1"/>
          <p:nvPr/>
        </p:nvSpPr>
        <p:spPr>
          <a:xfrm>
            <a:off x="384048" y="2066544"/>
            <a:ext cx="2691989" cy="274320"/>
          </a:xfrm>
          <a:prstGeom prst="rect">
            <a:avLst/>
          </a:prstGeom>
          <a:noFill/>
        </p:spPr>
        <p:txBody>
          <a:bodyPr wrap="square">
            <a:spAutoFit/>
          </a:bodyPr>
          <a:lstStyle/>
          <a:p>
            <a:pPr algn="l"/>
            <a:r>
              <a:rPr sz="1400" b="1">
                <a:solidFill>
                  <a:srgbClr val="FFFFFF"/>
                </a:solidFill>
                <a:latin typeface="Calibri"/>
              </a:rPr>
              <a:t>EUR 14.45</a:t>
            </a:r>
          </a:p>
        </p:txBody>
      </p:sp>
      <p:sp>
        <p:nvSpPr>
          <p:cNvPr id="14" name="Rectangle 13"/>
          <p:cNvSpPr/>
          <p:nvPr/>
        </p:nvSpPr>
        <p:spPr>
          <a:xfrm>
            <a:off x="3167477" y="1755648"/>
            <a:ext cx="2462272" cy="658368"/>
          </a:xfrm>
          <a:prstGeom prst="rect">
            <a:avLst/>
          </a:prstGeom>
          <a:solidFill>
            <a:srgbClr val="5A5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258917" y="1810512"/>
            <a:ext cx="2315968" cy="256032"/>
          </a:xfrm>
          <a:prstGeom prst="rect">
            <a:avLst/>
          </a:prstGeom>
          <a:noFill/>
        </p:spPr>
        <p:txBody>
          <a:bodyPr wrap="square">
            <a:spAutoFit/>
          </a:bodyPr>
          <a:lstStyle/>
          <a:p>
            <a:pPr algn="l"/>
            <a:r>
              <a:rPr sz="1200" b="1">
                <a:solidFill>
                  <a:srgbClr val="FFFFFF"/>
                </a:solidFill>
                <a:latin typeface="Calibri"/>
              </a:rPr>
              <a:t>Fuel</a:t>
            </a:r>
          </a:p>
        </p:txBody>
      </p:sp>
      <p:sp>
        <p:nvSpPr>
          <p:cNvPr id="16" name="TextBox 15"/>
          <p:cNvSpPr txBox="1"/>
          <p:nvPr/>
        </p:nvSpPr>
        <p:spPr>
          <a:xfrm>
            <a:off x="3258917" y="2066544"/>
            <a:ext cx="2315968" cy="274320"/>
          </a:xfrm>
          <a:prstGeom prst="rect">
            <a:avLst/>
          </a:prstGeom>
          <a:noFill/>
        </p:spPr>
        <p:txBody>
          <a:bodyPr wrap="square">
            <a:spAutoFit/>
          </a:bodyPr>
          <a:lstStyle/>
          <a:p>
            <a:pPr algn="l"/>
            <a:r>
              <a:rPr sz="1400" b="1">
                <a:solidFill>
                  <a:srgbClr val="FFFFFF"/>
                </a:solidFill>
                <a:latin typeface="Calibri"/>
              </a:rPr>
              <a:t>EUR 12.56</a:t>
            </a:r>
          </a:p>
        </p:txBody>
      </p:sp>
      <p:sp>
        <p:nvSpPr>
          <p:cNvPr id="17" name="Rectangle 16"/>
          <p:cNvSpPr/>
          <p:nvPr/>
        </p:nvSpPr>
        <p:spPr>
          <a:xfrm>
            <a:off x="5666325" y="1755648"/>
            <a:ext cx="6239162" cy="65836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757765" y="1810512"/>
            <a:ext cx="6092858" cy="256032"/>
          </a:xfrm>
          <a:prstGeom prst="rect">
            <a:avLst/>
          </a:prstGeom>
          <a:noFill/>
        </p:spPr>
        <p:txBody>
          <a:bodyPr wrap="square">
            <a:spAutoFit/>
          </a:bodyPr>
          <a:lstStyle/>
          <a:p>
            <a:pPr algn="l"/>
            <a:r>
              <a:rPr sz="1200" b="1">
                <a:solidFill>
                  <a:srgbClr val="FFFFFF"/>
                </a:solidFill>
                <a:latin typeface="Calibri"/>
              </a:rPr>
              <a:t>Air, attach hole</a:t>
            </a:r>
          </a:p>
        </p:txBody>
      </p:sp>
      <p:sp>
        <p:nvSpPr>
          <p:cNvPr id="19" name="TextBox 18"/>
          <p:cNvSpPr txBox="1"/>
          <p:nvPr/>
        </p:nvSpPr>
        <p:spPr>
          <a:xfrm>
            <a:off x="5757765" y="2066544"/>
            <a:ext cx="6092858" cy="274320"/>
          </a:xfrm>
          <a:prstGeom prst="rect">
            <a:avLst/>
          </a:prstGeom>
          <a:noFill/>
        </p:spPr>
        <p:txBody>
          <a:bodyPr wrap="square">
            <a:spAutoFit/>
          </a:bodyPr>
          <a:lstStyle/>
          <a:p>
            <a:pPr algn="l"/>
            <a:r>
              <a:rPr sz="1400" b="1">
                <a:solidFill>
                  <a:srgbClr val="FFFFFF"/>
                </a:solidFill>
                <a:latin typeface="Calibri"/>
              </a:rPr>
              <a:t>EUR 31.36</a:t>
            </a:r>
          </a:p>
        </p:txBody>
      </p:sp>
      <p:sp>
        <p:nvSpPr>
          <p:cNvPr id="20" name="TextBox 19"/>
          <p:cNvSpPr txBox="1"/>
          <p:nvPr/>
        </p:nvSpPr>
        <p:spPr>
          <a:xfrm>
            <a:off x="292608" y="2487168"/>
            <a:ext cx="8595360" cy="237744"/>
          </a:xfrm>
          <a:prstGeom prst="rect">
            <a:avLst/>
          </a:prstGeom>
          <a:noFill/>
        </p:spPr>
        <p:txBody>
          <a:bodyPr wrap="square">
            <a:spAutoFit/>
          </a:bodyPr>
          <a:lstStyle/>
          <a:p>
            <a:pPr algn="l"/>
            <a:r>
              <a:rPr sz="1200" b="1">
                <a:solidFill>
                  <a:srgbClr val="1A1A1A"/>
                </a:solidFill>
                <a:latin typeface="Calibri"/>
              </a:rPr>
              <a:t>Projected ITUK to dealers (x 1.40)</a:t>
            </a:r>
          </a:p>
        </p:txBody>
      </p:sp>
      <p:sp>
        <p:nvSpPr>
          <p:cNvPr id="21" name="TextBox 20"/>
          <p:cNvSpPr txBox="1"/>
          <p:nvPr/>
        </p:nvSpPr>
        <p:spPr>
          <a:xfrm>
            <a:off x="8961120" y="2487168"/>
            <a:ext cx="2944368" cy="237744"/>
          </a:xfrm>
          <a:prstGeom prst="rect">
            <a:avLst/>
          </a:prstGeom>
          <a:noFill/>
        </p:spPr>
        <p:txBody>
          <a:bodyPr wrap="square">
            <a:spAutoFit/>
          </a:bodyPr>
          <a:lstStyle/>
          <a:p>
            <a:pPr algn="r"/>
            <a:r>
              <a:rPr sz="1400" b="1">
                <a:solidFill>
                  <a:srgbClr val="1A1A1A"/>
                </a:solidFill>
                <a:latin typeface="Calibri"/>
              </a:rPr>
              <a:t>EUR 81.72</a:t>
            </a:r>
          </a:p>
        </p:txBody>
      </p:sp>
      <p:sp>
        <p:nvSpPr>
          <p:cNvPr id="22" name="Rectangle 21"/>
          <p:cNvSpPr/>
          <p:nvPr/>
        </p:nvSpPr>
        <p:spPr>
          <a:xfrm>
            <a:off x="292608" y="2743200"/>
            <a:ext cx="2838293" cy="658368"/>
          </a:xfrm>
          <a:prstGeom prst="rect">
            <a:avLst/>
          </a:prstGeom>
          <a:solidFill>
            <a:srgbClr val="8C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84048" y="2798064"/>
            <a:ext cx="2691989" cy="256032"/>
          </a:xfrm>
          <a:prstGeom prst="rect">
            <a:avLst/>
          </a:prstGeom>
          <a:noFill/>
        </p:spPr>
        <p:txBody>
          <a:bodyPr wrap="square">
            <a:spAutoFit/>
          </a:bodyPr>
          <a:lstStyle/>
          <a:p>
            <a:pPr algn="l"/>
            <a:r>
              <a:rPr sz="1200" b="1">
                <a:solidFill>
                  <a:srgbClr val="FFFFFF"/>
                </a:solidFill>
                <a:latin typeface="Calibri"/>
              </a:rPr>
              <a:t>Oil</a:t>
            </a:r>
          </a:p>
        </p:txBody>
      </p:sp>
      <p:sp>
        <p:nvSpPr>
          <p:cNvPr id="24" name="TextBox 23"/>
          <p:cNvSpPr txBox="1"/>
          <p:nvPr/>
        </p:nvSpPr>
        <p:spPr>
          <a:xfrm>
            <a:off x="384048" y="3054096"/>
            <a:ext cx="2691989" cy="274320"/>
          </a:xfrm>
          <a:prstGeom prst="rect">
            <a:avLst/>
          </a:prstGeom>
          <a:noFill/>
        </p:spPr>
        <p:txBody>
          <a:bodyPr wrap="square">
            <a:spAutoFit/>
          </a:bodyPr>
          <a:lstStyle/>
          <a:p>
            <a:pPr algn="l"/>
            <a:r>
              <a:rPr sz="1400" b="1">
                <a:solidFill>
                  <a:srgbClr val="FFFFFF"/>
                </a:solidFill>
                <a:latin typeface="Calibri"/>
              </a:rPr>
              <a:t>EUR 20.23</a:t>
            </a:r>
          </a:p>
        </p:txBody>
      </p:sp>
      <p:sp>
        <p:nvSpPr>
          <p:cNvPr id="25" name="Rectangle 24"/>
          <p:cNvSpPr/>
          <p:nvPr/>
        </p:nvSpPr>
        <p:spPr>
          <a:xfrm>
            <a:off x="3167477" y="2743200"/>
            <a:ext cx="2462272" cy="658368"/>
          </a:xfrm>
          <a:prstGeom prst="rect">
            <a:avLst/>
          </a:prstGeom>
          <a:solidFill>
            <a:srgbClr val="5A5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258917" y="2798064"/>
            <a:ext cx="2315968" cy="256032"/>
          </a:xfrm>
          <a:prstGeom prst="rect">
            <a:avLst/>
          </a:prstGeom>
          <a:noFill/>
        </p:spPr>
        <p:txBody>
          <a:bodyPr wrap="square">
            <a:spAutoFit/>
          </a:bodyPr>
          <a:lstStyle/>
          <a:p>
            <a:pPr algn="l"/>
            <a:r>
              <a:rPr sz="1200" b="1">
                <a:solidFill>
                  <a:srgbClr val="FFFFFF"/>
                </a:solidFill>
                <a:latin typeface="Calibri"/>
              </a:rPr>
              <a:t>Fuel</a:t>
            </a:r>
          </a:p>
        </p:txBody>
      </p:sp>
      <p:sp>
        <p:nvSpPr>
          <p:cNvPr id="27" name="TextBox 26"/>
          <p:cNvSpPr txBox="1"/>
          <p:nvPr/>
        </p:nvSpPr>
        <p:spPr>
          <a:xfrm>
            <a:off x="3258917" y="3054096"/>
            <a:ext cx="2315968" cy="274320"/>
          </a:xfrm>
          <a:prstGeom prst="rect">
            <a:avLst/>
          </a:prstGeom>
          <a:noFill/>
        </p:spPr>
        <p:txBody>
          <a:bodyPr wrap="square">
            <a:spAutoFit/>
          </a:bodyPr>
          <a:lstStyle/>
          <a:p>
            <a:pPr algn="l"/>
            <a:r>
              <a:rPr sz="1400" b="1">
                <a:solidFill>
                  <a:srgbClr val="FFFFFF"/>
                </a:solidFill>
                <a:latin typeface="Calibri"/>
              </a:rPr>
              <a:t>EUR 17.58</a:t>
            </a:r>
          </a:p>
        </p:txBody>
      </p:sp>
      <p:sp>
        <p:nvSpPr>
          <p:cNvPr id="28" name="Rectangle 27"/>
          <p:cNvSpPr/>
          <p:nvPr/>
        </p:nvSpPr>
        <p:spPr>
          <a:xfrm>
            <a:off x="5666325" y="2743200"/>
            <a:ext cx="6239162" cy="65836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757765" y="2798064"/>
            <a:ext cx="6092858" cy="256032"/>
          </a:xfrm>
          <a:prstGeom prst="rect">
            <a:avLst/>
          </a:prstGeom>
          <a:noFill/>
        </p:spPr>
        <p:txBody>
          <a:bodyPr wrap="square">
            <a:spAutoFit/>
          </a:bodyPr>
          <a:lstStyle/>
          <a:p>
            <a:pPr algn="l"/>
            <a:r>
              <a:rPr sz="1200" b="1">
                <a:solidFill>
                  <a:srgbClr val="FFFFFF"/>
                </a:solidFill>
                <a:latin typeface="Calibri"/>
              </a:rPr>
              <a:t>Air, attach hole</a:t>
            </a:r>
          </a:p>
        </p:txBody>
      </p:sp>
      <p:sp>
        <p:nvSpPr>
          <p:cNvPr id="30" name="TextBox 29"/>
          <p:cNvSpPr txBox="1"/>
          <p:nvPr/>
        </p:nvSpPr>
        <p:spPr>
          <a:xfrm>
            <a:off x="5757765" y="3054096"/>
            <a:ext cx="6092858" cy="274320"/>
          </a:xfrm>
          <a:prstGeom prst="rect">
            <a:avLst/>
          </a:prstGeom>
          <a:noFill/>
        </p:spPr>
        <p:txBody>
          <a:bodyPr wrap="square">
            <a:spAutoFit/>
          </a:bodyPr>
          <a:lstStyle/>
          <a:p>
            <a:pPr algn="l"/>
            <a:r>
              <a:rPr sz="1400" b="1">
                <a:solidFill>
                  <a:srgbClr val="FFFFFF"/>
                </a:solidFill>
                <a:latin typeface="Calibri"/>
              </a:rPr>
              <a:t>EUR 43.90</a:t>
            </a:r>
          </a:p>
        </p:txBody>
      </p:sp>
      <p:sp>
        <p:nvSpPr>
          <p:cNvPr id="31" name="Rectangle 30"/>
          <p:cNvSpPr/>
          <p:nvPr/>
        </p:nvSpPr>
        <p:spPr>
          <a:xfrm>
            <a:off x="292608" y="3529584"/>
            <a:ext cx="11612880" cy="310896"/>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65760" y="3529584"/>
            <a:ext cx="2048256" cy="310896"/>
          </a:xfrm>
          <a:prstGeom prst="rect">
            <a:avLst/>
          </a:prstGeom>
          <a:noFill/>
        </p:spPr>
        <p:txBody>
          <a:bodyPr wrap="square" anchor="ctr">
            <a:spAutoFit/>
          </a:bodyPr>
          <a:lstStyle/>
          <a:p>
            <a:pPr algn="l"/>
            <a:r>
              <a:rPr sz="1100" b="1">
                <a:solidFill>
                  <a:srgbClr val="FFFFFF"/>
                </a:solidFill>
                <a:latin typeface="Calibri"/>
              </a:rPr>
              <a:t>Part</a:t>
            </a:r>
          </a:p>
        </p:txBody>
      </p:sp>
      <p:sp>
        <p:nvSpPr>
          <p:cNvPr id="33" name="TextBox 32"/>
          <p:cNvSpPr txBox="1"/>
          <p:nvPr/>
        </p:nvSpPr>
        <p:spPr>
          <a:xfrm>
            <a:off x="2560320" y="3529584"/>
            <a:ext cx="2139696" cy="310896"/>
          </a:xfrm>
          <a:prstGeom prst="rect">
            <a:avLst/>
          </a:prstGeom>
          <a:noFill/>
        </p:spPr>
        <p:txBody>
          <a:bodyPr wrap="square" anchor="ctr">
            <a:spAutoFit/>
          </a:bodyPr>
          <a:lstStyle/>
          <a:p>
            <a:pPr algn="r"/>
            <a:r>
              <a:rPr sz="1100" b="1">
                <a:solidFill>
                  <a:srgbClr val="FFFFFF"/>
                </a:solidFill>
                <a:latin typeface="Calibri"/>
              </a:rPr>
              <a:t>ISZE to ITUK</a:t>
            </a:r>
          </a:p>
        </p:txBody>
      </p:sp>
      <p:sp>
        <p:nvSpPr>
          <p:cNvPr id="34" name="TextBox 33"/>
          <p:cNvSpPr txBox="1"/>
          <p:nvPr/>
        </p:nvSpPr>
        <p:spPr>
          <a:xfrm>
            <a:off x="4846320" y="3529584"/>
            <a:ext cx="2962656" cy="310896"/>
          </a:xfrm>
          <a:prstGeom prst="rect">
            <a:avLst/>
          </a:prstGeom>
          <a:noFill/>
        </p:spPr>
        <p:txBody>
          <a:bodyPr wrap="square" anchor="ctr">
            <a:spAutoFit/>
          </a:bodyPr>
          <a:lstStyle/>
          <a:p>
            <a:pPr algn="r"/>
            <a:r>
              <a:rPr sz="1100" b="1">
                <a:solidFill>
                  <a:srgbClr val="FFFFFF"/>
                </a:solidFill>
                <a:latin typeface="Calibri"/>
              </a:rPr>
              <a:t>Projected ITUK to dealers</a:t>
            </a:r>
          </a:p>
        </p:txBody>
      </p:sp>
      <p:sp>
        <p:nvSpPr>
          <p:cNvPr id="35" name="TextBox 34"/>
          <p:cNvSpPr txBox="1"/>
          <p:nvPr/>
        </p:nvSpPr>
        <p:spPr>
          <a:xfrm>
            <a:off x="7955280" y="3529584"/>
            <a:ext cx="3877056" cy="310896"/>
          </a:xfrm>
          <a:prstGeom prst="rect">
            <a:avLst/>
          </a:prstGeom>
          <a:noFill/>
        </p:spPr>
        <p:txBody>
          <a:bodyPr wrap="square" anchor="ctr">
            <a:spAutoFit/>
          </a:bodyPr>
          <a:lstStyle/>
          <a:p>
            <a:pPr algn="r"/>
            <a:r>
              <a:rPr sz="1100" b="1">
                <a:solidFill>
                  <a:srgbClr val="FFFFFF"/>
                </a:solidFill>
                <a:latin typeface="Calibri"/>
              </a:rPr>
              <a:t>Why it is in the set</a:t>
            </a:r>
          </a:p>
        </p:txBody>
      </p:sp>
      <p:sp>
        <p:nvSpPr>
          <p:cNvPr id="36" name="Rectangle 35"/>
          <p:cNvSpPr/>
          <p:nvPr/>
        </p:nvSpPr>
        <p:spPr>
          <a:xfrm>
            <a:off x="292608" y="3840480"/>
            <a:ext cx="11612880" cy="9144"/>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65760" y="3840480"/>
            <a:ext cx="2048256" cy="310896"/>
          </a:xfrm>
          <a:prstGeom prst="rect">
            <a:avLst/>
          </a:prstGeom>
          <a:noFill/>
        </p:spPr>
        <p:txBody>
          <a:bodyPr wrap="square" anchor="ctr">
            <a:spAutoFit/>
          </a:bodyPr>
          <a:lstStyle/>
          <a:p>
            <a:pPr algn="l"/>
            <a:r>
              <a:rPr sz="1300" b="0">
                <a:solidFill>
                  <a:srgbClr val="1A1A1A"/>
                </a:solidFill>
                <a:latin typeface="Calibri"/>
              </a:rPr>
              <a:t>Oil filter</a:t>
            </a:r>
          </a:p>
        </p:txBody>
      </p:sp>
      <p:sp>
        <p:nvSpPr>
          <p:cNvPr id="38" name="TextBox 37"/>
          <p:cNvSpPr txBox="1"/>
          <p:nvPr/>
        </p:nvSpPr>
        <p:spPr>
          <a:xfrm>
            <a:off x="2560320" y="3840480"/>
            <a:ext cx="2139696" cy="310896"/>
          </a:xfrm>
          <a:prstGeom prst="rect">
            <a:avLst/>
          </a:prstGeom>
          <a:noFill/>
        </p:spPr>
        <p:txBody>
          <a:bodyPr wrap="square" anchor="ctr">
            <a:spAutoFit/>
          </a:bodyPr>
          <a:lstStyle/>
          <a:p>
            <a:pPr algn="r"/>
            <a:r>
              <a:rPr sz="1300" b="0">
                <a:solidFill>
                  <a:srgbClr val="1A1A1A"/>
                </a:solidFill>
                <a:latin typeface="Calibri"/>
              </a:rPr>
              <a:t>EUR 14.45</a:t>
            </a:r>
          </a:p>
        </p:txBody>
      </p:sp>
      <p:sp>
        <p:nvSpPr>
          <p:cNvPr id="39" name="TextBox 38"/>
          <p:cNvSpPr txBox="1"/>
          <p:nvPr/>
        </p:nvSpPr>
        <p:spPr>
          <a:xfrm>
            <a:off x="4846320" y="3840480"/>
            <a:ext cx="2962656" cy="310896"/>
          </a:xfrm>
          <a:prstGeom prst="rect">
            <a:avLst/>
          </a:prstGeom>
          <a:noFill/>
        </p:spPr>
        <p:txBody>
          <a:bodyPr wrap="square" anchor="ctr">
            <a:spAutoFit/>
          </a:bodyPr>
          <a:lstStyle/>
          <a:p>
            <a:pPr algn="r"/>
            <a:r>
              <a:rPr sz="1300" b="0">
                <a:solidFill>
                  <a:srgbClr val="1A1A1A"/>
                </a:solidFill>
                <a:latin typeface="Calibri"/>
              </a:rPr>
              <a:t>EUR 20.23</a:t>
            </a:r>
          </a:p>
        </p:txBody>
      </p:sp>
      <p:sp>
        <p:nvSpPr>
          <p:cNvPr id="40" name="TextBox 39"/>
          <p:cNvSpPr txBox="1"/>
          <p:nvPr/>
        </p:nvSpPr>
        <p:spPr>
          <a:xfrm>
            <a:off x="7955280" y="3840480"/>
            <a:ext cx="3877056" cy="310896"/>
          </a:xfrm>
          <a:prstGeom prst="rect">
            <a:avLst/>
          </a:prstGeom>
          <a:noFill/>
        </p:spPr>
        <p:txBody>
          <a:bodyPr wrap="square" anchor="ctr">
            <a:spAutoFit/>
          </a:bodyPr>
          <a:lstStyle/>
          <a:p>
            <a:pPr algn="r"/>
            <a:r>
              <a:rPr sz="1300" b="0">
                <a:solidFill>
                  <a:srgbClr val="1A1A1A"/>
                </a:solidFill>
                <a:latin typeface="Calibri"/>
              </a:rPr>
              <a:t>Set contents</a:t>
            </a:r>
          </a:p>
        </p:txBody>
      </p:sp>
      <p:sp>
        <p:nvSpPr>
          <p:cNvPr id="41" name="Rectangle 40"/>
          <p:cNvSpPr/>
          <p:nvPr/>
        </p:nvSpPr>
        <p:spPr>
          <a:xfrm>
            <a:off x="292608" y="4151376"/>
            <a:ext cx="11612880" cy="9144"/>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65760" y="4151376"/>
            <a:ext cx="2048256" cy="310896"/>
          </a:xfrm>
          <a:prstGeom prst="rect">
            <a:avLst/>
          </a:prstGeom>
          <a:noFill/>
        </p:spPr>
        <p:txBody>
          <a:bodyPr wrap="square" anchor="ctr">
            <a:spAutoFit/>
          </a:bodyPr>
          <a:lstStyle/>
          <a:p>
            <a:pPr algn="l"/>
            <a:r>
              <a:rPr sz="1300" b="0">
                <a:solidFill>
                  <a:srgbClr val="1A1A1A"/>
                </a:solidFill>
                <a:latin typeface="Calibri"/>
              </a:rPr>
              <a:t>Fuel filter</a:t>
            </a:r>
          </a:p>
        </p:txBody>
      </p:sp>
      <p:sp>
        <p:nvSpPr>
          <p:cNvPr id="43" name="TextBox 42"/>
          <p:cNvSpPr txBox="1"/>
          <p:nvPr/>
        </p:nvSpPr>
        <p:spPr>
          <a:xfrm>
            <a:off x="2560320" y="4151376"/>
            <a:ext cx="2139696" cy="310896"/>
          </a:xfrm>
          <a:prstGeom prst="rect">
            <a:avLst/>
          </a:prstGeom>
          <a:noFill/>
        </p:spPr>
        <p:txBody>
          <a:bodyPr wrap="square" anchor="ctr">
            <a:spAutoFit/>
          </a:bodyPr>
          <a:lstStyle/>
          <a:p>
            <a:pPr algn="r"/>
            <a:r>
              <a:rPr sz="1300" b="0">
                <a:solidFill>
                  <a:srgbClr val="1A1A1A"/>
                </a:solidFill>
                <a:latin typeface="Calibri"/>
              </a:rPr>
              <a:t>EUR 12.56</a:t>
            </a:r>
          </a:p>
        </p:txBody>
      </p:sp>
      <p:sp>
        <p:nvSpPr>
          <p:cNvPr id="44" name="TextBox 43"/>
          <p:cNvSpPr txBox="1"/>
          <p:nvPr/>
        </p:nvSpPr>
        <p:spPr>
          <a:xfrm>
            <a:off x="4846320" y="4151376"/>
            <a:ext cx="2962656" cy="310896"/>
          </a:xfrm>
          <a:prstGeom prst="rect">
            <a:avLst/>
          </a:prstGeom>
          <a:noFill/>
        </p:spPr>
        <p:txBody>
          <a:bodyPr wrap="square" anchor="ctr">
            <a:spAutoFit/>
          </a:bodyPr>
          <a:lstStyle/>
          <a:p>
            <a:pPr algn="r"/>
            <a:r>
              <a:rPr sz="1300" b="0">
                <a:solidFill>
                  <a:srgbClr val="1A1A1A"/>
                </a:solidFill>
                <a:latin typeface="Calibri"/>
              </a:rPr>
              <a:t>EUR 17.58</a:t>
            </a:r>
          </a:p>
        </p:txBody>
      </p:sp>
      <p:sp>
        <p:nvSpPr>
          <p:cNvPr id="45" name="TextBox 44"/>
          <p:cNvSpPr txBox="1"/>
          <p:nvPr/>
        </p:nvSpPr>
        <p:spPr>
          <a:xfrm>
            <a:off x="7955280" y="4151376"/>
            <a:ext cx="3877056" cy="310896"/>
          </a:xfrm>
          <a:prstGeom prst="rect">
            <a:avLst/>
          </a:prstGeom>
          <a:noFill/>
        </p:spPr>
        <p:txBody>
          <a:bodyPr wrap="square" anchor="ctr">
            <a:spAutoFit/>
          </a:bodyPr>
          <a:lstStyle/>
          <a:p>
            <a:pPr algn="r"/>
            <a:r>
              <a:rPr sz="1300" b="0">
                <a:solidFill>
                  <a:srgbClr val="1A1A1A"/>
                </a:solidFill>
                <a:latin typeface="Calibri"/>
              </a:rPr>
              <a:t>Already at the service level</a:t>
            </a:r>
          </a:p>
        </p:txBody>
      </p:sp>
      <p:sp>
        <p:nvSpPr>
          <p:cNvPr id="46" name="Rectangle 45"/>
          <p:cNvSpPr/>
          <p:nvPr/>
        </p:nvSpPr>
        <p:spPr>
          <a:xfrm>
            <a:off x="292608" y="4462272"/>
            <a:ext cx="11612880" cy="9144"/>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65760" y="4462272"/>
            <a:ext cx="2048256" cy="310896"/>
          </a:xfrm>
          <a:prstGeom prst="rect">
            <a:avLst/>
          </a:prstGeom>
          <a:noFill/>
        </p:spPr>
        <p:txBody>
          <a:bodyPr wrap="square" anchor="ctr">
            <a:spAutoFit/>
          </a:bodyPr>
          <a:lstStyle/>
          <a:p>
            <a:pPr algn="l"/>
            <a:r>
              <a:rPr sz="1300" b="0">
                <a:solidFill>
                  <a:srgbClr val="1A1A1A"/>
                </a:solidFill>
                <a:latin typeface="Calibri"/>
              </a:rPr>
              <a:t>Air filter</a:t>
            </a:r>
          </a:p>
        </p:txBody>
      </p:sp>
      <p:sp>
        <p:nvSpPr>
          <p:cNvPr id="48" name="TextBox 47"/>
          <p:cNvSpPr txBox="1"/>
          <p:nvPr/>
        </p:nvSpPr>
        <p:spPr>
          <a:xfrm>
            <a:off x="2560320" y="4462272"/>
            <a:ext cx="2139696" cy="310896"/>
          </a:xfrm>
          <a:prstGeom prst="rect">
            <a:avLst/>
          </a:prstGeom>
          <a:noFill/>
        </p:spPr>
        <p:txBody>
          <a:bodyPr wrap="square" anchor="ctr">
            <a:spAutoFit/>
          </a:bodyPr>
          <a:lstStyle/>
          <a:p>
            <a:pPr algn="r"/>
            <a:r>
              <a:rPr sz="1300" b="0">
                <a:solidFill>
                  <a:srgbClr val="1A1A1A"/>
                </a:solidFill>
                <a:latin typeface="Calibri"/>
              </a:rPr>
              <a:t>EUR 31.36</a:t>
            </a:r>
          </a:p>
        </p:txBody>
      </p:sp>
      <p:sp>
        <p:nvSpPr>
          <p:cNvPr id="49" name="TextBox 48"/>
          <p:cNvSpPr txBox="1"/>
          <p:nvPr/>
        </p:nvSpPr>
        <p:spPr>
          <a:xfrm>
            <a:off x="4846320" y="4462272"/>
            <a:ext cx="2962656" cy="310896"/>
          </a:xfrm>
          <a:prstGeom prst="rect">
            <a:avLst/>
          </a:prstGeom>
          <a:noFill/>
        </p:spPr>
        <p:txBody>
          <a:bodyPr wrap="square" anchor="ctr">
            <a:spAutoFit/>
          </a:bodyPr>
          <a:lstStyle/>
          <a:p>
            <a:pPr algn="r"/>
            <a:r>
              <a:rPr sz="1300" b="0">
                <a:solidFill>
                  <a:srgbClr val="1A1A1A"/>
                </a:solidFill>
                <a:latin typeface="Calibri"/>
              </a:rPr>
              <a:t>EUR 43.90</a:t>
            </a:r>
          </a:p>
        </p:txBody>
      </p:sp>
      <p:sp>
        <p:nvSpPr>
          <p:cNvPr id="50" name="TextBox 49"/>
          <p:cNvSpPr txBox="1"/>
          <p:nvPr/>
        </p:nvSpPr>
        <p:spPr>
          <a:xfrm>
            <a:off x="7955280" y="4462272"/>
            <a:ext cx="3877056" cy="310896"/>
          </a:xfrm>
          <a:prstGeom prst="rect">
            <a:avLst/>
          </a:prstGeom>
          <a:noFill/>
        </p:spPr>
        <p:txBody>
          <a:bodyPr wrap="square" anchor="ctr">
            <a:spAutoFit/>
          </a:bodyPr>
          <a:lstStyle/>
          <a:p>
            <a:pPr algn="r"/>
            <a:r>
              <a:rPr sz="1300" b="0">
                <a:solidFill>
                  <a:srgbClr val="1A1A1A"/>
                </a:solidFill>
                <a:latin typeface="Calibri"/>
              </a:rPr>
              <a:t>Attach hole. Complete the set.</a:t>
            </a:r>
          </a:p>
        </p:txBody>
      </p:sp>
      <p:sp>
        <p:nvSpPr>
          <p:cNvPr id="51" name="Rectangle 50"/>
          <p:cNvSpPr/>
          <p:nvPr/>
        </p:nvSpPr>
        <p:spPr>
          <a:xfrm>
            <a:off x="292608" y="4773168"/>
            <a:ext cx="11612880" cy="9144"/>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92608" y="5084064"/>
            <a:ext cx="11612880" cy="530352"/>
          </a:xfrm>
          <a:prstGeom prst="rect">
            <a:avLst/>
          </a:prstGeom>
          <a:noFill/>
        </p:spPr>
        <p:txBody>
          <a:bodyPr wrap="square">
            <a:spAutoFit/>
          </a:bodyPr>
          <a:lstStyle/>
          <a:p>
            <a:pPr algn="l"/>
            <a:r>
              <a:rPr sz="1400" b="0">
                <a:solidFill>
                  <a:srgbClr val="222222"/>
                </a:solidFill>
                <a:latin typeface="Calibri"/>
              </a:rPr>
              <a:t>Today, oil BVP is already in the set: EUR 53.88 to ITUK, and EUR 75.43 projected to dealers. The BVP set is a last resort only: EUR 35.50 to ITUK, and EUR 49.70 projected to dealers.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suzu_logo_red.png"/>
          <p:cNvPicPr>
            <a:picLocks noChangeAspect="1"/>
          </p:cNvPicPr>
          <p:nvPr/>
        </p:nvPicPr>
        <p:blipFill>
          <a:blip r:embed="rId2"/>
          <a:stretch>
            <a:fillRect/>
          </a:stretch>
        </p:blipFill>
        <p:spPr>
          <a:xfrm>
            <a:off x="256032" y="6263640"/>
            <a:ext cx="1679787" cy="292608"/>
          </a:xfrm>
          <a:prstGeom prst="rect">
            <a:avLst/>
          </a:prstGeom>
        </p:spPr>
      </p:pic>
      <p:sp>
        <p:nvSpPr>
          <p:cNvPr id="3" name="Rectangle 2"/>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92608" y="201168"/>
            <a:ext cx="9509760" cy="256032"/>
          </a:xfrm>
          <a:prstGeom prst="rect">
            <a:avLst/>
          </a:prstGeom>
          <a:noFill/>
        </p:spPr>
        <p:txBody>
          <a:bodyPr wrap="square">
            <a:spAutoFit/>
          </a:bodyPr>
          <a:lstStyle/>
          <a:p>
            <a:pPr algn="l"/>
            <a:r>
              <a:rPr sz="1100" b="1">
                <a:solidFill>
                  <a:srgbClr val="1A1A1A"/>
                </a:solidFill>
                <a:latin typeface="Calibri"/>
              </a:rPr>
              <a:t>DRAFT  ·  BRAKES</a:t>
            </a:r>
          </a:p>
        </p:txBody>
      </p:sp>
      <p:sp>
        <p:nvSpPr>
          <p:cNvPr id="5" name="TextBox 4"/>
          <p:cNvSpPr txBox="1"/>
          <p:nvPr/>
        </p:nvSpPr>
        <p:spPr>
          <a:xfrm>
            <a:off x="10149840" y="182880"/>
            <a:ext cx="1737360" cy="274320"/>
          </a:xfrm>
          <a:prstGeom prst="rect">
            <a:avLst/>
          </a:prstGeom>
          <a:noFill/>
        </p:spPr>
        <p:txBody>
          <a:bodyPr wrap="square">
            <a:spAutoFit/>
          </a:bodyPr>
          <a:lstStyle/>
          <a:p>
            <a:pPr algn="r"/>
            <a:r>
              <a:rPr sz="1200" b="1">
                <a:solidFill>
                  <a:srgbClr val="CC0E1E"/>
                </a:solidFill>
                <a:latin typeface="Calibri"/>
              </a:rPr>
              <a:t>DRAFT</a:t>
            </a:r>
          </a:p>
        </p:txBody>
      </p:sp>
      <p:sp>
        <p:nvSpPr>
          <p:cNvPr id="6" name="TextBox 5"/>
          <p:cNvSpPr txBox="1"/>
          <p:nvPr/>
        </p:nvSpPr>
        <p:spPr>
          <a:xfrm>
            <a:off x="292608" y="457200"/>
            <a:ext cx="11612880" cy="566928"/>
          </a:xfrm>
          <a:prstGeom prst="rect">
            <a:avLst/>
          </a:prstGeom>
          <a:noFill/>
        </p:spPr>
        <p:txBody>
          <a:bodyPr wrap="square">
            <a:spAutoFit/>
          </a:bodyPr>
          <a:lstStyle/>
          <a:p>
            <a:pPr algn="l"/>
            <a:r>
              <a:rPr sz="2400" b="1">
                <a:solidFill>
                  <a:srgbClr val="1A1A1A"/>
                </a:solidFill>
                <a:latin typeface="Calibri"/>
              </a:rPr>
              <a:t>Brake pad and discs</a:t>
            </a:r>
          </a:p>
        </p:txBody>
      </p:sp>
      <p:sp>
        <p:nvSpPr>
          <p:cNvPr id="7" name="Rectangle 6"/>
          <p:cNvSpPr/>
          <p:nvPr/>
        </p:nvSpPr>
        <p:spPr>
          <a:xfrm>
            <a:off x="292608" y="1005840"/>
            <a:ext cx="11612880" cy="13716"/>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8</a:t>
            </a:r>
          </a:p>
        </p:txBody>
      </p:sp>
      <p:sp>
        <p:nvSpPr>
          <p:cNvPr id="9" name="TextBox 8"/>
          <p:cNvSpPr txBox="1"/>
          <p:nvPr/>
        </p:nvSpPr>
        <p:spPr>
          <a:xfrm>
            <a:off x="292608" y="1060704"/>
            <a:ext cx="11612880" cy="365760"/>
          </a:xfrm>
          <a:prstGeom prst="rect">
            <a:avLst/>
          </a:prstGeom>
          <a:noFill/>
        </p:spPr>
        <p:txBody>
          <a:bodyPr wrap="square">
            <a:spAutoFit/>
          </a:bodyPr>
          <a:lstStyle/>
          <a:p>
            <a:pPr algn="l"/>
            <a:r>
              <a:rPr sz="1500" b="0">
                <a:solidFill>
                  <a:srgbClr val="222222"/>
                </a:solidFill>
                <a:latin typeface="Calibri"/>
              </a:rPr>
              <a:t>The scheduled wear item is the pad. Discs are the aftermarket hole. There is no BVP twin for the R90 pad. A Special Price Agreement is the commercial route.</a:t>
            </a:r>
          </a:p>
        </p:txBody>
      </p:sp>
      <p:sp>
        <p:nvSpPr>
          <p:cNvPr id="10" name="TextBox 9"/>
          <p:cNvSpPr txBox="1"/>
          <p:nvPr/>
        </p:nvSpPr>
        <p:spPr>
          <a:xfrm>
            <a:off x="292608" y="1426464"/>
            <a:ext cx="11612880" cy="292608"/>
          </a:xfrm>
          <a:prstGeom prst="rect">
            <a:avLst/>
          </a:prstGeom>
          <a:noFill/>
        </p:spPr>
        <p:txBody>
          <a:bodyPr wrap="square">
            <a:spAutoFit/>
          </a:bodyPr>
          <a:lstStyle/>
          <a:p>
            <a:pPr algn="l"/>
            <a:r>
              <a:rPr sz="1400" b="0">
                <a:solidFill>
                  <a:srgbClr val="222222"/>
                </a:solidFill>
                <a:latin typeface="Calibri"/>
              </a:rPr>
              <a:t>Pad  8982447940. Cover is about 51 percent (2,367 ITUK to dealer / 2,282 ISZE to ITUK, against 9,359 vehicles at 0.5 events).</a:t>
            </a:r>
          </a:p>
        </p:txBody>
      </p:sp>
      <p:sp>
        <p:nvSpPr>
          <p:cNvPr id="11" name="TextBox 10"/>
          <p:cNvSpPr txBox="1"/>
          <p:nvPr/>
        </p:nvSpPr>
        <p:spPr>
          <a:xfrm>
            <a:off x="292608" y="1737360"/>
            <a:ext cx="3383280" cy="365760"/>
          </a:xfrm>
          <a:prstGeom prst="rect">
            <a:avLst/>
          </a:prstGeom>
          <a:noFill/>
        </p:spPr>
        <p:txBody>
          <a:bodyPr wrap="square" anchor="ctr">
            <a:spAutoFit/>
          </a:bodyPr>
          <a:lstStyle/>
          <a:p>
            <a:pPr algn="l"/>
            <a:r>
              <a:rPr sz="1300" b="0">
                <a:solidFill>
                  <a:srgbClr val="1A1A1A"/>
                </a:solidFill>
                <a:latin typeface="Calibri"/>
              </a:rPr>
              <a:t>ISZE to ITUK</a:t>
            </a:r>
          </a:p>
        </p:txBody>
      </p:sp>
      <p:sp>
        <p:nvSpPr>
          <p:cNvPr id="12" name="Rectangle 11"/>
          <p:cNvSpPr/>
          <p:nvPr/>
        </p:nvSpPr>
        <p:spPr>
          <a:xfrm>
            <a:off x="3749040" y="1828800"/>
            <a:ext cx="4761564" cy="18288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488168" y="1737360"/>
            <a:ext cx="1417320" cy="365760"/>
          </a:xfrm>
          <a:prstGeom prst="rect">
            <a:avLst/>
          </a:prstGeom>
          <a:noFill/>
        </p:spPr>
        <p:txBody>
          <a:bodyPr wrap="square" anchor="ctr">
            <a:spAutoFit/>
          </a:bodyPr>
          <a:lstStyle/>
          <a:p>
            <a:pPr algn="r"/>
            <a:r>
              <a:rPr sz="1300" b="1">
                <a:solidFill>
                  <a:srgbClr val="1A1A1A"/>
                </a:solidFill>
                <a:latin typeface="Calibri"/>
              </a:rPr>
              <a:t>EUR 89.11</a:t>
            </a:r>
          </a:p>
        </p:txBody>
      </p:sp>
      <p:sp>
        <p:nvSpPr>
          <p:cNvPr id="14" name="TextBox 13"/>
          <p:cNvSpPr txBox="1"/>
          <p:nvPr/>
        </p:nvSpPr>
        <p:spPr>
          <a:xfrm>
            <a:off x="292608" y="2103120"/>
            <a:ext cx="3383280" cy="365760"/>
          </a:xfrm>
          <a:prstGeom prst="rect">
            <a:avLst/>
          </a:prstGeom>
          <a:noFill/>
        </p:spPr>
        <p:txBody>
          <a:bodyPr wrap="square" anchor="ctr">
            <a:spAutoFit/>
          </a:bodyPr>
          <a:lstStyle/>
          <a:p>
            <a:pPr algn="l"/>
            <a:r>
              <a:rPr sz="1300" b="0">
                <a:solidFill>
                  <a:srgbClr val="1A1A1A"/>
                </a:solidFill>
                <a:latin typeface="Calibri"/>
              </a:rPr>
              <a:t>Projected ITUK to dealers</a:t>
            </a:r>
          </a:p>
        </p:txBody>
      </p:sp>
      <p:sp>
        <p:nvSpPr>
          <p:cNvPr id="15" name="Rectangle 14"/>
          <p:cNvSpPr/>
          <p:nvPr/>
        </p:nvSpPr>
        <p:spPr>
          <a:xfrm>
            <a:off x="3749040" y="2194560"/>
            <a:ext cx="6665976" cy="18288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88168" y="2103120"/>
            <a:ext cx="1417320" cy="365760"/>
          </a:xfrm>
          <a:prstGeom prst="rect">
            <a:avLst/>
          </a:prstGeom>
          <a:noFill/>
        </p:spPr>
        <p:txBody>
          <a:bodyPr wrap="square" anchor="ctr">
            <a:spAutoFit/>
          </a:bodyPr>
          <a:lstStyle/>
          <a:p>
            <a:pPr algn="r"/>
            <a:r>
              <a:rPr sz="1300" b="1">
                <a:solidFill>
                  <a:srgbClr val="1A1A1A"/>
                </a:solidFill>
                <a:latin typeface="Calibri"/>
              </a:rPr>
              <a:t>EUR 124.75</a:t>
            </a:r>
          </a:p>
        </p:txBody>
      </p:sp>
      <p:sp>
        <p:nvSpPr>
          <p:cNvPr id="17" name="TextBox 16"/>
          <p:cNvSpPr txBox="1"/>
          <p:nvPr/>
        </p:nvSpPr>
        <p:spPr>
          <a:xfrm>
            <a:off x="292608" y="2468880"/>
            <a:ext cx="3383280" cy="365760"/>
          </a:xfrm>
          <a:prstGeom prst="rect">
            <a:avLst/>
          </a:prstGeom>
          <a:noFill/>
        </p:spPr>
        <p:txBody>
          <a:bodyPr wrap="square" anchor="ctr">
            <a:spAutoFit/>
          </a:bodyPr>
          <a:lstStyle/>
          <a:p>
            <a:pPr algn="l"/>
            <a:r>
              <a:rPr sz="1300" b="0">
                <a:solidFill>
                  <a:srgbClr val="1A1A1A"/>
                </a:solidFill>
                <a:latin typeface="Calibri"/>
              </a:rPr>
              <a:t>Aftermarket workshop</a:t>
            </a:r>
          </a:p>
        </p:txBody>
      </p:sp>
      <p:sp>
        <p:nvSpPr>
          <p:cNvPr id="18" name="Rectangle 17"/>
          <p:cNvSpPr/>
          <p:nvPr/>
        </p:nvSpPr>
        <p:spPr>
          <a:xfrm>
            <a:off x="3749040" y="2560320"/>
            <a:ext cx="2464407" cy="18288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488168" y="2468880"/>
            <a:ext cx="1417320" cy="365760"/>
          </a:xfrm>
          <a:prstGeom prst="rect">
            <a:avLst/>
          </a:prstGeom>
          <a:noFill/>
        </p:spPr>
        <p:txBody>
          <a:bodyPr wrap="square" anchor="ctr">
            <a:spAutoFit/>
          </a:bodyPr>
          <a:lstStyle/>
          <a:p>
            <a:pPr algn="r"/>
            <a:r>
              <a:rPr sz="1300" b="1">
                <a:solidFill>
                  <a:srgbClr val="1A1A1A"/>
                </a:solidFill>
                <a:latin typeface="Calibri"/>
              </a:rPr>
              <a:t>EUR 46.12</a:t>
            </a:r>
          </a:p>
        </p:txBody>
      </p:sp>
      <p:sp>
        <p:nvSpPr>
          <p:cNvPr id="20" name="TextBox 19"/>
          <p:cNvSpPr txBox="1"/>
          <p:nvPr/>
        </p:nvSpPr>
        <p:spPr>
          <a:xfrm>
            <a:off x="292608" y="2852928"/>
            <a:ext cx="11612880" cy="256032"/>
          </a:xfrm>
          <a:prstGeom prst="rect">
            <a:avLst/>
          </a:prstGeom>
          <a:noFill/>
        </p:spPr>
        <p:txBody>
          <a:bodyPr wrap="square">
            <a:spAutoFit/>
          </a:bodyPr>
          <a:lstStyle/>
          <a:p>
            <a:pPr algn="l"/>
            <a:r>
              <a:rPr sz="1400" b="0">
                <a:solidFill>
                  <a:srgbClr val="222222"/>
                </a:solidFill>
                <a:latin typeface="Calibri"/>
              </a:rPr>
              <a:t>Read the last two bars. Same step: projected ITUK price to dealers versus what a workshop pays for the aftermarket pad.</a:t>
            </a:r>
          </a:p>
        </p:txBody>
      </p:sp>
      <p:sp>
        <p:nvSpPr>
          <p:cNvPr id="21" name="TextBox 20"/>
          <p:cNvSpPr txBox="1"/>
          <p:nvPr/>
        </p:nvSpPr>
        <p:spPr>
          <a:xfrm>
            <a:off x="292608" y="3108960"/>
            <a:ext cx="11612880" cy="219456"/>
          </a:xfrm>
          <a:prstGeom prst="rect">
            <a:avLst/>
          </a:prstGeom>
          <a:noFill/>
        </p:spPr>
        <p:txBody>
          <a:bodyPr wrap="square">
            <a:spAutoFit/>
          </a:bodyPr>
          <a:lstStyle/>
          <a:p>
            <a:pPr algn="l"/>
            <a:r>
              <a:rPr sz="1300" b="1">
                <a:solidFill>
                  <a:srgbClr val="1A1A1A"/>
                </a:solidFill>
                <a:latin typeface="Calibri"/>
              </a:rPr>
              <a:t>Pad cover against expected N75 events</a:t>
            </a:r>
          </a:p>
        </p:txBody>
      </p:sp>
      <p:sp>
        <p:nvSpPr>
          <p:cNvPr id="22" name="TextBox 21"/>
          <p:cNvSpPr txBox="1"/>
          <p:nvPr/>
        </p:nvSpPr>
        <p:spPr>
          <a:xfrm>
            <a:off x="292608" y="3310128"/>
            <a:ext cx="3383280" cy="347472"/>
          </a:xfrm>
          <a:prstGeom prst="rect">
            <a:avLst/>
          </a:prstGeom>
          <a:noFill/>
        </p:spPr>
        <p:txBody>
          <a:bodyPr wrap="square" anchor="ctr">
            <a:spAutoFit/>
          </a:bodyPr>
          <a:lstStyle/>
          <a:p>
            <a:pPr algn="l"/>
            <a:r>
              <a:rPr sz="1300" b="0">
                <a:solidFill>
                  <a:srgbClr val="1A1A1A"/>
                </a:solidFill>
                <a:latin typeface="Calibri"/>
              </a:rPr>
              <a:t>Cover</a:t>
            </a:r>
          </a:p>
        </p:txBody>
      </p:sp>
      <p:sp>
        <p:nvSpPr>
          <p:cNvPr id="23" name="Rectangle 22"/>
          <p:cNvSpPr/>
          <p:nvPr/>
        </p:nvSpPr>
        <p:spPr>
          <a:xfrm>
            <a:off x="3749040" y="3401568"/>
            <a:ext cx="3399647" cy="164592"/>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488168" y="3310128"/>
            <a:ext cx="1417320" cy="347472"/>
          </a:xfrm>
          <a:prstGeom prst="rect">
            <a:avLst/>
          </a:prstGeom>
          <a:noFill/>
        </p:spPr>
        <p:txBody>
          <a:bodyPr wrap="square" anchor="ctr">
            <a:spAutoFit/>
          </a:bodyPr>
          <a:lstStyle/>
          <a:p>
            <a:pPr algn="r"/>
            <a:r>
              <a:rPr sz="1300" b="1">
                <a:solidFill>
                  <a:srgbClr val="1A1A1A"/>
                </a:solidFill>
                <a:latin typeface="Calibri"/>
              </a:rPr>
              <a:t>about 51%</a:t>
            </a:r>
          </a:p>
        </p:txBody>
      </p:sp>
      <p:sp>
        <p:nvSpPr>
          <p:cNvPr id="25" name="TextBox 24"/>
          <p:cNvSpPr txBox="1"/>
          <p:nvPr/>
        </p:nvSpPr>
        <p:spPr>
          <a:xfrm>
            <a:off x="292608" y="3730752"/>
            <a:ext cx="11612880" cy="237744"/>
          </a:xfrm>
          <a:prstGeom prst="rect">
            <a:avLst/>
          </a:prstGeom>
          <a:noFill/>
        </p:spPr>
        <p:txBody>
          <a:bodyPr wrap="square">
            <a:spAutoFit/>
          </a:bodyPr>
          <a:lstStyle/>
          <a:p>
            <a:pPr algn="l"/>
            <a:r>
              <a:rPr sz="1400" b="1">
                <a:solidFill>
                  <a:srgbClr val="1A1A1A"/>
                </a:solidFill>
                <a:latin typeface="Calibri"/>
              </a:rPr>
              <a:t>Discs that are selling. Not on the ITUK PMS list.</a:t>
            </a:r>
          </a:p>
        </p:txBody>
      </p:sp>
      <p:sp>
        <p:nvSpPr>
          <p:cNvPr id="26" name="Rectangle 25"/>
          <p:cNvSpPr/>
          <p:nvPr/>
        </p:nvSpPr>
        <p:spPr>
          <a:xfrm>
            <a:off x="292608" y="3986784"/>
            <a:ext cx="11612880" cy="310896"/>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65760" y="3986784"/>
            <a:ext cx="1682496" cy="310896"/>
          </a:xfrm>
          <a:prstGeom prst="rect">
            <a:avLst/>
          </a:prstGeom>
          <a:noFill/>
        </p:spPr>
        <p:txBody>
          <a:bodyPr wrap="square" anchor="ctr">
            <a:spAutoFit/>
          </a:bodyPr>
          <a:lstStyle/>
          <a:p>
            <a:pPr algn="l"/>
            <a:r>
              <a:rPr sz="1100" b="1">
                <a:solidFill>
                  <a:srgbClr val="FFFFFF"/>
                </a:solidFill>
                <a:latin typeface="Calibri"/>
              </a:rPr>
              <a:t>Axle</a:t>
            </a:r>
          </a:p>
        </p:txBody>
      </p:sp>
      <p:sp>
        <p:nvSpPr>
          <p:cNvPr id="28" name="TextBox 27"/>
          <p:cNvSpPr txBox="1"/>
          <p:nvPr/>
        </p:nvSpPr>
        <p:spPr>
          <a:xfrm>
            <a:off x="2194560" y="3986784"/>
            <a:ext cx="2322576" cy="310896"/>
          </a:xfrm>
          <a:prstGeom prst="rect">
            <a:avLst/>
          </a:prstGeom>
          <a:noFill/>
        </p:spPr>
        <p:txBody>
          <a:bodyPr wrap="square" anchor="ctr">
            <a:spAutoFit/>
          </a:bodyPr>
          <a:lstStyle/>
          <a:p>
            <a:pPr algn="r"/>
            <a:r>
              <a:rPr sz="1100" b="1">
                <a:solidFill>
                  <a:srgbClr val="FFFFFF"/>
                </a:solidFill>
                <a:latin typeface="Calibri"/>
              </a:rPr>
              <a:t>PN</a:t>
            </a:r>
          </a:p>
        </p:txBody>
      </p:sp>
      <p:sp>
        <p:nvSpPr>
          <p:cNvPr id="29" name="TextBox 28"/>
          <p:cNvSpPr txBox="1"/>
          <p:nvPr/>
        </p:nvSpPr>
        <p:spPr>
          <a:xfrm>
            <a:off x="4663440" y="3986784"/>
            <a:ext cx="2322576" cy="310896"/>
          </a:xfrm>
          <a:prstGeom prst="rect">
            <a:avLst/>
          </a:prstGeom>
          <a:noFill/>
        </p:spPr>
        <p:txBody>
          <a:bodyPr wrap="square" anchor="ctr">
            <a:spAutoFit/>
          </a:bodyPr>
          <a:lstStyle/>
          <a:p>
            <a:pPr algn="r"/>
            <a:r>
              <a:rPr sz="1100" b="1">
                <a:solidFill>
                  <a:srgbClr val="FFFFFF"/>
                </a:solidFill>
                <a:latin typeface="Calibri"/>
              </a:rPr>
              <a:t>ITUK to dealer</a:t>
            </a:r>
          </a:p>
        </p:txBody>
      </p:sp>
      <p:sp>
        <p:nvSpPr>
          <p:cNvPr id="30" name="TextBox 29"/>
          <p:cNvSpPr txBox="1"/>
          <p:nvPr/>
        </p:nvSpPr>
        <p:spPr>
          <a:xfrm>
            <a:off x="7132320" y="3986784"/>
            <a:ext cx="2322576" cy="310896"/>
          </a:xfrm>
          <a:prstGeom prst="rect">
            <a:avLst/>
          </a:prstGeom>
          <a:noFill/>
        </p:spPr>
        <p:txBody>
          <a:bodyPr wrap="square" anchor="ctr">
            <a:spAutoFit/>
          </a:bodyPr>
          <a:lstStyle/>
          <a:p>
            <a:pPr algn="r"/>
            <a:r>
              <a:rPr sz="1100" b="1">
                <a:solidFill>
                  <a:srgbClr val="FFFFFF"/>
                </a:solidFill>
                <a:latin typeface="Calibri"/>
              </a:rPr>
              <a:t>ISZE to ITUK</a:t>
            </a:r>
          </a:p>
        </p:txBody>
      </p:sp>
      <p:sp>
        <p:nvSpPr>
          <p:cNvPr id="31" name="TextBox 30"/>
          <p:cNvSpPr txBox="1"/>
          <p:nvPr/>
        </p:nvSpPr>
        <p:spPr>
          <a:xfrm>
            <a:off x="9601200" y="3986784"/>
            <a:ext cx="2231136" cy="310896"/>
          </a:xfrm>
          <a:prstGeom prst="rect">
            <a:avLst/>
          </a:prstGeom>
          <a:noFill/>
        </p:spPr>
        <p:txBody>
          <a:bodyPr wrap="square" anchor="ctr">
            <a:spAutoFit/>
          </a:bodyPr>
          <a:lstStyle/>
          <a:p>
            <a:pPr algn="r"/>
            <a:r>
              <a:rPr sz="1100" b="1">
                <a:solidFill>
                  <a:srgbClr val="FFFFFF"/>
                </a:solidFill>
                <a:latin typeface="Calibri"/>
              </a:rPr>
              <a:t>Cover</a:t>
            </a:r>
          </a:p>
        </p:txBody>
      </p:sp>
      <p:sp>
        <p:nvSpPr>
          <p:cNvPr id="32" name="Rectangle 31"/>
          <p:cNvSpPr/>
          <p:nvPr/>
        </p:nvSpPr>
        <p:spPr>
          <a:xfrm>
            <a:off x="292608" y="4297680"/>
            <a:ext cx="11612880" cy="9144"/>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65760" y="4297680"/>
            <a:ext cx="1682496" cy="310896"/>
          </a:xfrm>
          <a:prstGeom prst="rect">
            <a:avLst/>
          </a:prstGeom>
          <a:noFill/>
        </p:spPr>
        <p:txBody>
          <a:bodyPr wrap="square" anchor="ctr">
            <a:spAutoFit/>
          </a:bodyPr>
          <a:lstStyle/>
          <a:p>
            <a:pPr algn="l"/>
            <a:r>
              <a:rPr sz="1300" b="0">
                <a:solidFill>
                  <a:srgbClr val="1A1A1A"/>
                </a:solidFill>
                <a:latin typeface="Calibri"/>
              </a:rPr>
              <a:t>Rear</a:t>
            </a:r>
          </a:p>
        </p:txBody>
      </p:sp>
      <p:sp>
        <p:nvSpPr>
          <p:cNvPr id="34" name="TextBox 33"/>
          <p:cNvSpPr txBox="1"/>
          <p:nvPr/>
        </p:nvSpPr>
        <p:spPr>
          <a:xfrm>
            <a:off x="2194560" y="4297680"/>
            <a:ext cx="2322576" cy="310896"/>
          </a:xfrm>
          <a:prstGeom prst="rect">
            <a:avLst/>
          </a:prstGeom>
          <a:noFill/>
        </p:spPr>
        <p:txBody>
          <a:bodyPr wrap="square" anchor="ctr">
            <a:spAutoFit/>
          </a:bodyPr>
          <a:lstStyle/>
          <a:p>
            <a:pPr algn="r"/>
            <a:r>
              <a:rPr sz="1300" b="0">
                <a:solidFill>
                  <a:srgbClr val="1A1A1A"/>
                </a:solidFill>
                <a:latin typeface="Calibri"/>
              </a:rPr>
              <a:t>8981919560</a:t>
            </a:r>
          </a:p>
        </p:txBody>
      </p:sp>
      <p:sp>
        <p:nvSpPr>
          <p:cNvPr id="35" name="TextBox 34"/>
          <p:cNvSpPr txBox="1"/>
          <p:nvPr/>
        </p:nvSpPr>
        <p:spPr>
          <a:xfrm>
            <a:off x="4663440" y="4297680"/>
            <a:ext cx="2322576" cy="310896"/>
          </a:xfrm>
          <a:prstGeom prst="rect">
            <a:avLst/>
          </a:prstGeom>
          <a:noFill/>
        </p:spPr>
        <p:txBody>
          <a:bodyPr wrap="square" anchor="ctr">
            <a:spAutoFit/>
          </a:bodyPr>
          <a:lstStyle/>
          <a:p>
            <a:pPr algn="r"/>
            <a:r>
              <a:rPr sz="1300" b="0">
                <a:solidFill>
                  <a:srgbClr val="1A1A1A"/>
                </a:solidFill>
                <a:latin typeface="Calibri"/>
              </a:rPr>
              <a:t>487</a:t>
            </a:r>
          </a:p>
        </p:txBody>
      </p:sp>
      <p:sp>
        <p:nvSpPr>
          <p:cNvPr id="36" name="TextBox 35"/>
          <p:cNvSpPr txBox="1"/>
          <p:nvPr/>
        </p:nvSpPr>
        <p:spPr>
          <a:xfrm>
            <a:off x="7132320" y="4297680"/>
            <a:ext cx="2322576" cy="310896"/>
          </a:xfrm>
          <a:prstGeom prst="rect">
            <a:avLst/>
          </a:prstGeom>
          <a:noFill/>
        </p:spPr>
        <p:txBody>
          <a:bodyPr wrap="square" anchor="ctr">
            <a:spAutoFit/>
          </a:bodyPr>
          <a:lstStyle/>
          <a:p>
            <a:pPr algn="r"/>
            <a:r>
              <a:rPr sz="1300" b="0">
                <a:solidFill>
                  <a:srgbClr val="1A1A1A"/>
                </a:solidFill>
                <a:latin typeface="Calibri"/>
              </a:rPr>
              <a:t>521</a:t>
            </a:r>
          </a:p>
        </p:txBody>
      </p:sp>
      <p:sp>
        <p:nvSpPr>
          <p:cNvPr id="37" name="TextBox 36"/>
          <p:cNvSpPr txBox="1"/>
          <p:nvPr/>
        </p:nvSpPr>
        <p:spPr>
          <a:xfrm>
            <a:off x="9601200" y="4297680"/>
            <a:ext cx="2231136" cy="310896"/>
          </a:xfrm>
          <a:prstGeom prst="rect">
            <a:avLst/>
          </a:prstGeom>
          <a:noFill/>
        </p:spPr>
        <p:txBody>
          <a:bodyPr wrap="square" anchor="ctr">
            <a:spAutoFit/>
          </a:bodyPr>
          <a:lstStyle/>
          <a:p>
            <a:pPr algn="r"/>
            <a:r>
              <a:rPr sz="1300" b="0">
                <a:solidFill>
                  <a:srgbClr val="1A1A1A"/>
                </a:solidFill>
                <a:latin typeface="Calibri"/>
              </a:rPr>
              <a:t>about 10%</a:t>
            </a:r>
          </a:p>
        </p:txBody>
      </p:sp>
      <p:sp>
        <p:nvSpPr>
          <p:cNvPr id="38" name="Rectangle 37"/>
          <p:cNvSpPr/>
          <p:nvPr/>
        </p:nvSpPr>
        <p:spPr>
          <a:xfrm>
            <a:off x="292608" y="4608576"/>
            <a:ext cx="11612880" cy="9144"/>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65760" y="4608576"/>
            <a:ext cx="1682496" cy="310896"/>
          </a:xfrm>
          <a:prstGeom prst="rect">
            <a:avLst/>
          </a:prstGeom>
          <a:noFill/>
        </p:spPr>
        <p:txBody>
          <a:bodyPr wrap="square" anchor="ctr">
            <a:spAutoFit/>
          </a:bodyPr>
          <a:lstStyle/>
          <a:p>
            <a:pPr algn="l"/>
            <a:r>
              <a:rPr sz="1300" b="0">
                <a:solidFill>
                  <a:srgbClr val="1A1A1A"/>
                </a:solidFill>
                <a:latin typeface="Calibri"/>
              </a:rPr>
              <a:t>Front</a:t>
            </a:r>
          </a:p>
        </p:txBody>
      </p:sp>
      <p:sp>
        <p:nvSpPr>
          <p:cNvPr id="40" name="TextBox 39"/>
          <p:cNvSpPr txBox="1"/>
          <p:nvPr/>
        </p:nvSpPr>
        <p:spPr>
          <a:xfrm>
            <a:off x="2194560" y="4608576"/>
            <a:ext cx="2322576" cy="310896"/>
          </a:xfrm>
          <a:prstGeom prst="rect">
            <a:avLst/>
          </a:prstGeom>
          <a:noFill/>
        </p:spPr>
        <p:txBody>
          <a:bodyPr wrap="square" anchor="ctr">
            <a:spAutoFit/>
          </a:bodyPr>
          <a:lstStyle/>
          <a:p>
            <a:pPr algn="r"/>
            <a:r>
              <a:rPr sz="1300" b="0">
                <a:solidFill>
                  <a:srgbClr val="1A1A1A"/>
                </a:solidFill>
                <a:latin typeface="Calibri"/>
              </a:rPr>
              <a:t>8982488951</a:t>
            </a:r>
          </a:p>
        </p:txBody>
      </p:sp>
      <p:sp>
        <p:nvSpPr>
          <p:cNvPr id="41" name="TextBox 40"/>
          <p:cNvSpPr txBox="1"/>
          <p:nvPr/>
        </p:nvSpPr>
        <p:spPr>
          <a:xfrm>
            <a:off x="4663440" y="4608576"/>
            <a:ext cx="2322576" cy="310896"/>
          </a:xfrm>
          <a:prstGeom prst="rect">
            <a:avLst/>
          </a:prstGeom>
          <a:noFill/>
        </p:spPr>
        <p:txBody>
          <a:bodyPr wrap="square" anchor="ctr">
            <a:spAutoFit/>
          </a:bodyPr>
          <a:lstStyle/>
          <a:p>
            <a:pPr algn="r"/>
            <a:r>
              <a:rPr sz="1300" b="0">
                <a:solidFill>
                  <a:srgbClr val="1A1A1A"/>
                </a:solidFill>
                <a:latin typeface="Calibri"/>
              </a:rPr>
              <a:t>393</a:t>
            </a:r>
          </a:p>
        </p:txBody>
      </p:sp>
      <p:sp>
        <p:nvSpPr>
          <p:cNvPr id="42" name="TextBox 41"/>
          <p:cNvSpPr txBox="1"/>
          <p:nvPr/>
        </p:nvSpPr>
        <p:spPr>
          <a:xfrm>
            <a:off x="7132320" y="4608576"/>
            <a:ext cx="2322576" cy="310896"/>
          </a:xfrm>
          <a:prstGeom prst="rect">
            <a:avLst/>
          </a:prstGeom>
          <a:noFill/>
        </p:spPr>
        <p:txBody>
          <a:bodyPr wrap="square" anchor="ctr">
            <a:spAutoFit/>
          </a:bodyPr>
          <a:lstStyle/>
          <a:p>
            <a:pPr algn="r"/>
            <a:r>
              <a:rPr sz="1300" b="0">
                <a:solidFill>
                  <a:srgbClr val="1A1A1A"/>
                </a:solidFill>
                <a:latin typeface="Calibri"/>
              </a:rPr>
              <a:t>520</a:t>
            </a:r>
          </a:p>
        </p:txBody>
      </p:sp>
      <p:sp>
        <p:nvSpPr>
          <p:cNvPr id="43" name="TextBox 42"/>
          <p:cNvSpPr txBox="1"/>
          <p:nvPr/>
        </p:nvSpPr>
        <p:spPr>
          <a:xfrm>
            <a:off x="9601200" y="4608576"/>
            <a:ext cx="2231136" cy="310896"/>
          </a:xfrm>
          <a:prstGeom prst="rect">
            <a:avLst/>
          </a:prstGeom>
          <a:noFill/>
        </p:spPr>
        <p:txBody>
          <a:bodyPr wrap="square" anchor="ctr">
            <a:spAutoFit/>
          </a:bodyPr>
          <a:lstStyle/>
          <a:p>
            <a:pPr algn="r"/>
            <a:r>
              <a:rPr sz="1300" b="0">
                <a:solidFill>
                  <a:srgbClr val="1A1A1A"/>
                </a:solidFill>
                <a:latin typeface="Calibri"/>
              </a:rPr>
              <a:t>about 8%</a:t>
            </a:r>
          </a:p>
        </p:txBody>
      </p:sp>
      <p:sp>
        <p:nvSpPr>
          <p:cNvPr id="44" name="Rectangle 43"/>
          <p:cNvSpPr/>
          <p:nvPr/>
        </p:nvSpPr>
        <p:spPr>
          <a:xfrm>
            <a:off x="292608" y="4919472"/>
            <a:ext cx="11612880" cy="9144"/>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92608" y="5230368"/>
            <a:ext cx="11612880" cy="365760"/>
          </a:xfrm>
          <a:prstGeom prst="rect">
            <a:avLst/>
          </a:prstGeom>
          <a:noFill/>
        </p:spPr>
        <p:txBody>
          <a:bodyPr wrap="square">
            <a:spAutoFit/>
          </a:bodyPr>
          <a:lstStyle/>
          <a:p>
            <a:pPr algn="l"/>
            <a:r>
              <a:rPr sz="1400" b="0">
                <a:solidFill>
                  <a:srgbClr val="222222"/>
                </a:solidFill>
                <a:latin typeface="Calibri"/>
              </a:rPr>
              <a:t>Cover uses 0.25 axle-sets per year (200,000 km, two pad lives). These discs fit N75 NPR and carry over to P700.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suzu_logo_red.png"/>
          <p:cNvPicPr>
            <a:picLocks noChangeAspect="1"/>
          </p:cNvPicPr>
          <p:nvPr/>
        </p:nvPicPr>
        <p:blipFill>
          <a:blip r:embed="rId2"/>
          <a:stretch>
            <a:fillRect/>
          </a:stretch>
        </p:blipFill>
        <p:spPr>
          <a:xfrm>
            <a:off x="256032" y="6263640"/>
            <a:ext cx="1679787" cy="292608"/>
          </a:xfrm>
          <a:prstGeom prst="rect">
            <a:avLst/>
          </a:prstGeom>
        </p:spPr>
      </p:pic>
      <p:sp>
        <p:nvSpPr>
          <p:cNvPr id="3" name="Rectangle 2"/>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92608" y="201168"/>
            <a:ext cx="9509760" cy="256032"/>
          </a:xfrm>
          <a:prstGeom prst="rect">
            <a:avLst/>
          </a:prstGeom>
          <a:noFill/>
        </p:spPr>
        <p:txBody>
          <a:bodyPr wrap="square">
            <a:spAutoFit/>
          </a:bodyPr>
          <a:lstStyle/>
          <a:p>
            <a:pPr algn="l"/>
            <a:r>
              <a:rPr sz="1100" b="1">
                <a:solidFill>
                  <a:srgbClr val="1A1A1A"/>
                </a:solidFill>
                <a:latin typeface="Calibri"/>
              </a:rPr>
              <a:t>DRAFT  ·  CLUTCH</a:t>
            </a:r>
          </a:p>
        </p:txBody>
      </p:sp>
      <p:sp>
        <p:nvSpPr>
          <p:cNvPr id="5" name="TextBox 4"/>
          <p:cNvSpPr txBox="1"/>
          <p:nvPr/>
        </p:nvSpPr>
        <p:spPr>
          <a:xfrm>
            <a:off x="10149840" y="182880"/>
            <a:ext cx="1737360" cy="274320"/>
          </a:xfrm>
          <a:prstGeom prst="rect">
            <a:avLst/>
          </a:prstGeom>
          <a:noFill/>
        </p:spPr>
        <p:txBody>
          <a:bodyPr wrap="square">
            <a:spAutoFit/>
          </a:bodyPr>
          <a:lstStyle/>
          <a:p>
            <a:pPr algn="r"/>
            <a:r>
              <a:rPr sz="1200" b="1">
                <a:solidFill>
                  <a:srgbClr val="CC0E1E"/>
                </a:solidFill>
                <a:latin typeface="Calibri"/>
              </a:rPr>
              <a:t>DRAFT</a:t>
            </a:r>
          </a:p>
        </p:txBody>
      </p:sp>
      <p:sp>
        <p:nvSpPr>
          <p:cNvPr id="6" name="TextBox 5"/>
          <p:cNvSpPr txBox="1"/>
          <p:nvPr/>
        </p:nvSpPr>
        <p:spPr>
          <a:xfrm>
            <a:off x="292608" y="457200"/>
            <a:ext cx="11612880" cy="566928"/>
          </a:xfrm>
          <a:prstGeom prst="rect">
            <a:avLst/>
          </a:prstGeom>
          <a:noFill/>
        </p:spPr>
        <p:txBody>
          <a:bodyPr wrap="square">
            <a:spAutoFit/>
          </a:bodyPr>
          <a:lstStyle/>
          <a:p>
            <a:pPr algn="l"/>
            <a:r>
              <a:rPr sz="2400" b="1">
                <a:solidFill>
                  <a:srgbClr val="1A1A1A"/>
                </a:solidFill>
                <a:latin typeface="Calibri"/>
              </a:rPr>
              <a:t>Clutch kit, manual vehicles only</a:t>
            </a:r>
          </a:p>
        </p:txBody>
      </p:sp>
      <p:sp>
        <p:nvSpPr>
          <p:cNvPr id="7" name="Rectangle 6"/>
          <p:cNvSpPr/>
          <p:nvPr/>
        </p:nvSpPr>
        <p:spPr>
          <a:xfrm>
            <a:off x="292608" y="1005840"/>
            <a:ext cx="11612880" cy="13716"/>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9</a:t>
            </a:r>
          </a:p>
        </p:txBody>
      </p:sp>
      <p:sp>
        <p:nvSpPr>
          <p:cNvPr id="9" name="TextBox 8"/>
          <p:cNvSpPr txBox="1"/>
          <p:nvPr/>
        </p:nvSpPr>
        <p:spPr>
          <a:xfrm>
            <a:off x="292608" y="1078992"/>
            <a:ext cx="11612880" cy="329184"/>
          </a:xfrm>
          <a:prstGeom prst="rect">
            <a:avLst/>
          </a:prstGeom>
          <a:noFill/>
        </p:spPr>
        <p:txBody>
          <a:bodyPr wrap="square">
            <a:spAutoFit/>
          </a:bodyPr>
          <a:lstStyle/>
          <a:p>
            <a:pPr algn="l"/>
            <a:r>
              <a:rPr sz="1500" b="0">
                <a:solidFill>
                  <a:srgbClr val="222222"/>
                </a:solidFill>
                <a:latin typeface="Calibri"/>
              </a:rPr>
              <a:t>Until a transmission file exists, the planning assumption is that 47 percent of the N75 parc is manual.</a:t>
            </a:r>
          </a:p>
        </p:txBody>
      </p:sp>
      <p:sp>
        <p:nvSpPr>
          <p:cNvPr id="10" name="Rectangle 9"/>
          <p:cNvSpPr/>
          <p:nvPr/>
        </p:nvSpPr>
        <p:spPr>
          <a:xfrm>
            <a:off x="292608" y="1499616"/>
            <a:ext cx="6903720" cy="1874519"/>
          </a:xfrm>
          <a:prstGeom prst="rect">
            <a:avLst/>
          </a:prstGeom>
          <a:noFill/>
          <a:ln w="12700">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5488" y="1609344"/>
            <a:ext cx="6537960" cy="274320"/>
          </a:xfrm>
          <a:prstGeom prst="rect">
            <a:avLst/>
          </a:prstGeom>
          <a:noFill/>
        </p:spPr>
        <p:txBody>
          <a:bodyPr wrap="square">
            <a:spAutoFit/>
          </a:bodyPr>
          <a:lstStyle/>
          <a:p>
            <a:pPr algn="l"/>
            <a:r>
              <a:rPr sz="1500" b="1">
                <a:solidFill>
                  <a:srgbClr val="1A1A1A"/>
                </a:solidFill>
                <a:latin typeface="Calibri"/>
              </a:rPr>
              <a:t>BVP kit  5876102320</a:t>
            </a:r>
          </a:p>
        </p:txBody>
      </p:sp>
      <p:sp>
        <p:nvSpPr>
          <p:cNvPr id="12" name="TextBox 11"/>
          <p:cNvSpPr txBox="1"/>
          <p:nvPr/>
        </p:nvSpPr>
        <p:spPr>
          <a:xfrm>
            <a:off x="475488" y="1920240"/>
            <a:ext cx="6537960" cy="640080"/>
          </a:xfrm>
          <a:prstGeom prst="rect">
            <a:avLst/>
          </a:prstGeom>
          <a:noFill/>
        </p:spPr>
        <p:txBody>
          <a:bodyPr wrap="square">
            <a:spAutoFit/>
          </a:bodyPr>
          <a:lstStyle/>
          <a:p>
            <a:pPr algn="l"/>
            <a:r>
              <a:rPr sz="1600" b="1">
                <a:solidFill>
                  <a:srgbClr val="1A1A1A"/>
                </a:solidFill>
                <a:latin typeface="Calibri"/>
              </a:rPr>
              <a:t>ISZE to ITUK EUR 194.69. Projected ITUK to dealers about EUR 273.</a:t>
            </a:r>
          </a:p>
        </p:txBody>
      </p:sp>
      <p:sp>
        <p:nvSpPr>
          <p:cNvPr id="13" name="TextBox 12"/>
          <p:cNvSpPr txBox="1"/>
          <p:nvPr/>
        </p:nvSpPr>
        <p:spPr>
          <a:xfrm>
            <a:off x="475488" y="2450592"/>
            <a:ext cx="6537960" cy="329184"/>
          </a:xfrm>
          <a:prstGeom prst="rect">
            <a:avLst/>
          </a:prstGeom>
          <a:noFill/>
        </p:spPr>
        <p:txBody>
          <a:bodyPr wrap="square">
            <a:spAutoFit/>
          </a:bodyPr>
          <a:lstStyle/>
          <a:p>
            <a:pPr algn="l"/>
            <a:r>
              <a:rPr sz="1500" b="0">
                <a:solidFill>
                  <a:srgbClr val="1A1A1A"/>
                </a:solidFill>
                <a:latin typeface="Calibri"/>
              </a:rPr>
              <a:t>63 ITUK to dealer.  78 ISZE to ITUK.</a:t>
            </a:r>
          </a:p>
        </p:txBody>
      </p:sp>
      <p:sp>
        <p:nvSpPr>
          <p:cNvPr id="14" name="Rectangle 13"/>
          <p:cNvSpPr/>
          <p:nvPr/>
        </p:nvSpPr>
        <p:spPr>
          <a:xfrm>
            <a:off x="7379208" y="1499616"/>
            <a:ext cx="4526280" cy="1874519"/>
          </a:xfrm>
          <a:prstGeom prst="rect">
            <a:avLst/>
          </a:prstGeom>
          <a:noFill/>
          <a:ln w="9525">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543800" y="1609344"/>
            <a:ext cx="4206240" cy="274320"/>
          </a:xfrm>
          <a:prstGeom prst="rect">
            <a:avLst/>
          </a:prstGeom>
          <a:noFill/>
        </p:spPr>
        <p:txBody>
          <a:bodyPr wrap="square">
            <a:spAutoFit/>
          </a:bodyPr>
          <a:lstStyle/>
          <a:p>
            <a:pPr algn="l"/>
            <a:r>
              <a:rPr sz="1400" b="1">
                <a:solidFill>
                  <a:srgbClr val="1A1A1A"/>
                </a:solidFill>
                <a:latin typeface="Calibri"/>
              </a:rPr>
              <a:t>Genuine piece sum</a:t>
            </a:r>
          </a:p>
        </p:txBody>
      </p:sp>
      <p:sp>
        <p:nvSpPr>
          <p:cNvPr id="16" name="TextBox 15"/>
          <p:cNvSpPr txBox="1"/>
          <p:nvPr/>
        </p:nvSpPr>
        <p:spPr>
          <a:xfrm>
            <a:off x="7543800" y="1920240"/>
            <a:ext cx="4206240" cy="502920"/>
          </a:xfrm>
          <a:prstGeom prst="rect">
            <a:avLst/>
          </a:prstGeom>
          <a:noFill/>
        </p:spPr>
        <p:txBody>
          <a:bodyPr wrap="square">
            <a:spAutoFit/>
          </a:bodyPr>
          <a:lstStyle/>
          <a:p>
            <a:pPr algn="l"/>
            <a:r>
              <a:rPr sz="1400" b="1">
                <a:solidFill>
                  <a:srgbClr val="1A1A1A"/>
                </a:solidFill>
                <a:latin typeface="Calibri"/>
              </a:rPr>
              <a:t>ISZE to ITUK EUR 282.08. About EUR 395 projected to dealers.</a:t>
            </a:r>
          </a:p>
        </p:txBody>
      </p:sp>
      <p:sp>
        <p:nvSpPr>
          <p:cNvPr id="17" name="TextBox 16"/>
          <p:cNvSpPr txBox="1"/>
          <p:nvPr/>
        </p:nvSpPr>
        <p:spPr>
          <a:xfrm>
            <a:off x="7543800" y="2359152"/>
            <a:ext cx="4206240" cy="640080"/>
          </a:xfrm>
          <a:prstGeom prst="rect">
            <a:avLst/>
          </a:prstGeom>
          <a:noFill/>
        </p:spPr>
        <p:txBody>
          <a:bodyPr wrap="square">
            <a:spAutoFit/>
          </a:bodyPr>
          <a:lstStyle/>
          <a:p>
            <a:pPr algn="l"/>
            <a:r>
              <a:rPr sz="1300" b="0">
                <a:solidFill>
                  <a:srgbClr val="1A1A1A"/>
                </a:solidFill>
                <a:latin typeface="Calibri"/>
              </a:rPr>
              <a:t>8981649171 + 8970388314 + 1313100120. Do not mix 8981649181.</a:t>
            </a:r>
          </a:p>
        </p:txBody>
      </p:sp>
      <p:sp>
        <p:nvSpPr>
          <p:cNvPr id="18" name="Rectangle 17"/>
          <p:cNvSpPr/>
          <p:nvPr/>
        </p:nvSpPr>
        <p:spPr>
          <a:xfrm>
            <a:off x="292608" y="3456432"/>
            <a:ext cx="11612880" cy="310896"/>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5760" y="3456432"/>
            <a:ext cx="2962656" cy="310896"/>
          </a:xfrm>
          <a:prstGeom prst="rect">
            <a:avLst/>
          </a:prstGeom>
          <a:noFill/>
        </p:spPr>
        <p:txBody>
          <a:bodyPr wrap="square" anchor="ctr">
            <a:spAutoFit/>
          </a:bodyPr>
          <a:lstStyle/>
          <a:p>
            <a:pPr algn="l"/>
            <a:r>
              <a:rPr sz="1100" b="1">
                <a:solidFill>
                  <a:srgbClr val="FFFFFF"/>
                </a:solidFill>
                <a:latin typeface="Calibri"/>
              </a:rPr>
              <a:t>Piece</a:t>
            </a:r>
          </a:p>
        </p:txBody>
      </p:sp>
      <p:sp>
        <p:nvSpPr>
          <p:cNvPr id="20" name="TextBox 19"/>
          <p:cNvSpPr txBox="1"/>
          <p:nvPr/>
        </p:nvSpPr>
        <p:spPr>
          <a:xfrm>
            <a:off x="3474720" y="3456432"/>
            <a:ext cx="2688336" cy="310896"/>
          </a:xfrm>
          <a:prstGeom prst="rect">
            <a:avLst/>
          </a:prstGeom>
          <a:noFill/>
        </p:spPr>
        <p:txBody>
          <a:bodyPr wrap="square" anchor="ctr">
            <a:spAutoFit/>
          </a:bodyPr>
          <a:lstStyle/>
          <a:p>
            <a:pPr algn="r"/>
            <a:r>
              <a:rPr sz="1100" b="1">
                <a:solidFill>
                  <a:srgbClr val="FFFFFF"/>
                </a:solidFill>
                <a:latin typeface="Calibri"/>
              </a:rPr>
              <a:t>PN</a:t>
            </a:r>
          </a:p>
        </p:txBody>
      </p:sp>
      <p:sp>
        <p:nvSpPr>
          <p:cNvPr id="21" name="TextBox 20"/>
          <p:cNvSpPr txBox="1"/>
          <p:nvPr/>
        </p:nvSpPr>
        <p:spPr>
          <a:xfrm>
            <a:off x="6309360" y="3456432"/>
            <a:ext cx="2688336" cy="310896"/>
          </a:xfrm>
          <a:prstGeom prst="rect">
            <a:avLst/>
          </a:prstGeom>
          <a:noFill/>
        </p:spPr>
        <p:txBody>
          <a:bodyPr wrap="square" anchor="ctr">
            <a:spAutoFit/>
          </a:bodyPr>
          <a:lstStyle/>
          <a:p>
            <a:pPr algn="r"/>
            <a:r>
              <a:rPr sz="1100" b="1">
                <a:solidFill>
                  <a:srgbClr val="FFFFFF"/>
                </a:solidFill>
                <a:latin typeface="Calibri"/>
              </a:rPr>
              <a:t>ITUK to dealer</a:t>
            </a:r>
          </a:p>
        </p:txBody>
      </p:sp>
      <p:sp>
        <p:nvSpPr>
          <p:cNvPr id="22" name="TextBox 21"/>
          <p:cNvSpPr txBox="1"/>
          <p:nvPr/>
        </p:nvSpPr>
        <p:spPr>
          <a:xfrm>
            <a:off x="9144000" y="3456432"/>
            <a:ext cx="2688336" cy="310896"/>
          </a:xfrm>
          <a:prstGeom prst="rect">
            <a:avLst/>
          </a:prstGeom>
          <a:noFill/>
        </p:spPr>
        <p:txBody>
          <a:bodyPr wrap="square" anchor="ctr">
            <a:spAutoFit/>
          </a:bodyPr>
          <a:lstStyle/>
          <a:p>
            <a:pPr algn="r"/>
            <a:r>
              <a:rPr sz="1100" b="1">
                <a:solidFill>
                  <a:srgbClr val="FFFFFF"/>
                </a:solidFill>
                <a:latin typeface="Calibri"/>
              </a:rPr>
              <a:t>ISZE to ITUK</a:t>
            </a:r>
          </a:p>
        </p:txBody>
      </p:sp>
      <p:sp>
        <p:nvSpPr>
          <p:cNvPr id="23" name="Rectangle 22"/>
          <p:cNvSpPr/>
          <p:nvPr/>
        </p:nvSpPr>
        <p:spPr>
          <a:xfrm>
            <a:off x="292608" y="3767328"/>
            <a:ext cx="11612880" cy="9144"/>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65760" y="3767328"/>
            <a:ext cx="2962656" cy="310896"/>
          </a:xfrm>
          <a:prstGeom prst="rect">
            <a:avLst/>
          </a:prstGeom>
          <a:noFill/>
        </p:spPr>
        <p:txBody>
          <a:bodyPr wrap="square" anchor="ctr">
            <a:spAutoFit/>
          </a:bodyPr>
          <a:lstStyle/>
          <a:p>
            <a:pPr algn="l"/>
            <a:r>
              <a:rPr sz="1300" b="0">
                <a:solidFill>
                  <a:srgbClr val="1A1A1A"/>
                </a:solidFill>
                <a:latin typeface="Calibri"/>
              </a:rPr>
              <a:t>Disc</a:t>
            </a:r>
          </a:p>
        </p:txBody>
      </p:sp>
      <p:sp>
        <p:nvSpPr>
          <p:cNvPr id="25" name="TextBox 24"/>
          <p:cNvSpPr txBox="1"/>
          <p:nvPr/>
        </p:nvSpPr>
        <p:spPr>
          <a:xfrm>
            <a:off x="3474720" y="3767328"/>
            <a:ext cx="2688336" cy="310896"/>
          </a:xfrm>
          <a:prstGeom prst="rect">
            <a:avLst/>
          </a:prstGeom>
          <a:noFill/>
        </p:spPr>
        <p:txBody>
          <a:bodyPr wrap="square" anchor="ctr">
            <a:spAutoFit/>
          </a:bodyPr>
          <a:lstStyle/>
          <a:p>
            <a:pPr algn="r"/>
            <a:r>
              <a:rPr sz="1300" b="0">
                <a:solidFill>
                  <a:srgbClr val="1A1A1A"/>
                </a:solidFill>
                <a:latin typeface="Calibri"/>
              </a:rPr>
              <a:t>8981649171</a:t>
            </a:r>
          </a:p>
        </p:txBody>
      </p:sp>
      <p:sp>
        <p:nvSpPr>
          <p:cNvPr id="26" name="TextBox 25"/>
          <p:cNvSpPr txBox="1"/>
          <p:nvPr/>
        </p:nvSpPr>
        <p:spPr>
          <a:xfrm>
            <a:off x="6309360" y="3767328"/>
            <a:ext cx="2688336" cy="310896"/>
          </a:xfrm>
          <a:prstGeom prst="rect">
            <a:avLst/>
          </a:prstGeom>
          <a:noFill/>
        </p:spPr>
        <p:txBody>
          <a:bodyPr wrap="square" anchor="ctr">
            <a:spAutoFit/>
          </a:bodyPr>
          <a:lstStyle/>
          <a:p>
            <a:pPr algn="r"/>
            <a:r>
              <a:rPr sz="1300" b="0">
                <a:solidFill>
                  <a:srgbClr val="1A1A1A"/>
                </a:solidFill>
                <a:latin typeface="Calibri"/>
              </a:rPr>
              <a:t>50</a:t>
            </a:r>
          </a:p>
        </p:txBody>
      </p:sp>
      <p:sp>
        <p:nvSpPr>
          <p:cNvPr id="27" name="TextBox 26"/>
          <p:cNvSpPr txBox="1"/>
          <p:nvPr/>
        </p:nvSpPr>
        <p:spPr>
          <a:xfrm>
            <a:off x="9144000" y="3767328"/>
            <a:ext cx="2688336" cy="310896"/>
          </a:xfrm>
          <a:prstGeom prst="rect">
            <a:avLst/>
          </a:prstGeom>
          <a:noFill/>
        </p:spPr>
        <p:txBody>
          <a:bodyPr wrap="square" anchor="ctr">
            <a:spAutoFit/>
          </a:bodyPr>
          <a:lstStyle/>
          <a:p>
            <a:pPr algn="r"/>
            <a:r>
              <a:rPr sz="1300" b="0">
                <a:solidFill>
                  <a:srgbClr val="1A1A1A"/>
                </a:solidFill>
                <a:latin typeface="Calibri"/>
              </a:rPr>
              <a:t>47</a:t>
            </a:r>
          </a:p>
        </p:txBody>
      </p:sp>
      <p:sp>
        <p:nvSpPr>
          <p:cNvPr id="28" name="Rectangle 27"/>
          <p:cNvSpPr/>
          <p:nvPr/>
        </p:nvSpPr>
        <p:spPr>
          <a:xfrm>
            <a:off x="292608" y="4078224"/>
            <a:ext cx="11612880" cy="9144"/>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65760" y="4078224"/>
            <a:ext cx="2962656" cy="310896"/>
          </a:xfrm>
          <a:prstGeom prst="rect">
            <a:avLst/>
          </a:prstGeom>
          <a:noFill/>
        </p:spPr>
        <p:txBody>
          <a:bodyPr wrap="square" anchor="ctr">
            <a:spAutoFit/>
          </a:bodyPr>
          <a:lstStyle/>
          <a:p>
            <a:pPr algn="l"/>
            <a:r>
              <a:rPr sz="1300" b="0">
                <a:solidFill>
                  <a:srgbClr val="1A1A1A"/>
                </a:solidFill>
                <a:latin typeface="Calibri"/>
              </a:rPr>
              <a:t>Pressure plate</a:t>
            </a:r>
          </a:p>
        </p:txBody>
      </p:sp>
      <p:sp>
        <p:nvSpPr>
          <p:cNvPr id="30" name="TextBox 29"/>
          <p:cNvSpPr txBox="1"/>
          <p:nvPr/>
        </p:nvSpPr>
        <p:spPr>
          <a:xfrm>
            <a:off x="3474720" y="4078224"/>
            <a:ext cx="2688336" cy="310896"/>
          </a:xfrm>
          <a:prstGeom prst="rect">
            <a:avLst/>
          </a:prstGeom>
          <a:noFill/>
        </p:spPr>
        <p:txBody>
          <a:bodyPr wrap="square" anchor="ctr">
            <a:spAutoFit/>
          </a:bodyPr>
          <a:lstStyle/>
          <a:p>
            <a:pPr algn="r"/>
            <a:r>
              <a:rPr sz="1300" b="0">
                <a:solidFill>
                  <a:srgbClr val="1A1A1A"/>
                </a:solidFill>
                <a:latin typeface="Calibri"/>
              </a:rPr>
              <a:t>8970388314</a:t>
            </a:r>
          </a:p>
        </p:txBody>
      </p:sp>
      <p:sp>
        <p:nvSpPr>
          <p:cNvPr id="31" name="TextBox 30"/>
          <p:cNvSpPr txBox="1"/>
          <p:nvPr/>
        </p:nvSpPr>
        <p:spPr>
          <a:xfrm>
            <a:off x="6309360" y="4078224"/>
            <a:ext cx="2688336" cy="310896"/>
          </a:xfrm>
          <a:prstGeom prst="rect">
            <a:avLst/>
          </a:prstGeom>
          <a:noFill/>
        </p:spPr>
        <p:txBody>
          <a:bodyPr wrap="square" anchor="ctr">
            <a:spAutoFit/>
          </a:bodyPr>
          <a:lstStyle/>
          <a:p>
            <a:pPr algn="r"/>
            <a:r>
              <a:rPr sz="1300" b="0">
                <a:solidFill>
                  <a:srgbClr val="1A1A1A"/>
                </a:solidFill>
                <a:latin typeface="Calibri"/>
              </a:rPr>
              <a:t>9</a:t>
            </a:r>
          </a:p>
        </p:txBody>
      </p:sp>
      <p:sp>
        <p:nvSpPr>
          <p:cNvPr id="32" name="TextBox 31"/>
          <p:cNvSpPr txBox="1"/>
          <p:nvPr/>
        </p:nvSpPr>
        <p:spPr>
          <a:xfrm>
            <a:off x="9144000" y="4078224"/>
            <a:ext cx="2688336" cy="310896"/>
          </a:xfrm>
          <a:prstGeom prst="rect">
            <a:avLst/>
          </a:prstGeom>
          <a:noFill/>
        </p:spPr>
        <p:txBody>
          <a:bodyPr wrap="square" anchor="ctr">
            <a:spAutoFit/>
          </a:bodyPr>
          <a:lstStyle/>
          <a:p>
            <a:pPr algn="r"/>
            <a:r>
              <a:rPr sz="1300" b="0">
                <a:solidFill>
                  <a:srgbClr val="1A1A1A"/>
                </a:solidFill>
                <a:latin typeface="Calibri"/>
              </a:rPr>
              <a:t>54</a:t>
            </a:r>
          </a:p>
        </p:txBody>
      </p:sp>
      <p:sp>
        <p:nvSpPr>
          <p:cNvPr id="33" name="Rectangle 32"/>
          <p:cNvSpPr/>
          <p:nvPr/>
        </p:nvSpPr>
        <p:spPr>
          <a:xfrm>
            <a:off x="292608" y="4389120"/>
            <a:ext cx="11612880" cy="9144"/>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5760" y="4389120"/>
            <a:ext cx="2962656" cy="310896"/>
          </a:xfrm>
          <a:prstGeom prst="rect">
            <a:avLst/>
          </a:prstGeom>
          <a:noFill/>
        </p:spPr>
        <p:txBody>
          <a:bodyPr wrap="square" anchor="ctr">
            <a:spAutoFit/>
          </a:bodyPr>
          <a:lstStyle/>
          <a:p>
            <a:pPr algn="l"/>
            <a:r>
              <a:rPr sz="1300" b="0">
                <a:solidFill>
                  <a:srgbClr val="1A1A1A"/>
                </a:solidFill>
                <a:latin typeface="Calibri"/>
              </a:rPr>
              <a:t>Release bearing</a:t>
            </a:r>
          </a:p>
        </p:txBody>
      </p:sp>
      <p:sp>
        <p:nvSpPr>
          <p:cNvPr id="35" name="TextBox 34"/>
          <p:cNvSpPr txBox="1"/>
          <p:nvPr/>
        </p:nvSpPr>
        <p:spPr>
          <a:xfrm>
            <a:off x="3474720" y="4389120"/>
            <a:ext cx="2688336" cy="310896"/>
          </a:xfrm>
          <a:prstGeom prst="rect">
            <a:avLst/>
          </a:prstGeom>
          <a:noFill/>
        </p:spPr>
        <p:txBody>
          <a:bodyPr wrap="square" anchor="ctr">
            <a:spAutoFit/>
          </a:bodyPr>
          <a:lstStyle/>
          <a:p>
            <a:pPr algn="r"/>
            <a:r>
              <a:rPr sz="1300" b="0">
                <a:solidFill>
                  <a:srgbClr val="1A1A1A"/>
                </a:solidFill>
                <a:latin typeface="Calibri"/>
              </a:rPr>
              <a:t>1313100120</a:t>
            </a:r>
          </a:p>
        </p:txBody>
      </p:sp>
      <p:sp>
        <p:nvSpPr>
          <p:cNvPr id="36" name="TextBox 35"/>
          <p:cNvSpPr txBox="1"/>
          <p:nvPr/>
        </p:nvSpPr>
        <p:spPr>
          <a:xfrm>
            <a:off x="6309360" y="4389120"/>
            <a:ext cx="2688336" cy="310896"/>
          </a:xfrm>
          <a:prstGeom prst="rect">
            <a:avLst/>
          </a:prstGeom>
          <a:noFill/>
        </p:spPr>
        <p:txBody>
          <a:bodyPr wrap="square" anchor="ctr">
            <a:spAutoFit/>
          </a:bodyPr>
          <a:lstStyle/>
          <a:p>
            <a:pPr algn="r"/>
            <a:r>
              <a:rPr sz="1300" b="0">
                <a:solidFill>
                  <a:srgbClr val="1A1A1A"/>
                </a:solidFill>
                <a:latin typeface="Calibri"/>
              </a:rPr>
              <a:t>38</a:t>
            </a:r>
          </a:p>
        </p:txBody>
      </p:sp>
      <p:sp>
        <p:nvSpPr>
          <p:cNvPr id="37" name="TextBox 36"/>
          <p:cNvSpPr txBox="1"/>
          <p:nvPr/>
        </p:nvSpPr>
        <p:spPr>
          <a:xfrm>
            <a:off x="9144000" y="4389120"/>
            <a:ext cx="2688336" cy="310896"/>
          </a:xfrm>
          <a:prstGeom prst="rect">
            <a:avLst/>
          </a:prstGeom>
          <a:noFill/>
        </p:spPr>
        <p:txBody>
          <a:bodyPr wrap="square" anchor="ctr">
            <a:spAutoFit/>
          </a:bodyPr>
          <a:lstStyle/>
          <a:p>
            <a:pPr algn="r"/>
            <a:r>
              <a:rPr sz="1300" b="0">
                <a:solidFill>
                  <a:srgbClr val="1A1A1A"/>
                </a:solidFill>
                <a:latin typeface="Calibri"/>
              </a:rPr>
              <a:t>21</a:t>
            </a:r>
          </a:p>
        </p:txBody>
      </p:sp>
      <p:sp>
        <p:nvSpPr>
          <p:cNvPr id="38" name="Rectangle 37"/>
          <p:cNvSpPr/>
          <p:nvPr/>
        </p:nvSpPr>
        <p:spPr>
          <a:xfrm>
            <a:off x="292608" y="4700016"/>
            <a:ext cx="11612880" cy="9144"/>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92608" y="4754880"/>
            <a:ext cx="3840480" cy="329184"/>
          </a:xfrm>
          <a:prstGeom prst="rect">
            <a:avLst/>
          </a:prstGeom>
          <a:noFill/>
        </p:spPr>
        <p:txBody>
          <a:bodyPr wrap="square" anchor="ctr">
            <a:spAutoFit/>
          </a:bodyPr>
          <a:lstStyle/>
          <a:p>
            <a:pPr algn="l"/>
            <a:r>
              <a:rPr sz="1300" b="0">
                <a:solidFill>
                  <a:srgbClr val="1A1A1A"/>
                </a:solidFill>
                <a:latin typeface="Calibri"/>
              </a:rPr>
              <a:t>BVP kit, ISZE to ITUK</a:t>
            </a:r>
          </a:p>
        </p:txBody>
      </p:sp>
      <p:sp>
        <p:nvSpPr>
          <p:cNvPr id="40" name="Rectangle 39"/>
          <p:cNvSpPr/>
          <p:nvPr/>
        </p:nvSpPr>
        <p:spPr>
          <a:xfrm>
            <a:off x="4206240" y="4846320"/>
            <a:ext cx="3060219" cy="146304"/>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488168" y="4754880"/>
            <a:ext cx="1417320" cy="329184"/>
          </a:xfrm>
          <a:prstGeom prst="rect">
            <a:avLst/>
          </a:prstGeom>
          <a:noFill/>
        </p:spPr>
        <p:txBody>
          <a:bodyPr wrap="square" anchor="ctr">
            <a:spAutoFit/>
          </a:bodyPr>
          <a:lstStyle/>
          <a:p>
            <a:pPr algn="r"/>
            <a:r>
              <a:rPr sz="1300" b="1">
                <a:solidFill>
                  <a:srgbClr val="1A1A1A"/>
                </a:solidFill>
                <a:latin typeface="Calibri"/>
              </a:rPr>
              <a:t>EUR 194.69</a:t>
            </a:r>
          </a:p>
        </p:txBody>
      </p:sp>
      <p:sp>
        <p:nvSpPr>
          <p:cNvPr id="42" name="TextBox 41"/>
          <p:cNvSpPr txBox="1"/>
          <p:nvPr/>
        </p:nvSpPr>
        <p:spPr>
          <a:xfrm>
            <a:off x="292608" y="5084064"/>
            <a:ext cx="3840480" cy="329184"/>
          </a:xfrm>
          <a:prstGeom prst="rect">
            <a:avLst/>
          </a:prstGeom>
          <a:noFill/>
        </p:spPr>
        <p:txBody>
          <a:bodyPr wrap="square" anchor="ctr">
            <a:spAutoFit/>
          </a:bodyPr>
          <a:lstStyle/>
          <a:p>
            <a:pPr algn="l"/>
            <a:r>
              <a:rPr sz="1300" b="0">
                <a:solidFill>
                  <a:srgbClr val="1A1A1A"/>
                </a:solidFill>
                <a:latin typeface="Calibri"/>
              </a:rPr>
              <a:t>BVP kit, projected to dealers</a:t>
            </a:r>
          </a:p>
        </p:txBody>
      </p:sp>
      <p:sp>
        <p:nvSpPr>
          <p:cNvPr id="43" name="Rectangle 42"/>
          <p:cNvSpPr/>
          <p:nvPr/>
        </p:nvSpPr>
        <p:spPr>
          <a:xfrm>
            <a:off x="4206240" y="5175504"/>
            <a:ext cx="4291128" cy="146304"/>
          </a:xfrm>
          <a:prstGeom prst="rect">
            <a:avLst/>
          </a:prstGeom>
          <a:solidFill>
            <a:srgbClr val="8C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488168" y="5084064"/>
            <a:ext cx="1417320" cy="329184"/>
          </a:xfrm>
          <a:prstGeom prst="rect">
            <a:avLst/>
          </a:prstGeom>
          <a:noFill/>
        </p:spPr>
        <p:txBody>
          <a:bodyPr wrap="square" anchor="ctr">
            <a:spAutoFit/>
          </a:bodyPr>
          <a:lstStyle/>
          <a:p>
            <a:pPr algn="r"/>
            <a:r>
              <a:rPr sz="1300" b="1">
                <a:solidFill>
                  <a:srgbClr val="1A1A1A"/>
                </a:solidFill>
                <a:latin typeface="Calibri"/>
              </a:rPr>
              <a:t>about EUR 273</a:t>
            </a:r>
          </a:p>
        </p:txBody>
      </p:sp>
      <p:sp>
        <p:nvSpPr>
          <p:cNvPr id="45" name="TextBox 44"/>
          <p:cNvSpPr txBox="1"/>
          <p:nvPr/>
        </p:nvSpPr>
        <p:spPr>
          <a:xfrm>
            <a:off x="292608" y="5413248"/>
            <a:ext cx="3840480" cy="329184"/>
          </a:xfrm>
          <a:prstGeom prst="rect">
            <a:avLst/>
          </a:prstGeom>
          <a:noFill/>
        </p:spPr>
        <p:txBody>
          <a:bodyPr wrap="square" anchor="ctr">
            <a:spAutoFit/>
          </a:bodyPr>
          <a:lstStyle/>
          <a:p>
            <a:pPr algn="l"/>
            <a:r>
              <a:rPr sz="1300" b="0">
                <a:solidFill>
                  <a:srgbClr val="1A1A1A"/>
                </a:solidFill>
                <a:latin typeface="Calibri"/>
              </a:rPr>
              <a:t>Genuine pieces, ISZE to ITUK</a:t>
            </a:r>
          </a:p>
        </p:txBody>
      </p:sp>
      <p:sp>
        <p:nvSpPr>
          <p:cNvPr id="46" name="Rectangle 45"/>
          <p:cNvSpPr/>
          <p:nvPr/>
        </p:nvSpPr>
        <p:spPr>
          <a:xfrm>
            <a:off x="4206240" y="5504688"/>
            <a:ext cx="4433851" cy="146304"/>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488168" y="5413248"/>
            <a:ext cx="1417320" cy="329184"/>
          </a:xfrm>
          <a:prstGeom prst="rect">
            <a:avLst/>
          </a:prstGeom>
          <a:noFill/>
        </p:spPr>
        <p:txBody>
          <a:bodyPr wrap="square" anchor="ctr">
            <a:spAutoFit/>
          </a:bodyPr>
          <a:lstStyle/>
          <a:p>
            <a:pPr algn="r"/>
            <a:r>
              <a:rPr sz="1300" b="1">
                <a:solidFill>
                  <a:srgbClr val="1A1A1A"/>
                </a:solidFill>
                <a:latin typeface="Calibri"/>
              </a:rPr>
              <a:t>EUR 282.08</a:t>
            </a:r>
          </a:p>
        </p:txBody>
      </p:sp>
      <p:sp>
        <p:nvSpPr>
          <p:cNvPr id="48" name="TextBox 47"/>
          <p:cNvSpPr txBox="1"/>
          <p:nvPr/>
        </p:nvSpPr>
        <p:spPr>
          <a:xfrm>
            <a:off x="292608" y="5742432"/>
            <a:ext cx="3840480" cy="329184"/>
          </a:xfrm>
          <a:prstGeom prst="rect">
            <a:avLst/>
          </a:prstGeom>
          <a:noFill/>
        </p:spPr>
        <p:txBody>
          <a:bodyPr wrap="square" anchor="ctr">
            <a:spAutoFit/>
          </a:bodyPr>
          <a:lstStyle/>
          <a:p>
            <a:pPr algn="l"/>
            <a:r>
              <a:rPr sz="1300" b="0">
                <a:solidFill>
                  <a:srgbClr val="1A1A1A"/>
                </a:solidFill>
                <a:latin typeface="Calibri"/>
              </a:rPr>
              <a:t>Genuine pieces, projected to dealers</a:t>
            </a:r>
          </a:p>
        </p:txBody>
      </p:sp>
      <p:sp>
        <p:nvSpPr>
          <p:cNvPr id="49" name="Rectangle 48"/>
          <p:cNvSpPr/>
          <p:nvPr/>
        </p:nvSpPr>
        <p:spPr>
          <a:xfrm>
            <a:off x="4206240" y="5833872"/>
            <a:ext cx="6208776" cy="146304"/>
          </a:xfrm>
          <a:prstGeom prst="rect">
            <a:avLst/>
          </a:prstGeom>
          <a:solidFill>
            <a:srgbClr val="8C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488168" y="5742432"/>
            <a:ext cx="1417320" cy="329184"/>
          </a:xfrm>
          <a:prstGeom prst="rect">
            <a:avLst/>
          </a:prstGeom>
          <a:noFill/>
        </p:spPr>
        <p:txBody>
          <a:bodyPr wrap="square" anchor="ctr">
            <a:spAutoFit/>
          </a:bodyPr>
          <a:lstStyle/>
          <a:p>
            <a:pPr algn="r"/>
            <a:r>
              <a:rPr sz="1300" b="1">
                <a:solidFill>
                  <a:srgbClr val="1A1A1A"/>
                </a:solidFill>
                <a:latin typeface="Calibri"/>
              </a:rPr>
              <a:t>about EUR 395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suzu_logo_red.png"/>
          <p:cNvPicPr>
            <a:picLocks noChangeAspect="1"/>
          </p:cNvPicPr>
          <p:nvPr/>
        </p:nvPicPr>
        <p:blipFill>
          <a:blip r:embed="rId2"/>
          <a:stretch>
            <a:fillRect/>
          </a:stretch>
        </p:blipFill>
        <p:spPr>
          <a:xfrm>
            <a:off x="256032" y="6263640"/>
            <a:ext cx="1679787" cy="292608"/>
          </a:xfrm>
          <a:prstGeom prst="rect">
            <a:avLst/>
          </a:prstGeom>
        </p:spPr>
      </p:pic>
      <p:sp>
        <p:nvSpPr>
          <p:cNvPr id="3" name="Rectangle 2"/>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92608" y="201168"/>
            <a:ext cx="9509760" cy="256032"/>
          </a:xfrm>
          <a:prstGeom prst="rect">
            <a:avLst/>
          </a:prstGeom>
          <a:noFill/>
        </p:spPr>
        <p:txBody>
          <a:bodyPr wrap="square">
            <a:spAutoFit/>
          </a:bodyPr>
          <a:lstStyle/>
          <a:p>
            <a:pPr algn="l"/>
            <a:r>
              <a:rPr sz="1100" b="1">
                <a:solidFill>
                  <a:srgbClr val="1A1A1A"/>
                </a:solidFill>
                <a:latin typeface="Calibri"/>
              </a:rPr>
              <a:t>DRAFT  ·  UREA</a:t>
            </a:r>
          </a:p>
        </p:txBody>
      </p:sp>
      <p:sp>
        <p:nvSpPr>
          <p:cNvPr id="5" name="TextBox 4"/>
          <p:cNvSpPr txBox="1"/>
          <p:nvPr/>
        </p:nvSpPr>
        <p:spPr>
          <a:xfrm>
            <a:off x="10149840" y="182880"/>
            <a:ext cx="1737360" cy="274320"/>
          </a:xfrm>
          <a:prstGeom prst="rect">
            <a:avLst/>
          </a:prstGeom>
          <a:noFill/>
        </p:spPr>
        <p:txBody>
          <a:bodyPr wrap="square">
            <a:spAutoFit/>
          </a:bodyPr>
          <a:lstStyle/>
          <a:p>
            <a:pPr algn="r"/>
            <a:r>
              <a:rPr sz="1200" b="1">
                <a:solidFill>
                  <a:srgbClr val="CC0E1E"/>
                </a:solidFill>
                <a:latin typeface="Calibri"/>
              </a:rPr>
              <a:t>DRAFT</a:t>
            </a:r>
          </a:p>
        </p:txBody>
      </p:sp>
      <p:sp>
        <p:nvSpPr>
          <p:cNvPr id="6" name="TextBox 5"/>
          <p:cNvSpPr txBox="1"/>
          <p:nvPr/>
        </p:nvSpPr>
        <p:spPr>
          <a:xfrm>
            <a:off x="292608" y="457200"/>
            <a:ext cx="11612880" cy="566928"/>
          </a:xfrm>
          <a:prstGeom prst="rect">
            <a:avLst/>
          </a:prstGeom>
          <a:noFill/>
        </p:spPr>
        <p:txBody>
          <a:bodyPr wrap="square">
            <a:spAutoFit/>
          </a:bodyPr>
          <a:lstStyle/>
          <a:p>
            <a:pPr algn="l"/>
            <a:r>
              <a:rPr sz="2400" b="1">
                <a:solidFill>
                  <a:srgbClr val="1A1A1A"/>
                </a:solidFill>
                <a:latin typeface="Calibri"/>
              </a:rPr>
              <a:t>Urea filter kit</a:t>
            </a:r>
          </a:p>
        </p:txBody>
      </p:sp>
      <p:sp>
        <p:nvSpPr>
          <p:cNvPr id="7" name="Rectangle 6"/>
          <p:cNvSpPr/>
          <p:nvPr/>
        </p:nvSpPr>
        <p:spPr>
          <a:xfrm>
            <a:off x="292608" y="1005840"/>
            <a:ext cx="11612880" cy="13716"/>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10</a:t>
            </a:r>
          </a:p>
        </p:txBody>
      </p:sp>
      <p:sp>
        <p:nvSpPr>
          <p:cNvPr id="9" name="TextBox 8"/>
          <p:cNvSpPr txBox="1"/>
          <p:nvPr/>
        </p:nvSpPr>
        <p:spPr>
          <a:xfrm>
            <a:off x="292608" y="1078992"/>
            <a:ext cx="11612880" cy="530352"/>
          </a:xfrm>
          <a:prstGeom prst="rect">
            <a:avLst/>
          </a:prstGeom>
          <a:noFill/>
        </p:spPr>
        <p:txBody>
          <a:bodyPr wrap="square">
            <a:spAutoFit/>
          </a:bodyPr>
          <a:lstStyle/>
          <a:p>
            <a:pPr algn="l"/>
            <a:r>
              <a:rPr sz="1500" b="0">
                <a:solidFill>
                  <a:srgbClr val="222222"/>
                </a:solidFill>
                <a:latin typeface="Calibri"/>
              </a:rPr>
              <a:t>Urea is not in the ITUK parts list of 56 part numbers. It is a separate line. The item on the parts file is the DEF pump filter kit, not bulk fluid.</a:t>
            </a:r>
          </a:p>
        </p:txBody>
      </p:sp>
      <p:sp>
        <p:nvSpPr>
          <p:cNvPr id="10" name="Rectangle 9"/>
          <p:cNvSpPr/>
          <p:nvPr/>
        </p:nvSpPr>
        <p:spPr>
          <a:xfrm>
            <a:off x="292608" y="1719072"/>
            <a:ext cx="5669280" cy="54864"/>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92608" y="1773936"/>
            <a:ext cx="5669280" cy="2551176"/>
          </a:xfrm>
          <a:prstGeom prst="rect">
            <a:avLst/>
          </a:prstGeom>
          <a:noFill/>
          <a:ln w="9525">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1865376"/>
            <a:ext cx="5376672" cy="365760"/>
          </a:xfrm>
          <a:prstGeom prst="rect">
            <a:avLst/>
          </a:prstGeom>
          <a:noFill/>
        </p:spPr>
        <p:txBody>
          <a:bodyPr wrap="square">
            <a:spAutoFit/>
          </a:bodyPr>
          <a:lstStyle/>
          <a:p>
            <a:pPr algn="l"/>
            <a:r>
              <a:rPr sz="1500" b="1">
                <a:solidFill>
                  <a:srgbClr val="1A1A1A"/>
                </a:solidFill>
                <a:latin typeface="Calibri"/>
              </a:rPr>
              <a:t>Genuine  8983507161</a:t>
            </a:r>
          </a:p>
        </p:txBody>
      </p:sp>
      <p:sp>
        <p:nvSpPr>
          <p:cNvPr id="13" name="TextBox 12"/>
          <p:cNvSpPr txBox="1"/>
          <p:nvPr/>
        </p:nvSpPr>
        <p:spPr>
          <a:xfrm>
            <a:off x="457200" y="2231136"/>
            <a:ext cx="5376672" cy="1947672"/>
          </a:xfrm>
          <a:prstGeom prst="rect">
            <a:avLst/>
          </a:prstGeom>
          <a:noFill/>
        </p:spPr>
        <p:txBody>
          <a:bodyPr wrap="square">
            <a:spAutoFit/>
          </a:bodyPr>
          <a:lstStyle/>
          <a:p>
            <a:pPr algn="l"/>
            <a:r>
              <a:rPr sz="1600" b="0">
                <a:solidFill>
                  <a:srgbClr val="1A1A1A"/>
                </a:solidFill>
                <a:latin typeface="Calibri"/>
              </a:rPr>
              <a:t>FILTER KIT; PUMP ASM,DEF DCM S. ITUK to dealer 541. ISZE to ITUK 506. ISZE to ITUK EUR 70.53. Projected ITUK to dealers about EUR 99 (x 1.40).</a:t>
            </a:r>
          </a:p>
        </p:txBody>
      </p:sp>
      <p:sp>
        <p:nvSpPr>
          <p:cNvPr id="14" name="Rectangle 13"/>
          <p:cNvSpPr/>
          <p:nvPr/>
        </p:nvSpPr>
        <p:spPr>
          <a:xfrm>
            <a:off x="6217920" y="1719072"/>
            <a:ext cx="5669280" cy="54864"/>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17920" y="1773936"/>
            <a:ext cx="5669280" cy="2551176"/>
          </a:xfrm>
          <a:prstGeom prst="rect">
            <a:avLst/>
          </a:prstGeom>
          <a:noFill/>
          <a:ln w="9525">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82512" y="1865376"/>
            <a:ext cx="5376672" cy="365760"/>
          </a:xfrm>
          <a:prstGeom prst="rect">
            <a:avLst/>
          </a:prstGeom>
          <a:noFill/>
        </p:spPr>
        <p:txBody>
          <a:bodyPr wrap="square">
            <a:spAutoFit/>
          </a:bodyPr>
          <a:lstStyle/>
          <a:p>
            <a:pPr algn="l"/>
            <a:r>
              <a:rPr sz="1500" b="1">
                <a:solidFill>
                  <a:srgbClr val="1A1A1A"/>
                </a:solidFill>
                <a:latin typeface="Calibri"/>
              </a:rPr>
              <a:t>BVP  1876102341</a:t>
            </a:r>
          </a:p>
        </p:txBody>
      </p:sp>
      <p:sp>
        <p:nvSpPr>
          <p:cNvPr id="17" name="TextBox 16"/>
          <p:cNvSpPr txBox="1"/>
          <p:nvPr/>
        </p:nvSpPr>
        <p:spPr>
          <a:xfrm>
            <a:off x="6382512" y="2231136"/>
            <a:ext cx="5376672" cy="1947672"/>
          </a:xfrm>
          <a:prstGeom prst="rect">
            <a:avLst/>
          </a:prstGeom>
          <a:noFill/>
        </p:spPr>
        <p:txBody>
          <a:bodyPr wrap="square">
            <a:spAutoFit/>
          </a:bodyPr>
          <a:lstStyle/>
          <a:p>
            <a:pPr algn="l"/>
            <a:r>
              <a:rPr sz="1600" b="0">
                <a:solidFill>
                  <a:srgbClr val="1A1A1A"/>
                </a:solidFill>
                <a:latin typeface="Calibri"/>
              </a:rPr>
              <a:t>Same kit, BVP number. ITUK to dealer 34. ISZE to ITUK 46. ISZE to ITUK EUR 30.72. Projected ITUK to dealers about EUR 43 (x 1.40).</a:t>
            </a:r>
          </a:p>
        </p:txBody>
      </p:sp>
      <p:sp>
        <p:nvSpPr>
          <p:cNvPr id="18" name="TextBox 17"/>
          <p:cNvSpPr txBox="1"/>
          <p:nvPr/>
        </p:nvSpPr>
        <p:spPr>
          <a:xfrm>
            <a:off x="292608" y="4480560"/>
            <a:ext cx="11612880" cy="640080"/>
          </a:xfrm>
          <a:prstGeom prst="rect">
            <a:avLst/>
          </a:prstGeom>
          <a:noFill/>
        </p:spPr>
        <p:txBody>
          <a:bodyPr wrap="square">
            <a:spAutoFit/>
          </a:bodyPr>
          <a:lstStyle/>
          <a:p>
            <a:pPr algn="l"/>
            <a:r>
              <a:rPr sz="1400" b="0">
                <a:solidFill>
                  <a:srgbClr val="222222"/>
                </a:solidFill>
                <a:latin typeface="Calibri"/>
              </a:rPr>
              <a:t>No AdBlue fluid part number was found on the ITUK dealer file for calendar 2025. Earlier kit numbers also appear: 8983507160 (132 to dealers) and 1876102340 (77 to dealers, 59 ISZE to ITUK).</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suzu_logo_red.png"/>
          <p:cNvPicPr>
            <a:picLocks noChangeAspect="1"/>
          </p:cNvPicPr>
          <p:nvPr/>
        </p:nvPicPr>
        <p:blipFill>
          <a:blip r:embed="rId2"/>
          <a:stretch>
            <a:fillRect/>
          </a:stretch>
        </p:blipFill>
        <p:spPr>
          <a:xfrm>
            <a:off x="256032" y="6263640"/>
            <a:ext cx="1679787" cy="292608"/>
          </a:xfrm>
          <a:prstGeom prst="rect">
            <a:avLst/>
          </a:prstGeom>
        </p:spPr>
      </p:pic>
      <p:sp>
        <p:nvSpPr>
          <p:cNvPr id="3" name="Rectangle 2"/>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92608" y="201168"/>
            <a:ext cx="9509760" cy="256032"/>
          </a:xfrm>
          <a:prstGeom prst="rect">
            <a:avLst/>
          </a:prstGeom>
          <a:noFill/>
        </p:spPr>
        <p:txBody>
          <a:bodyPr wrap="square">
            <a:spAutoFit/>
          </a:bodyPr>
          <a:lstStyle/>
          <a:p>
            <a:pPr algn="l"/>
            <a:r>
              <a:rPr sz="1100" b="1">
                <a:solidFill>
                  <a:srgbClr val="1A1A1A"/>
                </a:solidFill>
                <a:latin typeface="Calibri"/>
              </a:rPr>
              <a:t>DRAFT  ·  AFTERMARKET</a:t>
            </a:r>
          </a:p>
        </p:txBody>
      </p:sp>
      <p:sp>
        <p:nvSpPr>
          <p:cNvPr id="5" name="TextBox 4"/>
          <p:cNvSpPr txBox="1"/>
          <p:nvPr/>
        </p:nvSpPr>
        <p:spPr>
          <a:xfrm>
            <a:off x="10149840" y="182880"/>
            <a:ext cx="1737360" cy="274320"/>
          </a:xfrm>
          <a:prstGeom prst="rect">
            <a:avLst/>
          </a:prstGeom>
          <a:noFill/>
        </p:spPr>
        <p:txBody>
          <a:bodyPr wrap="square">
            <a:spAutoFit/>
          </a:bodyPr>
          <a:lstStyle/>
          <a:p>
            <a:pPr algn="r"/>
            <a:r>
              <a:rPr sz="1200" b="1">
                <a:solidFill>
                  <a:srgbClr val="CC0E1E"/>
                </a:solidFill>
                <a:latin typeface="Calibri"/>
              </a:rPr>
              <a:t>DRAFT</a:t>
            </a:r>
          </a:p>
        </p:txBody>
      </p:sp>
      <p:sp>
        <p:nvSpPr>
          <p:cNvPr id="6" name="TextBox 5"/>
          <p:cNvSpPr txBox="1"/>
          <p:nvPr/>
        </p:nvSpPr>
        <p:spPr>
          <a:xfrm>
            <a:off x="292608" y="457200"/>
            <a:ext cx="11612880" cy="566928"/>
          </a:xfrm>
          <a:prstGeom prst="rect">
            <a:avLst/>
          </a:prstGeom>
          <a:noFill/>
        </p:spPr>
        <p:txBody>
          <a:bodyPr wrap="square">
            <a:spAutoFit/>
          </a:bodyPr>
          <a:lstStyle/>
          <a:p>
            <a:pPr algn="l"/>
            <a:r>
              <a:rPr sz="2400" b="1">
                <a:solidFill>
                  <a:srgbClr val="1A1A1A"/>
                </a:solidFill>
                <a:latin typeface="Calibri"/>
              </a:rPr>
              <a:t>The pad is well above aftermarket at the dealer step</a:t>
            </a:r>
          </a:p>
        </p:txBody>
      </p:sp>
      <p:sp>
        <p:nvSpPr>
          <p:cNvPr id="7" name="Rectangle 6"/>
          <p:cNvSpPr/>
          <p:nvPr/>
        </p:nvSpPr>
        <p:spPr>
          <a:xfrm>
            <a:off x="292608" y="1005840"/>
            <a:ext cx="11612880" cy="13716"/>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11</a:t>
            </a:r>
          </a:p>
        </p:txBody>
      </p:sp>
      <p:sp>
        <p:nvSpPr>
          <p:cNvPr id="9" name="TextBox 8"/>
          <p:cNvSpPr txBox="1"/>
          <p:nvPr/>
        </p:nvSpPr>
        <p:spPr>
          <a:xfrm>
            <a:off x="292608" y="1060704"/>
            <a:ext cx="11612880" cy="256032"/>
          </a:xfrm>
          <a:prstGeom prst="rect">
            <a:avLst/>
          </a:prstGeom>
          <a:noFill/>
        </p:spPr>
        <p:txBody>
          <a:bodyPr wrap="square">
            <a:spAutoFit/>
          </a:bodyPr>
          <a:lstStyle/>
          <a:p>
            <a:pPr algn="l"/>
            <a:r>
              <a:rPr sz="1600" b="1">
                <a:solidFill>
                  <a:srgbClr val="1A1A1A"/>
                </a:solidFill>
                <a:latin typeface="Calibri"/>
              </a:rPr>
              <a:t>Filters are close. The clutch is not the problem.</a:t>
            </a:r>
          </a:p>
        </p:txBody>
      </p:sp>
      <p:sp>
        <p:nvSpPr>
          <p:cNvPr id="10" name="TextBox 9"/>
          <p:cNvSpPr txBox="1"/>
          <p:nvPr/>
        </p:nvSpPr>
        <p:spPr>
          <a:xfrm>
            <a:off x="292608" y="1316736"/>
            <a:ext cx="11612880" cy="256032"/>
          </a:xfrm>
          <a:prstGeom prst="rect">
            <a:avLst/>
          </a:prstGeom>
          <a:noFill/>
        </p:spPr>
        <p:txBody>
          <a:bodyPr wrap="square">
            <a:spAutoFit/>
          </a:bodyPr>
          <a:lstStyle/>
          <a:p>
            <a:pPr algn="l"/>
            <a:r>
              <a:rPr sz="1400" b="0">
                <a:solidFill>
                  <a:srgbClr val="222222"/>
                </a:solidFill>
                <a:latin typeface="Calibri"/>
              </a:rPr>
              <a:t>We compare the projected ITUK price to dealers with what a workshop pays for the aftermarket part. Same step.</a:t>
            </a:r>
          </a:p>
        </p:txBody>
      </p:sp>
      <p:sp>
        <p:nvSpPr>
          <p:cNvPr id="11" name="Rectangle 10"/>
          <p:cNvSpPr/>
          <p:nvPr/>
        </p:nvSpPr>
        <p:spPr>
          <a:xfrm>
            <a:off x="292608" y="1609344"/>
            <a:ext cx="11612880" cy="310896"/>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 y="1609344"/>
            <a:ext cx="1956816" cy="310896"/>
          </a:xfrm>
          <a:prstGeom prst="rect">
            <a:avLst/>
          </a:prstGeom>
          <a:noFill/>
        </p:spPr>
        <p:txBody>
          <a:bodyPr wrap="square" anchor="ctr">
            <a:spAutoFit/>
          </a:bodyPr>
          <a:lstStyle/>
          <a:p>
            <a:pPr algn="l"/>
            <a:r>
              <a:rPr sz="1100" b="1">
                <a:solidFill>
                  <a:srgbClr val="FFFFFF"/>
                </a:solidFill>
                <a:latin typeface="Calibri"/>
              </a:rPr>
              <a:t>Part</a:t>
            </a:r>
          </a:p>
        </p:txBody>
      </p:sp>
      <p:sp>
        <p:nvSpPr>
          <p:cNvPr id="13" name="TextBox 12"/>
          <p:cNvSpPr txBox="1"/>
          <p:nvPr/>
        </p:nvSpPr>
        <p:spPr>
          <a:xfrm>
            <a:off x="2468880" y="1609344"/>
            <a:ext cx="1865376" cy="310896"/>
          </a:xfrm>
          <a:prstGeom prst="rect">
            <a:avLst/>
          </a:prstGeom>
          <a:noFill/>
        </p:spPr>
        <p:txBody>
          <a:bodyPr wrap="square" anchor="ctr">
            <a:spAutoFit/>
          </a:bodyPr>
          <a:lstStyle/>
          <a:p>
            <a:pPr algn="r"/>
            <a:r>
              <a:rPr sz="1100" b="1">
                <a:solidFill>
                  <a:srgbClr val="FFFFFF"/>
                </a:solidFill>
                <a:latin typeface="Calibri"/>
              </a:rPr>
              <a:t>ISZE to ITUK</a:t>
            </a:r>
          </a:p>
        </p:txBody>
      </p:sp>
      <p:sp>
        <p:nvSpPr>
          <p:cNvPr id="14" name="TextBox 13"/>
          <p:cNvSpPr txBox="1"/>
          <p:nvPr/>
        </p:nvSpPr>
        <p:spPr>
          <a:xfrm>
            <a:off x="4480560" y="1609344"/>
            <a:ext cx="2596896" cy="310896"/>
          </a:xfrm>
          <a:prstGeom prst="rect">
            <a:avLst/>
          </a:prstGeom>
          <a:noFill/>
        </p:spPr>
        <p:txBody>
          <a:bodyPr wrap="square" anchor="ctr">
            <a:spAutoFit/>
          </a:bodyPr>
          <a:lstStyle/>
          <a:p>
            <a:pPr algn="r"/>
            <a:r>
              <a:rPr sz="1100" b="1">
                <a:solidFill>
                  <a:srgbClr val="FFFFFF"/>
                </a:solidFill>
                <a:latin typeface="Calibri"/>
              </a:rPr>
              <a:t>Projected ITUK to dealers</a:t>
            </a:r>
          </a:p>
        </p:txBody>
      </p:sp>
      <p:sp>
        <p:nvSpPr>
          <p:cNvPr id="15" name="TextBox 14"/>
          <p:cNvSpPr txBox="1"/>
          <p:nvPr/>
        </p:nvSpPr>
        <p:spPr>
          <a:xfrm>
            <a:off x="7223760" y="1609344"/>
            <a:ext cx="2414016" cy="310896"/>
          </a:xfrm>
          <a:prstGeom prst="rect">
            <a:avLst/>
          </a:prstGeom>
          <a:noFill/>
        </p:spPr>
        <p:txBody>
          <a:bodyPr wrap="square" anchor="ctr">
            <a:spAutoFit/>
          </a:bodyPr>
          <a:lstStyle/>
          <a:p>
            <a:pPr algn="r"/>
            <a:r>
              <a:rPr sz="1100" b="1">
                <a:solidFill>
                  <a:srgbClr val="FFFFFF"/>
                </a:solidFill>
                <a:latin typeface="Calibri"/>
              </a:rPr>
              <a:t>Aftermarket workshop</a:t>
            </a:r>
          </a:p>
        </p:txBody>
      </p:sp>
      <p:sp>
        <p:nvSpPr>
          <p:cNvPr id="16" name="TextBox 15"/>
          <p:cNvSpPr txBox="1"/>
          <p:nvPr/>
        </p:nvSpPr>
        <p:spPr>
          <a:xfrm>
            <a:off x="9784080" y="1609344"/>
            <a:ext cx="2048256" cy="310896"/>
          </a:xfrm>
          <a:prstGeom prst="rect">
            <a:avLst/>
          </a:prstGeom>
          <a:noFill/>
        </p:spPr>
        <p:txBody>
          <a:bodyPr wrap="square" anchor="ctr">
            <a:spAutoFit/>
          </a:bodyPr>
          <a:lstStyle/>
          <a:p>
            <a:pPr algn="r"/>
            <a:r>
              <a:rPr sz="1100" b="1">
                <a:solidFill>
                  <a:srgbClr val="FFFFFF"/>
                </a:solidFill>
                <a:latin typeface="Calibri"/>
              </a:rPr>
              <a:t>Read</a:t>
            </a:r>
          </a:p>
        </p:txBody>
      </p:sp>
      <p:sp>
        <p:nvSpPr>
          <p:cNvPr id="17" name="Rectangle 16"/>
          <p:cNvSpPr/>
          <p:nvPr/>
        </p:nvSpPr>
        <p:spPr>
          <a:xfrm>
            <a:off x="292608" y="1920240"/>
            <a:ext cx="11612880" cy="9144"/>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5760" y="1920240"/>
            <a:ext cx="1956816" cy="310896"/>
          </a:xfrm>
          <a:prstGeom prst="rect">
            <a:avLst/>
          </a:prstGeom>
          <a:noFill/>
        </p:spPr>
        <p:txBody>
          <a:bodyPr wrap="square" anchor="ctr">
            <a:spAutoFit/>
          </a:bodyPr>
          <a:lstStyle/>
          <a:p>
            <a:pPr algn="l"/>
            <a:r>
              <a:rPr sz="1300" b="0">
                <a:solidFill>
                  <a:srgbClr val="1A1A1A"/>
                </a:solidFill>
                <a:latin typeface="Calibri"/>
              </a:rPr>
              <a:t>Oil filter</a:t>
            </a:r>
          </a:p>
        </p:txBody>
      </p:sp>
      <p:sp>
        <p:nvSpPr>
          <p:cNvPr id="19" name="TextBox 18"/>
          <p:cNvSpPr txBox="1"/>
          <p:nvPr/>
        </p:nvSpPr>
        <p:spPr>
          <a:xfrm>
            <a:off x="2468880" y="1920240"/>
            <a:ext cx="1865376" cy="310896"/>
          </a:xfrm>
          <a:prstGeom prst="rect">
            <a:avLst/>
          </a:prstGeom>
          <a:noFill/>
        </p:spPr>
        <p:txBody>
          <a:bodyPr wrap="square" anchor="ctr">
            <a:spAutoFit/>
          </a:bodyPr>
          <a:lstStyle/>
          <a:p>
            <a:pPr algn="r"/>
            <a:r>
              <a:rPr sz="1300" b="0">
                <a:solidFill>
                  <a:srgbClr val="1A1A1A"/>
                </a:solidFill>
                <a:latin typeface="Calibri"/>
              </a:rPr>
              <a:t>EUR 14.45</a:t>
            </a:r>
          </a:p>
        </p:txBody>
      </p:sp>
      <p:sp>
        <p:nvSpPr>
          <p:cNvPr id="20" name="TextBox 19"/>
          <p:cNvSpPr txBox="1"/>
          <p:nvPr/>
        </p:nvSpPr>
        <p:spPr>
          <a:xfrm>
            <a:off x="4480560" y="1920240"/>
            <a:ext cx="2596896" cy="310896"/>
          </a:xfrm>
          <a:prstGeom prst="rect">
            <a:avLst/>
          </a:prstGeom>
          <a:noFill/>
        </p:spPr>
        <p:txBody>
          <a:bodyPr wrap="square" anchor="ctr">
            <a:spAutoFit/>
          </a:bodyPr>
          <a:lstStyle/>
          <a:p>
            <a:pPr algn="r"/>
            <a:r>
              <a:rPr sz="1300" b="0">
                <a:solidFill>
                  <a:srgbClr val="1A1A1A"/>
                </a:solidFill>
                <a:latin typeface="Calibri"/>
              </a:rPr>
              <a:t>EUR 20.23</a:t>
            </a:r>
          </a:p>
        </p:txBody>
      </p:sp>
      <p:sp>
        <p:nvSpPr>
          <p:cNvPr id="21" name="TextBox 20"/>
          <p:cNvSpPr txBox="1"/>
          <p:nvPr/>
        </p:nvSpPr>
        <p:spPr>
          <a:xfrm>
            <a:off x="7223760" y="1920240"/>
            <a:ext cx="2414016" cy="310896"/>
          </a:xfrm>
          <a:prstGeom prst="rect">
            <a:avLst/>
          </a:prstGeom>
          <a:noFill/>
        </p:spPr>
        <p:txBody>
          <a:bodyPr wrap="square" anchor="ctr">
            <a:spAutoFit/>
          </a:bodyPr>
          <a:lstStyle/>
          <a:p>
            <a:pPr algn="r"/>
            <a:r>
              <a:rPr sz="1300" b="0">
                <a:solidFill>
                  <a:srgbClr val="1A1A1A"/>
                </a:solidFill>
                <a:latin typeface="Calibri"/>
              </a:rPr>
              <a:t>EUR 15.10</a:t>
            </a:r>
          </a:p>
        </p:txBody>
      </p:sp>
      <p:sp>
        <p:nvSpPr>
          <p:cNvPr id="22" name="TextBox 21"/>
          <p:cNvSpPr txBox="1"/>
          <p:nvPr/>
        </p:nvSpPr>
        <p:spPr>
          <a:xfrm>
            <a:off x="9784080" y="1920240"/>
            <a:ext cx="2048256" cy="310896"/>
          </a:xfrm>
          <a:prstGeom prst="rect">
            <a:avLst/>
          </a:prstGeom>
          <a:noFill/>
        </p:spPr>
        <p:txBody>
          <a:bodyPr wrap="square" anchor="ctr">
            <a:spAutoFit/>
          </a:bodyPr>
          <a:lstStyle/>
          <a:p>
            <a:pPr algn="r"/>
            <a:r>
              <a:rPr sz="1300" b="0">
                <a:solidFill>
                  <a:srgbClr val="1A1A1A"/>
                </a:solidFill>
                <a:latin typeface="Calibri"/>
              </a:rPr>
              <a:t>Above</a:t>
            </a:r>
          </a:p>
        </p:txBody>
      </p:sp>
      <p:sp>
        <p:nvSpPr>
          <p:cNvPr id="23" name="Rectangle 22"/>
          <p:cNvSpPr/>
          <p:nvPr/>
        </p:nvSpPr>
        <p:spPr>
          <a:xfrm>
            <a:off x="292608" y="2231136"/>
            <a:ext cx="11612880" cy="9144"/>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65760" y="2231136"/>
            <a:ext cx="1956816" cy="310896"/>
          </a:xfrm>
          <a:prstGeom prst="rect">
            <a:avLst/>
          </a:prstGeom>
          <a:noFill/>
        </p:spPr>
        <p:txBody>
          <a:bodyPr wrap="square" anchor="ctr">
            <a:spAutoFit/>
          </a:bodyPr>
          <a:lstStyle/>
          <a:p>
            <a:pPr algn="l"/>
            <a:r>
              <a:rPr sz="1300" b="0">
                <a:solidFill>
                  <a:srgbClr val="1A1A1A"/>
                </a:solidFill>
                <a:latin typeface="Calibri"/>
              </a:rPr>
              <a:t>Fuel filter</a:t>
            </a:r>
          </a:p>
        </p:txBody>
      </p:sp>
      <p:sp>
        <p:nvSpPr>
          <p:cNvPr id="25" name="TextBox 24"/>
          <p:cNvSpPr txBox="1"/>
          <p:nvPr/>
        </p:nvSpPr>
        <p:spPr>
          <a:xfrm>
            <a:off x="2468880" y="2231136"/>
            <a:ext cx="1865376" cy="310896"/>
          </a:xfrm>
          <a:prstGeom prst="rect">
            <a:avLst/>
          </a:prstGeom>
          <a:noFill/>
        </p:spPr>
        <p:txBody>
          <a:bodyPr wrap="square" anchor="ctr">
            <a:spAutoFit/>
          </a:bodyPr>
          <a:lstStyle/>
          <a:p>
            <a:pPr algn="r"/>
            <a:r>
              <a:rPr sz="1300" b="0">
                <a:solidFill>
                  <a:srgbClr val="1A1A1A"/>
                </a:solidFill>
                <a:latin typeface="Calibri"/>
              </a:rPr>
              <a:t>EUR 12.56</a:t>
            </a:r>
          </a:p>
        </p:txBody>
      </p:sp>
      <p:sp>
        <p:nvSpPr>
          <p:cNvPr id="26" name="TextBox 25"/>
          <p:cNvSpPr txBox="1"/>
          <p:nvPr/>
        </p:nvSpPr>
        <p:spPr>
          <a:xfrm>
            <a:off x="4480560" y="2231136"/>
            <a:ext cx="2596896" cy="310896"/>
          </a:xfrm>
          <a:prstGeom prst="rect">
            <a:avLst/>
          </a:prstGeom>
          <a:noFill/>
        </p:spPr>
        <p:txBody>
          <a:bodyPr wrap="square" anchor="ctr">
            <a:spAutoFit/>
          </a:bodyPr>
          <a:lstStyle/>
          <a:p>
            <a:pPr algn="r"/>
            <a:r>
              <a:rPr sz="1300" b="0">
                <a:solidFill>
                  <a:srgbClr val="1A1A1A"/>
                </a:solidFill>
                <a:latin typeface="Calibri"/>
              </a:rPr>
              <a:t>EUR 17.58</a:t>
            </a:r>
          </a:p>
        </p:txBody>
      </p:sp>
      <p:sp>
        <p:nvSpPr>
          <p:cNvPr id="27" name="TextBox 26"/>
          <p:cNvSpPr txBox="1"/>
          <p:nvPr/>
        </p:nvSpPr>
        <p:spPr>
          <a:xfrm>
            <a:off x="7223760" y="2231136"/>
            <a:ext cx="2414016" cy="310896"/>
          </a:xfrm>
          <a:prstGeom prst="rect">
            <a:avLst/>
          </a:prstGeom>
          <a:noFill/>
        </p:spPr>
        <p:txBody>
          <a:bodyPr wrap="square" anchor="ctr">
            <a:spAutoFit/>
          </a:bodyPr>
          <a:lstStyle/>
          <a:p>
            <a:pPr algn="r"/>
            <a:r>
              <a:rPr sz="1300" b="0">
                <a:solidFill>
                  <a:srgbClr val="1A1A1A"/>
                </a:solidFill>
                <a:latin typeface="Calibri"/>
              </a:rPr>
              <a:t>EUR 14.45</a:t>
            </a:r>
          </a:p>
        </p:txBody>
      </p:sp>
      <p:sp>
        <p:nvSpPr>
          <p:cNvPr id="28" name="TextBox 27"/>
          <p:cNvSpPr txBox="1"/>
          <p:nvPr/>
        </p:nvSpPr>
        <p:spPr>
          <a:xfrm>
            <a:off x="9784080" y="2231136"/>
            <a:ext cx="2048256" cy="310896"/>
          </a:xfrm>
          <a:prstGeom prst="rect">
            <a:avLst/>
          </a:prstGeom>
          <a:noFill/>
        </p:spPr>
        <p:txBody>
          <a:bodyPr wrap="square" anchor="ctr">
            <a:spAutoFit/>
          </a:bodyPr>
          <a:lstStyle/>
          <a:p>
            <a:pPr algn="r"/>
            <a:r>
              <a:rPr sz="1300" b="0">
                <a:solidFill>
                  <a:srgbClr val="1A1A1A"/>
                </a:solidFill>
                <a:latin typeface="Calibri"/>
              </a:rPr>
              <a:t>Above</a:t>
            </a:r>
          </a:p>
        </p:txBody>
      </p:sp>
      <p:sp>
        <p:nvSpPr>
          <p:cNvPr id="29" name="Rectangle 28"/>
          <p:cNvSpPr/>
          <p:nvPr/>
        </p:nvSpPr>
        <p:spPr>
          <a:xfrm>
            <a:off x="292608" y="2542032"/>
            <a:ext cx="11612880" cy="9144"/>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65760" y="2542032"/>
            <a:ext cx="1956816" cy="310896"/>
          </a:xfrm>
          <a:prstGeom prst="rect">
            <a:avLst/>
          </a:prstGeom>
          <a:noFill/>
        </p:spPr>
        <p:txBody>
          <a:bodyPr wrap="square" anchor="ctr">
            <a:spAutoFit/>
          </a:bodyPr>
          <a:lstStyle/>
          <a:p>
            <a:pPr algn="l"/>
            <a:r>
              <a:rPr sz="1300" b="0">
                <a:solidFill>
                  <a:srgbClr val="1A1A1A"/>
                </a:solidFill>
                <a:latin typeface="Calibri"/>
              </a:rPr>
              <a:t>Air filter</a:t>
            </a:r>
          </a:p>
        </p:txBody>
      </p:sp>
      <p:sp>
        <p:nvSpPr>
          <p:cNvPr id="31" name="TextBox 30"/>
          <p:cNvSpPr txBox="1"/>
          <p:nvPr/>
        </p:nvSpPr>
        <p:spPr>
          <a:xfrm>
            <a:off x="2468880" y="2542032"/>
            <a:ext cx="1865376" cy="310896"/>
          </a:xfrm>
          <a:prstGeom prst="rect">
            <a:avLst/>
          </a:prstGeom>
          <a:noFill/>
        </p:spPr>
        <p:txBody>
          <a:bodyPr wrap="square" anchor="ctr">
            <a:spAutoFit/>
          </a:bodyPr>
          <a:lstStyle/>
          <a:p>
            <a:pPr algn="r"/>
            <a:r>
              <a:rPr sz="1300" b="0">
                <a:solidFill>
                  <a:srgbClr val="1A1A1A"/>
                </a:solidFill>
                <a:latin typeface="Calibri"/>
              </a:rPr>
              <a:t>EUR 31.36</a:t>
            </a:r>
          </a:p>
        </p:txBody>
      </p:sp>
      <p:sp>
        <p:nvSpPr>
          <p:cNvPr id="32" name="TextBox 31"/>
          <p:cNvSpPr txBox="1"/>
          <p:nvPr/>
        </p:nvSpPr>
        <p:spPr>
          <a:xfrm>
            <a:off x="4480560" y="2542032"/>
            <a:ext cx="2596896" cy="310896"/>
          </a:xfrm>
          <a:prstGeom prst="rect">
            <a:avLst/>
          </a:prstGeom>
          <a:noFill/>
        </p:spPr>
        <p:txBody>
          <a:bodyPr wrap="square" anchor="ctr">
            <a:spAutoFit/>
          </a:bodyPr>
          <a:lstStyle/>
          <a:p>
            <a:pPr algn="r"/>
            <a:r>
              <a:rPr sz="1300" b="0">
                <a:solidFill>
                  <a:srgbClr val="1A1A1A"/>
                </a:solidFill>
                <a:latin typeface="Calibri"/>
              </a:rPr>
              <a:t>EUR 43.90</a:t>
            </a:r>
          </a:p>
        </p:txBody>
      </p:sp>
      <p:sp>
        <p:nvSpPr>
          <p:cNvPr id="33" name="TextBox 32"/>
          <p:cNvSpPr txBox="1"/>
          <p:nvPr/>
        </p:nvSpPr>
        <p:spPr>
          <a:xfrm>
            <a:off x="7223760" y="2542032"/>
            <a:ext cx="2414016" cy="310896"/>
          </a:xfrm>
          <a:prstGeom prst="rect">
            <a:avLst/>
          </a:prstGeom>
          <a:noFill/>
        </p:spPr>
        <p:txBody>
          <a:bodyPr wrap="square" anchor="ctr">
            <a:spAutoFit/>
          </a:bodyPr>
          <a:lstStyle/>
          <a:p>
            <a:pPr algn="r"/>
            <a:r>
              <a:rPr sz="1300" b="0">
                <a:solidFill>
                  <a:srgbClr val="1A1A1A"/>
                </a:solidFill>
                <a:latin typeface="Calibri"/>
              </a:rPr>
              <a:t>EUR 47.05</a:t>
            </a:r>
          </a:p>
        </p:txBody>
      </p:sp>
      <p:sp>
        <p:nvSpPr>
          <p:cNvPr id="34" name="TextBox 33"/>
          <p:cNvSpPr txBox="1"/>
          <p:nvPr/>
        </p:nvSpPr>
        <p:spPr>
          <a:xfrm>
            <a:off x="9784080" y="2542032"/>
            <a:ext cx="2048256" cy="310896"/>
          </a:xfrm>
          <a:prstGeom prst="rect">
            <a:avLst/>
          </a:prstGeom>
          <a:noFill/>
        </p:spPr>
        <p:txBody>
          <a:bodyPr wrap="square" anchor="ctr">
            <a:spAutoFit/>
          </a:bodyPr>
          <a:lstStyle/>
          <a:p>
            <a:pPr algn="r"/>
            <a:r>
              <a:rPr sz="1300" b="0">
                <a:solidFill>
                  <a:srgbClr val="1A1A1A"/>
                </a:solidFill>
                <a:latin typeface="Calibri"/>
              </a:rPr>
              <a:t>In line</a:t>
            </a:r>
          </a:p>
        </p:txBody>
      </p:sp>
      <p:sp>
        <p:nvSpPr>
          <p:cNvPr id="35" name="Rectangle 34"/>
          <p:cNvSpPr/>
          <p:nvPr/>
        </p:nvSpPr>
        <p:spPr>
          <a:xfrm>
            <a:off x="292608" y="2852928"/>
            <a:ext cx="11612880" cy="9144"/>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65760" y="2852928"/>
            <a:ext cx="1956816" cy="310896"/>
          </a:xfrm>
          <a:prstGeom prst="rect">
            <a:avLst/>
          </a:prstGeom>
          <a:noFill/>
        </p:spPr>
        <p:txBody>
          <a:bodyPr wrap="square" anchor="ctr">
            <a:spAutoFit/>
          </a:bodyPr>
          <a:lstStyle/>
          <a:p>
            <a:pPr algn="l"/>
            <a:r>
              <a:rPr sz="1300" b="0">
                <a:solidFill>
                  <a:srgbClr val="1A1A1A"/>
                </a:solidFill>
                <a:latin typeface="Calibri"/>
              </a:rPr>
              <a:t>Brake pad</a:t>
            </a:r>
          </a:p>
        </p:txBody>
      </p:sp>
      <p:sp>
        <p:nvSpPr>
          <p:cNvPr id="37" name="TextBox 36"/>
          <p:cNvSpPr txBox="1"/>
          <p:nvPr/>
        </p:nvSpPr>
        <p:spPr>
          <a:xfrm>
            <a:off x="2468880" y="2852928"/>
            <a:ext cx="1865376" cy="310896"/>
          </a:xfrm>
          <a:prstGeom prst="rect">
            <a:avLst/>
          </a:prstGeom>
          <a:noFill/>
        </p:spPr>
        <p:txBody>
          <a:bodyPr wrap="square" anchor="ctr">
            <a:spAutoFit/>
          </a:bodyPr>
          <a:lstStyle/>
          <a:p>
            <a:pPr algn="r"/>
            <a:r>
              <a:rPr sz="1300" b="0">
                <a:solidFill>
                  <a:srgbClr val="1A1A1A"/>
                </a:solidFill>
                <a:latin typeface="Calibri"/>
              </a:rPr>
              <a:t>EUR 89.11</a:t>
            </a:r>
          </a:p>
        </p:txBody>
      </p:sp>
      <p:sp>
        <p:nvSpPr>
          <p:cNvPr id="38" name="TextBox 37"/>
          <p:cNvSpPr txBox="1"/>
          <p:nvPr/>
        </p:nvSpPr>
        <p:spPr>
          <a:xfrm>
            <a:off x="4480560" y="2852928"/>
            <a:ext cx="2596896" cy="310896"/>
          </a:xfrm>
          <a:prstGeom prst="rect">
            <a:avLst/>
          </a:prstGeom>
          <a:noFill/>
        </p:spPr>
        <p:txBody>
          <a:bodyPr wrap="square" anchor="ctr">
            <a:spAutoFit/>
          </a:bodyPr>
          <a:lstStyle/>
          <a:p>
            <a:pPr algn="r"/>
            <a:r>
              <a:rPr sz="1300" b="0">
                <a:solidFill>
                  <a:srgbClr val="1A1A1A"/>
                </a:solidFill>
                <a:latin typeface="Calibri"/>
              </a:rPr>
              <a:t>EUR 124.75</a:t>
            </a:r>
          </a:p>
        </p:txBody>
      </p:sp>
      <p:sp>
        <p:nvSpPr>
          <p:cNvPr id="39" name="TextBox 38"/>
          <p:cNvSpPr txBox="1"/>
          <p:nvPr/>
        </p:nvSpPr>
        <p:spPr>
          <a:xfrm>
            <a:off x="7223760" y="2852928"/>
            <a:ext cx="2414016" cy="310896"/>
          </a:xfrm>
          <a:prstGeom prst="rect">
            <a:avLst/>
          </a:prstGeom>
          <a:noFill/>
        </p:spPr>
        <p:txBody>
          <a:bodyPr wrap="square" anchor="ctr">
            <a:spAutoFit/>
          </a:bodyPr>
          <a:lstStyle/>
          <a:p>
            <a:pPr algn="r"/>
            <a:r>
              <a:rPr sz="1300" b="0">
                <a:solidFill>
                  <a:srgbClr val="1A1A1A"/>
                </a:solidFill>
                <a:latin typeface="Calibri"/>
              </a:rPr>
              <a:t>EUR 46.12</a:t>
            </a:r>
          </a:p>
        </p:txBody>
      </p:sp>
      <p:sp>
        <p:nvSpPr>
          <p:cNvPr id="40" name="TextBox 39"/>
          <p:cNvSpPr txBox="1"/>
          <p:nvPr/>
        </p:nvSpPr>
        <p:spPr>
          <a:xfrm>
            <a:off x="9784080" y="2852928"/>
            <a:ext cx="2048256" cy="310896"/>
          </a:xfrm>
          <a:prstGeom prst="rect">
            <a:avLst/>
          </a:prstGeom>
          <a:noFill/>
        </p:spPr>
        <p:txBody>
          <a:bodyPr wrap="square" anchor="ctr">
            <a:spAutoFit/>
          </a:bodyPr>
          <a:lstStyle/>
          <a:p>
            <a:pPr algn="r"/>
            <a:r>
              <a:rPr sz="1300" b="0">
                <a:solidFill>
                  <a:srgbClr val="1A1A1A"/>
                </a:solidFill>
                <a:latin typeface="Calibri"/>
              </a:rPr>
              <a:t>Well above</a:t>
            </a:r>
          </a:p>
        </p:txBody>
      </p:sp>
      <p:sp>
        <p:nvSpPr>
          <p:cNvPr id="41" name="Rectangle 40"/>
          <p:cNvSpPr/>
          <p:nvPr/>
        </p:nvSpPr>
        <p:spPr>
          <a:xfrm>
            <a:off x="292608" y="3163824"/>
            <a:ext cx="11612880" cy="9144"/>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65760" y="3163824"/>
            <a:ext cx="1956816" cy="310896"/>
          </a:xfrm>
          <a:prstGeom prst="rect">
            <a:avLst/>
          </a:prstGeom>
          <a:noFill/>
        </p:spPr>
        <p:txBody>
          <a:bodyPr wrap="square" anchor="ctr">
            <a:spAutoFit/>
          </a:bodyPr>
          <a:lstStyle/>
          <a:p>
            <a:pPr algn="l"/>
            <a:r>
              <a:rPr sz="1300" b="0">
                <a:solidFill>
                  <a:srgbClr val="1A1A1A"/>
                </a:solidFill>
                <a:latin typeface="Calibri"/>
              </a:rPr>
              <a:t>Clutch disc</a:t>
            </a:r>
          </a:p>
        </p:txBody>
      </p:sp>
      <p:sp>
        <p:nvSpPr>
          <p:cNvPr id="43" name="TextBox 42"/>
          <p:cNvSpPr txBox="1"/>
          <p:nvPr/>
        </p:nvSpPr>
        <p:spPr>
          <a:xfrm>
            <a:off x="2468880" y="3163824"/>
            <a:ext cx="1865376" cy="310896"/>
          </a:xfrm>
          <a:prstGeom prst="rect">
            <a:avLst/>
          </a:prstGeom>
          <a:noFill/>
        </p:spPr>
        <p:txBody>
          <a:bodyPr wrap="square" anchor="ctr">
            <a:spAutoFit/>
          </a:bodyPr>
          <a:lstStyle/>
          <a:p>
            <a:pPr algn="r"/>
            <a:r>
              <a:rPr sz="1300" b="0">
                <a:solidFill>
                  <a:srgbClr val="1A1A1A"/>
                </a:solidFill>
                <a:latin typeface="Calibri"/>
              </a:rPr>
              <a:t>EUR 84.47</a:t>
            </a:r>
          </a:p>
        </p:txBody>
      </p:sp>
      <p:sp>
        <p:nvSpPr>
          <p:cNvPr id="44" name="TextBox 43"/>
          <p:cNvSpPr txBox="1"/>
          <p:nvPr/>
        </p:nvSpPr>
        <p:spPr>
          <a:xfrm>
            <a:off x="4480560" y="3163824"/>
            <a:ext cx="2596896" cy="310896"/>
          </a:xfrm>
          <a:prstGeom prst="rect">
            <a:avLst/>
          </a:prstGeom>
          <a:noFill/>
        </p:spPr>
        <p:txBody>
          <a:bodyPr wrap="square" anchor="ctr">
            <a:spAutoFit/>
          </a:bodyPr>
          <a:lstStyle/>
          <a:p>
            <a:pPr algn="r"/>
            <a:r>
              <a:rPr sz="1300" b="0">
                <a:solidFill>
                  <a:srgbClr val="1A1A1A"/>
                </a:solidFill>
                <a:latin typeface="Calibri"/>
              </a:rPr>
              <a:t>EUR 118.26</a:t>
            </a:r>
          </a:p>
        </p:txBody>
      </p:sp>
      <p:sp>
        <p:nvSpPr>
          <p:cNvPr id="45" name="TextBox 44"/>
          <p:cNvSpPr txBox="1"/>
          <p:nvPr/>
        </p:nvSpPr>
        <p:spPr>
          <a:xfrm>
            <a:off x="7223760" y="3163824"/>
            <a:ext cx="2414016" cy="310896"/>
          </a:xfrm>
          <a:prstGeom prst="rect">
            <a:avLst/>
          </a:prstGeom>
          <a:noFill/>
        </p:spPr>
        <p:txBody>
          <a:bodyPr wrap="square" anchor="ctr">
            <a:spAutoFit/>
          </a:bodyPr>
          <a:lstStyle/>
          <a:p>
            <a:pPr algn="r"/>
            <a:r>
              <a:rPr sz="1300" b="0">
                <a:solidFill>
                  <a:srgbClr val="1A1A1A"/>
                </a:solidFill>
                <a:latin typeface="Calibri"/>
              </a:rPr>
              <a:t>EUR 284</a:t>
            </a:r>
          </a:p>
        </p:txBody>
      </p:sp>
      <p:sp>
        <p:nvSpPr>
          <p:cNvPr id="46" name="TextBox 45"/>
          <p:cNvSpPr txBox="1"/>
          <p:nvPr/>
        </p:nvSpPr>
        <p:spPr>
          <a:xfrm>
            <a:off x="9784080" y="3163824"/>
            <a:ext cx="2048256" cy="310896"/>
          </a:xfrm>
          <a:prstGeom prst="rect">
            <a:avLst/>
          </a:prstGeom>
          <a:noFill/>
        </p:spPr>
        <p:txBody>
          <a:bodyPr wrap="square" anchor="ctr">
            <a:spAutoFit/>
          </a:bodyPr>
          <a:lstStyle/>
          <a:p>
            <a:pPr algn="r"/>
            <a:r>
              <a:rPr sz="1300" b="0">
                <a:solidFill>
                  <a:srgbClr val="1A1A1A"/>
                </a:solidFill>
                <a:latin typeface="Calibri"/>
              </a:rPr>
              <a:t>Below</a:t>
            </a:r>
          </a:p>
        </p:txBody>
      </p:sp>
      <p:sp>
        <p:nvSpPr>
          <p:cNvPr id="47" name="Rectangle 46"/>
          <p:cNvSpPr/>
          <p:nvPr/>
        </p:nvSpPr>
        <p:spPr>
          <a:xfrm>
            <a:off x="292608" y="3474720"/>
            <a:ext cx="11612880" cy="9144"/>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292608" y="3584448"/>
            <a:ext cx="3749039" cy="1874519"/>
          </a:xfrm>
          <a:prstGeom prst="rect">
            <a:avLst/>
          </a:prstGeom>
          <a:noFill/>
          <a:ln w="9525">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38912" y="3694176"/>
            <a:ext cx="3456431" cy="292608"/>
          </a:xfrm>
          <a:prstGeom prst="rect">
            <a:avLst/>
          </a:prstGeom>
          <a:noFill/>
        </p:spPr>
        <p:txBody>
          <a:bodyPr wrap="square">
            <a:spAutoFit/>
          </a:bodyPr>
          <a:lstStyle/>
          <a:p>
            <a:pPr algn="l"/>
            <a:r>
              <a:rPr sz="1400" b="1">
                <a:solidFill>
                  <a:srgbClr val="1A1A1A"/>
                </a:solidFill>
                <a:latin typeface="Calibri"/>
              </a:rPr>
              <a:t>Above</a:t>
            </a:r>
          </a:p>
        </p:txBody>
      </p:sp>
      <p:sp>
        <p:nvSpPr>
          <p:cNvPr id="50" name="TextBox 49"/>
          <p:cNvSpPr txBox="1"/>
          <p:nvPr/>
        </p:nvSpPr>
        <p:spPr>
          <a:xfrm>
            <a:off x="438912" y="4005072"/>
            <a:ext cx="3456431" cy="1344167"/>
          </a:xfrm>
          <a:prstGeom prst="rect">
            <a:avLst/>
          </a:prstGeom>
          <a:noFill/>
        </p:spPr>
        <p:txBody>
          <a:bodyPr wrap="square">
            <a:spAutoFit/>
          </a:bodyPr>
          <a:lstStyle/>
          <a:p>
            <a:pPr algn="l"/>
            <a:r>
              <a:rPr sz="1300" b="0">
                <a:solidFill>
                  <a:srgbClr val="1A1A1A"/>
                </a:solidFill>
                <a:latin typeface="Calibri"/>
              </a:rPr>
              <a:t>Oil and fuel sit above aftermarket at the dealer step, and close.</a:t>
            </a:r>
          </a:p>
        </p:txBody>
      </p:sp>
      <p:sp>
        <p:nvSpPr>
          <p:cNvPr id="51" name="Rectangle 50"/>
          <p:cNvSpPr/>
          <p:nvPr/>
        </p:nvSpPr>
        <p:spPr>
          <a:xfrm>
            <a:off x="4224528" y="3584448"/>
            <a:ext cx="3749039" cy="1874519"/>
          </a:xfrm>
          <a:prstGeom prst="rect">
            <a:avLst/>
          </a:prstGeom>
          <a:noFill/>
          <a:ln w="9525">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370832" y="3694176"/>
            <a:ext cx="3456431" cy="292608"/>
          </a:xfrm>
          <a:prstGeom prst="rect">
            <a:avLst/>
          </a:prstGeom>
          <a:noFill/>
        </p:spPr>
        <p:txBody>
          <a:bodyPr wrap="square">
            <a:spAutoFit/>
          </a:bodyPr>
          <a:lstStyle/>
          <a:p>
            <a:pPr algn="l"/>
            <a:r>
              <a:rPr sz="1400" b="1">
                <a:solidFill>
                  <a:srgbClr val="1A1A1A"/>
                </a:solidFill>
                <a:latin typeface="Calibri"/>
              </a:rPr>
              <a:t>In line</a:t>
            </a:r>
          </a:p>
        </p:txBody>
      </p:sp>
      <p:sp>
        <p:nvSpPr>
          <p:cNvPr id="53" name="TextBox 52"/>
          <p:cNvSpPr txBox="1"/>
          <p:nvPr/>
        </p:nvSpPr>
        <p:spPr>
          <a:xfrm>
            <a:off x="4370832" y="4005072"/>
            <a:ext cx="3456431" cy="1344167"/>
          </a:xfrm>
          <a:prstGeom prst="rect">
            <a:avLst/>
          </a:prstGeom>
          <a:noFill/>
        </p:spPr>
        <p:txBody>
          <a:bodyPr wrap="square">
            <a:spAutoFit/>
          </a:bodyPr>
          <a:lstStyle/>
          <a:p>
            <a:pPr algn="l"/>
            <a:r>
              <a:rPr sz="1300" b="0">
                <a:solidFill>
                  <a:srgbClr val="1A1A1A"/>
                </a:solidFill>
                <a:latin typeface="Calibri"/>
              </a:rPr>
              <a:t>Air is in line with aftermarket at the same step.</a:t>
            </a:r>
          </a:p>
        </p:txBody>
      </p:sp>
      <p:sp>
        <p:nvSpPr>
          <p:cNvPr id="54" name="Rectangle 53"/>
          <p:cNvSpPr/>
          <p:nvPr/>
        </p:nvSpPr>
        <p:spPr>
          <a:xfrm>
            <a:off x="8156448" y="3584448"/>
            <a:ext cx="3749039" cy="1874519"/>
          </a:xfrm>
          <a:prstGeom prst="rect">
            <a:avLst/>
          </a:prstGeom>
          <a:noFill/>
          <a:ln w="9525">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302752" y="3694176"/>
            <a:ext cx="3456431" cy="292608"/>
          </a:xfrm>
          <a:prstGeom prst="rect">
            <a:avLst/>
          </a:prstGeom>
          <a:noFill/>
        </p:spPr>
        <p:txBody>
          <a:bodyPr wrap="square">
            <a:spAutoFit/>
          </a:bodyPr>
          <a:lstStyle/>
          <a:p>
            <a:pPr algn="l"/>
            <a:r>
              <a:rPr sz="1400" b="1">
                <a:solidFill>
                  <a:srgbClr val="1A1A1A"/>
                </a:solidFill>
                <a:latin typeface="Calibri"/>
              </a:rPr>
              <a:t>Well above</a:t>
            </a:r>
          </a:p>
        </p:txBody>
      </p:sp>
      <p:sp>
        <p:nvSpPr>
          <p:cNvPr id="56" name="TextBox 55"/>
          <p:cNvSpPr txBox="1"/>
          <p:nvPr/>
        </p:nvSpPr>
        <p:spPr>
          <a:xfrm>
            <a:off x="8302752" y="4005072"/>
            <a:ext cx="3456431" cy="1344167"/>
          </a:xfrm>
          <a:prstGeom prst="rect">
            <a:avLst/>
          </a:prstGeom>
          <a:noFill/>
        </p:spPr>
        <p:txBody>
          <a:bodyPr wrap="square">
            <a:spAutoFit/>
          </a:bodyPr>
          <a:lstStyle/>
          <a:p>
            <a:pPr algn="l"/>
            <a:r>
              <a:rPr sz="1300" b="0">
                <a:solidFill>
                  <a:srgbClr val="1A1A1A"/>
                </a:solidFill>
                <a:latin typeface="Calibri"/>
              </a:rPr>
              <a:t>The pad is well above aftermarket. That is the line to discuss.</a:t>
            </a:r>
          </a:p>
        </p:txBody>
      </p:sp>
      <p:sp>
        <p:nvSpPr>
          <p:cNvPr id="57" name="TextBox 56"/>
          <p:cNvSpPr txBox="1"/>
          <p:nvPr/>
        </p:nvSpPr>
        <p:spPr>
          <a:xfrm>
            <a:off x="292608" y="5577840"/>
            <a:ext cx="11612880" cy="365760"/>
          </a:xfrm>
          <a:prstGeom prst="rect">
            <a:avLst/>
          </a:prstGeom>
          <a:noFill/>
        </p:spPr>
        <p:txBody>
          <a:bodyPr wrap="square">
            <a:spAutoFit/>
          </a:bodyPr>
          <a:lstStyle/>
          <a:p>
            <a:pPr algn="l"/>
            <a:r>
              <a:rPr sz="1300" b="0">
                <a:solidFill>
                  <a:srgbClr val="222222"/>
                </a:solidFill>
                <a:latin typeface="Calibri"/>
              </a:rPr>
              <a:t>ISZE to ITUK is shown so the buy-in is visible. The read uses only projected ITUK to dealers versus aftermarket. Projected is ISZE to ITUK times 1.40.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suzu_logo_red.png"/>
          <p:cNvPicPr>
            <a:picLocks noChangeAspect="1"/>
          </p:cNvPicPr>
          <p:nvPr/>
        </p:nvPicPr>
        <p:blipFill>
          <a:blip r:embed="rId2"/>
          <a:stretch>
            <a:fillRect/>
          </a:stretch>
        </p:blipFill>
        <p:spPr>
          <a:xfrm>
            <a:off x="4631436" y="868680"/>
            <a:ext cx="2926080" cy="509704"/>
          </a:xfrm>
          <a:prstGeom prst="rect">
            <a:avLst/>
          </a:prstGeom>
        </p:spPr>
      </p:pic>
      <p:sp>
        <p:nvSpPr>
          <p:cNvPr id="3" name="TextBox 2"/>
          <p:cNvSpPr txBox="1"/>
          <p:nvPr/>
        </p:nvSpPr>
        <p:spPr>
          <a:xfrm>
            <a:off x="640080" y="1737360"/>
            <a:ext cx="10881360" cy="457200"/>
          </a:xfrm>
          <a:prstGeom prst="rect">
            <a:avLst/>
          </a:prstGeom>
          <a:noFill/>
        </p:spPr>
        <p:txBody>
          <a:bodyPr wrap="square">
            <a:spAutoFit/>
          </a:bodyPr>
          <a:lstStyle/>
          <a:p>
            <a:pPr algn="ctr"/>
            <a:r>
              <a:rPr sz="2800" b="1">
                <a:solidFill>
                  <a:srgbClr val="1A1A1A"/>
                </a:solidFill>
                <a:latin typeface="Calibri"/>
              </a:rPr>
              <a:t>October. N75 first.</a:t>
            </a:r>
          </a:p>
        </p:txBody>
      </p:sp>
      <p:pic>
        <p:nvPicPr>
          <p:cNvPr id="4" name="Picture 3" descr="P700_Isuzu_Motors_Nseries_2023.jpg"/>
          <p:cNvPicPr>
            <a:picLocks noChangeAspect="1"/>
          </p:cNvPicPr>
          <p:nvPr/>
        </p:nvPicPr>
        <p:blipFill>
          <a:blip r:embed="rId3"/>
          <a:stretch>
            <a:fillRect/>
          </a:stretch>
        </p:blipFill>
        <p:spPr>
          <a:xfrm>
            <a:off x="3437989" y="2286000"/>
            <a:ext cx="5285541" cy="3246120"/>
          </a:xfrm>
          <a:prstGeom prst="rect">
            <a:avLst/>
          </a:prstGeom>
        </p:spPr>
      </p:pic>
      <p:sp>
        <p:nvSpPr>
          <p:cNvPr id="5" name="TextBox 4"/>
          <p:cNvSpPr txBox="1"/>
          <p:nvPr/>
        </p:nvSpPr>
        <p:spPr>
          <a:xfrm>
            <a:off x="640080" y="5623560"/>
            <a:ext cx="10881360" cy="292608"/>
          </a:xfrm>
          <a:prstGeom prst="rect">
            <a:avLst/>
          </a:prstGeom>
          <a:noFill/>
        </p:spPr>
        <p:txBody>
          <a:bodyPr wrap="square">
            <a:spAutoFit/>
          </a:bodyPr>
          <a:lstStyle/>
          <a:p>
            <a:pPr algn="ctr"/>
            <a:r>
              <a:rPr sz="1400" b="0">
                <a:solidFill>
                  <a:srgbClr val="222222"/>
                </a:solidFill>
                <a:latin typeface="Calibri"/>
              </a:rPr>
              <a:t>P700</a:t>
            </a:r>
          </a:p>
        </p:txBody>
      </p:sp>
      <p:sp>
        <p:nvSpPr>
          <p:cNvPr id="6" name="Rectangle 5"/>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