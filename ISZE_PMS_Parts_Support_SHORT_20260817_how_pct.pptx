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N75 first. Oil and fuel are the core. Air is the attach. Genuine first, unless a lower genuine SPA or a BVP is the better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Same map as the ITUK pack. Our figures on it.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is N75 fleet, 40,000 km, scheduled PMS only. Do not manufacture extra visits.</a:t>
            </a:r>
          </a:p>
        </p:txBody>
      </p:sp>
      <p:sp>
        <p:nvSpPr>
          <p:cNvPr id="10" name="Rounded Rectangle 9"/>
          <p:cNvSpPr/>
          <p:nvPr/>
        </p:nvSpPr>
        <p:spPr>
          <a:xfrm>
            <a:off x="438912"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Oil + fuel</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Core pack</a:t>
            </a:r>
          </a:p>
        </p:txBody>
      </p:sp>
      <p:sp>
        <p:nvSpPr>
          <p:cNvPr id="14" name="TextBox 13"/>
          <p:cNvSpPr txBox="1"/>
          <p:nvPr/>
        </p:nvSpPr>
        <p:spPr>
          <a:xfrm>
            <a:off x="585216" y="2231136"/>
            <a:ext cx="2450592" cy="3282696"/>
          </a:xfrm>
          <a:prstGeom prst="rect">
            <a:avLst/>
          </a:prstGeom>
          <a:noFill/>
        </p:spPr>
        <p:txBody>
          <a:bodyPr wrap="square" anchor="t">
            <a:spAutoFit/>
          </a:bodyPr>
          <a:lstStyle/>
          <a:p>
            <a:pPr algn="l"/>
            <a:r>
              <a:rPr sz="1200" b="0">
                <a:solidFill>
                  <a:srgbClr val="344251"/>
                </a:solidFill>
                <a:latin typeface="Calibri"/>
              </a:rPr>
              <a:t>Oil and fuel sit on every scheduled service. Fuel cover is already 95 percent to dealers. Oil BVP is already moving. Oil stays on the set. It is not a separate push.</a:t>
            </a:r>
          </a:p>
        </p:txBody>
      </p:sp>
      <p:sp>
        <p:nvSpPr>
          <p:cNvPr id="15" name="Rounded Rectangle 14"/>
          <p:cNvSpPr/>
          <p:nvPr/>
        </p:nvSpPr>
        <p:spPr>
          <a:xfrm>
            <a:off x="3328416"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Air filter</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Primary attach</a:t>
            </a:r>
          </a:p>
        </p:txBody>
      </p:sp>
      <p:sp>
        <p:nvSpPr>
          <p:cNvPr id="19" name="TextBox 18"/>
          <p:cNvSpPr txBox="1"/>
          <p:nvPr/>
        </p:nvSpPr>
        <p:spPr>
          <a:xfrm>
            <a:off x="3474720" y="2231136"/>
            <a:ext cx="2450592" cy="3282696"/>
          </a:xfrm>
          <a:prstGeom prst="rect">
            <a:avLst/>
          </a:prstGeom>
          <a:noFill/>
        </p:spPr>
        <p:txBody>
          <a:bodyPr wrap="square" anchor="t">
            <a:spAutoFit/>
          </a:bodyPr>
          <a:lstStyle/>
          <a:p>
            <a:pPr algn="l"/>
            <a:r>
              <a:rPr sz="1200" b="0">
                <a:solidFill>
                  <a:srgbClr val="344251"/>
                </a:solidFill>
                <a:latin typeface="Calibri"/>
              </a:rPr>
              <a:t>Promote inclusion when the service menu requires it. Cover is 20 percent. That is the hole on the visit we already have.</a:t>
            </a:r>
          </a:p>
        </p:txBody>
      </p:sp>
      <p:sp>
        <p:nvSpPr>
          <p:cNvPr id="20" name="Rounded Rectangle 19"/>
          <p:cNvSpPr/>
          <p:nvPr/>
        </p:nvSpPr>
        <p:spPr>
          <a:xfrm>
            <a:off x="6217920"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Brakes</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Condition-based</a:t>
            </a:r>
          </a:p>
        </p:txBody>
      </p:sp>
      <p:sp>
        <p:nvSpPr>
          <p:cNvPr id="24" name="TextBox 23"/>
          <p:cNvSpPr txBox="1"/>
          <p:nvPr/>
        </p:nvSpPr>
        <p:spPr>
          <a:xfrm>
            <a:off x="6364224" y="2231136"/>
            <a:ext cx="2450592" cy="3282696"/>
          </a:xfrm>
          <a:prstGeom prst="rect">
            <a:avLst/>
          </a:prstGeom>
          <a:noFill/>
        </p:spPr>
        <p:txBody>
          <a:bodyPr wrap="square" anchor="t">
            <a:spAutoFit/>
          </a:bodyPr>
          <a:lstStyle/>
          <a:p>
            <a:pPr algn="l"/>
            <a:r>
              <a:rPr sz="1200" b="0">
                <a:solidFill>
                  <a:srgbClr val="344251"/>
                </a:solidFill>
                <a:latin typeface="Calibri"/>
              </a:rPr>
              <a:t>No volume push. Supply when the job needs it. Pad cover about 51 percent. No BVP on the R90 pad. SPA only if price is the barrier.</a:t>
            </a:r>
          </a:p>
        </p:txBody>
      </p:sp>
      <p:sp>
        <p:nvSpPr>
          <p:cNvPr id="25" name="Rounded Rectangle 24"/>
          <p:cNvSpPr/>
          <p:nvPr/>
        </p:nvSpPr>
        <p:spPr>
          <a:xfrm>
            <a:off x="9107424" y="1481328"/>
            <a:ext cx="2743200" cy="4160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VIN / manual</a:t>
            </a:r>
          </a:p>
        </p:txBody>
      </p:sp>
      <p:sp>
        <p:nvSpPr>
          <p:cNvPr id="29" name="TextBox 28"/>
          <p:cNvSpPr txBox="1"/>
          <p:nvPr/>
        </p:nvSpPr>
        <p:spPr>
          <a:xfrm>
            <a:off x="9253728" y="2231136"/>
            <a:ext cx="2450592" cy="3282696"/>
          </a:xfrm>
          <a:prstGeom prst="rect">
            <a:avLst/>
          </a:prstGeom>
          <a:noFill/>
        </p:spPr>
        <p:txBody>
          <a:bodyPr wrap="square" anchor="t">
            <a:spAutoFit/>
          </a:bodyPr>
          <a:lstStyle/>
          <a:p>
            <a:pPr algn="l"/>
            <a:r>
              <a:rPr sz="1200" b="0">
                <a:solidFill>
                  <a:srgbClr val="344251"/>
                </a:solidFill>
                <a:latin typeface="Calibri"/>
              </a:rPr>
              <a:t>No broad push. Kit 5876102320, manuals only. Planning share 47 percent until a transmission file exists.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extra point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368 extra units  ·  about EUR 7,530 at ISZE to ITUK</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Same mix as today. 56 part numbers. 36,843 units in the year.</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Not 117 extra complete services. Not filters only. Brake is 42 percent of that euro.</a:t>
            </a:r>
          </a:p>
        </p:txBody>
      </p:sp>
      <p:sp>
        <p:nvSpPr>
          <p:cNvPr id="16" name="Rectangle 15"/>
          <p:cNvSpPr/>
          <p:nvPr/>
        </p:nvSpPr>
        <p:spPr>
          <a:xfrm>
            <a:off x="438912" y="365760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657600"/>
            <a:ext cx="5522976" cy="329184"/>
          </a:xfrm>
          <a:prstGeom prst="rect">
            <a:avLst/>
          </a:prstGeom>
          <a:noFill/>
        </p:spPr>
        <p:txBody>
          <a:bodyPr wrap="square" anchor="ctr">
            <a:spAutoFit/>
          </a:bodyPr>
          <a:lstStyle/>
          <a:p>
            <a:pPr algn="l"/>
            <a:r>
              <a:rPr sz="1100" b="1">
                <a:solidFill>
                  <a:srgbClr val="FFFFFF"/>
                </a:solidFill>
                <a:latin typeface="Calibri"/>
              </a:rPr>
              <a:t>Family</a:t>
            </a:r>
          </a:p>
        </p:txBody>
      </p:sp>
      <p:sp>
        <p:nvSpPr>
          <p:cNvPr id="18" name="TextBox 17"/>
          <p:cNvSpPr txBox="1"/>
          <p:nvPr/>
        </p:nvSpPr>
        <p:spPr>
          <a:xfrm>
            <a:off x="6199632" y="3657600"/>
            <a:ext cx="2697480" cy="329184"/>
          </a:xfrm>
          <a:prstGeom prst="rect">
            <a:avLst/>
          </a:prstGeom>
          <a:noFill/>
        </p:spPr>
        <p:txBody>
          <a:bodyPr wrap="square" anchor="ctr">
            <a:spAutoFit/>
          </a:bodyPr>
          <a:lstStyle/>
          <a:p>
            <a:pPr algn="r"/>
            <a:r>
              <a:rPr sz="1100" b="1">
                <a:solidFill>
                  <a:srgbClr val="FFFFFF"/>
                </a:solidFill>
                <a:latin typeface="Calibri"/>
              </a:rPr>
              <a:t>1% units</a:t>
            </a:r>
          </a:p>
        </p:txBody>
      </p:sp>
      <p:sp>
        <p:nvSpPr>
          <p:cNvPr id="19" name="TextBox 18"/>
          <p:cNvSpPr txBox="1"/>
          <p:nvPr/>
        </p:nvSpPr>
        <p:spPr>
          <a:xfrm>
            <a:off x="9043416" y="3657600"/>
            <a:ext cx="2697480" cy="329184"/>
          </a:xfrm>
          <a:prstGeom prst="rect">
            <a:avLst/>
          </a:prstGeom>
          <a:noFill/>
        </p:spPr>
        <p:txBody>
          <a:bodyPr wrap="square" anchor="ctr">
            <a:spAutoFit/>
          </a:bodyPr>
          <a:lstStyle/>
          <a:p>
            <a:pPr algn="r"/>
            <a:r>
              <a:rPr sz="1100" b="1">
                <a:solidFill>
                  <a:srgbClr val="FFFFFF"/>
                </a:solidFill>
                <a:latin typeface="Calibri"/>
              </a:rPr>
              <a:t>1% EUR</a:t>
            </a:r>
          </a:p>
        </p:txBody>
      </p:sp>
      <p:sp>
        <p:nvSpPr>
          <p:cNvPr id="20" name="TextBox 19"/>
          <p:cNvSpPr txBox="1"/>
          <p:nvPr/>
        </p:nvSpPr>
        <p:spPr>
          <a:xfrm>
            <a:off x="530352" y="3986784"/>
            <a:ext cx="5522976" cy="347472"/>
          </a:xfrm>
          <a:prstGeom prst="rect">
            <a:avLst/>
          </a:prstGeom>
          <a:noFill/>
        </p:spPr>
        <p:txBody>
          <a:bodyPr wrap="square" anchor="ctr">
            <a:spAutoFit/>
          </a:bodyPr>
          <a:lstStyle/>
          <a:p>
            <a:pPr algn="l"/>
            <a:r>
              <a:rPr sz="1300" b="1">
                <a:solidFill>
                  <a:srgbClr val="1B2733"/>
                </a:solidFill>
                <a:latin typeface="Calibri"/>
              </a:rPr>
              <a:t>Fuel</a:t>
            </a:r>
          </a:p>
        </p:txBody>
      </p:sp>
      <p:sp>
        <p:nvSpPr>
          <p:cNvPr id="21" name="TextBox 20"/>
          <p:cNvSpPr txBox="1"/>
          <p:nvPr/>
        </p:nvSpPr>
        <p:spPr>
          <a:xfrm>
            <a:off x="6199632" y="3986784"/>
            <a:ext cx="2697480" cy="347472"/>
          </a:xfrm>
          <a:prstGeom prst="rect">
            <a:avLst/>
          </a:prstGeom>
          <a:noFill/>
        </p:spPr>
        <p:txBody>
          <a:bodyPr wrap="square" anchor="ctr">
            <a:spAutoFit/>
          </a:bodyPr>
          <a:lstStyle/>
          <a:p>
            <a:pPr algn="r"/>
            <a:r>
              <a:rPr sz="1300" b="0">
                <a:solidFill>
                  <a:srgbClr val="344251"/>
                </a:solidFill>
                <a:latin typeface="Calibri"/>
              </a:rPr>
              <a:t>180</a:t>
            </a:r>
          </a:p>
        </p:txBody>
      </p:sp>
      <p:sp>
        <p:nvSpPr>
          <p:cNvPr id="22" name="TextBox 21"/>
          <p:cNvSpPr txBox="1"/>
          <p:nvPr/>
        </p:nvSpPr>
        <p:spPr>
          <a:xfrm>
            <a:off x="9043416" y="3986784"/>
            <a:ext cx="2697480" cy="347472"/>
          </a:xfrm>
          <a:prstGeom prst="rect">
            <a:avLst/>
          </a:prstGeom>
          <a:noFill/>
        </p:spPr>
        <p:txBody>
          <a:bodyPr wrap="square" anchor="ctr">
            <a:spAutoFit/>
          </a:bodyPr>
          <a:lstStyle/>
          <a:p>
            <a:pPr algn="r"/>
            <a:r>
              <a:rPr sz="1300" b="0">
                <a:solidFill>
                  <a:srgbClr val="344251"/>
                </a:solidFill>
                <a:latin typeface="Calibri"/>
              </a:rPr>
              <a:t>2,207</a:t>
            </a:r>
          </a:p>
        </p:txBody>
      </p:sp>
      <p:sp>
        <p:nvSpPr>
          <p:cNvPr id="23" name="Rectangle 22"/>
          <p:cNvSpPr/>
          <p:nvPr/>
        </p:nvSpPr>
        <p:spPr>
          <a:xfrm>
            <a:off x="438912" y="433425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4334256"/>
            <a:ext cx="5522976" cy="347472"/>
          </a:xfrm>
          <a:prstGeom prst="rect">
            <a:avLst/>
          </a:prstGeom>
          <a:noFill/>
        </p:spPr>
        <p:txBody>
          <a:bodyPr wrap="square" anchor="ctr">
            <a:spAutoFit/>
          </a:bodyPr>
          <a:lstStyle/>
          <a:p>
            <a:pPr algn="l"/>
            <a:r>
              <a:rPr sz="1300" b="1">
                <a:solidFill>
                  <a:srgbClr val="1B2733"/>
                </a:solidFill>
                <a:latin typeface="Calibri"/>
              </a:rPr>
              <a:t>Oil</a:t>
            </a:r>
          </a:p>
        </p:txBody>
      </p:sp>
      <p:sp>
        <p:nvSpPr>
          <p:cNvPr id="25" name="TextBox 24"/>
          <p:cNvSpPr txBox="1"/>
          <p:nvPr/>
        </p:nvSpPr>
        <p:spPr>
          <a:xfrm>
            <a:off x="6199632" y="4334256"/>
            <a:ext cx="2697480" cy="347472"/>
          </a:xfrm>
          <a:prstGeom prst="rect">
            <a:avLst/>
          </a:prstGeom>
          <a:noFill/>
        </p:spPr>
        <p:txBody>
          <a:bodyPr wrap="square" anchor="ctr">
            <a:spAutoFit/>
          </a:bodyPr>
          <a:lstStyle/>
          <a:p>
            <a:pPr algn="r"/>
            <a:r>
              <a:rPr sz="1300" b="0">
                <a:solidFill>
                  <a:srgbClr val="344251"/>
                </a:solidFill>
                <a:latin typeface="Calibri"/>
              </a:rPr>
              <a:t>112</a:t>
            </a:r>
          </a:p>
        </p:txBody>
      </p:sp>
      <p:sp>
        <p:nvSpPr>
          <p:cNvPr id="26" name="TextBox 25"/>
          <p:cNvSpPr txBox="1"/>
          <p:nvPr/>
        </p:nvSpPr>
        <p:spPr>
          <a:xfrm>
            <a:off x="9043416" y="4334256"/>
            <a:ext cx="2697480" cy="347472"/>
          </a:xfrm>
          <a:prstGeom prst="rect">
            <a:avLst/>
          </a:prstGeom>
          <a:noFill/>
        </p:spPr>
        <p:txBody>
          <a:bodyPr wrap="square" anchor="ctr">
            <a:spAutoFit/>
          </a:bodyPr>
          <a:lstStyle/>
          <a:p>
            <a:pPr algn="r"/>
            <a:r>
              <a:rPr sz="1300" b="0">
                <a:solidFill>
                  <a:srgbClr val="344251"/>
                </a:solidFill>
                <a:latin typeface="Calibri"/>
              </a:rPr>
              <a:t>774</a:t>
            </a:r>
          </a:p>
        </p:txBody>
      </p:sp>
      <p:sp>
        <p:nvSpPr>
          <p:cNvPr id="27" name="TextBox 26"/>
          <p:cNvSpPr txBox="1"/>
          <p:nvPr/>
        </p:nvSpPr>
        <p:spPr>
          <a:xfrm>
            <a:off x="530352" y="4681728"/>
            <a:ext cx="5522976" cy="347472"/>
          </a:xfrm>
          <a:prstGeom prst="rect">
            <a:avLst/>
          </a:prstGeom>
          <a:noFill/>
        </p:spPr>
        <p:txBody>
          <a:bodyPr wrap="square" anchor="ctr">
            <a:spAutoFit/>
          </a:bodyPr>
          <a:lstStyle/>
          <a:p>
            <a:pPr algn="l"/>
            <a:r>
              <a:rPr sz="1300" b="1">
                <a:solidFill>
                  <a:srgbClr val="1B2733"/>
                </a:solidFill>
                <a:latin typeface="Calibri"/>
              </a:rPr>
              <a:t>Brake</a:t>
            </a:r>
          </a:p>
        </p:txBody>
      </p:sp>
      <p:sp>
        <p:nvSpPr>
          <p:cNvPr id="28" name="TextBox 27"/>
          <p:cNvSpPr txBox="1"/>
          <p:nvPr/>
        </p:nvSpPr>
        <p:spPr>
          <a:xfrm>
            <a:off x="6199632" y="4681728"/>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29" name="TextBox 28"/>
          <p:cNvSpPr txBox="1"/>
          <p:nvPr/>
        </p:nvSpPr>
        <p:spPr>
          <a:xfrm>
            <a:off x="9043416" y="4681728"/>
            <a:ext cx="2697480" cy="347472"/>
          </a:xfrm>
          <a:prstGeom prst="rect">
            <a:avLst/>
          </a:prstGeom>
          <a:noFill/>
        </p:spPr>
        <p:txBody>
          <a:bodyPr wrap="square" anchor="ctr">
            <a:spAutoFit/>
          </a:bodyPr>
          <a:lstStyle/>
          <a:p>
            <a:pPr algn="r"/>
            <a:r>
              <a:rPr sz="1300" b="0">
                <a:solidFill>
                  <a:srgbClr val="344251"/>
                </a:solidFill>
                <a:latin typeface="Calibri"/>
              </a:rPr>
              <a:t>3,177</a:t>
            </a:r>
          </a:p>
        </p:txBody>
      </p:sp>
      <p:sp>
        <p:nvSpPr>
          <p:cNvPr id="30" name="Rectangle 29"/>
          <p:cNvSpPr/>
          <p:nvPr/>
        </p:nvSpPr>
        <p:spPr>
          <a:xfrm>
            <a:off x="438912" y="5029200"/>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5029200"/>
            <a:ext cx="5522976" cy="347472"/>
          </a:xfrm>
          <a:prstGeom prst="rect">
            <a:avLst/>
          </a:prstGeom>
          <a:noFill/>
        </p:spPr>
        <p:txBody>
          <a:bodyPr wrap="square" anchor="ctr">
            <a:spAutoFit/>
          </a:bodyPr>
          <a:lstStyle/>
          <a:p>
            <a:pPr algn="l"/>
            <a:r>
              <a:rPr sz="1300" b="1">
                <a:solidFill>
                  <a:srgbClr val="1B2733"/>
                </a:solidFill>
                <a:latin typeface="Calibri"/>
              </a:rPr>
              <a:t>Air</a:t>
            </a:r>
          </a:p>
        </p:txBody>
      </p:sp>
      <p:sp>
        <p:nvSpPr>
          <p:cNvPr id="32" name="TextBox 31"/>
          <p:cNvSpPr txBox="1"/>
          <p:nvPr/>
        </p:nvSpPr>
        <p:spPr>
          <a:xfrm>
            <a:off x="6199632" y="5029200"/>
            <a:ext cx="2697480" cy="347472"/>
          </a:xfrm>
          <a:prstGeom prst="rect">
            <a:avLst/>
          </a:prstGeom>
          <a:noFill/>
        </p:spPr>
        <p:txBody>
          <a:bodyPr wrap="square" anchor="ctr">
            <a:spAutoFit/>
          </a:bodyPr>
          <a:lstStyle/>
          <a:p>
            <a:pPr algn="r"/>
            <a:r>
              <a:rPr sz="1300" b="0">
                <a:solidFill>
                  <a:srgbClr val="344251"/>
                </a:solidFill>
                <a:latin typeface="Calibri"/>
              </a:rPr>
              <a:t>36</a:t>
            </a:r>
          </a:p>
        </p:txBody>
      </p:sp>
      <p:sp>
        <p:nvSpPr>
          <p:cNvPr id="33" name="TextBox 32"/>
          <p:cNvSpPr txBox="1"/>
          <p:nvPr/>
        </p:nvSpPr>
        <p:spPr>
          <a:xfrm>
            <a:off x="9043416" y="5029200"/>
            <a:ext cx="2697480" cy="347472"/>
          </a:xfrm>
          <a:prstGeom prst="rect">
            <a:avLst/>
          </a:prstGeom>
          <a:noFill/>
        </p:spPr>
        <p:txBody>
          <a:bodyPr wrap="square" anchor="ctr">
            <a:spAutoFit/>
          </a:bodyPr>
          <a:lstStyle/>
          <a:p>
            <a:pPr algn="r"/>
            <a:r>
              <a:rPr sz="1300" b="0">
                <a:solidFill>
                  <a:srgbClr val="344251"/>
                </a:solidFill>
                <a:latin typeface="Calibri"/>
              </a:rPr>
              <a:t>1,062</a:t>
            </a:r>
          </a:p>
        </p:txBody>
      </p:sp>
      <p:sp>
        <p:nvSpPr>
          <p:cNvPr id="34" name="TextBox 33"/>
          <p:cNvSpPr txBox="1"/>
          <p:nvPr/>
        </p:nvSpPr>
        <p:spPr>
          <a:xfrm>
            <a:off x="530352" y="5376672"/>
            <a:ext cx="5522976" cy="347472"/>
          </a:xfrm>
          <a:prstGeom prst="rect">
            <a:avLst/>
          </a:prstGeom>
          <a:noFill/>
        </p:spPr>
        <p:txBody>
          <a:bodyPr wrap="square" anchor="ctr">
            <a:spAutoFit/>
          </a:bodyPr>
          <a:lstStyle/>
          <a:p>
            <a:pPr algn="l"/>
            <a:r>
              <a:rPr sz="1300" b="1">
                <a:solidFill>
                  <a:srgbClr val="1B2733"/>
                </a:solidFill>
                <a:latin typeface="Calibri"/>
              </a:rPr>
              <a:t>Clutch</a:t>
            </a:r>
          </a:p>
        </p:txBody>
      </p:sp>
      <p:sp>
        <p:nvSpPr>
          <p:cNvPr id="35" name="TextBox 34"/>
          <p:cNvSpPr txBox="1"/>
          <p:nvPr/>
        </p:nvSpPr>
        <p:spPr>
          <a:xfrm>
            <a:off x="6199632" y="5376672"/>
            <a:ext cx="2697480" cy="347472"/>
          </a:xfrm>
          <a:prstGeom prst="rect">
            <a:avLst/>
          </a:prstGeom>
          <a:noFill/>
        </p:spPr>
        <p:txBody>
          <a:bodyPr wrap="square" anchor="ctr">
            <a:spAutoFit/>
          </a:bodyPr>
          <a:lstStyle/>
          <a:p>
            <a:pPr algn="r"/>
            <a:r>
              <a:rPr sz="1300" b="0">
                <a:solidFill>
                  <a:srgbClr val="344251"/>
                </a:solidFill>
                <a:latin typeface="Calibri"/>
              </a:rPr>
              <a:t>4</a:t>
            </a:r>
          </a:p>
        </p:txBody>
      </p:sp>
      <p:sp>
        <p:nvSpPr>
          <p:cNvPr id="36" name="TextBox 35"/>
          <p:cNvSpPr txBox="1"/>
          <p:nvPr/>
        </p:nvSpPr>
        <p:spPr>
          <a:xfrm>
            <a:off x="9043416" y="5376672"/>
            <a:ext cx="2697480" cy="347472"/>
          </a:xfrm>
          <a:prstGeom prst="rect">
            <a:avLst/>
          </a:prstGeom>
          <a:noFill/>
        </p:spPr>
        <p:txBody>
          <a:bodyPr wrap="square" anchor="ctr">
            <a:spAutoFit/>
          </a:bodyPr>
          <a:lstStyle/>
          <a:p>
            <a:pPr algn="r"/>
            <a:r>
              <a:rPr sz="1300" b="0">
                <a:solidFill>
                  <a:srgbClr val="344251"/>
                </a:solidFill>
                <a:latin typeface="Calibri"/>
              </a:rPr>
              <a:t>310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Sold quantity divided by the quantity expected from the IML schedule. 9,359 vehicles. 1.25 services a year. Expected oil, fuel and air: 11,699. Fuel is already at the N75 service level. Air is not.</a:t>
            </a:r>
          </a:p>
        </p:txBody>
      </p:sp>
      <p:pic>
        <p:nvPicPr>
          <p:cNvPr id="10" name="Picture 9" descr="cover.png"/>
          <p:cNvPicPr>
            <a:picLocks noChangeAspect="1"/>
          </p:cNvPicPr>
          <p:nvPr/>
        </p:nvPicPr>
        <p:blipFill>
          <a:blip r:embed="rId3"/>
          <a:stretch>
            <a:fillRect/>
          </a:stretch>
        </p:blipFill>
        <p:spPr>
          <a:xfrm>
            <a:off x="438912" y="1481328"/>
            <a:ext cx="11356848" cy="2606040"/>
          </a:xfrm>
          <a:prstGeom prst="rect">
            <a:avLst/>
          </a:prstGeom>
        </p:spPr>
      </p:pic>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5,404</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46.2%</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4,673</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39.9%</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11,139</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95.2%</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11,021</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94.2%</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2,289</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19.6%</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2,226</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19.0%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United Kingdom N75 registered in 2024. Both engine generations.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50,000 km a year, filter every 40,000 km.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x 1.25. Same expected quantity for oil, fuel and air. That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5,404</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46.2%</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4,673</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39.9%</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11,139</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95.2%</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2,289</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19.6%</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Same method on both layers. Pad cover uses 0.5 events a year, not 1.25. The +1% slide is different: it is 1% of actual 2025 mix, not 1% of expected services. Fuel 94% is versus N75 expected, not versus 22,389.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Pick the lower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Agreed with ITUK 17 August. BVP where genuine is not moving, unless an SPA on genuine comes in cheaper. On the set: genuine first, unless genuine is already cheaper than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already moves.</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Keep genuine. BVP twin exists if needed.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SPA on genuine if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BVP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Stays on the set. Not a separate push.</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when the job needs the pad.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457200"/>
          </a:xfrm>
          <a:prstGeom prst="rect">
            <a:avLst/>
          </a:prstGeom>
          <a:noFill/>
        </p:spPr>
        <p:txBody>
          <a:bodyPr wrap="square" anchor="t">
            <a:spAutoFit/>
          </a:bodyPr>
          <a:lstStyle/>
          <a:p>
            <a:pPr algn="l"/>
            <a:r>
              <a:rPr sz="1400" b="0">
                <a:solidFill>
                  <a:srgbClr val="344251"/>
                </a:solidFill>
                <a:latin typeface="Calibri"/>
              </a:rPr>
              <a:t>Genuine set first. BVP only if genuine does not take, or if genuine is not the lower price. Air is the large piece of the bar. That is the attach on a visit that already happens.</a:t>
            </a:r>
          </a:p>
        </p:txBody>
      </p:sp>
      <p:pic>
        <p:nvPicPr>
          <p:cNvPr id="10" name="Picture 9" descr="set.png"/>
          <p:cNvPicPr>
            <a:picLocks noChangeAspect="1"/>
          </p:cNvPicPr>
          <p:nvPr/>
        </p:nvPicPr>
        <p:blipFill>
          <a:blip r:embed="rId3"/>
          <a:stretch>
            <a:fillRect/>
          </a:stretch>
        </p:blipFill>
        <p:spPr>
          <a:xfrm>
            <a:off x="438912" y="1481328"/>
            <a:ext cx="11356848" cy="2395728"/>
          </a:xfrm>
          <a:prstGeom prst="rect">
            <a:avLst/>
          </a:prstGeom>
        </p:spPr>
      </p:pic>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r>
              <a:rPr sz="1100" b="1">
                <a:solidFill>
                  <a:srgbClr val="FFFFFF"/>
                </a:solidFill>
                <a:latin typeface="Calibri"/>
              </a:rPr>
              <a:t/>
            </a: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three lines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28" name="TextBox 27"/>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29" name="TextBox 28"/>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20.23</a:t>
            </a:r>
          </a:p>
        </p:txBody>
      </p:sp>
      <p:sp>
        <p:nvSpPr>
          <p:cNvPr id="30" name="TextBox 29"/>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17.58</a:t>
            </a:r>
          </a:p>
        </p:txBody>
      </p:sp>
      <p:sp>
        <p:nvSpPr>
          <p:cNvPr id="31" name="TextBox 30"/>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43.90</a:t>
            </a:r>
          </a:p>
        </p:txBody>
      </p:sp>
      <p:sp>
        <p:nvSpPr>
          <p:cNvPr id="32" name="TextBox 31"/>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81.72</a:t>
            </a:r>
          </a:p>
        </p:txBody>
      </p:sp>
      <p:sp>
        <p:nvSpPr>
          <p:cNvPr id="33" name="Rectangle 32"/>
          <p:cNvSpPr/>
          <p:nvPr/>
        </p:nvSpPr>
        <p:spPr>
          <a:xfrm>
            <a:off x="438912" y="5321808"/>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if needed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pad is well above aftermarket. Filters are close.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Management line: the pad is the problem. Filters are close. The clutch is not. Compare projected ITUK price to dealers with what a workshop pays for the aftermarket part. Same step. ISZE to ITUK is shown so the chain is visible.</a:t>
            </a:r>
          </a:p>
        </p:txBody>
      </p:sp>
      <p:sp>
        <p:nvSpPr>
          <p:cNvPr id="10" name="Rectangle 9"/>
          <p:cNvSpPr/>
          <p:nvPr/>
        </p:nvSpPr>
        <p:spPr>
          <a:xfrm>
            <a:off x="438912" y="1664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664208"/>
            <a:ext cx="2322576" cy="329184"/>
          </a:xfrm>
          <a:prstGeom prst="rect">
            <a:avLst/>
          </a:prstGeom>
          <a:noFill/>
        </p:spPr>
        <p:txBody>
          <a:bodyPr wrap="square" anchor="ctr">
            <a:spAutoFit/>
          </a:bodyPr>
          <a:lstStyle/>
          <a:p>
            <a:pPr algn="l"/>
            <a:r>
              <a:rPr sz="1100" b="1">
                <a:solidFill>
                  <a:srgbClr val="FFFFFF"/>
                </a:solidFill>
                <a:latin typeface="Calibri"/>
              </a:rPr>
              <a:t>Part</a:t>
            </a:r>
          </a:p>
        </p:txBody>
      </p:sp>
      <p:sp>
        <p:nvSpPr>
          <p:cNvPr id="12" name="TextBox 11"/>
          <p:cNvSpPr txBox="1"/>
          <p:nvPr/>
        </p:nvSpPr>
        <p:spPr>
          <a:xfrm>
            <a:off x="2999232" y="1664208"/>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3" name="TextBox 12"/>
          <p:cNvSpPr txBox="1"/>
          <p:nvPr/>
        </p:nvSpPr>
        <p:spPr>
          <a:xfrm>
            <a:off x="5010912" y="1664208"/>
            <a:ext cx="2322576" cy="329184"/>
          </a:xfrm>
          <a:prstGeom prst="rect">
            <a:avLst/>
          </a:prstGeom>
          <a:noFill/>
        </p:spPr>
        <p:txBody>
          <a:bodyPr wrap="square" anchor="ctr">
            <a:spAutoFit/>
          </a:bodyPr>
          <a:lstStyle/>
          <a:p>
            <a:pPr algn="r"/>
            <a:r>
              <a:rPr sz="1100" b="1">
                <a:solidFill>
                  <a:srgbClr val="FFFFFF"/>
                </a:solidFill>
                <a:latin typeface="Calibri"/>
              </a:rPr>
              <a:t>Projected to dealers</a:t>
            </a:r>
          </a:p>
        </p:txBody>
      </p:sp>
      <p:sp>
        <p:nvSpPr>
          <p:cNvPr id="14" name="TextBox 13"/>
          <p:cNvSpPr txBox="1"/>
          <p:nvPr/>
        </p:nvSpPr>
        <p:spPr>
          <a:xfrm>
            <a:off x="7479792" y="1664208"/>
            <a:ext cx="2322576" cy="329184"/>
          </a:xfrm>
          <a:prstGeom prst="rect">
            <a:avLst/>
          </a:prstGeom>
          <a:noFill/>
        </p:spPr>
        <p:txBody>
          <a:bodyPr wrap="square" anchor="ctr">
            <a:spAutoFit/>
          </a:bodyPr>
          <a:lstStyle/>
          <a:p>
            <a:pPr algn="r"/>
            <a:r>
              <a:rPr sz="1100" b="1">
                <a:solidFill>
                  <a:srgbClr val="FFFFFF"/>
                </a:solidFill>
                <a:latin typeface="Calibri"/>
              </a:rPr>
              <a:t>Aftermarket workshop</a:t>
            </a:r>
          </a:p>
        </p:txBody>
      </p:sp>
      <p:sp>
        <p:nvSpPr>
          <p:cNvPr id="15" name="TextBox 14"/>
          <p:cNvSpPr txBox="1"/>
          <p:nvPr/>
        </p:nvSpPr>
        <p:spPr>
          <a:xfrm>
            <a:off x="9948672" y="1664208"/>
            <a:ext cx="1792224" cy="329184"/>
          </a:xfrm>
          <a:prstGeom prst="rect">
            <a:avLst/>
          </a:prstGeom>
          <a:noFill/>
        </p:spPr>
        <p:txBody>
          <a:bodyPr wrap="square" anchor="ctr">
            <a:spAutoFit/>
          </a:bodyPr>
          <a:lstStyle/>
          <a:p>
            <a:pPr algn="r"/>
            <a:r>
              <a:rPr sz="1100" b="1">
                <a:solidFill>
                  <a:srgbClr val="FFFFFF"/>
                </a:solidFill>
                <a:latin typeface="Calibri"/>
              </a:rPr>
              <a:t>Read</a:t>
            </a:r>
          </a:p>
        </p:txBody>
      </p:sp>
      <p:sp>
        <p:nvSpPr>
          <p:cNvPr id="16" name="TextBox 15"/>
          <p:cNvSpPr txBox="1"/>
          <p:nvPr/>
        </p:nvSpPr>
        <p:spPr>
          <a:xfrm>
            <a:off x="530352" y="1993392"/>
            <a:ext cx="2322576" cy="420624"/>
          </a:xfrm>
          <a:prstGeom prst="rect">
            <a:avLst/>
          </a:prstGeom>
          <a:noFill/>
        </p:spPr>
        <p:txBody>
          <a:bodyPr wrap="square" anchor="ctr">
            <a:spAutoFit/>
          </a:bodyPr>
          <a:lstStyle/>
          <a:p>
            <a:pPr algn="l"/>
            <a:r>
              <a:rPr sz="1300" b="1">
                <a:solidFill>
                  <a:srgbClr val="1B2733"/>
                </a:solidFill>
                <a:latin typeface="Calibri"/>
              </a:rPr>
              <a:t>Oil filter</a:t>
            </a:r>
          </a:p>
        </p:txBody>
      </p:sp>
      <p:sp>
        <p:nvSpPr>
          <p:cNvPr id="17" name="TextBox 16"/>
          <p:cNvSpPr txBox="1"/>
          <p:nvPr/>
        </p:nvSpPr>
        <p:spPr>
          <a:xfrm>
            <a:off x="2999232" y="1993392"/>
            <a:ext cx="1865376" cy="420624"/>
          </a:xfrm>
          <a:prstGeom prst="rect">
            <a:avLst/>
          </a:prstGeom>
          <a:noFill/>
        </p:spPr>
        <p:txBody>
          <a:bodyPr wrap="square" anchor="ctr">
            <a:spAutoFit/>
          </a:bodyPr>
          <a:lstStyle/>
          <a:p>
            <a:pPr algn="r"/>
            <a:r>
              <a:rPr sz="1300" b="0">
                <a:solidFill>
                  <a:srgbClr val="344251"/>
                </a:solidFill>
                <a:latin typeface="Calibri"/>
              </a:rPr>
              <a:t>14.45</a:t>
            </a:r>
          </a:p>
        </p:txBody>
      </p:sp>
      <p:sp>
        <p:nvSpPr>
          <p:cNvPr id="18" name="TextBox 17"/>
          <p:cNvSpPr txBox="1"/>
          <p:nvPr/>
        </p:nvSpPr>
        <p:spPr>
          <a:xfrm>
            <a:off x="5010912" y="1993392"/>
            <a:ext cx="2322576" cy="420624"/>
          </a:xfrm>
          <a:prstGeom prst="rect">
            <a:avLst/>
          </a:prstGeom>
          <a:noFill/>
        </p:spPr>
        <p:txBody>
          <a:bodyPr wrap="square" anchor="ctr">
            <a:spAutoFit/>
          </a:bodyPr>
          <a:lstStyle/>
          <a:p>
            <a:pPr algn="r"/>
            <a:r>
              <a:rPr sz="1300" b="0">
                <a:solidFill>
                  <a:srgbClr val="344251"/>
                </a:solidFill>
                <a:latin typeface="Calibri"/>
              </a:rPr>
              <a:t>20.23</a:t>
            </a:r>
          </a:p>
        </p:txBody>
      </p:sp>
      <p:sp>
        <p:nvSpPr>
          <p:cNvPr id="19" name="TextBox 18"/>
          <p:cNvSpPr txBox="1"/>
          <p:nvPr/>
        </p:nvSpPr>
        <p:spPr>
          <a:xfrm>
            <a:off x="7479792" y="1993392"/>
            <a:ext cx="2322576" cy="420624"/>
          </a:xfrm>
          <a:prstGeom prst="rect">
            <a:avLst/>
          </a:prstGeom>
          <a:noFill/>
        </p:spPr>
        <p:txBody>
          <a:bodyPr wrap="square" anchor="ctr">
            <a:spAutoFit/>
          </a:bodyPr>
          <a:lstStyle/>
          <a:p>
            <a:pPr algn="r"/>
            <a:r>
              <a:rPr sz="1300" b="0">
                <a:solidFill>
                  <a:srgbClr val="344251"/>
                </a:solidFill>
                <a:latin typeface="Calibri"/>
              </a:rPr>
              <a:t>15.10</a:t>
            </a:r>
          </a:p>
        </p:txBody>
      </p:sp>
      <p:sp>
        <p:nvSpPr>
          <p:cNvPr id="20" name="TextBox 19"/>
          <p:cNvSpPr txBox="1"/>
          <p:nvPr/>
        </p:nvSpPr>
        <p:spPr>
          <a:xfrm>
            <a:off x="9948672" y="1993392"/>
            <a:ext cx="1792224" cy="420624"/>
          </a:xfrm>
          <a:prstGeom prst="rect">
            <a:avLst/>
          </a:prstGeom>
          <a:noFill/>
        </p:spPr>
        <p:txBody>
          <a:bodyPr wrap="square" anchor="ctr">
            <a:spAutoFit/>
          </a:bodyPr>
          <a:lstStyle/>
          <a:p>
            <a:pPr algn="r"/>
            <a:r>
              <a:rPr sz="1300" b="0">
                <a:solidFill>
                  <a:srgbClr val="344251"/>
                </a:solidFill>
                <a:latin typeface="Calibri"/>
              </a:rPr>
              <a:t>Above</a:t>
            </a:r>
          </a:p>
        </p:txBody>
      </p:sp>
      <p:sp>
        <p:nvSpPr>
          <p:cNvPr id="21" name="Rectangle 20"/>
          <p:cNvSpPr/>
          <p:nvPr/>
        </p:nvSpPr>
        <p:spPr>
          <a:xfrm>
            <a:off x="438912" y="2414016"/>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414016"/>
            <a:ext cx="2322576" cy="420624"/>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3" name="TextBox 22"/>
          <p:cNvSpPr txBox="1"/>
          <p:nvPr/>
        </p:nvSpPr>
        <p:spPr>
          <a:xfrm>
            <a:off x="2999232" y="2414016"/>
            <a:ext cx="1865376" cy="420624"/>
          </a:xfrm>
          <a:prstGeom prst="rect">
            <a:avLst/>
          </a:prstGeom>
          <a:noFill/>
        </p:spPr>
        <p:txBody>
          <a:bodyPr wrap="square" anchor="ctr">
            <a:spAutoFit/>
          </a:bodyPr>
          <a:lstStyle/>
          <a:p>
            <a:pPr algn="r"/>
            <a:r>
              <a:rPr sz="1300" b="0">
                <a:solidFill>
                  <a:srgbClr val="344251"/>
                </a:solidFill>
                <a:latin typeface="Calibri"/>
              </a:rPr>
              <a:t>12.56</a:t>
            </a:r>
          </a:p>
        </p:txBody>
      </p:sp>
      <p:sp>
        <p:nvSpPr>
          <p:cNvPr id="24" name="TextBox 23"/>
          <p:cNvSpPr txBox="1"/>
          <p:nvPr/>
        </p:nvSpPr>
        <p:spPr>
          <a:xfrm>
            <a:off x="5010912" y="2414016"/>
            <a:ext cx="2322576" cy="420624"/>
          </a:xfrm>
          <a:prstGeom prst="rect">
            <a:avLst/>
          </a:prstGeom>
          <a:noFill/>
        </p:spPr>
        <p:txBody>
          <a:bodyPr wrap="square" anchor="ctr">
            <a:spAutoFit/>
          </a:bodyPr>
          <a:lstStyle/>
          <a:p>
            <a:pPr algn="r"/>
            <a:r>
              <a:rPr sz="1300" b="0">
                <a:solidFill>
                  <a:srgbClr val="344251"/>
                </a:solidFill>
                <a:latin typeface="Calibri"/>
              </a:rPr>
              <a:t>17.58</a:t>
            </a:r>
          </a:p>
        </p:txBody>
      </p:sp>
      <p:sp>
        <p:nvSpPr>
          <p:cNvPr id="25" name="TextBox 24"/>
          <p:cNvSpPr txBox="1"/>
          <p:nvPr/>
        </p:nvSpPr>
        <p:spPr>
          <a:xfrm>
            <a:off x="7479792" y="2414016"/>
            <a:ext cx="2322576" cy="420624"/>
          </a:xfrm>
          <a:prstGeom prst="rect">
            <a:avLst/>
          </a:prstGeom>
          <a:noFill/>
        </p:spPr>
        <p:txBody>
          <a:bodyPr wrap="square" anchor="ctr">
            <a:spAutoFit/>
          </a:bodyPr>
          <a:lstStyle/>
          <a:p>
            <a:pPr algn="r"/>
            <a:r>
              <a:rPr sz="1300" b="0">
                <a:solidFill>
                  <a:srgbClr val="344251"/>
                </a:solidFill>
                <a:latin typeface="Calibri"/>
              </a:rPr>
              <a:t>14.45</a:t>
            </a:r>
          </a:p>
        </p:txBody>
      </p:sp>
      <p:sp>
        <p:nvSpPr>
          <p:cNvPr id="26" name="TextBox 25"/>
          <p:cNvSpPr txBox="1"/>
          <p:nvPr/>
        </p:nvSpPr>
        <p:spPr>
          <a:xfrm>
            <a:off x="9948672" y="2414016"/>
            <a:ext cx="1792224" cy="420624"/>
          </a:xfrm>
          <a:prstGeom prst="rect">
            <a:avLst/>
          </a:prstGeom>
          <a:noFill/>
        </p:spPr>
        <p:txBody>
          <a:bodyPr wrap="square" anchor="ctr">
            <a:spAutoFit/>
          </a:bodyPr>
          <a:lstStyle/>
          <a:p>
            <a:pPr algn="r"/>
            <a:r>
              <a:rPr sz="1300" b="0">
                <a:solidFill>
                  <a:srgbClr val="344251"/>
                </a:solidFill>
                <a:latin typeface="Calibri"/>
              </a:rPr>
              <a:t>Above</a:t>
            </a:r>
          </a:p>
        </p:txBody>
      </p:sp>
      <p:sp>
        <p:nvSpPr>
          <p:cNvPr id="27" name="TextBox 26"/>
          <p:cNvSpPr txBox="1"/>
          <p:nvPr/>
        </p:nvSpPr>
        <p:spPr>
          <a:xfrm>
            <a:off x="530352" y="2834640"/>
            <a:ext cx="2322576" cy="420624"/>
          </a:xfrm>
          <a:prstGeom prst="rect">
            <a:avLst/>
          </a:prstGeom>
          <a:noFill/>
        </p:spPr>
        <p:txBody>
          <a:bodyPr wrap="square" anchor="ctr">
            <a:spAutoFit/>
          </a:bodyPr>
          <a:lstStyle/>
          <a:p>
            <a:pPr algn="l"/>
            <a:r>
              <a:rPr sz="1300" b="1">
                <a:solidFill>
                  <a:srgbClr val="1B2733"/>
                </a:solidFill>
                <a:latin typeface="Calibri"/>
              </a:rPr>
              <a:t>Air filter</a:t>
            </a:r>
          </a:p>
        </p:txBody>
      </p:sp>
      <p:sp>
        <p:nvSpPr>
          <p:cNvPr id="28" name="TextBox 27"/>
          <p:cNvSpPr txBox="1"/>
          <p:nvPr/>
        </p:nvSpPr>
        <p:spPr>
          <a:xfrm>
            <a:off x="2999232" y="2834640"/>
            <a:ext cx="1865376" cy="420624"/>
          </a:xfrm>
          <a:prstGeom prst="rect">
            <a:avLst/>
          </a:prstGeom>
          <a:noFill/>
        </p:spPr>
        <p:txBody>
          <a:bodyPr wrap="square" anchor="ctr">
            <a:spAutoFit/>
          </a:bodyPr>
          <a:lstStyle/>
          <a:p>
            <a:pPr algn="r"/>
            <a:r>
              <a:rPr sz="1300" b="0">
                <a:solidFill>
                  <a:srgbClr val="344251"/>
                </a:solidFill>
                <a:latin typeface="Calibri"/>
              </a:rPr>
              <a:t>31.36</a:t>
            </a:r>
          </a:p>
        </p:txBody>
      </p:sp>
      <p:sp>
        <p:nvSpPr>
          <p:cNvPr id="29" name="TextBox 28"/>
          <p:cNvSpPr txBox="1"/>
          <p:nvPr/>
        </p:nvSpPr>
        <p:spPr>
          <a:xfrm>
            <a:off x="5010912" y="2834640"/>
            <a:ext cx="2322576" cy="420624"/>
          </a:xfrm>
          <a:prstGeom prst="rect">
            <a:avLst/>
          </a:prstGeom>
          <a:noFill/>
        </p:spPr>
        <p:txBody>
          <a:bodyPr wrap="square" anchor="ctr">
            <a:spAutoFit/>
          </a:bodyPr>
          <a:lstStyle/>
          <a:p>
            <a:pPr algn="r"/>
            <a:r>
              <a:rPr sz="1300" b="0">
                <a:solidFill>
                  <a:srgbClr val="344251"/>
                </a:solidFill>
                <a:latin typeface="Calibri"/>
              </a:rPr>
              <a:t>43.90</a:t>
            </a:r>
          </a:p>
        </p:txBody>
      </p:sp>
      <p:sp>
        <p:nvSpPr>
          <p:cNvPr id="30" name="TextBox 29"/>
          <p:cNvSpPr txBox="1"/>
          <p:nvPr/>
        </p:nvSpPr>
        <p:spPr>
          <a:xfrm>
            <a:off x="7479792" y="2834640"/>
            <a:ext cx="2322576" cy="420624"/>
          </a:xfrm>
          <a:prstGeom prst="rect">
            <a:avLst/>
          </a:prstGeom>
          <a:noFill/>
        </p:spPr>
        <p:txBody>
          <a:bodyPr wrap="square" anchor="ctr">
            <a:spAutoFit/>
          </a:bodyPr>
          <a:lstStyle/>
          <a:p>
            <a:pPr algn="r"/>
            <a:r>
              <a:rPr sz="1300" b="0">
                <a:solidFill>
                  <a:srgbClr val="344251"/>
                </a:solidFill>
                <a:latin typeface="Calibri"/>
              </a:rPr>
              <a:t>47.05</a:t>
            </a:r>
          </a:p>
        </p:txBody>
      </p:sp>
      <p:sp>
        <p:nvSpPr>
          <p:cNvPr id="31" name="TextBox 30"/>
          <p:cNvSpPr txBox="1"/>
          <p:nvPr/>
        </p:nvSpPr>
        <p:spPr>
          <a:xfrm>
            <a:off x="9948672" y="2834640"/>
            <a:ext cx="1792224" cy="420624"/>
          </a:xfrm>
          <a:prstGeom prst="rect">
            <a:avLst/>
          </a:prstGeom>
          <a:noFill/>
        </p:spPr>
        <p:txBody>
          <a:bodyPr wrap="square" anchor="ctr">
            <a:spAutoFit/>
          </a:bodyPr>
          <a:lstStyle/>
          <a:p>
            <a:pPr algn="r"/>
            <a:r>
              <a:rPr sz="1300" b="0">
                <a:solidFill>
                  <a:srgbClr val="344251"/>
                </a:solidFill>
                <a:latin typeface="Calibri"/>
              </a:rPr>
              <a:t>In line</a:t>
            </a:r>
          </a:p>
        </p:txBody>
      </p:sp>
      <p:sp>
        <p:nvSpPr>
          <p:cNvPr id="32" name="Rectangle 31"/>
          <p:cNvSpPr/>
          <p:nvPr/>
        </p:nvSpPr>
        <p:spPr>
          <a:xfrm>
            <a:off x="438912" y="3255264"/>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0352" y="3255264"/>
            <a:ext cx="2322576" cy="420624"/>
          </a:xfrm>
          <a:prstGeom prst="rect">
            <a:avLst/>
          </a:prstGeom>
          <a:noFill/>
        </p:spPr>
        <p:txBody>
          <a:bodyPr wrap="square" anchor="ctr">
            <a:spAutoFit/>
          </a:bodyPr>
          <a:lstStyle/>
          <a:p>
            <a:pPr algn="l"/>
            <a:r>
              <a:rPr sz="1300" b="1">
                <a:solidFill>
                  <a:srgbClr val="1B2733"/>
                </a:solidFill>
                <a:latin typeface="Calibri"/>
              </a:rPr>
              <a:t>Brake pad</a:t>
            </a:r>
          </a:p>
        </p:txBody>
      </p:sp>
      <p:sp>
        <p:nvSpPr>
          <p:cNvPr id="34" name="TextBox 33"/>
          <p:cNvSpPr txBox="1"/>
          <p:nvPr/>
        </p:nvSpPr>
        <p:spPr>
          <a:xfrm>
            <a:off x="2999232" y="3255264"/>
            <a:ext cx="1865376" cy="420624"/>
          </a:xfrm>
          <a:prstGeom prst="rect">
            <a:avLst/>
          </a:prstGeom>
          <a:noFill/>
        </p:spPr>
        <p:txBody>
          <a:bodyPr wrap="square" anchor="ctr">
            <a:spAutoFit/>
          </a:bodyPr>
          <a:lstStyle/>
          <a:p>
            <a:pPr algn="r"/>
            <a:r>
              <a:rPr sz="1300" b="0">
                <a:solidFill>
                  <a:srgbClr val="344251"/>
                </a:solidFill>
                <a:latin typeface="Calibri"/>
              </a:rPr>
              <a:t>89.11</a:t>
            </a:r>
          </a:p>
        </p:txBody>
      </p:sp>
      <p:sp>
        <p:nvSpPr>
          <p:cNvPr id="35" name="TextBox 34"/>
          <p:cNvSpPr txBox="1"/>
          <p:nvPr/>
        </p:nvSpPr>
        <p:spPr>
          <a:xfrm>
            <a:off x="5010912" y="3255264"/>
            <a:ext cx="2322576" cy="420624"/>
          </a:xfrm>
          <a:prstGeom prst="rect">
            <a:avLst/>
          </a:prstGeom>
          <a:noFill/>
        </p:spPr>
        <p:txBody>
          <a:bodyPr wrap="square" anchor="ctr">
            <a:spAutoFit/>
          </a:bodyPr>
          <a:lstStyle/>
          <a:p>
            <a:pPr algn="r"/>
            <a:r>
              <a:rPr sz="1300" b="0">
                <a:solidFill>
                  <a:srgbClr val="344251"/>
                </a:solidFill>
                <a:latin typeface="Calibri"/>
              </a:rPr>
              <a:t>124.75</a:t>
            </a:r>
          </a:p>
        </p:txBody>
      </p:sp>
      <p:sp>
        <p:nvSpPr>
          <p:cNvPr id="36" name="TextBox 35"/>
          <p:cNvSpPr txBox="1"/>
          <p:nvPr/>
        </p:nvSpPr>
        <p:spPr>
          <a:xfrm>
            <a:off x="7479792" y="3255264"/>
            <a:ext cx="2322576" cy="420624"/>
          </a:xfrm>
          <a:prstGeom prst="rect">
            <a:avLst/>
          </a:prstGeom>
          <a:noFill/>
        </p:spPr>
        <p:txBody>
          <a:bodyPr wrap="square" anchor="ctr">
            <a:spAutoFit/>
          </a:bodyPr>
          <a:lstStyle/>
          <a:p>
            <a:pPr algn="r"/>
            <a:r>
              <a:rPr sz="1300" b="0">
                <a:solidFill>
                  <a:srgbClr val="344251"/>
                </a:solidFill>
                <a:latin typeface="Calibri"/>
              </a:rPr>
              <a:t>46.12</a:t>
            </a:r>
          </a:p>
        </p:txBody>
      </p:sp>
      <p:sp>
        <p:nvSpPr>
          <p:cNvPr id="37" name="TextBox 36"/>
          <p:cNvSpPr txBox="1"/>
          <p:nvPr/>
        </p:nvSpPr>
        <p:spPr>
          <a:xfrm>
            <a:off x="9948672" y="3255264"/>
            <a:ext cx="1792224" cy="420624"/>
          </a:xfrm>
          <a:prstGeom prst="rect">
            <a:avLst/>
          </a:prstGeom>
          <a:noFill/>
        </p:spPr>
        <p:txBody>
          <a:bodyPr wrap="square" anchor="ctr">
            <a:spAutoFit/>
          </a:bodyPr>
          <a:lstStyle/>
          <a:p>
            <a:pPr algn="r"/>
            <a:r>
              <a:rPr sz="1300" b="0">
                <a:solidFill>
                  <a:srgbClr val="344251"/>
                </a:solidFill>
                <a:latin typeface="Calibri"/>
              </a:rPr>
              <a:t>Well above</a:t>
            </a:r>
          </a:p>
        </p:txBody>
      </p:sp>
      <p:sp>
        <p:nvSpPr>
          <p:cNvPr id="38" name="TextBox 37"/>
          <p:cNvSpPr txBox="1"/>
          <p:nvPr/>
        </p:nvSpPr>
        <p:spPr>
          <a:xfrm>
            <a:off x="530352" y="3675888"/>
            <a:ext cx="2322576" cy="420624"/>
          </a:xfrm>
          <a:prstGeom prst="rect">
            <a:avLst/>
          </a:prstGeom>
          <a:noFill/>
        </p:spPr>
        <p:txBody>
          <a:bodyPr wrap="square" anchor="ctr">
            <a:spAutoFit/>
          </a:bodyPr>
          <a:lstStyle/>
          <a:p>
            <a:pPr algn="l"/>
            <a:r>
              <a:rPr sz="1300" b="1">
                <a:solidFill>
                  <a:srgbClr val="1B2733"/>
                </a:solidFill>
                <a:latin typeface="Calibri"/>
              </a:rPr>
              <a:t>Clutch disc</a:t>
            </a:r>
          </a:p>
        </p:txBody>
      </p:sp>
      <p:sp>
        <p:nvSpPr>
          <p:cNvPr id="39" name="TextBox 38"/>
          <p:cNvSpPr txBox="1"/>
          <p:nvPr/>
        </p:nvSpPr>
        <p:spPr>
          <a:xfrm>
            <a:off x="2999232" y="3675888"/>
            <a:ext cx="1865376" cy="420624"/>
          </a:xfrm>
          <a:prstGeom prst="rect">
            <a:avLst/>
          </a:prstGeom>
          <a:noFill/>
        </p:spPr>
        <p:txBody>
          <a:bodyPr wrap="square" anchor="ctr">
            <a:spAutoFit/>
          </a:bodyPr>
          <a:lstStyle/>
          <a:p>
            <a:pPr algn="r"/>
            <a:r>
              <a:rPr sz="1300" b="0">
                <a:solidFill>
                  <a:srgbClr val="344251"/>
                </a:solidFill>
                <a:latin typeface="Calibri"/>
              </a:rPr>
              <a:t>84.47</a:t>
            </a:r>
          </a:p>
        </p:txBody>
      </p:sp>
      <p:sp>
        <p:nvSpPr>
          <p:cNvPr id="40" name="TextBox 39"/>
          <p:cNvSpPr txBox="1"/>
          <p:nvPr/>
        </p:nvSpPr>
        <p:spPr>
          <a:xfrm>
            <a:off x="5010912" y="3675888"/>
            <a:ext cx="2322576" cy="420624"/>
          </a:xfrm>
          <a:prstGeom prst="rect">
            <a:avLst/>
          </a:prstGeom>
          <a:noFill/>
        </p:spPr>
        <p:txBody>
          <a:bodyPr wrap="square" anchor="ctr">
            <a:spAutoFit/>
          </a:bodyPr>
          <a:lstStyle/>
          <a:p>
            <a:pPr algn="r"/>
            <a:r>
              <a:rPr sz="1300" b="0">
                <a:solidFill>
                  <a:srgbClr val="344251"/>
                </a:solidFill>
                <a:latin typeface="Calibri"/>
              </a:rPr>
              <a:t>118.26</a:t>
            </a:r>
          </a:p>
        </p:txBody>
      </p:sp>
      <p:sp>
        <p:nvSpPr>
          <p:cNvPr id="41" name="TextBox 40"/>
          <p:cNvSpPr txBox="1"/>
          <p:nvPr/>
        </p:nvSpPr>
        <p:spPr>
          <a:xfrm>
            <a:off x="7479792" y="3675888"/>
            <a:ext cx="2322576" cy="420624"/>
          </a:xfrm>
          <a:prstGeom prst="rect">
            <a:avLst/>
          </a:prstGeom>
          <a:noFill/>
        </p:spPr>
        <p:txBody>
          <a:bodyPr wrap="square" anchor="ctr">
            <a:spAutoFit/>
          </a:bodyPr>
          <a:lstStyle/>
          <a:p>
            <a:pPr algn="r"/>
            <a:r>
              <a:rPr sz="1300" b="0">
                <a:solidFill>
                  <a:srgbClr val="344251"/>
                </a:solidFill>
                <a:latin typeface="Calibri"/>
              </a:rPr>
              <a:t>284</a:t>
            </a:r>
          </a:p>
        </p:txBody>
      </p:sp>
      <p:sp>
        <p:nvSpPr>
          <p:cNvPr id="42" name="TextBox 41"/>
          <p:cNvSpPr txBox="1"/>
          <p:nvPr/>
        </p:nvSpPr>
        <p:spPr>
          <a:xfrm>
            <a:off x="9948672" y="3675888"/>
            <a:ext cx="1792224" cy="420624"/>
          </a:xfrm>
          <a:prstGeom prst="rect">
            <a:avLst/>
          </a:prstGeom>
          <a:noFill/>
        </p:spPr>
        <p:txBody>
          <a:bodyPr wrap="square" anchor="ctr">
            <a:spAutoFit/>
          </a:bodyPr>
          <a:lstStyle/>
          <a:p>
            <a:pPr algn="r"/>
            <a:r>
              <a:rPr sz="1300" b="0">
                <a:solidFill>
                  <a:srgbClr val="344251"/>
                </a:solidFill>
                <a:latin typeface="Calibri"/>
              </a:rPr>
              <a:t>Below</a:t>
            </a:r>
          </a:p>
        </p:txBody>
      </p:sp>
      <p:sp>
        <p:nvSpPr>
          <p:cNvPr id="43" name="Rounded Rectangle 42"/>
          <p:cNvSpPr/>
          <p:nvPr/>
        </p:nvSpPr>
        <p:spPr>
          <a:xfrm>
            <a:off x="438912" y="4160520"/>
            <a:ext cx="365760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3504" y="4361688"/>
            <a:ext cx="3328416" cy="365760"/>
          </a:xfrm>
          <a:prstGeom prst="rect">
            <a:avLst/>
          </a:prstGeom>
          <a:noFill/>
        </p:spPr>
        <p:txBody>
          <a:bodyPr wrap="square" anchor="t">
            <a:spAutoFit/>
          </a:bodyPr>
          <a:lstStyle/>
          <a:p>
            <a:pPr algn="l"/>
            <a:r>
              <a:rPr sz="1800" b="1">
                <a:solidFill>
                  <a:srgbClr val="1B2733"/>
                </a:solidFill>
                <a:latin typeface="Calibri"/>
              </a:rPr>
              <a:t>Above</a:t>
            </a:r>
          </a:p>
        </p:txBody>
      </p:sp>
      <p:sp>
        <p:nvSpPr>
          <p:cNvPr id="45" name="TextBox 44"/>
          <p:cNvSpPr txBox="1"/>
          <p:nvPr/>
        </p:nvSpPr>
        <p:spPr>
          <a:xfrm>
            <a:off x="603504" y="4800600"/>
            <a:ext cx="3328416" cy="548640"/>
          </a:xfrm>
          <a:prstGeom prst="rect">
            <a:avLst/>
          </a:prstGeom>
          <a:noFill/>
        </p:spPr>
        <p:txBody>
          <a:bodyPr wrap="square" anchor="t">
            <a:spAutoFit/>
          </a:bodyPr>
          <a:lstStyle/>
          <a:p>
            <a:pPr algn="l"/>
            <a:r>
              <a:rPr sz="1400" b="0">
                <a:solidFill>
                  <a:srgbClr val="344251"/>
                </a:solidFill>
                <a:latin typeface="Calibri"/>
              </a:rPr>
              <a:t>Oil and fuel, after 1.40</a:t>
            </a:r>
          </a:p>
        </p:txBody>
      </p:sp>
      <p:sp>
        <p:nvSpPr>
          <p:cNvPr id="46" name="Rounded Rectangle 45"/>
          <p:cNvSpPr/>
          <p:nvPr/>
        </p:nvSpPr>
        <p:spPr>
          <a:xfrm>
            <a:off x="4261104" y="4160520"/>
            <a:ext cx="365760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25696" y="4361688"/>
            <a:ext cx="3328416" cy="365760"/>
          </a:xfrm>
          <a:prstGeom prst="rect">
            <a:avLst/>
          </a:prstGeom>
          <a:noFill/>
        </p:spPr>
        <p:txBody>
          <a:bodyPr wrap="square" anchor="t">
            <a:spAutoFit/>
          </a:bodyPr>
          <a:lstStyle/>
          <a:p>
            <a:pPr algn="l"/>
            <a:r>
              <a:rPr sz="1800" b="1">
                <a:solidFill>
                  <a:srgbClr val="1B2733"/>
                </a:solidFill>
                <a:latin typeface="Calibri"/>
              </a:rPr>
              <a:t>In line</a:t>
            </a:r>
          </a:p>
        </p:txBody>
      </p:sp>
      <p:sp>
        <p:nvSpPr>
          <p:cNvPr id="48" name="TextBox 47"/>
          <p:cNvSpPr txBox="1"/>
          <p:nvPr/>
        </p:nvSpPr>
        <p:spPr>
          <a:xfrm>
            <a:off x="4425696" y="4800600"/>
            <a:ext cx="3328416" cy="548640"/>
          </a:xfrm>
          <a:prstGeom prst="rect">
            <a:avLst/>
          </a:prstGeom>
          <a:noFill/>
        </p:spPr>
        <p:txBody>
          <a:bodyPr wrap="square" anchor="t">
            <a:spAutoFit/>
          </a:bodyPr>
          <a:lstStyle/>
          <a:p>
            <a:pPr algn="l"/>
            <a:r>
              <a:rPr sz="1400" b="0">
                <a:solidFill>
                  <a:srgbClr val="344251"/>
                </a:solidFill>
                <a:latin typeface="Calibri"/>
              </a:rPr>
              <a:t>Air</a:t>
            </a:r>
          </a:p>
        </p:txBody>
      </p:sp>
      <p:sp>
        <p:nvSpPr>
          <p:cNvPr id="49" name="Rounded Rectangle 48"/>
          <p:cNvSpPr/>
          <p:nvPr/>
        </p:nvSpPr>
        <p:spPr>
          <a:xfrm>
            <a:off x="8083296" y="4160520"/>
            <a:ext cx="3657600" cy="14173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47888" y="4361688"/>
            <a:ext cx="3328416" cy="365760"/>
          </a:xfrm>
          <a:prstGeom prst="rect">
            <a:avLst/>
          </a:prstGeom>
          <a:noFill/>
        </p:spPr>
        <p:txBody>
          <a:bodyPr wrap="square" anchor="t">
            <a:spAutoFit/>
          </a:bodyPr>
          <a:lstStyle/>
          <a:p>
            <a:pPr algn="l"/>
            <a:r>
              <a:rPr sz="1800" b="1">
                <a:solidFill>
                  <a:srgbClr val="FFFFFF"/>
                </a:solidFill>
                <a:latin typeface="Calibri"/>
              </a:rPr>
              <a:t>Well above</a:t>
            </a:r>
          </a:p>
        </p:txBody>
      </p:sp>
      <p:sp>
        <p:nvSpPr>
          <p:cNvPr id="51" name="TextBox 50"/>
          <p:cNvSpPr txBox="1"/>
          <p:nvPr/>
        </p:nvSpPr>
        <p:spPr>
          <a:xfrm>
            <a:off x="8247888" y="4800600"/>
            <a:ext cx="3328416" cy="548640"/>
          </a:xfrm>
          <a:prstGeom prst="rect">
            <a:avLst/>
          </a:prstGeom>
          <a:noFill/>
        </p:spPr>
        <p:txBody>
          <a:bodyPr wrap="square" anchor="t">
            <a:spAutoFit/>
          </a:bodyPr>
          <a:lstStyle/>
          <a:p>
            <a:pPr algn="l"/>
            <a:r>
              <a:rPr sz="1400" b="0">
                <a:solidFill>
                  <a:srgbClr val="FFFFFF"/>
                </a:solidFill>
                <a:latin typeface="Calibri"/>
              </a:rPr>
              <a:t>Pad. This is the SPA talk.</a:t>
            </a:r>
          </a:p>
        </p:txBody>
      </p:sp>
      <p:sp>
        <p:nvSpPr>
          <p:cNvPr id="52" name="TextBox 51"/>
          <p:cNvSpPr txBox="1"/>
          <p:nvPr/>
        </p:nvSpPr>
        <p:spPr>
          <a:xfrm>
            <a:off x="438912" y="5687568"/>
            <a:ext cx="11338560" cy="292608"/>
          </a:xfrm>
          <a:prstGeom prst="rect">
            <a:avLst/>
          </a:prstGeom>
          <a:noFill/>
        </p:spPr>
        <p:txBody>
          <a:bodyPr wrap="square" anchor="t">
            <a:spAutoFit/>
          </a:bodyPr>
          <a:lstStyle/>
          <a:p>
            <a:pPr algn="l"/>
            <a:r>
              <a:rPr sz="1200" b="0">
                <a:solidFill>
                  <a:srgbClr val="344251"/>
                </a:solidFill>
                <a:latin typeface="Calibri"/>
              </a:rPr>
              <a:t>Projected to dealers = ISZE to ITUK x 1.40. Working mark-up. Confirm before IML. KS International: no price on these part numbers.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October. N75 first.</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Scheduled PMS. Genuine first. BVP or SPA, whichever is the lower price. Urea stays.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