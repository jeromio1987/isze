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1168" y="0"/>
            <a:ext cx="9144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02920"/>
            <a:ext cx="9144000" cy="365760"/>
          </a:xfrm>
          <a:prstGeom prst="rect">
            <a:avLst/>
          </a:prstGeom>
          <a:noFill/>
        </p:spPr>
        <p:txBody>
          <a:bodyPr wrap="square">
            <a:spAutoFit/>
          </a:bodyPr>
          <a:lstStyle/>
          <a:p>
            <a:pPr algn="l"/>
            <a:r>
              <a:rPr sz="1200" b="1">
                <a:solidFill>
                  <a:srgbClr val="CC0E1E"/>
                </a:solidFill>
                <a:latin typeface="Calibri"/>
              </a:rPr>
              <a:t>ISZE  ·  VEHICLE PARTS &amp; ACCESSORIES</a:t>
            </a:r>
          </a:p>
        </p:txBody>
      </p:sp>
      <p:sp>
        <p:nvSpPr>
          <p:cNvPr id="5" name="TextBox 4"/>
          <p:cNvSpPr txBox="1"/>
          <p:nvPr/>
        </p:nvSpPr>
        <p:spPr>
          <a:xfrm>
            <a:off x="566928" y="1874519"/>
            <a:ext cx="10607040" cy="2194560"/>
          </a:xfrm>
          <a:prstGeom prst="rect">
            <a:avLst/>
          </a:prstGeom>
          <a:noFill/>
        </p:spPr>
        <p:txBody>
          <a:bodyPr wrap="square">
            <a:spAutoFit/>
          </a:bodyPr>
          <a:lstStyle/>
          <a:p>
            <a:pPr algn="l"/>
            <a:r>
              <a:rPr sz="4000" b="1">
                <a:solidFill>
                  <a:srgbClr val="1A1A1A"/>
                </a:solidFill>
                <a:latin typeface="Calibri"/>
              </a:rPr>
              <a:t>ISZE Vehicle Parts &amp; Accessories
Business Performance Review</a:t>
            </a:r>
          </a:p>
        </p:txBody>
      </p:sp>
      <p:sp>
        <p:nvSpPr>
          <p:cNvPr id="6" name="TextBox 5"/>
          <p:cNvSpPr txBox="1"/>
          <p:nvPr/>
        </p:nvSpPr>
        <p:spPr>
          <a:xfrm>
            <a:off x="566928" y="3931920"/>
            <a:ext cx="8778240" cy="548640"/>
          </a:xfrm>
          <a:prstGeom prst="rect">
            <a:avLst/>
          </a:prstGeom>
          <a:noFill/>
        </p:spPr>
        <p:txBody>
          <a:bodyPr wrap="square">
            <a:spAutoFit/>
          </a:bodyPr>
          <a:lstStyle/>
          <a:p>
            <a:pPr algn="l"/>
            <a:r>
              <a:rPr sz="1600" b="0">
                <a:solidFill>
                  <a:srgbClr val="5A5A5A"/>
                </a:solidFill>
                <a:latin typeface="Calibri"/>
              </a:rPr>
              <a:t>Fiscal 2026 close  ·  Fiscal 2027 to date  ·  Service performance  ·  PRISM and IDS</a:t>
            </a:r>
          </a:p>
        </p:txBody>
      </p:sp>
      <p:sp>
        <p:nvSpPr>
          <p:cNvPr id="7" name="TextBox 6"/>
          <p:cNvSpPr txBox="1"/>
          <p:nvPr/>
        </p:nvSpPr>
        <p:spPr>
          <a:xfrm>
            <a:off x="566928" y="4617720"/>
            <a:ext cx="10058400" cy="457200"/>
          </a:xfrm>
          <a:prstGeom prst="rect">
            <a:avLst/>
          </a:prstGeom>
          <a:noFill/>
        </p:spPr>
        <p:txBody>
          <a:bodyPr wrap="square">
            <a:spAutoFit/>
          </a:bodyPr>
          <a:lstStyle/>
          <a:p>
            <a:pPr algn="l"/>
            <a:r>
              <a:rPr sz="1200" b="0">
                <a:solidFill>
                  <a:srgbClr val="5A5A5A"/>
                </a:solidFill>
                <a:latin typeface="Calibri"/>
              </a:rPr>
              <a:t>Prepared 16 September 2026. Billing file runs to 2026-08-31; September figures are month to date and the month is not closed.</a:t>
            </a:r>
          </a:p>
        </p:txBody>
      </p:sp>
      <p:pic>
        <p:nvPicPr>
          <p:cNvPr id="8" name="Picture 7" descr="isuzu_logo_red.png"/>
          <p:cNvPicPr>
            <a:picLocks noChangeAspect="1"/>
          </p:cNvPicPr>
          <p:nvPr/>
        </p:nvPicPr>
        <p:blipFill>
          <a:blip r:embed="rId2"/>
          <a:stretch>
            <a:fillRect/>
          </a:stretch>
        </p:blipFill>
        <p:spPr>
          <a:xfrm>
            <a:off x="566928" y="5897880"/>
            <a:ext cx="2204720" cy="384048"/>
          </a:xfrm>
          <a:prstGeom prst="rect">
            <a:avLst/>
          </a:prstGeom>
        </p:spPr>
      </p:pic>
      <p:sp>
        <p:nvSpPr>
          <p:cNvPr id="9" name="Rectangle 8"/>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CONTENTS</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What this review covers, and how to read it</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8" name="TextBox 7"/>
          <p:cNvSpPr txBox="1"/>
          <p:nvPr/>
        </p:nvSpPr>
        <p:spPr>
          <a:xfrm>
            <a:off x="292608" y="1335024"/>
            <a:ext cx="7315200" cy="4910328"/>
          </a:xfrm>
          <a:prstGeom prst="rect">
            <a:avLst/>
          </a:prstGeom>
          <a:noFill/>
        </p:spPr>
        <p:txBody>
          <a:bodyPr wrap="square">
            <a:spAutoFit/>
          </a:bodyPr>
          <a:lstStyle/>
          <a:p>
            <a:pPr>
              <a:lnSpc>
                <a:spcPct val="125000"/>
              </a:lnSpc>
              <a:spcAft>
                <a:spcPts val="1000"/>
              </a:spcAft>
            </a:pPr>
            <a:r>
              <a:rPr sz="1200" b="1">
                <a:solidFill>
                  <a:srgbClr val="CC0E1E"/>
                </a:solidFill>
                <a:latin typeface="Calibri"/>
              </a:rPr>
              <a:t>—  </a:t>
            </a:r>
            <a:r>
              <a:rPr sz="1200">
                <a:solidFill>
                  <a:srgbClr val="1A1A1A"/>
                </a:solidFill>
                <a:latin typeface="Calibri"/>
              </a:rPr>
              <a:t>Where we stand: fiscal 2026 close, the fiscal 2027 plan, and September month to date.</a:t>
            </a:r>
          </a:p>
          <a:p>
            <a:pPr>
              <a:lnSpc>
                <a:spcPct val="125000"/>
              </a:lnSpc>
              <a:spcAft>
                <a:spcPts val="1000"/>
              </a:spcAft>
            </a:pPr>
            <a:r>
              <a:rPr sz="1200" b="1">
                <a:solidFill>
                  <a:srgbClr val="CC0E1E"/>
                </a:solidFill>
                <a:latin typeface="Calibri"/>
              </a:rPr>
              <a:t>—  </a:t>
            </a:r>
            <a:r>
              <a:rPr sz="1200">
                <a:solidFill>
                  <a:srgbClr val="1A1A1A"/>
                </a:solidFill>
                <a:latin typeface="Calibri"/>
              </a:rPr>
              <a:t>Service performance: fill rate against the 95% standard, inventory cover, and how much of the network runs on urgent orders.</a:t>
            </a:r>
          </a:p>
          <a:p>
            <a:pPr>
              <a:lnSpc>
                <a:spcPct val="125000"/>
              </a:lnSpc>
              <a:spcAft>
                <a:spcPts val="1000"/>
              </a:spcAft>
            </a:pPr>
            <a:r>
              <a:rPr sz="1200" b="1">
                <a:solidFill>
                  <a:srgbClr val="CC0E1E"/>
                </a:solidFill>
                <a:latin typeface="Calibri"/>
              </a:rPr>
              <a:t>—  </a:t>
            </a:r>
            <a:r>
              <a:rPr sz="1200">
                <a:solidFill>
                  <a:srgbClr val="1A1A1A"/>
                </a:solidFill>
                <a:latin typeface="Calibri"/>
              </a:rPr>
              <a:t>Where the money is: spend per truck, the modelled ceiling, and the service families carrying the unbought euro.</a:t>
            </a:r>
          </a:p>
          <a:p>
            <a:pPr>
              <a:lnSpc>
                <a:spcPct val="125000"/>
              </a:lnSpc>
              <a:spcAft>
                <a:spcPts val="1000"/>
              </a:spcAft>
            </a:pPr>
            <a:r>
              <a:rPr sz="1200" b="1">
                <a:solidFill>
                  <a:srgbClr val="CC0E1E"/>
                </a:solidFill>
                <a:latin typeface="Calibri"/>
              </a:rPr>
              <a:t>—  </a:t>
            </a:r>
            <a:r>
              <a:rPr sz="1200">
                <a:solidFill>
                  <a:srgbClr val="1A1A1A"/>
                </a:solidFill>
                <a:latin typeface="Calibri"/>
              </a:rPr>
              <a:t>ITUK in detail: the gap at both layers of the chain, taken from the leakage review.</a:t>
            </a:r>
          </a:p>
          <a:p>
            <a:pPr>
              <a:lnSpc>
                <a:spcPct val="125000"/>
              </a:lnSpc>
              <a:spcAft>
                <a:spcPts val="1000"/>
              </a:spcAft>
            </a:pPr>
            <a:r>
              <a:rPr sz="1200" b="1">
                <a:solidFill>
                  <a:srgbClr val="CC0E1E"/>
                </a:solidFill>
                <a:latin typeface="Calibri"/>
              </a:rPr>
              <a:t>—  </a:t>
            </a:r>
            <a:r>
              <a:rPr sz="1200">
                <a:solidFill>
                  <a:srgbClr val="1A1A1A"/>
                </a:solidFill>
                <a:latin typeface="Calibri"/>
              </a:rPr>
              <a:t>Genuine against best-value on the same part number, and where parts classification says we are exposed.</a:t>
            </a:r>
          </a:p>
          <a:p>
            <a:pPr>
              <a:lnSpc>
                <a:spcPct val="125000"/>
              </a:lnSpc>
              <a:spcAft>
                <a:spcPts val="1000"/>
              </a:spcAft>
            </a:pPr>
            <a:r>
              <a:rPr sz="1200" b="1">
                <a:solidFill>
                  <a:srgbClr val="CC0E1E"/>
                </a:solidFill>
                <a:latin typeface="Calibri"/>
              </a:rPr>
              <a:t>—  </a:t>
            </a:r>
            <a:r>
              <a:rPr sz="1200">
                <a:solidFill>
                  <a:srgbClr val="1A1A1A"/>
                </a:solidFill>
                <a:latin typeface="Calibri"/>
              </a:rPr>
              <a:t>PRISM and the dealer standard: what the platform covers, and what the dealer assessment says about the network.</a:t>
            </a:r>
          </a:p>
          <a:p>
            <a:pPr>
              <a:lnSpc>
                <a:spcPct val="125000"/>
              </a:lnSpc>
              <a:spcAft>
                <a:spcPts val="1000"/>
              </a:spcAft>
            </a:pPr>
            <a:r>
              <a:rPr sz="1200" b="1">
                <a:solidFill>
                  <a:srgbClr val="CC0E1E"/>
                </a:solidFill>
                <a:latin typeface="Calibri"/>
              </a:rPr>
              <a:t>—  </a:t>
            </a:r>
            <a:r>
              <a:rPr sz="1200">
                <a:solidFill>
                  <a:srgbClr val="1A1A1A"/>
                </a:solidFill>
                <a:latin typeface="Calibri"/>
              </a:rPr>
              <a:t>Warranty parts as a share of what we bill, kept separate from customer-paid demand.</a:t>
            </a:r>
          </a:p>
        </p:txBody>
      </p:sp>
      <p:sp>
        <p:nvSpPr>
          <p:cNvPr id="9" name="Rectangle 8"/>
          <p:cNvSpPr/>
          <p:nvPr/>
        </p:nvSpPr>
        <p:spPr>
          <a:xfrm>
            <a:off x="7836408" y="1261872"/>
            <a:ext cx="4069080" cy="477316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36408" y="1261872"/>
            <a:ext cx="4069080"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37576" y="1481328"/>
            <a:ext cx="3666744" cy="365760"/>
          </a:xfrm>
          <a:prstGeom prst="rect">
            <a:avLst/>
          </a:prstGeom>
          <a:noFill/>
        </p:spPr>
        <p:txBody>
          <a:bodyPr wrap="square">
            <a:spAutoFit/>
          </a:bodyPr>
          <a:lstStyle/>
          <a:p>
            <a:pPr algn="l"/>
            <a:r>
              <a:rPr sz="1150" b="1">
                <a:solidFill>
                  <a:srgbClr val="CC0E1E"/>
                </a:solidFill>
                <a:latin typeface="Calibri"/>
              </a:rPr>
              <a:t>DATA RULE FOR THIS DECK</a:t>
            </a:r>
          </a:p>
        </p:txBody>
      </p:sp>
      <p:sp>
        <p:nvSpPr>
          <p:cNvPr id="12" name="TextBox 11"/>
          <p:cNvSpPr txBox="1"/>
          <p:nvPr/>
        </p:nvSpPr>
        <p:spPr>
          <a:xfrm>
            <a:off x="8037576" y="1920240"/>
            <a:ext cx="3666744" cy="3291840"/>
          </a:xfrm>
          <a:prstGeom prst="rect">
            <a:avLst/>
          </a:prstGeom>
          <a:noFill/>
        </p:spPr>
        <p:txBody>
          <a:bodyPr wrap="square">
            <a:spAutoFit/>
          </a:bodyPr>
          <a:lstStyle/>
          <a:p>
            <a:pPr algn="l"/>
            <a:r>
              <a:rPr sz="1250" b="0">
                <a:solidFill>
                  <a:srgbClr val="3D3B36"/>
                </a:solidFill>
                <a:latin typeface="Calibri"/>
              </a:rPr>
              <a:t>Every figure is read from a named ISZE file on its build date. Where a measure is modelled, the slide says so. Where a distributor does not report a KPI, the cell is empty and the coverage is stated — never a zero, never a copy of another market. Month-to-date figures are labelled as such, and a market that filed an old month carries that month's label with its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01</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Where we stand</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Fiscal 2026 close, the fiscal 2027 plan, and September to date against last year.</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FISCAL 2026 AND FISCAL 2027 TO DATE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The headline numbers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8" name="Rectangle 7"/>
          <p:cNvSpPr/>
          <p:nvPr/>
        </p:nvSpPr>
        <p:spPr>
          <a:xfrm>
            <a:off x="292608"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499616"/>
            <a:ext cx="2386584" cy="274320"/>
          </a:xfrm>
          <a:prstGeom prst="rect">
            <a:avLst/>
          </a:prstGeom>
          <a:noFill/>
        </p:spPr>
        <p:txBody>
          <a:bodyPr wrap="square">
            <a:spAutoFit/>
          </a:bodyPr>
          <a:lstStyle/>
          <a:p>
            <a:pPr algn="l"/>
            <a:r>
              <a:rPr sz="1050" b="1">
                <a:solidFill>
                  <a:srgbClr val="CC0E1E"/>
                </a:solidFill>
                <a:latin typeface="Calibri"/>
              </a:rPr>
              <a:t>FISCAL 2026 PARTS BILLED</a:t>
            </a:r>
          </a:p>
        </p:txBody>
      </p:sp>
      <p:sp>
        <p:nvSpPr>
          <p:cNvPr id="11" name="TextBox 10"/>
          <p:cNvSpPr txBox="1"/>
          <p:nvPr/>
        </p:nvSpPr>
        <p:spPr>
          <a:xfrm>
            <a:off x="493776" y="1810512"/>
            <a:ext cx="2386584" cy="658368"/>
          </a:xfrm>
          <a:prstGeom prst="rect">
            <a:avLst/>
          </a:prstGeom>
          <a:noFill/>
        </p:spPr>
        <p:txBody>
          <a:bodyPr wrap="square">
            <a:spAutoFit/>
          </a:bodyPr>
          <a:lstStyle/>
          <a:p>
            <a:pPr algn="l"/>
            <a:r>
              <a:rPr sz="2800" b="1">
                <a:solidFill>
                  <a:srgbClr val="1A1A1A"/>
                </a:solidFill>
                <a:latin typeface="Calibri"/>
              </a:rPr>
              <a:t>EUR 32.58M</a:t>
            </a:r>
          </a:p>
        </p:txBody>
      </p:sp>
      <p:sp>
        <p:nvSpPr>
          <p:cNvPr id="12" name="TextBox 11"/>
          <p:cNvSpPr txBox="1"/>
          <p:nvPr/>
        </p:nvSpPr>
        <p:spPr>
          <a:xfrm>
            <a:off x="493776" y="4828032"/>
            <a:ext cx="2386584" cy="502920"/>
          </a:xfrm>
          <a:prstGeom prst="rect">
            <a:avLst/>
          </a:prstGeom>
          <a:noFill/>
        </p:spPr>
        <p:txBody>
          <a:bodyPr wrap="square">
            <a:spAutoFit/>
          </a:bodyPr>
          <a:lstStyle/>
          <a:p>
            <a:pPr algn="l"/>
            <a:r>
              <a:rPr sz="1100" b="0">
                <a:solidFill>
                  <a:srgbClr val="5A5A5A"/>
                </a:solidFill>
                <a:latin typeface="Calibri"/>
              </a:rPr>
              <a:t>network distributors, full fiscal year to March 2026</a:t>
            </a:r>
          </a:p>
        </p:txBody>
      </p:sp>
      <p:sp>
        <p:nvSpPr>
          <p:cNvPr id="13" name="Rectangle 12"/>
          <p:cNvSpPr/>
          <p:nvPr/>
        </p:nvSpPr>
        <p:spPr>
          <a:xfrm>
            <a:off x="3246120"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499616"/>
            <a:ext cx="2386584" cy="274320"/>
          </a:xfrm>
          <a:prstGeom prst="rect">
            <a:avLst/>
          </a:prstGeom>
          <a:noFill/>
        </p:spPr>
        <p:txBody>
          <a:bodyPr wrap="square">
            <a:spAutoFit/>
          </a:bodyPr>
          <a:lstStyle/>
          <a:p>
            <a:pPr algn="l"/>
            <a:r>
              <a:rPr sz="1050" b="1">
                <a:solidFill>
                  <a:srgbClr val="CC0E1E"/>
                </a:solidFill>
                <a:latin typeface="Calibri"/>
              </a:rPr>
              <a:t>LARGEST DISTRIBUTOR</a:t>
            </a:r>
          </a:p>
        </p:txBody>
      </p:sp>
      <p:sp>
        <p:nvSpPr>
          <p:cNvPr id="16" name="TextBox 15"/>
          <p:cNvSpPr txBox="1"/>
          <p:nvPr/>
        </p:nvSpPr>
        <p:spPr>
          <a:xfrm>
            <a:off x="3447288" y="1810512"/>
            <a:ext cx="2386584" cy="658368"/>
          </a:xfrm>
          <a:prstGeom prst="rect">
            <a:avLst/>
          </a:prstGeom>
          <a:noFill/>
        </p:spPr>
        <p:txBody>
          <a:bodyPr wrap="square">
            <a:spAutoFit/>
          </a:bodyPr>
          <a:lstStyle/>
          <a:p>
            <a:pPr algn="l"/>
            <a:r>
              <a:rPr sz="2800" b="1">
                <a:solidFill>
                  <a:srgbClr val="1A1A1A"/>
                </a:solidFill>
                <a:latin typeface="Calibri"/>
              </a:rPr>
              <a:t>EUR 6.96M</a:t>
            </a:r>
          </a:p>
        </p:txBody>
      </p:sp>
      <p:sp>
        <p:nvSpPr>
          <p:cNvPr id="17" name="TextBox 16"/>
          <p:cNvSpPr txBox="1"/>
          <p:nvPr/>
        </p:nvSpPr>
        <p:spPr>
          <a:xfrm>
            <a:off x="3447288" y="4828032"/>
            <a:ext cx="2386584" cy="502920"/>
          </a:xfrm>
          <a:prstGeom prst="rect">
            <a:avLst/>
          </a:prstGeom>
          <a:noFill/>
        </p:spPr>
        <p:txBody>
          <a:bodyPr wrap="square">
            <a:spAutoFit/>
          </a:bodyPr>
          <a:lstStyle/>
          <a:p>
            <a:pPr algn="l"/>
            <a:r>
              <a:rPr sz="1100" b="0">
                <a:solidFill>
                  <a:srgbClr val="5A5A5A"/>
                </a:solidFill>
                <a:latin typeface="Calibri"/>
              </a:rPr>
              <a:t>ITUK — 21% of the network</a:t>
            </a:r>
          </a:p>
        </p:txBody>
      </p:sp>
      <p:sp>
        <p:nvSpPr>
          <p:cNvPr id="18" name="Rectangle 17"/>
          <p:cNvSpPr/>
          <p:nvPr/>
        </p:nvSpPr>
        <p:spPr>
          <a:xfrm>
            <a:off x="6199632"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499616"/>
            <a:ext cx="2386584" cy="274320"/>
          </a:xfrm>
          <a:prstGeom prst="rect">
            <a:avLst/>
          </a:prstGeom>
          <a:noFill/>
        </p:spPr>
        <p:txBody>
          <a:bodyPr wrap="square">
            <a:spAutoFit/>
          </a:bodyPr>
          <a:lstStyle/>
          <a:p>
            <a:pPr algn="l"/>
            <a:r>
              <a:rPr sz="1050" b="1">
                <a:solidFill>
                  <a:srgbClr val="CC0E1E"/>
                </a:solidFill>
                <a:latin typeface="Calibri"/>
              </a:rPr>
              <a:t>FISCAL 2027 FIRST QUARTER</a:t>
            </a:r>
          </a:p>
        </p:txBody>
      </p:sp>
      <p:sp>
        <p:nvSpPr>
          <p:cNvPr id="21" name="TextBox 20"/>
          <p:cNvSpPr txBox="1"/>
          <p:nvPr/>
        </p:nvSpPr>
        <p:spPr>
          <a:xfrm>
            <a:off x="6400800" y="1810512"/>
            <a:ext cx="2386584" cy="658368"/>
          </a:xfrm>
          <a:prstGeom prst="rect">
            <a:avLst/>
          </a:prstGeom>
          <a:noFill/>
        </p:spPr>
        <p:txBody>
          <a:bodyPr wrap="square">
            <a:spAutoFit/>
          </a:bodyPr>
          <a:lstStyle/>
          <a:p>
            <a:pPr algn="l"/>
            <a:r>
              <a:rPr sz="2800" b="1">
                <a:solidFill>
                  <a:srgbClr val="1A1A1A"/>
                </a:solidFill>
                <a:latin typeface="Calibri"/>
              </a:rPr>
              <a:t>EUR 8.14M</a:t>
            </a:r>
          </a:p>
        </p:txBody>
      </p:sp>
      <p:sp>
        <p:nvSpPr>
          <p:cNvPr id="22" name="TextBox 21"/>
          <p:cNvSpPr txBox="1"/>
          <p:nvPr/>
        </p:nvSpPr>
        <p:spPr>
          <a:xfrm>
            <a:off x="6400800" y="4828032"/>
            <a:ext cx="2386584" cy="502920"/>
          </a:xfrm>
          <a:prstGeom prst="rect">
            <a:avLst/>
          </a:prstGeom>
          <a:noFill/>
        </p:spPr>
        <p:txBody>
          <a:bodyPr wrap="square">
            <a:spAutoFit/>
          </a:bodyPr>
          <a:lstStyle/>
          <a:p>
            <a:pPr algn="l"/>
            <a:r>
              <a:rPr sz="1100" b="0">
                <a:solidFill>
                  <a:srgbClr val="5A5A5A"/>
                </a:solidFill>
                <a:latin typeface="Calibri"/>
              </a:rPr>
              <a:t>April to June 2026, the last closed quarter in the billing file</a:t>
            </a:r>
          </a:p>
        </p:txBody>
      </p:sp>
      <p:sp>
        <p:nvSpPr>
          <p:cNvPr id="23" name="Rectangle 22"/>
          <p:cNvSpPr/>
          <p:nvPr/>
        </p:nvSpPr>
        <p:spPr>
          <a:xfrm>
            <a:off x="9153144"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53144"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54312" y="1499616"/>
            <a:ext cx="2386584" cy="274320"/>
          </a:xfrm>
          <a:prstGeom prst="rect">
            <a:avLst/>
          </a:prstGeom>
          <a:noFill/>
        </p:spPr>
        <p:txBody>
          <a:bodyPr wrap="square">
            <a:spAutoFit/>
          </a:bodyPr>
          <a:lstStyle/>
          <a:p>
            <a:pPr algn="l"/>
            <a:r>
              <a:rPr sz="1050" b="1">
                <a:solidFill>
                  <a:srgbClr val="CC0E1E"/>
                </a:solidFill>
                <a:latin typeface="Calibri"/>
              </a:rPr>
              <a:t>SEPTEMBER TO DATE</a:t>
            </a:r>
          </a:p>
        </p:txBody>
      </p:sp>
      <p:sp>
        <p:nvSpPr>
          <p:cNvPr id="26" name="TextBox 25"/>
          <p:cNvSpPr txBox="1"/>
          <p:nvPr/>
        </p:nvSpPr>
        <p:spPr>
          <a:xfrm>
            <a:off x="9354312" y="1810512"/>
            <a:ext cx="2386584" cy="658368"/>
          </a:xfrm>
          <a:prstGeom prst="rect">
            <a:avLst/>
          </a:prstGeom>
          <a:noFill/>
        </p:spPr>
        <p:txBody>
          <a:bodyPr wrap="square">
            <a:spAutoFit/>
          </a:bodyPr>
          <a:lstStyle/>
          <a:p>
            <a:pPr algn="l"/>
            <a:r>
              <a:rPr sz="2800" b="1">
                <a:solidFill>
                  <a:srgbClr val="1A1A1A"/>
                </a:solidFill>
                <a:latin typeface="Calibri"/>
              </a:rPr>
              <a:t>EUR 1.46M</a:t>
            </a:r>
          </a:p>
        </p:txBody>
      </p:sp>
      <p:sp>
        <p:nvSpPr>
          <p:cNvPr id="27" name="TextBox 26"/>
          <p:cNvSpPr txBox="1"/>
          <p:nvPr/>
        </p:nvSpPr>
        <p:spPr>
          <a:xfrm>
            <a:off x="9354312" y="4828032"/>
            <a:ext cx="2386584" cy="502920"/>
          </a:xfrm>
          <a:prstGeom prst="rect">
            <a:avLst/>
          </a:prstGeom>
          <a:noFill/>
        </p:spPr>
        <p:txBody>
          <a:bodyPr wrap="square">
            <a:spAutoFit/>
          </a:bodyPr>
          <a:lstStyle/>
          <a:p>
            <a:pPr algn="l"/>
            <a:r>
              <a:rPr sz="1100" b="0">
                <a:solidFill>
                  <a:srgbClr val="5A5A5A"/>
                </a:solidFill>
                <a:latin typeface="Calibri"/>
              </a:rPr>
              <a:t>46% of the month plan at 14 September, the month is not closed</a:t>
            </a:r>
          </a:p>
        </p:txBody>
      </p:sp>
      <p:sp>
        <p:nvSpPr>
          <p:cNvPr id="28" name="TextBox 27"/>
          <p:cNvSpPr txBox="1"/>
          <p:nvPr/>
        </p:nvSpPr>
        <p:spPr>
          <a:xfrm>
            <a:off x="292608" y="5687568"/>
            <a:ext cx="11612880" cy="822960"/>
          </a:xfrm>
          <a:prstGeom prst="rect">
            <a:avLst/>
          </a:prstGeom>
          <a:noFill/>
        </p:spPr>
        <p:txBody>
          <a:bodyPr wrap="square">
            <a:spAutoFit/>
          </a:bodyPr>
          <a:lstStyle/>
          <a:p>
            <a:pPr algn="l"/>
            <a:r>
              <a:rPr sz="1050" b="0">
                <a:solidFill>
                  <a:srgbClr val="5A5A5A"/>
                </a:solidFill>
                <a:latin typeface="Calibri"/>
              </a:rPr>
              <a:t>The billing file runs to 2026-08-31, so fiscal 2026 is complete and fiscal 2027 is available only to the end of that quarter. September figures come from the daily sales report dated 14 September 2026 and are month to date. Network parts billed is on the distributor base in the billing 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FISCAL 2027 PLAN</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The plan behind the numbers — and two different things both called parts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8" name="Rectangle 7"/>
          <p:cNvSpPr/>
          <p:nvPr/>
        </p:nvSpPr>
        <p:spPr>
          <a:xfrm>
            <a:off x="292608"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499616"/>
            <a:ext cx="2386584" cy="274320"/>
          </a:xfrm>
          <a:prstGeom prst="rect">
            <a:avLst/>
          </a:prstGeom>
          <a:noFill/>
        </p:spPr>
        <p:txBody>
          <a:bodyPr wrap="square">
            <a:spAutoFit/>
          </a:bodyPr>
          <a:lstStyle/>
          <a:p>
            <a:pPr algn="l"/>
            <a:r>
              <a:rPr sz="1050" b="1">
                <a:solidFill>
                  <a:srgbClr val="CC0E1E"/>
                </a:solidFill>
                <a:latin typeface="Calibri"/>
              </a:rPr>
              <a:t>FISCAL 2027 PLAN</a:t>
            </a:r>
          </a:p>
        </p:txBody>
      </p:sp>
      <p:sp>
        <p:nvSpPr>
          <p:cNvPr id="11" name="TextBox 10"/>
          <p:cNvSpPr txBox="1"/>
          <p:nvPr/>
        </p:nvSpPr>
        <p:spPr>
          <a:xfrm>
            <a:off x="493776" y="1810512"/>
            <a:ext cx="2386584" cy="658368"/>
          </a:xfrm>
          <a:prstGeom prst="rect">
            <a:avLst/>
          </a:prstGeom>
          <a:noFill/>
        </p:spPr>
        <p:txBody>
          <a:bodyPr wrap="square">
            <a:spAutoFit/>
          </a:bodyPr>
          <a:lstStyle/>
          <a:p>
            <a:pPr algn="l"/>
            <a:r>
              <a:rPr sz="2800" b="1">
                <a:solidFill>
                  <a:srgbClr val="1A1A1A"/>
                </a:solidFill>
                <a:latin typeface="Calibri"/>
              </a:rPr>
              <a:t>EUR 35.28M</a:t>
            </a:r>
          </a:p>
        </p:txBody>
      </p:sp>
      <p:sp>
        <p:nvSpPr>
          <p:cNvPr id="12" name="TextBox 11"/>
          <p:cNvSpPr txBox="1"/>
          <p:nvPr/>
        </p:nvSpPr>
        <p:spPr>
          <a:xfrm>
            <a:off x="493776" y="4828032"/>
            <a:ext cx="2386584" cy="502920"/>
          </a:xfrm>
          <a:prstGeom prst="rect">
            <a:avLst/>
          </a:prstGeom>
          <a:noFill/>
        </p:spPr>
        <p:txBody>
          <a:bodyPr wrap="square">
            <a:spAutoFit/>
          </a:bodyPr>
          <a:lstStyle/>
          <a:p>
            <a:pPr algn="l"/>
            <a:r>
              <a:rPr sz="1100" b="0">
                <a:solidFill>
                  <a:srgbClr val="5A5A5A"/>
                </a:solidFill>
                <a:latin typeface="Calibri"/>
              </a:rPr>
              <a:t>BP reviewed April 2026, turnover basis</a:t>
            </a:r>
          </a:p>
        </p:txBody>
      </p:sp>
      <p:sp>
        <p:nvSpPr>
          <p:cNvPr id="13" name="Rectangle 12"/>
          <p:cNvSpPr/>
          <p:nvPr/>
        </p:nvSpPr>
        <p:spPr>
          <a:xfrm>
            <a:off x="3246120"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499616"/>
            <a:ext cx="2386584" cy="274320"/>
          </a:xfrm>
          <a:prstGeom prst="rect">
            <a:avLst/>
          </a:prstGeom>
          <a:noFill/>
        </p:spPr>
        <p:txBody>
          <a:bodyPr wrap="square">
            <a:spAutoFit/>
          </a:bodyPr>
          <a:lstStyle/>
          <a:p>
            <a:pPr algn="l"/>
            <a:r>
              <a:rPr sz="1050" b="1">
                <a:solidFill>
                  <a:srgbClr val="CC0E1E"/>
                </a:solidFill>
                <a:latin typeface="Calibri"/>
              </a:rPr>
              <a:t>LARGEST PLAN LINE</a:t>
            </a:r>
          </a:p>
        </p:txBody>
      </p:sp>
      <p:sp>
        <p:nvSpPr>
          <p:cNvPr id="16" name="TextBox 15"/>
          <p:cNvSpPr txBox="1"/>
          <p:nvPr/>
        </p:nvSpPr>
        <p:spPr>
          <a:xfrm>
            <a:off x="3447288" y="1810512"/>
            <a:ext cx="2386584" cy="658368"/>
          </a:xfrm>
          <a:prstGeom prst="rect">
            <a:avLst/>
          </a:prstGeom>
          <a:noFill/>
        </p:spPr>
        <p:txBody>
          <a:bodyPr wrap="square">
            <a:spAutoFit/>
          </a:bodyPr>
          <a:lstStyle/>
          <a:p>
            <a:pPr algn="l"/>
            <a:r>
              <a:rPr sz="2800" b="1">
                <a:solidFill>
                  <a:srgbClr val="1A1A1A"/>
                </a:solidFill>
                <a:latin typeface="Calibri"/>
              </a:rPr>
              <a:t>EUR 6.97M</a:t>
            </a:r>
          </a:p>
        </p:txBody>
      </p:sp>
      <p:sp>
        <p:nvSpPr>
          <p:cNvPr id="17" name="TextBox 16"/>
          <p:cNvSpPr txBox="1"/>
          <p:nvPr/>
        </p:nvSpPr>
        <p:spPr>
          <a:xfrm>
            <a:off x="3447288" y="4828032"/>
            <a:ext cx="2386584" cy="502920"/>
          </a:xfrm>
          <a:prstGeom prst="rect">
            <a:avLst/>
          </a:prstGeom>
          <a:noFill/>
        </p:spPr>
        <p:txBody>
          <a:bodyPr wrap="square">
            <a:spAutoFit/>
          </a:bodyPr>
          <a:lstStyle/>
          <a:p>
            <a:pPr algn="l"/>
            <a:r>
              <a:rPr sz="1100" b="0">
                <a:solidFill>
                  <a:srgbClr val="5A5A5A"/>
                </a:solidFill>
                <a:latin typeface="Calibri"/>
              </a:rPr>
              <a:t>ITUK, followed by IUK at EUR 6.06M</a:t>
            </a:r>
          </a:p>
        </p:txBody>
      </p:sp>
      <p:sp>
        <p:nvSpPr>
          <p:cNvPr id="18" name="Rectangle 17"/>
          <p:cNvSpPr/>
          <p:nvPr/>
        </p:nvSpPr>
        <p:spPr>
          <a:xfrm>
            <a:off x="6199632"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499616"/>
            <a:ext cx="2386584" cy="274320"/>
          </a:xfrm>
          <a:prstGeom prst="rect">
            <a:avLst/>
          </a:prstGeom>
          <a:noFill/>
        </p:spPr>
        <p:txBody>
          <a:bodyPr wrap="square">
            <a:spAutoFit/>
          </a:bodyPr>
          <a:lstStyle/>
          <a:p>
            <a:pPr algn="l"/>
            <a:r>
              <a:rPr sz="1050" b="1">
                <a:solidFill>
                  <a:srgbClr val="CC0E1E"/>
                </a:solidFill>
                <a:latin typeface="Calibri"/>
              </a:rPr>
              <a:t>FIRST QUARTER PLAN PACE</a:t>
            </a:r>
          </a:p>
        </p:txBody>
      </p:sp>
      <p:sp>
        <p:nvSpPr>
          <p:cNvPr id="21" name="TextBox 20"/>
          <p:cNvSpPr txBox="1"/>
          <p:nvPr/>
        </p:nvSpPr>
        <p:spPr>
          <a:xfrm>
            <a:off x="6400800" y="1810512"/>
            <a:ext cx="2386584" cy="658368"/>
          </a:xfrm>
          <a:prstGeom prst="rect">
            <a:avLst/>
          </a:prstGeom>
          <a:noFill/>
        </p:spPr>
        <p:txBody>
          <a:bodyPr wrap="square">
            <a:spAutoFit/>
          </a:bodyPr>
          <a:lstStyle/>
          <a:p>
            <a:pPr algn="l"/>
            <a:r>
              <a:rPr sz="2800" b="1">
                <a:solidFill>
                  <a:srgbClr val="1A1A1A"/>
                </a:solidFill>
                <a:latin typeface="Calibri"/>
              </a:rPr>
              <a:t>~EUR 8.8M</a:t>
            </a:r>
          </a:p>
        </p:txBody>
      </p:sp>
      <p:sp>
        <p:nvSpPr>
          <p:cNvPr id="22" name="TextBox 21"/>
          <p:cNvSpPr txBox="1"/>
          <p:nvPr/>
        </p:nvSpPr>
        <p:spPr>
          <a:xfrm>
            <a:off x="6400800" y="4828032"/>
            <a:ext cx="2386584" cy="502920"/>
          </a:xfrm>
          <a:prstGeom prst="rect">
            <a:avLst/>
          </a:prstGeom>
          <a:noFill/>
        </p:spPr>
        <p:txBody>
          <a:bodyPr wrap="square">
            <a:spAutoFit/>
          </a:bodyPr>
          <a:lstStyle/>
          <a:p>
            <a:pPr algn="l"/>
            <a:r>
              <a:rPr sz="1100" b="0">
                <a:solidFill>
                  <a:srgbClr val="5A5A5A"/>
                </a:solidFill>
                <a:latin typeface="Calibri"/>
              </a:rPr>
              <a:t>a quarter of the annual plan</a:t>
            </a:r>
          </a:p>
        </p:txBody>
      </p:sp>
      <p:sp>
        <p:nvSpPr>
          <p:cNvPr id="23" name="Rectangle 22"/>
          <p:cNvSpPr/>
          <p:nvPr/>
        </p:nvSpPr>
        <p:spPr>
          <a:xfrm>
            <a:off x="9153144"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53144"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54312" y="1499616"/>
            <a:ext cx="2386584" cy="274320"/>
          </a:xfrm>
          <a:prstGeom prst="rect">
            <a:avLst/>
          </a:prstGeom>
          <a:noFill/>
        </p:spPr>
        <p:txBody>
          <a:bodyPr wrap="square">
            <a:spAutoFit/>
          </a:bodyPr>
          <a:lstStyle/>
          <a:p>
            <a:pPr algn="l"/>
            <a:r>
              <a:rPr sz="1050" b="1">
                <a:solidFill>
                  <a:srgbClr val="CC0E1E"/>
                </a:solidFill>
                <a:latin typeface="Calibri"/>
              </a:rPr>
              <a:t>FIRST QUARTER ACTUAL</a:t>
            </a:r>
          </a:p>
        </p:txBody>
      </p:sp>
      <p:sp>
        <p:nvSpPr>
          <p:cNvPr id="26" name="TextBox 25"/>
          <p:cNvSpPr txBox="1"/>
          <p:nvPr/>
        </p:nvSpPr>
        <p:spPr>
          <a:xfrm>
            <a:off x="9354312" y="1810512"/>
            <a:ext cx="2386584" cy="658368"/>
          </a:xfrm>
          <a:prstGeom prst="rect">
            <a:avLst/>
          </a:prstGeom>
          <a:noFill/>
        </p:spPr>
        <p:txBody>
          <a:bodyPr wrap="square">
            <a:spAutoFit/>
          </a:bodyPr>
          <a:lstStyle/>
          <a:p>
            <a:pPr algn="l"/>
            <a:r>
              <a:rPr sz="2800" b="1">
                <a:solidFill>
                  <a:srgbClr val="1A1A1A"/>
                </a:solidFill>
                <a:latin typeface="Calibri"/>
              </a:rPr>
              <a:t>EUR 8.14M</a:t>
            </a:r>
          </a:p>
        </p:txBody>
      </p:sp>
      <p:sp>
        <p:nvSpPr>
          <p:cNvPr id="27" name="TextBox 26"/>
          <p:cNvSpPr txBox="1"/>
          <p:nvPr/>
        </p:nvSpPr>
        <p:spPr>
          <a:xfrm>
            <a:off x="9354312" y="4828032"/>
            <a:ext cx="2386584" cy="502920"/>
          </a:xfrm>
          <a:prstGeom prst="rect">
            <a:avLst/>
          </a:prstGeom>
          <a:noFill/>
        </p:spPr>
        <p:txBody>
          <a:bodyPr wrap="square">
            <a:spAutoFit/>
          </a:bodyPr>
          <a:lstStyle/>
          <a:p>
            <a:pPr algn="l"/>
            <a:r>
              <a:rPr sz="1100" b="0">
                <a:solidFill>
                  <a:srgbClr val="5A5A5A"/>
                </a:solidFill>
                <a:latin typeface="Calibri"/>
              </a:rPr>
              <a:t>network distributors, April to June 2026</a:t>
            </a:r>
          </a:p>
        </p:txBody>
      </p:sp>
      <p:sp>
        <p:nvSpPr>
          <p:cNvPr id="28" name="TextBox 27"/>
          <p:cNvSpPr txBox="1"/>
          <p:nvPr/>
        </p:nvSpPr>
        <p:spPr>
          <a:xfrm>
            <a:off x="292608" y="5687568"/>
            <a:ext cx="11612880" cy="822960"/>
          </a:xfrm>
          <a:prstGeom prst="rect">
            <a:avLst/>
          </a:prstGeom>
          <a:noFill/>
        </p:spPr>
        <p:txBody>
          <a:bodyPr wrap="square">
            <a:spAutoFit/>
          </a:bodyPr>
          <a:lstStyle/>
          <a:p>
            <a:pPr algn="l"/>
            <a:r>
              <a:rPr sz="1050" b="0">
                <a:solidFill>
                  <a:srgbClr val="5A5A5A"/>
                </a:solidFill>
                <a:latin typeface="Calibri"/>
              </a:rPr>
              <a:t>A caution worth carrying: the KPI target workbook also has a line labelled parts target, at roughly EUR 108M. That is a different measure on a different basis — distributor to dealer, twelve months trailing — and it is about three times the turnover plan. The two must never appear on one slide without saying which is which.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FISCAL 2026 CLOSE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Fiscal 2026 closed with ITUK and IUK carrying a fifth of the network between them</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pic>
        <p:nvPicPr>
          <p:cNvPr id="8" name="Picture 7" descr="_fy26_close_by_db.png"/>
          <p:cNvPicPr>
            <a:picLocks noChangeAspect="1"/>
          </p:cNvPicPr>
          <p:nvPr/>
        </p:nvPicPr>
        <p:blipFill>
          <a:blip r:embed="rId3"/>
          <a:stretch>
            <a:fillRect/>
          </a:stretch>
        </p:blipFill>
        <p:spPr>
          <a:xfrm>
            <a:off x="292608" y="1751476"/>
            <a:ext cx="7199985" cy="404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Network parts billed EUR 32.58M for the full fiscal year to March 2026.</a:t>
            </a:r>
          </a:p>
          <a:p>
            <a:pPr>
              <a:lnSpc>
                <a:spcPct val="125000"/>
              </a:lnSpc>
              <a:spcAft>
                <a:spcPts val="1000"/>
              </a:spcAft>
            </a:pPr>
            <a:r>
              <a:rPr sz="1150" b="1">
                <a:solidFill>
                  <a:srgbClr val="CC0E1E"/>
                </a:solidFill>
                <a:latin typeface="Calibri"/>
              </a:rPr>
              <a:t>—  </a:t>
            </a:r>
            <a:r>
              <a:rPr sz="1150">
                <a:solidFill>
                  <a:srgbClr val="1A1A1A"/>
                </a:solidFill>
                <a:latin typeface="Calibri"/>
              </a:rPr>
              <a:t>Largest: ITUK at EUR 6.96M; second IUK at EUR 6.05M. Together EUR 13.01M.</a:t>
            </a:r>
          </a:p>
          <a:p>
            <a:pPr>
              <a:lnSpc>
                <a:spcPct val="125000"/>
              </a:lnSpc>
              <a:spcAft>
                <a:spcPts val="1000"/>
              </a:spcAft>
            </a:pPr>
            <a:r>
              <a:rPr sz="1150" b="1">
                <a:solidFill>
                  <a:srgbClr val="CC0E1E"/>
                </a:solidFill>
                <a:latin typeface="Calibri"/>
              </a:rPr>
              <a:t>—  </a:t>
            </a:r>
            <a:r>
              <a:rPr sz="1150">
                <a:solidFill>
                  <a:srgbClr val="1A1A1A"/>
                </a:solidFill>
                <a:latin typeface="Calibri"/>
              </a:rPr>
              <a:t>The tail of smaller markets sums to a material share, so the network is not a two-market story.</a:t>
            </a:r>
          </a:p>
          <a:p>
            <a:pPr>
              <a:lnSpc>
                <a:spcPct val="125000"/>
              </a:lnSpc>
              <a:spcAft>
                <a:spcPts val="1000"/>
              </a:spcAft>
            </a:pPr>
            <a:r>
              <a:rPr sz="1150" b="1">
                <a:solidFill>
                  <a:srgbClr val="CC0E1E"/>
                </a:solidFill>
                <a:latin typeface="Calibri"/>
              </a:rPr>
              <a:t>—  </a:t>
            </a:r>
            <a:r>
              <a:rPr sz="1150">
                <a:solidFill>
                  <a:srgbClr val="1A1A1A"/>
                </a:solidFill>
                <a:latin typeface="Calibri"/>
              </a:rPr>
              <a:t>Attribution resolves the sold-to code first, so Israel's two distributors stay separate on every chart.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FISCAL 2027 TO DATE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September to date: the network is up on the same point last year</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pic>
        <p:nvPicPr>
          <p:cNvPr id="8" name="Picture 7" descr="_sales_sept_mtd.png"/>
          <p:cNvPicPr>
            <a:picLocks noChangeAspect="1"/>
          </p:cNvPicPr>
          <p:nvPr/>
        </p:nvPicPr>
        <p:blipFill>
          <a:blip r:embed="rId3"/>
          <a:stretch>
            <a:fillRect/>
          </a:stretch>
        </p:blipFill>
        <p:spPr>
          <a:xfrm>
            <a:off x="292608" y="1498926"/>
            <a:ext cx="7199985" cy="4555092"/>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Month to date at 14 September, parts billing against the same point last September.</a:t>
            </a:r>
          </a:p>
          <a:p>
            <a:pPr>
              <a:lnSpc>
                <a:spcPct val="125000"/>
              </a:lnSpc>
              <a:spcAft>
                <a:spcPts val="1000"/>
              </a:spcAft>
            </a:pPr>
            <a:r>
              <a:rPr sz="1150" b="1">
                <a:solidFill>
                  <a:srgbClr val="CC0E1E"/>
                </a:solidFill>
                <a:latin typeface="Calibri"/>
              </a:rPr>
              <a:t>—  </a:t>
            </a:r>
            <a:r>
              <a:rPr sz="1150">
                <a:solidFill>
                  <a:srgbClr val="1A1A1A"/>
                </a:solidFill>
                <a:latin typeface="Calibri"/>
              </a:rPr>
              <a:t>ITUK, ISD and IBX are each ahead of where they were at this point last year.</a:t>
            </a:r>
          </a:p>
          <a:p>
            <a:pPr>
              <a:lnSpc>
                <a:spcPct val="125000"/>
              </a:lnSpc>
              <a:spcAft>
                <a:spcPts val="1000"/>
              </a:spcAft>
            </a:pPr>
            <a:r>
              <a:rPr sz="1150" b="1">
                <a:solidFill>
                  <a:srgbClr val="CC0E1E"/>
                </a:solidFill>
                <a:latin typeface="Calibri"/>
              </a:rPr>
              <a:t>—  </a:t>
            </a:r>
            <a:r>
              <a:rPr sz="1150">
                <a:solidFill>
                  <a:srgbClr val="1A1A1A"/>
                </a:solidFill>
                <a:latin typeface="Calibri"/>
              </a:rPr>
              <a:t>IUK is behind, and that single gap is the largest negative on the page.</a:t>
            </a:r>
          </a:p>
          <a:p>
            <a:pPr>
              <a:lnSpc>
                <a:spcPct val="125000"/>
              </a:lnSpc>
              <a:spcAft>
                <a:spcPts val="1000"/>
              </a:spcAft>
            </a:pPr>
            <a:r>
              <a:rPr sz="1150" b="1">
                <a:solidFill>
                  <a:srgbClr val="CC0E1E"/>
                </a:solidFill>
                <a:latin typeface="Calibri"/>
              </a:rPr>
              <a:t>—  </a:t>
            </a:r>
            <a:r>
              <a:rPr sz="1150">
                <a:solidFill>
                  <a:srgbClr val="1A1A1A"/>
                </a:solidFill>
                <a:latin typeface="Calibri"/>
              </a:rPr>
              <a:t>The month is not closed — read this as direction, not as a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FISCAL 2027 TO DATE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September month to date is running at 46% of the month plan</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pic>
        <p:nvPicPr>
          <p:cNvPr id="8" name="Picture 7" descr="_sales_sept_rank.png"/>
          <p:cNvPicPr>
            <a:picLocks noChangeAspect="1"/>
          </p:cNvPicPr>
          <p:nvPr/>
        </p:nvPicPr>
        <p:blipFill>
          <a:blip r:embed="rId3"/>
          <a:stretch>
            <a:fillRect/>
          </a:stretch>
        </p:blipFill>
        <p:spPr>
          <a:xfrm>
            <a:off x="292608" y="1676476"/>
            <a:ext cx="7199985" cy="419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Network month to date EUR 1.46M against a month plan of EUR 3.18M.</a:t>
            </a:r>
          </a:p>
          <a:p>
            <a:pPr>
              <a:lnSpc>
                <a:spcPct val="125000"/>
              </a:lnSpc>
              <a:spcAft>
                <a:spcPts val="1000"/>
              </a:spcAft>
            </a:pPr>
            <a:r>
              <a:rPr sz="1150" b="1">
                <a:solidFill>
                  <a:srgbClr val="CC0E1E"/>
                </a:solidFill>
                <a:latin typeface="Calibri"/>
              </a:rPr>
              <a:t>—  </a:t>
            </a:r>
            <a:r>
              <a:rPr sz="1150">
                <a:solidFill>
                  <a:srgbClr val="1A1A1A"/>
                </a:solidFill>
                <a:latin typeface="Calibri"/>
              </a:rPr>
              <a:t>ITUK is the largest single contributor for the month so far.</a:t>
            </a:r>
          </a:p>
          <a:p>
            <a:pPr>
              <a:lnSpc>
                <a:spcPct val="125000"/>
              </a:lnSpc>
              <a:spcAft>
                <a:spcPts val="1000"/>
              </a:spcAft>
            </a:pPr>
            <a:r>
              <a:rPr sz="1150" b="1">
                <a:solidFill>
                  <a:srgbClr val="CC0E1E"/>
                </a:solidFill>
                <a:latin typeface="Calibri"/>
              </a:rPr>
              <a:t>—  </a:t>
            </a:r>
            <a:r>
              <a:rPr sz="1150">
                <a:solidFill>
                  <a:srgbClr val="1A1A1A"/>
                </a:solidFill>
                <a:latin typeface="Calibri"/>
              </a:rPr>
              <a:t>Progress varies widely by distributor, which is why the ranking is worth showing rather than the total alone.</a:t>
            </a:r>
          </a:p>
          <a:p>
            <a:pPr>
              <a:lnSpc>
                <a:spcPct val="125000"/>
              </a:lnSpc>
              <a:spcAft>
                <a:spcPts val="1000"/>
              </a:spcAft>
            </a:pPr>
            <a:r>
              <a:rPr sz="1150" b="1">
                <a:solidFill>
                  <a:srgbClr val="CC0E1E"/>
                </a:solidFill>
                <a:latin typeface="Calibri"/>
              </a:rPr>
              <a:t>—  </a:t>
            </a:r>
            <a:r>
              <a:rPr sz="1150">
                <a:solidFill>
                  <a:srgbClr val="1A1A1A"/>
                </a:solidFill>
                <a:latin typeface="Calibri"/>
              </a:rPr>
              <a:t>Order intake and work in progress sit in the same report when a forward view is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02</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Service performance</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Parts fill rate, inventory cover, and how much of the network runs on urgent orders.</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FILL RATE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Parts fill: 10 of the 19 reporting markets sit below the standard</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8" name="Rectangle 7"/>
          <p:cNvSpPr/>
          <p:nvPr/>
        </p:nvSpPr>
        <p:spPr>
          <a:xfrm>
            <a:off x="292608"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499616"/>
            <a:ext cx="2386584" cy="274320"/>
          </a:xfrm>
          <a:prstGeom prst="rect">
            <a:avLst/>
          </a:prstGeom>
          <a:noFill/>
        </p:spPr>
        <p:txBody>
          <a:bodyPr wrap="square">
            <a:spAutoFit/>
          </a:bodyPr>
          <a:lstStyle/>
          <a:p>
            <a:pPr algn="l"/>
            <a:r>
              <a:rPr sz="1050" b="1">
                <a:solidFill>
                  <a:srgbClr val="CC0E1E"/>
                </a:solidFill>
                <a:latin typeface="Calibri"/>
              </a:rPr>
              <a:t>REPORTING MARKETS</a:t>
            </a:r>
          </a:p>
        </p:txBody>
      </p:sp>
      <p:sp>
        <p:nvSpPr>
          <p:cNvPr id="11" name="TextBox 10"/>
          <p:cNvSpPr txBox="1"/>
          <p:nvPr/>
        </p:nvSpPr>
        <p:spPr>
          <a:xfrm>
            <a:off x="493776" y="1810512"/>
            <a:ext cx="2386584" cy="658368"/>
          </a:xfrm>
          <a:prstGeom prst="rect">
            <a:avLst/>
          </a:prstGeom>
          <a:noFill/>
        </p:spPr>
        <p:txBody>
          <a:bodyPr wrap="square">
            <a:spAutoFit/>
          </a:bodyPr>
          <a:lstStyle/>
          <a:p>
            <a:pPr algn="l"/>
            <a:r>
              <a:rPr sz="2800" b="1">
                <a:solidFill>
                  <a:srgbClr val="1A1A1A"/>
                </a:solidFill>
                <a:latin typeface="Calibri"/>
              </a:rPr>
              <a:t>19 of 22</a:t>
            </a:r>
          </a:p>
        </p:txBody>
      </p:sp>
      <p:sp>
        <p:nvSpPr>
          <p:cNvPr id="12" name="TextBox 11"/>
          <p:cNvSpPr txBox="1"/>
          <p:nvPr/>
        </p:nvSpPr>
        <p:spPr>
          <a:xfrm>
            <a:off x="493776" y="4828032"/>
            <a:ext cx="2386584" cy="502920"/>
          </a:xfrm>
          <a:prstGeom prst="rect">
            <a:avLst/>
          </a:prstGeom>
          <a:noFill/>
        </p:spPr>
        <p:txBody>
          <a:bodyPr wrap="square">
            <a:spAutoFit/>
          </a:bodyPr>
          <a:lstStyle/>
          <a:p>
            <a:pPr algn="l"/>
            <a:r>
              <a:rPr sz="1100" b="0">
                <a:solidFill>
                  <a:srgbClr val="5A5A5A"/>
                </a:solidFill>
                <a:latin typeface="Calibri"/>
              </a:rPr>
              <a:t>a market that never files is not a zero</a:t>
            </a:r>
          </a:p>
        </p:txBody>
      </p:sp>
      <p:sp>
        <p:nvSpPr>
          <p:cNvPr id="13" name="Rectangle 12"/>
          <p:cNvSpPr/>
          <p:nvPr/>
        </p:nvSpPr>
        <p:spPr>
          <a:xfrm>
            <a:off x="3246120"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499616"/>
            <a:ext cx="2386584" cy="274320"/>
          </a:xfrm>
          <a:prstGeom prst="rect">
            <a:avLst/>
          </a:prstGeom>
          <a:noFill/>
        </p:spPr>
        <p:txBody>
          <a:bodyPr wrap="square">
            <a:spAutoFit/>
          </a:bodyPr>
          <a:lstStyle/>
          <a:p>
            <a:pPr algn="l"/>
            <a:r>
              <a:rPr sz="1050" b="1">
                <a:solidFill>
                  <a:srgbClr val="CC0E1E"/>
                </a:solidFill>
                <a:latin typeface="Calibri"/>
              </a:rPr>
              <a:t>MARKETS BELOW 95%</a:t>
            </a:r>
          </a:p>
        </p:txBody>
      </p:sp>
      <p:sp>
        <p:nvSpPr>
          <p:cNvPr id="16" name="TextBox 15"/>
          <p:cNvSpPr txBox="1"/>
          <p:nvPr/>
        </p:nvSpPr>
        <p:spPr>
          <a:xfrm>
            <a:off x="3447288" y="1810512"/>
            <a:ext cx="2386584" cy="658368"/>
          </a:xfrm>
          <a:prstGeom prst="rect">
            <a:avLst/>
          </a:prstGeom>
          <a:noFill/>
        </p:spPr>
        <p:txBody>
          <a:bodyPr wrap="square">
            <a:spAutoFit/>
          </a:bodyPr>
          <a:lstStyle/>
          <a:p>
            <a:pPr algn="l"/>
            <a:r>
              <a:rPr sz="2800" b="1">
                <a:solidFill>
                  <a:srgbClr val="1A1A1A"/>
                </a:solidFill>
                <a:latin typeface="Calibri"/>
              </a:rPr>
              <a:t>10</a:t>
            </a:r>
          </a:p>
        </p:txBody>
      </p:sp>
      <p:sp>
        <p:nvSpPr>
          <p:cNvPr id="17" name="TextBox 16"/>
          <p:cNvSpPr txBox="1"/>
          <p:nvPr/>
        </p:nvSpPr>
        <p:spPr>
          <a:xfrm>
            <a:off x="3447288" y="4828032"/>
            <a:ext cx="2386584" cy="502920"/>
          </a:xfrm>
          <a:prstGeom prst="rect">
            <a:avLst/>
          </a:prstGeom>
          <a:noFill/>
        </p:spPr>
        <p:txBody>
          <a:bodyPr wrap="square">
            <a:spAutoFit/>
          </a:bodyPr>
          <a:lstStyle/>
          <a:p>
            <a:pPr algn="l"/>
            <a:r>
              <a:rPr sz="1100" b="0">
                <a:solidFill>
                  <a:srgbClr val="5A5A5A"/>
                </a:solidFill>
                <a:latin typeface="Calibri"/>
              </a:rPr>
              <a:t>latest reported month per market</a:t>
            </a:r>
          </a:p>
        </p:txBody>
      </p:sp>
      <p:sp>
        <p:nvSpPr>
          <p:cNvPr id="18" name="Rectangle 17"/>
          <p:cNvSpPr/>
          <p:nvPr/>
        </p:nvSpPr>
        <p:spPr>
          <a:xfrm>
            <a:off x="6199632"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499616"/>
            <a:ext cx="2386584" cy="274320"/>
          </a:xfrm>
          <a:prstGeom prst="rect">
            <a:avLst/>
          </a:prstGeom>
          <a:noFill/>
        </p:spPr>
        <p:txBody>
          <a:bodyPr wrap="square">
            <a:spAutoFit/>
          </a:bodyPr>
          <a:lstStyle/>
          <a:p>
            <a:pPr algn="l"/>
            <a:r>
              <a:rPr sz="1050" b="1">
                <a:solidFill>
                  <a:srgbClr val="CC0E1E"/>
                </a:solidFill>
                <a:latin typeface="Calibri"/>
              </a:rPr>
              <a:t>LOWEST REPORTED</a:t>
            </a:r>
          </a:p>
        </p:txBody>
      </p:sp>
      <p:sp>
        <p:nvSpPr>
          <p:cNvPr id="21" name="TextBox 20"/>
          <p:cNvSpPr txBox="1"/>
          <p:nvPr/>
        </p:nvSpPr>
        <p:spPr>
          <a:xfrm>
            <a:off x="6400800" y="1810512"/>
            <a:ext cx="2386584" cy="658368"/>
          </a:xfrm>
          <a:prstGeom prst="rect">
            <a:avLst/>
          </a:prstGeom>
          <a:noFill/>
        </p:spPr>
        <p:txBody>
          <a:bodyPr wrap="square">
            <a:spAutoFit/>
          </a:bodyPr>
          <a:lstStyle/>
          <a:p>
            <a:pPr algn="l"/>
            <a:r>
              <a:rPr sz="2800" b="1">
                <a:solidFill>
                  <a:srgbClr val="1A1A1A"/>
                </a:solidFill>
                <a:latin typeface="Calibri"/>
              </a:rPr>
              <a:t>60.0%</a:t>
            </a:r>
          </a:p>
        </p:txBody>
      </p:sp>
      <p:sp>
        <p:nvSpPr>
          <p:cNvPr id="22" name="TextBox 21"/>
          <p:cNvSpPr txBox="1"/>
          <p:nvPr/>
        </p:nvSpPr>
        <p:spPr>
          <a:xfrm>
            <a:off x="6400800" y="4828032"/>
            <a:ext cx="2386584" cy="502920"/>
          </a:xfrm>
          <a:prstGeom prst="rect">
            <a:avLst/>
          </a:prstGeom>
          <a:noFill/>
        </p:spPr>
        <p:txBody>
          <a:bodyPr wrap="square">
            <a:spAutoFit/>
          </a:bodyPr>
          <a:lstStyle/>
          <a:p>
            <a:pPr algn="l"/>
            <a:r>
              <a:rPr sz="1100" b="0">
                <a:solidFill>
                  <a:srgbClr val="5A5A5A"/>
                </a:solidFill>
                <a:latin typeface="Calibri"/>
              </a:rPr>
              <a:t>Petros Petropoulos · Mai 25</a:t>
            </a:r>
          </a:p>
        </p:txBody>
      </p:sp>
      <p:sp>
        <p:nvSpPr>
          <p:cNvPr id="23" name="Rectangle 22"/>
          <p:cNvSpPr/>
          <p:nvPr/>
        </p:nvSpPr>
        <p:spPr>
          <a:xfrm>
            <a:off x="9153144"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53144"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54312" y="1499616"/>
            <a:ext cx="2386584" cy="274320"/>
          </a:xfrm>
          <a:prstGeom prst="rect">
            <a:avLst/>
          </a:prstGeom>
          <a:noFill/>
        </p:spPr>
        <p:txBody>
          <a:bodyPr wrap="square">
            <a:spAutoFit/>
          </a:bodyPr>
          <a:lstStyle/>
          <a:p>
            <a:pPr algn="l"/>
            <a:r>
              <a:rPr sz="1050" b="1">
                <a:solidFill>
                  <a:srgbClr val="CC0E1E"/>
                </a:solidFill>
                <a:latin typeface="Calibri"/>
              </a:rPr>
              <a:t>STANDARD AND FLOOR</a:t>
            </a:r>
          </a:p>
        </p:txBody>
      </p:sp>
      <p:sp>
        <p:nvSpPr>
          <p:cNvPr id="26" name="TextBox 25"/>
          <p:cNvSpPr txBox="1"/>
          <p:nvPr/>
        </p:nvSpPr>
        <p:spPr>
          <a:xfrm>
            <a:off x="9354312" y="1810512"/>
            <a:ext cx="2386584" cy="658368"/>
          </a:xfrm>
          <a:prstGeom prst="rect">
            <a:avLst/>
          </a:prstGeom>
          <a:noFill/>
        </p:spPr>
        <p:txBody>
          <a:bodyPr wrap="square">
            <a:spAutoFit/>
          </a:bodyPr>
          <a:lstStyle/>
          <a:p>
            <a:pPr algn="l"/>
            <a:r>
              <a:rPr sz="2800" b="1">
                <a:solidFill>
                  <a:srgbClr val="1A1A1A"/>
                </a:solidFill>
                <a:latin typeface="Calibri"/>
              </a:rPr>
              <a:t>95% / 92%</a:t>
            </a:r>
          </a:p>
        </p:txBody>
      </p:sp>
      <p:sp>
        <p:nvSpPr>
          <p:cNvPr id="27" name="TextBox 26"/>
          <p:cNvSpPr txBox="1"/>
          <p:nvPr/>
        </p:nvSpPr>
        <p:spPr>
          <a:xfrm>
            <a:off x="9354312" y="4828032"/>
            <a:ext cx="2386584" cy="502920"/>
          </a:xfrm>
          <a:prstGeom prst="rect">
            <a:avLst/>
          </a:prstGeom>
          <a:noFill/>
        </p:spPr>
        <p:txBody>
          <a:bodyPr wrap="square">
            <a:spAutoFit/>
          </a:bodyPr>
          <a:lstStyle/>
          <a:p>
            <a:pPr algn="l"/>
            <a:r>
              <a:rPr sz="1100" b="0">
                <a:solidFill>
                  <a:srgbClr val="5A5A5A"/>
                </a:solidFill>
                <a:latin typeface="Calibri"/>
              </a:rPr>
              <a:t>target logic in the KPI target sheet</a:t>
            </a:r>
          </a:p>
        </p:txBody>
      </p:sp>
      <p:sp>
        <p:nvSpPr>
          <p:cNvPr id="28" name="TextBox 27"/>
          <p:cNvSpPr txBox="1"/>
          <p:nvPr/>
        </p:nvSpPr>
        <p:spPr>
          <a:xfrm>
            <a:off x="292608" y="5687568"/>
            <a:ext cx="11612880" cy="822960"/>
          </a:xfrm>
          <a:prstGeom prst="rect">
            <a:avLst/>
          </a:prstGeom>
          <a:noFill/>
        </p:spPr>
        <p:txBody>
          <a:bodyPr wrap="square">
            <a:spAutoFit/>
          </a:bodyPr>
          <a:lstStyle/>
          <a:p>
            <a:pPr algn="l"/>
            <a:r>
              <a:rPr sz="1050" b="0">
                <a:solidFill>
                  <a:srgbClr val="5A5A5A"/>
                </a:solidFill>
                <a:latin typeface="Calibri"/>
              </a:rPr>
              <a:t>Reported order-line fill from the monthly KPI return, each market shown at the latest month it actually filed. Several of those months are more than a year old, so the month label travels with every number. Two markets have never filed at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FILL RATE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Fill rate, latest reported month per market, against the 95% standard</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pic>
        <p:nvPicPr>
          <p:cNvPr id="8" name="Picture 7" descr="_fill_rate_latest.png"/>
          <p:cNvPicPr>
            <a:picLocks noChangeAspect="1"/>
          </p:cNvPicPr>
          <p:nvPr/>
        </p:nvPicPr>
        <p:blipFill>
          <a:blip r:embed="rId3"/>
          <a:stretch>
            <a:fillRect/>
          </a:stretch>
        </p:blipFill>
        <p:spPr>
          <a:xfrm>
            <a:off x="292608" y="1826476"/>
            <a:ext cx="7199985" cy="389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Reported order-line fill, latest month each market filed.</a:t>
            </a:r>
          </a:p>
          <a:p>
            <a:pPr>
              <a:lnSpc>
                <a:spcPct val="125000"/>
              </a:lnSpc>
              <a:spcAft>
                <a:spcPts val="1000"/>
              </a:spcAft>
            </a:pPr>
            <a:r>
              <a:rPr sz="1150" b="1">
                <a:solidFill>
                  <a:srgbClr val="CC0E1E"/>
                </a:solidFill>
                <a:latin typeface="Calibri"/>
              </a:rPr>
              <a:t>—  </a:t>
            </a:r>
            <a:r>
              <a:rPr sz="1150">
                <a:solidFill>
                  <a:srgbClr val="1A1A1A"/>
                </a:solidFill>
                <a:latin typeface="Calibri"/>
              </a:rPr>
              <a:t>10 of the 19 reporting markets sit below the standard.</a:t>
            </a:r>
          </a:p>
          <a:p>
            <a:pPr>
              <a:lnSpc>
                <a:spcPct val="125000"/>
              </a:lnSpc>
              <a:spcAft>
                <a:spcPts val="1000"/>
              </a:spcAft>
            </a:pPr>
            <a:r>
              <a:rPr sz="1150" b="1">
                <a:solidFill>
                  <a:srgbClr val="CC0E1E"/>
                </a:solidFill>
                <a:latin typeface="Calibri"/>
              </a:rPr>
              <a:t>—  </a:t>
            </a:r>
            <a:r>
              <a:rPr sz="1150">
                <a:solidFill>
                  <a:srgbClr val="1A1A1A"/>
                </a:solidFill>
                <a:latin typeface="Calibri"/>
              </a:rPr>
              <a:t>The lowest reported figure is in the low sixties, which is a service risk rather than a reporting issue.</a:t>
            </a:r>
          </a:p>
          <a:p>
            <a:pPr>
              <a:lnSpc>
                <a:spcPct val="125000"/>
              </a:lnSpc>
              <a:spcAft>
                <a:spcPts val="1000"/>
              </a:spcAft>
            </a:pPr>
            <a:r>
              <a:rPr sz="1150" b="1">
                <a:solidFill>
                  <a:srgbClr val="CC0E1E"/>
                </a:solidFill>
                <a:latin typeface="Calibri"/>
              </a:rPr>
              <a:t>—  </a:t>
            </a:r>
            <a:r>
              <a:rPr sz="1150">
                <a:solidFill>
                  <a:srgbClr val="1A1A1A"/>
                </a:solidFill>
                <a:latin typeface="Calibri"/>
              </a:rPr>
              <a:t>Coverage is the real caveat: some of these numbers are from a year ago and are labelled as such.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FILL RATE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Deviation from the 95% fill standard, in percentage points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12</a:t>
            </a:r>
          </a:p>
        </p:txBody>
      </p:sp>
      <p:pic>
        <p:nvPicPr>
          <p:cNvPr id="8" name="Picture 7" descr="_fill_rate_deviation.png"/>
          <p:cNvPicPr>
            <a:picLocks noChangeAspect="1"/>
          </p:cNvPicPr>
          <p:nvPr/>
        </p:nvPicPr>
        <p:blipFill>
          <a:blip r:embed="rId3"/>
          <a:stretch>
            <a:fillRect/>
          </a:stretch>
        </p:blipFill>
        <p:spPr>
          <a:xfrm>
            <a:off x="292608" y="1826476"/>
            <a:ext cx="7199985" cy="389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Read left as the size of the service problem and right as headroom.</a:t>
            </a:r>
          </a:p>
          <a:p>
            <a:pPr>
              <a:lnSpc>
                <a:spcPct val="125000"/>
              </a:lnSpc>
              <a:spcAft>
                <a:spcPts val="1000"/>
              </a:spcAft>
            </a:pPr>
            <a:r>
              <a:rPr sz="1150" b="1">
                <a:solidFill>
                  <a:srgbClr val="CC0E1E"/>
                </a:solidFill>
                <a:latin typeface="Calibri"/>
              </a:rPr>
              <a:t>—  </a:t>
            </a:r>
            <a:r>
              <a:rPr sz="1150">
                <a:solidFill>
                  <a:srgbClr val="1A1A1A"/>
                </a:solidFill>
                <a:latin typeface="Calibri"/>
              </a:rPr>
              <a:t>A market inside the tolerance band is neither a risk nor an opportunity today.</a:t>
            </a:r>
          </a:p>
          <a:p>
            <a:pPr>
              <a:lnSpc>
                <a:spcPct val="125000"/>
              </a:lnSpc>
              <a:spcAft>
                <a:spcPts val="1000"/>
              </a:spcAft>
            </a:pPr>
            <a:r>
              <a:rPr sz="1150" b="1">
                <a:solidFill>
                  <a:srgbClr val="CC0E1E"/>
                </a:solidFill>
                <a:latin typeface="Calibri"/>
              </a:rPr>
              <a:t>—  </a:t>
            </a:r>
            <a:r>
              <a:rPr sz="1150">
                <a:solidFill>
                  <a:srgbClr val="1A1A1A"/>
                </a:solidFill>
                <a:latin typeface="Calibri"/>
              </a:rPr>
              <a:t>The markets outside the band are where a fill-rate conversation is worth having.</a:t>
            </a:r>
          </a:p>
          <a:p>
            <a:pPr>
              <a:lnSpc>
                <a:spcPct val="125000"/>
              </a:lnSpc>
              <a:spcAft>
                <a:spcPts val="1000"/>
              </a:spcAft>
            </a:pPr>
            <a:r>
              <a:rPr sz="1150" b="1">
                <a:solidFill>
                  <a:srgbClr val="CC0E1E"/>
                </a:solidFill>
                <a:latin typeface="Calibri"/>
              </a:rPr>
              <a:t>—  </a:t>
            </a:r>
            <a:r>
              <a:rPr sz="1150">
                <a:solidFill>
                  <a:srgbClr val="1A1A1A"/>
                </a:solidFill>
                <a:latin typeface="Calibri"/>
              </a:rPr>
              <a:t>The band is an interpretation of the 95% standard; the underlying numbers are reported, not modelled.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INVENTORY COVER</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Inventory cover: several markets hold far more stock than their supply route justifies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13</a:t>
            </a:r>
          </a:p>
        </p:txBody>
      </p:sp>
      <p:pic>
        <p:nvPicPr>
          <p:cNvPr id="8" name="Picture 7" descr="_days_of_stock.png"/>
          <p:cNvPicPr>
            <a:picLocks noChangeAspect="1"/>
          </p:cNvPicPr>
          <p:nvPr/>
        </p:nvPicPr>
        <p:blipFill>
          <a:blip r:embed="rId3"/>
          <a:stretch>
            <a:fillRect/>
          </a:stretch>
        </p:blipFill>
        <p:spPr>
          <a:xfrm>
            <a:off x="292608" y="1826476"/>
            <a:ext cx="7199985" cy="389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Days of parts in stock, latest reported month, 18 of 22 markets reporting.</a:t>
            </a:r>
          </a:p>
          <a:p>
            <a:pPr>
              <a:lnSpc>
                <a:spcPct val="125000"/>
              </a:lnSpc>
              <a:spcAft>
                <a:spcPts val="1000"/>
              </a:spcAft>
            </a:pPr>
            <a:r>
              <a:rPr sz="1150" b="1">
                <a:solidFill>
                  <a:srgbClr val="CC0E1E"/>
                </a:solidFill>
                <a:latin typeface="Calibri"/>
              </a:rPr>
              <a:t>—  </a:t>
            </a:r>
            <a:r>
              <a:rPr sz="1150">
                <a:solidFill>
                  <a:srgbClr val="1A1A1A"/>
                </a:solidFill>
                <a:latin typeface="Calibri"/>
              </a:rPr>
              <a:t>Road-received markets should sit around 60 to 90 days; sea-freight markets can justify more.</a:t>
            </a:r>
          </a:p>
          <a:p>
            <a:pPr>
              <a:lnSpc>
                <a:spcPct val="125000"/>
              </a:lnSpc>
              <a:spcAft>
                <a:spcPts val="1000"/>
              </a:spcAft>
            </a:pPr>
            <a:r>
              <a:rPr sz="1150" b="1">
                <a:solidFill>
                  <a:srgbClr val="CC0E1E"/>
                </a:solidFill>
                <a:latin typeface="Calibri"/>
              </a:rPr>
              <a:t>—  </a:t>
            </a:r>
            <a:r>
              <a:rPr sz="1150">
                <a:solidFill>
                  <a:srgbClr val="1A1A1A"/>
                </a:solidFill>
                <a:latin typeface="Calibri"/>
              </a:rPr>
              <a:t>The longest cover on the page is working capital sitting still rather than a service buffer.</a:t>
            </a:r>
          </a:p>
          <a:p>
            <a:pPr>
              <a:lnSpc>
                <a:spcPct val="125000"/>
              </a:lnSpc>
              <a:spcAft>
                <a:spcPts val="1000"/>
              </a:spcAft>
            </a:pPr>
            <a:r>
              <a:rPr sz="1150" b="1">
                <a:solidFill>
                  <a:srgbClr val="CC0E1E"/>
                </a:solidFill>
                <a:latin typeface="Calibri"/>
              </a:rPr>
              <a:t>—  </a:t>
            </a:r>
            <a:r>
              <a:rPr sz="1150">
                <a:solidFill>
                  <a:srgbClr val="1A1A1A"/>
                </a:solidFill>
                <a:latin typeface="Calibri"/>
              </a:rPr>
              <a:t>Very short cover at the other end pairs with the low fill rates on the previous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ORDER URGENCY</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Roughly 17.5 euro in every hundred runs on an urgent order</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14</a:t>
            </a:r>
          </a:p>
        </p:txBody>
      </p:sp>
      <p:pic>
        <p:nvPicPr>
          <p:cNvPr id="8" name="Picture 7" descr="_urgency_fy26.png"/>
          <p:cNvPicPr>
            <a:picLocks noChangeAspect="1"/>
          </p:cNvPicPr>
          <p:nvPr/>
        </p:nvPicPr>
        <p:blipFill>
          <a:blip r:embed="rId3"/>
          <a:stretch>
            <a:fillRect/>
          </a:stretch>
        </p:blipFill>
        <p:spPr>
          <a:xfrm>
            <a:off x="292608" y="3063973"/>
            <a:ext cx="7199985" cy="1424997"/>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Urgent share 17.5% of matched billing value, fiscal 2026.</a:t>
            </a:r>
          </a:p>
          <a:p>
            <a:pPr>
              <a:lnSpc>
                <a:spcPct val="125000"/>
              </a:lnSpc>
              <a:spcAft>
                <a:spcPts val="1000"/>
              </a:spcAft>
            </a:pPr>
            <a:r>
              <a:rPr sz="1150" b="1">
                <a:solidFill>
                  <a:srgbClr val="CC0E1E"/>
                </a:solidFill>
                <a:latin typeface="Calibri"/>
              </a:rPr>
              <a:t>—  </a:t>
            </a:r>
            <a:r>
              <a:rPr sz="1150">
                <a:solidFill>
                  <a:srgbClr val="1A1A1A"/>
                </a:solidFill>
                <a:latin typeface="Calibri"/>
              </a:rPr>
              <a:t>100.0% of billed value carries a usable order code, so this is the full picture for the year.</a:t>
            </a:r>
          </a:p>
          <a:p>
            <a:pPr>
              <a:lnSpc>
                <a:spcPct val="125000"/>
              </a:lnSpc>
              <a:spcAft>
                <a:spcPts val="1000"/>
              </a:spcAft>
            </a:pPr>
            <a:r>
              <a:rPr sz="1150" b="1">
                <a:solidFill>
                  <a:srgbClr val="CC0E1E"/>
                </a:solidFill>
                <a:latin typeface="Calibri"/>
              </a:rPr>
              <a:t>—  </a:t>
            </a:r>
            <a:r>
              <a:rPr sz="1150">
                <a:solidFill>
                  <a:srgbClr val="1A1A1A"/>
                </a:solidFill>
                <a:latin typeface="Calibri"/>
              </a:rPr>
              <a:t>A high urgent share usually means the dealer network is treating us as a same-day warehouse.</a:t>
            </a:r>
          </a:p>
          <a:p>
            <a:pPr>
              <a:lnSpc>
                <a:spcPct val="125000"/>
              </a:lnSpc>
              <a:spcAft>
                <a:spcPts val="1000"/>
              </a:spcAft>
            </a:pPr>
            <a:r>
              <a:rPr sz="1150" b="1">
                <a:solidFill>
                  <a:srgbClr val="CC0E1E"/>
                </a:solidFill>
                <a:latin typeface="Calibri"/>
              </a:rPr>
              <a:t>—  </a:t>
            </a:r>
            <a:r>
              <a:rPr sz="1150">
                <a:solidFill>
                  <a:srgbClr val="1A1A1A"/>
                </a:solidFill>
                <a:latin typeface="Calibri"/>
              </a:rPr>
              <a:t>This is a precondition for the sales-to-dealer conversation, not a result of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ORDER URGENCY</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Urgent-order share by distributor: a healthy spend per truck can still hide an emergency habit</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15</a:t>
            </a:r>
          </a:p>
        </p:txBody>
      </p:sp>
      <p:pic>
        <p:nvPicPr>
          <p:cNvPr id="8" name="Picture 7" descr="_urgency_by_db.png"/>
          <p:cNvPicPr>
            <a:picLocks noChangeAspect="1"/>
          </p:cNvPicPr>
          <p:nvPr/>
        </p:nvPicPr>
        <p:blipFill>
          <a:blip r:embed="rId3"/>
          <a:stretch>
            <a:fillRect/>
          </a:stretch>
        </p:blipFill>
        <p:spPr>
          <a:xfrm>
            <a:off x="292608" y="1676476"/>
            <a:ext cx="7199985" cy="419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Urgent share of matched billing value, by distributor.</a:t>
            </a:r>
          </a:p>
          <a:p>
            <a:pPr>
              <a:lnSpc>
                <a:spcPct val="125000"/>
              </a:lnSpc>
              <a:spcAft>
                <a:spcPts val="1000"/>
              </a:spcAft>
            </a:pPr>
            <a:r>
              <a:rPr sz="1150" b="1">
                <a:solidFill>
                  <a:srgbClr val="CC0E1E"/>
                </a:solidFill>
                <a:latin typeface="Calibri"/>
              </a:rPr>
              <a:t>—  </a:t>
            </a:r>
            <a:r>
              <a:rPr sz="1150">
                <a:solidFill>
                  <a:srgbClr val="1A1A1A"/>
                </a:solidFill>
                <a:latin typeface="Calibri"/>
              </a:rPr>
              <a:t>Markets high on this page are buying their availability one emergency order at a time.</a:t>
            </a:r>
          </a:p>
          <a:p>
            <a:pPr>
              <a:lnSpc>
                <a:spcPct val="125000"/>
              </a:lnSpc>
              <a:spcAft>
                <a:spcPts val="1000"/>
              </a:spcAft>
            </a:pPr>
            <a:r>
              <a:rPr sz="1150" b="1">
                <a:solidFill>
                  <a:srgbClr val="CC0E1E"/>
                </a:solidFill>
                <a:latin typeface="Calibri"/>
              </a:rPr>
              <a:t>—  </a:t>
            </a:r>
            <a:r>
              <a:rPr sz="1150">
                <a:solidFill>
                  <a:srgbClr val="1A1A1A"/>
                </a:solidFill>
                <a:latin typeface="Calibri"/>
              </a:rPr>
              <a:t>Order coding is uneven, so each bar should be read with its matched-value coverage.</a:t>
            </a:r>
          </a:p>
          <a:p>
            <a:pPr>
              <a:lnSpc>
                <a:spcPct val="125000"/>
              </a:lnSpc>
              <a:spcAft>
                <a:spcPts val="1000"/>
              </a:spcAft>
            </a:pPr>
            <a:r>
              <a:rPr sz="1150" b="1">
                <a:solidFill>
                  <a:srgbClr val="CC0E1E"/>
                </a:solidFill>
                <a:latin typeface="Calibri"/>
              </a:rPr>
              <a:t>—  </a:t>
            </a:r>
            <a:r>
              <a:rPr sz="1150">
                <a:solidFill>
                  <a:srgbClr val="1A1A1A"/>
                </a:solidFill>
                <a:latin typeface="Calibri"/>
              </a:rPr>
              <a:t>This measure exposes a market that looks fine on spend per truck.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03</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Where the money is</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Spend per truck, the modelled ceiling, and the service families carrying the unbought euro.</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THE PARTS OPPORTUNITY</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56.6% of the modelled parts ceiling is covered today</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17</a:t>
            </a:r>
          </a:p>
        </p:txBody>
      </p:sp>
      <p:sp>
        <p:nvSpPr>
          <p:cNvPr id="8" name="Rectangle 7"/>
          <p:cNvSpPr/>
          <p:nvPr/>
        </p:nvSpPr>
        <p:spPr>
          <a:xfrm>
            <a:off x="292608"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499616"/>
            <a:ext cx="2386584" cy="274320"/>
          </a:xfrm>
          <a:prstGeom prst="rect">
            <a:avLst/>
          </a:prstGeom>
          <a:noFill/>
        </p:spPr>
        <p:txBody>
          <a:bodyPr wrap="square">
            <a:spAutoFit/>
          </a:bodyPr>
          <a:lstStyle/>
          <a:p>
            <a:pPr algn="l"/>
            <a:r>
              <a:rPr sz="1050" b="1">
                <a:solidFill>
                  <a:srgbClr val="CC0E1E"/>
                </a:solidFill>
                <a:latin typeface="Calibri"/>
              </a:rPr>
              <a:t>TARGET SPEND CEILING</a:t>
            </a:r>
          </a:p>
        </p:txBody>
      </p:sp>
      <p:sp>
        <p:nvSpPr>
          <p:cNvPr id="11" name="TextBox 10"/>
          <p:cNvSpPr txBox="1"/>
          <p:nvPr/>
        </p:nvSpPr>
        <p:spPr>
          <a:xfrm>
            <a:off x="493776" y="1810512"/>
            <a:ext cx="2386584" cy="658368"/>
          </a:xfrm>
          <a:prstGeom prst="rect">
            <a:avLst/>
          </a:prstGeom>
          <a:noFill/>
        </p:spPr>
        <p:txBody>
          <a:bodyPr wrap="square">
            <a:spAutoFit/>
          </a:bodyPr>
          <a:lstStyle/>
          <a:p>
            <a:pPr algn="l"/>
            <a:r>
              <a:rPr sz="2800" b="1">
                <a:solidFill>
                  <a:srgbClr val="1A1A1A"/>
                </a:solidFill>
                <a:latin typeface="Calibri"/>
              </a:rPr>
              <a:t>EUR 54.38M</a:t>
            </a:r>
          </a:p>
        </p:txBody>
      </p:sp>
      <p:sp>
        <p:nvSpPr>
          <p:cNvPr id="12" name="TextBox 11"/>
          <p:cNvSpPr txBox="1"/>
          <p:nvPr/>
        </p:nvSpPr>
        <p:spPr>
          <a:xfrm>
            <a:off x="493776" y="4828032"/>
            <a:ext cx="2386584" cy="502920"/>
          </a:xfrm>
          <a:prstGeom prst="rect">
            <a:avLst/>
          </a:prstGeom>
          <a:noFill/>
        </p:spPr>
        <p:txBody>
          <a:bodyPr wrap="square">
            <a:spAutoFit/>
          </a:bodyPr>
          <a:lstStyle/>
          <a:p>
            <a:pPr algn="l"/>
            <a:r>
              <a:rPr sz="1100" b="0">
                <a:solidFill>
                  <a:srgbClr val="5A5A5A"/>
                </a:solidFill>
                <a:latin typeface="Calibri"/>
              </a:rPr>
              <a:t>modelled, calendar 2025</a:t>
            </a:r>
          </a:p>
        </p:txBody>
      </p:sp>
      <p:sp>
        <p:nvSpPr>
          <p:cNvPr id="13" name="Rectangle 12"/>
          <p:cNvSpPr/>
          <p:nvPr/>
        </p:nvSpPr>
        <p:spPr>
          <a:xfrm>
            <a:off x="3246120"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499616"/>
            <a:ext cx="2386584" cy="274320"/>
          </a:xfrm>
          <a:prstGeom prst="rect">
            <a:avLst/>
          </a:prstGeom>
          <a:noFill/>
        </p:spPr>
        <p:txBody>
          <a:bodyPr wrap="square">
            <a:spAutoFit/>
          </a:bodyPr>
          <a:lstStyle/>
          <a:p>
            <a:pPr algn="l"/>
            <a:r>
              <a:rPr sz="1050" b="1">
                <a:solidFill>
                  <a:srgbClr val="CC0E1E"/>
                </a:solidFill>
                <a:latin typeface="Calibri"/>
              </a:rPr>
              <a:t>PARTS BILLED</a:t>
            </a:r>
          </a:p>
        </p:txBody>
      </p:sp>
      <p:sp>
        <p:nvSpPr>
          <p:cNvPr id="16" name="TextBox 15"/>
          <p:cNvSpPr txBox="1"/>
          <p:nvPr/>
        </p:nvSpPr>
        <p:spPr>
          <a:xfrm>
            <a:off x="3447288" y="1810512"/>
            <a:ext cx="2386584" cy="658368"/>
          </a:xfrm>
          <a:prstGeom prst="rect">
            <a:avLst/>
          </a:prstGeom>
          <a:noFill/>
        </p:spPr>
        <p:txBody>
          <a:bodyPr wrap="square">
            <a:spAutoFit/>
          </a:bodyPr>
          <a:lstStyle/>
          <a:p>
            <a:pPr algn="l"/>
            <a:r>
              <a:rPr sz="2800" b="1">
                <a:solidFill>
                  <a:srgbClr val="1A1A1A"/>
                </a:solidFill>
                <a:latin typeface="Calibri"/>
              </a:rPr>
              <a:t>EUR 30.76M</a:t>
            </a:r>
          </a:p>
        </p:txBody>
      </p:sp>
      <p:sp>
        <p:nvSpPr>
          <p:cNvPr id="17" name="TextBox 16"/>
          <p:cNvSpPr txBox="1"/>
          <p:nvPr/>
        </p:nvSpPr>
        <p:spPr>
          <a:xfrm>
            <a:off x="3447288" y="4828032"/>
            <a:ext cx="2386584" cy="502920"/>
          </a:xfrm>
          <a:prstGeom prst="rect">
            <a:avLst/>
          </a:prstGeom>
          <a:noFill/>
        </p:spPr>
        <p:txBody>
          <a:bodyPr wrap="square">
            <a:spAutoFit/>
          </a:bodyPr>
          <a:lstStyle/>
          <a:p>
            <a:pPr algn="l"/>
            <a:r>
              <a:rPr sz="1100" b="0">
                <a:solidFill>
                  <a:srgbClr val="5A5A5A"/>
                </a:solidFill>
                <a:latin typeface="Calibri"/>
              </a:rPr>
              <a:t>what we billed in the same year</a:t>
            </a:r>
          </a:p>
        </p:txBody>
      </p:sp>
      <p:sp>
        <p:nvSpPr>
          <p:cNvPr id="18" name="Rectangle 17"/>
          <p:cNvSpPr/>
          <p:nvPr/>
        </p:nvSpPr>
        <p:spPr>
          <a:xfrm>
            <a:off x="6199632"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499616"/>
            <a:ext cx="2386584" cy="274320"/>
          </a:xfrm>
          <a:prstGeom prst="rect">
            <a:avLst/>
          </a:prstGeom>
          <a:noFill/>
        </p:spPr>
        <p:txBody>
          <a:bodyPr wrap="square">
            <a:spAutoFit/>
          </a:bodyPr>
          <a:lstStyle/>
          <a:p>
            <a:pPr algn="l"/>
            <a:r>
              <a:rPr sz="1050" b="1">
                <a:solidFill>
                  <a:srgbClr val="CC0E1E"/>
                </a:solidFill>
                <a:latin typeface="Calibri"/>
              </a:rPr>
              <a:t>NOT CAPTURED</a:t>
            </a:r>
          </a:p>
        </p:txBody>
      </p:sp>
      <p:sp>
        <p:nvSpPr>
          <p:cNvPr id="21" name="TextBox 20"/>
          <p:cNvSpPr txBox="1"/>
          <p:nvPr/>
        </p:nvSpPr>
        <p:spPr>
          <a:xfrm>
            <a:off x="6400800" y="1810512"/>
            <a:ext cx="2386584" cy="658368"/>
          </a:xfrm>
          <a:prstGeom prst="rect">
            <a:avLst/>
          </a:prstGeom>
          <a:noFill/>
        </p:spPr>
        <p:txBody>
          <a:bodyPr wrap="square">
            <a:spAutoFit/>
          </a:bodyPr>
          <a:lstStyle/>
          <a:p>
            <a:pPr algn="l"/>
            <a:r>
              <a:rPr sz="2800" b="1">
                <a:solidFill>
                  <a:srgbClr val="1A1A1A"/>
                </a:solidFill>
                <a:latin typeface="Calibri"/>
              </a:rPr>
              <a:t>EUR 23.95M</a:t>
            </a:r>
          </a:p>
        </p:txBody>
      </p:sp>
      <p:sp>
        <p:nvSpPr>
          <p:cNvPr id="22" name="TextBox 21"/>
          <p:cNvSpPr txBox="1"/>
          <p:nvPr/>
        </p:nvSpPr>
        <p:spPr>
          <a:xfrm>
            <a:off x="6400800" y="4828032"/>
            <a:ext cx="2386584" cy="502920"/>
          </a:xfrm>
          <a:prstGeom prst="rect">
            <a:avLst/>
          </a:prstGeom>
          <a:noFill/>
        </p:spPr>
        <p:txBody>
          <a:bodyPr wrap="square">
            <a:spAutoFit/>
          </a:bodyPr>
          <a:lstStyle/>
          <a:p>
            <a:pPr algn="l"/>
            <a:r>
              <a:rPr sz="1100" b="0">
                <a:solidFill>
                  <a:srgbClr val="5A5A5A"/>
                </a:solidFill>
                <a:latin typeface="Calibri"/>
              </a:rPr>
              <a:t>of which addressable EUR 23.95M</a:t>
            </a:r>
          </a:p>
        </p:txBody>
      </p:sp>
      <p:sp>
        <p:nvSpPr>
          <p:cNvPr id="23" name="Rectangle 22"/>
          <p:cNvSpPr/>
          <p:nvPr/>
        </p:nvSpPr>
        <p:spPr>
          <a:xfrm>
            <a:off x="9153144"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53144"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54312" y="1499616"/>
            <a:ext cx="2386584" cy="274320"/>
          </a:xfrm>
          <a:prstGeom prst="rect">
            <a:avLst/>
          </a:prstGeom>
          <a:noFill/>
        </p:spPr>
        <p:txBody>
          <a:bodyPr wrap="square">
            <a:spAutoFit/>
          </a:bodyPr>
          <a:lstStyle/>
          <a:p>
            <a:pPr algn="l"/>
            <a:r>
              <a:rPr sz="1050" b="1">
                <a:solidFill>
                  <a:srgbClr val="CC0E1E"/>
                </a:solidFill>
                <a:latin typeface="Calibri"/>
              </a:rPr>
              <a:t>SPEND PER TRUCK</a:t>
            </a:r>
          </a:p>
        </p:txBody>
      </p:sp>
      <p:sp>
        <p:nvSpPr>
          <p:cNvPr id="26" name="TextBox 25"/>
          <p:cNvSpPr txBox="1"/>
          <p:nvPr/>
        </p:nvSpPr>
        <p:spPr>
          <a:xfrm>
            <a:off x="9354312" y="1810512"/>
            <a:ext cx="2386584" cy="658368"/>
          </a:xfrm>
          <a:prstGeom prst="rect">
            <a:avLst/>
          </a:prstGeom>
          <a:noFill/>
        </p:spPr>
        <p:txBody>
          <a:bodyPr wrap="square">
            <a:spAutoFit/>
          </a:bodyPr>
          <a:lstStyle/>
          <a:p>
            <a:pPr algn="l"/>
            <a:r>
              <a:rPr sz="2800" b="1">
                <a:solidFill>
                  <a:srgbClr val="1A1A1A"/>
                </a:solidFill>
                <a:latin typeface="Calibri"/>
              </a:rPr>
              <a:t>EUR 188</a:t>
            </a:r>
          </a:p>
        </p:txBody>
      </p:sp>
      <p:sp>
        <p:nvSpPr>
          <p:cNvPr id="27" name="TextBox 26"/>
          <p:cNvSpPr txBox="1"/>
          <p:nvPr/>
        </p:nvSpPr>
        <p:spPr>
          <a:xfrm>
            <a:off x="9354312" y="4828032"/>
            <a:ext cx="2386584" cy="502920"/>
          </a:xfrm>
          <a:prstGeom prst="rect">
            <a:avLst/>
          </a:prstGeom>
          <a:noFill/>
        </p:spPr>
        <p:txBody>
          <a:bodyPr wrap="square">
            <a:spAutoFit/>
          </a:bodyPr>
          <a:lstStyle/>
          <a:p>
            <a:pPr algn="l"/>
            <a:r>
              <a:rPr sz="1100" b="0">
                <a:solidFill>
                  <a:srgbClr val="5A5A5A"/>
                </a:solidFill>
                <a:latin typeface="Calibri"/>
              </a:rPr>
              <a:t>median EUR 185 across the network</a:t>
            </a:r>
          </a:p>
        </p:txBody>
      </p:sp>
      <p:sp>
        <p:nvSpPr>
          <p:cNvPr id="28" name="TextBox 27"/>
          <p:cNvSpPr txBox="1"/>
          <p:nvPr/>
        </p:nvSpPr>
        <p:spPr>
          <a:xfrm>
            <a:off x="292608" y="5687568"/>
            <a:ext cx="11612880" cy="822960"/>
          </a:xfrm>
          <a:prstGeom prst="rect">
            <a:avLst/>
          </a:prstGeom>
          <a:noFill/>
        </p:spPr>
        <p:txBody>
          <a:bodyPr wrap="square">
            <a:spAutoFit/>
          </a:bodyPr>
          <a:lstStyle/>
          <a:p>
            <a:pPr algn="l"/>
            <a:r>
              <a:rPr sz="1050" b="0">
                <a:solidFill>
                  <a:srgbClr val="5A5A5A"/>
                </a:solidFill>
                <a:latin typeface="Calibri"/>
              </a:rPr>
              <a:t>The ceiling is a model, and part of it rests on a flat per-truck assumption in the smaller markets. The addressable line is the portion of the gap we can realistically contest. Read the coverage figure as a direction with a stated model behind it, not as a measured share of the market.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SPEND PER TRUCK</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Spend per truck ranges more than four to one across the network</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18</a:t>
            </a:r>
          </a:p>
        </p:txBody>
      </p:sp>
      <p:pic>
        <p:nvPicPr>
          <p:cNvPr id="8" name="Picture 7" descr="_gps_spend_per_truck.png"/>
          <p:cNvPicPr>
            <a:picLocks noChangeAspect="1"/>
          </p:cNvPicPr>
          <p:nvPr/>
        </p:nvPicPr>
        <p:blipFill>
          <a:blip r:embed="rId3"/>
          <a:stretch>
            <a:fillRect/>
          </a:stretch>
        </p:blipFill>
        <p:spPr>
          <a:xfrm>
            <a:off x="292608" y="1676476"/>
            <a:ext cx="7199985" cy="419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Parts billed per truck in service, calendar 2025.</a:t>
            </a:r>
          </a:p>
          <a:p>
            <a:pPr>
              <a:lnSpc>
                <a:spcPct val="125000"/>
              </a:lnSpc>
              <a:spcAft>
                <a:spcPts val="1000"/>
              </a:spcAft>
            </a:pPr>
            <a:r>
              <a:rPr sz="1150" b="1">
                <a:solidFill>
                  <a:srgbClr val="CC0E1E"/>
                </a:solidFill>
                <a:latin typeface="Calibri"/>
              </a:rPr>
              <a:t>—  </a:t>
            </a:r>
            <a:r>
              <a:rPr sz="1150">
                <a:solidFill>
                  <a:srgbClr val="1A1A1A"/>
                </a:solidFill>
                <a:latin typeface="Calibri"/>
              </a:rPr>
              <a:t>The spread is the finding: the same service need is being satisfied at very different rates.</a:t>
            </a:r>
          </a:p>
          <a:p>
            <a:pPr>
              <a:lnSpc>
                <a:spcPct val="125000"/>
              </a:lnSpc>
              <a:spcAft>
                <a:spcPts val="1000"/>
              </a:spcAft>
            </a:pPr>
            <a:r>
              <a:rPr sz="1150" b="1">
                <a:solidFill>
                  <a:srgbClr val="CC0E1E"/>
                </a:solidFill>
                <a:latin typeface="Calibri"/>
              </a:rPr>
              <a:t>—  </a:t>
            </a:r>
            <a:r>
              <a:rPr sz="1150">
                <a:solidFill>
                  <a:srgbClr val="1A1A1A"/>
                </a:solidFill>
                <a:latin typeface="Calibri"/>
              </a:rPr>
              <a:t>A high figure is not automatically good — it can also mean a market is over-buying against its fleet.</a:t>
            </a:r>
          </a:p>
          <a:p>
            <a:pPr>
              <a:lnSpc>
                <a:spcPct val="125000"/>
              </a:lnSpc>
              <a:spcAft>
                <a:spcPts val="1000"/>
              </a:spcAft>
            </a:pPr>
            <a:r>
              <a:rPr sz="1150" b="1">
                <a:solidFill>
                  <a:srgbClr val="CC0E1E"/>
                </a:solidFill>
                <a:latin typeface="Calibri"/>
              </a:rPr>
              <a:t>—  </a:t>
            </a:r>
            <a:r>
              <a:rPr sz="1150">
                <a:solidFill>
                  <a:srgbClr val="1A1A1A"/>
                </a:solidFill>
                <a:latin typeface="Calibri"/>
              </a:rPr>
              <a:t>Each market's denominator is its fleet in service from the same model, and the source is stated until it is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SERVICE CAPTURE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The unbought service euro is concentrated in a handful of families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19</a:t>
            </a:r>
          </a:p>
        </p:txBody>
      </p:sp>
      <p:pic>
        <p:nvPicPr>
          <p:cNvPr id="8" name="Picture 7" descr="_pms_gap_categories.png"/>
          <p:cNvPicPr>
            <a:picLocks noChangeAspect="1"/>
          </p:cNvPicPr>
          <p:nvPr/>
        </p:nvPicPr>
        <p:blipFill>
          <a:blip r:embed="rId3"/>
          <a:stretch>
            <a:fillRect/>
          </a:stretch>
        </p:blipFill>
        <p:spPr>
          <a:xfrm>
            <a:off x="292608" y="1751476"/>
            <a:ext cx="7199985" cy="404999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Unbought value EUR 20.14M at observed selling prices, calendar 2025.</a:t>
            </a:r>
          </a:p>
          <a:p>
            <a:pPr>
              <a:lnSpc>
                <a:spcPct val="125000"/>
              </a:lnSpc>
              <a:spcAft>
                <a:spcPts val="1000"/>
              </a:spcAft>
            </a:pPr>
            <a:r>
              <a:rPr sz="1150" b="1">
                <a:solidFill>
                  <a:srgbClr val="CC0E1E"/>
                </a:solidFill>
                <a:latin typeface="Calibri"/>
              </a:rPr>
              <a:t>—  </a:t>
            </a:r>
            <a:r>
              <a:rPr sz="1150">
                <a:solidFill>
                  <a:srgbClr val="1A1A1A"/>
                </a:solidFill>
                <a:latin typeface="Calibri"/>
              </a:rPr>
              <a:t>Largest single family: Clutch Disc at EUR 3.26M.</a:t>
            </a:r>
          </a:p>
          <a:p>
            <a:pPr>
              <a:lnSpc>
                <a:spcPct val="125000"/>
              </a:lnSpc>
              <a:spcAft>
                <a:spcPts val="1000"/>
              </a:spcAft>
            </a:pPr>
            <a:r>
              <a:rPr sz="1150" b="1">
                <a:solidFill>
                  <a:srgbClr val="CC0E1E"/>
                </a:solidFill>
                <a:latin typeface="Calibri"/>
              </a:rPr>
              <a:t>—  </a:t>
            </a:r>
            <a:r>
              <a:rPr sz="1150">
                <a:solidFill>
                  <a:srgbClr val="1A1A1A"/>
                </a:solidFill>
                <a:latin typeface="Calibri"/>
              </a:rPr>
              <a:t>These are the families where a service-coverage conversation pays first.</a:t>
            </a:r>
          </a:p>
          <a:p>
            <a:pPr>
              <a:lnSpc>
                <a:spcPct val="125000"/>
              </a:lnSpc>
              <a:spcAft>
                <a:spcPts val="1000"/>
              </a:spcAft>
            </a:pPr>
            <a:r>
              <a:rPr sz="1150" b="1">
                <a:solidFill>
                  <a:srgbClr val="CC0E1E"/>
                </a:solidFill>
                <a:latin typeface="Calibri"/>
              </a:rPr>
              <a:t>—  </a:t>
            </a:r>
            <a:r>
              <a:rPr sz="1150">
                <a:solidFill>
                  <a:srgbClr val="1A1A1A"/>
                </a:solidFill>
                <a:latin typeface="Calibri"/>
              </a:rPr>
              <a:t>Capture is measured in units against the service model and then valued at the price actually realised.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04</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ITUK in detail</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The gap at both layers of the chain, converted from the sales performance leakage review.</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ITUK · SERVICE DEMAND</a:t>
            </a:r>
          </a:p>
        </p:txBody>
      </p:sp>
      <p:sp>
        <p:nvSpPr>
          <p:cNvPr id="5" name="TextBox 4"/>
          <p:cNvSpPr txBox="1"/>
          <p:nvPr/>
        </p:nvSpPr>
        <p:spPr>
          <a:xfrm>
            <a:off x="292608" y="475488"/>
            <a:ext cx="11612880" cy="877824"/>
          </a:xfrm>
          <a:prstGeom prst="rect">
            <a:avLst/>
          </a:prstGeom>
          <a:noFill/>
        </p:spPr>
        <p:txBody>
          <a:bodyPr wrap="square">
            <a:spAutoFit/>
          </a:bodyPr>
          <a:lstStyle/>
          <a:p>
            <a:pPr algn="l"/>
            <a:r>
              <a:rPr sz="2300" b="1">
                <a:solidFill>
                  <a:srgbClr val="1A1A1A"/>
                </a:solidFill>
                <a:latin typeface="Calibri"/>
              </a:rPr>
              <a:t>ITUK: about two thirds of the expected service volume is billed, and the fiscal view is better than the calendar one</a:t>
            </a:r>
          </a:p>
        </p:txBody>
      </p:sp>
      <p:sp>
        <p:nvSpPr>
          <p:cNvPr id="6" name="Rectangle 5"/>
          <p:cNvSpPr/>
          <p:nvPr/>
        </p:nvSpPr>
        <p:spPr>
          <a:xfrm>
            <a:off x="292608" y="1444752"/>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21</a:t>
            </a:r>
          </a:p>
        </p:txBody>
      </p:sp>
      <p:pic>
        <p:nvPicPr>
          <p:cNvPr id="8" name="Picture 7" descr="_ituk_demand_split.png"/>
          <p:cNvPicPr>
            <a:picLocks noChangeAspect="1"/>
          </p:cNvPicPr>
          <p:nvPr/>
        </p:nvPicPr>
        <p:blipFill>
          <a:blip r:embed="rId3"/>
          <a:stretch>
            <a:fillRect/>
          </a:stretch>
        </p:blipFill>
        <p:spPr>
          <a:xfrm>
            <a:off x="292608" y="3248497"/>
            <a:ext cx="7199985" cy="1439997"/>
          </a:xfrm>
          <a:prstGeom prst="rect">
            <a:avLst/>
          </a:prstGeom>
        </p:spPr>
      </p:pic>
      <p:sp>
        <p:nvSpPr>
          <p:cNvPr id="9" name="Rectangle 8"/>
          <p:cNvSpPr/>
          <p:nvPr/>
        </p:nvSpPr>
        <p:spPr>
          <a:xfrm>
            <a:off x="7657185" y="1645920"/>
            <a:ext cx="20000" cy="4645152"/>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664208"/>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2029968"/>
            <a:ext cx="3955695" cy="4187952"/>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Expected service units against what was actually billed, on 23,068 trucks in service.</a:t>
            </a:r>
          </a:p>
          <a:p>
            <a:pPr>
              <a:lnSpc>
                <a:spcPct val="125000"/>
              </a:lnSpc>
              <a:spcAft>
                <a:spcPts val="1000"/>
              </a:spcAft>
            </a:pPr>
            <a:r>
              <a:rPr sz="1150" b="1">
                <a:solidFill>
                  <a:srgbClr val="CC0E1E"/>
                </a:solidFill>
                <a:latin typeface="Calibri"/>
              </a:rPr>
              <a:t>—  </a:t>
            </a:r>
            <a:r>
              <a:rPr sz="1150">
                <a:solidFill>
                  <a:srgbClr val="1A1A1A"/>
                </a:solidFill>
                <a:latin typeface="Calibri"/>
              </a:rPr>
              <a:t>Calendar 2025: 65.9% billed, leaving EUR 1.32M unbought.</a:t>
            </a:r>
          </a:p>
          <a:p>
            <a:pPr>
              <a:lnSpc>
                <a:spcPct val="125000"/>
              </a:lnSpc>
              <a:spcAft>
                <a:spcPts val="1000"/>
              </a:spcAft>
            </a:pPr>
            <a:r>
              <a:rPr sz="1150" b="1">
                <a:solidFill>
                  <a:srgbClr val="CC0E1E"/>
                </a:solidFill>
                <a:latin typeface="Calibri"/>
              </a:rPr>
              <a:t>—  </a:t>
            </a:r>
            <a:r>
              <a:rPr sz="1150">
                <a:solidFill>
                  <a:srgbClr val="1A1A1A"/>
                </a:solidFill>
                <a:latin typeface="Calibri"/>
              </a:rPr>
              <a:t>Fiscal 2025/26: 73.3% billed, leaving EUR 1.17M — the gap narrows on the fiscal basis.</a:t>
            </a:r>
          </a:p>
          <a:p>
            <a:pPr>
              <a:lnSpc>
                <a:spcPct val="125000"/>
              </a:lnSpc>
              <a:spcAft>
                <a:spcPts val="1000"/>
              </a:spcAft>
            </a:pPr>
            <a:r>
              <a:rPr sz="1150" b="1">
                <a:solidFill>
                  <a:srgbClr val="CC0E1E"/>
                </a:solidFill>
                <a:latin typeface="Calibri"/>
              </a:rPr>
              <a:t>—  </a:t>
            </a:r>
            <a:r>
              <a:rPr sz="1150">
                <a:solidFill>
                  <a:srgbClr val="1A1A1A"/>
                </a:solidFill>
                <a:latin typeface="Calibri"/>
              </a:rPr>
              <a:t>The difference between the two columns is the year boundary, not a different fleet.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ITUK · GAP BY FAMILY</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ITUK: the unbought euro sits in urea filters, brake shoes and clutch components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22</a:t>
            </a:r>
          </a:p>
        </p:txBody>
      </p:sp>
      <p:pic>
        <p:nvPicPr>
          <p:cNvPr id="8" name="Picture 7" descr="_ituk_gap_by_family_fy.png"/>
          <p:cNvPicPr>
            <a:picLocks noChangeAspect="1"/>
          </p:cNvPicPr>
          <p:nvPr/>
        </p:nvPicPr>
        <p:blipFill>
          <a:blip r:embed="rId3"/>
          <a:stretch>
            <a:fillRect/>
          </a:stretch>
        </p:blipFill>
        <p:spPr>
          <a:xfrm>
            <a:off x="292608" y="2336475"/>
            <a:ext cx="7199985" cy="2879994"/>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Fiscal 2025/26, valued at the observed selling price.</a:t>
            </a:r>
          </a:p>
          <a:p>
            <a:pPr>
              <a:lnSpc>
                <a:spcPct val="125000"/>
              </a:lnSpc>
              <a:spcAft>
                <a:spcPts val="1000"/>
              </a:spcAft>
            </a:pPr>
            <a:r>
              <a:rPr sz="1150" b="1">
                <a:solidFill>
                  <a:srgbClr val="CC0E1E"/>
                </a:solidFill>
                <a:latin typeface="Calibri"/>
              </a:rPr>
              <a:t>—  </a:t>
            </a:r>
            <a:r>
              <a:rPr sz="1150">
                <a:solidFill>
                  <a:srgbClr val="1A1A1A"/>
                </a:solidFill>
                <a:latin typeface="Calibri"/>
              </a:rPr>
              <a:t>Urea filter is the single largest line at EUR 335k.</a:t>
            </a:r>
          </a:p>
          <a:p>
            <a:pPr>
              <a:lnSpc>
                <a:spcPct val="125000"/>
              </a:lnSpc>
              <a:spcAft>
                <a:spcPts val="1000"/>
              </a:spcAft>
            </a:pPr>
            <a:r>
              <a:rPr sz="1150" b="1">
                <a:solidFill>
                  <a:srgbClr val="CC0E1E"/>
                </a:solidFill>
                <a:latin typeface="Calibri"/>
              </a:rPr>
              <a:t>—  </a:t>
            </a:r>
            <a:r>
              <a:rPr sz="1150">
                <a:solidFill>
                  <a:srgbClr val="1A1A1A"/>
                </a:solidFill>
                <a:latin typeface="Calibri"/>
              </a:rPr>
              <a:t>Brake shoe at EUR 200k and clutch disc at EUR 174k follow.</a:t>
            </a:r>
          </a:p>
          <a:p>
            <a:pPr>
              <a:lnSpc>
                <a:spcPct val="125000"/>
              </a:lnSpc>
              <a:spcAft>
                <a:spcPts val="1000"/>
              </a:spcAft>
            </a:pPr>
            <a:r>
              <a:rPr sz="1150" b="1">
                <a:solidFill>
                  <a:srgbClr val="CC0E1E"/>
                </a:solidFill>
                <a:latin typeface="Calibri"/>
              </a:rPr>
              <a:t>—  </a:t>
            </a:r>
            <a:r>
              <a:rPr sz="1150">
                <a:solidFill>
                  <a:srgbClr val="1A1A1A"/>
                </a:solidFill>
                <a:latin typeface="Calibri"/>
              </a:rPr>
              <a:t>Filters as a group are largely captured, which makes the filter gap a volume question rather than a price 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ITUK · CAPTURE AGAINST EXPECTATION</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ITUK: capture measured against the full service expectation, by family</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23</a:t>
            </a:r>
          </a:p>
        </p:txBody>
      </p:sp>
      <p:pic>
        <p:nvPicPr>
          <p:cNvPr id="8" name="Picture 7" descr="_ituk_capture_vs_full.png"/>
          <p:cNvPicPr>
            <a:picLocks noChangeAspect="1"/>
          </p:cNvPicPr>
          <p:nvPr/>
        </p:nvPicPr>
        <p:blipFill>
          <a:blip r:embed="rId3"/>
          <a:stretch>
            <a:fillRect/>
          </a:stretch>
        </p:blipFill>
        <p:spPr>
          <a:xfrm>
            <a:off x="292608" y="1593977"/>
            <a:ext cx="7199985" cy="4364990"/>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Deviation from 100% of the service parts the model expects for this fleet.</a:t>
            </a:r>
          </a:p>
          <a:p>
            <a:pPr>
              <a:lnSpc>
                <a:spcPct val="125000"/>
              </a:lnSpc>
              <a:spcAft>
                <a:spcPts val="1000"/>
              </a:spcAft>
            </a:pPr>
            <a:r>
              <a:rPr sz="1150" b="1">
                <a:solidFill>
                  <a:srgbClr val="CC0E1E"/>
                </a:solidFill>
                <a:latin typeface="Calibri"/>
              </a:rPr>
              <a:t>—  </a:t>
            </a:r>
            <a:r>
              <a:rPr sz="1150">
                <a:solidFill>
                  <a:srgbClr val="1A1A1A"/>
                </a:solidFill>
                <a:latin typeface="Calibri"/>
              </a:rPr>
              <a:t>Filters sit at or above the modelled rate, so their gap is fleet or service-interval driven.</a:t>
            </a:r>
          </a:p>
          <a:p>
            <a:pPr>
              <a:lnSpc>
                <a:spcPct val="125000"/>
              </a:lnSpc>
              <a:spcAft>
                <a:spcPts val="1000"/>
              </a:spcAft>
            </a:pPr>
            <a:r>
              <a:rPr sz="1150" b="1">
                <a:solidFill>
                  <a:srgbClr val="CC0E1E"/>
                </a:solidFill>
                <a:latin typeface="Calibri"/>
              </a:rPr>
              <a:t>—  </a:t>
            </a:r>
            <a:r>
              <a:rPr sz="1150">
                <a:solidFill>
                  <a:srgbClr val="1A1A1A"/>
                </a:solidFill>
                <a:latin typeface="Calibri"/>
              </a:rPr>
              <a:t>Clutch components sit well below, and that is where the recoverable value is.</a:t>
            </a:r>
          </a:p>
          <a:p>
            <a:pPr>
              <a:lnSpc>
                <a:spcPct val="125000"/>
              </a:lnSpc>
              <a:spcAft>
                <a:spcPts val="1000"/>
              </a:spcAft>
            </a:pPr>
            <a:r>
              <a:rPr sz="1150" b="1">
                <a:solidFill>
                  <a:srgbClr val="CC0E1E"/>
                </a:solidFill>
                <a:latin typeface="Calibri"/>
              </a:rPr>
              <a:t>—  </a:t>
            </a:r>
            <a:r>
              <a:rPr sz="1150">
                <a:solidFill>
                  <a:srgbClr val="1A1A1A"/>
                </a:solidFill>
                <a:latin typeface="Calibri"/>
              </a:rPr>
              <a:t>Above the line is not automatically a win: it can mean the interval assumption is too low for this fleet.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ITUK · BOTH LAYERS</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ITUK: the chain looks different at the inner layer than at ours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24</a:t>
            </a:r>
          </a:p>
        </p:txBody>
      </p:sp>
      <p:pic>
        <p:nvPicPr>
          <p:cNvPr id="8" name="Picture 7" descr="_ituk_two_layers.png"/>
          <p:cNvPicPr>
            <a:picLocks noChangeAspect="1"/>
          </p:cNvPicPr>
          <p:nvPr/>
        </p:nvPicPr>
        <p:blipFill>
          <a:blip r:embed="rId3"/>
          <a:stretch>
            <a:fillRect/>
          </a:stretch>
        </p:blipFill>
        <p:spPr>
          <a:xfrm>
            <a:off x="292608" y="3056473"/>
            <a:ext cx="7199985" cy="1439997"/>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Outer layer is our billing to ITUK; inner layer is what ITUK's dealers buy.</a:t>
            </a:r>
          </a:p>
          <a:p>
            <a:pPr>
              <a:lnSpc>
                <a:spcPct val="125000"/>
              </a:lnSpc>
              <a:spcAft>
                <a:spcPts val="1000"/>
              </a:spcAft>
            </a:pPr>
            <a:r>
              <a:rPr sz="1150" b="1">
                <a:solidFill>
                  <a:srgbClr val="CC0E1E"/>
                </a:solidFill>
                <a:latin typeface="Calibri"/>
              </a:rPr>
              <a:t>—  </a:t>
            </a:r>
            <a:r>
              <a:rPr sz="1150">
                <a:solidFill>
                  <a:srgbClr val="1A1A1A"/>
                </a:solidFill>
                <a:latin typeface="Calibri"/>
              </a:rPr>
              <a:t>The dealer layer carries EUR 5.51M of billed euro across twelve months of sales-to-dealer file.</a:t>
            </a:r>
          </a:p>
          <a:p>
            <a:pPr>
              <a:lnSpc>
                <a:spcPct val="125000"/>
              </a:lnSpc>
              <a:spcAft>
                <a:spcPts val="1000"/>
              </a:spcAft>
            </a:pPr>
            <a:r>
              <a:rPr sz="1150" b="1">
                <a:solidFill>
                  <a:srgbClr val="CC0E1E"/>
                </a:solidFill>
                <a:latin typeface="Calibri"/>
              </a:rPr>
              <a:t>—  </a:t>
            </a:r>
            <a:r>
              <a:rPr sz="1150">
                <a:solidFill>
                  <a:srgbClr val="1A1A1A"/>
                </a:solidFill>
                <a:latin typeface="Calibri"/>
              </a:rPr>
              <a:t>Dealer-layer capture is 47.5%, materially below our 65.9% to the distributor.</a:t>
            </a:r>
          </a:p>
          <a:p>
            <a:pPr>
              <a:lnSpc>
                <a:spcPct val="125000"/>
              </a:lnSpc>
              <a:spcAft>
                <a:spcPts val="1000"/>
              </a:spcAft>
            </a:pPr>
            <a:r>
              <a:rPr sz="1150" b="1">
                <a:solidFill>
                  <a:srgbClr val="CC0E1E"/>
                </a:solidFill>
                <a:latin typeface="Calibri"/>
              </a:rPr>
              <a:t>—  </a:t>
            </a:r>
            <a:r>
              <a:rPr sz="1150">
                <a:solidFill>
                  <a:srgbClr val="1A1A1A"/>
                </a:solidFill>
                <a:latin typeface="Calibri"/>
              </a:rPr>
              <a:t>That difference is what the distributor is holding, and it is the conversation worth having with ITUK.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05</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Genuine and best-value on the same part number</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Where both lines exist for the same reference, which one is moving — and where classification says we are exposed.</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GENUINE AGAINST BEST-VALUE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Germany: best-value share of paired units fell from 38.6% to 8.5% in one fiscal year</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26</a:t>
            </a:r>
          </a:p>
        </p:txBody>
      </p:sp>
      <p:pic>
        <p:nvPicPr>
          <p:cNvPr id="8" name="Picture 7" descr="_de_bvp_cliff.png"/>
          <p:cNvPicPr>
            <a:picLocks noChangeAspect="1"/>
          </p:cNvPicPr>
          <p:nvPr/>
        </p:nvPicPr>
        <p:blipFill>
          <a:blip r:embed="rId3"/>
          <a:stretch>
            <a:fillRect/>
          </a:stretch>
        </p:blipFill>
        <p:spPr>
          <a:xfrm>
            <a:off x="292608" y="2126475"/>
            <a:ext cx="7199985" cy="3299993"/>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Best-value share of units on reference pairs, fiscal years, April to March.</a:t>
            </a:r>
          </a:p>
          <a:p>
            <a:pPr>
              <a:lnSpc>
                <a:spcPct val="125000"/>
              </a:lnSpc>
              <a:spcAft>
                <a:spcPts val="1000"/>
              </a:spcAft>
            </a:pPr>
            <a:r>
              <a:rPr sz="1150" b="1">
                <a:solidFill>
                  <a:srgbClr val="CC0E1E"/>
                </a:solidFill>
                <a:latin typeface="Calibri"/>
              </a:rPr>
              <a:t>—  </a:t>
            </a:r>
            <a:r>
              <a:rPr sz="1150">
                <a:solidFill>
                  <a:srgbClr val="1A1A1A"/>
                </a:solidFill>
                <a:latin typeface="Calibri"/>
              </a:rPr>
              <a:t>Germany ran at 34.3%, then 38.6%, and fell to 8.5% in 2025/26.</a:t>
            </a:r>
          </a:p>
          <a:p>
            <a:pPr>
              <a:lnSpc>
                <a:spcPct val="125000"/>
              </a:lnSpc>
              <a:spcAft>
                <a:spcPts val="1000"/>
              </a:spcAft>
            </a:pPr>
            <a:r>
              <a:rPr sz="1150" b="1">
                <a:solidFill>
                  <a:srgbClr val="CC0E1E"/>
                </a:solidFill>
                <a:latin typeface="Calibri"/>
              </a:rPr>
              <a:t>—  </a:t>
            </a:r>
            <a:r>
              <a:rPr sz="1150">
                <a:solidFill>
                  <a:srgbClr val="1A1A1A"/>
                </a:solidFill>
                <a:latin typeface="Calibri"/>
              </a:rPr>
              <a:t>The network line stayed flat between 47% and 49%, so this is a Germany-specific movement.</a:t>
            </a:r>
          </a:p>
          <a:p>
            <a:pPr>
              <a:lnSpc>
                <a:spcPct val="125000"/>
              </a:lnSpc>
              <a:spcAft>
                <a:spcPts val="1000"/>
              </a:spcAft>
            </a:pPr>
            <a:r>
              <a:rPr sz="1150" b="1">
                <a:solidFill>
                  <a:srgbClr val="CC0E1E"/>
                </a:solidFill>
                <a:latin typeface="Calibri"/>
              </a:rPr>
              <a:t>—  </a:t>
            </a:r>
            <a:r>
              <a:rPr sz="1150">
                <a:solidFill>
                  <a:srgbClr val="1A1A1A"/>
                </a:solidFill>
                <a:latin typeface="Calibri"/>
              </a:rPr>
              <a:t>Two fifths of one market's paired volume changing line in a single year deserves a direct question.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GENUINE AGAINST BEST-VALUE</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Germany: the movement is almost entirely fuel-filter best-value volume stopping</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27</a:t>
            </a:r>
          </a:p>
        </p:txBody>
      </p:sp>
      <p:pic>
        <p:nvPicPr>
          <p:cNvPr id="8" name="Picture 7" descr="_de_bvp_driver.png"/>
          <p:cNvPicPr>
            <a:picLocks noChangeAspect="1"/>
          </p:cNvPicPr>
          <p:nvPr/>
        </p:nvPicPr>
        <p:blipFill>
          <a:blip r:embed="rId3"/>
          <a:stretch>
            <a:fillRect/>
          </a:stretch>
        </p:blipFill>
        <p:spPr>
          <a:xfrm>
            <a:off x="292608" y="2460225"/>
            <a:ext cx="7199985" cy="2632494"/>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Change in paired units billed, fiscal 2024/25 to 2025/26.</a:t>
            </a:r>
          </a:p>
          <a:p>
            <a:pPr>
              <a:lnSpc>
                <a:spcPct val="125000"/>
              </a:lnSpc>
              <a:spcAft>
                <a:spcPts val="1000"/>
              </a:spcAft>
            </a:pPr>
            <a:r>
              <a:rPr sz="1150" b="1">
                <a:solidFill>
                  <a:srgbClr val="CC0E1E"/>
                </a:solidFill>
                <a:latin typeface="Calibri"/>
              </a:rPr>
              <a:t>—  </a:t>
            </a:r>
            <a:r>
              <a:rPr sz="1150">
                <a:solidFill>
                  <a:srgbClr val="1A1A1A"/>
                </a:solidFill>
                <a:latin typeface="Calibri"/>
              </a:rPr>
              <a:t>Fuel-filter best-value volume fell from roughly ten thousand units to tens of units.</a:t>
            </a:r>
          </a:p>
          <a:p>
            <a:pPr>
              <a:lnSpc>
                <a:spcPct val="125000"/>
              </a:lnSpc>
              <a:spcAft>
                <a:spcPts val="1000"/>
              </a:spcAft>
            </a:pPr>
            <a:r>
              <a:rPr sz="1150" b="1">
                <a:solidFill>
                  <a:srgbClr val="CC0E1E"/>
                </a:solidFill>
                <a:latin typeface="Calibri"/>
              </a:rPr>
              <a:t>—  </a:t>
            </a:r>
            <a:r>
              <a:rPr sz="1150">
                <a:solidFill>
                  <a:srgbClr val="1A1A1A"/>
                </a:solidFill>
                <a:latin typeface="Calibri"/>
              </a:rPr>
              <a:t>Genuine fuel-filter volume held at around five thousand units over the same period.</a:t>
            </a:r>
          </a:p>
          <a:p>
            <a:pPr>
              <a:lnSpc>
                <a:spcPct val="125000"/>
              </a:lnSpc>
              <a:spcAft>
                <a:spcPts val="1000"/>
              </a:spcAft>
            </a:pPr>
            <a:r>
              <a:rPr sz="1150" b="1">
                <a:solidFill>
                  <a:srgbClr val="CC0E1E"/>
                </a:solidFill>
                <a:latin typeface="Calibri"/>
              </a:rPr>
              <a:t>—  </a:t>
            </a:r>
            <a:r>
              <a:rPr sz="1150">
                <a:solidFill>
                  <a:srgbClr val="1A1A1A"/>
                </a:solidFill>
                <a:latin typeface="Calibri"/>
              </a:rPr>
              <a:t>So this is not Germany buying fewer filters — it is one line leaving the mix.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CLASSIFICATION</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Parts classification flags where the independent aftermarket can take the job</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28</a:t>
            </a:r>
          </a:p>
        </p:txBody>
      </p:sp>
      <p:pic>
        <p:nvPicPr>
          <p:cNvPr id="8" name="Picture 7" descr="_aim_exposure_by_db.png"/>
          <p:cNvPicPr>
            <a:picLocks noChangeAspect="1"/>
          </p:cNvPicPr>
          <p:nvPr/>
        </p:nvPicPr>
        <p:blipFill>
          <a:blip r:embed="rId3"/>
          <a:stretch>
            <a:fillRect/>
          </a:stretch>
        </p:blipFill>
        <p:spPr>
          <a:xfrm>
            <a:off x="1039154" y="1261872"/>
            <a:ext cx="5706893" cy="5029200"/>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Share of parts billed on part numbers flagged as substitution-exposed, calendar 2025, with the network rule marked.</a:t>
            </a:r>
          </a:p>
          <a:p>
            <a:pPr>
              <a:lnSpc>
                <a:spcPct val="125000"/>
              </a:lnSpc>
              <a:spcAft>
                <a:spcPts val="1000"/>
              </a:spcAft>
            </a:pPr>
            <a:r>
              <a:rPr sz="1150" b="1">
                <a:solidFill>
                  <a:srgbClr val="CC0E1E"/>
                </a:solidFill>
                <a:latin typeface="Calibri"/>
              </a:rPr>
              <a:t>—  </a:t>
            </a:r>
            <a:r>
              <a:rPr sz="1150">
                <a:solidFill>
                  <a:srgbClr val="1A1A1A"/>
                </a:solidFill>
                <a:latin typeface="Calibri"/>
              </a:rPr>
              <a:t>Network flagged revenue is EUR 316k of EUR 33.1M billed — 0.95%, so the flag is narrow by design rather than a broad alarm.</a:t>
            </a:r>
          </a:p>
          <a:p>
            <a:pPr>
              <a:lnSpc>
                <a:spcPct val="125000"/>
              </a:lnSpc>
              <a:spcAft>
                <a:spcPts val="1000"/>
              </a:spcAft>
            </a:pPr>
            <a:r>
              <a:rPr sz="1150" b="1">
                <a:solidFill>
                  <a:srgbClr val="CC0E1E"/>
                </a:solidFill>
                <a:latin typeface="Calibri"/>
              </a:rPr>
              <a:t>—  </a:t>
            </a:r>
            <a:r>
              <a:rPr sz="1150">
                <a:solidFill>
                  <a:srgbClr val="1A1A1A"/>
                </a:solidFill>
                <a:latin typeface="Calibri"/>
              </a:rPr>
              <a:t>The largest single flagged book is IUK, which is where a value-line defence pays first.</a:t>
            </a:r>
          </a:p>
          <a:p>
            <a:pPr>
              <a:lnSpc>
                <a:spcPct val="125000"/>
              </a:lnSpc>
              <a:spcAft>
                <a:spcPts val="1000"/>
              </a:spcAft>
            </a:pPr>
            <a:r>
              <a:rPr sz="1150" b="1">
                <a:solidFill>
                  <a:srgbClr val="CC0E1E"/>
                </a:solidFill>
                <a:latin typeface="Calibri"/>
              </a:rPr>
              <a:t>—  </a:t>
            </a:r>
            <a:r>
              <a:rPr sz="1150">
                <a:solidFill>
                  <a:srgbClr val="1A1A1A"/>
                </a:solidFill>
                <a:latin typeface="Calibri"/>
              </a:rPr>
              <a:t>Classification match itself sits above 96% of billed euro, so the flag rather than the match is what separates markets.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CLASSIFICATION</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Exposure by parts family, with the best-value share beside it</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29</a:t>
            </a:r>
          </a:p>
        </p:txBody>
      </p:sp>
      <p:pic>
        <p:nvPicPr>
          <p:cNvPr id="8" name="Picture 7" descr="_aim_family_risk.png"/>
          <p:cNvPicPr>
            <a:picLocks noChangeAspect="1"/>
          </p:cNvPicPr>
          <p:nvPr/>
        </p:nvPicPr>
        <p:blipFill>
          <a:blip r:embed="rId3"/>
          <a:stretch>
            <a:fillRect/>
          </a:stretch>
        </p:blipFill>
        <p:spPr>
          <a:xfrm>
            <a:off x="292608" y="2460225"/>
            <a:ext cx="7199985" cy="2632494"/>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Families where the independent aftermarket is most able to substitute.</a:t>
            </a:r>
          </a:p>
          <a:p>
            <a:pPr>
              <a:lnSpc>
                <a:spcPct val="125000"/>
              </a:lnSpc>
              <a:spcAft>
                <a:spcPts val="1000"/>
              </a:spcAft>
            </a:pPr>
            <a:r>
              <a:rPr sz="1150" b="1">
                <a:solidFill>
                  <a:srgbClr val="CC0E1E"/>
                </a:solidFill>
                <a:latin typeface="Calibri"/>
              </a:rPr>
              <a:t>—  </a:t>
            </a:r>
            <a:r>
              <a:rPr sz="1150">
                <a:solidFill>
                  <a:srgbClr val="1A1A1A"/>
                </a:solidFill>
                <a:latin typeface="Calibri"/>
              </a:rPr>
              <a:t>Where exposure is high and best-value share is low, we are the ones losing the job.</a:t>
            </a:r>
          </a:p>
          <a:p>
            <a:pPr>
              <a:lnSpc>
                <a:spcPct val="125000"/>
              </a:lnSpc>
              <a:spcAft>
                <a:spcPts val="1000"/>
              </a:spcAft>
            </a:pPr>
            <a:r>
              <a:rPr sz="1150" b="1">
                <a:solidFill>
                  <a:srgbClr val="CC0E1E"/>
                </a:solidFill>
                <a:latin typeface="Calibri"/>
              </a:rPr>
              <a:t>—  </a:t>
            </a:r>
            <a:r>
              <a:rPr sz="1150">
                <a:solidFill>
                  <a:srgbClr val="1A1A1A"/>
                </a:solidFill>
                <a:latin typeface="Calibri"/>
              </a:rPr>
              <a:t>Where genuine revenue is already zero, every best-value unit is incremental rather than a trade-down.</a:t>
            </a:r>
          </a:p>
          <a:p>
            <a:pPr>
              <a:lnSpc>
                <a:spcPct val="125000"/>
              </a:lnSpc>
              <a:spcAft>
                <a:spcPts val="1000"/>
              </a:spcAft>
            </a:pPr>
            <a:r>
              <a:rPr sz="1150" b="1">
                <a:solidFill>
                  <a:srgbClr val="CC0E1E"/>
                </a:solidFill>
                <a:latin typeface="Calibri"/>
              </a:rPr>
              <a:t>—  </a:t>
            </a:r>
            <a:r>
              <a:rPr sz="1150">
                <a:solidFill>
                  <a:srgbClr val="1A1A1A"/>
                </a:solidFill>
                <a:latin typeface="Calibri"/>
              </a:rPr>
              <a:t>Read the two measures together: exposure alone does not say what to 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CLASSIFICATION</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The largest classification gaps in euro</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30</a:t>
            </a:r>
          </a:p>
        </p:txBody>
      </p:sp>
      <p:pic>
        <p:nvPicPr>
          <p:cNvPr id="8" name="Picture 7" descr="_aim_gap_top.png"/>
          <p:cNvPicPr>
            <a:picLocks noChangeAspect="1"/>
          </p:cNvPicPr>
          <p:nvPr/>
        </p:nvPicPr>
        <p:blipFill>
          <a:blip r:embed="rId3"/>
          <a:stretch>
            <a:fillRect/>
          </a:stretch>
        </p:blipFill>
        <p:spPr>
          <a:xfrm>
            <a:off x="292608" y="2336475"/>
            <a:ext cx="7199985" cy="2879994"/>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Ranked by the euro value of the gap.</a:t>
            </a:r>
          </a:p>
          <a:p>
            <a:pPr>
              <a:lnSpc>
                <a:spcPct val="125000"/>
              </a:lnSpc>
              <a:spcAft>
                <a:spcPts val="1000"/>
              </a:spcAft>
            </a:pPr>
            <a:r>
              <a:rPr sz="1150" b="1">
                <a:solidFill>
                  <a:srgbClr val="CC0E1E"/>
                </a:solidFill>
                <a:latin typeface="Calibri"/>
              </a:rPr>
              <a:t>—  </a:t>
            </a:r>
            <a:r>
              <a:rPr sz="1150">
                <a:solidFill>
                  <a:srgbClr val="1A1A1A"/>
                </a:solidFill>
                <a:latin typeface="Calibri"/>
              </a:rPr>
              <a:t>The euro basis is stated on the chart — dealer sell-out and our billing are not the same measure.</a:t>
            </a:r>
          </a:p>
          <a:p>
            <a:pPr>
              <a:lnSpc>
                <a:spcPct val="125000"/>
              </a:lnSpc>
              <a:spcAft>
                <a:spcPts val="1000"/>
              </a:spcAft>
            </a:pPr>
            <a:r>
              <a:rPr sz="1150" b="1">
                <a:solidFill>
                  <a:srgbClr val="CC0E1E"/>
                </a:solidFill>
                <a:latin typeface="Calibri"/>
              </a:rPr>
              <a:t>—  </a:t>
            </a:r>
            <a:r>
              <a:rPr sz="1150">
                <a:solidFill>
                  <a:srgbClr val="1A1A1A"/>
                </a:solidFill>
                <a:latin typeface="Calibri"/>
              </a:rPr>
              <a:t>Families with no matched classification are excluded rather than estimated.</a:t>
            </a:r>
          </a:p>
          <a:p>
            <a:pPr>
              <a:lnSpc>
                <a:spcPct val="125000"/>
              </a:lnSpc>
              <a:spcAft>
                <a:spcPts val="1000"/>
              </a:spcAft>
            </a:pPr>
            <a:r>
              <a:rPr sz="1150" b="1">
                <a:solidFill>
                  <a:srgbClr val="CC0E1E"/>
                </a:solidFill>
                <a:latin typeface="Calibri"/>
              </a:rPr>
              <a:t>—  </a:t>
            </a:r>
            <a:r>
              <a:rPr sz="1150">
                <a:solidFill>
                  <a:srgbClr val="1A1A1A"/>
                </a:solidFill>
                <a:latin typeface="Calibri"/>
              </a:rPr>
              <a:t>Treat this as a target list, not a forecast.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PARTS CLASSIFICATION</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Exposure against spend per truck: where each line of defence belongs</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31</a:t>
            </a:r>
          </a:p>
        </p:txBody>
      </p:sp>
      <p:pic>
        <p:nvPicPr>
          <p:cNvPr id="8" name="Picture 7" descr="_aim_quadrant.png"/>
          <p:cNvPicPr>
            <a:picLocks noChangeAspect="1"/>
          </p:cNvPicPr>
          <p:nvPr/>
        </p:nvPicPr>
        <p:blipFill>
          <a:blip r:embed="rId3"/>
          <a:stretch>
            <a:fillRect/>
          </a:stretch>
        </p:blipFill>
        <p:spPr>
          <a:xfrm>
            <a:off x="292608" y="1583981"/>
            <a:ext cx="7199985" cy="4384982"/>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Each market placed by exposure and by spend per truck, sized by parts billed.</a:t>
            </a:r>
          </a:p>
          <a:p>
            <a:pPr>
              <a:lnSpc>
                <a:spcPct val="125000"/>
              </a:lnSpc>
              <a:spcAft>
                <a:spcPts val="1000"/>
              </a:spcAft>
            </a:pPr>
            <a:r>
              <a:rPr sz="1150" b="1">
                <a:solidFill>
                  <a:srgbClr val="CC0E1E"/>
                </a:solidFill>
                <a:latin typeface="Calibri"/>
              </a:rPr>
              <a:t>—  </a:t>
            </a:r>
            <a:r>
              <a:rPr sz="1150">
                <a:solidFill>
                  <a:srgbClr val="1A1A1A"/>
                </a:solidFill>
                <a:latin typeface="Calibri"/>
              </a:rPr>
              <a:t>High exposure with low spend is where a value line is the answer.</a:t>
            </a:r>
          </a:p>
          <a:p>
            <a:pPr>
              <a:lnSpc>
                <a:spcPct val="125000"/>
              </a:lnSpc>
              <a:spcAft>
                <a:spcPts val="1000"/>
              </a:spcAft>
            </a:pPr>
            <a:r>
              <a:rPr sz="1150" b="1">
                <a:solidFill>
                  <a:srgbClr val="CC0E1E"/>
                </a:solidFill>
                <a:latin typeface="Calibri"/>
              </a:rPr>
              <a:t>—  </a:t>
            </a:r>
            <a:r>
              <a:rPr sz="1150">
                <a:solidFill>
                  <a:srgbClr val="1A1A1A"/>
                </a:solidFill>
                <a:latin typeface="Calibri"/>
              </a:rPr>
              <a:t>Low exposure with high spend is where genuine margin is worth protecting.</a:t>
            </a:r>
          </a:p>
          <a:p>
            <a:pPr>
              <a:lnSpc>
                <a:spcPct val="125000"/>
              </a:lnSpc>
              <a:spcAft>
                <a:spcPts val="1000"/>
              </a:spcAft>
            </a:pPr>
            <a:r>
              <a:rPr sz="1150" b="1">
                <a:solidFill>
                  <a:srgbClr val="CC0E1E"/>
                </a:solidFill>
                <a:latin typeface="Calibri"/>
              </a:rPr>
              <a:t>—  </a:t>
            </a:r>
            <a:r>
              <a:rPr sz="1150">
                <a:solidFill>
                  <a:srgbClr val="1A1A1A"/>
                </a:solidFill>
                <a:latin typeface="Calibri"/>
              </a:rPr>
              <a:t>Bubble size is parts billed, so visual weight matches commercial weight.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06</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PRISM and the dealer standard</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What the analytics platform covers behind these numbers, and what the dealer assessment says about the network.</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PRISM</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PRISM is the reason these numbers can be quoted at all</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33</a:t>
            </a:r>
          </a:p>
        </p:txBody>
      </p:sp>
      <p:pic>
        <p:nvPicPr>
          <p:cNvPr id="8" name="Picture 7" descr="_prism_pages.png"/>
          <p:cNvPicPr>
            <a:picLocks noChangeAspect="1"/>
          </p:cNvPicPr>
          <p:nvPr/>
        </p:nvPicPr>
        <p:blipFill>
          <a:blip r:embed="rId3"/>
          <a:stretch>
            <a:fillRect/>
          </a:stretch>
        </p:blipFill>
        <p:spPr>
          <a:xfrm>
            <a:off x="292608" y="3302789"/>
            <a:ext cx="7199985" cy="947366"/>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Every figure in this deck traces to a derived file built and checked by the platform.</a:t>
            </a:r>
          </a:p>
          <a:p>
            <a:pPr>
              <a:lnSpc>
                <a:spcPct val="125000"/>
              </a:lnSpc>
              <a:spcAft>
                <a:spcPts val="1000"/>
              </a:spcAft>
            </a:pPr>
            <a:r>
              <a:rPr sz="1150" b="1">
                <a:solidFill>
                  <a:srgbClr val="CC0E1E"/>
                </a:solidFill>
                <a:latin typeface="Calibri"/>
              </a:rPr>
              <a:t>—  </a:t>
            </a:r>
            <a:r>
              <a:rPr sz="1150">
                <a:solidFill>
                  <a:srgbClr val="1A1A1A"/>
                </a:solidFill>
                <a:latin typeface="Calibri"/>
              </a:rPr>
              <a:t>Coverage and pass-or-fail state are shown rather than assumed.</a:t>
            </a:r>
          </a:p>
          <a:p>
            <a:pPr>
              <a:lnSpc>
                <a:spcPct val="125000"/>
              </a:lnSpc>
              <a:spcAft>
                <a:spcPts val="1000"/>
              </a:spcAft>
            </a:pPr>
            <a:r>
              <a:rPr sz="1150" b="1">
                <a:solidFill>
                  <a:srgbClr val="CC0E1E"/>
                </a:solidFill>
                <a:latin typeface="Calibri"/>
              </a:rPr>
              <a:t>—  </a:t>
            </a:r>
            <a:r>
              <a:rPr sz="1150">
                <a:solidFill>
                  <a:srgbClr val="1A1A1A"/>
                </a:solidFill>
                <a:latin typeface="Calibri"/>
              </a:rPr>
              <a:t>Where a source is weak, the platform records it as an open integrity item instead of quietly correcting it.</a:t>
            </a:r>
          </a:p>
          <a:p>
            <a:pPr>
              <a:lnSpc>
                <a:spcPct val="125000"/>
              </a:lnSpc>
              <a:spcAft>
                <a:spcPts val="1000"/>
              </a:spcAft>
            </a:pPr>
            <a:r>
              <a:rPr sz="1150" b="1">
                <a:solidFill>
                  <a:srgbClr val="CC0E1E"/>
                </a:solidFill>
                <a:latin typeface="Calibri"/>
              </a:rPr>
              <a:t>—  </a:t>
            </a:r>
            <a:r>
              <a:rPr sz="1150">
                <a:solidFill>
                  <a:srgbClr val="1A1A1A"/>
                </a:solidFill>
                <a:latin typeface="Calibri"/>
              </a:rPr>
              <a:t>This deck repeats that discipline: a missing market is missing, never zero.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PRISM</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Open data issues, stated rather than hidden</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34</a:t>
            </a:r>
          </a:p>
        </p:txBody>
      </p:sp>
      <p:pic>
        <p:nvPicPr>
          <p:cNvPr id="8" name="Picture 7" descr="_prism_coverage.png"/>
          <p:cNvPicPr>
            <a:picLocks noChangeAspect="1"/>
          </p:cNvPicPr>
          <p:nvPr/>
        </p:nvPicPr>
        <p:blipFill>
          <a:blip r:embed="rId3"/>
          <a:stretch>
            <a:fillRect/>
          </a:stretch>
        </p:blipFill>
        <p:spPr>
          <a:xfrm>
            <a:off x="292608" y="3302789"/>
            <a:ext cx="7199985" cy="947366"/>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These are the known limits behind the numbers in this deck.</a:t>
            </a:r>
          </a:p>
          <a:p>
            <a:pPr>
              <a:lnSpc>
                <a:spcPct val="125000"/>
              </a:lnSpc>
              <a:spcAft>
                <a:spcPts val="1000"/>
              </a:spcAft>
            </a:pPr>
            <a:r>
              <a:rPr sz="1150" b="1">
                <a:solidFill>
                  <a:srgbClr val="CC0E1E"/>
                </a:solidFill>
                <a:latin typeface="Calibri"/>
              </a:rPr>
              <a:t>—  </a:t>
            </a:r>
            <a:r>
              <a:rPr sz="1150">
                <a:solidFill>
                  <a:srgbClr val="1A1A1A"/>
                </a:solidFill>
                <a:latin typeface="Calibri"/>
              </a:rPr>
              <a:t>They are recorded so a reader can judge how firm any single figure is.</a:t>
            </a:r>
          </a:p>
          <a:p>
            <a:pPr>
              <a:lnSpc>
                <a:spcPct val="125000"/>
              </a:lnSpc>
              <a:spcAft>
                <a:spcPts val="1000"/>
              </a:spcAft>
            </a:pPr>
            <a:r>
              <a:rPr sz="1150" b="1">
                <a:solidFill>
                  <a:srgbClr val="CC0E1E"/>
                </a:solidFill>
                <a:latin typeface="Calibri"/>
              </a:rPr>
              <a:t>—  </a:t>
            </a:r>
            <a:r>
              <a:rPr sz="1150">
                <a:solidFill>
                  <a:srgbClr val="1A1A1A"/>
                </a:solidFill>
                <a:latin typeface="Calibri"/>
              </a:rPr>
              <a:t>None of them is corrected silently.</a:t>
            </a:r>
          </a:p>
          <a:p>
            <a:pPr>
              <a:lnSpc>
                <a:spcPct val="125000"/>
              </a:lnSpc>
              <a:spcAft>
                <a:spcPts val="1000"/>
              </a:spcAft>
            </a:pPr>
            <a:r>
              <a:rPr sz="1150" b="1">
                <a:solidFill>
                  <a:srgbClr val="CC0E1E"/>
                </a:solidFill>
                <a:latin typeface="Calibri"/>
              </a:rPr>
              <a:t>—  </a:t>
            </a:r>
            <a:r>
              <a:rPr sz="1150">
                <a:solidFill>
                  <a:srgbClr val="1A1A1A"/>
                </a:solidFill>
                <a:latin typeface="Calibri"/>
              </a:rPr>
              <a:t>If a number here is later disputed, this page is where the caveat already lives.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DEALER STANDARD</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Dealer standard assessment: how each country scored in 2026</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35</a:t>
            </a:r>
          </a:p>
        </p:txBody>
      </p:sp>
      <p:pic>
        <p:nvPicPr>
          <p:cNvPr id="8" name="Picture 7" descr="_ids_country_scores.png"/>
          <p:cNvPicPr>
            <a:picLocks noChangeAspect="1"/>
          </p:cNvPicPr>
          <p:nvPr/>
        </p:nvPicPr>
        <p:blipFill>
          <a:blip r:embed="rId3"/>
          <a:stretch>
            <a:fillRect/>
          </a:stretch>
        </p:blipFill>
        <p:spPr>
          <a:xfrm>
            <a:off x="511626" y="1261872"/>
            <a:ext cx="6761949" cy="5029200"/>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Dealer audit scores against the common standard, 2026 evaluation round.</a:t>
            </a:r>
          </a:p>
          <a:p>
            <a:pPr>
              <a:lnSpc>
                <a:spcPct val="125000"/>
              </a:lnSpc>
              <a:spcAft>
                <a:spcPts val="1000"/>
              </a:spcAft>
            </a:pPr>
            <a:r>
              <a:rPr sz="1150" b="1">
                <a:solidFill>
                  <a:srgbClr val="CC0E1E"/>
                </a:solidFill>
                <a:latin typeface="Calibri"/>
              </a:rPr>
              <a:t>—  </a:t>
            </a:r>
            <a:r>
              <a:rPr sz="1150">
                <a:solidFill>
                  <a:srgbClr val="1A1A1A"/>
                </a:solidFill>
                <a:latin typeface="Calibri"/>
              </a:rPr>
              <a:t>518 dealer audits across 18 networks. The European dealer-weighted average is 74.8%.</a:t>
            </a:r>
          </a:p>
          <a:p>
            <a:pPr>
              <a:lnSpc>
                <a:spcPct val="125000"/>
              </a:lnSpc>
              <a:spcAft>
                <a:spcPts val="1000"/>
              </a:spcAft>
            </a:pPr>
            <a:r>
              <a:rPr sz="1150" b="1">
                <a:solidFill>
                  <a:srgbClr val="CC0E1E"/>
                </a:solidFill>
                <a:latin typeface="Calibri"/>
              </a:rPr>
              <a:t>—  </a:t>
            </a:r>
            <a:r>
              <a:rPr sz="1150">
                <a:solidFill>
                  <a:srgbClr val="1A1A1A"/>
                </a:solidFill>
                <a:latin typeface="Calibri"/>
              </a:rPr>
              <a:t>The spread runs from about 61% to 89%, and the network average is marked on the chart.</a:t>
            </a:r>
          </a:p>
          <a:p>
            <a:pPr>
              <a:lnSpc>
                <a:spcPct val="125000"/>
              </a:lnSpc>
              <a:spcAft>
                <a:spcPts val="1000"/>
              </a:spcAft>
            </a:pPr>
            <a:r>
              <a:rPr sz="1150" b="1">
                <a:solidFill>
                  <a:srgbClr val="CC0E1E"/>
                </a:solidFill>
                <a:latin typeface="Calibri"/>
              </a:rPr>
              <a:t>—  </a:t>
            </a:r>
            <a:r>
              <a:rPr sz="1150">
                <a:solidFill>
                  <a:srgbClr val="1A1A1A"/>
                </a:solidFill>
                <a:latin typeface="Calibri"/>
              </a:rPr>
              <a:t>Small networks move a lot on one dealer — read the audit count beside the name, not the rank alone.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DEALER STANDARD</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Dealer standard by section: where each network's score is held down</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36</a:t>
            </a:r>
          </a:p>
        </p:txBody>
      </p:sp>
      <p:pic>
        <p:nvPicPr>
          <p:cNvPr id="8" name="Picture 7" descr="_ids_sections.png"/>
          <p:cNvPicPr>
            <a:picLocks noChangeAspect="1"/>
          </p:cNvPicPr>
          <p:nvPr/>
        </p:nvPicPr>
        <p:blipFill>
          <a:blip r:embed="rId3"/>
          <a:stretch>
            <a:fillRect/>
          </a:stretch>
        </p:blipFill>
        <p:spPr>
          <a:xfrm>
            <a:off x="292608" y="1315386"/>
            <a:ext cx="7199985" cy="4922171"/>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Network average per section as a share of that section's maximum points (A 46 / B 80 / C 80 / D 47 / E 27 of 280).</a:t>
            </a:r>
          </a:p>
          <a:p>
            <a:pPr>
              <a:lnSpc>
                <a:spcPct val="125000"/>
              </a:lnSpc>
              <a:spcAft>
                <a:spcPts val="1000"/>
              </a:spcAft>
            </a:pPr>
            <a:r>
              <a:rPr sz="1150" b="1">
                <a:solidFill>
                  <a:srgbClr val="CC0E1E"/>
                </a:solidFill>
                <a:latin typeface="Calibri"/>
              </a:rPr>
              <a:t>—  </a:t>
            </a:r>
            <a:r>
              <a:rPr sz="1150">
                <a:solidFill>
                  <a:srgbClr val="1A1A1A"/>
                </a:solidFill>
                <a:latin typeface="Calibri"/>
              </a:rPr>
              <a:t>Service (C) is the strongest section network-wide at about 83%; premises (A) is the weakest at about 74%.</a:t>
            </a:r>
          </a:p>
          <a:p>
            <a:pPr>
              <a:lnSpc>
                <a:spcPct val="125000"/>
              </a:lnSpc>
              <a:spcAft>
                <a:spcPts val="1000"/>
              </a:spcAft>
            </a:pPr>
            <a:r>
              <a:rPr sz="1150" b="1">
                <a:solidFill>
                  <a:srgbClr val="CC0E1E"/>
                </a:solidFill>
                <a:latin typeface="Calibri"/>
              </a:rPr>
              <a:t>—  </a:t>
            </a:r>
            <a:r>
              <a:rPr sz="1150">
                <a:solidFill>
                  <a:srgbClr val="1A1A1A"/>
                </a:solidFill>
                <a:latin typeface="Calibri"/>
              </a:rPr>
              <a:t>Read across a row to see which section holds that particular network down — it differs by market.</a:t>
            </a:r>
          </a:p>
          <a:p>
            <a:pPr>
              <a:lnSpc>
                <a:spcPct val="125000"/>
              </a:lnSpc>
              <a:spcAft>
                <a:spcPts val="1000"/>
              </a:spcAft>
            </a:pPr>
            <a:r>
              <a:rPr sz="1150" b="1">
                <a:solidFill>
                  <a:srgbClr val="CC0E1E"/>
                </a:solidFill>
                <a:latin typeface="Calibri"/>
              </a:rPr>
              <a:t>—  </a:t>
            </a:r>
            <a:r>
              <a:rPr sz="1150">
                <a:solidFill>
                  <a:srgbClr val="1A1A1A"/>
                </a:solidFill>
                <a:latin typeface="Calibri"/>
              </a:rPr>
              <a:t>Israel's vehicle-sales column is hatched, not zero: that network filed no vehicle-sales answers and its total is A to D only.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3977639"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057400"/>
            <a:ext cx="3108960" cy="1463040"/>
          </a:xfrm>
          <a:prstGeom prst="rect">
            <a:avLst/>
          </a:prstGeom>
          <a:noFill/>
        </p:spPr>
        <p:txBody>
          <a:bodyPr wrap="square">
            <a:spAutoFit/>
          </a:bodyPr>
          <a:lstStyle/>
          <a:p>
            <a:pPr algn="l"/>
            <a:r>
              <a:rPr sz="7600" b="1">
                <a:solidFill>
                  <a:srgbClr val="CC0E1E"/>
                </a:solidFill>
                <a:latin typeface="Calibri"/>
              </a:rPr>
              <a:t>07</a:t>
            </a:r>
          </a:p>
        </p:txBody>
      </p:sp>
      <p:sp>
        <p:nvSpPr>
          <p:cNvPr id="5" name="TextBox 4"/>
          <p:cNvSpPr txBox="1"/>
          <p:nvPr/>
        </p:nvSpPr>
        <p:spPr>
          <a:xfrm>
            <a:off x="4709160" y="2331720"/>
            <a:ext cx="6766560" cy="1371600"/>
          </a:xfrm>
          <a:prstGeom prst="rect">
            <a:avLst/>
          </a:prstGeom>
          <a:noFill/>
        </p:spPr>
        <p:txBody>
          <a:bodyPr wrap="square">
            <a:spAutoFit/>
          </a:bodyPr>
          <a:lstStyle/>
          <a:p>
            <a:pPr algn="l"/>
            <a:r>
              <a:rPr sz="3400" b="1">
                <a:solidFill>
                  <a:srgbClr val="1A1A1A"/>
                </a:solidFill>
                <a:latin typeface="Calibri"/>
              </a:rPr>
              <a:t>Warranty and the revenue mix</a:t>
            </a:r>
          </a:p>
        </p:txBody>
      </p:sp>
      <p:sp>
        <p:nvSpPr>
          <p:cNvPr id="6" name="TextBox 5"/>
          <p:cNvSpPr txBox="1"/>
          <p:nvPr/>
        </p:nvSpPr>
        <p:spPr>
          <a:xfrm>
            <a:off x="4709160" y="3794760"/>
            <a:ext cx="6583680" cy="1371600"/>
          </a:xfrm>
          <a:prstGeom prst="rect">
            <a:avLst/>
          </a:prstGeom>
          <a:noFill/>
        </p:spPr>
        <p:txBody>
          <a:bodyPr wrap="square">
            <a:spAutoFit/>
          </a:bodyPr>
          <a:lstStyle/>
          <a:p>
            <a:pPr algn="l"/>
            <a:r>
              <a:rPr sz="1400" b="0">
                <a:solidFill>
                  <a:srgbClr val="5A5A5A"/>
                </a:solidFill>
                <a:latin typeface="Calibri"/>
              </a:rPr>
              <a:t>How much of what we bill is warranty work rather than customer-paid parts.</a:t>
            </a:r>
          </a:p>
        </p:txBody>
      </p:sp>
      <p:pic>
        <p:nvPicPr>
          <p:cNvPr id="7" name="Picture 6" descr="isuzu_logo_red.png"/>
          <p:cNvPicPr>
            <a:picLocks noChangeAspect="1"/>
          </p:cNvPicPr>
          <p:nvPr/>
        </p:nvPicPr>
        <p:blipFill>
          <a:blip r:embed="rId2"/>
          <a:stretch>
            <a:fillRect/>
          </a:stretch>
        </p:blipFill>
        <p:spPr>
          <a:xfrm>
            <a:off x="658368" y="5806440"/>
            <a:ext cx="1679787" cy="292608"/>
          </a:xfrm>
          <a:prstGeom prst="rect">
            <a:avLst/>
          </a:prstGeom>
        </p:spPr>
      </p:pic>
      <p:sp>
        <p:nvSpPr>
          <p:cNvPr id="8" name="Rectangle 7"/>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WARRANTY</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Warranty is 14.6% of everything we bill</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38</a:t>
            </a:r>
          </a:p>
        </p:txBody>
      </p:sp>
      <p:sp>
        <p:nvSpPr>
          <p:cNvPr id="8" name="Rectangle 7"/>
          <p:cNvSpPr/>
          <p:nvPr/>
        </p:nvSpPr>
        <p:spPr>
          <a:xfrm>
            <a:off x="292608"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499616"/>
            <a:ext cx="2386584" cy="274320"/>
          </a:xfrm>
          <a:prstGeom prst="rect">
            <a:avLst/>
          </a:prstGeom>
          <a:noFill/>
        </p:spPr>
        <p:txBody>
          <a:bodyPr wrap="square">
            <a:spAutoFit/>
          </a:bodyPr>
          <a:lstStyle/>
          <a:p>
            <a:pPr algn="l"/>
            <a:r>
              <a:rPr sz="1050" b="1">
                <a:solidFill>
                  <a:srgbClr val="CC0E1E"/>
                </a:solidFill>
                <a:latin typeface="Calibri"/>
              </a:rPr>
              <a:t>WARRANTY PARTS BILLED</a:t>
            </a:r>
          </a:p>
        </p:txBody>
      </p:sp>
      <p:sp>
        <p:nvSpPr>
          <p:cNvPr id="11" name="TextBox 10"/>
          <p:cNvSpPr txBox="1"/>
          <p:nvPr/>
        </p:nvSpPr>
        <p:spPr>
          <a:xfrm>
            <a:off x="493776" y="1810512"/>
            <a:ext cx="2386584" cy="658368"/>
          </a:xfrm>
          <a:prstGeom prst="rect">
            <a:avLst/>
          </a:prstGeom>
          <a:noFill/>
        </p:spPr>
        <p:txBody>
          <a:bodyPr wrap="square">
            <a:spAutoFit/>
          </a:bodyPr>
          <a:lstStyle/>
          <a:p>
            <a:pPr algn="l"/>
            <a:r>
              <a:rPr sz="2800" b="1">
                <a:solidFill>
                  <a:srgbClr val="1A1A1A"/>
                </a:solidFill>
                <a:latin typeface="Calibri"/>
              </a:rPr>
              <a:t>EUR 4.72M</a:t>
            </a:r>
          </a:p>
        </p:txBody>
      </p:sp>
      <p:sp>
        <p:nvSpPr>
          <p:cNvPr id="12" name="TextBox 11"/>
          <p:cNvSpPr txBox="1"/>
          <p:nvPr/>
        </p:nvSpPr>
        <p:spPr>
          <a:xfrm>
            <a:off x="493776" y="4828032"/>
            <a:ext cx="2386584" cy="502920"/>
          </a:xfrm>
          <a:prstGeom prst="rect">
            <a:avLst/>
          </a:prstGeom>
          <a:noFill/>
        </p:spPr>
        <p:txBody>
          <a:bodyPr wrap="square">
            <a:spAutoFit/>
          </a:bodyPr>
          <a:lstStyle/>
          <a:p>
            <a:pPr algn="l"/>
            <a:r>
              <a:rPr sz="1100" b="0">
                <a:solidFill>
                  <a:srgbClr val="5A5A5A"/>
                </a:solidFill>
                <a:latin typeface="Calibri"/>
              </a:rPr>
              <a:t>calendar 2025</a:t>
            </a:r>
          </a:p>
        </p:txBody>
      </p:sp>
      <p:sp>
        <p:nvSpPr>
          <p:cNvPr id="13" name="Rectangle 12"/>
          <p:cNvSpPr/>
          <p:nvPr/>
        </p:nvSpPr>
        <p:spPr>
          <a:xfrm>
            <a:off x="3246120"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499616"/>
            <a:ext cx="2386584" cy="274320"/>
          </a:xfrm>
          <a:prstGeom prst="rect">
            <a:avLst/>
          </a:prstGeom>
          <a:noFill/>
        </p:spPr>
        <p:txBody>
          <a:bodyPr wrap="square">
            <a:spAutoFit/>
          </a:bodyPr>
          <a:lstStyle/>
          <a:p>
            <a:pPr algn="l"/>
            <a:r>
              <a:rPr sz="1050" b="1">
                <a:solidFill>
                  <a:srgbClr val="CC0E1E"/>
                </a:solidFill>
                <a:latin typeface="Calibri"/>
              </a:rPr>
              <a:t>SHARE OF PARTS BILLED</a:t>
            </a:r>
          </a:p>
        </p:txBody>
      </p:sp>
      <p:sp>
        <p:nvSpPr>
          <p:cNvPr id="16" name="TextBox 15"/>
          <p:cNvSpPr txBox="1"/>
          <p:nvPr/>
        </p:nvSpPr>
        <p:spPr>
          <a:xfrm>
            <a:off x="3447288" y="1810512"/>
            <a:ext cx="2386584" cy="658368"/>
          </a:xfrm>
          <a:prstGeom prst="rect">
            <a:avLst/>
          </a:prstGeom>
          <a:noFill/>
        </p:spPr>
        <p:txBody>
          <a:bodyPr wrap="square">
            <a:spAutoFit/>
          </a:bodyPr>
          <a:lstStyle/>
          <a:p>
            <a:pPr algn="l"/>
            <a:r>
              <a:rPr sz="2800" b="1">
                <a:solidFill>
                  <a:srgbClr val="1A1A1A"/>
                </a:solidFill>
                <a:latin typeface="Calibri"/>
              </a:rPr>
              <a:t>14.6%</a:t>
            </a:r>
          </a:p>
        </p:txBody>
      </p:sp>
      <p:sp>
        <p:nvSpPr>
          <p:cNvPr id="17" name="TextBox 16"/>
          <p:cNvSpPr txBox="1"/>
          <p:nvPr/>
        </p:nvSpPr>
        <p:spPr>
          <a:xfrm>
            <a:off x="3447288" y="4828032"/>
            <a:ext cx="2386584" cy="502920"/>
          </a:xfrm>
          <a:prstGeom prst="rect">
            <a:avLst/>
          </a:prstGeom>
          <a:noFill/>
        </p:spPr>
        <p:txBody>
          <a:bodyPr wrap="square">
            <a:spAutoFit/>
          </a:bodyPr>
          <a:lstStyle/>
          <a:p>
            <a:pPr algn="l"/>
            <a:r>
              <a:rPr sz="1100" b="0">
                <a:solidFill>
                  <a:srgbClr val="5A5A5A"/>
                </a:solidFill>
                <a:latin typeface="Calibri"/>
              </a:rPr>
              <a:t>warranty against total billed</a:t>
            </a:r>
          </a:p>
        </p:txBody>
      </p:sp>
      <p:sp>
        <p:nvSpPr>
          <p:cNvPr id="18" name="Rectangle 17"/>
          <p:cNvSpPr/>
          <p:nvPr/>
        </p:nvSpPr>
        <p:spPr>
          <a:xfrm>
            <a:off x="6199632"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499616"/>
            <a:ext cx="2386584" cy="274320"/>
          </a:xfrm>
          <a:prstGeom prst="rect">
            <a:avLst/>
          </a:prstGeom>
          <a:noFill/>
        </p:spPr>
        <p:txBody>
          <a:bodyPr wrap="square">
            <a:spAutoFit/>
          </a:bodyPr>
          <a:lstStyle/>
          <a:p>
            <a:pPr algn="l"/>
            <a:r>
              <a:rPr sz="1050" b="1">
                <a:solidFill>
                  <a:srgbClr val="CC0E1E"/>
                </a:solidFill>
                <a:latin typeface="Calibri"/>
              </a:rPr>
              <a:t>MARKETS WITH A FIGURE</a:t>
            </a:r>
          </a:p>
        </p:txBody>
      </p:sp>
      <p:sp>
        <p:nvSpPr>
          <p:cNvPr id="21" name="TextBox 20"/>
          <p:cNvSpPr txBox="1"/>
          <p:nvPr/>
        </p:nvSpPr>
        <p:spPr>
          <a:xfrm>
            <a:off x="6400800" y="1810512"/>
            <a:ext cx="2386584" cy="658368"/>
          </a:xfrm>
          <a:prstGeom prst="rect">
            <a:avLst/>
          </a:prstGeom>
          <a:noFill/>
        </p:spPr>
        <p:txBody>
          <a:bodyPr wrap="square">
            <a:spAutoFit/>
          </a:bodyPr>
          <a:lstStyle/>
          <a:p>
            <a:pPr algn="l"/>
            <a:r>
              <a:rPr sz="2800" b="1">
                <a:solidFill>
                  <a:srgbClr val="1A1A1A"/>
                </a:solidFill>
                <a:latin typeface="Calibri"/>
              </a:rPr>
              <a:t>18</a:t>
            </a:r>
          </a:p>
        </p:txBody>
      </p:sp>
      <p:sp>
        <p:nvSpPr>
          <p:cNvPr id="22" name="TextBox 21"/>
          <p:cNvSpPr txBox="1"/>
          <p:nvPr/>
        </p:nvSpPr>
        <p:spPr>
          <a:xfrm>
            <a:off x="6400800" y="4828032"/>
            <a:ext cx="2386584" cy="502920"/>
          </a:xfrm>
          <a:prstGeom prst="rect">
            <a:avLst/>
          </a:prstGeom>
          <a:noFill/>
        </p:spPr>
        <p:txBody>
          <a:bodyPr wrap="square">
            <a:spAutoFit/>
          </a:bodyPr>
          <a:lstStyle/>
          <a:p>
            <a:pPr algn="l"/>
            <a:r>
              <a:rPr sz="1100" b="0">
                <a:solidFill>
                  <a:srgbClr val="5A5A5A"/>
                </a:solidFill>
                <a:latin typeface="Calibri"/>
              </a:rPr>
              <a:t>of the network rows</a:t>
            </a:r>
          </a:p>
        </p:txBody>
      </p:sp>
      <p:sp>
        <p:nvSpPr>
          <p:cNvPr id="23" name="Rectangle 22"/>
          <p:cNvSpPr/>
          <p:nvPr/>
        </p:nvSpPr>
        <p:spPr>
          <a:xfrm>
            <a:off x="9153144" y="1353312"/>
            <a:ext cx="2752344" cy="404164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53144" y="1353312"/>
            <a:ext cx="2752344"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54312" y="1499616"/>
            <a:ext cx="2386584" cy="274320"/>
          </a:xfrm>
          <a:prstGeom prst="rect">
            <a:avLst/>
          </a:prstGeom>
          <a:noFill/>
        </p:spPr>
        <p:txBody>
          <a:bodyPr wrap="square">
            <a:spAutoFit/>
          </a:bodyPr>
          <a:lstStyle/>
          <a:p>
            <a:pPr algn="l"/>
            <a:r>
              <a:rPr sz="1050" b="1">
                <a:solidFill>
                  <a:srgbClr val="CC0E1E"/>
                </a:solidFill>
                <a:latin typeface="Calibri"/>
              </a:rPr>
              <a:t>READ IT AS</a:t>
            </a:r>
          </a:p>
        </p:txBody>
      </p:sp>
      <p:sp>
        <p:nvSpPr>
          <p:cNvPr id="26" name="TextBox 25"/>
          <p:cNvSpPr txBox="1"/>
          <p:nvPr/>
        </p:nvSpPr>
        <p:spPr>
          <a:xfrm>
            <a:off x="9354312" y="1810512"/>
            <a:ext cx="2386584" cy="658368"/>
          </a:xfrm>
          <a:prstGeom prst="rect">
            <a:avLst/>
          </a:prstGeom>
          <a:noFill/>
        </p:spPr>
        <p:txBody>
          <a:bodyPr wrap="square">
            <a:spAutoFit/>
          </a:bodyPr>
          <a:lstStyle/>
          <a:p>
            <a:pPr algn="l"/>
            <a:r>
              <a:rPr sz="2800" b="1">
                <a:solidFill>
                  <a:srgbClr val="1A1A1A"/>
                </a:solidFill>
                <a:latin typeface="Calibri"/>
              </a:rPr>
              <a:t>claim cost</a:t>
            </a:r>
          </a:p>
        </p:txBody>
      </p:sp>
      <p:sp>
        <p:nvSpPr>
          <p:cNvPr id="27" name="TextBox 26"/>
          <p:cNvSpPr txBox="1"/>
          <p:nvPr/>
        </p:nvSpPr>
        <p:spPr>
          <a:xfrm>
            <a:off x="9354312" y="4828032"/>
            <a:ext cx="2386584" cy="502920"/>
          </a:xfrm>
          <a:prstGeom prst="rect">
            <a:avLst/>
          </a:prstGeom>
          <a:noFill/>
        </p:spPr>
        <p:txBody>
          <a:bodyPr wrap="square">
            <a:spAutoFit/>
          </a:bodyPr>
          <a:lstStyle/>
          <a:p>
            <a:pPr algn="l"/>
            <a:r>
              <a:rPr sz="1100" b="0">
                <a:solidFill>
                  <a:srgbClr val="5A5A5A"/>
                </a:solidFill>
                <a:latin typeface="Calibri"/>
              </a:rPr>
              <a:t>not as a sales win</a:t>
            </a:r>
          </a:p>
        </p:txBody>
      </p:sp>
      <p:sp>
        <p:nvSpPr>
          <p:cNvPr id="28" name="TextBox 27"/>
          <p:cNvSpPr txBox="1"/>
          <p:nvPr/>
        </p:nvSpPr>
        <p:spPr>
          <a:xfrm>
            <a:off x="292608" y="5687568"/>
            <a:ext cx="11612880" cy="822960"/>
          </a:xfrm>
          <a:prstGeom prst="rect">
            <a:avLst/>
          </a:prstGeom>
          <a:noFill/>
        </p:spPr>
        <p:txBody>
          <a:bodyPr wrap="square">
            <a:spAutoFit/>
          </a:bodyPr>
          <a:lstStyle/>
          <a:p>
            <a:pPr algn="l"/>
            <a:r>
              <a:rPr sz="1050" b="0">
                <a:solidFill>
                  <a:srgbClr val="5A5A5A"/>
                </a:solidFill>
                <a:latin typeface="Calibri"/>
              </a:rPr>
              <a:t>Warranty parts are revenue, but they are not customer-paid demand. Reading them inside a growth number overstates the commercial position, which is why they are shown separately here and excluded from the target-spend ceiling.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WARRANTY</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Warranty parts billed by distributor</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39</a:t>
            </a:r>
          </a:p>
        </p:txBody>
      </p:sp>
      <p:pic>
        <p:nvPicPr>
          <p:cNvPr id="8" name="Picture 7" descr="_warranty_by_db.png"/>
          <p:cNvPicPr>
            <a:picLocks noChangeAspect="1"/>
          </p:cNvPicPr>
          <p:nvPr/>
        </p:nvPicPr>
        <p:blipFill>
          <a:blip r:embed="rId3"/>
          <a:stretch>
            <a:fillRect/>
          </a:stretch>
        </p:blipFill>
        <p:spPr>
          <a:xfrm>
            <a:off x="292608" y="1901476"/>
            <a:ext cx="7199985" cy="3749992"/>
          </a:xfrm>
          <a:prstGeom prst="rect">
            <a:avLst/>
          </a:prstGeom>
        </p:spPr>
      </p:pic>
      <p:sp>
        <p:nvSpPr>
          <p:cNvPr id="9" name="Rectangle 8"/>
          <p:cNvSpPr/>
          <p:nvPr/>
        </p:nvSpPr>
        <p:spPr>
          <a:xfrm>
            <a:off x="7657185" y="1261872"/>
            <a:ext cx="20000" cy="5029200"/>
          </a:xfrm>
          <a:prstGeom prst="rect">
            <a:avLst/>
          </a:prstGeom>
          <a:solidFill>
            <a:srgbClr val="DE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0065" y="1280160"/>
            <a:ext cx="3973983" cy="274320"/>
          </a:xfrm>
          <a:prstGeom prst="rect">
            <a:avLst/>
          </a:prstGeom>
          <a:noFill/>
        </p:spPr>
        <p:txBody>
          <a:bodyPr wrap="square">
            <a:spAutoFit/>
          </a:bodyPr>
          <a:lstStyle/>
          <a:p>
            <a:pPr algn="l"/>
            <a:r>
              <a:rPr sz="1100" b="1">
                <a:solidFill>
                  <a:srgbClr val="CC0E1E"/>
                </a:solidFill>
                <a:latin typeface="Calibri"/>
              </a:rPr>
              <a:t>TAKEAWAYS</a:t>
            </a:r>
          </a:p>
        </p:txBody>
      </p:sp>
      <p:sp>
        <p:nvSpPr>
          <p:cNvPr id="11" name="TextBox 10"/>
          <p:cNvSpPr txBox="1"/>
          <p:nvPr/>
        </p:nvSpPr>
        <p:spPr>
          <a:xfrm>
            <a:off x="7840065" y="1645920"/>
            <a:ext cx="3955695" cy="4572000"/>
          </a:xfrm>
          <a:prstGeom prst="rect">
            <a:avLst/>
          </a:prstGeom>
          <a:noFill/>
        </p:spPr>
        <p:txBody>
          <a:bodyPr wrap="square">
            <a:spAutoFit/>
          </a:bodyPr>
          <a:lstStyle/>
          <a:p>
            <a:pPr>
              <a:lnSpc>
                <a:spcPct val="125000"/>
              </a:lnSpc>
              <a:spcAft>
                <a:spcPts val="1000"/>
              </a:spcAft>
            </a:pPr>
            <a:r>
              <a:rPr sz="1150" b="1">
                <a:solidFill>
                  <a:srgbClr val="CC0E1E"/>
                </a:solidFill>
                <a:latin typeface="Calibri"/>
              </a:rPr>
              <a:t>—  </a:t>
            </a:r>
            <a:r>
              <a:rPr sz="1150">
                <a:solidFill>
                  <a:srgbClr val="1A1A1A"/>
                </a:solidFill>
                <a:latin typeface="Calibri"/>
              </a:rPr>
              <a:t>Calendar 2025, warranty parts value per distributor.</a:t>
            </a:r>
          </a:p>
          <a:p>
            <a:pPr>
              <a:lnSpc>
                <a:spcPct val="125000"/>
              </a:lnSpc>
              <a:spcAft>
                <a:spcPts val="1000"/>
              </a:spcAft>
            </a:pPr>
            <a:r>
              <a:rPr sz="1150" b="1">
                <a:solidFill>
                  <a:srgbClr val="CC0E1E"/>
                </a:solidFill>
                <a:latin typeface="Calibri"/>
              </a:rPr>
              <a:t>—  </a:t>
            </a:r>
            <a:r>
              <a:rPr sz="1150">
                <a:solidFill>
                  <a:srgbClr val="1A1A1A"/>
                </a:solidFill>
                <a:latin typeface="Calibri"/>
              </a:rPr>
              <a:t>The concentration follows fleet size, so read the share of billed rather than the absolute value.</a:t>
            </a:r>
          </a:p>
          <a:p>
            <a:pPr>
              <a:lnSpc>
                <a:spcPct val="125000"/>
              </a:lnSpc>
              <a:spcAft>
                <a:spcPts val="1000"/>
              </a:spcAft>
            </a:pPr>
            <a:r>
              <a:rPr sz="1150" b="1">
                <a:solidFill>
                  <a:srgbClr val="CC0E1E"/>
                </a:solidFill>
                <a:latin typeface="Calibri"/>
              </a:rPr>
              <a:t>—  </a:t>
            </a:r>
            <a:r>
              <a:rPr sz="1150">
                <a:solidFill>
                  <a:srgbClr val="1A1A1A"/>
                </a:solidFill>
                <a:latin typeface="Calibri"/>
              </a:rPr>
              <a:t>A rising warranty share against falling customer-paid parts is a quality signal worth tracking.</a:t>
            </a:r>
          </a:p>
          <a:p>
            <a:pPr>
              <a:lnSpc>
                <a:spcPct val="125000"/>
              </a:lnSpc>
              <a:spcAft>
                <a:spcPts val="1000"/>
              </a:spcAft>
            </a:pPr>
            <a:r>
              <a:rPr sz="1150" b="1">
                <a:solidFill>
                  <a:srgbClr val="CC0E1E"/>
                </a:solidFill>
                <a:latin typeface="Calibri"/>
              </a:rPr>
              <a:t>—  </a:t>
            </a:r>
            <a:r>
              <a:rPr sz="1150">
                <a:solidFill>
                  <a:srgbClr val="1A1A1A"/>
                </a:solidFill>
                <a:latin typeface="Calibri"/>
              </a:rPr>
              <a:t>Warranty sits outside the target-spend ceiling, which covers customer-paid demand only.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11430000" cy="274320"/>
          </a:xfrm>
          <a:prstGeom prst="rect">
            <a:avLst/>
          </a:prstGeom>
          <a:noFill/>
        </p:spPr>
        <p:txBody>
          <a:bodyPr wrap="square">
            <a:spAutoFit/>
          </a:bodyPr>
          <a:lstStyle/>
          <a:p>
            <a:pPr algn="l"/>
            <a:r>
              <a:rPr sz="1100" b="1">
                <a:solidFill>
                  <a:srgbClr val="CC0E1E"/>
                </a:solidFill>
                <a:latin typeface="Calibri"/>
              </a:rPr>
              <a:t>BEFORE THE NEXT REVIEW</a:t>
            </a:r>
          </a:p>
        </p:txBody>
      </p:sp>
      <p:sp>
        <p:nvSpPr>
          <p:cNvPr id="5" name="TextBox 4"/>
          <p:cNvSpPr txBox="1"/>
          <p:nvPr/>
        </p:nvSpPr>
        <p:spPr>
          <a:xfrm>
            <a:off x="292608" y="475488"/>
            <a:ext cx="11612880" cy="493776"/>
          </a:xfrm>
          <a:prstGeom prst="rect">
            <a:avLst/>
          </a:prstGeom>
          <a:noFill/>
        </p:spPr>
        <p:txBody>
          <a:bodyPr wrap="square">
            <a:spAutoFit/>
          </a:bodyPr>
          <a:lstStyle/>
          <a:p>
            <a:pPr algn="l"/>
            <a:r>
              <a:rPr sz="2300" b="1">
                <a:solidFill>
                  <a:srgbClr val="1A1A1A"/>
                </a:solidFill>
                <a:latin typeface="Calibri"/>
              </a:rPr>
              <a:t>What we are asking for</a:t>
            </a:r>
          </a:p>
        </p:txBody>
      </p:sp>
      <p:sp>
        <p:nvSpPr>
          <p:cNvPr id="6" name="Rectangle 5"/>
          <p:cNvSpPr/>
          <p:nvPr/>
        </p:nvSpPr>
        <p:spPr>
          <a:xfrm>
            <a:off x="292608" y="1060704"/>
            <a:ext cx="11612880" cy="28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40</a:t>
            </a:r>
          </a:p>
        </p:txBody>
      </p:sp>
      <p:sp>
        <p:nvSpPr>
          <p:cNvPr id="8" name="TextBox 7"/>
          <p:cNvSpPr txBox="1"/>
          <p:nvPr/>
        </p:nvSpPr>
        <p:spPr>
          <a:xfrm>
            <a:off x="292608" y="1335024"/>
            <a:ext cx="7315200" cy="4910328"/>
          </a:xfrm>
          <a:prstGeom prst="rect">
            <a:avLst/>
          </a:prstGeom>
          <a:noFill/>
        </p:spPr>
        <p:txBody>
          <a:bodyPr wrap="square">
            <a:spAutoFit/>
          </a:bodyPr>
          <a:lstStyle/>
          <a:p>
            <a:pPr>
              <a:lnSpc>
                <a:spcPct val="125000"/>
              </a:lnSpc>
              <a:spcAft>
                <a:spcPts val="1000"/>
              </a:spcAft>
            </a:pPr>
            <a:r>
              <a:rPr sz="1200" b="1">
                <a:solidFill>
                  <a:srgbClr val="CC0E1E"/>
                </a:solidFill>
                <a:latin typeface="Calibri"/>
              </a:rPr>
              <a:t>—  </a:t>
            </a:r>
            <a:r>
              <a:rPr sz="1200">
                <a:solidFill>
                  <a:srgbClr val="1A1A1A"/>
                </a:solidFill>
                <a:latin typeface="Calibri"/>
              </a:rPr>
              <a:t>A direct question to ITUK on the dealer-layer gap: our billing is at 65.9%, their dealers are at 47.5%, and the difference is demand that reached the distributor but not the workshop.</a:t>
            </a:r>
          </a:p>
          <a:p>
            <a:pPr>
              <a:lnSpc>
                <a:spcPct val="125000"/>
              </a:lnSpc>
              <a:spcAft>
                <a:spcPts val="1000"/>
              </a:spcAft>
            </a:pPr>
            <a:r>
              <a:rPr sz="1200" b="1">
                <a:solidFill>
                  <a:srgbClr val="CC0E1E"/>
                </a:solidFill>
                <a:latin typeface="Calibri"/>
              </a:rPr>
              <a:t>—  </a:t>
            </a:r>
            <a:r>
              <a:rPr sz="1200">
                <a:solidFill>
                  <a:srgbClr val="1A1A1A"/>
                </a:solidFill>
                <a:latin typeface="Calibri"/>
              </a:rPr>
              <a:t>Germany: confirm why fuel-filter best-value volume stopped in fiscal 2025/26. It is one line, and it moved a market from 38.6% to 8.5% on paired units.</a:t>
            </a:r>
          </a:p>
          <a:p>
            <a:pPr>
              <a:lnSpc>
                <a:spcPct val="125000"/>
              </a:lnSpc>
              <a:spcAft>
                <a:spcPts val="1000"/>
              </a:spcAft>
            </a:pPr>
            <a:r>
              <a:rPr sz="1200" b="1">
                <a:solidFill>
                  <a:srgbClr val="CC0E1E"/>
                </a:solidFill>
                <a:latin typeface="Calibri"/>
              </a:rPr>
              <a:t>—  </a:t>
            </a:r>
            <a:r>
              <a:rPr sz="1200">
                <a:solidFill>
                  <a:srgbClr val="1A1A1A"/>
                </a:solidFill>
                <a:latin typeface="Calibri"/>
              </a:rPr>
              <a:t>Fill rate: bring the 10 markets below the 95% standard into the monthly review with a named owner, and record the markets that never file as a data gap rather than a zero.</a:t>
            </a:r>
          </a:p>
          <a:p>
            <a:pPr>
              <a:lnSpc>
                <a:spcPct val="125000"/>
              </a:lnSpc>
              <a:spcAft>
                <a:spcPts val="1000"/>
              </a:spcAft>
            </a:pPr>
            <a:r>
              <a:rPr sz="1200" b="1">
                <a:solidFill>
                  <a:srgbClr val="CC0E1E"/>
                </a:solidFill>
                <a:latin typeface="Calibri"/>
              </a:rPr>
              <a:t>—  </a:t>
            </a:r>
            <a:r>
              <a:rPr sz="1200">
                <a:solidFill>
                  <a:srgbClr val="1A1A1A"/>
                </a:solidFill>
                <a:latin typeface="Calibri"/>
              </a:rPr>
              <a:t>Inventory cover: agree the band per supply route and review the markets holding far more stock than their route justifies.</a:t>
            </a:r>
          </a:p>
          <a:p>
            <a:pPr>
              <a:lnSpc>
                <a:spcPct val="125000"/>
              </a:lnSpc>
              <a:spcAft>
                <a:spcPts val="1000"/>
              </a:spcAft>
            </a:pPr>
            <a:r>
              <a:rPr sz="1200" b="1">
                <a:solidFill>
                  <a:srgbClr val="CC0E1E"/>
                </a:solidFill>
                <a:latin typeface="Calibri"/>
              </a:rPr>
              <a:t>—  </a:t>
            </a:r>
            <a:r>
              <a:rPr sz="1200">
                <a:solidFill>
                  <a:srgbClr val="1A1A1A"/>
                </a:solidFill>
                <a:latin typeface="Calibri"/>
              </a:rPr>
              <a:t>Warranty to be reported beside growth from now on, so a warranty-heavy month is never read as commercial growth.</a:t>
            </a:r>
          </a:p>
          <a:p>
            <a:pPr>
              <a:lnSpc>
                <a:spcPct val="125000"/>
              </a:lnSpc>
              <a:spcAft>
                <a:spcPts val="1000"/>
              </a:spcAft>
            </a:pPr>
            <a:r>
              <a:rPr sz="1200" b="1">
                <a:solidFill>
                  <a:srgbClr val="CC0E1E"/>
                </a:solidFill>
                <a:latin typeface="Calibri"/>
              </a:rPr>
              <a:t>—  </a:t>
            </a:r>
            <a:r>
              <a:rPr sz="1200">
                <a:solidFill>
                  <a:srgbClr val="1A1A1A"/>
                </a:solidFill>
                <a:latin typeface="Calibri"/>
              </a:rPr>
              <a:t>Keep the exposure lens on every best-value decision, so a value line is deployed where genuine revenue is already lost rather than where it is strong.</a:t>
            </a:r>
          </a:p>
        </p:txBody>
      </p:sp>
      <p:sp>
        <p:nvSpPr>
          <p:cNvPr id="9" name="Rectangle 8"/>
          <p:cNvSpPr/>
          <p:nvPr/>
        </p:nvSpPr>
        <p:spPr>
          <a:xfrm>
            <a:off x="7836408" y="1261872"/>
            <a:ext cx="4069080" cy="4773168"/>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36408" y="1261872"/>
            <a:ext cx="4069080" cy="4000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37576" y="1481328"/>
            <a:ext cx="3666744" cy="365760"/>
          </a:xfrm>
          <a:prstGeom prst="rect">
            <a:avLst/>
          </a:prstGeom>
          <a:noFill/>
        </p:spPr>
        <p:txBody>
          <a:bodyPr wrap="square">
            <a:spAutoFit/>
          </a:bodyPr>
          <a:lstStyle/>
          <a:p>
            <a:pPr algn="l"/>
            <a:r>
              <a:rPr sz="1150" b="1">
                <a:solidFill>
                  <a:srgbClr val="CC0E1E"/>
                </a:solidFill>
                <a:latin typeface="Calibri"/>
              </a:rPr>
              <a:t>THE ONE DECISION WE NEED</a:t>
            </a:r>
          </a:p>
        </p:txBody>
      </p:sp>
      <p:sp>
        <p:nvSpPr>
          <p:cNvPr id="12" name="TextBox 11"/>
          <p:cNvSpPr txBox="1"/>
          <p:nvPr/>
        </p:nvSpPr>
        <p:spPr>
          <a:xfrm>
            <a:off x="8037576" y="1920240"/>
            <a:ext cx="3666744" cy="3291840"/>
          </a:xfrm>
          <a:prstGeom prst="rect">
            <a:avLst/>
          </a:prstGeom>
          <a:noFill/>
        </p:spPr>
        <p:txBody>
          <a:bodyPr wrap="square">
            <a:spAutoFit/>
          </a:bodyPr>
          <a:lstStyle/>
          <a:p>
            <a:pPr algn="l"/>
            <a:r>
              <a:rPr sz="1250" b="0">
                <a:solidFill>
                  <a:srgbClr val="3D3B36"/>
                </a:solidFill>
                <a:latin typeface="Calibri"/>
              </a:rPr>
              <a:t>Whether the sales-to-dealer layer becomes a standing part of the distributor review. If it does, more markets need to file and the inner-layer gap stops being invisible. If it does not, the ITUK conversation on page 15 cannot be repeated anywhere else.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