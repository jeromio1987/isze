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35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FY25</c:v>
                  </c:pt>
                  <c:pt idx="1">
                    <c:v>FY26</c:v>
                  </c:pt>
                  <c:pt idx="2">
                    <c:v>FY27E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3235.6</c:v>
                </c:pt>
                <c:pt idx="1">
                  <c:v>3479.1</c:v>
                </c:pt>
                <c:pt idx="2">
                  <c:v>3700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D719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FY25</c:v>
                  </c:pt>
                  <c:pt idx="1">
                    <c:v>FY26</c:v>
                  </c:pt>
                  <c:pt idx="2">
                    <c:v>FY27E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229.5</c:v>
                </c:pt>
                <c:pt idx="1">
                  <c:v>203.7</c:v>
                </c:pt>
                <c:pt idx="2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635BFF"/>
            </a:solidFill>
            <a:ln w="25400" cap="flat">
              <a:solidFill>
                <a:srgbClr val="635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35BFF"/>
              </a:solidFill>
              <a:ln w="9525" cap="flat">
                <a:solidFill>
                  <a:srgbClr val="635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2.65</c:v>
                </c:pt>
                <c:pt idx="1">
                  <c:v>2.82</c:v>
                </c:pt>
                <c:pt idx="2">
                  <c:v>2.98</c:v>
                </c:pt>
                <c:pt idx="3">
                  <c:v>3.05</c:v>
                </c:pt>
                <c:pt idx="4">
                  <c:v>3.145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D4FF"/>
            </a:solidFill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2.75</c:v>
                </c:pt>
                <c:pt idx="1">
                  <c:v>2.62</c:v>
                </c:pt>
                <c:pt idx="2">
                  <c:v>2.9</c:v>
                </c:pt>
                <c:pt idx="3">
                  <c:v>3</c:v>
                </c:pt>
                <c:pt idx="4">
                  <c:v>3.242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4"/>
          <c:min val="2.4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upside</c:v>
                </c:pt>
              </c:strCache>
            </c:strRef>
          </c:tx>
          <c:spPr>
            <a:solidFill>
              <a:srgbClr val="635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UK</c:v>
                  </c:pt>
                  <c:pt idx="1">
                    <c:v>Israel</c:v>
                  </c:pt>
                  <c:pt idx="2">
                    <c:v>Benelux</c:v>
                  </c:pt>
                  <c:pt idx="3">
                    <c:v>Iberia</c:v>
                  </c:pt>
                  <c:pt idx="4">
                    <c:v>CIS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</c:v>
                </c:pt>
                <c:pt idx="1">
                  <c:v>104</c:v>
                </c:pt>
                <c:pt idx="2">
                  <c:v>86</c:v>
                </c:pt>
                <c:pt idx="3">
                  <c:v>74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Execution risk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UK</c:v>
                  </c:pt>
                  <c:pt idx="1">
                    <c:v>Israel</c:v>
                  </c:pt>
                  <c:pt idx="2">
                    <c:v>Benelux</c:v>
                  </c:pt>
                  <c:pt idx="3">
                    <c:v>Iberia</c:v>
                  </c:pt>
                  <c:pt idx="4">
                    <c:v>CIS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60</c:v>
                </c:pt>
                <c:pt idx="2">
                  <c:v>45</c:v>
                </c:pt>
                <c:pt idx="3">
                  <c:v>35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sales</c:v>
                </c:pt>
              </c:strCache>
            </c:strRef>
          </c:tx>
          <c:spPr>
            <a:solidFill>
              <a:srgbClr val="E3E8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UTI L12</c:v>
                  </c:pt>
                  <c:pt idx="1">
                    <c:v>ITUK L6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731.9</c:v>
                </c:pt>
                <c:pt idx="1">
                  <c:v>217.9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After/commitment sales</c:v>
                </c:pt>
              </c:strCache>
            </c:strRef>
          </c:tx>
          <c:spPr>
            <a:solidFill>
              <a:srgbClr val="635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UTI L12</c:v>
                  </c:pt>
                  <c:pt idx="1">
                    <c:v>ITUK L6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1041</c:v>
                </c:pt>
                <c:pt idx="1">
                  <c:v>289.5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Before GP</c:v>
                </c:pt>
              </c:strCache>
            </c:strRef>
          </c:tx>
          <c:spPr>
            <a:solidFill>
              <a:srgbClr val="C8F2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UTI L12</c:v>
                  </c:pt>
                  <c:pt idx="1">
                    <c:v>ITUK L6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305.4</c:v>
                </c:pt>
                <c:pt idx="1">
                  <c:v>111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After GP</c:v>
                </c:pt>
              </c:strCache>
            </c:strRef>
          </c:tx>
          <c:spPr>
            <a:solidFill>
              <a:srgbClr val="00A8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UTI L12</c:v>
                  </c:pt>
                  <c:pt idx="1">
                    <c:v>ITUK L6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307.9</c:v>
                </c:pt>
                <c:pt idx="1">
                  <c:v>118.6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Stripe documentation: Dashboard Home provides analytics and charts; homepage widgets can be customized and date ranges compared (docs.stripe.com/dashboard/basics; support.stripe.com/questions/dashboard-home-page-charts-for-business-insights).
- Isuzu Motors Limited, FY2026 Financial Results presentation, May 13 2026: FY2026 revenue, global units and aftersales revenue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Isuzu Motors Limited, FY2026 Financial Results presentation, May 13 2026, pages 3-4: revenue ¥3,479.1B (+8%), operating profit ¥203.7B (-11%), global sales 577K (+7%), FY2027 outlook revenue ¥3,700.0B and operating profit ¥260.0B.
- Isuzu FY2026 presentation, page 4: FY2027 outlook includes an estimated negative impact of approximately ¥40.0B related to the Middle East situation.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ISZE working figures from prior conversation context: VP-4 Feb 2026 orders €3.145M, sales €3.242M, BP achievement 115.63%, YoY sales +€646K. Verify against VP-4 source workbook before external use.
- Stripe Help &amp; Support: Dashboard home page charts provide quick account information, customizable widgets, date range and comparison range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ISZE working context: GPS/PMS, SPA, UIO, IDS Kaizen dashboard and sales-to-dealer data requirements were provided in prior conversations. Example market values on this slide are illustrative design placeholders, not official results.
- Stripe Dashboard documentation: Dashboard supports navigation to reports, filters/export of transactions, and customizable overview widgets; adapted here as a dashboard UX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ISZE working figures from prior conversation context: UTI SPA L12 commitment €1,041,022 vs L12 €731,949, GM 41.7% to 29.6%, GP €305,444 to €307,853; ITUK SPA L6 sales €217,902 to €289,477, GM 50.9% to 41.0%, GP €110,953 to €118,601. Verify against final SPA workbooks before use.
- Dashboard UX pattern adapted from Stripe home chart concept: quick overview charts plus detailed reporting separation.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Isuzu FY2026 Financial Results presentation, page 11: aftersales revenue from service and parts/shipment of parts reached ¥621.0B and achieved the FY2027 Medium-term Business Plan target of ¥600.0B one year early.
- Isuzu UK D-Max eV-Cross page: 263 km WLTP range, 1 tonne payload, 3.5 tonnes towing, 66.9 kWh battery, 11 kW AC and 50 kW DC charging, 8-year/100,000-mile battery warranty.
- Isuzu Integrated Report 2025: connected services for BEVs in North America using GATEX, maintenance leasing/connected services, and uptime support expansion to major regions by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ISZE working context: order types, VP-4, GPS/PMS, SPA, BO, IDS Kaizen, UIO, BP and distributor-level reporting requirements were provided in prior conversations.
- Stripe documentation: Dashboard supports navigating resources, filtering/exporting transactions, customizable widgets, reporting, and more detailed reports; this slide adapts that product UX logic to ISZE management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Style assessment based on the Stripe Dashboard documentation and Help &amp; Support article describing home charts, widgets, custom date ranges and comparison ranges.
- Internal ISZE reporting use cases from prior conversation context: VP-4, GPS/PMS, SPA approvals, BO analysis, IDS Kaizen and distributor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0" y="685800"/>
            <a:ext cx="5349240" cy="54406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65392" y="969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540"/>
                </a:solidFill>
              </a:rPr>
              <a:t>ISUZU / Europe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012680" y="914400"/>
            <a:ext cx="1005840" cy="246888"/>
          </a:xfrm>
          <a:prstGeom prst="roundRect">
            <a:avLst>
              <a:gd name="adj" fmla="val 29630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97383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A86B"/>
                </a:solidFill>
              </a:rPr>
              <a:t>Live dashboard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6537960" y="1417320"/>
            <a:ext cx="141732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¥3.48T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+8%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156448" y="1417320"/>
            <a:ext cx="141732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units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577K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+7%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+ LCV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774936" y="1417320"/>
            <a:ext cx="141732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Aftersales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¥621B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ahead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target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537960" y="2788920"/>
            <a:ext cx="4663440" cy="1874520"/>
          </a:xfrm>
          <a:prstGeom prst="roundRect">
            <a:avLst>
              <a:gd name="adj" fmla="val 7805"/>
            </a:avLst>
          </a:prstGeom>
          <a:solidFill>
            <a:srgbClr val="FAFB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2971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2540"/>
                </a:solidFill>
              </a:rPr>
              <a:t>Global operating dashboard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12280" y="4343400"/>
            <a:ext cx="2011680" cy="-454934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3888466"/>
            <a:ext cx="2011680" cy="-413746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5262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97386"/>
                </a:solidFill>
              </a:rPr>
              <a:t>FY2025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641080" y="45262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97386"/>
                </a:solidFill>
              </a:rPr>
              <a:t>FY2026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0469880" y="45262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97386"/>
                </a:solidFill>
              </a:rPr>
              <a:t>FY2027E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6748272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25466"/>
                </a:solidFill>
              </a:rPr>
              <a:t>Revenue path: growth remains visible; profit needs operational guardrails.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" y="12801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Stripe-style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 performance cockpit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" y="25420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</a:rPr>
              <a:t>A dashboard-first presentation system for HQ and ISZE: fewer slides, clearer controls, faster actions.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" y="3246120"/>
            <a:ext cx="192024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305556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Style 03 / Stripe dashboard UX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697480" y="3246120"/>
            <a:ext cx="1600200" cy="246888"/>
          </a:xfrm>
          <a:prstGeom prst="roundRect">
            <a:avLst>
              <a:gd name="adj" fmla="val 2963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3305556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</a:rPr>
              <a:t>Focus: operational cockpit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462272" y="3246120"/>
            <a:ext cx="987552" cy="246888"/>
          </a:xfrm>
          <a:prstGeom prst="roundRect">
            <a:avLst>
              <a:gd name="adj" fmla="val 29630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330555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A86B"/>
                </a:solidFill>
              </a:rPr>
              <a:t>Internal-ready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03504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7386"/>
                </a:solidFill>
              </a:rPr>
              <a:t>Design principle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3504" y="437083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</a:rPr>
              <a:t>Everything should feel measurable, filterable and actionable — like a finance or product dashboard rather than a static management pack.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HQ view: growth continues, but the profit layer needs control logic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A Stripe-style dashboard separates headline growth, margin pressure, and next-year recovery in one view.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109728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FY2026 actual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719072" y="1536192"/>
            <a:ext cx="1143000" cy="246888"/>
          </a:xfrm>
          <a:prstGeom prst="roundRect">
            <a:avLst>
              <a:gd name="adj" fmla="val 29630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1595628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A86B"/>
                </a:solidFill>
              </a:rPr>
              <a:t>FY2027 outlook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75488" y="1920240"/>
            <a:ext cx="192024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¥3,479B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+8% YoY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2587752" y="1920240"/>
            <a:ext cx="192024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profit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¥204B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-11% YoY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tariffs, FX, material cost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4700016" y="1920240"/>
            <a:ext cx="192024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units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577K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+38K / +7%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+ LCV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812280" y="1920240"/>
            <a:ext cx="192024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OP outlook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¥260B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+28%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Middle East impact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75488" y="3401568"/>
            <a:ext cx="553212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Actuals and outlook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49808" y="3968496"/>
          <a:ext cx="489204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263640" y="3401568"/>
            <a:ext cx="544068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37960" y="3639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Where the dashboard should focus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37960" y="4023360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84264" y="3986784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Sales and unit growth are clear; profit pressure is the executive control point.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6537960" y="4407408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84264" y="437083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Middle East disruption is a forecast risk; dashboards should isolate this as its own scenario layer.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6537960" y="4809744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84264" y="477316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Aftersales should be treated as a resilience line, not a side chart.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6565392" y="5321808"/>
            <a:ext cx="4343400" cy="329184"/>
          </a:xfrm>
          <a:prstGeom prst="roundRect">
            <a:avLst>
              <a:gd name="adj" fmla="val 22222"/>
            </a:avLst>
          </a:prstGeom>
          <a:solidFill>
            <a:srgbClr val="FFF0F1"/>
          </a:solidFill>
          <a:ln w="12700">
            <a:solidFill>
              <a:srgbClr val="FFF0F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93408" y="541324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</a:rPr>
              <a:t>Alert: growth without margin visibility creates false comfort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ISZE aftersales cockpit: convert monthly reporting into a control surface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The dashboard treatment makes VP-4, BP, distributor movements and action queues visible in the same rhythm.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109728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ISZE / Europe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719072" y="1536192"/>
            <a:ext cx="1051560" cy="246888"/>
          </a:xfrm>
          <a:prstGeom prst="roundRect">
            <a:avLst>
              <a:gd name="adj" fmla="val 2963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1595628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</a:rPr>
              <a:t>Feb 2026 sample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75488" y="1920240"/>
            <a:ext cx="17373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€3.145M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above run-rate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VP-4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2395728" y="1920240"/>
            <a:ext cx="17373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€3.242M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+€646K YoY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4315968" y="1920240"/>
            <a:ext cx="17373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 achievement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115.6%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+15.6 pts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business plan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236208" y="1920240"/>
            <a:ext cx="17373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Watchlist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 / RSA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or invoice gap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75488" y="3355848"/>
            <a:ext cx="5486400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602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Orders / sales momentum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49808" y="3950208"/>
          <a:ext cx="4800600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263640" y="3355848"/>
            <a:ext cx="5440680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37960" y="36027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Action queue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37960" y="39684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11112" y="403250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35BFF"/>
                </a:solidFill>
              </a:rPr>
              <a:t>1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6903720" y="395020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A2540"/>
                </a:solidFill>
              </a:rPr>
              <a:t>Distributor gap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903720" y="41330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25466"/>
                </a:solidFill>
              </a:rPr>
              <a:t>Resolve UTI / RSA order and invoicing variance.</a:t>
            </a:r>
            <a:endParaRPr lang="en-US" sz="690" dirty="0"/>
          </a:p>
        </p:txBody>
      </p:sp>
      <p:sp>
        <p:nvSpPr>
          <p:cNvPr id="28" name="Shape 25"/>
          <p:cNvSpPr/>
          <p:nvPr/>
        </p:nvSpPr>
        <p:spPr>
          <a:xfrm>
            <a:off x="6537960" y="44988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11112" y="4562856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35BFF"/>
                </a:solidFill>
              </a:rPr>
              <a:t>2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903720" y="44805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A2540"/>
                </a:solidFill>
              </a:rPr>
              <a:t>Price support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903720" y="46634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25466"/>
                </a:solidFill>
              </a:rPr>
              <a:t>Prioritize SPA where GP improves despite lower margin %.</a:t>
            </a:r>
            <a:endParaRPr lang="en-US" sz="690" dirty="0"/>
          </a:p>
        </p:txBody>
      </p:sp>
      <p:sp>
        <p:nvSpPr>
          <p:cNvPr id="32" name="Shape 29"/>
          <p:cNvSpPr/>
          <p:nvPr/>
        </p:nvSpPr>
        <p:spPr>
          <a:xfrm>
            <a:off x="6537960" y="50292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11112" y="5093208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35BFF"/>
                </a:solidFill>
              </a:rPr>
              <a:t>3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6903720" y="50109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A2540"/>
                </a:solidFill>
              </a:rPr>
              <a:t>Demand signal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6903720" y="51937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425466"/>
                </a:solidFill>
              </a:rPr>
              <a:t>Add sales-to-dealer data for kickback KPI and IDS Kaizen.</a:t>
            </a:r>
            <a:endParaRPr lang="en-US" sz="690" dirty="0"/>
          </a:p>
        </p:txBody>
      </p:sp>
      <p:sp>
        <p:nvSpPr>
          <p:cNvPr id="36" name="Shape 33"/>
          <p:cNvSpPr/>
          <p:nvPr/>
        </p:nvSpPr>
        <p:spPr>
          <a:xfrm>
            <a:off x="6537960" y="5577840"/>
            <a:ext cx="4343400" cy="256032"/>
          </a:xfrm>
          <a:prstGeom prst="roundRect">
            <a:avLst>
              <a:gd name="adj" fmla="val 25000"/>
            </a:avLst>
          </a:prstGeom>
          <a:solidFill>
            <a:srgbClr val="F6F8FF"/>
          </a:solidFill>
          <a:ln w="12700">
            <a:solidFill>
              <a:srgbClr val="F6F8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75120" y="565099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97386"/>
                </a:solidFill>
              </a:rPr>
              <a:t>Recommended default filters: market • distributor • source • class • part group • order type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Distributor growth should be managed like a product funnel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Stripe-style thinking turns GPS, PMS, SPA and dealer data into a measurable conversion system rather than isolated reports.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114300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Dashboard module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783080" y="1536192"/>
            <a:ext cx="1097280" cy="246888"/>
          </a:xfrm>
          <a:prstGeom prst="roundRect">
            <a:avLst>
              <a:gd name="adj" fmla="val 2963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15956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</a:rPr>
              <a:t>GPS / PMS / SPA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75488" y="1920240"/>
            <a:ext cx="193852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UIO 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239572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25466"/>
                </a:solidFill>
              </a:rPr>
              <a:t>vehicles in operation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21792" y="2852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6B"/>
                </a:solidFill>
              </a:rPr>
              <a:t>100%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14016" y="2532888"/>
            <a:ext cx="210312" cy="0"/>
          </a:xfrm>
          <a:prstGeom prst="line">
            <a:avLst/>
          </a:prstGeom>
          <a:noFill/>
          <a:ln w="19050">
            <a:solidFill>
              <a:srgbClr val="E3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5768" y="1920240"/>
            <a:ext cx="193852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62072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Dealer demand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62072" y="239572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25466"/>
                </a:solidFill>
              </a:rPr>
              <a:t>sales-to-dealer data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2862072" y="2852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</a:rPr>
              <a:t>capture gap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54296" y="2532888"/>
            <a:ext cx="210312" cy="0"/>
          </a:xfrm>
          <a:prstGeom prst="line">
            <a:avLst/>
          </a:prstGeom>
          <a:noFill/>
          <a:ln w="19050">
            <a:solidFill>
              <a:srgbClr val="E3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1920240"/>
            <a:ext cx="193852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02352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PMS shortlist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02352" y="239572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25466"/>
                </a:solidFill>
              </a:rPr>
              <a:t>interval competitive parts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102352" y="2852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</a:rPr>
              <a:t>focus set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94576" y="2532888"/>
            <a:ext cx="210312" cy="0"/>
          </a:xfrm>
          <a:prstGeom prst="line">
            <a:avLst/>
          </a:prstGeom>
          <a:noFill/>
          <a:ln w="19050">
            <a:solidFill>
              <a:srgbClr val="E3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1920240"/>
            <a:ext cx="193852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42632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SPA / tender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42632" y="239572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25466"/>
                </a:solidFill>
              </a:rPr>
              <a:t>price intervention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7342632" y="2852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</a:rPr>
              <a:t>margin guardrail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34856" y="2532888"/>
            <a:ext cx="210312" cy="0"/>
          </a:xfrm>
          <a:prstGeom prst="line">
            <a:avLst/>
          </a:prstGeom>
          <a:noFill/>
          <a:ln w="19050">
            <a:solidFill>
              <a:srgbClr val="E3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36608" y="1920240"/>
            <a:ext cx="193852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582912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GPS uplift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582912" y="239572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25466"/>
                </a:solidFill>
              </a:rPr>
              <a:t>genuine share improvement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9582912" y="2852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</a:rPr>
              <a:t>measured monthly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" y="3520440"/>
            <a:ext cx="544068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9808" y="3767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Example: prioritise markets by “profit-positive intervention”</a:t>
            </a:r>
            <a:endParaRPr lang="en-US" sz="9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804672" y="4096512"/>
          <a:ext cx="4800600" cy="14904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6172200" y="3520440"/>
            <a:ext cx="553212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446520" y="37673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Control rules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446520" y="4151376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592824" y="411480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Rank opportunities by incremental gross profit, not only sales uplift.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446520" y="4535424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92824" y="449884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Add dealer efficiency view: dealer vs network average, IDS section score, and Kaizen gap.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6446520" y="4919472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92824" y="48828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Separate defensive SPA from growth SPA: different threshold, same data model.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6446520" y="5303520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92824" y="526694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Capture “before/after” over L6/L12 and display formula validation state.</a:t>
            </a:r>
            <a:endParaRPr lang="en-US" sz="780" dirty="0"/>
          </a:p>
        </p:txBody>
      </p:sp>
      <p:sp>
        <p:nvSpPr>
          <p:cNvPr id="52" name="Text 49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53" name="Text 50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 module: lower margin percentage can still mean higher gross profit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The Stripe-style unit economics view makes the formula path visible and flags the decision-relevant metric.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100584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Unit economics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627632" y="1536192"/>
            <a:ext cx="1051560" cy="246888"/>
          </a:xfrm>
          <a:prstGeom prst="roundRect">
            <a:avLst>
              <a:gd name="adj" fmla="val 2963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1595628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</a:rPr>
              <a:t>Before vs after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75488" y="192024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 commitment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€1.041M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+42.2% vs L12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defensive SPA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2670048" y="192024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 GP delta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+€2.4K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profit-positive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 % declines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4864608" y="192024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ITUK GP delta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+€7.6K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profit-positive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 L6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7059168" y="192024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check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column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delta vs pre-SPA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75488" y="3401568"/>
            <a:ext cx="544068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Before/after: sales and GP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49808" y="3977640"/>
          <a:ext cx="48006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172200" y="3401568"/>
            <a:ext cx="553212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46520" y="36393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Decision logic embedded in the dashboard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46520" y="406908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84848" y="407822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Recalculate old GP and new GP from line-level formulas.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6446520" y="449884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84848" y="45079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Highlight profit delta; margin % is supporting information only.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6446520" y="492861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84848" y="49377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Separate price effect, unit effect, and product mix effect.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6446520" y="5413248"/>
            <a:ext cx="4434840" cy="347472"/>
          </a:xfrm>
          <a:prstGeom prst="roundRect">
            <a:avLst>
              <a:gd name="adj" fmla="val 21053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5504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00A86B"/>
                </a:solidFill>
              </a:rPr>
              <a:t>Default answer: approve only if GP delta is positive or strategic defense is explicitly accepted.</a:t>
            </a:r>
            <a:endParaRPr lang="en-US" sz="660" dirty="0"/>
          </a:p>
        </p:txBody>
      </p:sp>
      <p:sp>
        <p:nvSpPr>
          <p:cNvPr id="32" name="Text 29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Aftersales + EV services: make uptime the commercial operating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The dashboard needs to connect vehicle launch, battery constraints, connected service data and parts/service revenue.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91440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HQ strategy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527048" y="1536192"/>
            <a:ext cx="1051560" cy="246888"/>
          </a:xfrm>
          <a:prstGeom prst="roundRect">
            <a:avLst>
              <a:gd name="adj" fmla="val 2963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595628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</a:rPr>
              <a:t>ISZE implication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75488" y="1920240"/>
            <a:ext cx="187452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Aftersales revenue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¥621B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reached early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2532888" y="1920240"/>
            <a:ext cx="187452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D-MAX EV range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263 km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63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WLTP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spec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4590288" y="1920240"/>
            <a:ext cx="187452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capability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3.5t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00A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towing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1t payload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647688" y="1920240"/>
            <a:ext cx="187452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</a:ln>
          <a:effectLst>
            <a:outerShdw sx="100000" sy="100000" kx="0" ky="0" algn="bl" rotWithShape="0" blurRad="12700" dist="50800" dir="2700000">
              <a:srgbClr val="D0D7E2">
                <a:alpha val="12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</a:t>
            </a:r>
            <a:endParaRPr lang="en-US" sz="730" dirty="0"/>
          </a:p>
          <a:p>
            <a:pPr indent="0" marL="0">
              <a:buNone/>
            </a:pPr>
            <a:r>
              <a:rPr lang="en-US" sz="185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66.9 kWh</a:t>
            </a:r>
            <a:endParaRPr lang="en-US" sz="730" dirty="0"/>
          </a:p>
          <a:p>
            <a:pPr indent="0" marL="0">
              <a:buNone/>
            </a:pPr>
            <a:r>
              <a:rPr lang="en-US" sz="760" b="1" dirty="0">
                <a:solidFill>
                  <a:srgbClr val="63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Li-ion</a:t>
            </a:r>
            <a:endParaRPr lang="en-US" sz="730" dirty="0"/>
          </a:p>
          <a:p>
            <a:pPr indent="0" marL="0">
              <a:buNone/>
            </a:pPr>
            <a:r>
              <a:rPr lang="en-US" sz="6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D-MAX EV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75488" y="3401568"/>
            <a:ext cx="54864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6393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From parts dashboard to uptime product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4041648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0108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35BFF"/>
                </a:solidFill>
              </a:rPr>
              <a:t>Vehicle data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148840" y="4082796"/>
            <a:ext cx="3291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25466"/>
                </a:solidFill>
              </a:rPr>
              <a:t>GATEX / connected service signals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77240" y="4425696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85132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2540"/>
                </a:solidFill>
              </a:rPr>
              <a:t>Service network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148840" y="4466844"/>
            <a:ext cx="3291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25466"/>
                </a:solidFill>
              </a:rPr>
              <a:t>Dealer capability + IDS standard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777240" y="4809744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869180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35BFF"/>
                </a:solidFill>
              </a:rPr>
              <a:t>Parts readiness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148840" y="4850892"/>
            <a:ext cx="3291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25466"/>
                </a:solidFill>
              </a:rPr>
              <a:t>BO risk + EV-specific parts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77240" y="5193792"/>
            <a:ext cx="1207008" cy="219456"/>
          </a:xfrm>
          <a:prstGeom prst="roundRect">
            <a:avLst>
              <a:gd name="adj" fmla="val 25000"/>
            </a:avLst>
          </a:prstGeom>
          <a:solidFill>
            <a:srgbClr val="E9F8FF"/>
          </a:solidFill>
          <a:ln w="12700">
            <a:solidFill>
              <a:srgbClr val="E9F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53228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2540"/>
                </a:solidFill>
              </a:rPr>
              <a:t>Commercial layer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148840" y="5234940"/>
            <a:ext cx="32918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425466"/>
                </a:solidFill>
              </a:rPr>
              <a:t>maintenance leasing + service bundles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389888" y="4315968"/>
            <a:ext cx="0" cy="950976"/>
          </a:xfrm>
          <a:prstGeom prst="line">
            <a:avLst/>
          </a:prstGeom>
          <a:noFill/>
          <a:ln w="17780">
            <a:solidFill>
              <a:srgbClr val="E3E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504688"/>
            <a:ext cx="4160520" cy="237744"/>
          </a:xfrm>
          <a:prstGeom prst="roundRect">
            <a:avLst>
              <a:gd name="adj" fmla="val 23077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577840"/>
            <a:ext cx="3749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00A86B"/>
                </a:solidFill>
              </a:rPr>
              <a:t>Output metric: uptime secured / service opportunity / dealer readiness status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6172200" y="3401568"/>
            <a:ext cx="553212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46520" y="3639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Dashboard warning lights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4078224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404164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Battery/RANGE limits should be visible in fleet fit calculators, not hidden in brochures.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6446520" y="4480560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444398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Charging capability affects TCO and dealer conversations as much as list price.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446520" y="4882896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92824" y="484632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EV parts and diagnostics need separate BO/service readiness tracking.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446520" y="5285232"/>
            <a:ext cx="64008" cy="64008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2824" y="524865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2540"/>
                </a:solidFill>
              </a:rPr>
              <a:t>GATEX/connected services can become the bridge from parts supply to uptime selling.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 the dashboard as a management product, not just a monthly file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Stripe-style dashboards work because each metric is tied to an event, owner, drill-down and action path.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141732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Implementation blueprint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2057400" y="1536192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1595628"/>
            <a:ext cx="722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A86B"/>
                </a:solidFill>
              </a:rPr>
              <a:t>ISZE-ready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75488" y="1920240"/>
            <a:ext cx="3474720" cy="404164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Core event 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26334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billing_date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2331720" y="26151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F1E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8620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distributor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2331720" y="28437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9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906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dealer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2331720" y="30723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3192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part_number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2331720" y="33009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F1E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5478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part_class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2331720" y="35295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9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7764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order_type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2331720" y="37581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0050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quantity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2331720" y="39867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F1E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2336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net_sales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2331720" y="42153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9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4622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cost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2331720" y="44439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6908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gross_profit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2331720" y="46725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F1E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9194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BP_version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2331720" y="49011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9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148072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425466"/>
                </a:solidFill>
              </a:rPr>
              <a:t>SPA_ID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2331720" y="5129784"/>
            <a:ext cx="1078992" cy="146304"/>
          </a:xfrm>
          <a:prstGeom prst="roundRect">
            <a:avLst>
              <a:gd name="adj" fmla="val 25000"/>
            </a:avLst>
          </a:prstGeom>
          <a:solidFill>
            <a:srgbClr val="E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24528" y="1920240"/>
            <a:ext cx="3429000" cy="4041648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98848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Metric layer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98848" y="2697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540"/>
                </a:solidFill>
              </a:rPr>
              <a:t>Sales vs BP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897880" y="269748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97386"/>
                </a:solidFill>
              </a:rPr>
              <a:t>Actual / BP / LY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4526280" y="3054096"/>
            <a:ext cx="651510" cy="-97155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77790" y="2956941"/>
            <a:ext cx="651510" cy="29147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29300" y="2986088"/>
            <a:ext cx="651510" cy="-87440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80810" y="2898648"/>
            <a:ext cx="651510" cy="29146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98848" y="32278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540"/>
                </a:solidFill>
              </a:rPr>
              <a:t>GPS / PMS share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897880" y="322783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97386"/>
                </a:solidFill>
              </a:rPr>
              <a:t>market + dealer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4526280" y="3584448"/>
            <a:ext cx="651510" cy="-97155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77790" y="3487293"/>
            <a:ext cx="651510" cy="29147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29300" y="3516440"/>
            <a:ext cx="651510" cy="-87440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80810" y="3429000"/>
            <a:ext cx="651510" cy="29146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98848" y="375818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540"/>
                </a:solidFill>
              </a:rPr>
              <a:t>BO exposure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5897880" y="375818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97386"/>
                </a:solidFill>
              </a:rPr>
              <a:t>part group + urgency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4526280" y="4114800"/>
            <a:ext cx="651510" cy="-97155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77790" y="4017645"/>
            <a:ext cx="651510" cy="29147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29300" y="4046792"/>
            <a:ext cx="651510" cy="-87440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80810" y="3959352"/>
            <a:ext cx="651510" cy="29147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98848" y="428853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540"/>
                </a:solidFill>
              </a:rPr>
              <a:t>SPA profit delta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5897880" y="428853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97386"/>
                </a:solidFill>
              </a:rPr>
              <a:t>pre/post formula</a:t>
            </a:r>
            <a:endParaRPr lang="en-US" sz="660" dirty="0"/>
          </a:p>
        </p:txBody>
      </p:sp>
      <p:sp>
        <p:nvSpPr>
          <p:cNvPr id="63" name="Shape 61"/>
          <p:cNvSpPr/>
          <p:nvPr/>
        </p:nvSpPr>
        <p:spPr>
          <a:xfrm>
            <a:off x="4526280" y="4645152"/>
            <a:ext cx="651510" cy="-97155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77790" y="4547997"/>
            <a:ext cx="651510" cy="29147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29300" y="4577143"/>
            <a:ext cx="651510" cy="-87440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80810" y="4489704"/>
            <a:ext cx="651510" cy="29147"/>
          </a:xfrm>
          <a:prstGeom prst="line">
            <a:avLst/>
          </a:prstGeom>
          <a:noFill/>
          <a:ln w="21590">
            <a:solidFill>
              <a:srgbClr val="00A8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98848" y="481888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540"/>
                </a:solidFill>
              </a:rPr>
              <a:t>Dealer Kaizen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5897880" y="481888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97386"/>
                </a:solidFill>
              </a:rPr>
              <a:t>IDS vs average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4526280" y="5175504"/>
            <a:ext cx="651510" cy="-97155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77790" y="5078349"/>
            <a:ext cx="651510" cy="29147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29300" y="5107495"/>
            <a:ext cx="651510" cy="-87440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80810" y="5020056"/>
            <a:ext cx="651510" cy="29147"/>
          </a:xfrm>
          <a:prstGeom prst="line">
            <a:avLst/>
          </a:prstGeom>
          <a:noFill/>
          <a:ln w="21590">
            <a:solidFill>
              <a:srgbClr val="635B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27848" y="1920240"/>
            <a:ext cx="3776472" cy="4041648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8202168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Operating rhythm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211312" y="274320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93608" y="2816352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35BFF"/>
                </a:solidFill>
              </a:rPr>
              <a:t>Daily</a:t>
            </a:r>
            <a:endParaRPr lang="en-US" sz="630" dirty="0"/>
          </a:p>
        </p:txBody>
      </p:sp>
      <p:sp>
        <p:nvSpPr>
          <p:cNvPr id="77" name="Text 75"/>
          <p:cNvSpPr/>
          <p:nvPr/>
        </p:nvSpPr>
        <p:spPr>
          <a:xfrm>
            <a:off x="9098280" y="279806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A2540"/>
                </a:solidFill>
              </a:rPr>
              <a:t>BO risk and order urgency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8211312" y="340156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93608" y="3474720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35BFF"/>
                </a:solidFill>
              </a:rPr>
              <a:t>Weekly</a:t>
            </a:r>
            <a:endParaRPr lang="en-US" sz="630" dirty="0"/>
          </a:p>
        </p:txBody>
      </p:sp>
      <p:sp>
        <p:nvSpPr>
          <p:cNvPr id="80" name="Text 78"/>
          <p:cNvSpPr/>
          <p:nvPr/>
        </p:nvSpPr>
        <p:spPr>
          <a:xfrm>
            <a:off x="9098280" y="34564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A2540"/>
                </a:solidFill>
              </a:rPr>
              <a:t>dealer/distributor exception review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8211312" y="405993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93608" y="4133088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35BFF"/>
                </a:solidFill>
              </a:rPr>
              <a:t>Monthly</a:t>
            </a:r>
            <a:endParaRPr lang="en-US" sz="630" dirty="0"/>
          </a:p>
        </p:txBody>
      </p:sp>
      <p:sp>
        <p:nvSpPr>
          <p:cNvPr id="83" name="Text 81"/>
          <p:cNvSpPr/>
          <p:nvPr/>
        </p:nvSpPr>
        <p:spPr>
          <a:xfrm>
            <a:off x="9098280" y="4114800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A2540"/>
                </a:solidFill>
              </a:rPr>
              <a:t>VP-4, BP, GPS/PMS and SPA impact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8211312" y="471830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93608" y="4791456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35BFF"/>
                </a:solidFill>
              </a:rPr>
              <a:t>Quarterly</a:t>
            </a:r>
            <a:endParaRPr lang="en-US" sz="630" dirty="0"/>
          </a:p>
        </p:txBody>
      </p:sp>
      <p:sp>
        <p:nvSpPr>
          <p:cNvPr id="86" name="Text 84"/>
          <p:cNvSpPr/>
          <p:nvPr/>
        </p:nvSpPr>
        <p:spPr>
          <a:xfrm>
            <a:off x="9098280" y="477316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A2540"/>
                </a:solidFill>
              </a:rPr>
              <a:t>pricing, TCO, and product strategy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8202168" y="548640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39328" y="5559552"/>
            <a:ext cx="2651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A86B"/>
                </a:solidFill>
              </a:rPr>
              <a:t>Final UX rule: every chart must answer “what should we do next?”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90" name="Text 88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Cockpit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2926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2788920" y="2926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520440" y="292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9738360" y="2286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3108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Search VIN, part, dealer...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Style verdict: Stripe is best for live operating dashboards, not final board storytelling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466"/>
                </a:solidFill>
              </a:rPr>
              <a:t>Use it when the goal is fast monitoring, exception handling and drill-down; pair it with FT/Economist slides for external narrative.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36192"/>
            <a:ext cx="1097280" cy="246888"/>
          </a:xfrm>
          <a:prstGeom prst="roundRect">
            <a:avLst>
              <a:gd name="adj" fmla="val 29630"/>
            </a:avLst>
          </a:prstGeom>
          <a:solidFill>
            <a:srgbClr val="F1EFFF"/>
          </a:solidFill>
          <a:ln w="12700">
            <a:solidFill>
              <a:srgbClr val="F1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56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35BFF"/>
                </a:solidFill>
              </a:rPr>
              <a:t>Style scorecard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475488" y="1920240"/>
            <a:ext cx="11228832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0160">
            <a:solidFill>
              <a:srgbClr val="E3E8EF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0D7E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2128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97386"/>
                </a:solidFill>
              </a:rPr>
              <a:t>Use case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926080" y="22128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97386"/>
                </a:solidFill>
              </a:rPr>
              <a:t>Fit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120640" y="22128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97386"/>
                </a:solidFill>
              </a:rPr>
              <a:t>Why it works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7315200" y="22128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97386"/>
                </a:solidFill>
              </a:rPr>
              <a:t>Risk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9509760" y="22128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97386"/>
                </a:solidFill>
              </a:rPr>
              <a:t>My recommendation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777240" y="2487168"/>
            <a:ext cx="10451592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706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Monthly VP-4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2926080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A86B"/>
                </a:solidFill>
              </a:rPr>
              <a:t>Very high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5120640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cards + comparisons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7315200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can look too “software”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9509760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use as internal cockpit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77240" y="3035808"/>
            <a:ext cx="1045159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236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GPS/PMS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2926080" y="32369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A86B"/>
                </a:solidFill>
              </a:rPr>
              <a:t>Very high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120640" y="32369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funnel and drill-down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7315200" y="32369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needs clean source data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9509760" y="32369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build as first live dashboard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777240" y="3566160"/>
            <a:ext cx="1045159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7673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SPA approvals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292608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35BFF"/>
                </a:solidFill>
              </a:rPr>
              <a:t>High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512064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unit economics visible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731520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oversimplifies edge cases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950976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combine with formula audit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777240" y="4096512"/>
            <a:ext cx="1045159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297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HQ outlook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2926080" y="42976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5A623"/>
                </a:solidFill>
              </a:rPr>
              <a:t>Medium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5120640" y="42976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good for KPI layer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7315200" y="42976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less narrative depth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9509760" y="42976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use after FT/Economist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777240" y="4626864"/>
            <a:ext cx="1045159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828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External presentation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2926080" y="48280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5A623"/>
                </a:solidFill>
              </a:rPr>
              <a:t>Low-medium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5120640" y="48280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modern and fast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7315200" y="48280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too operational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9509760" y="48280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0A2540"/>
                </a:solidFill>
              </a:rPr>
              <a:t>use sparingly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822960" y="5504688"/>
            <a:ext cx="9875520" cy="292608"/>
          </a:xfrm>
          <a:prstGeom prst="roundRect">
            <a:avLst>
              <a:gd name="adj" fmla="val 25000"/>
            </a:avLst>
          </a:prstGeom>
          <a:solidFill>
            <a:srgbClr val="F6F8FF"/>
          </a:solidFill>
          <a:ln w="12700">
            <a:solidFill>
              <a:srgbClr val="F6F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7552" y="5596128"/>
            <a:ext cx="9509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2540"/>
                </a:solidFill>
              </a:rPr>
              <a:t>Best next step: convert one real VP-4 workbook or SPA workbook into this dashboard UX, then reuse the design system across ISZE reporting.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1480" y="6592824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4A6"/>
                </a:solidFill>
              </a:rPr>
              <a:t>Prototype visual system. Internal ISZE figures are illustrative working figures and should be refreshed from source files before external use.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11658600" y="65653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8A2B3"/>
                </a:solidFill>
              </a:rPr>
              <a:t>08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ISUZU MOTORS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Performance Cockpit - Stripe Style</dc:title>
  <dc:subject>Isuzu Stripe-style dashboard prototype</dc:subject>
  <dc:creator>OpenAI</dc:creator>
  <cp:lastModifiedBy>OpenAI</cp:lastModifiedBy>
  <cp:revision>1</cp:revision>
  <dcterms:created xsi:type="dcterms:W3CDTF">2026-09-19T08:09:27Z</dcterms:created>
  <dcterms:modified xsi:type="dcterms:W3CDTF">2026-09-19T08:09:27Z</dcterms:modified>
</cp:coreProperties>
</file>