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F37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7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5E0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5F6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Actual</c:v>
                  </c:pt>
                  <c:pt idx="1">
                    <c:v>Budget</c:v>
                  </c:pt>
                  <c:pt idx="2">
                    <c:v>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875</c:v>
                </c:pt>
                <c:pt idx="1">
                  <c:v>855</c:v>
                </c:pt>
                <c:pt idx="2">
                  <c:v>1017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B4B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B4B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F37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Rotor</c:v>
                  </c:pt>
                  <c:pt idx="1">
                    <c:v>Air filter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B4BE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4415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AB4BE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control_room_command_cente.png">    </p:cNvPr>
          <p:cNvPicPr>
            <a:picLocks noChangeAspect="1"/>
          </p:cNvPicPr>
          <p:nvPr/>
        </p:nvPicPr>
        <p:blipFill>
          <a:blip r:embed="rId1"/>
          <a:srcRect l="0" r="0" t="14826" b="14826"/>
          <a:stretch/>
        </p:blipFill>
        <p:spPr>
          <a:xfrm>
            <a:off x="502920" y="502920"/>
            <a:ext cx="11201400" cy="4434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257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UMI OPERATIONS LAYER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56509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reporting to action: detect leakage, assign actions, measure recovery.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 map: identify the leak before proposing the commercial answer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is not one KPI; it is the relationship between fleet, capture, service and dealer execution.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2004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83210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-7.4%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32004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270662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54.2%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2004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gaps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58114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gaps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32004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45566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60.9%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1234440"/>
            <a:ext cx="32004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33018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0" y="1234440"/>
            <a:ext cx="32004" cy="914400"/>
          </a:xfrm>
          <a:prstGeom prst="rect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04704" y="1252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0204704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3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</a:t>
            </a:r>
            <a:endParaRPr lang="en-US" sz="18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914400" y="3017520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6400800" y="3017520"/>
          <a:ext cx="45720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5" name="Text 21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graph: each decision unlocks the next layer of visibility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data is not a side request; it is the operating layer for SPA and target quality.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004" cy="1005840"/>
          </a:xfrm>
          <a:prstGeom prst="rect">
            <a:avLst/>
          </a:prstGeom>
          <a:solidFill>
            <a:srgbClr val="75E0D1"/>
          </a:solidFill>
          <a:ln w="12700">
            <a:solidFill>
              <a:srgbClr val="75E0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23544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5E0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Part-level Sales-to-Dealer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78608" y="2148840"/>
            <a:ext cx="320040" cy="320040"/>
          </a:xfrm>
          <a:prstGeom prst="chevron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28800"/>
            <a:ext cx="32004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163824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stock vs lost job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18888" y="2148840"/>
            <a:ext cx="320040" cy="320040"/>
          </a:xfrm>
          <a:prstGeom prst="chevron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828800"/>
            <a:ext cx="32004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5404104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 SPA list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59168" y="2148840"/>
            <a:ext cx="320040" cy="320040"/>
          </a:xfrm>
          <a:prstGeom prst="chevron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828800"/>
            <a:ext cx="32004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644384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service-pack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99448" y="2148840"/>
            <a:ext cx="320040" cy="320040"/>
          </a:xfrm>
          <a:prstGeom prst="chevron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828800"/>
            <a:ext cx="32004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84664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884664" y="2103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GPS lift</a:t>
            </a:r>
            <a:endParaRPr lang="en-US" sz="1400" dirty="0"/>
          </a:p>
        </p:txBody>
      </p:sp>
      <p:pic>
        <p:nvPicPr>
          <p:cNvPr id="23" name="Image 0" descr="/mnt/data/a_clean_modern_data_analytics_dashboard_visualiza.png">    </p:cNvPr>
          <p:cNvPicPr>
            <a:picLocks noChangeAspect="1"/>
          </p:cNvPicPr>
          <p:nvPr/>
        </p:nvPicPr>
        <p:blipFill>
          <a:blip r:embed="rId1"/>
          <a:srcRect l="0" r="0" t="38102" b="38102"/>
          <a:stretch/>
        </p:blipFill>
        <p:spPr>
          <a:xfrm>
            <a:off x="914400" y="3794760"/>
            <a:ext cx="10241280" cy="1371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5" name="Text 22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Control-room ask: agree four operating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decision deck, not a reporting deck.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10312" cy="210312"/>
          </a:xfrm>
          <a:prstGeom prst="ellipse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340864"/>
            <a:ext cx="210312" cy="210312"/>
          </a:xfrm>
          <a:prstGeom prst="ellipse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76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852928"/>
            <a:ext cx="210312" cy="210312"/>
          </a:xfrm>
          <a:prstGeom prst="ellipse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364992"/>
            <a:ext cx="210312" cy="210312"/>
          </a:xfrm>
          <a:prstGeom prst="ellipse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00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32004" cy="960120"/>
          </a:xfrm>
          <a:prstGeom prst="rect">
            <a:avLst/>
          </a:prstGeom>
          <a:solidFill>
            <a:srgbClr val="75E0D1"/>
          </a:solidFill>
          <a:ln w="12700">
            <a:solidFill>
              <a:srgbClr val="75E0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review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547104" y="1645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5E0D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/ monthly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47104" y="2029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by action, not by slide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32004" cy="960120"/>
          </a:xfrm>
          <a:prstGeom prst="rect">
            <a:avLst/>
          </a:prstGeom>
          <a:solidFill>
            <a:srgbClr val="FF3737"/>
          </a:solidFill>
          <a:ln w="12700">
            <a:solidFill>
              <a:srgbClr val="FF3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model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547104" y="3017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37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ISZE + UMI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47104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owner per action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20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AAB4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Palantir Operations Style Prototype</dc:title>
  <dc:subject>Style prototype: Palantir Operations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