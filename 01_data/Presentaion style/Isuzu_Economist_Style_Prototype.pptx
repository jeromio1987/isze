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FY2025</c:v>
                  </c:pt>
                  <c:pt idx="1">
                    <c:v>FY2026</c:v>
                  </c:pt>
                  <c:pt idx="2">
                    <c:v>FY2027f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3235.6</c:v>
                </c:pt>
                <c:pt idx="1">
                  <c:v>3479.1</c:v>
                </c:pt>
                <c:pt idx="2">
                  <c:v>3700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70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D71920"/>
            </a:solidFill>
            <a:ln w="30480" cap="flat">
              <a:solidFill>
                <a:srgbClr val="D719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D719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71920"/>
              </a:solidFill>
              <a:ln w="9525" cap="flat">
                <a:solidFill>
                  <a:srgbClr val="D719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FY2025</c:v>
                  </c:pt>
                  <c:pt idx="1">
                    <c:v>FY2026</c:v>
                  </c:pt>
                  <c:pt idx="2">
                    <c:v>FY2027f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5.9</c:v>
                </c:pt>
                <c:pt idx="2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D719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units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FY2025 total</c:v>
                  </c:pt>
                  <c:pt idx="1">
                    <c:v>Japan</c:v>
                  </c:pt>
                  <c:pt idx="2">
                    <c:v>Overseas CV</c:v>
                  </c:pt>
                  <c:pt idx="3">
                    <c:v>LCV</c:v>
                  </c:pt>
                  <c:pt idx="4">
                    <c:v>FY2026 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523.2</c:v>
                </c:pt>
                <c:pt idx="1">
                  <c:v>4.3</c:v>
                </c:pt>
                <c:pt idx="2">
                  <c:v>13.1</c:v>
                </c:pt>
                <c:pt idx="3">
                  <c:v>25.3</c:v>
                </c:pt>
                <c:pt idx="4">
                  <c:v>565.9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D719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Carbon neutrality</c:v>
                  </c:pt>
                  <c:pt idx="1">
                    <c:v>Autonomous + connected</c:v>
                  </c:pt>
                  <c:pt idx="2">
                    <c:v>Next-gen / SDV products</c:v>
                  </c:pt>
                  <c:pt idx="3">
                    <c:v>New business creation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430</c:v>
                </c:pt>
                <c:pt idx="1">
                  <c:v>350</c:v>
                </c:pt>
                <c:pt idx="2">
                  <c:v>180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Products + line-up</c:v>
                  </c:pt>
                  <c:pt idx="1">
                    <c:v>Production bases</c:v>
                  </c:pt>
                  <c:pt idx="2">
                    <c:v>Service infrastructure</c:v>
                  </c:pt>
                  <c:pt idx="3">
                    <c:v>Sales / DX / 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700</c:v>
                </c:pt>
                <c:pt idx="1">
                  <c:v>590</c:v>
                </c:pt>
                <c:pt idx="2">
                  <c:v>180</c:v>
                </c:pt>
                <c:pt idx="3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SPA</c:v>
                  </c:pt>
                  <c:pt idx="1">
                    <c:v>After SPA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731.9</c:v>
                </c:pt>
                <c:pt idx="1">
                  <c:v>1041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</c:v>
                </c:pt>
              </c:strCache>
            </c:strRef>
          </c:tx>
          <c:spPr>
            <a:solidFill>
              <a:srgbClr val="D719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D719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SPA</c:v>
                  </c:pt>
                  <c:pt idx="1">
                    <c:v>After SPA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305.4</c:v>
                </c:pt>
                <c:pt idx="1">
                  <c:v>307.9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D719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GM%</c:v>
                </c:pt>
              </c:strCache>
            </c:strRef>
          </c:tx>
          <c:spPr>
            <a:solidFill>
              <a:srgbClr val="161616"/>
            </a:solidFill>
            <a:ln w="26670" cap="flat">
              <a:solidFill>
                <a:srgbClr val="1616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1616"/>
              </a:solidFill>
              <a:ln w="9525" cap="flat">
                <a:solidFill>
                  <a:srgbClr val="1616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Before SPA</c:v>
                  </c:pt>
                  <c:pt idx="1">
                    <c:v>After SPA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41.7</c:v>
                </c:pt>
                <c:pt idx="1">
                  <c:v>29.6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D-MAX EV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Towing
kg</c:v>
                  </c:pt>
                  <c:pt idx="1">
                    <c:v>Payload
kg</c:v>
                  </c:pt>
                  <c:pt idx="2">
                    <c:v>WLTP
km</c:v>
                  </c:pt>
                  <c:pt idx="3">
                    <c:v>Battery
kWh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3500</c:v>
                </c:pt>
                <c:pt idx="1">
                  <c:v>1010</c:v>
                </c:pt>
                <c:pt idx="2">
                  <c:v>263</c:v>
                </c:pt>
                <c:pt idx="3">
                  <c:v>66.9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1616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80" b="0" i="0" u="none" strike="noStrike">
                <a:solidFill>
                  <a:srgbClr val="6A6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760"/>
      </c:valAx>
      <c:spPr>
        <a:noFill/>
        <a:ln w="12700" cap="flat">
          <a:solidFill>
            <a:srgbClr val="F2E8D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Style inspiration: The Economist visual language: restrained palette, strong hierarchy, one highlight colour, compact captions.
- Content synthesis uses official Isuzu FY2026 financial results and IX 2030 strategy sources on subsequent slides.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Isuzu consolidated results for FY2026: revenue ¥3,479.074bn, operating profit ¥203.703bn, operating margin 5.9%; FY2025: revenue ¥3,235.648bn, operating profit ¥229.461bn, margin 7.1%. Source: https://tdnet-pdf.kabutan.jp/20260513/140120260513527843.pdf lines P0 L17-L40.
- FY2027 forecast: revenue ¥3,700.0bn, operating profit ¥260.0bn. Source: https://tdnet-pdf.kabutan.jp/20260513/140120260513527843.pdf lines P0 L91-L98 and P4 L226-L231.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FY2026 total vehicle units increased by 42,625 units to 565,858. Japan rose by 4,274 units to 81,741; overseas CVs rose by 13,082 to 229,898; LCVs rose by 25,269 to 254,219. Source: https://tdnet-pdf.kabutan.jp/20260513/140120260513527843.pdf lines P3 L177-L189.
- Chart is a simplified change decomposition; FY2025 total is computed as 565.858k minus 42.625k = 523.233k.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IX strategy: Isuzu aims to transform into a commercial mobility solutions company and targets sales of ¥6tn and operating income ratio over 10% toward the 2030s. Source: https://www.isuzu-global.com/en/company/IX2030.html lines 14-31.
- New growth areas: autonomous driving, connected services and carbon-neutral solutions; target of ¥1tn sales equivalent from growth areas by the 2030s. Source: https://www.isuzu-global.com/en/company/IX2030.html lines 49-65.
- Investment allocation: innovation investment ¥1tn; current business investment ¥1.6tn; line-item values shown on page. Source: https://www.isuzu-global.com/en/company/IX2030.html lines 109-172.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user-provided ISZE example: UTI SPA L12 commitment €1.041m vs L12 €0.732m (+42.2%); GM 41.7% to 29.6%; GP €305.4k to €307.9k. This slide is marked as an ISZE working example, not public Isuzu disclosure.
- Purpose of chart: demonstrate the dashboard logic that total gross profit can improve or remain protected even when gross margin percentage declines.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D-MAX EV specifications: full-time 4WD, 66.9kWh battery, 140kW, 325Nm, over 1 tonne payload, 3.5 tonne towing, 263km WLTP. Source: https://www.cfg.nl/media/pdf/assets/uploads/the-new-isuzu-d-max-electric-pickup-ev-leaflet.pdf and https://www.isuzu.be/nl/modellen/d-max-ev.
- Belgium public page lists 3.5t towing, 1t payload, 66.9kWh battery, 263km WLTP / 361km city and 20%-80% DC fast charge in 1 hour. Source: https://www.isuzu.be/nl/modellen/d-max-ev.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Recommendations are synthesized from the user's ISZE reporting context and The Economist style principles: simple chart forms, limited colours, strong hierarchy, and a single highlighted series.
- This slide contains no external numeric claims.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ECONOMIST STYLE PROTOTYPE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Isuzu’s next test is conversion, not just growth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30352" y="2450592"/>
            <a:ext cx="10881360" cy="0"/>
          </a:xfrm>
          <a:prstGeom prst="line">
            <a:avLst/>
          </a:prstGeom>
          <a:noFill/>
          <a:ln w="15240">
            <a:solidFill>
              <a:srgbClr val="1616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697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deliberately restrained version of the Isuzu story: fewer colours, fewer charts, sharper conclusions.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3977640"/>
            <a:ext cx="6309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lens: revenue recovery and IX transformation.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lens: aftersales, SPA economics and dealer data discipline.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49640" y="4407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Isuzu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549640" y="5010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grammar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management decisions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prototype; not an official Isuzu document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are recovering faster than margins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forecast to keep rising in FY2027, but margin needs to climb back after FY2026 pressure.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1430">
            <a:solidFill>
              <a:srgbClr val="16161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508760"/>
          <a:ext cx="47548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1261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¥bn</a:t>
            </a:r>
            <a:endParaRPr lang="en-US" sz="9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55080" y="1508760"/>
          <a:ext cx="44805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382512" y="12618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 / revenue, %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85800" y="5413248"/>
            <a:ext cx="102412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chart should not celebrate sales alone. The management question is whether the FY2027 uplift comes from volume, price realisation or mix.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FY2026 consolidated results, May 2026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extra volume came mainly from LCVs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waterfall shows the source of FY2026 unit growth more clearly than a dense regional chart.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1430">
            <a:solidFill>
              <a:srgbClr val="16161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50876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5528" y="1261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sales, FY2026 versus FY2025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818120" y="1417320"/>
            <a:ext cx="0" cy="3931920"/>
          </a:xfrm>
          <a:prstGeom prst="line">
            <a:avLst/>
          </a:prstGeom>
          <a:noFill/>
          <a:ln w="10160">
            <a:solidFill>
              <a:srgbClr val="161616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47888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+42.6k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8275320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vehicles sold globally in FY2026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75320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Economist-style rule: show the change first, then explain the mix. Here, the LCV line deserves a separate operational view for Europe.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FY2026 consolidated results, May 2026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 is a portfolio shift, not a slogan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dashboard view separates today’s reliable business from tomorrow’s solutions options.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1430">
            <a:solidFill>
              <a:srgbClr val="1616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 to FY2031, ¥bn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691640"/>
          <a:ext cx="48463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72200" y="1353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Current-business investment to FY2031, ¥bn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080760" y="1691640"/>
          <a:ext cx="48920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49808" y="5367528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implication for Europe: aftersales data should be treated as a strategic dataset, because connected, EV and service economics converge there.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IX 2030 plan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should measure euros of profit, not just margin percentages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 question is whether lower price unlocks enough genuine-parts volume to protect total gross profit.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1430">
            <a:solidFill>
              <a:srgbClr val="1616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UTI SPA example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691640"/>
          <a:ext cx="32918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26280" y="1691640"/>
          <a:ext cx="32918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8321040" y="1691640"/>
          <a:ext cx="2651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749808" y="5440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falls. Gross profit holds.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617720" y="5394960"/>
            <a:ext cx="6309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point to test systematically for every SPA: compare post-SPA GP against the pre-SPA base case, not against the old margin rate alone.</a:t>
            </a:r>
            <a:endParaRPr lang="en-US" sz="1070" dirty="0"/>
          </a:p>
        </p:txBody>
      </p:sp>
      <p:sp>
        <p:nvSpPr>
          <p:cNvPr id="11" name="Text 6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user-provided ISZE SPA working example</a:t>
            </a:r>
            <a:endParaRPr lang="en-US" sz="680" dirty="0"/>
          </a:p>
        </p:txBody>
      </p:sp>
      <p:sp>
        <p:nvSpPr>
          <p:cNvPr id="12" name="Text 7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D-MAX EV sells capability; the weakness is duty-cycle fit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Europe the product story is commercial toughness, but range and charging still make segmentation essential.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1430">
            <a:solidFill>
              <a:srgbClr val="16161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81328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12435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D-MAX EV metrics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0" y="1444752"/>
            <a:ext cx="324612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dashboard is not “EV good/bad”. It is “which customers have daily routes, depot charging and emissions-zone pressure that fit this vehicle?”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three ratios: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0" y="3456432"/>
            <a:ext cx="3154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jobs below 200km/day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dealers with charging-ready fleets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parts demand shift from engine to EV system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0" y="4892040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restrained chart makes the trade-off obvious: capability is strong; range requires discipline.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Belgium / D-MAX EV specification leaflet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next ISZE dashboard should look like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Economist version is not decorative; it is a set of ruthless choices about what management must see first.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1430">
            <a:solidFill>
              <a:srgbClr val="1616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53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35608" y="13533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discipline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01768" y="13533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appears in Isuzu 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10789920" cy="0"/>
          </a:xfrm>
          <a:prstGeom prst="line">
            <a:avLst/>
          </a:prstGeom>
          <a:noFill/>
          <a:ln w="5715">
            <a:solidFill>
              <a:srgbClr val="C9B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28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35608" y="17830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answer in the title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093208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“GPS share fell because dealer A lost fast movers”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377440"/>
            <a:ext cx="10789920" cy="0"/>
          </a:xfrm>
          <a:prstGeom prst="line">
            <a:avLst/>
          </a:prstGeom>
          <a:noFill/>
          <a:ln w="5715">
            <a:solidFill>
              <a:srgbClr val="C9BF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871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2441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one highlight colour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093208" y="2441448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for the exception; black for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035808"/>
            <a:ext cx="10789920" cy="0"/>
          </a:xfrm>
          <a:prstGeom prst="line">
            <a:avLst/>
          </a:prstGeom>
          <a:noFill/>
          <a:ln w="5715">
            <a:solidFill>
              <a:srgbClr val="C9B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455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35608" y="30998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performance from diagnosis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9320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page: BP / LY / GP; drill-down: dealer, class, part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694176"/>
            <a:ext cx="10789920" cy="0"/>
          </a:xfrm>
          <a:prstGeom prst="line">
            <a:avLst/>
          </a:prstGeom>
          <a:noFill/>
          <a:ln w="5715">
            <a:solidFill>
              <a:srgbClr val="C9B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039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3560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every SPA a before/after test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093208" y="3758184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units, GM%, GP delta versus pre-SPA 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352544"/>
            <a:ext cx="10789920" cy="0"/>
          </a:xfrm>
          <a:prstGeom prst="line">
            <a:avLst/>
          </a:prstGeom>
          <a:noFill/>
          <a:ln w="5715">
            <a:solidFill>
              <a:srgbClr val="C9BF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462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35608" y="4416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 EV and connected services to aftersales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93208" y="4416552"/>
            <a:ext cx="5486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fleet fit, charging readiness, parts-mix migration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5010912"/>
            <a:ext cx="10789920" cy="0"/>
          </a:xfrm>
          <a:prstGeom prst="line">
            <a:avLst/>
          </a:prstGeom>
          <a:noFill/>
          <a:ln w="5715">
            <a:solidFill>
              <a:srgbClr val="C9BF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532120"/>
            <a:ext cx="9601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style to use when the goal is calm authority: fewer panels, stronger captions, and less “Power BI colour”.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based on style prototype and ISZE reporting context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475720" y="64282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2920" y="6364224"/>
            <a:ext cx="11201400" cy="0"/>
          </a:xfrm>
          <a:prstGeom prst="line">
            <a:avLst/>
          </a:prstGeom>
          <a:noFill/>
          <a:ln w="6985">
            <a:solidFill>
              <a:srgbClr val="16161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Isuzu: the conversion challenge</dc:title>
  <dc:subject>Isuzu Economist-style prototype</dc:subject>
  <dc:creator>OpenAI</dc:creator>
  <cp:lastModifiedBy>OpenAI</cp:lastModifiedBy>
  <cp:revision>1</cp:revision>
  <dcterms:created xsi:type="dcterms:W3CDTF">2026-09-19T08:03:24Z</dcterms:created>
  <dcterms:modified xsi:type="dcterms:W3CDTF">2026-09-19T08:03:24Z</dcterms:modified>
</cp:coreProperties>
</file>