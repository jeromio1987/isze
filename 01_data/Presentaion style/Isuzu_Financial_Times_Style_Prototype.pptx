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29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FY25</c:v>
                  </c:pt>
                  <c:pt idx="1">
                    <c:v>FY26</c:v>
                  </c:pt>
                  <c:pt idx="2">
                    <c:v>FY27e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3235.6</c:v>
                </c:pt>
                <c:pt idx="1">
                  <c:v>3479.1</c:v>
                </c:pt>
                <c:pt idx="2">
                  <c:v>3700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profit</c:v>
                </c:pt>
              </c:strCache>
            </c:strRef>
          </c:tx>
          <c:spPr>
            <a:solidFill>
              <a:srgbClr val="C700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FY25</c:v>
                  </c:pt>
                  <c:pt idx="1">
                    <c:v>FY26</c:v>
                  </c:pt>
                  <c:pt idx="2">
                    <c:v>FY27e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229.5</c:v>
                </c:pt>
                <c:pt idx="1">
                  <c:v>203.7</c:v>
                </c:pt>
                <c:pt idx="2">
                  <c:v>260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FFF1E5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CCC5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D62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"/>
        </c:scaling>
        <c:delete val="0"/>
        <c:axPos val="l"/>
        <c:majorGridlines>
          <c:spPr>
            <a:ln w="12700" cap="flat">
              <a:solidFill>
                <a:srgbClr val="D8CCC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8CCC5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D62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C7002B"/>
            </a:solidFill>
            <a:ln w="33020" cap="flat">
              <a:solidFill>
                <a:srgbClr val="C700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7002B"/>
              </a:solidFill>
              <a:ln w="9525" cap="flat">
                <a:solidFill>
                  <a:srgbClr val="C700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FY25</c:v>
                  </c:pt>
                  <c:pt idx="1">
                    <c:v>FY26</c:v>
                  </c:pt>
                  <c:pt idx="2">
                    <c:v>FY27e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539</c:v>
                </c:pt>
                <c:pt idx="1">
                  <c:v>577</c:v>
                </c:pt>
                <c:pt idx="2">
                  <c:v>603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FFF1E5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CCC5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D62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20"/>
          <c:min val="500"/>
        </c:scaling>
        <c:delete val="0"/>
        <c:axPos val="l"/>
        <c:majorGridlines>
          <c:spPr>
            <a:ln w="12700" cap="flat">
              <a:solidFill>
                <a:srgbClr val="D8CCC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8CCC5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D62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</c:v>
                </c:pt>
              </c:strCache>
            </c:strRef>
          </c:tx>
          <c:spPr>
            <a:solidFill>
              <a:srgbClr val="1F29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Asia</c:v>
                  </c:pt>
                  <c:pt idx="1">
                    <c:v>Middle East</c:v>
                  </c:pt>
                  <c:pt idx="2">
                    <c:v>Africa</c:v>
                  </c:pt>
                  <c:pt idx="3">
                    <c:v>Oceania</c:v>
                  </c:pt>
                  <c:pt idx="4">
                    <c:v>C/S America</c:v>
                  </c:pt>
                  <c:pt idx="5">
                    <c:v>Europe</c:v>
                  </c:pt>
                  <c:pt idx="6">
                    <c:v>North America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71</c:v>
                </c:pt>
                <c:pt idx="1">
                  <c:v>37</c:v>
                </c:pt>
                <c:pt idx="2">
                  <c:v>19</c:v>
                </c:pt>
                <c:pt idx="3">
                  <c:v>15</c:v>
                </c:pt>
                <c:pt idx="4">
                  <c:v>27</c:v>
                </c:pt>
                <c:pt idx="5">
                  <c:v>10</c:v>
                </c:pt>
                <c:pt idx="6">
                  <c:v>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LCV</c:v>
                </c:pt>
              </c:strCache>
            </c:strRef>
          </c:tx>
          <c:spPr>
            <a:solidFill>
              <a:srgbClr val="C700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Asia</c:v>
                  </c:pt>
                  <c:pt idx="1">
                    <c:v>Middle East</c:v>
                  </c:pt>
                  <c:pt idx="2">
                    <c:v>Africa</c:v>
                  </c:pt>
                  <c:pt idx="3">
                    <c:v>Oceania</c:v>
                  </c:pt>
                  <c:pt idx="4">
                    <c:v>C/S America</c:v>
                  </c:pt>
                  <c:pt idx="5">
                    <c:v>Europe</c:v>
                  </c:pt>
                  <c:pt idx="6">
                    <c:v>North America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64</c:v>
                </c:pt>
                <c:pt idx="1">
                  <c:v>34</c:v>
                </c:pt>
                <c:pt idx="2">
                  <c:v>38</c:v>
                </c:pt>
                <c:pt idx="3">
                  <c:v>38</c:v>
                </c:pt>
                <c:pt idx="4">
                  <c:v>11</c:v>
                </c:pt>
                <c:pt idx="5">
                  <c:v>19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FF1E5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8CCC5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D62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</c:scaling>
        <c:delete val="0"/>
        <c:axPos val="b"/>
        <c:majorGridlines>
          <c:spPr>
            <a:ln w="12700" cap="flat">
              <a:solidFill>
                <a:srgbClr val="D8CCC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D8CCC5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D62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1F29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Japan</c:v>
                  </c:pt>
                  <c:pt idx="1">
                    <c:v>Other world</c:v>
                  </c:pt>
                  <c:pt idx="2">
                    <c:v>Asia</c:v>
                  </c:pt>
                  <c:pt idx="3">
                    <c:v>North America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39.4</c:v>
                </c:pt>
                <c:pt idx="1">
                  <c:v>34.8</c:v>
                </c:pt>
                <c:pt idx="2">
                  <c:v>17.2</c:v>
                </c:pt>
                <c:pt idx="3">
                  <c:v>8.6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FF1E5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8CCC5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D62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0"/>
        <c:axPos val="b"/>
        <c:majorGridlines>
          <c:spPr>
            <a:ln w="12700" cap="flat">
              <a:solidFill>
                <a:srgbClr val="D8CCC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D8CCC5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D62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Japan</c:v>
                </c:pt>
              </c:strCache>
            </c:strRef>
          </c:tx>
          <c:spPr>
            <a:solidFill>
              <a:srgbClr val="1F29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FY25</c:v>
                  </c:pt>
                  <c:pt idx="1">
                    <c:v>FY26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279</c:v>
                </c:pt>
                <c:pt idx="1">
                  <c:v>295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Overseas</c:v>
                </c:pt>
              </c:strCache>
            </c:strRef>
          </c:tx>
          <c:spPr>
            <a:solidFill>
              <a:srgbClr val="C700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FY25</c:v>
                  </c:pt>
                  <c:pt idx="1">
                    <c:v>FY26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299</c:v>
                </c:pt>
                <c:pt idx="1">
                  <c:v>326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FFF1E5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CCC5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D62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</c:scaling>
        <c:delete val="0"/>
        <c:axPos val="l"/>
        <c:majorGridlines>
          <c:spPr>
            <a:ln w="12700" cap="flat">
              <a:solidFill>
                <a:srgbClr val="D8CCC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8CCC5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D62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Connected base</c:v>
                </c:pt>
              </c:strCache>
            </c:strRef>
          </c:tx>
          <c:spPr>
            <a:solidFill>
              <a:srgbClr val="C700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Japan connected vehicles</c:v>
                  </c:pt>
                  <c:pt idx="1">
                    <c:v>GATEX / owned truck data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400</c:v>
                </c:pt>
                <c:pt idx="1">
                  <c:v>720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FF1E5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8CCC5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D62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"/>
        </c:scaling>
        <c:delete val="0"/>
        <c:axPos val="b"/>
        <c:majorGridlines>
          <c:spPr>
            <a:ln w="12700" cap="flat">
              <a:solidFill>
                <a:srgbClr val="D8CCC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D8CCC5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D62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Isuzu FY2026 Financial Results: https://www.isuzu-global.com/en/investor/financial/results/main/0111111116/teaserItems3/01111116/linkList/0/link/kessan202603e.pdf
- Isuzu Integrated Report 2025: https://www.isuzu.co.jp/world/company/investor/financial/pdf/integrated_report25_all.pdf
- Financial Times Visual Vocabulary: https://raw.githubusercontent.com/Financial-Times/chart-doctor/main/visual-vocabulary/Visual-vocabulary-en.pdf
[Interpretation]
Cover slide frames the deck as an FT-inspired prototype, not an official Isuzu or FT template.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FY2026/FY2027 revenue, operating profit and global sales units from Isuzu FY2026 Financial Results, pages 3-4: https://www.isuzu-global.com/en/investor/financial/results/main/0111111116/teaserItems3/01111116/linkList/0/link/kessan202603e.pdf
[Interpretation]
Slide uses FT-style paired charts: magnitude and change over time, with one clear interpretive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FY2025 unit sales by region and revenue-by-region shares from Isuzu Integrated Report 2025, p.3: https://www.isuzu.co.jp/world/company/investor/financial/pdf/integrated_report25_all.pdf
[Interpretation]
This slide deliberately separates unit scale from economic leverage. The ISZE implication is an analytical hypothesis, not a direct Isuzu corporate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Aftersales revenue and target commentary from Isuzu FY2026 Financial Results, page 11: https://www.isuzu-global.com/en/investor/financial/results/main/0111111116/teaserItems3/01111116/linkList/0/link/kessan202603e.pdf
[Interpretation]
The ISZE bullets apply the chart finding to aftersales management reporting and should be verified with internal dashboards.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Connected services, 400k Japan connected vehicles, overseas deployment, and GATEX information from Isuzu Integrated Report 2025, pp.11 and 37: https://www.isuzu.co.jp/world/company/investor/financial/pdf/integrated_report25_all.pdf
- MTP 2030 connected-services goals from Isuzu Integrated Report 2025, p.19: https://www.isuzu.co.jp/world/company/investor/financial/pdf/integrated_report25_all.pdf
[Interpretation]
This slide uses a magnitude chart and timeline, both chart forms aligned with FT Visual Vocabulary principles.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Isuzu Belgium D-MAX EV product page for towing, payload, battery and WLTP range: https://www.isuzu.be/nl/modellen/d-max-ev
- Isuzu UK D-MAX eV-Cross product page for range, payload, towing and charging details: https://www.isuzu.co.uk/vehicles/isuzu-d-max-ev-cross/
[Interpretation]
Uses a bar-style specification view rather than a marketing table to highlight the trade-off: strong utility, constrained range.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Financial Times Visual Vocabulary chart-selection framework: https://raw.githubusercontent.com/Financial-Times/chart-doctor/main/visual-vocabulary/Visual-vocabulary-en.pdf
- ISZE reporting logic based on user-provided context in the current ChatGPT workspace; verify figures against current internal workbooks before circulation.
[Interpretation]
This slide turns known ISZE recurring analyses into a repeatable dashboard grammar.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Financial Times Visual Vocabulary: https://raw.githubusercontent.com/Financial-Times/chart-doctor/main/visual-vocabulary/Visual-vocabulary-en.pdf
[Interpretation]
This slide documents the style rules used in this first prototype so the same logic can be reused on future ISZE dashboards.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94360"/>
            <a:ext cx="11064240" cy="0"/>
          </a:xfrm>
          <a:prstGeom prst="line">
            <a:avLst/>
          </a:prstGeom>
          <a:noFill/>
          <a:ln w="10160">
            <a:solidFill>
              <a:srgbClr val="1F29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286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TIMES-INSPIRED CHART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6675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Isuzu outlook: the European aftersales question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257860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first style prototype: editorial, evidence-led and built around a single chart question per page.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909560" y="1005840"/>
            <a:ext cx="0" cy="3840480"/>
          </a:xfrm>
          <a:prstGeom prst="line">
            <a:avLst/>
          </a:prstGeom>
          <a:noFill/>
          <a:ln w="10160">
            <a:solidFill>
              <a:srgbClr val="D8CC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0" y="98755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C70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¥3.7tn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229600" y="1426464"/>
            <a:ext cx="21031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FY2027 revenue outlook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221284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603k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8229600" y="2651760"/>
            <a:ext cx="21031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sales units outlook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29600" y="343814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4477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¥600bn+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229600" y="3877056"/>
            <a:ext cx="24688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aftersales revenue already above FY2027 target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4892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i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this style, Isuzu is treated like a public-market story: one question, one chart logic, one management implication.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66928" y="6382512"/>
            <a:ext cx="11064240" cy="0"/>
          </a:xfrm>
          <a:prstGeom prst="line">
            <a:avLst/>
          </a:prstGeom>
          <a:noFill/>
          <a:ln w="7620">
            <a:solidFill>
              <a:srgbClr val="D8CC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651052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Isuzu FY2026 Financial Results; Isuzu Integrated Report 2025; Financial Times Visual Vocabulary.</a:t>
            </a:r>
            <a:endParaRPr lang="en-US" sz="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 / FINANCIAL TIMES-INSPIRED VISUAL STUDY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6400800" y="1645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 financial frame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11109960" y="1463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7620">
            <a:solidFill>
              <a:srgbClr val="D8CC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8368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Isuzu is growing again, but the real story is profit recovery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66928" y="139903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FY2026 revenue and units improved, while operating profit fell; the FY2027 outlook assumes a sharp profit rebound despite Middle East headwinds.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and operating profit, ¥bn</a:t>
            </a:r>
            <a:endParaRPr lang="en-US" sz="8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2176272"/>
          <a:ext cx="45720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5806440" y="19202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sales units, thousand vehicles</a:t>
            </a:r>
            <a:endParaRPr lang="en-US" sz="85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5806440" y="2176272"/>
          <a:ext cx="34290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9646920" y="2240280"/>
            <a:ext cx="0" cy="1417320"/>
          </a:xfrm>
          <a:prstGeom prst="line">
            <a:avLst/>
          </a:prstGeom>
          <a:noFill/>
          <a:ln w="25400">
            <a:solidFill>
              <a:srgbClr val="C7002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756648" y="224028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 read</a:t>
            </a:r>
            <a:endParaRPr lang="en-US" sz="860" dirty="0"/>
          </a:p>
        </p:txBody>
      </p:sp>
      <p:sp>
        <p:nvSpPr>
          <p:cNvPr id="14" name="Text 10"/>
          <p:cNvSpPr/>
          <p:nvPr/>
        </p:nvSpPr>
        <p:spPr>
          <a:xfrm>
            <a:off x="9756648" y="2496312"/>
            <a:ext cx="16733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chart should not say “results”. It should say: volume is not the issue; margin resilience and mix are the issue.</a:t>
            </a:r>
            <a:endParaRPr lang="en-US" sz="820" dirty="0"/>
          </a:p>
        </p:txBody>
      </p:sp>
      <p:sp>
        <p:nvSpPr>
          <p:cNvPr id="15" name="Text 11"/>
          <p:cNvSpPr/>
          <p:nvPr/>
        </p:nvSpPr>
        <p:spPr>
          <a:xfrm>
            <a:off x="9555480" y="41605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</a:t>
            </a:r>
            <a:endParaRPr lang="en-US" sz="720" dirty="0"/>
          </a:p>
        </p:txBody>
      </p:sp>
      <p:sp>
        <p:nvSpPr>
          <p:cNvPr id="16" name="Shape 12"/>
          <p:cNvSpPr/>
          <p:nvPr/>
        </p:nvSpPr>
        <p:spPr>
          <a:xfrm>
            <a:off x="11018520" y="4183380"/>
            <a:ext cx="-45720" cy="82296"/>
          </a:xfrm>
          <a:prstGeom prst="rect">
            <a:avLst/>
          </a:prstGeom>
          <a:solidFill>
            <a:srgbClr val="E8DED8"/>
          </a:solidFill>
          <a:ln w="12700">
            <a:solidFill>
              <a:srgbClr val="E8DED8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1018520" y="4183380"/>
            <a:ext cx="45720" cy="82296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1109960" y="41559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9555480" y="44988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</a:t>
            </a:r>
            <a:endParaRPr lang="en-US" sz="720" dirty="0"/>
          </a:p>
        </p:txBody>
      </p:sp>
      <p:sp>
        <p:nvSpPr>
          <p:cNvPr id="20" name="Shape 16"/>
          <p:cNvSpPr/>
          <p:nvPr/>
        </p:nvSpPr>
        <p:spPr>
          <a:xfrm>
            <a:off x="11018520" y="4521708"/>
            <a:ext cx="-45720" cy="82296"/>
          </a:xfrm>
          <a:prstGeom prst="rect">
            <a:avLst/>
          </a:prstGeom>
          <a:solidFill>
            <a:srgbClr val="E8DED8"/>
          </a:solidFill>
          <a:ln w="12700">
            <a:solidFill>
              <a:srgbClr val="E8DED8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1018520" y="4521708"/>
            <a:ext cx="45720" cy="82296"/>
          </a:xfrm>
          <a:prstGeom prst="rect">
            <a:avLst/>
          </a:prstGeom>
          <a:solidFill>
            <a:srgbClr val="C7002B"/>
          </a:solidFill>
          <a:ln w="12700">
            <a:solidFill>
              <a:srgbClr val="C7002B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1109960" y="44942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9555480" y="483717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</a:t>
            </a:r>
            <a:endParaRPr lang="en-US" sz="720" dirty="0"/>
          </a:p>
        </p:txBody>
      </p:sp>
      <p:sp>
        <p:nvSpPr>
          <p:cNvPr id="24" name="Shape 20"/>
          <p:cNvSpPr/>
          <p:nvPr/>
        </p:nvSpPr>
        <p:spPr>
          <a:xfrm>
            <a:off x="11018520" y="4860036"/>
            <a:ext cx="-45720" cy="82296"/>
          </a:xfrm>
          <a:prstGeom prst="rect">
            <a:avLst/>
          </a:prstGeom>
          <a:solidFill>
            <a:srgbClr val="E8DED8"/>
          </a:solidFill>
          <a:ln w="12700">
            <a:solidFill>
              <a:srgbClr val="E8DED8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1018520" y="4860036"/>
            <a:ext cx="45720" cy="82296"/>
          </a:xfrm>
          <a:prstGeom prst="rect">
            <a:avLst/>
          </a:prstGeom>
          <a:solidFill>
            <a:srgbClr val="4477AA"/>
          </a:solidFill>
          <a:ln w="12700">
            <a:solidFill>
              <a:srgbClr val="4477AA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109960" y="48326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9582912" y="38587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FY27e change vs FY26, %</a:t>
            </a:r>
            <a:endParaRPr lang="en-US" sz="700" dirty="0"/>
          </a:p>
        </p:txBody>
      </p:sp>
      <p:sp>
        <p:nvSpPr>
          <p:cNvPr id="28" name="Shape 24"/>
          <p:cNvSpPr/>
          <p:nvPr/>
        </p:nvSpPr>
        <p:spPr>
          <a:xfrm>
            <a:off x="566928" y="6382512"/>
            <a:ext cx="11064240" cy="0"/>
          </a:xfrm>
          <a:prstGeom prst="line">
            <a:avLst/>
          </a:prstGeom>
          <a:noFill/>
          <a:ln w="7620">
            <a:solidFill>
              <a:srgbClr val="D8CCC5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66928" y="651052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Isuzu FY2026 Financial Results, May 2026. Values rounded.</a:t>
            </a:r>
            <a:endParaRPr lang="en-US" sz="6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 / FINANCIAL TIMES-INSPIRED VISUAL STUDY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6400800" y="1645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footprint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11109960" y="1463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7620">
            <a:solidFill>
              <a:srgbClr val="D8CC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8368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Europe is a small unit base, so the economic question is leverage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66928" y="139903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European footprint is modest in unit terms; the opportunity is to raise value per vehicle through parts availability, dealer efficiency and uptime services.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FY2025 units by selected region, thousand vehicles</a:t>
            </a:r>
            <a:endParaRPr lang="en-US" sz="8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2148840"/>
          <a:ext cx="55321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3154680" y="416052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C7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Europe: 29k units</a:t>
            </a:r>
            <a:endParaRPr lang="en-US" sz="860" dirty="0"/>
          </a:p>
        </p:txBody>
      </p:sp>
      <p:sp>
        <p:nvSpPr>
          <p:cNvPr id="11" name="Text 8"/>
          <p:cNvSpPr/>
          <p:nvPr/>
        </p:nvSpPr>
        <p:spPr>
          <a:xfrm>
            <a:off x="6629400" y="18745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region, FY2025</a:t>
            </a:r>
            <a:endParaRPr lang="en-US" sz="85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6629400" y="2148840"/>
          <a:ext cx="35661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Shape 9"/>
          <p:cNvSpPr/>
          <p:nvPr/>
        </p:nvSpPr>
        <p:spPr>
          <a:xfrm>
            <a:off x="10561320" y="2148840"/>
            <a:ext cx="0" cy="2834640"/>
          </a:xfrm>
          <a:prstGeom prst="line">
            <a:avLst/>
          </a:prstGeom>
          <a:noFill/>
          <a:ln w="25400">
            <a:solidFill>
              <a:srgbClr val="C7002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671048" y="214884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ISZE implication</a:t>
            </a:r>
            <a:endParaRPr lang="en-US" sz="860" dirty="0"/>
          </a:p>
        </p:txBody>
      </p:sp>
      <p:sp>
        <p:nvSpPr>
          <p:cNvPr id="15" name="Text 11"/>
          <p:cNvSpPr/>
          <p:nvPr/>
        </p:nvSpPr>
        <p:spPr>
          <a:xfrm>
            <a:off x="10671048" y="2404872"/>
            <a:ext cx="804672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vehicle base can still support a large economics story if the dashboard is built around UIO, genuine share, SPA conversion and BO risk.</a:t>
            </a:r>
            <a:endParaRPr lang="en-US" sz="820" dirty="0"/>
          </a:p>
        </p:txBody>
      </p:sp>
      <p:sp>
        <p:nvSpPr>
          <p:cNvPr id="16" name="Shape 12"/>
          <p:cNvSpPr/>
          <p:nvPr/>
        </p:nvSpPr>
        <p:spPr>
          <a:xfrm>
            <a:off x="566928" y="6382512"/>
            <a:ext cx="11064240" cy="0"/>
          </a:xfrm>
          <a:prstGeom prst="line">
            <a:avLst/>
          </a:prstGeom>
          <a:noFill/>
          <a:ln w="7620">
            <a:solidFill>
              <a:srgbClr val="D8CCC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66928" y="651052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Isuzu Integrated Report 2025. Unit values and shares rounded.</a:t>
            </a:r>
            <a:endParaRPr lang="en-US" sz="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 / FINANCIAL TIMES-INSPIRED VISUAL STUDY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6400800" y="1645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Aftersales engine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11109960" y="1463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7620">
            <a:solidFill>
              <a:srgbClr val="D8CC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8368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Aftersales has already reached the medium-term revenue target early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66928" y="139903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aftersales business grew in Japan and overseas and reached the FY2027 ¥600bn target one year ahead of schedule.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from aftersales business, ¥bn</a:t>
            </a:r>
            <a:endParaRPr lang="en-US" sz="8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2148840"/>
          <a:ext cx="475488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68680" y="2807208"/>
            <a:ext cx="4206240" cy="0"/>
          </a:xfrm>
          <a:prstGeom prst="line">
            <a:avLst/>
          </a:prstGeom>
          <a:noFill/>
          <a:ln w="15240">
            <a:solidFill>
              <a:srgbClr val="4477A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20440" y="25786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447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FY2027 target: ¥600bn</a:t>
            </a:r>
            <a:endParaRPr lang="en-US" sz="740" dirty="0"/>
          </a:p>
        </p:txBody>
      </p:sp>
      <p:sp>
        <p:nvSpPr>
          <p:cNvPr id="12" name="Text 9"/>
          <p:cNvSpPr/>
          <p:nvPr/>
        </p:nvSpPr>
        <p:spPr>
          <a:xfrm>
            <a:off x="6080760" y="217627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C70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¥621bn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6080760" y="2615184"/>
            <a:ext cx="23774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FY2026 aftersales revenue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080760" y="3429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+7.4%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6080760" y="3867912"/>
            <a:ext cx="23774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growth, total aftersales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8549640" y="2240280"/>
            <a:ext cx="0" cy="1508760"/>
          </a:xfrm>
          <a:prstGeom prst="line">
            <a:avLst/>
          </a:prstGeom>
          <a:noFill/>
          <a:ln w="25400">
            <a:solidFill>
              <a:srgbClr val="C7002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59368" y="2240280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FT would emphasize</a:t>
            </a:r>
            <a:endParaRPr lang="en-US" sz="860" dirty="0"/>
          </a:p>
        </p:txBody>
      </p:sp>
      <p:sp>
        <p:nvSpPr>
          <p:cNvPr id="18" name="Text 15"/>
          <p:cNvSpPr/>
          <p:nvPr/>
        </p:nvSpPr>
        <p:spPr>
          <a:xfrm>
            <a:off x="8659368" y="2496312"/>
            <a:ext cx="222199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target line is more useful than another color. It shows that the business already crossed the management hurdle.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549640" y="427939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C7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8750808" y="4251960"/>
            <a:ext cx="2313432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UIO, not just sales, to size recurring opportunity.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549640" y="453847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C7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620" dirty="0"/>
          </a:p>
        </p:txBody>
      </p:sp>
      <p:sp>
        <p:nvSpPr>
          <p:cNvPr id="22" name="Text 19"/>
          <p:cNvSpPr/>
          <p:nvPr/>
        </p:nvSpPr>
        <p:spPr>
          <a:xfrm>
            <a:off x="8750808" y="4511040"/>
            <a:ext cx="2313432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parts fill-rate and BO risk to uptime impact.</a:t>
            </a:r>
            <a:endParaRPr lang="en-US" sz="830" dirty="0"/>
          </a:p>
        </p:txBody>
      </p:sp>
      <p:sp>
        <p:nvSpPr>
          <p:cNvPr id="23" name="Text 20"/>
          <p:cNvSpPr/>
          <p:nvPr/>
        </p:nvSpPr>
        <p:spPr>
          <a:xfrm>
            <a:off x="8549640" y="479755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C7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620" dirty="0"/>
          </a:p>
        </p:txBody>
      </p:sp>
      <p:sp>
        <p:nvSpPr>
          <p:cNvPr id="24" name="Text 21"/>
          <p:cNvSpPr/>
          <p:nvPr/>
        </p:nvSpPr>
        <p:spPr>
          <a:xfrm>
            <a:off x="8750808" y="4770120"/>
            <a:ext cx="2313432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GM% and GP € separately for SPA decisions.</a:t>
            </a:r>
            <a:endParaRPr lang="en-US" sz="830" dirty="0"/>
          </a:p>
        </p:txBody>
      </p:sp>
      <p:sp>
        <p:nvSpPr>
          <p:cNvPr id="25" name="Shape 22"/>
          <p:cNvSpPr/>
          <p:nvPr/>
        </p:nvSpPr>
        <p:spPr>
          <a:xfrm>
            <a:off x="566928" y="6382512"/>
            <a:ext cx="11064240" cy="0"/>
          </a:xfrm>
          <a:prstGeom prst="line">
            <a:avLst/>
          </a:prstGeom>
          <a:noFill/>
          <a:ln w="7620">
            <a:solidFill>
              <a:srgbClr val="D8CCC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51052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Isuzu FY2026 Financial Results; ISZE implications are analytical.</a:t>
            </a:r>
            <a:endParaRPr lang="en-US" sz="6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 / FINANCIAL TIMES-INSPIRED VISUAL STUDY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6400800" y="1645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services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11109960" y="1463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7620">
            <a:solidFill>
              <a:srgbClr val="D8CC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8368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Connected services are becoming Isuzu’s data moat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66928" y="139903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strategic shift is from selling vehicles and parts separately to managing uptime, maintenance, energy and fleet data around the vehicle lifecycle.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data scale, thousand vehicles/trucks</a:t>
            </a:r>
            <a:endParaRPr lang="en-US" sz="8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2148840"/>
          <a:ext cx="45720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841248" y="4882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connected service in commercial mobility sector, per Isuzu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5806440" y="18745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timeline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806440" y="21579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7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2000s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6483096" y="2249424"/>
            <a:ext cx="182880" cy="0"/>
          </a:xfrm>
          <a:prstGeom prst="line">
            <a:avLst/>
          </a:prstGeom>
          <a:noFill/>
          <a:ln w="11430">
            <a:solidFill>
              <a:srgbClr val="D8CCC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48272" y="21396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MIMAMORI connected services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5806440" y="26791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7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483096" y="2770632"/>
            <a:ext cx="182880" cy="0"/>
          </a:xfrm>
          <a:prstGeom prst="line">
            <a:avLst/>
          </a:prstGeom>
          <a:noFill/>
          <a:ln w="11430">
            <a:solidFill>
              <a:srgbClr val="D8CCC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48272" y="26609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GATEX operation starts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5806440" y="320040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7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483096" y="3291840"/>
            <a:ext cx="182880" cy="0"/>
          </a:xfrm>
          <a:prstGeom prst="line">
            <a:avLst/>
          </a:prstGeom>
          <a:noFill/>
          <a:ln w="11430">
            <a:solidFill>
              <a:srgbClr val="D8CCC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48272" y="31821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N-Series EV connected service in North America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5806440" y="3721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7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6483096" y="3813048"/>
            <a:ext cx="182880" cy="0"/>
          </a:xfrm>
          <a:prstGeom prst="line">
            <a:avLst/>
          </a:prstGeom>
          <a:noFill/>
          <a:ln w="11430">
            <a:solidFill>
              <a:srgbClr val="D8CCC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48272" y="37033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Overseas maintenance leasing starts</a:t>
            </a:r>
            <a:endParaRPr lang="en-US" sz="820" dirty="0"/>
          </a:p>
        </p:txBody>
      </p:sp>
      <p:sp>
        <p:nvSpPr>
          <p:cNvPr id="24" name="Text 21"/>
          <p:cNvSpPr/>
          <p:nvPr/>
        </p:nvSpPr>
        <p:spPr>
          <a:xfrm>
            <a:off x="5806440" y="424281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7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6483096" y="4334256"/>
            <a:ext cx="182880" cy="0"/>
          </a:xfrm>
          <a:prstGeom prst="line">
            <a:avLst/>
          </a:prstGeom>
          <a:noFill/>
          <a:ln w="11430">
            <a:solidFill>
              <a:srgbClr val="D8CCC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48272" y="422452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Major-region uptime rollout target</a:t>
            </a:r>
            <a:endParaRPr lang="en-US" sz="820" dirty="0"/>
          </a:p>
        </p:txBody>
      </p:sp>
      <p:sp>
        <p:nvSpPr>
          <p:cNvPr id="27" name="Shape 24"/>
          <p:cNvSpPr/>
          <p:nvPr/>
        </p:nvSpPr>
        <p:spPr>
          <a:xfrm>
            <a:off x="6574536" y="2240280"/>
            <a:ext cx="0" cy="2103120"/>
          </a:xfrm>
          <a:prstGeom prst="line">
            <a:avLst/>
          </a:prstGeom>
          <a:noFill/>
          <a:ln w="12700">
            <a:solidFill>
              <a:srgbClr val="D8CCC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806440" y="4800600"/>
            <a:ext cx="0" cy="502920"/>
          </a:xfrm>
          <a:prstGeom prst="line">
            <a:avLst/>
          </a:prstGeom>
          <a:noFill/>
          <a:ln w="25400">
            <a:solidFill>
              <a:srgbClr val="C7002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16168" y="4800600"/>
            <a:ext cx="4325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ISZE lens</a:t>
            </a:r>
            <a:endParaRPr lang="en-US" sz="860" dirty="0"/>
          </a:p>
        </p:txBody>
      </p:sp>
      <p:sp>
        <p:nvSpPr>
          <p:cNvPr id="30" name="Text 27"/>
          <p:cNvSpPr/>
          <p:nvPr/>
        </p:nvSpPr>
        <p:spPr>
          <a:xfrm>
            <a:off x="5916168" y="5056632"/>
            <a:ext cx="4325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GPS/PMS can evolve from pure price share to uptime share: which dealers and customers keep vehicles moving with genuine parts?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566928" y="6382512"/>
            <a:ext cx="11064240" cy="0"/>
          </a:xfrm>
          <a:prstGeom prst="line">
            <a:avLst/>
          </a:prstGeom>
          <a:noFill/>
          <a:ln w="7620">
            <a:solidFill>
              <a:srgbClr val="D8CC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66928" y="651052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Isuzu Integrated Report 2025.</a:t>
            </a:r>
            <a:endParaRPr lang="en-US" sz="6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 / FINANCIAL TIMES-INSPIRED VISUAL STUDY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6400800" y="1645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 product signal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11109960" y="1463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7620">
            <a:solidFill>
              <a:srgbClr val="D8CC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8368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D-MAX EV is credible on work utility; range is the strategic constraint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66928" y="139903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messaging is built around no-compromise payload and towing, but the WLTP range makes depot-based and local-use fleets the cleanest target.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D-MAX EV capability snapshot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Towing, tonnes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331720" y="2263140"/>
            <a:ext cx="2926080" cy="118872"/>
          </a:xfrm>
          <a:prstGeom prst="rect">
            <a:avLst/>
          </a:prstGeom>
          <a:solidFill>
            <a:srgbClr val="E8DED8"/>
          </a:solidFill>
          <a:ln w="12700">
            <a:solidFill>
              <a:srgbClr val="E8DED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31720" y="2263140"/>
            <a:ext cx="2560320" cy="118872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96128" y="22265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3.5t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85800" y="27157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Payload, tonnes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331720" y="2738628"/>
            <a:ext cx="2926080" cy="118872"/>
          </a:xfrm>
          <a:prstGeom prst="rect">
            <a:avLst/>
          </a:prstGeom>
          <a:solidFill>
            <a:srgbClr val="E8DED8"/>
          </a:solidFill>
          <a:ln w="12700">
            <a:solidFill>
              <a:srgbClr val="E8DED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31720" y="2738628"/>
            <a:ext cx="1950720" cy="118872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96128" y="27020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1t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685800" y="319125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WLTP range, km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331720" y="3214116"/>
            <a:ext cx="2926080" cy="118872"/>
          </a:xfrm>
          <a:prstGeom prst="rect">
            <a:avLst/>
          </a:prstGeom>
          <a:solidFill>
            <a:srgbClr val="E8DED8"/>
          </a:solidFill>
          <a:ln w="12700">
            <a:solidFill>
              <a:srgbClr val="E8DED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31720" y="3214116"/>
            <a:ext cx="1539118" cy="118872"/>
          </a:xfrm>
          <a:prstGeom prst="rect">
            <a:avLst/>
          </a:prstGeom>
          <a:solidFill>
            <a:srgbClr val="C7002B"/>
          </a:solidFill>
          <a:ln w="12700">
            <a:solidFill>
              <a:srgbClr val="C7002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96128" y="31775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7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263km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685800" y="366674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Battery, kWh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331720" y="3689604"/>
            <a:ext cx="2926080" cy="118872"/>
          </a:xfrm>
          <a:prstGeom prst="rect">
            <a:avLst/>
          </a:prstGeom>
          <a:solidFill>
            <a:srgbClr val="E8DED8"/>
          </a:solidFill>
          <a:ln w="12700">
            <a:solidFill>
              <a:srgbClr val="E8DED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31720" y="3689604"/>
            <a:ext cx="1957548" cy="118872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96128" y="36530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66.9kWh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685800" y="41422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20-80%, hours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331720" y="4165092"/>
            <a:ext cx="2926080" cy="118872"/>
          </a:xfrm>
          <a:prstGeom prst="rect">
            <a:avLst/>
          </a:prstGeom>
          <a:solidFill>
            <a:srgbClr val="E8DED8"/>
          </a:solidFill>
          <a:ln w="12700">
            <a:solidFill>
              <a:srgbClr val="E8DED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31720" y="4165092"/>
            <a:ext cx="1463040" cy="118872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96128" y="41285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1h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492240" y="2103120"/>
            <a:ext cx="0" cy="3063240"/>
          </a:xfrm>
          <a:prstGeom prst="line">
            <a:avLst/>
          </a:prstGeom>
          <a:noFill/>
          <a:ln w="10160">
            <a:solidFill>
              <a:srgbClr val="D8CC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21488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3.5t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6903720" y="2587752"/>
            <a:ext cx="1737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towing capacity retained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006840" y="214884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C70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263km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9006840" y="2587752"/>
            <a:ext cx="14630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WLTP range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903720" y="3886200"/>
            <a:ext cx="0" cy="868680"/>
          </a:xfrm>
          <a:prstGeom prst="line">
            <a:avLst/>
          </a:prstGeom>
          <a:noFill/>
          <a:ln w="25400">
            <a:solidFill>
              <a:srgbClr val="C700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13448" y="3886200"/>
            <a:ext cx="3502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conclusion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7013448" y="4142232"/>
            <a:ext cx="35021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launch is not just an EV story. It is a route-to-market story: identify the fleets whose daily duty cycle fits the vehicle.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6903720" y="494690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C7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620" dirty="0"/>
          </a:p>
        </p:txBody>
      </p:sp>
      <p:sp>
        <p:nvSpPr>
          <p:cNvPr id="38" name="Text 36"/>
          <p:cNvSpPr/>
          <p:nvPr/>
        </p:nvSpPr>
        <p:spPr>
          <a:xfrm>
            <a:off x="7104888" y="4919472"/>
            <a:ext cx="3502152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fit: urban services, utilities, depot return, low-mileage work use.</a:t>
            </a:r>
            <a:endParaRPr lang="en-US" sz="830" dirty="0"/>
          </a:p>
        </p:txBody>
      </p:sp>
      <p:sp>
        <p:nvSpPr>
          <p:cNvPr id="39" name="Text 37"/>
          <p:cNvSpPr/>
          <p:nvPr/>
        </p:nvSpPr>
        <p:spPr>
          <a:xfrm>
            <a:off x="6903720" y="521512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C7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620" dirty="0"/>
          </a:p>
        </p:txBody>
      </p:sp>
      <p:sp>
        <p:nvSpPr>
          <p:cNvPr id="40" name="Text 38"/>
          <p:cNvSpPr/>
          <p:nvPr/>
        </p:nvSpPr>
        <p:spPr>
          <a:xfrm>
            <a:off x="7104888" y="5187696"/>
            <a:ext cx="3502152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competitors can market range, even if payload/towing are weaker.</a:t>
            </a:r>
            <a:endParaRPr lang="en-US" sz="830" dirty="0"/>
          </a:p>
        </p:txBody>
      </p:sp>
      <p:sp>
        <p:nvSpPr>
          <p:cNvPr id="41" name="Text 39"/>
          <p:cNvSpPr/>
          <p:nvPr/>
        </p:nvSpPr>
        <p:spPr>
          <a:xfrm>
            <a:off x="6903720" y="548335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C7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620" dirty="0"/>
          </a:p>
        </p:txBody>
      </p:sp>
      <p:sp>
        <p:nvSpPr>
          <p:cNvPr id="42" name="Text 40"/>
          <p:cNvSpPr/>
          <p:nvPr/>
        </p:nvSpPr>
        <p:spPr>
          <a:xfrm>
            <a:off x="7104888" y="5455920"/>
            <a:ext cx="3502152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need: use-case segmentation rather than generic EV penetration.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566928" y="6382512"/>
            <a:ext cx="11064240" cy="0"/>
          </a:xfrm>
          <a:prstGeom prst="line">
            <a:avLst/>
          </a:prstGeom>
          <a:noFill/>
          <a:ln w="7620">
            <a:solidFill>
              <a:srgbClr val="D8CCC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" y="651052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Isuzu Belgium and Isuzu UK product pages.</a:t>
            </a:r>
            <a:endParaRPr lang="en-US" sz="6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 / FINANCIAL TIMES-INSPIRED VISUAL STUDY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6400800" y="1645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ISZE management view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11109960" y="1463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7620">
            <a:solidFill>
              <a:srgbClr val="D8CC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8368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ISZE, the dashboard should connect price actions to lifetime economics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66928" y="139903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FT version should make the logic auditable: price, volume, margin and uptime should be visible in one chain rather than separate Excel views.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reporting chain for a parts opportunity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256032" cy="256032"/>
          </a:xfrm>
          <a:prstGeom prst="rect">
            <a:avLst/>
          </a:prstGeom>
          <a:solidFill>
            <a:srgbClr val="1F2933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43000" y="223113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UIO / Parc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07792" y="224028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vehicles can buy this part?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859536" y="2532888"/>
            <a:ext cx="0" cy="256032"/>
          </a:xfrm>
          <a:prstGeom prst="line">
            <a:avLst/>
          </a:prstGeom>
          <a:noFill/>
          <a:ln w="12700">
            <a:solidFill>
              <a:srgbClr val="D8CC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07208"/>
            <a:ext cx="256032" cy="256032"/>
          </a:xfrm>
          <a:prstGeom prst="rect">
            <a:avLst/>
          </a:prstGeom>
          <a:solidFill>
            <a:srgbClr val="1F2933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" y="279806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 share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07792" y="28072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Isuzu losing the line to IAM?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859536" y="3099816"/>
            <a:ext cx="0" cy="256032"/>
          </a:xfrm>
          <a:prstGeom prst="line">
            <a:avLst/>
          </a:prstGeom>
          <a:noFill/>
          <a:ln w="12700">
            <a:solidFill>
              <a:srgbClr val="D8CC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374136"/>
            <a:ext cx="256032" cy="256032"/>
          </a:xfrm>
          <a:prstGeom prst="rect">
            <a:avLst/>
          </a:prstGeom>
          <a:solidFill>
            <a:srgbClr val="1F2933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43000" y="33649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/ price action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907792" y="337413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volume lift is needed to offset margin?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859536" y="3666744"/>
            <a:ext cx="0" cy="256032"/>
          </a:xfrm>
          <a:prstGeom prst="line">
            <a:avLst/>
          </a:prstGeom>
          <a:noFill/>
          <a:ln w="12700">
            <a:solidFill>
              <a:srgbClr val="D8CC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941064"/>
            <a:ext cx="256032" cy="256032"/>
          </a:xfrm>
          <a:prstGeom prst="rect">
            <a:avLst/>
          </a:prstGeom>
          <a:solidFill>
            <a:srgbClr val="1F2933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43000" y="39319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 / availability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907792" y="39410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lost uptime destroy the price case?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859536" y="4233672"/>
            <a:ext cx="0" cy="256032"/>
          </a:xfrm>
          <a:prstGeom prst="line">
            <a:avLst/>
          </a:prstGeom>
          <a:noFill/>
          <a:ln w="12700">
            <a:solidFill>
              <a:srgbClr val="D8CC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507992"/>
            <a:ext cx="256032" cy="256032"/>
          </a:xfrm>
          <a:prstGeom prst="rect">
            <a:avLst/>
          </a:prstGeom>
          <a:solidFill>
            <a:srgbClr val="C7002B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43000" y="449884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 € after action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907792" y="45079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profit higher after the SPA?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7178040" y="2057400"/>
            <a:ext cx="0" cy="3520440"/>
          </a:xfrm>
          <a:prstGeom prst="line">
            <a:avLst/>
          </a:prstGeom>
          <a:noFill/>
          <a:ln w="10160">
            <a:solidFill>
              <a:srgbClr val="D8CC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43800" y="18745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FT-style visual types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543800" y="22402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/ volume / mix</a:t>
            </a:r>
            <a:endParaRPr lang="en-US" sz="830" dirty="0"/>
          </a:p>
        </p:txBody>
      </p:sp>
      <p:sp>
        <p:nvSpPr>
          <p:cNvPr id="31" name="Text 29"/>
          <p:cNvSpPr/>
          <p:nvPr/>
        </p:nvSpPr>
        <p:spPr>
          <a:xfrm>
            <a:off x="9372600" y="22402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7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Waterfall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7543800" y="2514600"/>
            <a:ext cx="3291840" cy="0"/>
          </a:xfrm>
          <a:prstGeom prst="line">
            <a:avLst/>
          </a:prstGeom>
          <a:noFill/>
          <a:ln w="6350">
            <a:solidFill>
              <a:srgbClr val="E8DE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43800" y="27432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vs after SPA</a:t>
            </a:r>
            <a:endParaRPr lang="en-US" sz="830" dirty="0"/>
          </a:p>
        </p:txBody>
      </p:sp>
      <p:sp>
        <p:nvSpPr>
          <p:cNvPr id="34" name="Text 32"/>
          <p:cNvSpPr/>
          <p:nvPr/>
        </p:nvSpPr>
        <p:spPr>
          <a:xfrm>
            <a:off x="9372600" y="27432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7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Slope / dumbbell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7543800" y="3017520"/>
            <a:ext cx="3291840" cy="0"/>
          </a:xfrm>
          <a:prstGeom prst="line">
            <a:avLst/>
          </a:prstGeom>
          <a:noFill/>
          <a:ln w="6350">
            <a:solidFill>
              <a:srgbClr val="E8DE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43800" y="32461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ranking</a:t>
            </a:r>
            <a:endParaRPr lang="en-US" sz="830" dirty="0"/>
          </a:p>
        </p:txBody>
      </p:sp>
      <p:sp>
        <p:nvSpPr>
          <p:cNvPr id="37" name="Text 35"/>
          <p:cNvSpPr/>
          <p:nvPr/>
        </p:nvSpPr>
        <p:spPr>
          <a:xfrm>
            <a:off x="9372600" y="32461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7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bar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7543800" y="3520440"/>
            <a:ext cx="3291840" cy="0"/>
          </a:xfrm>
          <a:prstGeom prst="line">
            <a:avLst/>
          </a:prstGeom>
          <a:noFill/>
          <a:ln w="6350">
            <a:solidFill>
              <a:srgbClr val="E8DE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43800" y="37490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UIO vs GPS relation</a:t>
            </a:r>
            <a:endParaRPr lang="en-US" sz="830" dirty="0"/>
          </a:p>
        </p:txBody>
      </p:sp>
      <p:sp>
        <p:nvSpPr>
          <p:cNvPr id="40" name="Text 38"/>
          <p:cNvSpPr/>
          <p:nvPr/>
        </p:nvSpPr>
        <p:spPr>
          <a:xfrm>
            <a:off x="9372600" y="37490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7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7543800" y="4023360"/>
            <a:ext cx="3291840" cy="0"/>
          </a:xfrm>
          <a:prstGeom prst="line">
            <a:avLst/>
          </a:prstGeom>
          <a:noFill/>
          <a:ln w="6350">
            <a:solidFill>
              <a:srgbClr val="E8DE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43800" y="4251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 concentration</a:t>
            </a:r>
            <a:endParaRPr lang="en-US" sz="830" dirty="0"/>
          </a:p>
        </p:txBody>
      </p:sp>
      <p:sp>
        <p:nvSpPr>
          <p:cNvPr id="43" name="Text 41"/>
          <p:cNvSpPr/>
          <p:nvPr/>
        </p:nvSpPr>
        <p:spPr>
          <a:xfrm>
            <a:off x="9372600" y="425196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7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</a:t>
            </a:r>
            <a:endParaRPr lang="en-US" sz="830" dirty="0"/>
          </a:p>
        </p:txBody>
      </p:sp>
      <p:sp>
        <p:nvSpPr>
          <p:cNvPr id="44" name="Shape 42"/>
          <p:cNvSpPr/>
          <p:nvPr/>
        </p:nvSpPr>
        <p:spPr>
          <a:xfrm>
            <a:off x="7543800" y="4526280"/>
            <a:ext cx="3291840" cy="0"/>
          </a:xfrm>
          <a:prstGeom prst="line">
            <a:avLst/>
          </a:prstGeom>
          <a:noFill/>
          <a:ln w="6350">
            <a:solidFill>
              <a:srgbClr val="E8DED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543800" y="5074920"/>
            <a:ext cx="0" cy="621792"/>
          </a:xfrm>
          <a:prstGeom prst="line">
            <a:avLst/>
          </a:prstGeom>
          <a:noFill/>
          <a:ln w="25400">
            <a:solidFill>
              <a:srgbClr val="C700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53528" y="5074920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rule</a:t>
            </a:r>
            <a:endParaRPr lang="en-US" sz="860" dirty="0"/>
          </a:p>
        </p:txBody>
      </p:sp>
      <p:sp>
        <p:nvSpPr>
          <p:cNvPr id="47" name="Text 45"/>
          <p:cNvSpPr/>
          <p:nvPr/>
        </p:nvSpPr>
        <p:spPr>
          <a:xfrm>
            <a:off x="7653528" y="533095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show GM% alone. Show GP € and required volume lift next to it, otherwise SPA decisions look worse than they are.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566928" y="6382512"/>
            <a:ext cx="11064240" cy="0"/>
          </a:xfrm>
          <a:prstGeom prst="line">
            <a:avLst/>
          </a:prstGeom>
          <a:noFill/>
          <a:ln w="7620">
            <a:solidFill>
              <a:srgbClr val="D8CC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6928" y="651052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ISZE analysis logic based on user-provided working context; chart taxonomy follows FT Visual Vocabulary.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 / FINANCIAL TIMES-INSPIRED VISUAL STUDY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6400800" y="1645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system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11109960" y="1463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7620">
            <a:solidFill>
              <a:srgbClr val="D8CC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8368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Financial Times style is a decision system, not just a colour palette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66928" y="139903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Isuzu, its value is in choosing the right chart before designing it.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Ask the data question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2331720"/>
            <a:ext cx="2926080" cy="0"/>
          </a:xfrm>
          <a:prstGeom prst="line">
            <a:avLst/>
          </a:prstGeom>
          <a:noFill/>
          <a:ln w="12700">
            <a:solidFill>
              <a:srgbClr val="D8CC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14600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over time, ranking, distribution, relationship, part-to-whole, flow or uncertainty?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0" y="19659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Select the chart family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0" y="2331720"/>
            <a:ext cx="2926080" cy="0"/>
          </a:xfrm>
          <a:prstGeom prst="line">
            <a:avLst/>
          </a:prstGeom>
          <a:noFill/>
          <a:ln w="12700">
            <a:solidFill>
              <a:srgbClr val="D8CC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2514600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 lines for time; ordered bars for ranking; waterfall for profit bridge; scatter for dealer efficiency.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92440" y="19659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Write the conclusion first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92440" y="2331720"/>
            <a:ext cx="2926080" cy="0"/>
          </a:xfrm>
          <a:prstGeom prst="line">
            <a:avLst/>
          </a:prstGeom>
          <a:noFill/>
          <a:ln w="12700">
            <a:solidFill>
              <a:srgbClr val="C700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2514600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title should state the finding. The chart should then prove, qualify or challenge it.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06908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914400" y="4544568"/>
            <a:ext cx="868680" cy="-256032"/>
          </a:xfrm>
          <a:prstGeom prst="line">
            <a:avLst/>
          </a:prstGeom>
          <a:noFill/>
          <a:ln w="19050">
            <a:solidFill>
              <a:srgbClr val="1F29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6968" y="4517136"/>
            <a:ext cx="54864" cy="54864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55648" y="4261104"/>
            <a:ext cx="54864" cy="54864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94560" y="406908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331720" y="4297680"/>
            <a:ext cx="228600" cy="64008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31720" y="4434840"/>
            <a:ext cx="502920" cy="64008"/>
          </a:xfrm>
          <a:prstGeom prst="rect">
            <a:avLst/>
          </a:prstGeom>
          <a:solidFill>
            <a:srgbClr val="C7002B"/>
          </a:solidFill>
          <a:ln w="12700">
            <a:solidFill>
              <a:srgbClr val="C7002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31720" y="4572000"/>
            <a:ext cx="777240" cy="64008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406908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3749040" y="4572000"/>
            <a:ext cx="182880" cy="228600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23360" y="4434840"/>
            <a:ext cx="182880" cy="137160"/>
          </a:xfrm>
          <a:prstGeom prst="rect">
            <a:avLst/>
          </a:prstGeom>
          <a:solidFill>
            <a:srgbClr val="C7002B"/>
          </a:solidFill>
          <a:ln w="12700">
            <a:solidFill>
              <a:srgbClr val="C7002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0" y="4343400"/>
            <a:ext cx="182880" cy="228600"/>
          </a:xfrm>
          <a:prstGeom prst="rect">
            <a:avLst/>
          </a:prstGeom>
          <a:solidFill>
            <a:srgbClr val="4477AA"/>
          </a:solidFill>
          <a:ln w="12700">
            <a:solidFill>
              <a:srgbClr val="4477A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6908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5257800" y="4572000"/>
            <a:ext cx="64008" cy="64008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58968" y="4434840"/>
            <a:ext cx="64008" cy="64008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60720" y="4389120"/>
            <a:ext cx="64008" cy="64008"/>
          </a:xfrm>
          <a:prstGeom prst="ellipse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7880" y="4251960"/>
            <a:ext cx="64008" cy="64008"/>
          </a:xfrm>
          <a:prstGeom prst="ellipse">
            <a:avLst/>
          </a:prstGeom>
          <a:solidFill>
            <a:srgbClr val="C7002B"/>
          </a:solidFill>
          <a:ln w="12700">
            <a:solidFill>
              <a:srgbClr val="C700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406908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Part-to-whole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6583680" y="4389120"/>
            <a:ext cx="274320" cy="329184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8000" y="4389120"/>
            <a:ext cx="274320" cy="329184"/>
          </a:xfrm>
          <a:prstGeom prst="rect">
            <a:avLst/>
          </a:prstGeom>
          <a:solidFill>
            <a:srgbClr val="C7002B"/>
          </a:solidFill>
          <a:ln w="12700">
            <a:solidFill>
              <a:srgbClr val="C7002B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32320" y="4389120"/>
            <a:ext cx="274320" cy="329184"/>
          </a:xfrm>
          <a:prstGeom prst="rect">
            <a:avLst/>
          </a:prstGeom>
          <a:solidFill>
            <a:srgbClr val="4477AA"/>
          </a:solidFill>
          <a:ln w="12700">
            <a:solidFill>
              <a:srgbClr val="4477AA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38160" y="4572000"/>
            <a:ext cx="0" cy="822960"/>
          </a:xfrm>
          <a:prstGeom prst="line">
            <a:avLst/>
          </a:prstGeom>
          <a:noFill/>
          <a:ln w="25400">
            <a:solidFill>
              <a:srgbClr val="C700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47888" y="4572000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deck in the series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8247888" y="4828032"/>
            <a:ext cx="2587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Economist style: more austere, fewer annotations, stronger typographic hierarchy and restrained colour.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566928" y="6382512"/>
            <a:ext cx="11064240" cy="0"/>
          </a:xfrm>
          <a:prstGeom prst="line">
            <a:avLst/>
          </a:prstGeom>
          <a:noFill/>
          <a:ln w="7620">
            <a:solidFill>
              <a:srgbClr val="D8CCC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" y="651052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6D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FT Visual Vocabulary; Isuzu application by OpenAI.</a:t>
            </a:r>
            <a:endParaRPr lang="en-US" sz="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Isuzu outlook - Financial Times style</dc:title>
  <dc:subject>Isuzu Financial Times-inspired visual outlook</dc:subject>
  <dc:creator>OpenAI</dc:creator>
  <cp:lastModifiedBy>OpenAI</cp:lastModifiedBy>
  <cp:revision>1</cp:revision>
  <dcterms:created xsi:type="dcterms:W3CDTF">2026-09-19T07:59:20Z</dcterms:created>
  <dcterms:modified xsi:type="dcterms:W3CDTF">2026-09-19T07:59:20Z</dcterms:modified>
</cp:coreProperties>
</file>