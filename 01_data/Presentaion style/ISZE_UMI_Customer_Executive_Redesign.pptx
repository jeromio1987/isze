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UMI deck cover and context: lines 23-26.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YTD performance: lines 61-65.
Commercial parts growth: lines 76-80.
GPS capture and fleet potential: lines 179-182.
FY2027 target: lines 244-252.
Data request: lines 335-345.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FY2027 YTD actual, budget, original BP and last year comparison: lines 61-65.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Commercial parts billing and key movers: lines 76-80.
Lighting decline: lines 89-97.
Hydraulic/mechanical decline: lines 106-115.
Filters decline: lines 124-133.
Shell lubricant growth and blocker: lines 142-150.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Growth part list and exclusions: lines 160-170.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Lighting questions and decline: lines 89-97.
Hydraulic/mechanical questions and decline: lines 106-115.
Filters questions and decline: lines 124-133.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GPS capture definition, UMI capture, fleet potential and order urgency mix: lines 179-182.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Service-parts coverage and benchmarks: lines 193-197.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IDS dealer scores, average and network benchmark: lines 202-218.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Fleet decline and target assumptions: lines 230-235.
FY2027 target bridge amounts: lines 244-252.
Target reflection and pending incentive: lines 263-277.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SPA process: lines 288-302.
R&amp;M market discussion questions: lines 313-324.
Sales-to-Dealer data request and benefit: lines 335-345.
Shell lubricant questions: lines 148-151.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Closing page in original deck: lines 349.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50292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30613"/>
                </a:solidFill>
              </a:rPr>
              <a:t>ISZE · ISRAEL · UMI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66928" y="214884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1E1E"/>
                </a:solidFill>
              </a:rPr>
              <a:t>UMI Sales Review &amp; FY2027 Target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85216" y="296265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5B5B"/>
                </a:solidFill>
              </a:rPr>
              <a:t>Customer discussion pack — redesigned around decisions, not pages of facts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85216" y="431596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5B5B"/>
                </a:solidFill>
              </a:rPr>
              <a:t>Universal Motors Israel · August 2026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66928" y="598932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30613"/>
                </a:solidFill>
              </a:rPr>
              <a:t>ISUZU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66928" y="5815584"/>
            <a:ext cx="10424160" cy="0"/>
          </a:xfrm>
          <a:prstGeom prst="line">
            <a:avLst/>
          </a:prstGeom>
          <a:noFill/>
          <a:ln w="15240">
            <a:solidFill>
              <a:srgbClr val="E3061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306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STORYLINE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E1E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meeting should align three commercial facts and three joint decisions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11155680" cy="0"/>
          </a:xfrm>
          <a:prstGeom prst="line">
            <a:avLst/>
          </a:prstGeom>
          <a:noFill/>
          <a:ln w="13970">
            <a:solidFill>
              <a:srgbClr val="E3061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92840" y="644652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7A9AC"/>
                </a:solidFill>
              </a:rPr>
              <a:t>02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502920" y="1325880"/>
            <a:ext cx="224028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0160">
            <a:solidFill>
              <a:srgbClr val="E6E6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1453896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5B5B5B"/>
                </a:solidFill>
              </a:rPr>
              <a:t>YTD sales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67512" y="1737360"/>
            <a:ext cx="1911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A9D6D"/>
                </a:solidFill>
              </a:rPr>
              <a:t>€875K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67512" y="2203704"/>
            <a:ext cx="19110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5B5B"/>
                </a:solidFill>
              </a:rPr>
              <a:t>+2% vs budget; -14% vs LY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2971800" y="1325880"/>
            <a:ext cx="224028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0160">
            <a:solidFill>
              <a:srgbClr val="E6E6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36392" y="1453896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5B5B5B"/>
                </a:solidFill>
              </a:rPr>
              <a:t>Commercial parts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136392" y="1737360"/>
            <a:ext cx="1911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A9D6D"/>
                </a:solidFill>
              </a:rPr>
              <a:t>+33.6%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136392" y="2203704"/>
            <a:ext cx="19110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5B5B"/>
                </a:solidFill>
              </a:rPr>
              <a:t>CY H1 2026 vs CY H1 2025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5440680" y="1325880"/>
            <a:ext cx="224028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0160">
            <a:solidFill>
              <a:srgbClr val="E6E6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05272" y="1453896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5B5B5B"/>
                </a:solidFill>
              </a:rPr>
              <a:t>GPS capture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605272" y="1737360"/>
            <a:ext cx="1911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30613"/>
                </a:solidFill>
              </a:rPr>
              <a:t>54.2%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605272" y="2203704"/>
            <a:ext cx="19110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5B5B"/>
                </a:solidFill>
              </a:rPr>
              <a:t>€4.636M fleet potential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7909560" y="1325880"/>
            <a:ext cx="224028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0160">
            <a:solidFill>
              <a:srgbClr val="E6E6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74152" y="1453896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5B5B5B"/>
                </a:solidFill>
              </a:rPr>
              <a:t>FY2027 target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8074152" y="1737360"/>
            <a:ext cx="1911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30613"/>
                </a:solidFill>
              </a:rPr>
              <a:t>€3.052M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074152" y="2203704"/>
            <a:ext cx="19110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5B5B"/>
                </a:solidFill>
              </a:rPr>
              <a:t>+2.6% vs BP FY27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658368" y="3063240"/>
            <a:ext cx="658368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1E1E"/>
                </a:solidFill>
              </a:rPr>
              <a:t>The customer should leave with a shared diagnosis: sales are still slightly above budget, but the underlying recovery is uneven. Growth is real in commercial parts, while service parts, lamps, filters and dealer capability remain the levers.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58368" y="4069080"/>
            <a:ext cx="3383280" cy="1115568"/>
          </a:xfrm>
          <a:prstGeom prst="roundRect">
            <a:avLst>
              <a:gd name="adj" fmla="val 7377"/>
            </a:avLst>
          </a:prstGeom>
          <a:solidFill>
            <a:srgbClr val="F5F5F2"/>
          </a:solidFill>
          <a:ln w="10160">
            <a:solidFill>
              <a:srgbClr val="E2E2E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4233672"/>
            <a:ext cx="283464" cy="283464"/>
          </a:xfrm>
          <a:prstGeom prst="ellipse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4274820"/>
            <a:ext cx="2834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1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1207008" y="4215384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E1E1E"/>
                </a:solidFill>
              </a:rPr>
              <a:t>Close the lubricant blocker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207008" y="4544568"/>
            <a:ext cx="265176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5B5B"/>
                </a:solidFill>
              </a:rPr>
              <a:t>Agree when Shell price discussion closes and whether any volume is moving outside ISZE while the hold continues.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4407408" y="4069080"/>
            <a:ext cx="3383280" cy="1115568"/>
          </a:xfrm>
          <a:prstGeom prst="roundRect">
            <a:avLst>
              <a:gd name="adj" fmla="val 7377"/>
            </a:avLst>
          </a:prstGeom>
          <a:solidFill>
            <a:srgbClr val="F5F5F2"/>
          </a:solidFill>
          <a:ln w="10160">
            <a:solidFill>
              <a:srgbClr val="E2E2E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0" y="4233672"/>
            <a:ext cx="283464" cy="283464"/>
          </a:xfrm>
          <a:prstGeom prst="ellipse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0" y="4274820"/>
            <a:ext cx="2834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2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4956048" y="4215384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E1E1E"/>
                </a:solidFill>
              </a:rPr>
              <a:t>Choose the first recovery category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956048" y="4544568"/>
            <a:ext cx="265176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5B5B"/>
                </a:solidFill>
              </a:rPr>
              <a:t>Start with brake rotors, air filters or lighting; make the action visible dealer-by-dealer.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8156448" y="4069080"/>
            <a:ext cx="3383280" cy="1115568"/>
          </a:xfrm>
          <a:prstGeom prst="roundRect">
            <a:avLst>
              <a:gd name="adj" fmla="val 7377"/>
            </a:avLst>
          </a:prstGeom>
          <a:solidFill>
            <a:srgbClr val="F5F5F2"/>
          </a:solidFill>
          <a:ln w="10160">
            <a:solidFill>
              <a:srgbClr val="E2E2E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321040" y="4233672"/>
            <a:ext cx="283464" cy="283464"/>
          </a:xfrm>
          <a:prstGeom prst="ellipse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21040" y="4274820"/>
            <a:ext cx="2834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3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8705088" y="4215384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E1E1E"/>
                </a:solidFill>
              </a:rPr>
              <a:t>Unlock part-level sell-out data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705088" y="4544568"/>
            <a:ext cx="265176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5B5B"/>
                </a:solidFill>
              </a:rPr>
              <a:t>Monthly Sales-to-Dealer at part number level from 01/01/2025 to separate stock movements from lost jobs.</a:t>
            </a:r>
            <a:endParaRPr lang="en-US" sz="820" dirty="0"/>
          </a:p>
        </p:txBody>
      </p:sp>
      <p:sp>
        <p:nvSpPr>
          <p:cNvPr id="39" name="Text 37"/>
          <p:cNvSpPr/>
          <p:nvPr/>
        </p:nvSpPr>
        <p:spPr>
          <a:xfrm>
            <a:off x="411480" y="632764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306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ISUZU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1828800" y="6391656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A7A9AC"/>
                </a:solidFill>
              </a:rPr>
              <a:t>Source: ISZE UMI Sales Review FY2027 Mode A, August 2026.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306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E1E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FY2027 YTD is budget-positive, but the comparison with last year is still negative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11155680" cy="0"/>
          </a:xfrm>
          <a:prstGeom prst="line">
            <a:avLst/>
          </a:prstGeom>
          <a:noFill/>
          <a:ln w="13970">
            <a:solidFill>
              <a:srgbClr val="E3061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92840" y="644652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7A9AC"/>
                </a:solidFill>
              </a:rPr>
              <a:t>03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953262" y="1925770"/>
            <a:ext cx="653796" cy="200615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1822" y="4005072"/>
            <a:ext cx="8366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5B5B5B"/>
                </a:solidFill>
              </a:rPr>
              <a:t>Actual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16102" y="1697170"/>
            <a:ext cx="9281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1E1E"/>
                </a:solidFill>
              </a:rPr>
              <a:t>€875K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141982" y="1971624"/>
            <a:ext cx="653796" cy="1960296"/>
          </a:xfrm>
          <a:prstGeom prst="rect">
            <a:avLst/>
          </a:prstGeom>
          <a:solidFill>
            <a:srgbClr val="A7A9AC"/>
          </a:solidFill>
          <a:ln w="12700">
            <a:solidFill>
              <a:srgbClr val="A7A9A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50542" y="4005072"/>
            <a:ext cx="8366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5B5B5B"/>
                </a:solidFill>
              </a:rPr>
              <a:t>Budget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2004822" y="1743024"/>
            <a:ext cx="9281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1E1E"/>
                </a:solidFill>
              </a:rPr>
              <a:t>€855K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330702" y="1650640"/>
            <a:ext cx="653796" cy="2281280"/>
          </a:xfrm>
          <a:prstGeom prst="rect">
            <a:avLst/>
          </a:prstGeom>
          <a:solidFill>
            <a:srgbClr val="D89B24"/>
          </a:solidFill>
          <a:ln w="12700">
            <a:solidFill>
              <a:srgbClr val="D89B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39262" y="4005072"/>
            <a:ext cx="8366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5B5B5B"/>
                </a:solidFill>
              </a:rPr>
              <a:t>Original BP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193542" y="1422040"/>
            <a:ext cx="9281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1E1E"/>
                </a:solidFill>
              </a:rPr>
              <a:t>€995K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519422" y="1600200"/>
            <a:ext cx="653796" cy="233172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27982" y="4005072"/>
            <a:ext cx="8366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5B5B5B"/>
                </a:solidFill>
              </a:rPr>
              <a:t>Last year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4382262" y="1371600"/>
            <a:ext cx="9281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1E1E"/>
                </a:solidFill>
              </a:rPr>
              <a:t>€1,017K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685800" y="3941064"/>
            <a:ext cx="4754880" cy="0"/>
          </a:xfrm>
          <a:prstGeom prst="line">
            <a:avLst/>
          </a:prstGeom>
          <a:noFill/>
          <a:ln w="10160">
            <a:solidFill>
              <a:srgbClr val="D9D9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12344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5B5B"/>
                </a:solidFill>
              </a:rPr>
              <a:t>Apr–Jul FY2027, EUR K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492240" y="138988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</a:rPr>
              <a:t>What I would say to UMI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92240" y="1874520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9D6D"/>
                </a:solidFill>
              </a:rPr>
              <a:t>•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702552" y="188366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</a:rPr>
              <a:t>The budget picture is acceptable: +2% versus current budget.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92240" y="2423160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0613"/>
                </a:solidFill>
              </a:rPr>
              <a:t>•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702552" y="243230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</a:rPr>
              <a:t>The YoY picture is not yet solved: -14% versus last year.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92240" y="2971800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30613"/>
                </a:solidFill>
              </a:rPr>
              <a:t>•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702552" y="298094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</a:rPr>
              <a:t>July needs explanation: -38% YoY, with Shell lubricants identified as a turnover gap into August.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92240" y="3630168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E1E"/>
                </a:solidFill>
              </a:rPr>
              <a:t>•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702552" y="363931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</a:rPr>
              <a:t>The conversation should move quickly from “what happened” to “which lever do we jointly pull first?”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11480" y="632764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306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ISUZU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828800" y="6391656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A7A9AC"/>
                </a:solidFill>
              </a:rPr>
              <a:t>Source: ISZE UMI Sales Review FY2027 Mode A, August 2026.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306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MIX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E1E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headline is not weak demand everywhere: commercial parts grew strongly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11155680" cy="0"/>
          </a:xfrm>
          <a:prstGeom prst="line">
            <a:avLst/>
          </a:prstGeom>
          <a:noFill/>
          <a:ln w="13970">
            <a:solidFill>
              <a:srgbClr val="E3061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92840" y="644652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7A9AC"/>
                </a:solidFill>
              </a:rPr>
              <a:t>04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658368" y="141732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E6E6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545336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5B5B5B"/>
                </a:solidFill>
              </a:rPr>
              <a:t>Commercial billing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22960" y="1828800"/>
            <a:ext cx="2414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A9D6D"/>
                </a:solidFill>
              </a:rPr>
              <a:t>€665K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2295144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5B5B"/>
                </a:solidFill>
              </a:rPr>
              <a:t>CY H1 2026, ex-warranty / campaign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3657600" y="141732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E6E6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22192" y="1545336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5B5B5B"/>
                </a:solidFill>
              </a:rPr>
              <a:t>Last year base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822192" y="1828800"/>
            <a:ext cx="2414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5B5B5B"/>
                </a:solidFill>
              </a:rPr>
              <a:t>€498K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822192" y="2295144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5B5B"/>
                </a:solidFill>
              </a:rPr>
              <a:t>CY H1 2025 equivalent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6656832" y="141732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E6E6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21424" y="1545336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5B5B5B"/>
                </a:solidFill>
              </a:rPr>
              <a:t>Growth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821424" y="1828800"/>
            <a:ext cx="2414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A9D6D"/>
                </a:solidFill>
              </a:rPr>
              <a:t>+33.6%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821424" y="2295144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5B5B"/>
                </a:solidFill>
              </a:rPr>
              <a:t>Commercial parts billing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685800" y="315468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1E1E"/>
                </a:solidFill>
              </a:rPr>
              <a:t>The problem is not the whole basket; the problem is where the basket is leaking.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85800" y="397764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FCE8EA"/>
          </a:solidFill>
          <a:ln w="10160">
            <a:solidFill>
              <a:srgbClr val="F2C4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11480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E1E1E"/>
                </a:solidFill>
              </a:rPr>
              <a:t>Lighting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22960" y="445312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E30613"/>
                </a:solidFill>
              </a:rPr>
              <a:t>-€19.1K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2960" y="475488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5B5B5B"/>
                </a:solidFill>
              </a:rPr>
              <a:t>-29%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474720" y="397764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FCE8EA"/>
          </a:solidFill>
          <a:ln w="10160">
            <a:solidFill>
              <a:srgbClr val="F2C4C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11880" y="411480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E1E1E"/>
                </a:solidFill>
              </a:rPr>
              <a:t>Hydraulic / mechanical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611880" y="445312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E30613"/>
                </a:solidFill>
              </a:rPr>
              <a:t>-€14.9K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611880" y="475488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5B5B5B"/>
                </a:solidFill>
              </a:rPr>
              <a:t>-35%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263640" y="397764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FCE8EA"/>
          </a:solidFill>
          <a:ln w="10160">
            <a:solidFill>
              <a:srgbClr val="F2C4C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411480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E1E1E"/>
                </a:solidFill>
              </a:rPr>
              <a:t>Filters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400800" y="445312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E30613"/>
                </a:solidFill>
              </a:rPr>
              <a:t>-€6.2K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00800" y="475488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5B5B5B"/>
                </a:solidFill>
              </a:rPr>
              <a:t>-27%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9052560" y="397764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AF6F0"/>
          </a:solidFill>
          <a:ln w="10160">
            <a:solidFill>
              <a:srgbClr val="BDE2D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89720" y="411480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E1E1E"/>
                </a:solidFill>
              </a:rPr>
              <a:t>Shell lubricants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9189720" y="445312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9D6D"/>
                </a:solidFill>
              </a:rPr>
              <a:t>+€135.1K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189720" y="475488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5B5B5B"/>
                </a:solidFill>
              </a:rPr>
              <a:t>new volume, now blocked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11480" y="632764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306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ISUZU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828800" y="6391656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A7A9AC"/>
                </a:solidFill>
              </a:rPr>
              <a:t>Source: ISZE UMI Sales Review FY2027 Mode A, August 2026.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306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OPPORTUNITIES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E1E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 the growth list as a repeatability discussion, not just a table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11155680" cy="0"/>
          </a:xfrm>
          <a:prstGeom prst="line">
            <a:avLst/>
          </a:prstGeom>
          <a:noFill/>
          <a:ln w="13970">
            <a:solidFill>
              <a:srgbClr val="E3061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92840" y="644652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7A9AC"/>
                </a:solidFill>
              </a:rPr>
              <a:t>05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918972" y="1600200"/>
            <a:ext cx="569976" cy="2468880"/>
          </a:xfrm>
          <a:prstGeom prst="rect">
            <a:avLst/>
          </a:prstGeom>
          <a:solidFill>
            <a:srgbClr val="1A9D6D"/>
          </a:solidFill>
          <a:ln w="12700">
            <a:solidFill>
              <a:srgbClr val="1A9D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7532" y="4142232"/>
            <a:ext cx="752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5B5B5B"/>
                </a:solidFill>
              </a:rPr>
              <a:t>Injector nozzle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B5B5B"/>
                </a:solidFill>
              </a:rPr>
              <a:t>8982601090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81812" y="1371600"/>
            <a:ext cx="844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1E1E"/>
                </a:solidFill>
              </a:rPr>
              <a:t>+€22.1K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955292" y="3354110"/>
            <a:ext cx="569976" cy="714970"/>
          </a:xfrm>
          <a:prstGeom prst="rect">
            <a:avLst/>
          </a:prstGeom>
          <a:solidFill>
            <a:srgbClr val="1A9D6D"/>
          </a:solidFill>
          <a:ln w="12700">
            <a:solidFill>
              <a:srgbClr val="1A9D6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63852" y="4142232"/>
            <a:ext cx="752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5B5B5B"/>
                </a:solidFill>
              </a:rPr>
              <a:t>Brake pad kit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B5B5B"/>
                </a:solidFill>
              </a:rPr>
              <a:t>5876150640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818132" y="3125510"/>
            <a:ext cx="844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1E1E"/>
                </a:solidFill>
              </a:rPr>
              <a:t>+€6.4K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991612" y="3544024"/>
            <a:ext cx="569976" cy="525056"/>
          </a:xfrm>
          <a:prstGeom prst="rect">
            <a:avLst/>
          </a:prstGeom>
          <a:solidFill>
            <a:srgbClr val="1A9D6D"/>
          </a:solidFill>
          <a:ln w="12700">
            <a:solidFill>
              <a:srgbClr val="1A9D6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00172" y="4142232"/>
            <a:ext cx="752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5B5B5B"/>
                </a:solidFill>
              </a:rPr>
              <a:t>Windshield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B5B5B"/>
                </a:solidFill>
              </a:rPr>
              <a:t>8978461132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2854452" y="3315424"/>
            <a:ext cx="844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1E1E"/>
                </a:solidFill>
              </a:rPr>
              <a:t>+€4.7K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027932" y="3611052"/>
            <a:ext cx="569976" cy="458028"/>
          </a:xfrm>
          <a:prstGeom prst="rect">
            <a:avLst/>
          </a:prstGeom>
          <a:solidFill>
            <a:srgbClr val="1A9D6D"/>
          </a:solidFill>
          <a:ln w="12700">
            <a:solidFill>
              <a:srgbClr val="1A9D6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36492" y="4142232"/>
            <a:ext cx="752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5B5B5B"/>
                </a:solidFill>
              </a:rPr>
              <a:t>RR comb lamp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B5B5B"/>
                </a:solidFill>
              </a:rPr>
              <a:t>8978248633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890772" y="3382452"/>
            <a:ext cx="844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1E1E"/>
                </a:solidFill>
              </a:rPr>
              <a:t>+€4.1K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064252" y="3622224"/>
            <a:ext cx="569976" cy="446856"/>
          </a:xfrm>
          <a:prstGeom prst="rect">
            <a:avLst/>
          </a:prstGeom>
          <a:solidFill>
            <a:srgbClr val="1A9D6D"/>
          </a:solidFill>
          <a:ln w="12700">
            <a:solidFill>
              <a:srgbClr val="1A9D6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72812" y="4142232"/>
            <a:ext cx="752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5B5B5B"/>
                </a:solidFill>
              </a:rPr>
              <a:t>Front bumper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B5B5B"/>
                </a:solidFill>
              </a:rPr>
              <a:t>7552172681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927092" y="3393624"/>
            <a:ext cx="844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1E1E"/>
                </a:solidFill>
              </a:rPr>
              <a:t>+€4.0K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6100572" y="3666910"/>
            <a:ext cx="569976" cy="402170"/>
          </a:xfrm>
          <a:prstGeom prst="rect">
            <a:avLst/>
          </a:prstGeom>
          <a:solidFill>
            <a:srgbClr val="1A9D6D"/>
          </a:solidFill>
          <a:ln w="12700">
            <a:solidFill>
              <a:srgbClr val="1A9D6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09132" y="4142232"/>
            <a:ext cx="752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5B5B5B"/>
                </a:solidFill>
              </a:rPr>
              <a:t>Radiator grille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B5B5B"/>
                </a:solidFill>
              </a:rPr>
              <a:t>7552070241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5963412" y="3438310"/>
            <a:ext cx="844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1E1E"/>
                </a:solidFill>
              </a:rPr>
              <a:t>+€3.6K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7543800" y="144475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</a:rPr>
              <a:t>Decision lens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406640" y="1828800"/>
            <a:ext cx="3886200" cy="914400"/>
          </a:xfrm>
          <a:prstGeom prst="roundRect">
            <a:avLst>
              <a:gd name="adj" fmla="val 9000"/>
            </a:avLst>
          </a:prstGeom>
          <a:solidFill>
            <a:srgbClr val="F5F5F2"/>
          </a:solidFill>
          <a:ln w="10160">
            <a:solidFill>
              <a:srgbClr val="E2E2E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571232" y="1993392"/>
            <a:ext cx="283464" cy="283464"/>
          </a:xfrm>
          <a:prstGeom prst="ellipse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71232" y="2034540"/>
            <a:ext cx="2834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1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7955280" y="1975104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E1E1E"/>
                </a:solidFill>
              </a:rPr>
              <a:t>Repeatable?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955280" y="2304288"/>
            <a:ext cx="315468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5B5B"/>
                </a:solidFill>
              </a:rPr>
              <a:t>Which lines reflect structural dealer demand rather than one-off accident or stock movements?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7406640" y="2971800"/>
            <a:ext cx="3886200" cy="914400"/>
          </a:xfrm>
          <a:prstGeom prst="roundRect">
            <a:avLst>
              <a:gd name="adj" fmla="val 9000"/>
            </a:avLst>
          </a:prstGeom>
          <a:solidFill>
            <a:srgbClr val="F5F5F2"/>
          </a:solidFill>
          <a:ln w="10160">
            <a:solidFill>
              <a:srgbClr val="E2E2E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571232" y="3136392"/>
            <a:ext cx="283464" cy="283464"/>
          </a:xfrm>
          <a:prstGeom prst="ellipse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71232" y="3177540"/>
            <a:ext cx="2834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2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7955280" y="3118104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E1E1E"/>
                </a:solidFill>
              </a:rPr>
              <a:t>Protectable?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955280" y="3447288"/>
            <a:ext cx="315468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5B5B"/>
                </a:solidFill>
              </a:rPr>
              <a:t>Which lines are most exposed to IAM or parallel sourcing if we do nothing?</a:t>
            </a:r>
            <a:endParaRPr lang="en-US" sz="820" dirty="0"/>
          </a:p>
        </p:txBody>
      </p:sp>
      <p:sp>
        <p:nvSpPr>
          <p:cNvPr id="36" name="Shape 34"/>
          <p:cNvSpPr/>
          <p:nvPr/>
        </p:nvSpPr>
        <p:spPr>
          <a:xfrm>
            <a:off x="7406640" y="4114800"/>
            <a:ext cx="3886200" cy="914400"/>
          </a:xfrm>
          <a:prstGeom prst="roundRect">
            <a:avLst>
              <a:gd name="adj" fmla="val 9000"/>
            </a:avLst>
          </a:prstGeom>
          <a:solidFill>
            <a:srgbClr val="F5F5F2"/>
          </a:solidFill>
          <a:ln w="10160">
            <a:solidFill>
              <a:srgbClr val="E2E2E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571232" y="4279392"/>
            <a:ext cx="283464" cy="283464"/>
          </a:xfrm>
          <a:prstGeom prst="ellipse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71232" y="4320540"/>
            <a:ext cx="2834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3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7955280" y="4261104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E1E1E"/>
                </a:solidFill>
              </a:rPr>
              <a:t>Actionable?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955280" y="4590288"/>
            <a:ext cx="315468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5B5B"/>
                </a:solidFill>
              </a:rPr>
              <a:t>Which lines can be supported through SPA, service packs or availability focus within 90 days?</a:t>
            </a:r>
            <a:endParaRPr lang="en-US" sz="820" dirty="0"/>
          </a:p>
        </p:txBody>
      </p:sp>
      <p:sp>
        <p:nvSpPr>
          <p:cNvPr id="41" name="Text 39"/>
          <p:cNvSpPr/>
          <p:nvPr/>
        </p:nvSpPr>
        <p:spPr>
          <a:xfrm>
            <a:off x="411480" y="632764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306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ISUZU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1828800" y="6391656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A7A9AC"/>
                </a:solidFill>
              </a:rPr>
              <a:t>Source: ISZE UMI Sales Review FY2027 Mode A, August 2026.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306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LEAKAGE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E1E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Three category gaps deserve a direct customer conversation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11155680" cy="0"/>
          </a:xfrm>
          <a:prstGeom prst="line">
            <a:avLst/>
          </a:prstGeom>
          <a:noFill/>
          <a:ln w="13970">
            <a:solidFill>
              <a:srgbClr val="E3061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92840" y="644652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7A9AC"/>
                </a:solidFill>
              </a:rPr>
              <a:t>06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594360" y="1417320"/>
            <a:ext cx="342900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417320"/>
            <a:ext cx="3429000" cy="9144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7190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1E1E"/>
                </a:solidFill>
              </a:rPr>
              <a:t>Lighting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04672" y="217627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30613"/>
                </a:solidFill>
              </a:rPr>
              <a:t>€66.5K → €47.3K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04672" y="2816352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B5B5B"/>
                </a:solidFill>
              </a:rPr>
              <a:t>Are lamps being sourced elsewhere by bodyshops?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04672" y="388620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E1E1E"/>
                </a:solidFill>
              </a:rPr>
              <a:t>Recommended first action: Lamps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343400" y="1417320"/>
            <a:ext cx="342900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43400" y="1417320"/>
            <a:ext cx="3429000" cy="9144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53712" y="17190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1E1E"/>
                </a:solidFill>
              </a:rPr>
              <a:t>Hydraulic / mechanical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53712" y="217627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30613"/>
                </a:solidFill>
              </a:rPr>
              <a:t>€43.1K → €28.2K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53712" y="2816352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B5B5B"/>
                </a:solidFill>
              </a:rPr>
              <a:t>Is this pricing, local sourcing or distributor stock timing?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53712" y="388620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E1E1E"/>
                </a:solidFill>
              </a:rPr>
              <a:t>Recommended first action: Pricing / availability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092440" y="1417320"/>
            <a:ext cx="342900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92440" y="1417320"/>
            <a:ext cx="3429000" cy="9144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02752" y="17190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1E1E"/>
                </a:solidFill>
              </a:rPr>
              <a:t>Filters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302752" y="217627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30613"/>
                </a:solidFill>
              </a:rPr>
              <a:t>€22.6K → €16.5K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302752" y="2816352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B5B5B"/>
                </a:solidFill>
              </a:rPr>
              <a:t>Are dealers stocking filters or ordering only job-by-job?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302752" y="388620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E1E1E"/>
                </a:solidFill>
              </a:rPr>
              <a:t>Recommended first action: Service pack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85800" y="525780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E1E1E"/>
                </a:solidFill>
              </a:rPr>
              <a:t>I would show fewer part numbers here. Keep the full PN detail in appendix; use the meeting page to decide what we do.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11480" y="632764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306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ISUZU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828800" y="6391656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A7A9AC"/>
                </a:solidFill>
              </a:rPr>
              <a:t>Source: ISZE UMI Sales Review FY2027 Mode A, August 2026.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306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GPS CAPTURE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E1E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54.2% capture rate leaves more than €2.1M of theoretical fleet potential outside ISZE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11155680" cy="0"/>
          </a:xfrm>
          <a:prstGeom prst="line">
            <a:avLst/>
          </a:prstGeom>
          <a:noFill/>
          <a:ln w="13970">
            <a:solidFill>
              <a:srgbClr val="E3061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92840" y="644652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7A9AC"/>
                </a:solidFill>
              </a:rPr>
              <a:t>07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6583680" cy="658368"/>
          </a:xfrm>
          <a:prstGeom prst="roundRect">
            <a:avLst>
              <a:gd name="adj" fmla="val 6944"/>
            </a:avLst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645920"/>
            <a:ext cx="3568355" cy="658368"/>
          </a:xfrm>
          <a:prstGeom prst="roundRect">
            <a:avLst>
              <a:gd name="adj" fmla="val 6944"/>
            </a:avLst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45059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5B5B"/>
                </a:solidFill>
              </a:rPr>
              <a:t>Captured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0" y="245059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5B5B"/>
                </a:solidFill>
              </a:rPr>
              <a:t>Uncaptured potential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41248" y="185623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€2.51M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17720" y="185623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E1E"/>
                </a:solidFill>
              </a:rPr>
              <a:t>€2.12M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909560" y="1417320"/>
            <a:ext cx="27889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E6E6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74152" y="1545336"/>
            <a:ext cx="2459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5B5B5B"/>
                </a:solidFill>
              </a:rPr>
              <a:t>Fleet potential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8074152" y="1828800"/>
            <a:ext cx="2459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1E1E"/>
                </a:solidFill>
              </a:rPr>
              <a:t>€4.636M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074152" y="2295144"/>
            <a:ext cx="2459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5B5B"/>
                </a:solidFill>
              </a:rPr>
              <a:t>18,542 vehicles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7909560" y="2788920"/>
            <a:ext cx="27889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E6E6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74152" y="2916936"/>
            <a:ext cx="2459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5B5B5B"/>
                </a:solidFill>
              </a:rPr>
              <a:t>Capture rate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8074152" y="3200400"/>
            <a:ext cx="2459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30613"/>
                </a:solidFill>
              </a:rPr>
              <a:t>54.2%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074152" y="3666744"/>
            <a:ext cx="2459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5B5B"/>
                </a:solidFill>
              </a:rPr>
              <a:t>FY2026 purchases vs CY2025 fleet potential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777240" y="3977640"/>
            <a:ext cx="6309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1E1E"/>
                </a:solidFill>
              </a:rPr>
              <a:t>Meeting question: which portion of the uncaptured potential is realistic to pursue through service-parts coverage, dealer standards and SPA?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11480" y="632764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306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ISUZU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828800" y="6391656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A7A9AC"/>
                </a:solidFill>
              </a:rPr>
              <a:t>Source: ISZE UMI Sales Review FY2027 Mode A, August 2026.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306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PARTS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E1E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Brake rotors and air filters should become the first service-parts pilots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11155680" cy="0"/>
          </a:xfrm>
          <a:prstGeom prst="line">
            <a:avLst/>
          </a:prstGeom>
          <a:noFill/>
          <a:ln w="13970">
            <a:solidFill>
              <a:srgbClr val="E3061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92840" y="644652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7A9AC"/>
                </a:solidFill>
              </a:rPr>
              <a:t>08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85800" y="1737360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E1E"/>
                </a:solidFill>
              </a:rPr>
              <a:t>Brake rotor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965960" y="1947672"/>
            <a:ext cx="6217920" cy="0"/>
          </a:xfrm>
          <a:prstGeom prst="line">
            <a:avLst/>
          </a:prstGeom>
          <a:noFill/>
          <a:ln w="25400">
            <a:solidFill>
              <a:srgbClr val="D9D9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58737" y="1874520"/>
            <a:ext cx="146304" cy="146304"/>
          </a:xfrm>
          <a:prstGeom prst="ellipse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257985" y="1874520"/>
            <a:ext cx="146304" cy="146304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03289" y="160020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30613"/>
                </a:solidFill>
              </a:rPr>
              <a:t>12.0%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102537" y="160020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1E1E"/>
                </a:solidFill>
              </a:rPr>
              <a:t>60.4%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85800" y="3246120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E1E"/>
                </a:solidFill>
              </a:rPr>
              <a:t>Air filter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965960" y="3456432"/>
            <a:ext cx="6217920" cy="0"/>
          </a:xfrm>
          <a:prstGeom prst="line">
            <a:avLst/>
          </a:prstGeom>
          <a:noFill/>
          <a:ln w="25400">
            <a:solidFill>
              <a:srgbClr val="D9D9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926956" y="3383280"/>
            <a:ext cx="146304" cy="146304"/>
          </a:xfrm>
          <a:prstGeom prst="ellipse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93792" y="3383280"/>
            <a:ext cx="146304" cy="146304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71508" y="31089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30613"/>
                </a:solidFill>
              </a:rPr>
              <a:t>22.9%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738344" y="31089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1E1E"/>
                </a:solidFill>
              </a:rPr>
              <a:t>56.3%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965960" y="4590288"/>
            <a:ext cx="118872" cy="118872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30552" y="456285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5B5B"/>
                </a:solidFill>
              </a:rPr>
              <a:t>UMI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611880" y="4590288"/>
            <a:ext cx="118872" cy="118872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76472" y="456285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5B5B"/>
                </a:solidFill>
              </a:rPr>
              <a:t>Network benchmark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8366760" y="1554480"/>
            <a:ext cx="2880360" cy="1005840"/>
          </a:xfrm>
          <a:prstGeom prst="roundRect">
            <a:avLst>
              <a:gd name="adj" fmla="val 8182"/>
            </a:avLst>
          </a:prstGeom>
          <a:solidFill>
            <a:srgbClr val="F5F5F2"/>
          </a:solidFill>
          <a:ln w="10160">
            <a:solidFill>
              <a:srgbClr val="E2E2E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31352" y="1719072"/>
            <a:ext cx="283464" cy="283464"/>
          </a:xfrm>
          <a:prstGeom prst="ellipse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31352" y="1760220"/>
            <a:ext cx="2834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1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8915400" y="1700784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E1E1E"/>
                </a:solidFill>
              </a:rPr>
              <a:t>Pick one pilot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915400" y="2029968"/>
            <a:ext cx="21488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5B5B"/>
                </a:solidFill>
              </a:rPr>
              <a:t>Start with brake rotor because the gap is larger and the benchmark is clear.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8366760" y="2788920"/>
            <a:ext cx="2880360" cy="1005840"/>
          </a:xfrm>
          <a:prstGeom prst="roundRect">
            <a:avLst>
              <a:gd name="adj" fmla="val 8182"/>
            </a:avLst>
          </a:prstGeom>
          <a:solidFill>
            <a:srgbClr val="F5F5F2"/>
          </a:solidFill>
          <a:ln w="10160">
            <a:solidFill>
              <a:srgbClr val="E2E2E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531352" y="2953512"/>
            <a:ext cx="283464" cy="283464"/>
          </a:xfrm>
          <a:prstGeom prst="ellipse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31352" y="2994660"/>
            <a:ext cx="2834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2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8915400" y="2935224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E1E1E"/>
                </a:solidFill>
              </a:rPr>
              <a:t>Bundle the offer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915400" y="3264408"/>
            <a:ext cx="21488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5B5B"/>
                </a:solidFill>
              </a:rPr>
              <a:t>Build a service-pack logic around filters + oil, or a rotor/pad proposition.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8366760" y="4023360"/>
            <a:ext cx="2880360" cy="1005840"/>
          </a:xfrm>
          <a:prstGeom prst="roundRect">
            <a:avLst>
              <a:gd name="adj" fmla="val 8182"/>
            </a:avLst>
          </a:prstGeom>
          <a:solidFill>
            <a:srgbClr val="F5F5F2"/>
          </a:solidFill>
          <a:ln w="10160">
            <a:solidFill>
              <a:srgbClr val="E2E2E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531352" y="4187952"/>
            <a:ext cx="283464" cy="283464"/>
          </a:xfrm>
          <a:prstGeom prst="ellipse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31352" y="4229100"/>
            <a:ext cx="2834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3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8915400" y="4169664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E1E1E"/>
                </a:solidFill>
              </a:rPr>
              <a:t>Measure monthly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8915400" y="4498848"/>
            <a:ext cx="21488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5B5B"/>
                </a:solidFill>
              </a:rPr>
              <a:t>Use part-level Sales-to-Dealer to see if dealer sell-through follows purchases.</a:t>
            </a:r>
            <a:endParaRPr lang="en-US" sz="820" dirty="0"/>
          </a:p>
        </p:txBody>
      </p:sp>
      <p:sp>
        <p:nvSpPr>
          <p:cNvPr id="38" name="Text 36"/>
          <p:cNvSpPr/>
          <p:nvPr/>
        </p:nvSpPr>
        <p:spPr>
          <a:xfrm>
            <a:off x="411480" y="632764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306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ISUZU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828800" y="6391656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A7A9AC"/>
                </a:solidFill>
              </a:rPr>
              <a:t>Source: ISZE UMI Sales Review FY2027 Mode A, August 2026.</a:t>
            </a:r>
            <a:endParaRPr lang="en-US" sz="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306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DEALER CAPABILITY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E1E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IDS shows a dealer-management opportunity, not only a sales issue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11155680" cy="0"/>
          </a:xfrm>
          <a:prstGeom prst="line">
            <a:avLst/>
          </a:prstGeom>
          <a:noFill/>
          <a:ln w="13970">
            <a:solidFill>
              <a:srgbClr val="E3061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92840" y="644652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7A9AC"/>
                </a:solidFill>
              </a:rPr>
              <a:t>09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40080" y="139903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5B5B"/>
                </a:solidFill>
              </a:rPr>
              <a:t>Kfir Yaud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514600" y="1399032"/>
            <a:ext cx="5886907" cy="210312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0" y="139903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1E1E"/>
                </a:solidFill>
              </a:rPr>
              <a:t>69.6%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640080" y="183794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5B5B"/>
                </a:solidFill>
              </a:rPr>
              <a:t>Eden Garage Rishon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514600" y="1837944"/>
            <a:ext cx="5802325" cy="210312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18320" y="1837944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1E1E"/>
                </a:solidFill>
              </a:rPr>
              <a:t>68.6%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640080" y="227685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5B5B"/>
                </a:solidFill>
              </a:rPr>
              <a:t>Tel Hanan Haifa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514600" y="2276856"/>
            <a:ext cx="5802325" cy="210312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18320" y="2276856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1E1E"/>
                </a:solidFill>
              </a:rPr>
              <a:t>68.6%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640080" y="271576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E1E1E"/>
                </a:solidFill>
              </a:rPr>
              <a:t>UMI average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514600" y="2715768"/>
            <a:ext cx="5151044" cy="210312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18320" y="271576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1E1E"/>
                </a:solidFill>
              </a:rPr>
              <a:t>60.9%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640080" y="315468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E1E1E"/>
                </a:solidFill>
              </a:rPr>
              <a:t>Network avg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514600" y="3154680"/>
            <a:ext cx="6326734" cy="210312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18320" y="3154680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1E1E"/>
                </a:solidFill>
              </a:rPr>
              <a:t>74.8%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640080" y="359359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5B5B"/>
                </a:solidFill>
              </a:rPr>
              <a:t>Asayag Jerusalem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514600" y="3593592"/>
            <a:ext cx="3746983" cy="210312"/>
          </a:xfrm>
          <a:prstGeom prst="rect">
            <a:avLst/>
          </a:prstGeom>
          <a:solidFill>
            <a:srgbClr val="B6B6B6"/>
          </a:solidFill>
          <a:ln w="12700">
            <a:solidFill>
              <a:srgbClr val="B6B6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418320" y="359359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1E1E"/>
                </a:solidFill>
              </a:rPr>
              <a:t>44.3%</a:t>
            </a:r>
            <a:endParaRPr lang="en-US" sz="780" dirty="0"/>
          </a:p>
        </p:txBody>
      </p:sp>
      <p:sp>
        <p:nvSpPr>
          <p:cNvPr id="25" name="Text 23"/>
          <p:cNvSpPr/>
          <p:nvPr/>
        </p:nvSpPr>
        <p:spPr>
          <a:xfrm>
            <a:off x="640080" y="403250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5B5B"/>
                </a:solidFill>
              </a:rPr>
              <a:t>Ram Raanana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514600" y="4032504"/>
            <a:ext cx="3653942" cy="210312"/>
          </a:xfrm>
          <a:prstGeom prst="rect">
            <a:avLst/>
          </a:prstGeom>
          <a:solidFill>
            <a:srgbClr val="B6B6B6"/>
          </a:solidFill>
          <a:ln w="12700">
            <a:solidFill>
              <a:srgbClr val="B6B6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418320" y="4032504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1E1E"/>
                </a:solidFill>
              </a:rPr>
              <a:t>43.2%</a:t>
            </a:r>
            <a:endParaRPr lang="en-US" sz="780" dirty="0"/>
          </a:p>
        </p:txBody>
      </p:sp>
      <p:sp>
        <p:nvSpPr>
          <p:cNvPr id="28" name="Text 26"/>
          <p:cNvSpPr/>
          <p:nvPr/>
        </p:nvSpPr>
        <p:spPr>
          <a:xfrm>
            <a:off x="640080" y="447141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5B5B"/>
                </a:solidFill>
              </a:rPr>
              <a:t>Zarfati Jerusalem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514600" y="4471416"/>
            <a:ext cx="3324073" cy="210312"/>
          </a:xfrm>
          <a:prstGeom prst="rect">
            <a:avLst/>
          </a:prstGeom>
          <a:solidFill>
            <a:srgbClr val="B6B6B6"/>
          </a:solidFill>
          <a:ln w="12700">
            <a:solidFill>
              <a:srgbClr val="B6B6B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18320" y="4471416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1E1E"/>
                </a:solidFill>
              </a:rPr>
              <a:t>39.3%</a:t>
            </a:r>
            <a:endParaRPr lang="en-US" sz="780" dirty="0"/>
          </a:p>
        </p:txBody>
      </p:sp>
      <p:sp>
        <p:nvSpPr>
          <p:cNvPr id="31" name="Text 29"/>
          <p:cNvSpPr/>
          <p:nvPr/>
        </p:nvSpPr>
        <p:spPr>
          <a:xfrm>
            <a:off x="7498080" y="52303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0613"/>
                </a:solidFill>
              </a:rPr>
              <a:t>13.9 pts below network average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58368" y="553212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</a:rPr>
              <a:t>The spread matters: top dealers are close to the benchmark, while the bottom dealers pull the national average down.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11480" y="632764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306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ISUZU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828800" y="6391656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A7A9AC"/>
                </a:solidFill>
              </a:rPr>
              <a:t>Source: ISZE UMI Sales Review FY2027 Mode A, August 2026.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306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FY2027 TARGET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E1E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target bridge is modest versus BP, but it is built on a smaller fleet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11155680" cy="0"/>
          </a:xfrm>
          <a:prstGeom prst="line">
            <a:avLst/>
          </a:prstGeom>
          <a:noFill/>
          <a:ln w="13970">
            <a:solidFill>
              <a:srgbClr val="E3061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92840" y="644652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7A9AC"/>
                </a:solidFill>
              </a:rPr>
              <a:t>10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1106424" y="2325273"/>
            <a:ext cx="804672" cy="1560927"/>
          </a:xfrm>
          <a:prstGeom prst="rect">
            <a:avLst/>
          </a:prstGeom>
          <a:solidFill>
            <a:srgbClr val="A7A9AC"/>
          </a:solidFill>
          <a:ln w="12700">
            <a:solidFill>
              <a:srgbClr val="A7A9A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14984" y="3959352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5B5B5B"/>
                </a:solidFill>
              </a:rPr>
              <a:t>BP / actual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B5B5B"/>
                </a:solidFill>
              </a:rPr>
              <a:t>FY27 base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969264" y="2096673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1E1E"/>
                </a:solidFill>
              </a:rPr>
              <a:t>€2.973M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569464" y="2283795"/>
            <a:ext cx="804672" cy="1602405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78024" y="3959352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5B5B5B"/>
                </a:solidFill>
              </a:rPr>
              <a:t>Target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2432304" y="2055195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1E1E"/>
                </a:solidFill>
              </a:rPr>
              <a:t>€3.052M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032504" y="1600200"/>
            <a:ext cx="804672" cy="228600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41064" y="3959352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5B5B5B"/>
                </a:solidFill>
              </a:rPr>
              <a:t>Market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B5B5B"/>
                </a:solidFill>
              </a:rPr>
              <a:t>potential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895344" y="1371600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1E1E"/>
                </a:solidFill>
              </a:rPr>
              <a:t>€4.354M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989320" y="13898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</a:rPr>
              <a:t>Target composition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897880" y="1783080"/>
            <a:ext cx="4754880" cy="841248"/>
          </a:xfrm>
          <a:prstGeom prst="roundRect">
            <a:avLst>
              <a:gd name="adj" fmla="val 9783"/>
            </a:avLst>
          </a:prstGeom>
          <a:solidFill>
            <a:srgbClr val="F5F5F2"/>
          </a:solidFill>
          <a:ln w="10160">
            <a:solidFill>
              <a:srgbClr val="E2E2E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62472" y="1947672"/>
            <a:ext cx="283464" cy="283464"/>
          </a:xfrm>
          <a:prstGeom prst="ellipse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62472" y="1988820"/>
            <a:ext cx="2834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1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6446520" y="192938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E1E1E"/>
                </a:solidFill>
              </a:rPr>
              <a:t>Base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46520" y="2258568"/>
            <a:ext cx="40233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5B5B"/>
                </a:solidFill>
              </a:rPr>
              <a:t>Business Plan / actual FY27 base: €2,973,279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5897880" y="2788920"/>
            <a:ext cx="4754880" cy="841248"/>
          </a:xfrm>
          <a:prstGeom prst="roundRect">
            <a:avLst>
              <a:gd name="adj" fmla="val 9783"/>
            </a:avLst>
          </a:prstGeom>
          <a:solidFill>
            <a:srgbClr val="F5F5F2"/>
          </a:solidFill>
          <a:ln w="10160">
            <a:solidFill>
              <a:srgbClr val="E2E2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62472" y="2953512"/>
            <a:ext cx="283464" cy="283464"/>
          </a:xfrm>
          <a:prstGeom prst="ellipse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62472" y="2994660"/>
            <a:ext cx="2834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2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6446520" y="293522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E1E1E"/>
                </a:solidFill>
              </a:rPr>
              <a:t>Stretch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46520" y="3264408"/>
            <a:ext cx="40233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5B5B"/>
                </a:solidFill>
              </a:rPr>
              <a:t>1.8% of market potential: €78,373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5897880" y="3794760"/>
            <a:ext cx="4754880" cy="841248"/>
          </a:xfrm>
          <a:prstGeom prst="roundRect">
            <a:avLst>
              <a:gd name="adj" fmla="val 9783"/>
            </a:avLst>
          </a:prstGeom>
          <a:solidFill>
            <a:srgbClr val="F5F5F2"/>
          </a:solidFill>
          <a:ln w="10160">
            <a:solidFill>
              <a:srgbClr val="E2E2E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62472" y="3959352"/>
            <a:ext cx="283464" cy="283464"/>
          </a:xfrm>
          <a:prstGeom prst="ellipse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62472" y="4000500"/>
            <a:ext cx="2834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3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6446520" y="394106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E1E1E"/>
                </a:solidFill>
              </a:rPr>
              <a:t>Locked extended target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446520" y="4270248"/>
            <a:ext cx="40233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5B5B"/>
                </a:solidFill>
              </a:rPr>
              <a:t>€3,051,652 from GPS Extended Target V3.1</a:t>
            </a:r>
            <a:endParaRPr lang="en-US" sz="820" dirty="0"/>
          </a:p>
        </p:txBody>
      </p:sp>
      <p:sp>
        <p:nvSpPr>
          <p:cNvPr id="32" name="Text 30"/>
          <p:cNvSpPr/>
          <p:nvPr/>
        </p:nvSpPr>
        <p:spPr>
          <a:xfrm>
            <a:off x="822960" y="4983480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1E1E"/>
                </a:solidFill>
              </a:rPr>
              <a:t>Customer framing: this is not a “growth story” from fleet expansion. It is a recovery / capture plan despite a -7.4% fleet estimate.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11480" y="632764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306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ISUZU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828800" y="6391656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A7A9AC"/>
                </a:solidFill>
              </a:rPr>
              <a:t>Source: ISZE UMI Sales Review FY2027 Mode A, August 2026.</a:t>
            </a:r>
            <a:endParaRPr lang="en-US" sz="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306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JOINT PLAN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E1E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End the customer meeting with four clear workstreams and owners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11155680" cy="0"/>
          </a:xfrm>
          <a:prstGeom prst="line">
            <a:avLst/>
          </a:prstGeom>
          <a:noFill/>
          <a:ln w="13970">
            <a:solidFill>
              <a:srgbClr val="E3061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92840" y="644652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7A9AC"/>
                </a:solidFill>
              </a:rPr>
              <a:t>11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31520" y="1417320"/>
            <a:ext cx="347472" cy="347472"/>
          </a:xfrm>
          <a:prstGeom prst="ellipse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485900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234440" y="139903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E1E"/>
                </a:solidFill>
              </a:rPr>
              <a:t>Lubricants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46120" y="1417320"/>
            <a:ext cx="7360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B5B5B"/>
                </a:solidFill>
              </a:rPr>
              <a:t>Close Shell price agreement; confirm restart timing and any temporary leakage.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05256" y="1828800"/>
            <a:ext cx="0" cy="50292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2404872"/>
            <a:ext cx="347472" cy="347472"/>
          </a:xfrm>
          <a:prstGeom prst="ellipse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473452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234440" y="2386584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E1E"/>
                </a:solidFill>
              </a:rPr>
              <a:t>Service-parts pilot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46120" y="2404872"/>
            <a:ext cx="7360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B5B5B"/>
                </a:solidFill>
              </a:rPr>
              <a:t>Pick brake rotor or air filter as the first joint recovery category.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05256" y="2816352"/>
            <a:ext cx="0" cy="50292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3392424"/>
            <a:ext cx="347472" cy="347472"/>
          </a:xfrm>
          <a:prstGeom prst="ellipse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461004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234440" y="3374136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E1E"/>
                </a:solidFill>
              </a:rPr>
              <a:t>SPA list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46120" y="3392424"/>
            <a:ext cx="7360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B5B5B"/>
                </a:solidFill>
              </a:rPr>
              <a:t>UMI submits target list; ISZE counters with network data and margin logic.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05256" y="3803904"/>
            <a:ext cx="0" cy="50292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4379976"/>
            <a:ext cx="347472" cy="347472"/>
          </a:xfrm>
          <a:prstGeom prst="ellipse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4448556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234440" y="436168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E1E"/>
                </a:solidFill>
              </a:rPr>
              <a:t>Sales-to-Dealer data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46120" y="4379976"/>
            <a:ext cx="7360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B5B5B"/>
                </a:solidFill>
              </a:rPr>
              <a:t>Monthly part-level data from 01/01/2025 to support factual targets and SPA.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49808" y="5504688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</a:rPr>
              <a:t>This structure makes the meeting easier to close: fewer slides, clearer decisions, and a direct link between UMI’s asks and ISZE’s support.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11480" y="632764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3061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ISUZU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828800" y="6391656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A7A9AC"/>
                </a:solidFill>
              </a:rPr>
              <a:t>Source: ISZE UMI Sales Review FY2027 Mode A, August 2026.</a:t>
            </a:r>
            <a:endParaRPr lang="en-US" sz="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66360" y="294436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30613"/>
                </a:solidFill>
              </a:rPr>
              <a:t>ISUZU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965192" y="331012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7A9AC"/>
                </a:solidFill>
              </a:rPr>
              <a:t>Moving the World – for You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ISZE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UMI Sales Review &amp; FY2027 Target</dc:title>
  <dc:subject>UMI Sales Review customer-facing redesign</dc:subject>
  <dc:creator>OpenAI</dc:creator>
  <cp:lastModifiedBy>OpenAI</cp:lastModifiedBy>
  <cp:revision>1</cp:revision>
  <dcterms:created xsi:type="dcterms:W3CDTF">2026-09-19T09:52:46Z</dcterms:created>
  <dcterms:modified xsi:type="dcterms:W3CDTF">2026-09-19T09:52:46Z</dcterms:modified>
</cp:coreProperties>
</file>