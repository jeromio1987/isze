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D719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719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999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CCC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DDDD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Actual</c:v>
                  </c:pt>
                  <c:pt idx="1">
                    <c:v>Budget</c:v>
                  </c:pt>
                  <c:pt idx="2">
                    <c:v>LY</c:v>
                  </c:pt>
                  <c:pt idx="3">
                    <c:v>Orig BP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875</c:v>
                </c:pt>
                <c:pt idx="1">
                  <c:v>855</c:v>
                </c:pt>
                <c:pt idx="2">
                  <c:v>1017</c:v>
                </c:pt>
                <c:pt idx="3">
                  <c:v>995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studio_product_shot_scene_with_a.png">    </p:cNvPr>
          <p:cNvPicPr>
            <a:picLocks noChangeAspect="1"/>
          </p:cNvPicPr>
          <p:nvPr/>
        </p:nvPicPr>
        <p:blipFill>
          <a:blip r:embed="rId1"/>
          <a:srcRect l="0" r="0" t="16639" b="16639"/>
          <a:stretch/>
        </p:blipFill>
        <p:spPr>
          <a:xfrm>
            <a:off x="502920" y="1920240"/>
            <a:ext cx="1120140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plan. Three moves.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94360" y="126187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UMI target, channel capture and the parts data needed to act.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6" name="Text 3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€875k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1399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FY2027 YTD sales are slightly ahead of budget, but below last year.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852160" y="118872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2788920"/>
            <a:ext cx="32004" cy="8686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9264" y="28072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budget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969264" y="30632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+2%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971800" y="2788920"/>
            <a:ext cx="32004" cy="8686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18104" y="28072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LY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3118104" y="30632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-14%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12" name="Text 9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cleanest opportunity is service retention.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gaps that dealers can understand.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2004" cy="10972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3441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Brake rotor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923544" y="1600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23544" y="19842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60.4%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3429000" y="1325880"/>
            <a:ext cx="32004" cy="10972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75304" y="13441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filter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3575304" y="1600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22.9%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75304" y="19842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56.3%</a:t>
            </a:r>
            <a:endParaRPr lang="en-US" sz="780" dirty="0"/>
          </a:p>
        </p:txBody>
      </p:sp>
      <p:pic>
        <p:nvPicPr>
          <p:cNvPr id="12" name="Image 0" descr="/mnt/data/a_high_end_commercial_vehicle_and_automotive_parts.png">    </p:cNvPr>
          <p:cNvPicPr>
            <a:picLocks noChangeAspect="1"/>
          </p:cNvPicPr>
          <p:nvPr/>
        </p:nvPicPr>
        <p:blipFill>
          <a:blip r:embed="rId1"/>
          <a:srcRect l="15683" r="15683" t="0" b="0"/>
          <a:stretch/>
        </p:blipFill>
        <p:spPr>
          <a:xfrm>
            <a:off x="6400800" y="1234440"/>
            <a:ext cx="4572000" cy="3749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30632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 average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26080" y="3099816"/>
            <a:ext cx="1920240" cy="91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26080" y="3099816"/>
            <a:ext cx="1563404" cy="9144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30358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60.9%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22960" y="3657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 capture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926080" y="3694176"/>
            <a:ext cx="1920240" cy="91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926080" y="3694176"/>
            <a:ext cx="1040770" cy="9144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83480" y="36301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54.2%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22" name="Text 19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 for less. Decide more.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customer commitments replace a long diagnostic meeting.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05840" y="1234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Meeting outcome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1737360"/>
            <a:ext cx="210312" cy="210312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673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Shell price hold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05840" y="2249424"/>
            <a:ext cx="210312" cy="210312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185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first service-parts pilot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05840" y="2761488"/>
            <a:ext cx="210312" cy="210312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SPA counter-list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3273552"/>
            <a:ext cx="210312" cy="210312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2095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Sales-to-Dealer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75120" y="1325880"/>
            <a:ext cx="32004" cy="1143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1424" y="13441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6821424" y="16002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€3.05m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21424" y="19842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FY2027 extended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6675120" y="2788920"/>
            <a:ext cx="32004" cy="1143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21424" y="28072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6821424" y="30632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monthly PN level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21424" y="34472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Jan 2025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22" name="Text 20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ISZE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Isuzu UMI - Apple Keynote Style Prototype</dc:title>
  <dc:subject>Style prototype: Apple Keynote</dc:subject>
  <dc:creator>OpenAI</dc:creator>
  <cp:lastModifiedBy>OpenAI</cp:lastModifiedBy>
  <cp:revision>1</cp:revision>
  <dcterms:created xsi:type="dcterms:W3CDTF">2026-09-19T11:04:56Z</dcterms:created>
  <dcterms:modified xsi:type="dcterms:W3CDTF">2026-09-19T11:04:56Z</dcterms:modified>
</cp:coreProperties>
</file>