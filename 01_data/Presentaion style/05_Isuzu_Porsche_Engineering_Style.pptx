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8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B00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Lighting</c:v>
                  </c:pt>
                  <c:pt idx="1">
                    <c:v>Hydraulic</c:v>
                  </c:pt>
                  <c:pt idx="2">
                    <c:v>Filters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-29</c:v>
                </c:pt>
                <c:pt idx="1">
                  <c:v>-35</c:v>
                </c:pt>
                <c:pt idx="2">
                  <c:v>-27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A6258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A6258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9C8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8A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002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2025 fleet</c:v>
                  </c:pt>
                  <c:pt idx="1">
                    <c:v>2026 est.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18.542</c:v>
                </c:pt>
                <c:pt idx="1">
                  <c:v>17.161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A6258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A6258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9C8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8A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002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0002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BP</c:v>
                  </c:pt>
                  <c:pt idx="1">
                    <c:v>Stretch</c:v>
                  </c:pt>
                  <c:pt idx="2">
                    <c:v>Target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2.973</c:v>
                </c:pt>
                <c:pt idx="1">
                  <c:v>0.078</c:v>
                </c:pt>
                <c:pt idx="2">
                  <c:v>3.052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A6258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A6258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end_commercial_vehicle_and_automotive_parts.png">    </p:cNvPr>
          <p:cNvPicPr>
            <a:picLocks noChangeAspect="1"/>
          </p:cNvPicPr>
          <p:nvPr/>
        </p:nvPicPr>
        <p:blipFill>
          <a:blip r:embed="rId1"/>
          <a:srcRect l="17251" r="17251" t="0" b="0"/>
          <a:stretch/>
        </p:blipFill>
        <p:spPr>
          <a:xfrm>
            <a:off x="5440680" y="502920"/>
            <a:ext cx="6172200" cy="5303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6400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 parts. Protected margin. Stronger network.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94360" y="17647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engineering interpretation of the UMI customer review.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85800" y="2788920"/>
            <a:ext cx="32004" cy="100584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" y="2807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832104" y="30632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€3.05m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32104" y="3447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FY2027 extended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2926080" y="2788920"/>
            <a:ext cx="32004" cy="100584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72384" y="2807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3072384" y="30632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54.2%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3072384" y="3447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value case is engineered from specific components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discuss “parts” generically; show the exact systems where the network is losing repeat service.</a:t>
            </a:r>
            <a:endParaRPr lang="en-US" sz="950" dirty="0"/>
          </a:p>
        </p:txBody>
      </p:sp>
      <p:pic>
        <p:nvPicPr>
          <p:cNvPr id="4" name="Image 0" descr="/mnt/data/a_clean_minimal_studio_product_shot_scene_with_a.png">    </p:cNvPr>
          <p:cNvPicPr>
            <a:picLocks noChangeAspect="1"/>
          </p:cNvPicPr>
          <p:nvPr/>
        </p:nvPicPr>
        <p:blipFill>
          <a:blip r:embed="rId1"/>
          <a:srcRect l="5658" r="5658" t="0" b="0"/>
          <a:stretch/>
        </p:blipFill>
        <p:spPr>
          <a:xfrm>
            <a:off x="685800" y="1234440"/>
            <a:ext cx="475488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234440"/>
            <a:ext cx="32004" cy="118872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81344" y="12527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Brake rotor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6181344" y="15087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12.0%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181344" y="189280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60.4% network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8412480" y="1234440"/>
            <a:ext cx="32004" cy="118872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58784" y="12527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 filter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8558784" y="15087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22.9%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558784" y="189280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56.3% network</a:t>
            </a:r>
            <a:endParaRPr lang="en-US" sz="78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035040" y="3063240"/>
          <a:ext cx="443484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15" name="Text 11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smaller fleet makes quality of capture more important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logic: fleet decline, price move, and controlled stretch.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325880"/>
          <a:ext cx="4572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325880"/>
          <a:ext cx="4389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7" name="Text 3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customer promise: disciplined, measurable, premium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conversation at engineering-quality level: fewer requests, clearer specifications.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1280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specification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210312" cy="210312"/>
          </a:xfrm>
          <a:prstGeom prst="ellipse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Shell price hold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2295144"/>
            <a:ext cx="210312" cy="210312"/>
          </a:xfrm>
          <a:prstGeom prst="ellipse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2311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first service-parts pilot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2807208"/>
            <a:ext cx="210312" cy="210312"/>
          </a:xfrm>
          <a:prstGeom prst="ellipse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743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SPA counter-list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3319272"/>
            <a:ext cx="210312" cy="210312"/>
          </a:xfrm>
          <a:prstGeom prst="ellipse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2552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Sales-to-Dealer data</a:t>
            </a:r>
            <a:endParaRPr lang="en-US" sz="1150" dirty="0"/>
          </a:p>
        </p:txBody>
      </p:sp>
      <p:pic>
        <p:nvPicPr>
          <p:cNvPr id="13" name="Image 0" descr="/mnt/data/a_high_end_commercial_vehicle_and_automotive_parts.png">    </p:cNvPr>
          <p:cNvPicPr>
            <a:picLocks noChangeAspect="1"/>
          </p:cNvPicPr>
          <p:nvPr/>
        </p:nvPicPr>
        <p:blipFill>
          <a:blip r:embed="rId1"/>
          <a:srcRect l="14186" r="14186" t="0" b="0"/>
          <a:stretch/>
        </p:blipFill>
        <p:spPr>
          <a:xfrm>
            <a:off x="6309360" y="1143000"/>
            <a:ext cx="4480560" cy="35204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15" name="Text 12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A62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ISZE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Isuzu UMI - Porsche Premium Engineering Style Prototype</dc:title>
  <dc:subject>Style prototype: Porsche Premium Engineering</dc:subject>
  <dc:creator>OpenAI</dc:creator>
  <cp:lastModifiedBy>OpenAI</cp:lastModifiedBy>
  <cp:revision>1</cp:revision>
  <dcterms:created xsi:type="dcterms:W3CDTF">2026-09-19T11:04:57Z</dcterms:created>
  <dcterms:modified xsi:type="dcterms:W3CDTF">2026-09-19T11:04:57Z</dcterms:modified>
</cp:coreProperties>
</file>