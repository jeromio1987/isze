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54B6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4B6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7A8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CY2025 fleet</c:v>
                  </c:pt>
                  <c:pt idx="1">
                    <c:v>End-2026 est.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18.542</c:v>
                </c:pt>
                <c:pt idx="1">
                  <c:v>17.161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7C5CF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7C5CF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54B6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4B6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7A8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7A8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BP base</c:v>
                  </c:pt>
                  <c:pt idx="1">
                    <c:v>Stretch</c:v>
                  </c:pt>
                  <c:pt idx="2">
                    <c:v>Target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2.973</c:v>
                </c:pt>
                <c:pt idx="1">
                  <c:v>0.078</c:v>
                </c:pt>
                <c:pt idx="2">
                  <c:v>3.052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7C5CF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7C5CF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high_detail_infographic_visuali.png">    </p:cNvPr>
          <p:cNvPicPr>
            <a:picLocks noChangeAspect="1"/>
          </p:cNvPicPr>
          <p:nvPr/>
        </p:nvPicPr>
        <p:blipFill>
          <a:blip r:embed="rId1"/>
          <a:srcRect l="21126" r="21126" t="0" b="0"/>
          <a:stretch/>
        </p:blipFill>
        <p:spPr>
          <a:xfrm>
            <a:off x="6126480" y="640080"/>
            <a:ext cx="5394960" cy="5257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486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Investment thesis: defend the genuine-parts channel before the fleet contracts further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94360" y="19476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BlackRock-style macro view of UMI: demand base, capture gap, and execution priorities.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2926080"/>
            <a:ext cx="32004" cy="960120"/>
          </a:xfrm>
          <a:prstGeom prst="rect">
            <a:avLst/>
          </a:prstGeom>
          <a:solidFill>
            <a:srgbClr val="54B6C7"/>
          </a:solidFill>
          <a:ln w="12700">
            <a:solidFill>
              <a:srgbClr val="54B6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" y="29443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Fleet outlook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877824" y="32004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54B6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-7.4%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35844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end-2026 estimate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3246120" y="2926080"/>
            <a:ext cx="32004" cy="960120"/>
          </a:xfrm>
          <a:prstGeom prst="rect">
            <a:avLst/>
          </a:prstGeom>
          <a:solidFill>
            <a:srgbClr val="F7A800"/>
          </a:solidFill>
          <a:ln w="12700">
            <a:solidFill>
              <a:srgbClr val="F7A8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92424" y="29443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3392424" y="32004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A8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€3.05m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392424" y="35844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extended FY2027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target is not a growth story; it is a capture story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UMI target rises while the vehicle parc is expected to decline.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325880"/>
          <a:ext cx="5029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0" y="1325880"/>
          <a:ext cx="4754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7" name="Text 3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dashboard: four items determine whether the plan is credible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analysis should become an execution checklist.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2004" cy="1005840"/>
          </a:xfrm>
          <a:prstGeom prst="rect">
            <a:avLst/>
          </a:prstGeom>
          <a:solidFill>
            <a:srgbClr val="F7A800"/>
          </a:solidFill>
          <a:ln w="12700">
            <a:solidFill>
              <a:srgbClr val="F7A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34416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Shell price hold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923544" y="16002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A8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gap into Aug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23544" y="1984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Priority: High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5989320" y="1325880"/>
            <a:ext cx="3200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35624" y="134416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Brake rotor gap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6135624" y="16002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12.0% capture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35624" y="1984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Priority: High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777240" y="2743200"/>
            <a:ext cx="3200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276148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 spread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923544" y="3017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30pt dealer range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3544" y="3401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Priority: Medium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989320" y="2743200"/>
            <a:ext cx="3200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276148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Std data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6135624" y="3017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PN-level dealer view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35624" y="34015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Priority: High</a:t>
            </a:r>
            <a:endParaRPr lang="en-US" sz="780" dirty="0"/>
          </a:p>
        </p:txBody>
      </p:sp>
      <p:pic>
        <p:nvPicPr>
          <p:cNvPr id="20" name="Image 0" descr="/mnt/data/a_clean_modern_data_analytics_dashboard_visualiza.png">    </p:cNvPr>
          <p:cNvPicPr>
            <a:picLocks noChangeAspect="1"/>
          </p:cNvPicPr>
          <p:nvPr/>
        </p:nvPicPr>
        <p:blipFill>
          <a:blip r:embed="rId1"/>
          <a:srcRect l="0" r="0" t="27790" b="27790"/>
          <a:stretch/>
        </p:blipFill>
        <p:spPr>
          <a:xfrm>
            <a:off x="6675120" y="4343400"/>
            <a:ext cx="4389120" cy="10972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2" name="Text 19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stance: agree a staged plan, not a single number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UMI a target and a small set of controllable actions.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priorities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210312" cy="210312"/>
          </a:xfrm>
          <a:prstGeom prst="ellipse">
            <a:avLst/>
          </a:prstGeom>
          <a:solidFill>
            <a:srgbClr val="F7A800"/>
          </a:solidFill>
          <a:ln w="12700">
            <a:solidFill>
              <a:srgbClr val="F7A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8562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Shell price hold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432304"/>
            <a:ext cx="210312" cy="210312"/>
          </a:xfrm>
          <a:prstGeom prst="ellipse">
            <a:avLst/>
          </a:prstGeom>
          <a:solidFill>
            <a:srgbClr val="F7A800"/>
          </a:solidFill>
          <a:ln w="12700">
            <a:solidFill>
              <a:srgbClr val="F7A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3682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first service-parts pilot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944368"/>
            <a:ext cx="210312" cy="210312"/>
          </a:xfrm>
          <a:prstGeom prst="ellipse">
            <a:avLst/>
          </a:prstGeom>
          <a:solidFill>
            <a:srgbClr val="F7A800"/>
          </a:solidFill>
          <a:ln w="12700">
            <a:solidFill>
              <a:srgbClr val="F7A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880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SPA counter-list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456432"/>
            <a:ext cx="210312" cy="210312"/>
          </a:xfrm>
          <a:prstGeom prst="ellipse">
            <a:avLst/>
          </a:prstGeom>
          <a:solidFill>
            <a:srgbClr val="F7A800"/>
          </a:solidFill>
          <a:ln w="12700">
            <a:solidFill>
              <a:srgbClr val="F7A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3924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Sales-to-Dealer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1417320"/>
            <a:ext cx="32004" cy="1051560"/>
          </a:xfrm>
          <a:prstGeom prst="rect">
            <a:avLst/>
          </a:prstGeom>
          <a:solidFill>
            <a:srgbClr val="54B6C7"/>
          </a:solidFill>
          <a:ln w="12700">
            <a:solidFill>
              <a:srgbClr val="54B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8544" y="14356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case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6638544" y="16916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4B6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accepted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38544" y="2075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provided incentive and data logic are aligned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492240" y="2788920"/>
            <a:ext cx="32004" cy="1051560"/>
          </a:xfrm>
          <a:prstGeom prst="rect">
            <a:avLst/>
          </a:prstGeom>
          <a:solidFill>
            <a:srgbClr val="F7A800"/>
          </a:solidFill>
          <a:ln w="12700">
            <a:solidFill>
              <a:srgbClr val="F7A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28072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Upside case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6638544" y="30632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A8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 + service pilot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38544" y="34472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captures fast movers and service items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492240" y="4160520"/>
            <a:ext cx="32004" cy="1051560"/>
          </a:xfrm>
          <a:prstGeom prst="rect">
            <a:avLst/>
          </a:prstGeom>
          <a:solidFill>
            <a:srgbClr val="F7A800"/>
          </a:solidFill>
          <a:ln w="12700">
            <a:solidFill>
              <a:srgbClr val="F7A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38544" y="41788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case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6638544" y="44348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Shell unresolved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38544" y="48188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pattern continues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6" name="Text 24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B7C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ISZE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 UMI - BlackRock Investment Institute Style Prototype</dc:title>
  <dc:subject>Style prototype: BlackRock Investment Institute</dc:subject>
  <dc:creator>OpenAI</dc:creator>
  <cp:lastModifiedBy>OpenAI</cp:lastModifiedBy>
  <cp:revision>1</cp:revision>
  <dcterms:created xsi:type="dcterms:W3CDTF">2026-09-19T11:04:56Z</dcterms:created>
  <dcterms:modified xsi:type="dcterms:W3CDTF">2026-09-19T11:04:56Z</dcterms:modified>
</cp:coreProperties>
</file>