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00E0FF"/>
            </a:solidFill>
            <a:ln w="25400" cap="flat">
              <a:solidFill>
                <a:srgbClr val="00E0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E0FF"/>
              </a:solidFill>
              <a:ln w="9525" cap="flat">
                <a:solidFill>
                  <a:srgbClr val="00E0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</c:v>
                </c:pt>
                <c:pt idx="1">
                  <c:v>101</c:v>
                </c:pt>
                <c:pt idx="2">
                  <c:v>103</c:v>
                </c:pt>
                <c:pt idx="3">
                  <c:v>102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4415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C9D1D9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4415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C9D1D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FF1E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Rotor UMI</c:v>
                  </c:pt>
                  <c:pt idx="1">
                    <c:v>Rotor net</c:v>
                  </c:pt>
                  <c:pt idx="2">
                    <c:v>Air UMI</c:v>
                  </c:pt>
                  <c:pt idx="3">
                    <c:v>Air net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60.4</c:v>
                </c:pt>
                <c:pt idx="2">
                  <c:v>22.9</c:v>
                </c:pt>
                <c:pt idx="3">
                  <c:v>56.3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4415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C9D1D9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4415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C9D1D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0E0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Top dealer</c:v>
                  </c:pt>
                  <c:pt idx="1">
                    <c:v>UMI avg</c:v>
                  </c:pt>
                  <c:pt idx="2">
                    <c:v>Low dealer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69.6</c:v>
                </c:pt>
                <c:pt idx="1">
                  <c:v>60.9</c:v>
                </c:pt>
                <c:pt idx="2">
                  <c:v>39.3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4415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C9D1D9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4415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C9D1D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chart" Target="/ppt/charts/chart1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inematic_futuristic_high_tech_scene_a_white.png">    </p:cNvPr>
          <p:cNvPicPr>
            <a:picLocks noChangeAspect="1"/>
          </p:cNvPicPr>
          <p:nvPr/>
        </p:nvPicPr>
        <p:blipFill>
          <a:blip r:embed="rId1"/>
          <a:srcRect l="0" r="0" t="12835" b="12835"/>
          <a:stretch/>
        </p:blipFill>
        <p:spPr>
          <a:xfrm>
            <a:off x="365760" y="411480"/>
            <a:ext cx="11475720" cy="4800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4132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UMI PERFORMANCE TELEMETRY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48640" y="579729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lost lap time in GPS, service parts and dealer execution.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C9D1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6" name="Text 3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C9D1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Telemetry board: target line versus current pace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UMI is ahead of budget but not yet at the pace implied by original BP and service potential.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77240" y="141732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417320"/>
            <a:ext cx="32004" cy="960120"/>
          </a:xfrm>
          <a:prstGeom prst="rect">
            <a:avLst/>
          </a:prstGeom>
          <a:solidFill>
            <a:srgbClr val="00E0FF"/>
          </a:solidFill>
          <a:ln w="12700">
            <a:solidFill>
              <a:srgbClr val="00E0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47104" y="14356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C9D1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pace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6547104" y="1691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E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+2%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0" y="1417320"/>
            <a:ext cx="32004" cy="960120"/>
          </a:xfrm>
          <a:prstGeom prst="rect">
            <a:avLst/>
          </a:prstGeom>
          <a:solidFill>
            <a:srgbClr val="FF1E1E"/>
          </a:solidFill>
          <a:ln w="12700">
            <a:solidFill>
              <a:srgbClr val="FF1E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75904" y="14356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C9D1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LY pace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8375904" y="1691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-14%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0058400" y="1417320"/>
            <a:ext cx="32004" cy="960120"/>
          </a:xfrm>
          <a:prstGeom prst="rect">
            <a:avLst/>
          </a:prstGeom>
          <a:solidFill>
            <a:srgbClr val="FF1E1E"/>
          </a:solidFill>
          <a:ln w="12700">
            <a:solidFill>
              <a:srgbClr val="FF1E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04704" y="14356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C9D1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</a:t>
            </a:r>
            <a:endParaRPr lang="en-US" sz="760" dirty="0"/>
          </a:p>
        </p:txBody>
      </p:sp>
      <p:sp>
        <p:nvSpPr>
          <p:cNvPr id="13" name="Text 10"/>
          <p:cNvSpPr/>
          <p:nvPr/>
        </p:nvSpPr>
        <p:spPr>
          <a:xfrm>
            <a:off x="10204704" y="16916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-38%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537960" y="3154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 capture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641080" y="3191256"/>
            <a:ext cx="1371600" cy="91440"/>
          </a:xfrm>
          <a:prstGeom prst="rect">
            <a:avLst/>
          </a:prstGeom>
          <a:solidFill>
            <a:srgbClr val="2A3745"/>
          </a:solidFill>
          <a:ln w="12700">
            <a:solidFill>
              <a:srgbClr val="2A374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41080" y="3191256"/>
            <a:ext cx="743407" cy="91440"/>
          </a:xfrm>
          <a:prstGeom prst="rect">
            <a:avLst/>
          </a:prstGeom>
          <a:solidFill>
            <a:srgbClr val="FF1E1E"/>
          </a:solidFill>
          <a:ln w="12700">
            <a:solidFill>
              <a:srgbClr val="FF1E1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149840" y="3127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54.2%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537960" y="37490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 avg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641080" y="3785616"/>
            <a:ext cx="1371600" cy="91440"/>
          </a:xfrm>
          <a:prstGeom prst="rect">
            <a:avLst/>
          </a:prstGeom>
          <a:solidFill>
            <a:srgbClr val="2A3745"/>
          </a:solidFill>
          <a:ln w="12700">
            <a:solidFill>
              <a:srgbClr val="2A374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641080" y="3785616"/>
            <a:ext cx="1116717" cy="91440"/>
          </a:xfrm>
          <a:prstGeom prst="rect">
            <a:avLst/>
          </a:prstGeom>
          <a:solidFill>
            <a:srgbClr val="FF1E1E"/>
          </a:solidFill>
          <a:ln w="12700">
            <a:solidFill>
              <a:srgbClr val="FF1E1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149840" y="37216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60.9%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C9D1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23" name="Text 20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C9D1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Lost lap time: service parts and IDS spread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recovery path is not a generic sales push; it is targeted category recovery.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325880"/>
          <a:ext cx="4389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26480" y="1325880"/>
          <a:ext cx="4572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C9D1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7" name="Text 3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C9D1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Pit-stop plan: four changes before the next lap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diagnosis into a race plan with owners and timing.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Pit-stop actions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10312" cy="210312"/>
          </a:xfrm>
          <a:prstGeom prst="ellipse">
            <a:avLst/>
          </a:prstGeom>
          <a:solidFill>
            <a:srgbClr val="FF1E1E"/>
          </a:solidFill>
          <a:ln w="12700">
            <a:solidFill>
              <a:srgbClr val="FF1E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7647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Shell price hold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340864"/>
            <a:ext cx="210312" cy="210312"/>
          </a:xfrm>
          <a:prstGeom prst="ellipse">
            <a:avLst/>
          </a:prstGeom>
          <a:solidFill>
            <a:srgbClr val="FF1E1E"/>
          </a:solidFill>
          <a:ln w="12700">
            <a:solidFill>
              <a:srgbClr val="FF1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2768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first service-parts pilot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852928"/>
            <a:ext cx="210312" cy="210312"/>
          </a:xfrm>
          <a:prstGeom prst="ellipse">
            <a:avLst/>
          </a:prstGeom>
          <a:solidFill>
            <a:srgbClr val="FF1E1E"/>
          </a:solidFill>
          <a:ln w="12700">
            <a:solidFill>
              <a:srgbClr val="FF1E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788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SPA counter-list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364992"/>
            <a:ext cx="210312" cy="210312"/>
          </a:xfrm>
          <a:prstGeom prst="ellipse">
            <a:avLst/>
          </a:prstGeom>
          <a:solidFill>
            <a:srgbClr val="FF1E1E"/>
          </a:solidFill>
          <a:ln w="12700">
            <a:solidFill>
              <a:srgbClr val="FF1E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3009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Sales-to-Dealer data</a:t>
            </a:r>
            <a:endParaRPr lang="en-US" sz="1150" dirty="0"/>
          </a:p>
        </p:txBody>
      </p:sp>
      <p:pic>
        <p:nvPicPr>
          <p:cNvPr id="13" name="Image 0" descr="/mnt/data/a_wide_cinematic_sci_fi_control_room_mission_con.png">    </p:cNvPr>
          <p:cNvPicPr>
            <a:picLocks noChangeAspect="1"/>
          </p:cNvPicPr>
          <p:nvPr/>
        </p:nvPicPr>
        <p:blipFill>
          <a:blip r:embed="rId1"/>
          <a:srcRect l="11698" r="11698" t="0" b="0"/>
          <a:stretch/>
        </p:blipFill>
        <p:spPr>
          <a:xfrm>
            <a:off x="6309360" y="1280160"/>
            <a:ext cx="4480560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C9D1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15" name="Text 12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C9D1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ISZE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Isuzu UMI - F1 Telemetry Style Prototype</dc:title>
  <dc:subject>Style prototype: F1 Telemetry</dc:subject>
  <dc:creator>OpenAI</dc:creator>
  <cp:lastModifiedBy>OpenAI</cp:lastModifiedBy>
  <cp:revision>1</cp:revision>
  <dcterms:created xsi:type="dcterms:W3CDTF">2026-09-19T11:04:57Z</dcterms:created>
  <dcterms:modified xsi:type="dcterms:W3CDTF">2026-09-19T11:04:57Z</dcterms:modified>
</cp:coreProperties>
</file>