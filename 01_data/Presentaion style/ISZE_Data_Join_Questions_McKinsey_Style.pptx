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D737A"/>
                </a:solidFill>
                <a:latin typeface="Calibri"/>
              </a:rPr>
              <a:t>ISZE  |  INTERNAL STRATEGY PROTOTYPE  |  McKINSEY / BCG STYLE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How should ISZE turn new UIO, warehouse, planning and sales data into one monthly decision set?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100584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Issue-led question pack. Same substance as the magazine version. Different management packaging.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572000"/>
            <a:ext cx="10789920" cy="1371600"/>
          </a:xfrm>
          <a:prstGeom prst="rect">
            <a:avLst/>
          </a:prstGeom>
          <a:solidFill>
            <a:srgbClr val="F2F5F8"/>
          </a:solidFill>
          <a:ln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754880"/>
            <a:ext cx="103327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Governing idea: four layers only create value when they force a ranked market × family action with euro, fleet and owner.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D737A"/>
                </a:solidFill>
                <a:latin typeface="Calibri"/>
              </a:rPr>
              <a:t>Issue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0B1F3A"/>
                </a:solidFill>
                <a:latin typeface="Calibri"/>
              </a:rPr>
              <a:t>The management problem decomposes into seven questions — not seven reports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411480" cy="4114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91640"/>
            <a:ext cx="320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20116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D737A"/>
                </a:solidFill>
                <a:latin typeface="Calibri"/>
              </a:rPr>
              <a:t>Why this meeting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645920"/>
            <a:ext cx="8229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We finally have four layers that can talk to each other. Which questions are we willing to answer every month?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86000"/>
            <a:ext cx="411480" cy="4114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331720"/>
            <a:ext cx="320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286000"/>
            <a:ext cx="20116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D737A"/>
                </a:solidFill>
                <a:latin typeface="Calibri"/>
              </a:rPr>
              <a:t>Fleet truth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286000"/>
            <a:ext cx="8229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Whose trucks are we stocking for — and at which real annual distance?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926080"/>
            <a:ext cx="411480" cy="4114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971800"/>
            <a:ext cx="320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926080"/>
            <a:ext cx="20116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D737A"/>
                </a:solidFill>
                <a:latin typeface="Calibri"/>
              </a:rPr>
              <a:t>Warehouse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926080"/>
            <a:ext cx="8229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Is 84% warehouse occupation the right full — or the wrong parts?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66159"/>
            <a:ext cx="411480" cy="4114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611879"/>
            <a:ext cx="320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566159"/>
            <a:ext cx="20116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D737A"/>
                </a:solidFill>
                <a:latin typeface="Calibri"/>
              </a:rPr>
              <a:t>Planning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566159"/>
            <a:ext cx="8229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Are we replenishing the leakage — or the real service demand?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206240"/>
            <a:ext cx="411480" cy="4114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4251959"/>
            <a:ext cx="320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206240"/>
            <a:ext cx="20116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D737A"/>
                </a:solidFill>
                <a:latin typeface="Calibri"/>
              </a:rPr>
              <a:t>Sales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4206240"/>
            <a:ext cx="8229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Where does billed euro diverge from expected service demand per truck?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846320"/>
            <a:ext cx="411480" cy="4114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892040"/>
            <a:ext cx="320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846320"/>
            <a:ext cx="20116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D737A"/>
                </a:solidFill>
                <a:latin typeface="Calibri"/>
              </a:rPr>
              <a:t>The join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4846320"/>
            <a:ext cx="8229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Which market fails the UIO × warehouse MOS × sales capture test first?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486399"/>
            <a:ext cx="411480" cy="4114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5532119"/>
            <a:ext cx="320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5486399"/>
            <a:ext cx="20116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D737A"/>
                </a:solidFill>
                <a:latin typeface="Calibri"/>
              </a:rPr>
              <a:t>Operating cadence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5486399"/>
            <a:ext cx="8229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What do Planning, Warehouse and Sales each own by the next monthly close?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D737A"/>
                </a:solidFill>
                <a:latin typeface="Calibri"/>
              </a:rPr>
              <a:t>Why this meeting  |  Question 1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We finally have four layers that can talk to each other. Which questions are we willing to answer every month?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UIO (trucks in service) · Warehouse stock &amp; space · Planning replenishment · Sales billed euro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394960" cy="1508760"/>
          </a:xfrm>
          <a:prstGeom prst="rect">
            <a:avLst/>
          </a:prstGeom>
          <a:solidFill>
            <a:srgbClr val="F2F5F8"/>
          </a:solidFill>
          <a:ln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109728" cy="1508760"/>
          </a:xfrm>
          <a:prstGeom prst="rect">
            <a:avLst/>
          </a:prstGeom>
          <a:solidFill>
            <a:srgbClr val="0D7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1.  UIO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97480"/>
            <a:ext cx="48463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How many trucks, which weight class, which measured km/year?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194560"/>
            <a:ext cx="5394960" cy="1508760"/>
          </a:xfrm>
          <a:prstGeom prst="rect">
            <a:avLst/>
          </a:prstGeom>
          <a:solidFill>
            <a:srgbClr val="F2F5F8"/>
          </a:solidFill>
          <a:ln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2194560"/>
            <a:ext cx="109728" cy="1508760"/>
          </a:xfrm>
          <a:prstGeom prst="rect">
            <a:avLst/>
          </a:prstGeom>
          <a:solidFill>
            <a:srgbClr val="0D7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33172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2.  Warehouse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97480"/>
            <a:ext cx="48463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What sits in Aartselaar, at what MOS, at what fill?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86200"/>
            <a:ext cx="5394960" cy="1508760"/>
          </a:xfrm>
          <a:prstGeom prst="rect">
            <a:avLst/>
          </a:prstGeom>
          <a:solidFill>
            <a:srgbClr val="F2F5F8"/>
          </a:solidFill>
          <a:ln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886200"/>
            <a:ext cx="109728" cy="1508760"/>
          </a:xfrm>
          <a:prstGeom prst="rect">
            <a:avLst/>
          </a:prstGeom>
          <a:solidFill>
            <a:srgbClr val="0D7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3.  Planning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48463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What did we order from Japan / Thailand against that base?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886200"/>
            <a:ext cx="5394960" cy="1508760"/>
          </a:xfrm>
          <a:prstGeom prst="rect">
            <a:avLst/>
          </a:prstGeom>
          <a:solidFill>
            <a:srgbClr val="F2F5F8"/>
          </a:solidFill>
          <a:ln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886200"/>
            <a:ext cx="109728" cy="1508760"/>
          </a:xfrm>
          <a:prstGeom prst="rect">
            <a:avLst/>
          </a:prstGeom>
          <a:solidFill>
            <a:srgbClr val="0D7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02336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4.  Sales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389120"/>
            <a:ext cx="48463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What did distributors actually buy from ISZE?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989320"/>
            <a:ext cx="10881360" cy="5943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080760"/>
            <a:ext cx="105156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Decision required: name the owner, the market, and the first service family before the next close.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D737A"/>
                </a:solidFill>
                <a:latin typeface="Calibri"/>
              </a:rPr>
              <a:t>Fleet truth  |  Question 2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Whose trucks are we stocking for — and at which real annual distance?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A flat 20,000 km assumption no longer survives the measured mileage 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394960" cy="1508760"/>
          </a:xfrm>
          <a:prstGeom prst="rect">
            <a:avLst/>
          </a:prstGeom>
          <a:solidFill>
            <a:srgbClr val="F2F5F8"/>
          </a:solidFill>
          <a:ln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109728" cy="1508760"/>
          </a:xfrm>
          <a:prstGeom prst="rect">
            <a:avLst/>
          </a:prstGeom>
          <a:solidFill>
            <a:srgbClr val="0D7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1.  N35 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97480"/>
            <a:ext cx="48463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Measured ~12k km/yr on warranty odometer — does our service model still pretend 20k?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194560"/>
            <a:ext cx="5394960" cy="1508760"/>
          </a:xfrm>
          <a:prstGeom prst="rect">
            <a:avLst/>
          </a:prstGeom>
          <a:solidFill>
            <a:srgbClr val="F2F5F8"/>
          </a:solidFill>
          <a:ln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2194560"/>
            <a:ext cx="109728" cy="1508760"/>
          </a:xfrm>
          <a:prstGeom prst="rect">
            <a:avLst/>
          </a:prstGeom>
          <a:solidFill>
            <a:srgbClr val="0D7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33172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2.  N75 class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97480"/>
            <a:ext cx="48463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Measured ~35k km/yr — which markets should we re-rate first?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86200"/>
            <a:ext cx="5394960" cy="1508760"/>
          </a:xfrm>
          <a:prstGeom prst="rect">
            <a:avLst/>
          </a:prstGeom>
          <a:solidFill>
            <a:srgbClr val="F2F5F8"/>
          </a:solidFill>
          <a:ln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886200"/>
            <a:ext cx="109728" cy="1508760"/>
          </a:xfrm>
          <a:prstGeom prst="rect">
            <a:avLst/>
          </a:prstGeom>
          <a:solidFill>
            <a:srgbClr val="0D7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3.  F-series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48463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Measured ~45k km/yr — are F-series parts plans still on the light-truck clock?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886200"/>
            <a:ext cx="5394960" cy="1508760"/>
          </a:xfrm>
          <a:prstGeom prst="rect">
            <a:avLst/>
          </a:prstGeom>
          <a:solidFill>
            <a:srgbClr val="F2F5F8"/>
          </a:solidFill>
          <a:ln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886200"/>
            <a:ext cx="109728" cy="1508760"/>
          </a:xfrm>
          <a:prstGeom prst="rect">
            <a:avLst/>
          </a:prstGeom>
          <a:solidFill>
            <a:srgbClr val="0D7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02336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4.  ITUK vs UTI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389120"/>
            <a:ext cx="48463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UK measured mileage contradicts the old 50k assumption; UTI roughly matches. Who owns the correction?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989320"/>
            <a:ext cx="10881360" cy="5943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080760"/>
            <a:ext cx="105156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Decision required: name the owner, the market, and the first service family before the next close.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D737A"/>
                </a:solidFill>
                <a:latin typeface="Calibri"/>
              </a:rPr>
              <a:t>Warehouse  |  Question 3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Is 84% warehouse occupation the right full — or the wrong parts?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Company profile: Unit 1 79% · Unit 2 94% · Unit 3 59% · 392 containers in the year.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394960" cy="1508760"/>
          </a:xfrm>
          <a:prstGeom prst="rect">
            <a:avLst/>
          </a:prstGeom>
          <a:solidFill>
            <a:srgbClr val="F2F5F8"/>
          </a:solidFill>
          <a:ln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109728" cy="1508760"/>
          </a:xfrm>
          <a:prstGeom prst="rect">
            <a:avLst/>
          </a:prstGeom>
          <a:solidFill>
            <a:srgbClr val="0D7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1.  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97480"/>
            <a:ext cx="48463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If Unit 2 is 94% full, which slow movers are buying us congestion?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194560"/>
            <a:ext cx="5394960" cy="1508760"/>
          </a:xfrm>
          <a:prstGeom prst="rect">
            <a:avLst/>
          </a:prstGeom>
          <a:solidFill>
            <a:srgbClr val="F2F5F8"/>
          </a:solidFill>
          <a:ln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2194560"/>
            <a:ext cx="109728" cy="1508760"/>
          </a:xfrm>
          <a:prstGeom prst="rect">
            <a:avLst/>
          </a:prstGeom>
          <a:solidFill>
            <a:srgbClr val="0D7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33172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2.  Inbound mix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97480"/>
            <a:ext cx="48463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IMIT vs ISZJ vs IAS containers: which lane grew while sales families did not?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86200"/>
            <a:ext cx="5394960" cy="1508760"/>
          </a:xfrm>
          <a:prstGeom prst="rect">
            <a:avLst/>
          </a:prstGeom>
          <a:solidFill>
            <a:srgbClr val="F2F5F8"/>
          </a:solidFill>
          <a:ln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886200"/>
            <a:ext cx="109728" cy="1508760"/>
          </a:xfrm>
          <a:prstGeom prst="rect">
            <a:avLst/>
          </a:prstGeom>
          <a:solidFill>
            <a:srgbClr val="0D7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3.  MOS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48463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Which distributors sit fat on MOS while GPS capture stays thin?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886200"/>
            <a:ext cx="5394960" cy="1508760"/>
          </a:xfrm>
          <a:prstGeom prst="rect">
            <a:avLst/>
          </a:prstGeom>
          <a:solidFill>
            <a:srgbClr val="F2F5F8"/>
          </a:solidFill>
          <a:ln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886200"/>
            <a:ext cx="109728" cy="1508760"/>
          </a:xfrm>
          <a:prstGeom prst="rect">
            <a:avLst/>
          </a:prstGeom>
          <a:solidFill>
            <a:srgbClr val="0D7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02336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4.  EV battery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389120"/>
            <a:ext cx="48463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Nissin 3PL started Dec 2025 — what space and planning rules did we freeze for HV packs?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989320"/>
            <a:ext cx="10881360" cy="5943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080760"/>
            <a:ext cx="105156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Decision required: name the owner, the market, and the first service family before the next close.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D737A"/>
                </a:solidFill>
                <a:latin typeface="Calibri"/>
              </a:rPr>
              <a:t>Planning  |  Question 4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Are we replenishing the leakage — or the real service demand?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Weekly stock orders to IML / IMIT · sea transit 35–45 days (new route) · SAP replenishment tools.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394960" cy="1508760"/>
          </a:xfrm>
          <a:prstGeom prst="rect">
            <a:avLst/>
          </a:prstGeom>
          <a:solidFill>
            <a:srgbClr val="F2F5F8"/>
          </a:solidFill>
          <a:ln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109728" cy="1508760"/>
          </a:xfrm>
          <a:prstGeom prst="rect">
            <a:avLst/>
          </a:prstGeom>
          <a:solidFill>
            <a:srgbClr val="0D7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1.  Lead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97480"/>
            <a:ext cx="48463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When capture is weak, do we still order as if fill-rate were the only KPI?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194560"/>
            <a:ext cx="5394960" cy="1508760"/>
          </a:xfrm>
          <a:prstGeom prst="rect">
            <a:avLst/>
          </a:prstGeom>
          <a:solidFill>
            <a:srgbClr val="F2F5F8"/>
          </a:solidFill>
          <a:ln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2194560"/>
            <a:ext cx="109728" cy="1508760"/>
          </a:xfrm>
          <a:prstGeom prst="rect">
            <a:avLst/>
          </a:prstGeom>
          <a:solidFill>
            <a:srgbClr val="0D7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33172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2.  Interchange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97480"/>
            <a:ext cx="48463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Where does interchangeability hide dead stock behind a live PN?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86200"/>
            <a:ext cx="5394960" cy="1508760"/>
          </a:xfrm>
          <a:prstGeom prst="rect">
            <a:avLst/>
          </a:prstGeom>
          <a:solidFill>
            <a:srgbClr val="F2F5F8"/>
          </a:solidFill>
          <a:ln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886200"/>
            <a:ext cx="109728" cy="1508760"/>
          </a:xfrm>
          <a:prstGeom prst="rect">
            <a:avLst/>
          </a:prstGeom>
          <a:solidFill>
            <a:srgbClr val="0D7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3.  Back orders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48463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Which BO ageing is a planning miss versus a Japan / Thailand supply miss?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886200"/>
            <a:ext cx="5394960" cy="1508760"/>
          </a:xfrm>
          <a:prstGeom prst="rect">
            <a:avLst/>
          </a:prstGeom>
          <a:solidFill>
            <a:srgbClr val="F2F5F8"/>
          </a:solidFill>
          <a:ln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886200"/>
            <a:ext cx="109728" cy="1508760"/>
          </a:xfrm>
          <a:prstGeom prst="rect">
            <a:avLst/>
          </a:prstGeom>
          <a:solidFill>
            <a:srgbClr val="0D7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02336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4.  Genuine share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389120"/>
            <a:ext cx="48463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MTBP asks for genuine share up — does the replenishment list still over-serve BVP-friendly lines?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989320"/>
            <a:ext cx="10881360" cy="5943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080760"/>
            <a:ext cx="105156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Decision required: name the owner, the market, and the first service family before the next close.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D737A"/>
                </a:solidFill>
                <a:latin typeface="Calibri"/>
              </a:rPr>
              <a:t>Sales  |  Question 5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Where does billed euro diverge from expected service demand per truck?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Lead with euro and family against fleet — never with bare piece counts.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394960" cy="1508760"/>
          </a:xfrm>
          <a:prstGeom prst="rect">
            <a:avLst/>
          </a:prstGeom>
          <a:solidFill>
            <a:srgbClr val="F2F5F8"/>
          </a:solidFill>
          <a:ln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109728" cy="1508760"/>
          </a:xfrm>
          <a:prstGeom prst="rect">
            <a:avLst/>
          </a:prstGeom>
          <a:solidFill>
            <a:srgbClr val="0D7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1.  GPS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97480"/>
            <a:ext cx="48463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Which distributor × family has the largest euro gap per vehicle in service?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194560"/>
            <a:ext cx="5394960" cy="1508760"/>
          </a:xfrm>
          <a:prstGeom prst="rect">
            <a:avLst/>
          </a:prstGeom>
          <a:solidFill>
            <a:srgbClr val="F2F5F8"/>
          </a:solidFill>
          <a:ln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2194560"/>
            <a:ext cx="109728" cy="1508760"/>
          </a:xfrm>
          <a:prstGeom prst="rect">
            <a:avLst/>
          </a:prstGeom>
          <a:solidFill>
            <a:srgbClr val="0D7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33172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2.  PMS total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97480"/>
            <a:ext cx="48463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Are we reading total capture first, or still leading with genuine-only?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86200"/>
            <a:ext cx="5394960" cy="1508760"/>
          </a:xfrm>
          <a:prstGeom prst="rect">
            <a:avLst/>
          </a:prstGeom>
          <a:solidFill>
            <a:srgbClr val="F2F5F8"/>
          </a:solidFill>
          <a:ln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886200"/>
            <a:ext cx="109728" cy="1508760"/>
          </a:xfrm>
          <a:prstGeom prst="rect">
            <a:avLst/>
          </a:prstGeom>
          <a:solidFill>
            <a:srgbClr val="0D7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3.  Order urgency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48463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SOR / VOR / RUSH mix: is urgency a customer habit or an availability failure?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886200"/>
            <a:ext cx="5394960" cy="1508760"/>
          </a:xfrm>
          <a:prstGeom prst="rect">
            <a:avLst/>
          </a:prstGeom>
          <a:solidFill>
            <a:srgbClr val="F2F5F8"/>
          </a:solidFill>
          <a:ln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886200"/>
            <a:ext cx="109728" cy="1508760"/>
          </a:xfrm>
          <a:prstGeom prst="rect">
            <a:avLst/>
          </a:prstGeom>
          <a:solidFill>
            <a:srgbClr val="0D7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02336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4.  SPA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389120"/>
            <a:ext cx="48463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Which markets need a price agreement before planning can stop chasing phantom demand?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989320"/>
            <a:ext cx="10881360" cy="5943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080760"/>
            <a:ext cx="105156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Decision required: name the owner, the market, and the first service family before the next close.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D737A"/>
                </a:solidFill>
                <a:latin typeface="Calibri"/>
              </a:rPr>
              <a:t>The join  |  Question 6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Which market fails the UIO × warehouse MOS × sales capture test first?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One screen should force a single ranking — not four separate reports.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394960" cy="1508760"/>
          </a:xfrm>
          <a:prstGeom prst="rect">
            <a:avLst/>
          </a:prstGeom>
          <a:solidFill>
            <a:srgbClr val="F2F5F8"/>
          </a:solidFill>
          <a:ln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109728" cy="1508760"/>
          </a:xfrm>
          <a:prstGeom prst="rect">
            <a:avLst/>
          </a:prstGeom>
          <a:solidFill>
            <a:srgbClr val="0D7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1.  High fleet / low buy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97480"/>
            <a:ext cx="48463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Large UIO, thin parts billed: is that IAM, weak dealers, or ISZE stock shape?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194560"/>
            <a:ext cx="5394960" cy="1508760"/>
          </a:xfrm>
          <a:prstGeom prst="rect">
            <a:avLst/>
          </a:prstGeom>
          <a:solidFill>
            <a:srgbClr val="F2F5F8"/>
          </a:solidFill>
          <a:ln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2194560"/>
            <a:ext cx="109728" cy="1508760"/>
          </a:xfrm>
          <a:prstGeom prst="rect">
            <a:avLst/>
          </a:prstGeom>
          <a:solidFill>
            <a:srgbClr val="0D7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33172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2.  Fat stock / thin buy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97480"/>
            <a:ext cx="48463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High MOS at ISZE or at DB, weak sales: are we planning the wrong PN set?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86200"/>
            <a:ext cx="5394960" cy="1508760"/>
          </a:xfrm>
          <a:prstGeom prst="rect">
            <a:avLst/>
          </a:prstGeom>
          <a:solidFill>
            <a:srgbClr val="F2F5F8"/>
          </a:solidFill>
          <a:ln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886200"/>
            <a:ext cx="109728" cy="1508760"/>
          </a:xfrm>
          <a:prstGeom prst="rect">
            <a:avLst/>
          </a:prstGeom>
          <a:solidFill>
            <a:srgbClr val="0D7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3.  Mileage mismatch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48463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Where measured km/year makes the old target spend per truck too high or too low?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886200"/>
            <a:ext cx="5394960" cy="1508760"/>
          </a:xfrm>
          <a:prstGeom prst="rect">
            <a:avLst/>
          </a:prstGeom>
          <a:solidFill>
            <a:srgbClr val="F2F5F8"/>
          </a:solidFill>
          <a:ln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886200"/>
            <a:ext cx="109728" cy="1508760"/>
          </a:xfrm>
          <a:prstGeom prst="rect">
            <a:avLst/>
          </a:prstGeom>
          <a:solidFill>
            <a:srgbClr val="0D7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02336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4.  UTI vs UMI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389120"/>
            <a:ext cx="48463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Israel must stay two rows — never one blended Israel next to IDS.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989320"/>
            <a:ext cx="10881360" cy="5943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080760"/>
            <a:ext cx="105156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Decision required: name the owner, the market, and the first service family before the next close.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D737A"/>
                </a:solidFill>
                <a:latin typeface="Calibri"/>
              </a:rPr>
              <a:t>Operating cadence  |  Question 7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What do Planning, Warehouse and Sales each own by the next monthly close?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Questions without owners become another dashboard nobody uses.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394960" cy="1508760"/>
          </a:xfrm>
          <a:prstGeom prst="rect">
            <a:avLst/>
          </a:prstGeom>
          <a:solidFill>
            <a:srgbClr val="F2F5F8"/>
          </a:solidFill>
          <a:ln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109728" cy="1508760"/>
          </a:xfrm>
          <a:prstGeom prst="rect">
            <a:avLst/>
          </a:prstGeom>
          <a:solidFill>
            <a:srgbClr val="0D7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1.  Planning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97480"/>
            <a:ext cx="48463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Which three families get a mileage-corrected demand plan this month?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194560"/>
            <a:ext cx="5394960" cy="1508760"/>
          </a:xfrm>
          <a:prstGeom prst="rect">
            <a:avLst/>
          </a:prstGeom>
          <a:solidFill>
            <a:srgbClr val="F2F5F8"/>
          </a:solidFill>
          <a:ln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2194560"/>
            <a:ext cx="109728" cy="1508760"/>
          </a:xfrm>
          <a:prstGeom prst="rect">
            <a:avLst/>
          </a:prstGeom>
          <a:solidFill>
            <a:srgbClr val="0D7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33172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2.  Warehouse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97480"/>
            <a:ext cx="48463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Which SKU cluster do we free or consolidate to protect Unit 2 capacity?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86200"/>
            <a:ext cx="5394960" cy="1508760"/>
          </a:xfrm>
          <a:prstGeom prst="rect">
            <a:avLst/>
          </a:prstGeom>
          <a:solidFill>
            <a:srgbClr val="F2F5F8"/>
          </a:solidFill>
          <a:ln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886200"/>
            <a:ext cx="109728" cy="1508760"/>
          </a:xfrm>
          <a:prstGeom prst="rect">
            <a:avLst/>
          </a:prstGeom>
          <a:solidFill>
            <a:srgbClr val="0D7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3.  Sales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48463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Which two distributors get a joint capture conversation with euro + family + fleet on the page?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886200"/>
            <a:ext cx="5394960" cy="1508760"/>
          </a:xfrm>
          <a:prstGeom prst="rect">
            <a:avLst/>
          </a:prstGeom>
          <a:solidFill>
            <a:srgbClr val="F2F5F8"/>
          </a:solidFill>
          <a:ln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886200"/>
            <a:ext cx="109728" cy="1508760"/>
          </a:xfrm>
          <a:prstGeom prst="rect">
            <a:avLst/>
          </a:prstGeom>
          <a:solidFill>
            <a:srgbClr val="0D7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02336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4.  Leadership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389120"/>
            <a:ext cx="48463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Do we freeze one monthly scorecard definition — or keep four parallel truths?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989320"/>
            <a:ext cx="10881360" cy="5943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080760"/>
            <a:ext cx="105156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Decision required: name the owner, the market, and the first service family before the next close.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D737A"/>
                </a:solidFill>
                <a:latin typeface="Calibri"/>
              </a:rPr>
              <a:t>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0B1F3A"/>
                </a:solidFill>
                <a:latin typeface="Calibri"/>
              </a:rPr>
              <a:t>Run one joined monthly scorecard — or keep collecting data that nobody decides 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3566160" cy="2926080"/>
          </a:xfrm>
          <a:prstGeom prst="rect">
            <a:avLst/>
          </a:prstGeom>
          <a:solidFill>
            <a:srgbClr val="F2F5F8"/>
          </a:solidFill>
          <a:ln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28600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0D737A"/>
                </a:solidFill>
                <a:latin typeface="Calibri"/>
              </a:rPr>
              <a:t>STAY SPLIT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9748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Keep four separate truths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474720"/>
            <a:ext cx="32004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UIO, WH, planning and sales stay in different packs. Fast to produce. Slow to act.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103120"/>
            <a:ext cx="3566160" cy="2926080"/>
          </a:xfrm>
          <a:prstGeom prst="rect">
            <a:avLst/>
          </a:prstGeom>
          <a:solidFill>
            <a:srgbClr val="F2F5F8"/>
          </a:solidFill>
          <a:ln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0D737A"/>
                </a:solidFill>
                <a:latin typeface="Calibri"/>
              </a:rPr>
              <a:t>JOIN FULLY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9748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One monthly ranking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474720"/>
            <a:ext cx="32004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Every month: markets ranked by euro gap per truck × family, with MOS and mileage context beside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59" y="2103120"/>
            <a:ext cx="3566160" cy="2926080"/>
          </a:xfrm>
          <a:prstGeom prst="rect">
            <a:avLst/>
          </a:prstGeom>
          <a:solidFill>
            <a:srgbClr val="F2F5F8"/>
          </a:solidFill>
          <a:ln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39" y="228600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0D737A"/>
                </a:solidFill>
                <a:latin typeface="Calibri"/>
              </a:rPr>
              <a:t>PILOT 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39" y="269748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Two markets, then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39" y="3474720"/>
            <a:ext cx="32004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Pick one high-fleet / low-buy market and one fat-stock market. Prove the join before scaling.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303520"/>
            <a:ext cx="10881360" cy="10972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486400"/>
            <a:ext cx="104241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Suggested default: Pilot first now; Join fully as the operating standard within 90 days. Stay split is the failure mode we already have.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