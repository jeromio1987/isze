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6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7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C620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Lighting</c:v>
                  </c:pt>
                  <c:pt idx="1">
                    <c:v>Hydraulic</c:v>
                  </c:pt>
                  <c:pt idx="2">
                    <c:v>Filters</c:v>
                  </c:pt>
                  <c:pt idx="3">
                    <c:v>Shell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-29</c:v>
                </c:pt>
                <c:pt idx="1">
                  <c:v>-35</c:v>
                </c:pt>
                <c:pt idx="2">
                  <c:v>-27</c:v>
                </c:pt>
                <c:pt idx="3">
                  <c:v>135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C6C6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C6C6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C620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620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Now</c:v>
                  </c:pt>
                  <c:pt idx="1">
                    <c:v>After pilot</c:v>
                  </c:pt>
                  <c:pt idx="2">
                    <c:v>Target state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54.2</c:v>
                </c:pt>
                <c:pt idx="1">
                  <c:v>60</c:v>
                </c:pt>
                <c:pt idx="2">
                  <c:v>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C6C6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C6C6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etailed_infographic_style_illustration_on_textu.png">    </p:cNvPr>
          <p:cNvPicPr>
            <a:picLocks noChangeAspect="1"/>
          </p:cNvPicPr>
          <p:nvPr/>
        </p:nvPicPr>
        <p:blipFill>
          <a:blip r:embed="rId1"/>
          <a:srcRect l="0" r="0" t="15551" b="15551"/>
          <a:stretch/>
        </p:blipFill>
        <p:spPr>
          <a:xfrm>
            <a:off x="502920" y="502920"/>
            <a:ext cx="11201400" cy="4343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212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A3: UMI PARTS GROWTH PROBLEM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594360" y="557784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state → gap → cause → countermeasure → owner.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C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6" name="Text 3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6C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0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state and gap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C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A3 style keeps the customer focused on one factual problem at a time.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2004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25272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C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state</a:t>
            </a:r>
            <a:endParaRPr lang="en-US" sz="760" dirty="0"/>
          </a:p>
        </p:txBody>
      </p:sp>
      <p:sp>
        <p:nvSpPr>
          <p:cNvPr id="6" name="Text 4"/>
          <p:cNvSpPr/>
          <p:nvPr/>
        </p:nvSpPr>
        <p:spPr>
          <a:xfrm>
            <a:off x="877824" y="150876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€875k YTD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7824" y="18928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C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+2% vs budget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3429000" y="1234440"/>
            <a:ext cx="32004" cy="1005840"/>
          </a:xfrm>
          <a:prstGeom prst="rect">
            <a:avLst/>
          </a:prstGeom>
          <a:solidFill>
            <a:srgbClr val="C62026"/>
          </a:solidFill>
          <a:ln w="12700">
            <a:solidFill>
              <a:srgbClr val="C620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75304" y="125272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C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3575304" y="150876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C6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-14% vs LY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75304" y="18928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C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-38% YoY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6126480" y="1234440"/>
            <a:ext cx="32004" cy="1005840"/>
          </a:xfrm>
          <a:prstGeom prst="rect">
            <a:avLst/>
          </a:prstGeom>
          <a:solidFill>
            <a:srgbClr val="C62026"/>
          </a:solidFill>
          <a:ln w="12700">
            <a:solidFill>
              <a:srgbClr val="C620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2784" y="125272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C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</a:t>
            </a:r>
            <a:endParaRPr lang="en-US" sz="760" dirty="0"/>
          </a:p>
        </p:txBody>
      </p:sp>
      <p:sp>
        <p:nvSpPr>
          <p:cNvPr id="14" name="Text 12"/>
          <p:cNvSpPr/>
          <p:nvPr/>
        </p:nvSpPr>
        <p:spPr>
          <a:xfrm>
            <a:off x="6272784" y="150876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54.2% GPS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72784" y="18928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C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€4.636m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8823960" y="1234440"/>
            <a:ext cx="32004" cy="1005840"/>
          </a:xfrm>
          <a:prstGeom prst="rect">
            <a:avLst/>
          </a:prstGeom>
          <a:solidFill>
            <a:srgbClr val="C62026"/>
          </a:solidFill>
          <a:ln w="12700">
            <a:solidFill>
              <a:srgbClr val="C620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70264" y="125272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C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Dealer standard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8970264" y="150876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60.9%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970264" y="18928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C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 74.8% network</a:t>
            </a:r>
            <a:endParaRPr lang="en-US" sz="78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914400" y="2971800"/>
          <a:ext cx="98755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C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22" name="Text 19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6C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Root cause hypothesis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C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market demand from stock timing and local sourcing.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32004" cy="1097280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" y="143560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C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Cause 1</a:t>
            </a:r>
            <a:endParaRPr lang="en-US" sz="760" dirty="0"/>
          </a:p>
        </p:txBody>
      </p:sp>
      <p:sp>
        <p:nvSpPr>
          <p:cNvPr id="6" name="Text 4"/>
          <p:cNvSpPr/>
          <p:nvPr/>
        </p:nvSpPr>
        <p:spPr>
          <a:xfrm>
            <a:off x="923544" y="169164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Availability / stock timing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23544" y="20756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C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with UMI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6080760" y="1417320"/>
            <a:ext cx="32004" cy="1097280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27064" y="143560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C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Cause 2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6227064" y="169164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vs local alternatives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27064" y="20756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C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with UMI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777240" y="2926080"/>
            <a:ext cx="32004" cy="1097280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3544" y="294436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C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Cause 3</a:t>
            </a:r>
            <a:endParaRPr lang="en-US" sz="760" dirty="0"/>
          </a:p>
        </p:txBody>
      </p:sp>
      <p:sp>
        <p:nvSpPr>
          <p:cNvPr id="14" name="Text 12"/>
          <p:cNvSpPr/>
          <p:nvPr/>
        </p:nvSpPr>
        <p:spPr>
          <a:xfrm>
            <a:off x="923544" y="320040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Dealer process and IDS spread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23544" y="35844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C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with UMI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080760" y="2926080"/>
            <a:ext cx="32004" cy="1097280"/>
          </a:xfrm>
          <a:prstGeom prst="rect">
            <a:avLst/>
          </a:prstGeom>
          <a:solidFill>
            <a:srgbClr val="C62026"/>
          </a:solidFill>
          <a:ln w="12700">
            <a:solidFill>
              <a:srgbClr val="C620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7064" y="294436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C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Cause 4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6227064" y="320040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6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Missing Sales-to-Dealer data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27064" y="35844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C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prevents factual SPA targeting</a:t>
            </a:r>
            <a:endParaRPr lang="en-US" sz="780" dirty="0"/>
          </a:p>
        </p:txBody>
      </p:sp>
      <p:pic>
        <p:nvPicPr>
          <p:cNvPr id="20" name="Image 0" descr="/mnt/data/a_wide_clean_stylized_3d_cgi_illustration_of_a_c.png">    </p:cNvPr>
          <p:cNvPicPr>
            <a:picLocks noChangeAspect="1"/>
          </p:cNvPicPr>
          <p:nvPr/>
        </p:nvPicPr>
        <p:blipFill>
          <a:blip r:embed="rId1"/>
          <a:srcRect l="0" r="0" t="41038" b="41038"/>
          <a:stretch/>
        </p:blipFill>
        <p:spPr>
          <a:xfrm>
            <a:off x="777240" y="4526280"/>
            <a:ext cx="10424160" cy="10515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C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22" name="Text 19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6C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0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Countermeasure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C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countermeasure has a visible output and owner.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32004" cy="731520"/>
          </a:xfrm>
          <a:prstGeom prst="rect">
            <a:avLst/>
          </a:prstGeom>
          <a:solidFill>
            <a:srgbClr val="C62026"/>
          </a:solidFill>
          <a:ln w="12700">
            <a:solidFill>
              <a:srgbClr val="C620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" y="12527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C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Shell</a:t>
            </a:r>
            <a:endParaRPr lang="en-US" sz="760" dirty="0"/>
          </a:p>
        </p:txBody>
      </p:sp>
      <p:sp>
        <p:nvSpPr>
          <p:cNvPr id="6" name="Text 4"/>
          <p:cNvSpPr/>
          <p:nvPr/>
        </p:nvSpPr>
        <p:spPr>
          <a:xfrm>
            <a:off x="923544" y="15087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C6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Close price position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23544" y="18928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C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Restart orders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777240" y="2286000"/>
            <a:ext cx="32004" cy="731520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" y="23042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C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parts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923544" y="25603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Pilot rotor/filter pack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3544" y="29443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C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GPS lift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777240" y="3337560"/>
            <a:ext cx="32004" cy="731520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3544" y="33558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C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</a:t>
            </a:r>
            <a:endParaRPr lang="en-US" sz="760" dirty="0"/>
          </a:p>
        </p:txBody>
      </p:sp>
      <p:sp>
        <p:nvSpPr>
          <p:cNvPr id="14" name="Text 12"/>
          <p:cNvSpPr/>
          <p:nvPr/>
        </p:nvSpPr>
        <p:spPr>
          <a:xfrm>
            <a:off x="923544" y="36118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Counter-list agreed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23544" y="39959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C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push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777240" y="4389120"/>
            <a:ext cx="32004" cy="731520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" y="44074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C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923544" y="46634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Monthly PN feed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3544" y="50474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C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 vs lost-job clarity</a:t>
            </a:r>
            <a:endParaRPr lang="en-US" sz="78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572000" y="1234440"/>
          <a:ext cx="557784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C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22" name="Text 19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6C6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ISZE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Isuzu UMI - Japanese Kaizen / A3 Style Prototype</dc:title>
  <dc:subject>Style prototype: Japanese Kaizen / A3</dc:subject>
  <dc:creator>OpenAI</dc:creator>
  <cp:lastModifiedBy>OpenAI</cp:lastModifiedBy>
  <cp:revision>1</cp:revision>
  <dcterms:created xsi:type="dcterms:W3CDTF">2026-09-19T11:04:57Z</dcterms:created>
  <dcterms:modified xsi:type="dcterms:W3CDTF">2026-09-19T11:04:57Z</dcterms:modified>
</cp:coreProperties>
</file>