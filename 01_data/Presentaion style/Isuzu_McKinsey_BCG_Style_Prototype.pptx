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Generated visual asset by OpenAI image generation; no external image source.
Public source basis for Isuzu facts: FY2026 Financial Results presentation, Isuzu Motors Limited: https://www.isuzu-global.com/en/investor/financial/results/main/0111111116/teaserItems3/01111116/linkList/0/link/kessan202603e.pdf
Public source basis for D-MAX EV: Isuzu newsroom, 2025-04-29: https://www.isuzu-global.com/en/newsroom/20250429_1.html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Isuzu FY2026 unit sales, profit drivers and FY2027 outlook are from FY2026 Financial Results presentation: https://www.isuzu-global.com/en/investor/financial/results/main/0111111116/teaserItems3/01111116/linkList/0/link/kessan202603e.pdf
Internal ISZE implications are based on user-provided context in this ChatGPT workspace, not public Isuzu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FY2025/FY2026 revenue and operating profit from Isuzu FY2026 Financial Results presentation: https://www.isuzu-global.com/en/investor/financial/results/main/0111111116/teaserItems3/01111116/linkList/0/link/kessan202603e.pdf
FY2027 forecast revenue ¥3,700.0bn and operating profit ¥260.0bn from consolidated results: https://www.isuzu-global.com/en/investor/financial/results/main/0111111116/teaserItems3/01111116/linkList/03/link/con202603e.pdf
Middle East negative impact approx. ¥40.0bn from consolidated results and FY2026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FY2025/FY2026 global CV and LCV sales units from Isuzu FY2026 Financial Results presentation: https://www.isuzu-global.com/en/investor/financial/results/main/0111111116/teaserItems3/01111116/linkList/0/link/kessan202603e.pdf
Aftermarket implications are analytical interpretation based on user-provided ISZE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Mid-term management policy and three strategic areas from Isuzu Integrated Report 2025: https://www.isuzu.co.jp/world/company/investor/financial/pdf/integrated_report25_04.pdf
Integrated report references FY2027 interim targets, connected services expansion, carbon-neutral solutions by 2030, and L4 autonomous driving solution demonstration/monitoring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D-MAX EV production timing and key specifications from Isuzu newsroom, 2025-04-29: https://www.isuzu-global.com/en/newsroom/20250429_1.html
Analysis of use-case implications is interpretive, based on payload/towing/range/charging specifications.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ISZE levers and terminology are based on user-provided internal context in this ChatGPT workspace: SPA, GPS, PMS, BO, IDS, UIO and VP-4 reporting logic.
Generated fleet-management visual asset by OpenAI image generation; no external image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Roadmap is a recommendation based on public Isuzu strategic direction plus user-provided ISZE aftersales context.
Public Isuzu strategic context from Integrated Report 2025: https://www.isuzu.co.jp/world/company/investor/financial/pdf/integrated_report25_04.pdf
D-MAX EV service-readiness context from Isuzu newsroom: https://www.isuzu-global.com/en/newsroom/20250429_1.html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1920"/>
                </a:solidFill>
              </a:rPr>
              <a:t>ISUZU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AE"/>
                </a:solidFill>
              </a:rPr>
              <a:t>Strategy review prototype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2033"/>
                </a:solidFill>
              </a:rPr>
              <a:t>How Isuzu can convert global volume recovery into resilient European aftersales growth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A6473"/>
                </a:solidFill>
              </a:rPr>
              <a:t>McKinsey / BCG style: issue-led, MECE structure, management implications, clean evidence pages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02920" y="3767328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DEDEE"/>
          </a:solidFill>
          <a:ln w="12700">
            <a:solidFill>
              <a:srgbClr val="FDE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81762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</a:rPr>
              <a:t>PROTOTYPE — NOT OFFICIAL ISUZU MATERIAL</a:t>
            </a:r>
            <a:endParaRPr lang="en-US" sz="720" dirty="0"/>
          </a:p>
        </p:txBody>
      </p:sp>
      <p:pic>
        <p:nvPicPr>
          <p:cNvPr id="9" name="Image 0" descr="/mnt/data/a_clean_studio_style_render_of_a_modern_light_medi.png">    </p:cNvPr>
          <p:cNvPicPr>
            <a:picLocks noChangeAspect="1"/>
          </p:cNvPicPr>
          <p:nvPr/>
        </p:nvPicPr>
        <p:blipFill>
          <a:blip r:embed="rId1"/>
          <a:srcRect l="11458" r="11458" t="0" b="0"/>
          <a:stretch/>
        </p:blipFill>
        <p:spPr>
          <a:xfrm>
            <a:off x="6400800" y="640080"/>
            <a:ext cx="5074920" cy="4937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5577840"/>
            <a:ext cx="5074920" cy="29260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1081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3AE"/>
                </a:solidFill>
              </a:rPr>
              <a:t>Focus: HQ performance, European transition pressure, and ISZE aftersales implications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Isuzu strategy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Isuzu’s near-term challenge is not demand; it is translating volume recovery into durable profit and service stickiness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management agenda should shift from “sell more units” to “protect profit pool, lock in uptime, and build EV-readiness without diluting core economics.”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58368" y="1901952"/>
            <a:ext cx="2395728" cy="329184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03120"/>
            <a:ext cx="420624" cy="420624"/>
          </a:xfrm>
          <a:prstGeom prst="ellipse">
            <a:avLst/>
          </a:prstGeom>
          <a:solidFill>
            <a:srgbClr val="315A9D"/>
          </a:solidFill>
          <a:ln w="12700">
            <a:solidFill>
              <a:srgbClr val="315A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854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033"/>
                </a:solidFill>
              </a:rPr>
              <a:t>Global volume recovered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346704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A6473"/>
                </a:solidFill>
              </a:rPr>
              <a:t>FY2026 unit sales rose materially across CV and LCV, with LCV growth strongest after Thailand inventory normalization.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456432" y="1901952"/>
            <a:ext cx="2395728" cy="329184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1024" y="2103120"/>
            <a:ext cx="420624" cy="420624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21854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21024" y="270662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033"/>
                </a:solidFill>
              </a:rPr>
              <a:t>Profit did not follow cleanly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21024" y="3346704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A6473"/>
                </a:solidFill>
              </a:rPr>
              <a:t>Higher unit sales and price realization were offset by tariffs, material cost, FX, expenses, and Middle East disruption.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254496" y="1901952"/>
            <a:ext cx="2395728" cy="329184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2103120"/>
            <a:ext cx="420624" cy="42062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1854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19088" y="270662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033"/>
                </a:solidFill>
              </a:rPr>
              <a:t>Europe faces a transition squeeze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19088" y="3346704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A6473"/>
                </a:solidFill>
              </a:rPr>
              <a:t>D-MAX EV gives a compliant entry point, but range, charging speed and commercial TCO proof need disciplined positioning.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052560" y="1901952"/>
            <a:ext cx="2395728" cy="329184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889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17152" y="2103120"/>
            <a:ext cx="420624" cy="420624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21854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17152" y="270662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033"/>
                </a:solidFill>
              </a:rPr>
              <a:t>ISZE can become the control tower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17152" y="3346704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A6473"/>
                </a:solidFill>
              </a:rPr>
              <a:t>The highest-leverage move is a dealer/distributor cockpit linking GPS/PMS, SPA, BO, IDS and margin conversion.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777240" y="5596128"/>
            <a:ext cx="10652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596128"/>
            <a:ext cx="73152" cy="6583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74243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</a:rPr>
              <a:t>Decision implication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941832" y="6016752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6473"/>
                </a:solidFill>
              </a:rPr>
              <a:t>Prioritize initiatives that turn installed base into recurring aftersales profit before EV/connected transition economics are fully proven.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financial frame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growth returned in FY2026, but operating profit still fell—raising the bar for FY2027 execution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classic management-consulting reading: volume is not the constraint; conversion of revenue into operating profit is the constraint.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6492240" cy="4233672"/>
          </a:xfrm>
          <a:prstGeom prst="roundRect">
            <a:avLst>
              <a:gd name="adj" fmla="val 864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947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3"/>
                </a:solidFill>
              </a:rPr>
              <a:t>Revenue and operating profit, FY2025–FY2027F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487375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429082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70789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12496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54203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987624"/>
            <a:ext cx="743712" cy="1886128"/>
          </a:xfrm>
          <a:prstGeom prst="rect">
            <a:avLst/>
          </a:prstGeom>
          <a:solidFill>
            <a:srgbClr val="6C8BC6"/>
          </a:solidFill>
          <a:ln w="12700">
            <a:solidFill>
              <a:srgbClr val="6C8B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77312"/>
            <a:ext cx="74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2033"/>
                </a:solidFill>
              </a:rPr>
              <a:t>¥3.24tn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960120" y="4956048"/>
            <a:ext cx="74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3"/>
                </a:solidFill>
              </a:rPr>
              <a:t>FY25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822704" y="2845680"/>
            <a:ext cx="743712" cy="2028072"/>
          </a:xfrm>
          <a:prstGeom prst="rect">
            <a:avLst/>
          </a:prstGeom>
          <a:solidFill>
            <a:srgbClr val="315A9D"/>
          </a:solidFill>
          <a:ln w="12700">
            <a:solidFill>
              <a:srgbClr val="315A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2704" y="2635368"/>
            <a:ext cx="74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2033"/>
                </a:solidFill>
              </a:rPr>
              <a:t>¥3.48tn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1822704" y="4956048"/>
            <a:ext cx="74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3"/>
                </a:solidFill>
              </a:rPr>
              <a:t>FY26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685288" y="2716911"/>
            <a:ext cx="743712" cy="2156841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5288" y="2506599"/>
            <a:ext cx="74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2033"/>
                </a:solidFill>
              </a:rPr>
              <a:t>¥3.70tn</a:t>
            </a:r>
            <a:endParaRPr lang="en-US" sz="670" dirty="0"/>
          </a:p>
        </p:txBody>
      </p:sp>
      <p:sp>
        <p:nvSpPr>
          <p:cNvPr id="23" name="Text 21"/>
          <p:cNvSpPr/>
          <p:nvPr/>
        </p:nvSpPr>
        <p:spPr>
          <a:xfrm>
            <a:off x="2685288" y="4956048"/>
            <a:ext cx="74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3"/>
                </a:solidFill>
              </a:rPr>
              <a:t>FY27F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977640" y="487375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429082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370789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312496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77640" y="2542032"/>
            <a:ext cx="246888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3089986"/>
            <a:ext cx="743712" cy="1783766"/>
          </a:xfrm>
          <a:prstGeom prst="rect">
            <a:avLst/>
          </a:prstGeom>
          <a:solidFill>
            <a:srgbClr val="6C8BC6"/>
          </a:solidFill>
          <a:ln w="12700">
            <a:solidFill>
              <a:srgbClr val="6C8B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2879674"/>
            <a:ext cx="74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2033"/>
                </a:solidFill>
              </a:rPr>
              <a:t>¥229.5bn</a:t>
            </a:r>
            <a:endParaRPr lang="en-US" sz="670" dirty="0"/>
          </a:p>
        </p:txBody>
      </p:sp>
      <p:sp>
        <p:nvSpPr>
          <p:cNvPr id="31" name="Text 29"/>
          <p:cNvSpPr/>
          <p:nvPr/>
        </p:nvSpPr>
        <p:spPr>
          <a:xfrm>
            <a:off x="3977640" y="4956048"/>
            <a:ext cx="74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3"/>
                </a:solidFill>
              </a:rPr>
              <a:t>FY25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40224" y="3290514"/>
            <a:ext cx="743712" cy="158323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0224" y="3080202"/>
            <a:ext cx="74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2033"/>
                </a:solidFill>
              </a:rPr>
              <a:t>¥203.7bn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4840224" y="4956048"/>
            <a:ext cx="74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3"/>
                </a:solidFill>
              </a:rPr>
              <a:t>FY26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702808" y="2852928"/>
            <a:ext cx="743712" cy="2020824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02808" y="2642616"/>
            <a:ext cx="74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2033"/>
                </a:solidFill>
              </a:rPr>
              <a:t>¥260.0bn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5702808" y="4956048"/>
            <a:ext cx="74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A6473"/>
                </a:solidFill>
              </a:rPr>
              <a:t>FY27F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536192" y="5230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5A9D"/>
                </a:solidFill>
              </a:rPr>
              <a:t>Revenue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43984" y="52303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1920"/>
                </a:solidFill>
              </a:rPr>
              <a:t>Operating profit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52360" y="18562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15A9D"/>
                </a:solidFill>
              </a:rPr>
              <a:t>+8%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7452360" y="2295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Revenue growth FY26 vs FY25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52360" y="25694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A6473"/>
                </a:solidFill>
              </a:rPr>
              <a:t>Growth despite disruption; price realization and volume helped.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9144000" y="1856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71920"/>
                </a:solidFill>
              </a:rPr>
              <a:t>−¥25.8bn</a:t>
            </a:r>
            <a:endParaRPr lang="en-US" sz="2300" dirty="0"/>
          </a:p>
        </p:txBody>
      </p:sp>
      <p:sp>
        <p:nvSpPr>
          <p:cNvPr id="44" name="Text 42"/>
          <p:cNvSpPr/>
          <p:nvPr/>
        </p:nvSpPr>
        <p:spPr>
          <a:xfrm>
            <a:off x="9144000" y="22951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Operating profit delta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144000" y="25694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A6473"/>
                </a:solidFill>
              </a:rPr>
              <a:t>Profit declined despite revenue uplift, indicating conversion pressure.</a:t>
            </a:r>
            <a:endParaRPr lang="en-US" sz="810" dirty="0"/>
          </a:p>
        </p:txBody>
      </p:sp>
      <p:sp>
        <p:nvSpPr>
          <p:cNvPr id="46" name="Text 44"/>
          <p:cNvSpPr/>
          <p:nvPr/>
        </p:nvSpPr>
        <p:spPr>
          <a:xfrm>
            <a:off x="7452360" y="33284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</a:rPr>
              <a:t>¥260bn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74523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FY27F op. profit rebound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5236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A6473"/>
                </a:solidFill>
              </a:rPr>
              <a:t>Forecast includes approx. ¥40bn Middle East negative impact.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7388352" y="4791456"/>
            <a:ext cx="38862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88352" y="4791456"/>
            <a:ext cx="73152" cy="9601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4937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</a:rPr>
              <a:t>Consultant “so what”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7552944" y="5212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6473"/>
                </a:solidFill>
              </a:rPr>
              <a:t>FY2027 must be managed as a margin-recovery year: price realization, supply resilience, aftersales mix and cost-to-serve discipline matter more than headline volume alone.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and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volume rebound was broad-based, but the profit question differs by portfolio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and LCV both grew; the management issue is which pools convert into service, parts, and uptime revenue under regional constraints.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548640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9751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3"/>
                </a:solidFill>
              </a:rPr>
              <a:t>Global sales units, FY2025 vs FY2026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5093208"/>
            <a:ext cx="420624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4487418"/>
            <a:ext cx="420624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881628"/>
            <a:ext cx="420624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275838"/>
            <a:ext cx="420624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670048"/>
            <a:ext cx="4206240" cy="0"/>
          </a:xfrm>
          <a:prstGeom prst="line">
            <a:avLst/>
          </a:prstGeom>
          <a:noFill/>
          <a:ln w="5080">
            <a:solidFill>
              <a:srgbClr val="D9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3941275"/>
            <a:ext cx="1828800" cy="1151933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4425802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CV 309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143000" y="3083849"/>
            <a:ext cx="1828800" cy="857426"/>
          </a:xfrm>
          <a:prstGeom prst="rect">
            <a:avLst/>
          </a:prstGeom>
          <a:solidFill>
            <a:srgbClr val="6C8BC6"/>
          </a:solidFill>
          <a:ln w="12700">
            <a:solidFill>
              <a:srgbClr val="6C8B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421122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LCV 230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097280" y="2827817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539k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7280" y="5184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3"/>
                </a:solidFill>
              </a:rPr>
              <a:t>FY25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20440" y="3885356"/>
            <a:ext cx="1828800" cy="1207852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4397842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CV 324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520440" y="2942188"/>
            <a:ext cx="1828800" cy="943168"/>
          </a:xfrm>
          <a:prstGeom prst="rect">
            <a:avLst/>
          </a:prstGeom>
          <a:solidFill>
            <a:srgbClr val="6C8BC6"/>
          </a:solidFill>
          <a:ln w="12700">
            <a:solidFill>
              <a:srgbClr val="6C8B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3322332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LCV 253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474720" y="26861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577k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5184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3"/>
                </a:solidFill>
              </a:rPr>
              <a:t>FY26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43000" y="5532120"/>
            <a:ext cx="164592" cy="109728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550468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A6473"/>
                </a:solidFill>
              </a:rPr>
              <a:t>CV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1874520" y="5532120"/>
            <a:ext cx="164592" cy="109728"/>
          </a:xfrm>
          <a:prstGeom prst="rect">
            <a:avLst/>
          </a:prstGeom>
          <a:solidFill>
            <a:srgbClr val="6C8BC6"/>
          </a:solidFill>
          <a:ln w="12700">
            <a:solidFill>
              <a:srgbClr val="6C8B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550468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A6473"/>
                </a:solidFill>
              </a:rPr>
              <a:t>LCV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537960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3"/>
                </a:solidFill>
              </a:rPr>
              <a:t>Implication by business pool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37960" y="2395728"/>
            <a:ext cx="4343400" cy="768096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256032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3"/>
                </a:solidFill>
              </a:rPr>
              <a:t>CV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2505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2033"/>
                </a:solidFill>
              </a:rPr>
              <a:t>Uptime + service retention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754380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A6473"/>
                </a:solidFill>
              </a:rPr>
              <a:t>Convert fleet utilization into maintenance share and predictive support.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6537960" y="3419856"/>
            <a:ext cx="4343400" cy="768096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889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5844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33"/>
                </a:solidFill>
              </a:rPr>
              <a:t>LCV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43800" y="35295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2033"/>
                </a:solidFill>
              </a:rPr>
              <a:t>Market recovery + EV transition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7543800" y="37673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A6473"/>
                </a:solidFill>
              </a:rPr>
              <a:t>Protect D-MAX diesel economics while preparing BEV value proof.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6537960" y="4443984"/>
            <a:ext cx="4343400" cy="768096"/>
          </a:xfrm>
          <a:prstGeom prst="roundRect">
            <a:avLst>
              <a:gd name="adj" fmla="val 3571"/>
            </a:avLst>
          </a:prstGeom>
          <a:solidFill>
            <a:srgbClr val="FDEDEE"/>
          </a:solidFill>
          <a:ln w="8890">
            <a:solidFill>
              <a:srgbClr val="D719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6085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1920"/>
                </a:solidFill>
              </a:rPr>
              <a:t>Aftermarket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43800" y="45537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22033"/>
                </a:solidFill>
              </a:rPr>
              <a:t>Highest controllable lever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7543800" y="47914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A6473"/>
                </a:solidFill>
              </a:rPr>
              <a:t>Pricing, SPA discipline, GPS/PMS and BO reduction can move profit faster than new model cycles.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6537960" y="5559552"/>
            <a:ext cx="43434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37960" y="5559552"/>
            <a:ext cx="73152" cy="685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02552" y="57058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</a:rPr>
              <a:t>Europe/ISZE lens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6702552" y="59801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6473"/>
                </a:solidFill>
              </a:rPr>
              <a:t>Treat the installed base as the economic bridge between today’s ICE fleet and tomorrow’s EV/connected services portfolio.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Isuzu’s 2030 agenda can be managed as three horizons with different economics and time-to-impact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portfolio funds the transition; connected/uptime services defend retention; carbon-neutral and autonomy options create future relevance.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310896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965960"/>
            <a:ext cx="3108960" cy="128016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2768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2033"/>
                </a:solidFill>
              </a:rPr>
              <a:t>Horizon 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41832" y="2587752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033"/>
                </a:solidFill>
              </a:rPr>
              <a:t>Strengthen core CV / LCV and aftermarket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3319272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A6473"/>
                </a:solidFill>
              </a:rPr>
              <a:t>Product competitiveness, price realization, supply chain stability, dealer service execution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941832" y="4325112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437540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22033"/>
                </a:solidFill>
              </a:rPr>
              <a:t>Cash engine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977640" y="3447288"/>
            <a:ext cx="320040" cy="0"/>
          </a:xfrm>
          <a:prstGeom prst="line">
            <a:avLst/>
          </a:prstGeom>
          <a:noFill/>
          <a:ln w="15240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965960"/>
            <a:ext cx="310896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965960"/>
            <a:ext cx="3108960" cy="128016"/>
          </a:xfrm>
          <a:prstGeom prst="rect">
            <a:avLst/>
          </a:prstGeom>
          <a:solidFill>
            <a:srgbClr val="315A9D"/>
          </a:solidFill>
          <a:ln w="12700">
            <a:solidFill>
              <a:srgbClr val="315A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2768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15A9D"/>
                </a:solidFill>
              </a:rPr>
              <a:t>Horizon 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553712" y="2587752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033"/>
                </a:solidFill>
              </a:rPr>
              <a:t>Scale connected uptime and service support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53712" y="3319272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A6473"/>
                </a:solidFill>
              </a:rPr>
              <a:t>Operational support services, connected data, dealer efficiency, customer uptime KPIs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553712" y="4325112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437540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315A9D"/>
                </a:solidFill>
              </a:rPr>
              <a:t>Retention engine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7589520" y="3447288"/>
            <a:ext cx="320040" cy="0"/>
          </a:xfrm>
          <a:prstGeom prst="line">
            <a:avLst/>
          </a:prstGeom>
          <a:noFill/>
          <a:ln w="15240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01000" y="1965960"/>
            <a:ext cx="310896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0" y="1965960"/>
            <a:ext cx="3108960" cy="12801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22768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71920"/>
                </a:solidFill>
              </a:rPr>
              <a:t>Horizon 3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165592" y="2587752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033"/>
                </a:solidFill>
              </a:rPr>
              <a:t>Build CN + autonomous growth options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65592" y="3319272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A6473"/>
                </a:solidFill>
              </a:rPr>
              <a:t>EVs across categories by 2030, energy solutions, L4 demonstrations and new business models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165592" y="4325112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DEDEE"/>
          </a:solidFill>
          <a:ln w="12700">
            <a:solidFill>
              <a:srgbClr val="FDE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437540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</a:rPr>
              <a:t>Future option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14400" y="5532120"/>
            <a:ext cx="9966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193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22033"/>
                </a:solidFill>
              </a:rPr>
              <a:t>Management principle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2487168" y="517550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</a:rPr>
              <a:t>Do not let the future agenda cannibalize management focus from today’s profit engine; sequence investments around measurable customer uptime and margin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D-MAX EV strategic scan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D-MAX EV gives Europe a credible entry point, but the value proposition must be sold through use-case economics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has commercial-truck strengths—payload and towing—while charging speed and WLTP range make fleet use-case selection critical.</a:t>
            </a:r>
            <a:endParaRPr lang="en-US" sz="1280" dirty="0"/>
          </a:p>
        </p:txBody>
      </p:sp>
      <p:pic>
        <p:nvPicPr>
          <p:cNvPr id="8" name="Image 0" descr="/mnt/data/a_clean_high_quality_3d_isometric_angled_studio_r.png">    </p:cNvPr>
          <p:cNvPicPr>
            <a:picLocks noChangeAspect="1"/>
          </p:cNvPicPr>
          <p:nvPr/>
        </p:nvPicPr>
        <p:blipFill>
          <a:blip r:embed="rId1"/>
          <a:srcRect l="0" r="0" t="150" b="150"/>
          <a:stretch/>
        </p:blipFill>
        <p:spPr>
          <a:xfrm>
            <a:off x="594360" y="1828800"/>
            <a:ext cx="5074920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17830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9933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</a:rPr>
              <a:t>Commercial positioning scorecard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889504"/>
            <a:ext cx="466344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4871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2033"/>
                </a:solidFill>
              </a:rPr>
              <a:t>Payload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7571232" y="24871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B9E77"/>
                </a:solidFill>
              </a:rPr>
              <a:t>1,010 kg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8887968" y="24871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Strength vs lifestyle EV pickups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400800" y="3456432"/>
            <a:ext cx="466344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0540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2033"/>
                </a:solidFill>
              </a:rPr>
              <a:t>Towing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7571232" y="305409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B9E77"/>
                </a:solidFill>
              </a:rPr>
              <a:t>3,500 kg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8887968" y="30540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Keeps work-truck credibility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400800" y="4023360"/>
            <a:ext cx="466344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6210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2033"/>
                </a:solidFill>
              </a:rPr>
              <a:t>Range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571232" y="36210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15A9D"/>
                </a:solidFill>
              </a:rPr>
              <a:t>263 km WLTP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8887968" y="362102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Depot / regional routes first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400800" y="4590288"/>
            <a:ext cx="466344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1879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2033"/>
                </a:solidFill>
              </a:rPr>
              <a:t>Charging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7571232" y="418795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71920"/>
                </a:solidFill>
              </a:rPr>
              <a:t>DC 50 kW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8887968" y="4187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Not yet “high-throughput” fleet charging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400800" y="5157216"/>
            <a:ext cx="466344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47548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22033"/>
                </a:solidFill>
              </a:rPr>
              <a:t>Battery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7571232" y="475488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15A9D"/>
                </a:solidFill>
              </a:rPr>
              <a:t>66.9 kWh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8887968" y="47548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Weight / payload trade-off to manage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6400800" y="5486400"/>
            <a:ext cx="466344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00800" y="5486400"/>
            <a:ext cx="73152" cy="47548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65392" y="563270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</a:rPr>
              <a:t>ISZE implication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6565392" y="5907024"/>
            <a:ext cx="434340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6473"/>
                </a:solidFill>
              </a:rPr>
              <a:t>Prepare EV parts, warranty, charging-use-case and TCO materials now; do not wait until BEV volume is material.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aftersales agenda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ISZE should evolve from reporting center to margin-and-uptime control tower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aftersales profit pool is most actionable when SPA, GPS/PMS, BO and dealer efficiency are managed as one operating system.</a:t>
            </a:r>
            <a:endParaRPr lang="en-US" sz="1280" dirty="0"/>
          </a:p>
        </p:txBody>
      </p:sp>
      <p:pic>
        <p:nvPicPr>
          <p:cNvPr id="8" name="Image 0" descr="/mnt/data/wide_isometric_3d_tech_illustration_on_a_clean_lig.png">    </p:cNvPr>
          <p:cNvPicPr>
            <a:picLocks noChangeAspect="1"/>
          </p:cNvPicPr>
          <p:nvPr/>
        </p:nvPicPr>
        <p:blipFill>
          <a:blip r:embed="rId1"/>
          <a:srcRect l="0" r="0" t="8667" b="8667"/>
          <a:stretch/>
        </p:blipFill>
        <p:spPr>
          <a:xfrm>
            <a:off x="6675120" y="1828800"/>
            <a:ext cx="457200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82880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3"/>
                </a:solidFill>
              </a:rPr>
              <a:t>Control tower logic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2240280"/>
            <a:ext cx="310896" cy="310896"/>
          </a:xfrm>
          <a:prstGeom prst="ellipse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30886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1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1234440" y="22128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22033"/>
                </a:solidFill>
              </a:rPr>
              <a:t>Demand capture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1234440" y="2468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GPS / PMS share, UIO coverage, dealer order mix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77240" y="3026664"/>
            <a:ext cx="310896" cy="310896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0952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2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1234440" y="29992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22033"/>
                </a:solidFill>
              </a:rPr>
              <a:t>Price discipline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1234440" y="32552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SPA approval logic, class/factor control, post-SPA GP delta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77240" y="3813048"/>
            <a:ext cx="310896" cy="310896"/>
          </a:xfrm>
          <a:prstGeom prst="ellipse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8816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3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1234440" y="3785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22033"/>
                </a:solidFill>
              </a:rPr>
              <a:t>Service reliability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1234440" y="40416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BO root causes, RUSH/VOR/SVOR signals, replenishment logic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777240" y="4599432"/>
            <a:ext cx="310896" cy="310896"/>
          </a:xfrm>
          <a:prstGeom prst="ellipse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6680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4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1234440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22033"/>
                </a:solidFill>
              </a:rPr>
              <a:t>Dealer productivity</a:t>
            </a:r>
            <a:endParaRPr lang="en-US" sz="1040" dirty="0"/>
          </a:p>
        </p:txBody>
      </p:sp>
      <p:sp>
        <p:nvSpPr>
          <p:cNvPr id="25" name="Text 22"/>
          <p:cNvSpPr/>
          <p:nvPr/>
        </p:nvSpPr>
        <p:spPr>
          <a:xfrm>
            <a:off x="1234440" y="4828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A6473"/>
                </a:solidFill>
              </a:rPr>
              <a:t>IDS dashboard, section benchmarking, kaizen actions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85800" y="5504688"/>
            <a:ext cx="1216152" cy="438912"/>
          </a:xfrm>
          <a:prstGeom prst="roundRect">
            <a:avLst>
              <a:gd name="adj" fmla="val 6250"/>
            </a:avLst>
          </a:prstGeom>
          <a:solidFill>
            <a:srgbClr val="FDEDEE"/>
          </a:solidFill>
          <a:ln w="7620">
            <a:solidFill>
              <a:srgbClr val="D719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" y="559612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</a:rPr>
              <a:t>SPA GP delta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758952" y="576986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A6473"/>
                </a:solidFill>
              </a:rPr>
              <a:t>before vs after</a:t>
            </a:r>
            <a:endParaRPr lang="en-US" sz="620" dirty="0"/>
          </a:p>
        </p:txBody>
      </p:sp>
      <p:sp>
        <p:nvSpPr>
          <p:cNvPr id="29" name="Shape 26"/>
          <p:cNvSpPr/>
          <p:nvPr/>
        </p:nvSpPr>
        <p:spPr>
          <a:xfrm>
            <a:off x="2167128" y="5504688"/>
            <a:ext cx="1216152" cy="43891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40280" y="559612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22033"/>
                </a:solidFill>
              </a:rPr>
              <a:t>GPS/PMS share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2240280" y="576986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A6473"/>
                </a:solidFill>
              </a:rPr>
              <a:t>target vs actual</a:t>
            </a:r>
            <a:endParaRPr lang="en-US" sz="620" dirty="0"/>
          </a:p>
        </p:txBody>
      </p:sp>
      <p:sp>
        <p:nvSpPr>
          <p:cNvPr id="32" name="Shape 29"/>
          <p:cNvSpPr/>
          <p:nvPr/>
        </p:nvSpPr>
        <p:spPr>
          <a:xfrm>
            <a:off x="3648456" y="5504688"/>
            <a:ext cx="1216152" cy="43891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21608" y="559612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22033"/>
                </a:solidFill>
              </a:rPr>
              <a:t>BO ageing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3721608" y="576986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A6473"/>
                </a:solidFill>
              </a:rPr>
              <a:t>root cause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5129784" y="5504688"/>
            <a:ext cx="1216152" cy="43891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02936" y="559612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22033"/>
                </a:solidFill>
              </a:rPr>
              <a:t>Dealer IDS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5202936" y="576986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A6473"/>
                </a:solidFill>
              </a:rPr>
              <a:t>vs network avg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675120" y="4983480"/>
            <a:ext cx="45720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675120" y="4983480"/>
            <a:ext cx="73152" cy="7315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39712" y="512978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</a:rPr>
              <a:t>Design rule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6839712" y="540410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6473"/>
                </a:solidFill>
              </a:rPr>
              <a:t>Every management page should answer: where is profit leaking, who owns it, and what action changes next month?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sources + user-provided ISZE context; analysis indicative, not official Isuzu guidance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11201400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roadmap: make the next 12 months a margin-conversion program, not only a reporting refresh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McKinsey/BCG-style recommendation is only useful if it is translated into ownership, cadence and decision rights.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2331720" cy="30632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57400"/>
            <a:ext cx="2331720" cy="118872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377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033"/>
                </a:solidFill>
              </a:rPr>
              <a:t>0–90 days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2770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Establish one source of truth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96112" y="34930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A6473"/>
                </a:solidFill>
              </a:rPr>
              <a:t>Align monthly scorecard: BP, LY, GP/GM, GPS/PMS, SPA delta, BO and IDS views. Freeze definitions and owners.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172968" y="3547872"/>
            <a:ext cx="228600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0440" y="2057400"/>
            <a:ext cx="2331720" cy="30632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2057400"/>
            <a:ext cx="2331720" cy="118872"/>
          </a:xfrm>
          <a:prstGeom prst="rect">
            <a:avLst/>
          </a:prstGeom>
          <a:solidFill>
            <a:srgbClr val="315A9D"/>
          </a:solidFill>
          <a:ln w="12700">
            <a:solidFill>
              <a:srgbClr val="315A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2377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5A9D"/>
                </a:solidFill>
              </a:rPr>
              <a:t>3–6 months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85032" y="2770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Run profit sprints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685032" y="34930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A6473"/>
                </a:solidFill>
              </a:rPr>
              <a:t>Select 2–3 markets and run SPA / PMS / BO interventions with pre-post profit tracking and dealer feedback.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61888" y="3547872"/>
            <a:ext cx="228600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057400"/>
            <a:ext cx="2331720" cy="30632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057400"/>
            <a:ext cx="2331720" cy="118872"/>
          </a:xfrm>
          <a:prstGeom prst="rect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377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E77"/>
                </a:solidFill>
              </a:rPr>
              <a:t>6–9 months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73952" y="2770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Deploy dealer efficiency loop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473952" y="34930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A6473"/>
                </a:solidFill>
              </a:rPr>
              <a:t>Use IDS benchmarking to target dealer sections, service behaviors and training actions with quantified follow-up.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750808" y="3547872"/>
            <a:ext cx="228600" cy="0"/>
          </a:xfrm>
          <a:prstGeom prst="line">
            <a:avLst/>
          </a:prstGeom>
          <a:noFill/>
          <a:ln w="13970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2057400"/>
            <a:ext cx="2331720" cy="30632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2700" dist="762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98280" y="2057400"/>
            <a:ext cx="2331720" cy="11887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2377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1920"/>
                </a:solidFill>
              </a:rPr>
              <a:t>9–12 months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62872" y="2770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22033"/>
                </a:solidFill>
              </a:rPr>
              <a:t>Prepare EV service playbook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262872" y="34930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A6473"/>
                </a:solidFill>
              </a:rPr>
              <a:t>Codify D-MAX EV parts, warranty, charging use cases, TCO support and aftersales readiness for early markets.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68680" y="5669280"/>
            <a:ext cx="104698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669280"/>
            <a:ext cx="73152" cy="5303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581558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</a:rPr>
              <a:t>Leadership decision required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033272" y="6089904"/>
            <a:ext cx="1014984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6473"/>
                </a:solidFill>
              </a:rPr>
              <a:t>Choose whether this becomes an ISZE operating cadence with monthly distributor actions, or remains a one-off reporting improvement.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Strategy Review - McKinsey/BCG Style Prototype</dc:title>
  <dc:subject>Isuzu strategy review - McKinsey/BCG style prototype</dc:subject>
  <dc:creator>OpenAI</dc:creator>
  <cp:lastModifiedBy>OpenAI</cp:lastModifiedBy>
  <cp:revision>1</cp:revision>
  <dcterms:created xsi:type="dcterms:W3CDTF">2026-09-19T09:37:55Z</dcterms:created>
  <dcterms:modified xsi:type="dcterms:W3CDTF">2026-09-19T09:37:55Z</dcterms:modified>
</cp:coreProperties>
</file>