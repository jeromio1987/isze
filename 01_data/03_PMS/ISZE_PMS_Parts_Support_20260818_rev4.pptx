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7"/>
    <p:sldId id="261" r:id="rId8"/>
    <p:sldId id="262" r:id="rId9"/>
    <p:sldId id="263" r:id="rId10"/>
    <p:sldId id="264" r:id="rId11"/>
    <p:sldId id="265" r:id="rId12"/>
    <p:sldId id="266" r:id="rId13"/>
    <p:sldId id="268"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Phase 1 covers the N75 fleet. Oil and fuel filters form the core service pack, with the air filter as the primary attach. Genuine parts are proposed first, unless a genuine SPA or a BVP offers the lower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The same N75 scope and 40,000 km interval as the ITUK pack, with ISZE figures applied to it.</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 one percent uplift across all PMS parts sold to dealers: 182 units, approximately EUR 4,207.</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The air filter is the largest gap. The fuel filter is approximately two thirds covered. The method follows.</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A BVP where genuine demand is low, or an SPA where genuine can be brought in at a lower price.</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The urea filter kit is retained. Brakes remain condition-based across both pad numbers. The clutch is supplied as a kit for manual transmissions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actions we will take, by parts family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covers the N75 fleet on the 40,000 km interval, scheduled PMS only. No additional visits are to be generated.</a:t>
            </a:r>
          </a:p>
        </p:txBody>
      </p:sp>
      <p:sp>
        <p:nvSpPr>
          <p:cNvPr id="10" name="Rounded Rectangle 9"/>
          <p:cNvSpPr/>
          <p:nvPr/>
        </p:nvSpPr>
        <p:spPr>
          <a:xfrm>
            <a:off x="438912"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Oil + fuel</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Core pack</a:t>
            </a:r>
          </a:p>
        </p:txBody>
      </p:sp>
      <p:sp>
        <p:nvSpPr>
          <p:cNvPr id="13" name="TextBox 12"/>
          <p:cNvSpPr txBox="1"/>
          <p:nvPr/>
        </p:nvSpPr>
        <p:spPr>
          <a:xfrm>
            <a:off x="585216" y="2304288"/>
            <a:ext cx="2450592" cy="731520"/>
          </a:xfrm>
          <a:prstGeom prst="rect">
            <a:avLst/>
          </a:prstGeom>
          <a:noFill/>
        </p:spPr>
        <p:txBody>
          <a:bodyPr wrap="square" anchor="t">
            <a:spAutoFit/>
          </a:bodyPr>
          <a:lstStyle/>
          <a:p>
            <a:pPr algn="l"/>
            <a:r>
              <a:rPr sz="3000" b="1">
                <a:solidFill>
                  <a:srgbClr val="ED1C24"/>
                </a:solidFill>
                <a:latin typeface="Calibri"/>
              </a:rPr>
              <a:t>PACK</a:t>
            </a:r>
          </a:p>
        </p:txBody>
      </p:sp>
      <p:sp>
        <p:nvSpPr>
          <p:cNvPr id="14" name="TextBox 13"/>
          <p:cNvSpPr txBox="1"/>
          <p:nvPr/>
        </p:nvSpPr>
        <p:spPr>
          <a:xfrm>
            <a:off x="585216" y="3127248"/>
            <a:ext cx="2450592" cy="1188720"/>
          </a:xfrm>
          <a:prstGeom prst="rect">
            <a:avLst/>
          </a:prstGeom>
          <a:noFill/>
        </p:spPr>
        <p:txBody>
          <a:bodyPr wrap="square" anchor="t">
            <a:spAutoFit/>
          </a:bodyPr>
          <a:lstStyle/>
          <a:p>
            <a:pPr algn="l"/>
            <a:r>
              <a:rPr sz="1200" b="0">
                <a:solidFill>
                  <a:srgbClr val="344251"/>
                </a:solidFill>
                <a:latin typeface="Calibri"/>
              </a:rPr>
              <a:t>Oil and fuel filters are fitted at every scheduled service. They go out as one complete filter pack together with the air filter, not as separate promotions. The oil BVP is already established.</a:t>
            </a:r>
          </a:p>
        </p:txBody>
      </p:sp>
      <p:sp>
        <p:nvSpPr>
          <p:cNvPr id="15" name="Rounded Rectangle 14"/>
          <p:cNvSpPr/>
          <p:nvPr/>
        </p:nvSpPr>
        <p:spPr>
          <a:xfrm>
            <a:off x="3328416"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Air filter</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Primary attach</a:t>
            </a:r>
          </a:p>
        </p:txBody>
      </p:sp>
      <p:sp>
        <p:nvSpPr>
          <p:cNvPr id="18" name="TextBox 17"/>
          <p:cNvSpPr txBox="1"/>
          <p:nvPr/>
        </p:nvSpPr>
        <p:spPr>
          <a:xfrm>
            <a:off x="3474720" y="2304288"/>
            <a:ext cx="2450592" cy="731520"/>
          </a:xfrm>
          <a:prstGeom prst="rect">
            <a:avLst/>
          </a:prstGeom>
          <a:noFill/>
        </p:spPr>
        <p:txBody>
          <a:bodyPr wrap="square" anchor="t">
            <a:spAutoFit/>
          </a:bodyPr>
          <a:lstStyle/>
          <a:p>
            <a:pPr algn="l"/>
            <a:r>
              <a:rPr sz="3000" b="1">
                <a:solidFill>
                  <a:srgbClr val="ED1C24"/>
                </a:solidFill>
                <a:latin typeface="Calibri"/>
              </a:rPr>
              <a:t>BVP</a:t>
            </a:r>
          </a:p>
        </p:txBody>
      </p:sp>
      <p:sp>
        <p:nvSpPr>
          <p:cNvPr id="19" name="TextBox 18"/>
          <p:cNvSpPr txBox="1"/>
          <p:nvPr/>
        </p:nvSpPr>
        <p:spPr>
          <a:xfrm>
            <a:off x="3474720" y="3127248"/>
            <a:ext cx="2450592" cy="1188720"/>
          </a:xfrm>
          <a:prstGeom prst="rect">
            <a:avLst/>
          </a:prstGeom>
          <a:noFill/>
        </p:spPr>
        <p:txBody>
          <a:bodyPr wrap="square" anchor="t">
            <a:spAutoFit/>
          </a:bodyPr>
          <a:lstStyle/>
          <a:p>
            <a:pPr algn="l"/>
            <a:r>
              <a:rPr sz="1200" b="0">
                <a:solidFill>
                  <a:srgbClr val="344251"/>
                </a:solidFill>
                <a:latin typeface="Calibri"/>
              </a:rPr>
              <a:t>The primary attach. To be included whenever the service menu requires it, using the BVP where it wins on price, or an SPA on genuine where it does not.</a:t>
            </a:r>
          </a:p>
        </p:txBody>
      </p:sp>
      <p:sp>
        <p:nvSpPr>
          <p:cNvPr id="20" name="Rounded Rectangle 19"/>
          <p:cNvSpPr/>
          <p:nvPr/>
        </p:nvSpPr>
        <p:spPr>
          <a:xfrm>
            <a:off x="6217920"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Brakes</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Condition-based</a:t>
            </a:r>
          </a:p>
        </p:txBody>
      </p:sp>
      <p:sp>
        <p:nvSpPr>
          <p:cNvPr id="23" name="TextBox 22"/>
          <p:cNvSpPr txBox="1"/>
          <p:nvPr/>
        </p:nvSpPr>
        <p:spPr>
          <a:xfrm>
            <a:off x="6364224" y="2304288"/>
            <a:ext cx="2450592" cy="731520"/>
          </a:xfrm>
          <a:prstGeom prst="rect">
            <a:avLst/>
          </a:prstGeom>
          <a:noFill/>
        </p:spPr>
        <p:txBody>
          <a:bodyPr wrap="square" anchor="t">
            <a:spAutoFit/>
          </a:bodyPr>
          <a:lstStyle/>
          <a:p>
            <a:pPr algn="l"/>
            <a:r>
              <a:rPr sz="3000" b="1">
                <a:solidFill>
                  <a:srgbClr val="ED1C24"/>
                </a:solidFill>
                <a:latin typeface="Calibri"/>
              </a:rPr>
              <a:t>SPA</a:t>
            </a:r>
          </a:p>
        </p:txBody>
      </p:sp>
      <p:sp>
        <p:nvSpPr>
          <p:cNvPr id="24" name="TextBox 23"/>
          <p:cNvSpPr txBox="1"/>
          <p:nvPr/>
        </p:nvSpPr>
        <p:spPr>
          <a:xfrm>
            <a:off x="6364224" y="3127248"/>
            <a:ext cx="2450592" cy="1188720"/>
          </a:xfrm>
          <a:prstGeom prst="rect">
            <a:avLst/>
          </a:prstGeom>
          <a:noFill/>
        </p:spPr>
        <p:txBody>
          <a:bodyPr wrap="square" anchor="t">
            <a:spAutoFit/>
          </a:bodyPr>
          <a:lstStyle/>
          <a:p>
            <a:pPr algn="l"/>
            <a:r>
              <a:rPr sz="1200" b="0">
                <a:solidFill>
                  <a:srgbClr val="344251"/>
                </a:solidFill>
                <a:latin typeface="Calibri"/>
              </a:rPr>
              <a:t>No volume campaign. Parts are supplied when the repair requires them. No BVP exists for the R90 pad, so an SPA on genuine is the only lever.</a:t>
            </a:r>
          </a:p>
        </p:txBody>
      </p:sp>
      <p:sp>
        <p:nvSpPr>
          <p:cNvPr id="25" name="Rounded Rectangle 24"/>
          <p:cNvSpPr/>
          <p:nvPr/>
        </p:nvSpPr>
        <p:spPr>
          <a:xfrm>
            <a:off x="9107424"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VIN / manual</a:t>
            </a:r>
          </a:p>
        </p:txBody>
      </p:sp>
      <p:sp>
        <p:nvSpPr>
          <p:cNvPr id="28" name="TextBox 27"/>
          <p:cNvSpPr txBox="1"/>
          <p:nvPr/>
        </p:nvSpPr>
        <p:spPr>
          <a:xfrm>
            <a:off x="9253728" y="2304288"/>
            <a:ext cx="2450592" cy="731520"/>
          </a:xfrm>
          <a:prstGeom prst="rect">
            <a:avLst/>
          </a:prstGeom>
          <a:noFill/>
        </p:spPr>
        <p:txBody>
          <a:bodyPr wrap="square" anchor="t">
            <a:spAutoFit/>
          </a:bodyPr>
          <a:lstStyle/>
          <a:p>
            <a:pPr algn="l"/>
            <a:r>
              <a:rPr sz="3000" b="1">
                <a:solidFill>
                  <a:srgbClr val="ED1C24"/>
                </a:solidFill>
                <a:latin typeface="Calibri"/>
              </a:rPr>
              <a:t>KIT</a:t>
            </a:r>
          </a:p>
        </p:txBody>
      </p:sp>
      <p:sp>
        <p:nvSpPr>
          <p:cNvPr id="29" name="TextBox 28"/>
          <p:cNvSpPr txBox="1"/>
          <p:nvPr/>
        </p:nvSpPr>
        <p:spPr>
          <a:xfrm>
            <a:off x="9253728" y="3127248"/>
            <a:ext cx="2450592" cy="1188720"/>
          </a:xfrm>
          <a:prstGeom prst="rect">
            <a:avLst/>
          </a:prstGeom>
          <a:noFill/>
        </p:spPr>
        <p:txBody>
          <a:bodyPr wrap="square" anchor="t">
            <a:spAutoFit/>
          </a:bodyPr>
          <a:lstStyle/>
          <a:p>
            <a:pPr algn="l"/>
            <a:r>
              <a:rPr sz="1200" b="0">
                <a:solidFill>
                  <a:srgbClr val="344251"/>
                </a:solidFill>
                <a:latin typeface="Calibri"/>
              </a:rPr>
              <a:t>No broad campaign. Kit 5876102320, for manual transmissions only, until transmission data is available.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percent uplift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on the mix of PMS parts already sold today</a:t>
            </a:r>
          </a:p>
        </p:txBody>
      </p:sp>
      <p:sp>
        <p:nvSpPr>
          <p:cNvPr id="12" name="TextBox 11"/>
          <p:cNvSpPr txBox="1"/>
          <p:nvPr/>
        </p:nvSpPr>
        <p:spPr>
          <a:xfrm>
            <a:off x="530352" y="4069080"/>
            <a:ext cx="11247120" cy="822960"/>
          </a:xfrm>
          <a:prstGeom prst="rect">
            <a:avLst/>
          </a:prstGeom>
          <a:noFill/>
        </p:spPr>
        <p:txBody>
          <a:bodyPr wrap="square" anchor="t">
            <a:spAutoFit/>
          </a:bodyPr>
          <a:lstStyle/>
          <a:p>
            <a:pPr algn="l"/>
            <a:r>
              <a:rPr sz="1600" b="0">
                <a:solidFill>
                  <a:srgbClr val="344251"/>
                </a:solidFill>
                <a:latin typeface="Calibri"/>
              </a:rPr>
              <a:t>Delivered through three actions: the complete filter pack on every scheduled service, BVP where genuine is quiet, and SPA where price is the barrier.</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A one percent uplift on the parts the network already moves. No change to the mix.</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This is not a volume campaign and not additional services. It is better capture of the scheduled work that already takes place.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Quantity sold divided by the quantity expected under the IML service schedule. N75 units in operation: 9,359 (DVLA 2024), at 1.25 services per year. Expected oil, fuel and air filters: 11,699. Scope is the 37 N75 part numbers in the ITUK pack.</a:t>
            </a:r>
          </a:p>
        </p:txBody>
      </p:sp>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endParaRP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5,335</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45.6%</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4,691</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40.1%</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7,415</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63.4%</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3,632</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31.0%</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2,284</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19.5%</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2,204</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18.8%</a:t>
            </a:r>
          </a:p>
        </p:txBody>
      </p:sp>
      <p:pic>
        <p:nvPicPr>
          <p:cNvPr id="37" name="Picture 36" descr="new_s6.png"/>
          <p:cNvPicPr>
            <a:picLocks noChangeAspect="1"/>
          </p:cNvPicPr>
          <p:nvPr/>
        </p:nvPicPr>
        <p:blipFill>
          <a:blip r:embed="rId4"/>
          <a:stretch>
            <a:fillRect/>
          </a:stretch>
        </p:blipFill>
        <p:spPr>
          <a:xfrm>
            <a:off x="438912" y="1481328"/>
            <a:ext cx="11356848" cy="2606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N75 units in operation, DVLA 2024, covering both engine generations. This is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basis: 50,000 km per year against a 40,000 km filter interval.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 1.25. The same expected quantity applies to oil, fuel and air. This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5,335</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45.6%</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4,691</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40.1%</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7,415</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63.4%</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2,284</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19.5%</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The same method applies to both layers. Scope is the 37 N75 part numbers in the ITUK pack. Pad coverage uses 0.5 events per year rather than 1.25. The one percent figure is one percent of actual 2025 mix, not of expected services. Air uses the same 1.25 as oil and fuel; on a 0.5 air interval it would read 39 percent.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the lower of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 BVP applies where genuine demand is low, unless an SPA on genuine achieves a lower price. Across the set, genuine is proposed first unless it is already cheaper than the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demand is established.</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Retain genuine. A BVP equivalent is available if required.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coverage is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an SPA on genuine where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The BVP is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Remains in the set. Not a separate campaign.</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 available.</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where the repair requires the pad.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5980176"/>
            <a:ext cx="1364827" cy="237744"/>
          </a:xfrm>
          <a:prstGeom prst="rect">
            <a:avLst/>
          </a:prstGeom>
        </p:spPr>
      </p:pic>
      <p:sp>
        <p:nvSpPr>
          <p:cNvPr id="7" name="Rectangle 6"/>
          <p:cNvSpPr/>
          <p:nvPr/>
        </p:nvSpPr>
        <p:spPr>
          <a:xfrm>
            <a:off x="0" y="6419088"/>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126480"/>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731520"/>
          </a:xfrm>
          <a:prstGeom prst="rect">
            <a:avLst/>
          </a:prstGeom>
          <a:noFill/>
        </p:spPr>
        <p:txBody>
          <a:bodyPr wrap="square" anchor="t">
            <a:spAutoFit/>
          </a:bodyPr>
          <a:lstStyle/>
          <a:p>
            <a:pPr algn="l"/>
            <a:r>
              <a:rPr sz="1400" b="0">
                <a:solidFill>
                  <a:srgbClr val="344251"/>
                </a:solidFill>
                <a:latin typeface="Calibri"/>
              </a:rPr>
              <a:t>The genuine set is proposed first. A BVP applies only where genuine is not taken up, or is not the lower price. The air BVP is 44 percent below genuine.</a:t>
            </a:r>
          </a:p>
        </p:txBody>
      </p:sp>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endParaRP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3 part numbers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33" name="Rectangle 32"/>
          <p:cNvSpPr/>
          <p:nvPr/>
        </p:nvSpPr>
        <p:spPr>
          <a:xfrm>
            <a:off x="438912" y="497433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ISZE to ITUK EUR</a:t>
            </a:r>
          </a:p>
        </p:txBody>
      </p:sp>
      <p:sp>
        <p:nvSpPr>
          <p:cNvPr id="35" name="TextBox 34"/>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9.96</a:t>
            </a:r>
          </a:p>
        </p:txBody>
      </p:sp>
      <p:sp>
        <p:nvSpPr>
          <p:cNvPr id="36" name="TextBox 35"/>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8.05</a:t>
            </a:r>
          </a:p>
        </p:txBody>
      </p:sp>
      <p:sp>
        <p:nvSpPr>
          <p:cNvPr id="37" name="TextBox 36"/>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17.49</a:t>
            </a:r>
          </a:p>
        </p:txBody>
      </p:sp>
      <p:sp>
        <p:nvSpPr>
          <p:cNvPr id="38" name="TextBox 37"/>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if required</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35.50</a:t>
            </a:r>
          </a:p>
        </p:txBody>
      </p:sp>
      <p:pic>
        <p:nvPicPr>
          <p:cNvPr id="39" name="Picture 38" descr="new_s8.png"/>
          <p:cNvPicPr>
            <a:picLocks noChangeAspect="1"/>
          </p:cNvPicPr>
          <p:nvPr/>
        </p:nvPicPr>
        <p:blipFill>
          <a:blip r:embed="rId4"/>
          <a:stretch>
            <a:fillRect/>
          </a:stretch>
        </p:blipFill>
        <p:spPr>
          <a:xfrm>
            <a:off x="438912" y="1481328"/>
            <a:ext cx="11356848" cy="2395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is retained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requested that this item be retained, and that is confirmed. It sits outside the 37 N75 part numbers and is treated as a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Current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Genuine remains the first choice for this item.</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is not taken up</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the BVP where genuine is not taken up, unless a genuine SPA achieves a lower price.</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endParaRP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Prices shown are ISZE to ITUK, PR00 IE40, valid 13 March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remain condition-based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No promotional trigger. Where the pad is required for the repair, no BVP exists and an SPA applies. Both N75 pad numbers are included.</a:t>
            </a:r>
          </a:p>
        </p:txBody>
      </p:sp>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endParaRP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 + 8982169220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2,900</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2,730</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62%  (0.5 / year)</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10%  (0.25 axle-set)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8%  (0.25 axle-set)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The rotors fit N75 NPR and carry over to P700. They are not on the ITUK PMS list, and ISZE has never supplied them: 880 rotors a year to dealers, none from ISZE.</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No BVP exists for the R90 pad. SPA on genuine only, and only where the repair requires it.</a:t>
            </a:r>
          </a:p>
        </p:txBody>
      </p:sp>
      <p:pic>
        <p:nvPicPr>
          <p:cNvPr id="31" name="Picture 30" descr="new_s10.png"/>
          <p:cNvPicPr>
            <a:picLocks noChangeAspect="1"/>
          </p:cNvPicPr>
          <p:nvPr/>
        </p:nvPicPr>
        <p:blipFill>
          <a:blip r:embed="rId5"/>
          <a:stretch>
            <a:fillRect/>
          </a:stretch>
        </p:blipFill>
        <p:spPr>
          <a:xfrm>
            <a:off x="438912" y="1700784"/>
            <a:ext cx="11356848" cy="17556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supplied as a kit, manual transmissions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campaign; VIN and manual transmission only. Applied on identified manual units until transmission data is available. Disc 8981649181 is not to be included.</a:t>
            </a:r>
          </a:p>
        </p:txBody>
      </p:sp>
      <p:sp>
        <p:nvSpPr>
          <p:cNvPr id="10" name="Rounded Rectangle 9"/>
          <p:cNvSpPr/>
          <p:nvPr/>
        </p:nvSpPr>
        <p:spPr>
          <a:xfrm>
            <a:off x="438912"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Single part number</a:t>
            </a:r>
          </a:p>
        </p:txBody>
      </p:sp>
      <p:sp>
        <p:nvSpPr>
          <p:cNvPr id="14" name="TextBox 13"/>
          <p:cNvSpPr txBox="1"/>
          <p:nvPr/>
        </p:nvSpPr>
        <p:spPr>
          <a:xfrm>
            <a:off x="585216" y="2286000"/>
            <a:ext cx="5285232" cy="777240"/>
          </a:xfrm>
          <a:prstGeom prst="rect">
            <a:avLst/>
          </a:prstGeom>
          <a:noFill/>
        </p:spPr>
        <p:txBody>
          <a:bodyPr wrap="square" anchor="t">
            <a:spAutoFit/>
          </a:bodyPr>
          <a:lstStyle/>
          <a:p>
            <a:pPr algn="l"/>
            <a:r>
              <a:rPr sz="1200" b="0">
                <a:solidFill>
                  <a:srgbClr val="344251"/>
                </a:solidFill>
                <a:latin typeface="Calibri"/>
              </a:rPr>
              <a:t>ITUK to dealer 63 units. ISZE to ITUK 78 units at EUR 194.69.</a:t>
            </a:r>
          </a:p>
        </p:txBody>
      </p:sp>
      <p:sp>
        <p:nvSpPr>
          <p:cNvPr id="15" name="Rounded Rectangle 14"/>
          <p:cNvSpPr/>
          <p:nvPr/>
        </p:nvSpPr>
        <p:spPr>
          <a:xfrm>
            <a:off x="6217920"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requires individual pieces</a:t>
            </a:r>
          </a:p>
        </p:txBody>
      </p:sp>
      <p:sp>
        <p:nvSpPr>
          <p:cNvPr id="19" name="TextBox 18"/>
          <p:cNvSpPr txBox="1"/>
          <p:nvPr/>
        </p:nvSpPr>
        <p:spPr>
          <a:xfrm>
            <a:off x="6364224" y="2286000"/>
            <a:ext cx="5285232" cy="777240"/>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The kit is 31 percent lower.</a:t>
            </a:r>
          </a:p>
        </p:txBody>
      </p:sp>
      <p:sp>
        <p:nvSpPr>
          <p:cNvPr id="20" name="Rectangle 19"/>
          <p:cNvSpPr/>
          <p:nvPr/>
        </p:nvSpPr>
        <p:spPr>
          <a:xfrm>
            <a:off x="438912" y="356616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56616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356616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356616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356616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389534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389534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389534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389534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31596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 y="431596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31596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31596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31596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473659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473659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473659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473659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October launch. N75 first.</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Scheduled PMS only. Genuine parts are proposed first, with a BVP or an SPA where either offers the lower price. The urea filter kit is retained.</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164</TotalTime>
  <Words>1677</Words>
  <Application>Microsoft Office PowerPoint</Application>
  <PresentationFormat>Custom</PresentationFormat>
  <Paragraphs>327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jerom</dc:creator>
  <cp:keywords/>
  <dc:description>generated using python-pptx</dc:description>
  <cp:lastModifiedBy>Jerome Van Der Pluym</cp:lastModifiedBy>
  <cp:revision>2</cp:revision>
  <dcterms:created xsi:type="dcterms:W3CDTF">2013-01-27T09:14:16Z</dcterms:created>
  <dcterms:modified xsi:type="dcterms:W3CDTF">2026-08-17T17:52:57Z</dcterms:modified>
  <cp:category/>
</cp:coreProperties>
</file>