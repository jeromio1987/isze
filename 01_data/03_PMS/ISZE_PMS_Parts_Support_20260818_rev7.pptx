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8"/>
    <p:sldId id="260" r:id="rId7"/>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Phase 1 covers the N75 fleet. Oil and fuel filters form the core service pack, with the air filter as the primary attach. Genuine parts are proposed first, unless a genuine SPA or a BVP offers the lower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The same N75 scope and 40,000 km interval as the ITUK pack, with ISZE figures applied to it.</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 one percent uplift across all PMS parts sold to dealers: 182 units, approximately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The air filter is the largest gap. The fuel filter is approximately two thirds covered. The method follows.</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A BVP where genuine demand is low, or an SPA where genuine can be brought in at a lower price.</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The urea filter kit is retained. Brakes remain condition-based across both pad numbers. The clutch is supplied as a kit for manual transmissions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The actions we will take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covers the N75 fleet on the 40,000 km interval, scheduled PMS only. No additional visits are to be generated.</a:t>
            </a:r>
          </a:p>
        </p:txBody>
      </p:sp>
      <p:sp>
        <p:nvSpPr>
          <p:cNvPr id="10" name="Rounded Rectangle 9"/>
          <p:cNvSpPr/>
          <p:nvPr/>
        </p:nvSpPr>
        <p:spPr>
          <a:xfrm>
            <a:off x="438912"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Filter pack</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Oil, fuel and air</a:t>
            </a:r>
          </a:p>
        </p:txBody>
      </p:sp>
      <p:sp>
        <p:nvSpPr>
          <p:cNvPr id="14" name="TextBox 13"/>
          <p:cNvSpPr txBox="1"/>
          <p:nvPr/>
        </p:nvSpPr>
        <p:spPr>
          <a:xfrm>
            <a:off x="585216" y="2359152"/>
            <a:ext cx="2450592" cy="1874519"/>
          </a:xfrm>
          <a:prstGeom prst="rect">
            <a:avLst/>
          </a:prstGeom>
          <a:noFill/>
        </p:spPr>
        <p:txBody>
          <a:bodyPr wrap="square" anchor="t">
            <a:spAutoFit/>
          </a:bodyPr>
          <a:lstStyle/>
          <a:p>
            <a:pPr algn="l"/>
            <a:r>
              <a:rPr sz="1200" b="0">
                <a:solidFill>
                  <a:srgbClr val="344251"/>
                </a:solidFill>
                <a:latin typeface="Calibri"/>
              </a:rPr>
              <a:t>All three filters go out as one set on the scheduled service. Oil and fuel are already established; the air filter is the one most often left off. Selling the three together is the primary action.</a:t>
            </a:r>
          </a:p>
        </p:txBody>
      </p:sp>
      <p:sp>
        <p:nvSpPr>
          <p:cNvPr id="15" name="Rounded Rectangle 14"/>
          <p:cNvSpPr/>
          <p:nvPr/>
        </p:nvSpPr>
        <p:spPr>
          <a:xfrm>
            <a:off x="3328416"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BVP</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Where genuine is quiet</a:t>
            </a:r>
          </a:p>
        </p:txBody>
      </p:sp>
      <p:sp>
        <p:nvSpPr>
          <p:cNvPr id="19" name="TextBox 18"/>
          <p:cNvSpPr txBox="1"/>
          <p:nvPr/>
        </p:nvSpPr>
        <p:spPr>
          <a:xfrm>
            <a:off x="3474720" y="2359152"/>
            <a:ext cx="2450592" cy="1874519"/>
          </a:xfrm>
          <a:prstGeom prst="rect">
            <a:avLst/>
          </a:prstGeom>
          <a:noFill/>
        </p:spPr>
        <p:txBody>
          <a:bodyPr wrap="square" anchor="t">
            <a:spAutoFit/>
          </a:bodyPr>
          <a:lstStyle/>
          <a:p>
            <a:pPr algn="l"/>
            <a:r>
              <a:rPr sz="1200" b="0">
                <a:solidFill>
                  <a:srgbClr val="344251"/>
                </a:solidFill>
                <a:latin typeface="Calibri"/>
              </a:rPr>
              <a:t>A BVP equivalent exists for the oil, fuel and air filter. It is used where genuine demand is low, or where the BVP wins on price.</a:t>
            </a:r>
          </a:p>
        </p:txBody>
      </p:sp>
      <p:sp>
        <p:nvSpPr>
          <p:cNvPr id="20" name="Rounded Rectangle 19"/>
          <p:cNvSpPr/>
          <p:nvPr/>
        </p:nvSpPr>
        <p:spPr>
          <a:xfrm>
            <a:off x="6217920"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SPA</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Where price is the barrier</a:t>
            </a:r>
          </a:p>
        </p:txBody>
      </p:sp>
      <p:sp>
        <p:nvSpPr>
          <p:cNvPr id="24" name="TextBox 23"/>
          <p:cNvSpPr txBox="1"/>
          <p:nvPr/>
        </p:nvSpPr>
        <p:spPr>
          <a:xfrm>
            <a:off x="6364224" y="2359152"/>
            <a:ext cx="2450592" cy="1874519"/>
          </a:xfrm>
          <a:prstGeom prst="rect">
            <a:avLst/>
          </a:prstGeom>
          <a:noFill/>
        </p:spPr>
        <p:txBody>
          <a:bodyPr wrap="square" anchor="t">
            <a:spAutoFit/>
          </a:bodyPr>
          <a:lstStyle/>
          <a:p>
            <a:pPr algn="l"/>
            <a:r>
              <a:rPr sz="1200" b="0">
                <a:solidFill>
                  <a:srgbClr val="344251"/>
                </a:solidFill>
                <a:latin typeface="Calibri"/>
              </a:rPr>
              <a:t>No BVP exists for the R90 brake pad, so an SPA on genuine is the only lever. Brakes stay condition-based and are supplied when the repair requires them.</a:t>
            </a:r>
          </a:p>
        </p:txBody>
      </p:sp>
      <p:sp>
        <p:nvSpPr>
          <p:cNvPr id="25" name="Rounded Rectangle 24"/>
          <p:cNvSpPr/>
          <p:nvPr/>
        </p:nvSpPr>
        <p:spPr>
          <a:xfrm>
            <a:off x="9107424" y="1481328"/>
            <a:ext cx="274320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 kit</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Manual transmissions only</a:t>
            </a:r>
          </a:p>
        </p:txBody>
      </p:sp>
      <p:sp>
        <p:nvSpPr>
          <p:cNvPr id="29" name="TextBox 28"/>
          <p:cNvSpPr txBox="1"/>
          <p:nvPr/>
        </p:nvSpPr>
        <p:spPr>
          <a:xfrm>
            <a:off x="9253728" y="2359152"/>
            <a:ext cx="2450592" cy="1874519"/>
          </a:xfrm>
          <a:prstGeom prst="rect">
            <a:avLst/>
          </a:prstGeom>
          <a:noFill/>
        </p:spPr>
        <p:txBody>
          <a:bodyPr wrap="square" anchor="t">
            <a:spAutoFit/>
          </a:bodyPr>
          <a:lstStyle/>
          <a:p>
            <a:pPr algn="l"/>
            <a:r>
              <a:rPr sz="1200" b="0">
                <a:solidFill>
                  <a:srgbClr val="344251"/>
                </a:solidFill>
                <a:latin typeface="Calibri"/>
              </a:rPr>
              <a:t>No broad campaign. Kit 5876102320 on identified manual units, until transmission data is available.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percent uplift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on the mix of PMS parts already sold today</a:t>
            </a:r>
          </a:p>
        </p:txBody>
      </p:sp>
      <p:sp>
        <p:nvSpPr>
          <p:cNvPr id="12" name="TextBox 11"/>
          <p:cNvSpPr txBox="1"/>
          <p:nvPr/>
        </p:nvSpPr>
        <p:spPr>
          <a:xfrm>
            <a:off x="530352" y="4069080"/>
            <a:ext cx="11247120" cy="822960"/>
          </a:xfrm>
          <a:prstGeom prst="rect">
            <a:avLst/>
          </a:prstGeom>
          <a:noFill/>
        </p:spPr>
        <p:txBody>
          <a:bodyPr wrap="square" anchor="t">
            <a:spAutoFit/>
          </a:bodyPr>
          <a:lstStyle/>
          <a:p>
            <a:pPr algn="l"/>
            <a:r>
              <a:rPr sz="1600" b="0">
                <a:solidFill>
                  <a:srgbClr val="344251"/>
                </a:solidFill>
                <a:latin typeface="Calibri"/>
              </a:rPr>
              <a:t>Delivered through three actions: the complete filter pack on every scheduled service, BVP where genuine is quiet, and SPA where price is the barrier.</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A one percent uplift on the parts the network already moves. No change to the mix.</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This is not a volume campaign and not additional services. It is better capture of the scheduled work that already takes place.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covering both engine generations. This is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basis: 50,000 km per year against a 40,000 km filter interval.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 1.25. The same expected quantity applies to oil, fuel and air. This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The same method applies to both layers. Scope is the 37 N75 part numbers in the ITUK pack. Pad coverage uses 0.5 events per year rather than 1.25. The one percent figure is one percent of actual 2025 mix, not of expected services. Air uses the same 1.25 as oil and fuel; on a 0.5 air interval it would read 39 percent.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Quantity sold divided by the quantity expected under the IML service schedule. N75 units in operation: 9,359 (DVLA 2024), at 1.25 services per year. Expected oil, fuel and air filters: 11,699. Scope is the 37 N75 part numbers in the ITUK pack.</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the lower of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 BVP applies where genuine demand is low, unless an SPA on genuine achieves a lower price. Across the set, genuine is proposed first unless it is already cheaper than the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demand is established.</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Retain genuine. A BVP equivalent is available if required.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coverage is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an SPA on genuine where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The BVP is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Remains in the set. Not a separate campaign.</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 available.</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where the repair requires the pad.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5980176"/>
            <a:ext cx="1364827" cy="237744"/>
          </a:xfrm>
          <a:prstGeom prst="rect">
            <a:avLst/>
          </a:prstGeom>
        </p:spPr>
      </p:pic>
      <p:sp>
        <p:nvSpPr>
          <p:cNvPr id="7" name="Rectangle 6"/>
          <p:cNvSpPr/>
          <p:nvPr/>
        </p:nvSpPr>
        <p:spPr>
          <a:xfrm>
            <a:off x="0" y="6419088"/>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126480"/>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731520"/>
          </a:xfrm>
          <a:prstGeom prst="rect">
            <a:avLst/>
          </a:prstGeom>
          <a:noFill/>
        </p:spPr>
        <p:txBody>
          <a:bodyPr wrap="square" anchor="t">
            <a:spAutoFit/>
          </a:bodyPr>
          <a:lstStyle/>
          <a:p>
            <a:pPr algn="l"/>
            <a:r>
              <a:rPr sz="1400" b="0">
                <a:solidFill>
                  <a:srgbClr val="344251"/>
                </a:solidFill>
                <a:latin typeface="Calibri"/>
              </a:rPr>
              <a:t>The genuine set is proposed first. A BVP applies only where genuine is not taken up, or is not the lower price. The air BVP is 44 percent below genuine.</a:t>
            </a:r>
          </a:p>
        </p:txBody>
      </p:sp>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3 part numbers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33" name="Rectangle 32"/>
          <p:cNvSpPr/>
          <p:nvPr/>
        </p:nvSpPr>
        <p:spPr>
          <a:xfrm>
            <a:off x="438912" y="497433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if required</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35.50</a:t>
            </a:r>
          </a:p>
        </p:txBody>
      </p:sp>
      <p:pic>
        <p:nvPicPr>
          <p:cNvPr id="39" name="Picture 38" descr="new_s8.png"/>
          <p:cNvPicPr>
            <a:picLocks noChangeAspect="1"/>
          </p:cNvPicPr>
          <p:nvPr/>
        </p:nvPicPr>
        <p:blipFill>
          <a:blip r:embed="rId4"/>
          <a:stretch>
            <a:fillRect/>
          </a:stretch>
        </p:blipFill>
        <p:spPr>
          <a:xfrm>
            <a:off x="438912" y="1481328"/>
            <a:ext cx="11356848" cy="23957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is retained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requested that this item be retained, and that is confirmed. It sits outside the 37 N75 part numbers and is treated as a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Current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Genuine remains the first choice for this item.</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is not taken up</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the BVP where genuine is not taken up, unless a genuine SPA achieves a lower price.</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Prices shown are ISZE to ITUK, PR00 IE40, valid 13 March 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remain condition-based</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No promotional trigger. Where the pad is required for the repair, no BVP exists and an SPA applies. Both N75 pad numbers are included.</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Inspect interval</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20,000 km / 12 months</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521</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520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The rotors fit N75 NPR and carry over to P700. They sell steadily and come only from ISZE, but they are not on the ITUK PMS list. Proposal: add them to the R90 brake pack.</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Brake pad inspection every 20,000 km or 12 months, from the IMG N-series maintenance schedule (NPR75 / 4HK1). No schedule sets a pad replacement interval: brakes are condition-based. No BVP exists for the R90 pad; SPA on genuine only.</a:t>
            </a:r>
          </a:p>
        </p:txBody>
      </p:sp>
      <p:pic>
        <p:nvPicPr>
          <p:cNvPr id="31" name="Picture 30" descr="new_s10.png"/>
          <p:cNvPicPr>
            <a:picLocks noChangeAspect="1"/>
          </p:cNvPicPr>
          <p:nvPr/>
        </p:nvPicPr>
        <p:blipFill>
          <a:blip r:embed="rId5"/>
          <a:stretch>
            <a:fillRect/>
          </a:stretch>
        </p:blipFill>
        <p:spPr>
          <a:xfrm>
            <a:off x="438912" y="1700784"/>
            <a:ext cx="11356848" cy="17556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supplied as a kit, manual transmissions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campaign; VIN and manual transmission only. Applied on identified manual units until transmission data is available. Disc 8981649181 is not to be included.</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Single part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units. ISZE to ITUK 78 units at EUR 194.69.</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requires individual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The kit is 31 percent lower.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Thank you</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Questions and next steps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