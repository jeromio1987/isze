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8"/>
    <p:sldId id="260" r:id="rId7"/>
    <p:sldId id="269" r:id="rId14"/>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actions we will take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Filter pack</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Oil, fuel and air</a:t>
            </a:r>
          </a:p>
        </p:txBody>
      </p:sp>
      <p:sp>
        <p:nvSpPr>
          <p:cNvPr id="14" name="TextBox 13"/>
          <p:cNvSpPr txBox="1"/>
          <p:nvPr/>
        </p:nvSpPr>
        <p:spPr>
          <a:xfrm>
            <a:off x="585216" y="2359152"/>
            <a:ext cx="2450592" cy="1874519"/>
          </a:xfrm>
          <a:prstGeom prst="rect">
            <a:avLst/>
          </a:prstGeom>
          <a:noFill/>
        </p:spPr>
        <p:txBody>
          <a:bodyPr wrap="square" anchor="t">
            <a:spAutoFit/>
          </a:bodyPr>
          <a:lstStyle/>
          <a:p>
            <a:pPr algn="l"/>
            <a:r>
              <a:rPr sz="1200" b="0">
                <a:solidFill>
                  <a:srgbClr val="344251"/>
                </a:solidFill>
                <a:latin typeface="Calibri"/>
              </a:rPr>
              <a:t>All three filters go out as one set on the scheduled service. Oil and fuel are already established; the air filter is the one most often left off. Selling the three together is the primary action.</a:t>
            </a:r>
          </a:p>
        </p:txBody>
      </p:sp>
      <p:sp>
        <p:nvSpPr>
          <p:cNvPr id="15" name="Rounded Rectangle 14"/>
          <p:cNvSpPr/>
          <p:nvPr/>
        </p:nvSpPr>
        <p:spPr>
          <a:xfrm>
            <a:off x="3328416"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BVP</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Where genuine is quiet</a:t>
            </a:r>
          </a:p>
        </p:txBody>
      </p:sp>
      <p:sp>
        <p:nvSpPr>
          <p:cNvPr id="19" name="TextBox 18"/>
          <p:cNvSpPr txBox="1"/>
          <p:nvPr/>
        </p:nvSpPr>
        <p:spPr>
          <a:xfrm>
            <a:off x="3474720" y="2359152"/>
            <a:ext cx="2450592" cy="1874519"/>
          </a:xfrm>
          <a:prstGeom prst="rect">
            <a:avLst/>
          </a:prstGeom>
          <a:noFill/>
        </p:spPr>
        <p:txBody>
          <a:bodyPr wrap="square" anchor="t">
            <a:spAutoFit/>
          </a:bodyPr>
          <a:lstStyle/>
          <a:p>
            <a:pPr algn="l"/>
            <a:r>
              <a:rPr sz="1200" b="0">
                <a:solidFill>
                  <a:srgbClr val="344251"/>
                </a:solidFill>
                <a:latin typeface="Calibri"/>
              </a:rPr>
              <a:t>A BVP equivalent exists for the oil, fuel and air filter. It is used where genuine demand is low, or where the BVP wins on price.</a:t>
            </a:r>
          </a:p>
        </p:txBody>
      </p:sp>
      <p:sp>
        <p:nvSpPr>
          <p:cNvPr id="20" name="Rounded Rectangle 19"/>
          <p:cNvSpPr/>
          <p:nvPr/>
        </p:nvSpPr>
        <p:spPr>
          <a:xfrm>
            <a:off x="6217920"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SPA</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Where price is the barrier</a:t>
            </a:r>
          </a:p>
        </p:txBody>
      </p:sp>
      <p:sp>
        <p:nvSpPr>
          <p:cNvPr id="24" name="TextBox 23"/>
          <p:cNvSpPr txBox="1"/>
          <p:nvPr/>
        </p:nvSpPr>
        <p:spPr>
          <a:xfrm>
            <a:off x="6364224" y="2359152"/>
            <a:ext cx="2450592" cy="1874519"/>
          </a:xfrm>
          <a:prstGeom prst="rect">
            <a:avLst/>
          </a:prstGeom>
          <a:noFill/>
        </p:spPr>
        <p:txBody>
          <a:bodyPr wrap="square" anchor="t">
            <a:spAutoFit/>
          </a:bodyPr>
          <a:lstStyle/>
          <a:p>
            <a:pPr algn="l"/>
            <a:r>
              <a:rPr sz="1200" b="0">
                <a:solidFill>
                  <a:srgbClr val="344251"/>
                </a:solidFill>
                <a:latin typeface="Calibri"/>
              </a:rPr>
              <a:t>No BVP exists for the R90 brake pad, so an SPA on genuine is the only lever. Brakes stay condition-based and are supplied when the repair requires them.</a:t>
            </a:r>
          </a:p>
        </p:txBody>
      </p:sp>
      <p:sp>
        <p:nvSpPr>
          <p:cNvPr id="25" name="Rounded Rectangle 24"/>
          <p:cNvSpPr/>
          <p:nvPr/>
        </p:nvSpPr>
        <p:spPr>
          <a:xfrm>
            <a:off x="9107424"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 kit</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Manual transmissions only</a:t>
            </a:r>
          </a:p>
        </p:txBody>
      </p:sp>
      <p:sp>
        <p:nvSpPr>
          <p:cNvPr id="29" name="TextBox 28"/>
          <p:cNvSpPr txBox="1"/>
          <p:nvPr/>
        </p:nvSpPr>
        <p:spPr>
          <a:xfrm>
            <a:off x="9253728" y="2359152"/>
            <a:ext cx="2450592" cy="1874519"/>
          </a:xfrm>
          <a:prstGeom prst="rect">
            <a:avLst/>
          </a:prstGeom>
          <a:noFill/>
        </p:spPr>
        <p:txBody>
          <a:bodyPr wrap="square" anchor="t">
            <a:spAutoFit/>
          </a:bodyPr>
          <a:lstStyle/>
          <a:p>
            <a:pPr algn="l"/>
            <a:r>
              <a:rPr sz="1200" b="0">
                <a:solidFill>
                  <a:srgbClr val="344251"/>
                </a:solidFill>
                <a:latin typeface="Calibri"/>
              </a:rPr>
              <a:t>No broad campaign. Kit 5876102320 on identified manual units,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on the mix of PMS parts already sold today</a:t>
            </a:r>
          </a:p>
        </p:txBody>
      </p:sp>
      <p:sp>
        <p:nvSpPr>
          <p:cNvPr id="12" name="TextBox 11"/>
          <p:cNvSpPr txBox="1"/>
          <p:nvPr/>
        </p:nvSpPr>
        <p:spPr>
          <a:xfrm>
            <a:off x="530352" y="4069080"/>
            <a:ext cx="11247120" cy="822960"/>
          </a:xfrm>
          <a:prstGeom prst="rect">
            <a:avLst/>
          </a:prstGeom>
          <a:noFill/>
        </p:spPr>
        <p:txBody>
          <a:bodyPr wrap="square" anchor="t">
            <a:spAutoFit/>
          </a:bodyPr>
          <a:lstStyle/>
          <a:p>
            <a:pPr algn="l"/>
            <a:r>
              <a:rPr sz="1600" b="0">
                <a:solidFill>
                  <a:srgbClr val="344251"/>
                </a:solidFill>
                <a:latin typeface="Calibri"/>
              </a:rPr>
              <a:t>Delivered through three actions: the complete filter pack on every scheduled service, BVP where genuine is quiet, and SPA where price is the barrier.</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A one percent uplift on the parts the network already moves. No change to the mix.</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a volume campaign and not additional services. It is better capture of the scheduled work that already takes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5,161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44.1%</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5"/>
          <a:stretch>
            <a:fillRect/>
          </a:stretch>
        </p:blipFill>
        <p:spPr>
          <a:xfrm>
            <a:off x="438912" y="1481328"/>
            <a:ext cx="11356848" cy="2606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5"/>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Inspect interval</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20,000 km / 12 months</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521</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520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sell steadily and come only from ISZE, but they are not on the ITUK PMS list. Proposal: add them to the R90 brake pack.</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Brake pad inspection every 20,000 km or 12 months, from the IMG N-series maintenance schedule (NPR75 / 4HK1). No schedule sets a pad replacement interval: brakes are condition-based. No BVP exists for the R90 pad; SPA on genuine only.</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12</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Applied on identified manual units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Thank you</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Questions and next steps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ITUK filter sales, genuine and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ITUK's own figures, year-to-date demand across both N75 model slides. The oil BVP already outsells genuine. The fuel BVP is one part number. The air BVP has never sold.</a:t>
            </a:r>
          </a:p>
        </p:txBody>
      </p:sp>
      <p:sp>
        <p:nvSpPr>
          <p:cNvPr id="9" name="TextBox 8"/>
          <p:cNvSpPr txBox="1"/>
          <p:nvPr/>
        </p:nvSpPr>
        <p:spPr>
          <a:xfrm>
            <a:off x="438912" y="5760720"/>
            <a:ext cx="11338560" cy="365760"/>
          </a:xfrm>
          <a:prstGeom prst="rect">
            <a:avLst/>
          </a:prstGeom>
          <a:noFill/>
        </p:spPr>
        <p:txBody>
          <a:bodyPr wrap="square" anchor="t">
            <a:spAutoFit/>
          </a:bodyPr>
          <a:lstStyle/>
          <a:p>
            <a:pPr algn="l"/>
            <a:r>
              <a:rPr sz="1400" b="0">
                <a:solidFill>
                  <a:srgbClr val="344251"/>
                </a:solidFill>
                <a:latin typeface="Calibri"/>
              </a:rPr>
              <a:t>Source: ITUK PMS Project pack, 18 August 2026, slides 15 and 16. Year-to-date demand, NPR75 4HK1 and NPR88 4JZ1.</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Genuine</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BVP</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Total</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BVP share</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1,338</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1,693</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3,031</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55.9%</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3,909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499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4,408</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11.3%</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1,287</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0</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1,287</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0.0%</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
            </a:r>
          </a:p>
        </p:txBody>
      </p:sp>
      <p:pic>
        <p:nvPicPr>
          <p:cNvPr id="37" name="Picture 36" descr="image.png"/>
          <p:cNvPicPr>
            <a:picLocks noChangeAspect="1"/>
          </p:cNvPicPr>
          <p:nvPr/>
        </p:nvPicPr>
        <p:blipFill>
          <a:blip r:embed="rId2"/>
          <a:stretch>
            <a:fillRect/>
          </a:stretch>
        </p:blipFill>
        <p:spPr>
          <a:xfrm>
            <a:off x="438912" y="6327648"/>
            <a:ext cx="1364827" cy="237744"/>
          </a:xfrm>
          <a:prstGeom prst="rect">
            <a:avLst/>
          </a:prstGeom>
        </p:spPr>
      </p:pic>
      <p:pic>
        <p:nvPicPr>
          <p:cNvPr id="38" name="Picture 37" descr="bvp.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