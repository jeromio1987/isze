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10424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D1C24"/>
                </a:solidFill>
                <a:latin typeface="Calibri"/>
              </a:rPr>
              <a:t>PARTS SUPPORT  ·  SCHEDULED PMS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02336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B2733"/>
                </a:solidFill>
                <a:latin typeface="Calibri"/>
              </a:rPr>
              <a:t>ITUK filter sales, genuine and BVP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896112"/>
            <a:ext cx="11338560" cy="180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6327648"/>
            <a:ext cx="1364827" cy="23774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1042415"/>
            <a:ext cx="1133856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44251"/>
                </a:solidFill>
                <a:latin typeface="Calibri"/>
              </a:rPr>
              <a:t>ITUK's own figures, year-to-date demand across both N75 model slides. The oil BVP already outsells genuine. The fuel BVP is one part number. The air BVP has never sold.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438912" y="5760720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44251"/>
                </a:solidFill>
                <a:latin typeface="Calibri"/>
              </a:rPr>
              <a:t>Source: ITUK PMS Project pack, 18 August 2026, slides 15 and 16. Year-to-date demand, NPR75 4HK1 and NPR88 4JZ1.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4160520"/>
            <a:ext cx="11356848" cy="329184"/>
          </a:xfrm>
          <a:prstGeom prst="rect">
            <a:avLst/>
          </a:prstGeom>
          <a:solidFill>
            <a:srgbClr val="1B2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4160520"/>
            <a:ext cx="204825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24912" y="4160520"/>
            <a:ext cx="168249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Genuine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4160520"/>
            <a:ext cx="186537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BVP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4160520"/>
            <a:ext cx="149961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4160520"/>
            <a:ext cx="186537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BVP share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22992" y="4160520"/>
            <a:ext cx="151790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4489704"/>
            <a:ext cx="204825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B2733"/>
                </a:solidFill>
                <a:latin typeface="Calibri"/>
              </a:rPr>
              <a:t>Oil filter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24912" y="4489704"/>
            <a:ext cx="168249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>
                <a:solidFill>
                  <a:srgbClr val="344251"/>
                </a:solidFill>
                <a:latin typeface="Calibri"/>
              </a:rPr>
              <a:t>1,338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4489704"/>
            <a:ext cx="18653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>
                <a:solidFill>
                  <a:srgbClr val="344251"/>
                </a:solidFill>
                <a:latin typeface="Calibri"/>
              </a:rPr>
              <a:t>1,693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4489704"/>
            <a:ext cx="149961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>
                <a:solidFill>
                  <a:srgbClr val="344251"/>
                </a:solidFill>
                <a:latin typeface="Calibri"/>
              </a:rPr>
              <a:t>3,031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4489704"/>
            <a:ext cx="18653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>
                <a:solidFill>
                  <a:srgbClr val="344251"/>
                </a:solidFill>
                <a:latin typeface="Calibri"/>
              </a:rPr>
              <a:t>55.9%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22992" y="4489704"/>
            <a:ext cx="151790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8912" y="4873752"/>
            <a:ext cx="11356848" cy="3840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4873752"/>
            <a:ext cx="204825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B2733"/>
                </a:solidFill>
                <a:latin typeface="Calibri"/>
              </a:rPr>
              <a:t>Fuel filter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24912" y="4873752"/>
            <a:ext cx="168249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>
                <a:solidFill>
                  <a:srgbClr val="344251"/>
                </a:solidFill>
                <a:latin typeface="Calibri"/>
              </a:rPr>
              <a:t>3,909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4873752"/>
            <a:ext cx="18653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>
                <a:solidFill>
                  <a:srgbClr val="344251"/>
                </a:solidFill>
                <a:latin typeface="Calibri"/>
              </a:rPr>
              <a:t>499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4873752"/>
            <a:ext cx="149961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>
                <a:solidFill>
                  <a:srgbClr val="344251"/>
                </a:solidFill>
                <a:latin typeface="Calibri"/>
              </a:rPr>
              <a:t>4,408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4873752"/>
            <a:ext cx="18653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>
                <a:solidFill>
                  <a:srgbClr val="344251"/>
                </a:solidFill>
                <a:latin typeface="Calibri"/>
              </a:rPr>
              <a:t>11.3%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22992" y="4873752"/>
            <a:ext cx="151790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0352" y="5257800"/>
            <a:ext cx="204825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B2733"/>
                </a:solidFill>
                <a:latin typeface="Calibri"/>
              </a:rPr>
              <a:t>Air filter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24912" y="5257800"/>
            <a:ext cx="168249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>
                <a:solidFill>
                  <a:srgbClr val="344251"/>
                </a:solidFill>
                <a:latin typeface="Calibri"/>
              </a:rPr>
              <a:t>1,287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5257800"/>
            <a:ext cx="18653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>
                <a:solidFill>
                  <a:srgbClr val="344251"/>
                </a:solidFill>
                <a:latin typeface="Calibri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5392" y="5257800"/>
            <a:ext cx="149961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>
                <a:solidFill>
                  <a:srgbClr val="344251"/>
                </a:solidFill>
                <a:latin typeface="Calibri"/>
              </a:rPr>
              <a:t>1,287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5257800"/>
            <a:ext cx="18653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>
                <a:solidFill>
                  <a:srgbClr val="344251"/>
                </a:solidFill>
                <a:latin typeface="Calibri"/>
              </a:rPr>
              <a:t>0.0%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22992" y="5257800"/>
            <a:ext cx="151790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endParaRPr/>
          </a:p>
        </p:txBody>
      </p:sp>
      <p:pic>
        <p:nvPicPr>
          <p:cNvPr id="37" name="Picture 36" descr="bv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481328"/>
            <a:ext cx="11356848" cy="2606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97</Words>
  <Application>Microsoft Office PowerPoint</Application>
  <PresentationFormat>Custom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jerom</dc:creator>
  <cp:keywords/>
  <dc:description>generated using python-pptx</dc:description>
  <cp:lastModifiedBy>Jerome Van Der Pluym</cp:lastModifiedBy>
  <cp:revision>2</cp:revision>
  <dcterms:created xsi:type="dcterms:W3CDTF">2013-01-27T09:14:16Z</dcterms:created>
  <dcterms:modified xsi:type="dcterms:W3CDTF">2026-08-18T06:35:34Z</dcterms:modified>
  <cp:category/>
</cp:coreProperties>
</file>